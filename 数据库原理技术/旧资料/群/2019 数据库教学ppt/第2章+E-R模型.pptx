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688" r:id="rId2"/>
  </p:sldMasterIdLst>
  <p:notesMasterIdLst>
    <p:notesMasterId r:id="rId9"/>
  </p:notesMasterIdLst>
  <p:handoutMasterIdLst>
    <p:handoutMasterId r:id="rId10"/>
  </p:handoutMasterIdLst>
  <p:sldIdLst>
    <p:sldId id="620" r:id="rId3"/>
    <p:sldId id="621" r:id="rId4"/>
    <p:sldId id="622" r:id="rId5"/>
    <p:sldId id="623" r:id="rId6"/>
    <p:sldId id="624" r:id="rId7"/>
    <p:sldId id="625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 baseline="-25000">
        <a:solidFill>
          <a:schemeClr val="tx1"/>
        </a:solidFill>
        <a:latin typeface="Garamond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 baseline="-25000">
        <a:solidFill>
          <a:schemeClr val="tx1"/>
        </a:solidFill>
        <a:latin typeface="Garamond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 baseline="-25000">
        <a:solidFill>
          <a:schemeClr val="tx1"/>
        </a:solidFill>
        <a:latin typeface="Garamond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 baseline="-25000">
        <a:solidFill>
          <a:schemeClr val="tx1"/>
        </a:solidFill>
        <a:latin typeface="Garamond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 baseline="-25000">
        <a:solidFill>
          <a:schemeClr val="tx1"/>
        </a:solidFill>
        <a:latin typeface="Garamond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 baseline="-25000">
        <a:solidFill>
          <a:schemeClr val="tx1"/>
        </a:solidFill>
        <a:latin typeface="Garamond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1200" kern="1200" baseline="-25000">
        <a:solidFill>
          <a:schemeClr val="tx1"/>
        </a:solidFill>
        <a:latin typeface="Garamond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1200" kern="1200" baseline="-25000">
        <a:solidFill>
          <a:schemeClr val="tx1"/>
        </a:solidFill>
        <a:latin typeface="Garamond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1200" kern="1200" baseline="-25000">
        <a:solidFill>
          <a:schemeClr val="tx1"/>
        </a:solidFill>
        <a:latin typeface="Garamond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99CC"/>
    <a:srgbClr val="FF6600"/>
    <a:srgbClr val="CCFF99"/>
    <a:srgbClr val="C4D7F4"/>
    <a:srgbClr val="FF0000"/>
    <a:srgbClr val="0000CC"/>
    <a:srgbClr val="CCFFCC"/>
    <a:srgbClr val="660066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8" autoAdjust="0"/>
    <p:restoredTop sz="97292" autoAdjust="0"/>
  </p:normalViewPr>
  <p:slideViewPr>
    <p:cSldViewPr>
      <p:cViewPr varScale="1">
        <p:scale>
          <a:sx n="65" d="100"/>
          <a:sy n="65" d="100"/>
        </p:scale>
        <p:origin x="144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1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6018"/>
    </p:cViewPr>
  </p:sorterViewPr>
  <p:notesViewPr>
    <p:cSldViewPr>
      <p:cViewPr>
        <p:scale>
          <a:sx n="66" d="100"/>
          <a:sy n="66" d="100"/>
        </p:scale>
        <p:origin x="-2550" y="7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baseline="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baseline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baseline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baseline="0">
                <a:latin typeface="Times New Roman" pitchFamily="18" charset="0"/>
              </a:defRPr>
            </a:lvl1pPr>
          </a:lstStyle>
          <a:p>
            <a:pPr>
              <a:defRPr/>
            </a:pPr>
            <a:fld id="{151A9782-2FC3-43BA-9A36-0BE2A123DEB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5157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baseline="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baseline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baseline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baseline="0">
                <a:latin typeface="Times New Roman" pitchFamily="18" charset="0"/>
              </a:defRPr>
            </a:lvl1pPr>
          </a:lstStyle>
          <a:p>
            <a:pPr>
              <a:defRPr/>
            </a:pPr>
            <a:fld id="{03FF0817-35DE-4620-8116-CD53722ECFB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65752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299885"/>
      </p:ext>
    </p:extLst>
  </p:cSld>
  <p:clrMapOvr>
    <a:masterClrMapping/>
  </p:clrMapOvr>
  <p:transition spd="med"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251520" y="0"/>
            <a:ext cx="5184576" cy="692696"/>
          </a:xfrm>
        </p:spPr>
        <p:txBody>
          <a:bodyPr/>
          <a:lstStyle>
            <a:lvl1pPr marL="0" indent="0">
              <a:buFont typeface="Arial" pitchFamily="34" charset="0"/>
              <a:buNone/>
              <a:defRPr/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28298"/>
      </p:ext>
    </p:extLst>
  </p:cSld>
  <p:clrMapOvr>
    <a:masterClrMapping/>
  </p:clrMapOvr>
  <p:transition spd="med"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7369996"/>
      </p:ext>
    </p:extLst>
  </p:cSld>
  <p:clrMapOvr>
    <a:masterClrMapping/>
  </p:clrMapOvr>
  <p:transition spd="med"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2276475"/>
            <a:ext cx="4038600" cy="40544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2276475"/>
            <a:ext cx="4038600" cy="40544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71048"/>
      </p:ext>
    </p:extLst>
  </p:cSld>
  <p:clrMapOvr>
    <a:masterClrMapping/>
  </p:clrMapOvr>
  <p:transition spd="med"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030769"/>
      </p:ext>
    </p:extLst>
  </p:cSld>
  <p:clrMapOvr>
    <a:masterClrMapping/>
  </p:clrMapOvr>
  <p:transition spd="med"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319221"/>
      </p:ext>
    </p:extLst>
  </p:cSld>
  <p:clrMapOvr>
    <a:masterClrMapping/>
  </p:clrMapOvr>
  <p:transition spd="med"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708116"/>
      </p:ext>
    </p:extLst>
  </p:cSld>
  <p:clrMapOvr>
    <a:masterClrMapping/>
  </p:clrMapOvr>
  <p:transition spd="med"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73091522"/>
      </p:ext>
    </p:extLst>
  </p:cSld>
  <p:clrMapOvr>
    <a:masterClrMapping/>
  </p:clrMapOvr>
  <p:transition spd="med"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91087053"/>
      </p:ext>
    </p:extLst>
  </p:cSld>
  <p:clrMapOvr>
    <a:masterClrMapping/>
  </p:clrMapOvr>
  <p:transition spd="med"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903280"/>
      </p:ext>
    </p:extLst>
  </p:cSld>
  <p:clrMapOvr>
    <a:masterClrMapping/>
  </p:clrMapOvr>
  <p:transition spd="med"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0513" y="989013"/>
            <a:ext cx="2057400" cy="534193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989013"/>
            <a:ext cx="6019800" cy="534193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337462"/>
      </p:ext>
    </p:extLst>
  </p:cSld>
  <p:clrMapOvr>
    <a:masterClrMapping/>
  </p:clrMapOvr>
  <p:transition spd="med"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578486"/>
      </p:ext>
    </p:extLst>
  </p:cSld>
  <p:clrMapOvr>
    <a:masterClrMapping/>
  </p:clrMapOvr>
  <p:transition spd="med">
    <p:random/>
    <p:sndAc>
      <p:stSnd>
        <p:snd r:embed="rId1" name="camera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03181"/>
      </p:ext>
    </p:extLst>
  </p:cSld>
  <p:clrMapOvr>
    <a:masterClrMapping/>
  </p:clrMapOvr>
  <p:transition spd="med">
    <p:random/>
    <p:sndAc>
      <p:stSnd>
        <p:snd r:embed="rId1" name="camera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929177"/>
      </p:ext>
    </p:extLst>
  </p:cSld>
  <p:clrMapOvr>
    <a:masterClrMapping/>
  </p:clrMapOvr>
  <p:transition spd="med"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00957311"/>
      </p:ext>
    </p:extLst>
  </p:cSld>
  <p:clrMapOvr>
    <a:masterClrMapping/>
  </p:clrMapOvr>
  <p:transition spd="med"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2276475"/>
            <a:ext cx="4038600" cy="40544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2276475"/>
            <a:ext cx="4038600" cy="40544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605511"/>
      </p:ext>
    </p:extLst>
  </p:cSld>
  <p:clrMapOvr>
    <a:masterClrMapping/>
  </p:clrMapOvr>
  <p:transition spd="med">
    <p:random/>
    <p:sndAc>
      <p:stSnd>
        <p:snd r:embed="rId1" name="camera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208064"/>
      </p:ext>
    </p:extLst>
  </p:cSld>
  <p:clrMapOvr>
    <a:masterClrMapping/>
  </p:clrMapOvr>
  <p:transition spd="med">
    <p:random/>
    <p:sndAc>
      <p:stSnd>
        <p:snd r:embed="rId1" name="camera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115760"/>
      </p:ext>
    </p:extLst>
  </p:cSld>
  <p:clrMapOvr>
    <a:masterClrMapping/>
  </p:clrMapOvr>
  <p:transition spd="med">
    <p:random/>
    <p:sndAc>
      <p:stSnd>
        <p:snd r:embed="rId1" name="camera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448512"/>
      </p:ext>
    </p:extLst>
  </p:cSld>
  <p:clrMapOvr>
    <a:masterClrMapping/>
  </p:clrMapOvr>
  <p:transition spd="med">
    <p:random/>
    <p:sndAc>
      <p:stSnd>
        <p:snd r:embed="rId1" name="camera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83818363"/>
      </p:ext>
    </p:extLst>
  </p:cSld>
  <p:clrMapOvr>
    <a:masterClrMapping/>
  </p:clrMapOvr>
  <p:transition spd="med"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62087261"/>
      </p:ext>
    </p:extLst>
  </p:cSld>
  <p:clrMapOvr>
    <a:masterClrMapping/>
  </p:clrMapOvr>
  <p:transition spd="med"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607732"/>
      </p:ext>
    </p:extLst>
  </p:cSld>
  <p:clrMapOvr>
    <a:masterClrMapping/>
  </p:clrMapOvr>
  <p:transition spd="med"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0513" y="989013"/>
            <a:ext cx="2057400" cy="534193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989013"/>
            <a:ext cx="6019800" cy="534193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88001"/>
      </p:ext>
    </p:extLst>
  </p:cSld>
  <p:clrMapOvr>
    <a:masterClrMapping/>
  </p:clrMapOvr>
  <p:transition spd="med"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wav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702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2276475"/>
            <a:ext cx="8229600" cy="405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sp>
        <p:nvSpPr>
          <p:cNvPr id="541704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940485"/>
            <a:ext cx="572464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41705" name="Text Box 9"/>
          <p:cNvSpPr txBox="1">
            <a:spLocks noChangeArrowheads="1"/>
          </p:cNvSpPr>
          <p:nvPr userDrawn="1"/>
        </p:nvSpPr>
        <p:spPr bwMode="auto">
          <a:xfrm>
            <a:off x="8523288" y="6535738"/>
            <a:ext cx="625475" cy="325437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none" lIns="72000" tIns="72000" rIns="72000" bIns="72000">
            <a:spAutoFit/>
          </a:bodyPr>
          <a:lstStyle/>
          <a:p>
            <a:pPr algn="ctr">
              <a:defRPr/>
            </a:pPr>
            <a:r>
              <a:rPr lang="zh-CN" altLang="en-US" sz="1800"/>
              <a:t>第</a:t>
            </a:r>
            <a:fld id="{D47062A0-A533-473A-A128-DAF72A01CC3E}" type="slidenum">
              <a:rPr lang="zh-CN" altLang="en-US" sz="1800"/>
              <a:pPr algn="ctr">
                <a:defRPr/>
              </a:pPr>
              <a:t>‹#›</a:t>
            </a:fld>
            <a:r>
              <a:rPr lang="zh-CN" altLang="en-US" sz="1800"/>
              <a:t>页</a:t>
            </a:r>
            <a:endParaRPr lang="en-US" altLang="zh-CN" sz="1800"/>
          </a:p>
        </p:txBody>
      </p:sp>
      <p:sp>
        <p:nvSpPr>
          <p:cNvPr id="541706" name="Text Box 10"/>
          <p:cNvSpPr txBox="1">
            <a:spLocks noChangeArrowheads="1"/>
          </p:cNvSpPr>
          <p:nvPr userDrawn="1"/>
        </p:nvSpPr>
        <p:spPr bwMode="auto">
          <a:xfrm>
            <a:off x="6854610" y="131763"/>
            <a:ext cx="2000548" cy="184666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zh-CN" altLang="en-US" sz="1800" dirty="0">
                <a:solidFill>
                  <a:srgbClr val="8BB1E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四川农业大学    潘勇浩 </a:t>
            </a:r>
            <a:r>
              <a:rPr lang="zh-CN" altLang="en-US" sz="1800" dirty="0" smtClean="0">
                <a:solidFill>
                  <a:srgbClr val="8BB1E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</a:t>
            </a:r>
            <a:r>
              <a:rPr lang="en-US" altLang="zh-CN" sz="1800" dirty="0" smtClean="0">
                <a:solidFill>
                  <a:srgbClr val="8BB1E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2019</a:t>
            </a:r>
            <a:endParaRPr lang="zh-CN" altLang="en-US" sz="1800" dirty="0">
              <a:solidFill>
                <a:srgbClr val="8BB1E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11" r:id="rId12"/>
  </p:sldLayoutIdLst>
  <p:transition spd="med">
    <p:random/>
    <p:sndAc>
      <p:stSnd>
        <p:snd r:embed="rId14" name="camera.wav"/>
      </p:stSnd>
    </p:sndAc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FF9900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方正姚体" pitchFamily="2" charset="-122"/>
          <a:ea typeface="方正姚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方正姚体" pitchFamily="2" charset="-122"/>
          <a:ea typeface="方正姚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方正姚体" pitchFamily="2" charset="-122"/>
          <a:ea typeface="方正姚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方正姚体" pitchFamily="2" charset="-122"/>
          <a:ea typeface="方正姚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方正姚体" pitchFamily="2" charset="-122"/>
          <a:ea typeface="方正姚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方正姚体" pitchFamily="2" charset="-122"/>
          <a:ea typeface="方正姚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方正姚体" pitchFamily="2" charset="-122"/>
          <a:ea typeface="方正姚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方正姚体" pitchFamily="2" charset="-122"/>
          <a:ea typeface="方正姚体" pitchFamily="2" charset="-122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40000"/>
        </a:spcAft>
        <a:buClr>
          <a:srgbClr val="66FF33"/>
        </a:buClr>
        <a:buSzPct val="85000"/>
        <a:buFont typeface="Wingdings" pitchFamily="2" charset="2"/>
        <a:buBlip>
          <a:blip r:embed="rId16"/>
        </a:buBlip>
        <a:defRPr sz="32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rtl="0" eaLnBrk="0" fontAlgn="base" hangingPunct="0">
        <a:spcBef>
          <a:spcPct val="0"/>
        </a:spcBef>
        <a:spcAft>
          <a:spcPct val="50000"/>
        </a:spcAft>
        <a:buClr>
          <a:schemeClr val="accent2"/>
        </a:buClr>
        <a:buSzPct val="50000"/>
        <a:buFont typeface="Wingdings" pitchFamily="2" charset="2"/>
        <a:buChar char="n"/>
        <a:defRPr sz="28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微软雅黑" pitchFamily="34" charset="-122"/>
          <a:ea typeface="微软雅黑" pitchFamily="34" charset="-122"/>
        </a:defRPr>
      </a:lvl2pPr>
      <a:lvl3pPr marL="1143000" indent="-228600" algn="l" rtl="0" eaLnBrk="0" fontAlgn="base" hangingPunct="0">
        <a:spcBef>
          <a:spcPct val="0"/>
        </a:spcBef>
        <a:spcAft>
          <a:spcPct val="15000"/>
        </a:spcAft>
        <a:buClr>
          <a:schemeClr val="tx2"/>
        </a:buClr>
        <a:buSzPct val="45000"/>
        <a:buFont typeface="Wingdings" pitchFamily="2" charset="2"/>
        <a:buChar char="n"/>
        <a:defRPr sz="24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微软雅黑" pitchFamily="34" charset="-122"/>
          <a:ea typeface="微软雅黑" pitchFamily="34" charset="-122"/>
        </a:defRPr>
      </a:lvl3pPr>
      <a:lvl4pPr marL="1600200" indent="-228600" algn="l" rtl="0" eaLnBrk="0" fontAlgn="base" hangingPunct="0">
        <a:spcBef>
          <a:spcPct val="0"/>
        </a:spcBef>
        <a:spcAft>
          <a:spcPct val="1500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微软雅黑" pitchFamily="34" charset="-122"/>
          <a:ea typeface="微软雅黑" pitchFamily="34" charset="-122"/>
        </a:defRPr>
      </a:lvl4pPr>
      <a:lvl5pPr marL="2057400" indent="-228600" algn="l" rtl="0" eaLnBrk="0" fontAlgn="base" hangingPunct="0">
        <a:spcBef>
          <a:spcPct val="0"/>
        </a:spcBef>
        <a:spcAft>
          <a:spcPct val="1500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微软雅黑" pitchFamily="34" charset="-122"/>
          <a:ea typeface="微软雅黑" pitchFamily="34" charset="-122"/>
        </a:defRPr>
      </a:lvl5pPr>
      <a:lvl6pPr marL="2514600" indent="-228600" algn="l" rtl="0" fontAlgn="base">
        <a:spcBef>
          <a:spcPct val="0"/>
        </a:spcBef>
        <a:spcAft>
          <a:spcPct val="1500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0"/>
        </a:spcBef>
        <a:spcAft>
          <a:spcPct val="1500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0"/>
        </a:spcBef>
        <a:spcAft>
          <a:spcPct val="1500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0"/>
        </a:spcBef>
        <a:spcAft>
          <a:spcPct val="1500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702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2276475"/>
            <a:ext cx="8229600" cy="405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541704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989013"/>
            <a:ext cx="47561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41705" name="Text Box 9"/>
          <p:cNvSpPr txBox="1">
            <a:spLocks noChangeArrowheads="1"/>
          </p:cNvSpPr>
          <p:nvPr userDrawn="1"/>
        </p:nvSpPr>
        <p:spPr bwMode="auto">
          <a:xfrm>
            <a:off x="8523288" y="6535738"/>
            <a:ext cx="625475" cy="325437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none" lIns="72000" tIns="72000" rIns="72000" bIns="72000">
            <a:spAutoFit/>
          </a:bodyPr>
          <a:lstStyle/>
          <a:p>
            <a:pPr algn="ctr">
              <a:defRPr/>
            </a:pPr>
            <a:r>
              <a:rPr lang="zh-CN" altLang="en-US">
                <a:solidFill>
                  <a:srgbClr val="FFFFFF"/>
                </a:solidFill>
                <a:ea typeface="楷体_GB2312" pitchFamily="49" charset="-122"/>
              </a:rPr>
              <a:t>第</a:t>
            </a:r>
            <a:fld id="{78266903-B61B-4C5B-94FC-7A9B41F88A36}" type="slidenum">
              <a:rPr lang="zh-CN" altLang="en-US">
                <a:solidFill>
                  <a:srgbClr val="FFFFFF"/>
                </a:solidFill>
                <a:ea typeface="楷体_GB2312" pitchFamily="49" charset="-122"/>
              </a:rPr>
              <a:pPr algn="ctr">
                <a:defRPr/>
              </a:pPr>
              <a:t>‹#›</a:t>
            </a:fld>
            <a:r>
              <a:rPr lang="zh-CN" altLang="en-US">
                <a:solidFill>
                  <a:srgbClr val="FFFFFF"/>
                </a:solidFill>
                <a:ea typeface="楷体_GB2312" pitchFamily="49" charset="-122"/>
              </a:rPr>
              <a:t>页</a:t>
            </a:r>
            <a:endParaRPr lang="en-US" altLang="zh-CN">
              <a:solidFill>
                <a:srgbClr val="FFFFFF"/>
              </a:solidFill>
              <a:ea typeface="楷体_GB2312" pitchFamily="49" charset="-122"/>
            </a:endParaRPr>
          </a:p>
        </p:txBody>
      </p:sp>
      <p:sp>
        <p:nvSpPr>
          <p:cNvPr id="541706" name="Text Box 10"/>
          <p:cNvSpPr txBox="1">
            <a:spLocks noChangeArrowheads="1"/>
          </p:cNvSpPr>
          <p:nvPr userDrawn="1"/>
        </p:nvSpPr>
        <p:spPr bwMode="auto">
          <a:xfrm>
            <a:off x="6516688" y="131763"/>
            <a:ext cx="2489200" cy="24447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kumimoji="1" lang="zh-CN" altLang="en-US" sz="1600">
                <a:solidFill>
                  <a:srgbClr val="8BB1E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四川农业大学    潘勇浩 制作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ransition spd="med">
    <p:random/>
    <p:sndAc>
      <p:stSnd>
        <p:snd r:embed="rId13" name="camera.wav"/>
      </p:stSnd>
    </p:sndAc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方正姚体" pitchFamily="2" charset="-122"/>
          <a:ea typeface="方正姚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方正姚体" pitchFamily="2" charset="-122"/>
          <a:ea typeface="方正姚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方正姚体" pitchFamily="2" charset="-122"/>
          <a:ea typeface="方正姚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方正姚体" pitchFamily="2" charset="-122"/>
          <a:ea typeface="方正姚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方正姚体" pitchFamily="2" charset="-122"/>
          <a:ea typeface="方正姚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方正姚体" pitchFamily="2" charset="-122"/>
          <a:ea typeface="方正姚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方正姚体" pitchFamily="2" charset="-122"/>
          <a:ea typeface="方正姚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方正姚体" pitchFamily="2" charset="-122"/>
          <a:ea typeface="方正姚体" pitchFamily="2" charset="-122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40000"/>
        </a:spcAft>
        <a:buClr>
          <a:srgbClr val="66FF33"/>
        </a:buClr>
        <a:buSzPct val="85000"/>
        <a:buFont typeface="Wingdings" pitchFamily="2" charset="2"/>
        <a:buBlip>
          <a:blip r:embed="rId15"/>
        </a:buBlip>
        <a:defRPr sz="32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0"/>
        </a:spcBef>
        <a:spcAft>
          <a:spcPct val="50000"/>
        </a:spcAft>
        <a:buClr>
          <a:schemeClr val="accent2"/>
        </a:buClr>
        <a:buSzPct val="50000"/>
        <a:buFont typeface="Wingdings" pitchFamily="2" charset="2"/>
        <a:buChar char="n"/>
        <a:defRPr sz="28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0"/>
        </a:spcBef>
        <a:spcAft>
          <a:spcPct val="15000"/>
        </a:spcAft>
        <a:buClr>
          <a:schemeClr val="tx2"/>
        </a:buClr>
        <a:buSzPct val="45000"/>
        <a:buFont typeface="Wingdings" pitchFamily="2" charset="2"/>
        <a:buChar char="n"/>
        <a:defRPr sz="24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0"/>
        </a:spcBef>
        <a:spcAft>
          <a:spcPct val="1500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0"/>
        </a:spcBef>
        <a:spcAft>
          <a:spcPct val="1500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0"/>
        </a:spcBef>
        <a:spcAft>
          <a:spcPct val="1500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0"/>
        </a:spcBef>
        <a:spcAft>
          <a:spcPct val="1500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0"/>
        </a:spcBef>
        <a:spcAft>
          <a:spcPct val="1500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0"/>
        </a:spcBef>
        <a:spcAft>
          <a:spcPct val="1500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1" name="WordArt 21"/>
          <p:cNvSpPr>
            <a:spLocks noChangeArrowheads="1" noChangeShapeType="1" noTextEdit="1"/>
          </p:cNvSpPr>
          <p:nvPr/>
        </p:nvSpPr>
        <p:spPr bwMode="auto">
          <a:xfrm>
            <a:off x="2477780" y="1628800"/>
            <a:ext cx="3966428" cy="73112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dist">
              <a:defRPr/>
            </a:pPr>
            <a:r>
              <a:rPr lang="zh-CN" altLang="en-US" sz="2800" kern="10" dirty="0">
                <a:ln w="19050" cap="sq">
                  <a:solidFill>
                    <a:schemeClr val="hlink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50080D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chemeClr val="bg2">
                      <a:alpha val="80000"/>
                    </a:schemeClr>
                  </a:outerShdw>
                </a:effectLst>
                <a:latin typeface="隶书"/>
                <a:ea typeface="隶书"/>
              </a:rPr>
              <a:t>第 </a:t>
            </a:r>
            <a:r>
              <a:rPr lang="en-US" altLang="zh-CN" sz="2800" kern="10" dirty="0" smtClean="0">
                <a:ln w="19050" cap="sq">
                  <a:solidFill>
                    <a:schemeClr val="hlink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50080D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chemeClr val="bg2">
                      <a:alpha val="80000"/>
                    </a:schemeClr>
                  </a:outerShdw>
                </a:effectLst>
                <a:latin typeface="隶书"/>
                <a:ea typeface="隶书"/>
              </a:rPr>
              <a:t>2 </a:t>
            </a:r>
            <a:r>
              <a:rPr lang="zh-CN" altLang="en-US" sz="2800" kern="10" dirty="0">
                <a:ln w="19050" cap="sq">
                  <a:solidFill>
                    <a:schemeClr val="hlink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50080D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chemeClr val="bg2">
                      <a:alpha val="80000"/>
                    </a:schemeClr>
                  </a:outerShdw>
                </a:effectLst>
                <a:latin typeface="隶书"/>
                <a:ea typeface="隶书"/>
              </a:rPr>
              <a:t>章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9592" y="3645024"/>
            <a:ext cx="7416824" cy="1321879"/>
          </a:xfr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algn="dist"/>
            <a:r>
              <a:rPr lang="en-US" altLang="zh-CN" sz="2400" kern="10" baseline="-25000" dirty="0" smtClean="0">
                <a:ln w="19050" cap="sq">
                  <a:solidFill>
                    <a:schemeClr val="hlink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0080D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chemeClr val="bg2">
                      <a:alpha val="79999"/>
                    </a:schemeClr>
                  </a:outerShdw>
                </a:effectLst>
                <a:latin typeface="+mn-lt"/>
                <a:ea typeface="隶书"/>
                <a:cs typeface="+mn-cs"/>
              </a:rPr>
              <a:t>E</a:t>
            </a:r>
            <a:r>
              <a:rPr lang="en-US" altLang="zh-CN" sz="2400" kern="10" baseline="-25000" dirty="0" smtClean="0">
                <a:ln w="19050" cap="sq">
                  <a:solidFill>
                    <a:schemeClr val="hlink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0080D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chemeClr val="bg2">
                      <a:alpha val="79999"/>
                    </a:schemeClr>
                  </a:outerShdw>
                </a:effectLst>
                <a:latin typeface="+mn-lt"/>
                <a:ea typeface="等线" panose="02010600030101010101" pitchFamily="2" charset="-122"/>
                <a:cs typeface="Arial" panose="020B0604020202020204" pitchFamily="34" charset="0"/>
              </a:rPr>
              <a:t>-</a:t>
            </a:r>
            <a:r>
              <a:rPr lang="en-US" altLang="zh-CN" sz="2400" kern="10" baseline="-25000" dirty="0" smtClean="0">
                <a:ln w="19050" cap="sq">
                  <a:solidFill>
                    <a:schemeClr val="hlink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0080D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chemeClr val="bg2">
                      <a:alpha val="79999"/>
                    </a:schemeClr>
                  </a:outerShdw>
                </a:effectLst>
                <a:latin typeface="+mn-lt"/>
                <a:ea typeface="隶书"/>
                <a:cs typeface="+mn-cs"/>
              </a:rPr>
              <a:t>R</a:t>
            </a:r>
            <a:r>
              <a:rPr lang="en-US" altLang="zh-CN" sz="2800" kern="10" spc="-300" baseline="-25000" dirty="0" smtClean="0">
                <a:ln w="19050" cap="sq">
                  <a:solidFill>
                    <a:schemeClr val="hlink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0080D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chemeClr val="bg2">
                      <a:alpha val="79999"/>
                    </a:schemeClr>
                  </a:outerShdw>
                </a:effectLst>
                <a:latin typeface="隶书"/>
                <a:ea typeface="隶书"/>
                <a:cs typeface="+mn-cs"/>
              </a:rPr>
              <a:t> </a:t>
            </a:r>
            <a:r>
              <a:rPr lang="zh-CN" altLang="en-US" sz="2800" kern="10" spc="560" baseline="-25000" dirty="0" smtClean="0">
                <a:ln w="19050" cap="sq">
                  <a:solidFill>
                    <a:schemeClr val="hlink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0080D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chemeClr val="bg2">
                      <a:alpha val="79999"/>
                    </a:schemeClr>
                  </a:outerShdw>
                </a:effectLst>
                <a:latin typeface="隶书"/>
                <a:ea typeface="隶书"/>
                <a:cs typeface="+mn-cs"/>
              </a:rPr>
              <a:t>模型</a:t>
            </a:r>
            <a:endParaRPr lang="zh-CN" altLang="en-US" sz="2800" kern="10" spc="560" baseline="-25000" dirty="0">
              <a:ln w="19050" cap="sq">
                <a:solidFill>
                  <a:schemeClr val="hlink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50080D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chemeClr val="bg2">
                    <a:alpha val="79999"/>
                  </a:schemeClr>
                </a:outerShdw>
              </a:effectLst>
              <a:latin typeface="隶书"/>
              <a:ea typeface="隶书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9911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camera.wav"/>
          </p:stSnd>
        </p:sndAc>
      </p:transition>
    </mc:Choice>
    <mc:Fallback xmlns="">
      <p:transition spd="slow">
        <p:split orient="vert"/>
        <p:sndAc>
          <p:stSnd>
            <p:snd r:embed="rId3" name="camera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500" y="0"/>
            <a:ext cx="3183802" cy="760959"/>
          </a:xfr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ts val="0"/>
              </a:spcBef>
              <a:spcAft>
                <a:spcPct val="25000"/>
              </a:spcAft>
              <a:buSzPct val="80000"/>
              <a:buFont typeface="Wingdings" pitchFamily="2" charset="2"/>
              <a:buNone/>
            </a:pPr>
            <a:r>
              <a:rPr kumimoji="1" lang="en-US" altLang="zh-CN" sz="4000" b="1" kern="1200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E-R</a:t>
            </a:r>
            <a:r>
              <a:rPr kumimoji="1" lang="zh-CN" altLang="en-US" sz="4000" b="1" kern="1200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模型</a:t>
            </a:r>
            <a:r>
              <a:rPr kumimoji="1" lang="zh-CN" altLang="en-US" sz="4000" b="1" kern="1200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示例</a:t>
            </a:r>
            <a:endParaRPr kumimoji="1" lang="zh-CN" altLang="en-US" sz="4000" b="1" kern="1200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9" name="Rectangle 2"/>
          <p:cNvSpPr txBox="1">
            <a:spLocks noChangeArrowheads="1"/>
          </p:cNvSpPr>
          <p:nvPr/>
        </p:nvSpPr>
        <p:spPr bwMode="auto">
          <a:xfrm>
            <a:off x="503795" y="821636"/>
            <a:ext cx="8213168" cy="168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Aft>
                <a:spcPct val="30000"/>
              </a:spcAft>
              <a:buClr>
                <a:srgbClr val="66FF33"/>
              </a:buClr>
              <a:buSzPct val="85000"/>
              <a:defRPr/>
            </a:pPr>
            <a:r>
              <a:rPr lang="en-US" altLang="zh-CN" sz="2800" kern="0" baseline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E</a:t>
            </a:r>
            <a:r>
              <a:rPr lang="zh-CN" altLang="en-US" sz="2800" kern="0" baseline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－</a:t>
            </a:r>
            <a:r>
              <a:rPr lang="en-US" altLang="zh-CN" sz="2800" kern="0" baseline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R</a:t>
            </a:r>
            <a:r>
              <a:rPr lang="zh-CN" altLang="en-US" sz="2800" kern="0" baseline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模型</a:t>
            </a:r>
            <a:r>
              <a:rPr lang="en-US" altLang="zh-CN" sz="2800" kern="0" baseline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( </a:t>
            </a:r>
            <a:r>
              <a:rPr lang="en-US" altLang="zh-CN" sz="2800" i="1" kern="0" baseline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Entity Relationship Model </a:t>
            </a:r>
            <a:r>
              <a:rPr lang="en-US" altLang="zh-CN" sz="2800" kern="0" baseline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800" kern="0" baseline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，是最常用的</a:t>
            </a:r>
            <a:r>
              <a:rPr lang="zh-CN" altLang="en-US" sz="2800" kern="0" baseline="0" dirty="0" smtClean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概念数据模型</a:t>
            </a:r>
            <a:r>
              <a:rPr lang="zh-CN" altLang="en-US" sz="2800" kern="0" baseline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30" name="Line 128"/>
          <p:cNvSpPr>
            <a:spLocks noChangeShapeType="1"/>
          </p:cNvSpPr>
          <p:nvPr/>
        </p:nvSpPr>
        <p:spPr bwMode="auto">
          <a:xfrm>
            <a:off x="7069138" y="4727478"/>
            <a:ext cx="0" cy="609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31" name="Line 129"/>
          <p:cNvSpPr>
            <a:spLocks noChangeShapeType="1"/>
          </p:cNvSpPr>
          <p:nvPr/>
        </p:nvSpPr>
        <p:spPr bwMode="auto">
          <a:xfrm>
            <a:off x="6764338" y="4727478"/>
            <a:ext cx="0" cy="609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32" name="Rectangle 130"/>
          <p:cNvSpPr>
            <a:spLocks noChangeArrowheads="1"/>
          </p:cNvSpPr>
          <p:nvPr/>
        </p:nvSpPr>
        <p:spPr bwMode="auto">
          <a:xfrm>
            <a:off x="2444750" y="4448078"/>
            <a:ext cx="685800" cy="320675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课程</a:t>
            </a:r>
          </a:p>
        </p:txBody>
      </p:sp>
      <p:sp>
        <p:nvSpPr>
          <p:cNvPr id="33" name="AutoShape 131"/>
          <p:cNvSpPr>
            <a:spLocks noChangeArrowheads="1"/>
          </p:cNvSpPr>
          <p:nvPr/>
        </p:nvSpPr>
        <p:spPr bwMode="auto">
          <a:xfrm>
            <a:off x="1487488" y="3813078"/>
            <a:ext cx="762000" cy="2873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u="sng" baseline="0" dirty="0">
                <a:latin typeface="Times New Roman" pitchFamily="18" charset="0"/>
                <a:ea typeface="楷体_GB2312" pitchFamily="49" charset="-122"/>
              </a:rPr>
              <a:t>课程号</a:t>
            </a:r>
          </a:p>
        </p:txBody>
      </p:sp>
      <p:sp>
        <p:nvSpPr>
          <p:cNvPr id="34" name="AutoShape 132"/>
          <p:cNvSpPr>
            <a:spLocks noChangeArrowheads="1"/>
          </p:cNvSpPr>
          <p:nvPr/>
        </p:nvSpPr>
        <p:spPr bwMode="auto">
          <a:xfrm>
            <a:off x="2401888" y="3813078"/>
            <a:ext cx="762000" cy="2873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课程名</a:t>
            </a:r>
          </a:p>
        </p:txBody>
      </p:sp>
      <p:sp>
        <p:nvSpPr>
          <p:cNvPr id="35" name="AutoShape 133"/>
          <p:cNvSpPr>
            <a:spLocks noChangeArrowheads="1"/>
          </p:cNvSpPr>
          <p:nvPr/>
        </p:nvSpPr>
        <p:spPr bwMode="auto">
          <a:xfrm>
            <a:off x="3316288" y="3813078"/>
            <a:ext cx="685800" cy="2873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学分</a:t>
            </a:r>
          </a:p>
        </p:txBody>
      </p:sp>
      <p:sp>
        <p:nvSpPr>
          <p:cNvPr id="36" name="Rectangle 134"/>
          <p:cNvSpPr>
            <a:spLocks noChangeArrowheads="1"/>
          </p:cNvSpPr>
          <p:nvPr/>
        </p:nvSpPr>
        <p:spPr bwMode="auto">
          <a:xfrm>
            <a:off x="895350" y="5275166"/>
            <a:ext cx="685800" cy="29845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教师</a:t>
            </a:r>
          </a:p>
        </p:txBody>
      </p:sp>
      <p:sp>
        <p:nvSpPr>
          <p:cNvPr id="37" name="AutoShape 135"/>
          <p:cNvSpPr>
            <a:spLocks noChangeArrowheads="1"/>
          </p:cNvSpPr>
          <p:nvPr/>
        </p:nvSpPr>
        <p:spPr bwMode="auto">
          <a:xfrm>
            <a:off x="461963" y="5857778"/>
            <a:ext cx="762000" cy="279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u="sng" baseline="0" dirty="0">
                <a:latin typeface="Times New Roman" pitchFamily="18" charset="0"/>
                <a:ea typeface="楷体_GB2312" pitchFamily="49" charset="-122"/>
              </a:rPr>
              <a:t>教工号</a:t>
            </a:r>
          </a:p>
        </p:txBody>
      </p:sp>
      <p:sp>
        <p:nvSpPr>
          <p:cNvPr id="38" name="AutoShape 136"/>
          <p:cNvSpPr>
            <a:spLocks noChangeArrowheads="1"/>
          </p:cNvSpPr>
          <p:nvPr/>
        </p:nvSpPr>
        <p:spPr bwMode="auto">
          <a:xfrm>
            <a:off x="1038225" y="6289578"/>
            <a:ext cx="685800" cy="279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姓名</a:t>
            </a:r>
          </a:p>
        </p:txBody>
      </p:sp>
      <p:sp>
        <p:nvSpPr>
          <p:cNvPr id="39" name="AutoShape 137"/>
          <p:cNvSpPr>
            <a:spLocks noChangeArrowheads="1"/>
          </p:cNvSpPr>
          <p:nvPr/>
        </p:nvSpPr>
        <p:spPr bwMode="auto">
          <a:xfrm>
            <a:off x="1470025" y="5929216"/>
            <a:ext cx="685800" cy="279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性别</a:t>
            </a:r>
          </a:p>
        </p:txBody>
      </p:sp>
      <p:sp>
        <p:nvSpPr>
          <p:cNvPr id="40" name="AutoShape 138"/>
          <p:cNvSpPr>
            <a:spLocks noChangeArrowheads="1"/>
          </p:cNvSpPr>
          <p:nvPr/>
        </p:nvSpPr>
        <p:spPr bwMode="auto">
          <a:xfrm>
            <a:off x="2262188" y="5929216"/>
            <a:ext cx="685800" cy="279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职称</a:t>
            </a:r>
          </a:p>
        </p:txBody>
      </p:sp>
      <p:sp>
        <p:nvSpPr>
          <p:cNvPr id="41" name="Rectangle 139"/>
          <p:cNvSpPr>
            <a:spLocks noChangeArrowheads="1"/>
          </p:cNvSpPr>
          <p:nvPr/>
        </p:nvSpPr>
        <p:spPr bwMode="auto">
          <a:xfrm>
            <a:off x="4278313" y="5238653"/>
            <a:ext cx="1066800" cy="371475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参考书</a:t>
            </a:r>
          </a:p>
        </p:txBody>
      </p:sp>
      <p:sp>
        <p:nvSpPr>
          <p:cNvPr id="42" name="AutoShape 140"/>
          <p:cNvSpPr>
            <a:spLocks noChangeArrowheads="1"/>
          </p:cNvSpPr>
          <p:nvPr/>
        </p:nvSpPr>
        <p:spPr bwMode="auto">
          <a:xfrm>
            <a:off x="3630613" y="6160991"/>
            <a:ext cx="609600" cy="2730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u="sng" baseline="0">
                <a:latin typeface="Times New Roman" pitchFamily="18" charset="0"/>
                <a:ea typeface="楷体_GB2312" pitchFamily="49" charset="-122"/>
              </a:rPr>
              <a:t>书号</a:t>
            </a:r>
          </a:p>
        </p:txBody>
      </p:sp>
      <p:sp>
        <p:nvSpPr>
          <p:cNvPr id="43" name="AutoShape 141"/>
          <p:cNvSpPr>
            <a:spLocks noChangeArrowheads="1"/>
          </p:cNvSpPr>
          <p:nvPr/>
        </p:nvSpPr>
        <p:spPr bwMode="auto">
          <a:xfrm>
            <a:off x="4316413" y="6140353"/>
            <a:ext cx="685800" cy="279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书名</a:t>
            </a:r>
          </a:p>
        </p:txBody>
      </p:sp>
      <p:sp>
        <p:nvSpPr>
          <p:cNvPr id="44" name="AutoShape 142"/>
          <p:cNvSpPr>
            <a:spLocks noChangeArrowheads="1"/>
          </p:cNvSpPr>
          <p:nvPr/>
        </p:nvSpPr>
        <p:spPr bwMode="auto">
          <a:xfrm>
            <a:off x="5080000" y="6140353"/>
            <a:ext cx="869950" cy="279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出版社</a:t>
            </a:r>
          </a:p>
        </p:txBody>
      </p:sp>
      <p:sp>
        <p:nvSpPr>
          <p:cNvPr id="45" name="AutoShape 143"/>
          <p:cNvSpPr>
            <a:spLocks noChangeArrowheads="1"/>
          </p:cNvSpPr>
          <p:nvPr/>
        </p:nvSpPr>
        <p:spPr bwMode="auto">
          <a:xfrm>
            <a:off x="6030913" y="6140353"/>
            <a:ext cx="685800" cy="279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主编</a:t>
            </a:r>
          </a:p>
        </p:txBody>
      </p:sp>
      <p:sp>
        <p:nvSpPr>
          <p:cNvPr id="46" name="Rectangle 144"/>
          <p:cNvSpPr>
            <a:spLocks noChangeArrowheads="1"/>
          </p:cNvSpPr>
          <p:nvPr/>
        </p:nvSpPr>
        <p:spPr bwMode="auto">
          <a:xfrm>
            <a:off x="6475413" y="4448078"/>
            <a:ext cx="762000" cy="320675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学生</a:t>
            </a:r>
          </a:p>
        </p:txBody>
      </p:sp>
      <p:sp>
        <p:nvSpPr>
          <p:cNvPr id="47" name="AutoShape 145"/>
          <p:cNvSpPr>
            <a:spLocks noChangeArrowheads="1"/>
          </p:cNvSpPr>
          <p:nvPr/>
        </p:nvSpPr>
        <p:spPr bwMode="auto">
          <a:xfrm>
            <a:off x="7961313" y="3963891"/>
            <a:ext cx="755650" cy="24606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u="sng" baseline="0" dirty="0">
                <a:latin typeface="Times New Roman" pitchFamily="18" charset="0"/>
                <a:ea typeface="楷体_GB2312" pitchFamily="49" charset="-122"/>
              </a:rPr>
              <a:t>学号</a:t>
            </a:r>
          </a:p>
        </p:txBody>
      </p:sp>
      <p:sp>
        <p:nvSpPr>
          <p:cNvPr id="48" name="AutoShape 146"/>
          <p:cNvSpPr>
            <a:spLocks noChangeArrowheads="1"/>
          </p:cNvSpPr>
          <p:nvPr/>
        </p:nvSpPr>
        <p:spPr bwMode="auto">
          <a:xfrm>
            <a:off x="7961313" y="4282978"/>
            <a:ext cx="755650" cy="2524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姓名</a:t>
            </a:r>
          </a:p>
        </p:txBody>
      </p:sp>
      <p:sp>
        <p:nvSpPr>
          <p:cNvPr id="49" name="AutoShape 147"/>
          <p:cNvSpPr>
            <a:spLocks noChangeArrowheads="1"/>
          </p:cNvSpPr>
          <p:nvPr/>
        </p:nvSpPr>
        <p:spPr bwMode="auto">
          <a:xfrm>
            <a:off x="7961313" y="5030691"/>
            <a:ext cx="755650" cy="2524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性别</a:t>
            </a:r>
          </a:p>
        </p:txBody>
      </p:sp>
      <p:sp>
        <p:nvSpPr>
          <p:cNvPr id="50" name="AutoShape 148"/>
          <p:cNvSpPr>
            <a:spLocks noChangeArrowheads="1"/>
          </p:cNvSpPr>
          <p:nvPr/>
        </p:nvSpPr>
        <p:spPr bwMode="auto">
          <a:xfrm>
            <a:off x="7961313" y="4629053"/>
            <a:ext cx="755650" cy="2524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年龄</a:t>
            </a:r>
          </a:p>
        </p:txBody>
      </p:sp>
      <p:sp>
        <p:nvSpPr>
          <p:cNvPr id="51" name="Rectangle 149"/>
          <p:cNvSpPr>
            <a:spLocks noChangeArrowheads="1"/>
          </p:cNvSpPr>
          <p:nvPr/>
        </p:nvSpPr>
        <p:spPr bwMode="auto">
          <a:xfrm>
            <a:off x="6475413" y="2798666"/>
            <a:ext cx="762000" cy="344487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班级</a:t>
            </a:r>
          </a:p>
        </p:txBody>
      </p:sp>
      <p:sp>
        <p:nvSpPr>
          <p:cNvPr id="52" name="AutoShape 150"/>
          <p:cNvSpPr>
            <a:spLocks noChangeArrowheads="1"/>
          </p:cNvSpPr>
          <p:nvPr/>
        </p:nvSpPr>
        <p:spPr bwMode="auto">
          <a:xfrm>
            <a:off x="5999163" y="2241453"/>
            <a:ext cx="755650" cy="33496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u="sng" baseline="0" dirty="0">
                <a:latin typeface="Times New Roman" pitchFamily="18" charset="0"/>
                <a:ea typeface="楷体_GB2312" pitchFamily="49" charset="-122"/>
              </a:rPr>
              <a:t>班号</a:t>
            </a:r>
          </a:p>
        </p:txBody>
      </p:sp>
      <p:sp>
        <p:nvSpPr>
          <p:cNvPr id="53" name="AutoShape 151"/>
          <p:cNvSpPr>
            <a:spLocks noChangeArrowheads="1"/>
          </p:cNvSpPr>
          <p:nvPr/>
        </p:nvSpPr>
        <p:spPr bwMode="auto">
          <a:xfrm>
            <a:off x="6913563" y="2241453"/>
            <a:ext cx="755650" cy="33496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班名</a:t>
            </a:r>
          </a:p>
        </p:txBody>
      </p:sp>
      <p:cxnSp>
        <p:nvCxnSpPr>
          <p:cNvPr id="54" name="AutoShape 152"/>
          <p:cNvCxnSpPr>
            <a:cxnSpLocks noChangeShapeType="1"/>
            <a:stCxn id="33" idx="2"/>
            <a:endCxn id="32" idx="0"/>
          </p:cNvCxnSpPr>
          <p:nvPr/>
        </p:nvCxnSpPr>
        <p:spPr bwMode="auto">
          <a:xfrm>
            <a:off x="1868488" y="4100416"/>
            <a:ext cx="919162" cy="34766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AutoShape 153"/>
          <p:cNvCxnSpPr>
            <a:cxnSpLocks noChangeShapeType="1"/>
            <a:stCxn id="34" idx="2"/>
            <a:endCxn id="32" idx="0"/>
          </p:cNvCxnSpPr>
          <p:nvPr/>
        </p:nvCxnSpPr>
        <p:spPr bwMode="auto">
          <a:xfrm>
            <a:off x="2782888" y="4100416"/>
            <a:ext cx="4762" cy="34766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" name="AutoShape 154"/>
          <p:cNvCxnSpPr>
            <a:cxnSpLocks noChangeShapeType="1"/>
            <a:stCxn id="35" idx="2"/>
            <a:endCxn id="32" idx="0"/>
          </p:cNvCxnSpPr>
          <p:nvPr/>
        </p:nvCxnSpPr>
        <p:spPr bwMode="auto">
          <a:xfrm flipH="1">
            <a:off x="2787650" y="4100416"/>
            <a:ext cx="871538" cy="34766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" name="AutoShape 155"/>
          <p:cNvCxnSpPr>
            <a:cxnSpLocks noChangeShapeType="1"/>
            <a:stCxn id="36" idx="2"/>
            <a:endCxn id="37" idx="0"/>
          </p:cNvCxnSpPr>
          <p:nvPr/>
        </p:nvCxnSpPr>
        <p:spPr bwMode="auto">
          <a:xfrm flipH="1">
            <a:off x="842963" y="5573616"/>
            <a:ext cx="395287" cy="28416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AutoShape 156"/>
          <p:cNvCxnSpPr>
            <a:cxnSpLocks noChangeShapeType="1"/>
            <a:stCxn id="36" idx="2"/>
            <a:endCxn id="38" idx="0"/>
          </p:cNvCxnSpPr>
          <p:nvPr/>
        </p:nvCxnSpPr>
        <p:spPr bwMode="auto">
          <a:xfrm>
            <a:off x="1238250" y="5573616"/>
            <a:ext cx="142875" cy="71596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" name="AutoShape 157"/>
          <p:cNvCxnSpPr>
            <a:cxnSpLocks noChangeShapeType="1"/>
            <a:stCxn id="36" idx="2"/>
            <a:endCxn id="39" idx="0"/>
          </p:cNvCxnSpPr>
          <p:nvPr/>
        </p:nvCxnSpPr>
        <p:spPr bwMode="auto">
          <a:xfrm>
            <a:off x="1238250" y="5573616"/>
            <a:ext cx="574675" cy="3556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" name="AutoShape 158"/>
          <p:cNvCxnSpPr>
            <a:cxnSpLocks noChangeShapeType="1"/>
            <a:stCxn id="36" idx="2"/>
            <a:endCxn id="40" idx="0"/>
          </p:cNvCxnSpPr>
          <p:nvPr/>
        </p:nvCxnSpPr>
        <p:spPr bwMode="auto">
          <a:xfrm>
            <a:off x="1238250" y="5573616"/>
            <a:ext cx="1366838" cy="3556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" name="AutoShape 159"/>
          <p:cNvCxnSpPr>
            <a:cxnSpLocks noChangeShapeType="1"/>
            <a:stCxn id="41" idx="2"/>
            <a:endCxn id="42" idx="0"/>
          </p:cNvCxnSpPr>
          <p:nvPr/>
        </p:nvCxnSpPr>
        <p:spPr bwMode="auto">
          <a:xfrm flipH="1">
            <a:off x="3935413" y="5610128"/>
            <a:ext cx="876300" cy="5508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" name="AutoShape 160"/>
          <p:cNvCxnSpPr>
            <a:cxnSpLocks noChangeShapeType="1"/>
            <a:stCxn id="41" idx="2"/>
            <a:endCxn id="43" idx="0"/>
          </p:cNvCxnSpPr>
          <p:nvPr/>
        </p:nvCxnSpPr>
        <p:spPr bwMode="auto">
          <a:xfrm flipH="1">
            <a:off x="4659313" y="5610128"/>
            <a:ext cx="152400" cy="5302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" name="AutoShape 161"/>
          <p:cNvCxnSpPr>
            <a:cxnSpLocks noChangeShapeType="1"/>
            <a:stCxn id="41" idx="2"/>
            <a:endCxn id="44" idx="0"/>
          </p:cNvCxnSpPr>
          <p:nvPr/>
        </p:nvCxnSpPr>
        <p:spPr bwMode="auto">
          <a:xfrm>
            <a:off x="4811713" y="5610128"/>
            <a:ext cx="703262" cy="5302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AutoShape 162"/>
          <p:cNvCxnSpPr>
            <a:cxnSpLocks noChangeShapeType="1"/>
            <a:stCxn id="41" idx="2"/>
            <a:endCxn id="45" idx="0"/>
          </p:cNvCxnSpPr>
          <p:nvPr/>
        </p:nvCxnSpPr>
        <p:spPr bwMode="auto">
          <a:xfrm>
            <a:off x="4811713" y="5610128"/>
            <a:ext cx="1562100" cy="5302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AutoShape 163"/>
          <p:cNvCxnSpPr>
            <a:cxnSpLocks noChangeShapeType="1"/>
            <a:stCxn id="46" idx="3"/>
            <a:endCxn id="47" idx="1"/>
          </p:cNvCxnSpPr>
          <p:nvPr/>
        </p:nvCxnSpPr>
        <p:spPr bwMode="auto">
          <a:xfrm flipV="1">
            <a:off x="7237413" y="4087716"/>
            <a:ext cx="723900" cy="5207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" name="AutoShape 164"/>
          <p:cNvCxnSpPr>
            <a:cxnSpLocks noChangeShapeType="1"/>
            <a:stCxn id="46" idx="3"/>
            <a:endCxn id="48" idx="1"/>
          </p:cNvCxnSpPr>
          <p:nvPr/>
        </p:nvCxnSpPr>
        <p:spPr bwMode="auto">
          <a:xfrm flipV="1">
            <a:off x="7237413" y="4409978"/>
            <a:ext cx="723900" cy="19843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" name="AutoShape 165"/>
          <p:cNvCxnSpPr>
            <a:cxnSpLocks noChangeShapeType="1"/>
            <a:stCxn id="46" idx="3"/>
            <a:endCxn id="50" idx="1"/>
          </p:cNvCxnSpPr>
          <p:nvPr/>
        </p:nvCxnSpPr>
        <p:spPr bwMode="auto">
          <a:xfrm>
            <a:off x="7237413" y="4608416"/>
            <a:ext cx="723900" cy="147637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" name="AutoShape 166"/>
          <p:cNvCxnSpPr>
            <a:cxnSpLocks noChangeShapeType="1"/>
            <a:stCxn id="46" idx="3"/>
            <a:endCxn id="49" idx="1"/>
          </p:cNvCxnSpPr>
          <p:nvPr/>
        </p:nvCxnSpPr>
        <p:spPr bwMode="auto">
          <a:xfrm>
            <a:off x="7237413" y="4608416"/>
            <a:ext cx="723900" cy="5492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" name="AutoShape 167"/>
          <p:cNvCxnSpPr>
            <a:cxnSpLocks noChangeShapeType="1"/>
            <a:stCxn id="51" idx="0"/>
            <a:endCxn id="52" idx="2"/>
          </p:cNvCxnSpPr>
          <p:nvPr/>
        </p:nvCxnSpPr>
        <p:spPr bwMode="auto">
          <a:xfrm flipH="1" flipV="1">
            <a:off x="6376988" y="2576416"/>
            <a:ext cx="479425" cy="22225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" name="AutoShape 168"/>
          <p:cNvCxnSpPr>
            <a:cxnSpLocks noChangeShapeType="1"/>
            <a:stCxn id="51" idx="0"/>
            <a:endCxn id="53" idx="2"/>
          </p:cNvCxnSpPr>
          <p:nvPr/>
        </p:nvCxnSpPr>
        <p:spPr bwMode="auto">
          <a:xfrm flipV="1">
            <a:off x="6856413" y="2576416"/>
            <a:ext cx="434975" cy="22225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" name="AutoShape 169"/>
          <p:cNvSpPr>
            <a:spLocks noChangeArrowheads="1"/>
          </p:cNvSpPr>
          <p:nvPr/>
        </p:nvSpPr>
        <p:spPr bwMode="auto">
          <a:xfrm>
            <a:off x="4454525" y="4379816"/>
            <a:ext cx="1219200" cy="457200"/>
          </a:xfrm>
          <a:prstGeom prst="diamond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选修</a:t>
            </a:r>
          </a:p>
        </p:txBody>
      </p:sp>
      <p:sp>
        <p:nvSpPr>
          <p:cNvPr id="72" name="AutoShape 170"/>
          <p:cNvSpPr>
            <a:spLocks noChangeArrowheads="1"/>
          </p:cNvSpPr>
          <p:nvPr/>
        </p:nvSpPr>
        <p:spPr bwMode="auto">
          <a:xfrm>
            <a:off x="4686300" y="3586066"/>
            <a:ext cx="755650" cy="279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成绩</a:t>
            </a:r>
          </a:p>
        </p:txBody>
      </p:sp>
      <p:cxnSp>
        <p:nvCxnSpPr>
          <p:cNvPr id="73" name="AutoShape 171"/>
          <p:cNvCxnSpPr>
            <a:cxnSpLocks noChangeShapeType="1"/>
            <a:stCxn id="72" idx="2"/>
            <a:endCxn id="71" idx="0"/>
          </p:cNvCxnSpPr>
          <p:nvPr/>
        </p:nvCxnSpPr>
        <p:spPr bwMode="auto">
          <a:xfrm>
            <a:off x="5064125" y="3865466"/>
            <a:ext cx="0" cy="51435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" name="AutoShape 172"/>
          <p:cNvCxnSpPr>
            <a:cxnSpLocks noChangeShapeType="1"/>
            <a:stCxn id="32" idx="3"/>
            <a:endCxn id="71" idx="1"/>
          </p:cNvCxnSpPr>
          <p:nvPr/>
        </p:nvCxnSpPr>
        <p:spPr bwMode="auto">
          <a:xfrm>
            <a:off x="3130550" y="4608416"/>
            <a:ext cx="1323975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" name="AutoShape 173"/>
          <p:cNvCxnSpPr>
            <a:cxnSpLocks noChangeShapeType="1"/>
            <a:stCxn id="71" idx="3"/>
            <a:endCxn id="46" idx="1"/>
          </p:cNvCxnSpPr>
          <p:nvPr/>
        </p:nvCxnSpPr>
        <p:spPr bwMode="auto">
          <a:xfrm>
            <a:off x="5673725" y="4608416"/>
            <a:ext cx="801688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6" name="AutoShape 174"/>
          <p:cNvSpPr>
            <a:spLocks noChangeArrowheads="1"/>
          </p:cNvSpPr>
          <p:nvPr/>
        </p:nvSpPr>
        <p:spPr bwMode="auto">
          <a:xfrm>
            <a:off x="6246813" y="3620991"/>
            <a:ext cx="1219200" cy="457200"/>
          </a:xfrm>
          <a:prstGeom prst="diamond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组成</a:t>
            </a:r>
          </a:p>
        </p:txBody>
      </p:sp>
      <p:cxnSp>
        <p:nvCxnSpPr>
          <p:cNvPr id="77" name="AutoShape 175"/>
          <p:cNvCxnSpPr>
            <a:cxnSpLocks noChangeShapeType="1"/>
            <a:stCxn id="51" idx="2"/>
            <a:endCxn id="76" idx="0"/>
          </p:cNvCxnSpPr>
          <p:nvPr/>
        </p:nvCxnSpPr>
        <p:spPr bwMode="auto">
          <a:xfrm>
            <a:off x="6856413" y="3143153"/>
            <a:ext cx="0" cy="47783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" name="AutoShape 176"/>
          <p:cNvCxnSpPr>
            <a:cxnSpLocks noChangeShapeType="1"/>
            <a:stCxn id="76" idx="2"/>
            <a:endCxn id="46" idx="0"/>
          </p:cNvCxnSpPr>
          <p:nvPr/>
        </p:nvCxnSpPr>
        <p:spPr bwMode="auto">
          <a:xfrm>
            <a:off x="6856413" y="4078191"/>
            <a:ext cx="0" cy="369887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9" name="AutoShape 177"/>
          <p:cNvSpPr>
            <a:spLocks noChangeArrowheads="1"/>
          </p:cNvSpPr>
          <p:nvPr/>
        </p:nvSpPr>
        <p:spPr bwMode="auto">
          <a:xfrm>
            <a:off x="7781925" y="3319366"/>
            <a:ext cx="755650" cy="33496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人数</a:t>
            </a:r>
          </a:p>
        </p:txBody>
      </p:sp>
      <p:cxnSp>
        <p:nvCxnSpPr>
          <p:cNvPr id="80" name="AutoShape 178"/>
          <p:cNvCxnSpPr>
            <a:cxnSpLocks noChangeShapeType="1"/>
            <a:stCxn id="76" idx="3"/>
            <a:endCxn id="79" idx="1"/>
          </p:cNvCxnSpPr>
          <p:nvPr/>
        </p:nvCxnSpPr>
        <p:spPr bwMode="auto">
          <a:xfrm flipV="1">
            <a:off x="7466013" y="3487641"/>
            <a:ext cx="315912" cy="36195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" name="AutoShape 179"/>
          <p:cNvSpPr>
            <a:spLocks noChangeArrowheads="1"/>
          </p:cNvSpPr>
          <p:nvPr/>
        </p:nvSpPr>
        <p:spPr bwMode="auto">
          <a:xfrm>
            <a:off x="2178050" y="5195791"/>
            <a:ext cx="1219200" cy="457200"/>
          </a:xfrm>
          <a:prstGeom prst="diamond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讲授</a:t>
            </a:r>
          </a:p>
        </p:txBody>
      </p:sp>
      <p:cxnSp>
        <p:nvCxnSpPr>
          <p:cNvPr id="82" name="AutoShape 180"/>
          <p:cNvCxnSpPr>
            <a:cxnSpLocks noChangeShapeType="1"/>
            <a:stCxn id="32" idx="2"/>
            <a:endCxn id="81" idx="0"/>
          </p:cNvCxnSpPr>
          <p:nvPr/>
        </p:nvCxnSpPr>
        <p:spPr bwMode="auto">
          <a:xfrm rot="5400000">
            <a:off x="2574131" y="4982272"/>
            <a:ext cx="427038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" name="AutoShape 181"/>
          <p:cNvCxnSpPr>
            <a:cxnSpLocks noChangeShapeType="1"/>
            <a:stCxn id="81" idx="1"/>
            <a:endCxn id="36" idx="3"/>
          </p:cNvCxnSpPr>
          <p:nvPr/>
        </p:nvCxnSpPr>
        <p:spPr bwMode="auto">
          <a:xfrm rot="10800000">
            <a:off x="1581150" y="5424391"/>
            <a:ext cx="5969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" name="AutoShape 182"/>
          <p:cNvCxnSpPr>
            <a:cxnSpLocks noChangeShapeType="1"/>
            <a:stCxn id="81" idx="3"/>
            <a:endCxn id="41" idx="1"/>
          </p:cNvCxnSpPr>
          <p:nvPr/>
        </p:nvCxnSpPr>
        <p:spPr bwMode="auto">
          <a:xfrm>
            <a:off x="3397250" y="5424391"/>
            <a:ext cx="881063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5" name="Rectangle 183"/>
          <p:cNvSpPr>
            <a:spLocks noChangeArrowheads="1"/>
          </p:cNvSpPr>
          <p:nvPr/>
        </p:nvSpPr>
        <p:spPr bwMode="auto">
          <a:xfrm>
            <a:off x="3695700" y="4325841"/>
            <a:ext cx="762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/>
            <a:r>
              <a:rPr kumimoji="1" lang="en-US" altLang="zh-CN" sz="1600" baseline="0">
                <a:latin typeface="Times New Roman" pitchFamily="18" charset="0"/>
                <a:ea typeface="楷体_GB2312" pitchFamily="49" charset="-122"/>
              </a:rPr>
              <a:t>m</a:t>
            </a:r>
          </a:p>
        </p:txBody>
      </p:sp>
      <p:sp>
        <p:nvSpPr>
          <p:cNvPr id="86" name="Rectangle 184"/>
          <p:cNvSpPr>
            <a:spLocks noChangeArrowheads="1"/>
          </p:cNvSpPr>
          <p:nvPr/>
        </p:nvSpPr>
        <p:spPr bwMode="auto">
          <a:xfrm>
            <a:off x="5849938" y="4346478"/>
            <a:ext cx="762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/>
            <a:r>
              <a:rPr kumimoji="1" lang="en-US" altLang="zh-CN" sz="1600" baseline="0">
                <a:latin typeface="Times New Roman" pitchFamily="18" charset="0"/>
                <a:ea typeface="楷体_GB2312" pitchFamily="49" charset="-122"/>
              </a:rPr>
              <a:t>n</a:t>
            </a:r>
          </a:p>
        </p:txBody>
      </p:sp>
      <p:sp>
        <p:nvSpPr>
          <p:cNvPr id="87" name="AutoShape 185"/>
          <p:cNvSpPr>
            <a:spLocks noChangeArrowheads="1"/>
          </p:cNvSpPr>
          <p:nvPr/>
        </p:nvSpPr>
        <p:spPr bwMode="auto">
          <a:xfrm>
            <a:off x="6307138" y="5184678"/>
            <a:ext cx="1219200" cy="457200"/>
          </a:xfrm>
          <a:prstGeom prst="diamond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领导</a:t>
            </a:r>
          </a:p>
        </p:txBody>
      </p:sp>
      <p:sp>
        <p:nvSpPr>
          <p:cNvPr id="88" name="Rectangle 186"/>
          <p:cNvSpPr>
            <a:spLocks noChangeArrowheads="1"/>
          </p:cNvSpPr>
          <p:nvPr/>
        </p:nvSpPr>
        <p:spPr bwMode="auto">
          <a:xfrm>
            <a:off x="6629400" y="4121053"/>
            <a:ext cx="762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/>
            <a:r>
              <a:rPr kumimoji="1" lang="en-US" altLang="zh-CN" sz="1600" baseline="0">
                <a:latin typeface="Times New Roman" pitchFamily="18" charset="0"/>
                <a:ea typeface="楷体_GB2312" pitchFamily="49" charset="-122"/>
              </a:rPr>
              <a:t>n</a:t>
            </a:r>
          </a:p>
        </p:txBody>
      </p:sp>
      <p:sp>
        <p:nvSpPr>
          <p:cNvPr id="89" name="Rectangle 187"/>
          <p:cNvSpPr>
            <a:spLocks noChangeArrowheads="1"/>
          </p:cNvSpPr>
          <p:nvPr/>
        </p:nvSpPr>
        <p:spPr bwMode="auto">
          <a:xfrm>
            <a:off x="6762750" y="3311428"/>
            <a:ext cx="457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/>
            <a:r>
              <a:rPr kumimoji="1" lang="en-US" altLang="zh-CN" sz="1600" baseline="0">
                <a:latin typeface="Times New Roman" pitchFamily="18" charset="0"/>
                <a:ea typeface="楷体_GB2312" pitchFamily="49" charset="-122"/>
              </a:rPr>
              <a:t>1</a:t>
            </a:r>
          </a:p>
        </p:txBody>
      </p:sp>
      <p:sp>
        <p:nvSpPr>
          <p:cNvPr id="90" name="Rectangle 188"/>
          <p:cNvSpPr>
            <a:spLocks noChangeArrowheads="1"/>
          </p:cNvSpPr>
          <p:nvPr/>
        </p:nvSpPr>
        <p:spPr bwMode="auto">
          <a:xfrm>
            <a:off x="6383338" y="4879878"/>
            <a:ext cx="457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/>
            <a:r>
              <a:rPr kumimoji="1" lang="en-US" altLang="zh-CN" sz="1600" baseline="0">
                <a:latin typeface="Times New Roman" pitchFamily="18" charset="0"/>
                <a:ea typeface="楷体_GB2312" pitchFamily="49" charset="-122"/>
              </a:rPr>
              <a:t>1</a:t>
            </a:r>
          </a:p>
        </p:txBody>
      </p:sp>
      <p:sp>
        <p:nvSpPr>
          <p:cNvPr id="91" name="Rectangle 189"/>
          <p:cNvSpPr>
            <a:spLocks noChangeArrowheads="1"/>
          </p:cNvSpPr>
          <p:nvPr/>
        </p:nvSpPr>
        <p:spPr bwMode="auto">
          <a:xfrm>
            <a:off x="6840538" y="4879878"/>
            <a:ext cx="762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/>
            <a:r>
              <a:rPr kumimoji="1" lang="en-US" altLang="zh-CN" sz="1600" baseline="0">
                <a:latin typeface="Times New Roman" pitchFamily="18" charset="0"/>
                <a:ea typeface="楷体_GB2312" pitchFamily="49" charset="-122"/>
              </a:rPr>
              <a:t>n</a:t>
            </a:r>
          </a:p>
        </p:txBody>
      </p:sp>
      <p:sp>
        <p:nvSpPr>
          <p:cNvPr id="92" name="Rectangle 190"/>
          <p:cNvSpPr>
            <a:spLocks noChangeArrowheads="1"/>
          </p:cNvSpPr>
          <p:nvPr/>
        </p:nvSpPr>
        <p:spPr bwMode="auto">
          <a:xfrm>
            <a:off x="2373313" y="4841778"/>
            <a:ext cx="457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/>
            <a:r>
              <a:rPr kumimoji="1" lang="en-US" altLang="zh-CN" sz="1600" baseline="0">
                <a:latin typeface="Times New Roman" pitchFamily="18" charset="0"/>
                <a:ea typeface="楷体_GB2312" pitchFamily="49" charset="-122"/>
              </a:rPr>
              <a:t>m</a:t>
            </a:r>
          </a:p>
        </p:txBody>
      </p:sp>
      <p:sp>
        <p:nvSpPr>
          <p:cNvPr id="93" name="Rectangle 191"/>
          <p:cNvSpPr>
            <a:spLocks noChangeArrowheads="1"/>
          </p:cNvSpPr>
          <p:nvPr/>
        </p:nvSpPr>
        <p:spPr bwMode="auto">
          <a:xfrm>
            <a:off x="1449388" y="5144991"/>
            <a:ext cx="762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/>
            <a:r>
              <a:rPr kumimoji="1" lang="en-US" altLang="zh-CN" sz="1600" baseline="0">
                <a:latin typeface="Times New Roman" pitchFamily="18" charset="0"/>
                <a:ea typeface="楷体_GB2312" pitchFamily="49" charset="-122"/>
              </a:rPr>
              <a:t>n</a:t>
            </a:r>
          </a:p>
        </p:txBody>
      </p:sp>
      <p:sp>
        <p:nvSpPr>
          <p:cNvPr id="94" name="Rectangle 192"/>
          <p:cNvSpPr>
            <a:spLocks noChangeArrowheads="1"/>
          </p:cNvSpPr>
          <p:nvPr/>
        </p:nvSpPr>
        <p:spPr bwMode="auto">
          <a:xfrm>
            <a:off x="3414713" y="5137053"/>
            <a:ext cx="762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/>
            <a:r>
              <a:rPr kumimoji="1" lang="en-US" altLang="zh-CN" sz="1600" baseline="0">
                <a:latin typeface="Times New Roman" pitchFamily="18" charset="0"/>
                <a:ea typeface="楷体_GB2312" pitchFamily="49" charset="-122"/>
              </a:rPr>
              <a:t>p</a:t>
            </a:r>
          </a:p>
        </p:txBody>
      </p:sp>
      <p:grpSp>
        <p:nvGrpSpPr>
          <p:cNvPr id="95" name="Group 193"/>
          <p:cNvGrpSpPr>
            <a:grpSpLocks/>
          </p:cNvGrpSpPr>
          <p:nvPr/>
        </p:nvGrpSpPr>
        <p:grpSpPr bwMode="auto">
          <a:xfrm>
            <a:off x="644525" y="2206528"/>
            <a:ext cx="1800225" cy="936625"/>
            <a:chOff x="2154" y="1389"/>
            <a:chExt cx="1134" cy="590"/>
          </a:xfrm>
        </p:grpSpPr>
        <p:sp>
          <p:nvSpPr>
            <p:cNvPr id="96" name="Rectangle 194"/>
            <p:cNvSpPr>
              <a:spLocks noChangeArrowheads="1"/>
            </p:cNvSpPr>
            <p:nvPr/>
          </p:nvSpPr>
          <p:spPr bwMode="auto">
            <a:xfrm>
              <a:off x="2154" y="1389"/>
              <a:ext cx="1134" cy="590"/>
            </a:xfrm>
            <a:prstGeom prst="rect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0" tIns="0" rIns="0" bIns="0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97" name="Rectangle 195"/>
            <p:cNvSpPr>
              <a:spLocks noChangeArrowheads="1"/>
            </p:cNvSpPr>
            <p:nvPr/>
          </p:nvSpPr>
          <p:spPr bwMode="auto">
            <a:xfrm>
              <a:off x="2226" y="1433"/>
              <a:ext cx="453" cy="152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98" name="Rectangle 196"/>
            <p:cNvSpPr>
              <a:spLocks noChangeArrowheads="1"/>
            </p:cNvSpPr>
            <p:nvPr/>
          </p:nvSpPr>
          <p:spPr bwMode="auto">
            <a:xfrm>
              <a:off x="2847" y="1394"/>
              <a:ext cx="325" cy="194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zh-CN" altLang="en-US" sz="2000" b="1" baseline="0" dirty="0">
                  <a:solidFill>
                    <a:schemeClr val="bg1"/>
                  </a:solidFill>
                  <a:effectLst/>
                  <a:latin typeface="Times New Roman" pitchFamily="18" charset="0"/>
                  <a:ea typeface="楷体_GB2312" pitchFamily="49" charset="-122"/>
                </a:rPr>
                <a:t>实体</a:t>
              </a:r>
            </a:p>
          </p:txBody>
        </p:sp>
        <p:sp>
          <p:nvSpPr>
            <p:cNvPr id="99" name="AutoShape 197"/>
            <p:cNvSpPr>
              <a:spLocks noChangeArrowheads="1"/>
            </p:cNvSpPr>
            <p:nvPr/>
          </p:nvSpPr>
          <p:spPr bwMode="auto">
            <a:xfrm>
              <a:off x="2245" y="1797"/>
              <a:ext cx="453" cy="151"/>
            </a:xfrm>
            <a:prstGeom prst="diamond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00" name="Rectangle 198"/>
            <p:cNvSpPr>
              <a:spLocks noChangeArrowheads="1"/>
            </p:cNvSpPr>
            <p:nvPr/>
          </p:nvSpPr>
          <p:spPr bwMode="auto">
            <a:xfrm>
              <a:off x="2859" y="1768"/>
              <a:ext cx="325" cy="194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zh-CN" altLang="en-US" sz="2000" b="1" baseline="0">
                  <a:solidFill>
                    <a:schemeClr val="bg1"/>
                  </a:solidFill>
                  <a:effectLst/>
                  <a:latin typeface="Times New Roman" pitchFamily="18" charset="0"/>
                  <a:ea typeface="楷体_GB2312" pitchFamily="49" charset="-122"/>
                </a:rPr>
                <a:t>联系</a:t>
              </a:r>
            </a:p>
          </p:txBody>
        </p:sp>
        <p:sp>
          <p:nvSpPr>
            <p:cNvPr id="101" name="AutoShape 199"/>
            <p:cNvSpPr>
              <a:spLocks noChangeArrowheads="1"/>
            </p:cNvSpPr>
            <p:nvPr/>
          </p:nvSpPr>
          <p:spPr bwMode="auto">
            <a:xfrm>
              <a:off x="2226" y="1621"/>
              <a:ext cx="453" cy="15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02" name="Rectangle 200"/>
            <p:cNvSpPr>
              <a:spLocks noChangeArrowheads="1"/>
            </p:cNvSpPr>
            <p:nvPr/>
          </p:nvSpPr>
          <p:spPr bwMode="auto">
            <a:xfrm>
              <a:off x="2847" y="1581"/>
              <a:ext cx="325" cy="194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zh-CN" altLang="en-US" sz="2000" b="1" baseline="0" dirty="0">
                  <a:solidFill>
                    <a:schemeClr val="bg1"/>
                  </a:solidFill>
                  <a:effectLst/>
                  <a:latin typeface="Times New Roman" pitchFamily="18" charset="0"/>
                  <a:ea typeface="楷体_GB2312" pitchFamily="49" charset="-122"/>
                </a:rPr>
                <a:t>属性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2646415"/>
      </p:ext>
    </p:extLst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5991" y="0"/>
            <a:ext cx="5275016" cy="760959"/>
          </a:xfr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ts val="0"/>
              </a:spcBef>
              <a:spcAft>
                <a:spcPct val="25000"/>
              </a:spcAft>
              <a:buSzPct val="80000"/>
              <a:buFont typeface="Wingdings" pitchFamily="2" charset="2"/>
              <a:buNone/>
            </a:pPr>
            <a:r>
              <a:rPr kumimoji="1" lang="en-US" altLang="zh-CN" sz="4000" b="1" kern="1200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E-R</a:t>
            </a:r>
            <a:r>
              <a:rPr kumimoji="1" lang="zh-CN" altLang="en-US" sz="4000" b="1" kern="1200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模型中的基本概念</a:t>
            </a:r>
            <a:endParaRPr kumimoji="1" lang="zh-CN" altLang="en-US" sz="4000" b="1" kern="1200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39" name="Rectangle 5"/>
          <p:cNvSpPr txBox="1">
            <a:spLocks noChangeArrowheads="1"/>
          </p:cNvSpPr>
          <p:nvPr/>
        </p:nvSpPr>
        <p:spPr bwMode="auto">
          <a:xfrm>
            <a:off x="244621" y="865289"/>
            <a:ext cx="8632825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3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spcAft>
                <a:spcPct val="20000"/>
              </a:spcAft>
              <a:defRPr/>
            </a:pPr>
            <a:r>
              <a:rPr lang="zh-CN" altLang="en-US" sz="2800" b="1" baseline="0" dirty="0" smtClean="0">
                <a:solidFill>
                  <a:srgbClr val="FFFF00"/>
                </a:solidFill>
              </a:rPr>
              <a:t>实体</a:t>
            </a:r>
            <a:r>
              <a:rPr lang="zh-CN" altLang="en-US" sz="2800" baseline="0" dirty="0" smtClean="0"/>
              <a:t>（</a:t>
            </a:r>
            <a:r>
              <a:rPr lang="en-US" altLang="zh-CN" sz="2800" baseline="0" dirty="0" smtClean="0"/>
              <a:t>Entity</a:t>
            </a:r>
            <a:r>
              <a:rPr lang="zh-CN" altLang="en-US" sz="2800" baseline="0" dirty="0" smtClean="0"/>
              <a:t>）：客观存在并可以相互区别的事物。可以是一个具体的物体或抽象的概念。</a:t>
            </a:r>
          </a:p>
          <a:p>
            <a:pPr eaLnBrk="1" hangingPunct="1">
              <a:spcBef>
                <a:spcPts val="1200"/>
              </a:spcBef>
              <a:spcAft>
                <a:spcPct val="20000"/>
              </a:spcAft>
              <a:buFont typeface="Wingdings" pitchFamily="2" charset="2"/>
              <a:buNone/>
              <a:defRPr/>
            </a:pPr>
            <a:r>
              <a:rPr lang="zh-CN" altLang="en-US" sz="2800" baseline="0" dirty="0">
                <a:solidFill>
                  <a:srgbClr val="CCFF99"/>
                </a:solidFill>
              </a:rPr>
              <a:t>	如一名学生，一门课程，一次选课等。</a:t>
            </a:r>
            <a:endParaRPr lang="en-US" altLang="zh-CN" sz="2800" baseline="0" dirty="0">
              <a:solidFill>
                <a:srgbClr val="CCFF99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284161" y="2708920"/>
            <a:ext cx="8429625" cy="166507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spcAft>
                <a:spcPct val="20000"/>
              </a:spcAft>
              <a:buClr>
                <a:srgbClr val="66FF33"/>
              </a:buClr>
              <a:buSzPct val="85000"/>
              <a:buFontTx/>
              <a:buBlip>
                <a:blip r:embed="rId3"/>
              </a:buBlip>
              <a:defRPr/>
            </a:pPr>
            <a:r>
              <a:rPr lang="zh-CN" altLang="en-US" sz="2800" b="1" baseline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属性</a:t>
            </a:r>
            <a:r>
              <a:rPr lang="zh-CN" altLang="en-US" sz="2800" baseline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800" baseline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Attributes</a:t>
            </a:r>
            <a:r>
              <a:rPr lang="zh-CN" altLang="en-US" sz="2800" baseline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800" baseline="0" dirty="0" smtClean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：实体</a:t>
            </a:r>
            <a:r>
              <a:rPr lang="zh-CN" altLang="en-US" sz="2800" baseline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的某一特性。</a:t>
            </a:r>
          </a:p>
          <a:p>
            <a:pPr marL="342900" indent="-342900">
              <a:spcBef>
                <a:spcPts val="1200"/>
              </a:spcBef>
              <a:spcAft>
                <a:spcPct val="20000"/>
              </a:spcAft>
              <a:buClr>
                <a:srgbClr val="66FF33"/>
              </a:buClr>
              <a:buSzPct val="85000"/>
              <a:defRPr/>
            </a:pPr>
            <a:r>
              <a:rPr lang="zh-CN" altLang="en-US" sz="2800" baseline="0" dirty="0">
                <a:solidFill>
                  <a:srgbClr val="CC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	如学生实体有学号、姓名、年龄等属性，一门课程有课名、课程性质、任课教师等属性。</a:t>
            </a:r>
          </a:p>
        </p:txBody>
      </p:sp>
      <p:sp>
        <p:nvSpPr>
          <p:cNvPr id="41" name="矩形 40"/>
          <p:cNvSpPr/>
          <p:nvPr/>
        </p:nvSpPr>
        <p:spPr>
          <a:xfrm>
            <a:off x="302849" y="6002124"/>
            <a:ext cx="8429625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spcAft>
                <a:spcPct val="20000"/>
              </a:spcAft>
              <a:buClr>
                <a:srgbClr val="66FF33"/>
              </a:buClr>
              <a:buSzPct val="85000"/>
              <a:buFontTx/>
              <a:buBlip>
                <a:blip r:embed="rId3"/>
              </a:buBlip>
              <a:defRPr/>
            </a:pPr>
            <a:r>
              <a:rPr lang="zh-CN" altLang="en-US" sz="2800" b="1" baseline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码</a:t>
            </a:r>
            <a:r>
              <a:rPr lang="zh-CN" altLang="en-US" sz="2800" baseline="0" dirty="0" smtClean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800" baseline="0" dirty="0" smtClean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Key</a:t>
            </a:r>
            <a:r>
              <a:rPr lang="zh-CN" altLang="en-US" sz="2800" baseline="0" dirty="0" smtClean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）：唯一标识实体的属性或属性集。</a:t>
            </a:r>
            <a:endParaRPr lang="zh-CN" altLang="en-US" sz="2800" baseline="0" dirty="0"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Rectangle 5"/>
          <p:cNvSpPr txBox="1">
            <a:spLocks noChangeArrowheads="1"/>
          </p:cNvSpPr>
          <p:nvPr/>
        </p:nvSpPr>
        <p:spPr bwMode="auto">
          <a:xfrm>
            <a:off x="244621" y="4653136"/>
            <a:ext cx="8632825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3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spcAft>
                <a:spcPct val="20000"/>
              </a:spcAft>
              <a:defRPr/>
            </a:pPr>
            <a:r>
              <a:rPr lang="zh-CN" altLang="en-US" sz="2800" b="1" baseline="0" dirty="0" smtClean="0">
                <a:solidFill>
                  <a:srgbClr val="FFFF00"/>
                </a:solidFill>
              </a:rPr>
              <a:t>实体集</a:t>
            </a:r>
            <a:r>
              <a:rPr lang="zh-CN" altLang="en-US" sz="2800" baseline="0" dirty="0" smtClean="0"/>
              <a:t>：具有相同属性（注意不是属性值）的实体的集合。在不引起混淆时，往往简称为实体。</a:t>
            </a:r>
            <a:endParaRPr lang="en-US" altLang="zh-CN" sz="2800" baseline="0" dirty="0">
              <a:solidFill>
                <a:srgbClr val="CC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93339"/>
      </p:ext>
    </p:extLst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5991" y="0"/>
            <a:ext cx="5275016" cy="760959"/>
          </a:xfr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ts val="0"/>
              </a:spcBef>
              <a:spcAft>
                <a:spcPct val="25000"/>
              </a:spcAft>
              <a:buSzPct val="80000"/>
              <a:buFont typeface="Wingdings" pitchFamily="2" charset="2"/>
              <a:buNone/>
            </a:pPr>
            <a:r>
              <a:rPr kumimoji="1" lang="en-US" altLang="zh-CN" sz="4000" b="1" kern="1200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E-R</a:t>
            </a:r>
            <a:r>
              <a:rPr kumimoji="1" lang="zh-CN" altLang="en-US" sz="4000" b="1" kern="1200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模型中的基本概念</a:t>
            </a:r>
            <a:endParaRPr kumimoji="1" lang="zh-CN" altLang="en-US" sz="4000" b="1" kern="1200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261144" y="950119"/>
            <a:ext cx="8280400" cy="1542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3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spcAft>
                <a:spcPct val="20000"/>
              </a:spcAft>
              <a:defRPr/>
            </a:pPr>
            <a:r>
              <a:rPr lang="zh-CN" altLang="en-US" sz="2800" b="1" baseline="0" dirty="0" smtClean="0">
                <a:solidFill>
                  <a:srgbClr val="FFFF00"/>
                </a:solidFill>
              </a:rPr>
              <a:t>联系</a:t>
            </a:r>
            <a:r>
              <a:rPr lang="zh-CN" altLang="en-US" sz="2800" baseline="0" dirty="0" smtClean="0"/>
              <a:t>（</a:t>
            </a:r>
            <a:r>
              <a:rPr lang="en-US" altLang="zh-CN" sz="2800" baseline="0" dirty="0" smtClean="0"/>
              <a:t>Relationship</a:t>
            </a:r>
            <a:r>
              <a:rPr lang="zh-CN" altLang="en-US" sz="2800" baseline="0" dirty="0" smtClean="0"/>
              <a:t>）：实体</a:t>
            </a:r>
            <a:r>
              <a:rPr lang="zh-CN" altLang="en-US" sz="2800" baseline="0" dirty="0"/>
              <a:t>集</a:t>
            </a:r>
            <a:r>
              <a:rPr lang="zh-CN" altLang="en-US" sz="2800" baseline="0" dirty="0" smtClean="0"/>
              <a:t>之间和实体集内部各实体之间存在的关系。</a:t>
            </a:r>
          </a:p>
          <a:p>
            <a:pPr marL="0" indent="0" eaLnBrk="1" hangingPunct="1">
              <a:spcBef>
                <a:spcPct val="10000"/>
              </a:spcBef>
              <a:spcAft>
                <a:spcPct val="20000"/>
              </a:spcAft>
              <a:buFont typeface="Wingdings" pitchFamily="2" charset="2"/>
              <a:buNone/>
              <a:defRPr/>
            </a:pPr>
            <a:r>
              <a:rPr lang="en-US" altLang="zh-CN" sz="2800" baseline="0" dirty="0" smtClean="0"/>
              <a:t>    </a:t>
            </a:r>
            <a:r>
              <a:rPr lang="zh-CN" altLang="en-US" sz="2800" baseline="0" dirty="0" smtClean="0"/>
              <a:t>联系分为三种：</a:t>
            </a:r>
          </a:p>
        </p:txBody>
      </p:sp>
      <p:sp>
        <p:nvSpPr>
          <p:cNvPr id="28" name="Oval 4"/>
          <p:cNvSpPr>
            <a:spLocks noChangeArrowheads="1"/>
          </p:cNvSpPr>
          <p:nvPr/>
        </p:nvSpPr>
        <p:spPr bwMode="auto">
          <a:xfrm>
            <a:off x="832644" y="4130675"/>
            <a:ext cx="1447800" cy="838200"/>
          </a:xfrm>
          <a:prstGeom prst="ellipse">
            <a:avLst/>
          </a:prstGeom>
          <a:solidFill>
            <a:schemeClr val="accent1"/>
          </a:solidFill>
          <a:ln w="28575" cap="sq">
            <a:solidFill>
              <a:schemeClr val="bg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1594644" y="4359275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30" name="Rectangle 6"/>
          <p:cNvSpPr>
            <a:spLocks noChangeArrowheads="1"/>
          </p:cNvSpPr>
          <p:nvPr/>
        </p:nvSpPr>
        <p:spPr bwMode="auto">
          <a:xfrm>
            <a:off x="1823244" y="4511675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31" name="Rectangle 7"/>
          <p:cNvSpPr>
            <a:spLocks noChangeArrowheads="1"/>
          </p:cNvSpPr>
          <p:nvPr/>
        </p:nvSpPr>
        <p:spPr bwMode="auto">
          <a:xfrm>
            <a:off x="1061244" y="4587875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32" name="Oval 8"/>
          <p:cNvSpPr>
            <a:spLocks noChangeArrowheads="1"/>
          </p:cNvSpPr>
          <p:nvPr/>
        </p:nvSpPr>
        <p:spPr bwMode="auto">
          <a:xfrm>
            <a:off x="756444" y="2844800"/>
            <a:ext cx="1447800" cy="838200"/>
          </a:xfrm>
          <a:prstGeom prst="ellipse">
            <a:avLst/>
          </a:prstGeom>
          <a:solidFill>
            <a:schemeClr val="accent1"/>
          </a:solidFill>
          <a:ln w="28575" cap="sq">
            <a:solidFill>
              <a:schemeClr val="bg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33" name="Rectangle 9"/>
          <p:cNvSpPr>
            <a:spLocks noChangeArrowheads="1"/>
          </p:cNvSpPr>
          <p:nvPr/>
        </p:nvSpPr>
        <p:spPr bwMode="auto">
          <a:xfrm>
            <a:off x="1537494" y="2921000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34" name="Rectangle 10"/>
          <p:cNvSpPr>
            <a:spLocks noChangeArrowheads="1"/>
          </p:cNvSpPr>
          <p:nvPr/>
        </p:nvSpPr>
        <p:spPr bwMode="auto">
          <a:xfrm>
            <a:off x="1080294" y="3282950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35" name="Rectangle 11"/>
          <p:cNvSpPr>
            <a:spLocks noChangeArrowheads="1"/>
          </p:cNvSpPr>
          <p:nvPr/>
        </p:nvSpPr>
        <p:spPr bwMode="auto">
          <a:xfrm>
            <a:off x="1823244" y="3149600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cxnSp>
        <p:nvCxnSpPr>
          <p:cNvPr id="36" name="AutoShape 12"/>
          <p:cNvCxnSpPr>
            <a:cxnSpLocks noChangeShapeType="1"/>
            <a:stCxn id="33" idx="2"/>
            <a:endCxn id="31" idx="0"/>
          </p:cNvCxnSpPr>
          <p:nvPr/>
        </p:nvCxnSpPr>
        <p:spPr bwMode="auto">
          <a:xfrm flipH="1">
            <a:off x="1137444" y="3073400"/>
            <a:ext cx="476250" cy="15144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AutoShape 13"/>
          <p:cNvCxnSpPr>
            <a:cxnSpLocks noChangeShapeType="1"/>
            <a:stCxn id="34" idx="2"/>
            <a:endCxn id="29" idx="0"/>
          </p:cNvCxnSpPr>
          <p:nvPr/>
        </p:nvCxnSpPr>
        <p:spPr bwMode="auto">
          <a:xfrm>
            <a:off x="1156494" y="3435350"/>
            <a:ext cx="514350" cy="9239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AutoShape 14"/>
          <p:cNvCxnSpPr>
            <a:cxnSpLocks noChangeShapeType="1"/>
            <a:stCxn id="35" idx="2"/>
            <a:endCxn id="30" idx="0"/>
          </p:cNvCxnSpPr>
          <p:nvPr/>
        </p:nvCxnSpPr>
        <p:spPr bwMode="auto">
          <a:xfrm>
            <a:off x="1899444" y="3302000"/>
            <a:ext cx="0" cy="12096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Rectangle 15"/>
          <p:cNvSpPr>
            <a:spLocks noChangeArrowheads="1"/>
          </p:cNvSpPr>
          <p:nvPr/>
        </p:nvSpPr>
        <p:spPr bwMode="auto">
          <a:xfrm>
            <a:off x="220340" y="5373038"/>
            <a:ext cx="2693046" cy="43088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kumimoji="1" lang="zh-CN" altLang="en-US" sz="2800" baseline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rPr>
              <a:t>一对一联系</a:t>
            </a:r>
            <a:r>
              <a:rPr kumimoji="1" lang="en-US" altLang="zh-CN" sz="2800" baseline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rPr>
              <a:t>(1:1)</a:t>
            </a:r>
          </a:p>
        </p:txBody>
      </p:sp>
      <p:sp>
        <p:nvSpPr>
          <p:cNvPr id="40" name="Oval 16"/>
          <p:cNvSpPr>
            <a:spLocks noChangeArrowheads="1"/>
          </p:cNvSpPr>
          <p:nvPr/>
        </p:nvSpPr>
        <p:spPr bwMode="auto">
          <a:xfrm>
            <a:off x="3671094" y="4111625"/>
            <a:ext cx="1447800" cy="838200"/>
          </a:xfrm>
          <a:prstGeom prst="ellipse">
            <a:avLst/>
          </a:prstGeom>
          <a:solidFill>
            <a:schemeClr val="accent1"/>
          </a:solidFill>
          <a:ln w="28575" cap="sq">
            <a:solidFill>
              <a:schemeClr val="bg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41" name="Rectangle 17"/>
          <p:cNvSpPr>
            <a:spLocks noChangeArrowheads="1"/>
          </p:cNvSpPr>
          <p:nvPr/>
        </p:nvSpPr>
        <p:spPr bwMode="auto">
          <a:xfrm>
            <a:off x="4509294" y="4216400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42" name="Rectangle 18"/>
          <p:cNvSpPr>
            <a:spLocks noChangeArrowheads="1"/>
          </p:cNvSpPr>
          <p:nvPr/>
        </p:nvSpPr>
        <p:spPr bwMode="auto">
          <a:xfrm>
            <a:off x="4890294" y="4521200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43" name="Rectangle 19"/>
          <p:cNvSpPr>
            <a:spLocks noChangeArrowheads="1"/>
          </p:cNvSpPr>
          <p:nvPr/>
        </p:nvSpPr>
        <p:spPr bwMode="auto">
          <a:xfrm>
            <a:off x="4033044" y="4625975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44" name="Oval 20"/>
          <p:cNvSpPr>
            <a:spLocks noChangeArrowheads="1"/>
          </p:cNvSpPr>
          <p:nvPr/>
        </p:nvSpPr>
        <p:spPr bwMode="auto">
          <a:xfrm>
            <a:off x="3594894" y="2816225"/>
            <a:ext cx="1447800" cy="838200"/>
          </a:xfrm>
          <a:prstGeom prst="ellipse">
            <a:avLst/>
          </a:prstGeom>
          <a:solidFill>
            <a:schemeClr val="accent1"/>
          </a:solidFill>
          <a:ln w="28575" cap="sq">
            <a:solidFill>
              <a:schemeClr val="bg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45" name="Rectangle 21"/>
          <p:cNvSpPr>
            <a:spLocks noChangeArrowheads="1"/>
          </p:cNvSpPr>
          <p:nvPr/>
        </p:nvSpPr>
        <p:spPr bwMode="auto">
          <a:xfrm>
            <a:off x="4356894" y="3073400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46" name="Rectangle 22"/>
          <p:cNvSpPr>
            <a:spLocks noChangeArrowheads="1"/>
          </p:cNvSpPr>
          <p:nvPr/>
        </p:nvSpPr>
        <p:spPr bwMode="auto">
          <a:xfrm>
            <a:off x="4033044" y="2987675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47" name="Rectangle 23"/>
          <p:cNvSpPr>
            <a:spLocks noChangeArrowheads="1"/>
          </p:cNvSpPr>
          <p:nvPr/>
        </p:nvSpPr>
        <p:spPr bwMode="auto">
          <a:xfrm>
            <a:off x="4661694" y="3302000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48" name="Rectangle 24"/>
          <p:cNvSpPr>
            <a:spLocks noChangeArrowheads="1"/>
          </p:cNvSpPr>
          <p:nvPr/>
        </p:nvSpPr>
        <p:spPr bwMode="auto">
          <a:xfrm>
            <a:off x="3823494" y="3273425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cxnSp>
        <p:nvCxnSpPr>
          <p:cNvPr id="49" name="AutoShape 25"/>
          <p:cNvCxnSpPr>
            <a:cxnSpLocks noChangeShapeType="1"/>
            <a:stCxn id="46" idx="2"/>
            <a:endCxn id="43" idx="0"/>
          </p:cNvCxnSpPr>
          <p:nvPr/>
        </p:nvCxnSpPr>
        <p:spPr bwMode="auto">
          <a:xfrm>
            <a:off x="4109244" y="3140075"/>
            <a:ext cx="0" cy="14859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AutoShape 26"/>
          <p:cNvCxnSpPr>
            <a:cxnSpLocks noChangeShapeType="1"/>
            <a:stCxn id="46" idx="2"/>
            <a:endCxn id="60" idx="0"/>
          </p:cNvCxnSpPr>
          <p:nvPr/>
        </p:nvCxnSpPr>
        <p:spPr bwMode="auto">
          <a:xfrm flipH="1">
            <a:off x="3823494" y="3140075"/>
            <a:ext cx="285750" cy="12668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" name="AutoShape 27"/>
          <p:cNvCxnSpPr>
            <a:cxnSpLocks noChangeShapeType="1"/>
            <a:stCxn id="47" idx="2"/>
            <a:endCxn id="42" idx="0"/>
          </p:cNvCxnSpPr>
          <p:nvPr/>
        </p:nvCxnSpPr>
        <p:spPr bwMode="auto">
          <a:xfrm>
            <a:off x="4737894" y="3454400"/>
            <a:ext cx="228600" cy="10668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" name="Rectangle 28"/>
          <p:cNvSpPr>
            <a:spLocks noChangeArrowheads="1"/>
          </p:cNvSpPr>
          <p:nvPr/>
        </p:nvSpPr>
        <p:spPr bwMode="auto">
          <a:xfrm>
            <a:off x="3055615" y="5373038"/>
            <a:ext cx="2693046" cy="43088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kumimoji="1" lang="zh-CN" altLang="en-US" sz="2800" baseline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rPr>
              <a:t>一对多联系</a:t>
            </a:r>
            <a:r>
              <a:rPr kumimoji="1" lang="en-US" altLang="zh-CN" sz="2800" baseline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rPr>
              <a:t>(</a:t>
            </a:r>
            <a:r>
              <a:rPr kumimoji="1" lang="zh-CN" altLang="en-US" sz="2800" baseline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rPr>
              <a:t>1:</a:t>
            </a:r>
            <a:r>
              <a:rPr kumimoji="1" lang="en-US" altLang="zh-CN" sz="2800" baseline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rPr>
              <a:t>n)</a:t>
            </a:r>
          </a:p>
        </p:txBody>
      </p:sp>
      <p:sp>
        <p:nvSpPr>
          <p:cNvPr id="53" name="Rectangle 29"/>
          <p:cNvSpPr>
            <a:spLocks noChangeArrowheads="1"/>
          </p:cNvSpPr>
          <p:nvPr/>
        </p:nvSpPr>
        <p:spPr bwMode="auto">
          <a:xfrm>
            <a:off x="624731" y="5806425"/>
            <a:ext cx="1795364" cy="43088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kumimoji="1" lang="zh-CN" altLang="en-US" sz="2800" baseline="0">
                <a:solidFill>
                  <a:srgbClr val="CC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rPr>
              <a:t>学校与校长</a:t>
            </a:r>
          </a:p>
        </p:txBody>
      </p:sp>
      <p:sp>
        <p:nvSpPr>
          <p:cNvPr id="54" name="Rectangle 30"/>
          <p:cNvSpPr>
            <a:spLocks noChangeArrowheads="1"/>
          </p:cNvSpPr>
          <p:nvPr/>
        </p:nvSpPr>
        <p:spPr bwMode="auto">
          <a:xfrm>
            <a:off x="1461294" y="4664075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55" name="Rectangle 31"/>
          <p:cNvSpPr>
            <a:spLocks noChangeArrowheads="1"/>
          </p:cNvSpPr>
          <p:nvPr/>
        </p:nvSpPr>
        <p:spPr bwMode="auto">
          <a:xfrm>
            <a:off x="1308894" y="4359275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56" name="Rectangle 32"/>
          <p:cNvSpPr>
            <a:spLocks noChangeArrowheads="1"/>
          </p:cNvSpPr>
          <p:nvPr/>
        </p:nvSpPr>
        <p:spPr bwMode="auto">
          <a:xfrm>
            <a:off x="1232694" y="2940050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57" name="Rectangle 33"/>
          <p:cNvSpPr>
            <a:spLocks noChangeArrowheads="1"/>
          </p:cNvSpPr>
          <p:nvPr/>
        </p:nvSpPr>
        <p:spPr bwMode="auto">
          <a:xfrm>
            <a:off x="4280694" y="4521200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58" name="Rectangle 34"/>
          <p:cNvSpPr>
            <a:spLocks noChangeArrowheads="1"/>
          </p:cNvSpPr>
          <p:nvPr/>
        </p:nvSpPr>
        <p:spPr bwMode="auto">
          <a:xfrm>
            <a:off x="4204494" y="4216400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59" name="Rectangle 35"/>
          <p:cNvSpPr>
            <a:spLocks noChangeArrowheads="1"/>
          </p:cNvSpPr>
          <p:nvPr/>
        </p:nvSpPr>
        <p:spPr bwMode="auto">
          <a:xfrm>
            <a:off x="4661694" y="4673600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60" name="Rectangle 36"/>
          <p:cNvSpPr>
            <a:spLocks noChangeArrowheads="1"/>
          </p:cNvSpPr>
          <p:nvPr/>
        </p:nvSpPr>
        <p:spPr bwMode="auto">
          <a:xfrm>
            <a:off x="3747294" y="4406900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cxnSp>
        <p:nvCxnSpPr>
          <p:cNvPr id="61" name="AutoShape 37"/>
          <p:cNvCxnSpPr>
            <a:cxnSpLocks noChangeShapeType="1"/>
            <a:stCxn id="46" idx="2"/>
            <a:endCxn id="58" idx="0"/>
          </p:cNvCxnSpPr>
          <p:nvPr/>
        </p:nvCxnSpPr>
        <p:spPr bwMode="auto">
          <a:xfrm>
            <a:off x="4109244" y="3140075"/>
            <a:ext cx="171450" cy="10763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" name="AutoShape 38"/>
          <p:cNvCxnSpPr>
            <a:cxnSpLocks noChangeShapeType="1"/>
            <a:stCxn id="47" idx="2"/>
            <a:endCxn id="59" idx="0"/>
          </p:cNvCxnSpPr>
          <p:nvPr/>
        </p:nvCxnSpPr>
        <p:spPr bwMode="auto">
          <a:xfrm>
            <a:off x="4737894" y="3454400"/>
            <a:ext cx="0" cy="12192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" name="AutoShape 39"/>
          <p:cNvCxnSpPr>
            <a:cxnSpLocks noChangeShapeType="1"/>
            <a:stCxn id="45" idx="2"/>
            <a:endCxn id="41" idx="0"/>
          </p:cNvCxnSpPr>
          <p:nvPr/>
        </p:nvCxnSpPr>
        <p:spPr bwMode="auto">
          <a:xfrm>
            <a:off x="4433094" y="3225800"/>
            <a:ext cx="152400" cy="9906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" name="Rectangle 40"/>
          <p:cNvSpPr>
            <a:spLocks noChangeArrowheads="1"/>
          </p:cNvSpPr>
          <p:nvPr/>
        </p:nvSpPr>
        <p:spPr bwMode="auto">
          <a:xfrm>
            <a:off x="3534619" y="5806425"/>
            <a:ext cx="1795363" cy="43088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kumimoji="1" lang="zh-CN" altLang="en-US" sz="2800" baseline="0">
                <a:solidFill>
                  <a:srgbClr val="CC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rPr>
              <a:t>班级与学生</a:t>
            </a:r>
          </a:p>
        </p:txBody>
      </p:sp>
      <p:sp>
        <p:nvSpPr>
          <p:cNvPr id="65" name="Oval 41"/>
          <p:cNvSpPr>
            <a:spLocks noChangeArrowheads="1"/>
          </p:cNvSpPr>
          <p:nvPr/>
        </p:nvSpPr>
        <p:spPr bwMode="auto">
          <a:xfrm>
            <a:off x="6566694" y="4064000"/>
            <a:ext cx="1447800" cy="838200"/>
          </a:xfrm>
          <a:prstGeom prst="ellipse">
            <a:avLst/>
          </a:prstGeom>
          <a:solidFill>
            <a:schemeClr val="accent1"/>
          </a:solidFill>
          <a:ln w="28575" cap="sq">
            <a:solidFill>
              <a:schemeClr val="bg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66" name="Rectangle 42"/>
          <p:cNvSpPr>
            <a:spLocks noChangeArrowheads="1"/>
          </p:cNvSpPr>
          <p:nvPr/>
        </p:nvSpPr>
        <p:spPr bwMode="auto">
          <a:xfrm>
            <a:off x="7404894" y="4168775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67" name="Rectangle 43"/>
          <p:cNvSpPr>
            <a:spLocks noChangeArrowheads="1"/>
          </p:cNvSpPr>
          <p:nvPr/>
        </p:nvSpPr>
        <p:spPr bwMode="auto">
          <a:xfrm>
            <a:off x="7785894" y="4473575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68" name="Rectangle 44"/>
          <p:cNvSpPr>
            <a:spLocks noChangeArrowheads="1"/>
          </p:cNvSpPr>
          <p:nvPr/>
        </p:nvSpPr>
        <p:spPr bwMode="auto">
          <a:xfrm>
            <a:off x="6928644" y="4635500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69" name="Oval 45"/>
          <p:cNvSpPr>
            <a:spLocks noChangeArrowheads="1"/>
          </p:cNvSpPr>
          <p:nvPr/>
        </p:nvSpPr>
        <p:spPr bwMode="auto">
          <a:xfrm>
            <a:off x="6490494" y="2768600"/>
            <a:ext cx="1447800" cy="838200"/>
          </a:xfrm>
          <a:prstGeom prst="ellipse">
            <a:avLst/>
          </a:prstGeom>
          <a:solidFill>
            <a:schemeClr val="accent1"/>
          </a:solidFill>
          <a:ln w="28575" cap="sq">
            <a:solidFill>
              <a:schemeClr val="bg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70" name="Rectangle 46"/>
          <p:cNvSpPr>
            <a:spLocks noChangeArrowheads="1"/>
          </p:cNvSpPr>
          <p:nvPr/>
        </p:nvSpPr>
        <p:spPr bwMode="auto">
          <a:xfrm>
            <a:off x="7252494" y="3025775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71" name="Rectangle 47"/>
          <p:cNvSpPr>
            <a:spLocks noChangeArrowheads="1"/>
          </p:cNvSpPr>
          <p:nvPr/>
        </p:nvSpPr>
        <p:spPr bwMode="auto">
          <a:xfrm>
            <a:off x="6928644" y="2940050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72" name="Rectangle 48"/>
          <p:cNvSpPr>
            <a:spLocks noChangeArrowheads="1"/>
          </p:cNvSpPr>
          <p:nvPr/>
        </p:nvSpPr>
        <p:spPr bwMode="auto">
          <a:xfrm>
            <a:off x="7557294" y="3254375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73" name="Rectangle 49"/>
          <p:cNvSpPr>
            <a:spLocks noChangeArrowheads="1"/>
          </p:cNvSpPr>
          <p:nvPr/>
        </p:nvSpPr>
        <p:spPr bwMode="auto">
          <a:xfrm>
            <a:off x="6642894" y="3073400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cxnSp>
        <p:nvCxnSpPr>
          <p:cNvPr id="74" name="AutoShape 50"/>
          <p:cNvCxnSpPr>
            <a:cxnSpLocks noChangeShapeType="1"/>
            <a:stCxn id="71" idx="2"/>
            <a:endCxn id="68" idx="0"/>
          </p:cNvCxnSpPr>
          <p:nvPr/>
        </p:nvCxnSpPr>
        <p:spPr bwMode="auto">
          <a:xfrm>
            <a:off x="7004844" y="3092450"/>
            <a:ext cx="0" cy="154305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" name="AutoShape 51"/>
          <p:cNvCxnSpPr>
            <a:cxnSpLocks noChangeShapeType="1"/>
            <a:stCxn id="71" idx="2"/>
            <a:endCxn id="81" idx="0"/>
          </p:cNvCxnSpPr>
          <p:nvPr/>
        </p:nvCxnSpPr>
        <p:spPr bwMode="auto">
          <a:xfrm flipH="1">
            <a:off x="6719094" y="3092450"/>
            <a:ext cx="285750" cy="12668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" name="AutoShape 52"/>
          <p:cNvCxnSpPr>
            <a:cxnSpLocks noChangeShapeType="1"/>
            <a:stCxn id="72" idx="2"/>
            <a:endCxn id="67" idx="0"/>
          </p:cNvCxnSpPr>
          <p:nvPr/>
        </p:nvCxnSpPr>
        <p:spPr bwMode="auto">
          <a:xfrm>
            <a:off x="7633494" y="3406775"/>
            <a:ext cx="228600" cy="10668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7" name="Rectangle 53"/>
          <p:cNvSpPr>
            <a:spLocks noChangeArrowheads="1"/>
          </p:cNvSpPr>
          <p:nvPr/>
        </p:nvSpPr>
        <p:spPr bwMode="auto">
          <a:xfrm>
            <a:off x="5946453" y="5373038"/>
            <a:ext cx="2693045" cy="43088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kumimoji="1" lang="zh-CN" altLang="en-US" sz="2800" baseline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rPr>
              <a:t>多对多联系</a:t>
            </a:r>
            <a:r>
              <a:rPr kumimoji="1" lang="en-US" altLang="zh-CN" sz="2800" baseline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rPr>
              <a:t>(m:n)</a:t>
            </a:r>
          </a:p>
        </p:txBody>
      </p:sp>
      <p:sp>
        <p:nvSpPr>
          <p:cNvPr id="78" name="Rectangle 54"/>
          <p:cNvSpPr>
            <a:spLocks noChangeArrowheads="1"/>
          </p:cNvSpPr>
          <p:nvPr/>
        </p:nvSpPr>
        <p:spPr bwMode="auto">
          <a:xfrm>
            <a:off x="7176294" y="4473575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79" name="Rectangle 55"/>
          <p:cNvSpPr>
            <a:spLocks noChangeArrowheads="1"/>
          </p:cNvSpPr>
          <p:nvPr/>
        </p:nvSpPr>
        <p:spPr bwMode="auto">
          <a:xfrm>
            <a:off x="7176294" y="4168775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80" name="Rectangle 56"/>
          <p:cNvSpPr>
            <a:spLocks noChangeArrowheads="1"/>
          </p:cNvSpPr>
          <p:nvPr/>
        </p:nvSpPr>
        <p:spPr bwMode="auto">
          <a:xfrm>
            <a:off x="7557294" y="4625975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81" name="Rectangle 57"/>
          <p:cNvSpPr>
            <a:spLocks noChangeArrowheads="1"/>
          </p:cNvSpPr>
          <p:nvPr/>
        </p:nvSpPr>
        <p:spPr bwMode="auto">
          <a:xfrm>
            <a:off x="6642894" y="4359275"/>
            <a:ext cx="152400" cy="152400"/>
          </a:xfrm>
          <a:prstGeom prst="rect">
            <a:avLst/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cxnSp>
        <p:nvCxnSpPr>
          <p:cNvPr id="82" name="AutoShape 58"/>
          <p:cNvCxnSpPr>
            <a:cxnSpLocks noChangeShapeType="1"/>
            <a:stCxn id="71" idx="2"/>
            <a:endCxn id="79" idx="0"/>
          </p:cNvCxnSpPr>
          <p:nvPr/>
        </p:nvCxnSpPr>
        <p:spPr bwMode="auto">
          <a:xfrm>
            <a:off x="7004844" y="3092450"/>
            <a:ext cx="247650" cy="10763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" name="AutoShape 59"/>
          <p:cNvCxnSpPr>
            <a:cxnSpLocks noChangeShapeType="1"/>
            <a:stCxn id="72" idx="2"/>
            <a:endCxn id="80" idx="0"/>
          </p:cNvCxnSpPr>
          <p:nvPr/>
        </p:nvCxnSpPr>
        <p:spPr bwMode="auto">
          <a:xfrm>
            <a:off x="7633494" y="3406775"/>
            <a:ext cx="0" cy="12192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" name="AutoShape 60"/>
          <p:cNvCxnSpPr>
            <a:cxnSpLocks noChangeShapeType="1"/>
            <a:stCxn id="70" idx="2"/>
            <a:endCxn id="66" idx="0"/>
          </p:cNvCxnSpPr>
          <p:nvPr/>
        </p:nvCxnSpPr>
        <p:spPr bwMode="auto">
          <a:xfrm>
            <a:off x="7328694" y="3178175"/>
            <a:ext cx="152400" cy="9906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5" name="Rectangle 61"/>
          <p:cNvSpPr>
            <a:spLocks noChangeArrowheads="1"/>
          </p:cNvSpPr>
          <p:nvPr/>
        </p:nvSpPr>
        <p:spPr bwMode="auto">
          <a:xfrm>
            <a:off x="6430219" y="5806425"/>
            <a:ext cx="1795363" cy="43088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kumimoji="1" lang="zh-CN" altLang="en-US" sz="2800" baseline="0">
                <a:solidFill>
                  <a:srgbClr val="CC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rPr>
              <a:t>课程与学生</a:t>
            </a:r>
          </a:p>
        </p:txBody>
      </p:sp>
      <p:cxnSp>
        <p:nvCxnSpPr>
          <p:cNvPr id="86" name="AutoShape 62"/>
          <p:cNvCxnSpPr>
            <a:cxnSpLocks noChangeShapeType="1"/>
            <a:stCxn id="68" idx="0"/>
            <a:endCxn id="73" idx="2"/>
          </p:cNvCxnSpPr>
          <p:nvPr/>
        </p:nvCxnSpPr>
        <p:spPr bwMode="auto">
          <a:xfrm flipH="1" flipV="1">
            <a:off x="6719094" y="3225800"/>
            <a:ext cx="285750" cy="14097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" name="AutoShape 63"/>
          <p:cNvCxnSpPr>
            <a:cxnSpLocks noChangeShapeType="1"/>
            <a:stCxn id="68" idx="0"/>
            <a:endCxn id="70" idx="2"/>
          </p:cNvCxnSpPr>
          <p:nvPr/>
        </p:nvCxnSpPr>
        <p:spPr bwMode="auto">
          <a:xfrm flipV="1">
            <a:off x="7004844" y="3178175"/>
            <a:ext cx="323850" cy="14573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" name="AutoShape 64"/>
          <p:cNvCxnSpPr>
            <a:cxnSpLocks noChangeShapeType="1"/>
            <a:stCxn id="79" idx="0"/>
            <a:endCxn id="72" idx="2"/>
          </p:cNvCxnSpPr>
          <p:nvPr/>
        </p:nvCxnSpPr>
        <p:spPr bwMode="auto">
          <a:xfrm flipV="1">
            <a:off x="7252494" y="3406775"/>
            <a:ext cx="381000" cy="7620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9" name="AutoShape 65"/>
          <p:cNvCxnSpPr>
            <a:cxnSpLocks noChangeShapeType="1"/>
            <a:stCxn id="81" idx="0"/>
            <a:endCxn id="73" idx="2"/>
          </p:cNvCxnSpPr>
          <p:nvPr/>
        </p:nvCxnSpPr>
        <p:spPr bwMode="auto">
          <a:xfrm flipV="1">
            <a:off x="6719094" y="3225800"/>
            <a:ext cx="0" cy="11334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0" name="Rectangle 66"/>
          <p:cNvSpPr>
            <a:spLocks noChangeArrowheads="1"/>
          </p:cNvSpPr>
          <p:nvPr/>
        </p:nvSpPr>
        <p:spPr bwMode="auto">
          <a:xfrm>
            <a:off x="469107" y="2932113"/>
            <a:ext cx="273646" cy="45318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72000" tIns="72000" rIns="72000" bIns="72000">
            <a:spAutoFit/>
          </a:bodyPr>
          <a:lstStyle/>
          <a:p>
            <a:r>
              <a:rPr kumimoji="1" lang="en-US" altLang="zh-CN" sz="2000" b="1" baseline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1</a:t>
            </a:r>
          </a:p>
        </p:txBody>
      </p:sp>
      <p:sp>
        <p:nvSpPr>
          <p:cNvPr id="91" name="Rectangle 67"/>
          <p:cNvSpPr>
            <a:spLocks noChangeArrowheads="1"/>
          </p:cNvSpPr>
          <p:nvPr/>
        </p:nvSpPr>
        <p:spPr bwMode="auto">
          <a:xfrm>
            <a:off x="469107" y="4227513"/>
            <a:ext cx="273646" cy="45318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72000" tIns="72000" rIns="72000" bIns="72000">
            <a:spAutoFit/>
          </a:bodyPr>
          <a:lstStyle/>
          <a:p>
            <a:r>
              <a:rPr kumimoji="1" lang="en-US" altLang="zh-CN" sz="2000" b="1" baseline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1</a:t>
            </a:r>
          </a:p>
        </p:txBody>
      </p:sp>
      <p:sp>
        <p:nvSpPr>
          <p:cNvPr id="92" name="Rectangle 68"/>
          <p:cNvSpPr>
            <a:spLocks noChangeArrowheads="1"/>
          </p:cNvSpPr>
          <p:nvPr/>
        </p:nvSpPr>
        <p:spPr bwMode="auto">
          <a:xfrm>
            <a:off x="3348832" y="2932113"/>
            <a:ext cx="273646" cy="45318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72000" tIns="72000" rIns="72000" bIns="72000">
            <a:spAutoFit/>
          </a:bodyPr>
          <a:lstStyle/>
          <a:p>
            <a:r>
              <a:rPr kumimoji="1" lang="en-US" altLang="zh-CN" sz="2000" b="1" baseline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1</a:t>
            </a:r>
          </a:p>
        </p:txBody>
      </p:sp>
      <p:sp>
        <p:nvSpPr>
          <p:cNvPr id="93" name="Rectangle 69"/>
          <p:cNvSpPr>
            <a:spLocks noChangeArrowheads="1"/>
          </p:cNvSpPr>
          <p:nvPr/>
        </p:nvSpPr>
        <p:spPr bwMode="auto">
          <a:xfrm>
            <a:off x="3348832" y="4227513"/>
            <a:ext cx="288074" cy="45318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72000" tIns="72000" rIns="72000" bIns="72000">
            <a:spAutoFit/>
          </a:bodyPr>
          <a:lstStyle/>
          <a:p>
            <a:r>
              <a:rPr kumimoji="1" lang="en-US" altLang="zh-CN" sz="2000" b="1" baseline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n</a:t>
            </a:r>
          </a:p>
        </p:txBody>
      </p:sp>
      <p:sp>
        <p:nvSpPr>
          <p:cNvPr id="94" name="Rectangle 70"/>
          <p:cNvSpPr>
            <a:spLocks noChangeArrowheads="1"/>
          </p:cNvSpPr>
          <p:nvPr/>
        </p:nvSpPr>
        <p:spPr bwMode="auto">
          <a:xfrm>
            <a:off x="6157119" y="2932113"/>
            <a:ext cx="358606" cy="45318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72000" tIns="72000" rIns="72000" bIns="72000">
            <a:spAutoFit/>
          </a:bodyPr>
          <a:lstStyle/>
          <a:p>
            <a:r>
              <a:rPr kumimoji="1" lang="en-US" altLang="zh-CN" sz="2000" b="1" baseline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m</a:t>
            </a:r>
          </a:p>
        </p:txBody>
      </p:sp>
      <p:sp>
        <p:nvSpPr>
          <p:cNvPr id="95" name="Rectangle 71"/>
          <p:cNvSpPr>
            <a:spLocks noChangeArrowheads="1"/>
          </p:cNvSpPr>
          <p:nvPr/>
        </p:nvSpPr>
        <p:spPr bwMode="auto">
          <a:xfrm>
            <a:off x="6157119" y="4227513"/>
            <a:ext cx="288074" cy="45318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72000" tIns="72000" rIns="72000" bIns="72000">
            <a:spAutoFit/>
          </a:bodyPr>
          <a:lstStyle/>
          <a:p>
            <a:r>
              <a:rPr kumimoji="1" lang="en-US" altLang="zh-CN" sz="2000" b="1" baseline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2339318307"/>
      </p:ext>
    </p:extLst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5991" y="0"/>
            <a:ext cx="3593466" cy="760959"/>
          </a:xfr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ts val="0"/>
              </a:spcBef>
              <a:spcAft>
                <a:spcPct val="25000"/>
              </a:spcAft>
              <a:buSzPct val="80000"/>
              <a:buFont typeface="Wingdings" pitchFamily="2" charset="2"/>
              <a:buNone/>
            </a:pPr>
            <a:r>
              <a:rPr kumimoji="1" lang="en-US" altLang="zh-CN" sz="4000" b="1" kern="1200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E-R</a:t>
            </a:r>
            <a:r>
              <a:rPr kumimoji="1" lang="zh-CN" altLang="en-US" sz="4000" b="1" kern="1200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模型</a:t>
            </a:r>
            <a:r>
              <a:rPr kumimoji="1" lang="zh-CN" altLang="en-US" sz="4000" b="1" kern="1200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的画法</a:t>
            </a:r>
            <a:endParaRPr kumimoji="1" lang="zh-CN" altLang="en-US" sz="4000" b="1" kern="1200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53" name="Line 128"/>
          <p:cNvSpPr>
            <a:spLocks noChangeShapeType="1"/>
          </p:cNvSpPr>
          <p:nvPr/>
        </p:nvSpPr>
        <p:spPr bwMode="auto">
          <a:xfrm>
            <a:off x="7146727" y="4818781"/>
            <a:ext cx="0" cy="609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54" name="Line 129"/>
          <p:cNvSpPr>
            <a:spLocks noChangeShapeType="1"/>
          </p:cNvSpPr>
          <p:nvPr/>
        </p:nvSpPr>
        <p:spPr bwMode="auto">
          <a:xfrm>
            <a:off x="6841927" y="4818781"/>
            <a:ext cx="0" cy="609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55" name="Rectangle 130"/>
          <p:cNvSpPr>
            <a:spLocks noChangeArrowheads="1"/>
          </p:cNvSpPr>
          <p:nvPr/>
        </p:nvSpPr>
        <p:spPr bwMode="auto">
          <a:xfrm>
            <a:off x="2522339" y="4539381"/>
            <a:ext cx="685800" cy="320675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课程</a:t>
            </a:r>
          </a:p>
        </p:txBody>
      </p:sp>
      <p:sp>
        <p:nvSpPr>
          <p:cNvPr id="56" name="AutoShape 131"/>
          <p:cNvSpPr>
            <a:spLocks noChangeArrowheads="1"/>
          </p:cNvSpPr>
          <p:nvPr/>
        </p:nvSpPr>
        <p:spPr bwMode="auto">
          <a:xfrm>
            <a:off x="1565077" y="3904381"/>
            <a:ext cx="762000" cy="2873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u="sng" baseline="0" dirty="0">
                <a:latin typeface="Times New Roman" pitchFamily="18" charset="0"/>
                <a:ea typeface="楷体_GB2312" pitchFamily="49" charset="-122"/>
              </a:rPr>
              <a:t>课程号</a:t>
            </a:r>
          </a:p>
        </p:txBody>
      </p:sp>
      <p:sp>
        <p:nvSpPr>
          <p:cNvPr id="57" name="AutoShape 132"/>
          <p:cNvSpPr>
            <a:spLocks noChangeArrowheads="1"/>
          </p:cNvSpPr>
          <p:nvPr/>
        </p:nvSpPr>
        <p:spPr bwMode="auto">
          <a:xfrm>
            <a:off x="2479477" y="3904381"/>
            <a:ext cx="762000" cy="2873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课程名</a:t>
            </a:r>
          </a:p>
        </p:txBody>
      </p:sp>
      <p:sp>
        <p:nvSpPr>
          <p:cNvPr id="58" name="AutoShape 133"/>
          <p:cNvSpPr>
            <a:spLocks noChangeArrowheads="1"/>
          </p:cNvSpPr>
          <p:nvPr/>
        </p:nvSpPr>
        <p:spPr bwMode="auto">
          <a:xfrm>
            <a:off x="3393877" y="3904381"/>
            <a:ext cx="685800" cy="2873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学分</a:t>
            </a:r>
          </a:p>
        </p:txBody>
      </p:sp>
      <p:sp>
        <p:nvSpPr>
          <p:cNvPr id="59" name="Rectangle 134"/>
          <p:cNvSpPr>
            <a:spLocks noChangeArrowheads="1"/>
          </p:cNvSpPr>
          <p:nvPr/>
        </p:nvSpPr>
        <p:spPr bwMode="auto">
          <a:xfrm>
            <a:off x="972939" y="5366469"/>
            <a:ext cx="685800" cy="29845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教师</a:t>
            </a:r>
          </a:p>
        </p:txBody>
      </p:sp>
      <p:sp>
        <p:nvSpPr>
          <p:cNvPr id="60" name="AutoShape 135"/>
          <p:cNvSpPr>
            <a:spLocks noChangeArrowheads="1"/>
          </p:cNvSpPr>
          <p:nvPr/>
        </p:nvSpPr>
        <p:spPr bwMode="auto">
          <a:xfrm>
            <a:off x="539552" y="5949081"/>
            <a:ext cx="762000" cy="279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u="sng" baseline="0" dirty="0">
                <a:latin typeface="Times New Roman" pitchFamily="18" charset="0"/>
                <a:ea typeface="楷体_GB2312" pitchFamily="49" charset="-122"/>
              </a:rPr>
              <a:t>教工号</a:t>
            </a:r>
          </a:p>
        </p:txBody>
      </p:sp>
      <p:sp>
        <p:nvSpPr>
          <p:cNvPr id="61" name="AutoShape 136"/>
          <p:cNvSpPr>
            <a:spLocks noChangeArrowheads="1"/>
          </p:cNvSpPr>
          <p:nvPr/>
        </p:nvSpPr>
        <p:spPr bwMode="auto">
          <a:xfrm>
            <a:off x="1038225" y="6173936"/>
            <a:ext cx="685800" cy="279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姓名</a:t>
            </a:r>
          </a:p>
        </p:txBody>
      </p:sp>
      <p:sp>
        <p:nvSpPr>
          <p:cNvPr id="62" name="AutoShape 137"/>
          <p:cNvSpPr>
            <a:spLocks noChangeArrowheads="1"/>
          </p:cNvSpPr>
          <p:nvPr/>
        </p:nvSpPr>
        <p:spPr bwMode="auto">
          <a:xfrm>
            <a:off x="1547614" y="6020519"/>
            <a:ext cx="685800" cy="279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性别</a:t>
            </a:r>
          </a:p>
        </p:txBody>
      </p:sp>
      <p:sp>
        <p:nvSpPr>
          <p:cNvPr id="63" name="AutoShape 138"/>
          <p:cNvSpPr>
            <a:spLocks noChangeArrowheads="1"/>
          </p:cNvSpPr>
          <p:nvPr/>
        </p:nvSpPr>
        <p:spPr bwMode="auto">
          <a:xfrm>
            <a:off x="2339777" y="6020519"/>
            <a:ext cx="685800" cy="279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职称</a:t>
            </a:r>
          </a:p>
        </p:txBody>
      </p:sp>
      <p:sp>
        <p:nvSpPr>
          <p:cNvPr id="64" name="Rectangle 139"/>
          <p:cNvSpPr>
            <a:spLocks noChangeArrowheads="1"/>
          </p:cNvSpPr>
          <p:nvPr/>
        </p:nvSpPr>
        <p:spPr bwMode="auto">
          <a:xfrm>
            <a:off x="4355902" y="5329956"/>
            <a:ext cx="1066800" cy="371475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参考书</a:t>
            </a:r>
          </a:p>
        </p:txBody>
      </p:sp>
      <p:sp>
        <p:nvSpPr>
          <p:cNvPr id="65" name="AutoShape 140"/>
          <p:cNvSpPr>
            <a:spLocks noChangeArrowheads="1"/>
          </p:cNvSpPr>
          <p:nvPr/>
        </p:nvSpPr>
        <p:spPr bwMode="auto">
          <a:xfrm>
            <a:off x="3708202" y="6252294"/>
            <a:ext cx="609600" cy="2730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u="sng" baseline="0">
                <a:latin typeface="Times New Roman" pitchFamily="18" charset="0"/>
                <a:ea typeface="楷体_GB2312" pitchFamily="49" charset="-122"/>
              </a:rPr>
              <a:t>书号</a:t>
            </a:r>
          </a:p>
        </p:txBody>
      </p:sp>
      <p:sp>
        <p:nvSpPr>
          <p:cNvPr id="66" name="AutoShape 141"/>
          <p:cNvSpPr>
            <a:spLocks noChangeArrowheads="1"/>
          </p:cNvSpPr>
          <p:nvPr/>
        </p:nvSpPr>
        <p:spPr bwMode="auto">
          <a:xfrm>
            <a:off x="4394002" y="6231656"/>
            <a:ext cx="685800" cy="279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书名</a:t>
            </a:r>
          </a:p>
        </p:txBody>
      </p:sp>
      <p:sp>
        <p:nvSpPr>
          <p:cNvPr id="67" name="AutoShape 142"/>
          <p:cNvSpPr>
            <a:spLocks noChangeArrowheads="1"/>
          </p:cNvSpPr>
          <p:nvPr/>
        </p:nvSpPr>
        <p:spPr bwMode="auto">
          <a:xfrm>
            <a:off x="5157589" y="6231656"/>
            <a:ext cx="869950" cy="279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出版社</a:t>
            </a:r>
          </a:p>
        </p:txBody>
      </p:sp>
      <p:sp>
        <p:nvSpPr>
          <p:cNvPr id="68" name="AutoShape 143"/>
          <p:cNvSpPr>
            <a:spLocks noChangeArrowheads="1"/>
          </p:cNvSpPr>
          <p:nvPr/>
        </p:nvSpPr>
        <p:spPr bwMode="auto">
          <a:xfrm>
            <a:off x="6108502" y="6231656"/>
            <a:ext cx="685800" cy="279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主编</a:t>
            </a:r>
          </a:p>
        </p:txBody>
      </p:sp>
      <p:sp>
        <p:nvSpPr>
          <p:cNvPr id="69" name="Rectangle 144"/>
          <p:cNvSpPr>
            <a:spLocks noChangeArrowheads="1"/>
          </p:cNvSpPr>
          <p:nvPr/>
        </p:nvSpPr>
        <p:spPr bwMode="auto">
          <a:xfrm>
            <a:off x="6553002" y="4539381"/>
            <a:ext cx="762000" cy="320675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学生</a:t>
            </a:r>
          </a:p>
        </p:txBody>
      </p:sp>
      <p:sp>
        <p:nvSpPr>
          <p:cNvPr id="70" name="AutoShape 145"/>
          <p:cNvSpPr>
            <a:spLocks noChangeArrowheads="1"/>
          </p:cNvSpPr>
          <p:nvPr/>
        </p:nvSpPr>
        <p:spPr bwMode="auto">
          <a:xfrm>
            <a:off x="8038902" y="4055194"/>
            <a:ext cx="755650" cy="24606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u="sng" baseline="0" dirty="0">
                <a:latin typeface="Times New Roman" pitchFamily="18" charset="0"/>
                <a:ea typeface="楷体_GB2312" pitchFamily="49" charset="-122"/>
              </a:rPr>
              <a:t>学号</a:t>
            </a:r>
          </a:p>
        </p:txBody>
      </p:sp>
      <p:sp>
        <p:nvSpPr>
          <p:cNvPr id="71" name="AutoShape 146"/>
          <p:cNvSpPr>
            <a:spLocks noChangeArrowheads="1"/>
          </p:cNvSpPr>
          <p:nvPr/>
        </p:nvSpPr>
        <p:spPr bwMode="auto">
          <a:xfrm>
            <a:off x="8038902" y="4374281"/>
            <a:ext cx="755650" cy="2524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姓名</a:t>
            </a:r>
          </a:p>
        </p:txBody>
      </p:sp>
      <p:sp>
        <p:nvSpPr>
          <p:cNvPr id="72" name="AutoShape 147"/>
          <p:cNvSpPr>
            <a:spLocks noChangeArrowheads="1"/>
          </p:cNvSpPr>
          <p:nvPr/>
        </p:nvSpPr>
        <p:spPr bwMode="auto">
          <a:xfrm>
            <a:off x="8038902" y="5121994"/>
            <a:ext cx="755650" cy="2524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性别</a:t>
            </a:r>
          </a:p>
        </p:txBody>
      </p:sp>
      <p:sp>
        <p:nvSpPr>
          <p:cNvPr id="73" name="AutoShape 148"/>
          <p:cNvSpPr>
            <a:spLocks noChangeArrowheads="1"/>
          </p:cNvSpPr>
          <p:nvPr/>
        </p:nvSpPr>
        <p:spPr bwMode="auto">
          <a:xfrm>
            <a:off x="8038902" y="4720356"/>
            <a:ext cx="755650" cy="2524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年龄</a:t>
            </a:r>
          </a:p>
        </p:txBody>
      </p:sp>
      <p:sp>
        <p:nvSpPr>
          <p:cNvPr id="74" name="Rectangle 149"/>
          <p:cNvSpPr>
            <a:spLocks noChangeArrowheads="1"/>
          </p:cNvSpPr>
          <p:nvPr/>
        </p:nvSpPr>
        <p:spPr bwMode="auto">
          <a:xfrm>
            <a:off x="6553002" y="2889969"/>
            <a:ext cx="762000" cy="344487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班级</a:t>
            </a:r>
          </a:p>
        </p:txBody>
      </p:sp>
      <p:sp>
        <p:nvSpPr>
          <p:cNvPr id="75" name="AutoShape 150"/>
          <p:cNvSpPr>
            <a:spLocks noChangeArrowheads="1"/>
          </p:cNvSpPr>
          <p:nvPr/>
        </p:nvSpPr>
        <p:spPr bwMode="auto">
          <a:xfrm>
            <a:off x="6076752" y="2332756"/>
            <a:ext cx="755650" cy="33496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u="sng" baseline="0" dirty="0">
                <a:latin typeface="Times New Roman" pitchFamily="18" charset="0"/>
                <a:ea typeface="楷体_GB2312" pitchFamily="49" charset="-122"/>
              </a:rPr>
              <a:t>班号</a:t>
            </a:r>
          </a:p>
        </p:txBody>
      </p:sp>
      <p:sp>
        <p:nvSpPr>
          <p:cNvPr id="76" name="AutoShape 151"/>
          <p:cNvSpPr>
            <a:spLocks noChangeArrowheads="1"/>
          </p:cNvSpPr>
          <p:nvPr/>
        </p:nvSpPr>
        <p:spPr bwMode="auto">
          <a:xfrm>
            <a:off x="6991152" y="2332756"/>
            <a:ext cx="755650" cy="33496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班名</a:t>
            </a:r>
          </a:p>
        </p:txBody>
      </p:sp>
      <p:cxnSp>
        <p:nvCxnSpPr>
          <p:cNvPr id="77" name="AutoShape 152"/>
          <p:cNvCxnSpPr>
            <a:cxnSpLocks noChangeShapeType="1"/>
            <a:stCxn id="56" idx="2"/>
            <a:endCxn id="55" idx="0"/>
          </p:cNvCxnSpPr>
          <p:nvPr/>
        </p:nvCxnSpPr>
        <p:spPr bwMode="auto">
          <a:xfrm>
            <a:off x="1946077" y="4191719"/>
            <a:ext cx="919162" cy="34766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" name="AutoShape 153"/>
          <p:cNvCxnSpPr>
            <a:cxnSpLocks noChangeShapeType="1"/>
            <a:stCxn id="57" idx="2"/>
            <a:endCxn id="55" idx="0"/>
          </p:cNvCxnSpPr>
          <p:nvPr/>
        </p:nvCxnSpPr>
        <p:spPr bwMode="auto">
          <a:xfrm>
            <a:off x="2860477" y="4191719"/>
            <a:ext cx="4762" cy="34766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" name="AutoShape 154"/>
          <p:cNvCxnSpPr>
            <a:cxnSpLocks noChangeShapeType="1"/>
            <a:stCxn id="58" idx="2"/>
            <a:endCxn id="55" idx="0"/>
          </p:cNvCxnSpPr>
          <p:nvPr/>
        </p:nvCxnSpPr>
        <p:spPr bwMode="auto">
          <a:xfrm flipH="1">
            <a:off x="2865239" y="4191719"/>
            <a:ext cx="871538" cy="34766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" name="AutoShape 155"/>
          <p:cNvCxnSpPr>
            <a:cxnSpLocks noChangeShapeType="1"/>
            <a:stCxn id="59" idx="2"/>
            <a:endCxn id="60" idx="0"/>
          </p:cNvCxnSpPr>
          <p:nvPr/>
        </p:nvCxnSpPr>
        <p:spPr bwMode="auto">
          <a:xfrm flipH="1">
            <a:off x="920552" y="5664919"/>
            <a:ext cx="395287" cy="28416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" name="AutoShape 156"/>
          <p:cNvCxnSpPr>
            <a:cxnSpLocks noChangeShapeType="1"/>
            <a:stCxn id="59" idx="2"/>
          </p:cNvCxnSpPr>
          <p:nvPr/>
        </p:nvCxnSpPr>
        <p:spPr bwMode="auto">
          <a:xfrm>
            <a:off x="1315839" y="5664919"/>
            <a:ext cx="142875" cy="71596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" name="AutoShape 157"/>
          <p:cNvCxnSpPr>
            <a:cxnSpLocks noChangeShapeType="1"/>
            <a:stCxn id="59" idx="2"/>
            <a:endCxn id="62" idx="0"/>
          </p:cNvCxnSpPr>
          <p:nvPr/>
        </p:nvCxnSpPr>
        <p:spPr bwMode="auto">
          <a:xfrm>
            <a:off x="1315839" y="5664919"/>
            <a:ext cx="574675" cy="3556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" name="AutoShape 158"/>
          <p:cNvCxnSpPr>
            <a:cxnSpLocks noChangeShapeType="1"/>
            <a:stCxn id="59" idx="2"/>
            <a:endCxn id="63" idx="0"/>
          </p:cNvCxnSpPr>
          <p:nvPr/>
        </p:nvCxnSpPr>
        <p:spPr bwMode="auto">
          <a:xfrm>
            <a:off x="1315839" y="5664919"/>
            <a:ext cx="1366838" cy="3556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" name="AutoShape 159"/>
          <p:cNvCxnSpPr>
            <a:cxnSpLocks noChangeShapeType="1"/>
            <a:stCxn id="64" idx="2"/>
            <a:endCxn id="65" idx="0"/>
          </p:cNvCxnSpPr>
          <p:nvPr/>
        </p:nvCxnSpPr>
        <p:spPr bwMode="auto">
          <a:xfrm flipH="1">
            <a:off x="4013002" y="5701431"/>
            <a:ext cx="876300" cy="5508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" name="AutoShape 160"/>
          <p:cNvCxnSpPr>
            <a:cxnSpLocks noChangeShapeType="1"/>
            <a:stCxn id="64" idx="2"/>
            <a:endCxn id="66" idx="0"/>
          </p:cNvCxnSpPr>
          <p:nvPr/>
        </p:nvCxnSpPr>
        <p:spPr bwMode="auto">
          <a:xfrm flipH="1">
            <a:off x="4736902" y="5701431"/>
            <a:ext cx="152400" cy="5302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" name="AutoShape 161"/>
          <p:cNvCxnSpPr>
            <a:cxnSpLocks noChangeShapeType="1"/>
            <a:stCxn id="64" idx="2"/>
            <a:endCxn id="67" idx="0"/>
          </p:cNvCxnSpPr>
          <p:nvPr/>
        </p:nvCxnSpPr>
        <p:spPr bwMode="auto">
          <a:xfrm>
            <a:off x="4889302" y="5701431"/>
            <a:ext cx="703262" cy="5302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" name="AutoShape 162"/>
          <p:cNvCxnSpPr>
            <a:cxnSpLocks noChangeShapeType="1"/>
            <a:stCxn id="64" idx="2"/>
            <a:endCxn id="68" idx="0"/>
          </p:cNvCxnSpPr>
          <p:nvPr/>
        </p:nvCxnSpPr>
        <p:spPr bwMode="auto">
          <a:xfrm>
            <a:off x="4889302" y="5701431"/>
            <a:ext cx="1562100" cy="5302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" name="AutoShape 163"/>
          <p:cNvCxnSpPr>
            <a:cxnSpLocks noChangeShapeType="1"/>
            <a:stCxn id="69" idx="3"/>
            <a:endCxn id="70" idx="1"/>
          </p:cNvCxnSpPr>
          <p:nvPr/>
        </p:nvCxnSpPr>
        <p:spPr bwMode="auto">
          <a:xfrm flipV="1">
            <a:off x="7315002" y="4179019"/>
            <a:ext cx="723900" cy="5207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9" name="AutoShape 164"/>
          <p:cNvCxnSpPr>
            <a:cxnSpLocks noChangeShapeType="1"/>
            <a:stCxn id="69" idx="3"/>
            <a:endCxn id="71" idx="1"/>
          </p:cNvCxnSpPr>
          <p:nvPr/>
        </p:nvCxnSpPr>
        <p:spPr bwMode="auto">
          <a:xfrm flipV="1">
            <a:off x="7315002" y="4501281"/>
            <a:ext cx="723900" cy="19843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0" name="AutoShape 165"/>
          <p:cNvCxnSpPr>
            <a:cxnSpLocks noChangeShapeType="1"/>
            <a:stCxn id="69" idx="3"/>
            <a:endCxn id="73" idx="1"/>
          </p:cNvCxnSpPr>
          <p:nvPr/>
        </p:nvCxnSpPr>
        <p:spPr bwMode="auto">
          <a:xfrm>
            <a:off x="7315002" y="4699719"/>
            <a:ext cx="723900" cy="147637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1" name="AutoShape 166"/>
          <p:cNvCxnSpPr>
            <a:cxnSpLocks noChangeShapeType="1"/>
            <a:stCxn id="69" idx="3"/>
            <a:endCxn id="72" idx="1"/>
          </p:cNvCxnSpPr>
          <p:nvPr/>
        </p:nvCxnSpPr>
        <p:spPr bwMode="auto">
          <a:xfrm>
            <a:off x="7315002" y="4699719"/>
            <a:ext cx="723900" cy="5492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" name="AutoShape 167"/>
          <p:cNvCxnSpPr>
            <a:cxnSpLocks noChangeShapeType="1"/>
            <a:stCxn id="74" idx="0"/>
            <a:endCxn id="75" idx="2"/>
          </p:cNvCxnSpPr>
          <p:nvPr/>
        </p:nvCxnSpPr>
        <p:spPr bwMode="auto">
          <a:xfrm flipH="1" flipV="1">
            <a:off x="6454577" y="2667719"/>
            <a:ext cx="479425" cy="22225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3" name="AutoShape 168"/>
          <p:cNvCxnSpPr>
            <a:cxnSpLocks noChangeShapeType="1"/>
            <a:stCxn id="74" idx="0"/>
            <a:endCxn id="76" idx="2"/>
          </p:cNvCxnSpPr>
          <p:nvPr/>
        </p:nvCxnSpPr>
        <p:spPr bwMode="auto">
          <a:xfrm flipV="1">
            <a:off x="6934002" y="2667719"/>
            <a:ext cx="434975" cy="22225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4" name="AutoShape 169"/>
          <p:cNvSpPr>
            <a:spLocks noChangeArrowheads="1"/>
          </p:cNvSpPr>
          <p:nvPr/>
        </p:nvSpPr>
        <p:spPr bwMode="auto">
          <a:xfrm>
            <a:off x="4532114" y="4471119"/>
            <a:ext cx="1219200" cy="457200"/>
          </a:xfrm>
          <a:prstGeom prst="diamond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 dirty="0">
                <a:latin typeface="Times New Roman" pitchFamily="18" charset="0"/>
                <a:ea typeface="楷体_GB2312" pitchFamily="49" charset="-122"/>
              </a:rPr>
              <a:t>选修</a:t>
            </a:r>
          </a:p>
        </p:txBody>
      </p:sp>
      <p:sp>
        <p:nvSpPr>
          <p:cNvPr id="95" name="AutoShape 170"/>
          <p:cNvSpPr>
            <a:spLocks noChangeArrowheads="1"/>
          </p:cNvSpPr>
          <p:nvPr/>
        </p:nvSpPr>
        <p:spPr bwMode="auto">
          <a:xfrm>
            <a:off x="4763889" y="3677369"/>
            <a:ext cx="755650" cy="279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 dirty="0">
                <a:latin typeface="Times New Roman" pitchFamily="18" charset="0"/>
                <a:ea typeface="楷体_GB2312" pitchFamily="49" charset="-122"/>
              </a:rPr>
              <a:t>成绩</a:t>
            </a:r>
          </a:p>
        </p:txBody>
      </p:sp>
      <p:cxnSp>
        <p:nvCxnSpPr>
          <p:cNvPr id="96" name="AutoShape 171"/>
          <p:cNvCxnSpPr>
            <a:cxnSpLocks noChangeShapeType="1"/>
            <a:stCxn id="95" idx="2"/>
            <a:endCxn id="94" idx="0"/>
          </p:cNvCxnSpPr>
          <p:nvPr/>
        </p:nvCxnSpPr>
        <p:spPr bwMode="auto">
          <a:xfrm>
            <a:off x="5141714" y="3956769"/>
            <a:ext cx="0" cy="51435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" name="AutoShape 172"/>
          <p:cNvCxnSpPr>
            <a:cxnSpLocks noChangeShapeType="1"/>
            <a:stCxn id="55" idx="3"/>
            <a:endCxn id="94" idx="1"/>
          </p:cNvCxnSpPr>
          <p:nvPr/>
        </p:nvCxnSpPr>
        <p:spPr bwMode="auto">
          <a:xfrm>
            <a:off x="3208139" y="4699719"/>
            <a:ext cx="1323975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AutoShape 173"/>
          <p:cNvCxnSpPr>
            <a:cxnSpLocks noChangeShapeType="1"/>
            <a:stCxn id="94" idx="3"/>
            <a:endCxn id="69" idx="1"/>
          </p:cNvCxnSpPr>
          <p:nvPr/>
        </p:nvCxnSpPr>
        <p:spPr bwMode="auto">
          <a:xfrm>
            <a:off x="5751314" y="4699719"/>
            <a:ext cx="801688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AutoShape 174"/>
          <p:cNvSpPr>
            <a:spLocks noChangeArrowheads="1"/>
          </p:cNvSpPr>
          <p:nvPr/>
        </p:nvSpPr>
        <p:spPr bwMode="auto">
          <a:xfrm>
            <a:off x="6324402" y="3712294"/>
            <a:ext cx="1219200" cy="457200"/>
          </a:xfrm>
          <a:prstGeom prst="diamond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组成</a:t>
            </a:r>
          </a:p>
        </p:txBody>
      </p:sp>
      <p:cxnSp>
        <p:nvCxnSpPr>
          <p:cNvPr id="100" name="AutoShape 175"/>
          <p:cNvCxnSpPr>
            <a:cxnSpLocks noChangeShapeType="1"/>
            <a:stCxn id="74" idx="2"/>
            <a:endCxn id="99" idx="0"/>
          </p:cNvCxnSpPr>
          <p:nvPr/>
        </p:nvCxnSpPr>
        <p:spPr bwMode="auto">
          <a:xfrm>
            <a:off x="6934002" y="3234456"/>
            <a:ext cx="0" cy="47783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" name="AutoShape 176"/>
          <p:cNvCxnSpPr>
            <a:cxnSpLocks noChangeShapeType="1"/>
            <a:stCxn id="99" idx="2"/>
            <a:endCxn id="69" idx="0"/>
          </p:cNvCxnSpPr>
          <p:nvPr/>
        </p:nvCxnSpPr>
        <p:spPr bwMode="auto">
          <a:xfrm>
            <a:off x="6934002" y="4169494"/>
            <a:ext cx="0" cy="369887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" name="AutoShape 177"/>
          <p:cNvSpPr>
            <a:spLocks noChangeArrowheads="1"/>
          </p:cNvSpPr>
          <p:nvPr/>
        </p:nvSpPr>
        <p:spPr bwMode="auto">
          <a:xfrm>
            <a:off x="7859514" y="3410669"/>
            <a:ext cx="755650" cy="33496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人数</a:t>
            </a:r>
          </a:p>
        </p:txBody>
      </p:sp>
      <p:cxnSp>
        <p:nvCxnSpPr>
          <p:cNvPr id="103" name="AutoShape 178"/>
          <p:cNvCxnSpPr>
            <a:cxnSpLocks noChangeShapeType="1"/>
            <a:stCxn id="99" idx="3"/>
            <a:endCxn id="102" idx="1"/>
          </p:cNvCxnSpPr>
          <p:nvPr/>
        </p:nvCxnSpPr>
        <p:spPr bwMode="auto">
          <a:xfrm flipV="1">
            <a:off x="7543602" y="3578944"/>
            <a:ext cx="315912" cy="36195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4" name="AutoShape 179"/>
          <p:cNvSpPr>
            <a:spLocks noChangeArrowheads="1"/>
          </p:cNvSpPr>
          <p:nvPr/>
        </p:nvSpPr>
        <p:spPr bwMode="auto">
          <a:xfrm>
            <a:off x="2255639" y="5287094"/>
            <a:ext cx="1219200" cy="457200"/>
          </a:xfrm>
          <a:prstGeom prst="diamond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讲授</a:t>
            </a:r>
          </a:p>
        </p:txBody>
      </p:sp>
      <p:cxnSp>
        <p:nvCxnSpPr>
          <p:cNvPr id="105" name="AutoShape 180"/>
          <p:cNvCxnSpPr>
            <a:cxnSpLocks noChangeShapeType="1"/>
            <a:stCxn id="55" idx="2"/>
            <a:endCxn id="104" idx="0"/>
          </p:cNvCxnSpPr>
          <p:nvPr/>
        </p:nvCxnSpPr>
        <p:spPr bwMode="auto">
          <a:xfrm rot="5400000">
            <a:off x="2651720" y="5073575"/>
            <a:ext cx="427038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" name="AutoShape 181"/>
          <p:cNvCxnSpPr>
            <a:cxnSpLocks noChangeShapeType="1"/>
            <a:stCxn id="104" idx="1"/>
            <a:endCxn id="59" idx="3"/>
          </p:cNvCxnSpPr>
          <p:nvPr/>
        </p:nvCxnSpPr>
        <p:spPr bwMode="auto">
          <a:xfrm rot="10800000">
            <a:off x="1658739" y="5515694"/>
            <a:ext cx="596900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" name="AutoShape 182"/>
          <p:cNvCxnSpPr>
            <a:cxnSpLocks noChangeShapeType="1"/>
            <a:stCxn id="104" idx="3"/>
            <a:endCxn id="64" idx="1"/>
          </p:cNvCxnSpPr>
          <p:nvPr/>
        </p:nvCxnSpPr>
        <p:spPr bwMode="auto">
          <a:xfrm>
            <a:off x="3474839" y="5515694"/>
            <a:ext cx="881063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8" name="Rectangle 183"/>
          <p:cNvSpPr>
            <a:spLocks noChangeArrowheads="1"/>
          </p:cNvSpPr>
          <p:nvPr/>
        </p:nvSpPr>
        <p:spPr bwMode="auto">
          <a:xfrm>
            <a:off x="3773289" y="4417144"/>
            <a:ext cx="762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/>
            <a:r>
              <a:rPr kumimoji="1" lang="en-US" altLang="zh-CN" sz="1600" baseline="0">
                <a:latin typeface="Times New Roman" pitchFamily="18" charset="0"/>
                <a:ea typeface="楷体_GB2312" pitchFamily="49" charset="-122"/>
              </a:rPr>
              <a:t>m</a:t>
            </a:r>
          </a:p>
        </p:txBody>
      </p:sp>
      <p:sp>
        <p:nvSpPr>
          <p:cNvPr id="109" name="Rectangle 184"/>
          <p:cNvSpPr>
            <a:spLocks noChangeArrowheads="1"/>
          </p:cNvSpPr>
          <p:nvPr/>
        </p:nvSpPr>
        <p:spPr bwMode="auto">
          <a:xfrm>
            <a:off x="5927527" y="4437781"/>
            <a:ext cx="762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/>
            <a:r>
              <a:rPr kumimoji="1" lang="en-US" altLang="zh-CN" sz="1600" baseline="0">
                <a:latin typeface="Times New Roman" pitchFamily="18" charset="0"/>
                <a:ea typeface="楷体_GB2312" pitchFamily="49" charset="-122"/>
              </a:rPr>
              <a:t>n</a:t>
            </a:r>
          </a:p>
        </p:txBody>
      </p:sp>
      <p:sp>
        <p:nvSpPr>
          <p:cNvPr id="110" name="AutoShape 185"/>
          <p:cNvSpPr>
            <a:spLocks noChangeArrowheads="1"/>
          </p:cNvSpPr>
          <p:nvPr/>
        </p:nvSpPr>
        <p:spPr bwMode="auto">
          <a:xfrm>
            <a:off x="6384727" y="5275981"/>
            <a:ext cx="1219200" cy="457200"/>
          </a:xfrm>
          <a:prstGeom prst="diamond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kumimoji="1" lang="zh-CN" altLang="en-US" sz="1600" baseline="0">
                <a:latin typeface="Times New Roman" pitchFamily="18" charset="0"/>
                <a:ea typeface="楷体_GB2312" pitchFamily="49" charset="-122"/>
              </a:rPr>
              <a:t>领导</a:t>
            </a:r>
          </a:p>
        </p:txBody>
      </p:sp>
      <p:sp>
        <p:nvSpPr>
          <p:cNvPr id="111" name="Rectangle 186"/>
          <p:cNvSpPr>
            <a:spLocks noChangeArrowheads="1"/>
          </p:cNvSpPr>
          <p:nvPr/>
        </p:nvSpPr>
        <p:spPr bwMode="auto">
          <a:xfrm>
            <a:off x="6706989" y="4212356"/>
            <a:ext cx="762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/>
            <a:r>
              <a:rPr kumimoji="1" lang="en-US" altLang="zh-CN" sz="1600" baseline="0">
                <a:latin typeface="Times New Roman" pitchFamily="18" charset="0"/>
                <a:ea typeface="楷体_GB2312" pitchFamily="49" charset="-122"/>
              </a:rPr>
              <a:t>n</a:t>
            </a:r>
          </a:p>
        </p:txBody>
      </p:sp>
      <p:sp>
        <p:nvSpPr>
          <p:cNvPr id="112" name="Rectangle 187"/>
          <p:cNvSpPr>
            <a:spLocks noChangeArrowheads="1"/>
          </p:cNvSpPr>
          <p:nvPr/>
        </p:nvSpPr>
        <p:spPr bwMode="auto">
          <a:xfrm>
            <a:off x="6840339" y="3402731"/>
            <a:ext cx="457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/>
            <a:r>
              <a:rPr kumimoji="1" lang="en-US" altLang="zh-CN" sz="1600" baseline="0">
                <a:latin typeface="Times New Roman" pitchFamily="18" charset="0"/>
                <a:ea typeface="楷体_GB2312" pitchFamily="49" charset="-122"/>
              </a:rPr>
              <a:t>1</a:t>
            </a:r>
          </a:p>
        </p:txBody>
      </p:sp>
      <p:sp>
        <p:nvSpPr>
          <p:cNvPr id="113" name="Rectangle 188"/>
          <p:cNvSpPr>
            <a:spLocks noChangeArrowheads="1"/>
          </p:cNvSpPr>
          <p:nvPr/>
        </p:nvSpPr>
        <p:spPr bwMode="auto">
          <a:xfrm>
            <a:off x="6460927" y="4971181"/>
            <a:ext cx="457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/>
            <a:r>
              <a:rPr kumimoji="1" lang="en-US" altLang="zh-CN" sz="1600" baseline="0">
                <a:latin typeface="Times New Roman" pitchFamily="18" charset="0"/>
                <a:ea typeface="楷体_GB2312" pitchFamily="49" charset="-122"/>
              </a:rPr>
              <a:t>1</a:t>
            </a:r>
          </a:p>
        </p:txBody>
      </p:sp>
      <p:sp>
        <p:nvSpPr>
          <p:cNvPr id="114" name="Rectangle 189"/>
          <p:cNvSpPr>
            <a:spLocks noChangeArrowheads="1"/>
          </p:cNvSpPr>
          <p:nvPr/>
        </p:nvSpPr>
        <p:spPr bwMode="auto">
          <a:xfrm>
            <a:off x="6918127" y="4971181"/>
            <a:ext cx="762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/>
            <a:r>
              <a:rPr kumimoji="1" lang="en-US" altLang="zh-CN" sz="1600" baseline="0">
                <a:latin typeface="Times New Roman" pitchFamily="18" charset="0"/>
                <a:ea typeface="楷体_GB2312" pitchFamily="49" charset="-122"/>
              </a:rPr>
              <a:t>n</a:t>
            </a:r>
          </a:p>
        </p:txBody>
      </p:sp>
      <p:sp>
        <p:nvSpPr>
          <p:cNvPr id="115" name="Rectangle 190"/>
          <p:cNvSpPr>
            <a:spLocks noChangeArrowheads="1"/>
          </p:cNvSpPr>
          <p:nvPr/>
        </p:nvSpPr>
        <p:spPr bwMode="auto">
          <a:xfrm>
            <a:off x="2450902" y="4933081"/>
            <a:ext cx="457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/>
            <a:r>
              <a:rPr kumimoji="1" lang="en-US" altLang="zh-CN" sz="1600" baseline="0">
                <a:latin typeface="Times New Roman" pitchFamily="18" charset="0"/>
                <a:ea typeface="楷体_GB2312" pitchFamily="49" charset="-122"/>
              </a:rPr>
              <a:t>m</a:t>
            </a:r>
          </a:p>
        </p:txBody>
      </p:sp>
      <p:sp>
        <p:nvSpPr>
          <p:cNvPr id="116" name="Rectangle 191"/>
          <p:cNvSpPr>
            <a:spLocks noChangeArrowheads="1"/>
          </p:cNvSpPr>
          <p:nvPr/>
        </p:nvSpPr>
        <p:spPr bwMode="auto">
          <a:xfrm>
            <a:off x="1526977" y="5236294"/>
            <a:ext cx="762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/>
            <a:r>
              <a:rPr kumimoji="1" lang="en-US" altLang="zh-CN" sz="1600" baseline="0">
                <a:latin typeface="Times New Roman" pitchFamily="18" charset="0"/>
                <a:ea typeface="楷体_GB2312" pitchFamily="49" charset="-122"/>
              </a:rPr>
              <a:t>n</a:t>
            </a:r>
          </a:p>
        </p:txBody>
      </p:sp>
      <p:sp>
        <p:nvSpPr>
          <p:cNvPr id="117" name="Rectangle 192"/>
          <p:cNvSpPr>
            <a:spLocks noChangeArrowheads="1"/>
          </p:cNvSpPr>
          <p:nvPr/>
        </p:nvSpPr>
        <p:spPr bwMode="auto">
          <a:xfrm>
            <a:off x="3492302" y="5228356"/>
            <a:ext cx="762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/>
            <a:r>
              <a:rPr kumimoji="1" lang="en-US" altLang="zh-CN" sz="1600" baseline="0">
                <a:latin typeface="Times New Roman" pitchFamily="18" charset="0"/>
                <a:ea typeface="楷体_GB2312" pitchFamily="49" charset="-122"/>
              </a:rPr>
              <a:t>p</a:t>
            </a:r>
          </a:p>
        </p:txBody>
      </p:sp>
      <p:grpSp>
        <p:nvGrpSpPr>
          <p:cNvPr id="118" name="Group 193"/>
          <p:cNvGrpSpPr>
            <a:grpSpLocks/>
          </p:cNvGrpSpPr>
          <p:nvPr/>
        </p:nvGrpSpPr>
        <p:grpSpPr bwMode="auto">
          <a:xfrm>
            <a:off x="6780014" y="894953"/>
            <a:ext cx="1800225" cy="936625"/>
            <a:chOff x="2154" y="1389"/>
            <a:chExt cx="1134" cy="590"/>
          </a:xfrm>
        </p:grpSpPr>
        <p:sp>
          <p:nvSpPr>
            <p:cNvPr id="119" name="Rectangle 194"/>
            <p:cNvSpPr>
              <a:spLocks noChangeArrowheads="1"/>
            </p:cNvSpPr>
            <p:nvPr/>
          </p:nvSpPr>
          <p:spPr bwMode="auto">
            <a:xfrm>
              <a:off x="2154" y="1389"/>
              <a:ext cx="1134" cy="590"/>
            </a:xfrm>
            <a:prstGeom prst="rect">
              <a:avLst/>
            </a:prstGeom>
            <a:solidFill>
              <a:schemeClr val="hlink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0" tIns="0" rIns="0" bIns="0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20" name="Rectangle 195"/>
            <p:cNvSpPr>
              <a:spLocks noChangeArrowheads="1"/>
            </p:cNvSpPr>
            <p:nvPr/>
          </p:nvSpPr>
          <p:spPr bwMode="auto">
            <a:xfrm>
              <a:off x="2226" y="1433"/>
              <a:ext cx="453" cy="152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21" name="Rectangle 196"/>
            <p:cNvSpPr>
              <a:spLocks noChangeArrowheads="1"/>
            </p:cNvSpPr>
            <p:nvPr/>
          </p:nvSpPr>
          <p:spPr bwMode="auto">
            <a:xfrm>
              <a:off x="2847" y="1394"/>
              <a:ext cx="325" cy="194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zh-CN" altLang="en-US" sz="2000" b="1" baseline="0" dirty="0">
                  <a:solidFill>
                    <a:schemeClr val="bg1"/>
                  </a:solidFill>
                  <a:effectLst/>
                  <a:latin typeface="Times New Roman" pitchFamily="18" charset="0"/>
                  <a:ea typeface="楷体_GB2312" pitchFamily="49" charset="-122"/>
                </a:rPr>
                <a:t>实体</a:t>
              </a:r>
            </a:p>
          </p:txBody>
        </p:sp>
        <p:sp>
          <p:nvSpPr>
            <p:cNvPr id="122" name="AutoShape 197"/>
            <p:cNvSpPr>
              <a:spLocks noChangeArrowheads="1"/>
            </p:cNvSpPr>
            <p:nvPr/>
          </p:nvSpPr>
          <p:spPr bwMode="auto">
            <a:xfrm>
              <a:off x="2245" y="1797"/>
              <a:ext cx="453" cy="151"/>
            </a:xfrm>
            <a:prstGeom prst="diamond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23" name="Rectangle 198"/>
            <p:cNvSpPr>
              <a:spLocks noChangeArrowheads="1"/>
            </p:cNvSpPr>
            <p:nvPr/>
          </p:nvSpPr>
          <p:spPr bwMode="auto">
            <a:xfrm>
              <a:off x="2859" y="1768"/>
              <a:ext cx="325" cy="194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zh-CN" altLang="en-US" sz="2000" b="1" baseline="0">
                  <a:solidFill>
                    <a:schemeClr val="bg1"/>
                  </a:solidFill>
                  <a:effectLst/>
                  <a:latin typeface="Times New Roman" pitchFamily="18" charset="0"/>
                  <a:ea typeface="楷体_GB2312" pitchFamily="49" charset="-122"/>
                </a:rPr>
                <a:t>联系</a:t>
              </a:r>
            </a:p>
          </p:txBody>
        </p:sp>
        <p:sp>
          <p:nvSpPr>
            <p:cNvPr id="124" name="AutoShape 199"/>
            <p:cNvSpPr>
              <a:spLocks noChangeArrowheads="1"/>
            </p:cNvSpPr>
            <p:nvPr/>
          </p:nvSpPr>
          <p:spPr bwMode="auto">
            <a:xfrm>
              <a:off x="2226" y="1621"/>
              <a:ext cx="453" cy="15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25" name="Rectangle 200"/>
            <p:cNvSpPr>
              <a:spLocks noChangeArrowheads="1"/>
            </p:cNvSpPr>
            <p:nvPr/>
          </p:nvSpPr>
          <p:spPr bwMode="auto">
            <a:xfrm>
              <a:off x="2847" y="1581"/>
              <a:ext cx="325" cy="194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zh-CN" altLang="en-US" sz="2000" b="1" baseline="0" dirty="0">
                  <a:solidFill>
                    <a:schemeClr val="bg1"/>
                  </a:solidFill>
                  <a:effectLst/>
                  <a:latin typeface="Times New Roman" pitchFamily="18" charset="0"/>
                  <a:ea typeface="楷体_GB2312" pitchFamily="49" charset="-122"/>
                </a:rPr>
                <a:t>属性</a:t>
              </a:r>
            </a:p>
          </p:txBody>
        </p:sp>
      </p:grpSp>
      <p:sp>
        <p:nvSpPr>
          <p:cNvPr id="226" name="Rectangle 19"/>
          <p:cNvSpPr txBox="1">
            <a:spLocks noChangeArrowheads="1"/>
          </p:cNvSpPr>
          <p:nvPr/>
        </p:nvSpPr>
        <p:spPr bwMode="auto">
          <a:xfrm>
            <a:off x="312739" y="860674"/>
            <a:ext cx="5589587" cy="302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3"/>
              </a:buBlip>
              <a:defRPr sz="32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50000"/>
              <a:buFont typeface="Wingdings" pitchFamily="2" charset="2"/>
              <a:buChar char="n"/>
              <a:defRPr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tx2"/>
              </a:buClr>
              <a:buSzPct val="45000"/>
              <a:buFont typeface="Wingdings" pitchFamily="2" charset="2"/>
              <a:buChar char="n"/>
              <a:defRPr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1500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 eaLnBrk="1" hangingPunct="1">
              <a:spcAft>
                <a:spcPct val="20000"/>
              </a:spcAft>
              <a:buClr>
                <a:srgbClr val="FFC000"/>
              </a:buClr>
              <a:buNone/>
              <a:defRPr/>
            </a:pPr>
            <a:r>
              <a:rPr lang="zh-CN" altLang="en-US" sz="2800" baseline="0" dirty="0" smtClean="0"/>
              <a:t>在仔细研究需求说明的基础上</a:t>
            </a:r>
            <a:endParaRPr lang="en-US" altLang="zh-CN" sz="2800" baseline="0" dirty="0" smtClean="0"/>
          </a:p>
          <a:p>
            <a:pPr marL="514350" indent="-514350" eaLnBrk="1" hangingPunct="1">
              <a:spcAft>
                <a:spcPct val="20000"/>
              </a:spcAft>
              <a:buClr>
                <a:srgbClr val="FFC000"/>
              </a:buClr>
              <a:buFont typeface="+mj-lt"/>
              <a:buAutoNum type="arabicPeriod"/>
              <a:defRPr/>
            </a:pPr>
            <a:r>
              <a:rPr lang="zh-CN" altLang="en-US" sz="2800" baseline="0" dirty="0" smtClean="0"/>
              <a:t>首先确定出实体和属性</a:t>
            </a:r>
            <a:endParaRPr lang="en-US" altLang="zh-CN" sz="2800" baseline="0" dirty="0" smtClean="0"/>
          </a:p>
          <a:p>
            <a:pPr marL="514350" indent="-514350" eaLnBrk="1" hangingPunct="1">
              <a:spcAft>
                <a:spcPct val="20000"/>
              </a:spcAft>
              <a:buClr>
                <a:srgbClr val="FFC000"/>
              </a:buClr>
              <a:buFont typeface="+mj-lt"/>
              <a:buAutoNum type="arabicPeriod"/>
              <a:defRPr/>
            </a:pPr>
            <a:r>
              <a:rPr lang="zh-CN" altLang="en-US" sz="2800" baseline="0" dirty="0" smtClean="0"/>
              <a:t>确定实体间和实体内部的联系及其类型</a:t>
            </a:r>
            <a:endParaRPr lang="en-US" altLang="zh-CN" sz="2800" baseline="0" dirty="0" smtClean="0"/>
          </a:p>
          <a:p>
            <a:pPr marL="514350" indent="-514350" eaLnBrk="1" hangingPunct="1">
              <a:spcAft>
                <a:spcPct val="20000"/>
              </a:spcAft>
              <a:buClr>
                <a:srgbClr val="FFC000"/>
              </a:buClr>
              <a:buFont typeface="+mj-lt"/>
              <a:buAutoNum type="arabicPeriod"/>
              <a:defRPr/>
            </a:pPr>
            <a:r>
              <a:rPr lang="zh-CN" altLang="en-US" sz="2800" baseline="0" dirty="0" smtClean="0"/>
              <a:t>确定联系产生的属性</a:t>
            </a:r>
          </a:p>
        </p:txBody>
      </p:sp>
    </p:spTree>
    <p:extLst>
      <p:ext uri="{BB962C8B-B14F-4D97-AF65-F5344CB8AC3E}">
        <p14:creationId xmlns:p14="http://schemas.microsoft.com/office/powerpoint/2010/main" val="229549381"/>
      </p:ext>
    </p:extLst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5991" y="0"/>
            <a:ext cx="3736133" cy="760959"/>
          </a:xfr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ts val="0"/>
              </a:spcBef>
              <a:spcAft>
                <a:spcPct val="25000"/>
              </a:spcAft>
              <a:buSzPct val="80000"/>
              <a:buFont typeface="Wingdings" pitchFamily="2" charset="2"/>
              <a:buNone/>
            </a:pPr>
            <a:r>
              <a:rPr kumimoji="1" lang="zh-CN" altLang="en-US" sz="4000" b="1" kern="1200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概念模型</a:t>
            </a:r>
            <a:r>
              <a:rPr kumimoji="1" lang="zh-CN" altLang="en-US" sz="4000" b="1" kern="1200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的工具</a:t>
            </a:r>
            <a:endParaRPr kumimoji="1" lang="zh-CN" altLang="en-US" sz="4000" b="1" kern="1200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7" name="Rectangle 2"/>
          <p:cNvSpPr>
            <a:spLocks noChangeArrowheads="1"/>
          </p:cNvSpPr>
          <p:nvPr/>
        </p:nvSpPr>
        <p:spPr bwMode="auto">
          <a:xfrm>
            <a:off x="5940425" y="3932709"/>
            <a:ext cx="2879725" cy="576263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6600CC"/>
              </a:gs>
            </a:gsLst>
            <a:lin ang="2700000" scaled="1"/>
          </a:gra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72000" rIns="72000" bIns="72000" anchor="ctr"/>
          <a:lstStyle/>
          <a:p>
            <a:pPr algn="ctr"/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28" name="AutoShape 3"/>
          <p:cNvSpPr>
            <a:spLocks noChangeArrowheads="1"/>
          </p:cNvSpPr>
          <p:nvPr/>
        </p:nvSpPr>
        <p:spPr bwMode="auto">
          <a:xfrm>
            <a:off x="395288" y="1484784"/>
            <a:ext cx="5329237" cy="4537075"/>
          </a:xfrm>
          <a:prstGeom prst="roundRect">
            <a:avLst>
              <a:gd name="adj" fmla="val 5176"/>
            </a:avLst>
          </a:prstGeom>
          <a:solidFill>
            <a:schemeClr val="tx1"/>
          </a:solidFill>
          <a:ln w="38100" cap="sq">
            <a:solidFill>
              <a:srgbClr val="6600CC"/>
            </a:solidFill>
            <a:round/>
            <a:headEnd/>
            <a:tailEnd/>
          </a:ln>
          <a:effectLst/>
        </p:spPr>
        <p:txBody>
          <a:bodyPr wrap="none" lIns="72000" tIns="72000" rIns="72000" bIns="72000" anchor="ctr"/>
          <a:lstStyle/>
          <a:p>
            <a:pPr>
              <a:spcAft>
                <a:spcPct val="25000"/>
              </a:spcAft>
              <a:buSzPct val="80000"/>
              <a:buFont typeface="Wingdings" pitchFamily="2" charset="2"/>
              <a:buNone/>
              <a:defRPr/>
            </a:pPr>
            <a:endParaRPr kumimoji="1" lang="zh-CN" altLang="en-US" sz="320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pic>
        <p:nvPicPr>
          <p:cNvPr id="29" name="Picture 5" descr="jerry66x_2005_12_02_sco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42"/>
          <a:stretch>
            <a:fillRect/>
          </a:stretch>
        </p:blipFill>
        <p:spPr bwMode="auto">
          <a:xfrm>
            <a:off x="488950" y="1556222"/>
            <a:ext cx="5091113" cy="437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772122"/>
            <a:ext cx="291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2780184"/>
            <a:ext cx="1933575" cy="571500"/>
          </a:xfrm>
          <a:prstGeom prst="rect">
            <a:avLst/>
          </a:prstGeom>
          <a:noFill/>
          <a:ln w="38100" cap="sq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4005734"/>
            <a:ext cx="4191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 Box 9"/>
          <p:cNvSpPr txBox="1">
            <a:spLocks noChangeArrowheads="1"/>
          </p:cNvSpPr>
          <p:nvPr/>
        </p:nvSpPr>
        <p:spPr bwMode="auto">
          <a:xfrm>
            <a:off x="6605588" y="4005734"/>
            <a:ext cx="2358900" cy="45318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 lIns="72000" tIns="72000" rIns="72000" bIns="7200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 b="1" dirty="0">
                <a:effectLst/>
                <a:ea typeface="宋体" pitchFamily="2" charset="-122"/>
              </a:rPr>
              <a:t>Microsoft Visio</a:t>
            </a:r>
          </a:p>
        </p:txBody>
      </p:sp>
    </p:spTree>
    <p:extLst>
      <p:ext uri="{BB962C8B-B14F-4D97-AF65-F5344CB8AC3E}">
        <p14:creationId xmlns:p14="http://schemas.microsoft.com/office/powerpoint/2010/main" val="142465653"/>
      </p:ext>
    </p:extLst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带有标题的">
  <a:themeElements>
    <a:clrScheme name="带有标题的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带有标题的">
      <a:majorFont>
        <a:latin typeface="方正姚体"/>
        <a:ea typeface="方正姚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sq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25000"/>
          </a:spcAft>
          <a:buClrTx/>
          <a:buSzPct val="80000"/>
          <a:buFont typeface="Wingdings" pitchFamily="2" charset="2"/>
          <a:buNone/>
          <a:tabLst>
            <a:tab pos="1071563" algn="l"/>
          </a:tabLst>
          <a:defRPr kumimoji="1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sq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25000"/>
          </a:spcAft>
          <a:buClrTx/>
          <a:buSzPct val="80000"/>
          <a:buFont typeface="Wingdings" pitchFamily="2" charset="2"/>
          <a:buNone/>
          <a:tabLst>
            <a:tab pos="1071563" algn="l"/>
          </a:tabLst>
          <a:defRPr kumimoji="1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带有标题的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带有标题的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带有标题的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带有标题的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带有标题的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带有标题的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带有标题的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带有标题的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带有标题的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带有标题的">
  <a:themeElements>
    <a:clrScheme name="带有标题的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带有标题的">
      <a:majorFont>
        <a:latin typeface="方正姚体"/>
        <a:ea typeface="方正姚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sq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25000"/>
          </a:spcAft>
          <a:buClrTx/>
          <a:buSzPct val="80000"/>
          <a:buFont typeface="Wingdings" pitchFamily="2" charset="2"/>
          <a:buNone/>
          <a:tabLst>
            <a:tab pos="1071563" algn="l"/>
          </a:tabLst>
          <a:defRPr kumimoji="1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sq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25000"/>
          </a:spcAft>
          <a:buClrTx/>
          <a:buSzPct val="80000"/>
          <a:buFont typeface="Wingdings" pitchFamily="2" charset="2"/>
          <a:buNone/>
          <a:tabLst>
            <a:tab pos="1071563" algn="l"/>
          </a:tabLst>
          <a:defRPr kumimoji="1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带有标题的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带有标题的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带有标题的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带有标题的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带有标题的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带有标题的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带有标题的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带有标题的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带有标题的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13949</TotalTime>
  <Words>304</Words>
  <Application>Microsoft Office PowerPoint</Application>
  <PresentationFormat>全屏显示(4:3)</PresentationFormat>
  <Paragraphs>113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等线</vt:lpstr>
      <vt:lpstr>方正姚体</vt:lpstr>
      <vt:lpstr>楷体_GB2312</vt:lpstr>
      <vt:lpstr>隶书</vt:lpstr>
      <vt:lpstr>宋体</vt:lpstr>
      <vt:lpstr>微软雅黑</vt:lpstr>
      <vt:lpstr>Arial</vt:lpstr>
      <vt:lpstr>Garamond</vt:lpstr>
      <vt:lpstr>Times New Roman</vt:lpstr>
      <vt:lpstr>Wingdings</vt:lpstr>
      <vt:lpstr>带有标题的</vt:lpstr>
      <vt:lpstr>1_带有标题的</vt:lpstr>
      <vt:lpstr>E-R 模型</vt:lpstr>
      <vt:lpstr>E-R模型示例</vt:lpstr>
      <vt:lpstr>E-R模型中的基本概念</vt:lpstr>
      <vt:lpstr>E-R模型中的基本概念</vt:lpstr>
      <vt:lpstr>E-R模型的画法</vt:lpstr>
      <vt:lpstr>概念模型的工具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pansir</cp:lastModifiedBy>
  <cp:revision>1525</cp:revision>
  <dcterms:created xsi:type="dcterms:W3CDTF">1601-01-01T00:00:00Z</dcterms:created>
  <dcterms:modified xsi:type="dcterms:W3CDTF">2019-03-13T17:50:40Z</dcterms:modified>
</cp:coreProperties>
</file>