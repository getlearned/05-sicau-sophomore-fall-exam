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664" r:id="rId2"/>
    <p:sldMasterId id="2147483676" r:id="rId3"/>
  </p:sldMasterIdLst>
  <p:notesMasterIdLst>
    <p:notesMasterId r:id="rId32"/>
  </p:notesMasterIdLst>
  <p:handoutMasterIdLst>
    <p:handoutMasterId r:id="rId33"/>
  </p:handoutMasterIdLst>
  <p:sldIdLst>
    <p:sldId id="304" r:id="rId4"/>
    <p:sldId id="305" r:id="rId5"/>
    <p:sldId id="306" r:id="rId6"/>
    <p:sldId id="307" r:id="rId7"/>
    <p:sldId id="308" r:id="rId8"/>
    <p:sldId id="309" r:id="rId9"/>
    <p:sldId id="310" r:id="rId10"/>
    <p:sldId id="311" r:id="rId11"/>
    <p:sldId id="319" r:id="rId12"/>
    <p:sldId id="312" r:id="rId13"/>
    <p:sldId id="320" r:id="rId14"/>
    <p:sldId id="314" r:id="rId15"/>
    <p:sldId id="315" r:id="rId16"/>
    <p:sldId id="316" r:id="rId17"/>
    <p:sldId id="317" r:id="rId18"/>
    <p:sldId id="318" r:id="rId19"/>
    <p:sldId id="322" r:id="rId20"/>
    <p:sldId id="321" r:id="rId21"/>
    <p:sldId id="323" r:id="rId22"/>
    <p:sldId id="324" r:id="rId23"/>
    <p:sldId id="325" r:id="rId24"/>
    <p:sldId id="326" r:id="rId25"/>
    <p:sldId id="327" r:id="rId26"/>
    <p:sldId id="329" r:id="rId27"/>
    <p:sldId id="330" r:id="rId28"/>
    <p:sldId id="331" r:id="rId29"/>
    <p:sldId id="332" r:id="rId30"/>
    <p:sldId id="334" r:id="rId31"/>
  </p:sldIdLst>
  <p:sldSz cx="9144000" cy="6858000" type="screen4x3"/>
  <p:notesSz cx="6858000" cy="9144000"/>
  <p:defaultTextStyle>
    <a:defPPr>
      <a:defRPr lang="en-US"/>
    </a:defPPr>
    <a:lvl1pPr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1pPr>
    <a:lvl2pPr marL="4572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2pPr>
    <a:lvl3pPr marL="9144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3pPr>
    <a:lvl4pPr marL="13716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4pPr>
    <a:lvl5pPr marL="18288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5pPr>
    <a:lvl6pPr marL="22860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6pPr>
    <a:lvl7pPr marL="27432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7pPr>
    <a:lvl8pPr marL="32004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8pPr>
    <a:lvl9pPr marL="36576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99"/>
    <a:srgbClr val="00FFFF"/>
    <a:srgbClr val="99FF33"/>
    <a:srgbClr val="FF0000"/>
    <a:srgbClr val="0000CC"/>
    <a:srgbClr val="CCFFCC"/>
    <a:srgbClr val="660066"/>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62" autoAdjust="0"/>
    <p:restoredTop sz="86372" autoAdjust="0"/>
  </p:normalViewPr>
  <p:slideViewPr>
    <p:cSldViewPr>
      <p:cViewPr varScale="1">
        <p:scale>
          <a:sx n="69" d="100"/>
          <a:sy n="69" d="100"/>
        </p:scale>
        <p:origin x="1230" y="84"/>
      </p:cViewPr>
      <p:guideLst>
        <p:guide orient="horz" pos="2160"/>
        <p:guide pos="2880"/>
      </p:guideLst>
    </p:cSldViewPr>
  </p:slideViewPr>
  <p:outlineViewPr>
    <p:cViewPr>
      <p:scale>
        <a:sx n="33" d="100"/>
        <a:sy n="33" d="100"/>
      </p:scale>
      <p:origin x="0" y="624"/>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66" d="100"/>
          <a:sy n="66" d="100"/>
        </p:scale>
        <p:origin x="-852" y="135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zh-CN" altLang="en-US"/>
          </a:p>
        </p:txBody>
      </p:sp>
      <p:sp>
        <p:nvSpPr>
          <p:cNvPr id="921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922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922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fld id="{E736E6C9-C754-4B41-9C0A-B651CD43CF7D}" type="slidenum">
              <a:rPr lang="zh-CN" altLang="en-US"/>
              <a:pPr>
                <a:defRPr/>
              </a:pPr>
              <a:t>‹#›</a:t>
            </a:fld>
            <a:endParaRPr lang="en-US" altLang="zh-CN"/>
          </a:p>
        </p:txBody>
      </p:sp>
    </p:spTree>
    <p:extLst>
      <p:ext uri="{BB962C8B-B14F-4D97-AF65-F5344CB8AC3E}">
        <p14:creationId xmlns:p14="http://schemas.microsoft.com/office/powerpoint/2010/main" val="2980203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zh-CN" altLang="en-US"/>
          </a:p>
        </p:txBody>
      </p:sp>
      <p:sp>
        <p:nvSpPr>
          <p:cNvPr id="1741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358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741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fld id="{5C6F772C-D424-4D70-8E11-503C291A3206}" type="slidenum">
              <a:rPr lang="zh-CN" altLang="en-US"/>
              <a:pPr>
                <a:defRPr/>
              </a:pPr>
              <a:t>‹#›</a:t>
            </a:fld>
            <a:endParaRPr lang="en-US" altLang="zh-CN"/>
          </a:p>
        </p:txBody>
      </p:sp>
    </p:spTree>
    <p:extLst>
      <p:ext uri="{BB962C8B-B14F-4D97-AF65-F5344CB8AC3E}">
        <p14:creationId xmlns:p14="http://schemas.microsoft.com/office/powerpoint/2010/main" val="9642964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358112071"/>
      </p:ext>
    </p:extLst>
  </p:cSld>
  <p:clrMapOvr>
    <a:masterClrMapping/>
  </p:clrMapOvr>
  <p:transition spd="med">
    <p:random/>
    <p:sndAc>
      <p:stSnd>
        <p:snd r:embed="rId1" name="camera.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23652144"/>
      </p:ext>
    </p:extLst>
  </p:cSld>
  <p:clrMapOvr>
    <a:masterClrMapping/>
  </p:clrMapOvr>
  <p:transition spd="med">
    <p:random/>
    <p:sndAc>
      <p:stSnd>
        <p:snd r:embed="rId1"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652821978"/>
      </p:ext>
    </p:extLst>
  </p:cSld>
  <p:clrMapOvr>
    <a:masterClrMapping/>
  </p:clrMapOvr>
  <p:transition spd="med">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2276475"/>
            <a:ext cx="40386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9313" y="2276475"/>
            <a:ext cx="40386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267752162"/>
      </p:ext>
    </p:extLst>
  </p:cSld>
  <p:clrMapOvr>
    <a:masterClrMapping/>
  </p:clrMapOvr>
  <p:transition spd="med">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62563878"/>
      </p:ext>
    </p:extLst>
  </p:cSld>
  <p:clrMapOvr>
    <a:masterClrMapping/>
  </p:clrMapOvr>
  <p:transition spd="med">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039168378"/>
      </p:ext>
    </p:extLst>
  </p:cSld>
  <p:clrMapOvr>
    <a:masterClrMapping/>
  </p:clrMapOvr>
  <p:transition spd="med">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3307342"/>
      </p:ext>
    </p:extLst>
  </p:cSld>
  <p:clrMapOvr>
    <a:masterClrMapping/>
  </p:clrMapOvr>
  <p:transition spd="med">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363177642"/>
      </p:ext>
    </p:extLst>
  </p:cSld>
  <p:clrMapOvr>
    <a:masterClrMapping/>
  </p:clrMapOvr>
  <p:transition spd="med">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381678149"/>
      </p:ext>
    </p:extLst>
  </p:cSld>
  <p:clrMapOvr>
    <a:masterClrMapping/>
  </p:clrMapOvr>
  <p:transition spd="med">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56922091"/>
      </p:ext>
    </p:extLst>
  </p:cSld>
  <p:clrMapOvr>
    <a:masterClrMapping/>
  </p:clrMapOvr>
  <p:transition spd="med">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0513" y="989013"/>
            <a:ext cx="2057400" cy="534193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989013"/>
            <a:ext cx="6019800" cy="534193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22894522"/>
      </p:ext>
    </p:extLst>
  </p:cSld>
  <p:clrMapOvr>
    <a:masterClrMapping/>
  </p:clrMapOvr>
  <p:transition spd="med">
    <p:random/>
    <p:sndAc>
      <p:stSnd>
        <p:snd r:embed="rId1"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367489244"/>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2926907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2771837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2435691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3459756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42073736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39420215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18151680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2028105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6389868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24467024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657570887"/>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32500502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27288112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1437031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1354874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28472540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17493704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23572873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14393537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18176197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Tree>
    <p:extLst>
      <p:ext uri="{BB962C8B-B14F-4D97-AF65-F5344CB8AC3E}">
        <p14:creationId xmlns:p14="http://schemas.microsoft.com/office/powerpoint/2010/main" val="1030134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541702" name="Rectangle 6"/>
          <p:cNvSpPr>
            <a:spLocks noGrp="1" noChangeArrowheads="1"/>
          </p:cNvSpPr>
          <p:nvPr>
            <p:ph type="body" idx="1"/>
          </p:nvPr>
        </p:nvSpPr>
        <p:spPr bwMode="auto">
          <a:xfrm>
            <a:off x="468313" y="2276475"/>
            <a:ext cx="822960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7" name="Rectangle 8"/>
          <p:cNvSpPr>
            <a:spLocks noGrp="1" noChangeArrowheads="1"/>
          </p:cNvSpPr>
          <p:nvPr>
            <p:ph type="title"/>
          </p:nvPr>
        </p:nvSpPr>
        <p:spPr bwMode="auto">
          <a:xfrm>
            <a:off x="468313" y="971263"/>
            <a:ext cx="5109091" cy="58477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spAutoFit/>
          </a:bodyPr>
          <a:lstStyle/>
          <a:p>
            <a:pPr lvl="0"/>
            <a:r>
              <a:rPr lang="zh-CN" altLang="en-US" dirty="0" smtClean="0"/>
              <a:t>单击此处编辑母版标题样式</a:t>
            </a:r>
          </a:p>
        </p:txBody>
      </p:sp>
      <p:sp>
        <p:nvSpPr>
          <p:cNvPr id="1028" name="Text Box 9"/>
          <p:cNvSpPr txBox="1">
            <a:spLocks noChangeArrowheads="1"/>
          </p:cNvSpPr>
          <p:nvPr userDrawn="1"/>
        </p:nvSpPr>
        <p:spPr bwMode="auto">
          <a:xfrm>
            <a:off x="8507643" y="6535738"/>
            <a:ext cx="656765" cy="33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wrap="none" lIns="72000" tIns="72000" rIns="72000" bIns="7200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pPr>
            <a:r>
              <a:rPr kumimoji="0" lang="zh-CN" altLang="en-US" sz="1800" baseline="-25000">
                <a:effectLst/>
                <a:latin typeface="微软雅黑" pitchFamily="34" charset="-122"/>
                <a:ea typeface="微软雅黑" pitchFamily="34" charset="-122"/>
              </a:rPr>
              <a:t>第</a:t>
            </a:r>
            <a:fld id="{3FE101D8-B8E5-4894-BD9B-17A5F0FEF0CA}" type="slidenum">
              <a:rPr kumimoji="0" lang="zh-CN" altLang="en-US" sz="1800" baseline="-25000">
                <a:effectLst/>
                <a:latin typeface="微软雅黑" pitchFamily="34" charset="-122"/>
                <a:ea typeface="微软雅黑" pitchFamily="34" charset="-122"/>
              </a:rPr>
              <a:pPr algn="ctr" eaLnBrk="1" hangingPunct="1">
                <a:spcAft>
                  <a:spcPct val="0"/>
                </a:spcAft>
                <a:buSzTx/>
                <a:buFontTx/>
                <a:buNone/>
              </a:pPr>
              <a:t>‹#›</a:t>
            </a:fld>
            <a:r>
              <a:rPr kumimoji="0" lang="zh-CN" altLang="en-US" sz="1800" baseline="-25000">
                <a:effectLst/>
                <a:latin typeface="微软雅黑" pitchFamily="34" charset="-122"/>
                <a:ea typeface="微软雅黑" pitchFamily="34" charset="-122"/>
              </a:rPr>
              <a:t>页</a:t>
            </a:r>
            <a:endParaRPr kumimoji="0" lang="en-US" altLang="zh-CN" sz="1800" baseline="-25000">
              <a:effectLst/>
              <a:latin typeface="微软雅黑" pitchFamily="34" charset="-122"/>
              <a:ea typeface="微软雅黑" pitchFamily="34" charset="-122"/>
            </a:endParaRPr>
          </a:p>
        </p:txBody>
      </p:sp>
      <p:sp>
        <p:nvSpPr>
          <p:cNvPr id="6" name="Text Box 10"/>
          <p:cNvSpPr txBox="1">
            <a:spLocks noChangeArrowheads="1"/>
          </p:cNvSpPr>
          <p:nvPr userDrawn="1"/>
        </p:nvSpPr>
        <p:spPr bwMode="auto">
          <a:xfrm>
            <a:off x="6697515" y="131763"/>
            <a:ext cx="2314736" cy="215444"/>
          </a:xfrm>
          <a:prstGeom prst="rect">
            <a:avLst/>
          </a:prstGeom>
          <a:noFill/>
          <a:ln w="12700" cap="sq">
            <a:noFill/>
            <a:miter lim="800000"/>
            <a:headEnd/>
            <a:tailEnd/>
          </a:ln>
          <a:effectLst/>
        </p:spPr>
        <p:txBody>
          <a:bodyPr wrap="none" lIns="0" tIns="0" rIns="0" bIns="0">
            <a:spAutoFit/>
          </a:bodyPr>
          <a:lstStyle/>
          <a:p>
            <a:pPr algn="ctr">
              <a:defRPr/>
            </a:pPr>
            <a:r>
              <a:rPr lang="zh-CN" altLang="en-US" sz="1400" baseline="0" dirty="0">
                <a:solidFill>
                  <a:srgbClr val="8BB1E9"/>
                </a:solidFill>
                <a:effectLst>
                  <a:outerShdw blurRad="38100" dist="38100" dir="2700000" algn="tl">
                    <a:srgbClr val="000000"/>
                  </a:outerShdw>
                </a:effectLst>
                <a:latin typeface="华文楷体" pitchFamily="2" charset="-122"/>
                <a:ea typeface="华文楷体" pitchFamily="2" charset="-122"/>
              </a:rPr>
              <a:t>四川农业大学    潘勇浩 </a:t>
            </a:r>
            <a:r>
              <a:rPr lang="zh-CN" altLang="en-US" sz="1400" baseline="0" dirty="0" smtClean="0">
                <a:solidFill>
                  <a:srgbClr val="8BB1E9"/>
                </a:solidFill>
                <a:effectLst>
                  <a:outerShdw blurRad="38100" dist="38100" dir="2700000" algn="tl">
                    <a:srgbClr val="000000"/>
                  </a:outerShdw>
                </a:effectLst>
                <a:latin typeface="华文楷体" pitchFamily="2" charset="-122"/>
                <a:ea typeface="华文楷体" pitchFamily="2" charset="-122"/>
              </a:rPr>
              <a:t>   </a:t>
            </a:r>
            <a:r>
              <a:rPr lang="en-US" altLang="zh-CN" sz="1400" baseline="0" dirty="0" smtClean="0">
                <a:solidFill>
                  <a:srgbClr val="8BB1E9"/>
                </a:solidFill>
                <a:effectLst>
                  <a:outerShdw blurRad="38100" dist="38100" dir="2700000" algn="tl">
                    <a:srgbClr val="000000"/>
                  </a:outerShdw>
                </a:effectLst>
                <a:latin typeface="华文楷体" pitchFamily="2" charset="-122"/>
                <a:ea typeface="华文楷体" pitchFamily="2" charset="-122"/>
              </a:rPr>
              <a:t>2019</a:t>
            </a:r>
            <a:endParaRPr lang="zh-CN" altLang="en-US" sz="1400" baseline="0" dirty="0">
              <a:solidFill>
                <a:srgbClr val="8BB1E9"/>
              </a:solidFill>
              <a:effectLst>
                <a:outerShdw blurRad="38100" dist="38100" dir="2700000" algn="tl">
                  <a:srgbClr val="000000"/>
                </a:outerShdw>
              </a:effectLst>
              <a:latin typeface="华文楷体" pitchFamily="2" charset="-122"/>
              <a:ea typeface="华文楷体" pitchFamily="2" charset="-122"/>
            </a:endParaRPr>
          </a:p>
        </p:txBody>
      </p:sp>
    </p:spTree>
  </p:cSld>
  <p:clrMap bg1="dk2" tx1="lt1" bg2="dk1"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ransition spd="med">
    <p:random/>
    <p:sndAc>
      <p:stSnd>
        <p:snd r:embed="rId13" name="camera.wav"/>
      </p:stSnd>
    </p:sndAc>
  </p:transition>
  <p:timing>
    <p:tnLst>
      <p:par>
        <p:cTn id="1" dur="indefinite" restart="never" nodeType="tmRoot"/>
      </p:par>
    </p:tnLst>
  </p:timing>
  <p:txStyles>
    <p:titleStyle>
      <a:lvl1pPr algn="l" rtl="0" eaLnBrk="0" fontAlgn="base" hangingPunct="0">
        <a:spcBef>
          <a:spcPct val="0"/>
        </a:spcBef>
        <a:spcAft>
          <a:spcPct val="0"/>
        </a:spcAft>
        <a:defRPr sz="3200">
          <a:solidFill>
            <a:srgbClr val="FF9900"/>
          </a:solidFill>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5"/>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baseline="0">
                <a:solidFill>
                  <a:schemeClr val="bg1"/>
                </a:solidFill>
                <a:latin typeface="Arial" pitchFamily="34" charset="0"/>
                <a:ea typeface="微软雅黑"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baseline="0">
                <a:solidFill>
                  <a:schemeClr val="bg1"/>
                </a:solidFill>
                <a:latin typeface="Arial" pitchFamily="34" charset="0"/>
                <a:ea typeface="微软雅黑"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aseline="0">
                <a:solidFill>
                  <a:schemeClr val="bg1"/>
                </a:solidFill>
                <a:latin typeface="Arial" pitchFamily="34" charset="0"/>
                <a:ea typeface="微软雅黑"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7" name="Text Box 10"/>
          <p:cNvSpPr txBox="1">
            <a:spLocks noChangeArrowheads="1"/>
          </p:cNvSpPr>
          <p:nvPr userDrawn="1"/>
        </p:nvSpPr>
        <p:spPr bwMode="auto">
          <a:xfrm>
            <a:off x="6697515" y="131763"/>
            <a:ext cx="2314736" cy="215444"/>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8BB1E9"/>
                </a:solidFill>
                <a:effectLst>
                  <a:outerShdw blurRad="38100" dist="38100" dir="2700000" algn="tl">
                    <a:srgbClr val="000000"/>
                  </a:outerShdw>
                </a:effectLst>
                <a:uLnTx/>
                <a:uFillTx/>
                <a:latin typeface="华文楷体" pitchFamily="2" charset="-122"/>
                <a:ea typeface="华文楷体" pitchFamily="2" charset="-122"/>
                <a:cs typeface="+mn-cs"/>
              </a:rPr>
              <a:t>四川农业大学    潘勇浩 </a:t>
            </a:r>
            <a:r>
              <a:rPr kumimoji="0" lang="zh-CN" altLang="en-US" sz="1400" b="0" i="0" u="none" strike="noStrike" kern="1200" cap="none" spc="0" normalizeH="0" baseline="0" noProof="0" dirty="0" smtClean="0">
                <a:ln>
                  <a:noFill/>
                </a:ln>
                <a:solidFill>
                  <a:srgbClr val="8BB1E9"/>
                </a:solidFill>
                <a:effectLst>
                  <a:outerShdw blurRad="38100" dist="38100" dir="2700000" algn="tl">
                    <a:srgbClr val="000000"/>
                  </a:outerShdw>
                </a:effectLst>
                <a:uLnTx/>
                <a:uFillTx/>
                <a:latin typeface="华文楷体" pitchFamily="2" charset="-122"/>
                <a:ea typeface="华文楷体" pitchFamily="2" charset="-122"/>
                <a:cs typeface="+mn-cs"/>
              </a:rPr>
              <a:t>   </a:t>
            </a:r>
            <a:r>
              <a:rPr kumimoji="0" lang="en-US" altLang="zh-CN" sz="1400" b="0" i="0" u="none" strike="noStrike" kern="1200" cap="none" spc="0" normalizeH="0" baseline="0" noProof="0" dirty="0" smtClean="0">
                <a:ln>
                  <a:noFill/>
                </a:ln>
                <a:solidFill>
                  <a:srgbClr val="8BB1E9"/>
                </a:solidFill>
                <a:effectLst>
                  <a:outerShdw blurRad="38100" dist="38100" dir="2700000" algn="tl">
                    <a:srgbClr val="000000"/>
                  </a:outerShdw>
                </a:effectLst>
                <a:uLnTx/>
                <a:uFillTx/>
                <a:latin typeface="华文楷体" pitchFamily="2" charset="-122"/>
                <a:ea typeface="华文楷体" pitchFamily="2" charset="-122"/>
                <a:cs typeface="+mn-cs"/>
              </a:rPr>
              <a:t>2019</a:t>
            </a:r>
            <a:endParaRPr kumimoji="0" lang="zh-CN" altLang="en-US" sz="1400" b="0" i="0" u="none" strike="noStrike" kern="1200" cap="none" spc="0" normalizeH="0" baseline="0" noProof="0" dirty="0">
              <a:ln>
                <a:noFill/>
              </a:ln>
              <a:solidFill>
                <a:srgbClr val="8BB1E9"/>
              </a:solidFill>
              <a:effectLst>
                <a:outerShdw blurRad="38100" dist="38100" dir="2700000" algn="tl">
                  <a:srgbClr val="000000"/>
                </a:outerShdw>
              </a:effectLst>
              <a:uLnTx/>
              <a:uFillTx/>
              <a:latin typeface="华文楷体" pitchFamily="2" charset="-122"/>
              <a:ea typeface="华文楷体" pitchFamily="2" charset="-122"/>
              <a:cs typeface="+mn-cs"/>
            </a:endParaRPr>
          </a:p>
        </p:txBody>
      </p:sp>
    </p:spTree>
    <p:extLst>
      <p:ext uri="{BB962C8B-B14F-4D97-AF65-F5344CB8AC3E}">
        <p14:creationId xmlns:p14="http://schemas.microsoft.com/office/powerpoint/2010/main" val="131802871"/>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iming>
    <p:tnLst>
      <p:par>
        <p:cTn id="1" dur="indefinite" restart="never" nodeType="tmRoot"/>
      </p:par>
    </p:tnLst>
  </p:timing>
  <p:txStyles>
    <p:titleStyle>
      <a:lvl1pPr algn="ctr" defTabSz="914400" rtl="0" eaLnBrk="1" latinLnBrk="0" hangingPunct="1">
        <a:spcBef>
          <a:spcPct val="0"/>
        </a:spcBef>
        <a:buNone/>
        <a:defRPr sz="4400" kern="1200" baseline="0">
          <a:solidFill>
            <a:schemeClr val="bg1"/>
          </a:solidFill>
          <a:latin typeface="Arial" pitchFamily="34" charset="0"/>
          <a:ea typeface="微软雅黑"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bg1"/>
          </a:solidFill>
          <a:latin typeface="Arial" pitchFamily="34" charset="0"/>
          <a:ea typeface="微软雅黑" pitchFamily="34" charset="-122"/>
          <a:cs typeface="+mn-cs"/>
        </a:defRPr>
      </a:lvl1pPr>
      <a:lvl2pPr marL="742950" indent="-285750" algn="l" defTabSz="914400" rtl="0" eaLnBrk="1" latinLnBrk="0" hangingPunct="1">
        <a:spcBef>
          <a:spcPct val="20000"/>
        </a:spcBef>
        <a:buFont typeface="Arial" pitchFamily="34" charset="0"/>
        <a:buChar char="–"/>
        <a:defRPr sz="2800" kern="1200" baseline="0">
          <a:solidFill>
            <a:schemeClr val="bg1"/>
          </a:solidFill>
          <a:latin typeface="Arial" pitchFamily="34" charset="0"/>
          <a:ea typeface="微软雅黑" pitchFamily="34" charset="-122"/>
          <a:cs typeface="+mn-cs"/>
        </a:defRPr>
      </a:lvl2pPr>
      <a:lvl3pPr marL="1143000" indent="-228600" algn="l" defTabSz="914400" rtl="0" eaLnBrk="1" latinLnBrk="0" hangingPunct="1">
        <a:spcBef>
          <a:spcPct val="20000"/>
        </a:spcBef>
        <a:buFont typeface="Arial" pitchFamily="34" charset="0"/>
        <a:buChar char="•"/>
        <a:defRPr sz="2400" kern="1200" baseline="0">
          <a:solidFill>
            <a:schemeClr val="bg1"/>
          </a:solidFill>
          <a:latin typeface="Arial" pitchFamily="34" charset="0"/>
          <a:ea typeface="微软雅黑" pitchFamily="34" charset="-122"/>
          <a:cs typeface="+mn-cs"/>
        </a:defRPr>
      </a:lvl3pPr>
      <a:lvl4pPr marL="16002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4pPr>
      <a:lvl5pPr marL="20574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baseline="0">
                <a:solidFill>
                  <a:schemeClr val="bg1"/>
                </a:solidFill>
                <a:latin typeface="Arial" pitchFamily="34" charset="0"/>
                <a:ea typeface="微软雅黑"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E23FA18-E9C0-46B0-908F-810C4DF19BD8}" type="datetimeFigureOut">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2019/11/4</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baseline="0">
                <a:solidFill>
                  <a:schemeClr val="bg1"/>
                </a:solidFill>
                <a:latin typeface="Arial" pitchFamily="34" charset="0"/>
                <a:ea typeface="微软雅黑"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aseline="0">
                <a:solidFill>
                  <a:schemeClr val="bg1"/>
                </a:solidFill>
                <a:latin typeface="Arial" pitchFamily="34" charset="0"/>
                <a:ea typeface="微软雅黑"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DAC636D-AD7D-4FC6-A0F9-DD2B0358BE85}" type="slidenum">
              <a:rPr kumimoji="0" lang="zh-CN" altLang="en-US" sz="1200" b="0" i="0" u="none" strike="noStrike" kern="1200" cap="none" spc="0" normalizeH="0" baseline="0" noProof="0" smtClean="0">
                <a:ln>
                  <a:noFill/>
                </a:ln>
                <a:solidFill>
                  <a:prstClr val="white"/>
                </a:solidFill>
                <a:effectLst/>
                <a:uLnTx/>
                <a:uFillTx/>
                <a:latin typeface="Arial" pitchFamily="34" charset="0"/>
                <a:ea typeface="微软雅黑"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Arial" pitchFamily="34" charset="0"/>
              <a:ea typeface="微软雅黑" pitchFamily="34" charset="-122"/>
              <a:cs typeface="+mn-cs"/>
            </a:endParaRPr>
          </a:p>
        </p:txBody>
      </p:sp>
      <p:sp>
        <p:nvSpPr>
          <p:cNvPr id="7" name="Text Box 10"/>
          <p:cNvSpPr txBox="1">
            <a:spLocks noChangeArrowheads="1"/>
          </p:cNvSpPr>
          <p:nvPr userDrawn="1"/>
        </p:nvSpPr>
        <p:spPr bwMode="auto">
          <a:xfrm>
            <a:off x="6697515" y="131763"/>
            <a:ext cx="2314736" cy="215444"/>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8BB1E9"/>
                </a:solidFill>
                <a:effectLst>
                  <a:outerShdw blurRad="38100" dist="38100" dir="2700000" algn="tl">
                    <a:srgbClr val="000000"/>
                  </a:outerShdw>
                </a:effectLst>
                <a:uLnTx/>
                <a:uFillTx/>
                <a:latin typeface="华文楷体" pitchFamily="2" charset="-122"/>
                <a:ea typeface="华文楷体" pitchFamily="2" charset="-122"/>
                <a:cs typeface="+mn-cs"/>
              </a:rPr>
              <a:t>四川农业大学    潘勇浩 </a:t>
            </a:r>
            <a:r>
              <a:rPr kumimoji="0" lang="zh-CN" altLang="en-US" sz="1400" b="0" i="0" u="none" strike="noStrike" kern="1200" cap="none" spc="0" normalizeH="0" baseline="0" noProof="0" dirty="0" smtClean="0">
                <a:ln>
                  <a:noFill/>
                </a:ln>
                <a:solidFill>
                  <a:srgbClr val="8BB1E9"/>
                </a:solidFill>
                <a:effectLst>
                  <a:outerShdw blurRad="38100" dist="38100" dir="2700000" algn="tl">
                    <a:srgbClr val="000000"/>
                  </a:outerShdw>
                </a:effectLst>
                <a:uLnTx/>
                <a:uFillTx/>
                <a:latin typeface="华文楷体" pitchFamily="2" charset="-122"/>
                <a:ea typeface="华文楷体" pitchFamily="2" charset="-122"/>
                <a:cs typeface="+mn-cs"/>
              </a:rPr>
              <a:t>   </a:t>
            </a:r>
            <a:r>
              <a:rPr kumimoji="0" lang="en-US" altLang="zh-CN" sz="1400" b="0" i="0" u="none" strike="noStrike" kern="1200" cap="none" spc="0" normalizeH="0" baseline="0" noProof="0" dirty="0" smtClean="0">
                <a:ln>
                  <a:noFill/>
                </a:ln>
                <a:solidFill>
                  <a:srgbClr val="8BB1E9"/>
                </a:solidFill>
                <a:effectLst>
                  <a:outerShdw blurRad="38100" dist="38100" dir="2700000" algn="tl">
                    <a:srgbClr val="000000"/>
                  </a:outerShdw>
                </a:effectLst>
                <a:uLnTx/>
                <a:uFillTx/>
                <a:latin typeface="华文楷体" pitchFamily="2" charset="-122"/>
                <a:ea typeface="华文楷体" pitchFamily="2" charset="-122"/>
                <a:cs typeface="+mn-cs"/>
              </a:rPr>
              <a:t>2019</a:t>
            </a:r>
            <a:endParaRPr kumimoji="0" lang="zh-CN" altLang="en-US" sz="1400" b="0" i="0" u="none" strike="noStrike" kern="1200" cap="none" spc="0" normalizeH="0" baseline="0" noProof="0" dirty="0">
              <a:ln>
                <a:noFill/>
              </a:ln>
              <a:solidFill>
                <a:srgbClr val="8BB1E9"/>
              </a:solidFill>
              <a:effectLst>
                <a:outerShdw blurRad="38100" dist="38100" dir="2700000" algn="tl">
                  <a:srgbClr val="000000"/>
                </a:outerShdw>
              </a:effectLst>
              <a:uLnTx/>
              <a:uFillTx/>
              <a:latin typeface="华文楷体" pitchFamily="2" charset="-122"/>
              <a:ea typeface="华文楷体" pitchFamily="2" charset="-122"/>
              <a:cs typeface="+mn-cs"/>
            </a:endParaRPr>
          </a:p>
        </p:txBody>
      </p:sp>
    </p:spTree>
    <p:extLst>
      <p:ext uri="{BB962C8B-B14F-4D97-AF65-F5344CB8AC3E}">
        <p14:creationId xmlns:p14="http://schemas.microsoft.com/office/powerpoint/2010/main" val="117397443"/>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iming>
    <p:tnLst>
      <p:par>
        <p:cTn id="1" dur="indefinite" restart="never" nodeType="tmRoot"/>
      </p:par>
    </p:tnLst>
  </p:timing>
  <p:txStyles>
    <p:titleStyle>
      <a:lvl1pPr algn="ctr" defTabSz="914400" rtl="0" eaLnBrk="1" latinLnBrk="0" hangingPunct="1">
        <a:spcBef>
          <a:spcPct val="0"/>
        </a:spcBef>
        <a:buNone/>
        <a:defRPr sz="4400" kern="1200" baseline="0">
          <a:solidFill>
            <a:schemeClr val="bg1"/>
          </a:solidFill>
          <a:latin typeface="Arial" pitchFamily="34" charset="0"/>
          <a:ea typeface="微软雅黑"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bg1"/>
          </a:solidFill>
          <a:latin typeface="Arial" pitchFamily="34" charset="0"/>
          <a:ea typeface="微软雅黑" pitchFamily="34" charset="-122"/>
          <a:cs typeface="+mn-cs"/>
        </a:defRPr>
      </a:lvl1pPr>
      <a:lvl2pPr marL="742950" indent="-285750" algn="l" defTabSz="914400" rtl="0" eaLnBrk="1" latinLnBrk="0" hangingPunct="1">
        <a:spcBef>
          <a:spcPct val="20000"/>
        </a:spcBef>
        <a:buFont typeface="Arial" pitchFamily="34" charset="0"/>
        <a:buChar char="–"/>
        <a:defRPr sz="2800" kern="1200" baseline="0">
          <a:solidFill>
            <a:schemeClr val="bg1"/>
          </a:solidFill>
          <a:latin typeface="Arial" pitchFamily="34" charset="0"/>
          <a:ea typeface="微软雅黑" pitchFamily="34" charset="-122"/>
          <a:cs typeface="+mn-cs"/>
        </a:defRPr>
      </a:lvl2pPr>
      <a:lvl3pPr marL="1143000" indent="-228600" algn="l" defTabSz="914400" rtl="0" eaLnBrk="1" latinLnBrk="0" hangingPunct="1">
        <a:spcBef>
          <a:spcPct val="20000"/>
        </a:spcBef>
        <a:buFont typeface="Arial" pitchFamily="34" charset="0"/>
        <a:buChar char="•"/>
        <a:defRPr sz="2400" kern="1200" baseline="0">
          <a:solidFill>
            <a:schemeClr val="bg1"/>
          </a:solidFill>
          <a:latin typeface="Arial" pitchFamily="34" charset="0"/>
          <a:ea typeface="微软雅黑" pitchFamily="34" charset="-122"/>
          <a:cs typeface="+mn-cs"/>
        </a:defRPr>
      </a:lvl3pPr>
      <a:lvl4pPr marL="16002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4pPr>
      <a:lvl5pPr marL="20574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4.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WordArt 25"/>
          <p:cNvSpPr>
            <a:spLocks noChangeArrowheads="1" noChangeShapeType="1" noTextEdit="1"/>
          </p:cNvSpPr>
          <p:nvPr/>
        </p:nvSpPr>
        <p:spPr bwMode="auto">
          <a:xfrm>
            <a:off x="571500" y="3475038"/>
            <a:ext cx="8001000" cy="1146175"/>
          </a:xfrm>
          <a:prstGeom prst="rect">
            <a:avLst/>
          </a:prstGeom>
        </p:spPr>
        <p:txBody>
          <a:bodyPr wrap="none" fromWordArt="1">
            <a:prstTxWarp prst="textPlain">
              <a:avLst>
                <a:gd name="adj" fmla="val 50000"/>
              </a:avLst>
            </a:prstTxWarp>
          </a:bodyPr>
          <a:lstStyle/>
          <a:p>
            <a:pPr algn="dist"/>
            <a:r>
              <a:rPr lang="zh-CN" altLang="en-US" sz="2800" kern="10" spc="560" dirty="0" smtClean="0">
                <a:ln w="19050" cap="sq">
                  <a:solidFill>
                    <a:schemeClr val="hlink"/>
                  </a:solidFill>
                  <a:round/>
                  <a:headEnd/>
                  <a:tailEnd/>
                </a:ln>
                <a:gradFill rotWithShape="1">
                  <a:gsLst>
                    <a:gs pos="0">
                      <a:srgbClr val="50080D"/>
                    </a:gs>
                    <a:gs pos="100000">
                      <a:srgbClr val="FF0000"/>
                    </a:gs>
                  </a:gsLst>
                  <a:lin ang="2700000" scaled="1"/>
                </a:gradFill>
                <a:effectLst>
                  <a:outerShdw dist="35921" dir="2700000" algn="ctr" rotWithShape="0">
                    <a:schemeClr val="bg2">
                      <a:alpha val="79999"/>
                    </a:schemeClr>
                  </a:outerShdw>
                </a:effectLst>
                <a:latin typeface="隶书"/>
                <a:ea typeface="隶书"/>
              </a:rPr>
              <a:t>数据库中的对象</a:t>
            </a:r>
            <a:endParaRPr lang="zh-CN" altLang="en-US" sz="2800" kern="10" spc="560" dirty="0">
              <a:ln w="19050" cap="sq">
                <a:solidFill>
                  <a:schemeClr val="hlink"/>
                </a:solidFill>
                <a:round/>
                <a:headEnd/>
                <a:tailEnd/>
              </a:ln>
              <a:gradFill rotWithShape="1">
                <a:gsLst>
                  <a:gs pos="0">
                    <a:srgbClr val="50080D"/>
                  </a:gs>
                  <a:gs pos="100000">
                    <a:srgbClr val="FF0000"/>
                  </a:gs>
                </a:gsLst>
                <a:lin ang="2700000" scaled="1"/>
              </a:gradFill>
              <a:effectLst>
                <a:outerShdw dist="35921" dir="2700000" algn="ctr" rotWithShape="0">
                  <a:schemeClr val="bg2">
                    <a:alpha val="79999"/>
                  </a:schemeClr>
                </a:outerShdw>
              </a:effectLst>
              <a:latin typeface="隶书"/>
              <a:ea typeface="隶书"/>
            </a:endParaRPr>
          </a:p>
        </p:txBody>
      </p:sp>
      <p:sp>
        <p:nvSpPr>
          <p:cNvPr id="153626" name="WordArt 26"/>
          <p:cNvSpPr>
            <a:spLocks noChangeArrowheads="1" noChangeShapeType="1" noTextEdit="1"/>
          </p:cNvSpPr>
          <p:nvPr/>
        </p:nvSpPr>
        <p:spPr bwMode="auto">
          <a:xfrm>
            <a:off x="2662188" y="1867584"/>
            <a:ext cx="3565996" cy="947684"/>
          </a:xfrm>
          <a:prstGeom prst="rect">
            <a:avLst/>
          </a:prstGeom>
        </p:spPr>
        <p:txBody>
          <a:bodyPr wrap="none" fromWordArt="1">
            <a:prstTxWarp prst="textPlain">
              <a:avLst>
                <a:gd name="adj" fmla="val 50000"/>
              </a:avLst>
            </a:prstTxWarp>
          </a:bodyPr>
          <a:lstStyle/>
          <a:p>
            <a:pPr algn="dist">
              <a:defRPr/>
            </a:pPr>
            <a:r>
              <a:rPr lang="zh-CN" altLang="en-US" sz="2800" kern="10" dirty="0" smtClean="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第</a:t>
            </a:r>
            <a:r>
              <a:rPr lang="en-US" altLang="zh-CN" sz="2800" kern="10" dirty="0" smtClean="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5</a:t>
            </a:r>
            <a:r>
              <a:rPr lang="zh-CN" altLang="en-US" sz="2800" kern="10" dirty="0" smtClean="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章</a:t>
            </a:r>
            <a:endParaRPr lang="zh-CN" altLang="en-US" sz="2800" kern="1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endParaRP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79512" y="-27384"/>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anchor="ctr" anchorCtr="0" compatLnSpc="1">
            <a:prstTxWarp prst="textNoShape">
              <a:avLst/>
            </a:prstTxWarp>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smtClean="0">
                <a:ln>
                  <a:noFill/>
                </a:ln>
                <a:solidFill>
                  <a:srgbClr val="FFFFCC"/>
                </a:solidFill>
                <a:effectLst>
                  <a:outerShdw blurRad="38100" dist="38100" dir="2700000" algn="tl">
                    <a:srgbClr val="000000"/>
                  </a:outerShdw>
                </a:effectLst>
                <a:uLnTx/>
                <a:uFillTx/>
                <a:cs typeface="+mn-cs"/>
              </a:rPr>
              <a:t>索引的概念</a:t>
            </a:r>
          </a:p>
        </p:txBody>
      </p:sp>
      <p:sp>
        <p:nvSpPr>
          <p:cNvPr id="73" name="Rectangle 4"/>
          <p:cNvSpPr>
            <a:spLocks noChangeArrowheads="1"/>
          </p:cNvSpPr>
          <p:nvPr/>
        </p:nvSpPr>
        <p:spPr bwMode="auto">
          <a:xfrm>
            <a:off x="2063750" y="5632723"/>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schemeClr val="bg1"/>
                </a:solidFill>
                <a:effectLst/>
                <a:uLnTx/>
                <a:uFillTx/>
                <a:latin typeface="Arial" charset="0"/>
                <a:ea typeface="黑体" panose="02010609060101010101" pitchFamily="49" charset="-122"/>
                <a:cs typeface="+mn-cs"/>
              </a:rPr>
              <a:t>┆</a:t>
            </a:r>
          </a:p>
        </p:txBody>
      </p:sp>
      <p:sp>
        <p:nvSpPr>
          <p:cNvPr id="74" name="Rectangle 5"/>
          <p:cNvSpPr>
            <a:spLocks noChangeArrowheads="1"/>
          </p:cNvSpPr>
          <p:nvPr/>
        </p:nvSpPr>
        <p:spPr bwMode="auto">
          <a:xfrm>
            <a:off x="4173538" y="5632723"/>
            <a:ext cx="2109787"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schemeClr val="bg1"/>
                </a:solidFill>
                <a:effectLst/>
                <a:uLnTx/>
                <a:uFillTx/>
                <a:latin typeface="Arial" charset="0"/>
                <a:ea typeface="黑体" panose="02010609060101010101" pitchFamily="49" charset="-122"/>
                <a:cs typeface="+mn-cs"/>
              </a:rPr>
              <a:t>┆</a:t>
            </a:r>
          </a:p>
        </p:txBody>
      </p:sp>
      <p:sp>
        <p:nvSpPr>
          <p:cNvPr id="75" name="Rectangle 6"/>
          <p:cNvSpPr>
            <a:spLocks noChangeArrowheads="1"/>
          </p:cNvSpPr>
          <p:nvPr/>
        </p:nvSpPr>
        <p:spPr bwMode="auto">
          <a:xfrm>
            <a:off x="6259513" y="5632723"/>
            <a:ext cx="2141537"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schemeClr val="bg1"/>
                </a:solidFill>
                <a:effectLst/>
                <a:uLnTx/>
                <a:uFillTx/>
                <a:latin typeface="Arial" charset="0"/>
                <a:ea typeface="黑体" panose="02010609060101010101" pitchFamily="49" charset="-122"/>
                <a:cs typeface="+mn-cs"/>
              </a:rPr>
              <a:t>┆</a:t>
            </a:r>
          </a:p>
        </p:txBody>
      </p:sp>
      <p:sp>
        <p:nvSpPr>
          <p:cNvPr id="76" name="Rectangle 7"/>
          <p:cNvSpPr>
            <a:spLocks noChangeArrowheads="1"/>
          </p:cNvSpPr>
          <p:nvPr/>
        </p:nvSpPr>
        <p:spPr bwMode="auto">
          <a:xfrm>
            <a:off x="539750" y="2237061"/>
            <a:ext cx="863600" cy="317500"/>
          </a:xfrm>
          <a:prstGeom prst="rect">
            <a:avLst/>
          </a:prstGeom>
          <a:solidFill>
            <a:srgbClr val="0000CC"/>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zh-CN" altLang="en-US" sz="3200" b="0" i="0" u="none" strike="noStrike" kern="0" cap="none" spc="0" normalizeH="0" baseline="-25000" noProof="0">
              <a:ln>
                <a:noFill/>
              </a:ln>
              <a:solidFill>
                <a:prstClr val="white"/>
              </a:solidFill>
              <a:effectLst/>
              <a:uLnTx/>
              <a:uFillTx/>
              <a:latin typeface="Garamond" pitchFamily="18" charset="0"/>
              <a:ea typeface="宋体" pitchFamily="2" charset="-122"/>
              <a:cs typeface="+mn-cs"/>
            </a:endParaRPr>
          </a:p>
        </p:txBody>
      </p:sp>
      <p:sp>
        <p:nvSpPr>
          <p:cNvPr id="77" name="Rectangle 8"/>
          <p:cNvSpPr>
            <a:spLocks noChangeArrowheads="1"/>
          </p:cNvSpPr>
          <p:nvPr/>
        </p:nvSpPr>
        <p:spPr bwMode="auto">
          <a:xfrm>
            <a:off x="539750" y="2554561"/>
            <a:ext cx="863600" cy="319087"/>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78" name="Rectangle 9"/>
          <p:cNvSpPr>
            <a:spLocks noChangeArrowheads="1"/>
          </p:cNvSpPr>
          <p:nvPr/>
        </p:nvSpPr>
        <p:spPr bwMode="auto">
          <a:xfrm>
            <a:off x="539750" y="2873648"/>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79" name="Rectangle 10"/>
          <p:cNvSpPr>
            <a:spLocks noChangeArrowheads="1"/>
          </p:cNvSpPr>
          <p:nvPr/>
        </p:nvSpPr>
        <p:spPr bwMode="auto">
          <a:xfrm>
            <a:off x="539750" y="3191148"/>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80" name="Rectangle 11"/>
          <p:cNvSpPr>
            <a:spLocks noChangeArrowheads="1"/>
          </p:cNvSpPr>
          <p:nvPr/>
        </p:nvSpPr>
        <p:spPr bwMode="auto">
          <a:xfrm>
            <a:off x="539750" y="3829323"/>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81" name="Rectangle 12"/>
          <p:cNvSpPr>
            <a:spLocks noChangeArrowheads="1"/>
          </p:cNvSpPr>
          <p:nvPr/>
        </p:nvSpPr>
        <p:spPr bwMode="auto">
          <a:xfrm>
            <a:off x="539750" y="4146823"/>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82" name="Rectangle 13"/>
          <p:cNvSpPr>
            <a:spLocks noChangeArrowheads="1"/>
          </p:cNvSpPr>
          <p:nvPr/>
        </p:nvSpPr>
        <p:spPr bwMode="auto">
          <a:xfrm>
            <a:off x="539750" y="4464323"/>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83" name="Rectangle 14"/>
          <p:cNvSpPr>
            <a:spLocks noChangeArrowheads="1"/>
          </p:cNvSpPr>
          <p:nvPr/>
        </p:nvSpPr>
        <p:spPr bwMode="auto">
          <a:xfrm>
            <a:off x="539750" y="4781823"/>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84" name="Rectangle 15"/>
          <p:cNvSpPr>
            <a:spLocks noChangeArrowheads="1"/>
          </p:cNvSpPr>
          <p:nvPr/>
        </p:nvSpPr>
        <p:spPr bwMode="auto">
          <a:xfrm>
            <a:off x="539750" y="5099323"/>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85" name="Rectangle 16"/>
          <p:cNvSpPr>
            <a:spLocks noChangeArrowheads="1"/>
          </p:cNvSpPr>
          <p:nvPr/>
        </p:nvSpPr>
        <p:spPr bwMode="auto">
          <a:xfrm>
            <a:off x="539750" y="5419998"/>
            <a:ext cx="863600" cy="36195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86" name="Text Box 17"/>
          <p:cNvSpPr txBox="1">
            <a:spLocks noChangeArrowheads="1"/>
          </p:cNvSpPr>
          <p:nvPr/>
        </p:nvSpPr>
        <p:spPr bwMode="auto">
          <a:xfrm>
            <a:off x="634429" y="2060848"/>
            <a:ext cx="658367" cy="3756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wrap="none" lIns="72000" tIns="72000" rIns="72000" bIns="72000">
            <a:spAutoFit/>
          </a:bodyPr>
          <a:lstStyle>
            <a:lvl1pPr eaLnBrk="0" hangingPunct="0">
              <a:defRPr kumimoji="1" sz="2800">
                <a:solidFill>
                  <a:schemeClr val="tx1"/>
                </a:solidFill>
                <a:latin typeface="楷体_GB2312" pitchFamily="49" charset="-122"/>
                <a:ea typeface="楷体_GB2312" pitchFamily="49" charset="-122"/>
              </a:defRPr>
            </a:lvl1pPr>
            <a:lvl2pPr marL="742950" indent="-285750" eaLnBrk="0" hangingPunct="0">
              <a:defRPr kumimoji="1" sz="2800">
                <a:solidFill>
                  <a:schemeClr val="tx1"/>
                </a:solidFill>
                <a:latin typeface="楷体_GB2312" pitchFamily="49" charset="-122"/>
                <a:ea typeface="楷体_GB2312" pitchFamily="49" charset="-122"/>
              </a:defRPr>
            </a:lvl2pPr>
            <a:lvl3pPr marL="1143000" indent="-228600" eaLnBrk="0" hangingPunct="0">
              <a:defRPr kumimoji="1" sz="2800">
                <a:solidFill>
                  <a:schemeClr val="tx1"/>
                </a:solidFill>
                <a:latin typeface="楷体_GB2312" pitchFamily="49" charset="-122"/>
                <a:ea typeface="楷体_GB2312" pitchFamily="49" charset="-122"/>
              </a:defRPr>
            </a:lvl3pPr>
            <a:lvl4pPr marL="1600200" indent="-228600" eaLnBrk="0" hangingPunct="0">
              <a:defRPr kumimoji="1" sz="2800">
                <a:solidFill>
                  <a:schemeClr val="tx1"/>
                </a:solidFill>
                <a:latin typeface="楷体_GB2312" pitchFamily="49" charset="-122"/>
                <a:ea typeface="楷体_GB2312" pitchFamily="49" charset="-122"/>
              </a:defRPr>
            </a:lvl4pPr>
            <a:lvl5pPr marL="2057400" indent="-228600" eaLnBrk="0" hangingPunct="0">
              <a:defRPr kumimoji="1" sz="28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28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28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28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2800">
                <a:solidFill>
                  <a:schemeClr val="tx1"/>
                </a:solidFill>
                <a:latin typeface="楷体_GB2312" pitchFamily="49" charset="-122"/>
                <a:ea typeface="楷体_GB2312" pitchFamily="49" charset="-122"/>
              </a:defRPr>
            </a:lvl9pP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3200" b="0" i="0" u="none" strike="noStrike" kern="1200" cap="none" spc="0" normalizeH="0" baseline="-25000" noProof="0">
                <a:ln>
                  <a:noFill/>
                </a:ln>
                <a:solidFill>
                  <a:prstClr val="white"/>
                </a:solidFill>
                <a:effectLst/>
                <a:uLnTx/>
                <a:uFillTx/>
                <a:latin typeface="Garamond" pitchFamily="18" charset="0"/>
                <a:ea typeface="宋体" pitchFamily="2" charset="-122"/>
                <a:cs typeface="+mn-cs"/>
              </a:rPr>
              <a:t>1000</a:t>
            </a:r>
          </a:p>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3200" b="0" i="0" u="none" strike="noStrike" kern="1200" cap="none" spc="0" normalizeH="0" baseline="-25000" noProof="0">
                <a:ln>
                  <a:noFill/>
                </a:ln>
                <a:solidFill>
                  <a:prstClr val="white"/>
                </a:solidFill>
                <a:effectLst/>
                <a:uLnTx/>
                <a:uFillTx/>
                <a:latin typeface="Garamond" pitchFamily="18" charset="0"/>
                <a:ea typeface="宋体" pitchFamily="2" charset="-122"/>
                <a:cs typeface="+mn-cs"/>
              </a:rPr>
              <a:t>1001</a:t>
            </a:r>
          </a:p>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3200" b="0" i="0" u="none" strike="noStrike" kern="1200" cap="none" spc="0" normalizeH="0" baseline="-25000" noProof="0">
                <a:ln>
                  <a:noFill/>
                </a:ln>
                <a:solidFill>
                  <a:prstClr val="white"/>
                </a:solidFill>
                <a:effectLst/>
                <a:uLnTx/>
                <a:uFillTx/>
                <a:latin typeface="Garamond" pitchFamily="18" charset="0"/>
                <a:ea typeface="宋体" pitchFamily="2" charset="-122"/>
                <a:cs typeface="+mn-cs"/>
              </a:rPr>
              <a:t>1002</a:t>
            </a:r>
          </a:p>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3200" b="0" i="0" u="none" strike="noStrike" kern="1200" cap="none" spc="0" normalizeH="0" baseline="-25000" noProof="0">
                <a:ln>
                  <a:noFill/>
                </a:ln>
                <a:solidFill>
                  <a:prstClr val="white"/>
                </a:solidFill>
                <a:effectLst/>
                <a:uLnTx/>
                <a:uFillTx/>
                <a:latin typeface="Garamond" pitchFamily="18" charset="0"/>
                <a:ea typeface="宋体" pitchFamily="2" charset="-122"/>
                <a:cs typeface="+mn-cs"/>
              </a:rPr>
              <a:t>1003</a:t>
            </a:r>
          </a:p>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en-US" altLang="zh-CN" sz="3200" b="0" i="0" u="none" strike="noStrike" kern="1200" cap="none" spc="0" normalizeH="0" baseline="-25000" noProof="0">
              <a:ln>
                <a:noFill/>
              </a:ln>
              <a:solidFill>
                <a:prstClr val="white"/>
              </a:solidFill>
              <a:effectLst/>
              <a:uLnTx/>
              <a:uFillTx/>
              <a:latin typeface="Garamond" pitchFamily="18" charset="0"/>
              <a:ea typeface="宋体" pitchFamily="2" charset="-122"/>
              <a:cs typeface="+mn-cs"/>
            </a:endParaRPr>
          </a:p>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en-US" altLang="zh-CN" sz="3200" b="0" i="0" u="none" strike="noStrike" kern="1200" cap="none" spc="0" normalizeH="0" baseline="-25000" noProof="0">
              <a:ln>
                <a:noFill/>
              </a:ln>
              <a:solidFill>
                <a:prstClr val="white"/>
              </a:solidFill>
              <a:effectLst/>
              <a:uLnTx/>
              <a:uFillTx/>
              <a:latin typeface="Garamond" pitchFamily="18" charset="0"/>
              <a:ea typeface="宋体" pitchFamily="2" charset="-122"/>
              <a:cs typeface="+mn-cs"/>
            </a:endParaRPr>
          </a:p>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en-US" altLang="zh-CN" sz="3200" b="0" i="0" u="none" strike="noStrike" kern="1200" cap="none" spc="0" normalizeH="0" baseline="-25000" noProof="0">
              <a:ln>
                <a:noFill/>
              </a:ln>
              <a:solidFill>
                <a:prstClr val="white"/>
              </a:solidFill>
              <a:effectLst/>
              <a:uLnTx/>
              <a:uFillTx/>
              <a:latin typeface="Garamond" pitchFamily="18" charset="0"/>
              <a:ea typeface="宋体" pitchFamily="2" charset="-122"/>
              <a:cs typeface="+mn-cs"/>
            </a:endParaRPr>
          </a:p>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3200" b="0" i="0" u="none" strike="noStrike" kern="1200" cap="none" spc="0" normalizeH="0" baseline="-25000" noProof="0">
                <a:ln>
                  <a:noFill/>
                </a:ln>
                <a:solidFill>
                  <a:prstClr val="white"/>
                </a:solidFill>
                <a:effectLst/>
                <a:uLnTx/>
                <a:uFillTx/>
                <a:latin typeface="Garamond" pitchFamily="18" charset="0"/>
                <a:ea typeface="宋体" pitchFamily="2" charset="-122"/>
                <a:cs typeface="+mn-cs"/>
              </a:rPr>
              <a:t>3100</a:t>
            </a:r>
          </a:p>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3200" b="0" i="0" u="none" strike="noStrike" kern="1200" cap="none" spc="0" normalizeH="0" baseline="-25000" noProof="0">
                <a:ln>
                  <a:noFill/>
                </a:ln>
                <a:solidFill>
                  <a:prstClr val="white"/>
                </a:solidFill>
                <a:effectLst/>
                <a:uLnTx/>
                <a:uFillTx/>
                <a:latin typeface="Garamond" pitchFamily="18" charset="0"/>
                <a:ea typeface="宋体" pitchFamily="2" charset="-122"/>
                <a:cs typeface="+mn-cs"/>
              </a:rPr>
              <a:t>3103</a:t>
            </a:r>
          </a:p>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3200" b="0" i="0" u="none" strike="noStrike" kern="1200" cap="none" spc="0" normalizeH="0" baseline="-25000" noProof="0">
                <a:ln>
                  <a:noFill/>
                </a:ln>
                <a:solidFill>
                  <a:prstClr val="white"/>
                </a:solidFill>
                <a:effectLst/>
                <a:uLnTx/>
                <a:uFillTx/>
                <a:latin typeface="Garamond" pitchFamily="18" charset="0"/>
                <a:ea typeface="宋体" pitchFamily="2" charset="-122"/>
                <a:cs typeface="+mn-cs"/>
              </a:rPr>
              <a:t>3104</a:t>
            </a:r>
          </a:p>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3200" b="0" i="0" u="none" strike="noStrike" kern="1200" cap="none" spc="0" normalizeH="0" baseline="-25000" noProof="0">
                <a:ln>
                  <a:noFill/>
                </a:ln>
                <a:solidFill>
                  <a:prstClr val="white"/>
                </a:solidFill>
                <a:effectLst/>
                <a:uLnTx/>
                <a:uFillTx/>
                <a:latin typeface="Garamond" pitchFamily="18" charset="0"/>
                <a:ea typeface="宋体" pitchFamily="2" charset="-122"/>
                <a:cs typeface="+mn-cs"/>
              </a:rPr>
              <a:t>┆</a:t>
            </a:r>
          </a:p>
        </p:txBody>
      </p:sp>
      <p:sp>
        <p:nvSpPr>
          <p:cNvPr id="87" name="Freeform 18"/>
          <p:cNvSpPr>
            <a:spLocks/>
          </p:cNvSpPr>
          <p:nvPr/>
        </p:nvSpPr>
        <p:spPr bwMode="auto">
          <a:xfrm>
            <a:off x="1322388" y="4319861"/>
            <a:ext cx="7450137" cy="1452562"/>
          </a:xfrm>
          <a:custGeom>
            <a:avLst/>
            <a:gdLst/>
            <a:ahLst/>
            <a:cxnLst>
              <a:cxn ang="0">
                <a:pos x="0" y="596"/>
              </a:cxn>
              <a:cxn ang="0">
                <a:pos x="376" y="830"/>
              </a:cxn>
              <a:cxn ang="0">
                <a:pos x="4693" y="826"/>
              </a:cxn>
              <a:cxn ang="0">
                <a:pos x="4693" y="47"/>
              </a:cxn>
              <a:cxn ang="0">
                <a:pos x="4507" y="0"/>
              </a:cxn>
            </a:cxnLst>
            <a:rect l="0" t="0" r="r" b="b"/>
            <a:pathLst>
              <a:path w="4693" h="830">
                <a:moveTo>
                  <a:pt x="0" y="596"/>
                </a:moveTo>
                <a:lnTo>
                  <a:pt x="376" y="830"/>
                </a:lnTo>
                <a:lnTo>
                  <a:pt x="4693" y="826"/>
                </a:lnTo>
                <a:lnTo>
                  <a:pt x="4693" y="47"/>
                </a:lnTo>
                <a:lnTo>
                  <a:pt x="4507" y="0"/>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88" name="Rectangle 20"/>
          <p:cNvSpPr>
            <a:spLocks noChangeArrowheads="1"/>
          </p:cNvSpPr>
          <p:nvPr/>
        </p:nvSpPr>
        <p:spPr bwMode="auto">
          <a:xfrm>
            <a:off x="3040063" y="5988323"/>
            <a:ext cx="4410075" cy="508000"/>
          </a:xfrm>
          <a:prstGeom prst="rect">
            <a:avLst/>
          </a:prstGeom>
          <a:noFill/>
          <a:ln w="12700" cap="sq" algn="ctr">
            <a:noFill/>
            <a:miter lim="800000"/>
            <a:headEnd/>
            <a:tailEnd/>
          </a:ln>
          <a:effectLst/>
        </p:spPr>
        <p:txBody>
          <a:bodyPr wrap="none" lIns="72000" tIns="72000" rIns="72000" bIns="72000">
            <a:spAutoFit/>
          </a:bodyP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FFCC00"/>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数据页（数据记录不一定有序）</a:t>
            </a:r>
          </a:p>
        </p:txBody>
      </p:sp>
      <p:sp>
        <p:nvSpPr>
          <p:cNvPr id="89" name="Rectangle 21"/>
          <p:cNvSpPr>
            <a:spLocks noChangeArrowheads="1"/>
          </p:cNvSpPr>
          <p:nvPr/>
        </p:nvSpPr>
        <p:spPr bwMode="auto">
          <a:xfrm>
            <a:off x="2068513" y="2635523"/>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zh-CN" altLang="en-US" sz="3200" b="0" i="0" u="none" strike="noStrike" kern="0" cap="none" spc="0" normalizeH="0" baseline="-25000" noProof="0">
              <a:ln>
                <a:noFill/>
              </a:ln>
              <a:solidFill>
                <a:prstClr val="white"/>
              </a:solidFill>
              <a:effectLst/>
              <a:uLnTx/>
              <a:uFillTx/>
              <a:latin typeface="Garamond" pitchFamily="18" charset="0"/>
              <a:ea typeface="宋体" pitchFamily="2" charset="-122"/>
              <a:cs typeface="+mn-cs"/>
            </a:endParaRPr>
          </a:p>
        </p:txBody>
      </p:sp>
      <p:sp>
        <p:nvSpPr>
          <p:cNvPr id="90" name="Rectangle 22"/>
          <p:cNvSpPr>
            <a:spLocks noChangeArrowheads="1"/>
          </p:cNvSpPr>
          <p:nvPr/>
        </p:nvSpPr>
        <p:spPr bwMode="auto">
          <a:xfrm>
            <a:off x="4178300" y="2635523"/>
            <a:ext cx="2109788" cy="319088"/>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1001#</a:t>
            </a:r>
            <a:r>
              <a:rPr kumimoji="0" lang="zh-CN" altLang="en-US"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职工记录</a:t>
            </a:r>
          </a:p>
        </p:txBody>
      </p:sp>
      <p:sp>
        <p:nvSpPr>
          <p:cNvPr id="91" name="Rectangle 23"/>
          <p:cNvSpPr>
            <a:spLocks noChangeArrowheads="1"/>
          </p:cNvSpPr>
          <p:nvPr/>
        </p:nvSpPr>
        <p:spPr bwMode="auto">
          <a:xfrm>
            <a:off x="6300788" y="2635523"/>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zh-CN" altLang="en-US" sz="3200" b="0" i="0" u="none" strike="noStrike" kern="0" cap="none" spc="0" normalizeH="0" baseline="-25000" noProof="0">
              <a:ln>
                <a:noFill/>
              </a:ln>
              <a:solidFill>
                <a:prstClr val="white"/>
              </a:solidFill>
              <a:effectLst/>
              <a:uLnTx/>
              <a:uFillTx/>
              <a:latin typeface="Garamond" pitchFamily="18" charset="0"/>
              <a:ea typeface="宋体" pitchFamily="2" charset="-122"/>
              <a:cs typeface="+mn-cs"/>
            </a:endParaRPr>
          </a:p>
        </p:txBody>
      </p:sp>
      <p:sp>
        <p:nvSpPr>
          <p:cNvPr id="92" name="Rectangle 24"/>
          <p:cNvSpPr>
            <a:spLocks noChangeArrowheads="1"/>
          </p:cNvSpPr>
          <p:nvPr/>
        </p:nvSpPr>
        <p:spPr bwMode="auto">
          <a:xfrm>
            <a:off x="2068513" y="3140348"/>
            <a:ext cx="2105025" cy="319088"/>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1002#</a:t>
            </a:r>
            <a:r>
              <a:rPr kumimoji="0" lang="zh-CN" altLang="en-US"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职工记录</a:t>
            </a:r>
          </a:p>
        </p:txBody>
      </p:sp>
      <p:sp>
        <p:nvSpPr>
          <p:cNvPr id="93" name="Rectangle 25"/>
          <p:cNvSpPr>
            <a:spLocks noChangeArrowheads="1"/>
          </p:cNvSpPr>
          <p:nvPr/>
        </p:nvSpPr>
        <p:spPr bwMode="auto">
          <a:xfrm>
            <a:off x="4178300" y="3140348"/>
            <a:ext cx="2109788"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charset="0"/>
              <a:ea typeface="黑体" panose="02010609060101010101" pitchFamily="49" charset="-122"/>
              <a:cs typeface="+mn-cs"/>
            </a:endParaRPr>
          </a:p>
        </p:txBody>
      </p:sp>
      <p:sp>
        <p:nvSpPr>
          <p:cNvPr id="94" name="Rectangle 26"/>
          <p:cNvSpPr>
            <a:spLocks noChangeArrowheads="1"/>
          </p:cNvSpPr>
          <p:nvPr/>
        </p:nvSpPr>
        <p:spPr bwMode="auto">
          <a:xfrm>
            <a:off x="6300788" y="3140348"/>
            <a:ext cx="2105025" cy="319088"/>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1000#</a:t>
            </a:r>
            <a:r>
              <a:rPr kumimoji="0" lang="zh-CN" altLang="en-US"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职工记录</a:t>
            </a:r>
          </a:p>
        </p:txBody>
      </p:sp>
      <p:sp>
        <p:nvSpPr>
          <p:cNvPr id="95" name="Rectangle 27"/>
          <p:cNvSpPr>
            <a:spLocks noChangeArrowheads="1"/>
          </p:cNvSpPr>
          <p:nvPr/>
        </p:nvSpPr>
        <p:spPr bwMode="auto">
          <a:xfrm>
            <a:off x="2068513" y="3643586"/>
            <a:ext cx="2105025" cy="319087"/>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zh-CN" altLang="en-US" sz="3200" b="0" i="0" u="none" strike="noStrike" kern="0" cap="none" spc="0" normalizeH="0" baseline="-25000" noProof="0">
              <a:ln>
                <a:noFill/>
              </a:ln>
              <a:solidFill>
                <a:prstClr val="white"/>
              </a:solidFill>
              <a:effectLst/>
              <a:uLnTx/>
              <a:uFillTx/>
              <a:latin typeface="Garamond" pitchFamily="18" charset="0"/>
              <a:ea typeface="宋体" pitchFamily="2" charset="-122"/>
              <a:cs typeface="+mn-cs"/>
            </a:endParaRPr>
          </a:p>
        </p:txBody>
      </p:sp>
      <p:sp>
        <p:nvSpPr>
          <p:cNvPr id="96" name="Rectangle 28"/>
          <p:cNvSpPr>
            <a:spLocks noChangeArrowheads="1"/>
          </p:cNvSpPr>
          <p:nvPr/>
        </p:nvSpPr>
        <p:spPr bwMode="auto">
          <a:xfrm>
            <a:off x="4178300" y="3643586"/>
            <a:ext cx="2109788" cy="319087"/>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3100#</a:t>
            </a:r>
            <a:r>
              <a:rPr kumimoji="0" lang="zh-CN" altLang="en-US"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职工记录</a:t>
            </a:r>
          </a:p>
        </p:txBody>
      </p:sp>
      <p:sp>
        <p:nvSpPr>
          <p:cNvPr id="97" name="Rectangle 29"/>
          <p:cNvSpPr>
            <a:spLocks noChangeArrowheads="1"/>
          </p:cNvSpPr>
          <p:nvPr/>
        </p:nvSpPr>
        <p:spPr bwMode="auto">
          <a:xfrm>
            <a:off x="6300788" y="3643586"/>
            <a:ext cx="2105025" cy="319087"/>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zh-CN" altLang="en-US" sz="3200" b="0" i="0" u="none" strike="noStrike" kern="0" cap="none" spc="0" normalizeH="0" baseline="-25000" noProof="0">
              <a:ln>
                <a:noFill/>
              </a:ln>
              <a:solidFill>
                <a:prstClr val="white"/>
              </a:solidFill>
              <a:effectLst/>
              <a:uLnTx/>
              <a:uFillTx/>
              <a:latin typeface="Garamond" pitchFamily="18" charset="0"/>
              <a:ea typeface="宋体" pitchFamily="2" charset="-122"/>
              <a:cs typeface="+mn-cs"/>
            </a:endParaRPr>
          </a:p>
        </p:txBody>
      </p:sp>
      <p:sp>
        <p:nvSpPr>
          <p:cNvPr id="98" name="Rectangle 30"/>
          <p:cNvSpPr>
            <a:spLocks noChangeArrowheads="1"/>
          </p:cNvSpPr>
          <p:nvPr/>
        </p:nvSpPr>
        <p:spPr bwMode="auto">
          <a:xfrm>
            <a:off x="2068513" y="4148411"/>
            <a:ext cx="2105025" cy="319087"/>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1003#</a:t>
            </a:r>
            <a:r>
              <a:rPr kumimoji="0" lang="zh-CN" altLang="en-US"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职工记录</a:t>
            </a:r>
          </a:p>
        </p:txBody>
      </p:sp>
      <p:sp>
        <p:nvSpPr>
          <p:cNvPr id="99" name="Rectangle 31"/>
          <p:cNvSpPr>
            <a:spLocks noChangeArrowheads="1"/>
          </p:cNvSpPr>
          <p:nvPr/>
        </p:nvSpPr>
        <p:spPr bwMode="auto">
          <a:xfrm>
            <a:off x="4178300" y="4148411"/>
            <a:ext cx="2109788" cy="319087"/>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charset="0"/>
              <a:ea typeface="黑体" panose="02010609060101010101" pitchFamily="49" charset="-122"/>
              <a:cs typeface="+mn-cs"/>
            </a:endParaRPr>
          </a:p>
        </p:txBody>
      </p:sp>
      <p:sp>
        <p:nvSpPr>
          <p:cNvPr id="100" name="Rectangle 32"/>
          <p:cNvSpPr>
            <a:spLocks noChangeArrowheads="1"/>
          </p:cNvSpPr>
          <p:nvPr/>
        </p:nvSpPr>
        <p:spPr bwMode="auto">
          <a:xfrm>
            <a:off x="6300788" y="4148411"/>
            <a:ext cx="2105025" cy="319087"/>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3104#</a:t>
            </a:r>
            <a:r>
              <a:rPr kumimoji="0" lang="zh-CN" altLang="en-US"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职工记录</a:t>
            </a:r>
          </a:p>
        </p:txBody>
      </p:sp>
      <p:sp>
        <p:nvSpPr>
          <p:cNvPr id="101" name="Rectangle 33"/>
          <p:cNvSpPr>
            <a:spLocks noChangeArrowheads="1"/>
          </p:cNvSpPr>
          <p:nvPr/>
        </p:nvSpPr>
        <p:spPr bwMode="auto">
          <a:xfrm>
            <a:off x="2068513" y="4651648"/>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white"/>
                </a:solidFill>
                <a:effectLst/>
                <a:uLnTx/>
                <a:uFillTx/>
                <a:latin typeface="Arial" charset="0"/>
                <a:ea typeface="黑体" panose="02010609060101010101" pitchFamily="49" charset="-122"/>
                <a:cs typeface="+mn-cs"/>
              </a:rPr>
              <a:t>┆</a:t>
            </a:r>
          </a:p>
        </p:txBody>
      </p:sp>
      <p:sp>
        <p:nvSpPr>
          <p:cNvPr id="102" name="Rectangle 34"/>
          <p:cNvSpPr>
            <a:spLocks noChangeArrowheads="1"/>
          </p:cNvSpPr>
          <p:nvPr/>
        </p:nvSpPr>
        <p:spPr bwMode="auto">
          <a:xfrm>
            <a:off x="4178300" y="4651648"/>
            <a:ext cx="2109788"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white"/>
                </a:solidFill>
                <a:effectLst/>
                <a:uLnTx/>
                <a:uFillTx/>
                <a:latin typeface="Arial" charset="0"/>
                <a:ea typeface="黑体" panose="02010609060101010101" pitchFamily="49" charset="-122"/>
                <a:cs typeface="+mn-cs"/>
              </a:rPr>
              <a:t>┆</a:t>
            </a:r>
          </a:p>
        </p:txBody>
      </p:sp>
      <p:sp>
        <p:nvSpPr>
          <p:cNvPr id="103" name="Rectangle 35"/>
          <p:cNvSpPr>
            <a:spLocks noChangeArrowheads="1"/>
          </p:cNvSpPr>
          <p:nvPr/>
        </p:nvSpPr>
        <p:spPr bwMode="auto">
          <a:xfrm>
            <a:off x="6300788" y="4651648"/>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white"/>
                </a:solidFill>
                <a:effectLst/>
                <a:uLnTx/>
                <a:uFillTx/>
                <a:latin typeface="Arial" charset="0"/>
                <a:ea typeface="黑体" panose="02010609060101010101" pitchFamily="49" charset="-122"/>
                <a:cs typeface="+mn-cs"/>
              </a:rPr>
              <a:t>┆</a:t>
            </a:r>
          </a:p>
        </p:txBody>
      </p:sp>
      <p:sp>
        <p:nvSpPr>
          <p:cNvPr id="104" name="Rectangle 36"/>
          <p:cNvSpPr>
            <a:spLocks noChangeArrowheads="1"/>
          </p:cNvSpPr>
          <p:nvPr/>
        </p:nvSpPr>
        <p:spPr bwMode="auto">
          <a:xfrm>
            <a:off x="2068513" y="5156473"/>
            <a:ext cx="2105025" cy="319088"/>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3103#</a:t>
            </a:r>
            <a:r>
              <a:rPr kumimoji="0" lang="zh-CN" altLang="en-US" sz="2000" b="0" i="0" u="none" strike="noStrike" kern="0" cap="none" spc="0" normalizeH="0" baseline="0" noProof="0">
                <a:ln>
                  <a:noFill/>
                </a:ln>
                <a:solidFill>
                  <a:prstClr val="white"/>
                </a:solidFill>
                <a:effectLst/>
                <a:uLnTx/>
                <a:uFillTx/>
                <a:latin typeface="Garamond" pitchFamily="18" charset="0"/>
                <a:ea typeface="黑体" panose="02010609060101010101" pitchFamily="49" charset="-122"/>
                <a:cs typeface="+mn-cs"/>
              </a:rPr>
              <a:t>职工记录</a:t>
            </a:r>
          </a:p>
        </p:txBody>
      </p:sp>
      <p:sp>
        <p:nvSpPr>
          <p:cNvPr id="105" name="Rectangle 37"/>
          <p:cNvSpPr>
            <a:spLocks noChangeArrowheads="1"/>
          </p:cNvSpPr>
          <p:nvPr/>
        </p:nvSpPr>
        <p:spPr bwMode="auto">
          <a:xfrm>
            <a:off x="4178300" y="5156473"/>
            <a:ext cx="2109788"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zh-CN" altLang="en-US" sz="3200" b="0" i="0" u="none" strike="noStrike" kern="0" cap="none" spc="0" normalizeH="0" baseline="-25000" noProof="0">
              <a:ln>
                <a:noFill/>
              </a:ln>
              <a:solidFill>
                <a:prstClr val="white"/>
              </a:solidFill>
              <a:effectLst/>
              <a:uLnTx/>
              <a:uFillTx/>
              <a:latin typeface="Garamond" pitchFamily="18" charset="0"/>
              <a:ea typeface="宋体" pitchFamily="2" charset="-122"/>
              <a:cs typeface="+mn-cs"/>
            </a:endParaRPr>
          </a:p>
        </p:txBody>
      </p:sp>
      <p:sp>
        <p:nvSpPr>
          <p:cNvPr id="106" name="Rectangle 38"/>
          <p:cNvSpPr>
            <a:spLocks noChangeArrowheads="1"/>
          </p:cNvSpPr>
          <p:nvPr/>
        </p:nvSpPr>
        <p:spPr bwMode="auto">
          <a:xfrm>
            <a:off x="6300788" y="5156473"/>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endParaRPr kumimoji="0" lang="zh-CN" altLang="en-US" sz="3200" b="0" i="0" u="none" strike="noStrike" kern="0" cap="none" spc="0" normalizeH="0" baseline="-25000" noProof="0">
              <a:ln>
                <a:noFill/>
              </a:ln>
              <a:solidFill>
                <a:prstClr val="white"/>
              </a:solidFill>
              <a:effectLst/>
              <a:uLnTx/>
              <a:uFillTx/>
              <a:latin typeface="Garamond" pitchFamily="18" charset="0"/>
              <a:ea typeface="宋体" pitchFamily="2" charset="-122"/>
              <a:cs typeface="+mn-cs"/>
            </a:endParaRPr>
          </a:p>
        </p:txBody>
      </p:sp>
      <p:sp>
        <p:nvSpPr>
          <p:cNvPr id="107" name="Freeform 39"/>
          <p:cNvSpPr>
            <a:spLocks/>
          </p:cNvSpPr>
          <p:nvPr/>
        </p:nvSpPr>
        <p:spPr bwMode="auto">
          <a:xfrm>
            <a:off x="1346200" y="2252936"/>
            <a:ext cx="7281863" cy="1031875"/>
          </a:xfrm>
          <a:custGeom>
            <a:avLst/>
            <a:gdLst/>
            <a:ahLst/>
            <a:cxnLst>
              <a:cxn ang="0">
                <a:pos x="0" y="84"/>
              </a:cxn>
              <a:cxn ang="0">
                <a:pos x="215" y="0"/>
              </a:cxn>
              <a:cxn ang="0">
                <a:pos x="4417" y="13"/>
              </a:cxn>
              <a:cxn ang="0">
                <a:pos x="4579" y="150"/>
              </a:cxn>
              <a:cxn ang="0">
                <a:pos x="4587" y="559"/>
              </a:cxn>
              <a:cxn ang="0">
                <a:pos x="4433" y="650"/>
              </a:cxn>
            </a:cxnLst>
            <a:rect l="0" t="0" r="r" b="b"/>
            <a:pathLst>
              <a:path w="4587" h="650">
                <a:moveTo>
                  <a:pt x="0" y="84"/>
                </a:moveTo>
                <a:lnTo>
                  <a:pt x="215" y="0"/>
                </a:lnTo>
                <a:lnTo>
                  <a:pt x="4417" y="13"/>
                </a:lnTo>
                <a:lnTo>
                  <a:pt x="4579" y="150"/>
                </a:lnTo>
                <a:lnTo>
                  <a:pt x="4587" y="559"/>
                </a:lnTo>
                <a:lnTo>
                  <a:pt x="4433" y="650"/>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108" name="Freeform 40"/>
          <p:cNvSpPr>
            <a:spLocks/>
          </p:cNvSpPr>
          <p:nvPr/>
        </p:nvSpPr>
        <p:spPr bwMode="auto">
          <a:xfrm>
            <a:off x="1331913" y="3027636"/>
            <a:ext cx="831850" cy="257175"/>
          </a:xfrm>
          <a:custGeom>
            <a:avLst/>
            <a:gdLst/>
            <a:ahLst/>
            <a:cxnLst>
              <a:cxn ang="0">
                <a:pos x="0" y="0"/>
              </a:cxn>
              <a:cxn ang="0">
                <a:pos x="289" y="162"/>
              </a:cxn>
              <a:cxn ang="0">
                <a:pos x="524" y="154"/>
              </a:cxn>
            </a:cxnLst>
            <a:rect l="0" t="0" r="r" b="b"/>
            <a:pathLst>
              <a:path w="524" h="162">
                <a:moveTo>
                  <a:pt x="0" y="0"/>
                </a:moveTo>
                <a:lnTo>
                  <a:pt x="289" y="162"/>
                </a:lnTo>
                <a:lnTo>
                  <a:pt x="524" y="154"/>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109" name="Freeform 41"/>
          <p:cNvSpPr>
            <a:spLocks/>
          </p:cNvSpPr>
          <p:nvPr/>
        </p:nvSpPr>
        <p:spPr bwMode="auto">
          <a:xfrm>
            <a:off x="1331913" y="2468836"/>
            <a:ext cx="3201987" cy="239712"/>
          </a:xfrm>
          <a:custGeom>
            <a:avLst/>
            <a:gdLst/>
            <a:ahLst/>
            <a:cxnLst>
              <a:cxn ang="0">
                <a:pos x="0" y="229"/>
              </a:cxn>
              <a:cxn ang="0">
                <a:pos x="264" y="0"/>
              </a:cxn>
              <a:cxn ang="0">
                <a:pos x="1952" y="0"/>
              </a:cxn>
              <a:cxn ang="0">
                <a:pos x="2017" y="146"/>
              </a:cxn>
            </a:cxnLst>
            <a:rect l="0" t="0" r="r" b="b"/>
            <a:pathLst>
              <a:path w="2017" h="229">
                <a:moveTo>
                  <a:pt x="0" y="229"/>
                </a:moveTo>
                <a:lnTo>
                  <a:pt x="264" y="0"/>
                </a:lnTo>
                <a:lnTo>
                  <a:pt x="1952" y="0"/>
                </a:lnTo>
                <a:lnTo>
                  <a:pt x="2017" y="146"/>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110" name="Freeform 42"/>
          <p:cNvSpPr>
            <a:spLocks/>
          </p:cNvSpPr>
          <p:nvPr/>
        </p:nvSpPr>
        <p:spPr bwMode="auto">
          <a:xfrm>
            <a:off x="1331913" y="3356248"/>
            <a:ext cx="865187" cy="900113"/>
          </a:xfrm>
          <a:custGeom>
            <a:avLst/>
            <a:gdLst/>
            <a:ahLst/>
            <a:cxnLst>
              <a:cxn ang="0">
                <a:pos x="0" y="0"/>
              </a:cxn>
              <a:cxn ang="0">
                <a:pos x="289" y="158"/>
              </a:cxn>
              <a:cxn ang="0">
                <a:pos x="281" y="467"/>
              </a:cxn>
              <a:cxn ang="0">
                <a:pos x="545" y="567"/>
              </a:cxn>
            </a:cxnLst>
            <a:rect l="0" t="0" r="r" b="b"/>
            <a:pathLst>
              <a:path w="545" h="567">
                <a:moveTo>
                  <a:pt x="0" y="0"/>
                </a:moveTo>
                <a:lnTo>
                  <a:pt x="289" y="158"/>
                </a:lnTo>
                <a:lnTo>
                  <a:pt x="281" y="467"/>
                </a:lnTo>
                <a:lnTo>
                  <a:pt x="545" y="567"/>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111" name="Freeform 43"/>
          <p:cNvSpPr>
            <a:spLocks/>
          </p:cNvSpPr>
          <p:nvPr/>
        </p:nvSpPr>
        <p:spPr bwMode="auto">
          <a:xfrm>
            <a:off x="1331913" y="4940573"/>
            <a:ext cx="755650" cy="374650"/>
          </a:xfrm>
          <a:custGeom>
            <a:avLst/>
            <a:gdLst/>
            <a:ahLst/>
            <a:cxnLst>
              <a:cxn ang="0">
                <a:pos x="0" y="0"/>
              </a:cxn>
              <a:cxn ang="0">
                <a:pos x="367" y="236"/>
              </a:cxn>
              <a:cxn ang="0">
                <a:pos x="476" y="224"/>
              </a:cxn>
            </a:cxnLst>
            <a:rect l="0" t="0" r="r" b="b"/>
            <a:pathLst>
              <a:path w="476" h="236">
                <a:moveTo>
                  <a:pt x="0" y="0"/>
                </a:moveTo>
                <a:lnTo>
                  <a:pt x="367" y="236"/>
                </a:lnTo>
                <a:lnTo>
                  <a:pt x="476" y="224"/>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112" name="Rectangle 44"/>
          <p:cNvSpPr>
            <a:spLocks noChangeArrowheads="1"/>
          </p:cNvSpPr>
          <p:nvPr/>
        </p:nvSpPr>
        <p:spPr bwMode="auto">
          <a:xfrm>
            <a:off x="539750" y="3516586"/>
            <a:ext cx="863600" cy="939800"/>
          </a:xfrm>
          <a:prstGeom prst="rect">
            <a:avLst/>
          </a:prstGeom>
          <a:solidFill>
            <a:srgbClr val="0000CC"/>
          </a:solidFill>
          <a:ln w="12700" cap="sq" algn="ctr">
            <a:solidFill>
              <a:srgbClr val="FFFFFF"/>
            </a:solidFill>
            <a:miter lim="800000"/>
            <a:headEnd/>
            <a:tailEnd/>
          </a:ln>
        </p:spPr>
        <p:txBody>
          <a:bodyPr wrap="none" lIns="72000" tIns="72000" rIns="72000" bIns="72000" anchor="ct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prstClr val="white"/>
                </a:solidFill>
                <a:effectLst/>
                <a:uLnTx/>
                <a:uFillTx/>
                <a:latin typeface="Arial" charset="0"/>
                <a:ea typeface="黑体" panose="02010609060101010101" pitchFamily="49" charset="-122"/>
                <a:cs typeface="+mn-cs"/>
              </a:rPr>
              <a:t>┆</a:t>
            </a:r>
          </a:p>
        </p:txBody>
      </p:sp>
      <p:sp>
        <p:nvSpPr>
          <p:cNvPr id="113" name="Freeform 45"/>
          <p:cNvSpPr>
            <a:spLocks/>
          </p:cNvSpPr>
          <p:nvPr/>
        </p:nvSpPr>
        <p:spPr bwMode="auto">
          <a:xfrm>
            <a:off x="1338263" y="3808686"/>
            <a:ext cx="2900362" cy="809625"/>
          </a:xfrm>
          <a:custGeom>
            <a:avLst/>
            <a:gdLst/>
            <a:ahLst/>
            <a:cxnLst>
              <a:cxn ang="0">
                <a:pos x="0" y="510"/>
              </a:cxn>
              <a:cxn ang="0">
                <a:pos x="138" y="436"/>
              </a:cxn>
              <a:cxn ang="0">
                <a:pos x="138" y="0"/>
              </a:cxn>
              <a:cxn ang="0">
                <a:pos x="1827" y="0"/>
              </a:cxn>
            </a:cxnLst>
            <a:rect l="0" t="0" r="r" b="b"/>
            <a:pathLst>
              <a:path w="1827" h="510">
                <a:moveTo>
                  <a:pt x="0" y="510"/>
                </a:moveTo>
                <a:lnTo>
                  <a:pt x="138" y="436"/>
                </a:lnTo>
                <a:lnTo>
                  <a:pt x="138" y="0"/>
                </a:lnTo>
                <a:lnTo>
                  <a:pt x="1827" y="0"/>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114" name="Rectangle 46"/>
          <p:cNvSpPr txBox="1">
            <a:spLocks noChangeArrowheads="1"/>
          </p:cNvSpPr>
          <p:nvPr/>
        </p:nvSpPr>
        <p:spPr bwMode="auto">
          <a:xfrm>
            <a:off x="217488" y="898674"/>
            <a:ext cx="8496300" cy="9461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55600" marR="0" lvl="0" indent="-355600" algn="l" defTabSz="914400" rtl="0" eaLnBrk="1" fontAlgn="base" latinLnBrk="0" hangingPunct="1">
              <a:lnSpc>
                <a:spcPct val="100000"/>
              </a:lnSpc>
              <a:spcBef>
                <a:spcPct val="0"/>
              </a:spcBef>
              <a:spcAft>
                <a:spcPct val="40000"/>
              </a:spcAft>
              <a:buClr>
                <a:srgbClr val="66FF33"/>
              </a:buClr>
              <a:buSzPct val="85000"/>
              <a:buFont typeface="Wingdings" pitchFamily="2" charset="2"/>
              <a:buBlip>
                <a:blip r:embed="rId2"/>
              </a:buBlip>
              <a:tabLst/>
              <a:defRPr/>
            </a:pPr>
            <a:r>
              <a:rPr kumimoji="0"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pitchFamily="34" charset="0"/>
                <a:ea typeface="微软雅黑" pitchFamily="34" charset="-122"/>
                <a:cs typeface="+mn-cs"/>
              </a:rPr>
              <a:t>索引类似于书的目录，可实现按某些属性值对数据记录进行快速定位，从而提高数据查询效率。</a:t>
            </a:r>
          </a:p>
        </p:txBody>
      </p:sp>
      <p:sp>
        <p:nvSpPr>
          <p:cNvPr id="45" name="Rectangle 20"/>
          <p:cNvSpPr>
            <a:spLocks noChangeArrowheads="1"/>
          </p:cNvSpPr>
          <p:nvPr/>
        </p:nvSpPr>
        <p:spPr bwMode="auto">
          <a:xfrm>
            <a:off x="619769" y="5988323"/>
            <a:ext cx="760959" cy="514738"/>
          </a:xfrm>
          <a:prstGeom prst="rect">
            <a:avLst/>
          </a:prstGeom>
          <a:noFill/>
          <a:ln w="12700" cap="sq" algn="ctr">
            <a:noFill/>
            <a:miter lim="800000"/>
            <a:headEnd/>
            <a:tailEnd/>
          </a:ln>
          <a:effectLst/>
        </p:spPr>
        <p:txBody>
          <a:bodyPr wrap="none" lIns="72000" tIns="72000" rIns="72000" bIns="72000">
            <a:spAutoFit/>
          </a:bodyP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smtClean="0">
                <a:ln>
                  <a:noFill/>
                </a:ln>
                <a:solidFill>
                  <a:srgbClr val="FFCC00"/>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索引</a:t>
            </a:r>
            <a:endParaRPr kumimoji="0" lang="zh-CN" altLang="en-US" sz="2400" b="0" i="0" u="none" strike="noStrike" kern="0" cap="none" spc="0" normalizeH="0" baseline="0" noProof="0" dirty="0">
              <a:ln>
                <a:noFill/>
              </a:ln>
              <a:solidFill>
                <a:srgbClr val="FFCC00"/>
              </a:solidFill>
              <a:effectLst>
                <a:outerShdw blurRad="38100" dist="38100" dir="2700000" algn="tl">
                  <a:srgbClr val="000000"/>
                </a:outerShdw>
              </a:effectLst>
              <a:uLnTx/>
              <a:uFillTx/>
              <a:latin typeface="Times New Roman" pitchFamily="18" charset="0"/>
              <a:ea typeface="黑体" panose="02010609060101010101" pitchFamily="49" charset="-122"/>
              <a:cs typeface="+mn-cs"/>
            </a:endParaRPr>
          </a:p>
        </p:txBody>
      </p:sp>
    </p:spTree>
    <p:extLst>
      <p:ext uri="{BB962C8B-B14F-4D97-AF65-F5344CB8AC3E}">
        <p14:creationId xmlns:p14="http://schemas.microsoft.com/office/powerpoint/2010/main" val="459919581"/>
      </p:ext>
    </p:extLst>
  </p:cSld>
  <p:clrMapOvr>
    <a:masterClrMapping/>
  </p:clrMapOvr>
  <p:transition spd="slow">
    <p:strips/>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79512"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anchor="ctr" anchorCtr="0" compatLnSpc="1">
            <a:prstTxWarp prst="textNoShape">
              <a:avLst/>
            </a:prstTxWarp>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smtClean="0">
                <a:ln>
                  <a:noFill/>
                </a:ln>
                <a:solidFill>
                  <a:srgbClr val="FFFFCC"/>
                </a:solidFill>
                <a:effectLst>
                  <a:outerShdw blurRad="38100" dist="38100" dir="2700000" algn="tl">
                    <a:srgbClr val="000000"/>
                  </a:outerShdw>
                </a:effectLst>
                <a:uLnTx/>
                <a:uFillTx/>
                <a:cs typeface="+mn-cs"/>
              </a:rPr>
              <a:t>建立索引</a:t>
            </a:r>
          </a:p>
        </p:txBody>
      </p:sp>
      <p:sp>
        <p:nvSpPr>
          <p:cNvPr id="8" name="Rectangle 3"/>
          <p:cNvSpPr txBox="1">
            <a:spLocks noChangeArrowheads="1"/>
          </p:cNvSpPr>
          <p:nvPr/>
        </p:nvSpPr>
        <p:spPr bwMode="auto">
          <a:xfrm>
            <a:off x="334963" y="1052736"/>
            <a:ext cx="9781653" cy="4549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lvl="0" eaLnBrk="1" hangingPunct="1">
              <a:lnSpc>
                <a:spcPct val="120000"/>
              </a:lnSpc>
              <a:spcAft>
                <a:spcPct val="0"/>
              </a:spcAft>
              <a:buNone/>
              <a:defRPr/>
            </a:pPr>
            <a:r>
              <a:rPr kumimoji="0" lang="en-US" altLang="en-US" sz="30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CREATE</a:t>
            </a:r>
            <a:r>
              <a:rPr kumimoji="0" lang="en-US" altLang="en-US"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a:t>
            </a:r>
            <a:r>
              <a:rPr kumimoji="0" lang="en-US" altLang="zh-CN"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a:t>
            </a:r>
            <a:r>
              <a:rPr kumimoji="0" lang="en-US" altLang="en-US" sz="3000" dirty="0" smtClean="0">
                <a:latin typeface="Arial" charset="0"/>
              </a:rPr>
              <a:t>[UNIQUE </a:t>
            </a:r>
            <a:r>
              <a:rPr kumimoji="0" lang="en-US" altLang="en-US" sz="3000" dirty="0">
                <a:latin typeface="Arial" charset="0"/>
              </a:rPr>
              <a:t>| FULLTEXT | SPATIAL] </a:t>
            </a:r>
            <a:r>
              <a:rPr kumimoji="0" lang="en-US" altLang="zh-CN"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a:t>
            </a:r>
          </a:p>
          <a:p>
            <a:pPr marL="342900" marR="0" lvl="0" indent="-342900" algn="l" defTabSz="914400" rtl="0" eaLnBrk="1" fontAlgn="base" latinLnBrk="0" hangingPunct="1">
              <a:lnSpc>
                <a:spcPct val="120000"/>
              </a:lnSpc>
              <a:spcBef>
                <a:spcPct val="0"/>
              </a:spcBef>
              <a:spcAft>
                <a:spcPct val="0"/>
              </a:spcAft>
              <a:buClr>
                <a:srgbClr val="66FF33"/>
              </a:buClr>
              <a:buSzPct val="85000"/>
              <a:buFont typeface="Wingdings" pitchFamily="2" charset="2"/>
              <a:buNone/>
              <a:tabLst/>
              <a:defRPr/>
            </a:pPr>
            <a:r>
              <a:rPr kumimoji="0" lang="en-US" altLang="zh-CN" sz="30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    </a:t>
            </a:r>
            <a:r>
              <a:rPr kumimoji="0" lang="en-US" altLang="en-US" sz="30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INDEX</a:t>
            </a:r>
            <a:r>
              <a:rPr kumimoji="0" lang="en-US" altLang="zh-CN" sz="30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 </a:t>
            </a:r>
            <a:r>
              <a:rPr kumimoji="0" lang="en-US" altLang="en-US"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&lt;</a:t>
            </a:r>
            <a:r>
              <a:rPr kumimoji="0" lang="en-US" altLang="en-US" sz="3000" b="0" i="1" u="none" strike="noStrike" kern="1200" cap="none" spc="0" normalizeH="0" baseline="0" noProof="0" dirty="0" err="1"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索引名</a:t>
            </a:r>
            <a:r>
              <a:rPr kumimoji="0" lang="en-US" altLang="en-US"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a:t>
            </a:r>
            <a:endParaRPr kumimoji="0" lang="en-US" altLang="zh-CN"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a:p>
            <a:pPr lvl="0" eaLnBrk="1" hangingPunct="1">
              <a:lnSpc>
                <a:spcPct val="120000"/>
              </a:lnSpc>
              <a:spcAft>
                <a:spcPct val="0"/>
              </a:spcAft>
              <a:buNone/>
              <a:defRPr/>
            </a:pPr>
            <a:r>
              <a:rPr kumimoji="0" lang="en-US" altLang="zh-CN" sz="3000" b="1" i="0" u="none" strike="noStrike" kern="1200" cap="none" spc="0" normalizeH="0" baseline="0" noProof="0" dirty="0" smtClean="0">
                <a:ln>
                  <a:noFill/>
                </a:ln>
                <a:solidFill>
                  <a:srgbClr val="FFFF66"/>
                </a:solidFill>
                <a:effectLst>
                  <a:outerShdw blurRad="38100" dist="38100" dir="2700000" algn="tl">
                    <a:srgbClr val="000000"/>
                  </a:outerShdw>
                </a:effectLst>
                <a:uLnTx/>
                <a:uFillTx/>
                <a:latin typeface="Arial" charset="0"/>
                <a:ea typeface="微软雅黑" pitchFamily="34" charset="-122"/>
                <a:cs typeface="+mn-cs"/>
              </a:rPr>
              <a:t>    </a:t>
            </a:r>
            <a:r>
              <a:rPr kumimoji="0" lang="en-US" altLang="en-US" sz="3000" b="1" i="0" u="none" strike="noStrike" kern="1200" cap="none" spc="0" normalizeH="0" baseline="0" noProof="0" dirty="0" smtClean="0">
                <a:ln>
                  <a:noFill/>
                </a:ln>
                <a:solidFill>
                  <a:srgbClr val="FFFF66"/>
                </a:solidFill>
                <a:effectLst>
                  <a:outerShdw blurRad="38100" dist="38100" dir="2700000" algn="tl">
                    <a:srgbClr val="000000"/>
                  </a:outerShdw>
                </a:effectLst>
                <a:uLnTx/>
                <a:uFillTx/>
                <a:latin typeface="Arial" charset="0"/>
                <a:ea typeface="微软雅黑" pitchFamily="34" charset="-122"/>
                <a:cs typeface="+mn-cs"/>
              </a:rPr>
              <a:t>ON</a:t>
            </a:r>
            <a:r>
              <a:rPr kumimoji="0" lang="en-US" altLang="en-US"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&lt;</a:t>
            </a:r>
            <a:r>
              <a:rPr kumimoji="0" lang="en-US" altLang="en-US" sz="3000" b="0" i="1" u="none" strike="noStrike" kern="1200" cap="none" spc="0" normalizeH="0" baseline="0" noProof="0" dirty="0" err="1"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表名</a:t>
            </a:r>
            <a:r>
              <a:rPr kumimoji="0" lang="en-US" altLang="en-US"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 </a:t>
            </a:r>
            <a:r>
              <a:rPr kumimoji="0" lang="en-US" altLang="en-US" sz="3000" b="1" i="0" u="none" strike="noStrike" kern="1200" cap="none" spc="0" normalizeH="0" baseline="0" noProof="0" dirty="0" smtClean="0">
                <a:ln>
                  <a:noFill/>
                </a:ln>
                <a:solidFill>
                  <a:srgbClr val="FFFF66"/>
                </a:solidFill>
                <a:effectLst>
                  <a:outerShdw blurRad="38100" dist="38100" dir="2700000" algn="tl">
                    <a:srgbClr val="000000"/>
                  </a:outerShdw>
                </a:effectLst>
                <a:uLnTx/>
                <a:uFillTx/>
                <a:latin typeface="Arial" charset="0"/>
                <a:ea typeface="微软雅黑" pitchFamily="34" charset="-122"/>
                <a:cs typeface="+mn-cs"/>
              </a:rPr>
              <a:t>(</a:t>
            </a:r>
            <a:r>
              <a:rPr kumimoji="0" lang="en-US" altLang="en-US" sz="30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&lt;</a:t>
            </a:r>
            <a:r>
              <a:rPr kumimoji="0" lang="en-US" altLang="en-US" sz="3000" b="0" i="1" u="none" strike="noStrike" kern="1200" cap="none" spc="0" normalizeH="0" baseline="0" noProof="0" dirty="0" err="1"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列名</a:t>
            </a:r>
            <a:r>
              <a:rPr kumimoji="0" lang="en-US" altLang="en-US" sz="30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a:t>
            </a:r>
            <a:r>
              <a:rPr kumimoji="0" lang="zh-CN" altLang="en-US" sz="30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长度</a:t>
            </a:r>
            <a:r>
              <a:rPr kumimoji="0" lang="en-US" altLang="en-US" sz="30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a:t>
            </a:r>
            <a:r>
              <a:rPr kumimoji="0" lang="en-US" altLang="zh-CN" sz="30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a:t>
            </a:r>
            <a:r>
              <a:rPr kumimoji="0" lang="en-US" altLang="en-US" sz="30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a:t>
            </a:r>
            <a:r>
              <a:rPr kumimoji="0" lang="en-US" altLang="en-US" sz="3000" b="0" i="1" u="none" strike="noStrike" kern="1200" cap="none" spc="0" normalizeH="0" baseline="0" noProof="0" dirty="0" err="1"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次序</a:t>
            </a:r>
            <a:r>
              <a:rPr kumimoji="0" lang="en-US" altLang="en-US" sz="3000" i="1" dirty="0" smtClean="0">
                <a:latin typeface="Arial" charset="0"/>
              </a:rPr>
              <a:t>][,…]</a:t>
            </a:r>
            <a:r>
              <a:rPr kumimoji="0" lang="en-US" altLang="en-US" sz="3000" b="1" i="0" u="none" strike="noStrike" kern="1200" cap="none" spc="0" normalizeH="0" baseline="0" noProof="0" dirty="0" smtClean="0">
                <a:ln>
                  <a:noFill/>
                </a:ln>
                <a:solidFill>
                  <a:srgbClr val="FFFF66"/>
                </a:solidFill>
                <a:effectLst>
                  <a:outerShdw blurRad="38100" dist="38100" dir="2700000" algn="tl">
                    <a:srgbClr val="000000"/>
                  </a:outerShdw>
                </a:effectLst>
                <a:uLnTx/>
                <a:uFillTx/>
                <a:latin typeface="Arial" charset="0"/>
                <a:ea typeface="微软雅黑" pitchFamily="34" charset="-122"/>
                <a:cs typeface="+mn-cs"/>
              </a:rPr>
              <a:t>)</a:t>
            </a:r>
            <a:endParaRPr kumimoji="0" lang="en-US" altLang="en-US"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p:txBody>
      </p:sp>
      <p:sp>
        <p:nvSpPr>
          <p:cNvPr id="9" name="Rectangle 4"/>
          <p:cNvSpPr>
            <a:spLocks noChangeArrowheads="1"/>
          </p:cNvSpPr>
          <p:nvPr/>
        </p:nvSpPr>
        <p:spPr bwMode="auto">
          <a:xfrm>
            <a:off x="515043" y="3140968"/>
            <a:ext cx="8135938" cy="487362"/>
          </a:xfrm>
          <a:prstGeom prst="rect">
            <a:avLst/>
          </a:prstGeom>
          <a:noFill/>
          <a:ln w="12700" cap="sq">
            <a:noFill/>
            <a:miter lim="800000"/>
            <a:headEnd/>
            <a:tailEnd/>
          </a:ln>
          <a:effectLst/>
        </p:spPr>
        <p:txBody>
          <a:bodyPr lIns="0" tIns="0" rIns="0" bIns="0"/>
          <a:lstStyle/>
          <a:p>
            <a:pPr marL="185738" marR="0" lvl="0" indent="-185738" algn="l" defTabSz="914400" rtl="0" eaLnBrk="1" fontAlgn="auto" latinLnBrk="0" hangingPunct="1">
              <a:lnSpc>
                <a:spcPct val="100000"/>
              </a:lnSpc>
              <a:spcBef>
                <a:spcPts val="0"/>
              </a:spcBef>
              <a:spcAft>
                <a:spcPct val="50000"/>
              </a:spcAft>
              <a:buClr>
                <a:srgbClr val="FFFFFF"/>
              </a:buClr>
              <a:buSzTx/>
              <a:buFontTx/>
              <a:buChar char="•"/>
              <a:tabLst/>
              <a:defRPr/>
            </a:pPr>
            <a:r>
              <a:rPr kumimoji="0" lang="en-US" altLang="zh-CN" sz="2800" b="0" i="0" u="none" strike="noStrike" kern="0" cap="none" spc="0" normalizeH="0" baseline="0" noProof="0" dirty="0" smtClean="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cs typeface="+mn-cs"/>
              </a:rPr>
              <a:t>UNIQUE</a:t>
            </a:r>
            <a:r>
              <a:rPr kumimoji="0" lang="zh-CN" altLang="en-US" sz="28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表明建立</a:t>
            </a:r>
            <a:r>
              <a:rPr kumimoji="0" lang="zh-CN" altLang="en-US" sz="2800" b="0" i="0" u="none" strike="noStrike" kern="0" cap="none" spc="0" normalizeH="0" baseline="0" noProof="0" dirty="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cs typeface="+mn-cs"/>
              </a:rPr>
              <a:t>唯一索引</a:t>
            </a:r>
            <a:r>
              <a:rPr kumimoji="0" lang="zh-CN" altLang="en-US" sz="28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，即每一个索引值只对应唯一的数据记录</a:t>
            </a:r>
            <a:r>
              <a:rPr kumimoji="0" lang="zh-CN" altLang="en-US" sz="2800" b="0" i="0" u="none" strike="noStrike" kern="0" cap="none" spc="0" normalizeH="0" baseline="0" noProof="0" dirty="0" smtClean="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en-US" altLang="zh-CN" sz="2800" b="0" i="0" u="none" strike="noStrike" kern="0" cap="none" spc="0" normalizeH="0" baseline="0" noProof="0" dirty="0" smtClean="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endParaRPr>
          </a:p>
          <a:p>
            <a:pPr marL="185738" indent="-185738" fontAlgn="auto">
              <a:spcBef>
                <a:spcPts val="0"/>
              </a:spcBef>
              <a:spcAft>
                <a:spcPct val="50000"/>
              </a:spcAft>
              <a:buClr>
                <a:srgbClr val="FFFFFF"/>
              </a:buClr>
              <a:buSzTx/>
              <a:buFontTx/>
              <a:buChar char="•"/>
              <a:defRPr/>
            </a:pPr>
            <a:r>
              <a:rPr kumimoji="0" lang="en-US" altLang="zh-CN" sz="2800" kern="0" dirty="0">
                <a:solidFill>
                  <a:srgbClr val="99FF66"/>
                </a:solidFill>
                <a:effectLst>
                  <a:outerShdw blurRad="38100" dist="38100" dir="2700000" algn="tl">
                    <a:srgbClr val="000000"/>
                  </a:outerShdw>
                </a:effectLst>
                <a:latin typeface="Franklin Gothic Book"/>
                <a:ea typeface="黑体" panose="02010609060101010101" pitchFamily="49" charset="-122"/>
              </a:rPr>
              <a:t>FULLTEXT</a:t>
            </a:r>
            <a:r>
              <a:rPr kumimoji="0" lang="zh-CN" altLang="en-US" sz="2800" kern="0" dirty="0" smtClean="0">
                <a:solidFill>
                  <a:prstClr val="white"/>
                </a:solidFill>
                <a:effectLst>
                  <a:outerShdw blurRad="38100" dist="38100" dir="2700000" algn="tl">
                    <a:srgbClr val="000000"/>
                  </a:outerShdw>
                </a:effectLst>
                <a:latin typeface="Franklin Gothic Book"/>
                <a:ea typeface="黑体" panose="02010609060101010101" pitchFamily="49" charset="-122"/>
              </a:rPr>
              <a:t>表示建立</a:t>
            </a:r>
            <a:r>
              <a:rPr kumimoji="0" lang="zh-CN" altLang="en-US" sz="2800" kern="0" dirty="0" smtClean="0">
                <a:solidFill>
                  <a:srgbClr val="99FF66"/>
                </a:solidFill>
                <a:effectLst>
                  <a:outerShdw blurRad="38100" dist="38100" dir="2700000" algn="tl">
                    <a:srgbClr val="000000"/>
                  </a:outerShdw>
                </a:effectLst>
                <a:latin typeface="Franklin Gothic Book"/>
                <a:ea typeface="黑体" panose="02010609060101010101" pitchFamily="49" charset="-122"/>
              </a:rPr>
              <a:t>全文索引</a:t>
            </a:r>
            <a:r>
              <a:rPr kumimoji="0" lang="zh-CN" altLang="en-US" sz="2800" kern="0" dirty="0" smtClean="0">
                <a:solidFill>
                  <a:prstClr val="white"/>
                </a:solidFill>
                <a:effectLst>
                  <a:outerShdw blurRad="38100" dist="38100" dir="2700000" algn="tl">
                    <a:srgbClr val="000000"/>
                  </a:outerShdw>
                </a:effectLst>
                <a:latin typeface="Franklin Gothic Book"/>
                <a:ea typeface="黑体" panose="02010609060101010101" pitchFamily="49" charset="-122"/>
              </a:rPr>
              <a:t>。</a:t>
            </a:r>
            <a:endParaRPr kumimoji="0" lang="en-US" altLang="zh-CN" sz="2800" kern="0" dirty="0" smtClean="0">
              <a:solidFill>
                <a:prstClr val="white"/>
              </a:solidFill>
              <a:effectLst>
                <a:outerShdw blurRad="38100" dist="38100" dir="2700000" algn="tl">
                  <a:srgbClr val="000000"/>
                </a:outerShdw>
              </a:effectLst>
              <a:latin typeface="Franklin Gothic Book"/>
              <a:ea typeface="黑体" panose="02010609060101010101" pitchFamily="49" charset="-122"/>
            </a:endParaRPr>
          </a:p>
          <a:p>
            <a:pPr marL="185738" indent="-185738" fontAlgn="auto">
              <a:spcBef>
                <a:spcPts val="0"/>
              </a:spcBef>
              <a:spcAft>
                <a:spcPct val="50000"/>
              </a:spcAft>
              <a:buClr>
                <a:srgbClr val="FFFFFF"/>
              </a:buClr>
              <a:buSzTx/>
              <a:buFontTx/>
              <a:buChar char="•"/>
              <a:defRPr/>
            </a:pPr>
            <a:r>
              <a:rPr kumimoji="0" lang="en-US" altLang="zh-CN" sz="2800" kern="0" dirty="0" smtClean="0">
                <a:solidFill>
                  <a:srgbClr val="99FF66"/>
                </a:solidFill>
                <a:effectLst>
                  <a:outerShdw blurRad="38100" dist="38100" dir="2700000" algn="tl">
                    <a:srgbClr val="000000"/>
                  </a:outerShdw>
                </a:effectLst>
                <a:latin typeface="Franklin Gothic Book"/>
                <a:ea typeface="黑体" panose="02010609060101010101" pitchFamily="49" charset="-122"/>
              </a:rPr>
              <a:t>SPATIAL</a:t>
            </a:r>
            <a:r>
              <a:rPr kumimoji="0" lang="zh-CN" altLang="en-US" sz="2800" kern="0" dirty="0" smtClean="0">
                <a:solidFill>
                  <a:prstClr val="white"/>
                </a:solidFill>
                <a:effectLst>
                  <a:outerShdw blurRad="38100" dist="38100" dir="2700000" algn="tl">
                    <a:srgbClr val="000000"/>
                  </a:outerShdw>
                </a:effectLst>
                <a:latin typeface="Franklin Gothic Book"/>
                <a:ea typeface="黑体" panose="02010609060101010101" pitchFamily="49" charset="-122"/>
              </a:rPr>
              <a:t>表示建立</a:t>
            </a:r>
            <a:r>
              <a:rPr kumimoji="0" lang="zh-CN" altLang="en-US" sz="2800" kern="0" dirty="0" smtClean="0">
                <a:solidFill>
                  <a:srgbClr val="99FF66"/>
                </a:solidFill>
                <a:effectLst>
                  <a:outerShdw blurRad="38100" dist="38100" dir="2700000" algn="tl">
                    <a:srgbClr val="000000"/>
                  </a:outerShdw>
                </a:effectLst>
                <a:latin typeface="Franklin Gothic Book"/>
                <a:ea typeface="黑体" panose="02010609060101010101" pitchFamily="49" charset="-122"/>
              </a:rPr>
              <a:t>空间索引</a:t>
            </a:r>
            <a:r>
              <a:rPr kumimoji="0" lang="zh-CN" altLang="en-US" sz="2800" kern="0" dirty="0" smtClean="0">
                <a:solidFill>
                  <a:prstClr val="white"/>
                </a:solidFill>
                <a:effectLst>
                  <a:outerShdw blurRad="38100" dist="38100" dir="2700000" algn="tl">
                    <a:srgbClr val="000000"/>
                  </a:outerShdw>
                </a:effectLst>
                <a:latin typeface="Franklin Gothic Book"/>
                <a:ea typeface="黑体" panose="02010609060101010101" pitchFamily="49" charset="-122"/>
              </a:rPr>
              <a:t>。</a:t>
            </a:r>
            <a:endParaRPr kumimoji="0" lang="en-US" altLang="zh-CN" sz="2800" kern="0" dirty="0" smtClean="0">
              <a:solidFill>
                <a:prstClr val="white"/>
              </a:solidFill>
              <a:effectLst>
                <a:outerShdw blurRad="38100" dist="38100" dir="2700000" algn="tl">
                  <a:srgbClr val="000000"/>
                </a:outerShdw>
              </a:effectLst>
              <a:latin typeface="Franklin Gothic Book"/>
              <a:ea typeface="黑体" panose="02010609060101010101" pitchFamily="49" charset="-122"/>
            </a:endParaRPr>
          </a:p>
          <a:p>
            <a:pPr marL="185738" indent="-185738" fontAlgn="auto">
              <a:spcBef>
                <a:spcPts val="0"/>
              </a:spcBef>
              <a:spcAft>
                <a:spcPct val="50000"/>
              </a:spcAft>
              <a:buClr>
                <a:srgbClr val="FFFFFF"/>
              </a:buClr>
              <a:buSzTx/>
              <a:buFontTx/>
              <a:buChar char="•"/>
              <a:defRPr/>
            </a:pPr>
            <a:r>
              <a:rPr kumimoji="0" lang="zh-CN" altLang="en-US" sz="2800" kern="0" dirty="0" smtClean="0">
                <a:solidFill>
                  <a:prstClr val="white"/>
                </a:solidFill>
                <a:effectLst>
                  <a:outerShdw blurRad="38100" dist="38100" dir="2700000" algn="tl">
                    <a:srgbClr val="000000"/>
                  </a:outerShdw>
                </a:effectLst>
                <a:latin typeface="Franklin Gothic Book"/>
                <a:ea typeface="黑体" panose="02010609060101010101" pitchFamily="49" charset="-122"/>
              </a:rPr>
              <a:t>长度默认</a:t>
            </a:r>
            <a:r>
              <a:rPr kumimoji="0" lang="zh-CN" altLang="en-US" sz="2800" kern="0" dirty="0">
                <a:solidFill>
                  <a:prstClr val="white"/>
                </a:solidFill>
                <a:effectLst>
                  <a:outerShdw blurRad="38100" dist="38100" dir="2700000" algn="tl">
                    <a:srgbClr val="000000"/>
                  </a:outerShdw>
                </a:effectLst>
                <a:latin typeface="Franklin Gothic Book"/>
                <a:ea typeface="黑体" panose="02010609060101010101" pitchFamily="49" charset="-122"/>
              </a:rPr>
              <a:t>为整个字段值</a:t>
            </a:r>
            <a:endParaRPr kumimoji="0" lang="en-US" altLang="zh-CN" sz="28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endParaRPr>
          </a:p>
          <a:p>
            <a:pPr marL="185738" marR="0" lvl="0" indent="-185738" algn="l" defTabSz="914400" rtl="0" eaLnBrk="1" fontAlgn="auto" latinLnBrk="0" hangingPunct="1">
              <a:lnSpc>
                <a:spcPct val="100000"/>
              </a:lnSpc>
              <a:spcBef>
                <a:spcPts val="0"/>
              </a:spcBef>
              <a:spcAft>
                <a:spcPct val="50000"/>
              </a:spcAft>
              <a:buClr>
                <a:srgbClr val="FFFFFF"/>
              </a:buClr>
              <a:buSzTx/>
              <a:buFontTx/>
              <a:buChar char="•"/>
              <a:tabLst/>
              <a:defRPr/>
            </a:pPr>
            <a:r>
              <a:rPr kumimoji="0" lang="zh-CN" altLang="en-US" sz="2800" b="0" i="0" u="none" strike="noStrike" kern="0" cap="none" spc="0" normalizeH="0" baseline="0" noProof="0" dirty="0" smtClean="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次序</a:t>
            </a:r>
            <a:r>
              <a:rPr kumimoji="0" lang="zh-CN" altLang="en-US" sz="28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可取</a:t>
            </a:r>
            <a:r>
              <a:rPr kumimoji="0" lang="en-US" altLang="zh-CN" sz="2800" b="0" i="0" u="none" strike="noStrike" kern="0" cap="none" spc="0" normalizeH="0" baseline="0" noProof="0" dirty="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cs typeface="+mn-cs"/>
              </a:rPr>
              <a:t>ASC</a:t>
            </a:r>
            <a:r>
              <a:rPr kumimoji="0" lang="en-US" altLang="zh-CN" sz="28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8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升序)或</a:t>
            </a:r>
            <a:r>
              <a:rPr kumimoji="0" lang="en-US" altLang="zh-CN" sz="2800" b="0" i="0" u="none" strike="noStrike" kern="0" cap="none" spc="0" normalizeH="0" baseline="0" noProof="0" dirty="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cs typeface="+mn-cs"/>
              </a:rPr>
              <a:t>DESC</a:t>
            </a:r>
            <a:r>
              <a:rPr kumimoji="0" lang="en-US" altLang="zh-CN" sz="28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8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降序)，缺省为</a:t>
            </a:r>
            <a:r>
              <a:rPr kumimoji="0" lang="en-US" altLang="zh-CN" sz="2800" b="0" i="0" u="none" strike="noStrike" kern="0" cap="none" spc="0" normalizeH="0" baseline="0" noProof="0" dirty="0">
                <a:ln>
                  <a:noFill/>
                </a:ln>
                <a:solidFill>
                  <a:prstClr val="white"/>
                </a:solidFill>
                <a:effectLst>
                  <a:outerShdw blurRad="38100" dist="38100" dir="2700000" algn="tl">
                    <a:srgbClr val="000000"/>
                  </a:outerShdw>
                </a:effectLst>
                <a:uLnTx/>
                <a:uFillTx/>
                <a:latin typeface="Franklin Gothic Book"/>
                <a:ea typeface="黑体" panose="02010609060101010101" pitchFamily="49" charset="-122"/>
                <a:cs typeface="+mn-cs"/>
              </a:rPr>
              <a:t>ASC。</a:t>
            </a:r>
          </a:p>
        </p:txBody>
      </p:sp>
    </p:spTree>
    <p:extLst>
      <p:ext uri="{BB962C8B-B14F-4D97-AF65-F5344CB8AC3E}">
        <p14:creationId xmlns:p14="http://schemas.microsoft.com/office/powerpoint/2010/main" val="129116703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79512"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anchor="ctr" anchorCtr="0" compatLnSpc="1">
            <a:prstTxWarp prst="textNoShape">
              <a:avLst/>
            </a:prstTxWarp>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smtClean="0">
                <a:ln>
                  <a:noFill/>
                </a:ln>
                <a:solidFill>
                  <a:srgbClr val="FFFFCC"/>
                </a:solidFill>
                <a:effectLst>
                  <a:outerShdw blurRad="38100" dist="38100" dir="2700000" algn="tl">
                    <a:srgbClr val="000000"/>
                  </a:outerShdw>
                </a:effectLst>
                <a:uLnTx/>
                <a:uFillTx/>
                <a:cs typeface="+mn-cs"/>
              </a:rPr>
              <a:t>建立索引</a:t>
            </a:r>
          </a:p>
        </p:txBody>
      </p:sp>
      <p:sp>
        <p:nvSpPr>
          <p:cNvPr id="7" name="Rectangle 3"/>
          <p:cNvSpPr txBox="1">
            <a:spLocks noChangeArrowheads="1"/>
          </p:cNvSpPr>
          <p:nvPr/>
        </p:nvSpPr>
        <p:spPr bwMode="auto">
          <a:xfrm>
            <a:off x="395536" y="1183853"/>
            <a:ext cx="8497441" cy="5197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100000"/>
              </a:lnSpc>
              <a:spcBef>
                <a:spcPct val="0"/>
              </a:spcBef>
              <a:spcAft>
                <a:spcPct val="15000"/>
              </a:spcAft>
              <a:buClr>
                <a:srgbClr val="66FF33"/>
              </a:buClr>
              <a:buSzPct val="85000"/>
              <a:buFont typeface="Wingdings" pitchFamily="2" charset="2"/>
              <a:buNone/>
              <a:tabLst/>
              <a:defRPr/>
            </a:pPr>
            <a:r>
              <a:rPr kumimoji="0" lang="zh-CN" altLang="en-US" sz="2600" kern="0" noProof="0" dirty="0" smtClean="0">
                <a:solidFill>
                  <a:srgbClr val="66FF66"/>
                </a:solidFill>
                <a:latin typeface="+mj-ea"/>
                <a:ea typeface="+mj-ea"/>
              </a:rPr>
              <a:t>为</a:t>
            </a:r>
            <a:r>
              <a:rPr kumimoji="0" lang="en-US" altLang="zh-CN" sz="2600" kern="0" dirty="0">
                <a:solidFill>
                  <a:srgbClr val="66FF66"/>
                </a:solidFill>
                <a:latin typeface="+mj-ea"/>
                <a:ea typeface="+mj-ea"/>
              </a:rPr>
              <a:t>T</a:t>
            </a:r>
            <a:r>
              <a:rPr kumimoji="0" lang="en-US" altLang="zh-CN" sz="2600" kern="0" noProof="0" dirty="0" err="1" smtClean="0">
                <a:solidFill>
                  <a:srgbClr val="66FF66"/>
                </a:solidFill>
                <a:latin typeface="+mj-ea"/>
                <a:ea typeface="+mj-ea"/>
              </a:rPr>
              <a:t>eacher</a:t>
            </a:r>
            <a:r>
              <a:rPr kumimoji="0" lang="zh-CN" altLang="en-US" sz="2600" kern="0" noProof="0" dirty="0" smtClean="0">
                <a:solidFill>
                  <a:srgbClr val="66FF66"/>
                </a:solidFill>
                <a:latin typeface="+mj-ea"/>
                <a:ea typeface="+mj-ea"/>
              </a:rPr>
              <a:t>表</a:t>
            </a:r>
            <a:r>
              <a:rPr kumimoji="0" lang="zh-CN" altLang="en-US" sz="26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mj-ea"/>
                <a:ea typeface="+mj-ea"/>
              </a:rPr>
              <a:t>建立按工号升序排列的单列</a:t>
            </a:r>
            <a:r>
              <a:rPr kumimoji="0" lang="zh-CN" altLang="en-US" sz="2600" kern="0" dirty="0" smtClean="0">
                <a:solidFill>
                  <a:srgbClr val="66FF66"/>
                </a:solidFill>
                <a:latin typeface="+mj-ea"/>
                <a:ea typeface="+mj-ea"/>
              </a:rPr>
              <a:t>唯一</a:t>
            </a:r>
            <a:r>
              <a:rPr kumimoji="0" lang="zh-CN" altLang="en-US" sz="26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mj-ea"/>
                <a:ea typeface="+mj-ea"/>
              </a:rPr>
              <a:t>索引</a:t>
            </a:r>
            <a:r>
              <a:rPr kumimoji="0" lang="en-US" altLang="zh-CN" sz="2600" b="0" i="0" u="none" strike="noStrike" kern="0" cap="none" spc="0" normalizeH="0" baseline="0" noProof="0" dirty="0" err="1" smtClean="0">
                <a:ln>
                  <a:noFill/>
                </a:ln>
                <a:solidFill>
                  <a:srgbClr val="66FF66"/>
                </a:solidFill>
                <a:effectLst>
                  <a:outerShdw blurRad="38100" dist="38100" dir="2700000" algn="tl">
                    <a:srgbClr val="000000"/>
                  </a:outerShdw>
                </a:effectLst>
                <a:uLnTx/>
                <a:uFillTx/>
                <a:latin typeface="+mj-ea"/>
                <a:ea typeface="+mj-ea"/>
              </a:rPr>
              <a:t>idxGH</a:t>
            </a:r>
            <a:r>
              <a:rPr kumimoji="0" lang="zh-CN" altLang="en-US" sz="26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mj-ea"/>
                <a:ea typeface="+mj-ea"/>
              </a:rPr>
              <a:t>：</a:t>
            </a:r>
          </a:p>
          <a:p>
            <a:pPr lvl="0" eaLnBrk="1" hangingPunct="1">
              <a:spcAft>
                <a:spcPct val="15000"/>
              </a:spcAft>
              <a:buNone/>
              <a:defRPr/>
            </a:pPr>
            <a:r>
              <a:rPr kumimoji="1" lang="en-US" altLang="zh-CN" sz="2800" b="1" i="0" u="none" strike="noStrike" kern="0" cap="none" spc="0" normalizeH="0" baseline="0" noProof="0" dirty="0" smtClean="0">
                <a:ln>
                  <a:noFill/>
                </a:ln>
                <a:solidFill>
                  <a:srgbClr val="FFCC00"/>
                </a:solidFill>
                <a:effectLst>
                  <a:outerShdw blurRad="38100" dist="38100" dir="2700000" algn="tl">
                    <a:srgbClr val="000000"/>
                  </a:outerShdw>
                </a:effectLst>
                <a:uLnTx/>
                <a:uFillTx/>
                <a:latin typeface="+mj-ea"/>
                <a:ea typeface="+mj-ea"/>
              </a:rPr>
              <a:t>CREATE</a:t>
            </a:r>
            <a:r>
              <a:rPr lang="en-US" altLang="zh-CN" kern="0" dirty="0">
                <a:solidFill>
                  <a:srgbClr val="FFFFCC"/>
                </a:solidFill>
                <a:latin typeface="+mj-ea"/>
                <a:ea typeface="+mj-ea"/>
              </a:rPr>
              <a:t> UNIQUE </a:t>
            </a:r>
            <a:r>
              <a:rPr kumimoji="1" lang="en-US" altLang="zh-CN" sz="2800" b="1" i="0" u="none" strike="noStrike" kern="0" cap="none" spc="0" normalizeH="0" baseline="0" noProof="0" dirty="0" smtClean="0">
                <a:ln>
                  <a:noFill/>
                </a:ln>
                <a:solidFill>
                  <a:srgbClr val="FFCC00"/>
                </a:solidFill>
                <a:effectLst>
                  <a:outerShdw blurRad="38100" dist="38100" dir="2700000" algn="tl">
                    <a:srgbClr val="000000"/>
                  </a:outerShdw>
                </a:effectLst>
                <a:uLnTx/>
                <a:uFillTx/>
                <a:latin typeface="+mj-ea"/>
                <a:ea typeface="+mj-ea"/>
              </a:rPr>
              <a:t>INDEX</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 </a:t>
            </a:r>
            <a:r>
              <a:rPr kumimoji="1" lang="en-US" altLang="zh-CN" sz="2800" b="0" i="0" u="none" strike="noStrike" kern="0" cap="none" spc="0" normalizeH="0" baseline="0" noProof="0" dirty="0" err="1" smtClean="0">
                <a:ln>
                  <a:noFill/>
                </a:ln>
                <a:solidFill>
                  <a:srgbClr val="FFFFCC"/>
                </a:solidFill>
                <a:effectLst>
                  <a:outerShdw blurRad="38100" dist="38100" dir="2700000" algn="tl">
                    <a:srgbClr val="000000"/>
                  </a:outerShdw>
                </a:effectLst>
                <a:uLnTx/>
                <a:uFillTx/>
                <a:latin typeface="+mj-ea"/>
                <a:ea typeface="+mj-ea"/>
              </a:rPr>
              <a:t>idxGH</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  </a:t>
            </a:r>
          </a:p>
          <a:p>
            <a:pPr lvl="0" eaLnBrk="1" hangingPunct="1">
              <a:spcAft>
                <a:spcPct val="15000"/>
              </a:spcAft>
              <a:buNone/>
              <a:defRPr/>
            </a:pPr>
            <a:r>
              <a:rPr lang="en-US" altLang="zh-CN" kern="0" dirty="0">
                <a:solidFill>
                  <a:srgbClr val="FFFFCC"/>
                </a:solidFill>
                <a:latin typeface="+mj-ea"/>
                <a:ea typeface="+mj-ea"/>
              </a:rPr>
              <a:t> </a:t>
            </a:r>
            <a:r>
              <a:rPr lang="en-US" altLang="zh-CN" kern="0" dirty="0" smtClean="0">
                <a:solidFill>
                  <a:srgbClr val="FFFFCC"/>
                </a:solidFill>
                <a:latin typeface="+mj-ea"/>
                <a:ea typeface="+mj-ea"/>
              </a:rPr>
              <a:t>   </a:t>
            </a:r>
            <a:r>
              <a:rPr kumimoji="1" lang="en-US" altLang="zh-CN" sz="2800" b="1" i="0" u="none" strike="noStrike" kern="0" cap="none" spc="0" normalizeH="0" baseline="0" noProof="0" dirty="0" smtClean="0">
                <a:ln>
                  <a:noFill/>
                </a:ln>
                <a:solidFill>
                  <a:srgbClr val="FFCC00"/>
                </a:solidFill>
                <a:effectLst>
                  <a:outerShdw blurRad="38100" dist="38100" dir="2700000" algn="tl">
                    <a:srgbClr val="000000"/>
                  </a:outerShdw>
                </a:effectLst>
                <a:uLnTx/>
                <a:uFillTx/>
                <a:latin typeface="+mj-ea"/>
                <a:ea typeface="+mj-ea"/>
              </a:rPr>
              <a:t>ON</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 Teacher(</a:t>
            </a:r>
            <a:r>
              <a:rPr kumimoji="1" lang="zh-CN" altLang="en-US"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工号)</a:t>
            </a:r>
            <a:endParaRPr kumimoji="0"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endParaRPr>
          </a:p>
          <a:p>
            <a:pPr lvl="0" eaLnBrk="1" hangingPunct="1">
              <a:spcBef>
                <a:spcPts val="2400"/>
              </a:spcBef>
              <a:spcAft>
                <a:spcPct val="15000"/>
              </a:spcAft>
              <a:buNone/>
              <a:defRPr/>
            </a:pPr>
            <a:r>
              <a:rPr kumimoji="0" lang="zh-CN" altLang="en-US" sz="2600" kern="0" dirty="0">
                <a:solidFill>
                  <a:srgbClr val="66FF66"/>
                </a:solidFill>
                <a:latin typeface="+mj-ea"/>
                <a:ea typeface="+mj-ea"/>
              </a:rPr>
              <a:t>为</a:t>
            </a:r>
            <a:r>
              <a:rPr kumimoji="0" lang="en-US" altLang="zh-CN" sz="2600" kern="0" dirty="0">
                <a:solidFill>
                  <a:srgbClr val="66FF66"/>
                </a:solidFill>
                <a:latin typeface="+mj-ea"/>
                <a:ea typeface="+mj-ea"/>
              </a:rPr>
              <a:t>Teacher</a:t>
            </a:r>
            <a:r>
              <a:rPr kumimoji="0" lang="zh-CN" altLang="en-US" sz="2600" kern="0" dirty="0">
                <a:solidFill>
                  <a:srgbClr val="66FF66"/>
                </a:solidFill>
                <a:latin typeface="+mj-ea"/>
                <a:ea typeface="+mj-ea"/>
              </a:rPr>
              <a:t>表</a:t>
            </a:r>
            <a:r>
              <a:rPr kumimoji="0" lang="zh-CN" altLang="en-US" sz="26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mj-ea"/>
                <a:ea typeface="+mj-ea"/>
              </a:rPr>
              <a:t>建立按姓名降序排列的普通单列索引</a:t>
            </a:r>
            <a:r>
              <a:rPr kumimoji="0" lang="en-US" altLang="zh-CN" sz="2600" b="0" i="0" u="none" strike="noStrike" kern="0" cap="none" spc="0" normalizeH="0" baseline="0" noProof="0" dirty="0" err="1" smtClean="0">
                <a:ln>
                  <a:noFill/>
                </a:ln>
                <a:solidFill>
                  <a:srgbClr val="66FF66"/>
                </a:solidFill>
                <a:effectLst>
                  <a:outerShdw blurRad="38100" dist="38100" dir="2700000" algn="tl">
                    <a:srgbClr val="000000"/>
                  </a:outerShdw>
                </a:effectLst>
                <a:uLnTx/>
                <a:uFillTx/>
                <a:latin typeface="+mj-ea"/>
                <a:ea typeface="+mj-ea"/>
              </a:rPr>
              <a:t>idxXM</a:t>
            </a:r>
            <a:r>
              <a:rPr kumimoji="0" lang="zh-CN" altLang="en-US" sz="26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mj-ea"/>
                <a:ea typeface="+mj-ea"/>
              </a:rPr>
              <a:t>：</a:t>
            </a:r>
          </a:p>
          <a:p>
            <a:pPr marL="342900" marR="0" lvl="0" indent="-342900" algn="l" defTabSz="914400" rtl="0" eaLnBrk="1" fontAlgn="base" latinLnBrk="0" hangingPunct="1">
              <a:lnSpc>
                <a:spcPct val="100000"/>
              </a:lnSpc>
              <a:spcBef>
                <a:spcPct val="0"/>
              </a:spcBef>
              <a:spcAft>
                <a:spcPct val="15000"/>
              </a:spcAft>
              <a:buClr>
                <a:srgbClr val="66FF33"/>
              </a:buClr>
              <a:buSzPct val="85000"/>
              <a:buFont typeface="Wingdings" pitchFamily="2" charset="2"/>
              <a:buNone/>
              <a:tabLst/>
              <a:defRPr/>
            </a:pPr>
            <a:r>
              <a:rPr kumimoji="1" lang="en-US" altLang="zh-CN" sz="2800" b="1" i="0" u="none" strike="noStrike" kern="0" cap="none" spc="0" normalizeH="0" baseline="0" noProof="0" dirty="0" smtClean="0">
                <a:ln>
                  <a:noFill/>
                </a:ln>
                <a:solidFill>
                  <a:srgbClr val="FFCC00"/>
                </a:solidFill>
                <a:effectLst>
                  <a:outerShdw blurRad="38100" dist="38100" dir="2700000" algn="tl">
                    <a:srgbClr val="000000"/>
                  </a:outerShdw>
                </a:effectLst>
                <a:uLnTx/>
                <a:uFillTx/>
                <a:latin typeface="+mj-ea"/>
                <a:ea typeface="+mj-ea"/>
              </a:rPr>
              <a:t>CREATE</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 </a:t>
            </a:r>
            <a:r>
              <a:rPr kumimoji="1" lang="en-US" altLang="zh-CN" sz="2800" b="1" i="0" u="none" strike="noStrike" kern="0" cap="none" spc="0" normalizeH="0" baseline="0" noProof="0" dirty="0" smtClean="0">
                <a:ln>
                  <a:noFill/>
                </a:ln>
                <a:solidFill>
                  <a:srgbClr val="FFCC00"/>
                </a:solidFill>
                <a:effectLst>
                  <a:outerShdw blurRad="38100" dist="38100" dir="2700000" algn="tl">
                    <a:srgbClr val="000000"/>
                  </a:outerShdw>
                </a:effectLst>
                <a:uLnTx/>
                <a:uFillTx/>
                <a:latin typeface="+mj-ea"/>
                <a:ea typeface="+mj-ea"/>
              </a:rPr>
              <a:t>INDEX</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 </a:t>
            </a:r>
            <a:r>
              <a:rPr kumimoji="1" lang="en-US" altLang="zh-CN" sz="2800" b="0" i="0" u="none" strike="noStrike" kern="0" cap="none" spc="0" normalizeH="0" baseline="0" noProof="0" dirty="0" err="1" smtClean="0">
                <a:ln>
                  <a:noFill/>
                </a:ln>
                <a:solidFill>
                  <a:srgbClr val="FFFFCC"/>
                </a:solidFill>
                <a:effectLst>
                  <a:outerShdw blurRad="38100" dist="38100" dir="2700000" algn="tl">
                    <a:srgbClr val="000000"/>
                  </a:outerShdw>
                </a:effectLst>
                <a:uLnTx/>
                <a:uFillTx/>
                <a:latin typeface="+mj-ea"/>
                <a:ea typeface="+mj-ea"/>
              </a:rPr>
              <a:t>idxXM</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  </a:t>
            </a:r>
          </a:p>
          <a:p>
            <a:pPr marL="342900" marR="0" lvl="0" indent="-342900" algn="l" defTabSz="914400" rtl="0" eaLnBrk="1" fontAlgn="base" latinLnBrk="0" hangingPunct="1">
              <a:lnSpc>
                <a:spcPct val="100000"/>
              </a:lnSpc>
              <a:spcBef>
                <a:spcPct val="0"/>
              </a:spcBef>
              <a:spcAft>
                <a:spcPct val="15000"/>
              </a:spcAft>
              <a:buClr>
                <a:srgbClr val="66FF33"/>
              </a:buClr>
              <a:buSzPct val="85000"/>
              <a:buFont typeface="Wingdings" pitchFamily="2" charset="2"/>
              <a:buNone/>
              <a:tabLst/>
              <a:defRPr/>
            </a:pPr>
            <a:r>
              <a:rPr lang="en-US" altLang="zh-CN" kern="0" dirty="0">
                <a:solidFill>
                  <a:srgbClr val="FFFFCC"/>
                </a:solidFill>
                <a:latin typeface="+mj-ea"/>
                <a:ea typeface="+mj-ea"/>
              </a:rPr>
              <a:t> </a:t>
            </a:r>
            <a:r>
              <a:rPr lang="en-US" altLang="zh-CN" kern="0" dirty="0" smtClean="0">
                <a:solidFill>
                  <a:srgbClr val="FFFFCC"/>
                </a:solidFill>
                <a:latin typeface="+mj-ea"/>
                <a:ea typeface="+mj-ea"/>
              </a:rPr>
              <a:t>   </a:t>
            </a:r>
            <a:r>
              <a:rPr kumimoji="1" lang="en-US" altLang="zh-CN" sz="2800" b="1" i="0" u="none" strike="noStrike" kern="0" cap="none" spc="0" normalizeH="0" baseline="0" noProof="0" dirty="0" smtClean="0">
                <a:ln>
                  <a:noFill/>
                </a:ln>
                <a:solidFill>
                  <a:srgbClr val="FFCC00"/>
                </a:solidFill>
                <a:effectLst>
                  <a:outerShdw blurRad="38100" dist="38100" dir="2700000" algn="tl">
                    <a:srgbClr val="000000"/>
                  </a:outerShdw>
                </a:effectLst>
                <a:uLnTx/>
                <a:uFillTx/>
                <a:latin typeface="+mj-ea"/>
                <a:ea typeface="+mj-ea"/>
              </a:rPr>
              <a:t>ON</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 Teacher(</a:t>
            </a:r>
            <a:r>
              <a:rPr kumimoji="1" lang="zh-CN" altLang="en-US"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姓名 </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DESC)</a:t>
            </a:r>
            <a:endParaRPr kumimoji="0"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endParaRPr>
          </a:p>
          <a:p>
            <a:pPr marL="342900" marR="0" lvl="0" indent="-342900" algn="l" defTabSz="914400" rtl="0" eaLnBrk="1" fontAlgn="base" latinLnBrk="0" hangingPunct="1">
              <a:lnSpc>
                <a:spcPct val="100000"/>
              </a:lnSpc>
              <a:spcBef>
                <a:spcPts val="2400"/>
              </a:spcBef>
              <a:spcAft>
                <a:spcPct val="15000"/>
              </a:spcAft>
              <a:buClr>
                <a:srgbClr val="66FF33"/>
              </a:buClr>
              <a:buSzPct val="85000"/>
              <a:buFont typeface="Wingdings" pitchFamily="2" charset="2"/>
              <a:buNone/>
              <a:tabLst/>
              <a:defRPr/>
            </a:pPr>
            <a:r>
              <a:rPr kumimoji="0" lang="zh-CN" altLang="en-US" sz="2600" b="0" i="0" u="none" strike="noStrike" kern="0" cap="none" spc="0" normalizeH="0" baseline="0" noProof="0" dirty="0">
                <a:ln>
                  <a:noFill/>
                </a:ln>
                <a:solidFill>
                  <a:srgbClr val="66FF66"/>
                </a:solidFill>
                <a:effectLst>
                  <a:outerShdw blurRad="38100" dist="38100" dir="2700000" algn="tl">
                    <a:srgbClr val="000000"/>
                  </a:outerShdw>
                </a:effectLst>
                <a:uLnTx/>
                <a:uFillTx/>
                <a:latin typeface="+mj-ea"/>
                <a:ea typeface="+mj-ea"/>
              </a:rPr>
              <a:t>建立按工号升序，姓名降序排列的</a:t>
            </a:r>
            <a:r>
              <a:rPr kumimoji="0" lang="zh-CN" altLang="en-US" sz="26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mj-ea"/>
                <a:ea typeface="+mj-ea"/>
              </a:rPr>
              <a:t>普通多列索引</a:t>
            </a:r>
            <a:r>
              <a:rPr kumimoji="0" lang="zh-CN" altLang="en-US" sz="2600" b="0" i="0" u="none" strike="noStrike" kern="0" cap="none" spc="0" normalizeH="0" baseline="0" noProof="0" dirty="0">
                <a:ln>
                  <a:noFill/>
                </a:ln>
                <a:solidFill>
                  <a:srgbClr val="66FF66"/>
                </a:solidFill>
                <a:effectLst>
                  <a:outerShdw blurRad="38100" dist="38100" dir="2700000" algn="tl">
                    <a:srgbClr val="000000"/>
                  </a:outerShdw>
                </a:effectLst>
                <a:uLnTx/>
                <a:uFillTx/>
                <a:latin typeface="+mj-ea"/>
                <a:ea typeface="+mj-ea"/>
              </a:rPr>
              <a:t>：</a:t>
            </a:r>
          </a:p>
          <a:p>
            <a:pPr marL="342900" marR="0" lvl="0" indent="-342900" algn="l" defTabSz="914400" rtl="0" eaLnBrk="1" fontAlgn="base" latinLnBrk="0" hangingPunct="1">
              <a:lnSpc>
                <a:spcPct val="100000"/>
              </a:lnSpc>
              <a:spcBef>
                <a:spcPct val="0"/>
              </a:spcBef>
              <a:spcAft>
                <a:spcPct val="15000"/>
              </a:spcAft>
              <a:buClr>
                <a:srgbClr val="66FF33"/>
              </a:buClr>
              <a:buSzPct val="85000"/>
              <a:buFont typeface="Wingdings" pitchFamily="2" charset="2"/>
              <a:buNone/>
              <a:tabLst/>
              <a:defRPr/>
            </a:pPr>
            <a:r>
              <a:rPr kumimoji="1" lang="en-US" altLang="zh-CN" sz="2800" b="1" i="0" u="none" strike="noStrike" kern="0" cap="none" spc="0" normalizeH="0" baseline="0" noProof="0" dirty="0" smtClean="0">
                <a:ln>
                  <a:noFill/>
                </a:ln>
                <a:solidFill>
                  <a:srgbClr val="FFCC00"/>
                </a:solidFill>
                <a:effectLst>
                  <a:outerShdw blurRad="38100" dist="38100" dir="2700000" algn="tl">
                    <a:srgbClr val="000000"/>
                  </a:outerShdw>
                </a:effectLst>
                <a:uLnTx/>
                <a:uFillTx/>
                <a:latin typeface="+mj-ea"/>
                <a:ea typeface="+mj-ea"/>
              </a:rPr>
              <a:t>CREATE INDEX</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 </a:t>
            </a:r>
            <a:r>
              <a:rPr kumimoji="1" lang="en-US" altLang="zh-CN" sz="2800" b="0" i="0" u="none" strike="noStrike" kern="0" cap="none" spc="0" normalizeH="0" baseline="0" noProof="0" dirty="0" err="1" smtClean="0">
                <a:ln>
                  <a:noFill/>
                </a:ln>
                <a:solidFill>
                  <a:srgbClr val="FFFFCC"/>
                </a:solidFill>
                <a:effectLst>
                  <a:outerShdw blurRad="38100" dist="38100" dir="2700000" algn="tl">
                    <a:srgbClr val="000000"/>
                  </a:outerShdw>
                </a:effectLst>
                <a:uLnTx/>
                <a:uFillTx/>
                <a:latin typeface="+mj-ea"/>
                <a:ea typeface="+mj-ea"/>
              </a:rPr>
              <a:t>idx_GH_XM</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 </a:t>
            </a:r>
          </a:p>
          <a:p>
            <a:pPr marL="342900" marR="0" lvl="0" indent="-342900" algn="l" defTabSz="914400" rtl="0" eaLnBrk="1" fontAlgn="base" latinLnBrk="0" hangingPunct="1">
              <a:lnSpc>
                <a:spcPct val="100000"/>
              </a:lnSpc>
              <a:spcBef>
                <a:spcPct val="0"/>
              </a:spcBef>
              <a:spcAft>
                <a:spcPct val="15000"/>
              </a:spcAft>
              <a:buClr>
                <a:srgbClr val="66FF33"/>
              </a:buClr>
              <a:buSzPct val="85000"/>
              <a:buFont typeface="Wingdings" pitchFamily="2" charset="2"/>
              <a:buNone/>
              <a:tabLst/>
              <a:defRPr/>
            </a:pP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    </a:t>
            </a:r>
            <a:r>
              <a:rPr kumimoji="1" lang="en-US" altLang="zh-CN" sz="2800" b="1" i="0" u="none" strike="noStrike" kern="0" cap="none" spc="0" normalizeH="0" baseline="0" noProof="0" dirty="0" smtClean="0">
                <a:ln>
                  <a:noFill/>
                </a:ln>
                <a:solidFill>
                  <a:srgbClr val="FFCC00"/>
                </a:solidFill>
                <a:effectLst>
                  <a:outerShdw blurRad="38100" dist="38100" dir="2700000" algn="tl">
                    <a:srgbClr val="000000"/>
                  </a:outerShdw>
                </a:effectLst>
                <a:uLnTx/>
                <a:uFillTx/>
                <a:latin typeface="+mj-ea"/>
                <a:ea typeface="+mj-ea"/>
              </a:rPr>
              <a:t>ON </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Teacher (</a:t>
            </a:r>
            <a:r>
              <a:rPr kumimoji="1" lang="zh-CN" altLang="en-US"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工号 </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ASC，</a:t>
            </a:r>
            <a:r>
              <a:rPr kumimoji="1" lang="zh-CN" altLang="en-US"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姓名 </a:t>
            </a:r>
            <a:r>
              <a:rPr kumimoji="1"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mj-ea"/>
                <a:ea typeface="+mj-ea"/>
              </a:rPr>
              <a:t>DESC)</a:t>
            </a:r>
          </a:p>
        </p:txBody>
      </p:sp>
    </p:spTree>
    <p:extLst>
      <p:ext uri="{BB962C8B-B14F-4D97-AF65-F5344CB8AC3E}">
        <p14:creationId xmlns:p14="http://schemas.microsoft.com/office/powerpoint/2010/main" val="287671391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79512"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anchor="ctr" anchorCtr="0" compatLnSpc="1">
            <a:prstTxWarp prst="textNoShape">
              <a:avLst/>
            </a:prstTxWarp>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zh-CN" altLang="en-US" sz="4000" b="1" dirty="0">
                <a:solidFill>
                  <a:srgbClr val="FFFFCC"/>
                </a:solidFill>
                <a:effectLst>
                  <a:outerShdw blurRad="38100" dist="38100" dir="2700000" algn="tl">
                    <a:srgbClr val="000000"/>
                  </a:outerShdw>
                </a:effectLst>
                <a:cs typeface="+mn-cs"/>
              </a:rPr>
              <a:t>查看</a:t>
            </a:r>
            <a:r>
              <a:rPr kumimoji="0" lang="zh-CN" altLang="en-US" sz="4000" b="1" i="0" u="none" strike="noStrike" kern="1200" cap="none" spc="0" normalizeH="0" baseline="0" noProof="0" dirty="0" smtClean="0">
                <a:ln>
                  <a:noFill/>
                </a:ln>
                <a:solidFill>
                  <a:srgbClr val="FFFFCC"/>
                </a:solidFill>
                <a:effectLst>
                  <a:outerShdw blurRad="38100" dist="38100" dir="2700000" algn="tl">
                    <a:srgbClr val="000000"/>
                  </a:outerShdw>
                </a:effectLst>
                <a:uLnTx/>
                <a:uFillTx/>
                <a:cs typeface="+mn-cs"/>
              </a:rPr>
              <a:t>索引</a:t>
            </a:r>
          </a:p>
        </p:txBody>
      </p:sp>
      <p:sp>
        <p:nvSpPr>
          <p:cNvPr id="20" name="Rectangle 3"/>
          <p:cNvSpPr txBox="1">
            <a:spLocks noChangeArrowheads="1"/>
          </p:cNvSpPr>
          <p:nvPr/>
        </p:nvSpPr>
        <p:spPr bwMode="auto">
          <a:xfrm>
            <a:off x="466725" y="850759"/>
            <a:ext cx="8353425" cy="936104"/>
          </a:xfrm>
          <a:prstGeom prst="rect">
            <a:avLst/>
          </a:prstGeom>
          <a:noFill/>
          <a:ln w="12700" cap="sq">
            <a:noFill/>
            <a:miter lim="800000"/>
            <a:headEnd/>
            <a:tailEnd/>
          </a:ln>
          <a:effectLst/>
        </p:spPr>
        <p:txBody>
          <a:bodyPr lIns="0" tIns="0" rIns="0" bIns="0"/>
          <a:lstStyle>
            <a:defPPr>
              <a:defRPr lang="en-US"/>
            </a:defPPr>
            <a:lvl1pPr marL="185738" marR="0" lvl="0" indent="-185738" defTabSz="914400" eaLnBrk="1" fontAlgn="auto" latinLnBrk="0" hangingPunct="1">
              <a:lnSpc>
                <a:spcPct val="100000"/>
              </a:lnSpc>
              <a:spcBef>
                <a:spcPts val="0"/>
              </a:spcBef>
              <a:spcAft>
                <a:spcPct val="50000"/>
              </a:spcAft>
              <a:buClr>
                <a:srgbClr val="FFFFFF"/>
              </a:buClr>
              <a:buSzTx/>
              <a:buFontTx/>
              <a:buChar char="•"/>
              <a:tabLst/>
              <a:defRPr kumimoji="0" sz="2800" b="0" i="0" u="none" strike="noStrike" kern="0" cap="none" spc="0" normalizeH="0" baseline="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defRPr>
            </a:lvl1pPr>
          </a:lstStyle>
          <a:p>
            <a:r>
              <a:rPr lang="en-US" altLang="zh-CN" b="1" dirty="0">
                <a:solidFill>
                  <a:srgbClr val="FFCC00"/>
                </a:solidFill>
                <a:latin typeface="+mj-ea"/>
                <a:ea typeface="+mj-ea"/>
              </a:rPr>
              <a:t>SHOW </a:t>
            </a:r>
            <a:r>
              <a:rPr lang="en-US" altLang="zh-CN" b="1" dirty="0" smtClean="0">
                <a:solidFill>
                  <a:srgbClr val="FFCC00"/>
                </a:solidFill>
                <a:latin typeface="+mj-ea"/>
                <a:ea typeface="+mj-ea"/>
              </a:rPr>
              <a:t> CREATE  TABLE </a:t>
            </a:r>
            <a:r>
              <a:rPr lang="zh-CN" altLang="en-US" dirty="0">
                <a:solidFill>
                  <a:srgbClr val="CCFFCC"/>
                </a:solidFill>
                <a:latin typeface="Arial" pitchFamily="34" charset="0"/>
                <a:ea typeface="微软雅黑" pitchFamily="34" charset="-122"/>
              </a:rPr>
              <a:t>语句可以查看表的结构，同时也能查看表中存在哪些</a:t>
            </a:r>
            <a:r>
              <a:rPr lang="zh-CN" altLang="en-US" dirty="0" smtClean="0">
                <a:solidFill>
                  <a:srgbClr val="CCFFCC"/>
                </a:solidFill>
                <a:latin typeface="Arial" pitchFamily="34" charset="0"/>
                <a:ea typeface="微软雅黑" pitchFamily="34" charset="-122"/>
              </a:rPr>
              <a:t>索引</a:t>
            </a:r>
            <a:r>
              <a:rPr lang="zh-CN" altLang="en-US" dirty="0" smtClean="0">
                <a:latin typeface="+mj-ea"/>
                <a:ea typeface="+mj-ea"/>
              </a:rPr>
              <a:t>。</a:t>
            </a:r>
            <a:endParaRPr lang="en-US" altLang="zh-CN" dirty="0" smtClean="0">
              <a:latin typeface="+mj-ea"/>
              <a:ea typeface="+mj-ea"/>
            </a:endParaRPr>
          </a:p>
        </p:txBody>
      </p:sp>
      <p:sp>
        <p:nvSpPr>
          <p:cNvPr id="9" name="Rectangle 4"/>
          <p:cNvSpPr>
            <a:spLocks noChangeArrowheads="1"/>
          </p:cNvSpPr>
          <p:nvPr/>
        </p:nvSpPr>
        <p:spPr bwMode="auto">
          <a:xfrm>
            <a:off x="610656" y="1786863"/>
            <a:ext cx="8207375" cy="550748"/>
          </a:xfrm>
          <a:prstGeom prst="rect">
            <a:avLst/>
          </a:prstGeom>
          <a:noFill/>
          <a:ln w="9525">
            <a:noFill/>
            <a:miter lim="800000"/>
            <a:headEnd/>
            <a:tailEnd/>
          </a:ln>
          <a:effectLst/>
        </p:spPr>
        <p:txBody>
          <a:bodyPr/>
          <a:lstStyle/>
          <a:p>
            <a:pPr lvl="0" fontAlgn="auto">
              <a:spcBef>
                <a:spcPts val="0"/>
              </a:spcBef>
              <a:spcAft>
                <a:spcPct val="15000"/>
              </a:spcAft>
              <a:buClr>
                <a:srgbClr val="66FF33"/>
              </a:buClr>
              <a:buSzPct val="85000"/>
              <a:defRPr/>
            </a:pP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例如</a:t>
            </a:r>
            <a:r>
              <a:rPr kumimoji="0" lang="zh-CN" altLang="en-US" sz="2800" kern="0" dirty="0" smtClean="0">
                <a:solidFill>
                  <a:srgbClr val="66FF66"/>
                </a:solidFill>
                <a:effectLst>
                  <a:outerShdw blurRad="38100" dist="38100" dir="2700000" algn="tl">
                    <a:srgbClr val="000000"/>
                  </a:outerShdw>
                </a:effectLst>
                <a:latin typeface="Franklin Gothic Book"/>
                <a:ea typeface="黑体" panose="02010609060101010101" pitchFamily="49" charset="-122"/>
              </a:rPr>
              <a:t>查看</a:t>
            </a:r>
            <a:r>
              <a:rPr kumimoji="0" lang="en-US" altLang="zh-CN"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Teacher</a:t>
            </a:r>
            <a:r>
              <a:rPr kumimoji="0" lang="zh-CN" altLang="en-US" sz="2800" kern="0" dirty="0">
                <a:solidFill>
                  <a:srgbClr val="66FF66"/>
                </a:solidFill>
                <a:effectLst>
                  <a:outerShdw blurRad="38100" dist="38100" dir="2700000" algn="tl">
                    <a:srgbClr val="000000"/>
                  </a:outerShdw>
                </a:effectLst>
                <a:latin typeface="Franklin Gothic Book"/>
                <a:ea typeface="黑体" panose="02010609060101010101" pitchFamily="49" charset="-122"/>
              </a:rPr>
              <a:t>表</a:t>
            </a:r>
            <a:r>
              <a:rPr kumimoji="0" lang="zh-CN" altLang="en-US" sz="2800" kern="0" dirty="0" smtClean="0">
                <a:solidFill>
                  <a:srgbClr val="66FF66"/>
                </a:solidFill>
                <a:effectLst>
                  <a:outerShdw blurRad="38100" dist="38100" dir="2700000" algn="tl">
                    <a:srgbClr val="000000"/>
                  </a:outerShdw>
                </a:effectLst>
                <a:latin typeface="Franklin Gothic Book"/>
                <a:ea typeface="黑体" panose="02010609060101010101" pitchFamily="49" charset="-122"/>
              </a:rPr>
              <a:t>的定义和</a:t>
            </a: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索引：</a:t>
            </a:r>
            <a:endParaRPr lang="en-US" altLang="zh-CN" sz="2800" dirty="0">
              <a:latin typeface="+mj-ea"/>
            </a:endParaRPr>
          </a:p>
          <a:p>
            <a:pPr marL="0" indent="0">
              <a:buNone/>
            </a:pPr>
            <a:r>
              <a:rPr lang="en-US" altLang="zh-CN" sz="2800" dirty="0">
                <a:solidFill>
                  <a:srgbClr val="FFFFCC"/>
                </a:solidFill>
                <a:latin typeface="+mj-ea"/>
              </a:rPr>
              <a:t>show create table  teacher;</a:t>
            </a:r>
          </a:p>
          <a:p>
            <a:pPr lvl="0" fontAlgn="auto">
              <a:spcBef>
                <a:spcPts val="0"/>
              </a:spcBef>
              <a:spcAft>
                <a:spcPct val="15000"/>
              </a:spcAft>
              <a:buClr>
                <a:srgbClr val="66FF33"/>
              </a:buClr>
              <a:buSzPct val="85000"/>
              <a:defRPr/>
            </a:pPr>
            <a:endParaRPr kumimoji="0" lang="zh-CN" altLang="en-US" sz="2800" b="0" i="0" u="none" strike="noStrike" kern="0" cap="none" spc="0" normalizeH="0" baseline="0" noProof="0" dirty="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10" name="Rectangle 3"/>
          <p:cNvSpPr txBox="1">
            <a:spLocks noChangeArrowheads="1"/>
          </p:cNvSpPr>
          <p:nvPr/>
        </p:nvSpPr>
        <p:spPr bwMode="auto">
          <a:xfrm>
            <a:off x="451353" y="4149080"/>
            <a:ext cx="8353425" cy="1008112"/>
          </a:xfrm>
          <a:prstGeom prst="rect">
            <a:avLst/>
          </a:prstGeom>
          <a:noFill/>
          <a:ln w="12700" cap="sq">
            <a:noFill/>
            <a:miter lim="800000"/>
            <a:headEnd/>
            <a:tailEnd/>
          </a:ln>
          <a:effectLst/>
        </p:spPr>
        <p:txBody>
          <a:bodyPr lIns="0" tIns="0" rIns="0" bIns="0"/>
          <a:lstStyle>
            <a:defPPr>
              <a:defRPr lang="en-US"/>
            </a:defPPr>
            <a:lvl1pPr marL="185738" marR="0" lvl="0" indent="-185738" defTabSz="914400" eaLnBrk="1" fontAlgn="auto" latinLnBrk="0" hangingPunct="1">
              <a:lnSpc>
                <a:spcPct val="100000"/>
              </a:lnSpc>
              <a:spcBef>
                <a:spcPts val="0"/>
              </a:spcBef>
              <a:spcAft>
                <a:spcPct val="50000"/>
              </a:spcAft>
              <a:buClr>
                <a:srgbClr val="FFFFFF"/>
              </a:buClr>
              <a:buSzTx/>
              <a:buFontTx/>
              <a:buChar char="•"/>
              <a:tabLst/>
              <a:defRPr kumimoji="0" sz="2800" b="0" i="0" u="none" strike="noStrike" kern="0" cap="none" spc="0" normalizeH="0" baseline="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defRPr>
            </a:lvl1pPr>
          </a:lstStyle>
          <a:p>
            <a:r>
              <a:rPr lang="zh-CN" altLang="en-US" dirty="0">
                <a:solidFill>
                  <a:srgbClr val="CCFFCC"/>
                </a:solidFill>
                <a:latin typeface="Arial" pitchFamily="34" charset="0"/>
                <a:ea typeface="微软雅黑" pitchFamily="34" charset="-122"/>
              </a:rPr>
              <a:t>使用</a:t>
            </a:r>
            <a:r>
              <a:rPr lang="en-US" altLang="zh-CN" b="1" dirty="0">
                <a:solidFill>
                  <a:srgbClr val="FFCC00"/>
                </a:solidFill>
                <a:latin typeface="+mj-ea"/>
                <a:ea typeface="+mj-ea"/>
              </a:rPr>
              <a:t>EXPLAIN</a:t>
            </a:r>
            <a:r>
              <a:rPr lang="zh-CN" altLang="en-US" dirty="0">
                <a:solidFill>
                  <a:srgbClr val="CCFFCC"/>
                </a:solidFill>
                <a:latin typeface="Arial" pitchFamily="34" charset="0"/>
                <a:ea typeface="微软雅黑" pitchFamily="34" charset="-122"/>
              </a:rPr>
              <a:t>语句可以查看在执行</a:t>
            </a:r>
            <a:r>
              <a:rPr lang="en-US" altLang="zh-CN" dirty="0">
                <a:solidFill>
                  <a:srgbClr val="CCFFCC"/>
                </a:solidFill>
                <a:latin typeface="Arial" pitchFamily="34" charset="0"/>
                <a:ea typeface="微软雅黑" pitchFamily="34" charset="-122"/>
              </a:rPr>
              <a:t>SQL</a:t>
            </a:r>
            <a:r>
              <a:rPr lang="zh-CN" altLang="en-US" dirty="0">
                <a:solidFill>
                  <a:srgbClr val="CCFFCC"/>
                </a:solidFill>
                <a:latin typeface="Arial" pitchFamily="34" charset="0"/>
                <a:ea typeface="微软雅黑" pitchFamily="34" charset="-122"/>
              </a:rPr>
              <a:t>查询时索引的使用情况。</a:t>
            </a:r>
            <a:endParaRPr lang="en-US" altLang="en-US" dirty="0">
              <a:solidFill>
                <a:srgbClr val="CCFFCC"/>
              </a:solidFill>
              <a:latin typeface="Arial" pitchFamily="34" charset="0"/>
              <a:ea typeface="微软雅黑" pitchFamily="34" charset="-122"/>
            </a:endParaRPr>
          </a:p>
        </p:txBody>
      </p:sp>
      <p:sp>
        <p:nvSpPr>
          <p:cNvPr id="11" name="Rectangle 4"/>
          <p:cNvSpPr>
            <a:spLocks noChangeArrowheads="1"/>
          </p:cNvSpPr>
          <p:nvPr/>
        </p:nvSpPr>
        <p:spPr bwMode="auto">
          <a:xfrm>
            <a:off x="610656" y="5085184"/>
            <a:ext cx="8207375" cy="550748"/>
          </a:xfrm>
          <a:prstGeom prst="rect">
            <a:avLst/>
          </a:prstGeom>
          <a:noFill/>
          <a:ln w="9525">
            <a:noFill/>
            <a:miter lim="800000"/>
            <a:headEnd/>
            <a:tailEnd/>
          </a:ln>
          <a:effectLst/>
        </p:spPr>
        <p:txBody>
          <a:bodyPr/>
          <a:lstStyle/>
          <a:p>
            <a:pPr lvl="0" fontAlgn="auto">
              <a:spcBef>
                <a:spcPts val="0"/>
              </a:spcBef>
              <a:spcAft>
                <a:spcPct val="15000"/>
              </a:spcAft>
              <a:buClr>
                <a:srgbClr val="66FF33"/>
              </a:buClr>
              <a:buSzPct val="85000"/>
              <a:defRPr/>
            </a:pP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例如</a:t>
            </a:r>
            <a:r>
              <a:rPr kumimoji="0" lang="zh-CN" altLang="en-US" sz="2800" kern="0" dirty="0" smtClean="0">
                <a:solidFill>
                  <a:srgbClr val="66FF66"/>
                </a:solidFill>
                <a:effectLst>
                  <a:outerShdw blurRad="38100" dist="38100" dir="2700000" algn="tl">
                    <a:srgbClr val="000000"/>
                  </a:outerShdw>
                </a:effectLst>
                <a:latin typeface="Franklin Gothic Book"/>
                <a:ea typeface="黑体" panose="02010609060101010101" pitchFamily="49" charset="-122"/>
              </a:rPr>
              <a:t>查看按姓名查询某</a:t>
            </a:r>
            <a:r>
              <a:rPr kumimoji="0" lang="en-US" altLang="zh-CN" sz="2800" kern="0" dirty="0" smtClean="0">
                <a:solidFill>
                  <a:srgbClr val="66FF66"/>
                </a:solidFill>
                <a:effectLst>
                  <a:outerShdw blurRad="38100" dist="38100" dir="2700000" algn="tl">
                    <a:srgbClr val="000000"/>
                  </a:outerShdw>
                </a:effectLst>
                <a:latin typeface="Franklin Gothic Book"/>
                <a:ea typeface="黑体" panose="02010609060101010101" pitchFamily="49" charset="-122"/>
              </a:rPr>
              <a:t>t</a:t>
            </a:r>
            <a:r>
              <a:rPr kumimoji="0" lang="en-US" altLang="zh-CN" sz="2800" b="0" i="0" u="none" strike="noStrike" kern="0" cap="none" spc="0" normalizeH="0" baseline="0" noProof="0" dirty="0" err="1"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eacher</a:t>
            </a:r>
            <a:r>
              <a:rPr kumimoji="0" lang="zh-CN" altLang="en-US" sz="2800" kern="0" dirty="0" smtClean="0">
                <a:solidFill>
                  <a:srgbClr val="66FF66"/>
                </a:solidFill>
                <a:effectLst>
                  <a:outerShdw blurRad="38100" dist="38100" dir="2700000" algn="tl">
                    <a:srgbClr val="000000"/>
                  </a:outerShdw>
                </a:effectLst>
                <a:latin typeface="Franklin Gothic Book"/>
                <a:ea typeface="黑体" panose="02010609060101010101" pitchFamily="49" charset="-122"/>
              </a:rPr>
              <a:t>的时是否使用索引</a:t>
            </a: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lang="en-US" altLang="zh-CN" sz="2800" dirty="0">
              <a:latin typeface="+mj-ea"/>
            </a:endParaRPr>
          </a:p>
          <a:p>
            <a:pPr marL="0" indent="0">
              <a:buNone/>
            </a:pPr>
            <a:r>
              <a:rPr lang="en-US" altLang="zh-CN" sz="2800" dirty="0" smtClean="0">
                <a:solidFill>
                  <a:srgbClr val="FFFFCC"/>
                </a:solidFill>
                <a:latin typeface="+mj-ea"/>
              </a:rPr>
              <a:t>Explain </a:t>
            </a:r>
          </a:p>
          <a:p>
            <a:pPr marL="0" indent="0">
              <a:buNone/>
            </a:pPr>
            <a:r>
              <a:rPr lang="en-US" altLang="zh-CN" sz="2800" dirty="0" smtClean="0">
                <a:solidFill>
                  <a:srgbClr val="FFFFCC"/>
                </a:solidFill>
                <a:latin typeface="+mj-ea"/>
              </a:rPr>
              <a:t>select * from teacher    where </a:t>
            </a:r>
            <a:r>
              <a:rPr lang="zh-CN" altLang="en-US" sz="2800" dirty="0" smtClean="0">
                <a:solidFill>
                  <a:srgbClr val="FFFFCC"/>
                </a:solidFill>
                <a:latin typeface="+mj-ea"/>
              </a:rPr>
              <a:t>姓名</a:t>
            </a:r>
            <a:r>
              <a:rPr lang="en-US" altLang="zh-CN" sz="2800" dirty="0" smtClean="0">
                <a:solidFill>
                  <a:srgbClr val="FFFFCC"/>
                </a:solidFill>
                <a:latin typeface="+mj-ea"/>
              </a:rPr>
              <a:t>=</a:t>
            </a:r>
            <a:r>
              <a:rPr lang="en-US" altLang="zh-CN" sz="2800" dirty="0" smtClean="0">
                <a:solidFill>
                  <a:srgbClr val="FFFFCC"/>
                </a:solidFill>
                <a:latin typeface="Times New Roman" panose="02020603050405020304" pitchFamily="18" charset="0"/>
                <a:cs typeface="Times New Roman" panose="02020603050405020304" pitchFamily="18" charset="0"/>
              </a:rPr>
              <a:t>‘</a:t>
            </a:r>
            <a:r>
              <a:rPr lang="zh-CN" altLang="en-US" sz="2800" dirty="0" smtClean="0">
                <a:solidFill>
                  <a:srgbClr val="FFFFCC"/>
                </a:solidFill>
                <a:latin typeface="Times New Roman" panose="02020603050405020304" pitchFamily="18" charset="0"/>
                <a:cs typeface="Times New Roman" panose="02020603050405020304" pitchFamily="18" charset="0"/>
              </a:rPr>
              <a:t>刘军</a:t>
            </a:r>
            <a:r>
              <a:rPr lang="en-US" altLang="zh-CN" sz="2800" dirty="0" smtClean="0">
                <a:solidFill>
                  <a:srgbClr val="FFFFCC"/>
                </a:solidFill>
                <a:latin typeface="Times New Roman" panose="02020603050405020304" pitchFamily="18" charset="0"/>
                <a:cs typeface="Times New Roman" panose="02020603050405020304" pitchFamily="18" charset="0"/>
              </a:rPr>
              <a:t>’</a:t>
            </a:r>
            <a:r>
              <a:rPr lang="en-US" altLang="zh-CN" sz="2800" dirty="0" smtClean="0">
                <a:solidFill>
                  <a:srgbClr val="FFFFCC"/>
                </a:solidFill>
                <a:latin typeface="+mj-ea"/>
              </a:rPr>
              <a:t>;</a:t>
            </a:r>
            <a:endParaRPr lang="en-US" altLang="zh-CN" sz="2800" dirty="0">
              <a:solidFill>
                <a:srgbClr val="FFFFCC"/>
              </a:solidFill>
              <a:latin typeface="+mj-ea"/>
            </a:endParaRPr>
          </a:p>
          <a:p>
            <a:pPr lvl="0" fontAlgn="auto">
              <a:spcBef>
                <a:spcPts val="0"/>
              </a:spcBef>
              <a:spcAft>
                <a:spcPct val="15000"/>
              </a:spcAft>
              <a:buClr>
                <a:srgbClr val="66FF33"/>
              </a:buClr>
              <a:buSzPct val="85000"/>
              <a:defRPr/>
            </a:pPr>
            <a:endParaRPr kumimoji="0" lang="zh-CN" altLang="en-US" sz="2800" b="0" i="0" u="none" strike="noStrike" kern="0" cap="none" spc="0" normalizeH="0" baseline="0" noProof="0" dirty="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7" name="Rectangle 3"/>
          <p:cNvSpPr txBox="1">
            <a:spLocks noChangeArrowheads="1"/>
          </p:cNvSpPr>
          <p:nvPr/>
        </p:nvSpPr>
        <p:spPr bwMode="auto">
          <a:xfrm>
            <a:off x="466725" y="2924944"/>
            <a:ext cx="8353425" cy="936104"/>
          </a:xfrm>
          <a:prstGeom prst="rect">
            <a:avLst/>
          </a:prstGeom>
          <a:noFill/>
          <a:ln w="12700" cap="sq">
            <a:noFill/>
            <a:miter lim="800000"/>
            <a:headEnd/>
            <a:tailEnd/>
          </a:ln>
          <a:effectLst/>
        </p:spPr>
        <p:txBody>
          <a:bodyPr lIns="0" tIns="0" rIns="0" bIns="0"/>
          <a:lstStyle>
            <a:defPPr>
              <a:defRPr lang="en-US"/>
            </a:defPPr>
            <a:lvl1pPr marL="185738" marR="0" lvl="0" indent="-185738" defTabSz="914400" eaLnBrk="1" fontAlgn="auto" latinLnBrk="0" hangingPunct="1">
              <a:lnSpc>
                <a:spcPct val="100000"/>
              </a:lnSpc>
              <a:spcBef>
                <a:spcPts val="0"/>
              </a:spcBef>
              <a:spcAft>
                <a:spcPct val="50000"/>
              </a:spcAft>
              <a:buClr>
                <a:srgbClr val="FFFFFF"/>
              </a:buClr>
              <a:buSzTx/>
              <a:buFontTx/>
              <a:buChar char="•"/>
              <a:tabLst/>
              <a:defRPr kumimoji="0" sz="2800" b="0" i="0" u="none" strike="noStrike" kern="0" cap="none" spc="0" normalizeH="0" baseline="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defRPr>
            </a:lvl1pPr>
          </a:lstStyle>
          <a:p>
            <a:r>
              <a:rPr lang="en-US" altLang="zh-CN" b="1" dirty="0" smtClean="0">
                <a:solidFill>
                  <a:srgbClr val="FFCC00"/>
                </a:solidFill>
                <a:latin typeface="+mj-ea"/>
                <a:ea typeface="+mj-ea"/>
              </a:rPr>
              <a:t>SHOW  INDEX/KEYS  </a:t>
            </a:r>
            <a:r>
              <a:rPr lang="zh-CN" altLang="en-US" dirty="0" smtClean="0">
                <a:solidFill>
                  <a:srgbClr val="CCFFCC"/>
                </a:solidFill>
                <a:latin typeface="Arial" pitchFamily="34" charset="0"/>
                <a:ea typeface="微软雅黑" pitchFamily="34" charset="-122"/>
              </a:rPr>
              <a:t>语句可以查看表的索引</a:t>
            </a:r>
            <a:r>
              <a:rPr lang="zh-CN" altLang="en-US" dirty="0" smtClean="0">
                <a:latin typeface="+mj-ea"/>
                <a:ea typeface="+mj-ea"/>
              </a:rPr>
              <a:t>。</a:t>
            </a:r>
            <a:endParaRPr lang="en-US" altLang="zh-CN" dirty="0" smtClean="0">
              <a:latin typeface="+mj-ea"/>
              <a:ea typeface="+mj-ea"/>
            </a:endParaRPr>
          </a:p>
        </p:txBody>
      </p:sp>
      <p:sp>
        <p:nvSpPr>
          <p:cNvPr id="8" name="Rectangle 4"/>
          <p:cNvSpPr>
            <a:spLocks noChangeArrowheads="1"/>
          </p:cNvSpPr>
          <p:nvPr/>
        </p:nvSpPr>
        <p:spPr bwMode="auto">
          <a:xfrm>
            <a:off x="586039" y="3313547"/>
            <a:ext cx="8207375" cy="550748"/>
          </a:xfrm>
          <a:prstGeom prst="rect">
            <a:avLst/>
          </a:prstGeom>
          <a:noFill/>
          <a:ln w="9525">
            <a:noFill/>
            <a:miter lim="800000"/>
            <a:headEnd/>
            <a:tailEnd/>
          </a:ln>
          <a:effectLst/>
        </p:spPr>
        <p:txBody>
          <a:bodyPr/>
          <a:lstStyle/>
          <a:p>
            <a:pPr marL="0" indent="0">
              <a:buNone/>
            </a:pPr>
            <a:r>
              <a:rPr lang="en-US" altLang="zh-CN" sz="2800" dirty="0">
                <a:solidFill>
                  <a:srgbClr val="FFFFCC"/>
                </a:solidFill>
                <a:latin typeface="+mj-ea"/>
              </a:rPr>
              <a:t>show index from  </a:t>
            </a:r>
            <a:r>
              <a:rPr lang="en-US" altLang="zh-CN" sz="2800" dirty="0" smtClean="0">
                <a:solidFill>
                  <a:srgbClr val="FFFFCC"/>
                </a:solidFill>
                <a:latin typeface="+mj-ea"/>
              </a:rPr>
              <a:t>teacher;</a:t>
            </a:r>
          </a:p>
          <a:p>
            <a:pPr lvl="0" fontAlgn="auto">
              <a:spcBef>
                <a:spcPts val="0"/>
              </a:spcBef>
              <a:spcAft>
                <a:spcPct val="15000"/>
              </a:spcAft>
              <a:buClr>
                <a:srgbClr val="66FF33"/>
              </a:buClr>
              <a:buSzPct val="85000"/>
              <a:defRPr/>
            </a:pPr>
            <a:endParaRPr kumimoji="0" lang="zh-CN" altLang="en-US" sz="2800" b="0" i="0" u="none" strike="noStrike" kern="0" cap="none" spc="0" normalizeH="0" baseline="0" noProof="0" dirty="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3600459095"/>
      </p:ext>
    </p:extLst>
  </p:cSld>
  <p:clrMapOvr>
    <a:masterClrMapping/>
  </p:clrMapOvr>
  <p:transition spd="slow">
    <p:wipe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79512"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anchor="ctr" anchorCtr="0" compatLnSpc="1">
            <a:prstTxWarp prst="textNoShape">
              <a:avLst/>
            </a:prstTxWarp>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smtClean="0">
                <a:ln>
                  <a:noFill/>
                </a:ln>
                <a:solidFill>
                  <a:srgbClr val="FFFFCC"/>
                </a:solidFill>
                <a:effectLst>
                  <a:outerShdw blurRad="38100" dist="38100" dir="2700000" algn="tl">
                    <a:srgbClr val="000000"/>
                  </a:outerShdw>
                </a:effectLst>
                <a:uLnTx/>
                <a:uFillTx/>
                <a:cs typeface="+mn-cs"/>
              </a:rPr>
              <a:t>删除索引</a:t>
            </a:r>
          </a:p>
        </p:txBody>
      </p:sp>
      <p:sp>
        <p:nvSpPr>
          <p:cNvPr id="20" name="Rectangle 3"/>
          <p:cNvSpPr txBox="1">
            <a:spLocks noChangeArrowheads="1"/>
          </p:cNvSpPr>
          <p:nvPr/>
        </p:nvSpPr>
        <p:spPr bwMode="auto">
          <a:xfrm>
            <a:off x="611188" y="908720"/>
            <a:ext cx="8353425" cy="2274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100000"/>
              </a:lnSpc>
              <a:spcBef>
                <a:spcPct val="0"/>
              </a:spcBef>
              <a:spcAft>
                <a:spcPct val="0"/>
              </a:spcAft>
              <a:buClr>
                <a:srgbClr val="66FF33"/>
              </a:buClr>
              <a:buSzPct val="85000"/>
              <a:buFont typeface="Wingdings" pitchFamily="2" charset="2"/>
              <a:buNone/>
              <a:tabLst/>
              <a:defRPr/>
            </a:pPr>
            <a:r>
              <a:rPr kumimoji="0" lang="en-US" altLang="zh-CN" sz="28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DROP</a:t>
            </a:r>
            <a:r>
              <a:rPr kumimoji="0" lang="en-US" altLang="en-US"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a:t>
            </a:r>
            <a:r>
              <a:rPr kumimoji="0" lang="en-US" altLang="zh-CN"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a:t>
            </a:r>
            <a:r>
              <a:rPr kumimoji="0" lang="en-US" altLang="en-US" sz="28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INDEX</a:t>
            </a:r>
            <a:r>
              <a:rPr kumimoji="0" lang="en-US" altLang="en-US"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&lt;</a:t>
            </a:r>
            <a:r>
              <a:rPr kumimoji="0" lang="en-US" altLang="en-US" sz="2800" b="0" i="1" u="none" strike="noStrike" kern="1200" cap="none" spc="0" normalizeH="0" baseline="0" noProof="0" dirty="0" err="1"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索引名</a:t>
            </a:r>
            <a:r>
              <a:rPr kumimoji="0" lang="en-US" altLang="en-US"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   </a:t>
            </a:r>
            <a:r>
              <a:rPr kumimoji="0" lang="en-US" altLang="zh-CN" sz="2800" b="1" i="0" u="none" strike="noStrike" kern="1200" cap="none" spc="0" normalizeH="0" baseline="0" noProof="0" dirty="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ON</a:t>
            </a:r>
            <a:r>
              <a:rPr kumimoji="0" lang="en-US" altLang="zh-CN"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a:t>
            </a:r>
            <a:r>
              <a:rPr kumimoji="0" lang="en-US" altLang="zh-CN"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&lt;</a:t>
            </a:r>
            <a:r>
              <a:rPr kumimoji="0" lang="zh-CN" altLang="en-US"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表名</a:t>
            </a:r>
            <a:r>
              <a:rPr kumimoji="0" lang="en-US" altLang="zh-CN"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a:t>
            </a:r>
            <a:endParaRPr kumimoji="0" lang="en-US" altLang="en-US"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p:txBody>
      </p:sp>
      <p:sp>
        <p:nvSpPr>
          <p:cNvPr id="21" name="Rectangle 5"/>
          <p:cNvSpPr>
            <a:spLocks noChangeArrowheads="1"/>
          </p:cNvSpPr>
          <p:nvPr/>
        </p:nvSpPr>
        <p:spPr bwMode="auto">
          <a:xfrm>
            <a:off x="666750" y="4237782"/>
            <a:ext cx="8153400" cy="487362"/>
          </a:xfrm>
          <a:prstGeom prst="rect">
            <a:avLst/>
          </a:prstGeom>
          <a:noFill/>
          <a:ln w="12700" cap="sq">
            <a:noFill/>
            <a:miter lim="800000"/>
            <a:headEnd/>
            <a:tailEnd/>
          </a:ln>
          <a:effectLst/>
        </p:spPr>
        <p:txBody>
          <a:bodyPr lIns="0" tIns="0" rIns="0" bIns="0"/>
          <a:lstStyle/>
          <a:p>
            <a:pPr marL="234950" marR="0" lvl="0" indent="-234950" algn="l" defTabSz="914400" rtl="0" eaLnBrk="1" fontAlgn="auto" latinLnBrk="0" hangingPunct="1">
              <a:lnSpc>
                <a:spcPct val="100000"/>
              </a:lnSpc>
              <a:spcBef>
                <a:spcPts val="0"/>
              </a:spcBef>
              <a:spcAft>
                <a:spcPct val="0"/>
              </a:spcAft>
              <a:buClrTx/>
              <a:buSzTx/>
              <a:buFontTx/>
              <a:buChar char="•"/>
              <a:tabLst/>
              <a:defRPr/>
            </a:pPr>
            <a:r>
              <a:rPr kumimoji="1" lang="zh-CN"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楷体_GB2312" pitchFamily="49" charset="-122"/>
                <a:cs typeface="+mn-cs"/>
              </a:rPr>
              <a:t>应该对查询频率高的列建索引，以提高查询效率；</a:t>
            </a:r>
            <a:endParaRPr kumimoji="1" lang="en-US" altLang="zh-CN"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楷体_GB2312" pitchFamily="49" charset="-122"/>
              <a:cs typeface="+mn-cs"/>
            </a:endParaRPr>
          </a:p>
          <a:p>
            <a:pPr marL="234950" marR="0" lvl="0" indent="-234950" algn="l" defTabSz="914400" rtl="0" eaLnBrk="1" fontAlgn="auto" latinLnBrk="0" hangingPunct="1">
              <a:lnSpc>
                <a:spcPct val="100000"/>
              </a:lnSpc>
              <a:spcBef>
                <a:spcPct val="15000"/>
              </a:spcBef>
              <a:spcAft>
                <a:spcPct val="0"/>
              </a:spcAft>
              <a:buClrTx/>
              <a:buSzTx/>
              <a:buFontTx/>
              <a:buChar char="•"/>
              <a:tabLst/>
              <a:defRPr/>
            </a:pPr>
            <a:r>
              <a:rPr kumimoji="1" lang="zh-CN"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楷体_GB2312" pitchFamily="49" charset="-122"/>
                <a:cs typeface="+mn-cs"/>
              </a:rPr>
              <a:t>索引可以随时建立和删除；</a:t>
            </a:r>
          </a:p>
          <a:p>
            <a:pPr marL="234950" marR="0" lvl="0" indent="-234950" algn="l" defTabSz="914400" rtl="0" eaLnBrk="1" fontAlgn="auto" latinLnBrk="0" hangingPunct="1">
              <a:lnSpc>
                <a:spcPct val="100000"/>
              </a:lnSpc>
              <a:spcBef>
                <a:spcPct val="15000"/>
              </a:spcBef>
              <a:spcAft>
                <a:spcPct val="0"/>
              </a:spcAft>
              <a:buClrTx/>
              <a:buSzTx/>
              <a:buFontTx/>
              <a:buChar char="•"/>
              <a:tabLst/>
              <a:defRPr/>
            </a:pPr>
            <a:r>
              <a:rPr kumimoji="1" lang="zh-CN"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楷体_GB2312" pitchFamily="49" charset="-122"/>
                <a:cs typeface="+mn-cs"/>
              </a:rPr>
              <a:t>索引的使用和维护完全</a:t>
            </a:r>
            <a:r>
              <a:rPr kumimoji="1" lang="zh-CN" altLang="en-US" sz="2600" b="0" i="0" u="none" strike="noStrike" kern="1200" cap="none" spc="0" normalizeH="0" baseline="0" noProof="0" dirty="0" smtClean="0">
                <a:ln>
                  <a:noFill/>
                </a:ln>
                <a:solidFill>
                  <a:prstClr val="white"/>
                </a:solidFill>
                <a:effectLst>
                  <a:outerShdw blurRad="38100" dist="38100" dir="2700000" algn="tl">
                    <a:srgbClr val="000000"/>
                  </a:outerShdw>
                </a:effectLst>
                <a:uLnTx/>
                <a:uFillTx/>
                <a:latin typeface="Times New Roman" pitchFamily="18" charset="0"/>
                <a:ea typeface="楷体_GB2312" pitchFamily="49" charset="-122"/>
                <a:cs typeface="+mn-cs"/>
              </a:rPr>
              <a:t>由</a:t>
            </a:r>
            <a:r>
              <a:rPr kumimoji="1" lang="en-US" altLang="zh-CN" sz="2600" b="0" i="0" u="none" strike="noStrike" kern="1200" cap="none" spc="0" normalizeH="0" baseline="0" noProof="0" dirty="0" smtClean="0">
                <a:ln>
                  <a:noFill/>
                </a:ln>
                <a:solidFill>
                  <a:prstClr val="white"/>
                </a:solidFill>
                <a:effectLst>
                  <a:outerShdw blurRad="38100" dist="38100" dir="2700000" algn="tl">
                    <a:srgbClr val="000000"/>
                  </a:outerShdw>
                </a:effectLst>
                <a:uLnTx/>
                <a:uFillTx/>
                <a:latin typeface="Times New Roman" pitchFamily="18" charset="0"/>
                <a:ea typeface="楷体_GB2312" pitchFamily="49" charset="-122"/>
                <a:cs typeface="+mn-cs"/>
              </a:rPr>
              <a:t>DBMS</a:t>
            </a:r>
            <a:r>
              <a:rPr kumimoji="1" lang="zh-CN" altLang="en-US" sz="2600" b="0" i="0" u="none" strike="noStrike" kern="1200" cap="none" spc="0" normalizeH="0" baseline="0" noProof="0" dirty="0" smtClean="0">
                <a:ln>
                  <a:noFill/>
                </a:ln>
                <a:solidFill>
                  <a:prstClr val="white"/>
                </a:solidFill>
                <a:effectLst>
                  <a:outerShdw blurRad="38100" dist="38100" dir="2700000" algn="tl">
                    <a:srgbClr val="000000"/>
                  </a:outerShdw>
                </a:effectLst>
                <a:uLnTx/>
                <a:uFillTx/>
                <a:latin typeface="Times New Roman" pitchFamily="18" charset="0"/>
                <a:ea typeface="楷体_GB2312" pitchFamily="49" charset="-122"/>
                <a:cs typeface="+mn-cs"/>
              </a:rPr>
              <a:t>决定</a:t>
            </a:r>
            <a:r>
              <a:rPr kumimoji="1" lang="zh-CN"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楷体_GB2312" pitchFamily="49" charset="-122"/>
                <a:cs typeface="+mn-cs"/>
              </a:rPr>
              <a:t>；</a:t>
            </a:r>
          </a:p>
          <a:p>
            <a:pPr marL="234950" marR="0" lvl="0" indent="-234950" algn="l" defTabSz="914400" rtl="0" eaLnBrk="1" fontAlgn="auto" latinLnBrk="0" hangingPunct="1">
              <a:lnSpc>
                <a:spcPct val="100000"/>
              </a:lnSpc>
              <a:spcBef>
                <a:spcPct val="15000"/>
              </a:spcBef>
              <a:spcAft>
                <a:spcPct val="0"/>
              </a:spcAft>
              <a:buClrTx/>
              <a:buSzTx/>
              <a:buFontTx/>
              <a:buChar char="•"/>
              <a:tabLst/>
              <a:defRPr/>
            </a:pPr>
            <a:r>
              <a:rPr kumimoji="1" lang="zh-CN"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楷体_GB2312" pitchFamily="49" charset="-122"/>
                <a:cs typeface="+mn-cs"/>
              </a:rPr>
              <a:t>一个表上可建多个索引。但索引过多会耗费空间，且会降低插入、删除、更新的效率。</a:t>
            </a:r>
          </a:p>
        </p:txBody>
      </p:sp>
      <p:sp>
        <p:nvSpPr>
          <p:cNvPr id="22" name="AutoShape 6"/>
          <p:cNvSpPr>
            <a:spLocks noChangeArrowheads="1"/>
          </p:cNvSpPr>
          <p:nvPr/>
        </p:nvSpPr>
        <p:spPr bwMode="auto">
          <a:xfrm>
            <a:off x="684213" y="3529757"/>
            <a:ext cx="3111500" cy="547687"/>
          </a:xfrm>
          <a:prstGeom prst="roundRect">
            <a:avLst>
              <a:gd name="adj" fmla="val 37125"/>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round/>
            <a:headEnd/>
            <a:tailEnd/>
          </a:ln>
          <a:effectLst>
            <a:outerShdw dist="53882" dir="2700000" algn="ctr" rotWithShape="0">
              <a:srgbClr val="000514">
                <a:alpha val="50000"/>
              </a:srgbClr>
            </a:outerShdw>
          </a:effectLst>
        </p:spPr>
        <p:txBody>
          <a:bodyPr lIns="36000" tIns="36000" rIns="36000" bIns="36000" anchor="ctr" anchorCtr="1"/>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zh-CN" altLang="en-US" sz="2800" b="1" i="0" u="none" strike="noStrike" kern="0" cap="none" spc="0" normalizeH="0" baseline="0" noProof="0">
                <a:ln>
                  <a:noFill/>
                </a:ln>
                <a:solidFill>
                  <a:srgbClr val="3333CC"/>
                </a:solidFill>
                <a:effectLst/>
                <a:uLnTx/>
                <a:uFillTx/>
                <a:latin typeface="Franklin Gothic Book"/>
                <a:ea typeface="黑体" panose="02010609060101010101" pitchFamily="49" charset="-122"/>
                <a:cs typeface="+mn-cs"/>
              </a:rPr>
              <a:t>索引的几点说明</a:t>
            </a:r>
          </a:p>
        </p:txBody>
      </p:sp>
      <p:sp>
        <p:nvSpPr>
          <p:cNvPr id="25" name="Rectangle 4"/>
          <p:cNvSpPr>
            <a:spLocks noChangeArrowheads="1"/>
          </p:cNvSpPr>
          <p:nvPr/>
        </p:nvSpPr>
        <p:spPr bwMode="auto">
          <a:xfrm>
            <a:off x="577850" y="1642145"/>
            <a:ext cx="8207375" cy="2374900"/>
          </a:xfrm>
          <a:prstGeom prst="rect">
            <a:avLst/>
          </a:prstGeom>
          <a:noFill/>
          <a:ln w="9525">
            <a:noFill/>
            <a:miter lim="800000"/>
            <a:headEnd/>
            <a:tailEnd/>
          </a:ln>
          <a:effectLst/>
        </p:spPr>
        <p:txBody>
          <a:bodyPr/>
          <a:lstStyle/>
          <a:p>
            <a:pPr marL="0" marR="0" lvl="0" indent="0" algn="l" defTabSz="914400" rtl="0" eaLnBrk="1" fontAlgn="auto" latinLnBrk="0" hangingPunct="1">
              <a:lnSpc>
                <a:spcPct val="100000"/>
              </a:lnSpc>
              <a:spcBef>
                <a:spcPts val="0"/>
              </a:spcBef>
              <a:spcAft>
                <a:spcPct val="15000"/>
              </a:spcAft>
              <a:buClr>
                <a:srgbClr val="66FF33"/>
              </a:buClr>
              <a:buSzPct val="85000"/>
              <a:buFontTx/>
              <a:buNone/>
              <a:tabLst/>
              <a:defRPr/>
            </a:pPr>
            <a:r>
              <a:rPr kumimoji="0" lang="zh-CN" altLang="en-US" sz="2800" b="0" i="0" u="none" strike="noStrike" kern="0" cap="none" spc="0" normalizeH="0" baseline="0" noProof="0" dirty="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例如删除</a:t>
            </a: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表</a:t>
            </a:r>
            <a:r>
              <a:rPr kumimoji="0" lang="zh-CN" altLang="en-US" sz="2800" kern="0" dirty="0" smtClean="0">
                <a:solidFill>
                  <a:srgbClr val="66FF66"/>
                </a:solidFill>
                <a:effectLst>
                  <a:outerShdw blurRad="38100" dist="38100" dir="2700000" algn="tl">
                    <a:srgbClr val="000000"/>
                  </a:outerShdw>
                </a:effectLst>
                <a:latin typeface="Times New Roman"/>
                <a:ea typeface="黑体" panose="02010609060101010101" pitchFamily="49" charset="-122"/>
              </a:rPr>
              <a:t>“</a:t>
            </a:r>
            <a:r>
              <a:rPr kumimoji="0" lang="en-US" altLang="zh-CN"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Teacher</a:t>
            </a: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Times New Roman"/>
                <a:ea typeface="黑体" panose="02010609060101010101" pitchFamily="49" charset="-122"/>
                <a:cs typeface="+mn-cs"/>
              </a:rPr>
              <a:t>”</a:t>
            </a: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中</a:t>
            </a:r>
            <a:r>
              <a:rPr kumimoji="0" lang="zh-CN" altLang="en-US" sz="2800" b="0" i="0" u="none" strike="noStrike" kern="0" cap="none" spc="0" normalizeH="0" baseline="0" noProof="0" dirty="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名为</a:t>
            </a:r>
            <a:r>
              <a:rPr kumimoji="0" lang="zh-CN" altLang="en-US" sz="2800" b="0" i="0" u="none" strike="noStrike" kern="0" cap="none" spc="0" normalizeH="0" baseline="0" noProof="0" dirty="0">
                <a:ln>
                  <a:noFill/>
                </a:ln>
                <a:solidFill>
                  <a:srgbClr val="66FF66"/>
                </a:solidFill>
                <a:effectLst>
                  <a:outerShdw blurRad="38100" dist="38100" dir="2700000" algn="tl">
                    <a:srgbClr val="000000"/>
                  </a:outerShdw>
                </a:effectLst>
                <a:uLnTx/>
                <a:uFillTx/>
                <a:latin typeface="Times New Roman"/>
                <a:ea typeface="黑体" panose="02010609060101010101" pitchFamily="49" charset="-122"/>
                <a:cs typeface="+mn-cs"/>
              </a:rPr>
              <a:t>“</a:t>
            </a:r>
            <a:r>
              <a:rPr kumimoji="0" lang="en-US" altLang="zh-CN" sz="2800" b="0" i="0" u="none" strike="noStrike" kern="0" cap="none" spc="0" normalizeH="0" baseline="0" noProof="0" dirty="0" err="1"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idx_xm</a:t>
            </a: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Times New Roman"/>
                <a:ea typeface="黑体" panose="02010609060101010101" pitchFamily="49" charset="-122"/>
                <a:cs typeface="+mn-cs"/>
              </a:rPr>
              <a:t>”</a:t>
            </a: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的</a:t>
            </a:r>
            <a:r>
              <a:rPr kumimoji="0" lang="zh-CN" altLang="en-US" sz="2800" b="0" i="0" u="none" strike="noStrike" kern="0" cap="none" spc="0" normalizeH="0" baseline="0" noProof="0" dirty="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索引：</a:t>
            </a:r>
          </a:p>
          <a:p>
            <a:pPr marL="0" marR="0" lvl="0" indent="0" algn="l" defTabSz="914400" rtl="0" eaLnBrk="1" fontAlgn="auto" latinLnBrk="0" hangingPunct="1">
              <a:lnSpc>
                <a:spcPct val="100000"/>
              </a:lnSpc>
              <a:spcBef>
                <a:spcPts val="0"/>
              </a:spcBef>
              <a:spcAft>
                <a:spcPct val="15000"/>
              </a:spcAft>
              <a:buClr>
                <a:srgbClr val="66FF33"/>
              </a:buClr>
              <a:buSzPct val="85000"/>
              <a:buFontTx/>
              <a:buNone/>
              <a:tabLst/>
              <a:defRPr/>
            </a:pPr>
            <a:r>
              <a:rPr kumimoji="0" lang="en-US" altLang="en-US" sz="2800" b="1" i="0" u="none" strike="noStrike" kern="0" cap="none" spc="0" normalizeH="0" baseline="0" noProof="0" dirty="0">
                <a:ln>
                  <a:noFill/>
                </a:ln>
                <a:solidFill>
                  <a:srgbClr val="FFCC00"/>
                </a:solidFill>
                <a:effectLst>
                  <a:outerShdw blurRad="38100" dist="38100" dir="2700000" algn="tl">
                    <a:srgbClr val="000000"/>
                  </a:outerShdw>
                </a:effectLst>
                <a:uLnTx/>
                <a:uFillTx/>
                <a:latin typeface="Franklin Gothic Book"/>
                <a:ea typeface="+mn-ea"/>
                <a:cs typeface="+mn-cs"/>
              </a:rPr>
              <a:t>DROP </a:t>
            </a:r>
            <a:r>
              <a:rPr kumimoji="0" lang="en-US" altLang="en-US" sz="2800" b="1" i="0" u="none" strike="noStrike" kern="0" cap="none" spc="0" normalizeH="0" baseline="0" noProof="0" dirty="0" smtClean="0">
                <a:ln>
                  <a:noFill/>
                </a:ln>
                <a:solidFill>
                  <a:srgbClr val="FFCC00"/>
                </a:solidFill>
                <a:effectLst>
                  <a:outerShdw blurRad="38100" dist="38100" dir="2700000" algn="tl">
                    <a:srgbClr val="000000"/>
                  </a:outerShdw>
                </a:effectLst>
                <a:uLnTx/>
                <a:uFillTx/>
                <a:latin typeface="Franklin Gothic Book"/>
                <a:ea typeface="+mn-ea"/>
                <a:cs typeface="+mn-cs"/>
              </a:rPr>
              <a:t>  INDEX</a:t>
            </a:r>
            <a:r>
              <a:rPr kumimoji="0" lang="en-US" altLang="en-US"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Franklin Gothic Book"/>
                <a:ea typeface="+mn-ea"/>
                <a:cs typeface="+mn-cs"/>
              </a:rPr>
              <a:t>   </a:t>
            </a:r>
            <a:r>
              <a:rPr kumimoji="0" lang="en-US" altLang="zh-CN" sz="2800" b="0" i="0" u="none" strike="noStrike" kern="0" cap="none" spc="0" normalizeH="0" baseline="0" noProof="0" dirty="0" err="1" smtClean="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idx_xm</a:t>
            </a:r>
            <a:r>
              <a:rPr kumimoji="0"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  </a:t>
            </a:r>
            <a:r>
              <a:rPr kumimoji="0" lang="en-US" altLang="zh-CN" sz="2800" b="1" kern="0" dirty="0">
                <a:solidFill>
                  <a:srgbClr val="FFCC00"/>
                </a:solidFill>
                <a:effectLst>
                  <a:outerShdw blurRad="38100" dist="38100" dir="2700000" algn="tl">
                    <a:srgbClr val="000000"/>
                  </a:outerShdw>
                </a:effectLst>
                <a:latin typeface="Franklin Gothic Book"/>
                <a:ea typeface="+mn-ea"/>
              </a:rPr>
              <a:t>On</a:t>
            </a:r>
            <a:r>
              <a:rPr kumimoji="0"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  </a:t>
            </a:r>
            <a:r>
              <a:rPr kumimoji="0" lang="en-US" altLang="en-US"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Franklin Gothic Book"/>
                <a:ea typeface="+mn-ea"/>
                <a:cs typeface="+mn-cs"/>
              </a:rPr>
              <a:t>Teacher</a:t>
            </a:r>
            <a:r>
              <a:rPr kumimoji="0"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 ;</a:t>
            </a:r>
            <a:endParaRPr kumimoji="0" lang="en-US"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mn-ea"/>
              <a:cs typeface="+mn-cs"/>
            </a:endParaRPr>
          </a:p>
        </p:txBody>
      </p:sp>
    </p:spTree>
    <p:extLst>
      <p:ext uri="{BB962C8B-B14F-4D97-AF65-F5344CB8AC3E}">
        <p14:creationId xmlns:p14="http://schemas.microsoft.com/office/powerpoint/2010/main" val="28034174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smtClean="0">
                <a:solidFill>
                  <a:srgbClr val="FFFFCC"/>
                </a:solidFill>
                <a:effectLst>
                  <a:outerShdw blurRad="38100" dist="38100" dir="2700000" algn="tl">
                    <a:srgbClr val="000000"/>
                  </a:outerShdw>
                </a:effectLst>
              </a:rPr>
              <a:t>视图的概念</a:t>
            </a:r>
            <a:endParaRPr lang="zh-CN" altLang="en-US" sz="4000" b="1" dirty="0">
              <a:solidFill>
                <a:srgbClr val="FFFFCC"/>
              </a:solidFill>
              <a:effectLst>
                <a:outerShdw blurRad="38100" dist="38100" dir="2700000" algn="tl">
                  <a:srgbClr val="000000"/>
                </a:outerShdw>
              </a:effectLst>
            </a:endParaRPr>
          </a:p>
        </p:txBody>
      </p:sp>
      <p:sp>
        <p:nvSpPr>
          <p:cNvPr id="25" name="Rectangle 4"/>
          <p:cNvSpPr txBox="1">
            <a:spLocks noChangeArrowheads="1"/>
          </p:cNvSpPr>
          <p:nvPr/>
        </p:nvSpPr>
        <p:spPr bwMode="auto">
          <a:xfrm>
            <a:off x="288925" y="980728"/>
            <a:ext cx="8713788"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100000"/>
              </a:lnSpc>
              <a:spcBef>
                <a:spcPct val="0"/>
              </a:spcBef>
              <a:spcAft>
                <a:spcPct val="50000"/>
              </a:spcAft>
              <a:buClr>
                <a:srgbClr val="66FF33"/>
              </a:buClr>
              <a:buSzPct val="85000"/>
              <a:buFont typeface="Wingdings" pitchFamily="2" charset="2"/>
              <a:buBlip>
                <a:blip r:embed="rId2"/>
              </a:buBlip>
              <a:tabLst/>
              <a:defRPr/>
            </a:pPr>
            <a:r>
              <a:rPr kumimoji="1"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视图是由对基本表或其它视图的查询而导出的</a:t>
            </a:r>
            <a:r>
              <a:rPr kumimoji="1" lang="zh-CN" altLang="en-US" sz="2800" b="1" i="0" u="none" strike="noStrike" kern="0" cap="none" spc="0" normalizeH="0" baseline="0" noProof="0" dirty="0" smtClean="0">
                <a:ln>
                  <a:noFill/>
                </a:ln>
                <a:solidFill>
                  <a:srgbClr val="66FFFF"/>
                </a:solidFill>
                <a:effectLst>
                  <a:outerShdw blurRad="38100" dist="38100" dir="2700000" algn="tl">
                    <a:srgbClr val="000000"/>
                  </a:outerShdw>
                </a:effectLst>
                <a:uLnTx/>
                <a:uFillTx/>
                <a:latin typeface="Arial" charset="0"/>
                <a:ea typeface="微软雅黑" pitchFamily="34" charset="-122"/>
                <a:cs typeface="+mn-cs"/>
              </a:rPr>
              <a:t>虚表</a:t>
            </a:r>
            <a:r>
              <a:rPr kumimoji="1"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a:t>
            </a:r>
          </a:p>
          <a:p>
            <a:pPr marL="342900" marR="0" lvl="0" indent="-342900" algn="l" defTabSz="914400" rtl="0" eaLnBrk="1" fontAlgn="base" latinLnBrk="0" hangingPunct="1">
              <a:lnSpc>
                <a:spcPct val="100000"/>
              </a:lnSpc>
              <a:spcBef>
                <a:spcPct val="0"/>
              </a:spcBef>
              <a:spcAft>
                <a:spcPct val="50000"/>
              </a:spcAft>
              <a:buClr>
                <a:srgbClr val="66FF33"/>
              </a:buClr>
              <a:buSzPct val="85000"/>
              <a:buFont typeface="Wingdings" pitchFamily="2" charset="2"/>
              <a:buBlip>
                <a:blip r:embed="rId2"/>
              </a:buBlip>
              <a:tabLst/>
              <a:defRPr/>
            </a:pPr>
            <a:r>
              <a:rPr kumimoji="1"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视图只是保存在数据库中的 </a:t>
            </a:r>
            <a:r>
              <a:rPr kumimoji="1" lang="en-US" altLang="zh-CN"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SELECT </a:t>
            </a:r>
            <a:r>
              <a:rPr kumimoji="1"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查询，即视图仅是</a:t>
            </a:r>
            <a:r>
              <a:rPr kumimoji="1" lang="zh-CN" altLang="en-US" sz="2800" b="0" i="0" u="none" strike="noStrike" kern="0" cap="none" spc="0" normalizeH="0" baseline="0" noProof="0" dirty="0" smtClean="0">
                <a:ln>
                  <a:noFill/>
                </a:ln>
                <a:solidFill>
                  <a:srgbClr val="FFCC00"/>
                </a:solidFill>
                <a:effectLst>
                  <a:outerShdw blurRad="38100" dist="38100" dir="2700000" algn="tl">
                    <a:srgbClr val="000000"/>
                  </a:outerShdw>
                </a:effectLst>
                <a:uLnTx/>
                <a:uFillTx/>
                <a:latin typeface="Arial" charset="0"/>
                <a:ea typeface="微软雅黑" pitchFamily="34" charset="-122"/>
                <a:cs typeface="+mn-cs"/>
              </a:rPr>
              <a:t>查询数据的定义</a:t>
            </a:r>
            <a:r>
              <a:rPr kumimoji="1"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，而没有实质的数据；</a:t>
            </a:r>
          </a:p>
          <a:p>
            <a:pPr marL="342900" marR="0" lvl="0" indent="-342900" algn="l" defTabSz="914400" rtl="0" eaLnBrk="1" fontAlgn="base" latinLnBrk="0" hangingPunct="1">
              <a:lnSpc>
                <a:spcPct val="100000"/>
              </a:lnSpc>
              <a:spcBef>
                <a:spcPct val="0"/>
              </a:spcBef>
              <a:spcAft>
                <a:spcPct val="50000"/>
              </a:spcAft>
              <a:buClr>
                <a:srgbClr val="66FF33"/>
              </a:buClr>
              <a:buSzPct val="85000"/>
              <a:buFont typeface="Wingdings" pitchFamily="2" charset="2"/>
              <a:buBlip>
                <a:blip r:embed="rId2"/>
              </a:buBlip>
              <a:tabLst/>
              <a:defRPr/>
            </a:pPr>
            <a:r>
              <a:rPr kumimoji="1"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视图用起来很象实际的表。</a:t>
            </a:r>
          </a:p>
        </p:txBody>
      </p:sp>
      <p:pic>
        <p:nvPicPr>
          <p:cNvPr id="26"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7894" y="3645495"/>
            <a:ext cx="4943475" cy="1981200"/>
          </a:xfrm>
          <a:prstGeom prst="rect">
            <a:avLst/>
          </a:prstGeom>
          <a:noFill/>
          <a:ln w="38100" cap="sq" algn="ctr">
            <a:solidFill>
              <a:srgbClr val="000514"/>
            </a:solidFill>
            <a:miter lim="800000"/>
            <a:headEnd/>
            <a:tailEnd/>
          </a:ln>
          <a:extLst>
            <a:ext uri="{909E8E84-426E-40DD-AFC4-6F175D3DCCD1}">
              <a14:hiddenFill xmlns:a14="http://schemas.microsoft.com/office/drawing/2010/main">
                <a:solidFill>
                  <a:srgbClr val="FFFFFF"/>
                </a:solidFill>
              </a14:hiddenFill>
            </a:ext>
          </a:extLst>
        </p:spPr>
      </p:pic>
      <p:pic>
        <p:nvPicPr>
          <p:cNvPr id="27"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107" y="4582120"/>
            <a:ext cx="2428875" cy="1685925"/>
          </a:xfrm>
          <a:prstGeom prst="rect">
            <a:avLst/>
          </a:prstGeom>
          <a:noFill/>
          <a:ln w="28575" cap="sq"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28"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5819" y="4582120"/>
            <a:ext cx="4105275" cy="1685925"/>
          </a:xfrm>
          <a:prstGeom prst="rect">
            <a:avLst/>
          </a:prstGeom>
          <a:noFill/>
          <a:ln w="28575" cap="sq" algn="ctr">
            <a:solidFill>
              <a:srgbClr val="009900"/>
            </a:solidFill>
            <a:miter lim="800000"/>
            <a:headEnd/>
            <a:tailEnd/>
          </a:ln>
          <a:extLst>
            <a:ext uri="{909E8E84-426E-40DD-AFC4-6F175D3DCCD1}">
              <a14:hiddenFill xmlns:a14="http://schemas.microsoft.com/office/drawing/2010/main">
                <a:solidFill>
                  <a:srgbClr val="FFFFFF"/>
                </a:solidFill>
              </a14:hiddenFill>
            </a:ext>
          </a:extLst>
        </p:spPr>
      </p:pic>
      <p:sp>
        <p:nvSpPr>
          <p:cNvPr id="29" name="Line 29"/>
          <p:cNvSpPr>
            <a:spLocks noChangeShapeType="1"/>
          </p:cNvSpPr>
          <p:nvPr/>
        </p:nvSpPr>
        <p:spPr bwMode="auto">
          <a:xfrm flipV="1">
            <a:off x="2845594" y="3645495"/>
            <a:ext cx="4321175" cy="936625"/>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30" name="Line 30"/>
          <p:cNvSpPr>
            <a:spLocks noChangeShapeType="1"/>
          </p:cNvSpPr>
          <p:nvPr/>
        </p:nvSpPr>
        <p:spPr bwMode="auto">
          <a:xfrm flipV="1">
            <a:off x="469107" y="3645495"/>
            <a:ext cx="1728787" cy="936625"/>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31" name="Line 33"/>
          <p:cNvSpPr>
            <a:spLocks noChangeShapeType="1"/>
          </p:cNvSpPr>
          <p:nvPr/>
        </p:nvSpPr>
        <p:spPr bwMode="auto">
          <a:xfrm flipV="1">
            <a:off x="2921794" y="5950545"/>
            <a:ext cx="1724025" cy="309563"/>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32" name="Line 34"/>
          <p:cNvSpPr>
            <a:spLocks noChangeShapeType="1"/>
          </p:cNvSpPr>
          <p:nvPr/>
        </p:nvSpPr>
        <p:spPr bwMode="auto">
          <a:xfrm>
            <a:off x="2180432" y="3640733"/>
            <a:ext cx="2465387" cy="941387"/>
          </a:xfrm>
          <a:prstGeom prst="line">
            <a:avLst/>
          </a:prstGeom>
          <a:noFill/>
          <a:ln w="28575">
            <a:solidFill>
              <a:srgbClr val="009900"/>
            </a:solidFill>
            <a:prstDash val="sysDot"/>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41" name="Line 35"/>
          <p:cNvSpPr>
            <a:spLocks noChangeShapeType="1"/>
          </p:cNvSpPr>
          <p:nvPr/>
        </p:nvSpPr>
        <p:spPr bwMode="auto">
          <a:xfrm>
            <a:off x="7166769" y="3645495"/>
            <a:ext cx="1584325" cy="936625"/>
          </a:xfrm>
          <a:prstGeom prst="line">
            <a:avLst/>
          </a:prstGeom>
          <a:noFill/>
          <a:ln w="28575">
            <a:solidFill>
              <a:srgbClr val="009900"/>
            </a:solidFill>
            <a:prstDash val="sysDot"/>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42" name="Line 36"/>
          <p:cNvSpPr>
            <a:spLocks noChangeShapeType="1"/>
          </p:cNvSpPr>
          <p:nvPr/>
        </p:nvSpPr>
        <p:spPr bwMode="auto">
          <a:xfrm>
            <a:off x="2917032" y="5877520"/>
            <a:ext cx="1728787" cy="431800"/>
          </a:xfrm>
          <a:prstGeom prst="line">
            <a:avLst/>
          </a:prstGeom>
          <a:noFill/>
          <a:ln w="28575">
            <a:solidFill>
              <a:srgbClr val="009900"/>
            </a:solidFill>
            <a:prstDash val="sysDot"/>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5930980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定义</a:t>
            </a:r>
            <a:r>
              <a:rPr lang="zh-CN" altLang="en-US" sz="4000" b="1" dirty="0" smtClean="0">
                <a:solidFill>
                  <a:srgbClr val="FFFFCC"/>
                </a:solidFill>
                <a:effectLst>
                  <a:outerShdw blurRad="38100" dist="38100" dir="2700000" algn="tl">
                    <a:srgbClr val="000000"/>
                  </a:outerShdw>
                </a:effectLst>
              </a:rPr>
              <a:t>视图</a:t>
            </a:r>
            <a:endParaRPr lang="zh-CN" altLang="en-US" sz="4000" b="1" dirty="0">
              <a:solidFill>
                <a:srgbClr val="FFFFCC"/>
              </a:solidFill>
              <a:effectLst>
                <a:outerShdw blurRad="38100" dist="38100" dir="2700000" algn="tl">
                  <a:srgbClr val="000000"/>
                </a:outerShdw>
              </a:effectLst>
            </a:endParaRPr>
          </a:p>
        </p:txBody>
      </p:sp>
      <p:sp>
        <p:nvSpPr>
          <p:cNvPr id="24" name="Rectangle 4"/>
          <p:cNvSpPr txBox="1">
            <a:spLocks noChangeArrowheads="1"/>
          </p:cNvSpPr>
          <p:nvPr/>
        </p:nvSpPr>
        <p:spPr bwMode="auto">
          <a:xfrm>
            <a:off x="395039" y="846357"/>
            <a:ext cx="8353425" cy="19882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110000"/>
              </a:lnSpc>
              <a:spcBef>
                <a:spcPct val="0"/>
              </a:spcBef>
              <a:spcAft>
                <a:spcPct val="0"/>
              </a:spcAft>
              <a:buClr>
                <a:srgbClr val="66FF33"/>
              </a:buClr>
              <a:buSzPct val="85000"/>
              <a:buFont typeface="Wingdings" pitchFamily="2" charset="2"/>
              <a:buNone/>
              <a:tabLst/>
              <a:defRPr/>
            </a:pPr>
            <a:r>
              <a:rPr kumimoji="0" lang="en-US" altLang="en-US" sz="28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CREATE  </a:t>
            </a:r>
            <a:r>
              <a:rPr kumimoji="0" lang="en-US" altLang="en-US" b="1" dirty="0" smtClean="0">
                <a:solidFill>
                  <a:srgbClr val="FFFF00"/>
                </a:solidFill>
                <a:latin typeface="Arial" charset="0"/>
              </a:rPr>
              <a:t>[ OR REPLACE ] </a:t>
            </a:r>
          </a:p>
          <a:p>
            <a:pPr marL="342900" marR="0" lvl="0" indent="-342900" algn="l" defTabSz="914400" rtl="0" eaLnBrk="1" fontAlgn="base" latinLnBrk="0" hangingPunct="1">
              <a:lnSpc>
                <a:spcPct val="110000"/>
              </a:lnSpc>
              <a:spcBef>
                <a:spcPct val="0"/>
              </a:spcBef>
              <a:spcAft>
                <a:spcPct val="0"/>
              </a:spcAft>
              <a:buClr>
                <a:srgbClr val="66FF33"/>
              </a:buClr>
              <a:buSzPct val="85000"/>
              <a:buFont typeface="Wingdings" pitchFamily="2" charset="2"/>
              <a:buNone/>
              <a:tabLst/>
              <a:defRPr/>
            </a:pPr>
            <a:r>
              <a:rPr kumimoji="0" lang="en-US" altLang="en-US" sz="28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VIEW</a:t>
            </a:r>
            <a:r>
              <a:rPr kumimoji="0" lang="en-US" altLang="en-US" sz="2800" b="1" i="0" u="none" strike="noStrike" kern="1200" cap="none" spc="0" normalizeH="0" baseline="0" noProof="0" dirty="0" smtClean="0">
                <a:ln>
                  <a:noFill/>
                </a:ln>
                <a:solidFill>
                  <a:srgbClr val="FFFF66"/>
                </a:solidFill>
                <a:effectLst>
                  <a:outerShdw blurRad="38100" dist="38100" dir="2700000" algn="tl">
                    <a:srgbClr val="000000"/>
                  </a:outerShdw>
                </a:effectLst>
                <a:uLnTx/>
                <a:uFillTx/>
                <a:latin typeface="Arial" charset="0"/>
                <a:ea typeface="微软雅黑" pitchFamily="34" charset="-122"/>
                <a:cs typeface="+mn-cs"/>
              </a:rPr>
              <a:t> </a:t>
            </a:r>
            <a:r>
              <a:rPr kumimoji="0" lang="en-US" altLang="en-US"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&lt;</a:t>
            </a:r>
            <a:r>
              <a:rPr kumimoji="0" lang="en-US" altLang="en-US" sz="2800" b="0" i="1" u="none" strike="noStrike" kern="1200" cap="none" spc="0" normalizeH="0" baseline="0" noProof="0" dirty="0" err="1"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视图名</a:t>
            </a:r>
            <a:r>
              <a:rPr kumimoji="0" lang="en-US" altLang="en-US"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 [(&lt;</a:t>
            </a:r>
            <a:r>
              <a:rPr kumimoji="0" lang="en-US" altLang="en-US"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列名1</a:t>
            </a:r>
            <a:r>
              <a:rPr kumimoji="0" lang="en-US" altLang="en-US"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&gt;[,&lt;</a:t>
            </a:r>
            <a:r>
              <a:rPr kumimoji="0" lang="en-US" altLang="en-US"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列名2</a:t>
            </a:r>
            <a:r>
              <a:rPr kumimoji="0" lang="en-US" altLang="en-US"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a:t>
            </a:r>
          </a:p>
          <a:p>
            <a:pPr marL="342900" marR="0" lvl="0" indent="-342900" algn="l" defTabSz="914400" rtl="0" eaLnBrk="1" fontAlgn="base" latinLnBrk="0" hangingPunct="1">
              <a:lnSpc>
                <a:spcPct val="110000"/>
              </a:lnSpc>
              <a:spcBef>
                <a:spcPct val="0"/>
              </a:spcBef>
              <a:spcAft>
                <a:spcPct val="0"/>
              </a:spcAft>
              <a:buClr>
                <a:srgbClr val="66FF33"/>
              </a:buClr>
              <a:buSzPct val="85000"/>
              <a:buFont typeface="Wingdings" pitchFamily="2" charset="2"/>
              <a:buNone/>
              <a:tabLst/>
              <a:defRPr/>
            </a:pPr>
            <a:r>
              <a:rPr kumimoji="0" lang="en-US" altLang="en-US" sz="28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AS</a:t>
            </a:r>
            <a:r>
              <a:rPr kumimoji="0" lang="en-US" altLang="en-US" sz="2800" b="1" i="0" u="none" strike="noStrike" kern="1200" cap="none" spc="0" normalizeH="0" baseline="0" noProof="0" dirty="0" smtClean="0">
                <a:ln>
                  <a:noFill/>
                </a:ln>
                <a:solidFill>
                  <a:srgbClr val="FFFF66"/>
                </a:solidFill>
                <a:effectLst>
                  <a:outerShdw blurRad="38100" dist="38100" dir="2700000" algn="tl">
                    <a:srgbClr val="000000"/>
                  </a:outerShdw>
                </a:effectLst>
                <a:uLnTx/>
                <a:uFillTx/>
                <a:latin typeface="Arial" charset="0"/>
                <a:ea typeface="微软雅黑" pitchFamily="34" charset="-122"/>
                <a:cs typeface="+mn-cs"/>
              </a:rPr>
              <a:t> </a:t>
            </a:r>
            <a:r>
              <a:rPr kumimoji="0" lang="en-US" altLang="zh-CN" sz="2800" b="1" i="0" u="none" strike="noStrike" kern="1200" cap="none" spc="0" normalizeH="0" baseline="0" noProof="0" dirty="0" smtClean="0">
                <a:ln>
                  <a:noFill/>
                </a:ln>
                <a:solidFill>
                  <a:srgbClr val="FFFF66"/>
                </a:solidFill>
                <a:effectLst>
                  <a:outerShdw blurRad="38100" dist="38100" dir="2700000" algn="tl">
                    <a:srgbClr val="000000"/>
                  </a:outerShdw>
                </a:effectLst>
                <a:uLnTx/>
                <a:uFillTx/>
                <a:latin typeface="Arial" charset="0"/>
                <a:ea typeface="微软雅黑" pitchFamily="34" charset="-122"/>
                <a:cs typeface="+mn-cs"/>
              </a:rPr>
              <a:t> </a:t>
            </a:r>
            <a:r>
              <a:rPr kumimoji="0" lang="en-US" altLang="en-US" sz="2800" b="0" i="1" u="none" strike="noStrike" kern="1200" cap="none" spc="0" normalizeH="0" baseline="0" noProof="0" dirty="0" err="1"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SELECT语句</a:t>
            </a:r>
            <a:endParaRPr kumimoji="0" lang="en-US" altLang="en-US"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a:p>
            <a:pPr marL="342900" marR="0" lvl="0" indent="-342900" algn="l" defTabSz="914400" rtl="0" eaLnBrk="1" fontAlgn="base" latinLnBrk="0" hangingPunct="1">
              <a:lnSpc>
                <a:spcPct val="110000"/>
              </a:lnSpc>
              <a:spcBef>
                <a:spcPct val="0"/>
              </a:spcBef>
              <a:spcAft>
                <a:spcPct val="0"/>
              </a:spcAft>
              <a:buClr>
                <a:srgbClr val="66FF33"/>
              </a:buClr>
              <a:buSzPct val="85000"/>
              <a:buFont typeface="Wingdings" pitchFamily="2" charset="2"/>
              <a:buNone/>
              <a:tabLst/>
              <a:defRPr/>
            </a:pPr>
            <a:r>
              <a:rPr kumimoji="0" lang="en-US" altLang="en-US"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[WITH CHECK OPTION]</a:t>
            </a:r>
          </a:p>
        </p:txBody>
      </p:sp>
      <p:sp>
        <p:nvSpPr>
          <p:cNvPr id="33" name="Rectangle 6"/>
          <p:cNvSpPr>
            <a:spLocks noChangeArrowheads="1"/>
          </p:cNvSpPr>
          <p:nvPr/>
        </p:nvSpPr>
        <p:spPr bwMode="auto">
          <a:xfrm>
            <a:off x="4716214" y="2133377"/>
            <a:ext cx="330219" cy="338554"/>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a:t>
            </a:r>
          </a:p>
        </p:txBody>
      </p:sp>
      <p:sp>
        <p:nvSpPr>
          <p:cNvPr id="34" name="Rectangle 7"/>
          <p:cNvSpPr>
            <a:spLocks noChangeArrowheads="1"/>
          </p:cNvSpPr>
          <p:nvPr/>
        </p:nvSpPr>
        <p:spPr bwMode="auto">
          <a:xfrm>
            <a:off x="354557" y="3124936"/>
            <a:ext cx="3935413" cy="1676400"/>
          </a:xfrm>
          <a:prstGeom prst="rect">
            <a:avLst/>
          </a:prstGeom>
          <a:noFill/>
          <a:ln w="9525">
            <a:noFill/>
            <a:miter lim="800000"/>
            <a:headEnd/>
            <a:tailEnd/>
          </a:ln>
          <a:effectLst/>
        </p:spPr>
        <p:txBody>
          <a:bodyPr/>
          <a:lstStyle/>
          <a:p>
            <a:pPr marL="0" marR="0" lvl="0" indent="0" algn="just" defTabSz="914400" rtl="0" eaLnBrk="1" fontAlgn="auto" latinLnBrk="0" hangingPunct="1">
              <a:lnSpc>
                <a:spcPct val="100000"/>
              </a:lnSpc>
              <a:spcBef>
                <a:spcPts val="0"/>
              </a:spcBef>
              <a:spcAft>
                <a:spcPct val="15000"/>
              </a:spcAft>
              <a:buClr>
                <a:srgbClr val="FFFFFF"/>
              </a:buClr>
              <a:buSzPct val="85000"/>
              <a:buFontTx/>
              <a:buNone/>
              <a:tabLst/>
              <a:defRPr/>
            </a:pPr>
            <a:r>
              <a:rPr kumimoji="0" lang="zh-CN" altLang="en-US" sz="2800" b="0" i="0" u="none" strike="noStrike" kern="0" cap="none" spc="0" normalizeH="0" baseline="0" noProof="0" dirty="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建立男学生的视图</a:t>
            </a:r>
            <a:r>
              <a:rPr kumimoji="0" lang="en-US" altLang="zh-CN" sz="2800" b="0" i="0" u="none" strike="noStrike" kern="0" cap="none" spc="0" normalizeH="0" baseline="0" noProof="0" dirty="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ST_M</a:t>
            </a:r>
          </a:p>
        </p:txBody>
      </p:sp>
      <p:sp>
        <p:nvSpPr>
          <p:cNvPr id="35" name="Rectangle 8"/>
          <p:cNvSpPr>
            <a:spLocks noChangeArrowheads="1"/>
          </p:cNvSpPr>
          <p:nvPr/>
        </p:nvSpPr>
        <p:spPr bwMode="auto">
          <a:xfrm>
            <a:off x="251370" y="3567259"/>
            <a:ext cx="7416800" cy="1676400"/>
          </a:xfrm>
          <a:prstGeom prst="rect">
            <a:avLst/>
          </a:prstGeom>
          <a:noFill/>
          <a:ln w="9525">
            <a:noFill/>
            <a:miter lim="800000"/>
            <a:headEnd/>
            <a:tailEnd/>
          </a:ln>
          <a:effectLst/>
        </p:spPr>
        <p:txBody>
          <a:bodyPr/>
          <a:lstStyle/>
          <a:p>
            <a:pPr marL="0" marR="0" lvl="0" indent="0" algn="just" defTabSz="914400" rtl="0" eaLnBrk="1" fontAlgn="auto" latinLnBrk="0" hangingPunct="1">
              <a:lnSpc>
                <a:spcPct val="100000"/>
              </a:lnSpc>
              <a:spcBef>
                <a:spcPts val="0"/>
              </a:spcBef>
              <a:spcAft>
                <a:spcPct val="10000"/>
              </a:spcAft>
              <a:buClr>
                <a:srgbClr val="FFFFFF"/>
              </a:buClr>
              <a:buSzPct val="85000"/>
              <a:buFontTx/>
              <a:buNone/>
              <a:tabLst/>
              <a:defRPr/>
            </a:pPr>
            <a:r>
              <a:rPr kumimoji="0" lang="en-US" altLang="zh-CN" sz="2800" b="0" i="0" u="none" strike="noStrike" kern="0" cap="none" spc="0" normalizeH="0" baseline="0" noProof="0" dirty="0">
                <a:ln>
                  <a:noFill/>
                </a:ln>
                <a:solidFill>
                  <a:srgbClr val="FFFF00"/>
                </a:solidFill>
                <a:effectLst>
                  <a:outerShdw blurRad="38100" dist="38100" dir="2700000" algn="tl">
                    <a:srgbClr val="000000"/>
                  </a:outerShdw>
                </a:effectLst>
                <a:uLnTx/>
                <a:uFillTx/>
                <a:latin typeface="Franklin Gothic Book"/>
                <a:ea typeface="黑体" panose="02010609060101010101" pitchFamily="49" charset="-122"/>
                <a:cs typeface="+mn-cs"/>
              </a:rPr>
              <a:t>CREATE VIEW ST_M AS</a:t>
            </a:r>
          </a:p>
          <a:p>
            <a:pPr marL="0" marR="0" lvl="0" indent="0" algn="just" defTabSz="914400" rtl="0" eaLnBrk="1" fontAlgn="auto" latinLnBrk="0" hangingPunct="1">
              <a:lnSpc>
                <a:spcPct val="100000"/>
              </a:lnSpc>
              <a:spcBef>
                <a:spcPts val="0"/>
              </a:spcBef>
              <a:spcAft>
                <a:spcPct val="10000"/>
              </a:spcAft>
              <a:buClr>
                <a:srgbClr val="FFFFFF"/>
              </a:buClr>
              <a:buSzPct val="85000"/>
              <a:buFontTx/>
              <a:buNone/>
              <a:tabLst/>
              <a:defRPr/>
            </a:pP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SELECT * FROM ST</a:t>
            </a:r>
          </a:p>
          <a:p>
            <a:pPr marL="0" marR="0" lvl="0" indent="0" algn="just" defTabSz="914400" rtl="0" eaLnBrk="1" fontAlgn="auto" latinLnBrk="0" hangingPunct="1">
              <a:lnSpc>
                <a:spcPct val="100000"/>
              </a:lnSpc>
              <a:spcBef>
                <a:spcPts val="0"/>
              </a:spcBef>
              <a:spcAft>
                <a:spcPct val="10000"/>
              </a:spcAft>
              <a:buClr>
                <a:srgbClr val="FFFFFF"/>
              </a:buClr>
              <a:buSzPct val="85000"/>
              <a:buFontTx/>
              <a:buNone/>
              <a:tabLst/>
              <a:defRPr/>
            </a:pP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 WHERE </a:t>
            </a:r>
            <a:r>
              <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性别</a:t>
            </a: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男</a:t>
            </a:r>
            <a:r>
              <a:rPr kumimoji="0" lang="en-US" altLang="zh-CN"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黑体" panose="02010609060101010101" pitchFamily="49" charset="-122"/>
              <a:cs typeface="+mn-cs"/>
            </a:endParaRPr>
          </a:p>
        </p:txBody>
      </p:sp>
      <p:graphicFrame>
        <p:nvGraphicFramePr>
          <p:cNvPr id="36" name="Group 9"/>
          <p:cNvGraphicFramePr>
            <a:graphicFrameLocks noGrp="1"/>
          </p:cNvGraphicFramePr>
          <p:nvPr>
            <p:extLst/>
          </p:nvPr>
        </p:nvGraphicFramePr>
        <p:xfrm>
          <a:off x="5148014" y="2133377"/>
          <a:ext cx="3351212" cy="2438400"/>
        </p:xfrm>
        <a:graphic>
          <a:graphicData uri="http://schemas.openxmlformats.org/drawingml/2006/table">
            <a:tbl>
              <a:tblPr/>
              <a:tblGrid>
                <a:gridCol w="8207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7" name="Rectangle 79"/>
          <p:cNvSpPr>
            <a:spLocks noChangeArrowheads="1"/>
          </p:cNvSpPr>
          <p:nvPr/>
        </p:nvSpPr>
        <p:spPr bwMode="auto">
          <a:xfrm>
            <a:off x="2507226" y="5304442"/>
            <a:ext cx="721351" cy="338554"/>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200" b="0" i="0" u="none" strike="noStrike" kern="1200" cap="none" spc="0" normalizeH="0" baseline="0" noProof="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ST_M</a:t>
            </a:r>
          </a:p>
        </p:txBody>
      </p:sp>
      <p:graphicFrame>
        <p:nvGraphicFramePr>
          <p:cNvPr id="38" name="Group 156"/>
          <p:cNvGraphicFramePr>
            <a:graphicFrameLocks noGrp="1"/>
          </p:cNvGraphicFramePr>
          <p:nvPr>
            <p:extLst>
              <p:ext uri="{D42A27DB-BD31-4B8C-83A1-F6EECF244321}">
                <p14:modId xmlns:p14="http://schemas.microsoft.com/office/powerpoint/2010/main" val="257455529"/>
              </p:ext>
            </p:extLst>
          </p:nvPr>
        </p:nvGraphicFramePr>
        <p:xfrm>
          <a:off x="3370826" y="5304442"/>
          <a:ext cx="3351213" cy="1219200"/>
        </p:xfrm>
        <a:graphic>
          <a:graphicData uri="http://schemas.openxmlformats.org/drawingml/2006/table">
            <a:tbl>
              <a:tblPr/>
              <a:tblGrid>
                <a:gridCol w="820738">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2">
                  <a:extLst>
                    <a:ext uri="{9D8B030D-6E8A-4147-A177-3AD203B41FA5}">
                      <a16:colId xmlns:a16="http://schemas.microsoft.com/office/drawing/2014/main" val="20002"/>
                    </a:ext>
                  </a:extLst>
                </a:gridCol>
                <a:gridCol w="569913">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9" name="Line 157"/>
          <p:cNvSpPr>
            <a:spLocks noChangeShapeType="1"/>
          </p:cNvSpPr>
          <p:nvPr/>
        </p:nvSpPr>
        <p:spPr bwMode="auto">
          <a:xfrm flipV="1">
            <a:off x="3438920" y="2133376"/>
            <a:ext cx="1709093" cy="3171066"/>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40" name="Line 158"/>
          <p:cNvSpPr>
            <a:spLocks noChangeShapeType="1"/>
          </p:cNvSpPr>
          <p:nvPr/>
        </p:nvSpPr>
        <p:spPr bwMode="auto">
          <a:xfrm flipV="1">
            <a:off x="6722039" y="2133375"/>
            <a:ext cx="1739087" cy="3171066"/>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43" name="Line 159"/>
          <p:cNvSpPr>
            <a:spLocks noChangeShapeType="1"/>
          </p:cNvSpPr>
          <p:nvPr/>
        </p:nvSpPr>
        <p:spPr bwMode="auto">
          <a:xfrm flipV="1">
            <a:off x="4500313" y="4581302"/>
            <a:ext cx="680413" cy="72314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44" name="Line 160"/>
          <p:cNvSpPr>
            <a:spLocks noChangeShapeType="1"/>
          </p:cNvSpPr>
          <p:nvPr/>
        </p:nvSpPr>
        <p:spPr bwMode="auto">
          <a:xfrm flipV="1">
            <a:off x="6722037" y="4581302"/>
            <a:ext cx="1737501" cy="194234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551705968"/>
      </p:ext>
    </p:extLst>
  </p:cSld>
  <p:clrMapOvr>
    <a:masterClrMapping/>
  </p:clrMapOvr>
  <p:transition spd="slow">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查看</a:t>
            </a:r>
            <a:r>
              <a:rPr lang="zh-CN" altLang="en-US" sz="4000" b="1" dirty="0" smtClean="0">
                <a:solidFill>
                  <a:srgbClr val="FFFFCC"/>
                </a:solidFill>
                <a:effectLst>
                  <a:outerShdw blurRad="38100" dist="38100" dir="2700000" algn="tl">
                    <a:srgbClr val="000000"/>
                  </a:outerShdw>
                </a:effectLst>
              </a:rPr>
              <a:t>视图</a:t>
            </a:r>
            <a:endParaRPr lang="zh-CN" altLang="en-US" sz="4000" b="1" dirty="0">
              <a:solidFill>
                <a:srgbClr val="FFFFCC"/>
              </a:solidFill>
              <a:effectLst>
                <a:outerShdw blurRad="38100" dist="38100" dir="2700000" algn="tl">
                  <a:srgbClr val="000000"/>
                </a:outerShdw>
              </a:effectLst>
            </a:endParaRPr>
          </a:p>
        </p:txBody>
      </p:sp>
      <p:sp>
        <p:nvSpPr>
          <p:cNvPr id="14" name="Rectangle 3"/>
          <p:cNvSpPr txBox="1">
            <a:spLocks noChangeArrowheads="1"/>
          </p:cNvSpPr>
          <p:nvPr/>
        </p:nvSpPr>
        <p:spPr bwMode="auto">
          <a:xfrm>
            <a:off x="418168" y="1052736"/>
            <a:ext cx="8353425" cy="936104"/>
          </a:xfrm>
          <a:prstGeom prst="rect">
            <a:avLst/>
          </a:prstGeom>
          <a:noFill/>
          <a:ln w="12700" cap="sq">
            <a:noFill/>
            <a:miter lim="800000"/>
            <a:headEnd/>
            <a:tailEnd/>
          </a:ln>
          <a:effectLst/>
        </p:spPr>
        <p:txBody>
          <a:bodyPr lIns="0" tIns="0" rIns="0" bIns="0"/>
          <a:lstStyle>
            <a:defPPr>
              <a:defRPr lang="en-US"/>
            </a:defPPr>
            <a:lvl1pPr marL="185738" marR="0" lvl="0" indent="-185738" defTabSz="914400" eaLnBrk="1" fontAlgn="auto" latinLnBrk="0" hangingPunct="1">
              <a:lnSpc>
                <a:spcPct val="100000"/>
              </a:lnSpc>
              <a:spcBef>
                <a:spcPts val="0"/>
              </a:spcBef>
              <a:spcAft>
                <a:spcPct val="50000"/>
              </a:spcAft>
              <a:buClr>
                <a:srgbClr val="FFFFFF"/>
              </a:buClr>
              <a:buSzTx/>
              <a:buFontTx/>
              <a:buChar char="•"/>
              <a:tabLst/>
              <a:defRPr kumimoji="0" sz="2800" b="0" i="0" u="none" strike="noStrike" kern="0" cap="none" spc="0" normalizeH="0" baseline="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defRPr>
            </a:lvl1pPr>
          </a:lstStyle>
          <a:p>
            <a:r>
              <a:rPr lang="en-US" altLang="zh-CN" b="1" dirty="0">
                <a:solidFill>
                  <a:srgbClr val="FFCC00"/>
                </a:solidFill>
                <a:latin typeface="+mj-ea"/>
                <a:ea typeface="+mj-ea"/>
              </a:rPr>
              <a:t>SHOW </a:t>
            </a:r>
            <a:r>
              <a:rPr lang="en-US" altLang="zh-CN" b="1" dirty="0" smtClean="0">
                <a:solidFill>
                  <a:srgbClr val="FFCC00"/>
                </a:solidFill>
                <a:latin typeface="+mj-ea"/>
                <a:ea typeface="+mj-ea"/>
              </a:rPr>
              <a:t> CREATE  VIEW </a:t>
            </a:r>
            <a:r>
              <a:rPr lang="zh-CN" altLang="en-US" dirty="0">
                <a:solidFill>
                  <a:srgbClr val="CCFFCC"/>
                </a:solidFill>
                <a:latin typeface="Arial" pitchFamily="34" charset="0"/>
                <a:ea typeface="微软雅黑" pitchFamily="34" charset="-122"/>
              </a:rPr>
              <a:t>语句可以</a:t>
            </a:r>
            <a:r>
              <a:rPr lang="zh-CN" altLang="en-US" dirty="0" smtClean="0">
                <a:solidFill>
                  <a:srgbClr val="CCFFCC"/>
                </a:solidFill>
                <a:latin typeface="Arial" pitchFamily="34" charset="0"/>
                <a:ea typeface="微软雅黑" pitchFamily="34" charset="-122"/>
              </a:rPr>
              <a:t>查看视图的定义</a:t>
            </a:r>
            <a:endParaRPr lang="en-US" altLang="zh-CN" dirty="0" smtClean="0">
              <a:latin typeface="+mj-ea"/>
              <a:ea typeface="+mj-ea"/>
            </a:endParaRPr>
          </a:p>
        </p:txBody>
      </p:sp>
      <p:sp>
        <p:nvSpPr>
          <p:cNvPr id="15" name="Rectangle 4"/>
          <p:cNvSpPr>
            <a:spLocks noChangeArrowheads="1"/>
          </p:cNvSpPr>
          <p:nvPr/>
        </p:nvSpPr>
        <p:spPr bwMode="auto">
          <a:xfrm>
            <a:off x="468063" y="1697901"/>
            <a:ext cx="8207375" cy="550748"/>
          </a:xfrm>
          <a:prstGeom prst="rect">
            <a:avLst/>
          </a:prstGeom>
          <a:noFill/>
          <a:ln w="9525">
            <a:noFill/>
            <a:miter lim="800000"/>
            <a:headEnd/>
            <a:tailEnd/>
          </a:ln>
          <a:effectLst/>
        </p:spPr>
        <p:txBody>
          <a:bodyPr/>
          <a:lstStyle/>
          <a:p>
            <a:pPr lvl="0" fontAlgn="auto">
              <a:spcBef>
                <a:spcPts val="0"/>
              </a:spcBef>
              <a:spcAft>
                <a:spcPct val="15000"/>
              </a:spcAft>
              <a:buClr>
                <a:srgbClr val="66FF33"/>
              </a:buClr>
              <a:buSzPct val="85000"/>
              <a:defRPr/>
            </a:pP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例如</a:t>
            </a:r>
            <a:r>
              <a:rPr kumimoji="0" lang="zh-CN" altLang="en-US" sz="2800" kern="0" dirty="0" smtClean="0">
                <a:solidFill>
                  <a:srgbClr val="66FF66"/>
                </a:solidFill>
                <a:effectLst>
                  <a:outerShdw blurRad="38100" dist="38100" dir="2700000" algn="tl">
                    <a:srgbClr val="000000"/>
                  </a:outerShdw>
                </a:effectLst>
                <a:latin typeface="Franklin Gothic Book"/>
                <a:ea typeface="黑体" panose="02010609060101010101" pitchFamily="49" charset="-122"/>
              </a:rPr>
              <a:t>查看视图</a:t>
            </a:r>
            <a:r>
              <a:rPr kumimoji="0" lang="en-US" altLang="zh-CN" sz="2800" kern="0" dirty="0" err="1" smtClean="0">
                <a:solidFill>
                  <a:srgbClr val="66FF66"/>
                </a:solidFill>
                <a:effectLst>
                  <a:outerShdw blurRad="38100" dist="38100" dir="2700000" algn="tl">
                    <a:srgbClr val="000000"/>
                  </a:outerShdw>
                </a:effectLst>
                <a:latin typeface="Franklin Gothic Book"/>
                <a:ea typeface="黑体" panose="02010609060101010101" pitchFamily="49" charset="-122"/>
              </a:rPr>
              <a:t>view_t</a:t>
            </a:r>
            <a:r>
              <a:rPr kumimoji="0" lang="zh-CN" altLang="en-US" sz="2800" kern="0" dirty="0" smtClean="0">
                <a:solidFill>
                  <a:srgbClr val="66FF66"/>
                </a:solidFill>
                <a:effectLst>
                  <a:outerShdw blurRad="38100" dist="38100" dir="2700000" algn="tl">
                    <a:srgbClr val="000000"/>
                  </a:outerShdw>
                </a:effectLst>
                <a:latin typeface="Franklin Gothic Book"/>
                <a:ea typeface="黑体" panose="02010609060101010101" pitchFamily="49" charset="-122"/>
              </a:rPr>
              <a:t>的定义</a:t>
            </a: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lang="en-US" altLang="zh-CN" sz="2800" dirty="0">
              <a:latin typeface="+mj-ea"/>
            </a:endParaRPr>
          </a:p>
          <a:p>
            <a:pPr marL="0" indent="0">
              <a:buNone/>
            </a:pPr>
            <a:r>
              <a:rPr lang="en-US" altLang="zh-CN" sz="2800" b="1" dirty="0" smtClean="0">
                <a:solidFill>
                  <a:srgbClr val="FFCC00"/>
                </a:solidFill>
                <a:latin typeface="+mj-ea"/>
              </a:rPr>
              <a:t>show </a:t>
            </a:r>
            <a:r>
              <a:rPr lang="en-US" altLang="zh-CN" sz="2800" b="1" dirty="0">
                <a:solidFill>
                  <a:srgbClr val="FFCC00"/>
                </a:solidFill>
                <a:latin typeface="+mj-ea"/>
              </a:rPr>
              <a:t>create </a:t>
            </a:r>
            <a:r>
              <a:rPr lang="en-US" altLang="zh-CN" sz="2800" b="1" dirty="0" smtClean="0">
                <a:solidFill>
                  <a:srgbClr val="FFCC00"/>
                </a:solidFill>
                <a:latin typeface="+mj-ea"/>
              </a:rPr>
              <a:t>view  </a:t>
            </a:r>
            <a:r>
              <a:rPr lang="en-US" altLang="zh-CN" sz="2800" dirty="0" err="1" smtClean="0">
                <a:solidFill>
                  <a:srgbClr val="FFFFCC"/>
                </a:solidFill>
                <a:latin typeface="+mj-ea"/>
              </a:rPr>
              <a:t>view_t</a:t>
            </a:r>
            <a:r>
              <a:rPr lang="en-US" altLang="zh-CN" sz="2800" dirty="0" smtClean="0">
                <a:solidFill>
                  <a:srgbClr val="FFFFCC"/>
                </a:solidFill>
                <a:latin typeface="+mj-ea"/>
              </a:rPr>
              <a:t>;</a:t>
            </a:r>
            <a:endParaRPr lang="en-US" altLang="zh-CN" sz="2800" dirty="0">
              <a:solidFill>
                <a:srgbClr val="FFFFCC"/>
              </a:solidFill>
              <a:latin typeface="+mj-ea"/>
            </a:endParaRPr>
          </a:p>
          <a:p>
            <a:pPr lvl="0" fontAlgn="auto">
              <a:spcBef>
                <a:spcPts val="0"/>
              </a:spcBef>
              <a:spcAft>
                <a:spcPct val="15000"/>
              </a:spcAft>
              <a:buClr>
                <a:srgbClr val="66FF33"/>
              </a:buClr>
              <a:buSzPct val="85000"/>
              <a:defRPr/>
            </a:pPr>
            <a:endParaRPr kumimoji="0" lang="zh-CN" altLang="en-US" sz="2800" b="0" i="0" u="none" strike="noStrike" kern="0" cap="none" spc="0" normalizeH="0" baseline="0" noProof="0" dirty="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16" name="Rectangle 3"/>
          <p:cNvSpPr txBox="1">
            <a:spLocks noChangeArrowheads="1"/>
          </p:cNvSpPr>
          <p:nvPr/>
        </p:nvSpPr>
        <p:spPr bwMode="auto">
          <a:xfrm>
            <a:off x="418168" y="3567203"/>
            <a:ext cx="8353425" cy="936104"/>
          </a:xfrm>
          <a:prstGeom prst="rect">
            <a:avLst/>
          </a:prstGeom>
          <a:noFill/>
          <a:ln w="12700" cap="sq">
            <a:noFill/>
            <a:miter lim="800000"/>
            <a:headEnd/>
            <a:tailEnd/>
          </a:ln>
          <a:effectLst/>
        </p:spPr>
        <p:txBody>
          <a:bodyPr lIns="0" tIns="0" rIns="0" bIns="0"/>
          <a:lstStyle>
            <a:defPPr>
              <a:defRPr lang="en-US"/>
            </a:defPPr>
            <a:lvl1pPr marL="185738" marR="0" lvl="0" indent="-185738" defTabSz="914400" eaLnBrk="1" fontAlgn="auto" latinLnBrk="0" hangingPunct="1">
              <a:lnSpc>
                <a:spcPct val="100000"/>
              </a:lnSpc>
              <a:spcBef>
                <a:spcPts val="0"/>
              </a:spcBef>
              <a:spcAft>
                <a:spcPct val="50000"/>
              </a:spcAft>
              <a:buClr>
                <a:srgbClr val="FFFFFF"/>
              </a:buClr>
              <a:buSzTx/>
              <a:buFontTx/>
              <a:buChar char="•"/>
              <a:tabLst/>
              <a:defRPr kumimoji="0" sz="2800" b="0" i="0" u="none" strike="noStrike" kern="0" cap="none" spc="0" normalizeH="0" baseline="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defRPr>
            </a:lvl1pPr>
          </a:lstStyle>
          <a:p>
            <a:r>
              <a:rPr lang="zh-CN" altLang="zh-CN" dirty="0" smtClean="0">
                <a:solidFill>
                  <a:srgbClr val="CCFFCC"/>
                </a:solidFill>
                <a:latin typeface="Arial" pitchFamily="34" charset="0"/>
                <a:ea typeface="微软雅黑" pitchFamily="34" charset="-122"/>
              </a:rPr>
              <a:t>大多数</a:t>
            </a:r>
            <a:r>
              <a:rPr lang="zh-CN" altLang="zh-CN" dirty="0">
                <a:solidFill>
                  <a:srgbClr val="CCFFCC"/>
                </a:solidFill>
                <a:latin typeface="Arial" pitchFamily="34" charset="0"/>
                <a:ea typeface="微软雅黑" pitchFamily="34" charset="-122"/>
              </a:rPr>
              <a:t>跟表的有关的语句也能作用于视图</a:t>
            </a:r>
            <a:r>
              <a:rPr lang="zh-CN" altLang="zh-CN" dirty="0" smtClean="0">
                <a:solidFill>
                  <a:srgbClr val="CCFFCC"/>
                </a:solidFill>
                <a:latin typeface="Arial" pitchFamily="34" charset="0"/>
                <a:ea typeface="微软雅黑" pitchFamily="34" charset="-122"/>
              </a:rPr>
              <a:t>。例如</a:t>
            </a:r>
            <a:r>
              <a:rPr lang="en-US" altLang="zh-CN" dirty="0" smtClean="0">
                <a:solidFill>
                  <a:srgbClr val="CCFFCC"/>
                </a:solidFill>
                <a:latin typeface="Arial" pitchFamily="34" charset="0"/>
                <a:ea typeface="微软雅黑" pitchFamily="34" charset="-122"/>
              </a:rPr>
              <a:t>SHOW TABLES</a:t>
            </a:r>
            <a:r>
              <a:rPr lang="zh-CN" altLang="en-US" dirty="0" smtClean="0">
                <a:solidFill>
                  <a:srgbClr val="CCFFCC"/>
                </a:solidFill>
                <a:latin typeface="Arial" pitchFamily="34" charset="0"/>
                <a:ea typeface="微软雅黑" pitchFamily="34" charset="-122"/>
              </a:rPr>
              <a:t>、</a:t>
            </a:r>
            <a:r>
              <a:rPr lang="en-US" altLang="zh-CN" dirty="0" smtClean="0">
                <a:solidFill>
                  <a:srgbClr val="CCFFCC"/>
                </a:solidFill>
                <a:latin typeface="Arial" pitchFamily="34" charset="0"/>
                <a:ea typeface="微软雅黑" pitchFamily="34" charset="-122"/>
              </a:rPr>
              <a:t>DESCRIBE</a:t>
            </a:r>
            <a:r>
              <a:rPr lang="zh-CN" altLang="zh-CN" dirty="0" smtClean="0">
                <a:solidFill>
                  <a:srgbClr val="CCFFCC"/>
                </a:solidFill>
                <a:latin typeface="Arial" pitchFamily="34" charset="0"/>
                <a:ea typeface="微软雅黑" pitchFamily="34" charset="-122"/>
              </a:rPr>
              <a:t>、</a:t>
            </a:r>
            <a:r>
              <a:rPr lang="en-US" altLang="zh-CN" dirty="0" smtClean="0">
                <a:solidFill>
                  <a:srgbClr val="CCFFCC"/>
                </a:solidFill>
                <a:latin typeface="Arial" pitchFamily="34" charset="0"/>
                <a:ea typeface="微软雅黑" pitchFamily="34" charset="-122"/>
              </a:rPr>
              <a:t>SHOW TABLE STATUS </a:t>
            </a:r>
            <a:r>
              <a:rPr lang="zh-CN" altLang="zh-CN" dirty="0" smtClean="0">
                <a:solidFill>
                  <a:srgbClr val="CCFFCC"/>
                </a:solidFill>
                <a:latin typeface="Arial" pitchFamily="34" charset="0"/>
                <a:ea typeface="微软雅黑" pitchFamily="34" charset="-122"/>
              </a:rPr>
              <a:t>等</a:t>
            </a:r>
            <a:endParaRPr lang="en-US" altLang="zh-CN" dirty="0" smtClean="0">
              <a:solidFill>
                <a:srgbClr val="CCFFCC"/>
              </a:solidFill>
              <a:latin typeface="Arial" pitchFamily="34" charset="0"/>
              <a:ea typeface="微软雅黑" pitchFamily="34" charset="-122"/>
            </a:endParaRPr>
          </a:p>
        </p:txBody>
      </p:sp>
      <p:sp>
        <p:nvSpPr>
          <p:cNvPr id="17" name="Rectangle 4"/>
          <p:cNvSpPr>
            <a:spLocks noChangeArrowheads="1"/>
          </p:cNvSpPr>
          <p:nvPr/>
        </p:nvSpPr>
        <p:spPr bwMode="auto">
          <a:xfrm>
            <a:off x="491192" y="5013176"/>
            <a:ext cx="8207375" cy="550748"/>
          </a:xfrm>
          <a:prstGeom prst="rect">
            <a:avLst/>
          </a:prstGeom>
          <a:noFill/>
          <a:ln w="9525">
            <a:noFill/>
            <a:miter lim="800000"/>
            <a:headEnd/>
            <a:tailEnd/>
          </a:ln>
          <a:effectLst/>
        </p:spPr>
        <p:txBody>
          <a:bodyPr/>
          <a:lstStyle/>
          <a:p>
            <a:pPr lvl="0" fontAlgn="auto">
              <a:spcBef>
                <a:spcPts val="0"/>
              </a:spcBef>
              <a:spcAft>
                <a:spcPct val="15000"/>
              </a:spcAft>
              <a:buClr>
                <a:srgbClr val="66FF33"/>
              </a:buClr>
              <a:buSzPct val="85000"/>
              <a:defRPr/>
            </a:pP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例如</a:t>
            </a:r>
            <a:r>
              <a:rPr kumimoji="0" lang="zh-CN" altLang="en-US" sz="2800" kern="0" dirty="0" smtClean="0">
                <a:solidFill>
                  <a:srgbClr val="66FF66"/>
                </a:solidFill>
                <a:effectLst>
                  <a:outerShdw blurRad="38100" dist="38100" dir="2700000" algn="tl">
                    <a:srgbClr val="000000"/>
                  </a:outerShdw>
                </a:effectLst>
                <a:latin typeface="Franklin Gothic Book"/>
                <a:ea typeface="黑体" panose="02010609060101010101" pitchFamily="49" charset="-122"/>
              </a:rPr>
              <a:t>查看视图</a:t>
            </a:r>
            <a:r>
              <a:rPr kumimoji="0" lang="en-US" altLang="zh-CN" sz="2800" kern="0" dirty="0" err="1" smtClean="0">
                <a:solidFill>
                  <a:srgbClr val="66FF66"/>
                </a:solidFill>
                <a:effectLst>
                  <a:outerShdw blurRad="38100" dist="38100" dir="2700000" algn="tl">
                    <a:srgbClr val="000000"/>
                  </a:outerShdw>
                </a:effectLst>
                <a:latin typeface="Franklin Gothic Book"/>
                <a:ea typeface="黑体" panose="02010609060101010101" pitchFamily="49" charset="-122"/>
              </a:rPr>
              <a:t>view_t</a:t>
            </a:r>
            <a:r>
              <a:rPr kumimoji="0" lang="zh-CN" altLang="en-US" sz="2800" kern="0" dirty="0" smtClean="0">
                <a:solidFill>
                  <a:srgbClr val="66FF66"/>
                </a:solidFill>
                <a:effectLst>
                  <a:outerShdw blurRad="38100" dist="38100" dir="2700000" algn="tl">
                    <a:srgbClr val="000000"/>
                  </a:outerShdw>
                </a:effectLst>
                <a:latin typeface="Franklin Gothic Book"/>
                <a:ea typeface="黑体" panose="02010609060101010101" pitchFamily="49" charset="-122"/>
              </a:rPr>
              <a:t>的结构</a:t>
            </a:r>
            <a:r>
              <a:rPr kumimoji="0" lang="zh-CN" altLang="en-US" sz="2800" b="0" i="0" u="none" strike="noStrike" kern="0" cap="none" spc="0" normalizeH="0" baseline="0" noProof="0" dirty="0" smtClean="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lang="en-US" altLang="zh-CN" sz="2800" dirty="0">
              <a:latin typeface="+mj-ea"/>
            </a:endParaRPr>
          </a:p>
          <a:p>
            <a:pPr marL="0" indent="0">
              <a:lnSpc>
                <a:spcPct val="150000"/>
              </a:lnSpc>
              <a:buNone/>
            </a:pPr>
            <a:r>
              <a:rPr lang="en-US" altLang="zh-CN" sz="2800" b="1" dirty="0">
                <a:solidFill>
                  <a:srgbClr val="FFCC00"/>
                </a:solidFill>
                <a:latin typeface="+mj-ea"/>
              </a:rPr>
              <a:t>DESCRIBE  </a:t>
            </a:r>
            <a:r>
              <a:rPr lang="en-US" altLang="zh-CN" sz="2800" dirty="0" err="1" smtClean="0">
                <a:solidFill>
                  <a:srgbClr val="FFFFCC"/>
                </a:solidFill>
                <a:latin typeface="+mj-ea"/>
              </a:rPr>
              <a:t>view_t</a:t>
            </a:r>
            <a:r>
              <a:rPr lang="en-US" altLang="zh-CN" sz="2800" dirty="0" smtClean="0">
                <a:solidFill>
                  <a:srgbClr val="FFFFCC"/>
                </a:solidFill>
                <a:latin typeface="+mj-ea"/>
              </a:rPr>
              <a:t>;</a:t>
            </a:r>
            <a:endParaRPr lang="en-US" altLang="zh-CN" sz="2800" dirty="0">
              <a:solidFill>
                <a:srgbClr val="FFFFCC"/>
              </a:solidFill>
              <a:latin typeface="+mj-ea"/>
            </a:endParaRPr>
          </a:p>
          <a:p>
            <a:pPr lvl="0" fontAlgn="auto">
              <a:lnSpc>
                <a:spcPct val="150000"/>
              </a:lnSpc>
              <a:spcBef>
                <a:spcPts val="0"/>
              </a:spcBef>
              <a:spcAft>
                <a:spcPct val="15000"/>
              </a:spcAft>
              <a:buClr>
                <a:srgbClr val="66FF33"/>
              </a:buClr>
              <a:buSzPct val="85000"/>
              <a:defRPr/>
            </a:pPr>
            <a:endParaRPr kumimoji="0" lang="zh-CN" altLang="en-US" sz="2800" b="0" i="0" u="none" strike="noStrike" kern="0" cap="none" spc="0" normalizeH="0" baseline="0" noProof="0" dirty="0">
              <a:ln>
                <a:noFill/>
              </a:ln>
              <a:solidFill>
                <a:srgbClr val="66FF66"/>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143751171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删除</a:t>
            </a:r>
            <a:r>
              <a:rPr lang="zh-CN" altLang="en-US" sz="4000" b="1" dirty="0" smtClean="0">
                <a:solidFill>
                  <a:srgbClr val="FFFFCC"/>
                </a:solidFill>
                <a:effectLst>
                  <a:outerShdw blurRad="38100" dist="38100" dir="2700000" algn="tl">
                    <a:srgbClr val="000000"/>
                  </a:outerShdw>
                </a:effectLst>
              </a:rPr>
              <a:t>视图</a:t>
            </a:r>
            <a:endParaRPr lang="zh-CN" altLang="en-US" sz="4000" b="1" dirty="0">
              <a:solidFill>
                <a:srgbClr val="FFFFCC"/>
              </a:solidFill>
              <a:effectLst>
                <a:outerShdw blurRad="38100" dist="38100" dir="2700000" algn="tl">
                  <a:srgbClr val="000000"/>
                </a:outerShdw>
              </a:effectLst>
            </a:endParaRPr>
          </a:p>
        </p:txBody>
      </p:sp>
      <p:sp>
        <p:nvSpPr>
          <p:cNvPr id="18" name="Rectangle 4"/>
          <p:cNvSpPr txBox="1">
            <a:spLocks noChangeArrowheads="1"/>
          </p:cNvSpPr>
          <p:nvPr/>
        </p:nvSpPr>
        <p:spPr bwMode="auto">
          <a:xfrm>
            <a:off x="642665" y="1052736"/>
            <a:ext cx="8353425" cy="6340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lvl="0" eaLnBrk="1" hangingPunct="1">
              <a:lnSpc>
                <a:spcPct val="110000"/>
              </a:lnSpc>
              <a:spcAft>
                <a:spcPct val="0"/>
              </a:spcAft>
              <a:buNone/>
              <a:defRPr/>
            </a:pPr>
            <a:r>
              <a:rPr kumimoji="0" lang="en-US" altLang="zh-CN" sz="32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DROP </a:t>
            </a:r>
            <a:r>
              <a:rPr kumimoji="0" lang="en-US" altLang="en-US" sz="32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 VIEW</a:t>
            </a:r>
            <a:r>
              <a:rPr kumimoji="0" lang="en-US" altLang="en-US" sz="3200" b="1" i="0" u="none" strike="noStrike" kern="1200" cap="none" spc="0" normalizeH="0" baseline="0" noProof="0" dirty="0" smtClean="0">
                <a:ln>
                  <a:noFill/>
                </a:ln>
                <a:solidFill>
                  <a:srgbClr val="FFFF66"/>
                </a:solidFill>
                <a:effectLst>
                  <a:outerShdw blurRad="38100" dist="38100" dir="2700000" algn="tl">
                    <a:srgbClr val="000000"/>
                  </a:outerShdw>
                </a:effectLst>
                <a:uLnTx/>
                <a:uFillTx/>
                <a:latin typeface="Arial" charset="0"/>
                <a:ea typeface="微软雅黑" pitchFamily="34" charset="-122"/>
                <a:cs typeface="+mn-cs"/>
              </a:rPr>
              <a:t> </a:t>
            </a:r>
            <a:r>
              <a:rPr lang="en-US" altLang="zh-CN" sz="3200" dirty="0"/>
              <a:t>[IF EXISTS] </a:t>
            </a:r>
            <a:r>
              <a:rPr lang="en-US" altLang="zh-CN" sz="3200" dirty="0" smtClean="0"/>
              <a:t> </a:t>
            </a:r>
            <a:r>
              <a:rPr kumimoji="0" lang="en-US" altLang="en-US" sz="32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&lt;</a:t>
            </a:r>
            <a:r>
              <a:rPr kumimoji="0" lang="en-US" altLang="en-US" sz="3200" b="0" i="1" u="none" strike="noStrike" kern="1200" cap="none" spc="0" normalizeH="0" baseline="0" noProof="0" dirty="0" err="1"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视图名</a:t>
            </a:r>
            <a:r>
              <a:rPr kumimoji="0" lang="en-US" altLang="en-US" sz="32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a:t>
            </a:r>
            <a:r>
              <a:rPr kumimoji="0" lang="en-US" altLang="zh-CN" sz="32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a:t>
            </a:r>
            <a:endParaRPr kumimoji="0" lang="en-US" altLang="en-US" sz="32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p:txBody>
      </p:sp>
      <p:sp>
        <p:nvSpPr>
          <p:cNvPr id="19" name="Rectangle 5"/>
          <p:cNvSpPr>
            <a:spLocks noChangeArrowheads="1"/>
          </p:cNvSpPr>
          <p:nvPr/>
        </p:nvSpPr>
        <p:spPr bwMode="auto">
          <a:xfrm>
            <a:off x="472487" y="1900368"/>
            <a:ext cx="8424862"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lstStyle/>
          <a:p>
            <a:pPr marL="185738" marR="0" lvl="0" indent="-185738" algn="l" defTabSz="914400" rtl="0" eaLnBrk="1" fontAlgn="auto" latinLnBrk="0" hangingPunct="1">
              <a:lnSpc>
                <a:spcPct val="100000"/>
              </a:lnSpc>
              <a:spcBef>
                <a:spcPct val="50000"/>
              </a:spcBef>
              <a:spcAft>
                <a:spcPct val="0"/>
              </a:spcAft>
              <a:buClr>
                <a:srgbClr val="FFFFFF"/>
              </a:buClr>
              <a:buSzTx/>
              <a:buFont typeface="Wingdings" pitchFamily="2" charset="2"/>
              <a:buChar char="§"/>
              <a:tabLst/>
              <a:defRPr/>
            </a:pPr>
            <a:r>
              <a:rPr kumimoji="0" lang="zh-CN" altLang="en-US" sz="2800" b="0" i="0" u="none" strike="noStrike" kern="0" cap="none" spc="0" normalizeH="0" baseline="0" noProof="0" dirty="0">
                <a:ln>
                  <a:noFill/>
                </a:ln>
                <a:solidFill>
                  <a:prstClr val="white"/>
                </a:solidFill>
                <a:effectLst/>
                <a:uLnTx/>
                <a:uFillTx/>
                <a:latin typeface="Franklin Gothic Book"/>
                <a:ea typeface="黑体" panose="02010609060101010101" pitchFamily="49" charset="-122"/>
                <a:cs typeface="+mn-cs"/>
              </a:rPr>
              <a:t>仅删除数据字典</a:t>
            </a:r>
            <a:r>
              <a:rPr kumimoji="0" lang="en-US" altLang="zh-CN" sz="2800" b="0" i="0" u="none" strike="noStrike" kern="0" cap="none" spc="0" normalizeH="0" baseline="0" noProof="0" dirty="0">
                <a:ln>
                  <a:noFill/>
                </a:ln>
                <a:solidFill>
                  <a:prstClr val="white"/>
                </a:solidFill>
                <a:effectLst/>
                <a:uLnTx/>
                <a:uFillTx/>
                <a:latin typeface="Franklin Gothic Book"/>
                <a:ea typeface="黑体" panose="02010609060101010101" pitchFamily="49" charset="-122"/>
                <a:cs typeface="+mn-cs"/>
              </a:rPr>
              <a:t>DD</a:t>
            </a:r>
            <a:r>
              <a:rPr kumimoji="0" lang="zh-CN" altLang="en-US" sz="2800" b="0" i="0" u="none" strike="noStrike" kern="0" cap="none" spc="0" normalizeH="0" baseline="0" noProof="0" dirty="0">
                <a:ln>
                  <a:noFill/>
                </a:ln>
                <a:solidFill>
                  <a:prstClr val="white"/>
                </a:solidFill>
                <a:effectLst/>
                <a:uLnTx/>
                <a:uFillTx/>
                <a:latin typeface="Franklin Gothic Book"/>
                <a:ea typeface="黑体" panose="02010609060101010101" pitchFamily="49" charset="-122"/>
                <a:cs typeface="+mn-cs"/>
              </a:rPr>
              <a:t>中有关该视图的定义。</a:t>
            </a:r>
          </a:p>
          <a:p>
            <a:pPr marL="185738" marR="0" lvl="0" indent="-185738" algn="l" defTabSz="914400" rtl="0" eaLnBrk="1" fontAlgn="auto" latinLnBrk="0" hangingPunct="1">
              <a:lnSpc>
                <a:spcPct val="100000"/>
              </a:lnSpc>
              <a:spcBef>
                <a:spcPct val="50000"/>
              </a:spcBef>
              <a:spcAft>
                <a:spcPct val="0"/>
              </a:spcAft>
              <a:buClr>
                <a:srgbClr val="FFFFFF"/>
              </a:buClr>
              <a:buSzTx/>
              <a:buFont typeface="Wingdings" pitchFamily="2" charset="2"/>
              <a:buChar char="§"/>
              <a:tabLst/>
              <a:defRPr/>
            </a:pPr>
            <a:r>
              <a:rPr kumimoji="0" lang="zh-CN" altLang="en-US" sz="2800" b="0" i="0" u="none" strike="noStrike" kern="0" cap="none" spc="0" normalizeH="0" baseline="0" noProof="0" dirty="0">
                <a:ln>
                  <a:noFill/>
                </a:ln>
                <a:solidFill>
                  <a:prstClr val="white"/>
                </a:solidFill>
                <a:effectLst/>
                <a:uLnTx/>
                <a:uFillTx/>
                <a:latin typeface="Franklin Gothic Book"/>
                <a:ea typeface="黑体" panose="02010609060101010101" pitchFamily="49" charset="-122"/>
                <a:cs typeface="+mn-cs"/>
              </a:rPr>
              <a:t>由于视图仅是查询数据的定义，而没有真正的数据，所以删除视图不会删除任何数据。</a:t>
            </a:r>
          </a:p>
          <a:p>
            <a:pPr marL="185738" lvl="0" indent="-185738" fontAlgn="auto">
              <a:spcBef>
                <a:spcPct val="50000"/>
              </a:spcBef>
              <a:spcAft>
                <a:spcPct val="0"/>
              </a:spcAft>
              <a:buClr>
                <a:srgbClr val="FFFFFF"/>
              </a:buClr>
              <a:buSzTx/>
              <a:buFont typeface="Wingdings" pitchFamily="2" charset="2"/>
              <a:buChar char="§"/>
              <a:defRPr/>
            </a:pPr>
            <a:r>
              <a:rPr kumimoji="0" lang="en-US" altLang="zh-CN" sz="2800" kern="0" dirty="0" smtClean="0">
                <a:solidFill>
                  <a:prstClr val="white"/>
                </a:solidFill>
                <a:effectLst/>
                <a:latin typeface="Franklin Gothic Book"/>
                <a:ea typeface="黑体" panose="02010609060101010101" pitchFamily="49" charset="-122"/>
              </a:rPr>
              <a:t>IF </a:t>
            </a:r>
            <a:r>
              <a:rPr kumimoji="0" lang="en-US" altLang="zh-CN" sz="2800" kern="0" dirty="0">
                <a:solidFill>
                  <a:prstClr val="white"/>
                </a:solidFill>
                <a:effectLst/>
                <a:latin typeface="Franklin Gothic Book"/>
                <a:ea typeface="黑体" panose="02010609060101010101" pitchFamily="49" charset="-122"/>
              </a:rPr>
              <a:t>EXISTS</a:t>
            </a:r>
            <a:r>
              <a:rPr kumimoji="0" lang="zh-CN" altLang="en-US" sz="2800" kern="0" dirty="0">
                <a:solidFill>
                  <a:prstClr val="white"/>
                </a:solidFill>
                <a:effectLst/>
                <a:latin typeface="Franklin Gothic Book"/>
                <a:ea typeface="黑体" panose="02010609060101010101" pitchFamily="49" charset="-122"/>
              </a:rPr>
              <a:t>短语的作用是在删除时如果被删除</a:t>
            </a:r>
            <a:r>
              <a:rPr kumimoji="0" lang="zh-CN" altLang="en-US" sz="2800" kern="0" dirty="0" smtClean="0">
                <a:solidFill>
                  <a:prstClr val="white"/>
                </a:solidFill>
                <a:effectLst/>
                <a:latin typeface="Franklin Gothic Book"/>
                <a:ea typeface="黑体" panose="02010609060101010101" pitchFamily="49" charset="-122"/>
              </a:rPr>
              <a:t>的视图并不</a:t>
            </a:r>
            <a:r>
              <a:rPr kumimoji="0" lang="zh-CN" altLang="en-US" sz="2800" kern="0" dirty="0">
                <a:solidFill>
                  <a:prstClr val="white"/>
                </a:solidFill>
                <a:effectLst/>
                <a:latin typeface="Franklin Gothic Book"/>
                <a:ea typeface="黑体" panose="02010609060101010101" pitchFamily="49" charset="-122"/>
              </a:rPr>
              <a:t>存在，系统也不用抛出因</a:t>
            </a:r>
            <a:r>
              <a:rPr kumimoji="0" lang="zh-CN" altLang="en-US" sz="2800" kern="0" dirty="0" smtClean="0">
                <a:solidFill>
                  <a:prstClr val="white"/>
                </a:solidFill>
                <a:effectLst/>
                <a:latin typeface="Franklin Gothic Book"/>
                <a:ea typeface="黑体" panose="02010609060101010101" pitchFamily="49" charset="-122"/>
              </a:rPr>
              <a:t>找不到视图而</a:t>
            </a:r>
            <a:r>
              <a:rPr kumimoji="0" lang="zh-CN" altLang="en-US" sz="2800" kern="0" dirty="0">
                <a:solidFill>
                  <a:prstClr val="white"/>
                </a:solidFill>
                <a:effectLst/>
                <a:latin typeface="Franklin Gothic Book"/>
                <a:ea typeface="黑体" panose="02010609060101010101" pitchFamily="49" charset="-122"/>
              </a:rPr>
              <a:t>删除失败的错误。</a:t>
            </a:r>
          </a:p>
          <a:p>
            <a:pPr marL="185738" marR="0" lvl="0" indent="-185738" algn="l" defTabSz="914400" rtl="0" eaLnBrk="1" fontAlgn="auto" latinLnBrk="0" hangingPunct="1">
              <a:lnSpc>
                <a:spcPct val="100000"/>
              </a:lnSpc>
              <a:spcBef>
                <a:spcPct val="50000"/>
              </a:spcBef>
              <a:spcAft>
                <a:spcPct val="0"/>
              </a:spcAft>
              <a:buClr>
                <a:srgbClr val="FFFFFF"/>
              </a:buClr>
              <a:buSzTx/>
              <a:buFont typeface="Wingdings" pitchFamily="2" charset="2"/>
              <a:buChar char="§"/>
              <a:tabLst/>
              <a:defRPr/>
            </a:pPr>
            <a:endParaRPr kumimoji="0" lang="zh-CN" altLang="en-US" sz="2800" b="0" i="0" u="none" strike="noStrike" kern="0" cap="none" spc="0" normalizeH="0" baseline="0" noProof="0" dirty="0">
              <a:ln>
                <a:noFill/>
              </a:ln>
              <a:solidFill>
                <a:prstClr val="white"/>
              </a:solidFill>
              <a:effectLst/>
              <a:uLnTx/>
              <a:uFillTx/>
              <a:latin typeface="Franklin Gothic Book"/>
              <a:ea typeface="黑体" panose="02010609060101010101" pitchFamily="49" charset="-122"/>
              <a:cs typeface="+mn-cs"/>
            </a:endParaRPr>
          </a:p>
        </p:txBody>
      </p:sp>
      <p:sp>
        <p:nvSpPr>
          <p:cNvPr id="20" name="Rectangle 6"/>
          <p:cNvSpPr>
            <a:spLocks noChangeArrowheads="1"/>
          </p:cNvSpPr>
          <p:nvPr/>
        </p:nvSpPr>
        <p:spPr bwMode="auto">
          <a:xfrm>
            <a:off x="642665" y="5373216"/>
            <a:ext cx="7731125" cy="1198563"/>
          </a:xfrm>
          <a:prstGeom prst="rect">
            <a:avLst/>
          </a:prstGeom>
          <a:noFill/>
          <a:ln w="9525">
            <a:noFill/>
            <a:miter lim="800000"/>
            <a:headEnd/>
            <a:tailEnd/>
          </a:ln>
          <a:effectLst/>
        </p:spPr>
        <p:txBody>
          <a:bodyPr/>
          <a:lstStyle/>
          <a:p>
            <a:pPr marL="0" marR="0" lvl="0" indent="0" algn="just" defTabSz="914400" rtl="0" eaLnBrk="1" fontAlgn="auto" latinLnBrk="0" hangingPunct="1">
              <a:lnSpc>
                <a:spcPct val="100000"/>
              </a:lnSpc>
              <a:spcBef>
                <a:spcPts val="0"/>
              </a:spcBef>
              <a:spcAft>
                <a:spcPct val="15000"/>
              </a:spcAft>
              <a:buClr>
                <a:srgbClr val="FFFFFF"/>
              </a:buClr>
              <a:buSzPct val="85000"/>
              <a:buFontTx/>
              <a:buNone/>
              <a:tabLst/>
              <a:defRPr/>
            </a:pPr>
            <a:r>
              <a:rPr kumimoji="0" lang="zh-CN"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删除名称为</a:t>
            </a:r>
            <a:r>
              <a:rPr kumimoji="0" lang="zh-CN"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Arial"/>
                <a:ea typeface="黑体" panose="02010609060101010101" pitchFamily="49" charset="-122"/>
                <a:cs typeface="+mn-cs"/>
              </a:rPr>
              <a:t>“</a:t>
            </a:r>
            <a:r>
              <a:rPr kumimoji="0" lang="en-US" altLang="zh-CN"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ST_M</a:t>
            </a:r>
            <a:r>
              <a:rPr kumimoji="0" lang="en-US" altLang="zh-CN"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Arial"/>
                <a:ea typeface="黑体" panose="02010609060101010101" pitchFamily="49" charset="-122"/>
                <a:cs typeface="+mn-cs"/>
              </a:rPr>
              <a:t>”</a:t>
            </a:r>
            <a:r>
              <a:rPr kumimoji="0" lang="zh-CN"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的视图</a:t>
            </a:r>
          </a:p>
        </p:txBody>
      </p:sp>
      <p:sp>
        <p:nvSpPr>
          <p:cNvPr id="21" name="Rectangle 7"/>
          <p:cNvSpPr>
            <a:spLocks noChangeArrowheads="1"/>
          </p:cNvSpPr>
          <p:nvPr/>
        </p:nvSpPr>
        <p:spPr bwMode="auto">
          <a:xfrm>
            <a:off x="642665" y="5886773"/>
            <a:ext cx="7416800" cy="647700"/>
          </a:xfrm>
          <a:prstGeom prst="rect">
            <a:avLst/>
          </a:prstGeom>
          <a:noFill/>
          <a:ln w="9525">
            <a:noFill/>
            <a:miter lim="800000"/>
            <a:headEnd/>
            <a:tailEnd/>
          </a:ln>
          <a:effectLst/>
        </p:spPr>
        <p:txBody>
          <a:bodyPr/>
          <a:lstStyle/>
          <a:p>
            <a:pPr marL="0" marR="0" lvl="0" indent="0" algn="just" defTabSz="914400" rtl="0" eaLnBrk="1" fontAlgn="auto" latinLnBrk="0" hangingPunct="1">
              <a:lnSpc>
                <a:spcPct val="100000"/>
              </a:lnSpc>
              <a:spcBef>
                <a:spcPts val="0"/>
              </a:spcBef>
              <a:spcAft>
                <a:spcPct val="0"/>
              </a:spcAft>
              <a:buClr>
                <a:srgbClr val="FFFFFF"/>
              </a:buClr>
              <a:buSzPct val="85000"/>
              <a:buFontTx/>
              <a:buNone/>
              <a:tabLst/>
              <a:defRPr/>
            </a:pP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DROP VIEW  ST_M </a:t>
            </a:r>
            <a:endPar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黑体" panose="02010609060101010101" pitchFamily="49" charset="-122"/>
              <a:cs typeface="+mn-cs"/>
            </a:endParaRPr>
          </a:p>
        </p:txBody>
      </p:sp>
    </p:spTree>
    <p:extLst>
      <p:ext uri="{BB962C8B-B14F-4D97-AF65-F5344CB8AC3E}">
        <p14:creationId xmlns:p14="http://schemas.microsoft.com/office/powerpoint/2010/main" val="397862805"/>
      </p:ext>
    </p:extLst>
  </p:cSld>
  <p:clrMapOvr>
    <a:masterClrMapping/>
  </p:clrMapOvr>
  <p:transition spd="slow">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smtClean="0">
                <a:solidFill>
                  <a:srgbClr val="FFFFCC"/>
                </a:solidFill>
                <a:effectLst>
                  <a:outerShdw blurRad="38100" dist="38100" dir="2700000" algn="tl">
                    <a:srgbClr val="000000"/>
                  </a:outerShdw>
                </a:effectLst>
              </a:rPr>
              <a:t>修改视图</a:t>
            </a:r>
            <a:endParaRPr lang="zh-CN" altLang="en-US" sz="4000" b="1" dirty="0">
              <a:solidFill>
                <a:srgbClr val="FFFFCC"/>
              </a:solidFill>
              <a:effectLst>
                <a:outerShdw blurRad="38100" dist="38100" dir="2700000" algn="tl">
                  <a:srgbClr val="000000"/>
                </a:outerShdw>
              </a:effectLst>
            </a:endParaRPr>
          </a:p>
        </p:txBody>
      </p:sp>
      <p:sp>
        <p:nvSpPr>
          <p:cNvPr id="7" name="Rectangle 4"/>
          <p:cNvSpPr txBox="1">
            <a:spLocks noChangeArrowheads="1"/>
          </p:cNvSpPr>
          <p:nvPr/>
        </p:nvSpPr>
        <p:spPr bwMode="auto">
          <a:xfrm>
            <a:off x="395039" y="1359952"/>
            <a:ext cx="8353425" cy="151426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110000"/>
              </a:lnSpc>
              <a:spcBef>
                <a:spcPct val="0"/>
              </a:spcBef>
              <a:spcAft>
                <a:spcPct val="0"/>
              </a:spcAft>
              <a:buClr>
                <a:srgbClr val="66FF33"/>
              </a:buClr>
              <a:buSzPct val="85000"/>
              <a:buFont typeface="Wingdings" pitchFamily="2" charset="2"/>
              <a:buNone/>
              <a:tabLst/>
              <a:defRPr/>
            </a:pPr>
            <a:r>
              <a:rPr kumimoji="0" lang="en-US" altLang="en-US" sz="28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ALTER VIEW</a:t>
            </a:r>
            <a:r>
              <a:rPr kumimoji="0" lang="en-US" altLang="en-US" sz="2800" b="1" i="0" u="none" strike="noStrike" kern="1200" cap="none" spc="0" normalizeH="0" baseline="0" noProof="0" dirty="0" smtClean="0">
                <a:ln>
                  <a:noFill/>
                </a:ln>
                <a:solidFill>
                  <a:srgbClr val="FFFF66"/>
                </a:solidFill>
                <a:effectLst>
                  <a:outerShdw blurRad="38100" dist="38100" dir="2700000" algn="tl">
                    <a:srgbClr val="000000"/>
                  </a:outerShdw>
                </a:effectLst>
                <a:uLnTx/>
                <a:uFillTx/>
                <a:latin typeface="Arial" charset="0"/>
                <a:ea typeface="微软雅黑" pitchFamily="34" charset="-122"/>
                <a:cs typeface="+mn-cs"/>
              </a:rPr>
              <a:t> </a:t>
            </a:r>
            <a:r>
              <a:rPr kumimoji="0" lang="en-US" altLang="en-US"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&lt;</a:t>
            </a:r>
            <a:r>
              <a:rPr kumimoji="0" lang="en-US" altLang="en-US" sz="2800" b="0" i="1" u="none" strike="noStrike" kern="1200" cap="none" spc="0" normalizeH="0" baseline="0" noProof="0" dirty="0" err="1"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视图名</a:t>
            </a:r>
            <a:r>
              <a:rPr kumimoji="0" lang="en-US" altLang="en-US"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 [(&lt;</a:t>
            </a:r>
            <a:r>
              <a:rPr kumimoji="0" lang="en-US" altLang="en-US"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列名1</a:t>
            </a:r>
            <a:r>
              <a:rPr kumimoji="0" lang="en-US" altLang="en-US"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&gt;[,&lt;</a:t>
            </a:r>
            <a:r>
              <a:rPr kumimoji="0" lang="en-US" altLang="en-US"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列名2</a:t>
            </a:r>
            <a:r>
              <a:rPr kumimoji="0" lang="en-US" altLang="en-US" sz="28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&gt;]...)]</a:t>
            </a:r>
          </a:p>
          <a:p>
            <a:pPr marL="342900" marR="0" lvl="0" indent="-342900" algn="l" defTabSz="914400" rtl="0" eaLnBrk="1" fontAlgn="base" latinLnBrk="0" hangingPunct="1">
              <a:lnSpc>
                <a:spcPct val="110000"/>
              </a:lnSpc>
              <a:spcBef>
                <a:spcPct val="0"/>
              </a:spcBef>
              <a:spcAft>
                <a:spcPct val="0"/>
              </a:spcAft>
              <a:buClr>
                <a:srgbClr val="66FF33"/>
              </a:buClr>
              <a:buSzPct val="85000"/>
              <a:buFont typeface="Wingdings" pitchFamily="2" charset="2"/>
              <a:buNone/>
              <a:tabLst/>
              <a:defRPr/>
            </a:pPr>
            <a:r>
              <a:rPr kumimoji="0" lang="en-US" altLang="en-US" sz="2800" b="1"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AS</a:t>
            </a:r>
            <a:r>
              <a:rPr kumimoji="0" lang="en-US" altLang="en-US" sz="2800" b="1" i="0" u="none" strike="noStrike" kern="1200" cap="none" spc="0" normalizeH="0" baseline="0" noProof="0" dirty="0" smtClean="0">
                <a:ln>
                  <a:noFill/>
                </a:ln>
                <a:solidFill>
                  <a:srgbClr val="FFFF66"/>
                </a:solidFill>
                <a:effectLst>
                  <a:outerShdw blurRad="38100" dist="38100" dir="2700000" algn="tl">
                    <a:srgbClr val="000000"/>
                  </a:outerShdw>
                </a:effectLst>
                <a:uLnTx/>
                <a:uFillTx/>
                <a:latin typeface="Arial" charset="0"/>
                <a:ea typeface="微软雅黑" pitchFamily="34" charset="-122"/>
                <a:cs typeface="+mn-cs"/>
              </a:rPr>
              <a:t> </a:t>
            </a:r>
            <a:r>
              <a:rPr kumimoji="0" lang="en-US" altLang="zh-CN" sz="2800" b="1" i="0" u="none" strike="noStrike" kern="1200" cap="none" spc="0" normalizeH="0" baseline="0" noProof="0" dirty="0" smtClean="0">
                <a:ln>
                  <a:noFill/>
                </a:ln>
                <a:solidFill>
                  <a:srgbClr val="FFFF66"/>
                </a:solidFill>
                <a:effectLst>
                  <a:outerShdw blurRad="38100" dist="38100" dir="2700000" algn="tl">
                    <a:srgbClr val="000000"/>
                  </a:outerShdw>
                </a:effectLst>
                <a:uLnTx/>
                <a:uFillTx/>
                <a:latin typeface="Arial" charset="0"/>
                <a:ea typeface="微软雅黑" pitchFamily="34" charset="-122"/>
                <a:cs typeface="+mn-cs"/>
              </a:rPr>
              <a:t> </a:t>
            </a:r>
            <a:r>
              <a:rPr kumimoji="0" lang="en-US" altLang="en-US" sz="2800" b="0" i="1" u="none" strike="noStrike" kern="1200" cap="none" spc="0" normalizeH="0" baseline="0" noProof="0" dirty="0" err="1"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SELECT语句</a:t>
            </a:r>
            <a:endParaRPr kumimoji="0" lang="en-US" altLang="en-US"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a:p>
            <a:pPr marL="342900" marR="0" lvl="0" indent="-342900" algn="l" defTabSz="914400" rtl="0" eaLnBrk="1" fontAlgn="base" latinLnBrk="0" hangingPunct="1">
              <a:lnSpc>
                <a:spcPct val="110000"/>
              </a:lnSpc>
              <a:spcBef>
                <a:spcPct val="0"/>
              </a:spcBef>
              <a:spcAft>
                <a:spcPct val="0"/>
              </a:spcAft>
              <a:buClr>
                <a:srgbClr val="66FF33"/>
              </a:buClr>
              <a:buSzPct val="85000"/>
              <a:buFont typeface="Wingdings" pitchFamily="2" charset="2"/>
              <a:buNone/>
              <a:tabLst/>
              <a:defRPr/>
            </a:pPr>
            <a:r>
              <a:rPr kumimoji="0" lang="en-US" altLang="en-US" sz="2800" b="0" i="1"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[WITH CHECK OPTION]</a:t>
            </a:r>
          </a:p>
        </p:txBody>
      </p:sp>
      <p:sp>
        <p:nvSpPr>
          <p:cNvPr id="8" name="Rectangle 4"/>
          <p:cNvSpPr txBox="1">
            <a:spLocks noChangeArrowheads="1"/>
          </p:cNvSpPr>
          <p:nvPr/>
        </p:nvSpPr>
        <p:spPr bwMode="auto">
          <a:xfrm>
            <a:off x="0" y="3501008"/>
            <a:ext cx="8713788"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100000"/>
              </a:lnSpc>
              <a:spcBef>
                <a:spcPct val="0"/>
              </a:spcBef>
              <a:spcAft>
                <a:spcPct val="50000"/>
              </a:spcAft>
              <a:buClr>
                <a:srgbClr val="66FF33"/>
              </a:buClr>
              <a:buSzPct val="85000"/>
              <a:buFont typeface="Wingdings" pitchFamily="2" charset="2"/>
              <a:buBlip>
                <a:blip r:embed="rId2"/>
              </a:buBlip>
              <a:tabLst/>
              <a:defRPr/>
            </a:pPr>
            <a:r>
              <a:rPr kumimoji="1"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除了命令的关键字是</a:t>
            </a:r>
            <a:r>
              <a:rPr kumimoji="1" lang="en-US" altLang="zh-CN"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ALTER VIEW</a:t>
            </a:r>
            <a:r>
              <a:rPr kumimoji="1"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外，其它完全同</a:t>
            </a:r>
            <a:r>
              <a:rPr kumimoji="1" lang="en-US" altLang="zh-CN"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CREATE VIEW</a:t>
            </a:r>
            <a:r>
              <a:rPr kumimoji="1"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命令</a:t>
            </a:r>
            <a:endParaRPr kumimoji="1" lang="en-US" altLang="zh-CN"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a:p>
            <a:pPr marL="342900" marR="0" lvl="0" indent="-342900" algn="l" defTabSz="914400" rtl="0" eaLnBrk="1" fontAlgn="base" latinLnBrk="0" hangingPunct="1">
              <a:lnSpc>
                <a:spcPct val="100000"/>
              </a:lnSpc>
              <a:spcBef>
                <a:spcPct val="0"/>
              </a:spcBef>
              <a:spcAft>
                <a:spcPct val="50000"/>
              </a:spcAft>
              <a:buClr>
                <a:srgbClr val="66FF33"/>
              </a:buClr>
              <a:buSzPct val="85000"/>
              <a:buFont typeface="Wingdings" pitchFamily="2" charset="2"/>
              <a:buBlip>
                <a:blip r:embed="rId2"/>
              </a:buBlip>
              <a:tabLst/>
              <a:defRPr/>
            </a:pPr>
            <a:r>
              <a:rPr lang="zh-CN" altLang="en-US" kern="0" dirty="0" smtClean="0">
                <a:latin typeface="Arial" charset="0"/>
              </a:rPr>
              <a:t>其实</a:t>
            </a:r>
            <a:r>
              <a:rPr lang="en-US" altLang="zh-CN" kern="0" dirty="0" smtClean="0">
                <a:latin typeface="Arial" charset="0"/>
              </a:rPr>
              <a:t>ALTER VIEW</a:t>
            </a:r>
            <a:r>
              <a:rPr lang="zh-CN" altLang="en-US" kern="0" dirty="0" smtClean="0">
                <a:latin typeface="Arial" charset="0"/>
              </a:rPr>
              <a:t>就是先</a:t>
            </a:r>
            <a:r>
              <a:rPr lang="en-US" altLang="zh-CN" kern="0" dirty="0" smtClean="0">
                <a:latin typeface="Arial" charset="0"/>
              </a:rPr>
              <a:t>DROP VIEW</a:t>
            </a:r>
            <a:r>
              <a:rPr lang="zh-CN" altLang="en-US" kern="0" dirty="0" smtClean="0">
                <a:latin typeface="Arial" charset="0"/>
              </a:rPr>
              <a:t>，再重新</a:t>
            </a:r>
            <a:r>
              <a:rPr lang="en-US" altLang="zh-CN" kern="0" dirty="0" smtClean="0">
                <a:latin typeface="Arial" charset="0"/>
              </a:rPr>
              <a:t>CREATE VIEW</a:t>
            </a:r>
            <a:endParaRPr kumimoji="1" lang="en-US" altLang="zh-CN"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p:txBody>
      </p:sp>
    </p:spTree>
    <p:extLst>
      <p:ext uri="{BB962C8B-B14F-4D97-AF65-F5344CB8AC3E}">
        <p14:creationId xmlns:p14="http://schemas.microsoft.com/office/powerpoint/2010/main" val="2033040226"/>
      </p:ext>
    </p:extLst>
  </p:cSld>
  <p:clrMapOvr>
    <a:masterClrMapping/>
  </p:clrMapOvr>
  <p:transition spd="slow">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smtClean="0">
                <a:solidFill>
                  <a:srgbClr val="FFFFCC"/>
                </a:solidFill>
                <a:effectLst>
                  <a:outerShdw blurRad="38100" dist="38100" dir="2700000" algn="tl">
                    <a:srgbClr val="000000"/>
                  </a:outerShdw>
                </a:effectLst>
              </a:rPr>
              <a:t>查询视图</a:t>
            </a:r>
            <a:endParaRPr lang="zh-CN" altLang="en-US" sz="4000" b="1" dirty="0">
              <a:solidFill>
                <a:srgbClr val="FFFFCC"/>
              </a:solidFill>
              <a:effectLst>
                <a:outerShdw blurRad="38100" dist="38100" dir="2700000" algn="tl">
                  <a:srgbClr val="000000"/>
                </a:outerShdw>
              </a:effectLst>
            </a:endParaRPr>
          </a:p>
        </p:txBody>
      </p:sp>
      <p:sp>
        <p:nvSpPr>
          <p:cNvPr id="38" name="Rectangle 4"/>
          <p:cNvSpPr>
            <a:spLocks noChangeArrowheads="1"/>
          </p:cNvSpPr>
          <p:nvPr/>
        </p:nvSpPr>
        <p:spPr bwMode="auto">
          <a:xfrm>
            <a:off x="5076825" y="774700"/>
            <a:ext cx="385763" cy="396875"/>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a:t>
            </a:r>
          </a:p>
        </p:txBody>
      </p:sp>
      <p:sp>
        <p:nvSpPr>
          <p:cNvPr id="39" name="Rectangle 5"/>
          <p:cNvSpPr>
            <a:spLocks noChangeArrowheads="1"/>
          </p:cNvSpPr>
          <p:nvPr/>
        </p:nvSpPr>
        <p:spPr bwMode="auto">
          <a:xfrm>
            <a:off x="377825" y="4364732"/>
            <a:ext cx="3836988" cy="430887"/>
          </a:xfrm>
          <a:prstGeom prst="rect">
            <a:avLst/>
          </a:prstGeom>
          <a:noFill/>
          <a:ln w="12700" cap="sq">
            <a:no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ct val="7000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Arial Narrow" pitchFamily="34" charset="0"/>
                <a:ea typeface="黑体" panose="02010609060101010101" pitchFamily="49" charset="-122"/>
                <a:cs typeface="+mn-cs"/>
              </a:rPr>
              <a:t>SELECT </a:t>
            </a: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Arial Narrow" pitchFamily="34" charset="0"/>
                <a:ea typeface="黑体" panose="02010609060101010101" pitchFamily="49" charset="-122"/>
                <a:cs typeface="+mn-cs"/>
              </a:rPr>
              <a:t> FROM  </a:t>
            </a:r>
            <a:r>
              <a:rPr kumimoji="0" lang="en-US" altLang="zh-CN" sz="2800" b="0" i="0" u="none" strike="noStrike" kern="0" cap="none" spc="0" normalizeH="0" baseline="0" noProof="0" dirty="0" smtClean="0">
                <a:ln>
                  <a:noFill/>
                </a:ln>
                <a:solidFill>
                  <a:srgbClr val="99FF33"/>
                </a:solidFill>
                <a:effectLst>
                  <a:outerShdw blurRad="38100" dist="38100" dir="2700000" algn="tl">
                    <a:srgbClr val="000000"/>
                  </a:outerShdw>
                </a:effectLst>
                <a:uLnTx/>
                <a:uFillTx/>
                <a:latin typeface="Arial Narrow" pitchFamily="34" charset="0"/>
                <a:ea typeface="黑体" panose="02010609060101010101" pitchFamily="49" charset="-122"/>
                <a:cs typeface="+mn-cs"/>
              </a:rPr>
              <a:t>ST_NA</a:t>
            </a:r>
            <a:endPar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40" name="AutoShape 6"/>
          <p:cNvSpPr>
            <a:spLocks noChangeArrowheads="1"/>
          </p:cNvSpPr>
          <p:nvPr/>
        </p:nvSpPr>
        <p:spPr bwMode="auto">
          <a:xfrm>
            <a:off x="1601788" y="4867969"/>
            <a:ext cx="381000" cy="290513"/>
          </a:xfrm>
          <a:prstGeom prst="downArrow">
            <a:avLst>
              <a:gd name="adj1" fmla="val 52500"/>
              <a:gd name="adj2" fmla="val 41694"/>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a:tailEnd/>
          </a:ln>
          <a:effectLst>
            <a:outerShdw dist="53882" dir="2700000" algn="ctr" rotWithShape="0">
              <a:srgbClr val="000514">
                <a:alpha val="50000"/>
              </a:srgbClr>
            </a:outerShdw>
          </a:effectLst>
        </p:spPr>
        <p:txBody>
          <a:bodyPr lIns="36000" tIns="36000" rIns="36000" b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41" name="Rectangle 8"/>
          <p:cNvSpPr>
            <a:spLocks noChangeArrowheads="1"/>
          </p:cNvSpPr>
          <p:nvPr/>
        </p:nvSpPr>
        <p:spPr bwMode="auto">
          <a:xfrm>
            <a:off x="467990" y="1633443"/>
            <a:ext cx="4968875" cy="1723549"/>
          </a:xfrm>
          <a:prstGeom prst="rect">
            <a:avLst/>
          </a:prstGeom>
          <a:noFill/>
          <a:ln w="12700" cap="sq">
            <a:no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Narrow" pitchFamily="34" charset="0"/>
                <a:ea typeface="黑体" panose="02010609060101010101" pitchFamily="49" charset="-122"/>
                <a:cs typeface="+mn-cs"/>
              </a:rPr>
              <a:t>CREATE VIEW ST_NA(</a:t>
            </a:r>
            <a:r>
              <a:rPr kumimoji="0" lang="en-US" altLang="zh-CN" sz="2800" b="0" i="0" u="none" strike="noStrike" kern="0" cap="none" spc="0" normalizeH="0" baseline="0" noProof="0" dirty="0" err="1">
                <a:ln>
                  <a:noFill/>
                </a:ln>
                <a:solidFill>
                  <a:srgbClr val="CCFFCC"/>
                </a:solidFill>
                <a:effectLst>
                  <a:outerShdw blurRad="38100" dist="38100" dir="2700000" algn="tl">
                    <a:srgbClr val="000000"/>
                  </a:outerShdw>
                </a:effectLst>
                <a:uLnTx/>
                <a:uFillTx/>
                <a:latin typeface="Arial Narrow" pitchFamily="34" charset="0"/>
                <a:ea typeface="黑体" panose="02010609060101010101" pitchFamily="49" charset="-122"/>
                <a:cs typeface="+mn-cs"/>
              </a:rPr>
              <a:t>name,age</a:t>
            </a: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Narrow" pitchFamily="34" charset="0"/>
                <a:ea typeface="黑体" panose="02010609060101010101" pitchFamily="49" charset="-122"/>
                <a:cs typeface="+mn-cs"/>
              </a:rPr>
              <a:t>)</a:t>
            </a:r>
          </a:p>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Narrow" pitchFamily="34" charset="0"/>
                <a:ea typeface="黑体" panose="02010609060101010101" pitchFamily="49" charset="-122"/>
                <a:cs typeface="+mn-cs"/>
              </a:rPr>
              <a:t>AS</a:t>
            </a:r>
            <a:endParaRPr kumimoji="0" lang="en-US" altLang="zh-CN" sz="2800" b="0" i="1" u="none" strike="noStrike" kern="0" cap="none" spc="0" normalizeH="0" baseline="0" noProof="0" dirty="0">
              <a:ln>
                <a:noFill/>
              </a:ln>
              <a:solidFill>
                <a:srgbClr val="CCFFCC"/>
              </a:solidFill>
              <a:effectLst>
                <a:outerShdw blurRad="38100" dist="38100" dir="2700000" algn="tl">
                  <a:srgbClr val="000000"/>
                </a:outerShdw>
              </a:effectLst>
              <a:uLnTx/>
              <a:uFillTx/>
              <a:latin typeface="Arial Narrow"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Narrow" pitchFamily="34" charset="0"/>
                <a:ea typeface="黑体" panose="02010609060101010101" pitchFamily="49" charset="-122"/>
                <a:cs typeface="+mn-cs"/>
              </a:rPr>
              <a:t>SELECT </a:t>
            </a:r>
            <a:r>
              <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Narrow" pitchFamily="34" charset="0"/>
                <a:ea typeface="黑体" panose="02010609060101010101" pitchFamily="49" charset="-122"/>
                <a:cs typeface="+mn-cs"/>
              </a:rPr>
              <a:t>姓名</a:t>
            </a: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Narrow" pitchFamily="34" charset="0"/>
                <a:ea typeface="黑体" panose="02010609060101010101" pitchFamily="49" charset="-122"/>
                <a:cs typeface="+mn-cs"/>
              </a:rPr>
              <a:t>,</a:t>
            </a:r>
            <a:r>
              <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Narrow" pitchFamily="34" charset="0"/>
                <a:ea typeface="黑体" panose="02010609060101010101" pitchFamily="49" charset="-122"/>
                <a:cs typeface="+mn-cs"/>
              </a:rPr>
              <a:t>年龄</a:t>
            </a:r>
          </a:p>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Arial Narrow" pitchFamily="34" charset="0"/>
                <a:ea typeface="黑体" panose="02010609060101010101" pitchFamily="49" charset="-122"/>
                <a:cs typeface="+mn-cs"/>
              </a:rPr>
              <a:t>   FROM </a:t>
            </a:r>
            <a:r>
              <a:rPr kumimoji="0" lang="en-US" altLang="zh-CN"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Arial Narrow" pitchFamily="34" charset="0"/>
                <a:ea typeface="黑体" panose="02010609060101010101" pitchFamily="49" charset="-122"/>
                <a:cs typeface="+mn-cs"/>
              </a:rPr>
              <a:t>ST</a:t>
            </a:r>
            <a:endPar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42" name="Rectangle 9"/>
          <p:cNvSpPr>
            <a:spLocks noChangeArrowheads="1"/>
          </p:cNvSpPr>
          <p:nvPr/>
        </p:nvSpPr>
        <p:spPr bwMode="auto">
          <a:xfrm>
            <a:off x="395288" y="5301208"/>
            <a:ext cx="3746500" cy="1244169"/>
          </a:xfrm>
          <a:prstGeom prst="rect">
            <a:avLst/>
          </a:prstGeom>
          <a:noFill/>
          <a:ln w="12700" cap="sq" algn="ctr">
            <a:noFill/>
            <a:miter lim="800000"/>
            <a:headEnd/>
            <a:tailEnd/>
          </a:ln>
          <a:effectLst/>
        </p:spPr>
        <p:txBody>
          <a:bodyPr lIns="72000" tIns="72000" rIns="72000" bIns="72000">
            <a:spAutoFit/>
          </a:bodyPr>
          <a:lstStyle/>
          <a:p>
            <a:pPr marL="0" marR="0" lvl="0" indent="0" algn="l" defTabSz="914400" rtl="0" eaLnBrk="1" fontAlgn="auto" latinLnBrk="0" hangingPunct="1">
              <a:lnSpc>
                <a:spcPct val="85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Arial Narrow" pitchFamily="34" charset="0"/>
                <a:ea typeface="黑体" panose="02010609060101010101" pitchFamily="49" charset="-122"/>
                <a:cs typeface="+mn-cs"/>
              </a:rPr>
              <a:t>SELECT </a:t>
            </a:r>
            <a:r>
              <a:rPr kumimoji="0" lang="zh-CN" altLang="en-US"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Arial Narrow" pitchFamily="34" charset="0"/>
                <a:ea typeface="黑体" panose="02010609060101010101" pitchFamily="49" charset="-122"/>
                <a:cs typeface="+mn-cs"/>
              </a:rPr>
              <a:t>姓名 </a:t>
            </a: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Arial Narrow" pitchFamily="34" charset="0"/>
                <a:ea typeface="黑体" panose="02010609060101010101" pitchFamily="49" charset="-122"/>
                <a:cs typeface="+mn-cs"/>
              </a:rPr>
              <a:t>As name,</a:t>
            </a:r>
          </a:p>
          <a:p>
            <a:pPr marL="0" marR="0" lvl="0" indent="0" algn="l" defTabSz="914400" rtl="0" eaLnBrk="1" fontAlgn="auto" latinLnBrk="0" hangingPunct="1">
              <a:lnSpc>
                <a:spcPct val="85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Arial Narrow" pitchFamily="34" charset="0"/>
                <a:ea typeface="黑体" panose="02010609060101010101" pitchFamily="49" charset="-122"/>
                <a:cs typeface="+mn-cs"/>
              </a:rPr>
              <a:t>	   </a:t>
            </a:r>
            <a:r>
              <a:rPr kumimoji="0" lang="zh-CN" altLang="en-US"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Arial Narrow" pitchFamily="34" charset="0"/>
                <a:ea typeface="黑体" panose="02010609060101010101" pitchFamily="49" charset="-122"/>
                <a:cs typeface="+mn-cs"/>
              </a:rPr>
              <a:t> 年龄 </a:t>
            </a: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Arial Narrow" pitchFamily="34" charset="0"/>
                <a:ea typeface="黑体" panose="02010609060101010101" pitchFamily="49" charset="-122"/>
                <a:cs typeface="+mn-cs"/>
              </a:rPr>
              <a:t>As age</a:t>
            </a:r>
          </a:p>
          <a:p>
            <a:pPr marL="0" marR="0" lvl="0" indent="0" algn="l" defTabSz="914400" rtl="0" eaLnBrk="1" fontAlgn="auto" latinLnBrk="0" hangingPunct="1">
              <a:lnSpc>
                <a:spcPct val="85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Arial Narrow" pitchFamily="34" charset="0"/>
                <a:ea typeface="黑体" panose="02010609060101010101" pitchFamily="49" charset="-122"/>
                <a:cs typeface="+mn-cs"/>
              </a:rPr>
              <a:t>FROM </a:t>
            </a:r>
            <a:r>
              <a:rPr kumimoji="0" lang="en-US" altLang="zh-CN" sz="2800" b="0" i="0" u="none" strike="noStrike" kern="0" cap="none" spc="0" normalizeH="0" baseline="0" noProof="0" dirty="0" smtClean="0">
                <a:ln>
                  <a:noFill/>
                </a:ln>
                <a:solidFill>
                  <a:srgbClr val="99FF33"/>
                </a:solidFill>
                <a:effectLst>
                  <a:outerShdw blurRad="38100" dist="38100" dir="2700000" algn="tl">
                    <a:srgbClr val="000000"/>
                  </a:outerShdw>
                </a:effectLst>
                <a:uLnTx/>
                <a:uFillTx/>
                <a:latin typeface="Arial Narrow" pitchFamily="34" charset="0"/>
                <a:ea typeface="黑体" panose="02010609060101010101" pitchFamily="49" charset="-122"/>
                <a:cs typeface="+mn-cs"/>
              </a:rPr>
              <a:t>ST</a:t>
            </a:r>
            <a:endPar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43" name="Rectangle 10"/>
          <p:cNvSpPr>
            <a:spLocks noChangeArrowheads="1"/>
          </p:cNvSpPr>
          <p:nvPr/>
        </p:nvSpPr>
        <p:spPr bwMode="auto">
          <a:xfrm>
            <a:off x="323528" y="985743"/>
            <a:ext cx="3518912" cy="494751"/>
          </a:xfrm>
          <a:prstGeom prst="rect">
            <a:avLst/>
          </a:prstGeom>
          <a:noFill/>
          <a:ln w="9525" algn="ctr">
            <a:noFill/>
            <a:miter lim="800000"/>
            <a:headEnd/>
            <a:tailEnd/>
          </a:ln>
          <a:effectLst/>
        </p:spPr>
        <p:txBody>
          <a:bodyPr wrap="none">
            <a:spAutoFit/>
          </a:bodyPr>
          <a:lstStyle/>
          <a:p>
            <a:pPr marL="0" marR="0" lvl="0" indent="0" algn="l" defTabSz="914400" rtl="0" eaLnBrk="1" fontAlgn="auto" latinLnBrk="0" hangingPunct="1">
              <a:lnSpc>
                <a:spcPct val="110000"/>
              </a:lnSpc>
              <a:spcBef>
                <a:spcPts val="0"/>
              </a:spcBef>
              <a:spcAft>
                <a:spcPct val="0"/>
              </a:spcAft>
              <a:buClr>
                <a:srgbClr val="66FF33"/>
              </a:buClr>
              <a:buSzPct val="85000"/>
              <a:buFontTx/>
              <a:buNone/>
              <a:tabLst/>
              <a:defRPr/>
            </a:pPr>
            <a:r>
              <a:rPr kumimoji="0" lang="zh-CN"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学生的姓名和年龄视图</a:t>
            </a:r>
            <a:endParaRPr kumimoji="0" lang="en-US"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mn-ea"/>
              <a:cs typeface="+mn-cs"/>
            </a:endParaRPr>
          </a:p>
        </p:txBody>
      </p:sp>
      <p:sp>
        <p:nvSpPr>
          <p:cNvPr id="44" name="Rectangle 11"/>
          <p:cNvSpPr>
            <a:spLocks noChangeArrowheads="1"/>
          </p:cNvSpPr>
          <p:nvPr/>
        </p:nvSpPr>
        <p:spPr bwMode="auto">
          <a:xfrm>
            <a:off x="250825" y="3717032"/>
            <a:ext cx="4681538" cy="574675"/>
          </a:xfrm>
          <a:prstGeom prst="rect">
            <a:avLst/>
          </a:prstGeom>
          <a:noFill/>
          <a:ln w="9525">
            <a:noFill/>
            <a:miter lim="800000"/>
            <a:headEnd/>
            <a:tailEnd/>
          </a:ln>
          <a:effectLst/>
        </p:spPr>
        <p:txBody>
          <a:bodyPr/>
          <a:lstStyle/>
          <a:p>
            <a:pPr marL="0" marR="0" lvl="0" indent="0" algn="l" defTabSz="914400" rtl="0" eaLnBrk="1" fontAlgn="auto" latinLnBrk="0" hangingPunct="1">
              <a:lnSpc>
                <a:spcPct val="110000"/>
              </a:lnSpc>
              <a:spcBef>
                <a:spcPts val="0"/>
              </a:spcBef>
              <a:spcAft>
                <a:spcPct val="0"/>
              </a:spcAft>
              <a:buClr>
                <a:srgbClr val="66FF33"/>
              </a:buClr>
              <a:buSzPct val="85000"/>
              <a:buFontTx/>
              <a:buNone/>
              <a:tabLst/>
              <a:defRPr/>
            </a:pPr>
            <a:r>
              <a:rPr kumimoji="0" lang="zh-CN" altLang="en-US" sz="2600" b="0" i="0" u="none" strike="noStrike" kern="1200" cap="none" spc="0" normalizeH="0" baseline="0" noProof="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查询所有学生的姓名和年龄</a:t>
            </a:r>
            <a:endParaRPr kumimoji="0" lang="en-US" altLang="en-US" sz="2600" b="0" i="0" u="none" strike="noStrike" kern="1200" cap="none" spc="0" normalizeH="0" baseline="0" noProof="0">
              <a:ln>
                <a:noFill/>
              </a:ln>
              <a:solidFill>
                <a:prstClr val="white"/>
              </a:solidFill>
              <a:effectLst>
                <a:outerShdw blurRad="38100" dist="38100" dir="2700000" algn="tl">
                  <a:srgbClr val="000000"/>
                </a:outerShdw>
              </a:effectLst>
              <a:uLnTx/>
              <a:uFillTx/>
              <a:latin typeface="Arial" charset="0"/>
              <a:ea typeface="+mn-ea"/>
              <a:cs typeface="+mn-cs"/>
            </a:endParaRPr>
          </a:p>
        </p:txBody>
      </p:sp>
      <p:graphicFrame>
        <p:nvGraphicFramePr>
          <p:cNvPr id="45" name="Group 12"/>
          <p:cNvGraphicFramePr>
            <a:graphicFrameLocks noGrp="1"/>
          </p:cNvGraphicFramePr>
          <p:nvPr/>
        </p:nvGraphicFramePr>
        <p:xfrm>
          <a:off x="5580063" y="774700"/>
          <a:ext cx="3351212" cy="2438400"/>
        </p:xfrm>
        <a:graphic>
          <a:graphicData uri="http://schemas.openxmlformats.org/drawingml/2006/table">
            <a:tbl>
              <a:tblPr/>
              <a:tblGrid>
                <a:gridCol w="8207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6" name="Rectangle 82"/>
          <p:cNvSpPr>
            <a:spLocks noChangeArrowheads="1"/>
          </p:cNvSpPr>
          <p:nvPr/>
        </p:nvSpPr>
        <p:spPr bwMode="auto">
          <a:xfrm>
            <a:off x="5724525" y="3933825"/>
            <a:ext cx="1027113" cy="396875"/>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600" b="0" i="0" u="none" strike="noStrike" kern="1200" cap="none" spc="0" normalizeH="0" baseline="0" noProof="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ST_NA</a:t>
            </a:r>
          </a:p>
        </p:txBody>
      </p:sp>
      <p:graphicFrame>
        <p:nvGraphicFramePr>
          <p:cNvPr id="47" name="Group 155"/>
          <p:cNvGraphicFramePr>
            <a:graphicFrameLocks noGrp="1"/>
          </p:cNvGraphicFramePr>
          <p:nvPr/>
        </p:nvGraphicFramePr>
        <p:xfrm>
          <a:off x="6877050" y="3933825"/>
          <a:ext cx="1728788" cy="2438400"/>
        </p:xfrm>
        <a:graphic>
          <a:graphicData uri="http://schemas.openxmlformats.org/drawingml/2006/table">
            <a:tbl>
              <a:tblPr/>
              <a:tblGrid>
                <a:gridCol w="987425">
                  <a:extLst>
                    <a:ext uri="{9D8B030D-6E8A-4147-A177-3AD203B41FA5}">
                      <a16:colId xmlns:a16="http://schemas.microsoft.com/office/drawing/2014/main" val="20000"/>
                    </a:ext>
                  </a:extLst>
                </a:gridCol>
                <a:gridCol w="741363">
                  <a:extLst>
                    <a:ext uri="{9D8B030D-6E8A-4147-A177-3AD203B41FA5}">
                      <a16:colId xmlns:a16="http://schemas.microsoft.com/office/drawing/2014/main" val="20001"/>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name</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age</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8" name="Rectangle 156"/>
          <p:cNvSpPr>
            <a:spLocks noChangeArrowheads="1"/>
          </p:cNvSpPr>
          <p:nvPr/>
        </p:nvSpPr>
        <p:spPr bwMode="auto">
          <a:xfrm>
            <a:off x="2482850" y="4869557"/>
            <a:ext cx="2330450" cy="365125"/>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dirty="0">
                <a:ln>
                  <a:noFill/>
                </a:ln>
                <a:solidFill>
                  <a:srgbClr val="FFCC00"/>
                </a:solidFill>
                <a:effectLst>
                  <a:outerShdw blurRad="38100" dist="38100" dir="2700000" algn="tl">
                    <a:srgbClr val="000000"/>
                  </a:outerShdw>
                </a:effectLst>
                <a:uLnTx/>
                <a:uFillTx/>
                <a:latin typeface="Arial Narrow" pitchFamily="34" charset="0"/>
                <a:ea typeface="黑体" panose="02010609060101010101" pitchFamily="49" charset="-122"/>
                <a:cs typeface="+mn-cs"/>
              </a:rPr>
              <a:t>SQL</a:t>
            </a:r>
            <a:r>
              <a:rPr kumimoji="0" lang="zh-CN" altLang="en-US" sz="2400" b="0" i="0" u="none" strike="noStrike" kern="0" cap="none" spc="0" normalizeH="0" baseline="0" noProof="0" dirty="0">
                <a:ln>
                  <a:noFill/>
                </a:ln>
                <a:solidFill>
                  <a:srgbClr val="FFCC00"/>
                </a:solidFill>
                <a:effectLst>
                  <a:outerShdw blurRad="38100" dist="38100" dir="2700000" algn="tl">
                    <a:srgbClr val="000000"/>
                  </a:outerShdw>
                </a:effectLst>
                <a:uLnTx/>
                <a:uFillTx/>
                <a:latin typeface="Arial Narrow" pitchFamily="34" charset="0"/>
                <a:ea typeface="黑体" panose="02010609060101010101" pitchFamily="49" charset="-122"/>
                <a:cs typeface="+mn-cs"/>
              </a:rPr>
              <a:t>实际做的查询</a:t>
            </a:r>
            <a:endParaRPr kumimoji="0" lang="en-US" altLang="zh-CN" sz="2400" b="0" i="0" u="none" strike="noStrike" kern="0" cap="none" spc="0" normalizeH="0" baseline="0" noProof="0" dirty="0">
              <a:ln>
                <a:noFill/>
              </a:ln>
              <a:solidFill>
                <a:srgbClr val="FFCC00"/>
              </a:solidFill>
              <a:effectLst>
                <a:outerShdw blurRad="38100" dist="38100" dir="2700000" algn="tl">
                  <a:srgbClr val="000000"/>
                </a:outerShdw>
              </a:effectLst>
              <a:uLnTx/>
              <a:uFillTx/>
              <a:latin typeface="Arial Narrow" pitchFamily="34" charset="0"/>
              <a:ea typeface="黑体" panose="02010609060101010101" pitchFamily="49" charset="-122"/>
              <a:cs typeface="+mn-cs"/>
            </a:endParaRPr>
          </a:p>
        </p:txBody>
      </p:sp>
      <p:sp>
        <p:nvSpPr>
          <p:cNvPr id="49" name="Line 157"/>
          <p:cNvSpPr>
            <a:spLocks noChangeShapeType="1"/>
          </p:cNvSpPr>
          <p:nvPr/>
        </p:nvSpPr>
        <p:spPr bwMode="auto">
          <a:xfrm flipH="1" flipV="1">
            <a:off x="5580063" y="765175"/>
            <a:ext cx="1296987" cy="316865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50" name="Line 158"/>
          <p:cNvSpPr>
            <a:spLocks noChangeShapeType="1"/>
          </p:cNvSpPr>
          <p:nvPr/>
        </p:nvSpPr>
        <p:spPr bwMode="auto">
          <a:xfrm flipV="1">
            <a:off x="8604250" y="765175"/>
            <a:ext cx="288925" cy="316865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51" name="Line 159"/>
          <p:cNvSpPr>
            <a:spLocks noChangeShapeType="1"/>
          </p:cNvSpPr>
          <p:nvPr/>
        </p:nvSpPr>
        <p:spPr bwMode="auto">
          <a:xfrm flipH="1" flipV="1">
            <a:off x="5580063" y="3213100"/>
            <a:ext cx="1296987" cy="316865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52" name="Line 160"/>
          <p:cNvSpPr>
            <a:spLocks noChangeShapeType="1"/>
          </p:cNvSpPr>
          <p:nvPr/>
        </p:nvSpPr>
        <p:spPr bwMode="auto">
          <a:xfrm flipV="1">
            <a:off x="8604250" y="3213100"/>
            <a:ext cx="288925" cy="316865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3812479060"/>
      </p:ext>
    </p:extLst>
  </p:cSld>
  <p:clrMapOvr>
    <a:masterClrMapping/>
  </p:clrMapOvr>
  <p:transition spd="slow">
    <p:push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更新</a:t>
            </a:r>
            <a:r>
              <a:rPr lang="zh-CN" altLang="en-US" sz="4000" b="1" dirty="0" smtClean="0">
                <a:solidFill>
                  <a:srgbClr val="FFFFCC"/>
                </a:solidFill>
                <a:effectLst>
                  <a:outerShdw blurRad="38100" dist="38100" dir="2700000" algn="tl">
                    <a:srgbClr val="000000"/>
                  </a:outerShdw>
                </a:effectLst>
              </a:rPr>
              <a:t>视图</a:t>
            </a:r>
            <a:endParaRPr lang="zh-CN" altLang="en-US" sz="4000" b="1" dirty="0">
              <a:solidFill>
                <a:srgbClr val="FFFFCC"/>
              </a:solidFill>
              <a:effectLst>
                <a:outerShdw blurRad="38100" dist="38100" dir="2700000" algn="tl">
                  <a:srgbClr val="000000"/>
                </a:outerShdw>
              </a:effectLst>
            </a:endParaRPr>
          </a:p>
        </p:txBody>
      </p:sp>
      <p:sp>
        <p:nvSpPr>
          <p:cNvPr id="38" name="Rectangle 4"/>
          <p:cNvSpPr>
            <a:spLocks noChangeArrowheads="1"/>
          </p:cNvSpPr>
          <p:nvPr/>
        </p:nvSpPr>
        <p:spPr bwMode="auto">
          <a:xfrm>
            <a:off x="5076825" y="774700"/>
            <a:ext cx="385763" cy="396875"/>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a:t>
            </a:r>
          </a:p>
        </p:txBody>
      </p:sp>
      <p:graphicFrame>
        <p:nvGraphicFramePr>
          <p:cNvPr id="45" name="Group 12"/>
          <p:cNvGraphicFramePr>
            <a:graphicFrameLocks noGrp="1"/>
          </p:cNvGraphicFramePr>
          <p:nvPr/>
        </p:nvGraphicFramePr>
        <p:xfrm>
          <a:off x="5580063" y="774700"/>
          <a:ext cx="3351212" cy="2438400"/>
        </p:xfrm>
        <a:graphic>
          <a:graphicData uri="http://schemas.openxmlformats.org/drawingml/2006/table">
            <a:tbl>
              <a:tblPr/>
              <a:tblGrid>
                <a:gridCol w="8207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6" name="Rectangle 82"/>
          <p:cNvSpPr>
            <a:spLocks noChangeArrowheads="1"/>
          </p:cNvSpPr>
          <p:nvPr/>
        </p:nvSpPr>
        <p:spPr bwMode="auto">
          <a:xfrm>
            <a:off x="5724525" y="3933825"/>
            <a:ext cx="852798" cy="400110"/>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600" b="0" i="0" u="none" strike="noStrike" kern="1200" cap="none" spc="0" normalizeH="0" baseline="0" noProof="0" dirty="0" smtClean="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ST_IS</a:t>
            </a:r>
            <a:endParaRPr kumimoji="0" lang="en-US" altLang="zh-CN"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endParaRPr>
          </a:p>
        </p:txBody>
      </p:sp>
      <p:graphicFrame>
        <p:nvGraphicFramePr>
          <p:cNvPr id="47" name="Group 155"/>
          <p:cNvGraphicFramePr>
            <a:graphicFrameLocks noGrp="1"/>
          </p:cNvGraphicFramePr>
          <p:nvPr/>
        </p:nvGraphicFramePr>
        <p:xfrm>
          <a:off x="6877050" y="3933825"/>
          <a:ext cx="1728788" cy="2438400"/>
        </p:xfrm>
        <a:graphic>
          <a:graphicData uri="http://schemas.openxmlformats.org/drawingml/2006/table">
            <a:tbl>
              <a:tblPr/>
              <a:tblGrid>
                <a:gridCol w="987425">
                  <a:extLst>
                    <a:ext uri="{9D8B030D-6E8A-4147-A177-3AD203B41FA5}">
                      <a16:colId xmlns:a16="http://schemas.microsoft.com/office/drawing/2014/main" val="20000"/>
                    </a:ext>
                  </a:extLst>
                </a:gridCol>
                <a:gridCol w="741363">
                  <a:extLst>
                    <a:ext uri="{9D8B030D-6E8A-4147-A177-3AD203B41FA5}">
                      <a16:colId xmlns:a16="http://schemas.microsoft.com/office/drawing/2014/main" val="20001"/>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name</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age</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9" name="Line 157"/>
          <p:cNvSpPr>
            <a:spLocks noChangeShapeType="1"/>
          </p:cNvSpPr>
          <p:nvPr/>
        </p:nvSpPr>
        <p:spPr bwMode="auto">
          <a:xfrm flipH="1" flipV="1">
            <a:off x="5580063" y="765175"/>
            <a:ext cx="1296987" cy="316865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50" name="Line 158"/>
          <p:cNvSpPr>
            <a:spLocks noChangeShapeType="1"/>
          </p:cNvSpPr>
          <p:nvPr/>
        </p:nvSpPr>
        <p:spPr bwMode="auto">
          <a:xfrm flipV="1">
            <a:off x="8604250" y="765175"/>
            <a:ext cx="288925" cy="316865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51" name="Line 159"/>
          <p:cNvSpPr>
            <a:spLocks noChangeShapeType="1"/>
          </p:cNvSpPr>
          <p:nvPr/>
        </p:nvSpPr>
        <p:spPr bwMode="auto">
          <a:xfrm flipH="1" flipV="1">
            <a:off x="5580063" y="3213100"/>
            <a:ext cx="1296987" cy="316865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52" name="Line 160"/>
          <p:cNvSpPr>
            <a:spLocks noChangeShapeType="1"/>
          </p:cNvSpPr>
          <p:nvPr/>
        </p:nvSpPr>
        <p:spPr bwMode="auto">
          <a:xfrm flipV="1">
            <a:off x="8604250" y="3213100"/>
            <a:ext cx="288925" cy="316865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25" name="Rectangle 4"/>
          <p:cNvSpPr>
            <a:spLocks noChangeArrowheads="1"/>
          </p:cNvSpPr>
          <p:nvPr/>
        </p:nvSpPr>
        <p:spPr bwMode="auto">
          <a:xfrm>
            <a:off x="356096" y="1771997"/>
            <a:ext cx="5080000" cy="1465016"/>
          </a:xfrm>
          <a:prstGeom prst="rect">
            <a:avLst/>
          </a:prstGeom>
          <a:noFill/>
          <a:ln w="12700" cap="sq">
            <a:no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CREATE VIEW ST_IS(</a:t>
            </a:r>
            <a:r>
              <a:rPr kumimoji="0" lang="en-US" altLang="zh-CN" sz="2800" b="0" i="0" u="none" strike="noStrike" kern="0" cap="none" spc="0" normalizeH="0" baseline="0" noProof="0" dirty="0" err="1">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name,age</a:t>
            </a: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a:t>
            </a:r>
          </a:p>
          <a:p>
            <a:pPr marL="0" marR="0" lvl="0" indent="0" algn="l" defTabSz="914400" rtl="0" eaLnBrk="1" fontAlgn="auto" latinLnBrk="0" hangingPunct="1">
              <a:lnSpc>
                <a:spcPct val="8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AS SELECT </a:t>
            </a:r>
            <a:r>
              <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姓名</a:t>
            </a: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年龄</a:t>
            </a:r>
          </a:p>
          <a:p>
            <a:pPr marL="0" marR="0" lvl="0" indent="0" algn="l" defTabSz="914400" rtl="0" eaLnBrk="1" fontAlgn="auto" latinLnBrk="0" hangingPunct="1">
              <a:lnSpc>
                <a:spcPct val="8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   FROM ST</a:t>
            </a:r>
          </a:p>
          <a:p>
            <a:pPr marL="0" marR="0" lvl="0" indent="0" algn="l" defTabSz="914400" rtl="0" eaLnBrk="1" fontAlgn="auto" latinLnBrk="0" hangingPunct="1">
              <a:lnSpc>
                <a:spcPct val="8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   WHERE </a:t>
            </a:r>
            <a:r>
              <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系</a:t>
            </a:r>
            <a:r>
              <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='IS</a:t>
            </a:r>
            <a:r>
              <a:rPr kumimoji="0" lang="en-US" altLang="zh-CN"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26" name="Rectangle 5"/>
          <p:cNvSpPr>
            <a:spLocks noChangeArrowheads="1"/>
          </p:cNvSpPr>
          <p:nvPr/>
        </p:nvSpPr>
        <p:spPr bwMode="auto">
          <a:xfrm>
            <a:off x="300533" y="1268760"/>
            <a:ext cx="4681538" cy="574675"/>
          </a:xfrm>
          <a:prstGeom prst="rect">
            <a:avLst/>
          </a:prstGeom>
          <a:noFill/>
          <a:ln w="9525">
            <a:noFill/>
            <a:miter lim="800000"/>
            <a:headEnd/>
            <a:tailEnd/>
          </a:ln>
          <a:effectLst/>
        </p:spPr>
        <p:txBody>
          <a:bodyPr/>
          <a:lstStyle/>
          <a:p>
            <a:pPr marL="0" marR="0" lvl="0" indent="0" algn="l" defTabSz="914400" rtl="0" eaLnBrk="1" fontAlgn="auto" latinLnBrk="0" hangingPunct="1">
              <a:lnSpc>
                <a:spcPct val="110000"/>
              </a:lnSpc>
              <a:spcBef>
                <a:spcPts val="0"/>
              </a:spcBef>
              <a:spcAft>
                <a:spcPct val="0"/>
              </a:spcAft>
              <a:buClr>
                <a:srgbClr val="66FF33"/>
              </a:buClr>
              <a:buSzPct val="85000"/>
              <a:buFontTx/>
              <a:buNone/>
              <a:tabLst/>
              <a:defRPr/>
            </a:pPr>
            <a:r>
              <a:rPr kumimoji="0" lang="en-US" altLang="zh-CN"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IS</a:t>
            </a:r>
            <a:r>
              <a:rPr kumimoji="0" lang="zh-CN"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系学生的姓名和年龄视图</a:t>
            </a:r>
            <a:endParaRPr kumimoji="0" lang="en-US"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mn-ea"/>
              <a:cs typeface="+mn-cs"/>
            </a:endParaRPr>
          </a:p>
        </p:txBody>
      </p:sp>
      <p:sp>
        <p:nvSpPr>
          <p:cNvPr id="27" name="Rectangle 6"/>
          <p:cNvSpPr>
            <a:spLocks noChangeArrowheads="1"/>
          </p:cNvSpPr>
          <p:nvPr/>
        </p:nvSpPr>
        <p:spPr bwMode="auto">
          <a:xfrm>
            <a:off x="356096" y="4077047"/>
            <a:ext cx="4572000" cy="1007181"/>
          </a:xfrm>
          <a:prstGeom prst="rect">
            <a:avLst/>
          </a:prstGeom>
          <a:noFill/>
          <a:ln w="12700" cap="sq" algn="ctr">
            <a:noFill/>
            <a:miter lim="800000"/>
            <a:headEnd/>
            <a:tailEnd/>
          </a:ln>
          <a:effectLst/>
        </p:spPr>
        <p:txBody>
          <a:bodyPr lIns="72000" tIns="72000" rIns="72000" bIns="72000">
            <a:spAutoFit/>
          </a:bodyPr>
          <a:lstStyle/>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UPDATE ST_IS</a:t>
            </a:r>
          </a:p>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SET </a:t>
            </a:r>
            <a:r>
              <a:rPr kumimoji="0" lang="en-US" altLang="zh-CN" sz="2800" b="0" i="0" u="none" strike="noStrike" kern="0" cap="none" spc="0" normalizeH="0" baseline="0" noProof="0" dirty="0" smtClean="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age=0</a:t>
            </a:r>
            <a:endPar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28" name="Rectangle 7"/>
          <p:cNvSpPr>
            <a:spLocks noChangeArrowheads="1"/>
          </p:cNvSpPr>
          <p:nvPr/>
        </p:nvSpPr>
        <p:spPr bwMode="auto">
          <a:xfrm>
            <a:off x="356096" y="5516910"/>
            <a:ext cx="4032250" cy="1007181"/>
          </a:xfrm>
          <a:prstGeom prst="rect">
            <a:avLst/>
          </a:prstGeom>
          <a:noFill/>
          <a:ln w="12700" cap="sq" algn="ctr">
            <a:noFill/>
            <a:miter lim="800000"/>
            <a:headEnd/>
            <a:tailEnd/>
          </a:ln>
          <a:effectLst/>
        </p:spPr>
        <p:txBody>
          <a:bodyPr lIns="72000" tIns="72000" rIns="72000" bIns="72000">
            <a:spAutoFit/>
          </a:bodyPr>
          <a:lstStyle/>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UPDATE ST SET </a:t>
            </a:r>
            <a:r>
              <a:rPr kumimoji="0" lang="zh-CN" altLang="en-US"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年龄</a:t>
            </a: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=0</a:t>
            </a:r>
          </a:p>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WHERE </a:t>
            </a:r>
            <a:r>
              <a:rPr kumimoji="0" lang="zh-CN" altLang="en-US"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系</a:t>
            </a: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='IS</a:t>
            </a:r>
            <a:r>
              <a:rPr kumimoji="0" lang="en-US" altLang="zh-CN" sz="2800" b="0" i="0" u="none" strike="noStrike" kern="0" cap="none" spc="0" normalizeH="0" baseline="0" noProof="0" dirty="0" smtClean="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en-US" altLang="zh-CN"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29" name="Rectangle 8"/>
          <p:cNvSpPr>
            <a:spLocks noChangeArrowheads="1"/>
          </p:cNvSpPr>
          <p:nvPr/>
        </p:nvSpPr>
        <p:spPr bwMode="auto">
          <a:xfrm>
            <a:off x="300533" y="3500785"/>
            <a:ext cx="4681538" cy="574675"/>
          </a:xfrm>
          <a:prstGeom prst="rect">
            <a:avLst/>
          </a:prstGeom>
          <a:noFill/>
          <a:ln w="9525">
            <a:noFill/>
            <a:miter lim="800000"/>
            <a:headEnd/>
            <a:tailEnd/>
          </a:ln>
          <a:effectLst/>
        </p:spPr>
        <p:txBody>
          <a:bodyPr/>
          <a:lstStyle/>
          <a:p>
            <a:pPr marL="0" marR="0" lvl="0" indent="0" algn="l" defTabSz="914400" rtl="0" eaLnBrk="1" fontAlgn="auto" latinLnBrk="0" hangingPunct="1">
              <a:lnSpc>
                <a:spcPct val="110000"/>
              </a:lnSpc>
              <a:spcBef>
                <a:spcPts val="0"/>
              </a:spcBef>
              <a:spcAft>
                <a:spcPct val="0"/>
              </a:spcAft>
              <a:buClr>
                <a:srgbClr val="66FF33"/>
              </a:buClr>
              <a:buSzPct val="85000"/>
              <a:buFontTx/>
              <a:buNone/>
              <a:tabLst/>
              <a:defRPr/>
            </a:pPr>
            <a:r>
              <a:rPr kumimoji="0" lang="zh-CN" altLang="en-US" sz="2600" b="0" i="0" u="none" strike="noStrike" kern="1200" cap="none" spc="0" normalizeH="0" baseline="0" noProof="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将</a:t>
            </a:r>
            <a:r>
              <a:rPr kumimoji="0" lang="en-US" altLang="zh-CN" sz="2600" b="0" i="0" u="none" strike="noStrike" kern="1200" cap="none" spc="0" normalizeH="0" baseline="0" noProof="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IS</a:t>
            </a:r>
            <a:r>
              <a:rPr kumimoji="0" lang="zh-CN" altLang="en-US" sz="2600" b="0" i="0" u="none" strike="noStrike" kern="1200" cap="none" spc="0" normalizeH="0" baseline="0" noProof="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系学生年龄改为</a:t>
            </a:r>
            <a:r>
              <a:rPr kumimoji="0" lang="en-US" altLang="zh-CN" sz="2600" b="0" i="0" u="none" strike="noStrike" kern="1200" cap="none" spc="0" normalizeH="0" baseline="0" noProof="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0</a:t>
            </a:r>
            <a:endParaRPr kumimoji="0" lang="en-US" altLang="en-US" sz="2600" b="0" i="0" u="none" strike="noStrike" kern="1200" cap="none" spc="0" normalizeH="0" baseline="0" noProof="0">
              <a:ln>
                <a:noFill/>
              </a:ln>
              <a:solidFill>
                <a:prstClr val="white"/>
              </a:solidFill>
              <a:effectLst>
                <a:outerShdw blurRad="38100" dist="38100" dir="2700000" algn="tl">
                  <a:srgbClr val="000000"/>
                </a:outerShdw>
              </a:effectLst>
              <a:uLnTx/>
              <a:uFillTx/>
              <a:latin typeface="Arial" charset="0"/>
              <a:ea typeface="+mn-ea"/>
              <a:cs typeface="+mn-cs"/>
            </a:endParaRPr>
          </a:p>
        </p:txBody>
      </p:sp>
      <p:sp>
        <p:nvSpPr>
          <p:cNvPr id="30" name="AutoShape 9"/>
          <p:cNvSpPr>
            <a:spLocks noChangeArrowheads="1"/>
          </p:cNvSpPr>
          <p:nvPr/>
        </p:nvSpPr>
        <p:spPr bwMode="auto">
          <a:xfrm>
            <a:off x="1292721" y="5156547"/>
            <a:ext cx="274637" cy="390525"/>
          </a:xfrm>
          <a:prstGeom prst="downArrow">
            <a:avLst>
              <a:gd name="adj1" fmla="val 51454"/>
              <a:gd name="adj2" fmla="val 32297"/>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a:tailEnd/>
          </a:ln>
          <a:effectLst>
            <a:outerShdw dist="53882" dir="2700000" algn="ctr" rotWithShape="0">
              <a:srgbClr val="000514">
                <a:alpha val="50000"/>
              </a:srgbClr>
            </a:outerShdw>
          </a:effectLst>
        </p:spPr>
        <p:txBody>
          <a:bodyPr lIns="36000" tIns="36000" rIns="36000" b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31" name="Rectangle 10"/>
          <p:cNvSpPr>
            <a:spLocks noChangeArrowheads="1"/>
          </p:cNvSpPr>
          <p:nvPr/>
        </p:nvSpPr>
        <p:spPr bwMode="auto">
          <a:xfrm>
            <a:off x="2011858" y="5085110"/>
            <a:ext cx="2330450" cy="365125"/>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solidFill>
                  <a:srgbClr val="FFCC00"/>
                </a:solidFill>
                <a:effectLst>
                  <a:outerShdw blurRad="38100" dist="38100" dir="2700000" algn="tl">
                    <a:srgbClr val="000000"/>
                  </a:outerShdw>
                </a:effectLst>
                <a:uLnTx/>
                <a:uFillTx/>
                <a:latin typeface="Arial Narrow" pitchFamily="34" charset="0"/>
                <a:ea typeface="黑体" panose="02010609060101010101" pitchFamily="49" charset="-122"/>
                <a:cs typeface="+mn-cs"/>
              </a:rPr>
              <a:t>SQL</a:t>
            </a:r>
            <a:r>
              <a:rPr kumimoji="0" lang="zh-CN" altLang="en-US" sz="2400" b="0" i="0" u="none" strike="noStrike" kern="0" cap="none" spc="0" normalizeH="0" baseline="0" noProof="0">
                <a:ln>
                  <a:noFill/>
                </a:ln>
                <a:solidFill>
                  <a:srgbClr val="FFCC00"/>
                </a:solidFill>
                <a:effectLst>
                  <a:outerShdw blurRad="38100" dist="38100" dir="2700000" algn="tl">
                    <a:srgbClr val="000000"/>
                  </a:outerShdw>
                </a:effectLst>
                <a:uLnTx/>
                <a:uFillTx/>
                <a:latin typeface="Arial Narrow" pitchFamily="34" charset="0"/>
                <a:ea typeface="黑体" panose="02010609060101010101" pitchFamily="49" charset="-122"/>
                <a:cs typeface="+mn-cs"/>
              </a:rPr>
              <a:t>实际做的更新</a:t>
            </a:r>
          </a:p>
        </p:txBody>
      </p:sp>
    </p:spTree>
    <p:extLst>
      <p:ext uri="{BB962C8B-B14F-4D97-AF65-F5344CB8AC3E}">
        <p14:creationId xmlns:p14="http://schemas.microsoft.com/office/powerpoint/2010/main" val="3453506672"/>
      </p:ext>
    </p:extLst>
  </p:cSld>
  <p:clrMapOvr>
    <a:masterClrMapping/>
  </p:clrMapOvr>
  <p:transition spd="slow">
    <p:push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更新</a:t>
            </a:r>
            <a:r>
              <a:rPr lang="zh-CN" altLang="en-US" sz="4000" b="1" dirty="0" smtClean="0">
                <a:solidFill>
                  <a:srgbClr val="FFFFCC"/>
                </a:solidFill>
                <a:effectLst>
                  <a:outerShdw blurRad="38100" dist="38100" dir="2700000" algn="tl">
                    <a:srgbClr val="000000"/>
                  </a:outerShdw>
                </a:effectLst>
              </a:rPr>
              <a:t>视图</a:t>
            </a:r>
            <a:endParaRPr lang="zh-CN" altLang="en-US" sz="4000" b="1" dirty="0">
              <a:solidFill>
                <a:srgbClr val="FFFFCC"/>
              </a:solidFill>
              <a:effectLst>
                <a:outerShdw blurRad="38100" dist="38100" dir="2700000" algn="tl">
                  <a:srgbClr val="000000"/>
                </a:outerShdw>
              </a:effectLst>
            </a:endParaRPr>
          </a:p>
        </p:txBody>
      </p:sp>
      <p:sp>
        <p:nvSpPr>
          <p:cNvPr id="39" name="AutoShape 7"/>
          <p:cNvSpPr>
            <a:spLocks noChangeArrowheads="1"/>
          </p:cNvSpPr>
          <p:nvPr/>
        </p:nvSpPr>
        <p:spPr bwMode="auto">
          <a:xfrm>
            <a:off x="1908175" y="5156200"/>
            <a:ext cx="417513" cy="304800"/>
          </a:xfrm>
          <a:prstGeom prst="downArrow">
            <a:avLst>
              <a:gd name="adj1" fmla="val 37639"/>
              <a:gd name="adj2" fmla="val 41667"/>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a:tailEnd/>
          </a:ln>
          <a:effectLst>
            <a:outerShdw dist="53882" dir="2700000" algn="ctr" rotWithShape="0">
              <a:srgbClr val="000514">
                <a:alpha val="50000"/>
              </a:srgbClr>
            </a:outerShdw>
          </a:effectLst>
        </p:spPr>
        <p:txBody>
          <a:bodyPr lIns="36000" tIns="36000" rIns="36000" b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40" name="Rectangle 8"/>
          <p:cNvSpPr>
            <a:spLocks noChangeArrowheads="1"/>
          </p:cNvSpPr>
          <p:nvPr/>
        </p:nvSpPr>
        <p:spPr bwMode="auto">
          <a:xfrm>
            <a:off x="179388" y="1075570"/>
            <a:ext cx="5400675" cy="574675"/>
          </a:xfrm>
          <a:prstGeom prst="rect">
            <a:avLst/>
          </a:prstGeom>
          <a:noFill/>
          <a:ln w="9525">
            <a:noFill/>
            <a:miter lim="800000"/>
            <a:headEnd/>
            <a:tailEnd/>
          </a:ln>
          <a:effectLst/>
        </p:spPr>
        <p:txBody>
          <a:bodyPr/>
          <a:lstStyle/>
          <a:p>
            <a:pPr marL="0" marR="0" lvl="0" indent="0" algn="l" defTabSz="914400" rtl="0" eaLnBrk="1" fontAlgn="auto" latinLnBrk="0" hangingPunct="1">
              <a:lnSpc>
                <a:spcPct val="110000"/>
              </a:lnSpc>
              <a:spcBef>
                <a:spcPts val="0"/>
              </a:spcBef>
              <a:spcAft>
                <a:spcPct val="0"/>
              </a:spcAft>
              <a:buClr>
                <a:srgbClr val="66FF33"/>
              </a:buClr>
              <a:buSzPct val="85000"/>
              <a:buFontTx/>
              <a:buNone/>
              <a:tabLst/>
              <a:defRPr/>
            </a:pPr>
            <a:r>
              <a:rPr kumimoji="0" lang="en-US" altLang="zh-CN"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IS</a:t>
            </a:r>
            <a:r>
              <a:rPr kumimoji="0" lang="zh-CN"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系学生的学号、姓名和性别视图</a:t>
            </a:r>
            <a:endParaRPr kumimoji="0" lang="en-US"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mn-ea"/>
              <a:cs typeface="+mn-cs"/>
            </a:endParaRPr>
          </a:p>
        </p:txBody>
      </p:sp>
      <p:sp>
        <p:nvSpPr>
          <p:cNvPr id="41" name="Rectangle 9"/>
          <p:cNvSpPr>
            <a:spLocks noChangeArrowheads="1"/>
          </p:cNvSpPr>
          <p:nvPr/>
        </p:nvSpPr>
        <p:spPr bwMode="auto">
          <a:xfrm>
            <a:off x="179388" y="3716338"/>
            <a:ext cx="5400675" cy="574675"/>
          </a:xfrm>
          <a:prstGeom prst="rect">
            <a:avLst/>
          </a:prstGeom>
          <a:noFill/>
          <a:ln w="9525">
            <a:noFill/>
            <a:miter lim="800000"/>
            <a:headEnd/>
            <a:tailEnd/>
          </a:ln>
          <a:effectLst/>
        </p:spPr>
        <p:txBody>
          <a:bodyPr/>
          <a:lstStyle/>
          <a:p>
            <a:pPr marL="0" marR="0" lvl="0" indent="0" algn="l" defTabSz="914400" rtl="0" eaLnBrk="1" fontAlgn="auto" latinLnBrk="0" hangingPunct="1">
              <a:lnSpc>
                <a:spcPct val="110000"/>
              </a:lnSpc>
              <a:spcBef>
                <a:spcPts val="0"/>
              </a:spcBef>
              <a:spcAft>
                <a:spcPct val="0"/>
              </a:spcAft>
              <a:buClr>
                <a:srgbClr val="66FF33"/>
              </a:buClr>
              <a:buSzPct val="85000"/>
              <a:buFontTx/>
              <a:buNone/>
              <a:tabLst/>
              <a:defRPr/>
            </a:pPr>
            <a:r>
              <a:rPr kumimoji="0" lang="zh-CN" altLang="en-US"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利用</a:t>
            </a:r>
            <a:r>
              <a:rPr kumimoji="0" lang="en-US" altLang="zh-CN"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ST_IS</a:t>
            </a:r>
            <a:r>
              <a:rPr kumimoji="0" lang="zh-CN" altLang="en-US"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视图增加一名新学生</a:t>
            </a:r>
            <a:endParaRPr kumimoji="0" lang="en-US" altLang="en-US"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mn-ea"/>
              <a:cs typeface="+mn-cs"/>
            </a:endParaRPr>
          </a:p>
        </p:txBody>
      </p:sp>
      <p:sp>
        <p:nvSpPr>
          <p:cNvPr id="42" name="Rectangle 10"/>
          <p:cNvSpPr>
            <a:spLocks noChangeArrowheads="1"/>
          </p:cNvSpPr>
          <p:nvPr/>
        </p:nvSpPr>
        <p:spPr bwMode="auto">
          <a:xfrm>
            <a:off x="2749550" y="5133975"/>
            <a:ext cx="2330450" cy="365125"/>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solidFill>
                  <a:srgbClr val="FFCC00"/>
                </a:solidFill>
                <a:effectLst>
                  <a:outerShdw blurRad="38100" dist="38100" dir="2700000" algn="tl">
                    <a:srgbClr val="000000"/>
                  </a:outerShdw>
                </a:effectLst>
                <a:uLnTx/>
                <a:uFillTx/>
                <a:latin typeface="Arial Narrow" pitchFamily="34" charset="0"/>
                <a:ea typeface="黑体" panose="02010609060101010101" pitchFamily="49" charset="-122"/>
                <a:cs typeface="+mn-cs"/>
              </a:rPr>
              <a:t>SQL</a:t>
            </a:r>
            <a:r>
              <a:rPr kumimoji="0" lang="zh-CN" altLang="en-US" sz="2400" b="0" i="0" u="none" strike="noStrike" kern="0" cap="none" spc="0" normalizeH="0" baseline="0" noProof="0">
                <a:ln>
                  <a:noFill/>
                </a:ln>
                <a:solidFill>
                  <a:srgbClr val="FFCC00"/>
                </a:solidFill>
                <a:effectLst>
                  <a:outerShdw blurRad="38100" dist="38100" dir="2700000" algn="tl">
                    <a:srgbClr val="000000"/>
                  </a:outerShdw>
                </a:effectLst>
                <a:uLnTx/>
                <a:uFillTx/>
                <a:latin typeface="Arial Narrow" pitchFamily="34" charset="0"/>
                <a:ea typeface="黑体" panose="02010609060101010101" pitchFamily="49" charset="-122"/>
                <a:cs typeface="+mn-cs"/>
              </a:rPr>
              <a:t>实际做的插入</a:t>
            </a:r>
          </a:p>
        </p:txBody>
      </p:sp>
      <p:sp>
        <p:nvSpPr>
          <p:cNvPr id="57" name="Rectangle 5"/>
          <p:cNvSpPr>
            <a:spLocks noChangeArrowheads="1"/>
          </p:cNvSpPr>
          <p:nvPr/>
        </p:nvSpPr>
        <p:spPr bwMode="auto">
          <a:xfrm>
            <a:off x="252413" y="1591632"/>
            <a:ext cx="6024562" cy="1477328"/>
          </a:xfrm>
          <a:prstGeom prst="rect">
            <a:avLst/>
          </a:prstGeom>
          <a:noFill/>
          <a:ln w="12700" cap="sq">
            <a:no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ct val="20000"/>
              </a:spcBef>
              <a:spcAft>
                <a:spcPct val="0"/>
              </a:spcAft>
              <a:buClr>
                <a:srgbClr val="800080"/>
              </a:buClr>
              <a:buSzPct val="60000"/>
              <a:buFontTx/>
              <a:buNone/>
              <a:tabLst/>
              <a:defRPr/>
            </a:pPr>
            <a:r>
              <a:rPr kumimoji="0" lang="en-US" altLang="zh-CN"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CREATE VIEW ST_IS AS</a:t>
            </a:r>
            <a:endParaRPr kumimoji="0" lang="en-US" altLang="zh-CN" sz="2400" b="0" i="1"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ct val="0"/>
              </a:spcAft>
              <a:buClr>
                <a:srgbClr val="800080"/>
              </a:buClr>
              <a:buSzPct val="60000"/>
              <a:buFontTx/>
              <a:buNone/>
              <a:tabLst/>
              <a:defRPr/>
            </a:pPr>
            <a:r>
              <a:rPr kumimoji="0" lang="en-US" altLang="zh-CN"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SELECT </a:t>
            </a:r>
            <a:r>
              <a:rPr kumimoji="0" lang="zh-CN" altLang="en-US"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学号</a:t>
            </a:r>
            <a:r>
              <a:rPr kumimoji="0" lang="en-US" altLang="zh-CN"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姓名</a:t>
            </a:r>
            <a:r>
              <a:rPr kumimoji="0" lang="en-US" altLang="zh-CN"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性别</a:t>
            </a:r>
          </a:p>
          <a:p>
            <a:pPr marL="0" marR="0" lvl="0" indent="0" algn="l" defTabSz="914400" rtl="0" eaLnBrk="1" fontAlgn="auto" latinLnBrk="0" hangingPunct="1">
              <a:lnSpc>
                <a:spcPct val="100000"/>
              </a:lnSpc>
              <a:spcBef>
                <a:spcPts val="0"/>
              </a:spcBef>
              <a:spcAft>
                <a:spcPct val="0"/>
              </a:spcAft>
              <a:buClr>
                <a:srgbClr val="800080"/>
              </a:buClr>
              <a:buSzPct val="60000"/>
              <a:buFontTx/>
              <a:buNone/>
              <a:tabLst/>
              <a:defRPr/>
            </a:pPr>
            <a:r>
              <a:rPr kumimoji="0" lang="en-US" altLang="zh-CN"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FROM ST</a:t>
            </a:r>
          </a:p>
          <a:p>
            <a:pPr marL="0" marR="0" lvl="0" indent="0" algn="l" defTabSz="914400" rtl="0" eaLnBrk="1" fontAlgn="auto" latinLnBrk="0" hangingPunct="1">
              <a:lnSpc>
                <a:spcPct val="100000"/>
              </a:lnSpc>
              <a:spcBef>
                <a:spcPts val="0"/>
              </a:spcBef>
              <a:spcAft>
                <a:spcPct val="0"/>
              </a:spcAft>
              <a:buClr>
                <a:srgbClr val="800080"/>
              </a:buClr>
              <a:buSzPct val="60000"/>
              <a:buFontTx/>
              <a:buNone/>
              <a:tabLst/>
              <a:defRPr/>
            </a:pPr>
            <a:r>
              <a:rPr kumimoji="0" lang="en-US" altLang="zh-CN"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WHERE </a:t>
            </a:r>
            <a:r>
              <a:rPr kumimoji="0" lang="zh-CN" altLang="en-US"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系</a:t>
            </a:r>
            <a:r>
              <a:rPr kumimoji="0" lang="en-US" altLang="zh-CN"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='IS</a:t>
            </a:r>
            <a:r>
              <a:rPr kumimoji="0" lang="en-US" altLang="zh-CN" sz="24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en-US" altLang="zh-CN" sz="24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58" name="Rectangle 6"/>
          <p:cNvSpPr>
            <a:spLocks noChangeArrowheads="1"/>
          </p:cNvSpPr>
          <p:nvPr/>
        </p:nvSpPr>
        <p:spPr bwMode="auto">
          <a:xfrm>
            <a:off x="323850" y="4219575"/>
            <a:ext cx="6913563" cy="2271391"/>
          </a:xfrm>
          <a:prstGeom prst="rect">
            <a:avLst/>
          </a:prstGeom>
          <a:noFill/>
          <a:ln w="12700" cap="sq">
            <a:no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ct val="30000"/>
              </a:spcBef>
              <a:spcAft>
                <a:spcPct val="0"/>
              </a:spcAft>
              <a:buClr>
                <a:srgbClr val="800080"/>
              </a:buClr>
              <a:buSzPct val="60000"/>
              <a:buFontTx/>
              <a:buNone/>
              <a:tabLst/>
              <a:defRPr/>
            </a:pPr>
            <a:r>
              <a:rPr kumimoji="0" lang="en-US" altLang="zh-CN"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INSERT INTO ST_IS</a:t>
            </a:r>
          </a:p>
          <a:p>
            <a:pPr marL="0" marR="0" lvl="0" indent="0" algn="l" defTabSz="914400" rtl="0" eaLnBrk="1" fontAlgn="auto" latinLnBrk="0" hangingPunct="1">
              <a:lnSpc>
                <a:spcPct val="100000"/>
              </a:lnSpc>
              <a:spcBef>
                <a:spcPts val="0"/>
              </a:spcBef>
              <a:spcAft>
                <a:spcPct val="0"/>
              </a:spcAft>
              <a:buClr>
                <a:srgbClr val="800080"/>
              </a:buClr>
              <a:buSzPct val="60000"/>
              <a:buFontTx/>
              <a:buNone/>
              <a:tabLst/>
              <a:defRPr/>
            </a:pPr>
            <a:r>
              <a:rPr kumimoji="0" lang="en-US" altLang="zh-CN"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VALUES('98008','</a:t>
            </a:r>
            <a:r>
              <a:rPr kumimoji="0" lang="zh-CN" altLang="en-US"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洪度','女</a:t>
            </a:r>
            <a:r>
              <a:rPr kumimoji="0" lang="zh-CN" altLang="en-US" sz="2400" b="0" i="0" u="none" strike="noStrike" kern="1200" cap="none" spc="0" normalizeH="0" baseline="0" noProof="0" dirty="0" smtClean="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en-US" altLang="zh-CN"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endParaRPr>
          </a:p>
          <a:p>
            <a:pPr marL="0" marR="0" lvl="0" indent="0" algn="l" defTabSz="914400" rtl="0" eaLnBrk="1" fontAlgn="auto" latinLnBrk="0" hangingPunct="1">
              <a:lnSpc>
                <a:spcPct val="100000"/>
              </a:lnSpc>
              <a:spcBef>
                <a:spcPct val="215000"/>
              </a:spcBef>
              <a:spcAft>
                <a:spcPct val="0"/>
              </a:spcAft>
              <a:buClr>
                <a:srgbClr val="800080"/>
              </a:buClr>
              <a:buSzPct val="60000"/>
              <a:buFontTx/>
              <a:buNone/>
              <a:tabLst/>
              <a:defRPr/>
            </a:pPr>
            <a:r>
              <a:rPr kumimoji="0" lang="en-US" altLang="zh-CN"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INSERT INTO ST(</a:t>
            </a:r>
            <a:r>
              <a:rPr kumimoji="0" lang="zh-CN" altLang="en-US"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学号</a:t>
            </a:r>
            <a:r>
              <a:rPr kumimoji="0" lang="en-US" altLang="zh-CN"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姓名</a:t>
            </a:r>
            <a:r>
              <a:rPr kumimoji="0" lang="en-US" altLang="zh-CN"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性别</a:t>
            </a:r>
            <a:r>
              <a:rPr kumimoji="0" lang="en-US" altLang="zh-CN"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zh-CN" altLang="en-US"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ct val="0"/>
              </a:spcAft>
              <a:buClr>
                <a:srgbClr val="800080"/>
              </a:buClr>
              <a:buSzPct val="60000"/>
              <a:buFontTx/>
              <a:buNone/>
              <a:tabLst/>
              <a:defRPr/>
            </a:pPr>
            <a:r>
              <a:rPr kumimoji="0" lang="en-US" altLang="zh-CN"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VALUES('98008','</a:t>
            </a:r>
            <a:r>
              <a:rPr kumimoji="0" lang="zh-CN" altLang="en-US"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洪度','女'</a:t>
            </a:r>
            <a:r>
              <a:rPr kumimoji="0" lang="en-US" altLang="zh-CN" sz="2400" b="0" i="0" u="none" strike="noStrike" kern="1200" cap="none" spc="0" normalizeH="0" baseline="0" noProof="0" dirty="0" smtClean="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zh-CN" altLang="en-US" sz="2400" b="0" i="0" u="none" strike="noStrike" kern="120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59" name="Rectangle 4"/>
          <p:cNvSpPr>
            <a:spLocks noChangeArrowheads="1"/>
          </p:cNvSpPr>
          <p:nvPr/>
        </p:nvSpPr>
        <p:spPr bwMode="auto">
          <a:xfrm>
            <a:off x="7164288" y="1412309"/>
            <a:ext cx="330219" cy="338554"/>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a:t>
            </a:r>
          </a:p>
        </p:txBody>
      </p:sp>
      <p:graphicFrame>
        <p:nvGraphicFramePr>
          <p:cNvPr id="60" name="Group 11"/>
          <p:cNvGraphicFramePr>
            <a:graphicFrameLocks noGrp="1"/>
          </p:cNvGraphicFramePr>
          <p:nvPr>
            <p:extLst/>
          </p:nvPr>
        </p:nvGraphicFramePr>
        <p:xfrm>
          <a:off x="5580063" y="1895326"/>
          <a:ext cx="3351212" cy="2438400"/>
        </p:xfrm>
        <a:graphic>
          <a:graphicData uri="http://schemas.openxmlformats.org/drawingml/2006/table">
            <a:tbl>
              <a:tblPr/>
              <a:tblGrid>
                <a:gridCol w="8207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61" name="Rectangle 81"/>
          <p:cNvSpPr>
            <a:spLocks noChangeArrowheads="1"/>
          </p:cNvSpPr>
          <p:nvPr/>
        </p:nvSpPr>
        <p:spPr bwMode="auto">
          <a:xfrm>
            <a:off x="6850927" y="5155634"/>
            <a:ext cx="722955" cy="338554"/>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ST_IS</a:t>
            </a:r>
          </a:p>
        </p:txBody>
      </p:sp>
      <p:graphicFrame>
        <p:nvGraphicFramePr>
          <p:cNvPr id="62" name="Group 163"/>
          <p:cNvGraphicFramePr>
            <a:graphicFrameLocks noGrp="1"/>
          </p:cNvGraphicFramePr>
          <p:nvPr>
            <p:extLst/>
          </p:nvPr>
        </p:nvGraphicFramePr>
        <p:xfrm>
          <a:off x="6227763" y="5567213"/>
          <a:ext cx="2049462" cy="914400"/>
        </p:xfrm>
        <a:graphic>
          <a:graphicData uri="http://schemas.openxmlformats.org/drawingml/2006/table">
            <a:tbl>
              <a:tblPr/>
              <a:tblGrid>
                <a:gridCol w="782637">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3" name="Line 153"/>
          <p:cNvSpPr>
            <a:spLocks noChangeShapeType="1"/>
          </p:cNvSpPr>
          <p:nvPr/>
        </p:nvSpPr>
        <p:spPr bwMode="auto">
          <a:xfrm flipH="1" flipV="1">
            <a:off x="5580063" y="1895326"/>
            <a:ext cx="647700" cy="360045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64" name="Line 154"/>
          <p:cNvSpPr>
            <a:spLocks noChangeShapeType="1"/>
          </p:cNvSpPr>
          <p:nvPr/>
        </p:nvSpPr>
        <p:spPr bwMode="auto">
          <a:xfrm flipH="1" flipV="1">
            <a:off x="5580063" y="4271813"/>
            <a:ext cx="647700" cy="2232025"/>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65" name="Line 155"/>
          <p:cNvSpPr>
            <a:spLocks noChangeShapeType="1"/>
          </p:cNvSpPr>
          <p:nvPr/>
        </p:nvSpPr>
        <p:spPr bwMode="auto">
          <a:xfrm flipV="1">
            <a:off x="8243888" y="1895326"/>
            <a:ext cx="720725" cy="3671887"/>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66" name="Line 156"/>
          <p:cNvSpPr>
            <a:spLocks noChangeShapeType="1"/>
          </p:cNvSpPr>
          <p:nvPr/>
        </p:nvSpPr>
        <p:spPr bwMode="auto">
          <a:xfrm flipV="1">
            <a:off x="8243888" y="4271813"/>
            <a:ext cx="720725" cy="2232025"/>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141492345"/>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更新</a:t>
            </a:r>
            <a:r>
              <a:rPr lang="zh-CN" altLang="en-US" sz="4000" b="1" dirty="0" smtClean="0">
                <a:solidFill>
                  <a:srgbClr val="FFFFCC"/>
                </a:solidFill>
                <a:effectLst>
                  <a:outerShdw blurRad="38100" dist="38100" dir="2700000" algn="tl">
                    <a:srgbClr val="000000"/>
                  </a:outerShdw>
                </a:effectLst>
              </a:rPr>
              <a:t>视图</a:t>
            </a:r>
            <a:endParaRPr lang="zh-CN" altLang="en-US" sz="4000" b="1" dirty="0">
              <a:solidFill>
                <a:srgbClr val="FFFFCC"/>
              </a:solidFill>
              <a:effectLst>
                <a:outerShdw blurRad="38100" dist="38100" dir="2700000" algn="tl">
                  <a:srgbClr val="000000"/>
                </a:outerShdw>
              </a:effectLst>
            </a:endParaRPr>
          </a:p>
        </p:txBody>
      </p:sp>
      <p:sp>
        <p:nvSpPr>
          <p:cNvPr id="32" name="Rectangle 5"/>
          <p:cNvSpPr>
            <a:spLocks noChangeArrowheads="1"/>
          </p:cNvSpPr>
          <p:nvPr/>
        </p:nvSpPr>
        <p:spPr bwMode="auto">
          <a:xfrm>
            <a:off x="322263" y="1519908"/>
            <a:ext cx="6024562" cy="1477328"/>
          </a:xfrm>
          <a:prstGeom prst="rect">
            <a:avLst/>
          </a:prstGeom>
          <a:noFill/>
          <a:ln w="12700" cap="sq">
            <a:no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ct val="20000"/>
              </a:spcBef>
              <a:spcAft>
                <a:spcPct val="0"/>
              </a:spcAft>
              <a:buClr>
                <a:srgbClr val="FFFFCC"/>
              </a:buClr>
              <a:buSzPct val="60000"/>
              <a:buFontTx/>
              <a:buNone/>
              <a:tabLst/>
              <a:defRPr/>
            </a:pPr>
            <a:r>
              <a:rPr kumimoji="0" lang="en-US" altLang="zh-CN" sz="2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CREATE VIEW ST_IS AS</a:t>
            </a:r>
            <a:endParaRPr kumimoji="0" lang="en-US" altLang="zh-CN" sz="2400" b="0" i="1"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SELECT </a:t>
            </a:r>
            <a:r>
              <a:rPr kumimoji="0" lang="zh-CN" altLang="en-US" sz="2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学号</a:t>
            </a:r>
            <a:r>
              <a:rPr kumimoji="0" lang="en-US" altLang="zh-CN" sz="2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姓名</a:t>
            </a:r>
            <a:r>
              <a:rPr kumimoji="0" lang="en-US" altLang="zh-CN" sz="2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 性别</a:t>
            </a:r>
          </a:p>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FROM ST</a:t>
            </a:r>
          </a:p>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WHERE </a:t>
            </a:r>
            <a:r>
              <a:rPr kumimoji="0" lang="zh-CN" altLang="en-US" sz="2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系</a:t>
            </a:r>
            <a:r>
              <a:rPr kumimoji="0" lang="en-US" altLang="zh-CN" sz="2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Franklin Gothic Book"/>
                <a:ea typeface="黑体" panose="02010609060101010101" pitchFamily="49" charset="-122"/>
                <a:cs typeface="+mn-cs"/>
              </a:rPr>
              <a:t>='IS'</a:t>
            </a:r>
          </a:p>
        </p:txBody>
      </p:sp>
      <p:sp>
        <p:nvSpPr>
          <p:cNvPr id="33" name="Rectangle 6"/>
          <p:cNvSpPr>
            <a:spLocks noChangeArrowheads="1"/>
          </p:cNvSpPr>
          <p:nvPr/>
        </p:nvSpPr>
        <p:spPr bwMode="auto">
          <a:xfrm>
            <a:off x="395288" y="4078164"/>
            <a:ext cx="4572000" cy="738664"/>
          </a:xfrm>
          <a:prstGeom prst="rect">
            <a:avLst/>
          </a:prstGeom>
          <a:noFill/>
          <a:ln w="12700" cap="sq">
            <a:no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DELETE FROM ST_IS</a:t>
            </a:r>
          </a:p>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WHERE </a:t>
            </a:r>
            <a:r>
              <a:rPr kumimoji="0" lang="zh-CN" altLang="en-US"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性别</a:t>
            </a:r>
            <a:r>
              <a:rPr kumimoji="0" lang="en-US" altLang="zh-CN"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男</a:t>
            </a:r>
            <a:r>
              <a:rPr kumimoji="0" lang="zh-CN" altLang="en-US" sz="2400" b="0" i="0" u="none" strike="noStrike" kern="0" cap="none" spc="0" normalizeH="0" baseline="0" noProof="0" dirty="0" smtClean="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en-US" altLang="zh-CN"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34" name="Rectangle 7"/>
          <p:cNvSpPr>
            <a:spLocks noChangeArrowheads="1"/>
          </p:cNvSpPr>
          <p:nvPr/>
        </p:nvSpPr>
        <p:spPr bwMode="auto">
          <a:xfrm>
            <a:off x="395288" y="5444976"/>
            <a:ext cx="3168650" cy="1107996"/>
          </a:xfrm>
          <a:prstGeom prst="rect">
            <a:avLst/>
          </a:prstGeom>
          <a:noFill/>
          <a:ln w="12700" cap="sq">
            <a:no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DELETE FROM ST</a:t>
            </a:r>
          </a:p>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WHERE </a:t>
            </a:r>
            <a:r>
              <a:rPr kumimoji="0" lang="zh-CN" altLang="en-US"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系</a:t>
            </a:r>
            <a:r>
              <a:rPr kumimoji="0" lang="en-US" altLang="zh-CN"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='IS'</a:t>
            </a:r>
          </a:p>
          <a:p>
            <a:pPr marL="0" marR="0" lvl="0" indent="0" algn="l" defTabSz="914400" rtl="0" eaLnBrk="1" fontAlgn="auto" latinLnBrk="0" hangingPunct="1">
              <a:lnSpc>
                <a:spcPct val="100000"/>
              </a:lnSpc>
              <a:spcBef>
                <a:spcPts val="0"/>
              </a:spcBef>
              <a:spcAft>
                <a:spcPct val="0"/>
              </a:spcAft>
              <a:buClr>
                <a:srgbClr val="FFFFCC"/>
              </a:buClr>
              <a:buSzPct val="60000"/>
              <a:buFontTx/>
              <a:buNone/>
              <a:tabLst/>
              <a:defRPr/>
            </a:pPr>
            <a:r>
              <a:rPr kumimoji="0" lang="en-US" altLang="zh-CN"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  AND </a:t>
            </a:r>
            <a:r>
              <a:rPr kumimoji="0" lang="zh-CN" altLang="en-US"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性别</a:t>
            </a:r>
            <a:r>
              <a:rPr kumimoji="0" lang="en-US" altLang="zh-CN"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男</a:t>
            </a:r>
            <a:r>
              <a:rPr kumimoji="0" lang="zh-CN" altLang="en-US" sz="2400" b="0" i="0" u="none" strike="noStrike" kern="0" cap="none" spc="0" normalizeH="0" baseline="0" noProof="0" dirty="0" smtClean="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en-US" altLang="zh-CN" sz="24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35" name="AutoShape 8"/>
          <p:cNvSpPr>
            <a:spLocks noChangeArrowheads="1"/>
          </p:cNvSpPr>
          <p:nvPr/>
        </p:nvSpPr>
        <p:spPr bwMode="auto">
          <a:xfrm>
            <a:off x="1258888" y="5013176"/>
            <a:ext cx="274637" cy="404812"/>
          </a:xfrm>
          <a:prstGeom prst="downArrow">
            <a:avLst>
              <a:gd name="adj1" fmla="val 59537"/>
              <a:gd name="adj2" fmla="val 82189"/>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a:tailEnd/>
          </a:ln>
          <a:effectLst>
            <a:outerShdw dist="53882" dir="2700000" algn="ctr" rotWithShape="0">
              <a:srgbClr val="000514">
                <a:alpha val="50000"/>
              </a:srgbClr>
            </a:outerShdw>
          </a:effectLst>
        </p:spPr>
        <p:txBody>
          <a:bodyPr lIns="36000" tIns="36000" rIns="36000" bIns="360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黑体" panose="02010609060101010101" pitchFamily="49" charset="-122"/>
              <a:cs typeface="+mn-cs"/>
            </a:endParaRPr>
          </a:p>
        </p:txBody>
      </p:sp>
      <p:sp>
        <p:nvSpPr>
          <p:cNvPr id="36" name="Rectangle 9"/>
          <p:cNvSpPr>
            <a:spLocks noChangeArrowheads="1"/>
          </p:cNvSpPr>
          <p:nvPr/>
        </p:nvSpPr>
        <p:spPr bwMode="auto">
          <a:xfrm>
            <a:off x="308991" y="908720"/>
            <a:ext cx="5400675" cy="574675"/>
          </a:xfrm>
          <a:prstGeom prst="rect">
            <a:avLst/>
          </a:prstGeom>
          <a:noFill/>
          <a:ln w="9525">
            <a:noFill/>
            <a:miter lim="800000"/>
            <a:headEnd/>
            <a:tailEnd/>
          </a:ln>
          <a:effectLst/>
        </p:spPr>
        <p:txBody>
          <a:bodyPr/>
          <a:lstStyle/>
          <a:p>
            <a:pPr marL="0" marR="0" lvl="0" indent="0" algn="l" defTabSz="914400" rtl="0" eaLnBrk="1" fontAlgn="auto" latinLnBrk="0" hangingPunct="1">
              <a:lnSpc>
                <a:spcPct val="110000"/>
              </a:lnSpc>
              <a:spcBef>
                <a:spcPts val="0"/>
              </a:spcBef>
              <a:spcAft>
                <a:spcPct val="0"/>
              </a:spcAft>
              <a:buClr>
                <a:srgbClr val="66FF33"/>
              </a:buClr>
              <a:buSzPct val="85000"/>
              <a:buFontTx/>
              <a:buNone/>
              <a:tabLst/>
              <a:defRPr/>
            </a:pPr>
            <a:r>
              <a:rPr kumimoji="0" lang="en-US" altLang="zh-CN"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IS</a:t>
            </a:r>
            <a:r>
              <a:rPr kumimoji="0" lang="zh-CN"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系学生的学号、姓名和性别视图</a:t>
            </a:r>
            <a:endParaRPr kumimoji="0" lang="en-US"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mn-ea"/>
              <a:cs typeface="+mn-cs"/>
            </a:endParaRPr>
          </a:p>
        </p:txBody>
      </p:sp>
      <p:sp>
        <p:nvSpPr>
          <p:cNvPr id="37" name="Rectangle 10"/>
          <p:cNvSpPr>
            <a:spLocks noChangeArrowheads="1"/>
          </p:cNvSpPr>
          <p:nvPr/>
        </p:nvSpPr>
        <p:spPr bwMode="auto">
          <a:xfrm>
            <a:off x="250825" y="3501008"/>
            <a:ext cx="5400675" cy="574675"/>
          </a:xfrm>
          <a:prstGeom prst="rect">
            <a:avLst/>
          </a:prstGeom>
          <a:noFill/>
          <a:ln w="9525">
            <a:noFill/>
            <a:miter lim="800000"/>
            <a:headEnd/>
            <a:tailEnd/>
          </a:ln>
          <a:effectLst/>
        </p:spPr>
        <p:txBody>
          <a:bodyPr/>
          <a:lstStyle/>
          <a:p>
            <a:pPr marL="0" marR="0" lvl="0" indent="0" algn="l" defTabSz="914400" rtl="0" eaLnBrk="1" fontAlgn="auto" latinLnBrk="0" hangingPunct="1">
              <a:lnSpc>
                <a:spcPct val="110000"/>
              </a:lnSpc>
              <a:spcBef>
                <a:spcPts val="0"/>
              </a:spcBef>
              <a:spcAft>
                <a:spcPct val="0"/>
              </a:spcAft>
              <a:buClr>
                <a:srgbClr val="66FF33"/>
              </a:buClr>
              <a:buSzPct val="85000"/>
              <a:buFontTx/>
              <a:buNone/>
              <a:tabLst/>
              <a:defRPr/>
            </a:pPr>
            <a:r>
              <a:rPr kumimoji="0" lang="zh-CN"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删除</a:t>
            </a:r>
            <a:r>
              <a:rPr kumimoji="0" lang="en-US" altLang="zh-CN"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IS</a:t>
            </a:r>
            <a:r>
              <a:rPr kumimoji="0" lang="zh-CN"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黑体" panose="02010609060101010101" pitchFamily="49" charset="-122"/>
                <a:cs typeface="+mn-cs"/>
              </a:rPr>
              <a:t>系男学生</a:t>
            </a:r>
            <a:endParaRPr kumimoji="0" lang="en-US" altLang="en-US" sz="26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Arial" charset="0"/>
              <a:ea typeface="+mn-ea"/>
              <a:cs typeface="+mn-cs"/>
            </a:endParaRPr>
          </a:p>
        </p:txBody>
      </p:sp>
      <p:sp>
        <p:nvSpPr>
          <p:cNvPr id="39" name="Rectangle 11"/>
          <p:cNvSpPr>
            <a:spLocks noChangeArrowheads="1"/>
          </p:cNvSpPr>
          <p:nvPr/>
        </p:nvSpPr>
        <p:spPr bwMode="auto">
          <a:xfrm>
            <a:off x="1835150" y="5013176"/>
            <a:ext cx="2330450" cy="365125"/>
          </a:xfrm>
          <a:prstGeom prst="rect">
            <a:avLst/>
          </a:prstGeom>
          <a:noFill/>
          <a:ln w="12700" cap="sq">
            <a:noFill/>
            <a:miter lim="800000"/>
            <a:headEnd/>
            <a:tailEnd/>
          </a:ln>
          <a:effectLst/>
        </p:spPr>
        <p:txBody>
          <a:bodyPr wrap="none" lIns="0" tIns="0" rIns="0" bIns="0">
            <a:spAutoFit/>
          </a:bodyPr>
          <a:lstStyle/>
          <a:p>
            <a:pPr marL="0" marR="0" lvl="0" indent="0" algn="ctr" defTabSz="914400" rtl="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solidFill>
                  <a:srgbClr val="FFCC00"/>
                </a:solidFill>
                <a:effectLst>
                  <a:outerShdw blurRad="38100" dist="38100" dir="2700000" algn="tl">
                    <a:srgbClr val="000000"/>
                  </a:outerShdw>
                </a:effectLst>
                <a:uLnTx/>
                <a:uFillTx/>
                <a:latin typeface="Arial Narrow" pitchFamily="34" charset="0"/>
                <a:ea typeface="黑体" panose="02010609060101010101" pitchFamily="49" charset="-122"/>
                <a:cs typeface="+mn-cs"/>
              </a:rPr>
              <a:t>SQL</a:t>
            </a:r>
            <a:r>
              <a:rPr kumimoji="0" lang="zh-CN" altLang="en-US" sz="2400" b="0" i="0" u="none" strike="noStrike" kern="0" cap="none" spc="0" normalizeH="0" baseline="0" noProof="0">
                <a:ln>
                  <a:noFill/>
                </a:ln>
                <a:solidFill>
                  <a:srgbClr val="FFCC00"/>
                </a:solidFill>
                <a:effectLst>
                  <a:outerShdw blurRad="38100" dist="38100" dir="2700000" algn="tl">
                    <a:srgbClr val="000000"/>
                  </a:outerShdw>
                </a:effectLst>
                <a:uLnTx/>
                <a:uFillTx/>
                <a:latin typeface="Arial Narrow" pitchFamily="34" charset="0"/>
                <a:ea typeface="黑体" panose="02010609060101010101" pitchFamily="49" charset="-122"/>
                <a:cs typeface="+mn-cs"/>
              </a:rPr>
              <a:t>实际做的删除</a:t>
            </a:r>
          </a:p>
        </p:txBody>
      </p:sp>
      <p:sp>
        <p:nvSpPr>
          <p:cNvPr id="40" name="Rectangle 4"/>
          <p:cNvSpPr>
            <a:spLocks noChangeArrowheads="1"/>
          </p:cNvSpPr>
          <p:nvPr/>
        </p:nvSpPr>
        <p:spPr bwMode="auto">
          <a:xfrm>
            <a:off x="7164288" y="1412309"/>
            <a:ext cx="330219" cy="338554"/>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a:t>
            </a:r>
          </a:p>
        </p:txBody>
      </p:sp>
      <p:graphicFrame>
        <p:nvGraphicFramePr>
          <p:cNvPr id="41" name="Group 11"/>
          <p:cNvGraphicFramePr>
            <a:graphicFrameLocks noGrp="1"/>
          </p:cNvGraphicFramePr>
          <p:nvPr>
            <p:extLst/>
          </p:nvPr>
        </p:nvGraphicFramePr>
        <p:xfrm>
          <a:off x="5580063" y="1895326"/>
          <a:ext cx="3351212" cy="2438400"/>
        </p:xfrm>
        <a:graphic>
          <a:graphicData uri="http://schemas.openxmlformats.org/drawingml/2006/table">
            <a:tbl>
              <a:tblPr/>
              <a:tblGrid>
                <a:gridCol w="8207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2" name="Rectangle 81"/>
          <p:cNvSpPr>
            <a:spLocks noChangeArrowheads="1"/>
          </p:cNvSpPr>
          <p:nvPr/>
        </p:nvSpPr>
        <p:spPr bwMode="auto">
          <a:xfrm>
            <a:off x="6850927" y="5155634"/>
            <a:ext cx="722955" cy="338554"/>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ST_IS</a:t>
            </a:r>
          </a:p>
        </p:txBody>
      </p:sp>
      <p:graphicFrame>
        <p:nvGraphicFramePr>
          <p:cNvPr id="43" name="Group 163"/>
          <p:cNvGraphicFramePr>
            <a:graphicFrameLocks noGrp="1"/>
          </p:cNvGraphicFramePr>
          <p:nvPr>
            <p:extLst/>
          </p:nvPr>
        </p:nvGraphicFramePr>
        <p:xfrm>
          <a:off x="6227763" y="5567213"/>
          <a:ext cx="2049462" cy="914400"/>
        </p:xfrm>
        <a:graphic>
          <a:graphicData uri="http://schemas.openxmlformats.org/drawingml/2006/table">
            <a:tbl>
              <a:tblPr/>
              <a:tblGrid>
                <a:gridCol w="782637">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44" name="Line 153"/>
          <p:cNvSpPr>
            <a:spLocks noChangeShapeType="1"/>
          </p:cNvSpPr>
          <p:nvPr/>
        </p:nvSpPr>
        <p:spPr bwMode="auto">
          <a:xfrm flipH="1" flipV="1">
            <a:off x="5580063" y="1895326"/>
            <a:ext cx="647700" cy="3600450"/>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48" name="Line 154"/>
          <p:cNvSpPr>
            <a:spLocks noChangeShapeType="1"/>
          </p:cNvSpPr>
          <p:nvPr/>
        </p:nvSpPr>
        <p:spPr bwMode="auto">
          <a:xfrm flipH="1" flipV="1">
            <a:off x="5580063" y="4271813"/>
            <a:ext cx="647700" cy="2232025"/>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53" name="Line 155"/>
          <p:cNvSpPr>
            <a:spLocks noChangeShapeType="1"/>
          </p:cNvSpPr>
          <p:nvPr/>
        </p:nvSpPr>
        <p:spPr bwMode="auto">
          <a:xfrm flipV="1">
            <a:off x="8243888" y="1895326"/>
            <a:ext cx="720725" cy="3671887"/>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
        <p:nvSpPr>
          <p:cNvPr id="54" name="Line 156"/>
          <p:cNvSpPr>
            <a:spLocks noChangeShapeType="1"/>
          </p:cNvSpPr>
          <p:nvPr/>
        </p:nvSpPr>
        <p:spPr bwMode="auto">
          <a:xfrm flipV="1">
            <a:off x="8243888" y="4271813"/>
            <a:ext cx="720725" cy="2232025"/>
          </a:xfrm>
          <a:prstGeom prst="line">
            <a:avLst/>
          </a:prstGeom>
          <a:noFill/>
          <a:ln w="12700">
            <a:solidFill>
              <a:srgbClr val="FF0000"/>
            </a:solidFill>
            <a:prstDash val="dash"/>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ranklin Gothic Book"/>
              <a:ea typeface="黑体" panose="02010609060101010101" pitchFamily="49" charset="-122"/>
              <a:cs typeface="+mn-cs"/>
            </a:endParaRPr>
          </a:p>
        </p:txBody>
      </p:sp>
    </p:spTree>
    <p:extLst>
      <p:ext uri="{BB962C8B-B14F-4D97-AF65-F5344CB8AC3E}">
        <p14:creationId xmlns:p14="http://schemas.microsoft.com/office/powerpoint/2010/main" val="1403014133"/>
      </p:ext>
    </p:extLst>
  </p:cSld>
  <p:clrMapOvr>
    <a:masterClrMapping/>
  </p:clrMapOvr>
  <p:transition spd="slow">
    <p:strips dir="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更新</a:t>
            </a:r>
            <a:r>
              <a:rPr lang="zh-CN" altLang="en-US" sz="4000" b="1" dirty="0" smtClean="0">
                <a:solidFill>
                  <a:srgbClr val="FFFFCC"/>
                </a:solidFill>
                <a:effectLst>
                  <a:outerShdw blurRad="38100" dist="38100" dir="2700000" algn="tl">
                    <a:srgbClr val="000000"/>
                  </a:outerShdw>
                </a:effectLst>
              </a:rPr>
              <a:t>视图</a:t>
            </a:r>
            <a:endParaRPr lang="zh-CN" altLang="en-US" sz="4000" b="1" dirty="0">
              <a:solidFill>
                <a:srgbClr val="FFFFCC"/>
              </a:solidFill>
              <a:effectLst>
                <a:outerShdw blurRad="38100" dist="38100" dir="2700000" algn="tl">
                  <a:srgbClr val="000000"/>
                </a:outerShdw>
              </a:effectLst>
            </a:endParaRPr>
          </a:p>
        </p:txBody>
      </p:sp>
      <p:sp>
        <p:nvSpPr>
          <p:cNvPr id="23" name="Rectangle 4"/>
          <p:cNvSpPr>
            <a:spLocks noChangeArrowheads="1"/>
          </p:cNvSpPr>
          <p:nvPr/>
        </p:nvSpPr>
        <p:spPr bwMode="auto">
          <a:xfrm>
            <a:off x="5722987" y="764704"/>
            <a:ext cx="330219" cy="338554"/>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a:t>
            </a:r>
          </a:p>
        </p:txBody>
      </p:sp>
      <p:sp>
        <p:nvSpPr>
          <p:cNvPr id="24" name="Text Box 5"/>
          <p:cNvSpPr txBox="1">
            <a:spLocks noChangeArrowheads="1"/>
          </p:cNvSpPr>
          <p:nvPr/>
        </p:nvSpPr>
        <p:spPr bwMode="auto">
          <a:xfrm>
            <a:off x="394766" y="4183360"/>
            <a:ext cx="5113338" cy="685800"/>
          </a:xfrm>
          <a:prstGeom prst="rect">
            <a:avLst/>
          </a:prstGeom>
          <a:noFill/>
          <a:ln w="12700" cap="sq">
            <a:noFill/>
            <a:miter lim="800000"/>
            <a:headEnd type="none" w="sm" len="sm"/>
            <a:tailEnd type="none" w="sm" len="sm"/>
          </a:ln>
          <a:effectLst/>
        </p:spPr>
        <p:txBody>
          <a:bodyPr/>
          <a:lstStyle/>
          <a:p>
            <a:pPr marL="358775" marR="0" lvl="0" indent="-358775" algn="l" defTabSz="914400" rtl="0" eaLnBrk="1" fontAlgn="auto" latinLnBrk="0" hangingPunct="1">
              <a:lnSpc>
                <a:spcPct val="100000"/>
              </a:lnSpc>
              <a:spcBef>
                <a:spcPts val="0"/>
              </a:spcBef>
              <a:spcAft>
                <a:spcPct val="0"/>
              </a:spcAft>
              <a:buClr>
                <a:srgbClr val="FFFFCC"/>
              </a:buClr>
              <a:buSzPct val="60000"/>
              <a:buFontTx/>
              <a:buNone/>
              <a:tabLst>
                <a:tab pos="381000" algn="l"/>
              </a:tabLst>
              <a:defRPr/>
            </a:pPr>
            <a:r>
              <a:rPr kumimoji="0" lang="en-US" altLang="zh-CN" sz="28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CREATE VIEW</a:t>
            </a:r>
          </a:p>
          <a:p>
            <a:pPr marL="358775" marR="0" lvl="0" indent="-358775" algn="l" defTabSz="914400" rtl="0" eaLnBrk="1" fontAlgn="auto" latinLnBrk="0" hangingPunct="1">
              <a:lnSpc>
                <a:spcPct val="100000"/>
              </a:lnSpc>
              <a:spcBef>
                <a:spcPts val="0"/>
              </a:spcBef>
              <a:spcAft>
                <a:spcPct val="0"/>
              </a:spcAft>
              <a:buClr>
                <a:srgbClr val="FFFFCC"/>
              </a:buClr>
              <a:buSzPct val="60000"/>
              <a:buFontTx/>
              <a:buNone/>
              <a:tabLst>
                <a:tab pos="381000" algn="l"/>
              </a:tabLst>
              <a:defRPr/>
            </a:pPr>
            <a:r>
              <a:rPr kumimoji="0" lang="en-US" altLang="zh-CN" sz="28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   ST_DA(</a:t>
            </a:r>
            <a:r>
              <a:rPr kumimoji="0" lang="zh-CN" altLang="en-US" sz="28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系别</a:t>
            </a:r>
            <a:r>
              <a:rPr kumimoji="0" lang="en-US" altLang="zh-CN" sz="28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zh-CN" altLang="en-US" sz="28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平均年龄</a:t>
            </a:r>
            <a:r>
              <a:rPr kumimoji="0" lang="en-US" altLang="zh-CN" sz="28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a:t>
            </a:r>
            <a:endParaRPr kumimoji="0" lang="en-US" altLang="zh-CN" sz="2800" b="0" i="1"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endParaRPr>
          </a:p>
          <a:p>
            <a:pPr marL="358775" marR="0" lvl="0" indent="-358775" algn="l" defTabSz="914400" rtl="0" eaLnBrk="1" fontAlgn="auto" latinLnBrk="0" hangingPunct="1">
              <a:lnSpc>
                <a:spcPct val="100000"/>
              </a:lnSpc>
              <a:spcBef>
                <a:spcPts val="0"/>
              </a:spcBef>
              <a:spcAft>
                <a:spcPct val="0"/>
              </a:spcAft>
              <a:buClr>
                <a:srgbClr val="FFFFCC"/>
              </a:buClr>
              <a:buSzPct val="60000"/>
              <a:buFontTx/>
              <a:buNone/>
              <a:tabLst>
                <a:tab pos="381000" algn="l"/>
              </a:tabLst>
              <a:defRPr/>
            </a:pPr>
            <a:r>
              <a:rPr kumimoji="0" lang="en-US" altLang="zh-CN" sz="28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AS SELECT </a:t>
            </a:r>
            <a:r>
              <a:rPr kumimoji="0" lang="zh-CN" altLang="en-US" sz="28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系</a:t>
            </a:r>
            <a:r>
              <a:rPr kumimoji="0" lang="en-US" altLang="zh-CN" sz="28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a:t>
            </a:r>
            <a:r>
              <a:rPr kumimoji="0" lang="en-US" altLang="zh-CN" sz="2800" b="0" i="0" u="none" strike="noStrike" kern="0" cap="none" spc="0" normalizeH="0" baseline="0" noProof="0" dirty="0">
                <a:ln>
                  <a:noFill/>
                </a:ln>
                <a:solidFill>
                  <a:srgbClr val="00FFFF"/>
                </a:solidFill>
                <a:effectLst>
                  <a:outerShdw blurRad="38100" dist="38100" dir="2700000" algn="tl">
                    <a:srgbClr val="000000"/>
                  </a:outerShdw>
                </a:effectLst>
                <a:uLnTx/>
                <a:uFillTx/>
                <a:latin typeface="Franklin Gothic Book"/>
                <a:ea typeface="黑体" panose="02010609060101010101" pitchFamily="49" charset="-122"/>
                <a:cs typeface="+mn-cs"/>
              </a:rPr>
              <a:t>AVG(</a:t>
            </a:r>
            <a:r>
              <a:rPr kumimoji="0" lang="zh-CN" altLang="en-US" sz="2800" b="0" i="0" u="none" strike="noStrike" kern="0" cap="none" spc="0" normalizeH="0" baseline="0" noProof="0" dirty="0">
                <a:ln>
                  <a:noFill/>
                </a:ln>
                <a:solidFill>
                  <a:srgbClr val="00FFFF"/>
                </a:solidFill>
                <a:effectLst>
                  <a:outerShdw blurRad="38100" dist="38100" dir="2700000" algn="tl">
                    <a:srgbClr val="000000"/>
                  </a:outerShdw>
                </a:effectLst>
                <a:uLnTx/>
                <a:uFillTx/>
                <a:latin typeface="Franklin Gothic Book"/>
                <a:ea typeface="黑体" panose="02010609060101010101" pitchFamily="49" charset="-122"/>
                <a:cs typeface="+mn-cs"/>
              </a:rPr>
              <a:t>年龄</a:t>
            </a:r>
            <a:r>
              <a:rPr kumimoji="0" lang="en-US" altLang="zh-CN" sz="2800" b="0" i="0" u="none" strike="noStrike" kern="0" cap="none" spc="0" normalizeH="0" baseline="0" noProof="0" dirty="0">
                <a:ln>
                  <a:noFill/>
                </a:ln>
                <a:solidFill>
                  <a:srgbClr val="00FFFF"/>
                </a:solidFill>
                <a:effectLst>
                  <a:outerShdw blurRad="38100" dist="38100" dir="2700000" algn="tl">
                    <a:srgbClr val="000000"/>
                  </a:outerShdw>
                </a:effectLst>
                <a:uLnTx/>
                <a:uFillTx/>
                <a:latin typeface="Franklin Gothic Book"/>
                <a:ea typeface="黑体" panose="02010609060101010101" pitchFamily="49" charset="-122"/>
                <a:cs typeface="+mn-cs"/>
              </a:rPr>
              <a:t>)</a:t>
            </a:r>
          </a:p>
          <a:p>
            <a:pPr marL="358775" marR="0" lvl="0" indent="-358775" algn="l" defTabSz="914400" rtl="0" eaLnBrk="1" fontAlgn="auto" latinLnBrk="0" hangingPunct="1">
              <a:lnSpc>
                <a:spcPct val="100000"/>
              </a:lnSpc>
              <a:spcBef>
                <a:spcPts val="0"/>
              </a:spcBef>
              <a:spcAft>
                <a:spcPct val="0"/>
              </a:spcAft>
              <a:buClr>
                <a:srgbClr val="FFFFCC"/>
              </a:buClr>
              <a:buSzPct val="60000"/>
              <a:buFontTx/>
              <a:buNone/>
              <a:tabLst>
                <a:tab pos="381000" algn="l"/>
              </a:tabLst>
              <a:defRPr/>
            </a:pPr>
            <a:r>
              <a:rPr kumimoji="0" lang="en-US" altLang="zh-CN" sz="28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     FROM ST</a:t>
            </a:r>
          </a:p>
          <a:p>
            <a:pPr marL="358775" marR="0" lvl="0" indent="-358775" algn="l" defTabSz="914400" rtl="0" eaLnBrk="1" fontAlgn="auto" latinLnBrk="0" hangingPunct="1">
              <a:lnSpc>
                <a:spcPct val="100000"/>
              </a:lnSpc>
              <a:spcBef>
                <a:spcPts val="0"/>
              </a:spcBef>
              <a:spcAft>
                <a:spcPct val="0"/>
              </a:spcAft>
              <a:buClr>
                <a:srgbClr val="FFFFCC"/>
              </a:buClr>
              <a:buSzPct val="60000"/>
              <a:buFontTx/>
              <a:buNone/>
              <a:tabLst>
                <a:tab pos="381000" algn="l"/>
              </a:tabLst>
              <a:defRPr/>
            </a:pPr>
            <a:r>
              <a:rPr kumimoji="0" lang="en-US" altLang="zh-CN" sz="2800" b="0" i="0" u="none" strike="noStrike" kern="0" cap="none" spc="0" normalizeH="0" baseline="0" noProof="0" dirty="0">
                <a:ln>
                  <a:noFill/>
                </a:ln>
                <a:solidFill>
                  <a:srgbClr val="00FFFF"/>
                </a:solidFill>
                <a:effectLst>
                  <a:outerShdw blurRad="38100" dist="38100" dir="2700000" algn="tl">
                    <a:srgbClr val="000000"/>
                  </a:outerShdw>
                </a:effectLst>
                <a:uLnTx/>
                <a:uFillTx/>
                <a:latin typeface="Franklin Gothic Book"/>
                <a:ea typeface="黑体" panose="02010609060101010101" pitchFamily="49" charset="-122"/>
                <a:cs typeface="+mn-cs"/>
              </a:rPr>
              <a:t>    GROUP BY </a:t>
            </a:r>
            <a:r>
              <a:rPr kumimoji="0" lang="zh-CN" altLang="en-US" sz="2800" b="0" i="0" u="none" strike="noStrike" kern="0" cap="none" spc="0" normalizeH="0" baseline="0" noProof="0" dirty="0" smtClean="0">
                <a:ln>
                  <a:noFill/>
                </a:ln>
                <a:solidFill>
                  <a:srgbClr val="00FFFF"/>
                </a:solidFill>
                <a:effectLst>
                  <a:outerShdw blurRad="38100" dist="38100" dir="2700000" algn="tl">
                    <a:srgbClr val="000000"/>
                  </a:outerShdw>
                </a:effectLst>
                <a:uLnTx/>
                <a:uFillTx/>
                <a:latin typeface="Franklin Gothic Book"/>
                <a:ea typeface="黑体" panose="02010609060101010101" pitchFamily="49" charset="-122"/>
                <a:cs typeface="+mn-cs"/>
              </a:rPr>
              <a:t>系</a:t>
            </a:r>
            <a:r>
              <a:rPr kumimoji="0" lang="en-US" altLang="zh-CN" sz="2800" b="0" i="0" u="none" strike="noStrike" kern="0" cap="none" spc="0" normalizeH="0" baseline="0" noProof="0" dirty="0" smtClean="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rPr>
              <a:t> </a:t>
            </a:r>
            <a:endParaRPr kumimoji="0" lang="en-US" altLang="zh-CN" sz="2800" b="0" i="0" u="none" strike="noStrike" kern="0" cap="none" spc="0" normalizeH="0" baseline="0" noProof="0" dirty="0">
              <a:ln>
                <a:noFill/>
              </a:ln>
              <a:solidFill>
                <a:srgbClr val="66FF33"/>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25" name="Rectangle 6"/>
          <p:cNvSpPr txBox="1">
            <a:spLocks noChangeArrowheads="1"/>
          </p:cNvSpPr>
          <p:nvPr/>
        </p:nvSpPr>
        <p:spPr bwMode="auto">
          <a:xfrm>
            <a:off x="395536" y="1001713"/>
            <a:ext cx="4824413" cy="24481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marR="0" lvl="0" indent="0" algn="l" defTabSz="914400" rtl="0" eaLnBrk="1" fontAlgn="base" latinLnBrk="0" hangingPunct="1">
              <a:lnSpc>
                <a:spcPct val="110000"/>
              </a:lnSpc>
              <a:spcBef>
                <a:spcPct val="0"/>
              </a:spcBef>
              <a:spcAft>
                <a:spcPct val="0"/>
              </a:spcAft>
              <a:buClr>
                <a:srgbClr val="66FF33"/>
              </a:buClr>
              <a:buSzPct val="85000"/>
              <a:buFont typeface="Wingdings" pitchFamily="2" charset="2"/>
              <a:buNone/>
              <a:tabLst/>
              <a:defRPr/>
            </a:pPr>
            <a:r>
              <a:rPr kumimoji="0" lang="zh-CN" altLang="en-US" sz="2800" b="0"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注意并不是所有视图都可以任意进行更新的！</a:t>
            </a:r>
            <a:endParaRPr kumimoji="0" lang="en-US" altLang="en-US" sz="2800" b="0"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endParaRPr>
          </a:p>
        </p:txBody>
      </p:sp>
      <p:sp>
        <p:nvSpPr>
          <p:cNvPr id="26" name="Rectangle 7"/>
          <p:cNvSpPr>
            <a:spLocks noChangeArrowheads="1"/>
          </p:cNvSpPr>
          <p:nvPr/>
        </p:nvSpPr>
        <p:spPr bwMode="auto">
          <a:xfrm>
            <a:off x="382066" y="2563813"/>
            <a:ext cx="4824413" cy="1079500"/>
          </a:xfrm>
          <a:prstGeom prst="rect">
            <a:avLst/>
          </a:prstGeom>
          <a:noFill/>
          <a:ln w="9525">
            <a:noFill/>
            <a:miter lim="800000"/>
            <a:headEnd/>
            <a:tailEnd/>
          </a:ln>
          <a:effectLst/>
        </p:spPr>
        <p:txBody>
          <a:bodyPr/>
          <a:lstStyle/>
          <a:p>
            <a:pPr marL="0" marR="0" lvl="0" indent="0" algn="l" defTabSz="914400" rtl="0" eaLnBrk="1" fontAlgn="auto" latinLnBrk="0" hangingPunct="1">
              <a:lnSpc>
                <a:spcPct val="110000"/>
              </a:lnSpc>
              <a:spcBef>
                <a:spcPts val="0"/>
              </a:spcBef>
              <a:spcAft>
                <a:spcPct val="0"/>
              </a:spcAft>
              <a:buClr>
                <a:srgbClr val="66FF33"/>
              </a:buClr>
              <a:buSzPct val="85000"/>
              <a:buFontTx/>
              <a:buNone/>
              <a:tabLst/>
              <a:defRPr/>
            </a:pPr>
            <a:r>
              <a:rPr kumimoji="0" lang="zh-CN" altLang="en-US" sz="28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charset="0"/>
                <a:ea typeface="黑体" panose="02010609060101010101" pitchFamily="49" charset="-122"/>
                <a:cs typeface="+mn-cs"/>
              </a:rPr>
              <a:t>例如以下视图的定义中出现了聚合函数，是一种统计视图，因此不能也没有必要更新！</a:t>
            </a:r>
            <a:endParaRPr kumimoji="0" lang="en-US" altLang="en-US" sz="2800"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charset="0"/>
              <a:ea typeface="+mn-ea"/>
              <a:cs typeface="+mn-cs"/>
            </a:endParaRPr>
          </a:p>
        </p:txBody>
      </p:sp>
      <p:graphicFrame>
        <p:nvGraphicFramePr>
          <p:cNvPr id="27" name="Group 8"/>
          <p:cNvGraphicFramePr>
            <a:graphicFrameLocks noGrp="1"/>
          </p:cNvGraphicFramePr>
          <p:nvPr>
            <p:extLst/>
          </p:nvPr>
        </p:nvGraphicFramePr>
        <p:xfrm>
          <a:off x="5580112" y="1198091"/>
          <a:ext cx="3124200" cy="4876800"/>
        </p:xfrm>
        <a:graphic>
          <a:graphicData uri="http://schemas.openxmlformats.org/drawingml/2006/table">
            <a:tbl>
              <a:tblPr/>
              <a:tblGrid>
                <a:gridCol w="6683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557213">
                  <a:extLst>
                    <a:ext uri="{9D8B030D-6E8A-4147-A177-3AD203B41FA5}">
                      <a16:colId xmlns:a16="http://schemas.microsoft.com/office/drawing/2014/main" val="20004"/>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朱然</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李度</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王成</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赵敏</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周灵</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张友</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99008</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99009</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王琥</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184729365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a:solidFill>
                  <a:srgbClr val="FFFFCC"/>
                </a:solidFill>
                <a:effectLst>
                  <a:outerShdw blurRad="38100" dist="38100" dir="2700000" algn="tl">
                    <a:srgbClr val="000000"/>
                  </a:outerShdw>
                </a:effectLst>
              </a:rPr>
              <a:t>更新</a:t>
            </a:r>
            <a:r>
              <a:rPr lang="zh-CN" altLang="en-US" sz="4000" b="1" dirty="0" smtClean="0">
                <a:solidFill>
                  <a:srgbClr val="FFFFCC"/>
                </a:solidFill>
                <a:effectLst>
                  <a:outerShdw blurRad="38100" dist="38100" dir="2700000" algn="tl">
                    <a:srgbClr val="000000"/>
                  </a:outerShdw>
                </a:effectLst>
              </a:rPr>
              <a:t>视图</a:t>
            </a:r>
            <a:endParaRPr lang="zh-CN" altLang="en-US" sz="4000" b="1" dirty="0">
              <a:solidFill>
                <a:srgbClr val="FFFFCC"/>
              </a:solidFill>
              <a:effectLst>
                <a:outerShdw blurRad="38100" dist="38100" dir="2700000" algn="tl">
                  <a:srgbClr val="000000"/>
                </a:outerShdw>
              </a:effectLst>
            </a:endParaRPr>
          </a:p>
        </p:txBody>
      </p:sp>
      <p:sp>
        <p:nvSpPr>
          <p:cNvPr id="23" name="Rectangle 4"/>
          <p:cNvSpPr>
            <a:spLocks noChangeArrowheads="1"/>
          </p:cNvSpPr>
          <p:nvPr/>
        </p:nvSpPr>
        <p:spPr bwMode="auto">
          <a:xfrm>
            <a:off x="5722987" y="764704"/>
            <a:ext cx="330219" cy="338554"/>
          </a:xfrm>
          <a:prstGeom prst="rect">
            <a:avLst/>
          </a:prstGeom>
          <a:noFill/>
          <a:ln w="12700" cap="sq">
            <a:noFill/>
            <a:miter lim="800000"/>
            <a:headEnd/>
            <a:tailEnd/>
          </a:ln>
          <a:effectLst/>
        </p:spPr>
        <p:txBody>
          <a:bodyPr wrap="none" lIns="0" tIns="0" rIns="0" bIns="0">
            <a:spAutoFit/>
          </a:bodyPr>
          <a:lstStyle/>
          <a:p>
            <a:pPr marL="0" marR="0" lvl="0" indent="0" algn="l" defTabSz="914400" rtl="0" eaLnBrk="1" fontAlgn="auto" latinLnBrk="0" hangingPunct="1">
              <a:lnSpc>
                <a:spcPct val="100000"/>
              </a:lnSpc>
              <a:spcBef>
                <a:spcPts val="0"/>
              </a:spcBef>
              <a:spcAft>
                <a:spcPct val="0"/>
              </a:spcAft>
              <a:buClrTx/>
              <a:buSzTx/>
              <a:buFontTx/>
              <a:buNone/>
              <a:tabLst/>
              <a:defRPr/>
            </a:pPr>
            <a:r>
              <a:rPr kumimoji="0" lang="en-US" altLang="zh-CN" sz="2200" b="0" i="0" u="none" strike="noStrike" kern="1200" cap="none" spc="0" normalizeH="0" baseline="0" noProof="0" dirty="0">
                <a:ln>
                  <a:noFill/>
                </a:ln>
                <a:solidFill>
                  <a:prstClr val="white"/>
                </a:solidFill>
                <a:effectLst>
                  <a:outerShdw blurRad="38100" dist="38100" dir="2700000" algn="tl">
                    <a:srgbClr val="000000"/>
                  </a:outerShdw>
                </a:effectLst>
                <a:uLnTx/>
                <a:uFillTx/>
                <a:latin typeface="Times New Roman" pitchFamily="18" charset="0"/>
                <a:ea typeface="黑体" panose="02010609060101010101" pitchFamily="49" charset="-122"/>
                <a:cs typeface="+mn-cs"/>
              </a:rPr>
              <a:t>ST</a:t>
            </a:r>
          </a:p>
        </p:txBody>
      </p:sp>
      <p:sp>
        <p:nvSpPr>
          <p:cNvPr id="25" name="Rectangle 6"/>
          <p:cNvSpPr txBox="1">
            <a:spLocks noChangeArrowheads="1"/>
          </p:cNvSpPr>
          <p:nvPr/>
        </p:nvSpPr>
        <p:spPr bwMode="auto">
          <a:xfrm>
            <a:off x="395536" y="1001713"/>
            <a:ext cx="4824413" cy="24481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marR="0" lvl="0" indent="0" algn="l" defTabSz="914400" rtl="0" eaLnBrk="1" fontAlgn="base" latinLnBrk="0" hangingPunct="1">
              <a:lnSpc>
                <a:spcPct val="110000"/>
              </a:lnSpc>
              <a:spcBef>
                <a:spcPct val="0"/>
              </a:spcBef>
              <a:spcAft>
                <a:spcPct val="0"/>
              </a:spcAft>
              <a:buClr>
                <a:srgbClr val="66FF33"/>
              </a:buClr>
              <a:buSzPct val="85000"/>
              <a:buFont typeface="Wingdings" pitchFamily="2" charset="2"/>
              <a:buNone/>
              <a:tabLst/>
              <a:defRPr/>
            </a:pPr>
            <a:r>
              <a:rPr kumimoji="0" lang="zh-CN" altLang="en-US" sz="2800" b="0"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rPr>
              <a:t>注意并不是所有视图都可以任意进行更新的！</a:t>
            </a:r>
            <a:endParaRPr kumimoji="0" lang="en-US" altLang="en-US" sz="2800" b="0" i="0" u="none" strike="noStrike" kern="1200" cap="none" spc="0" normalizeH="0" baseline="0" noProof="0" dirty="0" smtClean="0">
              <a:ln>
                <a:noFill/>
              </a:ln>
              <a:solidFill>
                <a:srgbClr val="FFFF00"/>
              </a:solidFill>
              <a:effectLst>
                <a:outerShdw blurRad="38100" dist="38100" dir="2700000" algn="tl">
                  <a:srgbClr val="000000"/>
                </a:outerShdw>
              </a:effectLst>
              <a:uLnTx/>
              <a:uFillTx/>
              <a:latin typeface="Arial" charset="0"/>
              <a:ea typeface="微软雅黑" pitchFamily="34" charset="-122"/>
              <a:cs typeface="+mn-cs"/>
            </a:endParaRPr>
          </a:p>
        </p:txBody>
      </p:sp>
      <p:graphicFrame>
        <p:nvGraphicFramePr>
          <p:cNvPr id="27" name="Group 8"/>
          <p:cNvGraphicFramePr>
            <a:graphicFrameLocks noGrp="1"/>
          </p:cNvGraphicFramePr>
          <p:nvPr>
            <p:extLst/>
          </p:nvPr>
        </p:nvGraphicFramePr>
        <p:xfrm>
          <a:off x="5580112" y="1198091"/>
          <a:ext cx="3124200" cy="4876800"/>
        </p:xfrm>
        <a:graphic>
          <a:graphicData uri="http://schemas.openxmlformats.org/drawingml/2006/table">
            <a:tbl>
              <a:tblPr/>
              <a:tblGrid>
                <a:gridCol w="6683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557213">
                  <a:extLst>
                    <a:ext uri="{9D8B030D-6E8A-4147-A177-3AD203B41FA5}">
                      <a16:colId xmlns:a16="http://schemas.microsoft.com/office/drawing/2014/main" val="20004"/>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朱然</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李度</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王成</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赵敏</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周灵</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张友</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99008</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99009</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王琥</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8" name="Rectangle 124"/>
          <p:cNvSpPr>
            <a:spLocks noChangeArrowheads="1"/>
          </p:cNvSpPr>
          <p:nvPr/>
        </p:nvSpPr>
        <p:spPr bwMode="auto">
          <a:xfrm>
            <a:off x="413551" y="2132856"/>
            <a:ext cx="4824412"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10000"/>
              </a:lnSpc>
              <a:buClr>
                <a:srgbClr val="66FF33"/>
              </a:buClr>
              <a:buSzPct val="85000"/>
              <a:buFont typeface="Wingdings" pitchFamily="2" charset="2"/>
              <a:buNone/>
            </a:pPr>
            <a:r>
              <a:rPr lang="zh-CN" altLang="en-US" sz="2800" dirty="0">
                <a:solidFill>
                  <a:srgbClr val="CCFFCC"/>
                </a:solidFill>
                <a:effectLst>
                  <a:outerShdw blurRad="38100" dist="38100" dir="2700000" algn="tl">
                    <a:srgbClr val="000000"/>
                  </a:outerShdw>
                </a:effectLst>
                <a:latin typeface="楷体_GB2312" pitchFamily="49" charset="-122"/>
                <a:ea typeface="楷体_GB2312" pitchFamily="49" charset="-122"/>
              </a:rPr>
              <a:t>再如以下视图的定义有更新检查要求，即更新时必须满足查询子句中设定的条件</a:t>
            </a:r>
            <a:r>
              <a:rPr lang="en-US" altLang="zh-CN" sz="2800" dirty="0">
                <a:solidFill>
                  <a:srgbClr val="CCFFCC"/>
                </a:solidFill>
                <a:effectLst>
                  <a:outerShdw blurRad="38100" dist="38100" dir="2700000" algn="tl">
                    <a:srgbClr val="000000"/>
                  </a:outerShdw>
                </a:effectLst>
                <a:latin typeface="楷体_GB2312" pitchFamily="49" charset="-122"/>
                <a:ea typeface="楷体_GB2312" pitchFamily="49" charset="-122"/>
              </a:rPr>
              <a:t>(</a:t>
            </a:r>
            <a:r>
              <a:rPr lang="zh-CN" altLang="en-US" sz="2800" dirty="0">
                <a:solidFill>
                  <a:srgbClr val="CCFFCC"/>
                </a:solidFill>
                <a:effectLst>
                  <a:outerShdw blurRad="38100" dist="38100" dir="2700000" algn="tl">
                    <a:srgbClr val="000000"/>
                  </a:outerShdw>
                </a:effectLst>
                <a:latin typeface="楷体_GB2312" pitchFamily="49" charset="-122"/>
                <a:ea typeface="楷体_GB2312" pitchFamily="49" charset="-122"/>
              </a:rPr>
              <a:t>此处的条件为性别</a:t>
            </a:r>
            <a:r>
              <a:rPr lang="en-US" altLang="zh-CN" sz="2800" dirty="0">
                <a:solidFill>
                  <a:srgbClr val="CCFFCC"/>
                </a:solidFill>
                <a:effectLst>
                  <a:outerShdw blurRad="38100" dist="38100" dir="2700000" algn="tl">
                    <a:srgbClr val="000000"/>
                  </a:outerShdw>
                </a:effectLst>
                <a:latin typeface="楷体_GB2312" pitchFamily="49" charset="-122"/>
                <a:ea typeface="楷体_GB2312" pitchFamily="49" charset="-122"/>
              </a:rPr>
              <a:t>=</a:t>
            </a:r>
            <a:r>
              <a:rPr lang="en-US" altLang="zh-CN" sz="2800" dirty="0">
                <a:solidFill>
                  <a:srgbClr val="CCFFCC"/>
                </a:solidFill>
                <a:effectLst>
                  <a:outerShdw blurRad="38100" dist="38100" dir="2700000" algn="tl">
                    <a:srgbClr val="000000"/>
                  </a:outerShdw>
                </a:effectLst>
                <a:latin typeface="Arial"/>
                <a:ea typeface="楷体_GB2312" pitchFamily="49" charset="-122"/>
              </a:rPr>
              <a:t>’</a:t>
            </a:r>
            <a:r>
              <a:rPr lang="zh-CN" altLang="en-US" sz="2800" dirty="0">
                <a:solidFill>
                  <a:srgbClr val="CCFFCC"/>
                </a:solidFill>
                <a:effectLst>
                  <a:outerShdw blurRad="38100" dist="38100" dir="2700000" algn="tl">
                    <a:srgbClr val="000000"/>
                  </a:outerShdw>
                </a:effectLst>
                <a:latin typeface="楷体_GB2312" pitchFamily="49" charset="-122"/>
                <a:ea typeface="楷体_GB2312" pitchFamily="49" charset="-122"/>
              </a:rPr>
              <a:t>男</a:t>
            </a:r>
            <a:r>
              <a:rPr lang="zh-CN" altLang="en-US" sz="2800" dirty="0">
                <a:solidFill>
                  <a:srgbClr val="CCFFCC"/>
                </a:solidFill>
                <a:effectLst>
                  <a:outerShdw blurRad="38100" dist="38100" dir="2700000" algn="tl">
                    <a:srgbClr val="000000"/>
                  </a:outerShdw>
                </a:effectLst>
                <a:latin typeface="Arial"/>
                <a:ea typeface="楷体_GB2312" pitchFamily="49" charset="-122"/>
              </a:rPr>
              <a:t>’</a:t>
            </a:r>
            <a:r>
              <a:rPr lang="en-US" altLang="zh-CN" sz="2800" dirty="0">
                <a:solidFill>
                  <a:srgbClr val="CCFFCC"/>
                </a:solidFill>
                <a:effectLst>
                  <a:outerShdw blurRad="38100" dist="38100" dir="2700000" algn="tl">
                    <a:srgbClr val="000000"/>
                  </a:outerShdw>
                </a:effectLst>
                <a:latin typeface="楷体_GB2312" pitchFamily="49" charset="-122"/>
                <a:ea typeface="楷体_GB2312" pitchFamily="49" charset="-122"/>
              </a:rPr>
              <a:t>)!</a:t>
            </a:r>
            <a:endParaRPr lang="en-US" altLang="en-US" sz="2800" dirty="0">
              <a:solidFill>
                <a:srgbClr val="CCFFCC"/>
              </a:solidFill>
              <a:effectLst>
                <a:outerShdw blurRad="38100" dist="38100" dir="2700000" algn="tl">
                  <a:srgbClr val="000000"/>
                </a:outerShdw>
              </a:effectLst>
              <a:latin typeface="楷体_GB2312" pitchFamily="49" charset="-122"/>
              <a:ea typeface="楷体_GB2312" pitchFamily="49" charset="-122"/>
            </a:endParaRPr>
          </a:p>
        </p:txBody>
      </p:sp>
      <p:sp>
        <p:nvSpPr>
          <p:cNvPr id="9" name="Text Box 125"/>
          <p:cNvSpPr txBox="1">
            <a:spLocks noChangeArrowheads="1"/>
          </p:cNvSpPr>
          <p:nvPr/>
        </p:nvSpPr>
        <p:spPr bwMode="auto">
          <a:xfrm>
            <a:off x="426251" y="4202956"/>
            <a:ext cx="49688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58775" indent="-358775">
              <a:tabLst>
                <a:tab pos="381000" algn="l"/>
              </a:tabLst>
              <a:defRPr kumimoji="1" sz="2400">
                <a:solidFill>
                  <a:schemeClr val="tx1"/>
                </a:solidFill>
                <a:latin typeface="Times New Roman" pitchFamily="18" charset="0"/>
                <a:ea typeface="宋体" pitchFamily="2" charset="-122"/>
              </a:defRPr>
            </a:lvl1pPr>
            <a:lvl2pPr marL="468313">
              <a:tabLst>
                <a:tab pos="381000" algn="l"/>
              </a:tabLst>
              <a:defRPr kumimoji="1" sz="2400">
                <a:solidFill>
                  <a:schemeClr val="tx1"/>
                </a:solidFill>
                <a:latin typeface="Times New Roman" pitchFamily="18" charset="0"/>
                <a:ea typeface="宋体" pitchFamily="2" charset="-122"/>
              </a:defRPr>
            </a:lvl2pPr>
            <a:lvl3pPr>
              <a:tabLst>
                <a:tab pos="381000" algn="l"/>
              </a:tabLst>
              <a:defRPr kumimoji="1" sz="2400">
                <a:solidFill>
                  <a:schemeClr val="tx1"/>
                </a:solidFill>
                <a:latin typeface="Times New Roman" pitchFamily="18" charset="0"/>
                <a:ea typeface="宋体" pitchFamily="2" charset="-122"/>
              </a:defRPr>
            </a:lvl3pPr>
            <a:lvl4pPr>
              <a:tabLst>
                <a:tab pos="381000" algn="l"/>
              </a:tabLst>
              <a:defRPr kumimoji="1" sz="2400">
                <a:solidFill>
                  <a:schemeClr val="tx1"/>
                </a:solidFill>
                <a:latin typeface="Times New Roman" pitchFamily="18" charset="0"/>
                <a:ea typeface="宋体" pitchFamily="2" charset="-122"/>
              </a:defRPr>
            </a:lvl4pPr>
            <a:lvl5pPr>
              <a:tabLst>
                <a:tab pos="381000" algn="l"/>
              </a:tabLst>
              <a:defRPr kumimoji="1" sz="2400">
                <a:solidFill>
                  <a:schemeClr val="tx1"/>
                </a:solidFill>
                <a:latin typeface="Times New Roman" pitchFamily="18" charset="0"/>
                <a:ea typeface="宋体" pitchFamily="2" charset="-122"/>
              </a:defRPr>
            </a:lvl5pPr>
            <a:lvl6pPr fontAlgn="base">
              <a:spcBef>
                <a:spcPct val="0"/>
              </a:spcBef>
              <a:spcAft>
                <a:spcPct val="0"/>
              </a:spcAft>
              <a:tabLst>
                <a:tab pos="381000" algn="l"/>
              </a:tabLst>
              <a:defRPr kumimoji="1" sz="2400">
                <a:solidFill>
                  <a:schemeClr val="tx1"/>
                </a:solidFill>
                <a:latin typeface="Times New Roman" pitchFamily="18" charset="0"/>
                <a:ea typeface="宋体" pitchFamily="2" charset="-122"/>
              </a:defRPr>
            </a:lvl6pPr>
            <a:lvl7pPr fontAlgn="base">
              <a:spcBef>
                <a:spcPct val="0"/>
              </a:spcBef>
              <a:spcAft>
                <a:spcPct val="0"/>
              </a:spcAft>
              <a:tabLst>
                <a:tab pos="381000" algn="l"/>
              </a:tabLst>
              <a:defRPr kumimoji="1" sz="2400">
                <a:solidFill>
                  <a:schemeClr val="tx1"/>
                </a:solidFill>
                <a:latin typeface="Times New Roman" pitchFamily="18" charset="0"/>
                <a:ea typeface="宋体" pitchFamily="2" charset="-122"/>
              </a:defRPr>
            </a:lvl7pPr>
            <a:lvl8pPr fontAlgn="base">
              <a:spcBef>
                <a:spcPct val="0"/>
              </a:spcBef>
              <a:spcAft>
                <a:spcPct val="0"/>
              </a:spcAft>
              <a:tabLst>
                <a:tab pos="381000" algn="l"/>
              </a:tabLst>
              <a:defRPr kumimoji="1" sz="2400">
                <a:solidFill>
                  <a:schemeClr val="tx1"/>
                </a:solidFill>
                <a:latin typeface="Times New Roman" pitchFamily="18" charset="0"/>
                <a:ea typeface="宋体" pitchFamily="2" charset="-122"/>
              </a:defRPr>
            </a:lvl8pPr>
            <a:lvl9pPr fontAlgn="base">
              <a:spcBef>
                <a:spcPct val="0"/>
              </a:spcBef>
              <a:spcAft>
                <a:spcPct val="0"/>
              </a:spcAft>
              <a:tabLst>
                <a:tab pos="381000" algn="l"/>
              </a:tabLst>
              <a:defRPr kumimoji="1" sz="2400">
                <a:solidFill>
                  <a:schemeClr val="tx1"/>
                </a:solidFill>
                <a:latin typeface="Times New Roman" pitchFamily="18" charset="0"/>
                <a:ea typeface="宋体" pitchFamily="2" charset="-122"/>
              </a:defRPr>
            </a:lvl9pPr>
          </a:lstStyle>
          <a:p>
            <a:pPr>
              <a:lnSpc>
                <a:spcPct val="90000"/>
              </a:lnSpc>
              <a:buClr>
                <a:schemeClr val="folHlink"/>
              </a:buClr>
              <a:buSzPct val="60000"/>
              <a:buFont typeface="Wingdings" pitchFamily="2" charset="2"/>
              <a:buNone/>
            </a:pPr>
            <a:r>
              <a:rPr lang="en-US" altLang="zh-CN" sz="2800">
                <a:solidFill>
                  <a:srgbClr val="66FF33"/>
                </a:solidFill>
                <a:effectLst>
                  <a:outerShdw blurRad="38100" dist="38100" dir="2700000" algn="tl">
                    <a:srgbClr val="000000"/>
                  </a:outerShdw>
                </a:effectLst>
                <a:latin typeface="楷体_GB2312" pitchFamily="49" charset="-122"/>
                <a:ea typeface="楷体_GB2312" pitchFamily="49" charset="-122"/>
              </a:rPr>
              <a:t>CREATE VIEW ST_M AS</a:t>
            </a:r>
          </a:p>
          <a:p>
            <a:pPr>
              <a:lnSpc>
                <a:spcPct val="90000"/>
              </a:lnSpc>
              <a:buClr>
                <a:schemeClr val="folHlink"/>
              </a:buClr>
              <a:buSzPct val="60000"/>
              <a:buFont typeface="Wingdings" pitchFamily="2" charset="2"/>
              <a:buNone/>
            </a:pPr>
            <a:r>
              <a:rPr lang="en-US" altLang="zh-CN" sz="2800">
                <a:solidFill>
                  <a:srgbClr val="66FF33"/>
                </a:solidFill>
                <a:effectLst>
                  <a:outerShdw blurRad="38100" dist="38100" dir="2700000" algn="tl">
                    <a:srgbClr val="000000"/>
                  </a:outerShdw>
                </a:effectLst>
                <a:latin typeface="楷体_GB2312" pitchFamily="49" charset="-122"/>
                <a:ea typeface="楷体_GB2312" pitchFamily="49" charset="-122"/>
              </a:rPr>
              <a:t>SELECT </a:t>
            </a:r>
            <a:r>
              <a:rPr lang="zh-CN" altLang="en-US" sz="2800">
                <a:solidFill>
                  <a:srgbClr val="66FF33"/>
                </a:solidFill>
                <a:effectLst>
                  <a:outerShdw blurRad="38100" dist="38100" dir="2700000" algn="tl">
                    <a:srgbClr val="000000"/>
                  </a:outerShdw>
                </a:effectLst>
                <a:latin typeface="楷体_GB2312" pitchFamily="49" charset="-122"/>
                <a:ea typeface="楷体_GB2312" pitchFamily="49" charset="-122"/>
              </a:rPr>
              <a:t>姓名</a:t>
            </a:r>
            <a:r>
              <a:rPr lang="en-US" altLang="zh-CN" sz="2800">
                <a:solidFill>
                  <a:srgbClr val="66FF33"/>
                </a:solidFill>
                <a:effectLst>
                  <a:outerShdw blurRad="38100" dist="38100" dir="2700000" algn="tl">
                    <a:srgbClr val="000000"/>
                  </a:outerShdw>
                </a:effectLst>
                <a:latin typeface="楷体_GB2312" pitchFamily="49" charset="-122"/>
                <a:ea typeface="楷体_GB2312" pitchFamily="49" charset="-122"/>
              </a:rPr>
              <a:t>,</a:t>
            </a:r>
            <a:r>
              <a:rPr lang="zh-CN" altLang="en-US" sz="2800">
                <a:solidFill>
                  <a:srgbClr val="66FF33"/>
                </a:solidFill>
                <a:effectLst>
                  <a:outerShdw blurRad="38100" dist="38100" dir="2700000" algn="tl">
                    <a:srgbClr val="000000"/>
                  </a:outerShdw>
                </a:effectLst>
                <a:latin typeface="楷体_GB2312" pitchFamily="49" charset="-122"/>
                <a:ea typeface="楷体_GB2312" pitchFamily="49" charset="-122"/>
              </a:rPr>
              <a:t>性别</a:t>
            </a:r>
          </a:p>
          <a:p>
            <a:pPr>
              <a:lnSpc>
                <a:spcPct val="90000"/>
              </a:lnSpc>
              <a:buClr>
                <a:schemeClr val="folHlink"/>
              </a:buClr>
              <a:buSzPct val="60000"/>
              <a:buFont typeface="Wingdings" pitchFamily="2" charset="2"/>
              <a:buNone/>
            </a:pPr>
            <a:r>
              <a:rPr lang="en-US" altLang="zh-CN" sz="2800">
                <a:solidFill>
                  <a:srgbClr val="66FF33"/>
                </a:solidFill>
                <a:effectLst>
                  <a:outerShdw blurRad="38100" dist="38100" dir="2700000" algn="tl">
                    <a:srgbClr val="000000"/>
                  </a:outerShdw>
                </a:effectLst>
                <a:latin typeface="楷体_GB2312" pitchFamily="49" charset="-122"/>
                <a:ea typeface="楷体_GB2312" pitchFamily="49" charset="-122"/>
              </a:rPr>
              <a:t>  FROM ST</a:t>
            </a:r>
          </a:p>
          <a:p>
            <a:pPr>
              <a:lnSpc>
                <a:spcPct val="90000"/>
              </a:lnSpc>
              <a:buClr>
                <a:schemeClr val="folHlink"/>
              </a:buClr>
              <a:buSzPct val="60000"/>
              <a:buFont typeface="Wingdings" pitchFamily="2" charset="2"/>
              <a:buNone/>
            </a:pPr>
            <a:r>
              <a:rPr lang="en-US" altLang="zh-CN" sz="2800">
                <a:solidFill>
                  <a:srgbClr val="66FF33"/>
                </a:solidFill>
                <a:effectLst>
                  <a:outerShdw blurRad="38100" dist="38100" dir="2700000" algn="tl">
                    <a:srgbClr val="000000"/>
                  </a:outerShdw>
                </a:effectLst>
                <a:latin typeface="楷体_GB2312" pitchFamily="49" charset="-122"/>
                <a:ea typeface="楷体_GB2312" pitchFamily="49" charset="-122"/>
              </a:rPr>
              <a:t> WHERE </a:t>
            </a:r>
            <a:r>
              <a:rPr lang="zh-CN" altLang="en-US" sz="2800">
                <a:solidFill>
                  <a:srgbClr val="66FF33"/>
                </a:solidFill>
                <a:effectLst>
                  <a:outerShdw blurRad="38100" dist="38100" dir="2700000" algn="tl">
                    <a:srgbClr val="000000"/>
                  </a:outerShdw>
                </a:effectLst>
                <a:latin typeface="楷体_GB2312" pitchFamily="49" charset="-122"/>
                <a:ea typeface="楷体_GB2312" pitchFamily="49" charset="-122"/>
              </a:rPr>
              <a:t>性别</a:t>
            </a:r>
            <a:r>
              <a:rPr lang="en-US" altLang="zh-CN" sz="2800">
                <a:solidFill>
                  <a:srgbClr val="66FF33"/>
                </a:solidFill>
                <a:effectLst>
                  <a:outerShdw blurRad="38100" dist="38100" dir="2700000" algn="tl">
                    <a:srgbClr val="000000"/>
                  </a:outerShdw>
                </a:effectLst>
                <a:latin typeface="楷体_GB2312" pitchFamily="49" charset="-122"/>
                <a:ea typeface="楷体_GB2312" pitchFamily="49" charset="-122"/>
              </a:rPr>
              <a:t>='</a:t>
            </a:r>
            <a:r>
              <a:rPr lang="zh-CN" altLang="en-US" sz="2800">
                <a:solidFill>
                  <a:srgbClr val="66FF33"/>
                </a:solidFill>
                <a:effectLst>
                  <a:outerShdw blurRad="38100" dist="38100" dir="2700000" algn="tl">
                    <a:srgbClr val="000000"/>
                  </a:outerShdw>
                </a:effectLst>
                <a:latin typeface="楷体_GB2312" pitchFamily="49" charset="-122"/>
                <a:ea typeface="楷体_GB2312" pitchFamily="49" charset="-122"/>
              </a:rPr>
              <a:t>男</a:t>
            </a:r>
            <a:r>
              <a:rPr lang="en-US" altLang="zh-CN" sz="2800">
                <a:solidFill>
                  <a:srgbClr val="66FF33"/>
                </a:solidFill>
                <a:effectLst>
                  <a:outerShdw blurRad="38100" dist="38100" dir="2700000" algn="tl">
                    <a:srgbClr val="000000"/>
                  </a:outerShdw>
                </a:effectLst>
                <a:latin typeface="楷体_GB2312" pitchFamily="49" charset="-122"/>
                <a:ea typeface="楷体_GB2312" pitchFamily="49" charset="-122"/>
              </a:rPr>
              <a:t>'</a:t>
            </a:r>
          </a:p>
          <a:p>
            <a:pPr>
              <a:lnSpc>
                <a:spcPct val="90000"/>
              </a:lnSpc>
              <a:buClr>
                <a:schemeClr val="folHlink"/>
              </a:buClr>
              <a:buSzPct val="60000"/>
              <a:buFont typeface="Wingdings" pitchFamily="2" charset="2"/>
              <a:buNone/>
            </a:pPr>
            <a:r>
              <a:rPr lang="en-US" altLang="zh-CN" sz="2800">
                <a:solidFill>
                  <a:srgbClr val="00FFFF"/>
                </a:solidFill>
                <a:effectLst>
                  <a:outerShdw blurRad="38100" dist="38100" dir="2700000" algn="tl">
                    <a:srgbClr val="000000"/>
                  </a:outerShdw>
                </a:effectLst>
                <a:latin typeface="楷体_GB2312" pitchFamily="49" charset="-122"/>
                <a:ea typeface="楷体_GB2312" pitchFamily="49" charset="-122"/>
              </a:rPr>
              <a:t>WITH CHECK OPTION</a:t>
            </a:r>
            <a:endParaRPr lang="en-US" altLang="zh-CN" sz="2800">
              <a:solidFill>
                <a:srgbClr val="66FF33"/>
              </a:solidFill>
              <a:effectLst>
                <a:outerShdw blurRad="38100" dist="38100" dir="2700000" algn="tl">
                  <a:srgbClr val="00000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48238335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smtClean="0">
                <a:solidFill>
                  <a:srgbClr val="FFFFCC"/>
                </a:solidFill>
                <a:effectLst>
                  <a:outerShdw blurRad="38100" dist="38100" dir="2700000" algn="tl">
                    <a:srgbClr val="000000"/>
                  </a:outerShdw>
                </a:effectLst>
              </a:rPr>
              <a:t>视图的作用</a:t>
            </a:r>
            <a:endParaRPr lang="zh-CN" altLang="en-US" sz="4000" b="1" dirty="0">
              <a:solidFill>
                <a:srgbClr val="FFFFCC"/>
              </a:solidFill>
              <a:effectLst>
                <a:outerShdw blurRad="38100" dist="38100" dir="2700000" algn="tl">
                  <a:srgbClr val="000000"/>
                </a:outerShdw>
              </a:effectLst>
            </a:endParaRPr>
          </a:p>
        </p:txBody>
      </p:sp>
      <p:sp>
        <p:nvSpPr>
          <p:cNvPr id="8" name="Rectangle 4"/>
          <p:cNvSpPr txBox="1">
            <a:spLocks noChangeArrowheads="1"/>
          </p:cNvSpPr>
          <p:nvPr/>
        </p:nvSpPr>
        <p:spPr>
          <a:xfrm>
            <a:off x="186409" y="1052736"/>
            <a:ext cx="8353425" cy="5400600"/>
          </a:xfrm>
          <a:prstGeom prst="rect">
            <a:avLst/>
          </a:prstGeom>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baseline="0">
                <a:solidFill>
                  <a:schemeClr val="bg1"/>
                </a:solidFill>
                <a:latin typeface="Arial" pitchFamily="34" charset="0"/>
                <a:ea typeface="微软雅黑" pitchFamily="34" charset="-122"/>
                <a:cs typeface="+mn-cs"/>
              </a:defRPr>
            </a:lvl1pPr>
            <a:lvl2pPr marL="742950" indent="-285750" algn="l" defTabSz="914400" rtl="0" eaLnBrk="1" latinLnBrk="0" hangingPunct="1">
              <a:spcBef>
                <a:spcPct val="20000"/>
              </a:spcBef>
              <a:buFont typeface="Arial" pitchFamily="34" charset="0"/>
              <a:buChar char="–"/>
              <a:defRPr sz="2800" kern="1200" baseline="0">
                <a:solidFill>
                  <a:schemeClr val="bg1"/>
                </a:solidFill>
                <a:latin typeface="Arial" pitchFamily="34" charset="0"/>
                <a:ea typeface="微软雅黑" pitchFamily="34" charset="-122"/>
                <a:cs typeface="+mn-cs"/>
              </a:defRPr>
            </a:lvl2pPr>
            <a:lvl3pPr marL="1143000" indent="-228600" algn="l" defTabSz="914400" rtl="0" eaLnBrk="1" latinLnBrk="0" hangingPunct="1">
              <a:spcBef>
                <a:spcPct val="20000"/>
              </a:spcBef>
              <a:buFont typeface="Arial" pitchFamily="34" charset="0"/>
              <a:buChar char="•"/>
              <a:defRPr sz="2400" kern="1200" baseline="0">
                <a:solidFill>
                  <a:schemeClr val="bg1"/>
                </a:solidFill>
                <a:latin typeface="Arial" pitchFamily="34" charset="0"/>
                <a:ea typeface="微软雅黑" pitchFamily="34" charset="-122"/>
                <a:cs typeface="+mn-cs"/>
              </a:defRPr>
            </a:lvl3pPr>
            <a:lvl4pPr marL="16002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4pPr>
            <a:lvl5pPr marL="20574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spcBef>
                <a:spcPts val="3000"/>
              </a:spcBef>
              <a:spcAft>
                <a:spcPts val="0"/>
              </a:spcAft>
              <a:buSzTx/>
            </a:pPr>
            <a:r>
              <a:rPr kumimoji="0" lang="zh-CN" altLang="en-US" sz="2800" dirty="0" smtClean="0">
                <a:effectLst/>
                <a:latin typeface="宋体" pitchFamily="2" charset="-122"/>
              </a:rPr>
              <a:t>视图可以屏蔽数据查询的复杂性，</a:t>
            </a:r>
            <a:r>
              <a:rPr kumimoji="1" lang="zh-CN" altLang="en-US" sz="2800" dirty="0" smtClean="0">
                <a:effectLst/>
              </a:rPr>
              <a:t>一次建立便可长期使用，可以大大简化用户对数据库的操作</a:t>
            </a:r>
            <a:r>
              <a:rPr kumimoji="1" lang="en-US" altLang="zh-CN" sz="2800" dirty="0" smtClean="0">
                <a:effectLst/>
                <a:latin typeface="楷体_GB2312" pitchFamily="49" charset="-122"/>
              </a:rPr>
              <a:t>;</a:t>
            </a:r>
          </a:p>
          <a:p>
            <a:pPr fontAlgn="auto">
              <a:spcBef>
                <a:spcPts val="3000"/>
              </a:spcBef>
              <a:spcAft>
                <a:spcPts val="0"/>
              </a:spcAft>
              <a:buSzTx/>
            </a:pPr>
            <a:r>
              <a:rPr kumimoji="1" lang="zh-CN" altLang="en-US" sz="2800" dirty="0" smtClean="0">
                <a:effectLst/>
              </a:rPr>
              <a:t>对不同的用户可以为其建立对数据库中同一数据对象的不同视图，即让用户可以从多种角度观察和使用数据库中的数据；</a:t>
            </a:r>
            <a:endParaRPr kumimoji="1" lang="en-US" altLang="zh-CN" sz="2800" dirty="0" smtClean="0">
              <a:effectLst/>
            </a:endParaRPr>
          </a:p>
          <a:p>
            <a:pPr fontAlgn="auto">
              <a:spcBef>
                <a:spcPts val="3000"/>
              </a:spcBef>
              <a:spcAft>
                <a:spcPts val="0"/>
              </a:spcAft>
              <a:buSzTx/>
            </a:pPr>
            <a:r>
              <a:rPr kumimoji="1" lang="zh-CN" altLang="en-US" sz="2800" dirty="0" smtClean="0">
                <a:effectLst/>
              </a:rPr>
              <a:t>可以通过授权机制实施视图的权限分配，从而使视图可以定制不同用户对数据的访问权限；</a:t>
            </a:r>
          </a:p>
          <a:p>
            <a:pPr fontAlgn="auto">
              <a:spcBef>
                <a:spcPts val="3000"/>
              </a:spcBef>
              <a:spcAft>
                <a:spcPts val="0"/>
              </a:spcAft>
              <a:buSzTx/>
            </a:pPr>
            <a:r>
              <a:rPr kumimoji="1" lang="zh-CN" altLang="en-US" sz="2800" dirty="0" smtClean="0">
                <a:effectLst/>
              </a:rPr>
              <a:t>视图易于实现数据的重组，从而提高数据的逻辑独立性，即让应用程序感觉不到数据结构的改变。</a:t>
            </a:r>
            <a:endParaRPr kumimoji="1" lang="zh-CN" altLang="en-US" sz="2800" dirty="0">
              <a:effectLst/>
            </a:endParaRPr>
          </a:p>
        </p:txBody>
      </p:sp>
    </p:spTree>
    <p:extLst>
      <p:ext uri="{BB962C8B-B14F-4D97-AF65-F5344CB8AC3E}">
        <p14:creationId xmlns:p14="http://schemas.microsoft.com/office/powerpoint/2010/main" val="147267582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smtClean="0">
                <a:solidFill>
                  <a:srgbClr val="FFFFCC"/>
                </a:solidFill>
                <a:effectLst>
                  <a:outerShdw blurRad="38100" dist="38100" dir="2700000" algn="tl">
                    <a:srgbClr val="000000"/>
                  </a:outerShdw>
                </a:effectLst>
              </a:rPr>
              <a:t>存储过程</a:t>
            </a:r>
            <a:endParaRPr lang="zh-CN" altLang="en-US" sz="4000" b="1" dirty="0">
              <a:solidFill>
                <a:srgbClr val="FFFFCC"/>
              </a:solidFill>
              <a:effectLst>
                <a:outerShdw blurRad="38100" dist="38100" dir="2700000" algn="tl">
                  <a:srgbClr val="000000"/>
                </a:outerShdw>
              </a:effectLst>
            </a:endParaRPr>
          </a:p>
        </p:txBody>
      </p:sp>
      <p:sp>
        <p:nvSpPr>
          <p:cNvPr id="19" name="Rectangle 4"/>
          <p:cNvSpPr txBox="1">
            <a:spLocks noChangeArrowheads="1"/>
          </p:cNvSpPr>
          <p:nvPr/>
        </p:nvSpPr>
        <p:spPr bwMode="auto">
          <a:xfrm>
            <a:off x="179512" y="1108671"/>
            <a:ext cx="8640960" cy="290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l"/>
              <a:defRPr sz="24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spcBef>
                <a:spcPct val="0"/>
              </a:spcBef>
              <a:spcAft>
                <a:spcPct val="40000"/>
              </a:spcAft>
              <a:buClr>
                <a:srgbClr val="66FF33"/>
              </a:buClr>
              <a:buSzPct val="85000"/>
              <a:buFont typeface="Wingdings" pitchFamily="2" charset="2"/>
              <a:buBlip>
                <a:blip r:embed="rId2"/>
              </a:buBlip>
              <a:tabLst/>
              <a:defRPr/>
            </a:pPr>
            <a:r>
              <a:rPr kumimoji="0" lang="zh-CN" altLang="en-US" sz="2800" b="0" i="0" u="none" strike="noStrike" kern="0" cap="none" spc="0" normalizeH="0" baseline="0" noProof="0" smtClean="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存储过程类似于</a:t>
            </a:r>
            <a:r>
              <a:rPr kumimoji="0" lang="en-US" altLang="zh-CN"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C</a:t>
            </a:r>
            <a:r>
              <a:rPr kumimoji="0"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语言中的函数，是为实现某种功能的若干</a:t>
            </a:r>
            <a:r>
              <a:rPr kumimoji="0" lang="en-US" altLang="zh-CN"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T-SQL </a:t>
            </a:r>
            <a:r>
              <a:rPr kumimoji="0"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语句的预编译的命名集合，由服务器进行存储和优化</a:t>
            </a:r>
            <a:r>
              <a:rPr kumimoji="0" lang="zh-CN" altLang="en-US" kern="0" dirty="0"/>
              <a:t>。</a:t>
            </a:r>
            <a:r>
              <a:rPr kumimoji="0"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用户可通过存储名称及必要的参数来调用</a:t>
            </a:r>
            <a:r>
              <a:rPr kumimoji="0" lang="zh-CN" altLang="en-US" sz="2800" b="0" i="0" u="none" strike="noStrike" kern="0" cap="none" spc="0" normalizeH="0" baseline="0" noProof="0" smtClean="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相应的存储过程。</a:t>
            </a:r>
            <a:r>
              <a:rPr kumimoji="0" lang="zh-CN" altLang="en-US" sz="2800" b="0" i="0" u="none" strike="noStrike" kern="0" cap="none" spc="0" normalizeH="0" baseline="0" noProof="0" dirty="0" smtClean="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cs typeface="+mn-cs"/>
              </a:rPr>
              <a:t>并将执行的结果返回给用户。</a:t>
            </a:r>
          </a:p>
        </p:txBody>
      </p:sp>
      <p:sp>
        <p:nvSpPr>
          <p:cNvPr id="20" name="Rectangle 5"/>
          <p:cNvSpPr>
            <a:spLocks noChangeArrowheads="1"/>
          </p:cNvSpPr>
          <p:nvPr/>
        </p:nvSpPr>
        <p:spPr bwMode="auto">
          <a:xfrm>
            <a:off x="781349" y="4385717"/>
            <a:ext cx="9233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spcAft>
                <a:spcPct val="0"/>
              </a:spcAft>
              <a:buSzTx/>
              <a:buFontTx/>
              <a:buNone/>
              <a:defRPr/>
            </a:pPr>
            <a:r>
              <a:rPr lang="zh-CN" altLang="en-US" sz="2400" dirty="0">
                <a:solidFill>
                  <a:srgbClr val="FFFFFF"/>
                </a:solidFill>
                <a:effectLst>
                  <a:outerShdw blurRad="38100" dist="38100" dir="2700000" algn="tl">
                    <a:srgbClr val="000000"/>
                  </a:outerShdw>
                </a:effectLst>
                <a:latin typeface="Times New Roman" pitchFamily="18" charset="0"/>
              </a:rPr>
              <a:t>客户端</a:t>
            </a:r>
          </a:p>
        </p:txBody>
      </p:sp>
      <p:sp>
        <p:nvSpPr>
          <p:cNvPr id="21" name="computr3"/>
          <p:cNvSpPr>
            <a:spLocks noEditPoints="1" noChangeArrowheads="1"/>
          </p:cNvSpPr>
          <p:nvPr/>
        </p:nvSpPr>
        <p:spPr bwMode="auto">
          <a:xfrm>
            <a:off x="827088" y="4961979"/>
            <a:ext cx="1219200" cy="936625"/>
          </a:xfrm>
          <a:custGeom>
            <a:avLst/>
            <a:gdLst>
              <a:gd name="T0" fmla="*/ 0 w 21600"/>
              <a:gd name="T1" fmla="*/ 468313 h 21600"/>
              <a:gd name="T2" fmla="*/ 609600 w 21600"/>
              <a:gd name="T3" fmla="*/ 0 h 21600"/>
              <a:gd name="T4" fmla="*/ 609600 w 21600"/>
              <a:gd name="T5" fmla="*/ 936625 h 21600"/>
              <a:gd name="T6" fmla="*/ 1023620 w 21600"/>
              <a:gd name="T7" fmla="*/ 468313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CCFFCC"/>
          </a:solidFill>
          <a:ln w="9525">
            <a:solidFill>
              <a:srgbClr val="000000"/>
            </a:solidFill>
            <a:miter lim="800000"/>
            <a:headEnd/>
            <a:tailEnd/>
          </a:ln>
          <a:effectLst>
            <a:outerShdw dist="35921" dir="2700000" algn="ctr" rotWithShape="0">
              <a:srgbClr val="808080"/>
            </a:outerShdw>
          </a:effectLst>
        </p:spPr>
        <p:txBody>
          <a:bodyPr/>
          <a:lstStyle/>
          <a:p>
            <a:pPr algn="ctr">
              <a:spcAft>
                <a:spcPct val="0"/>
              </a:spcAft>
              <a:buSzTx/>
              <a:buFontTx/>
              <a:buNone/>
            </a:pPr>
            <a:endParaRPr kumimoji="0" lang="zh-CN" altLang="en-US" sz="2400">
              <a:solidFill>
                <a:srgbClr val="FFFFFF"/>
              </a:solidFill>
              <a:effectLst/>
              <a:latin typeface="Arial" charset="0"/>
            </a:endParaRPr>
          </a:p>
        </p:txBody>
      </p:sp>
      <p:sp>
        <p:nvSpPr>
          <p:cNvPr id="22" name="mainfrm"/>
          <p:cNvSpPr>
            <a:spLocks noEditPoints="1" noChangeArrowheads="1"/>
          </p:cNvSpPr>
          <p:nvPr/>
        </p:nvSpPr>
        <p:spPr bwMode="auto">
          <a:xfrm>
            <a:off x="4716463" y="4312692"/>
            <a:ext cx="1727200" cy="1655762"/>
          </a:xfrm>
          <a:custGeom>
            <a:avLst/>
            <a:gdLst>
              <a:gd name="T0" fmla="*/ 0 w 21600"/>
              <a:gd name="T1" fmla="*/ 0 h 21600"/>
              <a:gd name="T2" fmla="*/ 863600 w 21600"/>
              <a:gd name="T3" fmla="*/ 0 h 21600"/>
              <a:gd name="T4" fmla="*/ 1727200 w 21600"/>
              <a:gd name="T5" fmla="*/ 0 h 21600"/>
              <a:gd name="T6" fmla="*/ 1727200 w 21600"/>
              <a:gd name="T7" fmla="*/ 827881 h 21600"/>
              <a:gd name="T8" fmla="*/ 1647477 w 21600"/>
              <a:gd name="T9" fmla="*/ 1655762 h 21600"/>
              <a:gd name="T10" fmla="*/ 863600 w 21600"/>
              <a:gd name="T11" fmla="*/ 1655762 h 21600"/>
              <a:gd name="T12" fmla="*/ 92997 w 21600"/>
              <a:gd name="T13" fmla="*/ 1655762 h 21600"/>
              <a:gd name="T14" fmla="*/ 0 w 21600"/>
              <a:gd name="T15" fmla="*/ 827881 h 21600"/>
              <a:gd name="T16" fmla="*/ 0 60000 65536"/>
              <a:gd name="T17" fmla="*/ 0 60000 65536"/>
              <a:gd name="T18" fmla="*/ 0 60000 65536"/>
              <a:gd name="T19" fmla="*/ 0 60000 65536"/>
              <a:gd name="T20" fmla="*/ 0 60000 65536"/>
              <a:gd name="T21" fmla="*/ 0 60000 65536"/>
              <a:gd name="T22" fmla="*/ 0 60000 65536"/>
              <a:gd name="T23" fmla="*/ 0 60000 65536"/>
              <a:gd name="T24" fmla="*/ 332 w 21600"/>
              <a:gd name="T25" fmla="*/ 22174 h 21600"/>
              <a:gd name="T26" fmla="*/ 21579 w 21600"/>
              <a:gd name="T27" fmla="*/ 2791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CCFFFF"/>
          </a:solidFill>
          <a:ln w="9525">
            <a:solidFill>
              <a:srgbClr val="000000"/>
            </a:solidFill>
            <a:miter lim="800000"/>
            <a:headEnd/>
            <a:tailEnd/>
          </a:ln>
        </p:spPr>
        <p:txBody>
          <a:bodyPr/>
          <a:lstStyle/>
          <a:p>
            <a:pPr algn="ctr">
              <a:spcAft>
                <a:spcPct val="0"/>
              </a:spcAft>
              <a:buSzTx/>
              <a:buFontTx/>
              <a:buNone/>
            </a:pPr>
            <a:endParaRPr kumimoji="0" lang="zh-CN" altLang="en-US" sz="2400">
              <a:solidFill>
                <a:srgbClr val="FFFFFF"/>
              </a:solidFill>
              <a:effectLst/>
              <a:latin typeface="Arial" charset="0"/>
            </a:endParaRPr>
          </a:p>
        </p:txBody>
      </p:sp>
      <p:sp>
        <p:nvSpPr>
          <p:cNvPr id="23" name="Rectangle 8"/>
          <p:cNvSpPr>
            <a:spLocks noChangeArrowheads="1"/>
          </p:cNvSpPr>
          <p:nvPr/>
        </p:nvSpPr>
        <p:spPr bwMode="auto">
          <a:xfrm>
            <a:off x="5106443" y="3953917"/>
            <a:ext cx="76944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spcAft>
                <a:spcPct val="0"/>
              </a:spcAft>
              <a:buSzTx/>
              <a:buFontTx/>
              <a:buNone/>
              <a:defRPr/>
            </a:pPr>
            <a:r>
              <a:rPr lang="zh-CN" altLang="en-US" sz="2000">
                <a:solidFill>
                  <a:srgbClr val="FFFFFF"/>
                </a:solidFill>
                <a:effectLst>
                  <a:outerShdw blurRad="38100" dist="38100" dir="2700000" algn="tl">
                    <a:srgbClr val="000000"/>
                  </a:outerShdw>
                </a:effectLst>
                <a:latin typeface="Times New Roman" pitchFamily="18" charset="0"/>
              </a:rPr>
              <a:t>服务器</a:t>
            </a:r>
          </a:p>
        </p:txBody>
      </p:sp>
      <p:sp>
        <p:nvSpPr>
          <p:cNvPr id="24" name="Line 9"/>
          <p:cNvSpPr>
            <a:spLocks noChangeShapeType="1"/>
          </p:cNvSpPr>
          <p:nvPr/>
        </p:nvSpPr>
        <p:spPr bwMode="auto">
          <a:xfrm>
            <a:off x="2413000" y="4373146"/>
            <a:ext cx="1943100" cy="0"/>
          </a:xfrm>
          <a:prstGeom prst="line">
            <a:avLst/>
          </a:prstGeom>
          <a:noFill/>
          <a:ln w="76200" cap="sq">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pPr marL="0" marR="0" lvl="0" indent="0" algn="ctr" defTabSz="914400" eaLnBrk="1" fontAlgn="auto" latinLnBrk="0" hangingPunct="1">
              <a:lnSpc>
                <a:spcPct val="100000"/>
              </a:lnSpc>
              <a:spcBef>
                <a:spcPts val="0"/>
              </a:spcBef>
              <a:spcAft>
                <a:spcPct val="0"/>
              </a:spcAft>
              <a:buClrTx/>
              <a:buSzTx/>
              <a:buFontTx/>
              <a:buNone/>
              <a:tabLst/>
              <a:defRPr/>
            </a:pPr>
            <a:endParaRPr kumimoji="0" lang="zh-CN" altLang="en-US" sz="2400" b="0" i="0" u="none" strike="noStrike" kern="0" cap="none" spc="0" normalizeH="0" baseline="0" noProof="0" smtClean="0">
              <a:ln>
                <a:noFill/>
              </a:ln>
              <a:solidFill>
                <a:srgbClr val="FFFFFF"/>
              </a:solidFill>
              <a:effectLst/>
              <a:uLnTx/>
              <a:uFillTx/>
              <a:latin typeface="Arial" charset="0"/>
            </a:endParaRPr>
          </a:p>
        </p:txBody>
      </p:sp>
      <p:sp>
        <p:nvSpPr>
          <p:cNvPr id="25" name="Rectangle 10"/>
          <p:cNvSpPr>
            <a:spLocks noChangeArrowheads="1"/>
          </p:cNvSpPr>
          <p:nvPr/>
        </p:nvSpPr>
        <p:spPr bwMode="auto">
          <a:xfrm>
            <a:off x="2505175" y="3861048"/>
            <a:ext cx="11974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spcAft>
                <a:spcPct val="0"/>
              </a:spcAft>
              <a:buSzTx/>
              <a:buFontTx/>
              <a:buNone/>
              <a:defRPr/>
            </a:pPr>
            <a:r>
              <a:rPr lang="en-US" altLang="zh-CN" sz="2400" dirty="0">
                <a:solidFill>
                  <a:srgbClr val="FFFFFF"/>
                </a:solidFill>
                <a:effectLst>
                  <a:outerShdw blurRad="38100" dist="38100" dir="2700000" algn="tl">
                    <a:srgbClr val="000000"/>
                  </a:outerShdw>
                </a:effectLst>
                <a:latin typeface="Times New Roman" pitchFamily="18" charset="0"/>
              </a:rPr>
              <a:t>SQL</a:t>
            </a:r>
            <a:r>
              <a:rPr lang="zh-CN" altLang="en-US" sz="2400" dirty="0">
                <a:solidFill>
                  <a:srgbClr val="FFFFFF"/>
                </a:solidFill>
                <a:effectLst>
                  <a:outerShdw blurRad="38100" dist="38100" dir="2700000" algn="tl">
                    <a:srgbClr val="000000"/>
                  </a:outerShdw>
                </a:effectLst>
                <a:latin typeface="Times New Roman" pitchFamily="18" charset="0"/>
              </a:rPr>
              <a:t>命令</a:t>
            </a:r>
          </a:p>
        </p:txBody>
      </p:sp>
      <p:sp>
        <p:nvSpPr>
          <p:cNvPr id="26" name="Line 11"/>
          <p:cNvSpPr>
            <a:spLocks noChangeShapeType="1"/>
          </p:cNvSpPr>
          <p:nvPr/>
        </p:nvSpPr>
        <p:spPr bwMode="auto">
          <a:xfrm>
            <a:off x="2413000" y="5229200"/>
            <a:ext cx="1943100" cy="0"/>
          </a:xfrm>
          <a:prstGeom prst="line">
            <a:avLst/>
          </a:prstGeom>
          <a:noFill/>
          <a:ln w="76200" cap="sq">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pPr marL="0" marR="0" lvl="0" indent="0" algn="ctr" defTabSz="914400" eaLnBrk="1" fontAlgn="auto" latinLnBrk="0" hangingPunct="1">
              <a:lnSpc>
                <a:spcPct val="100000"/>
              </a:lnSpc>
              <a:spcBef>
                <a:spcPts val="0"/>
              </a:spcBef>
              <a:spcAft>
                <a:spcPct val="0"/>
              </a:spcAft>
              <a:buClrTx/>
              <a:buSzTx/>
              <a:buFontTx/>
              <a:buNone/>
              <a:tabLst/>
              <a:defRPr/>
            </a:pPr>
            <a:endParaRPr kumimoji="0" lang="zh-CN" altLang="en-US" sz="2400" b="0" i="0" u="none" strike="noStrike" kern="0" cap="none" spc="0" normalizeH="0" baseline="0" noProof="0" smtClean="0">
              <a:ln>
                <a:noFill/>
              </a:ln>
              <a:solidFill>
                <a:srgbClr val="FFFFFF"/>
              </a:solidFill>
              <a:effectLst/>
              <a:uLnTx/>
              <a:uFillTx/>
              <a:latin typeface="Arial" charset="0"/>
            </a:endParaRPr>
          </a:p>
        </p:txBody>
      </p:sp>
      <p:sp>
        <p:nvSpPr>
          <p:cNvPr id="27" name="Rectangle 12"/>
          <p:cNvSpPr>
            <a:spLocks noChangeArrowheads="1"/>
          </p:cNvSpPr>
          <p:nvPr/>
        </p:nvSpPr>
        <p:spPr bwMode="auto">
          <a:xfrm>
            <a:off x="2037779" y="4723076"/>
            <a:ext cx="24622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spcAft>
                <a:spcPct val="0"/>
              </a:spcAft>
              <a:buSzTx/>
              <a:buFontTx/>
              <a:buNone/>
              <a:defRPr/>
            </a:pPr>
            <a:r>
              <a:rPr lang="zh-CN" altLang="en-US" sz="2400" smtClean="0">
                <a:solidFill>
                  <a:srgbClr val="FFFFFF"/>
                </a:solidFill>
                <a:effectLst>
                  <a:outerShdw blurRad="38100" dist="38100" dir="2700000" algn="tl">
                    <a:srgbClr val="000000"/>
                  </a:outerShdw>
                </a:effectLst>
                <a:latin typeface="Times New Roman" pitchFamily="18" charset="0"/>
              </a:rPr>
              <a:t>存储过程名</a:t>
            </a:r>
            <a:r>
              <a:rPr lang="zh-CN" altLang="en-US" sz="2400" dirty="0">
                <a:solidFill>
                  <a:srgbClr val="FFFFFF"/>
                </a:solidFill>
                <a:effectLst>
                  <a:outerShdw blurRad="38100" dist="38100" dir="2700000" algn="tl">
                    <a:srgbClr val="000000"/>
                  </a:outerShdw>
                </a:effectLst>
                <a:latin typeface="Times New Roman" pitchFamily="18" charset="0"/>
              </a:rPr>
              <a:t>及参数</a:t>
            </a:r>
          </a:p>
        </p:txBody>
      </p:sp>
      <p:sp>
        <p:nvSpPr>
          <p:cNvPr id="28" name="Line 13"/>
          <p:cNvSpPr>
            <a:spLocks noChangeShapeType="1"/>
          </p:cNvSpPr>
          <p:nvPr/>
        </p:nvSpPr>
        <p:spPr bwMode="auto">
          <a:xfrm>
            <a:off x="2413000" y="5897017"/>
            <a:ext cx="1943100" cy="0"/>
          </a:xfrm>
          <a:prstGeom prst="line">
            <a:avLst/>
          </a:prstGeom>
          <a:noFill/>
          <a:ln w="76200" cap="sq">
            <a:solidFill>
              <a:srgbClr val="FFFF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pPr marL="0" marR="0" lvl="0" indent="0" algn="ctr" defTabSz="914400" eaLnBrk="1" fontAlgn="auto" latinLnBrk="0" hangingPunct="1">
              <a:lnSpc>
                <a:spcPct val="100000"/>
              </a:lnSpc>
              <a:spcBef>
                <a:spcPts val="0"/>
              </a:spcBef>
              <a:spcAft>
                <a:spcPct val="0"/>
              </a:spcAft>
              <a:buClrTx/>
              <a:buSzTx/>
              <a:buFontTx/>
              <a:buNone/>
              <a:tabLst/>
              <a:defRPr/>
            </a:pPr>
            <a:endParaRPr kumimoji="0" lang="zh-CN" altLang="en-US" sz="2400" b="0" i="0" u="none" strike="noStrike" kern="0" cap="none" spc="0" normalizeH="0" baseline="0" noProof="0" smtClean="0">
              <a:ln>
                <a:noFill/>
              </a:ln>
              <a:solidFill>
                <a:srgbClr val="FFFFFF"/>
              </a:solidFill>
              <a:effectLst/>
              <a:uLnTx/>
              <a:uFillTx/>
              <a:latin typeface="Arial" charset="0"/>
            </a:endParaRPr>
          </a:p>
        </p:txBody>
      </p:sp>
      <p:sp>
        <p:nvSpPr>
          <p:cNvPr id="29" name="Rectangle 14"/>
          <p:cNvSpPr>
            <a:spLocks noChangeArrowheads="1"/>
          </p:cNvSpPr>
          <p:nvPr/>
        </p:nvSpPr>
        <p:spPr bwMode="auto">
          <a:xfrm>
            <a:off x="2689621" y="5481647"/>
            <a:ext cx="12311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spcAft>
                <a:spcPct val="0"/>
              </a:spcAft>
              <a:buSzTx/>
              <a:buFontTx/>
              <a:buNone/>
              <a:defRPr/>
            </a:pPr>
            <a:r>
              <a:rPr lang="zh-CN" altLang="en-US" sz="2400" dirty="0">
                <a:solidFill>
                  <a:srgbClr val="FFFFFF"/>
                </a:solidFill>
                <a:effectLst>
                  <a:outerShdw blurRad="38100" dist="38100" dir="2700000" algn="tl">
                    <a:srgbClr val="000000"/>
                  </a:outerShdw>
                </a:effectLst>
                <a:latin typeface="Times New Roman" pitchFamily="18" charset="0"/>
              </a:rPr>
              <a:t>执行结果</a:t>
            </a:r>
          </a:p>
        </p:txBody>
      </p:sp>
      <p:sp>
        <p:nvSpPr>
          <p:cNvPr id="30" name="AutoShape 15"/>
          <p:cNvSpPr>
            <a:spLocks noChangeArrowheads="1"/>
          </p:cNvSpPr>
          <p:nvPr/>
        </p:nvSpPr>
        <p:spPr bwMode="auto">
          <a:xfrm>
            <a:off x="6948488" y="3664992"/>
            <a:ext cx="1584325" cy="858837"/>
          </a:xfrm>
          <a:prstGeom prst="wedgeRoundRectCallout">
            <a:avLst>
              <a:gd name="adj1" fmla="val -90681"/>
              <a:gd name="adj2" fmla="val 44824"/>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4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rPr>
              <a:t>预编</a:t>
            </a:r>
            <a:r>
              <a:rPr kumimoji="0" lang="zh-CN" altLang="en-US" sz="2400" b="0" i="0" u="none" strike="noStrike" kern="0" cap="none" spc="0" normalizeH="0" baseline="0" noProof="0">
                <a:ln>
                  <a:noFill/>
                </a:ln>
                <a:solidFill>
                  <a:srgbClr val="FFFFCC"/>
                </a:solidFill>
                <a:effectLst>
                  <a:outerShdw blurRad="38100" dist="38100" dir="2700000" algn="tl">
                    <a:srgbClr val="000000"/>
                  </a:outerShdw>
                </a:effectLst>
                <a:uLnTx/>
                <a:uFillTx/>
                <a:latin typeface="Times New Roman" pitchFamily="18" charset="0"/>
              </a:rPr>
              <a:t>译</a:t>
            </a:r>
            <a:r>
              <a:rPr kumimoji="0" lang="zh-CN" altLang="en-US" sz="2400" b="0" i="0" u="none" strike="noStrike" kern="0" cap="none" spc="0" normalizeH="0" baseline="0" noProof="0" smtClean="0">
                <a:ln>
                  <a:noFill/>
                </a:ln>
                <a:solidFill>
                  <a:srgbClr val="FFFFCC"/>
                </a:solidFill>
                <a:effectLst>
                  <a:outerShdw blurRad="38100" dist="38100" dir="2700000" algn="tl">
                    <a:srgbClr val="000000"/>
                  </a:outerShdw>
                </a:effectLst>
                <a:uLnTx/>
                <a:uFillTx/>
                <a:latin typeface="Times New Roman" pitchFamily="18" charset="0"/>
              </a:rPr>
              <a:t>的存储过程</a:t>
            </a:r>
            <a:endParaRPr kumimoji="0" lang="zh-CN" altLang="en-US" sz="2400" b="0" i="0" u="none" strike="noStrike" kern="0" cap="none" spc="0" normalizeH="0" baseline="0" noProof="0" dirty="0">
              <a:ln>
                <a:noFill/>
              </a:ln>
              <a:solidFill>
                <a:srgbClr val="FFFFCC"/>
              </a:solidFill>
              <a:effectLst>
                <a:outerShdw blurRad="38100" dist="38100" dir="2700000" algn="tl">
                  <a:srgbClr val="000000"/>
                </a:outerShdw>
              </a:effectLst>
              <a:uLnTx/>
              <a:uFillTx/>
              <a:latin typeface="Times New Roman" pitchFamily="18" charset="0"/>
            </a:endParaRPr>
          </a:p>
        </p:txBody>
      </p:sp>
      <p:sp>
        <p:nvSpPr>
          <p:cNvPr id="31" name="AutoShape 16"/>
          <p:cNvSpPr>
            <a:spLocks noChangeArrowheads="1"/>
          </p:cNvSpPr>
          <p:nvPr/>
        </p:nvSpPr>
        <p:spPr bwMode="auto">
          <a:xfrm>
            <a:off x="7164388" y="5177879"/>
            <a:ext cx="1295400" cy="858838"/>
          </a:xfrm>
          <a:prstGeom prst="wedgeRoundRectCallout">
            <a:avLst>
              <a:gd name="adj1" fmla="val -171324"/>
              <a:gd name="adj2" fmla="val -107486"/>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400" b="0" i="0" u="none" strike="noStrike" kern="0" cap="none" spc="0" normalizeH="0" baseline="0" noProof="0">
                <a:ln>
                  <a:noFill/>
                </a:ln>
                <a:solidFill>
                  <a:srgbClr val="FFFFCC"/>
                </a:solidFill>
                <a:effectLst>
                  <a:outerShdw blurRad="38100" dist="38100" dir="2700000" algn="tl">
                    <a:srgbClr val="000000"/>
                  </a:outerShdw>
                </a:effectLst>
                <a:uLnTx/>
                <a:uFillTx/>
                <a:latin typeface="Times New Roman" pitchFamily="18" charset="0"/>
              </a:rPr>
              <a:t>命令解释器</a:t>
            </a:r>
          </a:p>
        </p:txBody>
      </p:sp>
    </p:spTree>
    <p:extLst>
      <p:ext uri="{BB962C8B-B14F-4D97-AF65-F5344CB8AC3E}">
        <p14:creationId xmlns:p14="http://schemas.microsoft.com/office/powerpoint/2010/main" val="1125910617"/>
      </p:ext>
    </p:extLst>
  </p:cSld>
  <p:clrMapOvr>
    <a:masterClrMapping/>
  </p:clrMapOvr>
  <mc:AlternateContent xmlns:mc="http://schemas.openxmlformats.org/markup-compatibility/2006">
    <mc:Choice xmlns:p15="http://schemas.microsoft.com/office/powerpoint/2012/main" Requires="p15">
      <p:transition>
        <p15:prstTrans prst="pageCurlDouble"/>
      </p:transition>
    </mc:Choice>
    <mc:Fallback>
      <p:transition>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5275016"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smtClean="0">
                <a:solidFill>
                  <a:srgbClr val="FFFFCC"/>
                </a:solidFill>
                <a:effectLst>
                  <a:outerShdw blurRad="38100" dist="38100" dir="2700000" algn="tl">
                    <a:srgbClr val="000000"/>
                  </a:outerShdw>
                </a:effectLst>
              </a:rPr>
              <a:t>存储过程和</a:t>
            </a:r>
            <a:r>
              <a:rPr lang="zh-CN" altLang="en-US" sz="4000" b="1" dirty="0" smtClean="0">
                <a:solidFill>
                  <a:srgbClr val="FFFFCC"/>
                </a:solidFill>
                <a:effectLst>
                  <a:outerShdw blurRad="38100" dist="38100" dir="2700000" algn="tl">
                    <a:srgbClr val="000000"/>
                  </a:outerShdw>
                </a:effectLst>
              </a:rPr>
              <a:t>创建与执行</a:t>
            </a:r>
            <a:endParaRPr lang="zh-CN" altLang="en-US" sz="4000" b="1" dirty="0">
              <a:solidFill>
                <a:srgbClr val="FFFFCC"/>
              </a:solidFill>
              <a:effectLst>
                <a:outerShdw blurRad="38100" dist="38100" dir="2700000" algn="tl">
                  <a:srgbClr val="000000"/>
                </a:outerShdw>
              </a:effectLst>
            </a:endParaRPr>
          </a:p>
        </p:txBody>
      </p:sp>
      <p:sp>
        <p:nvSpPr>
          <p:cNvPr id="4" name="Rectangle 3"/>
          <p:cNvSpPr txBox="1">
            <a:spLocks noChangeArrowheads="1"/>
          </p:cNvSpPr>
          <p:nvPr/>
        </p:nvSpPr>
        <p:spPr bwMode="auto">
          <a:xfrm>
            <a:off x="161079" y="1782220"/>
            <a:ext cx="9091441" cy="273630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nSpc>
                <a:spcPct val="90000"/>
              </a:lnSpc>
              <a:buFontTx/>
              <a:buNone/>
            </a:pPr>
            <a:r>
              <a:rPr kumimoji="0" lang="en-US" altLang="zh-CN" sz="3000" b="1" dirty="0" smtClean="0">
                <a:solidFill>
                  <a:srgbClr val="FFFF00"/>
                </a:solidFill>
                <a:latin typeface="Arial" charset="0"/>
              </a:rPr>
              <a:t>CREATE PROCEDURE </a:t>
            </a:r>
            <a:r>
              <a:rPr lang="zh-CN" altLang="en-US" dirty="0" smtClean="0"/>
              <a:t>存储过程名</a:t>
            </a:r>
            <a:r>
              <a:rPr lang="en-US" altLang="zh-CN" dirty="0"/>
              <a:t>([</a:t>
            </a:r>
            <a:r>
              <a:rPr lang="zh-CN" altLang="en-US" dirty="0"/>
              <a:t>参数定义</a:t>
            </a:r>
            <a:r>
              <a:rPr lang="en-US" altLang="zh-CN" dirty="0"/>
              <a:t>[,…]])</a:t>
            </a:r>
          </a:p>
          <a:p>
            <a:pPr>
              <a:lnSpc>
                <a:spcPct val="90000"/>
              </a:lnSpc>
              <a:buFontTx/>
              <a:buNone/>
            </a:pPr>
            <a:r>
              <a:rPr lang="en-US" altLang="zh-CN" dirty="0" smtClean="0"/>
              <a:t>	[</a:t>
            </a:r>
            <a:r>
              <a:rPr lang="zh-CN" altLang="en-US" dirty="0" smtClean="0"/>
              <a:t>存储过程选项</a:t>
            </a:r>
            <a:r>
              <a:rPr lang="en-US" altLang="zh-CN" dirty="0"/>
              <a:t>]</a:t>
            </a:r>
          </a:p>
          <a:p>
            <a:pPr>
              <a:lnSpc>
                <a:spcPct val="90000"/>
              </a:lnSpc>
              <a:buFontTx/>
              <a:buNone/>
            </a:pPr>
            <a:r>
              <a:rPr lang="en-US" altLang="zh-CN" dirty="0"/>
              <a:t>BEGIN</a:t>
            </a:r>
          </a:p>
          <a:p>
            <a:pPr>
              <a:lnSpc>
                <a:spcPct val="90000"/>
              </a:lnSpc>
              <a:buFontTx/>
              <a:buNone/>
            </a:pPr>
            <a:r>
              <a:rPr lang="en-US" altLang="zh-CN" dirty="0" smtClean="0"/>
              <a:t>	</a:t>
            </a:r>
            <a:r>
              <a:rPr lang="zh-CN" altLang="en-US" dirty="0" smtClean="0"/>
              <a:t>语句</a:t>
            </a:r>
            <a:r>
              <a:rPr lang="zh-CN" altLang="en-US" dirty="0"/>
              <a:t>序列</a:t>
            </a:r>
            <a:r>
              <a:rPr lang="en-US" altLang="zh-CN" dirty="0"/>
              <a:t>;</a:t>
            </a:r>
          </a:p>
          <a:p>
            <a:pPr>
              <a:lnSpc>
                <a:spcPct val="90000"/>
              </a:lnSpc>
              <a:buFontTx/>
              <a:buNone/>
            </a:pPr>
            <a:r>
              <a:rPr lang="en-US" altLang="zh-CN" dirty="0"/>
              <a:t>END;</a:t>
            </a:r>
            <a:endParaRPr lang="zh-CN" altLang="en-US" dirty="0"/>
          </a:p>
          <a:p>
            <a:pPr lvl="0" eaLnBrk="1" hangingPunct="1">
              <a:lnSpc>
                <a:spcPct val="120000"/>
              </a:lnSpc>
              <a:spcAft>
                <a:spcPct val="0"/>
              </a:spcAft>
              <a:buNone/>
              <a:defRPr/>
            </a:pPr>
            <a:endParaRPr kumimoji="0" lang="en-US" altLang="en-US"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p:txBody>
      </p:sp>
      <p:sp>
        <p:nvSpPr>
          <p:cNvPr id="8" name="Rectangle 3"/>
          <p:cNvSpPr txBox="1">
            <a:spLocks noChangeArrowheads="1"/>
          </p:cNvSpPr>
          <p:nvPr/>
        </p:nvSpPr>
        <p:spPr bwMode="auto">
          <a:xfrm>
            <a:off x="611560" y="5877272"/>
            <a:ext cx="8640960" cy="53144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nSpc>
                <a:spcPct val="90000"/>
              </a:lnSpc>
              <a:buFontTx/>
              <a:buNone/>
            </a:pPr>
            <a:r>
              <a:rPr kumimoji="0" lang="en-US" altLang="zh-CN" sz="3000" b="1" smtClean="0">
                <a:solidFill>
                  <a:srgbClr val="FFFF00"/>
                </a:solidFill>
                <a:latin typeface="Arial" charset="0"/>
              </a:rPr>
              <a:t>CALL </a:t>
            </a:r>
            <a:r>
              <a:rPr lang="zh-CN" altLang="en-US" smtClean="0"/>
              <a:t>存储过程名</a:t>
            </a:r>
            <a:r>
              <a:rPr lang="en-US" altLang="zh-CN" dirty="0"/>
              <a:t>([</a:t>
            </a:r>
            <a:r>
              <a:rPr lang="zh-CN" altLang="en-US" dirty="0" smtClean="0"/>
              <a:t>参数</a:t>
            </a:r>
            <a:r>
              <a:rPr lang="en-US" altLang="zh-CN" dirty="0" smtClean="0"/>
              <a:t>[,…]])</a:t>
            </a:r>
            <a:endParaRPr lang="en-US" altLang="zh-CN" dirty="0"/>
          </a:p>
          <a:p>
            <a:pPr lvl="0" eaLnBrk="1" hangingPunct="1">
              <a:lnSpc>
                <a:spcPct val="120000"/>
              </a:lnSpc>
              <a:spcAft>
                <a:spcPct val="0"/>
              </a:spcAft>
              <a:buNone/>
              <a:defRPr/>
            </a:pPr>
            <a:endParaRPr kumimoji="0" lang="en-US" altLang="en-US"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p:txBody>
      </p:sp>
      <p:sp>
        <p:nvSpPr>
          <p:cNvPr id="10" name="矩形 9"/>
          <p:cNvSpPr/>
          <p:nvPr/>
        </p:nvSpPr>
        <p:spPr>
          <a:xfrm>
            <a:off x="290706" y="990132"/>
            <a:ext cx="7233622" cy="535531"/>
          </a:xfrm>
          <a:prstGeom prst="rect">
            <a:avLst/>
          </a:prstGeom>
        </p:spPr>
        <p:txBody>
          <a:bodyPr wrap="square">
            <a:spAutoFit/>
          </a:bodyPr>
          <a:lstStyle/>
          <a:p>
            <a:pPr marL="263525" indent="-263525">
              <a:lnSpc>
                <a:spcPct val="90000"/>
              </a:lnSpc>
              <a:buClr>
                <a:srgbClr val="FFFF00"/>
              </a:buClr>
              <a:buFont typeface="Arial" panose="020B0604020202020204" pitchFamily="34" charset="0"/>
              <a:buChar char="•"/>
            </a:pPr>
            <a:r>
              <a:rPr lang="zh-CN" altLang="en-US" dirty="0" smtClean="0">
                <a:solidFill>
                  <a:srgbClr val="CCFF99"/>
                </a:solidFill>
                <a:latin typeface="+mj-ea"/>
                <a:ea typeface="+mj-ea"/>
              </a:rPr>
              <a:t>创建存储过程的</a:t>
            </a:r>
            <a:r>
              <a:rPr lang="zh-CN" altLang="en-US" dirty="0">
                <a:solidFill>
                  <a:srgbClr val="CCFF99"/>
                </a:solidFill>
                <a:latin typeface="+mj-ea"/>
                <a:ea typeface="+mj-ea"/>
              </a:rPr>
              <a:t>一般语法格式为：</a:t>
            </a:r>
          </a:p>
        </p:txBody>
      </p:sp>
      <p:sp>
        <p:nvSpPr>
          <p:cNvPr id="11" name="矩形 10"/>
          <p:cNvSpPr/>
          <p:nvPr/>
        </p:nvSpPr>
        <p:spPr>
          <a:xfrm>
            <a:off x="290706" y="5229200"/>
            <a:ext cx="7233622" cy="535531"/>
          </a:xfrm>
          <a:prstGeom prst="rect">
            <a:avLst/>
          </a:prstGeom>
        </p:spPr>
        <p:txBody>
          <a:bodyPr wrap="square">
            <a:spAutoFit/>
          </a:bodyPr>
          <a:lstStyle/>
          <a:p>
            <a:pPr marL="263525" indent="-263525">
              <a:lnSpc>
                <a:spcPct val="90000"/>
              </a:lnSpc>
              <a:buClr>
                <a:srgbClr val="FFFF00"/>
              </a:buClr>
              <a:buFont typeface="Arial" panose="020B0604020202020204" pitchFamily="34" charset="0"/>
              <a:buChar char="•"/>
            </a:pPr>
            <a:r>
              <a:rPr lang="zh-CN" altLang="en-US" smtClean="0">
                <a:solidFill>
                  <a:srgbClr val="CCFF99"/>
                </a:solidFill>
                <a:latin typeface="+mj-ea"/>
                <a:ea typeface="+mj-ea"/>
              </a:rPr>
              <a:t>执行存储过程的</a:t>
            </a:r>
            <a:r>
              <a:rPr lang="zh-CN" altLang="en-US" dirty="0">
                <a:solidFill>
                  <a:srgbClr val="CCFF99"/>
                </a:solidFill>
                <a:latin typeface="+mj-ea"/>
                <a:ea typeface="+mj-ea"/>
              </a:rPr>
              <a:t>一般语法格式为：</a:t>
            </a:r>
          </a:p>
        </p:txBody>
      </p:sp>
      <p:sp>
        <p:nvSpPr>
          <p:cNvPr id="14" name="Rectangle 26"/>
          <p:cNvSpPr>
            <a:spLocks noChangeArrowheads="1"/>
          </p:cNvSpPr>
          <p:nvPr/>
        </p:nvSpPr>
        <p:spPr bwMode="auto">
          <a:xfrm>
            <a:off x="4355976" y="2861250"/>
            <a:ext cx="4320480" cy="1852815"/>
          </a:xfrm>
          <a:prstGeom prst="rect">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wrap="square" anchor="ctr">
            <a:spAutoFit/>
          </a:bodyPr>
          <a:lstStyle/>
          <a:p>
            <a:pPr marL="360363" marR="0" lvl="0" indent="-360363" defTabSz="914400" eaLnBrk="1" fontAlgn="auto" latinLnBrk="0" hangingPunct="1">
              <a:lnSpc>
                <a:spcPct val="100000"/>
              </a:lnSpc>
              <a:spcBef>
                <a:spcPts val="0"/>
              </a:spcBef>
              <a:spcAft>
                <a:spcPct val="40000"/>
              </a:spcAft>
              <a:buClr>
                <a:srgbClr val="66FF33"/>
              </a:buClr>
              <a:buSzPct val="85000"/>
              <a:buFont typeface="Wingdings" pitchFamily="2" charset="2"/>
              <a:buBlip>
                <a:blip r:embed="rId2"/>
              </a:buBlip>
              <a:tabLst/>
              <a:defRPr/>
            </a:pPr>
            <a:r>
              <a:rPr kumimoji="0" lang="zh-CN" altLang="en-US" sz="26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Times New Roman" pitchFamily="18" charset="0"/>
              </a:rPr>
              <a:t>参数可用</a:t>
            </a:r>
            <a:r>
              <a:rPr kumimoji="0" lang="en-US" altLang="zh-CN" sz="26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Times New Roman" pitchFamily="18" charset="0"/>
              </a:rPr>
              <a:t>IN/OUT</a:t>
            </a:r>
            <a:r>
              <a:rPr kumimoji="0" lang="en-US" altLang="zh-CN" sz="2600" kern="0" noProof="0" dirty="0" smtClean="0">
                <a:solidFill>
                  <a:srgbClr val="FFFFCC"/>
                </a:solidFill>
                <a:effectLst>
                  <a:outerShdw blurRad="38100" dist="38100" dir="2700000" algn="tl">
                    <a:srgbClr val="000000"/>
                  </a:outerShdw>
                </a:effectLst>
                <a:latin typeface="Times New Roman" pitchFamily="18" charset="0"/>
              </a:rPr>
              <a:t>/INOUT</a:t>
            </a:r>
            <a:r>
              <a:rPr kumimoji="0" lang="zh-CN" altLang="en-US" sz="2600" kern="0" noProof="0" dirty="0" smtClean="0">
                <a:solidFill>
                  <a:srgbClr val="FFFFCC"/>
                </a:solidFill>
                <a:effectLst>
                  <a:outerShdw blurRad="38100" dist="38100" dir="2700000" algn="tl">
                    <a:srgbClr val="000000"/>
                  </a:outerShdw>
                </a:effectLst>
                <a:latin typeface="Times New Roman" pitchFamily="18" charset="0"/>
              </a:rPr>
              <a:t>表示输入输出类型</a:t>
            </a:r>
            <a:endParaRPr kumimoji="0" lang="en-US" altLang="zh-CN" sz="2600" kern="0" noProof="0" dirty="0" smtClean="0">
              <a:solidFill>
                <a:srgbClr val="FFFFCC"/>
              </a:solidFill>
              <a:effectLst>
                <a:outerShdw blurRad="38100" dist="38100" dir="2700000" algn="tl">
                  <a:srgbClr val="000000"/>
                </a:outerShdw>
              </a:effectLst>
              <a:latin typeface="Times New Roman" pitchFamily="18" charset="0"/>
            </a:endParaRPr>
          </a:p>
          <a:p>
            <a:pPr marL="360363" marR="0" lvl="0" indent="-360363" defTabSz="914400" eaLnBrk="1" fontAlgn="auto" latinLnBrk="0" hangingPunct="1">
              <a:lnSpc>
                <a:spcPct val="100000"/>
              </a:lnSpc>
              <a:spcBef>
                <a:spcPts val="0"/>
              </a:spcBef>
              <a:spcAft>
                <a:spcPct val="40000"/>
              </a:spcAft>
              <a:buClr>
                <a:srgbClr val="66FF33"/>
              </a:buClr>
              <a:buSzPct val="85000"/>
              <a:buFont typeface="Wingdings" pitchFamily="2" charset="2"/>
              <a:buBlip>
                <a:blip r:embed="rId2"/>
              </a:buBlip>
              <a:tabLst/>
              <a:defRPr/>
            </a:pPr>
            <a:r>
              <a:rPr kumimoji="0" lang="zh-CN" altLang="en-US" sz="2600" b="0" i="0" u="none" strike="noStrike" kern="0" cap="none" spc="0" normalizeH="0" baseline="0" smtClean="0">
                <a:ln>
                  <a:noFill/>
                </a:ln>
                <a:solidFill>
                  <a:srgbClr val="FFFFCC"/>
                </a:solidFill>
                <a:effectLst>
                  <a:outerShdw blurRad="38100" dist="38100" dir="2700000" algn="tl">
                    <a:srgbClr val="000000"/>
                  </a:outerShdw>
                </a:effectLst>
                <a:uLnTx/>
                <a:uFillTx/>
                <a:latin typeface="Times New Roman" pitchFamily="18" charset="0"/>
              </a:rPr>
              <a:t>存储过程选项</a:t>
            </a:r>
            <a:r>
              <a:rPr kumimoji="0" lang="zh-CN" altLang="en-US" sz="2600" b="0" i="0" u="none" strike="noStrike" kern="0" cap="none" spc="0" normalizeH="0" baseline="0" dirty="0" smtClean="0">
                <a:ln>
                  <a:noFill/>
                </a:ln>
                <a:solidFill>
                  <a:srgbClr val="FFFFCC"/>
                </a:solidFill>
                <a:effectLst>
                  <a:outerShdw blurRad="38100" dist="38100" dir="2700000" algn="tl">
                    <a:srgbClr val="000000"/>
                  </a:outerShdw>
                </a:effectLst>
                <a:uLnTx/>
                <a:uFillTx/>
                <a:latin typeface="Times New Roman" pitchFamily="18" charset="0"/>
              </a:rPr>
              <a:t>可指定</a:t>
            </a:r>
            <a:r>
              <a:rPr kumimoji="0" lang="en-US" altLang="zh-CN" sz="2600" b="0" i="0" u="none" strike="noStrike" kern="0" cap="none" spc="0" normalizeH="0" baseline="0" dirty="0" smtClean="0">
                <a:ln>
                  <a:noFill/>
                </a:ln>
                <a:solidFill>
                  <a:srgbClr val="FFFFCC"/>
                </a:solidFill>
                <a:effectLst>
                  <a:outerShdw blurRad="38100" dist="38100" dir="2700000" algn="tl">
                    <a:srgbClr val="000000"/>
                  </a:outerShdw>
                </a:effectLst>
                <a:uLnTx/>
                <a:uFillTx/>
                <a:latin typeface="Times New Roman" pitchFamily="18" charset="0"/>
              </a:rPr>
              <a:t>SQL</a:t>
            </a:r>
            <a:r>
              <a:rPr kumimoji="0" lang="zh-CN" altLang="en-US" sz="2600" b="0" i="0" u="none" strike="noStrike" kern="0" cap="none" spc="0" normalizeH="0" baseline="0" dirty="0" smtClean="0">
                <a:ln>
                  <a:noFill/>
                </a:ln>
                <a:solidFill>
                  <a:srgbClr val="FFFFCC"/>
                </a:solidFill>
                <a:effectLst>
                  <a:outerShdw blurRad="38100" dist="38100" dir="2700000" algn="tl">
                    <a:srgbClr val="000000"/>
                  </a:outerShdw>
                </a:effectLst>
                <a:uLnTx/>
                <a:uFillTx/>
                <a:latin typeface="Times New Roman" pitchFamily="18" charset="0"/>
              </a:rPr>
              <a:t>语句的类型</a:t>
            </a:r>
            <a:endParaRPr kumimoji="0" lang="zh-CN" altLang="en-US" sz="26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Times New Roman" pitchFamily="18" charset="0"/>
            </a:endParaRPr>
          </a:p>
        </p:txBody>
      </p:sp>
    </p:spTree>
    <p:extLst>
      <p:ext uri="{BB962C8B-B14F-4D97-AF65-F5344CB8AC3E}">
        <p14:creationId xmlns:p14="http://schemas.microsoft.com/office/powerpoint/2010/main" val="3236562519"/>
      </p:ext>
    </p:extLst>
  </p:cSld>
  <p:clrMapOvr>
    <a:masterClrMapping/>
  </p:clrMapOvr>
  <mc:AlternateContent xmlns:mc="http://schemas.openxmlformats.org/markup-compatibility/2006">
    <mc:Choice xmlns:p14="http://schemas.microsoft.com/office/powerpoint/2010/main" Requires="p14">
      <p:transition spd="slow">
        <p14:flip dir="r"/>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4249094"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smtClean="0">
                <a:solidFill>
                  <a:srgbClr val="FFFFCC"/>
                </a:solidFill>
                <a:effectLst>
                  <a:outerShdw blurRad="38100" dist="38100" dir="2700000" algn="tl">
                    <a:srgbClr val="000000"/>
                  </a:outerShdw>
                </a:effectLst>
              </a:rPr>
              <a:t>创建存储过程示例</a:t>
            </a:r>
            <a:endParaRPr lang="zh-CN" altLang="en-US" sz="4000" b="1" dirty="0">
              <a:solidFill>
                <a:srgbClr val="FFFFCC"/>
              </a:solidFill>
              <a:effectLst>
                <a:outerShdw blurRad="38100" dist="38100" dir="2700000" algn="tl">
                  <a:srgbClr val="000000"/>
                </a:outerShdw>
              </a:effectLst>
            </a:endParaRPr>
          </a:p>
        </p:txBody>
      </p:sp>
      <p:sp>
        <p:nvSpPr>
          <p:cNvPr id="2" name="矩形 1"/>
          <p:cNvSpPr/>
          <p:nvPr/>
        </p:nvSpPr>
        <p:spPr>
          <a:xfrm>
            <a:off x="159413" y="836712"/>
            <a:ext cx="8803409" cy="4173450"/>
          </a:xfrm>
          <a:prstGeom prst="rect">
            <a:avLst/>
          </a:prstGeom>
        </p:spPr>
        <p:txBody>
          <a:bodyPr wrap="square">
            <a:spAutoFit/>
          </a:bodyPr>
          <a:lstStyle/>
          <a:p>
            <a:pPr>
              <a:lnSpc>
                <a:spcPct val="80000"/>
              </a:lnSpc>
            </a:pPr>
            <a:r>
              <a:rPr lang="zh-CN" altLang="en-US" sz="2400" b="1" dirty="0" smtClean="0">
                <a:solidFill>
                  <a:srgbClr val="CCFF99"/>
                </a:solidFill>
              </a:rPr>
              <a:t>创建</a:t>
            </a:r>
            <a:r>
              <a:rPr lang="zh-CN" altLang="en-US" sz="2400" b="1" dirty="0">
                <a:solidFill>
                  <a:srgbClr val="CCFF99"/>
                </a:solidFill>
              </a:rPr>
              <a:t>一个名为</a:t>
            </a:r>
            <a:r>
              <a:rPr lang="en-US" altLang="zh-CN" sz="2400" b="1" dirty="0" err="1" smtClean="0">
                <a:solidFill>
                  <a:srgbClr val="CCFF99"/>
                </a:solidFill>
              </a:rPr>
              <a:t>p_job</a:t>
            </a:r>
            <a:r>
              <a:rPr lang="zh-CN" altLang="en-US" sz="2400" b="1" dirty="0" smtClean="0">
                <a:solidFill>
                  <a:srgbClr val="CCFF99"/>
                </a:solidFill>
              </a:rPr>
              <a:t>的存储过程，</a:t>
            </a:r>
            <a:r>
              <a:rPr lang="zh-CN" altLang="en-US" sz="2400" b="1" dirty="0">
                <a:solidFill>
                  <a:srgbClr val="CCFF99"/>
                </a:solidFill>
              </a:rPr>
              <a:t>它能根据给定</a:t>
            </a:r>
            <a:r>
              <a:rPr lang="zh-CN" altLang="en-US" sz="2400" b="1" dirty="0" smtClean="0">
                <a:solidFill>
                  <a:srgbClr val="CCFF99"/>
                </a:solidFill>
              </a:rPr>
              <a:t>的职称查询</a:t>
            </a:r>
            <a:r>
              <a:rPr lang="zh-CN" altLang="en-US" sz="2400" b="1" dirty="0">
                <a:solidFill>
                  <a:srgbClr val="CCFF99"/>
                </a:solidFill>
              </a:rPr>
              <a:t>并</a:t>
            </a:r>
            <a:r>
              <a:rPr lang="zh-CN" altLang="en-US" sz="2400" b="1" dirty="0" smtClean="0">
                <a:solidFill>
                  <a:srgbClr val="CCFF99"/>
                </a:solidFill>
              </a:rPr>
              <a:t>返回</a:t>
            </a:r>
            <a:r>
              <a:rPr lang="en-US" altLang="zh-CN" sz="2400" b="1" dirty="0" smtClean="0">
                <a:solidFill>
                  <a:srgbClr val="CCFF99"/>
                </a:solidFill>
              </a:rPr>
              <a:t>teacher</a:t>
            </a:r>
            <a:r>
              <a:rPr lang="zh-CN" altLang="en-US" sz="2400" b="1" dirty="0">
                <a:solidFill>
                  <a:srgbClr val="CCFF99"/>
                </a:solidFill>
              </a:rPr>
              <a:t>表中</a:t>
            </a:r>
            <a:r>
              <a:rPr lang="zh-CN" altLang="en-US" sz="2400" b="1" dirty="0" smtClean="0">
                <a:solidFill>
                  <a:srgbClr val="CCFF99"/>
                </a:solidFill>
              </a:rPr>
              <a:t>相应职称老师</a:t>
            </a:r>
            <a:r>
              <a:rPr lang="zh-CN" altLang="en-US" sz="2400" b="1" dirty="0">
                <a:solidFill>
                  <a:srgbClr val="CCFF99"/>
                </a:solidFill>
              </a:rPr>
              <a:t>的记录。</a:t>
            </a:r>
          </a:p>
          <a:p>
            <a:pPr>
              <a:lnSpc>
                <a:spcPct val="80000"/>
              </a:lnSpc>
              <a:buFontTx/>
              <a:buNone/>
            </a:pPr>
            <a:r>
              <a:rPr lang="en-US" altLang="zh-CN" sz="2400" dirty="0">
                <a:solidFill>
                  <a:schemeClr val="bg1"/>
                </a:solidFill>
              </a:rPr>
              <a:t>USE </a:t>
            </a:r>
            <a:r>
              <a:rPr lang="en-US" altLang="zh-CN" sz="2400" dirty="0" err="1">
                <a:solidFill>
                  <a:schemeClr val="bg1"/>
                </a:solidFill>
              </a:rPr>
              <a:t>xjgl</a:t>
            </a:r>
            <a:r>
              <a:rPr lang="en-US" altLang="zh-CN" sz="2400" dirty="0" smtClean="0">
                <a:solidFill>
                  <a:schemeClr val="bg1"/>
                </a:solidFill>
              </a:rPr>
              <a:t>;</a:t>
            </a:r>
            <a:endParaRPr lang="en-US" altLang="zh-CN" sz="2400" dirty="0">
              <a:solidFill>
                <a:schemeClr val="bg1"/>
              </a:solidFill>
            </a:endParaRPr>
          </a:p>
          <a:p>
            <a:pPr>
              <a:lnSpc>
                <a:spcPct val="80000"/>
              </a:lnSpc>
              <a:buFontTx/>
              <a:buNone/>
            </a:pPr>
            <a:r>
              <a:rPr lang="en-US" altLang="zh-CN" sz="2400" dirty="0">
                <a:solidFill>
                  <a:schemeClr val="bg1"/>
                </a:solidFill>
              </a:rPr>
              <a:t>DELIMITER //</a:t>
            </a:r>
          </a:p>
          <a:p>
            <a:pPr>
              <a:lnSpc>
                <a:spcPct val="80000"/>
              </a:lnSpc>
              <a:buFontTx/>
              <a:buNone/>
            </a:pPr>
            <a:r>
              <a:rPr lang="en-US" altLang="zh-CN" sz="2400" dirty="0">
                <a:solidFill>
                  <a:schemeClr val="bg1"/>
                </a:solidFill>
              </a:rPr>
              <a:t>CREATE PROCEDURE </a:t>
            </a:r>
            <a:r>
              <a:rPr lang="en-US" altLang="zh-CN" sz="2400" dirty="0" err="1" smtClean="0">
                <a:solidFill>
                  <a:schemeClr val="bg1"/>
                </a:solidFill>
              </a:rPr>
              <a:t>p_varjob</a:t>
            </a:r>
            <a:r>
              <a:rPr lang="en-US" altLang="zh-CN" sz="2400" dirty="0" smtClean="0">
                <a:solidFill>
                  <a:schemeClr val="bg1"/>
                </a:solidFill>
              </a:rPr>
              <a:t> </a:t>
            </a:r>
            <a:r>
              <a:rPr lang="en-US" altLang="zh-CN" sz="2400" dirty="0">
                <a:solidFill>
                  <a:schemeClr val="bg1"/>
                </a:solidFill>
              </a:rPr>
              <a:t>(IN </a:t>
            </a:r>
            <a:r>
              <a:rPr lang="en-US" altLang="zh-CN" sz="2400" dirty="0" err="1" smtClean="0">
                <a:solidFill>
                  <a:schemeClr val="bg1"/>
                </a:solidFill>
              </a:rPr>
              <a:t>jobname</a:t>
            </a:r>
            <a:r>
              <a:rPr lang="en-US" altLang="zh-CN" sz="2400" dirty="0" smtClean="0">
                <a:solidFill>
                  <a:schemeClr val="bg1"/>
                </a:solidFill>
              </a:rPr>
              <a:t> </a:t>
            </a:r>
            <a:r>
              <a:rPr lang="en-US" altLang="zh-CN" sz="2400" dirty="0">
                <a:solidFill>
                  <a:schemeClr val="bg1"/>
                </a:solidFill>
              </a:rPr>
              <a:t>varchar(30) )</a:t>
            </a:r>
          </a:p>
          <a:p>
            <a:pPr>
              <a:lnSpc>
                <a:spcPct val="80000"/>
              </a:lnSpc>
              <a:buFontTx/>
              <a:buNone/>
            </a:pPr>
            <a:r>
              <a:rPr lang="en-US" altLang="zh-CN" sz="2400" dirty="0">
                <a:solidFill>
                  <a:schemeClr val="bg1"/>
                </a:solidFill>
              </a:rPr>
              <a:t>BEGIN</a:t>
            </a:r>
          </a:p>
          <a:p>
            <a:pPr>
              <a:lnSpc>
                <a:spcPct val="80000"/>
              </a:lnSpc>
              <a:buFontTx/>
              <a:buNone/>
            </a:pPr>
            <a:r>
              <a:rPr lang="en-US" altLang="zh-CN" sz="2400" dirty="0" smtClean="0">
                <a:solidFill>
                  <a:schemeClr val="bg1"/>
                </a:solidFill>
              </a:rPr>
              <a:t>  SELECT  </a:t>
            </a:r>
            <a:r>
              <a:rPr lang="en-US" altLang="zh-CN" sz="2400" dirty="0">
                <a:solidFill>
                  <a:schemeClr val="bg1"/>
                </a:solidFill>
              </a:rPr>
              <a:t>* </a:t>
            </a:r>
            <a:r>
              <a:rPr lang="en-US" altLang="zh-CN" sz="2400" dirty="0" smtClean="0">
                <a:solidFill>
                  <a:schemeClr val="bg1"/>
                </a:solidFill>
              </a:rPr>
              <a:t>FROM teacher</a:t>
            </a:r>
            <a:endParaRPr lang="en-US" altLang="zh-CN" sz="2400" dirty="0">
              <a:solidFill>
                <a:schemeClr val="bg1"/>
              </a:solidFill>
            </a:endParaRPr>
          </a:p>
          <a:p>
            <a:pPr>
              <a:lnSpc>
                <a:spcPct val="80000"/>
              </a:lnSpc>
              <a:buFontTx/>
              <a:buNone/>
            </a:pPr>
            <a:r>
              <a:rPr lang="en-US" altLang="zh-CN" sz="2400" dirty="0">
                <a:solidFill>
                  <a:schemeClr val="bg1"/>
                </a:solidFill>
              </a:rPr>
              <a:t>	WHERE </a:t>
            </a:r>
            <a:r>
              <a:rPr lang="zh-CN" altLang="en-US" sz="2400" dirty="0" smtClean="0">
                <a:solidFill>
                  <a:schemeClr val="bg1"/>
                </a:solidFill>
              </a:rPr>
              <a:t>职称 </a:t>
            </a:r>
            <a:r>
              <a:rPr lang="en-US" altLang="zh-CN" sz="2400" dirty="0" smtClean="0">
                <a:solidFill>
                  <a:schemeClr val="bg1"/>
                </a:solidFill>
              </a:rPr>
              <a:t>= </a:t>
            </a:r>
            <a:r>
              <a:rPr lang="en-US" altLang="zh-CN" sz="2400" dirty="0" err="1">
                <a:solidFill>
                  <a:schemeClr val="bg1"/>
                </a:solidFill>
              </a:rPr>
              <a:t>jobname</a:t>
            </a:r>
            <a:r>
              <a:rPr lang="en-US" altLang="zh-CN" sz="2400" dirty="0" smtClean="0">
                <a:solidFill>
                  <a:schemeClr val="bg1"/>
                </a:solidFill>
              </a:rPr>
              <a:t>;</a:t>
            </a:r>
            <a:endParaRPr lang="en-US" altLang="zh-CN" sz="2400" dirty="0">
              <a:solidFill>
                <a:schemeClr val="bg1"/>
              </a:solidFill>
            </a:endParaRPr>
          </a:p>
          <a:p>
            <a:pPr>
              <a:lnSpc>
                <a:spcPct val="80000"/>
              </a:lnSpc>
              <a:buFontTx/>
              <a:buNone/>
            </a:pPr>
            <a:r>
              <a:rPr lang="en-US" altLang="zh-CN" sz="2400" dirty="0">
                <a:solidFill>
                  <a:schemeClr val="bg1"/>
                </a:solidFill>
              </a:rPr>
              <a:t>END; </a:t>
            </a:r>
          </a:p>
          <a:p>
            <a:pPr>
              <a:lnSpc>
                <a:spcPct val="80000"/>
              </a:lnSpc>
              <a:buFontTx/>
              <a:buNone/>
            </a:pPr>
            <a:r>
              <a:rPr lang="en-US" altLang="zh-CN" sz="2400" dirty="0">
                <a:solidFill>
                  <a:schemeClr val="bg1"/>
                </a:solidFill>
              </a:rPr>
              <a:t>//</a:t>
            </a:r>
          </a:p>
          <a:p>
            <a:pPr>
              <a:lnSpc>
                <a:spcPct val="80000"/>
              </a:lnSpc>
              <a:buFontTx/>
              <a:buNone/>
            </a:pPr>
            <a:r>
              <a:rPr lang="en-US" altLang="zh-CN" sz="2400" dirty="0" smtClean="0">
                <a:solidFill>
                  <a:schemeClr val="bg1"/>
                </a:solidFill>
              </a:rPr>
              <a:t>DELIMITER ;</a:t>
            </a:r>
            <a:endParaRPr lang="zh-CN" altLang="en-US" sz="2400" dirty="0">
              <a:solidFill>
                <a:schemeClr val="bg1"/>
              </a:solidFill>
            </a:endParaRPr>
          </a:p>
        </p:txBody>
      </p:sp>
      <p:sp>
        <p:nvSpPr>
          <p:cNvPr id="4" name="矩形 3"/>
          <p:cNvSpPr/>
          <p:nvPr/>
        </p:nvSpPr>
        <p:spPr>
          <a:xfrm>
            <a:off x="159413" y="5389707"/>
            <a:ext cx="8803409" cy="775597"/>
          </a:xfrm>
          <a:prstGeom prst="rect">
            <a:avLst/>
          </a:prstGeom>
        </p:spPr>
        <p:txBody>
          <a:bodyPr wrap="square">
            <a:spAutoFit/>
          </a:bodyPr>
          <a:lstStyle/>
          <a:p>
            <a:pPr>
              <a:lnSpc>
                <a:spcPct val="80000"/>
              </a:lnSpc>
            </a:pPr>
            <a:r>
              <a:rPr lang="zh-CN" altLang="en-US" sz="2400" b="1" dirty="0" smtClean="0">
                <a:solidFill>
                  <a:srgbClr val="CCFF99"/>
                </a:solidFill>
              </a:rPr>
              <a:t>用常量参数调用</a:t>
            </a:r>
            <a:r>
              <a:rPr lang="en-US" altLang="zh-CN" sz="2400" b="1" dirty="0" err="1" smtClean="0">
                <a:solidFill>
                  <a:srgbClr val="CCFF99"/>
                </a:solidFill>
              </a:rPr>
              <a:t>p_job</a:t>
            </a:r>
            <a:endParaRPr lang="zh-CN" altLang="en-US" sz="2400" b="1" dirty="0">
              <a:solidFill>
                <a:srgbClr val="CCFF99"/>
              </a:solidFill>
            </a:endParaRPr>
          </a:p>
          <a:p>
            <a:pPr>
              <a:lnSpc>
                <a:spcPct val="80000"/>
              </a:lnSpc>
              <a:buFontTx/>
              <a:buNone/>
            </a:pPr>
            <a:r>
              <a:rPr lang="en-US" altLang="zh-CN" sz="2400" dirty="0">
                <a:solidFill>
                  <a:schemeClr val="bg1"/>
                </a:solidFill>
              </a:rPr>
              <a:t>call </a:t>
            </a:r>
            <a:r>
              <a:rPr lang="en-US" altLang="zh-CN" sz="2400" dirty="0" err="1">
                <a:solidFill>
                  <a:schemeClr val="bg1"/>
                </a:solidFill>
              </a:rPr>
              <a:t>p_vardep</a:t>
            </a:r>
            <a:r>
              <a:rPr lang="en-US" altLang="zh-CN" sz="2400" dirty="0">
                <a:solidFill>
                  <a:schemeClr val="bg1"/>
                </a:solidFill>
              </a:rPr>
              <a:t>('</a:t>
            </a:r>
            <a:r>
              <a:rPr lang="zh-CN" altLang="en-US" sz="2400" dirty="0">
                <a:solidFill>
                  <a:schemeClr val="bg1"/>
                </a:solidFill>
              </a:rPr>
              <a:t>物联网</a:t>
            </a:r>
            <a:r>
              <a:rPr lang="en-US" altLang="zh-CN" sz="2400" dirty="0" smtClean="0">
                <a:solidFill>
                  <a:schemeClr val="bg1"/>
                </a:solidFill>
              </a:rPr>
              <a:t>');</a:t>
            </a:r>
            <a:endParaRPr lang="en-US" altLang="zh-CN" sz="2400" dirty="0">
              <a:solidFill>
                <a:schemeClr val="bg1"/>
              </a:solidFill>
            </a:endParaRPr>
          </a:p>
        </p:txBody>
      </p:sp>
      <p:sp>
        <p:nvSpPr>
          <p:cNvPr id="6" name="矩形 5"/>
          <p:cNvSpPr/>
          <p:nvPr/>
        </p:nvSpPr>
        <p:spPr>
          <a:xfrm>
            <a:off x="4742295" y="5433957"/>
            <a:ext cx="4220527" cy="1163395"/>
          </a:xfrm>
          <a:prstGeom prst="rect">
            <a:avLst/>
          </a:prstGeom>
        </p:spPr>
        <p:txBody>
          <a:bodyPr wrap="square">
            <a:spAutoFit/>
          </a:bodyPr>
          <a:lstStyle/>
          <a:p>
            <a:pPr>
              <a:lnSpc>
                <a:spcPct val="80000"/>
              </a:lnSpc>
            </a:pPr>
            <a:r>
              <a:rPr lang="zh-CN" altLang="en-US" sz="2400" b="1" dirty="0" smtClean="0">
                <a:solidFill>
                  <a:srgbClr val="CCFF99"/>
                </a:solidFill>
              </a:rPr>
              <a:t>或者用变量参数调用</a:t>
            </a:r>
            <a:r>
              <a:rPr lang="en-US" altLang="zh-CN" sz="2400" b="1" dirty="0" err="1" smtClean="0">
                <a:solidFill>
                  <a:srgbClr val="CCFF99"/>
                </a:solidFill>
              </a:rPr>
              <a:t>p_job</a:t>
            </a:r>
            <a:endParaRPr lang="zh-CN" altLang="en-US" sz="2400" b="1" dirty="0">
              <a:solidFill>
                <a:srgbClr val="CCFF99"/>
              </a:solidFill>
            </a:endParaRPr>
          </a:p>
          <a:p>
            <a:pPr>
              <a:lnSpc>
                <a:spcPct val="80000"/>
              </a:lnSpc>
              <a:buFontTx/>
              <a:buNone/>
            </a:pPr>
            <a:r>
              <a:rPr lang="en-US" altLang="zh-CN" sz="2400" dirty="0" smtClean="0">
                <a:solidFill>
                  <a:schemeClr val="bg1"/>
                </a:solidFill>
              </a:rPr>
              <a:t>Set @</a:t>
            </a:r>
            <a:r>
              <a:rPr lang="en-US" altLang="zh-CN" sz="2400" dirty="0" err="1" smtClean="0">
                <a:solidFill>
                  <a:schemeClr val="bg1"/>
                </a:solidFill>
              </a:rPr>
              <a:t>zc</a:t>
            </a:r>
            <a:r>
              <a:rPr lang="en-US" altLang="zh-CN" sz="2400" dirty="0" smtClean="0">
                <a:solidFill>
                  <a:schemeClr val="bg1"/>
                </a:solidFill>
              </a:rPr>
              <a:t> = '</a:t>
            </a:r>
            <a:r>
              <a:rPr lang="zh-CN" altLang="en-US" sz="2400" dirty="0">
                <a:solidFill>
                  <a:schemeClr val="bg1"/>
                </a:solidFill>
              </a:rPr>
              <a:t>物联网</a:t>
            </a:r>
            <a:r>
              <a:rPr lang="en-US" altLang="zh-CN" sz="2400" dirty="0" smtClean="0">
                <a:solidFill>
                  <a:schemeClr val="bg1"/>
                </a:solidFill>
              </a:rPr>
              <a:t>';</a:t>
            </a:r>
          </a:p>
          <a:p>
            <a:pPr>
              <a:lnSpc>
                <a:spcPct val="80000"/>
              </a:lnSpc>
              <a:buFontTx/>
              <a:buNone/>
            </a:pPr>
            <a:r>
              <a:rPr lang="en-US" altLang="zh-CN" sz="2400" dirty="0" smtClean="0">
                <a:solidFill>
                  <a:schemeClr val="bg1"/>
                </a:solidFill>
              </a:rPr>
              <a:t>call </a:t>
            </a:r>
            <a:r>
              <a:rPr lang="en-US" altLang="zh-CN" sz="2400" dirty="0" err="1" smtClean="0">
                <a:solidFill>
                  <a:schemeClr val="bg1"/>
                </a:solidFill>
              </a:rPr>
              <a:t>p_vardep</a:t>
            </a:r>
            <a:r>
              <a:rPr lang="en-US" altLang="zh-CN" sz="2400" dirty="0" smtClean="0">
                <a:solidFill>
                  <a:schemeClr val="bg1"/>
                </a:solidFill>
              </a:rPr>
              <a:t>(@</a:t>
            </a:r>
            <a:r>
              <a:rPr lang="en-US" altLang="zh-CN" sz="2400" dirty="0" err="1" smtClean="0">
                <a:solidFill>
                  <a:schemeClr val="bg1"/>
                </a:solidFill>
              </a:rPr>
              <a:t>zc</a:t>
            </a:r>
            <a:r>
              <a:rPr lang="en-US" altLang="zh-CN" sz="2400" dirty="0" smtClean="0">
                <a:solidFill>
                  <a:schemeClr val="bg1"/>
                </a:solidFill>
              </a:rPr>
              <a:t>);</a:t>
            </a:r>
            <a:endParaRPr lang="en-US" altLang="zh-CN" sz="2400" dirty="0">
              <a:solidFill>
                <a:schemeClr val="bg1"/>
              </a:solidFill>
            </a:endParaRPr>
          </a:p>
        </p:txBody>
      </p:sp>
    </p:spTree>
    <p:extLst>
      <p:ext uri="{BB962C8B-B14F-4D97-AF65-F5344CB8AC3E}">
        <p14:creationId xmlns:p14="http://schemas.microsoft.com/office/powerpoint/2010/main" val="3679774222"/>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322317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smtClean="0">
                <a:solidFill>
                  <a:srgbClr val="FFFFCC"/>
                </a:solidFill>
                <a:effectLst>
                  <a:outerShdw blurRad="38100" dist="38100" dir="2700000" algn="tl">
                    <a:srgbClr val="000000"/>
                  </a:outerShdw>
                </a:effectLst>
              </a:rPr>
              <a:t>查看存储过程</a:t>
            </a:r>
            <a:endParaRPr lang="zh-CN" altLang="en-US" sz="4000" b="1" dirty="0">
              <a:solidFill>
                <a:srgbClr val="FFFFCC"/>
              </a:solidFill>
              <a:effectLst>
                <a:outerShdw blurRad="38100" dist="38100" dir="2700000" algn="tl">
                  <a:srgbClr val="000000"/>
                </a:outerShdw>
              </a:effectLst>
            </a:endParaRPr>
          </a:p>
        </p:txBody>
      </p:sp>
      <p:sp>
        <p:nvSpPr>
          <p:cNvPr id="3" name="Rectangle 46"/>
          <p:cNvSpPr txBox="1">
            <a:spLocks noChangeArrowheads="1"/>
          </p:cNvSpPr>
          <p:nvPr/>
        </p:nvSpPr>
        <p:spPr bwMode="auto">
          <a:xfrm>
            <a:off x="-4224" y="876308"/>
            <a:ext cx="8968711" cy="62971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55600" lvl="0" indent="-355600" eaLnBrk="1" hangingPunct="1">
              <a:defRPr/>
            </a:pPr>
            <a:r>
              <a:rPr kumimoji="0" lang="zh-CN" altLang="en-US" kern="0" dirty="0"/>
              <a:t>查看系统内的所有或者部分满足条件</a:t>
            </a:r>
            <a:r>
              <a:rPr kumimoji="0" lang="zh-CN" altLang="en-US" kern="0" dirty="0" smtClean="0"/>
              <a:t>的存储过程的</a:t>
            </a:r>
            <a:r>
              <a:rPr kumimoji="0" lang="zh-CN" altLang="en-US" kern="0" dirty="0"/>
              <a:t>名称、所在数据库、创建时间、作者等信息</a:t>
            </a:r>
            <a:r>
              <a:rPr kumimoji="0" lang="zh-CN" altLang="en-US" kern="0" dirty="0" smtClean="0"/>
              <a:t>。</a:t>
            </a:r>
            <a:endParaRPr kumimoji="0" lang="en-US" altLang="zh-CN" kern="0" dirty="0" smtClean="0"/>
          </a:p>
          <a:p>
            <a:pPr marL="0" lvl="0" indent="0" eaLnBrk="1" hangingPunct="1">
              <a:buNone/>
              <a:defRPr/>
            </a:pPr>
            <a:r>
              <a:rPr kumimoji="0" lang="en-US" altLang="zh-CN" kern="0" dirty="0"/>
              <a:t> </a:t>
            </a:r>
            <a:r>
              <a:rPr kumimoji="0" lang="en-US" altLang="zh-CN" kern="0" dirty="0" smtClean="0"/>
              <a:t>   </a:t>
            </a:r>
            <a:r>
              <a:rPr kumimoji="0" lang="en-US" altLang="zh-CN" b="1" dirty="0" smtClean="0">
                <a:solidFill>
                  <a:srgbClr val="FFFF00"/>
                </a:solidFill>
                <a:latin typeface="Arial" charset="0"/>
              </a:rPr>
              <a:t>SHOW</a:t>
            </a:r>
            <a:r>
              <a:rPr kumimoji="0" lang="en-US" altLang="zh-CN" b="1" dirty="0">
                <a:solidFill>
                  <a:srgbClr val="FFFF00"/>
                </a:solidFill>
                <a:latin typeface="Arial" charset="0"/>
              </a:rPr>
              <a:t> PROCEDURE </a:t>
            </a:r>
            <a:r>
              <a:rPr kumimoji="0" lang="en-US" altLang="zh-CN" b="1" dirty="0" smtClean="0">
                <a:solidFill>
                  <a:srgbClr val="FFFF00"/>
                </a:solidFill>
                <a:latin typeface="Arial" charset="0"/>
              </a:rPr>
              <a:t>STATUS  </a:t>
            </a:r>
            <a:r>
              <a:rPr lang="en-US" altLang="zh-CN" dirty="0"/>
              <a:t>[WHERE </a:t>
            </a:r>
            <a:r>
              <a:rPr lang="zh-CN" altLang="en-US" dirty="0"/>
              <a:t>条件</a:t>
            </a:r>
            <a:r>
              <a:rPr lang="en-US" altLang="zh-CN" dirty="0" smtClean="0"/>
              <a:t>]</a:t>
            </a:r>
            <a:r>
              <a:rPr lang="zh-CN" altLang="en-US" dirty="0" smtClean="0"/>
              <a:t>；</a:t>
            </a:r>
            <a:endParaRPr lang="en-US" altLang="zh-CN" dirty="0" smtClean="0"/>
          </a:p>
          <a:p>
            <a:pPr marL="355600" lvl="0" indent="-355600" eaLnBrk="1" hangingPunct="1">
              <a:defRPr/>
            </a:pPr>
            <a:r>
              <a:rPr kumimoji="0" lang="zh-CN" altLang="en-US" kern="0" dirty="0" smtClean="0"/>
              <a:t>查看指定存储过程的</a:t>
            </a:r>
            <a:r>
              <a:rPr kumimoji="0" lang="zh-CN" altLang="en-US" kern="0" dirty="0"/>
              <a:t>定义语句等信息。</a:t>
            </a:r>
            <a:endParaRPr kumimoji="0" lang="en-US" altLang="zh-CN" kern="0" dirty="0"/>
          </a:p>
          <a:p>
            <a:pPr marL="0" lvl="0" indent="0" eaLnBrk="1" hangingPunct="1">
              <a:buNone/>
              <a:defRPr/>
            </a:pPr>
            <a:r>
              <a:rPr kumimoji="0" lang="en-US" altLang="zh-CN" kern="0" dirty="0"/>
              <a:t> </a:t>
            </a:r>
            <a:r>
              <a:rPr kumimoji="0" lang="en-US" altLang="zh-CN" kern="0" dirty="0" smtClean="0"/>
              <a:t>   </a:t>
            </a:r>
            <a:r>
              <a:rPr kumimoji="0" lang="en-US" altLang="zh-CN" b="1" dirty="0">
                <a:solidFill>
                  <a:srgbClr val="FFFF00"/>
                </a:solidFill>
                <a:latin typeface="Arial" charset="0"/>
              </a:rPr>
              <a:t>SHOW CREATE </a:t>
            </a:r>
            <a:r>
              <a:rPr kumimoji="0" lang="en-US" altLang="zh-CN" b="1" dirty="0" smtClean="0">
                <a:solidFill>
                  <a:srgbClr val="FFFF00"/>
                </a:solidFill>
                <a:latin typeface="Arial" charset="0"/>
              </a:rPr>
              <a:t>PROCEDURE  </a:t>
            </a:r>
            <a:r>
              <a:rPr lang="zh-CN" altLang="en-US" dirty="0" smtClean="0"/>
              <a:t>数据库</a:t>
            </a:r>
            <a:r>
              <a:rPr lang="en-US" altLang="zh-CN" dirty="0" smtClean="0"/>
              <a:t>.</a:t>
            </a:r>
            <a:r>
              <a:rPr lang="zh-CN" altLang="en-US" dirty="0" smtClean="0"/>
              <a:t>存储过程名；</a:t>
            </a:r>
            <a:endParaRPr lang="en-US" altLang="zh-CN" dirty="0" smtClean="0"/>
          </a:p>
          <a:p>
            <a:pPr marL="355600" lvl="0" indent="-355600" eaLnBrk="1" hangingPunct="1">
              <a:defRPr/>
            </a:pPr>
            <a:r>
              <a:rPr kumimoji="0" lang="zh-CN" altLang="en-US" kern="0" dirty="0" smtClean="0"/>
              <a:t>存储过程创建</a:t>
            </a:r>
            <a:r>
              <a:rPr kumimoji="0" lang="zh-CN" altLang="en-US" kern="0" dirty="0"/>
              <a:t>后被存储在</a:t>
            </a:r>
            <a:r>
              <a:rPr kumimoji="0" lang="en-US" altLang="zh-CN" kern="0" dirty="0" err="1"/>
              <a:t>information_schema</a:t>
            </a:r>
            <a:r>
              <a:rPr kumimoji="0" lang="zh-CN" altLang="en-US" kern="0" dirty="0"/>
              <a:t>数据库的</a:t>
            </a:r>
            <a:r>
              <a:rPr kumimoji="0" lang="en-US" altLang="zh-CN" kern="0" dirty="0"/>
              <a:t>ROUTINES</a:t>
            </a:r>
            <a:r>
              <a:rPr kumimoji="0" lang="zh-CN" altLang="en-US" kern="0" dirty="0"/>
              <a:t>表中，所以可以使用</a:t>
            </a:r>
            <a:r>
              <a:rPr kumimoji="0" lang="en-US" altLang="zh-CN" kern="0" dirty="0"/>
              <a:t>SELECT</a:t>
            </a:r>
            <a:r>
              <a:rPr kumimoji="0" lang="zh-CN" altLang="en-US" kern="0" dirty="0" smtClean="0"/>
              <a:t>命令查询该表来查看存储过程信息。</a:t>
            </a:r>
            <a:endParaRPr kumimoji="0" lang="en-US" altLang="zh-CN" kern="0" dirty="0"/>
          </a:p>
          <a:p>
            <a:pPr marL="355600" lvl="0" indent="-355600" eaLnBrk="1" hangingPunct="1">
              <a:defRPr/>
            </a:pPr>
            <a:r>
              <a:rPr kumimoji="0" lang="zh-CN" altLang="en-US" kern="0" dirty="0"/>
              <a:t>创建</a:t>
            </a:r>
            <a:r>
              <a:rPr kumimoji="0" lang="zh-CN" altLang="en-US" kern="0" dirty="0" smtClean="0"/>
              <a:t>好的存储过程的</a:t>
            </a:r>
            <a:r>
              <a:rPr kumimoji="0" lang="zh-CN" altLang="en-US" kern="0" dirty="0"/>
              <a:t>源代码被存放在系统数据库</a:t>
            </a:r>
            <a:r>
              <a:rPr kumimoji="0" lang="en-US" altLang="zh-CN" kern="0" dirty="0" err="1"/>
              <a:t>mysql</a:t>
            </a:r>
            <a:r>
              <a:rPr kumimoji="0" lang="zh-CN" altLang="en-US" kern="0" dirty="0"/>
              <a:t>的</a:t>
            </a:r>
            <a:r>
              <a:rPr kumimoji="0" lang="en-US" altLang="zh-CN" kern="0" dirty="0" err="1"/>
              <a:t>proc</a:t>
            </a:r>
            <a:r>
              <a:rPr kumimoji="0" lang="zh-CN" altLang="en-US" kern="0" dirty="0"/>
              <a:t>表中，</a:t>
            </a:r>
            <a:r>
              <a:rPr kumimoji="0" lang="zh-CN" altLang="en-US" kern="0" dirty="0" smtClean="0"/>
              <a:t>所以可以</a:t>
            </a:r>
            <a:r>
              <a:rPr kumimoji="0" lang="zh-CN" altLang="en-US" kern="0" dirty="0"/>
              <a:t>使用</a:t>
            </a:r>
            <a:r>
              <a:rPr kumimoji="0" lang="en-US" altLang="zh-CN" kern="0" dirty="0"/>
              <a:t>SELECT</a:t>
            </a:r>
            <a:r>
              <a:rPr kumimoji="0" lang="zh-CN" altLang="en-US" kern="0" dirty="0"/>
              <a:t>命令来</a:t>
            </a:r>
            <a:r>
              <a:rPr kumimoji="0" lang="zh-CN" altLang="en-US" kern="0" dirty="0" smtClean="0"/>
              <a:t>查询该表获得存储过程的</a:t>
            </a:r>
            <a:r>
              <a:rPr kumimoji="0" lang="zh-CN" altLang="en-US" kern="0" dirty="0"/>
              <a:t>信息。</a:t>
            </a:r>
          </a:p>
          <a:p>
            <a:pPr marL="0" lvl="0" indent="0" eaLnBrk="1" hangingPunct="1">
              <a:buNone/>
              <a:defRPr/>
            </a:pPr>
            <a:endParaRPr kumimoji="0" lang="zh-CN" altLang="en-US" b="0" i="0" u="none" strike="noStrike" kern="0" cap="none" spc="0" normalizeH="0" baseline="0" noProof="0" dirty="0" smtClean="0">
              <a:ln>
                <a:noFill/>
              </a:ln>
              <a:solidFill>
                <a:srgbClr val="CCFFCC"/>
              </a:solidFill>
              <a:effectLst>
                <a:outerShdw blurRad="38100" dist="38100" dir="2700000" algn="tl">
                  <a:srgbClr val="000000"/>
                </a:outerShdw>
              </a:effectLst>
              <a:uLnTx/>
              <a:uFillTx/>
            </a:endParaRPr>
          </a:p>
        </p:txBody>
      </p:sp>
    </p:spTree>
    <p:extLst>
      <p:ext uri="{BB962C8B-B14F-4D97-AF65-F5344CB8AC3E}">
        <p14:creationId xmlns:p14="http://schemas.microsoft.com/office/powerpoint/2010/main" val="94425577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322317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smtClean="0">
                <a:solidFill>
                  <a:srgbClr val="FFFFCC"/>
                </a:solidFill>
                <a:effectLst>
                  <a:outerShdw blurRad="38100" dist="38100" dir="2700000" algn="tl">
                    <a:srgbClr val="000000"/>
                  </a:outerShdw>
                </a:effectLst>
              </a:rPr>
              <a:t>删除存储过程</a:t>
            </a:r>
            <a:endParaRPr lang="zh-CN" altLang="en-US" sz="4000" b="1" dirty="0">
              <a:solidFill>
                <a:srgbClr val="FFFFCC"/>
              </a:solidFill>
              <a:effectLst>
                <a:outerShdw blurRad="38100" dist="38100" dir="2700000" algn="tl">
                  <a:srgbClr val="000000"/>
                </a:outerShdw>
              </a:effectLst>
            </a:endParaRPr>
          </a:p>
        </p:txBody>
      </p:sp>
      <p:sp>
        <p:nvSpPr>
          <p:cNvPr id="4" name="Rectangle 5"/>
          <p:cNvSpPr>
            <a:spLocks noChangeArrowheads="1"/>
          </p:cNvSpPr>
          <p:nvPr/>
        </p:nvSpPr>
        <p:spPr bwMode="auto">
          <a:xfrm>
            <a:off x="184030" y="2125518"/>
            <a:ext cx="8424862"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lstStyle/>
          <a:p>
            <a:pPr marL="263525" lvl="0" indent="-263525" fontAlgn="auto">
              <a:spcBef>
                <a:spcPct val="50000"/>
              </a:spcBef>
              <a:spcAft>
                <a:spcPct val="0"/>
              </a:spcAft>
              <a:buClr>
                <a:srgbClr val="FFFFFF"/>
              </a:buClr>
              <a:buSzTx/>
              <a:buFont typeface="Wingdings" pitchFamily="2" charset="2"/>
              <a:buChar char="§"/>
              <a:defRPr/>
            </a:pPr>
            <a:r>
              <a:rPr kumimoji="0" lang="en-US" altLang="zh-CN" sz="2800" kern="0" dirty="0" smtClean="0">
                <a:solidFill>
                  <a:prstClr val="white"/>
                </a:solidFill>
                <a:effectLst/>
                <a:latin typeface="Franklin Gothic Book"/>
                <a:ea typeface="黑体" panose="02010609060101010101" pitchFamily="49" charset="-122"/>
              </a:rPr>
              <a:t>IF </a:t>
            </a:r>
            <a:r>
              <a:rPr kumimoji="0" lang="en-US" altLang="zh-CN" sz="2800" kern="0" dirty="0">
                <a:solidFill>
                  <a:prstClr val="white"/>
                </a:solidFill>
                <a:effectLst/>
                <a:latin typeface="Franklin Gothic Book"/>
                <a:ea typeface="黑体" panose="02010609060101010101" pitchFamily="49" charset="-122"/>
              </a:rPr>
              <a:t>EXISTS</a:t>
            </a:r>
            <a:r>
              <a:rPr kumimoji="0" lang="zh-CN" altLang="en-US" sz="2800" kern="0" dirty="0">
                <a:solidFill>
                  <a:prstClr val="white"/>
                </a:solidFill>
                <a:effectLst/>
                <a:latin typeface="Franklin Gothic Book"/>
                <a:ea typeface="黑体" panose="02010609060101010101" pitchFamily="49" charset="-122"/>
              </a:rPr>
              <a:t>短语的作用是在删除时如果被</a:t>
            </a:r>
            <a:r>
              <a:rPr kumimoji="0" lang="zh-CN" altLang="en-US" sz="2800" kern="0">
                <a:solidFill>
                  <a:prstClr val="white"/>
                </a:solidFill>
                <a:effectLst/>
                <a:latin typeface="Franklin Gothic Book"/>
                <a:ea typeface="黑体" panose="02010609060101010101" pitchFamily="49" charset="-122"/>
              </a:rPr>
              <a:t>删除</a:t>
            </a:r>
            <a:r>
              <a:rPr kumimoji="0" lang="zh-CN" altLang="en-US" sz="2800" kern="0" smtClean="0">
                <a:solidFill>
                  <a:prstClr val="white"/>
                </a:solidFill>
                <a:effectLst/>
                <a:latin typeface="Franklin Gothic Book"/>
                <a:ea typeface="黑体" panose="02010609060101010101" pitchFamily="49" charset="-122"/>
              </a:rPr>
              <a:t>的存储过程并不</a:t>
            </a:r>
            <a:r>
              <a:rPr kumimoji="0" lang="zh-CN" altLang="en-US" sz="2800" kern="0" dirty="0">
                <a:solidFill>
                  <a:prstClr val="white"/>
                </a:solidFill>
                <a:effectLst/>
                <a:latin typeface="Franklin Gothic Book"/>
                <a:ea typeface="黑体" panose="02010609060101010101" pitchFamily="49" charset="-122"/>
              </a:rPr>
              <a:t>存在，系统也不用抛出</a:t>
            </a:r>
            <a:r>
              <a:rPr kumimoji="0" lang="zh-CN" altLang="en-US" sz="2800" kern="0">
                <a:solidFill>
                  <a:prstClr val="white"/>
                </a:solidFill>
                <a:effectLst/>
                <a:latin typeface="Franklin Gothic Book"/>
                <a:ea typeface="黑体" panose="02010609060101010101" pitchFamily="49" charset="-122"/>
              </a:rPr>
              <a:t>因</a:t>
            </a:r>
            <a:r>
              <a:rPr kumimoji="0" lang="zh-CN" altLang="en-US" sz="2800" kern="0" smtClean="0">
                <a:solidFill>
                  <a:prstClr val="white"/>
                </a:solidFill>
                <a:effectLst/>
                <a:latin typeface="Franklin Gothic Book"/>
                <a:ea typeface="黑体" panose="02010609060101010101" pitchFamily="49" charset="-122"/>
              </a:rPr>
              <a:t>找不到存储过程而</a:t>
            </a:r>
            <a:r>
              <a:rPr kumimoji="0" lang="zh-CN" altLang="en-US" sz="2800" kern="0" dirty="0">
                <a:solidFill>
                  <a:prstClr val="white"/>
                </a:solidFill>
                <a:effectLst/>
                <a:latin typeface="Franklin Gothic Book"/>
                <a:ea typeface="黑体" panose="02010609060101010101" pitchFamily="49" charset="-122"/>
              </a:rPr>
              <a:t>删除失败的错误。</a:t>
            </a:r>
          </a:p>
        </p:txBody>
      </p:sp>
      <p:sp>
        <p:nvSpPr>
          <p:cNvPr id="6" name="Rectangle 6"/>
          <p:cNvSpPr>
            <a:spLocks noChangeArrowheads="1"/>
          </p:cNvSpPr>
          <p:nvPr/>
        </p:nvSpPr>
        <p:spPr bwMode="auto">
          <a:xfrm>
            <a:off x="501650" y="4883094"/>
            <a:ext cx="7731125" cy="1198563"/>
          </a:xfrm>
          <a:prstGeom prst="rect">
            <a:avLst/>
          </a:prstGeom>
          <a:noFill/>
          <a:ln w="9525">
            <a:noFill/>
            <a:miter lim="800000"/>
            <a:headEnd/>
            <a:tailEnd/>
          </a:ln>
          <a:effectLst/>
        </p:spPr>
        <p:txBody>
          <a:bodyPr/>
          <a:lstStyle/>
          <a:p>
            <a:pPr lvl="0" algn="just" fontAlgn="auto">
              <a:spcBef>
                <a:spcPts val="0"/>
              </a:spcBef>
              <a:spcAft>
                <a:spcPct val="15000"/>
              </a:spcAft>
              <a:buClr>
                <a:srgbClr val="FFFFFF"/>
              </a:buClr>
              <a:buSzPct val="85000"/>
              <a:defRPr/>
            </a:pPr>
            <a:r>
              <a:rPr kumimoji="0" lang="zh-CN"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删除名称为</a:t>
            </a:r>
            <a:r>
              <a:rPr kumimoji="0" lang="zh-CN" altLang="en-US"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Arial"/>
                <a:ea typeface="黑体" panose="02010609060101010101" pitchFamily="49" charset="-122"/>
                <a:cs typeface="+mn-cs"/>
              </a:rPr>
              <a:t>“</a:t>
            </a:r>
            <a:r>
              <a:rPr kumimoji="0" lang="en-US" altLang="zh-CN" sz="2800" kern="0" dirty="0" err="1">
                <a:solidFill>
                  <a:srgbClr val="FFFFCC"/>
                </a:solidFill>
                <a:effectLst>
                  <a:outerShdw blurRad="38100" dist="38100" dir="2700000" algn="tl">
                    <a:srgbClr val="000000"/>
                  </a:outerShdw>
                </a:effectLst>
                <a:latin typeface="Franklin Gothic Book"/>
                <a:ea typeface="黑体" panose="02010609060101010101" pitchFamily="49" charset="-122"/>
              </a:rPr>
              <a:t>p_varjob</a:t>
            </a:r>
            <a:r>
              <a:rPr kumimoji="0" lang="en-US" altLang="zh-CN" sz="2800" b="0" i="0" u="none" strike="noStrike" kern="0" cap="none" spc="0" normalizeH="0" baseline="0" noProof="0" smtClean="0">
                <a:ln>
                  <a:noFill/>
                </a:ln>
                <a:solidFill>
                  <a:srgbClr val="FFFFCC"/>
                </a:solidFill>
                <a:effectLst>
                  <a:outerShdw blurRad="38100" dist="38100" dir="2700000" algn="tl">
                    <a:srgbClr val="000000"/>
                  </a:outerShdw>
                </a:effectLst>
                <a:uLnTx/>
                <a:uFillTx/>
                <a:latin typeface="Arial"/>
                <a:ea typeface="黑体" panose="02010609060101010101" pitchFamily="49" charset="-122"/>
                <a:cs typeface="+mn-cs"/>
              </a:rPr>
              <a:t>”</a:t>
            </a:r>
            <a:r>
              <a:rPr kumimoji="0" lang="zh-CN" altLang="en-US" sz="2800" b="0" i="0" u="none" strike="noStrike" kern="0" cap="none" spc="0" normalizeH="0" baseline="0" noProof="0" smtClean="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的</a:t>
            </a:r>
            <a:r>
              <a:rPr kumimoji="0" lang="zh-CN" altLang="en-US" sz="2800" kern="0" smtClean="0">
                <a:solidFill>
                  <a:srgbClr val="FFFFCC"/>
                </a:solidFill>
                <a:effectLst>
                  <a:outerShdw blurRad="38100" dist="38100" dir="2700000" algn="tl">
                    <a:srgbClr val="000000"/>
                  </a:outerShdw>
                </a:effectLst>
                <a:latin typeface="Franklin Gothic Book"/>
                <a:ea typeface="黑体" panose="02010609060101010101" pitchFamily="49" charset="-122"/>
              </a:rPr>
              <a:t>存储过程</a:t>
            </a:r>
            <a:endParaRPr kumimoji="0" lang="zh-CN"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7" name="Rectangle 7"/>
          <p:cNvSpPr>
            <a:spLocks noChangeArrowheads="1"/>
          </p:cNvSpPr>
          <p:nvPr/>
        </p:nvSpPr>
        <p:spPr bwMode="auto">
          <a:xfrm>
            <a:off x="539750" y="5414841"/>
            <a:ext cx="7416800" cy="647700"/>
          </a:xfrm>
          <a:prstGeom prst="rect">
            <a:avLst/>
          </a:prstGeom>
          <a:noFill/>
          <a:ln w="9525">
            <a:noFill/>
            <a:miter lim="800000"/>
            <a:headEnd/>
            <a:tailEnd/>
          </a:ln>
          <a:effectLst/>
        </p:spPr>
        <p:txBody>
          <a:bodyPr/>
          <a:lstStyle/>
          <a:p>
            <a:pPr lvl="0" algn="just" fontAlgn="auto">
              <a:spcBef>
                <a:spcPts val="0"/>
              </a:spcBef>
              <a:spcAft>
                <a:spcPct val="0"/>
              </a:spcAft>
              <a:buClr>
                <a:srgbClr val="FFFFFF"/>
              </a:buClr>
              <a:buSzPct val="85000"/>
              <a:defRPr/>
            </a:pP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DROP </a:t>
            </a:r>
            <a:r>
              <a:rPr kumimoji="0" lang="en-US" altLang="zh-CN" sz="2800" kern="0" dirty="0">
                <a:solidFill>
                  <a:srgbClr val="99FF33"/>
                </a:solidFill>
                <a:effectLst>
                  <a:outerShdw blurRad="38100" dist="38100" dir="2700000" algn="tl">
                    <a:srgbClr val="000000"/>
                  </a:outerShdw>
                </a:effectLst>
                <a:latin typeface="Franklin Gothic Book"/>
                <a:ea typeface="黑体" panose="02010609060101010101" pitchFamily="49" charset="-122"/>
              </a:rPr>
              <a:t>PROCEDURE  </a:t>
            </a:r>
            <a:r>
              <a:rPr kumimoji="0" lang="en-US" altLang="zh-CN" sz="2800" kern="0" dirty="0" err="1">
                <a:solidFill>
                  <a:srgbClr val="99FF33"/>
                </a:solidFill>
                <a:effectLst>
                  <a:outerShdw blurRad="38100" dist="38100" dir="2700000" algn="tl">
                    <a:srgbClr val="000000"/>
                  </a:outerShdw>
                </a:effectLst>
                <a:latin typeface="Franklin Gothic Book"/>
                <a:ea typeface="黑体" panose="02010609060101010101" pitchFamily="49" charset="-122"/>
              </a:rPr>
              <a:t>p_varjob</a:t>
            </a:r>
            <a:r>
              <a:rPr kumimoji="0" lang="en-US" altLang="zh-CN" sz="2800" kern="0" dirty="0">
                <a:solidFill>
                  <a:srgbClr val="99FF33"/>
                </a:solidFill>
                <a:effectLst>
                  <a:outerShdw blurRad="38100" dist="38100" dir="2700000" algn="tl">
                    <a:srgbClr val="000000"/>
                  </a:outerShdw>
                </a:effectLst>
                <a:latin typeface="Franklin Gothic Book"/>
                <a:ea typeface="黑体" panose="02010609060101010101" pitchFamily="49" charset="-122"/>
              </a:rPr>
              <a:t> </a:t>
            </a:r>
            <a:endPar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黑体" panose="02010609060101010101" pitchFamily="49" charset="-122"/>
              <a:cs typeface="+mn-cs"/>
            </a:endParaRPr>
          </a:p>
        </p:txBody>
      </p:sp>
      <p:sp>
        <p:nvSpPr>
          <p:cNvPr id="8" name="Rectangle 4"/>
          <p:cNvSpPr txBox="1">
            <a:spLocks noChangeArrowheads="1"/>
          </p:cNvSpPr>
          <p:nvPr/>
        </p:nvSpPr>
        <p:spPr bwMode="auto">
          <a:xfrm>
            <a:off x="323528" y="1010722"/>
            <a:ext cx="8715990" cy="11757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10000"/>
              </a:lnSpc>
              <a:spcAft>
                <a:spcPct val="0"/>
              </a:spcAft>
              <a:buNone/>
              <a:defRPr/>
            </a:pPr>
            <a:r>
              <a:rPr kumimoji="0" lang="en-US" altLang="zh-CN" sz="3200" b="1" dirty="0" smtClean="0">
                <a:solidFill>
                  <a:srgbClr val="FFFF00"/>
                </a:solidFill>
                <a:latin typeface="Arial" charset="0"/>
              </a:rPr>
              <a:t>DROP</a:t>
            </a:r>
            <a:r>
              <a:rPr kumimoji="0" lang="en-US" altLang="zh-CN" sz="3200" b="1" dirty="0">
                <a:solidFill>
                  <a:srgbClr val="FFFF00"/>
                </a:solidFill>
                <a:latin typeface="Arial" charset="0"/>
              </a:rPr>
              <a:t> PROCEDURE</a:t>
            </a:r>
            <a:r>
              <a:rPr lang="en-US" altLang="zh-CN" sz="3200" dirty="0"/>
              <a:t> [IF EXISTS</a:t>
            </a:r>
            <a:r>
              <a:rPr lang="en-US" altLang="zh-CN" sz="3200"/>
              <a:t>] </a:t>
            </a:r>
            <a:r>
              <a:rPr lang="zh-CN" altLang="en-US" sz="3200" smtClean="0"/>
              <a:t>存储过程名</a:t>
            </a:r>
            <a:r>
              <a:rPr lang="en-US" altLang="zh-CN" sz="3200" dirty="0"/>
              <a:t>;</a:t>
            </a:r>
          </a:p>
          <a:p>
            <a:pPr marL="342900" marR="0" lvl="0" indent="-342900" algn="l" defTabSz="914400" rtl="0" eaLnBrk="1" fontAlgn="base" latinLnBrk="0" hangingPunct="1">
              <a:lnSpc>
                <a:spcPct val="110000"/>
              </a:lnSpc>
              <a:spcBef>
                <a:spcPct val="0"/>
              </a:spcBef>
              <a:spcAft>
                <a:spcPct val="0"/>
              </a:spcAft>
              <a:buClr>
                <a:srgbClr val="66FF33"/>
              </a:buClr>
              <a:buSzPct val="85000"/>
              <a:buFont typeface="Wingdings" pitchFamily="2" charset="2"/>
              <a:buNone/>
              <a:tabLst/>
              <a:defRPr/>
            </a:pPr>
            <a:r>
              <a:rPr kumimoji="0" lang="en-US" altLang="zh-CN" sz="32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rPr>
              <a:t> </a:t>
            </a:r>
            <a:endParaRPr kumimoji="0" lang="en-US" altLang="en-US" sz="32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p:txBody>
      </p:sp>
    </p:spTree>
    <p:extLst>
      <p:ext uri="{BB962C8B-B14F-4D97-AF65-F5344CB8AC3E}">
        <p14:creationId xmlns:p14="http://schemas.microsoft.com/office/powerpoint/2010/main" val="345928585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1684289"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smtClean="0">
                <a:solidFill>
                  <a:srgbClr val="FFFFCC"/>
                </a:solidFill>
                <a:effectLst>
                  <a:outerShdw blurRad="38100" dist="38100" dir="2700000" algn="tl">
                    <a:srgbClr val="000000"/>
                  </a:outerShdw>
                </a:effectLst>
              </a:rPr>
              <a:t>触发器</a:t>
            </a:r>
            <a:endParaRPr lang="zh-CN" altLang="en-US" sz="4000" b="1" dirty="0">
              <a:solidFill>
                <a:srgbClr val="FFFFCC"/>
              </a:solidFill>
              <a:effectLst>
                <a:outerShdw blurRad="38100" dist="38100" dir="2700000" algn="tl">
                  <a:srgbClr val="000000"/>
                </a:outerShdw>
              </a:effectLst>
            </a:endParaRPr>
          </a:p>
        </p:txBody>
      </p:sp>
      <p:sp>
        <p:nvSpPr>
          <p:cNvPr id="6" name="Rectangle 4"/>
          <p:cNvSpPr txBox="1">
            <a:spLocks noChangeArrowheads="1"/>
          </p:cNvSpPr>
          <p:nvPr/>
        </p:nvSpPr>
        <p:spPr bwMode="auto">
          <a:xfrm>
            <a:off x="161079" y="1196752"/>
            <a:ext cx="8640763"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l"/>
              <a:defRPr sz="24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0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9pPr>
          </a:lstStyle>
          <a:p>
            <a:pPr eaLnBrk="1" hangingPunct="1">
              <a:spcAft>
                <a:spcPct val="35000"/>
              </a:spcAft>
              <a:defRPr/>
            </a:pPr>
            <a:r>
              <a:rPr kumimoji="0" lang="zh-CN" altLang="en-US" kern="0" dirty="0" smtClean="0">
                <a:latin typeface="Arial Narrow" pitchFamily="34" charset="0"/>
              </a:rPr>
              <a:t>触发器是一种随既定条件发生而自动执行的特殊类型的无参数的存储过程。</a:t>
            </a:r>
          </a:p>
          <a:p>
            <a:pPr eaLnBrk="1" hangingPunct="1">
              <a:spcAft>
                <a:spcPct val="35000"/>
              </a:spcAft>
              <a:defRPr/>
            </a:pPr>
            <a:r>
              <a:rPr kumimoji="0" lang="zh-CN" altLang="en-US" kern="0" dirty="0" smtClean="0">
                <a:latin typeface="Arial Narrow" pitchFamily="34" charset="0"/>
              </a:rPr>
              <a:t>最常见的是</a:t>
            </a:r>
            <a:r>
              <a:rPr kumimoji="0" lang="en-US" altLang="zh-CN" kern="0" dirty="0" smtClean="0">
                <a:latin typeface="Arial Narrow" pitchFamily="34" charset="0"/>
              </a:rPr>
              <a:t>DML</a:t>
            </a:r>
            <a:r>
              <a:rPr kumimoji="0" lang="zh-CN" altLang="en-US" kern="0" dirty="0" smtClean="0">
                <a:latin typeface="Arial Narrow" pitchFamily="34" charset="0"/>
              </a:rPr>
              <a:t>触发器，其触发条件可以为</a:t>
            </a:r>
            <a:r>
              <a:rPr kumimoji="0" lang="en-US" altLang="zh-CN" kern="0" dirty="0" smtClean="0">
                <a:solidFill>
                  <a:srgbClr val="CCFFFF"/>
                </a:solidFill>
                <a:latin typeface="Arial Narrow" pitchFamily="34" charset="0"/>
              </a:rPr>
              <a:t>INSERT</a:t>
            </a:r>
            <a:r>
              <a:rPr kumimoji="0" lang="zh-CN" altLang="en-US" kern="0" dirty="0" smtClean="0">
                <a:latin typeface="Arial Narrow" pitchFamily="34" charset="0"/>
              </a:rPr>
              <a:t>、</a:t>
            </a:r>
            <a:r>
              <a:rPr kumimoji="0" lang="en-US" altLang="zh-CN" kern="0" dirty="0" smtClean="0">
                <a:solidFill>
                  <a:srgbClr val="CCFFFF"/>
                </a:solidFill>
                <a:latin typeface="Arial Narrow" pitchFamily="34" charset="0"/>
              </a:rPr>
              <a:t>UPDATE</a:t>
            </a:r>
            <a:r>
              <a:rPr kumimoji="0" lang="zh-CN" altLang="en-US" kern="0" dirty="0" smtClean="0">
                <a:latin typeface="Arial Narrow" pitchFamily="34" charset="0"/>
              </a:rPr>
              <a:t>、</a:t>
            </a:r>
            <a:r>
              <a:rPr kumimoji="0" lang="en-US" altLang="zh-CN" kern="0" dirty="0" smtClean="0">
                <a:solidFill>
                  <a:srgbClr val="CCFFFF"/>
                </a:solidFill>
                <a:latin typeface="Arial Narrow" pitchFamily="34" charset="0"/>
              </a:rPr>
              <a:t>DELETE</a:t>
            </a:r>
            <a:r>
              <a:rPr kumimoji="0" lang="zh-CN" altLang="en-US" kern="0" dirty="0" smtClean="0">
                <a:latin typeface="Arial Narrow" pitchFamily="34" charset="0"/>
              </a:rPr>
              <a:t>之一，表示在对表中数据进行插入、修改、删除时自动触发</a:t>
            </a:r>
            <a:endParaRPr kumimoji="0" lang="en-US" altLang="zh-CN" kern="0" dirty="0" smtClean="0">
              <a:latin typeface="Arial Narrow" pitchFamily="34" charset="0"/>
            </a:endParaRPr>
          </a:p>
          <a:p>
            <a:pPr eaLnBrk="1" hangingPunct="1">
              <a:spcAft>
                <a:spcPct val="35000"/>
              </a:spcAft>
              <a:defRPr/>
            </a:pPr>
            <a:r>
              <a:rPr kumimoji="0" lang="zh-CN" altLang="en-US" kern="0" dirty="0" smtClean="0">
                <a:latin typeface="Arial Narrow" pitchFamily="34" charset="0"/>
              </a:rPr>
              <a:t>触发器的执行单元可以在更新后自动触发（</a:t>
            </a:r>
            <a:r>
              <a:rPr kumimoji="0" lang="en-US" altLang="zh-CN" kern="0" dirty="0" smtClean="0">
                <a:solidFill>
                  <a:srgbClr val="99FF33"/>
                </a:solidFill>
                <a:latin typeface="Arial Narrow" pitchFamily="34" charset="0"/>
              </a:rPr>
              <a:t>AFTER</a:t>
            </a:r>
            <a:r>
              <a:rPr kumimoji="0" lang="zh-CN" altLang="en-US" kern="0" dirty="0" smtClean="0">
                <a:latin typeface="Arial Narrow" pitchFamily="34" charset="0"/>
              </a:rPr>
              <a:t>型，适用于更新后进一步操作其它数据），或者更新前自动触发</a:t>
            </a:r>
            <a:r>
              <a:rPr kumimoji="0" lang="en-US" altLang="zh-CN" kern="0" dirty="0" smtClean="0">
                <a:latin typeface="Arial Narrow" pitchFamily="34" charset="0"/>
              </a:rPr>
              <a:t>(</a:t>
            </a:r>
            <a:r>
              <a:rPr kumimoji="0" lang="en-US" altLang="zh-CN" kern="0" dirty="0" smtClean="0">
                <a:solidFill>
                  <a:srgbClr val="99FF33"/>
                </a:solidFill>
                <a:latin typeface="Arial Narrow" pitchFamily="34" charset="0"/>
              </a:rPr>
              <a:t>BEFORE</a:t>
            </a:r>
            <a:r>
              <a:rPr kumimoji="0" lang="zh-CN" altLang="en-US" kern="0" dirty="0" smtClean="0">
                <a:latin typeface="Arial Narrow" pitchFamily="34" charset="0"/>
              </a:rPr>
              <a:t>型，适用于更新前检查或设置好数据再让系统完成更新</a:t>
            </a:r>
            <a:r>
              <a:rPr kumimoji="0" lang="en-US" altLang="zh-CN" kern="0" dirty="0" smtClean="0">
                <a:latin typeface="Arial Narrow" pitchFamily="34" charset="0"/>
              </a:rPr>
              <a:t>)</a:t>
            </a:r>
            <a:r>
              <a:rPr kumimoji="0" lang="zh-CN" altLang="en-US" kern="0" dirty="0" smtClean="0">
                <a:latin typeface="Arial Narrow" pitchFamily="34" charset="0"/>
              </a:rPr>
              <a:t> 。 </a:t>
            </a:r>
          </a:p>
          <a:p>
            <a:pPr eaLnBrk="1" hangingPunct="1">
              <a:spcAft>
                <a:spcPct val="35000"/>
              </a:spcAft>
              <a:defRPr/>
            </a:pPr>
            <a:r>
              <a:rPr kumimoji="0" lang="zh-CN" altLang="en-US" kern="0" dirty="0" smtClean="0">
                <a:latin typeface="Arial Narrow" pitchFamily="34" charset="0"/>
              </a:rPr>
              <a:t>每一张表都可以设置多个</a:t>
            </a:r>
            <a:r>
              <a:rPr kumimoji="0" lang="en-US" altLang="zh-CN" kern="0" dirty="0" smtClean="0">
                <a:latin typeface="Arial Narrow" pitchFamily="34" charset="0"/>
              </a:rPr>
              <a:t>DML</a:t>
            </a:r>
            <a:r>
              <a:rPr kumimoji="0" lang="zh-CN" altLang="en-US" kern="0" dirty="0" smtClean="0">
                <a:latin typeface="Arial Narrow" pitchFamily="34" charset="0"/>
              </a:rPr>
              <a:t>触发器。</a:t>
            </a:r>
          </a:p>
        </p:txBody>
      </p:sp>
    </p:spTree>
    <p:extLst>
      <p:ext uri="{BB962C8B-B14F-4D97-AF65-F5344CB8AC3E}">
        <p14:creationId xmlns:p14="http://schemas.microsoft.com/office/powerpoint/2010/main" val="716827531"/>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smtClean="0">
                <a:solidFill>
                  <a:srgbClr val="FFFFCC"/>
                </a:solidFill>
                <a:effectLst>
                  <a:outerShdw blurRad="38100" dist="38100" dir="2700000" algn="tl">
                    <a:srgbClr val="000000"/>
                  </a:outerShdw>
                </a:effectLst>
              </a:rPr>
              <a:t>创建触发器</a:t>
            </a:r>
            <a:endParaRPr lang="zh-CN" altLang="en-US" sz="4000" b="1" dirty="0">
              <a:solidFill>
                <a:srgbClr val="FFFFCC"/>
              </a:solidFill>
              <a:effectLst>
                <a:outerShdw blurRad="38100" dist="38100" dir="2700000" algn="tl">
                  <a:srgbClr val="000000"/>
                </a:outerShdw>
              </a:effectLst>
            </a:endParaRPr>
          </a:p>
        </p:txBody>
      </p:sp>
      <p:sp>
        <p:nvSpPr>
          <p:cNvPr id="6" name="Rectangle 3"/>
          <p:cNvSpPr txBox="1">
            <a:spLocks noChangeArrowheads="1"/>
          </p:cNvSpPr>
          <p:nvPr/>
        </p:nvSpPr>
        <p:spPr bwMode="auto">
          <a:xfrm>
            <a:off x="395536" y="1052736"/>
            <a:ext cx="8640960" cy="273630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nSpc>
                <a:spcPct val="90000"/>
              </a:lnSpc>
              <a:buFontTx/>
              <a:buNone/>
            </a:pPr>
            <a:r>
              <a:rPr kumimoji="0" lang="en-US" altLang="zh-CN" sz="3000" b="1" dirty="0">
                <a:solidFill>
                  <a:srgbClr val="FFFF00"/>
                </a:solidFill>
                <a:latin typeface="Arial" charset="0"/>
              </a:rPr>
              <a:t>CREATE </a:t>
            </a:r>
            <a:r>
              <a:rPr kumimoji="0" lang="en-US" altLang="zh-CN" sz="3000" b="1" dirty="0" smtClean="0">
                <a:solidFill>
                  <a:srgbClr val="FFFF00"/>
                </a:solidFill>
                <a:latin typeface="Arial" charset="0"/>
              </a:rPr>
              <a:t>TRIGGER  </a:t>
            </a:r>
            <a:r>
              <a:rPr lang="zh-CN" altLang="en-US" dirty="0" smtClean="0"/>
              <a:t>触发器</a:t>
            </a:r>
            <a:endParaRPr lang="en-US" altLang="zh-CN" dirty="0"/>
          </a:p>
          <a:p>
            <a:pPr>
              <a:lnSpc>
                <a:spcPct val="90000"/>
              </a:lnSpc>
              <a:buFontTx/>
              <a:buNone/>
            </a:pPr>
            <a:r>
              <a:rPr lang="en-US" altLang="zh-CN" dirty="0" smtClean="0"/>
              <a:t>AFTER/BEFORE  INSERT/UPDATE/DELETE </a:t>
            </a:r>
          </a:p>
          <a:p>
            <a:pPr>
              <a:lnSpc>
                <a:spcPct val="90000"/>
              </a:lnSpc>
              <a:buFontTx/>
              <a:buNone/>
            </a:pPr>
            <a:r>
              <a:rPr kumimoji="0" lang="en-US" altLang="zh-CN" sz="3000" b="1" dirty="0">
                <a:solidFill>
                  <a:srgbClr val="FFFF00"/>
                </a:solidFill>
                <a:latin typeface="Arial" charset="0"/>
              </a:rPr>
              <a:t>ON</a:t>
            </a:r>
            <a:r>
              <a:rPr lang="en-US" altLang="zh-CN" dirty="0" smtClean="0"/>
              <a:t> </a:t>
            </a:r>
            <a:r>
              <a:rPr lang="zh-CN" altLang="en-US" dirty="0"/>
              <a:t>表名</a:t>
            </a:r>
          </a:p>
          <a:p>
            <a:pPr>
              <a:lnSpc>
                <a:spcPct val="90000"/>
              </a:lnSpc>
              <a:buFontTx/>
              <a:buNone/>
            </a:pPr>
            <a:r>
              <a:rPr lang="en-US" altLang="zh-CN" dirty="0"/>
              <a:t>FOR EACH ROW</a:t>
            </a:r>
          </a:p>
          <a:p>
            <a:pPr>
              <a:lnSpc>
                <a:spcPct val="90000"/>
              </a:lnSpc>
              <a:buFontTx/>
              <a:buNone/>
            </a:pPr>
            <a:r>
              <a:rPr lang="en-US" altLang="zh-CN" dirty="0"/>
              <a:t>BEGIN </a:t>
            </a:r>
          </a:p>
          <a:p>
            <a:pPr>
              <a:lnSpc>
                <a:spcPct val="90000"/>
              </a:lnSpc>
              <a:buFontTx/>
              <a:buNone/>
            </a:pPr>
            <a:r>
              <a:rPr lang="en-US" altLang="zh-CN" dirty="0"/>
              <a:t>  </a:t>
            </a:r>
            <a:r>
              <a:rPr lang="zh-CN" altLang="en-US" dirty="0"/>
              <a:t>语句序列</a:t>
            </a:r>
            <a:r>
              <a:rPr lang="en-US" altLang="zh-CN" dirty="0"/>
              <a:t>;</a:t>
            </a:r>
          </a:p>
          <a:p>
            <a:pPr>
              <a:lnSpc>
                <a:spcPct val="90000"/>
              </a:lnSpc>
              <a:buFontTx/>
              <a:buNone/>
            </a:pPr>
            <a:r>
              <a:rPr lang="en-US" altLang="zh-CN" dirty="0"/>
              <a:t>END;</a:t>
            </a:r>
          </a:p>
          <a:p>
            <a:pPr lvl="0" eaLnBrk="1" hangingPunct="1">
              <a:lnSpc>
                <a:spcPct val="120000"/>
              </a:lnSpc>
              <a:spcAft>
                <a:spcPct val="0"/>
              </a:spcAft>
              <a:buNone/>
              <a:defRPr/>
            </a:pPr>
            <a:endParaRPr kumimoji="0" lang="en-US" altLang="en-US" sz="3000"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charset="0"/>
              <a:ea typeface="微软雅黑" pitchFamily="34" charset="-122"/>
              <a:cs typeface="+mn-cs"/>
            </a:endParaRPr>
          </a:p>
        </p:txBody>
      </p:sp>
      <p:sp>
        <p:nvSpPr>
          <p:cNvPr id="7" name="Rectangle 26"/>
          <p:cNvSpPr>
            <a:spLocks noChangeArrowheads="1"/>
          </p:cNvSpPr>
          <p:nvPr/>
        </p:nvSpPr>
        <p:spPr bwMode="auto">
          <a:xfrm>
            <a:off x="3851920" y="3429000"/>
            <a:ext cx="4680520" cy="2813078"/>
          </a:xfrm>
          <a:prstGeom prst="rect">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wrap="square" anchor="ctr">
            <a:spAutoFit/>
          </a:bodyPr>
          <a:lstStyle/>
          <a:p>
            <a:pPr marL="360363" marR="0" lvl="0" indent="-360363" defTabSz="914400" eaLnBrk="1" fontAlgn="auto" latinLnBrk="0" hangingPunct="1">
              <a:lnSpc>
                <a:spcPct val="100000"/>
              </a:lnSpc>
              <a:spcBef>
                <a:spcPts val="0"/>
              </a:spcBef>
              <a:spcAft>
                <a:spcPct val="40000"/>
              </a:spcAft>
              <a:buClr>
                <a:srgbClr val="66FF33"/>
              </a:buClr>
              <a:buSzPct val="85000"/>
              <a:buFont typeface="Wingdings" pitchFamily="2" charset="2"/>
              <a:buBlip>
                <a:blip r:embed="rId2"/>
              </a:buBlip>
              <a:tabLst/>
              <a:defRPr/>
            </a:pPr>
            <a:r>
              <a:rPr kumimoji="0" lang="en-US" altLang="zh-CN" sz="26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Times New Roman" pitchFamily="18" charset="0"/>
              </a:rPr>
              <a:t>INSERT/UPDATE</a:t>
            </a:r>
            <a:r>
              <a:rPr kumimoji="0" lang="en-US" altLang="zh-CN" sz="2600" kern="0" dirty="0" smtClean="0">
                <a:solidFill>
                  <a:srgbClr val="FFFFCC"/>
                </a:solidFill>
                <a:effectLst>
                  <a:outerShdw blurRad="38100" dist="38100" dir="2700000" algn="tl">
                    <a:srgbClr val="000000"/>
                  </a:outerShdw>
                </a:effectLst>
                <a:latin typeface="Times New Roman" pitchFamily="18" charset="0"/>
              </a:rPr>
              <a:t>/</a:t>
            </a:r>
            <a:r>
              <a:rPr kumimoji="0" lang="en-US" altLang="zh-CN" sz="26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Times New Roman" pitchFamily="18" charset="0"/>
              </a:rPr>
              <a:t>DELETE</a:t>
            </a:r>
            <a:r>
              <a:rPr kumimoji="0" lang="zh-CN" altLang="en-US" sz="2600" b="0" i="0" u="none" strike="noStrike" kern="0" cap="none" spc="0" normalizeH="0" baseline="0" dirty="0" smtClean="0">
                <a:ln>
                  <a:noFill/>
                </a:ln>
                <a:solidFill>
                  <a:srgbClr val="FFFFCC"/>
                </a:solidFill>
                <a:effectLst>
                  <a:outerShdw blurRad="38100" dist="38100" dir="2700000" algn="tl">
                    <a:srgbClr val="000000"/>
                  </a:outerShdw>
                </a:effectLst>
                <a:uLnTx/>
                <a:uFillTx/>
                <a:latin typeface="Times New Roman" pitchFamily="18" charset="0"/>
              </a:rPr>
              <a:t>为触发条件</a:t>
            </a:r>
            <a:endParaRPr kumimoji="0" lang="en-US" altLang="zh-CN" sz="2600" b="0" i="0" u="none" strike="noStrike" kern="0" cap="none" spc="0" normalizeH="0" baseline="0" dirty="0" smtClean="0">
              <a:ln>
                <a:noFill/>
              </a:ln>
              <a:solidFill>
                <a:srgbClr val="FFFFCC"/>
              </a:solidFill>
              <a:effectLst>
                <a:outerShdw blurRad="38100" dist="38100" dir="2700000" algn="tl">
                  <a:srgbClr val="000000"/>
                </a:outerShdw>
              </a:effectLst>
              <a:uLnTx/>
              <a:uFillTx/>
              <a:latin typeface="Times New Roman" pitchFamily="18" charset="0"/>
            </a:endParaRPr>
          </a:p>
          <a:p>
            <a:pPr marL="360363" marR="0" lvl="0" indent="-360363" defTabSz="914400" eaLnBrk="1" fontAlgn="auto" latinLnBrk="0" hangingPunct="1">
              <a:lnSpc>
                <a:spcPct val="100000"/>
              </a:lnSpc>
              <a:spcBef>
                <a:spcPts val="0"/>
              </a:spcBef>
              <a:spcAft>
                <a:spcPct val="40000"/>
              </a:spcAft>
              <a:buClr>
                <a:srgbClr val="66FF33"/>
              </a:buClr>
              <a:buSzPct val="85000"/>
              <a:buFont typeface="Wingdings" pitchFamily="2" charset="2"/>
              <a:buBlip>
                <a:blip r:embed="rId2"/>
              </a:buBlip>
              <a:tabLst/>
              <a:defRPr/>
            </a:pPr>
            <a:r>
              <a:rPr kumimoji="0" lang="en-US" altLang="zh-CN" sz="2600" kern="0" noProof="0" dirty="0" smtClean="0">
                <a:solidFill>
                  <a:srgbClr val="FFFFCC"/>
                </a:solidFill>
                <a:effectLst>
                  <a:outerShdw blurRad="38100" dist="38100" dir="2700000" algn="tl">
                    <a:srgbClr val="000000"/>
                  </a:outerShdw>
                </a:effectLst>
                <a:latin typeface="Times New Roman" pitchFamily="18" charset="0"/>
              </a:rPr>
              <a:t>AFTER/BEFORE</a:t>
            </a:r>
            <a:r>
              <a:rPr kumimoji="0" lang="zh-CN" altLang="en-US" sz="2600" kern="0" noProof="0" dirty="0" smtClean="0">
                <a:solidFill>
                  <a:srgbClr val="FFFFCC"/>
                </a:solidFill>
                <a:effectLst>
                  <a:outerShdw blurRad="38100" dist="38100" dir="2700000" algn="tl">
                    <a:srgbClr val="000000"/>
                  </a:outerShdw>
                </a:effectLst>
                <a:latin typeface="Times New Roman" pitchFamily="18" charset="0"/>
              </a:rPr>
              <a:t>定义触发器的执行单元是更新后</a:t>
            </a:r>
            <a:r>
              <a:rPr kumimoji="0" lang="en-US" altLang="zh-CN" sz="2600" kern="0" noProof="0" dirty="0" smtClean="0">
                <a:solidFill>
                  <a:srgbClr val="FFFFCC"/>
                </a:solidFill>
                <a:effectLst>
                  <a:outerShdw blurRad="38100" dist="38100" dir="2700000" algn="tl">
                    <a:srgbClr val="000000"/>
                  </a:outerShdw>
                </a:effectLst>
                <a:latin typeface="Times New Roman" pitchFamily="18" charset="0"/>
              </a:rPr>
              <a:t>/</a:t>
            </a:r>
            <a:r>
              <a:rPr kumimoji="0" lang="zh-CN" altLang="en-US" sz="2600" kern="0" noProof="0" dirty="0" smtClean="0">
                <a:solidFill>
                  <a:srgbClr val="FFFFCC"/>
                </a:solidFill>
                <a:effectLst>
                  <a:outerShdw blurRad="38100" dist="38100" dir="2700000" algn="tl">
                    <a:srgbClr val="000000"/>
                  </a:outerShdw>
                </a:effectLst>
                <a:latin typeface="Times New Roman" pitchFamily="18" charset="0"/>
              </a:rPr>
              <a:t>前执行</a:t>
            </a:r>
            <a:endParaRPr kumimoji="0" lang="en-US" altLang="zh-CN" sz="2600" kern="0" noProof="0" dirty="0" smtClean="0">
              <a:solidFill>
                <a:srgbClr val="FFFFCC"/>
              </a:solidFill>
              <a:effectLst>
                <a:outerShdw blurRad="38100" dist="38100" dir="2700000" algn="tl">
                  <a:srgbClr val="000000"/>
                </a:outerShdw>
              </a:effectLst>
              <a:latin typeface="Times New Roman" pitchFamily="18" charset="0"/>
            </a:endParaRPr>
          </a:p>
          <a:p>
            <a:pPr marL="360363" marR="0" lvl="0" indent="-360363" defTabSz="914400" eaLnBrk="1" fontAlgn="auto" latinLnBrk="0" hangingPunct="1">
              <a:lnSpc>
                <a:spcPct val="100000"/>
              </a:lnSpc>
              <a:spcBef>
                <a:spcPts val="0"/>
              </a:spcBef>
              <a:spcAft>
                <a:spcPct val="40000"/>
              </a:spcAft>
              <a:buClr>
                <a:srgbClr val="66FF33"/>
              </a:buClr>
              <a:buSzPct val="85000"/>
              <a:buFont typeface="Wingdings" pitchFamily="2" charset="2"/>
              <a:buBlip>
                <a:blip r:embed="rId2"/>
              </a:buBlip>
              <a:tabLst/>
              <a:defRPr/>
            </a:pPr>
            <a:r>
              <a:rPr kumimoji="0" lang="en-US" altLang="zh-CN" sz="2600" kern="0" noProof="0" dirty="0" smtClean="0">
                <a:solidFill>
                  <a:srgbClr val="FFFFCC"/>
                </a:solidFill>
                <a:effectLst>
                  <a:outerShdw blurRad="38100" dist="38100" dir="2700000" algn="tl">
                    <a:srgbClr val="000000"/>
                  </a:outerShdw>
                </a:effectLst>
                <a:latin typeface="Times New Roman" pitchFamily="18" charset="0"/>
              </a:rPr>
              <a:t>FOR EACH ROW</a:t>
            </a:r>
            <a:r>
              <a:rPr kumimoji="0" lang="zh-CN" altLang="en-US" sz="2600" kern="0" noProof="0" dirty="0" smtClean="0">
                <a:solidFill>
                  <a:srgbClr val="FFFFCC"/>
                </a:solidFill>
                <a:effectLst>
                  <a:outerShdw blurRad="38100" dist="38100" dir="2700000" algn="tl">
                    <a:srgbClr val="000000"/>
                  </a:outerShdw>
                </a:effectLst>
                <a:latin typeface="Times New Roman" pitchFamily="18" charset="0"/>
              </a:rPr>
              <a:t>表示为行级触发</a:t>
            </a:r>
            <a:endParaRPr kumimoji="0" lang="zh-CN" altLang="en-US" sz="26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Times New Roman" pitchFamily="18" charset="0"/>
            </a:endParaRPr>
          </a:p>
        </p:txBody>
      </p:sp>
    </p:spTree>
    <p:extLst>
      <p:ext uri="{BB962C8B-B14F-4D97-AF65-F5344CB8AC3E}">
        <p14:creationId xmlns:p14="http://schemas.microsoft.com/office/powerpoint/2010/main" val="188410117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3962157"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en-US" altLang="zh-CN" sz="4000" b="1" dirty="0" smtClean="0">
                <a:solidFill>
                  <a:srgbClr val="FFFFCC"/>
                </a:solidFill>
                <a:effectLst>
                  <a:outerShdw blurRad="38100" dist="38100" dir="2700000" algn="tl">
                    <a:srgbClr val="000000"/>
                  </a:outerShdw>
                </a:effectLst>
              </a:rPr>
              <a:t>OLD</a:t>
            </a:r>
            <a:r>
              <a:rPr lang="zh-CN" altLang="en-US" sz="4000" b="1" dirty="0" smtClean="0">
                <a:solidFill>
                  <a:srgbClr val="FFFFCC"/>
                </a:solidFill>
                <a:effectLst>
                  <a:outerShdw blurRad="38100" dist="38100" dir="2700000" algn="tl">
                    <a:srgbClr val="000000"/>
                  </a:outerShdw>
                </a:effectLst>
              </a:rPr>
              <a:t>与</a:t>
            </a:r>
            <a:r>
              <a:rPr lang="en-US" altLang="zh-CN" sz="4000" b="1" dirty="0" smtClean="0">
                <a:solidFill>
                  <a:srgbClr val="FFFFCC"/>
                </a:solidFill>
                <a:effectLst>
                  <a:outerShdw blurRad="38100" dist="38100" dir="2700000" algn="tl">
                    <a:srgbClr val="000000"/>
                  </a:outerShdw>
                </a:effectLst>
              </a:rPr>
              <a:t>NEW</a:t>
            </a:r>
            <a:r>
              <a:rPr lang="zh-CN" altLang="en-US" sz="4000" b="1" dirty="0" smtClean="0">
                <a:solidFill>
                  <a:srgbClr val="FFFFCC"/>
                </a:solidFill>
                <a:effectLst>
                  <a:outerShdw blurRad="38100" dist="38100" dir="2700000" algn="tl">
                    <a:srgbClr val="000000"/>
                  </a:outerShdw>
                </a:effectLst>
              </a:rPr>
              <a:t>对象</a:t>
            </a:r>
            <a:endParaRPr lang="zh-CN" altLang="en-US" sz="4000" b="1" dirty="0">
              <a:solidFill>
                <a:srgbClr val="FFFFCC"/>
              </a:solidFill>
              <a:effectLst>
                <a:outerShdw blurRad="38100" dist="38100" dir="2700000" algn="tl">
                  <a:srgbClr val="000000"/>
                </a:outerShdw>
              </a:effectLst>
            </a:endParaRPr>
          </a:p>
        </p:txBody>
      </p:sp>
      <p:sp>
        <p:nvSpPr>
          <p:cNvPr id="3" name="Rectangle 4"/>
          <p:cNvSpPr txBox="1">
            <a:spLocks noChangeArrowheads="1"/>
          </p:cNvSpPr>
          <p:nvPr/>
        </p:nvSpPr>
        <p:spPr bwMode="auto">
          <a:xfrm>
            <a:off x="161079" y="908720"/>
            <a:ext cx="8640763"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l"/>
              <a:defRPr sz="24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0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9pPr>
          </a:lstStyle>
          <a:p>
            <a:pPr eaLnBrk="1" hangingPunct="1">
              <a:spcAft>
                <a:spcPct val="35000"/>
              </a:spcAft>
              <a:defRPr/>
            </a:pPr>
            <a:r>
              <a:rPr kumimoji="0" lang="en-US" altLang="zh-CN" kern="0" dirty="0">
                <a:latin typeface="Arial Narrow" pitchFamily="34" charset="0"/>
              </a:rPr>
              <a:t>OLD</a:t>
            </a:r>
            <a:r>
              <a:rPr kumimoji="0" lang="zh-CN" altLang="en-US" kern="0" dirty="0">
                <a:latin typeface="Arial Narrow" pitchFamily="34" charset="0"/>
              </a:rPr>
              <a:t>和</a:t>
            </a:r>
            <a:r>
              <a:rPr kumimoji="0" lang="en-US" altLang="zh-CN" kern="0" dirty="0" smtClean="0">
                <a:latin typeface="Arial Narrow" pitchFamily="34" charset="0"/>
              </a:rPr>
              <a:t>NEW</a:t>
            </a:r>
            <a:r>
              <a:rPr kumimoji="0" lang="zh-CN" altLang="en-US" kern="0" dirty="0" smtClean="0">
                <a:latin typeface="Arial Narrow" pitchFamily="34" charset="0"/>
              </a:rPr>
              <a:t>是仅能在触发</a:t>
            </a:r>
            <a:r>
              <a:rPr kumimoji="0" lang="zh-CN" altLang="en-US" kern="0" dirty="0">
                <a:latin typeface="Arial Narrow" pitchFamily="34" charset="0"/>
              </a:rPr>
              <a:t>程序</a:t>
            </a:r>
            <a:r>
              <a:rPr kumimoji="0" lang="zh-CN" altLang="en-US" kern="0" dirty="0" smtClean="0">
                <a:latin typeface="Arial Narrow" pitchFamily="34" charset="0"/>
              </a:rPr>
              <a:t>中使用的两</a:t>
            </a:r>
            <a:r>
              <a:rPr kumimoji="0" lang="zh-CN" altLang="en-US" kern="0" dirty="0">
                <a:latin typeface="Arial Narrow" pitchFamily="34" charset="0"/>
              </a:rPr>
              <a:t>个特殊的系统</a:t>
            </a:r>
            <a:r>
              <a:rPr kumimoji="0" lang="zh-CN" altLang="en-US" kern="0" dirty="0" smtClean="0">
                <a:latin typeface="Arial Narrow" pitchFamily="34" charset="0"/>
              </a:rPr>
              <a:t>对象，</a:t>
            </a:r>
            <a:r>
              <a:rPr kumimoji="0" lang="zh-CN" altLang="en-US" kern="0" dirty="0">
                <a:latin typeface="Arial Narrow" pitchFamily="34" charset="0"/>
              </a:rPr>
              <a:t>用于存放被更新的</a:t>
            </a:r>
            <a:r>
              <a:rPr kumimoji="0" lang="zh-CN" altLang="en-US" kern="0" dirty="0" smtClean="0">
                <a:latin typeface="Arial Narrow" pitchFamily="34" charset="0"/>
              </a:rPr>
              <a:t>记录。</a:t>
            </a:r>
            <a:endParaRPr kumimoji="0" lang="zh-CN" altLang="en-US" kern="0" dirty="0">
              <a:latin typeface="Arial Narrow" pitchFamily="34" charset="0"/>
            </a:endParaRPr>
          </a:p>
          <a:p>
            <a:pPr eaLnBrk="1" hangingPunct="1">
              <a:spcAft>
                <a:spcPct val="35000"/>
              </a:spcAft>
              <a:defRPr/>
            </a:pPr>
            <a:r>
              <a:rPr kumimoji="0" lang="en-US" altLang="zh-CN" kern="0" dirty="0" smtClean="0">
                <a:latin typeface="Arial Narrow" pitchFamily="34" charset="0"/>
              </a:rPr>
              <a:t>OLD</a:t>
            </a:r>
            <a:r>
              <a:rPr kumimoji="0" lang="zh-CN" altLang="en-US" kern="0" dirty="0">
                <a:latin typeface="Arial Narrow" pitchFamily="34" charset="0"/>
              </a:rPr>
              <a:t>表示被删除的记录。可以使用“</a:t>
            </a:r>
            <a:r>
              <a:rPr kumimoji="0" lang="en-US" altLang="zh-CN" kern="0" dirty="0">
                <a:latin typeface="Arial Narrow" pitchFamily="34" charset="0"/>
              </a:rPr>
              <a:t>OLD.</a:t>
            </a:r>
            <a:r>
              <a:rPr kumimoji="0" lang="zh-CN" altLang="en-US" kern="0" dirty="0">
                <a:latin typeface="Arial Narrow" pitchFamily="34" charset="0"/>
              </a:rPr>
              <a:t>字段名”访问被删除记录中的某个字段。</a:t>
            </a:r>
            <a:r>
              <a:rPr kumimoji="0" lang="en-US" altLang="zh-CN" kern="0" dirty="0">
                <a:latin typeface="Arial Narrow" pitchFamily="34" charset="0"/>
              </a:rPr>
              <a:t>OLD</a:t>
            </a:r>
            <a:r>
              <a:rPr kumimoji="0" lang="zh-CN" altLang="en-US" kern="0" dirty="0">
                <a:latin typeface="Arial Narrow" pitchFamily="34" charset="0"/>
              </a:rPr>
              <a:t>是只读的，只能引用它，不能更改它。</a:t>
            </a:r>
          </a:p>
          <a:p>
            <a:pPr eaLnBrk="1" hangingPunct="1">
              <a:spcAft>
                <a:spcPct val="35000"/>
              </a:spcAft>
              <a:defRPr/>
            </a:pPr>
            <a:r>
              <a:rPr kumimoji="0" lang="en-US" altLang="zh-CN" kern="0" dirty="0" smtClean="0">
                <a:latin typeface="Arial Narrow" pitchFamily="34" charset="0"/>
              </a:rPr>
              <a:t>NEW</a:t>
            </a:r>
            <a:r>
              <a:rPr kumimoji="0" lang="zh-CN" altLang="en-US" kern="0" dirty="0">
                <a:latin typeface="Arial Narrow" pitchFamily="34" charset="0"/>
              </a:rPr>
              <a:t>表示新插入的记录。可以使用“</a:t>
            </a:r>
            <a:r>
              <a:rPr kumimoji="0" lang="en-US" altLang="zh-CN" kern="0" dirty="0">
                <a:latin typeface="Arial Narrow" pitchFamily="34" charset="0"/>
              </a:rPr>
              <a:t>NEW.</a:t>
            </a:r>
            <a:r>
              <a:rPr kumimoji="0" lang="zh-CN" altLang="en-US" kern="0" dirty="0">
                <a:latin typeface="Arial Narrow" pitchFamily="34" charset="0"/>
              </a:rPr>
              <a:t>字段名”访问新记录中的某个字段。在</a:t>
            </a:r>
            <a:r>
              <a:rPr kumimoji="0" lang="en-US" altLang="zh-CN" kern="0" dirty="0">
                <a:latin typeface="Arial Narrow" pitchFamily="34" charset="0"/>
              </a:rPr>
              <a:t>BEFORE</a:t>
            </a:r>
            <a:r>
              <a:rPr kumimoji="0" lang="zh-CN" altLang="en-US" kern="0" dirty="0">
                <a:latin typeface="Arial Narrow" pitchFamily="34" charset="0"/>
              </a:rPr>
              <a:t>触发程序</a:t>
            </a:r>
            <a:r>
              <a:rPr kumimoji="0" lang="zh-CN" altLang="en-US" kern="0" dirty="0" smtClean="0">
                <a:latin typeface="Arial Narrow" pitchFamily="34" charset="0"/>
              </a:rPr>
              <a:t>中可</a:t>
            </a:r>
            <a:r>
              <a:rPr kumimoji="0" lang="zh-CN" altLang="en-US" kern="0" dirty="0">
                <a:latin typeface="Arial Narrow" pitchFamily="34" charset="0"/>
              </a:rPr>
              <a:t>使用</a:t>
            </a:r>
            <a:r>
              <a:rPr kumimoji="0" lang="en-US" altLang="zh-CN" kern="0" dirty="0">
                <a:latin typeface="Arial Narrow" pitchFamily="34" charset="0"/>
              </a:rPr>
              <a:t>SET</a:t>
            </a:r>
            <a:r>
              <a:rPr kumimoji="0" lang="zh-CN" altLang="en-US" kern="0" dirty="0">
                <a:latin typeface="Arial Narrow" pitchFamily="34" charset="0"/>
              </a:rPr>
              <a:t>命令更改</a:t>
            </a:r>
            <a:r>
              <a:rPr kumimoji="0" lang="en-US" altLang="zh-CN" kern="0" dirty="0">
                <a:latin typeface="Arial Narrow" pitchFamily="34" charset="0"/>
              </a:rPr>
              <a:t>NEW</a:t>
            </a:r>
            <a:r>
              <a:rPr kumimoji="0" lang="zh-CN" altLang="en-US" kern="0" dirty="0">
                <a:latin typeface="Arial Narrow" pitchFamily="34" charset="0"/>
              </a:rPr>
              <a:t>记录的值。但在</a:t>
            </a:r>
            <a:r>
              <a:rPr kumimoji="0" lang="en-US" altLang="zh-CN" kern="0" dirty="0">
                <a:latin typeface="Arial Narrow" pitchFamily="34" charset="0"/>
              </a:rPr>
              <a:t>AFTER</a:t>
            </a:r>
            <a:r>
              <a:rPr kumimoji="0" lang="zh-CN" altLang="en-US" kern="0" dirty="0">
                <a:latin typeface="Arial Narrow" pitchFamily="34" charset="0"/>
              </a:rPr>
              <a:t>触发程序</a:t>
            </a:r>
            <a:r>
              <a:rPr kumimoji="0" lang="zh-CN" altLang="en-US" kern="0" dirty="0" smtClean="0">
                <a:latin typeface="Arial Narrow" pitchFamily="34" charset="0"/>
              </a:rPr>
              <a:t>中</a:t>
            </a:r>
            <a:r>
              <a:rPr kumimoji="0" lang="zh-CN" altLang="en-US" kern="0" dirty="0" smtClean="0">
                <a:latin typeface="Arial Narrow" pitchFamily="34" charset="0"/>
              </a:rPr>
              <a:t>不能再</a:t>
            </a:r>
            <a:r>
              <a:rPr kumimoji="0" lang="zh-CN" altLang="en-US" kern="0" dirty="0">
                <a:latin typeface="Arial Narrow" pitchFamily="34" charset="0"/>
              </a:rPr>
              <a:t>修改</a:t>
            </a:r>
            <a:r>
              <a:rPr kumimoji="0" lang="en-US" altLang="zh-CN" kern="0" dirty="0">
                <a:latin typeface="Arial Narrow" pitchFamily="34" charset="0"/>
              </a:rPr>
              <a:t>NEW</a:t>
            </a:r>
            <a:r>
              <a:rPr kumimoji="0" lang="zh-CN" altLang="en-US" kern="0" dirty="0">
                <a:latin typeface="Arial Narrow" pitchFamily="34" charset="0"/>
              </a:rPr>
              <a:t>记录的值。</a:t>
            </a:r>
          </a:p>
          <a:p>
            <a:pPr eaLnBrk="1" hangingPunct="1">
              <a:spcAft>
                <a:spcPct val="35000"/>
              </a:spcAft>
              <a:defRPr/>
            </a:pPr>
            <a:r>
              <a:rPr kumimoji="0" lang="zh-CN" altLang="en-US" kern="0" dirty="0" smtClean="0">
                <a:latin typeface="Arial Narrow" pitchFamily="34" charset="0"/>
              </a:rPr>
              <a:t>对于 </a:t>
            </a:r>
            <a:r>
              <a:rPr kumimoji="0" lang="en-US" altLang="zh-CN" kern="0" dirty="0">
                <a:latin typeface="Arial Narrow" pitchFamily="34" charset="0"/>
              </a:rPr>
              <a:t>INSERT</a:t>
            </a:r>
            <a:r>
              <a:rPr kumimoji="0" lang="zh-CN" altLang="en-US" kern="0" dirty="0">
                <a:latin typeface="Arial Narrow" pitchFamily="34" charset="0"/>
              </a:rPr>
              <a:t>操作，只有</a:t>
            </a:r>
            <a:r>
              <a:rPr kumimoji="0" lang="en-US" altLang="zh-CN" kern="0" dirty="0">
                <a:latin typeface="Arial Narrow" pitchFamily="34" charset="0"/>
              </a:rPr>
              <a:t>NEW</a:t>
            </a:r>
            <a:r>
              <a:rPr kumimoji="0" lang="zh-CN" altLang="en-US" kern="0" dirty="0">
                <a:latin typeface="Arial Narrow" pitchFamily="34" charset="0"/>
              </a:rPr>
              <a:t>关键字是合法的。对于 </a:t>
            </a:r>
            <a:r>
              <a:rPr kumimoji="0" lang="en-US" altLang="zh-CN" kern="0" dirty="0">
                <a:latin typeface="Arial Narrow" pitchFamily="34" charset="0"/>
              </a:rPr>
              <a:t>DELETE</a:t>
            </a:r>
            <a:r>
              <a:rPr kumimoji="0" lang="zh-CN" altLang="en-US" kern="0" dirty="0">
                <a:latin typeface="Arial Narrow" pitchFamily="34" charset="0"/>
              </a:rPr>
              <a:t>操作，只有</a:t>
            </a:r>
            <a:r>
              <a:rPr kumimoji="0" lang="en-US" altLang="zh-CN" kern="0" dirty="0">
                <a:latin typeface="Arial Narrow" pitchFamily="34" charset="0"/>
              </a:rPr>
              <a:t>OLD</a:t>
            </a:r>
            <a:r>
              <a:rPr kumimoji="0" lang="zh-CN" altLang="en-US" kern="0" dirty="0">
                <a:latin typeface="Arial Narrow" pitchFamily="34" charset="0"/>
              </a:rPr>
              <a:t>关键字是合法的。对于 </a:t>
            </a:r>
            <a:r>
              <a:rPr kumimoji="0" lang="en-US" altLang="zh-CN" kern="0" dirty="0">
                <a:latin typeface="Arial Narrow" pitchFamily="34" charset="0"/>
              </a:rPr>
              <a:t>UPDATE</a:t>
            </a:r>
            <a:r>
              <a:rPr kumimoji="0" lang="zh-CN" altLang="en-US" kern="0" dirty="0" smtClean="0">
                <a:latin typeface="Arial Narrow" pitchFamily="34" charset="0"/>
              </a:rPr>
              <a:t>操作</a:t>
            </a:r>
            <a:r>
              <a:rPr kumimoji="0" lang="en-US" altLang="zh-CN" kern="0" dirty="0" smtClean="0">
                <a:latin typeface="Arial Narrow" pitchFamily="34" charset="0"/>
              </a:rPr>
              <a:t>NEW</a:t>
            </a:r>
            <a:r>
              <a:rPr kumimoji="0" lang="zh-CN" altLang="en-US" kern="0" dirty="0">
                <a:latin typeface="Arial Narrow" pitchFamily="34" charset="0"/>
              </a:rPr>
              <a:t>关键字和</a:t>
            </a:r>
            <a:r>
              <a:rPr kumimoji="0" lang="en-US" altLang="zh-CN" kern="0" dirty="0">
                <a:latin typeface="Arial Narrow" pitchFamily="34" charset="0"/>
              </a:rPr>
              <a:t>OLD</a:t>
            </a:r>
            <a:r>
              <a:rPr kumimoji="0" lang="zh-CN" altLang="en-US" kern="0" dirty="0">
                <a:latin typeface="Arial Narrow" pitchFamily="34" charset="0"/>
              </a:rPr>
              <a:t>关键字都可用。</a:t>
            </a:r>
          </a:p>
        </p:txBody>
      </p:sp>
    </p:spTree>
    <p:extLst>
      <p:ext uri="{BB962C8B-B14F-4D97-AF65-F5344CB8AC3E}">
        <p14:creationId xmlns:p14="http://schemas.microsoft.com/office/powerpoint/2010/main" val="1785131646"/>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smtClean="0">
                <a:solidFill>
                  <a:srgbClr val="FFFFCC"/>
                </a:solidFill>
                <a:effectLst>
                  <a:outerShdw blurRad="38100" dist="38100" dir="2700000" algn="tl">
                    <a:srgbClr val="000000"/>
                  </a:outerShdw>
                </a:effectLst>
              </a:rPr>
              <a:t>触发器示例</a:t>
            </a:r>
            <a:endParaRPr lang="zh-CN" altLang="en-US" sz="4000" b="1" dirty="0">
              <a:solidFill>
                <a:srgbClr val="FFFFCC"/>
              </a:solidFill>
              <a:effectLst>
                <a:outerShdw blurRad="38100" dist="38100" dir="2700000" algn="tl">
                  <a:srgbClr val="000000"/>
                </a:outerShdw>
              </a:effectLst>
            </a:endParaRPr>
          </a:p>
        </p:txBody>
      </p:sp>
      <p:sp>
        <p:nvSpPr>
          <p:cNvPr id="3" name="矩形 2"/>
          <p:cNvSpPr/>
          <p:nvPr/>
        </p:nvSpPr>
        <p:spPr>
          <a:xfrm>
            <a:off x="159413" y="904927"/>
            <a:ext cx="8803409" cy="5632311"/>
          </a:xfrm>
          <a:prstGeom prst="rect">
            <a:avLst/>
          </a:prstGeom>
        </p:spPr>
        <p:txBody>
          <a:bodyPr wrap="square">
            <a:spAutoFit/>
          </a:bodyPr>
          <a:lstStyle/>
          <a:p>
            <a:pPr>
              <a:lnSpc>
                <a:spcPct val="80000"/>
              </a:lnSpc>
            </a:pPr>
            <a:r>
              <a:rPr lang="zh-CN" altLang="en-US" sz="2400" dirty="0" smtClean="0">
                <a:solidFill>
                  <a:srgbClr val="CCFF99"/>
                </a:solidFill>
              </a:rPr>
              <a:t>为</a:t>
            </a:r>
            <a:r>
              <a:rPr lang="en-US" altLang="zh-CN" sz="2400" dirty="0" smtClean="0">
                <a:solidFill>
                  <a:srgbClr val="CCFF99"/>
                </a:solidFill>
              </a:rPr>
              <a:t>teacher</a:t>
            </a:r>
            <a:r>
              <a:rPr lang="zh-CN" altLang="en-US" sz="2400" dirty="0">
                <a:solidFill>
                  <a:srgbClr val="CCFF99"/>
                </a:solidFill>
              </a:rPr>
              <a:t>表创建一个名为</a:t>
            </a:r>
            <a:r>
              <a:rPr lang="en-US" altLang="zh-CN" sz="2400" dirty="0" err="1">
                <a:solidFill>
                  <a:srgbClr val="CCFF99"/>
                </a:solidFill>
              </a:rPr>
              <a:t>tr_teacher_insert</a:t>
            </a:r>
            <a:r>
              <a:rPr lang="zh-CN" altLang="en-US" sz="2400" dirty="0">
                <a:solidFill>
                  <a:srgbClr val="CCFF99"/>
                </a:solidFill>
              </a:rPr>
              <a:t>的触发器，实现不允许给</a:t>
            </a:r>
            <a:r>
              <a:rPr lang="en-US" altLang="zh-CN" sz="2400" dirty="0">
                <a:solidFill>
                  <a:srgbClr val="CCFF99"/>
                </a:solidFill>
              </a:rPr>
              <a:t>teacher</a:t>
            </a:r>
            <a:r>
              <a:rPr lang="zh-CN" altLang="en-US" sz="2400" dirty="0">
                <a:solidFill>
                  <a:srgbClr val="CCFF99"/>
                </a:solidFill>
              </a:rPr>
              <a:t>表新插入工资为负值的记录</a:t>
            </a:r>
            <a:r>
              <a:rPr lang="zh-CN" altLang="en-US" sz="2400" dirty="0" smtClean="0">
                <a:solidFill>
                  <a:srgbClr val="CCFF99"/>
                </a:solidFill>
              </a:rPr>
              <a:t>。</a:t>
            </a:r>
            <a:endParaRPr lang="zh-CN" altLang="en-US" sz="2400" dirty="0">
              <a:solidFill>
                <a:srgbClr val="CCFF99"/>
              </a:solidFill>
            </a:endParaRPr>
          </a:p>
          <a:p>
            <a:pPr>
              <a:lnSpc>
                <a:spcPct val="80000"/>
              </a:lnSpc>
              <a:buFontTx/>
              <a:buNone/>
            </a:pPr>
            <a:r>
              <a:rPr lang="en-US" altLang="zh-CN" sz="2400" dirty="0">
                <a:solidFill>
                  <a:schemeClr val="bg1"/>
                </a:solidFill>
              </a:rPr>
              <a:t>USE </a:t>
            </a:r>
            <a:r>
              <a:rPr lang="en-US" altLang="zh-CN" sz="2400" dirty="0" err="1">
                <a:solidFill>
                  <a:schemeClr val="bg1"/>
                </a:solidFill>
              </a:rPr>
              <a:t>xjgl</a:t>
            </a:r>
            <a:r>
              <a:rPr lang="en-US" altLang="zh-CN" sz="2400" dirty="0" smtClean="0">
                <a:solidFill>
                  <a:schemeClr val="bg1"/>
                </a:solidFill>
              </a:rPr>
              <a:t>;</a:t>
            </a:r>
            <a:endParaRPr lang="en-US" altLang="zh-CN" sz="2400" dirty="0">
              <a:solidFill>
                <a:schemeClr val="bg1"/>
              </a:solidFill>
            </a:endParaRPr>
          </a:p>
          <a:p>
            <a:pPr>
              <a:lnSpc>
                <a:spcPct val="80000"/>
              </a:lnSpc>
              <a:buFontTx/>
              <a:buNone/>
            </a:pPr>
            <a:r>
              <a:rPr lang="en-US" altLang="zh-CN" sz="2400" dirty="0">
                <a:solidFill>
                  <a:schemeClr val="bg1"/>
                </a:solidFill>
              </a:rPr>
              <a:t>DELIMITER //</a:t>
            </a:r>
          </a:p>
          <a:p>
            <a:pPr>
              <a:lnSpc>
                <a:spcPct val="80000"/>
              </a:lnSpc>
              <a:buFontTx/>
              <a:buNone/>
            </a:pPr>
            <a:r>
              <a:rPr lang="en-US" altLang="zh-CN" sz="2400" dirty="0">
                <a:solidFill>
                  <a:schemeClr val="bg1"/>
                </a:solidFill>
              </a:rPr>
              <a:t>CREATE TRIGGER </a:t>
            </a:r>
            <a:r>
              <a:rPr lang="en-US" altLang="zh-CN" sz="2400" dirty="0" err="1">
                <a:solidFill>
                  <a:schemeClr val="bg1"/>
                </a:solidFill>
              </a:rPr>
              <a:t>tr_teacher_insert</a:t>
            </a:r>
            <a:r>
              <a:rPr lang="en-US" altLang="zh-CN" sz="2400" dirty="0">
                <a:solidFill>
                  <a:schemeClr val="bg1"/>
                </a:solidFill>
              </a:rPr>
              <a:t> BEFORE INSERT ON teacher</a:t>
            </a:r>
          </a:p>
          <a:p>
            <a:pPr>
              <a:lnSpc>
                <a:spcPct val="80000"/>
              </a:lnSpc>
              <a:buFontTx/>
              <a:buNone/>
            </a:pPr>
            <a:r>
              <a:rPr lang="en-US" altLang="zh-CN" sz="2400" dirty="0">
                <a:solidFill>
                  <a:schemeClr val="bg1"/>
                </a:solidFill>
              </a:rPr>
              <a:t>FOR EACH ROW</a:t>
            </a:r>
          </a:p>
          <a:p>
            <a:pPr>
              <a:lnSpc>
                <a:spcPct val="80000"/>
              </a:lnSpc>
              <a:buFontTx/>
              <a:buNone/>
            </a:pPr>
            <a:r>
              <a:rPr lang="en-US" altLang="zh-CN" sz="2400" dirty="0">
                <a:solidFill>
                  <a:schemeClr val="bg1"/>
                </a:solidFill>
              </a:rPr>
              <a:t>BEGIN</a:t>
            </a:r>
          </a:p>
          <a:p>
            <a:pPr>
              <a:lnSpc>
                <a:spcPct val="80000"/>
              </a:lnSpc>
              <a:buFontTx/>
              <a:buNone/>
            </a:pPr>
            <a:r>
              <a:rPr lang="en-US" altLang="zh-CN" sz="2400" dirty="0">
                <a:solidFill>
                  <a:schemeClr val="bg1"/>
                </a:solidFill>
              </a:rPr>
              <a:t> </a:t>
            </a:r>
            <a:r>
              <a:rPr lang="en-US" altLang="zh-CN" sz="2400" dirty="0" smtClean="0">
                <a:solidFill>
                  <a:schemeClr val="bg1"/>
                </a:solidFill>
              </a:rPr>
              <a:t> IF NEW.</a:t>
            </a:r>
            <a:r>
              <a:rPr lang="zh-CN" altLang="en-US" sz="2400" dirty="0" smtClean="0">
                <a:solidFill>
                  <a:schemeClr val="bg1"/>
                </a:solidFill>
              </a:rPr>
              <a:t>工资</a:t>
            </a:r>
            <a:r>
              <a:rPr lang="en-US" altLang="zh-CN" sz="2400" dirty="0" smtClean="0">
                <a:solidFill>
                  <a:schemeClr val="bg1"/>
                </a:solidFill>
              </a:rPr>
              <a:t> </a:t>
            </a:r>
            <a:r>
              <a:rPr lang="en-US" altLang="zh-CN" sz="2400" dirty="0">
                <a:solidFill>
                  <a:schemeClr val="bg1"/>
                </a:solidFill>
              </a:rPr>
              <a:t>is NOT NULL &amp;&amp; </a:t>
            </a:r>
            <a:r>
              <a:rPr lang="en-US" altLang="zh-CN" sz="2400" dirty="0" smtClean="0">
                <a:solidFill>
                  <a:schemeClr val="bg1"/>
                </a:solidFill>
              </a:rPr>
              <a:t>NEW.</a:t>
            </a:r>
            <a:r>
              <a:rPr lang="zh-CN" altLang="en-US" sz="2400" dirty="0" smtClean="0">
                <a:solidFill>
                  <a:schemeClr val="bg1"/>
                </a:solidFill>
              </a:rPr>
              <a:t>工资</a:t>
            </a:r>
            <a:r>
              <a:rPr lang="en-US" altLang="zh-CN" sz="2400" dirty="0" smtClean="0">
                <a:solidFill>
                  <a:schemeClr val="bg1"/>
                </a:solidFill>
              </a:rPr>
              <a:t>&lt;0 </a:t>
            </a:r>
            <a:r>
              <a:rPr lang="en-US" altLang="zh-CN" sz="2400" dirty="0">
                <a:solidFill>
                  <a:schemeClr val="bg1"/>
                </a:solidFill>
              </a:rPr>
              <a:t>THEN</a:t>
            </a:r>
          </a:p>
          <a:p>
            <a:pPr>
              <a:lnSpc>
                <a:spcPct val="80000"/>
              </a:lnSpc>
              <a:buFontTx/>
              <a:buNone/>
            </a:pPr>
            <a:r>
              <a:rPr lang="en-US" altLang="zh-CN" sz="2400" dirty="0">
                <a:solidFill>
                  <a:schemeClr val="bg1"/>
                </a:solidFill>
              </a:rPr>
              <a:t> </a:t>
            </a:r>
            <a:r>
              <a:rPr lang="en-US" altLang="zh-CN" sz="2400" dirty="0" smtClean="0">
                <a:solidFill>
                  <a:schemeClr val="bg1"/>
                </a:solidFill>
              </a:rPr>
              <a:t>    SIGNAL </a:t>
            </a:r>
            <a:r>
              <a:rPr lang="en-US" altLang="zh-CN" sz="2400" dirty="0">
                <a:solidFill>
                  <a:schemeClr val="bg1"/>
                </a:solidFill>
              </a:rPr>
              <a:t>SQLSTATE 'HY000' </a:t>
            </a:r>
          </a:p>
          <a:p>
            <a:pPr>
              <a:lnSpc>
                <a:spcPct val="80000"/>
              </a:lnSpc>
              <a:buFontTx/>
              <a:buNone/>
            </a:pPr>
            <a:r>
              <a:rPr lang="en-US" altLang="zh-CN" sz="2400" dirty="0">
                <a:solidFill>
                  <a:schemeClr val="bg1"/>
                </a:solidFill>
              </a:rPr>
              <a:t>     </a:t>
            </a:r>
            <a:r>
              <a:rPr lang="en-US" altLang="zh-CN" sz="2400" dirty="0" smtClean="0">
                <a:solidFill>
                  <a:schemeClr val="bg1"/>
                </a:solidFill>
              </a:rPr>
              <a:t>   </a:t>
            </a:r>
            <a:r>
              <a:rPr lang="en-US" altLang="zh-CN" sz="2400" dirty="0">
                <a:solidFill>
                  <a:schemeClr val="bg1"/>
                </a:solidFill>
              </a:rPr>
              <a:t>SET MESSAGE_TEXT = '</a:t>
            </a:r>
            <a:r>
              <a:rPr lang="zh-CN" altLang="en-US" sz="2400" dirty="0">
                <a:solidFill>
                  <a:schemeClr val="bg1"/>
                </a:solidFill>
              </a:rPr>
              <a:t>工资不能小于</a:t>
            </a:r>
            <a:r>
              <a:rPr lang="en-US" altLang="zh-CN" sz="2400" dirty="0">
                <a:solidFill>
                  <a:schemeClr val="bg1"/>
                </a:solidFill>
              </a:rPr>
              <a:t>0</a:t>
            </a:r>
            <a:r>
              <a:rPr lang="zh-CN" altLang="en-US" sz="2400" dirty="0">
                <a:solidFill>
                  <a:schemeClr val="bg1"/>
                </a:solidFill>
              </a:rPr>
              <a:t>，插入失败！</a:t>
            </a:r>
            <a:r>
              <a:rPr lang="en-US" altLang="zh-CN" sz="2400" dirty="0">
                <a:solidFill>
                  <a:schemeClr val="bg1"/>
                </a:solidFill>
              </a:rPr>
              <a:t>';</a:t>
            </a:r>
          </a:p>
          <a:p>
            <a:pPr>
              <a:lnSpc>
                <a:spcPct val="80000"/>
              </a:lnSpc>
              <a:buFontTx/>
              <a:buNone/>
            </a:pPr>
            <a:r>
              <a:rPr lang="en-US" altLang="zh-CN" sz="2400" dirty="0">
                <a:solidFill>
                  <a:schemeClr val="bg1"/>
                </a:solidFill>
              </a:rPr>
              <a:t> </a:t>
            </a:r>
            <a:r>
              <a:rPr lang="en-US" altLang="zh-CN" sz="2400" dirty="0" smtClean="0">
                <a:solidFill>
                  <a:schemeClr val="bg1"/>
                </a:solidFill>
              </a:rPr>
              <a:t> END </a:t>
            </a:r>
            <a:r>
              <a:rPr lang="en-US" altLang="zh-CN" sz="2400" dirty="0">
                <a:solidFill>
                  <a:schemeClr val="bg1"/>
                </a:solidFill>
              </a:rPr>
              <a:t>IF;</a:t>
            </a:r>
          </a:p>
          <a:p>
            <a:pPr>
              <a:lnSpc>
                <a:spcPct val="80000"/>
              </a:lnSpc>
              <a:buFontTx/>
              <a:buNone/>
            </a:pPr>
            <a:r>
              <a:rPr lang="en-US" altLang="zh-CN" sz="2400" dirty="0">
                <a:solidFill>
                  <a:schemeClr val="bg1"/>
                </a:solidFill>
              </a:rPr>
              <a:t>END</a:t>
            </a:r>
            <a:r>
              <a:rPr lang="en-US" altLang="zh-CN" sz="2400" dirty="0" smtClean="0">
                <a:solidFill>
                  <a:schemeClr val="bg1"/>
                </a:solidFill>
              </a:rPr>
              <a:t>;</a:t>
            </a:r>
          </a:p>
          <a:p>
            <a:pPr>
              <a:lnSpc>
                <a:spcPct val="80000"/>
              </a:lnSpc>
              <a:buFontTx/>
              <a:buNone/>
            </a:pPr>
            <a:r>
              <a:rPr lang="en-US" altLang="zh-CN" sz="2400" dirty="0" smtClean="0">
                <a:solidFill>
                  <a:schemeClr val="bg1"/>
                </a:solidFill>
              </a:rPr>
              <a:t>//</a:t>
            </a:r>
            <a:endParaRPr lang="en-US" altLang="zh-CN" sz="2400" dirty="0">
              <a:solidFill>
                <a:schemeClr val="bg1"/>
              </a:solidFill>
            </a:endParaRPr>
          </a:p>
          <a:p>
            <a:pPr>
              <a:lnSpc>
                <a:spcPct val="80000"/>
              </a:lnSpc>
              <a:buFontTx/>
              <a:buNone/>
            </a:pPr>
            <a:r>
              <a:rPr lang="en-US" altLang="zh-CN" sz="2400" dirty="0" smtClean="0">
                <a:solidFill>
                  <a:schemeClr val="bg1"/>
                </a:solidFill>
              </a:rPr>
              <a:t>DELIMITER ;</a:t>
            </a:r>
            <a:endParaRPr lang="zh-CN" altLang="en-US" sz="2400" dirty="0">
              <a:solidFill>
                <a:schemeClr val="bg1"/>
              </a:solidFill>
            </a:endParaRPr>
          </a:p>
        </p:txBody>
      </p:sp>
    </p:spTree>
    <p:extLst>
      <p:ext uri="{BB962C8B-B14F-4D97-AF65-F5344CB8AC3E}">
        <p14:creationId xmlns:p14="http://schemas.microsoft.com/office/powerpoint/2010/main" val="2876722255"/>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61079" y="-27384"/>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pPr>
            <a:r>
              <a:rPr lang="zh-CN" altLang="en-US" sz="4000" b="1" dirty="0" smtClean="0">
                <a:solidFill>
                  <a:srgbClr val="FFFFCC"/>
                </a:solidFill>
                <a:effectLst>
                  <a:outerShdw blurRad="38100" dist="38100" dir="2700000" algn="tl">
                    <a:srgbClr val="000000"/>
                  </a:outerShdw>
                </a:effectLst>
              </a:rPr>
              <a:t>删除触发器</a:t>
            </a:r>
            <a:endParaRPr lang="zh-CN" altLang="en-US" sz="4000" b="1" dirty="0">
              <a:solidFill>
                <a:srgbClr val="FFFFCC"/>
              </a:solidFill>
              <a:effectLst>
                <a:outerShdw blurRad="38100" dist="38100" dir="2700000" algn="tl">
                  <a:srgbClr val="000000"/>
                </a:outerShdw>
              </a:effectLst>
            </a:endParaRPr>
          </a:p>
        </p:txBody>
      </p:sp>
      <p:sp>
        <p:nvSpPr>
          <p:cNvPr id="3" name="Rectangle 5"/>
          <p:cNvSpPr>
            <a:spLocks noChangeArrowheads="1"/>
          </p:cNvSpPr>
          <p:nvPr/>
        </p:nvSpPr>
        <p:spPr bwMode="auto">
          <a:xfrm>
            <a:off x="184030" y="2125518"/>
            <a:ext cx="8424862"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lstStyle/>
          <a:p>
            <a:pPr marL="263525" lvl="0" indent="-263525" fontAlgn="auto">
              <a:spcBef>
                <a:spcPct val="50000"/>
              </a:spcBef>
              <a:spcAft>
                <a:spcPct val="0"/>
              </a:spcAft>
              <a:buClr>
                <a:srgbClr val="FFFFFF"/>
              </a:buClr>
              <a:buSzTx/>
              <a:buFont typeface="Wingdings" pitchFamily="2" charset="2"/>
              <a:buChar char="§"/>
              <a:defRPr/>
            </a:pPr>
            <a:r>
              <a:rPr kumimoji="0" lang="en-US" altLang="zh-CN" sz="2800" kern="0" dirty="0" smtClean="0">
                <a:solidFill>
                  <a:prstClr val="white"/>
                </a:solidFill>
                <a:effectLst/>
                <a:latin typeface="Franklin Gothic Book"/>
                <a:ea typeface="黑体" panose="02010609060101010101" pitchFamily="49" charset="-122"/>
              </a:rPr>
              <a:t>IF </a:t>
            </a:r>
            <a:r>
              <a:rPr kumimoji="0" lang="en-US" altLang="zh-CN" sz="2800" kern="0" dirty="0">
                <a:solidFill>
                  <a:prstClr val="white"/>
                </a:solidFill>
                <a:effectLst/>
                <a:latin typeface="Franklin Gothic Book"/>
                <a:ea typeface="黑体" panose="02010609060101010101" pitchFamily="49" charset="-122"/>
              </a:rPr>
              <a:t>EXISTS</a:t>
            </a:r>
            <a:r>
              <a:rPr kumimoji="0" lang="zh-CN" altLang="en-US" sz="2800" kern="0" dirty="0">
                <a:solidFill>
                  <a:prstClr val="white"/>
                </a:solidFill>
                <a:effectLst/>
                <a:latin typeface="Franklin Gothic Book"/>
                <a:ea typeface="黑体" panose="02010609060101010101" pitchFamily="49" charset="-122"/>
              </a:rPr>
              <a:t>短语的作用是在删除时如果被删除</a:t>
            </a:r>
            <a:r>
              <a:rPr kumimoji="0" lang="zh-CN" altLang="en-US" sz="2800" kern="0" dirty="0" smtClean="0">
                <a:solidFill>
                  <a:prstClr val="white"/>
                </a:solidFill>
                <a:effectLst/>
                <a:latin typeface="Franklin Gothic Book"/>
                <a:ea typeface="黑体" panose="02010609060101010101" pitchFamily="49" charset="-122"/>
              </a:rPr>
              <a:t>的触发器并不</a:t>
            </a:r>
            <a:r>
              <a:rPr kumimoji="0" lang="zh-CN" altLang="en-US" sz="2800" kern="0" dirty="0">
                <a:solidFill>
                  <a:prstClr val="white"/>
                </a:solidFill>
                <a:effectLst/>
                <a:latin typeface="Franklin Gothic Book"/>
                <a:ea typeface="黑体" panose="02010609060101010101" pitchFamily="49" charset="-122"/>
              </a:rPr>
              <a:t>存在，系统也不用抛出因</a:t>
            </a:r>
            <a:r>
              <a:rPr kumimoji="0" lang="zh-CN" altLang="en-US" sz="2800" kern="0" dirty="0" smtClean="0">
                <a:solidFill>
                  <a:prstClr val="white"/>
                </a:solidFill>
                <a:effectLst/>
                <a:latin typeface="Franklin Gothic Book"/>
                <a:ea typeface="黑体" panose="02010609060101010101" pitchFamily="49" charset="-122"/>
              </a:rPr>
              <a:t>找不到触发器而</a:t>
            </a:r>
            <a:r>
              <a:rPr kumimoji="0" lang="zh-CN" altLang="en-US" sz="2800" kern="0" dirty="0">
                <a:solidFill>
                  <a:prstClr val="white"/>
                </a:solidFill>
                <a:effectLst/>
                <a:latin typeface="Franklin Gothic Book"/>
                <a:ea typeface="黑体" panose="02010609060101010101" pitchFamily="49" charset="-122"/>
              </a:rPr>
              <a:t>删除失败的错误。</a:t>
            </a:r>
          </a:p>
        </p:txBody>
      </p:sp>
      <p:sp>
        <p:nvSpPr>
          <p:cNvPr id="4" name="Rectangle 6"/>
          <p:cNvSpPr>
            <a:spLocks noChangeArrowheads="1"/>
          </p:cNvSpPr>
          <p:nvPr/>
        </p:nvSpPr>
        <p:spPr bwMode="auto">
          <a:xfrm>
            <a:off x="501650" y="4883094"/>
            <a:ext cx="7731125" cy="1198563"/>
          </a:xfrm>
          <a:prstGeom prst="rect">
            <a:avLst/>
          </a:prstGeom>
          <a:noFill/>
          <a:ln w="9525">
            <a:noFill/>
            <a:miter lim="800000"/>
            <a:headEnd/>
            <a:tailEnd/>
          </a:ln>
          <a:effectLst/>
        </p:spPr>
        <p:txBody>
          <a:bodyPr/>
          <a:lstStyle/>
          <a:p>
            <a:pPr lvl="0" algn="just" fontAlgn="auto">
              <a:spcBef>
                <a:spcPts val="0"/>
              </a:spcBef>
              <a:spcAft>
                <a:spcPct val="15000"/>
              </a:spcAft>
              <a:buClr>
                <a:srgbClr val="FFFFFF"/>
              </a:buClr>
              <a:buSzPct val="85000"/>
              <a:defRPr/>
            </a:pPr>
            <a:r>
              <a:rPr kumimoji="0" lang="zh-CN"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删除名称为</a:t>
            </a:r>
            <a:r>
              <a:rPr kumimoji="0" lang="zh-CN" altLang="en-US"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Arial"/>
                <a:ea typeface="黑体" panose="02010609060101010101" pitchFamily="49" charset="-122"/>
                <a:cs typeface="+mn-cs"/>
              </a:rPr>
              <a:t>“</a:t>
            </a:r>
            <a:r>
              <a:rPr lang="en-US" altLang="zh-CN" sz="2800" dirty="0" err="1">
                <a:solidFill>
                  <a:schemeClr val="bg1"/>
                </a:solidFill>
              </a:rPr>
              <a:t>tr_teacher_insert</a:t>
            </a:r>
            <a:r>
              <a:rPr kumimoji="0" lang="en-US" altLang="zh-CN"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Arial"/>
                <a:ea typeface="黑体" panose="02010609060101010101" pitchFamily="49" charset="-122"/>
                <a:cs typeface="+mn-cs"/>
              </a:rPr>
              <a:t>”</a:t>
            </a:r>
            <a:r>
              <a:rPr kumimoji="0" lang="zh-CN" altLang="en-US" sz="2800" b="0" i="0" u="none" strike="noStrike" kern="0" cap="none" spc="0" normalizeH="0" baseline="0" noProof="0" dirty="0" smtClean="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rPr>
              <a:t>的</a:t>
            </a:r>
            <a:r>
              <a:rPr kumimoji="0" lang="zh-CN" altLang="en-US" sz="2800" kern="0" dirty="0" smtClean="0">
                <a:solidFill>
                  <a:srgbClr val="FFFFCC"/>
                </a:solidFill>
                <a:effectLst>
                  <a:outerShdw blurRad="38100" dist="38100" dir="2700000" algn="tl">
                    <a:srgbClr val="000000"/>
                  </a:outerShdw>
                </a:effectLst>
                <a:latin typeface="Franklin Gothic Book"/>
                <a:ea typeface="黑体" panose="02010609060101010101" pitchFamily="49" charset="-122"/>
              </a:rPr>
              <a:t>触发器</a:t>
            </a:r>
            <a:endParaRPr kumimoji="0" lang="zh-CN" altLang="en-US" sz="2800" b="0" i="0" u="none" strike="noStrike" kern="0" cap="none" spc="0" normalizeH="0" baseline="0" noProof="0" dirty="0">
              <a:ln>
                <a:noFill/>
              </a:ln>
              <a:solidFill>
                <a:srgbClr val="FFFFCC"/>
              </a:solidFill>
              <a:effectLst>
                <a:outerShdw blurRad="38100" dist="38100" dir="2700000" algn="tl">
                  <a:srgbClr val="000000"/>
                </a:outerShdw>
              </a:effectLst>
              <a:uLnTx/>
              <a:uFillTx/>
              <a:latin typeface="Franklin Gothic Book"/>
              <a:ea typeface="黑体" panose="02010609060101010101" pitchFamily="49" charset="-122"/>
              <a:cs typeface="+mn-cs"/>
            </a:endParaRPr>
          </a:p>
        </p:txBody>
      </p:sp>
      <p:sp>
        <p:nvSpPr>
          <p:cNvPr id="6" name="Rectangle 4"/>
          <p:cNvSpPr txBox="1">
            <a:spLocks noChangeArrowheads="1"/>
          </p:cNvSpPr>
          <p:nvPr/>
        </p:nvSpPr>
        <p:spPr bwMode="auto">
          <a:xfrm>
            <a:off x="323528" y="1010722"/>
            <a:ext cx="8715990" cy="5954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10000"/>
              </a:lnSpc>
              <a:spcAft>
                <a:spcPct val="0"/>
              </a:spcAft>
              <a:buNone/>
              <a:defRPr/>
            </a:pPr>
            <a:r>
              <a:rPr kumimoji="0" lang="en-US" altLang="zh-CN" sz="3200" b="1" dirty="0" smtClean="0">
                <a:solidFill>
                  <a:srgbClr val="FFFF00"/>
                </a:solidFill>
                <a:latin typeface="Arial" charset="0"/>
              </a:rPr>
              <a:t>DROP</a:t>
            </a:r>
            <a:r>
              <a:rPr kumimoji="0" lang="en-US" altLang="zh-CN" sz="3200" b="1" dirty="0">
                <a:solidFill>
                  <a:srgbClr val="FFFF00"/>
                </a:solidFill>
                <a:latin typeface="Arial" charset="0"/>
              </a:rPr>
              <a:t> </a:t>
            </a:r>
            <a:r>
              <a:rPr kumimoji="0" lang="en-US" altLang="zh-CN" sz="3200" b="1" dirty="0" smtClean="0">
                <a:solidFill>
                  <a:srgbClr val="FFFF00"/>
                </a:solidFill>
                <a:latin typeface="Arial" charset="0"/>
              </a:rPr>
              <a:t>TRIGGER</a:t>
            </a:r>
            <a:r>
              <a:rPr lang="en-US" altLang="zh-CN" sz="3200" dirty="0"/>
              <a:t> [IF EXISTS] </a:t>
            </a:r>
            <a:r>
              <a:rPr lang="zh-CN" altLang="en-US" sz="3200" dirty="0" smtClean="0"/>
              <a:t>触发器名</a:t>
            </a:r>
            <a:r>
              <a:rPr lang="en-US" altLang="zh-CN" sz="3200" dirty="0" smtClean="0"/>
              <a:t>;</a:t>
            </a:r>
            <a:endParaRPr lang="en-US" altLang="zh-CN" sz="3200" dirty="0"/>
          </a:p>
        </p:txBody>
      </p:sp>
      <p:sp>
        <p:nvSpPr>
          <p:cNvPr id="7" name="Rectangle 7"/>
          <p:cNvSpPr>
            <a:spLocks noChangeArrowheads="1"/>
          </p:cNvSpPr>
          <p:nvPr/>
        </p:nvSpPr>
        <p:spPr bwMode="auto">
          <a:xfrm>
            <a:off x="539750" y="5414841"/>
            <a:ext cx="7416800" cy="647700"/>
          </a:xfrm>
          <a:prstGeom prst="rect">
            <a:avLst/>
          </a:prstGeom>
          <a:noFill/>
          <a:ln w="9525">
            <a:noFill/>
            <a:miter lim="800000"/>
            <a:headEnd/>
            <a:tailEnd/>
          </a:ln>
          <a:effectLst/>
        </p:spPr>
        <p:txBody>
          <a:bodyPr/>
          <a:lstStyle/>
          <a:p>
            <a:pPr lvl="0" algn="just" fontAlgn="auto">
              <a:spcBef>
                <a:spcPts val="0"/>
              </a:spcBef>
              <a:spcAft>
                <a:spcPct val="0"/>
              </a:spcAft>
              <a:buClr>
                <a:srgbClr val="FFFFFF"/>
              </a:buClr>
              <a:buSzPct val="85000"/>
              <a:defRPr/>
            </a:pPr>
            <a:r>
              <a:rPr kumimoji="0" lang="en-US" altLang="zh-CN" sz="2800" b="0" i="0" u="none" strike="noStrike" kern="0" cap="none" spc="0" normalizeH="0" baseline="0" noProof="0" dirty="0">
                <a:ln>
                  <a:noFill/>
                </a:ln>
                <a:solidFill>
                  <a:srgbClr val="99FF33"/>
                </a:solidFill>
                <a:effectLst>
                  <a:outerShdw blurRad="38100" dist="38100" dir="2700000" algn="tl">
                    <a:srgbClr val="000000"/>
                  </a:outerShdw>
                </a:effectLst>
                <a:uLnTx/>
                <a:uFillTx/>
                <a:latin typeface="Franklin Gothic Book"/>
                <a:ea typeface="黑体" panose="02010609060101010101" pitchFamily="49" charset="-122"/>
                <a:cs typeface="+mn-cs"/>
              </a:rPr>
              <a:t>DROP </a:t>
            </a:r>
            <a:r>
              <a:rPr kumimoji="0" lang="en-US" altLang="zh-CN" sz="2800" kern="0" dirty="0">
                <a:solidFill>
                  <a:srgbClr val="99FF33"/>
                </a:solidFill>
                <a:effectLst>
                  <a:outerShdw blurRad="38100" dist="38100" dir="2700000" algn="tl">
                    <a:srgbClr val="000000"/>
                  </a:outerShdw>
                </a:effectLst>
                <a:latin typeface="Franklin Gothic Book"/>
                <a:ea typeface="黑体" panose="02010609060101010101" pitchFamily="49" charset="-122"/>
              </a:rPr>
              <a:t>TRIGGER  </a:t>
            </a:r>
            <a:r>
              <a:rPr kumimoji="0" lang="en-US" altLang="zh-CN" sz="2800" kern="0" dirty="0" err="1" smtClean="0">
                <a:solidFill>
                  <a:srgbClr val="99FF33"/>
                </a:solidFill>
                <a:effectLst>
                  <a:outerShdw blurRad="38100" dist="38100" dir="2700000" algn="tl">
                    <a:srgbClr val="000000"/>
                  </a:outerShdw>
                </a:effectLst>
                <a:latin typeface="Franklin Gothic Book"/>
                <a:ea typeface="黑体" panose="02010609060101010101" pitchFamily="49" charset="-122"/>
              </a:rPr>
              <a:t>tr_teacher_insert</a:t>
            </a:r>
            <a:r>
              <a:rPr kumimoji="0" lang="zh-CN" altLang="en-US" sz="2800" kern="0" dirty="0" smtClean="0">
                <a:solidFill>
                  <a:srgbClr val="99FF33"/>
                </a:solidFill>
                <a:effectLst>
                  <a:outerShdw blurRad="38100" dist="38100" dir="2700000" algn="tl">
                    <a:srgbClr val="000000"/>
                  </a:outerShdw>
                </a:effectLst>
                <a:latin typeface="Franklin Gothic Book"/>
                <a:ea typeface="黑体" panose="02010609060101010101" pitchFamily="49" charset="-122"/>
              </a:rPr>
              <a:t>；</a:t>
            </a:r>
            <a:r>
              <a:rPr kumimoji="0" lang="en-US" altLang="zh-CN" sz="2800" kern="0" dirty="0" smtClean="0">
                <a:solidFill>
                  <a:srgbClr val="99FF33"/>
                </a:solidFill>
                <a:effectLst>
                  <a:outerShdw blurRad="38100" dist="38100" dir="2700000" algn="tl">
                    <a:srgbClr val="000000"/>
                  </a:outerShdw>
                </a:effectLst>
                <a:latin typeface="Franklin Gothic Book"/>
                <a:ea typeface="黑体" panose="02010609060101010101" pitchFamily="49" charset="-122"/>
              </a:rPr>
              <a:t> </a:t>
            </a:r>
            <a:endPar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ea typeface="黑体" panose="02010609060101010101" pitchFamily="49" charset="-122"/>
              <a:cs typeface="+mn-cs"/>
            </a:endParaRPr>
          </a:p>
        </p:txBody>
      </p:sp>
    </p:spTree>
    <p:extLst>
      <p:ext uri="{BB962C8B-B14F-4D97-AF65-F5344CB8AC3E}">
        <p14:creationId xmlns:p14="http://schemas.microsoft.com/office/powerpoint/2010/main" val="296336950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theme/theme1.xml><?xml version="1.0" encoding="utf-8"?>
<a:theme xmlns:a="http://schemas.openxmlformats.org/drawingml/2006/main" name="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主题​​">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17661</TotalTime>
  <Words>2454</Words>
  <Application>Microsoft Office PowerPoint</Application>
  <PresentationFormat>全屏显示(4:3)</PresentationFormat>
  <Paragraphs>703</Paragraphs>
  <Slides>28</Slides>
  <Notes>0</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28</vt:i4>
      </vt:variant>
    </vt:vector>
  </HeadingPairs>
  <TitlesOfParts>
    <vt:vector size="44" baseType="lpstr">
      <vt:lpstr>方正姚体</vt:lpstr>
      <vt:lpstr>黑体</vt:lpstr>
      <vt:lpstr>华文楷体</vt:lpstr>
      <vt:lpstr>楷体_GB2312</vt:lpstr>
      <vt:lpstr>隶书</vt:lpstr>
      <vt:lpstr>宋体</vt:lpstr>
      <vt:lpstr>微软雅黑</vt:lpstr>
      <vt:lpstr>Arial</vt:lpstr>
      <vt:lpstr>Arial Narrow</vt:lpstr>
      <vt:lpstr>Franklin Gothic Book</vt:lpstr>
      <vt:lpstr>Garamond</vt:lpstr>
      <vt:lpstr>Times New Roman</vt:lpstr>
      <vt:lpstr>Wingdings</vt:lpstr>
      <vt:lpstr>带有标题的</vt:lpstr>
      <vt:lpstr>Office 主题​​</vt:lpstr>
      <vt:lpstr>1_Office 主题​​</vt:lpstr>
      <vt:lpstr>PowerPoint 演示文稿</vt:lpstr>
      <vt:lpstr>索引的概念</vt:lpstr>
      <vt:lpstr>建立索引</vt:lpstr>
      <vt:lpstr>建立索引</vt:lpstr>
      <vt:lpstr>查看索引</vt:lpstr>
      <vt:lpstr>删除索引</vt:lpstr>
      <vt:lpstr>视图的概念</vt:lpstr>
      <vt:lpstr>定义视图</vt:lpstr>
      <vt:lpstr>查看视图</vt:lpstr>
      <vt:lpstr>删除视图</vt:lpstr>
      <vt:lpstr>修改视图</vt:lpstr>
      <vt:lpstr>查询视图</vt:lpstr>
      <vt:lpstr>更新视图</vt:lpstr>
      <vt:lpstr>更新视图</vt:lpstr>
      <vt:lpstr>更新视图</vt:lpstr>
      <vt:lpstr>更新视图</vt:lpstr>
      <vt:lpstr>更新视图</vt:lpstr>
      <vt:lpstr>视图的作用</vt:lpstr>
      <vt:lpstr>存储过程</vt:lpstr>
      <vt:lpstr>存储过程和创建与执行</vt:lpstr>
      <vt:lpstr>创建存储过程示例</vt:lpstr>
      <vt:lpstr>查看存储过程</vt:lpstr>
      <vt:lpstr>删除存储过程</vt:lpstr>
      <vt:lpstr>触发器</vt:lpstr>
      <vt:lpstr>创建触发器</vt:lpstr>
      <vt:lpstr>OLD与NEW对象</vt:lpstr>
      <vt:lpstr>触发器示例</vt:lpstr>
      <vt:lpstr>删除触发器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pansir</cp:lastModifiedBy>
  <cp:revision>1761</cp:revision>
  <dcterms:created xsi:type="dcterms:W3CDTF">1601-01-01T00:00:00Z</dcterms:created>
  <dcterms:modified xsi:type="dcterms:W3CDTF">2019-11-04T14:20:33Z</dcterms:modified>
</cp:coreProperties>
</file>