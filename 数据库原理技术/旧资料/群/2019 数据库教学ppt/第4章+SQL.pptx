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94" r:id="rId8"/>
    <p:sldId id="262" r:id="rId9"/>
    <p:sldId id="263" r:id="rId10"/>
    <p:sldId id="266" r:id="rId11"/>
    <p:sldId id="268" r:id="rId12"/>
    <p:sldId id="271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96" r:id="rId21"/>
    <p:sldId id="297" r:id="rId22"/>
    <p:sldId id="298" r:id="rId23"/>
    <p:sldId id="277" r:id="rId24"/>
    <p:sldId id="299" r:id="rId25"/>
    <p:sldId id="278" r:id="rId26"/>
    <p:sldId id="283" r:id="rId27"/>
    <p:sldId id="284" r:id="rId28"/>
    <p:sldId id="300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279" r:id="rId37"/>
    <p:sldId id="301" r:id="rId38"/>
    <p:sldId id="280" r:id="rId39"/>
    <p:sldId id="344" r:id="rId40"/>
    <p:sldId id="290" r:id="rId41"/>
    <p:sldId id="291" r:id="rId42"/>
    <p:sldId id="302" r:id="rId43"/>
    <p:sldId id="303" r:id="rId44"/>
    <p:sldId id="304" r:id="rId45"/>
    <p:sldId id="292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45" r:id="rId56"/>
    <p:sldId id="346" r:id="rId57"/>
    <p:sldId id="322" r:id="rId58"/>
    <p:sldId id="347" r:id="rId59"/>
    <p:sldId id="323" r:id="rId60"/>
    <p:sldId id="324" r:id="rId61"/>
    <p:sldId id="325" r:id="rId62"/>
    <p:sldId id="326" r:id="rId63"/>
    <p:sldId id="327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E8A5106-687A-450D-BB27-DB4A53806402}">
          <p14:sldIdLst>
            <p14:sldId id="256"/>
          </p14:sldIdLst>
        </p14:section>
        <p14:section name="无标题节" id="{5D17D565-BF3E-4E1C-8E50-BC818473CB61}">
          <p14:sldIdLst>
            <p14:sldId id="257"/>
            <p14:sldId id="258"/>
            <p14:sldId id="259"/>
            <p14:sldId id="260"/>
            <p14:sldId id="261"/>
            <p14:sldId id="294"/>
            <p14:sldId id="262"/>
            <p14:sldId id="263"/>
            <p14:sldId id="266"/>
            <p14:sldId id="268"/>
            <p14:sldId id="271"/>
            <p14:sldId id="269"/>
            <p14:sldId id="270"/>
            <p14:sldId id="272"/>
            <p14:sldId id="273"/>
            <p14:sldId id="274"/>
            <p14:sldId id="275"/>
            <p14:sldId id="276"/>
            <p14:sldId id="296"/>
            <p14:sldId id="297"/>
            <p14:sldId id="298"/>
            <p14:sldId id="277"/>
            <p14:sldId id="299"/>
            <p14:sldId id="278"/>
            <p14:sldId id="283"/>
            <p14:sldId id="284"/>
            <p14:sldId id="300"/>
            <p14:sldId id="337"/>
            <p14:sldId id="338"/>
            <p14:sldId id="339"/>
            <p14:sldId id="340"/>
            <p14:sldId id="341"/>
            <p14:sldId id="342"/>
            <p14:sldId id="343"/>
            <p14:sldId id="279"/>
            <p14:sldId id="301"/>
            <p14:sldId id="280"/>
            <p14:sldId id="344"/>
            <p14:sldId id="290"/>
            <p14:sldId id="291"/>
            <p14:sldId id="302"/>
            <p14:sldId id="303"/>
            <p14:sldId id="304"/>
            <p14:sldId id="29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45"/>
            <p14:sldId id="346"/>
            <p14:sldId id="322"/>
            <p14:sldId id="347"/>
            <p14:sldId id="323"/>
            <p14:sldId id="324"/>
            <p14:sldId id="325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86372" autoAdjust="0"/>
  </p:normalViewPr>
  <p:slideViewPr>
    <p:cSldViewPr>
      <p:cViewPr varScale="1">
        <p:scale>
          <a:sx n="69" d="100"/>
          <a:sy n="69" d="100"/>
        </p:scale>
        <p:origin x="13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15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-298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BBECC-95BD-44F0-9A5B-3A77644942D4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304DF-C1BA-40AE-A248-EE1FD47657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40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942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63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9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13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3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3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39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5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60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15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FA18-E9C0-46B0-908F-810C4DF19BD8}" type="datetimeFigureOut">
              <a:rPr lang="zh-CN" altLang="en-US" smtClean="0"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36D-AD7D-4FC6-A0F9-DD2B0358B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7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fld id="{DE23FA18-E9C0-46B0-908F-810C4DF19BD8}" type="datetimeFigureOut">
              <a:rPr lang="zh-CN" altLang="en-US" smtClean="0"/>
              <a:pPr/>
              <a:t>2019/10/7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defRPr>
            </a:lvl1pPr>
          </a:lstStyle>
          <a:p>
            <a:fld id="{0DAC636D-AD7D-4FC6-A0F9-DD2B0358BE8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6697515" y="131763"/>
            <a:ext cx="2314736" cy="21544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zh-CN" altLang="en-US" sz="1400" baseline="0" dirty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四川农业大学    潘勇浩 </a:t>
            </a:r>
            <a:r>
              <a:rPr lang="zh-CN" altLang="en-US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   </a:t>
            </a:r>
            <a:r>
              <a:rPr lang="en-US" altLang="zh-CN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2019</a:t>
            </a:r>
            <a:endParaRPr lang="zh-CN" altLang="en-US" sz="1400" baseline="0" dirty="0">
              <a:solidFill>
                <a:srgbClr val="8BB1E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66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bg1"/>
          </a:solidFill>
          <a:latin typeface="Arial" pitchFamily="34" charset="0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21"/>
          <p:cNvSpPr>
            <a:spLocks noChangeArrowheads="1" noChangeShapeType="1" noTextEdit="1"/>
          </p:cNvSpPr>
          <p:nvPr/>
        </p:nvSpPr>
        <p:spPr bwMode="auto">
          <a:xfrm>
            <a:off x="2915816" y="1700808"/>
            <a:ext cx="2802324" cy="8602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第</a:t>
            </a:r>
            <a:r>
              <a:rPr kumimoji="0" lang="en-US" altLang="zh-CN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4</a:t>
            </a:r>
            <a:r>
              <a:rPr kumimoji="0" lang="zh-CN" altLang="en-US" sz="2800" b="0" i="0" u="none" strike="noStrike" kern="10" cap="none" spc="0" normalizeH="0" baseline="0" noProof="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80000"/>
                    </a:srgbClr>
                  </a:outerShdw>
                </a:effectLst>
                <a:uLnTx/>
                <a:uFillTx/>
                <a:latin typeface="隶书"/>
                <a:ea typeface="隶书"/>
              </a:rPr>
              <a:t>章</a:t>
            </a:r>
            <a:endParaRPr kumimoji="0" lang="zh-CN" altLang="en-US" sz="2800" b="0" i="0" u="none" strike="noStrike" kern="10" cap="none" spc="0" normalizeH="0" baseline="0" noProof="0" dirty="0">
              <a:ln w="19050" cap="sq">
                <a:solidFill>
                  <a:srgbClr val="FFCC00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000514">
                    <a:alpha val="80000"/>
                  </a:srgbClr>
                </a:outerShdw>
              </a:effectLst>
              <a:uLnTx/>
              <a:uFillTx/>
              <a:latin typeface="隶书"/>
              <a:ea typeface="隶书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323528" y="3356992"/>
            <a:ext cx="841332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none" lIns="91440" tIns="45720" rIns="91440" bIns="45720" numCol="1" fromWordArt="1" anchor="ctr" anchorCtr="0" compatLnSpc="1">
            <a:prstTxWarp prst="textPlain">
              <a:avLst>
                <a:gd name="adj" fmla="val 48575"/>
              </a:avLst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kern="10" spc="30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79999"/>
                    </a:srgbClr>
                  </a:outerShdw>
                </a:effectLst>
                <a:latin typeface="Arial Black" pitchFamily="34" charset="0"/>
                <a:ea typeface="隶书"/>
              </a:rPr>
              <a:t>Structured Query Language</a:t>
            </a:r>
            <a:endParaRPr kumimoji="0" lang="zh-CN" altLang="en-US" sz="2800" b="0" i="0" u="none" strike="noStrike" kern="10" cap="none" spc="300" normalizeH="0" baseline="-25000" noProof="0" dirty="0">
              <a:ln w="19050" cap="sq">
                <a:solidFill>
                  <a:srgbClr val="FFCC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000514">
                    <a:alpha val="79999"/>
                  </a:srgbClr>
                </a:outerShdw>
              </a:effectLst>
              <a:uLnTx/>
              <a:uFillTx/>
              <a:latin typeface="Arial Black" pitchFamily="34" charset="0"/>
              <a:ea typeface="隶书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2915816" y="4686455"/>
            <a:ext cx="322875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none" lIns="91440" tIns="45720" rIns="91440" bIns="45720" numCol="1" fromWordArt="1" anchor="ctr" anchorCtr="0" compatLnSpc="1">
            <a:prstTxWarp prst="textPlain">
              <a:avLst>
                <a:gd name="adj" fmla="val 48575"/>
              </a:avLst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rgbClr val="FF9900"/>
                </a:solidFill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10" spc="300" dirty="0" smtClean="0">
                <a:ln w="19050" cap="sq">
                  <a:solidFill>
                    <a:srgbClr val="FFCC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000514">
                      <a:alpha val="79999"/>
                    </a:srgbClr>
                  </a:outerShdw>
                </a:effectLst>
                <a:latin typeface="Times New Roman" pitchFamily="18" charset="0"/>
                <a:ea typeface="隶书"/>
                <a:cs typeface="Times New Roman" pitchFamily="18" charset="0"/>
              </a:rPr>
              <a:t>SQL</a:t>
            </a:r>
            <a:endParaRPr kumimoji="0" lang="zh-CN" altLang="en-US" sz="2800" b="1" i="0" u="none" strike="noStrike" kern="10" cap="none" spc="300" normalizeH="0" baseline="-25000" noProof="0" dirty="0">
              <a:ln w="19050" cap="sq">
                <a:solidFill>
                  <a:srgbClr val="FFCC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000514">
                    <a:alpha val="79999"/>
                  </a:srgbClr>
                </a:outerShdw>
              </a:effectLst>
              <a:uLnTx/>
              <a:uFillTx/>
              <a:latin typeface="Times New Roman" pitchFamily="18" charset="0"/>
              <a:ea typeface="隶书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85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-27384"/>
            <a:ext cx="22245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spcBef>
                <a:spcPts val="0"/>
              </a:spcBef>
              <a:defRPr/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SQL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简介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230188" y="908720"/>
            <a:ext cx="8662987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Structured Query Language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）译为</a:t>
            </a:r>
            <a:r>
              <a:rPr lang="zh-CN" altLang="en-US" dirty="0" smtClean="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结构化查询语言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，是标准的关系数据操作语言。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1974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年由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Boyce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Chamberlain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提出。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1975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～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1979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IBM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System R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上实现。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1986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年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ANSI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公布了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86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标准，次年被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ISO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通过。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1989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年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ISO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推出了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89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标准。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1992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年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ISO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推出了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92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标准，也称为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SQL2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99/SQL3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，增加了对面向对象模型的支持。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－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2006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，与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XML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关联应用</a:t>
            </a:r>
          </a:p>
        </p:txBody>
      </p:sp>
    </p:spTree>
    <p:extLst>
      <p:ext uri="{BB962C8B-B14F-4D97-AF65-F5344CB8AC3E}">
        <p14:creationId xmlns:p14="http://schemas.microsoft.com/office/powerpoint/2010/main" val="3793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7" y="-27384"/>
            <a:ext cx="273746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SQL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的特点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217488" y="910084"/>
            <a:ext cx="8628062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50000"/>
              </a:spcAft>
              <a:defRPr/>
            </a:pP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集</a:t>
            </a:r>
            <a:r>
              <a:rPr lang="zh-CN" altLang="en-US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数据定义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i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zh-CN" altLang="en-US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数据查询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i="1" dirty="0" smtClean="0">
                <a:latin typeface="Times New Roman" pitchFamily="18" charset="0"/>
                <a:cs typeface="Times New Roman" pitchFamily="18" charset="0"/>
              </a:rPr>
              <a:t>Query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zh-CN" altLang="en-US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数据操纵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i="1" dirty="0" smtClean="0">
                <a:latin typeface="Times New Roman" pitchFamily="18" charset="0"/>
                <a:cs typeface="Times New Roman" pitchFamily="18" charset="0"/>
              </a:rPr>
              <a:t>Manipulation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zh-CN" altLang="en-US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数据控制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i="1" dirty="0" smtClean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功能于一体，语言简捷自然，易学易用。</a:t>
            </a:r>
          </a:p>
          <a:p>
            <a:pPr eaLnBrk="1" hangingPunct="1">
              <a:spcAft>
                <a:spcPct val="50000"/>
              </a:spcAft>
              <a:defRPr/>
            </a:pP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既是</a:t>
            </a:r>
            <a:r>
              <a:rPr lang="zh-CN" altLang="en-US" sz="3200" b="1" dirty="0" smtClean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</a:rPr>
              <a:t>自主式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语言，又是</a:t>
            </a:r>
            <a:r>
              <a:rPr lang="zh-CN" altLang="en-US" sz="3200" b="1" dirty="0" smtClean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</a:rPr>
              <a:t>嵌入式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语言。</a:t>
            </a:r>
          </a:p>
        </p:txBody>
      </p:sp>
      <p:grpSp>
        <p:nvGrpSpPr>
          <p:cNvPr id="33" name="Group 4"/>
          <p:cNvGrpSpPr>
            <a:grpSpLocks/>
          </p:cNvGrpSpPr>
          <p:nvPr/>
        </p:nvGrpSpPr>
        <p:grpSpPr bwMode="auto">
          <a:xfrm>
            <a:off x="950913" y="3611563"/>
            <a:ext cx="7162800" cy="2736850"/>
            <a:chOff x="576" y="1706"/>
            <a:chExt cx="4512" cy="1846"/>
          </a:xfrm>
        </p:grpSpPr>
        <p:sp>
          <p:nvSpPr>
            <p:cNvPr id="34" name="Rectangle 5"/>
            <p:cNvSpPr>
              <a:spLocks noChangeArrowheads="1"/>
            </p:cNvSpPr>
            <p:nvPr/>
          </p:nvSpPr>
          <p:spPr bwMode="auto">
            <a:xfrm>
              <a:off x="1949" y="3194"/>
              <a:ext cx="3139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GRANT</a:t>
              </a: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，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REVOKE</a:t>
              </a:r>
            </a:p>
          </p:txBody>
        </p:sp>
        <p:sp>
          <p:nvSpPr>
            <p:cNvPr id="35" name="Rectangle 6"/>
            <p:cNvSpPr>
              <a:spLocks noChangeArrowheads="1"/>
            </p:cNvSpPr>
            <p:nvPr/>
          </p:nvSpPr>
          <p:spPr bwMode="auto">
            <a:xfrm>
              <a:off x="576" y="3194"/>
              <a:ext cx="1373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数据控制</a:t>
              </a: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1949" y="2810"/>
              <a:ext cx="313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INSERT</a:t>
              </a: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，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UPDATE</a:t>
              </a: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，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DELETE</a:t>
              </a: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576" y="2810"/>
              <a:ext cx="137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数据操纵</a:t>
              </a:r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1949" y="2426"/>
              <a:ext cx="313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CREATE</a:t>
              </a: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，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DROP</a:t>
              </a: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，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ALTER</a:t>
              </a: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576" y="2426"/>
              <a:ext cx="137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数据定义</a:t>
              </a:r>
            </a:p>
          </p:txBody>
        </p:sp>
        <p:sp>
          <p:nvSpPr>
            <p:cNvPr id="40" name="Rectangle 11"/>
            <p:cNvSpPr>
              <a:spLocks noChangeArrowheads="1"/>
            </p:cNvSpPr>
            <p:nvPr/>
          </p:nvSpPr>
          <p:spPr bwMode="auto">
            <a:xfrm>
              <a:off x="1949" y="2037"/>
              <a:ext cx="3139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SELECT</a:t>
              </a:r>
            </a:p>
          </p:txBody>
        </p:sp>
        <p:sp>
          <p:nvSpPr>
            <p:cNvPr id="41" name="Rectangle 12"/>
            <p:cNvSpPr>
              <a:spLocks noChangeArrowheads="1"/>
            </p:cNvSpPr>
            <p:nvPr/>
          </p:nvSpPr>
          <p:spPr bwMode="auto">
            <a:xfrm>
              <a:off x="576" y="2037"/>
              <a:ext cx="1373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数据查询</a:t>
              </a:r>
            </a:p>
          </p:txBody>
        </p:sp>
        <p:sp>
          <p:nvSpPr>
            <p:cNvPr id="42" name="Rectangle 13"/>
            <p:cNvSpPr>
              <a:spLocks noChangeArrowheads="1"/>
            </p:cNvSpPr>
            <p:nvPr/>
          </p:nvSpPr>
          <p:spPr bwMode="auto">
            <a:xfrm>
              <a:off x="1949" y="1706"/>
              <a:ext cx="313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动    词</a:t>
              </a:r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576" y="1706"/>
              <a:ext cx="1373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itchFamily="18" charset="0"/>
                </a:rPr>
                <a:t>功能</a:t>
              </a:r>
            </a:p>
          </p:txBody>
        </p:sp>
        <p:sp>
          <p:nvSpPr>
            <p:cNvPr id="44" name="Line 15"/>
            <p:cNvSpPr>
              <a:spLocks noChangeShapeType="1"/>
            </p:cNvSpPr>
            <p:nvPr/>
          </p:nvSpPr>
          <p:spPr bwMode="auto">
            <a:xfrm>
              <a:off x="576" y="1706"/>
              <a:ext cx="4512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Line 16"/>
            <p:cNvSpPr>
              <a:spLocks noChangeShapeType="1"/>
            </p:cNvSpPr>
            <p:nvPr/>
          </p:nvSpPr>
          <p:spPr bwMode="auto">
            <a:xfrm>
              <a:off x="576" y="2037"/>
              <a:ext cx="451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Line 17"/>
            <p:cNvSpPr>
              <a:spLocks noChangeShapeType="1"/>
            </p:cNvSpPr>
            <p:nvPr/>
          </p:nvSpPr>
          <p:spPr bwMode="auto">
            <a:xfrm>
              <a:off x="576" y="2426"/>
              <a:ext cx="451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Line 18"/>
            <p:cNvSpPr>
              <a:spLocks noChangeShapeType="1"/>
            </p:cNvSpPr>
            <p:nvPr/>
          </p:nvSpPr>
          <p:spPr bwMode="auto">
            <a:xfrm>
              <a:off x="576" y="2810"/>
              <a:ext cx="451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19"/>
            <p:cNvSpPr>
              <a:spLocks noChangeShapeType="1"/>
            </p:cNvSpPr>
            <p:nvPr/>
          </p:nvSpPr>
          <p:spPr bwMode="auto">
            <a:xfrm>
              <a:off x="576" y="3194"/>
              <a:ext cx="4512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576" y="3552"/>
              <a:ext cx="4512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Line 21"/>
            <p:cNvSpPr>
              <a:spLocks noChangeShapeType="1"/>
            </p:cNvSpPr>
            <p:nvPr/>
          </p:nvSpPr>
          <p:spPr bwMode="auto">
            <a:xfrm>
              <a:off x="576" y="1706"/>
              <a:ext cx="0" cy="1846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1949" y="1706"/>
              <a:ext cx="0" cy="184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Line 23"/>
            <p:cNvSpPr>
              <a:spLocks noChangeShapeType="1"/>
            </p:cNvSpPr>
            <p:nvPr/>
          </p:nvSpPr>
          <p:spPr bwMode="auto">
            <a:xfrm>
              <a:off x="5088" y="1706"/>
              <a:ext cx="0" cy="1846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3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427634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spcBef>
                <a:spcPts val="0"/>
              </a:spcBef>
              <a:defRPr/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数据定义（</a:t>
            </a: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DDL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270510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3" y="2492375"/>
            <a:ext cx="4886325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Freeform 6"/>
          <p:cNvSpPr>
            <a:spLocks/>
          </p:cNvSpPr>
          <p:nvPr/>
        </p:nvSpPr>
        <p:spPr bwMode="auto">
          <a:xfrm>
            <a:off x="3132138" y="3876675"/>
            <a:ext cx="2376487" cy="128588"/>
          </a:xfrm>
          <a:custGeom>
            <a:avLst/>
            <a:gdLst/>
            <a:ahLst/>
            <a:cxnLst>
              <a:cxn ang="0">
                <a:pos x="1542" y="0"/>
              </a:cxn>
              <a:cxn ang="0">
                <a:pos x="1260" y="81"/>
              </a:cxn>
              <a:cxn ang="0">
                <a:pos x="0" y="77"/>
              </a:cxn>
            </a:cxnLst>
            <a:rect l="0" t="0" r="r" b="b"/>
            <a:pathLst>
              <a:path w="1542" h="81">
                <a:moveTo>
                  <a:pt x="1542" y="0"/>
                </a:moveTo>
                <a:lnTo>
                  <a:pt x="1260" y="81"/>
                </a:lnTo>
                <a:lnTo>
                  <a:pt x="0" y="77"/>
                </a:lnTo>
              </a:path>
            </a:pathLst>
          </a:custGeom>
          <a:noFill/>
          <a:ln w="38100" cap="sq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5510213" y="3597275"/>
            <a:ext cx="3167062" cy="936625"/>
          </a:xfrm>
          <a:prstGeom prst="roundRect">
            <a:avLst>
              <a:gd name="adj" fmla="val 4847"/>
            </a:avLst>
          </a:prstGeom>
          <a:solidFill>
            <a:srgbClr val="99CC00">
              <a:alpha val="28000"/>
            </a:srgbClr>
          </a:solidFill>
          <a:ln w="28575" cap="sq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1462088" y="3657600"/>
            <a:ext cx="1670050" cy="1728788"/>
          </a:xfrm>
          <a:prstGeom prst="roundRect">
            <a:avLst>
              <a:gd name="adj" fmla="val 4847"/>
            </a:avLst>
          </a:prstGeom>
          <a:solidFill>
            <a:srgbClr val="99CC00">
              <a:alpha val="28000"/>
            </a:srgbClr>
          </a:solidFill>
          <a:ln w="28575" cap="sq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9"/>
          <p:cNvSpPr txBox="1">
            <a:spLocks noChangeArrowheads="1"/>
          </p:cNvSpPr>
          <p:nvPr/>
        </p:nvSpPr>
        <p:spPr bwMode="auto">
          <a:xfrm>
            <a:off x="179512" y="980728"/>
            <a:ext cx="793037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4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5600" marR="0" lvl="0" indent="-355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4"/>
              </a:buBlip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定义数据库结构、表结构、视图、索引等</a:t>
            </a:r>
          </a:p>
        </p:txBody>
      </p:sp>
      <p:sp>
        <p:nvSpPr>
          <p:cNvPr id="24" name="AutoShape 10"/>
          <p:cNvSpPr>
            <a:spLocks noChangeArrowheads="1"/>
          </p:cNvSpPr>
          <p:nvPr/>
        </p:nvSpPr>
        <p:spPr bwMode="auto">
          <a:xfrm>
            <a:off x="6300788" y="1989138"/>
            <a:ext cx="1944687" cy="1296987"/>
          </a:xfrm>
          <a:prstGeom prst="wedgeRoundRectCallout">
            <a:avLst>
              <a:gd name="adj1" fmla="val -30083"/>
              <a:gd name="adj2" fmla="val 7338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数据实际都放在这些物理文件当中</a:t>
            </a:r>
          </a:p>
        </p:txBody>
      </p:sp>
      <p:sp>
        <p:nvSpPr>
          <p:cNvPr id="25" name="AutoShape 11"/>
          <p:cNvSpPr>
            <a:spLocks noChangeArrowheads="1"/>
          </p:cNvSpPr>
          <p:nvPr/>
        </p:nvSpPr>
        <p:spPr bwMode="auto">
          <a:xfrm>
            <a:off x="2051050" y="2492375"/>
            <a:ext cx="936625" cy="865188"/>
          </a:xfrm>
          <a:prstGeom prst="wedgeRoundRectCallout">
            <a:avLst>
              <a:gd name="adj1" fmla="val -33560"/>
              <a:gd name="adj2" fmla="val 8486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逻辑结构</a:t>
            </a:r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3348038" y="5516563"/>
            <a:ext cx="3313112" cy="865187"/>
          </a:xfrm>
          <a:prstGeom prst="wedgeRoundRectCallout">
            <a:avLst>
              <a:gd name="adj1" fmla="val -29157"/>
              <a:gd name="adj2" fmla="val -7513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对应关系是由数据库管理员设计和定义的</a:t>
            </a:r>
          </a:p>
        </p:txBody>
      </p:sp>
    </p:spTree>
    <p:extLst>
      <p:ext uri="{BB962C8B-B14F-4D97-AF65-F5344CB8AC3E}">
        <p14:creationId xmlns:p14="http://schemas.microsoft.com/office/powerpoint/2010/main" val="259315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41992" y="-27384"/>
            <a:ext cx="4762056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数据库的定义与删除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95536" y="1772816"/>
            <a:ext cx="8748464" cy="5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CREATE  DATABASE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lang="zh-CN" altLang="en-US" sz="3200" i="1" kern="0" dirty="0" smtClean="0">
                <a:solidFill>
                  <a:srgbClr val="FFCC00"/>
                </a:solidFill>
                <a:latin typeface="Arial" charset="0"/>
              </a:rPr>
              <a:t>数据库名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微软雅黑" pitchFamily="34" charset="-122"/>
              <a:cs typeface="+mn-cs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95536" y="1118702"/>
            <a:ext cx="27158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j-cs"/>
              </a:rPr>
              <a:t> 定义数据库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95536" y="2494260"/>
            <a:ext cx="8207375" cy="1222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例如命令：</a:t>
            </a:r>
            <a:r>
              <a:rPr lang="en-US" altLang="zh-CN" sz="2800" b="1" kern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Create  Database  tickets</a:t>
            </a:r>
            <a:r>
              <a:rPr lang="en-US" altLang="zh-CN" sz="2800" b="1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可建立一个名为“</a:t>
            </a:r>
            <a:r>
              <a:rPr lang="en-US" altLang="zh-CN" sz="2800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tickets</a:t>
            </a:r>
            <a:r>
              <a:rPr lang="zh-CN" altLang="en-US" sz="2800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”的数据库</a:t>
            </a:r>
            <a:endParaRPr lang="en-US" altLang="zh-CN" sz="2800" kern="0" dirty="0" smtClean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95536" y="5085183"/>
            <a:ext cx="8748464" cy="5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DROP  DATABASE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lang="zh-CN" altLang="en-US" sz="3200" i="1" kern="0" dirty="0" smtClean="0">
                <a:solidFill>
                  <a:srgbClr val="FFCC00"/>
                </a:solidFill>
                <a:latin typeface="Arial" charset="0"/>
              </a:rPr>
              <a:t>数据库名</a:t>
            </a:r>
            <a:r>
              <a:rPr lang="en-US" altLang="zh-CN" sz="3200" kern="0" dirty="0" smtClean="0">
                <a:solidFill>
                  <a:srgbClr val="FFCC00"/>
                </a:solidFill>
                <a:latin typeface="Arial" charset="0"/>
              </a:rPr>
              <a:t>&gt;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微软雅黑" pitchFamily="34" charset="-122"/>
              <a:cs typeface="+mn-cs"/>
            </a:endParaRP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395536" y="4356392"/>
            <a:ext cx="27158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000514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姚体" pitchFamily="2" charset="-122"/>
                <a:ea typeface="方正姚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¯"/>
              <a:tabLst/>
              <a:defRPr/>
            </a:pPr>
            <a:r>
              <a:rPr kumimoji="0" lang="zh-CN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j-cs"/>
              </a:rPr>
              <a:t> 删除数据库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97073" y="5805264"/>
            <a:ext cx="8207375" cy="502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例如：</a:t>
            </a:r>
            <a:r>
              <a:rPr lang="en-US" altLang="zh-CN" sz="2800" b="1" kern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Drop  Database  tickets</a:t>
            </a:r>
            <a:endParaRPr kumimoji="0" lang="en-US" altLang="en-US" sz="2800" b="0" i="0" u="none" strike="noStrike" kern="0" cap="none" spc="0" normalizeH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4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2710211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spcBef>
                <a:spcPts val="0"/>
              </a:spcBef>
              <a:defRPr/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定义基本表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395536" y="836712"/>
            <a:ext cx="8207375" cy="3116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CREATE  TABLE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zh-CN" altLang="en-US" b="0" i="1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表名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(</a:t>
            </a:r>
          </a:p>
          <a:p>
            <a:pPr marL="900113" lvl="2" indent="-342900" eaLnBrk="1" hangingPunct="1">
              <a:lnSpc>
                <a:spcPts val="4400"/>
              </a:lnSpc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列名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1&gt;  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数据类型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 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列级完整性约束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]</a:t>
            </a:r>
          </a:p>
          <a:p>
            <a:pPr marL="900113" lvl="2" indent="-342900" eaLnBrk="1" hangingPunct="1">
              <a:lnSpc>
                <a:spcPts val="4400"/>
              </a:lnSpc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，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列名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2&gt;  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数据类型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 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列级完整性约束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]</a:t>
            </a:r>
          </a:p>
          <a:p>
            <a:pPr marL="900113" lvl="2" indent="-342900" eaLnBrk="1" hangingPunct="1">
              <a:lnSpc>
                <a:spcPts val="4400"/>
              </a:lnSpc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	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┆</a:t>
            </a:r>
          </a:p>
          <a:p>
            <a:pPr marL="900113" lvl="2" indent="-342900" eaLnBrk="1" hangingPunct="1">
              <a:lnSpc>
                <a:spcPts val="4400"/>
              </a:lnSpc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，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列名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n&gt;  &lt;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数据类型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 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列级完整性约束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]]</a:t>
            </a:r>
          </a:p>
          <a:p>
            <a:pPr marL="900113" lvl="2" indent="-342900" eaLnBrk="1" hangingPunct="1">
              <a:lnSpc>
                <a:spcPts val="4400"/>
              </a:lnSpc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[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，表级完整性约束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1[,…]] 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)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微软雅黑" pitchFamily="34" charset="-122"/>
              <a:cs typeface="+mn-cs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067944" y="4498181"/>
            <a:ext cx="4824858" cy="197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CREATE TABLE </a:t>
            </a:r>
            <a:r>
              <a:rPr kumimoji="0" lang="en-US" altLang="en-US" sz="2800" b="1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Teacher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28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</a:t>
            </a:r>
            <a:endParaRPr kumimoji="0" lang="en-US" altLang="zh-CN" sz="2800" b="1" i="0" u="none" strike="noStrike" kern="0" cap="none" spc="0" normalizeH="0" noProof="0" dirty="0">
              <a:ln>
                <a:noFill/>
              </a:ln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altLang="en-US" sz="28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工号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CHAR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(4),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altLang="en-US" sz="28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姓名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2800" b="0" i="0" u="none" strike="noStrike" kern="0" cap="none" spc="0" normalizeH="0" noProof="0" dirty="0" smtClean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CHAR</a:t>
            </a:r>
            <a:r>
              <a:rPr kumimoji="0" lang="en-US" altLang="en-US" sz="28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(20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),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altLang="en-US" sz="28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年龄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28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INT</a:t>
            </a: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L="342900" marR="0" lvl="0" indent="-3429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altLang="en-US" sz="28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性别</a:t>
            </a:r>
            <a:r>
              <a:rPr kumimoji="0" lang="en-US" altLang="en-US" sz="28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CHAR(2) </a:t>
            </a:r>
            <a:r>
              <a:rPr kumimoji="0" lang="en-US" altLang="en-US" sz="28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) </a:t>
            </a:r>
            <a:endParaRPr kumimoji="0" lang="en-US" altLang="en-US" sz="2800" b="0" i="0" u="none" strike="noStrike" kern="0" cap="none" spc="0" normalizeH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3147336" y="5122863"/>
            <a:ext cx="503237" cy="360362"/>
          </a:xfrm>
          <a:prstGeom prst="rightArrow">
            <a:avLst>
              <a:gd name="adj1" fmla="val 50000"/>
              <a:gd name="adj2" fmla="val 34912"/>
            </a:avLst>
          </a:prstGeom>
          <a:solidFill>
            <a:srgbClr val="0099CC"/>
          </a:solidFill>
          <a:ln w="12700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395536" y="4906963"/>
            <a:ext cx="25209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创建一个没有任何约束的表</a:t>
            </a:r>
          </a:p>
        </p:txBody>
      </p:sp>
    </p:spTree>
    <p:extLst>
      <p:ext uri="{BB962C8B-B14F-4D97-AF65-F5344CB8AC3E}">
        <p14:creationId xmlns:p14="http://schemas.microsoft.com/office/powerpoint/2010/main" val="1259949158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2710211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>
              <a:spcBef>
                <a:spcPts val="0"/>
              </a:spcBef>
              <a:defRPr/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定义基本表</a:t>
            </a:r>
            <a:endParaRPr kumimoji="0" lang="zh-CN" alt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cs typeface="+mn-cs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305395" y="3429000"/>
            <a:ext cx="6625282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30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CREATE TABLE </a:t>
            </a:r>
            <a:r>
              <a:rPr kumimoji="0" lang="en-US" altLang="en-US" sz="3000" b="1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Teacher</a:t>
            </a:r>
            <a:r>
              <a:rPr kumimoji="0" lang="en-US" altLang="zh-CN" sz="30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</a:t>
            </a:r>
            <a:endParaRPr kumimoji="0" lang="en-US" altLang="zh-CN" sz="3000" b="1" i="0" u="none" strike="noStrike" kern="0" cap="none" spc="0" normalizeH="0" noProof="0" dirty="0">
              <a:ln>
                <a:noFill/>
              </a:ln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 </a:t>
            </a:r>
            <a:r>
              <a:rPr kumimoji="0" lang="en-US" altLang="en-US" sz="30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工号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CHAR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(4) 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PRIMARY KEY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 </a:t>
            </a:r>
            <a:r>
              <a:rPr kumimoji="0" lang="en-US" altLang="en-US" sz="30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姓名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CHAR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(20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) 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NOT NULL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 </a:t>
            </a:r>
            <a:r>
              <a:rPr kumimoji="0" lang="en-US" altLang="en-US" sz="3000" b="0" i="0" u="none" strike="noStrike" kern="0" cap="none" spc="0" normalizeH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年龄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INT</a:t>
            </a:r>
            <a:r>
              <a:rPr kumimoji="0" lang="en-US" altLang="zh-CN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 </a:t>
            </a:r>
            <a:r>
              <a:rPr kumimoji="0" lang="en-US" altLang="en-US" sz="3000" b="0" i="0" u="none" strike="noStrike" kern="0" cap="none" spc="0" normalizeH="0" noProof="0" dirty="0" err="1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性别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CHAR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(2) 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DEFAULT '男'</a:t>
            </a:r>
            <a:r>
              <a:rPr kumimoji="0" lang="en-US" altLang="en-US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,</a:t>
            </a:r>
          </a:p>
          <a:p>
            <a:pPr marL="342900" marR="0" lvl="0" indent="-342900" defTabSz="91440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000" b="0" i="0" u="none" strike="noStrike" kern="0" cap="none" spc="0" normalizeH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  </a:t>
            </a:r>
            <a:r>
              <a:rPr kumimoji="0" lang="en-US" altLang="zh-CN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UNIQUE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(</a:t>
            </a:r>
            <a:r>
              <a:rPr kumimoji="0" lang="en-US" altLang="en-US" sz="3000" b="0" i="0" u="none" strike="noStrike" kern="0" cap="none" spc="0" normalizeH="0" noProof="0" dirty="0" err="1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姓名</a:t>
            </a:r>
            <a:r>
              <a:rPr kumimoji="0" lang="en-US" altLang="en-US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)</a:t>
            </a:r>
            <a:r>
              <a:rPr kumimoji="0" lang="en-US" altLang="zh-CN" sz="30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sz="3000" b="1" i="0" u="none" strike="noStrike" kern="0" cap="none" spc="0" normalizeH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cs typeface="Arial" pitchFamily="34" charset="0"/>
              </a:rPr>
              <a:t>)</a:t>
            </a:r>
            <a:endParaRPr kumimoji="0" lang="en-US" altLang="en-US" sz="3000" b="0" i="0" u="none" strike="noStrike" kern="0" cap="none" spc="0" normalizeH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86580" y="980728"/>
            <a:ext cx="8062913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spcAft>
                <a:spcPct val="0"/>
              </a:spcAft>
              <a:buClr>
                <a:srgbClr val="66FF33"/>
              </a:buClr>
              <a:buSzPct val="85000"/>
            </a:pPr>
            <a:r>
              <a:rPr lang="zh-CN" altLang="en-US" sz="3200" kern="0" dirty="0">
                <a:solidFill>
                  <a:schemeClr val="bg1"/>
                </a:solidFill>
              </a:rPr>
              <a:t>创建一个约束丰富的表</a:t>
            </a:r>
            <a:r>
              <a:rPr lang="en-US" altLang="zh-CN" sz="3200" kern="0" dirty="0">
                <a:solidFill>
                  <a:schemeClr val="bg1"/>
                </a:solidFill>
              </a:rPr>
              <a:t>:</a:t>
            </a:r>
            <a:r>
              <a:rPr lang="zh-CN" altLang="en-US" sz="3200" kern="0" dirty="0">
                <a:solidFill>
                  <a:schemeClr val="bg1"/>
                </a:solidFill>
              </a:rPr>
              <a:t>工号为主键，姓名不能为空</a:t>
            </a:r>
            <a:r>
              <a:rPr lang="zh-CN" altLang="en-US" sz="3200" kern="0" dirty="0" smtClean="0">
                <a:solidFill>
                  <a:schemeClr val="bg1"/>
                </a:solidFill>
              </a:rPr>
              <a:t>，性别</a:t>
            </a:r>
            <a:r>
              <a:rPr lang="zh-CN" altLang="en-US" sz="3200" kern="0" dirty="0">
                <a:solidFill>
                  <a:schemeClr val="bg1"/>
                </a:solidFill>
              </a:rPr>
              <a:t>的默认值为</a:t>
            </a:r>
            <a:r>
              <a:rPr lang="en-US" altLang="zh-CN" sz="3200" kern="0" dirty="0">
                <a:solidFill>
                  <a:schemeClr val="bg1"/>
                </a:solidFill>
              </a:rPr>
              <a:t>‘</a:t>
            </a:r>
            <a:r>
              <a:rPr lang="zh-CN" altLang="en-US" sz="3200" kern="0" dirty="0">
                <a:solidFill>
                  <a:schemeClr val="bg1"/>
                </a:solidFill>
              </a:rPr>
              <a:t>男’，且姓名必须是唯一的。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3917512" y="2542448"/>
            <a:ext cx="700524" cy="578173"/>
          </a:xfrm>
          <a:prstGeom prst="downArrow">
            <a:avLst>
              <a:gd name="adj1" fmla="val 50000"/>
              <a:gd name="adj2" fmla="val 30199"/>
            </a:avLst>
          </a:prstGeom>
          <a:solidFill>
            <a:srgbClr val="0099CC"/>
          </a:solidFill>
          <a:ln w="12700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6175753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2710211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修改基本表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3568" y="980728"/>
            <a:ext cx="8207375" cy="454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ALTER  TABLE 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表名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ADD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新列名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数据类型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[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级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完整性约束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]]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ADD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行</a:t>
            </a:r>
            <a:r>
              <a:rPr kumimoji="0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级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完整性约束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DROP [COLUMN]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列名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DROP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完整性约束</a:t>
            </a:r>
            <a:r>
              <a:rPr kumimoji="0" lang="en-US" altLang="zh-CN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名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	[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MODIFY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COLUMN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&lt;</a:t>
            </a:r>
            <a:r>
              <a:rPr kumimoji="0" lang="en-US" altLang="en-US" sz="28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列名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 </a:t>
            </a:r>
            <a:r>
              <a:rPr lang="en-US" altLang="en-US" i="1" kern="0" dirty="0" smtClean="0">
                <a:latin typeface="Arial" charset="0"/>
              </a:rPr>
              <a:t>&lt;</a:t>
            </a:r>
            <a:r>
              <a:rPr lang="zh-CN" altLang="en-US" i="1" kern="0" dirty="0" smtClean="0">
                <a:latin typeface="Arial" charset="0"/>
              </a:rPr>
              <a:t>列定义</a:t>
            </a:r>
            <a:r>
              <a:rPr kumimoji="0" lang="en-US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&gt;] </a:t>
            </a:r>
          </a:p>
          <a:p>
            <a:pPr lvl="0" eaLnBrk="1" hangingPunct="1">
              <a:spcAft>
                <a:spcPct val="0"/>
              </a:spcAft>
              <a:buNone/>
              <a:defRPr/>
            </a:pPr>
            <a:r>
              <a:rPr lang="en-US" altLang="zh-CN" kern="0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Arial" charset="0"/>
              </a:rPr>
              <a:t>     ┆</a:t>
            </a:r>
            <a:endParaRPr kumimoji="1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67792" y="4366468"/>
            <a:ext cx="8459787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Teacher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表增加一个工龄属性列，取值为整型：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ALTER TABLE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Teacher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ADD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工龄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INT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删除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Teacher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表的职称列：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LTER TABLE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Teacher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DROP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COLUMN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职称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8878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27384"/>
            <a:ext cx="2710211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删除基本表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97208" y="980728"/>
            <a:ext cx="8207375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DROP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TABLE   </a:t>
            </a:r>
            <a:r>
              <a:rPr kumimoji="0" lang="en-US" altLang="en-US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&lt;</a:t>
            </a:r>
            <a:r>
              <a:rPr kumimoji="0" lang="en-US" altLang="en-US" sz="32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表名</a:t>
            </a:r>
            <a:r>
              <a:rPr kumimoji="0" lang="en-US" altLang="en-US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&gt;</a:t>
            </a:r>
            <a:r>
              <a:rPr kumimoji="0" lang="en-US" altLang="zh-CN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</a:t>
            </a:r>
            <a:endParaRPr kumimoji="1" lang="en-US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微软雅黑" pitchFamily="34" charset="-122"/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39552" y="1774180"/>
            <a:ext cx="8207375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例如删除名称为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Teacher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</a:rPr>
              <a:t>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的表：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5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DROP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TABLE </a:t>
            </a:r>
            <a:r>
              <a:rPr kumimoji="0" lang="en-US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Teacher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684213" y="4453805"/>
            <a:ext cx="7924800" cy="4873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ts val="1200"/>
              </a:spcAft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基本表被删除后，该基本表的结构定义、表中数据、表的完整性约束以及表的索引，即一切与该基本表相关的元素都被会一并删除</a:t>
            </a:r>
            <a:r>
              <a:rPr lang="zh-CN" altLang="en-US" sz="320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。</a:t>
            </a:r>
            <a:endParaRPr lang="en-US" altLang="zh-CN" sz="3200" dirty="0" smtClean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ea typeface="宋体" pitchFamily="2" charset="-122"/>
            </a:endParaRPr>
          </a:p>
          <a:p>
            <a:pPr>
              <a:spcAft>
                <a:spcPts val="1200"/>
              </a:spcAft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当然，某些约束也会阻止表被删除</a:t>
            </a:r>
          </a:p>
        </p:txBody>
      </p:sp>
      <p:sp>
        <p:nvSpPr>
          <p:cNvPr id="13" name="Oval 6"/>
          <p:cNvSpPr>
            <a:spLocks noChangeArrowheads="1"/>
          </p:cNvSpPr>
          <p:nvPr/>
        </p:nvSpPr>
        <p:spPr bwMode="auto">
          <a:xfrm>
            <a:off x="613568" y="3501008"/>
            <a:ext cx="1154114" cy="692468"/>
          </a:xfrm>
          <a:prstGeom prst="ellipse">
            <a:avLst/>
          </a:prstGeom>
          <a:solidFill>
            <a:srgbClr val="FF0000"/>
          </a:solidFill>
          <a:ln w="28575" cap="sq">
            <a:solidFill>
              <a:srgbClr val="FFFFFF"/>
            </a:solidFill>
            <a:round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itchFamily="66" charset="0"/>
              </a:rPr>
              <a:t>警告</a:t>
            </a:r>
          </a:p>
        </p:txBody>
      </p:sp>
    </p:spTree>
    <p:extLst>
      <p:ext uri="{BB962C8B-B14F-4D97-AF65-F5344CB8AC3E}">
        <p14:creationId xmlns:p14="http://schemas.microsoft.com/office/powerpoint/2010/main" val="394036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476205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查询命令的一般格式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61079" y="1052736"/>
            <a:ext cx="8803534" cy="28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SELECT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  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目标列表达式列表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FROM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表名或视图名列表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WHERE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条件表达式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GROUP BY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列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名</a:t>
            </a:r>
            <a:r>
              <a:rPr kumimoji="1" lang="en-US" altLang="zh-CN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1[,…]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HAVING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条件表达式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&gt;]]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ORDER BY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&lt;</a:t>
            </a:r>
            <a:r>
              <a:rPr kumimoji="1" lang="zh-CN" alt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列名2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&gt; [ASC/DESC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][,…]] 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23850" y="3716486"/>
            <a:ext cx="8640763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根据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WHERE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子句的检索条件，从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FROM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子句指定的基本表或视图中选取满足条件的元组，再按照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SELECT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子句中指定的目标列表达式投影得到结果表。</a:t>
            </a:r>
          </a:p>
          <a:p>
            <a:pPr marL="342900" indent="-342900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如果有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GROUP BY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子句，则将查询结果按照&lt;列名1&gt;分组，即列值相等的元组在结果表中只产生一条记录。另外分组时如果有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HAVING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短语，则只输出满足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HAVING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条件的分组。</a:t>
            </a:r>
          </a:p>
          <a:p>
            <a:pPr marL="342900" indent="-342900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/>
            </a:pP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如果有</a:t>
            </a:r>
            <a:r>
              <a:rPr lang="en-US" altLang="zh-CN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ORDER BY</a:t>
            </a:r>
            <a:r>
              <a:rPr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子句，结果表要按照&lt;列名2&gt;的值排序。</a:t>
            </a:r>
            <a:endParaRPr kumimoji="0" lang="en-US" altLang="en-US" sz="24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2854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94" y="3840336"/>
            <a:ext cx="5987438" cy="225296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4" y="1830231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19111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SELECT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6931234" y="1702222"/>
            <a:ext cx="1008062" cy="863600"/>
          </a:xfrm>
          <a:prstGeom prst="wedgeRoundRectCallout">
            <a:avLst>
              <a:gd name="adj1" fmla="val -96888"/>
              <a:gd name="adj2" fmla="val -2892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sp>
        <p:nvSpPr>
          <p:cNvPr id="20" name="AutoShape 15"/>
          <p:cNvSpPr>
            <a:spLocks noChangeArrowheads="1"/>
          </p:cNvSpPr>
          <p:nvPr/>
        </p:nvSpPr>
        <p:spPr bwMode="auto">
          <a:xfrm>
            <a:off x="3923928" y="5301208"/>
            <a:ext cx="1655763" cy="1225550"/>
          </a:xfrm>
          <a:prstGeom prst="wedgeRoundRectCallout">
            <a:avLst>
              <a:gd name="adj1" fmla="val -69653"/>
              <a:gd name="adj2" fmla="val -2551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查询结果只有指定的这几列</a:t>
            </a: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1876441" y="4365104"/>
            <a:ext cx="178276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10"/>
          <p:cNvSpPr txBox="1">
            <a:spLocks noChangeArrowheads="1"/>
          </p:cNvSpPr>
          <p:nvPr/>
        </p:nvSpPr>
        <p:spPr bwMode="auto">
          <a:xfrm>
            <a:off x="335556" y="561454"/>
            <a:ext cx="661270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4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lnSpc>
                <a:spcPct val="2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§"/>
              <a:defRPr/>
            </a:pPr>
            <a:r>
              <a:rPr kumimoji="1" lang="zh-CN" altLang="en-US" sz="3200" kern="0" dirty="0" smtClean="0">
                <a:solidFill>
                  <a:srgbClr val="FFFFFF"/>
                </a:solidFill>
                <a:latin typeface="楷体_GB2312" pitchFamily="49" charset="-122"/>
              </a:rPr>
              <a:t>指定查询结果的列，或者说表结构</a:t>
            </a:r>
            <a:endParaRPr kumimoji="1" lang="en-US" altLang="zh-CN" sz="3200" kern="0" dirty="0" smtClean="0">
              <a:solidFill>
                <a:srgbClr val="FFFFFF"/>
              </a:solidFill>
              <a:latin typeface="楷体_GB2312" pitchFamily="49" charset="-122"/>
            </a:endParaRPr>
          </a:p>
        </p:txBody>
      </p:sp>
      <p:sp>
        <p:nvSpPr>
          <p:cNvPr id="33" name="Rectangle 51"/>
          <p:cNvSpPr>
            <a:spLocks noChangeArrowheads="1"/>
          </p:cNvSpPr>
          <p:nvPr/>
        </p:nvSpPr>
        <p:spPr bwMode="auto">
          <a:xfrm>
            <a:off x="6923987" y="3432391"/>
            <a:ext cx="1872208" cy="1223962"/>
          </a:xfrm>
          <a:prstGeom prst="snip2Same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2000" tIns="72000" rIns="72000" bIns="7200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∏</a:t>
            </a:r>
            <a:r>
              <a:rPr kumimoji="0" lang="en-US" altLang="zh-CN" sz="5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A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en-US" altLang="zh-CN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R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  <a:endParaRPr kumimoji="0" lang="zh-CN" altLang="en-US" sz="6000" b="1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772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3573876"/>
            <a:ext cx="6241394" cy="2734584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19111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SELECT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24" name="Rectangle 5"/>
          <p:cNvSpPr txBox="1">
            <a:spLocks noChangeArrowheads="1"/>
          </p:cNvSpPr>
          <p:nvPr/>
        </p:nvSpPr>
        <p:spPr bwMode="auto">
          <a:xfrm>
            <a:off x="281500" y="900009"/>
            <a:ext cx="640752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可以用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微软雅黑" pitchFamily="34" charset="-122"/>
                <a:cs typeface="+mn-cs"/>
              </a:rPr>
              <a:t>“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*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微软雅黑" pitchFamily="34" charset="-122"/>
                <a:cs typeface="+mn-cs"/>
              </a:rPr>
              <a:t>”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选择所有列，更简单</a:t>
            </a:r>
            <a:endParaRPr kumimoji="1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99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sp>
        <p:nvSpPr>
          <p:cNvPr id="28" name="AutoShape 16"/>
          <p:cNvSpPr>
            <a:spLocks noChangeArrowheads="1"/>
          </p:cNvSpPr>
          <p:nvPr/>
        </p:nvSpPr>
        <p:spPr bwMode="auto">
          <a:xfrm>
            <a:off x="6993580" y="4941168"/>
            <a:ext cx="1655762" cy="863600"/>
          </a:xfrm>
          <a:prstGeom prst="wedgeRoundRectCallout">
            <a:avLst>
              <a:gd name="adj1" fmla="val -75694"/>
              <a:gd name="adj2" fmla="val 1672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查询结果有所有列</a:t>
            </a:r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>
            <a:off x="1979712" y="4149080"/>
            <a:ext cx="2159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25" y="1669786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AutoShape 18"/>
          <p:cNvSpPr>
            <a:spLocks noChangeArrowheads="1"/>
          </p:cNvSpPr>
          <p:nvPr/>
        </p:nvSpPr>
        <p:spPr bwMode="auto">
          <a:xfrm>
            <a:off x="7092280" y="1669786"/>
            <a:ext cx="1151607" cy="1007666"/>
          </a:xfrm>
          <a:prstGeom prst="wedgeRoundRectCallout">
            <a:avLst>
              <a:gd name="adj1" fmla="val -84686"/>
              <a:gd name="adj2" fmla="val 581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253858312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4" y="3794139"/>
            <a:ext cx="5867499" cy="2468527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85" y="1751409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19111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SELECT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19" name="Rectangle 5"/>
          <p:cNvSpPr txBox="1">
            <a:spLocks noChangeArrowheads="1"/>
          </p:cNvSpPr>
          <p:nvPr/>
        </p:nvSpPr>
        <p:spPr bwMode="auto">
          <a:xfrm>
            <a:off x="251520" y="961564"/>
            <a:ext cx="53816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4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可以给结果中的列另取列名</a:t>
            </a:r>
          </a:p>
        </p:txBody>
      </p:sp>
      <p:sp>
        <p:nvSpPr>
          <p:cNvPr id="22" name="AutoShape 18"/>
          <p:cNvSpPr>
            <a:spLocks noChangeArrowheads="1"/>
          </p:cNvSpPr>
          <p:nvPr/>
        </p:nvSpPr>
        <p:spPr bwMode="auto">
          <a:xfrm>
            <a:off x="7092280" y="1669786"/>
            <a:ext cx="1151607" cy="1007666"/>
          </a:xfrm>
          <a:prstGeom prst="wedgeRoundRectCallout">
            <a:avLst>
              <a:gd name="adj1" fmla="val -84686"/>
              <a:gd name="adj2" fmla="val 581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2051720" y="4365104"/>
            <a:ext cx="1224136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3563888" y="4381342"/>
            <a:ext cx="1150937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AutoShape 22"/>
          <p:cNvSpPr>
            <a:spLocks noChangeArrowheads="1"/>
          </p:cNvSpPr>
          <p:nvPr/>
        </p:nvSpPr>
        <p:spPr bwMode="auto">
          <a:xfrm>
            <a:off x="3670199" y="5301208"/>
            <a:ext cx="3168948" cy="596383"/>
          </a:xfrm>
          <a:prstGeom prst="wedgeRoundRectCallout">
            <a:avLst>
              <a:gd name="adj1" fmla="val -42712"/>
              <a:gd name="adj2" fmla="val -16217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lang="zh-CN" altLang="en-US" sz="2400" kern="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常用两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种表达方式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8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44" y="3554777"/>
            <a:ext cx="6520688" cy="2976248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19111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SELECT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 bwMode="auto">
          <a:xfrm>
            <a:off x="255810" y="972017"/>
            <a:ext cx="37401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列可为任意表达式</a:t>
            </a:r>
          </a:p>
        </p:txBody>
      </p:sp>
      <p:sp>
        <p:nvSpPr>
          <p:cNvPr id="42" name="Line 17"/>
          <p:cNvSpPr>
            <a:spLocks noChangeShapeType="1"/>
          </p:cNvSpPr>
          <p:nvPr/>
        </p:nvSpPr>
        <p:spPr bwMode="auto">
          <a:xfrm>
            <a:off x="1907704" y="4365104"/>
            <a:ext cx="496855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1775960" y="4857777"/>
            <a:ext cx="1655763" cy="433387"/>
          </a:xfrm>
          <a:prstGeom prst="wedgeRoundRectCallout">
            <a:avLst>
              <a:gd name="adj1" fmla="val 17830"/>
              <a:gd name="adj2" fmla="val 7181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查询结果</a:t>
            </a:r>
          </a:p>
        </p:txBody>
      </p:sp>
      <p:sp>
        <p:nvSpPr>
          <p:cNvPr id="44" name="AutoShape 19"/>
          <p:cNvSpPr>
            <a:spLocks noChangeArrowheads="1"/>
          </p:cNvSpPr>
          <p:nvPr/>
        </p:nvSpPr>
        <p:spPr bwMode="auto">
          <a:xfrm>
            <a:off x="4435230" y="4627072"/>
            <a:ext cx="3955609" cy="1481293"/>
          </a:xfrm>
          <a:prstGeom prst="wedgeRoundRectCallout">
            <a:avLst>
              <a:gd name="adj1" fmla="val -26575"/>
              <a:gd name="adj2" fmla="val -6027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curdate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(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得出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当前</a:t>
            </a:r>
            <a:r>
              <a:rPr lang="zh-CN" altLang="en-US" sz="2400" kern="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日期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timestampdiff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( 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求两个时间之间的时间差（年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秒等）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29" y="1792437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AutoShape 18"/>
          <p:cNvSpPr>
            <a:spLocks noChangeArrowheads="1"/>
          </p:cNvSpPr>
          <p:nvPr/>
        </p:nvSpPr>
        <p:spPr bwMode="auto">
          <a:xfrm>
            <a:off x="7060184" y="1792437"/>
            <a:ext cx="1151607" cy="1007666"/>
          </a:xfrm>
          <a:prstGeom prst="wedgeRoundRectCallout">
            <a:avLst>
              <a:gd name="adj1" fmla="val -84686"/>
              <a:gd name="adj2" fmla="val 581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209841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" y="2812342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64" name="Rectangle 10"/>
          <p:cNvSpPr txBox="1">
            <a:spLocks noChangeArrowheads="1"/>
          </p:cNvSpPr>
          <p:nvPr/>
        </p:nvSpPr>
        <p:spPr bwMode="auto">
          <a:xfrm>
            <a:off x="335556" y="561454"/>
            <a:ext cx="5997155" cy="21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eaLnBrk="1" hangingPunct="1">
              <a:lnSpc>
                <a:spcPct val="2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§"/>
              <a:defRPr/>
            </a:pPr>
            <a:r>
              <a:rPr kumimoji="1" lang="zh-CN" altLang="en-US" sz="3200" kern="0" dirty="0" smtClean="0">
                <a:solidFill>
                  <a:srgbClr val="FFFFFF"/>
                </a:solidFill>
                <a:latin typeface="楷体_GB2312" pitchFamily="49" charset="-122"/>
              </a:rPr>
              <a:t>选择满足条件的行</a:t>
            </a:r>
            <a:r>
              <a:rPr kumimoji="1" lang="en-US" altLang="zh-CN" sz="3200" kern="0" dirty="0" smtClean="0">
                <a:solidFill>
                  <a:srgbClr val="FFFFFF"/>
                </a:solidFill>
                <a:latin typeface="楷体_GB2312" pitchFamily="49" charset="-122"/>
              </a:rPr>
              <a:t>,</a:t>
            </a:r>
            <a:r>
              <a:rPr kumimoji="1" lang="zh-CN" altLang="en-US" sz="3200" kern="0" dirty="0" smtClean="0">
                <a:solidFill>
                  <a:srgbClr val="FFFFFF"/>
                </a:solidFill>
                <a:latin typeface="楷体_GB2312" pitchFamily="49" charset="-122"/>
              </a:rPr>
              <a:t>条件一般是</a:t>
            </a:r>
            <a:endParaRPr kumimoji="1" lang="en-US" altLang="zh-CN" sz="3200" kern="0" dirty="0" smtClean="0">
              <a:solidFill>
                <a:srgbClr val="FFFFFF"/>
              </a:solidFill>
              <a:latin typeface="楷体_GB2312" pitchFamily="49" charset="-122"/>
            </a:endParaRPr>
          </a:p>
          <a:p>
            <a:pPr marL="269875" indent="-269875" eaLnBrk="1" hangingPunct="1">
              <a:lnSpc>
                <a:spcPct val="200000"/>
              </a:lnSpc>
              <a:spcBef>
                <a:spcPct val="6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§"/>
              <a:defRPr/>
            </a:pPr>
            <a:endParaRPr kumimoji="1" lang="en-US" altLang="zh-CN" sz="3200" kern="0" dirty="0" smtClean="0">
              <a:solidFill>
                <a:srgbClr val="FFFFFF"/>
              </a:solidFill>
              <a:latin typeface="楷体_GB2312" pitchFamily="49" charset="-122"/>
            </a:endParaRPr>
          </a:p>
        </p:txBody>
      </p:sp>
      <p:sp>
        <p:nvSpPr>
          <p:cNvPr id="65" name="Rectangle 51"/>
          <p:cNvSpPr>
            <a:spLocks noChangeArrowheads="1"/>
          </p:cNvSpPr>
          <p:nvPr/>
        </p:nvSpPr>
        <p:spPr bwMode="auto">
          <a:xfrm>
            <a:off x="6732240" y="583262"/>
            <a:ext cx="1872208" cy="1223962"/>
          </a:xfrm>
          <a:prstGeom prst="snip2Same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2000" tIns="72000" rIns="72000" bIns="72000" anchor="ctr" anchorCtr="1">
            <a:noAutofit/>
          </a:bodyPr>
          <a:lstStyle/>
          <a:p>
            <a:pPr lvl="0">
              <a:spcAft>
                <a:spcPct val="0"/>
              </a:spcAft>
              <a:defRPr/>
            </a:pPr>
            <a:r>
              <a:rPr lang="el-GR" altLang="zh-CN" sz="5400" kern="0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σ</a:t>
            </a:r>
            <a:r>
              <a:rPr kumimoji="0" lang="en-US" altLang="zh-CN" sz="5400" b="1" i="0" u="none" strike="noStrike" kern="0" cap="none" spc="0" normalizeH="0" baseline="-3000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en-US" altLang="zh-CN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R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  <a:endParaRPr kumimoji="0" lang="zh-CN" altLang="en-US" sz="6000" b="1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71" name="AutoShape 15"/>
          <p:cNvSpPr>
            <a:spLocks noChangeArrowheads="1"/>
          </p:cNvSpPr>
          <p:nvPr/>
        </p:nvSpPr>
        <p:spPr bwMode="auto">
          <a:xfrm>
            <a:off x="7706154" y="3561826"/>
            <a:ext cx="1008062" cy="863600"/>
          </a:xfrm>
          <a:prstGeom prst="wedgeRoundRectCallout">
            <a:avLst>
              <a:gd name="adj1" fmla="val -95514"/>
              <a:gd name="adj2" fmla="val -1746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1472541"/>
            <a:ext cx="8280920" cy="1064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defRPr/>
            </a:pPr>
            <a:r>
              <a:rPr kumimoji="1" lang="en-US" altLang="zh-CN" sz="3200" b="1" kern="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  [</a:t>
            </a:r>
            <a:r>
              <a:rPr kumimoji="1" lang="en-US" altLang="zh-CN" sz="3200" b="1" kern="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NOT]θ</a:t>
            </a:r>
            <a:r>
              <a:rPr kumimoji="1" lang="zh-CN" altLang="en-US" sz="3200" kern="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表达式</a:t>
            </a:r>
            <a:endParaRPr kumimoji="1" lang="zh-CN" altLang="en-US" sz="3200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微软雅黑" pitchFamily="34" charset="-122"/>
            </a:endParaRPr>
          </a:p>
          <a:p>
            <a:pPr marL="269875" lvl="0" indent="-269875" algn="just" fontAlgn="base"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defRPr/>
            </a:pPr>
            <a:r>
              <a:rPr kumimoji="1" lang="zh-CN" altLang="en-US" sz="2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其中</a:t>
            </a:r>
            <a:r>
              <a:rPr kumimoji="1" lang="en-US" altLang="zh-CN" sz="28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θ</a:t>
            </a:r>
            <a:r>
              <a:rPr kumimoji="1" lang="zh-CN" altLang="en-US" sz="28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可以是：</a:t>
            </a:r>
            <a:r>
              <a:rPr kumimoji="1" lang="en-US" altLang="zh-CN" sz="2800" b="1" kern="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rPr>
              <a:t>=,&gt;,&lt;,&gt;=,&lt;=,!=,!&gt;,!&lt;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31" y="3717032"/>
            <a:ext cx="5734311" cy="2753812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C000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Line 17"/>
          <p:cNvSpPr>
            <a:spLocks noChangeShapeType="1"/>
          </p:cNvSpPr>
          <p:nvPr/>
        </p:nvSpPr>
        <p:spPr bwMode="auto">
          <a:xfrm>
            <a:off x="932768" y="4824862"/>
            <a:ext cx="205825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3" name="AutoShape 17"/>
          <p:cNvSpPr>
            <a:spLocks noChangeArrowheads="1"/>
          </p:cNvSpPr>
          <p:nvPr/>
        </p:nvSpPr>
        <p:spPr bwMode="auto">
          <a:xfrm>
            <a:off x="6553323" y="5454772"/>
            <a:ext cx="1655762" cy="527050"/>
          </a:xfrm>
          <a:prstGeom prst="wedgeRoundRectCallout">
            <a:avLst>
              <a:gd name="adj1" fmla="val -74926"/>
              <a:gd name="adj2" fmla="val 8134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查询结果</a:t>
            </a:r>
          </a:p>
        </p:txBody>
      </p:sp>
    </p:spTree>
    <p:extLst>
      <p:ext uri="{BB962C8B-B14F-4D97-AF65-F5344CB8AC3E}">
        <p14:creationId xmlns:p14="http://schemas.microsoft.com/office/powerpoint/2010/main" val="185992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292579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24" name="Rectangle 4"/>
          <p:cNvSpPr txBox="1">
            <a:spLocks noChangeArrowheads="1"/>
          </p:cNvSpPr>
          <p:nvPr/>
        </p:nvSpPr>
        <p:spPr bwMode="auto">
          <a:xfrm>
            <a:off x="357188" y="548680"/>
            <a:ext cx="8496300" cy="1618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选择条件为限定范围，格式为：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[NOT] BETWEEN &lt;</a:t>
            </a:r>
            <a:r>
              <a:rPr kumimoji="1" lang="zh-CN" altLang="en-US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下限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&gt; AND &lt;</a:t>
            </a:r>
            <a:r>
              <a:rPr kumimoji="1" lang="zh-CN" altLang="en-US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上限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&gt;</a:t>
            </a: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7191086" y="2504139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pic>
        <p:nvPicPr>
          <p:cNvPr id="27" name="Picture 1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9" t="7215" b="10011"/>
          <a:stretch/>
        </p:blipFill>
        <p:spPr bwMode="auto">
          <a:xfrm>
            <a:off x="768226" y="4077072"/>
            <a:ext cx="5846390" cy="2263183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utoShape 16"/>
          <p:cNvSpPr>
            <a:spLocks noChangeArrowheads="1"/>
          </p:cNvSpPr>
          <p:nvPr/>
        </p:nvSpPr>
        <p:spPr bwMode="auto">
          <a:xfrm>
            <a:off x="5653088" y="4249118"/>
            <a:ext cx="3095625" cy="1873250"/>
          </a:xfrm>
          <a:prstGeom prst="wedgeRoundRectCallout">
            <a:avLst>
              <a:gd name="adj1" fmla="val -65694"/>
              <a:gd name="adj2" fmla="val -2593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36000" r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其实条件就是：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1200≤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工资≤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2000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否定时只需写成：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Not Between</a:t>
            </a:r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899592" y="4941168"/>
            <a:ext cx="35274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292579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28" name="Rectangle 4"/>
          <p:cNvSpPr txBox="1">
            <a:spLocks noChangeArrowheads="1"/>
          </p:cNvSpPr>
          <p:nvPr/>
        </p:nvSpPr>
        <p:spPr bwMode="auto">
          <a:xfrm>
            <a:off x="319088" y="862378"/>
            <a:ext cx="849630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集合检查，格式为：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[NOT] IN (</a:t>
            </a:r>
            <a:r>
              <a:rPr kumimoji="1" lang="zh-CN" altLang="en-US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值列表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) 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其中各个值之间用逗号分隔</a:t>
            </a:r>
            <a:endParaRPr kumimoji="1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sp>
        <p:nvSpPr>
          <p:cNvPr id="30" name="AutoShape 14"/>
          <p:cNvSpPr>
            <a:spLocks noChangeArrowheads="1"/>
          </p:cNvSpPr>
          <p:nvPr/>
        </p:nvSpPr>
        <p:spPr bwMode="auto">
          <a:xfrm>
            <a:off x="7164288" y="2404169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pic>
        <p:nvPicPr>
          <p:cNvPr id="31" name="Picture 1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" t="6544" b="16201"/>
          <a:stretch/>
        </p:blipFill>
        <p:spPr bwMode="auto">
          <a:xfrm>
            <a:off x="755650" y="4149080"/>
            <a:ext cx="5904582" cy="2176676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utoShape 16"/>
          <p:cNvSpPr>
            <a:spLocks noChangeArrowheads="1"/>
          </p:cNvSpPr>
          <p:nvPr/>
        </p:nvSpPr>
        <p:spPr bwMode="auto">
          <a:xfrm>
            <a:off x="5004743" y="4584373"/>
            <a:ext cx="3598862" cy="1296988"/>
          </a:xfrm>
          <a:prstGeom prst="wedgeRoundRectCallout">
            <a:avLst>
              <a:gd name="adj1" fmla="val -69366"/>
              <a:gd name="adj2" fmla="val -1475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36000" r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其实条件就是：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>
                <a:tab pos="901700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=800  or 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=1200 or 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=1500</a:t>
            </a:r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899592" y="5131792"/>
            <a:ext cx="3024336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27" name="Rectangle 9"/>
          <p:cNvSpPr txBox="1">
            <a:spLocks noChangeArrowheads="1"/>
          </p:cNvSpPr>
          <p:nvPr/>
        </p:nvSpPr>
        <p:spPr bwMode="auto">
          <a:xfrm>
            <a:off x="179139" y="908720"/>
            <a:ext cx="878534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457200" indent="0" algn="ctr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None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914400" indent="0" algn="ctr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None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371600" indent="0" algn="ctr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1828800" indent="0" algn="ctr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286000" indent="0" algn="ctr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58775" marR="0" lvl="0" indent="-3587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字符</a:t>
            </a:r>
            <a:r>
              <a:rPr kumimoji="1" lang="zh-CN" altLang="en-US" sz="3200" kern="0" dirty="0">
                <a:solidFill>
                  <a:srgbClr val="FFFFFF"/>
                </a:solidFill>
                <a:latin typeface="楷体_GB2312" pitchFamily="49" charset="-122"/>
              </a:rPr>
              <a:t>串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匹配，用于匹配字符、日期，格式为：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  <a:p>
            <a:pPr marL="358775" marR="0" lvl="0" indent="-3587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[NOT] LIKE &lt;</a:t>
            </a:r>
            <a:r>
              <a:rPr kumimoji="1" lang="zh-CN" altLang="en-US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串模式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&gt; [ESCAPE '</a:t>
            </a:r>
            <a:r>
              <a:rPr kumimoji="1" lang="zh-CN" altLang="en-US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转义符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'] </a:t>
            </a:r>
          </a:p>
          <a:p>
            <a:pPr marL="358775" marR="0" lvl="0" indent="-358775" algn="just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串模式中可出现以下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通配符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：</a:t>
            </a: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	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“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%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”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匹配任意多个任意字符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(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包括空字符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)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；</a:t>
            </a: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	“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_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”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匹配一个任意字符（不能是空字符）；</a:t>
            </a:r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51520" y="5013176"/>
            <a:ext cx="8712968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例如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To%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代表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Tool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Toy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开头的任意字符串；又如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B_T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可代表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BaT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等头为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尾为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的只有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3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个字符的任意串，但不能代表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BoaT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'BT'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756487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 bwMode="auto">
          <a:xfrm>
            <a:off x="357188" y="900009"/>
            <a:ext cx="29193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字符匹配示例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pic>
        <p:nvPicPr>
          <p:cNvPr id="39" name="Picture 1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5" t="7433" r="762" b="14491"/>
          <a:stretch/>
        </p:blipFill>
        <p:spPr bwMode="auto">
          <a:xfrm>
            <a:off x="755649" y="3624634"/>
            <a:ext cx="6955692" cy="2612678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AutoShape 14"/>
          <p:cNvSpPr>
            <a:spLocks noChangeArrowheads="1"/>
          </p:cNvSpPr>
          <p:nvPr/>
        </p:nvSpPr>
        <p:spPr bwMode="auto">
          <a:xfrm>
            <a:off x="7163594" y="1988840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sp>
        <p:nvSpPr>
          <p:cNvPr id="42" name="AutoShape 15"/>
          <p:cNvSpPr>
            <a:spLocks noChangeArrowheads="1"/>
          </p:cNvSpPr>
          <p:nvPr/>
        </p:nvSpPr>
        <p:spPr bwMode="auto">
          <a:xfrm>
            <a:off x="5609135" y="4653136"/>
            <a:ext cx="2879725" cy="1152525"/>
          </a:xfrm>
          <a:prstGeom prst="wedgeRoundRectCallout">
            <a:avLst>
              <a:gd name="adj1" fmla="val -83240"/>
              <a:gd name="adj2" fmla="val -4509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姓刘不就是以“刘”字开头的姓名吗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>
            <a:off x="899592" y="4738607"/>
            <a:ext cx="2736304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 bwMode="auto">
          <a:xfrm>
            <a:off x="357188" y="900009"/>
            <a:ext cx="29193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字符匹配示例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pic>
        <p:nvPicPr>
          <p:cNvPr id="16" name="Picture 1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5" t="6144" r="1179" b="11010"/>
          <a:stretch/>
        </p:blipFill>
        <p:spPr bwMode="auto">
          <a:xfrm>
            <a:off x="754162" y="3789362"/>
            <a:ext cx="6294254" cy="2519958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utoShape 17"/>
          <p:cNvSpPr>
            <a:spLocks noChangeArrowheads="1"/>
          </p:cNvSpPr>
          <p:nvPr/>
        </p:nvSpPr>
        <p:spPr bwMode="auto">
          <a:xfrm>
            <a:off x="3706813" y="4365625"/>
            <a:ext cx="2663825" cy="504825"/>
          </a:xfrm>
          <a:prstGeom prst="wedgeRoundRectCallout">
            <a:avLst>
              <a:gd name="adj1" fmla="val -33134"/>
              <a:gd name="adj2" fmla="val 103144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查询出只有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1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人</a:t>
            </a:r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5580063" y="5300663"/>
            <a:ext cx="3096393" cy="863600"/>
          </a:xfrm>
          <a:prstGeom prst="wedgeRoundRectCallout">
            <a:avLst>
              <a:gd name="adj1" fmla="val 27056"/>
              <a:gd name="adj2" fmla="val -10459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名字最后一字为“明”的实际有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524328" y="3316164"/>
            <a:ext cx="949746" cy="1296838"/>
            <a:chOff x="7582694" y="3716338"/>
            <a:chExt cx="693738" cy="935037"/>
          </a:xfrm>
        </p:grpSpPr>
        <p:pic>
          <p:nvPicPr>
            <p:cNvPr id="18" name="Picture 1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2694" y="3716338"/>
              <a:ext cx="693738" cy="935037"/>
            </a:xfrm>
            <a:prstGeom prst="rect">
              <a:avLst/>
            </a:prstGeom>
            <a:noFill/>
            <a:ln w="38100" cap="sq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11" t="16079" r="7340" b="15839"/>
            <a:stretch/>
          </p:blipFill>
          <p:spPr bwMode="auto">
            <a:xfrm>
              <a:off x="7605861" y="3762374"/>
              <a:ext cx="430783" cy="19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50" y="1756487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7163594" y="1988840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353112957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 bwMode="auto">
          <a:xfrm>
            <a:off x="357188" y="900009"/>
            <a:ext cx="29193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字符匹配示例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pic>
        <p:nvPicPr>
          <p:cNvPr id="14" name="Picture 1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9" t="6339" r="1180" b="10450"/>
          <a:stretch/>
        </p:blipFill>
        <p:spPr bwMode="auto">
          <a:xfrm>
            <a:off x="755650" y="3735387"/>
            <a:ext cx="6486218" cy="2573933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5435600" y="4294188"/>
            <a:ext cx="1655763" cy="527050"/>
          </a:xfrm>
          <a:prstGeom prst="wedgeRoundRectCallout">
            <a:avLst>
              <a:gd name="adj1" fmla="val -37537"/>
              <a:gd name="adj2" fmla="val 1084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查询结果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1756487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AutoShape 14"/>
          <p:cNvSpPr>
            <a:spLocks noChangeArrowheads="1"/>
          </p:cNvSpPr>
          <p:nvPr/>
        </p:nvSpPr>
        <p:spPr bwMode="auto">
          <a:xfrm>
            <a:off x="7163594" y="1988840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353112957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14386"/>
            <a:ext cx="5832648" cy="284018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344488" y="931132"/>
            <a:ext cx="8496300" cy="1594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字符匹配中转义符的用法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如果查询的串中要包含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微软雅黑" pitchFamily="34" charset="-122"/>
                <a:cs typeface="+mn-cs"/>
              </a:rPr>
              <a:t>“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%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微软雅黑" pitchFamily="34" charset="-122"/>
                <a:cs typeface="+mn-cs"/>
              </a:rPr>
              <a:t>”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等通配符，则必须用转义符告诉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SQL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解释器将通配符转义为实实在在的字符</a:t>
            </a:r>
            <a:endParaRPr kumimoji="1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1855373" y="3933056"/>
            <a:ext cx="3384376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AutoShape 11"/>
          <p:cNvSpPr>
            <a:spLocks noChangeArrowheads="1"/>
          </p:cNvSpPr>
          <p:nvPr/>
        </p:nvSpPr>
        <p:spPr bwMode="auto">
          <a:xfrm>
            <a:off x="5301681" y="4419553"/>
            <a:ext cx="3419475" cy="792162"/>
          </a:xfrm>
          <a:prstGeom prst="wedgeRoundRectCallout">
            <a:avLst>
              <a:gd name="adj1" fmla="val -49397"/>
              <a:gd name="adj2" fmla="val -10002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这里的下划线是要匹配的实际字符所以要转义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14363" y="5661025"/>
            <a:ext cx="8605837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ct val="6500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转义符可以为除通配符以外的任意字符</a:t>
            </a:r>
          </a:p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如上例条件亦可为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: </a:t>
            </a:r>
            <a:r>
              <a:rPr lang="en-US" altLang="zh-CN" sz="2800" kern="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LIKE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%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^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_%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ESCAPE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^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’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3112957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2" name="Rectangle 4"/>
          <p:cNvSpPr txBox="1">
            <a:spLocks noChangeArrowheads="1"/>
          </p:cNvSpPr>
          <p:nvPr/>
        </p:nvSpPr>
        <p:spPr bwMode="auto">
          <a:xfrm>
            <a:off x="319088" y="908720"/>
            <a:ext cx="84963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空值检查，格式为：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IS [NOT] NULL</a:t>
            </a:r>
          </a:p>
        </p:txBody>
      </p:sp>
      <p:pic>
        <p:nvPicPr>
          <p:cNvPr id="35" name="Picture 1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2" t="8297" r="325" b="13150"/>
          <a:stretch/>
        </p:blipFill>
        <p:spPr bwMode="auto">
          <a:xfrm>
            <a:off x="723693" y="3816505"/>
            <a:ext cx="7687089" cy="2536515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6734175" y="5084763"/>
            <a:ext cx="1943100" cy="1009650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注意空值和空白的区别</a:t>
            </a:r>
          </a:p>
        </p:txBody>
      </p: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6588125" y="3571875"/>
            <a:ext cx="2232025" cy="1008063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spcAft>
                <a:spcPct val="0"/>
              </a:spcAft>
            </a:pPr>
            <a:r>
              <a:rPr lang="zh-CN" altLang="en-US" sz="2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对允许为空的列才有意义！</a:t>
            </a:r>
            <a:endParaRPr lang="en-US" altLang="zh-CN" sz="2600" kern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47" y="1797094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7163594" y="1988840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07890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357188" y="836712"/>
            <a:ext cx="8424862" cy="123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复合条件</a:t>
            </a:r>
          </a:p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AND,OR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联接多个条件组成逻辑表达式</a:t>
            </a:r>
            <a:endParaRPr kumimoji="1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5" t="6983" r="806" b="9513"/>
          <a:stretch/>
        </p:blipFill>
        <p:spPr bwMode="auto">
          <a:xfrm>
            <a:off x="755575" y="2492896"/>
            <a:ext cx="7524817" cy="3024336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5076056" y="4865563"/>
            <a:ext cx="3457575" cy="1303338"/>
          </a:xfrm>
          <a:prstGeom prst="wedgeRoundRectCallout">
            <a:avLst>
              <a:gd name="adj1" fmla="val -57944"/>
              <a:gd name="adj2" fmla="val -12356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即性别为男且职称为讲师，或者性别为女且职称为助教的教师</a:t>
            </a:r>
          </a:p>
        </p:txBody>
      </p:sp>
    </p:spTree>
    <p:extLst>
      <p:ext uri="{BB962C8B-B14F-4D97-AF65-F5344CB8AC3E}">
        <p14:creationId xmlns:p14="http://schemas.microsoft.com/office/powerpoint/2010/main" val="95530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705452"/>
            <a:ext cx="6397604" cy="2675876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534154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DISTINCT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短语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 bwMode="auto">
          <a:xfrm>
            <a:off x="251520" y="908720"/>
            <a:ext cx="743344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lvl="0" indent="-269875" eaLnBrk="1" hangingPunct="1">
              <a:spcBef>
                <a:spcPct val="8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§"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DISTINCT</a:t>
            </a:r>
            <a:r>
              <a:rPr kumimoji="1" lang="zh-CN" altLang="en-US" sz="3200" kern="0" dirty="0">
                <a:solidFill>
                  <a:srgbClr val="FFFFFF"/>
                </a:solidFill>
                <a:latin typeface="楷体_GB2312" pitchFamily="49" charset="-122"/>
              </a:rPr>
              <a:t>可消除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查询</a:t>
            </a:r>
            <a:r>
              <a:rPr kumimoji="1" lang="zh-CN" altLang="en-US" sz="3200" kern="0" dirty="0" smtClean="0">
                <a:solidFill>
                  <a:srgbClr val="FFFFFF"/>
                </a:solidFill>
                <a:latin typeface="楷体_GB2312" pitchFamily="49" charset="-122"/>
              </a:rPr>
              <a:t>结果</a:t>
            </a:r>
            <a:r>
              <a:rPr kumimoji="1" lang="zh-CN" altLang="en-US" sz="3200" kern="0" dirty="0">
                <a:solidFill>
                  <a:srgbClr val="FFFFFF"/>
                </a:solidFill>
                <a:latin typeface="楷体_GB2312" pitchFamily="49" charset="-122"/>
              </a:rPr>
              <a:t>中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重复的行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2005746" y="4293096"/>
            <a:ext cx="188221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2506989" y="5373216"/>
            <a:ext cx="2376488" cy="792162"/>
          </a:xfrm>
          <a:prstGeom prst="wedgeRoundRectCallout">
            <a:avLst>
              <a:gd name="adj1" fmla="val -57282"/>
              <a:gd name="adj2" fmla="val -1913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只有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这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种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不同的职称取值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1756487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7163594" y="1988840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06" y="2780564"/>
            <a:ext cx="7029154" cy="354568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215204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TOP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短语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Rectangle 4"/>
          <p:cNvSpPr txBox="1">
            <a:spLocks noChangeArrowheads="1"/>
          </p:cNvSpPr>
          <p:nvPr/>
        </p:nvSpPr>
        <p:spPr bwMode="auto">
          <a:xfrm>
            <a:off x="251520" y="908720"/>
            <a:ext cx="70551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lvl="0" eaLnBrk="1" hangingPunct="1"/>
            <a:r>
              <a:rPr kumimoji="1" lang="zh-CN" altLang="en-US" sz="3200" kern="0" dirty="0" smtClean="0">
                <a:solidFill>
                  <a:srgbClr val="FFFFFF"/>
                </a:solidFill>
                <a:latin typeface="微软雅黑" pitchFamily="34" charset="-122"/>
              </a:rPr>
              <a:t>用 </a:t>
            </a:r>
            <a:r>
              <a:rPr kumimoji="1" lang="en-US" altLang="zh-CN" sz="3200" kern="0" dirty="0" smtClean="0">
                <a:solidFill>
                  <a:srgbClr val="FFFF00"/>
                </a:solidFill>
                <a:latin typeface="微软雅黑" pitchFamily="34" charset="-122"/>
              </a:rPr>
              <a:t>TOP </a:t>
            </a:r>
            <a:r>
              <a:rPr kumimoji="1" lang="en-US" altLang="zh-CN" sz="3200" kern="0" dirty="0">
                <a:solidFill>
                  <a:srgbClr val="FFFF00"/>
                </a:solidFill>
                <a:latin typeface="微软雅黑" pitchFamily="34" charset="-122"/>
              </a:rPr>
              <a:t>n [percent]</a:t>
            </a:r>
            <a:r>
              <a:rPr kumimoji="1" lang="zh-CN" altLang="en-US" sz="3200" kern="0" dirty="0">
                <a:solidFill>
                  <a:srgbClr val="FFFFFF"/>
                </a:solidFill>
                <a:latin typeface="微软雅黑" pitchFamily="34" charset="-122"/>
              </a:rPr>
              <a:t> 查询</a:t>
            </a:r>
            <a:r>
              <a:rPr kumimoji="1" lang="zh-CN" altLang="en-US" sz="3200" kern="0" dirty="0" smtClean="0">
                <a:solidFill>
                  <a:srgbClr val="FFFFFF"/>
                </a:solidFill>
                <a:latin typeface="微软雅黑" pitchFamily="34" charset="-122"/>
              </a:rPr>
              <a:t>前 </a:t>
            </a:r>
            <a:r>
              <a:rPr kumimoji="1" lang="en-US" altLang="zh-CN" sz="3200" kern="0" dirty="0" smtClean="0">
                <a:solidFill>
                  <a:srgbClr val="FFFFFF"/>
                </a:solidFill>
                <a:latin typeface="微软雅黑" pitchFamily="34" charset="-122"/>
              </a:rPr>
              <a:t>n[%] </a:t>
            </a:r>
            <a:r>
              <a:rPr kumimoji="1" lang="zh-CN" altLang="en-US" sz="3200" kern="0" dirty="0" smtClean="0">
                <a:solidFill>
                  <a:srgbClr val="FFFFFF"/>
                </a:solidFill>
                <a:latin typeface="微软雅黑" pitchFamily="34" charset="-122"/>
              </a:rPr>
              <a:t>行</a:t>
            </a:r>
            <a:endParaRPr kumimoji="1" lang="zh-CN" altLang="en-US" sz="3200" kern="0" dirty="0">
              <a:solidFill>
                <a:srgbClr val="FFFFFF"/>
              </a:solidFill>
              <a:latin typeface="微软雅黑" pitchFamily="34" charset="-122"/>
            </a:endParaRPr>
          </a:p>
        </p:txBody>
      </p: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6118784" y="3412189"/>
            <a:ext cx="2375743" cy="647576"/>
          </a:xfrm>
          <a:prstGeom prst="wedgeRoundRectCallout">
            <a:avLst>
              <a:gd name="adj1" fmla="val -59549"/>
              <a:gd name="adj2" fmla="val 6528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只要前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5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行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11" name="Rectangle 85"/>
          <p:cNvSpPr>
            <a:spLocks noChangeArrowheads="1"/>
          </p:cNvSpPr>
          <p:nvPr/>
        </p:nvSpPr>
        <p:spPr bwMode="auto">
          <a:xfrm>
            <a:off x="1475656" y="1801456"/>
            <a:ext cx="5184577" cy="647452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Mysql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 </a:t>
            </a:r>
            <a:r>
              <a:rPr lang="zh-CN" altLang="en-US" sz="28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用 </a:t>
            </a:r>
            <a:r>
              <a:rPr lang="en-US" altLang="zh-CN" sz="28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Limit </a:t>
            </a:r>
            <a:r>
              <a:rPr lang="zh-CN" altLang="en-US" sz="28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子句实现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19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887139"/>
            <a:ext cx="5724406" cy="2638205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401986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ORDER  BY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28" name="Rectangle 4"/>
          <p:cNvSpPr txBox="1">
            <a:spLocks noChangeArrowheads="1"/>
          </p:cNvSpPr>
          <p:nvPr/>
        </p:nvSpPr>
        <p:spPr bwMode="auto">
          <a:xfrm>
            <a:off x="594557" y="1331913"/>
            <a:ext cx="76498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15000"/>
              </a:spcBef>
              <a:spcAft>
                <a:spcPct val="25000"/>
              </a:spcAft>
              <a:buClr>
                <a:schemeClr val="tx1"/>
              </a:buClr>
              <a:buNone/>
              <a:defRPr/>
            </a:pPr>
            <a:r>
              <a:rPr kumimoji="1" lang="en-US" altLang="zh-CN" sz="3200" b="1" dirty="0" smtClean="0">
                <a:solidFill>
                  <a:srgbClr val="FFFF66"/>
                </a:solidFill>
                <a:latin typeface="楷体_GB2312" pitchFamily="49" charset="-122"/>
              </a:rPr>
              <a:t>ASC</a:t>
            </a:r>
            <a:r>
              <a:rPr kumimoji="1" lang="zh-CN" altLang="en-US" sz="3200" dirty="0" smtClean="0">
                <a:latin typeface="楷体_GB2312" pitchFamily="49" charset="-122"/>
              </a:rPr>
              <a:t>（缺省）表示升序  </a:t>
            </a:r>
            <a:r>
              <a:rPr kumimoji="1" lang="en-US" altLang="zh-CN" sz="3200" b="1" dirty="0" smtClean="0">
                <a:solidFill>
                  <a:srgbClr val="FFFF66"/>
                </a:solidFill>
                <a:latin typeface="楷体_GB2312" pitchFamily="49" charset="-122"/>
              </a:rPr>
              <a:t>DESC</a:t>
            </a:r>
            <a:r>
              <a:rPr kumimoji="1" lang="zh-CN" altLang="en-US" sz="3200" dirty="0" smtClean="0">
                <a:latin typeface="楷体_GB2312" pitchFamily="49" charset="-122"/>
              </a:rPr>
              <a:t>表示降序。</a:t>
            </a:r>
          </a:p>
        </p:txBody>
      </p:sp>
      <p:sp>
        <p:nvSpPr>
          <p:cNvPr id="32" name="AutoShape 17"/>
          <p:cNvSpPr>
            <a:spLocks noChangeArrowheads="1"/>
          </p:cNvSpPr>
          <p:nvPr/>
        </p:nvSpPr>
        <p:spPr bwMode="auto">
          <a:xfrm>
            <a:off x="6444456" y="5567938"/>
            <a:ext cx="1727200" cy="936625"/>
          </a:xfrm>
          <a:prstGeom prst="wedgeRoundRectCallout">
            <a:avLst>
              <a:gd name="adj1" fmla="val -100510"/>
              <a:gd name="adj2" fmla="val -291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工资从小到大排列</a:t>
            </a: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>
            <a:off x="5148263" y="4364757"/>
            <a:ext cx="3529012" cy="936625"/>
          </a:xfrm>
          <a:prstGeom prst="wedgeRoundRectCallout">
            <a:avLst>
              <a:gd name="adj1" fmla="val -57153"/>
              <a:gd name="adj2" fmla="val -2593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Order by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工资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DESC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就可实现降序排列</a:t>
            </a:r>
          </a:p>
        </p:txBody>
      </p:sp>
      <p:sp>
        <p:nvSpPr>
          <p:cNvPr id="34" name="AutoShape 19"/>
          <p:cNvSpPr>
            <a:spLocks noChangeArrowheads="1"/>
          </p:cNvSpPr>
          <p:nvPr/>
        </p:nvSpPr>
        <p:spPr bwMode="auto">
          <a:xfrm>
            <a:off x="4968875" y="5573925"/>
            <a:ext cx="539229" cy="1034693"/>
          </a:xfrm>
          <a:prstGeom prst="roundRect">
            <a:avLst>
              <a:gd name="adj" fmla="val 2940"/>
            </a:avLst>
          </a:prstGeom>
          <a:solidFill>
            <a:srgbClr val="008000">
              <a:alpha val="20000"/>
            </a:srgbClr>
          </a:solidFill>
          <a:ln w="9525" cap="sq">
            <a:solidFill>
              <a:srgbClr val="0000CC"/>
            </a:solidFill>
            <a:round/>
            <a:headEnd/>
            <a:tailEnd/>
          </a:ln>
        </p:spPr>
        <p:txBody>
          <a:bodyPr lIns="72000" tIns="72000" rIns="72000" bIns="72000" anchor="ctr"/>
          <a:lstStyle/>
          <a:p>
            <a:pPr>
              <a:buSzTx/>
              <a:buFontTx/>
              <a:buNone/>
            </a:pPr>
            <a:endParaRPr kumimoji="0" lang="zh-CN" altLang="en-US" sz="2400">
              <a:solidFill>
                <a:srgbClr val="CCFFCC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Rectangle 4"/>
          <p:cNvSpPr txBox="1">
            <a:spLocks noChangeArrowheads="1"/>
          </p:cNvSpPr>
          <p:nvPr/>
        </p:nvSpPr>
        <p:spPr bwMode="auto">
          <a:xfrm>
            <a:off x="251520" y="764704"/>
            <a:ext cx="54553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lvl="0" eaLnBrk="1" hangingPunct="1"/>
            <a:r>
              <a:rPr kumimoji="1" lang="zh-CN" altLang="en-US" sz="3200" kern="0" dirty="0">
                <a:solidFill>
                  <a:srgbClr val="FFFFFF"/>
                </a:solidFill>
                <a:latin typeface="微软雅黑" pitchFamily="34" charset="-122"/>
              </a:rPr>
              <a:t>控制结果中元组的排序方式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2117000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7163594" y="2349353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18226081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82" y="3501008"/>
            <a:ext cx="5865041" cy="286495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4019865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ORDER  BY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子句</a:t>
            </a:r>
          </a:p>
        </p:txBody>
      </p:sp>
      <p:sp>
        <p:nvSpPr>
          <p:cNvPr id="35" name="Rectangle 4"/>
          <p:cNvSpPr txBox="1">
            <a:spLocks noChangeArrowheads="1"/>
          </p:cNvSpPr>
          <p:nvPr/>
        </p:nvSpPr>
        <p:spPr bwMode="auto">
          <a:xfrm>
            <a:off x="251520" y="900009"/>
            <a:ext cx="299312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lvl="0" eaLnBrk="1" hangingPunct="1"/>
            <a:r>
              <a:rPr kumimoji="1" lang="zh-CN" altLang="en-US" sz="3200" kern="0" dirty="0" smtClean="0">
                <a:solidFill>
                  <a:srgbClr val="FFFFFF"/>
                </a:solidFill>
                <a:latin typeface="微软雅黑" pitchFamily="34" charset="-122"/>
              </a:rPr>
              <a:t>支持多级排序</a:t>
            </a:r>
            <a:endParaRPr kumimoji="1" lang="zh-CN" altLang="en-US" sz="3200" kern="0" dirty="0">
              <a:solidFill>
                <a:srgbClr val="FFFFFF"/>
              </a:solidFill>
              <a:latin typeface="微软雅黑" pitchFamily="34" charset="-122"/>
            </a:endParaRPr>
          </a:p>
        </p:txBody>
      </p:sp>
      <p:sp>
        <p:nvSpPr>
          <p:cNvPr id="20" name="AutoShape 14"/>
          <p:cNvSpPr>
            <a:spLocks noChangeArrowheads="1"/>
          </p:cNvSpPr>
          <p:nvPr/>
        </p:nvSpPr>
        <p:spPr bwMode="auto">
          <a:xfrm>
            <a:off x="6084168" y="3755332"/>
            <a:ext cx="2881313" cy="2016125"/>
          </a:xfrm>
          <a:prstGeom prst="wedgeRoundRectCallout">
            <a:avLst>
              <a:gd name="adj1" fmla="val -115570"/>
              <a:gd name="adj2" fmla="val -3116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每个排序字段都有独立的排序方式</a:t>
            </a:r>
          </a:p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不要误解成按工资和生日的降序排列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87" y="1651218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7152831" y="1883571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sp>
        <p:nvSpPr>
          <p:cNvPr id="12" name="AutoShape 19"/>
          <p:cNvSpPr>
            <a:spLocks noChangeArrowheads="1"/>
          </p:cNvSpPr>
          <p:nvPr/>
        </p:nvSpPr>
        <p:spPr bwMode="auto">
          <a:xfrm>
            <a:off x="918642" y="5517233"/>
            <a:ext cx="4896544" cy="648072"/>
          </a:xfrm>
          <a:prstGeom prst="roundRect">
            <a:avLst>
              <a:gd name="adj" fmla="val 2940"/>
            </a:avLst>
          </a:prstGeom>
          <a:solidFill>
            <a:srgbClr val="FF0000">
              <a:alpha val="20000"/>
            </a:srgbClr>
          </a:solidFill>
          <a:ln w="9525" cap="sq">
            <a:solidFill>
              <a:srgbClr val="0000CC"/>
            </a:solidFill>
            <a:round/>
            <a:headEnd/>
            <a:tailEnd/>
          </a:ln>
        </p:spPr>
        <p:txBody>
          <a:bodyPr lIns="72000" tIns="72000" rIns="72000" bIns="72000" anchor="ctr"/>
          <a:lstStyle/>
          <a:p>
            <a:pPr>
              <a:buSzTx/>
              <a:buFontTx/>
              <a:buNone/>
            </a:pPr>
            <a:endParaRPr kumimoji="0" lang="zh-CN" altLang="en-US" sz="2400">
              <a:solidFill>
                <a:srgbClr val="CCFFCC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0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5" name="Rectangle 86"/>
          <p:cNvSpPr txBox="1">
            <a:spLocks noChangeArrowheads="1"/>
          </p:cNvSpPr>
          <p:nvPr/>
        </p:nvSpPr>
        <p:spPr bwMode="auto">
          <a:xfrm>
            <a:off x="306388" y="836712"/>
            <a:ext cx="20986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聚合函数</a:t>
            </a:r>
          </a:p>
        </p:txBody>
      </p:sp>
      <p:grpSp>
        <p:nvGrpSpPr>
          <p:cNvPr id="56" name="Group 87"/>
          <p:cNvGrpSpPr>
            <a:grpSpLocks/>
          </p:cNvGrpSpPr>
          <p:nvPr/>
        </p:nvGrpSpPr>
        <p:grpSpPr bwMode="auto">
          <a:xfrm>
            <a:off x="311606" y="1570137"/>
            <a:ext cx="6733381" cy="2578943"/>
            <a:chOff x="385" y="1344"/>
            <a:chExt cx="3765" cy="1451"/>
          </a:xfrm>
        </p:grpSpPr>
        <p:grpSp>
          <p:nvGrpSpPr>
            <p:cNvPr id="57" name="Group 88"/>
            <p:cNvGrpSpPr>
              <a:grpSpLocks/>
            </p:cNvGrpSpPr>
            <p:nvPr/>
          </p:nvGrpSpPr>
          <p:grpSpPr bwMode="auto">
            <a:xfrm>
              <a:off x="385" y="1344"/>
              <a:ext cx="1306" cy="291"/>
              <a:chOff x="0" y="384"/>
              <a:chExt cx="734" cy="384"/>
            </a:xfrm>
          </p:grpSpPr>
          <p:sp>
            <p:nvSpPr>
              <p:cNvPr id="85" name="Rectangle 89"/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648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AVG</a:t>
                </a: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86" name="Rectangle 90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73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8" name="Group 91"/>
            <p:cNvGrpSpPr>
              <a:grpSpLocks/>
            </p:cNvGrpSpPr>
            <p:nvPr/>
          </p:nvGrpSpPr>
          <p:grpSpPr bwMode="auto">
            <a:xfrm>
              <a:off x="1691" y="1344"/>
              <a:ext cx="2459" cy="291"/>
              <a:chOff x="734" y="384"/>
              <a:chExt cx="1382" cy="384"/>
            </a:xfrm>
          </p:grpSpPr>
          <p:sp>
            <p:nvSpPr>
              <p:cNvPr id="83" name="Rectangle 92"/>
              <p:cNvSpPr>
                <a:spLocks noChangeArrowheads="1"/>
              </p:cNvSpPr>
              <p:nvPr/>
            </p:nvSpPr>
            <p:spPr bwMode="auto">
              <a:xfrm>
                <a:off x="777" y="384"/>
                <a:ext cx="1296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按列计算平均值</a:t>
                </a:r>
              </a:p>
            </p:txBody>
          </p:sp>
          <p:sp>
            <p:nvSpPr>
              <p:cNvPr id="84" name="Rectangle 93"/>
              <p:cNvSpPr>
                <a:spLocks noChangeArrowheads="1"/>
              </p:cNvSpPr>
              <p:nvPr/>
            </p:nvSpPr>
            <p:spPr bwMode="auto">
              <a:xfrm>
                <a:off x="734" y="384"/>
                <a:ext cx="138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40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aramond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59" name="Group 94"/>
            <p:cNvGrpSpPr>
              <a:grpSpLocks/>
            </p:cNvGrpSpPr>
            <p:nvPr/>
          </p:nvGrpSpPr>
          <p:grpSpPr bwMode="auto">
            <a:xfrm>
              <a:off x="385" y="1635"/>
              <a:ext cx="1306" cy="290"/>
              <a:chOff x="0" y="768"/>
              <a:chExt cx="734" cy="384"/>
            </a:xfrm>
          </p:grpSpPr>
          <p:sp>
            <p:nvSpPr>
              <p:cNvPr id="81" name="Rectangle 95"/>
              <p:cNvSpPr>
                <a:spLocks noChangeArrowheads="1"/>
              </p:cNvSpPr>
              <p:nvPr/>
            </p:nvSpPr>
            <p:spPr bwMode="auto">
              <a:xfrm>
                <a:off x="43" y="768"/>
                <a:ext cx="648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SUM</a:t>
                </a: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82" name="Rectangle 96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73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0" name="Group 97"/>
            <p:cNvGrpSpPr>
              <a:grpSpLocks/>
            </p:cNvGrpSpPr>
            <p:nvPr/>
          </p:nvGrpSpPr>
          <p:grpSpPr bwMode="auto">
            <a:xfrm>
              <a:off x="1691" y="1635"/>
              <a:ext cx="2459" cy="290"/>
              <a:chOff x="734" y="768"/>
              <a:chExt cx="1382" cy="384"/>
            </a:xfrm>
          </p:grpSpPr>
          <p:sp>
            <p:nvSpPr>
              <p:cNvPr id="79" name="Rectangle 98"/>
              <p:cNvSpPr>
                <a:spLocks noChangeArrowheads="1"/>
              </p:cNvSpPr>
              <p:nvPr/>
            </p:nvSpPr>
            <p:spPr bwMode="auto">
              <a:xfrm>
                <a:off x="777" y="768"/>
                <a:ext cx="1296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按列计算值的总和</a:t>
                </a:r>
              </a:p>
            </p:txBody>
          </p:sp>
          <p:sp>
            <p:nvSpPr>
              <p:cNvPr id="80" name="Rectangle 99"/>
              <p:cNvSpPr>
                <a:spLocks noChangeArrowheads="1"/>
              </p:cNvSpPr>
              <p:nvPr/>
            </p:nvSpPr>
            <p:spPr bwMode="auto">
              <a:xfrm>
                <a:off x="734" y="768"/>
                <a:ext cx="138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1" name="Group 100"/>
            <p:cNvGrpSpPr>
              <a:grpSpLocks/>
            </p:cNvGrpSpPr>
            <p:nvPr/>
          </p:nvGrpSpPr>
          <p:grpSpPr bwMode="auto">
            <a:xfrm>
              <a:off x="385" y="1925"/>
              <a:ext cx="1306" cy="289"/>
              <a:chOff x="0" y="1152"/>
              <a:chExt cx="734" cy="384"/>
            </a:xfrm>
          </p:grpSpPr>
          <p:sp>
            <p:nvSpPr>
              <p:cNvPr id="77" name="Rectangle 101"/>
              <p:cNvSpPr>
                <a:spLocks noChangeArrowheads="1"/>
              </p:cNvSpPr>
              <p:nvPr/>
            </p:nvSpPr>
            <p:spPr bwMode="auto">
              <a:xfrm>
                <a:off x="43" y="1152"/>
                <a:ext cx="648" cy="3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MAX</a:t>
                </a: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8" name="Rectangle 102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734" cy="38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2" name="Group 103"/>
            <p:cNvGrpSpPr>
              <a:grpSpLocks/>
            </p:cNvGrpSpPr>
            <p:nvPr/>
          </p:nvGrpSpPr>
          <p:grpSpPr bwMode="auto">
            <a:xfrm>
              <a:off x="1691" y="1925"/>
              <a:ext cx="2459" cy="289"/>
              <a:chOff x="734" y="1152"/>
              <a:chExt cx="1382" cy="384"/>
            </a:xfrm>
          </p:grpSpPr>
          <p:sp>
            <p:nvSpPr>
              <p:cNvPr id="75" name="Rectangle 104"/>
              <p:cNvSpPr>
                <a:spLocks noChangeArrowheads="1"/>
              </p:cNvSpPr>
              <p:nvPr/>
            </p:nvSpPr>
            <p:spPr bwMode="auto">
              <a:xfrm>
                <a:off x="777" y="1152"/>
                <a:ext cx="1296" cy="3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求一列中的最大值</a:t>
                </a:r>
              </a:p>
            </p:txBody>
          </p:sp>
          <p:sp>
            <p:nvSpPr>
              <p:cNvPr id="76" name="Rectangle 105"/>
              <p:cNvSpPr>
                <a:spLocks noChangeArrowheads="1"/>
              </p:cNvSpPr>
              <p:nvPr/>
            </p:nvSpPr>
            <p:spPr bwMode="auto">
              <a:xfrm>
                <a:off x="734" y="1152"/>
                <a:ext cx="1382" cy="38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3" name="Group 106"/>
            <p:cNvGrpSpPr>
              <a:grpSpLocks/>
            </p:cNvGrpSpPr>
            <p:nvPr/>
          </p:nvGrpSpPr>
          <p:grpSpPr bwMode="auto">
            <a:xfrm>
              <a:off x="385" y="2214"/>
              <a:ext cx="1306" cy="291"/>
              <a:chOff x="0" y="1536"/>
              <a:chExt cx="734" cy="384"/>
            </a:xfrm>
          </p:grpSpPr>
          <p:sp>
            <p:nvSpPr>
              <p:cNvPr id="73" name="Rectangle 107"/>
              <p:cNvSpPr>
                <a:spLocks noChangeArrowheads="1"/>
              </p:cNvSpPr>
              <p:nvPr/>
            </p:nvSpPr>
            <p:spPr bwMode="auto">
              <a:xfrm>
                <a:off x="43" y="1536"/>
                <a:ext cx="648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MIN</a:t>
                </a: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4" name="Rectangle 108"/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73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4" name="Group 109"/>
            <p:cNvGrpSpPr>
              <a:grpSpLocks/>
            </p:cNvGrpSpPr>
            <p:nvPr/>
          </p:nvGrpSpPr>
          <p:grpSpPr bwMode="auto">
            <a:xfrm>
              <a:off x="1691" y="2214"/>
              <a:ext cx="2459" cy="291"/>
              <a:chOff x="734" y="1536"/>
              <a:chExt cx="1382" cy="384"/>
            </a:xfrm>
          </p:grpSpPr>
          <p:sp>
            <p:nvSpPr>
              <p:cNvPr id="71" name="Rectangle 110"/>
              <p:cNvSpPr>
                <a:spLocks noChangeArrowheads="1"/>
              </p:cNvSpPr>
              <p:nvPr/>
            </p:nvSpPr>
            <p:spPr bwMode="auto">
              <a:xfrm>
                <a:off x="777" y="1536"/>
                <a:ext cx="1296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求一列中的最小值</a:t>
                </a:r>
              </a:p>
            </p:txBody>
          </p:sp>
          <p:sp>
            <p:nvSpPr>
              <p:cNvPr id="72" name="Rectangle 111"/>
              <p:cNvSpPr>
                <a:spLocks noChangeArrowheads="1"/>
              </p:cNvSpPr>
              <p:nvPr/>
            </p:nvSpPr>
            <p:spPr bwMode="auto">
              <a:xfrm>
                <a:off x="734" y="1536"/>
                <a:ext cx="138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5" name="Group 112"/>
            <p:cNvGrpSpPr>
              <a:grpSpLocks/>
            </p:cNvGrpSpPr>
            <p:nvPr/>
          </p:nvGrpSpPr>
          <p:grpSpPr bwMode="auto">
            <a:xfrm>
              <a:off x="385" y="2505"/>
              <a:ext cx="1306" cy="290"/>
              <a:chOff x="0" y="1920"/>
              <a:chExt cx="734" cy="384"/>
            </a:xfrm>
          </p:grpSpPr>
          <p:sp>
            <p:nvSpPr>
              <p:cNvPr id="69" name="Rectangle 113"/>
              <p:cNvSpPr>
                <a:spLocks noChangeArrowheads="1"/>
              </p:cNvSpPr>
              <p:nvPr/>
            </p:nvSpPr>
            <p:spPr bwMode="auto">
              <a:xfrm>
                <a:off x="43" y="1920"/>
                <a:ext cx="648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COUNT</a:t>
                </a: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0" name="Rectangle 114"/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734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6" name="Group 115"/>
            <p:cNvGrpSpPr>
              <a:grpSpLocks/>
            </p:cNvGrpSpPr>
            <p:nvPr/>
          </p:nvGrpSpPr>
          <p:grpSpPr bwMode="auto">
            <a:xfrm>
              <a:off x="1691" y="2505"/>
              <a:ext cx="2459" cy="290"/>
              <a:chOff x="734" y="1920"/>
              <a:chExt cx="1382" cy="384"/>
            </a:xfrm>
          </p:grpSpPr>
          <p:sp>
            <p:nvSpPr>
              <p:cNvPr id="67" name="Rectangle 116"/>
              <p:cNvSpPr>
                <a:spLocks noChangeArrowheads="1"/>
              </p:cNvSpPr>
              <p:nvPr/>
            </p:nvSpPr>
            <p:spPr bwMode="auto">
              <a:xfrm>
                <a:off x="777" y="1920"/>
                <a:ext cx="1296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按行或某</a:t>
                </a: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1</a:t>
                </a:r>
                <a:r>
                  <a:rPr kumimoji="0" lang="zh-CN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charset="0"/>
                  </a:rPr>
                  <a:t>列值进行计数</a:t>
                </a:r>
              </a:p>
            </p:txBody>
          </p:sp>
          <p:sp>
            <p:nvSpPr>
              <p:cNvPr id="68" name="Rectangle 117"/>
              <p:cNvSpPr>
                <a:spLocks noChangeArrowheads="1"/>
              </p:cNvSpPr>
              <p:nvPr/>
            </p:nvSpPr>
            <p:spPr bwMode="auto">
              <a:xfrm>
                <a:off x="734" y="1920"/>
                <a:ext cx="1382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87" name="Rectangle 118"/>
          <p:cNvSpPr>
            <a:spLocks noChangeArrowheads="1"/>
          </p:cNvSpPr>
          <p:nvPr/>
        </p:nvSpPr>
        <p:spPr bwMode="auto">
          <a:xfrm>
            <a:off x="4360863" y="5605463"/>
            <a:ext cx="4105275" cy="4873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96838" marR="0" lvl="0" indent="-9683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COUNT([DISTINCT] *)</a:t>
            </a:r>
          </a:p>
        </p:txBody>
      </p:sp>
      <p:sp>
        <p:nvSpPr>
          <p:cNvPr id="88" name="Rectangle 119"/>
          <p:cNvSpPr>
            <a:spLocks noChangeArrowheads="1"/>
          </p:cNvSpPr>
          <p:nvPr/>
        </p:nvSpPr>
        <p:spPr bwMode="auto">
          <a:xfrm>
            <a:off x="663575" y="4955839"/>
            <a:ext cx="7684796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</a:rPr>
              <a:t>聚合函数的一般格式： 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函数名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([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DISTINCT] 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列名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)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89" name="Rectangle 120"/>
          <p:cNvSpPr>
            <a:spLocks noChangeArrowheads="1"/>
          </p:cNvSpPr>
          <p:nvPr/>
        </p:nvSpPr>
        <p:spPr bwMode="auto">
          <a:xfrm>
            <a:off x="663575" y="5603539"/>
            <a:ext cx="37179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800" dirty="0">
                <a:solidFill>
                  <a:schemeClr val="bg1"/>
                </a:solidFill>
                <a:effectLst/>
                <a:latin typeface="Times New Roman" pitchFamily="18" charset="0"/>
              </a:rPr>
              <a:t>COUNT</a:t>
            </a:r>
            <a:r>
              <a:rPr lang="zh-CN" altLang="en-US" sz="2800" dirty="0">
                <a:solidFill>
                  <a:schemeClr val="bg1"/>
                </a:solidFill>
                <a:effectLst/>
                <a:latin typeface="Times New Roman" pitchFamily="18" charset="0"/>
              </a:rPr>
              <a:t>函数还可以为：</a:t>
            </a:r>
          </a:p>
        </p:txBody>
      </p:sp>
      <p:sp>
        <p:nvSpPr>
          <p:cNvPr id="90" name="AutoShape 121"/>
          <p:cNvSpPr>
            <a:spLocks noChangeArrowheads="1"/>
          </p:cNvSpPr>
          <p:nvPr/>
        </p:nvSpPr>
        <p:spPr bwMode="auto">
          <a:xfrm>
            <a:off x="4284663" y="4381500"/>
            <a:ext cx="1655762" cy="431800"/>
          </a:xfrm>
          <a:prstGeom prst="wedgeRoundRectCallout">
            <a:avLst>
              <a:gd name="adj1" fmla="val 25167"/>
              <a:gd name="adj2" fmla="val 82722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按列统计</a:t>
            </a:r>
          </a:p>
        </p:txBody>
      </p:sp>
      <p:sp>
        <p:nvSpPr>
          <p:cNvPr id="91" name="AutoShape 122"/>
          <p:cNvSpPr>
            <a:spLocks noChangeArrowheads="1"/>
          </p:cNvSpPr>
          <p:nvPr/>
        </p:nvSpPr>
        <p:spPr bwMode="auto">
          <a:xfrm>
            <a:off x="6084888" y="6181725"/>
            <a:ext cx="1655762" cy="382588"/>
          </a:xfrm>
          <a:prstGeom prst="wedgeRoundRectCallout">
            <a:avLst>
              <a:gd name="adj1" fmla="val -25454"/>
              <a:gd name="adj2" fmla="val -7780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按行计数</a:t>
            </a:r>
          </a:p>
        </p:txBody>
      </p:sp>
      <p:sp>
        <p:nvSpPr>
          <p:cNvPr id="92" name="Rectangle 123"/>
          <p:cNvSpPr>
            <a:spLocks noChangeArrowheads="1"/>
          </p:cNvSpPr>
          <p:nvPr/>
        </p:nvSpPr>
        <p:spPr bwMode="auto">
          <a:xfrm>
            <a:off x="6768306" y="2087347"/>
            <a:ext cx="1944688" cy="1439863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列统计方式下是不会统计空值的！</a:t>
            </a:r>
          </a:p>
        </p:txBody>
      </p:sp>
    </p:spTree>
    <p:extLst>
      <p:ext uri="{BB962C8B-B14F-4D97-AF65-F5344CB8AC3E}">
        <p14:creationId xmlns:p14="http://schemas.microsoft.com/office/powerpoint/2010/main" val="244635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38" y="3766425"/>
            <a:ext cx="6243641" cy="2361198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>
            <a:off x="2195737" y="4365104"/>
            <a:ext cx="936104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" name="AutoShape 47"/>
          <p:cNvSpPr>
            <a:spLocks noChangeArrowheads="1"/>
          </p:cNvSpPr>
          <p:nvPr/>
        </p:nvSpPr>
        <p:spPr bwMode="auto">
          <a:xfrm>
            <a:off x="3131841" y="5030464"/>
            <a:ext cx="2879725" cy="431800"/>
          </a:xfrm>
          <a:prstGeom prst="wedgeRoundRectCallout">
            <a:avLst>
              <a:gd name="adj1" fmla="val -46694"/>
              <a:gd name="adj2" fmla="val -11875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“*”即整行的意思</a:t>
            </a:r>
          </a:p>
        </p:txBody>
      </p:sp>
      <p:sp>
        <p:nvSpPr>
          <p:cNvPr id="53" name="Rectangle 48"/>
          <p:cNvSpPr>
            <a:spLocks noChangeArrowheads="1"/>
          </p:cNvSpPr>
          <p:nvPr/>
        </p:nvSpPr>
        <p:spPr bwMode="auto">
          <a:xfrm>
            <a:off x="6307337" y="4569742"/>
            <a:ext cx="1800225" cy="1009650"/>
          </a:xfrm>
          <a:prstGeom prst="rect">
            <a:avLst/>
          </a:prstGeom>
          <a:solidFill>
            <a:srgbClr val="0000CC"/>
          </a:solidFill>
          <a:ln w="57150" cap="sq">
            <a:solidFill>
              <a:srgbClr val="00B050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只有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Count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才能用“*”</a:t>
            </a:r>
          </a:p>
        </p:txBody>
      </p:sp>
      <p:sp>
        <p:nvSpPr>
          <p:cNvPr id="54" name="Rectangle 50"/>
          <p:cNvSpPr txBox="1">
            <a:spLocks noChangeArrowheads="1"/>
          </p:cNvSpPr>
          <p:nvPr/>
        </p:nvSpPr>
        <p:spPr bwMode="auto">
          <a:xfrm>
            <a:off x="98438" y="908720"/>
            <a:ext cx="53816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使用聚合函数进行简单统计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39" y="1774926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7256583" y="2007279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315277025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4" name="Rectangle 50"/>
          <p:cNvSpPr txBox="1">
            <a:spLocks noChangeArrowheads="1"/>
          </p:cNvSpPr>
          <p:nvPr/>
        </p:nvSpPr>
        <p:spPr bwMode="auto">
          <a:xfrm>
            <a:off x="98438" y="908720"/>
            <a:ext cx="53816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使用聚合函数进行简单统计</a:t>
            </a:r>
          </a:p>
        </p:txBody>
      </p:sp>
      <p:pic>
        <p:nvPicPr>
          <p:cNvPr id="19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6" t="7995" r="519" b="7839"/>
          <a:stretch/>
        </p:blipFill>
        <p:spPr bwMode="auto">
          <a:xfrm>
            <a:off x="848639" y="3933776"/>
            <a:ext cx="5737790" cy="208751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Line 14"/>
          <p:cNvSpPr>
            <a:spLocks noChangeShapeType="1"/>
          </p:cNvSpPr>
          <p:nvPr/>
        </p:nvSpPr>
        <p:spPr bwMode="auto">
          <a:xfrm>
            <a:off x="1665288" y="4399012"/>
            <a:ext cx="218663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AutoShape 15"/>
          <p:cNvSpPr>
            <a:spLocks noChangeArrowheads="1"/>
          </p:cNvSpPr>
          <p:nvPr/>
        </p:nvSpPr>
        <p:spPr bwMode="auto">
          <a:xfrm>
            <a:off x="2268538" y="4941888"/>
            <a:ext cx="3889375" cy="792162"/>
          </a:xfrm>
          <a:prstGeom prst="wedgeRoundRectCallout">
            <a:avLst>
              <a:gd name="adj1" fmla="val -26653"/>
              <a:gd name="adj2" fmla="val -90282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按不重复的职称列的值计数，注意空值不计数</a:t>
            </a:r>
          </a:p>
        </p:txBody>
      </p:sp>
      <p:sp>
        <p:nvSpPr>
          <p:cNvPr id="22" name="AutoShape 16"/>
          <p:cNvSpPr>
            <a:spLocks noChangeArrowheads="1"/>
          </p:cNvSpPr>
          <p:nvPr/>
        </p:nvSpPr>
        <p:spPr bwMode="auto">
          <a:xfrm>
            <a:off x="6876256" y="5564963"/>
            <a:ext cx="1873250" cy="792163"/>
          </a:xfrm>
          <a:prstGeom prst="wedgeRoundRectCallout">
            <a:avLst>
              <a:gd name="adj1" fmla="val 5593"/>
              <a:gd name="adj2" fmla="val -9609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实际有这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5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种职称值</a:t>
            </a:r>
          </a:p>
        </p:txBody>
      </p:sp>
      <p:pic>
        <p:nvPicPr>
          <p:cNvPr id="23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401319"/>
            <a:ext cx="1189087" cy="1633204"/>
          </a:xfrm>
          <a:prstGeom prst="rect">
            <a:avLst/>
          </a:prstGeom>
          <a:noFill/>
          <a:ln w="38100" cap="sq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39" y="1774926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7256583" y="2007279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382706887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4" name="Rectangle 50"/>
          <p:cNvSpPr txBox="1">
            <a:spLocks noChangeArrowheads="1"/>
          </p:cNvSpPr>
          <p:nvPr/>
        </p:nvSpPr>
        <p:spPr bwMode="auto">
          <a:xfrm>
            <a:off x="98438" y="908720"/>
            <a:ext cx="53816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使用聚合函数进行简单统计</a:t>
            </a:r>
          </a:p>
        </p:txBody>
      </p:sp>
      <p:pic>
        <p:nvPicPr>
          <p:cNvPr id="25" name="Picture 1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3" t="5999" r="5684" b="9250"/>
          <a:stretch/>
        </p:blipFill>
        <p:spPr bwMode="auto">
          <a:xfrm>
            <a:off x="539552" y="3518112"/>
            <a:ext cx="5670628" cy="2863215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AutoShape 15"/>
          <p:cNvSpPr>
            <a:spLocks noChangeArrowheads="1"/>
          </p:cNvSpPr>
          <p:nvPr/>
        </p:nvSpPr>
        <p:spPr bwMode="auto">
          <a:xfrm>
            <a:off x="5724525" y="3765128"/>
            <a:ext cx="2879725" cy="2089150"/>
          </a:xfrm>
          <a:prstGeom prst="wedgeRoundRectCallout">
            <a:avLst>
              <a:gd name="adj1" fmla="val -60583"/>
              <a:gd name="adj2" fmla="val -2386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多项统计可以在一条命令中实现。</a:t>
            </a:r>
          </a:p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Ｒ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ound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（Ｍ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,N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）表示对数值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M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四舍五入到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N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位小数</a:t>
            </a:r>
          </a:p>
        </p:txBody>
      </p:sp>
      <p:sp>
        <p:nvSpPr>
          <p:cNvPr id="27" name="AutoShape 16"/>
          <p:cNvSpPr>
            <a:spLocks noChangeArrowheads="1"/>
          </p:cNvSpPr>
          <p:nvPr/>
        </p:nvSpPr>
        <p:spPr bwMode="auto">
          <a:xfrm>
            <a:off x="1331640" y="3765128"/>
            <a:ext cx="3744416" cy="1176040"/>
          </a:xfrm>
          <a:prstGeom prst="roundRect">
            <a:avLst>
              <a:gd name="adj" fmla="val 4847"/>
            </a:avLst>
          </a:prstGeom>
          <a:solidFill>
            <a:srgbClr val="009900">
              <a:alpha val="17999"/>
            </a:srgbClr>
          </a:solidFill>
          <a:ln w="12700" cap="sq" algn="ctr">
            <a:noFill/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646246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6947496" y="1878599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</p:spTree>
    <p:extLst>
      <p:ext uri="{BB962C8B-B14F-4D97-AF65-F5344CB8AC3E}">
        <p14:creationId xmlns:p14="http://schemas.microsoft.com/office/powerpoint/2010/main" val="161003700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分组统计查询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4986338" y="781050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19" name="Group 5"/>
          <p:cNvGraphicFramePr>
            <a:graphicFrameLocks noGrp="1"/>
          </p:cNvGraphicFramePr>
          <p:nvPr/>
        </p:nvGraphicFramePr>
        <p:xfrm>
          <a:off x="5419725" y="781050"/>
          <a:ext cx="3429000" cy="1524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Rectangle 49"/>
          <p:cNvSpPr txBox="1">
            <a:spLocks noChangeArrowheads="1"/>
          </p:cNvSpPr>
          <p:nvPr/>
        </p:nvSpPr>
        <p:spPr bwMode="auto">
          <a:xfrm>
            <a:off x="251520" y="1142008"/>
            <a:ext cx="4608513" cy="516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所谓分组就是查询时将分组列值相同的元组归为一组。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分组后查询的单位是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组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而非元组，对各组只能投影其分组列，而非分组列只能用聚合函数进行统计。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查询有各个系的人数：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SELECT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系名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,Count(*)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 FROM ST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GROUP BY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系名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微软雅黑" pitchFamily="34" charset="-122"/>
              <a:cs typeface="+mn-cs"/>
            </a:endParaRPr>
          </a:p>
        </p:txBody>
      </p:sp>
      <p:graphicFrame>
        <p:nvGraphicFramePr>
          <p:cNvPr id="21" name="Group 50"/>
          <p:cNvGraphicFramePr>
            <a:graphicFrameLocks noGrp="1"/>
          </p:cNvGraphicFramePr>
          <p:nvPr>
            <p:extLst/>
          </p:nvPr>
        </p:nvGraphicFramePr>
        <p:xfrm>
          <a:off x="5292725" y="3644900"/>
          <a:ext cx="3543300" cy="26257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5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5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95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Rectangle 121"/>
          <p:cNvSpPr>
            <a:spLocks noChangeArrowheads="1"/>
          </p:cNvSpPr>
          <p:nvPr/>
        </p:nvSpPr>
        <p:spPr bwMode="auto">
          <a:xfrm>
            <a:off x="5148263" y="2852738"/>
            <a:ext cx="1062037" cy="508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分组列</a:t>
            </a:r>
          </a:p>
        </p:txBody>
      </p:sp>
      <p:sp>
        <p:nvSpPr>
          <p:cNvPr id="23" name="Rectangle 122"/>
          <p:cNvSpPr>
            <a:spLocks noChangeArrowheads="1"/>
          </p:cNvSpPr>
          <p:nvPr/>
        </p:nvSpPr>
        <p:spPr bwMode="auto">
          <a:xfrm>
            <a:off x="6770688" y="2852738"/>
            <a:ext cx="1368425" cy="508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非分组列</a:t>
            </a:r>
          </a:p>
        </p:txBody>
      </p:sp>
      <p:sp>
        <p:nvSpPr>
          <p:cNvPr id="28" name="AutoShape 123"/>
          <p:cNvSpPr>
            <a:spLocks/>
          </p:cNvSpPr>
          <p:nvPr/>
        </p:nvSpPr>
        <p:spPr bwMode="auto">
          <a:xfrm rot="-5400000">
            <a:off x="5657850" y="3140075"/>
            <a:ext cx="71438" cy="649288"/>
          </a:xfrm>
          <a:prstGeom prst="rightBrace">
            <a:avLst>
              <a:gd name="adj1" fmla="val 75740"/>
              <a:gd name="adj2" fmla="val 50000"/>
            </a:avLst>
          </a:prstGeom>
          <a:noFill/>
          <a:ln w="28575" cap="sq">
            <a:solidFill>
              <a:srgbClr val="99FF66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AutoShape 124"/>
          <p:cNvSpPr>
            <a:spLocks/>
          </p:cNvSpPr>
          <p:nvPr/>
        </p:nvSpPr>
        <p:spPr bwMode="auto">
          <a:xfrm rot="-5400000">
            <a:off x="7416006" y="2169319"/>
            <a:ext cx="71438" cy="2590800"/>
          </a:xfrm>
          <a:prstGeom prst="rightBrace">
            <a:avLst>
              <a:gd name="adj1" fmla="val 302220"/>
              <a:gd name="adj2" fmla="val 50000"/>
            </a:avLst>
          </a:prstGeom>
          <a:noFill/>
          <a:ln w="28575" cap="sq">
            <a:solidFill>
              <a:srgbClr val="99FF66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8401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0" y="2728040"/>
            <a:ext cx="6156302" cy="285202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分组统计查询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2" name="AutoShape 76"/>
          <p:cNvSpPr>
            <a:spLocks noChangeArrowheads="1"/>
          </p:cNvSpPr>
          <p:nvPr/>
        </p:nvSpPr>
        <p:spPr bwMode="auto">
          <a:xfrm>
            <a:off x="5965998" y="2846385"/>
            <a:ext cx="2735263" cy="2447925"/>
          </a:xfrm>
          <a:prstGeom prst="roundRect">
            <a:avLst>
              <a:gd name="adj" fmla="val 6829"/>
            </a:avLst>
          </a:prstGeom>
          <a:gradFill rotWithShape="1">
            <a:gsLst>
              <a:gs pos="0">
                <a:srgbClr val="003399">
                  <a:gamma/>
                  <a:shade val="46275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46275"/>
                  <a:invGamma/>
                </a:srgbClr>
              </a:gs>
            </a:gsLst>
            <a:lin ang="18900000" scaled="1"/>
          </a:gradFill>
          <a:ln w="28575" cap="sq" algn="ctr">
            <a:solidFill>
              <a:srgbClr val="CC3300"/>
            </a:solidFill>
            <a:round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72000" tIns="72000" rIns="72000" bIns="7200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AutoShape 77"/>
          <p:cNvSpPr>
            <a:spLocks noChangeArrowheads="1"/>
          </p:cNvSpPr>
          <p:nvPr/>
        </p:nvSpPr>
        <p:spPr bwMode="auto">
          <a:xfrm>
            <a:off x="3068539" y="4891607"/>
            <a:ext cx="1798637" cy="792162"/>
          </a:xfrm>
          <a:prstGeom prst="wedgeRoundRectCallout">
            <a:avLst>
              <a:gd name="adj1" fmla="val -64565"/>
              <a:gd name="adj2" fmla="val -41986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所以只有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这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结果</a:t>
            </a:r>
          </a:p>
        </p:txBody>
      </p:sp>
      <p:graphicFrame>
        <p:nvGraphicFramePr>
          <p:cNvPr id="34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00407"/>
              </p:ext>
            </p:extLst>
          </p:nvPr>
        </p:nvGraphicFramePr>
        <p:xfrm>
          <a:off x="6097761" y="2940048"/>
          <a:ext cx="2519362" cy="2197104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职称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工号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T01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古洪明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99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副教授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T05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潘强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助教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T02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AutoShape 137"/>
          <p:cNvSpPr>
            <a:spLocks noChangeArrowheads="1"/>
          </p:cNvSpPr>
          <p:nvPr/>
        </p:nvSpPr>
        <p:spPr bwMode="auto">
          <a:xfrm>
            <a:off x="7016923" y="2003423"/>
            <a:ext cx="1655763" cy="527050"/>
          </a:xfrm>
          <a:prstGeom prst="wedgeRoundRectCallout">
            <a:avLst>
              <a:gd name="adj1" fmla="val -36481"/>
              <a:gd name="adj2" fmla="val 8765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分组示意</a:t>
            </a:r>
          </a:p>
        </p:txBody>
      </p:sp>
      <p:sp>
        <p:nvSpPr>
          <p:cNvPr id="37" name="AutoShape 139"/>
          <p:cNvSpPr>
            <a:spLocks noChangeArrowheads="1"/>
          </p:cNvSpPr>
          <p:nvPr/>
        </p:nvSpPr>
        <p:spPr bwMode="auto">
          <a:xfrm>
            <a:off x="4059715" y="3439026"/>
            <a:ext cx="1728787" cy="720725"/>
          </a:xfrm>
          <a:prstGeom prst="wedgeRoundRectCallout">
            <a:avLst>
              <a:gd name="adj1" fmla="val -65662"/>
              <a:gd name="adj2" fmla="val -5408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因为只有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这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4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种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职称</a:t>
            </a:r>
          </a:p>
        </p:txBody>
      </p:sp>
      <p:sp>
        <p:nvSpPr>
          <p:cNvPr id="38" name="Rectangle 140"/>
          <p:cNvSpPr>
            <a:spLocks noChangeArrowheads="1"/>
          </p:cNvSpPr>
          <p:nvPr/>
        </p:nvSpPr>
        <p:spPr bwMode="auto">
          <a:xfrm>
            <a:off x="824086" y="5868094"/>
            <a:ext cx="7877175" cy="614685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可以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By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多个列名来实现多级分组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09" y="842019"/>
            <a:ext cx="5724406" cy="1471182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7236296" y="922781"/>
            <a:ext cx="1008062" cy="863600"/>
          </a:xfrm>
          <a:prstGeom prst="wedgeRoundRectCallout">
            <a:avLst>
              <a:gd name="adj1" fmla="val -95514"/>
              <a:gd name="adj2" fmla="val -1893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原始数据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481" y="3799389"/>
            <a:ext cx="679485" cy="781090"/>
          </a:xfrm>
          <a:prstGeom prst="rect">
            <a:avLst/>
          </a:prstGeom>
          <a:noFill/>
          <a:ln w="38100" cap="sq" algn="ctr">
            <a:solidFill>
              <a:srgbClr val="FF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570284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76" y="3312063"/>
            <a:ext cx="1804087" cy="1278324"/>
          </a:xfrm>
          <a:prstGeom prst="rect">
            <a:avLst/>
          </a:prstGeom>
          <a:noFill/>
          <a:ln w="38100" cap="sq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>
                <a:alpha val="50000"/>
              </a:srgbClr>
            </a:outerShdw>
          </a:effec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分组统计查询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Rectangle 71"/>
          <p:cNvSpPr txBox="1">
            <a:spLocks noChangeArrowheads="1"/>
          </p:cNvSpPr>
          <p:nvPr/>
        </p:nvSpPr>
        <p:spPr bwMode="auto">
          <a:xfrm>
            <a:off x="250825" y="1079828"/>
            <a:ext cx="87136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Having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子句限定只查询满足条件的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Group by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Arial" pitchFamily="34" charset="0"/>
              </a:rPr>
              <a:t>分组</a:t>
            </a:r>
          </a:p>
        </p:txBody>
      </p:sp>
      <p:pic>
        <p:nvPicPr>
          <p:cNvPr id="21" name="Picture 8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319463"/>
            <a:ext cx="5810250" cy="278130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Line 81"/>
          <p:cNvSpPr>
            <a:spLocks noChangeShapeType="1"/>
          </p:cNvSpPr>
          <p:nvPr/>
        </p:nvSpPr>
        <p:spPr bwMode="auto">
          <a:xfrm>
            <a:off x="1077913" y="4365625"/>
            <a:ext cx="3384550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/>
            <a:tailEnd/>
          </a:ln>
          <a:effectLst/>
        </p:spPr>
        <p:txBody>
          <a:bodyPr lIns="72000" tIns="72000" rIns="72000" bIns="72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AutoShape 82"/>
          <p:cNvSpPr>
            <a:spLocks noChangeArrowheads="1"/>
          </p:cNvSpPr>
          <p:nvPr/>
        </p:nvSpPr>
        <p:spPr bwMode="auto">
          <a:xfrm>
            <a:off x="3167063" y="5048250"/>
            <a:ext cx="1871662" cy="1225550"/>
          </a:xfrm>
          <a:prstGeom prst="wedgeRoundRectCallout">
            <a:avLst>
              <a:gd name="adj1" fmla="val -18194"/>
              <a:gd name="adj2" fmla="val -8912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条件是分组中的行数不小于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5</a:t>
            </a:r>
          </a:p>
        </p:txBody>
      </p:sp>
      <p:sp>
        <p:nvSpPr>
          <p:cNvPr id="24" name="AutoShape 83"/>
          <p:cNvSpPr>
            <a:spLocks noChangeArrowheads="1"/>
          </p:cNvSpPr>
          <p:nvPr/>
        </p:nvSpPr>
        <p:spPr bwMode="auto">
          <a:xfrm>
            <a:off x="6696075" y="5229225"/>
            <a:ext cx="1944688" cy="863600"/>
          </a:xfrm>
          <a:prstGeom prst="wedgeRoundRectCallout">
            <a:avLst>
              <a:gd name="adj1" fmla="val -18014"/>
              <a:gd name="adj2" fmla="val -10762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按职称分组统计的人数</a:t>
            </a:r>
          </a:p>
        </p:txBody>
      </p:sp>
      <p:sp>
        <p:nvSpPr>
          <p:cNvPr id="26" name="Rectangle 85"/>
          <p:cNvSpPr>
            <a:spLocks noChangeArrowheads="1"/>
          </p:cNvSpPr>
          <p:nvPr/>
        </p:nvSpPr>
        <p:spPr bwMode="auto">
          <a:xfrm>
            <a:off x="640408" y="2025774"/>
            <a:ext cx="6913562" cy="647452"/>
          </a:xfrm>
          <a:prstGeom prst="rect">
            <a:avLst/>
          </a:prstGeom>
          <a:solidFill>
            <a:srgbClr val="0000CC"/>
          </a:solidFill>
          <a:ln w="28575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HAVING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后跟的条件必须是跟分组有关的条件</a:t>
            </a:r>
          </a:p>
        </p:txBody>
      </p:sp>
    </p:spTree>
    <p:extLst>
      <p:ext uri="{BB962C8B-B14F-4D97-AF65-F5344CB8AC3E}">
        <p14:creationId xmlns:p14="http://schemas.microsoft.com/office/powerpoint/2010/main" val="18752005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连接查询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88925" y="899538"/>
            <a:ext cx="8675688" cy="207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>
                <a:latin typeface="楷体_GB2312" pitchFamily="49" charset="-122"/>
              </a:rPr>
              <a:t>连接查询指在两张以上的相关表中进行查询，从而实现将存储于不同表中的数据连接成完整的查询信息。</a:t>
            </a:r>
          </a:p>
          <a:p>
            <a:pPr marL="269875" indent="-269875" algn="just" eaLnBrk="1" hangingPunct="1">
              <a:lnSpc>
                <a:spcPts val="2700"/>
              </a:lnSpc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最基础的连接是交叉连接，即</a:t>
            </a:r>
            <a:endParaRPr kumimoji="1" lang="en-US" altLang="zh-CN" dirty="0" smtClean="0">
              <a:latin typeface="楷体_GB2312" pitchFamily="49" charset="-122"/>
            </a:endParaRPr>
          </a:p>
          <a:p>
            <a:pPr marL="269875" indent="-269875" algn="just" eaLnBrk="1" hangingPunct="1">
              <a:lnSpc>
                <a:spcPts val="2700"/>
              </a:lnSpc>
              <a:spcAft>
                <a:spcPct val="50000"/>
              </a:spcAft>
              <a:buClr>
                <a:srgbClr val="FFC000"/>
              </a:buClr>
              <a:buNone/>
              <a:defRPr/>
            </a:pPr>
            <a:r>
              <a:rPr kumimoji="1" lang="en-US" altLang="zh-CN" dirty="0">
                <a:latin typeface="楷体_GB2312" pitchFamily="49" charset="-122"/>
              </a:rPr>
              <a:t>	</a:t>
            </a:r>
            <a:r>
              <a:rPr kumimoji="1" lang="zh-CN" altLang="en-US" dirty="0" smtClean="0">
                <a:latin typeface="楷体_GB2312" pitchFamily="49" charset="-122"/>
              </a:rPr>
              <a:t>广义笛卡尔积。</a:t>
            </a:r>
            <a:endParaRPr kumimoji="1" lang="en-US" altLang="zh-CN" dirty="0" smtClean="0">
              <a:latin typeface="楷体_GB2312" pitchFamily="49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11188" y="3337642"/>
            <a:ext cx="4621212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ST.*, C.*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FROM </a:t>
            </a:r>
            <a:r>
              <a:rPr kumimoji="0" lang="en-US" altLang="zh-CN" sz="3200" b="0" i="0" u="none" strike="noStrike" kern="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ST,C</a:t>
            </a:r>
            <a:endParaRPr kumimoji="0" lang="zh-CN" altLang="en-US" sz="3200" b="0" i="0" u="none" strike="noStrike" kern="0" cap="none" spc="0" normalizeH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 rot="2060252">
            <a:off x="3708400" y="4058367"/>
            <a:ext cx="719138" cy="360363"/>
          </a:xfrm>
          <a:prstGeom prst="rightArrow">
            <a:avLst>
              <a:gd name="adj1" fmla="val 50000"/>
              <a:gd name="adj2" fmla="val 49890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20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433867"/>
              </p:ext>
            </p:extLst>
          </p:nvPr>
        </p:nvGraphicFramePr>
        <p:xfrm>
          <a:off x="4937125" y="4604467"/>
          <a:ext cx="3887788" cy="1920877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ST.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69"/>
          <p:cNvSpPr>
            <a:spLocks noChangeArrowheads="1"/>
          </p:cNvSpPr>
          <p:nvPr/>
        </p:nvSpPr>
        <p:spPr bwMode="auto">
          <a:xfrm>
            <a:off x="5789927" y="3091580"/>
            <a:ext cx="22329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effectLst/>
                <a:latin typeface="Arial" charset="0"/>
              </a:rPr>
              <a:t>结果有</a:t>
            </a:r>
            <a:r>
              <a:rPr lang="en-US" altLang="zh-CN" sz="2400" dirty="0">
                <a:solidFill>
                  <a:schemeClr val="bg1"/>
                </a:solidFill>
                <a:effectLst/>
                <a:latin typeface="Arial" charset="0"/>
              </a:rPr>
              <a:t>3×2=6</a:t>
            </a:r>
            <a:r>
              <a:rPr lang="zh-CN" altLang="en-US" sz="2400" dirty="0">
                <a:solidFill>
                  <a:schemeClr val="bg1"/>
                </a:solidFill>
                <a:effectLst/>
                <a:latin typeface="Arial" charset="0"/>
              </a:rPr>
              <a:t>行</a:t>
            </a:r>
          </a:p>
        </p:txBody>
      </p:sp>
      <p:sp>
        <p:nvSpPr>
          <p:cNvPr id="22" name="AutoShape 70"/>
          <p:cNvSpPr>
            <a:spLocks/>
          </p:cNvSpPr>
          <p:nvPr/>
        </p:nvSpPr>
        <p:spPr bwMode="auto">
          <a:xfrm rot="5400000" flipV="1">
            <a:off x="5872957" y="3524173"/>
            <a:ext cx="215900" cy="1655763"/>
          </a:xfrm>
          <a:prstGeom prst="leftBrace">
            <a:avLst>
              <a:gd name="adj1" fmla="val 63909"/>
              <a:gd name="adj2" fmla="val 50000"/>
            </a:avLst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ffectLst/>
        </p:spPr>
        <p:txBody>
          <a:bodyPr lIns="72000" tIns="72000" rIns="72000" bIns="7200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71"/>
          <p:cNvSpPr>
            <a:spLocks noChangeArrowheads="1"/>
          </p:cNvSpPr>
          <p:nvPr/>
        </p:nvSpPr>
        <p:spPr bwMode="auto">
          <a:xfrm>
            <a:off x="5538675" y="3739280"/>
            <a:ext cx="10082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ST</a:t>
            </a:r>
            <a:r>
              <a:rPr lang="zh-CN" altLang="en-US" sz="2400">
                <a:solidFill>
                  <a:schemeClr val="bg1"/>
                </a:solidFill>
                <a:effectLst/>
                <a:latin typeface="Arial" charset="0"/>
              </a:rPr>
              <a:t>的列</a:t>
            </a:r>
          </a:p>
        </p:txBody>
      </p:sp>
      <p:sp>
        <p:nvSpPr>
          <p:cNvPr id="24" name="AutoShape 72"/>
          <p:cNvSpPr>
            <a:spLocks/>
          </p:cNvSpPr>
          <p:nvPr/>
        </p:nvSpPr>
        <p:spPr bwMode="auto">
          <a:xfrm rot="5400000" flipV="1">
            <a:off x="7726363" y="3866280"/>
            <a:ext cx="215900" cy="971550"/>
          </a:xfrm>
          <a:prstGeom prst="leftBrace">
            <a:avLst>
              <a:gd name="adj1" fmla="val 37500"/>
              <a:gd name="adj2" fmla="val 50000"/>
            </a:avLst>
          </a:prstGeom>
          <a:noFill/>
          <a:ln w="28575" cap="sq">
            <a:solidFill>
              <a:srgbClr val="FFFFFF"/>
            </a:solidFill>
            <a:round/>
            <a:headEnd/>
            <a:tailEnd/>
          </a:ln>
          <a:effectLst/>
        </p:spPr>
        <p:txBody>
          <a:bodyPr vert="eaVert" wrap="none" lIns="72000" tIns="72000" rIns="72000" bIns="72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25" name="Rectangle 73"/>
          <p:cNvSpPr>
            <a:spLocks noChangeArrowheads="1"/>
          </p:cNvSpPr>
          <p:nvPr/>
        </p:nvSpPr>
        <p:spPr bwMode="auto">
          <a:xfrm>
            <a:off x="7452434" y="3739280"/>
            <a:ext cx="8383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ffectLst/>
                <a:latin typeface="Arial" charset="0"/>
              </a:rPr>
              <a:t>C</a:t>
            </a:r>
            <a:r>
              <a:rPr lang="zh-CN" altLang="en-US" sz="2400">
                <a:solidFill>
                  <a:schemeClr val="bg1"/>
                </a:solidFill>
                <a:effectLst/>
                <a:latin typeface="Arial" charset="0"/>
              </a:rPr>
              <a:t>的列</a:t>
            </a:r>
          </a:p>
        </p:txBody>
      </p:sp>
      <p:graphicFrame>
        <p:nvGraphicFramePr>
          <p:cNvPr id="26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75641"/>
              </p:ext>
            </p:extLst>
          </p:nvPr>
        </p:nvGraphicFramePr>
        <p:xfrm>
          <a:off x="468313" y="5425205"/>
          <a:ext cx="1873250" cy="1098552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541338" y="5029917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8" name="Rectangle 103"/>
          <p:cNvSpPr>
            <a:spLocks noChangeArrowheads="1"/>
          </p:cNvSpPr>
          <p:nvPr/>
        </p:nvSpPr>
        <p:spPr bwMode="auto">
          <a:xfrm>
            <a:off x="2852738" y="5353767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29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260757"/>
              </p:ext>
            </p:extLst>
          </p:nvPr>
        </p:nvGraphicFramePr>
        <p:xfrm>
          <a:off x="2708275" y="5701430"/>
          <a:ext cx="1676400" cy="82391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ectangle 51"/>
          <p:cNvSpPr>
            <a:spLocks noChangeArrowheads="1"/>
          </p:cNvSpPr>
          <p:nvPr/>
        </p:nvSpPr>
        <p:spPr bwMode="auto">
          <a:xfrm>
            <a:off x="6229043" y="2038065"/>
            <a:ext cx="1223391" cy="648072"/>
          </a:xfrm>
          <a:prstGeom prst="snip2Same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72000" tIns="72000" rIns="72000" bIns="72000" anchor="ctr" anchorCtr="1">
            <a:noAutofit/>
          </a:bodyPr>
          <a:lstStyle/>
          <a:p>
            <a:pPr lvl="0">
              <a:spcAft>
                <a:spcPct val="0"/>
              </a:spcAft>
              <a:defRPr/>
            </a:pPr>
            <a:r>
              <a:rPr lang="en-US" altLang="zh-CN" sz="4800" b="1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×</a:t>
            </a:r>
            <a:endParaRPr lang="zh-CN" altLang="en-US" sz="4800" b="1" kern="0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15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连接查询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539750" y="2542798"/>
            <a:ext cx="4621213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FROM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ST,C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44" name="Group 6"/>
          <p:cNvGraphicFramePr>
            <a:graphicFrameLocks noGrp="1"/>
          </p:cNvGraphicFramePr>
          <p:nvPr/>
        </p:nvGraphicFramePr>
        <p:xfrm>
          <a:off x="900113" y="5157788"/>
          <a:ext cx="1905000" cy="1200152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" name="Group 29"/>
          <p:cNvGraphicFramePr>
            <a:graphicFrameLocks noGrp="1"/>
          </p:cNvGraphicFramePr>
          <p:nvPr/>
        </p:nvGraphicFramePr>
        <p:xfrm>
          <a:off x="6948488" y="981075"/>
          <a:ext cx="1873250" cy="1098552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6515100" y="981075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47" name="Group 58"/>
          <p:cNvGraphicFramePr>
            <a:graphicFrameLocks noGrp="1"/>
          </p:cNvGraphicFramePr>
          <p:nvPr/>
        </p:nvGraphicFramePr>
        <p:xfrm>
          <a:off x="6596063" y="2708275"/>
          <a:ext cx="2209800" cy="1098234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5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6308725" y="2708275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sp>
        <p:nvSpPr>
          <p:cNvPr id="49" name="AutoShape 149"/>
          <p:cNvSpPr>
            <a:spLocks noChangeArrowheads="1"/>
          </p:cNvSpPr>
          <p:nvPr/>
        </p:nvSpPr>
        <p:spPr bwMode="auto">
          <a:xfrm rot="5400000">
            <a:off x="1494631" y="4345782"/>
            <a:ext cx="466725" cy="360362"/>
          </a:xfrm>
          <a:prstGeom prst="rightArrow">
            <a:avLst>
              <a:gd name="adj1" fmla="val 50000"/>
              <a:gd name="adj2" fmla="val 32379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Rectangle 150"/>
          <p:cNvSpPr>
            <a:spLocks noChangeArrowheads="1"/>
          </p:cNvSpPr>
          <p:nvPr/>
        </p:nvSpPr>
        <p:spPr bwMode="auto">
          <a:xfrm>
            <a:off x="5041900" y="4076700"/>
            <a:ext cx="2305118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与Ｃ的交叉连接</a:t>
            </a:r>
          </a:p>
        </p:txBody>
      </p:sp>
      <p:sp>
        <p:nvSpPr>
          <p:cNvPr id="51" name="AutoShape 153"/>
          <p:cNvSpPr>
            <a:spLocks noChangeArrowheads="1"/>
          </p:cNvSpPr>
          <p:nvPr/>
        </p:nvSpPr>
        <p:spPr bwMode="auto">
          <a:xfrm>
            <a:off x="3348038" y="4868863"/>
            <a:ext cx="1223962" cy="1152525"/>
          </a:xfrm>
          <a:prstGeom prst="wedgeRoundRectCallout">
            <a:avLst>
              <a:gd name="adj1" fmla="val 71403"/>
              <a:gd name="adj2" fmla="val -27824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课号相等才有意义吧</a:t>
            </a:r>
          </a:p>
        </p:txBody>
      </p:sp>
      <p:graphicFrame>
        <p:nvGraphicFramePr>
          <p:cNvPr id="52" name="Group 219"/>
          <p:cNvGraphicFramePr>
            <a:graphicFrameLocks noGrp="1"/>
          </p:cNvGraphicFramePr>
          <p:nvPr/>
        </p:nvGraphicFramePr>
        <p:xfrm>
          <a:off x="4932363" y="4581525"/>
          <a:ext cx="3887787" cy="1922466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ST.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AutoShape 281"/>
          <p:cNvSpPr>
            <a:spLocks noChangeArrowheads="1"/>
          </p:cNvSpPr>
          <p:nvPr/>
        </p:nvSpPr>
        <p:spPr bwMode="auto">
          <a:xfrm>
            <a:off x="4914900" y="4873625"/>
            <a:ext cx="3935413" cy="241300"/>
          </a:xfrm>
          <a:prstGeom prst="roundRect">
            <a:avLst>
              <a:gd name="adj" fmla="val 2940"/>
            </a:avLst>
          </a:prstGeom>
          <a:solidFill>
            <a:srgbClr val="008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/>
          <a:p>
            <a:pPr>
              <a:buSzTx/>
              <a:buFontTx/>
              <a:buNone/>
            </a:pPr>
            <a:endParaRPr kumimoji="0" lang="zh-CN" altLang="en-US" sz="2400">
              <a:solidFill>
                <a:srgbClr val="CCFFCC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AutoShape 282"/>
          <p:cNvSpPr>
            <a:spLocks noChangeArrowheads="1"/>
          </p:cNvSpPr>
          <p:nvPr/>
        </p:nvSpPr>
        <p:spPr bwMode="auto">
          <a:xfrm>
            <a:off x="4889500" y="5691188"/>
            <a:ext cx="3935413" cy="503237"/>
          </a:xfrm>
          <a:prstGeom prst="roundRect">
            <a:avLst>
              <a:gd name="adj" fmla="val 2940"/>
            </a:avLst>
          </a:prstGeom>
          <a:solidFill>
            <a:srgbClr val="008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/>
          <a:p>
            <a:pPr>
              <a:buSzTx/>
              <a:buFontTx/>
              <a:buNone/>
            </a:pPr>
            <a:endParaRPr kumimoji="0" lang="zh-CN" altLang="en-US" sz="2400">
              <a:solidFill>
                <a:srgbClr val="CCFFCC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Rectangle 4"/>
          <p:cNvSpPr txBox="1">
            <a:spLocks noChangeArrowheads="1"/>
          </p:cNvSpPr>
          <p:nvPr/>
        </p:nvSpPr>
        <p:spPr bwMode="auto">
          <a:xfrm>
            <a:off x="288925" y="1177588"/>
            <a:ext cx="4283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tabLst>
                <a:tab pos="715963" algn="l"/>
              </a:tabLst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真正有意义的连接</a:t>
            </a:r>
            <a:endParaRPr kumimoji="1" lang="zh-CN" altLang="en-US" dirty="0" smtClean="0">
              <a:solidFill>
                <a:srgbClr val="99FF33"/>
              </a:solidFill>
              <a:latin typeface="楷体_GB2312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39952" y="1124744"/>
            <a:ext cx="1686485" cy="864096"/>
            <a:chOff x="4685715" y="908720"/>
            <a:chExt cx="1686485" cy="864096"/>
          </a:xfrm>
        </p:grpSpPr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4685715" y="908720"/>
              <a:ext cx="1686485" cy="864096"/>
            </a:xfrm>
            <a:prstGeom prst="snip2Same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72000" tIns="72000" rIns="72000" bIns="72000" anchor="ctr" anchorCtr="1">
              <a:noAutofit/>
            </a:bodyPr>
            <a:lstStyle/>
            <a:p>
              <a:pPr lvl="0">
                <a:spcAft>
                  <a:spcPct val="0"/>
                </a:spcAft>
                <a:defRPr/>
              </a:pPr>
              <a:endParaRPr lang="zh-CN" altLang="en-US" sz="4800" b="1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Rectangle 7"/>
            <p:cNvSpPr>
              <a:spLocks noChangeArrowheads="1"/>
            </p:cNvSpPr>
            <p:nvPr/>
          </p:nvSpPr>
          <p:spPr bwMode="auto">
            <a:xfrm>
              <a:off x="4929440" y="1361025"/>
              <a:ext cx="1312098" cy="30777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66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itchFamily="2" charset="-122"/>
                </a:rPr>
                <a:t>R.A θ S.B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3" name="Rectangle 8"/>
            <p:cNvSpPr>
              <a:spLocks noChangeArrowheads="1"/>
            </p:cNvSpPr>
            <p:nvPr/>
          </p:nvSpPr>
          <p:spPr bwMode="auto">
            <a:xfrm>
              <a:off x="4968400" y="908720"/>
              <a:ext cx="251672" cy="49244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R="0" indent="0" fontAlgn="auto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b="1" kern="0" dirty="0"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</a:t>
              </a:r>
              <a:endParaRPr lang="zh-CN" altLang="en-US" sz="3200" b="1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Rectangle 9"/>
            <p:cNvSpPr>
              <a:spLocks noChangeArrowheads="1"/>
            </p:cNvSpPr>
            <p:nvPr/>
          </p:nvSpPr>
          <p:spPr bwMode="auto">
            <a:xfrm flipH="1">
              <a:off x="5982913" y="920768"/>
              <a:ext cx="101255" cy="492443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lvl="0">
                <a:spcAft>
                  <a:spcPct val="0"/>
                </a:spcAft>
                <a:defRPr/>
              </a:pPr>
              <a:r>
                <a:rPr lang="en-US" altLang="zh-CN" sz="3200" b="1" kern="0" dirty="0">
                  <a:solidFill>
                    <a:srgbClr val="99FF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</a:t>
              </a:r>
              <a:endParaRPr lang="zh-CN" altLang="en-US" sz="3200" b="1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Freeform 11"/>
            <p:cNvSpPr>
              <a:spLocks/>
            </p:cNvSpPr>
            <p:nvPr/>
          </p:nvSpPr>
          <p:spPr bwMode="auto">
            <a:xfrm>
              <a:off x="5448372" y="1057813"/>
              <a:ext cx="286890" cy="20320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66" y="174"/>
                </a:cxn>
                <a:cxn ang="0">
                  <a:pos x="266" y="0"/>
                </a:cxn>
                <a:cxn ang="0">
                  <a:pos x="0" y="168"/>
                </a:cxn>
                <a:cxn ang="0">
                  <a:pos x="0" y="8"/>
                </a:cxn>
              </a:cxnLst>
              <a:rect l="0" t="0" r="r" b="b"/>
              <a:pathLst>
                <a:path w="266" h="174">
                  <a:moveTo>
                    <a:pt x="0" y="8"/>
                  </a:moveTo>
                  <a:lnTo>
                    <a:pt x="266" y="174"/>
                  </a:lnTo>
                  <a:lnTo>
                    <a:pt x="266" y="0"/>
                  </a:lnTo>
                  <a:lnTo>
                    <a:pt x="0" y="168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28575" cap="sq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094087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连接</a:t>
            </a: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格式</a:t>
            </a:r>
          </a:p>
        </p:txBody>
      </p:sp>
      <p:sp>
        <p:nvSpPr>
          <p:cNvPr id="30" name="Rectangle 158"/>
          <p:cNvSpPr txBox="1">
            <a:spLocks noChangeArrowheads="1"/>
          </p:cNvSpPr>
          <p:nvPr/>
        </p:nvSpPr>
        <p:spPr bwMode="auto">
          <a:xfrm>
            <a:off x="285750" y="942916"/>
            <a:ext cx="8386763" cy="543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T-SQL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多表连接查询的一般格式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: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SELECT &lt;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目标列表达式列表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&gt;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  FROM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1,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2,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  <a:ea typeface="微软雅黑" pitchFamily="34" charset="-122"/>
                <a:cs typeface="+mn-cs"/>
              </a:rPr>
              <a:t>···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 WHERE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连接条件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ts val="5400"/>
              </a:spcBef>
              <a:spcAft>
                <a:spcPct val="25000"/>
              </a:spcAft>
              <a:buClr>
                <a:srgbClr val="FFFFFF"/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ANSI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多表连接查询的一般格式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: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SELECT &lt;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目标列表达式列表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&gt;</a:t>
            </a:r>
          </a:p>
          <a:p>
            <a:pPr marL="269875" marR="0" lvl="0" indent="-26987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  FROM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连接方式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JOIN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 ON 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连接条件</a:t>
            </a:r>
          </a:p>
          <a:p>
            <a:pPr marL="269875" lvl="0" indent="-269875" algn="just" eaLnBrk="1" hangingPunct="1"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	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其中连接方式可以为内连接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INNER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、左外连接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LEFT OUTER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、右外连接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RIGHT OUTER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、全外连接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FULL OUTER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微软雅黑" pitchFamily="34" charset="-122"/>
                <a:cs typeface="+mn-cs"/>
              </a:rPr>
              <a:t>)</a:t>
            </a:r>
            <a:r>
              <a:rPr kumimoji="1" lang="zh-CN" altLang="en-US" kern="0" dirty="0" smtClean="0">
                <a:latin typeface="楷体_GB2312" pitchFamily="49" charset="-122"/>
              </a:rPr>
              <a:t>和交叉连接</a:t>
            </a:r>
            <a:r>
              <a:rPr kumimoji="1" lang="en-US" altLang="zh-CN" kern="0" dirty="0" smtClean="0">
                <a:latin typeface="楷体_GB2312" pitchFamily="49" charset="-122"/>
              </a:rPr>
              <a:t>(</a:t>
            </a:r>
            <a:r>
              <a:rPr kumimoji="1" lang="en-US" altLang="zh-CN" kern="0" dirty="0" smtClean="0">
                <a:solidFill>
                  <a:srgbClr val="66FF66"/>
                </a:solidFill>
                <a:latin typeface="楷体_GB2312" pitchFamily="49" charset="-122"/>
              </a:rPr>
              <a:t>CROSS</a:t>
            </a:r>
            <a:r>
              <a:rPr kumimoji="1" lang="zh-CN" altLang="en-US" kern="0" dirty="0" smtClean="0">
                <a:solidFill>
                  <a:srgbClr val="66FF66"/>
                </a:solidFill>
                <a:latin typeface="楷体_GB2312" pitchFamily="49" charset="-122"/>
              </a:rPr>
              <a:t>，无需</a:t>
            </a:r>
            <a:r>
              <a:rPr kumimoji="1" lang="en-US" altLang="zh-CN" kern="0" dirty="0" smtClean="0">
                <a:solidFill>
                  <a:srgbClr val="66FF66"/>
                </a:solidFill>
                <a:latin typeface="楷体_GB2312" pitchFamily="49" charset="-122"/>
              </a:rPr>
              <a:t>ON</a:t>
            </a:r>
            <a:r>
              <a:rPr kumimoji="1" lang="en-US" altLang="zh-CN" kern="0" dirty="0" smtClean="0">
                <a:latin typeface="楷体_GB2312" pitchFamily="49" charset="-122"/>
              </a:rPr>
              <a:t>)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微软雅黑" pitchFamily="34" charset="-122"/>
              <a:cs typeface="+mn-cs"/>
            </a:endParaRPr>
          </a:p>
        </p:txBody>
      </p:sp>
      <p:sp>
        <p:nvSpPr>
          <p:cNvPr id="31" name="AutoShape 159"/>
          <p:cNvSpPr>
            <a:spLocks noChangeArrowheads="1"/>
          </p:cNvSpPr>
          <p:nvPr/>
        </p:nvSpPr>
        <p:spPr bwMode="auto">
          <a:xfrm>
            <a:off x="6588125" y="908050"/>
            <a:ext cx="1655763" cy="793750"/>
          </a:xfrm>
          <a:prstGeom prst="wedgeRoundRectCallout">
            <a:avLst>
              <a:gd name="adj1" fmla="val -99088"/>
              <a:gd name="adj2" fmla="val 4900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一般用于内连接</a:t>
            </a:r>
          </a:p>
        </p:txBody>
      </p:sp>
      <p:sp>
        <p:nvSpPr>
          <p:cNvPr id="32" name="AutoShape 160"/>
          <p:cNvSpPr>
            <a:spLocks noChangeArrowheads="1"/>
          </p:cNvSpPr>
          <p:nvPr/>
        </p:nvSpPr>
        <p:spPr bwMode="auto">
          <a:xfrm>
            <a:off x="6732588" y="2781300"/>
            <a:ext cx="1655762" cy="1152525"/>
          </a:xfrm>
          <a:prstGeom prst="wedgeRoundRectCallout">
            <a:avLst>
              <a:gd name="adj1" fmla="val -79241"/>
              <a:gd name="adj2" fmla="val 2906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可以实现各种方式的连接</a:t>
            </a:r>
          </a:p>
        </p:txBody>
      </p:sp>
    </p:spTree>
    <p:extLst>
      <p:ext uri="{BB962C8B-B14F-4D97-AF65-F5344CB8AC3E}">
        <p14:creationId xmlns:p14="http://schemas.microsoft.com/office/powerpoint/2010/main" val="2993459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交叉连接</a:t>
            </a:r>
          </a:p>
        </p:txBody>
      </p:sp>
      <p:sp>
        <p:nvSpPr>
          <p:cNvPr id="31" name="Rectangle 597"/>
          <p:cNvSpPr txBox="1">
            <a:spLocks noChangeArrowheads="1"/>
          </p:cNvSpPr>
          <p:nvPr/>
        </p:nvSpPr>
        <p:spPr bwMode="auto">
          <a:xfrm>
            <a:off x="293688" y="950615"/>
            <a:ext cx="85312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269875" indent="-269875" algn="just" fontAlgn="base">
              <a:spcBef>
                <a:spcPct val="0"/>
              </a:spcBef>
              <a:spcAft>
                <a:spcPct val="50000"/>
              </a:spcAft>
              <a:buClr>
                <a:srgbClr val="FFC000"/>
              </a:buClr>
              <a:buSzPct val="85000"/>
              <a:buFont typeface="Wingdings" pitchFamily="2" charset="2"/>
              <a:buChar char="§"/>
              <a:defRPr kumimoji="1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微软雅黑" pitchFamily="34" charset="-122"/>
              </a:defRPr>
            </a:lvl1pPr>
            <a:lvl2pPr marL="742950" indent="-28575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6pPr>
            <a:lvl7pPr marL="2971800" indent="-22860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7pPr>
            <a:lvl8pPr marL="3429000" indent="-22860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8pPr>
            <a:lvl9pPr marL="3886200" indent="-22860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9pPr>
          </a:lstStyle>
          <a:p>
            <a:r>
              <a:rPr lang="zh-CN" altLang="en-US" dirty="0"/>
              <a:t>无条件将两表的行联接，</a:t>
            </a:r>
            <a:r>
              <a:rPr lang="zh-CN" altLang="en-US" dirty="0" smtClean="0"/>
              <a:t>其实就是笛卡儿积</a:t>
            </a:r>
            <a:endParaRPr lang="zh-CN" altLang="en-US" dirty="0"/>
          </a:p>
        </p:txBody>
      </p:sp>
      <p:graphicFrame>
        <p:nvGraphicFramePr>
          <p:cNvPr id="32" name="Group 598"/>
          <p:cNvGraphicFramePr>
            <a:graphicFrameLocks noGrp="1"/>
          </p:cNvGraphicFramePr>
          <p:nvPr/>
        </p:nvGraphicFramePr>
        <p:xfrm>
          <a:off x="4937125" y="4172419"/>
          <a:ext cx="3887788" cy="192024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ST.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C.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Group 660"/>
          <p:cNvGraphicFramePr>
            <a:graphicFrameLocks noGrp="1"/>
          </p:cNvGraphicFramePr>
          <p:nvPr/>
        </p:nvGraphicFramePr>
        <p:xfrm>
          <a:off x="468313" y="4993157"/>
          <a:ext cx="1873250" cy="1098552"/>
        </p:xfrm>
        <a:graphic>
          <a:graphicData uri="http://schemas.openxmlformats.org/drawingml/2006/table">
            <a:tbl>
              <a:tblPr/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Rectangle 688"/>
          <p:cNvSpPr>
            <a:spLocks noChangeArrowheads="1"/>
          </p:cNvSpPr>
          <p:nvPr/>
        </p:nvSpPr>
        <p:spPr bwMode="auto">
          <a:xfrm>
            <a:off x="541338" y="4623269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ST</a:t>
            </a:r>
          </a:p>
        </p:txBody>
      </p:sp>
      <p:sp>
        <p:nvSpPr>
          <p:cNvPr id="37" name="Rectangle 689"/>
          <p:cNvSpPr>
            <a:spLocks noChangeArrowheads="1"/>
          </p:cNvSpPr>
          <p:nvPr/>
        </p:nvSpPr>
        <p:spPr bwMode="auto">
          <a:xfrm>
            <a:off x="2852738" y="4947119"/>
            <a:ext cx="169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C</a:t>
            </a:r>
          </a:p>
        </p:txBody>
      </p:sp>
      <p:graphicFrame>
        <p:nvGraphicFramePr>
          <p:cNvPr id="38" name="Group 690"/>
          <p:cNvGraphicFramePr>
            <a:graphicFrameLocks noGrp="1"/>
          </p:cNvGraphicFramePr>
          <p:nvPr/>
        </p:nvGraphicFramePr>
        <p:xfrm>
          <a:off x="2708275" y="5269382"/>
          <a:ext cx="1676400" cy="823914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Rectangle 708"/>
          <p:cNvSpPr>
            <a:spLocks noChangeArrowheads="1"/>
          </p:cNvSpPr>
          <p:nvPr/>
        </p:nvSpPr>
        <p:spPr bwMode="auto">
          <a:xfrm>
            <a:off x="4500563" y="2329332"/>
            <a:ext cx="3995737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SELECT *</a:t>
            </a:r>
          </a:p>
          <a:p>
            <a:pPr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FROM ST 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CROSS JOIN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C</a:t>
            </a:r>
          </a:p>
        </p:txBody>
      </p:sp>
      <p:sp>
        <p:nvSpPr>
          <p:cNvPr id="40" name="Rectangle 709"/>
          <p:cNvSpPr>
            <a:spLocks noChangeArrowheads="1"/>
          </p:cNvSpPr>
          <p:nvPr/>
        </p:nvSpPr>
        <p:spPr bwMode="auto">
          <a:xfrm>
            <a:off x="539750" y="2329332"/>
            <a:ext cx="2376488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SELECT *</a:t>
            </a:r>
          </a:p>
          <a:p>
            <a:pPr algn="just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FROM ST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C</a:t>
            </a:r>
          </a:p>
        </p:txBody>
      </p:sp>
      <p:sp>
        <p:nvSpPr>
          <p:cNvPr id="41" name="Rectangle 710"/>
          <p:cNvSpPr>
            <a:spLocks noChangeArrowheads="1"/>
          </p:cNvSpPr>
          <p:nvPr/>
        </p:nvSpPr>
        <p:spPr bwMode="auto">
          <a:xfrm>
            <a:off x="3203575" y="2040407"/>
            <a:ext cx="1008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None/>
            </a:pPr>
            <a:r>
              <a:rPr kumimoji="1" lang="zh-CN" altLang="en-US" sz="28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等价</a:t>
            </a:r>
          </a:p>
        </p:txBody>
      </p:sp>
      <p:sp>
        <p:nvSpPr>
          <p:cNvPr id="42" name="AutoShape 711"/>
          <p:cNvSpPr>
            <a:spLocks noChangeArrowheads="1"/>
          </p:cNvSpPr>
          <p:nvPr/>
        </p:nvSpPr>
        <p:spPr bwMode="auto">
          <a:xfrm rot="-5400000">
            <a:off x="3419476" y="2327744"/>
            <a:ext cx="431800" cy="1006475"/>
          </a:xfrm>
          <a:prstGeom prst="upDownArrow">
            <a:avLst>
              <a:gd name="adj1" fmla="val 50000"/>
              <a:gd name="adj2" fmla="val 46618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43" name="AutoShape 712"/>
          <p:cNvSpPr>
            <a:spLocks noChangeArrowheads="1"/>
          </p:cNvSpPr>
          <p:nvPr/>
        </p:nvSpPr>
        <p:spPr bwMode="auto">
          <a:xfrm rot="1290911">
            <a:off x="2555875" y="3626319"/>
            <a:ext cx="1798638" cy="288925"/>
          </a:xfrm>
          <a:prstGeom prst="rightArrow">
            <a:avLst>
              <a:gd name="adj1" fmla="val 50000"/>
              <a:gd name="adj2" fmla="val 155632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44" name="AutoShape 713"/>
          <p:cNvSpPr>
            <a:spLocks noChangeArrowheads="1"/>
          </p:cNvSpPr>
          <p:nvPr/>
        </p:nvSpPr>
        <p:spPr bwMode="auto">
          <a:xfrm rot="5400000">
            <a:off x="5712619" y="3492176"/>
            <a:ext cx="503237" cy="336550"/>
          </a:xfrm>
          <a:prstGeom prst="rightArrow">
            <a:avLst>
              <a:gd name="adj1" fmla="val 50000"/>
              <a:gd name="adj2" fmla="val 37382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21329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内连接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7" name="Rectangle 4"/>
          <p:cNvSpPr txBox="1">
            <a:spLocks noChangeArrowheads="1"/>
          </p:cNvSpPr>
          <p:nvPr/>
        </p:nvSpPr>
        <p:spPr bwMode="auto">
          <a:xfrm>
            <a:off x="250825" y="1100138"/>
            <a:ext cx="572293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一般情况下的连接都是</a:t>
            </a:r>
            <a:r>
              <a:rPr kumimoji="1" lang="zh-CN" altLang="en-US" dirty="0">
                <a:latin typeface="楷体_GB2312" pitchFamily="49" charset="-122"/>
              </a:rPr>
              <a:t>内连接</a:t>
            </a:r>
            <a:r>
              <a:rPr kumimoji="1" lang="zh-CN" altLang="en-US" dirty="0" smtClean="0">
                <a:latin typeface="楷体_GB2312" pitchFamily="49" charset="-122"/>
              </a:rPr>
              <a:t>，即只连接符合条件的行</a:t>
            </a:r>
            <a:endParaRPr kumimoji="1" lang="en-US" altLang="zh-CN" dirty="0" smtClean="0">
              <a:latin typeface="楷体_GB2312" pitchFamily="49" charset="-122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250825" y="3068638"/>
            <a:ext cx="494665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FROM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ST,C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50825" y="5224463"/>
            <a:ext cx="50419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FROM ST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INNER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2124075" y="4581525"/>
            <a:ext cx="10080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等价</a:t>
            </a:r>
          </a:p>
        </p:txBody>
      </p:sp>
      <p:sp>
        <p:nvSpPr>
          <p:cNvPr id="31" name="AutoShape 8"/>
          <p:cNvSpPr>
            <a:spLocks noChangeArrowheads="1"/>
          </p:cNvSpPr>
          <p:nvPr/>
        </p:nvSpPr>
        <p:spPr bwMode="auto">
          <a:xfrm>
            <a:off x="1547813" y="4581525"/>
            <a:ext cx="431800" cy="571500"/>
          </a:xfrm>
          <a:prstGeom prst="upDownArrow">
            <a:avLst>
              <a:gd name="adj1" fmla="val 50000"/>
              <a:gd name="adj2" fmla="val 26471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32" name="Group 9"/>
          <p:cNvGraphicFramePr>
            <a:graphicFrameLocks noGrp="1"/>
          </p:cNvGraphicFramePr>
          <p:nvPr/>
        </p:nvGraphicFramePr>
        <p:xfrm>
          <a:off x="6516688" y="765175"/>
          <a:ext cx="2362200" cy="1647828"/>
        </p:xfrm>
        <a:graphic>
          <a:graphicData uri="http://schemas.openxmlformats.org/drawingml/2006/table">
            <a:tbl>
              <a:tblPr/>
              <a:tblGrid>
                <a:gridCol w="808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6084888" y="765175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34" name="Group 50"/>
          <p:cNvGraphicFramePr>
            <a:graphicFrameLocks noGrp="1"/>
          </p:cNvGraphicFramePr>
          <p:nvPr/>
        </p:nvGraphicFramePr>
        <p:xfrm>
          <a:off x="6659563" y="2959100"/>
          <a:ext cx="2209800" cy="137319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Rectangle 82"/>
          <p:cNvSpPr>
            <a:spLocks noChangeArrowheads="1"/>
          </p:cNvSpPr>
          <p:nvPr/>
        </p:nvSpPr>
        <p:spPr bwMode="auto">
          <a:xfrm>
            <a:off x="6370638" y="2887663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36" name="Group 83"/>
          <p:cNvGraphicFramePr>
            <a:graphicFrameLocks noGrp="1"/>
          </p:cNvGraphicFramePr>
          <p:nvPr/>
        </p:nvGraphicFramePr>
        <p:xfrm>
          <a:off x="6804025" y="5084763"/>
          <a:ext cx="1905000" cy="13731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Rectangle 109"/>
          <p:cNvSpPr>
            <a:spLocks noChangeArrowheads="1"/>
          </p:cNvSpPr>
          <p:nvPr/>
        </p:nvSpPr>
        <p:spPr bwMode="auto">
          <a:xfrm>
            <a:off x="250825" y="2565400"/>
            <a:ext cx="58324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查询学生姓名及其所学课程的名称</a:t>
            </a:r>
            <a:endParaRPr kumimoji="0" lang="en-US" altLang="zh-CN" sz="2800" b="0" i="0" u="none" strike="noStrike" kern="0" cap="none" spc="0" normalizeH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8" name="AutoShape 110"/>
          <p:cNvSpPr>
            <a:spLocks noChangeArrowheads="1"/>
          </p:cNvSpPr>
          <p:nvPr/>
        </p:nvSpPr>
        <p:spPr bwMode="auto">
          <a:xfrm>
            <a:off x="4572000" y="4221163"/>
            <a:ext cx="1871663" cy="1439862"/>
          </a:xfrm>
          <a:prstGeom prst="wedgeRoundRectCallout">
            <a:avLst>
              <a:gd name="adj1" fmla="val 59926"/>
              <a:gd name="adj2" fmla="val 2530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赵六呢？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C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语言和数据库课呢？</a:t>
            </a:r>
          </a:p>
        </p:txBody>
      </p:sp>
    </p:spTree>
    <p:extLst>
      <p:ext uri="{BB962C8B-B14F-4D97-AF65-F5344CB8AC3E}">
        <p14:creationId xmlns:p14="http://schemas.microsoft.com/office/powerpoint/2010/main" val="81071596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外连接</a:t>
            </a: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288925" y="908720"/>
            <a:ext cx="84597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要查询其中一张连接表的所有行时就需要用</a:t>
            </a:r>
            <a:r>
              <a:rPr kumimoji="1" lang="zh-CN" altLang="en-US" sz="3200" b="1" dirty="0" smtClean="0">
                <a:solidFill>
                  <a:srgbClr val="FFFF00"/>
                </a:solidFill>
                <a:latin typeface="楷体_GB2312" pitchFamily="49" charset="-122"/>
              </a:rPr>
              <a:t>外连接</a:t>
            </a:r>
            <a:r>
              <a:rPr kumimoji="1" lang="zh-CN" altLang="en-US" dirty="0" smtClean="0">
                <a:latin typeface="楷体_GB2312" pitchFamily="49" charset="-122"/>
              </a:rPr>
              <a:t>，结果中用空值</a:t>
            </a:r>
            <a:r>
              <a:rPr kumimoji="1" lang="en-US" altLang="zh-CN" dirty="0" smtClean="0">
                <a:latin typeface="楷体_GB2312" pitchFamily="49" charset="-122"/>
              </a:rPr>
              <a:t>(NULL)</a:t>
            </a:r>
            <a:r>
              <a:rPr kumimoji="1" lang="zh-CN" altLang="en-US" dirty="0" smtClean="0">
                <a:latin typeface="楷体_GB2312" pitchFamily="49" charset="-122"/>
              </a:rPr>
              <a:t>来填充无法连接的数据</a:t>
            </a:r>
            <a:endParaRPr kumimoji="1" lang="zh-CN" altLang="en-US" dirty="0" smtClean="0">
              <a:solidFill>
                <a:srgbClr val="66FFFF"/>
              </a:solidFill>
              <a:latin typeface="楷体_GB2312" pitchFamily="49" charset="-122"/>
            </a:endParaRPr>
          </a:p>
        </p:txBody>
      </p:sp>
      <p:graphicFrame>
        <p:nvGraphicFramePr>
          <p:cNvPr id="20" name="Group 5"/>
          <p:cNvGraphicFramePr>
            <a:graphicFrameLocks noGrp="1"/>
          </p:cNvGraphicFramePr>
          <p:nvPr/>
        </p:nvGraphicFramePr>
        <p:xfrm>
          <a:off x="6300788" y="4868863"/>
          <a:ext cx="2362200" cy="1647828"/>
        </p:xfrm>
        <a:graphic>
          <a:graphicData uri="http://schemas.openxmlformats.org/drawingml/2006/table">
            <a:tbl>
              <a:tblPr/>
              <a:tblGrid>
                <a:gridCol w="808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Group 45"/>
          <p:cNvGraphicFramePr>
            <a:graphicFrameLocks noGrp="1"/>
          </p:cNvGraphicFramePr>
          <p:nvPr/>
        </p:nvGraphicFramePr>
        <p:xfrm>
          <a:off x="6443663" y="3141663"/>
          <a:ext cx="2209800" cy="137319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77"/>
          <p:cNvSpPr>
            <a:spLocks noChangeArrowheads="1"/>
          </p:cNvSpPr>
          <p:nvPr/>
        </p:nvSpPr>
        <p:spPr bwMode="auto">
          <a:xfrm>
            <a:off x="5872163" y="481806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30" name="Rectangle 78"/>
          <p:cNvSpPr>
            <a:spLocks noChangeArrowheads="1"/>
          </p:cNvSpPr>
          <p:nvPr/>
        </p:nvSpPr>
        <p:spPr bwMode="auto">
          <a:xfrm>
            <a:off x="6170613" y="3111500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sp>
        <p:nvSpPr>
          <p:cNvPr id="31" name="Rectangle 79"/>
          <p:cNvSpPr>
            <a:spLocks noChangeArrowheads="1"/>
          </p:cNvSpPr>
          <p:nvPr/>
        </p:nvSpPr>
        <p:spPr bwMode="auto">
          <a:xfrm>
            <a:off x="539750" y="2997200"/>
            <a:ext cx="496887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LEFT OUTER 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32" name="Group 80"/>
          <p:cNvGraphicFramePr>
            <a:graphicFrameLocks noGrp="1"/>
          </p:cNvGraphicFramePr>
          <p:nvPr/>
        </p:nvGraphicFramePr>
        <p:xfrm>
          <a:off x="684213" y="4797425"/>
          <a:ext cx="1905000" cy="164623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Rectangle 113"/>
          <p:cNvSpPr>
            <a:spLocks noChangeArrowheads="1"/>
          </p:cNvSpPr>
          <p:nvPr/>
        </p:nvSpPr>
        <p:spPr bwMode="auto">
          <a:xfrm>
            <a:off x="560388" y="2314575"/>
            <a:ext cx="84963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结果包含了左表的所有行的连接称为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左外连接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4" name="AutoShape 114"/>
          <p:cNvSpPr>
            <a:spLocks noChangeArrowheads="1"/>
          </p:cNvSpPr>
          <p:nvPr/>
        </p:nvSpPr>
        <p:spPr bwMode="auto">
          <a:xfrm>
            <a:off x="3059113" y="4724400"/>
            <a:ext cx="1944687" cy="1657350"/>
          </a:xfrm>
          <a:prstGeom prst="wedgeRoundRectCallout">
            <a:avLst>
              <a:gd name="adj1" fmla="val -64611"/>
              <a:gd name="adj2" fmla="val -20116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查询出所有学生的选课情况，不管他是否有课</a:t>
            </a:r>
          </a:p>
        </p:txBody>
      </p:sp>
    </p:spTree>
    <p:extLst>
      <p:ext uri="{BB962C8B-B14F-4D97-AF65-F5344CB8AC3E}">
        <p14:creationId xmlns:p14="http://schemas.microsoft.com/office/powerpoint/2010/main" val="95758687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外连接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288925" y="908720"/>
            <a:ext cx="84597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要查询其中一张连接表的所有行时就需要用</a:t>
            </a:r>
            <a:r>
              <a:rPr kumimoji="1" lang="zh-CN" altLang="en-US" sz="3200" b="1" dirty="0" smtClean="0">
                <a:solidFill>
                  <a:srgbClr val="FFFF00"/>
                </a:solidFill>
                <a:latin typeface="楷体_GB2312" pitchFamily="49" charset="-122"/>
              </a:rPr>
              <a:t>外连接</a:t>
            </a:r>
            <a:r>
              <a:rPr kumimoji="1" lang="zh-CN" altLang="en-US" dirty="0" smtClean="0">
                <a:latin typeface="楷体_GB2312" pitchFamily="49" charset="-122"/>
              </a:rPr>
              <a:t>，结果中用空值</a:t>
            </a:r>
            <a:r>
              <a:rPr kumimoji="1" lang="en-US" altLang="zh-CN" dirty="0" smtClean="0">
                <a:latin typeface="楷体_GB2312" pitchFamily="49" charset="-122"/>
              </a:rPr>
              <a:t>(NULL)</a:t>
            </a:r>
            <a:r>
              <a:rPr kumimoji="1" lang="zh-CN" altLang="en-US" dirty="0" smtClean="0">
                <a:latin typeface="楷体_GB2312" pitchFamily="49" charset="-122"/>
              </a:rPr>
              <a:t>来填充无法连接的数据</a:t>
            </a:r>
            <a:endParaRPr kumimoji="1" lang="zh-CN" altLang="en-US" dirty="0" smtClean="0">
              <a:solidFill>
                <a:srgbClr val="66FFFF"/>
              </a:solidFill>
              <a:latin typeface="楷体_GB2312" pitchFamily="49" charset="-122"/>
            </a:endParaRPr>
          </a:p>
        </p:txBody>
      </p:sp>
      <p:graphicFrame>
        <p:nvGraphicFramePr>
          <p:cNvPr id="23" name="Group 5"/>
          <p:cNvGraphicFramePr>
            <a:graphicFrameLocks noGrp="1"/>
          </p:cNvGraphicFramePr>
          <p:nvPr/>
        </p:nvGraphicFramePr>
        <p:xfrm>
          <a:off x="6300788" y="4868863"/>
          <a:ext cx="2362200" cy="1647828"/>
        </p:xfrm>
        <a:graphic>
          <a:graphicData uri="http://schemas.openxmlformats.org/drawingml/2006/table">
            <a:tbl>
              <a:tblPr/>
              <a:tblGrid>
                <a:gridCol w="808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Group 45"/>
          <p:cNvGraphicFramePr>
            <a:graphicFrameLocks noGrp="1"/>
          </p:cNvGraphicFramePr>
          <p:nvPr/>
        </p:nvGraphicFramePr>
        <p:xfrm>
          <a:off x="6443663" y="3141663"/>
          <a:ext cx="2209800" cy="137319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Rectangle 77"/>
          <p:cNvSpPr>
            <a:spLocks noChangeArrowheads="1"/>
          </p:cNvSpPr>
          <p:nvPr/>
        </p:nvSpPr>
        <p:spPr bwMode="auto">
          <a:xfrm>
            <a:off x="5872163" y="481806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6" name="Rectangle 78"/>
          <p:cNvSpPr>
            <a:spLocks noChangeArrowheads="1"/>
          </p:cNvSpPr>
          <p:nvPr/>
        </p:nvSpPr>
        <p:spPr bwMode="auto">
          <a:xfrm>
            <a:off x="6170613" y="3111500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sp>
        <p:nvSpPr>
          <p:cNvPr id="27" name="Rectangle 79"/>
          <p:cNvSpPr>
            <a:spLocks noChangeArrowheads="1"/>
          </p:cNvSpPr>
          <p:nvPr/>
        </p:nvSpPr>
        <p:spPr bwMode="auto">
          <a:xfrm>
            <a:off x="539750" y="2997200"/>
            <a:ext cx="496887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RIGHT OUTER 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60388" y="2314575"/>
            <a:ext cx="84963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结果包含了右表的所有行的连接称为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右外连接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5" name="AutoShape 81"/>
          <p:cNvSpPr>
            <a:spLocks noChangeArrowheads="1"/>
          </p:cNvSpPr>
          <p:nvPr/>
        </p:nvSpPr>
        <p:spPr bwMode="auto">
          <a:xfrm>
            <a:off x="3059113" y="4797425"/>
            <a:ext cx="2233612" cy="1584325"/>
          </a:xfrm>
          <a:prstGeom prst="wedgeRoundRectCallout">
            <a:avLst>
              <a:gd name="adj1" fmla="val -61088"/>
              <a:gd name="adj2" fmla="val -8616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查询出所有课程与学生的关系，不管它是否有学生选</a:t>
            </a:r>
          </a:p>
        </p:txBody>
      </p:sp>
      <p:graphicFrame>
        <p:nvGraphicFramePr>
          <p:cNvPr id="36" name="Group 82"/>
          <p:cNvGraphicFramePr>
            <a:graphicFrameLocks noGrp="1"/>
          </p:cNvGraphicFramePr>
          <p:nvPr/>
        </p:nvGraphicFramePr>
        <p:xfrm>
          <a:off x="684213" y="4581525"/>
          <a:ext cx="1905000" cy="1922466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9933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9933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82932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外连接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288925" y="1052929"/>
            <a:ext cx="52197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左</a:t>
            </a:r>
            <a:r>
              <a:rPr kumimoji="1" lang="en-US" altLang="zh-CN" dirty="0" smtClean="0">
                <a:latin typeface="楷体_GB2312" pitchFamily="49" charset="-122"/>
              </a:rPr>
              <a:t>/</a:t>
            </a:r>
            <a:r>
              <a:rPr kumimoji="1" lang="zh-CN" altLang="en-US" dirty="0" smtClean="0">
                <a:latin typeface="楷体_GB2312" pitchFamily="49" charset="-122"/>
              </a:rPr>
              <a:t>右外连接是相对而言的，是可以相互转换的</a:t>
            </a:r>
            <a:r>
              <a:rPr kumimoji="1" lang="en-US" altLang="zh-CN" dirty="0" smtClean="0">
                <a:latin typeface="楷体_GB2312" pitchFamily="49" charset="-122"/>
              </a:rPr>
              <a:t>!</a:t>
            </a:r>
            <a:endParaRPr kumimoji="1" lang="zh-CN" altLang="en-US" dirty="0" smtClean="0">
              <a:latin typeface="楷体_GB2312" pitchFamily="49" charset="-122"/>
            </a:endParaRPr>
          </a:p>
        </p:txBody>
      </p:sp>
      <p:graphicFrame>
        <p:nvGraphicFramePr>
          <p:cNvPr id="32" name="Group 5"/>
          <p:cNvGraphicFramePr>
            <a:graphicFrameLocks noGrp="1"/>
          </p:cNvGraphicFramePr>
          <p:nvPr/>
        </p:nvGraphicFramePr>
        <p:xfrm>
          <a:off x="6300788" y="765175"/>
          <a:ext cx="2362200" cy="1647828"/>
        </p:xfrm>
        <a:graphic>
          <a:graphicData uri="http://schemas.openxmlformats.org/drawingml/2006/table">
            <a:tbl>
              <a:tblPr/>
              <a:tblGrid>
                <a:gridCol w="808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" name="Group 45"/>
          <p:cNvGraphicFramePr>
            <a:graphicFrameLocks noGrp="1"/>
          </p:cNvGraphicFramePr>
          <p:nvPr/>
        </p:nvGraphicFramePr>
        <p:xfrm>
          <a:off x="6443663" y="2924175"/>
          <a:ext cx="2209800" cy="137319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Rectangle 77"/>
          <p:cNvSpPr>
            <a:spLocks noChangeArrowheads="1"/>
          </p:cNvSpPr>
          <p:nvPr/>
        </p:nvSpPr>
        <p:spPr bwMode="auto">
          <a:xfrm>
            <a:off x="5872163" y="714375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37" name="Rectangle 78"/>
          <p:cNvSpPr>
            <a:spLocks noChangeArrowheads="1"/>
          </p:cNvSpPr>
          <p:nvPr/>
        </p:nvSpPr>
        <p:spPr bwMode="auto">
          <a:xfrm>
            <a:off x="6170613" y="2894013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sp>
        <p:nvSpPr>
          <p:cNvPr id="38" name="Rectangle 79"/>
          <p:cNvSpPr>
            <a:spLocks noChangeArrowheads="1"/>
          </p:cNvSpPr>
          <p:nvPr/>
        </p:nvSpPr>
        <p:spPr bwMode="auto">
          <a:xfrm>
            <a:off x="539750" y="2492375"/>
            <a:ext cx="496887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LEFT OUTER 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39" name="Rectangle 80"/>
          <p:cNvSpPr>
            <a:spLocks noChangeArrowheads="1"/>
          </p:cNvSpPr>
          <p:nvPr/>
        </p:nvSpPr>
        <p:spPr bwMode="auto">
          <a:xfrm>
            <a:off x="539750" y="5013325"/>
            <a:ext cx="496887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RIGHT OUTER 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40" name="Rectangle 81"/>
          <p:cNvSpPr>
            <a:spLocks noChangeArrowheads="1"/>
          </p:cNvSpPr>
          <p:nvPr/>
        </p:nvSpPr>
        <p:spPr bwMode="auto">
          <a:xfrm>
            <a:off x="2124075" y="4221163"/>
            <a:ext cx="10080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等价</a:t>
            </a:r>
          </a:p>
        </p:txBody>
      </p:sp>
      <p:sp>
        <p:nvSpPr>
          <p:cNvPr id="41" name="AutoShape 82"/>
          <p:cNvSpPr>
            <a:spLocks noChangeArrowheads="1"/>
          </p:cNvSpPr>
          <p:nvPr/>
        </p:nvSpPr>
        <p:spPr bwMode="auto">
          <a:xfrm>
            <a:off x="1547813" y="4221163"/>
            <a:ext cx="431800" cy="571500"/>
          </a:xfrm>
          <a:prstGeom prst="upDownArrow">
            <a:avLst>
              <a:gd name="adj1" fmla="val 50000"/>
              <a:gd name="adj2" fmla="val 26471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AutoShape 83"/>
          <p:cNvSpPr>
            <a:spLocks noChangeArrowheads="1"/>
          </p:cNvSpPr>
          <p:nvPr/>
        </p:nvSpPr>
        <p:spPr bwMode="auto">
          <a:xfrm rot="2013040">
            <a:off x="5127625" y="4070350"/>
            <a:ext cx="792163" cy="288925"/>
          </a:xfrm>
          <a:prstGeom prst="rightArrow">
            <a:avLst>
              <a:gd name="adj1" fmla="val 50000"/>
              <a:gd name="adj2" fmla="val 68544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AutoShape 84"/>
          <p:cNvSpPr>
            <a:spLocks noChangeArrowheads="1"/>
          </p:cNvSpPr>
          <p:nvPr/>
        </p:nvSpPr>
        <p:spPr bwMode="auto">
          <a:xfrm rot="-675833">
            <a:off x="5435600" y="5229225"/>
            <a:ext cx="719138" cy="288925"/>
          </a:xfrm>
          <a:prstGeom prst="rightArrow">
            <a:avLst>
              <a:gd name="adj1" fmla="val 50000"/>
              <a:gd name="adj2" fmla="val 62225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44" name="Group 85"/>
          <p:cNvGraphicFramePr>
            <a:graphicFrameLocks noGrp="1"/>
          </p:cNvGraphicFramePr>
          <p:nvPr/>
        </p:nvGraphicFramePr>
        <p:xfrm>
          <a:off x="6588125" y="4797425"/>
          <a:ext cx="1905000" cy="164623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40132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外连接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Rectangle 4"/>
          <p:cNvSpPr txBox="1">
            <a:spLocks noChangeArrowheads="1"/>
          </p:cNvSpPr>
          <p:nvPr/>
        </p:nvSpPr>
        <p:spPr bwMode="auto">
          <a:xfrm>
            <a:off x="288925" y="1074023"/>
            <a:ext cx="60833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 eaLnBrk="1" hangingPunct="1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  <a:defRPr/>
            </a:pPr>
            <a:r>
              <a:rPr kumimoji="1" lang="zh-CN" altLang="en-US" dirty="0" smtClean="0">
                <a:latin typeface="楷体_GB2312" pitchFamily="49" charset="-122"/>
              </a:rPr>
              <a:t>左</a:t>
            </a:r>
            <a:r>
              <a:rPr kumimoji="1" lang="en-US" altLang="zh-CN" dirty="0" smtClean="0">
                <a:latin typeface="楷体_GB2312" pitchFamily="49" charset="-122"/>
              </a:rPr>
              <a:t>/</a:t>
            </a:r>
            <a:r>
              <a:rPr kumimoji="1" lang="zh-CN" altLang="en-US" dirty="0" smtClean="0">
                <a:latin typeface="楷体_GB2312" pitchFamily="49" charset="-122"/>
              </a:rPr>
              <a:t>右外连接的并集就是</a:t>
            </a:r>
            <a:r>
              <a:rPr kumimoji="1" lang="zh-CN" altLang="en-US" sz="3200" b="1" dirty="0" smtClean="0">
                <a:solidFill>
                  <a:srgbClr val="FFFF00"/>
                </a:solidFill>
                <a:latin typeface="楷体_GB2312" pitchFamily="49" charset="-122"/>
              </a:rPr>
              <a:t>全外连接</a:t>
            </a:r>
            <a:r>
              <a:rPr kumimoji="1" lang="en-US" altLang="zh-CN" dirty="0" smtClean="0">
                <a:latin typeface="楷体_GB2312" pitchFamily="49" charset="-122"/>
              </a:rPr>
              <a:t>!</a:t>
            </a:r>
            <a:endParaRPr kumimoji="1" lang="zh-CN" altLang="en-US" dirty="0" smtClean="0">
              <a:latin typeface="楷体_GB2312" pitchFamily="49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611188" y="2349500"/>
            <a:ext cx="489585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课名</a:t>
            </a:r>
          </a:p>
          <a:p>
            <a:pPr marL="0" marR="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FULL OUTER JOIN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C</a:t>
            </a:r>
          </a:p>
          <a:p>
            <a:pPr marL="0" marR="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ON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课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26" name="Group 6"/>
          <p:cNvGraphicFramePr>
            <a:graphicFrameLocks noGrp="1"/>
          </p:cNvGraphicFramePr>
          <p:nvPr/>
        </p:nvGraphicFramePr>
        <p:xfrm>
          <a:off x="968375" y="4652963"/>
          <a:ext cx="2362200" cy="1647828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" name="Group 46"/>
          <p:cNvGraphicFramePr>
            <a:graphicFrameLocks noGrp="1"/>
          </p:cNvGraphicFramePr>
          <p:nvPr/>
        </p:nvGraphicFramePr>
        <p:xfrm>
          <a:off x="3995738" y="4670425"/>
          <a:ext cx="2209800" cy="137319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ectangle 78"/>
          <p:cNvSpPr>
            <a:spLocks noChangeArrowheads="1"/>
          </p:cNvSpPr>
          <p:nvPr/>
        </p:nvSpPr>
        <p:spPr bwMode="auto">
          <a:xfrm>
            <a:off x="539750" y="460216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9" name="Rectangle 79"/>
          <p:cNvSpPr>
            <a:spLocks noChangeArrowheads="1"/>
          </p:cNvSpPr>
          <p:nvPr/>
        </p:nvSpPr>
        <p:spPr bwMode="auto">
          <a:xfrm>
            <a:off x="3722688" y="4640263"/>
            <a:ext cx="187552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30" name="Group 80"/>
          <p:cNvGraphicFramePr>
            <a:graphicFrameLocks noGrp="1"/>
          </p:cNvGraphicFramePr>
          <p:nvPr/>
        </p:nvGraphicFramePr>
        <p:xfrm>
          <a:off x="6877050" y="4094163"/>
          <a:ext cx="1905000" cy="2197104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软件工程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9933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9933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AutoShape 119"/>
          <p:cNvSpPr>
            <a:spLocks noChangeArrowheads="1"/>
          </p:cNvSpPr>
          <p:nvPr/>
        </p:nvSpPr>
        <p:spPr bwMode="auto">
          <a:xfrm rot="2013040">
            <a:off x="5508625" y="3573463"/>
            <a:ext cx="1008063" cy="288925"/>
          </a:xfrm>
          <a:prstGeom prst="rightArrow">
            <a:avLst>
              <a:gd name="adj1" fmla="val 50000"/>
              <a:gd name="adj2" fmla="val 87225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" name="AutoShape 120"/>
          <p:cNvSpPr>
            <a:spLocks noChangeArrowheads="1"/>
          </p:cNvSpPr>
          <p:nvPr/>
        </p:nvSpPr>
        <p:spPr bwMode="auto">
          <a:xfrm>
            <a:off x="6516688" y="1844675"/>
            <a:ext cx="2233612" cy="1296988"/>
          </a:xfrm>
          <a:prstGeom prst="wedgeRoundRectCallout">
            <a:avLst>
              <a:gd name="adj1" fmla="val 18088"/>
              <a:gd name="adj2" fmla="val 106671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查询出所有课程与所有学生的选课关系</a:t>
            </a:r>
          </a:p>
        </p:txBody>
      </p:sp>
    </p:spTree>
    <p:extLst>
      <p:ext uri="{BB962C8B-B14F-4D97-AF65-F5344CB8AC3E}">
        <p14:creationId xmlns:p14="http://schemas.microsoft.com/office/powerpoint/2010/main" val="261618651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1684289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自连接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Rectangle 257"/>
          <p:cNvSpPr txBox="1">
            <a:spLocks noChangeArrowheads="1"/>
          </p:cNvSpPr>
          <p:nvPr/>
        </p:nvSpPr>
        <p:spPr bwMode="auto">
          <a:xfrm>
            <a:off x="288925" y="907257"/>
            <a:ext cx="8531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269875" indent="-269875" algn="just">
              <a:spcAft>
                <a:spcPct val="5000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1" lang="zh-CN" altLang="en-US" sz="2800" dirty="0" smtClean="0">
                <a:latin typeface="楷体_GB2312" pitchFamily="49" charset="-122"/>
              </a:rPr>
              <a:t>表自己和自己联接</a:t>
            </a:r>
            <a:endParaRPr kumimoji="1"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26" name="Group 258"/>
          <p:cNvGraphicFramePr>
            <a:graphicFrameLocks noGrp="1"/>
          </p:cNvGraphicFramePr>
          <p:nvPr/>
        </p:nvGraphicFramePr>
        <p:xfrm>
          <a:off x="6372225" y="836613"/>
          <a:ext cx="2592388" cy="243840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先修课号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操作系统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数据处理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CC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Rectangle 304"/>
          <p:cNvSpPr>
            <a:spLocks noChangeArrowheads="1"/>
          </p:cNvSpPr>
          <p:nvPr/>
        </p:nvSpPr>
        <p:spPr bwMode="auto">
          <a:xfrm>
            <a:off x="6084888" y="862013"/>
            <a:ext cx="1715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28" name="Rectangle 305"/>
          <p:cNvSpPr>
            <a:spLocks noChangeArrowheads="1"/>
          </p:cNvSpPr>
          <p:nvPr/>
        </p:nvSpPr>
        <p:spPr bwMode="auto">
          <a:xfrm>
            <a:off x="5795963" y="3959225"/>
            <a:ext cx="466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000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PRE</a:t>
            </a:r>
            <a:endParaRPr kumimoji="1" lang="zh-CN" altLang="en-US" sz="2000">
              <a:solidFill>
                <a:srgbClr val="66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3" name="Rectangle 306"/>
          <p:cNvSpPr>
            <a:spLocks noChangeArrowheads="1"/>
          </p:cNvSpPr>
          <p:nvPr/>
        </p:nvSpPr>
        <p:spPr bwMode="auto">
          <a:xfrm>
            <a:off x="539750" y="1989138"/>
            <a:ext cx="7019925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SELECT C.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课名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       PRE.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课名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AS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先修课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  FROM C,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C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as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PRE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 WHERE C.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先修课号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= </a:t>
            </a:r>
            <a:r>
              <a:rPr kumimoji="1" lang="en-US" altLang="zh-CN" sz="2800" b="1" kern="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PRE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rPr>
              <a:t>课号</a:t>
            </a:r>
          </a:p>
        </p:txBody>
      </p:sp>
      <p:graphicFrame>
        <p:nvGraphicFramePr>
          <p:cNvPr id="34" name="Group 307"/>
          <p:cNvGraphicFramePr>
            <a:graphicFrameLocks noGrp="1"/>
          </p:cNvGraphicFramePr>
          <p:nvPr/>
        </p:nvGraphicFramePr>
        <p:xfrm>
          <a:off x="1116013" y="4581525"/>
          <a:ext cx="2514600" cy="1828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先修课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操作系统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数据处理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数据处理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AutoShape 334"/>
          <p:cNvSpPr>
            <a:spLocks noChangeArrowheads="1"/>
          </p:cNvSpPr>
          <p:nvPr/>
        </p:nvSpPr>
        <p:spPr bwMode="auto">
          <a:xfrm>
            <a:off x="3995738" y="836613"/>
            <a:ext cx="1655762" cy="863600"/>
          </a:xfrm>
          <a:prstGeom prst="wedgeRoundRectCallout">
            <a:avLst>
              <a:gd name="adj1" fmla="val 58245"/>
              <a:gd name="adj2" fmla="val -25736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信息都在此表中</a:t>
            </a:r>
          </a:p>
        </p:txBody>
      </p:sp>
      <p:sp>
        <p:nvSpPr>
          <p:cNvPr id="36" name="AutoShape 335"/>
          <p:cNvSpPr>
            <a:spLocks noChangeArrowheads="1"/>
          </p:cNvSpPr>
          <p:nvPr/>
        </p:nvSpPr>
        <p:spPr bwMode="auto">
          <a:xfrm>
            <a:off x="4427538" y="4797425"/>
            <a:ext cx="1655762" cy="1296988"/>
          </a:xfrm>
          <a:prstGeom prst="wedgeRoundRectCallout">
            <a:avLst>
              <a:gd name="adj1" fmla="val 43671"/>
              <a:gd name="adj2" fmla="val -67750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相当于另一张与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C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相同的表</a:t>
            </a:r>
          </a:p>
        </p:txBody>
      </p:sp>
      <p:sp>
        <p:nvSpPr>
          <p:cNvPr id="37" name="AutoShape 336"/>
          <p:cNvSpPr>
            <a:spLocks noChangeArrowheads="1"/>
          </p:cNvSpPr>
          <p:nvPr/>
        </p:nvSpPr>
        <p:spPr bwMode="auto">
          <a:xfrm rot="5400000">
            <a:off x="1967706" y="4017169"/>
            <a:ext cx="503238" cy="336550"/>
          </a:xfrm>
          <a:prstGeom prst="rightArrow">
            <a:avLst>
              <a:gd name="adj1" fmla="val 50000"/>
              <a:gd name="adj2" fmla="val 37382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38" name="Group 337"/>
          <p:cNvGraphicFramePr>
            <a:graphicFrameLocks noGrp="1"/>
          </p:cNvGraphicFramePr>
          <p:nvPr/>
        </p:nvGraphicFramePr>
        <p:xfrm>
          <a:off x="6443663" y="4005263"/>
          <a:ext cx="2520950" cy="243840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先修课号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操作系统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数据结构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数据处理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66FF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语言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1088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嵌套查询</a:t>
            </a: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59407" y="836712"/>
            <a:ext cx="864235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sz="3200" dirty="0" smtClean="0">
                <a:latin typeface="Arial Narrow" pitchFamily="34" charset="0"/>
              </a:rPr>
              <a:t>在一条查询语句的某一个子句（多数为</a:t>
            </a:r>
            <a:r>
              <a:rPr kumimoji="1" lang="en-US" altLang="zh-CN" sz="3200" dirty="0" smtClean="0">
                <a:latin typeface="Arial Narrow" pitchFamily="34" charset="0"/>
              </a:rPr>
              <a:t>WHERE</a:t>
            </a:r>
            <a:r>
              <a:rPr kumimoji="1" lang="zh-CN" altLang="en-US" sz="3200" dirty="0" smtClean="0">
                <a:latin typeface="Arial Narrow" pitchFamily="34" charset="0"/>
              </a:rPr>
              <a:t>）中又包含有一个查询语句的查询称为</a:t>
            </a:r>
            <a:r>
              <a:rPr kumimoji="1" lang="zh-CN" altLang="en-US" sz="3200" dirty="0" smtClean="0">
                <a:solidFill>
                  <a:srgbClr val="FFFF00"/>
                </a:solidFill>
                <a:latin typeface="Arial Narrow" pitchFamily="34" charset="0"/>
                <a:ea typeface="黑体" pitchFamily="2" charset="-122"/>
              </a:rPr>
              <a:t>嵌套查询</a:t>
            </a:r>
            <a:r>
              <a:rPr kumimoji="1" lang="zh-CN" altLang="en-US" sz="3200" dirty="0" smtClean="0">
                <a:latin typeface="Arial Narrow" pitchFamily="34" charset="0"/>
              </a:rPr>
              <a:t>。</a:t>
            </a:r>
          </a:p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sz="3200" dirty="0" smtClean="0">
                <a:latin typeface="Arial Narrow" pitchFamily="34" charset="0"/>
              </a:rPr>
              <a:t>被包含的查询称为子查询或内层查询。</a:t>
            </a:r>
          </a:p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sz="3200" dirty="0" smtClean="0">
                <a:latin typeface="Arial Narrow" pitchFamily="34" charset="0"/>
              </a:rPr>
              <a:t>包含子查询的查询称为外层查询或父查询。</a:t>
            </a:r>
            <a:endParaRPr kumimoji="1" lang="en-US" altLang="zh-CN" sz="3200" dirty="0" smtClean="0">
              <a:latin typeface="Arial Narrow" pitchFamily="34" charset="0"/>
            </a:endParaRPr>
          </a:p>
          <a:p>
            <a:pPr eaLnBrk="1" hangingPunct="1">
              <a:spcAft>
                <a:spcPct val="25000"/>
              </a:spcAft>
              <a:defRPr/>
            </a:pPr>
            <a:r>
              <a:rPr kumimoji="1" lang="zh-CN" altLang="en-US" sz="3200" dirty="0" smtClean="0">
                <a:latin typeface="Arial Narrow" pitchFamily="34" charset="0"/>
              </a:rPr>
              <a:t>子查询必须写在一对圆括号中。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709613" y="4749363"/>
            <a:ext cx="8013700" cy="12926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学生表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学生表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	     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刘安邦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 ) 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6372225" y="4221163"/>
            <a:ext cx="1295400" cy="504825"/>
          </a:xfrm>
          <a:prstGeom prst="wedgeRoundRectCallout">
            <a:avLst>
              <a:gd name="adj1" fmla="val -27574"/>
              <a:gd name="adj2" fmla="val 9213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子查询</a:t>
            </a:r>
          </a:p>
        </p:txBody>
      </p:sp>
      <p:sp>
        <p:nvSpPr>
          <p:cNvPr id="20" name="AutoShape 7"/>
          <p:cNvSpPr>
            <a:spLocks noChangeArrowheads="1"/>
          </p:cNvSpPr>
          <p:nvPr/>
        </p:nvSpPr>
        <p:spPr bwMode="auto">
          <a:xfrm>
            <a:off x="684213" y="5949950"/>
            <a:ext cx="1368425" cy="458788"/>
          </a:xfrm>
          <a:prstGeom prst="wedgeRoundRectCallout">
            <a:avLst>
              <a:gd name="adj1" fmla="val 31671"/>
              <a:gd name="adj2" fmla="val -10778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外查询</a:t>
            </a:r>
          </a:p>
        </p:txBody>
      </p:sp>
    </p:spTree>
    <p:extLst>
      <p:ext uri="{BB962C8B-B14F-4D97-AF65-F5344CB8AC3E}">
        <p14:creationId xmlns:p14="http://schemas.microsoft.com/office/powerpoint/2010/main" val="310719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 txBox="1">
            <a:spLocks noChangeArrowheads="1"/>
          </p:cNvSpPr>
          <p:nvPr/>
        </p:nvSpPr>
        <p:spPr bwMode="auto">
          <a:xfrm>
            <a:off x="252412" y="1005890"/>
            <a:ext cx="5040313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lvl="0" indent="0" eaLnBrk="1" hangingPunct="1">
              <a:spcAft>
                <a:spcPct val="20000"/>
              </a:spcAft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子查询的结果</a:t>
            </a:r>
            <a:r>
              <a:rPr kumimoji="1" lang="zh-CN" altLang="en-US" kern="0" dirty="0"/>
              <a:t>是单值（</a:t>
            </a:r>
            <a:r>
              <a:rPr kumimoji="1" lang="en-US" altLang="zh-CN" kern="0" dirty="0"/>
              <a:t>1</a:t>
            </a:r>
            <a:r>
              <a:rPr kumimoji="1" lang="zh-CN" altLang="en-US" kern="0" dirty="0"/>
              <a:t>行</a:t>
            </a:r>
            <a:r>
              <a:rPr kumimoji="1" lang="en-US" altLang="zh-CN" kern="0" dirty="0"/>
              <a:t>1</a:t>
            </a:r>
            <a:r>
              <a:rPr kumimoji="1" lang="zh-CN" altLang="en-US" kern="0" dirty="0"/>
              <a:t>列</a:t>
            </a:r>
            <a:r>
              <a:rPr kumimoji="1" lang="zh-CN" altLang="en-US" kern="0" dirty="0" smtClean="0"/>
              <a:t>）时，可用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=,&gt;,&lt;,&gt;=,&lt;=,!=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等比较运算符来构造条件表达式。</a:t>
            </a:r>
          </a:p>
        </p:txBody>
      </p:sp>
      <p:graphicFrame>
        <p:nvGraphicFramePr>
          <p:cNvPr id="16" name="Group 5"/>
          <p:cNvGraphicFramePr>
            <a:graphicFrameLocks noGrp="1"/>
          </p:cNvGraphicFramePr>
          <p:nvPr/>
        </p:nvGraphicFramePr>
        <p:xfrm>
          <a:off x="5724525" y="836613"/>
          <a:ext cx="3095625" cy="17621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Rectangle 49"/>
          <p:cNvSpPr>
            <a:spLocks noChangeArrowheads="1"/>
          </p:cNvSpPr>
          <p:nvPr/>
        </p:nvSpPr>
        <p:spPr bwMode="auto">
          <a:xfrm>
            <a:off x="5292725" y="83661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2" name="Rectangle 50"/>
          <p:cNvSpPr>
            <a:spLocks noChangeArrowheads="1"/>
          </p:cNvSpPr>
          <p:nvPr/>
        </p:nvSpPr>
        <p:spPr bwMode="auto">
          <a:xfrm>
            <a:off x="539750" y="2997200"/>
            <a:ext cx="806608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设不允许学生重名，查询与王军同一个系的学生姓名</a:t>
            </a:r>
          </a:p>
          <a:p>
            <a:pPr algn="just">
              <a:spcAft>
                <a:spcPct val="15000"/>
              </a:spcAft>
              <a:buClr>
                <a:schemeClr val="tx1"/>
              </a:buClr>
              <a:buSzPct val="85000"/>
              <a:defRPr/>
            </a:pP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SELECT </a:t>
            </a:r>
            <a:r>
              <a:rPr lang="zh-CN" altLang="en-US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姓名 </a:t>
            </a: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FROM ST</a:t>
            </a:r>
          </a:p>
          <a:p>
            <a:pPr algn="just">
              <a:spcAft>
                <a:spcPct val="15000"/>
              </a:spcAft>
              <a:buClr>
                <a:schemeClr val="tx1"/>
              </a:buClr>
              <a:buSzPct val="85000"/>
              <a:defRPr/>
            </a:pP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WHERE </a:t>
            </a:r>
            <a:r>
              <a:rPr lang="zh-CN" altLang="en-US" sz="2800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系名</a:t>
            </a:r>
            <a:r>
              <a:rPr lang="zh-CN" altLang="en-US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</a:t>
            </a: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</a:p>
          <a:p>
            <a:pPr algn="just">
              <a:spcAft>
                <a:spcPct val="15000"/>
              </a:spcAft>
              <a:buClr>
                <a:schemeClr val="tx1"/>
              </a:buClr>
              <a:buSzPct val="85000"/>
              <a:defRPr/>
            </a:pP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SELECT </a:t>
            </a:r>
            <a:r>
              <a:rPr lang="zh-CN" altLang="en-US" sz="2800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系名</a:t>
            </a:r>
            <a:r>
              <a:rPr lang="zh-CN" altLang="en-US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FROM ST</a:t>
            </a:r>
          </a:p>
          <a:p>
            <a:pPr algn="just">
              <a:spcAft>
                <a:spcPct val="15000"/>
              </a:spcAft>
              <a:buClr>
                <a:schemeClr val="tx1"/>
              </a:buClr>
              <a:buSzPct val="85000"/>
              <a:defRPr/>
            </a:pP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WHERE </a:t>
            </a:r>
            <a:r>
              <a:rPr lang="zh-CN" altLang="en-US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姓名 </a:t>
            </a: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'</a:t>
            </a:r>
            <a:r>
              <a:rPr lang="zh-CN" altLang="en-US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王军</a:t>
            </a:r>
            <a:r>
              <a:rPr lang="en-US" altLang="zh-CN" sz="280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' )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3" name="AutoShape 51"/>
          <p:cNvSpPr>
            <a:spLocks noChangeArrowheads="1"/>
          </p:cNvSpPr>
          <p:nvPr/>
        </p:nvSpPr>
        <p:spPr bwMode="auto">
          <a:xfrm rot="9225931">
            <a:off x="5783263" y="4244975"/>
            <a:ext cx="863600" cy="215900"/>
          </a:xfrm>
          <a:prstGeom prst="leftArrow">
            <a:avLst>
              <a:gd name="adj1" fmla="val 50000"/>
              <a:gd name="adj2" fmla="val 100000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24" name="Group 52"/>
          <p:cNvGraphicFramePr>
            <a:graphicFrameLocks noGrp="1"/>
          </p:cNvGraphicFramePr>
          <p:nvPr/>
        </p:nvGraphicFramePr>
        <p:xfrm>
          <a:off x="7019925" y="3644900"/>
          <a:ext cx="647700" cy="792163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AutoShape 60"/>
          <p:cNvSpPr>
            <a:spLocks noChangeArrowheads="1"/>
          </p:cNvSpPr>
          <p:nvPr/>
        </p:nvSpPr>
        <p:spPr bwMode="auto">
          <a:xfrm>
            <a:off x="6372225" y="4941888"/>
            <a:ext cx="2305050" cy="863600"/>
          </a:xfrm>
          <a:prstGeom prst="wedgeRoundRectCallout">
            <a:avLst>
              <a:gd name="adj1" fmla="val -16458"/>
              <a:gd name="adj2" fmla="val -83273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子查询得到王军所在的系名</a:t>
            </a:r>
          </a:p>
        </p:txBody>
      </p:sp>
      <p:sp>
        <p:nvSpPr>
          <p:cNvPr id="26" name="Rectangle 61"/>
          <p:cNvSpPr>
            <a:spLocks noChangeArrowheads="1"/>
          </p:cNvSpPr>
          <p:nvPr/>
        </p:nvSpPr>
        <p:spPr bwMode="auto">
          <a:xfrm>
            <a:off x="611188" y="6021388"/>
            <a:ext cx="4967287" cy="431800"/>
          </a:xfrm>
          <a:prstGeom prst="rect">
            <a:avLst/>
          </a:prstGeom>
          <a:solidFill>
            <a:srgbClr val="0000CC"/>
          </a:solidFill>
          <a:ln w="12700" cap="sq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</a:rPr>
              <a:t>想一想为什么要不准学生重名?</a:t>
            </a:r>
            <a:endParaRPr kumimoji="0" lang="en-US" altLang="zh-CN" sz="26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214510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</p:spTree>
    <p:extLst>
      <p:ext uri="{BB962C8B-B14F-4D97-AF65-F5344CB8AC3E}">
        <p14:creationId xmlns:p14="http://schemas.microsoft.com/office/powerpoint/2010/main" val="42708454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510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graphicFrame>
        <p:nvGraphicFramePr>
          <p:cNvPr id="29" name="Group 4"/>
          <p:cNvGraphicFramePr>
            <a:graphicFrameLocks noGrp="1"/>
          </p:cNvGraphicFramePr>
          <p:nvPr/>
        </p:nvGraphicFramePr>
        <p:xfrm>
          <a:off x="5724525" y="836613"/>
          <a:ext cx="3095625" cy="176212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┆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Rectangle 48"/>
          <p:cNvSpPr>
            <a:spLocks noChangeArrowheads="1"/>
          </p:cNvSpPr>
          <p:nvPr/>
        </p:nvSpPr>
        <p:spPr bwMode="auto">
          <a:xfrm>
            <a:off x="5292725" y="83661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31" name="Rectangle 49"/>
          <p:cNvSpPr>
            <a:spLocks noChangeArrowheads="1"/>
          </p:cNvSpPr>
          <p:nvPr/>
        </p:nvSpPr>
        <p:spPr bwMode="auto">
          <a:xfrm>
            <a:off x="539750" y="2996952"/>
            <a:ext cx="806608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&lt;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( 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	     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李华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)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AND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&gt;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( 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	     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陈东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)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32" name="Group 50"/>
          <p:cNvGraphicFramePr>
            <a:graphicFrameLocks noGrp="1"/>
          </p:cNvGraphicFramePr>
          <p:nvPr/>
        </p:nvGraphicFramePr>
        <p:xfrm>
          <a:off x="7956550" y="3141663"/>
          <a:ext cx="647700" cy="792162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AutoShape 58"/>
          <p:cNvSpPr>
            <a:spLocks noChangeArrowheads="1"/>
          </p:cNvSpPr>
          <p:nvPr/>
        </p:nvSpPr>
        <p:spPr bwMode="auto">
          <a:xfrm>
            <a:off x="7885113" y="4581525"/>
            <a:ext cx="936625" cy="647700"/>
          </a:xfrm>
          <a:prstGeom prst="wedgeRoundRectCallout">
            <a:avLst>
              <a:gd name="adj1" fmla="val -12375"/>
              <a:gd name="adj2" fmla="val -12622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李华的年龄</a:t>
            </a:r>
          </a:p>
        </p:txBody>
      </p:sp>
      <p:graphicFrame>
        <p:nvGraphicFramePr>
          <p:cNvPr id="34" name="Group 71"/>
          <p:cNvGraphicFramePr>
            <a:graphicFrameLocks noGrp="1"/>
          </p:cNvGraphicFramePr>
          <p:nvPr/>
        </p:nvGraphicFramePr>
        <p:xfrm>
          <a:off x="2339975" y="5876925"/>
          <a:ext cx="647700" cy="73183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AutoShape 67"/>
          <p:cNvSpPr>
            <a:spLocks noChangeArrowheads="1"/>
          </p:cNvSpPr>
          <p:nvPr/>
        </p:nvSpPr>
        <p:spPr bwMode="auto">
          <a:xfrm>
            <a:off x="827088" y="5661025"/>
            <a:ext cx="938212" cy="719138"/>
          </a:xfrm>
          <a:prstGeom prst="wedgeRoundRectCallout">
            <a:avLst>
              <a:gd name="adj1" fmla="val 90102"/>
              <a:gd name="adj2" fmla="val -12472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陈东的年龄</a:t>
            </a:r>
          </a:p>
        </p:txBody>
      </p:sp>
      <p:sp>
        <p:nvSpPr>
          <p:cNvPr id="36" name="AutoShape 68"/>
          <p:cNvSpPr>
            <a:spLocks noChangeArrowheads="1"/>
          </p:cNvSpPr>
          <p:nvPr/>
        </p:nvSpPr>
        <p:spPr bwMode="auto">
          <a:xfrm rot="9225931">
            <a:off x="7164388" y="3500438"/>
            <a:ext cx="576262" cy="215900"/>
          </a:xfrm>
          <a:prstGeom prst="leftArrow">
            <a:avLst>
              <a:gd name="adj1" fmla="val 50000"/>
              <a:gd name="adj2" fmla="val 66728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69"/>
          <p:cNvSpPr>
            <a:spLocks noChangeArrowheads="1"/>
          </p:cNvSpPr>
          <p:nvPr/>
        </p:nvSpPr>
        <p:spPr bwMode="auto">
          <a:xfrm rot="-2564843">
            <a:off x="3203575" y="5516563"/>
            <a:ext cx="503238" cy="144462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Rectangle 70"/>
          <p:cNvSpPr>
            <a:spLocks noChangeArrowheads="1"/>
          </p:cNvSpPr>
          <p:nvPr/>
        </p:nvSpPr>
        <p:spPr bwMode="auto">
          <a:xfrm>
            <a:off x="323528" y="1032878"/>
            <a:ext cx="4608513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55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设不允许学生重名，查询比李华年龄小但比陈东年龄大的学生的姓名和年龄</a:t>
            </a:r>
          </a:p>
        </p:txBody>
      </p:sp>
    </p:spTree>
    <p:extLst>
      <p:ext uri="{BB962C8B-B14F-4D97-AF65-F5344CB8AC3E}">
        <p14:creationId xmlns:p14="http://schemas.microsoft.com/office/powerpoint/2010/main" val="6936736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21" name="Rectangle 4"/>
          <p:cNvSpPr txBox="1">
            <a:spLocks noChangeArrowheads="1"/>
          </p:cNvSpPr>
          <p:nvPr/>
        </p:nvSpPr>
        <p:spPr bwMode="auto">
          <a:xfrm>
            <a:off x="323528" y="909638"/>
            <a:ext cx="5761038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θ ANY/ALL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构造多值（多行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1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列）条件，其中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θ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为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=,&gt;,&lt;,&gt;=,&lt;=,!=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等比较运算符。</a:t>
            </a:r>
          </a:p>
        </p:txBody>
      </p:sp>
      <p:graphicFrame>
        <p:nvGraphicFramePr>
          <p:cNvPr id="2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00617"/>
              </p:ext>
            </p:extLst>
          </p:nvPr>
        </p:nvGraphicFramePr>
        <p:xfrm>
          <a:off x="7019925" y="764133"/>
          <a:ext cx="1554163" cy="2743200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选修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吴八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Rectangle 43"/>
          <p:cNvSpPr>
            <a:spLocks noChangeArrowheads="1"/>
          </p:cNvSpPr>
          <p:nvPr/>
        </p:nvSpPr>
        <p:spPr bwMode="auto">
          <a:xfrm>
            <a:off x="6588125" y="692696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4" name="Rectangle 44"/>
          <p:cNvSpPr>
            <a:spLocks noChangeArrowheads="1"/>
          </p:cNvSpPr>
          <p:nvPr/>
        </p:nvSpPr>
        <p:spPr bwMode="auto">
          <a:xfrm>
            <a:off x="323528" y="2780928"/>
            <a:ext cx="568801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查询至少有一门课和张三相同的学生姓名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且结果中不能有张三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5" name="Rectangle 45"/>
          <p:cNvSpPr>
            <a:spLocks noChangeArrowheads="1"/>
          </p:cNvSpPr>
          <p:nvPr/>
        </p:nvSpPr>
        <p:spPr bwMode="auto">
          <a:xfrm>
            <a:off x="323528" y="4128864"/>
            <a:ext cx="741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DINSTINCT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选修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ANY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选修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张三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)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AND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!=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</a:rPr>
              <a:t>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张三</a:t>
            </a:r>
            <a:r>
              <a:rPr lang="en-US" altLang="zh-CN" sz="2800" kern="0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’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26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36148"/>
              </p:ext>
            </p:extLst>
          </p:nvPr>
        </p:nvGraphicFramePr>
        <p:xfrm>
          <a:off x="6804025" y="5157788"/>
          <a:ext cx="720725" cy="109728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  <a:cs typeface="+mn-cs"/>
                        </a:rPr>
                        <a:t>选修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  <a:cs typeface="+mn-cs"/>
                        </a:rPr>
                        <a:t>K01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  <a:cs typeface="+mn-cs"/>
                        </a:rPr>
                        <a:t>K02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AutoShape 56"/>
          <p:cNvSpPr>
            <a:spLocks noChangeArrowheads="1"/>
          </p:cNvSpPr>
          <p:nvPr/>
        </p:nvSpPr>
        <p:spPr bwMode="auto">
          <a:xfrm rot="10800000">
            <a:off x="5795963" y="5300663"/>
            <a:ext cx="744537" cy="160337"/>
          </a:xfrm>
          <a:prstGeom prst="leftArrow">
            <a:avLst>
              <a:gd name="adj1" fmla="val 50000"/>
              <a:gd name="adj2" fmla="val 116089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AutoShape 57"/>
          <p:cNvSpPr>
            <a:spLocks noChangeArrowheads="1"/>
          </p:cNvSpPr>
          <p:nvPr/>
        </p:nvSpPr>
        <p:spPr bwMode="auto">
          <a:xfrm>
            <a:off x="6659563" y="3933825"/>
            <a:ext cx="1082675" cy="863600"/>
          </a:xfrm>
          <a:prstGeom prst="wedgeRoundRectCallout">
            <a:avLst>
              <a:gd name="adj1" fmla="val -19500"/>
              <a:gd name="adj2" fmla="val 7481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张三选修的课</a:t>
            </a:r>
          </a:p>
        </p:txBody>
      </p:sp>
    </p:spTree>
    <p:extLst>
      <p:ext uri="{BB962C8B-B14F-4D97-AF65-F5344CB8AC3E}">
        <p14:creationId xmlns:p14="http://schemas.microsoft.com/office/powerpoint/2010/main" val="26298738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21" name="Rectangle 4"/>
          <p:cNvSpPr txBox="1">
            <a:spLocks noChangeArrowheads="1"/>
          </p:cNvSpPr>
          <p:nvPr/>
        </p:nvSpPr>
        <p:spPr bwMode="auto">
          <a:xfrm>
            <a:off x="323528" y="909638"/>
            <a:ext cx="5761038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用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θ ANY/ALL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构造多值（多行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1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列）条件，其中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θ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为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=,&gt;,&lt;,&gt;=,&lt;=,!=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等比较运算符。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23552" y="2708920"/>
            <a:ext cx="568801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查询其它系中年龄比CS系全体教师年龄都小的教师姓名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323552" y="4005064"/>
            <a:ext cx="741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&lt; ALL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(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'CS')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AND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!= 'CS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20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16455"/>
              </p:ext>
            </p:extLst>
          </p:nvPr>
        </p:nvGraphicFramePr>
        <p:xfrm>
          <a:off x="6804025" y="5013325"/>
          <a:ext cx="720725" cy="1463676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AutoShape 22"/>
          <p:cNvSpPr>
            <a:spLocks noChangeArrowheads="1"/>
          </p:cNvSpPr>
          <p:nvPr/>
        </p:nvSpPr>
        <p:spPr bwMode="auto">
          <a:xfrm rot="10800000">
            <a:off x="5220072" y="5220495"/>
            <a:ext cx="744537" cy="160337"/>
          </a:xfrm>
          <a:prstGeom prst="leftArrow">
            <a:avLst>
              <a:gd name="adj1" fmla="val 50000"/>
              <a:gd name="adj2" fmla="val 116089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AutoShape 23"/>
          <p:cNvSpPr>
            <a:spLocks noChangeArrowheads="1"/>
          </p:cNvSpPr>
          <p:nvPr/>
        </p:nvSpPr>
        <p:spPr bwMode="auto">
          <a:xfrm>
            <a:off x="6659563" y="3789363"/>
            <a:ext cx="1441450" cy="863600"/>
          </a:xfrm>
          <a:prstGeom prst="wedgeRoundRectCallout">
            <a:avLst>
              <a:gd name="adj1" fmla="val -27093"/>
              <a:gd name="adj2" fmla="val 7481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CS系老师的年龄</a:t>
            </a: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</a:endParaRPr>
          </a:p>
        </p:txBody>
      </p:sp>
      <p:graphicFrame>
        <p:nvGraphicFramePr>
          <p:cNvPr id="31" name="Group 24"/>
          <p:cNvGraphicFramePr>
            <a:graphicFrameLocks noGrp="1"/>
          </p:cNvGraphicFramePr>
          <p:nvPr/>
        </p:nvGraphicFramePr>
        <p:xfrm>
          <a:off x="6804025" y="908050"/>
          <a:ext cx="2036763" cy="2438400"/>
        </p:xfrm>
        <a:graphic>
          <a:graphicData uri="http://schemas.openxmlformats.org/drawingml/2006/table">
            <a:tbl>
              <a:tblPr/>
              <a:tblGrid>
                <a:gridCol w="83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李华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王军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孙六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赵龙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周艺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钟伟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" name="Rectangle 62"/>
          <p:cNvSpPr>
            <a:spLocks noChangeArrowheads="1"/>
          </p:cNvSpPr>
          <p:nvPr/>
        </p:nvSpPr>
        <p:spPr bwMode="auto">
          <a:xfrm>
            <a:off x="6443663" y="836613"/>
            <a:ext cx="17312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0483108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23" name="Rectangle 4"/>
          <p:cNvSpPr txBox="1">
            <a:spLocks noChangeArrowheads="1"/>
          </p:cNvSpPr>
          <p:nvPr/>
        </p:nvSpPr>
        <p:spPr bwMode="auto">
          <a:xfrm>
            <a:off x="539750" y="1412875"/>
            <a:ext cx="5040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IN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  </a:t>
            </a:r>
            <a:r>
              <a:rPr kumimoji="1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等价于 </a:t>
            </a:r>
            <a:r>
              <a:rPr kumimoji="1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微软雅黑" pitchFamily="34" charset="-122"/>
                <a:cs typeface="+mn-cs"/>
              </a:rPr>
              <a:t>= ANY</a:t>
            </a:r>
            <a:endParaRPr kumimoji="1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  <a:ea typeface="微软雅黑" pitchFamily="34" charset="-122"/>
              <a:cs typeface="+mn-cs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41338" y="4149725"/>
            <a:ext cx="741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选修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(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选修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张三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)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AND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!= 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张三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graphicFrame>
        <p:nvGraphicFramePr>
          <p:cNvPr id="25" name="Group 71"/>
          <p:cNvGraphicFramePr>
            <a:graphicFrameLocks noGrp="1"/>
          </p:cNvGraphicFramePr>
          <p:nvPr/>
        </p:nvGraphicFramePr>
        <p:xfrm>
          <a:off x="7092950" y="765175"/>
          <a:ext cx="1554163" cy="3017839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选修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孙七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吴八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Rectangle 54"/>
          <p:cNvSpPr>
            <a:spLocks noChangeArrowheads="1"/>
          </p:cNvSpPr>
          <p:nvPr/>
        </p:nvSpPr>
        <p:spPr bwMode="auto">
          <a:xfrm>
            <a:off x="6588125" y="836613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sp>
        <p:nvSpPr>
          <p:cNvPr id="27" name="Rectangle 55"/>
          <p:cNvSpPr>
            <a:spLocks noChangeArrowheads="1"/>
          </p:cNvSpPr>
          <p:nvPr/>
        </p:nvSpPr>
        <p:spPr bwMode="auto">
          <a:xfrm>
            <a:off x="480218" y="2780928"/>
            <a:ext cx="5688013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查询至少有一门课和张三相同的学生姓名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且结果中不能有张三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28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755905"/>
              </p:ext>
            </p:extLst>
          </p:nvPr>
        </p:nvGraphicFramePr>
        <p:xfrm>
          <a:off x="7019925" y="5373688"/>
          <a:ext cx="720725" cy="10080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选修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K02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AutoShape 66"/>
          <p:cNvSpPr>
            <a:spLocks noChangeArrowheads="1"/>
          </p:cNvSpPr>
          <p:nvPr/>
        </p:nvSpPr>
        <p:spPr bwMode="auto">
          <a:xfrm rot="11673038">
            <a:off x="5795963" y="5445125"/>
            <a:ext cx="744537" cy="160338"/>
          </a:xfrm>
          <a:prstGeom prst="leftArrow">
            <a:avLst>
              <a:gd name="adj1" fmla="val 50000"/>
              <a:gd name="adj2" fmla="val 116089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AutoShape 67"/>
          <p:cNvSpPr>
            <a:spLocks noChangeArrowheads="1"/>
          </p:cNvSpPr>
          <p:nvPr/>
        </p:nvSpPr>
        <p:spPr bwMode="auto">
          <a:xfrm>
            <a:off x="6875463" y="4149725"/>
            <a:ext cx="1082675" cy="863600"/>
          </a:xfrm>
          <a:prstGeom prst="wedgeRoundRectCallout">
            <a:avLst>
              <a:gd name="adj1" fmla="val -19500"/>
              <a:gd name="adj2" fmla="val 7481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张三选修的课</a:t>
            </a:r>
          </a:p>
        </p:txBody>
      </p:sp>
    </p:spTree>
    <p:extLst>
      <p:ext uri="{BB962C8B-B14F-4D97-AF65-F5344CB8AC3E}">
        <p14:creationId xmlns:p14="http://schemas.microsoft.com/office/powerpoint/2010/main" val="8149133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 bwMode="auto">
          <a:xfrm>
            <a:off x="250825" y="1052736"/>
            <a:ext cx="8424863" cy="4875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5000"/>
              </a:spcAft>
              <a:buClr>
                <a:srgbClr val="66FF33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前面的子查询都是可独立执行的，不依赖父查询表，称为</a:t>
            </a:r>
            <a:r>
              <a:rPr kumimoji="1" lang="zh-CN" altLang="en-US" b="1" kern="0" dirty="0">
                <a:solidFill>
                  <a:srgbClr val="00FFFF"/>
                </a:solidFill>
                <a:latin typeface="楷体_GB2312" pitchFamily="49" charset="-122"/>
              </a:rPr>
              <a:t>不相关子查询</a:t>
            </a:r>
            <a:endParaRPr kumimoji="1" lang="en-US" altLang="zh-CN" b="1" kern="0" dirty="0">
              <a:solidFill>
                <a:srgbClr val="00FFFF"/>
              </a:solidFill>
              <a:latin typeface="楷体_GB2312" pitchFamily="49" charset="-122"/>
            </a:endParaRPr>
          </a:p>
          <a:p>
            <a:pPr eaLnBrk="1" hangingPunct="1">
              <a:spcAft>
                <a:spcPct val="55000"/>
              </a:spcAft>
              <a:buFont typeface="Arial" pitchFamily="34" charset="0"/>
              <a:buChar char="•"/>
              <a:defRPr/>
            </a:pPr>
            <a:r>
              <a:rPr kumimoji="1" lang="zh-CN" altLang="en-US" kern="0" dirty="0">
                <a:latin typeface="楷体_GB2312" pitchFamily="49" charset="-122"/>
              </a:rPr>
              <a:t>构造子查询的查询条件时要引用父查询表的某个属性列，这种查询称为</a:t>
            </a:r>
            <a:r>
              <a:rPr kumimoji="1" lang="zh-CN" altLang="en-US" b="1" kern="0" dirty="0">
                <a:solidFill>
                  <a:srgbClr val="00FFFF"/>
                </a:solidFill>
                <a:latin typeface="楷体_GB2312" pitchFamily="49" charset="-122"/>
              </a:rPr>
              <a:t>相关子查询</a:t>
            </a:r>
            <a:r>
              <a:rPr kumimoji="1" lang="zh-CN" altLang="en-US" kern="0" dirty="0" smtClean="0">
                <a:latin typeface="楷体_GB2312" pitchFamily="49" charset="-122"/>
              </a:rPr>
              <a:t>。</a:t>
            </a:r>
            <a:endParaRPr kumimoji="1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5000"/>
              </a:spcAft>
              <a:buClr>
                <a:srgbClr val="66FF33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1" lang="zh-CN" altLang="en-US" kern="0" dirty="0">
                <a:latin typeface="楷体_GB2312" pitchFamily="49" charset="-122"/>
              </a:rPr>
              <a:t>相关子查询是无法独立执行时，因为它必然含有对父查询表中元组分量的</a:t>
            </a:r>
            <a:r>
              <a:rPr kumimoji="1" lang="zh-CN" altLang="en-US" kern="0" dirty="0" smtClean="0">
                <a:latin typeface="楷体_GB2312" pitchFamily="49" charset="-122"/>
              </a:rPr>
              <a:t>引用</a:t>
            </a:r>
            <a:endParaRPr kumimoji="1" lang="en-US" altLang="zh-CN" kern="0" dirty="0" smtClean="0">
              <a:latin typeface="楷体_GB2312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5000"/>
              </a:spcAft>
              <a:buClr>
                <a:srgbClr val="66FF33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1" lang="zh-CN" altLang="en-US" kern="0" dirty="0" smtClean="0">
                <a:latin typeface="楷体_GB2312" pitchFamily="49" charset="-122"/>
              </a:rPr>
              <a:t>最常见的相关子查询是</a:t>
            </a:r>
            <a:r>
              <a:rPr kumimoji="1" lang="en-US" altLang="zh-CN" b="1" kern="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EXISTS</a:t>
            </a:r>
            <a:r>
              <a:rPr kumimoji="1" lang="zh-CN" altLang="en-US" kern="0" dirty="0" smtClean="0">
                <a:latin typeface="楷体_GB2312" pitchFamily="49" charset="-122"/>
              </a:rPr>
              <a:t>引导的子查询</a:t>
            </a:r>
            <a:endParaRPr kumimoji="1" lang="en-US" altLang="zh-CN" kern="0" dirty="0">
              <a:latin typeface="楷体_GB2312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5000"/>
              </a:spcAft>
              <a:buClr>
                <a:srgbClr val="66FF33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cs typeface="Times New Roman" pitchFamily="18" charset="0"/>
              </a:rPr>
              <a:t>EXISTS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 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sym typeface="Symbol" pitchFamily="18" charset="2"/>
              </a:rPr>
              <a:t>引导的子查询不返回数据，而是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sym typeface="Symbol" pitchFamily="18" charset="2"/>
              </a:rPr>
              <a:t>返回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是否存在子查询元组的</a:t>
            </a:r>
            <a:r>
              <a:rPr kumimoji="1" lang="zh-CN" altLang="en-US" kern="0" dirty="0">
                <a:solidFill>
                  <a:srgbClr val="FFCC00"/>
                </a:solidFill>
                <a:latin typeface="楷体_GB2312" pitchFamily="49" charset="-122"/>
              </a:rPr>
              <a:t>判断</a:t>
            </a:r>
            <a:r>
              <a:rPr kumimoji="1" lang="en-US" altLang="zh-CN" kern="0" dirty="0">
                <a:solidFill>
                  <a:srgbClr val="FFCC00"/>
                </a:solidFill>
                <a:latin typeface="楷体_GB2312" pitchFamily="49" charset="-122"/>
              </a:rPr>
              <a:t>(</a:t>
            </a:r>
            <a:r>
              <a:rPr kumimoji="1" lang="zh-CN" altLang="en-US" kern="0" dirty="0">
                <a:solidFill>
                  <a:srgbClr val="FFCC00"/>
                </a:solidFill>
                <a:latin typeface="楷体_GB2312" pitchFamily="49" charset="-122"/>
              </a:rPr>
              <a:t>真</a:t>
            </a:r>
            <a:r>
              <a:rPr kumimoji="1" lang="en-US" altLang="zh-CN" kern="0" dirty="0">
                <a:solidFill>
                  <a:srgbClr val="FFCC00"/>
                </a:solidFill>
                <a:latin typeface="楷体_GB2312" pitchFamily="49" charset="-122"/>
              </a:rPr>
              <a:t>/</a:t>
            </a:r>
            <a:r>
              <a:rPr kumimoji="1" lang="zh-CN" altLang="en-US" kern="0" dirty="0">
                <a:solidFill>
                  <a:srgbClr val="FFCC00"/>
                </a:solidFill>
                <a:latin typeface="楷体_GB2312" pitchFamily="49" charset="-122"/>
              </a:rPr>
              <a:t>假</a:t>
            </a:r>
            <a:r>
              <a:rPr kumimoji="1" lang="en-US" altLang="zh-CN" kern="0" dirty="0" smtClean="0">
                <a:solidFill>
                  <a:srgbClr val="FFCC00"/>
                </a:solidFill>
                <a:latin typeface="楷体_GB2312" pitchFamily="49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，主查询根据该判断来</a:t>
            </a:r>
            <a:r>
              <a:rPr kumimoji="1" lang="zh-CN" altLang="en-US" kern="0" dirty="0">
                <a:solidFill>
                  <a:srgbClr val="FFCC00"/>
                </a:solidFill>
                <a:latin typeface="楷体_GB2312" pitchFamily="49" charset="-122"/>
              </a:rPr>
              <a:t>逐条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取舍元组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811614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684213" y="3213100"/>
            <a:ext cx="76327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spcAft>
                <a:spcPct val="80000"/>
              </a:spcAft>
              <a:buClr>
                <a:schemeClr val="tx1"/>
              </a:buClr>
              <a:buSzPct val="85000"/>
              <a:defRPr/>
            </a:pPr>
            <a:r>
              <a:rPr kumimoji="0" lang="zh-CN" alt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查询至少有一门课不及格的学生姓名</a:t>
            </a:r>
            <a:endParaRPr kumimoji="0" lang="en-US" altLang="zh-CN" sz="28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30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220441"/>
              </p:ext>
            </p:extLst>
          </p:nvPr>
        </p:nvGraphicFramePr>
        <p:xfrm>
          <a:off x="755650" y="1196628"/>
          <a:ext cx="3124200" cy="1524000"/>
        </p:xfrm>
        <a:graphic>
          <a:graphicData uri="http://schemas.openxmlformats.org/drawingml/2006/table">
            <a:tbl>
              <a:tblPr/>
              <a:tblGrid>
                <a:gridCol w="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ectangle 51"/>
          <p:cNvSpPr>
            <a:spLocks noChangeArrowheads="1"/>
          </p:cNvSpPr>
          <p:nvPr/>
        </p:nvSpPr>
        <p:spPr bwMode="auto">
          <a:xfrm>
            <a:off x="252413" y="1196628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32" name="Group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457163"/>
              </p:ext>
            </p:extLst>
          </p:nvPr>
        </p:nvGraphicFramePr>
        <p:xfrm>
          <a:off x="6372225" y="980728"/>
          <a:ext cx="2305050" cy="1828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Rectangle 90"/>
          <p:cNvSpPr>
            <a:spLocks noChangeArrowheads="1"/>
          </p:cNvSpPr>
          <p:nvPr/>
        </p:nvSpPr>
        <p:spPr bwMode="auto">
          <a:xfrm>
            <a:off x="5899150" y="1009303"/>
            <a:ext cx="344646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SC</a:t>
            </a:r>
          </a:p>
        </p:txBody>
      </p:sp>
      <p:sp>
        <p:nvSpPr>
          <p:cNvPr id="34" name="Rectangle 91"/>
          <p:cNvSpPr>
            <a:spLocks noChangeArrowheads="1"/>
          </p:cNvSpPr>
          <p:nvPr/>
        </p:nvSpPr>
        <p:spPr bwMode="auto">
          <a:xfrm>
            <a:off x="684213" y="3933825"/>
            <a:ext cx="741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EXISTS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(SELECT * FROM SC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WHERE SC.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AND SC.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成绩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&lt; 60 )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35" name="AutoShape 92"/>
          <p:cNvSpPr>
            <a:spLocks noChangeArrowheads="1"/>
          </p:cNvSpPr>
          <p:nvPr/>
        </p:nvSpPr>
        <p:spPr bwMode="auto">
          <a:xfrm>
            <a:off x="5003800" y="4005263"/>
            <a:ext cx="3743325" cy="360362"/>
          </a:xfrm>
          <a:prstGeom prst="roundRect">
            <a:avLst/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每一个学生都要做判断</a:t>
            </a:r>
          </a:p>
        </p:txBody>
      </p:sp>
      <p:sp>
        <p:nvSpPr>
          <p:cNvPr id="36" name="AutoShape 93"/>
          <p:cNvSpPr>
            <a:spLocks noChangeArrowheads="1"/>
          </p:cNvSpPr>
          <p:nvPr/>
        </p:nvSpPr>
        <p:spPr bwMode="auto">
          <a:xfrm rot="10800000" flipH="1">
            <a:off x="4500563" y="4149725"/>
            <a:ext cx="287337" cy="142875"/>
          </a:xfrm>
          <a:prstGeom prst="leftArrow">
            <a:avLst>
              <a:gd name="adj1" fmla="val 50000"/>
              <a:gd name="adj2" fmla="val 50278"/>
            </a:avLst>
          </a:prstGeom>
          <a:gradFill rotWithShape="1">
            <a:gsLst>
              <a:gs pos="0">
                <a:srgbClr val="B0A0F2"/>
              </a:gs>
              <a:gs pos="50000">
                <a:srgbClr val="B0A0F2">
                  <a:gamma/>
                  <a:tint val="24314"/>
                  <a:invGamma/>
                </a:srgbClr>
              </a:gs>
              <a:gs pos="100000">
                <a:srgbClr val="B0A0F2"/>
              </a:gs>
            </a:gsLst>
            <a:lin ang="18900000" scaled="1"/>
          </a:gradFill>
          <a:ln w="28575" cap="sq" algn="ctr">
            <a:solidFill>
              <a:srgbClr val="FF0000"/>
            </a:solidFill>
            <a:miter lim="800000"/>
            <a:headEnd/>
            <a:tailEnd/>
          </a:ln>
          <a:effectLst>
            <a:outerShdw dist="53882" dir="2700000" algn="ctr" rotWithShape="0">
              <a:srgbClr val="000514">
                <a:alpha val="50000"/>
              </a:srgbClr>
            </a:outerShdw>
          </a:effectLst>
        </p:spPr>
        <p:txBody>
          <a:bodyPr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AutoShape 94"/>
          <p:cNvSpPr>
            <a:spLocks noChangeArrowheads="1"/>
          </p:cNvSpPr>
          <p:nvPr/>
        </p:nvSpPr>
        <p:spPr bwMode="auto">
          <a:xfrm>
            <a:off x="6443663" y="4868863"/>
            <a:ext cx="1584325" cy="1296987"/>
          </a:xfrm>
          <a:prstGeom prst="wedgeRoundRectCallout">
            <a:avLst>
              <a:gd name="adj1" fmla="val -85972"/>
              <a:gd name="adj2" fmla="val -15727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查询该学生的不及格的课程</a:t>
            </a:r>
          </a:p>
        </p:txBody>
      </p:sp>
    </p:spTree>
    <p:extLst>
      <p:ext uri="{BB962C8B-B14F-4D97-AF65-F5344CB8AC3E}">
        <p14:creationId xmlns:p14="http://schemas.microsoft.com/office/powerpoint/2010/main" val="4342982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84213" y="3213100"/>
            <a:ext cx="76327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spcAft>
                <a:spcPct val="80000"/>
              </a:spcAft>
              <a:buClr>
                <a:schemeClr val="tx1"/>
              </a:buClr>
              <a:buSzPct val="85000"/>
              <a:defRPr/>
            </a:pPr>
            <a:r>
              <a:rPr kumimoji="0" lang="zh-CN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查询所有课程都及格了的学生姓名</a:t>
            </a:r>
            <a:endParaRPr kumimoji="0" lang="en-US" altLang="zh-CN" sz="28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14" name="Group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85733"/>
              </p:ext>
            </p:extLst>
          </p:nvPr>
        </p:nvGraphicFramePr>
        <p:xfrm>
          <a:off x="755650" y="1096020"/>
          <a:ext cx="3124200" cy="1524000"/>
        </p:xfrm>
        <a:graphic>
          <a:graphicData uri="http://schemas.openxmlformats.org/drawingml/2006/table">
            <a:tbl>
              <a:tblPr/>
              <a:tblGrid>
                <a:gridCol w="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51"/>
          <p:cNvSpPr>
            <a:spLocks noChangeArrowheads="1"/>
          </p:cNvSpPr>
          <p:nvPr/>
        </p:nvSpPr>
        <p:spPr bwMode="auto">
          <a:xfrm>
            <a:off x="252413" y="1096020"/>
            <a:ext cx="330219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</a:p>
        </p:txBody>
      </p:sp>
      <p:graphicFrame>
        <p:nvGraphicFramePr>
          <p:cNvPr id="16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867651"/>
              </p:ext>
            </p:extLst>
          </p:nvPr>
        </p:nvGraphicFramePr>
        <p:xfrm>
          <a:off x="6372225" y="880120"/>
          <a:ext cx="2305050" cy="1828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90"/>
          <p:cNvSpPr>
            <a:spLocks noChangeArrowheads="1"/>
          </p:cNvSpPr>
          <p:nvPr/>
        </p:nvSpPr>
        <p:spPr bwMode="auto">
          <a:xfrm>
            <a:off x="5899150" y="908695"/>
            <a:ext cx="344646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SC</a:t>
            </a:r>
          </a:p>
        </p:txBody>
      </p:sp>
      <p:sp>
        <p:nvSpPr>
          <p:cNvPr id="18" name="Rectangle 91"/>
          <p:cNvSpPr>
            <a:spLocks noChangeArrowheads="1"/>
          </p:cNvSpPr>
          <p:nvPr/>
        </p:nvSpPr>
        <p:spPr bwMode="auto">
          <a:xfrm>
            <a:off x="684213" y="3933825"/>
            <a:ext cx="741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ST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NOT EXISTS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(SELECT * FROM SC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WHERE SC.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ST.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1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AND SC.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成绩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&lt; 60)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itchFamily="18" charset="0"/>
            </a:endParaRPr>
          </a:p>
        </p:txBody>
      </p:sp>
      <p:sp>
        <p:nvSpPr>
          <p:cNvPr id="19" name="AutoShape 92"/>
          <p:cNvSpPr>
            <a:spLocks noChangeArrowheads="1"/>
          </p:cNvSpPr>
          <p:nvPr/>
        </p:nvSpPr>
        <p:spPr bwMode="auto">
          <a:xfrm>
            <a:off x="6300788" y="4365625"/>
            <a:ext cx="2016125" cy="1223963"/>
          </a:xfrm>
          <a:prstGeom prst="wedgeRoundRectCallout">
            <a:avLst>
              <a:gd name="adj1" fmla="val -78269"/>
              <a:gd name="adj2" fmla="val -2009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其实就是不存在该学生的不及格的课程</a:t>
            </a:r>
          </a:p>
        </p:txBody>
      </p:sp>
    </p:spTree>
    <p:extLst>
      <p:ext uri="{BB962C8B-B14F-4D97-AF65-F5344CB8AC3E}">
        <p14:creationId xmlns:p14="http://schemas.microsoft.com/office/powerpoint/2010/main" val="33670999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55030" y="1391445"/>
            <a:ext cx="45164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lang="zh-CN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查询学生的姓名及其所选课程的数量</a:t>
            </a:r>
            <a:endParaRPr lang="en-US" altLang="zh-CN" sz="28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5" name="Group 5"/>
          <p:cNvGraphicFramePr>
            <a:graphicFrameLocks noGrp="1"/>
          </p:cNvGraphicFramePr>
          <p:nvPr/>
        </p:nvGraphicFramePr>
        <p:xfrm>
          <a:off x="5795963" y="836613"/>
          <a:ext cx="3124200" cy="1524000"/>
        </p:xfrm>
        <a:graphic>
          <a:graphicData uri="http://schemas.openxmlformats.org/drawingml/2006/table">
            <a:tbl>
              <a:tblPr/>
              <a:tblGrid>
                <a:gridCol w="712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51"/>
          <p:cNvSpPr>
            <a:spLocks noChangeArrowheads="1"/>
          </p:cNvSpPr>
          <p:nvPr/>
        </p:nvSpPr>
        <p:spPr bwMode="auto">
          <a:xfrm>
            <a:off x="5292725" y="836613"/>
            <a:ext cx="327025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ST</a:t>
            </a:r>
          </a:p>
        </p:txBody>
      </p:sp>
      <p:graphicFrame>
        <p:nvGraphicFramePr>
          <p:cNvPr id="27" name="Group 52"/>
          <p:cNvGraphicFramePr>
            <a:graphicFrameLocks noGrp="1"/>
          </p:cNvGraphicFramePr>
          <p:nvPr/>
        </p:nvGraphicFramePr>
        <p:xfrm>
          <a:off x="6516688" y="2924175"/>
          <a:ext cx="2305050" cy="1828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ectangle 90"/>
          <p:cNvSpPr>
            <a:spLocks noChangeArrowheads="1"/>
          </p:cNvSpPr>
          <p:nvPr/>
        </p:nvSpPr>
        <p:spPr bwMode="auto">
          <a:xfrm>
            <a:off x="6659563" y="2563813"/>
            <a:ext cx="341312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SC</a:t>
            </a:r>
          </a:p>
        </p:txBody>
      </p:sp>
      <p:sp>
        <p:nvSpPr>
          <p:cNvPr id="29" name="AutoShape 91"/>
          <p:cNvSpPr>
            <a:spLocks noChangeArrowheads="1"/>
          </p:cNvSpPr>
          <p:nvPr/>
        </p:nvSpPr>
        <p:spPr bwMode="auto">
          <a:xfrm>
            <a:off x="5003800" y="5876925"/>
            <a:ext cx="3097213" cy="531813"/>
          </a:xfrm>
          <a:prstGeom prst="wedgeRoundRectCallout">
            <a:avLst>
              <a:gd name="adj1" fmla="val -36111"/>
              <a:gd name="adj2" fmla="val -91194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嵌在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SELECT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子句中</a:t>
            </a:r>
          </a:p>
        </p:txBody>
      </p:sp>
      <p:sp>
        <p:nvSpPr>
          <p:cNvPr id="30" name="Rectangle 92"/>
          <p:cNvSpPr>
            <a:spLocks noChangeArrowheads="1"/>
          </p:cNvSpPr>
          <p:nvPr/>
        </p:nvSpPr>
        <p:spPr bwMode="auto">
          <a:xfrm>
            <a:off x="539750" y="2708275"/>
            <a:ext cx="7416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SELECT 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姓名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,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SELECT COUNT(*) 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FROM SC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WHERE SC.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学号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=ST.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学号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)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AS 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课程数</a:t>
            </a:r>
          </a:p>
          <a:p>
            <a:pPr algn="just" fontAlgn="base">
              <a:spcBef>
                <a:spcPct val="0"/>
              </a:spcBef>
              <a:spcAft>
                <a:spcPct val="15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FROM ST</a:t>
            </a:r>
          </a:p>
        </p:txBody>
      </p:sp>
    </p:spTree>
    <p:extLst>
      <p:ext uri="{BB962C8B-B14F-4D97-AF65-F5344CB8AC3E}">
        <p14:creationId xmlns:p14="http://schemas.microsoft.com/office/powerpoint/2010/main" val="2619412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嵌套</a:t>
            </a: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39750" y="1409300"/>
            <a:ext cx="45164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8000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lang="zh-CN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查询学生的姓名及其所选课程的数量</a:t>
            </a:r>
            <a:endParaRPr lang="en-US" altLang="zh-CN" sz="28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1" name="Group 5"/>
          <p:cNvGraphicFramePr>
            <a:graphicFrameLocks noGrp="1"/>
          </p:cNvGraphicFramePr>
          <p:nvPr/>
        </p:nvGraphicFramePr>
        <p:xfrm>
          <a:off x="5795963" y="836613"/>
          <a:ext cx="3124200" cy="1524000"/>
        </p:xfrm>
        <a:graphic>
          <a:graphicData uri="http://schemas.openxmlformats.org/drawingml/2006/table">
            <a:tbl>
              <a:tblPr/>
              <a:tblGrid>
                <a:gridCol w="712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98004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51"/>
          <p:cNvSpPr>
            <a:spLocks noChangeArrowheads="1"/>
          </p:cNvSpPr>
          <p:nvPr/>
        </p:nvSpPr>
        <p:spPr bwMode="auto">
          <a:xfrm>
            <a:off x="5292725" y="836613"/>
            <a:ext cx="327025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ST</a:t>
            </a:r>
          </a:p>
        </p:txBody>
      </p:sp>
      <p:graphicFrame>
        <p:nvGraphicFramePr>
          <p:cNvPr id="13" name="Group 52"/>
          <p:cNvGraphicFramePr>
            <a:graphicFrameLocks noGrp="1"/>
          </p:cNvGraphicFramePr>
          <p:nvPr/>
        </p:nvGraphicFramePr>
        <p:xfrm>
          <a:off x="6516688" y="2924175"/>
          <a:ext cx="2305050" cy="1828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课号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47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80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90"/>
          <p:cNvSpPr>
            <a:spLocks noChangeArrowheads="1"/>
          </p:cNvSpPr>
          <p:nvPr/>
        </p:nvSpPr>
        <p:spPr bwMode="auto">
          <a:xfrm>
            <a:off x="6659563" y="2563813"/>
            <a:ext cx="341312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SC</a:t>
            </a:r>
          </a:p>
        </p:txBody>
      </p:sp>
      <p:sp>
        <p:nvSpPr>
          <p:cNvPr id="15" name="Rectangle 91"/>
          <p:cNvSpPr>
            <a:spLocks noChangeArrowheads="1"/>
          </p:cNvSpPr>
          <p:nvPr/>
        </p:nvSpPr>
        <p:spPr bwMode="auto">
          <a:xfrm>
            <a:off x="539750" y="2852738"/>
            <a:ext cx="7416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SELECT Tmp.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姓名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,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COUNT(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课号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) AS 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课程数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FROM 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SELECT 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姓名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课号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FROM ST LEFT JOIN SC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On SC.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学号</a:t>
            </a: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=ST.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学号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)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AS Tmp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GROUP By Tmp.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姓名</a:t>
            </a:r>
            <a:endParaRPr kumimoji="1" lang="en-US" altLang="zh-CN" sz="280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AutoShape 92"/>
          <p:cNvSpPr>
            <a:spLocks noChangeArrowheads="1"/>
          </p:cNvSpPr>
          <p:nvPr/>
        </p:nvSpPr>
        <p:spPr bwMode="auto">
          <a:xfrm>
            <a:off x="5148263" y="5949950"/>
            <a:ext cx="2808287" cy="531813"/>
          </a:xfrm>
          <a:prstGeom prst="wedgeRoundRectCallout">
            <a:avLst>
              <a:gd name="adj1" fmla="val -34681"/>
              <a:gd name="adj2" fmla="val -91194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嵌在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FROM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楷体_GB2312" pitchFamily="49" charset="-122"/>
              </a:rPr>
              <a:t>子句中</a:t>
            </a:r>
          </a:p>
        </p:txBody>
      </p:sp>
    </p:spTree>
    <p:extLst>
      <p:ext uri="{BB962C8B-B14F-4D97-AF65-F5344CB8AC3E}">
        <p14:creationId xmlns:p14="http://schemas.microsoft.com/office/powerpoint/2010/main" val="22566360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插入数据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53988" y="1412875"/>
            <a:ext cx="8534400" cy="68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>
                <a:tab pos="38100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插入单个元组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	INSERT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INTO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  [(&lt;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&gt;[,&lt;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&gt;]...)]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	VALUES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(&lt;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常量1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 [,&lt;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常量2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&gt;]...)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17" name="Group 5"/>
          <p:cNvGraphicFramePr>
            <a:graphicFrameLocks noGrp="1"/>
          </p:cNvGraphicFramePr>
          <p:nvPr/>
        </p:nvGraphicFramePr>
        <p:xfrm>
          <a:off x="4787900" y="765175"/>
          <a:ext cx="3733800" cy="1098552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49"/>
          <p:cNvSpPr>
            <a:spLocks noChangeArrowheads="1"/>
          </p:cNvSpPr>
          <p:nvPr/>
        </p:nvSpPr>
        <p:spPr bwMode="auto">
          <a:xfrm>
            <a:off x="420688" y="3356992"/>
            <a:ext cx="8267700" cy="9366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85738" marR="0" lvl="0" indent="-185738" defTabSz="914400" eaLnBrk="1" fontAlgn="auto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FFFFFF"/>
              </a:buClr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如果表名后不指明任何列名，那么必须在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VALUES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子句中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依次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给出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全部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列值。</a:t>
            </a:r>
          </a:p>
        </p:txBody>
      </p:sp>
      <p:sp>
        <p:nvSpPr>
          <p:cNvPr id="21" name="Rectangle 50"/>
          <p:cNvSpPr>
            <a:spLocks noChangeArrowheads="1"/>
          </p:cNvSpPr>
          <p:nvPr/>
        </p:nvSpPr>
        <p:spPr bwMode="auto">
          <a:xfrm>
            <a:off x="684213" y="4653136"/>
            <a:ext cx="8064500" cy="7937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为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IS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系增加一名学号为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98004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，来自成都的名叫陈宇的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19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岁女学生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:</a:t>
            </a:r>
            <a:endParaRPr kumimoji="0" lang="en-US" altLang="zh-CN" sz="2600" b="0" i="0" u="none" strike="noStrike" kern="0" cap="none" spc="0" normalizeH="0" baseline="0" noProof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2" name="Rectangle 51"/>
          <p:cNvSpPr>
            <a:spLocks noChangeArrowheads="1"/>
          </p:cNvSpPr>
          <p:nvPr/>
        </p:nvSpPr>
        <p:spPr bwMode="auto">
          <a:xfrm>
            <a:off x="4508500" y="736600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24" name="Rectangle 48"/>
          <p:cNvSpPr>
            <a:spLocks noChangeArrowheads="1"/>
          </p:cNvSpPr>
          <p:nvPr/>
        </p:nvSpPr>
        <p:spPr bwMode="auto">
          <a:xfrm>
            <a:off x="685800" y="5589240"/>
            <a:ext cx="8202613" cy="86177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INSERT INTO S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VALUES('98004','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陈宇','女',19,'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IS','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成都')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6464421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插入数据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53988" y="1412875"/>
            <a:ext cx="8534400" cy="68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>
                <a:tab pos="38100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插入单个元组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	INSERT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INTO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  [(&lt;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&gt;[,&lt;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&gt;]...)]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	VALUES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(&lt;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常量1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 [,&lt;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常量2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&gt;]...)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17" name="Group 5"/>
          <p:cNvGraphicFramePr>
            <a:graphicFrameLocks noGrp="1"/>
          </p:cNvGraphicFramePr>
          <p:nvPr/>
        </p:nvGraphicFramePr>
        <p:xfrm>
          <a:off x="4787900" y="765175"/>
          <a:ext cx="3733800" cy="1098552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Rectangle 51"/>
          <p:cNvSpPr>
            <a:spLocks noChangeArrowheads="1"/>
          </p:cNvSpPr>
          <p:nvPr/>
        </p:nvSpPr>
        <p:spPr bwMode="auto">
          <a:xfrm>
            <a:off x="4508500" y="736600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730250" y="5667375"/>
            <a:ext cx="8202613" cy="8540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defRPr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INSERT INTO S(</a:t>
            </a:r>
            <a:r>
              <a:rPr kumimoji="1" lang="zh-CN" alt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姓名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</a:t>
            </a:r>
            <a:r>
              <a:rPr kumimoji="1" lang="zh-CN" altLang="en-US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学号</a:t>
            </a: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85000"/>
              <a:buFont typeface="Wingdings" pitchFamily="2" charset="2"/>
              <a:buNone/>
              <a:defRPr/>
            </a:pPr>
            <a:r>
              <a:rPr kumimoji="1" lang="en-US" altLang="zh-CN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VALUES</a:t>
            </a:r>
            <a:r>
              <a:rPr kumimoji="1" lang="en-US" altLang="zh-CN" sz="28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('</a:t>
            </a:r>
            <a:r>
              <a:rPr kumimoji="1" lang="zh-CN" altLang="en-US" sz="28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邓红'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,</a:t>
            </a:r>
            <a:r>
              <a:rPr kumimoji="1" lang="en-US" altLang="zh-CN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'98005'</a:t>
            </a:r>
            <a:r>
              <a:rPr kumimoji="1" lang="zh-CN" altLang="en-US" sz="280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 </a:t>
            </a:r>
            <a:r>
              <a:rPr kumimoji="1"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;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68313" y="3213100"/>
            <a:ext cx="8424862" cy="1676400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85738" indent="-185738" fontAlgn="base">
              <a:spcBef>
                <a:spcPct val="15000"/>
              </a:spcBef>
              <a:spcAft>
                <a:spcPct val="0"/>
              </a:spcAft>
              <a:buClr>
                <a:srgbClr val="FFFFFF"/>
              </a:buClr>
              <a:buFontTx/>
              <a:buChar char="•"/>
              <a:defRPr/>
            </a:pP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如果为表指明了某几个列名</a:t>
            </a:r>
            <a:r>
              <a:rPr kumimoji="1" lang="en-US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</a:t>
            </a: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不必按表中的顺序</a:t>
            </a:r>
            <a:r>
              <a:rPr kumimoji="1" lang="en-US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，则需在</a:t>
            </a:r>
            <a:r>
              <a:rPr kumimoji="1" lang="en-US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VALUES</a:t>
            </a: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子句中依次给出与这些列名对应的列值，而未指明的列将会根据表的结构定义被置为默认值或空值</a:t>
            </a:r>
            <a:r>
              <a:rPr kumimoji="1" lang="en-US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(</a:t>
            </a: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注意某些列可能被定义为不能取空值</a:t>
            </a:r>
            <a:r>
              <a:rPr kumimoji="1" lang="en-US" altLang="zh-CN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)</a:t>
            </a:r>
            <a:r>
              <a:rPr kumimoji="1" lang="zh-CN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。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84213" y="5189538"/>
            <a:ext cx="8064500" cy="3968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 typeface="Wingdings" pitchFamily="2" charset="2"/>
              <a:buNone/>
              <a:defRPr/>
            </a:pPr>
            <a:r>
              <a:rPr kumimoji="1" lang="zh-CN" altLang="en-US" sz="2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增加一名学号为</a:t>
            </a:r>
            <a:r>
              <a:rPr kumimoji="1" lang="en-US" altLang="zh-CN" sz="2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98005</a:t>
            </a:r>
            <a:r>
              <a:rPr kumimoji="1" lang="zh-CN" altLang="en-US" sz="2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，名叫邓红的学生</a:t>
            </a:r>
            <a:r>
              <a:rPr kumimoji="1" lang="en-US" altLang="zh-CN" sz="2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:</a:t>
            </a:r>
            <a:endParaRPr kumimoji="1" lang="en-US" altLang="zh-CN" sz="260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889699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插入数据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179388" y="1303040"/>
            <a:ext cx="8534400" cy="68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8775" indent="-358775">
              <a:spcAft>
                <a:spcPct val="1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2"/>
              </a:buBlip>
              <a:tabLst>
                <a:tab pos="381000" algn="l"/>
              </a:tabLst>
              <a:defRPr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插入子查询的结果</a:t>
            </a:r>
          </a:p>
          <a:p>
            <a:pPr marL="358775" indent="-358775">
              <a:spcBef>
                <a:spcPct val="65000"/>
              </a:spcBef>
              <a:spcAft>
                <a:spcPct val="0"/>
              </a:spcAft>
              <a:buClr>
                <a:schemeClr val="folHlink"/>
              </a:buClr>
              <a:buSzPct val="60000"/>
              <a:tabLst>
                <a:tab pos="381000" algn="l"/>
              </a:tabLst>
              <a:defRPr/>
            </a:pP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INSERT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INTO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</a:t>
            </a:r>
            <a:r>
              <a:rPr lang="en-US" altLang="zh-CN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&lt;</a:t>
            </a:r>
            <a:r>
              <a:rPr lang="zh-CN" altLang="en-US" sz="280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表名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&gt;  [(&lt;</a:t>
            </a:r>
            <a:r>
              <a:rPr lang="zh-CN" altLang="en-US" sz="280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列名1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&gt;[,&lt;</a:t>
            </a:r>
            <a:r>
              <a:rPr lang="zh-CN" altLang="en-US" sz="280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列名2</a:t>
            </a: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&gt;]...)]</a:t>
            </a:r>
          </a:p>
          <a:p>
            <a:pPr marL="358775" indent="-358775">
              <a:spcAft>
                <a:spcPct val="0"/>
              </a:spcAft>
              <a:buClr>
                <a:schemeClr val="folHlink"/>
              </a:buClr>
              <a:buSzPct val="60000"/>
              <a:tabLst>
                <a:tab pos="381000" algn="l"/>
              </a:tabLst>
              <a:defRPr/>
            </a:pP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	</a:t>
            </a:r>
            <a:r>
              <a:rPr lang="en-US" altLang="en-US" sz="2800" b="1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子查询语句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</a:p>
        </p:txBody>
      </p:sp>
      <p:graphicFrame>
        <p:nvGraphicFramePr>
          <p:cNvPr id="34" name="Group 5"/>
          <p:cNvGraphicFramePr>
            <a:graphicFrameLocks noGrp="1"/>
          </p:cNvGraphicFramePr>
          <p:nvPr/>
        </p:nvGraphicFramePr>
        <p:xfrm>
          <a:off x="4787900" y="765175"/>
          <a:ext cx="3733800" cy="1098552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Rectangle 48"/>
          <p:cNvSpPr>
            <a:spLocks noChangeArrowheads="1"/>
          </p:cNvSpPr>
          <p:nvPr/>
        </p:nvSpPr>
        <p:spPr bwMode="auto">
          <a:xfrm>
            <a:off x="685800" y="3716338"/>
            <a:ext cx="8202613" cy="103412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INSERT INTO S_N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='CS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6" name="Rectangle 49"/>
          <p:cNvSpPr>
            <a:spLocks noChangeArrowheads="1"/>
          </p:cNvSpPr>
          <p:nvPr/>
        </p:nvSpPr>
        <p:spPr bwMode="auto">
          <a:xfrm>
            <a:off x="684213" y="3284538"/>
            <a:ext cx="8064500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CS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系学生的学号和姓名填进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S_N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表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7" name="Rectangle 50"/>
          <p:cNvSpPr>
            <a:spLocks noChangeArrowheads="1"/>
          </p:cNvSpPr>
          <p:nvPr/>
        </p:nvSpPr>
        <p:spPr bwMode="auto">
          <a:xfrm>
            <a:off x="730250" y="5470525"/>
            <a:ext cx="4778375" cy="103412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INSERT INTO DGA 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SELECT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,AVG(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 FROM S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GROUP BY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8" name="Rectangle 51"/>
          <p:cNvSpPr>
            <a:spLocks noChangeArrowheads="1"/>
          </p:cNvSpPr>
          <p:nvPr/>
        </p:nvSpPr>
        <p:spPr bwMode="auto">
          <a:xfrm>
            <a:off x="684213" y="5084763"/>
            <a:ext cx="8064500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将各系的平均年龄填进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DGA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表</a:t>
            </a: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39" name="Group 52"/>
          <p:cNvGraphicFramePr>
            <a:graphicFrameLocks noGrp="1"/>
          </p:cNvGraphicFramePr>
          <p:nvPr/>
        </p:nvGraphicFramePr>
        <p:xfrm>
          <a:off x="7442200" y="3403600"/>
          <a:ext cx="1427163" cy="1227138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Rectangle 75"/>
          <p:cNvSpPr>
            <a:spLocks noChangeArrowheads="1"/>
          </p:cNvSpPr>
          <p:nvPr/>
        </p:nvSpPr>
        <p:spPr bwMode="auto">
          <a:xfrm>
            <a:off x="6832600" y="3403600"/>
            <a:ext cx="501740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S_N</a:t>
            </a:r>
          </a:p>
        </p:txBody>
      </p:sp>
      <p:graphicFrame>
        <p:nvGraphicFramePr>
          <p:cNvPr id="41" name="Group 76"/>
          <p:cNvGraphicFramePr>
            <a:graphicFrameLocks noGrp="1"/>
          </p:cNvGraphicFramePr>
          <p:nvPr/>
        </p:nvGraphicFramePr>
        <p:xfrm>
          <a:off x="7137400" y="5308600"/>
          <a:ext cx="1752600" cy="1219200"/>
        </p:xfrm>
        <a:graphic>
          <a:graphicData uri="http://schemas.openxmlformats.org/drawingml/2006/table">
            <a:tbl>
              <a:tblPr/>
              <a:tblGrid>
                <a:gridCol w="5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平均年龄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Rectangle 99"/>
          <p:cNvSpPr>
            <a:spLocks noChangeArrowheads="1"/>
          </p:cNvSpPr>
          <p:nvPr/>
        </p:nvSpPr>
        <p:spPr bwMode="auto">
          <a:xfrm>
            <a:off x="6451600" y="5278438"/>
            <a:ext cx="610745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DGA</a:t>
            </a:r>
          </a:p>
        </p:txBody>
      </p:sp>
      <p:sp>
        <p:nvSpPr>
          <p:cNvPr id="43" name="AutoShape 100"/>
          <p:cNvSpPr>
            <a:spLocks noChangeArrowheads="1"/>
          </p:cNvSpPr>
          <p:nvPr/>
        </p:nvSpPr>
        <p:spPr bwMode="auto">
          <a:xfrm>
            <a:off x="4859338" y="4076700"/>
            <a:ext cx="1368425" cy="1008063"/>
          </a:xfrm>
          <a:prstGeom prst="wedgeRoundRectCallout">
            <a:avLst>
              <a:gd name="adj1" fmla="val 57310"/>
              <a:gd name="adj2" fmla="val -26852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事先得有这些表</a:t>
            </a:r>
          </a:p>
        </p:txBody>
      </p:sp>
      <p:sp>
        <p:nvSpPr>
          <p:cNvPr id="44" name="Rectangle 101"/>
          <p:cNvSpPr>
            <a:spLocks noChangeArrowheads="1"/>
          </p:cNvSpPr>
          <p:nvPr/>
        </p:nvSpPr>
        <p:spPr bwMode="auto">
          <a:xfrm>
            <a:off x="4533900" y="736600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90077453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修改数据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286941" y="1063625"/>
            <a:ext cx="8534400" cy="68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UPDATE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SET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&gt;=&lt;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表达式1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&gt;[,&lt;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列名2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&gt;=&lt;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表达式2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&gt;]...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WHERE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条件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5005636" y="3738563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433636" y="3286125"/>
            <a:ext cx="5181600" cy="11382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UPDATE S 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SET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王浩'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=22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='99002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395536" y="2854325"/>
            <a:ext cx="5943600" cy="3968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99002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号学生改名为王浩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年龄改为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22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岁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4068763" y="692696"/>
            <a:ext cx="4824412" cy="503238"/>
          </a:xfrm>
          <a:prstGeom prst="rect">
            <a:avLst/>
          </a:prstGeom>
          <a:solidFill>
            <a:srgbClr val="0000CC"/>
          </a:solidFill>
          <a:ln w="28575" cap="sq" algn="ctr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无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时修改范围为全部行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>
            <a:off x="395536" y="4594225"/>
            <a:ext cx="3632200" cy="39687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将所有学生的系改为空白</a:t>
            </a:r>
            <a:endParaRPr kumimoji="0" lang="en-US" altLang="zh-CN" sz="26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433636" y="5027613"/>
            <a:ext cx="5181600" cy="40011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UPDATE S SET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系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=''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395536" y="5632450"/>
            <a:ext cx="6769100" cy="39687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若籍贯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籍贯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允许为空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,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将所有学生的籍贯清空</a:t>
            </a:r>
            <a:endParaRPr kumimoji="0" lang="en-US" altLang="zh-CN" sz="2600" b="0" i="0" u="none" strike="noStrike" kern="0" cap="none" spc="0" normalizeH="0" baseline="0" noProof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45" name="Rectangle 12"/>
          <p:cNvSpPr>
            <a:spLocks noChangeArrowheads="1"/>
          </p:cNvSpPr>
          <p:nvPr/>
        </p:nvSpPr>
        <p:spPr bwMode="auto">
          <a:xfrm>
            <a:off x="433636" y="6048375"/>
            <a:ext cx="5181600" cy="40011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UPDATE S SET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籍贯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NULL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4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44160"/>
              </p:ext>
            </p:extLst>
          </p:nvPr>
        </p:nvGraphicFramePr>
        <p:xfrm>
          <a:off x="5296148" y="3811588"/>
          <a:ext cx="3168650" cy="1219200"/>
        </p:xfrm>
        <a:graphic>
          <a:graphicData uri="http://schemas.openxmlformats.org/drawingml/2006/table">
            <a:tbl>
              <a:tblPr/>
              <a:tblGrid>
                <a:gridCol w="7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383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修改数据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22" name="Group 77"/>
          <p:cNvGraphicFramePr>
            <a:graphicFrameLocks noGrp="1"/>
          </p:cNvGraphicFramePr>
          <p:nvPr/>
        </p:nvGraphicFramePr>
        <p:xfrm>
          <a:off x="5722938" y="1125538"/>
          <a:ext cx="3024187" cy="1097280"/>
        </p:xfrm>
        <a:graphic>
          <a:graphicData uri="http://schemas.openxmlformats.org/drawingml/2006/table">
            <a:tbl>
              <a:tblPr/>
              <a:tblGrid>
                <a:gridCol w="66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115"/>
          <p:cNvSpPr>
            <a:spLocks noChangeArrowheads="1"/>
          </p:cNvSpPr>
          <p:nvPr/>
        </p:nvSpPr>
        <p:spPr bwMode="auto">
          <a:xfrm>
            <a:off x="5867400" y="765175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graphicFrame>
        <p:nvGraphicFramePr>
          <p:cNvPr id="24" name="Group 116"/>
          <p:cNvGraphicFramePr>
            <a:graphicFrameLocks noGrp="1"/>
          </p:cNvGraphicFramePr>
          <p:nvPr/>
        </p:nvGraphicFramePr>
        <p:xfrm>
          <a:off x="7451725" y="2708275"/>
          <a:ext cx="1254125" cy="1646238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补助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Rectangle 145"/>
          <p:cNvSpPr>
            <a:spLocks noChangeArrowheads="1"/>
          </p:cNvSpPr>
          <p:nvPr/>
        </p:nvSpPr>
        <p:spPr bwMode="auto">
          <a:xfrm>
            <a:off x="6732588" y="2708275"/>
            <a:ext cx="658835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S_BZ</a:t>
            </a:r>
          </a:p>
        </p:txBody>
      </p:sp>
      <p:sp>
        <p:nvSpPr>
          <p:cNvPr id="34" name="Rectangle 146"/>
          <p:cNvSpPr>
            <a:spLocks noChangeArrowheads="1"/>
          </p:cNvSpPr>
          <p:nvPr/>
        </p:nvSpPr>
        <p:spPr bwMode="auto">
          <a:xfrm>
            <a:off x="611188" y="2492375"/>
            <a:ext cx="5568950" cy="227754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UPDATE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S_BZ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inner join 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ON S_BZ.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 S.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</a:p>
          <a:p>
            <a:pPr>
              <a:spcAft>
                <a:spcPct val="0"/>
              </a:spcAft>
              <a:buClr>
                <a:srgbClr val="FFFFFF"/>
              </a:buClr>
              <a:buSzPct val="85000"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  AND S.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籍贯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=‘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成都' 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>
              <a:spcAft>
                <a:spcPct val="0"/>
              </a:spcAft>
              <a:buClr>
                <a:srgbClr val="FFFFFF"/>
              </a:buClr>
              <a:buSzPct val="85000"/>
              <a:defRPr/>
            </a:pPr>
            <a:r>
              <a:rPr lang="en-US" altLang="zh-CN" sz="2600" kern="0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SET </a:t>
            </a:r>
            <a:r>
              <a:rPr lang="zh-CN" altLang="en-US" sz="2600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补助</a:t>
            </a:r>
            <a:r>
              <a:rPr lang="en-US" altLang="zh-CN" sz="2600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</a:t>
            </a:r>
            <a:r>
              <a:rPr lang="zh-CN" altLang="en-US" sz="2600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补助</a:t>
            </a:r>
            <a:r>
              <a:rPr lang="en-US" altLang="zh-CN" sz="2600" kern="0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US" altLang="zh-CN" sz="2600" kern="0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50;</a:t>
            </a:r>
            <a:endParaRPr lang="en-US" altLang="zh-CN" sz="2600" kern="0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5" name="Rectangle 147"/>
          <p:cNvSpPr>
            <a:spLocks noChangeArrowheads="1"/>
          </p:cNvSpPr>
          <p:nvPr/>
        </p:nvSpPr>
        <p:spPr bwMode="auto">
          <a:xfrm>
            <a:off x="573882" y="979319"/>
            <a:ext cx="4392612" cy="12926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将补助表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(S_BZ)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中来自成都的所有学生的补助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Bz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值增加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50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6" name="Rectangle 148"/>
          <p:cNvSpPr>
            <a:spLocks noChangeArrowheads="1"/>
          </p:cNvSpPr>
          <p:nvPr/>
        </p:nvSpPr>
        <p:spPr bwMode="auto">
          <a:xfrm>
            <a:off x="611188" y="5229225"/>
            <a:ext cx="7704137" cy="122078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UPDATE S_BZ SET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补助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补助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+50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IN (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SELECT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 WHERE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籍贯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成都' )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7" name="Rectangle 149"/>
          <p:cNvSpPr>
            <a:spLocks noChangeArrowheads="1"/>
          </p:cNvSpPr>
          <p:nvPr/>
        </p:nvSpPr>
        <p:spPr bwMode="auto">
          <a:xfrm>
            <a:off x="2914650" y="4365625"/>
            <a:ext cx="10080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等价</a:t>
            </a:r>
          </a:p>
        </p:txBody>
      </p:sp>
      <p:sp>
        <p:nvSpPr>
          <p:cNvPr id="38" name="AutoShape 150"/>
          <p:cNvSpPr>
            <a:spLocks noChangeArrowheads="1"/>
          </p:cNvSpPr>
          <p:nvPr/>
        </p:nvSpPr>
        <p:spPr bwMode="auto">
          <a:xfrm>
            <a:off x="2338388" y="4365625"/>
            <a:ext cx="431800" cy="571500"/>
          </a:xfrm>
          <a:prstGeom prst="upDownArrow">
            <a:avLst>
              <a:gd name="adj1" fmla="val 50000"/>
              <a:gd name="adj2" fmla="val 26471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AutoShape 100"/>
          <p:cNvSpPr>
            <a:spLocks noChangeArrowheads="1"/>
          </p:cNvSpPr>
          <p:nvPr/>
        </p:nvSpPr>
        <p:spPr bwMode="auto">
          <a:xfrm>
            <a:off x="5261734" y="3487479"/>
            <a:ext cx="1368425" cy="1008063"/>
          </a:xfrm>
          <a:prstGeom prst="wedgeRoundRectCallout">
            <a:avLst>
              <a:gd name="adj1" fmla="val -65867"/>
              <a:gd name="adj2" fmla="val -35595"/>
              <a:gd name="adj3" fmla="val 16667"/>
            </a:avLst>
          </a:prstGeom>
          <a:gradFill rotWithShape="1">
            <a:gsLst>
              <a:gs pos="0">
                <a:srgbClr val="003399">
                  <a:gamma/>
                  <a:shade val="36471"/>
                  <a:invGamma/>
                </a:srgbClr>
              </a:gs>
              <a:gs pos="50000">
                <a:srgbClr val="003399"/>
              </a:gs>
              <a:gs pos="100000">
                <a:srgbClr val="003399">
                  <a:gamma/>
                  <a:shade val="36471"/>
                  <a:invGamma/>
                </a:srgbClr>
              </a:gs>
            </a:gsLst>
            <a:lin ang="2700000" scaled="1"/>
          </a:gradFill>
          <a:ln w="2857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lIns="0" tIns="36000" rIns="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My</a:t>
            </a:r>
            <a:r>
              <a:rPr lang="en-US" altLang="zh-CN" sz="2400" kern="0" dirty="0" err="1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sql</a:t>
            </a:r>
            <a:endParaRPr lang="en-US" altLang="zh-CN" sz="2400" kern="0" dirty="0" smtClean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lang="zh-CN" altLang="en-US" sz="2400" kern="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用法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06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删除数据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609600" y="1422400"/>
            <a:ext cx="8534400" cy="685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1000" algn="l"/>
              </a:tabLst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DELETE  FROM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表名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</a:t>
            </a:r>
          </a:p>
          <a:p>
            <a:pPr marL="358775" marR="0" lvl="0" indent="-3587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CC"/>
              </a:buClr>
              <a:buSzPct val="60000"/>
              <a:buFontTx/>
              <a:buNone/>
              <a:tabLst>
                <a:tab pos="381000" algn="l"/>
              </a:tabLst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WHERE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&lt;</a:t>
            </a:r>
            <a:r>
              <a:rPr kumimoji="0" lang="zh-CN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条件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&gt;]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;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graphicFrame>
        <p:nvGraphicFramePr>
          <p:cNvPr id="24" name="Group 5"/>
          <p:cNvGraphicFramePr>
            <a:graphicFrameLocks noGrp="1"/>
          </p:cNvGraphicFramePr>
          <p:nvPr/>
        </p:nvGraphicFramePr>
        <p:xfrm>
          <a:off x="5508625" y="1779588"/>
          <a:ext cx="3311525" cy="1219200"/>
        </p:xfrm>
        <a:graphic>
          <a:graphicData uri="http://schemas.openxmlformats.org/drawingml/2006/table">
            <a:tbl>
              <a:tblPr/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ectangle 43"/>
          <p:cNvSpPr>
            <a:spLocks noChangeArrowheads="1"/>
          </p:cNvSpPr>
          <p:nvPr/>
        </p:nvSpPr>
        <p:spPr bwMode="auto">
          <a:xfrm>
            <a:off x="5651500" y="1412875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34" name="Rectangle 44"/>
          <p:cNvSpPr>
            <a:spLocks noChangeArrowheads="1"/>
          </p:cNvSpPr>
          <p:nvPr/>
        </p:nvSpPr>
        <p:spPr bwMode="auto">
          <a:xfrm>
            <a:off x="4859338" y="692150"/>
            <a:ext cx="3889375" cy="503238"/>
          </a:xfrm>
          <a:prstGeom prst="rect">
            <a:avLst/>
          </a:prstGeom>
          <a:solidFill>
            <a:srgbClr val="0000CC"/>
          </a:solidFill>
          <a:ln w="28575" cap="sq" algn="ctr">
            <a:solidFill>
              <a:srgbClr val="FFFFCC"/>
            </a:solidFill>
            <a:miter lim="800000"/>
            <a:headEnd/>
            <a:tailEnd/>
          </a:ln>
          <a:effectLst>
            <a:outerShdw dist="107763" dir="2700000" algn="ctr" rotWithShape="0">
              <a:srgbClr val="000514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无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WHERE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时删除全部行</a:t>
            </a:r>
          </a:p>
        </p:txBody>
      </p:sp>
      <p:sp>
        <p:nvSpPr>
          <p:cNvPr id="35" name="Rectangle 45"/>
          <p:cNvSpPr>
            <a:spLocks noChangeArrowheads="1"/>
          </p:cNvSpPr>
          <p:nvPr/>
        </p:nvSpPr>
        <p:spPr bwMode="auto">
          <a:xfrm>
            <a:off x="665360" y="3425825"/>
            <a:ext cx="7075488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DELETE FROM S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='99002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6" name="Rectangle 46"/>
          <p:cNvSpPr>
            <a:spLocks noChangeArrowheads="1"/>
          </p:cNvSpPr>
          <p:nvPr/>
        </p:nvSpPr>
        <p:spPr bwMode="auto">
          <a:xfrm>
            <a:off x="665360" y="2986088"/>
            <a:ext cx="3467100" cy="3968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删除学号为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99002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的学生</a:t>
            </a:r>
          </a:p>
        </p:txBody>
      </p:sp>
      <p:sp>
        <p:nvSpPr>
          <p:cNvPr id="37" name="Rectangle 47"/>
          <p:cNvSpPr>
            <a:spLocks noChangeArrowheads="1"/>
          </p:cNvSpPr>
          <p:nvPr/>
        </p:nvSpPr>
        <p:spPr bwMode="auto">
          <a:xfrm>
            <a:off x="665360" y="4565650"/>
            <a:ext cx="7939088" cy="86177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DELETE FROM 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籍贯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重庆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' AND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姓名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Like '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张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%'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38" name="Rectangle 48"/>
          <p:cNvSpPr>
            <a:spLocks noChangeArrowheads="1"/>
          </p:cNvSpPr>
          <p:nvPr/>
        </p:nvSpPr>
        <p:spPr bwMode="auto">
          <a:xfrm>
            <a:off x="665360" y="4135438"/>
            <a:ext cx="3632200" cy="39687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删除重庆来的姓张的学生</a:t>
            </a:r>
          </a:p>
        </p:txBody>
      </p:sp>
      <p:sp>
        <p:nvSpPr>
          <p:cNvPr id="39" name="Rectangle 49"/>
          <p:cNvSpPr>
            <a:spLocks noChangeArrowheads="1"/>
          </p:cNvSpPr>
          <p:nvPr/>
        </p:nvSpPr>
        <p:spPr bwMode="auto">
          <a:xfrm>
            <a:off x="665360" y="6018213"/>
            <a:ext cx="5181600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DELETE FROM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665360" y="5603875"/>
            <a:ext cx="1981200" cy="396875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删除所有学生</a:t>
            </a:r>
          </a:p>
        </p:txBody>
      </p:sp>
    </p:spTree>
    <p:extLst>
      <p:ext uri="{BB962C8B-B14F-4D97-AF65-F5344CB8AC3E}">
        <p14:creationId xmlns:p14="http://schemas.microsoft.com/office/powerpoint/2010/main" val="379537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1079" y="-27384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40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删除</a:t>
            </a:r>
            <a:r>
              <a:rPr lang="zh-CN" altLang="en-US" sz="4000" b="1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数据</a:t>
            </a:r>
            <a:endParaRPr lang="zh-CN" altLang="en-US" sz="40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22" name="Group 77"/>
          <p:cNvGraphicFramePr>
            <a:graphicFrameLocks noGrp="1"/>
          </p:cNvGraphicFramePr>
          <p:nvPr/>
        </p:nvGraphicFramePr>
        <p:xfrm>
          <a:off x="5722938" y="1125538"/>
          <a:ext cx="3024187" cy="1097280"/>
        </p:xfrm>
        <a:graphic>
          <a:graphicData uri="http://schemas.openxmlformats.org/drawingml/2006/table">
            <a:tbl>
              <a:tblPr/>
              <a:tblGrid>
                <a:gridCol w="66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系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籍贯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张军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CS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成都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刘华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MA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重庆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伍松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IS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雅安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115"/>
          <p:cNvSpPr>
            <a:spLocks noChangeArrowheads="1"/>
          </p:cNvSpPr>
          <p:nvPr/>
        </p:nvSpPr>
        <p:spPr bwMode="auto">
          <a:xfrm>
            <a:off x="5867400" y="765175"/>
            <a:ext cx="157094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</a:pPr>
            <a:r>
              <a:rPr lang="en-US" altLang="zh-CN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graphicFrame>
        <p:nvGraphicFramePr>
          <p:cNvPr id="24" name="Group 116"/>
          <p:cNvGraphicFramePr>
            <a:graphicFrameLocks noGrp="1"/>
          </p:cNvGraphicFramePr>
          <p:nvPr/>
        </p:nvGraphicFramePr>
        <p:xfrm>
          <a:off x="7451725" y="2708275"/>
          <a:ext cx="1254125" cy="1646238"/>
        </p:xfrm>
        <a:graphic>
          <a:graphicData uri="http://schemas.openxmlformats.org/drawingml/2006/table">
            <a:tbl>
              <a:tblPr/>
              <a:tblGrid>
                <a:gridCol w="66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学号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CFF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补助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98002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200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99003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FF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楷体_GB2312" pitchFamily="49" charset="-122"/>
                        </a:rPr>
                        <a:t>140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Rectangle 145"/>
          <p:cNvSpPr>
            <a:spLocks noChangeArrowheads="1"/>
          </p:cNvSpPr>
          <p:nvPr/>
        </p:nvSpPr>
        <p:spPr bwMode="auto">
          <a:xfrm>
            <a:off x="6732588" y="2708275"/>
            <a:ext cx="658835" cy="33855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S_BZ</a:t>
            </a:r>
          </a:p>
        </p:txBody>
      </p:sp>
      <p:sp>
        <p:nvSpPr>
          <p:cNvPr id="16" name="Rectangle 78"/>
          <p:cNvSpPr>
            <a:spLocks noChangeArrowheads="1"/>
          </p:cNvSpPr>
          <p:nvPr/>
        </p:nvSpPr>
        <p:spPr bwMode="auto">
          <a:xfrm>
            <a:off x="484981" y="1091526"/>
            <a:ext cx="4573587" cy="86177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从补助表(S_BZ)中删除年龄大于25岁的学生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补助</a:t>
            </a:r>
          </a:p>
        </p:txBody>
      </p:sp>
      <p:sp>
        <p:nvSpPr>
          <p:cNvPr id="27" name="Rectangle 77"/>
          <p:cNvSpPr>
            <a:spLocks noChangeArrowheads="1"/>
          </p:cNvSpPr>
          <p:nvPr/>
        </p:nvSpPr>
        <p:spPr bwMode="auto">
          <a:xfrm>
            <a:off x="646113" y="4906963"/>
            <a:ext cx="8280400" cy="12926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DELETE FROM S_BZ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= ANY (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    SELECT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 WHERE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&gt;25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)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8" name="Rectangle 79"/>
          <p:cNvSpPr>
            <a:spLocks noChangeArrowheads="1"/>
          </p:cNvSpPr>
          <p:nvPr/>
        </p:nvSpPr>
        <p:spPr bwMode="auto">
          <a:xfrm>
            <a:off x="684213" y="2601913"/>
            <a:ext cx="8280400" cy="129266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DELETE S_BZ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FROM S_BZ join 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WHERE S.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=S_BZ.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FF"/>
              </a:buClr>
              <a:buSzPct val="85000"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  AND S.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年龄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&gt;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25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  <p:sp>
        <p:nvSpPr>
          <p:cNvPr id="29" name="Rectangle 149"/>
          <p:cNvSpPr>
            <a:spLocks noChangeArrowheads="1"/>
          </p:cNvSpPr>
          <p:nvPr/>
        </p:nvSpPr>
        <p:spPr bwMode="auto">
          <a:xfrm>
            <a:off x="2771775" y="4114800"/>
            <a:ext cx="10080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>
                <a:srgbClr val="66FF33"/>
              </a:buClr>
              <a:buSzPct val="85000"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等价</a:t>
            </a:r>
          </a:p>
        </p:txBody>
      </p:sp>
      <p:sp>
        <p:nvSpPr>
          <p:cNvPr id="30" name="AutoShape 150"/>
          <p:cNvSpPr>
            <a:spLocks noChangeArrowheads="1"/>
          </p:cNvSpPr>
          <p:nvPr/>
        </p:nvSpPr>
        <p:spPr bwMode="auto">
          <a:xfrm>
            <a:off x="2195513" y="4114800"/>
            <a:ext cx="431800" cy="571500"/>
          </a:xfrm>
          <a:prstGeom prst="upDownArrow">
            <a:avLst>
              <a:gd name="adj1" fmla="val 50000"/>
              <a:gd name="adj2" fmla="val 26471"/>
            </a:avLst>
          </a:prstGeom>
          <a:solidFill>
            <a:srgbClr val="0099CC"/>
          </a:solidFill>
          <a:ln w="28575" cap="sq">
            <a:solidFill>
              <a:srgbClr val="FFFFFF"/>
            </a:solidFill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wrap="none" lIns="72000" tIns="72000" rIns="72000" bIns="72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98729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2074</TotalTime>
  <Words>4655</Words>
  <Application>Microsoft Office PowerPoint</Application>
  <PresentationFormat>全屏显示(4:3)</PresentationFormat>
  <Paragraphs>1573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80" baseType="lpstr">
      <vt:lpstr>黑体</vt:lpstr>
      <vt:lpstr>华文楷体</vt:lpstr>
      <vt:lpstr>楷体_GB2312</vt:lpstr>
      <vt:lpstr>隶书</vt:lpstr>
      <vt:lpstr>宋体</vt:lpstr>
      <vt:lpstr>微软雅黑</vt:lpstr>
      <vt:lpstr>Arial</vt:lpstr>
      <vt:lpstr>Arial Black</vt:lpstr>
      <vt:lpstr>Arial Narrow</vt:lpstr>
      <vt:lpstr>Calibri</vt:lpstr>
      <vt:lpstr>Franklin Gothic Book</vt:lpstr>
      <vt:lpstr>Garamond</vt:lpstr>
      <vt:lpstr>Monotype Corsiva</vt:lpstr>
      <vt:lpstr>Symbol</vt:lpstr>
      <vt:lpstr>Times New Roman</vt:lpstr>
      <vt:lpstr>Wingdings</vt:lpstr>
      <vt:lpstr>Office 主题​​</vt:lpstr>
      <vt:lpstr>PowerPoint 演示文稿</vt:lpstr>
      <vt:lpstr>SQL简介</vt:lpstr>
      <vt:lpstr>SQL的特点</vt:lpstr>
      <vt:lpstr>数据定义（DDL）</vt:lpstr>
      <vt:lpstr>数据库的定义与删除</vt:lpstr>
      <vt:lpstr>定义基本表</vt:lpstr>
      <vt:lpstr>定义基本表</vt:lpstr>
      <vt:lpstr>修改基本表</vt:lpstr>
      <vt:lpstr>删除基本表</vt:lpstr>
      <vt:lpstr>查询命令的一般格式</vt:lpstr>
      <vt:lpstr>SELECT子句</vt:lpstr>
      <vt:lpstr>SELECT子句</vt:lpstr>
      <vt:lpstr>SELECT子句</vt:lpstr>
      <vt:lpstr>SELECT子句</vt:lpstr>
      <vt:lpstr>WHERE子句</vt:lpstr>
      <vt:lpstr>WHERE子句</vt:lpstr>
      <vt:lpstr>WHERE子句</vt:lpstr>
      <vt:lpstr>WHERE子句</vt:lpstr>
      <vt:lpstr>WHERE子句</vt:lpstr>
      <vt:lpstr>WHERE子句</vt:lpstr>
      <vt:lpstr>WHERE子句</vt:lpstr>
      <vt:lpstr>WHERE子句</vt:lpstr>
      <vt:lpstr>WHERE子句</vt:lpstr>
      <vt:lpstr>WHERE子句</vt:lpstr>
      <vt:lpstr>DISTINCT短语</vt:lpstr>
      <vt:lpstr>TOP短语</vt:lpstr>
      <vt:lpstr>ORDER  BY子句</vt:lpstr>
      <vt:lpstr>ORDER  BY子句</vt:lpstr>
      <vt:lpstr>统计查询</vt:lpstr>
      <vt:lpstr>统计查询</vt:lpstr>
      <vt:lpstr>统计查询</vt:lpstr>
      <vt:lpstr>统计查询</vt:lpstr>
      <vt:lpstr>分组统计查询</vt:lpstr>
      <vt:lpstr>分组统计查询</vt:lpstr>
      <vt:lpstr>分组统计查询</vt:lpstr>
      <vt:lpstr>连接查询</vt:lpstr>
      <vt:lpstr>连接查询</vt:lpstr>
      <vt:lpstr>连接查询格式</vt:lpstr>
      <vt:lpstr>交叉连接</vt:lpstr>
      <vt:lpstr>内连接</vt:lpstr>
      <vt:lpstr>外连接</vt:lpstr>
      <vt:lpstr>外连接</vt:lpstr>
      <vt:lpstr>外连接</vt:lpstr>
      <vt:lpstr>外连接</vt:lpstr>
      <vt:lpstr>自连接</vt:lpstr>
      <vt:lpstr>嵌套查询</vt:lpstr>
      <vt:lpstr>嵌套查询</vt:lpstr>
      <vt:lpstr>嵌套查询</vt:lpstr>
      <vt:lpstr>嵌套查询</vt:lpstr>
      <vt:lpstr>嵌套查询</vt:lpstr>
      <vt:lpstr>嵌套查询</vt:lpstr>
      <vt:lpstr>嵌套查询</vt:lpstr>
      <vt:lpstr>嵌套查询</vt:lpstr>
      <vt:lpstr>嵌套查询</vt:lpstr>
      <vt:lpstr>嵌套查询</vt:lpstr>
      <vt:lpstr>嵌套查询</vt:lpstr>
      <vt:lpstr>插入数据</vt:lpstr>
      <vt:lpstr>插入数据</vt:lpstr>
      <vt:lpstr>插入数据</vt:lpstr>
      <vt:lpstr>修改数据</vt:lpstr>
      <vt:lpstr>修改数据</vt:lpstr>
      <vt:lpstr>删除数据</vt:lpstr>
      <vt:lpstr>删除数据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pansir</dc:creator>
  <cp:lastModifiedBy>pansir</cp:lastModifiedBy>
  <cp:revision>264</cp:revision>
  <dcterms:created xsi:type="dcterms:W3CDTF">2016-09-04T04:12:03Z</dcterms:created>
  <dcterms:modified xsi:type="dcterms:W3CDTF">2019-10-07T13:47:43Z</dcterms:modified>
</cp:coreProperties>
</file>