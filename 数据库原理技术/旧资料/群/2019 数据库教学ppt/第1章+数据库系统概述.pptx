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wav" ContentType="audio/wav"/>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 id="2147483688" r:id="rId2"/>
  </p:sldMasterIdLst>
  <p:notesMasterIdLst>
    <p:notesMasterId r:id="rId34"/>
  </p:notesMasterIdLst>
  <p:handoutMasterIdLst>
    <p:handoutMasterId r:id="rId35"/>
  </p:handoutMasterIdLst>
  <p:sldIdLst>
    <p:sldId id="470" r:id="rId3"/>
    <p:sldId id="621" r:id="rId4"/>
    <p:sldId id="622" r:id="rId5"/>
    <p:sldId id="620" r:id="rId6"/>
    <p:sldId id="306" r:id="rId7"/>
    <p:sldId id="596" r:id="rId8"/>
    <p:sldId id="598" r:id="rId9"/>
    <p:sldId id="594" r:id="rId10"/>
    <p:sldId id="597" r:id="rId11"/>
    <p:sldId id="566" r:id="rId12"/>
    <p:sldId id="568" r:id="rId13"/>
    <p:sldId id="569" r:id="rId14"/>
    <p:sldId id="570" r:id="rId15"/>
    <p:sldId id="575" r:id="rId16"/>
    <p:sldId id="600" r:id="rId17"/>
    <p:sldId id="601" r:id="rId18"/>
    <p:sldId id="602" r:id="rId19"/>
    <p:sldId id="580" r:id="rId20"/>
    <p:sldId id="581" r:id="rId21"/>
    <p:sldId id="582" r:id="rId22"/>
    <p:sldId id="587" r:id="rId23"/>
    <p:sldId id="588" r:id="rId24"/>
    <p:sldId id="589" r:id="rId25"/>
    <p:sldId id="590" r:id="rId26"/>
    <p:sldId id="603" r:id="rId27"/>
    <p:sldId id="611" r:id="rId28"/>
    <p:sldId id="612" r:id="rId29"/>
    <p:sldId id="613" r:id="rId30"/>
    <p:sldId id="614" r:id="rId31"/>
    <p:sldId id="615" r:id="rId32"/>
    <p:sldId id="619" r:id="rId33"/>
  </p:sldIdLst>
  <p:sldSz cx="9144000" cy="6858000" type="screen4x3"/>
  <p:notesSz cx="6858000" cy="9144000"/>
  <p:defaultTextStyle>
    <a:defPPr>
      <a:defRPr lang="en-US"/>
    </a:defPPr>
    <a:lvl1pPr algn="l" rtl="0" fontAlgn="base">
      <a:spcBef>
        <a:spcPct val="0"/>
      </a:spcBef>
      <a:spcAft>
        <a:spcPct val="0"/>
      </a:spcAft>
      <a:defRPr sz="1200" kern="1200" baseline="-25000">
        <a:solidFill>
          <a:schemeClr val="tx1"/>
        </a:solidFill>
        <a:latin typeface="Garamond" pitchFamily="18" charset="0"/>
        <a:ea typeface="宋体" pitchFamily="2" charset="-122"/>
        <a:cs typeface="+mn-cs"/>
      </a:defRPr>
    </a:lvl1pPr>
    <a:lvl2pPr marL="457200" algn="l" rtl="0" fontAlgn="base">
      <a:spcBef>
        <a:spcPct val="0"/>
      </a:spcBef>
      <a:spcAft>
        <a:spcPct val="0"/>
      </a:spcAft>
      <a:defRPr sz="1200" kern="1200" baseline="-25000">
        <a:solidFill>
          <a:schemeClr val="tx1"/>
        </a:solidFill>
        <a:latin typeface="Garamond" pitchFamily="18" charset="0"/>
        <a:ea typeface="宋体" pitchFamily="2" charset="-122"/>
        <a:cs typeface="+mn-cs"/>
      </a:defRPr>
    </a:lvl2pPr>
    <a:lvl3pPr marL="914400" algn="l" rtl="0" fontAlgn="base">
      <a:spcBef>
        <a:spcPct val="0"/>
      </a:spcBef>
      <a:spcAft>
        <a:spcPct val="0"/>
      </a:spcAft>
      <a:defRPr sz="1200" kern="1200" baseline="-25000">
        <a:solidFill>
          <a:schemeClr val="tx1"/>
        </a:solidFill>
        <a:latin typeface="Garamond" pitchFamily="18" charset="0"/>
        <a:ea typeface="宋体" pitchFamily="2" charset="-122"/>
        <a:cs typeface="+mn-cs"/>
      </a:defRPr>
    </a:lvl3pPr>
    <a:lvl4pPr marL="1371600" algn="l" rtl="0" fontAlgn="base">
      <a:spcBef>
        <a:spcPct val="0"/>
      </a:spcBef>
      <a:spcAft>
        <a:spcPct val="0"/>
      </a:spcAft>
      <a:defRPr sz="1200" kern="1200" baseline="-25000">
        <a:solidFill>
          <a:schemeClr val="tx1"/>
        </a:solidFill>
        <a:latin typeface="Garamond" pitchFamily="18" charset="0"/>
        <a:ea typeface="宋体" pitchFamily="2" charset="-122"/>
        <a:cs typeface="+mn-cs"/>
      </a:defRPr>
    </a:lvl4pPr>
    <a:lvl5pPr marL="1828800" algn="l" rtl="0" fontAlgn="base">
      <a:spcBef>
        <a:spcPct val="0"/>
      </a:spcBef>
      <a:spcAft>
        <a:spcPct val="0"/>
      </a:spcAft>
      <a:defRPr sz="1200" kern="1200" baseline="-25000">
        <a:solidFill>
          <a:schemeClr val="tx1"/>
        </a:solidFill>
        <a:latin typeface="Garamond" pitchFamily="18" charset="0"/>
        <a:ea typeface="宋体" pitchFamily="2" charset="-122"/>
        <a:cs typeface="+mn-cs"/>
      </a:defRPr>
    </a:lvl5pPr>
    <a:lvl6pPr marL="2286000" algn="l" defTabSz="914400" rtl="0" eaLnBrk="1" latinLnBrk="0" hangingPunct="1">
      <a:defRPr sz="1200" kern="1200" baseline="-25000">
        <a:solidFill>
          <a:schemeClr val="tx1"/>
        </a:solidFill>
        <a:latin typeface="Garamond" pitchFamily="18" charset="0"/>
        <a:ea typeface="宋体" pitchFamily="2" charset="-122"/>
        <a:cs typeface="+mn-cs"/>
      </a:defRPr>
    </a:lvl6pPr>
    <a:lvl7pPr marL="2743200" algn="l" defTabSz="914400" rtl="0" eaLnBrk="1" latinLnBrk="0" hangingPunct="1">
      <a:defRPr sz="1200" kern="1200" baseline="-25000">
        <a:solidFill>
          <a:schemeClr val="tx1"/>
        </a:solidFill>
        <a:latin typeface="Garamond" pitchFamily="18" charset="0"/>
        <a:ea typeface="宋体" pitchFamily="2" charset="-122"/>
        <a:cs typeface="+mn-cs"/>
      </a:defRPr>
    </a:lvl7pPr>
    <a:lvl8pPr marL="3200400" algn="l" defTabSz="914400" rtl="0" eaLnBrk="1" latinLnBrk="0" hangingPunct="1">
      <a:defRPr sz="1200" kern="1200" baseline="-25000">
        <a:solidFill>
          <a:schemeClr val="tx1"/>
        </a:solidFill>
        <a:latin typeface="Garamond" pitchFamily="18" charset="0"/>
        <a:ea typeface="宋体" pitchFamily="2" charset="-122"/>
        <a:cs typeface="+mn-cs"/>
      </a:defRPr>
    </a:lvl8pPr>
    <a:lvl9pPr marL="3657600" algn="l" defTabSz="914400" rtl="0" eaLnBrk="1" latinLnBrk="0" hangingPunct="1">
      <a:defRPr sz="1200" kern="1200" baseline="-25000">
        <a:solidFill>
          <a:schemeClr val="tx1"/>
        </a:solidFill>
        <a:latin typeface="Garamond"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0099CC"/>
    <a:srgbClr val="FF6600"/>
    <a:srgbClr val="CCFF99"/>
    <a:srgbClr val="C4D7F4"/>
    <a:srgbClr val="FF0000"/>
    <a:srgbClr val="0000CC"/>
    <a:srgbClr val="CCFFCC"/>
    <a:srgbClr val="660066"/>
    <a:srgbClr val="66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08" autoAdjust="0"/>
    <p:restoredTop sz="97292" autoAdjust="0"/>
  </p:normalViewPr>
  <p:slideViewPr>
    <p:cSldViewPr>
      <p:cViewPr varScale="1">
        <p:scale>
          <a:sx n="61" d="100"/>
          <a:sy n="61" d="100"/>
        </p:scale>
        <p:origin x="1364" y="64"/>
      </p:cViewPr>
      <p:guideLst>
        <p:guide orient="horz" pos="2160"/>
        <p:guide pos="2880"/>
      </p:guideLst>
    </p:cSldViewPr>
  </p:slideViewPr>
  <p:outlineViewPr>
    <p:cViewPr>
      <p:scale>
        <a:sx n="33" d="100"/>
        <a:sy n="33" d="100"/>
      </p:scale>
      <p:origin x="0" y="2196"/>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Lst>
  </p:outlineViewPr>
  <p:notesTextViewPr>
    <p:cViewPr>
      <p:scale>
        <a:sx n="100" d="100"/>
        <a:sy n="100" d="100"/>
      </p:scale>
      <p:origin x="0" y="0"/>
    </p:cViewPr>
  </p:notesTextViewPr>
  <p:sorterViewPr>
    <p:cViewPr>
      <p:scale>
        <a:sx n="100" d="100"/>
        <a:sy n="100" d="100"/>
      </p:scale>
      <p:origin x="0" y="6018"/>
    </p:cViewPr>
  </p:sorterViewPr>
  <p:notesViewPr>
    <p:cSldViewPr>
      <p:cViewPr>
        <p:scale>
          <a:sx n="66" d="100"/>
          <a:sy n="66" d="100"/>
        </p:scale>
        <p:origin x="-2550" y="7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 Id="rId8" Type="http://schemas.openxmlformats.org/officeDocument/2006/relationships/slide" Target="slides/slide6.xml"/><Relationship Id="rId3" Type="http://schemas.openxmlformats.org/officeDocument/2006/relationships/slide" Target="slides/slide1.xml"/></Relationships>
</file>

<file path=ppt/_rels/viewProps.xml.rels><?xml version="1.0" encoding="UTF-8" standalone="yes"?>
<Relationships xmlns="http://schemas.openxmlformats.org/package/2006/relationships"><Relationship Id="rId8" Type="http://schemas.openxmlformats.org/officeDocument/2006/relationships/slide" Target="slides/slide13.xml"/><Relationship Id="rId13" Type="http://schemas.openxmlformats.org/officeDocument/2006/relationships/slide" Target="slides/slide18.xml"/><Relationship Id="rId18" Type="http://schemas.openxmlformats.org/officeDocument/2006/relationships/slide" Target="slides/slide23.xml"/><Relationship Id="rId3" Type="http://schemas.openxmlformats.org/officeDocument/2006/relationships/slide" Target="slides/slide7.xml"/><Relationship Id="rId7" Type="http://schemas.openxmlformats.org/officeDocument/2006/relationships/slide" Target="slides/slide11.xml"/><Relationship Id="rId12" Type="http://schemas.openxmlformats.org/officeDocument/2006/relationships/slide" Target="slides/slide17.xml"/><Relationship Id="rId17" Type="http://schemas.openxmlformats.org/officeDocument/2006/relationships/slide" Target="slides/slide22.xml"/><Relationship Id="rId2" Type="http://schemas.openxmlformats.org/officeDocument/2006/relationships/slide" Target="slides/slide6.xml"/><Relationship Id="rId16" Type="http://schemas.openxmlformats.org/officeDocument/2006/relationships/slide" Target="slides/slide21.xml"/><Relationship Id="rId1" Type="http://schemas.openxmlformats.org/officeDocument/2006/relationships/slide" Target="slides/slide5.xml"/><Relationship Id="rId6" Type="http://schemas.openxmlformats.org/officeDocument/2006/relationships/slide" Target="slides/slide10.xml"/><Relationship Id="rId11" Type="http://schemas.openxmlformats.org/officeDocument/2006/relationships/slide" Target="slides/slide16.xml"/><Relationship Id="rId5" Type="http://schemas.openxmlformats.org/officeDocument/2006/relationships/slide" Target="slides/slide9.xml"/><Relationship Id="rId15" Type="http://schemas.openxmlformats.org/officeDocument/2006/relationships/slide" Target="slides/slide20.xml"/><Relationship Id="rId10" Type="http://schemas.openxmlformats.org/officeDocument/2006/relationships/slide" Target="slides/slide15.xml"/><Relationship Id="rId19" Type="http://schemas.openxmlformats.org/officeDocument/2006/relationships/slide" Target="slides/slide24.xml"/><Relationship Id="rId4" Type="http://schemas.openxmlformats.org/officeDocument/2006/relationships/slide" Target="slides/slide8.xml"/><Relationship Id="rId9" Type="http://schemas.openxmlformats.org/officeDocument/2006/relationships/slide" Target="slides/slide14.xml"/><Relationship Id="rId14" Type="http://schemas.openxmlformats.org/officeDocument/2006/relationships/slide" Target="slides/slide19.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教学环节</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2-DAD8-40AD-AAB4-D418DA3D150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DAD8-40AD-AAB4-D418DA3D150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4-DAD8-40AD-AAB4-D418DA3D150C}"/>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1-DAD8-40AD-AAB4-D418DA3D150C}"/>
              </c:ext>
            </c:extLst>
          </c:dPt>
          <c:dLbls>
            <c:dLbl>
              <c:idx val="0"/>
              <c:layout>
                <c:manualLayout>
                  <c:x val="-0.25987511049496925"/>
                  <c:y val="0.11456749688631088"/>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2-DAD8-40AD-AAB4-D418DA3D150C}"/>
                </c:ext>
              </c:extLst>
            </c:dLbl>
            <c:dLbl>
              <c:idx val="1"/>
              <c:layout>
                <c:manualLayout>
                  <c:x val="3.0402512747625741E-3"/>
                  <c:y val="-7.7976350580929513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AD8-40AD-AAB4-D418DA3D150C}"/>
                </c:ext>
              </c:extLst>
            </c:dLbl>
            <c:dLbl>
              <c:idx val="2"/>
              <c:layout>
                <c:manualLayout>
                  <c:x val="0.19058035697183071"/>
                  <c:y val="1.3923891497435958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4-DAD8-40AD-AAB4-D418DA3D150C}"/>
                </c:ext>
              </c:extLst>
            </c:dLbl>
            <c:dLbl>
              <c:idx val="3"/>
              <c:layout>
                <c:manualLayout>
                  <c:x val="8.2161967635779876E-2"/>
                  <c:y val="7.9129731199457362E-2"/>
                </c:manualLayout>
              </c:layout>
              <c:spPr>
                <a:noFill/>
                <a:ln>
                  <a:noFill/>
                </a:ln>
                <a:effectLst/>
              </c:spPr>
              <c:txPr>
                <a:bodyPr rot="0" spcFirstLastPara="1" vertOverflow="ellipsis" vert="horz" wrap="square" anchor="ctr" anchorCtr="1"/>
                <a:lstStyle/>
                <a:p>
                  <a:pPr>
                    <a:defRPr sz="2800" b="1" i="0" u="none" strike="noStrike" kern="1200" baseline="0">
                      <a:solidFill>
                        <a:schemeClr val="bg2"/>
                      </a:solidFill>
                      <a:latin typeface="+mn-lt"/>
                      <a:ea typeface="+mn-ea"/>
                      <a:cs typeface="+mn-cs"/>
                    </a:defRPr>
                  </a:pPr>
                  <a:endParaRPr lang="zh-CN"/>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AD8-40AD-AAB4-D418DA3D150C}"/>
                </c:ext>
              </c:extLst>
            </c:dLbl>
            <c:spPr>
              <a:noFill/>
              <a:ln>
                <a:noFill/>
              </a:ln>
              <a:effectLst/>
            </c:spPr>
            <c:txPr>
              <a:bodyPr rot="0" spcFirstLastPara="1" vertOverflow="ellipsis" vert="horz" wrap="square" anchor="ctr" anchorCtr="1"/>
              <a:lstStyle/>
              <a:p>
                <a:pPr>
                  <a:defRPr sz="2800" b="1" i="0" u="none" strike="noStrike" kern="1200" baseline="0">
                    <a:solidFill>
                      <a:schemeClr val="tx1">
                        <a:lumMod val="75000"/>
                        <a:lumOff val="25000"/>
                      </a:schemeClr>
                    </a:solidFill>
                    <a:latin typeface="+mn-lt"/>
                    <a:ea typeface="+mn-ea"/>
                    <a:cs typeface="+mn-cs"/>
                  </a:defRPr>
                </a:pPr>
                <a:endParaRPr lang="zh-CN"/>
              </a:p>
            </c:txPr>
            <c:dLblPos val="ct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考试</c:v>
                </c:pt>
                <c:pt idx="1">
                  <c:v>实验</c:v>
                </c:pt>
                <c:pt idx="2">
                  <c:v>作业</c:v>
                </c:pt>
                <c:pt idx="3">
                  <c:v>考勤</c:v>
                </c:pt>
              </c:strCache>
            </c:strRef>
          </c:cat>
          <c:val>
            <c:numRef>
              <c:f>Sheet1!$B$2:$B$5</c:f>
              <c:numCache>
                <c:formatCode>General</c:formatCode>
                <c:ptCount val="4"/>
                <c:pt idx="0">
                  <c:v>40</c:v>
                </c:pt>
                <c:pt idx="1">
                  <c:v>20</c:v>
                </c:pt>
                <c:pt idx="2">
                  <c:v>30</c:v>
                </c:pt>
                <c:pt idx="3">
                  <c:v>10</c:v>
                </c:pt>
              </c:numCache>
            </c:numRef>
          </c:val>
          <c:extLst>
            <c:ext xmlns:c16="http://schemas.microsoft.com/office/drawing/2014/chart" uri="{C3380CC4-5D6E-409C-BE32-E72D297353CC}">
              <c16:uniqueId val="{00000000-DAD8-40AD-AAB4-D418DA3D150C}"/>
            </c:ext>
          </c:extLst>
        </c:ser>
        <c:dLbls>
          <c:dLblPos val="ctr"/>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sz="2000"/>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baseline="0">
                <a:latin typeface="Times New Roman" pitchFamily="18" charset="0"/>
              </a:defRPr>
            </a:lvl1pPr>
          </a:lstStyle>
          <a:p>
            <a:pPr>
              <a:defRPr/>
            </a:pPr>
            <a:endParaRPr lang="zh-CN" altLang="en-US"/>
          </a:p>
        </p:txBody>
      </p:sp>
      <p:sp>
        <p:nvSpPr>
          <p:cNvPr id="9219"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baseline="0">
                <a:latin typeface="Times New Roman" pitchFamily="18" charset="0"/>
              </a:defRPr>
            </a:lvl1pPr>
          </a:lstStyle>
          <a:p>
            <a:pPr>
              <a:defRPr/>
            </a:pPr>
            <a:endParaRPr lang="en-US" altLang="zh-CN"/>
          </a:p>
        </p:txBody>
      </p:sp>
      <p:sp>
        <p:nvSpPr>
          <p:cNvPr id="9220"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1" baseline="0">
                <a:latin typeface="Times New Roman" pitchFamily="18" charset="0"/>
              </a:defRPr>
            </a:lvl1pPr>
          </a:lstStyle>
          <a:p>
            <a:pPr>
              <a:defRPr/>
            </a:pPr>
            <a:endParaRPr lang="en-US" altLang="zh-CN"/>
          </a:p>
        </p:txBody>
      </p:sp>
      <p:sp>
        <p:nvSpPr>
          <p:cNvPr id="9221"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baseline="0">
                <a:latin typeface="Times New Roman" pitchFamily="18" charset="0"/>
              </a:defRPr>
            </a:lvl1pPr>
          </a:lstStyle>
          <a:p>
            <a:pPr>
              <a:defRPr/>
            </a:pPr>
            <a:fld id="{151A9782-2FC3-43BA-9A36-0BE2A123DEBD}" type="slidenum">
              <a:rPr lang="zh-CN" altLang="en-US"/>
              <a:pPr>
                <a:defRPr/>
              </a:pPr>
              <a:t>‹#›</a:t>
            </a:fld>
            <a:endParaRPr lang="en-US" altLang="zh-CN"/>
          </a:p>
        </p:txBody>
      </p:sp>
    </p:spTree>
    <p:extLst>
      <p:ext uri="{BB962C8B-B14F-4D97-AF65-F5344CB8AC3E}">
        <p14:creationId xmlns:p14="http://schemas.microsoft.com/office/powerpoint/2010/main" val="2155157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baseline="0">
                <a:latin typeface="Times New Roman" pitchFamily="18" charset="0"/>
              </a:defRPr>
            </a:lvl1pPr>
          </a:lstStyle>
          <a:p>
            <a:pPr>
              <a:defRPr/>
            </a:pPr>
            <a:endParaRPr lang="zh-CN" altLang="en-US"/>
          </a:p>
        </p:txBody>
      </p:sp>
      <p:sp>
        <p:nvSpPr>
          <p:cNvPr id="1741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baseline="0">
                <a:latin typeface="Times New Roman" pitchFamily="18" charset="0"/>
              </a:defRPr>
            </a:lvl1pPr>
          </a:lstStyle>
          <a:p>
            <a:pPr>
              <a:defRPr/>
            </a:pPr>
            <a:endParaRPr lang="en-US" altLang="zh-CN"/>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741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1" baseline="0">
                <a:latin typeface="Times New Roman" pitchFamily="18" charset="0"/>
              </a:defRPr>
            </a:lvl1pPr>
          </a:lstStyle>
          <a:p>
            <a:pPr>
              <a:defRPr/>
            </a:pPr>
            <a:endParaRPr lang="en-US" altLang="zh-CN"/>
          </a:p>
        </p:txBody>
      </p:sp>
      <p:sp>
        <p:nvSpPr>
          <p:cNvPr id="1741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baseline="0">
                <a:latin typeface="Times New Roman" pitchFamily="18" charset="0"/>
              </a:defRPr>
            </a:lvl1pPr>
          </a:lstStyle>
          <a:p>
            <a:pPr>
              <a:defRPr/>
            </a:pPr>
            <a:fld id="{03FF0817-35DE-4620-8116-CD53722ECFBA}" type="slidenum">
              <a:rPr lang="zh-CN" altLang="en-US"/>
              <a:pPr>
                <a:defRPr/>
              </a:pPr>
              <a:t>‹#›</a:t>
            </a:fld>
            <a:endParaRPr lang="en-US" altLang="zh-CN"/>
          </a:p>
        </p:txBody>
      </p:sp>
    </p:spTree>
    <p:extLst>
      <p:ext uri="{BB962C8B-B14F-4D97-AF65-F5344CB8AC3E}">
        <p14:creationId xmlns:p14="http://schemas.microsoft.com/office/powerpoint/2010/main" val="8365752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3FF0817-35DE-4620-8116-CD53722ECFBA}" type="slidenum">
              <a:rPr lang="zh-CN" altLang="en-US" smtClean="0"/>
              <a:pPr>
                <a:defRPr/>
              </a:pPr>
              <a:t>12</a:t>
            </a:fld>
            <a:endParaRPr lang="en-US" altLang="zh-CN"/>
          </a:p>
        </p:txBody>
      </p:sp>
    </p:spTree>
    <p:extLst>
      <p:ext uri="{BB962C8B-B14F-4D97-AF65-F5344CB8AC3E}">
        <p14:creationId xmlns:p14="http://schemas.microsoft.com/office/powerpoint/2010/main" val="41246836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3259299885"/>
      </p:ext>
    </p:extLst>
  </p:cSld>
  <p:clrMapOvr>
    <a:masterClrMapping/>
  </p:clrMapOvr>
  <p:transition spd="med">
    <p:random/>
    <p:sndAc>
      <p:stSnd>
        <p:snd r:embed="rId1" name="camera.wav"/>
      </p:stSnd>
    </p:sndAc>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10"/>
          </p:nvPr>
        </p:nvSpPr>
        <p:spPr>
          <a:xfrm>
            <a:off x="251520" y="0"/>
            <a:ext cx="5184576" cy="692696"/>
          </a:xfrm>
        </p:spPr>
        <p:txBody>
          <a:bodyPr/>
          <a:lstStyle>
            <a:lvl1pPr marL="0" indent="0">
              <a:buFont typeface="Arial" pitchFamily="34" charset="0"/>
              <a:buNone/>
              <a:defRPr/>
            </a:lvl1pPr>
          </a:lstStyle>
          <a:p>
            <a:pPr lvl="0"/>
            <a:r>
              <a:rPr lang="zh-CN" altLang="en-US" dirty="0" smtClean="0"/>
              <a:t>单击此处编辑母版文本样式</a:t>
            </a:r>
            <a:endParaRPr lang="zh-CN" altLang="en-US" dirty="0"/>
          </a:p>
        </p:txBody>
      </p:sp>
    </p:spTree>
    <p:extLst>
      <p:ext uri="{BB962C8B-B14F-4D97-AF65-F5344CB8AC3E}">
        <p14:creationId xmlns:p14="http://schemas.microsoft.com/office/powerpoint/2010/main" val="32728298"/>
      </p:ext>
    </p:extLst>
  </p:cSld>
  <p:clrMapOvr>
    <a:masterClrMapping/>
  </p:clrMapOvr>
  <p:transition spd="med">
    <p:random/>
    <p:sndAc>
      <p:stSnd>
        <p:snd r:embed="rId1" name="camera.wav"/>
      </p:stSnd>
    </p:sndAc>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327369996"/>
      </p:ext>
    </p:extLst>
  </p:cSld>
  <p:clrMapOvr>
    <a:masterClrMapping/>
  </p:clrMapOvr>
  <p:transition spd="med">
    <p:random/>
    <p:sndAc>
      <p:stSnd>
        <p:snd r:embed="rId1" name="camera.wav"/>
      </p:stSnd>
    </p:sndAc>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2276475"/>
            <a:ext cx="40386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59313" y="2276475"/>
            <a:ext cx="40386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38471048"/>
      </p:ext>
    </p:extLst>
  </p:cSld>
  <p:clrMapOvr>
    <a:masterClrMapping/>
  </p:clrMapOvr>
  <p:transition spd="med">
    <p:random/>
    <p:sndAc>
      <p:stSnd>
        <p:snd r:embed="rId1" name="camera.wav"/>
      </p:stSnd>
    </p:sndAc>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805030769"/>
      </p:ext>
    </p:extLst>
  </p:cSld>
  <p:clrMapOvr>
    <a:masterClrMapping/>
  </p:clrMapOvr>
  <p:transition spd="med">
    <p:random/>
    <p:sndAc>
      <p:stSnd>
        <p:snd r:embed="rId1" name="camera.wav"/>
      </p:stSnd>
    </p:sndAc>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900319221"/>
      </p:ext>
    </p:extLst>
  </p:cSld>
  <p:clrMapOvr>
    <a:masterClrMapping/>
  </p:clrMapOvr>
  <p:transition spd="med">
    <p:random/>
    <p:sndAc>
      <p:stSnd>
        <p:snd r:embed="rId1" name="camera.wav"/>
      </p:stSnd>
    </p:sndAc>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7708116"/>
      </p:ext>
    </p:extLst>
  </p:cSld>
  <p:clrMapOvr>
    <a:masterClrMapping/>
  </p:clrMapOvr>
  <p:transition spd="med">
    <p:random/>
    <p:sndAc>
      <p:stSnd>
        <p:snd r:embed="rId1" name="camera.wav"/>
      </p:stSnd>
    </p:sndAc>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3973091522"/>
      </p:ext>
    </p:extLst>
  </p:cSld>
  <p:clrMapOvr>
    <a:masterClrMapping/>
  </p:clrMapOvr>
  <p:transition spd="med">
    <p:random/>
    <p:sndAc>
      <p:stSnd>
        <p:snd r:embed="rId1" name="camera.wav"/>
      </p:stSnd>
    </p:sndAc>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591087053"/>
      </p:ext>
    </p:extLst>
  </p:cSld>
  <p:clrMapOvr>
    <a:masterClrMapping/>
  </p:clrMapOvr>
  <p:transition spd="med">
    <p:random/>
    <p:sndAc>
      <p:stSnd>
        <p:snd r:embed="rId1" name="camera.wav"/>
      </p:stSnd>
    </p:sndAc>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031903280"/>
      </p:ext>
    </p:extLst>
  </p:cSld>
  <p:clrMapOvr>
    <a:masterClrMapping/>
  </p:clrMapOvr>
  <p:transition spd="med">
    <p:random/>
    <p:sndAc>
      <p:stSnd>
        <p:snd r:embed="rId1" name="camera.wav"/>
      </p:stSnd>
    </p:sndAc>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0513" y="989013"/>
            <a:ext cx="2057400" cy="534193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989013"/>
            <a:ext cx="6019800" cy="534193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172337462"/>
      </p:ext>
    </p:extLst>
  </p:cSld>
  <p:clrMapOvr>
    <a:masterClrMapping/>
  </p:clrMapOvr>
  <p:transition spd="med">
    <p:random/>
    <p:sndAc>
      <p:stSnd>
        <p:snd r:embed="rId1" name="camera.wav"/>
      </p:stSnd>
    </p:sndAc>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428703181"/>
      </p:ext>
    </p:extLst>
  </p:cSld>
  <p:clrMapOvr>
    <a:masterClrMapping/>
  </p:clrMapOvr>
  <p:transition spd="med">
    <p:random/>
    <p:sndAc>
      <p:stSnd>
        <p:snd r:embed="rId1" name="camera.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889929177"/>
      </p:ext>
    </p:extLst>
  </p:cSld>
  <p:clrMapOvr>
    <a:masterClrMapping/>
  </p:clrMapOvr>
  <p:transition spd="med">
    <p:random/>
    <p:sndAc>
      <p:stSnd>
        <p:snd r:embed="rId1" name="camera.wav"/>
      </p:stSnd>
    </p:sndAc>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2300957311"/>
      </p:ext>
    </p:extLst>
  </p:cSld>
  <p:clrMapOvr>
    <a:masterClrMapping/>
  </p:clrMapOvr>
  <p:transition spd="med">
    <p:random/>
    <p:sndAc>
      <p:stSnd>
        <p:snd r:embed="rId1" name="camera.wav"/>
      </p:stSnd>
    </p:sndAc>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2276475"/>
            <a:ext cx="40386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59313" y="2276475"/>
            <a:ext cx="40386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775605511"/>
      </p:ext>
    </p:extLst>
  </p:cSld>
  <p:clrMapOvr>
    <a:masterClrMapping/>
  </p:clrMapOvr>
  <p:transition spd="med">
    <p:random/>
    <p:sndAc>
      <p:stSnd>
        <p:snd r:embed="rId1" name="camera.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274208064"/>
      </p:ext>
    </p:extLst>
  </p:cSld>
  <p:clrMapOvr>
    <a:masterClrMapping/>
  </p:clrMapOvr>
  <p:transition spd="med">
    <p:random/>
    <p:sndAc>
      <p:stSnd>
        <p:snd r:embed="rId1" name="camera.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2841115760"/>
      </p:ext>
    </p:extLst>
  </p:cSld>
  <p:clrMapOvr>
    <a:masterClrMapping/>
  </p:clrMapOvr>
  <p:transition spd="med">
    <p:random/>
    <p:sndAc>
      <p:stSnd>
        <p:snd r:embed="rId1" name="camera.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448512"/>
      </p:ext>
    </p:extLst>
  </p:cSld>
  <p:clrMapOvr>
    <a:masterClrMapping/>
  </p:clrMapOvr>
  <p:transition spd="med">
    <p:random/>
    <p:sndAc>
      <p:stSnd>
        <p:snd r:embed="rId1" name="camera.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383818363"/>
      </p:ext>
    </p:extLst>
  </p:cSld>
  <p:clrMapOvr>
    <a:masterClrMapping/>
  </p:clrMapOvr>
  <p:transition spd="med">
    <p:random/>
    <p:sndAc>
      <p:stSnd>
        <p:snd r:embed="rId1" name="camera.wav"/>
      </p:stSnd>
    </p:sndAc>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362087261"/>
      </p:ext>
    </p:extLst>
  </p:cSld>
  <p:clrMapOvr>
    <a:masterClrMapping/>
  </p:clrMapOvr>
  <p:transition spd="med">
    <p:random/>
    <p:sndAc>
      <p:stSnd>
        <p:snd r:embed="rId1" name="camera.wav"/>
      </p:stSnd>
    </p:sndAc>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006607732"/>
      </p:ext>
    </p:extLst>
  </p:cSld>
  <p:clrMapOvr>
    <a:masterClrMapping/>
  </p:clrMapOvr>
  <p:transition spd="med">
    <p:random/>
    <p:sndAc>
      <p:stSnd>
        <p:snd r:embed="rId1" name="camera.wav"/>
      </p:stSnd>
    </p:sndAc>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0513" y="989013"/>
            <a:ext cx="2057400" cy="534193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989013"/>
            <a:ext cx="6019800" cy="534193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38588001"/>
      </p:ext>
    </p:extLst>
  </p:cSld>
  <p:clrMapOvr>
    <a:masterClrMapping/>
  </p:clrMapOvr>
  <p:transition spd="med">
    <p:random/>
    <p:sndAc>
      <p:stSnd>
        <p:snd r:embed="rId1" name="camera.wav"/>
      </p:stSnd>
    </p:sndAc>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audio" Target="../media/audio1.wav"/><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541702" name="Rectangle 6"/>
          <p:cNvSpPr>
            <a:spLocks noGrp="1" noChangeArrowheads="1"/>
          </p:cNvSpPr>
          <p:nvPr>
            <p:ph type="body" idx="1"/>
          </p:nvPr>
        </p:nvSpPr>
        <p:spPr bwMode="auto">
          <a:xfrm>
            <a:off x="468313" y="2276475"/>
            <a:ext cx="8229600" cy="405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541704" name="Rectangle 8"/>
          <p:cNvSpPr>
            <a:spLocks noGrp="1" noChangeArrowheads="1"/>
          </p:cNvSpPr>
          <p:nvPr>
            <p:ph type="title"/>
          </p:nvPr>
        </p:nvSpPr>
        <p:spPr bwMode="auto">
          <a:xfrm>
            <a:off x="468313" y="940485"/>
            <a:ext cx="5724644" cy="646331"/>
          </a:xfrm>
          <a:prstGeom prst="rect">
            <a:avLst/>
          </a:prstGeom>
          <a:noFill/>
          <a:ln w="9525">
            <a:noFill/>
            <a:miter lim="800000"/>
            <a:headEnd/>
            <a:tailEnd/>
          </a:ln>
          <a:effectLst>
            <a:outerShdw dist="17961" dir="2700000" algn="ctr" rotWithShape="0">
              <a:schemeClr val="bg2"/>
            </a:outerShdw>
          </a:effectLst>
        </p:spPr>
        <p:txBody>
          <a:bodyPr vert="horz" wrap="none" lIns="91440" tIns="45720" rIns="91440" bIns="45720" numCol="1" anchor="ctr" anchorCtr="0" compatLnSpc="1">
            <a:prstTxWarp prst="textNoShape">
              <a:avLst/>
            </a:prstTxWarp>
            <a:spAutoFit/>
          </a:bodyPr>
          <a:lstStyle/>
          <a:p>
            <a:pPr lvl="0"/>
            <a:r>
              <a:rPr lang="zh-CN" altLang="en-US" smtClean="0"/>
              <a:t>单击此处编辑母版标题样式</a:t>
            </a:r>
          </a:p>
        </p:txBody>
      </p:sp>
      <p:sp>
        <p:nvSpPr>
          <p:cNvPr id="541705" name="Text Box 9"/>
          <p:cNvSpPr txBox="1">
            <a:spLocks noChangeArrowheads="1"/>
          </p:cNvSpPr>
          <p:nvPr userDrawn="1"/>
        </p:nvSpPr>
        <p:spPr bwMode="auto">
          <a:xfrm>
            <a:off x="8523288" y="6535738"/>
            <a:ext cx="625475" cy="325437"/>
          </a:xfrm>
          <a:prstGeom prst="rect">
            <a:avLst/>
          </a:prstGeom>
          <a:noFill/>
          <a:ln w="12700" cap="sq" algn="ctr">
            <a:noFill/>
            <a:miter lim="800000"/>
            <a:headEnd/>
            <a:tailEnd/>
          </a:ln>
          <a:effectLst/>
        </p:spPr>
        <p:txBody>
          <a:bodyPr wrap="none" lIns="72000" tIns="72000" rIns="72000" bIns="72000">
            <a:spAutoFit/>
          </a:bodyPr>
          <a:lstStyle/>
          <a:p>
            <a:pPr algn="ctr">
              <a:defRPr/>
            </a:pPr>
            <a:r>
              <a:rPr lang="zh-CN" altLang="en-US" sz="1800"/>
              <a:t>第</a:t>
            </a:r>
            <a:fld id="{D47062A0-A533-473A-A128-DAF72A01CC3E}" type="slidenum">
              <a:rPr lang="zh-CN" altLang="en-US" sz="1800"/>
              <a:pPr algn="ctr">
                <a:defRPr/>
              </a:pPr>
              <a:t>‹#›</a:t>
            </a:fld>
            <a:r>
              <a:rPr lang="zh-CN" altLang="en-US" sz="1800"/>
              <a:t>页</a:t>
            </a:r>
            <a:endParaRPr lang="en-US" altLang="zh-CN" sz="1800"/>
          </a:p>
        </p:txBody>
      </p:sp>
      <p:sp>
        <p:nvSpPr>
          <p:cNvPr id="541706" name="Text Box 10"/>
          <p:cNvSpPr txBox="1">
            <a:spLocks noChangeArrowheads="1"/>
          </p:cNvSpPr>
          <p:nvPr userDrawn="1"/>
        </p:nvSpPr>
        <p:spPr bwMode="auto">
          <a:xfrm>
            <a:off x="6854610" y="131763"/>
            <a:ext cx="2000548" cy="184666"/>
          </a:xfrm>
          <a:prstGeom prst="rect">
            <a:avLst/>
          </a:prstGeom>
          <a:noFill/>
          <a:ln w="12700" cap="sq">
            <a:noFill/>
            <a:miter lim="800000"/>
            <a:headEnd/>
            <a:tailEnd/>
          </a:ln>
          <a:effectLst/>
        </p:spPr>
        <p:txBody>
          <a:bodyPr wrap="none" lIns="0" tIns="0" rIns="0" bIns="0">
            <a:spAutoFit/>
          </a:bodyPr>
          <a:lstStyle/>
          <a:p>
            <a:pPr algn="ctr">
              <a:defRPr/>
            </a:pPr>
            <a:r>
              <a:rPr lang="zh-CN" altLang="en-US" sz="1800" dirty="0">
                <a:solidFill>
                  <a:srgbClr val="8BB1E9"/>
                </a:solidFill>
                <a:effectLst>
                  <a:outerShdw blurRad="38100" dist="38100" dir="2700000" algn="tl">
                    <a:srgbClr val="000000"/>
                  </a:outerShdw>
                </a:effectLst>
                <a:latin typeface="Times New Roman" pitchFamily="18" charset="0"/>
              </a:rPr>
              <a:t>四川农业大学    潘勇浩 </a:t>
            </a:r>
            <a:r>
              <a:rPr lang="zh-CN" altLang="en-US" sz="1800" dirty="0" smtClean="0">
                <a:solidFill>
                  <a:srgbClr val="8BB1E9"/>
                </a:solidFill>
                <a:effectLst>
                  <a:outerShdw blurRad="38100" dist="38100" dir="2700000" algn="tl">
                    <a:srgbClr val="000000"/>
                  </a:outerShdw>
                </a:effectLst>
                <a:latin typeface="Times New Roman" pitchFamily="18" charset="0"/>
              </a:rPr>
              <a:t>   </a:t>
            </a:r>
            <a:r>
              <a:rPr lang="en-US" altLang="zh-CN" sz="1800" dirty="0" smtClean="0">
                <a:solidFill>
                  <a:srgbClr val="8BB1E9"/>
                </a:solidFill>
                <a:effectLst>
                  <a:outerShdw blurRad="38100" dist="38100" dir="2700000" algn="tl">
                    <a:srgbClr val="000000"/>
                  </a:outerShdw>
                </a:effectLst>
                <a:latin typeface="Times New Roman" pitchFamily="18" charset="0"/>
              </a:rPr>
              <a:t>2019</a:t>
            </a:r>
            <a:endParaRPr lang="zh-CN" altLang="en-US" sz="1800" dirty="0">
              <a:solidFill>
                <a:srgbClr val="8BB1E9"/>
              </a:solidFill>
              <a:effectLst>
                <a:outerShdw blurRad="38100" dist="38100" dir="2700000" algn="tl">
                  <a:srgbClr val="000000"/>
                </a:outerShdw>
              </a:effectLst>
              <a:latin typeface="Times New Roman" pitchFamily="18" charset="0"/>
            </a:endParaRPr>
          </a:p>
        </p:txBody>
      </p:sp>
    </p:spTree>
  </p:cSld>
  <p:clrMap bg1="dk2" tx1="lt1" bg2="dk1"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ransition spd="med">
    <p:random/>
    <p:sndAc>
      <p:stSnd>
        <p:snd r:embed="rId13" name="camera.wav"/>
      </p:stSnd>
    </p:sndAc>
  </p:transition>
  <p:timing>
    <p:tnLst>
      <p:par>
        <p:cTn id="1" dur="indefinite" restart="never" nodeType="tmRoot"/>
      </p:par>
    </p:tnLst>
  </p:timing>
  <p:txStyles>
    <p:titleStyle>
      <a:lvl1pPr algn="l" rtl="0" eaLnBrk="0" fontAlgn="base" hangingPunct="0">
        <a:spcBef>
          <a:spcPct val="0"/>
        </a:spcBef>
        <a:spcAft>
          <a:spcPct val="0"/>
        </a:spcAft>
        <a:defRPr sz="3600">
          <a:solidFill>
            <a:srgbClr val="FF9900"/>
          </a:solidFill>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p:titleStyle>
    <p:bodyStyle>
      <a:lvl1pPr marL="342900" indent="-342900" algn="l" rtl="0" eaLnBrk="0" fontAlgn="base" hangingPunct="0">
        <a:spcBef>
          <a:spcPct val="0"/>
        </a:spcBef>
        <a:spcAft>
          <a:spcPct val="40000"/>
        </a:spcAft>
        <a:buClr>
          <a:srgbClr val="66FF33"/>
        </a:buClr>
        <a:buSzPct val="85000"/>
        <a:buFont typeface="Wingdings" pitchFamily="2" charset="2"/>
        <a:buBlip>
          <a:blip r:embed="rId15"/>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541702" name="Rectangle 6"/>
          <p:cNvSpPr>
            <a:spLocks noGrp="1" noChangeArrowheads="1"/>
          </p:cNvSpPr>
          <p:nvPr>
            <p:ph type="body" idx="1"/>
          </p:nvPr>
        </p:nvSpPr>
        <p:spPr bwMode="auto">
          <a:xfrm>
            <a:off x="468313" y="2276475"/>
            <a:ext cx="8229600" cy="405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541704" name="Rectangle 8"/>
          <p:cNvSpPr>
            <a:spLocks noGrp="1" noChangeArrowheads="1"/>
          </p:cNvSpPr>
          <p:nvPr>
            <p:ph type="title"/>
          </p:nvPr>
        </p:nvSpPr>
        <p:spPr bwMode="auto">
          <a:xfrm>
            <a:off x="468313" y="989013"/>
            <a:ext cx="4756150" cy="549275"/>
          </a:xfrm>
          <a:prstGeom prst="rect">
            <a:avLst/>
          </a:prstGeom>
          <a:noFill/>
          <a:ln w="9525">
            <a:noFill/>
            <a:miter lim="800000"/>
            <a:headEnd/>
            <a:tailEnd/>
          </a:ln>
          <a:effectLst>
            <a:outerShdw dist="17961" dir="2700000" algn="ctr" rotWithShape="0">
              <a:schemeClr val="bg2"/>
            </a:outerShdw>
          </a:effectLst>
        </p:spPr>
        <p:txBody>
          <a:bodyPr vert="horz" wrap="none" lIns="91440" tIns="45720" rIns="91440" bIns="45720" numCol="1" anchor="ctr" anchorCtr="0" compatLnSpc="1">
            <a:prstTxWarp prst="textNoShape">
              <a:avLst/>
            </a:prstTxWarp>
            <a:spAutoFit/>
          </a:bodyPr>
          <a:lstStyle/>
          <a:p>
            <a:pPr lvl="0"/>
            <a:r>
              <a:rPr lang="zh-CN" altLang="en-US" smtClean="0"/>
              <a:t>单击此处编辑母版标题样式</a:t>
            </a:r>
          </a:p>
        </p:txBody>
      </p:sp>
      <p:sp>
        <p:nvSpPr>
          <p:cNvPr id="541705" name="Text Box 9"/>
          <p:cNvSpPr txBox="1">
            <a:spLocks noChangeArrowheads="1"/>
          </p:cNvSpPr>
          <p:nvPr userDrawn="1"/>
        </p:nvSpPr>
        <p:spPr bwMode="auto">
          <a:xfrm>
            <a:off x="8523288" y="6535738"/>
            <a:ext cx="625475" cy="325437"/>
          </a:xfrm>
          <a:prstGeom prst="rect">
            <a:avLst/>
          </a:prstGeom>
          <a:noFill/>
          <a:ln w="12700" cap="sq" algn="ctr">
            <a:noFill/>
            <a:miter lim="800000"/>
            <a:headEnd/>
            <a:tailEnd/>
          </a:ln>
          <a:effectLst/>
        </p:spPr>
        <p:txBody>
          <a:bodyPr wrap="none" lIns="72000" tIns="72000" rIns="72000" bIns="72000">
            <a:spAutoFit/>
          </a:bodyPr>
          <a:lstStyle/>
          <a:p>
            <a:pPr algn="ctr">
              <a:defRPr/>
            </a:pPr>
            <a:r>
              <a:rPr lang="zh-CN" altLang="en-US">
                <a:solidFill>
                  <a:srgbClr val="FFFFFF"/>
                </a:solidFill>
                <a:ea typeface="楷体_GB2312" pitchFamily="49" charset="-122"/>
              </a:rPr>
              <a:t>第</a:t>
            </a:r>
            <a:fld id="{78266903-B61B-4C5B-94FC-7A9B41F88A36}" type="slidenum">
              <a:rPr lang="zh-CN" altLang="en-US">
                <a:solidFill>
                  <a:srgbClr val="FFFFFF"/>
                </a:solidFill>
                <a:ea typeface="楷体_GB2312" pitchFamily="49" charset="-122"/>
              </a:rPr>
              <a:pPr algn="ctr">
                <a:defRPr/>
              </a:pPr>
              <a:t>‹#›</a:t>
            </a:fld>
            <a:r>
              <a:rPr lang="zh-CN" altLang="en-US">
                <a:solidFill>
                  <a:srgbClr val="FFFFFF"/>
                </a:solidFill>
                <a:ea typeface="楷体_GB2312" pitchFamily="49" charset="-122"/>
              </a:rPr>
              <a:t>页</a:t>
            </a:r>
            <a:endParaRPr lang="en-US" altLang="zh-CN">
              <a:solidFill>
                <a:srgbClr val="FFFFFF"/>
              </a:solidFill>
              <a:ea typeface="楷体_GB2312" pitchFamily="49" charset="-122"/>
            </a:endParaRPr>
          </a:p>
        </p:txBody>
      </p:sp>
      <p:sp>
        <p:nvSpPr>
          <p:cNvPr id="541706" name="Text Box 10"/>
          <p:cNvSpPr txBox="1">
            <a:spLocks noChangeArrowheads="1"/>
          </p:cNvSpPr>
          <p:nvPr userDrawn="1"/>
        </p:nvSpPr>
        <p:spPr bwMode="auto">
          <a:xfrm>
            <a:off x="6516688" y="131763"/>
            <a:ext cx="2489200" cy="244475"/>
          </a:xfrm>
          <a:prstGeom prst="rect">
            <a:avLst/>
          </a:prstGeom>
          <a:noFill/>
          <a:ln w="12700" cap="sq">
            <a:noFill/>
            <a:miter lim="800000"/>
            <a:headEnd/>
            <a:tailEnd/>
          </a:ln>
          <a:effectLst/>
        </p:spPr>
        <p:txBody>
          <a:bodyPr wrap="none" lIns="0" tIns="0" rIns="0" bIns="0">
            <a:spAutoFit/>
          </a:bodyPr>
          <a:lstStyle/>
          <a:p>
            <a:pPr algn="ctr">
              <a:defRPr/>
            </a:pPr>
            <a:r>
              <a:rPr kumimoji="1" lang="zh-CN" altLang="en-US" sz="1600">
                <a:solidFill>
                  <a:srgbClr val="8BB1E9"/>
                </a:solidFill>
                <a:effectLst>
                  <a:outerShdw blurRad="38100" dist="38100" dir="2700000" algn="tl">
                    <a:srgbClr val="000000"/>
                  </a:outerShdw>
                </a:effectLst>
                <a:latin typeface="Times New Roman" pitchFamily="18" charset="0"/>
                <a:ea typeface="楷体_GB2312" pitchFamily="49" charset="-122"/>
              </a:rPr>
              <a:t>四川农业大学    潘勇浩 制作</a:t>
            </a:r>
          </a:p>
        </p:txBody>
      </p:sp>
    </p:spTree>
  </p:cSld>
  <p:clrMap bg1="dk2" tx1="lt1" bg2="dk1" tx2="lt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transition spd="med">
    <p:random/>
    <p:sndAc>
      <p:stSnd>
        <p:snd r:embed="rId13" name="camera.wav"/>
      </p:stSnd>
    </p:sndAc>
  </p:transition>
  <p:timing>
    <p:tnLst>
      <p:par>
        <p:cTn id="1" dur="indefinite" restart="never" nodeType="tmRoot"/>
      </p:par>
    </p:tnLst>
  </p:timing>
  <p:txStyles>
    <p:titleStyle>
      <a:lvl1pPr algn="l" rtl="0" eaLnBrk="0" fontAlgn="base" hangingPunct="0">
        <a:spcBef>
          <a:spcPct val="0"/>
        </a:spcBef>
        <a:spcAft>
          <a:spcPct val="0"/>
        </a:spcAft>
        <a:defRPr sz="3000">
          <a:solidFill>
            <a:srgbClr val="FF9900"/>
          </a:solidFill>
          <a:latin typeface="+mj-lt"/>
          <a:ea typeface="+mj-ea"/>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p:titleStyle>
    <p:bodyStyle>
      <a:lvl1pPr marL="342900" indent="-342900" algn="l" rtl="0" eaLnBrk="0" fontAlgn="base" hangingPunct="0">
        <a:spcBef>
          <a:spcPct val="0"/>
        </a:spcBef>
        <a:spcAft>
          <a:spcPct val="40000"/>
        </a:spcAft>
        <a:buClr>
          <a:srgbClr val="66FF33"/>
        </a:buClr>
        <a:buSzPct val="85000"/>
        <a:buFont typeface="Wingdings" pitchFamily="2" charset="2"/>
        <a:buBlip>
          <a:blip r:embed="rId15"/>
        </a:buBlip>
        <a:defRPr sz="32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4.xml"/><Relationship Id="rId4" Type="http://schemas.openxmlformats.org/officeDocument/2006/relationships/audio" Target="../media/audio1.wav"/></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audio" Target="../media/audio1.wav"/><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lum/>
          </a:blip>
          <a:srcRect/>
          <a:stretch>
            <a:fillRect/>
          </a:stretch>
        </a:blipFill>
        <a:effectLst/>
      </p:bgPr>
    </p:bg>
    <p:spTree>
      <p:nvGrpSpPr>
        <p:cNvPr id="1" name=""/>
        <p:cNvGrpSpPr/>
        <p:nvPr/>
      </p:nvGrpSpPr>
      <p:grpSpPr>
        <a:xfrm>
          <a:off x="0" y="0"/>
          <a:ext cx="0" cy="0"/>
          <a:chOff x="0" y="0"/>
          <a:chExt cx="0" cy="0"/>
        </a:xfrm>
      </p:grpSpPr>
      <p:sp>
        <p:nvSpPr>
          <p:cNvPr id="538628" name="Rectangle 4"/>
          <p:cNvSpPr>
            <a:spLocks noGrp="1" noChangeArrowheads="1"/>
          </p:cNvSpPr>
          <p:nvPr>
            <p:ph type="title" idx="4294967295"/>
          </p:nvPr>
        </p:nvSpPr>
        <p:spPr>
          <a:xfrm flipH="1">
            <a:off x="-571500" y="142875"/>
            <a:ext cx="428625" cy="1428750"/>
          </a:xfrm>
        </p:spPr>
        <p:txBody>
          <a:bodyPr/>
          <a:lstStyle/>
          <a:p>
            <a:pPr eaLnBrk="1" hangingPunct="1">
              <a:defRPr/>
            </a:pPr>
            <a:r>
              <a:rPr lang="en-US" altLang="zh-CN" sz="800" dirty="0" smtClean="0"/>
              <a:t>face</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标题 4"/>
          <p:cNvSpPr>
            <a:spLocks noGrp="1"/>
          </p:cNvSpPr>
          <p:nvPr>
            <p:ph type="title"/>
          </p:nvPr>
        </p:nvSpPr>
        <p:spPr>
          <a:xfrm>
            <a:off x="211540" y="0"/>
            <a:ext cx="2031325" cy="646331"/>
          </a:xfrm>
        </p:spPr>
        <p:txBody>
          <a:bodyPr/>
          <a:lstStyle/>
          <a:p>
            <a:r>
              <a:rPr lang="zh-CN" altLang="en-US" dirty="0" smtClean="0"/>
              <a:t>教学环节</a:t>
            </a:r>
            <a:endParaRPr lang="zh-CN" altLang="en-US" dirty="0"/>
          </a:p>
        </p:txBody>
      </p:sp>
      <mc:AlternateContent xmlns:mc="http://schemas.openxmlformats.org/markup-compatibility/2006" xmlns:a14="http://schemas.microsoft.com/office/drawing/2010/main">
        <mc:Choice Requires="a14">
          <p:sp>
            <p:nvSpPr>
              <p:cNvPr id="14" name="Rectangle 3"/>
              <p:cNvSpPr txBox="1">
                <a:spLocks noChangeArrowheads="1"/>
              </p:cNvSpPr>
              <p:nvPr/>
            </p:nvSpPr>
            <p:spPr bwMode="auto">
              <a:xfrm>
                <a:off x="201117" y="836712"/>
                <a:ext cx="8536924" cy="54726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a:spcAft>
                    <a:spcPts val="1800"/>
                  </a:spcAft>
                </a:pPr>
                <a:r>
                  <a:rPr lang="en-US" altLang="zh-CN" sz="3000" kern="0" baseline="0" dirty="0" smtClean="0"/>
                  <a:t>课堂讲授36学时</a:t>
                </a:r>
                <a:r>
                  <a:rPr lang="zh-CN" altLang="en-US" sz="3000" kern="0" baseline="0" dirty="0" smtClean="0"/>
                  <a:t>，突出重难点内容；要求遵守课堂秩序、互动听讲、复习预习，听课状态会反映到最终的成绩档次上。</a:t>
                </a:r>
              </a:p>
              <a:p>
                <a:pPr>
                  <a:spcAft>
                    <a:spcPts val="1800"/>
                  </a:spcAft>
                </a:pPr>
                <a:r>
                  <a:rPr lang="zh-CN" altLang="en-US" sz="3000" kern="0" baseline="0" dirty="0" smtClean="0"/>
                  <a:t>实验</a:t>
                </a:r>
                <a:r>
                  <a:rPr lang="en-US" altLang="zh-CN" sz="3000" kern="0" baseline="0" dirty="0" smtClean="0"/>
                  <a:t>24</a:t>
                </a:r>
                <a:r>
                  <a:rPr lang="zh-CN" altLang="en-US" sz="3000" kern="0" baseline="0" dirty="0" smtClean="0"/>
                  <a:t>学时</a:t>
                </a:r>
                <a:r>
                  <a:rPr lang="zh-CN" altLang="en-US" sz="3000" kern="0" baseline="0" dirty="0"/>
                  <a:t>，</a:t>
                </a:r>
                <a:r>
                  <a:rPr lang="zh-CN" altLang="en-US" sz="3000" kern="0" baseline="0" dirty="0" smtClean="0"/>
                  <a:t>要依据实时实验状态、进度和效果，以及实验报告来评定实验成绩。</a:t>
                </a:r>
              </a:p>
              <a:p>
                <a:pPr>
                  <a:spcAft>
                    <a:spcPts val="1800"/>
                  </a:spcAft>
                </a:pPr>
                <a:r>
                  <a:rPr lang="zh-CN" altLang="en-US" sz="3000" kern="0" baseline="0" dirty="0"/>
                  <a:t>课堂内外学时比应该为</a:t>
                </a:r>
                <a:r>
                  <a:rPr lang="en-US" altLang="zh-CN" sz="3000" kern="0" baseline="0" dirty="0"/>
                  <a:t>1:1</a:t>
                </a:r>
                <a14:m>
                  <m:oMath xmlns:m="http://schemas.openxmlformats.org/officeDocument/2006/math">
                    <m:r>
                      <a:rPr lang="en-US" altLang="zh-CN" sz="3000" i="1" kern="0" baseline="0">
                        <a:latin typeface="Cambria Math" panose="02040503050406030204" pitchFamily="18" charset="0"/>
                      </a:rPr>
                      <m:t>~</m:t>
                    </m:r>
                  </m:oMath>
                </a14:m>
                <a:r>
                  <a:rPr lang="en-US" altLang="zh-CN" sz="3000" kern="0" baseline="0" dirty="0"/>
                  <a:t>2 </a:t>
                </a:r>
                <a:r>
                  <a:rPr lang="zh-CN" altLang="en-US" sz="3000" kern="0" baseline="0" dirty="0" smtClean="0"/>
                  <a:t>，</a:t>
                </a:r>
                <a:r>
                  <a:rPr lang="en-US" altLang="zh-CN" sz="3000" kern="0" baseline="0" dirty="0" smtClean="0"/>
                  <a:t>课后</a:t>
                </a:r>
                <a:r>
                  <a:rPr lang="zh-CN" altLang="en-US" sz="3000" kern="0" baseline="0" dirty="0" smtClean="0"/>
                  <a:t>自学部分由教师在课堂讲授中根据需要临时布置。</a:t>
                </a:r>
              </a:p>
              <a:p>
                <a:pPr>
                  <a:spcAft>
                    <a:spcPts val="1800"/>
                  </a:spcAft>
                </a:pPr>
                <a:r>
                  <a:rPr lang="zh-CN" altLang="en-US" sz="3000" kern="0" baseline="0" dirty="0" smtClean="0"/>
                  <a:t>作业是巩固理解课本及课堂内容，不是仅仅做出个答案。请准备作业本，平时抽查，期末全收。</a:t>
                </a:r>
                <a:endParaRPr lang="en-US" altLang="zh-CN" sz="3000" kern="0" baseline="0" dirty="0" smtClean="0"/>
              </a:p>
              <a:p>
                <a:pPr>
                  <a:spcAft>
                    <a:spcPts val="1800"/>
                  </a:spcAft>
                </a:pPr>
                <a:r>
                  <a:rPr lang="zh-CN" altLang="en-US" sz="3000" kern="0" baseline="0" dirty="0" smtClean="0"/>
                  <a:t>各环节都会抽查，计入考勤做为成绩调节因子</a:t>
                </a:r>
              </a:p>
            </p:txBody>
          </p:sp>
        </mc:Choice>
        <mc:Fallback xmlns="">
          <p:sp>
            <p:nvSpPr>
              <p:cNvPr id="14" name="Rectangle 3"/>
              <p:cNvSpPr txBox="1">
                <a:spLocks noRot="1" noChangeAspect="1" noMove="1" noResize="1" noEditPoints="1" noAdjustHandles="1" noChangeArrowheads="1" noChangeShapeType="1" noTextEdit="1"/>
              </p:cNvSpPr>
              <p:nvPr/>
            </p:nvSpPr>
            <p:spPr bwMode="auto">
              <a:xfrm>
                <a:off x="201117" y="836712"/>
                <a:ext cx="8536924" cy="5472608"/>
              </a:xfrm>
              <a:prstGeom prst="rect">
                <a:avLst/>
              </a:prstGeom>
              <a:blipFill>
                <a:blip r:embed="rId4"/>
                <a:stretch>
                  <a:fillRect t="-1559" r="-2071" b="-6013"/>
                </a:stretch>
              </a:blipFill>
              <a:ln w="9525">
                <a:noFill/>
                <a:miter lim="800000"/>
                <a:headEnd/>
                <a:tailEnd/>
              </a:ln>
              <a:effectLst/>
            </p:spPr>
            <p:txBody>
              <a:bodyPr/>
              <a:lstStyle/>
              <a:p>
                <a:r>
                  <a:rPr lang="zh-CN" altLang="en-US">
                    <a:noFill/>
                  </a:rPr>
                  <a:t> </a:t>
                </a:r>
              </a:p>
            </p:txBody>
          </p:sp>
        </mc:Fallback>
      </mc:AlternateContent>
    </p:spTree>
    <p:extLst>
      <p:ext uri="{BB962C8B-B14F-4D97-AF65-F5344CB8AC3E}">
        <p14:creationId xmlns:p14="http://schemas.microsoft.com/office/powerpoint/2010/main" val="2032515542"/>
      </p:ext>
    </p:extLst>
  </p:cSld>
  <p:clrMapOvr>
    <a:masterClrMapping/>
  </p:clrMapOvr>
  <mc:AlternateContent xmlns:mc="http://schemas.openxmlformats.org/markup-compatibility/2006" xmlns:p14="http://schemas.microsoft.com/office/powerpoint/2010/main">
    <mc:Choice Requires="p14">
      <p:transition spd="slow" p14:dur="1500">
        <p:split orient="vert"/>
        <p:sndAc>
          <p:stSnd>
            <p:snd r:embed="rId2" name="camera.wav"/>
          </p:stSnd>
        </p:sndAc>
      </p:transition>
    </mc:Choice>
    <mc:Fallback xmlns="">
      <p:transition spd="slow">
        <p:split orient="vert"/>
        <p:sndAc>
          <p:stSnd>
            <p:snd r:embed="rId5" name="camera.wav"/>
          </p:stSnd>
        </p:sndAc>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标题 4"/>
          <p:cNvSpPr>
            <a:spLocks noGrp="1"/>
          </p:cNvSpPr>
          <p:nvPr>
            <p:ph type="title"/>
          </p:nvPr>
        </p:nvSpPr>
        <p:spPr>
          <a:xfrm>
            <a:off x="211540" y="0"/>
            <a:ext cx="2031325" cy="646331"/>
          </a:xfrm>
        </p:spPr>
        <p:txBody>
          <a:bodyPr/>
          <a:lstStyle/>
          <a:p>
            <a:r>
              <a:rPr lang="zh-CN" altLang="en-US" dirty="0" smtClean="0"/>
              <a:t>成绩构成</a:t>
            </a:r>
            <a:endParaRPr lang="zh-CN" altLang="en-US" dirty="0"/>
          </a:p>
        </p:txBody>
      </p:sp>
      <p:graphicFrame>
        <p:nvGraphicFramePr>
          <p:cNvPr id="9" name="图表 8"/>
          <p:cNvGraphicFramePr/>
          <p:nvPr>
            <p:extLst>
              <p:ext uri="{D42A27DB-BD31-4B8C-83A1-F6EECF244321}">
                <p14:modId xmlns:p14="http://schemas.microsoft.com/office/powerpoint/2010/main" val="497745299"/>
              </p:ext>
            </p:extLst>
          </p:nvPr>
        </p:nvGraphicFramePr>
        <p:xfrm>
          <a:off x="440658" y="980727"/>
          <a:ext cx="6624736" cy="5472608"/>
        </p:xfrm>
        <a:graphic>
          <a:graphicData uri="http://schemas.openxmlformats.org/drawingml/2006/chart">
            <c:chart xmlns:c="http://schemas.openxmlformats.org/drawingml/2006/chart" xmlns:r="http://schemas.openxmlformats.org/officeDocument/2006/relationships" r:id="rId3"/>
          </a:graphicData>
        </a:graphic>
      </p:graphicFrame>
      <p:sp>
        <p:nvSpPr>
          <p:cNvPr id="10" name="标题 4"/>
          <p:cNvSpPr txBox="1">
            <a:spLocks/>
          </p:cNvSpPr>
          <p:nvPr/>
        </p:nvSpPr>
        <p:spPr bwMode="auto">
          <a:xfrm>
            <a:off x="7092280" y="2491055"/>
            <a:ext cx="800219" cy="2451953"/>
          </a:xfrm>
          <a:prstGeom prst="rect">
            <a:avLst/>
          </a:prstGeom>
          <a:noFill/>
          <a:ln w="9525">
            <a:noFill/>
            <a:miter lim="800000"/>
            <a:headEnd/>
            <a:tailEnd/>
          </a:ln>
          <a:effectLst>
            <a:outerShdw dist="17961" dir="2700000" algn="ctr" rotWithShape="0">
              <a:schemeClr val="bg2"/>
            </a:outerShdw>
          </a:effectLst>
        </p:spPr>
        <p:txBody>
          <a:bodyPr vert="eaVert"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3600">
                <a:solidFill>
                  <a:srgbClr val="FF9900"/>
                </a:solidFill>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r>
              <a:rPr lang="zh-CN" altLang="en-US" sz="4000" kern="0" spc="600" baseline="0" dirty="0" smtClean="0"/>
              <a:t>环环合格</a:t>
            </a:r>
            <a:endParaRPr lang="zh-CN" altLang="en-US" sz="4000" kern="0" spc="600" baseline="0" dirty="0"/>
          </a:p>
        </p:txBody>
      </p:sp>
    </p:spTree>
    <p:extLst>
      <p:ext uri="{BB962C8B-B14F-4D97-AF65-F5344CB8AC3E}">
        <p14:creationId xmlns:p14="http://schemas.microsoft.com/office/powerpoint/2010/main" val="3037984986"/>
      </p:ext>
    </p:extLst>
  </p:cSld>
  <p:clrMapOvr>
    <a:masterClrMapping/>
  </p:clrMapOvr>
  <mc:AlternateContent xmlns:mc="http://schemas.openxmlformats.org/markup-compatibility/2006" xmlns:p14="http://schemas.microsoft.com/office/powerpoint/2010/main">
    <mc:Choice Requires="p14">
      <p:transition spd="slow" p14:dur="1500">
        <p:split orient="vert"/>
        <p:sndAc>
          <p:stSnd>
            <p:snd r:embed="rId2" name="camera.wav"/>
          </p:stSnd>
        </p:sndAc>
      </p:transition>
    </mc:Choice>
    <mc:Fallback xmlns="">
      <p:transition spd="slow">
        <p:split orient="vert"/>
        <p:sndAc>
          <p:stSnd>
            <p:snd r:embed="rId4" name="camera.wav"/>
          </p:stSnd>
        </p:sndAc>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1" name="WordArt 21"/>
          <p:cNvSpPr>
            <a:spLocks noChangeArrowheads="1" noChangeShapeType="1" noTextEdit="1"/>
          </p:cNvSpPr>
          <p:nvPr/>
        </p:nvSpPr>
        <p:spPr bwMode="auto">
          <a:xfrm>
            <a:off x="2477780" y="1628800"/>
            <a:ext cx="3966428" cy="731122"/>
          </a:xfrm>
          <a:prstGeom prst="rect">
            <a:avLst/>
          </a:prstGeom>
        </p:spPr>
        <p:txBody>
          <a:bodyPr wrap="none" fromWordArt="1">
            <a:prstTxWarp prst="textPlain">
              <a:avLst>
                <a:gd name="adj" fmla="val 50000"/>
              </a:avLst>
            </a:prstTxWarp>
          </a:bodyPr>
          <a:lstStyle/>
          <a:p>
            <a:pPr algn="dist">
              <a:defRPr/>
            </a:pPr>
            <a:r>
              <a:rPr lang="zh-CN" altLang="en-US" sz="2800" kern="10" dirty="0">
                <a:ln w="19050" cap="sq">
                  <a:solidFill>
                    <a:schemeClr val="hlink"/>
                  </a:solidFill>
                  <a:round/>
                  <a:headEnd/>
                  <a:tailEnd/>
                </a:ln>
                <a:gradFill rotWithShape="0">
                  <a:gsLst>
                    <a:gs pos="0">
                      <a:srgbClr val="50080D"/>
                    </a:gs>
                    <a:gs pos="100000">
                      <a:srgbClr val="FF0000"/>
                    </a:gs>
                  </a:gsLst>
                  <a:lin ang="2700000" scaled="1"/>
                </a:gradFill>
                <a:effectLst>
                  <a:outerShdw dist="35921" dir="2700000" algn="ctr" rotWithShape="0">
                    <a:schemeClr val="bg2">
                      <a:alpha val="80000"/>
                    </a:schemeClr>
                  </a:outerShdw>
                </a:effectLst>
                <a:latin typeface="隶书"/>
                <a:ea typeface="隶书"/>
              </a:rPr>
              <a:t>第 </a:t>
            </a:r>
            <a:r>
              <a:rPr lang="en-US" altLang="zh-CN" sz="2800" kern="10" dirty="0">
                <a:ln w="19050" cap="sq">
                  <a:solidFill>
                    <a:schemeClr val="hlink"/>
                  </a:solidFill>
                  <a:round/>
                  <a:headEnd/>
                  <a:tailEnd/>
                </a:ln>
                <a:gradFill rotWithShape="0">
                  <a:gsLst>
                    <a:gs pos="0">
                      <a:srgbClr val="50080D"/>
                    </a:gs>
                    <a:gs pos="100000">
                      <a:srgbClr val="FF0000"/>
                    </a:gs>
                  </a:gsLst>
                  <a:lin ang="2700000" scaled="1"/>
                </a:gradFill>
                <a:effectLst>
                  <a:outerShdw dist="35921" dir="2700000" algn="ctr" rotWithShape="0">
                    <a:schemeClr val="bg2">
                      <a:alpha val="80000"/>
                    </a:schemeClr>
                  </a:outerShdw>
                </a:effectLst>
                <a:latin typeface="隶书"/>
                <a:ea typeface="隶书"/>
              </a:rPr>
              <a:t>1 </a:t>
            </a:r>
            <a:r>
              <a:rPr lang="zh-CN" altLang="en-US" sz="2800" kern="10" dirty="0">
                <a:ln w="19050" cap="sq">
                  <a:solidFill>
                    <a:schemeClr val="hlink"/>
                  </a:solidFill>
                  <a:round/>
                  <a:headEnd/>
                  <a:tailEnd/>
                </a:ln>
                <a:gradFill rotWithShape="0">
                  <a:gsLst>
                    <a:gs pos="0">
                      <a:srgbClr val="50080D"/>
                    </a:gs>
                    <a:gs pos="100000">
                      <a:srgbClr val="FF0000"/>
                    </a:gs>
                  </a:gsLst>
                  <a:lin ang="2700000" scaled="1"/>
                </a:gradFill>
                <a:effectLst>
                  <a:outerShdw dist="35921" dir="2700000" algn="ctr" rotWithShape="0">
                    <a:schemeClr val="bg2">
                      <a:alpha val="80000"/>
                    </a:schemeClr>
                  </a:outerShdw>
                </a:effectLst>
                <a:latin typeface="隶书"/>
                <a:ea typeface="隶书"/>
              </a:rPr>
              <a:t>章</a:t>
            </a:r>
          </a:p>
        </p:txBody>
      </p:sp>
      <p:sp>
        <p:nvSpPr>
          <p:cNvPr id="2" name="标题 1"/>
          <p:cNvSpPr>
            <a:spLocks noGrp="1"/>
          </p:cNvSpPr>
          <p:nvPr>
            <p:ph type="title"/>
          </p:nvPr>
        </p:nvSpPr>
        <p:spPr>
          <a:xfrm>
            <a:off x="467544" y="3429000"/>
            <a:ext cx="8280920" cy="1475884"/>
          </a:xfrm>
        </p:spPr>
        <p:txBody>
          <a:bodyPr wrap="none" numCol="1" fromWordArt="1">
            <a:prstTxWarp prst="textPlain">
              <a:avLst>
                <a:gd name="adj" fmla="val 50000"/>
              </a:avLst>
            </a:prstTxWarp>
          </a:bodyPr>
          <a:lstStyle/>
          <a:p>
            <a:pPr algn="dist"/>
            <a:r>
              <a:rPr lang="zh-CN" altLang="en-US" sz="2800" kern="10" spc="560" baseline="-25000" dirty="0" smtClean="0">
                <a:ln w="19050" cap="sq">
                  <a:solidFill>
                    <a:schemeClr val="hlink"/>
                  </a:solidFill>
                  <a:round/>
                  <a:headEnd/>
                  <a:tailEnd/>
                </a:ln>
                <a:gradFill rotWithShape="1">
                  <a:gsLst>
                    <a:gs pos="0">
                      <a:srgbClr val="50080D"/>
                    </a:gs>
                    <a:gs pos="100000">
                      <a:srgbClr val="FF0000"/>
                    </a:gs>
                  </a:gsLst>
                  <a:lin ang="2700000" scaled="1"/>
                </a:gradFill>
                <a:effectLst>
                  <a:outerShdw dist="35921" dir="2700000" algn="ctr" rotWithShape="0">
                    <a:schemeClr val="bg2">
                      <a:alpha val="79999"/>
                    </a:schemeClr>
                  </a:outerShdw>
                </a:effectLst>
                <a:latin typeface="隶书"/>
                <a:ea typeface="隶书"/>
                <a:cs typeface="+mn-cs"/>
              </a:rPr>
              <a:t>数据库系统概述</a:t>
            </a:r>
            <a:endParaRPr lang="zh-CN" altLang="en-US" sz="2800" kern="10" spc="560" baseline="-25000" dirty="0">
              <a:ln w="19050" cap="sq">
                <a:solidFill>
                  <a:schemeClr val="hlink"/>
                </a:solidFill>
                <a:round/>
                <a:headEnd/>
                <a:tailEnd/>
              </a:ln>
              <a:gradFill rotWithShape="1">
                <a:gsLst>
                  <a:gs pos="0">
                    <a:srgbClr val="50080D"/>
                  </a:gs>
                  <a:gs pos="100000">
                    <a:srgbClr val="FF0000"/>
                  </a:gs>
                </a:gsLst>
                <a:lin ang="2700000" scaled="1"/>
              </a:gradFill>
              <a:effectLst>
                <a:outerShdw dist="35921" dir="2700000" algn="ctr" rotWithShape="0">
                  <a:schemeClr val="bg2">
                    <a:alpha val="79999"/>
                  </a:schemeClr>
                </a:outerShdw>
              </a:effectLst>
              <a:latin typeface="隶书"/>
              <a:ea typeface="隶书"/>
              <a:cs typeface="+mn-cs"/>
            </a:endParaRPr>
          </a:p>
        </p:txBody>
      </p:sp>
    </p:spTree>
    <p:extLst>
      <p:ext uri="{BB962C8B-B14F-4D97-AF65-F5344CB8AC3E}">
        <p14:creationId xmlns:p14="http://schemas.microsoft.com/office/powerpoint/2010/main" val="879911003"/>
      </p:ext>
    </p:extLst>
  </p:cSld>
  <p:clrMapOvr>
    <a:masterClrMapping/>
  </p:clrMapOvr>
  <mc:AlternateContent xmlns:mc="http://schemas.openxmlformats.org/markup-compatibility/2006" xmlns:p14="http://schemas.microsoft.com/office/powerpoint/2010/main">
    <mc:Choice Requires="p14">
      <p:transition spd="slow" p14:dur="1500">
        <p:split orient="vert"/>
        <p:sndAc>
          <p:stSnd>
            <p:snd r:embed="rId2" name="camera.wav"/>
          </p:stSnd>
        </p:sndAc>
      </p:transition>
    </mc:Choice>
    <mc:Fallback xmlns="">
      <p:transition spd="slow">
        <p:split orient="vert"/>
        <p:sndAc>
          <p:stSnd>
            <p:snd r:embed="rId3" name="camera.wav"/>
          </p:stSnd>
        </p:sndAc>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bwMode="auto">
          <a:xfrm>
            <a:off x="709213" y="3255146"/>
            <a:ext cx="7823227" cy="2550367"/>
          </a:xfrm>
          <a:prstGeom prst="roundRect">
            <a:avLst/>
          </a:prstGeom>
          <a:ln>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175321" name="Rectangle 217"/>
          <p:cNvSpPr>
            <a:spLocks noGrp="1" noChangeArrowheads="1"/>
          </p:cNvSpPr>
          <p:nvPr>
            <p:ph idx="1"/>
          </p:nvPr>
        </p:nvSpPr>
        <p:spPr>
          <a:xfrm>
            <a:off x="295875" y="1056992"/>
            <a:ext cx="8496300" cy="1579920"/>
          </a:xfrm>
        </p:spPr>
        <p:txBody>
          <a:bodyPr/>
          <a:lstStyle/>
          <a:p>
            <a:pPr eaLnBrk="1" hangingPunct="1">
              <a:spcAft>
                <a:spcPct val="50000"/>
              </a:spcAft>
              <a:defRPr/>
            </a:pPr>
            <a:r>
              <a:rPr lang="zh-CN" altLang="en-US" b="1" dirty="0" smtClean="0">
                <a:solidFill>
                  <a:srgbClr val="FFC000"/>
                </a:solidFill>
              </a:rPr>
              <a:t>信息</a:t>
            </a:r>
            <a:r>
              <a:rPr lang="zh-CN" altLang="en-US" dirty="0" smtClean="0"/>
              <a:t>（</a:t>
            </a:r>
            <a:r>
              <a:rPr lang="en-US" altLang="zh-CN" i="1" dirty="0" smtClean="0"/>
              <a:t>Information</a:t>
            </a:r>
            <a:r>
              <a:rPr lang="zh-CN" altLang="en-US" dirty="0" smtClean="0"/>
              <a:t>）是现实世界客观事物在人脑中的抽象反映，是通过人的感官感知并经过人脑的加工而形成的反映客观事物的概念。</a:t>
            </a:r>
          </a:p>
        </p:txBody>
      </p:sp>
      <p:pic>
        <p:nvPicPr>
          <p:cNvPr id="5125" name="Picture 225" descr="PE01659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5293766" y="3341513"/>
            <a:ext cx="2446266" cy="2319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336" name="Rectangle 232"/>
          <p:cNvSpPr>
            <a:spLocks noChangeArrowheads="1"/>
          </p:cNvSpPr>
          <p:nvPr/>
        </p:nvSpPr>
        <p:spPr bwMode="auto">
          <a:xfrm>
            <a:off x="1334310" y="3445693"/>
            <a:ext cx="3810000" cy="487363"/>
          </a:xfrm>
          <a:prstGeom prst="rect">
            <a:avLst/>
          </a:prstGeom>
          <a:noFill/>
          <a:ln w="12700" cap="sq">
            <a:noFill/>
            <a:miter lim="800000"/>
            <a:headEnd/>
            <a:tailEnd/>
          </a:ln>
          <a:effectLst/>
        </p:spPr>
        <p:txBody>
          <a:bodyPr lIns="0" tIns="0" rIns="0" bIns="0"/>
          <a:lstStyle/>
          <a:p>
            <a:pPr>
              <a:defRPr/>
            </a:pPr>
            <a:r>
              <a:rPr kumimoji="1" lang="zh-CN" altLang="en-US" sz="2800" baseline="0" dirty="0">
                <a:solidFill>
                  <a:schemeClr val="folHlink"/>
                </a:solidFill>
                <a:effectLst>
                  <a:outerShdw blurRad="38100" dist="38100" dir="2700000" algn="tl">
                    <a:srgbClr val="000000"/>
                  </a:outerShdw>
                </a:effectLst>
                <a:latin typeface="微软雅黑" pitchFamily="34" charset="-122"/>
                <a:ea typeface="微软雅黑" pitchFamily="34" charset="-122"/>
              </a:rPr>
              <a:t>他叫</a:t>
            </a:r>
            <a:r>
              <a:rPr kumimoji="1" lang="zh-CN" altLang="en-US" sz="2800" baseline="0" dirty="0">
                <a:solidFill>
                  <a:srgbClr val="66FF33"/>
                </a:solidFill>
                <a:effectLst>
                  <a:outerShdw blurRad="38100" dist="38100" dir="2700000" algn="tl">
                    <a:srgbClr val="000000"/>
                  </a:outerShdw>
                </a:effectLst>
                <a:latin typeface="微软雅黑" pitchFamily="34" charset="-122"/>
                <a:ea typeface="微软雅黑" pitchFamily="34" charset="-122"/>
              </a:rPr>
              <a:t>汤姆</a:t>
            </a:r>
          </a:p>
          <a:p>
            <a:pPr>
              <a:defRPr/>
            </a:pPr>
            <a:r>
              <a:rPr kumimoji="1" lang="zh-CN" altLang="en-US" sz="2800" baseline="0" dirty="0">
                <a:solidFill>
                  <a:schemeClr val="folHlink"/>
                </a:solidFill>
                <a:effectLst>
                  <a:outerShdw blurRad="38100" dist="38100" dir="2700000" algn="tl">
                    <a:srgbClr val="000000"/>
                  </a:outerShdw>
                </a:effectLst>
                <a:latin typeface="微软雅黑" pitchFamily="34" charset="-122"/>
                <a:ea typeface="微软雅黑" pitchFamily="34" charset="-122"/>
              </a:rPr>
              <a:t>身高</a:t>
            </a:r>
            <a:r>
              <a:rPr kumimoji="1" lang="zh-CN" altLang="en-US" sz="2800" baseline="0" dirty="0">
                <a:solidFill>
                  <a:srgbClr val="66FF33"/>
                </a:solidFill>
                <a:effectLst>
                  <a:outerShdw blurRad="38100" dist="38100" dir="2700000" algn="tl">
                    <a:srgbClr val="000000"/>
                  </a:outerShdw>
                </a:effectLst>
                <a:latin typeface="微软雅黑" pitchFamily="34" charset="-122"/>
                <a:ea typeface="微软雅黑" pitchFamily="34" charset="-122"/>
              </a:rPr>
              <a:t>1</a:t>
            </a:r>
            <a:r>
              <a:rPr kumimoji="1" lang="en-US" altLang="zh-CN" sz="2800" baseline="0" dirty="0">
                <a:solidFill>
                  <a:srgbClr val="66FF33"/>
                </a:solidFill>
                <a:effectLst>
                  <a:outerShdw blurRad="38100" dist="38100" dir="2700000" algn="tl">
                    <a:srgbClr val="000000"/>
                  </a:outerShdw>
                </a:effectLst>
                <a:latin typeface="微软雅黑" pitchFamily="34" charset="-122"/>
                <a:ea typeface="微软雅黑" pitchFamily="34" charset="-122"/>
              </a:rPr>
              <a:t>.87</a:t>
            </a:r>
            <a:r>
              <a:rPr kumimoji="1" lang="zh-CN" altLang="en-US" sz="2800" baseline="0" dirty="0" smtClean="0">
                <a:solidFill>
                  <a:schemeClr val="folHlink"/>
                </a:solidFill>
                <a:effectLst>
                  <a:outerShdw blurRad="38100" dist="38100" dir="2700000" algn="tl">
                    <a:srgbClr val="000000"/>
                  </a:outerShdw>
                </a:effectLst>
                <a:latin typeface="微软雅黑" pitchFamily="34" charset="-122"/>
                <a:ea typeface="微软雅黑" pitchFamily="34" charset="-122"/>
              </a:rPr>
              <a:t>米</a:t>
            </a:r>
            <a:endParaRPr kumimoji="1" lang="en-US" altLang="zh-CN" sz="2800" baseline="0" dirty="0" smtClean="0">
              <a:solidFill>
                <a:schemeClr val="folHlink"/>
              </a:solidFill>
              <a:effectLst>
                <a:outerShdw blurRad="38100" dist="38100" dir="2700000" algn="tl">
                  <a:srgbClr val="000000"/>
                </a:outerShdw>
              </a:effectLst>
              <a:latin typeface="微软雅黑" pitchFamily="34" charset="-122"/>
              <a:ea typeface="微软雅黑" pitchFamily="34" charset="-122"/>
            </a:endParaRPr>
          </a:p>
          <a:p>
            <a:pPr>
              <a:defRPr/>
            </a:pPr>
            <a:r>
              <a:rPr kumimoji="1" lang="zh-CN" altLang="en-US" sz="2800" baseline="0" dirty="0" smtClean="0">
                <a:solidFill>
                  <a:schemeClr val="folHlink"/>
                </a:solidFill>
                <a:effectLst>
                  <a:outerShdw blurRad="38100" dist="38100" dir="2700000" algn="tl">
                    <a:srgbClr val="000000"/>
                  </a:outerShdw>
                </a:effectLst>
                <a:latin typeface="微软雅黑" pitchFamily="34" charset="-122"/>
                <a:ea typeface="微软雅黑" pitchFamily="34" charset="-122"/>
              </a:rPr>
              <a:t>体重</a:t>
            </a:r>
            <a:r>
              <a:rPr kumimoji="1" lang="zh-CN" altLang="en-US" sz="2800" baseline="0" dirty="0">
                <a:solidFill>
                  <a:srgbClr val="66FF33"/>
                </a:solidFill>
                <a:effectLst>
                  <a:outerShdw blurRad="38100" dist="38100" dir="2700000" algn="tl">
                    <a:srgbClr val="000000"/>
                  </a:outerShdw>
                </a:effectLst>
                <a:latin typeface="微软雅黑" pitchFamily="34" charset="-122"/>
                <a:ea typeface="微软雅黑" pitchFamily="34" charset="-122"/>
              </a:rPr>
              <a:t>50</a:t>
            </a:r>
            <a:r>
              <a:rPr kumimoji="1" lang="en-US" altLang="zh-CN" sz="2800" baseline="0" dirty="0" smtClean="0">
                <a:solidFill>
                  <a:schemeClr val="folHlink"/>
                </a:solidFill>
                <a:effectLst>
                  <a:outerShdw blurRad="38100" dist="38100" dir="2700000" algn="tl">
                    <a:srgbClr val="000000"/>
                  </a:outerShdw>
                </a:effectLst>
                <a:latin typeface="微软雅黑" pitchFamily="34" charset="-122"/>
                <a:ea typeface="微软雅黑" pitchFamily="34" charset="-122"/>
              </a:rPr>
              <a:t>kg</a:t>
            </a:r>
            <a:endParaRPr kumimoji="1" lang="en-US" altLang="zh-CN" sz="2800" baseline="0" dirty="0">
              <a:solidFill>
                <a:schemeClr val="folHlink"/>
              </a:solidFill>
              <a:effectLst>
                <a:outerShdw blurRad="38100" dist="38100" dir="2700000" algn="tl">
                  <a:srgbClr val="000000"/>
                </a:outerShdw>
              </a:effectLst>
              <a:latin typeface="微软雅黑" pitchFamily="34" charset="-122"/>
              <a:ea typeface="微软雅黑" pitchFamily="34" charset="-122"/>
            </a:endParaRPr>
          </a:p>
          <a:p>
            <a:pPr>
              <a:defRPr/>
            </a:pPr>
            <a:r>
              <a:rPr kumimoji="1" lang="en-US" altLang="zh-CN" sz="2800" baseline="0" dirty="0">
                <a:solidFill>
                  <a:srgbClr val="66FF33"/>
                </a:solidFill>
                <a:effectLst>
                  <a:outerShdw blurRad="38100" dist="38100" dir="2700000" algn="tl">
                    <a:srgbClr val="000000"/>
                  </a:outerShdw>
                </a:effectLst>
                <a:latin typeface="微软雅黑" pitchFamily="34" charset="-122"/>
                <a:ea typeface="微软雅黑" pitchFamily="34" charset="-122"/>
              </a:rPr>
              <a:t>1986/5/12</a:t>
            </a:r>
            <a:r>
              <a:rPr kumimoji="1" lang="zh-CN" altLang="en-US" sz="2800" baseline="0" dirty="0" smtClean="0">
                <a:solidFill>
                  <a:schemeClr val="folHlink"/>
                </a:solidFill>
                <a:effectLst>
                  <a:outerShdw blurRad="38100" dist="38100" dir="2700000" algn="tl">
                    <a:srgbClr val="000000"/>
                  </a:outerShdw>
                </a:effectLst>
                <a:latin typeface="微软雅黑" pitchFamily="34" charset="-122"/>
                <a:ea typeface="微软雅黑" pitchFamily="34" charset="-122"/>
              </a:rPr>
              <a:t>生</a:t>
            </a:r>
            <a:endParaRPr kumimoji="1" lang="en-US" altLang="zh-CN" sz="2800" baseline="0" dirty="0" smtClean="0">
              <a:solidFill>
                <a:schemeClr val="folHlink"/>
              </a:solidFill>
              <a:effectLst>
                <a:outerShdw blurRad="38100" dist="38100" dir="2700000" algn="tl">
                  <a:srgbClr val="000000"/>
                </a:outerShdw>
              </a:effectLst>
              <a:latin typeface="微软雅黑" pitchFamily="34" charset="-122"/>
              <a:ea typeface="微软雅黑" pitchFamily="34" charset="-122"/>
            </a:endParaRPr>
          </a:p>
          <a:p>
            <a:pPr>
              <a:defRPr/>
            </a:pPr>
            <a:r>
              <a:rPr kumimoji="1" lang="zh-CN" altLang="en-US" sz="2800" baseline="0" dirty="0" smtClean="0">
                <a:solidFill>
                  <a:schemeClr val="folHlink"/>
                </a:solidFill>
                <a:effectLst>
                  <a:outerShdw blurRad="38100" dist="38100" dir="2700000" algn="tl">
                    <a:srgbClr val="000000"/>
                  </a:outerShdw>
                </a:effectLst>
                <a:latin typeface="微软雅黑" pitchFamily="34" charset="-122"/>
                <a:ea typeface="微软雅黑" pitchFamily="34" charset="-122"/>
              </a:rPr>
              <a:t>是</a:t>
            </a:r>
            <a:r>
              <a:rPr kumimoji="1" lang="zh-CN" altLang="en-US" sz="2800" baseline="0" dirty="0">
                <a:solidFill>
                  <a:schemeClr val="folHlink"/>
                </a:solidFill>
                <a:effectLst>
                  <a:outerShdw blurRad="38100" dist="38100" dir="2700000" algn="tl">
                    <a:srgbClr val="000000"/>
                  </a:outerShdw>
                </a:effectLst>
                <a:latin typeface="微软雅黑" pitchFamily="34" charset="-122"/>
                <a:ea typeface="微软雅黑" pitchFamily="34" charset="-122"/>
              </a:rPr>
              <a:t>一名</a:t>
            </a:r>
            <a:r>
              <a:rPr kumimoji="1" lang="zh-CN" altLang="en-US" sz="2800" baseline="0" dirty="0">
                <a:solidFill>
                  <a:srgbClr val="66FF33"/>
                </a:solidFill>
                <a:effectLst>
                  <a:outerShdw blurRad="38100" dist="38100" dir="2700000" algn="tl">
                    <a:srgbClr val="000000"/>
                  </a:outerShdw>
                </a:effectLst>
                <a:latin typeface="微软雅黑" pitchFamily="34" charset="-122"/>
                <a:ea typeface="微软雅黑" pitchFamily="34" charset="-122"/>
              </a:rPr>
              <a:t>职业运动员</a:t>
            </a:r>
          </a:p>
        </p:txBody>
      </p:sp>
      <p:sp>
        <p:nvSpPr>
          <p:cNvPr id="12" name="Rectangle 3"/>
          <p:cNvSpPr txBox="1">
            <a:spLocks noChangeArrowheads="1"/>
          </p:cNvSpPr>
          <p:nvPr/>
        </p:nvSpPr>
        <p:spPr bwMode="auto">
          <a:xfrm>
            <a:off x="1944942" y="5949280"/>
            <a:ext cx="5060194" cy="75608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4"/>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indent="0" eaLnBrk="1" hangingPunct="1">
              <a:lnSpc>
                <a:spcPct val="90000"/>
              </a:lnSpc>
              <a:buNone/>
              <a:defRPr/>
            </a:pPr>
            <a:r>
              <a:rPr lang="zh-CN" altLang="en-US" sz="4400" dirty="0" smtClean="0">
                <a:solidFill>
                  <a:srgbClr val="FFFF00"/>
                </a:solidFill>
              </a:rPr>
              <a:t>这里包含了多少信息？说说看</a:t>
            </a:r>
          </a:p>
        </p:txBody>
      </p:sp>
      <p:sp>
        <p:nvSpPr>
          <p:cNvPr id="3" name="标题 2"/>
          <p:cNvSpPr>
            <a:spLocks noGrp="1"/>
          </p:cNvSpPr>
          <p:nvPr>
            <p:ph type="title"/>
          </p:nvPr>
        </p:nvSpPr>
        <p:spPr>
          <a:xfrm>
            <a:off x="611560" y="-13840"/>
            <a:ext cx="2710211" cy="760959"/>
          </a:xfrm>
          <a:noFill/>
          <a:ln w="12700" cap="sq">
            <a:noFill/>
            <a:miter lim="800000"/>
            <a:headEnd/>
            <a:tailEnd/>
          </a:ln>
          <a:effectLst>
            <a:outerShdw dist="35921" dir="2700000" algn="ctr" rotWithShape="0">
              <a:schemeClr val="bg2"/>
            </a:outerShdw>
          </a:effectLst>
        </p:spPr>
        <p:txBody>
          <a:bodyPr wrap="none" lIns="72000" tIns="72000" rIns="72000" bIns="72000">
            <a:spAutoFit/>
          </a:bodyPr>
          <a:lstStyle/>
          <a:p>
            <a:r>
              <a:rPr lang="zh-CN" altLang="en-US" sz="4000" b="1" kern="1200" dirty="0">
                <a:solidFill>
                  <a:schemeClr val="folHlink"/>
                </a:solidFill>
                <a:effectLst>
                  <a:outerShdw blurRad="38100" dist="38100" dir="2700000" algn="tl">
                    <a:srgbClr val="000000"/>
                  </a:outerShdw>
                </a:effectLst>
                <a:cs typeface="+mn-cs"/>
              </a:rPr>
              <a:t>数据与信息</a:t>
            </a:r>
          </a:p>
        </p:txBody>
      </p:sp>
    </p:spTree>
  </p:cSld>
  <p:clrMapOvr>
    <a:masterClrMapping/>
  </p:clrMapOvr>
  <p:transition spd="slow">
    <p:wipe/>
    <p:sndAc>
      <p:stSnd>
        <p:snd r:embed="rId2" name="camera.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270" name="Text Box 166"/>
          <p:cNvSpPr txBox="1">
            <a:spLocks noChangeArrowheads="1"/>
          </p:cNvSpPr>
          <p:nvPr/>
        </p:nvSpPr>
        <p:spPr bwMode="auto">
          <a:xfrm>
            <a:off x="589837" y="1507"/>
            <a:ext cx="2710211" cy="760959"/>
          </a:xfrm>
          <a:prstGeom prst="rect">
            <a:avLst/>
          </a:prstGeom>
          <a:noFill/>
          <a:ln w="12700" cap="sq">
            <a:noFill/>
            <a:miter lim="800000"/>
            <a:headEnd/>
            <a:tailEnd/>
          </a:ln>
          <a:effectLst>
            <a:outerShdw dist="35921" dir="2700000" algn="ctr" rotWithShape="0">
              <a:schemeClr val="bg2"/>
            </a:outerShdw>
          </a:effectLst>
        </p:spPr>
        <p:txBody>
          <a:bodyPr wrap="none" lIns="72000" tIns="72000" rIns="72000" bIns="72000">
            <a:spAutoFit/>
          </a:bodyPr>
          <a:lstStyle/>
          <a:p>
            <a:pPr>
              <a:defRPr/>
            </a:pPr>
            <a:r>
              <a:rPr lang="zh-CN" altLang="en-US" sz="4000" b="1" baseline="0" dirty="0" smtClean="0">
                <a:solidFill>
                  <a:schemeClr val="folHlink"/>
                </a:solidFill>
                <a:effectLst>
                  <a:outerShdw blurRad="38100" dist="38100" dir="2700000" algn="tl">
                    <a:srgbClr val="000000"/>
                  </a:outerShdw>
                </a:effectLst>
                <a:latin typeface="微软雅黑" pitchFamily="34" charset="-122"/>
                <a:ea typeface="微软雅黑" pitchFamily="34" charset="-122"/>
              </a:rPr>
              <a:t>数据与信息</a:t>
            </a:r>
            <a:endParaRPr lang="zh-CN" altLang="en-US" sz="4000" b="1" baseline="0" dirty="0">
              <a:solidFill>
                <a:schemeClr val="folHlink"/>
              </a:solidFill>
              <a:effectLst>
                <a:outerShdw blurRad="38100" dist="38100" dir="2700000" algn="tl">
                  <a:srgbClr val="000000"/>
                </a:outerShdw>
              </a:effectLst>
              <a:latin typeface="微软雅黑" pitchFamily="34" charset="-122"/>
              <a:ea typeface="微软雅黑" pitchFamily="34" charset="-122"/>
            </a:endParaRPr>
          </a:p>
        </p:txBody>
      </p:sp>
      <p:sp>
        <p:nvSpPr>
          <p:cNvPr id="175321" name="Rectangle 217"/>
          <p:cNvSpPr>
            <a:spLocks noGrp="1" noChangeArrowheads="1"/>
          </p:cNvSpPr>
          <p:nvPr>
            <p:ph idx="1"/>
          </p:nvPr>
        </p:nvSpPr>
        <p:spPr>
          <a:xfrm>
            <a:off x="254000" y="980728"/>
            <a:ext cx="8496300" cy="1368152"/>
          </a:xfrm>
        </p:spPr>
        <p:txBody>
          <a:bodyPr/>
          <a:lstStyle/>
          <a:p>
            <a:pPr eaLnBrk="1" hangingPunct="1">
              <a:spcAft>
                <a:spcPct val="50000"/>
              </a:spcAft>
              <a:defRPr/>
            </a:pPr>
            <a:r>
              <a:rPr lang="zh-CN" altLang="en-US" sz="3600" b="1" dirty="0" smtClean="0">
                <a:solidFill>
                  <a:srgbClr val="FFC000"/>
                </a:solidFill>
              </a:rPr>
              <a:t>数据</a:t>
            </a:r>
            <a:r>
              <a:rPr lang="zh-CN" altLang="en-US" sz="3600" dirty="0" smtClean="0"/>
              <a:t>（</a:t>
            </a:r>
            <a:r>
              <a:rPr lang="en-US" altLang="zh-CN" sz="3600" i="1" dirty="0" smtClean="0"/>
              <a:t>Data</a:t>
            </a:r>
            <a:r>
              <a:rPr lang="zh-CN" altLang="en-US" sz="3600" dirty="0" smtClean="0"/>
              <a:t>）是描述客观事物的可存储并具有明确意义的符号序列。</a:t>
            </a:r>
          </a:p>
        </p:txBody>
      </p:sp>
      <p:sp>
        <p:nvSpPr>
          <p:cNvPr id="13" name="Rectangle 232"/>
          <p:cNvSpPr>
            <a:spLocks noChangeArrowheads="1"/>
          </p:cNvSpPr>
          <p:nvPr/>
        </p:nvSpPr>
        <p:spPr bwMode="auto">
          <a:xfrm>
            <a:off x="684212" y="3229669"/>
            <a:ext cx="7848227" cy="487363"/>
          </a:xfrm>
          <a:prstGeom prst="rect">
            <a:avLst/>
          </a:prstGeom>
          <a:solidFill>
            <a:schemeClr val="accent4">
              <a:lumMod val="10000"/>
            </a:schemeClr>
          </a:solidFill>
          <a:ln>
            <a:headEnd/>
            <a:tailEnd/>
          </a:ln>
        </p:spPr>
        <p:style>
          <a:lnRef idx="3">
            <a:schemeClr val="lt1"/>
          </a:lnRef>
          <a:fillRef idx="1">
            <a:schemeClr val="accent1"/>
          </a:fillRef>
          <a:effectRef idx="1">
            <a:schemeClr val="accent1"/>
          </a:effectRef>
          <a:fontRef idx="minor">
            <a:schemeClr val="lt1"/>
          </a:fontRef>
        </p:style>
        <p:txBody>
          <a:bodyPr lIns="0" tIns="0" rIns="0" bIns="0"/>
          <a:lstStyle/>
          <a:p>
            <a:pPr algn="ctr">
              <a:defRPr/>
            </a:pPr>
            <a:r>
              <a:rPr kumimoji="1" lang="zh-CN" altLang="en-US"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汤姆，男</a:t>
            </a:r>
            <a:r>
              <a:rPr kumimoji="1" lang="en-US" altLang="zh-CN"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  </a:t>
            </a:r>
            <a:r>
              <a:rPr kumimoji="1" lang="zh-CN" altLang="en-US"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1</a:t>
            </a:r>
            <a:r>
              <a:rPr kumimoji="1" lang="en-US" altLang="zh-CN"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.87</a:t>
            </a:r>
            <a:r>
              <a:rPr kumimoji="1" lang="zh-CN" altLang="en-US"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50</a:t>
            </a:r>
            <a:r>
              <a:rPr kumimoji="1" lang="zh-CN" altLang="en-US"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1986/5/12</a:t>
            </a:r>
            <a:r>
              <a:rPr kumimoji="1" lang="zh-CN" altLang="en-US"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，职业</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运动员</a:t>
            </a:r>
          </a:p>
        </p:txBody>
      </p:sp>
      <p:pic>
        <p:nvPicPr>
          <p:cNvPr id="17" name="Picture 225" descr="PE01659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992094" y="4133601"/>
            <a:ext cx="2446266" cy="2319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232"/>
          <p:cNvSpPr>
            <a:spLocks noChangeArrowheads="1"/>
          </p:cNvSpPr>
          <p:nvPr/>
        </p:nvSpPr>
        <p:spPr bwMode="auto">
          <a:xfrm>
            <a:off x="1650398" y="4254775"/>
            <a:ext cx="3810000" cy="487363"/>
          </a:xfrm>
          <a:prstGeom prst="rect">
            <a:avLst/>
          </a:prstGeom>
          <a:noFill/>
          <a:ln w="12700" cap="sq">
            <a:noFill/>
            <a:miter lim="800000"/>
            <a:headEnd/>
            <a:tailEnd/>
          </a:ln>
          <a:effectLst/>
        </p:spPr>
        <p:txBody>
          <a:bodyPr lIns="0" tIns="0" rIns="0" bIns="0"/>
          <a:lstStyle/>
          <a:p>
            <a:pPr>
              <a:defRPr/>
            </a:pPr>
            <a:r>
              <a:rPr kumimoji="1" lang="zh-CN" altLang="en-US" sz="2800" baseline="0" dirty="0">
                <a:solidFill>
                  <a:schemeClr val="folHlink"/>
                </a:solidFill>
                <a:effectLst>
                  <a:outerShdw blurRad="38100" dist="38100" dir="2700000" algn="tl">
                    <a:srgbClr val="000000"/>
                  </a:outerShdw>
                </a:effectLst>
                <a:latin typeface="微软雅黑" pitchFamily="34" charset="-122"/>
                <a:ea typeface="微软雅黑" pitchFamily="34" charset="-122"/>
              </a:rPr>
              <a:t>他叫</a:t>
            </a:r>
            <a:r>
              <a:rPr kumimoji="1" lang="zh-CN" altLang="en-US" sz="2800" baseline="0" dirty="0">
                <a:solidFill>
                  <a:srgbClr val="66FF33"/>
                </a:solidFill>
                <a:effectLst>
                  <a:outerShdw blurRad="38100" dist="38100" dir="2700000" algn="tl">
                    <a:srgbClr val="000000"/>
                  </a:outerShdw>
                </a:effectLst>
                <a:latin typeface="微软雅黑" pitchFamily="34" charset="-122"/>
                <a:ea typeface="微软雅黑" pitchFamily="34" charset="-122"/>
              </a:rPr>
              <a:t>汤姆</a:t>
            </a:r>
          </a:p>
          <a:p>
            <a:pPr>
              <a:defRPr/>
            </a:pPr>
            <a:r>
              <a:rPr kumimoji="1" lang="zh-CN" altLang="en-US" sz="2800" baseline="0" dirty="0">
                <a:solidFill>
                  <a:schemeClr val="folHlink"/>
                </a:solidFill>
                <a:effectLst>
                  <a:outerShdw blurRad="38100" dist="38100" dir="2700000" algn="tl">
                    <a:srgbClr val="000000"/>
                  </a:outerShdw>
                </a:effectLst>
                <a:latin typeface="微软雅黑" pitchFamily="34" charset="-122"/>
                <a:ea typeface="微软雅黑" pitchFamily="34" charset="-122"/>
              </a:rPr>
              <a:t>身高</a:t>
            </a:r>
            <a:r>
              <a:rPr kumimoji="1" lang="zh-CN" altLang="en-US" sz="2800" baseline="0" dirty="0">
                <a:solidFill>
                  <a:srgbClr val="66FF33"/>
                </a:solidFill>
                <a:effectLst>
                  <a:outerShdw blurRad="38100" dist="38100" dir="2700000" algn="tl">
                    <a:srgbClr val="000000"/>
                  </a:outerShdw>
                </a:effectLst>
                <a:latin typeface="微软雅黑" pitchFamily="34" charset="-122"/>
                <a:ea typeface="微软雅黑" pitchFamily="34" charset="-122"/>
              </a:rPr>
              <a:t>1</a:t>
            </a:r>
            <a:r>
              <a:rPr kumimoji="1" lang="en-US" altLang="zh-CN" sz="2800" baseline="0" dirty="0">
                <a:solidFill>
                  <a:srgbClr val="66FF33"/>
                </a:solidFill>
                <a:effectLst>
                  <a:outerShdw blurRad="38100" dist="38100" dir="2700000" algn="tl">
                    <a:srgbClr val="000000"/>
                  </a:outerShdw>
                </a:effectLst>
                <a:latin typeface="微软雅黑" pitchFamily="34" charset="-122"/>
                <a:ea typeface="微软雅黑" pitchFamily="34" charset="-122"/>
              </a:rPr>
              <a:t>.87</a:t>
            </a:r>
            <a:r>
              <a:rPr kumimoji="1" lang="zh-CN" altLang="en-US" sz="2800" baseline="0" dirty="0" smtClean="0">
                <a:solidFill>
                  <a:schemeClr val="folHlink"/>
                </a:solidFill>
                <a:effectLst>
                  <a:outerShdw blurRad="38100" dist="38100" dir="2700000" algn="tl">
                    <a:srgbClr val="000000"/>
                  </a:outerShdw>
                </a:effectLst>
                <a:latin typeface="微软雅黑" pitchFamily="34" charset="-122"/>
                <a:ea typeface="微软雅黑" pitchFamily="34" charset="-122"/>
              </a:rPr>
              <a:t>米</a:t>
            </a:r>
            <a:endParaRPr kumimoji="1" lang="en-US" altLang="zh-CN" sz="2800" baseline="0" dirty="0" smtClean="0">
              <a:solidFill>
                <a:schemeClr val="folHlink"/>
              </a:solidFill>
              <a:effectLst>
                <a:outerShdw blurRad="38100" dist="38100" dir="2700000" algn="tl">
                  <a:srgbClr val="000000"/>
                </a:outerShdw>
              </a:effectLst>
              <a:latin typeface="微软雅黑" pitchFamily="34" charset="-122"/>
              <a:ea typeface="微软雅黑" pitchFamily="34" charset="-122"/>
            </a:endParaRPr>
          </a:p>
          <a:p>
            <a:pPr>
              <a:defRPr/>
            </a:pPr>
            <a:r>
              <a:rPr kumimoji="1" lang="zh-CN" altLang="en-US" sz="2800" baseline="0" dirty="0" smtClean="0">
                <a:solidFill>
                  <a:schemeClr val="folHlink"/>
                </a:solidFill>
                <a:effectLst>
                  <a:outerShdw blurRad="38100" dist="38100" dir="2700000" algn="tl">
                    <a:srgbClr val="000000"/>
                  </a:outerShdw>
                </a:effectLst>
                <a:latin typeface="微软雅黑" pitchFamily="34" charset="-122"/>
                <a:ea typeface="微软雅黑" pitchFamily="34" charset="-122"/>
              </a:rPr>
              <a:t>体重</a:t>
            </a:r>
            <a:r>
              <a:rPr kumimoji="1" lang="zh-CN" altLang="en-US" sz="2800" baseline="0" dirty="0">
                <a:solidFill>
                  <a:srgbClr val="66FF33"/>
                </a:solidFill>
                <a:effectLst>
                  <a:outerShdw blurRad="38100" dist="38100" dir="2700000" algn="tl">
                    <a:srgbClr val="000000"/>
                  </a:outerShdw>
                </a:effectLst>
                <a:latin typeface="微软雅黑" pitchFamily="34" charset="-122"/>
                <a:ea typeface="微软雅黑" pitchFamily="34" charset="-122"/>
              </a:rPr>
              <a:t>50</a:t>
            </a:r>
            <a:r>
              <a:rPr kumimoji="1" lang="en-US" altLang="zh-CN" sz="2800" baseline="0" dirty="0" smtClean="0">
                <a:solidFill>
                  <a:schemeClr val="folHlink"/>
                </a:solidFill>
                <a:effectLst>
                  <a:outerShdw blurRad="38100" dist="38100" dir="2700000" algn="tl">
                    <a:srgbClr val="000000"/>
                  </a:outerShdw>
                </a:effectLst>
                <a:latin typeface="微软雅黑" pitchFamily="34" charset="-122"/>
                <a:ea typeface="微软雅黑" pitchFamily="34" charset="-122"/>
              </a:rPr>
              <a:t>kg</a:t>
            </a:r>
            <a:endParaRPr kumimoji="1" lang="en-US" altLang="zh-CN" sz="2800" baseline="0" dirty="0">
              <a:solidFill>
                <a:schemeClr val="folHlink"/>
              </a:solidFill>
              <a:effectLst>
                <a:outerShdw blurRad="38100" dist="38100" dir="2700000" algn="tl">
                  <a:srgbClr val="000000"/>
                </a:outerShdw>
              </a:effectLst>
              <a:latin typeface="微软雅黑" pitchFamily="34" charset="-122"/>
              <a:ea typeface="微软雅黑" pitchFamily="34" charset="-122"/>
            </a:endParaRPr>
          </a:p>
          <a:p>
            <a:pPr>
              <a:defRPr/>
            </a:pPr>
            <a:r>
              <a:rPr kumimoji="1" lang="en-US" altLang="zh-CN" sz="2800" baseline="0" dirty="0">
                <a:solidFill>
                  <a:srgbClr val="66FF33"/>
                </a:solidFill>
                <a:effectLst>
                  <a:outerShdw blurRad="38100" dist="38100" dir="2700000" algn="tl">
                    <a:srgbClr val="000000"/>
                  </a:outerShdw>
                </a:effectLst>
                <a:latin typeface="微软雅黑" pitchFamily="34" charset="-122"/>
                <a:ea typeface="微软雅黑" pitchFamily="34" charset="-122"/>
              </a:rPr>
              <a:t>1986/5/12</a:t>
            </a:r>
            <a:r>
              <a:rPr kumimoji="1" lang="zh-CN" altLang="en-US" sz="2800" baseline="0" dirty="0" smtClean="0">
                <a:solidFill>
                  <a:schemeClr val="folHlink"/>
                </a:solidFill>
                <a:effectLst>
                  <a:outerShdw blurRad="38100" dist="38100" dir="2700000" algn="tl">
                    <a:srgbClr val="000000"/>
                  </a:outerShdw>
                </a:effectLst>
                <a:latin typeface="微软雅黑" pitchFamily="34" charset="-122"/>
                <a:ea typeface="微软雅黑" pitchFamily="34" charset="-122"/>
              </a:rPr>
              <a:t>生</a:t>
            </a:r>
            <a:endParaRPr kumimoji="1" lang="en-US" altLang="zh-CN" sz="2800" baseline="0" dirty="0" smtClean="0">
              <a:solidFill>
                <a:schemeClr val="folHlink"/>
              </a:solidFill>
              <a:effectLst>
                <a:outerShdw blurRad="38100" dist="38100" dir="2700000" algn="tl">
                  <a:srgbClr val="000000"/>
                </a:outerShdw>
              </a:effectLst>
              <a:latin typeface="微软雅黑" pitchFamily="34" charset="-122"/>
              <a:ea typeface="微软雅黑" pitchFamily="34" charset="-122"/>
            </a:endParaRPr>
          </a:p>
          <a:p>
            <a:pPr>
              <a:defRPr/>
            </a:pPr>
            <a:r>
              <a:rPr kumimoji="1" lang="zh-CN" altLang="en-US" sz="2800" baseline="0" dirty="0" smtClean="0">
                <a:solidFill>
                  <a:schemeClr val="folHlink"/>
                </a:solidFill>
                <a:effectLst>
                  <a:outerShdw blurRad="38100" dist="38100" dir="2700000" algn="tl">
                    <a:srgbClr val="000000"/>
                  </a:outerShdw>
                </a:effectLst>
                <a:latin typeface="微软雅黑" pitchFamily="34" charset="-122"/>
                <a:ea typeface="微软雅黑" pitchFamily="34" charset="-122"/>
              </a:rPr>
              <a:t>是</a:t>
            </a:r>
            <a:r>
              <a:rPr kumimoji="1" lang="zh-CN" altLang="en-US" sz="2800" baseline="0" dirty="0">
                <a:solidFill>
                  <a:schemeClr val="folHlink"/>
                </a:solidFill>
                <a:effectLst>
                  <a:outerShdw blurRad="38100" dist="38100" dir="2700000" algn="tl">
                    <a:srgbClr val="000000"/>
                  </a:outerShdw>
                </a:effectLst>
                <a:latin typeface="微软雅黑" pitchFamily="34" charset="-122"/>
                <a:ea typeface="微软雅黑" pitchFamily="34" charset="-122"/>
              </a:rPr>
              <a:t>一名</a:t>
            </a:r>
            <a:r>
              <a:rPr kumimoji="1" lang="zh-CN" altLang="en-US" sz="2800" baseline="0" dirty="0">
                <a:solidFill>
                  <a:srgbClr val="66FF33"/>
                </a:solidFill>
                <a:effectLst>
                  <a:outerShdw blurRad="38100" dist="38100" dir="2700000" algn="tl">
                    <a:srgbClr val="000000"/>
                  </a:outerShdw>
                </a:effectLst>
                <a:latin typeface="微软雅黑" pitchFamily="34" charset="-122"/>
                <a:ea typeface="微软雅黑" pitchFamily="34" charset="-122"/>
              </a:rPr>
              <a:t>职业运动员</a:t>
            </a:r>
          </a:p>
        </p:txBody>
      </p:sp>
      <p:sp>
        <p:nvSpPr>
          <p:cNvPr id="7" name="矩形 6"/>
          <p:cNvSpPr/>
          <p:nvPr/>
        </p:nvSpPr>
        <p:spPr>
          <a:xfrm>
            <a:off x="755576" y="2443444"/>
            <a:ext cx="874407" cy="492443"/>
          </a:xfrm>
          <a:prstGeom prst="rect">
            <a:avLst/>
          </a:prstGeom>
        </p:spPr>
        <p:txBody>
          <a:bodyPr wrap="none">
            <a:spAutoFit/>
          </a:bodyPr>
          <a:lstStyle/>
          <a:p>
            <a:r>
              <a:rPr kumimoji="1" lang="zh-CN" altLang="en-US" sz="2600" baseline="0" dirty="0" smtClean="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姓名</a:t>
            </a:r>
            <a:endParaRPr lang="zh-CN" altLang="en-US" sz="2600" dirty="0">
              <a:solidFill>
                <a:schemeClr val="accent1">
                  <a:lumMod val="60000"/>
                  <a:lumOff val="40000"/>
                </a:schemeClr>
              </a:solidFill>
            </a:endParaRPr>
          </a:p>
        </p:txBody>
      </p:sp>
      <p:sp>
        <p:nvSpPr>
          <p:cNvPr id="8" name="矩形 7"/>
          <p:cNvSpPr/>
          <p:nvPr/>
        </p:nvSpPr>
        <p:spPr>
          <a:xfrm>
            <a:off x="2424341" y="2443444"/>
            <a:ext cx="851515" cy="492443"/>
          </a:xfrm>
          <a:prstGeom prst="rect">
            <a:avLst/>
          </a:prstGeom>
        </p:spPr>
        <p:txBody>
          <a:bodyPr wrap="none">
            <a:spAutoFit/>
          </a:bodyPr>
          <a:lstStyle/>
          <a:p>
            <a:r>
              <a:rPr kumimoji="1" lang="zh-CN" altLang="en-US" sz="2600" baseline="0" dirty="0" smtClean="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身高</a:t>
            </a:r>
            <a:endParaRPr lang="zh-CN" altLang="en-US" sz="2600" dirty="0">
              <a:solidFill>
                <a:schemeClr val="accent1">
                  <a:lumMod val="60000"/>
                  <a:lumOff val="40000"/>
                </a:schemeClr>
              </a:solidFill>
            </a:endParaRPr>
          </a:p>
        </p:txBody>
      </p:sp>
      <p:sp>
        <p:nvSpPr>
          <p:cNvPr id="10" name="矩形 9"/>
          <p:cNvSpPr/>
          <p:nvPr/>
        </p:nvSpPr>
        <p:spPr>
          <a:xfrm>
            <a:off x="3432453" y="2438145"/>
            <a:ext cx="851515" cy="492443"/>
          </a:xfrm>
          <a:prstGeom prst="rect">
            <a:avLst/>
          </a:prstGeom>
        </p:spPr>
        <p:txBody>
          <a:bodyPr wrap="none">
            <a:spAutoFit/>
          </a:bodyPr>
          <a:lstStyle/>
          <a:p>
            <a:r>
              <a:rPr kumimoji="1" lang="zh-CN" altLang="en-US" sz="2600" baseline="0" dirty="0" smtClean="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体重</a:t>
            </a:r>
            <a:endParaRPr lang="zh-CN" altLang="en-US" sz="2600" dirty="0">
              <a:solidFill>
                <a:schemeClr val="accent1">
                  <a:lumMod val="60000"/>
                  <a:lumOff val="40000"/>
                </a:schemeClr>
              </a:solidFill>
            </a:endParaRPr>
          </a:p>
        </p:txBody>
      </p:sp>
      <p:sp>
        <p:nvSpPr>
          <p:cNvPr id="11" name="矩形 10"/>
          <p:cNvSpPr/>
          <p:nvPr/>
        </p:nvSpPr>
        <p:spPr>
          <a:xfrm>
            <a:off x="4543755" y="2443444"/>
            <a:ext cx="851515" cy="492443"/>
          </a:xfrm>
          <a:prstGeom prst="rect">
            <a:avLst/>
          </a:prstGeom>
        </p:spPr>
        <p:txBody>
          <a:bodyPr wrap="none">
            <a:spAutoFit/>
          </a:bodyPr>
          <a:lstStyle/>
          <a:p>
            <a:r>
              <a:rPr kumimoji="1" lang="zh-CN" altLang="en-US" sz="2600" baseline="0" dirty="0" smtClean="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生日</a:t>
            </a:r>
            <a:endParaRPr lang="zh-CN" altLang="en-US" sz="2600" dirty="0">
              <a:solidFill>
                <a:schemeClr val="accent1">
                  <a:lumMod val="60000"/>
                  <a:lumOff val="40000"/>
                </a:schemeClr>
              </a:solidFill>
            </a:endParaRPr>
          </a:p>
        </p:txBody>
      </p:sp>
      <p:sp>
        <p:nvSpPr>
          <p:cNvPr id="12" name="矩形 11"/>
          <p:cNvSpPr/>
          <p:nvPr/>
        </p:nvSpPr>
        <p:spPr>
          <a:xfrm>
            <a:off x="6888837" y="2443444"/>
            <a:ext cx="851515" cy="492443"/>
          </a:xfrm>
          <a:prstGeom prst="rect">
            <a:avLst/>
          </a:prstGeom>
        </p:spPr>
        <p:txBody>
          <a:bodyPr wrap="none">
            <a:spAutoFit/>
          </a:bodyPr>
          <a:lstStyle/>
          <a:p>
            <a:r>
              <a:rPr kumimoji="1" lang="zh-CN" altLang="en-US" sz="2600" baseline="0" dirty="0" smtClean="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职业</a:t>
            </a:r>
            <a:endParaRPr lang="zh-CN" altLang="en-US" sz="2600" dirty="0">
              <a:solidFill>
                <a:schemeClr val="accent1">
                  <a:lumMod val="60000"/>
                  <a:lumOff val="40000"/>
                </a:schemeClr>
              </a:solidFill>
            </a:endParaRPr>
          </a:p>
        </p:txBody>
      </p:sp>
      <p:cxnSp>
        <p:nvCxnSpPr>
          <p:cNvPr id="14" name="直接箭头连接符 13"/>
          <p:cNvCxnSpPr/>
          <p:nvPr/>
        </p:nvCxnSpPr>
        <p:spPr bwMode="auto">
          <a:xfrm flipH="1">
            <a:off x="1181332" y="2865528"/>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bwMode="auto">
          <a:xfrm flipH="1">
            <a:off x="2850098" y="2865528"/>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bwMode="auto">
          <a:xfrm flipH="1">
            <a:off x="3883859" y="2860229"/>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bwMode="auto">
          <a:xfrm flipH="1">
            <a:off x="4969512" y="2865528"/>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bwMode="auto">
          <a:xfrm flipH="1">
            <a:off x="7314593" y="2865528"/>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1619672" y="2420888"/>
            <a:ext cx="851515" cy="492443"/>
          </a:xfrm>
          <a:prstGeom prst="rect">
            <a:avLst/>
          </a:prstGeom>
        </p:spPr>
        <p:txBody>
          <a:bodyPr wrap="none">
            <a:spAutoFit/>
          </a:bodyPr>
          <a:lstStyle/>
          <a:p>
            <a:r>
              <a:rPr kumimoji="1" lang="zh-CN" altLang="en-US" sz="2600" baseline="0" dirty="0" smtClean="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性别</a:t>
            </a:r>
            <a:endParaRPr lang="zh-CN" altLang="en-US" sz="2600" dirty="0">
              <a:solidFill>
                <a:schemeClr val="accent1">
                  <a:lumMod val="60000"/>
                  <a:lumOff val="40000"/>
                </a:schemeClr>
              </a:solidFill>
            </a:endParaRPr>
          </a:p>
        </p:txBody>
      </p:sp>
      <p:cxnSp>
        <p:nvCxnSpPr>
          <p:cNvPr id="23" name="直接箭头连接符 22"/>
          <p:cNvCxnSpPr/>
          <p:nvPr/>
        </p:nvCxnSpPr>
        <p:spPr bwMode="auto">
          <a:xfrm flipH="1">
            <a:off x="2045429" y="2842972"/>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9908146"/>
      </p:ext>
    </p:extLst>
  </p:cSld>
  <p:clrMapOvr>
    <a:masterClrMapping/>
  </p:clrMapOvr>
  <p:transition spd="slow">
    <p:wipe dir="d"/>
    <p:sndAc>
      <p:stSnd>
        <p:snd r:embed="rId2" name="camera.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270" name="Text Box 166"/>
          <p:cNvSpPr txBox="1">
            <a:spLocks noChangeArrowheads="1"/>
          </p:cNvSpPr>
          <p:nvPr/>
        </p:nvSpPr>
        <p:spPr bwMode="auto">
          <a:xfrm>
            <a:off x="589837" y="1507"/>
            <a:ext cx="2710211" cy="760959"/>
          </a:xfrm>
          <a:prstGeom prst="rect">
            <a:avLst/>
          </a:prstGeom>
          <a:noFill/>
          <a:ln w="12700" cap="sq">
            <a:noFill/>
            <a:miter lim="800000"/>
            <a:headEnd/>
            <a:tailEnd/>
          </a:ln>
          <a:effectLst>
            <a:outerShdw dist="35921" dir="2700000" algn="ctr" rotWithShape="0">
              <a:schemeClr val="bg2"/>
            </a:outerShdw>
          </a:effectLst>
        </p:spPr>
        <p:txBody>
          <a:bodyPr wrap="none" lIns="72000" tIns="72000" rIns="72000" bIns="72000">
            <a:spAutoFit/>
          </a:bodyPr>
          <a:lstStyle/>
          <a:p>
            <a:pPr>
              <a:defRPr/>
            </a:pPr>
            <a:r>
              <a:rPr lang="zh-CN" altLang="en-US" sz="4000" b="1" baseline="0" dirty="0" smtClean="0">
                <a:solidFill>
                  <a:schemeClr val="folHlink"/>
                </a:solidFill>
                <a:effectLst>
                  <a:outerShdw blurRad="38100" dist="38100" dir="2700000" algn="tl">
                    <a:srgbClr val="000000"/>
                  </a:outerShdw>
                </a:effectLst>
                <a:latin typeface="微软雅黑" pitchFamily="34" charset="-122"/>
                <a:ea typeface="微软雅黑" pitchFamily="34" charset="-122"/>
              </a:rPr>
              <a:t>数据与信息</a:t>
            </a:r>
            <a:endParaRPr lang="zh-CN" altLang="en-US" sz="4000" b="1" baseline="0" dirty="0">
              <a:solidFill>
                <a:schemeClr val="folHlink"/>
              </a:solidFill>
              <a:effectLst>
                <a:outerShdw blurRad="38100" dist="38100" dir="2700000" algn="tl">
                  <a:srgbClr val="000000"/>
                </a:outerShdw>
              </a:effectLst>
              <a:latin typeface="微软雅黑" pitchFamily="34" charset="-122"/>
              <a:ea typeface="微软雅黑" pitchFamily="34" charset="-122"/>
            </a:endParaRPr>
          </a:p>
        </p:txBody>
      </p:sp>
      <p:sp>
        <p:nvSpPr>
          <p:cNvPr id="175321" name="Rectangle 217"/>
          <p:cNvSpPr>
            <a:spLocks noGrp="1" noChangeArrowheads="1"/>
          </p:cNvSpPr>
          <p:nvPr>
            <p:ph idx="1"/>
          </p:nvPr>
        </p:nvSpPr>
        <p:spPr>
          <a:xfrm>
            <a:off x="254000" y="980728"/>
            <a:ext cx="8496300" cy="1368152"/>
          </a:xfrm>
        </p:spPr>
        <p:txBody>
          <a:bodyPr/>
          <a:lstStyle/>
          <a:p>
            <a:pPr eaLnBrk="1" hangingPunct="1">
              <a:spcAft>
                <a:spcPct val="50000"/>
              </a:spcAft>
              <a:defRPr/>
            </a:pPr>
            <a:r>
              <a:rPr lang="zh-CN" altLang="en-US" sz="3600" b="1" dirty="0" smtClean="0">
                <a:solidFill>
                  <a:srgbClr val="FFC000"/>
                </a:solidFill>
              </a:rPr>
              <a:t>数据</a:t>
            </a:r>
            <a:r>
              <a:rPr lang="zh-CN" altLang="en-US" sz="3600" dirty="0" smtClean="0"/>
              <a:t>（</a:t>
            </a:r>
            <a:r>
              <a:rPr lang="en-US" altLang="zh-CN" sz="3600" i="1" dirty="0" smtClean="0"/>
              <a:t>Data</a:t>
            </a:r>
            <a:r>
              <a:rPr lang="zh-CN" altLang="en-US" sz="3600" dirty="0" smtClean="0"/>
              <a:t>）是描述客观事物的可存储并具有明确意义的符号序列。</a:t>
            </a:r>
          </a:p>
        </p:txBody>
      </p:sp>
      <p:sp>
        <p:nvSpPr>
          <p:cNvPr id="20" name="Rectangle 3"/>
          <p:cNvSpPr txBox="1">
            <a:spLocks noChangeArrowheads="1"/>
          </p:cNvSpPr>
          <p:nvPr/>
        </p:nvSpPr>
        <p:spPr bwMode="auto">
          <a:xfrm>
            <a:off x="1944942" y="5183110"/>
            <a:ext cx="5060194" cy="75608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indent="0" eaLnBrk="1" hangingPunct="1">
              <a:lnSpc>
                <a:spcPct val="90000"/>
              </a:lnSpc>
              <a:buNone/>
              <a:defRPr/>
            </a:pPr>
            <a:r>
              <a:rPr lang="zh-CN" altLang="en-US" sz="4800" dirty="0" smtClean="0">
                <a:solidFill>
                  <a:srgbClr val="FFFF00"/>
                </a:solidFill>
              </a:rPr>
              <a:t>这组数据是什么意思？</a:t>
            </a:r>
          </a:p>
        </p:txBody>
      </p:sp>
      <p:sp>
        <p:nvSpPr>
          <p:cNvPr id="6" name="Rectangle 232"/>
          <p:cNvSpPr>
            <a:spLocks noChangeArrowheads="1"/>
          </p:cNvSpPr>
          <p:nvPr/>
        </p:nvSpPr>
        <p:spPr bwMode="auto">
          <a:xfrm>
            <a:off x="684212" y="3131004"/>
            <a:ext cx="7848227" cy="1378201"/>
          </a:xfrm>
          <a:prstGeom prst="rect">
            <a:avLst/>
          </a:prstGeom>
          <a:solidFill>
            <a:schemeClr val="accent4">
              <a:lumMod val="10000"/>
            </a:schemeClr>
          </a:solidFill>
          <a:ln>
            <a:headEnd/>
            <a:tailEnd/>
          </a:ln>
        </p:spPr>
        <p:style>
          <a:lnRef idx="3">
            <a:schemeClr val="lt1"/>
          </a:lnRef>
          <a:fillRef idx="1">
            <a:schemeClr val="accent1"/>
          </a:fillRef>
          <a:effectRef idx="1">
            <a:schemeClr val="accent1"/>
          </a:effectRef>
          <a:fontRef idx="minor">
            <a:schemeClr val="lt1"/>
          </a:fontRef>
        </p:style>
        <p:txBody>
          <a:bodyPr lIns="0" tIns="0" rIns="0" bIns="0"/>
          <a:lstStyle/>
          <a:p>
            <a:pPr algn="ctr">
              <a:defRPr/>
            </a:pP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420100</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，李勇浩，</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19</a:t>
            </a:r>
            <a:r>
              <a:rPr kumimoji="1" lang="zh-CN" altLang="en-US"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54</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1.78</a:t>
            </a:r>
            <a:r>
              <a:rPr kumimoji="1" lang="zh-CN" altLang="en-US"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1</a:t>
            </a:r>
            <a:endPar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endParaRPr>
          </a:p>
          <a:p>
            <a:pPr algn="ctr">
              <a:defRPr/>
            </a:pP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420432</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，陈曼韬，</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20</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68</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1.64</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1</a:t>
            </a:r>
          </a:p>
          <a:p>
            <a:pPr algn="ctr">
              <a:defRPr/>
            </a:pP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421391</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，曾小蓓，</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19</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52</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1.58</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0</a:t>
            </a:r>
          </a:p>
        </p:txBody>
      </p:sp>
    </p:spTree>
    <p:extLst>
      <p:ext uri="{BB962C8B-B14F-4D97-AF65-F5344CB8AC3E}">
        <p14:creationId xmlns:p14="http://schemas.microsoft.com/office/powerpoint/2010/main" val="3013306860"/>
      </p:ext>
    </p:extLst>
  </p:cSld>
  <p:clrMapOvr>
    <a:masterClrMapping/>
  </p:clrMapOvr>
  <mc:AlternateContent xmlns:mc="http://schemas.openxmlformats.org/markup-compatibility/2006" xmlns:p14="http://schemas.microsoft.com/office/powerpoint/2010/main">
    <mc:Choice Requires="p14">
      <p:transition spd="slow" p14:dur="1500">
        <p:split/>
        <p:sndAc>
          <p:stSnd>
            <p:snd r:embed="rId2" name="camera.wav"/>
          </p:stSnd>
        </p:sndAc>
      </p:transition>
    </mc:Choice>
    <mc:Fallback xmlns="">
      <p:transition spd="slow">
        <p:split/>
        <p:sndAc>
          <p:stSnd>
            <p:snd r:embed="rId4" name="camera.wav"/>
          </p:stSnd>
        </p:sndAc>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270" name="Text Box 166"/>
          <p:cNvSpPr txBox="1">
            <a:spLocks noChangeArrowheads="1"/>
          </p:cNvSpPr>
          <p:nvPr/>
        </p:nvSpPr>
        <p:spPr bwMode="auto">
          <a:xfrm>
            <a:off x="589837" y="1507"/>
            <a:ext cx="2710211" cy="760959"/>
          </a:xfrm>
          <a:prstGeom prst="rect">
            <a:avLst/>
          </a:prstGeom>
          <a:noFill/>
          <a:ln w="12700" cap="sq">
            <a:noFill/>
            <a:miter lim="800000"/>
            <a:headEnd/>
            <a:tailEnd/>
          </a:ln>
          <a:effectLst>
            <a:outerShdw dist="35921" dir="2700000" algn="ctr" rotWithShape="0">
              <a:schemeClr val="bg2"/>
            </a:outerShdw>
          </a:effectLst>
        </p:spPr>
        <p:txBody>
          <a:bodyPr wrap="none" lIns="72000" tIns="72000" rIns="72000" bIns="72000">
            <a:spAutoFit/>
          </a:bodyPr>
          <a:lstStyle/>
          <a:p>
            <a:pPr>
              <a:defRPr/>
            </a:pPr>
            <a:r>
              <a:rPr lang="zh-CN" altLang="en-US" sz="4000" b="1" baseline="0" dirty="0" smtClean="0">
                <a:solidFill>
                  <a:schemeClr val="folHlink"/>
                </a:solidFill>
                <a:effectLst>
                  <a:outerShdw blurRad="38100" dist="38100" dir="2700000" algn="tl">
                    <a:srgbClr val="000000"/>
                  </a:outerShdw>
                </a:effectLst>
                <a:latin typeface="微软雅黑" pitchFamily="34" charset="-122"/>
                <a:ea typeface="微软雅黑" pitchFamily="34" charset="-122"/>
              </a:rPr>
              <a:t>数据与信息</a:t>
            </a:r>
            <a:endParaRPr lang="zh-CN" altLang="en-US" sz="4000" b="1" baseline="0" dirty="0">
              <a:solidFill>
                <a:schemeClr val="folHlink"/>
              </a:solidFill>
              <a:effectLst>
                <a:outerShdw blurRad="38100" dist="38100" dir="2700000" algn="tl">
                  <a:srgbClr val="000000"/>
                </a:outerShdw>
              </a:effectLst>
              <a:latin typeface="微软雅黑" pitchFamily="34" charset="-122"/>
              <a:ea typeface="微软雅黑" pitchFamily="34" charset="-122"/>
            </a:endParaRPr>
          </a:p>
        </p:txBody>
      </p:sp>
      <p:sp>
        <p:nvSpPr>
          <p:cNvPr id="175321" name="Rectangle 217"/>
          <p:cNvSpPr>
            <a:spLocks noGrp="1" noChangeArrowheads="1"/>
          </p:cNvSpPr>
          <p:nvPr>
            <p:ph idx="1"/>
          </p:nvPr>
        </p:nvSpPr>
        <p:spPr>
          <a:xfrm>
            <a:off x="254000" y="980728"/>
            <a:ext cx="8496300" cy="1368152"/>
          </a:xfrm>
        </p:spPr>
        <p:txBody>
          <a:bodyPr/>
          <a:lstStyle/>
          <a:p>
            <a:pPr eaLnBrk="1" hangingPunct="1">
              <a:spcAft>
                <a:spcPct val="50000"/>
              </a:spcAft>
              <a:defRPr/>
            </a:pPr>
            <a:r>
              <a:rPr lang="zh-CN" altLang="en-US" sz="3600" b="1" dirty="0" smtClean="0">
                <a:solidFill>
                  <a:srgbClr val="FFC000"/>
                </a:solidFill>
              </a:rPr>
              <a:t>数据</a:t>
            </a:r>
            <a:r>
              <a:rPr lang="zh-CN" altLang="en-US" sz="3600" dirty="0" smtClean="0"/>
              <a:t>（</a:t>
            </a:r>
            <a:r>
              <a:rPr lang="en-US" altLang="zh-CN" sz="3600" i="1" dirty="0" smtClean="0"/>
              <a:t>Data</a:t>
            </a:r>
            <a:r>
              <a:rPr lang="zh-CN" altLang="en-US" sz="3600" dirty="0" smtClean="0"/>
              <a:t>）是描述客观事物的可存储并具有明确意义的符号序列。</a:t>
            </a:r>
          </a:p>
        </p:txBody>
      </p:sp>
      <p:sp>
        <p:nvSpPr>
          <p:cNvPr id="13" name="Rectangle 232"/>
          <p:cNvSpPr>
            <a:spLocks noChangeArrowheads="1"/>
          </p:cNvSpPr>
          <p:nvPr/>
        </p:nvSpPr>
        <p:spPr bwMode="auto">
          <a:xfrm>
            <a:off x="684212" y="3131004"/>
            <a:ext cx="7848227" cy="1378201"/>
          </a:xfrm>
          <a:prstGeom prst="rect">
            <a:avLst/>
          </a:prstGeom>
          <a:solidFill>
            <a:schemeClr val="accent4">
              <a:lumMod val="10000"/>
            </a:schemeClr>
          </a:solidFill>
          <a:ln>
            <a:headEnd/>
            <a:tailEnd/>
          </a:ln>
        </p:spPr>
        <p:style>
          <a:lnRef idx="3">
            <a:schemeClr val="lt1"/>
          </a:lnRef>
          <a:fillRef idx="1">
            <a:schemeClr val="accent1"/>
          </a:fillRef>
          <a:effectRef idx="1">
            <a:schemeClr val="accent1"/>
          </a:effectRef>
          <a:fontRef idx="minor">
            <a:schemeClr val="lt1"/>
          </a:fontRef>
        </p:style>
        <p:txBody>
          <a:bodyPr lIns="0" tIns="0" rIns="0" bIns="0"/>
          <a:lstStyle/>
          <a:p>
            <a:pPr algn="ctr">
              <a:defRPr/>
            </a:pP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420100</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，李勇浩，</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19</a:t>
            </a:r>
            <a:r>
              <a:rPr kumimoji="1" lang="zh-CN" altLang="en-US"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54</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1.78</a:t>
            </a:r>
            <a:r>
              <a:rPr kumimoji="1" lang="zh-CN" altLang="en-US"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1</a:t>
            </a:r>
            <a:endPar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endParaRPr>
          </a:p>
          <a:p>
            <a:pPr algn="ctr">
              <a:defRPr/>
            </a:pP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420432</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，陈曼韬，</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20</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68</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1.64</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1</a:t>
            </a:r>
          </a:p>
          <a:p>
            <a:pPr algn="ctr">
              <a:defRPr/>
            </a:pP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421391</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，曾小蓓，</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19</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52</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1.58</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0</a:t>
            </a:r>
          </a:p>
        </p:txBody>
      </p:sp>
      <p:sp>
        <p:nvSpPr>
          <p:cNvPr id="3" name="矩形 2"/>
          <p:cNvSpPr/>
          <p:nvPr/>
        </p:nvSpPr>
        <p:spPr>
          <a:xfrm>
            <a:off x="1906515" y="2348880"/>
            <a:ext cx="851515" cy="492443"/>
          </a:xfrm>
          <a:prstGeom prst="rect">
            <a:avLst/>
          </a:prstGeom>
        </p:spPr>
        <p:txBody>
          <a:bodyPr wrap="none">
            <a:spAutoFit/>
          </a:bodyPr>
          <a:lstStyle/>
          <a:p>
            <a:r>
              <a:rPr kumimoji="1" lang="zh-CN" altLang="en-US" sz="2600" baseline="0" dirty="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学号</a:t>
            </a:r>
            <a:endParaRPr lang="zh-CN" altLang="en-US" sz="2600" dirty="0">
              <a:solidFill>
                <a:schemeClr val="accent1">
                  <a:lumMod val="60000"/>
                  <a:lumOff val="40000"/>
                </a:schemeClr>
              </a:solidFill>
            </a:endParaRPr>
          </a:p>
        </p:txBody>
      </p:sp>
      <p:sp>
        <p:nvSpPr>
          <p:cNvPr id="24" name="矩形 23"/>
          <p:cNvSpPr/>
          <p:nvPr/>
        </p:nvSpPr>
        <p:spPr>
          <a:xfrm>
            <a:off x="3419872" y="2348880"/>
            <a:ext cx="851515" cy="492443"/>
          </a:xfrm>
          <a:prstGeom prst="rect">
            <a:avLst/>
          </a:prstGeom>
        </p:spPr>
        <p:txBody>
          <a:bodyPr wrap="none">
            <a:spAutoFit/>
          </a:bodyPr>
          <a:lstStyle/>
          <a:p>
            <a:r>
              <a:rPr kumimoji="1" lang="zh-CN" altLang="en-US" sz="2600" baseline="0" dirty="0" smtClean="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姓名</a:t>
            </a:r>
            <a:endParaRPr lang="zh-CN" altLang="en-US" sz="2600" dirty="0">
              <a:solidFill>
                <a:schemeClr val="accent1">
                  <a:lumMod val="60000"/>
                  <a:lumOff val="40000"/>
                </a:schemeClr>
              </a:solidFill>
            </a:endParaRPr>
          </a:p>
        </p:txBody>
      </p:sp>
      <p:sp>
        <p:nvSpPr>
          <p:cNvPr id="25" name="矩形 24"/>
          <p:cNvSpPr/>
          <p:nvPr/>
        </p:nvSpPr>
        <p:spPr>
          <a:xfrm>
            <a:off x="4461277" y="2348880"/>
            <a:ext cx="851515" cy="492443"/>
          </a:xfrm>
          <a:prstGeom prst="rect">
            <a:avLst/>
          </a:prstGeom>
        </p:spPr>
        <p:txBody>
          <a:bodyPr wrap="none">
            <a:spAutoFit/>
          </a:bodyPr>
          <a:lstStyle/>
          <a:p>
            <a:r>
              <a:rPr kumimoji="1" lang="zh-CN" altLang="en-US" sz="2600" baseline="0" dirty="0" smtClean="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年龄</a:t>
            </a:r>
            <a:endParaRPr lang="zh-CN" altLang="en-US" sz="2600" dirty="0">
              <a:solidFill>
                <a:schemeClr val="accent1">
                  <a:lumMod val="60000"/>
                  <a:lumOff val="40000"/>
                </a:schemeClr>
              </a:solidFill>
            </a:endParaRPr>
          </a:p>
        </p:txBody>
      </p:sp>
      <p:sp>
        <p:nvSpPr>
          <p:cNvPr id="26" name="矩形 25"/>
          <p:cNvSpPr/>
          <p:nvPr/>
        </p:nvSpPr>
        <p:spPr>
          <a:xfrm>
            <a:off x="5271296" y="2348880"/>
            <a:ext cx="851515" cy="492443"/>
          </a:xfrm>
          <a:prstGeom prst="rect">
            <a:avLst/>
          </a:prstGeom>
        </p:spPr>
        <p:txBody>
          <a:bodyPr wrap="none">
            <a:spAutoFit/>
          </a:bodyPr>
          <a:lstStyle/>
          <a:p>
            <a:r>
              <a:rPr kumimoji="1" lang="zh-CN" altLang="en-US" sz="2600" baseline="0" dirty="0" smtClean="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体重</a:t>
            </a:r>
            <a:endParaRPr lang="zh-CN" altLang="en-US" sz="2600" dirty="0">
              <a:solidFill>
                <a:schemeClr val="accent1">
                  <a:lumMod val="60000"/>
                  <a:lumOff val="40000"/>
                </a:schemeClr>
              </a:solidFill>
            </a:endParaRPr>
          </a:p>
        </p:txBody>
      </p:sp>
      <p:sp>
        <p:nvSpPr>
          <p:cNvPr id="27" name="矩形 26"/>
          <p:cNvSpPr/>
          <p:nvPr/>
        </p:nvSpPr>
        <p:spPr>
          <a:xfrm>
            <a:off x="6156176" y="2348880"/>
            <a:ext cx="851515" cy="492443"/>
          </a:xfrm>
          <a:prstGeom prst="rect">
            <a:avLst/>
          </a:prstGeom>
        </p:spPr>
        <p:txBody>
          <a:bodyPr wrap="none">
            <a:spAutoFit/>
          </a:bodyPr>
          <a:lstStyle/>
          <a:p>
            <a:r>
              <a:rPr kumimoji="1" lang="zh-CN" altLang="en-US" sz="2600" baseline="0" dirty="0" smtClean="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身高</a:t>
            </a:r>
            <a:endParaRPr lang="zh-CN" altLang="en-US" sz="2600" dirty="0">
              <a:solidFill>
                <a:schemeClr val="accent1">
                  <a:lumMod val="60000"/>
                  <a:lumOff val="40000"/>
                </a:schemeClr>
              </a:solidFill>
            </a:endParaRPr>
          </a:p>
        </p:txBody>
      </p:sp>
      <p:sp>
        <p:nvSpPr>
          <p:cNvPr id="28" name="矩形 27"/>
          <p:cNvSpPr/>
          <p:nvPr/>
        </p:nvSpPr>
        <p:spPr>
          <a:xfrm>
            <a:off x="7020272" y="2348880"/>
            <a:ext cx="851515" cy="492443"/>
          </a:xfrm>
          <a:prstGeom prst="rect">
            <a:avLst/>
          </a:prstGeom>
        </p:spPr>
        <p:txBody>
          <a:bodyPr wrap="none">
            <a:spAutoFit/>
          </a:bodyPr>
          <a:lstStyle/>
          <a:p>
            <a:r>
              <a:rPr kumimoji="1" lang="zh-CN" altLang="en-US" sz="2600" baseline="0" dirty="0" smtClean="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性别</a:t>
            </a:r>
            <a:endParaRPr lang="zh-CN" altLang="en-US" sz="2600" dirty="0">
              <a:solidFill>
                <a:schemeClr val="accent1">
                  <a:lumMod val="60000"/>
                  <a:lumOff val="40000"/>
                </a:schemeClr>
              </a:solidFill>
            </a:endParaRPr>
          </a:p>
        </p:txBody>
      </p:sp>
      <p:cxnSp>
        <p:nvCxnSpPr>
          <p:cNvPr id="5" name="直接箭头连接符 4"/>
          <p:cNvCxnSpPr/>
          <p:nvPr/>
        </p:nvCxnSpPr>
        <p:spPr bwMode="auto">
          <a:xfrm flipH="1">
            <a:off x="2332271" y="2770964"/>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bwMode="auto">
          <a:xfrm flipH="1">
            <a:off x="3845629" y="2770964"/>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bwMode="auto">
          <a:xfrm flipH="1">
            <a:off x="4887034" y="2770964"/>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bwMode="auto">
          <a:xfrm flipH="1">
            <a:off x="5722702" y="2770964"/>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bwMode="auto">
          <a:xfrm flipH="1">
            <a:off x="6581933" y="2770964"/>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bwMode="auto">
          <a:xfrm flipH="1">
            <a:off x="7446028" y="2770964"/>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1906515" y="4772314"/>
            <a:ext cx="851515" cy="492443"/>
          </a:xfrm>
          <a:prstGeom prst="rect">
            <a:avLst/>
          </a:prstGeom>
        </p:spPr>
        <p:txBody>
          <a:bodyPr wrap="none">
            <a:spAutoFit/>
          </a:bodyPr>
          <a:lstStyle/>
          <a:p>
            <a:r>
              <a:rPr kumimoji="1" lang="zh-CN" altLang="en-US" sz="2600" baseline="0" dirty="0" smtClean="0">
                <a:solidFill>
                  <a:srgbClr val="CCFF99"/>
                </a:solidFill>
                <a:effectLst>
                  <a:outerShdw blurRad="38100" dist="38100" dir="2700000" algn="tl">
                    <a:srgbClr val="000000"/>
                  </a:outerShdw>
                </a:effectLst>
                <a:latin typeface="微软雅黑" pitchFamily="34" charset="-122"/>
                <a:ea typeface="微软雅黑" pitchFamily="34" charset="-122"/>
              </a:rPr>
              <a:t>编号</a:t>
            </a:r>
            <a:endParaRPr lang="zh-CN" altLang="en-US" sz="2600" dirty="0">
              <a:solidFill>
                <a:srgbClr val="CCFF99"/>
              </a:solidFill>
            </a:endParaRPr>
          </a:p>
        </p:txBody>
      </p:sp>
      <p:sp>
        <p:nvSpPr>
          <p:cNvPr id="37" name="矩形 36"/>
          <p:cNvSpPr/>
          <p:nvPr/>
        </p:nvSpPr>
        <p:spPr>
          <a:xfrm>
            <a:off x="3419872" y="4772314"/>
            <a:ext cx="851515" cy="492443"/>
          </a:xfrm>
          <a:prstGeom prst="rect">
            <a:avLst/>
          </a:prstGeom>
        </p:spPr>
        <p:txBody>
          <a:bodyPr wrap="none">
            <a:spAutoFit/>
          </a:bodyPr>
          <a:lstStyle/>
          <a:p>
            <a:r>
              <a:rPr kumimoji="1" lang="zh-CN" altLang="en-US" sz="2600" baseline="0" dirty="0" smtClean="0">
                <a:solidFill>
                  <a:srgbClr val="CCFF99"/>
                </a:solidFill>
                <a:effectLst>
                  <a:outerShdw blurRad="38100" dist="38100" dir="2700000" algn="tl">
                    <a:srgbClr val="000000"/>
                  </a:outerShdw>
                </a:effectLst>
                <a:latin typeface="微软雅黑" pitchFamily="34" charset="-122"/>
                <a:ea typeface="微软雅黑" pitchFamily="34" charset="-122"/>
              </a:rPr>
              <a:t>姓名</a:t>
            </a:r>
            <a:endParaRPr lang="zh-CN" altLang="en-US" sz="2600" dirty="0">
              <a:solidFill>
                <a:srgbClr val="CCFF99"/>
              </a:solidFill>
            </a:endParaRPr>
          </a:p>
        </p:txBody>
      </p:sp>
      <p:sp>
        <p:nvSpPr>
          <p:cNvPr id="38" name="矩形 37"/>
          <p:cNvSpPr/>
          <p:nvPr/>
        </p:nvSpPr>
        <p:spPr>
          <a:xfrm>
            <a:off x="4283968" y="4798801"/>
            <a:ext cx="1104790" cy="492443"/>
          </a:xfrm>
          <a:prstGeom prst="rect">
            <a:avLst/>
          </a:prstGeom>
        </p:spPr>
        <p:txBody>
          <a:bodyPr wrap="none">
            <a:spAutoFit/>
          </a:bodyPr>
          <a:lstStyle/>
          <a:p>
            <a:r>
              <a:rPr kumimoji="1" lang="en-US" altLang="zh-CN" sz="2600" baseline="0" dirty="0" smtClean="0">
                <a:solidFill>
                  <a:srgbClr val="CCFF99"/>
                </a:solidFill>
                <a:effectLst>
                  <a:outerShdw blurRad="38100" dist="38100" dir="2700000" algn="tl">
                    <a:srgbClr val="000000"/>
                  </a:outerShdw>
                </a:effectLst>
                <a:latin typeface="微软雅黑" pitchFamily="34" charset="-122"/>
                <a:ea typeface="微软雅黑" pitchFamily="34" charset="-122"/>
              </a:rPr>
              <a:t>100</a:t>
            </a:r>
            <a:r>
              <a:rPr kumimoji="1" lang="zh-CN" altLang="en-US" sz="2600" baseline="0" dirty="0" smtClean="0">
                <a:solidFill>
                  <a:srgbClr val="CCFF99"/>
                </a:solidFill>
                <a:effectLst>
                  <a:outerShdw blurRad="38100" dist="38100" dir="2700000" algn="tl">
                    <a:srgbClr val="000000"/>
                  </a:outerShdw>
                </a:effectLst>
                <a:latin typeface="微软雅黑" pitchFamily="34" charset="-122"/>
                <a:ea typeface="微软雅黑" pitchFamily="34" charset="-122"/>
              </a:rPr>
              <a:t>米</a:t>
            </a:r>
            <a:endParaRPr lang="zh-CN" altLang="en-US" sz="2600" dirty="0">
              <a:solidFill>
                <a:srgbClr val="CCFF99"/>
              </a:solidFill>
            </a:endParaRPr>
          </a:p>
        </p:txBody>
      </p:sp>
      <p:sp>
        <p:nvSpPr>
          <p:cNvPr id="39" name="矩形 38"/>
          <p:cNvSpPr/>
          <p:nvPr/>
        </p:nvSpPr>
        <p:spPr>
          <a:xfrm>
            <a:off x="5271296" y="4772314"/>
            <a:ext cx="851515" cy="492443"/>
          </a:xfrm>
          <a:prstGeom prst="rect">
            <a:avLst/>
          </a:prstGeom>
        </p:spPr>
        <p:txBody>
          <a:bodyPr wrap="none">
            <a:spAutoFit/>
          </a:bodyPr>
          <a:lstStyle/>
          <a:p>
            <a:r>
              <a:rPr kumimoji="1" lang="zh-CN" altLang="en-US" sz="2600" baseline="0" dirty="0">
                <a:solidFill>
                  <a:srgbClr val="CCFF99"/>
                </a:solidFill>
                <a:effectLst>
                  <a:outerShdw blurRad="38100" dist="38100" dir="2700000" algn="tl">
                    <a:srgbClr val="000000"/>
                  </a:outerShdw>
                </a:effectLst>
                <a:latin typeface="微软雅黑" pitchFamily="34" charset="-122"/>
                <a:ea typeface="微软雅黑" pitchFamily="34" charset="-122"/>
              </a:rPr>
              <a:t>铅球</a:t>
            </a:r>
          </a:p>
        </p:txBody>
      </p:sp>
      <p:sp>
        <p:nvSpPr>
          <p:cNvPr id="40" name="矩形 39"/>
          <p:cNvSpPr/>
          <p:nvPr/>
        </p:nvSpPr>
        <p:spPr>
          <a:xfrm>
            <a:off x="6156176" y="4772314"/>
            <a:ext cx="851515" cy="492443"/>
          </a:xfrm>
          <a:prstGeom prst="rect">
            <a:avLst/>
          </a:prstGeom>
        </p:spPr>
        <p:txBody>
          <a:bodyPr wrap="none">
            <a:spAutoFit/>
          </a:bodyPr>
          <a:lstStyle/>
          <a:p>
            <a:r>
              <a:rPr kumimoji="1" lang="zh-CN" altLang="en-US" sz="2600" baseline="0" dirty="0" smtClean="0">
                <a:solidFill>
                  <a:srgbClr val="CCFF99"/>
                </a:solidFill>
                <a:effectLst>
                  <a:outerShdw blurRad="38100" dist="38100" dir="2700000" algn="tl">
                    <a:srgbClr val="000000"/>
                  </a:outerShdw>
                </a:effectLst>
                <a:latin typeface="微软雅黑" pitchFamily="34" charset="-122"/>
                <a:ea typeface="微软雅黑" pitchFamily="34" charset="-122"/>
              </a:rPr>
              <a:t>跳高</a:t>
            </a:r>
            <a:endParaRPr lang="zh-CN" altLang="en-US" sz="2600" dirty="0">
              <a:solidFill>
                <a:srgbClr val="CCFF99"/>
              </a:solidFill>
            </a:endParaRPr>
          </a:p>
        </p:txBody>
      </p:sp>
      <p:sp>
        <p:nvSpPr>
          <p:cNvPr id="41" name="矩形 40"/>
          <p:cNvSpPr/>
          <p:nvPr/>
        </p:nvSpPr>
        <p:spPr>
          <a:xfrm>
            <a:off x="7020272" y="4772314"/>
            <a:ext cx="851515" cy="492443"/>
          </a:xfrm>
          <a:prstGeom prst="rect">
            <a:avLst/>
          </a:prstGeom>
        </p:spPr>
        <p:txBody>
          <a:bodyPr wrap="none">
            <a:spAutoFit/>
          </a:bodyPr>
          <a:lstStyle/>
          <a:p>
            <a:r>
              <a:rPr kumimoji="1" lang="zh-CN" altLang="en-US" sz="2600" baseline="0" dirty="0">
                <a:solidFill>
                  <a:srgbClr val="CCFF99"/>
                </a:solidFill>
                <a:effectLst>
                  <a:outerShdw blurRad="38100" dist="38100" dir="2700000" algn="tl">
                    <a:srgbClr val="000000"/>
                  </a:outerShdw>
                </a:effectLst>
                <a:latin typeface="微软雅黑" pitchFamily="34" charset="-122"/>
                <a:ea typeface="微软雅黑" pitchFamily="34" charset="-122"/>
              </a:rPr>
              <a:t>性别</a:t>
            </a:r>
            <a:endParaRPr lang="zh-CN" altLang="en-US" sz="2600" dirty="0">
              <a:solidFill>
                <a:srgbClr val="CCFF99"/>
              </a:solidFill>
            </a:endParaRPr>
          </a:p>
        </p:txBody>
      </p:sp>
      <p:cxnSp>
        <p:nvCxnSpPr>
          <p:cNvPr id="42" name="直接箭头连接符 41"/>
          <p:cNvCxnSpPr/>
          <p:nvPr/>
        </p:nvCxnSpPr>
        <p:spPr bwMode="auto">
          <a:xfrm flipH="1" flipV="1">
            <a:off x="2332271" y="4509205"/>
            <a:ext cx="1" cy="289681"/>
          </a:xfrm>
          <a:prstGeom prst="straightConnector1">
            <a:avLst/>
          </a:prstGeom>
          <a:ln w="38100">
            <a:solidFill>
              <a:srgbClr val="CCFF99"/>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bwMode="auto">
          <a:xfrm flipH="1" flipV="1">
            <a:off x="3845629" y="4509205"/>
            <a:ext cx="1" cy="289681"/>
          </a:xfrm>
          <a:prstGeom prst="straightConnector1">
            <a:avLst/>
          </a:prstGeom>
          <a:ln w="38100">
            <a:solidFill>
              <a:srgbClr val="CCFF99"/>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bwMode="auto">
          <a:xfrm flipH="1" flipV="1">
            <a:off x="4887034" y="4509205"/>
            <a:ext cx="1" cy="289681"/>
          </a:xfrm>
          <a:prstGeom prst="straightConnector1">
            <a:avLst/>
          </a:prstGeom>
          <a:ln w="38100">
            <a:solidFill>
              <a:srgbClr val="CCFF99"/>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bwMode="auto">
          <a:xfrm flipH="1" flipV="1">
            <a:off x="5722702" y="4509205"/>
            <a:ext cx="1" cy="289681"/>
          </a:xfrm>
          <a:prstGeom prst="straightConnector1">
            <a:avLst/>
          </a:prstGeom>
          <a:ln w="38100">
            <a:solidFill>
              <a:srgbClr val="CCFF99"/>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bwMode="auto">
          <a:xfrm flipH="1" flipV="1">
            <a:off x="6581933" y="4509205"/>
            <a:ext cx="1" cy="289681"/>
          </a:xfrm>
          <a:prstGeom prst="straightConnector1">
            <a:avLst/>
          </a:prstGeom>
          <a:ln w="38100">
            <a:solidFill>
              <a:srgbClr val="CCFF99"/>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bwMode="auto">
          <a:xfrm flipH="1" flipV="1">
            <a:off x="7446028" y="4509205"/>
            <a:ext cx="1" cy="289681"/>
          </a:xfrm>
          <a:prstGeom prst="straightConnector1">
            <a:avLst/>
          </a:prstGeom>
          <a:ln w="38100">
            <a:solidFill>
              <a:srgbClr val="CCFF99"/>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48" name="矩形 47"/>
          <p:cNvSpPr/>
          <p:nvPr/>
        </p:nvSpPr>
        <p:spPr>
          <a:xfrm>
            <a:off x="666021" y="5373216"/>
            <a:ext cx="7848227" cy="1077218"/>
          </a:xfrm>
          <a:prstGeom prst="rect">
            <a:avLst/>
          </a:prstGeom>
        </p:spPr>
        <p:txBody>
          <a:bodyPr wrap="square">
            <a:spAutoFit/>
          </a:bodyPr>
          <a:lstStyle/>
          <a:p>
            <a:r>
              <a:rPr lang="zh-CN" altLang="en-US" sz="4800" dirty="0" smtClean="0">
                <a:latin typeface="微软雅黑" pitchFamily="34" charset="-122"/>
                <a:ea typeface="微软雅黑" pitchFamily="34" charset="-122"/>
              </a:rPr>
              <a:t>语义不同，数据反映的现实也不同。可见，数据</a:t>
            </a:r>
            <a:r>
              <a:rPr lang="zh-CN" altLang="en-US" sz="4800" dirty="0">
                <a:latin typeface="微软雅黑" pitchFamily="34" charset="-122"/>
                <a:ea typeface="微软雅黑" pitchFamily="34" charset="-122"/>
              </a:rPr>
              <a:t>与其</a:t>
            </a:r>
            <a:r>
              <a:rPr lang="zh-CN" altLang="en-US" sz="4800" b="1" dirty="0">
                <a:solidFill>
                  <a:srgbClr val="FFFF00"/>
                </a:solidFill>
                <a:latin typeface="微软雅黑" pitchFamily="34" charset="-122"/>
                <a:ea typeface="微软雅黑" pitchFamily="34" charset="-122"/>
              </a:rPr>
              <a:t>语义</a:t>
            </a:r>
            <a:r>
              <a:rPr lang="zh-CN" altLang="en-US" sz="4800" dirty="0" smtClean="0">
                <a:latin typeface="微软雅黑" pitchFamily="34" charset="-122"/>
                <a:ea typeface="微软雅黑" pitchFamily="34" charset="-122"/>
              </a:rPr>
              <a:t>密不可分。</a:t>
            </a:r>
            <a:endParaRPr lang="zh-CN" altLang="en-US" sz="4800" dirty="0">
              <a:latin typeface="微软雅黑" pitchFamily="34" charset="-122"/>
              <a:ea typeface="微软雅黑" pitchFamily="34" charset="-122"/>
            </a:endParaRPr>
          </a:p>
        </p:txBody>
      </p:sp>
    </p:spTree>
    <p:extLst>
      <p:ext uri="{BB962C8B-B14F-4D97-AF65-F5344CB8AC3E}">
        <p14:creationId xmlns:p14="http://schemas.microsoft.com/office/powerpoint/2010/main" val="2385092066"/>
      </p:ext>
    </p:extLst>
  </p:cSld>
  <p:clrMapOvr>
    <a:masterClrMapping/>
  </p:clrMapOvr>
  <p:transition spd="slow">
    <p:wipe dir="d"/>
    <p:sndAc>
      <p:stSnd>
        <p:snd r:embed="rId2" name="camera.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270" name="Text Box 166"/>
          <p:cNvSpPr txBox="1">
            <a:spLocks noChangeArrowheads="1"/>
          </p:cNvSpPr>
          <p:nvPr/>
        </p:nvSpPr>
        <p:spPr bwMode="auto">
          <a:xfrm>
            <a:off x="589837" y="1507"/>
            <a:ext cx="2710211" cy="760959"/>
          </a:xfrm>
          <a:prstGeom prst="rect">
            <a:avLst/>
          </a:prstGeom>
          <a:noFill/>
          <a:ln w="12700" cap="sq">
            <a:noFill/>
            <a:miter lim="800000"/>
            <a:headEnd/>
            <a:tailEnd/>
          </a:ln>
          <a:effectLst>
            <a:outerShdw dist="35921" dir="2700000" algn="ctr" rotWithShape="0">
              <a:schemeClr val="bg2"/>
            </a:outerShdw>
          </a:effectLst>
        </p:spPr>
        <p:txBody>
          <a:bodyPr wrap="none" lIns="72000" tIns="72000" rIns="72000" bIns="72000">
            <a:spAutoFit/>
          </a:bodyPr>
          <a:lstStyle/>
          <a:p>
            <a:pPr>
              <a:defRPr/>
            </a:pPr>
            <a:r>
              <a:rPr lang="zh-CN" altLang="en-US" sz="4000" b="1" baseline="0" dirty="0" smtClean="0">
                <a:solidFill>
                  <a:schemeClr val="folHlink"/>
                </a:solidFill>
                <a:effectLst>
                  <a:outerShdw blurRad="38100" dist="38100" dir="2700000" algn="tl">
                    <a:srgbClr val="000000"/>
                  </a:outerShdw>
                </a:effectLst>
                <a:latin typeface="微软雅黑" pitchFamily="34" charset="-122"/>
                <a:ea typeface="微软雅黑" pitchFamily="34" charset="-122"/>
              </a:rPr>
              <a:t>数据与信息</a:t>
            </a:r>
            <a:endParaRPr lang="zh-CN" altLang="en-US" sz="4000" b="1" baseline="0" dirty="0">
              <a:solidFill>
                <a:schemeClr val="folHlink"/>
              </a:solidFill>
              <a:effectLst>
                <a:outerShdw blurRad="38100" dist="38100" dir="2700000" algn="tl">
                  <a:srgbClr val="000000"/>
                </a:outerShdw>
              </a:effectLst>
              <a:latin typeface="微软雅黑" pitchFamily="34" charset="-122"/>
              <a:ea typeface="微软雅黑" pitchFamily="34" charset="-122"/>
            </a:endParaRPr>
          </a:p>
        </p:txBody>
      </p:sp>
      <p:sp>
        <p:nvSpPr>
          <p:cNvPr id="175321" name="Rectangle 217"/>
          <p:cNvSpPr>
            <a:spLocks noGrp="1" noChangeArrowheads="1"/>
          </p:cNvSpPr>
          <p:nvPr>
            <p:ph idx="1"/>
          </p:nvPr>
        </p:nvSpPr>
        <p:spPr>
          <a:xfrm>
            <a:off x="254000" y="980728"/>
            <a:ext cx="8496300" cy="1368152"/>
          </a:xfrm>
        </p:spPr>
        <p:txBody>
          <a:bodyPr/>
          <a:lstStyle/>
          <a:p>
            <a:pPr eaLnBrk="1" hangingPunct="1">
              <a:spcAft>
                <a:spcPct val="50000"/>
              </a:spcAft>
              <a:defRPr/>
            </a:pPr>
            <a:r>
              <a:rPr lang="zh-CN" altLang="en-US" sz="3600" dirty="0" smtClean="0"/>
              <a:t>数据与信息的关系</a:t>
            </a:r>
          </a:p>
        </p:txBody>
      </p:sp>
      <p:sp>
        <p:nvSpPr>
          <p:cNvPr id="7" name="Rectangle 226"/>
          <p:cNvSpPr>
            <a:spLocks noChangeArrowheads="1"/>
          </p:cNvSpPr>
          <p:nvPr/>
        </p:nvSpPr>
        <p:spPr bwMode="auto">
          <a:xfrm>
            <a:off x="752476" y="2239398"/>
            <a:ext cx="1476000" cy="1044000"/>
          </a:xfrm>
          <a:prstGeom prst="rect">
            <a:avLst/>
          </a:prstGeom>
          <a:gradFill rotWithShape="1">
            <a:gsLst>
              <a:gs pos="0">
                <a:schemeClr val="bg1">
                  <a:gamma/>
                  <a:shade val="72549"/>
                  <a:invGamma/>
                  <a:alpha val="67999"/>
                </a:schemeClr>
              </a:gs>
              <a:gs pos="50000">
                <a:schemeClr val="bg1"/>
              </a:gs>
              <a:gs pos="100000">
                <a:schemeClr val="bg1">
                  <a:gamma/>
                  <a:shade val="72549"/>
                  <a:invGamma/>
                  <a:alpha val="67999"/>
                </a:schemeClr>
              </a:gs>
            </a:gsLst>
            <a:lin ang="18900000" scaled="1"/>
          </a:gradFill>
          <a:ln w="38100" cap="sq">
            <a:solidFill>
              <a:schemeClr val="hlink"/>
            </a:solidFill>
            <a:miter lim="800000"/>
            <a:headEnd type="none" w="sm" len="sm"/>
            <a:tailEnd type="none" w="sm" len="sm"/>
          </a:ln>
          <a:effectLst>
            <a:outerShdw dist="35921" dir="2700000" algn="ctr" rotWithShape="0">
              <a:schemeClr val="bg2"/>
            </a:outerShdw>
          </a:effectLst>
        </p:spPr>
        <p:txBody>
          <a:bodyPr wrap="square" anchor="ctr" anchorCtr="0">
            <a:noAutofit/>
          </a:bodyPr>
          <a:lstStyle/>
          <a:p>
            <a:pPr algn="ctr">
              <a:defRPr/>
            </a:pPr>
            <a:r>
              <a:rPr kumimoji="1" lang="zh-CN" altLang="en-US" sz="3200" b="1" baseline="0" dirty="0">
                <a:solidFill>
                  <a:schemeClr val="folHlink"/>
                </a:solidFill>
                <a:effectLst>
                  <a:outerShdw blurRad="38100" dist="38100" dir="2700000" algn="tl">
                    <a:srgbClr val="000000"/>
                  </a:outerShdw>
                </a:effectLst>
                <a:latin typeface="楷体_GB2312" pitchFamily="49" charset="-122"/>
                <a:ea typeface="楷体_GB2312" pitchFamily="49" charset="-122"/>
              </a:rPr>
              <a:t>数据</a:t>
            </a:r>
          </a:p>
        </p:txBody>
      </p:sp>
      <p:sp>
        <p:nvSpPr>
          <p:cNvPr id="8" name="Rectangle 227"/>
          <p:cNvSpPr>
            <a:spLocks noChangeArrowheads="1"/>
          </p:cNvSpPr>
          <p:nvPr/>
        </p:nvSpPr>
        <p:spPr bwMode="auto">
          <a:xfrm>
            <a:off x="5940152" y="2205688"/>
            <a:ext cx="1476000" cy="1044000"/>
          </a:xfrm>
          <a:prstGeom prst="rect">
            <a:avLst/>
          </a:prstGeom>
          <a:gradFill rotWithShape="1">
            <a:gsLst>
              <a:gs pos="0">
                <a:schemeClr val="bg1">
                  <a:gamma/>
                  <a:shade val="72549"/>
                  <a:invGamma/>
                  <a:alpha val="67999"/>
                </a:schemeClr>
              </a:gs>
              <a:gs pos="50000">
                <a:schemeClr val="bg1"/>
              </a:gs>
              <a:gs pos="100000">
                <a:schemeClr val="bg1">
                  <a:gamma/>
                  <a:shade val="72549"/>
                  <a:invGamma/>
                  <a:alpha val="67999"/>
                </a:schemeClr>
              </a:gs>
            </a:gsLst>
            <a:lin ang="18900000" scaled="1"/>
          </a:gradFill>
          <a:ln w="38100" cap="sq">
            <a:solidFill>
              <a:schemeClr val="hlink"/>
            </a:solidFill>
            <a:miter lim="800000"/>
            <a:headEnd type="none" w="sm" len="sm"/>
            <a:tailEnd type="none" w="sm" len="sm"/>
          </a:ln>
          <a:effectLst>
            <a:outerShdw dist="35921" dir="2700000" algn="ctr" rotWithShape="0">
              <a:schemeClr val="bg2"/>
            </a:outerShdw>
          </a:effectLst>
        </p:spPr>
        <p:txBody>
          <a:bodyPr wrap="square" anchor="ctr" anchorCtr="0">
            <a:noAutofit/>
          </a:bodyPr>
          <a:lstStyle/>
          <a:p>
            <a:pPr algn="ctr"/>
            <a:r>
              <a:rPr kumimoji="1" lang="zh-CN" altLang="en-US" sz="3200" b="1" baseline="0">
                <a:solidFill>
                  <a:schemeClr val="folHlink"/>
                </a:solidFill>
                <a:effectLst>
                  <a:outerShdw blurRad="38100" dist="38100" dir="2700000" algn="tl">
                    <a:srgbClr val="000000"/>
                  </a:outerShdw>
                </a:effectLst>
                <a:latin typeface="楷体_GB2312" pitchFamily="49" charset="-122"/>
                <a:ea typeface="楷体_GB2312" pitchFamily="49" charset="-122"/>
              </a:rPr>
              <a:t>信息</a:t>
            </a:r>
          </a:p>
        </p:txBody>
      </p:sp>
      <p:sp>
        <p:nvSpPr>
          <p:cNvPr id="9" name="Line 228"/>
          <p:cNvSpPr>
            <a:spLocks noChangeShapeType="1"/>
          </p:cNvSpPr>
          <p:nvPr/>
        </p:nvSpPr>
        <p:spPr bwMode="auto">
          <a:xfrm flipV="1">
            <a:off x="2336477" y="2946892"/>
            <a:ext cx="3531665" cy="0"/>
          </a:xfrm>
          <a:prstGeom prst="line">
            <a:avLst/>
          </a:prstGeom>
          <a:noFill/>
          <a:ln w="57150" cap="sq">
            <a:solidFill>
              <a:srgbClr val="FFC000"/>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 name="Line 229"/>
          <p:cNvSpPr>
            <a:spLocks noChangeShapeType="1"/>
          </p:cNvSpPr>
          <p:nvPr/>
        </p:nvSpPr>
        <p:spPr bwMode="auto">
          <a:xfrm>
            <a:off x="2336477" y="2578255"/>
            <a:ext cx="3531667" cy="0"/>
          </a:xfrm>
          <a:prstGeom prst="line">
            <a:avLst/>
          </a:prstGeom>
          <a:noFill/>
          <a:ln w="57150" cap="sq">
            <a:solidFill>
              <a:srgbClr val="FFC000"/>
            </a:solidFill>
            <a:round/>
            <a:headEnd type="triangle" w="med" len="med"/>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 name="Rectangle 230"/>
          <p:cNvSpPr>
            <a:spLocks noChangeArrowheads="1"/>
          </p:cNvSpPr>
          <p:nvPr/>
        </p:nvSpPr>
        <p:spPr bwMode="auto">
          <a:xfrm>
            <a:off x="3705434" y="2010798"/>
            <a:ext cx="793750" cy="457200"/>
          </a:xfrm>
          <a:prstGeom prst="rect">
            <a:avLst/>
          </a:prstGeom>
          <a:noFill/>
          <a:ln w="12700" cap="sq">
            <a:noFill/>
            <a:miter lim="800000"/>
            <a:headEnd type="none" w="sm" len="sm"/>
            <a:tailEnd type="none" w="sm" len="sm"/>
          </a:ln>
          <a:effectLst/>
        </p:spPr>
        <p:txBody>
          <a:bodyPr wrap="none">
            <a:spAutoFit/>
          </a:bodyPr>
          <a:lstStyle/>
          <a:p>
            <a:pPr>
              <a:defRPr/>
            </a:pPr>
            <a:r>
              <a:rPr kumimoji="1" lang="zh-CN" altLang="en-US" sz="2400" b="1" baseline="0" dirty="0">
                <a:solidFill>
                  <a:srgbClr val="CCFF99"/>
                </a:solidFill>
                <a:effectLst>
                  <a:outerShdw blurRad="38100" dist="38100" dir="2700000" algn="tl">
                    <a:srgbClr val="000000"/>
                  </a:outerShdw>
                </a:effectLst>
                <a:latin typeface="微软雅黑" pitchFamily="34" charset="-122"/>
                <a:ea typeface="微软雅黑" pitchFamily="34" charset="-122"/>
              </a:rPr>
              <a:t>内涵</a:t>
            </a:r>
          </a:p>
        </p:txBody>
      </p:sp>
      <p:sp>
        <p:nvSpPr>
          <p:cNvPr id="12" name="Rectangle 231"/>
          <p:cNvSpPr>
            <a:spLocks noChangeArrowheads="1"/>
          </p:cNvSpPr>
          <p:nvPr/>
        </p:nvSpPr>
        <p:spPr bwMode="auto">
          <a:xfrm>
            <a:off x="3705434" y="3055573"/>
            <a:ext cx="793750" cy="457200"/>
          </a:xfrm>
          <a:prstGeom prst="rect">
            <a:avLst/>
          </a:prstGeom>
          <a:noFill/>
          <a:ln w="12700" cap="sq">
            <a:noFill/>
            <a:miter lim="800000"/>
            <a:headEnd type="none" w="sm" len="sm"/>
            <a:tailEnd type="none" w="sm" len="sm"/>
          </a:ln>
          <a:effectLst/>
        </p:spPr>
        <p:txBody>
          <a:bodyPr wrap="none">
            <a:spAutoFit/>
          </a:bodyPr>
          <a:lstStyle/>
          <a:p>
            <a:pPr>
              <a:defRPr/>
            </a:pPr>
            <a:r>
              <a:rPr kumimoji="1" lang="zh-CN" altLang="en-US" sz="2400" b="1" baseline="0" dirty="0">
                <a:solidFill>
                  <a:srgbClr val="CCFF99"/>
                </a:solidFill>
                <a:effectLst>
                  <a:outerShdw blurRad="38100" dist="38100" dir="2700000" algn="tl">
                    <a:srgbClr val="000000"/>
                  </a:outerShdw>
                </a:effectLst>
                <a:latin typeface="微软雅黑" pitchFamily="34" charset="-122"/>
                <a:ea typeface="微软雅黑" pitchFamily="34" charset="-122"/>
              </a:rPr>
              <a:t>载体</a:t>
            </a:r>
          </a:p>
        </p:txBody>
      </p:sp>
      <p:sp>
        <p:nvSpPr>
          <p:cNvPr id="21" name="Rectangle 217"/>
          <p:cNvSpPr>
            <a:spLocks noGrp="1" noChangeArrowheads="1"/>
          </p:cNvSpPr>
          <p:nvPr>
            <p:ph idx="1"/>
          </p:nvPr>
        </p:nvSpPr>
        <p:spPr>
          <a:xfrm>
            <a:off x="251034" y="5733256"/>
            <a:ext cx="8496300" cy="720080"/>
          </a:xfrm>
        </p:spPr>
        <p:txBody>
          <a:bodyPr/>
          <a:lstStyle/>
          <a:p>
            <a:pPr eaLnBrk="1" hangingPunct="1">
              <a:spcAft>
                <a:spcPct val="50000"/>
              </a:spcAft>
              <a:defRPr/>
            </a:pPr>
            <a:r>
              <a:rPr lang="zh-CN" altLang="en-US" sz="3600" dirty="0" smtClean="0"/>
              <a:t> 本课程并不严格区别数据与信息的差别</a:t>
            </a:r>
          </a:p>
        </p:txBody>
      </p:sp>
      <p:sp>
        <p:nvSpPr>
          <p:cNvPr id="13" name="Rectangle 232"/>
          <p:cNvSpPr>
            <a:spLocks noChangeArrowheads="1"/>
          </p:cNvSpPr>
          <p:nvPr/>
        </p:nvSpPr>
        <p:spPr bwMode="auto">
          <a:xfrm>
            <a:off x="684212" y="4878160"/>
            <a:ext cx="7848227" cy="487363"/>
          </a:xfrm>
          <a:prstGeom prst="rect">
            <a:avLst/>
          </a:prstGeom>
          <a:solidFill>
            <a:schemeClr val="accent4">
              <a:lumMod val="10000"/>
            </a:schemeClr>
          </a:solidFill>
          <a:ln>
            <a:headEnd/>
            <a:tailEnd/>
          </a:ln>
        </p:spPr>
        <p:style>
          <a:lnRef idx="3">
            <a:schemeClr val="lt1"/>
          </a:lnRef>
          <a:fillRef idx="1">
            <a:schemeClr val="accent1"/>
          </a:fillRef>
          <a:effectRef idx="1">
            <a:schemeClr val="accent1"/>
          </a:effectRef>
          <a:fontRef idx="minor">
            <a:schemeClr val="lt1"/>
          </a:fontRef>
        </p:style>
        <p:txBody>
          <a:bodyPr lIns="0" tIns="0" rIns="0" bIns="0"/>
          <a:lstStyle/>
          <a:p>
            <a:pPr algn="ctr">
              <a:defRPr/>
            </a:pPr>
            <a:r>
              <a:rPr kumimoji="1" lang="zh-CN" altLang="en-US"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汤姆，男</a:t>
            </a:r>
            <a:r>
              <a:rPr kumimoji="1" lang="en-US" altLang="zh-CN"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  </a:t>
            </a:r>
            <a:r>
              <a:rPr kumimoji="1" lang="zh-CN" altLang="en-US"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1</a:t>
            </a:r>
            <a:r>
              <a:rPr kumimoji="1" lang="en-US" altLang="zh-CN"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.87</a:t>
            </a:r>
            <a:r>
              <a:rPr kumimoji="1" lang="zh-CN" altLang="en-US"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50</a:t>
            </a:r>
            <a:r>
              <a:rPr kumimoji="1" lang="zh-CN" altLang="en-US"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1986/5/12</a:t>
            </a:r>
            <a:r>
              <a:rPr kumimoji="1" lang="zh-CN" altLang="en-US" sz="2800" baseline="0" dirty="0" smtClean="0">
                <a:solidFill>
                  <a:srgbClr val="92D050"/>
                </a:solidFill>
                <a:effectLst>
                  <a:outerShdw blurRad="38100" dist="38100" dir="2700000" algn="tl">
                    <a:srgbClr val="000000"/>
                  </a:outerShdw>
                </a:effectLst>
                <a:latin typeface="微软雅黑" pitchFamily="34" charset="-122"/>
                <a:ea typeface="微软雅黑" pitchFamily="34" charset="-122"/>
              </a:rPr>
              <a:t>，职业</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运动员</a:t>
            </a:r>
          </a:p>
        </p:txBody>
      </p:sp>
      <p:sp>
        <p:nvSpPr>
          <p:cNvPr id="14" name="矩形 13"/>
          <p:cNvSpPr/>
          <p:nvPr/>
        </p:nvSpPr>
        <p:spPr>
          <a:xfrm>
            <a:off x="755576" y="4091935"/>
            <a:ext cx="874407" cy="492443"/>
          </a:xfrm>
          <a:prstGeom prst="rect">
            <a:avLst/>
          </a:prstGeom>
        </p:spPr>
        <p:txBody>
          <a:bodyPr wrap="none">
            <a:spAutoFit/>
          </a:bodyPr>
          <a:lstStyle/>
          <a:p>
            <a:r>
              <a:rPr kumimoji="1" lang="zh-CN" altLang="en-US" sz="2600" baseline="0" dirty="0" smtClean="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姓名</a:t>
            </a:r>
            <a:endParaRPr lang="zh-CN" altLang="en-US" sz="2600" dirty="0">
              <a:solidFill>
                <a:schemeClr val="accent1">
                  <a:lumMod val="60000"/>
                  <a:lumOff val="40000"/>
                </a:schemeClr>
              </a:solidFill>
            </a:endParaRPr>
          </a:p>
        </p:txBody>
      </p:sp>
      <p:sp>
        <p:nvSpPr>
          <p:cNvPr id="15" name="矩形 14"/>
          <p:cNvSpPr/>
          <p:nvPr/>
        </p:nvSpPr>
        <p:spPr>
          <a:xfrm>
            <a:off x="2424341" y="4091935"/>
            <a:ext cx="851515" cy="492443"/>
          </a:xfrm>
          <a:prstGeom prst="rect">
            <a:avLst/>
          </a:prstGeom>
        </p:spPr>
        <p:txBody>
          <a:bodyPr wrap="none">
            <a:spAutoFit/>
          </a:bodyPr>
          <a:lstStyle/>
          <a:p>
            <a:r>
              <a:rPr kumimoji="1" lang="zh-CN" altLang="en-US" sz="2600" baseline="0" dirty="0" smtClean="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身高</a:t>
            </a:r>
            <a:endParaRPr lang="zh-CN" altLang="en-US" sz="2600" dirty="0">
              <a:solidFill>
                <a:schemeClr val="accent1">
                  <a:lumMod val="60000"/>
                  <a:lumOff val="40000"/>
                </a:schemeClr>
              </a:solidFill>
            </a:endParaRPr>
          </a:p>
        </p:txBody>
      </p:sp>
      <p:sp>
        <p:nvSpPr>
          <p:cNvPr id="16" name="矩形 15"/>
          <p:cNvSpPr/>
          <p:nvPr/>
        </p:nvSpPr>
        <p:spPr>
          <a:xfrm>
            <a:off x="3432453" y="4086636"/>
            <a:ext cx="851515" cy="492443"/>
          </a:xfrm>
          <a:prstGeom prst="rect">
            <a:avLst/>
          </a:prstGeom>
        </p:spPr>
        <p:txBody>
          <a:bodyPr wrap="none">
            <a:spAutoFit/>
          </a:bodyPr>
          <a:lstStyle/>
          <a:p>
            <a:r>
              <a:rPr kumimoji="1" lang="zh-CN" altLang="en-US" sz="2600" baseline="0" dirty="0" smtClean="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体重</a:t>
            </a:r>
            <a:endParaRPr lang="zh-CN" altLang="en-US" sz="2600" dirty="0">
              <a:solidFill>
                <a:schemeClr val="accent1">
                  <a:lumMod val="60000"/>
                  <a:lumOff val="40000"/>
                </a:schemeClr>
              </a:solidFill>
            </a:endParaRPr>
          </a:p>
        </p:txBody>
      </p:sp>
      <p:sp>
        <p:nvSpPr>
          <p:cNvPr id="17" name="矩形 16"/>
          <p:cNvSpPr/>
          <p:nvPr/>
        </p:nvSpPr>
        <p:spPr>
          <a:xfrm>
            <a:off x="4543755" y="4091935"/>
            <a:ext cx="851515" cy="492443"/>
          </a:xfrm>
          <a:prstGeom prst="rect">
            <a:avLst/>
          </a:prstGeom>
        </p:spPr>
        <p:txBody>
          <a:bodyPr wrap="none">
            <a:spAutoFit/>
          </a:bodyPr>
          <a:lstStyle/>
          <a:p>
            <a:r>
              <a:rPr kumimoji="1" lang="zh-CN" altLang="en-US" sz="2600" baseline="0" dirty="0" smtClean="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生日</a:t>
            </a:r>
            <a:endParaRPr lang="zh-CN" altLang="en-US" sz="2600" dirty="0">
              <a:solidFill>
                <a:schemeClr val="accent1">
                  <a:lumMod val="60000"/>
                  <a:lumOff val="40000"/>
                </a:schemeClr>
              </a:solidFill>
            </a:endParaRPr>
          </a:p>
        </p:txBody>
      </p:sp>
      <p:sp>
        <p:nvSpPr>
          <p:cNvPr id="18" name="矩形 17"/>
          <p:cNvSpPr/>
          <p:nvPr/>
        </p:nvSpPr>
        <p:spPr>
          <a:xfrm>
            <a:off x="6888837" y="4091935"/>
            <a:ext cx="851515" cy="492443"/>
          </a:xfrm>
          <a:prstGeom prst="rect">
            <a:avLst/>
          </a:prstGeom>
        </p:spPr>
        <p:txBody>
          <a:bodyPr wrap="none">
            <a:spAutoFit/>
          </a:bodyPr>
          <a:lstStyle/>
          <a:p>
            <a:r>
              <a:rPr kumimoji="1" lang="zh-CN" altLang="en-US" sz="2600" baseline="0" dirty="0" smtClean="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职业</a:t>
            </a:r>
            <a:endParaRPr lang="zh-CN" altLang="en-US" sz="2600" dirty="0">
              <a:solidFill>
                <a:schemeClr val="accent1">
                  <a:lumMod val="60000"/>
                  <a:lumOff val="40000"/>
                </a:schemeClr>
              </a:solidFill>
            </a:endParaRPr>
          </a:p>
        </p:txBody>
      </p:sp>
      <p:cxnSp>
        <p:nvCxnSpPr>
          <p:cNvPr id="19" name="直接箭头连接符 18"/>
          <p:cNvCxnSpPr/>
          <p:nvPr/>
        </p:nvCxnSpPr>
        <p:spPr bwMode="auto">
          <a:xfrm flipH="1">
            <a:off x="1181332" y="4514019"/>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bwMode="auto">
          <a:xfrm flipH="1">
            <a:off x="2850098" y="4514019"/>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bwMode="auto">
          <a:xfrm flipH="1">
            <a:off x="3883859" y="4508720"/>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bwMode="auto">
          <a:xfrm flipH="1">
            <a:off x="4969512" y="4514019"/>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bwMode="auto">
          <a:xfrm flipH="1">
            <a:off x="7314593" y="4514019"/>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1619672" y="4069379"/>
            <a:ext cx="851515" cy="492443"/>
          </a:xfrm>
          <a:prstGeom prst="rect">
            <a:avLst/>
          </a:prstGeom>
        </p:spPr>
        <p:txBody>
          <a:bodyPr wrap="none">
            <a:spAutoFit/>
          </a:bodyPr>
          <a:lstStyle/>
          <a:p>
            <a:r>
              <a:rPr kumimoji="1" lang="zh-CN" altLang="en-US" sz="2600" baseline="0" dirty="0" smtClean="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性别</a:t>
            </a:r>
            <a:endParaRPr lang="zh-CN" altLang="en-US" sz="2600" dirty="0">
              <a:solidFill>
                <a:schemeClr val="accent1">
                  <a:lumMod val="60000"/>
                  <a:lumOff val="40000"/>
                </a:schemeClr>
              </a:solidFill>
            </a:endParaRPr>
          </a:p>
        </p:txBody>
      </p:sp>
      <p:cxnSp>
        <p:nvCxnSpPr>
          <p:cNvPr id="27" name="直接箭头连接符 26"/>
          <p:cNvCxnSpPr/>
          <p:nvPr/>
        </p:nvCxnSpPr>
        <p:spPr bwMode="auto">
          <a:xfrm flipH="1">
            <a:off x="2045429" y="4491463"/>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8792541"/>
      </p:ext>
    </p:extLst>
  </p:cSld>
  <p:clrMapOvr>
    <a:masterClrMapping/>
  </p:clrMapOvr>
  <mc:AlternateContent xmlns:mc="http://schemas.openxmlformats.org/markup-compatibility/2006" xmlns:p14="http://schemas.microsoft.com/office/powerpoint/2010/main">
    <mc:Choice Requires="p14">
      <p:transition spd="slow" p14:dur="1200">
        <p14:prism/>
        <p:sndAc>
          <p:stSnd>
            <p:snd r:embed="rId2" name="camera.wav"/>
          </p:stSnd>
        </p:sndAc>
      </p:transition>
    </mc:Choice>
    <mc:Fallback xmlns="">
      <p:transition spd="slow">
        <p:fade/>
        <p:sndAc>
          <p:stSnd>
            <p:snd r:embed="rId3" name="camera.wav"/>
          </p:stSnd>
        </p:sndAc>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683568" y="4200148"/>
            <a:ext cx="7992888" cy="2117576"/>
          </a:xfrm>
          <a:prstGeom prst="rect">
            <a:avLst/>
          </a:prstGeom>
          <a:solidFill>
            <a:schemeClr val="tx1"/>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175270" name="Text Box 166"/>
          <p:cNvSpPr txBox="1">
            <a:spLocks noChangeArrowheads="1"/>
          </p:cNvSpPr>
          <p:nvPr/>
        </p:nvSpPr>
        <p:spPr bwMode="auto">
          <a:xfrm>
            <a:off x="269979" y="75753"/>
            <a:ext cx="2501821" cy="760959"/>
          </a:xfrm>
          <a:prstGeom prst="rect">
            <a:avLst/>
          </a:prstGeom>
          <a:noFill/>
          <a:ln w="12700" cap="sq">
            <a:noFill/>
            <a:miter lim="800000"/>
            <a:headEnd/>
            <a:tailEnd/>
          </a:ln>
          <a:effectLst>
            <a:outerShdw dist="35921" dir="2700000" algn="ctr" rotWithShape="0">
              <a:schemeClr val="bg2"/>
            </a:outerShdw>
          </a:effectLst>
        </p:spPr>
        <p:txBody>
          <a:bodyPr wrap="none" lIns="72000" tIns="72000" rIns="72000" bIns="72000">
            <a:spAutoFit/>
          </a:bodyPr>
          <a:lstStyle>
            <a:defPPr>
              <a:defRPr lang="en-US"/>
            </a:defPPr>
            <a:lvl1pPr>
              <a:defRPr sz="4000" b="1" baseline="0">
                <a:solidFill>
                  <a:schemeClr val="folHlink"/>
                </a:solidFill>
                <a:effectLst>
                  <a:outerShdw blurRad="38100" dist="38100" dir="2700000" algn="tl">
                    <a:srgbClr val="000000"/>
                  </a:outerShdw>
                </a:effectLst>
                <a:latin typeface="微软雅黑" pitchFamily="34" charset="-122"/>
                <a:ea typeface="微软雅黑" pitchFamily="34" charset="-122"/>
              </a:defRPr>
            </a:lvl1pPr>
          </a:lstStyle>
          <a:p>
            <a:r>
              <a:rPr lang="zh-CN" altLang="en-US" dirty="0" smtClean="0"/>
              <a:t>  数据管理</a:t>
            </a:r>
            <a:endParaRPr lang="zh-CN" altLang="en-US" dirty="0"/>
          </a:p>
        </p:txBody>
      </p:sp>
      <p:sp>
        <p:nvSpPr>
          <p:cNvPr id="175321" name="Rectangle 217"/>
          <p:cNvSpPr>
            <a:spLocks noGrp="1" noChangeArrowheads="1"/>
          </p:cNvSpPr>
          <p:nvPr>
            <p:ph idx="1"/>
          </p:nvPr>
        </p:nvSpPr>
        <p:spPr>
          <a:xfrm>
            <a:off x="269979" y="989567"/>
            <a:ext cx="8496300" cy="4249738"/>
          </a:xfrm>
        </p:spPr>
        <p:txBody>
          <a:bodyPr/>
          <a:lstStyle/>
          <a:p>
            <a:pPr eaLnBrk="1" hangingPunct="1">
              <a:spcAft>
                <a:spcPct val="50000"/>
              </a:spcAft>
              <a:defRPr/>
            </a:pPr>
            <a:r>
              <a:rPr lang="zh-CN" altLang="en-US" sz="3600" b="1" dirty="0" smtClean="0">
                <a:solidFill>
                  <a:srgbClr val="FFC000"/>
                </a:solidFill>
              </a:rPr>
              <a:t>数据管理</a:t>
            </a:r>
            <a:r>
              <a:rPr lang="zh-CN" altLang="en-US" sz="3600" dirty="0" smtClean="0"/>
              <a:t> 是</a:t>
            </a:r>
            <a:r>
              <a:rPr lang="zh-CN" altLang="en-US" sz="3600" dirty="0"/>
              <a:t>对数据进行收集、分类、组织</a:t>
            </a:r>
            <a:r>
              <a:rPr lang="zh-CN" altLang="en-US" sz="3600" dirty="0" smtClean="0"/>
              <a:t>、编码、存储</a:t>
            </a:r>
            <a:r>
              <a:rPr lang="zh-CN" altLang="en-US" sz="3600" dirty="0"/>
              <a:t>、加工</a:t>
            </a:r>
            <a:r>
              <a:rPr lang="zh-CN" altLang="en-US" sz="3600" dirty="0" smtClean="0"/>
              <a:t>、维护、检索</a:t>
            </a:r>
            <a:r>
              <a:rPr lang="zh-CN" altLang="en-US" sz="3600" dirty="0"/>
              <a:t>和传输</a:t>
            </a:r>
            <a:r>
              <a:rPr lang="zh-CN" altLang="en-US" sz="3600" dirty="0" smtClean="0"/>
              <a:t>等操作的集合。</a:t>
            </a:r>
            <a:endParaRPr lang="en-US" altLang="zh-CN" sz="3600" dirty="0" smtClean="0"/>
          </a:p>
        </p:txBody>
      </p:sp>
      <p:pic>
        <p:nvPicPr>
          <p:cNvPr id="12" name="图片 3" descr="www_tuweimei_comComp_23004736_pGVXJAWWbR7oGDqli5tneEWCC1AtVKaA.jpg"/>
          <p:cNvPicPr>
            <a:picLocks noGrp="1" noChangeAspect="1"/>
          </p:cNvPicPr>
          <p:nvPr isPhoto="1"/>
        </p:nvPicPr>
        <p:blipFill rotWithShape="1">
          <a:blip r:embed="rId3">
            <a:extLst>
              <a:ext uri="{28A0092B-C50C-407E-A947-70E740481C1C}">
                <a14:useLocalDpi xmlns:a14="http://schemas.microsoft.com/office/drawing/2010/main" val="0"/>
              </a:ext>
            </a:extLst>
          </a:blip>
          <a:srcRect t="13610" b="10758"/>
          <a:stretch/>
        </p:blipFill>
        <p:spPr bwMode="auto">
          <a:xfrm>
            <a:off x="1023357" y="4521716"/>
            <a:ext cx="2337420" cy="176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 descr="图片6.jpg"/>
          <p:cNvPicPr>
            <a:picLocks noGrp="1" noChangeAspect="1"/>
          </p:cNvPicPr>
          <p:nvPr isPhoto="1"/>
        </p:nvPicPr>
        <p:blipFill rotWithShape="1">
          <a:blip r:embed="rId4">
            <a:extLst>
              <a:ext uri="{28A0092B-C50C-407E-A947-70E740481C1C}">
                <a14:useLocalDpi xmlns:a14="http://schemas.microsoft.com/office/drawing/2010/main" val="0"/>
              </a:ext>
            </a:extLst>
          </a:blip>
          <a:srcRect t="4629" b="5394"/>
          <a:stretch/>
        </p:blipFill>
        <p:spPr bwMode="auto">
          <a:xfrm>
            <a:off x="5321384" y="4336524"/>
            <a:ext cx="2512632"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1501320"/>
      </p:ext>
    </p:extLst>
  </p:cSld>
  <p:clrMapOvr>
    <a:masterClrMapping/>
  </p:clrMapOvr>
  <mc:AlternateContent xmlns:mc="http://schemas.openxmlformats.org/markup-compatibility/2006" xmlns:p14="http://schemas.microsoft.com/office/powerpoint/2010/main">
    <mc:Choice Requires="p14">
      <p:transition spd="slow" p14:dur="1600">
        <p14:prism isInverted="1"/>
        <p:sndAc>
          <p:stSnd>
            <p:snd r:embed="rId2" name="camera.wav"/>
          </p:stSnd>
        </p:sndAc>
      </p:transition>
    </mc:Choice>
    <mc:Fallback xmlns="">
      <p:transition spd="slow">
        <p:fade/>
        <p:sndAc>
          <p:stSnd>
            <p:snd r:embed="rId5" name="camera.wav"/>
          </p:stSnd>
        </p:sndAc>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Rectangle 2"/>
          <p:cNvSpPr>
            <a:spLocks noGrp="1" noChangeArrowheads="1"/>
          </p:cNvSpPr>
          <p:nvPr>
            <p:ph type="title"/>
          </p:nvPr>
        </p:nvSpPr>
        <p:spPr>
          <a:xfrm>
            <a:off x="166688" y="950258"/>
            <a:ext cx="4261296" cy="646331"/>
          </a:xfrm>
        </p:spPr>
        <p:txBody>
          <a:bodyPr/>
          <a:lstStyle/>
          <a:p>
            <a:pPr eaLnBrk="1" hangingPunct="1">
              <a:buFont typeface="Wingdings" pitchFamily="2" charset="2"/>
              <a:buChar char="¯"/>
              <a:defRPr/>
            </a:pPr>
            <a:r>
              <a:rPr lang="zh-CN" altLang="en-US" dirty="0" smtClean="0"/>
              <a:t> 人工管理阶段</a:t>
            </a:r>
            <a:endParaRPr lang="en-US" altLang="zh-CN" dirty="0" smtClean="0"/>
          </a:p>
        </p:txBody>
      </p:sp>
      <p:sp>
        <p:nvSpPr>
          <p:cNvPr id="652291" name="Rectangle 3"/>
          <p:cNvSpPr>
            <a:spLocks noGrp="1" noChangeArrowheads="1"/>
          </p:cNvSpPr>
          <p:nvPr>
            <p:ph idx="1"/>
          </p:nvPr>
        </p:nvSpPr>
        <p:spPr>
          <a:xfrm>
            <a:off x="4642742" y="1556792"/>
            <a:ext cx="4249738" cy="1008063"/>
          </a:xfrm>
        </p:spPr>
        <p:txBody>
          <a:bodyPr/>
          <a:lstStyle/>
          <a:p>
            <a:pPr eaLnBrk="1" hangingPunct="1">
              <a:spcAft>
                <a:spcPct val="15000"/>
              </a:spcAft>
              <a:defRPr/>
            </a:pPr>
            <a:r>
              <a:rPr lang="zh-CN" altLang="en-US" sz="2800" dirty="0" smtClean="0"/>
              <a:t>特点</a:t>
            </a:r>
          </a:p>
          <a:p>
            <a:pPr eaLnBrk="1" hangingPunct="1">
              <a:spcAft>
                <a:spcPct val="15000"/>
              </a:spcAft>
              <a:buFont typeface="Wingdings" pitchFamily="2" charset="2"/>
              <a:buNone/>
              <a:defRPr/>
            </a:pPr>
            <a:r>
              <a:rPr lang="zh-CN" altLang="en-US" sz="2800" dirty="0" smtClean="0"/>
              <a:t>	</a:t>
            </a:r>
            <a:r>
              <a:rPr lang="zh-CN" altLang="en-US" sz="2400" dirty="0" smtClean="0"/>
              <a:t>数据和程序是一个整体</a:t>
            </a:r>
          </a:p>
          <a:p>
            <a:pPr lvl="1" eaLnBrk="1" hangingPunct="1">
              <a:spcAft>
                <a:spcPct val="15000"/>
              </a:spcAft>
              <a:defRPr/>
            </a:pPr>
            <a:r>
              <a:rPr lang="zh-CN" altLang="en-US" sz="2400" dirty="0" smtClean="0"/>
              <a:t>数据不存储</a:t>
            </a:r>
          </a:p>
          <a:p>
            <a:pPr lvl="1" eaLnBrk="1" hangingPunct="1">
              <a:spcAft>
                <a:spcPct val="15000"/>
              </a:spcAft>
              <a:defRPr/>
            </a:pPr>
            <a:r>
              <a:rPr lang="zh-CN" altLang="en-US" sz="2400" dirty="0" smtClean="0"/>
              <a:t>程序员设计和管理数据</a:t>
            </a:r>
          </a:p>
          <a:p>
            <a:pPr lvl="1" eaLnBrk="1" hangingPunct="1">
              <a:spcAft>
                <a:spcPct val="15000"/>
              </a:spcAft>
              <a:defRPr/>
            </a:pPr>
            <a:r>
              <a:rPr lang="zh-CN" altLang="en-US" sz="2400" dirty="0" smtClean="0"/>
              <a:t>数据不共享</a:t>
            </a:r>
          </a:p>
          <a:p>
            <a:pPr lvl="1" eaLnBrk="1" hangingPunct="1">
              <a:spcAft>
                <a:spcPct val="15000"/>
              </a:spcAft>
              <a:defRPr/>
            </a:pPr>
            <a:r>
              <a:rPr lang="zh-CN" altLang="en-US" sz="2400" dirty="0" smtClean="0"/>
              <a:t>数据无独立性</a:t>
            </a:r>
          </a:p>
        </p:txBody>
      </p:sp>
      <p:sp>
        <p:nvSpPr>
          <p:cNvPr id="652292" name="Rectangle 4"/>
          <p:cNvSpPr>
            <a:spLocks noChangeArrowheads="1"/>
          </p:cNvSpPr>
          <p:nvPr/>
        </p:nvSpPr>
        <p:spPr bwMode="auto">
          <a:xfrm>
            <a:off x="4748213" y="4535065"/>
            <a:ext cx="1422400" cy="339725"/>
          </a:xfrm>
          <a:prstGeom prst="rect">
            <a:avLst/>
          </a:prstGeom>
          <a:solidFill>
            <a:srgbClr val="66FFCC"/>
          </a:solidFill>
          <a:ln w="9525">
            <a:solidFill>
              <a:schemeClr val="tx1"/>
            </a:solidFill>
            <a:miter lim="800000"/>
            <a:headEnd/>
            <a:tailEnd/>
          </a:ln>
          <a:effectLst>
            <a:outerShdw dist="35921" dir="2700000" algn="ctr" rotWithShape="0">
              <a:schemeClr val="bg2"/>
            </a:outerShdw>
          </a:effectLst>
        </p:spPr>
        <p:txBody>
          <a:bodyPr lIns="0" tIns="0" rIns="0" bIns="0"/>
          <a:lstStyle/>
          <a:p>
            <a:pPr algn="ctr" eaLnBrk="0" hangingPunct="0">
              <a:defRPr/>
            </a:pPr>
            <a:r>
              <a:rPr lang="zh-CN" altLang="en-US" sz="2000" b="1" baseline="0">
                <a:solidFill>
                  <a:schemeClr val="bg1"/>
                </a:solidFill>
                <a:latin typeface="楷体_GB2312" pitchFamily="49" charset="-122"/>
                <a:ea typeface="楷体_GB2312" pitchFamily="49" charset="-122"/>
              </a:rPr>
              <a:t>应用程序1</a:t>
            </a:r>
          </a:p>
        </p:txBody>
      </p:sp>
      <p:sp>
        <p:nvSpPr>
          <p:cNvPr id="652293" name="Rectangle 5"/>
          <p:cNvSpPr>
            <a:spLocks noChangeArrowheads="1"/>
          </p:cNvSpPr>
          <p:nvPr/>
        </p:nvSpPr>
        <p:spPr bwMode="auto">
          <a:xfrm>
            <a:off x="4748213" y="5101803"/>
            <a:ext cx="1422400" cy="338137"/>
          </a:xfrm>
          <a:prstGeom prst="rect">
            <a:avLst/>
          </a:prstGeom>
          <a:solidFill>
            <a:srgbClr val="66FFCC"/>
          </a:solidFill>
          <a:ln w="9525">
            <a:solidFill>
              <a:schemeClr val="tx1"/>
            </a:solidFill>
            <a:miter lim="800000"/>
            <a:headEnd/>
            <a:tailEnd/>
          </a:ln>
          <a:effectLst>
            <a:outerShdw dist="35921" dir="2700000" algn="ctr" rotWithShape="0">
              <a:schemeClr val="bg2"/>
            </a:outerShdw>
          </a:effectLst>
        </p:spPr>
        <p:txBody>
          <a:bodyPr lIns="0" tIns="0" rIns="0" bIns="0"/>
          <a:lstStyle/>
          <a:p>
            <a:pPr algn="ctr" eaLnBrk="0" hangingPunct="0">
              <a:defRPr/>
            </a:pPr>
            <a:r>
              <a:rPr lang="zh-CN" altLang="en-US" sz="2000" b="1" baseline="0">
                <a:solidFill>
                  <a:schemeClr val="bg1"/>
                </a:solidFill>
                <a:latin typeface="楷体_GB2312" pitchFamily="49" charset="-122"/>
                <a:ea typeface="楷体_GB2312" pitchFamily="49" charset="-122"/>
              </a:rPr>
              <a:t>应用程序2</a:t>
            </a:r>
          </a:p>
        </p:txBody>
      </p:sp>
      <p:sp>
        <p:nvSpPr>
          <p:cNvPr id="652294" name="Rectangle 6"/>
          <p:cNvSpPr>
            <a:spLocks noChangeArrowheads="1"/>
          </p:cNvSpPr>
          <p:nvPr/>
        </p:nvSpPr>
        <p:spPr bwMode="auto">
          <a:xfrm>
            <a:off x="4748213" y="6020965"/>
            <a:ext cx="1422400" cy="339725"/>
          </a:xfrm>
          <a:prstGeom prst="rect">
            <a:avLst/>
          </a:prstGeom>
          <a:solidFill>
            <a:srgbClr val="66FFCC"/>
          </a:solidFill>
          <a:ln w="9525">
            <a:solidFill>
              <a:schemeClr val="tx1"/>
            </a:solidFill>
            <a:miter lim="800000"/>
            <a:headEnd/>
            <a:tailEnd/>
          </a:ln>
          <a:effectLst>
            <a:outerShdw dist="35921" dir="2700000" algn="ctr" rotWithShape="0">
              <a:schemeClr val="bg2"/>
            </a:outerShdw>
          </a:effectLst>
        </p:spPr>
        <p:txBody>
          <a:bodyPr lIns="0" tIns="0" rIns="0" bIns="0"/>
          <a:lstStyle/>
          <a:p>
            <a:pPr algn="ctr" eaLnBrk="0" hangingPunct="0">
              <a:defRPr/>
            </a:pPr>
            <a:r>
              <a:rPr lang="zh-CN" altLang="en-US" sz="2000" b="1" baseline="0">
                <a:solidFill>
                  <a:schemeClr val="bg1"/>
                </a:solidFill>
                <a:latin typeface="楷体_GB2312" pitchFamily="49" charset="-122"/>
                <a:ea typeface="楷体_GB2312" pitchFamily="49" charset="-122"/>
              </a:rPr>
              <a:t>应用程序</a:t>
            </a:r>
            <a:r>
              <a:rPr lang="en-US" altLang="zh-CN" sz="2000" b="1" baseline="0">
                <a:solidFill>
                  <a:schemeClr val="bg1"/>
                </a:solidFill>
                <a:latin typeface="楷体_GB2312" pitchFamily="49" charset="-122"/>
                <a:ea typeface="楷体_GB2312" pitchFamily="49" charset="-122"/>
              </a:rPr>
              <a:t>n</a:t>
            </a:r>
          </a:p>
        </p:txBody>
      </p:sp>
      <p:cxnSp>
        <p:nvCxnSpPr>
          <p:cNvPr id="652295" name="AutoShape 7"/>
          <p:cNvCxnSpPr>
            <a:cxnSpLocks noChangeShapeType="1"/>
            <a:stCxn id="652292" idx="3"/>
            <a:endCxn id="652303" idx="1"/>
          </p:cNvCxnSpPr>
          <p:nvPr/>
        </p:nvCxnSpPr>
        <p:spPr bwMode="auto">
          <a:xfrm>
            <a:off x="6170613" y="4704928"/>
            <a:ext cx="508000" cy="0"/>
          </a:xfrm>
          <a:prstGeom prst="straightConnector1">
            <a:avLst/>
          </a:prstGeom>
          <a:noFill/>
          <a:ln w="28575" cap="sq">
            <a:solidFill>
              <a:schemeClr val="tx1"/>
            </a:solidFill>
            <a:round/>
            <a:headEnd type="none" w="sm" len="sm"/>
            <a:tailEnd type="none" w="sm" len="sm"/>
          </a:ln>
          <a:effectLst>
            <a:outerShdw dist="35921" dir="2700000" algn="ctr" rotWithShape="0">
              <a:schemeClr val="bg2"/>
            </a:outerShdw>
          </a:effectLst>
        </p:spPr>
      </p:cxnSp>
      <p:cxnSp>
        <p:nvCxnSpPr>
          <p:cNvPr id="652296" name="AutoShape 8"/>
          <p:cNvCxnSpPr>
            <a:cxnSpLocks noChangeShapeType="1"/>
            <a:stCxn id="652293" idx="3"/>
            <a:endCxn id="652304" idx="1"/>
          </p:cNvCxnSpPr>
          <p:nvPr/>
        </p:nvCxnSpPr>
        <p:spPr bwMode="auto">
          <a:xfrm>
            <a:off x="6170613" y="5271665"/>
            <a:ext cx="508000" cy="0"/>
          </a:xfrm>
          <a:prstGeom prst="straightConnector1">
            <a:avLst/>
          </a:prstGeom>
          <a:noFill/>
          <a:ln w="28575" cap="sq">
            <a:solidFill>
              <a:schemeClr val="tx1"/>
            </a:solidFill>
            <a:round/>
            <a:headEnd type="none" w="sm" len="sm"/>
            <a:tailEnd type="none" w="sm" len="sm"/>
          </a:ln>
          <a:effectLst>
            <a:outerShdw dist="35921" dir="2700000" algn="ctr" rotWithShape="0">
              <a:schemeClr val="bg2"/>
            </a:outerShdw>
          </a:effectLst>
        </p:spPr>
      </p:cxnSp>
      <p:cxnSp>
        <p:nvCxnSpPr>
          <p:cNvPr id="652297" name="AutoShape 9"/>
          <p:cNvCxnSpPr>
            <a:cxnSpLocks noChangeShapeType="1"/>
            <a:stCxn id="652294" idx="3"/>
            <a:endCxn id="652305" idx="1"/>
          </p:cNvCxnSpPr>
          <p:nvPr/>
        </p:nvCxnSpPr>
        <p:spPr bwMode="auto">
          <a:xfrm>
            <a:off x="6170613" y="6190828"/>
            <a:ext cx="508000" cy="0"/>
          </a:xfrm>
          <a:prstGeom prst="straightConnector1">
            <a:avLst/>
          </a:prstGeom>
          <a:noFill/>
          <a:ln w="28575" cap="sq">
            <a:solidFill>
              <a:schemeClr val="tx1"/>
            </a:solidFill>
            <a:round/>
            <a:headEnd type="none" w="sm" len="sm"/>
            <a:tailEnd type="none" w="sm" len="sm"/>
          </a:ln>
          <a:effectLst>
            <a:outerShdw dist="35921" dir="2700000" algn="ctr" rotWithShape="0">
              <a:schemeClr val="bg2"/>
            </a:outerShdw>
          </a:effectLst>
        </p:spPr>
      </p:cxnSp>
      <p:sp>
        <p:nvSpPr>
          <p:cNvPr id="652298" name="Text Box 10"/>
          <p:cNvSpPr txBox="1">
            <a:spLocks noChangeArrowheads="1"/>
          </p:cNvSpPr>
          <p:nvPr/>
        </p:nvSpPr>
        <p:spPr bwMode="auto">
          <a:xfrm>
            <a:off x="5230813" y="5525665"/>
            <a:ext cx="609600" cy="457200"/>
          </a:xfrm>
          <a:prstGeom prst="rect">
            <a:avLst/>
          </a:prstGeom>
          <a:noFill/>
          <a:ln w="12700" cap="sq">
            <a:noFill/>
            <a:miter lim="800000"/>
            <a:headEnd type="none" w="sm" len="sm"/>
            <a:tailEnd type="none" w="sm" len="sm"/>
          </a:ln>
          <a:effectLst>
            <a:outerShdw dist="35921" dir="2700000" algn="ctr" rotWithShape="0">
              <a:schemeClr val="bg2"/>
            </a:outerShdw>
          </a:effectLst>
        </p:spPr>
        <p:txBody>
          <a:bodyPr>
            <a:spAutoFit/>
          </a:bodyPr>
          <a:lstStyle/>
          <a:p>
            <a:pPr>
              <a:spcBef>
                <a:spcPct val="50000"/>
              </a:spcBef>
              <a:defRPr/>
            </a:pPr>
            <a:r>
              <a:rPr kumimoji="1" lang="zh-CN" altLang="en-US" sz="2400" b="1" baseline="0">
                <a:solidFill>
                  <a:srgbClr val="CCFF99"/>
                </a:solidFill>
                <a:latin typeface="Times New Roman" pitchFamily="18" charset="0"/>
              </a:rPr>
              <a:t>┊</a:t>
            </a:r>
          </a:p>
        </p:txBody>
      </p:sp>
      <p:sp>
        <p:nvSpPr>
          <p:cNvPr id="652299" name="Text Box 11"/>
          <p:cNvSpPr txBox="1">
            <a:spLocks noChangeArrowheads="1"/>
          </p:cNvSpPr>
          <p:nvPr/>
        </p:nvSpPr>
        <p:spPr bwMode="auto">
          <a:xfrm>
            <a:off x="7135813" y="5525665"/>
            <a:ext cx="609600" cy="457200"/>
          </a:xfrm>
          <a:prstGeom prst="rect">
            <a:avLst/>
          </a:prstGeom>
          <a:noFill/>
          <a:ln w="12700" cap="sq">
            <a:noFill/>
            <a:miter lim="800000"/>
            <a:headEnd type="none" w="sm" len="sm"/>
            <a:tailEnd type="none" w="sm" len="sm"/>
          </a:ln>
          <a:effectLst>
            <a:outerShdw dist="35921" dir="2700000" algn="ctr" rotWithShape="0">
              <a:schemeClr val="bg2"/>
            </a:outerShdw>
          </a:effectLst>
        </p:spPr>
        <p:txBody>
          <a:bodyPr>
            <a:spAutoFit/>
          </a:bodyPr>
          <a:lstStyle/>
          <a:p>
            <a:pPr>
              <a:spcBef>
                <a:spcPct val="50000"/>
              </a:spcBef>
              <a:defRPr/>
            </a:pPr>
            <a:r>
              <a:rPr kumimoji="1" lang="zh-CN" altLang="en-US" sz="2400" b="1" baseline="0">
                <a:solidFill>
                  <a:srgbClr val="CCFF99"/>
                </a:solidFill>
                <a:latin typeface="Times New Roman" pitchFamily="18" charset="0"/>
              </a:rPr>
              <a:t>┊</a:t>
            </a:r>
          </a:p>
        </p:txBody>
      </p:sp>
      <p:cxnSp>
        <p:nvCxnSpPr>
          <p:cNvPr id="652300" name="AutoShape 12"/>
          <p:cNvCxnSpPr>
            <a:cxnSpLocks noChangeShapeType="1"/>
            <a:stCxn id="652307" idx="2"/>
            <a:endCxn id="652306" idx="0"/>
          </p:cNvCxnSpPr>
          <p:nvPr/>
        </p:nvCxnSpPr>
        <p:spPr bwMode="auto">
          <a:xfrm>
            <a:off x="1847850" y="4962103"/>
            <a:ext cx="0" cy="292100"/>
          </a:xfrm>
          <a:prstGeom prst="straightConnector1">
            <a:avLst/>
          </a:prstGeom>
          <a:noFill/>
          <a:ln w="28575" cap="sq">
            <a:solidFill>
              <a:schemeClr val="tx1"/>
            </a:solidFill>
            <a:round/>
            <a:headEnd type="none" w="sm" len="sm"/>
            <a:tailEnd type="triangle" w="sm" len="sm"/>
          </a:ln>
          <a:effectLst>
            <a:outerShdw dist="17961" dir="2700000" algn="ctr" rotWithShape="0">
              <a:schemeClr val="bg2"/>
            </a:outerShdw>
          </a:effectLst>
        </p:spPr>
      </p:cxnSp>
      <p:cxnSp>
        <p:nvCxnSpPr>
          <p:cNvPr id="652301" name="AutoShape 13"/>
          <p:cNvCxnSpPr>
            <a:cxnSpLocks noChangeShapeType="1"/>
            <a:stCxn id="652306" idx="2"/>
            <a:endCxn id="652308" idx="0"/>
          </p:cNvCxnSpPr>
          <p:nvPr/>
        </p:nvCxnSpPr>
        <p:spPr bwMode="auto">
          <a:xfrm>
            <a:off x="1847850" y="5733628"/>
            <a:ext cx="0" cy="279400"/>
          </a:xfrm>
          <a:prstGeom prst="straightConnector1">
            <a:avLst/>
          </a:prstGeom>
          <a:noFill/>
          <a:ln w="28575" cap="sq">
            <a:solidFill>
              <a:schemeClr val="tx1"/>
            </a:solidFill>
            <a:round/>
            <a:headEnd type="none" w="sm" len="sm"/>
            <a:tailEnd type="triangle" w="sm" len="sm"/>
          </a:ln>
          <a:effectLst>
            <a:outerShdw dist="17961" dir="2700000" algn="ctr" rotWithShape="0">
              <a:schemeClr val="bg2"/>
            </a:outerShdw>
          </a:effectLst>
        </p:spPr>
      </p:cxnSp>
      <p:sp>
        <p:nvSpPr>
          <p:cNvPr id="652302" name="Rectangle 14"/>
          <p:cNvSpPr>
            <a:spLocks noChangeArrowheads="1"/>
          </p:cNvSpPr>
          <p:nvPr/>
        </p:nvSpPr>
        <p:spPr bwMode="auto">
          <a:xfrm>
            <a:off x="361950" y="1628800"/>
            <a:ext cx="4249738" cy="1008063"/>
          </a:xfrm>
          <a:prstGeom prst="rect">
            <a:avLst/>
          </a:prstGeom>
          <a:noFill/>
          <a:ln w="9525">
            <a:noFill/>
            <a:miter lim="800000"/>
            <a:headEnd/>
            <a:tailEnd/>
          </a:ln>
          <a:effectLst/>
        </p:spPr>
        <p:txBody>
          <a:bodyPr/>
          <a:lstStyle/>
          <a:p>
            <a:pPr marL="271463" indent="-271463">
              <a:spcAft>
                <a:spcPct val="15000"/>
              </a:spcAft>
              <a:buClr>
                <a:srgbClr val="66FF33"/>
              </a:buClr>
              <a:buSzPct val="85000"/>
              <a:buFont typeface="Wingdings" pitchFamily="2" charset="2"/>
              <a:buBlip>
                <a:blip r:embed="rId3"/>
              </a:buBlip>
              <a:defRPr/>
            </a:pPr>
            <a:r>
              <a:rPr lang="zh-CN" altLang="en-US" sz="2800" baseline="0" dirty="0">
                <a:solidFill>
                  <a:srgbClr val="CCFFCC"/>
                </a:solidFill>
                <a:effectLst>
                  <a:outerShdw blurRad="38100" dist="38100" dir="2700000" algn="tl">
                    <a:srgbClr val="000000"/>
                  </a:outerShdw>
                </a:effectLst>
                <a:latin typeface="微软雅黑" pitchFamily="34" charset="-122"/>
                <a:ea typeface="微软雅黑" pitchFamily="34" charset="-122"/>
              </a:rPr>
              <a:t>背景</a:t>
            </a:r>
            <a:endPar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endParaRPr>
          </a:p>
          <a:p>
            <a:pPr marL="630238" lvl="1" indent="-179388">
              <a:spcAft>
                <a:spcPct val="15000"/>
              </a:spcAft>
              <a:buClr>
                <a:schemeClr val="accent2"/>
              </a:buClr>
              <a:buSzPct val="50000"/>
              <a:buFont typeface="Wingdings" pitchFamily="2" charset="2"/>
              <a:buChar char="n"/>
              <a:defRPr/>
            </a:pPr>
            <a:r>
              <a:rPr lang="en-US" altLang="zh-CN"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20</a:t>
            </a: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世纪</a:t>
            </a:r>
            <a:r>
              <a:rPr lang="en-US" altLang="zh-CN"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50</a:t>
            </a:r>
            <a:r>
              <a:rPr lang="zh-CN" altLang="en-US" sz="2400" baseline="0" dirty="0" smtClean="0">
                <a:solidFill>
                  <a:srgbClr val="CCFFCC"/>
                </a:solidFill>
                <a:effectLst>
                  <a:outerShdw blurRad="38100" dist="38100" dir="2700000" algn="tl">
                    <a:srgbClr val="000000"/>
                  </a:outerShdw>
                </a:effectLst>
                <a:latin typeface="微软雅黑" pitchFamily="34" charset="-122"/>
                <a:ea typeface="微软雅黑" pitchFamily="34" charset="-122"/>
              </a:rPr>
              <a:t>年代中期以前</a:t>
            </a:r>
            <a:endPar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endParaRPr>
          </a:p>
          <a:p>
            <a:pPr marL="630238" lvl="1" indent="-179388">
              <a:spcAft>
                <a:spcPct val="15000"/>
              </a:spcAft>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计算机用于科学计算</a:t>
            </a:r>
          </a:p>
          <a:p>
            <a:pPr marL="630238" lvl="1" indent="-179388">
              <a:spcAft>
                <a:spcPct val="15000"/>
              </a:spcAft>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无磁盘等直接存取设备</a:t>
            </a:r>
          </a:p>
          <a:p>
            <a:pPr marL="630238" lvl="1" indent="-179388">
              <a:spcAft>
                <a:spcPct val="15000"/>
              </a:spcAft>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无操作系统</a:t>
            </a:r>
          </a:p>
          <a:p>
            <a:pPr marL="630238" lvl="1" indent="-179388">
              <a:spcAft>
                <a:spcPct val="15000"/>
              </a:spcAft>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编程语言一般为汇编</a:t>
            </a:r>
          </a:p>
        </p:txBody>
      </p:sp>
      <p:sp>
        <p:nvSpPr>
          <p:cNvPr id="652303" name="Rectangle 15"/>
          <p:cNvSpPr>
            <a:spLocks noChangeArrowheads="1"/>
          </p:cNvSpPr>
          <p:nvPr/>
        </p:nvSpPr>
        <p:spPr bwMode="auto">
          <a:xfrm>
            <a:off x="6678613" y="4535065"/>
            <a:ext cx="1422400" cy="339725"/>
          </a:xfrm>
          <a:prstGeom prst="rect">
            <a:avLst/>
          </a:prstGeom>
          <a:solidFill>
            <a:schemeClr val="hlink"/>
          </a:solidFill>
          <a:ln w="9525">
            <a:solidFill>
              <a:schemeClr val="tx1"/>
            </a:solidFill>
            <a:miter lim="800000"/>
            <a:headEnd/>
            <a:tailEnd/>
          </a:ln>
          <a:effectLst>
            <a:outerShdw dist="35921" dir="2700000" algn="ctr" rotWithShape="0">
              <a:schemeClr val="bg2"/>
            </a:outerShdw>
          </a:effectLst>
        </p:spPr>
        <p:txBody>
          <a:bodyPr lIns="0" tIns="0" rIns="0" bIns="0"/>
          <a:lstStyle/>
          <a:p>
            <a:pPr algn="ctr" eaLnBrk="0" hangingPunct="0">
              <a:defRPr/>
            </a:pPr>
            <a:r>
              <a:rPr lang="zh-CN" altLang="en-US" sz="2000" b="1" baseline="0">
                <a:solidFill>
                  <a:schemeClr val="bg1"/>
                </a:solidFill>
                <a:latin typeface="楷体_GB2312" pitchFamily="49" charset="-122"/>
                <a:ea typeface="楷体_GB2312" pitchFamily="49" charset="-122"/>
              </a:rPr>
              <a:t>数据集1</a:t>
            </a:r>
          </a:p>
        </p:txBody>
      </p:sp>
      <p:sp>
        <p:nvSpPr>
          <p:cNvPr id="652304" name="Rectangle 16"/>
          <p:cNvSpPr>
            <a:spLocks noChangeArrowheads="1"/>
          </p:cNvSpPr>
          <p:nvPr/>
        </p:nvSpPr>
        <p:spPr bwMode="auto">
          <a:xfrm>
            <a:off x="6678613" y="5101803"/>
            <a:ext cx="1422400" cy="338137"/>
          </a:xfrm>
          <a:prstGeom prst="rect">
            <a:avLst/>
          </a:prstGeom>
          <a:solidFill>
            <a:schemeClr val="hlink"/>
          </a:solidFill>
          <a:ln w="9525">
            <a:solidFill>
              <a:schemeClr val="tx1"/>
            </a:solidFill>
            <a:miter lim="800000"/>
            <a:headEnd/>
            <a:tailEnd/>
          </a:ln>
          <a:effectLst>
            <a:outerShdw dist="35921" dir="2700000" algn="ctr" rotWithShape="0">
              <a:schemeClr val="bg2"/>
            </a:outerShdw>
          </a:effectLst>
        </p:spPr>
        <p:txBody>
          <a:bodyPr lIns="0" tIns="0" rIns="0" bIns="0"/>
          <a:lstStyle/>
          <a:p>
            <a:pPr algn="ctr" eaLnBrk="0" hangingPunct="0">
              <a:defRPr/>
            </a:pPr>
            <a:r>
              <a:rPr lang="zh-CN" altLang="en-US" sz="2000" b="1" baseline="0">
                <a:solidFill>
                  <a:schemeClr val="bg1"/>
                </a:solidFill>
                <a:latin typeface="楷体_GB2312" pitchFamily="49" charset="-122"/>
                <a:ea typeface="楷体_GB2312" pitchFamily="49" charset="-122"/>
              </a:rPr>
              <a:t>数据集2</a:t>
            </a:r>
          </a:p>
        </p:txBody>
      </p:sp>
      <p:sp>
        <p:nvSpPr>
          <p:cNvPr id="652305" name="Rectangle 17"/>
          <p:cNvSpPr>
            <a:spLocks noChangeArrowheads="1"/>
          </p:cNvSpPr>
          <p:nvPr/>
        </p:nvSpPr>
        <p:spPr bwMode="auto">
          <a:xfrm>
            <a:off x="6678613" y="6020965"/>
            <a:ext cx="1422400" cy="339725"/>
          </a:xfrm>
          <a:prstGeom prst="rect">
            <a:avLst/>
          </a:prstGeom>
          <a:solidFill>
            <a:schemeClr val="hlink"/>
          </a:solidFill>
          <a:ln w="9525">
            <a:solidFill>
              <a:schemeClr val="tx1"/>
            </a:solidFill>
            <a:miter lim="800000"/>
            <a:headEnd/>
            <a:tailEnd/>
          </a:ln>
          <a:effectLst>
            <a:outerShdw dist="35921" dir="2700000" algn="ctr" rotWithShape="0">
              <a:schemeClr val="bg2"/>
            </a:outerShdw>
          </a:effectLst>
        </p:spPr>
        <p:txBody>
          <a:bodyPr lIns="0" tIns="0" rIns="0" bIns="0"/>
          <a:lstStyle/>
          <a:p>
            <a:pPr algn="ctr" eaLnBrk="0" hangingPunct="0">
              <a:defRPr/>
            </a:pPr>
            <a:r>
              <a:rPr lang="zh-CN" altLang="en-US" sz="2000" b="1" baseline="0">
                <a:solidFill>
                  <a:schemeClr val="bg1"/>
                </a:solidFill>
                <a:latin typeface="楷体_GB2312" pitchFamily="49" charset="-122"/>
                <a:ea typeface="楷体_GB2312" pitchFamily="49" charset="-122"/>
              </a:rPr>
              <a:t>数据集</a:t>
            </a:r>
            <a:r>
              <a:rPr lang="en-US" altLang="zh-CN" sz="2000" b="1" baseline="0">
                <a:solidFill>
                  <a:schemeClr val="bg1"/>
                </a:solidFill>
                <a:latin typeface="楷体_GB2312" pitchFamily="49" charset="-122"/>
                <a:ea typeface="楷体_GB2312" pitchFamily="49" charset="-122"/>
              </a:rPr>
              <a:t>n</a:t>
            </a:r>
          </a:p>
        </p:txBody>
      </p:sp>
      <p:sp>
        <p:nvSpPr>
          <p:cNvPr id="652306" name="Rectangle 18"/>
          <p:cNvSpPr>
            <a:spLocks noChangeArrowheads="1"/>
          </p:cNvSpPr>
          <p:nvPr/>
        </p:nvSpPr>
        <p:spPr bwMode="auto">
          <a:xfrm>
            <a:off x="1136650" y="5254203"/>
            <a:ext cx="1422400" cy="479425"/>
          </a:xfrm>
          <a:prstGeom prst="rect">
            <a:avLst/>
          </a:prstGeom>
          <a:solidFill>
            <a:srgbClr val="66FFCC"/>
          </a:solidFill>
          <a:ln w="12700">
            <a:solidFill>
              <a:schemeClr val="tx1"/>
            </a:solidFill>
            <a:miter lim="800000"/>
            <a:headEnd/>
            <a:tailEnd/>
          </a:ln>
          <a:effectLst>
            <a:outerShdw dist="35921" dir="2700000" algn="ctr" rotWithShape="0">
              <a:schemeClr val="bg2"/>
            </a:outerShdw>
          </a:effectLst>
        </p:spPr>
        <p:txBody>
          <a:bodyPr lIns="0" tIns="0" rIns="0" bIns="0" anchor="ctr" anchorCtr="1"/>
          <a:lstStyle/>
          <a:p>
            <a:pPr algn="ctr" eaLnBrk="0" hangingPunct="0">
              <a:defRPr/>
            </a:pPr>
            <a:r>
              <a:rPr lang="zh-CN" altLang="en-US" sz="2000" b="1" baseline="0">
                <a:solidFill>
                  <a:schemeClr val="bg1"/>
                </a:solidFill>
                <a:latin typeface="楷体_GB2312" pitchFamily="49" charset="-122"/>
                <a:ea typeface="楷体_GB2312" pitchFamily="49" charset="-122"/>
              </a:rPr>
              <a:t>程序</a:t>
            </a:r>
          </a:p>
        </p:txBody>
      </p:sp>
      <p:sp>
        <p:nvSpPr>
          <p:cNvPr id="652307" name="AutoShape 19"/>
          <p:cNvSpPr>
            <a:spLocks noChangeArrowheads="1"/>
          </p:cNvSpPr>
          <p:nvPr/>
        </p:nvSpPr>
        <p:spPr bwMode="auto">
          <a:xfrm>
            <a:off x="1187450" y="4581103"/>
            <a:ext cx="1320800" cy="381000"/>
          </a:xfrm>
          <a:prstGeom prst="foldedCorner">
            <a:avLst>
              <a:gd name="adj" fmla="val 12500"/>
            </a:avLst>
          </a:prstGeom>
          <a:solidFill>
            <a:schemeClr val="hlink"/>
          </a:solidFill>
          <a:ln w="12700" cap="sq">
            <a:solidFill>
              <a:schemeClr val="tx1"/>
            </a:solidFill>
            <a:round/>
            <a:headEnd type="none" w="sm" len="sm"/>
            <a:tailEnd type="none" w="sm" len="sm"/>
          </a:ln>
          <a:effectLst>
            <a:outerShdw dist="35921" dir="2700000" algn="ctr" rotWithShape="0">
              <a:schemeClr val="bg2"/>
            </a:outerShdw>
          </a:effectLst>
        </p:spPr>
        <p:txBody>
          <a:bodyPr wrap="none" anchor="ctr"/>
          <a:lstStyle/>
          <a:p>
            <a:pPr algn="ctr">
              <a:defRPr/>
            </a:pPr>
            <a:r>
              <a:rPr kumimoji="1" lang="zh-CN" altLang="en-US" sz="2000" b="1" baseline="0">
                <a:solidFill>
                  <a:schemeClr val="bg1"/>
                </a:solidFill>
                <a:latin typeface="Times New Roman" pitchFamily="18" charset="0"/>
                <a:ea typeface="楷体_GB2312" pitchFamily="49" charset="-122"/>
              </a:rPr>
              <a:t>输入数据</a:t>
            </a:r>
          </a:p>
        </p:txBody>
      </p:sp>
      <p:sp>
        <p:nvSpPr>
          <p:cNvPr id="652308" name="AutoShape 20"/>
          <p:cNvSpPr>
            <a:spLocks noChangeArrowheads="1"/>
          </p:cNvSpPr>
          <p:nvPr/>
        </p:nvSpPr>
        <p:spPr bwMode="auto">
          <a:xfrm>
            <a:off x="1187450" y="6013028"/>
            <a:ext cx="1320800" cy="368300"/>
          </a:xfrm>
          <a:prstGeom prst="foldedCorner">
            <a:avLst>
              <a:gd name="adj" fmla="val 10699"/>
            </a:avLst>
          </a:prstGeom>
          <a:solidFill>
            <a:schemeClr val="hlink"/>
          </a:solidFill>
          <a:ln w="12700" cap="sq">
            <a:solidFill>
              <a:schemeClr val="tx1"/>
            </a:solidFill>
            <a:round/>
            <a:headEnd type="none" w="sm" len="sm"/>
            <a:tailEnd type="none" w="sm" len="sm"/>
          </a:ln>
          <a:effectLst>
            <a:outerShdw dist="35921" dir="2700000" algn="ctr" rotWithShape="0">
              <a:schemeClr val="bg2"/>
            </a:outerShdw>
          </a:effectLst>
        </p:spPr>
        <p:txBody>
          <a:bodyPr wrap="none" anchor="ctr"/>
          <a:lstStyle/>
          <a:p>
            <a:pPr algn="ctr">
              <a:defRPr/>
            </a:pPr>
            <a:r>
              <a:rPr kumimoji="1" lang="zh-CN" altLang="en-US" sz="2000" b="1" baseline="0">
                <a:solidFill>
                  <a:schemeClr val="bg1"/>
                </a:solidFill>
                <a:latin typeface="Times New Roman" pitchFamily="18" charset="0"/>
                <a:ea typeface="楷体_GB2312" pitchFamily="49" charset="-122"/>
              </a:rPr>
              <a:t>输出数据</a:t>
            </a:r>
          </a:p>
        </p:txBody>
      </p:sp>
      <p:sp>
        <p:nvSpPr>
          <p:cNvPr id="652310" name="Text Box 22"/>
          <p:cNvSpPr txBox="1">
            <a:spLocks noChangeArrowheads="1"/>
          </p:cNvSpPr>
          <p:nvPr/>
        </p:nvSpPr>
        <p:spPr bwMode="auto">
          <a:xfrm>
            <a:off x="179388" y="44624"/>
            <a:ext cx="6300938" cy="760959"/>
          </a:xfrm>
          <a:prstGeom prst="rect">
            <a:avLst/>
          </a:prstGeom>
          <a:noFill/>
          <a:ln w="12700" cap="sq">
            <a:noFill/>
            <a:miter lim="800000"/>
            <a:headEnd/>
            <a:tailEnd/>
          </a:ln>
          <a:effectLst>
            <a:outerShdw dist="35921" dir="2700000" algn="ctr" rotWithShape="0">
              <a:schemeClr val="bg2"/>
            </a:outerShdw>
          </a:effectLst>
        </p:spPr>
        <p:txBody>
          <a:bodyPr wrap="none" lIns="72000" tIns="72000" rIns="72000" bIns="72000">
            <a:spAutoFit/>
          </a:bodyPr>
          <a:lstStyle>
            <a:defPPr>
              <a:defRPr lang="en-US"/>
            </a:defPPr>
            <a:lvl1pPr>
              <a:defRPr sz="4000" b="1" baseline="0">
                <a:solidFill>
                  <a:schemeClr val="folHlink"/>
                </a:solidFill>
                <a:effectLst>
                  <a:outerShdw blurRad="38100" dist="38100" dir="2700000" algn="tl">
                    <a:srgbClr val="000000"/>
                  </a:outerShdw>
                </a:effectLst>
                <a:latin typeface="微软雅黑" pitchFamily="34" charset="-122"/>
                <a:ea typeface="微软雅黑" pitchFamily="34" charset="-122"/>
              </a:defRPr>
            </a:lvl1pPr>
          </a:lstStyle>
          <a:p>
            <a:r>
              <a:rPr lang="zh-CN" altLang="en-US" dirty="0" smtClean="0"/>
              <a:t>数据管理技术</a:t>
            </a:r>
            <a:r>
              <a:rPr lang="zh-CN" altLang="en-US" dirty="0"/>
              <a:t>的</a:t>
            </a:r>
            <a:r>
              <a:rPr lang="zh-CN" altLang="en-US" dirty="0" smtClean="0"/>
              <a:t>产生和发展</a:t>
            </a:r>
            <a:endParaRPr lang="zh-CN" altLang="en-US" dirty="0"/>
          </a:p>
        </p:txBody>
      </p:sp>
    </p:spTree>
    <p:extLst>
      <p:ext uri="{BB962C8B-B14F-4D97-AF65-F5344CB8AC3E}">
        <p14:creationId xmlns:p14="http://schemas.microsoft.com/office/powerpoint/2010/main" val="201702132"/>
      </p:ext>
    </p:extLst>
  </p:cSld>
  <p:clrMapOvr>
    <a:masterClrMapping/>
  </p:clrMapOvr>
  <mc:AlternateContent xmlns:mc="http://schemas.openxmlformats.org/markup-compatibility/2006" xmlns:p14="http://schemas.microsoft.com/office/powerpoint/2010/main">
    <mc:Choice Requires="p14">
      <p:transition spd="slow" p14:dur="1500">
        <p:split/>
        <p:sndAc>
          <p:stSnd>
            <p:snd r:embed="rId2" name="camera.wav"/>
          </p:stSnd>
        </p:sndAc>
      </p:transition>
    </mc:Choice>
    <mc:Fallback xmlns="">
      <p:transition spd="slow">
        <p:split/>
        <p:sndAc>
          <p:stSnd>
            <p:snd r:embed="rId4" name="camera.wav"/>
          </p:stSnd>
        </p:sndAc>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4" name="Rectangle 2"/>
          <p:cNvSpPr>
            <a:spLocks noGrp="1" noChangeArrowheads="1"/>
          </p:cNvSpPr>
          <p:nvPr>
            <p:ph type="title"/>
          </p:nvPr>
        </p:nvSpPr>
        <p:spPr>
          <a:xfrm>
            <a:off x="166688" y="910461"/>
            <a:ext cx="3502882" cy="646331"/>
          </a:xfrm>
        </p:spPr>
        <p:txBody>
          <a:bodyPr/>
          <a:lstStyle/>
          <a:p>
            <a:pPr eaLnBrk="1" hangingPunct="1">
              <a:buFont typeface="Wingdings" pitchFamily="2" charset="2"/>
              <a:buChar char="¯"/>
              <a:defRPr/>
            </a:pPr>
            <a:r>
              <a:rPr lang="zh-CN" altLang="en-US" dirty="0" smtClean="0"/>
              <a:t> 文件系统阶段</a:t>
            </a:r>
            <a:endParaRPr lang="en-US" altLang="zh-CN" dirty="0" smtClean="0"/>
          </a:p>
        </p:txBody>
      </p:sp>
      <p:sp>
        <p:nvSpPr>
          <p:cNvPr id="653315" name="Rectangle 3"/>
          <p:cNvSpPr>
            <a:spLocks noChangeArrowheads="1"/>
          </p:cNvSpPr>
          <p:nvPr/>
        </p:nvSpPr>
        <p:spPr bwMode="auto">
          <a:xfrm>
            <a:off x="190500" y="1628850"/>
            <a:ext cx="4453508" cy="1008062"/>
          </a:xfrm>
          <a:prstGeom prst="rect">
            <a:avLst/>
          </a:prstGeom>
          <a:noFill/>
          <a:ln w="9525">
            <a:noFill/>
            <a:miter lim="800000"/>
            <a:headEnd/>
            <a:tailEnd/>
          </a:ln>
          <a:effectLst/>
        </p:spPr>
        <p:txBody>
          <a:bodyPr/>
          <a:lstStyle/>
          <a:p>
            <a:pPr marL="271463" indent="-271463">
              <a:spcAft>
                <a:spcPct val="15000"/>
              </a:spcAft>
              <a:buClr>
                <a:srgbClr val="66FF33"/>
              </a:buClr>
              <a:buSzPct val="85000"/>
              <a:buFont typeface="Wingdings" pitchFamily="2" charset="2"/>
              <a:buBlip>
                <a:blip r:embed="rId4"/>
              </a:buBlip>
              <a:defRPr/>
            </a:pPr>
            <a:r>
              <a:rPr lang="zh-CN" altLang="en-US" sz="2800" baseline="0" dirty="0">
                <a:solidFill>
                  <a:srgbClr val="CCFFCC"/>
                </a:solidFill>
                <a:effectLst>
                  <a:outerShdw blurRad="38100" dist="38100" dir="2700000" algn="tl">
                    <a:srgbClr val="000000"/>
                  </a:outerShdw>
                </a:effectLst>
                <a:latin typeface="微软雅黑" pitchFamily="34" charset="-122"/>
                <a:ea typeface="微软雅黑" pitchFamily="34" charset="-122"/>
              </a:rPr>
              <a:t>背景</a:t>
            </a:r>
            <a:endPar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endParaRPr>
          </a:p>
          <a:p>
            <a:pPr marL="630238" lvl="1" indent="-179388">
              <a:spcAft>
                <a:spcPct val="15000"/>
              </a:spcAft>
              <a:buClr>
                <a:schemeClr val="accent2"/>
              </a:buClr>
              <a:buSzPct val="50000"/>
              <a:buFont typeface="Wingdings" pitchFamily="2" charset="2"/>
              <a:buChar char="n"/>
              <a:defRPr/>
            </a:pPr>
            <a:r>
              <a:rPr lang="en-US" altLang="zh-CN"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50年代后期～60年代</a:t>
            </a: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中期</a:t>
            </a:r>
          </a:p>
          <a:p>
            <a:pPr marL="630238" lvl="1" indent="-179388">
              <a:spcAft>
                <a:spcPct val="15000"/>
              </a:spcAft>
              <a:buClr>
                <a:schemeClr val="accent2"/>
              </a:buClr>
              <a:buSzPct val="50000"/>
              <a:buFont typeface="Wingdings" pitchFamily="2" charset="2"/>
              <a:buChar char="n"/>
              <a:defRPr/>
            </a:pPr>
            <a:r>
              <a:rPr lang="en-US" altLang="zh-CN" sz="2400" baseline="0" dirty="0" err="1">
                <a:solidFill>
                  <a:srgbClr val="CCFFCC"/>
                </a:solidFill>
                <a:effectLst>
                  <a:outerShdw blurRad="38100" dist="38100" dir="2700000" algn="tl">
                    <a:srgbClr val="000000"/>
                  </a:outerShdw>
                </a:effectLst>
                <a:latin typeface="微软雅黑" pitchFamily="34" charset="-122"/>
                <a:ea typeface="微软雅黑" pitchFamily="34" charset="-122"/>
              </a:rPr>
              <a:t>计算机用于计算和管理</a:t>
            </a:r>
            <a:endParaRPr lang="en-US" altLang="zh-CN" sz="2400" baseline="0" dirty="0">
              <a:solidFill>
                <a:srgbClr val="CCFFCC"/>
              </a:solidFill>
              <a:effectLst>
                <a:outerShdw blurRad="38100" dist="38100" dir="2700000" algn="tl">
                  <a:srgbClr val="000000"/>
                </a:outerShdw>
              </a:effectLst>
              <a:latin typeface="微软雅黑" pitchFamily="34" charset="-122"/>
              <a:ea typeface="微软雅黑" pitchFamily="34" charset="-122"/>
            </a:endParaRPr>
          </a:p>
          <a:p>
            <a:pPr marL="630238" lvl="1" indent="-179388">
              <a:spcAft>
                <a:spcPct val="15000"/>
              </a:spcAft>
              <a:buClr>
                <a:schemeClr val="accent2"/>
              </a:buClr>
              <a:buSzPct val="50000"/>
              <a:buFont typeface="Wingdings" pitchFamily="2" charset="2"/>
              <a:buChar char="n"/>
              <a:defRPr/>
            </a:pPr>
            <a:r>
              <a:rPr lang="en-US" altLang="zh-CN" sz="2400" baseline="0" dirty="0" err="1">
                <a:solidFill>
                  <a:srgbClr val="CCFFCC"/>
                </a:solidFill>
                <a:effectLst>
                  <a:outerShdw blurRad="38100" dist="38100" dir="2700000" algn="tl">
                    <a:srgbClr val="000000"/>
                  </a:outerShdw>
                </a:effectLst>
                <a:latin typeface="微软雅黑" pitchFamily="34" charset="-122"/>
                <a:ea typeface="微软雅黑" pitchFamily="34" charset="-122"/>
              </a:rPr>
              <a:t>有直接存取设备</a:t>
            </a:r>
            <a:endParaRPr lang="en-US" altLang="zh-CN" sz="2400" baseline="0" dirty="0">
              <a:solidFill>
                <a:srgbClr val="CCFFCC"/>
              </a:solidFill>
              <a:effectLst>
                <a:outerShdw blurRad="38100" dist="38100" dir="2700000" algn="tl">
                  <a:srgbClr val="000000"/>
                </a:outerShdw>
              </a:effectLst>
              <a:latin typeface="微软雅黑" pitchFamily="34" charset="-122"/>
              <a:ea typeface="微软雅黑" pitchFamily="34" charset="-122"/>
            </a:endParaRPr>
          </a:p>
          <a:p>
            <a:pPr marL="630238" lvl="1" indent="-179388">
              <a:spcAft>
                <a:spcPct val="15000"/>
              </a:spcAft>
              <a:buClr>
                <a:schemeClr val="accent2"/>
              </a:buClr>
              <a:buSzPct val="50000"/>
              <a:buFont typeface="Wingdings" pitchFamily="2" charset="2"/>
              <a:buChar char="n"/>
              <a:defRPr/>
            </a:pPr>
            <a:r>
              <a:rPr lang="en-US" altLang="zh-CN" sz="2400" baseline="0" dirty="0" err="1">
                <a:solidFill>
                  <a:srgbClr val="CCFFCC"/>
                </a:solidFill>
                <a:effectLst>
                  <a:outerShdw blurRad="38100" dist="38100" dir="2700000" algn="tl">
                    <a:srgbClr val="000000"/>
                  </a:outerShdw>
                </a:effectLst>
                <a:latin typeface="微软雅黑" pitchFamily="34" charset="-122"/>
                <a:ea typeface="微软雅黑" pitchFamily="34" charset="-122"/>
              </a:rPr>
              <a:t>有操作系统</a:t>
            </a:r>
            <a:endParaRPr lang="en-US" altLang="zh-CN" sz="2400" baseline="0" dirty="0">
              <a:solidFill>
                <a:srgbClr val="CCFFCC"/>
              </a:solidFill>
              <a:effectLst>
                <a:outerShdw blurRad="38100" dist="38100" dir="2700000" algn="tl">
                  <a:srgbClr val="000000"/>
                </a:outerShdw>
              </a:effectLst>
              <a:latin typeface="微软雅黑" pitchFamily="34" charset="-122"/>
              <a:ea typeface="微软雅黑" pitchFamily="34" charset="-122"/>
            </a:endParaRPr>
          </a:p>
          <a:p>
            <a:pPr marL="630238" lvl="1" indent="-179388">
              <a:spcAft>
                <a:spcPct val="15000"/>
              </a:spcAft>
              <a:buClr>
                <a:schemeClr val="accent2"/>
              </a:buClr>
              <a:buSzPct val="50000"/>
              <a:buFont typeface="Wingdings" pitchFamily="2" charset="2"/>
              <a:buChar char="n"/>
              <a:defRPr/>
            </a:pPr>
            <a:r>
              <a:rPr lang="en-US" altLang="zh-CN" sz="2400" baseline="0" dirty="0" err="1">
                <a:solidFill>
                  <a:srgbClr val="CCFFCC"/>
                </a:solidFill>
                <a:effectLst>
                  <a:outerShdw blurRad="38100" dist="38100" dir="2700000" algn="tl">
                    <a:srgbClr val="000000"/>
                  </a:outerShdw>
                </a:effectLst>
                <a:latin typeface="微软雅黑" pitchFamily="34" charset="-122"/>
                <a:ea typeface="微软雅黑" pitchFamily="34" charset="-122"/>
              </a:rPr>
              <a:t>使用Basic等高级语言</a:t>
            </a:r>
            <a:endPar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endParaRPr>
          </a:p>
        </p:txBody>
      </p:sp>
      <p:cxnSp>
        <p:nvCxnSpPr>
          <p:cNvPr id="653316" name="AutoShape 4"/>
          <p:cNvCxnSpPr>
            <a:cxnSpLocks noChangeShapeType="1"/>
            <a:stCxn id="653331" idx="3"/>
            <a:endCxn id="653332" idx="1"/>
          </p:cNvCxnSpPr>
          <p:nvPr/>
        </p:nvCxnSpPr>
        <p:spPr bwMode="auto">
          <a:xfrm>
            <a:off x="5830888" y="4797574"/>
            <a:ext cx="1922462" cy="0"/>
          </a:xfrm>
          <a:prstGeom prst="straightConnector1">
            <a:avLst/>
          </a:prstGeom>
          <a:noFill/>
          <a:ln w="12700">
            <a:solidFill>
              <a:srgbClr val="FFFF00"/>
            </a:solidFill>
            <a:prstDash val="dash"/>
            <a:round/>
            <a:headEnd type="none" w="sm" len="sm"/>
            <a:tailEnd type="none" w="sm" len="sm"/>
          </a:ln>
          <a:effectLst>
            <a:outerShdw dist="35921" dir="2700000" algn="ctr" rotWithShape="0">
              <a:schemeClr val="bg2"/>
            </a:outerShdw>
          </a:effectLst>
        </p:spPr>
      </p:cxnSp>
      <p:cxnSp>
        <p:nvCxnSpPr>
          <p:cNvPr id="653317" name="AutoShape 5"/>
          <p:cNvCxnSpPr>
            <a:cxnSpLocks noChangeShapeType="1"/>
            <a:stCxn id="653333" idx="3"/>
            <a:endCxn id="653334" idx="1"/>
          </p:cNvCxnSpPr>
          <p:nvPr/>
        </p:nvCxnSpPr>
        <p:spPr bwMode="auto">
          <a:xfrm>
            <a:off x="5830888" y="5364311"/>
            <a:ext cx="1922462" cy="0"/>
          </a:xfrm>
          <a:prstGeom prst="straightConnector1">
            <a:avLst/>
          </a:prstGeom>
          <a:noFill/>
          <a:ln w="12700">
            <a:solidFill>
              <a:srgbClr val="FFFF00"/>
            </a:solidFill>
            <a:prstDash val="dash"/>
            <a:round/>
            <a:headEnd type="none" w="sm" len="sm"/>
            <a:tailEnd type="none" w="sm" len="sm"/>
          </a:ln>
          <a:effectLst>
            <a:outerShdw dist="35921" dir="2700000" algn="ctr" rotWithShape="0">
              <a:schemeClr val="bg2"/>
            </a:outerShdw>
          </a:effectLst>
        </p:spPr>
      </p:cxnSp>
      <p:cxnSp>
        <p:nvCxnSpPr>
          <p:cNvPr id="653318" name="AutoShape 6"/>
          <p:cNvCxnSpPr>
            <a:cxnSpLocks noChangeShapeType="1"/>
            <a:stCxn id="653336" idx="3"/>
            <a:endCxn id="653335" idx="1"/>
          </p:cNvCxnSpPr>
          <p:nvPr/>
        </p:nvCxnSpPr>
        <p:spPr bwMode="auto">
          <a:xfrm>
            <a:off x="5830888" y="6283474"/>
            <a:ext cx="1922462" cy="0"/>
          </a:xfrm>
          <a:prstGeom prst="straightConnector1">
            <a:avLst/>
          </a:prstGeom>
          <a:noFill/>
          <a:ln w="12700">
            <a:solidFill>
              <a:srgbClr val="FFFF00"/>
            </a:solidFill>
            <a:prstDash val="dash"/>
            <a:round/>
            <a:headEnd type="none" w="sm" len="sm"/>
            <a:tailEnd type="none" w="sm" len="sm"/>
          </a:ln>
          <a:effectLst>
            <a:outerShdw dist="35921" dir="2700000" algn="ctr" rotWithShape="0">
              <a:schemeClr val="bg2"/>
            </a:outerShdw>
          </a:effectLst>
        </p:spPr>
      </p:cxnSp>
      <p:sp>
        <p:nvSpPr>
          <p:cNvPr id="653319" name="Text Box 7"/>
          <p:cNvSpPr txBox="1">
            <a:spLocks noChangeArrowheads="1"/>
          </p:cNvSpPr>
          <p:nvPr/>
        </p:nvSpPr>
        <p:spPr bwMode="auto">
          <a:xfrm>
            <a:off x="4891088" y="5618311"/>
            <a:ext cx="609600" cy="457200"/>
          </a:xfrm>
          <a:prstGeom prst="rect">
            <a:avLst/>
          </a:prstGeom>
          <a:noFill/>
          <a:ln w="12700" cap="sq">
            <a:noFill/>
            <a:miter lim="800000"/>
            <a:headEnd type="none" w="sm" len="sm"/>
            <a:tailEnd type="none" w="sm" len="sm"/>
          </a:ln>
          <a:effectLst>
            <a:outerShdw dist="35921" dir="2700000" algn="ctr" rotWithShape="0">
              <a:schemeClr val="bg2"/>
            </a:outerShdw>
          </a:effectLst>
        </p:spPr>
        <p:txBody>
          <a:bodyPr>
            <a:spAutoFit/>
          </a:bodyPr>
          <a:lstStyle/>
          <a:p>
            <a:pPr>
              <a:spcBef>
                <a:spcPct val="50000"/>
              </a:spcBef>
              <a:defRPr/>
            </a:pPr>
            <a:r>
              <a:rPr kumimoji="1" lang="zh-CN" altLang="en-US" sz="2400" b="1" baseline="0">
                <a:solidFill>
                  <a:srgbClr val="CCFFCC"/>
                </a:solidFill>
                <a:latin typeface="Times New Roman" pitchFamily="18" charset="0"/>
              </a:rPr>
              <a:t>┊</a:t>
            </a:r>
          </a:p>
        </p:txBody>
      </p:sp>
      <p:sp>
        <p:nvSpPr>
          <p:cNvPr id="653320" name="Text Box 8"/>
          <p:cNvSpPr txBox="1">
            <a:spLocks noChangeArrowheads="1"/>
          </p:cNvSpPr>
          <p:nvPr/>
        </p:nvSpPr>
        <p:spPr bwMode="auto">
          <a:xfrm>
            <a:off x="7948613" y="5618311"/>
            <a:ext cx="387350" cy="457200"/>
          </a:xfrm>
          <a:prstGeom prst="rect">
            <a:avLst/>
          </a:prstGeom>
          <a:noFill/>
          <a:ln w="12700" cap="sq">
            <a:noFill/>
            <a:miter lim="800000"/>
            <a:headEnd type="none" w="sm" len="sm"/>
            <a:tailEnd type="none" w="sm" len="sm"/>
          </a:ln>
          <a:effectLst>
            <a:outerShdw dist="35921" dir="2700000" algn="ctr" rotWithShape="0">
              <a:schemeClr val="bg2"/>
            </a:outerShdw>
          </a:effectLst>
        </p:spPr>
        <p:txBody>
          <a:bodyPr/>
          <a:lstStyle/>
          <a:p>
            <a:pPr>
              <a:spcBef>
                <a:spcPct val="50000"/>
              </a:spcBef>
              <a:defRPr/>
            </a:pPr>
            <a:r>
              <a:rPr kumimoji="1" lang="zh-CN" altLang="en-US" sz="2400" b="1" baseline="0">
                <a:solidFill>
                  <a:srgbClr val="CCFFCC"/>
                </a:solidFill>
                <a:latin typeface="Times New Roman" pitchFamily="18" charset="0"/>
              </a:rPr>
              <a:t>┊</a:t>
            </a:r>
          </a:p>
        </p:txBody>
      </p:sp>
      <p:cxnSp>
        <p:nvCxnSpPr>
          <p:cNvPr id="653321" name="AutoShape 9"/>
          <p:cNvCxnSpPr>
            <a:cxnSpLocks noChangeShapeType="1"/>
            <a:stCxn id="653338" idx="2"/>
            <a:endCxn id="653337" idx="0"/>
          </p:cNvCxnSpPr>
          <p:nvPr/>
        </p:nvCxnSpPr>
        <p:spPr bwMode="auto">
          <a:xfrm>
            <a:off x="2579688" y="5067449"/>
            <a:ext cx="0" cy="309562"/>
          </a:xfrm>
          <a:prstGeom prst="straightConnector1">
            <a:avLst/>
          </a:prstGeom>
          <a:noFill/>
          <a:ln w="28575" cap="sq">
            <a:solidFill>
              <a:schemeClr val="tx1"/>
            </a:solidFill>
            <a:round/>
            <a:headEnd type="none" w="sm" len="sm"/>
            <a:tailEnd type="triangle" w="sm" len="sm"/>
          </a:ln>
          <a:effectLst>
            <a:outerShdw dist="35921" dir="2700000" algn="ctr" rotWithShape="0">
              <a:schemeClr val="bg2"/>
            </a:outerShdw>
          </a:effectLst>
        </p:spPr>
      </p:cxnSp>
      <p:cxnSp>
        <p:nvCxnSpPr>
          <p:cNvPr id="653322" name="AutoShape 10"/>
          <p:cNvCxnSpPr>
            <a:cxnSpLocks noChangeShapeType="1"/>
            <a:stCxn id="653337" idx="2"/>
            <a:endCxn id="653339" idx="0"/>
          </p:cNvCxnSpPr>
          <p:nvPr/>
        </p:nvCxnSpPr>
        <p:spPr bwMode="auto">
          <a:xfrm>
            <a:off x="2579688" y="5716736"/>
            <a:ext cx="0" cy="325438"/>
          </a:xfrm>
          <a:prstGeom prst="straightConnector1">
            <a:avLst/>
          </a:prstGeom>
          <a:noFill/>
          <a:ln w="28575" cap="sq">
            <a:solidFill>
              <a:schemeClr val="tx1"/>
            </a:solidFill>
            <a:round/>
            <a:headEnd type="none" w="sm" len="sm"/>
            <a:tailEnd type="triangle" w="sm" len="sm"/>
          </a:ln>
          <a:effectLst>
            <a:outerShdw dist="35921" dir="2700000" algn="ctr" rotWithShape="0">
              <a:schemeClr val="bg2"/>
            </a:outerShdw>
          </a:effectLst>
        </p:spPr>
      </p:cxnSp>
      <p:cxnSp>
        <p:nvCxnSpPr>
          <p:cNvPr id="653323" name="AutoShape 11"/>
          <p:cNvCxnSpPr>
            <a:cxnSpLocks noChangeShapeType="1"/>
            <a:stCxn id="653331" idx="3"/>
            <a:endCxn id="653330" idx="2"/>
          </p:cNvCxnSpPr>
          <p:nvPr/>
        </p:nvCxnSpPr>
        <p:spPr bwMode="auto">
          <a:xfrm>
            <a:off x="5830888" y="4797574"/>
            <a:ext cx="722312" cy="706437"/>
          </a:xfrm>
          <a:prstGeom prst="straightConnector1">
            <a:avLst/>
          </a:prstGeom>
          <a:noFill/>
          <a:ln w="19050" cap="sq">
            <a:solidFill>
              <a:srgbClr val="CCFFCC"/>
            </a:solidFill>
            <a:round/>
            <a:headEnd type="none" w="sm" len="sm"/>
            <a:tailEnd type="none" w="sm" len="sm"/>
          </a:ln>
          <a:effectLst>
            <a:outerShdw dist="17961" dir="2700000" algn="ctr" rotWithShape="0">
              <a:schemeClr val="bg2"/>
            </a:outerShdw>
          </a:effectLst>
        </p:spPr>
      </p:cxnSp>
      <p:cxnSp>
        <p:nvCxnSpPr>
          <p:cNvPr id="653324" name="AutoShape 12"/>
          <p:cNvCxnSpPr>
            <a:cxnSpLocks noChangeShapeType="1"/>
            <a:stCxn id="653333" idx="3"/>
            <a:endCxn id="653330" idx="2"/>
          </p:cNvCxnSpPr>
          <p:nvPr/>
        </p:nvCxnSpPr>
        <p:spPr bwMode="auto">
          <a:xfrm>
            <a:off x="5830888" y="5364311"/>
            <a:ext cx="722312" cy="139700"/>
          </a:xfrm>
          <a:prstGeom prst="straightConnector1">
            <a:avLst/>
          </a:prstGeom>
          <a:noFill/>
          <a:ln w="19050" cap="sq">
            <a:solidFill>
              <a:srgbClr val="CCFFCC"/>
            </a:solidFill>
            <a:round/>
            <a:headEnd type="none" w="sm" len="sm"/>
            <a:tailEnd type="none" w="sm" len="sm"/>
          </a:ln>
          <a:effectLst>
            <a:outerShdw dist="17961" dir="2700000" algn="ctr" rotWithShape="0">
              <a:schemeClr val="bg2"/>
            </a:outerShdw>
          </a:effectLst>
        </p:spPr>
      </p:cxnSp>
      <p:cxnSp>
        <p:nvCxnSpPr>
          <p:cNvPr id="653325" name="AutoShape 13"/>
          <p:cNvCxnSpPr>
            <a:cxnSpLocks noChangeShapeType="1"/>
            <a:stCxn id="653336" idx="3"/>
            <a:endCxn id="653330" idx="2"/>
          </p:cNvCxnSpPr>
          <p:nvPr/>
        </p:nvCxnSpPr>
        <p:spPr bwMode="auto">
          <a:xfrm flipV="1">
            <a:off x="5830888" y="5504011"/>
            <a:ext cx="722312" cy="779463"/>
          </a:xfrm>
          <a:prstGeom prst="straightConnector1">
            <a:avLst/>
          </a:prstGeom>
          <a:noFill/>
          <a:ln w="19050" cap="sq">
            <a:solidFill>
              <a:srgbClr val="CCFFCC"/>
            </a:solidFill>
            <a:round/>
            <a:headEnd type="none" w="sm" len="sm"/>
            <a:tailEnd type="none" w="sm" len="sm"/>
          </a:ln>
          <a:effectLst>
            <a:outerShdw dist="17961" dir="2700000" algn="ctr" rotWithShape="0">
              <a:schemeClr val="bg2"/>
            </a:outerShdw>
          </a:effectLst>
        </p:spPr>
      </p:cxnSp>
      <p:cxnSp>
        <p:nvCxnSpPr>
          <p:cNvPr id="653326" name="AutoShape 14"/>
          <p:cNvCxnSpPr>
            <a:cxnSpLocks noChangeShapeType="1"/>
            <a:stCxn id="653330" idx="6"/>
            <a:endCxn id="653332" idx="1"/>
          </p:cNvCxnSpPr>
          <p:nvPr/>
        </p:nvCxnSpPr>
        <p:spPr bwMode="auto">
          <a:xfrm flipV="1">
            <a:off x="7267575" y="4797574"/>
            <a:ext cx="485775" cy="706437"/>
          </a:xfrm>
          <a:prstGeom prst="straightConnector1">
            <a:avLst/>
          </a:prstGeom>
          <a:noFill/>
          <a:ln w="19050" cap="sq">
            <a:solidFill>
              <a:srgbClr val="CCFFCC"/>
            </a:solidFill>
            <a:round/>
            <a:headEnd type="none" w="sm" len="sm"/>
            <a:tailEnd type="none" w="sm" len="sm"/>
          </a:ln>
          <a:effectLst>
            <a:outerShdw dist="17961" dir="2700000" algn="ctr" rotWithShape="0">
              <a:schemeClr val="bg2"/>
            </a:outerShdw>
          </a:effectLst>
        </p:spPr>
      </p:cxnSp>
      <p:cxnSp>
        <p:nvCxnSpPr>
          <p:cNvPr id="653327" name="AutoShape 15"/>
          <p:cNvCxnSpPr>
            <a:cxnSpLocks noChangeShapeType="1"/>
            <a:stCxn id="653330" idx="6"/>
            <a:endCxn id="653334" idx="1"/>
          </p:cNvCxnSpPr>
          <p:nvPr/>
        </p:nvCxnSpPr>
        <p:spPr bwMode="auto">
          <a:xfrm flipV="1">
            <a:off x="7267575" y="5364311"/>
            <a:ext cx="485775" cy="139700"/>
          </a:xfrm>
          <a:prstGeom prst="straightConnector1">
            <a:avLst/>
          </a:prstGeom>
          <a:noFill/>
          <a:ln w="19050" cap="sq">
            <a:solidFill>
              <a:srgbClr val="CCFFCC"/>
            </a:solidFill>
            <a:round/>
            <a:headEnd type="none" w="sm" len="sm"/>
            <a:tailEnd type="none" w="sm" len="sm"/>
          </a:ln>
          <a:effectLst>
            <a:outerShdw dist="17961" dir="2700000" algn="ctr" rotWithShape="0">
              <a:schemeClr val="bg2"/>
            </a:outerShdw>
          </a:effectLst>
        </p:spPr>
      </p:cxnSp>
      <p:cxnSp>
        <p:nvCxnSpPr>
          <p:cNvPr id="653328" name="AutoShape 16"/>
          <p:cNvCxnSpPr>
            <a:cxnSpLocks noChangeShapeType="1"/>
            <a:stCxn id="653330" idx="6"/>
            <a:endCxn id="653335" idx="1"/>
          </p:cNvCxnSpPr>
          <p:nvPr/>
        </p:nvCxnSpPr>
        <p:spPr bwMode="auto">
          <a:xfrm>
            <a:off x="7267575" y="5504011"/>
            <a:ext cx="485775" cy="779463"/>
          </a:xfrm>
          <a:prstGeom prst="straightConnector1">
            <a:avLst/>
          </a:prstGeom>
          <a:noFill/>
          <a:ln w="19050" cap="sq">
            <a:solidFill>
              <a:srgbClr val="CCFFCC"/>
            </a:solidFill>
            <a:round/>
            <a:headEnd type="none" w="sm" len="sm"/>
            <a:tailEnd type="none" w="sm" len="sm"/>
          </a:ln>
          <a:effectLst>
            <a:outerShdw dist="17961" dir="2700000" algn="ctr" rotWithShape="0">
              <a:schemeClr val="bg2"/>
            </a:outerShdw>
          </a:effectLst>
        </p:spPr>
      </p:cxnSp>
      <p:cxnSp>
        <p:nvCxnSpPr>
          <p:cNvPr id="653329" name="AutoShape 17"/>
          <p:cNvCxnSpPr>
            <a:cxnSpLocks noChangeShapeType="1"/>
            <a:stCxn id="653340" idx="3"/>
            <a:endCxn id="653337" idx="1"/>
          </p:cNvCxnSpPr>
          <p:nvPr/>
        </p:nvCxnSpPr>
        <p:spPr bwMode="auto">
          <a:xfrm>
            <a:off x="1117600" y="5546874"/>
            <a:ext cx="750888" cy="0"/>
          </a:xfrm>
          <a:prstGeom prst="straightConnector1">
            <a:avLst/>
          </a:prstGeom>
          <a:noFill/>
          <a:ln w="28575" cap="sq">
            <a:solidFill>
              <a:schemeClr val="tx1"/>
            </a:solidFill>
            <a:round/>
            <a:headEnd type="triangle" w="sm" len="sm"/>
            <a:tailEnd type="triangle" w="sm" len="sm"/>
          </a:ln>
          <a:effectLst>
            <a:outerShdw dist="35921" dir="2700000" algn="ctr" rotWithShape="0">
              <a:schemeClr val="bg2"/>
            </a:outerShdw>
          </a:effectLst>
        </p:spPr>
      </p:cxnSp>
      <p:sp>
        <p:nvSpPr>
          <p:cNvPr id="653330" name="Oval 18"/>
          <p:cNvSpPr>
            <a:spLocks noChangeArrowheads="1"/>
          </p:cNvSpPr>
          <p:nvPr/>
        </p:nvSpPr>
        <p:spPr bwMode="auto">
          <a:xfrm>
            <a:off x="6567488" y="4589611"/>
            <a:ext cx="685800" cy="1828800"/>
          </a:xfrm>
          <a:prstGeom prst="ellipse">
            <a:avLst/>
          </a:prstGeom>
          <a:solidFill>
            <a:schemeClr val="accent2"/>
          </a:solidFill>
          <a:ln w="28575" cap="sq">
            <a:solidFill>
              <a:srgbClr val="CCFFCC"/>
            </a:solidFill>
            <a:round/>
            <a:headEnd type="none" w="sm" len="sm"/>
            <a:tailEnd type="none" w="sm" len="sm"/>
          </a:ln>
          <a:effectLst>
            <a:outerShdw dist="35921" dir="2700000" algn="ctr" rotWithShape="0">
              <a:schemeClr val="bg2"/>
            </a:outerShdw>
          </a:effectLst>
        </p:spPr>
        <p:txBody>
          <a:bodyPr anchor="ctr" anchorCtr="1"/>
          <a:lstStyle/>
          <a:p>
            <a:pPr algn="ctr">
              <a:defRPr/>
            </a:pPr>
            <a:r>
              <a:rPr kumimoji="1" lang="zh-CN" altLang="en-US" sz="2400" b="1" baseline="0">
                <a:solidFill>
                  <a:schemeClr val="bg1"/>
                </a:solidFill>
                <a:latin typeface="Times New Roman" pitchFamily="18" charset="0"/>
                <a:ea typeface="楷体_GB2312" pitchFamily="49" charset="-122"/>
              </a:rPr>
              <a:t>文件系统</a:t>
            </a:r>
          </a:p>
        </p:txBody>
      </p:sp>
      <p:sp>
        <p:nvSpPr>
          <p:cNvPr id="653331" name="Rectangle 19"/>
          <p:cNvSpPr>
            <a:spLocks noChangeArrowheads="1"/>
          </p:cNvSpPr>
          <p:nvPr/>
        </p:nvSpPr>
        <p:spPr bwMode="auto">
          <a:xfrm>
            <a:off x="4408488" y="4627711"/>
            <a:ext cx="1422400" cy="339725"/>
          </a:xfrm>
          <a:prstGeom prst="rect">
            <a:avLst/>
          </a:prstGeom>
          <a:solidFill>
            <a:srgbClr val="66FFCC"/>
          </a:solidFill>
          <a:ln w="9525">
            <a:solidFill>
              <a:srgbClr val="000000"/>
            </a:solidFill>
            <a:miter lim="800000"/>
            <a:headEnd/>
            <a:tailEnd/>
          </a:ln>
          <a:effectLst>
            <a:outerShdw dist="35921" dir="2700000" algn="ctr" rotWithShape="0">
              <a:schemeClr val="bg2"/>
            </a:outerShdw>
          </a:effectLst>
        </p:spPr>
        <p:txBody>
          <a:bodyPr lIns="0" tIns="0" rIns="0" bIns="0"/>
          <a:lstStyle/>
          <a:p>
            <a:pPr algn="ctr" eaLnBrk="0" hangingPunct="0">
              <a:defRPr/>
            </a:pPr>
            <a:r>
              <a:rPr lang="zh-CN" altLang="en-US" sz="2000" b="1" baseline="0">
                <a:solidFill>
                  <a:schemeClr val="bg1"/>
                </a:solidFill>
                <a:latin typeface="楷体_GB2312" pitchFamily="49" charset="-122"/>
                <a:ea typeface="楷体_GB2312" pitchFamily="49" charset="-122"/>
              </a:rPr>
              <a:t>应用程序1</a:t>
            </a:r>
          </a:p>
        </p:txBody>
      </p:sp>
      <p:sp>
        <p:nvSpPr>
          <p:cNvPr id="653332" name="Rectangle 20"/>
          <p:cNvSpPr>
            <a:spLocks noChangeArrowheads="1"/>
          </p:cNvSpPr>
          <p:nvPr/>
        </p:nvSpPr>
        <p:spPr bwMode="auto">
          <a:xfrm>
            <a:off x="7753350" y="4627711"/>
            <a:ext cx="792163" cy="339725"/>
          </a:xfrm>
          <a:prstGeom prst="rect">
            <a:avLst/>
          </a:prstGeom>
          <a:solidFill>
            <a:schemeClr val="hlink"/>
          </a:solidFill>
          <a:ln w="9525">
            <a:solidFill>
              <a:srgbClr val="000000"/>
            </a:solidFill>
            <a:miter lim="800000"/>
            <a:headEnd/>
            <a:tailEnd/>
          </a:ln>
          <a:effectLst>
            <a:outerShdw dist="35921" dir="2700000" algn="ctr" rotWithShape="0">
              <a:schemeClr val="bg2"/>
            </a:outerShdw>
          </a:effectLst>
        </p:spPr>
        <p:txBody>
          <a:bodyPr lIns="0" tIns="0" rIns="0" bIns="0"/>
          <a:lstStyle/>
          <a:p>
            <a:pPr algn="ctr" eaLnBrk="0" hangingPunct="0">
              <a:defRPr/>
            </a:pPr>
            <a:r>
              <a:rPr lang="zh-CN" altLang="en-US" sz="2000" b="1" baseline="0">
                <a:solidFill>
                  <a:schemeClr val="bg1"/>
                </a:solidFill>
                <a:latin typeface="楷体_GB2312" pitchFamily="49" charset="-122"/>
                <a:ea typeface="楷体_GB2312" pitchFamily="49" charset="-122"/>
              </a:rPr>
              <a:t>文件1</a:t>
            </a:r>
          </a:p>
        </p:txBody>
      </p:sp>
      <p:sp>
        <p:nvSpPr>
          <p:cNvPr id="653333" name="Rectangle 21"/>
          <p:cNvSpPr>
            <a:spLocks noChangeArrowheads="1"/>
          </p:cNvSpPr>
          <p:nvPr/>
        </p:nvSpPr>
        <p:spPr bwMode="auto">
          <a:xfrm>
            <a:off x="4408488" y="5194449"/>
            <a:ext cx="1422400" cy="338137"/>
          </a:xfrm>
          <a:prstGeom prst="rect">
            <a:avLst/>
          </a:prstGeom>
          <a:solidFill>
            <a:srgbClr val="66FFCC"/>
          </a:solidFill>
          <a:ln w="9525">
            <a:solidFill>
              <a:srgbClr val="000000"/>
            </a:solidFill>
            <a:miter lim="800000"/>
            <a:headEnd/>
            <a:tailEnd/>
          </a:ln>
          <a:effectLst>
            <a:outerShdw dist="35921" dir="2700000" algn="ctr" rotWithShape="0">
              <a:schemeClr val="bg2"/>
            </a:outerShdw>
          </a:effectLst>
        </p:spPr>
        <p:txBody>
          <a:bodyPr lIns="0" tIns="0" rIns="0" bIns="0"/>
          <a:lstStyle/>
          <a:p>
            <a:pPr algn="ctr" eaLnBrk="0" hangingPunct="0">
              <a:defRPr/>
            </a:pPr>
            <a:r>
              <a:rPr lang="zh-CN" altLang="en-US" sz="2000" b="1" baseline="0">
                <a:solidFill>
                  <a:schemeClr val="bg1"/>
                </a:solidFill>
                <a:latin typeface="楷体_GB2312" pitchFamily="49" charset="-122"/>
                <a:ea typeface="楷体_GB2312" pitchFamily="49" charset="-122"/>
              </a:rPr>
              <a:t>应用程序2</a:t>
            </a:r>
          </a:p>
        </p:txBody>
      </p:sp>
      <p:sp>
        <p:nvSpPr>
          <p:cNvPr id="653334" name="Rectangle 22"/>
          <p:cNvSpPr>
            <a:spLocks noChangeArrowheads="1"/>
          </p:cNvSpPr>
          <p:nvPr/>
        </p:nvSpPr>
        <p:spPr bwMode="auto">
          <a:xfrm>
            <a:off x="7753350" y="5194449"/>
            <a:ext cx="792163" cy="338137"/>
          </a:xfrm>
          <a:prstGeom prst="rect">
            <a:avLst/>
          </a:prstGeom>
          <a:solidFill>
            <a:schemeClr val="hlink"/>
          </a:solidFill>
          <a:ln w="9525">
            <a:solidFill>
              <a:srgbClr val="000000"/>
            </a:solidFill>
            <a:miter lim="800000"/>
            <a:headEnd/>
            <a:tailEnd/>
          </a:ln>
          <a:effectLst>
            <a:outerShdw dist="35921" dir="2700000" algn="ctr" rotWithShape="0">
              <a:schemeClr val="bg2"/>
            </a:outerShdw>
          </a:effectLst>
        </p:spPr>
        <p:txBody>
          <a:bodyPr lIns="0" tIns="0" rIns="0" bIns="0"/>
          <a:lstStyle/>
          <a:p>
            <a:pPr algn="ctr" eaLnBrk="0" hangingPunct="0">
              <a:defRPr/>
            </a:pPr>
            <a:r>
              <a:rPr lang="zh-CN" altLang="en-US" sz="2000" b="1" baseline="0">
                <a:solidFill>
                  <a:schemeClr val="bg1"/>
                </a:solidFill>
                <a:latin typeface="楷体_GB2312" pitchFamily="49" charset="-122"/>
                <a:ea typeface="楷体_GB2312" pitchFamily="49" charset="-122"/>
              </a:rPr>
              <a:t>文件2</a:t>
            </a:r>
          </a:p>
        </p:txBody>
      </p:sp>
      <p:sp>
        <p:nvSpPr>
          <p:cNvPr id="653335" name="Rectangle 23"/>
          <p:cNvSpPr>
            <a:spLocks noChangeArrowheads="1"/>
          </p:cNvSpPr>
          <p:nvPr/>
        </p:nvSpPr>
        <p:spPr bwMode="auto">
          <a:xfrm>
            <a:off x="7753350" y="6113611"/>
            <a:ext cx="792163" cy="339725"/>
          </a:xfrm>
          <a:prstGeom prst="rect">
            <a:avLst/>
          </a:prstGeom>
          <a:solidFill>
            <a:schemeClr val="hlink"/>
          </a:solidFill>
          <a:ln w="9525">
            <a:solidFill>
              <a:srgbClr val="000000"/>
            </a:solidFill>
            <a:miter lim="800000"/>
            <a:headEnd/>
            <a:tailEnd/>
          </a:ln>
          <a:effectLst>
            <a:outerShdw dist="35921" dir="2700000" algn="ctr" rotWithShape="0">
              <a:schemeClr val="bg2"/>
            </a:outerShdw>
          </a:effectLst>
        </p:spPr>
        <p:txBody>
          <a:bodyPr lIns="0" tIns="0" rIns="0" bIns="0"/>
          <a:lstStyle/>
          <a:p>
            <a:pPr algn="ctr" eaLnBrk="0" hangingPunct="0">
              <a:defRPr/>
            </a:pPr>
            <a:r>
              <a:rPr lang="zh-CN" altLang="en-US" sz="2000" b="1" baseline="0">
                <a:solidFill>
                  <a:schemeClr val="bg1"/>
                </a:solidFill>
                <a:latin typeface="楷体_GB2312" pitchFamily="49" charset="-122"/>
                <a:ea typeface="楷体_GB2312" pitchFamily="49" charset="-122"/>
              </a:rPr>
              <a:t>文件</a:t>
            </a:r>
            <a:r>
              <a:rPr lang="en-US" altLang="zh-CN" sz="2000" b="1" baseline="0">
                <a:solidFill>
                  <a:schemeClr val="bg1"/>
                </a:solidFill>
                <a:latin typeface="楷体_GB2312" pitchFamily="49" charset="-122"/>
                <a:ea typeface="楷体_GB2312" pitchFamily="49" charset="-122"/>
              </a:rPr>
              <a:t>n</a:t>
            </a:r>
          </a:p>
        </p:txBody>
      </p:sp>
      <p:sp>
        <p:nvSpPr>
          <p:cNvPr id="653336" name="Rectangle 24"/>
          <p:cNvSpPr>
            <a:spLocks noChangeArrowheads="1"/>
          </p:cNvSpPr>
          <p:nvPr/>
        </p:nvSpPr>
        <p:spPr bwMode="auto">
          <a:xfrm>
            <a:off x="4408488" y="6113611"/>
            <a:ext cx="1422400" cy="339725"/>
          </a:xfrm>
          <a:prstGeom prst="rect">
            <a:avLst/>
          </a:prstGeom>
          <a:solidFill>
            <a:srgbClr val="66FFCC"/>
          </a:solidFill>
          <a:ln w="9525">
            <a:solidFill>
              <a:srgbClr val="000000"/>
            </a:solidFill>
            <a:miter lim="800000"/>
            <a:headEnd/>
            <a:tailEnd/>
          </a:ln>
          <a:effectLst>
            <a:outerShdw dist="35921" dir="2700000" algn="ctr" rotWithShape="0">
              <a:schemeClr val="bg2"/>
            </a:outerShdw>
          </a:effectLst>
        </p:spPr>
        <p:txBody>
          <a:bodyPr lIns="0" tIns="0" rIns="0" bIns="0"/>
          <a:lstStyle/>
          <a:p>
            <a:pPr algn="ctr" eaLnBrk="0" hangingPunct="0">
              <a:defRPr/>
            </a:pPr>
            <a:r>
              <a:rPr lang="zh-CN" altLang="en-US" sz="2000" b="1" baseline="0">
                <a:solidFill>
                  <a:schemeClr val="bg1"/>
                </a:solidFill>
                <a:latin typeface="楷体_GB2312" pitchFamily="49" charset="-122"/>
                <a:ea typeface="楷体_GB2312" pitchFamily="49" charset="-122"/>
              </a:rPr>
              <a:t>应用程序</a:t>
            </a:r>
            <a:r>
              <a:rPr lang="en-US" altLang="zh-CN" sz="2000" b="1" baseline="0">
                <a:solidFill>
                  <a:schemeClr val="bg1"/>
                </a:solidFill>
                <a:latin typeface="楷体_GB2312" pitchFamily="49" charset="-122"/>
                <a:ea typeface="楷体_GB2312" pitchFamily="49" charset="-122"/>
              </a:rPr>
              <a:t>n</a:t>
            </a:r>
          </a:p>
        </p:txBody>
      </p:sp>
      <p:sp>
        <p:nvSpPr>
          <p:cNvPr id="653337" name="Rectangle 25"/>
          <p:cNvSpPr>
            <a:spLocks noChangeArrowheads="1"/>
          </p:cNvSpPr>
          <p:nvPr/>
        </p:nvSpPr>
        <p:spPr bwMode="auto">
          <a:xfrm>
            <a:off x="1868488" y="5377011"/>
            <a:ext cx="1422400" cy="339725"/>
          </a:xfrm>
          <a:prstGeom prst="rect">
            <a:avLst/>
          </a:prstGeom>
          <a:solidFill>
            <a:srgbClr val="66FFCC"/>
          </a:solidFill>
          <a:ln w="9525">
            <a:solidFill>
              <a:srgbClr val="000000"/>
            </a:solidFill>
            <a:miter lim="800000"/>
            <a:headEnd/>
            <a:tailEnd/>
          </a:ln>
          <a:effectLst>
            <a:outerShdw dist="35921" dir="2700000" algn="ctr" rotWithShape="0">
              <a:schemeClr val="bg2"/>
            </a:outerShdw>
          </a:effectLst>
        </p:spPr>
        <p:txBody>
          <a:bodyPr lIns="0" tIns="0" rIns="0" bIns="0"/>
          <a:lstStyle/>
          <a:p>
            <a:pPr algn="ctr" eaLnBrk="0" hangingPunct="0">
              <a:defRPr/>
            </a:pPr>
            <a:r>
              <a:rPr lang="zh-CN" altLang="en-US" sz="2000" b="1" baseline="0">
                <a:solidFill>
                  <a:schemeClr val="bg1"/>
                </a:solidFill>
                <a:latin typeface="楷体_GB2312" pitchFamily="49" charset="-122"/>
                <a:ea typeface="楷体_GB2312" pitchFamily="49" charset="-122"/>
              </a:rPr>
              <a:t>程序</a:t>
            </a:r>
          </a:p>
        </p:txBody>
      </p:sp>
      <p:sp>
        <p:nvSpPr>
          <p:cNvPr id="653338" name="AutoShape 26"/>
          <p:cNvSpPr>
            <a:spLocks noChangeArrowheads="1"/>
          </p:cNvSpPr>
          <p:nvPr/>
        </p:nvSpPr>
        <p:spPr bwMode="auto">
          <a:xfrm>
            <a:off x="2027238" y="4762649"/>
            <a:ext cx="1104900" cy="304800"/>
          </a:xfrm>
          <a:prstGeom prst="foldedCorner">
            <a:avLst>
              <a:gd name="adj" fmla="val 12500"/>
            </a:avLst>
          </a:prstGeom>
          <a:solidFill>
            <a:schemeClr val="hlink"/>
          </a:solidFill>
          <a:ln w="12700" cap="sq">
            <a:solidFill>
              <a:schemeClr val="tx1"/>
            </a:solidFill>
            <a:round/>
            <a:headEnd type="none" w="sm" len="sm"/>
            <a:tailEnd type="none" w="sm" len="sm"/>
          </a:ln>
          <a:effectLst>
            <a:outerShdw dist="35921" dir="2700000" algn="ctr" rotWithShape="0">
              <a:schemeClr val="bg2"/>
            </a:outerShdw>
          </a:effectLst>
        </p:spPr>
        <p:txBody>
          <a:bodyPr wrap="none" anchor="ctr"/>
          <a:lstStyle/>
          <a:p>
            <a:pPr algn="ctr">
              <a:defRPr/>
            </a:pPr>
            <a:r>
              <a:rPr kumimoji="1" lang="zh-CN" altLang="en-US" sz="2000" b="1" baseline="0">
                <a:solidFill>
                  <a:schemeClr val="bg1"/>
                </a:solidFill>
                <a:latin typeface="Times New Roman" pitchFamily="18" charset="0"/>
                <a:ea typeface="楷体_GB2312" pitchFamily="49" charset="-122"/>
              </a:rPr>
              <a:t>输入数据</a:t>
            </a:r>
          </a:p>
        </p:txBody>
      </p:sp>
      <p:sp>
        <p:nvSpPr>
          <p:cNvPr id="653339" name="AutoShape 27"/>
          <p:cNvSpPr>
            <a:spLocks noChangeArrowheads="1"/>
          </p:cNvSpPr>
          <p:nvPr/>
        </p:nvSpPr>
        <p:spPr bwMode="auto">
          <a:xfrm>
            <a:off x="2027238" y="6042174"/>
            <a:ext cx="1104900" cy="304800"/>
          </a:xfrm>
          <a:prstGeom prst="foldedCorner">
            <a:avLst>
              <a:gd name="adj" fmla="val 12500"/>
            </a:avLst>
          </a:prstGeom>
          <a:solidFill>
            <a:schemeClr val="hlink"/>
          </a:solidFill>
          <a:ln w="12700" cap="sq">
            <a:solidFill>
              <a:schemeClr val="tx1"/>
            </a:solidFill>
            <a:round/>
            <a:headEnd type="none" w="sm" len="sm"/>
            <a:tailEnd type="none" w="sm" len="sm"/>
          </a:ln>
          <a:effectLst>
            <a:outerShdw dist="35921" dir="2700000" algn="ctr" rotWithShape="0">
              <a:schemeClr val="bg2"/>
            </a:outerShdw>
          </a:effectLst>
        </p:spPr>
        <p:txBody>
          <a:bodyPr wrap="none" anchor="ctr"/>
          <a:lstStyle/>
          <a:p>
            <a:pPr algn="ctr">
              <a:defRPr/>
            </a:pPr>
            <a:r>
              <a:rPr kumimoji="1" lang="zh-CN" altLang="en-US" sz="2000" b="1" baseline="0">
                <a:solidFill>
                  <a:schemeClr val="bg1"/>
                </a:solidFill>
                <a:latin typeface="Times New Roman" pitchFamily="18" charset="0"/>
                <a:ea typeface="楷体_GB2312" pitchFamily="49" charset="-122"/>
              </a:rPr>
              <a:t>输出数据</a:t>
            </a:r>
          </a:p>
        </p:txBody>
      </p:sp>
      <p:sp>
        <p:nvSpPr>
          <p:cNvPr id="653340" name="AutoShape 28"/>
          <p:cNvSpPr>
            <a:spLocks noChangeArrowheads="1"/>
          </p:cNvSpPr>
          <p:nvPr/>
        </p:nvSpPr>
        <p:spPr bwMode="auto">
          <a:xfrm>
            <a:off x="395288" y="5211911"/>
            <a:ext cx="722312" cy="668338"/>
          </a:xfrm>
          <a:prstGeom prst="foldedCorner">
            <a:avLst>
              <a:gd name="adj" fmla="val 12500"/>
            </a:avLst>
          </a:prstGeom>
          <a:solidFill>
            <a:schemeClr val="accent1"/>
          </a:solidFill>
          <a:ln w="12700" cap="sq">
            <a:solidFill>
              <a:schemeClr val="tx1"/>
            </a:solidFill>
            <a:round/>
            <a:headEnd type="none" w="sm" len="sm"/>
            <a:tailEnd type="none" w="sm" len="sm"/>
          </a:ln>
          <a:effectLst>
            <a:outerShdw dist="35921" dir="2700000" algn="ctr" rotWithShape="0">
              <a:schemeClr val="bg2"/>
            </a:outerShdw>
          </a:effectLst>
        </p:spPr>
        <p:txBody>
          <a:bodyPr anchor="ctr"/>
          <a:lstStyle/>
          <a:p>
            <a:pPr algn="ctr">
              <a:defRPr/>
            </a:pPr>
            <a:r>
              <a:rPr kumimoji="1" lang="zh-CN" altLang="en-US" sz="2000" b="1" baseline="0">
                <a:solidFill>
                  <a:schemeClr val="bg1"/>
                </a:solidFill>
                <a:latin typeface="Times New Roman" pitchFamily="18" charset="0"/>
                <a:ea typeface="楷体_GB2312" pitchFamily="49" charset="-122"/>
              </a:rPr>
              <a:t>数据文件</a:t>
            </a:r>
          </a:p>
        </p:txBody>
      </p:sp>
      <p:sp>
        <p:nvSpPr>
          <p:cNvPr id="653341" name="Rectangle 29"/>
          <p:cNvSpPr>
            <a:spLocks noChangeArrowheads="1"/>
          </p:cNvSpPr>
          <p:nvPr/>
        </p:nvSpPr>
        <p:spPr bwMode="auto">
          <a:xfrm>
            <a:off x="4405313" y="1036820"/>
            <a:ext cx="4500562" cy="3256276"/>
          </a:xfrm>
          <a:prstGeom prst="rect">
            <a:avLst/>
          </a:prstGeom>
          <a:noFill/>
          <a:ln w="9525">
            <a:noFill/>
            <a:miter lim="800000"/>
            <a:headEnd/>
            <a:tailEnd/>
          </a:ln>
          <a:effectLst/>
        </p:spPr>
        <p:txBody>
          <a:bodyPr>
            <a:spAutoFit/>
          </a:bodyPr>
          <a:lstStyle/>
          <a:p>
            <a:pPr marL="342900" indent="-342900">
              <a:spcAft>
                <a:spcPct val="10000"/>
              </a:spcAft>
              <a:buClr>
                <a:srgbClr val="66FF33"/>
              </a:buClr>
              <a:buSzPct val="85000"/>
              <a:buFont typeface="Wingdings" pitchFamily="2" charset="2"/>
              <a:buBlip>
                <a:blip r:embed="rId4"/>
              </a:buBlip>
              <a:defRPr/>
            </a:pPr>
            <a:r>
              <a:rPr lang="zh-CN" altLang="en-US" sz="2800" baseline="0" dirty="0">
                <a:solidFill>
                  <a:srgbClr val="CCFFCC"/>
                </a:solidFill>
                <a:effectLst>
                  <a:outerShdw blurRad="38100" dist="38100" dir="2700000" algn="tl">
                    <a:srgbClr val="000000"/>
                  </a:outerShdw>
                </a:effectLst>
                <a:latin typeface="微软雅黑" pitchFamily="34" charset="-122"/>
                <a:ea typeface="微软雅黑" pitchFamily="34" charset="-122"/>
              </a:rPr>
              <a:t>特点</a:t>
            </a:r>
          </a:p>
          <a:p>
            <a:pPr marL="342900" indent="-342900">
              <a:spcAft>
                <a:spcPct val="10000"/>
              </a:spcAft>
              <a:buClr>
                <a:srgbClr val="66FF33"/>
              </a:buClr>
              <a:buSzPct val="85000"/>
              <a:buFont typeface="Wingdings" pitchFamily="2" charset="2"/>
              <a:buNone/>
              <a:defRPr/>
            </a:pPr>
            <a:r>
              <a:rPr lang="zh-CN" altLang="en-US" sz="2800" baseline="0" dirty="0">
                <a:solidFill>
                  <a:srgbClr val="CCFFCC"/>
                </a:solidFill>
                <a:effectLst>
                  <a:outerShdw blurRad="38100" dist="38100" dir="2700000" algn="tl">
                    <a:srgbClr val="000000"/>
                  </a:outerShdw>
                </a:effectLst>
                <a:latin typeface="微软雅黑" pitchFamily="34" charset="-122"/>
                <a:ea typeface="微软雅黑" pitchFamily="34" charset="-122"/>
              </a:rPr>
              <a:t>	</a:t>
            </a:r>
            <a:r>
              <a:rPr lang="zh-CN" altLang="en-US" sz="2800" baseline="0" dirty="0">
                <a:solidFill>
                  <a:srgbClr val="FFFF00"/>
                </a:solidFill>
                <a:effectLst>
                  <a:outerShdw blurRad="38100" dist="38100" dir="2700000" algn="tl">
                    <a:srgbClr val="000000"/>
                  </a:outerShdw>
                </a:effectLst>
                <a:latin typeface="微软雅黑" pitchFamily="34" charset="-122"/>
                <a:ea typeface="微软雅黑" pitchFamily="34" charset="-122"/>
              </a:rPr>
              <a:t>数据和程序物理分离</a:t>
            </a:r>
          </a:p>
          <a:p>
            <a:pPr marL="695325" lvl="1" indent="-238125">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数据可存储在数据文件中</a:t>
            </a:r>
          </a:p>
          <a:p>
            <a:pPr marL="695325" lvl="1" indent="-238125">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文件系统管理数据</a:t>
            </a:r>
          </a:p>
          <a:p>
            <a:pPr marL="695325" lvl="1" indent="-238125">
              <a:buClr>
                <a:schemeClr val="accent2"/>
              </a:buClr>
              <a:buSzPct val="50000"/>
              <a:buFont typeface="Wingdings" pitchFamily="2" charset="2"/>
              <a:buChar char="n"/>
              <a:defRPr/>
            </a:pPr>
            <a:r>
              <a:rPr lang="zh-CN" altLang="en-US" sz="2400" baseline="0" dirty="0" smtClean="0">
                <a:solidFill>
                  <a:srgbClr val="CCFFCC"/>
                </a:solidFill>
                <a:effectLst>
                  <a:outerShdw blurRad="38100" dist="38100" dir="2700000" algn="tl">
                    <a:srgbClr val="000000"/>
                  </a:outerShdw>
                </a:effectLst>
                <a:latin typeface="微软雅黑" pitchFamily="34" charset="-122"/>
                <a:ea typeface="微软雅黑" pitchFamily="34" charset="-122"/>
              </a:rPr>
              <a:t>文件</a:t>
            </a: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的多样化和结构化</a:t>
            </a:r>
          </a:p>
          <a:p>
            <a:pPr marL="695325" lvl="1" indent="-238125">
              <a:buClr>
                <a:schemeClr val="accent2"/>
              </a:buClr>
              <a:buSzPct val="50000"/>
              <a:buFont typeface="Wingdings" pitchFamily="2" charset="2"/>
              <a:buChar char="n"/>
              <a:defRPr/>
            </a:pPr>
            <a:r>
              <a:rPr lang="zh-CN" altLang="en-US" sz="2400" baseline="0" dirty="0" smtClean="0">
                <a:solidFill>
                  <a:srgbClr val="CCFFCC"/>
                </a:solidFill>
                <a:effectLst>
                  <a:outerShdw blurRad="38100" dist="38100" dir="2700000" algn="tl">
                    <a:srgbClr val="000000"/>
                  </a:outerShdw>
                </a:effectLst>
                <a:latin typeface="微软雅黑" pitchFamily="34" charset="-122"/>
                <a:ea typeface="微软雅黑" pitchFamily="34" charset="-122"/>
              </a:rPr>
              <a:t>数据共享</a:t>
            </a: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性差，冗余大</a:t>
            </a:r>
          </a:p>
          <a:p>
            <a:pPr marL="695325" lvl="1" indent="-238125">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数据有一定的独立性</a:t>
            </a:r>
          </a:p>
          <a:p>
            <a:pPr marL="695325" lvl="1" indent="-238125">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数据联系弱</a:t>
            </a:r>
          </a:p>
        </p:txBody>
      </p:sp>
      <p:sp>
        <p:nvSpPr>
          <p:cNvPr id="31" name="Text Box 22"/>
          <p:cNvSpPr txBox="1">
            <a:spLocks noChangeArrowheads="1"/>
          </p:cNvSpPr>
          <p:nvPr/>
        </p:nvSpPr>
        <p:spPr bwMode="auto">
          <a:xfrm>
            <a:off x="179388" y="44624"/>
            <a:ext cx="6300938" cy="760959"/>
          </a:xfrm>
          <a:prstGeom prst="rect">
            <a:avLst/>
          </a:prstGeom>
          <a:noFill/>
          <a:ln w="12700" cap="sq">
            <a:noFill/>
            <a:miter lim="800000"/>
            <a:headEnd/>
            <a:tailEnd/>
          </a:ln>
          <a:effectLst>
            <a:outerShdw dist="35921" dir="2700000" algn="ctr" rotWithShape="0">
              <a:schemeClr val="bg2"/>
            </a:outerShdw>
          </a:effectLst>
        </p:spPr>
        <p:txBody>
          <a:bodyPr wrap="none" lIns="72000" tIns="72000" rIns="72000" bIns="72000">
            <a:spAutoFit/>
          </a:bodyPr>
          <a:lstStyle>
            <a:defPPr>
              <a:defRPr lang="en-US"/>
            </a:defPPr>
            <a:lvl1pPr>
              <a:defRPr sz="4000" b="1" baseline="0">
                <a:solidFill>
                  <a:schemeClr val="folHlink"/>
                </a:solidFill>
                <a:effectLst>
                  <a:outerShdw blurRad="38100" dist="38100" dir="2700000" algn="tl">
                    <a:srgbClr val="000000"/>
                  </a:outerShdw>
                </a:effectLst>
                <a:latin typeface="微软雅黑" pitchFamily="34" charset="-122"/>
                <a:ea typeface="微软雅黑" pitchFamily="34" charset="-122"/>
              </a:defRPr>
            </a:lvl1pPr>
          </a:lstStyle>
          <a:p>
            <a:r>
              <a:rPr lang="zh-CN" altLang="en-US" dirty="0" smtClean="0"/>
              <a:t>数据管理技术</a:t>
            </a:r>
            <a:r>
              <a:rPr lang="zh-CN" altLang="en-US" dirty="0"/>
              <a:t>的</a:t>
            </a:r>
            <a:r>
              <a:rPr lang="zh-CN" altLang="en-US" dirty="0" smtClean="0"/>
              <a:t>产生和发展</a:t>
            </a:r>
            <a:endParaRPr lang="zh-CN" altLang="en-US" dirty="0"/>
          </a:p>
        </p:txBody>
      </p:sp>
    </p:spTree>
    <p:extLst>
      <p:ext uri="{BB962C8B-B14F-4D97-AF65-F5344CB8AC3E}">
        <p14:creationId xmlns:p14="http://schemas.microsoft.com/office/powerpoint/2010/main" val="4184403701"/>
      </p:ext>
    </p:extLst>
  </p:cSld>
  <p:clrMapOvr>
    <a:masterClrMapping/>
  </p:clrMapOvr>
  <mc:AlternateContent xmlns:mc="http://schemas.openxmlformats.org/markup-compatibility/2006" xmlns:p14="http://schemas.microsoft.com/office/powerpoint/2010/main">
    <mc:Choice Requires="p14">
      <p:transition spd="med" p14:dur="700">
        <p:fade/>
        <p:sndAc>
          <p:stSnd>
            <p:snd r:embed="rId3" name="camera.wav"/>
          </p:stSnd>
        </p:sndAc>
      </p:transition>
    </mc:Choice>
    <mc:Fallback xmlns="">
      <p:transition spd="med">
        <p:fade/>
        <p:sndAc>
          <p:stSnd>
            <p:snd r:embed="rId5" name="camera.wav"/>
          </p:stSnd>
        </p:sndAc>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Rectangle 2"/>
          <p:cNvSpPr>
            <a:spLocks noGrp="1" noChangeArrowheads="1"/>
          </p:cNvSpPr>
          <p:nvPr>
            <p:ph type="title"/>
          </p:nvPr>
        </p:nvSpPr>
        <p:spPr>
          <a:xfrm>
            <a:off x="166688" y="910461"/>
            <a:ext cx="3964547" cy="646331"/>
          </a:xfrm>
        </p:spPr>
        <p:txBody>
          <a:bodyPr/>
          <a:lstStyle/>
          <a:p>
            <a:pPr eaLnBrk="1" hangingPunct="1">
              <a:buFont typeface="Wingdings" pitchFamily="2" charset="2"/>
              <a:buChar char="¯"/>
              <a:defRPr/>
            </a:pPr>
            <a:r>
              <a:rPr lang="zh-CN" altLang="en-US" dirty="0" smtClean="0"/>
              <a:t> 数据库系统阶段</a:t>
            </a:r>
            <a:endParaRPr lang="en-US" altLang="zh-CN" dirty="0" smtClean="0"/>
          </a:p>
        </p:txBody>
      </p:sp>
      <p:sp>
        <p:nvSpPr>
          <p:cNvPr id="654339" name="Rectangle 3"/>
          <p:cNvSpPr>
            <a:spLocks noGrp="1" noChangeArrowheads="1"/>
          </p:cNvSpPr>
          <p:nvPr>
            <p:ph idx="1"/>
          </p:nvPr>
        </p:nvSpPr>
        <p:spPr>
          <a:xfrm>
            <a:off x="4211638" y="1628800"/>
            <a:ext cx="4537075" cy="693737"/>
          </a:xfrm>
        </p:spPr>
        <p:txBody>
          <a:bodyPr/>
          <a:lstStyle/>
          <a:p>
            <a:pPr eaLnBrk="1" hangingPunct="1">
              <a:spcAft>
                <a:spcPct val="15000"/>
              </a:spcAft>
              <a:defRPr/>
            </a:pPr>
            <a:r>
              <a:rPr lang="zh-CN" altLang="en-US" sz="2800" smtClean="0"/>
              <a:t>特点</a:t>
            </a:r>
            <a:endParaRPr lang="zh-CN" altLang="en-US" sz="2400" smtClean="0">
              <a:solidFill>
                <a:srgbClr val="FFFF00"/>
              </a:solidFill>
            </a:endParaRPr>
          </a:p>
          <a:p>
            <a:pPr marL="695325" lvl="1" indent="-238125" eaLnBrk="1" hangingPunct="1">
              <a:spcAft>
                <a:spcPct val="15000"/>
              </a:spcAft>
              <a:defRPr/>
            </a:pPr>
            <a:r>
              <a:rPr lang="zh-CN" altLang="en-US" sz="2400" smtClean="0"/>
              <a:t>数据的</a:t>
            </a:r>
            <a:r>
              <a:rPr lang="zh-CN" altLang="en-US" sz="2400" smtClean="0">
                <a:solidFill>
                  <a:srgbClr val="FFFF00"/>
                </a:solidFill>
              </a:rPr>
              <a:t>整体结构化</a:t>
            </a:r>
          </a:p>
          <a:p>
            <a:pPr marL="695325" lvl="1" indent="-238125" eaLnBrk="1" hangingPunct="1">
              <a:spcAft>
                <a:spcPct val="15000"/>
              </a:spcAft>
              <a:defRPr/>
            </a:pPr>
            <a:r>
              <a:rPr lang="zh-CN" altLang="en-US" sz="2400" smtClean="0"/>
              <a:t>数据的独立性高</a:t>
            </a:r>
          </a:p>
          <a:p>
            <a:pPr marL="695325" lvl="1" indent="-238125" eaLnBrk="1" hangingPunct="1">
              <a:spcAft>
                <a:spcPct val="15000"/>
              </a:spcAft>
              <a:defRPr/>
            </a:pPr>
            <a:r>
              <a:rPr lang="zh-CN" altLang="en-US" sz="2400" smtClean="0"/>
              <a:t>数据共享性高，冗余小</a:t>
            </a:r>
          </a:p>
          <a:p>
            <a:pPr marL="695325" lvl="1" indent="-238125" eaLnBrk="1" hangingPunct="1">
              <a:spcAft>
                <a:spcPct val="15000"/>
              </a:spcAft>
              <a:defRPr/>
            </a:pPr>
            <a:r>
              <a:rPr lang="zh-CN" altLang="en-US" sz="2400" smtClean="0"/>
              <a:t>完整的控制能力</a:t>
            </a:r>
          </a:p>
        </p:txBody>
      </p:sp>
      <p:sp>
        <p:nvSpPr>
          <p:cNvPr id="654340" name="Rectangle 4"/>
          <p:cNvSpPr>
            <a:spLocks noChangeArrowheads="1"/>
          </p:cNvSpPr>
          <p:nvPr/>
        </p:nvSpPr>
        <p:spPr bwMode="auto">
          <a:xfrm>
            <a:off x="190500" y="1628800"/>
            <a:ext cx="4249738" cy="1008062"/>
          </a:xfrm>
          <a:prstGeom prst="rect">
            <a:avLst/>
          </a:prstGeom>
          <a:noFill/>
          <a:ln w="9525">
            <a:noFill/>
            <a:miter lim="800000"/>
            <a:headEnd/>
            <a:tailEnd/>
          </a:ln>
          <a:effectLst/>
        </p:spPr>
        <p:txBody>
          <a:bodyPr/>
          <a:lstStyle/>
          <a:p>
            <a:pPr marL="271463" indent="-271463">
              <a:spcAft>
                <a:spcPct val="15000"/>
              </a:spcAft>
              <a:buClr>
                <a:srgbClr val="66FF33"/>
              </a:buClr>
              <a:buSzPct val="85000"/>
              <a:buFont typeface="Wingdings" pitchFamily="2" charset="2"/>
              <a:buBlip>
                <a:blip r:embed="rId3"/>
              </a:buBlip>
              <a:defRPr/>
            </a:pPr>
            <a:r>
              <a:rPr lang="zh-CN" altLang="en-US" sz="2800" baseline="0" dirty="0">
                <a:solidFill>
                  <a:srgbClr val="CCFFCC"/>
                </a:solidFill>
                <a:effectLst>
                  <a:outerShdw blurRad="38100" dist="38100" dir="2700000" algn="tl">
                    <a:srgbClr val="000000"/>
                  </a:outerShdw>
                </a:effectLst>
                <a:latin typeface="微软雅黑" pitchFamily="34" charset="-122"/>
                <a:ea typeface="微软雅黑" pitchFamily="34" charset="-122"/>
              </a:rPr>
              <a:t>背景</a:t>
            </a:r>
            <a:endPar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endParaRPr>
          </a:p>
          <a:p>
            <a:pPr marL="630238" lvl="1" indent="-179388">
              <a:spcAft>
                <a:spcPct val="15000"/>
              </a:spcAft>
              <a:buClr>
                <a:schemeClr val="accent2"/>
              </a:buClr>
              <a:buSzPct val="50000"/>
              <a:buFont typeface="Wingdings" pitchFamily="2" charset="2"/>
              <a:buChar char="n"/>
              <a:defRPr/>
            </a:pPr>
            <a:r>
              <a:rPr lang="en-US" altLang="zh-CN"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60</a:t>
            </a: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年代后期至今</a:t>
            </a:r>
          </a:p>
          <a:p>
            <a:pPr marL="630238" lvl="1" indent="-179388">
              <a:spcAft>
                <a:spcPct val="15000"/>
              </a:spcAft>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计算机用于信息处理</a:t>
            </a:r>
          </a:p>
          <a:p>
            <a:pPr marL="630238" lvl="1" indent="-179388">
              <a:spcAft>
                <a:spcPct val="15000"/>
              </a:spcAft>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大容量高速存取设备</a:t>
            </a:r>
          </a:p>
          <a:p>
            <a:pPr marL="630238" lvl="1" indent="-179388">
              <a:spcAft>
                <a:spcPct val="15000"/>
              </a:spcAft>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有专门的数据库管理系统</a:t>
            </a:r>
          </a:p>
        </p:txBody>
      </p:sp>
      <p:sp>
        <p:nvSpPr>
          <p:cNvPr id="654341" name="Rectangle 5"/>
          <p:cNvSpPr>
            <a:spLocks noChangeArrowheads="1"/>
          </p:cNvSpPr>
          <p:nvPr/>
        </p:nvSpPr>
        <p:spPr bwMode="auto">
          <a:xfrm>
            <a:off x="742950" y="4343425"/>
            <a:ext cx="1422400" cy="339725"/>
          </a:xfrm>
          <a:prstGeom prst="rect">
            <a:avLst/>
          </a:prstGeom>
          <a:solidFill>
            <a:srgbClr val="66FFCC"/>
          </a:solidFill>
          <a:ln w="9525">
            <a:solidFill>
              <a:srgbClr val="000000"/>
            </a:solidFill>
            <a:miter lim="800000"/>
            <a:headEnd/>
            <a:tailEnd/>
          </a:ln>
          <a:effectLst>
            <a:outerShdw dist="35921" dir="2700000" algn="ctr" rotWithShape="0">
              <a:schemeClr val="bg2"/>
            </a:outerShdw>
          </a:effectLst>
        </p:spPr>
        <p:txBody>
          <a:bodyPr lIns="0" tIns="0" rIns="0" bIns="0"/>
          <a:lstStyle/>
          <a:p>
            <a:pPr algn="ctr" eaLnBrk="0" hangingPunct="0">
              <a:defRPr/>
            </a:pPr>
            <a:r>
              <a:rPr lang="zh-CN" altLang="en-US" sz="2000" b="1" baseline="0">
                <a:solidFill>
                  <a:schemeClr val="bg1"/>
                </a:solidFill>
                <a:latin typeface="楷体_GB2312" pitchFamily="49" charset="-122"/>
                <a:ea typeface="楷体_GB2312" pitchFamily="49" charset="-122"/>
              </a:rPr>
              <a:t>应用程序1</a:t>
            </a:r>
          </a:p>
        </p:txBody>
      </p:sp>
      <p:sp>
        <p:nvSpPr>
          <p:cNvPr id="654342" name="Rectangle 6"/>
          <p:cNvSpPr>
            <a:spLocks noChangeArrowheads="1"/>
          </p:cNvSpPr>
          <p:nvPr/>
        </p:nvSpPr>
        <p:spPr bwMode="auto">
          <a:xfrm>
            <a:off x="742950" y="4910162"/>
            <a:ext cx="1422400" cy="338138"/>
          </a:xfrm>
          <a:prstGeom prst="rect">
            <a:avLst/>
          </a:prstGeom>
          <a:solidFill>
            <a:srgbClr val="66FFCC"/>
          </a:solidFill>
          <a:ln w="9525">
            <a:solidFill>
              <a:srgbClr val="000000"/>
            </a:solidFill>
            <a:miter lim="800000"/>
            <a:headEnd/>
            <a:tailEnd/>
          </a:ln>
          <a:effectLst>
            <a:outerShdw dist="35921" dir="2700000" algn="ctr" rotWithShape="0">
              <a:schemeClr val="bg2"/>
            </a:outerShdw>
          </a:effectLst>
        </p:spPr>
        <p:txBody>
          <a:bodyPr lIns="0" tIns="0" rIns="0" bIns="0"/>
          <a:lstStyle/>
          <a:p>
            <a:pPr algn="ctr" eaLnBrk="0" hangingPunct="0">
              <a:defRPr/>
            </a:pPr>
            <a:r>
              <a:rPr lang="zh-CN" altLang="en-US" sz="2000" b="1" baseline="0">
                <a:solidFill>
                  <a:schemeClr val="bg1"/>
                </a:solidFill>
                <a:latin typeface="楷体_GB2312" pitchFamily="49" charset="-122"/>
                <a:ea typeface="楷体_GB2312" pitchFamily="49" charset="-122"/>
              </a:rPr>
              <a:t>应用程序2</a:t>
            </a:r>
          </a:p>
        </p:txBody>
      </p:sp>
      <p:sp>
        <p:nvSpPr>
          <p:cNvPr id="654343" name="Rectangle 7"/>
          <p:cNvSpPr>
            <a:spLocks noChangeArrowheads="1"/>
          </p:cNvSpPr>
          <p:nvPr/>
        </p:nvSpPr>
        <p:spPr bwMode="auto">
          <a:xfrm>
            <a:off x="742950" y="5829325"/>
            <a:ext cx="1422400" cy="339725"/>
          </a:xfrm>
          <a:prstGeom prst="rect">
            <a:avLst/>
          </a:prstGeom>
          <a:solidFill>
            <a:srgbClr val="66FFCC"/>
          </a:solidFill>
          <a:ln w="9525">
            <a:solidFill>
              <a:srgbClr val="000000"/>
            </a:solidFill>
            <a:miter lim="800000"/>
            <a:headEnd/>
            <a:tailEnd/>
          </a:ln>
          <a:effectLst>
            <a:outerShdw dist="35921" dir="2700000" algn="ctr" rotWithShape="0">
              <a:schemeClr val="bg2"/>
            </a:outerShdw>
          </a:effectLst>
        </p:spPr>
        <p:txBody>
          <a:bodyPr lIns="0" tIns="0" rIns="0" bIns="0"/>
          <a:lstStyle/>
          <a:p>
            <a:pPr algn="ctr" eaLnBrk="0" hangingPunct="0">
              <a:defRPr/>
            </a:pPr>
            <a:r>
              <a:rPr lang="zh-CN" altLang="en-US" sz="2000" b="1" baseline="0">
                <a:solidFill>
                  <a:schemeClr val="bg1"/>
                </a:solidFill>
                <a:latin typeface="楷体_GB2312" pitchFamily="49" charset="-122"/>
                <a:ea typeface="楷体_GB2312" pitchFamily="49" charset="-122"/>
              </a:rPr>
              <a:t>应用程序</a:t>
            </a:r>
            <a:r>
              <a:rPr lang="en-US" altLang="zh-CN" sz="2000" b="1" baseline="0">
                <a:solidFill>
                  <a:schemeClr val="bg1"/>
                </a:solidFill>
                <a:latin typeface="楷体_GB2312" pitchFamily="49" charset="-122"/>
                <a:ea typeface="楷体_GB2312" pitchFamily="49" charset="-122"/>
              </a:rPr>
              <a:t>n</a:t>
            </a:r>
          </a:p>
        </p:txBody>
      </p:sp>
      <p:sp>
        <p:nvSpPr>
          <p:cNvPr id="14344" name="Text Box 8"/>
          <p:cNvSpPr txBox="1">
            <a:spLocks noChangeArrowheads="1"/>
          </p:cNvSpPr>
          <p:nvPr/>
        </p:nvSpPr>
        <p:spPr bwMode="auto">
          <a:xfrm>
            <a:off x="1225550" y="5334025"/>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1200" baseline="-25000">
                <a:solidFill>
                  <a:schemeClr val="tx1"/>
                </a:solidFill>
                <a:latin typeface="Garamond" pitchFamily="18" charset="0"/>
                <a:ea typeface="宋体" pitchFamily="2" charset="-122"/>
              </a:defRPr>
            </a:lvl1pPr>
            <a:lvl2pPr marL="742950" indent="-285750" eaLnBrk="0" hangingPunct="0">
              <a:defRPr sz="1200" baseline="-25000">
                <a:solidFill>
                  <a:schemeClr val="tx1"/>
                </a:solidFill>
                <a:latin typeface="Garamond" pitchFamily="18" charset="0"/>
                <a:ea typeface="宋体" pitchFamily="2" charset="-122"/>
              </a:defRPr>
            </a:lvl2pPr>
            <a:lvl3pPr marL="1143000" indent="-228600" eaLnBrk="0" hangingPunct="0">
              <a:defRPr sz="1200" baseline="-25000">
                <a:solidFill>
                  <a:schemeClr val="tx1"/>
                </a:solidFill>
                <a:latin typeface="Garamond" pitchFamily="18" charset="0"/>
                <a:ea typeface="宋体" pitchFamily="2" charset="-122"/>
              </a:defRPr>
            </a:lvl3pPr>
            <a:lvl4pPr marL="1600200" indent="-228600" eaLnBrk="0" hangingPunct="0">
              <a:defRPr sz="1200" baseline="-25000">
                <a:solidFill>
                  <a:schemeClr val="tx1"/>
                </a:solidFill>
                <a:latin typeface="Garamond" pitchFamily="18" charset="0"/>
                <a:ea typeface="宋体" pitchFamily="2" charset="-122"/>
              </a:defRPr>
            </a:lvl4pPr>
            <a:lvl5pPr marL="2057400" indent="-228600" eaLnBrk="0" hangingPunct="0">
              <a:defRPr sz="1200" baseline="-25000">
                <a:solidFill>
                  <a:schemeClr val="tx1"/>
                </a:solidFill>
                <a:latin typeface="Garamond" pitchFamily="18" charset="0"/>
                <a:ea typeface="宋体" pitchFamily="2" charset="-122"/>
              </a:defRPr>
            </a:lvl5pPr>
            <a:lvl6pPr marL="25146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6pPr>
            <a:lvl7pPr marL="29718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7pPr>
            <a:lvl8pPr marL="34290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8pPr>
            <a:lvl9pPr marL="38862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9pPr>
          </a:lstStyle>
          <a:p>
            <a:pPr eaLnBrk="1" hangingPunct="1">
              <a:spcBef>
                <a:spcPct val="50000"/>
              </a:spcBef>
            </a:pPr>
            <a:r>
              <a:rPr kumimoji="1" lang="zh-CN" altLang="en-US" sz="2400" b="1" baseline="0">
                <a:solidFill>
                  <a:srgbClr val="CCFFCC"/>
                </a:solidFill>
                <a:latin typeface="Times New Roman" pitchFamily="18" charset="0"/>
              </a:rPr>
              <a:t>┊</a:t>
            </a:r>
          </a:p>
        </p:txBody>
      </p:sp>
      <p:cxnSp>
        <p:nvCxnSpPr>
          <p:cNvPr id="14345" name="AutoShape 9"/>
          <p:cNvCxnSpPr>
            <a:cxnSpLocks noChangeShapeType="1"/>
            <a:stCxn id="654341" idx="3"/>
            <a:endCxn id="654351" idx="2"/>
          </p:cNvCxnSpPr>
          <p:nvPr/>
        </p:nvCxnSpPr>
        <p:spPr bwMode="auto">
          <a:xfrm>
            <a:off x="2165350" y="4513287"/>
            <a:ext cx="1103313" cy="782638"/>
          </a:xfrm>
          <a:prstGeom prst="straightConnector1">
            <a:avLst/>
          </a:prstGeom>
          <a:noFill/>
          <a:ln w="19050" cap="sq">
            <a:solidFill>
              <a:schemeClr val="accent2"/>
            </a:solidFill>
            <a:round/>
            <a:headEnd type="none" w="sm" len="sm"/>
            <a:tailEnd type="none" w="sm" len="sm"/>
          </a:ln>
          <a:extLst>
            <a:ext uri="{909E8E84-426E-40DD-AFC4-6F175D3DCCD1}">
              <a14:hiddenFill xmlns:a14="http://schemas.microsoft.com/office/drawing/2010/main">
                <a:noFill/>
              </a14:hiddenFill>
            </a:ext>
          </a:extLst>
        </p:spPr>
      </p:cxnSp>
      <p:cxnSp>
        <p:nvCxnSpPr>
          <p:cNvPr id="14346" name="AutoShape 10"/>
          <p:cNvCxnSpPr>
            <a:cxnSpLocks noChangeShapeType="1"/>
            <a:stCxn id="654342" idx="3"/>
            <a:endCxn id="654351" idx="2"/>
          </p:cNvCxnSpPr>
          <p:nvPr/>
        </p:nvCxnSpPr>
        <p:spPr bwMode="auto">
          <a:xfrm>
            <a:off x="2165350" y="5080025"/>
            <a:ext cx="1103313" cy="215900"/>
          </a:xfrm>
          <a:prstGeom prst="straightConnector1">
            <a:avLst/>
          </a:prstGeom>
          <a:noFill/>
          <a:ln w="19050" cap="sq">
            <a:solidFill>
              <a:schemeClr val="accent2"/>
            </a:solidFill>
            <a:round/>
            <a:headEnd type="none" w="sm" len="sm"/>
            <a:tailEnd type="none" w="sm" len="sm"/>
          </a:ln>
          <a:extLst>
            <a:ext uri="{909E8E84-426E-40DD-AFC4-6F175D3DCCD1}">
              <a14:hiddenFill xmlns:a14="http://schemas.microsoft.com/office/drawing/2010/main">
                <a:noFill/>
              </a14:hiddenFill>
            </a:ext>
          </a:extLst>
        </p:spPr>
      </p:cxnSp>
      <p:cxnSp>
        <p:nvCxnSpPr>
          <p:cNvPr id="14347" name="AutoShape 11"/>
          <p:cNvCxnSpPr>
            <a:cxnSpLocks noChangeShapeType="1"/>
            <a:stCxn id="654343" idx="3"/>
            <a:endCxn id="654351" idx="2"/>
          </p:cNvCxnSpPr>
          <p:nvPr/>
        </p:nvCxnSpPr>
        <p:spPr bwMode="auto">
          <a:xfrm flipV="1">
            <a:off x="2165350" y="5295925"/>
            <a:ext cx="1103313" cy="703262"/>
          </a:xfrm>
          <a:prstGeom prst="straightConnector1">
            <a:avLst/>
          </a:prstGeom>
          <a:noFill/>
          <a:ln w="19050" cap="sq">
            <a:solidFill>
              <a:schemeClr val="accent2"/>
            </a:solidFill>
            <a:round/>
            <a:headEnd type="none" w="sm" len="sm"/>
            <a:tailEnd type="none" w="sm" len="sm"/>
          </a:ln>
          <a:extLst>
            <a:ext uri="{909E8E84-426E-40DD-AFC4-6F175D3DCCD1}">
              <a14:hiddenFill xmlns:a14="http://schemas.microsoft.com/office/drawing/2010/main">
                <a:noFill/>
              </a14:hiddenFill>
            </a:ext>
          </a:extLst>
        </p:spPr>
      </p:cxnSp>
      <p:sp>
        <p:nvSpPr>
          <p:cNvPr id="654348" name="AutoShape 12"/>
          <p:cNvSpPr>
            <a:spLocks noChangeArrowheads="1"/>
          </p:cNvSpPr>
          <p:nvPr/>
        </p:nvSpPr>
        <p:spPr bwMode="auto">
          <a:xfrm>
            <a:off x="6443663" y="4411687"/>
            <a:ext cx="1847850" cy="1550988"/>
          </a:xfrm>
          <a:prstGeom prst="can">
            <a:avLst>
              <a:gd name="adj" fmla="val 25000"/>
            </a:avLst>
          </a:prstGeom>
          <a:solidFill>
            <a:schemeClr val="accent1"/>
          </a:solidFill>
          <a:ln w="19050" cap="sq">
            <a:solidFill>
              <a:srgbClr val="CCFFCC"/>
            </a:solidFill>
            <a:round/>
            <a:headEnd type="none" w="sm" len="sm"/>
            <a:tailEnd type="none" w="sm" len="sm"/>
          </a:ln>
          <a:effectLst>
            <a:outerShdw dist="35921" dir="2700000" algn="ctr" rotWithShape="0">
              <a:schemeClr val="bg2"/>
            </a:outerShdw>
          </a:effectLst>
        </p:spPr>
        <p:txBody>
          <a:bodyPr wrap="none" anchor="ctr"/>
          <a:lstStyle/>
          <a:p>
            <a:pPr>
              <a:defRPr/>
            </a:pPr>
            <a:endParaRPr lang="zh-CN" altLang="en-US"/>
          </a:p>
        </p:txBody>
      </p:sp>
      <p:sp>
        <p:nvSpPr>
          <p:cNvPr id="14349" name="Text Box 13"/>
          <p:cNvSpPr txBox="1">
            <a:spLocks noChangeArrowheads="1"/>
          </p:cNvSpPr>
          <p:nvPr/>
        </p:nvSpPr>
        <p:spPr bwMode="auto">
          <a:xfrm>
            <a:off x="6783388" y="5054625"/>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1200" baseline="-25000">
                <a:solidFill>
                  <a:schemeClr val="tx1"/>
                </a:solidFill>
                <a:latin typeface="Garamond" pitchFamily="18" charset="0"/>
                <a:ea typeface="宋体" pitchFamily="2" charset="-122"/>
              </a:defRPr>
            </a:lvl1pPr>
            <a:lvl2pPr marL="742950" indent="-285750" eaLnBrk="0" hangingPunct="0">
              <a:defRPr sz="1200" baseline="-25000">
                <a:solidFill>
                  <a:schemeClr val="tx1"/>
                </a:solidFill>
                <a:latin typeface="Garamond" pitchFamily="18" charset="0"/>
                <a:ea typeface="宋体" pitchFamily="2" charset="-122"/>
              </a:defRPr>
            </a:lvl2pPr>
            <a:lvl3pPr marL="1143000" indent="-228600" eaLnBrk="0" hangingPunct="0">
              <a:defRPr sz="1200" baseline="-25000">
                <a:solidFill>
                  <a:schemeClr val="tx1"/>
                </a:solidFill>
                <a:latin typeface="Garamond" pitchFamily="18" charset="0"/>
                <a:ea typeface="宋体" pitchFamily="2" charset="-122"/>
              </a:defRPr>
            </a:lvl3pPr>
            <a:lvl4pPr marL="1600200" indent="-228600" eaLnBrk="0" hangingPunct="0">
              <a:defRPr sz="1200" baseline="-25000">
                <a:solidFill>
                  <a:schemeClr val="tx1"/>
                </a:solidFill>
                <a:latin typeface="Garamond" pitchFamily="18" charset="0"/>
                <a:ea typeface="宋体" pitchFamily="2" charset="-122"/>
              </a:defRPr>
            </a:lvl4pPr>
            <a:lvl5pPr marL="2057400" indent="-228600" eaLnBrk="0" hangingPunct="0">
              <a:defRPr sz="1200" baseline="-25000">
                <a:solidFill>
                  <a:schemeClr val="tx1"/>
                </a:solidFill>
                <a:latin typeface="Garamond" pitchFamily="18" charset="0"/>
                <a:ea typeface="宋体" pitchFamily="2" charset="-122"/>
              </a:defRPr>
            </a:lvl5pPr>
            <a:lvl6pPr marL="25146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6pPr>
            <a:lvl7pPr marL="29718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7pPr>
            <a:lvl8pPr marL="34290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8pPr>
            <a:lvl9pPr marL="38862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9pPr>
          </a:lstStyle>
          <a:p>
            <a:pPr eaLnBrk="1" hangingPunct="1">
              <a:spcBef>
                <a:spcPct val="50000"/>
              </a:spcBef>
            </a:pPr>
            <a:r>
              <a:rPr kumimoji="1" lang="zh-CN" altLang="en-US" sz="2400" b="1" i="1" baseline="0">
                <a:solidFill>
                  <a:schemeClr val="bg1"/>
                </a:solidFill>
                <a:latin typeface="Times New Roman" pitchFamily="18" charset="0"/>
                <a:ea typeface="楷体_GB2312" pitchFamily="49" charset="-122"/>
              </a:rPr>
              <a:t>数据库</a:t>
            </a:r>
          </a:p>
        </p:txBody>
      </p:sp>
      <p:sp>
        <p:nvSpPr>
          <p:cNvPr id="654350" name="AutoShape 14"/>
          <p:cNvSpPr>
            <a:spLocks noChangeArrowheads="1"/>
          </p:cNvSpPr>
          <p:nvPr/>
        </p:nvSpPr>
        <p:spPr bwMode="auto">
          <a:xfrm>
            <a:off x="5435600" y="5130825"/>
            <a:ext cx="838200" cy="333375"/>
          </a:xfrm>
          <a:prstGeom prst="leftRightArrow">
            <a:avLst>
              <a:gd name="adj1" fmla="val 77083"/>
              <a:gd name="adj2" fmla="val 46666"/>
            </a:avLst>
          </a:prstGeom>
          <a:solidFill>
            <a:schemeClr val="accent1"/>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p>
            <a:pPr>
              <a:defRPr/>
            </a:pPr>
            <a:endParaRPr lang="zh-CN" altLang="en-US"/>
          </a:p>
        </p:txBody>
      </p:sp>
      <p:sp>
        <p:nvSpPr>
          <p:cNvPr id="654351" name="Oval 15"/>
          <p:cNvSpPr>
            <a:spLocks noChangeArrowheads="1"/>
          </p:cNvSpPr>
          <p:nvPr/>
        </p:nvSpPr>
        <p:spPr bwMode="auto">
          <a:xfrm>
            <a:off x="3282950" y="4876825"/>
            <a:ext cx="1981200" cy="838200"/>
          </a:xfrm>
          <a:prstGeom prst="ellipse">
            <a:avLst/>
          </a:prstGeom>
          <a:solidFill>
            <a:schemeClr val="accent2"/>
          </a:solidFill>
          <a:ln w="28575" cap="sq">
            <a:solidFill>
              <a:srgbClr val="CCFFCC"/>
            </a:solidFill>
            <a:round/>
            <a:headEnd type="none" w="sm" len="sm"/>
            <a:tailEnd type="none" w="sm" len="sm"/>
          </a:ln>
          <a:effectLst>
            <a:outerShdw dist="35921" dir="2700000" algn="ctr" rotWithShape="0">
              <a:schemeClr val="bg2"/>
            </a:outerShdw>
          </a:effectLst>
        </p:spPr>
        <p:txBody>
          <a:bodyPr wrap="none" anchor="ctr"/>
          <a:lstStyle/>
          <a:p>
            <a:pPr algn="ctr">
              <a:defRPr/>
            </a:pPr>
            <a:r>
              <a:rPr kumimoji="1" lang="en-US" altLang="zh-CN" sz="2400" b="1" baseline="0">
                <a:solidFill>
                  <a:schemeClr val="bg1"/>
                </a:solidFill>
                <a:latin typeface="Times New Roman" pitchFamily="18" charset="0"/>
                <a:ea typeface="楷体_GB2312" pitchFamily="49" charset="-122"/>
              </a:rPr>
              <a:t>DBMS</a:t>
            </a:r>
          </a:p>
        </p:txBody>
      </p:sp>
      <p:sp>
        <p:nvSpPr>
          <p:cNvPr id="654352" name="AutoShape 16"/>
          <p:cNvSpPr>
            <a:spLocks noChangeArrowheads="1"/>
          </p:cNvSpPr>
          <p:nvPr/>
        </p:nvSpPr>
        <p:spPr bwMode="auto">
          <a:xfrm>
            <a:off x="6516688" y="981075"/>
            <a:ext cx="2016125" cy="771525"/>
          </a:xfrm>
          <a:prstGeom prst="wedgeRectCallout">
            <a:avLst>
              <a:gd name="adj1" fmla="val -35986"/>
              <a:gd name="adj2" fmla="val 72222"/>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a:tailEnd/>
          </a:ln>
          <a:effectLst>
            <a:outerShdw dist="53882" dir="2700000" algn="ctr" rotWithShape="0">
              <a:schemeClr val="bg2">
                <a:alpha val="50000"/>
              </a:schemeClr>
            </a:outerShdw>
          </a:effectLst>
        </p:spPr>
        <p:txBody>
          <a:bodyPr lIns="36000" tIns="36000" rIns="36000" bIns="36000">
            <a:spAutoFit/>
          </a:bodyPr>
          <a:lstStyle/>
          <a:p>
            <a:pPr algn="dist">
              <a:defRPr/>
            </a:pPr>
            <a:r>
              <a:rPr lang="zh-CN" altLang="en-US" sz="2200" b="1" baseline="0">
                <a:solidFill>
                  <a:srgbClr val="3333CC"/>
                </a:solidFill>
                <a:latin typeface="微软雅黑" pitchFamily="34" charset="-122"/>
                <a:ea typeface="微软雅黑" pitchFamily="34" charset="-122"/>
              </a:rPr>
              <a:t>与文件系统最本质的区别</a:t>
            </a:r>
          </a:p>
        </p:txBody>
      </p:sp>
      <p:sp>
        <p:nvSpPr>
          <p:cNvPr id="19" name="Text Box 22"/>
          <p:cNvSpPr txBox="1">
            <a:spLocks noChangeArrowheads="1"/>
          </p:cNvSpPr>
          <p:nvPr/>
        </p:nvSpPr>
        <p:spPr bwMode="auto">
          <a:xfrm>
            <a:off x="179388" y="44624"/>
            <a:ext cx="6300938" cy="760959"/>
          </a:xfrm>
          <a:prstGeom prst="rect">
            <a:avLst/>
          </a:prstGeom>
          <a:noFill/>
          <a:ln w="12700" cap="sq">
            <a:noFill/>
            <a:miter lim="800000"/>
            <a:headEnd/>
            <a:tailEnd/>
          </a:ln>
          <a:effectLst>
            <a:outerShdw dist="35921" dir="2700000" algn="ctr" rotWithShape="0">
              <a:schemeClr val="bg2"/>
            </a:outerShdw>
          </a:effectLst>
        </p:spPr>
        <p:txBody>
          <a:bodyPr wrap="none" lIns="72000" tIns="72000" rIns="72000" bIns="72000">
            <a:spAutoFit/>
          </a:bodyPr>
          <a:lstStyle>
            <a:defPPr>
              <a:defRPr lang="en-US"/>
            </a:defPPr>
            <a:lvl1pPr>
              <a:defRPr sz="4000" b="1" baseline="0">
                <a:solidFill>
                  <a:schemeClr val="folHlink"/>
                </a:solidFill>
                <a:effectLst>
                  <a:outerShdw blurRad="38100" dist="38100" dir="2700000" algn="tl">
                    <a:srgbClr val="000000"/>
                  </a:outerShdw>
                </a:effectLst>
                <a:latin typeface="微软雅黑" pitchFamily="34" charset="-122"/>
                <a:ea typeface="微软雅黑" pitchFamily="34" charset="-122"/>
              </a:defRPr>
            </a:lvl1pPr>
          </a:lstStyle>
          <a:p>
            <a:r>
              <a:rPr lang="zh-CN" altLang="en-US" dirty="0" smtClean="0"/>
              <a:t>数据管理技术</a:t>
            </a:r>
            <a:r>
              <a:rPr lang="zh-CN" altLang="en-US" dirty="0"/>
              <a:t>的</a:t>
            </a:r>
            <a:r>
              <a:rPr lang="zh-CN" altLang="en-US" dirty="0" smtClean="0"/>
              <a:t>产生和发展</a:t>
            </a:r>
            <a:endParaRPr lang="zh-CN" altLang="en-US" dirty="0"/>
          </a:p>
        </p:txBody>
      </p:sp>
    </p:spTree>
    <p:extLst>
      <p:ext uri="{BB962C8B-B14F-4D97-AF65-F5344CB8AC3E}">
        <p14:creationId xmlns:p14="http://schemas.microsoft.com/office/powerpoint/2010/main" val="2125460415"/>
      </p:ext>
    </p:extLst>
  </p:cSld>
  <p:clrMapOvr>
    <a:masterClrMapping/>
  </p:clrMapOvr>
  <mc:AlternateContent xmlns:mc="http://schemas.openxmlformats.org/markup-compatibility/2006" xmlns:p14="http://schemas.microsoft.com/office/powerpoint/2010/main">
    <mc:Choice Requires="p14">
      <p:transition spd="slow" p14:dur="1500">
        <p14:reveal dir="r"/>
        <p:sndAc>
          <p:stSnd>
            <p:snd r:embed="rId2" name="camera.wav"/>
          </p:stSnd>
        </p:sndAc>
      </p:transition>
    </mc:Choice>
    <mc:Fallback xmlns="">
      <p:transition spd="slow">
        <p:fade/>
        <p:sndAc>
          <p:stSnd>
            <p:snd r:embed="rId4" name="camera.wav"/>
          </p:stSnd>
        </p:sndAc>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60" name="Rectangle 4"/>
          <p:cNvSpPr>
            <a:spLocks noGrp="1" noChangeArrowheads="1"/>
          </p:cNvSpPr>
          <p:nvPr>
            <p:ph idx="1"/>
          </p:nvPr>
        </p:nvSpPr>
        <p:spPr>
          <a:xfrm>
            <a:off x="323850" y="980728"/>
            <a:ext cx="8351838" cy="1008063"/>
          </a:xfrm>
        </p:spPr>
        <p:txBody>
          <a:bodyPr/>
          <a:lstStyle/>
          <a:p>
            <a:pPr eaLnBrk="1" hangingPunct="1">
              <a:spcAft>
                <a:spcPct val="50000"/>
              </a:spcAft>
              <a:defRPr/>
            </a:pPr>
            <a:r>
              <a:rPr lang="zh-CN" altLang="en-US" b="1" dirty="0" smtClean="0">
                <a:solidFill>
                  <a:srgbClr val="FFC000"/>
                </a:solidFill>
              </a:rPr>
              <a:t>数据库系统</a:t>
            </a:r>
            <a:r>
              <a:rPr lang="zh-CN" altLang="en-US" dirty="0" smtClean="0"/>
              <a:t>（</a:t>
            </a:r>
            <a:r>
              <a:rPr lang="en-US" altLang="zh-CN" i="1" dirty="0" smtClean="0"/>
              <a:t>DBS</a:t>
            </a:r>
            <a:r>
              <a:rPr lang="en-US" altLang="zh-CN" dirty="0" smtClean="0"/>
              <a:t> </a:t>
            </a:r>
            <a:r>
              <a:rPr lang="zh-CN" altLang="en-US" i="1" dirty="0" smtClean="0"/>
              <a:t>，</a:t>
            </a:r>
            <a:r>
              <a:rPr lang="en-US" altLang="zh-CN" i="1" dirty="0" err="1" smtClean="0"/>
              <a:t>DataBase</a:t>
            </a:r>
            <a:r>
              <a:rPr lang="en-US" altLang="zh-CN" i="1" dirty="0" smtClean="0"/>
              <a:t> System</a:t>
            </a:r>
            <a:r>
              <a:rPr lang="zh-CN" altLang="en-US" dirty="0" smtClean="0"/>
              <a:t>）是采用了数据库技术的计算机系统。</a:t>
            </a:r>
          </a:p>
        </p:txBody>
      </p:sp>
      <p:sp>
        <p:nvSpPr>
          <p:cNvPr id="9229" name="Text Box 41"/>
          <p:cNvSpPr txBox="1">
            <a:spLocks noChangeArrowheads="1"/>
          </p:cNvSpPr>
          <p:nvPr/>
        </p:nvSpPr>
        <p:spPr bwMode="auto">
          <a:xfrm>
            <a:off x="2296319" y="2424431"/>
            <a:ext cx="7239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lIns="0" tIns="0" rIns="0" bIns="0">
            <a:spAutoFit/>
          </a:bodyPr>
          <a:lstStyle>
            <a:lvl1pPr eaLnBrk="0" hangingPunct="0">
              <a:defRPr sz="1200" baseline="-25000">
                <a:solidFill>
                  <a:schemeClr val="tx1"/>
                </a:solidFill>
                <a:latin typeface="Garamond" pitchFamily="18" charset="0"/>
                <a:ea typeface="宋体" pitchFamily="2" charset="-122"/>
              </a:defRPr>
            </a:lvl1pPr>
            <a:lvl2pPr marL="742950" indent="-285750" eaLnBrk="0" hangingPunct="0">
              <a:defRPr sz="1200" baseline="-25000">
                <a:solidFill>
                  <a:schemeClr val="tx1"/>
                </a:solidFill>
                <a:latin typeface="Garamond" pitchFamily="18" charset="0"/>
                <a:ea typeface="宋体" pitchFamily="2" charset="-122"/>
              </a:defRPr>
            </a:lvl2pPr>
            <a:lvl3pPr marL="1143000" indent="-228600" eaLnBrk="0" hangingPunct="0">
              <a:defRPr sz="1200" baseline="-25000">
                <a:solidFill>
                  <a:schemeClr val="tx1"/>
                </a:solidFill>
                <a:latin typeface="Garamond" pitchFamily="18" charset="0"/>
                <a:ea typeface="宋体" pitchFamily="2" charset="-122"/>
              </a:defRPr>
            </a:lvl3pPr>
            <a:lvl4pPr marL="1600200" indent="-228600" eaLnBrk="0" hangingPunct="0">
              <a:defRPr sz="1200" baseline="-25000">
                <a:solidFill>
                  <a:schemeClr val="tx1"/>
                </a:solidFill>
                <a:latin typeface="Garamond" pitchFamily="18" charset="0"/>
                <a:ea typeface="宋体" pitchFamily="2" charset="-122"/>
              </a:defRPr>
            </a:lvl4pPr>
            <a:lvl5pPr marL="2057400" indent="-228600" eaLnBrk="0" hangingPunct="0">
              <a:defRPr sz="1200" baseline="-25000">
                <a:solidFill>
                  <a:schemeClr val="tx1"/>
                </a:solidFill>
                <a:latin typeface="Garamond" pitchFamily="18" charset="0"/>
                <a:ea typeface="宋体" pitchFamily="2" charset="-122"/>
              </a:defRPr>
            </a:lvl5pPr>
            <a:lvl6pPr marL="25146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6pPr>
            <a:lvl7pPr marL="29718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7pPr>
            <a:lvl8pPr marL="34290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8pPr>
            <a:lvl9pPr marL="38862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9pPr>
          </a:lstStyle>
          <a:p>
            <a:pPr algn="ctr" eaLnBrk="1" hangingPunct="1">
              <a:spcBef>
                <a:spcPct val="50000"/>
              </a:spcBef>
            </a:pPr>
            <a:r>
              <a:rPr kumimoji="1" lang="zh-CN" altLang="en-US" sz="2000" b="1" baseline="0">
                <a:solidFill>
                  <a:srgbClr val="CCFFCC"/>
                </a:solidFill>
                <a:latin typeface="Times New Roman" pitchFamily="18" charset="0"/>
                <a:ea typeface="楷体_GB2312" pitchFamily="49" charset="-122"/>
              </a:rPr>
              <a:t>… …</a:t>
            </a:r>
          </a:p>
        </p:txBody>
      </p:sp>
      <p:cxnSp>
        <p:nvCxnSpPr>
          <p:cNvPr id="9230" name="AutoShape 48"/>
          <p:cNvCxnSpPr>
            <a:cxnSpLocks noChangeShapeType="1"/>
            <a:stCxn id="582699" idx="2"/>
            <a:endCxn id="582698" idx="2"/>
          </p:cNvCxnSpPr>
          <p:nvPr/>
        </p:nvCxnSpPr>
        <p:spPr bwMode="auto">
          <a:xfrm flipH="1">
            <a:off x="2242344" y="3456306"/>
            <a:ext cx="279400" cy="0"/>
          </a:xfrm>
          <a:prstGeom prst="straightConnector1">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cxnSp>
      <p:cxnSp>
        <p:nvCxnSpPr>
          <p:cNvPr id="9231" name="AutoShape 49"/>
          <p:cNvCxnSpPr>
            <a:cxnSpLocks noChangeShapeType="1"/>
            <a:stCxn id="582699" idx="2"/>
            <a:endCxn id="582700" idx="2"/>
          </p:cNvCxnSpPr>
          <p:nvPr/>
        </p:nvCxnSpPr>
        <p:spPr bwMode="auto">
          <a:xfrm flipH="1">
            <a:off x="2140744" y="3622993"/>
            <a:ext cx="1389062" cy="808038"/>
          </a:xfrm>
          <a:prstGeom prst="straightConnector1">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cxnSp>
      <p:cxnSp>
        <p:nvCxnSpPr>
          <p:cNvPr id="9232" name="AutoShape 50"/>
          <p:cNvCxnSpPr>
            <a:cxnSpLocks noChangeShapeType="1"/>
            <a:stCxn id="582700" idx="2"/>
            <a:endCxn id="582701" idx="2"/>
          </p:cNvCxnSpPr>
          <p:nvPr/>
        </p:nvCxnSpPr>
        <p:spPr bwMode="auto">
          <a:xfrm>
            <a:off x="2139156" y="4764406"/>
            <a:ext cx="0" cy="255587"/>
          </a:xfrm>
          <a:prstGeom prst="straightConnector1">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cxnSp>
      <p:cxnSp>
        <p:nvCxnSpPr>
          <p:cNvPr id="9233" name="AutoShape 51"/>
          <p:cNvCxnSpPr>
            <a:cxnSpLocks noChangeShapeType="1"/>
            <a:stCxn id="582701" idx="2"/>
            <a:endCxn id="582702" idx="1"/>
          </p:cNvCxnSpPr>
          <p:nvPr/>
        </p:nvCxnSpPr>
        <p:spPr bwMode="auto">
          <a:xfrm>
            <a:off x="2139156" y="5353368"/>
            <a:ext cx="0" cy="336550"/>
          </a:xfrm>
          <a:prstGeom prst="straightConnector1">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cxnSp>
      <p:sp>
        <p:nvSpPr>
          <p:cNvPr id="582709" name="Rectangle 53">
            <a:hlinkClick r:id="" action="ppaction://noaction"/>
          </p:cNvPr>
          <p:cNvSpPr>
            <a:spLocks noChangeArrowheads="1"/>
          </p:cNvSpPr>
          <p:nvPr/>
        </p:nvSpPr>
        <p:spPr bwMode="auto">
          <a:xfrm>
            <a:off x="3456781" y="4003993"/>
            <a:ext cx="1641475" cy="609600"/>
          </a:xfrm>
          <a:prstGeom prst="rect">
            <a:avLst/>
          </a:prstGeom>
          <a:noFill/>
          <a:ln w="12700" cap="sq">
            <a:noFill/>
            <a:miter lim="800000"/>
            <a:headEnd/>
            <a:tailEnd/>
          </a:ln>
          <a:effectLst/>
        </p:spPr>
        <p:txBody>
          <a:bodyPr lIns="0" tIns="0" rIns="0" bIns="0">
            <a:spAutoFit/>
          </a:bodyPr>
          <a:lstStyle/>
          <a:p>
            <a:pPr algn="ctr">
              <a:defRPr/>
            </a:pPr>
            <a:r>
              <a:rPr kumimoji="1" lang="zh-CN" altLang="en-US" sz="2000" baseline="0">
                <a:solidFill>
                  <a:srgbClr val="66FF33"/>
                </a:solidFill>
                <a:effectLst>
                  <a:outerShdw blurRad="38100" dist="38100" dir="2700000" algn="tl">
                    <a:srgbClr val="000000"/>
                  </a:outerShdw>
                </a:effectLst>
                <a:latin typeface="Times New Roman" pitchFamily="18" charset="0"/>
                <a:ea typeface="楷体_GB2312" pitchFamily="49" charset="-122"/>
              </a:rPr>
              <a:t>数据库管理员</a:t>
            </a:r>
          </a:p>
          <a:p>
            <a:pPr algn="ctr">
              <a:defRPr/>
            </a:pPr>
            <a:r>
              <a:rPr kumimoji="1" lang="en-US" altLang="zh-CN" sz="2000" baseline="0">
                <a:solidFill>
                  <a:srgbClr val="66FF33"/>
                </a:solidFill>
                <a:effectLst>
                  <a:outerShdw blurRad="38100" dist="38100" dir="2700000" algn="tl">
                    <a:srgbClr val="000000"/>
                  </a:outerShdw>
                </a:effectLst>
                <a:latin typeface="Times New Roman" pitchFamily="18" charset="0"/>
                <a:ea typeface="楷体_GB2312" pitchFamily="49" charset="-122"/>
              </a:rPr>
              <a:t>DBA</a:t>
            </a:r>
          </a:p>
        </p:txBody>
      </p:sp>
      <p:sp>
        <p:nvSpPr>
          <p:cNvPr id="9235" name="Line 54"/>
          <p:cNvSpPr>
            <a:spLocks noChangeShapeType="1"/>
          </p:cNvSpPr>
          <p:nvPr/>
        </p:nvSpPr>
        <p:spPr bwMode="auto">
          <a:xfrm>
            <a:off x="3240881" y="4729481"/>
            <a:ext cx="515938" cy="347662"/>
          </a:xfrm>
          <a:prstGeom prst="line">
            <a:avLst/>
          </a:prstGeom>
          <a:noFill/>
          <a:ln w="12700" cap="sq">
            <a:solidFill>
              <a:srgbClr val="CCFFCC"/>
            </a:solidFill>
            <a:round/>
            <a:headEnd type="triangle" w="med" len="med"/>
            <a:tailEnd/>
          </a:ln>
          <a:extLst>
            <a:ext uri="{909E8E84-426E-40DD-AFC4-6F175D3DCCD1}">
              <a14:hiddenFill xmlns:a14="http://schemas.microsoft.com/office/drawing/2010/main">
                <a:noFill/>
              </a14:hiddenFill>
            </a:ext>
          </a:extLst>
        </p:spPr>
        <p:txBody>
          <a:bodyPr lIns="0" tIns="0" rIns="0" bIns="0" anchor="ctr"/>
          <a:lstStyle/>
          <a:p>
            <a:endParaRPr lang="zh-CN" altLang="en-US"/>
          </a:p>
        </p:txBody>
      </p:sp>
      <p:cxnSp>
        <p:nvCxnSpPr>
          <p:cNvPr id="9236" name="AutoShape 55"/>
          <p:cNvCxnSpPr>
            <a:cxnSpLocks noChangeShapeType="1"/>
            <a:stCxn id="582701" idx="0"/>
          </p:cNvCxnSpPr>
          <p:nvPr/>
        </p:nvCxnSpPr>
        <p:spPr bwMode="auto">
          <a:xfrm>
            <a:off x="2828131" y="5186681"/>
            <a:ext cx="946307" cy="334962"/>
          </a:xfrm>
          <a:prstGeom prst="bentConnector3">
            <a:avLst>
              <a:gd name="adj1" fmla="val 50000"/>
            </a:avLst>
          </a:prstGeom>
          <a:noFill/>
          <a:ln w="12700" cap="sq">
            <a:solidFill>
              <a:srgbClr val="CCFFCC"/>
            </a:solidFill>
            <a:miter lim="800000"/>
            <a:headEnd type="triangle" w="med" len="med"/>
            <a:tailEnd/>
          </a:ln>
          <a:extLst>
            <a:ext uri="{909E8E84-426E-40DD-AFC4-6F175D3DCCD1}">
              <a14:hiddenFill xmlns:a14="http://schemas.microsoft.com/office/drawing/2010/main">
                <a:noFill/>
              </a14:hiddenFill>
            </a:ext>
          </a:extLst>
        </p:spPr>
      </p:cxnSp>
      <p:sp>
        <p:nvSpPr>
          <p:cNvPr id="9237" name="Line 56"/>
          <p:cNvSpPr>
            <a:spLocks noChangeShapeType="1"/>
          </p:cNvSpPr>
          <p:nvPr/>
        </p:nvSpPr>
        <p:spPr bwMode="auto">
          <a:xfrm>
            <a:off x="1156494" y="2799081"/>
            <a:ext cx="139700" cy="490537"/>
          </a:xfrm>
          <a:prstGeom prst="line">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9238" name="Line 57"/>
          <p:cNvSpPr>
            <a:spLocks noChangeShapeType="1"/>
          </p:cNvSpPr>
          <p:nvPr/>
        </p:nvSpPr>
        <p:spPr bwMode="auto">
          <a:xfrm flipH="1">
            <a:off x="1729581" y="2873693"/>
            <a:ext cx="290513" cy="415925"/>
          </a:xfrm>
          <a:prstGeom prst="line">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9239" name="Line 58"/>
          <p:cNvSpPr>
            <a:spLocks noChangeShapeType="1"/>
          </p:cNvSpPr>
          <p:nvPr/>
        </p:nvSpPr>
        <p:spPr bwMode="auto">
          <a:xfrm flipH="1">
            <a:off x="3240881" y="2799081"/>
            <a:ext cx="4763" cy="417512"/>
          </a:xfrm>
          <a:prstGeom prst="line">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zh-CN" altLang="en-US"/>
          </a:p>
        </p:txBody>
      </p:sp>
      <p:pic>
        <p:nvPicPr>
          <p:cNvPr id="9240" name="Picture 52" descr="BD06784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74438" y="4615181"/>
            <a:ext cx="1223963"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2694" name="Rectangle 38"/>
          <p:cNvSpPr>
            <a:spLocks noChangeArrowheads="1"/>
          </p:cNvSpPr>
          <p:nvPr/>
        </p:nvSpPr>
        <p:spPr bwMode="auto">
          <a:xfrm>
            <a:off x="864394" y="2491106"/>
            <a:ext cx="652462" cy="333375"/>
          </a:xfrm>
          <a:prstGeom prst="rect">
            <a:avLst/>
          </a:prstGeom>
          <a:solidFill>
            <a:srgbClr val="CCCCFF"/>
          </a:solidFill>
          <a:ln w="12700" cap="sq">
            <a:solidFill>
              <a:srgbClr val="000000"/>
            </a:solidFill>
            <a:miter lim="800000"/>
            <a:headEnd type="none" w="sm" len="sm"/>
            <a:tailEnd type="none" w="sm" len="sm"/>
          </a:ln>
          <a:effectLst>
            <a:outerShdw dist="35921" dir="2700000" algn="ctr" rotWithShape="0">
              <a:schemeClr val="bg2"/>
            </a:outerShdw>
          </a:effectLst>
        </p:spPr>
        <p:txBody>
          <a:bodyPr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用户</a:t>
            </a:r>
          </a:p>
        </p:txBody>
      </p:sp>
      <p:sp>
        <p:nvSpPr>
          <p:cNvPr id="582695" name="Rectangle 39"/>
          <p:cNvSpPr>
            <a:spLocks noChangeArrowheads="1"/>
          </p:cNvSpPr>
          <p:nvPr/>
        </p:nvSpPr>
        <p:spPr bwMode="auto">
          <a:xfrm>
            <a:off x="1656556" y="2491106"/>
            <a:ext cx="652463" cy="333375"/>
          </a:xfrm>
          <a:prstGeom prst="rect">
            <a:avLst/>
          </a:prstGeom>
          <a:solidFill>
            <a:srgbClr val="CCCCFF"/>
          </a:solidFill>
          <a:ln w="12700" cap="sq">
            <a:solidFill>
              <a:srgbClr val="000000"/>
            </a:solidFill>
            <a:miter lim="800000"/>
            <a:headEnd type="none" w="sm" len="sm"/>
            <a:tailEnd type="none" w="sm" len="sm"/>
          </a:ln>
          <a:effectLst>
            <a:outerShdw dist="35921" dir="2700000" algn="ctr" rotWithShape="0">
              <a:schemeClr val="bg2"/>
            </a:outerShdw>
          </a:effectLst>
        </p:spPr>
        <p:txBody>
          <a:bodyPr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用户</a:t>
            </a:r>
          </a:p>
        </p:txBody>
      </p:sp>
      <p:sp>
        <p:nvSpPr>
          <p:cNvPr id="582696" name="Rectangle 40"/>
          <p:cNvSpPr>
            <a:spLocks noChangeArrowheads="1"/>
          </p:cNvSpPr>
          <p:nvPr/>
        </p:nvSpPr>
        <p:spPr bwMode="auto">
          <a:xfrm>
            <a:off x="3002756" y="2491106"/>
            <a:ext cx="652463" cy="333375"/>
          </a:xfrm>
          <a:prstGeom prst="rect">
            <a:avLst/>
          </a:prstGeom>
          <a:solidFill>
            <a:srgbClr val="CCCCFF"/>
          </a:solidFill>
          <a:ln w="12700" cap="sq">
            <a:solidFill>
              <a:srgbClr val="000000"/>
            </a:solidFill>
            <a:miter lim="800000"/>
            <a:headEnd type="none" w="sm" len="sm"/>
            <a:tailEnd type="none" w="sm" len="sm"/>
          </a:ln>
          <a:effectLst>
            <a:outerShdw dist="35921" dir="2700000" algn="ctr" rotWithShape="0">
              <a:schemeClr val="bg2"/>
            </a:outerShdw>
          </a:effectLst>
        </p:spPr>
        <p:txBody>
          <a:bodyPr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用户</a:t>
            </a:r>
          </a:p>
        </p:txBody>
      </p:sp>
      <p:sp>
        <p:nvSpPr>
          <p:cNvPr id="582698" name="AutoShape 42"/>
          <p:cNvSpPr>
            <a:spLocks noChangeArrowheads="1"/>
          </p:cNvSpPr>
          <p:nvPr/>
        </p:nvSpPr>
        <p:spPr bwMode="auto">
          <a:xfrm>
            <a:off x="721519" y="3289618"/>
            <a:ext cx="1520825" cy="333375"/>
          </a:xfrm>
          <a:prstGeom prst="hexagon">
            <a:avLst>
              <a:gd name="adj" fmla="val 49505"/>
              <a:gd name="vf" fmla="val 115470"/>
            </a:avLst>
          </a:prstGeom>
          <a:solidFill>
            <a:srgbClr val="CCCC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应用系统</a:t>
            </a:r>
          </a:p>
        </p:txBody>
      </p:sp>
      <p:sp>
        <p:nvSpPr>
          <p:cNvPr id="582699" name="AutoShape 43"/>
          <p:cNvSpPr>
            <a:spLocks noChangeArrowheads="1"/>
          </p:cNvSpPr>
          <p:nvPr/>
        </p:nvSpPr>
        <p:spPr bwMode="auto">
          <a:xfrm>
            <a:off x="2521744" y="3289618"/>
            <a:ext cx="2016125" cy="333375"/>
          </a:xfrm>
          <a:prstGeom prst="hexagon">
            <a:avLst>
              <a:gd name="adj" fmla="val 65628"/>
              <a:gd name="vf" fmla="val 115470"/>
            </a:avLst>
          </a:prstGeom>
          <a:solidFill>
            <a:srgbClr val="CCCC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应用开发工具</a:t>
            </a:r>
          </a:p>
        </p:txBody>
      </p:sp>
      <p:sp>
        <p:nvSpPr>
          <p:cNvPr id="582700" name="AutoShape 44"/>
          <p:cNvSpPr>
            <a:spLocks noChangeArrowheads="1"/>
          </p:cNvSpPr>
          <p:nvPr/>
        </p:nvSpPr>
        <p:spPr bwMode="auto">
          <a:xfrm>
            <a:off x="1016794" y="4431031"/>
            <a:ext cx="2246312" cy="333375"/>
          </a:xfrm>
          <a:prstGeom prst="hexagon">
            <a:avLst>
              <a:gd name="adj" fmla="val 73121"/>
              <a:gd name="vf" fmla="val 115470"/>
            </a:avLst>
          </a:prstGeom>
          <a:solidFill>
            <a:srgbClr val="CCCC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数据库管理系统</a:t>
            </a:r>
          </a:p>
        </p:txBody>
      </p:sp>
      <p:sp>
        <p:nvSpPr>
          <p:cNvPr id="582701" name="AutoShape 45"/>
          <p:cNvSpPr>
            <a:spLocks noChangeArrowheads="1"/>
          </p:cNvSpPr>
          <p:nvPr/>
        </p:nvSpPr>
        <p:spPr bwMode="auto">
          <a:xfrm>
            <a:off x="1450181" y="5019993"/>
            <a:ext cx="1377950" cy="333375"/>
          </a:xfrm>
          <a:prstGeom prst="hexagon">
            <a:avLst>
              <a:gd name="adj" fmla="val 44854"/>
              <a:gd name="vf" fmla="val 115470"/>
            </a:avLst>
          </a:prstGeom>
          <a:solidFill>
            <a:srgbClr val="CCCC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操作系统</a:t>
            </a:r>
          </a:p>
        </p:txBody>
      </p:sp>
      <p:sp>
        <p:nvSpPr>
          <p:cNvPr id="582702" name="AutoShape 46"/>
          <p:cNvSpPr>
            <a:spLocks noChangeArrowheads="1"/>
          </p:cNvSpPr>
          <p:nvPr/>
        </p:nvSpPr>
        <p:spPr bwMode="auto">
          <a:xfrm>
            <a:off x="1232694" y="5689918"/>
            <a:ext cx="1812925" cy="598488"/>
          </a:xfrm>
          <a:prstGeom prst="can">
            <a:avLst>
              <a:gd name="adj" fmla="val 25000"/>
            </a:avLst>
          </a:prstGeom>
          <a:solidFill>
            <a:srgbClr val="CCCC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defRPr/>
            </a:pPr>
            <a:endParaRPr kumimoji="1" lang="zh-CN" altLang="en-US" sz="2000" b="1" baseline="0">
              <a:latin typeface="Times New Roman" pitchFamily="18" charset="0"/>
              <a:ea typeface="楷体_GB2312" pitchFamily="49" charset="-122"/>
            </a:endParaRPr>
          </a:p>
        </p:txBody>
      </p:sp>
      <p:sp>
        <p:nvSpPr>
          <p:cNvPr id="9249" name="Rectangle 47"/>
          <p:cNvSpPr>
            <a:spLocks noChangeArrowheads="1"/>
          </p:cNvSpPr>
          <p:nvPr/>
        </p:nvSpPr>
        <p:spPr bwMode="auto">
          <a:xfrm>
            <a:off x="1789906" y="5899468"/>
            <a:ext cx="766763" cy="304800"/>
          </a:xfrm>
          <a:prstGeom prst="rect">
            <a:avLst/>
          </a:prstGeom>
          <a:solidFill>
            <a:srgbClr val="CCCCFF"/>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r>
              <a:rPr kumimoji="1" lang="zh-CN" altLang="en-US" sz="2000" b="1" baseline="0">
                <a:solidFill>
                  <a:srgbClr val="000000"/>
                </a:solidFill>
                <a:latin typeface="Times New Roman" pitchFamily="18" charset="0"/>
                <a:ea typeface="楷体_GB2312" pitchFamily="49" charset="-122"/>
              </a:rPr>
              <a:t>数据库</a:t>
            </a:r>
          </a:p>
        </p:txBody>
      </p:sp>
      <p:cxnSp>
        <p:nvCxnSpPr>
          <p:cNvPr id="9250" name="AutoShape 77"/>
          <p:cNvCxnSpPr>
            <a:cxnSpLocks noChangeShapeType="1"/>
            <a:stCxn id="582698" idx="2"/>
          </p:cNvCxnSpPr>
          <p:nvPr/>
        </p:nvCxnSpPr>
        <p:spPr bwMode="auto">
          <a:xfrm>
            <a:off x="1481931" y="3622993"/>
            <a:ext cx="582613" cy="808038"/>
          </a:xfrm>
          <a:prstGeom prst="straightConnector1">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cxnSp>
      <p:sp>
        <p:nvSpPr>
          <p:cNvPr id="582734" name="Text Box 78"/>
          <p:cNvSpPr txBox="1">
            <a:spLocks noChangeArrowheads="1"/>
          </p:cNvSpPr>
          <p:nvPr/>
        </p:nvSpPr>
        <p:spPr bwMode="auto">
          <a:xfrm>
            <a:off x="179388" y="75753"/>
            <a:ext cx="2710211" cy="760959"/>
          </a:xfrm>
          <a:prstGeom prst="rect">
            <a:avLst/>
          </a:prstGeom>
          <a:noFill/>
          <a:ln w="12700" cap="sq">
            <a:noFill/>
            <a:miter lim="800000"/>
            <a:headEnd/>
            <a:tailEnd/>
          </a:ln>
          <a:effectLst>
            <a:outerShdw dist="35921" dir="2700000" algn="ctr" rotWithShape="0">
              <a:schemeClr val="bg2"/>
            </a:outerShdw>
          </a:effectLst>
        </p:spPr>
        <p:txBody>
          <a:bodyPr wrap="none" lIns="72000" tIns="72000" rIns="72000" bIns="72000">
            <a:spAutoFit/>
          </a:bodyPr>
          <a:lstStyle>
            <a:defPPr>
              <a:defRPr lang="en-US"/>
            </a:defPPr>
            <a:lvl1pPr>
              <a:defRPr sz="4000" b="1" baseline="0">
                <a:solidFill>
                  <a:schemeClr val="folHlink"/>
                </a:solidFill>
                <a:effectLst>
                  <a:outerShdw blurRad="38100" dist="38100" dir="2700000" algn="tl">
                    <a:srgbClr val="000000"/>
                  </a:outerShdw>
                </a:effectLst>
                <a:latin typeface="微软雅黑" pitchFamily="34" charset="-122"/>
                <a:ea typeface="微软雅黑" pitchFamily="34" charset="-122"/>
              </a:defRPr>
            </a:lvl1pPr>
          </a:lstStyle>
          <a:p>
            <a:r>
              <a:rPr lang="zh-CN" altLang="en-US" dirty="0" smtClean="0"/>
              <a:t>数据库系统</a:t>
            </a:r>
            <a:endParaRPr lang="zh-CN" altLang="en-US" dirty="0"/>
          </a:p>
        </p:txBody>
      </p:sp>
    </p:spTree>
    <p:extLst>
      <p:ext uri="{BB962C8B-B14F-4D97-AF65-F5344CB8AC3E}">
        <p14:creationId xmlns:p14="http://schemas.microsoft.com/office/powerpoint/2010/main" val="1182507260"/>
      </p:ext>
    </p:extLst>
  </p:cSld>
  <p:clrMapOvr>
    <a:masterClrMapping/>
  </p:clrMapOvr>
  <mc:AlternateContent xmlns:mc="http://schemas.openxmlformats.org/markup-compatibility/2006" xmlns:p14="http://schemas.microsoft.com/office/powerpoint/2010/main">
    <mc:Choice Requires="p14">
      <p:transition spd="slow" p14:dur="800">
        <p:circle/>
        <p:sndAc>
          <p:stSnd>
            <p:snd r:embed="rId2" name="camera.wav"/>
          </p:stSnd>
        </p:sndAc>
      </p:transition>
    </mc:Choice>
    <mc:Fallback xmlns="">
      <p:transition spd="slow">
        <p:circle/>
        <p:sndAc>
          <p:stSnd>
            <p:snd r:embed="rId4" name="camera.wav"/>
          </p:stSnd>
        </p:sndAc>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60" name="Rectangle 4"/>
          <p:cNvSpPr>
            <a:spLocks noGrp="1" noChangeArrowheads="1"/>
          </p:cNvSpPr>
          <p:nvPr>
            <p:ph idx="1"/>
          </p:nvPr>
        </p:nvSpPr>
        <p:spPr>
          <a:xfrm>
            <a:off x="323850" y="980728"/>
            <a:ext cx="8351838" cy="1008063"/>
          </a:xfrm>
        </p:spPr>
        <p:txBody>
          <a:bodyPr/>
          <a:lstStyle/>
          <a:p>
            <a:pPr eaLnBrk="1" hangingPunct="1">
              <a:spcAft>
                <a:spcPct val="50000"/>
              </a:spcAft>
              <a:defRPr/>
            </a:pPr>
            <a:r>
              <a:rPr lang="zh-CN" altLang="en-US" b="1" dirty="0" smtClean="0">
                <a:solidFill>
                  <a:srgbClr val="FFC000"/>
                </a:solidFill>
              </a:rPr>
              <a:t>数据库系统</a:t>
            </a:r>
            <a:r>
              <a:rPr lang="zh-CN" altLang="en-US" dirty="0" smtClean="0"/>
              <a:t>（</a:t>
            </a:r>
            <a:r>
              <a:rPr lang="en-US" altLang="zh-CN" i="1" dirty="0" smtClean="0"/>
              <a:t>DBS</a:t>
            </a:r>
            <a:r>
              <a:rPr lang="en-US" altLang="zh-CN" dirty="0" smtClean="0"/>
              <a:t> </a:t>
            </a:r>
            <a:r>
              <a:rPr lang="zh-CN" altLang="en-US" i="1" dirty="0" smtClean="0"/>
              <a:t>，</a:t>
            </a:r>
            <a:r>
              <a:rPr lang="en-US" altLang="zh-CN" i="1" dirty="0" err="1" smtClean="0"/>
              <a:t>DataBase</a:t>
            </a:r>
            <a:r>
              <a:rPr lang="en-US" altLang="zh-CN" i="1" dirty="0" smtClean="0"/>
              <a:t> System</a:t>
            </a:r>
            <a:r>
              <a:rPr lang="zh-CN" altLang="en-US" dirty="0" smtClean="0"/>
              <a:t>）是采用了数据库技术的计算机系统。</a:t>
            </a:r>
          </a:p>
        </p:txBody>
      </p:sp>
      <p:sp>
        <p:nvSpPr>
          <p:cNvPr id="9229" name="Text Box 41"/>
          <p:cNvSpPr txBox="1">
            <a:spLocks noChangeArrowheads="1"/>
          </p:cNvSpPr>
          <p:nvPr/>
        </p:nvSpPr>
        <p:spPr bwMode="auto">
          <a:xfrm>
            <a:off x="2296319" y="2424431"/>
            <a:ext cx="7239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lIns="0" tIns="0" rIns="0" bIns="0">
            <a:spAutoFit/>
          </a:bodyPr>
          <a:lstStyle>
            <a:lvl1pPr eaLnBrk="0" hangingPunct="0">
              <a:defRPr sz="1200" baseline="-25000">
                <a:solidFill>
                  <a:schemeClr val="tx1"/>
                </a:solidFill>
                <a:latin typeface="Garamond" pitchFamily="18" charset="0"/>
                <a:ea typeface="宋体" pitchFamily="2" charset="-122"/>
              </a:defRPr>
            </a:lvl1pPr>
            <a:lvl2pPr marL="742950" indent="-285750" eaLnBrk="0" hangingPunct="0">
              <a:defRPr sz="1200" baseline="-25000">
                <a:solidFill>
                  <a:schemeClr val="tx1"/>
                </a:solidFill>
                <a:latin typeface="Garamond" pitchFamily="18" charset="0"/>
                <a:ea typeface="宋体" pitchFamily="2" charset="-122"/>
              </a:defRPr>
            </a:lvl2pPr>
            <a:lvl3pPr marL="1143000" indent="-228600" eaLnBrk="0" hangingPunct="0">
              <a:defRPr sz="1200" baseline="-25000">
                <a:solidFill>
                  <a:schemeClr val="tx1"/>
                </a:solidFill>
                <a:latin typeface="Garamond" pitchFamily="18" charset="0"/>
                <a:ea typeface="宋体" pitchFamily="2" charset="-122"/>
              </a:defRPr>
            </a:lvl3pPr>
            <a:lvl4pPr marL="1600200" indent="-228600" eaLnBrk="0" hangingPunct="0">
              <a:defRPr sz="1200" baseline="-25000">
                <a:solidFill>
                  <a:schemeClr val="tx1"/>
                </a:solidFill>
                <a:latin typeface="Garamond" pitchFamily="18" charset="0"/>
                <a:ea typeface="宋体" pitchFamily="2" charset="-122"/>
              </a:defRPr>
            </a:lvl4pPr>
            <a:lvl5pPr marL="2057400" indent="-228600" eaLnBrk="0" hangingPunct="0">
              <a:defRPr sz="1200" baseline="-25000">
                <a:solidFill>
                  <a:schemeClr val="tx1"/>
                </a:solidFill>
                <a:latin typeface="Garamond" pitchFamily="18" charset="0"/>
                <a:ea typeface="宋体" pitchFamily="2" charset="-122"/>
              </a:defRPr>
            </a:lvl5pPr>
            <a:lvl6pPr marL="25146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6pPr>
            <a:lvl7pPr marL="29718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7pPr>
            <a:lvl8pPr marL="34290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8pPr>
            <a:lvl9pPr marL="38862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9pPr>
          </a:lstStyle>
          <a:p>
            <a:pPr algn="ctr" eaLnBrk="1" hangingPunct="1">
              <a:spcBef>
                <a:spcPct val="50000"/>
              </a:spcBef>
            </a:pPr>
            <a:r>
              <a:rPr kumimoji="1" lang="zh-CN" altLang="en-US" sz="2000" b="1" baseline="0">
                <a:solidFill>
                  <a:srgbClr val="CCFFCC"/>
                </a:solidFill>
                <a:latin typeface="Times New Roman" pitchFamily="18" charset="0"/>
                <a:ea typeface="楷体_GB2312" pitchFamily="49" charset="-122"/>
              </a:rPr>
              <a:t>… …</a:t>
            </a:r>
          </a:p>
        </p:txBody>
      </p:sp>
      <p:cxnSp>
        <p:nvCxnSpPr>
          <p:cNvPr id="9230" name="AutoShape 48"/>
          <p:cNvCxnSpPr>
            <a:cxnSpLocks noChangeShapeType="1"/>
            <a:stCxn id="582699" idx="2"/>
            <a:endCxn id="582698" idx="2"/>
          </p:cNvCxnSpPr>
          <p:nvPr/>
        </p:nvCxnSpPr>
        <p:spPr bwMode="auto">
          <a:xfrm flipH="1">
            <a:off x="2242344" y="3456306"/>
            <a:ext cx="279400" cy="0"/>
          </a:xfrm>
          <a:prstGeom prst="straightConnector1">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cxnSp>
      <p:cxnSp>
        <p:nvCxnSpPr>
          <p:cNvPr id="9231" name="AutoShape 49"/>
          <p:cNvCxnSpPr>
            <a:cxnSpLocks noChangeShapeType="1"/>
            <a:stCxn id="582699" idx="2"/>
            <a:endCxn id="582700" idx="2"/>
          </p:cNvCxnSpPr>
          <p:nvPr/>
        </p:nvCxnSpPr>
        <p:spPr bwMode="auto">
          <a:xfrm flipH="1">
            <a:off x="2140744" y="3622993"/>
            <a:ext cx="1389062" cy="808038"/>
          </a:xfrm>
          <a:prstGeom prst="straightConnector1">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cxnSp>
      <p:cxnSp>
        <p:nvCxnSpPr>
          <p:cNvPr id="9232" name="AutoShape 50"/>
          <p:cNvCxnSpPr>
            <a:cxnSpLocks noChangeShapeType="1"/>
            <a:stCxn id="582700" idx="2"/>
            <a:endCxn id="582701" idx="2"/>
          </p:cNvCxnSpPr>
          <p:nvPr/>
        </p:nvCxnSpPr>
        <p:spPr bwMode="auto">
          <a:xfrm>
            <a:off x="2139156" y="4764406"/>
            <a:ext cx="0" cy="255587"/>
          </a:xfrm>
          <a:prstGeom prst="straightConnector1">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cxnSp>
      <p:cxnSp>
        <p:nvCxnSpPr>
          <p:cNvPr id="9233" name="AutoShape 51"/>
          <p:cNvCxnSpPr>
            <a:cxnSpLocks noChangeShapeType="1"/>
            <a:stCxn id="582701" idx="2"/>
            <a:endCxn id="582702" idx="1"/>
          </p:cNvCxnSpPr>
          <p:nvPr/>
        </p:nvCxnSpPr>
        <p:spPr bwMode="auto">
          <a:xfrm>
            <a:off x="2139156" y="5353368"/>
            <a:ext cx="0" cy="336550"/>
          </a:xfrm>
          <a:prstGeom prst="straightConnector1">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cxnSp>
      <p:sp>
        <p:nvSpPr>
          <p:cNvPr id="582709" name="Rectangle 53">
            <a:hlinkClick r:id="" action="ppaction://noaction"/>
          </p:cNvPr>
          <p:cNvSpPr>
            <a:spLocks noChangeArrowheads="1"/>
          </p:cNvSpPr>
          <p:nvPr/>
        </p:nvSpPr>
        <p:spPr bwMode="auto">
          <a:xfrm>
            <a:off x="3456781" y="4003993"/>
            <a:ext cx="1641475" cy="609600"/>
          </a:xfrm>
          <a:prstGeom prst="rect">
            <a:avLst/>
          </a:prstGeom>
          <a:noFill/>
          <a:ln w="12700" cap="sq">
            <a:noFill/>
            <a:miter lim="800000"/>
            <a:headEnd/>
            <a:tailEnd/>
          </a:ln>
          <a:effectLst/>
        </p:spPr>
        <p:txBody>
          <a:bodyPr lIns="0" tIns="0" rIns="0" bIns="0">
            <a:spAutoFit/>
          </a:bodyPr>
          <a:lstStyle/>
          <a:p>
            <a:pPr algn="ctr">
              <a:defRPr/>
            </a:pPr>
            <a:r>
              <a:rPr kumimoji="1" lang="zh-CN" altLang="en-US" sz="2000" baseline="0">
                <a:solidFill>
                  <a:srgbClr val="66FF33"/>
                </a:solidFill>
                <a:effectLst>
                  <a:outerShdw blurRad="38100" dist="38100" dir="2700000" algn="tl">
                    <a:srgbClr val="000000"/>
                  </a:outerShdw>
                </a:effectLst>
                <a:latin typeface="Times New Roman" pitchFamily="18" charset="0"/>
                <a:ea typeface="楷体_GB2312" pitchFamily="49" charset="-122"/>
              </a:rPr>
              <a:t>数据库管理员</a:t>
            </a:r>
          </a:p>
          <a:p>
            <a:pPr algn="ctr">
              <a:defRPr/>
            </a:pPr>
            <a:r>
              <a:rPr kumimoji="1" lang="en-US" altLang="zh-CN" sz="2000" baseline="0">
                <a:solidFill>
                  <a:srgbClr val="66FF33"/>
                </a:solidFill>
                <a:effectLst>
                  <a:outerShdw blurRad="38100" dist="38100" dir="2700000" algn="tl">
                    <a:srgbClr val="000000"/>
                  </a:outerShdw>
                </a:effectLst>
                <a:latin typeface="Times New Roman" pitchFamily="18" charset="0"/>
                <a:ea typeface="楷体_GB2312" pitchFamily="49" charset="-122"/>
              </a:rPr>
              <a:t>DBA</a:t>
            </a:r>
          </a:p>
        </p:txBody>
      </p:sp>
      <p:sp>
        <p:nvSpPr>
          <p:cNvPr id="9235" name="Line 54"/>
          <p:cNvSpPr>
            <a:spLocks noChangeShapeType="1"/>
          </p:cNvSpPr>
          <p:nvPr/>
        </p:nvSpPr>
        <p:spPr bwMode="auto">
          <a:xfrm>
            <a:off x="3240881" y="4729481"/>
            <a:ext cx="515938" cy="347662"/>
          </a:xfrm>
          <a:prstGeom prst="line">
            <a:avLst/>
          </a:prstGeom>
          <a:noFill/>
          <a:ln w="12700" cap="sq">
            <a:solidFill>
              <a:srgbClr val="CCFFCC"/>
            </a:solidFill>
            <a:round/>
            <a:headEnd type="triangle" w="med" len="med"/>
            <a:tailEnd/>
          </a:ln>
          <a:extLst>
            <a:ext uri="{909E8E84-426E-40DD-AFC4-6F175D3DCCD1}">
              <a14:hiddenFill xmlns:a14="http://schemas.microsoft.com/office/drawing/2010/main">
                <a:noFill/>
              </a14:hiddenFill>
            </a:ext>
          </a:extLst>
        </p:spPr>
        <p:txBody>
          <a:bodyPr lIns="0" tIns="0" rIns="0" bIns="0" anchor="ctr"/>
          <a:lstStyle/>
          <a:p>
            <a:endParaRPr lang="zh-CN" altLang="en-US"/>
          </a:p>
        </p:txBody>
      </p:sp>
      <p:cxnSp>
        <p:nvCxnSpPr>
          <p:cNvPr id="9236" name="AutoShape 55"/>
          <p:cNvCxnSpPr>
            <a:cxnSpLocks noChangeShapeType="1"/>
            <a:stCxn id="582701" idx="0"/>
          </p:cNvCxnSpPr>
          <p:nvPr/>
        </p:nvCxnSpPr>
        <p:spPr bwMode="auto">
          <a:xfrm>
            <a:off x="2828131" y="5186681"/>
            <a:ext cx="946307" cy="334962"/>
          </a:xfrm>
          <a:prstGeom prst="bentConnector3">
            <a:avLst>
              <a:gd name="adj1" fmla="val 50000"/>
            </a:avLst>
          </a:prstGeom>
          <a:noFill/>
          <a:ln w="12700" cap="sq">
            <a:solidFill>
              <a:srgbClr val="CCFFCC"/>
            </a:solidFill>
            <a:miter lim="800000"/>
            <a:headEnd type="triangle" w="med" len="med"/>
            <a:tailEnd/>
          </a:ln>
          <a:extLst>
            <a:ext uri="{909E8E84-426E-40DD-AFC4-6F175D3DCCD1}">
              <a14:hiddenFill xmlns:a14="http://schemas.microsoft.com/office/drawing/2010/main">
                <a:noFill/>
              </a14:hiddenFill>
            </a:ext>
          </a:extLst>
        </p:spPr>
      </p:cxnSp>
      <p:sp>
        <p:nvSpPr>
          <p:cNvPr id="9237" name="Line 56"/>
          <p:cNvSpPr>
            <a:spLocks noChangeShapeType="1"/>
          </p:cNvSpPr>
          <p:nvPr/>
        </p:nvSpPr>
        <p:spPr bwMode="auto">
          <a:xfrm>
            <a:off x="1156494" y="2799081"/>
            <a:ext cx="139700" cy="490537"/>
          </a:xfrm>
          <a:prstGeom prst="line">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9238" name="Line 57"/>
          <p:cNvSpPr>
            <a:spLocks noChangeShapeType="1"/>
          </p:cNvSpPr>
          <p:nvPr/>
        </p:nvSpPr>
        <p:spPr bwMode="auto">
          <a:xfrm flipH="1">
            <a:off x="1729581" y="2873693"/>
            <a:ext cx="290513" cy="415925"/>
          </a:xfrm>
          <a:prstGeom prst="line">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9239" name="Line 58"/>
          <p:cNvSpPr>
            <a:spLocks noChangeShapeType="1"/>
          </p:cNvSpPr>
          <p:nvPr/>
        </p:nvSpPr>
        <p:spPr bwMode="auto">
          <a:xfrm flipH="1">
            <a:off x="3240881" y="2799081"/>
            <a:ext cx="4763" cy="417512"/>
          </a:xfrm>
          <a:prstGeom prst="line">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zh-CN" altLang="en-US"/>
          </a:p>
        </p:txBody>
      </p:sp>
      <p:pic>
        <p:nvPicPr>
          <p:cNvPr id="9240" name="Picture 52" descr="BD06784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74438" y="4615181"/>
            <a:ext cx="1223963"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2694" name="Rectangle 38"/>
          <p:cNvSpPr>
            <a:spLocks noChangeArrowheads="1"/>
          </p:cNvSpPr>
          <p:nvPr/>
        </p:nvSpPr>
        <p:spPr bwMode="auto">
          <a:xfrm>
            <a:off x="864394" y="2491106"/>
            <a:ext cx="652462" cy="333375"/>
          </a:xfrm>
          <a:prstGeom prst="rect">
            <a:avLst/>
          </a:prstGeom>
          <a:solidFill>
            <a:srgbClr val="CCCCFF"/>
          </a:solidFill>
          <a:ln w="12700" cap="sq">
            <a:solidFill>
              <a:srgbClr val="000000"/>
            </a:solidFill>
            <a:miter lim="800000"/>
            <a:headEnd type="none" w="sm" len="sm"/>
            <a:tailEnd type="none" w="sm" len="sm"/>
          </a:ln>
          <a:effectLst>
            <a:outerShdw dist="35921" dir="2700000" algn="ctr" rotWithShape="0">
              <a:schemeClr val="bg2"/>
            </a:outerShdw>
          </a:effectLst>
        </p:spPr>
        <p:txBody>
          <a:bodyPr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用户</a:t>
            </a:r>
          </a:p>
        </p:txBody>
      </p:sp>
      <p:sp>
        <p:nvSpPr>
          <p:cNvPr id="582695" name="Rectangle 39"/>
          <p:cNvSpPr>
            <a:spLocks noChangeArrowheads="1"/>
          </p:cNvSpPr>
          <p:nvPr/>
        </p:nvSpPr>
        <p:spPr bwMode="auto">
          <a:xfrm>
            <a:off x="1656556" y="2491106"/>
            <a:ext cx="652463" cy="333375"/>
          </a:xfrm>
          <a:prstGeom prst="rect">
            <a:avLst/>
          </a:prstGeom>
          <a:solidFill>
            <a:srgbClr val="CCCCFF"/>
          </a:solidFill>
          <a:ln w="12700" cap="sq">
            <a:solidFill>
              <a:srgbClr val="000000"/>
            </a:solidFill>
            <a:miter lim="800000"/>
            <a:headEnd type="none" w="sm" len="sm"/>
            <a:tailEnd type="none" w="sm" len="sm"/>
          </a:ln>
          <a:effectLst>
            <a:outerShdw dist="35921" dir="2700000" algn="ctr" rotWithShape="0">
              <a:schemeClr val="bg2"/>
            </a:outerShdw>
          </a:effectLst>
        </p:spPr>
        <p:txBody>
          <a:bodyPr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用户</a:t>
            </a:r>
          </a:p>
        </p:txBody>
      </p:sp>
      <p:sp>
        <p:nvSpPr>
          <p:cNvPr id="582696" name="Rectangle 40"/>
          <p:cNvSpPr>
            <a:spLocks noChangeArrowheads="1"/>
          </p:cNvSpPr>
          <p:nvPr/>
        </p:nvSpPr>
        <p:spPr bwMode="auto">
          <a:xfrm>
            <a:off x="3002756" y="2491106"/>
            <a:ext cx="652463" cy="333375"/>
          </a:xfrm>
          <a:prstGeom prst="rect">
            <a:avLst/>
          </a:prstGeom>
          <a:solidFill>
            <a:srgbClr val="CCCCFF"/>
          </a:solidFill>
          <a:ln w="12700" cap="sq">
            <a:solidFill>
              <a:srgbClr val="000000"/>
            </a:solidFill>
            <a:miter lim="800000"/>
            <a:headEnd type="none" w="sm" len="sm"/>
            <a:tailEnd type="none" w="sm" len="sm"/>
          </a:ln>
          <a:effectLst>
            <a:outerShdw dist="35921" dir="2700000" algn="ctr" rotWithShape="0">
              <a:schemeClr val="bg2"/>
            </a:outerShdw>
          </a:effectLst>
        </p:spPr>
        <p:txBody>
          <a:bodyPr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用户</a:t>
            </a:r>
          </a:p>
        </p:txBody>
      </p:sp>
      <p:sp>
        <p:nvSpPr>
          <p:cNvPr id="582698" name="AutoShape 42"/>
          <p:cNvSpPr>
            <a:spLocks noChangeArrowheads="1"/>
          </p:cNvSpPr>
          <p:nvPr/>
        </p:nvSpPr>
        <p:spPr bwMode="auto">
          <a:xfrm>
            <a:off x="721519" y="3289618"/>
            <a:ext cx="1520825" cy="333375"/>
          </a:xfrm>
          <a:prstGeom prst="hexagon">
            <a:avLst>
              <a:gd name="adj" fmla="val 49505"/>
              <a:gd name="vf" fmla="val 115470"/>
            </a:avLst>
          </a:prstGeom>
          <a:solidFill>
            <a:srgbClr val="CCCC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应用系统</a:t>
            </a:r>
          </a:p>
        </p:txBody>
      </p:sp>
      <p:sp>
        <p:nvSpPr>
          <p:cNvPr id="582699" name="AutoShape 43"/>
          <p:cNvSpPr>
            <a:spLocks noChangeArrowheads="1"/>
          </p:cNvSpPr>
          <p:nvPr/>
        </p:nvSpPr>
        <p:spPr bwMode="auto">
          <a:xfrm>
            <a:off x="2521744" y="3289618"/>
            <a:ext cx="2016125" cy="333375"/>
          </a:xfrm>
          <a:prstGeom prst="hexagon">
            <a:avLst>
              <a:gd name="adj" fmla="val 65628"/>
              <a:gd name="vf" fmla="val 115470"/>
            </a:avLst>
          </a:prstGeom>
          <a:solidFill>
            <a:srgbClr val="CCCC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应用开发工具</a:t>
            </a:r>
          </a:p>
        </p:txBody>
      </p:sp>
      <p:sp>
        <p:nvSpPr>
          <p:cNvPr id="582700" name="AutoShape 44"/>
          <p:cNvSpPr>
            <a:spLocks noChangeArrowheads="1"/>
          </p:cNvSpPr>
          <p:nvPr/>
        </p:nvSpPr>
        <p:spPr bwMode="auto">
          <a:xfrm>
            <a:off x="1016794" y="4431031"/>
            <a:ext cx="2246312" cy="333375"/>
          </a:xfrm>
          <a:prstGeom prst="hexagon">
            <a:avLst>
              <a:gd name="adj" fmla="val 73121"/>
              <a:gd name="vf" fmla="val 115470"/>
            </a:avLst>
          </a:prstGeom>
          <a:solidFill>
            <a:srgbClr val="CCCC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数据库管理系统</a:t>
            </a:r>
          </a:p>
        </p:txBody>
      </p:sp>
      <p:sp>
        <p:nvSpPr>
          <p:cNvPr id="582701" name="AutoShape 45"/>
          <p:cNvSpPr>
            <a:spLocks noChangeArrowheads="1"/>
          </p:cNvSpPr>
          <p:nvPr/>
        </p:nvSpPr>
        <p:spPr bwMode="auto">
          <a:xfrm>
            <a:off x="1450181" y="5019993"/>
            <a:ext cx="1377950" cy="333375"/>
          </a:xfrm>
          <a:prstGeom prst="hexagon">
            <a:avLst>
              <a:gd name="adj" fmla="val 44854"/>
              <a:gd name="vf" fmla="val 115470"/>
            </a:avLst>
          </a:prstGeom>
          <a:solidFill>
            <a:srgbClr val="CCCC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操作系统</a:t>
            </a:r>
          </a:p>
        </p:txBody>
      </p:sp>
      <p:sp>
        <p:nvSpPr>
          <p:cNvPr id="582702" name="AutoShape 46"/>
          <p:cNvSpPr>
            <a:spLocks noChangeArrowheads="1"/>
          </p:cNvSpPr>
          <p:nvPr/>
        </p:nvSpPr>
        <p:spPr bwMode="auto">
          <a:xfrm>
            <a:off x="1232694" y="5689918"/>
            <a:ext cx="1812925" cy="598488"/>
          </a:xfrm>
          <a:prstGeom prst="can">
            <a:avLst>
              <a:gd name="adj" fmla="val 25000"/>
            </a:avLst>
          </a:prstGeom>
          <a:solidFill>
            <a:srgbClr val="CCCC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defRPr/>
            </a:pPr>
            <a:endParaRPr kumimoji="1" lang="zh-CN" altLang="en-US" sz="2000" b="1" baseline="0">
              <a:latin typeface="Times New Roman" pitchFamily="18" charset="0"/>
              <a:ea typeface="楷体_GB2312" pitchFamily="49" charset="-122"/>
            </a:endParaRPr>
          </a:p>
        </p:txBody>
      </p:sp>
      <p:sp>
        <p:nvSpPr>
          <p:cNvPr id="9249" name="Rectangle 47"/>
          <p:cNvSpPr>
            <a:spLocks noChangeArrowheads="1"/>
          </p:cNvSpPr>
          <p:nvPr/>
        </p:nvSpPr>
        <p:spPr bwMode="auto">
          <a:xfrm>
            <a:off x="1789906" y="5899468"/>
            <a:ext cx="766763" cy="304800"/>
          </a:xfrm>
          <a:prstGeom prst="rect">
            <a:avLst/>
          </a:prstGeom>
          <a:solidFill>
            <a:srgbClr val="CCCCFF"/>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r>
              <a:rPr kumimoji="1" lang="zh-CN" altLang="en-US" sz="2000" b="1" baseline="0">
                <a:solidFill>
                  <a:srgbClr val="000000"/>
                </a:solidFill>
                <a:latin typeface="Times New Roman" pitchFamily="18" charset="0"/>
                <a:ea typeface="楷体_GB2312" pitchFamily="49" charset="-122"/>
              </a:rPr>
              <a:t>数据库</a:t>
            </a:r>
          </a:p>
        </p:txBody>
      </p:sp>
      <p:cxnSp>
        <p:nvCxnSpPr>
          <p:cNvPr id="9250" name="AutoShape 77"/>
          <p:cNvCxnSpPr>
            <a:cxnSpLocks noChangeShapeType="1"/>
            <a:stCxn id="582698" idx="2"/>
          </p:cNvCxnSpPr>
          <p:nvPr/>
        </p:nvCxnSpPr>
        <p:spPr bwMode="auto">
          <a:xfrm>
            <a:off x="1481931" y="3622993"/>
            <a:ext cx="582613" cy="808038"/>
          </a:xfrm>
          <a:prstGeom prst="straightConnector1">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cxnSp>
      <p:sp>
        <p:nvSpPr>
          <p:cNvPr id="582734" name="Text Box 78"/>
          <p:cNvSpPr txBox="1">
            <a:spLocks noChangeArrowheads="1"/>
          </p:cNvSpPr>
          <p:nvPr/>
        </p:nvSpPr>
        <p:spPr bwMode="auto">
          <a:xfrm>
            <a:off x="179388" y="75753"/>
            <a:ext cx="2710211" cy="760959"/>
          </a:xfrm>
          <a:prstGeom prst="rect">
            <a:avLst/>
          </a:prstGeom>
          <a:noFill/>
          <a:ln w="12700" cap="sq">
            <a:noFill/>
            <a:miter lim="800000"/>
            <a:headEnd/>
            <a:tailEnd/>
          </a:ln>
          <a:effectLst>
            <a:outerShdw dist="35921" dir="2700000" algn="ctr" rotWithShape="0">
              <a:schemeClr val="bg2"/>
            </a:outerShdw>
          </a:effectLst>
        </p:spPr>
        <p:txBody>
          <a:bodyPr wrap="none" lIns="72000" tIns="72000" rIns="72000" bIns="72000">
            <a:spAutoFit/>
          </a:bodyPr>
          <a:lstStyle>
            <a:defPPr>
              <a:defRPr lang="en-US"/>
            </a:defPPr>
            <a:lvl1pPr>
              <a:defRPr sz="4000" b="1" baseline="0">
                <a:solidFill>
                  <a:schemeClr val="folHlink"/>
                </a:solidFill>
                <a:effectLst>
                  <a:outerShdw blurRad="38100" dist="38100" dir="2700000" algn="tl">
                    <a:srgbClr val="000000"/>
                  </a:outerShdw>
                </a:effectLst>
                <a:latin typeface="微软雅黑" pitchFamily="34" charset="-122"/>
                <a:ea typeface="微软雅黑" pitchFamily="34" charset="-122"/>
              </a:defRPr>
            </a:lvl1pPr>
          </a:lstStyle>
          <a:p>
            <a:r>
              <a:rPr lang="zh-CN" altLang="en-US" dirty="0" smtClean="0"/>
              <a:t>数据库系统</a:t>
            </a:r>
            <a:endParaRPr lang="zh-CN" altLang="en-US" dirty="0"/>
          </a:p>
        </p:txBody>
      </p:sp>
      <p:sp>
        <p:nvSpPr>
          <p:cNvPr id="26" name="圆角矩形标注 25"/>
          <p:cNvSpPr/>
          <p:nvPr/>
        </p:nvSpPr>
        <p:spPr bwMode="auto">
          <a:xfrm>
            <a:off x="3655219" y="4003993"/>
            <a:ext cx="4974026" cy="1954531"/>
          </a:xfrm>
          <a:prstGeom prst="wedgeRoundRectCallout">
            <a:avLst>
              <a:gd name="adj1" fmla="val -63203"/>
              <a:gd name="adj2" fmla="val 40069"/>
              <a:gd name="adj3" fmla="val 16667"/>
            </a:avLst>
          </a:prstGeom>
          <a:solidFill>
            <a:schemeClr val="accent5">
              <a:lumMod val="20000"/>
              <a:lumOff val="80000"/>
            </a:schemeClr>
          </a:solidFill>
          <a:ln>
            <a:solidFill>
              <a:srgbClr val="FF6600"/>
            </a:solidFill>
            <a:headEnd type="none" w="med" len="med"/>
            <a:tailEnd type="none" w="med" len="med"/>
          </a:ln>
          <a:effectLst>
            <a:glow rad="101600">
              <a:srgbClr val="FFC000">
                <a:alpha val="60000"/>
              </a:srgb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spcAft>
                <a:spcPct val="25000"/>
              </a:spcAft>
              <a:buSzPct val="80000"/>
              <a:tabLst>
                <a:tab pos="1071563" algn="l"/>
              </a:tabLst>
            </a:pPr>
            <a:r>
              <a:rPr lang="zh-CN" altLang="en-US" sz="2800" b="1" baseline="0" dirty="0" smtClean="0">
                <a:solidFill>
                  <a:srgbClr val="FF0000"/>
                </a:solidFill>
                <a:latin typeface="宋体" panose="02010600030101010101" pitchFamily="2" charset="-122"/>
                <a:ea typeface="宋体" panose="02010600030101010101" pitchFamily="2" charset="-122"/>
              </a:rPr>
              <a:t>数据库</a:t>
            </a:r>
            <a:r>
              <a:rPr lang="zh-CN" altLang="en-US" sz="2800" baseline="0" dirty="0" smtClean="0">
                <a:latin typeface="宋体" panose="02010600030101010101" pitchFamily="2" charset="-122"/>
                <a:ea typeface="宋体" panose="02010600030101010101" pitchFamily="2" charset="-122"/>
              </a:rPr>
              <a:t>（</a:t>
            </a:r>
            <a:r>
              <a:rPr lang="en-US" altLang="zh-CN" sz="2800" i="1" baseline="0" dirty="0">
                <a:latin typeface="宋体" panose="02010600030101010101" pitchFamily="2" charset="-122"/>
                <a:ea typeface="宋体" panose="02010600030101010101" pitchFamily="2" charset="-122"/>
              </a:rPr>
              <a:t>DB</a:t>
            </a:r>
            <a:r>
              <a:rPr lang="zh-CN" altLang="en-US" sz="2800" i="1" baseline="0" dirty="0">
                <a:latin typeface="宋体" panose="02010600030101010101" pitchFamily="2" charset="-122"/>
                <a:ea typeface="宋体" panose="02010600030101010101" pitchFamily="2" charset="-122"/>
              </a:rPr>
              <a:t>，</a:t>
            </a:r>
            <a:r>
              <a:rPr lang="en-US" altLang="zh-CN" sz="2800" i="1" baseline="0" dirty="0" err="1">
                <a:latin typeface="宋体" panose="02010600030101010101" pitchFamily="2" charset="-122"/>
                <a:ea typeface="宋体" panose="02010600030101010101" pitchFamily="2" charset="-122"/>
              </a:rPr>
              <a:t>DataBase</a:t>
            </a:r>
            <a:r>
              <a:rPr lang="zh-CN" altLang="en-US" sz="2800" baseline="0" dirty="0">
                <a:latin typeface="宋体" panose="02010600030101010101" pitchFamily="2" charset="-122"/>
                <a:ea typeface="宋体" panose="02010600030101010101" pitchFamily="2" charset="-122"/>
              </a:rPr>
              <a:t>）</a:t>
            </a:r>
            <a:r>
              <a:rPr lang="zh-CN" altLang="en-US" sz="2800" baseline="0" dirty="0" smtClean="0">
                <a:latin typeface="宋体" panose="02010600030101010101" pitchFamily="2" charset="-122"/>
                <a:ea typeface="宋体" panose="02010600030101010101" pitchFamily="2" charset="-122"/>
              </a:rPr>
              <a:t>是</a:t>
            </a:r>
            <a:r>
              <a:rPr lang="zh-CN" altLang="en-US" sz="2800" baseline="0" dirty="0">
                <a:latin typeface="宋体" panose="02010600030101010101" pitchFamily="2" charset="-122"/>
                <a:ea typeface="宋体" panose="02010600030101010101" pitchFamily="2" charset="-122"/>
              </a:rPr>
              <a:t>长期</a:t>
            </a:r>
            <a:r>
              <a:rPr lang="zh-CN" altLang="en-US" sz="2800" baseline="0" dirty="0" smtClean="0">
                <a:latin typeface="宋体" panose="02010600030101010101" pitchFamily="2" charset="-122"/>
                <a:ea typeface="宋体" panose="02010600030101010101" pitchFamily="2" charset="-122"/>
              </a:rPr>
              <a:t>存储</a:t>
            </a:r>
            <a:r>
              <a:rPr lang="zh-CN" altLang="en-US" sz="2800" baseline="0" dirty="0">
                <a:latin typeface="宋体" panose="02010600030101010101" pitchFamily="2" charset="-122"/>
                <a:ea typeface="宋体" panose="02010600030101010101" pitchFamily="2" charset="-122"/>
              </a:rPr>
              <a:t>在计算机内的、有组织的、可共享</a:t>
            </a:r>
            <a:r>
              <a:rPr lang="zh-CN" altLang="en-US" sz="2800" baseline="0" dirty="0" smtClean="0">
                <a:latin typeface="宋体" panose="02010600030101010101" pitchFamily="2" charset="-122"/>
                <a:ea typeface="宋体" panose="02010600030101010101" pitchFamily="2" charset="-122"/>
              </a:rPr>
              <a:t>的、统一管理的大量</a:t>
            </a:r>
            <a:r>
              <a:rPr lang="zh-CN" altLang="en-US" sz="2800" baseline="0" dirty="0">
                <a:latin typeface="宋体" panose="02010600030101010101" pitchFamily="2" charset="-122"/>
                <a:ea typeface="宋体" panose="02010600030101010101" pitchFamily="2" charset="-122"/>
              </a:rPr>
              <a:t>数据的集合</a:t>
            </a:r>
            <a:r>
              <a:rPr lang="zh-CN" altLang="en-US" sz="2800" baseline="0" dirty="0" smtClean="0"/>
              <a:t>。</a:t>
            </a:r>
            <a:endParaRPr lang="en-US" altLang="zh-CN" sz="2800" baseline="0" dirty="0" smtClean="0"/>
          </a:p>
        </p:txBody>
      </p:sp>
    </p:spTree>
    <p:extLst>
      <p:ext uri="{BB962C8B-B14F-4D97-AF65-F5344CB8AC3E}">
        <p14:creationId xmlns:p14="http://schemas.microsoft.com/office/powerpoint/2010/main" val="4222187972"/>
      </p:ext>
    </p:extLst>
  </p:cSld>
  <p:clrMapOvr>
    <a:masterClrMapping/>
  </p:clrMapOvr>
  <mc:AlternateContent xmlns:mc="http://schemas.openxmlformats.org/markup-compatibility/2006" xmlns:p14="http://schemas.microsoft.com/office/powerpoint/2010/main">
    <mc:Choice Requires="p14">
      <p:transition spd="slow">
        <p14:flash/>
        <p:sndAc>
          <p:stSnd>
            <p:snd r:embed="rId2" name="camera.wav"/>
          </p:stSnd>
        </p:sndAc>
      </p:transition>
    </mc:Choice>
    <mc:Fallback xmlns="">
      <p:transition spd="slow">
        <p:fade/>
        <p:sndAc>
          <p:stSnd>
            <p:snd r:embed="rId4" name="camera.wav"/>
          </p:stSnd>
        </p:sndAc>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60" name="Rectangle 4"/>
          <p:cNvSpPr>
            <a:spLocks noGrp="1" noChangeArrowheads="1"/>
          </p:cNvSpPr>
          <p:nvPr>
            <p:ph idx="1"/>
          </p:nvPr>
        </p:nvSpPr>
        <p:spPr>
          <a:xfrm>
            <a:off x="323850" y="980728"/>
            <a:ext cx="8351838" cy="1008063"/>
          </a:xfrm>
        </p:spPr>
        <p:txBody>
          <a:bodyPr/>
          <a:lstStyle/>
          <a:p>
            <a:pPr eaLnBrk="1" hangingPunct="1">
              <a:spcAft>
                <a:spcPct val="50000"/>
              </a:spcAft>
              <a:defRPr/>
            </a:pPr>
            <a:r>
              <a:rPr lang="zh-CN" altLang="en-US" b="1" dirty="0" smtClean="0">
                <a:solidFill>
                  <a:srgbClr val="FFC000"/>
                </a:solidFill>
              </a:rPr>
              <a:t>数据库系统</a:t>
            </a:r>
            <a:r>
              <a:rPr lang="zh-CN" altLang="en-US" dirty="0" smtClean="0"/>
              <a:t>（</a:t>
            </a:r>
            <a:r>
              <a:rPr lang="en-US" altLang="zh-CN" i="1" dirty="0" smtClean="0"/>
              <a:t>DBS</a:t>
            </a:r>
            <a:r>
              <a:rPr lang="en-US" altLang="zh-CN" dirty="0" smtClean="0"/>
              <a:t> </a:t>
            </a:r>
            <a:r>
              <a:rPr lang="zh-CN" altLang="en-US" i="1" dirty="0" smtClean="0"/>
              <a:t>，</a:t>
            </a:r>
            <a:r>
              <a:rPr lang="en-US" altLang="zh-CN" i="1" dirty="0" err="1" smtClean="0"/>
              <a:t>DataBase</a:t>
            </a:r>
            <a:r>
              <a:rPr lang="en-US" altLang="zh-CN" i="1" dirty="0" smtClean="0"/>
              <a:t> System</a:t>
            </a:r>
            <a:r>
              <a:rPr lang="zh-CN" altLang="en-US" dirty="0" smtClean="0"/>
              <a:t>）是采用了数据库技术的计算机系统。</a:t>
            </a:r>
          </a:p>
        </p:txBody>
      </p:sp>
      <p:sp>
        <p:nvSpPr>
          <p:cNvPr id="9229" name="Text Box 41"/>
          <p:cNvSpPr txBox="1">
            <a:spLocks noChangeArrowheads="1"/>
          </p:cNvSpPr>
          <p:nvPr/>
        </p:nvSpPr>
        <p:spPr bwMode="auto">
          <a:xfrm>
            <a:off x="2296319" y="2424431"/>
            <a:ext cx="7239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lIns="0" tIns="0" rIns="0" bIns="0">
            <a:spAutoFit/>
          </a:bodyPr>
          <a:lstStyle>
            <a:lvl1pPr eaLnBrk="0" hangingPunct="0">
              <a:defRPr sz="1200" baseline="-25000">
                <a:solidFill>
                  <a:schemeClr val="tx1"/>
                </a:solidFill>
                <a:latin typeface="Garamond" pitchFamily="18" charset="0"/>
                <a:ea typeface="宋体" pitchFamily="2" charset="-122"/>
              </a:defRPr>
            </a:lvl1pPr>
            <a:lvl2pPr marL="742950" indent="-285750" eaLnBrk="0" hangingPunct="0">
              <a:defRPr sz="1200" baseline="-25000">
                <a:solidFill>
                  <a:schemeClr val="tx1"/>
                </a:solidFill>
                <a:latin typeface="Garamond" pitchFamily="18" charset="0"/>
                <a:ea typeface="宋体" pitchFamily="2" charset="-122"/>
              </a:defRPr>
            </a:lvl2pPr>
            <a:lvl3pPr marL="1143000" indent="-228600" eaLnBrk="0" hangingPunct="0">
              <a:defRPr sz="1200" baseline="-25000">
                <a:solidFill>
                  <a:schemeClr val="tx1"/>
                </a:solidFill>
                <a:latin typeface="Garamond" pitchFamily="18" charset="0"/>
                <a:ea typeface="宋体" pitchFamily="2" charset="-122"/>
              </a:defRPr>
            </a:lvl3pPr>
            <a:lvl4pPr marL="1600200" indent="-228600" eaLnBrk="0" hangingPunct="0">
              <a:defRPr sz="1200" baseline="-25000">
                <a:solidFill>
                  <a:schemeClr val="tx1"/>
                </a:solidFill>
                <a:latin typeface="Garamond" pitchFamily="18" charset="0"/>
                <a:ea typeface="宋体" pitchFamily="2" charset="-122"/>
              </a:defRPr>
            </a:lvl4pPr>
            <a:lvl5pPr marL="2057400" indent="-228600" eaLnBrk="0" hangingPunct="0">
              <a:defRPr sz="1200" baseline="-25000">
                <a:solidFill>
                  <a:schemeClr val="tx1"/>
                </a:solidFill>
                <a:latin typeface="Garamond" pitchFamily="18" charset="0"/>
                <a:ea typeface="宋体" pitchFamily="2" charset="-122"/>
              </a:defRPr>
            </a:lvl5pPr>
            <a:lvl6pPr marL="25146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6pPr>
            <a:lvl7pPr marL="29718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7pPr>
            <a:lvl8pPr marL="34290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8pPr>
            <a:lvl9pPr marL="38862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9pPr>
          </a:lstStyle>
          <a:p>
            <a:pPr algn="ctr" eaLnBrk="1" hangingPunct="1">
              <a:spcBef>
                <a:spcPct val="50000"/>
              </a:spcBef>
            </a:pPr>
            <a:r>
              <a:rPr kumimoji="1" lang="zh-CN" altLang="en-US" sz="2000" b="1" baseline="0">
                <a:solidFill>
                  <a:srgbClr val="CCFFCC"/>
                </a:solidFill>
                <a:latin typeface="Times New Roman" pitchFamily="18" charset="0"/>
                <a:ea typeface="楷体_GB2312" pitchFamily="49" charset="-122"/>
              </a:rPr>
              <a:t>… …</a:t>
            </a:r>
          </a:p>
        </p:txBody>
      </p:sp>
      <p:cxnSp>
        <p:nvCxnSpPr>
          <p:cNvPr id="9230" name="AutoShape 48"/>
          <p:cNvCxnSpPr>
            <a:cxnSpLocks noChangeShapeType="1"/>
            <a:stCxn id="582699" idx="2"/>
            <a:endCxn id="582698" idx="2"/>
          </p:cNvCxnSpPr>
          <p:nvPr/>
        </p:nvCxnSpPr>
        <p:spPr bwMode="auto">
          <a:xfrm flipH="1">
            <a:off x="2242344" y="3456306"/>
            <a:ext cx="279400" cy="0"/>
          </a:xfrm>
          <a:prstGeom prst="straightConnector1">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cxnSp>
      <p:cxnSp>
        <p:nvCxnSpPr>
          <p:cNvPr id="9231" name="AutoShape 49"/>
          <p:cNvCxnSpPr>
            <a:cxnSpLocks noChangeShapeType="1"/>
            <a:stCxn id="582699" idx="2"/>
            <a:endCxn id="582700" idx="2"/>
          </p:cNvCxnSpPr>
          <p:nvPr/>
        </p:nvCxnSpPr>
        <p:spPr bwMode="auto">
          <a:xfrm flipH="1">
            <a:off x="2140744" y="3622993"/>
            <a:ext cx="1389062" cy="808038"/>
          </a:xfrm>
          <a:prstGeom prst="straightConnector1">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cxnSp>
      <p:cxnSp>
        <p:nvCxnSpPr>
          <p:cNvPr id="9232" name="AutoShape 50"/>
          <p:cNvCxnSpPr>
            <a:cxnSpLocks noChangeShapeType="1"/>
            <a:stCxn id="582700" idx="2"/>
            <a:endCxn id="582701" idx="2"/>
          </p:cNvCxnSpPr>
          <p:nvPr/>
        </p:nvCxnSpPr>
        <p:spPr bwMode="auto">
          <a:xfrm>
            <a:off x="2139156" y="4764406"/>
            <a:ext cx="0" cy="255587"/>
          </a:xfrm>
          <a:prstGeom prst="straightConnector1">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cxnSp>
      <p:cxnSp>
        <p:nvCxnSpPr>
          <p:cNvPr id="9233" name="AutoShape 51"/>
          <p:cNvCxnSpPr>
            <a:cxnSpLocks noChangeShapeType="1"/>
            <a:stCxn id="582701" idx="2"/>
            <a:endCxn id="582702" idx="1"/>
          </p:cNvCxnSpPr>
          <p:nvPr/>
        </p:nvCxnSpPr>
        <p:spPr bwMode="auto">
          <a:xfrm>
            <a:off x="2139156" y="5353368"/>
            <a:ext cx="0" cy="336550"/>
          </a:xfrm>
          <a:prstGeom prst="straightConnector1">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cxnSp>
      <p:sp>
        <p:nvSpPr>
          <p:cNvPr id="582709" name="Rectangle 53">
            <a:hlinkClick r:id="" action="ppaction://noaction"/>
          </p:cNvPr>
          <p:cNvSpPr>
            <a:spLocks noChangeArrowheads="1"/>
          </p:cNvSpPr>
          <p:nvPr/>
        </p:nvSpPr>
        <p:spPr bwMode="auto">
          <a:xfrm>
            <a:off x="3456781" y="4003993"/>
            <a:ext cx="1641475" cy="609600"/>
          </a:xfrm>
          <a:prstGeom prst="rect">
            <a:avLst/>
          </a:prstGeom>
          <a:noFill/>
          <a:ln w="12700" cap="sq">
            <a:noFill/>
            <a:miter lim="800000"/>
            <a:headEnd/>
            <a:tailEnd/>
          </a:ln>
          <a:effectLst/>
        </p:spPr>
        <p:txBody>
          <a:bodyPr lIns="0" tIns="0" rIns="0" bIns="0">
            <a:spAutoFit/>
          </a:bodyPr>
          <a:lstStyle/>
          <a:p>
            <a:pPr algn="ctr">
              <a:defRPr/>
            </a:pPr>
            <a:r>
              <a:rPr kumimoji="1" lang="zh-CN" altLang="en-US" sz="2000" baseline="0">
                <a:solidFill>
                  <a:srgbClr val="66FF33"/>
                </a:solidFill>
                <a:effectLst>
                  <a:outerShdw blurRad="38100" dist="38100" dir="2700000" algn="tl">
                    <a:srgbClr val="000000"/>
                  </a:outerShdw>
                </a:effectLst>
                <a:latin typeface="Times New Roman" pitchFamily="18" charset="0"/>
                <a:ea typeface="楷体_GB2312" pitchFamily="49" charset="-122"/>
              </a:rPr>
              <a:t>数据库管理员</a:t>
            </a:r>
          </a:p>
          <a:p>
            <a:pPr algn="ctr">
              <a:defRPr/>
            </a:pPr>
            <a:r>
              <a:rPr kumimoji="1" lang="en-US" altLang="zh-CN" sz="2000" baseline="0">
                <a:solidFill>
                  <a:srgbClr val="66FF33"/>
                </a:solidFill>
                <a:effectLst>
                  <a:outerShdw blurRad="38100" dist="38100" dir="2700000" algn="tl">
                    <a:srgbClr val="000000"/>
                  </a:outerShdw>
                </a:effectLst>
                <a:latin typeface="Times New Roman" pitchFamily="18" charset="0"/>
                <a:ea typeface="楷体_GB2312" pitchFamily="49" charset="-122"/>
              </a:rPr>
              <a:t>DBA</a:t>
            </a:r>
          </a:p>
        </p:txBody>
      </p:sp>
      <p:sp>
        <p:nvSpPr>
          <p:cNvPr id="9235" name="Line 54"/>
          <p:cNvSpPr>
            <a:spLocks noChangeShapeType="1"/>
          </p:cNvSpPr>
          <p:nvPr/>
        </p:nvSpPr>
        <p:spPr bwMode="auto">
          <a:xfrm>
            <a:off x="3240881" y="4729481"/>
            <a:ext cx="515938" cy="347662"/>
          </a:xfrm>
          <a:prstGeom prst="line">
            <a:avLst/>
          </a:prstGeom>
          <a:noFill/>
          <a:ln w="12700" cap="sq">
            <a:solidFill>
              <a:srgbClr val="CCFFCC"/>
            </a:solidFill>
            <a:round/>
            <a:headEnd type="triangle" w="med" len="med"/>
            <a:tailEnd/>
          </a:ln>
          <a:extLst>
            <a:ext uri="{909E8E84-426E-40DD-AFC4-6F175D3DCCD1}">
              <a14:hiddenFill xmlns:a14="http://schemas.microsoft.com/office/drawing/2010/main">
                <a:noFill/>
              </a14:hiddenFill>
            </a:ext>
          </a:extLst>
        </p:spPr>
        <p:txBody>
          <a:bodyPr lIns="0" tIns="0" rIns="0" bIns="0" anchor="ctr"/>
          <a:lstStyle/>
          <a:p>
            <a:endParaRPr lang="zh-CN" altLang="en-US"/>
          </a:p>
        </p:txBody>
      </p:sp>
      <p:cxnSp>
        <p:nvCxnSpPr>
          <p:cNvPr id="9236" name="AutoShape 55"/>
          <p:cNvCxnSpPr>
            <a:cxnSpLocks noChangeShapeType="1"/>
            <a:stCxn id="582701" idx="0"/>
          </p:cNvCxnSpPr>
          <p:nvPr/>
        </p:nvCxnSpPr>
        <p:spPr bwMode="auto">
          <a:xfrm>
            <a:off x="2828131" y="5186681"/>
            <a:ext cx="946307" cy="334962"/>
          </a:xfrm>
          <a:prstGeom prst="bentConnector3">
            <a:avLst>
              <a:gd name="adj1" fmla="val 50000"/>
            </a:avLst>
          </a:prstGeom>
          <a:noFill/>
          <a:ln w="12700" cap="sq">
            <a:solidFill>
              <a:srgbClr val="CCFFCC"/>
            </a:solidFill>
            <a:miter lim="800000"/>
            <a:headEnd type="triangle" w="med" len="med"/>
            <a:tailEnd/>
          </a:ln>
          <a:extLst>
            <a:ext uri="{909E8E84-426E-40DD-AFC4-6F175D3DCCD1}">
              <a14:hiddenFill xmlns:a14="http://schemas.microsoft.com/office/drawing/2010/main">
                <a:noFill/>
              </a14:hiddenFill>
            </a:ext>
          </a:extLst>
        </p:spPr>
      </p:cxnSp>
      <p:sp>
        <p:nvSpPr>
          <p:cNvPr id="9237" name="Line 56"/>
          <p:cNvSpPr>
            <a:spLocks noChangeShapeType="1"/>
          </p:cNvSpPr>
          <p:nvPr/>
        </p:nvSpPr>
        <p:spPr bwMode="auto">
          <a:xfrm>
            <a:off x="1156494" y="2799081"/>
            <a:ext cx="139700" cy="490537"/>
          </a:xfrm>
          <a:prstGeom prst="line">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9238" name="Line 57"/>
          <p:cNvSpPr>
            <a:spLocks noChangeShapeType="1"/>
          </p:cNvSpPr>
          <p:nvPr/>
        </p:nvSpPr>
        <p:spPr bwMode="auto">
          <a:xfrm flipH="1">
            <a:off x="1729581" y="2873693"/>
            <a:ext cx="290513" cy="415925"/>
          </a:xfrm>
          <a:prstGeom prst="line">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9239" name="Line 58"/>
          <p:cNvSpPr>
            <a:spLocks noChangeShapeType="1"/>
          </p:cNvSpPr>
          <p:nvPr/>
        </p:nvSpPr>
        <p:spPr bwMode="auto">
          <a:xfrm flipH="1">
            <a:off x="3240881" y="2799081"/>
            <a:ext cx="4763" cy="417512"/>
          </a:xfrm>
          <a:prstGeom prst="line">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zh-CN" altLang="en-US"/>
          </a:p>
        </p:txBody>
      </p:sp>
      <p:pic>
        <p:nvPicPr>
          <p:cNvPr id="9240" name="Picture 52" descr="BD06784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74438" y="4615181"/>
            <a:ext cx="1223963"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2694" name="Rectangle 38"/>
          <p:cNvSpPr>
            <a:spLocks noChangeArrowheads="1"/>
          </p:cNvSpPr>
          <p:nvPr/>
        </p:nvSpPr>
        <p:spPr bwMode="auto">
          <a:xfrm>
            <a:off x="864394" y="2491106"/>
            <a:ext cx="652462" cy="333375"/>
          </a:xfrm>
          <a:prstGeom prst="rect">
            <a:avLst/>
          </a:prstGeom>
          <a:solidFill>
            <a:srgbClr val="CCCCFF"/>
          </a:solidFill>
          <a:ln w="12700" cap="sq">
            <a:solidFill>
              <a:srgbClr val="000000"/>
            </a:solidFill>
            <a:miter lim="800000"/>
            <a:headEnd type="none" w="sm" len="sm"/>
            <a:tailEnd type="none" w="sm" len="sm"/>
          </a:ln>
          <a:effectLst>
            <a:outerShdw dist="35921" dir="2700000" algn="ctr" rotWithShape="0">
              <a:schemeClr val="bg2"/>
            </a:outerShdw>
          </a:effectLst>
        </p:spPr>
        <p:txBody>
          <a:bodyPr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用户</a:t>
            </a:r>
          </a:p>
        </p:txBody>
      </p:sp>
      <p:sp>
        <p:nvSpPr>
          <p:cNvPr id="582695" name="Rectangle 39"/>
          <p:cNvSpPr>
            <a:spLocks noChangeArrowheads="1"/>
          </p:cNvSpPr>
          <p:nvPr/>
        </p:nvSpPr>
        <p:spPr bwMode="auto">
          <a:xfrm>
            <a:off x="1656556" y="2491106"/>
            <a:ext cx="652463" cy="333375"/>
          </a:xfrm>
          <a:prstGeom prst="rect">
            <a:avLst/>
          </a:prstGeom>
          <a:solidFill>
            <a:srgbClr val="CCCCFF"/>
          </a:solidFill>
          <a:ln w="12700" cap="sq">
            <a:solidFill>
              <a:srgbClr val="000000"/>
            </a:solidFill>
            <a:miter lim="800000"/>
            <a:headEnd type="none" w="sm" len="sm"/>
            <a:tailEnd type="none" w="sm" len="sm"/>
          </a:ln>
          <a:effectLst>
            <a:outerShdw dist="35921" dir="2700000" algn="ctr" rotWithShape="0">
              <a:schemeClr val="bg2"/>
            </a:outerShdw>
          </a:effectLst>
        </p:spPr>
        <p:txBody>
          <a:bodyPr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用户</a:t>
            </a:r>
          </a:p>
        </p:txBody>
      </p:sp>
      <p:sp>
        <p:nvSpPr>
          <p:cNvPr id="582696" name="Rectangle 40"/>
          <p:cNvSpPr>
            <a:spLocks noChangeArrowheads="1"/>
          </p:cNvSpPr>
          <p:nvPr/>
        </p:nvSpPr>
        <p:spPr bwMode="auto">
          <a:xfrm>
            <a:off x="3002756" y="2491106"/>
            <a:ext cx="652463" cy="333375"/>
          </a:xfrm>
          <a:prstGeom prst="rect">
            <a:avLst/>
          </a:prstGeom>
          <a:solidFill>
            <a:srgbClr val="CCCCFF"/>
          </a:solidFill>
          <a:ln w="12700" cap="sq">
            <a:solidFill>
              <a:srgbClr val="000000"/>
            </a:solidFill>
            <a:miter lim="800000"/>
            <a:headEnd type="none" w="sm" len="sm"/>
            <a:tailEnd type="none" w="sm" len="sm"/>
          </a:ln>
          <a:effectLst>
            <a:outerShdw dist="35921" dir="2700000" algn="ctr" rotWithShape="0">
              <a:schemeClr val="bg2"/>
            </a:outerShdw>
          </a:effectLst>
        </p:spPr>
        <p:txBody>
          <a:bodyPr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用户</a:t>
            </a:r>
          </a:p>
        </p:txBody>
      </p:sp>
      <p:sp>
        <p:nvSpPr>
          <p:cNvPr id="582698" name="AutoShape 42"/>
          <p:cNvSpPr>
            <a:spLocks noChangeArrowheads="1"/>
          </p:cNvSpPr>
          <p:nvPr/>
        </p:nvSpPr>
        <p:spPr bwMode="auto">
          <a:xfrm>
            <a:off x="721519" y="3289618"/>
            <a:ext cx="1520825" cy="333375"/>
          </a:xfrm>
          <a:prstGeom prst="hexagon">
            <a:avLst>
              <a:gd name="adj" fmla="val 49505"/>
              <a:gd name="vf" fmla="val 115470"/>
            </a:avLst>
          </a:prstGeom>
          <a:solidFill>
            <a:srgbClr val="CCCC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应用系统</a:t>
            </a:r>
          </a:p>
        </p:txBody>
      </p:sp>
      <p:sp>
        <p:nvSpPr>
          <p:cNvPr id="582699" name="AutoShape 43"/>
          <p:cNvSpPr>
            <a:spLocks noChangeArrowheads="1"/>
          </p:cNvSpPr>
          <p:nvPr/>
        </p:nvSpPr>
        <p:spPr bwMode="auto">
          <a:xfrm>
            <a:off x="2521744" y="3289618"/>
            <a:ext cx="2016125" cy="333375"/>
          </a:xfrm>
          <a:prstGeom prst="hexagon">
            <a:avLst>
              <a:gd name="adj" fmla="val 65628"/>
              <a:gd name="vf" fmla="val 115470"/>
            </a:avLst>
          </a:prstGeom>
          <a:solidFill>
            <a:srgbClr val="CCCC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应用开发工具</a:t>
            </a:r>
          </a:p>
        </p:txBody>
      </p:sp>
      <p:sp>
        <p:nvSpPr>
          <p:cNvPr id="582700" name="AutoShape 44"/>
          <p:cNvSpPr>
            <a:spLocks noChangeArrowheads="1"/>
          </p:cNvSpPr>
          <p:nvPr/>
        </p:nvSpPr>
        <p:spPr bwMode="auto">
          <a:xfrm>
            <a:off x="1016794" y="4431031"/>
            <a:ext cx="2246312" cy="333375"/>
          </a:xfrm>
          <a:prstGeom prst="hexagon">
            <a:avLst>
              <a:gd name="adj" fmla="val 73121"/>
              <a:gd name="vf" fmla="val 115470"/>
            </a:avLst>
          </a:prstGeom>
          <a:solidFill>
            <a:srgbClr val="CCCC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数据库管理系统</a:t>
            </a:r>
          </a:p>
        </p:txBody>
      </p:sp>
      <p:sp>
        <p:nvSpPr>
          <p:cNvPr id="582701" name="AutoShape 45"/>
          <p:cNvSpPr>
            <a:spLocks noChangeArrowheads="1"/>
          </p:cNvSpPr>
          <p:nvPr/>
        </p:nvSpPr>
        <p:spPr bwMode="auto">
          <a:xfrm>
            <a:off x="1450181" y="5019993"/>
            <a:ext cx="1377950" cy="333375"/>
          </a:xfrm>
          <a:prstGeom prst="hexagon">
            <a:avLst>
              <a:gd name="adj" fmla="val 44854"/>
              <a:gd name="vf" fmla="val 115470"/>
            </a:avLst>
          </a:prstGeom>
          <a:solidFill>
            <a:srgbClr val="CCCC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操作系统</a:t>
            </a:r>
          </a:p>
        </p:txBody>
      </p:sp>
      <p:sp>
        <p:nvSpPr>
          <p:cNvPr id="582702" name="AutoShape 46"/>
          <p:cNvSpPr>
            <a:spLocks noChangeArrowheads="1"/>
          </p:cNvSpPr>
          <p:nvPr/>
        </p:nvSpPr>
        <p:spPr bwMode="auto">
          <a:xfrm>
            <a:off x="1232694" y="5689918"/>
            <a:ext cx="1812925" cy="598488"/>
          </a:xfrm>
          <a:prstGeom prst="can">
            <a:avLst>
              <a:gd name="adj" fmla="val 25000"/>
            </a:avLst>
          </a:prstGeom>
          <a:solidFill>
            <a:srgbClr val="CCCC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defRPr/>
            </a:pPr>
            <a:endParaRPr kumimoji="1" lang="zh-CN" altLang="en-US" sz="2000" b="1" baseline="0">
              <a:latin typeface="Times New Roman" pitchFamily="18" charset="0"/>
              <a:ea typeface="楷体_GB2312" pitchFamily="49" charset="-122"/>
            </a:endParaRPr>
          </a:p>
        </p:txBody>
      </p:sp>
      <p:sp>
        <p:nvSpPr>
          <p:cNvPr id="9249" name="Rectangle 47"/>
          <p:cNvSpPr>
            <a:spLocks noChangeArrowheads="1"/>
          </p:cNvSpPr>
          <p:nvPr/>
        </p:nvSpPr>
        <p:spPr bwMode="auto">
          <a:xfrm>
            <a:off x="1789906" y="5899468"/>
            <a:ext cx="766763" cy="304800"/>
          </a:xfrm>
          <a:prstGeom prst="rect">
            <a:avLst/>
          </a:prstGeom>
          <a:solidFill>
            <a:srgbClr val="CCCCFF"/>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r>
              <a:rPr kumimoji="1" lang="zh-CN" altLang="en-US" sz="2000" b="1" baseline="0">
                <a:solidFill>
                  <a:srgbClr val="000000"/>
                </a:solidFill>
                <a:latin typeface="Times New Roman" pitchFamily="18" charset="0"/>
                <a:ea typeface="楷体_GB2312" pitchFamily="49" charset="-122"/>
              </a:rPr>
              <a:t>数据库</a:t>
            </a:r>
          </a:p>
        </p:txBody>
      </p:sp>
      <p:cxnSp>
        <p:nvCxnSpPr>
          <p:cNvPr id="9250" name="AutoShape 77"/>
          <p:cNvCxnSpPr>
            <a:cxnSpLocks noChangeShapeType="1"/>
            <a:stCxn id="582698" idx="2"/>
          </p:cNvCxnSpPr>
          <p:nvPr/>
        </p:nvCxnSpPr>
        <p:spPr bwMode="auto">
          <a:xfrm>
            <a:off x="1481931" y="3622993"/>
            <a:ext cx="582613" cy="808038"/>
          </a:xfrm>
          <a:prstGeom prst="straightConnector1">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cxnSp>
      <p:sp>
        <p:nvSpPr>
          <p:cNvPr id="582734" name="Text Box 78"/>
          <p:cNvSpPr txBox="1">
            <a:spLocks noChangeArrowheads="1"/>
          </p:cNvSpPr>
          <p:nvPr/>
        </p:nvSpPr>
        <p:spPr bwMode="auto">
          <a:xfrm>
            <a:off x="179388" y="75753"/>
            <a:ext cx="2710211" cy="760959"/>
          </a:xfrm>
          <a:prstGeom prst="rect">
            <a:avLst/>
          </a:prstGeom>
          <a:noFill/>
          <a:ln w="12700" cap="sq">
            <a:noFill/>
            <a:miter lim="800000"/>
            <a:headEnd/>
            <a:tailEnd/>
          </a:ln>
          <a:effectLst>
            <a:outerShdw dist="35921" dir="2700000" algn="ctr" rotWithShape="0">
              <a:schemeClr val="bg2"/>
            </a:outerShdw>
          </a:effectLst>
        </p:spPr>
        <p:txBody>
          <a:bodyPr wrap="none" lIns="72000" tIns="72000" rIns="72000" bIns="72000">
            <a:spAutoFit/>
          </a:bodyPr>
          <a:lstStyle>
            <a:defPPr>
              <a:defRPr lang="en-US"/>
            </a:defPPr>
            <a:lvl1pPr>
              <a:defRPr sz="4000" b="1" baseline="0">
                <a:solidFill>
                  <a:schemeClr val="folHlink"/>
                </a:solidFill>
                <a:effectLst>
                  <a:outerShdw blurRad="38100" dist="38100" dir="2700000" algn="tl">
                    <a:srgbClr val="000000"/>
                  </a:outerShdw>
                </a:effectLst>
                <a:latin typeface="微软雅黑" pitchFamily="34" charset="-122"/>
                <a:ea typeface="微软雅黑" pitchFamily="34" charset="-122"/>
              </a:defRPr>
            </a:lvl1pPr>
          </a:lstStyle>
          <a:p>
            <a:r>
              <a:rPr lang="zh-CN" altLang="en-US" dirty="0" smtClean="0"/>
              <a:t>数据库系统</a:t>
            </a:r>
            <a:endParaRPr lang="zh-CN" altLang="en-US" dirty="0"/>
          </a:p>
        </p:txBody>
      </p:sp>
      <p:sp>
        <p:nvSpPr>
          <p:cNvPr id="27" name="圆角矩形标注 26"/>
          <p:cNvSpPr/>
          <p:nvPr/>
        </p:nvSpPr>
        <p:spPr bwMode="auto">
          <a:xfrm>
            <a:off x="3982850" y="2723675"/>
            <a:ext cx="4661636" cy="3414712"/>
          </a:xfrm>
          <a:prstGeom prst="wedgeRoundRectCallout">
            <a:avLst>
              <a:gd name="adj1" fmla="val -69987"/>
              <a:gd name="adj2" fmla="val 5694"/>
              <a:gd name="adj3" fmla="val 16667"/>
            </a:avLst>
          </a:prstGeom>
          <a:solidFill>
            <a:schemeClr val="accent5">
              <a:lumMod val="20000"/>
              <a:lumOff val="80000"/>
            </a:schemeClr>
          </a:solidFill>
          <a:ln>
            <a:solidFill>
              <a:srgbClr val="FF6600"/>
            </a:solidFill>
            <a:headEnd type="none" w="med" len="med"/>
            <a:tailEnd type="none" w="med" len="med"/>
          </a:ln>
          <a:effectLst>
            <a:glow rad="101600">
              <a:srgbClr val="FFC000">
                <a:alpha val="60000"/>
              </a:srgb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spcAft>
                <a:spcPct val="50000"/>
              </a:spcAft>
              <a:defRPr/>
            </a:pPr>
            <a:r>
              <a:rPr lang="zh-CN" altLang="en-US" sz="2800" b="1" baseline="0" dirty="0" smtClean="0">
                <a:solidFill>
                  <a:srgbClr val="FF0000"/>
                </a:solidFill>
              </a:rPr>
              <a:t>数据库管理系统</a:t>
            </a:r>
            <a:endParaRPr lang="en-US" altLang="zh-CN" sz="2800" b="1" baseline="0" dirty="0" smtClean="0">
              <a:solidFill>
                <a:srgbClr val="FF0000"/>
              </a:solidFill>
            </a:endParaRPr>
          </a:p>
          <a:p>
            <a:pPr eaLnBrk="1" hangingPunct="1">
              <a:spcAft>
                <a:spcPct val="50000"/>
              </a:spcAft>
              <a:defRPr/>
            </a:pPr>
            <a:r>
              <a:rPr lang="zh-CN" altLang="en-US" sz="2800" baseline="0" dirty="0" smtClean="0"/>
              <a:t>（</a:t>
            </a:r>
            <a:r>
              <a:rPr lang="en-US" altLang="zh-CN" sz="2800" i="1" baseline="0" dirty="0"/>
              <a:t>DBMS</a:t>
            </a:r>
            <a:r>
              <a:rPr lang="zh-CN" altLang="en-US" sz="2800" i="1" baseline="0" dirty="0"/>
              <a:t>，</a:t>
            </a:r>
            <a:r>
              <a:rPr lang="en-US" altLang="zh-CN" sz="2800" i="1" baseline="0" dirty="0" err="1"/>
              <a:t>DataBase</a:t>
            </a:r>
            <a:r>
              <a:rPr lang="en-US" altLang="zh-CN" sz="2800" i="1" baseline="0" dirty="0"/>
              <a:t> Management System</a:t>
            </a:r>
            <a:r>
              <a:rPr lang="zh-CN" altLang="en-US" sz="2800" baseline="0" dirty="0"/>
              <a:t>），是位于用户与操作系统之间的一层数据管理软件，是数据库系统的</a:t>
            </a:r>
            <a:r>
              <a:rPr lang="zh-CN" altLang="en-US" sz="2800" b="1" baseline="0" dirty="0">
                <a:solidFill>
                  <a:srgbClr val="FF0000"/>
                </a:solidFill>
              </a:rPr>
              <a:t>核心</a:t>
            </a:r>
            <a:r>
              <a:rPr lang="zh-CN" altLang="en-US" sz="2800" baseline="0" dirty="0" smtClean="0"/>
              <a:t>。</a:t>
            </a:r>
            <a:endParaRPr kumimoji="1" lang="en-US" altLang="zh-CN" sz="2800" b="0" i="0" u="none" strike="noStrike" cap="none" normalizeH="0" baseline="0" dirty="0" smtClean="0">
              <a:ln>
                <a:noFill/>
              </a:ln>
              <a:solidFill>
                <a:schemeClr val="tx1"/>
              </a:solidFill>
              <a:latin typeface="楷体_GB2312" pitchFamily="49" charset="-122"/>
              <a:ea typeface="楷体_GB2312" pitchFamily="49" charset="-122"/>
            </a:endParaRPr>
          </a:p>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2800" b="0" i="0" u="none" strike="noStrike" cap="none" normalizeH="0" baseline="0" dirty="0" smtClean="0">
              <a:ln>
                <a:noFill/>
              </a:ln>
              <a:solidFill>
                <a:schemeClr val="tx1"/>
              </a:solidFill>
              <a:latin typeface="楷体_GB2312" pitchFamily="49" charset="-122"/>
              <a:ea typeface="楷体_GB2312" pitchFamily="49" charset="-122"/>
            </a:endParaRPr>
          </a:p>
        </p:txBody>
      </p:sp>
    </p:spTree>
    <p:extLst>
      <p:ext uri="{BB962C8B-B14F-4D97-AF65-F5344CB8AC3E}">
        <p14:creationId xmlns:p14="http://schemas.microsoft.com/office/powerpoint/2010/main" val="3846538760"/>
      </p:ext>
    </p:extLst>
  </p:cSld>
  <p:clrMapOvr>
    <a:masterClrMapping/>
  </p:clrMapOvr>
  <mc:AlternateContent xmlns:mc="http://schemas.openxmlformats.org/markup-compatibility/2006" xmlns:p14="http://schemas.microsoft.com/office/powerpoint/2010/main">
    <mc:Choice Requires="p14">
      <p:transition spd="slow" p14:dur="1500">
        <p:split orient="vert"/>
        <p:sndAc>
          <p:stSnd>
            <p:snd r:embed="rId2" name="camera.wav"/>
          </p:stSnd>
        </p:sndAc>
      </p:transition>
    </mc:Choice>
    <mc:Fallback xmlns="">
      <p:transition spd="slow">
        <p:split orient="vert"/>
        <p:sndAc>
          <p:stSnd>
            <p:snd r:embed="rId4" name="camera.wav"/>
          </p:stSnd>
        </p:sndAc>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60" name="Rectangle 4"/>
          <p:cNvSpPr>
            <a:spLocks noGrp="1" noChangeArrowheads="1"/>
          </p:cNvSpPr>
          <p:nvPr>
            <p:ph idx="1"/>
          </p:nvPr>
        </p:nvSpPr>
        <p:spPr>
          <a:xfrm>
            <a:off x="323850" y="980728"/>
            <a:ext cx="8351838" cy="1008063"/>
          </a:xfrm>
        </p:spPr>
        <p:txBody>
          <a:bodyPr/>
          <a:lstStyle/>
          <a:p>
            <a:pPr eaLnBrk="1" hangingPunct="1">
              <a:spcAft>
                <a:spcPct val="50000"/>
              </a:spcAft>
              <a:defRPr/>
            </a:pPr>
            <a:r>
              <a:rPr lang="zh-CN" altLang="en-US" b="1" dirty="0" smtClean="0">
                <a:solidFill>
                  <a:srgbClr val="FFC000"/>
                </a:solidFill>
              </a:rPr>
              <a:t>数据库系统</a:t>
            </a:r>
            <a:r>
              <a:rPr lang="zh-CN" altLang="en-US" dirty="0" smtClean="0"/>
              <a:t>（</a:t>
            </a:r>
            <a:r>
              <a:rPr lang="en-US" altLang="zh-CN" i="1" dirty="0" smtClean="0"/>
              <a:t>DBS</a:t>
            </a:r>
            <a:r>
              <a:rPr lang="en-US" altLang="zh-CN" dirty="0" smtClean="0"/>
              <a:t> </a:t>
            </a:r>
            <a:r>
              <a:rPr lang="zh-CN" altLang="en-US" i="1" dirty="0" smtClean="0"/>
              <a:t>，</a:t>
            </a:r>
            <a:r>
              <a:rPr lang="en-US" altLang="zh-CN" i="1" dirty="0" err="1" smtClean="0"/>
              <a:t>DataBase</a:t>
            </a:r>
            <a:r>
              <a:rPr lang="en-US" altLang="zh-CN" i="1" dirty="0" smtClean="0"/>
              <a:t> System</a:t>
            </a:r>
            <a:r>
              <a:rPr lang="zh-CN" altLang="en-US" dirty="0" smtClean="0"/>
              <a:t>）是采用了数据库技术的计算机系统。</a:t>
            </a:r>
          </a:p>
        </p:txBody>
      </p:sp>
      <p:sp>
        <p:nvSpPr>
          <p:cNvPr id="9229" name="Text Box 41"/>
          <p:cNvSpPr txBox="1">
            <a:spLocks noChangeArrowheads="1"/>
          </p:cNvSpPr>
          <p:nvPr/>
        </p:nvSpPr>
        <p:spPr bwMode="auto">
          <a:xfrm>
            <a:off x="2296319" y="2424431"/>
            <a:ext cx="7239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lIns="0" tIns="0" rIns="0" bIns="0">
            <a:spAutoFit/>
          </a:bodyPr>
          <a:lstStyle>
            <a:lvl1pPr eaLnBrk="0" hangingPunct="0">
              <a:defRPr sz="1200" baseline="-25000">
                <a:solidFill>
                  <a:schemeClr val="tx1"/>
                </a:solidFill>
                <a:latin typeface="Garamond" pitchFamily="18" charset="0"/>
                <a:ea typeface="宋体" pitchFamily="2" charset="-122"/>
              </a:defRPr>
            </a:lvl1pPr>
            <a:lvl2pPr marL="742950" indent="-285750" eaLnBrk="0" hangingPunct="0">
              <a:defRPr sz="1200" baseline="-25000">
                <a:solidFill>
                  <a:schemeClr val="tx1"/>
                </a:solidFill>
                <a:latin typeface="Garamond" pitchFamily="18" charset="0"/>
                <a:ea typeface="宋体" pitchFamily="2" charset="-122"/>
              </a:defRPr>
            </a:lvl2pPr>
            <a:lvl3pPr marL="1143000" indent="-228600" eaLnBrk="0" hangingPunct="0">
              <a:defRPr sz="1200" baseline="-25000">
                <a:solidFill>
                  <a:schemeClr val="tx1"/>
                </a:solidFill>
                <a:latin typeface="Garamond" pitchFamily="18" charset="0"/>
                <a:ea typeface="宋体" pitchFamily="2" charset="-122"/>
              </a:defRPr>
            </a:lvl3pPr>
            <a:lvl4pPr marL="1600200" indent="-228600" eaLnBrk="0" hangingPunct="0">
              <a:defRPr sz="1200" baseline="-25000">
                <a:solidFill>
                  <a:schemeClr val="tx1"/>
                </a:solidFill>
                <a:latin typeface="Garamond" pitchFamily="18" charset="0"/>
                <a:ea typeface="宋体" pitchFamily="2" charset="-122"/>
              </a:defRPr>
            </a:lvl4pPr>
            <a:lvl5pPr marL="2057400" indent="-228600" eaLnBrk="0" hangingPunct="0">
              <a:defRPr sz="1200" baseline="-25000">
                <a:solidFill>
                  <a:schemeClr val="tx1"/>
                </a:solidFill>
                <a:latin typeface="Garamond" pitchFamily="18" charset="0"/>
                <a:ea typeface="宋体" pitchFamily="2" charset="-122"/>
              </a:defRPr>
            </a:lvl5pPr>
            <a:lvl6pPr marL="25146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6pPr>
            <a:lvl7pPr marL="29718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7pPr>
            <a:lvl8pPr marL="34290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8pPr>
            <a:lvl9pPr marL="38862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9pPr>
          </a:lstStyle>
          <a:p>
            <a:pPr algn="ctr" eaLnBrk="1" hangingPunct="1">
              <a:spcBef>
                <a:spcPct val="50000"/>
              </a:spcBef>
            </a:pPr>
            <a:r>
              <a:rPr kumimoji="1" lang="zh-CN" altLang="en-US" sz="2000" b="1" baseline="0">
                <a:solidFill>
                  <a:srgbClr val="CCFFCC"/>
                </a:solidFill>
                <a:latin typeface="Times New Roman" pitchFamily="18" charset="0"/>
                <a:ea typeface="楷体_GB2312" pitchFamily="49" charset="-122"/>
              </a:rPr>
              <a:t>… …</a:t>
            </a:r>
          </a:p>
        </p:txBody>
      </p:sp>
      <p:cxnSp>
        <p:nvCxnSpPr>
          <p:cNvPr id="9230" name="AutoShape 48"/>
          <p:cNvCxnSpPr>
            <a:cxnSpLocks noChangeShapeType="1"/>
            <a:stCxn id="582699" idx="2"/>
            <a:endCxn id="582698" idx="2"/>
          </p:cNvCxnSpPr>
          <p:nvPr/>
        </p:nvCxnSpPr>
        <p:spPr bwMode="auto">
          <a:xfrm flipH="1">
            <a:off x="2242344" y="3456306"/>
            <a:ext cx="279400" cy="0"/>
          </a:xfrm>
          <a:prstGeom prst="straightConnector1">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cxnSp>
      <p:cxnSp>
        <p:nvCxnSpPr>
          <p:cNvPr id="9231" name="AutoShape 49"/>
          <p:cNvCxnSpPr>
            <a:cxnSpLocks noChangeShapeType="1"/>
            <a:stCxn id="582699" idx="2"/>
            <a:endCxn id="582700" idx="2"/>
          </p:cNvCxnSpPr>
          <p:nvPr/>
        </p:nvCxnSpPr>
        <p:spPr bwMode="auto">
          <a:xfrm flipH="1">
            <a:off x="2140744" y="3622993"/>
            <a:ext cx="1389062" cy="808038"/>
          </a:xfrm>
          <a:prstGeom prst="straightConnector1">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cxnSp>
      <p:cxnSp>
        <p:nvCxnSpPr>
          <p:cNvPr id="9232" name="AutoShape 50"/>
          <p:cNvCxnSpPr>
            <a:cxnSpLocks noChangeShapeType="1"/>
            <a:stCxn id="582700" idx="2"/>
            <a:endCxn id="582701" idx="2"/>
          </p:cNvCxnSpPr>
          <p:nvPr/>
        </p:nvCxnSpPr>
        <p:spPr bwMode="auto">
          <a:xfrm>
            <a:off x="2139156" y="4764406"/>
            <a:ext cx="0" cy="255587"/>
          </a:xfrm>
          <a:prstGeom prst="straightConnector1">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cxnSp>
      <p:cxnSp>
        <p:nvCxnSpPr>
          <p:cNvPr id="9233" name="AutoShape 51"/>
          <p:cNvCxnSpPr>
            <a:cxnSpLocks noChangeShapeType="1"/>
            <a:stCxn id="582701" idx="2"/>
            <a:endCxn id="582702" idx="1"/>
          </p:cNvCxnSpPr>
          <p:nvPr/>
        </p:nvCxnSpPr>
        <p:spPr bwMode="auto">
          <a:xfrm>
            <a:off x="2139156" y="5353368"/>
            <a:ext cx="0" cy="336550"/>
          </a:xfrm>
          <a:prstGeom prst="straightConnector1">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cxnSp>
      <p:sp>
        <p:nvSpPr>
          <p:cNvPr id="582709" name="Rectangle 53">
            <a:hlinkClick r:id="" action="ppaction://noaction"/>
          </p:cNvPr>
          <p:cNvSpPr>
            <a:spLocks noChangeArrowheads="1"/>
          </p:cNvSpPr>
          <p:nvPr/>
        </p:nvSpPr>
        <p:spPr bwMode="auto">
          <a:xfrm>
            <a:off x="3456781" y="4003993"/>
            <a:ext cx="1641475" cy="609600"/>
          </a:xfrm>
          <a:prstGeom prst="rect">
            <a:avLst/>
          </a:prstGeom>
          <a:noFill/>
          <a:ln w="12700" cap="sq">
            <a:noFill/>
            <a:miter lim="800000"/>
            <a:headEnd/>
            <a:tailEnd/>
          </a:ln>
          <a:effectLst/>
        </p:spPr>
        <p:txBody>
          <a:bodyPr lIns="0" tIns="0" rIns="0" bIns="0">
            <a:spAutoFit/>
          </a:bodyPr>
          <a:lstStyle/>
          <a:p>
            <a:pPr algn="ctr">
              <a:defRPr/>
            </a:pPr>
            <a:r>
              <a:rPr kumimoji="1" lang="zh-CN" altLang="en-US" sz="2000" baseline="0" dirty="0">
                <a:solidFill>
                  <a:srgbClr val="66FF33"/>
                </a:solidFill>
                <a:effectLst>
                  <a:outerShdw blurRad="38100" dist="38100" dir="2700000" algn="tl">
                    <a:srgbClr val="000000"/>
                  </a:outerShdw>
                </a:effectLst>
                <a:latin typeface="Times New Roman" pitchFamily="18" charset="0"/>
                <a:ea typeface="楷体_GB2312" pitchFamily="49" charset="-122"/>
              </a:rPr>
              <a:t>数据库管理员</a:t>
            </a:r>
          </a:p>
          <a:p>
            <a:pPr algn="ctr">
              <a:defRPr/>
            </a:pPr>
            <a:r>
              <a:rPr kumimoji="1" lang="en-US" altLang="zh-CN" sz="2000" baseline="0" dirty="0">
                <a:solidFill>
                  <a:srgbClr val="66FF33"/>
                </a:solidFill>
                <a:effectLst>
                  <a:outerShdw blurRad="38100" dist="38100" dir="2700000" algn="tl">
                    <a:srgbClr val="000000"/>
                  </a:outerShdw>
                </a:effectLst>
                <a:latin typeface="Times New Roman" pitchFamily="18" charset="0"/>
                <a:ea typeface="楷体_GB2312" pitchFamily="49" charset="-122"/>
              </a:rPr>
              <a:t>DBA</a:t>
            </a:r>
          </a:p>
        </p:txBody>
      </p:sp>
      <p:sp>
        <p:nvSpPr>
          <p:cNvPr id="9235" name="Line 54"/>
          <p:cNvSpPr>
            <a:spLocks noChangeShapeType="1"/>
          </p:cNvSpPr>
          <p:nvPr/>
        </p:nvSpPr>
        <p:spPr bwMode="auto">
          <a:xfrm>
            <a:off x="3240881" y="4729481"/>
            <a:ext cx="515938" cy="347662"/>
          </a:xfrm>
          <a:prstGeom prst="line">
            <a:avLst/>
          </a:prstGeom>
          <a:noFill/>
          <a:ln w="12700" cap="sq">
            <a:solidFill>
              <a:srgbClr val="CCFFCC"/>
            </a:solidFill>
            <a:round/>
            <a:headEnd type="triangle" w="med" len="med"/>
            <a:tailEnd/>
          </a:ln>
          <a:extLst>
            <a:ext uri="{909E8E84-426E-40DD-AFC4-6F175D3DCCD1}">
              <a14:hiddenFill xmlns:a14="http://schemas.microsoft.com/office/drawing/2010/main">
                <a:noFill/>
              </a14:hiddenFill>
            </a:ext>
          </a:extLst>
        </p:spPr>
        <p:txBody>
          <a:bodyPr lIns="0" tIns="0" rIns="0" bIns="0" anchor="ctr"/>
          <a:lstStyle/>
          <a:p>
            <a:endParaRPr lang="zh-CN" altLang="en-US"/>
          </a:p>
        </p:txBody>
      </p:sp>
      <p:cxnSp>
        <p:nvCxnSpPr>
          <p:cNvPr id="9236" name="AutoShape 55"/>
          <p:cNvCxnSpPr>
            <a:cxnSpLocks noChangeShapeType="1"/>
            <a:stCxn id="582701" idx="0"/>
          </p:cNvCxnSpPr>
          <p:nvPr/>
        </p:nvCxnSpPr>
        <p:spPr bwMode="auto">
          <a:xfrm>
            <a:off x="2828131" y="5186681"/>
            <a:ext cx="946307" cy="334962"/>
          </a:xfrm>
          <a:prstGeom prst="bentConnector3">
            <a:avLst>
              <a:gd name="adj1" fmla="val 50000"/>
            </a:avLst>
          </a:prstGeom>
          <a:noFill/>
          <a:ln w="12700" cap="sq">
            <a:solidFill>
              <a:srgbClr val="CCFFCC"/>
            </a:solidFill>
            <a:miter lim="800000"/>
            <a:headEnd type="triangle" w="med" len="med"/>
            <a:tailEnd/>
          </a:ln>
          <a:extLst>
            <a:ext uri="{909E8E84-426E-40DD-AFC4-6F175D3DCCD1}">
              <a14:hiddenFill xmlns:a14="http://schemas.microsoft.com/office/drawing/2010/main">
                <a:noFill/>
              </a14:hiddenFill>
            </a:ext>
          </a:extLst>
        </p:spPr>
      </p:cxnSp>
      <p:sp>
        <p:nvSpPr>
          <p:cNvPr id="9237" name="Line 56"/>
          <p:cNvSpPr>
            <a:spLocks noChangeShapeType="1"/>
          </p:cNvSpPr>
          <p:nvPr/>
        </p:nvSpPr>
        <p:spPr bwMode="auto">
          <a:xfrm>
            <a:off x="1156494" y="2799081"/>
            <a:ext cx="139700" cy="490537"/>
          </a:xfrm>
          <a:prstGeom prst="line">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9238" name="Line 57"/>
          <p:cNvSpPr>
            <a:spLocks noChangeShapeType="1"/>
          </p:cNvSpPr>
          <p:nvPr/>
        </p:nvSpPr>
        <p:spPr bwMode="auto">
          <a:xfrm flipH="1">
            <a:off x="1729581" y="2873693"/>
            <a:ext cx="290513" cy="415925"/>
          </a:xfrm>
          <a:prstGeom prst="line">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9239" name="Line 58"/>
          <p:cNvSpPr>
            <a:spLocks noChangeShapeType="1"/>
          </p:cNvSpPr>
          <p:nvPr/>
        </p:nvSpPr>
        <p:spPr bwMode="auto">
          <a:xfrm flipH="1">
            <a:off x="3240881" y="2799081"/>
            <a:ext cx="4763" cy="417512"/>
          </a:xfrm>
          <a:prstGeom prst="line">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zh-CN" altLang="en-US"/>
          </a:p>
        </p:txBody>
      </p:sp>
      <p:pic>
        <p:nvPicPr>
          <p:cNvPr id="9240" name="Picture 52" descr="BD06784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74438" y="4615181"/>
            <a:ext cx="1223963"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2694" name="Rectangle 38"/>
          <p:cNvSpPr>
            <a:spLocks noChangeArrowheads="1"/>
          </p:cNvSpPr>
          <p:nvPr/>
        </p:nvSpPr>
        <p:spPr bwMode="auto">
          <a:xfrm>
            <a:off x="864394" y="2491106"/>
            <a:ext cx="652462" cy="333375"/>
          </a:xfrm>
          <a:prstGeom prst="rect">
            <a:avLst/>
          </a:prstGeom>
          <a:solidFill>
            <a:srgbClr val="CCCCFF"/>
          </a:solidFill>
          <a:ln w="12700" cap="sq">
            <a:solidFill>
              <a:srgbClr val="000000"/>
            </a:solidFill>
            <a:miter lim="800000"/>
            <a:headEnd type="none" w="sm" len="sm"/>
            <a:tailEnd type="none" w="sm" len="sm"/>
          </a:ln>
          <a:effectLst>
            <a:outerShdw dist="35921" dir="2700000" algn="ctr" rotWithShape="0">
              <a:schemeClr val="bg2"/>
            </a:outerShdw>
          </a:effectLst>
        </p:spPr>
        <p:txBody>
          <a:bodyPr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用户</a:t>
            </a:r>
          </a:p>
        </p:txBody>
      </p:sp>
      <p:sp>
        <p:nvSpPr>
          <p:cNvPr id="582695" name="Rectangle 39"/>
          <p:cNvSpPr>
            <a:spLocks noChangeArrowheads="1"/>
          </p:cNvSpPr>
          <p:nvPr/>
        </p:nvSpPr>
        <p:spPr bwMode="auto">
          <a:xfrm>
            <a:off x="1656556" y="2491106"/>
            <a:ext cx="652463" cy="333375"/>
          </a:xfrm>
          <a:prstGeom prst="rect">
            <a:avLst/>
          </a:prstGeom>
          <a:solidFill>
            <a:srgbClr val="CCCCFF"/>
          </a:solidFill>
          <a:ln w="12700" cap="sq">
            <a:solidFill>
              <a:srgbClr val="000000"/>
            </a:solidFill>
            <a:miter lim="800000"/>
            <a:headEnd type="none" w="sm" len="sm"/>
            <a:tailEnd type="none" w="sm" len="sm"/>
          </a:ln>
          <a:effectLst>
            <a:outerShdw dist="35921" dir="2700000" algn="ctr" rotWithShape="0">
              <a:schemeClr val="bg2"/>
            </a:outerShdw>
          </a:effectLst>
        </p:spPr>
        <p:txBody>
          <a:bodyPr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用户</a:t>
            </a:r>
          </a:p>
        </p:txBody>
      </p:sp>
      <p:sp>
        <p:nvSpPr>
          <p:cNvPr id="582696" name="Rectangle 40"/>
          <p:cNvSpPr>
            <a:spLocks noChangeArrowheads="1"/>
          </p:cNvSpPr>
          <p:nvPr/>
        </p:nvSpPr>
        <p:spPr bwMode="auto">
          <a:xfrm>
            <a:off x="3002756" y="2491106"/>
            <a:ext cx="652463" cy="333375"/>
          </a:xfrm>
          <a:prstGeom prst="rect">
            <a:avLst/>
          </a:prstGeom>
          <a:solidFill>
            <a:srgbClr val="CCCCFF"/>
          </a:solidFill>
          <a:ln w="12700" cap="sq">
            <a:solidFill>
              <a:srgbClr val="000000"/>
            </a:solidFill>
            <a:miter lim="800000"/>
            <a:headEnd type="none" w="sm" len="sm"/>
            <a:tailEnd type="none" w="sm" len="sm"/>
          </a:ln>
          <a:effectLst>
            <a:outerShdw dist="35921" dir="2700000" algn="ctr" rotWithShape="0">
              <a:schemeClr val="bg2"/>
            </a:outerShdw>
          </a:effectLst>
        </p:spPr>
        <p:txBody>
          <a:bodyPr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用户</a:t>
            </a:r>
          </a:p>
        </p:txBody>
      </p:sp>
      <p:sp>
        <p:nvSpPr>
          <p:cNvPr id="582698" name="AutoShape 42"/>
          <p:cNvSpPr>
            <a:spLocks noChangeArrowheads="1"/>
          </p:cNvSpPr>
          <p:nvPr/>
        </p:nvSpPr>
        <p:spPr bwMode="auto">
          <a:xfrm>
            <a:off x="721519" y="3289618"/>
            <a:ext cx="1520825" cy="333375"/>
          </a:xfrm>
          <a:prstGeom prst="hexagon">
            <a:avLst>
              <a:gd name="adj" fmla="val 49505"/>
              <a:gd name="vf" fmla="val 115470"/>
            </a:avLst>
          </a:prstGeom>
          <a:solidFill>
            <a:srgbClr val="CCCC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应用系统</a:t>
            </a:r>
          </a:p>
        </p:txBody>
      </p:sp>
      <p:sp>
        <p:nvSpPr>
          <p:cNvPr id="582699" name="AutoShape 43"/>
          <p:cNvSpPr>
            <a:spLocks noChangeArrowheads="1"/>
          </p:cNvSpPr>
          <p:nvPr/>
        </p:nvSpPr>
        <p:spPr bwMode="auto">
          <a:xfrm>
            <a:off x="2521744" y="3289618"/>
            <a:ext cx="2016125" cy="333375"/>
          </a:xfrm>
          <a:prstGeom prst="hexagon">
            <a:avLst>
              <a:gd name="adj" fmla="val 65628"/>
              <a:gd name="vf" fmla="val 115470"/>
            </a:avLst>
          </a:prstGeom>
          <a:solidFill>
            <a:srgbClr val="CCCC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应用开发工具</a:t>
            </a:r>
          </a:p>
        </p:txBody>
      </p:sp>
      <p:sp>
        <p:nvSpPr>
          <p:cNvPr id="582700" name="AutoShape 44"/>
          <p:cNvSpPr>
            <a:spLocks noChangeArrowheads="1"/>
          </p:cNvSpPr>
          <p:nvPr/>
        </p:nvSpPr>
        <p:spPr bwMode="auto">
          <a:xfrm>
            <a:off x="1016794" y="4431031"/>
            <a:ext cx="2246312" cy="333375"/>
          </a:xfrm>
          <a:prstGeom prst="hexagon">
            <a:avLst>
              <a:gd name="adj" fmla="val 73121"/>
              <a:gd name="vf" fmla="val 115470"/>
            </a:avLst>
          </a:prstGeom>
          <a:solidFill>
            <a:srgbClr val="CCCC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数据库管理系统</a:t>
            </a:r>
          </a:p>
        </p:txBody>
      </p:sp>
      <p:sp>
        <p:nvSpPr>
          <p:cNvPr id="582701" name="AutoShape 45"/>
          <p:cNvSpPr>
            <a:spLocks noChangeArrowheads="1"/>
          </p:cNvSpPr>
          <p:nvPr/>
        </p:nvSpPr>
        <p:spPr bwMode="auto">
          <a:xfrm>
            <a:off x="1450181" y="5019993"/>
            <a:ext cx="1377950" cy="333375"/>
          </a:xfrm>
          <a:prstGeom prst="hexagon">
            <a:avLst>
              <a:gd name="adj" fmla="val 44854"/>
              <a:gd name="vf" fmla="val 115470"/>
            </a:avLst>
          </a:prstGeom>
          <a:solidFill>
            <a:srgbClr val="CCCC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defRPr/>
            </a:pPr>
            <a:r>
              <a:rPr kumimoji="1" lang="zh-CN" altLang="en-US" sz="2000" b="1" baseline="0">
                <a:solidFill>
                  <a:srgbClr val="000000"/>
                </a:solidFill>
                <a:latin typeface="Times New Roman" pitchFamily="18" charset="0"/>
                <a:ea typeface="楷体_GB2312" pitchFamily="49" charset="-122"/>
              </a:rPr>
              <a:t>操作系统</a:t>
            </a:r>
          </a:p>
        </p:txBody>
      </p:sp>
      <p:sp>
        <p:nvSpPr>
          <p:cNvPr id="582702" name="AutoShape 46"/>
          <p:cNvSpPr>
            <a:spLocks noChangeArrowheads="1"/>
          </p:cNvSpPr>
          <p:nvPr/>
        </p:nvSpPr>
        <p:spPr bwMode="auto">
          <a:xfrm>
            <a:off x="1232694" y="5689918"/>
            <a:ext cx="1812925" cy="598488"/>
          </a:xfrm>
          <a:prstGeom prst="can">
            <a:avLst>
              <a:gd name="adj" fmla="val 25000"/>
            </a:avLst>
          </a:prstGeom>
          <a:solidFill>
            <a:srgbClr val="CCCC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defRPr/>
            </a:pPr>
            <a:endParaRPr kumimoji="1" lang="zh-CN" altLang="en-US" sz="2000" b="1" baseline="0">
              <a:latin typeface="Times New Roman" pitchFamily="18" charset="0"/>
              <a:ea typeface="楷体_GB2312" pitchFamily="49" charset="-122"/>
            </a:endParaRPr>
          </a:p>
        </p:txBody>
      </p:sp>
      <p:sp>
        <p:nvSpPr>
          <p:cNvPr id="9249" name="Rectangle 47"/>
          <p:cNvSpPr>
            <a:spLocks noChangeArrowheads="1"/>
          </p:cNvSpPr>
          <p:nvPr/>
        </p:nvSpPr>
        <p:spPr bwMode="auto">
          <a:xfrm>
            <a:off x="1789906" y="5899468"/>
            <a:ext cx="766763" cy="304800"/>
          </a:xfrm>
          <a:prstGeom prst="rect">
            <a:avLst/>
          </a:prstGeom>
          <a:solidFill>
            <a:srgbClr val="CCCCFF"/>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r>
              <a:rPr kumimoji="1" lang="zh-CN" altLang="en-US" sz="2000" b="1" baseline="0">
                <a:solidFill>
                  <a:srgbClr val="000000"/>
                </a:solidFill>
                <a:latin typeface="Times New Roman" pitchFamily="18" charset="0"/>
                <a:ea typeface="楷体_GB2312" pitchFamily="49" charset="-122"/>
              </a:rPr>
              <a:t>数据库</a:t>
            </a:r>
          </a:p>
        </p:txBody>
      </p:sp>
      <p:cxnSp>
        <p:nvCxnSpPr>
          <p:cNvPr id="9250" name="AutoShape 77"/>
          <p:cNvCxnSpPr>
            <a:cxnSpLocks noChangeShapeType="1"/>
            <a:stCxn id="582698" idx="2"/>
          </p:cNvCxnSpPr>
          <p:nvPr/>
        </p:nvCxnSpPr>
        <p:spPr bwMode="auto">
          <a:xfrm>
            <a:off x="1481931" y="3622993"/>
            <a:ext cx="582613" cy="808038"/>
          </a:xfrm>
          <a:prstGeom prst="straightConnector1">
            <a:avLst/>
          </a:prstGeom>
          <a:noFill/>
          <a:ln w="12700" cap="sq">
            <a:solidFill>
              <a:srgbClr val="CCFFCC"/>
            </a:solidFill>
            <a:round/>
            <a:headEnd/>
            <a:tailEnd type="triangle" w="med" len="med"/>
          </a:ln>
          <a:extLst>
            <a:ext uri="{909E8E84-426E-40DD-AFC4-6F175D3DCCD1}">
              <a14:hiddenFill xmlns:a14="http://schemas.microsoft.com/office/drawing/2010/main">
                <a:noFill/>
              </a14:hiddenFill>
            </a:ext>
          </a:extLst>
        </p:spPr>
      </p:cxnSp>
      <p:sp>
        <p:nvSpPr>
          <p:cNvPr id="582734" name="Text Box 78"/>
          <p:cNvSpPr txBox="1">
            <a:spLocks noChangeArrowheads="1"/>
          </p:cNvSpPr>
          <p:nvPr/>
        </p:nvSpPr>
        <p:spPr bwMode="auto">
          <a:xfrm>
            <a:off x="179388" y="75753"/>
            <a:ext cx="2710211" cy="760959"/>
          </a:xfrm>
          <a:prstGeom prst="rect">
            <a:avLst/>
          </a:prstGeom>
          <a:noFill/>
          <a:ln w="12700" cap="sq">
            <a:noFill/>
            <a:miter lim="800000"/>
            <a:headEnd/>
            <a:tailEnd/>
          </a:ln>
          <a:effectLst>
            <a:outerShdw dist="35921" dir="2700000" algn="ctr" rotWithShape="0">
              <a:schemeClr val="bg2"/>
            </a:outerShdw>
          </a:effectLst>
        </p:spPr>
        <p:txBody>
          <a:bodyPr wrap="none" lIns="72000" tIns="72000" rIns="72000" bIns="72000">
            <a:spAutoFit/>
          </a:bodyPr>
          <a:lstStyle>
            <a:defPPr>
              <a:defRPr lang="en-US"/>
            </a:defPPr>
            <a:lvl1pPr>
              <a:defRPr sz="4000" b="1" baseline="0">
                <a:solidFill>
                  <a:schemeClr val="folHlink"/>
                </a:solidFill>
                <a:effectLst>
                  <a:outerShdw blurRad="38100" dist="38100" dir="2700000" algn="tl">
                    <a:srgbClr val="000000"/>
                  </a:outerShdw>
                </a:effectLst>
                <a:latin typeface="微软雅黑" pitchFamily="34" charset="-122"/>
                <a:ea typeface="微软雅黑" pitchFamily="34" charset="-122"/>
              </a:defRPr>
            </a:lvl1pPr>
          </a:lstStyle>
          <a:p>
            <a:r>
              <a:rPr lang="zh-CN" altLang="en-US" dirty="0" smtClean="0"/>
              <a:t>数据库系统</a:t>
            </a:r>
            <a:endParaRPr lang="zh-CN" altLang="en-US" dirty="0"/>
          </a:p>
        </p:txBody>
      </p:sp>
      <p:sp>
        <p:nvSpPr>
          <p:cNvPr id="28" name="圆角矩形标注 27"/>
          <p:cNvSpPr/>
          <p:nvPr/>
        </p:nvSpPr>
        <p:spPr bwMode="auto">
          <a:xfrm>
            <a:off x="6210660" y="4258141"/>
            <a:ext cx="1932061" cy="761852"/>
          </a:xfrm>
          <a:prstGeom prst="wedgeRoundRectCallout">
            <a:avLst>
              <a:gd name="adj1" fmla="val -4387"/>
              <a:gd name="adj2" fmla="val 19128"/>
              <a:gd name="adj3" fmla="val 16667"/>
            </a:avLst>
          </a:prstGeom>
          <a:ln>
            <a:solidFill>
              <a:srgbClr val="FF6600"/>
            </a:solidFill>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vert="horz" wrap="square" lIns="91440" tIns="45720" rIns="91440" bIns="45720" numCol="1" rtlCol="0" anchor="ctr" anchorCtr="0" compatLnSpc="1">
            <a:prstTxWarp prst="textNoShape">
              <a:avLst/>
            </a:prstTxWarp>
          </a:bodyPr>
          <a:lstStyle/>
          <a:p>
            <a:pPr algn="ctr" eaLnBrk="1" hangingPunct="1">
              <a:spcAft>
                <a:spcPct val="50000"/>
              </a:spcAft>
              <a:defRPr/>
            </a:pPr>
            <a:r>
              <a:rPr lang="zh-CN" altLang="en-US" sz="2800" b="1" baseline="0" dirty="0" smtClean="0">
                <a:solidFill>
                  <a:srgbClr val="FF0000"/>
                </a:solidFill>
                <a:latin typeface="微软雅黑" pitchFamily="34" charset="-122"/>
                <a:ea typeface="微软雅黑" pitchFamily="34" charset="-122"/>
              </a:rPr>
              <a:t>三类用户</a:t>
            </a:r>
            <a:endParaRPr lang="en-US" altLang="zh-CN" sz="2800" b="1" baseline="0" dirty="0" smtClean="0">
              <a:solidFill>
                <a:srgbClr val="FF0000"/>
              </a:solidFill>
              <a:latin typeface="微软雅黑" pitchFamily="34" charset="-122"/>
              <a:ea typeface="微软雅黑" pitchFamily="34" charset="-122"/>
            </a:endParaRPr>
          </a:p>
        </p:txBody>
      </p:sp>
      <p:sp>
        <p:nvSpPr>
          <p:cNvPr id="29" name="圆角矩形标注 28"/>
          <p:cNvSpPr/>
          <p:nvPr/>
        </p:nvSpPr>
        <p:spPr bwMode="auto">
          <a:xfrm>
            <a:off x="4441921" y="2242544"/>
            <a:ext cx="2304256" cy="668573"/>
          </a:xfrm>
          <a:prstGeom prst="wedgeRoundRectCallout">
            <a:avLst>
              <a:gd name="adj1" fmla="val -61703"/>
              <a:gd name="adj2" fmla="val 20488"/>
              <a:gd name="adj3" fmla="val 16667"/>
            </a:avLst>
          </a:prstGeom>
          <a:solidFill>
            <a:schemeClr val="accent5">
              <a:lumMod val="20000"/>
              <a:lumOff val="80000"/>
            </a:schemeClr>
          </a:solidFill>
          <a:ln>
            <a:solidFill>
              <a:srgbClr val="FF6600"/>
            </a:solidFill>
            <a:headEnd type="none" w="med" len="med"/>
            <a:tailEnd type="none" w="med" len="med"/>
          </a:ln>
          <a:effectLst>
            <a:glow rad="101600">
              <a:srgbClr val="FFC000">
                <a:alpha val="60000"/>
              </a:srgb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lgn="ctr" eaLnBrk="1" hangingPunct="1">
              <a:spcAft>
                <a:spcPct val="50000"/>
              </a:spcAft>
              <a:defRPr/>
            </a:pPr>
            <a:r>
              <a:rPr lang="zh-CN" altLang="en-US" sz="2800" baseline="0" dirty="0" smtClean="0"/>
              <a:t>终端用户</a:t>
            </a:r>
            <a:endParaRPr lang="en-US" altLang="zh-CN" sz="2800" baseline="0" dirty="0"/>
          </a:p>
        </p:txBody>
      </p:sp>
      <p:sp>
        <p:nvSpPr>
          <p:cNvPr id="30" name="圆角矩形标注 29"/>
          <p:cNvSpPr/>
          <p:nvPr/>
        </p:nvSpPr>
        <p:spPr bwMode="auto">
          <a:xfrm>
            <a:off x="6084168" y="5308124"/>
            <a:ext cx="2520280" cy="1182687"/>
          </a:xfrm>
          <a:prstGeom prst="wedgeRoundRectCallout">
            <a:avLst>
              <a:gd name="adj1" fmla="val -91261"/>
              <a:gd name="adj2" fmla="val -44926"/>
              <a:gd name="adj3" fmla="val 16667"/>
            </a:avLst>
          </a:prstGeom>
          <a:solidFill>
            <a:schemeClr val="accent5">
              <a:lumMod val="20000"/>
              <a:lumOff val="80000"/>
            </a:schemeClr>
          </a:solidFill>
          <a:ln>
            <a:solidFill>
              <a:srgbClr val="FF6600"/>
            </a:solidFill>
            <a:headEnd type="none" w="med" len="med"/>
            <a:tailEnd type="none" w="med" len="med"/>
          </a:ln>
          <a:effectLst>
            <a:glow rad="101600">
              <a:srgbClr val="FFC000">
                <a:alpha val="60000"/>
              </a:srgb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lgn="ctr" eaLnBrk="1" hangingPunct="1">
              <a:spcAft>
                <a:spcPct val="50000"/>
              </a:spcAft>
              <a:defRPr/>
            </a:pPr>
            <a:r>
              <a:rPr lang="en-US" altLang="zh-CN" sz="2800" baseline="0" dirty="0" err="1" smtClean="0"/>
              <a:t>DataBase</a:t>
            </a:r>
            <a:r>
              <a:rPr lang="en-US" altLang="zh-CN" sz="2800" baseline="0" dirty="0" smtClean="0"/>
              <a:t> Administrator</a:t>
            </a:r>
            <a:endParaRPr lang="zh-CN" altLang="en-US" sz="2800" baseline="0" dirty="0"/>
          </a:p>
        </p:txBody>
      </p:sp>
      <p:sp>
        <p:nvSpPr>
          <p:cNvPr id="31" name="圆角矩形标注 30"/>
          <p:cNvSpPr/>
          <p:nvPr/>
        </p:nvSpPr>
        <p:spPr bwMode="auto">
          <a:xfrm>
            <a:off x="5017098" y="3227912"/>
            <a:ext cx="2304256" cy="668573"/>
          </a:xfrm>
          <a:prstGeom prst="wedgeRoundRectCallout">
            <a:avLst>
              <a:gd name="adj1" fmla="val -65808"/>
              <a:gd name="adj2" fmla="val -10167"/>
              <a:gd name="adj3" fmla="val 16667"/>
            </a:avLst>
          </a:prstGeom>
          <a:solidFill>
            <a:schemeClr val="accent5">
              <a:lumMod val="20000"/>
              <a:lumOff val="80000"/>
            </a:schemeClr>
          </a:solidFill>
          <a:ln>
            <a:solidFill>
              <a:srgbClr val="FF6600"/>
            </a:solidFill>
            <a:headEnd type="none" w="med" len="med"/>
            <a:tailEnd type="none" w="med" len="med"/>
          </a:ln>
          <a:effectLst>
            <a:glow rad="101600">
              <a:srgbClr val="FFC000">
                <a:alpha val="60000"/>
              </a:srgb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lgn="ctr" eaLnBrk="1" hangingPunct="1">
              <a:spcAft>
                <a:spcPct val="50000"/>
              </a:spcAft>
              <a:defRPr/>
            </a:pPr>
            <a:r>
              <a:rPr lang="zh-CN" altLang="en-US" sz="2800" baseline="0" dirty="0" smtClean="0"/>
              <a:t>应用程序员</a:t>
            </a:r>
            <a:endParaRPr lang="en-US" altLang="zh-CN" sz="2800" baseline="0" dirty="0"/>
          </a:p>
        </p:txBody>
      </p:sp>
    </p:spTree>
    <p:extLst>
      <p:ext uri="{BB962C8B-B14F-4D97-AF65-F5344CB8AC3E}">
        <p14:creationId xmlns:p14="http://schemas.microsoft.com/office/powerpoint/2010/main" val="4102266271"/>
      </p:ext>
    </p:extLst>
  </p:cSld>
  <p:clrMapOvr>
    <a:masterClrMapping/>
  </p:clrMapOvr>
  <p:transition spd="slow">
    <p:strips dir="rd"/>
    <p:sndAc>
      <p:stSnd>
        <p:snd r:embed="rId2" name="camera.wav"/>
      </p:stSnd>
    </p:sndAc>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1106" name="Text Box 2"/>
          <p:cNvSpPr txBox="1">
            <a:spLocks noChangeArrowheads="1"/>
          </p:cNvSpPr>
          <p:nvPr/>
        </p:nvSpPr>
        <p:spPr bwMode="auto">
          <a:xfrm>
            <a:off x="539552" y="27622"/>
            <a:ext cx="2197250" cy="760959"/>
          </a:xfrm>
          <a:prstGeom prst="rect">
            <a:avLst/>
          </a:prstGeom>
          <a:noFill/>
          <a:ln w="12700" cap="sq">
            <a:noFill/>
            <a:miter lim="800000"/>
            <a:headEnd/>
            <a:tailEnd/>
          </a:ln>
          <a:effectLst>
            <a:outerShdw dist="35921" dir="2700000" algn="ctr" rotWithShape="0">
              <a:schemeClr val="bg2"/>
            </a:outerShdw>
          </a:effectLst>
        </p:spPr>
        <p:txBody>
          <a:bodyPr wrap="none" lIns="72000" tIns="72000" rIns="72000" bIns="72000">
            <a:spAutoFit/>
          </a:bodyPr>
          <a:lstStyle>
            <a:defPPr>
              <a:defRPr lang="en-US"/>
            </a:defPPr>
            <a:lvl1pPr>
              <a:defRPr sz="4000" b="1" baseline="0">
                <a:solidFill>
                  <a:schemeClr val="folHlink"/>
                </a:solidFill>
                <a:effectLst>
                  <a:outerShdw blurRad="38100" dist="38100" dir="2700000" algn="tl">
                    <a:srgbClr val="000000"/>
                  </a:outerShdw>
                </a:effectLst>
                <a:latin typeface="微软雅黑" pitchFamily="34" charset="-122"/>
                <a:ea typeface="微软雅黑" pitchFamily="34" charset="-122"/>
              </a:defRPr>
            </a:lvl1pPr>
          </a:lstStyle>
          <a:p>
            <a:r>
              <a:rPr lang="zh-CN" altLang="en-US" dirty="0" smtClean="0"/>
              <a:t>数据模型</a:t>
            </a:r>
            <a:endParaRPr lang="zh-CN" altLang="en-US" dirty="0"/>
          </a:p>
        </p:txBody>
      </p:sp>
      <p:sp>
        <p:nvSpPr>
          <p:cNvPr id="22" name="Rectangle 4"/>
          <p:cNvSpPr txBox="1">
            <a:spLocks noChangeArrowheads="1"/>
          </p:cNvSpPr>
          <p:nvPr/>
        </p:nvSpPr>
        <p:spPr bwMode="auto">
          <a:xfrm>
            <a:off x="309786" y="980728"/>
            <a:ext cx="8569325" cy="405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a:spcAft>
                <a:spcPct val="65000"/>
              </a:spcAft>
              <a:tabLst>
                <a:tab pos="2536825" algn="l"/>
                <a:tab pos="2871788" algn="l"/>
              </a:tabLst>
            </a:pPr>
            <a:r>
              <a:rPr lang="en-US" altLang="zh-CN" sz="3000" b="1" baseline="0" dirty="0" err="1">
                <a:solidFill>
                  <a:srgbClr val="FFC000"/>
                </a:solidFill>
                <a:latin typeface="微软雅黑" pitchFamily="34" charset="-122"/>
                <a:ea typeface="微软雅黑" pitchFamily="34" charset="-122"/>
              </a:rPr>
              <a:t>数据模型</a:t>
            </a:r>
            <a:r>
              <a:rPr lang="zh-CN" altLang="en-US" sz="3000" baseline="0" dirty="0" smtClean="0">
                <a:latin typeface="微软雅黑" pitchFamily="34" charset="-122"/>
                <a:ea typeface="微软雅黑" pitchFamily="34" charset="-122"/>
              </a:rPr>
              <a:t>是一种抽象表示和模拟客观事物的数据特征的形式化工具，是严格定义的一组概念的集合，是</a:t>
            </a:r>
            <a:r>
              <a:rPr lang="en-US" altLang="zh-CN" sz="3000" baseline="0" dirty="0" smtClean="0">
                <a:latin typeface="微软雅黑" pitchFamily="34" charset="-122"/>
                <a:ea typeface="微软雅黑" pitchFamily="34" charset="-122"/>
              </a:rPr>
              <a:t>DBMS</a:t>
            </a:r>
            <a:r>
              <a:rPr lang="zh-CN" altLang="en-US" sz="3000" baseline="0" dirty="0" smtClean="0">
                <a:latin typeface="微软雅黑" pitchFamily="34" charset="-122"/>
                <a:ea typeface="微软雅黑" pitchFamily="34" charset="-122"/>
              </a:rPr>
              <a:t>的核心。</a:t>
            </a:r>
          </a:p>
          <a:p>
            <a:pPr>
              <a:spcAft>
                <a:spcPct val="30000"/>
              </a:spcAft>
              <a:tabLst>
                <a:tab pos="2536825" algn="l"/>
                <a:tab pos="2871788" algn="l"/>
              </a:tabLst>
            </a:pPr>
            <a:r>
              <a:rPr lang="en-US" altLang="zh-CN" sz="3000" baseline="0" dirty="0" err="1" smtClean="0">
                <a:latin typeface="微软雅黑" pitchFamily="34" charset="-122"/>
                <a:ea typeface="微软雅黑" pitchFamily="34" charset="-122"/>
              </a:rPr>
              <a:t>数据模型的</a:t>
            </a:r>
            <a:r>
              <a:rPr lang="en-US" altLang="zh-CN" sz="3000" baseline="0" dirty="0" err="1" smtClean="0">
                <a:solidFill>
                  <a:srgbClr val="FFFF00"/>
                </a:solidFill>
                <a:latin typeface="微软雅黑" pitchFamily="34" charset="-122"/>
                <a:ea typeface="微软雅黑" pitchFamily="34" charset="-122"/>
              </a:rPr>
              <a:t>三要素</a:t>
            </a:r>
            <a:endParaRPr lang="en-US" altLang="zh-CN" sz="3000" baseline="0" dirty="0" smtClean="0">
              <a:solidFill>
                <a:srgbClr val="FFFF00"/>
              </a:solidFill>
              <a:latin typeface="微软雅黑" pitchFamily="34" charset="-122"/>
              <a:ea typeface="微软雅黑" pitchFamily="34" charset="-122"/>
            </a:endParaRPr>
          </a:p>
          <a:p>
            <a:pPr lvl="1">
              <a:spcAft>
                <a:spcPct val="30000"/>
              </a:spcAft>
              <a:buClr>
                <a:srgbClr val="00CC00"/>
              </a:buClr>
              <a:buFont typeface="Wingdings" pitchFamily="2" charset="2"/>
              <a:buChar char="l"/>
              <a:tabLst>
                <a:tab pos="2536825" algn="l"/>
                <a:tab pos="2871788" algn="l"/>
              </a:tabLst>
            </a:pPr>
            <a:r>
              <a:rPr lang="en-US" altLang="zh-CN" sz="3000" baseline="0" dirty="0" err="1" smtClean="0">
                <a:solidFill>
                  <a:srgbClr val="00FF00"/>
                </a:solidFill>
                <a:latin typeface="微软雅黑" pitchFamily="34" charset="-122"/>
                <a:ea typeface="微软雅黑" pitchFamily="34" charset="-122"/>
              </a:rPr>
              <a:t>数据结构</a:t>
            </a:r>
            <a:r>
              <a:rPr lang="zh-CN" altLang="en-US" sz="3000" baseline="0" dirty="0" smtClean="0">
                <a:latin typeface="微软雅黑" pitchFamily="34" charset="-122"/>
                <a:ea typeface="微软雅黑" pitchFamily="34" charset="-122"/>
              </a:rPr>
              <a:t>：定义数据如何组织存储，是数据库的静态特性，是最重要的要素</a:t>
            </a:r>
            <a:endParaRPr lang="en-US" altLang="zh-CN" sz="3000" baseline="0" dirty="0" smtClean="0">
              <a:latin typeface="微软雅黑" pitchFamily="34" charset="-122"/>
              <a:ea typeface="微软雅黑" pitchFamily="34" charset="-122"/>
            </a:endParaRPr>
          </a:p>
          <a:p>
            <a:pPr lvl="1">
              <a:spcAft>
                <a:spcPct val="30000"/>
              </a:spcAft>
              <a:buClr>
                <a:srgbClr val="00CC00"/>
              </a:buClr>
              <a:buFont typeface="Wingdings" pitchFamily="2" charset="2"/>
              <a:buChar char="l"/>
              <a:tabLst>
                <a:tab pos="2536825" algn="l"/>
                <a:tab pos="2871788" algn="l"/>
              </a:tabLst>
            </a:pPr>
            <a:r>
              <a:rPr lang="en-US" altLang="zh-CN" sz="3000" baseline="0" dirty="0" err="1">
                <a:solidFill>
                  <a:srgbClr val="00FF00"/>
                </a:solidFill>
                <a:latin typeface="微软雅黑" pitchFamily="34" charset="-122"/>
                <a:ea typeface="微软雅黑" pitchFamily="34" charset="-122"/>
              </a:rPr>
              <a:t>数据操作</a:t>
            </a:r>
            <a:r>
              <a:rPr lang="zh-CN" altLang="en-US" sz="3000" baseline="0" dirty="0" smtClean="0">
                <a:latin typeface="微软雅黑" pitchFamily="34" charset="-122"/>
                <a:ea typeface="微软雅黑" pitchFamily="34" charset="-122"/>
              </a:rPr>
              <a:t>：定义数据的增删改和检索等操作，是数据库的动态特性</a:t>
            </a:r>
          </a:p>
          <a:p>
            <a:pPr lvl="1">
              <a:spcAft>
                <a:spcPct val="30000"/>
              </a:spcAft>
              <a:buClr>
                <a:srgbClr val="00CC00"/>
              </a:buClr>
              <a:buFont typeface="Wingdings" pitchFamily="2" charset="2"/>
              <a:buChar char="l"/>
              <a:tabLst>
                <a:tab pos="2536825" algn="l"/>
                <a:tab pos="2871788" algn="l"/>
              </a:tabLst>
            </a:pPr>
            <a:r>
              <a:rPr lang="zh-CN" altLang="en-US" sz="3000" baseline="0" dirty="0">
                <a:solidFill>
                  <a:srgbClr val="00FF00"/>
                </a:solidFill>
                <a:latin typeface="微软雅黑" pitchFamily="34" charset="-122"/>
                <a:ea typeface="微软雅黑" pitchFamily="34" charset="-122"/>
              </a:rPr>
              <a:t>完整性约束</a:t>
            </a:r>
            <a:r>
              <a:rPr lang="zh-CN" altLang="en-US" sz="3000" baseline="0" dirty="0" smtClean="0">
                <a:latin typeface="微软雅黑" pitchFamily="34" charset="-122"/>
                <a:ea typeface="微软雅黑" pitchFamily="34" charset="-122"/>
              </a:rPr>
              <a:t>：通过定义各种完整性规则，以保证数据的正确、一致和相容</a:t>
            </a:r>
            <a:endParaRPr lang="zh-CN" altLang="en-US" sz="3000" baseline="0" dirty="0">
              <a:latin typeface="微软雅黑" pitchFamily="34" charset="-122"/>
              <a:ea typeface="微软雅黑" pitchFamily="34" charset="-122"/>
            </a:endParaRPr>
          </a:p>
        </p:txBody>
      </p:sp>
    </p:spTree>
    <p:extLst>
      <p:ext uri="{BB962C8B-B14F-4D97-AF65-F5344CB8AC3E}">
        <p14:creationId xmlns:p14="http://schemas.microsoft.com/office/powerpoint/2010/main" val="2870291733"/>
      </p:ext>
    </p:extLst>
  </p:cSld>
  <p:clrMapOvr>
    <a:masterClrMapping/>
  </p:clrMapOvr>
  <mc:AlternateContent xmlns:mc="http://schemas.openxmlformats.org/markup-compatibility/2006" xmlns:p14="http://schemas.microsoft.com/office/powerpoint/2010/main">
    <mc:Choice Requires="p14">
      <p:transition spd="slow" p14:dur="2000">
        <p14:prism isContent="1"/>
        <p:sndAc>
          <p:stSnd>
            <p:snd r:embed="rId2" name="camera.wav"/>
          </p:stSnd>
        </p:sndAc>
      </p:transition>
    </mc:Choice>
    <mc:Fallback xmlns="">
      <p:transition spd="slow">
        <p:fade/>
        <p:sndAc>
          <p:stSnd>
            <p:snd r:embed="rId4" name="camera.wav"/>
          </p:stSnd>
        </p:sndAc>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1107" name="Rectangle 3"/>
          <p:cNvSpPr>
            <a:spLocks noGrp="1" noChangeArrowheads="1"/>
          </p:cNvSpPr>
          <p:nvPr>
            <p:ph type="title"/>
          </p:nvPr>
        </p:nvSpPr>
        <p:spPr>
          <a:xfrm>
            <a:off x="471734" y="45720"/>
            <a:ext cx="1992066" cy="699404"/>
          </a:xfrm>
          <a:noFill/>
          <a:ln w="12700" cap="sq">
            <a:noFill/>
            <a:miter lim="800000"/>
            <a:headEnd/>
            <a:tailEnd/>
          </a:ln>
          <a:effectLst>
            <a:outerShdw dist="35921" dir="2700000" algn="ctr" rotWithShape="0">
              <a:schemeClr val="bg2"/>
            </a:outerShdw>
          </a:effectLst>
        </p:spPr>
        <p:txBody>
          <a:bodyPr wrap="none" lIns="72000" tIns="72000" rIns="72000" bIns="72000">
            <a:spAutoFit/>
          </a:bodyPr>
          <a:lstStyle/>
          <a:p>
            <a:r>
              <a:rPr lang="zh-CN" altLang="en-US" b="1" kern="1200" dirty="0" smtClean="0">
                <a:solidFill>
                  <a:schemeClr val="folHlink"/>
                </a:solidFill>
                <a:effectLst>
                  <a:outerShdw blurRad="38100" dist="38100" dir="2700000" algn="tl">
                    <a:srgbClr val="000000"/>
                  </a:outerShdw>
                </a:effectLst>
                <a:cs typeface="+mn-cs"/>
              </a:rPr>
              <a:t>数据建模</a:t>
            </a:r>
            <a:endParaRPr lang="en-US" altLang="zh-CN" b="1" kern="1200" dirty="0">
              <a:solidFill>
                <a:schemeClr val="folHlink"/>
              </a:solidFill>
              <a:effectLst>
                <a:outerShdw blurRad="38100" dist="38100" dir="2700000" algn="tl">
                  <a:srgbClr val="000000"/>
                </a:outerShdw>
              </a:effectLst>
              <a:cs typeface="+mn-cs"/>
            </a:endParaRPr>
          </a:p>
        </p:txBody>
      </p:sp>
      <p:sp>
        <p:nvSpPr>
          <p:cNvPr id="5" name="Rectangle 3"/>
          <p:cNvSpPr txBox="1">
            <a:spLocks noChangeArrowheads="1"/>
          </p:cNvSpPr>
          <p:nvPr/>
        </p:nvSpPr>
        <p:spPr bwMode="auto">
          <a:xfrm>
            <a:off x="459581" y="836712"/>
            <a:ext cx="7993063" cy="3057525"/>
          </a:xfrm>
          <a:prstGeom prst="rect">
            <a:avLst/>
          </a:prstGeom>
          <a:noFill/>
          <a:ln w="9525">
            <a:noFill/>
            <a:miter lim="800000"/>
            <a:headEnd/>
            <a:tailEnd/>
          </a:ln>
          <a:effectLst/>
        </p:spPr>
        <p:txBody>
          <a:bodyPr/>
          <a:lstStyle/>
          <a:p>
            <a:pPr marL="342900" indent="-342900" eaLnBrk="0" hangingPunct="0">
              <a:spcAft>
                <a:spcPct val="50000"/>
              </a:spcAft>
              <a:buClr>
                <a:srgbClr val="66FF33"/>
              </a:buClr>
              <a:buSzPct val="85000"/>
              <a:buFont typeface="Wingdings" pitchFamily="2" charset="2"/>
              <a:buBlip>
                <a:blip r:embed="rId3"/>
              </a:buBlip>
              <a:defRPr/>
            </a:pPr>
            <a:r>
              <a:rPr lang="zh-CN" altLang="en-US" sz="2800" kern="0" baseline="0" dirty="0">
                <a:solidFill>
                  <a:srgbClr val="66FFFF"/>
                </a:solidFill>
                <a:effectLst>
                  <a:outerShdw blurRad="38100" dist="38100" dir="2700000" algn="tl">
                    <a:srgbClr val="000000"/>
                  </a:outerShdw>
                </a:effectLst>
                <a:latin typeface="微软雅黑" pitchFamily="34" charset="-122"/>
                <a:ea typeface="微软雅黑" pitchFamily="34" charset="-122"/>
              </a:rPr>
              <a:t>概念数据模型</a:t>
            </a:r>
            <a:r>
              <a:rPr lang="zh-CN" altLang="en-US" sz="28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，简称概念模型，是对现实世界的数据抽象，与具体的</a:t>
            </a:r>
            <a:r>
              <a:rPr lang="en-US" altLang="zh-CN" sz="28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DBMS</a:t>
            </a:r>
            <a:r>
              <a:rPr lang="zh-CN" altLang="en-US" sz="28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无关，是数据库设计人员和数据库用户之间进行交流的工具。</a:t>
            </a:r>
          </a:p>
          <a:p>
            <a:pPr marL="342900" indent="-342900" eaLnBrk="0" hangingPunct="0">
              <a:spcAft>
                <a:spcPct val="50000"/>
              </a:spcAft>
              <a:buClr>
                <a:srgbClr val="66FF33"/>
              </a:buClr>
              <a:buSzPct val="85000"/>
              <a:buFont typeface="Wingdings" pitchFamily="2" charset="2"/>
              <a:buBlip>
                <a:blip r:embed="rId3"/>
              </a:buBlip>
              <a:defRPr/>
            </a:pPr>
            <a:r>
              <a:rPr lang="zh-CN" altLang="en-US" sz="2800" kern="0" baseline="0" dirty="0">
                <a:solidFill>
                  <a:srgbClr val="66FFFF"/>
                </a:solidFill>
                <a:effectLst>
                  <a:outerShdw blurRad="38100" dist="38100" dir="2700000" algn="tl">
                    <a:srgbClr val="000000"/>
                  </a:outerShdw>
                </a:effectLst>
                <a:latin typeface="微软雅黑" pitchFamily="34" charset="-122"/>
                <a:ea typeface="微软雅黑" pitchFamily="34" charset="-122"/>
              </a:rPr>
              <a:t>结构数据模型</a:t>
            </a:r>
            <a:r>
              <a:rPr lang="zh-CN" altLang="en-US" sz="28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，又称逻辑数据模型，是由具体的</a:t>
            </a:r>
            <a:r>
              <a:rPr lang="en-US" altLang="zh-CN" sz="28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DBMS</a:t>
            </a:r>
            <a:r>
              <a:rPr lang="zh-CN" altLang="en-US" sz="28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支持的面向用户使用的数据模型。</a:t>
            </a:r>
          </a:p>
          <a:p>
            <a:pPr marL="342900" indent="-342900" eaLnBrk="0" hangingPunct="0">
              <a:spcAft>
                <a:spcPct val="50000"/>
              </a:spcAft>
              <a:buClr>
                <a:srgbClr val="66FF33"/>
              </a:buClr>
              <a:buSzPct val="85000"/>
              <a:buFont typeface="Wingdings" pitchFamily="2" charset="2"/>
              <a:buBlip>
                <a:blip r:embed="rId3"/>
              </a:buBlip>
              <a:defRPr/>
            </a:pPr>
            <a:r>
              <a:rPr lang="zh-CN" altLang="en-US" sz="2800" kern="0" baseline="0" dirty="0">
                <a:solidFill>
                  <a:srgbClr val="66FFFF"/>
                </a:solidFill>
                <a:effectLst>
                  <a:outerShdw blurRad="38100" dist="38100" dir="2700000" algn="tl">
                    <a:srgbClr val="000000"/>
                  </a:outerShdw>
                </a:effectLst>
                <a:latin typeface="微软雅黑" pitchFamily="34" charset="-122"/>
                <a:ea typeface="微软雅黑" pitchFamily="34" charset="-122"/>
              </a:rPr>
              <a:t>物理数据模型</a:t>
            </a:r>
            <a:r>
              <a:rPr lang="zh-CN" altLang="en-US" sz="28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，描述数据在存储介质上的组织结构。它不但与具体的</a:t>
            </a:r>
            <a:r>
              <a:rPr lang="en-US" altLang="zh-CN" sz="28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DBMS</a:t>
            </a:r>
            <a:r>
              <a:rPr lang="zh-CN" altLang="en-US" sz="28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有关，而且还与</a:t>
            </a:r>
            <a:r>
              <a:rPr lang="en-US" altLang="zh-CN" sz="28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OS</a:t>
            </a:r>
            <a:r>
              <a:rPr lang="zh-CN" altLang="en-US" sz="28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和硬件有关。</a:t>
            </a:r>
          </a:p>
        </p:txBody>
      </p:sp>
      <p:sp>
        <p:nvSpPr>
          <p:cNvPr id="17413" name="Line 131"/>
          <p:cNvSpPr>
            <a:spLocks noChangeShapeType="1"/>
          </p:cNvSpPr>
          <p:nvPr/>
        </p:nvSpPr>
        <p:spPr bwMode="auto">
          <a:xfrm>
            <a:off x="3438526" y="5695082"/>
            <a:ext cx="596900" cy="0"/>
          </a:xfrm>
          <a:prstGeom prst="line">
            <a:avLst/>
          </a:prstGeom>
          <a:noFill/>
          <a:ln w="38100">
            <a:solidFill>
              <a:srgbClr val="CCFFCC"/>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zh-CN" altLang="en-US">
              <a:latin typeface="微软雅黑" pitchFamily="34" charset="-122"/>
              <a:ea typeface="微软雅黑" pitchFamily="34" charset="-122"/>
            </a:endParaRPr>
          </a:p>
        </p:txBody>
      </p:sp>
      <p:sp>
        <p:nvSpPr>
          <p:cNvPr id="17414" name="Line 132"/>
          <p:cNvSpPr>
            <a:spLocks noChangeShapeType="1"/>
          </p:cNvSpPr>
          <p:nvPr/>
        </p:nvSpPr>
        <p:spPr bwMode="auto">
          <a:xfrm>
            <a:off x="5048251" y="5695082"/>
            <a:ext cx="596900" cy="0"/>
          </a:xfrm>
          <a:prstGeom prst="line">
            <a:avLst/>
          </a:prstGeom>
          <a:noFill/>
          <a:ln w="38100">
            <a:solidFill>
              <a:srgbClr val="CCFFCC"/>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zh-CN" altLang="en-US">
              <a:latin typeface="微软雅黑" pitchFamily="34" charset="-122"/>
              <a:ea typeface="微软雅黑" pitchFamily="34" charset="-122"/>
            </a:endParaRPr>
          </a:p>
        </p:txBody>
      </p:sp>
      <p:sp>
        <p:nvSpPr>
          <p:cNvPr id="17415" name="Line 133"/>
          <p:cNvSpPr>
            <a:spLocks noChangeShapeType="1"/>
          </p:cNvSpPr>
          <p:nvPr/>
        </p:nvSpPr>
        <p:spPr bwMode="auto">
          <a:xfrm>
            <a:off x="6653213" y="5695082"/>
            <a:ext cx="595313" cy="0"/>
          </a:xfrm>
          <a:prstGeom prst="line">
            <a:avLst/>
          </a:prstGeom>
          <a:noFill/>
          <a:ln w="38100">
            <a:solidFill>
              <a:srgbClr val="CCFFCC"/>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zh-CN" altLang="en-US">
              <a:latin typeface="微软雅黑" pitchFamily="34" charset="-122"/>
              <a:ea typeface="微软雅黑" pitchFamily="34" charset="-122"/>
            </a:endParaRPr>
          </a:p>
        </p:txBody>
      </p:sp>
      <p:grpSp>
        <p:nvGrpSpPr>
          <p:cNvPr id="17416" name="Group 146"/>
          <p:cNvGrpSpPr>
            <a:grpSpLocks/>
          </p:cNvGrpSpPr>
          <p:nvPr/>
        </p:nvGrpSpPr>
        <p:grpSpPr bwMode="auto">
          <a:xfrm>
            <a:off x="917576" y="5156919"/>
            <a:ext cx="765175" cy="1368425"/>
            <a:chOff x="529" y="2886"/>
            <a:chExt cx="482" cy="862"/>
          </a:xfrm>
        </p:grpSpPr>
        <p:sp>
          <p:nvSpPr>
            <p:cNvPr id="81" name="Freeform 122"/>
            <p:cNvSpPr>
              <a:spLocks/>
            </p:cNvSpPr>
            <p:nvPr/>
          </p:nvSpPr>
          <p:spPr bwMode="auto">
            <a:xfrm>
              <a:off x="529" y="2886"/>
              <a:ext cx="482" cy="862"/>
            </a:xfrm>
            <a:custGeom>
              <a:avLst/>
              <a:gdLst/>
              <a:ahLst/>
              <a:cxnLst>
                <a:cxn ang="0">
                  <a:pos x="171" y="0"/>
                </a:cxn>
                <a:cxn ang="0">
                  <a:pos x="170" y="19"/>
                </a:cxn>
                <a:cxn ang="0">
                  <a:pos x="168" y="35"/>
                </a:cxn>
                <a:cxn ang="0">
                  <a:pos x="164" y="51"/>
                </a:cxn>
                <a:cxn ang="0">
                  <a:pos x="158" y="67"/>
                </a:cxn>
                <a:cxn ang="0">
                  <a:pos x="150" y="83"/>
                </a:cxn>
                <a:cxn ang="0">
                  <a:pos x="142" y="96"/>
                </a:cxn>
                <a:cxn ang="0">
                  <a:pos x="132" y="109"/>
                </a:cxn>
                <a:cxn ang="0">
                  <a:pos x="121" y="121"/>
                </a:cxn>
                <a:cxn ang="0">
                  <a:pos x="109" y="134"/>
                </a:cxn>
                <a:cxn ang="0">
                  <a:pos x="96" y="144"/>
                </a:cxn>
                <a:cxn ang="0">
                  <a:pos x="82" y="153"/>
                </a:cxn>
                <a:cxn ang="0">
                  <a:pos x="67" y="160"/>
                </a:cxn>
                <a:cxn ang="0">
                  <a:pos x="35" y="169"/>
                </a:cxn>
                <a:cxn ang="0">
                  <a:pos x="0" y="173"/>
                </a:cxn>
                <a:cxn ang="0">
                  <a:pos x="0" y="1824"/>
                </a:cxn>
                <a:cxn ang="0">
                  <a:pos x="35" y="1828"/>
                </a:cxn>
                <a:cxn ang="0">
                  <a:pos x="67" y="1837"/>
                </a:cxn>
                <a:cxn ang="0">
                  <a:pos x="82" y="1847"/>
                </a:cxn>
                <a:cxn ang="0">
                  <a:pos x="96" y="1853"/>
                </a:cxn>
                <a:cxn ang="0">
                  <a:pos x="109" y="1863"/>
                </a:cxn>
                <a:cxn ang="0">
                  <a:pos x="121" y="1876"/>
                </a:cxn>
                <a:cxn ang="0">
                  <a:pos x="132" y="1888"/>
                </a:cxn>
                <a:cxn ang="0">
                  <a:pos x="142" y="1901"/>
                </a:cxn>
                <a:cxn ang="0">
                  <a:pos x="150" y="1914"/>
                </a:cxn>
                <a:cxn ang="0">
                  <a:pos x="158" y="1930"/>
                </a:cxn>
                <a:cxn ang="0">
                  <a:pos x="164" y="1946"/>
                </a:cxn>
                <a:cxn ang="0">
                  <a:pos x="168" y="1962"/>
                </a:cxn>
                <a:cxn ang="0">
                  <a:pos x="170" y="1978"/>
                </a:cxn>
                <a:cxn ang="0">
                  <a:pos x="171" y="1997"/>
                </a:cxn>
                <a:cxn ang="0">
                  <a:pos x="350" y="1997"/>
                </a:cxn>
                <a:cxn ang="0">
                  <a:pos x="351" y="1978"/>
                </a:cxn>
                <a:cxn ang="0">
                  <a:pos x="353" y="1962"/>
                </a:cxn>
                <a:cxn ang="0">
                  <a:pos x="357" y="1946"/>
                </a:cxn>
                <a:cxn ang="0">
                  <a:pos x="363" y="1930"/>
                </a:cxn>
                <a:cxn ang="0">
                  <a:pos x="371" y="1914"/>
                </a:cxn>
                <a:cxn ang="0">
                  <a:pos x="379" y="1901"/>
                </a:cxn>
                <a:cxn ang="0">
                  <a:pos x="389" y="1888"/>
                </a:cxn>
                <a:cxn ang="0">
                  <a:pos x="400" y="1876"/>
                </a:cxn>
                <a:cxn ang="0">
                  <a:pos x="412" y="1863"/>
                </a:cxn>
                <a:cxn ang="0">
                  <a:pos x="425" y="1853"/>
                </a:cxn>
                <a:cxn ang="0">
                  <a:pos x="439" y="1847"/>
                </a:cxn>
                <a:cxn ang="0">
                  <a:pos x="454" y="1837"/>
                </a:cxn>
                <a:cxn ang="0">
                  <a:pos x="486" y="1828"/>
                </a:cxn>
                <a:cxn ang="0">
                  <a:pos x="521" y="1824"/>
                </a:cxn>
                <a:cxn ang="0">
                  <a:pos x="521" y="173"/>
                </a:cxn>
                <a:cxn ang="0">
                  <a:pos x="486" y="169"/>
                </a:cxn>
                <a:cxn ang="0">
                  <a:pos x="454" y="160"/>
                </a:cxn>
                <a:cxn ang="0">
                  <a:pos x="439" y="153"/>
                </a:cxn>
                <a:cxn ang="0">
                  <a:pos x="425" y="144"/>
                </a:cxn>
                <a:cxn ang="0">
                  <a:pos x="412" y="134"/>
                </a:cxn>
                <a:cxn ang="0">
                  <a:pos x="400" y="121"/>
                </a:cxn>
                <a:cxn ang="0">
                  <a:pos x="389" y="109"/>
                </a:cxn>
                <a:cxn ang="0">
                  <a:pos x="379" y="96"/>
                </a:cxn>
                <a:cxn ang="0">
                  <a:pos x="371" y="83"/>
                </a:cxn>
                <a:cxn ang="0">
                  <a:pos x="363" y="67"/>
                </a:cxn>
                <a:cxn ang="0">
                  <a:pos x="357" y="51"/>
                </a:cxn>
                <a:cxn ang="0">
                  <a:pos x="353" y="35"/>
                </a:cxn>
                <a:cxn ang="0">
                  <a:pos x="351" y="19"/>
                </a:cxn>
                <a:cxn ang="0">
                  <a:pos x="350" y="0"/>
                </a:cxn>
                <a:cxn ang="0">
                  <a:pos x="171" y="0"/>
                </a:cxn>
              </a:cxnLst>
              <a:rect l="0" t="0" r="r" b="b"/>
              <a:pathLst>
                <a:path w="522" h="1998">
                  <a:moveTo>
                    <a:pt x="171" y="0"/>
                  </a:moveTo>
                  <a:lnTo>
                    <a:pt x="170" y="19"/>
                  </a:lnTo>
                  <a:lnTo>
                    <a:pt x="168" y="35"/>
                  </a:lnTo>
                  <a:lnTo>
                    <a:pt x="164" y="51"/>
                  </a:lnTo>
                  <a:lnTo>
                    <a:pt x="158" y="67"/>
                  </a:lnTo>
                  <a:lnTo>
                    <a:pt x="150" y="83"/>
                  </a:lnTo>
                  <a:lnTo>
                    <a:pt x="142" y="96"/>
                  </a:lnTo>
                  <a:lnTo>
                    <a:pt x="132" y="109"/>
                  </a:lnTo>
                  <a:lnTo>
                    <a:pt x="121" y="121"/>
                  </a:lnTo>
                  <a:lnTo>
                    <a:pt x="109" y="134"/>
                  </a:lnTo>
                  <a:lnTo>
                    <a:pt x="96" y="144"/>
                  </a:lnTo>
                  <a:lnTo>
                    <a:pt x="82" y="153"/>
                  </a:lnTo>
                  <a:lnTo>
                    <a:pt x="67" y="160"/>
                  </a:lnTo>
                  <a:lnTo>
                    <a:pt x="35" y="169"/>
                  </a:lnTo>
                  <a:lnTo>
                    <a:pt x="0" y="173"/>
                  </a:lnTo>
                  <a:lnTo>
                    <a:pt x="0" y="1824"/>
                  </a:lnTo>
                  <a:lnTo>
                    <a:pt x="35" y="1828"/>
                  </a:lnTo>
                  <a:lnTo>
                    <a:pt x="67" y="1837"/>
                  </a:lnTo>
                  <a:lnTo>
                    <a:pt x="82" y="1847"/>
                  </a:lnTo>
                  <a:lnTo>
                    <a:pt x="96" y="1853"/>
                  </a:lnTo>
                  <a:lnTo>
                    <a:pt x="109" y="1863"/>
                  </a:lnTo>
                  <a:lnTo>
                    <a:pt x="121" y="1876"/>
                  </a:lnTo>
                  <a:lnTo>
                    <a:pt x="132" y="1888"/>
                  </a:lnTo>
                  <a:lnTo>
                    <a:pt x="142" y="1901"/>
                  </a:lnTo>
                  <a:lnTo>
                    <a:pt x="150" y="1914"/>
                  </a:lnTo>
                  <a:lnTo>
                    <a:pt x="158" y="1930"/>
                  </a:lnTo>
                  <a:lnTo>
                    <a:pt x="164" y="1946"/>
                  </a:lnTo>
                  <a:lnTo>
                    <a:pt x="168" y="1962"/>
                  </a:lnTo>
                  <a:lnTo>
                    <a:pt x="170" y="1978"/>
                  </a:lnTo>
                  <a:lnTo>
                    <a:pt x="171" y="1997"/>
                  </a:lnTo>
                  <a:lnTo>
                    <a:pt x="350" y="1997"/>
                  </a:lnTo>
                  <a:lnTo>
                    <a:pt x="351" y="1978"/>
                  </a:lnTo>
                  <a:lnTo>
                    <a:pt x="353" y="1962"/>
                  </a:lnTo>
                  <a:lnTo>
                    <a:pt x="357" y="1946"/>
                  </a:lnTo>
                  <a:lnTo>
                    <a:pt x="363" y="1930"/>
                  </a:lnTo>
                  <a:lnTo>
                    <a:pt x="371" y="1914"/>
                  </a:lnTo>
                  <a:lnTo>
                    <a:pt x="379" y="1901"/>
                  </a:lnTo>
                  <a:lnTo>
                    <a:pt x="389" y="1888"/>
                  </a:lnTo>
                  <a:lnTo>
                    <a:pt x="400" y="1876"/>
                  </a:lnTo>
                  <a:lnTo>
                    <a:pt x="412" y="1863"/>
                  </a:lnTo>
                  <a:lnTo>
                    <a:pt x="425" y="1853"/>
                  </a:lnTo>
                  <a:lnTo>
                    <a:pt x="439" y="1847"/>
                  </a:lnTo>
                  <a:lnTo>
                    <a:pt x="454" y="1837"/>
                  </a:lnTo>
                  <a:lnTo>
                    <a:pt x="486" y="1828"/>
                  </a:lnTo>
                  <a:lnTo>
                    <a:pt x="521" y="1824"/>
                  </a:lnTo>
                  <a:lnTo>
                    <a:pt x="521" y="173"/>
                  </a:lnTo>
                  <a:lnTo>
                    <a:pt x="486" y="169"/>
                  </a:lnTo>
                  <a:lnTo>
                    <a:pt x="454" y="160"/>
                  </a:lnTo>
                  <a:lnTo>
                    <a:pt x="439" y="153"/>
                  </a:lnTo>
                  <a:lnTo>
                    <a:pt x="425" y="144"/>
                  </a:lnTo>
                  <a:lnTo>
                    <a:pt x="412" y="134"/>
                  </a:lnTo>
                  <a:lnTo>
                    <a:pt x="400" y="121"/>
                  </a:lnTo>
                  <a:lnTo>
                    <a:pt x="389" y="109"/>
                  </a:lnTo>
                  <a:lnTo>
                    <a:pt x="379" y="96"/>
                  </a:lnTo>
                  <a:lnTo>
                    <a:pt x="371" y="83"/>
                  </a:lnTo>
                  <a:lnTo>
                    <a:pt x="363" y="67"/>
                  </a:lnTo>
                  <a:lnTo>
                    <a:pt x="357" y="51"/>
                  </a:lnTo>
                  <a:lnTo>
                    <a:pt x="353" y="35"/>
                  </a:lnTo>
                  <a:lnTo>
                    <a:pt x="351" y="19"/>
                  </a:lnTo>
                  <a:lnTo>
                    <a:pt x="350" y="0"/>
                  </a:lnTo>
                  <a:lnTo>
                    <a:pt x="171" y="0"/>
                  </a:lnTo>
                </a:path>
              </a:pathLst>
            </a:custGeom>
            <a:gradFill rotWithShape="1">
              <a:gsLst>
                <a:gs pos="0">
                  <a:schemeClr val="bg1">
                    <a:gamma/>
                    <a:shade val="46275"/>
                    <a:invGamma/>
                  </a:schemeClr>
                </a:gs>
                <a:gs pos="50000">
                  <a:schemeClr val="bg1"/>
                </a:gs>
                <a:gs pos="100000">
                  <a:schemeClr val="bg1">
                    <a:gamma/>
                    <a:shade val="46275"/>
                    <a:invGamma/>
                  </a:schemeClr>
                </a:gs>
              </a:gsLst>
              <a:lin ang="18900000" scaled="1"/>
            </a:gradFill>
            <a:ln w="28575" cap="rnd" cmpd="sng">
              <a:solidFill>
                <a:srgbClr val="CCFFCC"/>
              </a:solidFill>
              <a:prstDash val="solid"/>
              <a:round/>
              <a:headEnd/>
              <a:tailEnd/>
            </a:ln>
            <a:effectLst>
              <a:outerShdw dist="35921" dir="2700000" algn="ctr" rotWithShape="0">
                <a:schemeClr val="bg2"/>
              </a:outerShdw>
            </a:effectLst>
          </p:spPr>
          <p:txBody>
            <a:bodyPr/>
            <a:lstStyle/>
            <a:p>
              <a:pPr>
                <a:defRPr/>
              </a:pPr>
              <a:endParaRPr lang="zh-CN" altLang="en-US">
                <a:latin typeface="微软雅黑" pitchFamily="34" charset="-122"/>
                <a:ea typeface="微软雅黑" pitchFamily="34" charset="-122"/>
              </a:endParaRPr>
            </a:p>
          </p:txBody>
        </p:sp>
        <p:sp>
          <p:nvSpPr>
            <p:cNvPr id="17429" name="Rectangle 123"/>
            <p:cNvSpPr>
              <a:spLocks noChangeArrowheads="1"/>
            </p:cNvSpPr>
            <p:nvPr/>
          </p:nvSpPr>
          <p:spPr bwMode="auto">
            <a:xfrm>
              <a:off x="664" y="2913"/>
              <a:ext cx="229"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2000" baseline="0">
                  <a:latin typeface="微软雅黑" pitchFamily="34" charset="-122"/>
                  <a:ea typeface="微软雅黑" pitchFamily="34" charset="-122"/>
                </a:rPr>
                <a:t>现实世界</a:t>
              </a:r>
            </a:p>
          </p:txBody>
        </p:sp>
      </p:grpSp>
      <p:sp>
        <p:nvSpPr>
          <p:cNvPr id="83" name="AutoShape 124"/>
          <p:cNvSpPr>
            <a:spLocks noChangeArrowheads="1"/>
          </p:cNvSpPr>
          <p:nvPr/>
        </p:nvSpPr>
        <p:spPr bwMode="auto">
          <a:xfrm>
            <a:off x="2541588" y="5210894"/>
            <a:ext cx="755650" cy="1209675"/>
          </a:xfrm>
          <a:prstGeom prst="roundRect">
            <a:avLst>
              <a:gd name="adj" fmla="val 18903"/>
            </a:avLst>
          </a:prstGeom>
          <a:gradFill rotWithShape="1">
            <a:gsLst>
              <a:gs pos="0">
                <a:schemeClr val="bg1">
                  <a:gamma/>
                  <a:shade val="46275"/>
                  <a:invGamma/>
                </a:schemeClr>
              </a:gs>
              <a:gs pos="50000">
                <a:schemeClr val="bg1"/>
              </a:gs>
              <a:gs pos="100000">
                <a:schemeClr val="bg1">
                  <a:gamma/>
                  <a:shade val="46275"/>
                  <a:invGamma/>
                </a:schemeClr>
              </a:gs>
            </a:gsLst>
            <a:lin ang="18900000" scaled="1"/>
          </a:gradFill>
          <a:ln w="28575">
            <a:solidFill>
              <a:srgbClr val="CCFFCC"/>
            </a:solidFill>
            <a:round/>
            <a:headEnd/>
            <a:tailEnd/>
          </a:ln>
          <a:effectLst>
            <a:outerShdw dist="35921" dir="2700000" algn="ctr" rotWithShape="0">
              <a:schemeClr val="bg2"/>
            </a:outerShdw>
          </a:effectLst>
        </p:spPr>
        <p:txBody>
          <a:bodyPr lIns="19050" tIns="0" rIns="19050" bIns="0" anchor="ctr" anchorCtr="1"/>
          <a:lstStyle/>
          <a:p>
            <a:pPr algn="ctr">
              <a:spcBef>
                <a:spcPts val="100"/>
              </a:spcBef>
              <a:defRPr/>
            </a:pPr>
            <a:r>
              <a:rPr lang="zh-CN" altLang="en-US" sz="2000" baseline="0">
                <a:latin typeface="微软雅黑" pitchFamily="34" charset="-122"/>
                <a:ea typeface="微软雅黑" pitchFamily="34" charset="-122"/>
              </a:rPr>
              <a:t>概念数据模型</a:t>
            </a:r>
          </a:p>
        </p:txBody>
      </p:sp>
      <p:sp>
        <p:nvSpPr>
          <p:cNvPr id="84" name="AutoShape 125"/>
          <p:cNvSpPr>
            <a:spLocks noChangeArrowheads="1"/>
          </p:cNvSpPr>
          <p:nvPr/>
        </p:nvSpPr>
        <p:spPr bwMode="auto">
          <a:xfrm>
            <a:off x="4156076" y="5225182"/>
            <a:ext cx="755650" cy="1209675"/>
          </a:xfrm>
          <a:prstGeom prst="roundRect">
            <a:avLst>
              <a:gd name="adj" fmla="val 14560"/>
            </a:avLst>
          </a:prstGeom>
          <a:gradFill rotWithShape="1">
            <a:gsLst>
              <a:gs pos="0">
                <a:schemeClr val="bg1">
                  <a:gamma/>
                  <a:shade val="46275"/>
                  <a:invGamma/>
                </a:schemeClr>
              </a:gs>
              <a:gs pos="50000">
                <a:schemeClr val="bg1"/>
              </a:gs>
              <a:gs pos="100000">
                <a:schemeClr val="bg1">
                  <a:gamma/>
                  <a:shade val="46275"/>
                  <a:invGamma/>
                </a:schemeClr>
              </a:gs>
            </a:gsLst>
            <a:lin ang="18900000" scaled="1"/>
          </a:gradFill>
          <a:ln w="28575" algn="ctr">
            <a:solidFill>
              <a:srgbClr val="CCFFCC"/>
            </a:solidFill>
            <a:round/>
            <a:headEnd/>
            <a:tailEnd/>
          </a:ln>
          <a:effectLst>
            <a:outerShdw dist="35921" dir="2700000" algn="ctr" rotWithShape="0">
              <a:schemeClr val="bg2"/>
            </a:outerShdw>
          </a:effectLst>
        </p:spPr>
        <p:txBody>
          <a:bodyPr lIns="19050" tIns="0" rIns="19050" bIns="0" anchor="ctr" anchorCtr="1"/>
          <a:lstStyle/>
          <a:p>
            <a:pPr algn="ctr">
              <a:spcBef>
                <a:spcPts val="100"/>
              </a:spcBef>
              <a:defRPr/>
            </a:pPr>
            <a:r>
              <a:rPr lang="zh-CN" altLang="en-US" sz="2000" baseline="0">
                <a:latin typeface="微软雅黑" pitchFamily="34" charset="-122"/>
                <a:ea typeface="微软雅黑" pitchFamily="34" charset="-122"/>
              </a:rPr>
              <a:t>逻辑数据模型 </a:t>
            </a:r>
          </a:p>
        </p:txBody>
      </p:sp>
      <p:sp>
        <p:nvSpPr>
          <p:cNvPr id="85" name="AutoShape 126"/>
          <p:cNvSpPr>
            <a:spLocks noChangeArrowheads="1"/>
          </p:cNvSpPr>
          <p:nvPr/>
        </p:nvSpPr>
        <p:spPr bwMode="auto">
          <a:xfrm>
            <a:off x="5770563" y="5228357"/>
            <a:ext cx="755650" cy="1209675"/>
          </a:xfrm>
          <a:prstGeom prst="roundRect">
            <a:avLst>
              <a:gd name="adj" fmla="val 16028"/>
            </a:avLst>
          </a:prstGeom>
          <a:gradFill rotWithShape="1">
            <a:gsLst>
              <a:gs pos="0">
                <a:schemeClr val="bg1">
                  <a:gamma/>
                  <a:shade val="46275"/>
                  <a:invGamma/>
                </a:schemeClr>
              </a:gs>
              <a:gs pos="50000">
                <a:schemeClr val="bg1"/>
              </a:gs>
              <a:gs pos="100000">
                <a:schemeClr val="bg1">
                  <a:gamma/>
                  <a:shade val="46275"/>
                  <a:invGamma/>
                </a:schemeClr>
              </a:gs>
            </a:gsLst>
            <a:lin ang="18900000" scaled="1"/>
          </a:gradFill>
          <a:ln w="28575" algn="ctr">
            <a:solidFill>
              <a:srgbClr val="CCFFCC"/>
            </a:solidFill>
            <a:round/>
            <a:headEnd/>
            <a:tailEnd/>
          </a:ln>
          <a:effectLst>
            <a:outerShdw dist="35921" dir="2700000" algn="ctr" rotWithShape="0">
              <a:schemeClr val="bg2"/>
            </a:outerShdw>
          </a:effectLst>
        </p:spPr>
        <p:txBody>
          <a:bodyPr lIns="19050" tIns="0" rIns="19050" bIns="0" anchor="ctr" anchorCtr="1"/>
          <a:lstStyle/>
          <a:p>
            <a:pPr algn="ctr">
              <a:spcBef>
                <a:spcPts val="100"/>
              </a:spcBef>
              <a:defRPr/>
            </a:pPr>
            <a:r>
              <a:rPr lang="zh-CN" altLang="en-US" sz="2000" baseline="0">
                <a:latin typeface="微软雅黑" pitchFamily="34" charset="-122"/>
                <a:ea typeface="微软雅黑" pitchFamily="34" charset="-122"/>
              </a:rPr>
              <a:t>物理数据模型</a:t>
            </a:r>
          </a:p>
        </p:txBody>
      </p:sp>
      <p:grpSp>
        <p:nvGrpSpPr>
          <p:cNvPr id="17420" name="Group 142"/>
          <p:cNvGrpSpPr>
            <a:grpSpLocks/>
          </p:cNvGrpSpPr>
          <p:nvPr/>
        </p:nvGrpSpPr>
        <p:grpSpPr bwMode="auto">
          <a:xfrm>
            <a:off x="7386638" y="5083894"/>
            <a:ext cx="935038" cy="1441450"/>
            <a:chOff x="4089" y="2840"/>
            <a:chExt cx="589" cy="908"/>
          </a:xfrm>
        </p:grpSpPr>
        <p:sp>
          <p:nvSpPr>
            <p:cNvPr id="87" name="AutoShape 139"/>
            <p:cNvSpPr>
              <a:spLocks noChangeArrowheads="1"/>
            </p:cNvSpPr>
            <p:nvPr/>
          </p:nvSpPr>
          <p:spPr bwMode="auto">
            <a:xfrm>
              <a:off x="4089" y="2840"/>
              <a:ext cx="589" cy="908"/>
            </a:xfrm>
            <a:prstGeom prst="can">
              <a:avLst>
                <a:gd name="adj" fmla="val 25979"/>
              </a:avLst>
            </a:prstGeom>
            <a:gradFill rotWithShape="1">
              <a:gsLst>
                <a:gs pos="0">
                  <a:schemeClr val="bg1">
                    <a:gamma/>
                    <a:shade val="46275"/>
                    <a:invGamma/>
                  </a:schemeClr>
                </a:gs>
                <a:gs pos="50000">
                  <a:schemeClr val="bg1"/>
                </a:gs>
                <a:gs pos="100000">
                  <a:schemeClr val="bg1">
                    <a:gamma/>
                    <a:shade val="46275"/>
                    <a:invGamma/>
                  </a:schemeClr>
                </a:gs>
              </a:gsLst>
              <a:lin ang="18900000" scaled="1"/>
            </a:gradFill>
            <a:ln w="28575">
              <a:solidFill>
                <a:srgbClr val="CCFFCC"/>
              </a:solidFill>
              <a:round/>
              <a:headEnd/>
              <a:tailEnd/>
            </a:ln>
            <a:effectLst>
              <a:outerShdw dist="35921" dir="2700000" algn="ctr" rotWithShape="0">
                <a:schemeClr val="bg2"/>
              </a:outerShdw>
            </a:effectLst>
          </p:spPr>
          <p:txBody>
            <a:bodyPr lIns="19050" tIns="0" rIns="19050" bIns="0" anchor="ctr" anchorCtr="1"/>
            <a:lstStyle/>
            <a:p>
              <a:pPr>
                <a:defRPr/>
              </a:pPr>
              <a:endParaRPr lang="zh-CN" altLang="en-US">
                <a:latin typeface="微软雅黑" pitchFamily="34" charset="-122"/>
                <a:ea typeface="微软雅黑" pitchFamily="34" charset="-122"/>
              </a:endParaRPr>
            </a:p>
          </p:txBody>
        </p:sp>
        <p:sp>
          <p:nvSpPr>
            <p:cNvPr id="17427" name="Rectangle 129"/>
            <p:cNvSpPr>
              <a:spLocks noChangeArrowheads="1"/>
            </p:cNvSpPr>
            <p:nvPr/>
          </p:nvSpPr>
          <p:spPr bwMode="auto">
            <a:xfrm>
              <a:off x="4287" y="3018"/>
              <a:ext cx="207"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a:spcBef>
                  <a:spcPts val="400"/>
                </a:spcBef>
              </a:pPr>
              <a:r>
                <a:rPr lang="zh-CN" altLang="en-US" sz="2000" baseline="0">
                  <a:latin typeface="微软雅黑" pitchFamily="34" charset="-122"/>
                  <a:ea typeface="微软雅黑" pitchFamily="34" charset="-122"/>
                </a:rPr>
                <a:t>数据库</a:t>
              </a:r>
            </a:p>
          </p:txBody>
        </p:sp>
      </p:grpSp>
      <p:sp>
        <p:nvSpPr>
          <p:cNvPr id="17421" name="Line 130"/>
          <p:cNvSpPr>
            <a:spLocks noChangeShapeType="1"/>
          </p:cNvSpPr>
          <p:nvPr/>
        </p:nvSpPr>
        <p:spPr bwMode="auto">
          <a:xfrm>
            <a:off x="1785938" y="5695082"/>
            <a:ext cx="596900" cy="0"/>
          </a:xfrm>
          <a:prstGeom prst="line">
            <a:avLst/>
          </a:prstGeom>
          <a:noFill/>
          <a:ln w="38100">
            <a:solidFill>
              <a:srgbClr val="CCFFCC"/>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zh-CN" altLang="en-US">
              <a:latin typeface="微软雅黑" pitchFamily="34" charset="-122"/>
              <a:ea typeface="微软雅黑" pitchFamily="34" charset="-122"/>
            </a:endParaRPr>
          </a:p>
        </p:txBody>
      </p:sp>
      <p:sp>
        <p:nvSpPr>
          <p:cNvPr id="17422" name="Rectangle 141"/>
          <p:cNvSpPr>
            <a:spLocks noChangeArrowheads="1"/>
          </p:cNvSpPr>
          <p:nvPr/>
        </p:nvSpPr>
        <p:spPr bwMode="auto">
          <a:xfrm>
            <a:off x="1697038" y="5857007"/>
            <a:ext cx="658367" cy="453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zh-CN" altLang="en-US" sz="2000" baseline="0">
                <a:solidFill>
                  <a:srgbClr val="FFFF00"/>
                </a:solidFill>
                <a:latin typeface="微软雅黑" pitchFamily="34" charset="-122"/>
                <a:ea typeface="微软雅黑" pitchFamily="34" charset="-122"/>
              </a:rPr>
              <a:t>抽象</a:t>
            </a:r>
          </a:p>
        </p:txBody>
      </p:sp>
      <p:sp>
        <p:nvSpPr>
          <p:cNvPr id="17423" name="Rectangle 143"/>
          <p:cNvSpPr>
            <a:spLocks noChangeArrowheads="1"/>
          </p:cNvSpPr>
          <p:nvPr/>
        </p:nvSpPr>
        <p:spPr bwMode="auto">
          <a:xfrm>
            <a:off x="3375026" y="5857007"/>
            <a:ext cx="658367" cy="453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zh-CN" altLang="en-US" sz="2000" baseline="0">
                <a:solidFill>
                  <a:srgbClr val="FFFF00"/>
                </a:solidFill>
                <a:latin typeface="微软雅黑" pitchFamily="34" charset="-122"/>
                <a:ea typeface="微软雅黑" pitchFamily="34" charset="-122"/>
              </a:rPr>
              <a:t>转换</a:t>
            </a:r>
          </a:p>
        </p:txBody>
      </p:sp>
      <p:sp>
        <p:nvSpPr>
          <p:cNvPr id="17424" name="Rectangle 144"/>
          <p:cNvSpPr>
            <a:spLocks noChangeArrowheads="1"/>
          </p:cNvSpPr>
          <p:nvPr/>
        </p:nvSpPr>
        <p:spPr bwMode="auto">
          <a:xfrm>
            <a:off x="5010151" y="5857007"/>
            <a:ext cx="658367" cy="453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zh-CN" altLang="en-US" sz="2000" baseline="0">
                <a:solidFill>
                  <a:srgbClr val="FFFF00"/>
                </a:solidFill>
                <a:latin typeface="微软雅黑" pitchFamily="34" charset="-122"/>
                <a:ea typeface="微软雅黑" pitchFamily="34" charset="-122"/>
              </a:rPr>
              <a:t>映象</a:t>
            </a:r>
          </a:p>
        </p:txBody>
      </p:sp>
      <p:sp>
        <p:nvSpPr>
          <p:cNvPr id="17425" name="Rectangle 145"/>
          <p:cNvSpPr>
            <a:spLocks noChangeArrowheads="1"/>
          </p:cNvSpPr>
          <p:nvPr/>
        </p:nvSpPr>
        <p:spPr bwMode="auto">
          <a:xfrm>
            <a:off x="6594476" y="5857007"/>
            <a:ext cx="658367" cy="453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zh-CN" altLang="en-US" sz="2000" baseline="0">
                <a:solidFill>
                  <a:srgbClr val="FFFF00"/>
                </a:solidFill>
                <a:latin typeface="微软雅黑" pitchFamily="34" charset="-122"/>
                <a:ea typeface="微软雅黑" pitchFamily="34" charset="-122"/>
              </a:rPr>
              <a:t>实现</a:t>
            </a:r>
          </a:p>
        </p:txBody>
      </p:sp>
    </p:spTree>
    <p:extLst>
      <p:ext uri="{BB962C8B-B14F-4D97-AF65-F5344CB8AC3E}">
        <p14:creationId xmlns:p14="http://schemas.microsoft.com/office/powerpoint/2010/main" val="1337851126"/>
      </p:ext>
    </p:extLst>
  </p:cSld>
  <p:clrMapOvr>
    <a:masterClrMapping/>
  </p:clrMapOvr>
  <mc:AlternateContent xmlns:mc="http://schemas.openxmlformats.org/markup-compatibility/2006" xmlns:p14="http://schemas.microsoft.com/office/powerpoint/2010/main">
    <mc:Choice Requires="p14">
      <p:transition spd="slow" p14:dur="1500">
        <p:split orient="vert"/>
        <p:sndAc>
          <p:stSnd>
            <p:snd r:embed="rId2" name="camera.wav"/>
          </p:stSnd>
        </p:sndAc>
      </p:transition>
    </mc:Choice>
    <mc:Fallback xmlns="">
      <p:transition spd="slow">
        <p:split orient="vert"/>
        <p:sndAc>
          <p:stSnd>
            <p:snd r:embed="rId4" name="camera.wav"/>
          </p:stSnd>
        </p:sndAc>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txBox="1">
            <a:spLocks noChangeArrowheads="1"/>
          </p:cNvSpPr>
          <p:nvPr/>
        </p:nvSpPr>
        <p:spPr bwMode="auto">
          <a:xfrm>
            <a:off x="323850" y="875804"/>
            <a:ext cx="8496300" cy="1689100"/>
          </a:xfrm>
          <a:prstGeom prst="rect">
            <a:avLst/>
          </a:prstGeom>
          <a:noFill/>
          <a:ln w="9525">
            <a:noFill/>
            <a:miter lim="800000"/>
            <a:headEnd/>
            <a:tailEnd/>
          </a:ln>
          <a:effectLst/>
        </p:spPr>
        <p:txBody>
          <a:bodyPr/>
          <a:lstStyle/>
          <a:p>
            <a:pPr marL="342900" indent="-342900">
              <a:spcAft>
                <a:spcPct val="30000"/>
              </a:spcAft>
              <a:buClr>
                <a:srgbClr val="66FF33"/>
              </a:buClr>
              <a:buSzPct val="85000"/>
              <a:buFont typeface="Wingdings" pitchFamily="2" charset="2"/>
              <a:buBlip>
                <a:blip r:embed="rId3"/>
              </a:buBlip>
              <a:defRPr/>
            </a:pPr>
            <a:r>
              <a:rPr lang="en-US" altLang="zh-CN" sz="32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E</a:t>
            </a:r>
            <a:r>
              <a:rPr lang="zh-CN" altLang="en-US" sz="32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a:t>
            </a:r>
            <a:r>
              <a:rPr lang="en-US" altLang="zh-CN" sz="32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R</a:t>
            </a:r>
            <a:r>
              <a:rPr lang="zh-CN" altLang="en-US" sz="32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模型</a:t>
            </a:r>
            <a:r>
              <a:rPr lang="en-US" altLang="zh-CN" sz="32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 </a:t>
            </a:r>
            <a:r>
              <a:rPr lang="en-US" altLang="zh-CN" sz="3200" i="1" kern="0" baseline="0" dirty="0">
                <a:solidFill>
                  <a:srgbClr val="CCFFCC"/>
                </a:solidFill>
                <a:effectLst>
                  <a:outerShdw blurRad="38100" dist="38100" dir="2700000" algn="tl">
                    <a:srgbClr val="000000"/>
                  </a:outerShdw>
                </a:effectLst>
                <a:latin typeface="微软雅黑" pitchFamily="34" charset="-122"/>
                <a:ea typeface="微软雅黑" pitchFamily="34" charset="-122"/>
              </a:rPr>
              <a:t>Entity Relationship Model </a:t>
            </a:r>
            <a:r>
              <a:rPr lang="en-US" altLang="zh-CN" sz="32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a:t>
            </a:r>
            <a:r>
              <a:rPr lang="zh-CN" altLang="en-US" sz="32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，是最常用的概念数据模型。</a:t>
            </a:r>
          </a:p>
        </p:txBody>
      </p:sp>
      <p:sp>
        <p:nvSpPr>
          <p:cNvPr id="18437" name="Line 128"/>
          <p:cNvSpPr>
            <a:spLocks noChangeShapeType="1"/>
          </p:cNvSpPr>
          <p:nvPr/>
        </p:nvSpPr>
        <p:spPr bwMode="auto">
          <a:xfrm>
            <a:off x="7075488" y="4683844"/>
            <a:ext cx="0" cy="60960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sp>
        <p:nvSpPr>
          <p:cNvPr id="18438" name="Line 129"/>
          <p:cNvSpPr>
            <a:spLocks noChangeShapeType="1"/>
          </p:cNvSpPr>
          <p:nvPr/>
        </p:nvSpPr>
        <p:spPr bwMode="auto">
          <a:xfrm>
            <a:off x="6770688" y="4683844"/>
            <a:ext cx="0" cy="60960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sp>
        <p:nvSpPr>
          <p:cNvPr id="18439" name="Rectangle 130"/>
          <p:cNvSpPr>
            <a:spLocks noChangeArrowheads="1"/>
          </p:cNvSpPr>
          <p:nvPr/>
        </p:nvSpPr>
        <p:spPr bwMode="auto">
          <a:xfrm>
            <a:off x="2451100" y="4404444"/>
            <a:ext cx="685800" cy="320675"/>
          </a:xfrm>
          <a:prstGeom prst="rect">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课程</a:t>
            </a:r>
          </a:p>
        </p:txBody>
      </p:sp>
      <p:sp>
        <p:nvSpPr>
          <p:cNvPr id="18440" name="AutoShape 131"/>
          <p:cNvSpPr>
            <a:spLocks noChangeArrowheads="1"/>
          </p:cNvSpPr>
          <p:nvPr/>
        </p:nvSpPr>
        <p:spPr bwMode="auto">
          <a:xfrm>
            <a:off x="1493838" y="3769444"/>
            <a:ext cx="762000" cy="287338"/>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课程号</a:t>
            </a:r>
          </a:p>
        </p:txBody>
      </p:sp>
      <p:sp>
        <p:nvSpPr>
          <p:cNvPr id="18441" name="AutoShape 132"/>
          <p:cNvSpPr>
            <a:spLocks noChangeArrowheads="1"/>
          </p:cNvSpPr>
          <p:nvPr/>
        </p:nvSpPr>
        <p:spPr bwMode="auto">
          <a:xfrm>
            <a:off x="2408238" y="3769444"/>
            <a:ext cx="762000" cy="287338"/>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课程名</a:t>
            </a:r>
          </a:p>
        </p:txBody>
      </p:sp>
      <p:sp>
        <p:nvSpPr>
          <p:cNvPr id="18442" name="AutoShape 133"/>
          <p:cNvSpPr>
            <a:spLocks noChangeArrowheads="1"/>
          </p:cNvSpPr>
          <p:nvPr/>
        </p:nvSpPr>
        <p:spPr bwMode="auto">
          <a:xfrm>
            <a:off x="3322638" y="3769444"/>
            <a:ext cx="685800" cy="287338"/>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学分</a:t>
            </a:r>
          </a:p>
        </p:txBody>
      </p:sp>
      <p:sp>
        <p:nvSpPr>
          <p:cNvPr id="18443" name="Rectangle 134"/>
          <p:cNvSpPr>
            <a:spLocks noChangeArrowheads="1"/>
          </p:cNvSpPr>
          <p:nvPr/>
        </p:nvSpPr>
        <p:spPr bwMode="auto">
          <a:xfrm>
            <a:off x="901700" y="5231532"/>
            <a:ext cx="685800" cy="298450"/>
          </a:xfrm>
          <a:prstGeom prst="rect">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教师</a:t>
            </a:r>
          </a:p>
        </p:txBody>
      </p:sp>
      <p:sp>
        <p:nvSpPr>
          <p:cNvPr id="18444" name="AutoShape 135"/>
          <p:cNvSpPr>
            <a:spLocks noChangeArrowheads="1"/>
          </p:cNvSpPr>
          <p:nvPr/>
        </p:nvSpPr>
        <p:spPr bwMode="auto">
          <a:xfrm>
            <a:off x="468313" y="5814144"/>
            <a:ext cx="76200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教工号</a:t>
            </a:r>
          </a:p>
        </p:txBody>
      </p:sp>
      <p:sp>
        <p:nvSpPr>
          <p:cNvPr id="18445" name="AutoShape 136"/>
          <p:cNvSpPr>
            <a:spLocks noChangeArrowheads="1"/>
          </p:cNvSpPr>
          <p:nvPr/>
        </p:nvSpPr>
        <p:spPr bwMode="auto">
          <a:xfrm>
            <a:off x="1044575" y="6245944"/>
            <a:ext cx="68580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姓名</a:t>
            </a:r>
          </a:p>
        </p:txBody>
      </p:sp>
      <p:sp>
        <p:nvSpPr>
          <p:cNvPr id="18446" name="AutoShape 137"/>
          <p:cNvSpPr>
            <a:spLocks noChangeArrowheads="1"/>
          </p:cNvSpPr>
          <p:nvPr/>
        </p:nvSpPr>
        <p:spPr bwMode="auto">
          <a:xfrm>
            <a:off x="1476375" y="5885582"/>
            <a:ext cx="68580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性别</a:t>
            </a:r>
          </a:p>
        </p:txBody>
      </p:sp>
      <p:sp>
        <p:nvSpPr>
          <p:cNvPr id="18447" name="AutoShape 138"/>
          <p:cNvSpPr>
            <a:spLocks noChangeArrowheads="1"/>
          </p:cNvSpPr>
          <p:nvPr/>
        </p:nvSpPr>
        <p:spPr bwMode="auto">
          <a:xfrm>
            <a:off x="2268538" y="5885582"/>
            <a:ext cx="68580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职称</a:t>
            </a:r>
          </a:p>
        </p:txBody>
      </p:sp>
      <p:sp>
        <p:nvSpPr>
          <p:cNvPr id="18448" name="Rectangle 139"/>
          <p:cNvSpPr>
            <a:spLocks noChangeArrowheads="1"/>
          </p:cNvSpPr>
          <p:nvPr/>
        </p:nvSpPr>
        <p:spPr bwMode="auto">
          <a:xfrm>
            <a:off x="4284663" y="5195019"/>
            <a:ext cx="1066800" cy="371475"/>
          </a:xfrm>
          <a:prstGeom prst="rect">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参考书</a:t>
            </a:r>
          </a:p>
        </p:txBody>
      </p:sp>
      <p:sp>
        <p:nvSpPr>
          <p:cNvPr id="18449" name="AutoShape 140"/>
          <p:cNvSpPr>
            <a:spLocks noChangeArrowheads="1"/>
          </p:cNvSpPr>
          <p:nvPr/>
        </p:nvSpPr>
        <p:spPr bwMode="auto">
          <a:xfrm>
            <a:off x="3636963" y="6117357"/>
            <a:ext cx="609600" cy="27305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书号</a:t>
            </a:r>
          </a:p>
        </p:txBody>
      </p:sp>
      <p:sp>
        <p:nvSpPr>
          <p:cNvPr id="18450" name="AutoShape 141"/>
          <p:cNvSpPr>
            <a:spLocks noChangeArrowheads="1"/>
          </p:cNvSpPr>
          <p:nvPr/>
        </p:nvSpPr>
        <p:spPr bwMode="auto">
          <a:xfrm>
            <a:off x="4322763" y="6096719"/>
            <a:ext cx="68580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书名</a:t>
            </a:r>
          </a:p>
        </p:txBody>
      </p:sp>
      <p:sp>
        <p:nvSpPr>
          <p:cNvPr id="18451" name="AutoShape 142"/>
          <p:cNvSpPr>
            <a:spLocks noChangeArrowheads="1"/>
          </p:cNvSpPr>
          <p:nvPr/>
        </p:nvSpPr>
        <p:spPr bwMode="auto">
          <a:xfrm>
            <a:off x="5086350" y="6096719"/>
            <a:ext cx="86995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出版社</a:t>
            </a:r>
          </a:p>
        </p:txBody>
      </p:sp>
      <p:sp>
        <p:nvSpPr>
          <p:cNvPr id="18452" name="AutoShape 143"/>
          <p:cNvSpPr>
            <a:spLocks noChangeArrowheads="1"/>
          </p:cNvSpPr>
          <p:nvPr/>
        </p:nvSpPr>
        <p:spPr bwMode="auto">
          <a:xfrm>
            <a:off x="6037263" y="6096719"/>
            <a:ext cx="68580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主编</a:t>
            </a:r>
          </a:p>
        </p:txBody>
      </p:sp>
      <p:sp>
        <p:nvSpPr>
          <p:cNvPr id="18453" name="Rectangle 144"/>
          <p:cNvSpPr>
            <a:spLocks noChangeArrowheads="1"/>
          </p:cNvSpPr>
          <p:nvPr/>
        </p:nvSpPr>
        <p:spPr bwMode="auto">
          <a:xfrm>
            <a:off x="6481763" y="4404444"/>
            <a:ext cx="762000" cy="320675"/>
          </a:xfrm>
          <a:prstGeom prst="rect">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学生</a:t>
            </a:r>
          </a:p>
        </p:txBody>
      </p:sp>
      <p:sp>
        <p:nvSpPr>
          <p:cNvPr id="18454" name="AutoShape 145"/>
          <p:cNvSpPr>
            <a:spLocks noChangeArrowheads="1"/>
          </p:cNvSpPr>
          <p:nvPr/>
        </p:nvSpPr>
        <p:spPr bwMode="auto">
          <a:xfrm>
            <a:off x="7967663" y="3920257"/>
            <a:ext cx="755650" cy="246062"/>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学号</a:t>
            </a:r>
          </a:p>
        </p:txBody>
      </p:sp>
      <p:sp>
        <p:nvSpPr>
          <p:cNvPr id="18455" name="AutoShape 146"/>
          <p:cNvSpPr>
            <a:spLocks noChangeArrowheads="1"/>
          </p:cNvSpPr>
          <p:nvPr/>
        </p:nvSpPr>
        <p:spPr bwMode="auto">
          <a:xfrm>
            <a:off x="7967663" y="4239344"/>
            <a:ext cx="755650" cy="252413"/>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姓名</a:t>
            </a:r>
          </a:p>
        </p:txBody>
      </p:sp>
      <p:sp>
        <p:nvSpPr>
          <p:cNvPr id="18456" name="AutoShape 147"/>
          <p:cNvSpPr>
            <a:spLocks noChangeArrowheads="1"/>
          </p:cNvSpPr>
          <p:nvPr/>
        </p:nvSpPr>
        <p:spPr bwMode="auto">
          <a:xfrm>
            <a:off x="7967663" y="4987057"/>
            <a:ext cx="755650" cy="252412"/>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性别</a:t>
            </a:r>
          </a:p>
        </p:txBody>
      </p:sp>
      <p:sp>
        <p:nvSpPr>
          <p:cNvPr id="18457" name="AutoShape 148"/>
          <p:cNvSpPr>
            <a:spLocks noChangeArrowheads="1"/>
          </p:cNvSpPr>
          <p:nvPr/>
        </p:nvSpPr>
        <p:spPr bwMode="auto">
          <a:xfrm>
            <a:off x="7967663" y="4585419"/>
            <a:ext cx="755650" cy="252413"/>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年龄</a:t>
            </a:r>
          </a:p>
        </p:txBody>
      </p:sp>
      <p:sp>
        <p:nvSpPr>
          <p:cNvPr id="18458" name="Rectangle 149"/>
          <p:cNvSpPr>
            <a:spLocks noChangeArrowheads="1"/>
          </p:cNvSpPr>
          <p:nvPr/>
        </p:nvSpPr>
        <p:spPr bwMode="auto">
          <a:xfrm>
            <a:off x="6481763" y="2755032"/>
            <a:ext cx="762000" cy="344487"/>
          </a:xfrm>
          <a:prstGeom prst="rect">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班级</a:t>
            </a:r>
          </a:p>
        </p:txBody>
      </p:sp>
      <p:sp>
        <p:nvSpPr>
          <p:cNvPr id="18459" name="AutoShape 150"/>
          <p:cNvSpPr>
            <a:spLocks noChangeArrowheads="1"/>
          </p:cNvSpPr>
          <p:nvPr/>
        </p:nvSpPr>
        <p:spPr bwMode="auto">
          <a:xfrm>
            <a:off x="6005513" y="2197819"/>
            <a:ext cx="755650" cy="334963"/>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班号</a:t>
            </a:r>
          </a:p>
        </p:txBody>
      </p:sp>
      <p:sp>
        <p:nvSpPr>
          <p:cNvPr id="18460" name="AutoShape 151"/>
          <p:cNvSpPr>
            <a:spLocks noChangeArrowheads="1"/>
          </p:cNvSpPr>
          <p:nvPr/>
        </p:nvSpPr>
        <p:spPr bwMode="auto">
          <a:xfrm>
            <a:off x="6919913" y="2197819"/>
            <a:ext cx="755650" cy="334963"/>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班名</a:t>
            </a:r>
          </a:p>
        </p:txBody>
      </p:sp>
      <p:cxnSp>
        <p:nvCxnSpPr>
          <p:cNvPr id="18461" name="AutoShape 152"/>
          <p:cNvCxnSpPr>
            <a:cxnSpLocks noChangeShapeType="1"/>
            <a:stCxn id="18440" idx="2"/>
            <a:endCxn id="18439" idx="0"/>
          </p:cNvCxnSpPr>
          <p:nvPr/>
        </p:nvCxnSpPr>
        <p:spPr bwMode="auto">
          <a:xfrm>
            <a:off x="1874838" y="4056782"/>
            <a:ext cx="919162" cy="347662"/>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62" name="AutoShape 153"/>
          <p:cNvCxnSpPr>
            <a:cxnSpLocks noChangeShapeType="1"/>
            <a:stCxn id="18441" idx="2"/>
            <a:endCxn id="18439" idx="0"/>
          </p:cNvCxnSpPr>
          <p:nvPr/>
        </p:nvCxnSpPr>
        <p:spPr bwMode="auto">
          <a:xfrm>
            <a:off x="2789238" y="4056782"/>
            <a:ext cx="4762" cy="347662"/>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63" name="AutoShape 154"/>
          <p:cNvCxnSpPr>
            <a:cxnSpLocks noChangeShapeType="1"/>
            <a:stCxn id="18442" idx="2"/>
            <a:endCxn id="18439" idx="0"/>
          </p:cNvCxnSpPr>
          <p:nvPr/>
        </p:nvCxnSpPr>
        <p:spPr bwMode="auto">
          <a:xfrm flipH="1">
            <a:off x="2794000" y="4056782"/>
            <a:ext cx="871538" cy="347662"/>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64" name="AutoShape 155"/>
          <p:cNvCxnSpPr>
            <a:cxnSpLocks noChangeShapeType="1"/>
            <a:stCxn id="18443" idx="2"/>
            <a:endCxn id="18444" idx="0"/>
          </p:cNvCxnSpPr>
          <p:nvPr/>
        </p:nvCxnSpPr>
        <p:spPr bwMode="auto">
          <a:xfrm flipH="1">
            <a:off x="849313" y="5529982"/>
            <a:ext cx="395287" cy="284162"/>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65" name="AutoShape 156"/>
          <p:cNvCxnSpPr>
            <a:cxnSpLocks noChangeShapeType="1"/>
            <a:stCxn id="18443" idx="2"/>
            <a:endCxn id="18445" idx="0"/>
          </p:cNvCxnSpPr>
          <p:nvPr/>
        </p:nvCxnSpPr>
        <p:spPr bwMode="auto">
          <a:xfrm>
            <a:off x="1244600" y="5529982"/>
            <a:ext cx="142875" cy="715962"/>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66" name="AutoShape 157"/>
          <p:cNvCxnSpPr>
            <a:cxnSpLocks noChangeShapeType="1"/>
            <a:stCxn id="18443" idx="2"/>
            <a:endCxn id="18446" idx="0"/>
          </p:cNvCxnSpPr>
          <p:nvPr/>
        </p:nvCxnSpPr>
        <p:spPr bwMode="auto">
          <a:xfrm>
            <a:off x="1244600" y="5529982"/>
            <a:ext cx="574675" cy="3556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67" name="AutoShape 158"/>
          <p:cNvCxnSpPr>
            <a:cxnSpLocks noChangeShapeType="1"/>
            <a:stCxn id="18443" idx="2"/>
            <a:endCxn id="18447" idx="0"/>
          </p:cNvCxnSpPr>
          <p:nvPr/>
        </p:nvCxnSpPr>
        <p:spPr bwMode="auto">
          <a:xfrm>
            <a:off x="1244600" y="5529982"/>
            <a:ext cx="1366838" cy="3556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68" name="AutoShape 159"/>
          <p:cNvCxnSpPr>
            <a:cxnSpLocks noChangeShapeType="1"/>
            <a:stCxn id="18448" idx="2"/>
            <a:endCxn id="18449" idx="0"/>
          </p:cNvCxnSpPr>
          <p:nvPr/>
        </p:nvCxnSpPr>
        <p:spPr bwMode="auto">
          <a:xfrm flipH="1">
            <a:off x="3941763" y="5566494"/>
            <a:ext cx="876300" cy="550863"/>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69" name="AutoShape 160"/>
          <p:cNvCxnSpPr>
            <a:cxnSpLocks noChangeShapeType="1"/>
            <a:stCxn id="18448" idx="2"/>
            <a:endCxn id="18450" idx="0"/>
          </p:cNvCxnSpPr>
          <p:nvPr/>
        </p:nvCxnSpPr>
        <p:spPr bwMode="auto">
          <a:xfrm flipH="1">
            <a:off x="4665663" y="5566494"/>
            <a:ext cx="152400" cy="5302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70" name="AutoShape 161"/>
          <p:cNvCxnSpPr>
            <a:cxnSpLocks noChangeShapeType="1"/>
            <a:stCxn id="18448" idx="2"/>
            <a:endCxn id="18451" idx="0"/>
          </p:cNvCxnSpPr>
          <p:nvPr/>
        </p:nvCxnSpPr>
        <p:spPr bwMode="auto">
          <a:xfrm>
            <a:off x="4818063" y="5566494"/>
            <a:ext cx="703262" cy="5302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71" name="AutoShape 162"/>
          <p:cNvCxnSpPr>
            <a:cxnSpLocks noChangeShapeType="1"/>
            <a:stCxn id="18448" idx="2"/>
            <a:endCxn id="18452" idx="0"/>
          </p:cNvCxnSpPr>
          <p:nvPr/>
        </p:nvCxnSpPr>
        <p:spPr bwMode="auto">
          <a:xfrm>
            <a:off x="4818063" y="5566494"/>
            <a:ext cx="1562100" cy="5302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72" name="AutoShape 163"/>
          <p:cNvCxnSpPr>
            <a:cxnSpLocks noChangeShapeType="1"/>
            <a:stCxn id="18453" idx="3"/>
            <a:endCxn id="18454" idx="1"/>
          </p:cNvCxnSpPr>
          <p:nvPr/>
        </p:nvCxnSpPr>
        <p:spPr bwMode="auto">
          <a:xfrm flipV="1">
            <a:off x="7243763" y="4044082"/>
            <a:ext cx="723900" cy="5207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73" name="AutoShape 164"/>
          <p:cNvCxnSpPr>
            <a:cxnSpLocks noChangeShapeType="1"/>
            <a:stCxn id="18453" idx="3"/>
            <a:endCxn id="18455" idx="1"/>
          </p:cNvCxnSpPr>
          <p:nvPr/>
        </p:nvCxnSpPr>
        <p:spPr bwMode="auto">
          <a:xfrm flipV="1">
            <a:off x="7243763" y="4366344"/>
            <a:ext cx="723900" cy="19843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74" name="AutoShape 165"/>
          <p:cNvCxnSpPr>
            <a:cxnSpLocks noChangeShapeType="1"/>
            <a:stCxn id="18453" idx="3"/>
            <a:endCxn id="18457" idx="1"/>
          </p:cNvCxnSpPr>
          <p:nvPr/>
        </p:nvCxnSpPr>
        <p:spPr bwMode="auto">
          <a:xfrm>
            <a:off x="7243763" y="4564782"/>
            <a:ext cx="723900" cy="147637"/>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75" name="AutoShape 166"/>
          <p:cNvCxnSpPr>
            <a:cxnSpLocks noChangeShapeType="1"/>
            <a:stCxn id="18453" idx="3"/>
            <a:endCxn id="18456" idx="1"/>
          </p:cNvCxnSpPr>
          <p:nvPr/>
        </p:nvCxnSpPr>
        <p:spPr bwMode="auto">
          <a:xfrm>
            <a:off x="7243763" y="4564782"/>
            <a:ext cx="723900" cy="54927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76" name="AutoShape 167"/>
          <p:cNvCxnSpPr>
            <a:cxnSpLocks noChangeShapeType="1"/>
            <a:stCxn id="18458" idx="0"/>
            <a:endCxn id="18459" idx="2"/>
          </p:cNvCxnSpPr>
          <p:nvPr/>
        </p:nvCxnSpPr>
        <p:spPr bwMode="auto">
          <a:xfrm flipH="1" flipV="1">
            <a:off x="6383338" y="2532782"/>
            <a:ext cx="479425" cy="22225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77" name="AutoShape 168"/>
          <p:cNvCxnSpPr>
            <a:cxnSpLocks noChangeShapeType="1"/>
            <a:stCxn id="18458" idx="0"/>
            <a:endCxn id="18460" idx="2"/>
          </p:cNvCxnSpPr>
          <p:nvPr/>
        </p:nvCxnSpPr>
        <p:spPr bwMode="auto">
          <a:xfrm flipV="1">
            <a:off x="6862763" y="2532782"/>
            <a:ext cx="434975" cy="22225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18478" name="AutoShape 169"/>
          <p:cNvSpPr>
            <a:spLocks noChangeArrowheads="1"/>
          </p:cNvSpPr>
          <p:nvPr/>
        </p:nvSpPr>
        <p:spPr bwMode="auto">
          <a:xfrm>
            <a:off x="4460875" y="4336182"/>
            <a:ext cx="1219200" cy="457200"/>
          </a:xfrm>
          <a:prstGeom prst="diamond">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选修</a:t>
            </a:r>
          </a:p>
        </p:txBody>
      </p:sp>
      <p:sp>
        <p:nvSpPr>
          <p:cNvPr id="18479" name="AutoShape 170"/>
          <p:cNvSpPr>
            <a:spLocks noChangeArrowheads="1"/>
          </p:cNvSpPr>
          <p:nvPr/>
        </p:nvSpPr>
        <p:spPr bwMode="auto">
          <a:xfrm>
            <a:off x="4692650" y="3542432"/>
            <a:ext cx="75565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成绩</a:t>
            </a:r>
          </a:p>
        </p:txBody>
      </p:sp>
      <p:cxnSp>
        <p:nvCxnSpPr>
          <p:cNvPr id="18480" name="AutoShape 171"/>
          <p:cNvCxnSpPr>
            <a:cxnSpLocks noChangeShapeType="1"/>
            <a:stCxn id="18479" idx="2"/>
            <a:endCxn id="18478" idx="0"/>
          </p:cNvCxnSpPr>
          <p:nvPr/>
        </p:nvCxnSpPr>
        <p:spPr bwMode="auto">
          <a:xfrm>
            <a:off x="5070475" y="3821832"/>
            <a:ext cx="0" cy="51435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81" name="AutoShape 172"/>
          <p:cNvCxnSpPr>
            <a:cxnSpLocks noChangeShapeType="1"/>
            <a:stCxn id="18439" idx="3"/>
            <a:endCxn id="18478" idx="1"/>
          </p:cNvCxnSpPr>
          <p:nvPr/>
        </p:nvCxnSpPr>
        <p:spPr bwMode="auto">
          <a:xfrm>
            <a:off x="3136900" y="4564782"/>
            <a:ext cx="1323975"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82" name="AutoShape 173"/>
          <p:cNvCxnSpPr>
            <a:cxnSpLocks noChangeShapeType="1"/>
            <a:stCxn id="18478" idx="3"/>
            <a:endCxn id="18453" idx="1"/>
          </p:cNvCxnSpPr>
          <p:nvPr/>
        </p:nvCxnSpPr>
        <p:spPr bwMode="auto">
          <a:xfrm>
            <a:off x="5680075" y="4564782"/>
            <a:ext cx="801688"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18483" name="AutoShape 174"/>
          <p:cNvSpPr>
            <a:spLocks noChangeArrowheads="1"/>
          </p:cNvSpPr>
          <p:nvPr/>
        </p:nvSpPr>
        <p:spPr bwMode="auto">
          <a:xfrm>
            <a:off x="6253163" y="3577357"/>
            <a:ext cx="1219200" cy="457200"/>
          </a:xfrm>
          <a:prstGeom prst="diamond">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组成</a:t>
            </a:r>
          </a:p>
        </p:txBody>
      </p:sp>
      <p:cxnSp>
        <p:nvCxnSpPr>
          <p:cNvPr id="18484" name="AutoShape 175"/>
          <p:cNvCxnSpPr>
            <a:cxnSpLocks noChangeShapeType="1"/>
            <a:stCxn id="18458" idx="2"/>
            <a:endCxn id="18483" idx="0"/>
          </p:cNvCxnSpPr>
          <p:nvPr/>
        </p:nvCxnSpPr>
        <p:spPr bwMode="auto">
          <a:xfrm>
            <a:off x="6862763" y="3099519"/>
            <a:ext cx="0" cy="47783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85" name="AutoShape 176"/>
          <p:cNvCxnSpPr>
            <a:cxnSpLocks noChangeShapeType="1"/>
            <a:stCxn id="18483" idx="2"/>
            <a:endCxn id="18453" idx="0"/>
          </p:cNvCxnSpPr>
          <p:nvPr/>
        </p:nvCxnSpPr>
        <p:spPr bwMode="auto">
          <a:xfrm>
            <a:off x="6862763" y="4034557"/>
            <a:ext cx="0" cy="369887"/>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18486" name="AutoShape 177"/>
          <p:cNvSpPr>
            <a:spLocks noChangeArrowheads="1"/>
          </p:cNvSpPr>
          <p:nvPr/>
        </p:nvSpPr>
        <p:spPr bwMode="auto">
          <a:xfrm>
            <a:off x="7788275" y="3275732"/>
            <a:ext cx="755650" cy="334962"/>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人数</a:t>
            </a:r>
          </a:p>
        </p:txBody>
      </p:sp>
      <p:cxnSp>
        <p:nvCxnSpPr>
          <p:cNvPr id="18487" name="AutoShape 178"/>
          <p:cNvCxnSpPr>
            <a:cxnSpLocks noChangeShapeType="1"/>
            <a:stCxn id="18483" idx="3"/>
            <a:endCxn id="18486" idx="1"/>
          </p:cNvCxnSpPr>
          <p:nvPr/>
        </p:nvCxnSpPr>
        <p:spPr bwMode="auto">
          <a:xfrm flipV="1">
            <a:off x="7472363" y="3444007"/>
            <a:ext cx="315912" cy="36195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18488" name="AutoShape 179"/>
          <p:cNvSpPr>
            <a:spLocks noChangeArrowheads="1"/>
          </p:cNvSpPr>
          <p:nvPr/>
        </p:nvSpPr>
        <p:spPr bwMode="auto">
          <a:xfrm>
            <a:off x="2184400" y="5152157"/>
            <a:ext cx="1219200" cy="457200"/>
          </a:xfrm>
          <a:prstGeom prst="diamond">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讲授</a:t>
            </a:r>
          </a:p>
        </p:txBody>
      </p:sp>
      <p:cxnSp>
        <p:nvCxnSpPr>
          <p:cNvPr id="18489" name="AutoShape 180"/>
          <p:cNvCxnSpPr>
            <a:cxnSpLocks noChangeShapeType="1"/>
            <a:stCxn id="18439" idx="2"/>
            <a:endCxn id="18488" idx="0"/>
          </p:cNvCxnSpPr>
          <p:nvPr/>
        </p:nvCxnSpPr>
        <p:spPr bwMode="auto">
          <a:xfrm rot="5400000">
            <a:off x="2580481" y="4938638"/>
            <a:ext cx="427038"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90" name="AutoShape 181"/>
          <p:cNvCxnSpPr>
            <a:cxnSpLocks noChangeShapeType="1"/>
            <a:stCxn id="18488" idx="1"/>
            <a:endCxn id="18443" idx="3"/>
          </p:cNvCxnSpPr>
          <p:nvPr/>
        </p:nvCxnSpPr>
        <p:spPr bwMode="auto">
          <a:xfrm rot="10800000">
            <a:off x="1587500" y="5380757"/>
            <a:ext cx="596900"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91" name="AutoShape 182"/>
          <p:cNvCxnSpPr>
            <a:cxnSpLocks noChangeShapeType="1"/>
            <a:stCxn id="18488" idx="3"/>
            <a:endCxn id="18448" idx="1"/>
          </p:cNvCxnSpPr>
          <p:nvPr/>
        </p:nvCxnSpPr>
        <p:spPr bwMode="auto">
          <a:xfrm>
            <a:off x="3403600" y="5380757"/>
            <a:ext cx="881063"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18492" name="Rectangle 183"/>
          <p:cNvSpPr>
            <a:spLocks noChangeArrowheads="1"/>
          </p:cNvSpPr>
          <p:nvPr/>
        </p:nvSpPr>
        <p:spPr bwMode="auto">
          <a:xfrm>
            <a:off x="3702050" y="4282207"/>
            <a:ext cx="762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1600" baseline="0">
                <a:latin typeface="Times New Roman" pitchFamily="18" charset="0"/>
                <a:ea typeface="楷体_GB2312" pitchFamily="49" charset="-122"/>
              </a:rPr>
              <a:t>m</a:t>
            </a:r>
          </a:p>
        </p:txBody>
      </p:sp>
      <p:sp>
        <p:nvSpPr>
          <p:cNvPr id="18493" name="Rectangle 184"/>
          <p:cNvSpPr>
            <a:spLocks noChangeArrowheads="1"/>
          </p:cNvSpPr>
          <p:nvPr/>
        </p:nvSpPr>
        <p:spPr bwMode="auto">
          <a:xfrm>
            <a:off x="5856288" y="4302844"/>
            <a:ext cx="762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1600" baseline="0">
                <a:latin typeface="Times New Roman" pitchFamily="18" charset="0"/>
                <a:ea typeface="楷体_GB2312" pitchFamily="49" charset="-122"/>
              </a:rPr>
              <a:t>n</a:t>
            </a:r>
          </a:p>
        </p:txBody>
      </p:sp>
      <p:sp>
        <p:nvSpPr>
          <p:cNvPr id="18494" name="AutoShape 185"/>
          <p:cNvSpPr>
            <a:spLocks noChangeArrowheads="1"/>
          </p:cNvSpPr>
          <p:nvPr/>
        </p:nvSpPr>
        <p:spPr bwMode="auto">
          <a:xfrm>
            <a:off x="6313488" y="5141044"/>
            <a:ext cx="1219200" cy="457200"/>
          </a:xfrm>
          <a:prstGeom prst="diamond">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1600" baseline="0">
                <a:latin typeface="Times New Roman" pitchFamily="18" charset="0"/>
                <a:ea typeface="楷体_GB2312" pitchFamily="49" charset="-122"/>
              </a:rPr>
              <a:t>领导</a:t>
            </a:r>
          </a:p>
        </p:txBody>
      </p:sp>
      <p:sp>
        <p:nvSpPr>
          <p:cNvPr id="18495" name="Rectangle 186"/>
          <p:cNvSpPr>
            <a:spLocks noChangeArrowheads="1"/>
          </p:cNvSpPr>
          <p:nvPr/>
        </p:nvSpPr>
        <p:spPr bwMode="auto">
          <a:xfrm>
            <a:off x="6635750" y="4077419"/>
            <a:ext cx="762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1600" baseline="0">
                <a:latin typeface="Times New Roman" pitchFamily="18" charset="0"/>
                <a:ea typeface="楷体_GB2312" pitchFamily="49" charset="-122"/>
              </a:rPr>
              <a:t>n</a:t>
            </a:r>
          </a:p>
        </p:txBody>
      </p:sp>
      <p:sp>
        <p:nvSpPr>
          <p:cNvPr id="18496" name="Rectangle 187"/>
          <p:cNvSpPr>
            <a:spLocks noChangeArrowheads="1"/>
          </p:cNvSpPr>
          <p:nvPr/>
        </p:nvSpPr>
        <p:spPr bwMode="auto">
          <a:xfrm>
            <a:off x="6769100" y="3267794"/>
            <a:ext cx="457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1600" baseline="0">
                <a:latin typeface="Times New Roman" pitchFamily="18" charset="0"/>
                <a:ea typeface="楷体_GB2312" pitchFamily="49" charset="-122"/>
              </a:rPr>
              <a:t>1</a:t>
            </a:r>
          </a:p>
        </p:txBody>
      </p:sp>
      <p:sp>
        <p:nvSpPr>
          <p:cNvPr id="18497" name="Rectangle 188"/>
          <p:cNvSpPr>
            <a:spLocks noChangeArrowheads="1"/>
          </p:cNvSpPr>
          <p:nvPr/>
        </p:nvSpPr>
        <p:spPr bwMode="auto">
          <a:xfrm>
            <a:off x="6389688" y="4836244"/>
            <a:ext cx="457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1600" baseline="0">
                <a:latin typeface="Times New Roman" pitchFamily="18" charset="0"/>
                <a:ea typeface="楷体_GB2312" pitchFamily="49" charset="-122"/>
              </a:rPr>
              <a:t>1</a:t>
            </a:r>
          </a:p>
        </p:txBody>
      </p:sp>
      <p:sp>
        <p:nvSpPr>
          <p:cNvPr id="18498" name="Rectangle 189"/>
          <p:cNvSpPr>
            <a:spLocks noChangeArrowheads="1"/>
          </p:cNvSpPr>
          <p:nvPr/>
        </p:nvSpPr>
        <p:spPr bwMode="auto">
          <a:xfrm>
            <a:off x="6846888" y="4836244"/>
            <a:ext cx="762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1600" baseline="0">
                <a:latin typeface="Times New Roman" pitchFamily="18" charset="0"/>
                <a:ea typeface="楷体_GB2312" pitchFamily="49" charset="-122"/>
              </a:rPr>
              <a:t>n</a:t>
            </a:r>
          </a:p>
        </p:txBody>
      </p:sp>
      <p:sp>
        <p:nvSpPr>
          <p:cNvPr id="18499" name="Rectangle 190"/>
          <p:cNvSpPr>
            <a:spLocks noChangeArrowheads="1"/>
          </p:cNvSpPr>
          <p:nvPr/>
        </p:nvSpPr>
        <p:spPr bwMode="auto">
          <a:xfrm>
            <a:off x="2379663" y="4798144"/>
            <a:ext cx="457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1600" baseline="0">
                <a:latin typeface="Times New Roman" pitchFamily="18" charset="0"/>
                <a:ea typeface="楷体_GB2312" pitchFamily="49" charset="-122"/>
              </a:rPr>
              <a:t>m</a:t>
            </a:r>
          </a:p>
        </p:txBody>
      </p:sp>
      <p:sp>
        <p:nvSpPr>
          <p:cNvPr id="18500" name="Rectangle 191"/>
          <p:cNvSpPr>
            <a:spLocks noChangeArrowheads="1"/>
          </p:cNvSpPr>
          <p:nvPr/>
        </p:nvSpPr>
        <p:spPr bwMode="auto">
          <a:xfrm>
            <a:off x="1455738" y="5101357"/>
            <a:ext cx="762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1600" baseline="0">
                <a:latin typeface="Times New Roman" pitchFamily="18" charset="0"/>
                <a:ea typeface="楷体_GB2312" pitchFamily="49" charset="-122"/>
              </a:rPr>
              <a:t>n</a:t>
            </a:r>
          </a:p>
        </p:txBody>
      </p:sp>
      <p:sp>
        <p:nvSpPr>
          <p:cNvPr id="18501" name="Rectangle 192"/>
          <p:cNvSpPr>
            <a:spLocks noChangeArrowheads="1"/>
          </p:cNvSpPr>
          <p:nvPr/>
        </p:nvSpPr>
        <p:spPr bwMode="auto">
          <a:xfrm>
            <a:off x="3421063" y="5093419"/>
            <a:ext cx="762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1600" baseline="0">
                <a:latin typeface="Times New Roman" pitchFamily="18" charset="0"/>
                <a:ea typeface="楷体_GB2312" pitchFamily="49" charset="-122"/>
              </a:rPr>
              <a:t>p</a:t>
            </a:r>
          </a:p>
        </p:txBody>
      </p:sp>
      <p:grpSp>
        <p:nvGrpSpPr>
          <p:cNvPr id="18502" name="Group 193"/>
          <p:cNvGrpSpPr>
            <a:grpSpLocks/>
          </p:cNvGrpSpPr>
          <p:nvPr/>
        </p:nvGrpSpPr>
        <p:grpSpPr bwMode="auto">
          <a:xfrm>
            <a:off x="827088" y="2360538"/>
            <a:ext cx="1800225" cy="936625"/>
            <a:chOff x="2154" y="1389"/>
            <a:chExt cx="1134" cy="590"/>
          </a:xfrm>
        </p:grpSpPr>
        <p:sp>
          <p:nvSpPr>
            <p:cNvPr id="182" name="Rectangle 194"/>
            <p:cNvSpPr>
              <a:spLocks noChangeArrowheads="1"/>
            </p:cNvSpPr>
            <p:nvPr/>
          </p:nvSpPr>
          <p:spPr bwMode="auto">
            <a:xfrm>
              <a:off x="2154" y="1389"/>
              <a:ext cx="1134" cy="590"/>
            </a:xfrm>
            <a:prstGeom prst="rect">
              <a:avLst/>
            </a:prstGeom>
            <a:solidFill>
              <a:schemeClr val="hlink"/>
            </a:solidFill>
            <a:ln w="12700" cap="sq">
              <a:solidFill>
                <a:schemeClr val="tx1"/>
              </a:solidFill>
              <a:miter lim="800000"/>
              <a:headEnd/>
              <a:tailEnd/>
            </a:ln>
            <a:effectLst>
              <a:outerShdw dist="107763" dir="2700000" algn="ctr" rotWithShape="0">
                <a:schemeClr val="bg2">
                  <a:alpha val="50000"/>
                </a:schemeClr>
              </a:outerShdw>
            </a:effectLst>
          </p:spPr>
          <p:txBody>
            <a:bodyPr wrap="none" lIns="0" tIns="0" rIns="0" bIns="0" anchor="ctr"/>
            <a:lstStyle/>
            <a:p>
              <a:pPr>
                <a:defRPr/>
              </a:pPr>
              <a:endParaRPr lang="zh-CN" altLang="en-US">
                <a:ea typeface="宋体" pitchFamily="2" charset="-122"/>
              </a:endParaRPr>
            </a:p>
          </p:txBody>
        </p:sp>
        <p:sp>
          <p:nvSpPr>
            <p:cNvPr id="18504" name="Rectangle 195"/>
            <p:cNvSpPr>
              <a:spLocks noChangeArrowheads="1"/>
            </p:cNvSpPr>
            <p:nvPr/>
          </p:nvSpPr>
          <p:spPr bwMode="auto">
            <a:xfrm>
              <a:off x="2226" y="1433"/>
              <a:ext cx="453" cy="152"/>
            </a:xfrm>
            <a:prstGeom prst="rect">
              <a:avLst/>
            </a:prstGeom>
            <a:solidFill>
              <a:schemeClr val="bg1"/>
            </a:solidFill>
            <a:ln w="12700" cap="sq">
              <a:solidFill>
                <a:schemeClr val="tx1"/>
              </a:solidFill>
              <a:miter lim="800000"/>
              <a:headEnd/>
              <a:tailEnd/>
            </a:ln>
          </p:spPr>
          <p:txBody>
            <a:bodyPr wrap="none" lIns="0" tIns="0" rIns="0" bIns="0" anchor="ctr"/>
            <a:lstStyle/>
            <a:p>
              <a:endParaRPr lang="zh-CN" altLang="en-US"/>
            </a:p>
          </p:txBody>
        </p:sp>
        <p:sp>
          <p:nvSpPr>
            <p:cNvPr id="18505" name="Rectangle 196"/>
            <p:cNvSpPr>
              <a:spLocks noChangeArrowheads="1"/>
            </p:cNvSpPr>
            <p:nvPr/>
          </p:nvSpPr>
          <p:spPr bwMode="auto">
            <a:xfrm>
              <a:off x="2850" y="1394"/>
              <a:ext cx="320" cy="192"/>
            </a:xfrm>
            <a:prstGeom prst="rect">
              <a:avLst/>
            </a:prstGeom>
            <a:solidFill>
              <a:schemeClr val="hlink"/>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r>
                <a:rPr kumimoji="1" lang="zh-CN" altLang="en-US" sz="2000" b="1" baseline="0">
                  <a:solidFill>
                    <a:schemeClr val="bg1"/>
                  </a:solidFill>
                  <a:latin typeface="Times New Roman" pitchFamily="18" charset="0"/>
                  <a:ea typeface="楷体_GB2312" pitchFamily="49" charset="-122"/>
                </a:rPr>
                <a:t>实体</a:t>
              </a:r>
            </a:p>
          </p:txBody>
        </p:sp>
        <p:sp>
          <p:nvSpPr>
            <p:cNvPr id="18506" name="AutoShape 197"/>
            <p:cNvSpPr>
              <a:spLocks noChangeArrowheads="1"/>
            </p:cNvSpPr>
            <p:nvPr/>
          </p:nvSpPr>
          <p:spPr bwMode="auto">
            <a:xfrm>
              <a:off x="2245" y="1797"/>
              <a:ext cx="453" cy="151"/>
            </a:xfrm>
            <a:prstGeom prst="diamond">
              <a:avLst/>
            </a:prstGeom>
            <a:solidFill>
              <a:schemeClr val="bg1"/>
            </a:solidFill>
            <a:ln w="12700" cap="sq">
              <a:solidFill>
                <a:schemeClr val="tx1"/>
              </a:solidFill>
              <a:miter lim="800000"/>
              <a:headEnd/>
              <a:tailEnd/>
            </a:ln>
          </p:spPr>
          <p:txBody>
            <a:bodyPr wrap="none" lIns="0" tIns="0" rIns="0" bIns="0" anchor="ctr"/>
            <a:lstStyle/>
            <a:p>
              <a:endParaRPr lang="zh-CN" altLang="en-US"/>
            </a:p>
          </p:txBody>
        </p:sp>
        <p:sp>
          <p:nvSpPr>
            <p:cNvPr id="18507" name="Rectangle 198"/>
            <p:cNvSpPr>
              <a:spLocks noChangeArrowheads="1"/>
            </p:cNvSpPr>
            <p:nvPr/>
          </p:nvSpPr>
          <p:spPr bwMode="auto">
            <a:xfrm>
              <a:off x="2862" y="1768"/>
              <a:ext cx="320" cy="192"/>
            </a:xfrm>
            <a:prstGeom prst="rect">
              <a:avLst/>
            </a:prstGeom>
            <a:solidFill>
              <a:schemeClr val="hlink"/>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r>
                <a:rPr kumimoji="1" lang="zh-CN" altLang="en-US" sz="2000" b="1" baseline="0">
                  <a:solidFill>
                    <a:schemeClr val="bg1"/>
                  </a:solidFill>
                  <a:latin typeface="Times New Roman" pitchFamily="18" charset="0"/>
                  <a:ea typeface="楷体_GB2312" pitchFamily="49" charset="-122"/>
                </a:rPr>
                <a:t>联系</a:t>
              </a:r>
            </a:p>
          </p:txBody>
        </p:sp>
        <p:sp>
          <p:nvSpPr>
            <p:cNvPr id="18508" name="AutoShape 199"/>
            <p:cNvSpPr>
              <a:spLocks noChangeArrowheads="1"/>
            </p:cNvSpPr>
            <p:nvPr/>
          </p:nvSpPr>
          <p:spPr bwMode="auto">
            <a:xfrm>
              <a:off x="2226" y="1621"/>
              <a:ext cx="453" cy="152"/>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endParaRPr lang="zh-CN" altLang="en-US"/>
            </a:p>
          </p:txBody>
        </p:sp>
        <p:sp>
          <p:nvSpPr>
            <p:cNvPr id="18509" name="Rectangle 200"/>
            <p:cNvSpPr>
              <a:spLocks noChangeArrowheads="1"/>
            </p:cNvSpPr>
            <p:nvPr/>
          </p:nvSpPr>
          <p:spPr bwMode="auto">
            <a:xfrm>
              <a:off x="2850" y="1581"/>
              <a:ext cx="320" cy="192"/>
            </a:xfrm>
            <a:prstGeom prst="rect">
              <a:avLst/>
            </a:prstGeom>
            <a:solidFill>
              <a:schemeClr val="hlink"/>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r>
                <a:rPr kumimoji="1" lang="zh-CN" altLang="en-US" sz="2000" b="1" baseline="0">
                  <a:solidFill>
                    <a:schemeClr val="bg1"/>
                  </a:solidFill>
                  <a:latin typeface="Times New Roman" pitchFamily="18" charset="0"/>
                  <a:ea typeface="楷体_GB2312" pitchFamily="49" charset="-122"/>
                </a:rPr>
                <a:t>属性</a:t>
              </a:r>
            </a:p>
          </p:txBody>
        </p:sp>
      </p:grpSp>
      <p:sp>
        <p:nvSpPr>
          <p:cNvPr id="77" name="Rectangle 3"/>
          <p:cNvSpPr>
            <a:spLocks noGrp="1" noChangeArrowheads="1"/>
          </p:cNvSpPr>
          <p:nvPr>
            <p:ph type="title"/>
          </p:nvPr>
        </p:nvSpPr>
        <p:spPr>
          <a:xfrm>
            <a:off x="471734" y="45720"/>
            <a:ext cx="1992066" cy="699404"/>
          </a:xfrm>
          <a:noFill/>
          <a:ln w="12700" cap="sq">
            <a:noFill/>
            <a:miter lim="800000"/>
            <a:headEnd/>
            <a:tailEnd/>
          </a:ln>
          <a:effectLst>
            <a:outerShdw dist="35921" dir="2700000" algn="ctr" rotWithShape="0">
              <a:schemeClr val="bg2"/>
            </a:outerShdw>
          </a:effectLst>
        </p:spPr>
        <p:txBody>
          <a:bodyPr wrap="none" lIns="72000" tIns="72000" rIns="72000" bIns="72000">
            <a:spAutoFit/>
          </a:bodyPr>
          <a:lstStyle/>
          <a:p>
            <a:r>
              <a:rPr lang="zh-CN" altLang="en-US" b="1" kern="1200" dirty="0" smtClean="0">
                <a:solidFill>
                  <a:schemeClr val="folHlink"/>
                </a:solidFill>
                <a:effectLst>
                  <a:outerShdw blurRad="38100" dist="38100" dir="2700000" algn="tl">
                    <a:srgbClr val="000000"/>
                  </a:outerShdw>
                </a:effectLst>
                <a:cs typeface="+mn-cs"/>
              </a:rPr>
              <a:t>概念模型</a:t>
            </a:r>
            <a:endParaRPr lang="en-US" altLang="zh-CN" b="1" kern="1200" dirty="0">
              <a:solidFill>
                <a:schemeClr val="folHlink"/>
              </a:solidFill>
              <a:effectLst>
                <a:outerShdw blurRad="38100" dist="38100" dir="2700000" algn="tl">
                  <a:srgbClr val="000000"/>
                </a:outerShdw>
              </a:effectLst>
              <a:cs typeface="+mn-cs"/>
            </a:endParaRPr>
          </a:p>
        </p:txBody>
      </p:sp>
    </p:spTree>
    <p:extLst>
      <p:ext uri="{BB962C8B-B14F-4D97-AF65-F5344CB8AC3E}">
        <p14:creationId xmlns:p14="http://schemas.microsoft.com/office/powerpoint/2010/main" val="1807116373"/>
      </p:ext>
    </p:extLst>
  </p:cSld>
  <p:clrMapOvr>
    <a:masterClrMapping/>
  </p:clrMapOvr>
  <p:transition spd="slow">
    <p:wipe/>
    <p:sndAc>
      <p:stSnd>
        <p:snd r:embed="rId2" name="camera.wav"/>
      </p:stSnd>
    </p:sndAc>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9298" name="Rectangle 2"/>
          <p:cNvSpPr>
            <a:spLocks noGrp="1" noChangeArrowheads="1"/>
          </p:cNvSpPr>
          <p:nvPr>
            <p:ph type="title"/>
          </p:nvPr>
        </p:nvSpPr>
        <p:spPr>
          <a:xfrm>
            <a:off x="179388" y="938113"/>
            <a:ext cx="2916237" cy="474663"/>
          </a:xfrm>
        </p:spPr>
        <p:txBody>
          <a:bodyPr wrap="square"/>
          <a:lstStyle/>
          <a:p>
            <a:pPr eaLnBrk="1" hangingPunct="1">
              <a:buFont typeface="Wingdings" pitchFamily="2" charset="2"/>
              <a:buChar char="¯"/>
              <a:defRPr/>
            </a:pPr>
            <a:r>
              <a:rPr lang="en-US" altLang="zh-CN" sz="3200" dirty="0" smtClean="0"/>
              <a:t> </a:t>
            </a:r>
            <a:r>
              <a:rPr lang="zh-CN" altLang="en-US" sz="3200" dirty="0" smtClean="0"/>
              <a:t>层次模型</a:t>
            </a:r>
          </a:p>
        </p:txBody>
      </p:sp>
      <p:sp>
        <p:nvSpPr>
          <p:cNvPr id="1079299" name="Rectangle 3"/>
          <p:cNvSpPr>
            <a:spLocks noGrp="1" noChangeArrowheads="1"/>
          </p:cNvSpPr>
          <p:nvPr>
            <p:ph type="body" idx="1"/>
          </p:nvPr>
        </p:nvSpPr>
        <p:spPr>
          <a:xfrm>
            <a:off x="395288" y="3573463"/>
            <a:ext cx="8280400" cy="2808287"/>
          </a:xfrm>
        </p:spPr>
        <p:txBody>
          <a:bodyPr/>
          <a:lstStyle/>
          <a:p>
            <a:pPr eaLnBrk="1" hangingPunct="1">
              <a:lnSpc>
                <a:spcPct val="90000"/>
              </a:lnSpc>
              <a:defRPr/>
            </a:pPr>
            <a:r>
              <a:rPr lang="zh-CN" altLang="en-US" sz="2600" dirty="0" smtClean="0">
                <a:effectLst/>
              </a:rPr>
              <a:t>树型结构，每一结点为一实体集，父子结点间是</a:t>
            </a:r>
            <a:r>
              <a:rPr lang="en-US" altLang="zh-CN" sz="2600" dirty="0" smtClean="0">
                <a:effectLst/>
              </a:rPr>
              <a:t>1:n</a:t>
            </a:r>
            <a:r>
              <a:rPr lang="zh-CN" altLang="en-US" sz="2600" dirty="0" smtClean="0">
                <a:effectLst/>
              </a:rPr>
              <a:t>的联系，结构简单稳定，易操作。</a:t>
            </a:r>
          </a:p>
          <a:p>
            <a:pPr eaLnBrk="1" hangingPunct="1">
              <a:lnSpc>
                <a:spcPct val="90000"/>
              </a:lnSpc>
              <a:defRPr/>
            </a:pPr>
            <a:r>
              <a:rPr lang="zh-CN" altLang="en-US" sz="2600" dirty="0" smtClean="0">
                <a:effectLst/>
              </a:rPr>
              <a:t>只能按树的层次进行查询。</a:t>
            </a:r>
          </a:p>
          <a:p>
            <a:pPr eaLnBrk="1" hangingPunct="1">
              <a:lnSpc>
                <a:spcPct val="90000"/>
              </a:lnSpc>
              <a:defRPr/>
            </a:pPr>
            <a:r>
              <a:rPr lang="zh-CN" altLang="en-US" sz="2600" dirty="0" smtClean="0">
                <a:effectLst/>
              </a:rPr>
              <a:t>有良好的完整性支持。</a:t>
            </a:r>
          </a:p>
          <a:p>
            <a:pPr eaLnBrk="1" hangingPunct="1">
              <a:lnSpc>
                <a:spcPct val="90000"/>
              </a:lnSpc>
              <a:defRPr/>
            </a:pPr>
            <a:r>
              <a:rPr lang="zh-CN" altLang="en-US" sz="2600" dirty="0" smtClean="0">
                <a:effectLst/>
              </a:rPr>
              <a:t>表示</a:t>
            </a:r>
            <a:r>
              <a:rPr lang="en-US" altLang="zh-CN" sz="2600" dirty="0" smtClean="0">
                <a:effectLst/>
              </a:rPr>
              <a:t>m:n</a:t>
            </a:r>
            <a:r>
              <a:rPr lang="zh-CN" altLang="en-US" sz="2600" dirty="0" smtClean="0">
                <a:effectLst/>
              </a:rPr>
              <a:t>联系比较麻烦。</a:t>
            </a:r>
          </a:p>
          <a:p>
            <a:pPr eaLnBrk="1" hangingPunct="1">
              <a:lnSpc>
                <a:spcPct val="90000"/>
              </a:lnSpc>
              <a:defRPr/>
            </a:pPr>
            <a:r>
              <a:rPr lang="zh-CN" altLang="en-US" sz="2600" dirty="0" smtClean="0">
                <a:effectLst/>
              </a:rPr>
              <a:t>对插入和删除的限制比较多。</a:t>
            </a:r>
          </a:p>
        </p:txBody>
      </p:sp>
      <p:sp>
        <p:nvSpPr>
          <p:cNvPr id="17" name="Text Box 2"/>
          <p:cNvSpPr txBox="1">
            <a:spLocks noChangeArrowheads="1"/>
          </p:cNvSpPr>
          <p:nvPr/>
        </p:nvSpPr>
        <p:spPr bwMode="auto">
          <a:xfrm>
            <a:off x="179512" y="-68263"/>
            <a:ext cx="3223172" cy="760959"/>
          </a:xfrm>
          <a:prstGeom prst="rect">
            <a:avLst/>
          </a:prstGeo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lvl1pPr eaLnBrk="0" hangingPunct="0">
              <a:defRPr sz="3600" b="1">
                <a:solidFill>
                  <a:schemeClr val="folHlink"/>
                </a:solidFill>
                <a:effectLst>
                  <a:outerShdw blurRad="38100" dist="38100" dir="2700000" algn="tl">
                    <a:srgbClr val="000000"/>
                  </a:outerShdw>
                </a:effectLst>
                <a:latin typeface="微软雅黑" pitchFamily="34" charset="-122"/>
                <a:ea typeface="微软雅黑" pitchFamily="34" charset="-122"/>
              </a:defRPr>
            </a:lvl1pPr>
            <a:lvl2pPr eaLnBrk="0" hangingPunct="0">
              <a:defRPr sz="3000">
                <a:solidFill>
                  <a:srgbClr val="FF9900"/>
                </a:solidFill>
                <a:latin typeface="方正姚体" pitchFamily="2" charset="-122"/>
                <a:ea typeface="方正姚体" pitchFamily="2" charset="-122"/>
              </a:defRPr>
            </a:lvl2pPr>
            <a:lvl3pPr eaLnBrk="0" hangingPunct="0">
              <a:defRPr sz="3000">
                <a:solidFill>
                  <a:srgbClr val="FF9900"/>
                </a:solidFill>
                <a:latin typeface="方正姚体" pitchFamily="2" charset="-122"/>
                <a:ea typeface="方正姚体" pitchFamily="2" charset="-122"/>
              </a:defRPr>
            </a:lvl3pPr>
            <a:lvl4pPr eaLnBrk="0" hangingPunct="0">
              <a:defRPr sz="3000">
                <a:solidFill>
                  <a:srgbClr val="FF9900"/>
                </a:solidFill>
                <a:latin typeface="方正姚体" pitchFamily="2" charset="-122"/>
                <a:ea typeface="方正姚体" pitchFamily="2" charset="-122"/>
              </a:defRPr>
            </a:lvl4pPr>
            <a:lvl5pPr eaLnBrk="0" hangingPunct="0">
              <a:defRPr sz="3000">
                <a:solidFill>
                  <a:srgbClr val="FF9900"/>
                </a:solidFill>
                <a:latin typeface="方正姚体" pitchFamily="2" charset="-122"/>
                <a:ea typeface="方正姚体" pitchFamily="2" charset="-122"/>
              </a:defRPr>
            </a:lvl5pPr>
            <a:lvl6pPr marL="457200" fontAlgn="base">
              <a:spcBef>
                <a:spcPct val="0"/>
              </a:spcBef>
              <a:spcAft>
                <a:spcPct val="0"/>
              </a:spcAft>
              <a:defRPr sz="3000">
                <a:solidFill>
                  <a:srgbClr val="FF9900"/>
                </a:solidFill>
                <a:latin typeface="方正姚体" pitchFamily="2" charset="-122"/>
                <a:ea typeface="方正姚体" pitchFamily="2" charset="-122"/>
              </a:defRPr>
            </a:lvl6pPr>
            <a:lvl7pPr marL="914400" fontAlgn="base">
              <a:spcBef>
                <a:spcPct val="0"/>
              </a:spcBef>
              <a:spcAft>
                <a:spcPct val="0"/>
              </a:spcAft>
              <a:defRPr sz="3000">
                <a:solidFill>
                  <a:srgbClr val="FF9900"/>
                </a:solidFill>
                <a:latin typeface="方正姚体" pitchFamily="2" charset="-122"/>
                <a:ea typeface="方正姚体" pitchFamily="2" charset="-122"/>
              </a:defRPr>
            </a:lvl7pPr>
            <a:lvl8pPr marL="1371600" fontAlgn="base">
              <a:spcBef>
                <a:spcPct val="0"/>
              </a:spcBef>
              <a:spcAft>
                <a:spcPct val="0"/>
              </a:spcAft>
              <a:defRPr sz="3000">
                <a:solidFill>
                  <a:srgbClr val="FF9900"/>
                </a:solidFill>
                <a:latin typeface="方正姚体" pitchFamily="2" charset="-122"/>
                <a:ea typeface="方正姚体" pitchFamily="2" charset="-122"/>
              </a:defRPr>
            </a:lvl8pPr>
            <a:lvl9pPr marL="1828800" fontAlgn="base">
              <a:spcBef>
                <a:spcPct val="0"/>
              </a:spcBef>
              <a:spcAft>
                <a:spcPct val="0"/>
              </a:spcAft>
              <a:defRPr sz="3000">
                <a:solidFill>
                  <a:srgbClr val="FF9900"/>
                </a:solidFill>
                <a:latin typeface="方正姚体" pitchFamily="2" charset="-122"/>
                <a:ea typeface="方正姚体" pitchFamily="2" charset="-122"/>
              </a:defRPr>
            </a:lvl9pPr>
          </a:lstStyle>
          <a:p>
            <a:r>
              <a:rPr lang="zh-CN" altLang="en-US" sz="4000" baseline="0" dirty="0"/>
              <a:t>逻辑数据模型</a:t>
            </a:r>
          </a:p>
        </p:txBody>
      </p:sp>
      <p:sp>
        <p:nvSpPr>
          <p:cNvPr id="18" name="Rectangle 18"/>
          <p:cNvSpPr>
            <a:spLocks noChangeArrowheads="1"/>
          </p:cNvSpPr>
          <p:nvPr/>
        </p:nvSpPr>
        <p:spPr bwMode="auto">
          <a:xfrm>
            <a:off x="3743325" y="1052513"/>
            <a:ext cx="3221038" cy="4445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zh-CN" altLang="en-US" sz="2400" baseline="0">
                <a:effectLst>
                  <a:outerShdw blurRad="38100" dist="38100" dir="2700000" algn="tl">
                    <a:srgbClr val="000000"/>
                  </a:outerShdw>
                </a:effectLst>
                <a:latin typeface="Times New Roman" pitchFamily="18" charset="0"/>
                <a:ea typeface="楷体_GB2312" pitchFamily="49" charset="-122"/>
              </a:rPr>
              <a:t>系编号，系名，系主任</a:t>
            </a:r>
          </a:p>
        </p:txBody>
      </p:sp>
      <p:sp>
        <p:nvSpPr>
          <p:cNvPr id="19" name="Rectangle 19"/>
          <p:cNvSpPr>
            <a:spLocks noChangeArrowheads="1"/>
          </p:cNvSpPr>
          <p:nvPr/>
        </p:nvSpPr>
        <p:spPr bwMode="auto">
          <a:xfrm>
            <a:off x="1693863" y="1916113"/>
            <a:ext cx="2954337" cy="47625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zh-CN" altLang="en-US" sz="2400" baseline="0">
                <a:effectLst>
                  <a:outerShdw blurRad="38100" dist="38100" dir="2700000" algn="tl">
                    <a:srgbClr val="000000"/>
                  </a:outerShdw>
                </a:effectLst>
                <a:latin typeface="Times New Roman" pitchFamily="18" charset="0"/>
                <a:ea typeface="楷体_GB2312" pitchFamily="49" charset="-122"/>
              </a:rPr>
              <a:t>教研室号，教研室名</a:t>
            </a:r>
          </a:p>
        </p:txBody>
      </p:sp>
      <p:sp>
        <p:nvSpPr>
          <p:cNvPr id="20" name="Rectangle 20"/>
          <p:cNvSpPr>
            <a:spLocks noChangeArrowheads="1"/>
          </p:cNvSpPr>
          <p:nvPr/>
        </p:nvSpPr>
        <p:spPr bwMode="auto">
          <a:xfrm>
            <a:off x="1693863" y="2662238"/>
            <a:ext cx="3290887" cy="47942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zh-CN" altLang="en-US" sz="2400" baseline="0">
                <a:effectLst>
                  <a:outerShdw blurRad="38100" dist="38100" dir="2700000" algn="tl">
                    <a:srgbClr val="000000"/>
                  </a:outerShdw>
                </a:effectLst>
                <a:latin typeface="Tahoma" pitchFamily="34" charset="0"/>
                <a:ea typeface="楷体_GB2312" pitchFamily="49" charset="-122"/>
              </a:rPr>
              <a:t>教师编号，姓名，专业</a:t>
            </a:r>
          </a:p>
        </p:txBody>
      </p:sp>
      <p:sp>
        <p:nvSpPr>
          <p:cNvPr id="21" name="Rectangle 21"/>
          <p:cNvSpPr>
            <a:spLocks noChangeArrowheads="1"/>
          </p:cNvSpPr>
          <p:nvPr/>
        </p:nvSpPr>
        <p:spPr bwMode="auto">
          <a:xfrm>
            <a:off x="5878513" y="1916113"/>
            <a:ext cx="2593975" cy="47625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zh-CN" altLang="en-US" sz="2400" baseline="0">
                <a:effectLst>
                  <a:outerShdw blurRad="38100" dist="38100" dir="2700000" algn="tl">
                    <a:srgbClr val="000000"/>
                  </a:outerShdw>
                </a:effectLst>
                <a:latin typeface="Times New Roman" pitchFamily="18" charset="0"/>
                <a:ea typeface="楷体_GB2312" pitchFamily="49" charset="-122"/>
              </a:rPr>
              <a:t>学号，姓名，成绩</a:t>
            </a:r>
          </a:p>
        </p:txBody>
      </p:sp>
      <p:cxnSp>
        <p:nvCxnSpPr>
          <p:cNvPr id="22" name="AutoShape 22"/>
          <p:cNvCxnSpPr>
            <a:cxnSpLocks noChangeShapeType="1"/>
            <a:stCxn id="18" idx="2"/>
            <a:endCxn id="19" idx="0"/>
          </p:cNvCxnSpPr>
          <p:nvPr/>
        </p:nvCxnSpPr>
        <p:spPr bwMode="auto">
          <a:xfrm rot="5400000">
            <a:off x="4053682" y="615156"/>
            <a:ext cx="419100" cy="2182813"/>
          </a:xfrm>
          <a:prstGeom prst="bentConnector3">
            <a:avLst>
              <a:gd name="adj1" fmla="val 50000"/>
            </a:avLst>
          </a:prstGeom>
          <a:noFill/>
          <a:ln w="12700" cap="sq">
            <a:solidFill>
              <a:schemeClr val="tx1"/>
            </a:solidFill>
            <a:miter lim="800000"/>
            <a:headEnd/>
            <a:tailEnd type="triangle" w="med" len="med"/>
          </a:ln>
          <a:effectLst>
            <a:outerShdw dist="17961" dir="2700000" algn="ctr" rotWithShape="0">
              <a:schemeClr val="bg2"/>
            </a:outerShdw>
          </a:effectLst>
        </p:spPr>
      </p:cxnSp>
      <p:cxnSp>
        <p:nvCxnSpPr>
          <p:cNvPr id="23" name="AutoShape 23"/>
          <p:cNvCxnSpPr>
            <a:cxnSpLocks noChangeShapeType="1"/>
            <a:stCxn id="18" idx="2"/>
            <a:endCxn id="21" idx="0"/>
          </p:cNvCxnSpPr>
          <p:nvPr/>
        </p:nvCxnSpPr>
        <p:spPr bwMode="auto">
          <a:xfrm rot="16200000" flipH="1">
            <a:off x="6055519" y="796132"/>
            <a:ext cx="419100" cy="1820862"/>
          </a:xfrm>
          <a:prstGeom prst="bentConnector3">
            <a:avLst>
              <a:gd name="adj1" fmla="val 50000"/>
            </a:avLst>
          </a:prstGeom>
          <a:noFill/>
          <a:ln w="12700" cap="sq">
            <a:solidFill>
              <a:schemeClr val="tx1"/>
            </a:solidFill>
            <a:miter lim="800000"/>
            <a:headEnd/>
            <a:tailEnd type="triangle" w="med" len="med"/>
          </a:ln>
          <a:effectLst>
            <a:outerShdw dist="17961" dir="2700000" algn="ctr" rotWithShape="0">
              <a:schemeClr val="bg2"/>
            </a:outerShdw>
          </a:effectLst>
        </p:spPr>
      </p:cxnSp>
      <p:sp>
        <p:nvSpPr>
          <p:cNvPr id="24" name="Text Box 25"/>
          <p:cNvSpPr txBox="1">
            <a:spLocks noChangeArrowheads="1"/>
          </p:cNvSpPr>
          <p:nvPr/>
        </p:nvSpPr>
        <p:spPr bwMode="auto">
          <a:xfrm>
            <a:off x="3335338" y="1058863"/>
            <a:ext cx="488950" cy="457200"/>
          </a:xfrm>
          <a:prstGeom prst="rect">
            <a:avLst/>
          </a:prstGeom>
          <a:noFill/>
          <a:ln w="9525">
            <a:noFill/>
            <a:miter lim="800000"/>
            <a:headEnd/>
            <a:tailEnd/>
          </a:ln>
          <a:effectLst/>
        </p:spPr>
        <p:txBody>
          <a:bodyPr wrap="none">
            <a:spAutoFit/>
          </a:bodyPr>
          <a:lstStyle/>
          <a:p>
            <a:pPr>
              <a:defRPr/>
            </a:pPr>
            <a:r>
              <a:rPr kumimoji="1" lang="zh-CN" altLang="en-US" sz="2400" baseline="0">
                <a:solidFill>
                  <a:srgbClr val="FFFF00"/>
                </a:solidFill>
                <a:effectLst>
                  <a:outerShdw blurRad="38100" dist="38100" dir="2700000" algn="tl">
                    <a:srgbClr val="000000"/>
                  </a:outerShdw>
                </a:effectLst>
                <a:latin typeface="Tahoma" pitchFamily="34" charset="0"/>
                <a:ea typeface="楷体_GB2312" pitchFamily="49" charset="-122"/>
              </a:rPr>
              <a:t>系</a:t>
            </a:r>
          </a:p>
        </p:txBody>
      </p:sp>
      <p:sp>
        <p:nvSpPr>
          <p:cNvPr id="25" name="Text Box 26"/>
          <p:cNvSpPr txBox="1">
            <a:spLocks noChangeArrowheads="1"/>
          </p:cNvSpPr>
          <p:nvPr/>
        </p:nvSpPr>
        <p:spPr bwMode="auto">
          <a:xfrm>
            <a:off x="5070475" y="1941513"/>
            <a:ext cx="793750" cy="457200"/>
          </a:xfrm>
          <a:prstGeom prst="rect">
            <a:avLst/>
          </a:prstGeom>
          <a:noFill/>
          <a:ln w="9525">
            <a:noFill/>
            <a:miter lim="800000"/>
            <a:headEnd/>
            <a:tailEnd/>
          </a:ln>
          <a:effectLst/>
        </p:spPr>
        <p:txBody>
          <a:bodyPr wrap="none">
            <a:spAutoFit/>
          </a:bodyPr>
          <a:lstStyle/>
          <a:p>
            <a:pPr>
              <a:defRPr/>
            </a:pPr>
            <a:r>
              <a:rPr kumimoji="1" lang="zh-CN" altLang="en-US" sz="2400" baseline="0">
                <a:solidFill>
                  <a:srgbClr val="FFFF00"/>
                </a:solidFill>
                <a:effectLst>
                  <a:outerShdw blurRad="38100" dist="38100" dir="2700000" algn="tl">
                    <a:srgbClr val="000000"/>
                  </a:outerShdw>
                </a:effectLst>
                <a:latin typeface="Tahoma" pitchFamily="34" charset="0"/>
                <a:ea typeface="楷体_GB2312" pitchFamily="49" charset="-122"/>
              </a:rPr>
              <a:t>学生</a:t>
            </a:r>
          </a:p>
        </p:txBody>
      </p:sp>
      <p:sp>
        <p:nvSpPr>
          <p:cNvPr id="26" name="Text Box 27"/>
          <p:cNvSpPr txBox="1">
            <a:spLocks noChangeArrowheads="1"/>
          </p:cNvSpPr>
          <p:nvPr/>
        </p:nvSpPr>
        <p:spPr bwMode="auto">
          <a:xfrm>
            <a:off x="615950" y="1960563"/>
            <a:ext cx="1098550" cy="457200"/>
          </a:xfrm>
          <a:prstGeom prst="rect">
            <a:avLst/>
          </a:prstGeom>
          <a:noFill/>
          <a:ln w="9525">
            <a:noFill/>
            <a:miter lim="800000"/>
            <a:headEnd/>
            <a:tailEnd/>
          </a:ln>
          <a:effectLst/>
        </p:spPr>
        <p:txBody>
          <a:bodyPr wrap="none">
            <a:spAutoFit/>
          </a:bodyPr>
          <a:lstStyle/>
          <a:p>
            <a:pPr>
              <a:defRPr/>
            </a:pPr>
            <a:r>
              <a:rPr kumimoji="1" lang="zh-CN" altLang="en-US" sz="2400" baseline="0">
                <a:solidFill>
                  <a:srgbClr val="FFFF00"/>
                </a:solidFill>
                <a:effectLst>
                  <a:outerShdw blurRad="38100" dist="38100" dir="2700000" algn="tl">
                    <a:srgbClr val="000000"/>
                  </a:outerShdw>
                </a:effectLst>
                <a:latin typeface="Tahoma" pitchFamily="34" charset="0"/>
                <a:ea typeface="楷体_GB2312" pitchFamily="49" charset="-122"/>
              </a:rPr>
              <a:t>教研室</a:t>
            </a:r>
          </a:p>
        </p:txBody>
      </p:sp>
      <p:sp>
        <p:nvSpPr>
          <p:cNvPr id="27" name="Text Box 28"/>
          <p:cNvSpPr txBox="1">
            <a:spLocks noChangeArrowheads="1"/>
          </p:cNvSpPr>
          <p:nvPr/>
        </p:nvSpPr>
        <p:spPr bwMode="auto">
          <a:xfrm>
            <a:off x="738188" y="2611438"/>
            <a:ext cx="793750" cy="457200"/>
          </a:xfrm>
          <a:prstGeom prst="rect">
            <a:avLst/>
          </a:prstGeom>
          <a:noFill/>
          <a:ln w="9525">
            <a:noFill/>
            <a:miter lim="800000"/>
            <a:headEnd/>
            <a:tailEnd/>
          </a:ln>
          <a:effectLst/>
        </p:spPr>
        <p:txBody>
          <a:bodyPr wrap="none">
            <a:spAutoFit/>
          </a:bodyPr>
          <a:lstStyle/>
          <a:p>
            <a:pPr>
              <a:defRPr/>
            </a:pPr>
            <a:r>
              <a:rPr kumimoji="1" lang="zh-CN" altLang="en-US" sz="2400" baseline="0">
                <a:solidFill>
                  <a:srgbClr val="FFFF00"/>
                </a:solidFill>
                <a:effectLst>
                  <a:outerShdw blurRad="38100" dist="38100" dir="2700000" algn="tl">
                    <a:srgbClr val="000000"/>
                  </a:outerShdw>
                </a:effectLst>
                <a:latin typeface="Tahoma" pitchFamily="34" charset="0"/>
                <a:ea typeface="楷体_GB2312" pitchFamily="49" charset="-122"/>
              </a:rPr>
              <a:t>教师</a:t>
            </a:r>
          </a:p>
        </p:txBody>
      </p:sp>
      <p:sp>
        <p:nvSpPr>
          <p:cNvPr id="28" name="Line 29"/>
          <p:cNvSpPr>
            <a:spLocks noChangeShapeType="1"/>
          </p:cNvSpPr>
          <p:nvPr/>
        </p:nvSpPr>
        <p:spPr bwMode="auto">
          <a:xfrm>
            <a:off x="3182938" y="2420938"/>
            <a:ext cx="0" cy="215900"/>
          </a:xfrm>
          <a:prstGeom prst="line">
            <a:avLst/>
          </a:prstGeom>
          <a:noFill/>
          <a:ln w="12700" cap="sq">
            <a:solidFill>
              <a:schemeClr val="tx1"/>
            </a:solidFill>
            <a:round/>
            <a:headEnd/>
            <a:tailEnd type="triangle" w="med" len="med"/>
          </a:ln>
          <a:effectLst>
            <a:outerShdw dist="17961" dir="2700000" algn="ctr" rotWithShape="0">
              <a:schemeClr val="bg2"/>
            </a:outerShdw>
          </a:effectLst>
        </p:spPr>
        <p:txBody>
          <a:bodyPr lIns="0" tIns="0" rIns="0" bIns="0" anchor="ctr"/>
          <a:lstStyle/>
          <a:p>
            <a:pPr>
              <a:defRPr/>
            </a:pPr>
            <a:endParaRPr lang="zh-CN" altLang="en-US">
              <a:ea typeface="宋体" pitchFamily="2" charset="-122"/>
            </a:endParaRPr>
          </a:p>
        </p:txBody>
      </p:sp>
      <p:sp>
        <p:nvSpPr>
          <p:cNvPr id="29" name="Text Box 30"/>
          <p:cNvSpPr txBox="1">
            <a:spLocks noChangeArrowheads="1"/>
          </p:cNvSpPr>
          <p:nvPr/>
        </p:nvSpPr>
        <p:spPr bwMode="auto">
          <a:xfrm>
            <a:off x="5364163" y="5084763"/>
            <a:ext cx="2952750" cy="528637"/>
          </a:xfrm>
          <a:prstGeom prst="rect">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type="none" w="sm" len="sm"/>
            <a:tailEnd type="none" w="sm" len="sm"/>
          </a:ln>
          <a:effectLst>
            <a:outerShdw dist="53882" dir="2700000" algn="ctr" rotWithShape="0">
              <a:schemeClr val="bg2">
                <a:alpha val="50000"/>
              </a:schemeClr>
            </a:outerShdw>
          </a:effectLst>
        </p:spPr>
        <p:txBody>
          <a:bodyPr lIns="36000" tIns="36000" rIns="36000" bIns="36000">
            <a:spAutoFit/>
          </a:bodyPr>
          <a:lstStyle/>
          <a:p>
            <a:pPr algn="ctr">
              <a:defRPr/>
            </a:pPr>
            <a:r>
              <a:rPr lang="zh-CN" altLang="en-US" sz="2800" b="1" baseline="0">
                <a:solidFill>
                  <a:srgbClr val="3333CC"/>
                </a:solidFill>
                <a:latin typeface="楷体_GB2312" pitchFamily="49" charset="-122"/>
                <a:ea typeface="楷体_GB2312" pitchFamily="49" charset="-122"/>
              </a:rPr>
              <a:t>典型代表是</a:t>
            </a:r>
            <a:r>
              <a:rPr lang="en-US" altLang="zh-CN" sz="2800" b="1" baseline="0">
                <a:solidFill>
                  <a:srgbClr val="3333CC"/>
                </a:solidFill>
                <a:latin typeface="楷体_GB2312" pitchFamily="49" charset="-122"/>
                <a:ea typeface="楷体_GB2312" pitchFamily="49" charset="-122"/>
              </a:rPr>
              <a:t>IMS</a:t>
            </a:r>
          </a:p>
        </p:txBody>
      </p:sp>
    </p:spTree>
    <p:extLst>
      <p:ext uri="{BB962C8B-B14F-4D97-AF65-F5344CB8AC3E}">
        <p14:creationId xmlns:p14="http://schemas.microsoft.com/office/powerpoint/2010/main" val="2492010442"/>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0322" name="Rectangle 2"/>
          <p:cNvSpPr>
            <a:spLocks noGrp="1" noChangeArrowheads="1"/>
          </p:cNvSpPr>
          <p:nvPr>
            <p:ph type="title"/>
          </p:nvPr>
        </p:nvSpPr>
        <p:spPr>
          <a:xfrm>
            <a:off x="179388" y="837084"/>
            <a:ext cx="2736850" cy="647700"/>
          </a:xfrm>
        </p:spPr>
        <p:txBody>
          <a:bodyPr wrap="square"/>
          <a:lstStyle/>
          <a:p>
            <a:pPr eaLnBrk="1" hangingPunct="1">
              <a:buFont typeface="Wingdings" pitchFamily="2" charset="2"/>
              <a:buChar char="¯"/>
              <a:defRPr/>
            </a:pPr>
            <a:r>
              <a:rPr lang="en-US" altLang="zh-CN" sz="3200" dirty="0" smtClean="0"/>
              <a:t> </a:t>
            </a:r>
            <a:r>
              <a:rPr lang="zh-CN" altLang="en-US" sz="3200" dirty="0" smtClean="0"/>
              <a:t>网状模型</a:t>
            </a:r>
          </a:p>
        </p:txBody>
      </p:sp>
      <p:sp>
        <p:nvSpPr>
          <p:cNvPr id="1080323" name="Rectangle 3"/>
          <p:cNvSpPr>
            <a:spLocks noGrp="1" noChangeArrowheads="1"/>
          </p:cNvSpPr>
          <p:nvPr>
            <p:ph type="body" idx="1"/>
          </p:nvPr>
        </p:nvSpPr>
        <p:spPr>
          <a:xfrm>
            <a:off x="395288" y="3357563"/>
            <a:ext cx="8280400" cy="2808287"/>
          </a:xfrm>
        </p:spPr>
        <p:txBody>
          <a:bodyPr/>
          <a:lstStyle/>
          <a:p>
            <a:pPr eaLnBrk="1" hangingPunct="1">
              <a:lnSpc>
                <a:spcPct val="90000"/>
              </a:lnSpc>
              <a:defRPr/>
            </a:pPr>
            <a:r>
              <a:rPr lang="zh-CN" altLang="en-US" sz="2600" dirty="0" smtClean="0">
                <a:effectLst/>
              </a:rPr>
              <a:t>有向图结构，每一结点为一实体集，结点间可以是</a:t>
            </a:r>
            <a:r>
              <a:rPr lang="en-US" altLang="zh-CN" sz="2600" dirty="0" smtClean="0">
                <a:effectLst/>
              </a:rPr>
              <a:t>m:n</a:t>
            </a:r>
            <a:r>
              <a:rPr lang="zh-CN" altLang="en-US" sz="2600" dirty="0" smtClean="0">
                <a:effectLst/>
              </a:rPr>
              <a:t>的联系，能表示实体间的多种复杂联系。</a:t>
            </a:r>
          </a:p>
          <a:p>
            <a:pPr eaLnBrk="1" hangingPunct="1">
              <a:lnSpc>
                <a:spcPct val="90000"/>
              </a:lnSpc>
              <a:defRPr/>
            </a:pPr>
            <a:r>
              <a:rPr lang="zh-CN" altLang="en-US" sz="2600" dirty="0" smtClean="0">
                <a:effectLst/>
              </a:rPr>
              <a:t>有一定的完整性支持。</a:t>
            </a:r>
          </a:p>
          <a:p>
            <a:pPr eaLnBrk="1" hangingPunct="1">
              <a:lnSpc>
                <a:spcPct val="90000"/>
              </a:lnSpc>
              <a:defRPr/>
            </a:pPr>
            <a:r>
              <a:rPr lang="zh-CN" altLang="en-US" sz="2600" dirty="0" smtClean="0">
                <a:effectLst/>
              </a:rPr>
              <a:t>性能良好，存储效率高。</a:t>
            </a:r>
          </a:p>
          <a:p>
            <a:pPr eaLnBrk="1" hangingPunct="1">
              <a:lnSpc>
                <a:spcPct val="90000"/>
              </a:lnSpc>
              <a:defRPr/>
            </a:pPr>
            <a:r>
              <a:rPr lang="zh-CN" altLang="en-US" sz="2600" dirty="0" smtClean="0">
                <a:effectLst/>
              </a:rPr>
              <a:t>结构复杂。</a:t>
            </a:r>
          </a:p>
          <a:p>
            <a:pPr eaLnBrk="1" hangingPunct="1">
              <a:lnSpc>
                <a:spcPct val="90000"/>
              </a:lnSpc>
              <a:defRPr/>
            </a:pPr>
            <a:r>
              <a:rPr lang="zh-CN" altLang="en-US" sz="2600" dirty="0" smtClean="0">
                <a:effectLst/>
              </a:rPr>
              <a:t>数据独立性较差。</a:t>
            </a:r>
          </a:p>
        </p:txBody>
      </p:sp>
      <p:sp>
        <p:nvSpPr>
          <p:cNvPr id="19" name="Rectangle 17"/>
          <p:cNvSpPr>
            <a:spLocks noChangeArrowheads="1"/>
          </p:cNvSpPr>
          <p:nvPr/>
        </p:nvSpPr>
        <p:spPr bwMode="auto">
          <a:xfrm>
            <a:off x="3563938" y="1541463"/>
            <a:ext cx="2927350" cy="3810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zh-CN" altLang="en-US" sz="2400" baseline="0">
                <a:effectLst>
                  <a:outerShdw blurRad="38100" dist="38100" dir="2700000" algn="tl">
                    <a:srgbClr val="000000"/>
                  </a:outerShdw>
                </a:effectLst>
                <a:latin typeface="Times New Roman" pitchFamily="18" charset="0"/>
                <a:ea typeface="楷体_GB2312" pitchFamily="49" charset="-122"/>
              </a:rPr>
              <a:t>课程号，课名，学分</a:t>
            </a:r>
          </a:p>
        </p:txBody>
      </p:sp>
      <p:sp>
        <p:nvSpPr>
          <p:cNvPr id="20" name="Rectangle 18"/>
          <p:cNvSpPr>
            <a:spLocks noChangeArrowheads="1"/>
          </p:cNvSpPr>
          <p:nvPr/>
        </p:nvSpPr>
        <p:spPr bwMode="auto">
          <a:xfrm>
            <a:off x="1452563" y="2606675"/>
            <a:ext cx="3200400" cy="3810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zh-CN" altLang="en-US" sz="2400" baseline="0">
                <a:effectLst>
                  <a:outerShdw blurRad="38100" dist="38100" dir="2700000" algn="tl">
                    <a:srgbClr val="000000"/>
                  </a:outerShdw>
                </a:effectLst>
                <a:latin typeface="Tahoma" pitchFamily="34" charset="0"/>
                <a:ea typeface="楷体_GB2312" pitchFamily="49" charset="-122"/>
              </a:rPr>
              <a:t>教师编号，姓名，专业</a:t>
            </a:r>
          </a:p>
        </p:txBody>
      </p:sp>
      <p:sp>
        <p:nvSpPr>
          <p:cNvPr id="21" name="Text Box 19"/>
          <p:cNvSpPr txBox="1">
            <a:spLocks noChangeArrowheads="1"/>
          </p:cNvSpPr>
          <p:nvPr/>
        </p:nvSpPr>
        <p:spPr bwMode="auto">
          <a:xfrm>
            <a:off x="2786063" y="1484313"/>
            <a:ext cx="793750" cy="457200"/>
          </a:xfrm>
          <a:prstGeom prst="rect">
            <a:avLst/>
          </a:prstGeom>
          <a:noFill/>
          <a:ln w="9525">
            <a:noFill/>
            <a:miter lim="800000"/>
            <a:headEnd/>
            <a:tailEnd/>
          </a:ln>
          <a:effectLst/>
        </p:spPr>
        <p:txBody>
          <a:bodyPr wrap="none">
            <a:spAutoFit/>
          </a:bodyPr>
          <a:lstStyle/>
          <a:p>
            <a:pPr>
              <a:defRPr/>
            </a:pPr>
            <a:r>
              <a:rPr kumimoji="1" lang="zh-CN" altLang="en-US" sz="2400" baseline="0">
                <a:solidFill>
                  <a:srgbClr val="FFFF00"/>
                </a:solidFill>
                <a:effectLst>
                  <a:outerShdw blurRad="38100" dist="38100" dir="2700000" algn="tl">
                    <a:srgbClr val="000000"/>
                  </a:outerShdw>
                </a:effectLst>
                <a:latin typeface="Tahoma" pitchFamily="34" charset="0"/>
                <a:ea typeface="楷体_GB2312" pitchFamily="49" charset="-122"/>
              </a:rPr>
              <a:t>课程</a:t>
            </a:r>
          </a:p>
        </p:txBody>
      </p:sp>
      <p:sp>
        <p:nvSpPr>
          <p:cNvPr id="22" name="Rectangle 21"/>
          <p:cNvSpPr>
            <a:spLocks noChangeArrowheads="1"/>
          </p:cNvSpPr>
          <p:nvPr/>
        </p:nvSpPr>
        <p:spPr bwMode="auto">
          <a:xfrm>
            <a:off x="5775325" y="2606675"/>
            <a:ext cx="2581275" cy="36195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zh-CN" altLang="en-US" sz="2400" baseline="0">
                <a:effectLst>
                  <a:outerShdw blurRad="38100" dist="38100" dir="2700000" algn="tl">
                    <a:srgbClr val="000000"/>
                  </a:outerShdw>
                </a:effectLst>
                <a:latin typeface="Times New Roman" pitchFamily="18" charset="0"/>
                <a:ea typeface="楷体_GB2312" pitchFamily="49" charset="-122"/>
              </a:rPr>
              <a:t>学号，姓名，成绩</a:t>
            </a:r>
          </a:p>
        </p:txBody>
      </p:sp>
      <p:sp>
        <p:nvSpPr>
          <p:cNvPr id="23" name="Text Box 22"/>
          <p:cNvSpPr txBox="1">
            <a:spLocks noChangeArrowheads="1"/>
          </p:cNvSpPr>
          <p:nvPr/>
        </p:nvSpPr>
        <p:spPr bwMode="auto">
          <a:xfrm>
            <a:off x="5003800" y="2568575"/>
            <a:ext cx="793750" cy="457200"/>
          </a:xfrm>
          <a:prstGeom prst="rect">
            <a:avLst/>
          </a:prstGeom>
          <a:noFill/>
          <a:ln w="9525">
            <a:noFill/>
            <a:miter lim="800000"/>
            <a:headEnd/>
            <a:tailEnd/>
          </a:ln>
          <a:effectLst/>
        </p:spPr>
        <p:txBody>
          <a:bodyPr wrap="none">
            <a:spAutoFit/>
          </a:bodyPr>
          <a:lstStyle/>
          <a:p>
            <a:pPr>
              <a:defRPr/>
            </a:pPr>
            <a:r>
              <a:rPr kumimoji="1" lang="zh-CN" altLang="en-US" sz="2400" baseline="0">
                <a:solidFill>
                  <a:srgbClr val="FFFF00"/>
                </a:solidFill>
                <a:effectLst>
                  <a:outerShdw blurRad="38100" dist="38100" dir="2700000" algn="tl">
                    <a:srgbClr val="000000"/>
                  </a:outerShdw>
                </a:effectLst>
                <a:latin typeface="Tahoma" pitchFamily="34" charset="0"/>
                <a:ea typeface="楷体_GB2312" pitchFamily="49" charset="-122"/>
              </a:rPr>
              <a:t>学生</a:t>
            </a:r>
          </a:p>
        </p:txBody>
      </p:sp>
      <p:sp>
        <p:nvSpPr>
          <p:cNvPr id="24" name="Text Box 23"/>
          <p:cNvSpPr txBox="1">
            <a:spLocks noChangeArrowheads="1"/>
          </p:cNvSpPr>
          <p:nvPr/>
        </p:nvSpPr>
        <p:spPr bwMode="auto">
          <a:xfrm>
            <a:off x="684213" y="2555875"/>
            <a:ext cx="793750" cy="457200"/>
          </a:xfrm>
          <a:prstGeom prst="rect">
            <a:avLst/>
          </a:prstGeom>
          <a:noFill/>
          <a:ln w="9525">
            <a:noFill/>
            <a:miter lim="800000"/>
            <a:headEnd/>
            <a:tailEnd/>
          </a:ln>
          <a:effectLst/>
        </p:spPr>
        <p:txBody>
          <a:bodyPr wrap="none">
            <a:spAutoFit/>
          </a:bodyPr>
          <a:lstStyle/>
          <a:p>
            <a:pPr>
              <a:defRPr/>
            </a:pPr>
            <a:r>
              <a:rPr kumimoji="1" lang="zh-CN" altLang="en-US" sz="2400" baseline="0">
                <a:solidFill>
                  <a:srgbClr val="FFFF00"/>
                </a:solidFill>
                <a:effectLst>
                  <a:outerShdw blurRad="38100" dist="38100" dir="2700000" algn="tl">
                    <a:srgbClr val="000000"/>
                  </a:outerShdw>
                </a:effectLst>
                <a:latin typeface="Tahoma" pitchFamily="34" charset="0"/>
                <a:ea typeface="楷体_GB2312" pitchFamily="49" charset="-122"/>
              </a:rPr>
              <a:t>教师</a:t>
            </a:r>
          </a:p>
        </p:txBody>
      </p:sp>
      <p:grpSp>
        <p:nvGrpSpPr>
          <p:cNvPr id="24587" name="Group 29"/>
          <p:cNvGrpSpPr>
            <a:grpSpLocks/>
          </p:cNvGrpSpPr>
          <p:nvPr/>
        </p:nvGrpSpPr>
        <p:grpSpPr bwMode="auto">
          <a:xfrm>
            <a:off x="3276600" y="1941513"/>
            <a:ext cx="1008063" cy="614362"/>
            <a:chOff x="1739" y="1002"/>
            <a:chExt cx="960" cy="576"/>
          </a:xfrm>
        </p:grpSpPr>
        <p:sp>
          <p:nvSpPr>
            <p:cNvPr id="26" name="Line 24"/>
            <p:cNvSpPr>
              <a:spLocks noChangeShapeType="1"/>
            </p:cNvSpPr>
            <p:nvPr/>
          </p:nvSpPr>
          <p:spPr bwMode="auto">
            <a:xfrm flipH="1">
              <a:off x="1739" y="1002"/>
              <a:ext cx="720" cy="576"/>
            </a:xfrm>
            <a:prstGeom prst="line">
              <a:avLst/>
            </a:prstGeom>
            <a:noFill/>
            <a:ln w="12700" cap="sq">
              <a:solidFill>
                <a:schemeClr val="tx1"/>
              </a:solidFill>
              <a:round/>
              <a:headEnd/>
              <a:tailEnd type="triangle" w="med" len="med"/>
            </a:ln>
            <a:effectLst>
              <a:outerShdw dist="12700" dir="5400000" algn="ctr" rotWithShape="0">
                <a:schemeClr val="bg2"/>
              </a:outerShdw>
            </a:effectLst>
          </p:spPr>
          <p:txBody>
            <a:bodyPr lIns="0" tIns="0" rIns="0" bIns="0" anchor="ctr"/>
            <a:lstStyle/>
            <a:p>
              <a:pPr>
                <a:defRPr/>
              </a:pPr>
              <a:endParaRPr lang="zh-CN" altLang="en-US">
                <a:ea typeface="宋体" pitchFamily="2" charset="-122"/>
              </a:endParaRPr>
            </a:p>
          </p:txBody>
        </p:sp>
        <p:sp>
          <p:nvSpPr>
            <p:cNvPr id="27" name="Line 25"/>
            <p:cNvSpPr>
              <a:spLocks noChangeShapeType="1"/>
            </p:cNvSpPr>
            <p:nvPr/>
          </p:nvSpPr>
          <p:spPr bwMode="auto">
            <a:xfrm flipV="1">
              <a:off x="1979" y="1002"/>
              <a:ext cx="720" cy="576"/>
            </a:xfrm>
            <a:prstGeom prst="line">
              <a:avLst/>
            </a:prstGeom>
            <a:noFill/>
            <a:ln w="12700" cap="sq">
              <a:solidFill>
                <a:schemeClr val="tx1"/>
              </a:solidFill>
              <a:round/>
              <a:headEnd/>
              <a:tailEnd type="triangle" w="med" len="med"/>
            </a:ln>
            <a:effectLst>
              <a:outerShdw dist="12700" dir="5400000" algn="ctr" rotWithShape="0">
                <a:schemeClr val="bg2"/>
              </a:outerShdw>
            </a:effectLst>
          </p:spPr>
          <p:txBody>
            <a:bodyPr lIns="0" tIns="0" rIns="0" bIns="0" anchor="ctr"/>
            <a:lstStyle/>
            <a:p>
              <a:pPr>
                <a:defRPr/>
              </a:pPr>
              <a:endParaRPr lang="zh-CN" altLang="en-US">
                <a:ea typeface="宋体" pitchFamily="2" charset="-122"/>
              </a:endParaRPr>
            </a:p>
          </p:txBody>
        </p:sp>
      </p:grpSp>
      <p:grpSp>
        <p:nvGrpSpPr>
          <p:cNvPr id="24588" name="Group 28"/>
          <p:cNvGrpSpPr>
            <a:grpSpLocks/>
          </p:cNvGrpSpPr>
          <p:nvPr/>
        </p:nvGrpSpPr>
        <p:grpSpPr bwMode="auto">
          <a:xfrm>
            <a:off x="5465763" y="1941513"/>
            <a:ext cx="1122362" cy="614362"/>
            <a:chOff x="3443" y="1002"/>
            <a:chExt cx="1056" cy="576"/>
          </a:xfrm>
        </p:grpSpPr>
        <p:sp>
          <p:nvSpPr>
            <p:cNvPr id="29" name="Line 26"/>
            <p:cNvSpPr>
              <a:spLocks noChangeShapeType="1"/>
            </p:cNvSpPr>
            <p:nvPr/>
          </p:nvSpPr>
          <p:spPr bwMode="auto">
            <a:xfrm>
              <a:off x="3443" y="1002"/>
              <a:ext cx="816" cy="576"/>
            </a:xfrm>
            <a:prstGeom prst="line">
              <a:avLst/>
            </a:prstGeom>
            <a:noFill/>
            <a:ln w="12700" cap="sq">
              <a:solidFill>
                <a:schemeClr val="tx1"/>
              </a:solidFill>
              <a:round/>
              <a:headEnd/>
              <a:tailEnd type="triangle" w="med" len="med"/>
            </a:ln>
            <a:effectLst>
              <a:outerShdw dist="12700" dir="5400000" algn="ctr" rotWithShape="0">
                <a:schemeClr val="bg2"/>
              </a:outerShdw>
            </a:effectLst>
          </p:spPr>
          <p:txBody>
            <a:bodyPr lIns="0" tIns="0" rIns="0" bIns="0" anchor="ctr"/>
            <a:lstStyle/>
            <a:p>
              <a:pPr>
                <a:defRPr/>
              </a:pPr>
              <a:endParaRPr lang="zh-CN" altLang="en-US">
                <a:ea typeface="宋体" pitchFamily="2" charset="-122"/>
              </a:endParaRPr>
            </a:p>
          </p:txBody>
        </p:sp>
        <p:sp>
          <p:nvSpPr>
            <p:cNvPr id="30" name="Line 27"/>
            <p:cNvSpPr>
              <a:spLocks noChangeShapeType="1"/>
            </p:cNvSpPr>
            <p:nvPr/>
          </p:nvSpPr>
          <p:spPr bwMode="auto">
            <a:xfrm flipH="1" flipV="1">
              <a:off x="3731" y="1002"/>
              <a:ext cx="768" cy="576"/>
            </a:xfrm>
            <a:prstGeom prst="line">
              <a:avLst/>
            </a:prstGeom>
            <a:noFill/>
            <a:ln w="12700" cap="sq">
              <a:solidFill>
                <a:schemeClr val="tx1"/>
              </a:solidFill>
              <a:round/>
              <a:headEnd/>
              <a:tailEnd type="triangle" w="med" len="med"/>
            </a:ln>
            <a:effectLst>
              <a:outerShdw dist="12700" dir="5400000" algn="ctr" rotWithShape="0">
                <a:schemeClr val="bg2"/>
              </a:outerShdw>
            </a:effectLst>
          </p:spPr>
          <p:txBody>
            <a:bodyPr lIns="0" tIns="0" rIns="0" bIns="0" anchor="ctr"/>
            <a:lstStyle/>
            <a:p>
              <a:pPr>
                <a:defRPr/>
              </a:pPr>
              <a:endParaRPr lang="zh-CN" altLang="en-US">
                <a:ea typeface="宋体" pitchFamily="2" charset="-122"/>
              </a:endParaRPr>
            </a:p>
          </p:txBody>
        </p:sp>
      </p:grpSp>
      <p:sp>
        <p:nvSpPr>
          <p:cNvPr id="31" name="Text Box 16"/>
          <p:cNvSpPr txBox="1">
            <a:spLocks noChangeArrowheads="1"/>
          </p:cNvSpPr>
          <p:nvPr/>
        </p:nvSpPr>
        <p:spPr bwMode="auto">
          <a:xfrm>
            <a:off x="5364163" y="4941888"/>
            <a:ext cx="2952750" cy="528637"/>
          </a:xfrm>
          <a:prstGeom prst="rect">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type="none" w="sm" len="sm"/>
            <a:tailEnd type="none" w="sm" len="sm"/>
          </a:ln>
          <a:effectLst>
            <a:outerShdw dist="53882" dir="2700000" algn="ctr" rotWithShape="0">
              <a:schemeClr val="bg2">
                <a:alpha val="50000"/>
              </a:schemeClr>
            </a:outerShdw>
          </a:effectLst>
        </p:spPr>
        <p:txBody>
          <a:bodyPr lIns="36000" tIns="36000" rIns="36000" bIns="36000">
            <a:spAutoFit/>
          </a:bodyPr>
          <a:lstStyle/>
          <a:p>
            <a:pPr algn="ctr">
              <a:defRPr/>
            </a:pPr>
            <a:r>
              <a:rPr lang="zh-CN" altLang="en-US" sz="2800" b="1" baseline="0">
                <a:solidFill>
                  <a:srgbClr val="3333CC"/>
                </a:solidFill>
                <a:latin typeface="楷体_GB2312" pitchFamily="49" charset="-122"/>
                <a:ea typeface="楷体_GB2312" pitchFamily="49" charset="-122"/>
              </a:rPr>
              <a:t>典型代表是</a:t>
            </a:r>
            <a:r>
              <a:rPr lang="en-US" altLang="zh-CN" sz="2800" b="1" baseline="0">
                <a:solidFill>
                  <a:srgbClr val="3333CC"/>
                </a:solidFill>
                <a:latin typeface="楷体_GB2312" pitchFamily="49" charset="-122"/>
                <a:ea typeface="楷体_GB2312" pitchFamily="49" charset="-122"/>
              </a:rPr>
              <a:t>DBTG</a:t>
            </a:r>
          </a:p>
        </p:txBody>
      </p:sp>
      <p:sp>
        <p:nvSpPr>
          <p:cNvPr id="25" name="Text Box 2"/>
          <p:cNvSpPr txBox="1">
            <a:spLocks noChangeArrowheads="1"/>
          </p:cNvSpPr>
          <p:nvPr/>
        </p:nvSpPr>
        <p:spPr bwMode="auto">
          <a:xfrm>
            <a:off x="179512" y="-68263"/>
            <a:ext cx="3223172" cy="760959"/>
          </a:xfrm>
          <a:prstGeom prst="rect">
            <a:avLst/>
          </a:prstGeo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lvl1pPr eaLnBrk="0" hangingPunct="0">
              <a:defRPr sz="3600" b="1">
                <a:solidFill>
                  <a:schemeClr val="folHlink"/>
                </a:solidFill>
                <a:effectLst>
                  <a:outerShdw blurRad="38100" dist="38100" dir="2700000" algn="tl">
                    <a:srgbClr val="000000"/>
                  </a:outerShdw>
                </a:effectLst>
                <a:latin typeface="微软雅黑" pitchFamily="34" charset="-122"/>
                <a:ea typeface="微软雅黑" pitchFamily="34" charset="-122"/>
              </a:defRPr>
            </a:lvl1pPr>
            <a:lvl2pPr eaLnBrk="0" hangingPunct="0">
              <a:defRPr sz="3000">
                <a:solidFill>
                  <a:srgbClr val="FF9900"/>
                </a:solidFill>
                <a:latin typeface="方正姚体" pitchFamily="2" charset="-122"/>
                <a:ea typeface="方正姚体" pitchFamily="2" charset="-122"/>
              </a:defRPr>
            </a:lvl2pPr>
            <a:lvl3pPr eaLnBrk="0" hangingPunct="0">
              <a:defRPr sz="3000">
                <a:solidFill>
                  <a:srgbClr val="FF9900"/>
                </a:solidFill>
                <a:latin typeface="方正姚体" pitchFamily="2" charset="-122"/>
                <a:ea typeface="方正姚体" pitchFamily="2" charset="-122"/>
              </a:defRPr>
            </a:lvl3pPr>
            <a:lvl4pPr eaLnBrk="0" hangingPunct="0">
              <a:defRPr sz="3000">
                <a:solidFill>
                  <a:srgbClr val="FF9900"/>
                </a:solidFill>
                <a:latin typeface="方正姚体" pitchFamily="2" charset="-122"/>
                <a:ea typeface="方正姚体" pitchFamily="2" charset="-122"/>
              </a:defRPr>
            </a:lvl4pPr>
            <a:lvl5pPr eaLnBrk="0" hangingPunct="0">
              <a:defRPr sz="3000">
                <a:solidFill>
                  <a:srgbClr val="FF9900"/>
                </a:solidFill>
                <a:latin typeface="方正姚体" pitchFamily="2" charset="-122"/>
                <a:ea typeface="方正姚体" pitchFamily="2" charset="-122"/>
              </a:defRPr>
            </a:lvl5pPr>
            <a:lvl6pPr marL="457200" fontAlgn="base">
              <a:spcBef>
                <a:spcPct val="0"/>
              </a:spcBef>
              <a:spcAft>
                <a:spcPct val="0"/>
              </a:spcAft>
              <a:defRPr sz="3000">
                <a:solidFill>
                  <a:srgbClr val="FF9900"/>
                </a:solidFill>
                <a:latin typeface="方正姚体" pitchFamily="2" charset="-122"/>
                <a:ea typeface="方正姚体" pitchFamily="2" charset="-122"/>
              </a:defRPr>
            </a:lvl6pPr>
            <a:lvl7pPr marL="914400" fontAlgn="base">
              <a:spcBef>
                <a:spcPct val="0"/>
              </a:spcBef>
              <a:spcAft>
                <a:spcPct val="0"/>
              </a:spcAft>
              <a:defRPr sz="3000">
                <a:solidFill>
                  <a:srgbClr val="FF9900"/>
                </a:solidFill>
                <a:latin typeface="方正姚体" pitchFamily="2" charset="-122"/>
                <a:ea typeface="方正姚体" pitchFamily="2" charset="-122"/>
              </a:defRPr>
            </a:lvl7pPr>
            <a:lvl8pPr marL="1371600" fontAlgn="base">
              <a:spcBef>
                <a:spcPct val="0"/>
              </a:spcBef>
              <a:spcAft>
                <a:spcPct val="0"/>
              </a:spcAft>
              <a:defRPr sz="3000">
                <a:solidFill>
                  <a:srgbClr val="FF9900"/>
                </a:solidFill>
                <a:latin typeface="方正姚体" pitchFamily="2" charset="-122"/>
                <a:ea typeface="方正姚体" pitchFamily="2" charset="-122"/>
              </a:defRPr>
            </a:lvl8pPr>
            <a:lvl9pPr marL="1828800" fontAlgn="base">
              <a:spcBef>
                <a:spcPct val="0"/>
              </a:spcBef>
              <a:spcAft>
                <a:spcPct val="0"/>
              </a:spcAft>
              <a:defRPr sz="3000">
                <a:solidFill>
                  <a:srgbClr val="FF9900"/>
                </a:solidFill>
                <a:latin typeface="方正姚体" pitchFamily="2" charset="-122"/>
                <a:ea typeface="方正姚体" pitchFamily="2" charset="-122"/>
              </a:defRPr>
            </a:lvl9pPr>
          </a:lstStyle>
          <a:p>
            <a:r>
              <a:rPr lang="zh-CN" altLang="en-US" sz="4000" baseline="0" dirty="0"/>
              <a:t>逻辑数据模型</a:t>
            </a:r>
          </a:p>
        </p:txBody>
      </p:sp>
    </p:spTree>
    <p:extLst>
      <p:ext uri="{BB962C8B-B14F-4D97-AF65-F5344CB8AC3E}">
        <p14:creationId xmlns:p14="http://schemas.microsoft.com/office/powerpoint/2010/main" val="145770535"/>
      </p:ext>
    </p:extLst>
  </p:cSld>
  <p:clrMapOvr>
    <a:masterClrMapping/>
  </p:clrMapOvr>
  <mc:AlternateContent xmlns:mc="http://schemas.openxmlformats.org/markup-compatibility/2006" xmlns:p14="http://schemas.microsoft.com/office/powerpoint/2010/main">
    <mc:Choice Requires="p14">
      <p:transition spd="med" p14:dur="700">
        <p:fade/>
        <p:sndAc>
          <p:stSnd>
            <p:snd r:embed="rId2" name="camera.wav"/>
          </p:stSnd>
        </p:sndAc>
      </p:transition>
    </mc:Choice>
    <mc:Fallback xmlns="">
      <p:transition spd="med">
        <p:fade/>
        <p:sndAc>
          <p:stSnd>
            <p:snd r:embed="rId3" name="camera.wav"/>
          </p:stSnd>
        </p:sndAc>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1387" name="Rectangle 43"/>
          <p:cNvSpPr>
            <a:spLocks noGrp="1" noChangeArrowheads="1"/>
          </p:cNvSpPr>
          <p:nvPr>
            <p:ph type="title"/>
          </p:nvPr>
        </p:nvSpPr>
        <p:spPr>
          <a:xfrm>
            <a:off x="166688" y="764704"/>
            <a:ext cx="5688012" cy="566738"/>
          </a:xfrm>
        </p:spPr>
        <p:txBody>
          <a:bodyPr wrap="square"/>
          <a:lstStyle/>
          <a:p>
            <a:pPr eaLnBrk="1" hangingPunct="1">
              <a:buFont typeface="Wingdings" pitchFamily="2" charset="2"/>
              <a:buChar char="¯"/>
              <a:defRPr/>
            </a:pPr>
            <a:r>
              <a:rPr lang="en-US" altLang="zh-CN" sz="3200" dirty="0" smtClean="0"/>
              <a:t> </a:t>
            </a:r>
            <a:r>
              <a:rPr lang="zh-CN" altLang="en-US" sz="3200" dirty="0" smtClean="0"/>
              <a:t>关系模型</a:t>
            </a:r>
          </a:p>
        </p:txBody>
      </p:sp>
      <p:sp>
        <p:nvSpPr>
          <p:cNvPr id="10" name="Rectangle 297"/>
          <p:cNvSpPr txBox="1">
            <a:spLocks noChangeArrowheads="1"/>
          </p:cNvSpPr>
          <p:nvPr/>
        </p:nvSpPr>
        <p:spPr bwMode="auto">
          <a:xfrm>
            <a:off x="263525" y="1411288"/>
            <a:ext cx="4164013" cy="2881312"/>
          </a:xfrm>
          <a:prstGeom prst="rect">
            <a:avLst/>
          </a:prstGeom>
          <a:noFill/>
          <a:ln w="9525">
            <a:noFill/>
            <a:miter lim="800000"/>
            <a:headEnd/>
            <a:tailEnd/>
          </a:ln>
          <a:effectLst/>
        </p:spPr>
        <p:txBody>
          <a:bodyPr/>
          <a:lstStyle/>
          <a:p>
            <a:pPr marL="342900" indent="-342900">
              <a:spcAft>
                <a:spcPct val="20000"/>
              </a:spcAft>
              <a:buClr>
                <a:srgbClr val="66FF33"/>
              </a:buClr>
              <a:buSzPct val="85000"/>
              <a:buFont typeface="Wingdings" pitchFamily="2" charset="2"/>
              <a:buBlip>
                <a:blip r:embed="rId3"/>
              </a:buBlip>
              <a:tabLst>
                <a:tab pos="1260475" algn="l"/>
              </a:tabLst>
              <a:defRPr/>
            </a:pPr>
            <a:r>
              <a:rPr lang="zh-CN" altLang="en-US" sz="28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一个</a:t>
            </a:r>
            <a:r>
              <a:rPr lang="zh-CN" altLang="en-US" sz="2800" kern="0" baseline="0" dirty="0">
                <a:solidFill>
                  <a:srgbClr val="FFFF00"/>
                </a:solidFill>
                <a:effectLst>
                  <a:outerShdw blurRad="38100" dist="38100" dir="2700000" algn="tl">
                    <a:srgbClr val="000000"/>
                  </a:outerShdw>
                </a:effectLst>
                <a:latin typeface="微软雅黑" pitchFamily="34" charset="-122"/>
                <a:ea typeface="微软雅黑" pitchFamily="34" charset="-122"/>
              </a:rPr>
              <a:t>关系</a:t>
            </a:r>
            <a:r>
              <a:rPr lang="zh-CN" altLang="en-US" sz="28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的逻辑结构就是一张规则二维表。</a:t>
            </a:r>
          </a:p>
          <a:p>
            <a:pPr marL="342900" indent="-342900">
              <a:spcAft>
                <a:spcPct val="20000"/>
              </a:spcAft>
              <a:buClr>
                <a:srgbClr val="66FF33"/>
              </a:buClr>
              <a:buSzPct val="85000"/>
              <a:buFont typeface="Wingdings" pitchFamily="2" charset="2"/>
              <a:buBlip>
                <a:blip r:embed="rId3"/>
              </a:buBlip>
              <a:tabLst>
                <a:tab pos="1260475" algn="l"/>
              </a:tabLst>
              <a:defRPr/>
            </a:pPr>
            <a:r>
              <a:rPr lang="zh-CN" altLang="en-US" sz="28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表中的列称为</a:t>
            </a:r>
            <a:r>
              <a:rPr lang="zh-CN" altLang="en-US" sz="2800" kern="0" baseline="0" dirty="0">
                <a:solidFill>
                  <a:srgbClr val="FFFF00"/>
                </a:solidFill>
                <a:effectLst>
                  <a:outerShdw blurRad="38100" dist="38100" dir="2700000" algn="tl">
                    <a:srgbClr val="000000"/>
                  </a:outerShdw>
                </a:effectLst>
                <a:latin typeface="微软雅黑" pitchFamily="34" charset="-122"/>
                <a:ea typeface="微软雅黑" pitchFamily="34" charset="-122"/>
              </a:rPr>
              <a:t>字段</a:t>
            </a:r>
            <a:r>
              <a:rPr lang="zh-CN" altLang="en-US" sz="28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（属性）；表中的行称为</a:t>
            </a:r>
            <a:r>
              <a:rPr lang="zh-CN" altLang="en-US" sz="2800" kern="0" baseline="0" dirty="0">
                <a:solidFill>
                  <a:srgbClr val="FFFF00"/>
                </a:solidFill>
                <a:effectLst>
                  <a:outerShdw blurRad="38100" dist="38100" dir="2700000" algn="tl">
                    <a:srgbClr val="000000"/>
                  </a:outerShdw>
                </a:effectLst>
                <a:latin typeface="微软雅黑" pitchFamily="34" charset="-122"/>
                <a:ea typeface="微软雅黑" pitchFamily="34" charset="-122"/>
              </a:rPr>
              <a:t>记录</a:t>
            </a:r>
            <a:r>
              <a:rPr lang="zh-CN" altLang="en-US" sz="28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（元组）</a:t>
            </a:r>
            <a:r>
              <a:rPr lang="zh-CN" altLang="en-US" sz="2800" kern="0" baseline="0" dirty="0">
                <a:solidFill>
                  <a:srgbClr val="FFFF00"/>
                </a:solidFill>
                <a:effectLst>
                  <a:outerShdw blurRad="38100" dist="38100" dir="2700000" algn="tl">
                    <a:srgbClr val="000000"/>
                  </a:outerShdw>
                </a:effectLst>
                <a:latin typeface="微软雅黑" pitchFamily="34" charset="-122"/>
                <a:ea typeface="微软雅黑" pitchFamily="34" charset="-122"/>
              </a:rPr>
              <a:t> </a:t>
            </a:r>
            <a:r>
              <a:rPr lang="zh-CN" altLang="en-US" sz="28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a:t>
            </a:r>
          </a:p>
          <a:p>
            <a:pPr marL="342900" indent="-342900">
              <a:spcBef>
                <a:spcPct val="25000"/>
              </a:spcBef>
              <a:spcAft>
                <a:spcPct val="20000"/>
              </a:spcAft>
              <a:buClr>
                <a:srgbClr val="66FF33"/>
              </a:buClr>
              <a:buSzPct val="85000"/>
              <a:buFont typeface="Wingdings" pitchFamily="2" charset="2"/>
              <a:buBlip>
                <a:blip r:embed="rId3"/>
              </a:buBlip>
              <a:tabLst>
                <a:tab pos="1260475" algn="l"/>
              </a:tabLst>
              <a:defRPr/>
            </a:pPr>
            <a:r>
              <a:rPr lang="zh-CN" altLang="en-US" sz="28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基于关系模型的数据库</a:t>
            </a:r>
          </a:p>
        </p:txBody>
      </p:sp>
      <p:sp>
        <p:nvSpPr>
          <p:cNvPr id="11" name="Rectangle 298"/>
          <p:cNvSpPr txBox="1">
            <a:spLocks noChangeArrowheads="1"/>
          </p:cNvSpPr>
          <p:nvPr/>
        </p:nvSpPr>
        <p:spPr bwMode="auto">
          <a:xfrm>
            <a:off x="696913" y="4330700"/>
            <a:ext cx="7561262" cy="1873250"/>
          </a:xfrm>
          <a:prstGeom prst="rect">
            <a:avLst/>
          </a:prstGeom>
          <a:noFill/>
          <a:ln w="9525">
            <a:noFill/>
            <a:miter lim="800000"/>
            <a:headEnd/>
            <a:tailEnd/>
          </a:ln>
          <a:effectLst/>
        </p:spPr>
        <p:txBody>
          <a:bodyPr/>
          <a:lstStyle/>
          <a:p>
            <a:pPr marL="180975" indent="-180975">
              <a:spcAft>
                <a:spcPct val="25000"/>
              </a:spcAft>
              <a:buClr>
                <a:srgbClr val="66FF33"/>
              </a:buClr>
              <a:buSzPct val="85000"/>
              <a:buFontTx/>
              <a:buChar char="•"/>
              <a:defRPr/>
            </a:pPr>
            <a:r>
              <a:rPr lang="zh-CN" altLang="en-US" sz="2400" kern="0" baseline="0">
                <a:solidFill>
                  <a:srgbClr val="CCFFCC"/>
                </a:solidFill>
                <a:effectLst>
                  <a:outerShdw blurRad="38100" dist="38100" dir="2700000" algn="tl">
                    <a:srgbClr val="000000"/>
                  </a:outerShdw>
                </a:effectLst>
                <a:latin typeface="微软雅黑" pitchFamily="34" charset="-122"/>
                <a:ea typeface="微软雅黑" pitchFamily="34" charset="-122"/>
              </a:rPr>
              <a:t>有严格的关系数学理论基础。</a:t>
            </a:r>
          </a:p>
          <a:p>
            <a:pPr marL="180975" indent="-180975">
              <a:spcAft>
                <a:spcPct val="25000"/>
              </a:spcAft>
              <a:buClr>
                <a:srgbClr val="66FF33"/>
              </a:buClr>
              <a:buSzPct val="85000"/>
              <a:buFontTx/>
              <a:buChar char="•"/>
              <a:defRPr/>
            </a:pPr>
            <a:r>
              <a:rPr lang="zh-CN" altLang="en-US" sz="2400" kern="0" baseline="0">
                <a:solidFill>
                  <a:srgbClr val="CCFFCC"/>
                </a:solidFill>
                <a:effectLst>
                  <a:outerShdw blurRad="38100" dist="38100" dir="2700000" algn="tl">
                    <a:srgbClr val="000000"/>
                  </a:outerShdw>
                </a:effectLst>
                <a:latin typeface="微软雅黑" pitchFamily="34" charset="-122"/>
                <a:ea typeface="微软雅黑" pitchFamily="34" charset="-122"/>
              </a:rPr>
              <a:t>实体或联系，乃至操作结果都是关系。</a:t>
            </a:r>
          </a:p>
          <a:p>
            <a:pPr marL="180975" indent="-180975">
              <a:spcAft>
                <a:spcPct val="25000"/>
              </a:spcAft>
              <a:buClr>
                <a:srgbClr val="66FF33"/>
              </a:buClr>
              <a:buSzPct val="85000"/>
              <a:buFontTx/>
              <a:buChar char="•"/>
              <a:defRPr/>
            </a:pPr>
            <a:r>
              <a:rPr lang="zh-CN" altLang="en-US" sz="2400" kern="0" baseline="0">
                <a:solidFill>
                  <a:srgbClr val="CCFFCC"/>
                </a:solidFill>
                <a:effectLst>
                  <a:outerShdw blurRad="38100" dist="38100" dir="2700000" algn="tl">
                    <a:srgbClr val="000000"/>
                  </a:outerShdw>
                </a:effectLst>
                <a:latin typeface="微软雅黑" pitchFamily="34" charset="-122"/>
                <a:ea typeface="微软雅黑" pitchFamily="34" charset="-122"/>
              </a:rPr>
              <a:t>结构简单自然，易懂易用。</a:t>
            </a:r>
          </a:p>
          <a:p>
            <a:pPr marL="180975" indent="-180975">
              <a:spcAft>
                <a:spcPct val="25000"/>
              </a:spcAft>
              <a:buClr>
                <a:srgbClr val="66FF33"/>
              </a:buClr>
              <a:buSzPct val="85000"/>
              <a:buFontTx/>
              <a:buChar char="•"/>
              <a:defRPr/>
            </a:pPr>
            <a:r>
              <a:rPr lang="zh-CN" altLang="en-US" sz="2400" kern="0" baseline="0">
                <a:solidFill>
                  <a:srgbClr val="CCFFCC"/>
                </a:solidFill>
                <a:effectLst>
                  <a:outerShdw blurRad="38100" dist="38100" dir="2700000" algn="tl">
                    <a:srgbClr val="000000"/>
                  </a:outerShdw>
                </a:effectLst>
                <a:latin typeface="微软雅黑" pitchFamily="34" charset="-122"/>
                <a:ea typeface="微软雅黑" pitchFamily="34" charset="-122"/>
              </a:rPr>
              <a:t>数据存取路径对用户透明，数据独立性较强。</a:t>
            </a:r>
          </a:p>
          <a:p>
            <a:pPr marL="180975" indent="-180975">
              <a:spcAft>
                <a:spcPct val="25000"/>
              </a:spcAft>
              <a:buClr>
                <a:srgbClr val="66FF33"/>
              </a:buClr>
              <a:buSzPct val="85000"/>
              <a:buFontTx/>
              <a:buChar char="•"/>
              <a:defRPr/>
            </a:pPr>
            <a:r>
              <a:rPr lang="zh-CN" altLang="en-US" sz="2400" kern="0" baseline="0">
                <a:solidFill>
                  <a:srgbClr val="CCFFCC"/>
                </a:solidFill>
                <a:effectLst>
                  <a:outerShdw blurRad="38100" dist="38100" dir="2700000" algn="tl">
                    <a:srgbClr val="000000"/>
                  </a:outerShdw>
                </a:effectLst>
                <a:latin typeface="微软雅黑" pitchFamily="34" charset="-122"/>
                <a:ea typeface="微软雅黑" pitchFamily="34" charset="-122"/>
              </a:rPr>
              <a:t>查询效率较非关系模型差。</a:t>
            </a:r>
          </a:p>
        </p:txBody>
      </p:sp>
      <p:sp>
        <p:nvSpPr>
          <p:cNvPr id="12" name="Rectangle 299"/>
          <p:cNvSpPr>
            <a:spLocks noChangeArrowheads="1"/>
          </p:cNvSpPr>
          <p:nvPr/>
        </p:nvSpPr>
        <p:spPr bwMode="auto">
          <a:xfrm>
            <a:off x="5651500" y="1125538"/>
            <a:ext cx="2093913" cy="365125"/>
          </a:xfrm>
          <a:prstGeom prst="rect">
            <a:avLst/>
          </a:prstGeom>
          <a:noFill/>
          <a:ln w="12700" cap="sq">
            <a:noFill/>
            <a:miter lim="800000"/>
            <a:headEnd/>
            <a:tailEnd/>
          </a:ln>
          <a:effectLst/>
        </p:spPr>
        <p:txBody>
          <a:bodyPr lIns="0" tIns="0" rIns="0" bIns="0">
            <a:spAutoFit/>
          </a:bodyPr>
          <a:lstStyle/>
          <a:p>
            <a:pPr algn="ctr">
              <a:defRPr/>
            </a:pPr>
            <a:r>
              <a:rPr kumimoji="1" lang="zh-CN" altLang="en-US" sz="2400" baseline="0">
                <a:effectLst>
                  <a:outerShdw blurRad="38100" dist="38100" dir="2700000" algn="tl">
                    <a:srgbClr val="000000"/>
                  </a:outerShdw>
                </a:effectLst>
                <a:latin typeface="Times New Roman" pitchFamily="18" charset="0"/>
                <a:ea typeface="楷体_GB2312" pitchFamily="49" charset="-122"/>
              </a:rPr>
              <a:t>教师记录</a:t>
            </a:r>
          </a:p>
        </p:txBody>
      </p:sp>
      <p:graphicFrame>
        <p:nvGraphicFramePr>
          <p:cNvPr id="13" name="Group 300"/>
          <p:cNvGraphicFramePr>
            <a:graphicFrameLocks noGrp="1"/>
          </p:cNvGraphicFramePr>
          <p:nvPr/>
        </p:nvGraphicFramePr>
        <p:xfrm>
          <a:off x="4643438" y="1577975"/>
          <a:ext cx="4176712" cy="1524000"/>
        </p:xfrm>
        <a:graphic>
          <a:graphicData uri="http://schemas.openxmlformats.org/drawingml/2006/table">
            <a:tbl>
              <a:tblPr/>
              <a:tblGrid>
                <a:gridCol w="928687">
                  <a:extLst>
                    <a:ext uri="{9D8B030D-6E8A-4147-A177-3AD203B41FA5}">
                      <a16:colId xmlns:a16="http://schemas.microsoft.com/office/drawing/2014/main" val="20000"/>
                    </a:ext>
                  </a:extLst>
                </a:gridCol>
                <a:gridCol w="720725">
                  <a:extLst>
                    <a:ext uri="{9D8B030D-6E8A-4147-A177-3AD203B41FA5}">
                      <a16:colId xmlns:a16="http://schemas.microsoft.com/office/drawing/2014/main" val="20001"/>
                    </a:ext>
                  </a:extLst>
                </a:gridCol>
                <a:gridCol w="881063">
                  <a:extLst>
                    <a:ext uri="{9D8B030D-6E8A-4147-A177-3AD203B41FA5}">
                      <a16:colId xmlns:a16="http://schemas.microsoft.com/office/drawing/2014/main" val="20002"/>
                    </a:ext>
                  </a:extLst>
                </a:gridCol>
                <a:gridCol w="796925">
                  <a:extLst>
                    <a:ext uri="{9D8B030D-6E8A-4147-A177-3AD203B41FA5}">
                      <a16:colId xmlns:a16="http://schemas.microsoft.com/office/drawing/2014/main" val="20003"/>
                    </a:ext>
                  </a:extLst>
                </a:gridCol>
                <a:gridCol w="849312">
                  <a:extLst>
                    <a:ext uri="{9D8B030D-6E8A-4147-A177-3AD203B41FA5}">
                      <a16:colId xmlns:a16="http://schemas.microsoft.com/office/drawing/2014/main" val="20004"/>
                    </a:ext>
                  </a:extLst>
                </a:gridCol>
              </a:tblGrid>
              <a:tr h="2841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工资</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职称</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8925">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李青</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35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500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助教</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733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王华</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50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940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讲师</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8925">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a:t>
                      </a:r>
                      <a:endParaRPr kumimoji="0" lang="zh-CN" altLang="en-US" sz="2000" b="0"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733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张家明</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36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500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smtClean="0">
                          <a:ln>
                            <a:noFill/>
                          </a:ln>
                          <a:solidFill>
                            <a:srgbClr val="00FFCC"/>
                          </a:solidFill>
                          <a:effectLst>
                            <a:outerShdw blurRad="38100" dist="38100" dir="2700000" algn="tl">
                              <a:srgbClr val="000000"/>
                            </a:outerShdw>
                          </a:effectLst>
                          <a:latin typeface="Times New Roman" pitchFamily="18" charset="0"/>
                          <a:ea typeface="楷体_GB2312" pitchFamily="49" charset="-122"/>
                        </a:rPr>
                        <a:t>助教</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4" name="Rectangle 339"/>
          <p:cNvSpPr>
            <a:spLocks noChangeArrowheads="1"/>
          </p:cNvSpPr>
          <p:nvPr/>
        </p:nvSpPr>
        <p:spPr bwMode="auto">
          <a:xfrm>
            <a:off x="4216400" y="3813175"/>
            <a:ext cx="2987675" cy="569913"/>
          </a:xfrm>
          <a:prstGeom prst="rect">
            <a:avLst/>
          </a:prstGeom>
          <a:noFill/>
          <a:ln w="12700" cap="sq">
            <a:noFill/>
            <a:miter lim="800000"/>
            <a:headEnd/>
            <a:tailEnd/>
          </a:ln>
          <a:effectLst/>
        </p:spPr>
        <p:txBody>
          <a:bodyPr wrap="none" lIns="72000" tIns="72000" rIns="72000" bIns="72000">
            <a:spAutoFit/>
          </a:bodyPr>
          <a:lstStyle/>
          <a:p>
            <a:pPr>
              <a:spcAft>
                <a:spcPct val="20000"/>
              </a:spcAft>
              <a:buClr>
                <a:srgbClr val="66FF33"/>
              </a:buClr>
              <a:buSzPct val="85000"/>
              <a:buFont typeface="Wingdings" pitchFamily="2" charset="2"/>
              <a:buNone/>
              <a:defRPr/>
            </a:pPr>
            <a:r>
              <a:rPr lang="zh-CN" altLang="en-US" sz="2800" baseline="0" dirty="0">
                <a:solidFill>
                  <a:srgbClr val="CCFFCC"/>
                </a:solidFill>
                <a:effectLst>
                  <a:outerShdw blurRad="38100" dist="38100" dir="2700000" algn="tl">
                    <a:srgbClr val="000000"/>
                  </a:outerShdw>
                </a:effectLst>
                <a:latin typeface="Times New Roman" pitchFamily="18" charset="0"/>
                <a:ea typeface="楷体_GB2312" pitchFamily="49" charset="-122"/>
              </a:rPr>
              <a:t>就是关系数据库。</a:t>
            </a:r>
          </a:p>
        </p:txBody>
      </p:sp>
      <p:sp>
        <p:nvSpPr>
          <p:cNvPr id="9" name="Text Box 2"/>
          <p:cNvSpPr txBox="1">
            <a:spLocks noChangeArrowheads="1"/>
          </p:cNvSpPr>
          <p:nvPr/>
        </p:nvSpPr>
        <p:spPr bwMode="auto">
          <a:xfrm>
            <a:off x="179512" y="-68263"/>
            <a:ext cx="3223172" cy="760959"/>
          </a:xfrm>
          <a:prstGeom prst="rect">
            <a:avLst/>
          </a:prstGeo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lvl1pPr eaLnBrk="0" hangingPunct="0">
              <a:defRPr sz="3600" b="1">
                <a:solidFill>
                  <a:schemeClr val="folHlink"/>
                </a:solidFill>
                <a:effectLst>
                  <a:outerShdw blurRad="38100" dist="38100" dir="2700000" algn="tl">
                    <a:srgbClr val="000000"/>
                  </a:outerShdw>
                </a:effectLst>
                <a:latin typeface="微软雅黑" pitchFamily="34" charset="-122"/>
                <a:ea typeface="微软雅黑" pitchFamily="34" charset="-122"/>
              </a:defRPr>
            </a:lvl1pPr>
            <a:lvl2pPr eaLnBrk="0" hangingPunct="0">
              <a:defRPr sz="3000">
                <a:solidFill>
                  <a:srgbClr val="FF9900"/>
                </a:solidFill>
                <a:latin typeface="方正姚体" pitchFamily="2" charset="-122"/>
                <a:ea typeface="方正姚体" pitchFamily="2" charset="-122"/>
              </a:defRPr>
            </a:lvl2pPr>
            <a:lvl3pPr eaLnBrk="0" hangingPunct="0">
              <a:defRPr sz="3000">
                <a:solidFill>
                  <a:srgbClr val="FF9900"/>
                </a:solidFill>
                <a:latin typeface="方正姚体" pitchFamily="2" charset="-122"/>
                <a:ea typeface="方正姚体" pitchFamily="2" charset="-122"/>
              </a:defRPr>
            </a:lvl3pPr>
            <a:lvl4pPr eaLnBrk="0" hangingPunct="0">
              <a:defRPr sz="3000">
                <a:solidFill>
                  <a:srgbClr val="FF9900"/>
                </a:solidFill>
                <a:latin typeface="方正姚体" pitchFamily="2" charset="-122"/>
                <a:ea typeface="方正姚体" pitchFamily="2" charset="-122"/>
              </a:defRPr>
            </a:lvl4pPr>
            <a:lvl5pPr eaLnBrk="0" hangingPunct="0">
              <a:defRPr sz="3000">
                <a:solidFill>
                  <a:srgbClr val="FF9900"/>
                </a:solidFill>
                <a:latin typeface="方正姚体" pitchFamily="2" charset="-122"/>
                <a:ea typeface="方正姚体" pitchFamily="2" charset="-122"/>
              </a:defRPr>
            </a:lvl5pPr>
            <a:lvl6pPr marL="457200" fontAlgn="base">
              <a:spcBef>
                <a:spcPct val="0"/>
              </a:spcBef>
              <a:spcAft>
                <a:spcPct val="0"/>
              </a:spcAft>
              <a:defRPr sz="3000">
                <a:solidFill>
                  <a:srgbClr val="FF9900"/>
                </a:solidFill>
                <a:latin typeface="方正姚体" pitchFamily="2" charset="-122"/>
                <a:ea typeface="方正姚体" pitchFamily="2" charset="-122"/>
              </a:defRPr>
            </a:lvl6pPr>
            <a:lvl7pPr marL="914400" fontAlgn="base">
              <a:spcBef>
                <a:spcPct val="0"/>
              </a:spcBef>
              <a:spcAft>
                <a:spcPct val="0"/>
              </a:spcAft>
              <a:defRPr sz="3000">
                <a:solidFill>
                  <a:srgbClr val="FF9900"/>
                </a:solidFill>
                <a:latin typeface="方正姚体" pitchFamily="2" charset="-122"/>
                <a:ea typeface="方正姚体" pitchFamily="2" charset="-122"/>
              </a:defRPr>
            </a:lvl7pPr>
            <a:lvl8pPr marL="1371600" fontAlgn="base">
              <a:spcBef>
                <a:spcPct val="0"/>
              </a:spcBef>
              <a:spcAft>
                <a:spcPct val="0"/>
              </a:spcAft>
              <a:defRPr sz="3000">
                <a:solidFill>
                  <a:srgbClr val="FF9900"/>
                </a:solidFill>
                <a:latin typeface="方正姚体" pitchFamily="2" charset="-122"/>
                <a:ea typeface="方正姚体" pitchFamily="2" charset="-122"/>
              </a:defRPr>
            </a:lvl8pPr>
            <a:lvl9pPr marL="1828800" fontAlgn="base">
              <a:spcBef>
                <a:spcPct val="0"/>
              </a:spcBef>
              <a:spcAft>
                <a:spcPct val="0"/>
              </a:spcAft>
              <a:defRPr sz="3000">
                <a:solidFill>
                  <a:srgbClr val="FF9900"/>
                </a:solidFill>
                <a:latin typeface="方正姚体" pitchFamily="2" charset="-122"/>
                <a:ea typeface="方正姚体" pitchFamily="2" charset="-122"/>
              </a:defRPr>
            </a:lvl9pPr>
          </a:lstStyle>
          <a:p>
            <a:r>
              <a:rPr lang="zh-CN" altLang="en-US" sz="4000" baseline="0" dirty="0"/>
              <a:t>逻辑数据模型</a:t>
            </a:r>
          </a:p>
        </p:txBody>
      </p:sp>
    </p:spTree>
    <p:extLst>
      <p:ext uri="{BB962C8B-B14F-4D97-AF65-F5344CB8AC3E}">
        <p14:creationId xmlns:p14="http://schemas.microsoft.com/office/powerpoint/2010/main" val="3709856663"/>
      </p:ext>
    </p:extLst>
  </p:cSld>
  <p:clrMapOvr>
    <a:masterClrMapping/>
  </p:clrMapOvr>
  <mc:AlternateContent xmlns:mc="http://schemas.openxmlformats.org/markup-compatibility/2006" xmlns:p14="http://schemas.microsoft.com/office/powerpoint/2010/main">
    <mc:Choice Requires="p14">
      <p:transition p14:dur="100">
        <p:cut/>
        <p:sndAc>
          <p:stSnd>
            <p:snd r:embed="rId2" name="camera.wav"/>
          </p:stSnd>
        </p:sndAc>
      </p:transition>
    </mc:Choice>
    <mc:Fallback xmlns="">
      <p:transition>
        <p:cut/>
        <p:sndAc>
          <p:stSnd>
            <p:snd r:embed="rId4" name="camera.wav"/>
          </p:stSnd>
        </p:sndAc>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3"/>
          <p:cNvSpPr>
            <a:spLocks noGrp="1" noChangeArrowheads="1"/>
          </p:cNvSpPr>
          <p:nvPr>
            <p:ph type="title"/>
          </p:nvPr>
        </p:nvSpPr>
        <p:spPr>
          <a:xfrm>
            <a:off x="179388" y="-27384"/>
            <a:ext cx="3375458" cy="760959"/>
          </a:xfrm>
          <a:noFill/>
          <a:ln w="12700" cap="sq">
            <a:noFill/>
            <a:miter lim="800000"/>
            <a:headEnd/>
            <a:tailEnd/>
          </a:ln>
          <a:effectLst>
            <a:outerShdw dist="35921" dir="2700000" algn="ctr" rotWithShape="0">
              <a:schemeClr val="bg2"/>
            </a:outerShdw>
          </a:effectLst>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vert="horz" wrap="none" lIns="72000" tIns="72000" rIns="72000" bIns="72000" numCol="1" anchor="ctr" anchorCtr="0" compatLnSpc="1">
            <a:prstTxWarp prst="textNoShape">
              <a:avLst/>
            </a:prstTxWarp>
            <a:spAutoFit/>
          </a:bodyPr>
          <a:lstStyle/>
          <a:p>
            <a:r>
              <a:rPr lang="zh-CN" altLang="en-US" sz="4000" b="1" kern="1200" dirty="0">
                <a:solidFill>
                  <a:schemeClr val="folHlink"/>
                </a:solidFill>
                <a:effectLst>
                  <a:outerShdw blurRad="38100" dist="38100" dir="2700000" algn="tl">
                    <a:srgbClr val="000000"/>
                  </a:outerShdw>
                </a:effectLst>
                <a:cs typeface="+mn-cs"/>
              </a:rPr>
              <a:t> 其它数据模型</a:t>
            </a:r>
          </a:p>
        </p:txBody>
      </p:sp>
      <p:sp>
        <p:nvSpPr>
          <p:cNvPr id="16" name="Rectangle 4"/>
          <p:cNvSpPr txBox="1">
            <a:spLocks noChangeArrowheads="1"/>
          </p:cNvSpPr>
          <p:nvPr/>
        </p:nvSpPr>
        <p:spPr bwMode="auto">
          <a:xfrm>
            <a:off x="323850" y="836712"/>
            <a:ext cx="8569325" cy="45704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0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18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18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18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18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18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1800">
                <a:solidFill>
                  <a:srgbClr val="CCFFCC"/>
                </a:solidFill>
                <a:effectLst>
                  <a:outerShdw blurRad="38100" dist="38100" dir="2700000" algn="tl">
                    <a:srgbClr val="000000"/>
                  </a:outerShdw>
                </a:effectLst>
                <a:latin typeface="+mn-lt"/>
                <a:ea typeface="+mn-ea"/>
              </a:defRPr>
            </a:lvl9pPr>
          </a:lstStyle>
          <a:p>
            <a:pPr>
              <a:spcAft>
                <a:spcPct val="25000"/>
              </a:spcAft>
            </a:pPr>
            <a:r>
              <a:rPr lang="zh-CN" altLang="en-US" baseline="0" dirty="0" smtClean="0">
                <a:latin typeface="微软雅黑" pitchFamily="34" charset="-122"/>
                <a:ea typeface="微软雅黑" pitchFamily="34" charset="-122"/>
              </a:rPr>
              <a:t>面向对象模型（</a:t>
            </a:r>
            <a:r>
              <a:rPr lang="en-US" altLang="zh-CN" baseline="0" dirty="0">
                <a:latin typeface="微软雅黑" pitchFamily="34" charset="-122"/>
                <a:ea typeface="微软雅黑" pitchFamily="34" charset="-122"/>
              </a:rPr>
              <a:t>Object Oriented</a:t>
            </a:r>
            <a:r>
              <a:rPr lang="en-US" altLang="zh-CN" baseline="0" dirty="0" smtClean="0">
                <a:latin typeface="微软雅黑" pitchFamily="34" charset="-122"/>
                <a:ea typeface="微软雅黑" pitchFamily="34" charset="-122"/>
              </a:rPr>
              <a:t>,</a:t>
            </a:r>
            <a:r>
              <a:rPr lang="zh-CN" altLang="en-US" baseline="0" dirty="0" smtClean="0">
                <a:latin typeface="微软雅黑" pitchFamily="34" charset="-122"/>
                <a:ea typeface="微软雅黑" pitchFamily="34" charset="-122"/>
              </a:rPr>
              <a:t>　</a:t>
            </a:r>
            <a:r>
              <a:rPr lang="en-US" altLang="zh-CN" baseline="0" dirty="0" smtClean="0">
                <a:latin typeface="微软雅黑" pitchFamily="34" charset="-122"/>
                <a:ea typeface="微软雅黑" pitchFamily="34" charset="-122"/>
              </a:rPr>
              <a:t>OO</a:t>
            </a:r>
            <a:r>
              <a:rPr lang="zh-CN" altLang="en-US" baseline="0" dirty="0" smtClean="0">
                <a:latin typeface="微软雅黑" pitchFamily="34" charset="-122"/>
                <a:ea typeface="微软雅黑" pitchFamily="34" charset="-122"/>
              </a:rPr>
              <a:t>）</a:t>
            </a:r>
            <a:endParaRPr lang="en-US" altLang="zh-CN" baseline="0" dirty="0" smtClean="0">
              <a:latin typeface="微软雅黑" pitchFamily="34" charset="-122"/>
              <a:ea typeface="微软雅黑" pitchFamily="34" charset="-122"/>
            </a:endParaRPr>
          </a:p>
          <a:p>
            <a:pPr marL="365125" lvl="1" indent="0">
              <a:spcAft>
                <a:spcPct val="25000"/>
              </a:spcAft>
              <a:buNone/>
            </a:pPr>
            <a:r>
              <a:rPr lang="zh-CN" altLang="en-US" baseline="0" dirty="0" smtClean="0">
                <a:latin typeface="微软雅黑" pitchFamily="34" charset="-122"/>
                <a:ea typeface="微软雅黑" pitchFamily="34" charset="-122"/>
              </a:rPr>
              <a:t>数据库 </a:t>
            </a:r>
            <a:r>
              <a:rPr lang="en-US" altLang="zh-CN" baseline="0" dirty="0">
                <a:latin typeface="微软雅黑" pitchFamily="34" charset="-122"/>
                <a:ea typeface="微软雅黑" pitchFamily="34" charset="-122"/>
              </a:rPr>
              <a:t>+ </a:t>
            </a:r>
            <a:r>
              <a:rPr lang="en-US" altLang="zh-CN" baseline="0" dirty="0" smtClean="0">
                <a:latin typeface="微软雅黑" pitchFamily="34" charset="-122"/>
                <a:ea typeface="微软雅黑" pitchFamily="34" charset="-122"/>
              </a:rPr>
              <a:t>OOP</a:t>
            </a:r>
            <a:endParaRPr lang="zh-CN" altLang="en-US" baseline="0" dirty="0" smtClean="0">
              <a:latin typeface="微软雅黑" pitchFamily="34" charset="-122"/>
              <a:ea typeface="微软雅黑" pitchFamily="34" charset="-122"/>
            </a:endParaRPr>
          </a:p>
          <a:p>
            <a:pPr>
              <a:spcBef>
                <a:spcPts val="1200"/>
              </a:spcBef>
              <a:spcAft>
                <a:spcPct val="25000"/>
              </a:spcAft>
            </a:pPr>
            <a:r>
              <a:rPr lang="zh-CN" altLang="en-US" baseline="0" dirty="0" smtClean="0">
                <a:latin typeface="微软雅黑" pitchFamily="34" charset="-122"/>
                <a:ea typeface="微软雅黑" pitchFamily="34" charset="-122"/>
              </a:rPr>
              <a:t>键</a:t>
            </a:r>
            <a:r>
              <a:rPr lang="en-US" altLang="zh-CN" baseline="0" dirty="0" smtClean="0">
                <a:latin typeface="微软雅黑" pitchFamily="34" charset="-122"/>
                <a:ea typeface="微软雅黑" pitchFamily="34" charset="-122"/>
              </a:rPr>
              <a:t>-</a:t>
            </a:r>
            <a:r>
              <a:rPr lang="zh-CN" altLang="en-US" baseline="0" dirty="0" smtClean="0">
                <a:latin typeface="微软雅黑" pitchFamily="34" charset="-122"/>
                <a:ea typeface="微软雅黑" pitchFamily="34" charset="-122"/>
              </a:rPr>
              <a:t>值对模型（</a:t>
            </a:r>
            <a:r>
              <a:rPr lang="en-US" altLang="zh-CN" baseline="0" dirty="0" smtClean="0">
                <a:latin typeface="微软雅黑" pitchFamily="34" charset="-122"/>
                <a:ea typeface="微软雅黑" pitchFamily="34" charset="-122"/>
              </a:rPr>
              <a:t>Key-Value</a:t>
            </a:r>
            <a:r>
              <a:rPr lang="zh-CN" altLang="en-US" baseline="0" dirty="0" smtClean="0">
                <a:latin typeface="微软雅黑" pitchFamily="34" charset="-122"/>
                <a:ea typeface="微软雅黑" pitchFamily="34" charset="-122"/>
              </a:rPr>
              <a:t>）</a:t>
            </a:r>
            <a:endParaRPr lang="en-US" altLang="zh-CN" baseline="0" dirty="0">
              <a:latin typeface="微软雅黑" pitchFamily="34" charset="-122"/>
              <a:ea typeface="微软雅黑" pitchFamily="34" charset="-122"/>
            </a:endParaRPr>
          </a:p>
          <a:p>
            <a:pPr marL="365125" lvl="1" indent="0">
              <a:spcAft>
                <a:spcPct val="25000"/>
              </a:spcAft>
              <a:buNone/>
            </a:pPr>
            <a:r>
              <a:rPr lang="zh-CN" altLang="en-US" baseline="0" dirty="0" smtClean="0">
                <a:latin typeface="微软雅黑" pitchFamily="34" charset="-122"/>
                <a:ea typeface="微软雅黑" pitchFamily="34" charset="-122"/>
              </a:rPr>
              <a:t>哈希表</a:t>
            </a:r>
            <a:endParaRPr lang="en-US" altLang="zh-CN" sz="2800" baseline="0" dirty="0" smtClean="0">
              <a:latin typeface="微软雅黑" pitchFamily="34" charset="-122"/>
              <a:ea typeface="微软雅黑" pitchFamily="34" charset="-122"/>
            </a:endParaRPr>
          </a:p>
          <a:p>
            <a:pPr>
              <a:spcBef>
                <a:spcPts val="1200"/>
              </a:spcBef>
              <a:spcAft>
                <a:spcPct val="25000"/>
              </a:spcAft>
            </a:pPr>
            <a:r>
              <a:rPr lang="zh-CN" altLang="en-US" baseline="0" dirty="0">
                <a:latin typeface="微软雅黑" pitchFamily="34" charset="-122"/>
                <a:ea typeface="微软雅黑" pitchFamily="34" charset="-122"/>
              </a:rPr>
              <a:t>文档</a:t>
            </a:r>
            <a:r>
              <a:rPr lang="zh-CN" altLang="en-US" baseline="0" dirty="0" smtClean="0">
                <a:latin typeface="微软雅黑" pitchFamily="34" charset="-122"/>
                <a:ea typeface="微软雅黑" pitchFamily="34" charset="-122"/>
              </a:rPr>
              <a:t>模型（</a:t>
            </a:r>
            <a:r>
              <a:rPr lang="en-US" altLang="zh-CN" baseline="0" dirty="0" smtClean="0">
                <a:latin typeface="微软雅黑" pitchFamily="34" charset="-122"/>
                <a:ea typeface="微软雅黑" pitchFamily="34" charset="-122"/>
              </a:rPr>
              <a:t>Document</a:t>
            </a:r>
            <a:r>
              <a:rPr lang="zh-CN" altLang="en-US" baseline="0" dirty="0" smtClean="0">
                <a:latin typeface="微软雅黑" pitchFamily="34" charset="-122"/>
                <a:ea typeface="微软雅黑" pitchFamily="34" charset="-122"/>
              </a:rPr>
              <a:t>）</a:t>
            </a:r>
            <a:endParaRPr lang="en-US" altLang="zh-CN" baseline="0" dirty="0">
              <a:latin typeface="微软雅黑" pitchFamily="34" charset="-122"/>
              <a:ea typeface="微软雅黑" pitchFamily="34" charset="-122"/>
            </a:endParaRPr>
          </a:p>
          <a:p>
            <a:pPr marL="365125" lvl="1" indent="0">
              <a:spcAft>
                <a:spcPct val="25000"/>
              </a:spcAft>
              <a:buNone/>
            </a:pPr>
            <a:r>
              <a:rPr lang="zh-CN" altLang="en-US" baseline="0" dirty="0" smtClean="0">
                <a:latin typeface="微软雅黑" pitchFamily="34" charset="-122"/>
                <a:ea typeface="微软雅黑" pitchFamily="34" charset="-122"/>
              </a:rPr>
              <a:t>对数据结构要求不严格</a:t>
            </a:r>
            <a:endParaRPr lang="en-US" altLang="zh-CN" sz="2800" baseline="0" dirty="0" smtClean="0">
              <a:latin typeface="微软雅黑" pitchFamily="34" charset="-122"/>
              <a:ea typeface="微软雅黑" pitchFamily="34" charset="-122"/>
            </a:endParaRPr>
          </a:p>
          <a:p>
            <a:pPr>
              <a:spcBef>
                <a:spcPts val="1200"/>
              </a:spcBef>
              <a:spcAft>
                <a:spcPct val="25000"/>
              </a:spcAft>
            </a:pPr>
            <a:r>
              <a:rPr lang="zh-CN" altLang="en-US" baseline="0" dirty="0" smtClean="0">
                <a:latin typeface="微软雅黑" pitchFamily="34" charset="-122"/>
                <a:ea typeface="微软雅黑" pitchFamily="34" charset="-122"/>
              </a:rPr>
              <a:t>列式存储模型（</a:t>
            </a:r>
            <a:r>
              <a:rPr lang="en-US" altLang="zh-CN" baseline="0" dirty="0">
                <a:latin typeface="微软雅黑" pitchFamily="34" charset="-122"/>
                <a:ea typeface="微软雅黑" pitchFamily="34" charset="-122"/>
              </a:rPr>
              <a:t>Wide </a:t>
            </a:r>
            <a:r>
              <a:rPr lang="en-US" altLang="zh-CN" baseline="0" dirty="0" smtClean="0">
                <a:latin typeface="微软雅黑" pitchFamily="34" charset="-122"/>
                <a:ea typeface="微软雅黑" pitchFamily="34" charset="-122"/>
              </a:rPr>
              <a:t>column</a:t>
            </a:r>
            <a:r>
              <a:rPr lang="zh-CN" altLang="en-US" baseline="0" dirty="0" smtClean="0">
                <a:latin typeface="微软雅黑" pitchFamily="34" charset="-122"/>
                <a:ea typeface="微软雅黑" pitchFamily="34" charset="-122"/>
              </a:rPr>
              <a:t>）</a:t>
            </a:r>
            <a:endParaRPr lang="en-US" altLang="zh-CN" baseline="0" dirty="0" smtClean="0">
              <a:latin typeface="微软雅黑" pitchFamily="34" charset="-122"/>
              <a:ea typeface="微软雅黑" pitchFamily="34" charset="-122"/>
            </a:endParaRPr>
          </a:p>
          <a:p>
            <a:pPr marL="365125" lvl="1" indent="0">
              <a:spcAft>
                <a:spcPct val="25000"/>
              </a:spcAft>
              <a:buNone/>
            </a:pPr>
            <a:r>
              <a:rPr lang="zh-CN" altLang="en-US" baseline="0" dirty="0" smtClean="0">
                <a:latin typeface="微软雅黑" pitchFamily="34" charset="-122"/>
                <a:ea typeface="微软雅黑" pitchFamily="34" charset="-122"/>
              </a:rPr>
              <a:t>按列存储数据</a:t>
            </a:r>
            <a:endParaRPr lang="en-US" altLang="zh-CN" sz="2800" baseline="0" dirty="0" smtClean="0">
              <a:latin typeface="微软雅黑" pitchFamily="34" charset="-122"/>
              <a:ea typeface="微软雅黑" pitchFamily="34" charset="-122"/>
            </a:endParaRPr>
          </a:p>
          <a:p>
            <a:pPr>
              <a:spcBef>
                <a:spcPts val="1200"/>
              </a:spcBef>
              <a:spcAft>
                <a:spcPct val="25000"/>
              </a:spcAft>
            </a:pPr>
            <a:r>
              <a:rPr lang="zh-CN" altLang="en-US" baseline="0" dirty="0">
                <a:latin typeface="微软雅黑" pitchFamily="34" charset="-122"/>
                <a:ea typeface="微软雅黑" pitchFamily="34" charset="-122"/>
              </a:rPr>
              <a:t>倒排索引</a:t>
            </a:r>
            <a:r>
              <a:rPr lang="zh-CN" altLang="en-US" baseline="0" dirty="0" smtClean="0">
                <a:latin typeface="微软雅黑" pitchFamily="34" charset="-122"/>
                <a:ea typeface="微软雅黑" pitchFamily="34" charset="-122"/>
              </a:rPr>
              <a:t>模型（</a:t>
            </a:r>
            <a:r>
              <a:rPr lang="en-US" altLang="zh-CN" baseline="0" dirty="0" smtClean="0">
                <a:latin typeface="微软雅黑" pitchFamily="34" charset="-122"/>
                <a:ea typeface="微软雅黑" pitchFamily="34" charset="-122"/>
              </a:rPr>
              <a:t>Inverted Index</a:t>
            </a:r>
            <a:r>
              <a:rPr lang="zh-CN" altLang="en-US" baseline="0" dirty="0" smtClean="0">
                <a:latin typeface="微软雅黑" pitchFamily="34" charset="-122"/>
                <a:ea typeface="微软雅黑" pitchFamily="34" charset="-122"/>
              </a:rPr>
              <a:t>）</a:t>
            </a:r>
            <a:endParaRPr lang="en-US" altLang="zh-CN" baseline="0" dirty="0">
              <a:latin typeface="微软雅黑" pitchFamily="34" charset="-122"/>
              <a:ea typeface="微软雅黑" pitchFamily="34" charset="-122"/>
            </a:endParaRPr>
          </a:p>
          <a:p>
            <a:pPr marL="365125" lvl="1" indent="0">
              <a:spcAft>
                <a:spcPct val="25000"/>
              </a:spcAft>
              <a:buNone/>
            </a:pPr>
            <a:r>
              <a:rPr lang="zh-CN" altLang="en-US" baseline="0" dirty="0" smtClean="0">
                <a:latin typeface="微软雅黑" pitchFamily="34" charset="-122"/>
                <a:ea typeface="微软雅黑" pitchFamily="34" charset="-122"/>
              </a:rPr>
              <a:t>用</a:t>
            </a:r>
            <a:r>
              <a:rPr lang="zh-CN" altLang="en-US" baseline="0" dirty="0">
                <a:latin typeface="微软雅黑" pitchFamily="34" charset="-122"/>
                <a:ea typeface="微软雅黑" pitchFamily="34" charset="-122"/>
              </a:rPr>
              <a:t>文档的关键词作为索引，文档作为索引目标</a:t>
            </a:r>
            <a:endParaRPr lang="en-US" altLang="zh-CN" sz="2800" baseline="0" dirty="0">
              <a:latin typeface="微软雅黑" pitchFamily="34" charset="-122"/>
              <a:ea typeface="微软雅黑" pitchFamily="34" charset="-122"/>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3559" y="1628800"/>
            <a:ext cx="1948872" cy="4089980"/>
          </a:xfrm>
          <a:prstGeom prst="rect">
            <a:avLst/>
          </a:prstGeom>
          <a:ln w="889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035630850"/>
      </p:ext>
    </p:extLst>
  </p:cSld>
  <p:clrMapOvr>
    <a:masterClrMapping/>
  </p:clrMapOvr>
  <p:transition spd="slow">
    <p:pull/>
    <p:sndAc>
      <p:stSnd>
        <p:snd r:embed="rId2" name="camera.wav"/>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9" name="Rectangle 3"/>
          <p:cNvSpPr>
            <a:spLocks noGrp="1" noChangeArrowheads="1"/>
          </p:cNvSpPr>
          <p:nvPr>
            <p:ph type="title"/>
          </p:nvPr>
        </p:nvSpPr>
        <p:spPr>
          <a:xfrm>
            <a:off x="179388" y="-27384"/>
            <a:ext cx="3736133"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r>
              <a:rPr lang="zh-CN" altLang="en-US" sz="4000" b="1" kern="1200" dirty="0" smtClean="0">
                <a:solidFill>
                  <a:schemeClr val="folHlink"/>
                </a:solidFill>
                <a:effectLst>
                  <a:outerShdw blurRad="38100" dist="38100" dir="2700000" algn="tl">
                    <a:srgbClr val="000000"/>
                  </a:outerShdw>
                </a:effectLst>
                <a:cs typeface="+mn-cs"/>
              </a:rPr>
              <a:t>数据库系统结构</a:t>
            </a:r>
            <a:endParaRPr lang="zh-CN" altLang="en-US" sz="4000" b="1" kern="1200" dirty="0">
              <a:solidFill>
                <a:schemeClr val="folHlink"/>
              </a:solidFill>
              <a:effectLst>
                <a:outerShdw blurRad="38100" dist="38100" dir="2700000" algn="tl">
                  <a:srgbClr val="000000"/>
                </a:outerShdw>
              </a:effectLst>
              <a:cs typeface="+mn-cs"/>
            </a:endParaRPr>
          </a:p>
        </p:txBody>
      </p:sp>
      <p:grpSp>
        <p:nvGrpSpPr>
          <p:cNvPr id="26628" name="Group 4"/>
          <p:cNvGrpSpPr>
            <a:grpSpLocks/>
          </p:cNvGrpSpPr>
          <p:nvPr/>
        </p:nvGrpSpPr>
        <p:grpSpPr bwMode="auto">
          <a:xfrm>
            <a:off x="1416050" y="1471613"/>
            <a:ext cx="5892800" cy="4824412"/>
            <a:chOff x="892" y="927"/>
            <a:chExt cx="3712" cy="3039"/>
          </a:xfrm>
        </p:grpSpPr>
        <p:sp>
          <p:nvSpPr>
            <p:cNvPr id="26629" name="Rectangle 5"/>
            <p:cNvSpPr>
              <a:spLocks noChangeArrowheads="1"/>
            </p:cNvSpPr>
            <p:nvPr/>
          </p:nvSpPr>
          <p:spPr bwMode="auto">
            <a:xfrm>
              <a:off x="892" y="1269"/>
              <a:ext cx="3712" cy="2206"/>
            </a:xfrm>
            <a:prstGeom prst="rect">
              <a:avLst/>
            </a:prstGeom>
            <a:noFill/>
            <a:ln w="12700">
              <a:solidFill>
                <a:schemeClr val="hlink"/>
              </a:solidFill>
              <a:prstDash val="dashDot"/>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p>
              <a:r>
                <a:rPr lang="zh-CN" altLang="en-US" sz="1800" baseline="0">
                  <a:latin typeface="Times New Roman" pitchFamily="18" charset="0"/>
                  <a:ea typeface="华文行楷" pitchFamily="2" charset="-122"/>
                </a:rPr>
                <a:t> </a:t>
              </a:r>
            </a:p>
          </p:txBody>
        </p:sp>
        <p:sp>
          <p:nvSpPr>
            <p:cNvPr id="26630" name="Rectangle 6"/>
            <p:cNvSpPr>
              <a:spLocks noChangeArrowheads="1"/>
            </p:cNvSpPr>
            <p:nvPr/>
          </p:nvSpPr>
          <p:spPr bwMode="auto">
            <a:xfrm>
              <a:off x="1112" y="927"/>
              <a:ext cx="577"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楷体_GB2312" pitchFamily="49" charset="-122"/>
                  <a:ea typeface="楷体_GB2312" pitchFamily="49" charset="-122"/>
                </a:rPr>
                <a:t>应用</a:t>
              </a:r>
              <a:r>
                <a:rPr lang="en-US" altLang="zh-CN" sz="2200" b="1" baseline="0">
                  <a:latin typeface="楷体_GB2312" pitchFamily="49" charset="-122"/>
                  <a:ea typeface="楷体_GB2312" pitchFamily="49" charset="-122"/>
                </a:rPr>
                <a:t>A</a:t>
              </a:r>
            </a:p>
          </p:txBody>
        </p:sp>
        <p:sp>
          <p:nvSpPr>
            <p:cNvPr id="26631" name="Rectangle 7"/>
            <p:cNvSpPr>
              <a:spLocks noChangeArrowheads="1"/>
            </p:cNvSpPr>
            <p:nvPr/>
          </p:nvSpPr>
          <p:spPr bwMode="auto">
            <a:xfrm>
              <a:off x="1745" y="930"/>
              <a:ext cx="577"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楷体_GB2312" pitchFamily="49" charset="-122"/>
                  <a:ea typeface="楷体_GB2312" pitchFamily="49" charset="-122"/>
                </a:rPr>
                <a:t>应用</a:t>
              </a:r>
              <a:r>
                <a:rPr lang="en-US" altLang="zh-CN" sz="2200" b="1" baseline="0">
                  <a:latin typeface="楷体_GB2312" pitchFamily="49" charset="-122"/>
                  <a:ea typeface="楷体_GB2312" pitchFamily="49" charset="-122"/>
                </a:rPr>
                <a:t>B</a:t>
              </a:r>
            </a:p>
          </p:txBody>
        </p:sp>
        <p:sp>
          <p:nvSpPr>
            <p:cNvPr id="26632" name="Rectangle 8"/>
            <p:cNvSpPr>
              <a:spLocks noChangeArrowheads="1"/>
            </p:cNvSpPr>
            <p:nvPr/>
          </p:nvSpPr>
          <p:spPr bwMode="auto">
            <a:xfrm>
              <a:off x="3474" y="927"/>
              <a:ext cx="813"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楷体_GB2312" pitchFamily="49" charset="-122"/>
                  <a:ea typeface="楷体_GB2312" pitchFamily="49" charset="-122"/>
                </a:rPr>
                <a:t>应用</a:t>
              </a:r>
              <a:r>
                <a:rPr lang="en-US" altLang="zh-CN" sz="2200" b="1" baseline="0">
                  <a:latin typeface="楷体_GB2312" pitchFamily="49" charset="-122"/>
                  <a:ea typeface="楷体_GB2312" pitchFamily="49" charset="-122"/>
                </a:rPr>
                <a:t>n</a:t>
              </a:r>
            </a:p>
          </p:txBody>
        </p:sp>
        <p:sp>
          <p:nvSpPr>
            <p:cNvPr id="26633" name="Rectangle 9"/>
            <p:cNvSpPr>
              <a:spLocks noChangeArrowheads="1"/>
            </p:cNvSpPr>
            <p:nvPr/>
          </p:nvSpPr>
          <p:spPr bwMode="auto">
            <a:xfrm>
              <a:off x="2577" y="930"/>
              <a:ext cx="644"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dirty="0">
                  <a:latin typeface="Times New Roman" pitchFamily="18" charset="0"/>
                  <a:ea typeface="楷体_GB2312" pitchFamily="49" charset="-122"/>
                </a:rPr>
                <a:t>……</a:t>
              </a:r>
              <a:endParaRPr lang="zh-CN" altLang="en-US" sz="2200" b="1" baseline="0" dirty="0">
                <a:latin typeface="楷体_GB2312" pitchFamily="49" charset="-122"/>
                <a:ea typeface="楷体_GB2312" pitchFamily="49" charset="-122"/>
              </a:endParaRPr>
            </a:p>
          </p:txBody>
        </p:sp>
        <p:sp>
          <p:nvSpPr>
            <p:cNvPr id="26634" name="Rectangle 10"/>
            <p:cNvSpPr>
              <a:spLocks noChangeArrowheads="1"/>
            </p:cNvSpPr>
            <p:nvPr/>
          </p:nvSpPr>
          <p:spPr bwMode="auto">
            <a:xfrm>
              <a:off x="1111" y="1332"/>
              <a:ext cx="871" cy="260"/>
            </a:xfrm>
            <a:prstGeom prst="rect">
              <a:avLst/>
            </a:prstGeom>
            <a:solidFill>
              <a:schemeClr val="hlink"/>
            </a:solidFill>
            <a:ln w="9525">
              <a:solidFill>
                <a:srgbClr val="000000"/>
              </a:solidFill>
              <a:miter lim="800000"/>
              <a:headEnd/>
              <a:tailEnd/>
            </a:ln>
          </p:spPr>
          <p:txBody>
            <a:bodyPr/>
            <a:lstStyle/>
            <a:p>
              <a:pPr algn="ctr" eaLnBrk="0" hangingPunct="0"/>
              <a:r>
                <a:rPr lang="zh-CN" altLang="en-US" sz="2200" b="1" baseline="0">
                  <a:solidFill>
                    <a:schemeClr val="bg1"/>
                  </a:solidFill>
                  <a:latin typeface="楷体_GB2312" pitchFamily="49" charset="-122"/>
                  <a:ea typeface="楷体_GB2312" pitchFamily="49" charset="-122"/>
                </a:rPr>
                <a:t>外模式1</a:t>
              </a:r>
            </a:p>
          </p:txBody>
        </p:sp>
        <p:sp>
          <p:nvSpPr>
            <p:cNvPr id="26635" name="Rectangle 11"/>
            <p:cNvSpPr>
              <a:spLocks noChangeArrowheads="1"/>
            </p:cNvSpPr>
            <p:nvPr/>
          </p:nvSpPr>
          <p:spPr bwMode="auto">
            <a:xfrm>
              <a:off x="2256" y="1332"/>
              <a:ext cx="903" cy="253"/>
            </a:xfrm>
            <a:prstGeom prst="rect">
              <a:avLst/>
            </a:prstGeom>
            <a:solidFill>
              <a:schemeClr val="hlink"/>
            </a:solidFill>
            <a:ln w="9525">
              <a:solidFill>
                <a:srgbClr val="000000"/>
              </a:solidFill>
              <a:miter lim="800000"/>
              <a:headEnd/>
              <a:tailEnd/>
            </a:ln>
          </p:spPr>
          <p:txBody>
            <a:bodyPr/>
            <a:lstStyle/>
            <a:p>
              <a:pPr algn="ctr" eaLnBrk="0" hangingPunct="0"/>
              <a:r>
                <a:rPr lang="zh-CN" altLang="en-US" sz="2200" b="1" baseline="0">
                  <a:solidFill>
                    <a:schemeClr val="bg1"/>
                  </a:solidFill>
                  <a:latin typeface="Times New Roman" pitchFamily="18" charset="0"/>
                  <a:ea typeface="楷体_GB2312" pitchFamily="49" charset="-122"/>
                </a:rPr>
                <a:t>……</a:t>
              </a:r>
              <a:endParaRPr lang="zh-CN" altLang="en-US" sz="2200" b="1" baseline="0">
                <a:solidFill>
                  <a:schemeClr val="bg1"/>
                </a:solidFill>
                <a:latin typeface="楷体_GB2312" pitchFamily="49" charset="-122"/>
                <a:ea typeface="楷体_GB2312" pitchFamily="49" charset="-122"/>
              </a:endParaRPr>
            </a:p>
          </p:txBody>
        </p:sp>
        <p:sp>
          <p:nvSpPr>
            <p:cNvPr id="26636" name="Rectangle 12"/>
            <p:cNvSpPr>
              <a:spLocks noChangeArrowheads="1"/>
            </p:cNvSpPr>
            <p:nvPr/>
          </p:nvSpPr>
          <p:spPr bwMode="auto">
            <a:xfrm>
              <a:off x="3294" y="1332"/>
              <a:ext cx="1083" cy="253"/>
            </a:xfrm>
            <a:prstGeom prst="rect">
              <a:avLst/>
            </a:prstGeom>
            <a:solidFill>
              <a:schemeClr val="hlink"/>
            </a:solidFill>
            <a:ln w="9525">
              <a:solidFill>
                <a:srgbClr val="000000"/>
              </a:solidFill>
              <a:miter lim="800000"/>
              <a:headEnd/>
              <a:tailEnd/>
            </a:ln>
          </p:spPr>
          <p:txBody>
            <a:bodyPr/>
            <a:lstStyle/>
            <a:p>
              <a:pPr algn="ctr" eaLnBrk="0" hangingPunct="0"/>
              <a:r>
                <a:rPr lang="zh-CN" altLang="en-US" sz="2200" b="1" baseline="0">
                  <a:solidFill>
                    <a:schemeClr val="bg1"/>
                  </a:solidFill>
                  <a:latin typeface="楷体_GB2312" pitchFamily="49" charset="-122"/>
                  <a:ea typeface="楷体_GB2312" pitchFamily="49" charset="-122"/>
                </a:rPr>
                <a:t>外模式</a:t>
              </a:r>
              <a:r>
                <a:rPr lang="en-US" altLang="zh-CN" sz="2200" b="1" baseline="0">
                  <a:solidFill>
                    <a:schemeClr val="bg1"/>
                  </a:solidFill>
                  <a:latin typeface="楷体_GB2312" pitchFamily="49" charset="-122"/>
                  <a:ea typeface="楷体_GB2312" pitchFamily="49" charset="-122"/>
                </a:rPr>
                <a:t>m</a:t>
              </a:r>
            </a:p>
          </p:txBody>
        </p:sp>
        <p:sp>
          <p:nvSpPr>
            <p:cNvPr id="26637" name="AutoShape 13"/>
            <p:cNvSpPr>
              <a:spLocks noChangeArrowheads="1"/>
            </p:cNvSpPr>
            <p:nvPr/>
          </p:nvSpPr>
          <p:spPr bwMode="auto">
            <a:xfrm>
              <a:off x="1535" y="1751"/>
              <a:ext cx="2255" cy="279"/>
            </a:xfrm>
            <a:prstGeom prst="roundRect">
              <a:avLst>
                <a:gd name="adj" fmla="val 16667"/>
              </a:avLst>
            </a:prstGeom>
            <a:solidFill>
              <a:schemeClr val="accent1"/>
            </a:solidFill>
            <a:ln w="9525">
              <a:solidFill>
                <a:schemeClr val="tx1"/>
              </a:solidFill>
              <a:round/>
              <a:headEnd/>
              <a:tailEnd/>
            </a:ln>
          </p:spPr>
          <p:txBody>
            <a:bodyPr/>
            <a:lstStyle/>
            <a:p>
              <a:pPr algn="ctr" eaLnBrk="0" hangingPunct="0"/>
              <a:r>
                <a:rPr lang="zh-CN" altLang="en-US" sz="2200" b="1" baseline="0">
                  <a:solidFill>
                    <a:schemeClr val="bg1"/>
                  </a:solidFill>
                  <a:latin typeface="楷体_GB2312" pitchFamily="49" charset="-122"/>
                  <a:ea typeface="楷体_GB2312" pitchFamily="49" charset="-122"/>
                </a:rPr>
                <a:t>子模式/模式映象</a:t>
              </a:r>
            </a:p>
          </p:txBody>
        </p:sp>
        <p:sp>
          <p:nvSpPr>
            <p:cNvPr id="26638" name="AutoShape 14"/>
            <p:cNvSpPr>
              <a:spLocks noChangeArrowheads="1"/>
            </p:cNvSpPr>
            <p:nvPr/>
          </p:nvSpPr>
          <p:spPr bwMode="auto">
            <a:xfrm>
              <a:off x="2081" y="2243"/>
              <a:ext cx="1344" cy="255"/>
            </a:xfrm>
            <a:prstGeom prst="flowChartProcess">
              <a:avLst/>
            </a:prstGeom>
            <a:solidFill>
              <a:schemeClr val="hlink"/>
            </a:solidFill>
            <a:ln w="9525">
              <a:solidFill>
                <a:srgbClr val="000000"/>
              </a:solidFill>
              <a:miter lim="800000"/>
              <a:headEnd/>
              <a:tailEnd/>
            </a:ln>
          </p:spPr>
          <p:txBody>
            <a:bodyPr tIns="0" bIns="0" anchor="ctr" anchorCtr="1"/>
            <a:lstStyle/>
            <a:p>
              <a:pPr algn="ctr" eaLnBrk="0" hangingPunct="0"/>
              <a:r>
                <a:rPr lang="zh-CN" altLang="en-US" sz="2200" b="1" baseline="0">
                  <a:solidFill>
                    <a:schemeClr val="bg1"/>
                  </a:solidFill>
                  <a:latin typeface="楷体_GB2312" pitchFamily="49" charset="-122"/>
                  <a:ea typeface="楷体_GB2312" pitchFamily="49" charset="-122"/>
                </a:rPr>
                <a:t>模　式</a:t>
              </a:r>
            </a:p>
          </p:txBody>
        </p:sp>
        <p:sp>
          <p:nvSpPr>
            <p:cNvPr id="26639" name="AutoShape 15"/>
            <p:cNvSpPr>
              <a:spLocks noChangeArrowheads="1"/>
            </p:cNvSpPr>
            <p:nvPr/>
          </p:nvSpPr>
          <p:spPr bwMode="auto">
            <a:xfrm>
              <a:off x="1633" y="2662"/>
              <a:ext cx="2237" cy="281"/>
            </a:xfrm>
            <a:prstGeom prst="roundRect">
              <a:avLst>
                <a:gd name="adj" fmla="val 16667"/>
              </a:avLst>
            </a:prstGeom>
            <a:solidFill>
              <a:schemeClr val="accent1"/>
            </a:solidFill>
            <a:ln w="9525">
              <a:solidFill>
                <a:srgbClr val="000000"/>
              </a:solidFill>
              <a:round/>
              <a:headEnd/>
              <a:tailEnd/>
            </a:ln>
          </p:spPr>
          <p:txBody>
            <a:bodyPr tIns="0" bIns="0" anchor="ctr" anchorCtr="1"/>
            <a:lstStyle/>
            <a:p>
              <a:pPr algn="ctr" eaLnBrk="0" hangingPunct="0"/>
              <a:r>
                <a:rPr lang="zh-CN" altLang="en-US" sz="2200" b="1" baseline="0">
                  <a:solidFill>
                    <a:schemeClr val="bg1"/>
                  </a:solidFill>
                  <a:latin typeface="楷体_GB2312" pitchFamily="49" charset="-122"/>
                  <a:ea typeface="楷体_GB2312" pitchFamily="49" charset="-122"/>
                </a:rPr>
                <a:t>模式/内模式映象</a:t>
              </a:r>
            </a:p>
          </p:txBody>
        </p:sp>
        <p:sp>
          <p:nvSpPr>
            <p:cNvPr id="26640" name="AutoShape 16"/>
            <p:cNvSpPr>
              <a:spLocks noChangeArrowheads="1"/>
            </p:cNvSpPr>
            <p:nvPr/>
          </p:nvSpPr>
          <p:spPr bwMode="auto">
            <a:xfrm>
              <a:off x="2081" y="3150"/>
              <a:ext cx="1344" cy="254"/>
            </a:xfrm>
            <a:prstGeom prst="flowChartProcess">
              <a:avLst/>
            </a:prstGeom>
            <a:solidFill>
              <a:schemeClr val="hlink"/>
            </a:solidFill>
            <a:ln w="9525">
              <a:solidFill>
                <a:srgbClr val="000000"/>
              </a:solidFill>
              <a:miter lim="800000"/>
              <a:headEnd/>
              <a:tailEnd/>
            </a:ln>
          </p:spPr>
          <p:txBody>
            <a:bodyPr tIns="0" bIns="0" anchor="ctr" anchorCtr="1"/>
            <a:lstStyle/>
            <a:p>
              <a:pPr algn="ctr" eaLnBrk="0" hangingPunct="0"/>
              <a:r>
                <a:rPr lang="zh-CN" altLang="en-US" sz="2200" b="1" baseline="0">
                  <a:solidFill>
                    <a:schemeClr val="bg1"/>
                  </a:solidFill>
                  <a:latin typeface="楷体_GB2312" pitchFamily="49" charset="-122"/>
                  <a:ea typeface="楷体_GB2312" pitchFamily="49" charset="-122"/>
                </a:rPr>
                <a:t>内　模　式</a:t>
              </a:r>
            </a:p>
          </p:txBody>
        </p:sp>
        <p:sp>
          <p:nvSpPr>
            <p:cNvPr id="26641" name="AutoShape 17"/>
            <p:cNvSpPr>
              <a:spLocks noChangeArrowheads="1"/>
            </p:cNvSpPr>
            <p:nvPr/>
          </p:nvSpPr>
          <p:spPr bwMode="auto">
            <a:xfrm>
              <a:off x="1987" y="3565"/>
              <a:ext cx="1443" cy="401"/>
            </a:xfrm>
            <a:prstGeom prst="can">
              <a:avLst>
                <a:gd name="adj" fmla="val 50000"/>
              </a:avLst>
            </a:prstGeom>
            <a:solidFill>
              <a:srgbClr val="66FFCC"/>
            </a:solidFill>
            <a:ln w="9525">
              <a:solidFill>
                <a:srgbClr val="000000"/>
              </a:solidFill>
              <a:round/>
              <a:headEnd/>
              <a:tailEnd/>
            </a:ln>
          </p:spPr>
          <p:txBody>
            <a:bodyPr tIns="190800"/>
            <a:lstStyle/>
            <a:p>
              <a:pPr algn="ctr" eaLnBrk="0" hangingPunct="0"/>
              <a:endParaRPr lang="zh-CN" altLang="en-US" sz="2200" b="1" baseline="0">
                <a:latin typeface="楷体_GB2312" pitchFamily="49" charset="-122"/>
                <a:ea typeface="楷体_GB2312" pitchFamily="49" charset="-122"/>
              </a:endParaRPr>
            </a:p>
          </p:txBody>
        </p:sp>
        <p:sp>
          <p:nvSpPr>
            <p:cNvPr id="26642" name="Line 18"/>
            <p:cNvSpPr>
              <a:spLocks noChangeShapeType="1"/>
            </p:cNvSpPr>
            <p:nvPr/>
          </p:nvSpPr>
          <p:spPr bwMode="auto">
            <a:xfrm>
              <a:off x="1365" y="1198"/>
              <a:ext cx="137"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6643" name="Line 19"/>
            <p:cNvSpPr>
              <a:spLocks noChangeShapeType="1"/>
            </p:cNvSpPr>
            <p:nvPr/>
          </p:nvSpPr>
          <p:spPr bwMode="auto">
            <a:xfrm flipH="1">
              <a:off x="1773" y="1198"/>
              <a:ext cx="225"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6644" name="Line 20"/>
            <p:cNvSpPr>
              <a:spLocks noChangeShapeType="1"/>
            </p:cNvSpPr>
            <p:nvPr/>
          </p:nvSpPr>
          <p:spPr bwMode="auto">
            <a:xfrm flipH="1">
              <a:off x="2709" y="1198"/>
              <a:ext cx="175"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6645" name="Line 21"/>
            <p:cNvSpPr>
              <a:spLocks noChangeShapeType="1"/>
            </p:cNvSpPr>
            <p:nvPr/>
          </p:nvSpPr>
          <p:spPr bwMode="auto">
            <a:xfrm flipH="1">
              <a:off x="3836" y="1198"/>
              <a:ext cx="35"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6646" name="Line 22"/>
            <p:cNvSpPr>
              <a:spLocks noChangeShapeType="1"/>
            </p:cNvSpPr>
            <p:nvPr/>
          </p:nvSpPr>
          <p:spPr bwMode="auto">
            <a:xfrm>
              <a:off x="2709" y="2937"/>
              <a:ext cx="0" cy="209"/>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6647" name="Line 23"/>
            <p:cNvSpPr>
              <a:spLocks noChangeShapeType="1"/>
            </p:cNvSpPr>
            <p:nvPr/>
          </p:nvSpPr>
          <p:spPr bwMode="auto">
            <a:xfrm>
              <a:off x="2709" y="3422"/>
              <a:ext cx="0" cy="143"/>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6648" name="Line 24"/>
            <p:cNvSpPr>
              <a:spLocks noChangeShapeType="1"/>
            </p:cNvSpPr>
            <p:nvPr/>
          </p:nvSpPr>
          <p:spPr bwMode="auto">
            <a:xfrm>
              <a:off x="2709" y="2493"/>
              <a:ext cx="0" cy="165"/>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6649" name="Line 25"/>
            <p:cNvSpPr>
              <a:spLocks noChangeShapeType="1"/>
            </p:cNvSpPr>
            <p:nvPr/>
          </p:nvSpPr>
          <p:spPr bwMode="auto">
            <a:xfrm>
              <a:off x="2709" y="2030"/>
              <a:ext cx="0" cy="210"/>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6650" name="Line 26"/>
            <p:cNvSpPr>
              <a:spLocks noChangeShapeType="1"/>
            </p:cNvSpPr>
            <p:nvPr/>
          </p:nvSpPr>
          <p:spPr bwMode="auto">
            <a:xfrm>
              <a:off x="1787" y="1589"/>
              <a:ext cx="126" cy="176"/>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6651" name="Line 27"/>
            <p:cNvSpPr>
              <a:spLocks noChangeShapeType="1"/>
            </p:cNvSpPr>
            <p:nvPr/>
          </p:nvSpPr>
          <p:spPr bwMode="auto">
            <a:xfrm>
              <a:off x="2709" y="1585"/>
              <a:ext cx="0" cy="166"/>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6652" name="Line 28"/>
            <p:cNvSpPr>
              <a:spLocks noChangeShapeType="1"/>
            </p:cNvSpPr>
            <p:nvPr/>
          </p:nvSpPr>
          <p:spPr bwMode="auto">
            <a:xfrm flipV="1">
              <a:off x="3433" y="1576"/>
              <a:ext cx="101" cy="17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6653" name="Rectangle 29"/>
            <p:cNvSpPr>
              <a:spLocks noChangeArrowheads="1"/>
            </p:cNvSpPr>
            <p:nvPr/>
          </p:nvSpPr>
          <p:spPr bwMode="auto">
            <a:xfrm>
              <a:off x="2381" y="3612"/>
              <a:ext cx="621" cy="301"/>
            </a:xfrm>
            <a:prstGeom prst="rect">
              <a:avLst/>
            </a:prstGeom>
            <a:solidFill>
              <a:srgbClr val="66FFCC"/>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zh-CN" altLang="en-US" sz="2200" b="1" baseline="0">
                  <a:solidFill>
                    <a:schemeClr val="bg1"/>
                  </a:solidFill>
                  <a:latin typeface="楷体_GB2312" pitchFamily="49" charset="-122"/>
                  <a:ea typeface="楷体_GB2312" pitchFamily="49" charset="-122"/>
                </a:rPr>
                <a:t>数据库</a:t>
              </a:r>
            </a:p>
          </p:txBody>
        </p:sp>
        <p:sp>
          <p:nvSpPr>
            <p:cNvPr id="26654" name="Rectangle 30"/>
            <p:cNvSpPr>
              <a:spLocks noChangeArrowheads="1"/>
            </p:cNvSpPr>
            <p:nvPr/>
          </p:nvSpPr>
          <p:spPr bwMode="auto">
            <a:xfrm>
              <a:off x="930" y="3067"/>
              <a:ext cx="542"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en-US" altLang="zh-CN" sz="2800" b="1" baseline="0">
                  <a:solidFill>
                    <a:srgbClr val="FFFF00"/>
                  </a:solidFill>
                  <a:latin typeface="楷体_GB2312" pitchFamily="49" charset="-122"/>
                  <a:ea typeface="楷体_GB2312" pitchFamily="49" charset="-122"/>
                </a:rPr>
                <a:t>DBMS</a:t>
              </a:r>
            </a:p>
          </p:txBody>
        </p:sp>
      </p:grpSp>
    </p:spTree>
    <p:extLst>
      <p:ext uri="{BB962C8B-B14F-4D97-AF65-F5344CB8AC3E}">
        <p14:creationId xmlns:p14="http://schemas.microsoft.com/office/powerpoint/2010/main" val="1048687034"/>
      </p:ext>
    </p:extLst>
  </p:cSld>
  <p:clrMapOvr>
    <a:masterClrMapping/>
  </p:clrMapOvr>
  <mc:AlternateContent xmlns:mc="http://schemas.openxmlformats.org/markup-compatibility/2006" xmlns:p14="http://schemas.microsoft.com/office/powerpoint/2010/main">
    <mc:Choice Requires="p14">
      <p:transition spd="slow" p14:dur="1600">
        <p14:prism isInverted="1"/>
        <p:sndAc>
          <p:stSnd>
            <p:snd r:embed="rId2" name="camera.wav"/>
          </p:stSnd>
        </p:sndAc>
      </p:transition>
    </mc:Choice>
    <mc:Fallback xmlns="">
      <p:transition spd="slow">
        <p:fade/>
        <p:sndAc>
          <p:stSnd>
            <p:snd r:embed="rId3" name="camera.wav"/>
          </p:stSnd>
        </p:sndAc>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9" name="Rectangle 3"/>
          <p:cNvSpPr>
            <a:spLocks noGrp="1" noChangeArrowheads="1"/>
          </p:cNvSpPr>
          <p:nvPr>
            <p:ph type="title"/>
          </p:nvPr>
        </p:nvSpPr>
        <p:spPr>
          <a:xfrm>
            <a:off x="179388" y="-27384"/>
            <a:ext cx="3736133"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r>
              <a:rPr lang="zh-CN" altLang="en-US" sz="4000" b="1" kern="1200" dirty="0" smtClean="0">
                <a:solidFill>
                  <a:schemeClr val="folHlink"/>
                </a:solidFill>
                <a:effectLst>
                  <a:outerShdw blurRad="38100" dist="38100" dir="2700000" algn="tl">
                    <a:srgbClr val="000000"/>
                  </a:outerShdw>
                </a:effectLst>
                <a:cs typeface="+mn-cs"/>
              </a:rPr>
              <a:t>数据库系统结构</a:t>
            </a:r>
            <a:endParaRPr lang="zh-CN" altLang="en-US" sz="4000" b="1" kern="1200" dirty="0">
              <a:solidFill>
                <a:schemeClr val="folHlink"/>
              </a:solidFill>
              <a:effectLst>
                <a:outerShdw blurRad="38100" dist="38100" dir="2700000" algn="tl">
                  <a:srgbClr val="000000"/>
                </a:outerShdw>
              </a:effectLst>
              <a:cs typeface="+mn-cs"/>
            </a:endParaRPr>
          </a:p>
        </p:txBody>
      </p:sp>
      <p:grpSp>
        <p:nvGrpSpPr>
          <p:cNvPr id="30" name="Group 3"/>
          <p:cNvGrpSpPr>
            <a:grpSpLocks/>
          </p:cNvGrpSpPr>
          <p:nvPr/>
        </p:nvGrpSpPr>
        <p:grpSpPr bwMode="auto">
          <a:xfrm>
            <a:off x="468313" y="1471613"/>
            <a:ext cx="5892800" cy="4824412"/>
            <a:chOff x="295" y="927"/>
            <a:chExt cx="3712" cy="3039"/>
          </a:xfrm>
        </p:grpSpPr>
        <p:sp>
          <p:nvSpPr>
            <p:cNvPr id="31" name="Rectangle 4"/>
            <p:cNvSpPr>
              <a:spLocks noChangeArrowheads="1"/>
            </p:cNvSpPr>
            <p:nvPr/>
          </p:nvSpPr>
          <p:spPr bwMode="auto">
            <a:xfrm>
              <a:off x="295" y="1269"/>
              <a:ext cx="3712" cy="2206"/>
            </a:xfrm>
            <a:prstGeom prst="rect">
              <a:avLst/>
            </a:prstGeom>
            <a:noFill/>
            <a:ln w="12700">
              <a:solidFill>
                <a:schemeClr val="hlink"/>
              </a:solidFill>
              <a:prstDash val="dashDot"/>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p>
              <a:r>
                <a:rPr lang="zh-CN" altLang="en-US" sz="1800" baseline="0">
                  <a:latin typeface="Times New Roman" pitchFamily="18" charset="0"/>
                  <a:ea typeface="华文行楷" pitchFamily="2" charset="-122"/>
                </a:rPr>
                <a:t> </a:t>
              </a:r>
            </a:p>
          </p:txBody>
        </p:sp>
        <p:sp>
          <p:nvSpPr>
            <p:cNvPr id="32" name="Rectangle 5"/>
            <p:cNvSpPr>
              <a:spLocks noChangeArrowheads="1"/>
            </p:cNvSpPr>
            <p:nvPr/>
          </p:nvSpPr>
          <p:spPr bwMode="auto">
            <a:xfrm>
              <a:off x="515" y="927"/>
              <a:ext cx="577"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楷体_GB2312" pitchFamily="49" charset="-122"/>
                  <a:ea typeface="楷体_GB2312" pitchFamily="49" charset="-122"/>
                </a:rPr>
                <a:t>应用</a:t>
              </a:r>
              <a:r>
                <a:rPr lang="en-US" altLang="zh-CN" sz="2200" b="1" baseline="0">
                  <a:latin typeface="楷体_GB2312" pitchFamily="49" charset="-122"/>
                  <a:ea typeface="楷体_GB2312" pitchFamily="49" charset="-122"/>
                </a:rPr>
                <a:t>A</a:t>
              </a:r>
            </a:p>
          </p:txBody>
        </p:sp>
        <p:sp>
          <p:nvSpPr>
            <p:cNvPr id="33" name="Rectangle 6"/>
            <p:cNvSpPr>
              <a:spLocks noChangeArrowheads="1"/>
            </p:cNvSpPr>
            <p:nvPr/>
          </p:nvSpPr>
          <p:spPr bwMode="auto">
            <a:xfrm>
              <a:off x="1148" y="930"/>
              <a:ext cx="577"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楷体_GB2312" pitchFamily="49" charset="-122"/>
                  <a:ea typeface="楷体_GB2312" pitchFamily="49" charset="-122"/>
                </a:rPr>
                <a:t>应用</a:t>
              </a:r>
              <a:r>
                <a:rPr lang="en-US" altLang="zh-CN" sz="2200" b="1" baseline="0">
                  <a:latin typeface="楷体_GB2312" pitchFamily="49" charset="-122"/>
                  <a:ea typeface="楷体_GB2312" pitchFamily="49" charset="-122"/>
                </a:rPr>
                <a:t>B</a:t>
              </a:r>
            </a:p>
          </p:txBody>
        </p:sp>
        <p:sp>
          <p:nvSpPr>
            <p:cNvPr id="34" name="Rectangle 7"/>
            <p:cNvSpPr>
              <a:spLocks noChangeArrowheads="1"/>
            </p:cNvSpPr>
            <p:nvPr/>
          </p:nvSpPr>
          <p:spPr bwMode="auto">
            <a:xfrm>
              <a:off x="2877" y="927"/>
              <a:ext cx="813"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楷体_GB2312" pitchFamily="49" charset="-122"/>
                  <a:ea typeface="楷体_GB2312" pitchFamily="49" charset="-122"/>
                </a:rPr>
                <a:t>应用</a:t>
              </a:r>
              <a:r>
                <a:rPr lang="en-US" altLang="zh-CN" sz="2200" b="1" baseline="0">
                  <a:latin typeface="楷体_GB2312" pitchFamily="49" charset="-122"/>
                  <a:ea typeface="楷体_GB2312" pitchFamily="49" charset="-122"/>
                </a:rPr>
                <a:t>n</a:t>
              </a:r>
            </a:p>
          </p:txBody>
        </p:sp>
        <p:sp>
          <p:nvSpPr>
            <p:cNvPr id="35" name="Rectangle 8"/>
            <p:cNvSpPr>
              <a:spLocks noChangeArrowheads="1"/>
            </p:cNvSpPr>
            <p:nvPr/>
          </p:nvSpPr>
          <p:spPr bwMode="auto">
            <a:xfrm>
              <a:off x="1980" y="930"/>
              <a:ext cx="644"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Times New Roman" pitchFamily="18" charset="0"/>
                  <a:ea typeface="楷体_GB2312" pitchFamily="49" charset="-122"/>
                </a:rPr>
                <a:t>……</a:t>
              </a:r>
              <a:endParaRPr lang="zh-CN" altLang="en-US" sz="2200" b="1" baseline="0">
                <a:latin typeface="楷体_GB2312" pitchFamily="49" charset="-122"/>
                <a:ea typeface="楷体_GB2312" pitchFamily="49" charset="-122"/>
              </a:endParaRPr>
            </a:p>
          </p:txBody>
        </p:sp>
        <p:sp>
          <p:nvSpPr>
            <p:cNvPr id="36" name="Rectangle 9"/>
            <p:cNvSpPr>
              <a:spLocks noChangeArrowheads="1"/>
            </p:cNvSpPr>
            <p:nvPr/>
          </p:nvSpPr>
          <p:spPr bwMode="auto">
            <a:xfrm>
              <a:off x="514" y="1332"/>
              <a:ext cx="871" cy="260"/>
            </a:xfrm>
            <a:prstGeom prst="rect">
              <a:avLst/>
            </a:prstGeom>
            <a:solidFill>
              <a:schemeClr val="hlink"/>
            </a:solidFill>
            <a:ln w="9525">
              <a:solidFill>
                <a:srgbClr val="000000"/>
              </a:solidFill>
              <a:miter lim="800000"/>
              <a:headEnd/>
              <a:tailEnd/>
            </a:ln>
          </p:spPr>
          <p:txBody>
            <a:bodyPr/>
            <a:lstStyle/>
            <a:p>
              <a:pPr algn="ctr" eaLnBrk="0" hangingPunct="0"/>
              <a:r>
                <a:rPr lang="zh-CN" altLang="en-US" sz="2200" b="1" baseline="0">
                  <a:solidFill>
                    <a:schemeClr val="bg1"/>
                  </a:solidFill>
                  <a:latin typeface="楷体_GB2312" pitchFamily="49" charset="-122"/>
                  <a:ea typeface="楷体_GB2312" pitchFamily="49" charset="-122"/>
                </a:rPr>
                <a:t>外模式1</a:t>
              </a:r>
            </a:p>
          </p:txBody>
        </p:sp>
        <p:sp>
          <p:nvSpPr>
            <p:cNvPr id="37" name="Rectangle 10"/>
            <p:cNvSpPr>
              <a:spLocks noChangeArrowheads="1"/>
            </p:cNvSpPr>
            <p:nvPr/>
          </p:nvSpPr>
          <p:spPr bwMode="auto">
            <a:xfrm>
              <a:off x="1659" y="1332"/>
              <a:ext cx="903" cy="253"/>
            </a:xfrm>
            <a:prstGeom prst="rect">
              <a:avLst/>
            </a:prstGeom>
            <a:solidFill>
              <a:schemeClr val="hlink"/>
            </a:solidFill>
            <a:ln w="9525">
              <a:solidFill>
                <a:srgbClr val="000000"/>
              </a:solidFill>
              <a:miter lim="800000"/>
              <a:headEnd/>
              <a:tailEnd/>
            </a:ln>
          </p:spPr>
          <p:txBody>
            <a:bodyPr/>
            <a:lstStyle/>
            <a:p>
              <a:pPr algn="ctr" eaLnBrk="0" hangingPunct="0"/>
              <a:r>
                <a:rPr lang="zh-CN" altLang="en-US" sz="2200" b="1" baseline="0">
                  <a:solidFill>
                    <a:schemeClr val="bg1"/>
                  </a:solidFill>
                  <a:latin typeface="Times New Roman" pitchFamily="18" charset="0"/>
                  <a:ea typeface="楷体_GB2312" pitchFamily="49" charset="-122"/>
                </a:rPr>
                <a:t>……</a:t>
              </a:r>
              <a:endParaRPr lang="zh-CN" altLang="en-US" sz="2200" b="1" baseline="0">
                <a:solidFill>
                  <a:schemeClr val="bg1"/>
                </a:solidFill>
                <a:latin typeface="楷体_GB2312" pitchFamily="49" charset="-122"/>
                <a:ea typeface="楷体_GB2312" pitchFamily="49" charset="-122"/>
              </a:endParaRPr>
            </a:p>
          </p:txBody>
        </p:sp>
        <p:sp>
          <p:nvSpPr>
            <p:cNvPr id="38" name="Rectangle 11"/>
            <p:cNvSpPr>
              <a:spLocks noChangeArrowheads="1"/>
            </p:cNvSpPr>
            <p:nvPr/>
          </p:nvSpPr>
          <p:spPr bwMode="auto">
            <a:xfrm>
              <a:off x="2697" y="1332"/>
              <a:ext cx="1083" cy="253"/>
            </a:xfrm>
            <a:prstGeom prst="rect">
              <a:avLst/>
            </a:prstGeom>
            <a:solidFill>
              <a:schemeClr val="hlink"/>
            </a:solidFill>
            <a:ln w="9525">
              <a:solidFill>
                <a:srgbClr val="000000"/>
              </a:solidFill>
              <a:miter lim="800000"/>
              <a:headEnd/>
              <a:tailEnd/>
            </a:ln>
          </p:spPr>
          <p:txBody>
            <a:bodyPr/>
            <a:lstStyle/>
            <a:p>
              <a:pPr algn="ctr" eaLnBrk="0" hangingPunct="0"/>
              <a:r>
                <a:rPr lang="zh-CN" altLang="en-US" sz="2200" b="1" baseline="0">
                  <a:solidFill>
                    <a:schemeClr val="bg1"/>
                  </a:solidFill>
                  <a:latin typeface="楷体_GB2312" pitchFamily="49" charset="-122"/>
                  <a:ea typeface="楷体_GB2312" pitchFamily="49" charset="-122"/>
                </a:rPr>
                <a:t>外模式</a:t>
              </a:r>
              <a:r>
                <a:rPr lang="en-US" altLang="zh-CN" sz="2200" b="1" baseline="0">
                  <a:solidFill>
                    <a:schemeClr val="bg1"/>
                  </a:solidFill>
                  <a:latin typeface="楷体_GB2312" pitchFamily="49" charset="-122"/>
                  <a:ea typeface="楷体_GB2312" pitchFamily="49" charset="-122"/>
                </a:rPr>
                <a:t>m</a:t>
              </a:r>
            </a:p>
          </p:txBody>
        </p:sp>
        <p:sp>
          <p:nvSpPr>
            <p:cNvPr id="39" name="AutoShape 12"/>
            <p:cNvSpPr>
              <a:spLocks noChangeArrowheads="1"/>
            </p:cNvSpPr>
            <p:nvPr/>
          </p:nvSpPr>
          <p:spPr bwMode="auto">
            <a:xfrm>
              <a:off x="938" y="1751"/>
              <a:ext cx="2255" cy="279"/>
            </a:xfrm>
            <a:prstGeom prst="roundRect">
              <a:avLst>
                <a:gd name="adj" fmla="val 16667"/>
              </a:avLst>
            </a:prstGeom>
            <a:solidFill>
              <a:schemeClr val="accent1"/>
            </a:solidFill>
            <a:ln w="9525">
              <a:solidFill>
                <a:schemeClr val="tx1"/>
              </a:solidFill>
              <a:round/>
              <a:headEnd/>
              <a:tailEnd/>
            </a:ln>
          </p:spPr>
          <p:txBody>
            <a:bodyPr/>
            <a:lstStyle/>
            <a:p>
              <a:pPr algn="ctr" eaLnBrk="0" hangingPunct="0"/>
              <a:r>
                <a:rPr lang="zh-CN" altLang="en-US" sz="2200" b="1" baseline="0">
                  <a:solidFill>
                    <a:schemeClr val="bg1"/>
                  </a:solidFill>
                  <a:latin typeface="楷体_GB2312" pitchFamily="49" charset="-122"/>
                  <a:ea typeface="楷体_GB2312" pitchFamily="49" charset="-122"/>
                </a:rPr>
                <a:t>子模式/模式映象</a:t>
              </a:r>
            </a:p>
          </p:txBody>
        </p:sp>
        <p:sp>
          <p:nvSpPr>
            <p:cNvPr id="40" name="AutoShape 13"/>
            <p:cNvSpPr>
              <a:spLocks noChangeArrowheads="1"/>
            </p:cNvSpPr>
            <p:nvPr/>
          </p:nvSpPr>
          <p:spPr bwMode="auto">
            <a:xfrm>
              <a:off x="1484" y="2243"/>
              <a:ext cx="1344" cy="255"/>
            </a:xfrm>
            <a:prstGeom prst="flowChartProcess">
              <a:avLst/>
            </a:prstGeom>
            <a:solidFill>
              <a:schemeClr val="hlink"/>
            </a:solidFill>
            <a:ln w="9525">
              <a:solidFill>
                <a:srgbClr val="000000"/>
              </a:solidFill>
              <a:miter lim="800000"/>
              <a:headEnd/>
              <a:tailEnd/>
            </a:ln>
          </p:spPr>
          <p:txBody>
            <a:bodyPr tIns="0" bIns="0" anchor="ctr" anchorCtr="1"/>
            <a:lstStyle/>
            <a:p>
              <a:pPr algn="ctr" eaLnBrk="0" hangingPunct="0"/>
              <a:r>
                <a:rPr lang="zh-CN" altLang="en-US" sz="2200" b="1" baseline="0">
                  <a:solidFill>
                    <a:schemeClr val="bg1"/>
                  </a:solidFill>
                  <a:latin typeface="楷体_GB2312" pitchFamily="49" charset="-122"/>
                  <a:ea typeface="楷体_GB2312" pitchFamily="49" charset="-122"/>
                </a:rPr>
                <a:t>模　式</a:t>
              </a:r>
            </a:p>
          </p:txBody>
        </p:sp>
        <p:sp>
          <p:nvSpPr>
            <p:cNvPr id="41" name="AutoShape 14"/>
            <p:cNvSpPr>
              <a:spLocks noChangeArrowheads="1"/>
            </p:cNvSpPr>
            <p:nvPr/>
          </p:nvSpPr>
          <p:spPr bwMode="auto">
            <a:xfrm>
              <a:off x="1036" y="2662"/>
              <a:ext cx="2237" cy="281"/>
            </a:xfrm>
            <a:prstGeom prst="roundRect">
              <a:avLst>
                <a:gd name="adj" fmla="val 16667"/>
              </a:avLst>
            </a:prstGeom>
            <a:solidFill>
              <a:schemeClr val="accent1"/>
            </a:solidFill>
            <a:ln w="9525">
              <a:solidFill>
                <a:srgbClr val="000000"/>
              </a:solidFill>
              <a:round/>
              <a:headEnd/>
              <a:tailEnd/>
            </a:ln>
          </p:spPr>
          <p:txBody>
            <a:bodyPr tIns="0" bIns="0" anchor="ctr" anchorCtr="1"/>
            <a:lstStyle/>
            <a:p>
              <a:pPr algn="ctr" eaLnBrk="0" hangingPunct="0"/>
              <a:r>
                <a:rPr lang="zh-CN" altLang="en-US" sz="2200" b="1" baseline="0">
                  <a:solidFill>
                    <a:schemeClr val="bg1"/>
                  </a:solidFill>
                  <a:latin typeface="楷体_GB2312" pitchFamily="49" charset="-122"/>
                  <a:ea typeface="楷体_GB2312" pitchFamily="49" charset="-122"/>
                </a:rPr>
                <a:t>模式/内模式映象</a:t>
              </a:r>
            </a:p>
          </p:txBody>
        </p:sp>
        <p:sp>
          <p:nvSpPr>
            <p:cNvPr id="42" name="AutoShape 15"/>
            <p:cNvSpPr>
              <a:spLocks noChangeArrowheads="1"/>
            </p:cNvSpPr>
            <p:nvPr/>
          </p:nvSpPr>
          <p:spPr bwMode="auto">
            <a:xfrm>
              <a:off x="1484" y="3150"/>
              <a:ext cx="1344" cy="254"/>
            </a:xfrm>
            <a:prstGeom prst="flowChartProcess">
              <a:avLst/>
            </a:prstGeom>
            <a:solidFill>
              <a:schemeClr val="hlink"/>
            </a:solidFill>
            <a:ln w="9525">
              <a:solidFill>
                <a:srgbClr val="000000"/>
              </a:solidFill>
              <a:miter lim="800000"/>
              <a:headEnd/>
              <a:tailEnd/>
            </a:ln>
          </p:spPr>
          <p:txBody>
            <a:bodyPr tIns="0" bIns="0" anchor="ctr" anchorCtr="1"/>
            <a:lstStyle/>
            <a:p>
              <a:pPr algn="ctr" eaLnBrk="0" hangingPunct="0"/>
              <a:r>
                <a:rPr lang="zh-CN" altLang="en-US" sz="2200" b="1" baseline="0">
                  <a:solidFill>
                    <a:schemeClr val="bg1"/>
                  </a:solidFill>
                  <a:latin typeface="楷体_GB2312" pitchFamily="49" charset="-122"/>
                  <a:ea typeface="楷体_GB2312" pitchFamily="49" charset="-122"/>
                </a:rPr>
                <a:t>内　模　式</a:t>
              </a:r>
            </a:p>
          </p:txBody>
        </p:sp>
        <p:sp>
          <p:nvSpPr>
            <p:cNvPr id="43" name="AutoShape 16"/>
            <p:cNvSpPr>
              <a:spLocks noChangeArrowheads="1"/>
            </p:cNvSpPr>
            <p:nvPr/>
          </p:nvSpPr>
          <p:spPr bwMode="auto">
            <a:xfrm>
              <a:off x="1390" y="3565"/>
              <a:ext cx="1443" cy="401"/>
            </a:xfrm>
            <a:prstGeom prst="can">
              <a:avLst>
                <a:gd name="adj" fmla="val 50000"/>
              </a:avLst>
            </a:prstGeom>
            <a:solidFill>
              <a:srgbClr val="66FFCC"/>
            </a:solidFill>
            <a:ln w="9525">
              <a:solidFill>
                <a:srgbClr val="000000"/>
              </a:solidFill>
              <a:round/>
              <a:headEnd/>
              <a:tailEnd/>
            </a:ln>
          </p:spPr>
          <p:txBody>
            <a:bodyPr tIns="190800"/>
            <a:lstStyle/>
            <a:p>
              <a:pPr algn="ctr" eaLnBrk="0" hangingPunct="0"/>
              <a:endParaRPr lang="zh-CN" altLang="en-US" sz="2200" b="1" baseline="0">
                <a:latin typeface="楷体_GB2312" pitchFamily="49" charset="-122"/>
                <a:ea typeface="楷体_GB2312" pitchFamily="49" charset="-122"/>
              </a:endParaRPr>
            </a:p>
          </p:txBody>
        </p:sp>
        <p:sp>
          <p:nvSpPr>
            <p:cNvPr id="44" name="Line 17"/>
            <p:cNvSpPr>
              <a:spLocks noChangeShapeType="1"/>
            </p:cNvSpPr>
            <p:nvPr/>
          </p:nvSpPr>
          <p:spPr bwMode="auto">
            <a:xfrm>
              <a:off x="768" y="1198"/>
              <a:ext cx="137"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5" name="Line 18"/>
            <p:cNvSpPr>
              <a:spLocks noChangeShapeType="1"/>
            </p:cNvSpPr>
            <p:nvPr/>
          </p:nvSpPr>
          <p:spPr bwMode="auto">
            <a:xfrm flipH="1">
              <a:off x="1176" y="1198"/>
              <a:ext cx="225"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6" name="Line 19"/>
            <p:cNvSpPr>
              <a:spLocks noChangeShapeType="1"/>
            </p:cNvSpPr>
            <p:nvPr/>
          </p:nvSpPr>
          <p:spPr bwMode="auto">
            <a:xfrm flipH="1">
              <a:off x="2112" y="1198"/>
              <a:ext cx="175"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7" name="Line 20"/>
            <p:cNvSpPr>
              <a:spLocks noChangeShapeType="1"/>
            </p:cNvSpPr>
            <p:nvPr/>
          </p:nvSpPr>
          <p:spPr bwMode="auto">
            <a:xfrm flipH="1">
              <a:off x="3239" y="1198"/>
              <a:ext cx="35"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8" name="Line 21"/>
            <p:cNvSpPr>
              <a:spLocks noChangeShapeType="1"/>
            </p:cNvSpPr>
            <p:nvPr/>
          </p:nvSpPr>
          <p:spPr bwMode="auto">
            <a:xfrm>
              <a:off x="2112" y="2937"/>
              <a:ext cx="0" cy="209"/>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9" name="Line 22"/>
            <p:cNvSpPr>
              <a:spLocks noChangeShapeType="1"/>
            </p:cNvSpPr>
            <p:nvPr/>
          </p:nvSpPr>
          <p:spPr bwMode="auto">
            <a:xfrm>
              <a:off x="2112" y="3422"/>
              <a:ext cx="0" cy="143"/>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0" name="Line 23"/>
            <p:cNvSpPr>
              <a:spLocks noChangeShapeType="1"/>
            </p:cNvSpPr>
            <p:nvPr/>
          </p:nvSpPr>
          <p:spPr bwMode="auto">
            <a:xfrm>
              <a:off x="2112" y="2493"/>
              <a:ext cx="0" cy="165"/>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1" name="Line 24"/>
            <p:cNvSpPr>
              <a:spLocks noChangeShapeType="1"/>
            </p:cNvSpPr>
            <p:nvPr/>
          </p:nvSpPr>
          <p:spPr bwMode="auto">
            <a:xfrm>
              <a:off x="2112" y="2030"/>
              <a:ext cx="0" cy="210"/>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2" name="Line 25"/>
            <p:cNvSpPr>
              <a:spLocks noChangeShapeType="1"/>
            </p:cNvSpPr>
            <p:nvPr/>
          </p:nvSpPr>
          <p:spPr bwMode="auto">
            <a:xfrm>
              <a:off x="1190" y="1589"/>
              <a:ext cx="126" cy="176"/>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3" name="Line 26"/>
            <p:cNvSpPr>
              <a:spLocks noChangeShapeType="1"/>
            </p:cNvSpPr>
            <p:nvPr/>
          </p:nvSpPr>
          <p:spPr bwMode="auto">
            <a:xfrm>
              <a:off x="2112" y="1585"/>
              <a:ext cx="0" cy="166"/>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4" name="Line 27"/>
            <p:cNvSpPr>
              <a:spLocks noChangeShapeType="1"/>
            </p:cNvSpPr>
            <p:nvPr/>
          </p:nvSpPr>
          <p:spPr bwMode="auto">
            <a:xfrm flipV="1">
              <a:off x="2836" y="1576"/>
              <a:ext cx="101" cy="17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5" name="Rectangle 28"/>
            <p:cNvSpPr>
              <a:spLocks noChangeArrowheads="1"/>
            </p:cNvSpPr>
            <p:nvPr/>
          </p:nvSpPr>
          <p:spPr bwMode="auto">
            <a:xfrm>
              <a:off x="1784" y="3612"/>
              <a:ext cx="621" cy="301"/>
            </a:xfrm>
            <a:prstGeom prst="rect">
              <a:avLst/>
            </a:prstGeom>
            <a:solidFill>
              <a:srgbClr val="66FFCC"/>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zh-CN" altLang="en-US" sz="2200" b="1" baseline="0">
                  <a:solidFill>
                    <a:schemeClr val="bg1"/>
                  </a:solidFill>
                  <a:latin typeface="楷体_GB2312" pitchFamily="49" charset="-122"/>
                  <a:ea typeface="楷体_GB2312" pitchFamily="49" charset="-122"/>
                </a:rPr>
                <a:t>数据库</a:t>
              </a:r>
            </a:p>
          </p:txBody>
        </p:sp>
        <p:sp>
          <p:nvSpPr>
            <p:cNvPr id="56" name="Rectangle 29"/>
            <p:cNvSpPr>
              <a:spLocks noChangeArrowheads="1"/>
            </p:cNvSpPr>
            <p:nvPr/>
          </p:nvSpPr>
          <p:spPr bwMode="auto">
            <a:xfrm>
              <a:off x="333" y="3067"/>
              <a:ext cx="542"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en-US" altLang="zh-CN" sz="2800" b="1" baseline="0">
                  <a:solidFill>
                    <a:srgbClr val="FFFF00"/>
                  </a:solidFill>
                  <a:latin typeface="楷体_GB2312" pitchFamily="49" charset="-122"/>
                  <a:ea typeface="楷体_GB2312" pitchFamily="49" charset="-122"/>
                </a:rPr>
                <a:t>DBMS</a:t>
              </a:r>
            </a:p>
          </p:txBody>
        </p:sp>
      </p:grpSp>
      <p:sp>
        <p:nvSpPr>
          <p:cNvPr id="57" name="AutoShape 30"/>
          <p:cNvSpPr>
            <a:spLocks noChangeArrowheads="1"/>
          </p:cNvSpPr>
          <p:nvPr/>
        </p:nvSpPr>
        <p:spPr bwMode="auto">
          <a:xfrm>
            <a:off x="5068889" y="2462846"/>
            <a:ext cx="3556181" cy="3753644"/>
          </a:xfrm>
          <a:prstGeom prst="wedgeRoundRectCallout">
            <a:avLst>
              <a:gd name="adj1" fmla="val -70707"/>
              <a:gd name="adj2" fmla="val -17213"/>
              <a:gd name="adj3" fmla="val 16667"/>
            </a:avLst>
          </a:prstGeom>
          <a:solidFill>
            <a:schemeClr val="accent5">
              <a:lumMod val="20000"/>
              <a:lumOff val="80000"/>
            </a:schemeClr>
          </a:solidFill>
          <a:ln>
            <a:solidFill>
              <a:srgbClr val="FF6600"/>
            </a:solidFill>
            <a:headEnd type="none" w="med" len="med"/>
            <a:tailEnd type="none" w="med" len="med"/>
          </a:ln>
          <a:effectLst>
            <a:glow rad="101600">
              <a:srgbClr val="FFC000">
                <a:alpha val="60000"/>
              </a:srgb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spcAft>
                <a:spcPct val="50000"/>
              </a:spcAft>
            </a:pPr>
            <a:r>
              <a:rPr lang="zh-CN" altLang="zh-CN" sz="2600" baseline="0" dirty="0"/>
              <a:t>又称逻辑模式或结构模式</a:t>
            </a:r>
            <a:r>
              <a:rPr lang="zh-CN" altLang="zh-CN" sz="2600" baseline="0" dirty="0" smtClean="0"/>
              <a:t>，是</a:t>
            </a:r>
            <a:r>
              <a:rPr lang="zh-CN" altLang="zh-CN" sz="2600" baseline="0" dirty="0"/>
              <a:t>所有用户的公共逻辑数据视图</a:t>
            </a:r>
            <a:r>
              <a:rPr lang="zh-CN" altLang="en-US" sz="2600" baseline="0" dirty="0"/>
              <a:t>，</a:t>
            </a:r>
            <a:r>
              <a:rPr lang="zh-CN" altLang="zh-CN" sz="2600" baseline="0" dirty="0"/>
              <a:t>是</a:t>
            </a:r>
            <a:r>
              <a:rPr lang="zh-CN" altLang="en-US" sz="2600" baseline="0" dirty="0"/>
              <a:t>对</a:t>
            </a:r>
            <a:r>
              <a:rPr lang="zh-CN" altLang="zh-CN" sz="2600" baseline="0" dirty="0"/>
              <a:t>数据库中全体数据的逻辑结构以及完整性、安全性的描述</a:t>
            </a:r>
            <a:r>
              <a:rPr lang="zh-CN" altLang="en-US" sz="2600" baseline="0" dirty="0" smtClean="0"/>
              <a:t>。</a:t>
            </a:r>
            <a:endParaRPr lang="en-US" altLang="zh-CN" sz="2600" baseline="0" dirty="0" smtClean="0"/>
          </a:p>
          <a:p>
            <a:pPr>
              <a:spcAft>
                <a:spcPct val="50000"/>
              </a:spcAft>
            </a:pPr>
            <a:r>
              <a:rPr lang="zh-CN" altLang="en-US" sz="2600" baseline="0" dirty="0" smtClean="0"/>
              <a:t>一</a:t>
            </a:r>
            <a:r>
              <a:rPr lang="zh-CN" altLang="en-US" sz="2600" baseline="0" dirty="0"/>
              <a:t>个数据库只有一个模式。</a:t>
            </a:r>
            <a:endParaRPr lang="en-US" altLang="zh-CN" sz="2600" baseline="0" dirty="0"/>
          </a:p>
        </p:txBody>
      </p:sp>
    </p:spTree>
    <p:extLst>
      <p:ext uri="{BB962C8B-B14F-4D97-AF65-F5344CB8AC3E}">
        <p14:creationId xmlns:p14="http://schemas.microsoft.com/office/powerpoint/2010/main" val="4280380140"/>
      </p:ext>
    </p:extLst>
  </p:cSld>
  <p:clrMapOvr>
    <a:masterClrMapping/>
  </p:clrMapOvr>
  <p:transition spd="slow">
    <p:wipe/>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childTnLst>
                                </p:cTn>
                              </p:par>
                            </p:childTnLst>
                          </p:cTn>
                        </p:par>
                        <p:par>
                          <p:cTn id="8" fill="hold">
                            <p:stCondLst>
                              <p:cond delay="1000"/>
                            </p:stCondLst>
                            <p:childTnLst>
                              <p:par>
                                <p:cTn id="9" presetID="40" presetClass="entr" presetSubtype="0" fill="hold" grpId="0"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fade">
                                      <p:cBhvr>
                                        <p:cTn id="11" dur="1000"/>
                                        <p:tgtEl>
                                          <p:spTgt spid="57"/>
                                        </p:tgtEl>
                                      </p:cBhvr>
                                    </p:animEffect>
                                    <p:anim calcmode="lin" valueType="num">
                                      <p:cBhvr>
                                        <p:cTn id="12" dur="1000" fill="hold"/>
                                        <p:tgtEl>
                                          <p:spTgt spid="57"/>
                                        </p:tgtEl>
                                        <p:attrNameLst>
                                          <p:attrName>ppt_x</p:attrName>
                                        </p:attrNameLst>
                                      </p:cBhvr>
                                      <p:tavLst>
                                        <p:tav tm="0">
                                          <p:val>
                                            <p:strVal val="#ppt_x-.1"/>
                                          </p:val>
                                        </p:tav>
                                        <p:tav tm="100000">
                                          <p:val>
                                            <p:strVal val="#ppt_x"/>
                                          </p:val>
                                        </p:tav>
                                      </p:tavLst>
                                    </p:anim>
                                    <p:anim calcmode="lin" valueType="num">
                                      <p:cBhvr>
                                        <p:cTn id="13" dur="10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9" name="Rectangle 3"/>
          <p:cNvSpPr>
            <a:spLocks noGrp="1" noChangeArrowheads="1"/>
          </p:cNvSpPr>
          <p:nvPr>
            <p:ph type="title"/>
          </p:nvPr>
        </p:nvSpPr>
        <p:spPr>
          <a:xfrm>
            <a:off x="179388" y="-27384"/>
            <a:ext cx="3736133"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r>
              <a:rPr lang="zh-CN" altLang="en-US" sz="4000" b="1" kern="1200" dirty="0" smtClean="0">
                <a:solidFill>
                  <a:schemeClr val="folHlink"/>
                </a:solidFill>
                <a:effectLst>
                  <a:outerShdw blurRad="38100" dist="38100" dir="2700000" algn="tl">
                    <a:srgbClr val="000000"/>
                  </a:outerShdw>
                </a:effectLst>
                <a:cs typeface="+mn-cs"/>
              </a:rPr>
              <a:t>数据库系统结构</a:t>
            </a:r>
            <a:endParaRPr lang="zh-CN" altLang="en-US" sz="4000" b="1" kern="1200" dirty="0">
              <a:solidFill>
                <a:schemeClr val="folHlink"/>
              </a:solidFill>
              <a:effectLst>
                <a:outerShdw blurRad="38100" dist="38100" dir="2700000" algn="tl">
                  <a:srgbClr val="000000"/>
                </a:outerShdw>
              </a:effectLst>
              <a:cs typeface="+mn-cs"/>
            </a:endParaRPr>
          </a:p>
        </p:txBody>
      </p:sp>
      <p:grpSp>
        <p:nvGrpSpPr>
          <p:cNvPr id="30" name="Group 3"/>
          <p:cNvGrpSpPr>
            <a:grpSpLocks/>
          </p:cNvGrpSpPr>
          <p:nvPr/>
        </p:nvGrpSpPr>
        <p:grpSpPr bwMode="auto">
          <a:xfrm>
            <a:off x="468313" y="1471613"/>
            <a:ext cx="5892800" cy="4824412"/>
            <a:chOff x="295" y="927"/>
            <a:chExt cx="3712" cy="3039"/>
          </a:xfrm>
        </p:grpSpPr>
        <p:sp>
          <p:nvSpPr>
            <p:cNvPr id="31" name="Rectangle 4"/>
            <p:cNvSpPr>
              <a:spLocks noChangeArrowheads="1"/>
            </p:cNvSpPr>
            <p:nvPr/>
          </p:nvSpPr>
          <p:spPr bwMode="auto">
            <a:xfrm>
              <a:off x="295" y="1269"/>
              <a:ext cx="3712" cy="2206"/>
            </a:xfrm>
            <a:prstGeom prst="rect">
              <a:avLst/>
            </a:prstGeom>
            <a:noFill/>
            <a:ln w="12700">
              <a:solidFill>
                <a:schemeClr val="hlink"/>
              </a:solidFill>
              <a:prstDash val="dashDot"/>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p>
              <a:r>
                <a:rPr lang="zh-CN" altLang="en-US" sz="1800" baseline="0">
                  <a:latin typeface="Times New Roman" pitchFamily="18" charset="0"/>
                  <a:ea typeface="华文行楷" pitchFamily="2" charset="-122"/>
                </a:rPr>
                <a:t> </a:t>
              </a:r>
            </a:p>
          </p:txBody>
        </p:sp>
        <p:sp>
          <p:nvSpPr>
            <p:cNvPr id="32" name="Rectangle 5"/>
            <p:cNvSpPr>
              <a:spLocks noChangeArrowheads="1"/>
            </p:cNvSpPr>
            <p:nvPr/>
          </p:nvSpPr>
          <p:spPr bwMode="auto">
            <a:xfrm>
              <a:off x="515" y="927"/>
              <a:ext cx="577"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楷体_GB2312" pitchFamily="49" charset="-122"/>
                  <a:ea typeface="楷体_GB2312" pitchFamily="49" charset="-122"/>
                </a:rPr>
                <a:t>应用</a:t>
              </a:r>
              <a:r>
                <a:rPr lang="en-US" altLang="zh-CN" sz="2200" b="1" baseline="0">
                  <a:latin typeface="楷体_GB2312" pitchFamily="49" charset="-122"/>
                  <a:ea typeface="楷体_GB2312" pitchFamily="49" charset="-122"/>
                </a:rPr>
                <a:t>A</a:t>
              </a:r>
            </a:p>
          </p:txBody>
        </p:sp>
        <p:sp>
          <p:nvSpPr>
            <p:cNvPr id="33" name="Rectangle 6"/>
            <p:cNvSpPr>
              <a:spLocks noChangeArrowheads="1"/>
            </p:cNvSpPr>
            <p:nvPr/>
          </p:nvSpPr>
          <p:spPr bwMode="auto">
            <a:xfrm>
              <a:off x="1148" y="930"/>
              <a:ext cx="577"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楷体_GB2312" pitchFamily="49" charset="-122"/>
                  <a:ea typeface="楷体_GB2312" pitchFamily="49" charset="-122"/>
                </a:rPr>
                <a:t>应用</a:t>
              </a:r>
              <a:r>
                <a:rPr lang="en-US" altLang="zh-CN" sz="2200" b="1" baseline="0">
                  <a:latin typeface="楷体_GB2312" pitchFamily="49" charset="-122"/>
                  <a:ea typeface="楷体_GB2312" pitchFamily="49" charset="-122"/>
                </a:rPr>
                <a:t>B</a:t>
              </a:r>
            </a:p>
          </p:txBody>
        </p:sp>
        <p:sp>
          <p:nvSpPr>
            <p:cNvPr id="34" name="Rectangle 7"/>
            <p:cNvSpPr>
              <a:spLocks noChangeArrowheads="1"/>
            </p:cNvSpPr>
            <p:nvPr/>
          </p:nvSpPr>
          <p:spPr bwMode="auto">
            <a:xfrm>
              <a:off x="2877" y="927"/>
              <a:ext cx="813"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楷体_GB2312" pitchFamily="49" charset="-122"/>
                  <a:ea typeface="楷体_GB2312" pitchFamily="49" charset="-122"/>
                </a:rPr>
                <a:t>应用</a:t>
              </a:r>
              <a:r>
                <a:rPr lang="en-US" altLang="zh-CN" sz="2200" b="1" baseline="0">
                  <a:latin typeface="楷体_GB2312" pitchFamily="49" charset="-122"/>
                  <a:ea typeface="楷体_GB2312" pitchFamily="49" charset="-122"/>
                </a:rPr>
                <a:t>n</a:t>
              </a:r>
            </a:p>
          </p:txBody>
        </p:sp>
        <p:sp>
          <p:nvSpPr>
            <p:cNvPr id="35" name="Rectangle 8"/>
            <p:cNvSpPr>
              <a:spLocks noChangeArrowheads="1"/>
            </p:cNvSpPr>
            <p:nvPr/>
          </p:nvSpPr>
          <p:spPr bwMode="auto">
            <a:xfrm>
              <a:off x="1980" y="930"/>
              <a:ext cx="644"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Times New Roman" pitchFamily="18" charset="0"/>
                  <a:ea typeface="楷体_GB2312" pitchFamily="49" charset="-122"/>
                </a:rPr>
                <a:t>……</a:t>
              </a:r>
              <a:endParaRPr lang="zh-CN" altLang="en-US" sz="2200" b="1" baseline="0">
                <a:latin typeface="楷体_GB2312" pitchFamily="49" charset="-122"/>
                <a:ea typeface="楷体_GB2312" pitchFamily="49" charset="-122"/>
              </a:endParaRPr>
            </a:p>
          </p:txBody>
        </p:sp>
        <p:sp>
          <p:nvSpPr>
            <p:cNvPr id="36" name="Rectangle 9"/>
            <p:cNvSpPr>
              <a:spLocks noChangeArrowheads="1"/>
            </p:cNvSpPr>
            <p:nvPr/>
          </p:nvSpPr>
          <p:spPr bwMode="auto">
            <a:xfrm>
              <a:off x="514" y="1332"/>
              <a:ext cx="871" cy="260"/>
            </a:xfrm>
            <a:prstGeom prst="rect">
              <a:avLst/>
            </a:prstGeom>
            <a:solidFill>
              <a:schemeClr val="hlink"/>
            </a:solidFill>
            <a:ln w="9525">
              <a:solidFill>
                <a:srgbClr val="000000"/>
              </a:solidFill>
              <a:miter lim="800000"/>
              <a:headEnd/>
              <a:tailEnd/>
            </a:ln>
          </p:spPr>
          <p:txBody>
            <a:bodyPr/>
            <a:lstStyle/>
            <a:p>
              <a:pPr algn="ctr" eaLnBrk="0" hangingPunct="0"/>
              <a:r>
                <a:rPr lang="zh-CN" altLang="en-US" sz="2200" b="1" baseline="0">
                  <a:solidFill>
                    <a:schemeClr val="bg1"/>
                  </a:solidFill>
                  <a:latin typeface="楷体_GB2312" pitchFamily="49" charset="-122"/>
                  <a:ea typeface="楷体_GB2312" pitchFamily="49" charset="-122"/>
                </a:rPr>
                <a:t>外模式1</a:t>
              </a:r>
            </a:p>
          </p:txBody>
        </p:sp>
        <p:sp>
          <p:nvSpPr>
            <p:cNvPr id="37" name="Rectangle 10"/>
            <p:cNvSpPr>
              <a:spLocks noChangeArrowheads="1"/>
            </p:cNvSpPr>
            <p:nvPr/>
          </p:nvSpPr>
          <p:spPr bwMode="auto">
            <a:xfrm>
              <a:off x="1659" y="1332"/>
              <a:ext cx="903" cy="253"/>
            </a:xfrm>
            <a:prstGeom prst="rect">
              <a:avLst/>
            </a:prstGeom>
            <a:solidFill>
              <a:schemeClr val="hlink"/>
            </a:solidFill>
            <a:ln w="9525">
              <a:solidFill>
                <a:srgbClr val="000000"/>
              </a:solidFill>
              <a:miter lim="800000"/>
              <a:headEnd/>
              <a:tailEnd/>
            </a:ln>
          </p:spPr>
          <p:txBody>
            <a:bodyPr/>
            <a:lstStyle/>
            <a:p>
              <a:pPr algn="ctr" eaLnBrk="0" hangingPunct="0"/>
              <a:r>
                <a:rPr lang="zh-CN" altLang="en-US" sz="2200" b="1" baseline="0">
                  <a:solidFill>
                    <a:schemeClr val="bg1"/>
                  </a:solidFill>
                  <a:latin typeface="Times New Roman" pitchFamily="18" charset="0"/>
                  <a:ea typeface="楷体_GB2312" pitchFamily="49" charset="-122"/>
                </a:rPr>
                <a:t>……</a:t>
              </a:r>
              <a:endParaRPr lang="zh-CN" altLang="en-US" sz="2200" b="1" baseline="0">
                <a:solidFill>
                  <a:schemeClr val="bg1"/>
                </a:solidFill>
                <a:latin typeface="楷体_GB2312" pitchFamily="49" charset="-122"/>
                <a:ea typeface="楷体_GB2312" pitchFamily="49" charset="-122"/>
              </a:endParaRPr>
            </a:p>
          </p:txBody>
        </p:sp>
        <p:sp>
          <p:nvSpPr>
            <p:cNvPr id="38" name="Rectangle 11"/>
            <p:cNvSpPr>
              <a:spLocks noChangeArrowheads="1"/>
            </p:cNvSpPr>
            <p:nvPr/>
          </p:nvSpPr>
          <p:spPr bwMode="auto">
            <a:xfrm>
              <a:off x="2697" y="1332"/>
              <a:ext cx="1083" cy="253"/>
            </a:xfrm>
            <a:prstGeom prst="rect">
              <a:avLst/>
            </a:prstGeom>
            <a:solidFill>
              <a:schemeClr val="hlink"/>
            </a:solidFill>
            <a:ln w="9525">
              <a:solidFill>
                <a:srgbClr val="000000"/>
              </a:solidFill>
              <a:miter lim="800000"/>
              <a:headEnd/>
              <a:tailEnd/>
            </a:ln>
          </p:spPr>
          <p:txBody>
            <a:bodyPr/>
            <a:lstStyle/>
            <a:p>
              <a:pPr algn="ctr" eaLnBrk="0" hangingPunct="0"/>
              <a:r>
                <a:rPr lang="zh-CN" altLang="en-US" sz="2200" b="1" baseline="0">
                  <a:solidFill>
                    <a:schemeClr val="bg1"/>
                  </a:solidFill>
                  <a:latin typeface="楷体_GB2312" pitchFamily="49" charset="-122"/>
                  <a:ea typeface="楷体_GB2312" pitchFamily="49" charset="-122"/>
                </a:rPr>
                <a:t>外模式</a:t>
              </a:r>
              <a:r>
                <a:rPr lang="en-US" altLang="zh-CN" sz="2200" b="1" baseline="0">
                  <a:solidFill>
                    <a:schemeClr val="bg1"/>
                  </a:solidFill>
                  <a:latin typeface="楷体_GB2312" pitchFamily="49" charset="-122"/>
                  <a:ea typeface="楷体_GB2312" pitchFamily="49" charset="-122"/>
                </a:rPr>
                <a:t>m</a:t>
              </a:r>
            </a:p>
          </p:txBody>
        </p:sp>
        <p:sp>
          <p:nvSpPr>
            <p:cNvPr id="39" name="AutoShape 12"/>
            <p:cNvSpPr>
              <a:spLocks noChangeArrowheads="1"/>
            </p:cNvSpPr>
            <p:nvPr/>
          </p:nvSpPr>
          <p:spPr bwMode="auto">
            <a:xfrm>
              <a:off x="938" y="1751"/>
              <a:ext cx="2255" cy="279"/>
            </a:xfrm>
            <a:prstGeom prst="roundRect">
              <a:avLst>
                <a:gd name="adj" fmla="val 16667"/>
              </a:avLst>
            </a:prstGeom>
            <a:solidFill>
              <a:schemeClr val="accent1"/>
            </a:solidFill>
            <a:ln w="9525">
              <a:solidFill>
                <a:schemeClr val="tx1"/>
              </a:solidFill>
              <a:round/>
              <a:headEnd/>
              <a:tailEnd/>
            </a:ln>
          </p:spPr>
          <p:txBody>
            <a:bodyPr/>
            <a:lstStyle/>
            <a:p>
              <a:pPr algn="ctr" eaLnBrk="0" hangingPunct="0"/>
              <a:r>
                <a:rPr lang="zh-CN" altLang="en-US" sz="2200" b="1" baseline="0">
                  <a:solidFill>
                    <a:schemeClr val="bg1"/>
                  </a:solidFill>
                  <a:latin typeface="楷体_GB2312" pitchFamily="49" charset="-122"/>
                  <a:ea typeface="楷体_GB2312" pitchFamily="49" charset="-122"/>
                </a:rPr>
                <a:t>子模式/模式映象</a:t>
              </a:r>
            </a:p>
          </p:txBody>
        </p:sp>
        <p:sp>
          <p:nvSpPr>
            <p:cNvPr id="40" name="AutoShape 13"/>
            <p:cNvSpPr>
              <a:spLocks noChangeArrowheads="1"/>
            </p:cNvSpPr>
            <p:nvPr/>
          </p:nvSpPr>
          <p:spPr bwMode="auto">
            <a:xfrm>
              <a:off x="1484" y="2243"/>
              <a:ext cx="1344" cy="255"/>
            </a:xfrm>
            <a:prstGeom prst="flowChartProcess">
              <a:avLst/>
            </a:prstGeom>
            <a:solidFill>
              <a:schemeClr val="hlink"/>
            </a:solidFill>
            <a:ln w="9525">
              <a:solidFill>
                <a:srgbClr val="000000"/>
              </a:solidFill>
              <a:miter lim="800000"/>
              <a:headEnd/>
              <a:tailEnd/>
            </a:ln>
          </p:spPr>
          <p:txBody>
            <a:bodyPr tIns="0" bIns="0" anchor="ctr" anchorCtr="1"/>
            <a:lstStyle/>
            <a:p>
              <a:pPr algn="ctr" eaLnBrk="0" hangingPunct="0"/>
              <a:r>
                <a:rPr lang="zh-CN" altLang="en-US" sz="2200" b="1" baseline="0">
                  <a:solidFill>
                    <a:schemeClr val="bg1"/>
                  </a:solidFill>
                  <a:latin typeface="楷体_GB2312" pitchFamily="49" charset="-122"/>
                  <a:ea typeface="楷体_GB2312" pitchFamily="49" charset="-122"/>
                </a:rPr>
                <a:t>模　式</a:t>
              </a:r>
            </a:p>
          </p:txBody>
        </p:sp>
        <p:sp>
          <p:nvSpPr>
            <p:cNvPr id="41" name="AutoShape 14"/>
            <p:cNvSpPr>
              <a:spLocks noChangeArrowheads="1"/>
            </p:cNvSpPr>
            <p:nvPr/>
          </p:nvSpPr>
          <p:spPr bwMode="auto">
            <a:xfrm>
              <a:off x="1036" y="2662"/>
              <a:ext cx="2237" cy="281"/>
            </a:xfrm>
            <a:prstGeom prst="roundRect">
              <a:avLst>
                <a:gd name="adj" fmla="val 16667"/>
              </a:avLst>
            </a:prstGeom>
            <a:solidFill>
              <a:schemeClr val="accent1"/>
            </a:solidFill>
            <a:ln w="9525">
              <a:solidFill>
                <a:srgbClr val="000000"/>
              </a:solidFill>
              <a:round/>
              <a:headEnd/>
              <a:tailEnd/>
            </a:ln>
          </p:spPr>
          <p:txBody>
            <a:bodyPr tIns="0" bIns="0" anchor="ctr" anchorCtr="1"/>
            <a:lstStyle/>
            <a:p>
              <a:pPr algn="ctr" eaLnBrk="0" hangingPunct="0"/>
              <a:r>
                <a:rPr lang="zh-CN" altLang="en-US" sz="2200" b="1" baseline="0">
                  <a:solidFill>
                    <a:schemeClr val="bg1"/>
                  </a:solidFill>
                  <a:latin typeface="楷体_GB2312" pitchFamily="49" charset="-122"/>
                  <a:ea typeface="楷体_GB2312" pitchFamily="49" charset="-122"/>
                </a:rPr>
                <a:t>模式/内模式映象</a:t>
              </a:r>
            </a:p>
          </p:txBody>
        </p:sp>
        <p:sp>
          <p:nvSpPr>
            <p:cNvPr id="42" name="AutoShape 15"/>
            <p:cNvSpPr>
              <a:spLocks noChangeArrowheads="1"/>
            </p:cNvSpPr>
            <p:nvPr/>
          </p:nvSpPr>
          <p:spPr bwMode="auto">
            <a:xfrm>
              <a:off x="1484" y="3150"/>
              <a:ext cx="1344" cy="254"/>
            </a:xfrm>
            <a:prstGeom prst="flowChartProcess">
              <a:avLst/>
            </a:prstGeom>
            <a:solidFill>
              <a:schemeClr val="hlink"/>
            </a:solidFill>
            <a:ln w="9525">
              <a:solidFill>
                <a:srgbClr val="000000"/>
              </a:solidFill>
              <a:miter lim="800000"/>
              <a:headEnd/>
              <a:tailEnd/>
            </a:ln>
          </p:spPr>
          <p:txBody>
            <a:bodyPr tIns="0" bIns="0" anchor="ctr" anchorCtr="1"/>
            <a:lstStyle/>
            <a:p>
              <a:pPr algn="ctr" eaLnBrk="0" hangingPunct="0"/>
              <a:r>
                <a:rPr lang="zh-CN" altLang="en-US" sz="2200" b="1" baseline="0">
                  <a:solidFill>
                    <a:schemeClr val="bg1"/>
                  </a:solidFill>
                  <a:latin typeface="楷体_GB2312" pitchFamily="49" charset="-122"/>
                  <a:ea typeface="楷体_GB2312" pitchFamily="49" charset="-122"/>
                </a:rPr>
                <a:t>内　模　式</a:t>
              </a:r>
            </a:p>
          </p:txBody>
        </p:sp>
        <p:sp>
          <p:nvSpPr>
            <p:cNvPr id="43" name="AutoShape 16"/>
            <p:cNvSpPr>
              <a:spLocks noChangeArrowheads="1"/>
            </p:cNvSpPr>
            <p:nvPr/>
          </p:nvSpPr>
          <p:spPr bwMode="auto">
            <a:xfrm>
              <a:off x="1390" y="3565"/>
              <a:ext cx="1443" cy="401"/>
            </a:xfrm>
            <a:prstGeom prst="can">
              <a:avLst>
                <a:gd name="adj" fmla="val 50000"/>
              </a:avLst>
            </a:prstGeom>
            <a:solidFill>
              <a:srgbClr val="66FFCC"/>
            </a:solidFill>
            <a:ln w="9525">
              <a:solidFill>
                <a:srgbClr val="000000"/>
              </a:solidFill>
              <a:round/>
              <a:headEnd/>
              <a:tailEnd/>
            </a:ln>
          </p:spPr>
          <p:txBody>
            <a:bodyPr tIns="190800"/>
            <a:lstStyle/>
            <a:p>
              <a:pPr algn="ctr" eaLnBrk="0" hangingPunct="0"/>
              <a:endParaRPr lang="zh-CN" altLang="en-US" sz="2200" b="1" baseline="0">
                <a:latin typeface="楷体_GB2312" pitchFamily="49" charset="-122"/>
                <a:ea typeface="楷体_GB2312" pitchFamily="49" charset="-122"/>
              </a:endParaRPr>
            </a:p>
          </p:txBody>
        </p:sp>
        <p:sp>
          <p:nvSpPr>
            <p:cNvPr id="44" name="Line 17"/>
            <p:cNvSpPr>
              <a:spLocks noChangeShapeType="1"/>
            </p:cNvSpPr>
            <p:nvPr/>
          </p:nvSpPr>
          <p:spPr bwMode="auto">
            <a:xfrm>
              <a:off x="768" y="1198"/>
              <a:ext cx="137"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5" name="Line 18"/>
            <p:cNvSpPr>
              <a:spLocks noChangeShapeType="1"/>
            </p:cNvSpPr>
            <p:nvPr/>
          </p:nvSpPr>
          <p:spPr bwMode="auto">
            <a:xfrm flipH="1">
              <a:off x="1176" y="1198"/>
              <a:ext cx="225"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6" name="Line 19"/>
            <p:cNvSpPr>
              <a:spLocks noChangeShapeType="1"/>
            </p:cNvSpPr>
            <p:nvPr/>
          </p:nvSpPr>
          <p:spPr bwMode="auto">
            <a:xfrm flipH="1">
              <a:off x="2112" y="1198"/>
              <a:ext cx="175"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7" name="Line 20"/>
            <p:cNvSpPr>
              <a:spLocks noChangeShapeType="1"/>
            </p:cNvSpPr>
            <p:nvPr/>
          </p:nvSpPr>
          <p:spPr bwMode="auto">
            <a:xfrm flipH="1">
              <a:off x="3239" y="1198"/>
              <a:ext cx="35"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8" name="Line 21"/>
            <p:cNvSpPr>
              <a:spLocks noChangeShapeType="1"/>
            </p:cNvSpPr>
            <p:nvPr/>
          </p:nvSpPr>
          <p:spPr bwMode="auto">
            <a:xfrm>
              <a:off x="2112" y="2937"/>
              <a:ext cx="0" cy="209"/>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9" name="Line 22"/>
            <p:cNvSpPr>
              <a:spLocks noChangeShapeType="1"/>
            </p:cNvSpPr>
            <p:nvPr/>
          </p:nvSpPr>
          <p:spPr bwMode="auto">
            <a:xfrm>
              <a:off x="2112" y="3422"/>
              <a:ext cx="0" cy="143"/>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0" name="Line 23"/>
            <p:cNvSpPr>
              <a:spLocks noChangeShapeType="1"/>
            </p:cNvSpPr>
            <p:nvPr/>
          </p:nvSpPr>
          <p:spPr bwMode="auto">
            <a:xfrm>
              <a:off x="2112" y="2493"/>
              <a:ext cx="0" cy="165"/>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1" name="Line 24"/>
            <p:cNvSpPr>
              <a:spLocks noChangeShapeType="1"/>
            </p:cNvSpPr>
            <p:nvPr/>
          </p:nvSpPr>
          <p:spPr bwMode="auto">
            <a:xfrm>
              <a:off x="2112" y="2030"/>
              <a:ext cx="0" cy="210"/>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2" name="Line 25"/>
            <p:cNvSpPr>
              <a:spLocks noChangeShapeType="1"/>
            </p:cNvSpPr>
            <p:nvPr/>
          </p:nvSpPr>
          <p:spPr bwMode="auto">
            <a:xfrm>
              <a:off x="1190" y="1589"/>
              <a:ext cx="126" cy="176"/>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3" name="Line 26"/>
            <p:cNvSpPr>
              <a:spLocks noChangeShapeType="1"/>
            </p:cNvSpPr>
            <p:nvPr/>
          </p:nvSpPr>
          <p:spPr bwMode="auto">
            <a:xfrm>
              <a:off x="2112" y="1585"/>
              <a:ext cx="0" cy="166"/>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4" name="Line 27"/>
            <p:cNvSpPr>
              <a:spLocks noChangeShapeType="1"/>
            </p:cNvSpPr>
            <p:nvPr/>
          </p:nvSpPr>
          <p:spPr bwMode="auto">
            <a:xfrm flipV="1">
              <a:off x="2836" y="1576"/>
              <a:ext cx="101" cy="17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5" name="Rectangle 28"/>
            <p:cNvSpPr>
              <a:spLocks noChangeArrowheads="1"/>
            </p:cNvSpPr>
            <p:nvPr/>
          </p:nvSpPr>
          <p:spPr bwMode="auto">
            <a:xfrm>
              <a:off x="1784" y="3612"/>
              <a:ext cx="621" cy="301"/>
            </a:xfrm>
            <a:prstGeom prst="rect">
              <a:avLst/>
            </a:prstGeom>
            <a:solidFill>
              <a:srgbClr val="66FFCC"/>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zh-CN" altLang="en-US" sz="2200" b="1" baseline="0">
                  <a:solidFill>
                    <a:schemeClr val="bg1"/>
                  </a:solidFill>
                  <a:latin typeface="楷体_GB2312" pitchFamily="49" charset="-122"/>
                  <a:ea typeface="楷体_GB2312" pitchFamily="49" charset="-122"/>
                </a:rPr>
                <a:t>数据库</a:t>
              </a:r>
            </a:p>
          </p:txBody>
        </p:sp>
        <p:sp>
          <p:nvSpPr>
            <p:cNvPr id="56" name="Rectangle 29"/>
            <p:cNvSpPr>
              <a:spLocks noChangeArrowheads="1"/>
            </p:cNvSpPr>
            <p:nvPr/>
          </p:nvSpPr>
          <p:spPr bwMode="auto">
            <a:xfrm>
              <a:off x="333" y="3067"/>
              <a:ext cx="542"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en-US" altLang="zh-CN" sz="2800" b="1" baseline="0">
                  <a:solidFill>
                    <a:srgbClr val="FFFF00"/>
                  </a:solidFill>
                  <a:latin typeface="楷体_GB2312" pitchFamily="49" charset="-122"/>
                  <a:ea typeface="楷体_GB2312" pitchFamily="49" charset="-122"/>
                </a:rPr>
                <a:t>DBMS</a:t>
              </a:r>
            </a:p>
          </p:txBody>
        </p:sp>
      </p:grpSp>
      <p:sp>
        <p:nvSpPr>
          <p:cNvPr id="58" name="AutoShape 29"/>
          <p:cNvSpPr>
            <a:spLocks noChangeArrowheads="1"/>
          </p:cNvSpPr>
          <p:nvPr/>
        </p:nvSpPr>
        <p:spPr bwMode="auto">
          <a:xfrm>
            <a:off x="815975" y="3086307"/>
            <a:ext cx="7299572" cy="2647743"/>
          </a:xfrm>
          <a:prstGeom prst="wedgeRoundRectCallout">
            <a:avLst>
              <a:gd name="adj1" fmla="val -31918"/>
              <a:gd name="adj2" fmla="val -74714"/>
              <a:gd name="adj3" fmla="val 16667"/>
            </a:avLst>
          </a:prstGeom>
          <a:solidFill>
            <a:schemeClr val="accent5">
              <a:lumMod val="20000"/>
              <a:lumOff val="80000"/>
            </a:schemeClr>
          </a:solidFill>
          <a:ln>
            <a:solidFill>
              <a:srgbClr val="FF6600"/>
            </a:solidFill>
            <a:headEnd type="none" w="med" len="med"/>
            <a:tailEnd type="none" w="med" len="med"/>
          </a:ln>
          <a:effectLst>
            <a:glow rad="101600">
              <a:srgbClr val="FFC000">
                <a:alpha val="60000"/>
              </a:srgb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spcAft>
                <a:spcPct val="50000"/>
              </a:spcAft>
            </a:pPr>
            <a:r>
              <a:rPr lang="zh-CN" altLang="zh-CN" sz="2600" baseline="0" dirty="0">
                <a:solidFill>
                  <a:schemeClr val="dk1"/>
                </a:solidFill>
                <a:latin typeface="+mn-lt"/>
                <a:ea typeface="+mn-ea"/>
              </a:rPr>
              <a:t>又称</a:t>
            </a:r>
            <a:r>
              <a:rPr lang="zh-CN" altLang="en-US" sz="2600" baseline="0" dirty="0">
                <a:solidFill>
                  <a:schemeClr val="dk1"/>
                </a:solidFill>
                <a:latin typeface="+mn-lt"/>
                <a:ea typeface="+mn-ea"/>
              </a:rPr>
              <a:t>子</a:t>
            </a:r>
            <a:r>
              <a:rPr lang="zh-CN" altLang="zh-CN" sz="2600" baseline="0" dirty="0">
                <a:solidFill>
                  <a:schemeClr val="dk1"/>
                </a:solidFill>
                <a:latin typeface="+mn-lt"/>
                <a:ea typeface="+mn-ea"/>
              </a:rPr>
              <a:t>模式或</a:t>
            </a:r>
            <a:r>
              <a:rPr lang="zh-CN" altLang="en-US" sz="2600" baseline="0" dirty="0">
                <a:solidFill>
                  <a:schemeClr val="dk1"/>
                </a:solidFill>
                <a:latin typeface="+mn-lt"/>
                <a:ea typeface="+mn-ea"/>
              </a:rPr>
              <a:t>用户</a:t>
            </a:r>
            <a:r>
              <a:rPr lang="zh-CN" altLang="zh-CN" sz="2600" baseline="0" dirty="0">
                <a:solidFill>
                  <a:schemeClr val="dk1"/>
                </a:solidFill>
                <a:latin typeface="+mn-lt"/>
                <a:ea typeface="+mn-ea"/>
              </a:rPr>
              <a:t>模式，是数据库用户看</a:t>
            </a:r>
            <a:r>
              <a:rPr lang="zh-CN" altLang="en-US" sz="2600" baseline="0" dirty="0">
                <a:solidFill>
                  <a:schemeClr val="dk1"/>
                </a:solidFill>
                <a:latin typeface="+mn-lt"/>
                <a:ea typeface="+mn-ea"/>
              </a:rPr>
              <a:t>得</a:t>
            </a:r>
            <a:r>
              <a:rPr lang="zh-CN" altLang="zh-CN" sz="2600" baseline="0" dirty="0">
                <a:solidFill>
                  <a:schemeClr val="dk1"/>
                </a:solidFill>
                <a:latin typeface="+mn-lt"/>
                <a:ea typeface="+mn-ea"/>
              </a:rPr>
              <a:t>见和使用的部分数据</a:t>
            </a:r>
            <a:r>
              <a:rPr lang="zh-CN" altLang="en-US" sz="2600" baseline="0" dirty="0">
                <a:solidFill>
                  <a:schemeClr val="dk1"/>
                </a:solidFill>
                <a:latin typeface="+mn-lt"/>
                <a:ea typeface="+mn-ea"/>
              </a:rPr>
              <a:t>，或者说是与某一具体应用有关的数据的</a:t>
            </a:r>
            <a:r>
              <a:rPr lang="zh-CN" altLang="zh-CN" sz="2600" baseline="0" dirty="0">
                <a:solidFill>
                  <a:schemeClr val="dk1"/>
                </a:solidFill>
                <a:latin typeface="+mn-lt"/>
                <a:ea typeface="+mn-ea"/>
              </a:rPr>
              <a:t>逻辑结构和特征的描述</a:t>
            </a:r>
            <a:r>
              <a:rPr lang="zh-CN" altLang="en-US" sz="2600" baseline="0" dirty="0">
                <a:solidFill>
                  <a:schemeClr val="dk1"/>
                </a:solidFill>
                <a:latin typeface="+mn-lt"/>
                <a:ea typeface="+mn-ea"/>
              </a:rPr>
              <a:t>，</a:t>
            </a:r>
            <a:r>
              <a:rPr lang="zh-CN" altLang="zh-CN" sz="2600" baseline="0" dirty="0">
                <a:solidFill>
                  <a:schemeClr val="dk1"/>
                </a:solidFill>
                <a:latin typeface="+mn-lt"/>
                <a:ea typeface="+mn-ea"/>
              </a:rPr>
              <a:t>通常是模式的子集</a:t>
            </a:r>
            <a:r>
              <a:rPr lang="zh-CN" altLang="en-US" sz="2600" baseline="0" dirty="0" smtClean="0">
                <a:solidFill>
                  <a:schemeClr val="dk1"/>
                </a:solidFill>
                <a:latin typeface="+mn-lt"/>
                <a:ea typeface="+mn-ea"/>
              </a:rPr>
              <a:t>。</a:t>
            </a:r>
            <a:endParaRPr lang="en-US" altLang="zh-CN" sz="2600" baseline="0" dirty="0" smtClean="0">
              <a:solidFill>
                <a:schemeClr val="dk1"/>
              </a:solidFill>
              <a:latin typeface="+mn-lt"/>
              <a:ea typeface="+mn-ea"/>
            </a:endParaRPr>
          </a:p>
          <a:p>
            <a:pPr>
              <a:spcAft>
                <a:spcPct val="50000"/>
              </a:spcAft>
            </a:pPr>
            <a:r>
              <a:rPr lang="zh-CN" altLang="en-US" sz="2600" baseline="0" dirty="0" smtClean="0">
                <a:solidFill>
                  <a:schemeClr val="dk1"/>
                </a:solidFill>
                <a:latin typeface="+mn-lt"/>
                <a:ea typeface="+mn-ea"/>
              </a:rPr>
              <a:t>一</a:t>
            </a:r>
            <a:r>
              <a:rPr lang="zh-CN" altLang="en-US" sz="2600" baseline="0" dirty="0">
                <a:solidFill>
                  <a:schemeClr val="dk1"/>
                </a:solidFill>
                <a:latin typeface="+mn-lt"/>
                <a:ea typeface="+mn-ea"/>
              </a:rPr>
              <a:t>个数据库可以有多个外模式。</a:t>
            </a:r>
            <a:endParaRPr lang="en-US" altLang="zh-CN" sz="2600" baseline="0" dirty="0">
              <a:solidFill>
                <a:schemeClr val="dk1"/>
              </a:solidFill>
              <a:latin typeface="+mn-lt"/>
              <a:ea typeface="+mn-ea"/>
            </a:endParaRPr>
          </a:p>
        </p:txBody>
      </p:sp>
    </p:spTree>
    <p:extLst>
      <p:ext uri="{BB962C8B-B14F-4D97-AF65-F5344CB8AC3E}">
        <p14:creationId xmlns:p14="http://schemas.microsoft.com/office/powerpoint/2010/main" val="2182015585"/>
      </p:ext>
    </p:extLst>
  </p:cSld>
  <p:clrMapOvr>
    <a:masterClrMapping/>
  </p:clrMapOvr>
  <p:transition spd="slow">
    <p:wipe dir="u"/>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childTnLst>
                                </p:cTn>
                              </p:par>
                            </p:childTnLst>
                          </p:cTn>
                        </p:par>
                        <p:par>
                          <p:cTn id="8" fill="hold">
                            <p:stCondLst>
                              <p:cond delay="1000"/>
                            </p:stCondLst>
                            <p:childTnLst>
                              <p:par>
                                <p:cTn id="9" presetID="42" presetClass="entr" presetSubtype="0" fill="hold" grpId="0" nodeType="afterEffect">
                                  <p:stCondLst>
                                    <p:cond delay="0"/>
                                  </p:stCondLst>
                                  <p:childTnLst>
                                    <p:set>
                                      <p:cBhvr>
                                        <p:cTn id="10" dur="1" fill="hold">
                                          <p:stCondLst>
                                            <p:cond delay="0"/>
                                          </p:stCondLst>
                                        </p:cTn>
                                        <p:tgtEl>
                                          <p:spTgt spid="58"/>
                                        </p:tgtEl>
                                        <p:attrNameLst>
                                          <p:attrName>style.visibility</p:attrName>
                                        </p:attrNameLst>
                                      </p:cBhvr>
                                      <p:to>
                                        <p:strVal val="visible"/>
                                      </p:to>
                                    </p:set>
                                    <p:animEffect transition="in" filter="fade">
                                      <p:cBhvr>
                                        <p:cTn id="11" dur="1000"/>
                                        <p:tgtEl>
                                          <p:spTgt spid="58"/>
                                        </p:tgtEl>
                                      </p:cBhvr>
                                    </p:animEffect>
                                    <p:anim calcmode="lin" valueType="num">
                                      <p:cBhvr>
                                        <p:cTn id="12" dur="1000" fill="hold"/>
                                        <p:tgtEl>
                                          <p:spTgt spid="58"/>
                                        </p:tgtEl>
                                        <p:attrNameLst>
                                          <p:attrName>ppt_x</p:attrName>
                                        </p:attrNameLst>
                                      </p:cBhvr>
                                      <p:tavLst>
                                        <p:tav tm="0">
                                          <p:val>
                                            <p:strVal val="#ppt_x"/>
                                          </p:val>
                                        </p:tav>
                                        <p:tav tm="100000">
                                          <p:val>
                                            <p:strVal val="#ppt_x"/>
                                          </p:val>
                                        </p:tav>
                                      </p:tavLst>
                                    </p:anim>
                                    <p:anim calcmode="lin" valueType="num">
                                      <p:cBhvr>
                                        <p:cTn id="13"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9" name="Rectangle 3"/>
          <p:cNvSpPr>
            <a:spLocks noGrp="1" noChangeArrowheads="1"/>
          </p:cNvSpPr>
          <p:nvPr>
            <p:ph type="title"/>
          </p:nvPr>
        </p:nvSpPr>
        <p:spPr>
          <a:xfrm>
            <a:off x="179388" y="-27384"/>
            <a:ext cx="3736133"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r>
              <a:rPr lang="zh-CN" altLang="en-US" sz="4000" b="1" kern="1200" dirty="0" smtClean="0">
                <a:solidFill>
                  <a:schemeClr val="folHlink"/>
                </a:solidFill>
                <a:effectLst>
                  <a:outerShdw blurRad="38100" dist="38100" dir="2700000" algn="tl">
                    <a:srgbClr val="000000"/>
                  </a:outerShdw>
                </a:effectLst>
                <a:cs typeface="+mn-cs"/>
              </a:rPr>
              <a:t>数据库系统结构</a:t>
            </a:r>
            <a:endParaRPr lang="zh-CN" altLang="en-US" sz="4000" b="1" kern="1200" dirty="0">
              <a:solidFill>
                <a:schemeClr val="folHlink"/>
              </a:solidFill>
              <a:effectLst>
                <a:outerShdw blurRad="38100" dist="38100" dir="2700000" algn="tl">
                  <a:srgbClr val="000000"/>
                </a:outerShdw>
              </a:effectLst>
              <a:cs typeface="+mn-cs"/>
            </a:endParaRPr>
          </a:p>
        </p:txBody>
      </p:sp>
      <p:grpSp>
        <p:nvGrpSpPr>
          <p:cNvPr id="30" name="Group 3"/>
          <p:cNvGrpSpPr>
            <a:grpSpLocks/>
          </p:cNvGrpSpPr>
          <p:nvPr/>
        </p:nvGrpSpPr>
        <p:grpSpPr bwMode="auto">
          <a:xfrm>
            <a:off x="468313" y="1471613"/>
            <a:ext cx="5892800" cy="4824412"/>
            <a:chOff x="295" y="927"/>
            <a:chExt cx="3712" cy="3039"/>
          </a:xfrm>
        </p:grpSpPr>
        <p:sp>
          <p:nvSpPr>
            <p:cNvPr id="31" name="Rectangle 4"/>
            <p:cNvSpPr>
              <a:spLocks noChangeArrowheads="1"/>
            </p:cNvSpPr>
            <p:nvPr/>
          </p:nvSpPr>
          <p:spPr bwMode="auto">
            <a:xfrm>
              <a:off x="295" y="1269"/>
              <a:ext cx="3712" cy="2206"/>
            </a:xfrm>
            <a:prstGeom prst="rect">
              <a:avLst/>
            </a:prstGeom>
            <a:noFill/>
            <a:ln w="12700">
              <a:solidFill>
                <a:schemeClr val="hlink"/>
              </a:solidFill>
              <a:prstDash val="dashDot"/>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p>
              <a:r>
                <a:rPr lang="zh-CN" altLang="en-US" sz="1800" baseline="0">
                  <a:latin typeface="Times New Roman" pitchFamily="18" charset="0"/>
                  <a:ea typeface="华文行楷" pitchFamily="2" charset="-122"/>
                </a:rPr>
                <a:t> </a:t>
              </a:r>
            </a:p>
          </p:txBody>
        </p:sp>
        <p:sp>
          <p:nvSpPr>
            <p:cNvPr id="32" name="Rectangle 5"/>
            <p:cNvSpPr>
              <a:spLocks noChangeArrowheads="1"/>
            </p:cNvSpPr>
            <p:nvPr/>
          </p:nvSpPr>
          <p:spPr bwMode="auto">
            <a:xfrm>
              <a:off x="515" y="927"/>
              <a:ext cx="577"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楷体_GB2312" pitchFamily="49" charset="-122"/>
                  <a:ea typeface="楷体_GB2312" pitchFamily="49" charset="-122"/>
                </a:rPr>
                <a:t>应用</a:t>
              </a:r>
              <a:r>
                <a:rPr lang="en-US" altLang="zh-CN" sz="2200" b="1" baseline="0">
                  <a:latin typeface="楷体_GB2312" pitchFamily="49" charset="-122"/>
                  <a:ea typeface="楷体_GB2312" pitchFamily="49" charset="-122"/>
                </a:rPr>
                <a:t>A</a:t>
              </a:r>
            </a:p>
          </p:txBody>
        </p:sp>
        <p:sp>
          <p:nvSpPr>
            <p:cNvPr id="33" name="Rectangle 6"/>
            <p:cNvSpPr>
              <a:spLocks noChangeArrowheads="1"/>
            </p:cNvSpPr>
            <p:nvPr/>
          </p:nvSpPr>
          <p:spPr bwMode="auto">
            <a:xfrm>
              <a:off x="1148" y="930"/>
              <a:ext cx="577"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楷体_GB2312" pitchFamily="49" charset="-122"/>
                  <a:ea typeface="楷体_GB2312" pitchFamily="49" charset="-122"/>
                </a:rPr>
                <a:t>应用</a:t>
              </a:r>
              <a:r>
                <a:rPr lang="en-US" altLang="zh-CN" sz="2200" b="1" baseline="0">
                  <a:latin typeface="楷体_GB2312" pitchFamily="49" charset="-122"/>
                  <a:ea typeface="楷体_GB2312" pitchFamily="49" charset="-122"/>
                </a:rPr>
                <a:t>B</a:t>
              </a:r>
            </a:p>
          </p:txBody>
        </p:sp>
        <p:sp>
          <p:nvSpPr>
            <p:cNvPr id="34" name="Rectangle 7"/>
            <p:cNvSpPr>
              <a:spLocks noChangeArrowheads="1"/>
            </p:cNvSpPr>
            <p:nvPr/>
          </p:nvSpPr>
          <p:spPr bwMode="auto">
            <a:xfrm>
              <a:off x="2877" y="927"/>
              <a:ext cx="813"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楷体_GB2312" pitchFamily="49" charset="-122"/>
                  <a:ea typeface="楷体_GB2312" pitchFamily="49" charset="-122"/>
                </a:rPr>
                <a:t>应用</a:t>
              </a:r>
              <a:r>
                <a:rPr lang="en-US" altLang="zh-CN" sz="2200" b="1" baseline="0">
                  <a:latin typeface="楷体_GB2312" pitchFamily="49" charset="-122"/>
                  <a:ea typeface="楷体_GB2312" pitchFamily="49" charset="-122"/>
                </a:rPr>
                <a:t>n</a:t>
              </a:r>
            </a:p>
          </p:txBody>
        </p:sp>
        <p:sp>
          <p:nvSpPr>
            <p:cNvPr id="35" name="Rectangle 8"/>
            <p:cNvSpPr>
              <a:spLocks noChangeArrowheads="1"/>
            </p:cNvSpPr>
            <p:nvPr/>
          </p:nvSpPr>
          <p:spPr bwMode="auto">
            <a:xfrm>
              <a:off x="1980" y="930"/>
              <a:ext cx="644"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Times New Roman" pitchFamily="18" charset="0"/>
                  <a:ea typeface="楷体_GB2312" pitchFamily="49" charset="-122"/>
                </a:rPr>
                <a:t>……</a:t>
              </a:r>
              <a:endParaRPr lang="zh-CN" altLang="en-US" sz="2200" b="1" baseline="0">
                <a:latin typeface="楷体_GB2312" pitchFamily="49" charset="-122"/>
                <a:ea typeface="楷体_GB2312" pitchFamily="49" charset="-122"/>
              </a:endParaRPr>
            </a:p>
          </p:txBody>
        </p:sp>
        <p:sp>
          <p:nvSpPr>
            <p:cNvPr id="36" name="Rectangle 9"/>
            <p:cNvSpPr>
              <a:spLocks noChangeArrowheads="1"/>
            </p:cNvSpPr>
            <p:nvPr/>
          </p:nvSpPr>
          <p:spPr bwMode="auto">
            <a:xfrm>
              <a:off x="514" y="1332"/>
              <a:ext cx="871" cy="260"/>
            </a:xfrm>
            <a:prstGeom prst="rect">
              <a:avLst/>
            </a:prstGeom>
            <a:solidFill>
              <a:schemeClr val="hlink"/>
            </a:solidFill>
            <a:ln w="9525">
              <a:solidFill>
                <a:srgbClr val="000000"/>
              </a:solidFill>
              <a:miter lim="800000"/>
              <a:headEnd/>
              <a:tailEnd/>
            </a:ln>
          </p:spPr>
          <p:txBody>
            <a:bodyPr/>
            <a:lstStyle/>
            <a:p>
              <a:pPr algn="ctr" eaLnBrk="0" hangingPunct="0"/>
              <a:r>
                <a:rPr lang="zh-CN" altLang="en-US" sz="2200" b="1" baseline="0">
                  <a:solidFill>
                    <a:schemeClr val="bg1"/>
                  </a:solidFill>
                  <a:latin typeface="楷体_GB2312" pitchFamily="49" charset="-122"/>
                  <a:ea typeface="楷体_GB2312" pitchFamily="49" charset="-122"/>
                </a:rPr>
                <a:t>外模式1</a:t>
              </a:r>
            </a:p>
          </p:txBody>
        </p:sp>
        <p:sp>
          <p:nvSpPr>
            <p:cNvPr id="37" name="Rectangle 10"/>
            <p:cNvSpPr>
              <a:spLocks noChangeArrowheads="1"/>
            </p:cNvSpPr>
            <p:nvPr/>
          </p:nvSpPr>
          <p:spPr bwMode="auto">
            <a:xfrm>
              <a:off x="1659" y="1332"/>
              <a:ext cx="903" cy="253"/>
            </a:xfrm>
            <a:prstGeom prst="rect">
              <a:avLst/>
            </a:prstGeom>
            <a:solidFill>
              <a:schemeClr val="hlink"/>
            </a:solidFill>
            <a:ln w="9525">
              <a:solidFill>
                <a:srgbClr val="000000"/>
              </a:solidFill>
              <a:miter lim="800000"/>
              <a:headEnd/>
              <a:tailEnd/>
            </a:ln>
          </p:spPr>
          <p:txBody>
            <a:bodyPr/>
            <a:lstStyle/>
            <a:p>
              <a:pPr algn="ctr" eaLnBrk="0" hangingPunct="0"/>
              <a:r>
                <a:rPr lang="zh-CN" altLang="en-US" sz="2200" b="1" baseline="0">
                  <a:solidFill>
                    <a:schemeClr val="bg1"/>
                  </a:solidFill>
                  <a:latin typeface="Times New Roman" pitchFamily="18" charset="0"/>
                  <a:ea typeface="楷体_GB2312" pitchFamily="49" charset="-122"/>
                </a:rPr>
                <a:t>……</a:t>
              </a:r>
              <a:endParaRPr lang="zh-CN" altLang="en-US" sz="2200" b="1" baseline="0">
                <a:solidFill>
                  <a:schemeClr val="bg1"/>
                </a:solidFill>
                <a:latin typeface="楷体_GB2312" pitchFamily="49" charset="-122"/>
                <a:ea typeface="楷体_GB2312" pitchFamily="49" charset="-122"/>
              </a:endParaRPr>
            </a:p>
          </p:txBody>
        </p:sp>
        <p:sp>
          <p:nvSpPr>
            <p:cNvPr id="38" name="Rectangle 11"/>
            <p:cNvSpPr>
              <a:spLocks noChangeArrowheads="1"/>
            </p:cNvSpPr>
            <p:nvPr/>
          </p:nvSpPr>
          <p:spPr bwMode="auto">
            <a:xfrm>
              <a:off x="2697" y="1332"/>
              <a:ext cx="1083" cy="253"/>
            </a:xfrm>
            <a:prstGeom prst="rect">
              <a:avLst/>
            </a:prstGeom>
            <a:solidFill>
              <a:schemeClr val="hlink"/>
            </a:solidFill>
            <a:ln w="9525">
              <a:solidFill>
                <a:srgbClr val="000000"/>
              </a:solidFill>
              <a:miter lim="800000"/>
              <a:headEnd/>
              <a:tailEnd/>
            </a:ln>
          </p:spPr>
          <p:txBody>
            <a:bodyPr/>
            <a:lstStyle/>
            <a:p>
              <a:pPr algn="ctr" eaLnBrk="0" hangingPunct="0"/>
              <a:r>
                <a:rPr lang="zh-CN" altLang="en-US" sz="2200" b="1" baseline="0">
                  <a:solidFill>
                    <a:schemeClr val="bg1"/>
                  </a:solidFill>
                  <a:latin typeface="楷体_GB2312" pitchFamily="49" charset="-122"/>
                  <a:ea typeface="楷体_GB2312" pitchFamily="49" charset="-122"/>
                </a:rPr>
                <a:t>外模式</a:t>
              </a:r>
              <a:r>
                <a:rPr lang="en-US" altLang="zh-CN" sz="2200" b="1" baseline="0">
                  <a:solidFill>
                    <a:schemeClr val="bg1"/>
                  </a:solidFill>
                  <a:latin typeface="楷体_GB2312" pitchFamily="49" charset="-122"/>
                  <a:ea typeface="楷体_GB2312" pitchFamily="49" charset="-122"/>
                </a:rPr>
                <a:t>m</a:t>
              </a:r>
            </a:p>
          </p:txBody>
        </p:sp>
        <p:sp>
          <p:nvSpPr>
            <p:cNvPr id="39" name="AutoShape 12"/>
            <p:cNvSpPr>
              <a:spLocks noChangeArrowheads="1"/>
            </p:cNvSpPr>
            <p:nvPr/>
          </p:nvSpPr>
          <p:spPr bwMode="auto">
            <a:xfrm>
              <a:off x="938" y="1751"/>
              <a:ext cx="2255" cy="279"/>
            </a:xfrm>
            <a:prstGeom prst="roundRect">
              <a:avLst>
                <a:gd name="adj" fmla="val 16667"/>
              </a:avLst>
            </a:prstGeom>
            <a:solidFill>
              <a:schemeClr val="accent1"/>
            </a:solidFill>
            <a:ln w="9525">
              <a:solidFill>
                <a:schemeClr val="tx1"/>
              </a:solidFill>
              <a:round/>
              <a:headEnd/>
              <a:tailEnd/>
            </a:ln>
          </p:spPr>
          <p:txBody>
            <a:bodyPr/>
            <a:lstStyle/>
            <a:p>
              <a:pPr algn="ctr" eaLnBrk="0" hangingPunct="0"/>
              <a:r>
                <a:rPr lang="zh-CN" altLang="en-US" sz="2200" b="1" baseline="0">
                  <a:solidFill>
                    <a:schemeClr val="bg1"/>
                  </a:solidFill>
                  <a:latin typeface="楷体_GB2312" pitchFamily="49" charset="-122"/>
                  <a:ea typeface="楷体_GB2312" pitchFamily="49" charset="-122"/>
                </a:rPr>
                <a:t>子模式/模式映象</a:t>
              </a:r>
            </a:p>
          </p:txBody>
        </p:sp>
        <p:sp>
          <p:nvSpPr>
            <p:cNvPr id="40" name="AutoShape 13"/>
            <p:cNvSpPr>
              <a:spLocks noChangeArrowheads="1"/>
            </p:cNvSpPr>
            <p:nvPr/>
          </p:nvSpPr>
          <p:spPr bwMode="auto">
            <a:xfrm>
              <a:off x="1484" y="2243"/>
              <a:ext cx="1344" cy="255"/>
            </a:xfrm>
            <a:prstGeom prst="flowChartProcess">
              <a:avLst/>
            </a:prstGeom>
            <a:solidFill>
              <a:schemeClr val="hlink"/>
            </a:solidFill>
            <a:ln w="9525">
              <a:solidFill>
                <a:srgbClr val="000000"/>
              </a:solidFill>
              <a:miter lim="800000"/>
              <a:headEnd/>
              <a:tailEnd/>
            </a:ln>
          </p:spPr>
          <p:txBody>
            <a:bodyPr tIns="0" bIns="0" anchor="ctr" anchorCtr="1"/>
            <a:lstStyle/>
            <a:p>
              <a:pPr algn="ctr" eaLnBrk="0" hangingPunct="0"/>
              <a:r>
                <a:rPr lang="zh-CN" altLang="en-US" sz="2200" b="1" baseline="0">
                  <a:solidFill>
                    <a:schemeClr val="bg1"/>
                  </a:solidFill>
                  <a:latin typeface="楷体_GB2312" pitchFamily="49" charset="-122"/>
                  <a:ea typeface="楷体_GB2312" pitchFamily="49" charset="-122"/>
                </a:rPr>
                <a:t>模　式</a:t>
              </a:r>
            </a:p>
          </p:txBody>
        </p:sp>
        <p:sp>
          <p:nvSpPr>
            <p:cNvPr id="41" name="AutoShape 14"/>
            <p:cNvSpPr>
              <a:spLocks noChangeArrowheads="1"/>
            </p:cNvSpPr>
            <p:nvPr/>
          </p:nvSpPr>
          <p:spPr bwMode="auto">
            <a:xfrm>
              <a:off x="1036" y="2662"/>
              <a:ext cx="2237" cy="281"/>
            </a:xfrm>
            <a:prstGeom prst="roundRect">
              <a:avLst>
                <a:gd name="adj" fmla="val 16667"/>
              </a:avLst>
            </a:prstGeom>
            <a:solidFill>
              <a:schemeClr val="accent1"/>
            </a:solidFill>
            <a:ln w="9525">
              <a:solidFill>
                <a:srgbClr val="000000"/>
              </a:solidFill>
              <a:round/>
              <a:headEnd/>
              <a:tailEnd/>
            </a:ln>
          </p:spPr>
          <p:txBody>
            <a:bodyPr tIns="0" bIns="0" anchor="ctr" anchorCtr="1"/>
            <a:lstStyle/>
            <a:p>
              <a:pPr algn="ctr" eaLnBrk="0" hangingPunct="0"/>
              <a:r>
                <a:rPr lang="zh-CN" altLang="en-US" sz="2200" b="1" baseline="0">
                  <a:solidFill>
                    <a:schemeClr val="bg1"/>
                  </a:solidFill>
                  <a:latin typeface="楷体_GB2312" pitchFamily="49" charset="-122"/>
                  <a:ea typeface="楷体_GB2312" pitchFamily="49" charset="-122"/>
                </a:rPr>
                <a:t>模式/内模式映象</a:t>
              </a:r>
            </a:p>
          </p:txBody>
        </p:sp>
        <p:sp>
          <p:nvSpPr>
            <p:cNvPr id="42" name="AutoShape 15"/>
            <p:cNvSpPr>
              <a:spLocks noChangeArrowheads="1"/>
            </p:cNvSpPr>
            <p:nvPr/>
          </p:nvSpPr>
          <p:spPr bwMode="auto">
            <a:xfrm>
              <a:off x="1484" y="3150"/>
              <a:ext cx="1344" cy="254"/>
            </a:xfrm>
            <a:prstGeom prst="flowChartProcess">
              <a:avLst/>
            </a:prstGeom>
            <a:solidFill>
              <a:schemeClr val="hlink"/>
            </a:solidFill>
            <a:ln w="9525">
              <a:solidFill>
                <a:srgbClr val="000000"/>
              </a:solidFill>
              <a:miter lim="800000"/>
              <a:headEnd/>
              <a:tailEnd/>
            </a:ln>
          </p:spPr>
          <p:txBody>
            <a:bodyPr tIns="0" bIns="0" anchor="ctr" anchorCtr="1"/>
            <a:lstStyle/>
            <a:p>
              <a:pPr algn="ctr" eaLnBrk="0" hangingPunct="0"/>
              <a:r>
                <a:rPr lang="zh-CN" altLang="en-US" sz="2200" b="1" baseline="0">
                  <a:solidFill>
                    <a:schemeClr val="bg1"/>
                  </a:solidFill>
                  <a:latin typeface="楷体_GB2312" pitchFamily="49" charset="-122"/>
                  <a:ea typeface="楷体_GB2312" pitchFamily="49" charset="-122"/>
                </a:rPr>
                <a:t>内　模　式</a:t>
              </a:r>
            </a:p>
          </p:txBody>
        </p:sp>
        <p:sp>
          <p:nvSpPr>
            <p:cNvPr id="43" name="AutoShape 16"/>
            <p:cNvSpPr>
              <a:spLocks noChangeArrowheads="1"/>
            </p:cNvSpPr>
            <p:nvPr/>
          </p:nvSpPr>
          <p:spPr bwMode="auto">
            <a:xfrm>
              <a:off x="1390" y="3565"/>
              <a:ext cx="1443" cy="401"/>
            </a:xfrm>
            <a:prstGeom prst="can">
              <a:avLst>
                <a:gd name="adj" fmla="val 50000"/>
              </a:avLst>
            </a:prstGeom>
            <a:solidFill>
              <a:srgbClr val="66FFCC"/>
            </a:solidFill>
            <a:ln w="9525">
              <a:solidFill>
                <a:srgbClr val="000000"/>
              </a:solidFill>
              <a:round/>
              <a:headEnd/>
              <a:tailEnd/>
            </a:ln>
          </p:spPr>
          <p:txBody>
            <a:bodyPr tIns="190800"/>
            <a:lstStyle/>
            <a:p>
              <a:pPr algn="ctr" eaLnBrk="0" hangingPunct="0"/>
              <a:endParaRPr lang="zh-CN" altLang="en-US" sz="2200" b="1" baseline="0">
                <a:latin typeface="楷体_GB2312" pitchFamily="49" charset="-122"/>
                <a:ea typeface="楷体_GB2312" pitchFamily="49" charset="-122"/>
              </a:endParaRPr>
            </a:p>
          </p:txBody>
        </p:sp>
        <p:sp>
          <p:nvSpPr>
            <p:cNvPr id="44" name="Line 17"/>
            <p:cNvSpPr>
              <a:spLocks noChangeShapeType="1"/>
            </p:cNvSpPr>
            <p:nvPr/>
          </p:nvSpPr>
          <p:spPr bwMode="auto">
            <a:xfrm>
              <a:off x="768" y="1198"/>
              <a:ext cx="137"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5" name="Line 18"/>
            <p:cNvSpPr>
              <a:spLocks noChangeShapeType="1"/>
            </p:cNvSpPr>
            <p:nvPr/>
          </p:nvSpPr>
          <p:spPr bwMode="auto">
            <a:xfrm flipH="1">
              <a:off x="1176" y="1198"/>
              <a:ext cx="225"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6" name="Line 19"/>
            <p:cNvSpPr>
              <a:spLocks noChangeShapeType="1"/>
            </p:cNvSpPr>
            <p:nvPr/>
          </p:nvSpPr>
          <p:spPr bwMode="auto">
            <a:xfrm flipH="1">
              <a:off x="2112" y="1198"/>
              <a:ext cx="175"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7" name="Line 20"/>
            <p:cNvSpPr>
              <a:spLocks noChangeShapeType="1"/>
            </p:cNvSpPr>
            <p:nvPr/>
          </p:nvSpPr>
          <p:spPr bwMode="auto">
            <a:xfrm flipH="1">
              <a:off x="3239" y="1198"/>
              <a:ext cx="35"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8" name="Line 21"/>
            <p:cNvSpPr>
              <a:spLocks noChangeShapeType="1"/>
            </p:cNvSpPr>
            <p:nvPr/>
          </p:nvSpPr>
          <p:spPr bwMode="auto">
            <a:xfrm>
              <a:off x="2112" y="2937"/>
              <a:ext cx="0" cy="209"/>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9" name="Line 22"/>
            <p:cNvSpPr>
              <a:spLocks noChangeShapeType="1"/>
            </p:cNvSpPr>
            <p:nvPr/>
          </p:nvSpPr>
          <p:spPr bwMode="auto">
            <a:xfrm>
              <a:off x="2112" y="3422"/>
              <a:ext cx="0" cy="143"/>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0" name="Line 23"/>
            <p:cNvSpPr>
              <a:spLocks noChangeShapeType="1"/>
            </p:cNvSpPr>
            <p:nvPr/>
          </p:nvSpPr>
          <p:spPr bwMode="auto">
            <a:xfrm>
              <a:off x="2112" y="2493"/>
              <a:ext cx="0" cy="165"/>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1" name="Line 24"/>
            <p:cNvSpPr>
              <a:spLocks noChangeShapeType="1"/>
            </p:cNvSpPr>
            <p:nvPr/>
          </p:nvSpPr>
          <p:spPr bwMode="auto">
            <a:xfrm>
              <a:off x="2112" y="2030"/>
              <a:ext cx="0" cy="210"/>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2" name="Line 25"/>
            <p:cNvSpPr>
              <a:spLocks noChangeShapeType="1"/>
            </p:cNvSpPr>
            <p:nvPr/>
          </p:nvSpPr>
          <p:spPr bwMode="auto">
            <a:xfrm>
              <a:off x="1190" y="1589"/>
              <a:ext cx="126" cy="176"/>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3" name="Line 26"/>
            <p:cNvSpPr>
              <a:spLocks noChangeShapeType="1"/>
            </p:cNvSpPr>
            <p:nvPr/>
          </p:nvSpPr>
          <p:spPr bwMode="auto">
            <a:xfrm>
              <a:off x="2112" y="1585"/>
              <a:ext cx="0" cy="166"/>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4" name="Line 27"/>
            <p:cNvSpPr>
              <a:spLocks noChangeShapeType="1"/>
            </p:cNvSpPr>
            <p:nvPr/>
          </p:nvSpPr>
          <p:spPr bwMode="auto">
            <a:xfrm flipV="1">
              <a:off x="2836" y="1576"/>
              <a:ext cx="101" cy="17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5" name="Rectangle 28"/>
            <p:cNvSpPr>
              <a:spLocks noChangeArrowheads="1"/>
            </p:cNvSpPr>
            <p:nvPr/>
          </p:nvSpPr>
          <p:spPr bwMode="auto">
            <a:xfrm>
              <a:off x="1784" y="3612"/>
              <a:ext cx="621" cy="301"/>
            </a:xfrm>
            <a:prstGeom prst="rect">
              <a:avLst/>
            </a:prstGeom>
            <a:solidFill>
              <a:srgbClr val="66FFCC"/>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zh-CN" altLang="en-US" sz="2200" b="1" baseline="0">
                  <a:solidFill>
                    <a:schemeClr val="bg1"/>
                  </a:solidFill>
                  <a:latin typeface="楷体_GB2312" pitchFamily="49" charset="-122"/>
                  <a:ea typeface="楷体_GB2312" pitchFamily="49" charset="-122"/>
                </a:rPr>
                <a:t>数据库</a:t>
              </a:r>
            </a:p>
          </p:txBody>
        </p:sp>
        <p:sp>
          <p:nvSpPr>
            <p:cNvPr id="56" name="Rectangle 29"/>
            <p:cNvSpPr>
              <a:spLocks noChangeArrowheads="1"/>
            </p:cNvSpPr>
            <p:nvPr/>
          </p:nvSpPr>
          <p:spPr bwMode="auto">
            <a:xfrm>
              <a:off x="333" y="3067"/>
              <a:ext cx="542"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en-US" altLang="zh-CN" sz="2800" b="1" baseline="0">
                  <a:solidFill>
                    <a:srgbClr val="FFFF00"/>
                  </a:solidFill>
                  <a:latin typeface="楷体_GB2312" pitchFamily="49" charset="-122"/>
                  <a:ea typeface="楷体_GB2312" pitchFamily="49" charset="-122"/>
                </a:rPr>
                <a:t>DBMS</a:t>
              </a:r>
            </a:p>
          </p:txBody>
        </p:sp>
      </p:grpSp>
      <p:sp>
        <p:nvSpPr>
          <p:cNvPr id="57" name="AutoShape 29"/>
          <p:cNvSpPr>
            <a:spLocks noChangeArrowheads="1"/>
          </p:cNvSpPr>
          <p:nvPr/>
        </p:nvSpPr>
        <p:spPr bwMode="auto">
          <a:xfrm>
            <a:off x="1021196" y="3222625"/>
            <a:ext cx="6936507" cy="1339319"/>
          </a:xfrm>
          <a:prstGeom prst="wedgeRoundRectCallout">
            <a:avLst>
              <a:gd name="adj1" fmla="val -22003"/>
              <a:gd name="adj2" fmla="val 85148"/>
              <a:gd name="adj3" fmla="val 16667"/>
            </a:avLst>
          </a:prstGeom>
          <a:solidFill>
            <a:schemeClr val="accent5">
              <a:lumMod val="20000"/>
              <a:lumOff val="80000"/>
            </a:schemeClr>
          </a:solidFill>
          <a:ln>
            <a:solidFill>
              <a:srgbClr val="FF6600"/>
            </a:solidFill>
            <a:headEnd type="none" w="med" len="med"/>
            <a:tailEnd type="none" w="med" len="med"/>
          </a:ln>
          <a:effectLst>
            <a:glow rad="101600">
              <a:srgbClr val="FFC000">
                <a:alpha val="60000"/>
              </a:srgb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spcAft>
                <a:spcPct val="50000"/>
              </a:spcAft>
            </a:pPr>
            <a:r>
              <a:rPr lang="zh-CN" altLang="zh-CN" sz="2600" baseline="0" dirty="0">
                <a:solidFill>
                  <a:schemeClr val="dk1"/>
                </a:solidFill>
                <a:latin typeface="+mn-lt"/>
                <a:ea typeface="+mn-ea"/>
              </a:rPr>
              <a:t>又称存储模式，是数据物理存储结构的描述</a:t>
            </a:r>
            <a:r>
              <a:rPr lang="zh-CN" altLang="en-US" sz="2600" baseline="0" dirty="0" smtClean="0">
                <a:solidFill>
                  <a:schemeClr val="dk1"/>
                </a:solidFill>
                <a:latin typeface="+mn-lt"/>
                <a:ea typeface="+mn-ea"/>
              </a:rPr>
              <a:t>。</a:t>
            </a:r>
            <a:endParaRPr lang="en-US" altLang="zh-CN" sz="2600" baseline="0" dirty="0" smtClean="0">
              <a:solidFill>
                <a:schemeClr val="dk1"/>
              </a:solidFill>
              <a:latin typeface="+mn-lt"/>
              <a:ea typeface="+mn-ea"/>
            </a:endParaRPr>
          </a:p>
          <a:p>
            <a:pPr>
              <a:spcAft>
                <a:spcPct val="50000"/>
              </a:spcAft>
            </a:pPr>
            <a:r>
              <a:rPr lang="zh-CN" altLang="zh-CN" sz="2600" baseline="0" dirty="0" smtClean="0">
                <a:solidFill>
                  <a:schemeClr val="dk1"/>
                </a:solidFill>
                <a:latin typeface="+mn-lt"/>
                <a:ea typeface="+mn-ea"/>
              </a:rPr>
              <a:t>一</a:t>
            </a:r>
            <a:r>
              <a:rPr lang="zh-CN" altLang="zh-CN" sz="2600" baseline="0" dirty="0">
                <a:solidFill>
                  <a:schemeClr val="dk1"/>
                </a:solidFill>
                <a:latin typeface="+mn-lt"/>
                <a:ea typeface="+mn-ea"/>
              </a:rPr>
              <a:t>个数据库只有一个内模式</a:t>
            </a:r>
            <a:r>
              <a:rPr lang="zh-CN" altLang="en-US" sz="2600" baseline="0" dirty="0">
                <a:solidFill>
                  <a:schemeClr val="dk1"/>
                </a:solidFill>
                <a:latin typeface="+mn-lt"/>
                <a:ea typeface="+mn-ea"/>
              </a:rPr>
              <a:t>。</a:t>
            </a:r>
            <a:endParaRPr lang="zh-CN" altLang="zh-CN" sz="2600" baseline="0" dirty="0">
              <a:solidFill>
                <a:schemeClr val="dk1"/>
              </a:solidFill>
              <a:latin typeface="+mn-lt"/>
              <a:ea typeface="+mn-ea"/>
            </a:endParaRPr>
          </a:p>
        </p:txBody>
      </p:sp>
    </p:spTree>
    <p:extLst>
      <p:ext uri="{BB962C8B-B14F-4D97-AF65-F5344CB8AC3E}">
        <p14:creationId xmlns:p14="http://schemas.microsoft.com/office/powerpoint/2010/main" val="222705480"/>
      </p:ext>
    </p:extLst>
  </p:cSld>
  <p:clrMapOvr>
    <a:masterClrMapping/>
  </p:clrMapOvr>
  <p:transition spd="slow">
    <p:wipe dir="r"/>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childTnLst>
                                </p:cTn>
                              </p:par>
                            </p:childTnLst>
                          </p:cTn>
                        </p:par>
                        <p:par>
                          <p:cTn id="8" fill="hold">
                            <p:stCondLst>
                              <p:cond delay="1000"/>
                            </p:stCondLst>
                            <p:childTnLst>
                              <p:par>
                                <p:cTn id="9" presetID="40" presetClass="entr" presetSubtype="0" fill="hold" grpId="0"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fade">
                                      <p:cBhvr>
                                        <p:cTn id="11" dur="1000"/>
                                        <p:tgtEl>
                                          <p:spTgt spid="57"/>
                                        </p:tgtEl>
                                      </p:cBhvr>
                                    </p:animEffect>
                                    <p:anim calcmode="lin" valueType="num">
                                      <p:cBhvr>
                                        <p:cTn id="12" dur="1000" fill="hold"/>
                                        <p:tgtEl>
                                          <p:spTgt spid="57"/>
                                        </p:tgtEl>
                                        <p:attrNameLst>
                                          <p:attrName>ppt_x</p:attrName>
                                        </p:attrNameLst>
                                      </p:cBhvr>
                                      <p:tavLst>
                                        <p:tav tm="0">
                                          <p:val>
                                            <p:strVal val="#ppt_x-.1"/>
                                          </p:val>
                                        </p:tav>
                                        <p:tav tm="100000">
                                          <p:val>
                                            <p:strVal val="#ppt_x"/>
                                          </p:val>
                                        </p:tav>
                                      </p:tavLst>
                                    </p:anim>
                                    <p:anim calcmode="lin" valueType="num">
                                      <p:cBhvr>
                                        <p:cTn id="13" dur="10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9" name="Rectangle 3"/>
          <p:cNvSpPr>
            <a:spLocks noGrp="1" noChangeArrowheads="1"/>
          </p:cNvSpPr>
          <p:nvPr>
            <p:ph type="title"/>
          </p:nvPr>
        </p:nvSpPr>
        <p:spPr>
          <a:xfrm>
            <a:off x="179388" y="-27384"/>
            <a:ext cx="3736133"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r>
              <a:rPr lang="zh-CN" altLang="en-US" sz="4000" b="1" kern="1200" dirty="0" smtClean="0">
                <a:solidFill>
                  <a:schemeClr val="folHlink"/>
                </a:solidFill>
                <a:effectLst>
                  <a:outerShdw blurRad="38100" dist="38100" dir="2700000" algn="tl">
                    <a:srgbClr val="000000"/>
                  </a:outerShdw>
                </a:effectLst>
                <a:cs typeface="+mn-cs"/>
              </a:rPr>
              <a:t>数据库系统结构</a:t>
            </a:r>
            <a:endParaRPr lang="zh-CN" altLang="en-US" sz="4000" b="1" kern="1200" dirty="0">
              <a:solidFill>
                <a:schemeClr val="folHlink"/>
              </a:solidFill>
              <a:effectLst>
                <a:outerShdw blurRad="38100" dist="38100" dir="2700000" algn="tl">
                  <a:srgbClr val="000000"/>
                </a:outerShdw>
              </a:effectLst>
              <a:cs typeface="+mn-cs"/>
            </a:endParaRPr>
          </a:p>
        </p:txBody>
      </p:sp>
      <p:grpSp>
        <p:nvGrpSpPr>
          <p:cNvPr id="30" name="Group 3"/>
          <p:cNvGrpSpPr>
            <a:grpSpLocks/>
          </p:cNvGrpSpPr>
          <p:nvPr/>
        </p:nvGrpSpPr>
        <p:grpSpPr bwMode="auto">
          <a:xfrm>
            <a:off x="468313" y="1471613"/>
            <a:ext cx="5892800" cy="4824412"/>
            <a:chOff x="295" y="927"/>
            <a:chExt cx="3712" cy="3039"/>
          </a:xfrm>
        </p:grpSpPr>
        <p:sp>
          <p:nvSpPr>
            <p:cNvPr id="31" name="Rectangle 4"/>
            <p:cNvSpPr>
              <a:spLocks noChangeArrowheads="1"/>
            </p:cNvSpPr>
            <p:nvPr/>
          </p:nvSpPr>
          <p:spPr bwMode="auto">
            <a:xfrm>
              <a:off x="295" y="1269"/>
              <a:ext cx="3712" cy="2206"/>
            </a:xfrm>
            <a:prstGeom prst="rect">
              <a:avLst/>
            </a:prstGeom>
            <a:noFill/>
            <a:ln w="12700">
              <a:solidFill>
                <a:schemeClr val="hlink"/>
              </a:solidFill>
              <a:prstDash val="dashDot"/>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p>
              <a:r>
                <a:rPr lang="zh-CN" altLang="en-US" sz="1800" baseline="0">
                  <a:latin typeface="Times New Roman" pitchFamily="18" charset="0"/>
                  <a:ea typeface="华文行楷" pitchFamily="2" charset="-122"/>
                </a:rPr>
                <a:t> </a:t>
              </a:r>
            </a:p>
          </p:txBody>
        </p:sp>
        <p:sp>
          <p:nvSpPr>
            <p:cNvPr id="32" name="Rectangle 5"/>
            <p:cNvSpPr>
              <a:spLocks noChangeArrowheads="1"/>
            </p:cNvSpPr>
            <p:nvPr/>
          </p:nvSpPr>
          <p:spPr bwMode="auto">
            <a:xfrm>
              <a:off x="515" y="927"/>
              <a:ext cx="577"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楷体_GB2312" pitchFamily="49" charset="-122"/>
                  <a:ea typeface="楷体_GB2312" pitchFamily="49" charset="-122"/>
                </a:rPr>
                <a:t>应用</a:t>
              </a:r>
              <a:r>
                <a:rPr lang="en-US" altLang="zh-CN" sz="2200" b="1" baseline="0">
                  <a:latin typeface="楷体_GB2312" pitchFamily="49" charset="-122"/>
                  <a:ea typeface="楷体_GB2312" pitchFamily="49" charset="-122"/>
                </a:rPr>
                <a:t>A</a:t>
              </a:r>
            </a:p>
          </p:txBody>
        </p:sp>
        <p:sp>
          <p:nvSpPr>
            <p:cNvPr id="33" name="Rectangle 6"/>
            <p:cNvSpPr>
              <a:spLocks noChangeArrowheads="1"/>
            </p:cNvSpPr>
            <p:nvPr/>
          </p:nvSpPr>
          <p:spPr bwMode="auto">
            <a:xfrm>
              <a:off x="1148" y="930"/>
              <a:ext cx="577"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楷体_GB2312" pitchFamily="49" charset="-122"/>
                  <a:ea typeface="楷体_GB2312" pitchFamily="49" charset="-122"/>
                </a:rPr>
                <a:t>应用</a:t>
              </a:r>
              <a:r>
                <a:rPr lang="en-US" altLang="zh-CN" sz="2200" b="1" baseline="0">
                  <a:latin typeface="楷体_GB2312" pitchFamily="49" charset="-122"/>
                  <a:ea typeface="楷体_GB2312" pitchFamily="49" charset="-122"/>
                </a:rPr>
                <a:t>B</a:t>
              </a:r>
            </a:p>
          </p:txBody>
        </p:sp>
        <p:sp>
          <p:nvSpPr>
            <p:cNvPr id="34" name="Rectangle 7"/>
            <p:cNvSpPr>
              <a:spLocks noChangeArrowheads="1"/>
            </p:cNvSpPr>
            <p:nvPr/>
          </p:nvSpPr>
          <p:spPr bwMode="auto">
            <a:xfrm>
              <a:off x="2877" y="927"/>
              <a:ext cx="813"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楷体_GB2312" pitchFamily="49" charset="-122"/>
                  <a:ea typeface="楷体_GB2312" pitchFamily="49" charset="-122"/>
                </a:rPr>
                <a:t>应用</a:t>
              </a:r>
              <a:r>
                <a:rPr lang="en-US" altLang="zh-CN" sz="2200" b="1" baseline="0">
                  <a:latin typeface="楷体_GB2312" pitchFamily="49" charset="-122"/>
                  <a:ea typeface="楷体_GB2312" pitchFamily="49" charset="-122"/>
                </a:rPr>
                <a:t>n</a:t>
              </a:r>
            </a:p>
          </p:txBody>
        </p:sp>
        <p:sp>
          <p:nvSpPr>
            <p:cNvPr id="35" name="Rectangle 8"/>
            <p:cNvSpPr>
              <a:spLocks noChangeArrowheads="1"/>
            </p:cNvSpPr>
            <p:nvPr/>
          </p:nvSpPr>
          <p:spPr bwMode="auto">
            <a:xfrm>
              <a:off x="1980" y="930"/>
              <a:ext cx="644"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Times New Roman" pitchFamily="18" charset="0"/>
                  <a:ea typeface="楷体_GB2312" pitchFamily="49" charset="-122"/>
                </a:rPr>
                <a:t>……</a:t>
              </a:r>
              <a:endParaRPr lang="zh-CN" altLang="en-US" sz="2200" b="1" baseline="0">
                <a:latin typeface="楷体_GB2312" pitchFamily="49" charset="-122"/>
                <a:ea typeface="楷体_GB2312" pitchFamily="49" charset="-122"/>
              </a:endParaRPr>
            </a:p>
          </p:txBody>
        </p:sp>
        <p:sp>
          <p:nvSpPr>
            <p:cNvPr id="36" name="Rectangle 9"/>
            <p:cNvSpPr>
              <a:spLocks noChangeArrowheads="1"/>
            </p:cNvSpPr>
            <p:nvPr/>
          </p:nvSpPr>
          <p:spPr bwMode="auto">
            <a:xfrm>
              <a:off x="514" y="1332"/>
              <a:ext cx="871" cy="260"/>
            </a:xfrm>
            <a:prstGeom prst="rect">
              <a:avLst/>
            </a:prstGeom>
            <a:solidFill>
              <a:schemeClr val="hlink"/>
            </a:solidFill>
            <a:ln w="9525">
              <a:solidFill>
                <a:srgbClr val="000000"/>
              </a:solidFill>
              <a:miter lim="800000"/>
              <a:headEnd/>
              <a:tailEnd/>
            </a:ln>
          </p:spPr>
          <p:txBody>
            <a:bodyPr/>
            <a:lstStyle/>
            <a:p>
              <a:pPr algn="ctr" eaLnBrk="0" hangingPunct="0"/>
              <a:r>
                <a:rPr lang="zh-CN" altLang="en-US" sz="2200" b="1" baseline="0">
                  <a:solidFill>
                    <a:schemeClr val="bg1"/>
                  </a:solidFill>
                  <a:latin typeface="楷体_GB2312" pitchFamily="49" charset="-122"/>
                  <a:ea typeface="楷体_GB2312" pitchFamily="49" charset="-122"/>
                </a:rPr>
                <a:t>外模式1</a:t>
              </a:r>
            </a:p>
          </p:txBody>
        </p:sp>
        <p:sp>
          <p:nvSpPr>
            <p:cNvPr id="37" name="Rectangle 10"/>
            <p:cNvSpPr>
              <a:spLocks noChangeArrowheads="1"/>
            </p:cNvSpPr>
            <p:nvPr/>
          </p:nvSpPr>
          <p:spPr bwMode="auto">
            <a:xfrm>
              <a:off x="1659" y="1332"/>
              <a:ext cx="903" cy="253"/>
            </a:xfrm>
            <a:prstGeom prst="rect">
              <a:avLst/>
            </a:prstGeom>
            <a:solidFill>
              <a:schemeClr val="hlink"/>
            </a:solidFill>
            <a:ln w="9525">
              <a:solidFill>
                <a:srgbClr val="000000"/>
              </a:solidFill>
              <a:miter lim="800000"/>
              <a:headEnd/>
              <a:tailEnd/>
            </a:ln>
          </p:spPr>
          <p:txBody>
            <a:bodyPr/>
            <a:lstStyle/>
            <a:p>
              <a:pPr algn="ctr" eaLnBrk="0" hangingPunct="0"/>
              <a:r>
                <a:rPr lang="zh-CN" altLang="en-US" sz="2200" b="1" baseline="0">
                  <a:solidFill>
                    <a:schemeClr val="bg1"/>
                  </a:solidFill>
                  <a:latin typeface="Times New Roman" pitchFamily="18" charset="0"/>
                  <a:ea typeface="楷体_GB2312" pitchFamily="49" charset="-122"/>
                </a:rPr>
                <a:t>……</a:t>
              </a:r>
              <a:endParaRPr lang="zh-CN" altLang="en-US" sz="2200" b="1" baseline="0">
                <a:solidFill>
                  <a:schemeClr val="bg1"/>
                </a:solidFill>
                <a:latin typeface="楷体_GB2312" pitchFamily="49" charset="-122"/>
                <a:ea typeface="楷体_GB2312" pitchFamily="49" charset="-122"/>
              </a:endParaRPr>
            </a:p>
          </p:txBody>
        </p:sp>
        <p:sp>
          <p:nvSpPr>
            <p:cNvPr id="38" name="Rectangle 11"/>
            <p:cNvSpPr>
              <a:spLocks noChangeArrowheads="1"/>
            </p:cNvSpPr>
            <p:nvPr/>
          </p:nvSpPr>
          <p:spPr bwMode="auto">
            <a:xfrm>
              <a:off x="2697" y="1332"/>
              <a:ext cx="1083" cy="253"/>
            </a:xfrm>
            <a:prstGeom prst="rect">
              <a:avLst/>
            </a:prstGeom>
            <a:solidFill>
              <a:schemeClr val="hlink"/>
            </a:solidFill>
            <a:ln w="9525">
              <a:solidFill>
                <a:srgbClr val="000000"/>
              </a:solidFill>
              <a:miter lim="800000"/>
              <a:headEnd/>
              <a:tailEnd/>
            </a:ln>
          </p:spPr>
          <p:txBody>
            <a:bodyPr/>
            <a:lstStyle/>
            <a:p>
              <a:pPr algn="ctr" eaLnBrk="0" hangingPunct="0"/>
              <a:r>
                <a:rPr lang="zh-CN" altLang="en-US" sz="2200" b="1" baseline="0">
                  <a:solidFill>
                    <a:schemeClr val="bg1"/>
                  </a:solidFill>
                  <a:latin typeface="楷体_GB2312" pitchFamily="49" charset="-122"/>
                  <a:ea typeface="楷体_GB2312" pitchFamily="49" charset="-122"/>
                </a:rPr>
                <a:t>外模式</a:t>
              </a:r>
              <a:r>
                <a:rPr lang="en-US" altLang="zh-CN" sz="2200" b="1" baseline="0">
                  <a:solidFill>
                    <a:schemeClr val="bg1"/>
                  </a:solidFill>
                  <a:latin typeface="楷体_GB2312" pitchFamily="49" charset="-122"/>
                  <a:ea typeface="楷体_GB2312" pitchFamily="49" charset="-122"/>
                </a:rPr>
                <a:t>m</a:t>
              </a:r>
            </a:p>
          </p:txBody>
        </p:sp>
        <p:sp>
          <p:nvSpPr>
            <p:cNvPr id="39" name="AutoShape 12"/>
            <p:cNvSpPr>
              <a:spLocks noChangeArrowheads="1"/>
            </p:cNvSpPr>
            <p:nvPr/>
          </p:nvSpPr>
          <p:spPr bwMode="auto">
            <a:xfrm>
              <a:off x="938" y="1751"/>
              <a:ext cx="2255" cy="279"/>
            </a:xfrm>
            <a:prstGeom prst="roundRect">
              <a:avLst>
                <a:gd name="adj" fmla="val 16667"/>
              </a:avLst>
            </a:prstGeom>
            <a:solidFill>
              <a:schemeClr val="accent1"/>
            </a:solidFill>
            <a:ln w="9525">
              <a:solidFill>
                <a:schemeClr val="tx1"/>
              </a:solidFill>
              <a:round/>
              <a:headEnd/>
              <a:tailEnd/>
            </a:ln>
          </p:spPr>
          <p:txBody>
            <a:bodyPr/>
            <a:lstStyle/>
            <a:p>
              <a:pPr algn="ctr" eaLnBrk="0" hangingPunct="0"/>
              <a:r>
                <a:rPr lang="zh-CN" altLang="en-US" sz="2200" b="1" baseline="0">
                  <a:solidFill>
                    <a:schemeClr val="bg1"/>
                  </a:solidFill>
                  <a:latin typeface="楷体_GB2312" pitchFamily="49" charset="-122"/>
                  <a:ea typeface="楷体_GB2312" pitchFamily="49" charset="-122"/>
                </a:rPr>
                <a:t>子模式/模式映象</a:t>
              </a:r>
            </a:p>
          </p:txBody>
        </p:sp>
        <p:sp>
          <p:nvSpPr>
            <p:cNvPr id="40" name="AutoShape 13"/>
            <p:cNvSpPr>
              <a:spLocks noChangeArrowheads="1"/>
            </p:cNvSpPr>
            <p:nvPr/>
          </p:nvSpPr>
          <p:spPr bwMode="auto">
            <a:xfrm>
              <a:off x="1484" y="2243"/>
              <a:ext cx="1344" cy="255"/>
            </a:xfrm>
            <a:prstGeom prst="flowChartProcess">
              <a:avLst/>
            </a:prstGeom>
            <a:solidFill>
              <a:schemeClr val="hlink"/>
            </a:solidFill>
            <a:ln w="9525">
              <a:solidFill>
                <a:srgbClr val="000000"/>
              </a:solidFill>
              <a:miter lim="800000"/>
              <a:headEnd/>
              <a:tailEnd/>
            </a:ln>
          </p:spPr>
          <p:txBody>
            <a:bodyPr tIns="0" bIns="0" anchor="ctr" anchorCtr="1"/>
            <a:lstStyle/>
            <a:p>
              <a:pPr algn="ctr" eaLnBrk="0" hangingPunct="0"/>
              <a:r>
                <a:rPr lang="zh-CN" altLang="en-US" sz="2200" b="1" baseline="0">
                  <a:solidFill>
                    <a:schemeClr val="bg1"/>
                  </a:solidFill>
                  <a:latin typeface="楷体_GB2312" pitchFamily="49" charset="-122"/>
                  <a:ea typeface="楷体_GB2312" pitchFamily="49" charset="-122"/>
                </a:rPr>
                <a:t>模　式</a:t>
              </a:r>
            </a:p>
          </p:txBody>
        </p:sp>
        <p:sp>
          <p:nvSpPr>
            <p:cNvPr id="41" name="AutoShape 14"/>
            <p:cNvSpPr>
              <a:spLocks noChangeArrowheads="1"/>
            </p:cNvSpPr>
            <p:nvPr/>
          </p:nvSpPr>
          <p:spPr bwMode="auto">
            <a:xfrm>
              <a:off x="1036" y="2662"/>
              <a:ext cx="2237" cy="281"/>
            </a:xfrm>
            <a:prstGeom prst="roundRect">
              <a:avLst>
                <a:gd name="adj" fmla="val 16667"/>
              </a:avLst>
            </a:prstGeom>
            <a:solidFill>
              <a:schemeClr val="accent1"/>
            </a:solidFill>
            <a:ln w="9525">
              <a:solidFill>
                <a:srgbClr val="000000"/>
              </a:solidFill>
              <a:round/>
              <a:headEnd/>
              <a:tailEnd/>
            </a:ln>
          </p:spPr>
          <p:txBody>
            <a:bodyPr tIns="0" bIns="0" anchor="ctr" anchorCtr="1"/>
            <a:lstStyle/>
            <a:p>
              <a:pPr algn="ctr" eaLnBrk="0" hangingPunct="0"/>
              <a:r>
                <a:rPr lang="zh-CN" altLang="en-US" sz="2200" b="1" baseline="0">
                  <a:solidFill>
                    <a:schemeClr val="bg1"/>
                  </a:solidFill>
                  <a:latin typeface="楷体_GB2312" pitchFamily="49" charset="-122"/>
                  <a:ea typeface="楷体_GB2312" pitchFamily="49" charset="-122"/>
                </a:rPr>
                <a:t>模式/内模式映象</a:t>
              </a:r>
            </a:p>
          </p:txBody>
        </p:sp>
        <p:sp>
          <p:nvSpPr>
            <p:cNvPr id="42" name="AutoShape 15"/>
            <p:cNvSpPr>
              <a:spLocks noChangeArrowheads="1"/>
            </p:cNvSpPr>
            <p:nvPr/>
          </p:nvSpPr>
          <p:spPr bwMode="auto">
            <a:xfrm>
              <a:off x="1484" y="3150"/>
              <a:ext cx="1344" cy="254"/>
            </a:xfrm>
            <a:prstGeom prst="flowChartProcess">
              <a:avLst/>
            </a:prstGeom>
            <a:solidFill>
              <a:schemeClr val="hlink"/>
            </a:solidFill>
            <a:ln w="9525">
              <a:solidFill>
                <a:srgbClr val="000000"/>
              </a:solidFill>
              <a:miter lim="800000"/>
              <a:headEnd/>
              <a:tailEnd/>
            </a:ln>
          </p:spPr>
          <p:txBody>
            <a:bodyPr tIns="0" bIns="0" anchor="ctr" anchorCtr="1"/>
            <a:lstStyle/>
            <a:p>
              <a:pPr algn="ctr" eaLnBrk="0" hangingPunct="0"/>
              <a:r>
                <a:rPr lang="zh-CN" altLang="en-US" sz="2200" b="1" baseline="0">
                  <a:solidFill>
                    <a:schemeClr val="bg1"/>
                  </a:solidFill>
                  <a:latin typeface="楷体_GB2312" pitchFamily="49" charset="-122"/>
                  <a:ea typeface="楷体_GB2312" pitchFamily="49" charset="-122"/>
                </a:rPr>
                <a:t>内　模　式</a:t>
              </a:r>
            </a:p>
          </p:txBody>
        </p:sp>
        <p:sp>
          <p:nvSpPr>
            <p:cNvPr id="43" name="AutoShape 16"/>
            <p:cNvSpPr>
              <a:spLocks noChangeArrowheads="1"/>
            </p:cNvSpPr>
            <p:nvPr/>
          </p:nvSpPr>
          <p:spPr bwMode="auto">
            <a:xfrm>
              <a:off x="1390" y="3565"/>
              <a:ext cx="1443" cy="401"/>
            </a:xfrm>
            <a:prstGeom prst="can">
              <a:avLst>
                <a:gd name="adj" fmla="val 50000"/>
              </a:avLst>
            </a:prstGeom>
            <a:solidFill>
              <a:srgbClr val="66FFCC"/>
            </a:solidFill>
            <a:ln w="9525">
              <a:solidFill>
                <a:srgbClr val="000000"/>
              </a:solidFill>
              <a:round/>
              <a:headEnd/>
              <a:tailEnd/>
            </a:ln>
          </p:spPr>
          <p:txBody>
            <a:bodyPr tIns="190800"/>
            <a:lstStyle/>
            <a:p>
              <a:pPr algn="ctr" eaLnBrk="0" hangingPunct="0"/>
              <a:endParaRPr lang="zh-CN" altLang="en-US" sz="2200" b="1" baseline="0">
                <a:latin typeface="楷体_GB2312" pitchFamily="49" charset="-122"/>
                <a:ea typeface="楷体_GB2312" pitchFamily="49" charset="-122"/>
              </a:endParaRPr>
            </a:p>
          </p:txBody>
        </p:sp>
        <p:sp>
          <p:nvSpPr>
            <p:cNvPr id="44" name="Line 17"/>
            <p:cNvSpPr>
              <a:spLocks noChangeShapeType="1"/>
            </p:cNvSpPr>
            <p:nvPr/>
          </p:nvSpPr>
          <p:spPr bwMode="auto">
            <a:xfrm>
              <a:off x="768" y="1198"/>
              <a:ext cx="137"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5" name="Line 18"/>
            <p:cNvSpPr>
              <a:spLocks noChangeShapeType="1"/>
            </p:cNvSpPr>
            <p:nvPr/>
          </p:nvSpPr>
          <p:spPr bwMode="auto">
            <a:xfrm flipH="1">
              <a:off x="1176" y="1198"/>
              <a:ext cx="225"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6" name="Line 19"/>
            <p:cNvSpPr>
              <a:spLocks noChangeShapeType="1"/>
            </p:cNvSpPr>
            <p:nvPr/>
          </p:nvSpPr>
          <p:spPr bwMode="auto">
            <a:xfrm flipH="1">
              <a:off x="2112" y="1198"/>
              <a:ext cx="175"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7" name="Line 20"/>
            <p:cNvSpPr>
              <a:spLocks noChangeShapeType="1"/>
            </p:cNvSpPr>
            <p:nvPr/>
          </p:nvSpPr>
          <p:spPr bwMode="auto">
            <a:xfrm flipH="1">
              <a:off x="3239" y="1198"/>
              <a:ext cx="35"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8" name="Line 21"/>
            <p:cNvSpPr>
              <a:spLocks noChangeShapeType="1"/>
            </p:cNvSpPr>
            <p:nvPr/>
          </p:nvSpPr>
          <p:spPr bwMode="auto">
            <a:xfrm>
              <a:off x="2112" y="2937"/>
              <a:ext cx="0" cy="209"/>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9" name="Line 22"/>
            <p:cNvSpPr>
              <a:spLocks noChangeShapeType="1"/>
            </p:cNvSpPr>
            <p:nvPr/>
          </p:nvSpPr>
          <p:spPr bwMode="auto">
            <a:xfrm>
              <a:off x="2112" y="3422"/>
              <a:ext cx="0" cy="143"/>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0" name="Line 23"/>
            <p:cNvSpPr>
              <a:spLocks noChangeShapeType="1"/>
            </p:cNvSpPr>
            <p:nvPr/>
          </p:nvSpPr>
          <p:spPr bwMode="auto">
            <a:xfrm>
              <a:off x="2112" y="2493"/>
              <a:ext cx="0" cy="165"/>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1" name="Line 24"/>
            <p:cNvSpPr>
              <a:spLocks noChangeShapeType="1"/>
            </p:cNvSpPr>
            <p:nvPr/>
          </p:nvSpPr>
          <p:spPr bwMode="auto">
            <a:xfrm>
              <a:off x="2112" y="2030"/>
              <a:ext cx="0" cy="210"/>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2" name="Line 25"/>
            <p:cNvSpPr>
              <a:spLocks noChangeShapeType="1"/>
            </p:cNvSpPr>
            <p:nvPr/>
          </p:nvSpPr>
          <p:spPr bwMode="auto">
            <a:xfrm>
              <a:off x="1190" y="1589"/>
              <a:ext cx="126" cy="176"/>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3" name="Line 26"/>
            <p:cNvSpPr>
              <a:spLocks noChangeShapeType="1"/>
            </p:cNvSpPr>
            <p:nvPr/>
          </p:nvSpPr>
          <p:spPr bwMode="auto">
            <a:xfrm>
              <a:off x="2112" y="1585"/>
              <a:ext cx="0" cy="166"/>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4" name="Line 27"/>
            <p:cNvSpPr>
              <a:spLocks noChangeShapeType="1"/>
            </p:cNvSpPr>
            <p:nvPr/>
          </p:nvSpPr>
          <p:spPr bwMode="auto">
            <a:xfrm flipV="1">
              <a:off x="2836" y="1576"/>
              <a:ext cx="101" cy="17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5" name="Rectangle 28"/>
            <p:cNvSpPr>
              <a:spLocks noChangeArrowheads="1"/>
            </p:cNvSpPr>
            <p:nvPr/>
          </p:nvSpPr>
          <p:spPr bwMode="auto">
            <a:xfrm>
              <a:off x="1784" y="3612"/>
              <a:ext cx="621" cy="301"/>
            </a:xfrm>
            <a:prstGeom prst="rect">
              <a:avLst/>
            </a:prstGeom>
            <a:solidFill>
              <a:srgbClr val="66FFCC"/>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zh-CN" altLang="en-US" sz="2200" b="1" baseline="0">
                  <a:solidFill>
                    <a:schemeClr val="bg1"/>
                  </a:solidFill>
                  <a:latin typeface="楷体_GB2312" pitchFamily="49" charset="-122"/>
                  <a:ea typeface="楷体_GB2312" pitchFamily="49" charset="-122"/>
                </a:rPr>
                <a:t>数据库</a:t>
              </a:r>
            </a:p>
          </p:txBody>
        </p:sp>
        <p:sp>
          <p:nvSpPr>
            <p:cNvPr id="56" name="Rectangle 29"/>
            <p:cNvSpPr>
              <a:spLocks noChangeArrowheads="1"/>
            </p:cNvSpPr>
            <p:nvPr/>
          </p:nvSpPr>
          <p:spPr bwMode="auto">
            <a:xfrm>
              <a:off x="333" y="3067"/>
              <a:ext cx="542"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en-US" altLang="zh-CN" sz="2800" b="1" baseline="0">
                  <a:solidFill>
                    <a:srgbClr val="FFFF00"/>
                  </a:solidFill>
                  <a:latin typeface="楷体_GB2312" pitchFamily="49" charset="-122"/>
                  <a:ea typeface="楷体_GB2312" pitchFamily="49" charset="-122"/>
                </a:rPr>
                <a:t>DBMS</a:t>
              </a:r>
            </a:p>
          </p:txBody>
        </p:sp>
      </p:grpSp>
      <p:sp>
        <p:nvSpPr>
          <p:cNvPr id="58" name="AutoShape 28"/>
          <p:cNvSpPr>
            <a:spLocks noChangeArrowheads="1"/>
          </p:cNvSpPr>
          <p:nvPr/>
        </p:nvSpPr>
        <p:spPr bwMode="auto">
          <a:xfrm>
            <a:off x="5026144" y="2117305"/>
            <a:ext cx="3621320" cy="4108712"/>
          </a:xfrm>
          <a:prstGeom prst="wedgeRoundRectCallout">
            <a:avLst>
              <a:gd name="adj1" fmla="val -59767"/>
              <a:gd name="adj2" fmla="val -28446"/>
              <a:gd name="adj3" fmla="val 16667"/>
            </a:avLst>
          </a:prstGeom>
          <a:solidFill>
            <a:schemeClr val="accent5">
              <a:lumMod val="20000"/>
              <a:lumOff val="80000"/>
            </a:schemeClr>
          </a:solidFill>
          <a:ln>
            <a:solidFill>
              <a:srgbClr val="FF6600"/>
            </a:solidFill>
            <a:headEnd type="none" w="med" len="med"/>
            <a:tailEnd type="none" w="med" len="med"/>
          </a:ln>
          <a:effectLst>
            <a:glow rad="101600">
              <a:srgbClr val="FFC000">
                <a:alpha val="60000"/>
              </a:srgb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spcAft>
                <a:spcPct val="50000"/>
              </a:spcAft>
            </a:pPr>
            <a:r>
              <a:rPr lang="zh-CN" altLang="en-US" sz="2600" baseline="0" dirty="0">
                <a:solidFill>
                  <a:schemeClr val="dk1"/>
                </a:solidFill>
                <a:latin typeface="+mn-lt"/>
                <a:ea typeface="+mn-ea"/>
              </a:rPr>
              <a:t>在外模式中</a:t>
            </a:r>
            <a:r>
              <a:rPr lang="zh-CN" altLang="zh-CN" sz="2600" baseline="0" dirty="0">
                <a:solidFill>
                  <a:schemeClr val="dk1"/>
                </a:solidFill>
                <a:latin typeface="+mn-lt"/>
                <a:ea typeface="+mn-ea"/>
              </a:rPr>
              <a:t>定义</a:t>
            </a:r>
            <a:r>
              <a:rPr lang="zh-CN" altLang="en-US" sz="2600" baseline="0" dirty="0">
                <a:solidFill>
                  <a:schemeClr val="dk1"/>
                </a:solidFill>
                <a:latin typeface="+mn-lt"/>
                <a:ea typeface="+mn-ea"/>
              </a:rPr>
              <a:t>的</a:t>
            </a:r>
            <a:r>
              <a:rPr lang="zh-CN" altLang="zh-CN" sz="2600" baseline="0" dirty="0">
                <a:solidFill>
                  <a:schemeClr val="dk1"/>
                </a:solidFill>
                <a:latin typeface="+mn-lt"/>
                <a:ea typeface="+mn-ea"/>
              </a:rPr>
              <a:t>某一个外模式和模式之间的对应关系。当模式发生改变时，DBA可以对外模式/模式的映像作出相应的改变，从而可以使外模式保持不变，这就是数据的</a:t>
            </a:r>
            <a:r>
              <a:rPr lang="zh-CN" altLang="zh-CN" sz="2600" b="1" baseline="0" dirty="0">
                <a:solidFill>
                  <a:srgbClr val="FF0000"/>
                </a:solidFill>
                <a:latin typeface="+mn-lt"/>
                <a:ea typeface="+mn-ea"/>
              </a:rPr>
              <a:t>逻辑独立性</a:t>
            </a:r>
            <a:r>
              <a:rPr lang="zh-CN" altLang="en-US" sz="2600" baseline="0" dirty="0">
                <a:solidFill>
                  <a:schemeClr val="dk1"/>
                </a:solidFill>
                <a:latin typeface="+mn-lt"/>
                <a:ea typeface="+mn-ea"/>
              </a:rPr>
              <a:t>。</a:t>
            </a:r>
            <a:endParaRPr lang="zh-CN" altLang="zh-CN" sz="2600" baseline="0" dirty="0">
              <a:solidFill>
                <a:schemeClr val="dk1"/>
              </a:solidFill>
              <a:latin typeface="+mn-lt"/>
              <a:ea typeface="+mn-ea"/>
            </a:endParaRPr>
          </a:p>
        </p:txBody>
      </p:sp>
    </p:spTree>
    <p:extLst>
      <p:ext uri="{BB962C8B-B14F-4D97-AF65-F5344CB8AC3E}">
        <p14:creationId xmlns:p14="http://schemas.microsoft.com/office/powerpoint/2010/main" val="3566198857"/>
      </p:ext>
    </p:extLst>
  </p:cSld>
  <p:clrMapOvr>
    <a:masterClrMapping/>
  </p:clrMapOvr>
  <p:transition spd="slow">
    <p:wipe/>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childTnLst>
                                </p:cTn>
                              </p:par>
                            </p:childTnLst>
                          </p:cTn>
                        </p:par>
                        <p:par>
                          <p:cTn id="8" fill="hold">
                            <p:stCondLst>
                              <p:cond delay="1000"/>
                            </p:stCondLst>
                            <p:childTnLst>
                              <p:par>
                                <p:cTn id="9" presetID="47" presetClass="entr" presetSubtype="0" fill="hold" grpId="0" nodeType="afterEffect">
                                  <p:stCondLst>
                                    <p:cond delay="0"/>
                                  </p:stCondLst>
                                  <p:childTnLst>
                                    <p:set>
                                      <p:cBhvr>
                                        <p:cTn id="10" dur="1" fill="hold">
                                          <p:stCondLst>
                                            <p:cond delay="0"/>
                                          </p:stCondLst>
                                        </p:cTn>
                                        <p:tgtEl>
                                          <p:spTgt spid="58"/>
                                        </p:tgtEl>
                                        <p:attrNameLst>
                                          <p:attrName>style.visibility</p:attrName>
                                        </p:attrNameLst>
                                      </p:cBhvr>
                                      <p:to>
                                        <p:strVal val="visible"/>
                                      </p:to>
                                    </p:set>
                                    <p:animEffect transition="in" filter="fade">
                                      <p:cBhvr>
                                        <p:cTn id="11" dur="1000"/>
                                        <p:tgtEl>
                                          <p:spTgt spid="58"/>
                                        </p:tgtEl>
                                      </p:cBhvr>
                                    </p:animEffect>
                                    <p:anim calcmode="lin" valueType="num">
                                      <p:cBhvr>
                                        <p:cTn id="12" dur="1000" fill="hold"/>
                                        <p:tgtEl>
                                          <p:spTgt spid="58"/>
                                        </p:tgtEl>
                                        <p:attrNameLst>
                                          <p:attrName>ppt_x</p:attrName>
                                        </p:attrNameLst>
                                      </p:cBhvr>
                                      <p:tavLst>
                                        <p:tav tm="0">
                                          <p:val>
                                            <p:strVal val="#ppt_x"/>
                                          </p:val>
                                        </p:tav>
                                        <p:tav tm="100000">
                                          <p:val>
                                            <p:strVal val="#ppt_x"/>
                                          </p:val>
                                        </p:tav>
                                      </p:tavLst>
                                    </p:anim>
                                    <p:anim calcmode="lin" valueType="num">
                                      <p:cBhvr>
                                        <p:cTn id="13"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9" name="Rectangle 3"/>
          <p:cNvSpPr>
            <a:spLocks noGrp="1" noChangeArrowheads="1"/>
          </p:cNvSpPr>
          <p:nvPr>
            <p:ph type="title"/>
          </p:nvPr>
        </p:nvSpPr>
        <p:spPr>
          <a:xfrm>
            <a:off x="179388" y="-27384"/>
            <a:ext cx="3736133"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r>
              <a:rPr lang="zh-CN" altLang="en-US" sz="4000" b="1" kern="1200" dirty="0" smtClean="0">
                <a:solidFill>
                  <a:schemeClr val="folHlink"/>
                </a:solidFill>
                <a:effectLst>
                  <a:outerShdw blurRad="38100" dist="38100" dir="2700000" algn="tl">
                    <a:srgbClr val="000000"/>
                  </a:outerShdw>
                </a:effectLst>
                <a:cs typeface="+mn-cs"/>
              </a:rPr>
              <a:t>数据库系统结构</a:t>
            </a:r>
            <a:endParaRPr lang="zh-CN" altLang="en-US" sz="4000" b="1" kern="1200" dirty="0">
              <a:solidFill>
                <a:schemeClr val="folHlink"/>
              </a:solidFill>
              <a:effectLst>
                <a:outerShdw blurRad="38100" dist="38100" dir="2700000" algn="tl">
                  <a:srgbClr val="000000"/>
                </a:outerShdw>
              </a:effectLst>
              <a:cs typeface="+mn-cs"/>
            </a:endParaRPr>
          </a:p>
        </p:txBody>
      </p:sp>
      <p:grpSp>
        <p:nvGrpSpPr>
          <p:cNvPr id="30" name="Group 3"/>
          <p:cNvGrpSpPr>
            <a:grpSpLocks/>
          </p:cNvGrpSpPr>
          <p:nvPr/>
        </p:nvGrpSpPr>
        <p:grpSpPr bwMode="auto">
          <a:xfrm>
            <a:off x="468313" y="1471613"/>
            <a:ext cx="5892800" cy="4824412"/>
            <a:chOff x="295" y="927"/>
            <a:chExt cx="3712" cy="3039"/>
          </a:xfrm>
        </p:grpSpPr>
        <p:sp>
          <p:nvSpPr>
            <p:cNvPr id="31" name="Rectangle 4"/>
            <p:cNvSpPr>
              <a:spLocks noChangeArrowheads="1"/>
            </p:cNvSpPr>
            <p:nvPr/>
          </p:nvSpPr>
          <p:spPr bwMode="auto">
            <a:xfrm>
              <a:off x="295" y="1269"/>
              <a:ext cx="3712" cy="2206"/>
            </a:xfrm>
            <a:prstGeom prst="rect">
              <a:avLst/>
            </a:prstGeom>
            <a:noFill/>
            <a:ln w="12700">
              <a:solidFill>
                <a:schemeClr val="hlink"/>
              </a:solidFill>
              <a:prstDash val="dashDot"/>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p>
              <a:r>
                <a:rPr lang="zh-CN" altLang="en-US" sz="1800" baseline="0">
                  <a:latin typeface="Times New Roman" pitchFamily="18" charset="0"/>
                  <a:ea typeface="华文行楷" pitchFamily="2" charset="-122"/>
                </a:rPr>
                <a:t> </a:t>
              </a:r>
            </a:p>
          </p:txBody>
        </p:sp>
        <p:sp>
          <p:nvSpPr>
            <p:cNvPr id="32" name="Rectangle 5"/>
            <p:cNvSpPr>
              <a:spLocks noChangeArrowheads="1"/>
            </p:cNvSpPr>
            <p:nvPr/>
          </p:nvSpPr>
          <p:spPr bwMode="auto">
            <a:xfrm>
              <a:off x="515" y="927"/>
              <a:ext cx="577"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楷体_GB2312" pitchFamily="49" charset="-122"/>
                  <a:ea typeface="楷体_GB2312" pitchFamily="49" charset="-122"/>
                </a:rPr>
                <a:t>应用</a:t>
              </a:r>
              <a:r>
                <a:rPr lang="en-US" altLang="zh-CN" sz="2200" b="1" baseline="0">
                  <a:latin typeface="楷体_GB2312" pitchFamily="49" charset="-122"/>
                  <a:ea typeface="楷体_GB2312" pitchFamily="49" charset="-122"/>
                </a:rPr>
                <a:t>A</a:t>
              </a:r>
            </a:p>
          </p:txBody>
        </p:sp>
        <p:sp>
          <p:nvSpPr>
            <p:cNvPr id="33" name="Rectangle 6"/>
            <p:cNvSpPr>
              <a:spLocks noChangeArrowheads="1"/>
            </p:cNvSpPr>
            <p:nvPr/>
          </p:nvSpPr>
          <p:spPr bwMode="auto">
            <a:xfrm>
              <a:off x="1148" y="930"/>
              <a:ext cx="577"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楷体_GB2312" pitchFamily="49" charset="-122"/>
                  <a:ea typeface="楷体_GB2312" pitchFamily="49" charset="-122"/>
                </a:rPr>
                <a:t>应用</a:t>
              </a:r>
              <a:r>
                <a:rPr lang="en-US" altLang="zh-CN" sz="2200" b="1" baseline="0">
                  <a:latin typeface="楷体_GB2312" pitchFamily="49" charset="-122"/>
                  <a:ea typeface="楷体_GB2312" pitchFamily="49" charset="-122"/>
                </a:rPr>
                <a:t>B</a:t>
              </a:r>
            </a:p>
          </p:txBody>
        </p:sp>
        <p:sp>
          <p:nvSpPr>
            <p:cNvPr id="34" name="Rectangle 7"/>
            <p:cNvSpPr>
              <a:spLocks noChangeArrowheads="1"/>
            </p:cNvSpPr>
            <p:nvPr/>
          </p:nvSpPr>
          <p:spPr bwMode="auto">
            <a:xfrm>
              <a:off x="2877" y="927"/>
              <a:ext cx="813"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楷体_GB2312" pitchFamily="49" charset="-122"/>
                  <a:ea typeface="楷体_GB2312" pitchFamily="49" charset="-122"/>
                </a:rPr>
                <a:t>应用</a:t>
              </a:r>
              <a:r>
                <a:rPr lang="en-US" altLang="zh-CN" sz="2200" b="1" baseline="0">
                  <a:latin typeface="楷体_GB2312" pitchFamily="49" charset="-122"/>
                  <a:ea typeface="楷体_GB2312" pitchFamily="49" charset="-122"/>
                </a:rPr>
                <a:t>n</a:t>
              </a:r>
            </a:p>
          </p:txBody>
        </p:sp>
        <p:sp>
          <p:nvSpPr>
            <p:cNvPr id="35" name="Rectangle 8"/>
            <p:cNvSpPr>
              <a:spLocks noChangeArrowheads="1"/>
            </p:cNvSpPr>
            <p:nvPr/>
          </p:nvSpPr>
          <p:spPr bwMode="auto">
            <a:xfrm>
              <a:off x="1980" y="930"/>
              <a:ext cx="644" cy="274"/>
            </a:xfrm>
            <a:prstGeom prst="rect">
              <a:avLst/>
            </a:prstGeom>
            <a:solidFill>
              <a:schemeClr val="bg1"/>
            </a:solidFill>
            <a:ln w="9525">
              <a:solidFill>
                <a:srgbClr val="000000"/>
              </a:solidFill>
              <a:miter lim="800000"/>
              <a:headEnd/>
              <a:tailEnd/>
            </a:ln>
          </p:spPr>
          <p:txBody>
            <a:bodyPr/>
            <a:lstStyle/>
            <a:p>
              <a:pPr algn="ctr" eaLnBrk="0" hangingPunct="0"/>
              <a:r>
                <a:rPr lang="zh-CN" altLang="en-US" sz="2200" b="1" baseline="0">
                  <a:latin typeface="Times New Roman" pitchFamily="18" charset="0"/>
                  <a:ea typeface="楷体_GB2312" pitchFamily="49" charset="-122"/>
                </a:rPr>
                <a:t>……</a:t>
              </a:r>
              <a:endParaRPr lang="zh-CN" altLang="en-US" sz="2200" b="1" baseline="0">
                <a:latin typeface="楷体_GB2312" pitchFamily="49" charset="-122"/>
                <a:ea typeface="楷体_GB2312" pitchFamily="49" charset="-122"/>
              </a:endParaRPr>
            </a:p>
          </p:txBody>
        </p:sp>
        <p:sp>
          <p:nvSpPr>
            <p:cNvPr id="36" name="Rectangle 9"/>
            <p:cNvSpPr>
              <a:spLocks noChangeArrowheads="1"/>
            </p:cNvSpPr>
            <p:nvPr/>
          </p:nvSpPr>
          <p:spPr bwMode="auto">
            <a:xfrm>
              <a:off x="514" y="1332"/>
              <a:ext cx="871" cy="260"/>
            </a:xfrm>
            <a:prstGeom prst="rect">
              <a:avLst/>
            </a:prstGeom>
            <a:solidFill>
              <a:schemeClr val="hlink"/>
            </a:solidFill>
            <a:ln w="9525">
              <a:solidFill>
                <a:srgbClr val="000000"/>
              </a:solidFill>
              <a:miter lim="800000"/>
              <a:headEnd/>
              <a:tailEnd/>
            </a:ln>
          </p:spPr>
          <p:txBody>
            <a:bodyPr/>
            <a:lstStyle/>
            <a:p>
              <a:pPr algn="ctr" eaLnBrk="0" hangingPunct="0"/>
              <a:r>
                <a:rPr lang="zh-CN" altLang="en-US" sz="2200" b="1" baseline="0">
                  <a:solidFill>
                    <a:schemeClr val="bg1"/>
                  </a:solidFill>
                  <a:latin typeface="楷体_GB2312" pitchFamily="49" charset="-122"/>
                  <a:ea typeface="楷体_GB2312" pitchFamily="49" charset="-122"/>
                </a:rPr>
                <a:t>外模式1</a:t>
              </a:r>
            </a:p>
          </p:txBody>
        </p:sp>
        <p:sp>
          <p:nvSpPr>
            <p:cNvPr id="37" name="Rectangle 10"/>
            <p:cNvSpPr>
              <a:spLocks noChangeArrowheads="1"/>
            </p:cNvSpPr>
            <p:nvPr/>
          </p:nvSpPr>
          <p:spPr bwMode="auto">
            <a:xfrm>
              <a:off x="1659" y="1332"/>
              <a:ext cx="903" cy="253"/>
            </a:xfrm>
            <a:prstGeom prst="rect">
              <a:avLst/>
            </a:prstGeom>
            <a:solidFill>
              <a:schemeClr val="hlink"/>
            </a:solidFill>
            <a:ln w="9525">
              <a:solidFill>
                <a:srgbClr val="000000"/>
              </a:solidFill>
              <a:miter lim="800000"/>
              <a:headEnd/>
              <a:tailEnd/>
            </a:ln>
          </p:spPr>
          <p:txBody>
            <a:bodyPr/>
            <a:lstStyle/>
            <a:p>
              <a:pPr algn="ctr" eaLnBrk="0" hangingPunct="0"/>
              <a:r>
                <a:rPr lang="zh-CN" altLang="en-US" sz="2200" b="1" baseline="0">
                  <a:solidFill>
                    <a:schemeClr val="bg1"/>
                  </a:solidFill>
                  <a:latin typeface="Times New Roman" pitchFamily="18" charset="0"/>
                  <a:ea typeface="楷体_GB2312" pitchFamily="49" charset="-122"/>
                </a:rPr>
                <a:t>……</a:t>
              </a:r>
              <a:endParaRPr lang="zh-CN" altLang="en-US" sz="2200" b="1" baseline="0">
                <a:solidFill>
                  <a:schemeClr val="bg1"/>
                </a:solidFill>
                <a:latin typeface="楷体_GB2312" pitchFamily="49" charset="-122"/>
                <a:ea typeface="楷体_GB2312" pitchFamily="49" charset="-122"/>
              </a:endParaRPr>
            </a:p>
          </p:txBody>
        </p:sp>
        <p:sp>
          <p:nvSpPr>
            <p:cNvPr id="38" name="Rectangle 11"/>
            <p:cNvSpPr>
              <a:spLocks noChangeArrowheads="1"/>
            </p:cNvSpPr>
            <p:nvPr/>
          </p:nvSpPr>
          <p:spPr bwMode="auto">
            <a:xfrm>
              <a:off x="2697" y="1332"/>
              <a:ext cx="1083" cy="253"/>
            </a:xfrm>
            <a:prstGeom prst="rect">
              <a:avLst/>
            </a:prstGeom>
            <a:solidFill>
              <a:schemeClr val="hlink"/>
            </a:solidFill>
            <a:ln w="9525">
              <a:solidFill>
                <a:srgbClr val="000000"/>
              </a:solidFill>
              <a:miter lim="800000"/>
              <a:headEnd/>
              <a:tailEnd/>
            </a:ln>
          </p:spPr>
          <p:txBody>
            <a:bodyPr/>
            <a:lstStyle/>
            <a:p>
              <a:pPr algn="ctr" eaLnBrk="0" hangingPunct="0"/>
              <a:r>
                <a:rPr lang="zh-CN" altLang="en-US" sz="2200" b="1" baseline="0">
                  <a:solidFill>
                    <a:schemeClr val="bg1"/>
                  </a:solidFill>
                  <a:latin typeface="楷体_GB2312" pitchFamily="49" charset="-122"/>
                  <a:ea typeface="楷体_GB2312" pitchFamily="49" charset="-122"/>
                </a:rPr>
                <a:t>外模式</a:t>
              </a:r>
              <a:r>
                <a:rPr lang="en-US" altLang="zh-CN" sz="2200" b="1" baseline="0">
                  <a:solidFill>
                    <a:schemeClr val="bg1"/>
                  </a:solidFill>
                  <a:latin typeface="楷体_GB2312" pitchFamily="49" charset="-122"/>
                  <a:ea typeface="楷体_GB2312" pitchFamily="49" charset="-122"/>
                </a:rPr>
                <a:t>m</a:t>
              </a:r>
            </a:p>
          </p:txBody>
        </p:sp>
        <p:sp>
          <p:nvSpPr>
            <p:cNvPr id="39" name="AutoShape 12"/>
            <p:cNvSpPr>
              <a:spLocks noChangeArrowheads="1"/>
            </p:cNvSpPr>
            <p:nvPr/>
          </p:nvSpPr>
          <p:spPr bwMode="auto">
            <a:xfrm>
              <a:off x="938" y="1751"/>
              <a:ext cx="2255" cy="279"/>
            </a:xfrm>
            <a:prstGeom prst="roundRect">
              <a:avLst>
                <a:gd name="adj" fmla="val 16667"/>
              </a:avLst>
            </a:prstGeom>
            <a:solidFill>
              <a:schemeClr val="accent1"/>
            </a:solidFill>
            <a:ln w="9525">
              <a:solidFill>
                <a:schemeClr val="tx1"/>
              </a:solidFill>
              <a:round/>
              <a:headEnd/>
              <a:tailEnd/>
            </a:ln>
          </p:spPr>
          <p:txBody>
            <a:bodyPr/>
            <a:lstStyle/>
            <a:p>
              <a:pPr algn="ctr" eaLnBrk="0" hangingPunct="0"/>
              <a:r>
                <a:rPr lang="zh-CN" altLang="en-US" sz="2200" b="1" baseline="0">
                  <a:solidFill>
                    <a:schemeClr val="bg1"/>
                  </a:solidFill>
                  <a:latin typeface="楷体_GB2312" pitchFamily="49" charset="-122"/>
                  <a:ea typeface="楷体_GB2312" pitchFamily="49" charset="-122"/>
                </a:rPr>
                <a:t>子模式/模式映象</a:t>
              </a:r>
            </a:p>
          </p:txBody>
        </p:sp>
        <p:sp>
          <p:nvSpPr>
            <p:cNvPr id="40" name="AutoShape 13"/>
            <p:cNvSpPr>
              <a:spLocks noChangeArrowheads="1"/>
            </p:cNvSpPr>
            <p:nvPr/>
          </p:nvSpPr>
          <p:spPr bwMode="auto">
            <a:xfrm>
              <a:off x="1484" y="2243"/>
              <a:ext cx="1344" cy="255"/>
            </a:xfrm>
            <a:prstGeom prst="flowChartProcess">
              <a:avLst/>
            </a:prstGeom>
            <a:solidFill>
              <a:schemeClr val="hlink"/>
            </a:solidFill>
            <a:ln w="9525">
              <a:solidFill>
                <a:srgbClr val="000000"/>
              </a:solidFill>
              <a:miter lim="800000"/>
              <a:headEnd/>
              <a:tailEnd/>
            </a:ln>
          </p:spPr>
          <p:txBody>
            <a:bodyPr tIns="0" bIns="0" anchor="ctr" anchorCtr="1"/>
            <a:lstStyle/>
            <a:p>
              <a:pPr algn="ctr" eaLnBrk="0" hangingPunct="0"/>
              <a:r>
                <a:rPr lang="zh-CN" altLang="en-US" sz="2200" b="1" baseline="0">
                  <a:solidFill>
                    <a:schemeClr val="bg1"/>
                  </a:solidFill>
                  <a:latin typeface="楷体_GB2312" pitchFamily="49" charset="-122"/>
                  <a:ea typeface="楷体_GB2312" pitchFamily="49" charset="-122"/>
                </a:rPr>
                <a:t>模　式</a:t>
              </a:r>
            </a:p>
          </p:txBody>
        </p:sp>
        <p:sp>
          <p:nvSpPr>
            <p:cNvPr id="41" name="AutoShape 14"/>
            <p:cNvSpPr>
              <a:spLocks noChangeArrowheads="1"/>
            </p:cNvSpPr>
            <p:nvPr/>
          </p:nvSpPr>
          <p:spPr bwMode="auto">
            <a:xfrm>
              <a:off x="1036" y="2662"/>
              <a:ext cx="2237" cy="281"/>
            </a:xfrm>
            <a:prstGeom prst="roundRect">
              <a:avLst>
                <a:gd name="adj" fmla="val 16667"/>
              </a:avLst>
            </a:prstGeom>
            <a:solidFill>
              <a:schemeClr val="accent1"/>
            </a:solidFill>
            <a:ln w="9525">
              <a:solidFill>
                <a:srgbClr val="000000"/>
              </a:solidFill>
              <a:round/>
              <a:headEnd/>
              <a:tailEnd/>
            </a:ln>
          </p:spPr>
          <p:txBody>
            <a:bodyPr tIns="0" bIns="0" anchor="ctr" anchorCtr="1"/>
            <a:lstStyle/>
            <a:p>
              <a:pPr algn="ctr" eaLnBrk="0" hangingPunct="0"/>
              <a:r>
                <a:rPr lang="zh-CN" altLang="en-US" sz="2200" b="1" baseline="0">
                  <a:solidFill>
                    <a:schemeClr val="bg1"/>
                  </a:solidFill>
                  <a:latin typeface="楷体_GB2312" pitchFamily="49" charset="-122"/>
                  <a:ea typeface="楷体_GB2312" pitchFamily="49" charset="-122"/>
                </a:rPr>
                <a:t>模式/内模式映象</a:t>
              </a:r>
            </a:p>
          </p:txBody>
        </p:sp>
        <p:sp>
          <p:nvSpPr>
            <p:cNvPr id="42" name="AutoShape 15"/>
            <p:cNvSpPr>
              <a:spLocks noChangeArrowheads="1"/>
            </p:cNvSpPr>
            <p:nvPr/>
          </p:nvSpPr>
          <p:spPr bwMode="auto">
            <a:xfrm>
              <a:off x="1484" y="3150"/>
              <a:ext cx="1344" cy="254"/>
            </a:xfrm>
            <a:prstGeom prst="flowChartProcess">
              <a:avLst/>
            </a:prstGeom>
            <a:solidFill>
              <a:schemeClr val="hlink"/>
            </a:solidFill>
            <a:ln w="9525">
              <a:solidFill>
                <a:srgbClr val="000000"/>
              </a:solidFill>
              <a:miter lim="800000"/>
              <a:headEnd/>
              <a:tailEnd/>
            </a:ln>
          </p:spPr>
          <p:txBody>
            <a:bodyPr tIns="0" bIns="0" anchor="ctr" anchorCtr="1"/>
            <a:lstStyle/>
            <a:p>
              <a:pPr algn="ctr" eaLnBrk="0" hangingPunct="0"/>
              <a:r>
                <a:rPr lang="zh-CN" altLang="en-US" sz="2200" b="1" baseline="0">
                  <a:solidFill>
                    <a:schemeClr val="bg1"/>
                  </a:solidFill>
                  <a:latin typeface="楷体_GB2312" pitchFamily="49" charset="-122"/>
                  <a:ea typeface="楷体_GB2312" pitchFamily="49" charset="-122"/>
                </a:rPr>
                <a:t>内　模　式</a:t>
              </a:r>
            </a:p>
          </p:txBody>
        </p:sp>
        <p:sp>
          <p:nvSpPr>
            <p:cNvPr id="43" name="AutoShape 16"/>
            <p:cNvSpPr>
              <a:spLocks noChangeArrowheads="1"/>
            </p:cNvSpPr>
            <p:nvPr/>
          </p:nvSpPr>
          <p:spPr bwMode="auto">
            <a:xfrm>
              <a:off x="1390" y="3565"/>
              <a:ext cx="1443" cy="401"/>
            </a:xfrm>
            <a:prstGeom prst="can">
              <a:avLst>
                <a:gd name="adj" fmla="val 50000"/>
              </a:avLst>
            </a:prstGeom>
            <a:solidFill>
              <a:srgbClr val="66FFCC"/>
            </a:solidFill>
            <a:ln w="9525">
              <a:solidFill>
                <a:srgbClr val="000000"/>
              </a:solidFill>
              <a:round/>
              <a:headEnd/>
              <a:tailEnd/>
            </a:ln>
          </p:spPr>
          <p:txBody>
            <a:bodyPr tIns="190800"/>
            <a:lstStyle/>
            <a:p>
              <a:pPr algn="ctr" eaLnBrk="0" hangingPunct="0"/>
              <a:endParaRPr lang="zh-CN" altLang="en-US" sz="2200" b="1" baseline="0">
                <a:latin typeface="楷体_GB2312" pitchFamily="49" charset="-122"/>
                <a:ea typeface="楷体_GB2312" pitchFamily="49" charset="-122"/>
              </a:endParaRPr>
            </a:p>
          </p:txBody>
        </p:sp>
        <p:sp>
          <p:nvSpPr>
            <p:cNvPr id="44" name="Line 17"/>
            <p:cNvSpPr>
              <a:spLocks noChangeShapeType="1"/>
            </p:cNvSpPr>
            <p:nvPr/>
          </p:nvSpPr>
          <p:spPr bwMode="auto">
            <a:xfrm>
              <a:off x="768" y="1198"/>
              <a:ext cx="137"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5" name="Line 18"/>
            <p:cNvSpPr>
              <a:spLocks noChangeShapeType="1"/>
            </p:cNvSpPr>
            <p:nvPr/>
          </p:nvSpPr>
          <p:spPr bwMode="auto">
            <a:xfrm flipH="1">
              <a:off x="1176" y="1198"/>
              <a:ext cx="225"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6" name="Line 19"/>
            <p:cNvSpPr>
              <a:spLocks noChangeShapeType="1"/>
            </p:cNvSpPr>
            <p:nvPr/>
          </p:nvSpPr>
          <p:spPr bwMode="auto">
            <a:xfrm flipH="1">
              <a:off x="2112" y="1198"/>
              <a:ext cx="175"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7" name="Line 20"/>
            <p:cNvSpPr>
              <a:spLocks noChangeShapeType="1"/>
            </p:cNvSpPr>
            <p:nvPr/>
          </p:nvSpPr>
          <p:spPr bwMode="auto">
            <a:xfrm flipH="1">
              <a:off x="3239" y="1198"/>
              <a:ext cx="35" cy="13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8" name="Line 21"/>
            <p:cNvSpPr>
              <a:spLocks noChangeShapeType="1"/>
            </p:cNvSpPr>
            <p:nvPr/>
          </p:nvSpPr>
          <p:spPr bwMode="auto">
            <a:xfrm>
              <a:off x="2112" y="2937"/>
              <a:ext cx="0" cy="209"/>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9" name="Line 22"/>
            <p:cNvSpPr>
              <a:spLocks noChangeShapeType="1"/>
            </p:cNvSpPr>
            <p:nvPr/>
          </p:nvSpPr>
          <p:spPr bwMode="auto">
            <a:xfrm>
              <a:off x="2112" y="3422"/>
              <a:ext cx="0" cy="143"/>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0" name="Line 23"/>
            <p:cNvSpPr>
              <a:spLocks noChangeShapeType="1"/>
            </p:cNvSpPr>
            <p:nvPr/>
          </p:nvSpPr>
          <p:spPr bwMode="auto">
            <a:xfrm>
              <a:off x="2112" y="2493"/>
              <a:ext cx="0" cy="165"/>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1" name="Line 24"/>
            <p:cNvSpPr>
              <a:spLocks noChangeShapeType="1"/>
            </p:cNvSpPr>
            <p:nvPr/>
          </p:nvSpPr>
          <p:spPr bwMode="auto">
            <a:xfrm>
              <a:off x="2112" y="2030"/>
              <a:ext cx="0" cy="210"/>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2" name="Line 25"/>
            <p:cNvSpPr>
              <a:spLocks noChangeShapeType="1"/>
            </p:cNvSpPr>
            <p:nvPr/>
          </p:nvSpPr>
          <p:spPr bwMode="auto">
            <a:xfrm>
              <a:off x="1190" y="1589"/>
              <a:ext cx="126" cy="176"/>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3" name="Line 26"/>
            <p:cNvSpPr>
              <a:spLocks noChangeShapeType="1"/>
            </p:cNvSpPr>
            <p:nvPr/>
          </p:nvSpPr>
          <p:spPr bwMode="auto">
            <a:xfrm>
              <a:off x="2112" y="1585"/>
              <a:ext cx="0" cy="166"/>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4" name="Line 27"/>
            <p:cNvSpPr>
              <a:spLocks noChangeShapeType="1"/>
            </p:cNvSpPr>
            <p:nvPr/>
          </p:nvSpPr>
          <p:spPr bwMode="auto">
            <a:xfrm flipV="1">
              <a:off x="2836" y="1576"/>
              <a:ext cx="101" cy="174"/>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5" name="Rectangle 28"/>
            <p:cNvSpPr>
              <a:spLocks noChangeArrowheads="1"/>
            </p:cNvSpPr>
            <p:nvPr/>
          </p:nvSpPr>
          <p:spPr bwMode="auto">
            <a:xfrm>
              <a:off x="1784" y="3612"/>
              <a:ext cx="621" cy="301"/>
            </a:xfrm>
            <a:prstGeom prst="rect">
              <a:avLst/>
            </a:prstGeom>
            <a:solidFill>
              <a:srgbClr val="66FFCC"/>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zh-CN" altLang="en-US" sz="2200" b="1" baseline="0">
                  <a:solidFill>
                    <a:schemeClr val="bg1"/>
                  </a:solidFill>
                  <a:latin typeface="楷体_GB2312" pitchFamily="49" charset="-122"/>
                  <a:ea typeface="楷体_GB2312" pitchFamily="49" charset="-122"/>
                </a:rPr>
                <a:t>数据库</a:t>
              </a:r>
            </a:p>
          </p:txBody>
        </p:sp>
        <p:sp>
          <p:nvSpPr>
            <p:cNvPr id="56" name="Rectangle 29"/>
            <p:cNvSpPr>
              <a:spLocks noChangeArrowheads="1"/>
            </p:cNvSpPr>
            <p:nvPr/>
          </p:nvSpPr>
          <p:spPr bwMode="auto">
            <a:xfrm>
              <a:off x="333" y="3067"/>
              <a:ext cx="542"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en-US" altLang="zh-CN" sz="2800" b="1" baseline="0">
                  <a:solidFill>
                    <a:srgbClr val="FFFF00"/>
                  </a:solidFill>
                  <a:latin typeface="楷体_GB2312" pitchFamily="49" charset="-122"/>
                  <a:ea typeface="楷体_GB2312" pitchFamily="49" charset="-122"/>
                </a:rPr>
                <a:t>DBMS</a:t>
              </a:r>
            </a:p>
          </p:txBody>
        </p:sp>
      </p:grpSp>
      <p:sp>
        <p:nvSpPr>
          <p:cNvPr id="57" name="AutoShape 28"/>
          <p:cNvSpPr>
            <a:spLocks noChangeArrowheads="1"/>
          </p:cNvSpPr>
          <p:nvPr/>
        </p:nvSpPr>
        <p:spPr bwMode="auto">
          <a:xfrm>
            <a:off x="4945712" y="1471613"/>
            <a:ext cx="3672408" cy="4483894"/>
          </a:xfrm>
          <a:prstGeom prst="wedgeRoundRectCallout">
            <a:avLst>
              <a:gd name="adj1" fmla="val -56917"/>
              <a:gd name="adj2" fmla="val 16394"/>
              <a:gd name="adj3" fmla="val 16667"/>
            </a:avLst>
          </a:prstGeom>
          <a:solidFill>
            <a:schemeClr val="accent5">
              <a:lumMod val="20000"/>
              <a:lumOff val="80000"/>
            </a:schemeClr>
          </a:solidFill>
          <a:ln>
            <a:solidFill>
              <a:srgbClr val="FF6600"/>
            </a:solidFill>
            <a:headEnd type="none" w="med" len="med"/>
            <a:tailEnd type="none" w="med" len="med"/>
          </a:ln>
          <a:effectLst>
            <a:glow rad="101600">
              <a:srgbClr val="FFC000">
                <a:alpha val="60000"/>
              </a:srgb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spcAft>
                <a:spcPct val="50000"/>
              </a:spcAft>
            </a:pPr>
            <a:r>
              <a:rPr lang="zh-CN" altLang="en-US" sz="2600" baseline="0" dirty="0">
                <a:solidFill>
                  <a:schemeClr val="dk1"/>
                </a:solidFill>
                <a:latin typeface="+mn-lt"/>
                <a:ea typeface="+mn-ea"/>
              </a:rPr>
              <a:t>在模式中</a:t>
            </a:r>
            <a:r>
              <a:rPr lang="zh-CN" altLang="zh-CN" sz="2600" baseline="0" dirty="0">
                <a:solidFill>
                  <a:schemeClr val="dk1"/>
                </a:solidFill>
                <a:latin typeface="+mn-lt"/>
                <a:ea typeface="+mn-ea"/>
              </a:rPr>
              <a:t>定义</a:t>
            </a:r>
            <a:r>
              <a:rPr lang="zh-CN" altLang="en-US" sz="2600" baseline="0" dirty="0">
                <a:solidFill>
                  <a:schemeClr val="dk1"/>
                </a:solidFill>
                <a:latin typeface="+mn-lt"/>
                <a:ea typeface="+mn-ea"/>
              </a:rPr>
              <a:t>的</a:t>
            </a:r>
            <a:r>
              <a:rPr lang="zh-CN" altLang="zh-CN" sz="2600" baseline="0" dirty="0">
                <a:solidFill>
                  <a:schemeClr val="dk1"/>
                </a:solidFill>
                <a:latin typeface="+mn-lt"/>
                <a:ea typeface="+mn-ea"/>
              </a:rPr>
              <a:t>数据的全局逻辑结构与其存储结构之间的对应关系。当数据库的存储结构改变时，DBA只需对模式/内模式映像作出相应的修改，从而可以使模式保持不变</a:t>
            </a:r>
            <a:r>
              <a:rPr lang="zh-CN" altLang="en-US" sz="2600" baseline="0" dirty="0">
                <a:solidFill>
                  <a:schemeClr val="dk1"/>
                </a:solidFill>
                <a:latin typeface="+mn-lt"/>
                <a:ea typeface="+mn-ea"/>
              </a:rPr>
              <a:t>，</a:t>
            </a:r>
            <a:r>
              <a:rPr lang="zh-CN" altLang="zh-CN" sz="2600" baseline="0" dirty="0">
                <a:solidFill>
                  <a:schemeClr val="dk1"/>
                </a:solidFill>
                <a:latin typeface="+mn-lt"/>
                <a:ea typeface="+mn-ea"/>
              </a:rPr>
              <a:t>这就是数据的</a:t>
            </a:r>
            <a:r>
              <a:rPr lang="zh-CN" altLang="zh-CN" sz="2600" b="1" baseline="0" dirty="0">
                <a:solidFill>
                  <a:srgbClr val="FF0000"/>
                </a:solidFill>
                <a:latin typeface="+mn-lt"/>
                <a:ea typeface="+mn-ea"/>
              </a:rPr>
              <a:t>物理独立性</a:t>
            </a:r>
            <a:r>
              <a:rPr lang="zh-CN" altLang="en-US" sz="2600" baseline="0" dirty="0">
                <a:solidFill>
                  <a:schemeClr val="dk1"/>
                </a:solidFill>
                <a:latin typeface="+mn-lt"/>
                <a:ea typeface="+mn-ea"/>
              </a:rPr>
              <a:t>。</a:t>
            </a:r>
            <a:endParaRPr lang="zh-CN" altLang="zh-CN" sz="2600" baseline="0" dirty="0">
              <a:solidFill>
                <a:schemeClr val="dk1"/>
              </a:solidFill>
              <a:latin typeface="+mn-lt"/>
              <a:ea typeface="+mn-ea"/>
            </a:endParaRPr>
          </a:p>
        </p:txBody>
      </p:sp>
    </p:spTree>
    <p:extLst>
      <p:ext uri="{BB962C8B-B14F-4D97-AF65-F5344CB8AC3E}">
        <p14:creationId xmlns:p14="http://schemas.microsoft.com/office/powerpoint/2010/main" val="1334569524"/>
      </p:ext>
    </p:extLst>
  </p:cSld>
  <p:clrMapOvr>
    <a:masterClrMapping/>
  </p:clrMapOvr>
  <p:transition spd="slow">
    <p:wipe dir="d"/>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childTnLst>
                                </p:cTn>
                              </p:par>
                            </p:childTnLst>
                          </p:cTn>
                        </p:par>
                        <p:par>
                          <p:cTn id="8" fill="hold">
                            <p:stCondLst>
                              <p:cond delay="1000"/>
                            </p:stCondLst>
                            <p:childTnLst>
                              <p:par>
                                <p:cTn id="9" presetID="47" presetClass="entr" presetSubtype="0" fill="hold" grpId="0"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fade">
                                      <p:cBhvr>
                                        <p:cTn id="11" dur="1000"/>
                                        <p:tgtEl>
                                          <p:spTgt spid="57"/>
                                        </p:tgtEl>
                                      </p:cBhvr>
                                    </p:animEffect>
                                    <p:anim calcmode="lin" valueType="num">
                                      <p:cBhvr>
                                        <p:cTn id="12" dur="1000" fill="hold"/>
                                        <p:tgtEl>
                                          <p:spTgt spid="57"/>
                                        </p:tgtEl>
                                        <p:attrNameLst>
                                          <p:attrName>ppt_x</p:attrName>
                                        </p:attrNameLst>
                                      </p:cBhvr>
                                      <p:tavLst>
                                        <p:tav tm="0">
                                          <p:val>
                                            <p:strVal val="#ppt_x"/>
                                          </p:val>
                                        </p:tav>
                                        <p:tav tm="100000">
                                          <p:val>
                                            <p:strVal val="#ppt_x"/>
                                          </p:val>
                                        </p:tav>
                                      </p:tavLst>
                                    </p:anim>
                                    <p:anim calcmode="lin" valueType="num">
                                      <p:cBhvr>
                                        <p:cTn id="13"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803" y="-47753"/>
            <a:ext cx="2710211"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r>
              <a:rPr lang="zh-CN" altLang="en-US" sz="4000" b="1" kern="1200" dirty="0" smtClean="0">
                <a:solidFill>
                  <a:schemeClr val="folHlink"/>
                </a:solidFill>
                <a:effectLst>
                  <a:outerShdw blurRad="38100" dist="38100" dir="2700000" algn="tl">
                    <a:srgbClr val="000000"/>
                  </a:outerShdw>
                </a:effectLst>
                <a:cs typeface="+mn-cs"/>
              </a:rPr>
              <a:t>数据库产品</a:t>
            </a:r>
            <a:endParaRPr lang="zh-CN" altLang="en-US" sz="4000" b="1" kern="1200" dirty="0">
              <a:solidFill>
                <a:schemeClr val="folHlink"/>
              </a:solidFill>
              <a:effectLst>
                <a:outerShdw blurRad="38100" dist="38100" dir="2700000" algn="tl">
                  <a:srgbClr val="000000"/>
                </a:outerShdw>
              </a:effectLst>
              <a:cs typeface="+mn-cs"/>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792" y="908720"/>
            <a:ext cx="8064896" cy="5466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7455296"/>
      </p:ext>
    </p:extLst>
  </p:cSld>
  <p:clrMapOvr>
    <a:masterClrMapping/>
  </p:clrMapOvr>
  <p:transition spd="med">
    <p:random/>
    <p:sndAc>
      <p:stSnd>
        <p:snd r:embed="rId2" name="camera.wav"/>
      </p:stSnd>
    </p:sndAc>
  </p:transition>
  <p:timing>
    <p:tnLst>
      <p:par>
        <p:cTn id="1" dur="indefinite" restart="never" nodeType="tmRoot"/>
      </p:par>
    </p:tnLst>
  </p:timing>
</p:sld>
</file>

<file path=ppt/theme/theme1.xml><?xml version="1.0" encoding="utf-8"?>
<a:theme xmlns:a="http://schemas.openxmlformats.org/drawingml/2006/main" name="带有标题的">
  <a:themeElements>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带有标题的">
      <a:majorFont>
        <a:latin typeface="方正姚体"/>
        <a:ea typeface="方正姚体"/>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lnDef>
  </a:objectDefaults>
  <a:extraClrSchemeLst>
    <a:extraClrScheme>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带有标题的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带有标题的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带有标题的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带有标题的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带有标题的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带有标题的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带有标题的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带有标题的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带有标题的">
  <a:themeElements>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带有标题的">
      <a:majorFont>
        <a:latin typeface="方正姚体"/>
        <a:ea typeface="方正姚体"/>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lnDef>
  </a:objectDefaults>
  <a:extraClrSchemeLst>
    <a:extraClrScheme>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带有标题的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带有标题的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带有标题的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带有标题的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带有标题的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带有标题的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带有标题的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带有标题的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14019</TotalTime>
  <Words>1741</Words>
  <Application>Microsoft Office PowerPoint</Application>
  <PresentationFormat>全屏显示(4:3)</PresentationFormat>
  <Paragraphs>444</Paragraphs>
  <Slides>31</Slides>
  <Notes>1</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31</vt:i4>
      </vt:variant>
    </vt:vector>
  </HeadingPairs>
  <TitlesOfParts>
    <vt:vector size="45" baseType="lpstr">
      <vt:lpstr>方正姚体</vt:lpstr>
      <vt:lpstr>华文行楷</vt:lpstr>
      <vt:lpstr>楷体_GB2312</vt:lpstr>
      <vt:lpstr>隶书</vt:lpstr>
      <vt:lpstr>宋体</vt:lpstr>
      <vt:lpstr>微软雅黑</vt:lpstr>
      <vt:lpstr>Arial</vt:lpstr>
      <vt:lpstr>Cambria Math</vt:lpstr>
      <vt:lpstr>Garamond</vt:lpstr>
      <vt:lpstr>Tahoma</vt:lpstr>
      <vt:lpstr>Times New Roman</vt:lpstr>
      <vt:lpstr>Wingdings</vt:lpstr>
      <vt:lpstr>带有标题的</vt:lpstr>
      <vt:lpstr>1_带有标题的</vt:lpstr>
      <vt:lpstr>face</vt:lpstr>
      <vt:lpstr>教学环节</vt:lpstr>
      <vt:lpstr>成绩构成</vt:lpstr>
      <vt:lpstr>数据库系统概述</vt:lpstr>
      <vt:lpstr>数据与信息</vt:lpstr>
      <vt:lpstr>PowerPoint 演示文稿</vt:lpstr>
      <vt:lpstr>PowerPoint 演示文稿</vt:lpstr>
      <vt:lpstr>PowerPoint 演示文稿</vt:lpstr>
      <vt:lpstr>PowerPoint 演示文稿</vt:lpstr>
      <vt:lpstr>PowerPoint 演示文稿</vt:lpstr>
      <vt:lpstr> 人工管理阶段</vt:lpstr>
      <vt:lpstr> 文件系统阶段</vt:lpstr>
      <vt:lpstr> 数据库系统阶段</vt:lpstr>
      <vt:lpstr>PowerPoint 演示文稿</vt:lpstr>
      <vt:lpstr>PowerPoint 演示文稿</vt:lpstr>
      <vt:lpstr>PowerPoint 演示文稿</vt:lpstr>
      <vt:lpstr>PowerPoint 演示文稿</vt:lpstr>
      <vt:lpstr>PowerPoint 演示文稿</vt:lpstr>
      <vt:lpstr>数据建模</vt:lpstr>
      <vt:lpstr>概念模型</vt:lpstr>
      <vt:lpstr> 层次模型</vt:lpstr>
      <vt:lpstr> 网状模型</vt:lpstr>
      <vt:lpstr> 关系模型</vt:lpstr>
      <vt:lpstr> 其它数据模型</vt:lpstr>
      <vt:lpstr>数据库系统结构</vt:lpstr>
      <vt:lpstr>数据库系统结构</vt:lpstr>
      <vt:lpstr>数据库系统结构</vt:lpstr>
      <vt:lpstr>数据库系统结构</vt:lpstr>
      <vt:lpstr>数据库系统结构</vt:lpstr>
      <vt:lpstr>数据库系统结构</vt:lpstr>
      <vt:lpstr>数据库产品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pansir</cp:lastModifiedBy>
  <cp:revision>1533</cp:revision>
  <dcterms:created xsi:type="dcterms:W3CDTF">1601-01-01T00:00:00Z</dcterms:created>
  <dcterms:modified xsi:type="dcterms:W3CDTF">2019-09-03T02:02:30Z</dcterms:modified>
</cp:coreProperties>
</file>