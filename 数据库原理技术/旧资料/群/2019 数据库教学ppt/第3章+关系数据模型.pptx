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84" r:id="rId26"/>
    <p:sldId id="279" r:id="rId27"/>
    <p:sldId id="280" r:id="rId28"/>
    <p:sldId id="290" r:id="rId29"/>
    <p:sldId id="291" r:id="rId30"/>
    <p:sldId id="292" r:id="rId31"/>
    <p:sldId id="293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59961" autoAdjust="0"/>
  </p:normalViewPr>
  <p:slideViewPr>
    <p:cSldViewPr>
      <p:cViewPr varScale="1">
        <p:scale>
          <a:sx n="69" d="100"/>
          <a:sy n="69" d="100"/>
        </p:scale>
        <p:origin x="133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768"/>
    </p:cViewPr>
  </p:sorterViewPr>
  <p:notesViewPr>
    <p:cSldViewPr>
      <p:cViewPr varScale="1">
        <p:scale>
          <a:sx n="51" d="100"/>
          <a:sy n="51" d="100"/>
        </p:scale>
        <p:origin x="-187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BBECC-95BD-44F0-9A5B-3A77644942D4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304DF-C1BA-40AE-A248-EE1FD4765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40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942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63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92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13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3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3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39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5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60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15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7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defRPr>
            </a:lvl1pPr>
          </a:lstStyle>
          <a:p>
            <a:fld id="{DE23FA18-E9C0-46B0-908F-810C4DF19BD8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defRPr>
            </a:lvl1pPr>
          </a:lstStyle>
          <a:p>
            <a:fld id="{0DAC636D-AD7D-4FC6-A0F9-DD2B0358BE8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Text Box 10"/>
          <p:cNvSpPr txBox="1">
            <a:spLocks noChangeArrowheads="1"/>
          </p:cNvSpPr>
          <p:nvPr userDrawn="1"/>
        </p:nvSpPr>
        <p:spPr bwMode="auto">
          <a:xfrm>
            <a:off x="6697515" y="131763"/>
            <a:ext cx="2314736" cy="21544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zh-CN" altLang="en-US" sz="1400" baseline="0" dirty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四川农业大学    潘勇浩 </a:t>
            </a:r>
            <a:r>
              <a:rPr lang="zh-CN" altLang="en-US" sz="1400" baseline="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   </a:t>
            </a:r>
            <a:r>
              <a:rPr lang="en-US" altLang="zh-CN" sz="1400" baseline="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2019</a:t>
            </a:r>
            <a:endParaRPr lang="zh-CN" altLang="en-US" sz="1400" baseline="0" dirty="0">
              <a:solidFill>
                <a:srgbClr val="8BB1E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66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ordArt 21"/>
          <p:cNvSpPr>
            <a:spLocks noChangeArrowheads="1" noChangeShapeType="1" noTextEdit="1"/>
          </p:cNvSpPr>
          <p:nvPr/>
        </p:nvSpPr>
        <p:spPr bwMode="auto">
          <a:xfrm>
            <a:off x="2915816" y="1945699"/>
            <a:ext cx="2802324" cy="8602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0" cap="none" spc="0" normalizeH="0" baseline="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80000"/>
                    </a:srgbClr>
                  </a:outerShdw>
                </a:effectLst>
                <a:uLnTx/>
                <a:uFillTx/>
                <a:latin typeface="隶书"/>
                <a:ea typeface="隶书"/>
              </a:rPr>
              <a:t>第</a:t>
            </a:r>
            <a:r>
              <a:rPr kumimoji="0" lang="en-US" altLang="zh-CN" sz="2800" b="0" i="0" u="none" strike="noStrike" kern="10" cap="none" spc="0" normalizeH="0" baseline="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80000"/>
                    </a:srgbClr>
                  </a:outerShdw>
                </a:effectLst>
                <a:uLnTx/>
                <a:uFillTx/>
                <a:latin typeface="隶书"/>
                <a:ea typeface="隶书"/>
              </a:rPr>
              <a:t>3</a:t>
            </a:r>
            <a:r>
              <a:rPr kumimoji="0" lang="zh-CN" altLang="en-US" sz="2800" b="0" i="0" u="none" strike="noStrike" kern="10" cap="none" spc="0" normalizeH="0" baseline="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80000"/>
                    </a:srgbClr>
                  </a:outerShdw>
                </a:effectLst>
                <a:uLnTx/>
                <a:uFillTx/>
                <a:latin typeface="隶书"/>
                <a:ea typeface="隶书"/>
              </a:rPr>
              <a:t>章</a:t>
            </a:r>
            <a:endParaRPr kumimoji="0" lang="zh-CN" altLang="en-US" sz="2800" b="0" i="0" u="none" strike="noStrike" kern="10" cap="none" spc="0" normalizeH="0" baseline="0" noProof="0" dirty="0">
              <a:ln w="19050" cap="sq">
                <a:solidFill>
                  <a:srgbClr val="FFCC00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000514">
                    <a:alpha val="80000"/>
                  </a:srgbClr>
                </a:outerShdw>
              </a:effectLst>
              <a:uLnTx/>
              <a:uFillTx/>
              <a:latin typeface="隶书"/>
              <a:ea typeface="隶书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323528" y="3738470"/>
            <a:ext cx="8413328" cy="113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none" lIns="91440" tIns="45720" rIns="91440" bIns="45720" numCol="1" fromWordArt="1" anchor="ctr" anchorCtr="0" compatLnSpc="1">
            <a:prstTxWarp prst="textPlain">
              <a:avLst>
                <a:gd name="adj" fmla="val 50000"/>
              </a:avLst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0" cap="none" spc="300" normalizeH="0" baseline="-2500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79999"/>
                    </a:srgbClr>
                  </a:outerShdw>
                </a:effectLst>
                <a:uLnTx/>
                <a:uFillTx/>
                <a:latin typeface="隶书"/>
                <a:ea typeface="隶书"/>
                <a:cs typeface="+mj-cs"/>
              </a:rPr>
              <a:t>关系数据模型</a:t>
            </a:r>
            <a:endParaRPr kumimoji="0" lang="zh-CN" altLang="en-US" sz="2800" b="0" i="0" u="none" strike="noStrike" kern="10" cap="none" spc="300" normalizeH="0" baseline="-25000" noProof="0" dirty="0">
              <a:ln w="19050" cap="sq">
                <a:solidFill>
                  <a:srgbClr val="FFCC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000514">
                    <a:alpha val="79999"/>
                  </a:srgbClr>
                </a:outerShdw>
              </a:effectLst>
              <a:uLnTx/>
              <a:uFillTx/>
              <a:latin typeface="隶书"/>
              <a:ea typeface="隶书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185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7544" y="1196305"/>
            <a:ext cx="833311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spcAft>
                <a:spcPct val="25000"/>
              </a:spcAft>
              <a:buNone/>
              <a:defRPr/>
            </a:pPr>
            <a:r>
              <a:rPr kumimoji="1" lang="zh-CN" altLang="en-US" sz="3600" b="1" dirty="0" smtClean="0">
                <a:solidFill>
                  <a:srgbClr val="FFC000"/>
                </a:solidFill>
              </a:rPr>
              <a:t>域</a:t>
            </a:r>
            <a:r>
              <a:rPr kumimoji="1" lang="zh-CN" altLang="en-US" sz="3600" dirty="0" smtClean="0">
                <a:solidFill>
                  <a:schemeClr val="bg1"/>
                </a:solidFill>
              </a:rPr>
              <a:t>(</a:t>
            </a:r>
            <a:r>
              <a:rPr kumimoji="1" lang="en-US" altLang="zh-CN" sz="3600" dirty="0" smtClean="0">
                <a:solidFill>
                  <a:schemeClr val="bg1"/>
                </a:solidFill>
              </a:rPr>
              <a:t>Domain)</a:t>
            </a:r>
            <a:r>
              <a:rPr kumimoji="1" lang="zh-CN" altLang="en-US" sz="3600" dirty="0" smtClean="0">
                <a:solidFill>
                  <a:schemeClr val="bg1"/>
                </a:solidFill>
              </a:rPr>
              <a:t>是一组具有相同数据类型的值的集合。</a:t>
            </a:r>
            <a:endParaRPr kumimoji="1" lang="en-US" altLang="zh-CN" sz="3600" dirty="0" smtClean="0">
              <a:solidFill>
                <a:schemeClr val="bg1"/>
              </a:solidFill>
            </a:endParaRPr>
          </a:p>
          <a:p>
            <a:pPr marL="0" indent="0" eaLnBrk="1" hangingPunct="1">
              <a:spcBef>
                <a:spcPts val="1200"/>
              </a:spcBef>
              <a:spcAft>
                <a:spcPct val="25000"/>
              </a:spcAft>
              <a:buNone/>
              <a:defRPr/>
            </a:pPr>
            <a:r>
              <a:rPr kumimoji="1" lang="zh-CN" altLang="en-US" sz="3600" dirty="0" smtClean="0">
                <a:solidFill>
                  <a:schemeClr val="bg1"/>
                </a:solidFill>
              </a:rPr>
              <a:t>域中所包含的值的个数称为域的</a:t>
            </a:r>
            <a:r>
              <a:rPr kumimoji="1" lang="zh-CN" altLang="en-US" sz="3600" b="1" dirty="0" smtClean="0">
                <a:solidFill>
                  <a:srgbClr val="FFC000"/>
                </a:solidFill>
              </a:rPr>
              <a:t>基数</a:t>
            </a:r>
            <a:r>
              <a:rPr kumimoji="1" lang="zh-CN" altLang="en-US" sz="3600" dirty="0" smtClean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67544" y="3861048"/>
            <a:ext cx="849776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25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>
                <a:tab pos="6003925" algn="l"/>
              </a:tabLst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D1 = { '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男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' ,'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女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' }	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基数为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25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>
                <a:tab pos="6003925" algn="l"/>
              </a:tabLst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D2 = { x | 0≤x≤150 }	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基数为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151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25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>
                <a:tab pos="6003925" algn="l"/>
              </a:tabLst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D3 = { &lt;</a:t>
            </a:r>
            <a:r>
              <a:rPr kumimoji="1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</a:t>
            </a:r>
            <a:r>
              <a:rPr kumimoji="1" lang="en-US" altLang="zh-CN" sz="3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</a:t>
            </a:r>
            <a:r>
              <a:rPr kumimoji="1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,a</a:t>
            </a:r>
            <a:r>
              <a:rPr kumimoji="1" lang="en-US" altLang="zh-CN" sz="3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j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&gt;| </a:t>
            </a:r>
            <a:r>
              <a:rPr kumimoji="1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i,j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=1,2,3…… }	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基数为无穷</a:t>
            </a:r>
            <a:endParaRPr kumimoji="1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87362" y="1119936"/>
            <a:ext cx="833311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20000"/>
              </a:spcBef>
              <a:spcAft>
                <a:spcPct val="25000"/>
              </a:spcAft>
              <a:buClr>
                <a:srgbClr val="66FF33"/>
              </a:buClr>
              <a:buSzPct val="85000"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一组域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,D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,…,</a:t>
            </a:r>
            <a:r>
              <a:rPr kumimoji="1" lang="en-US" altLang="zh-CN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</a:t>
            </a:r>
            <a:r>
              <a:rPr kumimoji="1" lang="en-US" altLang="zh-CN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n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（域可以有相同的）的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笛卡尔积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(Cartesian Product)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为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：</a:t>
            </a:r>
            <a:endParaRPr kumimoji="1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87362" y="3496200"/>
            <a:ext cx="8333110" cy="1188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其中每一个元素（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,d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,…,</a:t>
            </a:r>
            <a:r>
              <a:rPr kumimoji="1" lang="en-US" altLang="zh-CN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</a:t>
            </a:r>
            <a:r>
              <a:rPr kumimoji="1" lang="en-US" altLang="zh-CN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n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）称为一个</a:t>
            </a:r>
            <a:r>
              <a:rPr kumimoji="1" lang="en-US" altLang="zh-CN" kern="0" dirty="0"/>
              <a:t>n</a:t>
            </a:r>
            <a:r>
              <a:rPr kumimoji="1" lang="zh-CN" altLang="en-US" kern="0" dirty="0"/>
              <a:t>元组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</a:t>
            </a:r>
            <a:r>
              <a:rPr kumimoji="1" lang="en-US" altLang="zh-CN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n-tuple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)，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简称</a:t>
            </a:r>
            <a:r>
              <a:rPr kumimoji="1" lang="zh-CN" altLang="en-US" b="1" kern="0" dirty="0">
                <a:solidFill>
                  <a:srgbClr val="FFC000"/>
                </a:solidFill>
              </a:rPr>
              <a:t>元组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</a:t>
            </a:r>
            <a:r>
              <a:rPr kumimoji="1" lang="en-US" altLang="zh-CN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Tuple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kern="0" noProof="0" dirty="0" smtClean="0"/>
              <a:t>元组中一每一个</a:t>
            </a:r>
            <a:r>
              <a:rPr kumimoji="1" lang="en-US" altLang="zh-CN" kern="0" noProof="0" dirty="0" smtClean="0"/>
              <a:t>di</a:t>
            </a:r>
            <a:r>
              <a:rPr kumimoji="1" lang="zh-CN" altLang="en-US" kern="0" noProof="0" dirty="0" smtClean="0"/>
              <a:t>称为元组</a:t>
            </a:r>
            <a:r>
              <a:rPr kumimoji="1" lang="zh-CN" altLang="en-US" b="1" kern="0" dirty="0">
                <a:solidFill>
                  <a:srgbClr val="FFC000"/>
                </a:solidFill>
              </a:rPr>
              <a:t>分量</a:t>
            </a:r>
            <a:endParaRPr kumimoji="1" lang="en-US" altLang="zh-CN" b="1" kern="0" dirty="0">
              <a:solidFill>
                <a:srgbClr val="FFC000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kern="0" noProof="0" dirty="0" smtClean="0"/>
              <a:t>若</a:t>
            </a:r>
            <a:r>
              <a:rPr kumimoji="1" lang="en-US" altLang="zh-CN" kern="0" noProof="0" dirty="0" smtClean="0"/>
              <a:t>D</a:t>
            </a:r>
            <a:r>
              <a:rPr kumimoji="1" lang="en-US" altLang="zh-CN" kern="0" baseline="-25000" noProof="0" dirty="0" smtClean="0"/>
              <a:t>i</a:t>
            </a:r>
            <a:r>
              <a:rPr kumimoji="1" lang="zh-CN" altLang="en-US" kern="0" noProof="0" dirty="0" smtClean="0"/>
              <a:t>的基数为</a:t>
            </a:r>
            <a:r>
              <a:rPr kumimoji="1" lang="en-US" altLang="zh-CN" kern="0" dirty="0" smtClean="0"/>
              <a:t>m</a:t>
            </a:r>
            <a:r>
              <a:rPr kumimoji="1" lang="en-US" altLang="zh-CN" kern="0" baseline="-25000" dirty="0" smtClean="0"/>
              <a:t>i</a:t>
            </a:r>
            <a:r>
              <a:rPr kumimoji="1" lang="zh-CN" altLang="en-US" kern="0" dirty="0" smtClean="0"/>
              <a:t>，则</a:t>
            </a:r>
            <a:r>
              <a:rPr kumimoji="1" lang="zh-CN" altLang="en-US" kern="0" noProof="0" dirty="0" smtClean="0"/>
              <a:t>结果的基数为：</a:t>
            </a:r>
            <a:endParaRPr kumimoji="1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endParaRPr kumimoji="1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endParaRPr kumimoji="1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9512" y="2484185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25000"/>
              </a:spcAft>
              <a:buClr>
                <a:srgbClr val="66FF33"/>
              </a:buClr>
              <a:buSzPct val="85000"/>
              <a:defRPr/>
            </a:pPr>
            <a:r>
              <a:rPr kumimoji="1" lang="en-US" altLang="zh-CN" sz="3200" kern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D</a:t>
            </a:r>
            <a:r>
              <a:rPr kumimoji="1" lang="en-US" altLang="zh-CN" sz="3200" kern="0" baseline="-250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1</a:t>
            </a:r>
            <a:r>
              <a:rPr kumimoji="1" lang="en-US" altLang="zh-CN" sz="3200" kern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×D</a:t>
            </a:r>
            <a:r>
              <a:rPr kumimoji="1" lang="en-US" altLang="zh-CN" sz="3200" kern="0" baseline="-250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2</a:t>
            </a:r>
            <a:r>
              <a:rPr kumimoji="1"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×…×</a:t>
            </a:r>
            <a:r>
              <a:rPr kumimoji="1" lang="en-US" altLang="zh-CN" sz="3200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D</a:t>
            </a:r>
            <a:r>
              <a:rPr kumimoji="1" lang="en-US" altLang="zh-CN" sz="3200" kern="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n</a:t>
            </a:r>
            <a:r>
              <a:rPr kumimoji="1"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={(d</a:t>
            </a:r>
            <a:r>
              <a:rPr kumimoji="1" lang="en-US" altLang="zh-CN" sz="3200" kern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1</a:t>
            </a:r>
            <a:r>
              <a:rPr kumimoji="1"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,d</a:t>
            </a:r>
            <a:r>
              <a:rPr kumimoji="1" lang="en-US" altLang="zh-CN" sz="3200" kern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2</a:t>
            </a:r>
            <a:r>
              <a:rPr kumimoji="1"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,…,</a:t>
            </a:r>
            <a:r>
              <a:rPr kumimoji="1" lang="en-US" altLang="zh-CN" sz="3200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d</a:t>
            </a:r>
            <a:r>
              <a:rPr kumimoji="1" lang="en-US" altLang="zh-CN" sz="3200" kern="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n</a:t>
            </a:r>
            <a:r>
              <a:rPr kumimoji="1"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)|</a:t>
            </a:r>
            <a:r>
              <a:rPr kumimoji="1" lang="en-US" altLang="zh-CN" sz="3200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d</a:t>
            </a:r>
            <a:r>
              <a:rPr kumimoji="1" lang="en-US" altLang="zh-CN" sz="3200" kern="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i</a:t>
            </a:r>
            <a:r>
              <a:rPr kumimoji="1" lang="en-US" altLang="zh-CN" sz="3200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∈D</a:t>
            </a:r>
            <a:r>
              <a:rPr kumimoji="1" lang="en-US" altLang="zh-CN" sz="3200" kern="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i</a:t>
            </a:r>
            <a:r>
              <a:rPr kumimoji="1" lang="en-US" altLang="zh-CN" sz="3200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,i</a:t>
            </a:r>
            <a:r>
              <a:rPr kumimoji="1"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/>
              </a:rPr>
              <a:t>=1,2,…,n}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476244"/>
              </p:ext>
            </p:extLst>
          </p:nvPr>
        </p:nvGraphicFramePr>
        <p:xfrm>
          <a:off x="7231730" y="5414665"/>
          <a:ext cx="1012678" cy="1110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4" imgW="393480" imgH="431640" progId="Equation.DSMT4">
                  <p:embed/>
                </p:oleObj>
              </mc:Choice>
              <mc:Fallback>
                <p:oleObj name="Equation" r:id="rId4" imgW="393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31730" y="5414665"/>
                        <a:ext cx="1012678" cy="1110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93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219201" y="4309193"/>
            <a:ext cx="6484938" cy="221615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(张三,计算机,数据结构), (张三,计算机,肉品加工),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(张三,食品,数据结构), (张三,食品,肉品加工),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(李四,计算机,数据结构), (李四,计算机,肉品加工),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(李四,食品,数据结构), (李四,食品,肉品加工),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(王五,计算机,数据结构), (王五,计算机,肉品加工),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(王五,食品,数据结构), (王五,食品,肉品加工)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11213" y="4370067"/>
            <a:ext cx="7216775" cy="2057401"/>
          </a:xfrm>
          <a:prstGeom prst="bracePair">
            <a:avLst>
              <a:gd name="adj" fmla="val 4245"/>
            </a:avLst>
          </a:prstGeom>
          <a:noFill/>
          <a:ln w="28575" cap="sq">
            <a:solidFill>
              <a:srgbClr val="CCFFCC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837832" y="908720"/>
            <a:ext cx="6877050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kumimoji="1" lang="zh-CN" altLang="zh-CN" sz="2800" dirty="0" smtClean="0">
                <a:latin typeface="+mj-ea"/>
                <a:ea typeface="+mj-ea"/>
              </a:rPr>
              <a:t>例如给定3个域：</a:t>
            </a:r>
          </a:p>
          <a:p>
            <a:pPr eaLnBrk="1" hangingPunct="1"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kumimoji="1" lang="zh-CN" altLang="zh-CN" sz="2800" dirty="0" smtClean="0">
                <a:latin typeface="+mj-ea"/>
                <a:ea typeface="+mj-ea"/>
              </a:rPr>
              <a:t>	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1</a:t>
            </a:r>
            <a:r>
              <a:rPr kumimoji="1" lang="zh-CN" altLang="zh-CN" sz="2800" dirty="0" smtClean="0">
                <a:latin typeface="+mj-ea"/>
                <a:ea typeface="+mj-ea"/>
              </a:rPr>
              <a:t>=学生集合={张三，李四，王五}</a:t>
            </a:r>
          </a:p>
          <a:p>
            <a:pPr eaLnBrk="1" hangingPunct="1"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kumimoji="1" lang="zh-CN" altLang="zh-CN" sz="2800" dirty="0" smtClean="0">
                <a:latin typeface="+mj-ea"/>
                <a:ea typeface="+mj-ea"/>
              </a:rPr>
              <a:t>	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2</a:t>
            </a:r>
            <a:r>
              <a:rPr kumimoji="1" lang="zh-CN" altLang="zh-CN" sz="2800" dirty="0" smtClean="0">
                <a:latin typeface="+mj-ea"/>
                <a:ea typeface="+mj-ea"/>
              </a:rPr>
              <a:t>=专业集合={计算机，食品}</a:t>
            </a:r>
          </a:p>
          <a:p>
            <a:pPr eaLnBrk="1" hangingPunct="1"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kumimoji="1" lang="zh-CN" altLang="zh-CN" sz="2800" dirty="0" smtClean="0">
                <a:latin typeface="+mj-ea"/>
                <a:ea typeface="+mj-ea"/>
              </a:rPr>
              <a:t>	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3</a:t>
            </a:r>
            <a:r>
              <a:rPr kumimoji="1" lang="zh-CN" altLang="zh-CN" sz="2800" dirty="0" smtClean="0">
                <a:latin typeface="+mj-ea"/>
                <a:ea typeface="+mj-ea"/>
              </a:rPr>
              <a:t>=课程集合={数据结构，肉品加工}</a:t>
            </a:r>
          </a:p>
          <a:p>
            <a:pPr eaLnBrk="1" hangingPunct="1">
              <a:spcBef>
                <a:spcPts val="3000"/>
              </a:spcBef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kumimoji="1" lang="zh-CN" altLang="zh-CN" sz="2800" dirty="0" smtClean="0">
                <a:latin typeface="+mj-ea"/>
                <a:ea typeface="+mj-ea"/>
              </a:rPr>
              <a:t>则D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1</a:t>
            </a:r>
            <a:r>
              <a:rPr kumimoji="1" lang="zh-CN" altLang="zh-CN" sz="2800" dirty="0" smtClean="0">
                <a:latin typeface="+mj-ea"/>
                <a:ea typeface="+mj-ea"/>
              </a:rPr>
              <a:t>,D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2</a:t>
            </a:r>
            <a:r>
              <a:rPr kumimoji="1" lang="zh-CN" altLang="zh-CN" sz="2800" dirty="0" smtClean="0">
                <a:latin typeface="+mj-ea"/>
                <a:ea typeface="+mj-ea"/>
              </a:rPr>
              <a:t>,D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3</a:t>
            </a:r>
            <a:r>
              <a:rPr kumimoji="1" lang="zh-CN" altLang="zh-CN" sz="2800" dirty="0" smtClean="0">
                <a:latin typeface="+mj-ea"/>
                <a:ea typeface="+mj-ea"/>
              </a:rPr>
              <a:t>的笛卡尔积D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1</a:t>
            </a:r>
            <a:r>
              <a:rPr kumimoji="1" lang="zh-CN" altLang="zh-CN" sz="2800" dirty="0" smtClean="0">
                <a:latin typeface="+mj-ea"/>
                <a:ea typeface="+mj-ea"/>
              </a:rPr>
              <a:t>×D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2</a:t>
            </a:r>
            <a:r>
              <a:rPr kumimoji="1" lang="zh-CN" altLang="zh-CN" sz="2800" dirty="0" smtClean="0">
                <a:latin typeface="+mj-ea"/>
                <a:ea typeface="+mj-ea"/>
              </a:rPr>
              <a:t>×D</a:t>
            </a:r>
            <a:r>
              <a:rPr kumimoji="1" lang="zh-CN" altLang="zh-CN" sz="2800" baseline="-25000" dirty="0" smtClean="0">
                <a:latin typeface="+mj-ea"/>
                <a:ea typeface="+mj-ea"/>
              </a:rPr>
              <a:t>3</a:t>
            </a:r>
            <a:r>
              <a:rPr kumimoji="1" lang="zh-CN" altLang="zh-CN" sz="2800" dirty="0" smtClean="0">
                <a:latin typeface="+mj-ea"/>
                <a:ea typeface="+mj-ea"/>
              </a:rPr>
              <a:t>为:</a:t>
            </a:r>
          </a:p>
        </p:txBody>
      </p:sp>
    </p:spTree>
    <p:extLst>
      <p:ext uri="{BB962C8B-B14F-4D97-AF65-F5344CB8AC3E}">
        <p14:creationId xmlns:p14="http://schemas.microsoft.com/office/powerpoint/2010/main" val="259315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50825" y="4365104"/>
            <a:ext cx="4105275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kumimoji="1" lang="zh-CN" altLang="en-US" sz="2400" dirty="0" smtClean="0">
                <a:latin typeface="Arial" charset="0"/>
              </a:rPr>
              <a:t>上面</a:t>
            </a:r>
            <a:r>
              <a:rPr kumimoji="1" lang="en-US" altLang="zh-CN" sz="2400" dirty="0" smtClean="0">
                <a:latin typeface="Arial" charset="0"/>
              </a:rPr>
              <a:t>3</a:t>
            </a:r>
            <a:r>
              <a:rPr kumimoji="1" lang="zh-CN" altLang="en-US" sz="2400" dirty="0" smtClean="0">
                <a:latin typeface="Arial" charset="0"/>
              </a:rPr>
              <a:t>个域</a:t>
            </a:r>
            <a:r>
              <a:rPr kumimoji="1" lang="zh-CN" altLang="zh-CN" sz="2400" dirty="0" smtClean="0">
                <a:latin typeface="Arial" charset="0"/>
              </a:rPr>
              <a:t>D</a:t>
            </a:r>
            <a:r>
              <a:rPr kumimoji="1" lang="zh-CN" altLang="zh-CN" sz="2400" baseline="-25000" dirty="0" smtClean="0">
                <a:latin typeface="Arial" charset="0"/>
              </a:rPr>
              <a:t>1</a:t>
            </a:r>
            <a:r>
              <a:rPr kumimoji="1" lang="zh-CN" altLang="zh-CN" sz="2400" dirty="0" smtClean="0">
                <a:latin typeface="Arial" charset="0"/>
              </a:rPr>
              <a:t>,D</a:t>
            </a:r>
            <a:r>
              <a:rPr kumimoji="1" lang="zh-CN" altLang="zh-CN" sz="2400" baseline="-25000" dirty="0" smtClean="0">
                <a:latin typeface="Arial" charset="0"/>
              </a:rPr>
              <a:t>2</a:t>
            </a:r>
            <a:r>
              <a:rPr kumimoji="1" lang="zh-CN" altLang="zh-CN" sz="2400" dirty="0" smtClean="0">
                <a:latin typeface="Arial" charset="0"/>
              </a:rPr>
              <a:t>,D</a:t>
            </a:r>
            <a:r>
              <a:rPr kumimoji="1" lang="zh-CN" altLang="zh-CN" sz="2400" baseline="-25000" dirty="0" smtClean="0">
                <a:latin typeface="Arial" charset="0"/>
              </a:rPr>
              <a:t>3</a:t>
            </a:r>
            <a:r>
              <a:rPr kumimoji="1" lang="zh-CN" altLang="zh-CN" sz="2400" dirty="0" smtClean="0">
                <a:latin typeface="Arial" charset="0"/>
              </a:rPr>
              <a:t>的笛卡尔积D</a:t>
            </a:r>
            <a:r>
              <a:rPr kumimoji="1" lang="zh-CN" altLang="zh-CN" sz="2400" baseline="-25000" dirty="0" smtClean="0">
                <a:latin typeface="Arial" charset="0"/>
              </a:rPr>
              <a:t>1</a:t>
            </a:r>
            <a:r>
              <a:rPr kumimoji="1" lang="zh-CN" altLang="zh-CN" sz="2400" dirty="0" smtClean="0">
                <a:latin typeface="Arial" charset="0"/>
              </a:rPr>
              <a:t>×D</a:t>
            </a:r>
            <a:r>
              <a:rPr kumimoji="1" lang="zh-CN" altLang="zh-CN" sz="2400" baseline="-25000" dirty="0" smtClean="0">
                <a:latin typeface="Arial" charset="0"/>
              </a:rPr>
              <a:t>2</a:t>
            </a:r>
            <a:r>
              <a:rPr kumimoji="1" lang="zh-CN" altLang="zh-CN" sz="2400" dirty="0" smtClean="0">
                <a:latin typeface="Arial" charset="0"/>
              </a:rPr>
              <a:t>×D</a:t>
            </a:r>
            <a:r>
              <a:rPr kumimoji="1" lang="zh-CN" altLang="zh-CN" sz="2400" baseline="-25000" dirty="0" smtClean="0">
                <a:latin typeface="Arial" charset="0"/>
              </a:rPr>
              <a:t>3</a:t>
            </a:r>
            <a:r>
              <a:rPr kumimoji="1" lang="zh-CN" altLang="en-US" sz="2400" dirty="0" smtClean="0">
                <a:latin typeface="Arial" charset="0"/>
              </a:rPr>
              <a:t>也可以表示</a:t>
            </a:r>
            <a:r>
              <a:rPr kumimoji="1" lang="zh-CN" altLang="zh-CN" sz="2400" dirty="0" smtClean="0">
                <a:latin typeface="Arial" charset="0"/>
              </a:rPr>
              <a:t>为</a:t>
            </a:r>
            <a:r>
              <a:rPr kumimoji="1" lang="zh-CN" altLang="en-US" sz="2400" dirty="0" smtClean="0">
                <a:latin typeface="Arial" charset="0"/>
              </a:rPr>
              <a:t>如右边所示的二维表：</a:t>
            </a:r>
            <a:endParaRPr kumimoji="1" lang="zh-CN" altLang="zh-CN" sz="2400" dirty="0" smtClean="0">
              <a:latin typeface="Arial" charset="0"/>
            </a:endParaRPr>
          </a:p>
        </p:txBody>
      </p:sp>
      <p:graphicFrame>
        <p:nvGraphicFramePr>
          <p:cNvPr id="1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99469"/>
              </p:ext>
            </p:extLst>
          </p:nvPr>
        </p:nvGraphicFramePr>
        <p:xfrm>
          <a:off x="4500563" y="1194400"/>
          <a:ext cx="4175125" cy="4754880"/>
        </p:xfrm>
        <a:graphic>
          <a:graphicData uri="http://schemas.openxmlformats.org/drawingml/2006/table">
            <a:tbl>
              <a:tblPr/>
              <a:tblGrid>
                <a:gridCol w="139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学生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专业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计算机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计算机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肉品加工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食品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食品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肉品加工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计算机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计算机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肉品加工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食品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食品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肉品加工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计算机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计算机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肉品加工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食品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食品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肉品加工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Rectangle 61"/>
          <p:cNvSpPr>
            <a:spLocks noChangeArrowheads="1"/>
          </p:cNvSpPr>
          <p:nvPr/>
        </p:nvSpPr>
        <p:spPr bwMode="auto">
          <a:xfrm>
            <a:off x="755576" y="6093296"/>
            <a:ext cx="7704856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每一行就是一个元组，每一列都来自同一域</a:t>
            </a:r>
          </a:p>
        </p:txBody>
      </p:sp>
      <p:sp>
        <p:nvSpPr>
          <p:cNvPr id="16" name="Rectangle 62"/>
          <p:cNvSpPr>
            <a:spLocks noChangeArrowheads="1"/>
          </p:cNvSpPr>
          <p:nvPr/>
        </p:nvSpPr>
        <p:spPr bwMode="auto">
          <a:xfrm>
            <a:off x="250825" y="1844824"/>
            <a:ext cx="3960813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</a:t>
            </a:r>
            <a:r>
              <a:rPr lang="zh-CN" altLang="zh-CN" sz="2400" baseline="-250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</a:t>
            </a:r>
            <a:r>
              <a:rPr lang="zh-CN" altLang="en-US" sz="2400" baseline="-250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学生集合</a:t>
            </a:r>
            <a:endParaRPr lang="zh-CN" altLang="en-US" sz="24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{张三，李四，王五}</a:t>
            </a:r>
          </a:p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</a:t>
            </a:r>
            <a:r>
              <a:rPr lang="zh-CN" altLang="zh-CN" sz="2400" baseline="-250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2</a:t>
            </a:r>
            <a:r>
              <a:rPr lang="zh-CN" altLang="en-US" sz="2400" baseline="-250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专业集合</a:t>
            </a:r>
            <a:endParaRPr lang="zh-CN" altLang="en-US" sz="24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{计算机，食品}</a:t>
            </a:r>
          </a:p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</a:t>
            </a:r>
            <a:r>
              <a:rPr lang="zh-CN" altLang="zh-CN" sz="2400" baseline="-250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3</a:t>
            </a:r>
            <a:r>
              <a:rPr lang="zh-CN" altLang="en-US" sz="2400" baseline="-250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课程集合</a:t>
            </a:r>
            <a:endParaRPr lang="zh-CN" altLang="en-US" sz="24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{数据结构，肉品加工}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251520" y="908720"/>
            <a:ext cx="833311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20000"/>
              </a:spcBef>
              <a:spcAft>
                <a:spcPct val="25000"/>
              </a:spcAft>
              <a:buClr>
                <a:srgbClr val="66FF33"/>
              </a:buClr>
              <a:buSzPct val="85000"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换种方式表示</a:t>
            </a:r>
          </a:p>
        </p:txBody>
      </p:sp>
    </p:spTree>
    <p:extLst>
      <p:ext uri="{BB962C8B-B14F-4D97-AF65-F5344CB8AC3E}">
        <p14:creationId xmlns:p14="http://schemas.microsoft.com/office/powerpoint/2010/main" val="29054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104237" y="980728"/>
            <a:ext cx="8932259" cy="339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dirty="0" smtClean="0">
                <a:latin typeface="+mj-ea"/>
                <a:ea typeface="+mj-ea"/>
              </a:rPr>
              <a:t>笛卡尔积</a:t>
            </a:r>
            <a:r>
              <a:rPr kumimoji="1" lang="zh-CN" altLang="zh-CN" dirty="0" smtClean="0">
                <a:latin typeface="+mj-ea"/>
                <a:ea typeface="+mj-ea"/>
              </a:rPr>
              <a:t>D</a:t>
            </a:r>
            <a:r>
              <a:rPr kumimoji="1" lang="zh-CN" altLang="zh-CN" baseline="-25000" dirty="0" smtClean="0">
                <a:latin typeface="+mj-ea"/>
                <a:ea typeface="+mj-ea"/>
              </a:rPr>
              <a:t>1</a:t>
            </a:r>
            <a:r>
              <a:rPr kumimoji="1" lang="zh-CN" altLang="zh-CN" dirty="0" smtClean="0">
                <a:latin typeface="+mj-ea"/>
                <a:ea typeface="+mj-ea"/>
              </a:rPr>
              <a:t>×D</a:t>
            </a:r>
            <a:r>
              <a:rPr kumimoji="1" lang="zh-CN" altLang="zh-CN" baseline="-25000" dirty="0" smtClean="0">
                <a:latin typeface="+mj-ea"/>
                <a:ea typeface="+mj-ea"/>
              </a:rPr>
              <a:t>2</a:t>
            </a:r>
            <a:r>
              <a:rPr kumimoji="1" lang="zh-CN" altLang="zh-CN" dirty="0" smtClean="0">
                <a:latin typeface="+mj-ea"/>
                <a:ea typeface="+mj-ea"/>
              </a:rPr>
              <a:t>×…×D</a:t>
            </a:r>
            <a:r>
              <a:rPr kumimoji="1" lang="zh-CN" altLang="zh-CN" baseline="-25000" dirty="0" smtClean="0">
                <a:latin typeface="+mj-ea"/>
                <a:ea typeface="+mj-ea"/>
              </a:rPr>
              <a:t>n</a:t>
            </a:r>
            <a:r>
              <a:rPr kumimoji="1" lang="zh-CN" altLang="zh-CN" dirty="0" smtClean="0">
                <a:latin typeface="+mj-ea"/>
                <a:ea typeface="+mj-ea"/>
              </a:rPr>
              <a:t>的任</a:t>
            </a:r>
            <a:r>
              <a:rPr kumimoji="1" lang="zh-CN" altLang="en-US" dirty="0" smtClean="0">
                <a:latin typeface="+mj-ea"/>
                <a:ea typeface="+mj-ea"/>
              </a:rPr>
              <a:t>意</a:t>
            </a:r>
            <a:r>
              <a:rPr kumimoji="1" lang="zh-CN" altLang="zh-CN" dirty="0" smtClean="0">
                <a:latin typeface="+mj-ea"/>
                <a:ea typeface="+mj-ea"/>
              </a:rPr>
              <a:t>一</a:t>
            </a:r>
            <a:r>
              <a:rPr kumimoji="1" lang="zh-CN" altLang="en-US" dirty="0" smtClean="0">
                <a:latin typeface="+mj-ea"/>
                <a:ea typeface="+mj-ea"/>
              </a:rPr>
              <a:t>个</a:t>
            </a:r>
            <a:r>
              <a:rPr kumimoji="1" lang="zh-CN" altLang="zh-CN" dirty="0" smtClean="0">
                <a:latin typeface="+mj-ea"/>
                <a:ea typeface="+mj-ea"/>
              </a:rPr>
              <a:t>子集称为在域D</a:t>
            </a:r>
            <a:r>
              <a:rPr kumimoji="1" lang="zh-CN" altLang="zh-CN" baseline="-25000" dirty="0" smtClean="0">
                <a:latin typeface="+mj-ea"/>
                <a:ea typeface="+mj-ea"/>
              </a:rPr>
              <a:t>1</a:t>
            </a:r>
            <a:r>
              <a:rPr kumimoji="1" lang="zh-CN" altLang="zh-CN" dirty="0" smtClean="0">
                <a:latin typeface="+mj-ea"/>
                <a:ea typeface="+mj-ea"/>
              </a:rPr>
              <a:t>,D</a:t>
            </a:r>
            <a:r>
              <a:rPr kumimoji="1" lang="zh-CN" altLang="zh-CN" baseline="-25000" dirty="0" smtClean="0">
                <a:latin typeface="+mj-ea"/>
                <a:ea typeface="+mj-ea"/>
              </a:rPr>
              <a:t>2</a:t>
            </a:r>
            <a:r>
              <a:rPr kumimoji="1" lang="zh-CN" altLang="zh-CN" dirty="0" smtClean="0">
                <a:latin typeface="+mj-ea"/>
                <a:ea typeface="+mj-ea"/>
              </a:rPr>
              <a:t>,…,D</a:t>
            </a:r>
            <a:r>
              <a:rPr kumimoji="1" lang="zh-CN" altLang="zh-CN" baseline="-25000" dirty="0" smtClean="0">
                <a:latin typeface="+mj-ea"/>
                <a:ea typeface="+mj-ea"/>
              </a:rPr>
              <a:t>n</a:t>
            </a:r>
            <a:r>
              <a:rPr kumimoji="1" lang="zh-CN" altLang="zh-CN" dirty="0" smtClean="0">
                <a:latin typeface="+mj-ea"/>
                <a:ea typeface="+mj-ea"/>
              </a:rPr>
              <a:t>上</a:t>
            </a:r>
            <a:r>
              <a:rPr kumimoji="1" lang="zh-CN" altLang="en-US" dirty="0" smtClean="0">
                <a:latin typeface="+mj-ea"/>
                <a:ea typeface="+mj-ea"/>
              </a:rPr>
              <a:t>的一个</a:t>
            </a:r>
            <a:r>
              <a:rPr kumimoji="1" lang="zh-CN" altLang="zh-CN" b="1" dirty="0" smtClean="0">
                <a:solidFill>
                  <a:srgbClr val="FFC000"/>
                </a:solidFill>
                <a:latin typeface="+mj-ea"/>
                <a:ea typeface="+mj-ea"/>
              </a:rPr>
              <a:t>关系</a:t>
            </a:r>
            <a:r>
              <a:rPr kumimoji="1" lang="zh-CN" altLang="zh-CN" dirty="0" smtClean="0">
                <a:latin typeface="+mj-ea"/>
                <a:ea typeface="+mj-ea"/>
              </a:rPr>
              <a:t>(</a:t>
            </a:r>
            <a:r>
              <a:rPr kumimoji="1" lang="zh-CN" altLang="zh-CN" i="1" dirty="0" smtClean="0">
                <a:latin typeface="+mj-ea"/>
                <a:ea typeface="+mj-ea"/>
              </a:rPr>
              <a:t>Relation</a:t>
            </a:r>
            <a:r>
              <a:rPr kumimoji="1" lang="zh-CN" altLang="zh-CN" dirty="0" smtClean="0">
                <a:latin typeface="+mj-ea"/>
                <a:ea typeface="+mj-ea"/>
              </a:rPr>
              <a:t>)</a:t>
            </a:r>
            <a:r>
              <a:rPr kumimoji="1" lang="zh-CN" altLang="en-US" dirty="0" smtClean="0">
                <a:latin typeface="+mj-ea"/>
                <a:ea typeface="+mj-ea"/>
              </a:rPr>
              <a:t>。</a:t>
            </a:r>
            <a:endParaRPr kumimoji="1" lang="en-US" altLang="zh-CN" dirty="0" smtClean="0">
              <a:latin typeface="+mj-ea"/>
              <a:ea typeface="+mj-ea"/>
            </a:endParaRPr>
          </a:p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dirty="0">
                <a:latin typeface="+mj-ea"/>
                <a:ea typeface="+mj-ea"/>
              </a:rPr>
              <a:t>其中域的数目</a:t>
            </a:r>
            <a:r>
              <a:rPr kumimoji="1" lang="en-US" altLang="zh-CN" dirty="0">
                <a:latin typeface="+mj-ea"/>
                <a:ea typeface="+mj-ea"/>
              </a:rPr>
              <a:t>n</a:t>
            </a:r>
            <a:r>
              <a:rPr kumimoji="1" lang="zh-CN" altLang="zh-CN" dirty="0">
                <a:latin typeface="+mj-ea"/>
                <a:ea typeface="+mj-ea"/>
              </a:rPr>
              <a:t>称为关系的</a:t>
            </a:r>
            <a:r>
              <a:rPr kumimoji="1" lang="zh-CN" altLang="zh-CN" b="1" dirty="0">
                <a:solidFill>
                  <a:srgbClr val="FFC000"/>
                </a:solidFill>
                <a:latin typeface="+mj-ea"/>
                <a:ea typeface="+mj-ea"/>
              </a:rPr>
              <a:t>度</a:t>
            </a:r>
            <a:r>
              <a:rPr kumimoji="1" lang="zh-CN" altLang="zh-CN" dirty="0">
                <a:latin typeface="+mj-ea"/>
                <a:ea typeface="+mj-ea"/>
              </a:rPr>
              <a:t>(</a:t>
            </a:r>
            <a:r>
              <a:rPr kumimoji="1" lang="zh-CN" altLang="en-US" dirty="0">
                <a:latin typeface="+mj-ea"/>
                <a:ea typeface="+mj-ea"/>
              </a:rPr>
              <a:t>D</a:t>
            </a:r>
            <a:r>
              <a:rPr kumimoji="1" lang="en-US" altLang="zh-CN" dirty="0" err="1">
                <a:latin typeface="+mj-ea"/>
                <a:ea typeface="+mj-ea"/>
              </a:rPr>
              <a:t>egree</a:t>
            </a:r>
            <a:r>
              <a:rPr kumimoji="1" lang="zh-CN" altLang="zh-CN" dirty="0">
                <a:latin typeface="+mj-ea"/>
                <a:ea typeface="+mj-ea"/>
              </a:rPr>
              <a:t>)。</a:t>
            </a:r>
          </a:p>
          <a:p>
            <a:pPr eaLnBrk="1" hangingPunct="1">
              <a:spcBef>
                <a:spcPct val="25000"/>
              </a:spcBef>
              <a:spcAft>
                <a:spcPct val="15000"/>
              </a:spcAft>
              <a:defRPr/>
            </a:pPr>
            <a:r>
              <a:rPr kumimoji="1" lang="zh-CN" altLang="en-US" dirty="0" smtClean="0">
                <a:latin typeface="+mj-ea"/>
                <a:ea typeface="+mj-ea"/>
              </a:rPr>
              <a:t>度为</a:t>
            </a:r>
            <a:r>
              <a:rPr kumimoji="1" lang="en-US" altLang="zh-CN" dirty="0" smtClean="0">
                <a:latin typeface="+mj-ea"/>
                <a:ea typeface="+mj-ea"/>
              </a:rPr>
              <a:t>n</a:t>
            </a:r>
            <a:r>
              <a:rPr kumimoji="1" lang="zh-CN" altLang="en-US" dirty="0" smtClean="0">
                <a:latin typeface="+mj-ea"/>
                <a:ea typeface="+mj-ea"/>
              </a:rPr>
              <a:t>的关系称为</a:t>
            </a:r>
            <a:r>
              <a:rPr kumimoji="1" lang="en-US" altLang="zh-CN" dirty="0" smtClean="0">
                <a:latin typeface="+mj-ea"/>
                <a:ea typeface="+mj-ea"/>
              </a:rPr>
              <a:t>n</a:t>
            </a:r>
            <a:r>
              <a:rPr kumimoji="1" lang="zh-CN" altLang="en-US" dirty="0" smtClean="0">
                <a:latin typeface="+mj-ea"/>
                <a:ea typeface="+mj-ea"/>
              </a:rPr>
              <a:t>元关系</a:t>
            </a:r>
            <a:r>
              <a:rPr kumimoji="1" lang="zh-CN" altLang="zh-CN" dirty="0" smtClean="0">
                <a:latin typeface="+mj-ea"/>
                <a:ea typeface="+mj-ea"/>
              </a:rPr>
              <a:t>。</a:t>
            </a:r>
            <a:endParaRPr kumimoji="1" lang="zh-CN" altLang="en-US" dirty="0" smtClean="0">
              <a:latin typeface="+mj-ea"/>
              <a:ea typeface="+mj-ea"/>
            </a:endParaRPr>
          </a:p>
          <a:p>
            <a:pPr eaLnBrk="1" hangingPunct="1">
              <a:spcBef>
                <a:spcPct val="25000"/>
              </a:spcBef>
              <a:spcAft>
                <a:spcPct val="15000"/>
              </a:spcAft>
              <a:defRPr/>
            </a:pPr>
            <a:r>
              <a:rPr kumimoji="1" lang="zh-CN" altLang="zh-CN" dirty="0" smtClean="0">
                <a:latin typeface="+mj-ea"/>
                <a:ea typeface="+mj-ea"/>
              </a:rPr>
              <a:t>关系</a:t>
            </a:r>
            <a:r>
              <a:rPr kumimoji="1" lang="zh-CN" altLang="en-US" dirty="0" smtClean="0">
                <a:latin typeface="+mj-ea"/>
                <a:ea typeface="+mj-ea"/>
              </a:rPr>
              <a:t>可以看作</a:t>
            </a:r>
            <a:r>
              <a:rPr kumimoji="1" lang="zh-CN" altLang="zh-CN" dirty="0" smtClean="0">
                <a:latin typeface="+mj-ea"/>
                <a:ea typeface="+mj-ea"/>
              </a:rPr>
              <a:t>是一张</a:t>
            </a:r>
            <a:r>
              <a:rPr kumimoji="1" lang="zh-CN" altLang="en-US" dirty="0" smtClean="0">
                <a:latin typeface="+mj-ea"/>
                <a:ea typeface="+mj-ea"/>
              </a:rPr>
              <a:t>规则的，有意义的</a:t>
            </a:r>
            <a:r>
              <a:rPr kumimoji="1" lang="zh-CN" altLang="zh-CN" dirty="0" smtClean="0">
                <a:latin typeface="+mj-ea"/>
                <a:ea typeface="+mj-ea"/>
              </a:rPr>
              <a:t>二维表</a:t>
            </a:r>
            <a:r>
              <a:rPr kumimoji="1" lang="zh-CN" altLang="en-US" dirty="0" smtClean="0">
                <a:latin typeface="+mj-ea"/>
                <a:ea typeface="+mj-ea"/>
              </a:rPr>
              <a:t>。</a:t>
            </a:r>
            <a:endParaRPr kumimoji="1" lang="zh-CN" altLang="zh-CN" dirty="0" smtClean="0">
              <a:latin typeface="+mj-ea"/>
              <a:ea typeface="+mj-ea"/>
            </a:endParaRPr>
          </a:p>
        </p:txBody>
      </p:sp>
      <p:grpSp>
        <p:nvGrpSpPr>
          <p:cNvPr id="37" name="Group 4"/>
          <p:cNvGrpSpPr>
            <a:grpSpLocks/>
          </p:cNvGrpSpPr>
          <p:nvPr/>
        </p:nvGrpSpPr>
        <p:grpSpPr bwMode="auto">
          <a:xfrm>
            <a:off x="1522467" y="4437063"/>
            <a:ext cx="6095797" cy="1944265"/>
            <a:chOff x="1112" y="2886"/>
            <a:chExt cx="3038" cy="799"/>
          </a:xfrm>
        </p:grpSpPr>
        <p:sp>
          <p:nvSpPr>
            <p:cNvPr id="38" name="Rectangle 5"/>
            <p:cNvSpPr>
              <a:spLocks noChangeArrowheads="1"/>
            </p:cNvSpPr>
            <p:nvPr/>
          </p:nvSpPr>
          <p:spPr bwMode="auto">
            <a:xfrm>
              <a:off x="2985" y="3486"/>
              <a:ext cx="1165" cy="19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数据结构</a:t>
              </a:r>
            </a:p>
          </p:txBody>
        </p:sp>
        <p:sp>
          <p:nvSpPr>
            <p:cNvPr id="39" name="Rectangle 6"/>
            <p:cNvSpPr>
              <a:spLocks noChangeArrowheads="1"/>
            </p:cNvSpPr>
            <p:nvPr/>
          </p:nvSpPr>
          <p:spPr bwMode="auto">
            <a:xfrm>
              <a:off x="1821" y="3486"/>
              <a:ext cx="1164" cy="19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计算机</a:t>
              </a:r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1112" y="3486"/>
              <a:ext cx="709" cy="19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王五</a:t>
              </a:r>
            </a:p>
          </p:txBody>
        </p:sp>
        <p:sp>
          <p:nvSpPr>
            <p:cNvPr id="41" name="Rectangle 8"/>
            <p:cNvSpPr>
              <a:spLocks noChangeArrowheads="1"/>
            </p:cNvSpPr>
            <p:nvPr/>
          </p:nvSpPr>
          <p:spPr bwMode="auto">
            <a:xfrm>
              <a:off x="2985" y="3286"/>
              <a:ext cx="1165" cy="19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数据结构</a:t>
              </a: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1821" y="3286"/>
              <a:ext cx="1164" cy="19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计算机</a:t>
              </a: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1112" y="3286"/>
              <a:ext cx="709" cy="19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李四</a:t>
              </a:r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2985" y="3086"/>
              <a:ext cx="1165" cy="20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肉品加工</a:t>
              </a:r>
            </a:p>
          </p:txBody>
        </p:sp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1821" y="3086"/>
              <a:ext cx="1164" cy="20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食品</a:t>
              </a:r>
            </a:p>
          </p:txBody>
        </p:sp>
        <p:sp>
          <p:nvSpPr>
            <p:cNvPr id="46" name="Rectangle 13"/>
            <p:cNvSpPr>
              <a:spLocks noChangeArrowheads="1"/>
            </p:cNvSpPr>
            <p:nvPr/>
          </p:nvSpPr>
          <p:spPr bwMode="auto">
            <a:xfrm>
              <a:off x="1112" y="3086"/>
              <a:ext cx="709" cy="20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张三</a:t>
              </a:r>
            </a:p>
          </p:txBody>
        </p:sp>
        <p:sp>
          <p:nvSpPr>
            <p:cNvPr id="47" name="Rectangle 14"/>
            <p:cNvSpPr>
              <a:spLocks noChangeArrowheads="1"/>
            </p:cNvSpPr>
            <p:nvPr/>
          </p:nvSpPr>
          <p:spPr bwMode="auto">
            <a:xfrm>
              <a:off x="2985" y="2886"/>
              <a:ext cx="1165" cy="20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课程</a:t>
              </a:r>
            </a:p>
          </p:txBody>
        </p:sp>
        <p:sp>
          <p:nvSpPr>
            <p:cNvPr id="48" name="Rectangle 15"/>
            <p:cNvSpPr>
              <a:spLocks noChangeArrowheads="1"/>
            </p:cNvSpPr>
            <p:nvPr/>
          </p:nvSpPr>
          <p:spPr bwMode="auto">
            <a:xfrm>
              <a:off x="1821" y="2886"/>
              <a:ext cx="1164" cy="20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专业</a:t>
              </a:r>
            </a:p>
          </p:txBody>
        </p:sp>
        <p:sp>
          <p:nvSpPr>
            <p:cNvPr id="49" name="Rectangle 16"/>
            <p:cNvSpPr>
              <a:spLocks noChangeArrowheads="1"/>
            </p:cNvSpPr>
            <p:nvPr/>
          </p:nvSpPr>
          <p:spPr bwMode="auto">
            <a:xfrm>
              <a:off x="1112" y="2886"/>
              <a:ext cx="709" cy="20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40000"/>
                </a:spcAft>
                <a:buClr>
                  <a:srgbClr val="66FF33"/>
                </a:buClr>
                <a:buSzPct val="85000"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</a:rPr>
                <a:t>学生</a:t>
              </a:r>
            </a:p>
          </p:txBody>
        </p:sp>
        <p:sp>
          <p:nvSpPr>
            <p:cNvPr id="50" name="Line 17"/>
            <p:cNvSpPr>
              <a:spLocks noChangeShapeType="1"/>
            </p:cNvSpPr>
            <p:nvPr/>
          </p:nvSpPr>
          <p:spPr bwMode="auto">
            <a:xfrm>
              <a:off x="1112" y="2886"/>
              <a:ext cx="3038" cy="0"/>
            </a:xfrm>
            <a:prstGeom prst="line">
              <a:avLst/>
            </a:prstGeom>
            <a:noFill/>
            <a:ln w="28575" cap="sq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>
              <a:off x="1112" y="3086"/>
              <a:ext cx="303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1112" y="3286"/>
              <a:ext cx="303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Line 20"/>
            <p:cNvSpPr>
              <a:spLocks noChangeShapeType="1"/>
            </p:cNvSpPr>
            <p:nvPr/>
          </p:nvSpPr>
          <p:spPr bwMode="auto">
            <a:xfrm>
              <a:off x="1112" y="3486"/>
              <a:ext cx="303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Line 21"/>
            <p:cNvSpPr>
              <a:spLocks noChangeShapeType="1"/>
            </p:cNvSpPr>
            <p:nvPr/>
          </p:nvSpPr>
          <p:spPr bwMode="auto">
            <a:xfrm>
              <a:off x="1112" y="3685"/>
              <a:ext cx="3038" cy="0"/>
            </a:xfrm>
            <a:prstGeom prst="line">
              <a:avLst/>
            </a:prstGeom>
            <a:noFill/>
            <a:ln w="28575" cap="sq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Line 22"/>
            <p:cNvSpPr>
              <a:spLocks noChangeShapeType="1"/>
            </p:cNvSpPr>
            <p:nvPr/>
          </p:nvSpPr>
          <p:spPr bwMode="auto">
            <a:xfrm>
              <a:off x="1112" y="2886"/>
              <a:ext cx="0" cy="799"/>
            </a:xfrm>
            <a:prstGeom prst="line">
              <a:avLst/>
            </a:prstGeom>
            <a:noFill/>
            <a:ln w="28575" cap="sq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Line 23"/>
            <p:cNvSpPr>
              <a:spLocks noChangeShapeType="1"/>
            </p:cNvSpPr>
            <p:nvPr/>
          </p:nvSpPr>
          <p:spPr bwMode="auto">
            <a:xfrm>
              <a:off x="1821" y="2886"/>
              <a:ext cx="0" cy="79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>
              <a:off x="2985" y="2886"/>
              <a:ext cx="0" cy="79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4150" y="2886"/>
              <a:ext cx="0" cy="799"/>
            </a:xfrm>
            <a:prstGeom prst="line">
              <a:avLst/>
            </a:prstGeom>
            <a:noFill/>
            <a:ln w="28575" cap="sq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9949158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253284" y="764704"/>
            <a:ext cx="8640762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spcAft>
                <a:spcPts val="1800"/>
              </a:spcAft>
              <a:defRPr/>
            </a:pPr>
            <a:r>
              <a:rPr kumimoji="1" lang="zh-CN" altLang="en-US" dirty="0" smtClean="0">
                <a:latin typeface="+mj-ea"/>
                <a:ea typeface="+mj-ea"/>
              </a:rPr>
              <a:t>  关系应具备如下性质：</a:t>
            </a:r>
          </a:p>
          <a:p>
            <a:pPr marL="450850" lvl="1" indent="-271463" eaLnBrk="1" hangingPunct="1">
              <a:spcAft>
                <a:spcPts val="0"/>
              </a:spcAft>
              <a:buClr>
                <a:srgbClr val="FFFF00"/>
              </a:buClr>
              <a:buSzPct val="75000"/>
              <a:buFont typeface="Wingdings" pitchFamily="2" charset="2"/>
              <a:buAutoNum type="arabicPeriod"/>
              <a:defRPr/>
            </a:pPr>
            <a:r>
              <a:rPr kumimoji="1" lang="zh-CN" altLang="zh-CN" dirty="0">
                <a:latin typeface="+mj-ea"/>
                <a:ea typeface="+mj-ea"/>
              </a:rPr>
              <a:t>不允许出现两个以上完全相同的</a:t>
            </a:r>
            <a:r>
              <a:rPr kumimoji="1" lang="zh-CN" altLang="zh-CN" dirty="0" smtClean="0">
                <a:latin typeface="+mj-ea"/>
                <a:ea typeface="+mj-ea"/>
              </a:rPr>
              <a:t>元组</a:t>
            </a:r>
            <a:endParaRPr kumimoji="1" lang="zh-CN" altLang="zh-CN" dirty="0">
              <a:latin typeface="+mj-ea"/>
              <a:ea typeface="+mj-ea"/>
            </a:endParaRPr>
          </a:p>
          <a:p>
            <a:pPr marL="450850" lvl="1" indent="-271463" eaLnBrk="1" hangingPunct="1">
              <a:spcAft>
                <a:spcPts val="0"/>
              </a:spcAft>
              <a:buClr>
                <a:srgbClr val="FFFF00"/>
              </a:buClr>
              <a:buSzPct val="75000"/>
              <a:buFont typeface="Wingdings" pitchFamily="2" charset="2"/>
              <a:buAutoNum type="arabicPeriod"/>
              <a:defRPr/>
            </a:pPr>
            <a:r>
              <a:rPr kumimoji="1" lang="zh-CN" altLang="zh-CN" dirty="0">
                <a:latin typeface="+mj-ea"/>
                <a:ea typeface="+mj-ea"/>
              </a:rPr>
              <a:t>元组次序</a:t>
            </a:r>
            <a:r>
              <a:rPr kumimoji="1" lang="zh-CN" altLang="en-US" dirty="0">
                <a:latin typeface="+mj-ea"/>
                <a:ea typeface="+mj-ea"/>
              </a:rPr>
              <a:t>是</a:t>
            </a:r>
            <a:r>
              <a:rPr kumimoji="1" lang="zh-CN" altLang="zh-CN" dirty="0">
                <a:latin typeface="+mj-ea"/>
                <a:ea typeface="+mj-ea"/>
              </a:rPr>
              <a:t>任意</a:t>
            </a:r>
            <a:r>
              <a:rPr kumimoji="1" lang="zh-CN" altLang="en-US" dirty="0" smtClean="0">
                <a:latin typeface="+mj-ea"/>
                <a:ea typeface="+mj-ea"/>
              </a:rPr>
              <a:t>的</a:t>
            </a:r>
            <a:endParaRPr kumimoji="1" lang="zh-CN" altLang="en-US" dirty="0">
              <a:latin typeface="+mj-ea"/>
              <a:ea typeface="+mj-ea"/>
            </a:endParaRPr>
          </a:p>
          <a:p>
            <a:pPr marL="450850" lvl="1" indent="-271463" eaLnBrk="1" hangingPunct="1">
              <a:spcAft>
                <a:spcPts val="0"/>
              </a:spcAft>
              <a:buClr>
                <a:srgbClr val="FFFF00"/>
              </a:buClr>
              <a:buSzPct val="75000"/>
              <a:buFont typeface="Wingdings" pitchFamily="2" charset="2"/>
              <a:buAutoNum type="arabicPeriod"/>
              <a:defRPr/>
            </a:pPr>
            <a:r>
              <a:rPr kumimoji="1" lang="zh-CN" altLang="en-US" dirty="0">
                <a:latin typeface="+mj-ea"/>
                <a:ea typeface="+mj-ea"/>
              </a:rPr>
              <a:t>理论上没有列序</a:t>
            </a:r>
            <a:endParaRPr kumimoji="1" lang="zh-CN" altLang="zh-CN" dirty="0">
              <a:latin typeface="+mj-ea"/>
              <a:ea typeface="+mj-ea"/>
            </a:endParaRPr>
          </a:p>
          <a:p>
            <a:pPr marL="450850" lvl="1" indent="-271463" eaLnBrk="1" hangingPunct="1">
              <a:spcAft>
                <a:spcPts val="0"/>
              </a:spcAft>
              <a:buClr>
                <a:srgbClr val="FFFF00"/>
              </a:buClr>
              <a:buSzPct val="75000"/>
              <a:buFont typeface="Wingdings" pitchFamily="2" charset="2"/>
              <a:buAutoNum type="arabicPeriod"/>
              <a:defRPr/>
            </a:pPr>
            <a:r>
              <a:rPr kumimoji="1" lang="zh-CN" altLang="en-US" dirty="0" smtClean="0">
                <a:latin typeface="+mj-ea"/>
                <a:ea typeface="+mj-ea"/>
              </a:rPr>
              <a:t>每一</a:t>
            </a:r>
            <a:r>
              <a:rPr kumimoji="1" lang="zh-CN" altLang="zh-CN" dirty="0" smtClean="0">
                <a:latin typeface="+mj-ea"/>
                <a:ea typeface="+mj-ea"/>
              </a:rPr>
              <a:t>列的</a:t>
            </a:r>
            <a:r>
              <a:rPr kumimoji="1" lang="zh-CN" altLang="en-US" dirty="0" smtClean="0">
                <a:latin typeface="+mj-ea"/>
                <a:ea typeface="+mj-ea"/>
              </a:rPr>
              <a:t>值</a:t>
            </a:r>
            <a:r>
              <a:rPr kumimoji="1" lang="zh-CN" altLang="zh-CN" dirty="0" smtClean="0">
                <a:latin typeface="+mj-ea"/>
                <a:ea typeface="+mj-ea"/>
              </a:rPr>
              <a:t>来自于同一个域，是同一类型的数据</a:t>
            </a:r>
            <a:r>
              <a:rPr kumimoji="1" lang="zh-CN" altLang="en-US" dirty="0" smtClean="0">
                <a:latin typeface="+mj-ea"/>
                <a:ea typeface="+mj-ea"/>
              </a:rPr>
              <a:t>。</a:t>
            </a:r>
            <a:endParaRPr kumimoji="1" lang="zh-CN" altLang="zh-CN" dirty="0" smtClean="0">
              <a:latin typeface="+mj-ea"/>
              <a:ea typeface="+mj-ea"/>
            </a:endParaRPr>
          </a:p>
          <a:p>
            <a:pPr marL="450850" lvl="1" indent="-271463" eaLnBrk="1" hangingPunct="1">
              <a:spcAft>
                <a:spcPts val="0"/>
              </a:spcAft>
              <a:buClr>
                <a:srgbClr val="FFFF00"/>
              </a:buClr>
              <a:buSzPct val="75000"/>
              <a:buFont typeface="Wingdings" pitchFamily="2" charset="2"/>
              <a:buAutoNum type="arabicPeriod"/>
              <a:defRPr/>
            </a:pPr>
            <a:r>
              <a:rPr kumimoji="1" lang="zh-CN" altLang="zh-CN" dirty="0" smtClean="0">
                <a:latin typeface="+mj-ea"/>
                <a:ea typeface="+mj-ea"/>
              </a:rPr>
              <a:t>不同的列可来自于同一个域，每一列称为一个</a:t>
            </a:r>
            <a:r>
              <a:rPr kumimoji="1" lang="zh-CN" altLang="zh-CN" b="1" dirty="0">
                <a:solidFill>
                  <a:srgbClr val="FFC000"/>
                </a:solidFill>
                <a:latin typeface="+mj-ea"/>
                <a:ea typeface="+mj-ea"/>
              </a:rPr>
              <a:t>属性</a:t>
            </a:r>
            <a:r>
              <a:rPr kumimoji="1" lang="zh-CN" altLang="zh-CN" dirty="0" smtClean="0">
                <a:latin typeface="+mj-ea"/>
                <a:ea typeface="+mj-ea"/>
              </a:rPr>
              <a:t>，</a:t>
            </a:r>
            <a:r>
              <a:rPr kumimoji="1" lang="zh-CN" altLang="en-US" dirty="0" smtClean="0">
                <a:latin typeface="+mj-ea"/>
                <a:ea typeface="+mj-ea"/>
              </a:rPr>
              <a:t>有</a:t>
            </a:r>
            <a:r>
              <a:rPr kumimoji="1" lang="zh-CN" altLang="zh-CN" dirty="0" smtClean="0">
                <a:latin typeface="+mj-ea"/>
                <a:ea typeface="+mj-ea"/>
              </a:rPr>
              <a:t>唯一</a:t>
            </a:r>
            <a:r>
              <a:rPr kumimoji="1" lang="zh-CN" altLang="en-US" dirty="0" smtClean="0">
                <a:latin typeface="+mj-ea"/>
                <a:ea typeface="+mj-ea"/>
              </a:rPr>
              <a:t>的</a:t>
            </a:r>
            <a:r>
              <a:rPr kumimoji="1" lang="zh-CN" altLang="zh-CN" dirty="0" smtClean="0">
                <a:latin typeface="+mj-ea"/>
                <a:ea typeface="+mj-ea"/>
              </a:rPr>
              <a:t>属性名</a:t>
            </a:r>
            <a:r>
              <a:rPr kumimoji="1" lang="zh-CN" altLang="en-US" dirty="0" smtClean="0">
                <a:latin typeface="+mj-ea"/>
                <a:ea typeface="+mj-ea"/>
              </a:rPr>
              <a:t>。</a:t>
            </a:r>
            <a:endParaRPr kumimoji="1" lang="zh-CN" altLang="zh-CN" dirty="0" smtClean="0">
              <a:latin typeface="+mj-ea"/>
              <a:ea typeface="+mj-ea"/>
            </a:endParaRPr>
          </a:p>
          <a:p>
            <a:pPr marL="450850" lvl="1" indent="-271463" eaLnBrk="1" hangingPunct="1">
              <a:spcAft>
                <a:spcPts val="0"/>
              </a:spcAft>
              <a:buClr>
                <a:srgbClr val="FFFF00"/>
              </a:buClr>
              <a:buSzPct val="75000"/>
              <a:buFont typeface="Wingdings" pitchFamily="2" charset="2"/>
              <a:buAutoNum type="arabicPeriod"/>
              <a:defRPr/>
            </a:pPr>
            <a:r>
              <a:rPr kumimoji="1" lang="zh-CN" altLang="en-US" dirty="0" smtClean="0">
                <a:solidFill>
                  <a:srgbClr val="FFFF00"/>
                </a:solidFill>
                <a:latin typeface="+mj-ea"/>
                <a:ea typeface="+mj-ea"/>
              </a:rPr>
              <a:t>属性值</a:t>
            </a:r>
            <a:r>
              <a:rPr kumimoji="1" lang="zh-CN" altLang="zh-CN" dirty="0" smtClean="0">
                <a:solidFill>
                  <a:srgbClr val="FFFF00"/>
                </a:solidFill>
                <a:latin typeface="+mj-ea"/>
                <a:ea typeface="+mj-ea"/>
              </a:rPr>
              <a:t>是不可再分的数据项，即具有原子性</a:t>
            </a:r>
            <a:r>
              <a:rPr kumimoji="1" lang="zh-CN" altLang="en-US" dirty="0" smtClean="0">
                <a:solidFill>
                  <a:srgbClr val="FFFF00"/>
                </a:solidFill>
                <a:latin typeface="+mj-ea"/>
                <a:ea typeface="+mj-ea"/>
              </a:rPr>
              <a:t>。</a:t>
            </a:r>
            <a:endParaRPr kumimoji="1" lang="zh-CN" altLang="zh-CN" dirty="0" smtClean="0">
              <a:solidFill>
                <a:srgbClr val="FFFF00"/>
              </a:solidFill>
              <a:latin typeface="+mj-ea"/>
              <a:ea typeface="+mj-ea"/>
            </a:endParaRPr>
          </a:p>
        </p:txBody>
      </p:sp>
      <p:graphicFrame>
        <p:nvGraphicFramePr>
          <p:cNvPr id="3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209531"/>
              </p:ext>
            </p:extLst>
          </p:nvPr>
        </p:nvGraphicFramePr>
        <p:xfrm>
          <a:off x="4833559" y="4990296"/>
          <a:ext cx="4032250" cy="1463040"/>
        </p:xfrm>
        <a:graphic>
          <a:graphicData uri="http://schemas.openxmlformats.org/drawingml/2006/table">
            <a:tbl>
              <a:tblPr/>
              <a:tblGrid>
                <a:gridCol w="113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语文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政治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6"/>
          <p:cNvSpPr>
            <a:spLocks noChangeArrowheads="1"/>
          </p:cNvSpPr>
          <p:nvPr/>
        </p:nvSpPr>
        <p:spPr bwMode="auto">
          <a:xfrm>
            <a:off x="452437" y="5443686"/>
            <a:ext cx="4121227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</a:t>
            </a:r>
            <a:r>
              <a:rPr lang="zh-CN" altLang="zh-CN" sz="2400" baseline="-25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</a:t>
            </a:r>
            <a:r>
              <a:rPr lang="zh-CN" altLang="en-US" sz="2400" baseline="-25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en-US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en-US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姓名 </a:t>
            </a:r>
            <a:r>
              <a:rPr lang="en-US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 </a:t>
            </a:r>
            <a:r>
              <a:rPr lang="zh-CN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张三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李四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王五}</a:t>
            </a:r>
          </a:p>
          <a:p>
            <a:pPr marL="393700" indent="-393700">
              <a:buClr>
                <a:srgbClr val="66FF33"/>
              </a:buClr>
              <a:buSzPct val="85000"/>
              <a:defRPr/>
            </a:pP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</a:t>
            </a:r>
            <a:r>
              <a:rPr lang="zh-CN" altLang="zh-CN" sz="2400" baseline="-25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2</a:t>
            </a:r>
            <a:r>
              <a:rPr lang="zh-CN" altLang="en-US" sz="2400" baseline="-25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分数 </a:t>
            </a:r>
            <a:r>
              <a:rPr lang="zh-CN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</a:t>
            </a:r>
            <a:r>
              <a:rPr lang="en-US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zh-CN" altLang="zh-CN" sz="2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x|0≤x≤10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0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6728878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7504" y="980728"/>
            <a:ext cx="8856984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关系的结构描述称为</a:t>
            </a:r>
            <a:r>
              <a:rPr kumimoji="1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关系模式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zh-CN" altLang="zh-CN" sz="30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Relation schema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)，它可以形式化地表示为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一个五元组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		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R（U，D，DOM，F 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	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其中R为关系名, U为组成该关系的属性的集合，D为属性组U中属性所来自的域</a:t>
            </a:r>
            <a:r>
              <a:rPr kumimoji="1" lang="zh-CN" altLang="en-US" sz="3000" kern="0" dirty="0" smtClean="0">
                <a:latin typeface="微软雅黑" pitchFamily="34" charset="-122"/>
                <a:ea typeface="微软雅黑" pitchFamily="34" charset="-122"/>
              </a:rPr>
              <a:t>的集合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，DOM为属性向域的映象集合，F为属性间数据的依赖关系的集合。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关系模式通常可以简记为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	     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R（U ） 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或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者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R（A</a:t>
            </a:r>
            <a:r>
              <a:rPr kumimoji="1" lang="zh-CN" altLang="zh-CN" sz="30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，A</a:t>
            </a:r>
            <a:r>
              <a:rPr kumimoji="1" lang="zh-CN" altLang="zh-CN" sz="30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，…，A</a:t>
            </a:r>
            <a:r>
              <a:rPr kumimoji="1" lang="zh-CN" altLang="zh-CN" sz="30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n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	其中A</a:t>
            </a:r>
            <a:r>
              <a:rPr kumimoji="1" lang="zh-CN" altLang="zh-CN" sz="30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i</a:t>
            </a:r>
            <a:r>
              <a:rPr kumimoji="1" lang="zh-CN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为属性名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rPr>
              <a:t>。</a:t>
            </a:r>
            <a:endParaRPr kumimoji="1" lang="zh-CN" altLang="zh-CN" sz="30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036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20" name="Freeform 2"/>
          <p:cNvSpPr>
            <a:spLocks/>
          </p:cNvSpPr>
          <p:nvPr/>
        </p:nvSpPr>
        <p:spPr bwMode="auto">
          <a:xfrm>
            <a:off x="755650" y="5483820"/>
            <a:ext cx="647700" cy="576262"/>
          </a:xfrm>
          <a:custGeom>
            <a:avLst/>
            <a:gdLst/>
            <a:ahLst/>
            <a:cxnLst>
              <a:cxn ang="0">
                <a:pos x="408" y="363"/>
              </a:cxn>
              <a:cxn ang="0">
                <a:pos x="128" y="285"/>
              </a:cxn>
              <a:cxn ang="0">
                <a:pos x="0" y="0"/>
              </a:cxn>
            </a:cxnLst>
            <a:rect l="0" t="0" r="r" b="b"/>
            <a:pathLst>
              <a:path w="408" h="363">
                <a:moveTo>
                  <a:pt x="408" y="363"/>
                </a:moveTo>
                <a:lnTo>
                  <a:pt x="128" y="285"/>
                </a:lnTo>
                <a:lnTo>
                  <a:pt x="0" y="0"/>
                </a:lnTo>
              </a:path>
            </a:pathLst>
          </a:custGeom>
          <a:noFill/>
          <a:ln w="28575" cap="sq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28398" dir="1593903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Freeform 3"/>
          <p:cNvSpPr>
            <a:spLocks/>
          </p:cNvSpPr>
          <p:nvPr/>
        </p:nvSpPr>
        <p:spPr bwMode="auto">
          <a:xfrm>
            <a:off x="3835400" y="1234082"/>
            <a:ext cx="1601788" cy="549275"/>
          </a:xfrm>
          <a:custGeom>
            <a:avLst/>
            <a:gdLst/>
            <a:ahLst/>
            <a:cxnLst>
              <a:cxn ang="0">
                <a:pos x="1009" y="0"/>
              </a:cxn>
              <a:cxn ang="0">
                <a:pos x="804" y="2"/>
              </a:cxn>
              <a:cxn ang="0">
                <a:pos x="112" y="206"/>
              </a:cxn>
              <a:cxn ang="0">
                <a:pos x="0" y="346"/>
              </a:cxn>
            </a:cxnLst>
            <a:rect l="0" t="0" r="r" b="b"/>
            <a:pathLst>
              <a:path w="1009" h="346">
                <a:moveTo>
                  <a:pt x="1009" y="0"/>
                </a:moveTo>
                <a:lnTo>
                  <a:pt x="804" y="2"/>
                </a:lnTo>
                <a:lnTo>
                  <a:pt x="112" y="206"/>
                </a:lnTo>
                <a:lnTo>
                  <a:pt x="0" y="346"/>
                </a:lnTo>
              </a:path>
            </a:pathLst>
          </a:custGeom>
          <a:noFill/>
          <a:ln w="28575" cap="sq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7961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23366"/>
              </p:ext>
            </p:extLst>
          </p:nvPr>
        </p:nvGraphicFramePr>
        <p:xfrm>
          <a:off x="755650" y="1953220"/>
          <a:ext cx="3351213" cy="2438400"/>
        </p:xfrm>
        <a:graphic>
          <a:graphicData uri="http://schemas.openxmlformats.org/drawingml/2006/table">
            <a:tbl>
              <a:tblPr/>
              <a:tblGrid>
                <a:gridCol w="820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赵龙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98006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周艺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98007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钟伟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Rectangle 75"/>
          <p:cNvSpPr>
            <a:spLocks noChangeArrowheads="1"/>
          </p:cNvSpPr>
          <p:nvPr/>
        </p:nvSpPr>
        <p:spPr bwMode="auto">
          <a:xfrm>
            <a:off x="282575" y="1938932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24" name="Group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77142"/>
              </p:ext>
            </p:extLst>
          </p:nvPr>
        </p:nvGraphicFramePr>
        <p:xfrm>
          <a:off x="6084888" y="1953220"/>
          <a:ext cx="1905000" cy="2438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赵龙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陈然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李科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9806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朱成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9807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黄沙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Rectangle 116"/>
          <p:cNvSpPr>
            <a:spLocks noChangeArrowheads="1"/>
          </p:cNvSpPr>
          <p:nvPr/>
        </p:nvSpPr>
        <p:spPr bwMode="auto">
          <a:xfrm>
            <a:off x="5364163" y="1935757"/>
            <a:ext cx="564257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26" name="Rectangle 117"/>
          <p:cNvSpPr>
            <a:spLocks noChangeArrowheads="1"/>
          </p:cNvSpPr>
          <p:nvPr/>
        </p:nvSpPr>
        <p:spPr bwMode="auto">
          <a:xfrm>
            <a:off x="250825" y="4934545"/>
            <a:ext cx="4826000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ST(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学号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,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姓名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,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性别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,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年龄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,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系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)</a:t>
            </a: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</a:endParaRPr>
          </a:p>
        </p:txBody>
      </p:sp>
      <p:sp>
        <p:nvSpPr>
          <p:cNvPr id="27" name="Rectangle 118"/>
          <p:cNvSpPr>
            <a:spLocks noChangeArrowheads="1"/>
          </p:cNvSpPr>
          <p:nvPr/>
        </p:nvSpPr>
        <p:spPr bwMode="auto">
          <a:xfrm>
            <a:off x="5580063" y="5842595"/>
            <a:ext cx="3240087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学生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(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学号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,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姓名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,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系名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)</a:t>
            </a: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</a:endParaRPr>
          </a:p>
        </p:txBody>
      </p:sp>
      <p:sp>
        <p:nvSpPr>
          <p:cNvPr id="28" name="AutoShape 119"/>
          <p:cNvSpPr>
            <a:spLocks noChangeArrowheads="1"/>
          </p:cNvSpPr>
          <p:nvPr/>
        </p:nvSpPr>
        <p:spPr bwMode="auto">
          <a:xfrm>
            <a:off x="1979613" y="4545607"/>
            <a:ext cx="288925" cy="360363"/>
          </a:xfrm>
          <a:prstGeom prst="downArrow">
            <a:avLst>
              <a:gd name="adj1" fmla="val 50000"/>
              <a:gd name="adj2" fmla="val 31181"/>
            </a:avLst>
          </a:prstGeom>
          <a:solidFill>
            <a:srgbClr val="0099CC"/>
          </a:solidFill>
          <a:ln w="12700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AutoShape 120"/>
          <p:cNvSpPr>
            <a:spLocks noChangeArrowheads="1"/>
          </p:cNvSpPr>
          <p:nvPr/>
        </p:nvSpPr>
        <p:spPr bwMode="auto">
          <a:xfrm>
            <a:off x="6877050" y="4690070"/>
            <a:ext cx="287338" cy="1079500"/>
          </a:xfrm>
          <a:prstGeom prst="downArrow">
            <a:avLst>
              <a:gd name="adj1" fmla="val 50278"/>
              <a:gd name="adj2" fmla="val 59676"/>
            </a:avLst>
          </a:prstGeom>
          <a:solidFill>
            <a:srgbClr val="0099CC"/>
          </a:solidFill>
          <a:ln w="12700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0" name="Text Box 121"/>
          <p:cNvSpPr txBox="1">
            <a:spLocks noChangeArrowheads="1"/>
          </p:cNvSpPr>
          <p:nvPr/>
        </p:nvSpPr>
        <p:spPr bwMode="auto">
          <a:xfrm>
            <a:off x="5435600" y="1018182"/>
            <a:ext cx="1223963" cy="466725"/>
          </a:xfrm>
          <a:prstGeom prst="rect">
            <a:avLst/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关系</a:t>
            </a:r>
          </a:p>
        </p:txBody>
      </p:sp>
      <p:sp>
        <p:nvSpPr>
          <p:cNvPr id="31" name="Line 122"/>
          <p:cNvSpPr>
            <a:spLocks noChangeShapeType="1"/>
          </p:cNvSpPr>
          <p:nvPr/>
        </p:nvSpPr>
        <p:spPr bwMode="auto">
          <a:xfrm>
            <a:off x="5940425" y="1502370"/>
            <a:ext cx="144463" cy="360362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ffectLst>
            <a:outerShdw dist="28398" dir="1593903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Text Box 123"/>
          <p:cNvSpPr txBox="1">
            <a:spLocks noChangeArrowheads="1"/>
          </p:cNvSpPr>
          <p:nvPr/>
        </p:nvSpPr>
        <p:spPr bwMode="auto">
          <a:xfrm>
            <a:off x="1403350" y="5842595"/>
            <a:ext cx="1943100" cy="466725"/>
          </a:xfrm>
          <a:prstGeom prst="rect">
            <a:avLst/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关系模式</a:t>
            </a:r>
          </a:p>
        </p:txBody>
      </p:sp>
      <p:sp>
        <p:nvSpPr>
          <p:cNvPr id="33" name="Line 124"/>
          <p:cNvSpPr>
            <a:spLocks noChangeShapeType="1"/>
          </p:cNvSpPr>
          <p:nvPr/>
        </p:nvSpPr>
        <p:spPr bwMode="auto">
          <a:xfrm>
            <a:off x="3348038" y="6058495"/>
            <a:ext cx="22320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ffectLst>
            <a:outerShdw dist="28398" dir="1593903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29697538"/>
      </p:ext>
    </p:ext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graphicFrame>
        <p:nvGraphicFramePr>
          <p:cNvPr id="17" name="Group 2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041223514"/>
              </p:ext>
            </p:extLst>
          </p:nvPr>
        </p:nvGraphicFramePr>
        <p:xfrm>
          <a:off x="1115616" y="4591073"/>
          <a:ext cx="6842125" cy="1934270"/>
        </p:xfrm>
        <a:graphic>
          <a:graphicData uri="http://schemas.openxmlformats.org/drawingml/2006/table">
            <a:tbl>
              <a:tblPr/>
              <a:tblGrid>
                <a:gridCol w="19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9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9343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35"/>
          <p:cNvSpPr txBox="1">
            <a:spLocks noChangeArrowheads="1"/>
          </p:cNvSpPr>
          <p:nvPr/>
        </p:nvSpPr>
        <p:spPr bwMode="auto">
          <a:xfrm>
            <a:off x="190500" y="907232"/>
            <a:ext cx="8739188" cy="2233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ts val="1800"/>
              </a:spcAft>
              <a:defRPr/>
            </a:pPr>
            <a:r>
              <a:rPr kumimoji="1" lang="zh-CN" altLang="en-US" sz="3000" b="1" kern="0" dirty="0">
                <a:solidFill>
                  <a:srgbClr val="FFC000"/>
                </a:solidFill>
              </a:rPr>
              <a:t>码</a:t>
            </a:r>
            <a:r>
              <a:rPr kumimoji="1" lang="zh-CN" altLang="en-US" sz="2800" dirty="0" smtClean="0">
                <a:latin typeface="+mj-ea"/>
                <a:ea typeface="+mj-ea"/>
              </a:rPr>
              <a:t>（</a:t>
            </a:r>
            <a:r>
              <a:rPr kumimoji="1" lang="en-US" altLang="zh-CN" sz="2800" i="1" dirty="0" smtClean="0">
                <a:latin typeface="+mj-ea"/>
                <a:ea typeface="+mj-ea"/>
              </a:rPr>
              <a:t>Key</a:t>
            </a:r>
            <a:r>
              <a:rPr kumimoji="1" lang="zh-CN" altLang="en-US" sz="2800" dirty="0" smtClean="0">
                <a:latin typeface="+mj-ea"/>
                <a:ea typeface="+mj-ea"/>
              </a:rPr>
              <a:t>，又称键）是用于标识元组的属性集</a:t>
            </a:r>
            <a:endParaRPr kumimoji="1" lang="en-US" altLang="zh-CN" sz="2800" dirty="0" smtClean="0">
              <a:latin typeface="+mj-ea"/>
              <a:ea typeface="+mj-ea"/>
            </a:endParaRPr>
          </a:p>
          <a:p>
            <a:pPr eaLnBrk="1" hangingPunct="1">
              <a:spcAft>
                <a:spcPts val="1800"/>
              </a:spcAft>
              <a:defRPr/>
            </a:pPr>
            <a:r>
              <a:rPr kumimoji="1" lang="zh-CN" altLang="en-US" sz="2800" dirty="0" smtClean="0">
                <a:latin typeface="+mj-ea"/>
                <a:ea typeface="+mj-ea"/>
              </a:rPr>
              <a:t>能唯一 标识元组的属性集称为</a:t>
            </a:r>
            <a:r>
              <a:rPr kumimoji="1" lang="zh-CN" altLang="en-US" sz="2800" b="1" dirty="0" smtClean="0">
                <a:solidFill>
                  <a:srgbClr val="FFC000"/>
                </a:solidFill>
                <a:latin typeface="+mj-ea"/>
                <a:ea typeface="+mj-ea"/>
              </a:rPr>
              <a:t>超码</a:t>
            </a:r>
            <a:r>
              <a:rPr kumimoji="1" lang="zh-CN" altLang="en-US" sz="2800" dirty="0" smtClean="0">
                <a:latin typeface="+mj-ea"/>
                <a:ea typeface="+mj-ea"/>
              </a:rPr>
              <a:t>（</a:t>
            </a:r>
            <a:r>
              <a:rPr kumimoji="1" lang="en-US" altLang="zh-CN" sz="2800" dirty="0" smtClean="0">
                <a:latin typeface="+mj-ea"/>
                <a:ea typeface="+mj-ea"/>
              </a:rPr>
              <a:t>Super Key</a:t>
            </a:r>
            <a:r>
              <a:rPr kumimoji="1" lang="zh-CN" altLang="en-US" sz="2800" dirty="0" smtClean="0">
                <a:latin typeface="+mj-ea"/>
                <a:ea typeface="+mj-ea"/>
              </a:rPr>
              <a:t>）</a:t>
            </a:r>
            <a:endParaRPr kumimoji="1" lang="en-US" altLang="zh-CN" sz="2800" dirty="0" smtClean="0">
              <a:latin typeface="+mj-ea"/>
              <a:ea typeface="+mj-ea"/>
            </a:endParaRPr>
          </a:p>
          <a:p>
            <a:pPr eaLnBrk="1" hangingPunct="1">
              <a:spcAft>
                <a:spcPts val="1800"/>
              </a:spcAft>
              <a:defRPr/>
            </a:pPr>
            <a:r>
              <a:rPr kumimoji="1" lang="zh-CN" altLang="en-US" sz="2800" dirty="0" smtClean="0">
                <a:latin typeface="+mj-ea"/>
                <a:ea typeface="+mj-ea"/>
              </a:rPr>
              <a:t>能唯一标识关系中元组的最小属性集称为</a:t>
            </a:r>
            <a:r>
              <a:rPr kumimoji="1" lang="zh-CN" altLang="en-US" sz="2800" b="1" dirty="0" smtClean="0">
                <a:solidFill>
                  <a:srgbClr val="FFC000"/>
                </a:solidFill>
                <a:latin typeface="+mj-ea"/>
                <a:ea typeface="+mj-ea"/>
              </a:rPr>
              <a:t>候选码</a:t>
            </a:r>
            <a:r>
              <a:rPr kumimoji="1" lang="en-US" altLang="zh-CN" sz="2800" dirty="0" smtClean="0">
                <a:latin typeface="+mj-ea"/>
                <a:ea typeface="+mj-ea"/>
              </a:rPr>
              <a:t>(</a:t>
            </a:r>
            <a:r>
              <a:rPr kumimoji="1" lang="en-US" altLang="zh-CN" sz="2800" i="1" dirty="0" smtClean="0">
                <a:latin typeface="+mj-ea"/>
                <a:ea typeface="+mj-ea"/>
              </a:rPr>
              <a:t>Candidate Key</a:t>
            </a:r>
            <a:r>
              <a:rPr kumimoji="1" lang="en-US" altLang="zh-CN" sz="2800" dirty="0" smtClean="0">
                <a:latin typeface="+mj-ea"/>
                <a:ea typeface="+mj-ea"/>
              </a:rPr>
              <a:t>)</a:t>
            </a:r>
          </a:p>
          <a:p>
            <a:pPr eaLnBrk="1" hangingPunct="1">
              <a:spcAft>
                <a:spcPct val="30000"/>
              </a:spcAft>
              <a:defRPr/>
            </a:pPr>
            <a:r>
              <a:rPr kumimoji="1" lang="zh-CN" altLang="en-US" sz="2800" dirty="0" smtClean="0">
                <a:latin typeface="+mj-ea"/>
                <a:ea typeface="+mj-ea"/>
              </a:rPr>
              <a:t>若一个关系有多个候选码，则可以从中选择一个作</a:t>
            </a:r>
            <a:r>
              <a:rPr kumimoji="1" lang="zh-CN" altLang="en-US" sz="2800" dirty="0">
                <a:latin typeface="+mj-ea"/>
                <a:ea typeface="+mj-ea"/>
              </a:rPr>
              <a:t>为</a:t>
            </a:r>
            <a:r>
              <a:rPr kumimoji="1" lang="zh-CN" altLang="en-US" sz="2800" b="1" dirty="0" smtClean="0">
                <a:solidFill>
                  <a:srgbClr val="FFC000"/>
                </a:solidFill>
                <a:latin typeface="+mj-ea"/>
                <a:ea typeface="+mj-ea"/>
              </a:rPr>
              <a:t>主码</a:t>
            </a:r>
            <a:r>
              <a:rPr kumimoji="1" lang="en-US" altLang="zh-CN" sz="2800" dirty="0" smtClean="0">
                <a:latin typeface="+mj-ea"/>
                <a:ea typeface="+mj-ea"/>
              </a:rPr>
              <a:t>(</a:t>
            </a:r>
            <a:r>
              <a:rPr kumimoji="1" lang="en-US" altLang="zh-CN" sz="2800" i="1" dirty="0" smtClean="0">
                <a:latin typeface="+mj-ea"/>
                <a:ea typeface="+mj-ea"/>
              </a:rPr>
              <a:t>Primary Key</a:t>
            </a:r>
            <a:r>
              <a:rPr kumimoji="1" lang="en-US" altLang="zh-CN" sz="2800" dirty="0" smtClean="0">
                <a:latin typeface="+mj-ea"/>
                <a:ea typeface="+mj-ea"/>
              </a:rPr>
              <a:t>)</a:t>
            </a:r>
            <a:r>
              <a:rPr kumimoji="1" lang="zh-CN" altLang="en-US" sz="2800" dirty="0" smtClean="0">
                <a:latin typeface="+mj-ea"/>
                <a:ea typeface="+mj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7963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关系模型的基本概念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60" name="Rectangle 3"/>
          <p:cNvSpPr txBox="1">
            <a:spLocks noChangeArrowheads="1"/>
          </p:cNvSpPr>
          <p:nvPr/>
        </p:nvSpPr>
        <p:spPr bwMode="auto">
          <a:xfrm>
            <a:off x="264261" y="1052736"/>
            <a:ext cx="8496300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15000"/>
              </a:spcAft>
              <a:defRPr/>
            </a:pPr>
            <a:r>
              <a:rPr kumimoji="1" lang="zh-CN" altLang="zh-CN" sz="3000" dirty="0" smtClean="0">
                <a:latin typeface="+mj-ea"/>
                <a:ea typeface="+mj-ea"/>
              </a:rPr>
              <a:t>如果关系R的一个属性组F不是R的主</a:t>
            </a:r>
            <a:r>
              <a:rPr kumimoji="1" lang="zh-CN" altLang="en-US" sz="3000" dirty="0" smtClean="0">
                <a:latin typeface="+mj-ea"/>
                <a:ea typeface="+mj-ea"/>
              </a:rPr>
              <a:t>码</a:t>
            </a:r>
            <a:r>
              <a:rPr kumimoji="1" lang="zh-CN" altLang="zh-CN" sz="3000" dirty="0" smtClean="0">
                <a:latin typeface="+mj-ea"/>
                <a:ea typeface="+mj-ea"/>
              </a:rPr>
              <a:t>，但F与另一关系S(R和S可以是同一关系)的主</a:t>
            </a:r>
            <a:r>
              <a:rPr kumimoji="1" lang="zh-CN" altLang="en-US" sz="3000" dirty="0" smtClean="0">
                <a:latin typeface="+mj-ea"/>
                <a:ea typeface="+mj-ea"/>
              </a:rPr>
              <a:t>码</a:t>
            </a:r>
            <a:r>
              <a:rPr kumimoji="1" lang="zh-CN" altLang="zh-CN" sz="3000" dirty="0" smtClean="0">
                <a:latin typeface="+mj-ea"/>
                <a:ea typeface="+mj-ea"/>
              </a:rPr>
              <a:t>相对应，则称F为关系R的</a:t>
            </a:r>
            <a:r>
              <a:rPr kumimoji="1" lang="zh-CN" altLang="zh-CN" sz="3000" b="1" dirty="0" smtClean="0">
                <a:solidFill>
                  <a:srgbClr val="FFC000"/>
                </a:solidFill>
                <a:latin typeface="+mj-ea"/>
                <a:ea typeface="+mj-ea"/>
              </a:rPr>
              <a:t>外</a:t>
            </a:r>
            <a:r>
              <a:rPr kumimoji="1" lang="zh-CN" altLang="en-US" sz="3000" b="1" dirty="0" smtClean="0">
                <a:solidFill>
                  <a:srgbClr val="FFC000"/>
                </a:solidFill>
                <a:latin typeface="+mj-ea"/>
                <a:ea typeface="+mj-ea"/>
              </a:rPr>
              <a:t>码</a:t>
            </a:r>
            <a:r>
              <a:rPr kumimoji="1" lang="zh-CN" altLang="zh-CN" sz="3000" dirty="0" smtClean="0">
                <a:latin typeface="+mj-ea"/>
                <a:ea typeface="+mj-ea"/>
              </a:rPr>
              <a:t>(</a:t>
            </a:r>
            <a:r>
              <a:rPr kumimoji="1" lang="zh-CN" altLang="zh-CN" sz="3000" i="1" dirty="0" smtClean="0">
                <a:latin typeface="+mj-ea"/>
                <a:ea typeface="+mj-ea"/>
              </a:rPr>
              <a:t>Foreign key</a:t>
            </a:r>
            <a:r>
              <a:rPr kumimoji="1" lang="zh-CN" altLang="zh-CN" sz="3000" dirty="0" smtClean="0">
                <a:latin typeface="+mj-ea"/>
                <a:ea typeface="+mj-ea"/>
              </a:rPr>
              <a:t>)。并称关系R为</a:t>
            </a:r>
            <a:r>
              <a:rPr kumimoji="1" lang="zh-CN" altLang="zh-CN" sz="3000" dirty="0" smtClean="0">
                <a:solidFill>
                  <a:srgbClr val="00FFFF"/>
                </a:solidFill>
                <a:latin typeface="+mj-ea"/>
                <a:ea typeface="+mj-ea"/>
              </a:rPr>
              <a:t>参照关系</a:t>
            </a:r>
            <a:r>
              <a:rPr kumimoji="1" lang="zh-CN" altLang="zh-CN" sz="3000" dirty="0" smtClean="0">
                <a:latin typeface="+mj-ea"/>
                <a:ea typeface="+mj-ea"/>
              </a:rPr>
              <a:t>(</a:t>
            </a:r>
            <a:r>
              <a:rPr kumimoji="1" lang="zh-CN" altLang="zh-CN" sz="3000" i="1" dirty="0" smtClean="0">
                <a:latin typeface="+mj-ea"/>
                <a:ea typeface="+mj-ea"/>
              </a:rPr>
              <a:t>referencing relation</a:t>
            </a:r>
            <a:r>
              <a:rPr kumimoji="1" lang="zh-CN" altLang="zh-CN" sz="3000" dirty="0" smtClean="0">
                <a:latin typeface="+mj-ea"/>
                <a:ea typeface="+mj-ea"/>
              </a:rPr>
              <a:t>)，关系S称为</a:t>
            </a:r>
            <a:r>
              <a:rPr kumimoji="1" lang="zh-CN" altLang="zh-CN" sz="3000" dirty="0" smtClean="0">
                <a:solidFill>
                  <a:srgbClr val="00FFFF"/>
                </a:solidFill>
                <a:latin typeface="+mj-ea"/>
                <a:ea typeface="+mj-ea"/>
              </a:rPr>
              <a:t>被参照关系</a:t>
            </a:r>
            <a:r>
              <a:rPr kumimoji="1" lang="zh-CN" altLang="zh-CN" sz="3000" dirty="0" smtClean="0">
                <a:latin typeface="+mj-ea"/>
                <a:ea typeface="+mj-ea"/>
              </a:rPr>
              <a:t>(</a:t>
            </a:r>
            <a:r>
              <a:rPr kumimoji="1" lang="zh-CN" altLang="zh-CN" sz="3000" i="1" dirty="0" smtClean="0">
                <a:latin typeface="+mj-ea"/>
                <a:ea typeface="+mj-ea"/>
              </a:rPr>
              <a:t>referenced relation</a:t>
            </a:r>
            <a:r>
              <a:rPr kumimoji="1" lang="zh-CN" altLang="zh-CN" sz="3000" dirty="0" smtClean="0">
                <a:latin typeface="+mj-ea"/>
                <a:ea typeface="+mj-ea"/>
              </a:rPr>
              <a:t>)</a:t>
            </a:r>
            <a:r>
              <a:rPr kumimoji="1" lang="zh-CN" altLang="en-US" sz="3000" dirty="0" smtClean="0">
                <a:latin typeface="+mj-ea"/>
                <a:ea typeface="+mj-ea"/>
              </a:rPr>
              <a:t>。</a:t>
            </a:r>
            <a:endParaRPr kumimoji="1" lang="zh-CN" altLang="zh-CN" sz="3000" dirty="0" smtClean="0">
              <a:latin typeface="+mj-ea"/>
              <a:ea typeface="+mj-ea"/>
            </a:endParaRPr>
          </a:p>
        </p:txBody>
      </p:sp>
      <p:graphicFrame>
        <p:nvGraphicFramePr>
          <p:cNvPr id="61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948104"/>
              </p:ext>
            </p:extLst>
          </p:nvPr>
        </p:nvGraphicFramePr>
        <p:xfrm>
          <a:off x="1042988" y="4390256"/>
          <a:ext cx="3048000" cy="13541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2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798194"/>
              </p:ext>
            </p:extLst>
          </p:nvPr>
        </p:nvGraphicFramePr>
        <p:xfrm>
          <a:off x="5446713" y="4390256"/>
          <a:ext cx="3048000" cy="1371601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Box 48"/>
          <p:cNvSpPr txBox="1">
            <a:spLocks noChangeArrowheads="1"/>
          </p:cNvSpPr>
          <p:nvPr/>
        </p:nvSpPr>
        <p:spPr bwMode="auto">
          <a:xfrm>
            <a:off x="3454400" y="4306118"/>
            <a:ext cx="76200" cy="2746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  <a:spcAft>
                <a:spcPct val="0"/>
              </a:spcAft>
              <a:buSzTx/>
              <a:buFontTx/>
              <a:buNone/>
              <a:defRPr/>
            </a:pPr>
            <a:endParaRPr lang="zh-CN" altLang="en-US" sz="1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4" name="Text Box 49"/>
          <p:cNvSpPr txBox="1">
            <a:spLocks noChangeArrowheads="1"/>
          </p:cNvSpPr>
          <p:nvPr/>
        </p:nvSpPr>
        <p:spPr bwMode="auto">
          <a:xfrm>
            <a:off x="5827713" y="4306118"/>
            <a:ext cx="76200" cy="2746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  <a:spcAft>
                <a:spcPct val="0"/>
              </a:spcAft>
              <a:buSzTx/>
              <a:buFontTx/>
              <a:buNone/>
              <a:defRPr/>
            </a:pPr>
            <a:endParaRPr lang="zh-CN" altLang="en-US" sz="1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65" name="AutoShape 50"/>
          <p:cNvCxnSpPr>
            <a:cxnSpLocks noChangeShapeType="1"/>
            <a:stCxn id="63" idx="0"/>
            <a:endCxn id="64" idx="0"/>
          </p:cNvCxnSpPr>
          <p:nvPr/>
        </p:nvCxnSpPr>
        <p:spPr bwMode="auto">
          <a:xfrm rot="5400000" flipV="1">
            <a:off x="4678363" y="3120255"/>
            <a:ext cx="1588" cy="2373313"/>
          </a:xfrm>
          <a:prstGeom prst="bentConnector3">
            <a:avLst>
              <a:gd name="adj1" fmla="val -20600009"/>
            </a:avLst>
          </a:prstGeom>
          <a:noFill/>
          <a:ln w="28575">
            <a:solidFill>
              <a:srgbClr val="FFFFCC"/>
            </a:solidFill>
            <a:prstDash val="sysDot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Rectangle 51"/>
          <p:cNvSpPr>
            <a:spLocks noChangeArrowheads="1"/>
          </p:cNvSpPr>
          <p:nvPr/>
        </p:nvSpPr>
        <p:spPr bwMode="auto">
          <a:xfrm>
            <a:off x="5675313" y="6107931"/>
            <a:ext cx="566737" cy="3381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主码</a:t>
            </a:r>
            <a:endParaRPr lang="zh-CN" altLang="en-US" sz="2200" b="1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7" name="Line 52"/>
          <p:cNvSpPr>
            <a:spLocks noChangeShapeType="1"/>
          </p:cNvSpPr>
          <p:nvPr/>
        </p:nvSpPr>
        <p:spPr bwMode="auto">
          <a:xfrm flipV="1">
            <a:off x="5908675" y="5860281"/>
            <a:ext cx="0" cy="233362"/>
          </a:xfrm>
          <a:prstGeom prst="line">
            <a:avLst/>
          </a:prstGeom>
          <a:noFill/>
          <a:ln w="28575" cap="sq">
            <a:solidFill>
              <a:srgbClr val="FFFFCC"/>
            </a:solidFill>
            <a:round/>
            <a:headEnd/>
            <a:tailEnd type="triangle" w="med" len="med"/>
          </a:ln>
          <a:effectLst>
            <a:outerShdw dist="12700" dir="5400000" algn="ctr" rotWithShape="0">
              <a:srgbClr val="000514"/>
            </a:outerShdw>
          </a:effectLst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8" name="Rectangle 53"/>
          <p:cNvSpPr>
            <a:spLocks noChangeArrowheads="1"/>
          </p:cNvSpPr>
          <p:nvPr/>
        </p:nvSpPr>
        <p:spPr bwMode="auto">
          <a:xfrm>
            <a:off x="3252788" y="6107931"/>
            <a:ext cx="566737" cy="3381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外码</a:t>
            </a:r>
            <a:endParaRPr lang="zh-CN" altLang="en-US" sz="2200" b="1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9" name="Line 54"/>
          <p:cNvSpPr>
            <a:spLocks noChangeShapeType="1"/>
          </p:cNvSpPr>
          <p:nvPr/>
        </p:nvSpPr>
        <p:spPr bwMode="auto">
          <a:xfrm flipV="1">
            <a:off x="3486150" y="5860281"/>
            <a:ext cx="0" cy="233362"/>
          </a:xfrm>
          <a:prstGeom prst="line">
            <a:avLst/>
          </a:prstGeom>
          <a:noFill/>
          <a:ln w="28575" cap="sq">
            <a:solidFill>
              <a:srgbClr val="FFFFCC"/>
            </a:solidFill>
            <a:round/>
            <a:headEnd/>
            <a:tailEnd type="triangle" w="med" len="med"/>
          </a:ln>
          <a:effectLst>
            <a:outerShdw dist="12700" dir="5400000" algn="ctr" rotWithShape="0">
              <a:srgbClr val="000514"/>
            </a:outerShdw>
          </a:effectLst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0" name="Rectangle 55"/>
          <p:cNvSpPr>
            <a:spLocks noChangeArrowheads="1"/>
          </p:cNvSpPr>
          <p:nvPr/>
        </p:nvSpPr>
        <p:spPr bwMode="auto">
          <a:xfrm>
            <a:off x="1044575" y="3933056"/>
            <a:ext cx="1117600" cy="3349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参照关系</a:t>
            </a:r>
          </a:p>
        </p:txBody>
      </p:sp>
      <p:sp>
        <p:nvSpPr>
          <p:cNvPr id="71" name="Rectangle 56"/>
          <p:cNvSpPr>
            <a:spLocks noChangeArrowheads="1"/>
          </p:cNvSpPr>
          <p:nvPr/>
        </p:nvSpPr>
        <p:spPr bwMode="auto">
          <a:xfrm>
            <a:off x="6376988" y="3933056"/>
            <a:ext cx="1397000" cy="3349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被参照关系</a:t>
            </a:r>
          </a:p>
        </p:txBody>
      </p:sp>
      <p:sp>
        <p:nvSpPr>
          <p:cNvPr id="72" name="Rectangle 57"/>
          <p:cNvSpPr>
            <a:spLocks noChangeArrowheads="1"/>
          </p:cNvSpPr>
          <p:nvPr/>
        </p:nvSpPr>
        <p:spPr bwMode="auto">
          <a:xfrm>
            <a:off x="546100" y="4390256"/>
            <a:ext cx="425450" cy="12192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学生选课</a:t>
            </a:r>
          </a:p>
        </p:txBody>
      </p:sp>
      <p:sp>
        <p:nvSpPr>
          <p:cNvPr id="73" name="Rectangle 58"/>
          <p:cNvSpPr>
            <a:spLocks noChangeArrowheads="1"/>
          </p:cNvSpPr>
          <p:nvPr/>
        </p:nvSpPr>
        <p:spPr bwMode="auto">
          <a:xfrm>
            <a:off x="4981575" y="4390256"/>
            <a:ext cx="425450" cy="6096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3180325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5275017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关系模型的完整性约束</a:t>
            </a:r>
          </a:p>
        </p:txBody>
      </p:sp>
      <p:graphicFrame>
        <p:nvGraphicFramePr>
          <p:cNvPr id="33" name="Group 4"/>
          <p:cNvGraphicFramePr>
            <a:graphicFrameLocks noGrp="1"/>
          </p:cNvGraphicFramePr>
          <p:nvPr/>
        </p:nvGraphicFramePr>
        <p:xfrm>
          <a:off x="1008063" y="4533900"/>
          <a:ext cx="3048000" cy="135413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Group 26"/>
          <p:cNvGraphicFramePr>
            <a:graphicFrameLocks noGrp="1"/>
          </p:cNvGraphicFramePr>
          <p:nvPr/>
        </p:nvGraphicFramePr>
        <p:xfrm>
          <a:off x="5411788" y="4533900"/>
          <a:ext cx="3048000" cy="1371601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 Box 48"/>
          <p:cNvSpPr txBox="1">
            <a:spLocks noChangeArrowheads="1"/>
          </p:cNvSpPr>
          <p:nvPr/>
        </p:nvSpPr>
        <p:spPr bwMode="auto">
          <a:xfrm>
            <a:off x="3419475" y="4449763"/>
            <a:ext cx="76200" cy="2746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  <a:spcAft>
                <a:spcPct val="0"/>
              </a:spcAft>
              <a:buSzTx/>
              <a:buFontTx/>
              <a:buNone/>
              <a:defRPr/>
            </a:pPr>
            <a:endParaRPr lang="zh-CN" altLang="en-US" sz="1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6" name="Text Box 49"/>
          <p:cNvSpPr txBox="1">
            <a:spLocks noChangeArrowheads="1"/>
          </p:cNvSpPr>
          <p:nvPr/>
        </p:nvSpPr>
        <p:spPr bwMode="auto">
          <a:xfrm>
            <a:off x="5792788" y="4449763"/>
            <a:ext cx="76200" cy="2746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  <a:spcAft>
                <a:spcPct val="0"/>
              </a:spcAft>
              <a:buSzTx/>
              <a:buFontTx/>
              <a:buNone/>
              <a:defRPr/>
            </a:pPr>
            <a:endParaRPr lang="zh-CN" altLang="en-US" sz="1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37" name="AutoShape 50"/>
          <p:cNvCxnSpPr>
            <a:cxnSpLocks noChangeShapeType="1"/>
            <a:stCxn id="35" idx="0"/>
            <a:endCxn id="36" idx="0"/>
          </p:cNvCxnSpPr>
          <p:nvPr/>
        </p:nvCxnSpPr>
        <p:spPr bwMode="auto">
          <a:xfrm rot="5400000" flipV="1">
            <a:off x="4643438" y="3263900"/>
            <a:ext cx="1587" cy="2373313"/>
          </a:xfrm>
          <a:prstGeom prst="bentConnector3">
            <a:avLst>
              <a:gd name="adj1" fmla="val -20600009"/>
            </a:avLst>
          </a:prstGeom>
          <a:noFill/>
          <a:ln w="28575">
            <a:solidFill>
              <a:srgbClr val="FFFFCC"/>
            </a:solidFill>
            <a:prstDash val="sysDot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ectangle 51"/>
          <p:cNvSpPr>
            <a:spLocks noChangeArrowheads="1"/>
          </p:cNvSpPr>
          <p:nvPr/>
        </p:nvSpPr>
        <p:spPr bwMode="auto">
          <a:xfrm>
            <a:off x="5640388" y="6251575"/>
            <a:ext cx="566737" cy="3381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主码</a:t>
            </a:r>
            <a:endParaRPr lang="zh-CN" altLang="en-US" sz="2200" b="1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9" name="Line 52"/>
          <p:cNvSpPr>
            <a:spLocks noChangeShapeType="1"/>
          </p:cNvSpPr>
          <p:nvPr/>
        </p:nvSpPr>
        <p:spPr bwMode="auto">
          <a:xfrm flipV="1">
            <a:off x="5873750" y="6003925"/>
            <a:ext cx="0" cy="233363"/>
          </a:xfrm>
          <a:prstGeom prst="line">
            <a:avLst/>
          </a:prstGeom>
          <a:noFill/>
          <a:ln w="28575" cap="sq">
            <a:solidFill>
              <a:srgbClr val="FFFFCC"/>
            </a:solidFill>
            <a:round/>
            <a:headEnd/>
            <a:tailEnd type="triangle" w="med" len="med"/>
          </a:ln>
          <a:effectLst>
            <a:outerShdw dist="12700" dir="5400000" algn="ctr" rotWithShape="0">
              <a:srgbClr val="000514"/>
            </a:outerShdw>
          </a:effectLst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3217863" y="6251575"/>
            <a:ext cx="566737" cy="3381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外码</a:t>
            </a:r>
            <a:endParaRPr lang="zh-CN" altLang="en-US" sz="2200" b="1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1" name="Line 54"/>
          <p:cNvSpPr>
            <a:spLocks noChangeShapeType="1"/>
          </p:cNvSpPr>
          <p:nvPr/>
        </p:nvSpPr>
        <p:spPr bwMode="auto">
          <a:xfrm flipV="1">
            <a:off x="3451225" y="6003925"/>
            <a:ext cx="0" cy="233363"/>
          </a:xfrm>
          <a:prstGeom prst="line">
            <a:avLst/>
          </a:prstGeom>
          <a:noFill/>
          <a:ln w="28575" cap="sq">
            <a:solidFill>
              <a:srgbClr val="FFFFCC"/>
            </a:solidFill>
            <a:round/>
            <a:headEnd/>
            <a:tailEnd type="triangle" w="med" len="med"/>
          </a:ln>
          <a:effectLst>
            <a:outerShdw dist="12700" dir="5400000" algn="ctr" rotWithShape="0">
              <a:srgbClr val="000514"/>
            </a:outerShdw>
          </a:effectLst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" name="Rectangle 55"/>
          <p:cNvSpPr>
            <a:spLocks noChangeArrowheads="1"/>
          </p:cNvSpPr>
          <p:nvPr/>
        </p:nvSpPr>
        <p:spPr bwMode="auto">
          <a:xfrm>
            <a:off x="1006475" y="4076700"/>
            <a:ext cx="1123950" cy="3349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参照关系</a:t>
            </a:r>
          </a:p>
        </p:txBody>
      </p:sp>
      <p:sp>
        <p:nvSpPr>
          <p:cNvPr id="43" name="Rectangle 56"/>
          <p:cNvSpPr>
            <a:spLocks noChangeArrowheads="1"/>
          </p:cNvSpPr>
          <p:nvPr/>
        </p:nvSpPr>
        <p:spPr bwMode="auto">
          <a:xfrm>
            <a:off x="6338888" y="4076700"/>
            <a:ext cx="1404937" cy="3349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b="1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被参照关系</a:t>
            </a:r>
          </a:p>
        </p:txBody>
      </p:sp>
      <p:sp>
        <p:nvSpPr>
          <p:cNvPr id="44" name="Rectangle 57"/>
          <p:cNvSpPr>
            <a:spLocks noChangeArrowheads="1"/>
          </p:cNvSpPr>
          <p:nvPr/>
        </p:nvSpPr>
        <p:spPr bwMode="auto">
          <a:xfrm>
            <a:off x="428625" y="4533900"/>
            <a:ext cx="425450" cy="12192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学生选课</a:t>
            </a:r>
          </a:p>
        </p:txBody>
      </p:sp>
      <p:sp>
        <p:nvSpPr>
          <p:cNvPr id="45" name="Rectangle 58"/>
          <p:cNvSpPr>
            <a:spLocks noChangeArrowheads="1"/>
          </p:cNvSpPr>
          <p:nvPr/>
        </p:nvSpPr>
        <p:spPr bwMode="auto">
          <a:xfrm>
            <a:off x="4864100" y="4533900"/>
            <a:ext cx="425450" cy="6096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</a:t>
            </a:r>
          </a:p>
        </p:txBody>
      </p:sp>
      <p:sp>
        <p:nvSpPr>
          <p:cNvPr id="46" name="Rectangle 59"/>
          <p:cNvSpPr txBox="1">
            <a:spLocks noChangeArrowheads="1"/>
          </p:cNvSpPr>
          <p:nvPr/>
        </p:nvSpPr>
        <p:spPr bwMode="auto">
          <a:xfrm>
            <a:off x="-92754" y="764704"/>
            <a:ext cx="9110630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50000"/>
              </a:spcAft>
              <a:defRPr/>
            </a:pPr>
            <a:r>
              <a:rPr kumimoji="1" lang="zh-CN" altLang="zh-CN" sz="2800" dirty="0" smtClean="0">
                <a:solidFill>
                  <a:srgbClr val="00FFFF"/>
                </a:solidFill>
                <a:latin typeface="+mj-ea"/>
                <a:ea typeface="+mj-ea"/>
              </a:rPr>
              <a:t>实体完整性</a:t>
            </a:r>
            <a:r>
              <a:rPr kumimoji="1" lang="zh-CN" altLang="zh-CN" sz="2800" dirty="0" smtClean="0">
                <a:latin typeface="+mj-ea"/>
                <a:ea typeface="+mj-ea"/>
              </a:rPr>
              <a:t>(</a:t>
            </a:r>
            <a:r>
              <a:rPr kumimoji="1" lang="zh-CN" altLang="zh-CN" sz="2800" i="1" dirty="0" smtClean="0">
                <a:latin typeface="+mj-ea"/>
                <a:ea typeface="+mj-ea"/>
              </a:rPr>
              <a:t>Entity </a:t>
            </a:r>
            <a:r>
              <a:rPr kumimoji="1" lang="zh-CN" altLang="en-US" sz="2800" i="1" dirty="0" smtClean="0">
                <a:latin typeface="+mj-ea"/>
                <a:ea typeface="+mj-ea"/>
              </a:rPr>
              <a:t>i</a:t>
            </a:r>
            <a:r>
              <a:rPr kumimoji="1" lang="zh-CN" altLang="zh-CN" sz="2800" i="1" dirty="0" smtClean="0">
                <a:latin typeface="+mj-ea"/>
                <a:ea typeface="+mj-ea"/>
              </a:rPr>
              <a:t>ntegrity</a:t>
            </a:r>
            <a:r>
              <a:rPr kumimoji="1" lang="zh-CN" altLang="zh-CN" sz="2800" dirty="0" smtClean="0">
                <a:latin typeface="+mj-ea"/>
                <a:ea typeface="+mj-ea"/>
              </a:rPr>
              <a:t>)</a:t>
            </a:r>
            <a:r>
              <a:rPr kumimoji="1" lang="zh-CN" altLang="en-US" sz="2800" dirty="0" smtClean="0">
                <a:latin typeface="+mj-ea"/>
                <a:ea typeface="+mj-ea"/>
              </a:rPr>
              <a:t>：主码属性值不</a:t>
            </a:r>
            <a:r>
              <a:rPr kumimoji="1" lang="zh-CN" altLang="zh-CN" sz="2800" dirty="0" smtClean="0">
                <a:latin typeface="+mj-ea"/>
                <a:ea typeface="+mj-ea"/>
              </a:rPr>
              <a:t>能</a:t>
            </a:r>
            <a:r>
              <a:rPr kumimoji="1" lang="zh-CN" altLang="en-US" sz="2800" dirty="0" smtClean="0">
                <a:latin typeface="+mj-ea"/>
                <a:ea typeface="+mj-ea"/>
              </a:rPr>
              <a:t>为</a:t>
            </a:r>
            <a:r>
              <a:rPr kumimoji="1" lang="zh-CN" altLang="zh-CN" sz="2800" dirty="0" smtClean="0">
                <a:latin typeface="+mj-ea"/>
                <a:ea typeface="+mj-ea"/>
              </a:rPr>
              <a:t>空</a:t>
            </a:r>
            <a:r>
              <a:rPr kumimoji="1" lang="zh-CN" altLang="en-US" sz="2800" dirty="0" smtClean="0">
                <a:latin typeface="+mj-ea"/>
                <a:ea typeface="+mj-ea"/>
              </a:rPr>
              <a:t>值</a:t>
            </a:r>
            <a:endParaRPr kumimoji="1" lang="zh-CN" altLang="zh-CN" sz="2800" dirty="0" smtClean="0">
              <a:latin typeface="+mj-ea"/>
              <a:ea typeface="+mj-ea"/>
            </a:endParaRPr>
          </a:p>
          <a:p>
            <a:pPr eaLnBrk="1" hangingPunct="1">
              <a:spcAft>
                <a:spcPct val="50000"/>
              </a:spcAft>
              <a:defRPr/>
            </a:pPr>
            <a:r>
              <a:rPr kumimoji="1" lang="zh-CN" altLang="zh-CN" sz="2800" dirty="0" smtClean="0">
                <a:solidFill>
                  <a:srgbClr val="00FFFF"/>
                </a:solidFill>
                <a:latin typeface="+mj-ea"/>
                <a:ea typeface="+mj-ea"/>
              </a:rPr>
              <a:t>参照完整性</a:t>
            </a:r>
            <a:r>
              <a:rPr kumimoji="1" lang="zh-CN" altLang="zh-CN" sz="2800" dirty="0" smtClean="0">
                <a:latin typeface="+mj-ea"/>
                <a:ea typeface="+mj-ea"/>
              </a:rPr>
              <a:t>(</a:t>
            </a:r>
            <a:r>
              <a:rPr kumimoji="1" lang="zh-CN" altLang="zh-CN" sz="2800" i="1" dirty="0" smtClean="0">
                <a:latin typeface="+mj-ea"/>
                <a:ea typeface="+mj-ea"/>
              </a:rPr>
              <a:t>Referential integrity</a:t>
            </a:r>
            <a:r>
              <a:rPr kumimoji="1" lang="zh-CN" altLang="zh-CN" sz="2800" dirty="0" smtClean="0">
                <a:latin typeface="+mj-ea"/>
                <a:ea typeface="+mj-ea"/>
              </a:rPr>
              <a:t>)</a:t>
            </a:r>
            <a:r>
              <a:rPr kumimoji="1" lang="zh-CN" altLang="en-US" sz="2800" dirty="0" smtClean="0">
                <a:latin typeface="+mj-ea"/>
                <a:ea typeface="+mj-ea"/>
              </a:rPr>
              <a:t>：</a:t>
            </a:r>
            <a:r>
              <a:rPr kumimoji="1" lang="zh-CN" altLang="zh-CN" sz="2800" dirty="0" smtClean="0">
                <a:latin typeface="+mj-ea"/>
                <a:ea typeface="+mj-ea"/>
              </a:rPr>
              <a:t>若F是关系R</a:t>
            </a:r>
            <a:r>
              <a:rPr kumimoji="1" lang="en-US" altLang="zh-CN" sz="2800" dirty="0" smtClean="0">
                <a:latin typeface="+mj-ea"/>
                <a:ea typeface="+mj-ea"/>
              </a:rPr>
              <a:t> </a:t>
            </a:r>
            <a:r>
              <a:rPr kumimoji="1" lang="zh-CN" altLang="zh-CN" sz="2800" dirty="0" smtClean="0">
                <a:latin typeface="+mj-ea"/>
                <a:ea typeface="+mj-ea"/>
              </a:rPr>
              <a:t>的外</a:t>
            </a:r>
            <a:r>
              <a:rPr kumimoji="1" lang="zh-CN" altLang="en-US" sz="2800" dirty="0" smtClean="0">
                <a:latin typeface="+mj-ea"/>
                <a:ea typeface="+mj-ea"/>
              </a:rPr>
              <a:t>码，</a:t>
            </a:r>
            <a:r>
              <a:rPr kumimoji="1" lang="zh-CN" altLang="zh-CN" sz="2800" dirty="0" smtClean="0">
                <a:latin typeface="+mj-ea"/>
                <a:ea typeface="+mj-ea"/>
              </a:rPr>
              <a:t>则F的取值要么为空，要么取被参照关系S</a:t>
            </a:r>
            <a:r>
              <a:rPr kumimoji="1" lang="en-US" altLang="zh-CN" sz="2800" dirty="0" smtClean="0">
                <a:latin typeface="+mj-ea"/>
                <a:ea typeface="+mj-ea"/>
              </a:rPr>
              <a:t> </a:t>
            </a:r>
            <a:r>
              <a:rPr kumimoji="1" lang="zh-CN" altLang="zh-CN" sz="2800" dirty="0" smtClean="0">
                <a:latin typeface="+mj-ea"/>
                <a:ea typeface="+mj-ea"/>
              </a:rPr>
              <a:t>的</a:t>
            </a:r>
            <a:r>
              <a:rPr kumimoji="1" lang="zh-CN" altLang="en-US" sz="2800" dirty="0" smtClean="0">
                <a:latin typeface="+mj-ea"/>
                <a:ea typeface="+mj-ea"/>
              </a:rPr>
              <a:t>某一</a:t>
            </a:r>
            <a:r>
              <a:rPr kumimoji="1" lang="zh-CN" altLang="zh-CN" sz="2800" dirty="0" smtClean="0">
                <a:latin typeface="+mj-ea"/>
                <a:ea typeface="+mj-ea"/>
              </a:rPr>
              <a:t>主</a:t>
            </a:r>
            <a:r>
              <a:rPr kumimoji="1" lang="zh-CN" altLang="en-US" sz="2800" dirty="0" smtClean="0">
                <a:latin typeface="+mj-ea"/>
                <a:ea typeface="+mj-ea"/>
              </a:rPr>
              <a:t>码值</a:t>
            </a:r>
            <a:r>
              <a:rPr kumimoji="1" lang="zh-CN" altLang="zh-CN" sz="2800" dirty="0" smtClean="0">
                <a:latin typeface="+mj-ea"/>
                <a:ea typeface="+mj-ea"/>
              </a:rPr>
              <a:t>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kumimoji="1" lang="zh-CN" altLang="zh-CN" sz="2800" dirty="0" smtClean="0">
                <a:solidFill>
                  <a:srgbClr val="00FFFF"/>
                </a:solidFill>
                <a:latin typeface="+mj-ea"/>
                <a:ea typeface="+mj-ea"/>
              </a:rPr>
              <a:t>用户自定义的完整性</a:t>
            </a:r>
            <a:r>
              <a:rPr kumimoji="1" lang="zh-CN" altLang="zh-CN" sz="2800" dirty="0" smtClean="0">
                <a:latin typeface="+mj-ea"/>
                <a:ea typeface="+mj-ea"/>
              </a:rPr>
              <a:t>(</a:t>
            </a:r>
            <a:r>
              <a:rPr kumimoji="1" lang="zh-CN" altLang="zh-CN" sz="2800" i="1" dirty="0" smtClean="0">
                <a:latin typeface="+mj-ea"/>
                <a:ea typeface="+mj-ea"/>
              </a:rPr>
              <a:t>User-Defined integrity</a:t>
            </a:r>
            <a:r>
              <a:rPr kumimoji="1" lang="zh-CN" altLang="zh-CN" sz="2800" dirty="0" smtClean="0">
                <a:latin typeface="+mj-ea"/>
                <a:ea typeface="+mj-ea"/>
              </a:rPr>
              <a:t>)</a:t>
            </a:r>
            <a:r>
              <a:rPr kumimoji="1" lang="zh-CN" altLang="en-US" sz="2800" dirty="0" smtClean="0">
                <a:latin typeface="+mj-ea"/>
                <a:ea typeface="+mj-ea"/>
              </a:rPr>
              <a:t>：</a:t>
            </a:r>
            <a:r>
              <a:rPr kumimoji="1" lang="zh-CN" altLang="zh-CN" sz="2800" dirty="0" smtClean="0">
                <a:latin typeface="+mj-ea"/>
                <a:ea typeface="+mj-ea"/>
              </a:rPr>
              <a:t>用户按实际需要对属性或元组定义的规则或条件</a:t>
            </a:r>
            <a:r>
              <a:rPr kumimoji="1" lang="zh-CN" altLang="en-US" sz="2800" dirty="0" smtClean="0">
                <a:latin typeface="+mj-ea"/>
                <a:ea typeface="+mj-ea"/>
              </a:rPr>
              <a:t>。</a:t>
            </a:r>
            <a:endParaRPr kumimoji="1" lang="zh-CN" altLang="zh-CN" sz="2800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622854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关系操作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Rectangle 4"/>
          <p:cNvSpPr txBox="1">
            <a:spLocks noChangeArrowheads="1"/>
          </p:cNvSpPr>
          <p:nvPr/>
        </p:nvSpPr>
        <p:spPr bwMode="auto">
          <a:xfrm>
            <a:off x="311150" y="981025"/>
            <a:ext cx="8424863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ea"/>
                <a:ea typeface="+mj-ea"/>
              </a:rPr>
              <a:t>关系操作是指对关系实施的各种操作。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ea"/>
              <a:ea typeface="+mj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ea"/>
                <a:ea typeface="+mj-ea"/>
              </a:rPr>
              <a:t>关系操作的对象和结果都是关系，实际是集合操作。</a:t>
            </a:r>
            <a:endParaRPr kumimoji="1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ea"/>
              <a:ea typeface="+mj-ea"/>
            </a:endParaRPr>
          </a:p>
          <a:p>
            <a:pPr eaLnBrk="1" hangingPunct="1">
              <a:spcAft>
                <a:spcPct val="30000"/>
              </a:spcAft>
              <a:defRPr/>
            </a:pPr>
            <a:r>
              <a:rPr lang="zh-CN" altLang="en-US" sz="3000" kern="0" dirty="0">
                <a:latin typeface="+mj-ea"/>
                <a:ea typeface="+mj-ea"/>
              </a:rPr>
              <a:t>关系操作主要分为关系查询和关系更新（包括增加、修改和删除）两类</a:t>
            </a:r>
            <a:r>
              <a:rPr kumimoji="1" lang="zh-CN" altLang="en-US" sz="3000" kern="0" dirty="0">
                <a:latin typeface="+mj-ea"/>
                <a:ea typeface="+mj-ea"/>
              </a:rPr>
              <a:t>。</a:t>
            </a:r>
            <a:endParaRPr kumimoji="1" lang="en-US" altLang="zh-CN" sz="3000" kern="0" dirty="0">
              <a:latin typeface="+mj-ea"/>
              <a:ea typeface="+mj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ea"/>
                <a:ea typeface="+mj-ea"/>
              </a:rPr>
              <a:t>关系操作是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ea"/>
                <a:ea typeface="+mj-ea"/>
              </a:rPr>
              <a:t>一次一集合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ea"/>
                <a:ea typeface="+mj-ea"/>
              </a:rPr>
              <a:t>的操作方式，而非关系数据模型是一次一记录的操作方式。</a:t>
            </a:r>
          </a:p>
        </p:txBody>
      </p:sp>
      <p:grpSp>
        <p:nvGrpSpPr>
          <p:cNvPr id="25" name="Group 139"/>
          <p:cNvGrpSpPr>
            <a:grpSpLocks/>
          </p:cNvGrpSpPr>
          <p:nvPr/>
        </p:nvGrpSpPr>
        <p:grpSpPr bwMode="auto">
          <a:xfrm>
            <a:off x="683568" y="5013176"/>
            <a:ext cx="6967836" cy="1438275"/>
            <a:chOff x="459" y="2398"/>
            <a:chExt cx="3655" cy="906"/>
          </a:xfrm>
        </p:grpSpPr>
        <p:sp>
          <p:nvSpPr>
            <p:cNvPr id="26" name="Rectangle 140"/>
            <p:cNvSpPr>
              <a:spLocks noChangeArrowheads="1"/>
            </p:cNvSpPr>
            <p:nvPr/>
          </p:nvSpPr>
          <p:spPr bwMode="auto">
            <a:xfrm>
              <a:off x="1874" y="2398"/>
              <a:ext cx="830" cy="906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72000" tIns="72000" rIns="72000" bIns="72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ea"/>
                  <a:ea typeface="+mj-ea"/>
                </a:rPr>
                <a:t>关系代数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ea"/>
                  <a:ea typeface="+mj-ea"/>
                </a:rPr>
                <a:t>关系演算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ea"/>
                  <a:ea typeface="+mj-ea"/>
                </a:rPr>
                <a:t>SQL</a:t>
              </a:r>
            </a:p>
          </p:txBody>
        </p:sp>
        <p:sp>
          <p:nvSpPr>
            <p:cNvPr id="27" name="Rectangle 141"/>
            <p:cNvSpPr>
              <a:spLocks noChangeArrowheads="1"/>
            </p:cNvSpPr>
            <p:nvPr/>
          </p:nvSpPr>
          <p:spPr bwMode="auto">
            <a:xfrm>
              <a:off x="2908" y="2552"/>
              <a:ext cx="1206" cy="63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72000" tIns="72000" rIns="72000" bIns="72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ea"/>
                  <a:ea typeface="+mj-ea"/>
                </a:rPr>
                <a:t>元组关系演算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ea"/>
                  <a:ea typeface="+mj-ea"/>
                </a:rPr>
                <a:t>域关系演算</a:t>
              </a:r>
            </a:p>
          </p:txBody>
        </p:sp>
        <p:sp>
          <p:nvSpPr>
            <p:cNvPr id="28" name="AutoShape 142"/>
            <p:cNvSpPr>
              <a:spLocks/>
            </p:cNvSpPr>
            <p:nvPr/>
          </p:nvSpPr>
          <p:spPr bwMode="auto">
            <a:xfrm>
              <a:off x="1738" y="2579"/>
              <a:ext cx="33" cy="719"/>
            </a:xfrm>
            <a:prstGeom prst="leftBrace">
              <a:avLst>
                <a:gd name="adj1" fmla="val 90399"/>
                <a:gd name="adj2" fmla="val 50000"/>
              </a:avLst>
            </a:prstGeom>
            <a:noFill/>
            <a:ln w="28575" cap="sq">
              <a:solidFill>
                <a:srgbClr val="CCFFCC"/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9" name="AutoShape 143"/>
            <p:cNvSpPr>
              <a:spLocks/>
            </p:cNvSpPr>
            <p:nvPr/>
          </p:nvSpPr>
          <p:spPr bwMode="auto">
            <a:xfrm>
              <a:off x="2817" y="2713"/>
              <a:ext cx="46" cy="320"/>
            </a:xfrm>
            <a:prstGeom prst="leftBrace">
              <a:avLst>
                <a:gd name="adj1" fmla="val 57971"/>
                <a:gd name="adj2" fmla="val 50000"/>
              </a:avLst>
            </a:prstGeom>
            <a:noFill/>
            <a:ln w="28575" cap="sq">
              <a:solidFill>
                <a:srgbClr val="CCFFCC"/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30" name="Rectangle 144"/>
            <p:cNvSpPr>
              <a:spLocks noChangeArrowheads="1"/>
            </p:cNvSpPr>
            <p:nvPr/>
          </p:nvSpPr>
          <p:spPr bwMode="auto">
            <a:xfrm>
              <a:off x="459" y="2758"/>
              <a:ext cx="1206" cy="36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72000" tIns="72000" rIns="72000" bIns="72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ea"/>
                  <a:ea typeface="+mj-ea"/>
                </a:rPr>
                <a:t>关系数据语言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2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" name="Rectangle 4"/>
          <p:cNvSpPr txBox="1">
            <a:spLocks noChangeArrowheads="1"/>
          </p:cNvSpPr>
          <p:nvPr/>
        </p:nvSpPr>
        <p:spPr bwMode="auto">
          <a:xfrm>
            <a:off x="95125" y="853617"/>
            <a:ext cx="88693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defRPr/>
            </a:pPr>
            <a:r>
              <a:rPr kumimoji="1" lang="zh-CN" altLang="zh-CN" dirty="0" smtClean="0">
                <a:latin typeface="Arial" charset="0"/>
              </a:rPr>
              <a:t>关系代数是一种抽象的非过程化查询语言，是关系数据操纵语言的一种传统表达方式。运算对象和运算结果都是关系</a:t>
            </a:r>
            <a:r>
              <a:rPr kumimoji="1" lang="zh-CN" altLang="en-US" dirty="0" smtClean="0">
                <a:latin typeface="Arial" charset="0"/>
              </a:rPr>
              <a:t>。</a:t>
            </a:r>
            <a:endParaRPr kumimoji="1" lang="zh-CN" altLang="zh-CN" dirty="0" smtClean="0">
              <a:latin typeface="Arial" charset="0"/>
            </a:endParaRPr>
          </a:p>
        </p:txBody>
      </p:sp>
      <p:graphicFrame>
        <p:nvGraphicFramePr>
          <p:cNvPr id="5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199100"/>
              </p:ext>
            </p:extLst>
          </p:nvPr>
        </p:nvGraphicFramePr>
        <p:xfrm>
          <a:off x="844550" y="3090937"/>
          <a:ext cx="5957888" cy="1741488"/>
        </p:xfrm>
        <a:graphic>
          <a:graphicData uri="http://schemas.openxmlformats.org/drawingml/2006/table">
            <a:tbl>
              <a:tblPr/>
              <a:tblGrid>
                <a:gridCol w="245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02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集合运算</a:t>
                      </a:r>
                    </a:p>
                  </a:txBody>
                  <a:tcPr marL="75600" marR="0" marT="36007" marB="36007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并(∪)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 ，交(∩)，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差(－)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广义笛卡尔积(×)</a:t>
                      </a:r>
                    </a:p>
                  </a:txBody>
                  <a:tcPr marL="75600" marR="0" marT="36007" marB="3600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2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专门的关系运算</a:t>
                      </a:r>
                    </a:p>
                  </a:txBody>
                  <a:tcPr marL="75600" marR="0" marT="36007" marB="36007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选择(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σ)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，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投影(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Π)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连接(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)，除(÷)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75600" marR="0" marT="36007" marB="3600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" name="Rectangle 16"/>
          <p:cNvSpPr>
            <a:spLocks noChangeArrowheads="1"/>
          </p:cNvSpPr>
          <p:nvPr/>
        </p:nvSpPr>
        <p:spPr bwMode="auto">
          <a:xfrm>
            <a:off x="2424113" y="2636912"/>
            <a:ext cx="1838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Bef>
                <a:spcPct val="2000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2400" b="1">
                <a:solidFill>
                  <a:srgbClr val="99FF33"/>
                </a:solidFill>
                <a:effectLst/>
                <a:latin typeface="Times New Roman" pitchFamily="18" charset="0"/>
              </a:rPr>
              <a:t>关系代数运算</a:t>
            </a:r>
          </a:p>
        </p:txBody>
      </p:sp>
      <p:graphicFrame>
        <p:nvGraphicFramePr>
          <p:cNvPr id="59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130924"/>
              </p:ext>
            </p:extLst>
          </p:nvPr>
        </p:nvGraphicFramePr>
        <p:xfrm>
          <a:off x="827088" y="5467425"/>
          <a:ext cx="6048375" cy="946422"/>
        </p:xfrm>
        <a:graphic>
          <a:graphicData uri="http://schemas.openxmlformats.org/drawingml/2006/table">
            <a:tbl>
              <a:tblPr/>
              <a:tblGrid>
                <a:gridCol w="2211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比较运算</a:t>
                      </a:r>
                    </a:p>
                  </a:txBody>
                  <a:tcPr marL="7620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＞，＜，≥，≤，＝，≠</a:t>
                      </a:r>
                    </a:p>
                  </a:txBody>
                  <a:tcPr marL="7620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逻辑运算</a:t>
                      </a:r>
                    </a:p>
                  </a:txBody>
                  <a:tcPr marL="7620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与(∧)，或(∨)，非(┐)</a:t>
                      </a:r>
                    </a:p>
                  </a:txBody>
                  <a:tcPr marL="7620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Rectangle 28"/>
          <p:cNvSpPr>
            <a:spLocks noChangeArrowheads="1"/>
          </p:cNvSpPr>
          <p:nvPr/>
        </p:nvSpPr>
        <p:spPr bwMode="auto">
          <a:xfrm>
            <a:off x="1962150" y="5056262"/>
            <a:ext cx="36766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Bef>
                <a:spcPct val="2000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2400" b="1">
                <a:solidFill>
                  <a:srgbClr val="99FF33"/>
                </a:solidFill>
                <a:effectLst/>
                <a:latin typeface="Times New Roman" pitchFamily="18" charset="0"/>
              </a:rPr>
              <a:t>辅助专门的关系运算的运算</a:t>
            </a:r>
          </a:p>
        </p:txBody>
      </p:sp>
      <p:sp>
        <p:nvSpPr>
          <p:cNvPr id="61" name="Freeform 29"/>
          <p:cNvSpPr>
            <a:spLocks/>
          </p:cNvSpPr>
          <p:nvPr/>
        </p:nvSpPr>
        <p:spPr bwMode="auto">
          <a:xfrm>
            <a:off x="4164013" y="4529212"/>
            <a:ext cx="215900" cy="203200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266" y="174"/>
              </a:cxn>
              <a:cxn ang="0">
                <a:pos x="266" y="0"/>
              </a:cxn>
              <a:cxn ang="0">
                <a:pos x="0" y="168"/>
              </a:cxn>
              <a:cxn ang="0">
                <a:pos x="0" y="8"/>
              </a:cxn>
            </a:cxnLst>
            <a:rect l="0" t="0" r="r" b="b"/>
            <a:pathLst>
              <a:path w="266" h="174">
                <a:moveTo>
                  <a:pt x="0" y="8"/>
                </a:moveTo>
                <a:lnTo>
                  <a:pt x="266" y="174"/>
                </a:lnTo>
                <a:lnTo>
                  <a:pt x="266" y="0"/>
                </a:lnTo>
                <a:lnTo>
                  <a:pt x="0" y="168"/>
                </a:lnTo>
                <a:lnTo>
                  <a:pt x="0" y="8"/>
                </a:lnTo>
                <a:close/>
              </a:path>
            </a:pathLst>
          </a:custGeom>
          <a:noFill/>
          <a:ln w="19050" cap="sq" cmpd="sng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2" name="AutoShape 30"/>
          <p:cNvSpPr>
            <a:spLocks noChangeArrowheads="1"/>
          </p:cNvSpPr>
          <p:nvPr/>
        </p:nvSpPr>
        <p:spPr bwMode="auto">
          <a:xfrm>
            <a:off x="7199654" y="3080781"/>
            <a:ext cx="1332786" cy="1180699"/>
          </a:xfrm>
          <a:prstGeom prst="wedgeRectCallout">
            <a:avLst>
              <a:gd name="adj1" fmla="val -60623"/>
              <a:gd name="adj2" fmla="val -11888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wrap="square"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黄色字体为五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种基本运算</a:t>
            </a:r>
          </a:p>
        </p:txBody>
      </p:sp>
    </p:spTree>
    <p:extLst>
      <p:ext uri="{BB962C8B-B14F-4D97-AF65-F5344CB8AC3E}">
        <p14:creationId xmlns:p14="http://schemas.microsoft.com/office/powerpoint/2010/main" val="184488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66688" y="831551"/>
            <a:ext cx="568801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并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(</a:t>
            </a:r>
            <a:r>
              <a:rPr kumimoji="0" lang="en-US" altLang="zh-CN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Union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</a:p>
        </p:txBody>
      </p:sp>
      <p:sp>
        <p:nvSpPr>
          <p:cNvPr id="25" name="Rectangle 4"/>
          <p:cNvSpPr txBox="1">
            <a:spLocks noChangeArrowheads="1"/>
          </p:cNvSpPr>
          <p:nvPr/>
        </p:nvSpPr>
        <p:spPr bwMode="auto">
          <a:xfrm>
            <a:off x="323850" y="1407814"/>
            <a:ext cx="8424863" cy="213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en-US" sz="2800" smtClean="0">
                <a:latin typeface="Arial" charset="0"/>
              </a:rPr>
              <a:t>	</a:t>
            </a:r>
            <a:r>
              <a:rPr kumimoji="1" lang="zh-CN" altLang="zh-CN" sz="2800" smtClean="0">
                <a:latin typeface="Arial" charset="0"/>
              </a:rPr>
              <a:t>设关系R和关系S</a:t>
            </a:r>
            <a:r>
              <a:rPr kumimoji="1" lang="zh-CN" altLang="en-US" sz="2800" smtClean="0">
                <a:latin typeface="Arial" charset="0"/>
              </a:rPr>
              <a:t>是</a:t>
            </a:r>
            <a:r>
              <a:rPr kumimoji="1" lang="zh-CN" altLang="en-US" sz="2800" smtClean="0">
                <a:solidFill>
                  <a:srgbClr val="00FFFF"/>
                </a:solidFill>
                <a:latin typeface="Arial" charset="0"/>
              </a:rPr>
              <a:t>相容</a:t>
            </a:r>
            <a:r>
              <a:rPr kumimoji="1" lang="zh-CN" altLang="en-US" sz="2800" smtClean="0">
                <a:latin typeface="Arial" charset="0"/>
              </a:rPr>
              <a:t>（</a:t>
            </a:r>
            <a:r>
              <a:rPr kumimoji="1" lang="zh-CN" altLang="zh-CN" sz="2800" smtClean="0">
                <a:latin typeface="Arial" charset="0"/>
              </a:rPr>
              <a:t>具有相同的</a:t>
            </a:r>
            <a:r>
              <a:rPr kumimoji="1" lang="zh-CN" altLang="en-US" sz="2800" smtClean="0">
                <a:latin typeface="Arial" charset="0"/>
              </a:rPr>
              <a:t>度</a:t>
            </a:r>
            <a:r>
              <a:rPr kumimoji="1" lang="zh-CN" altLang="zh-CN" sz="2800" smtClean="0">
                <a:latin typeface="Arial" charset="0"/>
              </a:rPr>
              <a:t>，且</a:t>
            </a:r>
            <a:r>
              <a:rPr kumimoji="1" lang="zh-CN" altLang="en-US" sz="2800" smtClean="0">
                <a:latin typeface="Arial" charset="0"/>
              </a:rPr>
              <a:t>对</a:t>
            </a:r>
            <a:r>
              <a:rPr kumimoji="1" lang="zh-CN" altLang="zh-CN" sz="2800" smtClean="0">
                <a:latin typeface="Arial" charset="0"/>
              </a:rPr>
              <a:t>应的属性取自同一个域</a:t>
            </a:r>
            <a:r>
              <a:rPr kumimoji="1" lang="zh-CN" altLang="en-US" sz="2800" smtClean="0">
                <a:latin typeface="Arial" charset="0"/>
              </a:rPr>
              <a:t>）的，</a:t>
            </a:r>
            <a:r>
              <a:rPr kumimoji="1" lang="zh-CN" altLang="zh-CN" sz="2800" smtClean="0">
                <a:latin typeface="Arial" charset="0"/>
              </a:rPr>
              <a:t>则关系R和关系S的并由属于R或属于S的元组组成</a:t>
            </a:r>
            <a:r>
              <a:rPr kumimoji="1" lang="zh-CN" altLang="en-US" sz="2800" smtClean="0">
                <a:latin typeface="Arial" charset="0"/>
              </a:rPr>
              <a:t>，</a:t>
            </a:r>
            <a:r>
              <a:rPr kumimoji="1" lang="zh-CN" altLang="zh-CN" sz="2800" smtClean="0">
                <a:latin typeface="Arial" charset="0"/>
              </a:rPr>
              <a:t>记为:</a:t>
            </a:r>
          </a:p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zh-CN" sz="2800" smtClean="0">
                <a:latin typeface="Arial" charset="0"/>
              </a:rPr>
              <a:t>		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	 R∪S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=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{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|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R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∨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S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}</a:t>
            </a:r>
          </a:p>
        </p:txBody>
      </p:sp>
      <p:graphicFrame>
        <p:nvGraphicFramePr>
          <p:cNvPr id="2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951849"/>
              </p:ext>
            </p:extLst>
          </p:nvPr>
        </p:nvGraphicFramePr>
        <p:xfrm>
          <a:off x="4157663" y="5243214"/>
          <a:ext cx="1905000" cy="1354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891127"/>
              </p:ext>
            </p:extLst>
          </p:nvPr>
        </p:nvGraphicFramePr>
        <p:xfrm>
          <a:off x="4157663" y="3585864"/>
          <a:ext cx="1905000" cy="1354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89627"/>
              </p:ext>
            </p:extLst>
          </p:nvPr>
        </p:nvGraphicFramePr>
        <p:xfrm>
          <a:off x="6462713" y="3966864"/>
          <a:ext cx="1905000" cy="2030414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angle 62"/>
          <p:cNvSpPr>
            <a:spLocks noChangeArrowheads="1"/>
          </p:cNvSpPr>
          <p:nvPr/>
        </p:nvSpPr>
        <p:spPr bwMode="auto">
          <a:xfrm>
            <a:off x="3928156" y="3566814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30" name="Rectangle 63"/>
          <p:cNvSpPr>
            <a:spLocks noChangeArrowheads="1"/>
          </p:cNvSpPr>
          <p:nvPr/>
        </p:nvSpPr>
        <p:spPr bwMode="auto">
          <a:xfrm>
            <a:off x="3923541" y="5262264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31" name="Rectangle 64"/>
          <p:cNvSpPr>
            <a:spLocks noChangeArrowheads="1"/>
          </p:cNvSpPr>
          <p:nvPr/>
        </p:nvSpPr>
        <p:spPr bwMode="auto">
          <a:xfrm>
            <a:off x="6595680" y="3560464"/>
            <a:ext cx="735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ffectLst/>
                <a:latin typeface="Arial" charset="0"/>
              </a:rPr>
              <a:t>R∪S</a:t>
            </a:r>
            <a:endParaRPr lang="zh-CN" altLang="en-US" sz="2400"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2" name="Oval 65" descr="浅色上对角线"/>
          <p:cNvSpPr>
            <a:spLocks noChangeArrowheads="1"/>
          </p:cNvSpPr>
          <p:nvPr/>
        </p:nvSpPr>
        <p:spPr bwMode="auto">
          <a:xfrm>
            <a:off x="762000" y="4139901"/>
            <a:ext cx="1624013" cy="1600200"/>
          </a:xfrm>
          <a:prstGeom prst="ellipse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Oval 66" descr="浅色上对角线"/>
          <p:cNvSpPr>
            <a:spLocks noChangeArrowheads="1"/>
          </p:cNvSpPr>
          <p:nvPr/>
        </p:nvSpPr>
        <p:spPr bwMode="auto">
          <a:xfrm>
            <a:off x="1979613" y="4187526"/>
            <a:ext cx="1624012" cy="1600200"/>
          </a:xfrm>
          <a:prstGeom prst="ellipse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val 67" descr="浅色上对角线"/>
          <p:cNvSpPr>
            <a:spLocks noChangeArrowheads="1"/>
          </p:cNvSpPr>
          <p:nvPr/>
        </p:nvSpPr>
        <p:spPr bwMode="auto">
          <a:xfrm>
            <a:off x="762000" y="4139901"/>
            <a:ext cx="1624013" cy="1600200"/>
          </a:xfrm>
          <a:prstGeom prst="ellips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Rectangle 68"/>
          <p:cNvSpPr>
            <a:spLocks noChangeArrowheads="1"/>
          </p:cNvSpPr>
          <p:nvPr/>
        </p:nvSpPr>
        <p:spPr bwMode="auto">
          <a:xfrm>
            <a:off x="1181100" y="4385964"/>
            <a:ext cx="201613" cy="3349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R</a:t>
            </a:r>
          </a:p>
        </p:txBody>
      </p:sp>
      <p:sp>
        <p:nvSpPr>
          <p:cNvPr id="36" name="Rectangle 69"/>
          <p:cNvSpPr>
            <a:spLocks noChangeArrowheads="1"/>
          </p:cNvSpPr>
          <p:nvPr/>
        </p:nvSpPr>
        <p:spPr bwMode="auto">
          <a:xfrm>
            <a:off x="2833688" y="4368501"/>
            <a:ext cx="155575" cy="3349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S</a:t>
            </a:r>
          </a:p>
        </p:txBody>
      </p:sp>
      <p:sp>
        <p:nvSpPr>
          <p:cNvPr id="37" name="Rectangle 70"/>
          <p:cNvSpPr>
            <a:spLocks noChangeArrowheads="1"/>
          </p:cNvSpPr>
          <p:nvPr/>
        </p:nvSpPr>
        <p:spPr bwMode="auto">
          <a:xfrm>
            <a:off x="1736725" y="5867101"/>
            <a:ext cx="728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rgbClr val="99FF33"/>
                </a:solidFill>
                <a:effectLst/>
                <a:latin typeface="Arial" charset="0"/>
              </a:rPr>
              <a:t>R∪S</a:t>
            </a:r>
            <a:endParaRPr lang="zh-CN" altLang="en-US" sz="2400">
              <a:solidFill>
                <a:srgbClr val="99FF33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41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 bwMode="auto">
          <a:xfrm>
            <a:off x="166688" y="1001860"/>
            <a:ext cx="568801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差</a:t>
            </a:r>
            <a:r>
              <a:rPr kumimoji="0" lang="en-US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(</a:t>
            </a:r>
            <a:r>
              <a:rPr kumimoji="0" lang="en-US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Difference </a:t>
            </a:r>
            <a:r>
              <a:rPr kumimoji="0" lang="en-US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</a:p>
        </p:txBody>
      </p:sp>
      <p:sp>
        <p:nvSpPr>
          <p:cNvPr id="47" name="Rectangle 4"/>
          <p:cNvSpPr txBox="1">
            <a:spLocks noChangeArrowheads="1"/>
          </p:cNvSpPr>
          <p:nvPr/>
        </p:nvSpPr>
        <p:spPr bwMode="auto">
          <a:xfrm>
            <a:off x="323850" y="1641623"/>
            <a:ext cx="8424863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en-US" sz="2800" smtClean="0">
                <a:latin typeface="Arial" charset="0"/>
              </a:rPr>
              <a:t>	</a:t>
            </a:r>
            <a:r>
              <a:rPr kumimoji="1" lang="zh-CN" altLang="zh-CN" sz="2800" smtClean="0">
                <a:latin typeface="Arial" charset="0"/>
              </a:rPr>
              <a:t>设关系R和关系S</a:t>
            </a:r>
            <a:r>
              <a:rPr kumimoji="1" lang="zh-CN" altLang="en-US" sz="2800" smtClean="0">
                <a:latin typeface="Arial" charset="0"/>
              </a:rPr>
              <a:t>是相容的，</a:t>
            </a:r>
            <a:r>
              <a:rPr kumimoji="1" lang="zh-CN" altLang="zh-CN" sz="2800" smtClean="0">
                <a:latin typeface="Arial" charset="0"/>
              </a:rPr>
              <a:t>则关系R和关系S的差由属于R但不属于S的元组组成, 记为:</a:t>
            </a:r>
          </a:p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zh-CN" sz="2800" smtClean="0">
                <a:latin typeface="Arial" charset="0"/>
              </a:rPr>
              <a:t>		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	 R－S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=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{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|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zh-CN" sz="2800" smtClean="0">
                <a:solidFill>
                  <a:srgbClr val="FFFF00"/>
                </a:solidFill>
                <a:latin typeface="宋体" pitchFamily="2" charset="-122"/>
                <a:ea typeface="宋体" pitchFamily="2" charset="-122"/>
              </a:rPr>
              <a:t>∈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R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∧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zh-CN" sz="2800" smtClean="0">
                <a:solidFill>
                  <a:srgbClr val="FFFF00"/>
                </a:solidFill>
                <a:latin typeface="宋体" pitchFamily="2" charset="-122"/>
                <a:ea typeface="宋体" pitchFamily="2" charset="-122"/>
              </a:rPr>
              <a:t>∈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S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}</a:t>
            </a:r>
          </a:p>
        </p:txBody>
      </p:sp>
      <p:graphicFrame>
        <p:nvGraphicFramePr>
          <p:cNvPr id="4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82174"/>
              </p:ext>
            </p:extLst>
          </p:nvPr>
        </p:nvGraphicFramePr>
        <p:xfrm>
          <a:off x="4500563" y="5099198"/>
          <a:ext cx="1905000" cy="1354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9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20256"/>
              </p:ext>
            </p:extLst>
          </p:nvPr>
        </p:nvGraphicFramePr>
        <p:xfrm>
          <a:off x="4500563" y="3441848"/>
          <a:ext cx="1905000" cy="1354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0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924169"/>
              </p:ext>
            </p:extLst>
          </p:nvPr>
        </p:nvGraphicFramePr>
        <p:xfrm>
          <a:off x="6805613" y="4413398"/>
          <a:ext cx="1905000" cy="1016001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Rectangle 53"/>
          <p:cNvSpPr>
            <a:spLocks noChangeArrowheads="1"/>
          </p:cNvSpPr>
          <p:nvPr/>
        </p:nvSpPr>
        <p:spPr bwMode="auto">
          <a:xfrm>
            <a:off x="4271056" y="3422798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52" name="Rectangle 54"/>
          <p:cNvSpPr>
            <a:spLocks noChangeArrowheads="1"/>
          </p:cNvSpPr>
          <p:nvPr/>
        </p:nvSpPr>
        <p:spPr bwMode="auto">
          <a:xfrm>
            <a:off x="4266441" y="5118248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53" name="Rectangle 55"/>
          <p:cNvSpPr>
            <a:spLocks noChangeArrowheads="1"/>
          </p:cNvSpPr>
          <p:nvPr/>
        </p:nvSpPr>
        <p:spPr bwMode="auto">
          <a:xfrm>
            <a:off x="6938580" y="4006998"/>
            <a:ext cx="735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ffectLst/>
                <a:latin typeface="Arial" charset="0"/>
              </a:rPr>
              <a:t>R－S</a:t>
            </a:r>
            <a:endParaRPr lang="zh-CN" altLang="en-US" sz="2400"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54" name="Oval 56" descr="浅色上对角线"/>
          <p:cNvSpPr>
            <a:spLocks noChangeArrowheads="1"/>
          </p:cNvSpPr>
          <p:nvPr/>
        </p:nvSpPr>
        <p:spPr bwMode="auto">
          <a:xfrm>
            <a:off x="685800" y="4186385"/>
            <a:ext cx="1624013" cy="1600200"/>
          </a:xfrm>
          <a:prstGeom prst="ellipse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" name="Oval 57"/>
          <p:cNvSpPr>
            <a:spLocks noChangeArrowheads="1"/>
          </p:cNvSpPr>
          <p:nvPr/>
        </p:nvSpPr>
        <p:spPr bwMode="auto">
          <a:xfrm>
            <a:off x="1804988" y="4186385"/>
            <a:ext cx="1624012" cy="1600200"/>
          </a:xfrm>
          <a:prstGeom prst="ellipse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" name="Rectangle 58"/>
          <p:cNvSpPr>
            <a:spLocks noChangeArrowheads="1"/>
          </p:cNvSpPr>
          <p:nvPr/>
        </p:nvSpPr>
        <p:spPr bwMode="auto">
          <a:xfrm>
            <a:off x="1189038" y="4432448"/>
            <a:ext cx="185737" cy="3349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57" name="Rectangle 59"/>
          <p:cNvSpPr>
            <a:spLocks noChangeArrowheads="1"/>
          </p:cNvSpPr>
          <p:nvPr/>
        </p:nvSpPr>
        <p:spPr bwMode="auto">
          <a:xfrm>
            <a:off x="2833688" y="4414985"/>
            <a:ext cx="155575" cy="3349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58" name="Rectangle 60"/>
          <p:cNvSpPr>
            <a:spLocks noChangeArrowheads="1"/>
          </p:cNvSpPr>
          <p:nvPr/>
        </p:nvSpPr>
        <p:spPr bwMode="auto">
          <a:xfrm>
            <a:off x="1736725" y="5913585"/>
            <a:ext cx="728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rgbClr val="99FF33"/>
                </a:solidFill>
                <a:effectLst/>
                <a:latin typeface="Arial" charset="0"/>
              </a:rPr>
              <a:t>R－S</a:t>
            </a:r>
            <a:endParaRPr lang="zh-CN" altLang="en-US" sz="2400">
              <a:solidFill>
                <a:srgbClr val="99FF33"/>
              </a:solidFill>
              <a:effectLst/>
              <a:latin typeface="Arial" charset="0"/>
            </a:endParaRPr>
          </a:p>
        </p:txBody>
      </p:sp>
      <p:sp>
        <p:nvSpPr>
          <p:cNvPr id="59" name="Oval 61" descr="浅色上对角线"/>
          <p:cNvSpPr>
            <a:spLocks noChangeArrowheads="1"/>
          </p:cNvSpPr>
          <p:nvPr/>
        </p:nvSpPr>
        <p:spPr bwMode="auto">
          <a:xfrm>
            <a:off x="685800" y="4186385"/>
            <a:ext cx="1624013" cy="1600200"/>
          </a:xfrm>
          <a:prstGeom prst="ellips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Line 62"/>
          <p:cNvSpPr>
            <a:spLocks noChangeShapeType="1"/>
          </p:cNvSpPr>
          <p:nvPr/>
        </p:nvSpPr>
        <p:spPr bwMode="auto">
          <a:xfrm flipH="1">
            <a:off x="5724525" y="2751285"/>
            <a:ext cx="71438" cy="287338"/>
          </a:xfrm>
          <a:prstGeom prst="line">
            <a:avLst/>
          </a:prstGeom>
          <a:noFill/>
          <a:ln w="19050" cap="sq">
            <a:solidFill>
              <a:srgbClr val="FFFF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3858312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166688" y="908720"/>
            <a:ext cx="568801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交(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Intersection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  <a:endParaRPr kumimoji="0" lang="en-US" altLang="zh-CN" sz="3200" b="0" i="0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5" name="Rectangle 4"/>
          <p:cNvSpPr txBox="1">
            <a:spLocks noChangeArrowheads="1"/>
          </p:cNvSpPr>
          <p:nvPr/>
        </p:nvSpPr>
        <p:spPr bwMode="auto">
          <a:xfrm>
            <a:off x="323850" y="1548483"/>
            <a:ext cx="8424863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latin typeface="Arial" charset="0"/>
              </a:rPr>
              <a:t>	</a:t>
            </a:r>
            <a:r>
              <a:rPr kumimoji="1" lang="zh-CN" altLang="zh-CN" sz="2800" dirty="0" smtClean="0">
                <a:latin typeface="Arial" charset="0"/>
              </a:rPr>
              <a:t>设关系R和关系S</a:t>
            </a:r>
            <a:r>
              <a:rPr kumimoji="1" lang="zh-CN" altLang="en-US" sz="2800" dirty="0" smtClean="0">
                <a:latin typeface="Arial" charset="0"/>
              </a:rPr>
              <a:t>是相容的，</a:t>
            </a:r>
            <a:r>
              <a:rPr kumimoji="1" lang="zh-CN" altLang="zh-CN" sz="2800" dirty="0" smtClean="0">
                <a:latin typeface="Arial" charset="0"/>
              </a:rPr>
              <a:t>则关系R和关系S的交由既属于R又属于S的元组组成</a:t>
            </a:r>
            <a:r>
              <a:rPr kumimoji="1" lang="zh-CN" altLang="en-US" sz="2800" dirty="0" smtClean="0">
                <a:latin typeface="Arial" charset="0"/>
              </a:rPr>
              <a:t>，</a:t>
            </a:r>
            <a:r>
              <a:rPr kumimoji="1" lang="zh-CN" altLang="zh-CN" sz="2800" dirty="0" smtClean="0">
                <a:latin typeface="Arial" charset="0"/>
              </a:rPr>
              <a:t>记为</a:t>
            </a:r>
            <a:r>
              <a:rPr kumimoji="1" lang="zh-CN" altLang="en-US" sz="2800" dirty="0" smtClean="0">
                <a:latin typeface="Arial" charset="0"/>
              </a:rPr>
              <a:t>：</a:t>
            </a:r>
            <a:endParaRPr kumimoji="1" lang="zh-CN" altLang="zh-CN" sz="2800" dirty="0" smtClean="0">
              <a:latin typeface="Arial" charset="0"/>
            </a:endParaRPr>
          </a:p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zh-CN" sz="2800" dirty="0" smtClean="0">
                <a:latin typeface="Arial" charset="0"/>
              </a:rPr>
              <a:t>		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	 R∩S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=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{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|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R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∧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t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S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dirty="0" smtClean="0">
                <a:solidFill>
                  <a:srgbClr val="FFFF00"/>
                </a:solidFill>
                <a:latin typeface="Arial" charset="0"/>
              </a:rPr>
              <a:t>}</a:t>
            </a:r>
          </a:p>
        </p:txBody>
      </p:sp>
      <p:graphicFrame>
        <p:nvGraphicFramePr>
          <p:cNvPr id="3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67724"/>
              </p:ext>
            </p:extLst>
          </p:nvPr>
        </p:nvGraphicFramePr>
        <p:xfrm>
          <a:off x="4356100" y="5006058"/>
          <a:ext cx="1905000" cy="1354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052891"/>
              </p:ext>
            </p:extLst>
          </p:nvPr>
        </p:nvGraphicFramePr>
        <p:xfrm>
          <a:off x="4356100" y="3348708"/>
          <a:ext cx="1905000" cy="1354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700945"/>
              </p:ext>
            </p:extLst>
          </p:nvPr>
        </p:nvGraphicFramePr>
        <p:xfrm>
          <a:off x="6661150" y="4320258"/>
          <a:ext cx="1905000" cy="6778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Rectangle 50"/>
          <p:cNvSpPr>
            <a:spLocks noChangeArrowheads="1"/>
          </p:cNvSpPr>
          <p:nvPr/>
        </p:nvSpPr>
        <p:spPr bwMode="auto">
          <a:xfrm>
            <a:off x="4126593" y="3329658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40" name="Rectangle 51"/>
          <p:cNvSpPr>
            <a:spLocks noChangeArrowheads="1"/>
          </p:cNvSpPr>
          <p:nvPr/>
        </p:nvSpPr>
        <p:spPr bwMode="auto">
          <a:xfrm>
            <a:off x="4121979" y="5025108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41" name="Rectangle 52"/>
          <p:cNvSpPr>
            <a:spLocks noChangeArrowheads="1"/>
          </p:cNvSpPr>
          <p:nvPr/>
        </p:nvSpPr>
        <p:spPr bwMode="auto">
          <a:xfrm>
            <a:off x="6837398" y="3913858"/>
            <a:ext cx="6492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ffectLst/>
                <a:latin typeface="Arial" charset="0"/>
              </a:rPr>
              <a:t>R∩S</a:t>
            </a:r>
            <a:endParaRPr lang="zh-CN" altLang="en-US" sz="2400"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85800" y="4093245"/>
            <a:ext cx="1624013" cy="1600200"/>
          </a:xfrm>
          <a:prstGeom prst="ellipse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1600200" y="4093245"/>
            <a:ext cx="1624013" cy="1600200"/>
          </a:xfrm>
          <a:prstGeom prst="ellipse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990600" y="4398045"/>
            <a:ext cx="185738" cy="3349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2667000" y="4398045"/>
            <a:ext cx="155575" cy="3349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1600200" y="5922045"/>
            <a:ext cx="728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rgbClr val="99FF33"/>
                </a:solidFill>
                <a:effectLst/>
                <a:latin typeface="Arial" charset="0"/>
              </a:rPr>
              <a:t>R∩S</a:t>
            </a:r>
            <a:endParaRPr lang="zh-CN" altLang="en-US" sz="2400">
              <a:solidFill>
                <a:srgbClr val="99FF33"/>
              </a:solidFill>
              <a:effectLst/>
              <a:latin typeface="Arial" charset="0"/>
            </a:endParaRPr>
          </a:p>
        </p:txBody>
      </p:sp>
      <p:sp>
        <p:nvSpPr>
          <p:cNvPr id="47" name="Oval 58" descr="浅色上对角线"/>
          <p:cNvSpPr>
            <a:spLocks noChangeArrowheads="1"/>
          </p:cNvSpPr>
          <p:nvPr/>
        </p:nvSpPr>
        <p:spPr bwMode="auto">
          <a:xfrm>
            <a:off x="685800" y="4093245"/>
            <a:ext cx="1624013" cy="1600200"/>
          </a:xfrm>
          <a:prstGeom prst="ellips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" name="Line 59"/>
          <p:cNvSpPr>
            <a:spLocks noChangeShapeType="1"/>
          </p:cNvSpPr>
          <p:nvPr/>
        </p:nvSpPr>
        <p:spPr bwMode="auto">
          <a:xfrm flipH="1">
            <a:off x="1757363" y="4259933"/>
            <a:ext cx="228600" cy="1524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" name="Line 60"/>
          <p:cNvSpPr>
            <a:spLocks noChangeShapeType="1"/>
          </p:cNvSpPr>
          <p:nvPr/>
        </p:nvSpPr>
        <p:spPr bwMode="auto">
          <a:xfrm flipH="1">
            <a:off x="1676400" y="4312320"/>
            <a:ext cx="371475" cy="23812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Line 61"/>
          <p:cNvSpPr>
            <a:spLocks noChangeShapeType="1"/>
          </p:cNvSpPr>
          <p:nvPr/>
        </p:nvSpPr>
        <p:spPr bwMode="auto">
          <a:xfrm flipH="1">
            <a:off x="1638300" y="4378995"/>
            <a:ext cx="457200" cy="290513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" name="Line 62"/>
          <p:cNvSpPr>
            <a:spLocks noChangeShapeType="1"/>
          </p:cNvSpPr>
          <p:nvPr/>
        </p:nvSpPr>
        <p:spPr bwMode="auto">
          <a:xfrm flipH="1">
            <a:off x="1614488" y="4431383"/>
            <a:ext cx="528637" cy="31908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" name="Line 63"/>
          <p:cNvSpPr>
            <a:spLocks noChangeShapeType="1"/>
          </p:cNvSpPr>
          <p:nvPr/>
        </p:nvSpPr>
        <p:spPr bwMode="auto">
          <a:xfrm flipH="1">
            <a:off x="1604963" y="4483770"/>
            <a:ext cx="581025" cy="35718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" name="Line 64"/>
          <p:cNvSpPr>
            <a:spLocks noChangeShapeType="1"/>
          </p:cNvSpPr>
          <p:nvPr/>
        </p:nvSpPr>
        <p:spPr bwMode="auto">
          <a:xfrm flipH="1">
            <a:off x="1604963" y="4536158"/>
            <a:ext cx="623887" cy="37147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" name="Line 65"/>
          <p:cNvSpPr>
            <a:spLocks noChangeShapeType="1"/>
          </p:cNvSpPr>
          <p:nvPr/>
        </p:nvSpPr>
        <p:spPr bwMode="auto">
          <a:xfrm flipH="1">
            <a:off x="1609725" y="4598070"/>
            <a:ext cx="638175" cy="385763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" name="Line 66"/>
          <p:cNvSpPr>
            <a:spLocks noChangeShapeType="1"/>
          </p:cNvSpPr>
          <p:nvPr/>
        </p:nvSpPr>
        <p:spPr bwMode="auto">
          <a:xfrm flipH="1">
            <a:off x="1624013" y="4655220"/>
            <a:ext cx="652462" cy="39052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" name="Line 67"/>
          <p:cNvSpPr>
            <a:spLocks noChangeShapeType="1"/>
          </p:cNvSpPr>
          <p:nvPr/>
        </p:nvSpPr>
        <p:spPr bwMode="auto">
          <a:xfrm flipH="1">
            <a:off x="1647825" y="4721895"/>
            <a:ext cx="642938" cy="39052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Line 68"/>
          <p:cNvSpPr>
            <a:spLocks noChangeShapeType="1"/>
          </p:cNvSpPr>
          <p:nvPr/>
        </p:nvSpPr>
        <p:spPr bwMode="auto">
          <a:xfrm flipH="1">
            <a:off x="1662113" y="4788570"/>
            <a:ext cx="638175" cy="39052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Line 69"/>
          <p:cNvSpPr>
            <a:spLocks noChangeShapeType="1"/>
          </p:cNvSpPr>
          <p:nvPr/>
        </p:nvSpPr>
        <p:spPr bwMode="auto">
          <a:xfrm flipH="1">
            <a:off x="1676400" y="4864770"/>
            <a:ext cx="633413" cy="385763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Line 70"/>
          <p:cNvSpPr>
            <a:spLocks noChangeShapeType="1"/>
          </p:cNvSpPr>
          <p:nvPr/>
        </p:nvSpPr>
        <p:spPr bwMode="auto">
          <a:xfrm flipH="1">
            <a:off x="1714500" y="4931445"/>
            <a:ext cx="600075" cy="37147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Line 71"/>
          <p:cNvSpPr>
            <a:spLocks noChangeShapeType="1"/>
          </p:cNvSpPr>
          <p:nvPr/>
        </p:nvSpPr>
        <p:spPr bwMode="auto">
          <a:xfrm flipH="1">
            <a:off x="1743075" y="5021933"/>
            <a:ext cx="552450" cy="333375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1" name="Line 72"/>
          <p:cNvSpPr>
            <a:spLocks noChangeShapeType="1"/>
          </p:cNvSpPr>
          <p:nvPr/>
        </p:nvSpPr>
        <p:spPr bwMode="auto">
          <a:xfrm flipH="1">
            <a:off x="1795463" y="5102895"/>
            <a:ext cx="481012" cy="3000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2" name="Line 73"/>
          <p:cNvSpPr>
            <a:spLocks noChangeShapeType="1"/>
          </p:cNvSpPr>
          <p:nvPr/>
        </p:nvSpPr>
        <p:spPr bwMode="auto">
          <a:xfrm flipH="1">
            <a:off x="1843088" y="5221958"/>
            <a:ext cx="381000" cy="228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3" name="Line 74"/>
          <p:cNvSpPr>
            <a:spLocks noChangeShapeType="1"/>
          </p:cNvSpPr>
          <p:nvPr/>
        </p:nvSpPr>
        <p:spPr bwMode="auto">
          <a:xfrm flipH="1">
            <a:off x="1876425" y="5336258"/>
            <a:ext cx="300038" cy="17145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992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66688" y="870669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广义笛卡尔积</a:t>
            </a:r>
            <a:endParaRPr kumimoji="0" lang="en-US" altLang="zh-CN" sz="3200" b="0" i="0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323850" y="1489794"/>
            <a:ext cx="8569325" cy="277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en-US" sz="2800" smtClean="0">
                <a:latin typeface="Arial" charset="0"/>
              </a:rPr>
              <a:t>	</a:t>
            </a:r>
            <a:r>
              <a:rPr kumimoji="1" lang="zh-CN" altLang="zh-CN" sz="2800" smtClean="0">
                <a:latin typeface="Arial" charset="0"/>
              </a:rPr>
              <a:t>设</a:t>
            </a:r>
            <a:r>
              <a:rPr kumimoji="1" lang="zh-CN" altLang="en-US" sz="2800" smtClean="0">
                <a:latin typeface="Arial" charset="0"/>
              </a:rPr>
              <a:t>m元</a:t>
            </a:r>
            <a:r>
              <a:rPr kumimoji="1" lang="zh-CN" altLang="zh-CN" sz="2800" smtClean="0">
                <a:latin typeface="Arial" charset="0"/>
              </a:rPr>
              <a:t>关系R有a个元组，</a:t>
            </a:r>
            <a:r>
              <a:rPr kumimoji="1" lang="zh-CN" altLang="en-US" sz="2800" smtClean="0">
                <a:latin typeface="Arial" charset="0"/>
              </a:rPr>
              <a:t>n元</a:t>
            </a:r>
            <a:r>
              <a:rPr kumimoji="1" lang="zh-CN" altLang="zh-CN" sz="2800" smtClean="0">
                <a:latin typeface="Arial" charset="0"/>
              </a:rPr>
              <a:t>关系S有b个元组，则R和S的广义笛卡尔积是一个有a×b个元组的</a:t>
            </a:r>
            <a:r>
              <a:rPr kumimoji="1" lang="zh-CN" altLang="en-US" sz="2800" smtClean="0">
                <a:latin typeface="Arial" charset="0"/>
              </a:rPr>
              <a:t>m</a:t>
            </a:r>
            <a:r>
              <a:rPr kumimoji="1" lang="en-US" altLang="zh-CN" sz="2800" smtClean="0">
                <a:latin typeface="Arial" charset="0"/>
              </a:rPr>
              <a:t>+n</a:t>
            </a:r>
            <a:r>
              <a:rPr kumimoji="1" lang="zh-CN" altLang="en-US" sz="2800" smtClean="0">
                <a:latin typeface="Arial" charset="0"/>
              </a:rPr>
              <a:t>元关系</a:t>
            </a:r>
            <a:r>
              <a:rPr kumimoji="1" lang="zh-CN" altLang="zh-CN" sz="2800" smtClean="0">
                <a:latin typeface="Arial" charset="0"/>
              </a:rPr>
              <a:t>，其中每一个元组的前</a:t>
            </a:r>
            <a:r>
              <a:rPr kumimoji="1" lang="zh-CN" altLang="en-US" sz="2800" smtClean="0">
                <a:latin typeface="Arial" charset="0"/>
              </a:rPr>
              <a:t>m个分量</a:t>
            </a:r>
            <a:r>
              <a:rPr kumimoji="1" lang="zh-CN" altLang="zh-CN" sz="2800" smtClean="0">
                <a:latin typeface="Arial" charset="0"/>
              </a:rPr>
              <a:t>是关系R的一个元组，后</a:t>
            </a:r>
            <a:r>
              <a:rPr kumimoji="1" lang="zh-CN" altLang="en-US" sz="2800" smtClean="0">
                <a:latin typeface="Arial" charset="0"/>
              </a:rPr>
              <a:t>n个分量</a:t>
            </a:r>
            <a:r>
              <a:rPr kumimoji="1" lang="zh-CN" altLang="zh-CN" sz="2800" smtClean="0">
                <a:latin typeface="Arial" charset="0"/>
              </a:rPr>
              <a:t>是关系S的一个元组。记作：</a:t>
            </a:r>
          </a:p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zh-CN" sz="2800" smtClean="0">
                <a:latin typeface="Arial" charset="0"/>
              </a:rPr>
              <a:t>	</a:t>
            </a:r>
            <a:r>
              <a:rPr kumimoji="1" lang="zh-CN" altLang="en-US" sz="2800" smtClean="0">
                <a:latin typeface="Arial" charset="0"/>
              </a:rPr>
              <a:t>    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R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×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S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=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en-US" altLang="zh-CN" sz="2800" smtClean="0">
                <a:solidFill>
                  <a:srgbClr val="FFFF00"/>
                </a:solidFill>
                <a:latin typeface="Arial" charset="0"/>
              </a:rPr>
              <a:t>{ t | t=&lt;tr,ts&gt; ∧ tr</a:t>
            </a:r>
            <a:r>
              <a:rPr kumimoji="1" lang="en-US" altLang="zh-CN" sz="280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</a:t>
            </a:r>
            <a:r>
              <a:rPr kumimoji="1" lang="en-US" altLang="zh-CN" sz="2800" smtClean="0">
                <a:solidFill>
                  <a:srgbClr val="FFFF00"/>
                </a:solidFill>
                <a:latin typeface="Arial" charset="0"/>
              </a:rPr>
              <a:t>R ∧ ts</a:t>
            </a:r>
            <a:r>
              <a:rPr kumimoji="1" lang="en-US" altLang="zh-CN" sz="280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∈S</a:t>
            </a:r>
            <a:r>
              <a:rPr kumimoji="1" lang="en-US" altLang="zh-CN" sz="2800" smtClean="0">
                <a:solidFill>
                  <a:srgbClr val="FFFF00"/>
                </a:solidFill>
                <a:latin typeface="Arial" charset="0"/>
              </a:rPr>
              <a:t> }</a:t>
            </a:r>
          </a:p>
        </p:txBody>
      </p:sp>
      <p:graphicFrame>
        <p:nvGraphicFramePr>
          <p:cNvPr id="1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396854"/>
              </p:ext>
            </p:extLst>
          </p:nvPr>
        </p:nvGraphicFramePr>
        <p:xfrm>
          <a:off x="1042988" y="5610944"/>
          <a:ext cx="1905000" cy="9144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学历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补助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高中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大学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82797"/>
              </p:ext>
            </p:extLst>
          </p:nvPr>
        </p:nvGraphicFramePr>
        <p:xfrm>
          <a:off x="1042988" y="4067894"/>
          <a:ext cx="2133600" cy="12192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782980"/>
              </p:ext>
            </p:extLst>
          </p:nvPr>
        </p:nvGraphicFramePr>
        <p:xfrm>
          <a:off x="5003800" y="4067894"/>
          <a:ext cx="3657600" cy="230346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补助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高中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大学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高中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大学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高中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大学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775381" y="4002807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18" name="Rectangle 92"/>
          <p:cNvSpPr>
            <a:spLocks noChangeArrowheads="1"/>
          </p:cNvSpPr>
          <p:nvPr/>
        </p:nvSpPr>
        <p:spPr bwMode="auto">
          <a:xfrm>
            <a:off x="775529" y="5583957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19" name="Rectangle 93"/>
          <p:cNvSpPr>
            <a:spLocks noChangeArrowheads="1"/>
          </p:cNvSpPr>
          <p:nvPr/>
        </p:nvSpPr>
        <p:spPr bwMode="auto">
          <a:xfrm>
            <a:off x="4136642" y="4139332"/>
            <a:ext cx="735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ffectLst/>
                <a:latin typeface="Arial" charset="0"/>
              </a:rPr>
              <a:t>R×S</a:t>
            </a:r>
            <a:endParaRPr lang="zh-CN" altLang="en-US" sz="2400"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66688" y="836712"/>
            <a:ext cx="8653462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选择(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Selection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j-cs"/>
              </a:rPr>
              <a:t>——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行查询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5" name="Rectangle 4"/>
          <p:cNvSpPr txBox="1">
            <a:spLocks noChangeArrowheads="1"/>
          </p:cNvSpPr>
          <p:nvPr/>
        </p:nvSpPr>
        <p:spPr bwMode="auto">
          <a:xfrm>
            <a:off x="323850" y="1398687"/>
            <a:ext cx="8351838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en-US" sz="2800" smtClean="0">
                <a:latin typeface="Arial" charset="0"/>
              </a:rPr>
              <a:t>	</a:t>
            </a:r>
            <a:r>
              <a:rPr kumimoji="1" lang="zh-CN" altLang="zh-CN" sz="2800" smtClean="0">
                <a:latin typeface="Arial" charset="0"/>
              </a:rPr>
              <a:t>从关系R中选出满足条件F的元组组成新关系，记作：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σ</a:t>
            </a:r>
            <a:r>
              <a:rPr kumimoji="1" lang="zh-CN" altLang="zh-CN" sz="2800" baseline="-25000" smtClean="0">
                <a:solidFill>
                  <a:srgbClr val="FFFF00"/>
                </a:solidFill>
                <a:latin typeface="Arial" charset="0"/>
              </a:rPr>
              <a:t>F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（R）= { t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| t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  <a:ea typeface="宋体" pitchFamily="2" charset="-122"/>
              </a:rPr>
              <a:t>∈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R ∧ F(t)</a:t>
            </a:r>
            <a:r>
              <a:rPr kumimoji="1" lang="zh-CN" altLang="en-US" sz="2800" smtClean="0">
                <a:solidFill>
                  <a:srgbClr val="FFFF00"/>
                </a:solidFill>
                <a:latin typeface="Arial" charset="0"/>
              </a:rPr>
              <a:t> </a:t>
            </a:r>
            <a:r>
              <a:rPr kumimoji="1" lang="zh-CN" altLang="zh-CN" sz="2800" smtClean="0">
                <a:solidFill>
                  <a:srgbClr val="FFFF00"/>
                </a:solidFill>
                <a:latin typeface="Arial" charset="0"/>
              </a:rPr>
              <a:t>}</a:t>
            </a:r>
            <a:r>
              <a:rPr kumimoji="1" lang="zh-CN" altLang="en-US" sz="2800" smtClean="0">
                <a:latin typeface="Arial" charset="0"/>
              </a:rPr>
              <a:t> </a:t>
            </a:r>
            <a:r>
              <a:rPr kumimoji="1" lang="zh-CN" altLang="zh-CN" sz="2800" smtClean="0">
                <a:latin typeface="Arial" charset="0"/>
              </a:rPr>
              <a:t>，其中F为一个由属性名</a:t>
            </a:r>
            <a:r>
              <a:rPr kumimoji="1" lang="zh-CN" altLang="en-US" sz="2800" smtClean="0">
                <a:latin typeface="Arial" charset="0"/>
              </a:rPr>
              <a:t>(或属性序号</a:t>
            </a:r>
            <a:r>
              <a:rPr kumimoji="1" lang="en-US" altLang="zh-CN" sz="2800" smtClean="0">
                <a:latin typeface="Arial" charset="0"/>
              </a:rPr>
              <a:t>)</a:t>
            </a:r>
            <a:r>
              <a:rPr kumimoji="1" lang="zh-CN" altLang="zh-CN" sz="2800" smtClean="0">
                <a:latin typeface="Arial" charset="0"/>
              </a:rPr>
              <a:t>、常量、简单函数用比较运算符和逻辑运算符组成的逻辑表达式。</a:t>
            </a:r>
            <a:endParaRPr kumimoji="1" lang="zh-CN" altLang="en-US" sz="2800" smtClean="0">
              <a:latin typeface="Arial" charset="0"/>
            </a:endParaRPr>
          </a:p>
        </p:txBody>
      </p:sp>
      <p:graphicFrame>
        <p:nvGraphicFramePr>
          <p:cNvPr id="1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72120"/>
              </p:ext>
            </p:extLst>
          </p:nvPr>
        </p:nvGraphicFramePr>
        <p:xfrm>
          <a:off x="755650" y="3768824"/>
          <a:ext cx="2781300" cy="2438400"/>
        </p:xfrm>
        <a:graphic>
          <a:graphicData uri="http://schemas.openxmlformats.org/drawingml/2006/table">
            <a:tbl>
              <a:tblPr/>
              <a:tblGrid>
                <a:gridCol w="820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赵龙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周艺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钟伟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793750" y="3379887"/>
            <a:ext cx="564257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8" name="Rectangle 53"/>
          <p:cNvSpPr>
            <a:spLocks noChangeArrowheads="1"/>
          </p:cNvSpPr>
          <p:nvPr/>
        </p:nvSpPr>
        <p:spPr bwMode="auto">
          <a:xfrm>
            <a:off x="4189040" y="5091281"/>
            <a:ext cx="4343400" cy="3539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σ</a:t>
            </a:r>
            <a:r>
              <a:rPr kumimoji="0" lang="zh-CN" altLang="en-US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性别</a:t>
            </a:r>
            <a:r>
              <a:rPr kumimoji="0" lang="zh-CN" altLang="en-US" sz="2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</a:t>
            </a:r>
            <a:r>
              <a:rPr kumimoji="0" lang="en-US" altLang="zh-CN" sz="2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‘</a:t>
            </a:r>
            <a:r>
              <a:rPr kumimoji="0" lang="zh-CN" altLang="en-US" sz="2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男</a:t>
            </a:r>
            <a:r>
              <a:rPr kumimoji="0" lang="en-US" altLang="zh-CN" sz="2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’</a:t>
            </a:r>
            <a:r>
              <a:rPr kumimoji="0" lang="zh-CN" altLang="en-US" sz="2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zh-CN" altLang="en-US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∧ 年龄&gt;20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 </a:t>
            </a:r>
          </a:p>
        </p:txBody>
      </p:sp>
      <p:graphicFrame>
        <p:nvGraphicFramePr>
          <p:cNvPr id="19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008009"/>
              </p:ext>
            </p:extLst>
          </p:nvPr>
        </p:nvGraphicFramePr>
        <p:xfrm>
          <a:off x="4603750" y="5646837"/>
          <a:ext cx="2781300" cy="914400"/>
        </p:xfrm>
        <a:graphic>
          <a:graphicData uri="http://schemas.openxmlformats.org/drawingml/2006/table">
            <a:tbl>
              <a:tblPr/>
              <a:tblGrid>
                <a:gridCol w="820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AutoShape 76"/>
          <p:cNvCxnSpPr>
            <a:cxnSpLocks noChangeShapeType="1"/>
          </p:cNvCxnSpPr>
          <p:nvPr/>
        </p:nvCxnSpPr>
        <p:spPr bwMode="auto">
          <a:xfrm>
            <a:off x="3689350" y="5246787"/>
            <a:ext cx="704850" cy="434975"/>
          </a:xfrm>
          <a:prstGeom prst="bentConnector3">
            <a:avLst>
              <a:gd name="adj1" fmla="val 50000"/>
            </a:avLst>
          </a:prstGeom>
          <a:noFill/>
          <a:ln w="76200" cap="sq">
            <a:solidFill>
              <a:srgbClr val="CCFFCC"/>
            </a:solidFill>
            <a:miter lim="800000"/>
            <a:headEnd/>
            <a:tailEnd type="triangle" w="med" len="med"/>
          </a:ln>
          <a:effectLst>
            <a:outerShdw dist="35921" dir="2700000" algn="ctr" rotWithShape="0">
              <a:srgbClr val="000514"/>
            </a:outerShdw>
          </a:effectLst>
        </p:spPr>
      </p:cxnSp>
      <p:sp>
        <p:nvSpPr>
          <p:cNvPr id="21" name="Rectangle 77"/>
          <p:cNvSpPr>
            <a:spLocks noChangeArrowheads="1"/>
          </p:cNvSpPr>
          <p:nvPr/>
        </p:nvSpPr>
        <p:spPr bwMode="auto">
          <a:xfrm>
            <a:off x="3829000" y="3573016"/>
            <a:ext cx="4343400" cy="3539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σ</a:t>
            </a:r>
            <a:r>
              <a:rPr kumimoji="0" lang="zh-CN" altLang="en-US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年龄&lt;20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 </a:t>
            </a:r>
          </a:p>
        </p:txBody>
      </p:sp>
      <p:graphicFrame>
        <p:nvGraphicFramePr>
          <p:cNvPr id="22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553131"/>
              </p:ext>
            </p:extLst>
          </p:nvPr>
        </p:nvGraphicFramePr>
        <p:xfrm>
          <a:off x="5899150" y="3894237"/>
          <a:ext cx="2781300" cy="914400"/>
        </p:xfrm>
        <a:graphic>
          <a:graphicData uri="http://schemas.openxmlformats.org/drawingml/2006/table">
            <a:tbl>
              <a:tblPr/>
              <a:tblGrid>
                <a:gridCol w="820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赵龙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钟伟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Line 100"/>
          <p:cNvSpPr>
            <a:spLocks noChangeShapeType="1"/>
          </p:cNvSpPr>
          <p:nvPr/>
        </p:nvSpPr>
        <p:spPr bwMode="auto">
          <a:xfrm>
            <a:off x="3689350" y="4199037"/>
            <a:ext cx="2057400" cy="0"/>
          </a:xfrm>
          <a:prstGeom prst="line">
            <a:avLst/>
          </a:prstGeom>
          <a:noFill/>
          <a:ln w="76200" cap="sq">
            <a:solidFill>
              <a:srgbClr val="CCFFCC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66688" y="980728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投影(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Projection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j-cs"/>
              </a:rPr>
              <a:t>——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列查询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5" name="Rectangle 4"/>
          <p:cNvSpPr txBox="1">
            <a:spLocks noChangeArrowheads="1"/>
          </p:cNvSpPr>
          <p:nvPr/>
        </p:nvSpPr>
        <p:spPr bwMode="auto">
          <a:xfrm>
            <a:off x="323850" y="1620491"/>
            <a:ext cx="8569325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	在关系</a:t>
            </a:r>
            <a:r>
              <a:rPr kumimoji="1" lang="en-US" altLang="zh-CN" sz="2800" dirty="0" smtClean="0">
                <a:latin typeface="Times New Roman" pitchFamily="18" charset="0"/>
                <a:cs typeface="Arial" pitchFamily="34" charset="0"/>
              </a:rPr>
              <a:t>R</a:t>
            </a: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中按指定的列序选出若干属性列组成新的关系，记作：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∏</a:t>
            </a:r>
            <a:r>
              <a:rPr kumimoji="1" lang="en-US" altLang="zh-CN" sz="2800" baseline="-250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A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（</a:t>
            </a:r>
            <a:r>
              <a:rPr kumimoji="1" lang="en-US" altLang="zh-CN" sz="28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R</a:t>
            </a:r>
            <a:r>
              <a:rPr kumimoji="1" lang="zh-CN" altLang="en-US" sz="28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）</a:t>
            </a:r>
            <a:r>
              <a:rPr kumimoji="1" lang="en-US" altLang="zh-CN" sz="28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= { t[A] | </a:t>
            </a:r>
            <a:r>
              <a:rPr kumimoji="1" lang="en-US" altLang="zh-CN" sz="2800" dirty="0" err="1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t</a:t>
            </a:r>
            <a:r>
              <a:rPr kumimoji="1" lang="en-US" altLang="zh-CN" sz="2800" dirty="0" err="1" smtClean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∈</a:t>
            </a:r>
            <a:r>
              <a:rPr kumimoji="1" lang="en-US" altLang="zh-CN" sz="2800" dirty="0" err="1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R</a:t>
            </a:r>
            <a:r>
              <a:rPr kumimoji="1" lang="en-US" altLang="zh-CN" sz="2800" dirty="0" smtClean="0">
                <a:solidFill>
                  <a:srgbClr val="FFFF00"/>
                </a:solidFill>
                <a:latin typeface="Times New Roman" pitchFamily="18" charset="0"/>
                <a:cs typeface="Arial" pitchFamily="34" charset="0"/>
              </a:rPr>
              <a:t> }</a:t>
            </a: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，其中</a:t>
            </a:r>
            <a:r>
              <a:rPr kumimoji="1" lang="en-US" altLang="zh-CN" sz="2800" dirty="0" smtClean="0">
                <a:latin typeface="Times New Roman" pitchFamily="18" charset="0"/>
                <a:cs typeface="Arial" pitchFamily="34" charset="0"/>
              </a:rPr>
              <a:t>A</a:t>
            </a: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为一个</a:t>
            </a:r>
            <a:r>
              <a:rPr kumimoji="1" lang="en-US" altLang="zh-CN" sz="2800" dirty="0" smtClean="0">
                <a:latin typeface="Times New Roman" pitchFamily="18" charset="0"/>
                <a:cs typeface="Arial" pitchFamily="34" charset="0"/>
              </a:rPr>
              <a:t>R</a:t>
            </a: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的属性名</a:t>
            </a:r>
            <a:r>
              <a:rPr kumimoji="1" lang="en-US" altLang="zh-CN" sz="2800" dirty="0" smtClean="0">
                <a:latin typeface="Times New Roman" pitchFamily="18" charset="0"/>
                <a:cs typeface="Arial" pitchFamily="34" charset="0"/>
              </a:rPr>
              <a:t>(</a:t>
            </a: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或属性序号</a:t>
            </a:r>
            <a:r>
              <a:rPr kumimoji="1" lang="en-US" altLang="zh-CN" sz="2800" dirty="0" smtClean="0">
                <a:latin typeface="Times New Roman" pitchFamily="18" charset="0"/>
                <a:cs typeface="Arial" pitchFamily="34" charset="0"/>
              </a:rPr>
              <a:t>)</a:t>
            </a:r>
            <a:r>
              <a:rPr kumimoji="1" lang="zh-CN" altLang="en-US" sz="2800" dirty="0" smtClean="0">
                <a:latin typeface="Times New Roman" pitchFamily="18" charset="0"/>
                <a:cs typeface="Arial" pitchFamily="34" charset="0"/>
              </a:rPr>
              <a:t>的序列。注意投影结果中必须消去重复的元组。</a:t>
            </a:r>
          </a:p>
        </p:txBody>
      </p:sp>
      <p:graphicFrame>
        <p:nvGraphicFramePr>
          <p:cNvPr id="1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091213"/>
              </p:ext>
            </p:extLst>
          </p:nvPr>
        </p:nvGraphicFramePr>
        <p:xfrm>
          <a:off x="984250" y="3965228"/>
          <a:ext cx="2781300" cy="1219200"/>
        </p:xfrm>
        <a:graphic>
          <a:graphicData uri="http://schemas.openxmlformats.org/drawingml/2006/table">
            <a:tbl>
              <a:tblPr/>
              <a:tblGrid>
                <a:gridCol w="820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32"/>
          <p:cNvSpPr>
            <a:spLocks noChangeArrowheads="1"/>
          </p:cNvSpPr>
          <p:nvPr/>
        </p:nvSpPr>
        <p:spPr bwMode="auto">
          <a:xfrm>
            <a:off x="1022350" y="3576291"/>
            <a:ext cx="564257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4467944" y="3805734"/>
            <a:ext cx="3200400" cy="3539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zh-CN" altLang="en-US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</a:p>
        </p:txBody>
      </p:sp>
      <p:graphicFrame>
        <p:nvGraphicFramePr>
          <p:cNvPr id="19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54671"/>
              </p:ext>
            </p:extLst>
          </p:nvPr>
        </p:nvGraphicFramePr>
        <p:xfrm>
          <a:off x="7302500" y="3419128"/>
          <a:ext cx="1263650" cy="1219200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934604"/>
              </p:ext>
            </p:extLst>
          </p:nvPr>
        </p:nvGraphicFramePr>
        <p:xfrm>
          <a:off x="7302500" y="5290791"/>
          <a:ext cx="631825" cy="914400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Line 62"/>
          <p:cNvSpPr>
            <a:spLocks noChangeShapeType="1"/>
          </p:cNvSpPr>
          <p:nvPr/>
        </p:nvSpPr>
        <p:spPr bwMode="auto">
          <a:xfrm>
            <a:off x="4102100" y="4409728"/>
            <a:ext cx="2743200" cy="0"/>
          </a:xfrm>
          <a:prstGeom prst="line">
            <a:avLst/>
          </a:prstGeom>
          <a:noFill/>
          <a:ln w="76200" cap="sq">
            <a:solidFill>
              <a:srgbClr val="CCFFCC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2" name="AutoShape 63"/>
          <p:cNvCxnSpPr>
            <a:cxnSpLocks noChangeShapeType="1"/>
          </p:cNvCxnSpPr>
          <p:nvPr/>
        </p:nvCxnSpPr>
        <p:spPr bwMode="auto">
          <a:xfrm rot="16200000" flipH="1">
            <a:off x="4545807" y="3300859"/>
            <a:ext cx="342900" cy="4611687"/>
          </a:xfrm>
          <a:prstGeom prst="bentConnector2">
            <a:avLst/>
          </a:prstGeom>
          <a:noFill/>
          <a:ln w="76200" cap="sq">
            <a:solidFill>
              <a:srgbClr val="CCFFCC"/>
            </a:solidFill>
            <a:miter lim="800000"/>
            <a:headEnd/>
            <a:tailEnd type="triangle" w="med" len="med"/>
          </a:ln>
          <a:effectLst>
            <a:outerShdw dist="35921" dir="2700000" algn="ctr" rotWithShape="0">
              <a:srgbClr val="000514"/>
            </a:outerShdw>
          </a:effectLst>
        </p:spPr>
      </p:cxnSp>
      <p:sp>
        <p:nvSpPr>
          <p:cNvPr id="23" name="Rectangle 64"/>
          <p:cNvSpPr>
            <a:spLocks noChangeArrowheads="1"/>
          </p:cNvSpPr>
          <p:nvPr/>
        </p:nvSpPr>
        <p:spPr bwMode="auto">
          <a:xfrm>
            <a:off x="4323928" y="4509120"/>
            <a:ext cx="3200400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或者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4,2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</a:p>
        </p:txBody>
      </p:sp>
      <p:sp>
        <p:nvSpPr>
          <p:cNvPr id="25" name="Rectangle 51"/>
          <p:cNvSpPr>
            <a:spLocks noChangeArrowheads="1"/>
          </p:cNvSpPr>
          <p:nvPr/>
        </p:nvSpPr>
        <p:spPr bwMode="auto">
          <a:xfrm>
            <a:off x="2484438" y="5877272"/>
            <a:ext cx="4464050" cy="86177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3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或者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zh-CN" altLang="en-US" sz="2400" b="1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性别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166688" y="980728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连接(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Join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1" name="Rectangle 4"/>
          <p:cNvSpPr txBox="1">
            <a:spLocks noChangeArrowheads="1"/>
          </p:cNvSpPr>
          <p:nvPr/>
        </p:nvSpPr>
        <p:spPr bwMode="auto">
          <a:xfrm>
            <a:off x="323850" y="1620491"/>
            <a:ext cx="8569325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30000"/>
              </a:spcAft>
              <a:defRPr/>
            </a:pPr>
            <a:r>
              <a:rPr kumimoji="1" lang="zh-CN" altLang="en-US" sz="2800" dirty="0" smtClean="0">
                <a:latin typeface="Arial" charset="0"/>
              </a:rPr>
              <a:t>从关系</a:t>
            </a:r>
            <a:r>
              <a:rPr kumimoji="1" lang="en-US" altLang="zh-CN" sz="2800" dirty="0" smtClean="0">
                <a:latin typeface="Arial" charset="0"/>
              </a:rPr>
              <a:t>R</a:t>
            </a:r>
            <a:r>
              <a:rPr kumimoji="1" lang="zh-CN" altLang="en-US" sz="2800" dirty="0" smtClean="0">
                <a:latin typeface="Arial" charset="0"/>
              </a:rPr>
              <a:t>和</a:t>
            </a:r>
            <a:r>
              <a:rPr kumimoji="1" lang="en-US" altLang="zh-CN" sz="2800" dirty="0" smtClean="0">
                <a:latin typeface="Arial" charset="0"/>
              </a:rPr>
              <a:t>S</a:t>
            </a:r>
            <a:r>
              <a:rPr kumimoji="1" lang="zh-CN" altLang="en-US" sz="2800" dirty="0" smtClean="0">
                <a:latin typeface="Arial" charset="0"/>
              </a:rPr>
              <a:t>的广义笛卡尔积中选取</a:t>
            </a:r>
            <a:r>
              <a:rPr kumimoji="1" lang="en-US" altLang="zh-CN" sz="2800" dirty="0" smtClean="0">
                <a:latin typeface="Arial" charset="0"/>
              </a:rPr>
              <a:t>R</a:t>
            </a:r>
            <a:r>
              <a:rPr kumimoji="1" lang="zh-CN" altLang="en-US" sz="2800" dirty="0" smtClean="0">
                <a:latin typeface="Arial" charset="0"/>
              </a:rPr>
              <a:t>与</a:t>
            </a:r>
            <a:r>
              <a:rPr kumimoji="1" lang="en-US" altLang="zh-CN" sz="2800" dirty="0" smtClean="0">
                <a:latin typeface="Arial" charset="0"/>
              </a:rPr>
              <a:t>S</a:t>
            </a:r>
            <a:r>
              <a:rPr kumimoji="1" lang="zh-CN" altLang="en-US" sz="2800" dirty="0" smtClean="0">
                <a:latin typeface="Arial" charset="0"/>
              </a:rPr>
              <a:t>的属性间满足一定条件的元组，可记作：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323850" y="3365153"/>
            <a:ext cx="8569325" cy="4270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Aft>
                <a:spcPct val="30000"/>
              </a:spcAft>
              <a:buClr>
                <a:srgbClr val="66FF33"/>
              </a:buClr>
              <a:buSzPct val="85000"/>
              <a:defRPr/>
            </a:pP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其中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θ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是比较运算符，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和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分别为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和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上度数相等且可比的属性集。</a:t>
            </a:r>
          </a:p>
          <a:p>
            <a:pPr marL="342900" indent="-342900">
              <a:spcAft>
                <a:spcPct val="30000"/>
              </a:spcAft>
              <a:buClr>
                <a:srgbClr val="FF9900"/>
              </a:buClr>
              <a:buSzPct val="50000"/>
              <a:buFont typeface="Wingdings" pitchFamily="2" charset="2"/>
              <a:buChar char="n"/>
              <a:defRPr/>
            </a:pP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θ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为“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=”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时称为等值连接，其它称为非等值连接。</a:t>
            </a:r>
            <a:endParaRPr lang="en-US" altLang="zh-CN" sz="28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42900" indent="-342900">
              <a:spcAft>
                <a:spcPct val="0"/>
              </a:spcAft>
              <a:buClr>
                <a:srgbClr val="FF9900"/>
              </a:buClr>
              <a:buSzPct val="50000"/>
              <a:buFont typeface="Wingdings" pitchFamily="2" charset="2"/>
              <a:buChar char="n"/>
              <a:defRPr/>
            </a:pP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和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是相同的属性集时的等值连接称为</a:t>
            </a:r>
            <a:r>
              <a:rPr lang="zh-CN" altLang="en-US" sz="2800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自然连接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</a:t>
            </a:r>
            <a:r>
              <a:rPr lang="en-US" altLang="zh-CN" sz="280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natural-join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，记为：</a:t>
            </a:r>
          </a:p>
          <a:p>
            <a:pPr marL="342900" indent="-342900">
              <a:spcBef>
                <a:spcPct val="20000"/>
              </a:spcBef>
              <a:spcAft>
                <a:spcPct val="30000"/>
              </a:spcAft>
              <a:buClr>
                <a:srgbClr val="FF9900"/>
              </a:buClr>
              <a:buSzPct val="50000"/>
              <a:defRPr/>
            </a:pP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注意自然连接的结果中要消除重复的属性列。</a:t>
            </a:r>
            <a:endParaRPr lang="en-US" altLang="zh-CN" sz="28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pSp>
        <p:nvGrpSpPr>
          <p:cNvPr id="23" name="Group 6"/>
          <p:cNvGrpSpPr>
            <a:grpSpLocks/>
          </p:cNvGrpSpPr>
          <p:nvPr/>
        </p:nvGrpSpPr>
        <p:grpSpPr bwMode="auto">
          <a:xfrm>
            <a:off x="1692275" y="2626966"/>
            <a:ext cx="4341814" cy="677862"/>
            <a:chOff x="657" y="1552"/>
            <a:chExt cx="2735" cy="427"/>
          </a:xfrm>
        </p:grpSpPr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666" y="1825"/>
              <a:ext cx="622" cy="15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R.A θ S.B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657" y="1576"/>
              <a:ext cx="139" cy="23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 flipH="1">
              <a:off x="1185" y="1576"/>
              <a:ext cx="48" cy="23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S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1449" y="1552"/>
              <a:ext cx="1943" cy="271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= </a:t>
              </a:r>
              <a:r>
                <a:rPr kumimoji="0" lang="en-US" altLang="en-US" sz="28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σ</a:t>
              </a:r>
              <a:r>
                <a:rPr kumimoji="0" lang="en-US" altLang="zh-CN" sz="2800" b="1" i="0" u="none" strike="noStrike" kern="0" cap="none" spc="0" normalizeH="0" baseline="-25000" noProof="0" dirty="0" err="1" smtClean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aramond" pitchFamily="18" charset="0"/>
                  <a:ea typeface="宋体" pitchFamily="2" charset="-122"/>
                </a:rPr>
                <a:t>R.A</a:t>
              </a:r>
              <a:r>
                <a:rPr kumimoji="0" lang="en-US" altLang="zh-CN" sz="28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aramond" pitchFamily="18" charset="0"/>
                  <a:ea typeface="宋体" pitchFamily="2" charset="-122"/>
                </a:rPr>
                <a:t> θ S.B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（</a:t>
              </a:r>
              <a:r>
                <a:rPr kumimoji="0" lang="en-US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R×S 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）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8" name="Freeform 11"/>
            <p:cNvSpPr>
              <a:spLocks/>
            </p:cNvSpPr>
            <p:nvPr/>
          </p:nvSpPr>
          <p:spPr bwMode="auto">
            <a:xfrm>
              <a:off x="912" y="1634"/>
              <a:ext cx="136" cy="128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66" y="174"/>
                </a:cxn>
                <a:cxn ang="0">
                  <a:pos x="266" y="0"/>
                </a:cxn>
                <a:cxn ang="0">
                  <a:pos x="0" y="168"/>
                </a:cxn>
                <a:cxn ang="0">
                  <a:pos x="0" y="8"/>
                </a:cxn>
              </a:cxnLst>
              <a:rect l="0" t="0" r="r" b="b"/>
              <a:pathLst>
                <a:path w="266" h="174">
                  <a:moveTo>
                    <a:pt x="0" y="8"/>
                  </a:moveTo>
                  <a:lnTo>
                    <a:pt x="266" y="174"/>
                  </a:lnTo>
                  <a:lnTo>
                    <a:pt x="266" y="0"/>
                  </a:lnTo>
                  <a:lnTo>
                    <a:pt x="0" y="168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19050" cap="sq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9" name="Group 12"/>
          <p:cNvGrpSpPr>
            <a:grpSpLocks/>
          </p:cNvGrpSpPr>
          <p:nvPr/>
        </p:nvGrpSpPr>
        <p:grpSpPr bwMode="auto">
          <a:xfrm>
            <a:off x="4054475" y="5376516"/>
            <a:ext cx="4138613" cy="677862"/>
            <a:chOff x="657" y="1552"/>
            <a:chExt cx="2607" cy="427"/>
          </a:xfrm>
        </p:grpSpPr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>
              <a:off x="666" y="1825"/>
              <a:ext cx="622" cy="15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" name="Rectangle 14"/>
            <p:cNvSpPr>
              <a:spLocks noChangeArrowheads="1"/>
            </p:cNvSpPr>
            <p:nvPr/>
          </p:nvSpPr>
          <p:spPr bwMode="auto">
            <a:xfrm>
              <a:off x="657" y="1576"/>
              <a:ext cx="139" cy="23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" name="Rectangle 15"/>
            <p:cNvSpPr>
              <a:spLocks noChangeArrowheads="1"/>
            </p:cNvSpPr>
            <p:nvPr/>
          </p:nvSpPr>
          <p:spPr bwMode="auto">
            <a:xfrm flipH="1">
              <a:off x="1185" y="1576"/>
              <a:ext cx="48" cy="23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S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auto">
            <a:xfrm>
              <a:off x="1449" y="1552"/>
              <a:ext cx="1815" cy="271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 </a:t>
              </a:r>
              <a:r>
                <a:rPr kumimoji="0" lang="en-US" altLang="en-US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σ</a:t>
              </a:r>
              <a:r>
                <a:rPr kumimoji="0" lang="en-US" altLang="zh-CN" sz="2400" b="1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aramond" pitchFamily="18" charset="0"/>
                  <a:ea typeface="宋体" pitchFamily="2" charset="-122"/>
                </a:rPr>
                <a:t>R.A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aramond" pitchFamily="18" charset="0"/>
                  <a:ea typeface="宋体" pitchFamily="2" charset="-122"/>
                </a:rPr>
                <a:t>=S.A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（</a:t>
              </a:r>
              <a:r>
                <a:rPr kumimoji="0" lang="en-US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R×S 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）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auto">
            <a:xfrm>
              <a:off x="912" y="1634"/>
              <a:ext cx="136" cy="128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66" y="174"/>
                </a:cxn>
                <a:cxn ang="0">
                  <a:pos x="266" y="0"/>
                </a:cxn>
                <a:cxn ang="0">
                  <a:pos x="0" y="168"/>
                </a:cxn>
                <a:cxn ang="0">
                  <a:pos x="0" y="8"/>
                </a:cxn>
              </a:cxnLst>
              <a:rect l="0" t="0" r="r" b="b"/>
              <a:pathLst>
                <a:path w="266" h="174">
                  <a:moveTo>
                    <a:pt x="0" y="8"/>
                  </a:moveTo>
                  <a:lnTo>
                    <a:pt x="266" y="174"/>
                  </a:lnTo>
                  <a:lnTo>
                    <a:pt x="266" y="0"/>
                  </a:lnTo>
                  <a:lnTo>
                    <a:pt x="0" y="168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19050" cap="sq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66688" y="980728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连接(</a:t>
            </a:r>
            <a:r>
              <a:rPr kumimoji="0" lang="zh-CN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Join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88147"/>
              </p:ext>
            </p:extLst>
          </p:nvPr>
        </p:nvGraphicFramePr>
        <p:xfrm>
          <a:off x="546100" y="2259161"/>
          <a:ext cx="1960563" cy="1524000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02656"/>
              </p:ext>
            </p:extLst>
          </p:nvPr>
        </p:nvGraphicFramePr>
        <p:xfrm>
          <a:off x="3563938" y="1976586"/>
          <a:ext cx="1201737" cy="1833563"/>
        </p:xfrm>
        <a:graphic>
          <a:graphicData uri="http://schemas.openxmlformats.org/drawingml/2006/table">
            <a:tbl>
              <a:tblPr/>
              <a:tblGrid>
                <a:gridCol w="569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009926"/>
              </p:ext>
            </p:extLst>
          </p:nvPr>
        </p:nvGraphicFramePr>
        <p:xfrm>
          <a:off x="5651500" y="2336948"/>
          <a:ext cx="2973388" cy="1219200"/>
        </p:xfrm>
        <a:graphic>
          <a:graphicData uri="http://schemas.openxmlformats.org/drawingml/2006/table">
            <a:tbl>
              <a:tblPr/>
              <a:tblGrid>
                <a:gridCol w="56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R.B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S.B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roup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620222"/>
              </p:ext>
            </p:extLst>
          </p:nvPr>
        </p:nvGraphicFramePr>
        <p:xfrm>
          <a:off x="6516688" y="4929336"/>
          <a:ext cx="2016125" cy="152400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45"/>
          <p:cNvSpPr>
            <a:spLocks noChangeArrowheads="1"/>
          </p:cNvSpPr>
          <p:nvPr/>
        </p:nvSpPr>
        <p:spPr bwMode="auto">
          <a:xfrm>
            <a:off x="622300" y="1801961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10" name="Rectangle 146"/>
          <p:cNvSpPr>
            <a:spLocks noChangeArrowheads="1"/>
          </p:cNvSpPr>
          <p:nvPr/>
        </p:nvSpPr>
        <p:spPr bwMode="auto">
          <a:xfrm>
            <a:off x="3621088" y="1519386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grpSp>
        <p:nvGrpSpPr>
          <p:cNvPr id="11" name="Group 147"/>
          <p:cNvGrpSpPr>
            <a:grpSpLocks/>
          </p:cNvGrpSpPr>
          <p:nvPr/>
        </p:nvGrpSpPr>
        <p:grpSpPr bwMode="auto">
          <a:xfrm>
            <a:off x="5802316" y="1684486"/>
            <a:ext cx="908051" cy="557212"/>
            <a:chOff x="3655" y="887"/>
            <a:chExt cx="572" cy="351"/>
          </a:xfrm>
        </p:grpSpPr>
        <p:sp>
          <p:nvSpPr>
            <p:cNvPr id="12" name="Rectangle 148"/>
            <p:cNvSpPr>
              <a:spLocks noChangeArrowheads="1"/>
            </p:cNvSpPr>
            <p:nvPr/>
          </p:nvSpPr>
          <p:spPr bwMode="auto">
            <a:xfrm>
              <a:off x="3813" y="1084"/>
              <a:ext cx="336" cy="15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C &gt; D</a:t>
              </a: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" name="Rectangle 149"/>
            <p:cNvSpPr>
              <a:spLocks noChangeArrowheads="1"/>
            </p:cNvSpPr>
            <p:nvPr/>
          </p:nvSpPr>
          <p:spPr bwMode="auto">
            <a:xfrm>
              <a:off x="3655" y="887"/>
              <a:ext cx="129" cy="23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" name="Rectangle 150"/>
            <p:cNvSpPr>
              <a:spLocks noChangeArrowheads="1"/>
            </p:cNvSpPr>
            <p:nvPr/>
          </p:nvSpPr>
          <p:spPr bwMode="auto">
            <a:xfrm flipH="1">
              <a:off x="4179" y="887"/>
              <a:ext cx="48" cy="23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S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Freeform 151"/>
            <p:cNvSpPr>
              <a:spLocks/>
            </p:cNvSpPr>
            <p:nvPr/>
          </p:nvSpPr>
          <p:spPr bwMode="auto">
            <a:xfrm>
              <a:off x="3909" y="946"/>
              <a:ext cx="136" cy="128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66" y="174"/>
                </a:cxn>
                <a:cxn ang="0">
                  <a:pos x="266" y="0"/>
                </a:cxn>
                <a:cxn ang="0">
                  <a:pos x="0" y="168"/>
                </a:cxn>
                <a:cxn ang="0">
                  <a:pos x="0" y="8"/>
                </a:cxn>
              </a:cxnLst>
              <a:rect l="0" t="0" r="r" b="b"/>
              <a:pathLst>
                <a:path w="266" h="174">
                  <a:moveTo>
                    <a:pt x="0" y="8"/>
                  </a:moveTo>
                  <a:lnTo>
                    <a:pt x="266" y="174"/>
                  </a:lnTo>
                  <a:lnTo>
                    <a:pt x="266" y="0"/>
                  </a:lnTo>
                  <a:lnTo>
                    <a:pt x="0" y="168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19050" cap="sq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  <p:graphicFrame>
        <p:nvGraphicFramePr>
          <p:cNvPr id="16" name="Group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117519"/>
              </p:ext>
            </p:extLst>
          </p:nvPr>
        </p:nvGraphicFramePr>
        <p:xfrm>
          <a:off x="539750" y="5361136"/>
          <a:ext cx="2519363" cy="914400"/>
        </p:xfrm>
        <a:graphic>
          <a:graphicData uri="http://schemas.openxmlformats.org/drawingml/2006/table">
            <a:tbl>
              <a:tblPr/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R.B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S.B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ctangle 182"/>
          <p:cNvSpPr>
            <a:spLocks noChangeArrowheads="1"/>
          </p:cNvSpPr>
          <p:nvPr/>
        </p:nvSpPr>
        <p:spPr bwMode="auto">
          <a:xfrm>
            <a:off x="800100" y="5040461"/>
            <a:ext cx="933450" cy="2444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R.C = S.D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Rectangle 183"/>
          <p:cNvSpPr>
            <a:spLocks noChangeArrowheads="1"/>
          </p:cNvSpPr>
          <p:nvPr/>
        </p:nvSpPr>
        <p:spPr bwMode="auto">
          <a:xfrm>
            <a:off x="691158" y="4708673"/>
            <a:ext cx="205184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R</a:t>
            </a:r>
            <a:endParaRPr lang="zh-CN" altLang="en-US" sz="24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Rectangle 184"/>
          <p:cNvSpPr>
            <a:spLocks noChangeArrowheads="1"/>
          </p:cNvSpPr>
          <p:nvPr/>
        </p:nvSpPr>
        <p:spPr bwMode="auto">
          <a:xfrm flipH="1">
            <a:off x="1657350" y="4708673"/>
            <a:ext cx="76200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S</a:t>
            </a:r>
            <a:endParaRPr lang="zh-CN" altLang="en-US" sz="24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Freeform 185"/>
          <p:cNvSpPr>
            <a:spLocks/>
          </p:cNvSpPr>
          <p:nvPr/>
        </p:nvSpPr>
        <p:spPr bwMode="auto">
          <a:xfrm>
            <a:off x="1116013" y="4784873"/>
            <a:ext cx="215900" cy="203200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266" y="174"/>
              </a:cxn>
              <a:cxn ang="0">
                <a:pos x="266" y="0"/>
              </a:cxn>
              <a:cxn ang="0">
                <a:pos x="0" y="168"/>
              </a:cxn>
              <a:cxn ang="0">
                <a:pos x="0" y="8"/>
              </a:cxn>
            </a:cxnLst>
            <a:rect l="0" t="0" r="r" b="b"/>
            <a:pathLst>
              <a:path w="266" h="174">
                <a:moveTo>
                  <a:pt x="0" y="8"/>
                </a:moveTo>
                <a:lnTo>
                  <a:pt x="266" y="174"/>
                </a:lnTo>
                <a:lnTo>
                  <a:pt x="266" y="0"/>
                </a:lnTo>
                <a:lnTo>
                  <a:pt x="0" y="168"/>
                </a:lnTo>
                <a:lnTo>
                  <a:pt x="0" y="8"/>
                </a:lnTo>
                <a:close/>
              </a:path>
            </a:pathLst>
          </a:custGeom>
          <a:noFill/>
          <a:ln w="19050" cap="sq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21" name="Group 186"/>
          <p:cNvGrpSpPr>
            <a:grpSpLocks/>
          </p:cNvGrpSpPr>
          <p:nvPr/>
        </p:nvGrpSpPr>
        <p:grpSpPr bwMode="auto">
          <a:xfrm>
            <a:off x="6530972" y="4491191"/>
            <a:ext cx="908049" cy="369888"/>
            <a:chOff x="3524" y="2502"/>
            <a:chExt cx="572" cy="233"/>
          </a:xfrm>
        </p:grpSpPr>
        <p:sp>
          <p:nvSpPr>
            <p:cNvPr id="22" name="Rectangle 187"/>
            <p:cNvSpPr>
              <a:spLocks noChangeArrowheads="1"/>
            </p:cNvSpPr>
            <p:nvPr/>
          </p:nvSpPr>
          <p:spPr bwMode="auto">
            <a:xfrm>
              <a:off x="3524" y="2502"/>
              <a:ext cx="129" cy="23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3" name="Rectangle 188"/>
            <p:cNvSpPr>
              <a:spLocks noChangeArrowheads="1"/>
            </p:cNvSpPr>
            <p:nvPr/>
          </p:nvSpPr>
          <p:spPr bwMode="auto">
            <a:xfrm flipH="1">
              <a:off x="4048" y="2502"/>
              <a:ext cx="48" cy="23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S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" name="Freeform 189"/>
            <p:cNvSpPr>
              <a:spLocks/>
            </p:cNvSpPr>
            <p:nvPr/>
          </p:nvSpPr>
          <p:spPr bwMode="auto">
            <a:xfrm>
              <a:off x="3778" y="2559"/>
              <a:ext cx="136" cy="128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66" y="174"/>
                </a:cxn>
                <a:cxn ang="0">
                  <a:pos x="266" y="0"/>
                </a:cxn>
                <a:cxn ang="0">
                  <a:pos x="0" y="168"/>
                </a:cxn>
                <a:cxn ang="0">
                  <a:pos x="0" y="8"/>
                </a:cxn>
              </a:cxnLst>
              <a:rect l="0" t="0" r="r" b="b"/>
              <a:pathLst>
                <a:path w="266" h="174">
                  <a:moveTo>
                    <a:pt x="0" y="8"/>
                  </a:moveTo>
                  <a:lnTo>
                    <a:pt x="266" y="174"/>
                  </a:lnTo>
                  <a:lnTo>
                    <a:pt x="266" y="0"/>
                  </a:lnTo>
                  <a:lnTo>
                    <a:pt x="0" y="168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19050" cap="sq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AutoShape 190"/>
          <p:cNvSpPr>
            <a:spLocks noChangeArrowheads="1"/>
          </p:cNvSpPr>
          <p:nvPr/>
        </p:nvSpPr>
        <p:spPr bwMode="auto">
          <a:xfrm>
            <a:off x="3276600" y="4210198"/>
            <a:ext cx="2449513" cy="831850"/>
          </a:xfrm>
          <a:prstGeom prst="wedgeRectCallout">
            <a:avLst>
              <a:gd name="adj1" fmla="val 67889"/>
              <a:gd name="adj2" fmla="val 28245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隐含连接条件为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R.B=S.B</a:t>
            </a: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6688" y="871438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除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(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d</a:t>
            </a:r>
            <a:r>
              <a:rPr kumimoji="0" lang="en-US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ivision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280988" y="1555651"/>
            <a:ext cx="849630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设有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关系R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X,Y)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关系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(Y,Z)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，其中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X,Y,Z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都是属性组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，那么R÷S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得到一个新关系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P(X)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，且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是一个满足下列条件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的最大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关系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(即元组数量达到最大值的关系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P中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的每个元组t与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∏</a:t>
            </a:r>
            <a:r>
              <a:rPr kumimoji="1" lang="en-US" altLang="zh-CN" sz="2800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)中每个元组u所组成的元组(t,u)必在关系R中。</a:t>
            </a:r>
            <a:endParaRPr kumimoji="1" lang="zh-CN" alt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spcAft>
                <a:spcPct val="25000"/>
              </a:spcAft>
              <a:defRPr/>
            </a:pP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由此得出的计算方法为：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	⑴ 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T＝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∏</a:t>
            </a:r>
            <a:r>
              <a:rPr kumimoji="1" lang="en-US" altLang="zh-CN" sz="2800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(R) </a:t>
            </a:r>
            <a:endParaRPr kumimoji="1"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	⑵ 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W＝(T×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∏</a:t>
            </a:r>
            <a:r>
              <a:rPr kumimoji="1" lang="en-US" altLang="zh-CN" sz="2800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)－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R</a:t>
            </a:r>
            <a:endParaRPr kumimoji="1" lang="zh-CN" alt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	⑶ 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V＝ 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∏</a:t>
            </a:r>
            <a:r>
              <a:rPr kumimoji="1" lang="zh-CN" altLang="en-US" sz="2800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(W) 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	⑷ </a:t>
            </a:r>
            <a:r>
              <a:rPr kumimoji="1" lang="zh-CN" altLang="zh-CN" sz="2800" dirty="0" smtClean="0">
                <a:latin typeface="Times New Roman" pitchFamily="18" charset="0"/>
                <a:cs typeface="Times New Roman" pitchFamily="18" charset="0"/>
              </a:rPr>
              <a:t>R÷S＝T-V</a:t>
            </a: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6688" y="871438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除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(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d</a:t>
            </a:r>
            <a:r>
              <a:rPr kumimoji="0" lang="en-US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ivision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aphicFrame>
        <p:nvGraphicFramePr>
          <p:cNvPr id="5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76468"/>
              </p:ext>
            </p:extLst>
          </p:nvPr>
        </p:nvGraphicFramePr>
        <p:xfrm>
          <a:off x="565026" y="2127969"/>
          <a:ext cx="1296987" cy="2133600"/>
        </p:xfrm>
        <a:graphic>
          <a:graphicData uri="http://schemas.openxmlformats.org/drawingml/2006/table">
            <a:tbl>
              <a:tblPr/>
              <a:tblGrid>
                <a:gridCol w="331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0" name="Rectangle 54"/>
          <p:cNvSpPr>
            <a:spLocks noChangeArrowheads="1"/>
          </p:cNvSpPr>
          <p:nvPr/>
        </p:nvSpPr>
        <p:spPr bwMode="auto">
          <a:xfrm>
            <a:off x="707901" y="1696169"/>
            <a:ext cx="205184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graphicFrame>
        <p:nvGraphicFramePr>
          <p:cNvPr id="61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695700"/>
              </p:ext>
            </p:extLst>
          </p:nvPr>
        </p:nvGraphicFramePr>
        <p:xfrm>
          <a:off x="2149351" y="2127969"/>
          <a:ext cx="1223962" cy="91440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Rectangle 77"/>
          <p:cNvSpPr>
            <a:spLocks noChangeArrowheads="1"/>
          </p:cNvSpPr>
          <p:nvPr/>
        </p:nvSpPr>
        <p:spPr bwMode="auto">
          <a:xfrm>
            <a:off x="2149351" y="1670769"/>
            <a:ext cx="171522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</a:pPr>
            <a:r>
              <a:rPr lang="en-US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graphicFrame>
        <p:nvGraphicFramePr>
          <p:cNvPr id="63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988226"/>
              </p:ext>
            </p:extLst>
          </p:nvPr>
        </p:nvGraphicFramePr>
        <p:xfrm>
          <a:off x="4167063" y="1916832"/>
          <a:ext cx="979488" cy="1219200"/>
        </p:xfrm>
        <a:graphic>
          <a:graphicData uri="http://schemas.openxmlformats.org/drawingml/2006/table">
            <a:tbl>
              <a:tblPr/>
              <a:tblGrid>
                <a:gridCol w="49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Rectangle 97"/>
          <p:cNvSpPr>
            <a:spLocks noChangeArrowheads="1"/>
          </p:cNvSpPr>
          <p:nvPr/>
        </p:nvSpPr>
        <p:spPr bwMode="auto">
          <a:xfrm>
            <a:off x="4021013" y="1386607"/>
            <a:ext cx="1762534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⑴</a:t>
            </a:r>
            <a:r>
              <a:rPr lang="zh-CN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T＝</a:t>
            </a: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(R) </a:t>
            </a:r>
            <a:endParaRPr lang="en-US" altLang="zh-CN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98"/>
          <p:cNvSpPr>
            <a:spLocks noChangeArrowheads="1"/>
          </p:cNvSpPr>
          <p:nvPr/>
        </p:nvSpPr>
        <p:spPr bwMode="auto">
          <a:xfrm>
            <a:off x="5749801" y="2632794"/>
            <a:ext cx="3114250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⑵ W＝(T×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)－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R </a:t>
            </a:r>
            <a:endParaRPr lang="en-US" altLang="zh-CN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6" name="Group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890930"/>
              </p:ext>
            </p:extLst>
          </p:nvPr>
        </p:nvGraphicFramePr>
        <p:xfrm>
          <a:off x="493588" y="5225182"/>
          <a:ext cx="1139825" cy="914400"/>
        </p:xfrm>
        <a:graphic>
          <a:graphicData uri="http://schemas.openxmlformats.org/drawingml/2006/table">
            <a:tbl>
              <a:tblPr/>
              <a:tblGrid>
                <a:gridCol w="56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Rectangle 117"/>
          <p:cNvSpPr>
            <a:spLocks noChangeArrowheads="1"/>
          </p:cNvSpPr>
          <p:nvPr/>
        </p:nvSpPr>
        <p:spPr bwMode="auto">
          <a:xfrm>
            <a:off x="565026" y="4720357"/>
            <a:ext cx="846770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400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8" name="Group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10764"/>
              </p:ext>
            </p:extLst>
          </p:nvPr>
        </p:nvGraphicFramePr>
        <p:xfrm>
          <a:off x="2293813" y="4288557"/>
          <a:ext cx="1366838" cy="2133600"/>
        </p:xfrm>
        <a:graphic>
          <a:graphicData uri="http://schemas.openxmlformats.org/drawingml/2006/table">
            <a:tbl>
              <a:tblPr/>
              <a:tblGrid>
                <a:gridCol w="3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8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9" name="Rectangle 168"/>
          <p:cNvSpPr>
            <a:spLocks noChangeArrowheads="1"/>
          </p:cNvSpPr>
          <p:nvPr/>
        </p:nvSpPr>
        <p:spPr bwMode="auto">
          <a:xfrm>
            <a:off x="2293813" y="3856757"/>
            <a:ext cx="1342099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T×</a:t>
            </a:r>
            <a:r>
              <a:rPr lang="zh-CN" altLang="en-US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40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0" name="Group 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68402"/>
              </p:ext>
            </p:extLst>
          </p:nvPr>
        </p:nvGraphicFramePr>
        <p:xfrm>
          <a:off x="6181601" y="3136032"/>
          <a:ext cx="1943100" cy="914400"/>
        </p:xfrm>
        <a:graphic>
          <a:graphicData uri="http://schemas.openxmlformats.org/drawingml/2006/table">
            <a:tbl>
              <a:tblPr/>
              <a:tblGrid>
                <a:gridCol w="49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95432"/>
              </p:ext>
            </p:extLst>
          </p:nvPr>
        </p:nvGraphicFramePr>
        <p:xfrm>
          <a:off x="4548063" y="4831482"/>
          <a:ext cx="979488" cy="609600"/>
        </p:xfrm>
        <a:graphic>
          <a:graphicData uri="http://schemas.openxmlformats.org/drawingml/2006/table">
            <a:tbl>
              <a:tblPr/>
              <a:tblGrid>
                <a:gridCol w="49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" name="Rectangle 204"/>
          <p:cNvSpPr>
            <a:spLocks noChangeArrowheads="1"/>
          </p:cNvSpPr>
          <p:nvPr/>
        </p:nvSpPr>
        <p:spPr bwMode="auto">
          <a:xfrm>
            <a:off x="4402013" y="4301257"/>
            <a:ext cx="1959704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⑶ V＝ ∏</a:t>
            </a:r>
            <a:r>
              <a:rPr lang="zh-CN" altLang="zh-CN" sz="2400" baseline="-25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(W) </a:t>
            </a:r>
          </a:p>
        </p:txBody>
      </p:sp>
      <p:graphicFrame>
        <p:nvGraphicFramePr>
          <p:cNvPr id="73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51575"/>
              </p:ext>
            </p:extLst>
          </p:nvPr>
        </p:nvGraphicFramePr>
        <p:xfrm>
          <a:off x="6688013" y="5610944"/>
          <a:ext cx="979488" cy="914400"/>
        </p:xfrm>
        <a:graphic>
          <a:graphicData uri="http://schemas.openxmlformats.org/drawingml/2006/table">
            <a:tbl>
              <a:tblPr/>
              <a:tblGrid>
                <a:gridCol w="49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Rectangle 221"/>
          <p:cNvSpPr>
            <a:spLocks noChangeArrowheads="1"/>
          </p:cNvSpPr>
          <p:nvPr/>
        </p:nvSpPr>
        <p:spPr bwMode="auto">
          <a:xfrm>
            <a:off x="6541963" y="5080719"/>
            <a:ext cx="1861663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>
                <a:srgbClr val="66FF33"/>
              </a:buClr>
              <a:buSzPct val="85000"/>
              <a:defRPr/>
            </a:pP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⑷ 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R÷S＝T-V</a:t>
            </a:r>
          </a:p>
        </p:txBody>
      </p:sp>
      <p:sp>
        <p:nvSpPr>
          <p:cNvPr id="75" name="Rectangle 222"/>
          <p:cNvSpPr>
            <a:spLocks noChangeArrowheads="1"/>
          </p:cNvSpPr>
          <p:nvPr/>
        </p:nvSpPr>
        <p:spPr bwMode="auto">
          <a:xfrm>
            <a:off x="6829301" y="1119907"/>
            <a:ext cx="1109662" cy="10953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X={A,B}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={C,D}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={E}</a:t>
            </a:r>
            <a:r>
              <a:rPr lang="zh-CN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endParaRPr lang="en-US" altLang="zh-CN" sz="240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19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6688" y="871438"/>
            <a:ext cx="865346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除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(</a:t>
            </a:r>
            <a:r>
              <a:rPr kumimoji="0" lang="zh-CN" altLang="en-US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d</a:t>
            </a:r>
            <a:r>
              <a:rPr kumimoji="0" lang="en-US" altLang="zh-CN" sz="3200" b="0" i="1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ivision </a:t>
            </a:r>
            <a:r>
              <a:rPr kumimoji="0" lang="zh-CN" altLang="zh-CN" sz="3200" b="0" i="0" u="none" strike="noStrike" kern="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)</a:t>
            </a:r>
            <a:endParaRPr kumimoji="0" lang="en-US" altLang="zh-CN" sz="3200" b="0" i="1" u="none" strike="noStrike" kern="0" cap="none" spc="0" normalizeH="0" baseline="0" noProof="0" smtClean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aphicFrame>
        <p:nvGraphicFramePr>
          <p:cNvPr id="5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417451"/>
              </p:ext>
            </p:extLst>
          </p:nvPr>
        </p:nvGraphicFramePr>
        <p:xfrm>
          <a:off x="343792" y="2291481"/>
          <a:ext cx="1401763" cy="1920877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419992" y="1835532"/>
            <a:ext cx="564257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STC</a:t>
            </a:r>
          </a:p>
        </p:txBody>
      </p:sp>
      <p:graphicFrame>
        <p:nvGraphicFramePr>
          <p:cNvPr id="57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6247"/>
              </p:ext>
            </p:extLst>
          </p:nvPr>
        </p:nvGraphicFramePr>
        <p:xfrm>
          <a:off x="343792" y="4825131"/>
          <a:ext cx="2209800" cy="10972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Rectangle 71"/>
          <p:cNvSpPr>
            <a:spLocks noChangeArrowheads="1"/>
          </p:cNvSpPr>
          <p:nvPr/>
        </p:nvSpPr>
        <p:spPr bwMode="auto">
          <a:xfrm>
            <a:off x="477142" y="4394919"/>
            <a:ext cx="376706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SC</a:t>
            </a:r>
          </a:p>
        </p:txBody>
      </p:sp>
      <p:sp>
        <p:nvSpPr>
          <p:cNvPr id="59" name="Rectangle 72"/>
          <p:cNvSpPr>
            <a:spLocks noChangeArrowheads="1"/>
          </p:cNvSpPr>
          <p:nvPr/>
        </p:nvSpPr>
        <p:spPr bwMode="auto">
          <a:xfrm>
            <a:off x="3706117" y="1170706"/>
            <a:ext cx="2121606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⑴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T＝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 </a:t>
            </a:r>
            <a:endParaRPr lang="en-US" altLang="zh-CN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Rectangle 73"/>
          <p:cNvSpPr>
            <a:spLocks noChangeArrowheads="1"/>
          </p:cNvSpPr>
          <p:nvPr/>
        </p:nvSpPr>
        <p:spPr bwMode="auto">
          <a:xfrm>
            <a:off x="5001517" y="3043956"/>
            <a:ext cx="3678508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⑵ W＝(T×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)－S</a:t>
            </a:r>
            <a:r>
              <a:rPr lang="en-US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74"/>
          <p:cNvSpPr>
            <a:spLocks noChangeArrowheads="1"/>
          </p:cNvSpPr>
          <p:nvPr/>
        </p:nvSpPr>
        <p:spPr bwMode="auto">
          <a:xfrm>
            <a:off x="4930080" y="4910856"/>
            <a:ext cx="1959704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⑶ V＝ ∏</a:t>
            </a:r>
            <a:r>
              <a:rPr lang="zh-CN" altLang="zh-CN" sz="2400" baseline="-25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(W) </a:t>
            </a:r>
          </a:p>
        </p:txBody>
      </p:sp>
      <p:sp>
        <p:nvSpPr>
          <p:cNvPr id="62" name="Rectangle 75"/>
          <p:cNvSpPr>
            <a:spLocks noChangeArrowheads="1"/>
          </p:cNvSpPr>
          <p:nvPr/>
        </p:nvSpPr>
        <p:spPr bwMode="auto">
          <a:xfrm>
            <a:off x="6369942" y="5545856"/>
            <a:ext cx="2425921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>
                <a:srgbClr val="66FF33"/>
              </a:buClr>
              <a:buSzPct val="85000"/>
              <a:defRPr/>
            </a:pP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⑷ S</a:t>
            </a:r>
            <a:r>
              <a:rPr lang="en-US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÷S</a:t>
            </a:r>
            <a:r>
              <a:rPr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＝T-V</a:t>
            </a:r>
          </a:p>
        </p:txBody>
      </p:sp>
      <p:sp>
        <p:nvSpPr>
          <p:cNvPr id="63" name="Rectangle 76"/>
          <p:cNvSpPr>
            <a:spLocks noChangeArrowheads="1"/>
          </p:cNvSpPr>
          <p:nvPr/>
        </p:nvSpPr>
        <p:spPr bwMode="auto">
          <a:xfrm>
            <a:off x="6369942" y="1170706"/>
            <a:ext cx="2259013" cy="10953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X={</a:t>
            </a: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姓名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={</a:t>
            </a: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课程号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={</a:t>
            </a: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课程名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</a:t>
            </a:r>
            <a:r>
              <a:rPr lang="zh-CN" altLang="en-US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学分</a:t>
            </a:r>
            <a:r>
              <a:rPr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</a:t>
            </a:r>
            <a:r>
              <a:rPr lang="zh-CN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endParaRPr lang="en-US" altLang="zh-CN" sz="240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aphicFrame>
        <p:nvGraphicFramePr>
          <p:cNvPr id="64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133811"/>
              </p:ext>
            </p:extLst>
          </p:nvPr>
        </p:nvGraphicFramePr>
        <p:xfrm>
          <a:off x="4066480" y="1673944"/>
          <a:ext cx="639762" cy="109728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" name="Group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251693"/>
              </p:ext>
            </p:extLst>
          </p:nvPr>
        </p:nvGraphicFramePr>
        <p:xfrm>
          <a:off x="2985392" y="3782144"/>
          <a:ext cx="1401763" cy="2743200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6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428896"/>
              </p:ext>
            </p:extLst>
          </p:nvPr>
        </p:nvGraphicFramePr>
        <p:xfrm>
          <a:off x="6481067" y="3550369"/>
          <a:ext cx="1401763" cy="1097280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7" name="Group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51704"/>
              </p:ext>
            </p:extLst>
          </p:nvPr>
        </p:nvGraphicFramePr>
        <p:xfrm>
          <a:off x="5290442" y="5347419"/>
          <a:ext cx="639763" cy="822960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78546"/>
              </p:ext>
            </p:extLst>
          </p:nvPr>
        </p:nvGraphicFramePr>
        <p:xfrm>
          <a:off x="7090667" y="5950669"/>
          <a:ext cx="639763" cy="549276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Rectangle 186"/>
          <p:cNvSpPr>
            <a:spLocks noChangeArrowheads="1"/>
          </p:cNvSpPr>
          <p:nvPr/>
        </p:nvSpPr>
        <p:spPr bwMode="auto">
          <a:xfrm>
            <a:off x="1905892" y="1746969"/>
            <a:ext cx="1051955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zh-CN" altLang="zh-CN" sz="24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400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Rectangle 187"/>
          <p:cNvSpPr>
            <a:spLocks noChangeArrowheads="1"/>
          </p:cNvSpPr>
          <p:nvPr/>
        </p:nvSpPr>
        <p:spPr bwMode="auto">
          <a:xfrm>
            <a:off x="2985392" y="3331294"/>
            <a:ext cx="1547283" cy="36933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T×</a:t>
            </a:r>
            <a:r>
              <a:rPr lang="zh-CN" altLang="en-US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∏</a:t>
            </a:r>
            <a:r>
              <a:rPr lang="en-US" altLang="zh-CN" sz="2400" baseline="-250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zh-CN" altLang="zh-CN" sz="24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40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1" name="Group 1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822958"/>
              </p:ext>
            </p:extLst>
          </p:nvPr>
        </p:nvGraphicFramePr>
        <p:xfrm>
          <a:off x="2048767" y="2251794"/>
          <a:ext cx="762000" cy="109728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6081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关系代数实例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3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662470"/>
              </p:ext>
            </p:extLst>
          </p:nvPr>
        </p:nvGraphicFramePr>
        <p:xfrm>
          <a:off x="4499174" y="905074"/>
          <a:ext cx="4267200" cy="194786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8003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50"/>
          <p:cNvSpPr>
            <a:spLocks noChangeArrowheads="1"/>
          </p:cNvSpPr>
          <p:nvPr/>
        </p:nvSpPr>
        <p:spPr bwMode="auto">
          <a:xfrm>
            <a:off x="3995936" y="905074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15" name="Rectangle 51"/>
          <p:cNvSpPr>
            <a:spLocks noChangeArrowheads="1"/>
          </p:cNvSpPr>
          <p:nvPr/>
        </p:nvSpPr>
        <p:spPr bwMode="auto">
          <a:xfrm>
            <a:off x="709613" y="1496198"/>
            <a:ext cx="7704137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查询所有男同学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：</a:t>
            </a:r>
          </a:p>
        </p:txBody>
      </p:sp>
      <p:sp>
        <p:nvSpPr>
          <p:cNvPr id="16" name="Rectangle 52"/>
          <p:cNvSpPr>
            <a:spLocks noChangeArrowheads="1"/>
          </p:cNvSpPr>
          <p:nvPr/>
        </p:nvSpPr>
        <p:spPr bwMode="auto">
          <a:xfrm>
            <a:off x="709613" y="3355975"/>
            <a:ext cx="7704137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查询20岁以下的女同学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	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：</a:t>
            </a:r>
          </a:p>
        </p:txBody>
      </p:sp>
      <p:sp>
        <p:nvSpPr>
          <p:cNvPr id="17" name="Rectangle 53"/>
          <p:cNvSpPr>
            <a:spLocks noChangeArrowheads="1"/>
          </p:cNvSpPr>
          <p:nvPr/>
        </p:nvSpPr>
        <p:spPr bwMode="auto">
          <a:xfrm>
            <a:off x="709613" y="5033963"/>
            <a:ext cx="7704137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IS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系同学的姓名和性别：</a:t>
            </a:r>
          </a:p>
        </p:txBody>
      </p:sp>
      <p:sp>
        <p:nvSpPr>
          <p:cNvPr id="18" name="Rectangle 54"/>
          <p:cNvSpPr>
            <a:spLocks noChangeArrowheads="1"/>
          </p:cNvSpPr>
          <p:nvPr/>
        </p:nvSpPr>
        <p:spPr bwMode="auto">
          <a:xfrm>
            <a:off x="696913" y="2072461"/>
            <a:ext cx="3082925" cy="4924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σ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性别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男'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ST)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19" name="Rectangle 55"/>
          <p:cNvSpPr>
            <a:spLocks noChangeArrowheads="1"/>
          </p:cNvSpPr>
          <p:nvPr/>
        </p:nvSpPr>
        <p:spPr bwMode="auto">
          <a:xfrm>
            <a:off x="709613" y="3916363"/>
            <a:ext cx="7704137" cy="4924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σ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性别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女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'∧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&lt;20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(ST)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A886E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	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0" name="Rectangle 56"/>
          <p:cNvSpPr>
            <a:spLocks noChangeArrowheads="1"/>
          </p:cNvSpPr>
          <p:nvPr/>
        </p:nvSpPr>
        <p:spPr bwMode="auto">
          <a:xfrm>
            <a:off x="632945" y="5631467"/>
            <a:ext cx="7704137" cy="4924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性别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(σ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='IS'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(ST))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1" name="AutoShape 57"/>
          <p:cNvSpPr>
            <a:spLocks noChangeArrowheads="1"/>
          </p:cNvSpPr>
          <p:nvPr/>
        </p:nvSpPr>
        <p:spPr bwMode="auto">
          <a:xfrm>
            <a:off x="6012160" y="4149292"/>
            <a:ext cx="2520950" cy="1295400"/>
          </a:xfrm>
          <a:prstGeom prst="star24">
            <a:avLst>
              <a:gd name="adj" fmla="val 46644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简单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的单表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查询</a:t>
            </a: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06"/>
          <p:cNvSpPr>
            <a:spLocks noChangeArrowheads="1"/>
          </p:cNvSpPr>
          <p:nvPr/>
        </p:nvSpPr>
        <p:spPr bwMode="auto">
          <a:xfrm>
            <a:off x="827088" y="5805485"/>
            <a:ext cx="7051610" cy="55399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(Π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学号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(σ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课号</a:t>
            </a:r>
            <a:r>
              <a:rPr kumimoji="0" lang="en-US" altLang="zh-CN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=‘2’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(SC))   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 (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Π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学号</a:t>
            </a:r>
            <a:r>
              <a:rPr kumimoji="0" lang="en-US" altLang="zh-CN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,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姓名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(ST))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关系代数实例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770924"/>
              </p:ext>
            </p:extLst>
          </p:nvPr>
        </p:nvGraphicFramePr>
        <p:xfrm>
          <a:off x="827088" y="1052041"/>
          <a:ext cx="3505200" cy="1524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ectangle 50"/>
          <p:cNvSpPr>
            <a:spLocks noChangeArrowheads="1"/>
          </p:cNvSpPr>
          <p:nvPr/>
        </p:nvSpPr>
        <p:spPr bwMode="auto">
          <a:xfrm>
            <a:off x="323850" y="1125066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19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528683"/>
              </p:ext>
            </p:extLst>
          </p:nvPr>
        </p:nvGraphicFramePr>
        <p:xfrm>
          <a:off x="5867400" y="1052959"/>
          <a:ext cx="2305050" cy="223202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002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002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Rectangle 97"/>
          <p:cNvSpPr>
            <a:spLocks noChangeArrowheads="1"/>
          </p:cNvSpPr>
          <p:nvPr/>
        </p:nvSpPr>
        <p:spPr bwMode="auto">
          <a:xfrm>
            <a:off x="5292725" y="1052959"/>
            <a:ext cx="344646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SC</a:t>
            </a:r>
          </a:p>
        </p:txBody>
      </p:sp>
      <p:sp>
        <p:nvSpPr>
          <p:cNvPr id="21" name="Rectangle 98"/>
          <p:cNvSpPr>
            <a:spLocks noChangeArrowheads="1"/>
          </p:cNvSpPr>
          <p:nvPr/>
        </p:nvSpPr>
        <p:spPr bwMode="auto">
          <a:xfrm>
            <a:off x="827088" y="3506788"/>
            <a:ext cx="7924800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查询课程号为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"2"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的学生的学号和姓名：</a:t>
            </a:r>
          </a:p>
        </p:txBody>
      </p:sp>
      <p:sp>
        <p:nvSpPr>
          <p:cNvPr id="22" name="AutoShape 99"/>
          <p:cNvSpPr>
            <a:spLocks noChangeArrowheads="1"/>
          </p:cNvSpPr>
          <p:nvPr/>
        </p:nvSpPr>
        <p:spPr bwMode="auto">
          <a:xfrm>
            <a:off x="6263403" y="4260066"/>
            <a:ext cx="2520950" cy="1223963"/>
          </a:xfrm>
          <a:prstGeom prst="star24">
            <a:avLst>
              <a:gd name="adj" fmla="val 46644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三种方法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效率不同</a:t>
            </a:r>
          </a:p>
        </p:txBody>
      </p:sp>
      <p:sp>
        <p:nvSpPr>
          <p:cNvPr id="24" name="Rectangle 101"/>
          <p:cNvSpPr>
            <a:spLocks noChangeArrowheads="1"/>
          </p:cNvSpPr>
          <p:nvPr/>
        </p:nvSpPr>
        <p:spPr bwMode="auto">
          <a:xfrm>
            <a:off x="827088" y="5013323"/>
            <a:ext cx="5410135" cy="55399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Π</a:t>
            </a:r>
            <a:r>
              <a:rPr kumimoji="0" lang="zh-CN" altLang="en-US" sz="3600" b="0" i="0" u="none" strike="noStrike" kern="0" cap="none" spc="0" normalizeH="0" baseline="-2500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学号</a:t>
            </a:r>
            <a:r>
              <a:rPr kumimoji="0" lang="en-US" altLang="zh-CN" sz="3600" b="0" i="0" u="none" strike="noStrike" kern="0" cap="none" spc="0" normalizeH="0" baseline="-2500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,</a:t>
            </a:r>
            <a:r>
              <a:rPr kumimoji="0" lang="zh-CN" altLang="en-US" sz="3600" b="0" i="0" u="none" strike="noStrike" kern="0" cap="none" spc="0" normalizeH="0" baseline="-2500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姓名</a:t>
            </a: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(σ</a:t>
            </a:r>
            <a:r>
              <a:rPr kumimoji="0" lang="zh-CN" altLang="en-US" sz="3600" b="0" i="0" u="none" strike="noStrike" kern="0" cap="none" spc="0" normalizeH="0" baseline="-2500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课号</a:t>
            </a:r>
            <a:r>
              <a:rPr kumimoji="0" lang="en-US" altLang="zh-CN" sz="3600" b="0" i="0" u="none" strike="noStrike" kern="0" cap="none" spc="0" normalizeH="0" baseline="-2500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=‘2’</a:t>
            </a: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(SC</a:t>
            </a: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）   </a:t>
            </a: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ST)</a:t>
            </a: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102"/>
          <p:cNvSpPr>
            <a:spLocks noChangeArrowheads="1"/>
          </p:cNvSpPr>
          <p:nvPr/>
        </p:nvSpPr>
        <p:spPr bwMode="auto">
          <a:xfrm>
            <a:off x="827088" y="4221161"/>
            <a:ext cx="5333191" cy="55399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Π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学号</a:t>
            </a:r>
            <a:r>
              <a:rPr kumimoji="0" lang="en-US" altLang="zh-CN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,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姓名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(σ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课号</a:t>
            </a:r>
            <a:r>
              <a:rPr kumimoji="0" lang="en-US" altLang="zh-CN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=‘2’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(SC 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   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ST))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Freeform 103"/>
          <p:cNvSpPr>
            <a:spLocks/>
          </p:cNvSpPr>
          <p:nvPr/>
        </p:nvSpPr>
        <p:spPr bwMode="auto">
          <a:xfrm>
            <a:off x="4859139" y="4456111"/>
            <a:ext cx="288925" cy="153987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266" y="174"/>
              </a:cxn>
              <a:cxn ang="0">
                <a:pos x="266" y="0"/>
              </a:cxn>
              <a:cxn ang="0">
                <a:pos x="0" y="168"/>
              </a:cxn>
              <a:cxn ang="0">
                <a:pos x="0" y="8"/>
              </a:cxn>
            </a:cxnLst>
            <a:rect l="0" t="0" r="r" b="b"/>
            <a:pathLst>
              <a:path w="266" h="174">
                <a:moveTo>
                  <a:pt x="0" y="8"/>
                </a:moveTo>
                <a:lnTo>
                  <a:pt x="266" y="174"/>
                </a:lnTo>
                <a:lnTo>
                  <a:pt x="266" y="0"/>
                </a:lnTo>
                <a:lnTo>
                  <a:pt x="0" y="168"/>
                </a:lnTo>
                <a:lnTo>
                  <a:pt x="0" y="8"/>
                </a:lnTo>
                <a:close/>
              </a:path>
            </a:pathLst>
          </a:custGeom>
          <a:noFill/>
          <a:ln w="19050" cap="sq" cmpd="sng">
            <a:solidFill>
              <a:srgbClr val="99FF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Freeform 104"/>
          <p:cNvSpPr>
            <a:spLocks/>
          </p:cNvSpPr>
          <p:nvPr/>
        </p:nvSpPr>
        <p:spPr bwMode="auto">
          <a:xfrm>
            <a:off x="4644008" y="6083325"/>
            <a:ext cx="288925" cy="153987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266" y="174"/>
              </a:cxn>
              <a:cxn ang="0">
                <a:pos x="266" y="0"/>
              </a:cxn>
              <a:cxn ang="0">
                <a:pos x="0" y="168"/>
              </a:cxn>
              <a:cxn ang="0">
                <a:pos x="0" y="8"/>
              </a:cxn>
            </a:cxnLst>
            <a:rect l="0" t="0" r="r" b="b"/>
            <a:pathLst>
              <a:path w="266" h="174">
                <a:moveTo>
                  <a:pt x="0" y="8"/>
                </a:moveTo>
                <a:lnTo>
                  <a:pt x="266" y="174"/>
                </a:lnTo>
                <a:lnTo>
                  <a:pt x="266" y="0"/>
                </a:lnTo>
                <a:lnTo>
                  <a:pt x="0" y="168"/>
                </a:lnTo>
                <a:lnTo>
                  <a:pt x="0" y="8"/>
                </a:lnTo>
                <a:close/>
              </a:path>
            </a:pathLst>
          </a:custGeom>
          <a:noFill/>
          <a:ln w="19050" cap="sq" cmpd="sng">
            <a:solidFill>
              <a:srgbClr val="99FF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Freeform 105"/>
          <p:cNvSpPr>
            <a:spLocks/>
          </p:cNvSpPr>
          <p:nvPr/>
        </p:nvSpPr>
        <p:spPr bwMode="auto">
          <a:xfrm>
            <a:off x="5075163" y="5229223"/>
            <a:ext cx="288925" cy="153987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266" y="174"/>
              </a:cxn>
              <a:cxn ang="0">
                <a:pos x="266" y="0"/>
              </a:cxn>
              <a:cxn ang="0">
                <a:pos x="0" y="168"/>
              </a:cxn>
              <a:cxn ang="0">
                <a:pos x="0" y="8"/>
              </a:cxn>
            </a:cxnLst>
            <a:rect l="0" t="0" r="r" b="b"/>
            <a:pathLst>
              <a:path w="266" h="174">
                <a:moveTo>
                  <a:pt x="0" y="8"/>
                </a:moveTo>
                <a:lnTo>
                  <a:pt x="266" y="174"/>
                </a:lnTo>
                <a:lnTo>
                  <a:pt x="266" y="0"/>
                </a:lnTo>
                <a:lnTo>
                  <a:pt x="0" y="168"/>
                </a:lnTo>
                <a:lnTo>
                  <a:pt x="0" y="8"/>
                </a:lnTo>
                <a:close/>
              </a:path>
            </a:pathLst>
          </a:custGeom>
          <a:noFill/>
          <a:ln w="19050" cap="sq" cmpd="sng">
            <a:solidFill>
              <a:srgbClr val="99FF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关系代数实例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3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889695"/>
              </p:ext>
            </p:extLst>
          </p:nvPr>
        </p:nvGraphicFramePr>
        <p:xfrm>
          <a:off x="827088" y="1052736"/>
          <a:ext cx="3505200" cy="1524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Rectangle 50"/>
          <p:cNvSpPr>
            <a:spLocks noChangeArrowheads="1"/>
          </p:cNvSpPr>
          <p:nvPr/>
        </p:nvSpPr>
        <p:spPr bwMode="auto">
          <a:xfrm>
            <a:off x="323850" y="1125761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41" name="Rectangle 51"/>
          <p:cNvSpPr>
            <a:spLocks noChangeArrowheads="1"/>
          </p:cNvSpPr>
          <p:nvPr/>
        </p:nvSpPr>
        <p:spPr bwMode="auto">
          <a:xfrm>
            <a:off x="827088" y="3578225"/>
            <a:ext cx="5761037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查询不学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号课的同学的姓名：</a:t>
            </a:r>
          </a:p>
        </p:txBody>
      </p:sp>
      <p:graphicFrame>
        <p:nvGraphicFramePr>
          <p:cNvPr id="4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016279"/>
              </p:ext>
            </p:extLst>
          </p:nvPr>
        </p:nvGraphicFramePr>
        <p:xfrm>
          <a:off x="5867400" y="1082700"/>
          <a:ext cx="2305050" cy="1828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Rectangle 90"/>
          <p:cNvSpPr>
            <a:spLocks noChangeArrowheads="1"/>
          </p:cNvSpPr>
          <p:nvPr/>
        </p:nvSpPr>
        <p:spPr bwMode="auto">
          <a:xfrm>
            <a:off x="5292725" y="1082700"/>
            <a:ext cx="344646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SC</a:t>
            </a:r>
          </a:p>
        </p:txBody>
      </p:sp>
      <p:sp>
        <p:nvSpPr>
          <p:cNvPr id="44" name="Rectangle 91"/>
          <p:cNvSpPr>
            <a:spLocks noChangeArrowheads="1"/>
          </p:cNvSpPr>
          <p:nvPr/>
        </p:nvSpPr>
        <p:spPr bwMode="auto">
          <a:xfrm>
            <a:off x="827088" y="4154488"/>
            <a:ext cx="6625232" cy="55399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Π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姓名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(ST) - Π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姓名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(σ</a:t>
            </a:r>
            <a:r>
              <a:rPr kumimoji="0" lang="zh-CN" altLang="en-US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课号</a:t>
            </a:r>
            <a:r>
              <a:rPr kumimoji="0" lang="en-US" altLang="zh-CN" sz="36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=‘1’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(SC 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ST))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Freeform 92"/>
          <p:cNvSpPr>
            <a:spLocks/>
          </p:cNvSpPr>
          <p:nvPr/>
        </p:nvSpPr>
        <p:spPr bwMode="auto">
          <a:xfrm>
            <a:off x="6258164" y="4382171"/>
            <a:ext cx="288925" cy="153987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266" y="174"/>
              </a:cxn>
              <a:cxn ang="0">
                <a:pos x="266" y="0"/>
              </a:cxn>
              <a:cxn ang="0">
                <a:pos x="0" y="168"/>
              </a:cxn>
              <a:cxn ang="0">
                <a:pos x="0" y="8"/>
              </a:cxn>
            </a:cxnLst>
            <a:rect l="0" t="0" r="r" b="b"/>
            <a:pathLst>
              <a:path w="266" h="174">
                <a:moveTo>
                  <a:pt x="0" y="8"/>
                </a:moveTo>
                <a:lnTo>
                  <a:pt x="266" y="174"/>
                </a:lnTo>
                <a:lnTo>
                  <a:pt x="266" y="0"/>
                </a:lnTo>
                <a:lnTo>
                  <a:pt x="0" y="168"/>
                </a:lnTo>
                <a:lnTo>
                  <a:pt x="0" y="8"/>
                </a:lnTo>
                <a:close/>
              </a:path>
            </a:pathLst>
          </a:custGeom>
          <a:noFill/>
          <a:ln w="19050" cap="sq" cmpd="sng">
            <a:solidFill>
              <a:srgbClr val="99FF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Rectangle 93"/>
          <p:cNvSpPr>
            <a:spLocks noChangeArrowheads="1"/>
          </p:cNvSpPr>
          <p:nvPr/>
        </p:nvSpPr>
        <p:spPr bwMode="auto">
          <a:xfrm>
            <a:off x="827088" y="5022850"/>
            <a:ext cx="5761037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想一想下面这个方法正确吗？</a:t>
            </a:r>
          </a:p>
        </p:txBody>
      </p:sp>
      <p:grpSp>
        <p:nvGrpSpPr>
          <p:cNvPr id="47" name="Group 94"/>
          <p:cNvGrpSpPr>
            <a:grpSpLocks/>
          </p:cNvGrpSpPr>
          <p:nvPr/>
        </p:nvGrpSpPr>
        <p:grpSpPr bwMode="auto">
          <a:xfrm>
            <a:off x="827088" y="5602279"/>
            <a:ext cx="4521201" cy="554036"/>
            <a:chOff x="521" y="3612"/>
            <a:chExt cx="2848" cy="349"/>
          </a:xfrm>
        </p:grpSpPr>
        <p:sp>
          <p:nvSpPr>
            <p:cNvPr id="48" name="Rectangle 95"/>
            <p:cNvSpPr>
              <a:spLocks noChangeArrowheads="1"/>
            </p:cNvSpPr>
            <p:nvPr/>
          </p:nvSpPr>
          <p:spPr bwMode="auto">
            <a:xfrm>
              <a:off x="521" y="3612"/>
              <a:ext cx="2848" cy="34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vl="0">
                <a:spcAft>
                  <a:spcPct val="0"/>
                </a:spcAft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Π</a:t>
              </a:r>
              <a:r>
                <a:rPr kumimoji="0" lang="zh-CN" altLang="en-US" sz="3600" b="0" i="0" u="none" strike="noStrike" kern="0" cap="none" spc="0" normalizeH="0" baseline="-25000" noProof="0" dirty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姓名</a:t>
              </a: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(σ</a:t>
              </a:r>
              <a:r>
                <a:rPr kumimoji="0" lang="zh-CN" altLang="en-US" sz="3600" b="0" i="0" u="none" strike="noStrike" kern="0" cap="none" spc="0" normalizeH="0" baseline="-25000" noProof="0" dirty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课号</a:t>
              </a:r>
              <a:r>
                <a:rPr kumimoji="0" lang="zh-CN" altLang="en-US" sz="36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≠</a:t>
              </a:r>
              <a:r>
                <a:rPr lang="en-US" altLang="zh-CN" sz="3600" kern="0" baseline="-25000" dirty="0"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‘1</a:t>
              </a:r>
              <a:r>
                <a:rPr lang="en-US" altLang="zh-CN" sz="3600" kern="0" baseline="-25000" dirty="0" smtClean="0"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kumimoji="0" lang="en-US" altLang="zh-CN" sz="3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SC   </a:t>
              </a:r>
              <a:r>
                <a:rPr kumimoji="0" lang="en-US" altLang="zh-CN" sz="3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 ST</a:t>
              </a: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cs typeface="Times New Roman" pitchFamily="18" charset="0"/>
                </a:rPr>
                <a:t>))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 96"/>
            <p:cNvSpPr>
              <a:spLocks/>
            </p:cNvSpPr>
            <p:nvPr/>
          </p:nvSpPr>
          <p:spPr bwMode="auto">
            <a:xfrm>
              <a:off x="2571" y="3743"/>
              <a:ext cx="182" cy="97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66" y="174"/>
                </a:cxn>
                <a:cxn ang="0">
                  <a:pos x="266" y="0"/>
                </a:cxn>
                <a:cxn ang="0">
                  <a:pos x="0" y="168"/>
                </a:cxn>
                <a:cxn ang="0">
                  <a:pos x="0" y="8"/>
                </a:cxn>
              </a:cxnLst>
              <a:rect l="0" t="0" r="r" b="b"/>
              <a:pathLst>
                <a:path w="266" h="174">
                  <a:moveTo>
                    <a:pt x="0" y="8"/>
                  </a:moveTo>
                  <a:lnTo>
                    <a:pt x="266" y="174"/>
                  </a:lnTo>
                  <a:lnTo>
                    <a:pt x="266" y="0"/>
                  </a:lnTo>
                  <a:lnTo>
                    <a:pt x="0" y="168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19050" cap="sq" cmpd="sng">
              <a:solidFill>
                <a:srgbClr val="99FF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0" name="AutoShape 97"/>
          <p:cNvSpPr>
            <a:spLocks noChangeArrowheads="1"/>
          </p:cNvSpPr>
          <p:nvPr/>
        </p:nvSpPr>
        <p:spPr bwMode="auto">
          <a:xfrm>
            <a:off x="5508625" y="4941888"/>
            <a:ext cx="338455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 anchorCtr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错，实际查询的是有课（不包含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号课）学生的姓名。</a:t>
            </a:r>
          </a:p>
        </p:txBody>
      </p:sp>
    </p:spTree>
    <p:extLst>
      <p:ext uri="{BB962C8B-B14F-4D97-AF65-F5344CB8AC3E}">
        <p14:creationId xmlns:p14="http://schemas.microsoft.com/office/powerpoint/2010/main" val="81071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关系代数实例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55650" y="4292947"/>
            <a:ext cx="6049963" cy="18774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查询选修了全部课程的学生学号：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Π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学号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,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课号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(SC)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  <a:sym typeface="Symbol" pitchFamily="18" charset="2"/>
              </a:rPr>
              <a:t>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Π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课号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(C)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Π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学号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,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课号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(SC)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  <a:sym typeface="Symbol" pitchFamily="18" charset="2"/>
              </a:rPr>
              <a:t>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C</a:t>
            </a:r>
          </a:p>
        </p:txBody>
      </p:sp>
      <p:graphicFrame>
        <p:nvGraphicFramePr>
          <p:cNvPr id="2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059285"/>
              </p:ext>
            </p:extLst>
          </p:nvPr>
        </p:nvGraphicFramePr>
        <p:xfrm>
          <a:off x="3492500" y="1270347"/>
          <a:ext cx="1871663" cy="24384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操作系统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数据处理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PASCAL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Rectangle 42"/>
          <p:cNvSpPr>
            <a:spLocks noChangeArrowheads="1"/>
          </p:cNvSpPr>
          <p:nvPr/>
        </p:nvSpPr>
        <p:spPr bwMode="auto">
          <a:xfrm>
            <a:off x="3203575" y="1268760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25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001597"/>
              </p:ext>
            </p:extLst>
          </p:nvPr>
        </p:nvGraphicFramePr>
        <p:xfrm>
          <a:off x="781050" y="1268760"/>
          <a:ext cx="2087563" cy="2305050"/>
        </p:xfrm>
        <a:graphic>
          <a:graphicData uri="http://schemas.openxmlformats.org/drawingml/2006/table">
            <a:tbl>
              <a:tblPr/>
              <a:tblGrid>
                <a:gridCol w="79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Rectangle 85"/>
          <p:cNvSpPr>
            <a:spLocks noChangeArrowheads="1"/>
          </p:cNvSpPr>
          <p:nvPr/>
        </p:nvSpPr>
        <p:spPr bwMode="auto">
          <a:xfrm>
            <a:off x="342900" y="1284635"/>
            <a:ext cx="344646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SC</a:t>
            </a:r>
          </a:p>
        </p:txBody>
      </p:sp>
      <p:sp>
        <p:nvSpPr>
          <p:cNvPr id="27" name="AutoShape 86"/>
          <p:cNvSpPr>
            <a:spLocks noChangeArrowheads="1"/>
          </p:cNvSpPr>
          <p:nvPr/>
        </p:nvSpPr>
        <p:spPr bwMode="auto">
          <a:xfrm>
            <a:off x="5861050" y="1405285"/>
            <a:ext cx="2779713" cy="2136775"/>
          </a:xfrm>
          <a:prstGeom prst="roundRect">
            <a:avLst>
              <a:gd name="adj" fmla="val 6426"/>
            </a:avLst>
          </a:prstGeom>
          <a:gradFill rotWithShape="1">
            <a:gsLst>
              <a:gs pos="0">
                <a:srgbClr val="003399"/>
              </a:gs>
              <a:gs pos="100000">
                <a:srgbClr val="003399">
                  <a:gamma/>
                  <a:shade val="78824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cap="sq">
            <a:solidFill>
              <a:srgbClr val="FFFF00"/>
            </a:solidFill>
            <a:round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提示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表达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包含另一张的全部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逻辑可以用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除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运算。</a:t>
            </a:r>
          </a:p>
        </p:txBody>
      </p:sp>
      <p:sp>
        <p:nvSpPr>
          <p:cNvPr id="28" name="AutoShape 87"/>
          <p:cNvSpPr>
            <a:spLocks noChangeArrowheads="1"/>
          </p:cNvSpPr>
          <p:nvPr/>
        </p:nvSpPr>
        <p:spPr bwMode="auto">
          <a:xfrm>
            <a:off x="6011863" y="4724747"/>
            <a:ext cx="2520950" cy="1223963"/>
          </a:xfrm>
          <a:prstGeom prst="star24">
            <a:avLst>
              <a:gd name="adj" fmla="val 46644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两种方法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效率不同</a:t>
            </a:r>
          </a:p>
        </p:txBody>
      </p:sp>
    </p:spTree>
    <p:extLst>
      <p:ext uri="{BB962C8B-B14F-4D97-AF65-F5344CB8AC3E}">
        <p14:creationId xmlns:p14="http://schemas.microsoft.com/office/powerpoint/2010/main" val="95758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关系代数实例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76432"/>
              </p:ext>
            </p:extLst>
          </p:nvPr>
        </p:nvGraphicFramePr>
        <p:xfrm>
          <a:off x="1259260" y="1268760"/>
          <a:ext cx="4103688" cy="1947862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8003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50"/>
          <p:cNvSpPr>
            <a:spLocks noChangeArrowheads="1"/>
          </p:cNvSpPr>
          <p:nvPr/>
        </p:nvSpPr>
        <p:spPr bwMode="auto">
          <a:xfrm>
            <a:off x="611560" y="1341785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0" name="Rectangle 51"/>
          <p:cNvSpPr>
            <a:spLocks noChangeArrowheads="1"/>
          </p:cNvSpPr>
          <p:nvPr/>
        </p:nvSpPr>
        <p:spPr bwMode="auto">
          <a:xfrm>
            <a:off x="682998" y="3511897"/>
            <a:ext cx="7632700" cy="8540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MA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系增加一名叫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赵六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的男同学，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20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岁，学号为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99078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：</a:t>
            </a:r>
          </a:p>
        </p:txBody>
      </p:sp>
      <p:sp>
        <p:nvSpPr>
          <p:cNvPr id="21" name="Rectangle 52"/>
          <p:cNvSpPr>
            <a:spLocks noChangeArrowheads="1"/>
          </p:cNvSpPr>
          <p:nvPr/>
        </p:nvSpPr>
        <p:spPr bwMode="auto">
          <a:xfrm>
            <a:off x="730623" y="5129560"/>
            <a:ext cx="7704137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删除所有的男同学：</a:t>
            </a:r>
          </a:p>
        </p:txBody>
      </p:sp>
      <p:sp>
        <p:nvSpPr>
          <p:cNvPr id="29" name="Rectangle 53"/>
          <p:cNvSpPr>
            <a:spLocks noChangeArrowheads="1"/>
          </p:cNvSpPr>
          <p:nvPr/>
        </p:nvSpPr>
        <p:spPr bwMode="auto">
          <a:xfrm>
            <a:off x="754435" y="4437410"/>
            <a:ext cx="7704138" cy="4924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 ∪ {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‘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99078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’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‘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赵六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’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‘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男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’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,20,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‘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MA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’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}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0" name="AutoShape 54"/>
          <p:cNvSpPr>
            <a:spLocks noChangeArrowheads="1"/>
          </p:cNvSpPr>
          <p:nvPr/>
        </p:nvSpPr>
        <p:spPr bwMode="auto">
          <a:xfrm>
            <a:off x="5940798" y="1484660"/>
            <a:ext cx="2449512" cy="1198562"/>
          </a:xfrm>
          <a:prstGeom prst="star24">
            <a:avLst>
              <a:gd name="adj" fmla="val 46644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简单的 更新操作</a:t>
            </a:r>
          </a:p>
        </p:txBody>
      </p:sp>
      <p:sp>
        <p:nvSpPr>
          <p:cNvPr id="31" name="Rectangle 55"/>
          <p:cNvSpPr>
            <a:spLocks noChangeArrowheads="1"/>
          </p:cNvSpPr>
          <p:nvPr/>
        </p:nvSpPr>
        <p:spPr bwMode="auto">
          <a:xfrm>
            <a:off x="781423" y="5547072"/>
            <a:ext cx="7704137" cy="4924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－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σ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性别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男'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ST)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2" name="AutoShape 56"/>
          <p:cNvSpPr>
            <a:spLocks noChangeArrowheads="1"/>
          </p:cNvSpPr>
          <p:nvPr/>
        </p:nvSpPr>
        <p:spPr bwMode="auto">
          <a:xfrm>
            <a:off x="4626348" y="5445472"/>
            <a:ext cx="3762375" cy="473075"/>
          </a:xfrm>
          <a:prstGeom prst="roundRect">
            <a:avLst>
              <a:gd name="adj" fmla="val 6532"/>
            </a:avLst>
          </a:prstGeom>
          <a:gradFill rotWithShape="1">
            <a:gsLst>
              <a:gs pos="0">
                <a:srgbClr val="003399"/>
              </a:gs>
              <a:gs pos="100000">
                <a:srgbClr val="003399">
                  <a:gamma/>
                  <a:shade val="78824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cap="sq" algn="ctr">
            <a:solidFill>
              <a:srgbClr val="FFFF00"/>
            </a:solidFill>
            <a:round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如何实现修改操作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3610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关系代数实例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69545"/>
              </p:ext>
            </p:extLst>
          </p:nvPr>
        </p:nvGraphicFramePr>
        <p:xfrm>
          <a:off x="1189038" y="1196752"/>
          <a:ext cx="4103687" cy="1947862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8003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50"/>
          <p:cNvSpPr>
            <a:spLocks noChangeArrowheads="1"/>
          </p:cNvSpPr>
          <p:nvPr/>
        </p:nvSpPr>
        <p:spPr bwMode="auto">
          <a:xfrm>
            <a:off x="612775" y="1196752"/>
            <a:ext cx="327025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12" name="Rectangle 51"/>
          <p:cNvSpPr>
            <a:spLocks noChangeArrowheads="1"/>
          </p:cNvSpPr>
          <p:nvPr/>
        </p:nvSpPr>
        <p:spPr bwMode="auto">
          <a:xfrm>
            <a:off x="827088" y="3717032"/>
            <a:ext cx="7632700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IS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系的学生的学号和姓名：</a:t>
            </a:r>
          </a:p>
        </p:txBody>
      </p:sp>
      <p:sp>
        <p:nvSpPr>
          <p:cNvPr id="13" name="Rectangle 52"/>
          <p:cNvSpPr>
            <a:spLocks noChangeArrowheads="1"/>
          </p:cNvSpPr>
          <p:nvPr/>
        </p:nvSpPr>
        <p:spPr bwMode="auto">
          <a:xfrm>
            <a:off x="827088" y="5157192"/>
            <a:ext cx="7704137" cy="124649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如果写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成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σ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='IS'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(∏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(ST))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则是错误的，因为投影的结果里不存在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这个属性。</a:t>
            </a:r>
          </a:p>
        </p:txBody>
      </p:sp>
      <p:sp>
        <p:nvSpPr>
          <p:cNvPr id="14" name="AutoShape 53"/>
          <p:cNvSpPr>
            <a:spLocks noChangeArrowheads="1"/>
          </p:cNvSpPr>
          <p:nvPr/>
        </p:nvSpPr>
        <p:spPr bwMode="auto">
          <a:xfrm>
            <a:off x="5724525" y="1341215"/>
            <a:ext cx="2951163" cy="1296987"/>
          </a:xfrm>
          <a:prstGeom prst="star24">
            <a:avLst>
              <a:gd name="adj" fmla="val 46644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</a:rPr>
              <a:t>带有一点过程化的味道</a:t>
            </a:r>
          </a:p>
        </p:txBody>
      </p:sp>
      <p:sp>
        <p:nvSpPr>
          <p:cNvPr id="15" name="Rectangle 54"/>
          <p:cNvSpPr>
            <a:spLocks noChangeArrowheads="1"/>
          </p:cNvSpPr>
          <p:nvPr/>
        </p:nvSpPr>
        <p:spPr bwMode="auto">
          <a:xfrm>
            <a:off x="827088" y="4231382"/>
            <a:ext cx="3385542" cy="49244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(σ</a:t>
            </a:r>
            <a:r>
              <a:rPr kumimoji="0" lang="zh-CN" altLang="en-US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='IS'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(ST))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1594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</TotalTime>
  <Words>2781</Words>
  <Application>Microsoft Office PowerPoint</Application>
  <PresentationFormat>全屏显示(4:3)</PresentationFormat>
  <Paragraphs>1131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 Unicode MS</vt:lpstr>
      <vt:lpstr>黑体</vt:lpstr>
      <vt:lpstr>华文楷体</vt:lpstr>
      <vt:lpstr>楷体_GB2312</vt:lpstr>
      <vt:lpstr>隶书</vt:lpstr>
      <vt:lpstr>宋体</vt:lpstr>
      <vt:lpstr>微软雅黑</vt:lpstr>
      <vt:lpstr>Arial</vt:lpstr>
      <vt:lpstr>Calibri</vt:lpstr>
      <vt:lpstr>Franklin Gothic Book</vt:lpstr>
      <vt:lpstr>Garamond</vt:lpstr>
      <vt:lpstr>Symbol</vt:lpstr>
      <vt:lpstr>Times New Roman</vt:lpstr>
      <vt:lpstr>Wingdings</vt:lpstr>
      <vt:lpstr>Office 主题​​</vt:lpstr>
      <vt:lpstr>Equation</vt:lpstr>
      <vt:lpstr>PowerPoint 演示文稿</vt:lpstr>
      <vt:lpstr>关系模型的基本概念</vt:lpstr>
      <vt:lpstr>关系模型的基本概念</vt:lpstr>
      <vt:lpstr>关系模型的基本概念</vt:lpstr>
      <vt:lpstr>关系模型的基本概念</vt:lpstr>
      <vt:lpstr>关系模型的基本概念</vt:lpstr>
      <vt:lpstr>关系模型的基本概念</vt:lpstr>
      <vt:lpstr>关系模型的基本概念</vt:lpstr>
      <vt:lpstr>关系模型的基本概念</vt:lpstr>
      <vt:lpstr>关系模型的基本概念</vt:lpstr>
      <vt:lpstr>关系模型的基本概念</vt:lpstr>
      <vt:lpstr>关系模型的完整性约束</vt:lpstr>
      <vt:lpstr>关系操作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</vt:lpstr>
      <vt:lpstr>关系代数实例</vt:lpstr>
      <vt:lpstr>关系代数实例</vt:lpstr>
      <vt:lpstr>关系代数实例</vt:lpstr>
      <vt:lpstr>关系代数实例</vt:lpstr>
      <vt:lpstr>关系代数实例</vt:lpstr>
      <vt:lpstr>关系代数实例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pansir</dc:creator>
  <cp:lastModifiedBy>pansir</cp:lastModifiedBy>
  <cp:revision>73</cp:revision>
  <dcterms:created xsi:type="dcterms:W3CDTF">2016-09-04T04:12:03Z</dcterms:created>
  <dcterms:modified xsi:type="dcterms:W3CDTF">2019-03-13T18:11:36Z</dcterms:modified>
</cp:coreProperties>
</file>