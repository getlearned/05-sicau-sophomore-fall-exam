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av" ContentType="audio/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</p:sldMasterIdLst>
  <p:notesMasterIdLst>
    <p:notesMasterId r:id="rId29"/>
  </p:notesMasterIdLst>
  <p:handoutMasterIdLst>
    <p:handoutMasterId r:id="rId30"/>
  </p:handoutMasterIdLst>
  <p:sldIdLst>
    <p:sldId id="304" r:id="rId2"/>
    <p:sldId id="306" r:id="rId3"/>
    <p:sldId id="339" r:id="rId4"/>
    <p:sldId id="313" r:id="rId5"/>
    <p:sldId id="314" r:id="rId6"/>
    <p:sldId id="315" r:id="rId7"/>
    <p:sldId id="316" r:id="rId8"/>
    <p:sldId id="318" r:id="rId9"/>
    <p:sldId id="319" r:id="rId10"/>
    <p:sldId id="320" r:id="rId11"/>
    <p:sldId id="321" r:id="rId12"/>
    <p:sldId id="322" r:id="rId13"/>
    <p:sldId id="323" r:id="rId14"/>
    <p:sldId id="324" r:id="rId15"/>
    <p:sldId id="326" r:id="rId16"/>
    <p:sldId id="327" r:id="rId17"/>
    <p:sldId id="328" r:id="rId18"/>
    <p:sldId id="329" r:id="rId19"/>
    <p:sldId id="330" r:id="rId20"/>
    <p:sldId id="331" r:id="rId21"/>
    <p:sldId id="332" r:id="rId22"/>
    <p:sldId id="333" r:id="rId23"/>
    <p:sldId id="334" r:id="rId24"/>
    <p:sldId id="335" r:id="rId25"/>
    <p:sldId id="336" r:id="rId26"/>
    <p:sldId id="337" r:id="rId27"/>
    <p:sldId id="338" r:id="rId2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25000"/>
      </a:spcAft>
      <a:buSzPct val="80000"/>
      <a:buFont typeface="Wingdings" pitchFamily="2" charset="2"/>
      <a:defRPr kumimoji="1" sz="3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楷体_GB2312" pitchFamily="49" charset="-122"/>
        <a:ea typeface="楷体_GB2312" pitchFamily="49" charset="-122"/>
        <a:cs typeface="+mn-cs"/>
      </a:defRPr>
    </a:lvl1pPr>
    <a:lvl2pPr marL="457200" algn="l" rtl="0" fontAlgn="base">
      <a:spcBef>
        <a:spcPct val="0"/>
      </a:spcBef>
      <a:spcAft>
        <a:spcPct val="25000"/>
      </a:spcAft>
      <a:buSzPct val="80000"/>
      <a:buFont typeface="Wingdings" pitchFamily="2" charset="2"/>
      <a:defRPr kumimoji="1" sz="3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楷体_GB2312" pitchFamily="49" charset="-122"/>
        <a:ea typeface="楷体_GB2312" pitchFamily="49" charset="-122"/>
        <a:cs typeface="+mn-cs"/>
      </a:defRPr>
    </a:lvl2pPr>
    <a:lvl3pPr marL="914400" algn="l" rtl="0" fontAlgn="base">
      <a:spcBef>
        <a:spcPct val="0"/>
      </a:spcBef>
      <a:spcAft>
        <a:spcPct val="25000"/>
      </a:spcAft>
      <a:buSzPct val="80000"/>
      <a:buFont typeface="Wingdings" pitchFamily="2" charset="2"/>
      <a:defRPr kumimoji="1" sz="3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楷体_GB2312" pitchFamily="49" charset="-122"/>
        <a:ea typeface="楷体_GB2312" pitchFamily="49" charset="-122"/>
        <a:cs typeface="+mn-cs"/>
      </a:defRPr>
    </a:lvl3pPr>
    <a:lvl4pPr marL="1371600" algn="l" rtl="0" fontAlgn="base">
      <a:spcBef>
        <a:spcPct val="0"/>
      </a:spcBef>
      <a:spcAft>
        <a:spcPct val="25000"/>
      </a:spcAft>
      <a:buSzPct val="80000"/>
      <a:buFont typeface="Wingdings" pitchFamily="2" charset="2"/>
      <a:defRPr kumimoji="1" sz="3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楷体_GB2312" pitchFamily="49" charset="-122"/>
        <a:ea typeface="楷体_GB2312" pitchFamily="49" charset="-122"/>
        <a:cs typeface="+mn-cs"/>
      </a:defRPr>
    </a:lvl4pPr>
    <a:lvl5pPr marL="1828800" algn="l" rtl="0" fontAlgn="base">
      <a:spcBef>
        <a:spcPct val="0"/>
      </a:spcBef>
      <a:spcAft>
        <a:spcPct val="25000"/>
      </a:spcAft>
      <a:buSzPct val="80000"/>
      <a:buFont typeface="Wingdings" pitchFamily="2" charset="2"/>
      <a:defRPr kumimoji="1" sz="3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楷体_GB2312" pitchFamily="49" charset="-122"/>
        <a:ea typeface="楷体_GB2312" pitchFamily="49" charset="-122"/>
        <a:cs typeface="+mn-cs"/>
      </a:defRPr>
    </a:lvl5pPr>
    <a:lvl6pPr marL="2286000" algn="l" defTabSz="914400" rtl="0" eaLnBrk="1" latinLnBrk="0" hangingPunct="1">
      <a:defRPr kumimoji="1" sz="3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楷体_GB2312" pitchFamily="49" charset="-122"/>
        <a:ea typeface="楷体_GB2312" pitchFamily="49" charset="-122"/>
        <a:cs typeface="+mn-cs"/>
      </a:defRPr>
    </a:lvl6pPr>
    <a:lvl7pPr marL="2743200" algn="l" defTabSz="914400" rtl="0" eaLnBrk="1" latinLnBrk="0" hangingPunct="1">
      <a:defRPr kumimoji="1" sz="3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楷体_GB2312" pitchFamily="49" charset="-122"/>
        <a:ea typeface="楷体_GB2312" pitchFamily="49" charset="-122"/>
        <a:cs typeface="+mn-cs"/>
      </a:defRPr>
    </a:lvl7pPr>
    <a:lvl8pPr marL="3200400" algn="l" defTabSz="914400" rtl="0" eaLnBrk="1" latinLnBrk="0" hangingPunct="1">
      <a:defRPr kumimoji="1" sz="3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楷体_GB2312" pitchFamily="49" charset="-122"/>
        <a:ea typeface="楷体_GB2312" pitchFamily="49" charset="-122"/>
        <a:cs typeface="+mn-cs"/>
      </a:defRPr>
    </a:lvl8pPr>
    <a:lvl9pPr marL="3657600" algn="l" defTabSz="914400" rtl="0" eaLnBrk="1" latinLnBrk="0" hangingPunct="1">
      <a:defRPr kumimoji="1" sz="32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楷体_GB2312" pitchFamily="49" charset="-122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FF"/>
    <a:srgbClr val="99FF33"/>
    <a:srgbClr val="FF0000"/>
    <a:srgbClr val="0000CC"/>
    <a:srgbClr val="CCFF99"/>
    <a:srgbClr val="CCFFCC"/>
    <a:srgbClr val="660066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34559" autoAdjust="0"/>
    <p:restoredTop sz="86372" autoAdjust="0"/>
  </p:normalViewPr>
  <p:slideViewPr>
    <p:cSldViewPr>
      <p:cViewPr varScale="1">
        <p:scale>
          <a:sx n="69" d="100"/>
          <a:sy n="69" d="100"/>
        </p:scale>
        <p:origin x="690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62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66" d="100"/>
          <a:sy n="66" d="100"/>
        </p:scale>
        <p:origin x="-852" y="135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Aft>
                <a:spcPct val="0"/>
              </a:spcAft>
              <a:buSzTx/>
              <a:buFontTx/>
              <a:buNone/>
              <a:defRPr sz="1200">
                <a:effectLst/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Aft>
                <a:spcPct val="0"/>
              </a:spcAft>
              <a:buSzTx/>
              <a:buFontTx/>
              <a:buNone/>
              <a:defRPr sz="1200">
                <a:effectLst/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Aft>
                <a:spcPct val="0"/>
              </a:spcAft>
              <a:buSzTx/>
              <a:buFontTx/>
              <a:buNone/>
              <a:defRPr sz="1200">
                <a:effectLst/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Aft>
                <a:spcPct val="0"/>
              </a:spcAft>
              <a:buSzTx/>
              <a:buFontTx/>
              <a:buNone/>
              <a:defRPr sz="1200">
                <a:effectLst/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fld id="{E736E6C9-C754-4B41-9C0A-B651CD43CF7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80203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Aft>
                <a:spcPct val="0"/>
              </a:spcAft>
              <a:buSzTx/>
              <a:buFontTx/>
              <a:buNone/>
              <a:defRPr sz="1200">
                <a:effectLst/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Aft>
                <a:spcPct val="0"/>
              </a:spcAft>
              <a:buSzTx/>
              <a:buFontTx/>
              <a:buNone/>
              <a:defRPr sz="1200">
                <a:effectLst/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58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Aft>
                <a:spcPct val="0"/>
              </a:spcAft>
              <a:buSzTx/>
              <a:buFontTx/>
              <a:buNone/>
              <a:defRPr sz="1200">
                <a:effectLst/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Aft>
                <a:spcPct val="0"/>
              </a:spcAft>
              <a:buSzTx/>
              <a:buFontTx/>
              <a:buNone/>
              <a:defRPr sz="1200">
                <a:effectLst/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fld id="{5C6F772C-D424-4D70-8E11-503C291A320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6429647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8112071"/>
      </p:ext>
    </p:extLst>
  </p:cSld>
  <p:clrMapOvr>
    <a:masterClrMapping/>
  </p:clrMapOvr>
  <p:transition spd="med">
    <p:random/>
    <p:sndAc>
      <p:stSnd>
        <p:snd r:embed="rId1" name="camera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3652144"/>
      </p:ext>
    </p:extLst>
  </p:cSld>
  <p:clrMapOvr>
    <a:masterClrMapping/>
  </p:clrMapOvr>
  <p:transition spd="med">
    <p:random/>
    <p:sndAc>
      <p:stSnd>
        <p:snd r:embed="rId1" name="camera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652821978"/>
      </p:ext>
    </p:extLst>
  </p:cSld>
  <p:clrMapOvr>
    <a:masterClrMapping/>
  </p:clrMapOvr>
  <p:transition spd="med">
    <p:random/>
    <p:sndAc>
      <p:stSnd>
        <p:snd r:embed="rId1" name="camera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8313" y="2276475"/>
            <a:ext cx="4038600" cy="40544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9313" y="2276475"/>
            <a:ext cx="4038600" cy="40544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7752162"/>
      </p:ext>
    </p:extLst>
  </p:cSld>
  <p:clrMapOvr>
    <a:masterClrMapping/>
  </p:clrMapOvr>
  <p:transition spd="med">
    <p:random/>
    <p:sndAc>
      <p:stSnd>
        <p:snd r:embed="rId1" name="camera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2563878"/>
      </p:ext>
    </p:extLst>
  </p:cSld>
  <p:clrMapOvr>
    <a:masterClrMapping/>
  </p:clrMapOvr>
  <p:transition spd="med">
    <p:random/>
    <p:sndAc>
      <p:stSnd>
        <p:snd r:embed="rId1" name="camera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9168378"/>
      </p:ext>
    </p:extLst>
  </p:cSld>
  <p:clrMapOvr>
    <a:masterClrMapping/>
  </p:clrMapOvr>
  <p:transition spd="med">
    <p:random/>
    <p:sndAc>
      <p:stSnd>
        <p:snd r:embed="rId1" name="camera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3307342"/>
      </p:ext>
    </p:extLst>
  </p:cSld>
  <p:clrMapOvr>
    <a:masterClrMapping/>
  </p:clrMapOvr>
  <p:transition spd="med">
    <p:random/>
    <p:sndAc>
      <p:stSnd>
        <p:snd r:embed="rId1" name="camera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363177642"/>
      </p:ext>
    </p:extLst>
  </p:cSld>
  <p:clrMapOvr>
    <a:masterClrMapping/>
  </p:clrMapOvr>
  <p:transition spd="med">
    <p:random/>
    <p:sndAc>
      <p:stSnd>
        <p:snd r:embed="rId1" name="camera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381678149"/>
      </p:ext>
    </p:extLst>
  </p:cSld>
  <p:clrMapOvr>
    <a:masterClrMapping/>
  </p:clrMapOvr>
  <p:transition spd="med">
    <p:random/>
    <p:sndAc>
      <p:stSnd>
        <p:snd r:embed="rId1" name="camera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6922091"/>
      </p:ext>
    </p:extLst>
  </p:cSld>
  <p:clrMapOvr>
    <a:masterClrMapping/>
  </p:clrMapOvr>
  <p:transition spd="med">
    <p:random/>
    <p:sndAc>
      <p:stSnd>
        <p:snd r:embed="rId1" name="camera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40513" y="989013"/>
            <a:ext cx="2057400" cy="5341937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68313" y="989013"/>
            <a:ext cx="6019800" cy="534193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2894522"/>
      </p:ext>
    </p:extLst>
  </p:cSld>
  <p:clrMapOvr>
    <a:masterClrMapping/>
  </p:clrMapOvr>
  <p:transition spd="med">
    <p:random/>
    <p:sndAc>
      <p:stSnd>
        <p:snd r:embed="rId1" name="camera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702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2276475"/>
            <a:ext cx="8229600" cy="405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7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971263"/>
            <a:ext cx="5109091" cy="584775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en-US" dirty="0" smtClean="0"/>
              <a:t>单击此处编辑母版标题样式</a:t>
            </a:r>
          </a:p>
        </p:txBody>
      </p:sp>
      <p:sp>
        <p:nvSpPr>
          <p:cNvPr id="1028" name="Text Box 9"/>
          <p:cNvSpPr txBox="1">
            <a:spLocks noChangeArrowheads="1"/>
          </p:cNvSpPr>
          <p:nvPr userDrawn="1"/>
        </p:nvSpPr>
        <p:spPr bwMode="auto">
          <a:xfrm>
            <a:off x="8507643" y="6535738"/>
            <a:ext cx="656765" cy="330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2000" tIns="72000" rIns="72000" bIns="72000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SzPct val="80000"/>
              <a:buFont typeface="Wingdings" pitchFamily="2" charset="2"/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SzPct val="80000"/>
              <a:buFont typeface="Wingdings" pitchFamily="2" charset="2"/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SzPct val="80000"/>
              <a:buFont typeface="Wingdings" pitchFamily="2" charset="2"/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SzPct val="80000"/>
              <a:buFont typeface="Wingdings" pitchFamily="2" charset="2"/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 eaLnBrk="1" hangingPunct="1">
              <a:spcAft>
                <a:spcPct val="0"/>
              </a:spcAft>
              <a:buSzTx/>
              <a:buFontTx/>
              <a:buNone/>
            </a:pPr>
            <a:r>
              <a:rPr kumimoji="0" lang="zh-CN" altLang="en-US" sz="1800" baseline="-25000">
                <a:effectLst/>
                <a:latin typeface="微软雅黑" pitchFamily="34" charset="-122"/>
                <a:ea typeface="微软雅黑" pitchFamily="34" charset="-122"/>
              </a:rPr>
              <a:t>第</a:t>
            </a:r>
            <a:fld id="{3FE101D8-B8E5-4894-BD9B-17A5F0FEF0CA}" type="slidenum">
              <a:rPr kumimoji="0" lang="zh-CN" altLang="en-US" sz="1800" baseline="-25000">
                <a:effectLst/>
                <a:latin typeface="微软雅黑" pitchFamily="34" charset="-122"/>
                <a:ea typeface="微软雅黑" pitchFamily="34" charset="-122"/>
              </a:rPr>
              <a:pPr algn="ctr" eaLnBrk="1" hangingPunct="1">
                <a:spcAft>
                  <a:spcPct val="0"/>
                </a:spcAft>
                <a:buSzTx/>
                <a:buFontTx/>
                <a:buNone/>
              </a:pPr>
              <a:t>‹#›</a:t>
            </a:fld>
            <a:r>
              <a:rPr kumimoji="0" lang="zh-CN" altLang="en-US" sz="1800" baseline="-25000">
                <a:effectLst/>
                <a:latin typeface="微软雅黑" pitchFamily="34" charset="-122"/>
                <a:ea typeface="微软雅黑" pitchFamily="34" charset="-122"/>
              </a:rPr>
              <a:t>页</a:t>
            </a:r>
            <a:endParaRPr kumimoji="0" lang="en-US" altLang="zh-CN" sz="1800" baseline="-25000">
              <a:effectLst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Text Box 10"/>
          <p:cNvSpPr txBox="1">
            <a:spLocks noChangeArrowheads="1"/>
          </p:cNvSpPr>
          <p:nvPr userDrawn="1"/>
        </p:nvSpPr>
        <p:spPr bwMode="auto">
          <a:xfrm>
            <a:off x="6697515" y="131763"/>
            <a:ext cx="2314736" cy="215444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zh-CN" altLang="en-US" sz="1400" baseline="0" dirty="0">
                <a:solidFill>
                  <a:srgbClr val="8BB1E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楷体" pitchFamily="2" charset="-122"/>
                <a:ea typeface="华文楷体" pitchFamily="2" charset="-122"/>
              </a:rPr>
              <a:t>四川农业大学    潘勇浩 </a:t>
            </a:r>
            <a:r>
              <a:rPr lang="zh-CN" altLang="en-US" sz="1400" baseline="0" dirty="0" smtClean="0">
                <a:solidFill>
                  <a:srgbClr val="8BB1E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楷体" pitchFamily="2" charset="-122"/>
                <a:ea typeface="华文楷体" pitchFamily="2" charset="-122"/>
              </a:rPr>
              <a:t>   </a:t>
            </a:r>
            <a:r>
              <a:rPr lang="en-US" altLang="zh-CN" sz="1400" baseline="0" dirty="0" smtClean="0">
                <a:solidFill>
                  <a:srgbClr val="8BB1E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楷体" pitchFamily="2" charset="-122"/>
                <a:ea typeface="华文楷体" pitchFamily="2" charset="-122"/>
              </a:rPr>
              <a:t>2019</a:t>
            </a:r>
            <a:endParaRPr lang="zh-CN" altLang="en-US" sz="1400" baseline="0" dirty="0">
              <a:solidFill>
                <a:srgbClr val="8BB1E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华文楷体" pitchFamily="2" charset="-122"/>
              <a:ea typeface="华文楷体" pitchFamily="2" charset="-122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</p:sldLayoutIdLst>
  <p:transition spd="med">
    <p:random/>
    <p:sndAc>
      <p:stSnd>
        <p:snd r:embed="rId13" name="camera.wav"/>
      </p:stSnd>
    </p:sndAc>
  </p:transition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FF9900"/>
          </a:solidFill>
          <a:latin typeface="微软雅黑" pitchFamily="34" charset="-122"/>
          <a:ea typeface="微软雅黑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rgbClr val="FF9900"/>
          </a:solidFill>
          <a:latin typeface="方正姚体" pitchFamily="2" charset="-122"/>
          <a:ea typeface="方正姚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rgbClr val="FF9900"/>
          </a:solidFill>
          <a:latin typeface="方正姚体" pitchFamily="2" charset="-122"/>
          <a:ea typeface="方正姚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rgbClr val="FF9900"/>
          </a:solidFill>
          <a:latin typeface="方正姚体" pitchFamily="2" charset="-122"/>
          <a:ea typeface="方正姚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rgbClr val="FF9900"/>
          </a:solidFill>
          <a:latin typeface="方正姚体" pitchFamily="2" charset="-122"/>
          <a:ea typeface="方正姚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000">
          <a:solidFill>
            <a:srgbClr val="FF9900"/>
          </a:solidFill>
          <a:latin typeface="方正姚体" pitchFamily="2" charset="-122"/>
          <a:ea typeface="方正姚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000">
          <a:solidFill>
            <a:srgbClr val="FF9900"/>
          </a:solidFill>
          <a:latin typeface="方正姚体" pitchFamily="2" charset="-122"/>
          <a:ea typeface="方正姚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000">
          <a:solidFill>
            <a:srgbClr val="FF9900"/>
          </a:solidFill>
          <a:latin typeface="方正姚体" pitchFamily="2" charset="-122"/>
          <a:ea typeface="方正姚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000">
          <a:solidFill>
            <a:srgbClr val="FF9900"/>
          </a:solidFill>
          <a:latin typeface="方正姚体" pitchFamily="2" charset="-122"/>
          <a:ea typeface="方正姚体" pitchFamily="2" charset="-122"/>
        </a:defRPr>
      </a:lvl9pPr>
    </p:titleStyle>
    <p:bodyStyle>
      <a:lvl1pPr marL="342900" indent="-342900" algn="l" rtl="0" eaLnBrk="0" fontAlgn="base" hangingPunct="0">
        <a:spcBef>
          <a:spcPct val="0"/>
        </a:spcBef>
        <a:spcAft>
          <a:spcPct val="40000"/>
        </a:spcAft>
        <a:buClr>
          <a:srgbClr val="66FF33"/>
        </a:buClr>
        <a:buSzPct val="85000"/>
        <a:buFont typeface="Wingdings" pitchFamily="2" charset="2"/>
        <a:buBlip>
          <a:blip r:embed="rId15"/>
        </a:buBlip>
        <a:defRPr sz="3200">
          <a:solidFill>
            <a:srgbClr val="CCFFCC"/>
          </a:solidFill>
          <a:effectLst>
            <a:outerShdw blurRad="38100" dist="38100" dir="2700000" algn="tl">
              <a:srgbClr val="000000"/>
            </a:outerShdw>
          </a:effectLst>
          <a:latin typeface="微软雅黑" pitchFamily="34" charset="-122"/>
          <a:ea typeface="微软雅黑" pitchFamily="34" charset="-122"/>
          <a:cs typeface="+mn-cs"/>
        </a:defRPr>
      </a:lvl1pPr>
      <a:lvl2pPr marL="742950" indent="-285750" algn="l" rtl="0" eaLnBrk="0" fontAlgn="base" hangingPunct="0">
        <a:spcBef>
          <a:spcPct val="0"/>
        </a:spcBef>
        <a:spcAft>
          <a:spcPct val="50000"/>
        </a:spcAft>
        <a:buClr>
          <a:schemeClr val="accent2"/>
        </a:buClr>
        <a:buSzPct val="50000"/>
        <a:buFont typeface="Wingdings" pitchFamily="2" charset="2"/>
        <a:buChar char="n"/>
        <a:defRPr sz="2800">
          <a:solidFill>
            <a:srgbClr val="CCFFCC"/>
          </a:solidFill>
          <a:effectLst>
            <a:outerShdw blurRad="38100" dist="38100" dir="2700000" algn="tl">
              <a:srgbClr val="000000"/>
            </a:outerShdw>
          </a:effectLst>
          <a:latin typeface="微软雅黑" pitchFamily="34" charset="-122"/>
          <a:ea typeface="微软雅黑" pitchFamily="34" charset="-122"/>
        </a:defRPr>
      </a:lvl2pPr>
      <a:lvl3pPr marL="1143000" indent="-228600" algn="l" rtl="0" eaLnBrk="0" fontAlgn="base" hangingPunct="0">
        <a:spcBef>
          <a:spcPct val="0"/>
        </a:spcBef>
        <a:spcAft>
          <a:spcPct val="15000"/>
        </a:spcAft>
        <a:buClr>
          <a:schemeClr val="tx2"/>
        </a:buClr>
        <a:buSzPct val="45000"/>
        <a:buFont typeface="Wingdings" pitchFamily="2" charset="2"/>
        <a:buChar char="n"/>
        <a:defRPr sz="2400">
          <a:solidFill>
            <a:srgbClr val="CCFFCC"/>
          </a:solidFill>
          <a:effectLst>
            <a:outerShdw blurRad="38100" dist="38100" dir="2700000" algn="tl">
              <a:srgbClr val="000000"/>
            </a:outerShdw>
          </a:effectLst>
          <a:latin typeface="微软雅黑" pitchFamily="34" charset="-122"/>
          <a:ea typeface="微软雅黑" pitchFamily="34" charset="-122"/>
        </a:defRPr>
      </a:lvl3pPr>
      <a:lvl4pPr marL="1600200" indent="-228600" algn="l" rtl="0" eaLnBrk="0" fontAlgn="base" hangingPunct="0">
        <a:spcBef>
          <a:spcPct val="0"/>
        </a:spcBef>
        <a:spcAft>
          <a:spcPct val="15000"/>
        </a:spcAft>
        <a:buClr>
          <a:schemeClr val="accent2"/>
        </a:buClr>
        <a:buSzPct val="70000"/>
        <a:buFont typeface="Wingdings" pitchFamily="2" charset="2"/>
        <a:buChar char="n"/>
        <a:defRPr sz="2000">
          <a:solidFill>
            <a:srgbClr val="CCFFCC"/>
          </a:solidFill>
          <a:effectLst>
            <a:outerShdw blurRad="38100" dist="38100" dir="2700000" algn="tl">
              <a:srgbClr val="000000"/>
            </a:outerShdw>
          </a:effectLst>
          <a:latin typeface="微软雅黑" pitchFamily="34" charset="-122"/>
          <a:ea typeface="微软雅黑" pitchFamily="34" charset="-122"/>
        </a:defRPr>
      </a:lvl4pPr>
      <a:lvl5pPr marL="2057400" indent="-228600" algn="l" rtl="0" eaLnBrk="0" fontAlgn="base" hangingPunct="0">
        <a:spcBef>
          <a:spcPct val="0"/>
        </a:spcBef>
        <a:spcAft>
          <a:spcPct val="1500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rgbClr val="CCFFCC"/>
          </a:solidFill>
          <a:effectLst>
            <a:outerShdw blurRad="38100" dist="38100" dir="2700000" algn="tl">
              <a:srgbClr val="000000"/>
            </a:outerShdw>
          </a:effectLst>
          <a:latin typeface="微软雅黑" pitchFamily="34" charset="-122"/>
          <a:ea typeface="微软雅黑" pitchFamily="34" charset="-122"/>
        </a:defRPr>
      </a:lvl5pPr>
      <a:lvl6pPr marL="2514600" indent="-228600" algn="l" rtl="0" fontAlgn="base">
        <a:spcBef>
          <a:spcPct val="0"/>
        </a:spcBef>
        <a:spcAft>
          <a:spcPct val="1500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rgbClr val="CCFFCC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0"/>
        </a:spcBef>
        <a:spcAft>
          <a:spcPct val="1500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rgbClr val="CCFFCC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0"/>
        </a:spcBef>
        <a:spcAft>
          <a:spcPct val="1500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rgbClr val="CCFFCC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0"/>
        </a:spcBef>
        <a:spcAft>
          <a:spcPct val="1500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rgbClr val="CCFFCC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WordArt 25"/>
          <p:cNvSpPr>
            <a:spLocks noChangeArrowheads="1" noChangeShapeType="1" noTextEdit="1"/>
          </p:cNvSpPr>
          <p:nvPr/>
        </p:nvSpPr>
        <p:spPr bwMode="auto">
          <a:xfrm>
            <a:off x="571500" y="3475038"/>
            <a:ext cx="8001000" cy="11461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dist"/>
            <a:r>
              <a:rPr lang="zh-CN" altLang="en-US" sz="2800" kern="10" spc="560" dirty="0" smtClean="0">
                <a:ln w="19050" cap="sq">
                  <a:solidFill>
                    <a:schemeClr val="hlink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50080D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chemeClr val="bg2">
                      <a:alpha val="79999"/>
                    </a:schemeClr>
                  </a:outerShdw>
                </a:effectLst>
                <a:latin typeface="隶书"/>
                <a:ea typeface="隶书"/>
              </a:rPr>
              <a:t>数据库设计</a:t>
            </a:r>
            <a:endParaRPr lang="zh-CN" altLang="en-US" sz="2800" kern="10" spc="560" dirty="0">
              <a:ln w="19050" cap="sq">
                <a:solidFill>
                  <a:schemeClr val="hlink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50080D"/>
                  </a:gs>
                  <a:gs pos="100000">
                    <a:srgbClr val="FF0000"/>
                  </a:gs>
                </a:gsLst>
                <a:lin ang="2700000" scaled="1"/>
              </a:gradFill>
              <a:effectLst>
                <a:outerShdw dist="35921" dir="2700000" algn="ctr" rotWithShape="0">
                  <a:schemeClr val="bg2">
                    <a:alpha val="79999"/>
                  </a:schemeClr>
                </a:outerShdw>
              </a:effectLst>
              <a:latin typeface="隶书"/>
              <a:ea typeface="隶书"/>
            </a:endParaRPr>
          </a:p>
        </p:txBody>
      </p:sp>
      <p:sp>
        <p:nvSpPr>
          <p:cNvPr id="153626" name="WordArt 26"/>
          <p:cNvSpPr>
            <a:spLocks noChangeArrowheads="1" noChangeShapeType="1" noTextEdit="1"/>
          </p:cNvSpPr>
          <p:nvPr/>
        </p:nvSpPr>
        <p:spPr bwMode="auto">
          <a:xfrm>
            <a:off x="2662188" y="1867584"/>
            <a:ext cx="3565996" cy="947684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dist">
              <a:defRPr/>
            </a:pPr>
            <a:r>
              <a:rPr lang="zh-CN" altLang="en-US" sz="2800" kern="10" dirty="0" smtClean="0">
                <a:ln w="19050" cap="sq">
                  <a:solidFill>
                    <a:schemeClr val="hlink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50080D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chemeClr val="bg2">
                      <a:alpha val="80000"/>
                    </a:schemeClr>
                  </a:outerShdw>
                </a:effectLst>
                <a:latin typeface="隶书"/>
                <a:ea typeface="隶书"/>
              </a:rPr>
              <a:t>第</a:t>
            </a:r>
            <a:r>
              <a:rPr lang="en-US" altLang="zh-CN" sz="2800" kern="10" dirty="0" smtClean="0">
                <a:ln w="19050" cap="sq">
                  <a:solidFill>
                    <a:schemeClr val="hlink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50080D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chemeClr val="bg2">
                      <a:alpha val="80000"/>
                    </a:schemeClr>
                  </a:outerShdw>
                </a:effectLst>
                <a:latin typeface="隶书"/>
                <a:ea typeface="隶书"/>
              </a:rPr>
              <a:t>10</a:t>
            </a:r>
            <a:r>
              <a:rPr lang="zh-CN" altLang="en-US" sz="2800" kern="10" dirty="0" smtClean="0">
                <a:ln w="19050" cap="sq">
                  <a:solidFill>
                    <a:schemeClr val="hlink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50080D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chemeClr val="bg2">
                      <a:alpha val="80000"/>
                    </a:schemeClr>
                  </a:outerShdw>
                </a:effectLst>
                <a:latin typeface="隶书"/>
                <a:ea typeface="隶书"/>
              </a:rPr>
              <a:t>章</a:t>
            </a:r>
            <a:endParaRPr lang="zh-CN" altLang="en-US" sz="2800" kern="10" dirty="0">
              <a:ln w="19050" cap="sq">
                <a:solidFill>
                  <a:schemeClr val="hlink"/>
                </a:solidFill>
                <a:round/>
                <a:headEnd/>
                <a:tailEnd/>
              </a:ln>
              <a:gradFill rotWithShape="0">
                <a:gsLst>
                  <a:gs pos="0">
                    <a:srgbClr val="50080D"/>
                  </a:gs>
                  <a:gs pos="100000">
                    <a:srgbClr val="FF0000"/>
                  </a:gs>
                </a:gsLst>
                <a:lin ang="2700000" scaled="1"/>
              </a:gradFill>
              <a:effectLst>
                <a:outerShdw dist="35921" dir="2700000" algn="ctr" rotWithShape="0">
                  <a:schemeClr val="bg2">
                    <a:alpha val="80000"/>
                  </a:schemeClr>
                </a:outerShdw>
              </a:effectLst>
              <a:latin typeface="隶书"/>
              <a:ea typeface="隶书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770" name="Text Box 2"/>
          <p:cNvSpPr txBox="1">
            <a:spLocks noChangeArrowheads="1"/>
          </p:cNvSpPr>
          <p:nvPr/>
        </p:nvSpPr>
        <p:spPr bwMode="auto">
          <a:xfrm>
            <a:off x="179388" y="-27384"/>
            <a:ext cx="3878801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defTabSz="914400" eaLnBrk="1" latinLnBrk="0" hangingPunct="1">
              <a:spcBef>
                <a:spcPts val="0"/>
              </a:spcBef>
              <a:buNone/>
              <a:defRPr sz="4000" b="1" baseline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r>
              <a:rPr lang="zh-CN" altLang="en-US" dirty="0" smtClean="0"/>
              <a:t>数据库设计概述</a:t>
            </a:r>
            <a:endParaRPr lang="zh-CN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title"/>
          </p:nvPr>
        </p:nvSpPr>
        <p:spPr>
          <a:xfrm>
            <a:off x="179388" y="2974504"/>
            <a:ext cx="674687" cy="566738"/>
          </a:xfrm>
        </p:spPr>
        <p:txBody>
          <a:bodyPr wrap="square"/>
          <a:lstStyle/>
          <a:p>
            <a:pPr algn="ctr" eaLnBrk="1" hangingPunct="1">
              <a:buFont typeface="Wingdings" pitchFamily="2" charset="2"/>
              <a:buNone/>
            </a:pPr>
            <a:r>
              <a:rPr lang="zh-CN" altLang="en-US" sz="3200" smtClean="0"/>
              <a:t>数据库系统的生存期</a:t>
            </a:r>
            <a:endParaRPr lang="en-US" altLang="zh-CN" sz="3200" smtClean="0"/>
          </a:p>
        </p:txBody>
      </p:sp>
      <p:grpSp>
        <p:nvGrpSpPr>
          <p:cNvPr id="3076" name="组合 22"/>
          <p:cNvGrpSpPr>
            <a:grpSpLocks/>
          </p:cNvGrpSpPr>
          <p:nvPr/>
        </p:nvGrpSpPr>
        <p:grpSpPr bwMode="auto">
          <a:xfrm>
            <a:off x="1042988" y="764704"/>
            <a:ext cx="3744912" cy="5629275"/>
            <a:chOff x="1042988" y="1303338"/>
            <a:chExt cx="3744912" cy="5040312"/>
          </a:xfrm>
        </p:grpSpPr>
        <p:sp>
          <p:nvSpPr>
            <p:cNvPr id="1184772" name="Text Box 4"/>
            <p:cNvSpPr txBox="1">
              <a:spLocks noChangeArrowheads="1"/>
            </p:cNvSpPr>
            <p:nvPr/>
          </p:nvSpPr>
          <p:spPr bwMode="auto">
            <a:xfrm>
              <a:off x="2017713" y="1748239"/>
              <a:ext cx="1736725" cy="395151"/>
            </a:xfrm>
            <a:prstGeom prst="rect">
              <a:avLst/>
            </a:prstGeom>
            <a:solidFill>
              <a:srgbClr val="FF0000"/>
            </a:solidFill>
            <a:ln w="28575" cap="sq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lIns="0" tIns="0" rIns="0" bIns="0"/>
            <a:lstStyle/>
            <a:p>
              <a:pPr algn="ctr">
                <a:spcAft>
                  <a:spcPct val="0"/>
                </a:spcAft>
                <a:buSzTx/>
                <a:buFontTx/>
                <a:buNone/>
                <a:defRPr/>
              </a:pPr>
              <a:r>
                <a:rPr lang="zh-CN" altLang="en-US" sz="2400" b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需求分析</a:t>
              </a:r>
            </a:p>
          </p:txBody>
        </p:sp>
        <p:sp>
          <p:nvSpPr>
            <p:cNvPr id="1184773" name="Text Box 5"/>
            <p:cNvSpPr txBox="1">
              <a:spLocks noChangeArrowheads="1"/>
            </p:cNvSpPr>
            <p:nvPr/>
          </p:nvSpPr>
          <p:spPr bwMode="auto">
            <a:xfrm>
              <a:off x="1741488" y="2588291"/>
              <a:ext cx="2289175" cy="395151"/>
            </a:xfrm>
            <a:prstGeom prst="rect">
              <a:avLst/>
            </a:prstGeom>
            <a:solidFill>
              <a:srgbClr val="FFFF00"/>
            </a:solidFill>
            <a:ln w="28575" cap="sq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lIns="0" tIns="0" rIns="0" bIns="0"/>
            <a:lstStyle/>
            <a:p>
              <a:pPr algn="ctr">
                <a:spcAft>
                  <a:spcPct val="0"/>
                </a:spcAft>
                <a:buSzTx/>
                <a:buFontTx/>
                <a:buNone/>
                <a:defRPr/>
              </a:pPr>
              <a:r>
                <a:rPr lang="zh-CN" altLang="en-US" sz="2400" b="1" dirty="0">
                  <a:solidFill>
                    <a:srgbClr val="7030A0"/>
                  </a:solidFill>
                  <a:effectLst/>
                  <a:latin typeface="微软雅黑" pitchFamily="34" charset="-122"/>
                  <a:ea typeface="微软雅黑" pitchFamily="34" charset="-122"/>
                </a:rPr>
                <a:t>概念结构设计</a:t>
              </a:r>
            </a:p>
          </p:txBody>
        </p:sp>
        <p:sp>
          <p:nvSpPr>
            <p:cNvPr id="1184774" name="Text Box 6"/>
            <p:cNvSpPr txBox="1">
              <a:spLocks noChangeArrowheads="1"/>
            </p:cNvSpPr>
            <p:nvPr/>
          </p:nvSpPr>
          <p:spPr bwMode="auto">
            <a:xfrm>
              <a:off x="1741488" y="3426921"/>
              <a:ext cx="2289175" cy="395151"/>
            </a:xfrm>
            <a:prstGeom prst="rect">
              <a:avLst/>
            </a:prstGeom>
            <a:solidFill>
              <a:srgbClr val="6600FF"/>
            </a:solidFill>
            <a:ln w="28575" cap="sq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lIns="0" tIns="0" rIns="0" bIns="0"/>
            <a:lstStyle/>
            <a:p>
              <a:pPr algn="ctr">
                <a:spcAft>
                  <a:spcPct val="0"/>
                </a:spcAft>
                <a:buSzTx/>
                <a:buFontTx/>
                <a:buNone/>
                <a:defRPr/>
              </a:pPr>
              <a:r>
                <a:rPr lang="zh-CN" alt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逻辑结构设计</a:t>
              </a:r>
            </a:p>
          </p:txBody>
        </p:sp>
        <p:sp>
          <p:nvSpPr>
            <p:cNvPr id="1184775" name="Text Box 7"/>
            <p:cNvSpPr txBox="1">
              <a:spLocks noChangeArrowheads="1"/>
            </p:cNvSpPr>
            <p:nvPr/>
          </p:nvSpPr>
          <p:spPr bwMode="auto">
            <a:xfrm>
              <a:off x="1584325" y="4266974"/>
              <a:ext cx="2603500" cy="395151"/>
            </a:xfrm>
            <a:prstGeom prst="rect">
              <a:avLst/>
            </a:prstGeom>
            <a:solidFill>
              <a:srgbClr val="333399"/>
            </a:solidFill>
            <a:ln w="28575" cap="sq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lIns="0" tIns="0" rIns="0" bIns="0"/>
            <a:lstStyle/>
            <a:p>
              <a:pPr algn="ctr">
                <a:spcAft>
                  <a:spcPct val="0"/>
                </a:spcAft>
                <a:buSzTx/>
                <a:buFontTx/>
                <a:buNone/>
                <a:defRPr/>
              </a:pPr>
              <a:r>
                <a:rPr lang="zh-CN" alt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数据库物理设计</a:t>
              </a:r>
            </a:p>
          </p:txBody>
        </p:sp>
        <p:sp>
          <p:nvSpPr>
            <p:cNvPr id="1184776" name="Text Box 8"/>
            <p:cNvSpPr txBox="1">
              <a:spLocks noChangeArrowheads="1"/>
            </p:cNvSpPr>
            <p:nvPr/>
          </p:nvSpPr>
          <p:spPr bwMode="auto">
            <a:xfrm>
              <a:off x="1900238" y="5107025"/>
              <a:ext cx="1973262" cy="395151"/>
            </a:xfrm>
            <a:prstGeom prst="rect">
              <a:avLst/>
            </a:prstGeom>
            <a:solidFill>
              <a:srgbClr val="333399"/>
            </a:solidFill>
            <a:ln w="28575" cap="sq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lIns="0" tIns="0" rIns="0" bIns="0"/>
            <a:lstStyle/>
            <a:p>
              <a:pPr algn="ctr">
                <a:spcAft>
                  <a:spcPct val="0"/>
                </a:spcAft>
                <a:buSzTx/>
                <a:buFontTx/>
                <a:buNone/>
                <a:defRPr/>
              </a:pPr>
              <a:r>
                <a:rPr lang="zh-CN" alt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数据库实施</a:t>
              </a:r>
            </a:p>
          </p:txBody>
        </p:sp>
        <p:sp>
          <p:nvSpPr>
            <p:cNvPr id="1184777" name="Text Box 9"/>
            <p:cNvSpPr txBox="1">
              <a:spLocks noChangeArrowheads="1"/>
            </p:cNvSpPr>
            <p:nvPr/>
          </p:nvSpPr>
          <p:spPr bwMode="auto">
            <a:xfrm>
              <a:off x="1425575" y="5948499"/>
              <a:ext cx="2919413" cy="395151"/>
            </a:xfrm>
            <a:prstGeom prst="rect">
              <a:avLst/>
            </a:prstGeom>
            <a:solidFill>
              <a:srgbClr val="333399"/>
            </a:solidFill>
            <a:ln w="28575" cap="sq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lIns="0" tIns="0" rIns="0" bIns="0" anchor="ctr" anchorCtr="0"/>
            <a:lstStyle/>
            <a:p>
              <a:pPr algn="ctr">
                <a:spcAft>
                  <a:spcPct val="0"/>
                </a:spcAft>
                <a:buSzTx/>
                <a:buFontTx/>
                <a:buNone/>
                <a:defRPr/>
              </a:pPr>
              <a:r>
                <a:rPr lang="zh-CN" altLang="en-US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数据库运行和维护</a:t>
              </a:r>
            </a:p>
          </p:txBody>
        </p:sp>
        <p:cxnSp>
          <p:nvCxnSpPr>
            <p:cNvPr id="3087" name="AutoShape 10"/>
            <p:cNvCxnSpPr>
              <a:cxnSpLocks noChangeShapeType="1"/>
              <a:stCxn id="1184772" idx="2"/>
              <a:endCxn id="1184773" idx="0"/>
            </p:cNvCxnSpPr>
            <p:nvPr/>
          </p:nvCxnSpPr>
          <p:spPr bwMode="auto">
            <a:xfrm>
              <a:off x="2886075" y="2143125"/>
              <a:ext cx="0" cy="444500"/>
            </a:xfrm>
            <a:prstGeom prst="straightConnector1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88" name="AutoShape 11"/>
            <p:cNvCxnSpPr>
              <a:cxnSpLocks noChangeShapeType="1"/>
              <a:stCxn id="1184773" idx="2"/>
              <a:endCxn id="1184774" idx="0"/>
            </p:cNvCxnSpPr>
            <p:nvPr/>
          </p:nvCxnSpPr>
          <p:spPr bwMode="auto">
            <a:xfrm>
              <a:off x="2886075" y="2982913"/>
              <a:ext cx="0" cy="444500"/>
            </a:xfrm>
            <a:prstGeom prst="straightConnector1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89" name="AutoShape 12"/>
            <p:cNvCxnSpPr>
              <a:cxnSpLocks noChangeShapeType="1"/>
              <a:stCxn id="1184774" idx="2"/>
              <a:endCxn id="1184775" idx="0"/>
            </p:cNvCxnSpPr>
            <p:nvPr/>
          </p:nvCxnSpPr>
          <p:spPr bwMode="auto">
            <a:xfrm>
              <a:off x="2886075" y="3822700"/>
              <a:ext cx="0" cy="444500"/>
            </a:xfrm>
            <a:prstGeom prst="straightConnector1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90" name="AutoShape 13"/>
            <p:cNvCxnSpPr>
              <a:cxnSpLocks noChangeShapeType="1"/>
              <a:stCxn id="1184775" idx="2"/>
              <a:endCxn id="1184776" idx="0"/>
            </p:cNvCxnSpPr>
            <p:nvPr/>
          </p:nvCxnSpPr>
          <p:spPr bwMode="auto">
            <a:xfrm>
              <a:off x="2886075" y="4662488"/>
              <a:ext cx="0" cy="444500"/>
            </a:xfrm>
            <a:prstGeom prst="straightConnector1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91" name="AutoShape 14"/>
            <p:cNvCxnSpPr>
              <a:cxnSpLocks noChangeShapeType="1"/>
              <a:stCxn id="1184776" idx="2"/>
              <a:endCxn id="1184777" idx="0"/>
            </p:cNvCxnSpPr>
            <p:nvPr/>
          </p:nvCxnSpPr>
          <p:spPr bwMode="auto">
            <a:xfrm>
              <a:off x="2886075" y="5502275"/>
              <a:ext cx="0" cy="446088"/>
            </a:xfrm>
            <a:prstGeom prst="straightConnector1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84783" name="Rectangle 15"/>
            <p:cNvSpPr>
              <a:spLocks noChangeArrowheads="1"/>
            </p:cNvSpPr>
            <p:nvPr/>
          </p:nvSpPr>
          <p:spPr bwMode="auto">
            <a:xfrm>
              <a:off x="1110218" y="1731093"/>
              <a:ext cx="369332" cy="1929028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/>
          </p:spPr>
          <p:txBody>
            <a:bodyPr vert="eaVert" wrap="none" lIns="0" tIns="0" rIns="0" bIns="0">
              <a:spAutoFit/>
            </a:bodyPr>
            <a:lstStyle/>
            <a:p>
              <a:pPr algn="ctr">
                <a:spcAft>
                  <a:spcPct val="0"/>
                </a:spcAft>
                <a:buSzTx/>
                <a:buFontTx/>
                <a:buNone/>
                <a:defRPr/>
              </a:pPr>
              <a:r>
                <a:rPr lang="zh-CN" altLang="en-US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数据库设计时期</a:t>
              </a:r>
            </a:p>
          </p:txBody>
        </p:sp>
        <p:cxnSp>
          <p:nvCxnSpPr>
            <p:cNvPr id="3093" name="AutoShape 17"/>
            <p:cNvCxnSpPr>
              <a:cxnSpLocks noChangeShapeType="1"/>
              <a:endCxn id="1184772" idx="0"/>
            </p:cNvCxnSpPr>
            <p:nvPr/>
          </p:nvCxnSpPr>
          <p:spPr bwMode="auto">
            <a:xfrm flipH="1">
              <a:off x="2886075" y="1303338"/>
              <a:ext cx="3175" cy="444500"/>
            </a:xfrm>
            <a:prstGeom prst="straightConnector1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84786" name="Rectangle 18"/>
            <p:cNvSpPr>
              <a:spLocks noChangeArrowheads="1"/>
            </p:cNvSpPr>
            <p:nvPr/>
          </p:nvSpPr>
          <p:spPr bwMode="auto">
            <a:xfrm>
              <a:off x="1042988" y="1556349"/>
              <a:ext cx="3744912" cy="331188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</p:spPr>
          <p:txBody>
            <a:bodyPr wrap="none" lIns="0" tIns="0" rIns="0" bIns="0" anchor="ctr"/>
            <a:lstStyle/>
            <a:p>
              <a:pPr>
                <a:defRPr/>
              </a:pPr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184787" name="Rectangle 19"/>
          <p:cNvSpPr>
            <a:spLocks noGrp="1" noChangeArrowheads="1"/>
          </p:cNvSpPr>
          <p:nvPr>
            <p:ph type="body" idx="1"/>
          </p:nvPr>
        </p:nvSpPr>
        <p:spPr>
          <a:xfrm>
            <a:off x="5076825" y="1317154"/>
            <a:ext cx="3816350" cy="3025775"/>
          </a:xfrm>
        </p:spPr>
        <p:txBody>
          <a:bodyPr lIns="92075" tIns="46038" rIns="92075" bIns="46038"/>
          <a:lstStyle/>
          <a:p>
            <a:pPr marL="261938" indent="-261938" eaLnBrk="1" hangingPunct="1">
              <a:spcAft>
                <a:spcPct val="20000"/>
              </a:spcAft>
              <a:defRPr/>
            </a:pPr>
            <a:r>
              <a:rPr lang="zh-CN" altLang="en-US" sz="2400" dirty="0" smtClean="0"/>
              <a:t>数据库的基本知识和数据库设计技术</a:t>
            </a:r>
          </a:p>
          <a:p>
            <a:pPr marL="261938" indent="-261938" eaLnBrk="1" hangingPunct="1">
              <a:spcAft>
                <a:spcPct val="20000"/>
              </a:spcAft>
              <a:defRPr/>
            </a:pPr>
            <a:r>
              <a:rPr lang="zh-CN" altLang="en-US" sz="2400" dirty="0" smtClean="0"/>
              <a:t>计算机科学的基础知识和程序设计的方法和技巧</a:t>
            </a:r>
          </a:p>
          <a:p>
            <a:pPr marL="261938" indent="-261938" eaLnBrk="1" hangingPunct="1">
              <a:spcAft>
                <a:spcPct val="20000"/>
              </a:spcAft>
              <a:defRPr/>
            </a:pPr>
            <a:r>
              <a:rPr lang="zh-CN" altLang="en-US" sz="2400" dirty="0" smtClean="0"/>
              <a:t>软件工程的原理和方法</a:t>
            </a:r>
          </a:p>
          <a:p>
            <a:pPr marL="261938" indent="-261938" eaLnBrk="1" hangingPunct="1">
              <a:spcAft>
                <a:spcPct val="20000"/>
              </a:spcAft>
              <a:defRPr/>
            </a:pPr>
            <a:r>
              <a:rPr lang="zh-CN" altLang="en-US" sz="2400" dirty="0" smtClean="0"/>
              <a:t>应用领域的知识</a:t>
            </a:r>
            <a:endParaRPr lang="zh-CN" altLang="en-US" sz="2400" u="sng" dirty="0" smtClean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1184788" name="Rectangle 20"/>
          <p:cNvSpPr>
            <a:spLocks noChangeArrowheads="1"/>
          </p:cNvSpPr>
          <p:nvPr/>
        </p:nvSpPr>
        <p:spPr bwMode="auto">
          <a:xfrm>
            <a:off x="5105400" y="883767"/>
            <a:ext cx="3816350" cy="72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261938" indent="-261938">
              <a:spcAft>
                <a:spcPct val="40000"/>
              </a:spcAft>
              <a:buClr>
                <a:srgbClr val="66FF33"/>
              </a:buClr>
              <a:buSzPct val="85000"/>
              <a:defRPr/>
            </a:pPr>
            <a:r>
              <a:rPr kumimoji="0" lang="zh-CN" altLang="en-US" sz="24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数据库设计应该具备</a:t>
            </a:r>
            <a:r>
              <a:rPr kumimoji="0" lang="en-US" altLang="zh-CN" sz="24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:</a:t>
            </a:r>
            <a:endParaRPr kumimoji="0" lang="en-US" altLang="zh-CN" sz="2400" u="sng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84789" name="Rectangle 21"/>
          <p:cNvSpPr>
            <a:spLocks noChangeArrowheads="1"/>
          </p:cNvSpPr>
          <p:nvPr/>
        </p:nvSpPr>
        <p:spPr bwMode="auto">
          <a:xfrm>
            <a:off x="5111750" y="4127029"/>
            <a:ext cx="3816350" cy="72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261938" indent="-261938">
              <a:spcAft>
                <a:spcPct val="40000"/>
              </a:spcAft>
              <a:buClr>
                <a:srgbClr val="66FF33"/>
              </a:buClr>
              <a:buSzPct val="85000"/>
              <a:defRPr/>
            </a:pPr>
            <a:r>
              <a:rPr kumimoji="0" lang="zh-CN" altLang="en-US" sz="24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数据库设计的特点</a:t>
            </a:r>
            <a:r>
              <a:rPr kumimoji="0" lang="en-US" altLang="zh-CN" sz="24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:</a:t>
            </a:r>
            <a:endParaRPr kumimoji="0" lang="en-US" altLang="zh-CN" sz="2400" u="sng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84790" name="Rectangle 22"/>
          <p:cNvSpPr>
            <a:spLocks noChangeArrowheads="1"/>
          </p:cNvSpPr>
          <p:nvPr/>
        </p:nvSpPr>
        <p:spPr bwMode="auto">
          <a:xfrm>
            <a:off x="5083175" y="4558829"/>
            <a:ext cx="3816350" cy="1871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261938" indent="-261938">
              <a:spcAft>
                <a:spcPct val="2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3"/>
              </a:buBlip>
              <a:defRPr/>
            </a:pPr>
            <a:r>
              <a:rPr kumimoji="0" lang="zh-CN" altLang="en-US" sz="24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反复性</a:t>
            </a:r>
          </a:p>
          <a:p>
            <a:pPr marL="261938" indent="-261938">
              <a:spcAft>
                <a:spcPct val="2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3"/>
              </a:buBlip>
              <a:defRPr/>
            </a:pPr>
            <a:r>
              <a:rPr kumimoji="0" lang="zh-CN" altLang="en-US" sz="24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试探性</a:t>
            </a:r>
          </a:p>
          <a:p>
            <a:pPr marL="261938" indent="-261938">
              <a:spcAft>
                <a:spcPct val="2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3"/>
              </a:buBlip>
              <a:defRPr/>
            </a:pPr>
            <a:r>
              <a:rPr kumimoji="0" lang="zh-CN" altLang="en-US" sz="24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多步性</a:t>
            </a:r>
          </a:p>
          <a:p>
            <a:pPr marL="261938" indent="-261938">
              <a:spcAft>
                <a:spcPct val="20000"/>
              </a:spcAft>
              <a:buClr>
                <a:srgbClr val="66FF33"/>
              </a:buClr>
              <a:buSzPct val="85000"/>
              <a:buFont typeface="Wingdings" pitchFamily="2" charset="2"/>
              <a:buBlip>
                <a:blip r:embed="rId3"/>
              </a:buBlip>
              <a:defRPr/>
            </a:pPr>
            <a:r>
              <a:rPr kumimoji="0" lang="zh-CN" altLang="en-US" sz="2400" dirty="0" smtClean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三分技术 七分管理 十二分数据</a:t>
            </a:r>
            <a:endParaRPr kumimoji="0" lang="zh-CN" altLang="en-US" sz="2400" dirty="0">
              <a:solidFill>
                <a:srgbClr val="CCFFC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Rectangle 15"/>
          <p:cNvSpPr>
            <a:spLocks noChangeArrowheads="1"/>
          </p:cNvSpPr>
          <p:nvPr/>
        </p:nvSpPr>
        <p:spPr bwMode="auto">
          <a:xfrm>
            <a:off x="4291568" y="1256151"/>
            <a:ext cx="369332" cy="1514838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vert="eaVert" wrap="none" lIns="0" tIns="0" rIns="0" bIns="0">
            <a:spAutoFit/>
          </a:bodyPr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 b="1" dirty="0" smtClean="0">
                <a:solidFill>
                  <a:srgbClr val="99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新奥尔良法</a:t>
            </a:r>
            <a:endParaRPr lang="zh-CN" altLang="en-US" sz="2400" b="1" dirty="0">
              <a:solidFill>
                <a:srgbClr val="99FF33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</p:spTree>
  </p:cSld>
  <p:clrMapOvr>
    <a:masterClrMapping/>
  </p:clrMapOvr>
  <p:transition spd="med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794" name="Text Box 2"/>
          <p:cNvSpPr txBox="1">
            <a:spLocks noChangeArrowheads="1"/>
          </p:cNvSpPr>
          <p:nvPr/>
        </p:nvSpPr>
        <p:spPr bwMode="auto">
          <a:xfrm>
            <a:off x="179388" y="-33338"/>
            <a:ext cx="2197250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defTabSz="914400" eaLnBrk="1" latinLnBrk="0" hangingPunct="1">
              <a:spcBef>
                <a:spcPts val="0"/>
              </a:spcBef>
              <a:buNone/>
              <a:defRPr sz="4000" b="1" baseline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  <a:cs typeface="+mj-cs"/>
              </a:defRPr>
            </a:lvl1pPr>
          </a:lstStyle>
          <a:p>
            <a:r>
              <a:rPr lang="zh-CN" altLang="en-US" dirty="0" smtClean="0"/>
              <a:t>需求分析</a:t>
            </a:r>
            <a:endParaRPr lang="zh-CN" altLang="en-US" dirty="0"/>
          </a:p>
        </p:txBody>
      </p:sp>
      <p:sp>
        <p:nvSpPr>
          <p:cNvPr id="1185795" name="Oval 3"/>
          <p:cNvSpPr>
            <a:spLocks noChangeArrowheads="1"/>
          </p:cNvSpPr>
          <p:nvPr/>
        </p:nvSpPr>
        <p:spPr bwMode="auto">
          <a:xfrm>
            <a:off x="6588125" y="3644925"/>
            <a:ext cx="2133600" cy="1600200"/>
          </a:xfrm>
          <a:prstGeom prst="ellipse">
            <a:avLst/>
          </a:prstGeom>
          <a:solidFill>
            <a:srgbClr val="CCCCFF"/>
          </a:solidFill>
          <a:ln w="12700" cap="sq">
            <a:solidFill>
              <a:srgbClr val="00000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185796" name="Oval 4"/>
          <p:cNvSpPr>
            <a:spLocks noChangeArrowheads="1"/>
          </p:cNvSpPr>
          <p:nvPr/>
        </p:nvSpPr>
        <p:spPr bwMode="auto">
          <a:xfrm>
            <a:off x="319088" y="3640162"/>
            <a:ext cx="3962400" cy="1511300"/>
          </a:xfrm>
          <a:prstGeom prst="ellipse">
            <a:avLst/>
          </a:prstGeom>
          <a:solidFill>
            <a:srgbClr val="CCCCFF"/>
          </a:solidFill>
          <a:ln w="12700" cap="sq">
            <a:solidFill>
              <a:srgbClr val="00000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185797" name="Oval 5"/>
          <p:cNvSpPr>
            <a:spLocks noChangeArrowheads="1"/>
          </p:cNvSpPr>
          <p:nvPr/>
        </p:nvSpPr>
        <p:spPr bwMode="auto">
          <a:xfrm>
            <a:off x="395288" y="1628800"/>
            <a:ext cx="1447800" cy="1447800"/>
          </a:xfrm>
          <a:prstGeom prst="ellipse">
            <a:avLst/>
          </a:prstGeom>
          <a:solidFill>
            <a:srgbClr val="6600FF"/>
          </a:solidFill>
          <a:ln w="12700" cap="sq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 anchorCtr="1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调查组织机构情况</a:t>
            </a:r>
          </a:p>
        </p:txBody>
      </p:sp>
      <p:sp>
        <p:nvSpPr>
          <p:cNvPr id="1185798" name="Oval 6"/>
          <p:cNvSpPr>
            <a:spLocks noChangeArrowheads="1"/>
          </p:cNvSpPr>
          <p:nvPr/>
        </p:nvSpPr>
        <p:spPr bwMode="auto">
          <a:xfrm>
            <a:off x="2554288" y="1628800"/>
            <a:ext cx="1447800" cy="1447800"/>
          </a:xfrm>
          <a:prstGeom prst="ellipse">
            <a:avLst/>
          </a:prstGeom>
          <a:solidFill>
            <a:srgbClr val="6600FF"/>
          </a:solidFill>
          <a:ln w="12700" cap="sq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 anchorCtr="1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熟悉业务活动</a:t>
            </a:r>
          </a:p>
        </p:txBody>
      </p:sp>
      <p:sp>
        <p:nvSpPr>
          <p:cNvPr id="1185799" name="Oval 7"/>
          <p:cNvSpPr>
            <a:spLocks noChangeArrowheads="1"/>
          </p:cNvSpPr>
          <p:nvPr/>
        </p:nvSpPr>
        <p:spPr bwMode="auto">
          <a:xfrm>
            <a:off x="4713288" y="1628800"/>
            <a:ext cx="1447800" cy="1447800"/>
          </a:xfrm>
          <a:prstGeom prst="ellipse">
            <a:avLst/>
          </a:prstGeom>
          <a:solidFill>
            <a:srgbClr val="6600FF"/>
          </a:solidFill>
          <a:ln w="12700" cap="sq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 anchorCtr="1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明确用户需求</a:t>
            </a:r>
          </a:p>
        </p:txBody>
      </p:sp>
      <p:sp>
        <p:nvSpPr>
          <p:cNvPr id="1185800" name="Oval 8"/>
          <p:cNvSpPr>
            <a:spLocks noChangeArrowheads="1"/>
          </p:cNvSpPr>
          <p:nvPr/>
        </p:nvSpPr>
        <p:spPr bwMode="auto">
          <a:xfrm>
            <a:off x="6872288" y="1628800"/>
            <a:ext cx="1447800" cy="1447800"/>
          </a:xfrm>
          <a:prstGeom prst="ellipse">
            <a:avLst/>
          </a:prstGeom>
          <a:solidFill>
            <a:srgbClr val="6600FF"/>
          </a:solidFill>
          <a:ln w="12700" cap="sq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 anchorCtr="1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确定系统边界</a:t>
            </a:r>
          </a:p>
        </p:txBody>
      </p:sp>
      <p:cxnSp>
        <p:nvCxnSpPr>
          <p:cNvPr id="4105" name="AutoShape 9"/>
          <p:cNvCxnSpPr>
            <a:cxnSpLocks noChangeShapeType="1"/>
            <a:stCxn id="1185797" idx="6"/>
            <a:endCxn id="1185798" idx="2"/>
          </p:cNvCxnSpPr>
          <p:nvPr/>
        </p:nvCxnSpPr>
        <p:spPr bwMode="auto">
          <a:xfrm>
            <a:off x="1843088" y="2352700"/>
            <a:ext cx="711200" cy="0"/>
          </a:xfrm>
          <a:prstGeom prst="straightConnector1">
            <a:avLst/>
          </a:prstGeom>
          <a:noFill/>
          <a:ln w="28575" cap="sq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06" name="AutoShape 10"/>
          <p:cNvCxnSpPr>
            <a:cxnSpLocks noChangeShapeType="1"/>
            <a:stCxn id="1185798" idx="6"/>
            <a:endCxn id="1185799" idx="2"/>
          </p:cNvCxnSpPr>
          <p:nvPr/>
        </p:nvCxnSpPr>
        <p:spPr bwMode="auto">
          <a:xfrm>
            <a:off x="4002088" y="2352700"/>
            <a:ext cx="711200" cy="0"/>
          </a:xfrm>
          <a:prstGeom prst="straightConnector1">
            <a:avLst/>
          </a:prstGeom>
          <a:noFill/>
          <a:ln w="28575" cap="sq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07" name="AutoShape 11"/>
          <p:cNvCxnSpPr>
            <a:cxnSpLocks noChangeShapeType="1"/>
            <a:stCxn id="1185799" idx="6"/>
            <a:endCxn id="1185800" idx="2"/>
          </p:cNvCxnSpPr>
          <p:nvPr/>
        </p:nvCxnSpPr>
        <p:spPr bwMode="auto">
          <a:xfrm>
            <a:off x="6161088" y="2352700"/>
            <a:ext cx="711200" cy="0"/>
          </a:xfrm>
          <a:prstGeom prst="straightConnector1">
            <a:avLst/>
          </a:prstGeom>
          <a:noFill/>
          <a:ln w="28575" cap="sq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85804" name="AutoShape 12"/>
          <p:cNvSpPr>
            <a:spLocks noChangeArrowheads="1"/>
          </p:cNvSpPr>
          <p:nvPr/>
        </p:nvSpPr>
        <p:spPr bwMode="auto">
          <a:xfrm>
            <a:off x="623888" y="4097362"/>
            <a:ext cx="990600" cy="533400"/>
          </a:xfrm>
          <a:prstGeom prst="roundRect">
            <a:avLst>
              <a:gd name="adj" fmla="val 16667"/>
            </a:avLst>
          </a:prstGeom>
          <a:solidFill>
            <a:srgbClr val="F5F5FF"/>
          </a:solidFill>
          <a:ln w="12700" cap="sq">
            <a:solidFill>
              <a:srgbClr val="00000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用户</a:t>
            </a:r>
          </a:p>
        </p:txBody>
      </p:sp>
      <p:sp>
        <p:nvSpPr>
          <p:cNvPr id="1185805" name="AutoShape 13"/>
          <p:cNvSpPr>
            <a:spLocks noChangeArrowheads="1"/>
          </p:cNvSpPr>
          <p:nvPr/>
        </p:nvSpPr>
        <p:spPr bwMode="auto">
          <a:xfrm>
            <a:off x="2643188" y="4021162"/>
            <a:ext cx="1219200" cy="762000"/>
          </a:xfrm>
          <a:prstGeom prst="roundRect">
            <a:avLst>
              <a:gd name="adj" fmla="val 16667"/>
            </a:avLst>
          </a:prstGeom>
          <a:solidFill>
            <a:srgbClr val="F5F5FF"/>
          </a:solidFill>
          <a:ln w="12700" cap="sq">
            <a:solidFill>
              <a:srgbClr val="00000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数据库设计员</a:t>
            </a:r>
          </a:p>
        </p:txBody>
      </p:sp>
      <p:sp>
        <p:nvSpPr>
          <p:cNvPr id="1185806" name="AutoShape 14"/>
          <p:cNvSpPr>
            <a:spLocks noChangeArrowheads="1"/>
          </p:cNvSpPr>
          <p:nvPr/>
        </p:nvSpPr>
        <p:spPr bwMode="auto">
          <a:xfrm>
            <a:off x="1766888" y="4097362"/>
            <a:ext cx="685800" cy="457200"/>
          </a:xfrm>
          <a:prstGeom prst="leftRightArrow">
            <a:avLst>
              <a:gd name="adj1" fmla="val 50000"/>
              <a:gd name="adj2" fmla="val 30000"/>
            </a:avLst>
          </a:prstGeom>
          <a:solidFill>
            <a:srgbClr val="CCFFCC"/>
          </a:solidFill>
          <a:ln w="12700" cap="sq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185807" name="Line 15"/>
          <p:cNvSpPr>
            <a:spLocks noChangeShapeType="1"/>
          </p:cNvSpPr>
          <p:nvPr/>
        </p:nvSpPr>
        <p:spPr bwMode="auto">
          <a:xfrm flipH="1" flipV="1">
            <a:off x="1462088" y="3076600"/>
            <a:ext cx="231775" cy="490537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lIns="0" tIns="0" rIns="0" bIns="0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185808" name="Line 16"/>
          <p:cNvSpPr>
            <a:spLocks noChangeShapeType="1"/>
          </p:cNvSpPr>
          <p:nvPr/>
        </p:nvSpPr>
        <p:spPr bwMode="auto">
          <a:xfrm flipV="1">
            <a:off x="2844800" y="3152800"/>
            <a:ext cx="293688" cy="414337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lIns="0" tIns="0" rIns="0" bIns="0" anchor="ctr"/>
          <a:lstStyle/>
          <a:p>
            <a:pPr>
              <a:defRPr/>
            </a:pPr>
            <a:endParaRPr lang="zh-CN" altLang="en-US"/>
          </a:p>
        </p:txBody>
      </p:sp>
      <p:grpSp>
        <p:nvGrpSpPr>
          <p:cNvPr id="4113" name="Group 17"/>
          <p:cNvGrpSpPr>
            <a:grpSpLocks/>
          </p:cNvGrpSpPr>
          <p:nvPr/>
        </p:nvGrpSpPr>
        <p:grpSpPr bwMode="auto">
          <a:xfrm>
            <a:off x="6878638" y="4000525"/>
            <a:ext cx="1524000" cy="895350"/>
            <a:chOff x="4464" y="2592"/>
            <a:chExt cx="960" cy="564"/>
          </a:xfrm>
        </p:grpSpPr>
        <p:sp>
          <p:nvSpPr>
            <p:cNvPr id="1185810" name="AutoShape 18"/>
            <p:cNvSpPr>
              <a:spLocks noChangeArrowheads="1"/>
            </p:cNvSpPr>
            <p:nvPr/>
          </p:nvSpPr>
          <p:spPr bwMode="auto">
            <a:xfrm>
              <a:off x="4656" y="2592"/>
              <a:ext cx="768" cy="384"/>
            </a:xfrm>
            <a:prstGeom prst="foldedCorner">
              <a:avLst>
                <a:gd name="adj" fmla="val 22134"/>
              </a:avLst>
            </a:prstGeom>
            <a:solidFill>
              <a:srgbClr val="F5F5FF"/>
            </a:solidFill>
            <a:ln w="12700" cap="sq">
              <a:solidFill>
                <a:srgbClr val="000000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72000" tIns="36000" rIns="0" bIns="0"/>
            <a:lstStyle/>
            <a:p>
              <a:pPr>
                <a:spcAft>
                  <a:spcPct val="0"/>
                </a:spcAft>
                <a:buSzTx/>
                <a:buFontTx/>
                <a:buNone/>
                <a:defRPr/>
              </a:pPr>
              <a:r>
                <a:rPr lang="en-US" altLang="zh-CN" sz="2400" b="1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DD</a:t>
              </a:r>
            </a:p>
          </p:txBody>
        </p:sp>
        <p:sp>
          <p:nvSpPr>
            <p:cNvPr id="1185811" name="AutoShape 19"/>
            <p:cNvSpPr>
              <a:spLocks noChangeArrowheads="1"/>
            </p:cNvSpPr>
            <p:nvPr/>
          </p:nvSpPr>
          <p:spPr bwMode="auto">
            <a:xfrm>
              <a:off x="4464" y="2852"/>
              <a:ext cx="768" cy="304"/>
            </a:xfrm>
            <a:prstGeom prst="foldedCorner">
              <a:avLst>
                <a:gd name="adj" fmla="val 26954"/>
              </a:avLst>
            </a:prstGeom>
            <a:solidFill>
              <a:srgbClr val="F5F5FF"/>
            </a:solidFill>
            <a:ln w="12700" cap="sq">
              <a:solidFill>
                <a:srgbClr val="000000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72000" tIns="36000" rIns="0" bIns="0"/>
            <a:lstStyle/>
            <a:p>
              <a:pPr>
                <a:spcAft>
                  <a:spcPct val="0"/>
                </a:spcAft>
                <a:buSzTx/>
                <a:buFontTx/>
                <a:buNone/>
                <a:defRPr/>
              </a:pPr>
              <a:r>
                <a:rPr lang="en-US" altLang="zh-CN" sz="2400" b="1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DFD</a:t>
              </a:r>
            </a:p>
          </p:txBody>
        </p:sp>
      </p:grpSp>
      <p:sp>
        <p:nvSpPr>
          <p:cNvPr id="1185812" name="AutoShape 20"/>
          <p:cNvSpPr>
            <a:spLocks noChangeArrowheads="1"/>
          </p:cNvSpPr>
          <p:nvPr/>
        </p:nvSpPr>
        <p:spPr bwMode="auto">
          <a:xfrm>
            <a:off x="7481888" y="3152800"/>
            <a:ext cx="381000" cy="419100"/>
          </a:xfrm>
          <a:prstGeom prst="downArrow">
            <a:avLst>
              <a:gd name="adj1" fmla="val 50000"/>
              <a:gd name="adj2" fmla="val 27500"/>
            </a:avLst>
          </a:prstGeom>
          <a:solidFill>
            <a:srgbClr val="CCFFCC"/>
          </a:solidFill>
          <a:ln w="12700" cap="sq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185813" name="Rectangle 21"/>
          <p:cNvSpPr>
            <a:spLocks noChangeArrowheads="1"/>
          </p:cNvSpPr>
          <p:nvPr/>
        </p:nvSpPr>
        <p:spPr bwMode="auto">
          <a:xfrm>
            <a:off x="255588" y="5656287"/>
            <a:ext cx="4787900" cy="381000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跟班作业，开调查会，收集调查表</a:t>
            </a:r>
          </a:p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请专人介绍，询问，查阅文档资料</a:t>
            </a:r>
          </a:p>
        </p:txBody>
      </p:sp>
      <p:sp>
        <p:nvSpPr>
          <p:cNvPr id="1185814" name="Text Box 22"/>
          <p:cNvSpPr txBox="1">
            <a:spLocks noChangeArrowheads="1"/>
          </p:cNvSpPr>
          <p:nvPr/>
        </p:nvSpPr>
        <p:spPr bwMode="auto">
          <a:xfrm>
            <a:off x="179388" y="692150"/>
            <a:ext cx="4267200" cy="5746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marL="377825" indent="-377825">
              <a:spcBef>
                <a:spcPct val="50000"/>
              </a:spcBef>
              <a:spcAft>
                <a:spcPct val="0"/>
              </a:spcAft>
              <a:defRPr/>
            </a:pPr>
            <a:endParaRPr lang="zh-CN" altLang="en-US" sz="2800"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1185815" name="Rectangle 23"/>
          <p:cNvSpPr>
            <a:spLocks noChangeArrowheads="1"/>
          </p:cNvSpPr>
          <p:nvPr/>
        </p:nvSpPr>
        <p:spPr bwMode="auto">
          <a:xfrm>
            <a:off x="5726113" y="5362600"/>
            <a:ext cx="2743200" cy="609600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信息要求</a:t>
            </a:r>
          </a:p>
          <a:p>
            <a:pPr algn="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处理要求</a:t>
            </a:r>
          </a:p>
          <a:p>
            <a:pPr algn="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安全性和完整性要求</a:t>
            </a:r>
          </a:p>
        </p:txBody>
      </p:sp>
      <p:sp>
        <p:nvSpPr>
          <p:cNvPr id="1185816" name="AutoShape 24"/>
          <p:cNvSpPr>
            <a:spLocks noChangeArrowheads="1"/>
          </p:cNvSpPr>
          <p:nvPr/>
        </p:nvSpPr>
        <p:spPr bwMode="auto">
          <a:xfrm rot="16200000">
            <a:off x="2125663" y="5295925"/>
            <a:ext cx="288925" cy="288925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hlink"/>
          </a:solidFill>
          <a:ln w="12700" cap="sq" algn="ctr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185817" name="AutoShape 25"/>
          <p:cNvSpPr>
            <a:spLocks noChangeArrowheads="1"/>
          </p:cNvSpPr>
          <p:nvPr/>
        </p:nvSpPr>
        <p:spPr bwMode="auto">
          <a:xfrm rot="2860008">
            <a:off x="8101806" y="4936356"/>
            <a:ext cx="792163" cy="358775"/>
          </a:xfrm>
          <a:prstGeom prst="curvedDownArrow">
            <a:avLst>
              <a:gd name="adj1" fmla="val 44159"/>
              <a:gd name="adj2" fmla="val 88319"/>
              <a:gd name="adj3" fmla="val 33333"/>
            </a:avLst>
          </a:prstGeom>
          <a:solidFill>
            <a:schemeClr val="hlink"/>
          </a:solidFill>
          <a:ln w="12700" cap="sq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185818" name="AutoShape 26"/>
          <p:cNvSpPr>
            <a:spLocks noChangeArrowheads="1"/>
          </p:cNvSpPr>
          <p:nvPr/>
        </p:nvSpPr>
        <p:spPr bwMode="auto">
          <a:xfrm>
            <a:off x="5435600" y="4868887"/>
            <a:ext cx="1401763" cy="1046163"/>
          </a:xfrm>
          <a:prstGeom prst="wedgeEllipseCallout">
            <a:avLst>
              <a:gd name="adj1" fmla="val 47282"/>
              <a:gd name="adj2" fmla="val -40134"/>
            </a:avLst>
          </a:prstGeom>
          <a:noFill/>
          <a:ln w="12700" cap="sq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需求规格说明</a:t>
            </a:r>
          </a:p>
        </p:txBody>
      </p:sp>
      <p:sp>
        <p:nvSpPr>
          <p:cNvPr id="4121" name="Rectangle 27"/>
          <p:cNvSpPr>
            <a:spLocks noGrp="1" noChangeArrowheads="1"/>
          </p:cNvSpPr>
          <p:nvPr>
            <p:ph type="title"/>
          </p:nvPr>
        </p:nvSpPr>
        <p:spPr>
          <a:xfrm>
            <a:off x="250825" y="744887"/>
            <a:ext cx="8497888" cy="566737"/>
          </a:xfrm>
        </p:spPr>
        <p:txBody>
          <a:bodyPr wrap="square"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dirty="0" smtClean="0"/>
              <a:t>需求分析是整个设计的基础和起点</a:t>
            </a:r>
            <a:r>
              <a:rPr lang="en-US" altLang="zh-CN" dirty="0" smtClean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4246335227"/>
      </p:ext>
    </p:extLst>
  </p:cSld>
  <p:clrMapOvr>
    <a:masterClrMapping/>
  </p:clrMapOvr>
  <p:transition spd="med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938" name="Text Box 2"/>
          <p:cNvSpPr txBox="1">
            <a:spLocks noChangeArrowheads="1"/>
          </p:cNvSpPr>
          <p:nvPr/>
        </p:nvSpPr>
        <p:spPr bwMode="auto">
          <a:xfrm>
            <a:off x="179388" y="-33338"/>
            <a:ext cx="3223172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defTabSz="914400" eaLnBrk="1" latinLnBrk="0" hangingPunct="1">
              <a:spcBef>
                <a:spcPts val="0"/>
              </a:spcBef>
              <a:buNone/>
              <a:defRPr sz="4000" b="1" baseline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  <a:cs typeface="+mj-cs"/>
              </a:defRPr>
            </a:lvl1pPr>
          </a:lstStyle>
          <a:p>
            <a:r>
              <a:rPr lang="zh-CN" altLang="en-US" dirty="0"/>
              <a:t>概念结构设计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title"/>
          </p:nvPr>
        </p:nvSpPr>
        <p:spPr>
          <a:xfrm>
            <a:off x="210484" y="836712"/>
            <a:ext cx="7416800" cy="566737"/>
          </a:xfrm>
        </p:spPr>
        <p:txBody>
          <a:bodyPr wrap="square"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dirty="0" smtClean="0"/>
              <a:t>概念结构设计是整个设计的关键</a:t>
            </a:r>
            <a:r>
              <a:rPr lang="en-US" altLang="zh-CN" dirty="0" smtClean="0"/>
              <a:t>!</a:t>
            </a:r>
          </a:p>
        </p:txBody>
      </p:sp>
      <p:sp>
        <p:nvSpPr>
          <p:cNvPr id="1191940" name="Oval 4"/>
          <p:cNvSpPr>
            <a:spLocks noChangeArrowheads="1"/>
          </p:cNvSpPr>
          <p:nvPr/>
        </p:nvSpPr>
        <p:spPr bwMode="auto">
          <a:xfrm>
            <a:off x="1504811" y="2420888"/>
            <a:ext cx="2662238" cy="1879600"/>
          </a:xfrm>
          <a:prstGeom prst="ellipse">
            <a:avLst/>
          </a:prstGeom>
          <a:solidFill>
            <a:srgbClr val="CCFFCC"/>
          </a:solidFill>
          <a:ln w="12700" cap="sq">
            <a:solidFill>
              <a:srgbClr val="00000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 anchorCtr="1"/>
          <a:lstStyle/>
          <a:p>
            <a:pPr algn="ctr">
              <a:spcAft>
                <a:spcPct val="0"/>
              </a:spcAft>
              <a:buSzTx/>
              <a:buFontTx/>
              <a:buNone/>
              <a:tabLst>
                <a:tab pos="292100" algn="l"/>
                <a:tab pos="485775" algn="l"/>
              </a:tabLst>
              <a:defRPr/>
            </a:pPr>
            <a:r>
              <a:rPr lang="zh-CN" alt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抽象数据</a:t>
            </a:r>
          </a:p>
          <a:p>
            <a:pPr algn="ctr">
              <a:spcAft>
                <a:spcPct val="0"/>
              </a:spcAft>
              <a:buSzTx/>
              <a:buFontTx/>
              <a:buNone/>
              <a:tabLst>
                <a:tab pos="292100" algn="l"/>
                <a:tab pos="485775" algn="l"/>
              </a:tabLst>
              <a:defRPr/>
            </a:pPr>
            <a:r>
              <a:rPr lang="zh-CN" alt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设计局部视图</a:t>
            </a:r>
          </a:p>
        </p:txBody>
      </p:sp>
      <p:sp>
        <p:nvSpPr>
          <p:cNvPr id="1191941" name="Oval 5"/>
          <p:cNvSpPr>
            <a:spLocks noChangeArrowheads="1"/>
          </p:cNvSpPr>
          <p:nvPr/>
        </p:nvSpPr>
        <p:spPr bwMode="auto">
          <a:xfrm>
            <a:off x="4897299" y="2420888"/>
            <a:ext cx="1879600" cy="1879600"/>
          </a:xfrm>
          <a:prstGeom prst="ellipse">
            <a:avLst/>
          </a:prstGeom>
          <a:solidFill>
            <a:srgbClr val="CCFFCC"/>
          </a:solidFill>
          <a:ln w="12700" cap="sq">
            <a:solidFill>
              <a:srgbClr val="00000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 anchorCtr="1"/>
          <a:lstStyle/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集成视图</a:t>
            </a:r>
          </a:p>
        </p:txBody>
      </p:sp>
      <p:cxnSp>
        <p:nvCxnSpPr>
          <p:cNvPr id="10246" name="AutoShape 6"/>
          <p:cNvCxnSpPr>
            <a:cxnSpLocks noChangeShapeType="1"/>
            <a:stCxn id="1191940" idx="6"/>
            <a:endCxn id="1191941" idx="2"/>
          </p:cNvCxnSpPr>
          <p:nvPr/>
        </p:nvCxnSpPr>
        <p:spPr bwMode="auto">
          <a:xfrm>
            <a:off x="4167049" y="3360688"/>
            <a:ext cx="730250" cy="0"/>
          </a:xfrm>
          <a:prstGeom prst="straightConnector1">
            <a:avLst/>
          </a:prstGeom>
          <a:noFill/>
          <a:ln w="28575" cap="sq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91943" name="Text Box 7"/>
          <p:cNvSpPr txBox="1">
            <a:spLocks noChangeArrowheads="1"/>
          </p:cNvSpPr>
          <p:nvPr/>
        </p:nvSpPr>
        <p:spPr bwMode="auto">
          <a:xfrm>
            <a:off x="2722563" y="1511301"/>
            <a:ext cx="3744913" cy="5746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marL="377825" indent="-377825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2800" dirty="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现实世界 → 信息世界</a:t>
            </a:r>
            <a:endParaRPr lang="en-US" altLang="zh-CN" sz="2800" dirty="0">
              <a:solidFill>
                <a:srgbClr val="CCFFC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91944" name="AutoShape 8"/>
          <p:cNvSpPr>
            <a:spLocks noChangeArrowheads="1"/>
          </p:cNvSpPr>
          <p:nvPr/>
        </p:nvSpPr>
        <p:spPr bwMode="auto">
          <a:xfrm>
            <a:off x="928549" y="4940250"/>
            <a:ext cx="1295400" cy="1219200"/>
          </a:xfrm>
          <a:prstGeom prst="verticalScroll">
            <a:avLst>
              <a:gd name="adj" fmla="val 12500"/>
            </a:avLst>
          </a:prstGeom>
          <a:solidFill>
            <a:srgbClr val="D9F9FF"/>
          </a:solidFill>
          <a:ln w="12700" cap="sq">
            <a:solidFill>
              <a:srgbClr val="00000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en-US" altLang="zh-CN" sz="24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DFD</a:t>
            </a:r>
          </a:p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en-US" altLang="zh-CN" sz="24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DD</a:t>
            </a:r>
          </a:p>
        </p:txBody>
      </p:sp>
      <p:sp>
        <p:nvSpPr>
          <p:cNvPr id="1191945" name="AutoShape 9"/>
          <p:cNvSpPr>
            <a:spLocks noChangeArrowheads="1"/>
          </p:cNvSpPr>
          <p:nvPr/>
        </p:nvSpPr>
        <p:spPr bwMode="auto">
          <a:xfrm>
            <a:off x="3678099" y="4978350"/>
            <a:ext cx="1600200" cy="1219200"/>
          </a:xfrm>
          <a:prstGeom prst="verticalScroll">
            <a:avLst>
              <a:gd name="adj" fmla="val 12500"/>
            </a:avLst>
          </a:prstGeom>
          <a:solidFill>
            <a:srgbClr val="D9F9FF"/>
          </a:solidFill>
          <a:ln w="12700" cap="sq">
            <a:solidFill>
              <a:srgbClr val="00000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分</a:t>
            </a:r>
            <a:r>
              <a:rPr lang="en-US" altLang="zh-CN" sz="24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E-R</a:t>
            </a:r>
            <a:r>
              <a:rPr lang="zh-CN" alt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图</a:t>
            </a:r>
          </a:p>
        </p:txBody>
      </p:sp>
      <p:sp>
        <p:nvSpPr>
          <p:cNvPr id="1191946" name="AutoShape 10"/>
          <p:cNvSpPr>
            <a:spLocks noChangeArrowheads="1"/>
          </p:cNvSpPr>
          <p:nvPr/>
        </p:nvSpPr>
        <p:spPr bwMode="auto">
          <a:xfrm>
            <a:off x="6497499" y="4978350"/>
            <a:ext cx="1600200" cy="1219200"/>
          </a:xfrm>
          <a:prstGeom prst="verticalScroll">
            <a:avLst>
              <a:gd name="adj" fmla="val 12500"/>
            </a:avLst>
          </a:prstGeom>
          <a:solidFill>
            <a:srgbClr val="D9F9FF"/>
          </a:solidFill>
          <a:ln w="12700" cap="sq">
            <a:solidFill>
              <a:srgbClr val="00000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总</a:t>
            </a:r>
            <a:r>
              <a:rPr lang="en-US" altLang="zh-CN" sz="24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E-R</a:t>
            </a:r>
            <a:r>
              <a:rPr lang="zh-CN" alt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图</a:t>
            </a:r>
          </a:p>
        </p:txBody>
      </p:sp>
      <p:sp>
        <p:nvSpPr>
          <p:cNvPr id="1191947" name="AutoShape 11"/>
          <p:cNvSpPr>
            <a:spLocks noChangeArrowheads="1"/>
          </p:cNvSpPr>
          <p:nvPr/>
        </p:nvSpPr>
        <p:spPr bwMode="auto">
          <a:xfrm rot="2700000">
            <a:off x="1881049" y="4132213"/>
            <a:ext cx="228600" cy="838200"/>
          </a:xfrm>
          <a:prstGeom prst="upArrow">
            <a:avLst>
              <a:gd name="adj1" fmla="val 50000"/>
              <a:gd name="adj2" fmla="val 91667"/>
            </a:avLst>
          </a:prstGeom>
          <a:solidFill>
            <a:srgbClr val="CCFFCC"/>
          </a:solidFill>
          <a:ln w="12700" cap="sq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191948" name="AutoShape 12"/>
          <p:cNvSpPr>
            <a:spLocks noChangeArrowheads="1"/>
          </p:cNvSpPr>
          <p:nvPr/>
        </p:nvSpPr>
        <p:spPr bwMode="auto">
          <a:xfrm rot="8100000">
            <a:off x="3830499" y="4140150"/>
            <a:ext cx="228600" cy="838200"/>
          </a:xfrm>
          <a:prstGeom prst="upArrow">
            <a:avLst>
              <a:gd name="adj1" fmla="val 50000"/>
              <a:gd name="adj2" fmla="val 91667"/>
            </a:avLst>
          </a:prstGeom>
          <a:solidFill>
            <a:srgbClr val="CCFFCC"/>
          </a:solidFill>
          <a:ln w="12700" cap="sq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191949" name="AutoShape 13"/>
          <p:cNvSpPr>
            <a:spLocks noChangeArrowheads="1"/>
          </p:cNvSpPr>
          <p:nvPr/>
        </p:nvSpPr>
        <p:spPr bwMode="auto">
          <a:xfrm rot="2700000">
            <a:off x="4744899" y="4140150"/>
            <a:ext cx="228600" cy="838200"/>
          </a:xfrm>
          <a:prstGeom prst="upArrow">
            <a:avLst>
              <a:gd name="adj1" fmla="val 50000"/>
              <a:gd name="adj2" fmla="val 91667"/>
            </a:avLst>
          </a:prstGeom>
          <a:solidFill>
            <a:srgbClr val="CCFFCC"/>
          </a:solidFill>
          <a:ln w="12700" cap="sq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191950" name="AutoShape 14"/>
          <p:cNvSpPr>
            <a:spLocks noChangeArrowheads="1"/>
          </p:cNvSpPr>
          <p:nvPr/>
        </p:nvSpPr>
        <p:spPr bwMode="auto">
          <a:xfrm rot="8100000">
            <a:off x="6726099" y="4140150"/>
            <a:ext cx="228600" cy="838200"/>
          </a:xfrm>
          <a:prstGeom prst="upArrow">
            <a:avLst>
              <a:gd name="adj1" fmla="val 50000"/>
              <a:gd name="adj2" fmla="val 91667"/>
            </a:avLst>
          </a:prstGeom>
          <a:solidFill>
            <a:srgbClr val="CCFFCC"/>
          </a:solidFill>
          <a:ln w="12700" cap="sq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med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962" name="Text Box 2"/>
          <p:cNvSpPr txBox="1">
            <a:spLocks noChangeArrowheads="1"/>
          </p:cNvSpPr>
          <p:nvPr/>
        </p:nvSpPr>
        <p:spPr bwMode="auto">
          <a:xfrm>
            <a:off x="179388" y="-33338"/>
            <a:ext cx="3223172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defTabSz="914400" eaLnBrk="1" latinLnBrk="0" hangingPunct="1">
              <a:spcBef>
                <a:spcPts val="0"/>
              </a:spcBef>
              <a:buNone/>
              <a:defRPr sz="4000" b="1" baseline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  <a:cs typeface="+mj-cs"/>
              </a:defRPr>
            </a:lvl1pPr>
          </a:lstStyle>
          <a:p>
            <a:r>
              <a:rPr lang="zh-CN" altLang="en-US" dirty="0"/>
              <a:t>概念结构设计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title"/>
          </p:nvPr>
        </p:nvSpPr>
        <p:spPr>
          <a:xfrm>
            <a:off x="153988" y="836712"/>
            <a:ext cx="8964612" cy="566737"/>
          </a:xfrm>
        </p:spPr>
        <p:txBody>
          <a:bodyPr wrap="square"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dirty="0" smtClean="0"/>
              <a:t>设计步骤</a:t>
            </a:r>
            <a:r>
              <a:rPr lang="en-US" altLang="zh-CN" dirty="0" smtClean="0"/>
              <a:t>1</a:t>
            </a:r>
            <a:r>
              <a:rPr lang="zh-CN" altLang="en-US" dirty="0" smtClean="0"/>
              <a:t>：选择局部应用，逐一设计分</a:t>
            </a:r>
            <a:r>
              <a:rPr lang="en-US" altLang="zh-CN" dirty="0" smtClean="0"/>
              <a:t>E-R</a:t>
            </a:r>
            <a:r>
              <a:rPr lang="zh-CN" altLang="en-US" dirty="0" smtClean="0"/>
              <a:t>图</a:t>
            </a:r>
            <a:endParaRPr lang="en-US" altLang="zh-CN" dirty="0" smtClean="0"/>
          </a:p>
        </p:txBody>
      </p:sp>
      <p:sp>
        <p:nvSpPr>
          <p:cNvPr id="1192964" name="Line 4"/>
          <p:cNvSpPr>
            <a:spLocks noChangeShapeType="1"/>
          </p:cNvSpPr>
          <p:nvPr/>
        </p:nvSpPr>
        <p:spPr bwMode="auto">
          <a:xfrm flipV="1">
            <a:off x="2895600" y="2362200"/>
            <a:ext cx="0" cy="609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lIns="0" tIns="0" rIns="0" bIns="0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1269" name="Oval 5"/>
          <p:cNvSpPr>
            <a:spLocks noChangeArrowheads="1"/>
          </p:cNvSpPr>
          <p:nvPr/>
        </p:nvSpPr>
        <p:spPr bwMode="auto">
          <a:xfrm>
            <a:off x="2514600" y="2914650"/>
            <a:ext cx="838200" cy="838200"/>
          </a:xfrm>
          <a:prstGeom prst="ellips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</a:pPr>
            <a:r>
              <a:rPr lang="zh-CN" altLang="en-US" sz="2400">
                <a:effectLst/>
                <a:latin typeface="Times New Roman" pitchFamily="18" charset="0"/>
              </a:rPr>
              <a:t>入学</a:t>
            </a:r>
          </a:p>
        </p:txBody>
      </p:sp>
      <p:sp>
        <p:nvSpPr>
          <p:cNvPr id="1192966" name="Line 6"/>
          <p:cNvSpPr>
            <a:spLocks noChangeShapeType="1"/>
          </p:cNvSpPr>
          <p:nvPr/>
        </p:nvSpPr>
        <p:spPr bwMode="auto">
          <a:xfrm>
            <a:off x="1143000" y="3333750"/>
            <a:ext cx="13716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lIns="0" tIns="0" rIns="0" bIns="0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1271" name="Rectangle 7"/>
          <p:cNvSpPr>
            <a:spLocks noChangeArrowheads="1"/>
          </p:cNvSpPr>
          <p:nvPr/>
        </p:nvSpPr>
        <p:spPr bwMode="auto">
          <a:xfrm>
            <a:off x="381000" y="3048000"/>
            <a:ext cx="762000" cy="609600"/>
          </a:xfrm>
          <a:prstGeom prst="rect">
            <a:avLst/>
          </a:prstGeom>
          <a:noFill/>
          <a:ln w="28575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</a:pPr>
            <a:r>
              <a:rPr lang="zh-CN" altLang="en-US" sz="2400">
                <a:effectLst/>
                <a:latin typeface="Times New Roman" pitchFamily="18" charset="0"/>
              </a:rPr>
              <a:t>学生</a:t>
            </a:r>
          </a:p>
        </p:txBody>
      </p:sp>
      <p:sp>
        <p:nvSpPr>
          <p:cNvPr id="1192968" name="Line 8"/>
          <p:cNvSpPr>
            <a:spLocks noChangeShapeType="1"/>
          </p:cNvSpPr>
          <p:nvPr/>
        </p:nvSpPr>
        <p:spPr bwMode="auto">
          <a:xfrm>
            <a:off x="762000" y="2286000"/>
            <a:ext cx="10668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192969" name="Line 9"/>
          <p:cNvSpPr>
            <a:spLocks noChangeShapeType="1"/>
          </p:cNvSpPr>
          <p:nvPr/>
        </p:nvSpPr>
        <p:spPr bwMode="auto">
          <a:xfrm>
            <a:off x="762000" y="2362200"/>
            <a:ext cx="10668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1274" name="Rectangle 10"/>
          <p:cNvSpPr>
            <a:spLocks noChangeArrowheads="1"/>
          </p:cNvSpPr>
          <p:nvPr/>
        </p:nvSpPr>
        <p:spPr bwMode="auto">
          <a:xfrm>
            <a:off x="527050" y="1852613"/>
            <a:ext cx="1524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spcAft>
                <a:spcPct val="0"/>
              </a:spcAft>
              <a:buSzTx/>
              <a:buFontTx/>
              <a:buNone/>
            </a:pPr>
            <a:r>
              <a:rPr lang="zh-CN" altLang="en-US" sz="2400">
                <a:effectLst/>
                <a:latin typeface="Times New Roman" pitchFamily="18" charset="0"/>
              </a:rPr>
              <a:t>班级编码表</a:t>
            </a:r>
          </a:p>
        </p:txBody>
      </p:sp>
      <p:sp>
        <p:nvSpPr>
          <p:cNvPr id="1192971" name="Line 11"/>
          <p:cNvSpPr>
            <a:spLocks noChangeShapeType="1"/>
          </p:cNvSpPr>
          <p:nvPr/>
        </p:nvSpPr>
        <p:spPr bwMode="auto">
          <a:xfrm>
            <a:off x="1447800" y="2362200"/>
            <a:ext cx="1219200" cy="685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lIns="0" tIns="0" rIns="0" bIns="0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1276" name="Rectangle 12"/>
          <p:cNvSpPr>
            <a:spLocks noChangeArrowheads="1"/>
          </p:cNvSpPr>
          <p:nvPr/>
        </p:nvSpPr>
        <p:spPr bwMode="auto">
          <a:xfrm>
            <a:off x="1193800" y="2919413"/>
            <a:ext cx="1219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spcAft>
                <a:spcPct val="0"/>
              </a:spcAft>
              <a:buSzTx/>
              <a:buFontTx/>
              <a:buNone/>
            </a:pPr>
            <a:r>
              <a:rPr lang="zh-CN" altLang="en-US" sz="2400">
                <a:effectLst/>
                <a:latin typeface="Times New Roman" pitchFamily="18" charset="0"/>
              </a:rPr>
              <a:t>基本信息</a:t>
            </a:r>
          </a:p>
        </p:txBody>
      </p:sp>
      <p:sp>
        <p:nvSpPr>
          <p:cNvPr id="1192973" name="Line 13"/>
          <p:cNvSpPr>
            <a:spLocks noChangeShapeType="1"/>
          </p:cNvSpPr>
          <p:nvPr/>
        </p:nvSpPr>
        <p:spPr bwMode="auto">
          <a:xfrm>
            <a:off x="2209800" y="2286000"/>
            <a:ext cx="15240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192974" name="Line 14"/>
          <p:cNvSpPr>
            <a:spLocks noChangeShapeType="1"/>
          </p:cNvSpPr>
          <p:nvPr/>
        </p:nvSpPr>
        <p:spPr bwMode="auto">
          <a:xfrm>
            <a:off x="2209800" y="2362200"/>
            <a:ext cx="15240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1279" name="Rectangle 15"/>
          <p:cNvSpPr>
            <a:spLocks noChangeArrowheads="1"/>
          </p:cNvSpPr>
          <p:nvPr/>
        </p:nvSpPr>
        <p:spPr bwMode="auto">
          <a:xfrm>
            <a:off x="2235200" y="1852613"/>
            <a:ext cx="1219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spcAft>
                <a:spcPct val="0"/>
              </a:spcAft>
              <a:buSzTx/>
              <a:buFontTx/>
              <a:buNone/>
            </a:pPr>
            <a:r>
              <a:rPr lang="zh-CN" altLang="en-US" sz="2400">
                <a:effectLst/>
                <a:latin typeface="Times New Roman" pitchFamily="18" charset="0"/>
              </a:rPr>
              <a:t>学生档案</a:t>
            </a:r>
          </a:p>
        </p:txBody>
      </p:sp>
      <p:grpSp>
        <p:nvGrpSpPr>
          <p:cNvPr id="11280" name="Group 16"/>
          <p:cNvGrpSpPr>
            <a:grpSpLocks/>
          </p:cNvGrpSpPr>
          <p:nvPr/>
        </p:nvGrpSpPr>
        <p:grpSpPr bwMode="auto">
          <a:xfrm>
            <a:off x="3708400" y="1989138"/>
            <a:ext cx="5207000" cy="1724025"/>
            <a:chOff x="548" y="2928"/>
            <a:chExt cx="3048" cy="816"/>
          </a:xfrm>
        </p:grpSpPr>
        <p:sp>
          <p:nvSpPr>
            <p:cNvPr id="11283" name="Rectangle 17"/>
            <p:cNvSpPr>
              <a:spLocks noChangeArrowheads="1"/>
            </p:cNvSpPr>
            <p:nvPr/>
          </p:nvSpPr>
          <p:spPr bwMode="auto">
            <a:xfrm>
              <a:off x="2784" y="3000"/>
              <a:ext cx="480" cy="144"/>
            </a:xfrm>
            <a:prstGeom prst="rect">
              <a:avLst/>
            </a:prstGeom>
            <a:solidFill>
              <a:schemeClr val="bg1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/>
            <a:lstStyle/>
            <a:p>
              <a:pPr algn="ctr">
                <a:spcAft>
                  <a:spcPct val="0"/>
                </a:spcAft>
                <a:buSzTx/>
                <a:buFontTx/>
                <a:buNone/>
              </a:pPr>
              <a:r>
                <a:rPr lang="zh-CN" altLang="en-US" sz="2400">
                  <a:effectLst/>
                  <a:latin typeface="Times New Roman" pitchFamily="18" charset="0"/>
                </a:rPr>
                <a:t>班级</a:t>
              </a:r>
            </a:p>
          </p:txBody>
        </p:sp>
        <p:sp>
          <p:nvSpPr>
            <p:cNvPr id="11284" name="AutoShape 18"/>
            <p:cNvSpPr>
              <a:spLocks noChangeArrowheads="1"/>
            </p:cNvSpPr>
            <p:nvPr/>
          </p:nvSpPr>
          <p:spPr bwMode="auto">
            <a:xfrm>
              <a:off x="2544" y="3580"/>
              <a:ext cx="476" cy="14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 cap="sq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/>
            <a:lstStyle/>
            <a:p>
              <a:pPr algn="ctr">
                <a:spcAft>
                  <a:spcPct val="0"/>
                </a:spcAft>
                <a:buSzTx/>
                <a:buFontTx/>
                <a:buNone/>
              </a:pPr>
              <a:r>
                <a:rPr lang="zh-CN" altLang="en-US" sz="2400">
                  <a:effectLst/>
                  <a:latin typeface="Times New Roman" pitchFamily="18" charset="0"/>
                </a:rPr>
                <a:t>班号</a:t>
              </a:r>
            </a:p>
          </p:txBody>
        </p:sp>
        <p:sp>
          <p:nvSpPr>
            <p:cNvPr id="11285" name="AutoShape 19"/>
            <p:cNvSpPr>
              <a:spLocks noChangeArrowheads="1"/>
            </p:cNvSpPr>
            <p:nvPr/>
          </p:nvSpPr>
          <p:spPr bwMode="auto">
            <a:xfrm>
              <a:off x="3120" y="3580"/>
              <a:ext cx="476" cy="14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 cap="sq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/>
            <a:lstStyle/>
            <a:p>
              <a:pPr algn="ctr">
                <a:spcAft>
                  <a:spcPct val="0"/>
                </a:spcAft>
                <a:buSzTx/>
                <a:buFontTx/>
                <a:buNone/>
              </a:pPr>
              <a:r>
                <a:rPr lang="zh-CN" altLang="en-US" sz="2400">
                  <a:effectLst/>
                  <a:latin typeface="Times New Roman" pitchFamily="18" charset="0"/>
                </a:rPr>
                <a:t>班名</a:t>
              </a:r>
            </a:p>
          </p:txBody>
        </p:sp>
        <p:cxnSp>
          <p:nvCxnSpPr>
            <p:cNvPr id="11286" name="AutoShape 20"/>
            <p:cNvCxnSpPr>
              <a:cxnSpLocks noChangeShapeType="1"/>
              <a:stCxn id="11283" idx="2"/>
              <a:endCxn id="11284" idx="0"/>
            </p:cNvCxnSpPr>
            <p:nvPr/>
          </p:nvCxnSpPr>
          <p:spPr bwMode="auto">
            <a:xfrm flipH="1">
              <a:off x="2782" y="3144"/>
              <a:ext cx="242" cy="436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87" name="AutoShape 21"/>
            <p:cNvCxnSpPr>
              <a:cxnSpLocks noChangeShapeType="1"/>
              <a:stCxn id="11283" idx="2"/>
              <a:endCxn id="11285" idx="0"/>
            </p:cNvCxnSpPr>
            <p:nvPr/>
          </p:nvCxnSpPr>
          <p:spPr bwMode="auto">
            <a:xfrm>
              <a:off x="3024" y="3144"/>
              <a:ext cx="334" cy="436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288" name="Rectangle 22"/>
            <p:cNvSpPr>
              <a:spLocks noChangeArrowheads="1"/>
            </p:cNvSpPr>
            <p:nvPr/>
          </p:nvSpPr>
          <p:spPr bwMode="auto">
            <a:xfrm>
              <a:off x="1104" y="3000"/>
              <a:ext cx="480" cy="144"/>
            </a:xfrm>
            <a:prstGeom prst="rect">
              <a:avLst/>
            </a:prstGeom>
            <a:solidFill>
              <a:schemeClr val="bg1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/>
            <a:lstStyle/>
            <a:p>
              <a:pPr algn="ctr">
                <a:spcAft>
                  <a:spcPct val="0"/>
                </a:spcAft>
                <a:buSzTx/>
                <a:buFontTx/>
                <a:buNone/>
              </a:pPr>
              <a:r>
                <a:rPr lang="zh-CN" altLang="en-US" sz="2400">
                  <a:effectLst/>
                  <a:latin typeface="Times New Roman" pitchFamily="18" charset="0"/>
                </a:rPr>
                <a:t>学生</a:t>
              </a:r>
            </a:p>
          </p:txBody>
        </p:sp>
        <p:sp>
          <p:nvSpPr>
            <p:cNvPr id="11289" name="AutoShape 23"/>
            <p:cNvSpPr>
              <a:spLocks noChangeArrowheads="1"/>
            </p:cNvSpPr>
            <p:nvPr/>
          </p:nvSpPr>
          <p:spPr bwMode="auto">
            <a:xfrm>
              <a:off x="548" y="3585"/>
              <a:ext cx="385" cy="15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 cap="sq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/>
            <a:lstStyle/>
            <a:p>
              <a:pPr algn="ctr">
                <a:spcAft>
                  <a:spcPct val="0"/>
                </a:spcAft>
                <a:buSzTx/>
                <a:buFontTx/>
                <a:buNone/>
              </a:pPr>
              <a:r>
                <a:rPr lang="zh-CN" altLang="en-US" sz="2400">
                  <a:effectLst/>
                  <a:latin typeface="Times New Roman" pitchFamily="18" charset="0"/>
                </a:rPr>
                <a:t>学号</a:t>
              </a:r>
            </a:p>
          </p:txBody>
        </p:sp>
        <p:sp>
          <p:nvSpPr>
            <p:cNvPr id="11290" name="AutoShape 24"/>
            <p:cNvSpPr>
              <a:spLocks noChangeArrowheads="1"/>
            </p:cNvSpPr>
            <p:nvPr/>
          </p:nvSpPr>
          <p:spPr bwMode="auto">
            <a:xfrm>
              <a:off x="988" y="3585"/>
              <a:ext cx="387" cy="15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 cap="sq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/>
            <a:lstStyle/>
            <a:p>
              <a:pPr algn="ctr">
                <a:spcAft>
                  <a:spcPct val="0"/>
                </a:spcAft>
                <a:buSzTx/>
                <a:buFontTx/>
                <a:buNone/>
              </a:pPr>
              <a:r>
                <a:rPr lang="zh-CN" altLang="en-US" sz="2400">
                  <a:effectLst/>
                  <a:latin typeface="Times New Roman" pitchFamily="18" charset="0"/>
                </a:rPr>
                <a:t>姓名</a:t>
              </a:r>
            </a:p>
          </p:txBody>
        </p:sp>
        <p:sp>
          <p:nvSpPr>
            <p:cNvPr id="11291" name="AutoShape 25"/>
            <p:cNvSpPr>
              <a:spLocks noChangeArrowheads="1"/>
            </p:cNvSpPr>
            <p:nvPr/>
          </p:nvSpPr>
          <p:spPr bwMode="auto">
            <a:xfrm>
              <a:off x="1831" y="3585"/>
              <a:ext cx="385" cy="15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 cap="sq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/>
            <a:lstStyle/>
            <a:p>
              <a:pPr algn="ctr">
                <a:spcAft>
                  <a:spcPct val="0"/>
                </a:spcAft>
                <a:buSzTx/>
                <a:buFontTx/>
                <a:buNone/>
              </a:pPr>
              <a:r>
                <a:rPr lang="zh-CN" altLang="en-US" sz="2400">
                  <a:effectLst/>
                  <a:latin typeface="Times New Roman" pitchFamily="18" charset="0"/>
                </a:rPr>
                <a:t>性别</a:t>
              </a:r>
            </a:p>
          </p:txBody>
        </p:sp>
        <p:sp>
          <p:nvSpPr>
            <p:cNvPr id="11292" name="AutoShape 26"/>
            <p:cNvSpPr>
              <a:spLocks noChangeArrowheads="1"/>
            </p:cNvSpPr>
            <p:nvPr/>
          </p:nvSpPr>
          <p:spPr bwMode="auto">
            <a:xfrm>
              <a:off x="1412" y="3585"/>
              <a:ext cx="385" cy="15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 cap="sq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/>
            <a:lstStyle/>
            <a:p>
              <a:pPr algn="ctr">
                <a:spcAft>
                  <a:spcPct val="0"/>
                </a:spcAft>
                <a:buSzTx/>
                <a:buFontTx/>
                <a:buNone/>
              </a:pPr>
              <a:r>
                <a:rPr lang="zh-CN" altLang="en-US" sz="2400">
                  <a:effectLst/>
                  <a:latin typeface="Times New Roman" pitchFamily="18" charset="0"/>
                </a:rPr>
                <a:t>年龄</a:t>
              </a:r>
            </a:p>
          </p:txBody>
        </p:sp>
        <p:cxnSp>
          <p:nvCxnSpPr>
            <p:cNvPr id="11293" name="AutoShape 27"/>
            <p:cNvCxnSpPr>
              <a:cxnSpLocks noChangeShapeType="1"/>
              <a:stCxn id="11288" idx="2"/>
              <a:endCxn id="11289" idx="0"/>
            </p:cNvCxnSpPr>
            <p:nvPr/>
          </p:nvCxnSpPr>
          <p:spPr bwMode="auto">
            <a:xfrm flipH="1">
              <a:off x="741" y="3144"/>
              <a:ext cx="603" cy="441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94" name="AutoShape 28"/>
            <p:cNvCxnSpPr>
              <a:cxnSpLocks noChangeShapeType="1"/>
              <a:stCxn id="11288" idx="2"/>
              <a:endCxn id="11290" idx="0"/>
            </p:cNvCxnSpPr>
            <p:nvPr/>
          </p:nvCxnSpPr>
          <p:spPr bwMode="auto">
            <a:xfrm flipH="1">
              <a:off x="1181" y="3144"/>
              <a:ext cx="163" cy="441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95" name="AutoShape 29"/>
            <p:cNvCxnSpPr>
              <a:cxnSpLocks noChangeShapeType="1"/>
              <a:stCxn id="11288" idx="2"/>
              <a:endCxn id="11292" idx="0"/>
            </p:cNvCxnSpPr>
            <p:nvPr/>
          </p:nvCxnSpPr>
          <p:spPr bwMode="auto">
            <a:xfrm>
              <a:off x="1344" y="3144"/>
              <a:ext cx="261" cy="441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96" name="AutoShape 30"/>
            <p:cNvCxnSpPr>
              <a:cxnSpLocks noChangeShapeType="1"/>
              <a:stCxn id="11288" idx="2"/>
              <a:endCxn id="11291" idx="0"/>
            </p:cNvCxnSpPr>
            <p:nvPr/>
          </p:nvCxnSpPr>
          <p:spPr bwMode="auto">
            <a:xfrm>
              <a:off x="1344" y="3144"/>
              <a:ext cx="680" cy="441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297" name="AutoShape 31"/>
            <p:cNvSpPr>
              <a:spLocks noChangeArrowheads="1"/>
            </p:cNvSpPr>
            <p:nvPr/>
          </p:nvSpPr>
          <p:spPr bwMode="auto">
            <a:xfrm>
              <a:off x="1824" y="2928"/>
              <a:ext cx="769" cy="288"/>
            </a:xfrm>
            <a:prstGeom prst="diamond">
              <a:avLst/>
            </a:prstGeom>
            <a:solidFill>
              <a:schemeClr val="bg1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/>
            <a:lstStyle/>
            <a:p>
              <a:pPr algn="ctr">
                <a:spcAft>
                  <a:spcPct val="0"/>
                </a:spcAft>
                <a:buSzTx/>
                <a:buFontTx/>
                <a:buNone/>
              </a:pPr>
              <a:r>
                <a:rPr lang="zh-CN" altLang="en-US" sz="2400">
                  <a:effectLst/>
                  <a:latin typeface="Times New Roman" pitchFamily="18" charset="0"/>
                </a:rPr>
                <a:t>组成</a:t>
              </a:r>
            </a:p>
          </p:txBody>
        </p:sp>
        <p:cxnSp>
          <p:nvCxnSpPr>
            <p:cNvPr id="11298" name="AutoShape 32"/>
            <p:cNvCxnSpPr>
              <a:cxnSpLocks noChangeShapeType="1"/>
              <a:stCxn id="11288" idx="3"/>
              <a:endCxn id="11297" idx="1"/>
            </p:cNvCxnSpPr>
            <p:nvPr/>
          </p:nvCxnSpPr>
          <p:spPr bwMode="auto">
            <a:xfrm>
              <a:off x="1584" y="3072"/>
              <a:ext cx="240" cy="0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99" name="AutoShape 33"/>
            <p:cNvCxnSpPr>
              <a:cxnSpLocks noChangeShapeType="1"/>
              <a:stCxn id="11297" idx="3"/>
              <a:endCxn id="11283" idx="1"/>
            </p:cNvCxnSpPr>
            <p:nvPr/>
          </p:nvCxnSpPr>
          <p:spPr bwMode="auto">
            <a:xfrm>
              <a:off x="2592" y="3072"/>
              <a:ext cx="192" cy="0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300" name="Rectangle 34"/>
            <p:cNvSpPr>
              <a:spLocks noChangeArrowheads="1"/>
            </p:cNvSpPr>
            <p:nvPr/>
          </p:nvSpPr>
          <p:spPr bwMode="auto">
            <a:xfrm>
              <a:off x="2544" y="2928"/>
              <a:ext cx="288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/>
            <a:lstStyle/>
            <a:p>
              <a:pPr algn="ctr">
                <a:spcAft>
                  <a:spcPct val="0"/>
                </a:spcAft>
                <a:buSzTx/>
                <a:buFontTx/>
                <a:buNone/>
              </a:pPr>
              <a:r>
                <a:rPr lang="en-US" altLang="zh-CN" sz="2400">
                  <a:effectLst/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11301" name="Rectangle 35"/>
            <p:cNvSpPr>
              <a:spLocks noChangeArrowheads="1"/>
            </p:cNvSpPr>
            <p:nvPr/>
          </p:nvSpPr>
          <p:spPr bwMode="auto">
            <a:xfrm>
              <a:off x="1584" y="2928"/>
              <a:ext cx="288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/>
            <a:lstStyle/>
            <a:p>
              <a:pPr algn="ctr">
                <a:spcAft>
                  <a:spcPct val="0"/>
                </a:spcAft>
                <a:buSzTx/>
                <a:buFontTx/>
                <a:buNone/>
              </a:pPr>
              <a:r>
                <a:rPr lang="en-US" altLang="zh-CN" sz="2400">
                  <a:effectLst/>
                  <a:latin typeface="Times New Roman" pitchFamily="18" charset="0"/>
                </a:rPr>
                <a:t>n</a:t>
              </a:r>
            </a:p>
          </p:txBody>
        </p:sp>
      </p:grpSp>
      <p:sp>
        <p:nvSpPr>
          <p:cNvPr id="1192996" name="AutoShape 36"/>
          <p:cNvSpPr>
            <a:spLocks noChangeArrowheads="1"/>
          </p:cNvSpPr>
          <p:nvPr/>
        </p:nvSpPr>
        <p:spPr bwMode="auto">
          <a:xfrm>
            <a:off x="3851275" y="2492375"/>
            <a:ext cx="457200" cy="381000"/>
          </a:xfrm>
          <a:prstGeom prst="rightArrow">
            <a:avLst>
              <a:gd name="adj1" fmla="val 50000"/>
              <a:gd name="adj2" fmla="val 30000"/>
            </a:avLst>
          </a:prstGeom>
          <a:solidFill>
            <a:srgbClr val="CCFFCC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192997" name="Text Box 37"/>
          <p:cNvSpPr txBox="1">
            <a:spLocks noChangeArrowheads="1"/>
          </p:cNvSpPr>
          <p:nvPr/>
        </p:nvSpPr>
        <p:spPr bwMode="auto">
          <a:xfrm>
            <a:off x="304800" y="4302125"/>
            <a:ext cx="8659813" cy="5746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marL="377825" indent="-377825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现实世界中的事物凡能够作为属性对待的应尽量抽象成属性：</a:t>
            </a:r>
          </a:p>
          <a:p>
            <a:pPr marL="377825" indent="-377825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① 属性不能再具有需要描述的性质。即属性必须是不可分的数据项，不能再由另一些属性组成。</a:t>
            </a:r>
            <a:endParaRPr lang="en-US" altLang="zh-CN" sz="2400" dirty="0">
              <a:effectLst>
                <a:outerShdw blurRad="38100" dist="38100" dir="2700000" algn="tl">
                  <a:srgbClr val="000000"/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marL="377825" indent="-377825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② 属性不能与其他实体具有联系。联系只发生在实体之间。</a:t>
            </a:r>
          </a:p>
        </p:txBody>
      </p:sp>
    </p:spTree>
  </p:cSld>
  <p:clrMapOvr>
    <a:masterClrMapping/>
  </p:clrMapOvr>
  <p:transition spd="med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986" name="Text Box 2"/>
          <p:cNvSpPr txBox="1">
            <a:spLocks noChangeArrowheads="1"/>
          </p:cNvSpPr>
          <p:nvPr/>
        </p:nvSpPr>
        <p:spPr bwMode="auto">
          <a:xfrm>
            <a:off x="179388" y="-33338"/>
            <a:ext cx="3223172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defTabSz="914400" eaLnBrk="1" latinLnBrk="0" hangingPunct="1">
              <a:spcBef>
                <a:spcPts val="0"/>
              </a:spcBef>
              <a:buNone/>
              <a:defRPr sz="4000" b="1" baseline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  <a:cs typeface="+mj-cs"/>
              </a:defRPr>
            </a:lvl1pPr>
          </a:lstStyle>
          <a:p>
            <a:r>
              <a:rPr lang="zh-CN" altLang="en-US" dirty="0"/>
              <a:t>概念结构设计</a:t>
            </a:r>
          </a:p>
        </p:txBody>
      </p:sp>
      <p:sp>
        <p:nvSpPr>
          <p:cNvPr id="1193988" name="Rectangle 4"/>
          <p:cNvSpPr>
            <a:spLocks noChangeArrowheads="1"/>
          </p:cNvSpPr>
          <p:nvPr/>
        </p:nvSpPr>
        <p:spPr bwMode="auto">
          <a:xfrm>
            <a:off x="5651500" y="1916708"/>
            <a:ext cx="890588" cy="274637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学生</a:t>
            </a:r>
          </a:p>
        </p:txBody>
      </p:sp>
      <p:sp>
        <p:nvSpPr>
          <p:cNvPr id="1193989" name="AutoShape 5"/>
          <p:cNvSpPr>
            <a:spLocks noChangeArrowheads="1"/>
          </p:cNvSpPr>
          <p:nvPr/>
        </p:nvSpPr>
        <p:spPr bwMode="auto">
          <a:xfrm>
            <a:off x="4157663" y="2931120"/>
            <a:ext cx="714375" cy="30321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学号</a:t>
            </a:r>
          </a:p>
        </p:txBody>
      </p:sp>
      <p:sp>
        <p:nvSpPr>
          <p:cNvPr id="1193990" name="AutoShape 6"/>
          <p:cNvSpPr>
            <a:spLocks noChangeArrowheads="1"/>
          </p:cNvSpPr>
          <p:nvPr/>
        </p:nvSpPr>
        <p:spPr bwMode="auto">
          <a:xfrm>
            <a:off x="4945063" y="2931120"/>
            <a:ext cx="714375" cy="30321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姓名</a:t>
            </a:r>
          </a:p>
        </p:txBody>
      </p:sp>
      <p:sp>
        <p:nvSpPr>
          <p:cNvPr id="1193991" name="AutoShape 7"/>
          <p:cNvSpPr>
            <a:spLocks noChangeArrowheads="1"/>
          </p:cNvSpPr>
          <p:nvPr/>
        </p:nvSpPr>
        <p:spPr bwMode="auto">
          <a:xfrm>
            <a:off x="6510338" y="2931120"/>
            <a:ext cx="715962" cy="30321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性别</a:t>
            </a:r>
          </a:p>
        </p:txBody>
      </p:sp>
      <p:sp>
        <p:nvSpPr>
          <p:cNvPr id="1193992" name="AutoShape 8"/>
          <p:cNvSpPr>
            <a:spLocks noChangeArrowheads="1"/>
          </p:cNvSpPr>
          <p:nvPr/>
        </p:nvSpPr>
        <p:spPr bwMode="auto">
          <a:xfrm>
            <a:off x="5732463" y="2931120"/>
            <a:ext cx="715962" cy="30321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年龄</a:t>
            </a:r>
          </a:p>
        </p:txBody>
      </p:sp>
      <p:cxnSp>
        <p:nvCxnSpPr>
          <p:cNvPr id="12297" name="AutoShape 9"/>
          <p:cNvCxnSpPr>
            <a:cxnSpLocks noChangeShapeType="1"/>
            <a:stCxn id="1193988" idx="2"/>
            <a:endCxn id="1193989" idx="0"/>
          </p:cNvCxnSpPr>
          <p:nvPr/>
        </p:nvCxnSpPr>
        <p:spPr bwMode="auto">
          <a:xfrm flipH="1">
            <a:off x="4516438" y="2191345"/>
            <a:ext cx="1579562" cy="739775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298" name="AutoShape 10"/>
          <p:cNvCxnSpPr>
            <a:cxnSpLocks noChangeShapeType="1"/>
            <a:stCxn id="1193988" idx="2"/>
            <a:endCxn id="1193990" idx="0"/>
          </p:cNvCxnSpPr>
          <p:nvPr/>
        </p:nvCxnSpPr>
        <p:spPr bwMode="auto">
          <a:xfrm flipH="1">
            <a:off x="5303838" y="2191345"/>
            <a:ext cx="792162" cy="739775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299" name="AutoShape 11"/>
          <p:cNvCxnSpPr>
            <a:cxnSpLocks noChangeShapeType="1"/>
            <a:stCxn id="1193988" idx="2"/>
            <a:endCxn id="1193992" idx="0"/>
          </p:cNvCxnSpPr>
          <p:nvPr/>
        </p:nvCxnSpPr>
        <p:spPr bwMode="auto">
          <a:xfrm flipH="1">
            <a:off x="6091238" y="2191345"/>
            <a:ext cx="4762" cy="739775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300" name="AutoShape 12"/>
          <p:cNvCxnSpPr>
            <a:cxnSpLocks noChangeShapeType="1"/>
            <a:stCxn id="1193988" idx="2"/>
            <a:endCxn id="1193991" idx="0"/>
          </p:cNvCxnSpPr>
          <p:nvPr/>
        </p:nvCxnSpPr>
        <p:spPr bwMode="auto">
          <a:xfrm>
            <a:off x="6096000" y="2191345"/>
            <a:ext cx="773113" cy="739775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93997" name="AutoShape 13"/>
          <p:cNvSpPr>
            <a:spLocks noChangeArrowheads="1"/>
          </p:cNvSpPr>
          <p:nvPr/>
        </p:nvSpPr>
        <p:spPr bwMode="auto">
          <a:xfrm>
            <a:off x="7300913" y="2931120"/>
            <a:ext cx="714375" cy="30321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系</a:t>
            </a:r>
          </a:p>
        </p:txBody>
      </p:sp>
      <p:cxnSp>
        <p:nvCxnSpPr>
          <p:cNvPr id="12302" name="AutoShape 14"/>
          <p:cNvCxnSpPr>
            <a:cxnSpLocks noChangeShapeType="1"/>
            <a:stCxn id="1193988" idx="2"/>
            <a:endCxn id="1193997" idx="0"/>
          </p:cNvCxnSpPr>
          <p:nvPr/>
        </p:nvCxnSpPr>
        <p:spPr bwMode="auto">
          <a:xfrm>
            <a:off x="6096000" y="2191345"/>
            <a:ext cx="1563688" cy="739775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2303" name="Group 15"/>
          <p:cNvGrpSpPr>
            <a:grpSpLocks/>
          </p:cNvGrpSpPr>
          <p:nvPr/>
        </p:nvGrpSpPr>
        <p:grpSpPr bwMode="auto">
          <a:xfrm>
            <a:off x="539750" y="4366220"/>
            <a:ext cx="8280400" cy="1500188"/>
            <a:chOff x="540" y="2352"/>
            <a:chExt cx="4457" cy="788"/>
          </a:xfrm>
        </p:grpSpPr>
        <p:sp>
          <p:nvSpPr>
            <p:cNvPr id="1194000" name="Rectangle 16"/>
            <p:cNvSpPr>
              <a:spLocks noChangeArrowheads="1"/>
            </p:cNvSpPr>
            <p:nvPr/>
          </p:nvSpPr>
          <p:spPr bwMode="auto">
            <a:xfrm>
              <a:off x="3552" y="2472"/>
              <a:ext cx="432" cy="144"/>
            </a:xfrm>
            <a:prstGeom prst="rect">
              <a:avLst/>
            </a:prstGeom>
            <a:solidFill>
              <a:schemeClr val="bg1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/>
            <a:lstStyle/>
            <a:p>
              <a:pPr algn="ctr">
                <a:spcAft>
                  <a:spcPct val="0"/>
                </a:spcAft>
                <a:buSzTx/>
                <a:buFontTx/>
                <a:buNone/>
                <a:defRPr/>
              </a:pPr>
              <a:r>
                <a:rPr lang="zh-CN" alt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</a:rPr>
                <a:t>系</a:t>
              </a:r>
            </a:p>
          </p:txBody>
        </p:sp>
        <p:sp>
          <p:nvSpPr>
            <p:cNvPr id="1194001" name="Rectangle 17"/>
            <p:cNvSpPr>
              <a:spLocks noChangeArrowheads="1"/>
            </p:cNvSpPr>
            <p:nvPr/>
          </p:nvSpPr>
          <p:spPr bwMode="auto">
            <a:xfrm>
              <a:off x="1104" y="2472"/>
              <a:ext cx="480" cy="144"/>
            </a:xfrm>
            <a:prstGeom prst="rect">
              <a:avLst/>
            </a:prstGeom>
            <a:solidFill>
              <a:schemeClr val="bg1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/>
            <a:lstStyle/>
            <a:p>
              <a:pPr algn="ctr">
                <a:spcAft>
                  <a:spcPct val="0"/>
                </a:spcAft>
                <a:buSzTx/>
                <a:buFontTx/>
                <a:buNone/>
                <a:defRPr/>
              </a:pPr>
              <a:r>
                <a:rPr lang="zh-CN" alt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</a:rPr>
                <a:t>学生</a:t>
              </a:r>
            </a:p>
          </p:txBody>
        </p:sp>
        <p:sp>
          <p:nvSpPr>
            <p:cNvPr id="1194002" name="AutoShape 18"/>
            <p:cNvSpPr>
              <a:spLocks noChangeArrowheads="1"/>
            </p:cNvSpPr>
            <p:nvPr/>
          </p:nvSpPr>
          <p:spPr bwMode="auto">
            <a:xfrm>
              <a:off x="540" y="2981"/>
              <a:ext cx="385" cy="15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 cap="sq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/>
            <a:lstStyle/>
            <a:p>
              <a:pPr algn="ctr">
                <a:spcAft>
                  <a:spcPct val="0"/>
                </a:spcAft>
                <a:buSzTx/>
                <a:buFontTx/>
                <a:buNone/>
                <a:defRPr/>
              </a:pPr>
              <a:r>
                <a:rPr lang="zh-CN" alt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</a:rPr>
                <a:t>学号</a:t>
              </a:r>
            </a:p>
          </p:txBody>
        </p:sp>
        <p:sp>
          <p:nvSpPr>
            <p:cNvPr id="1194003" name="AutoShape 19"/>
            <p:cNvSpPr>
              <a:spLocks noChangeArrowheads="1"/>
            </p:cNvSpPr>
            <p:nvPr/>
          </p:nvSpPr>
          <p:spPr bwMode="auto">
            <a:xfrm>
              <a:off x="964" y="2981"/>
              <a:ext cx="385" cy="15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 cap="sq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/>
            <a:lstStyle/>
            <a:p>
              <a:pPr algn="ctr">
                <a:spcAft>
                  <a:spcPct val="0"/>
                </a:spcAft>
                <a:buSzTx/>
                <a:buFontTx/>
                <a:buNone/>
                <a:defRPr/>
              </a:pPr>
              <a:r>
                <a:rPr lang="zh-CN" alt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</a:rPr>
                <a:t>姓名</a:t>
              </a:r>
            </a:p>
          </p:txBody>
        </p:sp>
        <p:sp>
          <p:nvSpPr>
            <p:cNvPr id="1194004" name="AutoShape 20"/>
            <p:cNvSpPr>
              <a:spLocks noChangeArrowheads="1"/>
            </p:cNvSpPr>
            <p:nvPr/>
          </p:nvSpPr>
          <p:spPr bwMode="auto">
            <a:xfrm>
              <a:off x="1807" y="2981"/>
              <a:ext cx="385" cy="15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 cap="sq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/>
            <a:lstStyle/>
            <a:p>
              <a:pPr algn="ctr">
                <a:spcAft>
                  <a:spcPct val="0"/>
                </a:spcAft>
                <a:buSzTx/>
                <a:buFontTx/>
                <a:buNone/>
                <a:defRPr/>
              </a:pPr>
              <a:r>
                <a:rPr lang="zh-CN" alt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</a:rPr>
                <a:t>性别</a:t>
              </a:r>
            </a:p>
          </p:txBody>
        </p:sp>
        <p:sp>
          <p:nvSpPr>
            <p:cNvPr id="1194005" name="AutoShape 21"/>
            <p:cNvSpPr>
              <a:spLocks noChangeArrowheads="1"/>
            </p:cNvSpPr>
            <p:nvPr/>
          </p:nvSpPr>
          <p:spPr bwMode="auto">
            <a:xfrm>
              <a:off x="1388" y="2981"/>
              <a:ext cx="385" cy="15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 cap="sq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/>
            <a:lstStyle/>
            <a:p>
              <a:pPr algn="ctr">
                <a:spcAft>
                  <a:spcPct val="0"/>
                </a:spcAft>
                <a:buSzTx/>
                <a:buFontTx/>
                <a:buNone/>
                <a:defRPr/>
              </a:pPr>
              <a:r>
                <a:rPr lang="zh-CN" alt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</a:rPr>
                <a:t>年龄</a:t>
              </a:r>
            </a:p>
          </p:txBody>
        </p:sp>
        <p:cxnSp>
          <p:nvCxnSpPr>
            <p:cNvPr id="12315" name="AutoShape 22"/>
            <p:cNvCxnSpPr>
              <a:cxnSpLocks noChangeShapeType="1"/>
              <a:stCxn id="1194001" idx="2"/>
              <a:endCxn id="1194002" idx="0"/>
            </p:cNvCxnSpPr>
            <p:nvPr/>
          </p:nvCxnSpPr>
          <p:spPr bwMode="auto">
            <a:xfrm flipH="1">
              <a:off x="733" y="2616"/>
              <a:ext cx="611" cy="365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16" name="AutoShape 23"/>
            <p:cNvCxnSpPr>
              <a:cxnSpLocks noChangeShapeType="1"/>
              <a:stCxn id="1194001" idx="2"/>
              <a:endCxn id="1194003" idx="0"/>
            </p:cNvCxnSpPr>
            <p:nvPr/>
          </p:nvCxnSpPr>
          <p:spPr bwMode="auto">
            <a:xfrm flipH="1">
              <a:off x="1157" y="2616"/>
              <a:ext cx="187" cy="365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17" name="AutoShape 24"/>
            <p:cNvCxnSpPr>
              <a:cxnSpLocks noChangeShapeType="1"/>
              <a:stCxn id="1194001" idx="2"/>
              <a:endCxn id="1194005" idx="0"/>
            </p:cNvCxnSpPr>
            <p:nvPr/>
          </p:nvCxnSpPr>
          <p:spPr bwMode="auto">
            <a:xfrm>
              <a:off x="1344" y="2616"/>
              <a:ext cx="237" cy="365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18" name="AutoShape 25"/>
            <p:cNvCxnSpPr>
              <a:cxnSpLocks noChangeShapeType="1"/>
              <a:stCxn id="1194001" idx="2"/>
              <a:endCxn id="1194004" idx="0"/>
            </p:cNvCxnSpPr>
            <p:nvPr/>
          </p:nvCxnSpPr>
          <p:spPr bwMode="auto">
            <a:xfrm>
              <a:off x="1344" y="2616"/>
              <a:ext cx="656" cy="365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94010" name="AutoShape 26"/>
            <p:cNvSpPr>
              <a:spLocks noChangeArrowheads="1"/>
            </p:cNvSpPr>
            <p:nvPr/>
          </p:nvSpPr>
          <p:spPr bwMode="auto">
            <a:xfrm>
              <a:off x="2832" y="2981"/>
              <a:ext cx="385" cy="15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 cap="sq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/>
            <a:lstStyle/>
            <a:p>
              <a:pPr algn="ctr">
                <a:spcAft>
                  <a:spcPct val="0"/>
                </a:spcAft>
                <a:buSzTx/>
                <a:buFontTx/>
                <a:buNone/>
                <a:defRPr/>
              </a:pPr>
              <a:r>
                <a:rPr lang="zh-CN" alt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</a:rPr>
                <a:t>系号</a:t>
              </a:r>
            </a:p>
          </p:txBody>
        </p:sp>
        <p:sp>
          <p:nvSpPr>
            <p:cNvPr id="1194011" name="AutoShape 27"/>
            <p:cNvSpPr>
              <a:spLocks noChangeArrowheads="1"/>
            </p:cNvSpPr>
            <p:nvPr/>
          </p:nvSpPr>
          <p:spPr bwMode="auto">
            <a:xfrm>
              <a:off x="3264" y="2981"/>
              <a:ext cx="385" cy="15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 cap="sq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/>
            <a:lstStyle/>
            <a:p>
              <a:pPr algn="ctr">
                <a:spcAft>
                  <a:spcPct val="0"/>
                </a:spcAft>
                <a:buSzTx/>
                <a:buFontTx/>
                <a:buNone/>
                <a:defRPr/>
              </a:pPr>
              <a:r>
                <a:rPr lang="zh-CN" alt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</a:rPr>
                <a:t>系名</a:t>
              </a:r>
              <a:endPara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endParaRPr>
            </a:p>
          </p:txBody>
        </p:sp>
        <p:sp>
          <p:nvSpPr>
            <p:cNvPr id="1194012" name="AutoShape 28"/>
            <p:cNvSpPr>
              <a:spLocks noChangeArrowheads="1"/>
            </p:cNvSpPr>
            <p:nvPr/>
          </p:nvSpPr>
          <p:spPr bwMode="auto">
            <a:xfrm>
              <a:off x="3696" y="2981"/>
              <a:ext cx="521" cy="15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 cap="sq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/>
            <a:lstStyle/>
            <a:p>
              <a:pPr algn="ctr">
                <a:spcAft>
                  <a:spcPct val="0"/>
                </a:spcAft>
                <a:buSzTx/>
                <a:buFontTx/>
                <a:buNone/>
                <a:defRPr/>
              </a:pPr>
              <a:r>
                <a:rPr lang="zh-CN" alt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</a:rPr>
                <a:t>系主任</a:t>
              </a:r>
              <a:endPara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endParaRPr>
            </a:p>
          </p:txBody>
        </p:sp>
        <p:sp>
          <p:nvSpPr>
            <p:cNvPr id="1194013" name="AutoShape 29"/>
            <p:cNvSpPr>
              <a:spLocks noChangeArrowheads="1"/>
            </p:cNvSpPr>
            <p:nvPr/>
          </p:nvSpPr>
          <p:spPr bwMode="auto">
            <a:xfrm>
              <a:off x="4272" y="2981"/>
              <a:ext cx="725" cy="15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 cap="sq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/>
            <a:lstStyle/>
            <a:p>
              <a:pPr algn="ctr">
                <a:spcAft>
                  <a:spcPct val="0"/>
                </a:spcAft>
                <a:buSzTx/>
                <a:buFontTx/>
                <a:buNone/>
                <a:defRPr/>
              </a:pPr>
              <a:r>
                <a:rPr lang="zh-CN" alt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</a:rPr>
                <a:t>学生数量</a:t>
              </a:r>
              <a:endPara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endParaRPr>
            </a:p>
          </p:txBody>
        </p:sp>
        <p:cxnSp>
          <p:nvCxnSpPr>
            <p:cNvPr id="12323" name="AutoShape 30"/>
            <p:cNvCxnSpPr>
              <a:cxnSpLocks noChangeShapeType="1"/>
              <a:stCxn id="1194000" idx="2"/>
              <a:endCxn id="1194010" idx="0"/>
            </p:cNvCxnSpPr>
            <p:nvPr/>
          </p:nvCxnSpPr>
          <p:spPr bwMode="auto">
            <a:xfrm flipH="1">
              <a:off x="3025" y="2616"/>
              <a:ext cx="743" cy="365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24" name="AutoShape 31"/>
            <p:cNvCxnSpPr>
              <a:cxnSpLocks noChangeShapeType="1"/>
              <a:stCxn id="1194000" idx="2"/>
              <a:endCxn id="1194011" idx="0"/>
            </p:cNvCxnSpPr>
            <p:nvPr/>
          </p:nvCxnSpPr>
          <p:spPr bwMode="auto">
            <a:xfrm flipH="1">
              <a:off x="3457" y="2616"/>
              <a:ext cx="311" cy="365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25" name="AutoShape 32"/>
            <p:cNvCxnSpPr>
              <a:cxnSpLocks noChangeShapeType="1"/>
              <a:stCxn id="1194000" idx="2"/>
              <a:endCxn id="1194012" idx="0"/>
            </p:cNvCxnSpPr>
            <p:nvPr/>
          </p:nvCxnSpPr>
          <p:spPr bwMode="auto">
            <a:xfrm>
              <a:off x="3768" y="2616"/>
              <a:ext cx="189" cy="365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26" name="AutoShape 33"/>
            <p:cNvCxnSpPr>
              <a:cxnSpLocks noChangeShapeType="1"/>
              <a:stCxn id="1194000" idx="2"/>
              <a:endCxn id="1194013" idx="0"/>
            </p:cNvCxnSpPr>
            <p:nvPr/>
          </p:nvCxnSpPr>
          <p:spPr bwMode="auto">
            <a:xfrm>
              <a:off x="3768" y="2616"/>
              <a:ext cx="867" cy="365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94018" name="AutoShape 34"/>
            <p:cNvSpPr>
              <a:spLocks noChangeArrowheads="1"/>
            </p:cNvSpPr>
            <p:nvPr/>
          </p:nvSpPr>
          <p:spPr bwMode="auto">
            <a:xfrm>
              <a:off x="2208" y="2400"/>
              <a:ext cx="768" cy="288"/>
            </a:xfrm>
            <a:prstGeom prst="diamond">
              <a:avLst/>
            </a:prstGeom>
            <a:solidFill>
              <a:schemeClr val="bg1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/>
            <a:lstStyle/>
            <a:p>
              <a:pPr algn="ctr">
                <a:spcAft>
                  <a:spcPct val="0"/>
                </a:spcAft>
                <a:buSzTx/>
                <a:buFontTx/>
                <a:buNone/>
                <a:defRPr/>
              </a:pPr>
              <a:r>
                <a:rPr lang="zh-CN" alt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</a:rPr>
                <a:t>属于</a:t>
              </a:r>
            </a:p>
          </p:txBody>
        </p:sp>
        <p:sp>
          <p:nvSpPr>
            <p:cNvPr id="1194019" name="Rectangle 35"/>
            <p:cNvSpPr>
              <a:spLocks noChangeArrowheads="1"/>
            </p:cNvSpPr>
            <p:nvPr/>
          </p:nvSpPr>
          <p:spPr bwMode="auto">
            <a:xfrm>
              <a:off x="1730" y="2352"/>
              <a:ext cx="479" cy="144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/>
          </p:spPr>
          <p:txBody>
            <a:bodyPr wrap="none" lIns="0" tIns="0" rIns="0" bIns="0" anchor="ctr"/>
            <a:lstStyle/>
            <a:p>
              <a:pPr algn="ctr">
                <a:spcAft>
                  <a:spcPct val="0"/>
                </a:spcAft>
                <a:buSzTx/>
                <a:buFontTx/>
                <a:buNone/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</a:rPr>
                <a:t>n</a:t>
              </a:r>
            </a:p>
          </p:txBody>
        </p:sp>
        <p:cxnSp>
          <p:nvCxnSpPr>
            <p:cNvPr id="12329" name="AutoShape 36"/>
            <p:cNvCxnSpPr>
              <a:cxnSpLocks noChangeShapeType="1"/>
              <a:stCxn id="1194001" idx="3"/>
              <a:endCxn id="1194018" idx="1"/>
            </p:cNvCxnSpPr>
            <p:nvPr/>
          </p:nvCxnSpPr>
          <p:spPr bwMode="auto">
            <a:xfrm>
              <a:off x="1584" y="2544"/>
              <a:ext cx="624" cy="0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30" name="AutoShape 37"/>
            <p:cNvCxnSpPr>
              <a:cxnSpLocks noChangeShapeType="1"/>
              <a:stCxn id="1194018" idx="3"/>
              <a:endCxn id="1194000" idx="1"/>
            </p:cNvCxnSpPr>
            <p:nvPr/>
          </p:nvCxnSpPr>
          <p:spPr bwMode="auto">
            <a:xfrm>
              <a:off x="2976" y="2544"/>
              <a:ext cx="576" cy="0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94022" name="Rectangle 38"/>
            <p:cNvSpPr>
              <a:spLocks noChangeArrowheads="1"/>
            </p:cNvSpPr>
            <p:nvPr/>
          </p:nvSpPr>
          <p:spPr bwMode="auto">
            <a:xfrm>
              <a:off x="3024" y="2352"/>
              <a:ext cx="480" cy="144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/>
          </p:spPr>
          <p:txBody>
            <a:bodyPr wrap="none" lIns="0" tIns="0" rIns="0" bIns="0" anchor="ctr"/>
            <a:lstStyle/>
            <a:p>
              <a:pPr algn="ctr">
                <a:spcAft>
                  <a:spcPct val="0"/>
                </a:spcAft>
                <a:buSzTx/>
                <a:buFontTx/>
                <a:buNone/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</a:rPr>
                <a:t>1</a:t>
              </a:r>
            </a:p>
          </p:txBody>
        </p:sp>
      </p:grpSp>
      <p:sp>
        <p:nvSpPr>
          <p:cNvPr id="1194023" name="Rectangle 39"/>
          <p:cNvSpPr>
            <a:spLocks noChangeArrowheads="1"/>
          </p:cNvSpPr>
          <p:nvPr/>
        </p:nvSpPr>
        <p:spPr bwMode="auto">
          <a:xfrm>
            <a:off x="5108575" y="3486745"/>
            <a:ext cx="1793875" cy="365125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/>
              </a:rPr>
              <a:t>“</a:t>
            </a:r>
            <a:r>
              <a:rPr lang="zh-CN" altLang="en-US"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系</a:t>
            </a:r>
            <a:r>
              <a:rPr lang="zh-CN" altLang="en-US"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/>
              </a:rPr>
              <a:t>”</a:t>
            </a:r>
            <a:r>
              <a:rPr lang="zh-CN" altLang="en-US"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作为属性</a:t>
            </a:r>
          </a:p>
        </p:txBody>
      </p:sp>
      <p:sp>
        <p:nvSpPr>
          <p:cNvPr id="1194024" name="Rectangle 40"/>
          <p:cNvSpPr>
            <a:spLocks noChangeArrowheads="1"/>
          </p:cNvSpPr>
          <p:nvPr/>
        </p:nvSpPr>
        <p:spPr bwMode="auto">
          <a:xfrm>
            <a:off x="3492500" y="6142633"/>
            <a:ext cx="1793875" cy="365125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/>
              </a:rPr>
              <a:t>“</a:t>
            </a:r>
            <a:r>
              <a:rPr lang="zh-CN" altLang="en-US"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系</a:t>
            </a:r>
            <a:r>
              <a:rPr lang="zh-CN" altLang="en-US"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/>
              </a:rPr>
              <a:t>”</a:t>
            </a:r>
            <a:r>
              <a:rPr lang="zh-CN" altLang="en-US" sz="24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作为实体</a:t>
            </a:r>
            <a:endParaRPr lang="en-US" altLang="zh-CN" sz="2400">
              <a:solidFill>
                <a:srgbClr val="CCFFCC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2306" name="AutoShape 41"/>
          <p:cNvSpPr>
            <a:spLocks noChangeArrowheads="1"/>
          </p:cNvSpPr>
          <p:nvPr/>
        </p:nvSpPr>
        <p:spPr bwMode="auto">
          <a:xfrm>
            <a:off x="395288" y="1700808"/>
            <a:ext cx="2447925" cy="2016125"/>
          </a:xfrm>
          <a:prstGeom prst="star32">
            <a:avLst>
              <a:gd name="adj" fmla="val 48875"/>
            </a:avLst>
          </a:prstGeom>
          <a:solidFill>
            <a:srgbClr val="CC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lIns="0" tIns="0" rIns="0" bIns="0"/>
          <a:lstStyle/>
          <a:p>
            <a:pPr algn="ctr">
              <a:spcBef>
                <a:spcPct val="15000"/>
              </a:spcBef>
              <a:spcAft>
                <a:spcPct val="0"/>
              </a:spcAft>
            </a:pPr>
            <a:r>
              <a:rPr lang="zh-CN" altLang="en-US" sz="2800" b="1">
                <a:solidFill>
                  <a:schemeClr val="bg1"/>
                </a:solidFill>
                <a:effectLst/>
                <a:latin typeface="Times New Roman" pitchFamily="18" charset="0"/>
              </a:rPr>
              <a:t>实际出发</a:t>
            </a:r>
          </a:p>
          <a:p>
            <a:pPr algn="ctr">
              <a:spcBef>
                <a:spcPct val="15000"/>
              </a:spcBef>
              <a:spcAft>
                <a:spcPct val="0"/>
              </a:spcAft>
            </a:pPr>
            <a:r>
              <a:rPr lang="zh-CN" altLang="en-US" sz="2800" b="1">
                <a:solidFill>
                  <a:schemeClr val="bg1"/>
                </a:solidFill>
                <a:effectLst/>
                <a:latin typeface="Times New Roman" pitchFamily="18" charset="0"/>
              </a:rPr>
              <a:t>仔细分析</a:t>
            </a:r>
          </a:p>
          <a:p>
            <a:pPr algn="ctr">
              <a:spcBef>
                <a:spcPct val="15000"/>
              </a:spcBef>
              <a:spcAft>
                <a:spcPct val="0"/>
              </a:spcAft>
            </a:pPr>
            <a:r>
              <a:rPr lang="zh-CN" altLang="en-US" sz="2800" b="1">
                <a:solidFill>
                  <a:schemeClr val="bg1"/>
                </a:solidFill>
                <a:effectLst/>
                <a:latin typeface="Times New Roman" pitchFamily="18" charset="0"/>
              </a:rPr>
              <a:t>择优设计</a:t>
            </a:r>
          </a:p>
        </p:txBody>
      </p:sp>
      <p:sp>
        <p:nvSpPr>
          <p:cNvPr id="1194026" name="AutoShape 42"/>
          <p:cNvSpPr>
            <a:spLocks noChangeArrowheads="1"/>
          </p:cNvSpPr>
          <p:nvPr/>
        </p:nvSpPr>
        <p:spPr bwMode="auto">
          <a:xfrm>
            <a:off x="3059113" y="2350095"/>
            <a:ext cx="720725" cy="215900"/>
          </a:xfrm>
          <a:prstGeom prst="rightArrow">
            <a:avLst>
              <a:gd name="adj1" fmla="val 50000"/>
              <a:gd name="adj2" fmla="val 83456"/>
            </a:avLst>
          </a:prstGeom>
          <a:solidFill>
            <a:schemeClr val="hlink"/>
          </a:solidFill>
          <a:ln w="12700" cap="sq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194027" name="AutoShape 43"/>
          <p:cNvSpPr>
            <a:spLocks noChangeArrowheads="1"/>
          </p:cNvSpPr>
          <p:nvPr/>
        </p:nvSpPr>
        <p:spPr bwMode="auto">
          <a:xfrm rot="1800000">
            <a:off x="2700338" y="3789958"/>
            <a:ext cx="720725" cy="215900"/>
          </a:xfrm>
          <a:prstGeom prst="rightArrow">
            <a:avLst>
              <a:gd name="adj1" fmla="val 50000"/>
              <a:gd name="adj2" fmla="val 83456"/>
            </a:avLst>
          </a:prstGeom>
          <a:solidFill>
            <a:schemeClr val="hlink"/>
          </a:solidFill>
          <a:ln w="12700" cap="sq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45" name="Rectangle 3"/>
          <p:cNvSpPr>
            <a:spLocks noGrp="1" noChangeArrowheads="1"/>
          </p:cNvSpPr>
          <p:nvPr>
            <p:ph type="title"/>
          </p:nvPr>
        </p:nvSpPr>
        <p:spPr>
          <a:xfrm>
            <a:off x="153988" y="836712"/>
            <a:ext cx="8964612" cy="566737"/>
          </a:xfrm>
        </p:spPr>
        <p:txBody>
          <a:bodyPr wrap="square"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dirty="0" smtClean="0"/>
              <a:t>设计步骤</a:t>
            </a:r>
            <a:r>
              <a:rPr lang="en-US" altLang="zh-CN" dirty="0" smtClean="0"/>
              <a:t>1</a:t>
            </a:r>
            <a:r>
              <a:rPr lang="zh-CN" altLang="en-US" dirty="0" smtClean="0"/>
              <a:t>：选择局部应用，逐一设计分</a:t>
            </a:r>
            <a:r>
              <a:rPr lang="en-US" altLang="zh-CN" dirty="0" smtClean="0"/>
              <a:t>E-R</a:t>
            </a:r>
            <a:r>
              <a:rPr lang="zh-CN" altLang="en-US" dirty="0" smtClean="0"/>
              <a:t>图</a:t>
            </a:r>
            <a:endParaRPr lang="en-US" altLang="zh-CN" dirty="0" smtClean="0"/>
          </a:p>
        </p:txBody>
      </p:sp>
    </p:spTree>
  </p:cSld>
  <p:clrMapOvr>
    <a:masterClrMapping/>
  </p:clrMapOvr>
  <p:transition spd="med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010" name="Text Box 2"/>
          <p:cNvSpPr txBox="1">
            <a:spLocks noChangeArrowheads="1"/>
          </p:cNvSpPr>
          <p:nvPr/>
        </p:nvSpPr>
        <p:spPr bwMode="auto">
          <a:xfrm>
            <a:off x="179388" y="-33338"/>
            <a:ext cx="3223172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defTabSz="914400" eaLnBrk="1" latinLnBrk="0" hangingPunct="1">
              <a:spcBef>
                <a:spcPts val="0"/>
              </a:spcBef>
              <a:buNone/>
              <a:defRPr sz="4000" b="1" baseline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  <a:cs typeface="+mj-cs"/>
              </a:defRPr>
            </a:lvl1pPr>
          </a:lstStyle>
          <a:p>
            <a:r>
              <a:rPr lang="zh-CN" altLang="en-US" dirty="0"/>
              <a:t>概念结构设计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title"/>
          </p:nvPr>
        </p:nvSpPr>
        <p:spPr>
          <a:xfrm>
            <a:off x="153988" y="846039"/>
            <a:ext cx="8964612" cy="566737"/>
          </a:xfrm>
        </p:spPr>
        <p:txBody>
          <a:bodyPr wrap="square"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dirty="0" smtClean="0"/>
              <a:t>设计步骤</a:t>
            </a:r>
            <a:r>
              <a:rPr lang="en-US" altLang="zh-CN" dirty="0" smtClean="0"/>
              <a:t>2</a:t>
            </a:r>
            <a:r>
              <a:rPr lang="zh-CN" altLang="en-US" dirty="0" smtClean="0"/>
              <a:t>：</a:t>
            </a:r>
            <a:r>
              <a:rPr lang="zh-CN" altLang="zh-CN" dirty="0" smtClean="0"/>
              <a:t>视图的集成</a:t>
            </a:r>
            <a:endParaRPr lang="en-US" altLang="zh-CN" dirty="0" smtClean="0"/>
          </a:p>
        </p:txBody>
      </p:sp>
      <p:sp>
        <p:nvSpPr>
          <p:cNvPr id="1195012" name="Oval 4"/>
          <p:cNvSpPr>
            <a:spLocks noChangeArrowheads="1"/>
          </p:cNvSpPr>
          <p:nvPr/>
        </p:nvSpPr>
        <p:spPr bwMode="auto">
          <a:xfrm>
            <a:off x="1066800" y="3227412"/>
            <a:ext cx="2184400" cy="1143000"/>
          </a:xfrm>
          <a:prstGeom prst="ellipse">
            <a:avLst/>
          </a:prstGeom>
          <a:solidFill>
            <a:srgbClr val="CCFFCC"/>
          </a:solidFill>
          <a:ln w="12700" cap="sq">
            <a:solidFill>
              <a:srgbClr val="00000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 anchorCtr="1"/>
          <a:lstStyle/>
          <a:p>
            <a:pPr algn="ctr">
              <a:spcAft>
                <a:spcPct val="0"/>
              </a:spcAft>
              <a:buSzTx/>
              <a:buFontTx/>
              <a:buNone/>
              <a:tabLst>
                <a:tab pos="292100" algn="l"/>
                <a:tab pos="485775" algn="l"/>
              </a:tabLst>
              <a:defRPr/>
            </a:pPr>
            <a:r>
              <a:rPr lang="zh-CN" alt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合并</a:t>
            </a:r>
          </a:p>
          <a:p>
            <a:pPr algn="ctr">
              <a:spcAft>
                <a:spcPct val="0"/>
              </a:spcAft>
              <a:buSzTx/>
              <a:buFontTx/>
              <a:buNone/>
              <a:tabLst>
                <a:tab pos="292100" algn="l"/>
                <a:tab pos="485775" algn="l"/>
              </a:tabLst>
              <a:defRPr/>
            </a:pPr>
            <a:r>
              <a:rPr lang="zh-CN" alt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(消除冲突)</a:t>
            </a:r>
          </a:p>
        </p:txBody>
      </p:sp>
      <p:cxnSp>
        <p:nvCxnSpPr>
          <p:cNvPr id="13317" name="AutoShape 5"/>
          <p:cNvCxnSpPr>
            <a:cxnSpLocks noChangeShapeType="1"/>
            <a:stCxn id="1195012" idx="6"/>
            <a:endCxn id="1195015" idx="2"/>
          </p:cNvCxnSpPr>
          <p:nvPr/>
        </p:nvCxnSpPr>
        <p:spPr bwMode="auto">
          <a:xfrm>
            <a:off x="3251200" y="3798912"/>
            <a:ext cx="2082800" cy="0"/>
          </a:xfrm>
          <a:prstGeom prst="straightConnector1">
            <a:avLst/>
          </a:prstGeom>
          <a:noFill/>
          <a:ln w="28575" cap="sq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95014" name="AutoShape 6"/>
          <p:cNvSpPr>
            <a:spLocks noChangeArrowheads="1"/>
          </p:cNvSpPr>
          <p:nvPr/>
        </p:nvSpPr>
        <p:spPr bwMode="auto">
          <a:xfrm>
            <a:off x="1371600" y="5018112"/>
            <a:ext cx="1295400" cy="1219200"/>
          </a:xfrm>
          <a:prstGeom prst="verticalScroll">
            <a:avLst>
              <a:gd name="adj" fmla="val 12500"/>
            </a:avLst>
          </a:prstGeom>
          <a:solidFill>
            <a:srgbClr val="D9F9FF"/>
          </a:solidFill>
          <a:ln w="12700" cap="sq">
            <a:solidFill>
              <a:srgbClr val="00000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初步</a:t>
            </a:r>
          </a:p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en-US" altLang="zh-CN" sz="24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E-R</a:t>
            </a:r>
            <a:r>
              <a:rPr lang="zh-CN" alt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图</a:t>
            </a:r>
          </a:p>
        </p:txBody>
      </p:sp>
      <p:sp>
        <p:nvSpPr>
          <p:cNvPr id="1195015" name="Oval 7"/>
          <p:cNvSpPr>
            <a:spLocks noChangeArrowheads="1"/>
          </p:cNvSpPr>
          <p:nvPr/>
        </p:nvSpPr>
        <p:spPr bwMode="auto">
          <a:xfrm>
            <a:off x="5334000" y="3227412"/>
            <a:ext cx="2184400" cy="1143000"/>
          </a:xfrm>
          <a:prstGeom prst="ellipse">
            <a:avLst/>
          </a:prstGeom>
          <a:solidFill>
            <a:srgbClr val="CCFFCC"/>
          </a:solidFill>
          <a:ln w="12700" cap="sq">
            <a:solidFill>
              <a:srgbClr val="00000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 anchorCtr="1"/>
          <a:lstStyle/>
          <a:p>
            <a:pPr algn="ctr">
              <a:spcAft>
                <a:spcPct val="0"/>
              </a:spcAft>
              <a:buSzTx/>
              <a:buFontTx/>
              <a:buNone/>
              <a:tabLst>
                <a:tab pos="292100" algn="l"/>
                <a:tab pos="485775" algn="l"/>
              </a:tabLst>
              <a:defRPr/>
            </a:pPr>
            <a:r>
              <a:rPr lang="zh-CN" alt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修改与重构</a:t>
            </a:r>
          </a:p>
          <a:p>
            <a:pPr algn="ctr">
              <a:spcAft>
                <a:spcPct val="0"/>
              </a:spcAft>
              <a:buSzTx/>
              <a:buFontTx/>
              <a:buNone/>
              <a:tabLst>
                <a:tab pos="292100" algn="l"/>
                <a:tab pos="485775" algn="l"/>
              </a:tabLst>
              <a:defRPr/>
            </a:pPr>
            <a:r>
              <a:rPr lang="zh-CN" alt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(消除冗余)</a:t>
            </a:r>
          </a:p>
        </p:txBody>
      </p:sp>
      <p:sp>
        <p:nvSpPr>
          <p:cNvPr id="1195016" name="AutoShape 8"/>
          <p:cNvSpPr>
            <a:spLocks noChangeArrowheads="1"/>
          </p:cNvSpPr>
          <p:nvPr/>
        </p:nvSpPr>
        <p:spPr bwMode="auto">
          <a:xfrm>
            <a:off x="762000" y="1665312"/>
            <a:ext cx="1752600" cy="762000"/>
          </a:xfrm>
          <a:prstGeom prst="verticalScroll">
            <a:avLst>
              <a:gd name="adj" fmla="val 12500"/>
            </a:avLst>
          </a:prstGeom>
          <a:solidFill>
            <a:srgbClr val="D9F9FF"/>
          </a:solidFill>
          <a:ln w="12700" cap="sq">
            <a:solidFill>
              <a:srgbClr val="00000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分</a:t>
            </a:r>
            <a:r>
              <a:rPr lang="en-US" altLang="zh-CN" sz="24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E-R</a:t>
            </a:r>
            <a:r>
              <a:rPr lang="zh-CN" alt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图</a:t>
            </a:r>
          </a:p>
        </p:txBody>
      </p:sp>
      <p:sp>
        <p:nvSpPr>
          <p:cNvPr id="1195017" name="AutoShape 9"/>
          <p:cNvSpPr>
            <a:spLocks noChangeArrowheads="1"/>
          </p:cNvSpPr>
          <p:nvPr/>
        </p:nvSpPr>
        <p:spPr bwMode="auto">
          <a:xfrm>
            <a:off x="857250" y="1817712"/>
            <a:ext cx="1752600" cy="762000"/>
          </a:xfrm>
          <a:prstGeom prst="verticalScroll">
            <a:avLst>
              <a:gd name="adj" fmla="val 12500"/>
            </a:avLst>
          </a:prstGeom>
          <a:solidFill>
            <a:srgbClr val="D9F9FF"/>
          </a:solidFill>
          <a:ln w="12700" cap="sq">
            <a:solidFill>
              <a:srgbClr val="00000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分</a:t>
            </a:r>
            <a:r>
              <a:rPr lang="en-US" altLang="zh-CN" sz="24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E-R</a:t>
            </a:r>
            <a:r>
              <a:rPr lang="zh-CN" alt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图</a:t>
            </a:r>
          </a:p>
        </p:txBody>
      </p:sp>
      <p:sp>
        <p:nvSpPr>
          <p:cNvPr id="1195018" name="AutoShape 10"/>
          <p:cNvSpPr>
            <a:spLocks noChangeArrowheads="1"/>
          </p:cNvSpPr>
          <p:nvPr/>
        </p:nvSpPr>
        <p:spPr bwMode="auto">
          <a:xfrm>
            <a:off x="4343400" y="5246712"/>
            <a:ext cx="1295400" cy="762000"/>
          </a:xfrm>
          <a:prstGeom prst="star16">
            <a:avLst>
              <a:gd name="adj" fmla="val 43505"/>
            </a:avLst>
          </a:prstGeom>
          <a:solidFill>
            <a:srgbClr val="D9F9FF"/>
          </a:solidFill>
          <a:ln w="12700" cap="sq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分析</a:t>
            </a:r>
          </a:p>
        </p:txBody>
      </p:sp>
      <p:sp>
        <p:nvSpPr>
          <p:cNvPr id="1195019" name="AutoShape 11"/>
          <p:cNvSpPr>
            <a:spLocks noChangeArrowheads="1"/>
          </p:cNvSpPr>
          <p:nvPr/>
        </p:nvSpPr>
        <p:spPr bwMode="auto">
          <a:xfrm>
            <a:off x="6172200" y="5094312"/>
            <a:ext cx="1981200" cy="1066800"/>
          </a:xfrm>
          <a:prstGeom prst="star16">
            <a:avLst>
              <a:gd name="adj" fmla="val 43505"/>
            </a:avLst>
          </a:prstGeom>
          <a:solidFill>
            <a:srgbClr val="D9F9FF"/>
          </a:solidFill>
          <a:ln w="12700" cap="sq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规范化</a:t>
            </a:r>
          </a:p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理论</a:t>
            </a:r>
          </a:p>
        </p:txBody>
      </p:sp>
      <p:sp>
        <p:nvSpPr>
          <p:cNvPr id="1195020" name="AutoShape 12"/>
          <p:cNvSpPr>
            <a:spLocks noChangeArrowheads="1"/>
          </p:cNvSpPr>
          <p:nvPr/>
        </p:nvSpPr>
        <p:spPr bwMode="auto">
          <a:xfrm>
            <a:off x="1676400" y="2655912"/>
            <a:ext cx="228600" cy="4572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CFFCC"/>
          </a:solidFill>
          <a:ln w="12700" cap="sq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195021" name="AutoShape 13"/>
          <p:cNvSpPr>
            <a:spLocks noChangeArrowheads="1"/>
          </p:cNvSpPr>
          <p:nvPr/>
        </p:nvSpPr>
        <p:spPr bwMode="auto">
          <a:xfrm>
            <a:off x="1885950" y="4484712"/>
            <a:ext cx="228600" cy="4572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CFFCC"/>
          </a:solidFill>
          <a:ln w="12700" cap="sq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195022" name="AutoShape 14"/>
          <p:cNvSpPr>
            <a:spLocks noChangeArrowheads="1"/>
          </p:cNvSpPr>
          <p:nvPr/>
        </p:nvSpPr>
        <p:spPr bwMode="auto">
          <a:xfrm rot="-1377008">
            <a:off x="2819400" y="4484712"/>
            <a:ext cx="2514600" cy="228600"/>
          </a:xfrm>
          <a:prstGeom prst="rightArrow">
            <a:avLst>
              <a:gd name="adj1" fmla="val 31565"/>
              <a:gd name="adj2" fmla="val 156750"/>
            </a:avLst>
          </a:prstGeom>
          <a:solidFill>
            <a:srgbClr val="CCFFCC"/>
          </a:solidFill>
          <a:ln w="12700" cap="sq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195023" name="Line 15"/>
          <p:cNvSpPr>
            <a:spLocks noChangeShapeType="1"/>
          </p:cNvSpPr>
          <p:nvPr/>
        </p:nvSpPr>
        <p:spPr bwMode="auto">
          <a:xfrm flipV="1">
            <a:off x="5334000" y="4408512"/>
            <a:ext cx="609600" cy="9144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lIns="0" tIns="0" rIns="0" bIns="0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195024" name="Line 16"/>
          <p:cNvSpPr>
            <a:spLocks noChangeShapeType="1"/>
          </p:cNvSpPr>
          <p:nvPr/>
        </p:nvSpPr>
        <p:spPr bwMode="auto">
          <a:xfrm flipH="1" flipV="1">
            <a:off x="6705600" y="4484712"/>
            <a:ext cx="381000" cy="6096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lIns="0" tIns="0" rIns="0" bIns="0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195025" name="AutoShape 17"/>
          <p:cNvSpPr>
            <a:spLocks noChangeArrowheads="1"/>
          </p:cNvSpPr>
          <p:nvPr/>
        </p:nvSpPr>
        <p:spPr bwMode="auto">
          <a:xfrm>
            <a:off x="5562600" y="1817712"/>
            <a:ext cx="1752600" cy="762000"/>
          </a:xfrm>
          <a:prstGeom prst="verticalScroll">
            <a:avLst>
              <a:gd name="adj" fmla="val 12500"/>
            </a:avLst>
          </a:prstGeom>
          <a:solidFill>
            <a:srgbClr val="D9F9FF"/>
          </a:solidFill>
          <a:ln w="12700" cap="sq">
            <a:solidFill>
              <a:srgbClr val="00000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基本</a:t>
            </a:r>
            <a:r>
              <a:rPr lang="en-US" altLang="zh-CN" sz="24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E-R</a:t>
            </a:r>
            <a:r>
              <a:rPr lang="zh-CN" alt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图</a:t>
            </a:r>
          </a:p>
        </p:txBody>
      </p:sp>
      <p:sp>
        <p:nvSpPr>
          <p:cNvPr id="1195026" name="AutoShape 18"/>
          <p:cNvSpPr>
            <a:spLocks noChangeArrowheads="1"/>
          </p:cNvSpPr>
          <p:nvPr/>
        </p:nvSpPr>
        <p:spPr bwMode="auto">
          <a:xfrm>
            <a:off x="6248400" y="2655912"/>
            <a:ext cx="381000" cy="457200"/>
          </a:xfrm>
          <a:prstGeom prst="upArrow">
            <a:avLst>
              <a:gd name="adj1" fmla="val 50000"/>
              <a:gd name="adj2" fmla="val 30000"/>
            </a:avLst>
          </a:prstGeom>
          <a:solidFill>
            <a:srgbClr val="CCFFCC"/>
          </a:solidFill>
          <a:ln w="12700" cap="sq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med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179388" y="-33338"/>
            <a:ext cx="3223172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defTabSz="914400" eaLnBrk="1" latinLnBrk="0" hangingPunct="1">
              <a:spcBef>
                <a:spcPts val="0"/>
              </a:spcBef>
              <a:buNone/>
              <a:defRPr sz="4000" b="1" baseline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  <a:cs typeface="+mj-cs"/>
              </a:defRPr>
            </a:lvl1pPr>
          </a:lstStyle>
          <a:p>
            <a:r>
              <a:rPr lang="zh-CN" altLang="en-US" dirty="0"/>
              <a:t>概念结构设计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title"/>
          </p:nvPr>
        </p:nvSpPr>
        <p:spPr>
          <a:xfrm>
            <a:off x="153988" y="774031"/>
            <a:ext cx="8964612" cy="566737"/>
          </a:xfrm>
        </p:spPr>
        <p:txBody>
          <a:bodyPr wrap="square"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dirty="0" smtClean="0"/>
              <a:t>分</a:t>
            </a:r>
            <a:r>
              <a:rPr lang="en-US" altLang="zh-CN" dirty="0" smtClean="0"/>
              <a:t>E-R</a:t>
            </a:r>
            <a:r>
              <a:rPr lang="zh-CN" altLang="en-US" dirty="0" smtClean="0"/>
              <a:t>图之间的冲突</a:t>
            </a:r>
            <a:endParaRPr lang="en-US" altLang="zh-CN" dirty="0" smtClean="0"/>
          </a:p>
        </p:txBody>
      </p:sp>
      <p:sp>
        <p:nvSpPr>
          <p:cNvPr id="1197060" name="Text Box 4"/>
          <p:cNvSpPr txBox="1">
            <a:spLocks noChangeArrowheads="1"/>
          </p:cNvSpPr>
          <p:nvPr/>
        </p:nvSpPr>
        <p:spPr bwMode="auto">
          <a:xfrm>
            <a:off x="179388" y="1412875"/>
            <a:ext cx="8382000" cy="5746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marL="377825" indent="-377825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28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① 属性冲突</a:t>
            </a:r>
          </a:p>
        </p:txBody>
      </p:sp>
      <p:sp>
        <p:nvSpPr>
          <p:cNvPr id="15365" name="Text Box 5"/>
          <p:cNvSpPr txBox="1">
            <a:spLocks noChangeArrowheads="1"/>
          </p:cNvSpPr>
          <p:nvPr/>
        </p:nvSpPr>
        <p:spPr bwMode="auto">
          <a:xfrm>
            <a:off x="5724525" y="836613"/>
            <a:ext cx="2819400" cy="574675"/>
          </a:xfrm>
          <a:prstGeom prst="rect">
            <a:avLst/>
          </a:prstGeom>
          <a:solidFill>
            <a:srgbClr val="CCFFCC"/>
          </a:solidFill>
          <a:ln w="12700" cap="sq">
            <a:solidFill>
              <a:srgbClr val="FF0000"/>
            </a:solidFill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 marL="377825" indent="-377825" eaLnBrk="0" hangingPunct="0"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SzPct val="80000"/>
              <a:buFont typeface="Wingdings" pitchFamily="2" charset="2"/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SzPct val="80000"/>
              <a:buFont typeface="Wingdings" pitchFamily="2" charset="2"/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SzPct val="80000"/>
              <a:buFont typeface="Wingdings" pitchFamily="2" charset="2"/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SzPct val="80000"/>
              <a:buFont typeface="Wingdings" pitchFamily="2" charset="2"/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0"/>
              </a:spcAft>
            </a:pPr>
            <a:r>
              <a:rPr lang="zh-CN" altLang="en-US">
                <a:solidFill>
                  <a:srgbClr val="000000"/>
                </a:solidFill>
                <a:effectLst/>
                <a:latin typeface="微软雅黑" pitchFamily="34" charset="-122"/>
                <a:ea typeface="微软雅黑" pitchFamily="34" charset="-122"/>
              </a:rPr>
              <a:t>协商统一解决</a:t>
            </a:r>
          </a:p>
        </p:txBody>
      </p:sp>
      <p:sp>
        <p:nvSpPr>
          <p:cNvPr id="1197062" name="Rectangle 6"/>
          <p:cNvSpPr>
            <a:spLocks noChangeArrowheads="1"/>
          </p:cNvSpPr>
          <p:nvPr/>
        </p:nvSpPr>
        <p:spPr bwMode="auto">
          <a:xfrm>
            <a:off x="457200" y="4346575"/>
            <a:ext cx="8077200" cy="1846263"/>
          </a:xfrm>
          <a:prstGeom prst="rect">
            <a:avLst/>
          </a:prstGeom>
          <a:solidFill>
            <a:srgbClr val="F5F5FF"/>
          </a:solidFill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197063" name="Rectangle 7"/>
          <p:cNvSpPr>
            <a:spLocks noChangeArrowheads="1"/>
          </p:cNvSpPr>
          <p:nvPr/>
        </p:nvSpPr>
        <p:spPr bwMode="auto">
          <a:xfrm>
            <a:off x="457200" y="2205038"/>
            <a:ext cx="8077200" cy="1806575"/>
          </a:xfrm>
          <a:prstGeom prst="rect">
            <a:avLst/>
          </a:prstGeom>
          <a:solidFill>
            <a:srgbClr val="F5F5FF"/>
          </a:solidFill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>
              <a:defRPr/>
            </a:pPr>
            <a:endParaRPr lang="zh-CN" altLang="en-US"/>
          </a:p>
        </p:txBody>
      </p:sp>
      <p:graphicFrame>
        <p:nvGraphicFramePr>
          <p:cNvPr id="1197064" name="Group 8"/>
          <p:cNvGraphicFramePr>
            <a:graphicFrameLocks noGrp="1"/>
          </p:cNvGraphicFramePr>
          <p:nvPr/>
        </p:nvGraphicFramePr>
        <p:xfrm>
          <a:off x="609600" y="2346325"/>
          <a:ext cx="2514600" cy="1524000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9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类别</a:t>
                      </a:r>
                    </a:p>
                  </a:txBody>
                  <a:tcPr marL="5715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数据项</a:t>
                      </a:r>
                    </a:p>
                  </a:txBody>
                  <a:tcPr marL="5715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名称</a:t>
                      </a:r>
                    </a:p>
                  </a:txBody>
                  <a:tcPr marL="5715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性别</a:t>
                      </a:r>
                    </a:p>
                  </a:txBody>
                  <a:tcPr marL="5715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别名</a:t>
                      </a:r>
                    </a:p>
                  </a:txBody>
                  <a:tcPr marL="5715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5715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取值</a:t>
                      </a:r>
                    </a:p>
                  </a:txBody>
                  <a:tcPr marL="5715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"男" 或"女"</a:t>
                      </a:r>
                    </a:p>
                  </a:txBody>
                  <a:tcPr marL="5715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备注</a:t>
                      </a:r>
                    </a:p>
                  </a:txBody>
                  <a:tcPr marL="5715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5715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97084" name="Group 28"/>
          <p:cNvGraphicFramePr>
            <a:graphicFrameLocks noGrp="1"/>
          </p:cNvGraphicFramePr>
          <p:nvPr/>
        </p:nvGraphicFramePr>
        <p:xfrm>
          <a:off x="5791200" y="2346325"/>
          <a:ext cx="2514600" cy="1524000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9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类别</a:t>
                      </a:r>
                    </a:p>
                  </a:txBody>
                  <a:tcPr marL="5715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数据项</a:t>
                      </a:r>
                    </a:p>
                  </a:txBody>
                  <a:tcPr marL="5715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名称</a:t>
                      </a:r>
                    </a:p>
                  </a:txBody>
                  <a:tcPr marL="5715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性别</a:t>
                      </a:r>
                    </a:p>
                  </a:txBody>
                  <a:tcPr marL="5715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别名</a:t>
                      </a:r>
                    </a:p>
                  </a:txBody>
                  <a:tcPr marL="5715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5715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取值</a:t>
                      </a:r>
                    </a:p>
                  </a:txBody>
                  <a:tcPr marL="5715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"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M" 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或 "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F"</a:t>
                      </a:r>
                    </a:p>
                  </a:txBody>
                  <a:tcPr marL="5715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备注</a:t>
                      </a:r>
                    </a:p>
                  </a:txBody>
                  <a:tcPr marL="5715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5715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408" name="Rectangle 48"/>
          <p:cNvSpPr>
            <a:spLocks noChangeArrowheads="1"/>
          </p:cNvSpPr>
          <p:nvPr/>
        </p:nvSpPr>
        <p:spPr bwMode="auto">
          <a:xfrm>
            <a:off x="3937000" y="2651125"/>
            <a:ext cx="12192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spcAft>
                <a:spcPct val="0"/>
              </a:spcAft>
              <a:buSzTx/>
              <a:buFontTx/>
              <a:buNone/>
            </a:pPr>
            <a:r>
              <a:rPr lang="zh-CN" altLang="en-US">
                <a:solidFill>
                  <a:srgbClr val="FF0000"/>
                </a:solidFill>
                <a:effectLst/>
                <a:latin typeface="Times New Roman" pitchFamily="18" charset="0"/>
              </a:rPr>
              <a:t>域冲突</a:t>
            </a:r>
          </a:p>
        </p:txBody>
      </p:sp>
      <p:graphicFrame>
        <p:nvGraphicFramePr>
          <p:cNvPr id="1197105" name="Group 49"/>
          <p:cNvGraphicFramePr>
            <a:graphicFrameLocks noGrp="1"/>
          </p:cNvGraphicFramePr>
          <p:nvPr/>
        </p:nvGraphicFramePr>
        <p:xfrm>
          <a:off x="609600" y="4498975"/>
          <a:ext cx="2514600" cy="1524000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9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类别</a:t>
                      </a:r>
                    </a:p>
                  </a:txBody>
                  <a:tcPr marL="5715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数据项</a:t>
                      </a:r>
                    </a:p>
                  </a:txBody>
                  <a:tcPr marL="5715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名称</a:t>
                      </a:r>
                    </a:p>
                  </a:txBody>
                  <a:tcPr marL="5715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身高</a:t>
                      </a:r>
                    </a:p>
                  </a:txBody>
                  <a:tcPr marL="5715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别名</a:t>
                      </a:r>
                    </a:p>
                  </a:txBody>
                  <a:tcPr marL="5715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5715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取值</a:t>
                      </a:r>
                    </a:p>
                  </a:txBody>
                  <a:tcPr marL="5715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3位正整数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5715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备注</a:t>
                      </a:r>
                    </a:p>
                  </a:txBody>
                  <a:tcPr marL="5715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单位为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cm</a:t>
                      </a:r>
                    </a:p>
                  </a:txBody>
                  <a:tcPr marL="5715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97125" name="Group 69"/>
          <p:cNvGraphicFramePr>
            <a:graphicFrameLocks noGrp="1"/>
          </p:cNvGraphicFramePr>
          <p:nvPr/>
        </p:nvGraphicFramePr>
        <p:xfrm>
          <a:off x="5791200" y="4498975"/>
          <a:ext cx="2514600" cy="1524000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9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类别</a:t>
                      </a:r>
                    </a:p>
                  </a:txBody>
                  <a:tcPr marL="5715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数据项</a:t>
                      </a:r>
                    </a:p>
                  </a:txBody>
                  <a:tcPr marL="5715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名称</a:t>
                      </a:r>
                    </a:p>
                  </a:txBody>
                  <a:tcPr marL="5715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身高</a:t>
                      </a:r>
                    </a:p>
                  </a:txBody>
                  <a:tcPr marL="5715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别名</a:t>
                      </a:r>
                    </a:p>
                  </a:txBody>
                  <a:tcPr marL="5715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L="5715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取值</a:t>
                      </a:r>
                    </a:p>
                  </a:txBody>
                  <a:tcPr marL="5715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0.00~3.00</a:t>
                      </a:r>
                    </a:p>
                  </a:txBody>
                  <a:tcPr marL="5715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备注</a:t>
                      </a:r>
                    </a:p>
                  </a:txBody>
                  <a:tcPr marL="5715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40000"/>
                        </a:spcAft>
                        <a:buClr>
                          <a:srgbClr val="66FF33"/>
                        </a:buClr>
                        <a:buSzPct val="8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单位为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m</a:t>
                      </a:r>
                    </a:p>
                  </a:txBody>
                  <a:tcPr marL="5715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449" name="Rectangle 89"/>
          <p:cNvSpPr>
            <a:spLocks noChangeArrowheads="1"/>
          </p:cNvSpPr>
          <p:nvPr/>
        </p:nvSpPr>
        <p:spPr bwMode="auto">
          <a:xfrm>
            <a:off x="3429000" y="4651375"/>
            <a:ext cx="2084388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>
              <a:spcAft>
                <a:spcPct val="0"/>
              </a:spcAft>
              <a:buSzTx/>
              <a:buFontTx/>
              <a:buNone/>
            </a:pPr>
            <a:r>
              <a:rPr lang="zh-CN" altLang="en-US">
                <a:solidFill>
                  <a:srgbClr val="FF0000"/>
                </a:solidFill>
                <a:effectLst/>
                <a:latin typeface="Times New Roman" pitchFamily="18" charset="0"/>
              </a:rPr>
              <a:t>不同单位引起的域冲突</a:t>
            </a:r>
          </a:p>
        </p:txBody>
      </p:sp>
    </p:spTree>
  </p:cSld>
  <p:clrMapOvr>
    <a:masterClrMapping/>
  </p:clrMapOvr>
  <p:transition spd="med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179388" y="-33338"/>
            <a:ext cx="3223172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defTabSz="914400" eaLnBrk="1" latinLnBrk="0" hangingPunct="1">
              <a:spcBef>
                <a:spcPts val="0"/>
              </a:spcBef>
              <a:buNone/>
              <a:defRPr sz="4000" b="1" baseline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  <a:cs typeface="+mj-cs"/>
              </a:defRPr>
            </a:lvl1pPr>
          </a:lstStyle>
          <a:p>
            <a:r>
              <a:rPr lang="zh-CN" altLang="en-US" dirty="0"/>
              <a:t>概念结构设计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title"/>
          </p:nvPr>
        </p:nvSpPr>
        <p:spPr>
          <a:xfrm>
            <a:off x="153988" y="846039"/>
            <a:ext cx="8964612" cy="566737"/>
          </a:xfrm>
        </p:spPr>
        <p:txBody>
          <a:bodyPr wrap="square"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dirty="0" smtClean="0"/>
              <a:t>分</a:t>
            </a:r>
            <a:r>
              <a:rPr lang="en-US" altLang="zh-CN" dirty="0" smtClean="0"/>
              <a:t>E-R</a:t>
            </a:r>
            <a:r>
              <a:rPr lang="zh-CN" altLang="en-US" dirty="0" smtClean="0"/>
              <a:t>图之间的冲突</a:t>
            </a:r>
            <a:endParaRPr lang="en-US" altLang="zh-CN" dirty="0" smtClean="0"/>
          </a:p>
        </p:txBody>
      </p:sp>
      <p:sp>
        <p:nvSpPr>
          <p:cNvPr id="16388" name="Text Box 4"/>
          <p:cNvSpPr txBox="1">
            <a:spLocks noChangeArrowheads="1"/>
          </p:cNvSpPr>
          <p:nvPr/>
        </p:nvSpPr>
        <p:spPr bwMode="auto">
          <a:xfrm>
            <a:off x="179388" y="1558181"/>
            <a:ext cx="8382000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marL="377825" indent="-377825" eaLnBrk="0" hangingPunct="0"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SzPct val="80000"/>
              <a:buFont typeface="Wingdings" pitchFamily="2" charset="2"/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SzPct val="80000"/>
              <a:buFont typeface="Wingdings" pitchFamily="2" charset="2"/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SzPct val="80000"/>
              <a:buFont typeface="Wingdings" pitchFamily="2" charset="2"/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SzPct val="80000"/>
              <a:buFont typeface="Wingdings" pitchFamily="2" charset="2"/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rgbClr val="FFFF00"/>
                </a:solidFill>
                <a:effectLst/>
                <a:latin typeface="微软雅黑" pitchFamily="34" charset="-122"/>
                <a:ea typeface="微软雅黑" pitchFamily="34" charset="-122"/>
              </a:rPr>
              <a:t>② 命名冲突</a:t>
            </a:r>
          </a:p>
        </p:txBody>
      </p:sp>
      <p:sp>
        <p:nvSpPr>
          <p:cNvPr id="16389" name="Text Box 5"/>
          <p:cNvSpPr txBox="1">
            <a:spLocks noChangeArrowheads="1"/>
          </p:cNvSpPr>
          <p:nvPr/>
        </p:nvSpPr>
        <p:spPr bwMode="auto">
          <a:xfrm>
            <a:off x="5724525" y="836613"/>
            <a:ext cx="2819400" cy="574675"/>
          </a:xfrm>
          <a:prstGeom prst="rect">
            <a:avLst/>
          </a:prstGeom>
          <a:solidFill>
            <a:srgbClr val="CCFFCC"/>
          </a:solidFill>
          <a:ln w="12700" cap="sq">
            <a:solidFill>
              <a:srgbClr val="FF0000"/>
            </a:solidFill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 marL="377825" indent="-377825" eaLnBrk="0" hangingPunct="0"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SzPct val="80000"/>
              <a:buFont typeface="Wingdings" pitchFamily="2" charset="2"/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SzPct val="80000"/>
              <a:buFont typeface="Wingdings" pitchFamily="2" charset="2"/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SzPct val="80000"/>
              <a:buFont typeface="Wingdings" pitchFamily="2" charset="2"/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SzPct val="80000"/>
              <a:buFont typeface="Wingdings" pitchFamily="2" charset="2"/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0"/>
              </a:spcAft>
            </a:pPr>
            <a:r>
              <a:rPr lang="zh-CN" altLang="en-US">
                <a:solidFill>
                  <a:srgbClr val="000000"/>
                </a:solidFill>
                <a:effectLst/>
                <a:latin typeface="微软雅黑" pitchFamily="34" charset="-122"/>
                <a:ea typeface="微软雅黑" pitchFamily="34" charset="-122"/>
              </a:rPr>
              <a:t>协商统一解决</a:t>
            </a:r>
          </a:p>
        </p:txBody>
      </p:sp>
      <p:sp>
        <p:nvSpPr>
          <p:cNvPr id="1198086" name="Rectangle 6"/>
          <p:cNvSpPr>
            <a:spLocks noChangeArrowheads="1"/>
          </p:cNvSpPr>
          <p:nvPr/>
        </p:nvSpPr>
        <p:spPr bwMode="auto">
          <a:xfrm>
            <a:off x="381000" y="4724400"/>
            <a:ext cx="8458200" cy="1524000"/>
          </a:xfrm>
          <a:prstGeom prst="rect">
            <a:avLst/>
          </a:prstGeom>
          <a:solidFill>
            <a:srgbClr val="F5F5FF"/>
          </a:solidFill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198087" name="Rectangle 7"/>
          <p:cNvSpPr>
            <a:spLocks noChangeArrowheads="1"/>
          </p:cNvSpPr>
          <p:nvPr/>
        </p:nvSpPr>
        <p:spPr bwMode="auto">
          <a:xfrm>
            <a:off x="381000" y="2362200"/>
            <a:ext cx="8458200" cy="1905000"/>
          </a:xfrm>
          <a:prstGeom prst="rect">
            <a:avLst/>
          </a:prstGeom>
          <a:solidFill>
            <a:srgbClr val="F5F5FF"/>
          </a:solidFill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6392" name="Rectangle 8"/>
          <p:cNvSpPr>
            <a:spLocks noChangeArrowheads="1"/>
          </p:cNvSpPr>
          <p:nvPr/>
        </p:nvSpPr>
        <p:spPr bwMode="auto">
          <a:xfrm>
            <a:off x="3810000" y="3657600"/>
            <a:ext cx="175260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>
              <a:spcAft>
                <a:spcPct val="0"/>
              </a:spcAft>
              <a:buSzTx/>
              <a:buFontTx/>
              <a:buNone/>
            </a:pPr>
            <a:r>
              <a:rPr lang="zh-CN" altLang="en-US" b="1">
                <a:solidFill>
                  <a:srgbClr val="9900CC"/>
                </a:solidFill>
                <a:effectLst/>
                <a:latin typeface="微软雅黑" pitchFamily="34" charset="-122"/>
                <a:ea typeface="微软雅黑" pitchFamily="34" charset="-122"/>
              </a:rPr>
              <a:t>同名异义</a:t>
            </a:r>
          </a:p>
        </p:txBody>
      </p:sp>
      <p:sp>
        <p:nvSpPr>
          <p:cNvPr id="16393" name="Rectangle 9"/>
          <p:cNvSpPr>
            <a:spLocks noChangeArrowheads="1"/>
          </p:cNvSpPr>
          <p:nvPr/>
        </p:nvSpPr>
        <p:spPr bwMode="auto">
          <a:xfrm>
            <a:off x="1600200" y="2746375"/>
            <a:ext cx="685800" cy="311150"/>
          </a:xfrm>
          <a:prstGeom prst="rect">
            <a:avLst/>
          </a:prstGeom>
          <a:solidFill>
            <a:srgbClr val="FFFFFF"/>
          </a:solidFill>
          <a:ln w="12700" cap="sq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</a:pPr>
            <a:r>
              <a:rPr lang="zh-CN" altLang="en-US" sz="2000" b="1">
                <a:solidFill>
                  <a:srgbClr val="000000"/>
                </a:solidFill>
                <a:effectLst/>
                <a:latin typeface="Times New Roman" pitchFamily="18" charset="0"/>
              </a:rPr>
              <a:t>职工</a:t>
            </a:r>
          </a:p>
        </p:txBody>
      </p:sp>
      <p:sp>
        <p:nvSpPr>
          <p:cNvPr id="16394" name="AutoShape 10"/>
          <p:cNvSpPr>
            <a:spLocks noChangeArrowheads="1"/>
          </p:cNvSpPr>
          <p:nvPr/>
        </p:nvSpPr>
        <p:spPr bwMode="auto">
          <a:xfrm>
            <a:off x="457200" y="3387725"/>
            <a:ext cx="762000" cy="3111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sq">
            <a:solidFill>
              <a:srgbClr val="00000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</a:pPr>
            <a:r>
              <a:rPr lang="zh-CN" altLang="en-US" sz="2000" b="1">
                <a:solidFill>
                  <a:srgbClr val="000000"/>
                </a:solidFill>
                <a:effectLst/>
                <a:latin typeface="Times New Roman" pitchFamily="18" charset="0"/>
              </a:rPr>
              <a:t>工号</a:t>
            </a:r>
          </a:p>
        </p:txBody>
      </p:sp>
      <p:sp>
        <p:nvSpPr>
          <p:cNvPr id="16395" name="AutoShape 11"/>
          <p:cNvSpPr>
            <a:spLocks noChangeArrowheads="1"/>
          </p:cNvSpPr>
          <p:nvPr/>
        </p:nvSpPr>
        <p:spPr bwMode="auto">
          <a:xfrm>
            <a:off x="1295400" y="3387725"/>
            <a:ext cx="685800" cy="3111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sq">
            <a:solidFill>
              <a:srgbClr val="00000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</a:pPr>
            <a:r>
              <a:rPr lang="zh-CN" altLang="en-US" sz="2000" b="1">
                <a:solidFill>
                  <a:srgbClr val="000000"/>
                </a:solidFill>
                <a:effectLst/>
                <a:latin typeface="Times New Roman" pitchFamily="18" charset="0"/>
              </a:rPr>
              <a:t>姓名</a:t>
            </a:r>
          </a:p>
        </p:txBody>
      </p:sp>
      <p:sp>
        <p:nvSpPr>
          <p:cNvPr id="16396" name="AutoShape 12"/>
          <p:cNvSpPr>
            <a:spLocks noChangeArrowheads="1"/>
          </p:cNvSpPr>
          <p:nvPr/>
        </p:nvSpPr>
        <p:spPr bwMode="auto">
          <a:xfrm>
            <a:off x="2058988" y="3387725"/>
            <a:ext cx="685800" cy="3111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sq">
            <a:solidFill>
              <a:srgbClr val="00000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</a:pPr>
            <a:r>
              <a:rPr lang="zh-CN" altLang="en-US" sz="2000" b="1">
                <a:solidFill>
                  <a:srgbClr val="000000"/>
                </a:solidFill>
                <a:effectLst/>
                <a:latin typeface="Times New Roman" pitchFamily="18" charset="0"/>
              </a:rPr>
              <a:t>性别</a:t>
            </a:r>
          </a:p>
        </p:txBody>
      </p:sp>
      <p:sp>
        <p:nvSpPr>
          <p:cNvPr id="16397" name="AutoShape 13"/>
          <p:cNvSpPr>
            <a:spLocks noChangeArrowheads="1"/>
          </p:cNvSpPr>
          <p:nvPr/>
        </p:nvSpPr>
        <p:spPr bwMode="auto">
          <a:xfrm>
            <a:off x="2819400" y="3387725"/>
            <a:ext cx="685800" cy="311150"/>
          </a:xfrm>
          <a:prstGeom prst="roundRect">
            <a:avLst>
              <a:gd name="adj" fmla="val 50000"/>
            </a:avLst>
          </a:prstGeom>
          <a:solidFill>
            <a:srgbClr val="CCCCFF"/>
          </a:solidFill>
          <a:ln w="12700" cap="sq">
            <a:solidFill>
              <a:srgbClr val="00000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</a:pPr>
            <a:r>
              <a:rPr lang="zh-CN" altLang="en-US" sz="2000" b="1">
                <a:solidFill>
                  <a:srgbClr val="000000"/>
                </a:solidFill>
                <a:effectLst/>
                <a:latin typeface="Times New Roman" pitchFamily="18" charset="0"/>
              </a:rPr>
              <a:t>单位</a:t>
            </a:r>
          </a:p>
        </p:txBody>
      </p:sp>
      <p:cxnSp>
        <p:nvCxnSpPr>
          <p:cNvPr id="16398" name="AutoShape 14"/>
          <p:cNvCxnSpPr>
            <a:cxnSpLocks noChangeShapeType="1"/>
            <a:stCxn id="16393" idx="2"/>
            <a:endCxn id="16394" idx="0"/>
          </p:cNvCxnSpPr>
          <p:nvPr/>
        </p:nvCxnSpPr>
        <p:spPr bwMode="auto">
          <a:xfrm flipH="1">
            <a:off x="838200" y="3057525"/>
            <a:ext cx="1104900" cy="330200"/>
          </a:xfrm>
          <a:prstGeom prst="straightConnector1">
            <a:avLst/>
          </a:prstGeom>
          <a:noFill/>
          <a:ln w="12700" cap="sq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399" name="AutoShape 15"/>
          <p:cNvCxnSpPr>
            <a:cxnSpLocks noChangeShapeType="1"/>
            <a:stCxn id="16393" idx="2"/>
            <a:endCxn id="16395" idx="0"/>
          </p:cNvCxnSpPr>
          <p:nvPr/>
        </p:nvCxnSpPr>
        <p:spPr bwMode="auto">
          <a:xfrm flipH="1">
            <a:off x="1638300" y="3057525"/>
            <a:ext cx="304800" cy="330200"/>
          </a:xfrm>
          <a:prstGeom prst="straightConnector1">
            <a:avLst/>
          </a:prstGeom>
          <a:noFill/>
          <a:ln w="12700" cap="sq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00" name="AutoShape 16"/>
          <p:cNvCxnSpPr>
            <a:cxnSpLocks noChangeShapeType="1"/>
            <a:stCxn id="16393" idx="2"/>
            <a:endCxn id="16396" idx="0"/>
          </p:cNvCxnSpPr>
          <p:nvPr/>
        </p:nvCxnSpPr>
        <p:spPr bwMode="auto">
          <a:xfrm>
            <a:off x="1943100" y="3057525"/>
            <a:ext cx="458788" cy="330200"/>
          </a:xfrm>
          <a:prstGeom prst="straightConnector1">
            <a:avLst/>
          </a:prstGeom>
          <a:noFill/>
          <a:ln w="12700" cap="sq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01" name="AutoShape 17"/>
          <p:cNvCxnSpPr>
            <a:cxnSpLocks noChangeShapeType="1"/>
            <a:stCxn id="16393" idx="2"/>
            <a:endCxn id="16397" idx="0"/>
          </p:cNvCxnSpPr>
          <p:nvPr/>
        </p:nvCxnSpPr>
        <p:spPr bwMode="auto">
          <a:xfrm>
            <a:off x="1943100" y="3057525"/>
            <a:ext cx="1219200" cy="330200"/>
          </a:xfrm>
          <a:prstGeom prst="straightConnector1">
            <a:avLst/>
          </a:prstGeom>
          <a:noFill/>
          <a:ln w="12700" cap="sq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402" name="Rectangle 18"/>
          <p:cNvSpPr>
            <a:spLocks noChangeArrowheads="1"/>
          </p:cNvSpPr>
          <p:nvPr/>
        </p:nvSpPr>
        <p:spPr bwMode="auto">
          <a:xfrm>
            <a:off x="6858000" y="2746375"/>
            <a:ext cx="685800" cy="311150"/>
          </a:xfrm>
          <a:prstGeom prst="rect">
            <a:avLst/>
          </a:prstGeom>
          <a:solidFill>
            <a:srgbClr val="FFFFFF"/>
          </a:solidFill>
          <a:ln w="12700" cap="sq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</a:pPr>
            <a:r>
              <a:rPr lang="zh-CN" altLang="en-US" sz="2000" b="1">
                <a:solidFill>
                  <a:srgbClr val="000000"/>
                </a:solidFill>
                <a:effectLst/>
                <a:latin typeface="Times New Roman" pitchFamily="18" charset="0"/>
              </a:rPr>
              <a:t>产品</a:t>
            </a:r>
          </a:p>
        </p:txBody>
      </p:sp>
      <p:sp>
        <p:nvSpPr>
          <p:cNvPr id="16403" name="AutoShape 19"/>
          <p:cNvSpPr>
            <a:spLocks noChangeArrowheads="1"/>
          </p:cNvSpPr>
          <p:nvPr/>
        </p:nvSpPr>
        <p:spPr bwMode="auto">
          <a:xfrm>
            <a:off x="5715000" y="3387725"/>
            <a:ext cx="762000" cy="3111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sq">
            <a:solidFill>
              <a:srgbClr val="00000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</a:pPr>
            <a:r>
              <a:rPr lang="zh-CN" altLang="en-US" sz="2000" b="1">
                <a:solidFill>
                  <a:srgbClr val="000000"/>
                </a:solidFill>
                <a:effectLst/>
                <a:latin typeface="Times New Roman" pitchFamily="18" charset="0"/>
              </a:rPr>
              <a:t>编号</a:t>
            </a:r>
          </a:p>
        </p:txBody>
      </p:sp>
      <p:sp>
        <p:nvSpPr>
          <p:cNvPr id="16404" name="AutoShape 20"/>
          <p:cNvSpPr>
            <a:spLocks noChangeArrowheads="1"/>
          </p:cNvSpPr>
          <p:nvPr/>
        </p:nvSpPr>
        <p:spPr bwMode="auto">
          <a:xfrm>
            <a:off x="6553200" y="3387725"/>
            <a:ext cx="685800" cy="3111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sq">
            <a:solidFill>
              <a:srgbClr val="00000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</a:pPr>
            <a:r>
              <a:rPr lang="zh-CN" altLang="en-US" sz="2000" b="1">
                <a:solidFill>
                  <a:srgbClr val="000000"/>
                </a:solidFill>
                <a:effectLst/>
                <a:latin typeface="Times New Roman" pitchFamily="18" charset="0"/>
              </a:rPr>
              <a:t>品名</a:t>
            </a:r>
          </a:p>
        </p:txBody>
      </p:sp>
      <p:sp>
        <p:nvSpPr>
          <p:cNvPr id="16405" name="AutoShape 21"/>
          <p:cNvSpPr>
            <a:spLocks noChangeArrowheads="1"/>
          </p:cNvSpPr>
          <p:nvPr/>
        </p:nvSpPr>
        <p:spPr bwMode="auto">
          <a:xfrm>
            <a:off x="7316788" y="3387725"/>
            <a:ext cx="685800" cy="3111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sq">
            <a:solidFill>
              <a:srgbClr val="00000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</a:pPr>
            <a:r>
              <a:rPr lang="zh-CN" altLang="en-US" sz="2000" b="1">
                <a:solidFill>
                  <a:srgbClr val="000000"/>
                </a:solidFill>
                <a:effectLst/>
                <a:latin typeface="Times New Roman" pitchFamily="18" charset="0"/>
              </a:rPr>
              <a:t>数量</a:t>
            </a:r>
          </a:p>
        </p:txBody>
      </p:sp>
      <p:sp>
        <p:nvSpPr>
          <p:cNvPr id="16406" name="AutoShape 22"/>
          <p:cNvSpPr>
            <a:spLocks noChangeArrowheads="1"/>
          </p:cNvSpPr>
          <p:nvPr/>
        </p:nvSpPr>
        <p:spPr bwMode="auto">
          <a:xfrm>
            <a:off x="8077200" y="3387725"/>
            <a:ext cx="685800" cy="311150"/>
          </a:xfrm>
          <a:prstGeom prst="roundRect">
            <a:avLst>
              <a:gd name="adj" fmla="val 50000"/>
            </a:avLst>
          </a:prstGeom>
          <a:solidFill>
            <a:srgbClr val="CCCCFF"/>
          </a:solidFill>
          <a:ln w="12700" cap="sq">
            <a:solidFill>
              <a:srgbClr val="00000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</a:pPr>
            <a:r>
              <a:rPr lang="zh-CN" altLang="en-US" sz="2000" b="1">
                <a:solidFill>
                  <a:srgbClr val="000000"/>
                </a:solidFill>
                <a:effectLst/>
                <a:latin typeface="Times New Roman" pitchFamily="18" charset="0"/>
              </a:rPr>
              <a:t>单位</a:t>
            </a:r>
          </a:p>
        </p:txBody>
      </p:sp>
      <p:cxnSp>
        <p:nvCxnSpPr>
          <p:cNvPr id="16407" name="AutoShape 23"/>
          <p:cNvCxnSpPr>
            <a:cxnSpLocks noChangeShapeType="1"/>
            <a:stCxn id="16402" idx="2"/>
            <a:endCxn id="16403" idx="0"/>
          </p:cNvCxnSpPr>
          <p:nvPr/>
        </p:nvCxnSpPr>
        <p:spPr bwMode="auto">
          <a:xfrm flipH="1">
            <a:off x="6096000" y="3057525"/>
            <a:ext cx="1104900" cy="330200"/>
          </a:xfrm>
          <a:prstGeom prst="straightConnector1">
            <a:avLst/>
          </a:prstGeom>
          <a:noFill/>
          <a:ln w="12700" cap="sq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08" name="AutoShape 24"/>
          <p:cNvCxnSpPr>
            <a:cxnSpLocks noChangeShapeType="1"/>
            <a:stCxn id="16402" idx="2"/>
            <a:endCxn id="16404" idx="0"/>
          </p:cNvCxnSpPr>
          <p:nvPr/>
        </p:nvCxnSpPr>
        <p:spPr bwMode="auto">
          <a:xfrm flipH="1">
            <a:off x="6896100" y="3057525"/>
            <a:ext cx="304800" cy="330200"/>
          </a:xfrm>
          <a:prstGeom prst="straightConnector1">
            <a:avLst/>
          </a:prstGeom>
          <a:noFill/>
          <a:ln w="12700" cap="sq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09" name="AutoShape 25"/>
          <p:cNvCxnSpPr>
            <a:cxnSpLocks noChangeShapeType="1"/>
            <a:stCxn id="16402" idx="2"/>
            <a:endCxn id="16405" idx="0"/>
          </p:cNvCxnSpPr>
          <p:nvPr/>
        </p:nvCxnSpPr>
        <p:spPr bwMode="auto">
          <a:xfrm>
            <a:off x="7200900" y="3057525"/>
            <a:ext cx="458788" cy="330200"/>
          </a:xfrm>
          <a:prstGeom prst="straightConnector1">
            <a:avLst/>
          </a:prstGeom>
          <a:noFill/>
          <a:ln w="12700" cap="sq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10" name="AutoShape 26"/>
          <p:cNvCxnSpPr>
            <a:cxnSpLocks noChangeShapeType="1"/>
            <a:stCxn id="16402" idx="2"/>
            <a:endCxn id="16406" idx="0"/>
          </p:cNvCxnSpPr>
          <p:nvPr/>
        </p:nvCxnSpPr>
        <p:spPr bwMode="auto">
          <a:xfrm>
            <a:off x="7200900" y="3057525"/>
            <a:ext cx="1219200" cy="330200"/>
          </a:xfrm>
          <a:prstGeom prst="straightConnector1">
            <a:avLst/>
          </a:prstGeom>
          <a:noFill/>
          <a:ln w="12700" cap="sq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411" name="AutoShape 27"/>
          <p:cNvSpPr>
            <a:spLocks noChangeArrowheads="1"/>
          </p:cNvSpPr>
          <p:nvPr/>
        </p:nvSpPr>
        <p:spPr bwMode="auto">
          <a:xfrm>
            <a:off x="3886200" y="2590800"/>
            <a:ext cx="1219200" cy="622300"/>
          </a:xfrm>
          <a:prstGeom prst="diamond">
            <a:avLst/>
          </a:prstGeom>
          <a:solidFill>
            <a:srgbClr val="FFFFFF"/>
          </a:solidFill>
          <a:ln w="12700" cap="sq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</a:pPr>
            <a:r>
              <a:rPr lang="zh-CN" altLang="en-US" sz="2000" b="1">
                <a:solidFill>
                  <a:srgbClr val="000000"/>
                </a:solidFill>
                <a:effectLst/>
                <a:latin typeface="Times New Roman" pitchFamily="18" charset="0"/>
              </a:rPr>
              <a:t>生产</a:t>
            </a:r>
          </a:p>
        </p:txBody>
      </p:sp>
      <p:cxnSp>
        <p:nvCxnSpPr>
          <p:cNvPr id="16412" name="AutoShape 28"/>
          <p:cNvCxnSpPr>
            <a:cxnSpLocks noChangeShapeType="1"/>
            <a:stCxn id="16393" idx="3"/>
            <a:endCxn id="16411" idx="1"/>
          </p:cNvCxnSpPr>
          <p:nvPr/>
        </p:nvCxnSpPr>
        <p:spPr bwMode="auto">
          <a:xfrm>
            <a:off x="2286000" y="2901950"/>
            <a:ext cx="1600200" cy="0"/>
          </a:xfrm>
          <a:prstGeom prst="straightConnector1">
            <a:avLst/>
          </a:prstGeom>
          <a:noFill/>
          <a:ln w="12700" cap="sq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13" name="AutoShape 29"/>
          <p:cNvCxnSpPr>
            <a:cxnSpLocks noChangeShapeType="1"/>
            <a:stCxn id="16411" idx="3"/>
            <a:endCxn id="16402" idx="1"/>
          </p:cNvCxnSpPr>
          <p:nvPr/>
        </p:nvCxnSpPr>
        <p:spPr bwMode="auto">
          <a:xfrm>
            <a:off x="5105400" y="2901950"/>
            <a:ext cx="1752600" cy="0"/>
          </a:xfrm>
          <a:prstGeom prst="straightConnector1">
            <a:avLst/>
          </a:prstGeom>
          <a:noFill/>
          <a:ln w="12700" cap="sq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414" name="Rectangle 30"/>
          <p:cNvSpPr>
            <a:spLocks noChangeArrowheads="1"/>
          </p:cNvSpPr>
          <p:nvPr/>
        </p:nvSpPr>
        <p:spPr bwMode="auto">
          <a:xfrm>
            <a:off x="2819400" y="2590800"/>
            <a:ext cx="762000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</a:pPr>
            <a:r>
              <a:rPr lang="en-US" altLang="zh-CN" sz="2000" b="1">
                <a:solidFill>
                  <a:srgbClr val="000000"/>
                </a:solidFill>
                <a:effectLst/>
                <a:latin typeface="Times New Roman" pitchFamily="18" charset="0"/>
              </a:rPr>
              <a:t>m</a:t>
            </a:r>
          </a:p>
        </p:txBody>
      </p:sp>
      <p:sp>
        <p:nvSpPr>
          <p:cNvPr id="16415" name="Rectangle 31"/>
          <p:cNvSpPr>
            <a:spLocks noChangeArrowheads="1"/>
          </p:cNvSpPr>
          <p:nvPr/>
        </p:nvSpPr>
        <p:spPr bwMode="auto">
          <a:xfrm>
            <a:off x="5562600" y="2590800"/>
            <a:ext cx="762000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</a:pPr>
            <a:r>
              <a:rPr lang="en-US" altLang="zh-CN" sz="2000" b="1">
                <a:solidFill>
                  <a:srgbClr val="000000"/>
                </a:solidFill>
                <a:effectLst/>
                <a:latin typeface="Times New Roman" pitchFamily="18" charset="0"/>
              </a:rPr>
              <a:t>n</a:t>
            </a:r>
          </a:p>
        </p:txBody>
      </p:sp>
      <p:sp>
        <p:nvSpPr>
          <p:cNvPr id="16416" name="Rectangle 32"/>
          <p:cNvSpPr>
            <a:spLocks noChangeArrowheads="1"/>
          </p:cNvSpPr>
          <p:nvPr/>
        </p:nvSpPr>
        <p:spPr bwMode="auto">
          <a:xfrm>
            <a:off x="1600200" y="4953000"/>
            <a:ext cx="685800" cy="311150"/>
          </a:xfrm>
          <a:prstGeom prst="rect">
            <a:avLst/>
          </a:prstGeom>
          <a:solidFill>
            <a:srgbClr val="FFFFFF"/>
          </a:solidFill>
          <a:ln w="12700" cap="sq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</a:pPr>
            <a:r>
              <a:rPr lang="zh-CN" altLang="en-US" sz="2000" b="1">
                <a:solidFill>
                  <a:srgbClr val="000000"/>
                </a:solidFill>
                <a:effectLst/>
                <a:latin typeface="Times New Roman" pitchFamily="18" charset="0"/>
              </a:rPr>
              <a:t>职工</a:t>
            </a:r>
          </a:p>
        </p:txBody>
      </p:sp>
      <p:sp>
        <p:nvSpPr>
          <p:cNvPr id="16417" name="AutoShape 33"/>
          <p:cNvSpPr>
            <a:spLocks noChangeArrowheads="1"/>
          </p:cNvSpPr>
          <p:nvPr/>
        </p:nvSpPr>
        <p:spPr bwMode="auto">
          <a:xfrm>
            <a:off x="457200" y="5635625"/>
            <a:ext cx="762000" cy="3111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sq">
            <a:solidFill>
              <a:srgbClr val="00000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</a:pPr>
            <a:r>
              <a:rPr lang="zh-CN" altLang="en-US" sz="2000" b="1">
                <a:solidFill>
                  <a:srgbClr val="000000"/>
                </a:solidFill>
                <a:effectLst/>
                <a:latin typeface="Times New Roman" pitchFamily="18" charset="0"/>
              </a:rPr>
              <a:t>工号</a:t>
            </a:r>
          </a:p>
        </p:txBody>
      </p:sp>
      <p:sp>
        <p:nvSpPr>
          <p:cNvPr id="16418" name="AutoShape 34"/>
          <p:cNvSpPr>
            <a:spLocks noChangeArrowheads="1"/>
          </p:cNvSpPr>
          <p:nvPr/>
        </p:nvSpPr>
        <p:spPr bwMode="auto">
          <a:xfrm>
            <a:off x="1295400" y="5635625"/>
            <a:ext cx="685800" cy="3111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sq">
            <a:solidFill>
              <a:srgbClr val="00000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</a:pPr>
            <a:r>
              <a:rPr lang="zh-CN" altLang="en-US" sz="2000" b="1">
                <a:solidFill>
                  <a:srgbClr val="000000"/>
                </a:solidFill>
                <a:effectLst/>
                <a:latin typeface="Times New Roman" pitchFamily="18" charset="0"/>
              </a:rPr>
              <a:t>姓名</a:t>
            </a:r>
          </a:p>
        </p:txBody>
      </p:sp>
      <p:sp>
        <p:nvSpPr>
          <p:cNvPr id="16419" name="AutoShape 35"/>
          <p:cNvSpPr>
            <a:spLocks noChangeArrowheads="1"/>
          </p:cNvSpPr>
          <p:nvPr/>
        </p:nvSpPr>
        <p:spPr bwMode="auto">
          <a:xfrm>
            <a:off x="2058988" y="5635625"/>
            <a:ext cx="685800" cy="3111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sq">
            <a:solidFill>
              <a:srgbClr val="00000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</a:pPr>
            <a:r>
              <a:rPr lang="zh-CN" altLang="en-US" sz="2000" b="1">
                <a:solidFill>
                  <a:srgbClr val="000000"/>
                </a:solidFill>
                <a:effectLst/>
                <a:latin typeface="Times New Roman" pitchFamily="18" charset="0"/>
              </a:rPr>
              <a:t>性别</a:t>
            </a:r>
          </a:p>
        </p:txBody>
      </p:sp>
      <p:sp>
        <p:nvSpPr>
          <p:cNvPr id="16420" name="AutoShape 36"/>
          <p:cNvSpPr>
            <a:spLocks noChangeArrowheads="1"/>
          </p:cNvSpPr>
          <p:nvPr/>
        </p:nvSpPr>
        <p:spPr bwMode="auto">
          <a:xfrm>
            <a:off x="2819400" y="5635625"/>
            <a:ext cx="685800" cy="311150"/>
          </a:xfrm>
          <a:prstGeom prst="roundRect">
            <a:avLst>
              <a:gd name="adj" fmla="val 50000"/>
            </a:avLst>
          </a:prstGeom>
          <a:solidFill>
            <a:srgbClr val="CCCCFF"/>
          </a:solidFill>
          <a:ln w="12700" cap="sq">
            <a:solidFill>
              <a:srgbClr val="00000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</a:pPr>
            <a:r>
              <a:rPr lang="zh-CN" altLang="en-US" sz="2000" b="1">
                <a:solidFill>
                  <a:srgbClr val="000000"/>
                </a:solidFill>
                <a:effectLst/>
                <a:latin typeface="Times New Roman" pitchFamily="18" charset="0"/>
              </a:rPr>
              <a:t>单位</a:t>
            </a:r>
          </a:p>
        </p:txBody>
      </p:sp>
      <p:cxnSp>
        <p:nvCxnSpPr>
          <p:cNvPr id="16421" name="AutoShape 37"/>
          <p:cNvCxnSpPr>
            <a:cxnSpLocks noChangeShapeType="1"/>
            <a:stCxn id="16416" idx="2"/>
            <a:endCxn id="16417" idx="0"/>
          </p:cNvCxnSpPr>
          <p:nvPr/>
        </p:nvCxnSpPr>
        <p:spPr bwMode="auto">
          <a:xfrm flipH="1">
            <a:off x="838200" y="5264150"/>
            <a:ext cx="1104900" cy="371475"/>
          </a:xfrm>
          <a:prstGeom prst="straightConnector1">
            <a:avLst/>
          </a:prstGeom>
          <a:noFill/>
          <a:ln w="12700" cap="sq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22" name="AutoShape 38"/>
          <p:cNvCxnSpPr>
            <a:cxnSpLocks noChangeShapeType="1"/>
            <a:stCxn id="16416" idx="2"/>
            <a:endCxn id="16418" idx="0"/>
          </p:cNvCxnSpPr>
          <p:nvPr/>
        </p:nvCxnSpPr>
        <p:spPr bwMode="auto">
          <a:xfrm flipH="1">
            <a:off x="1638300" y="5264150"/>
            <a:ext cx="304800" cy="371475"/>
          </a:xfrm>
          <a:prstGeom prst="straightConnector1">
            <a:avLst/>
          </a:prstGeom>
          <a:noFill/>
          <a:ln w="12700" cap="sq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23" name="AutoShape 39"/>
          <p:cNvCxnSpPr>
            <a:cxnSpLocks noChangeShapeType="1"/>
            <a:stCxn id="16416" idx="2"/>
            <a:endCxn id="16419" idx="0"/>
          </p:cNvCxnSpPr>
          <p:nvPr/>
        </p:nvCxnSpPr>
        <p:spPr bwMode="auto">
          <a:xfrm>
            <a:off x="1943100" y="5264150"/>
            <a:ext cx="458788" cy="371475"/>
          </a:xfrm>
          <a:prstGeom prst="straightConnector1">
            <a:avLst/>
          </a:prstGeom>
          <a:noFill/>
          <a:ln w="12700" cap="sq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24" name="AutoShape 40"/>
          <p:cNvCxnSpPr>
            <a:cxnSpLocks noChangeShapeType="1"/>
            <a:stCxn id="16416" idx="2"/>
            <a:endCxn id="16420" idx="0"/>
          </p:cNvCxnSpPr>
          <p:nvPr/>
        </p:nvCxnSpPr>
        <p:spPr bwMode="auto">
          <a:xfrm>
            <a:off x="1943100" y="5264150"/>
            <a:ext cx="1219200" cy="371475"/>
          </a:xfrm>
          <a:prstGeom prst="straightConnector1">
            <a:avLst/>
          </a:prstGeom>
          <a:noFill/>
          <a:ln w="12700" cap="sq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425" name="Rectangle 41"/>
          <p:cNvSpPr>
            <a:spLocks noChangeArrowheads="1"/>
          </p:cNvSpPr>
          <p:nvPr/>
        </p:nvSpPr>
        <p:spPr bwMode="auto">
          <a:xfrm>
            <a:off x="6610350" y="4953000"/>
            <a:ext cx="685800" cy="311150"/>
          </a:xfrm>
          <a:prstGeom prst="rect">
            <a:avLst/>
          </a:prstGeom>
          <a:solidFill>
            <a:srgbClr val="FFFFFF"/>
          </a:solidFill>
          <a:ln w="12700" cap="sq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</a:pPr>
            <a:r>
              <a:rPr lang="zh-CN" altLang="en-US" sz="2000" b="1">
                <a:solidFill>
                  <a:srgbClr val="000000"/>
                </a:solidFill>
                <a:effectLst/>
                <a:latin typeface="Times New Roman" pitchFamily="18" charset="0"/>
              </a:rPr>
              <a:t>职工</a:t>
            </a:r>
          </a:p>
        </p:txBody>
      </p:sp>
      <p:sp>
        <p:nvSpPr>
          <p:cNvPr id="16426" name="AutoShape 42"/>
          <p:cNvSpPr>
            <a:spLocks noChangeArrowheads="1"/>
          </p:cNvSpPr>
          <p:nvPr/>
        </p:nvSpPr>
        <p:spPr bwMode="auto">
          <a:xfrm>
            <a:off x="5467350" y="5635625"/>
            <a:ext cx="762000" cy="3111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sq">
            <a:solidFill>
              <a:srgbClr val="00000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</a:pPr>
            <a:r>
              <a:rPr lang="zh-CN" altLang="en-US" sz="2000" b="1">
                <a:solidFill>
                  <a:srgbClr val="000000"/>
                </a:solidFill>
                <a:effectLst/>
                <a:latin typeface="Times New Roman" pitchFamily="18" charset="0"/>
              </a:rPr>
              <a:t>工号</a:t>
            </a:r>
          </a:p>
        </p:txBody>
      </p:sp>
      <p:sp>
        <p:nvSpPr>
          <p:cNvPr id="16427" name="AutoShape 43"/>
          <p:cNvSpPr>
            <a:spLocks noChangeArrowheads="1"/>
          </p:cNvSpPr>
          <p:nvPr/>
        </p:nvSpPr>
        <p:spPr bwMode="auto">
          <a:xfrm>
            <a:off x="6305550" y="5635625"/>
            <a:ext cx="685800" cy="3111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sq">
            <a:solidFill>
              <a:srgbClr val="00000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</a:pPr>
            <a:r>
              <a:rPr lang="zh-CN" altLang="en-US" sz="2000" b="1">
                <a:solidFill>
                  <a:srgbClr val="000000"/>
                </a:solidFill>
                <a:effectLst/>
                <a:latin typeface="Times New Roman" pitchFamily="18" charset="0"/>
              </a:rPr>
              <a:t>姓名</a:t>
            </a:r>
          </a:p>
        </p:txBody>
      </p:sp>
      <p:sp>
        <p:nvSpPr>
          <p:cNvPr id="16428" name="AutoShape 44"/>
          <p:cNvSpPr>
            <a:spLocks noChangeArrowheads="1"/>
          </p:cNvSpPr>
          <p:nvPr/>
        </p:nvSpPr>
        <p:spPr bwMode="auto">
          <a:xfrm>
            <a:off x="7069138" y="5635625"/>
            <a:ext cx="685800" cy="3111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sq">
            <a:solidFill>
              <a:srgbClr val="00000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</a:pPr>
            <a:r>
              <a:rPr lang="zh-CN" altLang="en-US" sz="2000" b="1">
                <a:solidFill>
                  <a:srgbClr val="000000"/>
                </a:solidFill>
                <a:effectLst/>
                <a:latin typeface="Times New Roman" pitchFamily="18" charset="0"/>
              </a:rPr>
              <a:t>性别</a:t>
            </a:r>
          </a:p>
        </p:txBody>
      </p:sp>
      <p:sp>
        <p:nvSpPr>
          <p:cNvPr id="16429" name="AutoShape 45"/>
          <p:cNvSpPr>
            <a:spLocks noChangeArrowheads="1"/>
          </p:cNvSpPr>
          <p:nvPr/>
        </p:nvSpPr>
        <p:spPr bwMode="auto">
          <a:xfrm>
            <a:off x="7829550" y="5635625"/>
            <a:ext cx="685800" cy="311150"/>
          </a:xfrm>
          <a:prstGeom prst="roundRect">
            <a:avLst>
              <a:gd name="adj" fmla="val 50000"/>
            </a:avLst>
          </a:prstGeom>
          <a:solidFill>
            <a:srgbClr val="CCCCFF"/>
          </a:solidFill>
          <a:ln w="12700" cap="sq">
            <a:solidFill>
              <a:srgbClr val="00000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</a:pPr>
            <a:r>
              <a:rPr lang="zh-CN" altLang="en-US" sz="2000" b="1">
                <a:solidFill>
                  <a:srgbClr val="000000"/>
                </a:solidFill>
                <a:effectLst/>
                <a:latin typeface="Times New Roman" pitchFamily="18" charset="0"/>
              </a:rPr>
              <a:t>部门</a:t>
            </a:r>
          </a:p>
        </p:txBody>
      </p:sp>
      <p:cxnSp>
        <p:nvCxnSpPr>
          <p:cNvPr id="16430" name="AutoShape 46"/>
          <p:cNvCxnSpPr>
            <a:cxnSpLocks noChangeShapeType="1"/>
            <a:stCxn id="16425" idx="2"/>
            <a:endCxn id="16426" idx="0"/>
          </p:cNvCxnSpPr>
          <p:nvPr/>
        </p:nvCxnSpPr>
        <p:spPr bwMode="auto">
          <a:xfrm flipH="1">
            <a:off x="5848350" y="5264150"/>
            <a:ext cx="1104900" cy="371475"/>
          </a:xfrm>
          <a:prstGeom prst="straightConnector1">
            <a:avLst/>
          </a:prstGeom>
          <a:noFill/>
          <a:ln w="12700" cap="sq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31" name="AutoShape 47"/>
          <p:cNvCxnSpPr>
            <a:cxnSpLocks noChangeShapeType="1"/>
            <a:stCxn id="16425" idx="2"/>
            <a:endCxn id="16427" idx="0"/>
          </p:cNvCxnSpPr>
          <p:nvPr/>
        </p:nvCxnSpPr>
        <p:spPr bwMode="auto">
          <a:xfrm flipH="1">
            <a:off x="6648450" y="5264150"/>
            <a:ext cx="304800" cy="371475"/>
          </a:xfrm>
          <a:prstGeom prst="straightConnector1">
            <a:avLst/>
          </a:prstGeom>
          <a:noFill/>
          <a:ln w="12700" cap="sq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32" name="AutoShape 48"/>
          <p:cNvCxnSpPr>
            <a:cxnSpLocks noChangeShapeType="1"/>
            <a:stCxn id="16425" idx="2"/>
            <a:endCxn id="16428" idx="0"/>
          </p:cNvCxnSpPr>
          <p:nvPr/>
        </p:nvCxnSpPr>
        <p:spPr bwMode="auto">
          <a:xfrm>
            <a:off x="6953250" y="5264150"/>
            <a:ext cx="458788" cy="371475"/>
          </a:xfrm>
          <a:prstGeom prst="straightConnector1">
            <a:avLst/>
          </a:prstGeom>
          <a:noFill/>
          <a:ln w="12700" cap="sq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33" name="AutoShape 49"/>
          <p:cNvCxnSpPr>
            <a:cxnSpLocks noChangeShapeType="1"/>
            <a:stCxn id="16425" idx="2"/>
            <a:endCxn id="16429" idx="0"/>
          </p:cNvCxnSpPr>
          <p:nvPr/>
        </p:nvCxnSpPr>
        <p:spPr bwMode="auto">
          <a:xfrm>
            <a:off x="6953250" y="5264150"/>
            <a:ext cx="1219200" cy="371475"/>
          </a:xfrm>
          <a:prstGeom prst="straightConnector1">
            <a:avLst/>
          </a:prstGeom>
          <a:noFill/>
          <a:ln w="12700" cap="sq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434" name="Rectangle 50"/>
          <p:cNvSpPr>
            <a:spLocks noChangeArrowheads="1"/>
          </p:cNvSpPr>
          <p:nvPr/>
        </p:nvSpPr>
        <p:spPr bwMode="auto">
          <a:xfrm>
            <a:off x="3733800" y="4800600"/>
            <a:ext cx="167640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>
              <a:spcAft>
                <a:spcPct val="0"/>
              </a:spcAft>
              <a:buSzTx/>
              <a:buFontTx/>
              <a:buNone/>
            </a:pPr>
            <a:r>
              <a:rPr lang="zh-CN" altLang="en-US" b="1">
                <a:solidFill>
                  <a:srgbClr val="9900CC"/>
                </a:solidFill>
                <a:effectLst/>
                <a:latin typeface="微软雅黑" pitchFamily="34" charset="-122"/>
                <a:ea typeface="微软雅黑" pitchFamily="34" charset="-122"/>
              </a:rPr>
              <a:t>异名同义</a:t>
            </a:r>
          </a:p>
        </p:txBody>
      </p:sp>
    </p:spTree>
  </p:cSld>
  <p:clrMapOvr>
    <a:masterClrMapping/>
  </p:clrMapOvr>
  <p:transition spd="med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179388" y="-33338"/>
            <a:ext cx="3223172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defTabSz="914400" eaLnBrk="1" latinLnBrk="0" hangingPunct="1">
              <a:spcBef>
                <a:spcPts val="0"/>
              </a:spcBef>
              <a:buNone/>
              <a:defRPr sz="4000" b="1" baseline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  <a:cs typeface="+mj-cs"/>
              </a:defRPr>
            </a:lvl1pPr>
          </a:lstStyle>
          <a:p>
            <a:r>
              <a:rPr lang="zh-CN" altLang="en-US" dirty="0"/>
              <a:t>概念结构设计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title"/>
          </p:nvPr>
        </p:nvSpPr>
        <p:spPr>
          <a:xfrm>
            <a:off x="153988" y="846039"/>
            <a:ext cx="8964612" cy="566737"/>
          </a:xfrm>
        </p:spPr>
        <p:txBody>
          <a:bodyPr wrap="square"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dirty="0" smtClean="0"/>
              <a:t>分</a:t>
            </a:r>
            <a:r>
              <a:rPr lang="en-US" altLang="zh-CN" dirty="0" smtClean="0"/>
              <a:t>E-R</a:t>
            </a:r>
            <a:r>
              <a:rPr lang="zh-CN" altLang="en-US" dirty="0" smtClean="0"/>
              <a:t>图之间的冲突</a:t>
            </a:r>
            <a:endParaRPr lang="en-US" altLang="zh-CN" dirty="0" smtClean="0"/>
          </a:p>
        </p:txBody>
      </p:sp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179388" y="1630561"/>
            <a:ext cx="8382000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marL="377825" indent="-377825" eaLnBrk="0" hangingPunct="0"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SzPct val="80000"/>
              <a:buFont typeface="Wingdings" pitchFamily="2" charset="2"/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SzPct val="80000"/>
              <a:buFont typeface="Wingdings" pitchFamily="2" charset="2"/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SzPct val="80000"/>
              <a:buFont typeface="Wingdings" pitchFamily="2" charset="2"/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SzPct val="80000"/>
              <a:buFont typeface="Wingdings" pitchFamily="2" charset="2"/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rgbClr val="FFFF00"/>
                </a:solidFill>
                <a:effectLst/>
                <a:latin typeface="微软雅黑" pitchFamily="34" charset="-122"/>
                <a:ea typeface="微软雅黑" pitchFamily="34" charset="-122"/>
              </a:rPr>
              <a:t>③ 结构冲突</a:t>
            </a:r>
          </a:p>
        </p:txBody>
      </p:sp>
      <p:sp>
        <p:nvSpPr>
          <p:cNvPr id="1199109" name="Text Box 5"/>
          <p:cNvSpPr txBox="1">
            <a:spLocks noChangeArrowheads="1"/>
          </p:cNvSpPr>
          <p:nvPr/>
        </p:nvSpPr>
        <p:spPr bwMode="auto">
          <a:xfrm>
            <a:off x="323850" y="2278261"/>
            <a:ext cx="8534400" cy="5746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marL="266700" indent="-266700">
              <a:spcBef>
                <a:spcPct val="50000"/>
              </a:spcBef>
              <a:spcAft>
                <a:spcPct val="0"/>
              </a:spcAft>
              <a:buFont typeface="Wingdings" pitchFamily="2" charset="2"/>
              <a:buChar char="§"/>
              <a:defRPr/>
            </a:pPr>
            <a:r>
              <a:rPr lang="zh-CN" alt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同一对象在不同应用中有不同的抽象。即一处抽象为实体，另一处抽象为属性。</a:t>
            </a:r>
          </a:p>
          <a:p>
            <a:pPr marL="266700" indent="-266700">
              <a:spcBef>
                <a:spcPct val="10000"/>
              </a:spcBef>
              <a:spcAft>
                <a:spcPct val="0"/>
              </a:spcAft>
              <a:defRPr/>
            </a:pPr>
            <a:r>
              <a:rPr lang="zh-CN" alt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	</a:t>
            </a:r>
            <a:r>
              <a:rPr lang="zh-CN" altLang="en-US" sz="2800">
                <a:solidFill>
                  <a:srgbClr val="00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解决：统一成相同的抽象。</a:t>
            </a:r>
          </a:p>
          <a:p>
            <a:pPr marL="266700" indent="-266700">
              <a:spcBef>
                <a:spcPct val="50000"/>
              </a:spcBef>
              <a:spcAft>
                <a:spcPct val="0"/>
              </a:spcAft>
              <a:buFont typeface="Wingdings" pitchFamily="2" charset="2"/>
              <a:buChar char="§"/>
              <a:defRPr/>
            </a:pPr>
            <a:r>
              <a:rPr lang="zh-CN" alt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同一实体在不同应用中属性组成不同。</a:t>
            </a:r>
          </a:p>
          <a:p>
            <a:pPr marL="266700" indent="-266700">
              <a:spcBef>
                <a:spcPct val="10000"/>
              </a:spcBef>
              <a:spcAft>
                <a:spcPct val="0"/>
              </a:spcAft>
              <a:defRPr/>
            </a:pPr>
            <a:r>
              <a:rPr lang="zh-CN" alt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	</a:t>
            </a:r>
            <a:r>
              <a:rPr lang="zh-CN" altLang="en-US" sz="2800">
                <a:solidFill>
                  <a:srgbClr val="00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解决：统一取属性的并集。</a:t>
            </a:r>
          </a:p>
          <a:p>
            <a:pPr marL="266700" indent="-266700">
              <a:spcBef>
                <a:spcPct val="50000"/>
              </a:spcBef>
              <a:spcAft>
                <a:spcPct val="0"/>
              </a:spcAft>
              <a:buFont typeface="Wingdings" pitchFamily="2" charset="2"/>
              <a:buChar char="§"/>
              <a:defRPr/>
            </a:pPr>
            <a:r>
              <a:rPr lang="zh-CN" alt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相同的多个实体在不同应用中呈现不同的联系。即一处为1:</a:t>
            </a:r>
            <a:r>
              <a:rPr lang="en-US" altLang="zh-CN" sz="2800"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n，</a:t>
            </a:r>
            <a:r>
              <a:rPr lang="zh-CN" alt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而另一处为</a:t>
            </a:r>
            <a:r>
              <a:rPr lang="en-US" altLang="zh-CN" sz="2800"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m:n。</a:t>
            </a:r>
          </a:p>
          <a:p>
            <a:pPr marL="266700" indent="-266700">
              <a:spcBef>
                <a:spcPct val="10000"/>
              </a:spcBef>
              <a:spcAft>
                <a:spcPct val="0"/>
              </a:spcAft>
              <a:defRPr/>
            </a:pPr>
            <a:r>
              <a:rPr lang="zh-CN" alt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	</a:t>
            </a:r>
            <a:r>
              <a:rPr lang="zh-CN" altLang="en-US" sz="2800">
                <a:solidFill>
                  <a:srgbClr val="00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解决：按语义进行实体联系类型的综合或调整。</a:t>
            </a:r>
            <a:endParaRPr lang="en-US" altLang="zh-CN" sz="2800">
              <a:solidFill>
                <a:srgbClr val="00FF9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ransition spd="med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179388" y="-33338"/>
            <a:ext cx="3223172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defTabSz="914400" eaLnBrk="1" latinLnBrk="0" hangingPunct="1">
              <a:spcBef>
                <a:spcPts val="0"/>
              </a:spcBef>
              <a:buNone/>
              <a:defRPr sz="4000" b="1" baseline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  <a:cs typeface="+mj-cs"/>
              </a:defRPr>
            </a:lvl1pPr>
          </a:lstStyle>
          <a:p>
            <a:r>
              <a:rPr lang="zh-CN" altLang="en-US" dirty="0"/>
              <a:t>概念结构设计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title"/>
          </p:nvPr>
        </p:nvSpPr>
        <p:spPr>
          <a:xfrm>
            <a:off x="153988" y="846039"/>
            <a:ext cx="8964612" cy="566737"/>
          </a:xfrm>
        </p:spPr>
        <p:txBody>
          <a:bodyPr wrap="square"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dirty="0" smtClean="0"/>
              <a:t>分</a:t>
            </a:r>
            <a:r>
              <a:rPr lang="en-US" altLang="zh-CN" dirty="0" smtClean="0"/>
              <a:t>E-R</a:t>
            </a:r>
            <a:r>
              <a:rPr lang="zh-CN" altLang="en-US" dirty="0" smtClean="0"/>
              <a:t>图之间的冲突</a:t>
            </a:r>
            <a:endParaRPr lang="en-US" altLang="zh-CN" dirty="0" smtClean="0"/>
          </a:p>
        </p:txBody>
      </p:sp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179388" y="1558181"/>
            <a:ext cx="8382000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marL="377825" indent="-377825" eaLnBrk="0" hangingPunct="0"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SzPct val="80000"/>
              <a:buFont typeface="Wingdings" pitchFamily="2" charset="2"/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SzPct val="80000"/>
              <a:buFont typeface="Wingdings" pitchFamily="2" charset="2"/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SzPct val="80000"/>
              <a:buFont typeface="Wingdings" pitchFamily="2" charset="2"/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SzPct val="80000"/>
              <a:buFont typeface="Wingdings" pitchFamily="2" charset="2"/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rgbClr val="FFFF00"/>
                </a:solidFill>
                <a:effectLst/>
                <a:latin typeface="微软雅黑" pitchFamily="34" charset="-122"/>
                <a:ea typeface="微软雅黑" pitchFamily="34" charset="-122"/>
              </a:rPr>
              <a:t>③ 结构</a:t>
            </a:r>
            <a:r>
              <a:rPr lang="zh-CN" altLang="en-US" sz="2800" dirty="0" smtClean="0">
                <a:solidFill>
                  <a:srgbClr val="FFFF00"/>
                </a:solidFill>
                <a:effectLst/>
                <a:latin typeface="微软雅黑" pitchFamily="34" charset="-122"/>
                <a:ea typeface="微软雅黑" pitchFamily="34" charset="-122"/>
              </a:rPr>
              <a:t>冲突</a:t>
            </a:r>
            <a:endParaRPr lang="zh-CN" altLang="en-US" sz="2800" dirty="0">
              <a:solidFill>
                <a:srgbClr val="FFFF00"/>
              </a:solidFill>
              <a:effectLst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00133" name="Rectangle 5"/>
          <p:cNvSpPr>
            <a:spLocks noChangeArrowheads="1"/>
          </p:cNvSpPr>
          <p:nvPr/>
        </p:nvSpPr>
        <p:spPr bwMode="auto">
          <a:xfrm>
            <a:off x="6908800" y="2406675"/>
            <a:ext cx="995363" cy="349250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班级</a:t>
            </a:r>
          </a:p>
        </p:txBody>
      </p:sp>
      <p:sp>
        <p:nvSpPr>
          <p:cNvPr id="1200134" name="AutoShape 6"/>
          <p:cNvSpPr>
            <a:spLocks noChangeArrowheads="1"/>
          </p:cNvSpPr>
          <p:nvPr/>
        </p:nvSpPr>
        <p:spPr bwMode="auto">
          <a:xfrm>
            <a:off x="6489700" y="3370287"/>
            <a:ext cx="987425" cy="3397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班号</a:t>
            </a:r>
          </a:p>
        </p:txBody>
      </p:sp>
      <p:sp>
        <p:nvSpPr>
          <p:cNvPr id="1200135" name="AutoShape 7"/>
          <p:cNvSpPr>
            <a:spLocks noChangeArrowheads="1"/>
          </p:cNvSpPr>
          <p:nvPr/>
        </p:nvSpPr>
        <p:spPr bwMode="auto">
          <a:xfrm>
            <a:off x="7685088" y="3370287"/>
            <a:ext cx="987425" cy="3397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班名</a:t>
            </a:r>
          </a:p>
        </p:txBody>
      </p:sp>
      <p:cxnSp>
        <p:nvCxnSpPr>
          <p:cNvPr id="18440" name="AutoShape 8"/>
          <p:cNvCxnSpPr>
            <a:cxnSpLocks noChangeShapeType="1"/>
            <a:stCxn id="1200133" idx="2"/>
            <a:endCxn id="1200134" idx="0"/>
          </p:cNvCxnSpPr>
          <p:nvPr/>
        </p:nvCxnSpPr>
        <p:spPr bwMode="auto">
          <a:xfrm flipH="1">
            <a:off x="6983413" y="2755925"/>
            <a:ext cx="423862" cy="614362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41" name="AutoShape 9"/>
          <p:cNvCxnSpPr>
            <a:cxnSpLocks noChangeShapeType="1"/>
            <a:stCxn id="1200133" idx="2"/>
            <a:endCxn id="1200135" idx="0"/>
          </p:cNvCxnSpPr>
          <p:nvPr/>
        </p:nvCxnSpPr>
        <p:spPr bwMode="auto">
          <a:xfrm>
            <a:off x="7407275" y="2755925"/>
            <a:ext cx="771525" cy="614362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00138" name="Rectangle 10"/>
          <p:cNvSpPr>
            <a:spLocks noChangeArrowheads="1"/>
          </p:cNvSpPr>
          <p:nvPr/>
        </p:nvSpPr>
        <p:spPr bwMode="auto">
          <a:xfrm>
            <a:off x="3422650" y="2406675"/>
            <a:ext cx="995363" cy="349250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学生</a:t>
            </a:r>
          </a:p>
        </p:txBody>
      </p:sp>
      <p:sp>
        <p:nvSpPr>
          <p:cNvPr id="1200139" name="AutoShape 11"/>
          <p:cNvSpPr>
            <a:spLocks noChangeArrowheads="1"/>
          </p:cNvSpPr>
          <p:nvPr/>
        </p:nvSpPr>
        <p:spPr bwMode="auto">
          <a:xfrm>
            <a:off x="2347913" y="3382987"/>
            <a:ext cx="798512" cy="38576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学号</a:t>
            </a:r>
          </a:p>
        </p:txBody>
      </p:sp>
      <p:sp>
        <p:nvSpPr>
          <p:cNvPr id="1200140" name="AutoShape 12"/>
          <p:cNvSpPr>
            <a:spLocks noChangeArrowheads="1"/>
          </p:cNvSpPr>
          <p:nvPr/>
        </p:nvSpPr>
        <p:spPr bwMode="auto">
          <a:xfrm>
            <a:off x="3260725" y="3382987"/>
            <a:ext cx="798513" cy="38576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姓名</a:t>
            </a:r>
          </a:p>
        </p:txBody>
      </p:sp>
      <p:sp>
        <p:nvSpPr>
          <p:cNvPr id="1200141" name="AutoShape 13"/>
          <p:cNvSpPr>
            <a:spLocks noChangeArrowheads="1"/>
          </p:cNvSpPr>
          <p:nvPr/>
        </p:nvSpPr>
        <p:spPr bwMode="auto">
          <a:xfrm>
            <a:off x="5010150" y="3382987"/>
            <a:ext cx="798513" cy="38576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性别</a:t>
            </a:r>
          </a:p>
        </p:txBody>
      </p:sp>
      <p:sp>
        <p:nvSpPr>
          <p:cNvPr id="1200142" name="AutoShape 14"/>
          <p:cNvSpPr>
            <a:spLocks noChangeArrowheads="1"/>
          </p:cNvSpPr>
          <p:nvPr/>
        </p:nvSpPr>
        <p:spPr bwMode="auto">
          <a:xfrm>
            <a:off x="4140200" y="3382987"/>
            <a:ext cx="800100" cy="38576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年龄</a:t>
            </a:r>
          </a:p>
        </p:txBody>
      </p:sp>
      <p:cxnSp>
        <p:nvCxnSpPr>
          <p:cNvPr id="18447" name="AutoShape 15"/>
          <p:cNvCxnSpPr>
            <a:cxnSpLocks noChangeShapeType="1"/>
            <a:stCxn id="1200138" idx="2"/>
            <a:endCxn id="1200139" idx="0"/>
          </p:cNvCxnSpPr>
          <p:nvPr/>
        </p:nvCxnSpPr>
        <p:spPr bwMode="auto">
          <a:xfrm flipH="1">
            <a:off x="2747963" y="2755925"/>
            <a:ext cx="1173162" cy="627062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48" name="AutoShape 16"/>
          <p:cNvCxnSpPr>
            <a:cxnSpLocks noChangeShapeType="1"/>
            <a:stCxn id="1200138" idx="2"/>
            <a:endCxn id="1200140" idx="0"/>
          </p:cNvCxnSpPr>
          <p:nvPr/>
        </p:nvCxnSpPr>
        <p:spPr bwMode="auto">
          <a:xfrm flipH="1">
            <a:off x="3660775" y="2755925"/>
            <a:ext cx="260350" cy="627062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49" name="AutoShape 17"/>
          <p:cNvCxnSpPr>
            <a:cxnSpLocks noChangeShapeType="1"/>
            <a:stCxn id="1200138" idx="2"/>
            <a:endCxn id="1200142" idx="0"/>
          </p:cNvCxnSpPr>
          <p:nvPr/>
        </p:nvCxnSpPr>
        <p:spPr bwMode="auto">
          <a:xfrm>
            <a:off x="3921125" y="2755925"/>
            <a:ext cx="619125" cy="627062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50" name="AutoShape 18"/>
          <p:cNvCxnSpPr>
            <a:cxnSpLocks noChangeShapeType="1"/>
            <a:stCxn id="1200138" idx="2"/>
            <a:endCxn id="1200141" idx="0"/>
          </p:cNvCxnSpPr>
          <p:nvPr/>
        </p:nvCxnSpPr>
        <p:spPr bwMode="auto">
          <a:xfrm>
            <a:off x="3921125" y="2755925"/>
            <a:ext cx="1489075" cy="627062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00147" name="AutoShape 19"/>
          <p:cNvSpPr>
            <a:spLocks noChangeArrowheads="1"/>
          </p:cNvSpPr>
          <p:nvPr/>
        </p:nvSpPr>
        <p:spPr bwMode="auto">
          <a:xfrm>
            <a:off x="4916488" y="2232050"/>
            <a:ext cx="1593850" cy="698500"/>
          </a:xfrm>
          <a:prstGeom prst="diamond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组成</a:t>
            </a:r>
          </a:p>
        </p:txBody>
      </p:sp>
      <p:cxnSp>
        <p:nvCxnSpPr>
          <p:cNvPr id="18452" name="AutoShape 20"/>
          <p:cNvCxnSpPr>
            <a:cxnSpLocks noChangeShapeType="1"/>
            <a:stCxn id="1200138" idx="3"/>
            <a:endCxn id="1200147" idx="1"/>
          </p:cNvCxnSpPr>
          <p:nvPr/>
        </p:nvCxnSpPr>
        <p:spPr bwMode="auto">
          <a:xfrm>
            <a:off x="4418013" y="2581300"/>
            <a:ext cx="498475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53" name="AutoShape 21"/>
          <p:cNvCxnSpPr>
            <a:cxnSpLocks noChangeShapeType="1"/>
            <a:stCxn id="1200147" idx="3"/>
            <a:endCxn id="1200133" idx="1"/>
          </p:cNvCxnSpPr>
          <p:nvPr/>
        </p:nvCxnSpPr>
        <p:spPr bwMode="auto">
          <a:xfrm>
            <a:off x="6510338" y="2581300"/>
            <a:ext cx="398462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00150" name="Rectangle 22"/>
          <p:cNvSpPr>
            <a:spLocks noChangeArrowheads="1"/>
          </p:cNvSpPr>
          <p:nvPr/>
        </p:nvSpPr>
        <p:spPr bwMode="auto">
          <a:xfrm>
            <a:off x="6410325" y="2232050"/>
            <a:ext cx="596900" cy="349250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1</a:t>
            </a:r>
          </a:p>
        </p:txBody>
      </p:sp>
      <p:sp>
        <p:nvSpPr>
          <p:cNvPr id="1200151" name="Rectangle 23"/>
          <p:cNvSpPr>
            <a:spLocks noChangeArrowheads="1"/>
          </p:cNvSpPr>
          <p:nvPr/>
        </p:nvSpPr>
        <p:spPr bwMode="auto">
          <a:xfrm>
            <a:off x="4418013" y="2232050"/>
            <a:ext cx="598487" cy="349250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n</a:t>
            </a:r>
          </a:p>
        </p:txBody>
      </p:sp>
      <p:grpSp>
        <p:nvGrpSpPr>
          <p:cNvPr id="18456" name="Group 24"/>
          <p:cNvGrpSpPr>
            <a:grpSpLocks/>
          </p:cNvGrpSpPr>
          <p:nvPr/>
        </p:nvGrpSpPr>
        <p:grpSpPr bwMode="auto">
          <a:xfrm>
            <a:off x="2627313" y="4751412"/>
            <a:ext cx="5246687" cy="1485900"/>
            <a:chOff x="487" y="2904"/>
            <a:chExt cx="2629" cy="564"/>
          </a:xfrm>
        </p:grpSpPr>
        <p:sp>
          <p:nvSpPr>
            <p:cNvPr id="1200153" name="Rectangle 25"/>
            <p:cNvSpPr>
              <a:spLocks noChangeArrowheads="1"/>
            </p:cNvSpPr>
            <p:nvPr/>
          </p:nvSpPr>
          <p:spPr bwMode="auto">
            <a:xfrm>
              <a:off x="2304" y="2976"/>
              <a:ext cx="480" cy="144"/>
            </a:xfrm>
            <a:prstGeom prst="rect">
              <a:avLst/>
            </a:prstGeom>
            <a:solidFill>
              <a:schemeClr val="bg1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/>
            <a:lstStyle/>
            <a:p>
              <a:pPr algn="ctr">
                <a:spcAft>
                  <a:spcPct val="0"/>
                </a:spcAft>
                <a:buSzTx/>
                <a:buFontTx/>
                <a:buNone/>
                <a:defRPr/>
              </a:pPr>
              <a:r>
                <a:rPr lang="zh-CN" alt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</a:rPr>
                <a:t>班级</a:t>
              </a:r>
            </a:p>
          </p:txBody>
        </p:sp>
        <p:sp>
          <p:nvSpPr>
            <p:cNvPr id="1200154" name="AutoShape 26"/>
            <p:cNvSpPr>
              <a:spLocks noChangeArrowheads="1"/>
            </p:cNvSpPr>
            <p:nvPr/>
          </p:nvSpPr>
          <p:spPr bwMode="auto">
            <a:xfrm>
              <a:off x="2064" y="3304"/>
              <a:ext cx="476" cy="14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 cap="sq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/>
            <a:lstStyle/>
            <a:p>
              <a:pPr algn="ctr">
                <a:spcAft>
                  <a:spcPct val="0"/>
                </a:spcAft>
                <a:buSzTx/>
                <a:buFontTx/>
                <a:buNone/>
                <a:defRPr/>
              </a:pPr>
              <a:r>
                <a:rPr lang="zh-CN" alt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</a:rPr>
                <a:t>班号</a:t>
              </a:r>
            </a:p>
          </p:txBody>
        </p:sp>
        <p:sp>
          <p:nvSpPr>
            <p:cNvPr id="1200155" name="AutoShape 27"/>
            <p:cNvSpPr>
              <a:spLocks noChangeArrowheads="1"/>
            </p:cNvSpPr>
            <p:nvPr/>
          </p:nvSpPr>
          <p:spPr bwMode="auto">
            <a:xfrm>
              <a:off x="2640" y="3304"/>
              <a:ext cx="476" cy="14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 cap="sq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/>
            <a:lstStyle/>
            <a:p>
              <a:pPr algn="ctr">
                <a:spcAft>
                  <a:spcPct val="0"/>
                </a:spcAft>
                <a:buSzTx/>
                <a:buFontTx/>
                <a:buNone/>
                <a:defRPr/>
              </a:pPr>
              <a:r>
                <a:rPr lang="zh-CN" alt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</a:rPr>
                <a:t>班名</a:t>
              </a:r>
            </a:p>
          </p:txBody>
        </p:sp>
        <p:cxnSp>
          <p:nvCxnSpPr>
            <p:cNvPr id="18464" name="AutoShape 28"/>
            <p:cNvCxnSpPr>
              <a:cxnSpLocks noChangeShapeType="1"/>
              <a:stCxn id="1200153" idx="2"/>
              <a:endCxn id="1200154" idx="0"/>
            </p:cNvCxnSpPr>
            <p:nvPr/>
          </p:nvCxnSpPr>
          <p:spPr bwMode="auto">
            <a:xfrm flipH="1">
              <a:off x="2302" y="3120"/>
              <a:ext cx="242" cy="184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65" name="AutoShape 29"/>
            <p:cNvCxnSpPr>
              <a:cxnSpLocks noChangeShapeType="1"/>
              <a:stCxn id="1200153" idx="2"/>
              <a:endCxn id="1200155" idx="0"/>
            </p:cNvCxnSpPr>
            <p:nvPr/>
          </p:nvCxnSpPr>
          <p:spPr bwMode="auto">
            <a:xfrm>
              <a:off x="2544" y="3120"/>
              <a:ext cx="334" cy="184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00158" name="Rectangle 30"/>
            <p:cNvSpPr>
              <a:spLocks noChangeArrowheads="1"/>
            </p:cNvSpPr>
            <p:nvPr/>
          </p:nvSpPr>
          <p:spPr bwMode="auto">
            <a:xfrm>
              <a:off x="708" y="2976"/>
              <a:ext cx="480" cy="144"/>
            </a:xfrm>
            <a:prstGeom prst="rect">
              <a:avLst/>
            </a:prstGeom>
            <a:solidFill>
              <a:schemeClr val="bg1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/>
            <a:lstStyle/>
            <a:p>
              <a:pPr algn="ctr">
                <a:spcAft>
                  <a:spcPct val="0"/>
                </a:spcAft>
                <a:buSzTx/>
                <a:buFontTx/>
                <a:buNone/>
                <a:defRPr/>
              </a:pPr>
              <a:r>
                <a:rPr lang="zh-CN" alt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</a:rPr>
                <a:t>班长</a:t>
              </a:r>
            </a:p>
          </p:txBody>
        </p:sp>
        <p:sp>
          <p:nvSpPr>
            <p:cNvPr id="1200159" name="AutoShape 31"/>
            <p:cNvSpPr>
              <a:spLocks noChangeArrowheads="1"/>
            </p:cNvSpPr>
            <p:nvPr/>
          </p:nvSpPr>
          <p:spPr bwMode="auto">
            <a:xfrm>
              <a:off x="487" y="3309"/>
              <a:ext cx="385" cy="15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 cap="sq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/>
            <a:lstStyle/>
            <a:p>
              <a:pPr algn="ctr">
                <a:spcAft>
                  <a:spcPct val="0"/>
                </a:spcAft>
                <a:buSzTx/>
                <a:buFontTx/>
                <a:buNone/>
                <a:defRPr/>
              </a:pPr>
              <a:r>
                <a:rPr lang="zh-CN" alt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</a:rPr>
                <a:t>学号</a:t>
              </a:r>
            </a:p>
          </p:txBody>
        </p:sp>
        <p:sp>
          <p:nvSpPr>
            <p:cNvPr id="1200160" name="AutoShape 32"/>
            <p:cNvSpPr>
              <a:spLocks noChangeArrowheads="1"/>
            </p:cNvSpPr>
            <p:nvPr/>
          </p:nvSpPr>
          <p:spPr bwMode="auto">
            <a:xfrm>
              <a:off x="944" y="3309"/>
              <a:ext cx="385" cy="15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 cap="sq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/>
            <a:lstStyle/>
            <a:p>
              <a:pPr algn="ctr">
                <a:spcAft>
                  <a:spcPct val="0"/>
                </a:spcAft>
                <a:buSzTx/>
                <a:buFontTx/>
                <a:buNone/>
                <a:defRPr/>
              </a:pPr>
              <a:r>
                <a:rPr lang="zh-CN" alt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</a:rPr>
                <a:t>姓名</a:t>
              </a:r>
            </a:p>
          </p:txBody>
        </p:sp>
        <p:cxnSp>
          <p:nvCxnSpPr>
            <p:cNvPr id="18469" name="AutoShape 33"/>
            <p:cNvCxnSpPr>
              <a:cxnSpLocks noChangeShapeType="1"/>
              <a:stCxn id="1200158" idx="2"/>
              <a:endCxn id="1200159" idx="0"/>
            </p:cNvCxnSpPr>
            <p:nvPr/>
          </p:nvCxnSpPr>
          <p:spPr bwMode="auto">
            <a:xfrm flipH="1">
              <a:off x="680" y="3120"/>
              <a:ext cx="268" cy="189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70" name="AutoShape 34"/>
            <p:cNvCxnSpPr>
              <a:cxnSpLocks noChangeShapeType="1"/>
              <a:stCxn id="1200158" idx="2"/>
              <a:endCxn id="1200160" idx="0"/>
            </p:cNvCxnSpPr>
            <p:nvPr/>
          </p:nvCxnSpPr>
          <p:spPr bwMode="auto">
            <a:xfrm>
              <a:off x="948" y="3120"/>
              <a:ext cx="189" cy="189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00163" name="AutoShape 35"/>
            <p:cNvSpPr>
              <a:spLocks noChangeArrowheads="1"/>
            </p:cNvSpPr>
            <p:nvPr/>
          </p:nvSpPr>
          <p:spPr bwMode="auto">
            <a:xfrm>
              <a:off x="1344" y="2904"/>
              <a:ext cx="768" cy="288"/>
            </a:xfrm>
            <a:prstGeom prst="diamond">
              <a:avLst/>
            </a:prstGeom>
            <a:solidFill>
              <a:schemeClr val="bg1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/>
            <a:lstStyle/>
            <a:p>
              <a:pPr algn="ctr">
                <a:spcAft>
                  <a:spcPct val="0"/>
                </a:spcAft>
                <a:buSzTx/>
                <a:buFontTx/>
                <a:buNone/>
                <a:defRPr/>
              </a:pPr>
              <a:r>
                <a:rPr lang="zh-CN" alt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</a:rPr>
                <a:t>管理</a:t>
              </a:r>
            </a:p>
          </p:txBody>
        </p:sp>
        <p:cxnSp>
          <p:nvCxnSpPr>
            <p:cNvPr id="18472" name="AutoShape 36"/>
            <p:cNvCxnSpPr>
              <a:cxnSpLocks noChangeShapeType="1"/>
              <a:stCxn id="1200158" idx="3"/>
              <a:endCxn id="1200163" idx="1"/>
            </p:cNvCxnSpPr>
            <p:nvPr/>
          </p:nvCxnSpPr>
          <p:spPr bwMode="auto">
            <a:xfrm>
              <a:off x="1188" y="3048"/>
              <a:ext cx="156" cy="0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473" name="AutoShape 37"/>
            <p:cNvCxnSpPr>
              <a:cxnSpLocks noChangeShapeType="1"/>
              <a:stCxn id="1200163" idx="3"/>
              <a:endCxn id="1200153" idx="1"/>
            </p:cNvCxnSpPr>
            <p:nvPr/>
          </p:nvCxnSpPr>
          <p:spPr bwMode="auto">
            <a:xfrm>
              <a:off x="2112" y="3048"/>
              <a:ext cx="192" cy="0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00166" name="Rectangle 38"/>
            <p:cNvSpPr>
              <a:spLocks noChangeArrowheads="1"/>
            </p:cNvSpPr>
            <p:nvPr/>
          </p:nvSpPr>
          <p:spPr bwMode="auto">
            <a:xfrm>
              <a:off x="2064" y="2904"/>
              <a:ext cx="290" cy="144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/>
          </p:spPr>
          <p:txBody>
            <a:bodyPr wrap="none" lIns="0" tIns="0" rIns="0" bIns="0" anchor="ctr"/>
            <a:lstStyle/>
            <a:p>
              <a:pPr algn="ctr">
                <a:spcAft>
                  <a:spcPct val="0"/>
                </a:spcAft>
                <a:buSzTx/>
                <a:buFontTx/>
                <a:buNone/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1200167" name="Rectangle 39"/>
            <p:cNvSpPr>
              <a:spLocks noChangeArrowheads="1"/>
            </p:cNvSpPr>
            <p:nvPr/>
          </p:nvSpPr>
          <p:spPr bwMode="auto">
            <a:xfrm>
              <a:off x="1128" y="2904"/>
              <a:ext cx="288" cy="144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/>
          </p:spPr>
          <p:txBody>
            <a:bodyPr wrap="none" lIns="0" tIns="0" rIns="0" bIns="0" anchor="ctr"/>
            <a:lstStyle/>
            <a:p>
              <a:pPr algn="ctr">
                <a:spcAft>
                  <a:spcPct val="0"/>
                </a:spcAft>
                <a:buSzTx/>
                <a:buFontTx/>
                <a:buNone/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</a:rPr>
                <a:t>1</a:t>
              </a:r>
            </a:p>
          </p:txBody>
        </p:sp>
      </p:grpSp>
      <p:sp>
        <p:nvSpPr>
          <p:cNvPr id="1200168" name="Rectangle 40"/>
          <p:cNvSpPr>
            <a:spLocks noChangeArrowheads="1"/>
          </p:cNvSpPr>
          <p:nvPr/>
        </p:nvSpPr>
        <p:spPr bwMode="auto">
          <a:xfrm>
            <a:off x="323850" y="2519387"/>
            <a:ext cx="1600200" cy="427038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800">
                <a:solidFill>
                  <a:srgbClr val="00FF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局部视图1</a:t>
            </a:r>
          </a:p>
        </p:txBody>
      </p:sp>
      <p:sp>
        <p:nvSpPr>
          <p:cNvPr id="1200169" name="Rectangle 41"/>
          <p:cNvSpPr>
            <a:spLocks noChangeArrowheads="1"/>
          </p:cNvSpPr>
          <p:nvPr/>
        </p:nvSpPr>
        <p:spPr bwMode="auto">
          <a:xfrm>
            <a:off x="323850" y="4895875"/>
            <a:ext cx="1600200" cy="427037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800">
                <a:solidFill>
                  <a:srgbClr val="00FF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局部视图2</a:t>
            </a:r>
          </a:p>
        </p:txBody>
      </p:sp>
      <p:sp>
        <p:nvSpPr>
          <p:cNvPr id="1200170" name="AutoShape 42"/>
          <p:cNvSpPr>
            <a:spLocks noChangeArrowheads="1"/>
          </p:cNvSpPr>
          <p:nvPr/>
        </p:nvSpPr>
        <p:spPr bwMode="auto">
          <a:xfrm>
            <a:off x="2124075" y="2663850"/>
            <a:ext cx="431800" cy="2159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hlink"/>
          </a:solidFill>
          <a:ln w="12700" cap="sq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200171" name="AutoShape 43"/>
          <p:cNvSpPr>
            <a:spLocks noChangeArrowheads="1"/>
          </p:cNvSpPr>
          <p:nvPr/>
        </p:nvSpPr>
        <p:spPr bwMode="auto">
          <a:xfrm>
            <a:off x="2124075" y="5040337"/>
            <a:ext cx="431800" cy="2159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hlink"/>
          </a:solidFill>
          <a:ln w="12700" cap="sq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med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179388" y="-33338"/>
            <a:ext cx="3223172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defTabSz="914400" eaLnBrk="1" latinLnBrk="0" hangingPunct="1">
              <a:spcBef>
                <a:spcPts val="0"/>
              </a:spcBef>
              <a:buNone/>
              <a:defRPr sz="4000" b="1" baseline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  <a:cs typeface="+mj-cs"/>
              </a:defRPr>
            </a:lvl1pPr>
          </a:lstStyle>
          <a:p>
            <a:r>
              <a:rPr lang="zh-CN" altLang="en-US" dirty="0"/>
              <a:t>概念结构设计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title"/>
          </p:nvPr>
        </p:nvSpPr>
        <p:spPr>
          <a:xfrm>
            <a:off x="153988" y="837456"/>
            <a:ext cx="8964612" cy="566737"/>
          </a:xfrm>
        </p:spPr>
        <p:txBody>
          <a:bodyPr wrap="square"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dirty="0" smtClean="0"/>
              <a:t>分</a:t>
            </a:r>
            <a:r>
              <a:rPr lang="en-US" altLang="zh-CN" dirty="0" smtClean="0"/>
              <a:t>E-R</a:t>
            </a:r>
            <a:r>
              <a:rPr lang="zh-CN" altLang="en-US" dirty="0" smtClean="0"/>
              <a:t>图之间的冲突</a:t>
            </a:r>
            <a:endParaRPr lang="en-US" altLang="zh-CN" dirty="0" smtClean="0"/>
          </a:p>
        </p:txBody>
      </p:sp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179388" y="1558181"/>
            <a:ext cx="8382000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marL="377825" indent="-377825" eaLnBrk="0" hangingPunct="0"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SzPct val="80000"/>
              <a:buFont typeface="Wingdings" pitchFamily="2" charset="2"/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SzPct val="80000"/>
              <a:buFont typeface="Wingdings" pitchFamily="2" charset="2"/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SzPct val="80000"/>
              <a:buFont typeface="Wingdings" pitchFamily="2" charset="2"/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SzPct val="80000"/>
              <a:buFont typeface="Wingdings" pitchFamily="2" charset="2"/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rgbClr val="FFFF00"/>
                </a:solidFill>
                <a:effectLst/>
                <a:latin typeface="微软雅黑" pitchFamily="34" charset="-122"/>
                <a:ea typeface="微软雅黑" pitchFamily="34" charset="-122"/>
              </a:rPr>
              <a:t>③ 结构冲突</a:t>
            </a:r>
          </a:p>
        </p:txBody>
      </p:sp>
      <p:sp>
        <p:nvSpPr>
          <p:cNvPr id="1201157" name="Rectangle 5"/>
          <p:cNvSpPr>
            <a:spLocks noChangeArrowheads="1"/>
          </p:cNvSpPr>
          <p:nvPr/>
        </p:nvSpPr>
        <p:spPr bwMode="auto">
          <a:xfrm>
            <a:off x="6969125" y="4899025"/>
            <a:ext cx="995363" cy="349250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班级</a:t>
            </a:r>
          </a:p>
        </p:txBody>
      </p:sp>
      <p:sp>
        <p:nvSpPr>
          <p:cNvPr id="1201158" name="AutoShape 6"/>
          <p:cNvSpPr>
            <a:spLocks noChangeArrowheads="1"/>
          </p:cNvSpPr>
          <p:nvPr/>
        </p:nvSpPr>
        <p:spPr bwMode="auto">
          <a:xfrm>
            <a:off x="6497638" y="5697538"/>
            <a:ext cx="987425" cy="3397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班号</a:t>
            </a:r>
          </a:p>
        </p:txBody>
      </p:sp>
      <p:sp>
        <p:nvSpPr>
          <p:cNvPr id="1201159" name="AutoShape 7"/>
          <p:cNvSpPr>
            <a:spLocks noChangeArrowheads="1"/>
          </p:cNvSpPr>
          <p:nvPr/>
        </p:nvSpPr>
        <p:spPr bwMode="auto">
          <a:xfrm>
            <a:off x="7693025" y="5697538"/>
            <a:ext cx="987425" cy="3397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班名</a:t>
            </a:r>
          </a:p>
        </p:txBody>
      </p:sp>
      <p:cxnSp>
        <p:nvCxnSpPr>
          <p:cNvPr id="19464" name="AutoShape 8"/>
          <p:cNvCxnSpPr>
            <a:cxnSpLocks noChangeShapeType="1"/>
            <a:stCxn id="1201157" idx="2"/>
            <a:endCxn id="1201158" idx="0"/>
          </p:cNvCxnSpPr>
          <p:nvPr/>
        </p:nvCxnSpPr>
        <p:spPr bwMode="auto">
          <a:xfrm flipH="1">
            <a:off x="6991350" y="5248275"/>
            <a:ext cx="476250" cy="449263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65" name="AutoShape 9"/>
          <p:cNvCxnSpPr>
            <a:cxnSpLocks noChangeShapeType="1"/>
            <a:stCxn id="1201157" idx="2"/>
            <a:endCxn id="1201159" idx="0"/>
          </p:cNvCxnSpPr>
          <p:nvPr/>
        </p:nvCxnSpPr>
        <p:spPr bwMode="auto">
          <a:xfrm>
            <a:off x="7467600" y="5248275"/>
            <a:ext cx="719138" cy="449263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01162" name="Rectangle 10"/>
          <p:cNvSpPr>
            <a:spLocks noChangeArrowheads="1"/>
          </p:cNvSpPr>
          <p:nvPr/>
        </p:nvSpPr>
        <p:spPr bwMode="auto">
          <a:xfrm>
            <a:off x="3509963" y="4899025"/>
            <a:ext cx="995362" cy="349250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学生</a:t>
            </a:r>
          </a:p>
        </p:txBody>
      </p:sp>
      <p:sp>
        <p:nvSpPr>
          <p:cNvPr id="1201163" name="AutoShape 11"/>
          <p:cNvSpPr>
            <a:spLocks noChangeArrowheads="1"/>
          </p:cNvSpPr>
          <p:nvPr/>
        </p:nvSpPr>
        <p:spPr bwMode="auto">
          <a:xfrm>
            <a:off x="2355850" y="5710238"/>
            <a:ext cx="798513" cy="38576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学号</a:t>
            </a:r>
          </a:p>
        </p:txBody>
      </p:sp>
      <p:sp>
        <p:nvSpPr>
          <p:cNvPr id="1201164" name="AutoShape 12"/>
          <p:cNvSpPr>
            <a:spLocks noChangeArrowheads="1"/>
          </p:cNvSpPr>
          <p:nvPr/>
        </p:nvSpPr>
        <p:spPr bwMode="auto">
          <a:xfrm>
            <a:off x="3268663" y="5710238"/>
            <a:ext cx="798512" cy="38576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姓名</a:t>
            </a:r>
          </a:p>
        </p:txBody>
      </p:sp>
      <p:sp>
        <p:nvSpPr>
          <p:cNvPr id="1201165" name="AutoShape 13"/>
          <p:cNvSpPr>
            <a:spLocks noChangeArrowheads="1"/>
          </p:cNvSpPr>
          <p:nvPr/>
        </p:nvSpPr>
        <p:spPr bwMode="auto">
          <a:xfrm>
            <a:off x="5018088" y="5710238"/>
            <a:ext cx="798512" cy="38576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性别</a:t>
            </a:r>
          </a:p>
        </p:txBody>
      </p:sp>
      <p:sp>
        <p:nvSpPr>
          <p:cNvPr id="1201166" name="AutoShape 14"/>
          <p:cNvSpPr>
            <a:spLocks noChangeArrowheads="1"/>
          </p:cNvSpPr>
          <p:nvPr/>
        </p:nvSpPr>
        <p:spPr bwMode="auto">
          <a:xfrm>
            <a:off x="4148138" y="5710238"/>
            <a:ext cx="800100" cy="38576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年龄</a:t>
            </a:r>
          </a:p>
        </p:txBody>
      </p:sp>
      <p:cxnSp>
        <p:nvCxnSpPr>
          <p:cNvPr id="19471" name="AutoShape 15"/>
          <p:cNvCxnSpPr>
            <a:cxnSpLocks noChangeShapeType="1"/>
            <a:stCxn id="1201162" idx="2"/>
            <a:endCxn id="1201163" idx="0"/>
          </p:cNvCxnSpPr>
          <p:nvPr/>
        </p:nvCxnSpPr>
        <p:spPr bwMode="auto">
          <a:xfrm flipH="1">
            <a:off x="2755900" y="5248275"/>
            <a:ext cx="1252538" cy="461963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2" name="AutoShape 16"/>
          <p:cNvCxnSpPr>
            <a:cxnSpLocks noChangeShapeType="1"/>
            <a:stCxn id="1201162" idx="2"/>
            <a:endCxn id="1201164" idx="0"/>
          </p:cNvCxnSpPr>
          <p:nvPr/>
        </p:nvCxnSpPr>
        <p:spPr bwMode="auto">
          <a:xfrm flipH="1">
            <a:off x="3668713" y="5248275"/>
            <a:ext cx="339725" cy="461963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3" name="AutoShape 17"/>
          <p:cNvCxnSpPr>
            <a:cxnSpLocks noChangeShapeType="1"/>
            <a:stCxn id="1201162" idx="2"/>
            <a:endCxn id="1201166" idx="0"/>
          </p:cNvCxnSpPr>
          <p:nvPr/>
        </p:nvCxnSpPr>
        <p:spPr bwMode="auto">
          <a:xfrm>
            <a:off x="4008438" y="5248275"/>
            <a:ext cx="539750" cy="461963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4" name="AutoShape 18"/>
          <p:cNvCxnSpPr>
            <a:cxnSpLocks noChangeShapeType="1"/>
            <a:stCxn id="1201162" idx="2"/>
            <a:endCxn id="1201165" idx="0"/>
          </p:cNvCxnSpPr>
          <p:nvPr/>
        </p:nvCxnSpPr>
        <p:spPr bwMode="auto">
          <a:xfrm>
            <a:off x="4008438" y="5248275"/>
            <a:ext cx="1409700" cy="461963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01171" name="AutoShape 19"/>
          <p:cNvSpPr>
            <a:spLocks noChangeArrowheads="1"/>
          </p:cNvSpPr>
          <p:nvPr/>
        </p:nvSpPr>
        <p:spPr bwMode="auto">
          <a:xfrm>
            <a:off x="5003800" y="4724400"/>
            <a:ext cx="1593850" cy="698500"/>
          </a:xfrm>
          <a:prstGeom prst="diamond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组成</a:t>
            </a:r>
          </a:p>
        </p:txBody>
      </p:sp>
      <p:cxnSp>
        <p:nvCxnSpPr>
          <p:cNvPr id="19476" name="AutoShape 20"/>
          <p:cNvCxnSpPr>
            <a:cxnSpLocks noChangeShapeType="1"/>
            <a:stCxn id="1201162" idx="3"/>
            <a:endCxn id="1201171" idx="1"/>
          </p:cNvCxnSpPr>
          <p:nvPr/>
        </p:nvCxnSpPr>
        <p:spPr bwMode="auto">
          <a:xfrm>
            <a:off x="4505325" y="5073650"/>
            <a:ext cx="498475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7" name="AutoShape 21"/>
          <p:cNvCxnSpPr>
            <a:cxnSpLocks noChangeShapeType="1"/>
            <a:stCxn id="1201171" idx="3"/>
            <a:endCxn id="1201157" idx="1"/>
          </p:cNvCxnSpPr>
          <p:nvPr/>
        </p:nvCxnSpPr>
        <p:spPr bwMode="auto">
          <a:xfrm>
            <a:off x="6597650" y="5073650"/>
            <a:ext cx="371475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01174" name="Rectangle 22"/>
          <p:cNvSpPr>
            <a:spLocks noChangeArrowheads="1"/>
          </p:cNvSpPr>
          <p:nvPr/>
        </p:nvSpPr>
        <p:spPr bwMode="auto">
          <a:xfrm>
            <a:off x="6497638" y="4724400"/>
            <a:ext cx="596900" cy="349250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1</a:t>
            </a:r>
          </a:p>
        </p:txBody>
      </p:sp>
      <p:sp>
        <p:nvSpPr>
          <p:cNvPr id="1201175" name="Rectangle 23"/>
          <p:cNvSpPr>
            <a:spLocks noChangeArrowheads="1"/>
          </p:cNvSpPr>
          <p:nvPr/>
        </p:nvSpPr>
        <p:spPr bwMode="auto">
          <a:xfrm>
            <a:off x="4505325" y="4724400"/>
            <a:ext cx="598488" cy="349250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n</a:t>
            </a:r>
          </a:p>
        </p:txBody>
      </p:sp>
      <p:sp>
        <p:nvSpPr>
          <p:cNvPr id="1201176" name="Rectangle 24"/>
          <p:cNvSpPr>
            <a:spLocks noChangeArrowheads="1"/>
          </p:cNvSpPr>
          <p:nvPr/>
        </p:nvSpPr>
        <p:spPr bwMode="auto">
          <a:xfrm>
            <a:off x="5580063" y="908050"/>
            <a:ext cx="2133600" cy="427038"/>
          </a:xfrm>
          <a:prstGeom prst="rect">
            <a:avLst/>
          </a:prstGeom>
          <a:noFill/>
          <a:ln w="12700" cap="sq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800">
                <a:solidFill>
                  <a:srgbClr val="00FF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集成后的视图</a:t>
            </a:r>
          </a:p>
        </p:txBody>
      </p:sp>
      <p:sp>
        <p:nvSpPr>
          <p:cNvPr id="1201177" name="Rectangle 25"/>
          <p:cNvSpPr>
            <a:spLocks noChangeArrowheads="1"/>
          </p:cNvSpPr>
          <p:nvPr/>
        </p:nvSpPr>
        <p:spPr bwMode="auto">
          <a:xfrm>
            <a:off x="6985000" y="2514600"/>
            <a:ext cx="957263" cy="379413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班长</a:t>
            </a:r>
          </a:p>
        </p:txBody>
      </p:sp>
      <p:sp>
        <p:nvSpPr>
          <p:cNvPr id="1201178" name="AutoShape 26"/>
          <p:cNvSpPr>
            <a:spLocks noChangeArrowheads="1"/>
          </p:cNvSpPr>
          <p:nvPr/>
        </p:nvSpPr>
        <p:spPr bwMode="auto">
          <a:xfrm>
            <a:off x="5727700" y="2247900"/>
            <a:ext cx="768350" cy="4191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学号</a:t>
            </a:r>
          </a:p>
        </p:txBody>
      </p:sp>
      <p:sp>
        <p:nvSpPr>
          <p:cNvPr id="1201179" name="AutoShape 27"/>
          <p:cNvSpPr>
            <a:spLocks noChangeArrowheads="1"/>
          </p:cNvSpPr>
          <p:nvPr/>
        </p:nvSpPr>
        <p:spPr bwMode="auto">
          <a:xfrm>
            <a:off x="5727700" y="2781300"/>
            <a:ext cx="768350" cy="4191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姓名</a:t>
            </a:r>
          </a:p>
        </p:txBody>
      </p:sp>
      <p:cxnSp>
        <p:nvCxnSpPr>
          <p:cNvPr id="19484" name="AutoShape 28"/>
          <p:cNvCxnSpPr>
            <a:cxnSpLocks noChangeShapeType="1"/>
            <a:stCxn id="1201177" idx="1"/>
            <a:endCxn id="1201178" idx="3"/>
          </p:cNvCxnSpPr>
          <p:nvPr/>
        </p:nvCxnSpPr>
        <p:spPr bwMode="auto">
          <a:xfrm flipH="1" flipV="1">
            <a:off x="6496050" y="2457450"/>
            <a:ext cx="488950" cy="24765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85" name="AutoShape 29"/>
          <p:cNvCxnSpPr>
            <a:cxnSpLocks noChangeShapeType="1"/>
            <a:stCxn id="1201177" idx="1"/>
            <a:endCxn id="1201179" idx="3"/>
          </p:cNvCxnSpPr>
          <p:nvPr/>
        </p:nvCxnSpPr>
        <p:spPr bwMode="auto">
          <a:xfrm flipH="1">
            <a:off x="6496050" y="2705100"/>
            <a:ext cx="488950" cy="28575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01182" name="AutoShape 30"/>
          <p:cNvSpPr>
            <a:spLocks noChangeArrowheads="1"/>
          </p:cNvSpPr>
          <p:nvPr/>
        </p:nvSpPr>
        <p:spPr bwMode="auto">
          <a:xfrm>
            <a:off x="6699250" y="3581400"/>
            <a:ext cx="1533525" cy="758825"/>
          </a:xfrm>
          <a:prstGeom prst="diamond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管理</a:t>
            </a:r>
          </a:p>
        </p:txBody>
      </p:sp>
      <p:cxnSp>
        <p:nvCxnSpPr>
          <p:cNvPr id="19487" name="AutoShape 31"/>
          <p:cNvCxnSpPr>
            <a:cxnSpLocks noChangeShapeType="1"/>
            <a:stCxn id="1201177" idx="2"/>
            <a:endCxn id="1201182" idx="0"/>
          </p:cNvCxnSpPr>
          <p:nvPr/>
        </p:nvCxnSpPr>
        <p:spPr bwMode="auto">
          <a:xfrm>
            <a:off x="7464425" y="2894013"/>
            <a:ext cx="1588" cy="687387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88" name="AutoShape 32"/>
          <p:cNvCxnSpPr>
            <a:cxnSpLocks noChangeShapeType="1"/>
            <a:stCxn id="1201182" idx="2"/>
            <a:endCxn id="1201157" idx="0"/>
          </p:cNvCxnSpPr>
          <p:nvPr/>
        </p:nvCxnSpPr>
        <p:spPr bwMode="auto">
          <a:xfrm>
            <a:off x="7466013" y="4340225"/>
            <a:ext cx="1587" cy="55880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01185" name="Rectangle 33"/>
          <p:cNvSpPr>
            <a:spLocks noChangeArrowheads="1"/>
          </p:cNvSpPr>
          <p:nvPr/>
        </p:nvSpPr>
        <p:spPr bwMode="auto">
          <a:xfrm>
            <a:off x="7461250" y="4343400"/>
            <a:ext cx="576263" cy="379413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1</a:t>
            </a:r>
          </a:p>
        </p:txBody>
      </p:sp>
      <p:sp>
        <p:nvSpPr>
          <p:cNvPr id="1201186" name="Rectangle 34"/>
          <p:cNvSpPr>
            <a:spLocks noChangeArrowheads="1"/>
          </p:cNvSpPr>
          <p:nvPr/>
        </p:nvSpPr>
        <p:spPr bwMode="auto">
          <a:xfrm>
            <a:off x="7423150" y="3125788"/>
            <a:ext cx="574675" cy="379412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1</a:t>
            </a:r>
          </a:p>
        </p:txBody>
      </p:sp>
      <p:sp>
        <p:nvSpPr>
          <p:cNvPr id="1201187" name="AutoShape 35"/>
          <p:cNvSpPr>
            <a:spLocks noChangeArrowheads="1"/>
          </p:cNvSpPr>
          <p:nvPr/>
        </p:nvSpPr>
        <p:spPr bwMode="auto">
          <a:xfrm rot="5400000">
            <a:off x="6480175" y="1665288"/>
            <a:ext cx="431800" cy="2159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hlink"/>
          </a:solidFill>
          <a:ln w="12700" cap="sq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9492" name="Text Box 36"/>
          <p:cNvSpPr txBox="1">
            <a:spLocks noChangeArrowheads="1"/>
          </p:cNvSpPr>
          <p:nvPr/>
        </p:nvSpPr>
        <p:spPr bwMode="auto">
          <a:xfrm>
            <a:off x="755650" y="2697534"/>
            <a:ext cx="2971800" cy="1379538"/>
          </a:xfrm>
          <a:prstGeom prst="rect">
            <a:avLst/>
          </a:prstGeom>
          <a:solidFill>
            <a:srgbClr val="CCFFCC"/>
          </a:solidFill>
          <a:ln w="12700" cap="sq">
            <a:solidFill>
              <a:srgbClr val="FF0000"/>
            </a:solidFill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 eaLnBrk="0" hangingPunct="0"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SzPct val="80000"/>
              <a:buFont typeface="Wingdings" pitchFamily="2" charset="2"/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SzPct val="80000"/>
              <a:buFont typeface="Wingdings" pitchFamily="2" charset="2"/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SzPct val="80000"/>
              <a:buFont typeface="Wingdings" pitchFamily="2" charset="2"/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SzPct val="80000"/>
              <a:buFont typeface="Wingdings" pitchFamily="2" charset="2"/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rgbClr val="000000"/>
                </a:solidFill>
                <a:effectLst/>
                <a:latin typeface="Times New Roman" pitchFamily="18" charset="0"/>
              </a:rPr>
              <a:t>注意班长也是学生，因此该视图存在很多冲突！</a:t>
            </a:r>
          </a:p>
        </p:txBody>
      </p:sp>
    </p:spTree>
  </p:cSld>
  <p:clrMapOvr>
    <a:masterClrMapping/>
  </p:clrMapOvr>
  <p:transition spd="med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/>
          <p:cNvSpPr txBox="1">
            <a:spLocks noChangeArrowheads="1"/>
          </p:cNvSpPr>
          <p:nvPr/>
        </p:nvSpPr>
        <p:spPr bwMode="auto">
          <a:xfrm>
            <a:off x="179388" y="-33338"/>
            <a:ext cx="3223172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defTabSz="914400" eaLnBrk="1" latinLnBrk="0" hangingPunct="1">
              <a:spcBef>
                <a:spcPts val="0"/>
              </a:spcBef>
              <a:buNone/>
              <a:defRPr sz="4000" b="1" baseline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  <a:cs typeface="+mj-cs"/>
              </a:defRPr>
            </a:lvl1pPr>
          </a:lstStyle>
          <a:p>
            <a:r>
              <a:rPr lang="zh-CN" altLang="en-US" dirty="0"/>
              <a:t>概念结构设计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title"/>
          </p:nvPr>
        </p:nvSpPr>
        <p:spPr>
          <a:xfrm>
            <a:off x="179388" y="893475"/>
            <a:ext cx="8964612" cy="584775"/>
          </a:xfrm>
        </p:spPr>
        <p:txBody>
          <a:bodyPr wrap="square"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dirty="0" smtClean="0"/>
              <a:t>分</a:t>
            </a:r>
            <a:r>
              <a:rPr lang="en-US" altLang="zh-CN" dirty="0" smtClean="0"/>
              <a:t>E-R</a:t>
            </a:r>
            <a:r>
              <a:rPr lang="zh-CN" altLang="en-US" dirty="0" smtClean="0"/>
              <a:t>图之间的冲突</a:t>
            </a:r>
            <a:endParaRPr lang="en-US" altLang="zh-CN" dirty="0" smtClean="0"/>
          </a:p>
        </p:txBody>
      </p:sp>
      <p:sp>
        <p:nvSpPr>
          <p:cNvPr id="20484" name="Text Box 4"/>
          <p:cNvSpPr txBox="1">
            <a:spLocks noChangeArrowheads="1"/>
          </p:cNvSpPr>
          <p:nvPr/>
        </p:nvSpPr>
        <p:spPr bwMode="auto">
          <a:xfrm>
            <a:off x="179388" y="1558181"/>
            <a:ext cx="8382000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marL="377825" indent="-377825" eaLnBrk="0" hangingPunct="0"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5000"/>
              </a:spcAft>
              <a:buSzPct val="80000"/>
              <a:buFont typeface="Wingdings" pitchFamily="2" charset="2"/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5000"/>
              </a:spcAft>
              <a:buSzPct val="80000"/>
              <a:buFont typeface="Wingdings" pitchFamily="2" charset="2"/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5000"/>
              </a:spcAft>
              <a:buSzPct val="80000"/>
              <a:buFont typeface="Wingdings" pitchFamily="2" charset="2"/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5000"/>
              </a:spcAft>
              <a:buSzPct val="80000"/>
              <a:buFont typeface="Wingdings" pitchFamily="2" charset="2"/>
              <a:defRPr kumimoji="1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</a:pPr>
            <a:r>
              <a:rPr lang="zh-CN" altLang="en-US" sz="2800">
                <a:solidFill>
                  <a:srgbClr val="FFFF00"/>
                </a:solidFill>
                <a:effectLst/>
                <a:latin typeface="微软雅黑" pitchFamily="34" charset="-122"/>
                <a:ea typeface="微软雅黑" pitchFamily="34" charset="-122"/>
              </a:rPr>
              <a:t>③ 结构冲突</a:t>
            </a:r>
          </a:p>
        </p:txBody>
      </p:sp>
      <p:sp>
        <p:nvSpPr>
          <p:cNvPr id="1202181" name="AutoShape 5"/>
          <p:cNvSpPr>
            <a:spLocks noChangeArrowheads="1"/>
          </p:cNvSpPr>
          <p:nvPr/>
        </p:nvSpPr>
        <p:spPr bwMode="auto">
          <a:xfrm>
            <a:off x="1476375" y="2560886"/>
            <a:ext cx="431800" cy="2159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hlink"/>
          </a:solidFill>
          <a:ln w="12700" cap="sq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202182" name="Rectangle 6"/>
          <p:cNvSpPr>
            <a:spLocks noChangeArrowheads="1"/>
          </p:cNvSpPr>
          <p:nvPr/>
        </p:nvSpPr>
        <p:spPr bwMode="auto">
          <a:xfrm>
            <a:off x="6934200" y="2664073"/>
            <a:ext cx="995363" cy="349250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班级</a:t>
            </a:r>
          </a:p>
        </p:txBody>
      </p:sp>
      <p:sp>
        <p:nvSpPr>
          <p:cNvPr id="1202183" name="AutoShape 7"/>
          <p:cNvSpPr>
            <a:spLocks noChangeArrowheads="1"/>
          </p:cNvSpPr>
          <p:nvPr/>
        </p:nvSpPr>
        <p:spPr bwMode="auto">
          <a:xfrm>
            <a:off x="5491163" y="3480048"/>
            <a:ext cx="987425" cy="3397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班号</a:t>
            </a:r>
          </a:p>
        </p:txBody>
      </p:sp>
      <p:sp>
        <p:nvSpPr>
          <p:cNvPr id="1202184" name="AutoShape 8"/>
          <p:cNvSpPr>
            <a:spLocks noChangeArrowheads="1"/>
          </p:cNvSpPr>
          <p:nvPr/>
        </p:nvSpPr>
        <p:spPr bwMode="auto">
          <a:xfrm>
            <a:off x="6557963" y="3480048"/>
            <a:ext cx="987425" cy="3397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班名</a:t>
            </a:r>
          </a:p>
        </p:txBody>
      </p:sp>
      <p:cxnSp>
        <p:nvCxnSpPr>
          <p:cNvPr id="20489" name="AutoShape 9"/>
          <p:cNvCxnSpPr>
            <a:cxnSpLocks noChangeShapeType="1"/>
            <a:stCxn id="1202182" idx="2"/>
            <a:endCxn id="1202183" idx="0"/>
          </p:cNvCxnSpPr>
          <p:nvPr/>
        </p:nvCxnSpPr>
        <p:spPr bwMode="auto">
          <a:xfrm flipH="1">
            <a:off x="5984875" y="3013323"/>
            <a:ext cx="1447800" cy="466725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0" name="AutoShape 10"/>
          <p:cNvCxnSpPr>
            <a:cxnSpLocks noChangeShapeType="1"/>
            <a:stCxn id="1202182" idx="2"/>
            <a:endCxn id="1202184" idx="0"/>
          </p:cNvCxnSpPr>
          <p:nvPr/>
        </p:nvCxnSpPr>
        <p:spPr bwMode="auto">
          <a:xfrm flipH="1">
            <a:off x="7051675" y="3013323"/>
            <a:ext cx="381000" cy="466725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02187" name="Rectangle 11"/>
          <p:cNvSpPr>
            <a:spLocks noChangeArrowheads="1"/>
          </p:cNvSpPr>
          <p:nvPr/>
        </p:nvSpPr>
        <p:spPr bwMode="auto">
          <a:xfrm>
            <a:off x="2549525" y="2664073"/>
            <a:ext cx="995363" cy="349250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学生</a:t>
            </a:r>
          </a:p>
        </p:txBody>
      </p:sp>
      <p:sp>
        <p:nvSpPr>
          <p:cNvPr id="1202188" name="AutoShape 12"/>
          <p:cNvSpPr>
            <a:spLocks noChangeArrowheads="1"/>
          </p:cNvSpPr>
          <p:nvPr/>
        </p:nvSpPr>
        <p:spPr bwMode="auto">
          <a:xfrm>
            <a:off x="1395413" y="3475286"/>
            <a:ext cx="798512" cy="38576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学号</a:t>
            </a:r>
          </a:p>
        </p:txBody>
      </p:sp>
      <p:sp>
        <p:nvSpPr>
          <p:cNvPr id="1202189" name="AutoShape 13"/>
          <p:cNvSpPr>
            <a:spLocks noChangeArrowheads="1"/>
          </p:cNvSpPr>
          <p:nvPr/>
        </p:nvSpPr>
        <p:spPr bwMode="auto">
          <a:xfrm>
            <a:off x="2308225" y="3475286"/>
            <a:ext cx="798513" cy="38576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姓名</a:t>
            </a:r>
          </a:p>
        </p:txBody>
      </p:sp>
      <p:sp>
        <p:nvSpPr>
          <p:cNvPr id="1202190" name="AutoShape 14"/>
          <p:cNvSpPr>
            <a:spLocks noChangeArrowheads="1"/>
          </p:cNvSpPr>
          <p:nvPr/>
        </p:nvSpPr>
        <p:spPr bwMode="auto">
          <a:xfrm>
            <a:off x="4057650" y="3475286"/>
            <a:ext cx="798513" cy="38576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性别</a:t>
            </a:r>
          </a:p>
        </p:txBody>
      </p:sp>
      <p:sp>
        <p:nvSpPr>
          <p:cNvPr id="1202191" name="AutoShape 15"/>
          <p:cNvSpPr>
            <a:spLocks noChangeArrowheads="1"/>
          </p:cNvSpPr>
          <p:nvPr/>
        </p:nvSpPr>
        <p:spPr bwMode="auto">
          <a:xfrm>
            <a:off x="3187700" y="3475286"/>
            <a:ext cx="800100" cy="38576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年龄</a:t>
            </a:r>
          </a:p>
        </p:txBody>
      </p:sp>
      <p:cxnSp>
        <p:nvCxnSpPr>
          <p:cNvPr id="20496" name="AutoShape 16"/>
          <p:cNvCxnSpPr>
            <a:cxnSpLocks noChangeShapeType="1"/>
            <a:stCxn id="1202187" idx="2"/>
            <a:endCxn id="1202188" idx="0"/>
          </p:cNvCxnSpPr>
          <p:nvPr/>
        </p:nvCxnSpPr>
        <p:spPr bwMode="auto">
          <a:xfrm flipH="1">
            <a:off x="1795463" y="3013323"/>
            <a:ext cx="1252537" cy="461963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7" name="AutoShape 17"/>
          <p:cNvCxnSpPr>
            <a:cxnSpLocks noChangeShapeType="1"/>
            <a:stCxn id="1202187" idx="2"/>
            <a:endCxn id="1202189" idx="0"/>
          </p:cNvCxnSpPr>
          <p:nvPr/>
        </p:nvCxnSpPr>
        <p:spPr bwMode="auto">
          <a:xfrm flipH="1">
            <a:off x="2708275" y="3013323"/>
            <a:ext cx="339725" cy="461963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8" name="AutoShape 18"/>
          <p:cNvCxnSpPr>
            <a:cxnSpLocks noChangeShapeType="1"/>
            <a:stCxn id="1202187" idx="2"/>
            <a:endCxn id="1202191" idx="0"/>
          </p:cNvCxnSpPr>
          <p:nvPr/>
        </p:nvCxnSpPr>
        <p:spPr bwMode="auto">
          <a:xfrm>
            <a:off x="3048000" y="3013323"/>
            <a:ext cx="539750" cy="461963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9" name="AutoShape 19"/>
          <p:cNvCxnSpPr>
            <a:cxnSpLocks noChangeShapeType="1"/>
            <a:stCxn id="1202187" idx="2"/>
            <a:endCxn id="1202190" idx="0"/>
          </p:cNvCxnSpPr>
          <p:nvPr/>
        </p:nvCxnSpPr>
        <p:spPr bwMode="auto">
          <a:xfrm>
            <a:off x="3048000" y="3013323"/>
            <a:ext cx="1409700" cy="461963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02196" name="AutoShape 20"/>
          <p:cNvSpPr>
            <a:spLocks noChangeArrowheads="1"/>
          </p:cNvSpPr>
          <p:nvPr/>
        </p:nvSpPr>
        <p:spPr bwMode="auto">
          <a:xfrm>
            <a:off x="4500563" y="2489448"/>
            <a:ext cx="1593850" cy="698500"/>
          </a:xfrm>
          <a:prstGeom prst="diamond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组成</a:t>
            </a:r>
          </a:p>
        </p:txBody>
      </p:sp>
      <p:cxnSp>
        <p:nvCxnSpPr>
          <p:cNvPr id="20501" name="AutoShape 21"/>
          <p:cNvCxnSpPr>
            <a:cxnSpLocks noChangeShapeType="1"/>
            <a:stCxn id="1202187" idx="3"/>
            <a:endCxn id="1202196" idx="1"/>
          </p:cNvCxnSpPr>
          <p:nvPr/>
        </p:nvCxnSpPr>
        <p:spPr bwMode="auto">
          <a:xfrm>
            <a:off x="3544888" y="2838698"/>
            <a:ext cx="955675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502" name="AutoShape 22"/>
          <p:cNvCxnSpPr>
            <a:cxnSpLocks noChangeShapeType="1"/>
            <a:stCxn id="1202196" idx="3"/>
            <a:endCxn id="1202182" idx="1"/>
          </p:cNvCxnSpPr>
          <p:nvPr/>
        </p:nvCxnSpPr>
        <p:spPr bwMode="auto">
          <a:xfrm>
            <a:off x="6094413" y="2838698"/>
            <a:ext cx="839787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02199" name="Rectangle 23"/>
          <p:cNvSpPr>
            <a:spLocks noChangeArrowheads="1"/>
          </p:cNvSpPr>
          <p:nvPr/>
        </p:nvSpPr>
        <p:spPr bwMode="auto">
          <a:xfrm>
            <a:off x="5994400" y="2489448"/>
            <a:ext cx="596900" cy="349250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1</a:t>
            </a:r>
          </a:p>
        </p:txBody>
      </p:sp>
      <p:sp>
        <p:nvSpPr>
          <p:cNvPr id="1202200" name="Rectangle 24"/>
          <p:cNvSpPr>
            <a:spLocks noChangeArrowheads="1"/>
          </p:cNvSpPr>
          <p:nvPr/>
        </p:nvSpPr>
        <p:spPr bwMode="auto">
          <a:xfrm>
            <a:off x="3544888" y="2489448"/>
            <a:ext cx="598487" cy="349250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n</a:t>
            </a:r>
          </a:p>
        </p:txBody>
      </p:sp>
      <p:sp>
        <p:nvSpPr>
          <p:cNvPr id="1202201" name="Rectangle 25"/>
          <p:cNvSpPr>
            <a:spLocks noChangeArrowheads="1"/>
          </p:cNvSpPr>
          <p:nvPr/>
        </p:nvSpPr>
        <p:spPr bwMode="auto">
          <a:xfrm>
            <a:off x="395288" y="2489448"/>
            <a:ext cx="889000" cy="427038"/>
          </a:xfrm>
          <a:prstGeom prst="rect">
            <a:avLst/>
          </a:prstGeom>
          <a:noFill/>
          <a:ln w="12700" cap="sq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800" dirty="0">
                <a:solidFill>
                  <a:srgbClr val="00FF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方案1</a:t>
            </a:r>
          </a:p>
        </p:txBody>
      </p:sp>
      <p:sp>
        <p:nvSpPr>
          <p:cNvPr id="1202202" name="Text Box 26"/>
          <p:cNvSpPr txBox="1">
            <a:spLocks noChangeArrowheads="1"/>
          </p:cNvSpPr>
          <p:nvPr/>
        </p:nvSpPr>
        <p:spPr bwMode="auto">
          <a:xfrm>
            <a:off x="4687044" y="972344"/>
            <a:ext cx="2133600" cy="427038"/>
          </a:xfrm>
          <a:prstGeom prst="rect">
            <a:avLst/>
          </a:prstGeom>
          <a:noFill/>
          <a:ln w="12700" cap="sq" algn="ctr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lIns="0" tIns="0" rIns="0" bIns="0">
            <a:spAutoFit/>
          </a:bodyPr>
          <a:lstStyle/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800" dirty="0">
                <a:solidFill>
                  <a:srgbClr val="00FF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正确集成为：</a:t>
            </a:r>
          </a:p>
        </p:txBody>
      </p:sp>
      <p:sp>
        <p:nvSpPr>
          <p:cNvPr id="1202203" name="AutoShape 27"/>
          <p:cNvSpPr>
            <a:spLocks noChangeArrowheads="1"/>
          </p:cNvSpPr>
          <p:nvPr/>
        </p:nvSpPr>
        <p:spPr bwMode="auto">
          <a:xfrm>
            <a:off x="7700963" y="3480048"/>
            <a:ext cx="987425" cy="3397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班长</a:t>
            </a:r>
          </a:p>
        </p:txBody>
      </p:sp>
      <p:cxnSp>
        <p:nvCxnSpPr>
          <p:cNvPr id="20508" name="AutoShape 28"/>
          <p:cNvCxnSpPr>
            <a:cxnSpLocks noChangeShapeType="1"/>
            <a:stCxn id="1202182" idx="2"/>
            <a:endCxn id="1202203" idx="0"/>
          </p:cNvCxnSpPr>
          <p:nvPr/>
        </p:nvCxnSpPr>
        <p:spPr bwMode="auto">
          <a:xfrm>
            <a:off x="7432675" y="3013323"/>
            <a:ext cx="762000" cy="466725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02205" name="Line 29"/>
          <p:cNvSpPr>
            <a:spLocks noChangeShapeType="1"/>
          </p:cNvSpPr>
          <p:nvPr/>
        </p:nvSpPr>
        <p:spPr bwMode="auto">
          <a:xfrm>
            <a:off x="2914650" y="4933528"/>
            <a:ext cx="9906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202206" name="Rectangle 30"/>
          <p:cNvSpPr>
            <a:spLocks noChangeArrowheads="1"/>
          </p:cNvSpPr>
          <p:nvPr/>
        </p:nvSpPr>
        <p:spPr bwMode="auto">
          <a:xfrm>
            <a:off x="7451725" y="4857328"/>
            <a:ext cx="995363" cy="349250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班级</a:t>
            </a:r>
          </a:p>
        </p:txBody>
      </p:sp>
      <p:sp>
        <p:nvSpPr>
          <p:cNvPr id="1202207" name="AutoShape 31"/>
          <p:cNvSpPr>
            <a:spLocks noChangeArrowheads="1"/>
          </p:cNvSpPr>
          <p:nvPr/>
        </p:nvSpPr>
        <p:spPr bwMode="auto">
          <a:xfrm>
            <a:off x="7258050" y="6000328"/>
            <a:ext cx="769938" cy="3397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班号</a:t>
            </a:r>
          </a:p>
        </p:txBody>
      </p:sp>
      <p:sp>
        <p:nvSpPr>
          <p:cNvPr id="1202208" name="AutoShape 32"/>
          <p:cNvSpPr>
            <a:spLocks noChangeArrowheads="1"/>
          </p:cNvSpPr>
          <p:nvPr/>
        </p:nvSpPr>
        <p:spPr bwMode="auto">
          <a:xfrm>
            <a:off x="8093075" y="6000328"/>
            <a:ext cx="769938" cy="3397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班名</a:t>
            </a:r>
          </a:p>
        </p:txBody>
      </p:sp>
      <p:cxnSp>
        <p:nvCxnSpPr>
          <p:cNvPr id="20513" name="AutoShape 33"/>
          <p:cNvCxnSpPr>
            <a:cxnSpLocks noChangeShapeType="1"/>
            <a:stCxn id="1202206" idx="2"/>
            <a:endCxn id="1202207" idx="0"/>
          </p:cNvCxnSpPr>
          <p:nvPr/>
        </p:nvCxnSpPr>
        <p:spPr bwMode="auto">
          <a:xfrm flipH="1">
            <a:off x="7643813" y="5206578"/>
            <a:ext cx="306387" cy="79375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514" name="AutoShape 34"/>
          <p:cNvCxnSpPr>
            <a:cxnSpLocks noChangeShapeType="1"/>
            <a:stCxn id="1202206" idx="2"/>
            <a:endCxn id="1202208" idx="0"/>
          </p:cNvCxnSpPr>
          <p:nvPr/>
        </p:nvCxnSpPr>
        <p:spPr bwMode="auto">
          <a:xfrm>
            <a:off x="7950200" y="5206578"/>
            <a:ext cx="528638" cy="79375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02211" name="Rectangle 35"/>
          <p:cNvSpPr>
            <a:spLocks noChangeArrowheads="1"/>
          </p:cNvSpPr>
          <p:nvPr/>
        </p:nvSpPr>
        <p:spPr bwMode="auto">
          <a:xfrm>
            <a:off x="3943350" y="4857328"/>
            <a:ext cx="995363" cy="349250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学生</a:t>
            </a:r>
          </a:p>
        </p:txBody>
      </p:sp>
      <p:sp>
        <p:nvSpPr>
          <p:cNvPr id="1202212" name="AutoShape 36"/>
          <p:cNvSpPr>
            <a:spLocks noChangeArrowheads="1"/>
          </p:cNvSpPr>
          <p:nvPr/>
        </p:nvSpPr>
        <p:spPr bwMode="auto">
          <a:xfrm>
            <a:off x="2228850" y="5995566"/>
            <a:ext cx="755650" cy="38576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学号</a:t>
            </a:r>
          </a:p>
        </p:txBody>
      </p:sp>
      <p:sp>
        <p:nvSpPr>
          <p:cNvPr id="1202213" name="AutoShape 37"/>
          <p:cNvSpPr>
            <a:spLocks noChangeArrowheads="1"/>
          </p:cNvSpPr>
          <p:nvPr/>
        </p:nvSpPr>
        <p:spPr bwMode="auto">
          <a:xfrm>
            <a:off x="3065463" y="5995566"/>
            <a:ext cx="755650" cy="38576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姓名</a:t>
            </a:r>
          </a:p>
        </p:txBody>
      </p:sp>
      <p:sp>
        <p:nvSpPr>
          <p:cNvPr id="1202214" name="AutoShape 38"/>
          <p:cNvSpPr>
            <a:spLocks noChangeArrowheads="1"/>
          </p:cNvSpPr>
          <p:nvPr/>
        </p:nvSpPr>
        <p:spPr bwMode="auto">
          <a:xfrm>
            <a:off x="4757738" y="5995566"/>
            <a:ext cx="755650" cy="38576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性别</a:t>
            </a:r>
          </a:p>
        </p:txBody>
      </p:sp>
      <p:sp>
        <p:nvSpPr>
          <p:cNvPr id="1202215" name="AutoShape 39"/>
          <p:cNvSpPr>
            <a:spLocks noChangeArrowheads="1"/>
          </p:cNvSpPr>
          <p:nvPr/>
        </p:nvSpPr>
        <p:spPr bwMode="auto">
          <a:xfrm>
            <a:off x="3906838" y="5995566"/>
            <a:ext cx="755650" cy="38576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年龄</a:t>
            </a:r>
          </a:p>
        </p:txBody>
      </p:sp>
      <p:cxnSp>
        <p:nvCxnSpPr>
          <p:cNvPr id="20520" name="AutoShape 40"/>
          <p:cNvCxnSpPr>
            <a:cxnSpLocks noChangeShapeType="1"/>
            <a:stCxn id="1202211" idx="2"/>
            <a:endCxn id="1202212" idx="0"/>
          </p:cNvCxnSpPr>
          <p:nvPr/>
        </p:nvCxnSpPr>
        <p:spPr bwMode="auto">
          <a:xfrm flipH="1">
            <a:off x="2606675" y="5206578"/>
            <a:ext cx="1835150" cy="788988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521" name="AutoShape 41"/>
          <p:cNvCxnSpPr>
            <a:cxnSpLocks noChangeShapeType="1"/>
            <a:stCxn id="1202211" idx="2"/>
            <a:endCxn id="1202213" idx="0"/>
          </p:cNvCxnSpPr>
          <p:nvPr/>
        </p:nvCxnSpPr>
        <p:spPr bwMode="auto">
          <a:xfrm flipH="1">
            <a:off x="3443288" y="5206578"/>
            <a:ext cx="998537" cy="788988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522" name="AutoShape 42"/>
          <p:cNvCxnSpPr>
            <a:cxnSpLocks noChangeShapeType="1"/>
            <a:stCxn id="1202211" idx="2"/>
            <a:endCxn id="1202215" idx="0"/>
          </p:cNvCxnSpPr>
          <p:nvPr/>
        </p:nvCxnSpPr>
        <p:spPr bwMode="auto">
          <a:xfrm flipH="1">
            <a:off x="4284663" y="5206578"/>
            <a:ext cx="157162" cy="788988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523" name="AutoShape 43"/>
          <p:cNvCxnSpPr>
            <a:cxnSpLocks noChangeShapeType="1"/>
            <a:stCxn id="1202211" idx="2"/>
            <a:endCxn id="1202214" idx="0"/>
          </p:cNvCxnSpPr>
          <p:nvPr/>
        </p:nvCxnSpPr>
        <p:spPr bwMode="auto">
          <a:xfrm>
            <a:off x="4441825" y="5206578"/>
            <a:ext cx="693738" cy="788988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02220" name="AutoShape 44"/>
          <p:cNvSpPr>
            <a:spLocks noChangeArrowheads="1"/>
          </p:cNvSpPr>
          <p:nvPr/>
        </p:nvSpPr>
        <p:spPr bwMode="auto">
          <a:xfrm>
            <a:off x="5475288" y="4682703"/>
            <a:ext cx="1593850" cy="698500"/>
          </a:xfrm>
          <a:prstGeom prst="diamond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组成</a:t>
            </a:r>
          </a:p>
        </p:txBody>
      </p:sp>
      <p:cxnSp>
        <p:nvCxnSpPr>
          <p:cNvPr id="20525" name="AutoShape 45"/>
          <p:cNvCxnSpPr>
            <a:cxnSpLocks noChangeShapeType="1"/>
            <a:stCxn id="1202211" idx="3"/>
            <a:endCxn id="1202220" idx="1"/>
          </p:cNvCxnSpPr>
          <p:nvPr/>
        </p:nvCxnSpPr>
        <p:spPr bwMode="auto">
          <a:xfrm>
            <a:off x="4938713" y="5031953"/>
            <a:ext cx="536575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526" name="AutoShape 46"/>
          <p:cNvCxnSpPr>
            <a:cxnSpLocks noChangeShapeType="1"/>
            <a:stCxn id="1202220" idx="3"/>
            <a:endCxn id="1202206" idx="1"/>
          </p:cNvCxnSpPr>
          <p:nvPr/>
        </p:nvCxnSpPr>
        <p:spPr bwMode="auto">
          <a:xfrm>
            <a:off x="7069138" y="5031953"/>
            <a:ext cx="382587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02223" name="Rectangle 47"/>
          <p:cNvSpPr>
            <a:spLocks noChangeArrowheads="1"/>
          </p:cNvSpPr>
          <p:nvPr/>
        </p:nvSpPr>
        <p:spPr bwMode="auto">
          <a:xfrm>
            <a:off x="6969125" y="4682703"/>
            <a:ext cx="596900" cy="349250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1</a:t>
            </a:r>
          </a:p>
        </p:txBody>
      </p:sp>
      <p:sp>
        <p:nvSpPr>
          <p:cNvPr id="1202224" name="Rectangle 48"/>
          <p:cNvSpPr>
            <a:spLocks noChangeArrowheads="1"/>
          </p:cNvSpPr>
          <p:nvPr/>
        </p:nvSpPr>
        <p:spPr bwMode="auto">
          <a:xfrm>
            <a:off x="4938713" y="4682703"/>
            <a:ext cx="598487" cy="349250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n</a:t>
            </a:r>
          </a:p>
        </p:txBody>
      </p:sp>
      <p:sp>
        <p:nvSpPr>
          <p:cNvPr id="1202225" name="AutoShape 49"/>
          <p:cNvSpPr>
            <a:spLocks noChangeArrowheads="1"/>
          </p:cNvSpPr>
          <p:nvPr/>
        </p:nvSpPr>
        <p:spPr bwMode="auto">
          <a:xfrm>
            <a:off x="1619250" y="4682703"/>
            <a:ext cx="1593850" cy="698500"/>
          </a:xfrm>
          <a:prstGeom prst="diamond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管理</a:t>
            </a:r>
          </a:p>
        </p:txBody>
      </p:sp>
      <p:sp>
        <p:nvSpPr>
          <p:cNvPr id="1202226" name="Line 50"/>
          <p:cNvSpPr>
            <a:spLocks noChangeShapeType="1"/>
          </p:cNvSpPr>
          <p:nvPr/>
        </p:nvSpPr>
        <p:spPr bwMode="auto">
          <a:xfrm>
            <a:off x="2990850" y="5124028"/>
            <a:ext cx="9144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202227" name="Rectangle 51"/>
          <p:cNvSpPr>
            <a:spLocks noChangeArrowheads="1"/>
          </p:cNvSpPr>
          <p:nvPr/>
        </p:nvSpPr>
        <p:spPr bwMode="auto">
          <a:xfrm>
            <a:off x="3067050" y="4628728"/>
            <a:ext cx="596900" cy="349250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1</a:t>
            </a:r>
          </a:p>
        </p:txBody>
      </p:sp>
      <p:sp>
        <p:nvSpPr>
          <p:cNvPr id="1202228" name="Rectangle 52"/>
          <p:cNvSpPr>
            <a:spLocks noChangeArrowheads="1"/>
          </p:cNvSpPr>
          <p:nvPr/>
        </p:nvSpPr>
        <p:spPr bwMode="auto">
          <a:xfrm>
            <a:off x="3067050" y="5085928"/>
            <a:ext cx="598488" cy="349250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n</a:t>
            </a:r>
          </a:p>
        </p:txBody>
      </p:sp>
      <p:sp>
        <p:nvSpPr>
          <p:cNvPr id="1202229" name="AutoShape 53"/>
          <p:cNvSpPr>
            <a:spLocks noChangeArrowheads="1"/>
          </p:cNvSpPr>
          <p:nvPr/>
        </p:nvSpPr>
        <p:spPr bwMode="auto">
          <a:xfrm>
            <a:off x="5657850" y="5995566"/>
            <a:ext cx="755650" cy="38576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班长</a:t>
            </a:r>
          </a:p>
        </p:txBody>
      </p:sp>
      <p:cxnSp>
        <p:nvCxnSpPr>
          <p:cNvPr id="20534" name="AutoShape 54"/>
          <p:cNvCxnSpPr>
            <a:cxnSpLocks noChangeShapeType="1"/>
            <a:stCxn id="1202211" idx="2"/>
            <a:endCxn id="1202229" idx="0"/>
          </p:cNvCxnSpPr>
          <p:nvPr/>
        </p:nvCxnSpPr>
        <p:spPr bwMode="auto">
          <a:xfrm>
            <a:off x="4441825" y="5206578"/>
            <a:ext cx="1593850" cy="788988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02231" name="Rectangle 55"/>
          <p:cNvSpPr>
            <a:spLocks noChangeArrowheads="1"/>
          </p:cNvSpPr>
          <p:nvPr/>
        </p:nvSpPr>
        <p:spPr bwMode="auto">
          <a:xfrm>
            <a:off x="468313" y="5474866"/>
            <a:ext cx="889000" cy="427037"/>
          </a:xfrm>
          <a:prstGeom prst="rect">
            <a:avLst/>
          </a:prstGeom>
          <a:noFill/>
          <a:ln w="12700" cap="sq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800">
                <a:solidFill>
                  <a:srgbClr val="00FF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方案2</a:t>
            </a:r>
          </a:p>
        </p:txBody>
      </p:sp>
      <p:sp>
        <p:nvSpPr>
          <p:cNvPr id="1202232" name="AutoShape 56"/>
          <p:cNvSpPr>
            <a:spLocks noChangeArrowheads="1"/>
          </p:cNvSpPr>
          <p:nvPr/>
        </p:nvSpPr>
        <p:spPr bwMode="auto">
          <a:xfrm>
            <a:off x="1476375" y="5546303"/>
            <a:ext cx="431800" cy="2159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hlink"/>
          </a:solidFill>
          <a:ln w="12700" cap="sq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med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179388" y="-33338"/>
            <a:ext cx="3223172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defTabSz="914400" eaLnBrk="1" latinLnBrk="0" hangingPunct="1">
              <a:spcBef>
                <a:spcPts val="0"/>
              </a:spcBef>
              <a:buNone/>
              <a:defRPr sz="4000" b="1" baseline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  <a:cs typeface="+mj-cs"/>
              </a:defRPr>
            </a:lvl1pPr>
          </a:lstStyle>
          <a:p>
            <a:r>
              <a:rPr lang="zh-CN" altLang="en-US" dirty="0" smtClean="0"/>
              <a:t>逻辑</a:t>
            </a:r>
            <a:r>
              <a:rPr lang="zh-CN" altLang="en-US" dirty="0"/>
              <a:t>结构</a:t>
            </a:r>
            <a:r>
              <a:rPr lang="zh-CN" altLang="en-US" dirty="0" smtClean="0"/>
              <a:t>设计</a:t>
            </a:r>
            <a:endParaRPr lang="zh-CN" altLang="en-US" dirty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title"/>
          </p:nvPr>
        </p:nvSpPr>
        <p:spPr>
          <a:xfrm>
            <a:off x="153988" y="846039"/>
            <a:ext cx="8964612" cy="566737"/>
          </a:xfrm>
        </p:spPr>
        <p:txBody>
          <a:bodyPr wrap="square"/>
          <a:lstStyle/>
          <a:p>
            <a:pPr eaLnBrk="1" hangingPunct="1">
              <a:buFont typeface="Wingdings" pitchFamily="2" charset="2"/>
              <a:buNone/>
            </a:pPr>
            <a:r>
              <a:rPr lang="zh-CN" altLang="zh-CN" dirty="0" smtClean="0"/>
              <a:t>信息世界→机器世界</a:t>
            </a:r>
            <a:endParaRPr lang="en-US" altLang="zh-CN" dirty="0" smtClean="0"/>
          </a:p>
        </p:txBody>
      </p:sp>
      <p:sp>
        <p:nvSpPr>
          <p:cNvPr id="1203204" name="Oval 4"/>
          <p:cNvSpPr>
            <a:spLocks noChangeArrowheads="1"/>
          </p:cNvSpPr>
          <p:nvPr/>
        </p:nvSpPr>
        <p:spPr bwMode="auto">
          <a:xfrm>
            <a:off x="1917700" y="2706712"/>
            <a:ext cx="1752600" cy="1752600"/>
          </a:xfrm>
          <a:prstGeom prst="ellipse">
            <a:avLst/>
          </a:prstGeom>
          <a:solidFill>
            <a:srgbClr val="CCFFCC"/>
          </a:solidFill>
          <a:ln w="12700" cap="sq">
            <a:solidFill>
              <a:srgbClr val="00000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 anchorCtr="1"/>
          <a:lstStyle/>
          <a:p>
            <a:pPr algn="ctr">
              <a:spcAft>
                <a:spcPct val="0"/>
              </a:spcAft>
              <a:buSzTx/>
              <a:buFontTx/>
              <a:buNone/>
              <a:tabLst>
                <a:tab pos="292100" algn="l"/>
                <a:tab pos="485775" algn="l"/>
              </a:tabLst>
              <a:defRPr/>
            </a:pPr>
            <a:r>
              <a:rPr lang="zh-CN" alt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转化为</a:t>
            </a:r>
          </a:p>
          <a:p>
            <a:pPr algn="ctr">
              <a:spcAft>
                <a:spcPct val="0"/>
              </a:spcAft>
              <a:buSzTx/>
              <a:buFontTx/>
              <a:buNone/>
              <a:tabLst>
                <a:tab pos="292100" algn="l"/>
                <a:tab pos="485775" algn="l"/>
              </a:tabLst>
              <a:defRPr/>
            </a:pPr>
            <a:r>
              <a:rPr lang="zh-CN" alt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数据模型</a:t>
            </a:r>
          </a:p>
        </p:txBody>
      </p:sp>
      <p:cxnSp>
        <p:nvCxnSpPr>
          <p:cNvPr id="21509" name="AutoShape 5"/>
          <p:cNvCxnSpPr>
            <a:cxnSpLocks noChangeShapeType="1"/>
            <a:stCxn id="1203204" idx="6"/>
            <a:endCxn id="1203210" idx="2"/>
          </p:cNvCxnSpPr>
          <p:nvPr/>
        </p:nvCxnSpPr>
        <p:spPr bwMode="auto">
          <a:xfrm>
            <a:off x="3670300" y="3583012"/>
            <a:ext cx="1371600" cy="0"/>
          </a:xfrm>
          <a:prstGeom prst="straightConnector1">
            <a:avLst/>
          </a:prstGeom>
          <a:noFill/>
          <a:ln w="28575" cap="sq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03206" name="AutoShape 6"/>
          <p:cNvSpPr>
            <a:spLocks noChangeArrowheads="1"/>
          </p:cNvSpPr>
          <p:nvPr/>
        </p:nvSpPr>
        <p:spPr bwMode="auto">
          <a:xfrm>
            <a:off x="698500" y="5068912"/>
            <a:ext cx="1447800" cy="939800"/>
          </a:xfrm>
          <a:prstGeom prst="verticalScroll">
            <a:avLst>
              <a:gd name="adj" fmla="val 12500"/>
            </a:avLst>
          </a:prstGeom>
          <a:solidFill>
            <a:srgbClr val="D9F9FF"/>
          </a:solidFill>
          <a:ln w="12700" cap="sq">
            <a:solidFill>
              <a:srgbClr val="00000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基本</a:t>
            </a:r>
          </a:p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en-US" altLang="zh-CN" sz="24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E-R</a:t>
            </a:r>
            <a:r>
              <a:rPr lang="zh-CN" alt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图</a:t>
            </a:r>
          </a:p>
        </p:txBody>
      </p:sp>
      <p:sp>
        <p:nvSpPr>
          <p:cNvPr id="1203207" name="AutoShape 7"/>
          <p:cNvSpPr>
            <a:spLocks noChangeArrowheads="1"/>
          </p:cNvSpPr>
          <p:nvPr/>
        </p:nvSpPr>
        <p:spPr bwMode="auto">
          <a:xfrm>
            <a:off x="6870700" y="4789512"/>
            <a:ext cx="1752600" cy="990600"/>
          </a:xfrm>
          <a:prstGeom prst="verticalScroll">
            <a:avLst>
              <a:gd name="adj" fmla="val 12500"/>
            </a:avLst>
          </a:prstGeom>
          <a:solidFill>
            <a:srgbClr val="D9F9FF"/>
          </a:solidFill>
          <a:ln w="12700" cap="sq">
            <a:solidFill>
              <a:srgbClr val="00000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逻辑模型</a:t>
            </a:r>
          </a:p>
        </p:txBody>
      </p:sp>
      <p:sp>
        <p:nvSpPr>
          <p:cNvPr id="1203208" name="AutoShape 8"/>
          <p:cNvSpPr>
            <a:spLocks noChangeArrowheads="1"/>
          </p:cNvSpPr>
          <p:nvPr/>
        </p:nvSpPr>
        <p:spPr bwMode="auto">
          <a:xfrm rot="2700000">
            <a:off x="1841500" y="4256112"/>
            <a:ext cx="228600" cy="838200"/>
          </a:xfrm>
          <a:prstGeom prst="upArrow">
            <a:avLst>
              <a:gd name="adj1" fmla="val 50000"/>
              <a:gd name="adj2" fmla="val 91667"/>
            </a:avLst>
          </a:prstGeom>
          <a:solidFill>
            <a:srgbClr val="CCFFCC"/>
          </a:solidFill>
          <a:ln w="12700" cap="sq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203209" name="AutoShape 9"/>
          <p:cNvSpPr>
            <a:spLocks noChangeArrowheads="1"/>
          </p:cNvSpPr>
          <p:nvPr/>
        </p:nvSpPr>
        <p:spPr bwMode="auto">
          <a:xfrm rot="8100000">
            <a:off x="7023100" y="3951312"/>
            <a:ext cx="228600" cy="838200"/>
          </a:xfrm>
          <a:prstGeom prst="upArrow">
            <a:avLst>
              <a:gd name="adj1" fmla="val 50000"/>
              <a:gd name="adj2" fmla="val 91667"/>
            </a:avLst>
          </a:prstGeom>
          <a:solidFill>
            <a:srgbClr val="CCFFCC"/>
          </a:solidFill>
          <a:ln w="12700" cap="sq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203210" name="Oval 10"/>
          <p:cNvSpPr>
            <a:spLocks noChangeArrowheads="1"/>
          </p:cNvSpPr>
          <p:nvPr/>
        </p:nvSpPr>
        <p:spPr bwMode="auto">
          <a:xfrm>
            <a:off x="5041900" y="2706712"/>
            <a:ext cx="1752600" cy="1752600"/>
          </a:xfrm>
          <a:prstGeom prst="ellipse">
            <a:avLst/>
          </a:prstGeom>
          <a:solidFill>
            <a:srgbClr val="CCFFCC"/>
          </a:solidFill>
          <a:ln w="12700" cap="sq">
            <a:solidFill>
              <a:srgbClr val="00000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 anchorCtr="1"/>
          <a:lstStyle/>
          <a:p>
            <a:pPr algn="ctr">
              <a:spcAft>
                <a:spcPct val="0"/>
              </a:spcAft>
              <a:buSzTx/>
              <a:buFontTx/>
              <a:buNone/>
              <a:tabLst>
                <a:tab pos="292100" algn="l"/>
                <a:tab pos="485775" algn="l"/>
              </a:tabLst>
              <a:defRPr/>
            </a:pPr>
            <a:r>
              <a:rPr lang="zh-CN" alt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优化</a:t>
            </a:r>
          </a:p>
          <a:p>
            <a:pPr algn="ctr">
              <a:spcAft>
                <a:spcPct val="0"/>
              </a:spcAft>
              <a:buSzTx/>
              <a:buFontTx/>
              <a:buNone/>
              <a:tabLst>
                <a:tab pos="292100" algn="l"/>
                <a:tab pos="485775" algn="l"/>
              </a:tabLst>
              <a:defRPr/>
            </a:pPr>
            <a:r>
              <a:rPr lang="zh-CN" alt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数据模型</a:t>
            </a:r>
          </a:p>
        </p:txBody>
      </p:sp>
      <p:sp>
        <p:nvSpPr>
          <p:cNvPr id="1203211" name="AutoShape 11"/>
          <p:cNvSpPr>
            <a:spLocks noChangeArrowheads="1"/>
          </p:cNvSpPr>
          <p:nvPr/>
        </p:nvSpPr>
        <p:spPr bwMode="auto">
          <a:xfrm>
            <a:off x="2222500" y="5170512"/>
            <a:ext cx="1524000" cy="1066800"/>
          </a:xfrm>
          <a:prstGeom prst="star16">
            <a:avLst>
              <a:gd name="adj" fmla="val 43505"/>
            </a:avLst>
          </a:prstGeom>
          <a:solidFill>
            <a:srgbClr val="F5F5FF"/>
          </a:solidFill>
          <a:ln w="12700" cap="sq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转换</a:t>
            </a:r>
          </a:p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规则</a:t>
            </a:r>
          </a:p>
        </p:txBody>
      </p:sp>
      <p:sp>
        <p:nvSpPr>
          <p:cNvPr id="1203212" name="Line 12"/>
          <p:cNvSpPr>
            <a:spLocks noChangeShapeType="1"/>
          </p:cNvSpPr>
          <p:nvPr/>
        </p:nvSpPr>
        <p:spPr bwMode="auto">
          <a:xfrm flipH="1" flipV="1">
            <a:off x="2832100" y="4560912"/>
            <a:ext cx="0" cy="6858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lIns="0" tIns="0" rIns="0" bIns="0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203213" name="AutoShape 13"/>
          <p:cNvSpPr>
            <a:spLocks noChangeArrowheads="1"/>
          </p:cNvSpPr>
          <p:nvPr/>
        </p:nvSpPr>
        <p:spPr bwMode="auto">
          <a:xfrm>
            <a:off x="4203700" y="5170512"/>
            <a:ext cx="2438400" cy="1066800"/>
          </a:xfrm>
          <a:prstGeom prst="star16">
            <a:avLst>
              <a:gd name="adj" fmla="val 43505"/>
            </a:avLst>
          </a:prstGeom>
          <a:solidFill>
            <a:srgbClr val="F5F5FF"/>
          </a:solidFill>
          <a:ln w="12700" cap="sq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规范化理论</a:t>
            </a:r>
          </a:p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其它优化原则</a:t>
            </a:r>
          </a:p>
        </p:txBody>
      </p:sp>
      <p:sp>
        <p:nvSpPr>
          <p:cNvPr id="1203214" name="Line 14"/>
          <p:cNvSpPr>
            <a:spLocks noChangeShapeType="1"/>
          </p:cNvSpPr>
          <p:nvPr/>
        </p:nvSpPr>
        <p:spPr bwMode="auto">
          <a:xfrm flipV="1">
            <a:off x="5422900" y="4484712"/>
            <a:ext cx="457200" cy="6858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lIns="0" tIns="0" rIns="0" bIns="0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1519" name="Rectangle 15"/>
          <p:cNvSpPr>
            <a:spLocks noChangeArrowheads="1"/>
          </p:cNvSpPr>
          <p:nvPr/>
        </p:nvSpPr>
        <p:spPr bwMode="auto">
          <a:xfrm>
            <a:off x="179388" y="1623219"/>
            <a:ext cx="7429500" cy="566737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spcAft>
                <a:spcPct val="0"/>
              </a:spcAft>
              <a:buSzTx/>
            </a:pPr>
            <a:r>
              <a:rPr kumimoji="0" lang="zh-CN" altLang="en-US" sz="3000" dirty="0">
                <a:solidFill>
                  <a:srgbClr val="FF9900"/>
                </a:solidFill>
                <a:effectLst/>
                <a:latin typeface="微软雅黑" pitchFamily="34" charset="-122"/>
                <a:ea typeface="微软雅黑" pitchFamily="34" charset="-122"/>
              </a:rPr>
              <a:t>建立基于某种</a:t>
            </a:r>
            <a:r>
              <a:rPr kumimoji="0" lang="en-US" altLang="zh-CN" sz="3000" dirty="0">
                <a:solidFill>
                  <a:srgbClr val="FF9900"/>
                </a:solidFill>
                <a:effectLst/>
                <a:latin typeface="微软雅黑" pitchFamily="34" charset="-122"/>
                <a:ea typeface="微软雅黑" pitchFamily="34" charset="-122"/>
              </a:rPr>
              <a:t>DBMS</a:t>
            </a:r>
            <a:r>
              <a:rPr kumimoji="0" lang="zh-CN" altLang="en-US" sz="3000" dirty="0">
                <a:solidFill>
                  <a:srgbClr val="FF9900"/>
                </a:solidFill>
                <a:effectLst/>
                <a:latin typeface="微软雅黑" pitchFamily="34" charset="-122"/>
                <a:ea typeface="微软雅黑" pitchFamily="34" charset="-122"/>
              </a:rPr>
              <a:t>的全局数据逻辑结构</a:t>
            </a:r>
            <a:r>
              <a:rPr kumimoji="0" lang="en-US" altLang="zh-CN" sz="3000" dirty="0">
                <a:solidFill>
                  <a:srgbClr val="FF9900"/>
                </a:solidFill>
                <a:effectLst/>
                <a:latin typeface="微软雅黑" pitchFamily="34" charset="-122"/>
                <a:ea typeface="微软雅黑" pitchFamily="34" charset="-122"/>
              </a:rPr>
              <a:t>!</a:t>
            </a:r>
          </a:p>
        </p:txBody>
      </p:sp>
    </p:spTree>
  </p:cSld>
  <p:clrMapOvr>
    <a:masterClrMapping/>
  </p:clrMapOvr>
  <p:transition spd="med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3"/>
          <p:cNvSpPr>
            <a:spLocks noGrp="1" noChangeArrowheads="1"/>
          </p:cNvSpPr>
          <p:nvPr>
            <p:ph type="title"/>
          </p:nvPr>
        </p:nvSpPr>
        <p:spPr>
          <a:xfrm>
            <a:off x="153988" y="841970"/>
            <a:ext cx="8964612" cy="566737"/>
          </a:xfrm>
        </p:spPr>
        <p:txBody>
          <a:bodyPr wrap="square"/>
          <a:lstStyle/>
          <a:p>
            <a:pPr eaLnBrk="1" hangingPunct="1">
              <a:buFont typeface="Wingdings" pitchFamily="2" charset="2"/>
              <a:buNone/>
            </a:pPr>
            <a:r>
              <a:rPr lang="zh-CN" altLang="zh-CN" dirty="0" smtClean="0"/>
              <a:t>第一步：E-R图转换成数据模型</a:t>
            </a:r>
            <a:endParaRPr lang="en-US" altLang="zh-CN" dirty="0" smtClean="0"/>
          </a:p>
        </p:txBody>
      </p:sp>
      <p:sp>
        <p:nvSpPr>
          <p:cNvPr id="120525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79388" y="1489670"/>
            <a:ext cx="8713787" cy="40544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2800" dirty="0" smtClean="0"/>
              <a:t>每一个实体都转换成一个关系模式。实体的属性就是关系模式的属性；实体的主码就是关系模式的主码</a:t>
            </a:r>
            <a:r>
              <a:rPr lang="en-US" altLang="zh-CN" sz="2800" dirty="0" smtClean="0"/>
              <a:t>(</a:t>
            </a:r>
            <a:r>
              <a:rPr lang="zh-CN" altLang="en-US" sz="2800" dirty="0" smtClean="0"/>
              <a:t>加下划线表示</a:t>
            </a:r>
            <a:r>
              <a:rPr lang="en-US" altLang="zh-CN" sz="2800" dirty="0" smtClean="0"/>
              <a:t>)</a:t>
            </a:r>
            <a:r>
              <a:rPr lang="zh-CN" altLang="en-US" sz="2800" dirty="0" smtClean="0"/>
              <a:t>。</a:t>
            </a:r>
          </a:p>
        </p:txBody>
      </p:sp>
      <p:sp>
        <p:nvSpPr>
          <p:cNvPr id="1205253" name="Rectangle 5"/>
          <p:cNvSpPr>
            <a:spLocks noChangeArrowheads="1"/>
          </p:cNvSpPr>
          <p:nvPr/>
        </p:nvSpPr>
        <p:spPr bwMode="auto">
          <a:xfrm>
            <a:off x="6365875" y="3469282"/>
            <a:ext cx="995363" cy="349250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班级</a:t>
            </a:r>
          </a:p>
        </p:txBody>
      </p:sp>
      <p:sp>
        <p:nvSpPr>
          <p:cNvPr id="1205254" name="AutoShape 6"/>
          <p:cNvSpPr>
            <a:spLocks noChangeArrowheads="1"/>
          </p:cNvSpPr>
          <p:nvPr/>
        </p:nvSpPr>
        <p:spPr bwMode="auto">
          <a:xfrm>
            <a:off x="4922838" y="4285257"/>
            <a:ext cx="987425" cy="339725"/>
          </a:xfrm>
          <a:prstGeom prst="roundRect">
            <a:avLst>
              <a:gd name="adj" fmla="val 50000"/>
            </a:avLst>
          </a:prstGeom>
          <a:solidFill>
            <a:srgbClr val="6600FF"/>
          </a:solidFill>
          <a:ln w="12700" cap="sq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 u="sng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班号</a:t>
            </a:r>
          </a:p>
        </p:txBody>
      </p:sp>
      <p:sp>
        <p:nvSpPr>
          <p:cNvPr id="1205255" name="AutoShape 7"/>
          <p:cNvSpPr>
            <a:spLocks noChangeArrowheads="1"/>
          </p:cNvSpPr>
          <p:nvPr/>
        </p:nvSpPr>
        <p:spPr bwMode="auto">
          <a:xfrm>
            <a:off x="5989638" y="4285257"/>
            <a:ext cx="987425" cy="3397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班名</a:t>
            </a:r>
          </a:p>
        </p:txBody>
      </p:sp>
      <p:cxnSp>
        <p:nvCxnSpPr>
          <p:cNvPr id="22536" name="AutoShape 8"/>
          <p:cNvCxnSpPr>
            <a:cxnSpLocks noChangeShapeType="1"/>
            <a:stCxn id="1205253" idx="2"/>
            <a:endCxn id="1205254" idx="0"/>
          </p:cNvCxnSpPr>
          <p:nvPr/>
        </p:nvCxnSpPr>
        <p:spPr bwMode="auto">
          <a:xfrm flipH="1">
            <a:off x="5416550" y="3818532"/>
            <a:ext cx="1447800" cy="466725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37" name="AutoShape 9"/>
          <p:cNvCxnSpPr>
            <a:cxnSpLocks noChangeShapeType="1"/>
            <a:stCxn id="1205253" idx="2"/>
            <a:endCxn id="1205255" idx="0"/>
          </p:cNvCxnSpPr>
          <p:nvPr/>
        </p:nvCxnSpPr>
        <p:spPr bwMode="auto">
          <a:xfrm flipH="1">
            <a:off x="6483350" y="3818532"/>
            <a:ext cx="381000" cy="466725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05258" name="Rectangle 10"/>
          <p:cNvSpPr>
            <a:spLocks noChangeArrowheads="1"/>
          </p:cNvSpPr>
          <p:nvPr/>
        </p:nvSpPr>
        <p:spPr bwMode="auto">
          <a:xfrm>
            <a:off x="1981200" y="3469282"/>
            <a:ext cx="995363" cy="349250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学生</a:t>
            </a:r>
          </a:p>
        </p:txBody>
      </p:sp>
      <p:sp>
        <p:nvSpPr>
          <p:cNvPr id="1205259" name="AutoShape 11"/>
          <p:cNvSpPr>
            <a:spLocks noChangeArrowheads="1"/>
          </p:cNvSpPr>
          <p:nvPr/>
        </p:nvSpPr>
        <p:spPr bwMode="auto">
          <a:xfrm>
            <a:off x="827088" y="4280495"/>
            <a:ext cx="798512" cy="385762"/>
          </a:xfrm>
          <a:prstGeom prst="roundRect">
            <a:avLst>
              <a:gd name="adj" fmla="val 50000"/>
            </a:avLst>
          </a:prstGeom>
          <a:solidFill>
            <a:srgbClr val="6600FF"/>
          </a:solidFill>
          <a:ln w="12700" cap="sq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 u="sng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学号</a:t>
            </a:r>
          </a:p>
        </p:txBody>
      </p:sp>
      <p:sp>
        <p:nvSpPr>
          <p:cNvPr id="1205260" name="AutoShape 12"/>
          <p:cNvSpPr>
            <a:spLocks noChangeArrowheads="1"/>
          </p:cNvSpPr>
          <p:nvPr/>
        </p:nvSpPr>
        <p:spPr bwMode="auto">
          <a:xfrm>
            <a:off x="1739900" y="4280495"/>
            <a:ext cx="798513" cy="38576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姓名</a:t>
            </a:r>
          </a:p>
        </p:txBody>
      </p:sp>
      <p:sp>
        <p:nvSpPr>
          <p:cNvPr id="1205261" name="AutoShape 13"/>
          <p:cNvSpPr>
            <a:spLocks noChangeArrowheads="1"/>
          </p:cNvSpPr>
          <p:nvPr/>
        </p:nvSpPr>
        <p:spPr bwMode="auto">
          <a:xfrm>
            <a:off x="3489325" y="4280495"/>
            <a:ext cx="798513" cy="38576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性别</a:t>
            </a:r>
          </a:p>
        </p:txBody>
      </p:sp>
      <p:sp>
        <p:nvSpPr>
          <p:cNvPr id="1205262" name="AutoShape 14"/>
          <p:cNvSpPr>
            <a:spLocks noChangeArrowheads="1"/>
          </p:cNvSpPr>
          <p:nvPr/>
        </p:nvSpPr>
        <p:spPr bwMode="auto">
          <a:xfrm>
            <a:off x="2619375" y="4280495"/>
            <a:ext cx="800100" cy="38576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年龄</a:t>
            </a:r>
          </a:p>
        </p:txBody>
      </p:sp>
      <p:cxnSp>
        <p:nvCxnSpPr>
          <p:cNvPr id="22543" name="AutoShape 15"/>
          <p:cNvCxnSpPr>
            <a:cxnSpLocks noChangeShapeType="1"/>
            <a:stCxn id="1205258" idx="2"/>
            <a:endCxn id="1205259" idx="0"/>
          </p:cNvCxnSpPr>
          <p:nvPr/>
        </p:nvCxnSpPr>
        <p:spPr bwMode="auto">
          <a:xfrm flipH="1">
            <a:off x="1227138" y="3818532"/>
            <a:ext cx="1252537" cy="461963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44" name="AutoShape 16"/>
          <p:cNvCxnSpPr>
            <a:cxnSpLocks noChangeShapeType="1"/>
            <a:stCxn id="1205258" idx="2"/>
            <a:endCxn id="1205260" idx="0"/>
          </p:cNvCxnSpPr>
          <p:nvPr/>
        </p:nvCxnSpPr>
        <p:spPr bwMode="auto">
          <a:xfrm flipH="1">
            <a:off x="2139950" y="3818532"/>
            <a:ext cx="339725" cy="461963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45" name="AutoShape 17"/>
          <p:cNvCxnSpPr>
            <a:cxnSpLocks noChangeShapeType="1"/>
            <a:stCxn id="1205258" idx="2"/>
            <a:endCxn id="1205262" idx="0"/>
          </p:cNvCxnSpPr>
          <p:nvPr/>
        </p:nvCxnSpPr>
        <p:spPr bwMode="auto">
          <a:xfrm>
            <a:off x="2479675" y="3818532"/>
            <a:ext cx="539750" cy="461963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46" name="AutoShape 18"/>
          <p:cNvCxnSpPr>
            <a:cxnSpLocks noChangeShapeType="1"/>
            <a:stCxn id="1205258" idx="2"/>
            <a:endCxn id="1205261" idx="0"/>
          </p:cNvCxnSpPr>
          <p:nvPr/>
        </p:nvCxnSpPr>
        <p:spPr bwMode="auto">
          <a:xfrm>
            <a:off x="2479675" y="3818532"/>
            <a:ext cx="1409700" cy="461963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05267" name="AutoShape 19"/>
          <p:cNvSpPr>
            <a:spLocks noChangeArrowheads="1"/>
          </p:cNvSpPr>
          <p:nvPr/>
        </p:nvSpPr>
        <p:spPr bwMode="auto">
          <a:xfrm>
            <a:off x="3932238" y="3294657"/>
            <a:ext cx="1593850" cy="698500"/>
          </a:xfrm>
          <a:prstGeom prst="diamond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组成</a:t>
            </a:r>
          </a:p>
        </p:txBody>
      </p:sp>
      <p:cxnSp>
        <p:nvCxnSpPr>
          <p:cNvPr id="22548" name="AutoShape 20"/>
          <p:cNvCxnSpPr>
            <a:cxnSpLocks noChangeShapeType="1"/>
            <a:stCxn id="1205258" idx="3"/>
            <a:endCxn id="1205267" idx="1"/>
          </p:cNvCxnSpPr>
          <p:nvPr/>
        </p:nvCxnSpPr>
        <p:spPr bwMode="auto">
          <a:xfrm>
            <a:off x="2976563" y="3643907"/>
            <a:ext cx="955675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49" name="AutoShape 21"/>
          <p:cNvCxnSpPr>
            <a:cxnSpLocks noChangeShapeType="1"/>
            <a:stCxn id="1205267" idx="3"/>
            <a:endCxn id="1205253" idx="1"/>
          </p:cNvCxnSpPr>
          <p:nvPr/>
        </p:nvCxnSpPr>
        <p:spPr bwMode="auto">
          <a:xfrm>
            <a:off x="5526088" y="3643907"/>
            <a:ext cx="839787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05270" name="Rectangle 22"/>
          <p:cNvSpPr>
            <a:spLocks noChangeArrowheads="1"/>
          </p:cNvSpPr>
          <p:nvPr/>
        </p:nvSpPr>
        <p:spPr bwMode="auto">
          <a:xfrm>
            <a:off x="5426075" y="3294657"/>
            <a:ext cx="596900" cy="349250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1</a:t>
            </a:r>
          </a:p>
        </p:txBody>
      </p:sp>
      <p:sp>
        <p:nvSpPr>
          <p:cNvPr id="1205271" name="Rectangle 23"/>
          <p:cNvSpPr>
            <a:spLocks noChangeArrowheads="1"/>
          </p:cNvSpPr>
          <p:nvPr/>
        </p:nvSpPr>
        <p:spPr bwMode="auto">
          <a:xfrm>
            <a:off x="2976563" y="3294657"/>
            <a:ext cx="598487" cy="349250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n</a:t>
            </a:r>
          </a:p>
        </p:txBody>
      </p:sp>
      <p:sp>
        <p:nvSpPr>
          <p:cNvPr id="1205272" name="AutoShape 24"/>
          <p:cNvSpPr>
            <a:spLocks noChangeArrowheads="1"/>
          </p:cNvSpPr>
          <p:nvPr/>
        </p:nvSpPr>
        <p:spPr bwMode="auto">
          <a:xfrm>
            <a:off x="7132638" y="4285257"/>
            <a:ext cx="987425" cy="3397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班长</a:t>
            </a:r>
          </a:p>
        </p:txBody>
      </p:sp>
      <p:cxnSp>
        <p:nvCxnSpPr>
          <p:cNvPr id="22553" name="AutoShape 25"/>
          <p:cNvCxnSpPr>
            <a:cxnSpLocks noChangeShapeType="1"/>
            <a:stCxn id="1205253" idx="2"/>
            <a:endCxn id="1205272" idx="0"/>
          </p:cNvCxnSpPr>
          <p:nvPr/>
        </p:nvCxnSpPr>
        <p:spPr bwMode="auto">
          <a:xfrm>
            <a:off x="6864350" y="3818532"/>
            <a:ext cx="762000" cy="466725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05274" name="Rectangle 26"/>
          <p:cNvSpPr>
            <a:spLocks noChangeArrowheads="1"/>
          </p:cNvSpPr>
          <p:nvPr/>
        </p:nvSpPr>
        <p:spPr bwMode="auto">
          <a:xfrm>
            <a:off x="971550" y="5090120"/>
            <a:ext cx="5791200" cy="427037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800">
                <a:solidFill>
                  <a:srgbClr val="00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学生(</a:t>
            </a:r>
            <a:r>
              <a:rPr lang="zh-CN" altLang="en-US" sz="2800" u="sng">
                <a:solidFill>
                  <a:srgbClr val="00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学号</a:t>
            </a:r>
            <a:r>
              <a:rPr lang="zh-CN" altLang="en-US" sz="2800">
                <a:solidFill>
                  <a:srgbClr val="00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，姓名，年龄，性别)</a:t>
            </a:r>
          </a:p>
        </p:txBody>
      </p:sp>
      <p:cxnSp>
        <p:nvCxnSpPr>
          <p:cNvPr id="22555" name="AutoShape 27"/>
          <p:cNvCxnSpPr>
            <a:cxnSpLocks noChangeShapeType="1"/>
          </p:cNvCxnSpPr>
          <p:nvPr/>
        </p:nvCxnSpPr>
        <p:spPr bwMode="auto">
          <a:xfrm rot="10800000" flipV="1">
            <a:off x="825500" y="3643907"/>
            <a:ext cx="1154113" cy="1660525"/>
          </a:xfrm>
          <a:prstGeom prst="bentConnector3">
            <a:avLst>
              <a:gd name="adj1" fmla="val 143602"/>
            </a:avLst>
          </a:prstGeom>
          <a:noFill/>
          <a:ln w="38100">
            <a:solidFill>
              <a:schemeClr val="hlink"/>
            </a:solidFill>
            <a:prstDash val="dash"/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05276" name="Rectangle 28"/>
          <p:cNvSpPr>
            <a:spLocks noChangeArrowheads="1"/>
          </p:cNvSpPr>
          <p:nvPr/>
        </p:nvSpPr>
        <p:spPr bwMode="auto">
          <a:xfrm>
            <a:off x="3492500" y="5882282"/>
            <a:ext cx="3887788" cy="427038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>
              <a:spcBef>
                <a:spcPct val="35000"/>
              </a:spcBef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800">
                <a:solidFill>
                  <a:srgbClr val="00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班级(</a:t>
            </a:r>
            <a:r>
              <a:rPr lang="zh-CN" altLang="en-US" sz="2800" u="sng">
                <a:solidFill>
                  <a:srgbClr val="00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班号</a:t>
            </a:r>
            <a:r>
              <a:rPr lang="zh-CN" altLang="en-US" sz="2800">
                <a:solidFill>
                  <a:srgbClr val="00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，班名，班长)</a:t>
            </a:r>
          </a:p>
        </p:txBody>
      </p:sp>
      <p:cxnSp>
        <p:nvCxnSpPr>
          <p:cNvPr id="22557" name="AutoShape 29"/>
          <p:cNvCxnSpPr>
            <a:cxnSpLocks noChangeShapeType="1"/>
          </p:cNvCxnSpPr>
          <p:nvPr/>
        </p:nvCxnSpPr>
        <p:spPr bwMode="auto">
          <a:xfrm>
            <a:off x="7380288" y="3643907"/>
            <a:ext cx="90487" cy="2452688"/>
          </a:xfrm>
          <a:prstGeom prst="bentConnector3">
            <a:avLst>
              <a:gd name="adj1" fmla="val 1403509"/>
            </a:avLst>
          </a:prstGeom>
          <a:noFill/>
          <a:ln w="38100">
            <a:solidFill>
              <a:schemeClr val="hlink"/>
            </a:solidFill>
            <a:prstDash val="dash"/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" name="Text Box 2"/>
          <p:cNvSpPr txBox="1">
            <a:spLocks noChangeArrowheads="1"/>
          </p:cNvSpPr>
          <p:nvPr/>
        </p:nvSpPr>
        <p:spPr bwMode="auto">
          <a:xfrm>
            <a:off x="179388" y="-33338"/>
            <a:ext cx="3223172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defTabSz="914400" eaLnBrk="1" latinLnBrk="0" hangingPunct="1">
              <a:spcBef>
                <a:spcPts val="0"/>
              </a:spcBef>
              <a:buNone/>
              <a:defRPr sz="4000" b="1" baseline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  <a:cs typeface="+mj-cs"/>
              </a:defRPr>
            </a:lvl1pPr>
          </a:lstStyle>
          <a:p>
            <a:r>
              <a:rPr lang="zh-CN" altLang="en-US" dirty="0" smtClean="0"/>
              <a:t>逻辑</a:t>
            </a:r>
            <a:r>
              <a:rPr lang="zh-CN" altLang="en-US" dirty="0"/>
              <a:t>结构</a:t>
            </a:r>
            <a:r>
              <a:rPr lang="zh-CN" altLang="en-US" dirty="0" smtClean="0"/>
              <a:t>设计</a:t>
            </a:r>
            <a:endParaRPr lang="zh-CN" altLang="en-US" dirty="0"/>
          </a:p>
        </p:txBody>
      </p:sp>
    </p:spTree>
  </p:cSld>
  <p:clrMapOvr>
    <a:masterClrMapping/>
  </p:clrMapOvr>
  <p:transition spd="med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3"/>
          <p:cNvSpPr>
            <a:spLocks noGrp="1" noChangeArrowheads="1"/>
          </p:cNvSpPr>
          <p:nvPr>
            <p:ph type="title"/>
          </p:nvPr>
        </p:nvSpPr>
        <p:spPr>
          <a:xfrm>
            <a:off x="153988" y="783927"/>
            <a:ext cx="8964612" cy="566737"/>
          </a:xfrm>
        </p:spPr>
        <p:txBody>
          <a:bodyPr wrap="square"/>
          <a:lstStyle/>
          <a:p>
            <a:pPr eaLnBrk="1" hangingPunct="1">
              <a:buFont typeface="Wingdings" pitchFamily="2" charset="2"/>
              <a:buNone/>
            </a:pPr>
            <a:r>
              <a:rPr lang="zh-CN" altLang="zh-CN" smtClean="0"/>
              <a:t>第一步：E-R图转换成数据模型</a:t>
            </a:r>
            <a:endParaRPr lang="en-US" altLang="zh-CN" smtClean="0"/>
          </a:p>
        </p:txBody>
      </p:sp>
      <p:sp>
        <p:nvSpPr>
          <p:cNvPr id="120627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79388" y="1431627"/>
            <a:ext cx="8713787" cy="18002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2800" dirty="0" smtClean="0"/>
              <a:t>一个 </a:t>
            </a:r>
            <a:r>
              <a:rPr lang="en-US" altLang="zh-CN" sz="2800" dirty="0" smtClean="0"/>
              <a:t>1:1 </a:t>
            </a:r>
            <a:r>
              <a:rPr lang="zh-CN" altLang="en-US" sz="2800" dirty="0" smtClean="0"/>
              <a:t>联系可以和该联系相连的任意一个实体合并成一个关系模式，并且加入另一个实体的主码和联系本身的属性。</a:t>
            </a:r>
          </a:p>
        </p:txBody>
      </p:sp>
      <p:sp>
        <p:nvSpPr>
          <p:cNvPr id="1206277" name="AutoShape 5"/>
          <p:cNvSpPr>
            <a:spLocks noChangeArrowheads="1"/>
          </p:cNvSpPr>
          <p:nvPr/>
        </p:nvSpPr>
        <p:spPr bwMode="auto">
          <a:xfrm>
            <a:off x="4211638" y="4887614"/>
            <a:ext cx="381000" cy="360363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hlink"/>
          </a:solidFill>
          <a:ln w="12700" cap="sq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206278" name="Rectangle 6"/>
          <p:cNvSpPr>
            <a:spLocks noChangeArrowheads="1"/>
          </p:cNvSpPr>
          <p:nvPr/>
        </p:nvSpPr>
        <p:spPr bwMode="auto">
          <a:xfrm>
            <a:off x="1371600" y="4447877"/>
            <a:ext cx="6248400" cy="944562"/>
          </a:xfrm>
          <a:prstGeom prst="rect">
            <a:avLst/>
          </a:prstGeom>
          <a:solidFill>
            <a:srgbClr val="F5F5FF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72000" tIns="72000" rIns="72000" bIns="0"/>
          <a:lstStyle/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系(</a:t>
            </a:r>
            <a:r>
              <a:rPr lang="zh-CN" altLang="en-US" sz="2800" u="sng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系号</a:t>
            </a:r>
            <a:r>
              <a:rPr lang="zh-CN" altLang="en-US"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，系名，</a:t>
            </a:r>
            <a:r>
              <a:rPr lang="zh-CN" altLang="en-US" sz="2800">
                <a:solidFill>
                  <a:srgbClr val="800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系主任名，任职时间</a:t>
            </a:r>
            <a:r>
              <a:rPr lang="zh-CN" altLang="en-US"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)</a:t>
            </a:r>
          </a:p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系主任(</a:t>
            </a:r>
            <a:r>
              <a:rPr lang="zh-CN" altLang="en-US" sz="2800" u="sng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姓名</a:t>
            </a:r>
            <a:r>
              <a:rPr lang="zh-CN" altLang="en-US"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，性别，职称)</a:t>
            </a:r>
          </a:p>
        </p:txBody>
      </p:sp>
      <p:grpSp>
        <p:nvGrpSpPr>
          <p:cNvPr id="23559" name="Group 7"/>
          <p:cNvGrpSpPr>
            <a:grpSpLocks/>
          </p:cNvGrpSpPr>
          <p:nvPr/>
        </p:nvGrpSpPr>
        <p:grpSpPr bwMode="auto">
          <a:xfrm>
            <a:off x="1042988" y="2960389"/>
            <a:ext cx="7200900" cy="1255713"/>
            <a:chOff x="657" y="1706"/>
            <a:chExt cx="4536" cy="791"/>
          </a:xfrm>
        </p:grpSpPr>
        <p:sp>
          <p:nvSpPr>
            <p:cNvPr id="23565" name="Rectangle 8"/>
            <p:cNvSpPr>
              <a:spLocks noChangeArrowheads="1"/>
            </p:cNvSpPr>
            <p:nvPr/>
          </p:nvSpPr>
          <p:spPr bwMode="auto">
            <a:xfrm flipH="1">
              <a:off x="937" y="1751"/>
              <a:ext cx="504" cy="272"/>
            </a:xfrm>
            <a:prstGeom prst="rect">
              <a:avLst/>
            </a:prstGeom>
            <a:solidFill>
              <a:schemeClr val="bg1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/>
            <a:lstStyle/>
            <a:p>
              <a:pPr algn="ctr">
                <a:spcAft>
                  <a:spcPct val="0"/>
                </a:spcAft>
                <a:buSzTx/>
                <a:buFontTx/>
                <a:buNone/>
              </a:pPr>
              <a:r>
                <a:rPr lang="zh-CN" altLang="en-US" sz="2400">
                  <a:effectLst/>
                  <a:latin typeface="Times New Roman" pitchFamily="18" charset="0"/>
                </a:rPr>
                <a:t>系</a:t>
              </a:r>
            </a:p>
          </p:txBody>
        </p:sp>
        <p:sp>
          <p:nvSpPr>
            <p:cNvPr id="23566" name="AutoShape 9"/>
            <p:cNvSpPr>
              <a:spLocks noChangeArrowheads="1"/>
            </p:cNvSpPr>
            <p:nvPr/>
          </p:nvSpPr>
          <p:spPr bwMode="auto">
            <a:xfrm flipH="1">
              <a:off x="657" y="2158"/>
              <a:ext cx="560" cy="274"/>
            </a:xfrm>
            <a:prstGeom prst="roundRect">
              <a:avLst>
                <a:gd name="adj" fmla="val 50000"/>
              </a:avLst>
            </a:prstGeom>
            <a:solidFill>
              <a:srgbClr val="6600FF"/>
            </a:solidFill>
            <a:ln w="12700" cap="sq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/>
            <a:lstStyle/>
            <a:p>
              <a:pPr algn="ctr">
                <a:spcAft>
                  <a:spcPct val="0"/>
                </a:spcAft>
                <a:buSzTx/>
                <a:buFontTx/>
                <a:buNone/>
              </a:pPr>
              <a:r>
                <a:rPr lang="zh-CN" altLang="en-US" sz="2400" u="sng" dirty="0">
                  <a:effectLst/>
                  <a:latin typeface="Times New Roman" pitchFamily="18" charset="0"/>
                </a:rPr>
                <a:t>系号</a:t>
              </a:r>
            </a:p>
          </p:txBody>
        </p:sp>
        <p:sp>
          <p:nvSpPr>
            <p:cNvPr id="23567" name="AutoShape 10"/>
            <p:cNvSpPr>
              <a:spLocks noChangeArrowheads="1"/>
            </p:cNvSpPr>
            <p:nvPr/>
          </p:nvSpPr>
          <p:spPr bwMode="auto">
            <a:xfrm flipH="1">
              <a:off x="1329" y="2158"/>
              <a:ext cx="560" cy="27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 cap="sq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/>
            <a:lstStyle/>
            <a:p>
              <a:pPr algn="ctr">
                <a:spcAft>
                  <a:spcPct val="0"/>
                </a:spcAft>
                <a:buSzTx/>
                <a:buFontTx/>
                <a:buNone/>
              </a:pPr>
              <a:r>
                <a:rPr lang="zh-CN" altLang="en-US" sz="2400">
                  <a:effectLst/>
                  <a:latin typeface="Times New Roman" pitchFamily="18" charset="0"/>
                </a:rPr>
                <a:t>系名</a:t>
              </a:r>
            </a:p>
          </p:txBody>
        </p:sp>
        <p:cxnSp>
          <p:nvCxnSpPr>
            <p:cNvPr id="23568" name="AutoShape 11"/>
            <p:cNvCxnSpPr>
              <a:cxnSpLocks noChangeShapeType="1"/>
              <a:stCxn id="23566" idx="0"/>
              <a:endCxn id="23565" idx="2"/>
            </p:cNvCxnSpPr>
            <p:nvPr/>
          </p:nvCxnSpPr>
          <p:spPr bwMode="auto">
            <a:xfrm flipV="1">
              <a:off x="937" y="2023"/>
              <a:ext cx="252" cy="135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69" name="AutoShape 12"/>
            <p:cNvCxnSpPr>
              <a:cxnSpLocks noChangeShapeType="1"/>
              <a:stCxn id="23567" idx="0"/>
              <a:endCxn id="23565" idx="2"/>
            </p:cNvCxnSpPr>
            <p:nvPr/>
          </p:nvCxnSpPr>
          <p:spPr bwMode="auto">
            <a:xfrm flipH="1" flipV="1">
              <a:off x="1189" y="2023"/>
              <a:ext cx="420" cy="135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3570" name="Rectangle 13"/>
            <p:cNvSpPr>
              <a:spLocks noChangeArrowheads="1"/>
            </p:cNvSpPr>
            <p:nvPr/>
          </p:nvSpPr>
          <p:spPr bwMode="auto">
            <a:xfrm>
              <a:off x="4068" y="1751"/>
              <a:ext cx="626" cy="272"/>
            </a:xfrm>
            <a:prstGeom prst="rect">
              <a:avLst/>
            </a:prstGeom>
            <a:solidFill>
              <a:schemeClr val="bg1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/>
            <a:lstStyle/>
            <a:p>
              <a:pPr algn="ctr">
                <a:spcAft>
                  <a:spcPct val="0"/>
                </a:spcAft>
                <a:buSzTx/>
                <a:buFontTx/>
                <a:buNone/>
              </a:pPr>
              <a:r>
                <a:rPr lang="zh-CN" altLang="en-US" sz="2400">
                  <a:effectLst/>
                  <a:latin typeface="Times New Roman" pitchFamily="18" charset="0"/>
                </a:rPr>
                <a:t>系主任</a:t>
              </a:r>
            </a:p>
          </p:txBody>
        </p:sp>
        <p:sp>
          <p:nvSpPr>
            <p:cNvPr id="23571" name="AutoShape 14"/>
            <p:cNvSpPr>
              <a:spLocks noChangeArrowheads="1"/>
            </p:cNvSpPr>
            <p:nvPr/>
          </p:nvSpPr>
          <p:spPr bwMode="auto">
            <a:xfrm>
              <a:off x="3569" y="2158"/>
              <a:ext cx="504" cy="274"/>
            </a:xfrm>
            <a:prstGeom prst="roundRect">
              <a:avLst>
                <a:gd name="adj" fmla="val 50000"/>
              </a:avLst>
            </a:prstGeom>
            <a:solidFill>
              <a:srgbClr val="6600FF"/>
            </a:solidFill>
            <a:ln w="12700" cap="sq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/>
            <a:lstStyle/>
            <a:p>
              <a:pPr algn="ctr">
                <a:spcAft>
                  <a:spcPct val="0"/>
                </a:spcAft>
                <a:buSzTx/>
                <a:buFontTx/>
                <a:buNone/>
              </a:pPr>
              <a:r>
                <a:rPr lang="zh-CN" altLang="en-US" sz="2400" u="sng">
                  <a:effectLst/>
                  <a:latin typeface="Times New Roman" pitchFamily="18" charset="0"/>
                </a:rPr>
                <a:t>姓名</a:t>
              </a:r>
            </a:p>
          </p:txBody>
        </p:sp>
        <p:sp>
          <p:nvSpPr>
            <p:cNvPr id="23572" name="AutoShape 15"/>
            <p:cNvSpPr>
              <a:spLocks noChangeArrowheads="1"/>
            </p:cNvSpPr>
            <p:nvPr/>
          </p:nvSpPr>
          <p:spPr bwMode="auto">
            <a:xfrm>
              <a:off x="4130" y="2158"/>
              <a:ext cx="504" cy="27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 cap="sq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/>
            <a:lstStyle/>
            <a:p>
              <a:pPr algn="ctr">
                <a:spcAft>
                  <a:spcPct val="0"/>
                </a:spcAft>
                <a:buSzTx/>
                <a:buFontTx/>
                <a:buNone/>
              </a:pPr>
              <a:r>
                <a:rPr lang="zh-CN" altLang="en-US" sz="2400">
                  <a:effectLst/>
                  <a:latin typeface="Times New Roman" pitchFamily="18" charset="0"/>
                </a:rPr>
                <a:t>性别</a:t>
              </a:r>
            </a:p>
          </p:txBody>
        </p:sp>
        <p:sp>
          <p:nvSpPr>
            <p:cNvPr id="23573" name="AutoShape 16"/>
            <p:cNvSpPr>
              <a:spLocks noChangeArrowheads="1"/>
            </p:cNvSpPr>
            <p:nvPr/>
          </p:nvSpPr>
          <p:spPr bwMode="auto">
            <a:xfrm>
              <a:off x="4689" y="2158"/>
              <a:ext cx="504" cy="27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 cap="sq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/>
            <a:lstStyle/>
            <a:p>
              <a:pPr algn="ctr">
                <a:spcAft>
                  <a:spcPct val="0"/>
                </a:spcAft>
                <a:buSzTx/>
                <a:buFontTx/>
                <a:buNone/>
              </a:pPr>
              <a:r>
                <a:rPr lang="zh-CN" altLang="en-US" sz="2400">
                  <a:effectLst/>
                  <a:latin typeface="Times New Roman" pitchFamily="18" charset="0"/>
                </a:rPr>
                <a:t>职称</a:t>
              </a:r>
            </a:p>
          </p:txBody>
        </p:sp>
        <p:cxnSp>
          <p:nvCxnSpPr>
            <p:cNvPr id="23574" name="AutoShape 17"/>
            <p:cNvCxnSpPr>
              <a:cxnSpLocks noChangeShapeType="1"/>
              <a:stCxn id="23570" idx="2"/>
              <a:endCxn id="23571" idx="0"/>
            </p:cNvCxnSpPr>
            <p:nvPr/>
          </p:nvCxnSpPr>
          <p:spPr bwMode="auto">
            <a:xfrm flipH="1">
              <a:off x="3821" y="2023"/>
              <a:ext cx="560" cy="135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75" name="AutoShape 18"/>
            <p:cNvCxnSpPr>
              <a:cxnSpLocks noChangeShapeType="1"/>
              <a:stCxn id="23570" idx="2"/>
              <a:endCxn id="23572" idx="0"/>
            </p:cNvCxnSpPr>
            <p:nvPr/>
          </p:nvCxnSpPr>
          <p:spPr bwMode="auto">
            <a:xfrm>
              <a:off x="4381" y="2023"/>
              <a:ext cx="1" cy="135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76" name="AutoShape 19"/>
            <p:cNvCxnSpPr>
              <a:cxnSpLocks noChangeShapeType="1"/>
              <a:stCxn id="23570" idx="2"/>
              <a:endCxn id="23573" idx="0"/>
            </p:cNvCxnSpPr>
            <p:nvPr/>
          </p:nvCxnSpPr>
          <p:spPr bwMode="auto">
            <a:xfrm>
              <a:off x="4381" y="2023"/>
              <a:ext cx="560" cy="135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3577" name="AutoShape 20"/>
            <p:cNvSpPr>
              <a:spLocks noChangeArrowheads="1"/>
            </p:cNvSpPr>
            <p:nvPr/>
          </p:nvSpPr>
          <p:spPr bwMode="auto">
            <a:xfrm>
              <a:off x="2365" y="1706"/>
              <a:ext cx="896" cy="363"/>
            </a:xfrm>
            <a:prstGeom prst="diamond">
              <a:avLst/>
            </a:prstGeom>
            <a:solidFill>
              <a:schemeClr val="bg1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/>
            <a:lstStyle/>
            <a:p>
              <a:pPr algn="ctr">
                <a:spcAft>
                  <a:spcPct val="0"/>
                </a:spcAft>
                <a:buSzTx/>
                <a:buFontTx/>
                <a:buNone/>
              </a:pPr>
              <a:r>
                <a:rPr lang="zh-CN" altLang="en-US" sz="2400">
                  <a:effectLst/>
                  <a:latin typeface="Times New Roman" pitchFamily="18" charset="0"/>
                </a:rPr>
                <a:t>管理</a:t>
              </a:r>
            </a:p>
          </p:txBody>
        </p:sp>
        <p:cxnSp>
          <p:nvCxnSpPr>
            <p:cNvPr id="23578" name="AutoShape 21"/>
            <p:cNvCxnSpPr>
              <a:cxnSpLocks noChangeShapeType="1"/>
              <a:stCxn id="23565" idx="1"/>
              <a:endCxn id="23577" idx="1"/>
            </p:cNvCxnSpPr>
            <p:nvPr/>
          </p:nvCxnSpPr>
          <p:spPr bwMode="auto">
            <a:xfrm>
              <a:off x="1441" y="1887"/>
              <a:ext cx="924" cy="1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79" name="AutoShape 22"/>
            <p:cNvCxnSpPr>
              <a:cxnSpLocks noChangeShapeType="1"/>
              <a:stCxn id="23577" idx="3"/>
              <a:endCxn id="23570" idx="1"/>
            </p:cNvCxnSpPr>
            <p:nvPr/>
          </p:nvCxnSpPr>
          <p:spPr bwMode="auto">
            <a:xfrm flipV="1">
              <a:off x="3261" y="1887"/>
              <a:ext cx="807" cy="1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3580" name="Rectangle 23"/>
            <p:cNvSpPr>
              <a:spLocks noChangeArrowheads="1"/>
            </p:cNvSpPr>
            <p:nvPr/>
          </p:nvSpPr>
          <p:spPr bwMode="auto">
            <a:xfrm>
              <a:off x="1665" y="1706"/>
              <a:ext cx="560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/>
            <a:lstStyle/>
            <a:p>
              <a:pPr algn="ctr">
                <a:spcAft>
                  <a:spcPct val="0"/>
                </a:spcAft>
                <a:buSzTx/>
                <a:buFontTx/>
                <a:buNone/>
              </a:pPr>
              <a:r>
                <a:rPr lang="en-US" altLang="zh-CN" sz="2400">
                  <a:effectLst/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3581" name="Rectangle 24"/>
            <p:cNvSpPr>
              <a:spLocks noChangeArrowheads="1"/>
            </p:cNvSpPr>
            <p:nvPr/>
          </p:nvSpPr>
          <p:spPr bwMode="auto">
            <a:xfrm>
              <a:off x="3457" y="1706"/>
              <a:ext cx="560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/>
            <a:lstStyle/>
            <a:p>
              <a:pPr algn="ctr">
                <a:spcAft>
                  <a:spcPct val="0"/>
                </a:spcAft>
                <a:buSzTx/>
                <a:buFontTx/>
                <a:buNone/>
              </a:pPr>
              <a:r>
                <a:rPr lang="en-US" altLang="zh-CN" sz="2400">
                  <a:effectLst/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3582" name="AutoShape 25"/>
            <p:cNvSpPr>
              <a:spLocks noChangeArrowheads="1"/>
            </p:cNvSpPr>
            <p:nvPr/>
          </p:nvSpPr>
          <p:spPr bwMode="auto">
            <a:xfrm flipH="1">
              <a:off x="2337" y="2250"/>
              <a:ext cx="952" cy="24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 cap="sq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/>
            <a:lstStyle/>
            <a:p>
              <a:pPr algn="ctr">
                <a:spcAft>
                  <a:spcPct val="0"/>
                </a:spcAft>
                <a:buSzTx/>
                <a:buFontTx/>
                <a:buNone/>
              </a:pPr>
              <a:r>
                <a:rPr lang="zh-CN" altLang="en-US" sz="2400">
                  <a:effectLst/>
                  <a:latin typeface="Times New Roman" pitchFamily="18" charset="0"/>
                </a:rPr>
                <a:t>任职时间</a:t>
              </a:r>
            </a:p>
          </p:txBody>
        </p:sp>
        <p:cxnSp>
          <p:nvCxnSpPr>
            <p:cNvPr id="23583" name="AutoShape 26"/>
            <p:cNvCxnSpPr>
              <a:cxnSpLocks noChangeShapeType="1"/>
              <a:stCxn id="23577" idx="2"/>
              <a:endCxn id="23582" idx="0"/>
            </p:cNvCxnSpPr>
            <p:nvPr/>
          </p:nvCxnSpPr>
          <p:spPr bwMode="auto">
            <a:xfrm flipH="1">
              <a:off x="2812" y="2069"/>
              <a:ext cx="1" cy="181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206299" name="Rectangle 27"/>
          <p:cNvSpPr>
            <a:spLocks noChangeArrowheads="1"/>
          </p:cNvSpPr>
          <p:nvPr/>
        </p:nvSpPr>
        <p:spPr bwMode="auto">
          <a:xfrm>
            <a:off x="1371600" y="5649614"/>
            <a:ext cx="7239000" cy="887413"/>
          </a:xfrm>
          <a:prstGeom prst="rect">
            <a:avLst/>
          </a:prstGeom>
          <a:solidFill>
            <a:srgbClr val="F5F5FF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72000" tIns="0" rIns="0" bIns="0"/>
          <a:lstStyle/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系(</a:t>
            </a:r>
            <a:r>
              <a:rPr lang="zh-CN" altLang="en-US" sz="2800" u="sng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系号</a:t>
            </a:r>
            <a:r>
              <a:rPr lang="zh-CN" altLang="en-US"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，系名)</a:t>
            </a:r>
          </a:p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系主任(</a:t>
            </a:r>
            <a:r>
              <a:rPr lang="zh-CN" altLang="en-US" sz="2800" u="sng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姓名</a:t>
            </a:r>
            <a:r>
              <a:rPr lang="zh-CN" altLang="en-US"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，性别，职称， </a:t>
            </a:r>
            <a:r>
              <a:rPr lang="zh-CN" altLang="en-US" sz="2800">
                <a:solidFill>
                  <a:srgbClr val="800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系号，任职时间</a:t>
            </a:r>
            <a:r>
              <a:rPr lang="zh-CN" altLang="en-US"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)</a:t>
            </a:r>
          </a:p>
        </p:txBody>
      </p:sp>
      <p:sp>
        <p:nvSpPr>
          <p:cNvPr id="1206300" name="Rectangle 28"/>
          <p:cNvSpPr>
            <a:spLocks noChangeArrowheads="1"/>
          </p:cNvSpPr>
          <p:nvPr/>
        </p:nvSpPr>
        <p:spPr bwMode="auto">
          <a:xfrm>
            <a:off x="762000" y="4500264"/>
            <a:ext cx="365125" cy="947738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vert="eaVert" wrap="none" lIns="0" tIns="0" rIns="0" bIns="0">
            <a:spAutoFit/>
          </a:bodyPr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solidFill>
                  <a:srgbClr val="66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方案1</a:t>
            </a:r>
          </a:p>
        </p:txBody>
      </p:sp>
      <p:sp>
        <p:nvSpPr>
          <p:cNvPr id="1206301" name="Rectangle 29"/>
          <p:cNvSpPr>
            <a:spLocks noChangeArrowheads="1"/>
          </p:cNvSpPr>
          <p:nvPr/>
        </p:nvSpPr>
        <p:spPr bwMode="auto">
          <a:xfrm>
            <a:off x="762000" y="5649614"/>
            <a:ext cx="365125" cy="947738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vert="eaVert" wrap="none" lIns="0" tIns="0" rIns="0" bIns="0">
            <a:spAutoFit/>
          </a:bodyPr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solidFill>
                  <a:srgbClr val="66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方案2</a:t>
            </a:r>
          </a:p>
        </p:txBody>
      </p:sp>
      <p:sp>
        <p:nvSpPr>
          <p:cNvPr id="32" name="Text Box 2"/>
          <p:cNvSpPr txBox="1">
            <a:spLocks noChangeArrowheads="1"/>
          </p:cNvSpPr>
          <p:nvPr/>
        </p:nvSpPr>
        <p:spPr bwMode="auto">
          <a:xfrm>
            <a:off x="179388" y="-33338"/>
            <a:ext cx="3223172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defTabSz="914400" eaLnBrk="1" latinLnBrk="0" hangingPunct="1">
              <a:spcBef>
                <a:spcPts val="0"/>
              </a:spcBef>
              <a:buNone/>
              <a:defRPr sz="4000" b="1" baseline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  <a:cs typeface="+mj-cs"/>
              </a:defRPr>
            </a:lvl1pPr>
          </a:lstStyle>
          <a:p>
            <a:r>
              <a:rPr lang="zh-CN" altLang="en-US" dirty="0" smtClean="0"/>
              <a:t>逻辑</a:t>
            </a:r>
            <a:r>
              <a:rPr lang="zh-CN" altLang="en-US" dirty="0"/>
              <a:t>结构</a:t>
            </a:r>
            <a:r>
              <a:rPr lang="zh-CN" altLang="en-US" dirty="0" smtClean="0"/>
              <a:t>设计</a:t>
            </a:r>
            <a:endParaRPr lang="zh-CN" altLang="en-US" dirty="0"/>
          </a:p>
        </p:txBody>
      </p:sp>
    </p:spTree>
  </p:cSld>
  <p:clrMapOvr>
    <a:masterClrMapping/>
  </p:clrMapOvr>
  <p:transition spd="med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3"/>
          <p:cNvSpPr>
            <a:spLocks noGrp="1" noChangeArrowheads="1"/>
          </p:cNvSpPr>
          <p:nvPr>
            <p:ph type="title"/>
          </p:nvPr>
        </p:nvSpPr>
        <p:spPr>
          <a:xfrm>
            <a:off x="153988" y="841598"/>
            <a:ext cx="8964612" cy="566737"/>
          </a:xfrm>
        </p:spPr>
        <p:txBody>
          <a:bodyPr wrap="square"/>
          <a:lstStyle/>
          <a:p>
            <a:pPr eaLnBrk="1" hangingPunct="1">
              <a:buFont typeface="Wingdings" pitchFamily="2" charset="2"/>
              <a:buNone/>
            </a:pPr>
            <a:r>
              <a:rPr lang="zh-CN" altLang="zh-CN" dirty="0" smtClean="0"/>
              <a:t>第一步：E-R图转换成数据模型</a:t>
            </a:r>
            <a:endParaRPr lang="en-US" altLang="zh-CN" dirty="0" smtClean="0"/>
          </a:p>
        </p:txBody>
      </p:sp>
      <p:sp>
        <p:nvSpPr>
          <p:cNvPr id="120730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79388" y="1489298"/>
            <a:ext cx="8713787" cy="11525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2800" dirty="0" smtClean="0"/>
              <a:t>一个</a:t>
            </a:r>
            <a:r>
              <a:rPr lang="en-US" altLang="zh-CN" sz="2800" dirty="0" smtClean="0"/>
              <a:t>1:n</a:t>
            </a:r>
            <a:r>
              <a:rPr lang="zh-CN" altLang="en-US" sz="2800" dirty="0" smtClean="0"/>
              <a:t>联系可以和</a:t>
            </a:r>
            <a:r>
              <a:rPr lang="en-US" altLang="zh-CN" sz="2800" dirty="0" smtClean="0"/>
              <a:t>n</a:t>
            </a:r>
            <a:r>
              <a:rPr lang="zh-CN" altLang="en-US" sz="2800" dirty="0" smtClean="0"/>
              <a:t>端实体合并成一个关系模式，并且加入</a:t>
            </a:r>
            <a:r>
              <a:rPr lang="en-US" altLang="zh-CN" sz="2800" dirty="0" smtClean="0"/>
              <a:t>1</a:t>
            </a:r>
            <a:r>
              <a:rPr lang="zh-CN" altLang="en-US" sz="2800" dirty="0" smtClean="0"/>
              <a:t>端实体的主码和联系本身的属性。</a:t>
            </a:r>
          </a:p>
        </p:txBody>
      </p:sp>
      <p:sp>
        <p:nvSpPr>
          <p:cNvPr id="1207301" name="Rectangle 5"/>
          <p:cNvSpPr>
            <a:spLocks noChangeArrowheads="1"/>
          </p:cNvSpPr>
          <p:nvPr/>
        </p:nvSpPr>
        <p:spPr bwMode="auto">
          <a:xfrm>
            <a:off x="1403350" y="5234210"/>
            <a:ext cx="6934200" cy="427038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>
              <a:spcAft>
                <a:spcPct val="40000"/>
              </a:spcAft>
              <a:buSzTx/>
              <a:buFontTx/>
              <a:buNone/>
              <a:defRPr/>
            </a:pPr>
            <a:r>
              <a:rPr lang="zh-CN" altLang="en-US" sz="2800">
                <a:solidFill>
                  <a:srgbClr val="00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学校(</a:t>
            </a:r>
            <a:r>
              <a:rPr lang="zh-CN" altLang="en-US" sz="2800" u="sng">
                <a:solidFill>
                  <a:srgbClr val="00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名称</a:t>
            </a:r>
            <a:r>
              <a:rPr lang="zh-CN" altLang="en-US" sz="2800">
                <a:solidFill>
                  <a:srgbClr val="00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，地址)</a:t>
            </a:r>
          </a:p>
          <a:p>
            <a:pPr>
              <a:spcAft>
                <a:spcPct val="40000"/>
              </a:spcAft>
              <a:buSzTx/>
              <a:buFontTx/>
              <a:buNone/>
              <a:defRPr/>
            </a:pPr>
            <a:r>
              <a:rPr lang="zh-CN" altLang="en-US" sz="2800">
                <a:solidFill>
                  <a:srgbClr val="00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教师(</a:t>
            </a:r>
            <a:r>
              <a:rPr lang="zh-CN" altLang="en-US" sz="2800" u="sng">
                <a:solidFill>
                  <a:srgbClr val="00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姓名</a:t>
            </a:r>
            <a:r>
              <a:rPr lang="zh-CN" altLang="en-US" sz="2800">
                <a:solidFill>
                  <a:srgbClr val="00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，性别，年龄，</a:t>
            </a:r>
            <a:r>
              <a:rPr lang="zh-CN" altLang="en-US" sz="28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学校名称，聘期</a:t>
            </a:r>
            <a:r>
              <a:rPr lang="zh-CN" altLang="en-US" sz="2800">
                <a:solidFill>
                  <a:srgbClr val="00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)</a:t>
            </a:r>
          </a:p>
        </p:txBody>
      </p:sp>
      <p:grpSp>
        <p:nvGrpSpPr>
          <p:cNvPr id="24582" name="Group 6"/>
          <p:cNvGrpSpPr>
            <a:grpSpLocks/>
          </p:cNvGrpSpPr>
          <p:nvPr/>
        </p:nvGrpSpPr>
        <p:grpSpPr bwMode="auto">
          <a:xfrm>
            <a:off x="1042988" y="2857723"/>
            <a:ext cx="7321550" cy="1841500"/>
            <a:chOff x="1200" y="1824"/>
            <a:chExt cx="3264" cy="628"/>
          </a:xfrm>
        </p:grpSpPr>
        <p:sp>
          <p:nvSpPr>
            <p:cNvPr id="24585" name="Rectangle 7"/>
            <p:cNvSpPr>
              <a:spLocks noChangeArrowheads="1"/>
            </p:cNvSpPr>
            <p:nvPr/>
          </p:nvSpPr>
          <p:spPr bwMode="auto">
            <a:xfrm flipH="1">
              <a:off x="1440" y="1896"/>
              <a:ext cx="432" cy="144"/>
            </a:xfrm>
            <a:prstGeom prst="rect">
              <a:avLst/>
            </a:prstGeom>
            <a:solidFill>
              <a:schemeClr val="bg1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/>
            <a:lstStyle/>
            <a:p>
              <a:pPr algn="ctr">
                <a:spcAft>
                  <a:spcPct val="0"/>
                </a:spcAft>
                <a:buSzTx/>
                <a:buFontTx/>
                <a:buNone/>
              </a:pPr>
              <a:r>
                <a:rPr lang="zh-CN" altLang="en-US" sz="2400">
                  <a:effectLst/>
                  <a:latin typeface="Times New Roman" pitchFamily="18" charset="0"/>
                </a:rPr>
                <a:t>学校</a:t>
              </a:r>
            </a:p>
          </p:txBody>
        </p:sp>
        <p:sp>
          <p:nvSpPr>
            <p:cNvPr id="24586" name="AutoShape 8"/>
            <p:cNvSpPr>
              <a:spLocks noChangeArrowheads="1"/>
            </p:cNvSpPr>
            <p:nvPr/>
          </p:nvSpPr>
          <p:spPr bwMode="auto">
            <a:xfrm flipH="1">
              <a:off x="1200" y="2256"/>
              <a:ext cx="480" cy="144"/>
            </a:xfrm>
            <a:prstGeom prst="roundRect">
              <a:avLst>
                <a:gd name="adj" fmla="val 50000"/>
              </a:avLst>
            </a:prstGeom>
            <a:solidFill>
              <a:srgbClr val="6600FF"/>
            </a:solidFill>
            <a:ln w="12700" cap="sq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/>
            <a:lstStyle/>
            <a:p>
              <a:pPr algn="ctr">
                <a:spcAft>
                  <a:spcPct val="0"/>
                </a:spcAft>
                <a:buSzTx/>
                <a:buFontTx/>
                <a:buNone/>
              </a:pPr>
              <a:r>
                <a:rPr lang="zh-CN" altLang="en-US" sz="2400" u="sng" dirty="0">
                  <a:effectLst/>
                  <a:latin typeface="Times New Roman" pitchFamily="18" charset="0"/>
                </a:rPr>
                <a:t>名称</a:t>
              </a:r>
            </a:p>
          </p:txBody>
        </p:sp>
        <p:sp>
          <p:nvSpPr>
            <p:cNvPr id="24587" name="AutoShape 9"/>
            <p:cNvSpPr>
              <a:spLocks noChangeArrowheads="1"/>
            </p:cNvSpPr>
            <p:nvPr/>
          </p:nvSpPr>
          <p:spPr bwMode="auto">
            <a:xfrm flipH="1">
              <a:off x="1776" y="2256"/>
              <a:ext cx="480" cy="14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 cap="sq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/>
            <a:lstStyle/>
            <a:p>
              <a:pPr algn="ctr">
                <a:spcAft>
                  <a:spcPct val="0"/>
                </a:spcAft>
                <a:buSzTx/>
                <a:buFontTx/>
                <a:buNone/>
              </a:pPr>
              <a:r>
                <a:rPr lang="zh-CN" altLang="en-US" sz="2400">
                  <a:effectLst/>
                  <a:latin typeface="Times New Roman" pitchFamily="18" charset="0"/>
                </a:rPr>
                <a:t>地址</a:t>
              </a:r>
            </a:p>
          </p:txBody>
        </p:sp>
        <p:cxnSp>
          <p:nvCxnSpPr>
            <p:cNvPr id="24588" name="AutoShape 10"/>
            <p:cNvCxnSpPr>
              <a:cxnSpLocks noChangeShapeType="1"/>
              <a:stCxn id="24586" idx="0"/>
              <a:endCxn id="24585" idx="2"/>
            </p:cNvCxnSpPr>
            <p:nvPr/>
          </p:nvCxnSpPr>
          <p:spPr bwMode="auto">
            <a:xfrm flipV="1">
              <a:off x="1440" y="2039"/>
              <a:ext cx="216" cy="217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589" name="AutoShape 11"/>
            <p:cNvCxnSpPr>
              <a:cxnSpLocks noChangeShapeType="1"/>
              <a:stCxn id="24587" idx="0"/>
              <a:endCxn id="24585" idx="2"/>
            </p:cNvCxnSpPr>
            <p:nvPr/>
          </p:nvCxnSpPr>
          <p:spPr bwMode="auto">
            <a:xfrm flipH="1" flipV="1">
              <a:off x="1656" y="2039"/>
              <a:ext cx="360" cy="217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4590" name="Rectangle 12"/>
            <p:cNvSpPr>
              <a:spLocks noChangeArrowheads="1"/>
            </p:cNvSpPr>
            <p:nvPr/>
          </p:nvSpPr>
          <p:spPr bwMode="auto">
            <a:xfrm>
              <a:off x="3552" y="1896"/>
              <a:ext cx="432" cy="144"/>
            </a:xfrm>
            <a:prstGeom prst="rect">
              <a:avLst/>
            </a:prstGeom>
            <a:solidFill>
              <a:schemeClr val="bg1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/>
            <a:lstStyle/>
            <a:p>
              <a:pPr algn="ctr">
                <a:spcAft>
                  <a:spcPct val="0"/>
                </a:spcAft>
                <a:buSzTx/>
                <a:buFontTx/>
                <a:buNone/>
              </a:pPr>
              <a:r>
                <a:rPr lang="zh-CN" altLang="en-US" sz="2400">
                  <a:effectLst/>
                  <a:latin typeface="Times New Roman" pitchFamily="18" charset="0"/>
                </a:rPr>
                <a:t>教师</a:t>
              </a:r>
            </a:p>
          </p:txBody>
        </p:sp>
        <p:sp>
          <p:nvSpPr>
            <p:cNvPr id="24591" name="AutoShape 13"/>
            <p:cNvSpPr>
              <a:spLocks noChangeArrowheads="1"/>
            </p:cNvSpPr>
            <p:nvPr/>
          </p:nvSpPr>
          <p:spPr bwMode="auto">
            <a:xfrm>
              <a:off x="3072" y="2256"/>
              <a:ext cx="432" cy="144"/>
            </a:xfrm>
            <a:prstGeom prst="roundRect">
              <a:avLst>
                <a:gd name="adj" fmla="val 50000"/>
              </a:avLst>
            </a:prstGeom>
            <a:solidFill>
              <a:srgbClr val="6600FF"/>
            </a:solidFill>
            <a:ln w="12700" cap="sq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/>
            <a:lstStyle/>
            <a:p>
              <a:pPr algn="ctr">
                <a:spcAft>
                  <a:spcPct val="0"/>
                </a:spcAft>
                <a:buSzTx/>
                <a:buFontTx/>
                <a:buNone/>
              </a:pPr>
              <a:r>
                <a:rPr lang="zh-CN" altLang="en-US" sz="2400" u="sng">
                  <a:effectLst/>
                  <a:latin typeface="Times New Roman" pitchFamily="18" charset="0"/>
                </a:rPr>
                <a:t>姓名</a:t>
              </a:r>
            </a:p>
          </p:txBody>
        </p:sp>
        <p:sp>
          <p:nvSpPr>
            <p:cNvPr id="24592" name="AutoShape 14"/>
            <p:cNvSpPr>
              <a:spLocks noChangeArrowheads="1"/>
            </p:cNvSpPr>
            <p:nvPr/>
          </p:nvSpPr>
          <p:spPr bwMode="auto">
            <a:xfrm>
              <a:off x="3553" y="2256"/>
              <a:ext cx="432" cy="14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 cap="sq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/>
            <a:lstStyle/>
            <a:p>
              <a:pPr algn="ctr">
                <a:spcAft>
                  <a:spcPct val="0"/>
                </a:spcAft>
                <a:buSzTx/>
                <a:buFontTx/>
                <a:buNone/>
              </a:pPr>
              <a:r>
                <a:rPr lang="zh-CN" altLang="en-US" sz="2400">
                  <a:effectLst/>
                  <a:latin typeface="Times New Roman" pitchFamily="18" charset="0"/>
                </a:rPr>
                <a:t>性别</a:t>
              </a:r>
            </a:p>
          </p:txBody>
        </p:sp>
        <p:sp>
          <p:nvSpPr>
            <p:cNvPr id="24593" name="AutoShape 15"/>
            <p:cNvSpPr>
              <a:spLocks noChangeArrowheads="1"/>
            </p:cNvSpPr>
            <p:nvPr/>
          </p:nvSpPr>
          <p:spPr bwMode="auto">
            <a:xfrm>
              <a:off x="4032" y="2256"/>
              <a:ext cx="432" cy="14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 cap="sq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/>
            <a:lstStyle/>
            <a:p>
              <a:pPr algn="ctr">
                <a:spcAft>
                  <a:spcPct val="0"/>
                </a:spcAft>
                <a:buSzTx/>
                <a:buFontTx/>
                <a:buNone/>
              </a:pPr>
              <a:r>
                <a:rPr lang="zh-CN" altLang="en-US" sz="2400">
                  <a:effectLst/>
                  <a:latin typeface="Times New Roman" pitchFamily="18" charset="0"/>
                </a:rPr>
                <a:t>年龄</a:t>
              </a:r>
            </a:p>
          </p:txBody>
        </p:sp>
        <p:cxnSp>
          <p:nvCxnSpPr>
            <p:cNvPr id="24594" name="AutoShape 16"/>
            <p:cNvCxnSpPr>
              <a:cxnSpLocks noChangeShapeType="1"/>
              <a:stCxn id="24590" idx="2"/>
              <a:endCxn id="24591" idx="0"/>
            </p:cNvCxnSpPr>
            <p:nvPr/>
          </p:nvCxnSpPr>
          <p:spPr bwMode="auto">
            <a:xfrm flipH="1">
              <a:off x="3288" y="2040"/>
              <a:ext cx="480" cy="216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595" name="AutoShape 17"/>
            <p:cNvCxnSpPr>
              <a:cxnSpLocks noChangeShapeType="1"/>
              <a:stCxn id="24590" idx="2"/>
              <a:endCxn id="24592" idx="0"/>
            </p:cNvCxnSpPr>
            <p:nvPr/>
          </p:nvCxnSpPr>
          <p:spPr bwMode="auto">
            <a:xfrm>
              <a:off x="3768" y="2040"/>
              <a:ext cx="1" cy="216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596" name="AutoShape 18"/>
            <p:cNvCxnSpPr>
              <a:cxnSpLocks noChangeShapeType="1"/>
              <a:stCxn id="24590" idx="2"/>
              <a:endCxn id="24593" idx="0"/>
            </p:cNvCxnSpPr>
            <p:nvPr/>
          </p:nvCxnSpPr>
          <p:spPr bwMode="auto">
            <a:xfrm>
              <a:off x="3768" y="2040"/>
              <a:ext cx="480" cy="216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4597" name="AutoShape 19"/>
            <p:cNvSpPr>
              <a:spLocks noChangeArrowheads="1"/>
            </p:cNvSpPr>
            <p:nvPr/>
          </p:nvSpPr>
          <p:spPr bwMode="auto">
            <a:xfrm>
              <a:off x="2268" y="1824"/>
              <a:ext cx="768" cy="288"/>
            </a:xfrm>
            <a:prstGeom prst="diamond">
              <a:avLst/>
            </a:prstGeom>
            <a:solidFill>
              <a:schemeClr val="bg1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/>
            <a:lstStyle/>
            <a:p>
              <a:pPr algn="ctr">
                <a:spcAft>
                  <a:spcPct val="0"/>
                </a:spcAft>
                <a:buSzTx/>
                <a:buFontTx/>
                <a:buNone/>
              </a:pPr>
              <a:r>
                <a:rPr lang="zh-CN" altLang="en-US" sz="2400">
                  <a:effectLst/>
                  <a:latin typeface="Times New Roman" pitchFamily="18" charset="0"/>
                </a:rPr>
                <a:t>聘用</a:t>
              </a:r>
            </a:p>
          </p:txBody>
        </p:sp>
        <p:cxnSp>
          <p:nvCxnSpPr>
            <p:cNvPr id="24598" name="AutoShape 20"/>
            <p:cNvCxnSpPr>
              <a:cxnSpLocks noChangeShapeType="1"/>
              <a:stCxn id="24585" idx="1"/>
              <a:endCxn id="24597" idx="1"/>
            </p:cNvCxnSpPr>
            <p:nvPr/>
          </p:nvCxnSpPr>
          <p:spPr bwMode="auto">
            <a:xfrm>
              <a:off x="1872" y="1967"/>
              <a:ext cx="396" cy="1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599" name="AutoShape 21"/>
            <p:cNvCxnSpPr>
              <a:cxnSpLocks noChangeShapeType="1"/>
              <a:stCxn id="24597" idx="3"/>
              <a:endCxn id="24590" idx="1"/>
            </p:cNvCxnSpPr>
            <p:nvPr/>
          </p:nvCxnSpPr>
          <p:spPr bwMode="auto">
            <a:xfrm>
              <a:off x="3036" y="1968"/>
              <a:ext cx="516" cy="0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4600" name="Rectangle 22"/>
            <p:cNvSpPr>
              <a:spLocks noChangeArrowheads="1"/>
            </p:cNvSpPr>
            <p:nvPr/>
          </p:nvSpPr>
          <p:spPr bwMode="auto">
            <a:xfrm>
              <a:off x="1824" y="1824"/>
              <a:ext cx="48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/>
            <a:lstStyle/>
            <a:p>
              <a:pPr algn="ctr">
                <a:spcAft>
                  <a:spcPct val="0"/>
                </a:spcAft>
                <a:buSzTx/>
                <a:buFontTx/>
                <a:buNone/>
              </a:pPr>
              <a:r>
                <a:rPr lang="en-US" altLang="zh-CN" sz="2400">
                  <a:effectLst/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4601" name="Rectangle 23"/>
            <p:cNvSpPr>
              <a:spLocks noChangeArrowheads="1"/>
            </p:cNvSpPr>
            <p:nvPr/>
          </p:nvSpPr>
          <p:spPr bwMode="auto">
            <a:xfrm>
              <a:off x="2976" y="1824"/>
              <a:ext cx="48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/>
            <a:lstStyle/>
            <a:p>
              <a:pPr algn="ctr">
                <a:spcAft>
                  <a:spcPct val="0"/>
                </a:spcAft>
                <a:buSzTx/>
                <a:buFontTx/>
                <a:buNone/>
              </a:pPr>
              <a:r>
                <a:rPr lang="en-US" altLang="zh-CN" sz="2400">
                  <a:effectLst/>
                  <a:latin typeface="Times New Roman" pitchFamily="18" charset="0"/>
                </a:rPr>
                <a:t>n</a:t>
              </a:r>
            </a:p>
          </p:txBody>
        </p:sp>
        <p:sp>
          <p:nvSpPr>
            <p:cNvPr id="24602" name="AutoShape 24"/>
            <p:cNvSpPr>
              <a:spLocks noChangeArrowheads="1"/>
            </p:cNvSpPr>
            <p:nvPr/>
          </p:nvSpPr>
          <p:spPr bwMode="auto">
            <a:xfrm flipH="1">
              <a:off x="2425" y="2256"/>
              <a:ext cx="453" cy="19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 cap="sq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/>
            <a:lstStyle/>
            <a:p>
              <a:pPr algn="ctr">
                <a:spcAft>
                  <a:spcPct val="0"/>
                </a:spcAft>
                <a:buSzTx/>
                <a:buFontTx/>
                <a:buNone/>
              </a:pPr>
              <a:r>
                <a:rPr lang="zh-CN" altLang="en-US" sz="2400">
                  <a:effectLst/>
                  <a:latin typeface="Times New Roman" pitchFamily="18" charset="0"/>
                </a:rPr>
                <a:t>聘期</a:t>
              </a:r>
            </a:p>
          </p:txBody>
        </p:sp>
        <p:cxnSp>
          <p:nvCxnSpPr>
            <p:cNvPr id="24603" name="AutoShape 25"/>
            <p:cNvCxnSpPr>
              <a:cxnSpLocks noChangeShapeType="1"/>
              <a:stCxn id="24597" idx="2"/>
              <a:endCxn id="24602" idx="0"/>
            </p:cNvCxnSpPr>
            <p:nvPr/>
          </p:nvCxnSpPr>
          <p:spPr bwMode="auto">
            <a:xfrm>
              <a:off x="2652" y="2112"/>
              <a:ext cx="0" cy="144"/>
            </a:xfrm>
            <a:prstGeom prst="straightConnector1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8" name="Text Box 2"/>
          <p:cNvSpPr txBox="1">
            <a:spLocks noChangeArrowheads="1"/>
          </p:cNvSpPr>
          <p:nvPr/>
        </p:nvSpPr>
        <p:spPr bwMode="auto">
          <a:xfrm>
            <a:off x="179388" y="-33338"/>
            <a:ext cx="3223172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defTabSz="914400" eaLnBrk="1" latinLnBrk="0" hangingPunct="1">
              <a:spcBef>
                <a:spcPts val="0"/>
              </a:spcBef>
              <a:buNone/>
              <a:defRPr sz="4000" b="1" baseline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  <a:cs typeface="+mj-cs"/>
              </a:defRPr>
            </a:lvl1pPr>
          </a:lstStyle>
          <a:p>
            <a:r>
              <a:rPr lang="zh-CN" altLang="en-US" dirty="0" smtClean="0"/>
              <a:t>逻辑</a:t>
            </a:r>
            <a:r>
              <a:rPr lang="zh-CN" altLang="en-US" dirty="0"/>
              <a:t>结构</a:t>
            </a:r>
            <a:r>
              <a:rPr lang="zh-CN" altLang="en-US" dirty="0" smtClean="0"/>
              <a:t>设计</a:t>
            </a:r>
            <a:endParaRPr lang="zh-CN" altLang="en-US" dirty="0"/>
          </a:p>
        </p:txBody>
      </p:sp>
    </p:spTree>
  </p:cSld>
  <p:clrMapOvr>
    <a:masterClrMapping/>
  </p:clrMapOvr>
  <p:transition spd="med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3"/>
          <p:cNvSpPr>
            <a:spLocks noGrp="1" noChangeArrowheads="1"/>
          </p:cNvSpPr>
          <p:nvPr>
            <p:ph type="title"/>
          </p:nvPr>
        </p:nvSpPr>
        <p:spPr>
          <a:xfrm>
            <a:off x="153988" y="842293"/>
            <a:ext cx="8964612" cy="566737"/>
          </a:xfrm>
        </p:spPr>
        <p:txBody>
          <a:bodyPr wrap="square"/>
          <a:lstStyle/>
          <a:p>
            <a:pPr eaLnBrk="1" hangingPunct="1">
              <a:buFont typeface="Wingdings" pitchFamily="2" charset="2"/>
              <a:buNone/>
            </a:pPr>
            <a:r>
              <a:rPr lang="zh-CN" altLang="zh-CN" smtClean="0"/>
              <a:t>第一步：E-R图转换成数据模型</a:t>
            </a:r>
            <a:endParaRPr lang="en-US" altLang="zh-CN" smtClean="0"/>
          </a:p>
        </p:txBody>
      </p:sp>
      <p:sp>
        <p:nvSpPr>
          <p:cNvPr id="120832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79388" y="1489993"/>
            <a:ext cx="8713787" cy="11525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2800" dirty="0" smtClean="0"/>
              <a:t>一个</a:t>
            </a:r>
            <a:r>
              <a:rPr lang="en-US" altLang="zh-CN" sz="2800" dirty="0" smtClean="0"/>
              <a:t>m:n</a:t>
            </a:r>
            <a:r>
              <a:rPr lang="zh-CN" altLang="en-US" sz="2800" dirty="0" smtClean="0"/>
              <a:t>联系转换成一个关系模式，属性包括联系两端的实体的主码以及联系本身的属性，主码为联系两端的实体的主码的组合。</a:t>
            </a:r>
          </a:p>
        </p:txBody>
      </p:sp>
      <p:sp>
        <p:nvSpPr>
          <p:cNvPr id="1208325" name="Rectangle 5"/>
          <p:cNvSpPr>
            <a:spLocks noChangeArrowheads="1"/>
          </p:cNvSpPr>
          <p:nvPr/>
        </p:nvSpPr>
        <p:spPr bwMode="auto">
          <a:xfrm flipH="1">
            <a:off x="1582738" y="3491830"/>
            <a:ext cx="801687" cy="403225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课程</a:t>
            </a:r>
          </a:p>
        </p:txBody>
      </p:sp>
      <p:sp>
        <p:nvSpPr>
          <p:cNvPr id="1208326" name="AutoShape 6"/>
          <p:cNvSpPr>
            <a:spLocks noChangeArrowheads="1"/>
          </p:cNvSpPr>
          <p:nvPr/>
        </p:nvSpPr>
        <p:spPr bwMode="auto">
          <a:xfrm flipH="1">
            <a:off x="323850" y="4499893"/>
            <a:ext cx="1036638" cy="403225"/>
          </a:xfrm>
          <a:prstGeom prst="roundRect">
            <a:avLst>
              <a:gd name="adj" fmla="val 50000"/>
            </a:avLst>
          </a:prstGeom>
          <a:solidFill>
            <a:srgbClr val="6600FF"/>
          </a:solidFill>
          <a:ln w="12700" cap="sq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 u="sng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课程号</a:t>
            </a:r>
          </a:p>
        </p:txBody>
      </p:sp>
      <p:sp>
        <p:nvSpPr>
          <p:cNvPr id="1208327" name="AutoShape 7"/>
          <p:cNvSpPr>
            <a:spLocks noChangeArrowheads="1"/>
          </p:cNvSpPr>
          <p:nvPr/>
        </p:nvSpPr>
        <p:spPr bwMode="auto">
          <a:xfrm flipH="1">
            <a:off x="1547813" y="4471318"/>
            <a:ext cx="1035050" cy="4032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课程名</a:t>
            </a:r>
          </a:p>
        </p:txBody>
      </p:sp>
      <p:sp>
        <p:nvSpPr>
          <p:cNvPr id="1208328" name="AutoShape 8"/>
          <p:cNvSpPr>
            <a:spLocks noChangeArrowheads="1"/>
          </p:cNvSpPr>
          <p:nvPr/>
        </p:nvSpPr>
        <p:spPr bwMode="auto">
          <a:xfrm flipH="1">
            <a:off x="2771775" y="4471318"/>
            <a:ext cx="801688" cy="4032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学分</a:t>
            </a:r>
          </a:p>
        </p:txBody>
      </p:sp>
      <p:cxnSp>
        <p:nvCxnSpPr>
          <p:cNvPr id="25609" name="AutoShape 9"/>
          <p:cNvCxnSpPr>
            <a:cxnSpLocks noChangeShapeType="1"/>
            <a:stCxn id="1208326" idx="0"/>
            <a:endCxn id="1208325" idx="2"/>
          </p:cNvCxnSpPr>
          <p:nvPr/>
        </p:nvCxnSpPr>
        <p:spPr bwMode="auto">
          <a:xfrm flipV="1">
            <a:off x="842963" y="3895055"/>
            <a:ext cx="1141412" cy="604838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10" name="AutoShape 10"/>
          <p:cNvCxnSpPr>
            <a:cxnSpLocks noChangeShapeType="1"/>
            <a:stCxn id="1208327" idx="0"/>
            <a:endCxn id="1208325" idx="2"/>
          </p:cNvCxnSpPr>
          <p:nvPr/>
        </p:nvCxnSpPr>
        <p:spPr bwMode="auto">
          <a:xfrm flipH="1" flipV="1">
            <a:off x="1984375" y="3895055"/>
            <a:ext cx="80963" cy="576263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11" name="AutoShape 11"/>
          <p:cNvCxnSpPr>
            <a:cxnSpLocks noChangeShapeType="1"/>
            <a:stCxn id="1208328" idx="0"/>
            <a:endCxn id="1208325" idx="2"/>
          </p:cNvCxnSpPr>
          <p:nvPr/>
        </p:nvCxnSpPr>
        <p:spPr bwMode="auto">
          <a:xfrm flipH="1" flipV="1">
            <a:off x="1984375" y="3895055"/>
            <a:ext cx="1189038" cy="576263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08332" name="Rectangle 12"/>
          <p:cNvSpPr>
            <a:spLocks noChangeArrowheads="1"/>
          </p:cNvSpPr>
          <p:nvPr/>
        </p:nvSpPr>
        <p:spPr bwMode="auto">
          <a:xfrm>
            <a:off x="6664325" y="3491830"/>
            <a:ext cx="801688" cy="403225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教师</a:t>
            </a:r>
          </a:p>
        </p:txBody>
      </p:sp>
      <p:sp>
        <p:nvSpPr>
          <p:cNvPr id="1208333" name="AutoShape 13"/>
          <p:cNvSpPr>
            <a:spLocks noChangeArrowheads="1"/>
          </p:cNvSpPr>
          <p:nvPr/>
        </p:nvSpPr>
        <p:spPr bwMode="auto">
          <a:xfrm>
            <a:off x="5076825" y="4499893"/>
            <a:ext cx="1141413" cy="403225"/>
          </a:xfrm>
          <a:prstGeom prst="roundRect">
            <a:avLst>
              <a:gd name="adj" fmla="val 50000"/>
            </a:avLst>
          </a:prstGeom>
          <a:solidFill>
            <a:srgbClr val="6600FF"/>
          </a:solidFill>
          <a:ln w="12700" cap="sq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 u="sng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教工号</a:t>
            </a:r>
          </a:p>
        </p:txBody>
      </p:sp>
      <p:sp>
        <p:nvSpPr>
          <p:cNvPr id="1208334" name="AutoShape 14"/>
          <p:cNvSpPr>
            <a:spLocks noChangeArrowheads="1"/>
          </p:cNvSpPr>
          <p:nvPr/>
        </p:nvSpPr>
        <p:spPr bwMode="auto">
          <a:xfrm>
            <a:off x="6307138" y="4499893"/>
            <a:ext cx="803275" cy="4032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姓名</a:t>
            </a:r>
          </a:p>
        </p:txBody>
      </p:sp>
      <p:sp>
        <p:nvSpPr>
          <p:cNvPr id="1208335" name="AutoShape 15"/>
          <p:cNvSpPr>
            <a:spLocks noChangeArrowheads="1"/>
          </p:cNvSpPr>
          <p:nvPr/>
        </p:nvSpPr>
        <p:spPr bwMode="auto">
          <a:xfrm>
            <a:off x="7200900" y="4499893"/>
            <a:ext cx="803275" cy="4032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性别</a:t>
            </a:r>
          </a:p>
        </p:txBody>
      </p:sp>
      <p:sp>
        <p:nvSpPr>
          <p:cNvPr id="1208336" name="AutoShape 16"/>
          <p:cNvSpPr>
            <a:spLocks noChangeArrowheads="1"/>
          </p:cNvSpPr>
          <p:nvPr/>
        </p:nvSpPr>
        <p:spPr bwMode="auto">
          <a:xfrm>
            <a:off x="8091488" y="4499893"/>
            <a:ext cx="801687" cy="4032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职称</a:t>
            </a:r>
          </a:p>
        </p:txBody>
      </p:sp>
      <p:cxnSp>
        <p:nvCxnSpPr>
          <p:cNvPr id="25617" name="AutoShape 17"/>
          <p:cNvCxnSpPr>
            <a:cxnSpLocks noChangeShapeType="1"/>
            <a:stCxn id="1208332" idx="2"/>
            <a:endCxn id="1208333" idx="0"/>
          </p:cNvCxnSpPr>
          <p:nvPr/>
        </p:nvCxnSpPr>
        <p:spPr bwMode="auto">
          <a:xfrm flipH="1">
            <a:off x="5648325" y="3895055"/>
            <a:ext cx="1417638" cy="604838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18" name="AutoShape 18"/>
          <p:cNvCxnSpPr>
            <a:cxnSpLocks noChangeShapeType="1"/>
            <a:stCxn id="1208332" idx="2"/>
            <a:endCxn id="1208334" idx="0"/>
          </p:cNvCxnSpPr>
          <p:nvPr/>
        </p:nvCxnSpPr>
        <p:spPr bwMode="auto">
          <a:xfrm flipH="1">
            <a:off x="6708775" y="3895055"/>
            <a:ext cx="357188" cy="604838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19" name="AutoShape 19"/>
          <p:cNvCxnSpPr>
            <a:cxnSpLocks noChangeShapeType="1"/>
            <a:stCxn id="1208332" idx="2"/>
            <a:endCxn id="1208335" idx="0"/>
          </p:cNvCxnSpPr>
          <p:nvPr/>
        </p:nvCxnSpPr>
        <p:spPr bwMode="auto">
          <a:xfrm>
            <a:off x="7065963" y="3895055"/>
            <a:ext cx="536575" cy="604838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20" name="AutoShape 20"/>
          <p:cNvCxnSpPr>
            <a:cxnSpLocks noChangeShapeType="1"/>
            <a:stCxn id="1208332" idx="2"/>
            <a:endCxn id="1208336" idx="0"/>
          </p:cNvCxnSpPr>
          <p:nvPr/>
        </p:nvCxnSpPr>
        <p:spPr bwMode="auto">
          <a:xfrm>
            <a:off x="7065963" y="3895055"/>
            <a:ext cx="1425575" cy="604838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08341" name="AutoShape 21"/>
          <p:cNvSpPr>
            <a:spLocks noChangeArrowheads="1"/>
          </p:cNvSpPr>
          <p:nvPr/>
        </p:nvSpPr>
        <p:spPr bwMode="auto">
          <a:xfrm>
            <a:off x="3811588" y="3290218"/>
            <a:ext cx="1425575" cy="806450"/>
          </a:xfrm>
          <a:prstGeom prst="diamond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讲授</a:t>
            </a:r>
          </a:p>
        </p:txBody>
      </p:sp>
      <p:cxnSp>
        <p:nvCxnSpPr>
          <p:cNvPr id="25622" name="AutoShape 22"/>
          <p:cNvCxnSpPr>
            <a:cxnSpLocks noChangeShapeType="1"/>
            <a:stCxn id="1208325" idx="1"/>
            <a:endCxn id="1208341" idx="1"/>
          </p:cNvCxnSpPr>
          <p:nvPr/>
        </p:nvCxnSpPr>
        <p:spPr bwMode="auto">
          <a:xfrm>
            <a:off x="2384425" y="3690268"/>
            <a:ext cx="1427163" cy="3175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23" name="AutoShape 23"/>
          <p:cNvCxnSpPr>
            <a:cxnSpLocks noChangeShapeType="1"/>
            <a:stCxn id="1208341" idx="3"/>
            <a:endCxn id="1208332" idx="1"/>
          </p:cNvCxnSpPr>
          <p:nvPr/>
        </p:nvCxnSpPr>
        <p:spPr bwMode="auto">
          <a:xfrm>
            <a:off x="5237163" y="3693443"/>
            <a:ext cx="1427162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08344" name="Rectangle 24"/>
          <p:cNvSpPr>
            <a:spLocks noChangeArrowheads="1"/>
          </p:cNvSpPr>
          <p:nvPr/>
        </p:nvSpPr>
        <p:spPr bwMode="auto">
          <a:xfrm>
            <a:off x="2741613" y="3290218"/>
            <a:ext cx="892175" cy="403225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m</a:t>
            </a:r>
          </a:p>
        </p:txBody>
      </p:sp>
      <p:sp>
        <p:nvSpPr>
          <p:cNvPr id="1208345" name="Rectangle 25"/>
          <p:cNvSpPr>
            <a:spLocks noChangeArrowheads="1"/>
          </p:cNvSpPr>
          <p:nvPr/>
        </p:nvSpPr>
        <p:spPr bwMode="auto">
          <a:xfrm>
            <a:off x="5594350" y="3290218"/>
            <a:ext cx="892175" cy="403225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n</a:t>
            </a:r>
          </a:p>
        </p:txBody>
      </p:sp>
      <p:sp>
        <p:nvSpPr>
          <p:cNvPr id="1208346" name="Rectangle 26"/>
          <p:cNvSpPr>
            <a:spLocks noChangeArrowheads="1"/>
          </p:cNvSpPr>
          <p:nvPr/>
        </p:nvSpPr>
        <p:spPr bwMode="auto">
          <a:xfrm>
            <a:off x="2555875" y="5522243"/>
            <a:ext cx="3657600" cy="427037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800">
                <a:solidFill>
                  <a:srgbClr val="00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讲授(</a:t>
            </a:r>
            <a:r>
              <a:rPr lang="zh-CN" altLang="en-US" sz="2800" u="sng">
                <a:solidFill>
                  <a:srgbClr val="00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课程号，教工号</a:t>
            </a:r>
            <a:r>
              <a:rPr lang="zh-CN" altLang="en-US" sz="2800">
                <a:solidFill>
                  <a:srgbClr val="00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)</a:t>
            </a:r>
          </a:p>
        </p:txBody>
      </p:sp>
      <p:sp>
        <p:nvSpPr>
          <p:cNvPr id="29" name="Text Box 2"/>
          <p:cNvSpPr txBox="1">
            <a:spLocks noChangeArrowheads="1"/>
          </p:cNvSpPr>
          <p:nvPr/>
        </p:nvSpPr>
        <p:spPr bwMode="auto">
          <a:xfrm>
            <a:off x="179388" y="-33338"/>
            <a:ext cx="3223172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defTabSz="914400" eaLnBrk="1" latinLnBrk="0" hangingPunct="1">
              <a:spcBef>
                <a:spcPts val="0"/>
              </a:spcBef>
              <a:buNone/>
              <a:defRPr sz="4000" b="1" baseline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  <a:cs typeface="+mj-cs"/>
              </a:defRPr>
            </a:lvl1pPr>
          </a:lstStyle>
          <a:p>
            <a:r>
              <a:rPr lang="zh-CN" altLang="en-US" dirty="0" smtClean="0"/>
              <a:t>逻辑</a:t>
            </a:r>
            <a:r>
              <a:rPr lang="zh-CN" altLang="en-US" dirty="0"/>
              <a:t>结构</a:t>
            </a:r>
            <a:r>
              <a:rPr lang="zh-CN" altLang="en-US" dirty="0" smtClean="0"/>
              <a:t>设计</a:t>
            </a:r>
            <a:endParaRPr lang="zh-CN" altLang="en-US" dirty="0"/>
          </a:p>
        </p:txBody>
      </p:sp>
    </p:spTree>
  </p:cSld>
  <p:clrMapOvr>
    <a:masterClrMapping/>
  </p:clrMapOvr>
  <p:transition spd="med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type="title"/>
          </p:nvPr>
        </p:nvSpPr>
        <p:spPr>
          <a:xfrm>
            <a:off x="153988" y="846039"/>
            <a:ext cx="8964612" cy="566737"/>
          </a:xfrm>
        </p:spPr>
        <p:txBody>
          <a:bodyPr wrap="square"/>
          <a:lstStyle/>
          <a:p>
            <a:pPr eaLnBrk="1" hangingPunct="1">
              <a:buFont typeface="Wingdings" pitchFamily="2" charset="2"/>
              <a:buNone/>
            </a:pPr>
            <a:r>
              <a:rPr lang="zh-CN" altLang="zh-CN" smtClean="0"/>
              <a:t>第一步：E-R图转换成数据模型</a:t>
            </a:r>
            <a:endParaRPr lang="en-US" altLang="zh-CN" smtClean="0"/>
          </a:p>
        </p:txBody>
      </p:sp>
      <p:sp>
        <p:nvSpPr>
          <p:cNvPr id="120934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79388" y="1490117"/>
            <a:ext cx="8713787" cy="11525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2800" dirty="0" smtClean="0"/>
              <a:t>一个</a:t>
            </a:r>
            <a:r>
              <a:rPr lang="en-US" altLang="zh-CN" sz="2800" dirty="0" smtClean="0"/>
              <a:t>m:n</a:t>
            </a:r>
            <a:r>
              <a:rPr lang="zh-CN" altLang="en-US" sz="2800" dirty="0" smtClean="0"/>
              <a:t>联系转换成一个关系模式，属性包括联系两端的实体的主码以及联系本身的属性，主码为联系两端的实体的主码的组合。</a:t>
            </a:r>
          </a:p>
        </p:txBody>
      </p:sp>
      <p:sp>
        <p:nvSpPr>
          <p:cNvPr id="26629" name="Rectangle 5"/>
          <p:cNvSpPr>
            <a:spLocks noChangeArrowheads="1"/>
          </p:cNvSpPr>
          <p:nvPr/>
        </p:nvSpPr>
        <p:spPr bwMode="auto">
          <a:xfrm flipH="1">
            <a:off x="1676400" y="3560217"/>
            <a:ext cx="766763" cy="395287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</a:pPr>
            <a:r>
              <a:rPr lang="zh-CN" altLang="en-US" sz="2400">
                <a:effectLst/>
                <a:latin typeface="Times New Roman" pitchFamily="18" charset="0"/>
              </a:rPr>
              <a:t>课程</a:t>
            </a:r>
          </a:p>
        </p:txBody>
      </p:sp>
      <p:sp>
        <p:nvSpPr>
          <p:cNvPr id="26630" name="AutoShape 6"/>
          <p:cNvSpPr>
            <a:spLocks noChangeArrowheads="1"/>
          </p:cNvSpPr>
          <p:nvPr/>
        </p:nvSpPr>
        <p:spPr bwMode="auto">
          <a:xfrm flipH="1">
            <a:off x="323850" y="4480967"/>
            <a:ext cx="995363" cy="393700"/>
          </a:xfrm>
          <a:prstGeom prst="roundRect">
            <a:avLst>
              <a:gd name="adj" fmla="val 50000"/>
            </a:avLst>
          </a:prstGeom>
          <a:solidFill>
            <a:srgbClr val="6600FF"/>
          </a:solidFill>
          <a:ln w="12700" cap="sq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</a:pPr>
            <a:r>
              <a:rPr lang="zh-CN" altLang="en-US" sz="2400" u="sng" dirty="0">
                <a:effectLst/>
                <a:latin typeface="Times New Roman" pitchFamily="18" charset="0"/>
              </a:rPr>
              <a:t>课程号</a:t>
            </a:r>
          </a:p>
        </p:txBody>
      </p:sp>
      <p:sp>
        <p:nvSpPr>
          <p:cNvPr id="26631" name="AutoShape 7"/>
          <p:cNvSpPr>
            <a:spLocks noChangeArrowheads="1"/>
          </p:cNvSpPr>
          <p:nvPr/>
        </p:nvSpPr>
        <p:spPr bwMode="auto">
          <a:xfrm flipH="1">
            <a:off x="1547813" y="4480967"/>
            <a:ext cx="938212" cy="3937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</a:pPr>
            <a:r>
              <a:rPr lang="zh-CN" altLang="en-US" sz="2400">
                <a:effectLst/>
                <a:latin typeface="Times New Roman" pitchFamily="18" charset="0"/>
              </a:rPr>
              <a:t>课程名</a:t>
            </a:r>
          </a:p>
        </p:txBody>
      </p:sp>
      <p:sp>
        <p:nvSpPr>
          <p:cNvPr id="26632" name="AutoShape 8"/>
          <p:cNvSpPr>
            <a:spLocks noChangeArrowheads="1"/>
          </p:cNvSpPr>
          <p:nvPr/>
        </p:nvSpPr>
        <p:spPr bwMode="auto">
          <a:xfrm flipH="1">
            <a:off x="2655888" y="4480967"/>
            <a:ext cx="766762" cy="3937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</a:pPr>
            <a:r>
              <a:rPr lang="zh-CN" altLang="en-US" sz="2400">
                <a:effectLst/>
                <a:latin typeface="Times New Roman" pitchFamily="18" charset="0"/>
              </a:rPr>
              <a:t>学分</a:t>
            </a:r>
          </a:p>
        </p:txBody>
      </p:sp>
      <p:cxnSp>
        <p:nvCxnSpPr>
          <p:cNvPr id="26633" name="AutoShape 9"/>
          <p:cNvCxnSpPr>
            <a:cxnSpLocks noChangeShapeType="1"/>
            <a:stCxn id="26630" idx="0"/>
            <a:endCxn id="26629" idx="2"/>
          </p:cNvCxnSpPr>
          <p:nvPr/>
        </p:nvCxnSpPr>
        <p:spPr bwMode="auto">
          <a:xfrm flipV="1">
            <a:off x="822325" y="3955504"/>
            <a:ext cx="1238250" cy="525463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4" name="AutoShape 10"/>
          <p:cNvCxnSpPr>
            <a:cxnSpLocks noChangeShapeType="1"/>
            <a:stCxn id="26631" idx="0"/>
            <a:endCxn id="26629" idx="2"/>
          </p:cNvCxnSpPr>
          <p:nvPr/>
        </p:nvCxnSpPr>
        <p:spPr bwMode="auto">
          <a:xfrm flipV="1">
            <a:off x="2017713" y="3955504"/>
            <a:ext cx="42862" cy="525463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5" name="AutoShape 11"/>
          <p:cNvCxnSpPr>
            <a:cxnSpLocks noChangeShapeType="1"/>
            <a:stCxn id="26632" idx="0"/>
            <a:endCxn id="26629" idx="2"/>
          </p:cNvCxnSpPr>
          <p:nvPr/>
        </p:nvCxnSpPr>
        <p:spPr bwMode="auto">
          <a:xfrm flipH="1" flipV="1">
            <a:off x="2058988" y="3952329"/>
            <a:ext cx="979487" cy="528638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36" name="Rectangle 12"/>
          <p:cNvSpPr>
            <a:spLocks noChangeArrowheads="1"/>
          </p:cNvSpPr>
          <p:nvPr/>
        </p:nvSpPr>
        <p:spPr bwMode="auto">
          <a:xfrm>
            <a:off x="6702425" y="3560217"/>
            <a:ext cx="850900" cy="395287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</a:pPr>
            <a:r>
              <a:rPr lang="zh-CN" altLang="en-US" sz="2400">
                <a:effectLst/>
                <a:latin typeface="Times New Roman" pitchFamily="18" charset="0"/>
              </a:rPr>
              <a:t>学生</a:t>
            </a:r>
          </a:p>
        </p:txBody>
      </p:sp>
      <p:sp>
        <p:nvSpPr>
          <p:cNvPr id="26637" name="AutoShape 13"/>
          <p:cNvSpPr>
            <a:spLocks noChangeArrowheads="1"/>
          </p:cNvSpPr>
          <p:nvPr/>
        </p:nvSpPr>
        <p:spPr bwMode="auto">
          <a:xfrm>
            <a:off x="5743575" y="4439692"/>
            <a:ext cx="684213" cy="434975"/>
          </a:xfrm>
          <a:prstGeom prst="roundRect">
            <a:avLst>
              <a:gd name="adj" fmla="val 50000"/>
            </a:avLst>
          </a:prstGeom>
          <a:solidFill>
            <a:srgbClr val="6600FF"/>
          </a:solidFill>
          <a:ln w="12700" cap="sq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</a:pPr>
            <a:r>
              <a:rPr lang="zh-CN" altLang="en-US" sz="2400" u="sng">
                <a:effectLst/>
                <a:latin typeface="Times New Roman" pitchFamily="18" charset="0"/>
              </a:rPr>
              <a:t>学号</a:t>
            </a:r>
          </a:p>
        </p:txBody>
      </p:sp>
      <p:sp>
        <p:nvSpPr>
          <p:cNvPr id="26638" name="AutoShape 14"/>
          <p:cNvSpPr>
            <a:spLocks noChangeArrowheads="1"/>
          </p:cNvSpPr>
          <p:nvPr/>
        </p:nvSpPr>
        <p:spPr bwMode="auto">
          <a:xfrm>
            <a:off x="6496050" y="4439692"/>
            <a:ext cx="684213" cy="43497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</a:pPr>
            <a:r>
              <a:rPr lang="zh-CN" altLang="en-US" sz="2400">
                <a:effectLst/>
                <a:latin typeface="Times New Roman" pitchFamily="18" charset="0"/>
              </a:rPr>
              <a:t>姓名</a:t>
            </a:r>
          </a:p>
        </p:txBody>
      </p:sp>
      <p:sp>
        <p:nvSpPr>
          <p:cNvPr id="26639" name="AutoShape 15"/>
          <p:cNvSpPr>
            <a:spLocks noChangeArrowheads="1"/>
          </p:cNvSpPr>
          <p:nvPr/>
        </p:nvSpPr>
        <p:spPr bwMode="auto">
          <a:xfrm>
            <a:off x="7993063" y="4439692"/>
            <a:ext cx="682625" cy="43497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</a:pPr>
            <a:r>
              <a:rPr lang="zh-CN" altLang="en-US" sz="2400">
                <a:effectLst/>
                <a:latin typeface="Times New Roman" pitchFamily="18" charset="0"/>
              </a:rPr>
              <a:t>性别</a:t>
            </a:r>
          </a:p>
        </p:txBody>
      </p:sp>
      <p:sp>
        <p:nvSpPr>
          <p:cNvPr id="26640" name="AutoShape 16"/>
          <p:cNvSpPr>
            <a:spLocks noChangeArrowheads="1"/>
          </p:cNvSpPr>
          <p:nvPr/>
        </p:nvSpPr>
        <p:spPr bwMode="auto">
          <a:xfrm>
            <a:off x="7248525" y="4439692"/>
            <a:ext cx="684213" cy="43497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</a:pPr>
            <a:r>
              <a:rPr lang="zh-CN" altLang="en-US" sz="2400">
                <a:effectLst/>
                <a:latin typeface="Times New Roman" pitchFamily="18" charset="0"/>
              </a:rPr>
              <a:t>年龄</a:t>
            </a:r>
          </a:p>
        </p:txBody>
      </p:sp>
      <p:cxnSp>
        <p:nvCxnSpPr>
          <p:cNvPr id="26641" name="AutoShape 17"/>
          <p:cNvCxnSpPr>
            <a:cxnSpLocks noChangeShapeType="1"/>
            <a:stCxn id="26636" idx="2"/>
            <a:endCxn id="26637" idx="0"/>
          </p:cNvCxnSpPr>
          <p:nvPr/>
        </p:nvCxnSpPr>
        <p:spPr bwMode="auto">
          <a:xfrm flipH="1">
            <a:off x="6086475" y="3955504"/>
            <a:ext cx="1041400" cy="484188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42" name="AutoShape 18"/>
          <p:cNvCxnSpPr>
            <a:cxnSpLocks noChangeShapeType="1"/>
            <a:stCxn id="26636" idx="2"/>
            <a:endCxn id="26638" idx="0"/>
          </p:cNvCxnSpPr>
          <p:nvPr/>
        </p:nvCxnSpPr>
        <p:spPr bwMode="auto">
          <a:xfrm flipH="1">
            <a:off x="6838950" y="3955504"/>
            <a:ext cx="288925" cy="484188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43" name="AutoShape 19"/>
          <p:cNvCxnSpPr>
            <a:cxnSpLocks noChangeShapeType="1"/>
            <a:stCxn id="26636" idx="2"/>
            <a:endCxn id="26640" idx="0"/>
          </p:cNvCxnSpPr>
          <p:nvPr/>
        </p:nvCxnSpPr>
        <p:spPr bwMode="auto">
          <a:xfrm>
            <a:off x="7127875" y="3955504"/>
            <a:ext cx="463550" cy="484188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44" name="AutoShape 20"/>
          <p:cNvCxnSpPr>
            <a:cxnSpLocks noChangeShapeType="1"/>
            <a:stCxn id="26636" idx="2"/>
            <a:endCxn id="26639" idx="0"/>
          </p:cNvCxnSpPr>
          <p:nvPr/>
        </p:nvCxnSpPr>
        <p:spPr bwMode="auto">
          <a:xfrm>
            <a:off x="7127875" y="3955504"/>
            <a:ext cx="1206500" cy="484188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45" name="AutoShape 21"/>
          <p:cNvSpPr>
            <a:spLocks noChangeArrowheads="1"/>
          </p:cNvSpPr>
          <p:nvPr/>
        </p:nvSpPr>
        <p:spPr bwMode="auto">
          <a:xfrm>
            <a:off x="3805238" y="3363367"/>
            <a:ext cx="1363662" cy="788987"/>
          </a:xfrm>
          <a:prstGeom prst="diamond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</a:pPr>
            <a:r>
              <a:rPr lang="zh-CN" altLang="en-US" sz="2400">
                <a:effectLst/>
                <a:latin typeface="Times New Roman" pitchFamily="18" charset="0"/>
              </a:rPr>
              <a:t>选修</a:t>
            </a:r>
          </a:p>
        </p:txBody>
      </p:sp>
      <p:cxnSp>
        <p:nvCxnSpPr>
          <p:cNvPr id="26646" name="AutoShape 22"/>
          <p:cNvCxnSpPr>
            <a:cxnSpLocks noChangeShapeType="1"/>
            <a:stCxn id="26629" idx="1"/>
            <a:endCxn id="26645" idx="1"/>
          </p:cNvCxnSpPr>
          <p:nvPr/>
        </p:nvCxnSpPr>
        <p:spPr bwMode="auto">
          <a:xfrm>
            <a:off x="2443163" y="3755479"/>
            <a:ext cx="1362075" cy="1588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47" name="AutoShape 23"/>
          <p:cNvCxnSpPr>
            <a:cxnSpLocks noChangeShapeType="1"/>
            <a:stCxn id="26645" idx="3"/>
            <a:endCxn id="26636" idx="1"/>
          </p:cNvCxnSpPr>
          <p:nvPr/>
        </p:nvCxnSpPr>
        <p:spPr bwMode="auto">
          <a:xfrm>
            <a:off x="5168900" y="3757067"/>
            <a:ext cx="1533525" cy="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48" name="Rectangle 24"/>
          <p:cNvSpPr>
            <a:spLocks noChangeArrowheads="1"/>
          </p:cNvSpPr>
          <p:nvPr/>
        </p:nvSpPr>
        <p:spPr bwMode="auto">
          <a:xfrm>
            <a:off x="2782888" y="3363367"/>
            <a:ext cx="852487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</a:pPr>
            <a:r>
              <a:rPr lang="en-US" altLang="zh-CN" sz="2400">
                <a:effectLst/>
                <a:latin typeface="Times New Roman" pitchFamily="18" charset="0"/>
              </a:rPr>
              <a:t>m</a:t>
            </a:r>
          </a:p>
        </p:txBody>
      </p:sp>
      <p:sp>
        <p:nvSpPr>
          <p:cNvPr id="26649" name="Rectangle 25"/>
          <p:cNvSpPr>
            <a:spLocks noChangeArrowheads="1"/>
          </p:cNvSpPr>
          <p:nvPr/>
        </p:nvSpPr>
        <p:spPr bwMode="auto">
          <a:xfrm>
            <a:off x="5510213" y="3363367"/>
            <a:ext cx="850900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</a:pPr>
            <a:r>
              <a:rPr lang="en-US" altLang="zh-CN" sz="2400">
                <a:effectLst/>
                <a:latin typeface="Times New Roman" pitchFamily="18" charset="0"/>
              </a:rPr>
              <a:t>n</a:t>
            </a:r>
          </a:p>
        </p:txBody>
      </p:sp>
      <p:sp>
        <p:nvSpPr>
          <p:cNvPr id="26650" name="AutoShape 26"/>
          <p:cNvSpPr>
            <a:spLocks noChangeArrowheads="1"/>
          </p:cNvSpPr>
          <p:nvPr/>
        </p:nvSpPr>
        <p:spPr bwMode="auto">
          <a:xfrm flipH="1">
            <a:off x="4103688" y="4480967"/>
            <a:ext cx="766762" cy="3937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</a:pPr>
            <a:r>
              <a:rPr lang="zh-CN" altLang="en-US" sz="2400">
                <a:effectLst/>
                <a:latin typeface="Times New Roman" pitchFamily="18" charset="0"/>
              </a:rPr>
              <a:t>成绩</a:t>
            </a:r>
          </a:p>
        </p:txBody>
      </p:sp>
      <p:cxnSp>
        <p:nvCxnSpPr>
          <p:cNvPr id="26651" name="AutoShape 27"/>
          <p:cNvCxnSpPr>
            <a:cxnSpLocks noChangeShapeType="1"/>
            <a:stCxn id="26645" idx="2"/>
            <a:endCxn id="26650" idx="0"/>
          </p:cNvCxnSpPr>
          <p:nvPr/>
        </p:nvCxnSpPr>
        <p:spPr bwMode="auto">
          <a:xfrm>
            <a:off x="4487863" y="4152354"/>
            <a:ext cx="0" cy="328613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09372" name="Rectangle 28"/>
          <p:cNvSpPr>
            <a:spLocks noChangeArrowheads="1"/>
          </p:cNvSpPr>
          <p:nvPr/>
        </p:nvSpPr>
        <p:spPr bwMode="auto">
          <a:xfrm>
            <a:off x="2051050" y="5738267"/>
            <a:ext cx="4419600" cy="427037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800">
                <a:solidFill>
                  <a:srgbClr val="00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选修(</a:t>
            </a:r>
            <a:r>
              <a:rPr lang="zh-CN" altLang="en-US" sz="2800" u="sng">
                <a:solidFill>
                  <a:srgbClr val="00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学号，课程号</a:t>
            </a:r>
            <a:r>
              <a:rPr lang="zh-CN" altLang="en-US" sz="2800">
                <a:solidFill>
                  <a:srgbClr val="00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，成绩)</a:t>
            </a:r>
          </a:p>
        </p:txBody>
      </p:sp>
      <p:sp>
        <p:nvSpPr>
          <p:cNvPr id="31" name="Text Box 2"/>
          <p:cNvSpPr txBox="1">
            <a:spLocks noChangeArrowheads="1"/>
          </p:cNvSpPr>
          <p:nvPr/>
        </p:nvSpPr>
        <p:spPr bwMode="auto">
          <a:xfrm>
            <a:off x="179388" y="-33338"/>
            <a:ext cx="3223172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defTabSz="914400" eaLnBrk="1" latinLnBrk="0" hangingPunct="1">
              <a:spcBef>
                <a:spcPts val="0"/>
              </a:spcBef>
              <a:buNone/>
              <a:defRPr sz="4000" b="1" baseline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  <a:cs typeface="+mj-cs"/>
              </a:defRPr>
            </a:lvl1pPr>
          </a:lstStyle>
          <a:p>
            <a:r>
              <a:rPr lang="zh-CN" altLang="en-US" dirty="0" smtClean="0"/>
              <a:t>逻辑</a:t>
            </a:r>
            <a:r>
              <a:rPr lang="zh-CN" altLang="en-US" dirty="0"/>
              <a:t>结构</a:t>
            </a:r>
            <a:r>
              <a:rPr lang="zh-CN" altLang="en-US" dirty="0" smtClean="0"/>
              <a:t>设计</a:t>
            </a:r>
            <a:endParaRPr lang="zh-CN" altLang="en-US" dirty="0"/>
          </a:p>
        </p:txBody>
      </p:sp>
    </p:spTree>
  </p:cSld>
  <p:clrMapOvr>
    <a:masterClrMapping/>
  </p:clrMapOvr>
  <p:transition spd="med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650" name="AutoShape 2"/>
          <p:cNvCxnSpPr>
            <a:cxnSpLocks noChangeShapeType="1"/>
            <a:stCxn id="1210379" idx="2"/>
            <a:endCxn id="1210377" idx="0"/>
          </p:cNvCxnSpPr>
          <p:nvPr/>
        </p:nvCxnSpPr>
        <p:spPr bwMode="auto">
          <a:xfrm>
            <a:off x="4173538" y="3505919"/>
            <a:ext cx="100012" cy="21590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10371" name="Line 3"/>
          <p:cNvSpPr>
            <a:spLocks noChangeShapeType="1"/>
          </p:cNvSpPr>
          <p:nvPr/>
        </p:nvSpPr>
        <p:spPr bwMode="auto">
          <a:xfrm>
            <a:off x="3348038" y="3650381"/>
            <a:ext cx="431800" cy="2159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210372" name="Line 4"/>
          <p:cNvSpPr>
            <a:spLocks noChangeShapeType="1"/>
          </p:cNvSpPr>
          <p:nvPr/>
        </p:nvSpPr>
        <p:spPr bwMode="auto">
          <a:xfrm flipV="1">
            <a:off x="4787900" y="3721819"/>
            <a:ext cx="215900" cy="144462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title"/>
          </p:nvPr>
        </p:nvSpPr>
        <p:spPr>
          <a:xfrm>
            <a:off x="153988" y="842094"/>
            <a:ext cx="8964612" cy="566737"/>
          </a:xfrm>
        </p:spPr>
        <p:txBody>
          <a:bodyPr wrap="square"/>
          <a:lstStyle/>
          <a:p>
            <a:pPr eaLnBrk="1" hangingPunct="1">
              <a:buFont typeface="Wingdings" pitchFamily="2" charset="2"/>
              <a:buNone/>
            </a:pPr>
            <a:r>
              <a:rPr lang="zh-CN" altLang="zh-CN" dirty="0" smtClean="0"/>
              <a:t>第一步：E-R图转换成数据模型</a:t>
            </a:r>
            <a:endParaRPr lang="en-US" altLang="zh-CN" dirty="0" smtClean="0"/>
          </a:p>
        </p:txBody>
      </p:sp>
      <p:sp>
        <p:nvSpPr>
          <p:cNvPr id="121037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79388" y="1477094"/>
            <a:ext cx="8713787" cy="11525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2800" dirty="0" smtClean="0"/>
              <a:t>三个或三个以上实体间的一个多元联系在转换为一个关系模式时，属性包括与该多元联系相连的各实体的主码及联系本身的属性，主码为各实体主码的组合。</a:t>
            </a:r>
          </a:p>
        </p:txBody>
      </p:sp>
      <p:sp>
        <p:nvSpPr>
          <p:cNvPr id="1210376" name="Rectangle 8"/>
          <p:cNvSpPr>
            <a:spLocks noChangeArrowheads="1"/>
          </p:cNvSpPr>
          <p:nvPr/>
        </p:nvSpPr>
        <p:spPr bwMode="auto">
          <a:xfrm>
            <a:off x="1835150" y="6098306"/>
            <a:ext cx="6096000" cy="427038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800">
                <a:solidFill>
                  <a:srgbClr val="00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讲授(</a:t>
            </a:r>
            <a:r>
              <a:rPr lang="zh-CN" altLang="en-US" sz="2800" u="sng">
                <a:solidFill>
                  <a:srgbClr val="00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课程号，教工号，书号</a:t>
            </a:r>
            <a:r>
              <a:rPr lang="zh-CN" altLang="en-US" sz="2800">
                <a:solidFill>
                  <a:srgbClr val="00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，课时)</a:t>
            </a:r>
          </a:p>
        </p:txBody>
      </p:sp>
      <p:sp>
        <p:nvSpPr>
          <p:cNvPr id="1210377" name="Rectangle 9"/>
          <p:cNvSpPr>
            <a:spLocks noChangeArrowheads="1"/>
          </p:cNvSpPr>
          <p:nvPr/>
        </p:nvSpPr>
        <p:spPr bwMode="auto">
          <a:xfrm>
            <a:off x="3779838" y="3721819"/>
            <a:ext cx="987425" cy="385762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课程</a:t>
            </a:r>
          </a:p>
        </p:txBody>
      </p:sp>
      <p:sp>
        <p:nvSpPr>
          <p:cNvPr id="1210378" name="AutoShape 10"/>
          <p:cNvSpPr>
            <a:spLocks noChangeArrowheads="1"/>
          </p:cNvSpPr>
          <p:nvPr/>
        </p:nvSpPr>
        <p:spPr bwMode="auto">
          <a:xfrm>
            <a:off x="2411413" y="3218581"/>
            <a:ext cx="1076325" cy="431800"/>
          </a:xfrm>
          <a:prstGeom prst="roundRect">
            <a:avLst>
              <a:gd name="adj" fmla="val 50000"/>
            </a:avLst>
          </a:prstGeom>
          <a:solidFill>
            <a:srgbClr val="6600FF"/>
          </a:solidFill>
          <a:ln w="12700" cap="sq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 u="sng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课程号</a:t>
            </a:r>
          </a:p>
        </p:txBody>
      </p:sp>
      <p:sp>
        <p:nvSpPr>
          <p:cNvPr id="1210379" name="AutoShape 11"/>
          <p:cNvSpPr>
            <a:spLocks noChangeArrowheads="1"/>
          </p:cNvSpPr>
          <p:nvPr/>
        </p:nvSpPr>
        <p:spPr bwMode="auto">
          <a:xfrm>
            <a:off x="3635375" y="3074119"/>
            <a:ext cx="1076325" cy="4318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课程名</a:t>
            </a:r>
          </a:p>
        </p:txBody>
      </p:sp>
      <p:sp>
        <p:nvSpPr>
          <p:cNvPr id="1210380" name="AutoShape 12"/>
          <p:cNvSpPr>
            <a:spLocks noChangeArrowheads="1"/>
          </p:cNvSpPr>
          <p:nvPr/>
        </p:nvSpPr>
        <p:spPr bwMode="auto">
          <a:xfrm>
            <a:off x="4932363" y="3363044"/>
            <a:ext cx="968375" cy="4318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学分</a:t>
            </a:r>
          </a:p>
        </p:txBody>
      </p:sp>
      <p:sp>
        <p:nvSpPr>
          <p:cNvPr id="1210381" name="Rectangle 13"/>
          <p:cNvSpPr>
            <a:spLocks noChangeArrowheads="1"/>
          </p:cNvSpPr>
          <p:nvPr/>
        </p:nvSpPr>
        <p:spPr bwMode="auto">
          <a:xfrm>
            <a:off x="1536700" y="4479056"/>
            <a:ext cx="684213" cy="466725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教师</a:t>
            </a:r>
          </a:p>
        </p:txBody>
      </p:sp>
      <p:sp>
        <p:nvSpPr>
          <p:cNvPr id="1210382" name="AutoShape 14"/>
          <p:cNvSpPr>
            <a:spLocks noChangeArrowheads="1"/>
          </p:cNvSpPr>
          <p:nvPr/>
        </p:nvSpPr>
        <p:spPr bwMode="auto">
          <a:xfrm>
            <a:off x="250825" y="5374406"/>
            <a:ext cx="904875" cy="436563"/>
          </a:xfrm>
          <a:prstGeom prst="roundRect">
            <a:avLst>
              <a:gd name="adj" fmla="val 50000"/>
            </a:avLst>
          </a:prstGeom>
          <a:solidFill>
            <a:srgbClr val="6600FF"/>
          </a:solidFill>
          <a:ln w="12700" cap="sq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 u="sng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教工号</a:t>
            </a:r>
          </a:p>
        </p:txBody>
      </p:sp>
      <p:sp>
        <p:nvSpPr>
          <p:cNvPr id="1210383" name="AutoShape 15"/>
          <p:cNvSpPr>
            <a:spLocks noChangeArrowheads="1"/>
          </p:cNvSpPr>
          <p:nvPr/>
        </p:nvSpPr>
        <p:spPr bwMode="auto">
          <a:xfrm>
            <a:off x="1231900" y="5374406"/>
            <a:ext cx="684213" cy="43656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姓名</a:t>
            </a:r>
          </a:p>
        </p:txBody>
      </p:sp>
      <p:sp>
        <p:nvSpPr>
          <p:cNvPr id="1210384" name="AutoShape 16"/>
          <p:cNvSpPr>
            <a:spLocks noChangeArrowheads="1"/>
          </p:cNvSpPr>
          <p:nvPr/>
        </p:nvSpPr>
        <p:spPr bwMode="auto">
          <a:xfrm>
            <a:off x="1993900" y="5374406"/>
            <a:ext cx="684213" cy="43656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性别</a:t>
            </a:r>
          </a:p>
        </p:txBody>
      </p:sp>
      <p:sp>
        <p:nvSpPr>
          <p:cNvPr id="1210385" name="AutoShape 17"/>
          <p:cNvSpPr>
            <a:spLocks noChangeArrowheads="1"/>
          </p:cNvSpPr>
          <p:nvPr/>
        </p:nvSpPr>
        <p:spPr bwMode="auto">
          <a:xfrm>
            <a:off x="2752725" y="5374406"/>
            <a:ext cx="685800" cy="43656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职称</a:t>
            </a:r>
          </a:p>
        </p:txBody>
      </p:sp>
      <p:sp>
        <p:nvSpPr>
          <p:cNvPr id="1210386" name="Rectangle 18"/>
          <p:cNvSpPr>
            <a:spLocks noChangeArrowheads="1"/>
          </p:cNvSpPr>
          <p:nvPr/>
        </p:nvSpPr>
        <p:spPr bwMode="auto">
          <a:xfrm>
            <a:off x="6632575" y="4479056"/>
            <a:ext cx="1065213" cy="466725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参考书</a:t>
            </a:r>
          </a:p>
        </p:txBody>
      </p:sp>
      <p:sp>
        <p:nvSpPr>
          <p:cNvPr id="1210387" name="AutoShape 19"/>
          <p:cNvSpPr>
            <a:spLocks noChangeArrowheads="1"/>
          </p:cNvSpPr>
          <p:nvPr/>
        </p:nvSpPr>
        <p:spPr bwMode="auto">
          <a:xfrm>
            <a:off x="5643563" y="5402981"/>
            <a:ext cx="609600" cy="425450"/>
          </a:xfrm>
          <a:prstGeom prst="roundRect">
            <a:avLst>
              <a:gd name="adj" fmla="val 50000"/>
            </a:avLst>
          </a:prstGeom>
          <a:solidFill>
            <a:srgbClr val="6600FF"/>
          </a:solidFill>
          <a:ln w="12700" cap="sq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 u="sng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书号</a:t>
            </a:r>
          </a:p>
        </p:txBody>
      </p:sp>
      <p:sp>
        <p:nvSpPr>
          <p:cNvPr id="1210388" name="AutoShape 20"/>
          <p:cNvSpPr>
            <a:spLocks noChangeArrowheads="1"/>
          </p:cNvSpPr>
          <p:nvPr/>
        </p:nvSpPr>
        <p:spPr bwMode="auto">
          <a:xfrm>
            <a:off x="6327775" y="5375994"/>
            <a:ext cx="685800" cy="43656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书名</a:t>
            </a:r>
          </a:p>
        </p:txBody>
      </p:sp>
      <p:sp>
        <p:nvSpPr>
          <p:cNvPr id="1210389" name="AutoShape 21"/>
          <p:cNvSpPr>
            <a:spLocks noChangeArrowheads="1"/>
          </p:cNvSpPr>
          <p:nvPr/>
        </p:nvSpPr>
        <p:spPr bwMode="auto">
          <a:xfrm>
            <a:off x="7091363" y="5375994"/>
            <a:ext cx="936625" cy="43656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出版社</a:t>
            </a:r>
          </a:p>
        </p:txBody>
      </p:sp>
      <p:sp>
        <p:nvSpPr>
          <p:cNvPr id="1210390" name="AutoShape 22"/>
          <p:cNvSpPr>
            <a:spLocks noChangeArrowheads="1"/>
          </p:cNvSpPr>
          <p:nvPr/>
        </p:nvSpPr>
        <p:spPr bwMode="auto">
          <a:xfrm>
            <a:off x="8101013" y="5375994"/>
            <a:ext cx="684212" cy="43656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主编</a:t>
            </a:r>
          </a:p>
        </p:txBody>
      </p:sp>
      <p:cxnSp>
        <p:nvCxnSpPr>
          <p:cNvPr id="27671" name="AutoShape 23"/>
          <p:cNvCxnSpPr>
            <a:cxnSpLocks noChangeShapeType="1"/>
            <a:stCxn id="1210381" idx="2"/>
            <a:endCxn id="1210382" idx="0"/>
          </p:cNvCxnSpPr>
          <p:nvPr/>
        </p:nvCxnSpPr>
        <p:spPr bwMode="auto">
          <a:xfrm flipH="1">
            <a:off x="703263" y="4945781"/>
            <a:ext cx="1176337" cy="428625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72" name="AutoShape 24"/>
          <p:cNvCxnSpPr>
            <a:cxnSpLocks noChangeShapeType="1"/>
            <a:stCxn id="1210381" idx="2"/>
            <a:endCxn id="1210383" idx="0"/>
          </p:cNvCxnSpPr>
          <p:nvPr/>
        </p:nvCxnSpPr>
        <p:spPr bwMode="auto">
          <a:xfrm flipH="1">
            <a:off x="1574800" y="4945781"/>
            <a:ext cx="304800" cy="428625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73" name="AutoShape 25"/>
          <p:cNvCxnSpPr>
            <a:cxnSpLocks noChangeShapeType="1"/>
            <a:stCxn id="1210381" idx="2"/>
            <a:endCxn id="1210384" idx="0"/>
          </p:cNvCxnSpPr>
          <p:nvPr/>
        </p:nvCxnSpPr>
        <p:spPr bwMode="auto">
          <a:xfrm>
            <a:off x="1879600" y="4945781"/>
            <a:ext cx="457200" cy="428625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74" name="AutoShape 26"/>
          <p:cNvCxnSpPr>
            <a:cxnSpLocks noChangeShapeType="1"/>
            <a:stCxn id="1210381" idx="2"/>
            <a:endCxn id="1210385" idx="0"/>
          </p:cNvCxnSpPr>
          <p:nvPr/>
        </p:nvCxnSpPr>
        <p:spPr bwMode="auto">
          <a:xfrm>
            <a:off x="1879600" y="4945781"/>
            <a:ext cx="1216025" cy="428625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75" name="AutoShape 27"/>
          <p:cNvCxnSpPr>
            <a:cxnSpLocks noChangeShapeType="1"/>
            <a:stCxn id="1210386" idx="2"/>
            <a:endCxn id="1210387" idx="0"/>
          </p:cNvCxnSpPr>
          <p:nvPr/>
        </p:nvCxnSpPr>
        <p:spPr bwMode="auto">
          <a:xfrm flipH="1">
            <a:off x="5948363" y="4945781"/>
            <a:ext cx="1217612" cy="457200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76" name="AutoShape 28"/>
          <p:cNvCxnSpPr>
            <a:cxnSpLocks noChangeShapeType="1"/>
            <a:stCxn id="1210386" idx="2"/>
            <a:endCxn id="1210388" idx="0"/>
          </p:cNvCxnSpPr>
          <p:nvPr/>
        </p:nvCxnSpPr>
        <p:spPr bwMode="auto">
          <a:xfrm flipH="1">
            <a:off x="6670675" y="4945781"/>
            <a:ext cx="495300" cy="430213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77" name="AutoShape 29"/>
          <p:cNvCxnSpPr>
            <a:cxnSpLocks noChangeShapeType="1"/>
            <a:stCxn id="1210386" idx="2"/>
            <a:endCxn id="1210389" idx="0"/>
          </p:cNvCxnSpPr>
          <p:nvPr/>
        </p:nvCxnSpPr>
        <p:spPr bwMode="auto">
          <a:xfrm>
            <a:off x="7165975" y="4945781"/>
            <a:ext cx="393700" cy="430213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78" name="AutoShape 30"/>
          <p:cNvCxnSpPr>
            <a:cxnSpLocks noChangeShapeType="1"/>
            <a:stCxn id="1210386" idx="2"/>
            <a:endCxn id="1210390" idx="0"/>
          </p:cNvCxnSpPr>
          <p:nvPr/>
        </p:nvCxnSpPr>
        <p:spPr bwMode="auto">
          <a:xfrm>
            <a:off x="7165975" y="4945781"/>
            <a:ext cx="1277938" cy="430213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10399" name="AutoShape 31"/>
          <p:cNvSpPr>
            <a:spLocks noChangeArrowheads="1"/>
          </p:cNvSpPr>
          <p:nvPr/>
        </p:nvSpPr>
        <p:spPr bwMode="auto">
          <a:xfrm>
            <a:off x="3665538" y="4407619"/>
            <a:ext cx="1217612" cy="612775"/>
          </a:xfrm>
          <a:prstGeom prst="diamond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讲授</a:t>
            </a:r>
          </a:p>
        </p:txBody>
      </p:sp>
      <p:cxnSp>
        <p:nvCxnSpPr>
          <p:cNvPr id="27680" name="AutoShape 32"/>
          <p:cNvCxnSpPr>
            <a:cxnSpLocks noChangeShapeType="1"/>
            <a:stCxn id="1210377" idx="2"/>
            <a:endCxn id="1210399" idx="0"/>
          </p:cNvCxnSpPr>
          <p:nvPr/>
        </p:nvCxnSpPr>
        <p:spPr bwMode="auto">
          <a:xfrm>
            <a:off x="4273550" y="4107581"/>
            <a:ext cx="1588" cy="300038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81" name="AutoShape 33"/>
          <p:cNvCxnSpPr>
            <a:cxnSpLocks noChangeShapeType="1"/>
            <a:stCxn id="1210399" idx="1"/>
            <a:endCxn id="1210381" idx="3"/>
          </p:cNvCxnSpPr>
          <p:nvPr/>
        </p:nvCxnSpPr>
        <p:spPr bwMode="auto">
          <a:xfrm flipH="1" flipV="1">
            <a:off x="2220913" y="4712419"/>
            <a:ext cx="1444625" cy="1587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82" name="AutoShape 34"/>
          <p:cNvCxnSpPr>
            <a:cxnSpLocks noChangeShapeType="1"/>
            <a:stCxn id="1210399" idx="3"/>
            <a:endCxn id="1210386" idx="1"/>
          </p:cNvCxnSpPr>
          <p:nvPr/>
        </p:nvCxnSpPr>
        <p:spPr bwMode="auto">
          <a:xfrm flipV="1">
            <a:off x="4883150" y="4712419"/>
            <a:ext cx="1749425" cy="1587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10403" name="Rectangle 35"/>
          <p:cNvSpPr>
            <a:spLocks noChangeArrowheads="1"/>
          </p:cNvSpPr>
          <p:nvPr/>
        </p:nvSpPr>
        <p:spPr bwMode="auto">
          <a:xfrm>
            <a:off x="3975100" y="4044081"/>
            <a:ext cx="236538" cy="366713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m</a:t>
            </a:r>
            <a:endParaRPr lang="zh-CN" altLang="en-US" sz="2400"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1210404" name="Rectangle 36"/>
          <p:cNvSpPr>
            <a:spLocks noChangeArrowheads="1"/>
          </p:cNvSpPr>
          <p:nvPr/>
        </p:nvSpPr>
        <p:spPr bwMode="auto">
          <a:xfrm>
            <a:off x="2843213" y="4298081"/>
            <a:ext cx="152400" cy="365125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n</a:t>
            </a:r>
            <a:endParaRPr lang="zh-CN" altLang="en-US" sz="2400"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1210405" name="Rectangle 37"/>
          <p:cNvSpPr>
            <a:spLocks noChangeArrowheads="1"/>
          </p:cNvSpPr>
          <p:nvPr/>
        </p:nvSpPr>
        <p:spPr bwMode="auto">
          <a:xfrm>
            <a:off x="5940425" y="4298081"/>
            <a:ext cx="152400" cy="365125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p</a:t>
            </a:r>
            <a:endParaRPr lang="zh-CN" altLang="en-US" sz="2400"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1210406" name="AutoShape 38"/>
          <p:cNvSpPr>
            <a:spLocks noChangeArrowheads="1"/>
          </p:cNvSpPr>
          <p:nvPr/>
        </p:nvSpPr>
        <p:spPr bwMode="auto">
          <a:xfrm>
            <a:off x="3932238" y="5374406"/>
            <a:ext cx="684212" cy="43656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课时</a:t>
            </a:r>
          </a:p>
        </p:txBody>
      </p:sp>
      <p:cxnSp>
        <p:nvCxnSpPr>
          <p:cNvPr id="27687" name="AutoShape 39"/>
          <p:cNvCxnSpPr>
            <a:cxnSpLocks noChangeShapeType="1"/>
            <a:stCxn id="1210399" idx="2"/>
            <a:endCxn id="1210406" idx="0"/>
          </p:cNvCxnSpPr>
          <p:nvPr/>
        </p:nvCxnSpPr>
        <p:spPr bwMode="auto">
          <a:xfrm>
            <a:off x="4275138" y="5020394"/>
            <a:ext cx="0" cy="354012"/>
          </a:xfrm>
          <a:prstGeom prst="straightConnector1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" name="Text Box 2"/>
          <p:cNvSpPr txBox="1">
            <a:spLocks noChangeArrowheads="1"/>
          </p:cNvSpPr>
          <p:nvPr/>
        </p:nvSpPr>
        <p:spPr bwMode="auto">
          <a:xfrm>
            <a:off x="179388" y="-33338"/>
            <a:ext cx="3223172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defTabSz="914400" eaLnBrk="1" latinLnBrk="0" hangingPunct="1">
              <a:spcBef>
                <a:spcPts val="0"/>
              </a:spcBef>
              <a:buNone/>
              <a:defRPr sz="4000" b="1" baseline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  <a:cs typeface="+mj-cs"/>
              </a:defRPr>
            </a:lvl1pPr>
          </a:lstStyle>
          <a:p>
            <a:r>
              <a:rPr lang="zh-CN" altLang="en-US" dirty="0" smtClean="0"/>
              <a:t>逻辑</a:t>
            </a:r>
            <a:r>
              <a:rPr lang="zh-CN" altLang="en-US" dirty="0"/>
              <a:t>结构</a:t>
            </a:r>
            <a:r>
              <a:rPr lang="zh-CN" altLang="en-US" dirty="0" smtClean="0"/>
              <a:t>设计</a:t>
            </a:r>
            <a:endParaRPr lang="zh-CN" altLang="en-US" dirty="0"/>
          </a:p>
        </p:txBody>
      </p:sp>
    </p:spTree>
  </p:cSld>
  <p:clrMapOvr>
    <a:masterClrMapping/>
  </p:clrMapOvr>
  <p:transition spd="med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3"/>
          <p:cNvSpPr>
            <a:spLocks noGrp="1" noChangeArrowheads="1"/>
          </p:cNvSpPr>
          <p:nvPr>
            <p:ph type="title"/>
          </p:nvPr>
        </p:nvSpPr>
        <p:spPr>
          <a:xfrm>
            <a:off x="153988" y="802333"/>
            <a:ext cx="8964612" cy="566737"/>
          </a:xfrm>
        </p:spPr>
        <p:txBody>
          <a:bodyPr wrap="square"/>
          <a:lstStyle/>
          <a:p>
            <a:pPr eaLnBrk="1" hangingPunct="1">
              <a:buFont typeface="Wingdings" pitchFamily="2" charset="2"/>
              <a:buNone/>
            </a:pPr>
            <a:r>
              <a:rPr lang="zh-CN" altLang="zh-CN" dirty="0" smtClean="0"/>
              <a:t>第二步：数据模型的优化</a:t>
            </a:r>
            <a:endParaRPr lang="en-US" altLang="zh-CN" dirty="0" smtClean="0"/>
          </a:p>
        </p:txBody>
      </p:sp>
      <p:sp>
        <p:nvSpPr>
          <p:cNvPr id="121139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79388" y="1556395"/>
            <a:ext cx="8713787" cy="11525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2800" dirty="0" smtClean="0"/>
              <a:t>规范化处理 </a:t>
            </a:r>
            <a:r>
              <a:rPr lang="en-US" altLang="zh-CN" sz="2800" dirty="0" smtClean="0"/>
              <a:t>—— </a:t>
            </a:r>
            <a:r>
              <a:rPr lang="zh-CN" altLang="en-US" sz="2800" dirty="0" smtClean="0"/>
              <a:t>并非规范化程度越高越好！</a:t>
            </a:r>
            <a:endParaRPr lang="en-US" altLang="zh-CN" sz="2800" dirty="0" smtClean="0"/>
          </a:p>
          <a:p>
            <a:pPr eaLnBrk="1" hangingPunct="1">
              <a:defRPr/>
            </a:pPr>
            <a:r>
              <a:rPr lang="zh-CN" altLang="en-US" sz="2800" dirty="0" smtClean="0"/>
              <a:t>模式评价 </a:t>
            </a:r>
            <a:r>
              <a:rPr lang="en-US" altLang="zh-CN" sz="2800" dirty="0" smtClean="0"/>
              <a:t>—— </a:t>
            </a:r>
            <a:r>
              <a:rPr lang="zh-CN" altLang="en-US" sz="2800" dirty="0" smtClean="0"/>
              <a:t>功能、性能</a:t>
            </a:r>
            <a:endParaRPr lang="en-US" altLang="zh-CN" sz="2800" dirty="0" smtClean="0"/>
          </a:p>
          <a:p>
            <a:pPr eaLnBrk="1" hangingPunct="1">
              <a:defRPr/>
            </a:pPr>
            <a:r>
              <a:rPr lang="zh-CN" altLang="en-US" sz="2800" dirty="0" smtClean="0"/>
              <a:t>充分利用视图 </a:t>
            </a:r>
            <a:r>
              <a:rPr lang="en-US" altLang="zh-CN" sz="2800" dirty="0" smtClean="0"/>
              <a:t>—— </a:t>
            </a:r>
            <a:r>
              <a:rPr lang="zh-CN" altLang="en-US" sz="2800" dirty="0" smtClean="0"/>
              <a:t>外模式设计</a:t>
            </a:r>
          </a:p>
          <a:p>
            <a:pPr eaLnBrk="1" hangingPunct="1">
              <a:defRPr/>
            </a:pPr>
            <a:r>
              <a:rPr lang="zh-CN" altLang="en-US" sz="2800" dirty="0" smtClean="0"/>
              <a:t>快照技术等其它优化技术。</a:t>
            </a:r>
          </a:p>
        </p:txBody>
      </p:sp>
      <p:sp>
        <p:nvSpPr>
          <p:cNvPr id="28677" name="Rectangle 5"/>
          <p:cNvSpPr>
            <a:spLocks noChangeArrowheads="1"/>
          </p:cNvSpPr>
          <p:nvPr/>
        </p:nvSpPr>
        <p:spPr bwMode="auto">
          <a:xfrm>
            <a:off x="323850" y="4696544"/>
            <a:ext cx="7920038" cy="18288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00" tIns="72000" rIns="0" bIns="0"/>
          <a:lstStyle/>
          <a:p>
            <a:pPr>
              <a:spcAft>
                <a:spcPct val="0"/>
              </a:spcAft>
              <a:buSzTx/>
              <a:buFontTx/>
              <a:buChar char="•"/>
            </a:pPr>
            <a:r>
              <a:rPr lang="zh-CN" altLang="en-US" sz="2800" dirty="0">
                <a:solidFill>
                  <a:schemeClr val="folHlink"/>
                </a:solidFill>
                <a:effectLst/>
                <a:latin typeface="微软雅黑" pitchFamily="34" charset="-122"/>
                <a:ea typeface="微软雅黑" pitchFamily="34" charset="-122"/>
              </a:rPr>
              <a:t> 数据的正确与完整，符合客观实际；</a:t>
            </a:r>
          </a:p>
          <a:p>
            <a:pPr>
              <a:spcAft>
                <a:spcPct val="0"/>
              </a:spcAft>
              <a:buSzTx/>
              <a:buFontTx/>
              <a:buChar char="•"/>
            </a:pPr>
            <a:r>
              <a:rPr lang="zh-CN" altLang="en-US" sz="2800" dirty="0">
                <a:solidFill>
                  <a:schemeClr val="folHlink"/>
                </a:solidFill>
                <a:effectLst/>
                <a:latin typeface="微软雅黑" pitchFamily="34" charset="-122"/>
                <a:ea typeface="微软雅黑" pitchFamily="34" charset="-122"/>
              </a:rPr>
              <a:t> 尽可能小的数据冗余；</a:t>
            </a:r>
          </a:p>
          <a:p>
            <a:pPr>
              <a:spcAft>
                <a:spcPct val="0"/>
              </a:spcAft>
              <a:buSzTx/>
              <a:buFontTx/>
              <a:buChar char="•"/>
            </a:pPr>
            <a:r>
              <a:rPr lang="zh-CN" altLang="en-US" sz="2800" dirty="0">
                <a:solidFill>
                  <a:schemeClr val="folHlink"/>
                </a:solidFill>
                <a:effectLst/>
                <a:latin typeface="微软雅黑" pitchFamily="34" charset="-122"/>
                <a:ea typeface="微软雅黑" pitchFamily="34" charset="-122"/>
              </a:rPr>
              <a:t> 操作方便；</a:t>
            </a:r>
          </a:p>
          <a:p>
            <a:pPr>
              <a:spcAft>
                <a:spcPct val="0"/>
              </a:spcAft>
              <a:buSzTx/>
              <a:buFontTx/>
              <a:buChar char="•"/>
            </a:pPr>
            <a:r>
              <a:rPr lang="zh-CN" altLang="en-US" sz="2800" dirty="0">
                <a:solidFill>
                  <a:schemeClr val="folHlink"/>
                </a:solidFill>
                <a:effectLst/>
                <a:latin typeface="微软雅黑" pitchFamily="34" charset="-122"/>
                <a:ea typeface="微软雅黑" pitchFamily="34" charset="-122"/>
              </a:rPr>
              <a:t> 尽可能高的效率。</a:t>
            </a:r>
          </a:p>
        </p:txBody>
      </p:sp>
      <p:sp>
        <p:nvSpPr>
          <p:cNvPr id="1211398" name="Rectangle 6"/>
          <p:cNvSpPr>
            <a:spLocks noChangeArrowheads="1"/>
          </p:cNvSpPr>
          <p:nvPr/>
        </p:nvSpPr>
        <p:spPr bwMode="auto">
          <a:xfrm>
            <a:off x="611188" y="4191719"/>
            <a:ext cx="2844800" cy="427038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优化的主要原则：</a:t>
            </a:r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179388" y="-33338"/>
            <a:ext cx="3223172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defTabSz="914400" eaLnBrk="1" latinLnBrk="0" hangingPunct="1">
              <a:spcBef>
                <a:spcPts val="0"/>
              </a:spcBef>
              <a:buNone/>
              <a:defRPr sz="4000" b="1" baseline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  <a:cs typeface="+mj-cs"/>
              </a:defRPr>
            </a:lvl1pPr>
          </a:lstStyle>
          <a:p>
            <a:r>
              <a:rPr lang="zh-CN" altLang="en-US" dirty="0" smtClean="0"/>
              <a:t>逻辑</a:t>
            </a:r>
            <a:r>
              <a:rPr lang="zh-CN" altLang="en-US" dirty="0"/>
              <a:t>结构</a:t>
            </a:r>
            <a:r>
              <a:rPr lang="zh-CN" altLang="en-US" dirty="0" smtClean="0"/>
              <a:t>设计</a:t>
            </a:r>
            <a:endParaRPr lang="zh-CN" altLang="en-US" dirty="0"/>
          </a:p>
        </p:txBody>
      </p:sp>
    </p:spTree>
  </p:cSld>
  <p:clrMapOvr>
    <a:masterClrMapping/>
  </p:clrMapOvr>
  <p:transition spd="med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3"/>
          <p:cNvSpPr>
            <a:spLocks noGrp="1" noChangeArrowheads="1"/>
          </p:cNvSpPr>
          <p:nvPr>
            <p:ph type="title"/>
          </p:nvPr>
        </p:nvSpPr>
        <p:spPr>
          <a:xfrm>
            <a:off x="153988" y="836712"/>
            <a:ext cx="8964612" cy="566737"/>
          </a:xfrm>
        </p:spPr>
        <p:txBody>
          <a:bodyPr wrap="square"/>
          <a:lstStyle/>
          <a:p>
            <a:pPr eaLnBrk="1" hangingPunct="1">
              <a:buFont typeface="Wingdings" pitchFamily="2" charset="2"/>
              <a:buNone/>
            </a:pPr>
            <a:r>
              <a:rPr lang="zh-CN" altLang="zh-CN" dirty="0" smtClean="0"/>
              <a:t>优化</a:t>
            </a:r>
            <a:r>
              <a:rPr lang="zh-CN" altLang="en-US" dirty="0" smtClean="0"/>
              <a:t>的几个例子</a:t>
            </a:r>
            <a:endParaRPr lang="en-US" altLang="zh-CN" dirty="0" smtClean="0"/>
          </a:p>
        </p:txBody>
      </p:sp>
      <p:sp>
        <p:nvSpPr>
          <p:cNvPr id="1212420" name="Rectangle 4"/>
          <p:cNvSpPr>
            <a:spLocks noChangeArrowheads="1"/>
          </p:cNvSpPr>
          <p:nvPr/>
        </p:nvSpPr>
        <p:spPr bwMode="auto">
          <a:xfrm>
            <a:off x="838200" y="1981200"/>
            <a:ext cx="7772400" cy="614363"/>
          </a:xfrm>
          <a:prstGeom prst="rect">
            <a:avLst/>
          </a:prstGeom>
          <a:noFill/>
          <a:ln w="12700" cap="sq" algn="ctr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销售记录(</a:t>
            </a:r>
            <a:r>
              <a:rPr lang="zh-CN" altLang="en-US" sz="2800" u="sng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发票号</a:t>
            </a:r>
            <a:r>
              <a:rPr lang="zh-CN" altLang="en-US"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，品名，数量，单价，</a:t>
            </a:r>
            <a:r>
              <a:rPr lang="zh-CN" altLang="en-US" sz="2800">
                <a:solidFill>
                  <a:srgbClr val="00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金额</a:t>
            </a:r>
            <a:r>
              <a:rPr lang="zh-CN" altLang="en-US"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sp>
        <p:nvSpPr>
          <p:cNvPr id="1212421" name="Rectangle 5"/>
          <p:cNvSpPr>
            <a:spLocks noChangeArrowheads="1"/>
          </p:cNvSpPr>
          <p:nvPr/>
        </p:nvSpPr>
        <p:spPr bwMode="auto">
          <a:xfrm>
            <a:off x="838200" y="3933825"/>
            <a:ext cx="7772400" cy="614363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销售记录(</a:t>
            </a:r>
            <a:r>
              <a:rPr lang="zh-CN" altLang="en-US" sz="2800" u="sng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发票号</a:t>
            </a:r>
            <a:r>
              <a:rPr lang="zh-CN" altLang="en-US"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，品名，数量，单价)</a:t>
            </a:r>
          </a:p>
        </p:txBody>
      </p:sp>
      <p:sp>
        <p:nvSpPr>
          <p:cNvPr id="1212422" name="Rectangle 6"/>
          <p:cNvSpPr>
            <a:spLocks noChangeArrowheads="1"/>
          </p:cNvSpPr>
          <p:nvPr/>
        </p:nvSpPr>
        <p:spPr bwMode="auto">
          <a:xfrm>
            <a:off x="1476375" y="5084763"/>
            <a:ext cx="5035550" cy="631825"/>
          </a:xfrm>
          <a:prstGeom prst="rect">
            <a:avLst/>
          </a:prstGeom>
          <a:solidFill>
            <a:srgbClr val="F5F5FF"/>
          </a:solidFill>
          <a:ln w="28575" cap="sq" algn="ctr">
            <a:solidFill>
              <a:schemeClr val="hlink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 anchorCtr="1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8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(数量，单价)  → 金额</a:t>
            </a:r>
          </a:p>
        </p:txBody>
      </p:sp>
      <p:sp>
        <p:nvSpPr>
          <p:cNvPr id="1212423" name="AutoShape 7"/>
          <p:cNvSpPr>
            <a:spLocks noChangeArrowheads="1"/>
          </p:cNvSpPr>
          <p:nvPr/>
        </p:nvSpPr>
        <p:spPr bwMode="auto">
          <a:xfrm>
            <a:off x="4589463" y="2714625"/>
            <a:ext cx="228600" cy="785813"/>
          </a:xfrm>
          <a:prstGeom prst="downArrow">
            <a:avLst>
              <a:gd name="adj1" fmla="val 50000"/>
              <a:gd name="adj2" fmla="val 85938"/>
            </a:avLst>
          </a:prstGeom>
          <a:solidFill>
            <a:schemeClr val="hlink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>
              <a:defRPr/>
            </a:pPr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12424" name="Rectangle 8"/>
          <p:cNvSpPr>
            <a:spLocks noChangeArrowheads="1"/>
          </p:cNvSpPr>
          <p:nvPr/>
        </p:nvSpPr>
        <p:spPr bwMode="auto">
          <a:xfrm>
            <a:off x="5021263" y="2930525"/>
            <a:ext cx="1422400" cy="427038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8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数据冗余</a:t>
            </a:r>
          </a:p>
        </p:txBody>
      </p:sp>
      <p:sp>
        <p:nvSpPr>
          <p:cNvPr id="1212425" name="AutoShape 9"/>
          <p:cNvSpPr>
            <a:spLocks noChangeArrowheads="1"/>
          </p:cNvSpPr>
          <p:nvPr/>
        </p:nvSpPr>
        <p:spPr bwMode="auto">
          <a:xfrm flipV="1">
            <a:off x="3005138" y="2714625"/>
            <a:ext cx="228600" cy="785813"/>
          </a:xfrm>
          <a:prstGeom prst="downArrow">
            <a:avLst>
              <a:gd name="adj1" fmla="val 50000"/>
              <a:gd name="adj2" fmla="val 85938"/>
            </a:avLst>
          </a:prstGeom>
          <a:solidFill>
            <a:schemeClr val="hlink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>
              <a:defRPr/>
            </a:pPr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12426" name="Rectangle 10"/>
          <p:cNvSpPr>
            <a:spLocks noChangeArrowheads="1"/>
          </p:cNvSpPr>
          <p:nvPr/>
        </p:nvSpPr>
        <p:spPr bwMode="auto">
          <a:xfrm>
            <a:off x="1420813" y="2930525"/>
            <a:ext cx="1422400" cy="427038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8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查询效率</a:t>
            </a:r>
          </a:p>
        </p:txBody>
      </p:sp>
      <p:sp>
        <p:nvSpPr>
          <p:cNvPr id="11" name="Text Box 2"/>
          <p:cNvSpPr txBox="1">
            <a:spLocks noChangeArrowheads="1"/>
          </p:cNvSpPr>
          <p:nvPr/>
        </p:nvSpPr>
        <p:spPr bwMode="auto">
          <a:xfrm>
            <a:off x="179388" y="-33338"/>
            <a:ext cx="3223172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defTabSz="914400" eaLnBrk="1" latinLnBrk="0" hangingPunct="1">
              <a:spcBef>
                <a:spcPts val="0"/>
              </a:spcBef>
              <a:buNone/>
              <a:defRPr sz="4000" b="1" baseline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  <a:cs typeface="+mj-cs"/>
              </a:defRPr>
            </a:lvl1pPr>
          </a:lstStyle>
          <a:p>
            <a:r>
              <a:rPr lang="zh-CN" altLang="en-US" dirty="0" smtClean="0"/>
              <a:t>逻辑</a:t>
            </a:r>
            <a:r>
              <a:rPr lang="zh-CN" altLang="en-US" dirty="0"/>
              <a:t>结构</a:t>
            </a:r>
            <a:r>
              <a:rPr lang="zh-CN" altLang="en-US" dirty="0" smtClean="0"/>
              <a:t>设计</a:t>
            </a:r>
            <a:endParaRPr lang="zh-CN" altLang="en-US" dirty="0"/>
          </a:p>
        </p:txBody>
      </p:sp>
    </p:spTree>
  </p:cSld>
  <p:clrMapOvr>
    <a:masterClrMapping/>
  </p:clrMapOvr>
  <p:transition spd="med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3"/>
          <p:cNvSpPr>
            <a:spLocks noGrp="1" noChangeArrowheads="1"/>
          </p:cNvSpPr>
          <p:nvPr>
            <p:ph type="title"/>
          </p:nvPr>
        </p:nvSpPr>
        <p:spPr>
          <a:xfrm>
            <a:off x="153988" y="846039"/>
            <a:ext cx="8964612" cy="566737"/>
          </a:xfrm>
        </p:spPr>
        <p:txBody>
          <a:bodyPr wrap="square"/>
          <a:lstStyle/>
          <a:p>
            <a:pPr eaLnBrk="1" hangingPunct="1">
              <a:buFont typeface="Wingdings" pitchFamily="2" charset="2"/>
              <a:buNone/>
            </a:pPr>
            <a:r>
              <a:rPr lang="zh-CN" altLang="zh-CN" dirty="0" smtClean="0"/>
              <a:t>优化</a:t>
            </a:r>
            <a:r>
              <a:rPr lang="zh-CN" altLang="en-US" dirty="0" smtClean="0"/>
              <a:t>的几个例子</a:t>
            </a:r>
            <a:endParaRPr lang="en-US" altLang="zh-CN" dirty="0" smtClean="0"/>
          </a:p>
        </p:txBody>
      </p:sp>
      <p:sp>
        <p:nvSpPr>
          <p:cNvPr id="1213444" name="Rectangle 4"/>
          <p:cNvSpPr>
            <a:spLocks noChangeArrowheads="1"/>
          </p:cNvSpPr>
          <p:nvPr/>
        </p:nvSpPr>
        <p:spPr bwMode="auto">
          <a:xfrm>
            <a:off x="762000" y="1726654"/>
            <a:ext cx="7772400" cy="488950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教师(</a:t>
            </a:r>
            <a:r>
              <a:rPr lang="zh-CN" altLang="en-US" sz="2800" u="sng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工号</a:t>
            </a:r>
            <a:r>
              <a:rPr lang="zh-CN" altLang="en-US"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，姓名，性别，年龄，</a:t>
            </a:r>
            <a:r>
              <a:rPr lang="zh-CN" altLang="en-US" sz="2800">
                <a:solidFill>
                  <a:srgbClr val="00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职称，类别</a:t>
            </a:r>
            <a:r>
              <a:rPr lang="zh-CN" altLang="en-US"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sp>
        <p:nvSpPr>
          <p:cNvPr id="1213445" name="Rectangle 5"/>
          <p:cNvSpPr>
            <a:spLocks noChangeArrowheads="1"/>
          </p:cNvSpPr>
          <p:nvPr/>
        </p:nvSpPr>
        <p:spPr bwMode="auto">
          <a:xfrm>
            <a:off x="762000" y="3526879"/>
            <a:ext cx="7772400" cy="488950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>
              <a:spcAft>
                <a:spcPct val="35000"/>
              </a:spcAft>
              <a:buSzTx/>
              <a:buFontTx/>
              <a:buNone/>
              <a:defRPr/>
            </a:pPr>
            <a:r>
              <a:rPr lang="zh-CN" altLang="en-US"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正式教师(</a:t>
            </a:r>
            <a:r>
              <a:rPr lang="zh-CN" altLang="en-US" sz="2800" u="sng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工号</a:t>
            </a:r>
            <a:r>
              <a:rPr lang="zh-CN" altLang="en-US"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，姓名，性别，年龄，职称)</a:t>
            </a:r>
          </a:p>
          <a:p>
            <a:pPr>
              <a:spcAft>
                <a:spcPct val="35000"/>
              </a:spcAft>
              <a:buSzTx/>
              <a:buFontTx/>
              <a:buNone/>
              <a:defRPr/>
            </a:pPr>
            <a:r>
              <a:rPr lang="zh-CN" altLang="en-US"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外聘教师(</a:t>
            </a:r>
            <a:r>
              <a:rPr lang="zh-CN" altLang="en-US" sz="2800" u="sng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工号</a:t>
            </a:r>
            <a:r>
              <a:rPr lang="zh-CN" altLang="en-US"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，姓名，性别，年龄)</a:t>
            </a:r>
          </a:p>
        </p:txBody>
      </p:sp>
      <p:sp>
        <p:nvSpPr>
          <p:cNvPr id="1213446" name="AutoShape 6"/>
          <p:cNvSpPr>
            <a:spLocks noChangeArrowheads="1"/>
          </p:cNvSpPr>
          <p:nvPr/>
        </p:nvSpPr>
        <p:spPr bwMode="auto">
          <a:xfrm>
            <a:off x="4211638" y="2445791"/>
            <a:ext cx="228600" cy="785813"/>
          </a:xfrm>
          <a:prstGeom prst="downArrow">
            <a:avLst>
              <a:gd name="adj1" fmla="val 50000"/>
              <a:gd name="adj2" fmla="val 85938"/>
            </a:avLst>
          </a:prstGeom>
          <a:solidFill>
            <a:schemeClr val="hlink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>
              <a:defRPr/>
            </a:pPr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13447" name="Rectangle 7"/>
          <p:cNvSpPr>
            <a:spLocks noChangeArrowheads="1"/>
          </p:cNvSpPr>
          <p:nvPr/>
        </p:nvSpPr>
        <p:spPr bwMode="auto">
          <a:xfrm>
            <a:off x="4643438" y="2661691"/>
            <a:ext cx="1422400" cy="427038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8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数据冗余</a:t>
            </a:r>
          </a:p>
        </p:txBody>
      </p:sp>
      <p:sp>
        <p:nvSpPr>
          <p:cNvPr id="1213448" name="AutoShape 8"/>
          <p:cNvSpPr>
            <a:spLocks noChangeArrowheads="1"/>
          </p:cNvSpPr>
          <p:nvPr/>
        </p:nvSpPr>
        <p:spPr bwMode="auto">
          <a:xfrm flipV="1">
            <a:off x="2627313" y="2445791"/>
            <a:ext cx="228600" cy="785813"/>
          </a:xfrm>
          <a:prstGeom prst="downArrow">
            <a:avLst>
              <a:gd name="adj1" fmla="val 50000"/>
              <a:gd name="adj2" fmla="val 85938"/>
            </a:avLst>
          </a:prstGeom>
          <a:solidFill>
            <a:schemeClr val="hlink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>
              <a:defRPr/>
            </a:pPr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13449" name="Rectangle 9"/>
          <p:cNvSpPr>
            <a:spLocks noChangeArrowheads="1"/>
          </p:cNvSpPr>
          <p:nvPr/>
        </p:nvSpPr>
        <p:spPr bwMode="auto">
          <a:xfrm>
            <a:off x="1042988" y="2661691"/>
            <a:ext cx="1422400" cy="427038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8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关系数量</a:t>
            </a:r>
          </a:p>
        </p:txBody>
      </p:sp>
      <p:sp>
        <p:nvSpPr>
          <p:cNvPr id="1213450" name="Rectangle 10"/>
          <p:cNvSpPr>
            <a:spLocks noChangeArrowheads="1"/>
          </p:cNvSpPr>
          <p:nvPr/>
        </p:nvSpPr>
        <p:spPr bwMode="auto">
          <a:xfrm>
            <a:off x="1476375" y="5111204"/>
            <a:ext cx="5035550" cy="1054100"/>
          </a:xfrm>
          <a:prstGeom prst="rect">
            <a:avLst/>
          </a:prstGeom>
          <a:solidFill>
            <a:srgbClr val="F5F5FF"/>
          </a:solidFill>
          <a:ln w="28575" cap="sq">
            <a:solidFill>
              <a:schemeClr val="hlink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>
            <a:spAutoFit/>
          </a:bodyPr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8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类别={正式，外聘}</a:t>
            </a:r>
          </a:p>
          <a:p>
            <a:pPr algn="ctr">
              <a:spcBef>
                <a:spcPct val="40000"/>
              </a:spcBef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8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外聘教师无职称</a:t>
            </a:r>
          </a:p>
        </p:txBody>
      </p:sp>
      <p:sp>
        <p:nvSpPr>
          <p:cNvPr id="1213451" name="AutoShape 11"/>
          <p:cNvSpPr>
            <a:spLocks/>
          </p:cNvSpPr>
          <p:nvPr/>
        </p:nvSpPr>
        <p:spPr bwMode="auto">
          <a:xfrm>
            <a:off x="539750" y="3704679"/>
            <a:ext cx="71438" cy="720725"/>
          </a:xfrm>
          <a:prstGeom prst="leftBrace">
            <a:avLst>
              <a:gd name="adj1" fmla="val 84073"/>
              <a:gd name="adj2" fmla="val 50000"/>
            </a:avLst>
          </a:prstGeom>
          <a:noFill/>
          <a:ln w="28575" cap="sq">
            <a:solidFill>
              <a:srgbClr val="CCFFCC"/>
            </a:solidFill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pPr>
              <a:defRPr/>
            </a:pPr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Text Box 2"/>
          <p:cNvSpPr txBox="1">
            <a:spLocks noChangeArrowheads="1"/>
          </p:cNvSpPr>
          <p:nvPr/>
        </p:nvSpPr>
        <p:spPr bwMode="auto">
          <a:xfrm>
            <a:off x="179388" y="-33338"/>
            <a:ext cx="3223172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defTabSz="914400" eaLnBrk="1" latinLnBrk="0" hangingPunct="1">
              <a:spcBef>
                <a:spcPts val="0"/>
              </a:spcBef>
              <a:buNone/>
              <a:defRPr sz="4000" b="1" baseline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  <a:cs typeface="+mj-cs"/>
              </a:defRPr>
            </a:lvl1pPr>
          </a:lstStyle>
          <a:p>
            <a:r>
              <a:rPr lang="zh-CN" altLang="en-US" dirty="0" smtClean="0"/>
              <a:t>逻辑</a:t>
            </a:r>
            <a:r>
              <a:rPr lang="zh-CN" altLang="en-US" dirty="0"/>
              <a:t>结构</a:t>
            </a:r>
            <a:r>
              <a:rPr lang="zh-CN" altLang="en-US" dirty="0" smtClean="0"/>
              <a:t>设计</a:t>
            </a:r>
            <a:endParaRPr lang="zh-CN" altLang="en-US" dirty="0"/>
          </a:p>
        </p:txBody>
      </p:sp>
    </p:spTree>
  </p:cSld>
  <p:clrMapOvr>
    <a:masterClrMapping/>
  </p:clrMapOvr>
  <p:transition spd="med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3"/>
          <p:cNvSpPr>
            <a:spLocks noGrp="1" noChangeArrowheads="1"/>
          </p:cNvSpPr>
          <p:nvPr>
            <p:ph type="title"/>
          </p:nvPr>
        </p:nvSpPr>
        <p:spPr>
          <a:xfrm>
            <a:off x="153988" y="828065"/>
            <a:ext cx="8964612" cy="584775"/>
          </a:xfrm>
        </p:spPr>
        <p:txBody>
          <a:bodyPr wrap="square"/>
          <a:lstStyle/>
          <a:p>
            <a:pPr eaLnBrk="1" hangingPunct="1">
              <a:buFont typeface="Wingdings" pitchFamily="2" charset="2"/>
              <a:buNone/>
            </a:pPr>
            <a:r>
              <a:rPr lang="zh-CN" altLang="zh-CN" dirty="0" smtClean="0"/>
              <a:t>优化</a:t>
            </a:r>
            <a:r>
              <a:rPr lang="zh-CN" altLang="en-US" dirty="0" smtClean="0"/>
              <a:t>的几个例子</a:t>
            </a:r>
            <a:endParaRPr lang="en-US" altLang="zh-CN" dirty="0" smtClean="0"/>
          </a:p>
        </p:txBody>
      </p:sp>
      <p:sp>
        <p:nvSpPr>
          <p:cNvPr id="1214468" name="Rectangle 4"/>
          <p:cNvSpPr>
            <a:spLocks noChangeArrowheads="1"/>
          </p:cNvSpPr>
          <p:nvPr/>
        </p:nvSpPr>
        <p:spPr bwMode="auto">
          <a:xfrm>
            <a:off x="762000" y="1773709"/>
            <a:ext cx="7772400" cy="488950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教师</a:t>
            </a:r>
            <a:r>
              <a:rPr lang="en-US" altLang="zh-CN"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2800" u="sng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工号</a:t>
            </a:r>
            <a:r>
              <a:rPr lang="en-US" altLang="zh-CN"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zh-CN" altLang="en-US"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姓名</a:t>
            </a:r>
            <a:r>
              <a:rPr lang="en-US" altLang="zh-CN"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zh-CN" altLang="en-US"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性别</a:t>
            </a:r>
            <a:r>
              <a:rPr lang="en-US" altLang="zh-CN"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zh-CN" altLang="en-US"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年龄</a:t>
            </a:r>
            <a:r>
              <a:rPr lang="en-US" altLang="zh-CN"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zh-CN" altLang="en-US"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职称</a:t>
            </a:r>
            <a:r>
              <a:rPr lang="en-US" altLang="zh-CN"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zh-CN" altLang="en-US" sz="2800">
                <a:solidFill>
                  <a:srgbClr val="00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家庭住址</a:t>
            </a:r>
            <a:r>
              <a:rPr lang="en-US" altLang="zh-CN" sz="2800">
                <a:solidFill>
                  <a:srgbClr val="00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zh-CN" altLang="en-US" sz="2800">
                <a:solidFill>
                  <a:srgbClr val="00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电话</a:t>
            </a:r>
            <a:r>
              <a:rPr lang="en-US" altLang="zh-CN"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sp>
        <p:nvSpPr>
          <p:cNvPr id="1214469" name="Rectangle 5"/>
          <p:cNvSpPr>
            <a:spLocks noChangeArrowheads="1"/>
          </p:cNvSpPr>
          <p:nvPr/>
        </p:nvSpPr>
        <p:spPr bwMode="auto">
          <a:xfrm>
            <a:off x="762000" y="3573934"/>
            <a:ext cx="7772400" cy="488950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>
              <a:spcAft>
                <a:spcPct val="35000"/>
              </a:spcAft>
              <a:buSzTx/>
              <a:buFontTx/>
              <a:buNone/>
              <a:defRPr/>
            </a:pPr>
            <a:r>
              <a:rPr lang="zh-CN" altLang="en-US"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教师基本</a:t>
            </a:r>
            <a:r>
              <a:rPr lang="en-US" altLang="zh-CN"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2800" u="sng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工号</a:t>
            </a:r>
            <a:r>
              <a:rPr lang="en-US" altLang="zh-CN"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zh-CN" altLang="en-US"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姓名</a:t>
            </a:r>
            <a:r>
              <a:rPr lang="en-US" altLang="zh-CN"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zh-CN" altLang="en-US"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性别</a:t>
            </a:r>
            <a:r>
              <a:rPr lang="en-US" altLang="zh-CN"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zh-CN" altLang="en-US"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年龄</a:t>
            </a:r>
            <a:r>
              <a:rPr lang="en-US" altLang="zh-CN"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zh-CN" altLang="en-US"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职称</a:t>
            </a:r>
            <a:r>
              <a:rPr lang="en-US" altLang="zh-CN"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)</a:t>
            </a:r>
          </a:p>
          <a:p>
            <a:pPr>
              <a:spcAft>
                <a:spcPct val="35000"/>
              </a:spcAft>
              <a:buSzTx/>
              <a:buFontTx/>
              <a:buNone/>
              <a:defRPr/>
            </a:pPr>
            <a:r>
              <a:rPr lang="zh-CN" altLang="en-US"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教师其它</a:t>
            </a:r>
            <a:r>
              <a:rPr lang="en-US" altLang="zh-CN"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2800" u="sng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工号</a:t>
            </a:r>
            <a:r>
              <a:rPr lang="en-US" altLang="zh-CN"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zh-CN" altLang="en-US"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家庭住址</a:t>
            </a:r>
            <a:r>
              <a:rPr lang="en-US" altLang="zh-CN"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zh-CN" altLang="en-US"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电话</a:t>
            </a:r>
            <a:r>
              <a:rPr lang="en-US" altLang="zh-CN" sz="2800">
                <a:solidFill>
                  <a:srgbClr val="CC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sp>
        <p:nvSpPr>
          <p:cNvPr id="1214470" name="AutoShape 6"/>
          <p:cNvSpPr>
            <a:spLocks noChangeArrowheads="1"/>
          </p:cNvSpPr>
          <p:nvPr/>
        </p:nvSpPr>
        <p:spPr bwMode="auto">
          <a:xfrm>
            <a:off x="4211638" y="2492846"/>
            <a:ext cx="228600" cy="785813"/>
          </a:xfrm>
          <a:prstGeom prst="downArrow">
            <a:avLst>
              <a:gd name="adj1" fmla="val 50000"/>
              <a:gd name="adj2" fmla="val 85938"/>
            </a:avLst>
          </a:prstGeom>
          <a:solidFill>
            <a:schemeClr val="hlink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>
              <a:defRPr/>
            </a:pPr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14471" name="Rectangle 7"/>
          <p:cNvSpPr>
            <a:spLocks noChangeArrowheads="1"/>
          </p:cNvSpPr>
          <p:nvPr/>
        </p:nvSpPr>
        <p:spPr bwMode="auto">
          <a:xfrm>
            <a:off x="4619625" y="2708746"/>
            <a:ext cx="2133600" cy="427038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8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数据使用频度</a:t>
            </a:r>
          </a:p>
        </p:txBody>
      </p:sp>
      <p:sp>
        <p:nvSpPr>
          <p:cNvPr id="1214472" name="AutoShape 8"/>
          <p:cNvSpPr>
            <a:spLocks noChangeArrowheads="1"/>
          </p:cNvSpPr>
          <p:nvPr/>
        </p:nvSpPr>
        <p:spPr bwMode="auto">
          <a:xfrm flipV="1">
            <a:off x="2627313" y="2492846"/>
            <a:ext cx="228600" cy="785813"/>
          </a:xfrm>
          <a:prstGeom prst="downArrow">
            <a:avLst>
              <a:gd name="adj1" fmla="val 50000"/>
              <a:gd name="adj2" fmla="val 85938"/>
            </a:avLst>
          </a:prstGeom>
          <a:solidFill>
            <a:schemeClr val="hlink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>
              <a:defRPr/>
            </a:pPr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14473" name="Rectangle 9"/>
          <p:cNvSpPr>
            <a:spLocks noChangeArrowheads="1"/>
          </p:cNvSpPr>
          <p:nvPr/>
        </p:nvSpPr>
        <p:spPr bwMode="auto">
          <a:xfrm>
            <a:off x="1042988" y="2708746"/>
            <a:ext cx="1422400" cy="427038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8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连接代价</a:t>
            </a:r>
          </a:p>
        </p:txBody>
      </p:sp>
      <p:sp>
        <p:nvSpPr>
          <p:cNvPr id="1214474" name="Rectangle 10"/>
          <p:cNvSpPr>
            <a:spLocks noChangeArrowheads="1"/>
          </p:cNvSpPr>
          <p:nvPr/>
        </p:nvSpPr>
        <p:spPr bwMode="auto">
          <a:xfrm>
            <a:off x="1331913" y="5013796"/>
            <a:ext cx="6551612" cy="1079500"/>
          </a:xfrm>
          <a:prstGeom prst="rect">
            <a:avLst/>
          </a:prstGeom>
          <a:solidFill>
            <a:srgbClr val="F5F5FF"/>
          </a:solidFill>
          <a:ln w="28575" cap="sq" algn="ctr">
            <a:solidFill>
              <a:schemeClr val="hlink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 anchorCtr="1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8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一般只操作教师的工号、姓名、性别、年龄和职称，家庭住址和电话很少用到。</a:t>
            </a:r>
          </a:p>
        </p:txBody>
      </p:sp>
      <p:sp>
        <p:nvSpPr>
          <p:cNvPr id="1214475" name="AutoShape 11"/>
          <p:cNvSpPr>
            <a:spLocks/>
          </p:cNvSpPr>
          <p:nvPr/>
        </p:nvSpPr>
        <p:spPr bwMode="auto">
          <a:xfrm>
            <a:off x="539750" y="3751734"/>
            <a:ext cx="71438" cy="720725"/>
          </a:xfrm>
          <a:prstGeom prst="leftBrace">
            <a:avLst>
              <a:gd name="adj1" fmla="val 84073"/>
              <a:gd name="adj2" fmla="val 50000"/>
            </a:avLst>
          </a:prstGeom>
          <a:noFill/>
          <a:ln w="28575" cap="sq">
            <a:solidFill>
              <a:srgbClr val="CCFFCC"/>
            </a:solidFill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pPr>
              <a:defRPr/>
            </a:pPr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Text Box 2"/>
          <p:cNvSpPr txBox="1">
            <a:spLocks noChangeArrowheads="1"/>
          </p:cNvSpPr>
          <p:nvPr/>
        </p:nvSpPr>
        <p:spPr bwMode="auto">
          <a:xfrm>
            <a:off x="179388" y="-33338"/>
            <a:ext cx="3223172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defTabSz="914400" eaLnBrk="1" latinLnBrk="0" hangingPunct="1">
              <a:spcBef>
                <a:spcPts val="0"/>
              </a:spcBef>
              <a:buNone/>
              <a:defRPr sz="4000" b="1" baseline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  <a:cs typeface="+mj-cs"/>
              </a:defRPr>
            </a:lvl1pPr>
          </a:lstStyle>
          <a:p>
            <a:r>
              <a:rPr lang="zh-CN" altLang="en-US" dirty="0" smtClean="0"/>
              <a:t>逻辑</a:t>
            </a:r>
            <a:r>
              <a:rPr lang="zh-CN" altLang="en-US" dirty="0"/>
              <a:t>结构</a:t>
            </a:r>
            <a:r>
              <a:rPr lang="zh-CN" altLang="en-US" dirty="0" smtClean="0"/>
              <a:t>设计</a:t>
            </a:r>
            <a:endParaRPr lang="zh-CN" altLang="en-US" dirty="0"/>
          </a:p>
        </p:txBody>
      </p:sp>
    </p:spTree>
  </p:cSld>
  <p:clrMapOvr>
    <a:masterClrMapping/>
  </p:clrMapOvr>
  <p:transition spd="med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/>
          <p:cNvSpPr>
            <a:spLocks noGrp="1" noChangeArrowheads="1"/>
          </p:cNvSpPr>
          <p:nvPr>
            <p:ph type="title"/>
          </p:nvPr>
        </p:nvSpPr>
        <p:spPr>
          <a:xfrm>
            <a:off x="153988" y="918047"/>
            <a:ext cx="8964612" cy="566737"/>
          </a:xfrm>
        </p:spPr>
        <p:txBody>
          <a:bodyPr wrap="square"/>
          <a:lstStyle/>
          <a:p>
            <a:pPr eaLnBrk="1" hangingPunct="1">
              <a:buFont typeface="Wingdings" pitchFamily="2" charset="2"/>
              <a:buNone/>
            </a:pPr>
            <a:r>
              <a:rPr lang="zh-CN" altLang="zh-CN" dirty="0" smtClean="0"/>
              <a:t>确定数据库在物理设备上的存储结构和存取方法</a:t>
            </a:r>
            <a:endParaRPr lang="en-US" altLang="zh-CN" dirty="0" smtClean="0"/>
          </a:p>
        </p:txBody>
      </p:sp>
      <p:sp>
        <p:nvSpPr>
          <p:cNvPr id="1215492" name="Oval 4"/>
          <p:cNvSpPr>
            <a:spLocks noChangeArrowheads="1"/>
          </p:cNvSpPr>
          <p:nvPr/>
        </p:nvSpPr>
        <p:spPr bwMode="auto">
          <a:xfrm>
            <a:off x="1674813" y="2231479"/>
            <a:ext cx="1752600" cy="1752600"/>
          </a:xfrm>
          <a:prstGeom prst="ellipse">
            <a:avLst/>
          </a:prstGeom>
          <a:solidFill>
            <a:srgbClr val="CCFFCC"/>
          </a:solidFill>
          <a:ln w="12700" cap="sq">
            <a:solidFill>
              <a:srgbClr val="00000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 anchorCtr="1"/>
          <a:lstStyle/>
          <a:p>
            <a:pPr algn="ctr">
              <a:spcAft>
                <a:spcPct val="0"/>
              </a:spcAft>
              <a:buSzTx/>
              <a:buFontTx/>
              <a:buNone/>
              <a:tabLst>
                <a:tab pos="292100" algn="l"/>
                <a:tab pos="485775" algn="l"/>
              </a:tabLst>
              <a:defRPr/>
            </a:pPr>
            <a:r>
              <a:rPr lang="zh-CN" alt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确定</a:t>
            </a:r>
          </a:p>
          <a:p>
            <a:pPr algn="ctr">
              <a:spcAft>
                <a:spcPct val="0"/>
              </a:spcAft>
              <a:buSzTx/>
              <a:buFontTx/>
              <a:buNone/>
              <a:tabLst>
                <a:tab pos="292100" algn="l"/>
                <a:tab pos="485775" algn="l"/>
              </a:tabLst>
              <a:defRPr/>
            </a:pPr>
            <a:r>
              <a:rPr lang="zh-CN" alt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数据库的物理结构</a:t>
            </a:r>
          </a:p>
        </p:txBody>
      </p:sp>
      <p:cxnSp>
        <p:nvCxnSpPr>
          <p:cNvPr id="32773" name="AutoShape 5"/>
          <p:cNvCxnSpPr>
            <a:cxnSpLocks noChangeShapeType="1"/>
            <a:stCxn id="1215492" idx="6"/>
            <a:endCxn id="1215498" idx="2"/>
          </p:cNvCxnSpPr>
          <p:nvPr/>
        </p:nvCxnSpPr>
        <p:spPr bwMode="auto">
          <a:xfrm>
            <a:off x="3427413" y="3107779"/>
            <a:ext cx="1371600" cy="0"/>
          </a:xfrm>
          <a:prstGeom prst="straightConnector1">
            <a:avLst/>
          </a:prstGeom>
          <a:noFill/>
          <a:ln w="28575" cap="sq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15494" name="AutoShape 6"/>
          <p:cNvSpPr>
            <a:spLocks noChangeArrowheads="1"/>
          </p:cNvSpPr>
          <p:nvPr/>
        </p:nvSpPr>
        <p:spPr bwMode="auto">
          <a:xfrm>
            <a:off x="684213" y="4746079"/>
            <a:ext cx="1600200" cy="939800"/>
          </a:xfrm>
          <a:prstGeom prst="verticalScroll">
            <a:avLst>
              <a:gd name="adj" fmla="val 12500"/>
            </a:avLst>
          </a:prstGeom>
          <a:solidFill>
            <a:srgbClr val="D9F9FF"/>
          </a:solidFill>
          <a:ln w="12700" cap="sq">
            <a:solidFill>
              <a:srgbClr val="00000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逻辑模型</a:t>
            </a:r>
          </a:p>
        </p:txBody>
      </p:sp>
      <p:sp>
        <p:nvSpPr>
          <p:cNvPr id="1215495" name="AutoShape 7"/>
          <p:cNvSpPr>
            <a:spLocks noChangeArrowheads="1"/>
          </p:cNvSpPr>
          <p:nvPr/>
        </p:nvSpPr>
        <p:spPr bwMode="auto">
          <a:xfrm>
            <a:off x="5713413" y="4746079"/>
            <a:ext cx="1752600" cy="990600"/>
          </a:xfrm>
          <a:prstGeom prst="verticalScroll">
            <a:avLst>
              <a:gd name="adj" fmla="val 12500"/>
            </a:avLst>
          </a:prstGeom>
          <a:solidFill>
            <a:srgbClr val="D9F9FF"/>
          </a:solidFill>
          <a:ln w="12700" cap="sq">
            <a:solidFill>
              <a:srgbClr val="00000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物理模型</a:t>
            </a:r>
          </a:p>
        </p:txBody>
      </p:sp>
      <p:sp>
        <p:nvSpPr>
          <p:cNvPr id="1215496" name="AutoShape 8"/>
          <p:cNvSpPr>
            <a:spLocks noChangeArrowheads="1"/>
          </p:cNvSpPr>
          <p:nvPr/>
        </p:nvSpPr>
        <p:spPr bwMode="auto">
          <a:xfrm rot="2700000">
            <a:off x="1979613" y="3933279"/>
            <a:ext cx="228600" cy="838200"/>
          </a:xfrm>
          <a:prstGeom prst="upArrow">
            <a:avLst>
              <a:gd name="adj1" fmla="val 50000"/>
              <a:gd name="adj2" fmla="val 91667"/>
            </a:avLst>
          </a:prstGeom>
          <a:solidFill>
            <a:srgbClr val="CCFFCC"/>
          </a:solidFill>
          <a:ln w="12700" cap="sq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215497" name="AutoShape 9"/>
          <p:cNvSpPr>
            <a:spLocks noChangeArrowheads="1"/>
          </p:cNvSpPr>
          <p:nvPr/>
        </p:nvSpPr>
        <p:spPr bwMode="auto">
          <a:xfrm rot="8100000">
            <a:off x="6323013" y="3907879"/>
            <a:ext cx="228600" cy="838200"/>
          </a:xfrm>
          <a:prstGeom prst="upArrow">
            <a:avLst>
              <a:gd name="adj1" fmla="val 50000"/>
              <a:gd name="adj2" fmla="val 91667"/>
            </a:avLst>
          </a:prstGeom>
          <a:solidFill>
            <a:srgbClr val="CCFFCC"/>
          </a:solidFill>
          <a:ln w="12700" cap="sq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215498" name="Oval 10"/>
          <p:cNvSpPr>
            <a:spLocks noChangeArrowheads="1"/>
          </p:cNvSpPr>
          <p:nvPr/>
        </p:nvSpPr>
        <p:spPr bwMode="auto">
          <a:xfrm>
            <a:off x="4799013" y="2231479"/>
            <a:ext cx="1752600" cy="1752600"/>
          </a:xfrm>
          <a:prstGeom prst="ellipse">
            <a:avLst/>
          </a:prstGeom>
          <a:solidFill>
            <a:srgbClr val="CCFFCC"/>
          </a:solidFill>
          <a:ln w="12700" cap="sq">
            <a:solidFill>
              <a:srgbClr val="00000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 anchorCtr="1"/>
          <a:lstStyle/>
          <a:p>
            <a:pPr algn="ctr">
              <a:spcAft>
                <a:spcPct val="0"/>
              </a:spcAft>
              <a:buSzTx/>
              <a:buFontTx/>
              <a:buNone/>
              <a:tabLst>
                <a:tab pos="292100" algn="l"/>
                <a:tab pos="485775" algn="l"/>
              </a:tabLst>
              <a:defRPr/>
            </a:pPr>
            <a:r>
              <a:rPr lang="zh-CN" alt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评价</a:t>
            </a:r>
          </a:p>
          <a:p>
            <a:pPr algn="ctr">
              <a:spcAft>
                <a:spcPct val="0"/>
              </a:spcAft>
              <a:buSzTx/>
              <a:buFontTx/>
              <a:buNone/>
              <a:tabLst>
                <a:tab pos="292100" algn="l"/>
                <a:tab pos="485775" algn="l"/>
              </a:tabLst>
              <a:defRPr/>
            </a:pPr>
            <a:r>
              <a:rPr lang="zh-CN" alt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数据库的物理结构</a:t>
            </a:r>
          </a:p>
        </p:txBody>
      </p:sp>
      <p:sp>
        <p:nvSpPr>
          <p:cNvPr id="1215499" name="AutoShape 11"/>
          <p:cNvSpPr>
            <a:spLocks noChangeArrowheads="1"/>
          </p:cNvSpPr>
          <p:nvPr/>
        </p:nvSpPr>
        <p:spPr bwMode="auto">
          <a:xfrm>
            <a:off x="6789738" y="2036217"/>
            <a:ext cx="1238646" cy="1135062"/>
          </a:xfrm>
          <a:prstGeom prst="wedgeEllipseCallout">
            <a:avLst>
              <a:gd name="adj1" fmla="val -64157"/>
              <a:gd name="adj2" fmla="val 24824"/>
            </a:avLst>
          </a:prstGeom>
          <a:solidFill>
            <a:srgbClr val="3333FF"/>
          </a:solidFill>
          <a:ln w="12700" cap="sq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 lIns="0" tIns="0" rIns="0" bIns="0">
            <a:spAutoFit/>
          </a:bodyPr>
          <a:lstStyle/>
          <a:p>
            <a:pPr algn="ctr">
              <a:buSzTx/>
              <a:buFontTx/>
              <a:buNone/>
              <a:defRPr/>
            </a:pPr>
            <a:r>
              <a:rPr lang="zh-CN" altLang="en-US" sz="26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时空效率</a:t>
            </a:r>
            <a:endParaRPr lang="zh-CN" altLang="en-US" sz="240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15500" name="AutoShape 12"/>
          <p:cNvSpPr>
            <a:spLocks noChangeArrowheads="1"/>
          </p:cNvSpPr>
          <p:nvPr/>
        </p:nvSpPr>
        <p:spPr bwMode="auto">
          <a:xfrm>
            <a:off x="2901950" y="3907879"/>
            <a:ext cx="1941513" cy="2257425"/>
          </a:xfrm>
          <a:prstGeom prst="wedgeEllipseCallout">
            <a:avLst>
              <a:gd name="adj1" fmla="val -51065"/>
              <a:gd name="adj2" fmla="val -45569"/>
            </a:avLst>
          </a:prstGeom>
          <a:solidFill>
            <a:srgbClr val="3333FF"/>
          </a:solidFill>
          <a:ln w="12700" cap="sq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lIns="0" tIns="0" rIns="0" bIns="0">
            <a:spAutoFit/>
          </a:bodyPr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6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存储结构</a:t>
            </a:r>
          </a:p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6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记录格式</a:t>
            </a:r>
          </a:p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6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记录组织</a:t>
            </a:r>
          </a:p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6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访问方法</a:t>
            </a:r>
          </a:p>
        </p:txBody>
      </p: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179388" y="-33338"/>
            <a:ext cx="3223172" cy="760959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defTabSz="914400" eaLnBrk="1" latinLnBrk="0" hangingPunct="1">
              <a:spcBef>
                <a:spcPts val="0"/>
              </a:spcBef>
              <a:buNone/>
              <a:defRPr sz="4000" b="1" baseline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微软雅黑" pitchFamily="34" charset="-122"/>
                <a:cs typeface="+mj-cs"/>
              </a:defRPr>
            </a:lvl1pPr>
          </a:lstStyle>
          <a:p>
            <a:r>
              <a:rPr lang="zh-CN" altLang="en-US" dirty="0"/>
              <a:t>物理</a:t>
            </a:r>
            <a:r>
              <a:rPr lang="zh-CN" altLang="en-US" dirty="0" smtClean="0"/>
              <a:t>结构设计</a:t>
            </a:r>
            <a:endParaRPr lang="zh-CN" altLang="en-US" dirty="0"/>
          </a:p>
        </p:txBody>
      </p:sp>
    </p:spTree>
  </p:cSld>
  <p:clrMapOvr>
    <a:masterClrMapping/>
  </p:clrMapOvr>
  <p:transition spd="med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3"/>
          <p:cNvSpPr>
            <a:spLocks noGrp="1" noChangeArrowheads="1"/>
          </p:cNvSpPr>
          <p:nvPr>
            <p:ph type="title"/>
          </p:nvPr>
        </p:nvSpPr>
        <p:spPr>
          <a:xfrm>
            <a:off x="147860" y="8037"/>
            <a:ext cx="4762055" cy="760959"/>
          </a:xfr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eaLnBrk="1" hangingPunct="1">
              <a:spcBef>
                <a:spcPts val="0"/>
              </a:spcBef>
              <a:spcAft>
                <a:spcPct val="25000"/>
              </a:spcAft>
              <a:buSzPct val="80000"/>
              <a:buFont typeface="Wingdings" pitchFamily="2" charset="2"/>
              <a:buNone/>
            </a:pPr>
            <a:r>
              <a:rPr kumimoji="1" lang="zh-CN" altLang="zh-CN" sz="4000" b="1" kern="1200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数据库</a:t>
            </a:r>
            <a:r>
              <a:rPr kumimoji="1" lang="zh-CN" altLang="en-US" sz="4000" b="1" kern="1200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的实施与维护</a:t>
            </a:r>
            <a:endParaRPr kumimoji="1" lang="en-US" altLang="zh-CN" sz="4000" b="1" kern="1200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1216516" name="Oval 4"/>
          <p:cNvSpPr>
            <a:spLocks noChangeArrowheads="1"/>
          </p:cNvSpPr>
          <p:nvPr/>
        </p:nvSpPr>
        <p:spPr bwMode="auto">
          <a:xfrm>
            <a:off x="1843088" y="3337520"/>
            <a:ext cx="1371600" cy="1371600"/>
          </a:xfrm>
          <a:prstGeom prst="ellipse">
            <a:avLst/>
          </a:prstGeom>
          <a:solidFill>
            <a:srgbClr val="CCFFCC"/>
          </a:solidFill>
          <a:ln w="12700" cap="sq">
            <a:solidFill>
              <a:srgbClr val="00000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 anchorCtr="1"/>
          <a:lstStyle/>
          <a:p>
            <a:pPr algn="ctr">
              <a:spcAft>
                <a:spcPct val="0"/>
              </a:spcAft>
              <a:buSzTx/>
              <a:buFontTx/>
              <a:buNone/>
              <a:tabLst>
                <a:tab pos="292100" algn="l"/>
                <a:tab pos="485775" algn="l"/>
              </a:tabLst>
              <a:defRPr/>
            </a:pPr>
            <a:r>
              <a:rPr lang="zh-CN" alt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定义</a:t>
            </a:r>
          </a:p>
          <a:p>
            <a:pPr algn="ctr">
              <a:spcAft>
                <a:spcPct val="0"/>
              </a:spcAft>
              <a:buSzTx/>
              <a:buFontTx/>
              <a:buNone/>
              <a:tabLst>
                <a:tab pos="292100" algn="l"/>
                <a:tab pos="485775" algn="l"/>
              </a:tabLst>
              <a:defRPr/>
            </a:pPr>
            <a:r>
              <a:rPr lang="zh-CN" alt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数据库结构</a:t>
            </a:r>
          </a:p>
        </p:txBody>
      </p:sp>
      <p:sp>
        <p:nvSpPr>
          <p:cNvPr id="1216517" name="AutoShape 5"/>
          <p:cNvSpPr>
            <a:spLocks noChangeArrowheads="1"/>
          </p:cNvSpPr>
          <p:nvPr/>
        </p:nvSpPr>
        <p:spPr bwMode="auto">
          <a:xfrm>
            <a:off x="395288" y="2042120"/>
            <a:ext cx="1600200" cy="939800"/>
          </a:xfrm>
          <a:prstGeom prst="verticalScroll">
            <a:avLst>
              <a:gd name="adj" fmla="val 12500"/>
            </a:avLst>
          </a:prstGeom>
          <a:solidFill>
            <a:srgbClr val="D9F9FF"/>
          </a:solidFill>
          <a:ln w="12700" cap="sq">
            <a:solidFill>
              <a:srgbClr val="00000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逻辑模型</a:t>
            </a:r>
          </a:p>
        </p:txBody>
      </p:sp>
      <p:sp>
        <p:nvSpPr>
          <p:cNvPr id="1216518" name="AutoShape 6"/>
          <p:cNvSpPr>
            <a:spLocks noChangeArrowheads="1"/>
          </p:cNvSpPr>
          <p:nvPr/>
        </p:nvSpPr>
        <p:spPr bwMode="auto">
          <a:xfrm>
            <a:off x="395288" y="5090120"/>
            <a:ext cx="1752600" cy="990600"/>
          </a:xfrm>
          <a:prstGeom prst="verticalScroll">
            <a:avLst>
              <a:gd name="adj" fmla="val 12500"/>
            </a:avLst>
          </a:prstGeom>
          <a:solidFill>
            <a:srgbClr val="D9F9FF"/>
          </a:solidFill>
          <a:ln w="12700" cap="sq">
            <a:solidFill>
              <a:srgbClr val="00000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物理模型</a:t>
            </a:r>
          </a:p>
        </p:txBody>
      </p:sp>
      <p:sp>
        <p:nvSpPr>
          <p:cNvPr id="1216519" name="Oval 7"/>
          <p:cNvSpPr>
            <a:spLocks noChangeArrowheads="1"/>
          </p:cNvSpPr>
          <p:nvPr/>
        </p:nvSpPr>
        <p:spPr bwMode="auto">
          <a:xfrm>
            <a:off x="3976688" y="1965920"/>
            <a:ext cx="1371600" cy="1371600"/>
          </a:xfrm>
          <a:prstGeom prst="ellipse">
            <a:avLst/>
          </a:prstGeom>
          <a:solidFill>
            <a:srgbClr val="CCFFCC"/>
          </a:solidFill>
          <a:ln w="12700" cap="sq">
            <a:solidFill>
              <a:srgbClr val="00000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 anchorCtr="1"/>
          <a:lstStyle/>
          <a:p>
            <a:pPr algn="ctr">
              <a:spcAft>
                <a:spcPct val="0"/>
              </a:spcAft>
              <a:buSzTx/>
              <a:buFontTx/>
              <a:buNone/>
              <a:tabLst>
                <a:tab pos="292100" algn="l"/>
                <a:tab pos="485775" algn="l"/>
              </a:tabLst>
              <a:defRPr/>
            </a:pPr>
            <a:r>
              <a:rPr lang="zh-CN" alt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数据</a:t>
            </a:r>
          </a:p>
          <a:p>
            <a:pPr algn="ctr">
              <a:spcAft>
                <a:spcPct val="0"/>
              </a:spcAft>
              <a:buSzTx/>
              <a:buFontTx/>
              <a:buNone/>
              <a:tabLst>
                <a:tab pos="292100" algn="l"/>
                <a:tab pos="485775" algn="l"/>
              </a:tabLst>
              <a:defRPr/>
            </a:pPr>
            <a:r>
              <a:rPr lang="zh-CN" alt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装入</a:t>
            </a:r>
          </a:p>
        </p:txBody>
      </p:sp>
      <p:sp>
        <p:nvSpPr>
          <p:cNvPr id="1216520" name="Oval 8"/>
          <p:cNvSpPr>
            <a:spLocks noChangeArrowheads="1"/>
          </p:cNvSpPr>
          <p:nvPr/>
        </p:nvSpPr>
        <p:spPr bwMode="auto">
          <a:xfrm>
            <a:off x="3976688" y="4617045"/>
            <a:ext cx="1524000" cy="1463675"/>
          </a:xfrm>
          <a:prstGeom prst="ellipse">
            <a:avLst/>
          </a:prstGeom>
          <a:solidFill>
            <a:srgbClr val="CCFFCC"/>
          </a:solidFill>
          <a:ln w="12700" cap="sq">
            <a:solidFill>
              <a:srgbClr val="00000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 anchorCtr="1"/>
          <a:lstStyle/>
          <a:p>
            <a:pPr algn="ctr">
              <a:spcAft>
                <a:spcPct val="0"/>
              </a:spcAft>
              <a:buSzTx/>
              <a:buFontTx/>
              <a:buNone/>
              <a:tabLst>
                <a:tab pos="292100" algn="l"/>
                <a:tab pos="485775" algn="l"/>
              </a:tabLst>
              <a:defRPr/>
            </a:pPr>
            <a:r>
              <a:rPr lang="zh-CN" alt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编制与调试应用程序</a:t>
            </a:r>
          </a:p>
        </p:txBody>
      </p:sp>
      <p:sp>
        <p:nvSpPr>
          <p:cNvPr id="1216521" name="Oval 9"/>
          <p:cNvSpPr>
            <a:spLocks noChangeArrowheads="1"/>
          </p:cNvSpPr>
          <p:nvPr/>
        </p:nvSpPr>
        <p:spPr bwMode="auto">
          <a:xfrm>
            <a:off x="6186488" y="3337520"/>
            <a:ext cx="1524000" cy="1463675"/>
          </a:xfrm>
          <a:prstGeom prst="ellipse">
            <a:avLst/>
          </a:prstGeom>
          <a:solidFill>
            <a:srgbClr val="CCFFCC"/>
          </a:solidFill>
          <a:ln w="12700" cap="sq">
            <a:solidFill>
              <a:srgbClr val="00000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 anchorCtr="1"/>
          <a:lstStyle/>
          <a:p>
            <a:pPr algn="ctr">
              <a:spcAft>
                <a:spcPct val="0"/>
              </a:spcAft>
              <a:buSzTx/>
              <a:buFontTx/>
              <a:buNone/>
              <a:tabLst>
                <a:tab pos="292100" algn="l"/>
                <a:tab pos="485775" algn="l"/>
              </a:tabLst>
              <a:defRPr/>
            </a:pPr>
            <a:r>
              <a:rPr lang="zh-CN" alt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微软雅黑" pitchFamily="34" charset="-122"/>
                <a:ea typeface="微软雅黑" pitchFamily="34" charset="-122"/>
              </a:rPr>
              <a:t>数据库试运行</a:t>
            </a:r>
          </a:p>
        </p:txBody>
      </p:sp>
      <p:sp>
        <p:nvSpPr>
          <p:cNvPr id="1216522" name="Line 10"/>
          <p:cNvSpPr>
            <a:spLocks noChangeShapeType="1"/>
          </p:cNvSpPr>
          <p:nvPr/>
        </p:nvSpPr>
        <p:spPr bwMode="auto">
          <a:xfrm flipV="1">
            <a:off x="3062288" y="3032720"/>
            <a:ext cx="990600" cy="609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lIns="0" tIns="0" rIns="0" bIns="0" anchor="ctr"/>
          <a:lstStyle/>
          <a:p>
            <a:pPr>
              <a:defRPr/>
            </a:pPr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16523" name="Line 11"/>
          <p:cNvSpPr>
            <a:spLocks noChangeShapeType="1"/>
          </p:cNvSpPr>
          <p:nvPr/>
        </p:nvSpPr>
        <p:spPr bwMode="auto">
          <a:xfrm>
            <a:off x="3062288" y="4480520"/>
            <a:ext cx="990600" cy="609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lIns="0" tIns="0" rIns="0" bIns="0" anchor="ctr"/>
          <a:lstStyle/>
          <a:p>
            <a:pPr>
              <a:defRPr/>
            </a:pPr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16524" name="Line 12"/>
          <p:cNvSpPr>
            <a:spLocks noChangeShapeType="1"/>
          </p:cNvSpPr>
          <p:nvPr/>
        </p:nvSpPr>
        <p:spPr bwMode="auto">
          <a:xfrm>
            <a:off x="5348288" y="2804120"/>
            <a:ext cx="1143000" cy="609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lIns="0" tIns="0" rIns="0" bIns="0" anchor="ctr"/>
          <a:lstStyle/>
          <a:p>
            <a:pPr>
              <a:defRPr/>
            </a:pPr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16525" name="Line 13"/>
          <p:cNvSpPr>
            <a:spLocks noChangeShapeType="1"/>
          </p:cNvSpPr>
          <p:nvPr/>
        </p:nvSpPr>
        <p:spPr bwMode="auto">
          <a:xfrm flipV="1">
            <a:off x="5500688" y="4632920"/>
            <a:ext cx="838200" cy="609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lIns="0" tIns="0" rIns="0" bIns="0" anchor="ctr"/>
          <a:lstStyle/>
          <a:p>
            <a:pPr>
              <a:defRPr/>
            </a:pPr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16526" name="AutoShape 14"/>
          <p:cNvSpPr>
            <a:spLocks noChangeArrowheads="1"/>
          </p:cNvSpPr>
          <p:nvPr/>
        </p:nvSpPr>
        <p:spPr bwMode="auto">
          <a:xfrm rot="2700000">
            <a:off x="1385888" y="4251920"/>
            <a:ext cx="228600" cy="838200"/>
          </a:xfrm>
          <a:prstGeom prst="upArrow">
            <a:avLst>
              <a:gd name="adj1" fmla="val 50000"/>
              <a:gd name="adj2" fmla="val 91667"/>
            </a:avLst>
          </a:prstGeom>
          <a:solidFill>
            <a:srgbClr val="CCFFCC"/>
          </a:solidFill>
          <a:ln w="12700" cap="sq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>
              <a:defRPr/>
            </a:pPr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16527" name="AutoShape 15"/>
          <p:cNvSpPr>
            <a:spLocks noChangeArrowheads="1"/>
          </p:cNvSpPr>
          <p:nvPr/>
        </p:nvSpPr>
        <p:spPr bwMode="auto">
          <a:xfrm rot="8100000">
            <a:off x="7481888" y="4709120"/>
            <a:ext cx="228600" cy="838200"/>
          </a:xfrm>
          <a:prstGeom prst="upArrow">
            <a:avLst>
              <a:gd name="adj1" fmla="val 50000"/>
              <a:gd name="adj2" fmla="val 91667"/>
            </a:avLst>
          </a:prstGeom>
          <a:solidFill>
            <a:srgbClr val="CCFFCC"/>
          </a:solidFill>
          <a:ln w="12700" cap="sq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>
              <a:defRPr/>
            </a:pPr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16528" name="AutoShape 16"/>
          <p:cNvSpPr>
            <a:spLocks noChangeArrowheads="1"/>
          </p:cNvSpPr>
          <p:nvPr/>
        </p:nvSpPr>
        <p:spPr bwMode="auto">
          <a:xfrm>
            <a:off x="6796088" y="5471120"/>
            <a:ext cx="1905000" cy="838200"/>
          </a:xfrm>
          <a:prstGeom prst="can">
            <a:avLst>
              <a:gd name="adj" fmla="val 32009"/>
            </a:avLst>
          </a:prstGeom>
          <a:solidFill>
            <a:srgbClr val="F5F5FF"/>
          </a:solidFill>
          <a:ln w="12700" cap="sq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0" tIns="14400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数据库系统</a:t>
            </a:r>
          </a:p>
        </p:txBody>
      </p:sp>
      <p:sp>
        <p:nvSpPr>
          <p:cNvPr id="1216529" name="AutoShape 17"/>
          <p:cNvSpPr>
            <a:spLocks noChangeArrowheads="1"/>
          </p:cNvSpPr>
          <p:nvPr/>
        </p:nvSpPr>
        <p:spPr bwMode="auto">
          <a:xfrm rot="8100000">
            <a:off x="1462088" y="2956520"/>
            <a:ext cx="228600" cy="838200"/>
          </a:xfrm>
          <a:prstGeom prst="upArrow">
            <a:avLst>
              <a:gd name="adj1" fmla="val 50000"/>
              <a:gd name="adj2" fmla="val 91667"/>
            </a:avLst>
          </a:prstGeom>
          <a:solidFill>
            <a:srgbClr val="CCFFCC"/>
          </a:solidFill>
          <a:ln w="12700" cap="sq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>
              <a:defRPr/>
            </a:pPr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16530" name="AutoShape 18"/>
          <p:cNvSpPr>
            <a:spLocks noChangeArrowheads="1"/>
          </p:cNvSpPr>
          <p:nvPr/>
        </p:nvSpPr>
        <p:spPr bwMode="auto">
          <a:xfrm>
            <a:off x="6443663" y="1394420"/>
            <a:ext cx="2014537" cy="1697037"/>
          </a:xfrm>
          <a:prstGeom prst="wedgeEllipseCallout">
            <a:avLst>
              <a:gd name="adj1" fmla="val -23995"/>
              <a:gd name="adj2" fmla="val 55426"/>
            </a:avLst>
          </a:prstGeom>
          <a:solidFill>
            <a:srgbClr val="3333FF"/>
          </a:solidFill>
          <a:ln w="12700" cap="sq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lIns="0" tIns="0" rIns="0" bIns="0">
            <a:spAutoFit/>
          </a:bodyPr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6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功能测试</a:t>
            </a:r>
          </a:p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6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性能测试</a:t>
            </a:r>
          </a:p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6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其它测试</a:t>
            </a:r>
          </a:p>
        </p:txBody>
      </p:sp>
      <p:sp>
        <p:nvSpPr>
          <p:cNvPr id="1216531" name="AutoShape 19"/>
          <p:cNvSpPr>
            <a:spLocks noChangeArrowheads="1"/>
          </p:cNvSpPr>
          <p:nvPr/>
        </p:nvSpPr>
        <p:spPr bwMode="auto">
          <a:xfrm>
            <a:off x="2843213" y="1176932"/>
            <a:ext cx="1223962" cy="1135063"/>
          </a:xfrm>
          <a:prstGeom prst="wedgeEllipseCallout">
            <a:avLst>
              <a:gd name="adj1" fmla="val 39625"/>
              <a:gd name="adj2" fmla="val 43708"/>
            </a:avLst>
          </a:prstGeom>
          <a:solidFill>
            <a:srgbClr val="3333FF"/>
          </a:solidFill>
          <a:ln w="12700" cap="sq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lIns="0" tIns="0" rIns="0" bIns="0">
            <a:spAutoFit/>
          </a:bodyPr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6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itchFamily="34" charset="-122"/>
                <a:ea typeface="微软雅黑" pitchFamily="34" charset="-122"/>
              </a:rPr>
              <a:t>输入校验</a:t>
            </a:r>
          </a:p>
        </p:txBody>
      </p:sp>
    </p:spTree>
  </p:cSld>
  <p:clrMapOvr>
    <a:masterClrMapping/>
  </p:clrMapOvr>
  <p:transition spd="med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3"/>
          <p:cNvSpPr>
            <a:spLocks noGrp="1" noChangeArrowheads="1"/>
          </p:cNvSpPr>
          <p:nvPr>
            <p:ph type="title"/>
          </p:nvPr>
        </p:nvSpPr>
        <p:spPr>
          <a:xfrm>
            <a:off x="169985" y="0"/>
            <a:ext cx="4762055" cy="760959"/>
          </a:xfrm>
          <a:noFill/>
          <a:ln w="12700" cap="sq">
            <a:noFill/>
            <a:miter lim="800000"/>
            <a:headEnd/>
            <a:tailEnd/>
          </a:ln>
          <a:effectLst>
            <a:outerShdw dist="35921" dir="2700000" algn="ctr" rotWithShape="0">
              <a:srgbClr val="000514"/>
            </a:outerShdw>
          </a:effectLst>
        </p:spPr>
        <p:txBody>
          <a:bodyPr vert="horz" wrap="none" lIns="72000" tIns="72000" rIns="72000" bIns="72000" numCol="1" rtlCol="0" anchor="ctr" anchorCtr="0" compatLnSpc="1">
            <a:prstTxWarp prst="textNoShape">
              <a:avLst/>
            </a:prstTxWarp>
            <a:spAutoFit/>
          </a:bodyPr>
          <a:lstStyle/>
          <a:p>
            <a:pPr eaLnBrk="1" hangingPunct="1">
              <a:spcBef>
                <a:spcPts val="0"/>
              </a:spcBef>
              <a:spcAft>
                <a:spcPct val="25000"/>
              </a:spcAft>
              <a:buSzPct val="80000"/>
              <a:buFont typeface="Wingdings" pitchFamily="2" charset="2"/>
              <a:buNone/>
            </a:pPr>
            <a:r>
              <a:rPr kumimoji="1" lang="zh-CN" altLang="zh-CN" sz="4000" b="1" kern="1200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数据库</a:t>
            </a:r>
            <a:r>
              <a:rPr kumimoji="1" lang="zh-CN" altLang="en-US" sz="4000" b="1" kern="1200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的</a:t>
            </a:r>
            <a:r>
              <a:rPr kumimoji="1" lang="zh-CN" altLang="en-US" sz="4000" b="1" kern="1200" dirty="0" smtClean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实施与维护</a:t>
            </a:r>
            <a:endParaRPr kumimoji="1" lang="en-US" altLang="zh-CN" sz="4000" b="1" kern="1200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pic>
        <p:nvPicPr>
          <p:cNvPr id="34820" name="Picture 4" descr="BD06784_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00" y="908050"/>
            <a:ext cx="1757363" cy="144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1" name="Rectangle 5"/>
          <p:cNvSpPr>
            <a:spLocks noChangeArrowheads="1"/>
          </p:cNvSpPr>
          <p:nvPr/>
        </p:nvSpPr>
        <p:spPr bwMode="auto">
          <a:xfrm>
            <a:off x="5580063" y="1556469"/>
            <a:ext cx="21336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spcAft>
                <a:spcPct val="0"/>
              </a:spcAft>
              <a:buSzTx/>
              <a:buFontTx/>
              <a:buNone/>
            </a:pPr>
            <a:r>
              <a:rPr lang="zh-CN" altLang="en-US" sz="2800">
                <a:effectLst/>
                <a:latin typeface="Times New Roman" pitchFamily="18" charset="0"/>
              </a:rPr>
              <a:t>数据库管理员</a:t>
            </a:r>
          </a:p>
          <a:p>
            <a:pPr algn="ctr">
              <a:spcAft>
                <a:spcPct val="0"/>
              </a:spcAft>
              <a:buSzTx/>
              <a:buFontTx/>
              <a:buNone/>
            </a:pPr>
            <a:r>
              <a:rPr lang="en-US" altLang="zh-CN" sz="2800">
                <a:effectLst/>
                <a:latin typeface="Times New Roman" pitchFamily="18" charset="0"/>
              </a:rPr>
              <a:t>DBA</a:t>
            </a:r>
          </a:p>
        </p:txBody>
      </p:sp>
      <p:sp>
        <p:nvSpPr>
          <p:cNvPr id="1217542" name="AutoShape 6"/>
          <p:cNvSpPr>
            <a:spLocks noChangeArrowheads="1"/>
          </p:cNvSpPr>
          <p:nvPr/>
        </p:nvSpPr>
        <p:spPr bwMode="auto">
          <a:xfrm>
            <a:off x="3575050" y="5687144"/>
            <a:ext cx="1905000" cy="838200"/>
          </a:xfrm>
          <a:prstGeom prst="can">
            <a:avLst>
              <a:gd name="adj" fmla="val 29736"/>
            </a:avLst>
          </a:prstGeom>
          <a:solidFill>
            <a:srgbClr val="F5F5FF"/>
          </a:solidFill>
          <a:ln w="12700" cap="sq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0" tIns="144000" rIns="0" bIns="0" anchor="ctr"/>
          <a:lstStyle/>
          <a:p>
            <a:pPr algn="ctr">
              <a:spcAft>
                <a:spcPct val="0"/>
              </a:spcAft>
              <a:buSzTx/>
              <a:buFontTx/>
              <a:buNone/>
              <a:defRPr/>
            </a:pPr>
            <a:r>
              <a:rPr lang="zh-CN" altLang="en-US" sz="28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数据库</a:t>
            </a:r>
          </a:p>
        </p:txBody>
      </p:sp>
      <p:sp>
        <p:nvSpPr>
          <p:cNvPr id="1217543" name="Oval 7"/>
          <p:cNvSpPr>
            <a:spLocks noChangeArrowheads="1"/>
          </p:cNvSpPr>
          <p:nvPr/>
        </p:nvSpPr>
        <p:spPr bwMode="auto">
          <a:xfrm>
            <a:off x="450850" y="3401144"/>
            <a:ext cx="1676400" cy="1447800"/>
          </a:xfrm>
          <a:prstGeom prst="ellipse">
            <a:avLst/>
          </a:prstGeom>
          <a:solidFill>
            <a:srgbClr val="CCFFCC"/>
          </a:solidFill>
          <a:ln w="12700" cap="sq">
            <a:solidFill>
              <a:srgbClr val="00000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 anchorCtr="1"/>
          <a:lstStyle/>
          <a:p>
            <a:pPr algn="ctr">
              <a:spcAft>
                <a:spcPct val="0"/>
              </a:spcAft>
              <a:buSzTx/>
              <a:buFontTx/>
              <a:buNone/>
              <a:tabLst>
                <a:tab pos="292100" algn="l"/>
                <a:tab pos="485775" algn="l"/>
              </a:tabLst>
              <a:defRPr/>
            </a:pPr>
            <a:r>
              <a:rPr lang="zh-CN" alt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转储</a:t>
            </a:r>
          </a:p>
          <a:p>
            <a:pPr algn="ctr">
              <a:spcAft>
                <a:spcPct val="0"/>
              </a:spcAft>
              <a:buSzTx/>
              <a:buFontTx/>
              <a:buNone/>
              <a:tabLst>
                <a:tab pos="292100" algn="l"/>
                <a:tab pos="485775" algn="l"/>
              </a:tabLst>
              <a:defRPr/>
            </a:pPr>
            <a:r>
              <a:rPr lang="zh-CN" alt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恢复</a:t>
            </a:r>
          </a:p>
        </p:txBody>
      </p:sp>
      <p:sp>
        <p:nvSpPr>
          <p:cNvPr id="1217544" name="Oval 8"/>
          <p:cNvSpPr>
            <a:spLocks noChangeArrowheads="1"/>
          </p:cNvSpPr>
          <p:nvPr/>
        </p:nvSpPr>
        <p:spPr bwMode="auto">
          <a:xfrm>
            <a:off x="2609850" y="3401144"/>
            <a:ext cx="1676400" cy="1447800"/>
          </a:xfrm>
          <a:prstGeom prst="ellipse">
            <a:avLst/>
          </a:prstGeom>
          <a:solidFill>
            <a:srgbClr val="CCFFCC"/>
          </a:solidFill>
          <a:ln w="12700" cap="sq">
            <a:solidFill>
              <a:srgbClr val="00000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 anchorCtr="1"/>
          <a:lstStyle/>
          <a:p>
            <a:pPr algn="ctr">
              <a:spcAft>
                <a:spcPct val="0"/>
              </a:spcAft>
              <a:buSzTx/>
              <a:buFontTx/>
              <a:buNone/>
              <a:tabLst>
                <a:tab pos="292100" algn="l"/>
                <a:tab pos="485775" algn="l"/>
              </a:tabLst>
              <a:defRPr/>
            </a:pPr>
            <a:r>
              <a:rPr lang="zh-CN" alt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安全性</a:t>
            </a:r>
          </a:p>
          <a:p>
            <a:pPr algn="ctr">
              <a:spcAft>
                <a:spcPct val="0"/>
              </a:spcAft>
              <a:buSzTx/>
              <a:buFontTx/>
              <a:buNone/>
              <a:tabLst>
                <a:tab pos="292100" algn="l"/>
                <a:tab pos="485775" algn="l"/>
              </a:tabLst>
              <a:defRPr/>
            </a:pPr>
            <a:r>
              <a:rPr lang="zh-CN" alt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完整性</a:t>
            </a:r>
          </a:p>
          <a:p>
            <a:pPr algn="ctr">
              <a:spcAft>
                <a:spcPct val="0"/>
              </a:spcAft>
              <a:buSzTx/>
              <a:buFontTx/>
              <a:buNone/>
              <a:tabLst>
                <a:tab pos="292100" algn="l"/>
                <a:tab pos="485775" algn="l"/>
              </a:tabLst>
              <a:defRPr/>
            </a:pPr>
            <a:r>
              <a:rPr lang="zh-CN" alt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控制</a:t>
            </a:r>
          </a:p>
        </p:txBody>
      </p:sp>
      <p:sp>
        <p:nvSpPr>
          <p:cNvPr id="1217545" name="Oval 9"/>
          <p:cNvSpPr>
            <a:spLocks noChangeArrowheads="1"/>
          </p:cNvSpPr>
          <p:nvPr/>
        </p:nvSpPr>
        <p:spPr bwMode="auto">
          <a:xfrm>
            <a:off x="4768850" y="3401144"/>
            <a:ext cx="1676400" cy="1447800"/>
          </a:xfrm>
          <a:prstGeom prst="ellipse">
            <a:avLst/>
          </a:prstGeom>
          <a:solidFill>
            <a:srgbClr val="CCFFCC"/>
          </a:solidFill>
          <a:ln w="12700" cap="sq">
            <a:solidFill>
              <a:srgbClr val="00000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 anchorCtr="1"/>
          <a:lstStyle/>
          <a:p>
            <a:pPr algn="ctr">
              <a:spcAft>
                <a:spcPct val="0"/>
              </a:spcAft>
              <a:buSzTx/>
              <a:buFontTx/>
              <a:buNone/>
              <a:tabLst>
                <a:tab pos="292100" algn="l"/>
                <a:tab pos="485775" algn="l"/>
              </a:tabLst>
              <a:defRPr/>
            </a:pPr>
            <a:r>
              <a:rPr lang="zh-CN" alt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性能的监督分析改进</a:t>
            </a:r>
          </a:p>
        </p:txBody>
      </p:sp>
      <p:sp>
        <p:nvSpPr>
          <p:cNvPr id="1217546" name="Oval 10"/>
          <p:cNvSpPr>
            <a:spLocks noChangeArrowheads="1"/>
          </p:cNvSpPr>
          <p:nvPr/>
        </p:nvSpPr>
        <p:spPr bwMode="auto">
          <a:xfrm>
            <a:off x="6927850" y="3401144"/>
            <a:ext cx="1676400" cy="1447800"/>
          </a:xfrm>
          <a:prstGeom prst="ellipse">
            <a:avLst/>
          </a:prstGeom>
          <a:solidFill>
            <a:srgbClr val="CCFFCC"/>
          </a:solidFill>
          <a:ln w="12700" cap="sq">
            <a:solidFill>
              <a:srgbClr val="000000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 anchorCtr="1"/>
          <a:lstStyle/>
          <a:p>
            <a:pPr algn="ctr">
              <a:spcAft>
                <a:spcPct val="0"/>
              </a:spcAft>
              <a:buSzTx/>
              <a:buFontTx/>
              <a:buNone/>
              <a:tabLst>
                <a:tab pos="292100" algn="l"/>
                <a:tab pos="485775" algn="l"/>
              </a:tabLst>
              <a:defRPr/>
            </a:pPr>
            <a:r>
              <a:rPr lang="zh-CN" alt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重组织</a:t>
            </a:r>
          </a:p>
          <a:p>
            <a:pPr algn="ctr">
              <a:spcAft>
                <a:spcPct val="0"/>
              </a:spcAft>
              <a:buSzTx/>
              <a:buFontTx/>
              <a:buNone/>
              <a:tabLst>
                <a:tab pos="292100" algn="l"/>
                <a:tab pos="485775" algn="l"/>
              </a:tabLst>
              <a:defRPr/>
            </a:pPr>
            <a:r>
              <a:rPr lang="zh-CN" altLang="en-US" sz="24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重构造</a:t>
            </a:r>
          </a:p>
        </p:txBody>
      </p:sp>
      <p:cxnSp>
        <p:nvCxnSpPr>
          <p:cNvPr id="34827" name="AutoShape 11"/>
          <p:cNvCxnSpPr>
            <a:cxnSpLocks noChangeShapeType="1"/>
            <a:endCxn id="1217543" idx="7"/>
          </p:cNvCxnSpPr>
          <p:nvPr/>
        </p:nvCxnSpPr>
        <p:spPr bwMode="auto">
          <a:xfrm flipH="1">
            <a:off x="1881188" y="2494682"/>
            <a:ext cx="2490787" cy="1119187"/>
          </a:xfrm>
          <a:prstGeom prst="straightConnector1">
            <a:avLst/>
          </a:prstGeom>
          <a:noFill/>
          <a:ln w="28575" cap="sq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28" name="AutoShape 12"/>
          <p:cNvCxnSpPr>
            <a:cxnSpLocks noChangeShapeType="1"/>
            <a:endCxn id="1217544" idx="0"/>
          </p:cNvCxnSpPr>
          <p:nvPr/>
        </p:nvCxnSpPr>
        <p:spPr bwMode="auto">
          <a:xfrm flipH="1">
            <a:off x="3448050" y="2494682"/>
            <a:ext cx="923925" cy="906462"/>
          </a:xfrm>
          <a:prstGeom prst="straightConnector1">
            <a:avLst/>
          </a:prstGeom>
          <a:noFill/>
          <a:ln w="28575" cap="sq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29" name="AutoShape 13"/>
          <p:cNvCxnSpPr>
            <a:cxnSpLocks noChangeShapeType="1"/>
            <a:endCxn id="1217545" idx="0"/>
          </p:cNvCxnSpPr>
          <p:nvPr/>
        </p:nvCxnSpPr>
        <p:spPr bwMode="auto">
          <a:xfrm>
            <a:off x="4371975" y="2494682"/>
            <a:ext cx="1235075" cy="906462"/>
          </a:xfrm>
          <a:prstGeom prst="straightConnector1">
            <a:avLst/>
          </a:prstGeom>
          <a:noFill/>
          <a:ln w="28575" cap="sq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30" name="AutoShape 14"/>
          <p:cNvCxnSpPr>
            <a:cxnSpLocks noChangeShapeType="1"/>
            <a:endCxn id="1217546" idx="1"/>
          </p:cNvCxnSpPr>
          <p:nvPr/>
        </p:nvCxnSpPr>
        <p:spPr bwMode="auto">
          <a:xfrm>
            <a:off x="4371975" y="2494682"/>
            <a:ext cx="2801938" cy="1119187"/>
          </a:xfrm>
          <a:prstGeom prst="straightConnector1">
            <a:avLst/>
          </a:prstGeom>
          <a:noFill/>
          <a:ln w="28575" cap="sq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17551" name="Line 15"/>
          <p:cNvSpPr>
            <a:spLocks noChangeShapeType="1"/>
          </p:cNvSpPr>
          <p:nvPr/>
        </p:nvSpPr>
        <p:spPr bwMode="auto">
          <a:xfrm>
            <a:off x="1968500" y="4706069"/>
            <a:ext cx="1682750" cy="1057275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lIns="0" tIns="0" rIns="0" bIns="0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217552" name="Line 16"/>
          <p:cNvSpPr>
            <a:spLocks noChangeShapeType="1"/>
          </p:cNvSpPr>
          <p:nvPr/>
        </p:nvSpPr>
        <p:spPr bwMode="auto">
          <a:xfrm>
            <a:off x="3575050" y="4848944"/>
            <a:ext cx="533400" cy="8382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lIns="0" tIns="0" rIns="0" bIns="0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217553" name="Line 17"/>
          <p:cNvSpPr>
            <a:spLocks noChangeShapeType="1"/>
          </p:cNvSpPr>
          <p:nvPr/>
        </p:nvSpPr>
        <p:spPr bwMode="auto">
          <a:xfrm flipH="1">
            <a:off x="4870450" y="4848944"/>
            <a:ext cx="457200" cy="8382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lIns="0" tIns="0" rIns="0" bIns="0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217554" name="Line 18"/>
          <p:cNvSpPr>
            <a:spLocks noChangeShapeType="1"/>
          </p:cNvSpPr>
          <p:nvPr/>
        </p:nvSpPr>
        <p:spPr bwMode="auto">
          <a:xfrm flipH="1">
            <a:off x="5403850" y="4633044"/>
            <a:ext cx="1749425" cy="10541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lIns="0" tIns="0" rIns="0" bIns="0" anchor="ctr"/>
          <a:lstStyle/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med"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带有标题的">
  <a:themeElements>
    <a:clrScheme name="带有标题的 1">
      <a:dk1>
        <a:srgbClr val="000514"/>
      </a:dk1>
      <a:lt1>
        <a:srgbClr val="FFFFFF"/>
      </a:lt1>
      <a:dk2>
        <a:srgbClr val="003399"/>
      </a:dk2>
      <a:lt2>
        <a:srgbClr val="E5E5FF"/>
      </a:lt2>
      <a:accent1>
        <a:srgbClr val="0099CC"/>
      </a:accent1>
      <a:accent2>
        <a:srgbClr val="A886E0"/>
      </a:accent2>
      <a:accent3>
        <a:srgbClr val="AAADCA"/>
      </a:accent3>
      <a:accent4>
        <a:srgbClr val="DADADA"/>
      </a:accent4>
      <a:accent5>
        <a:srgbClr val="AACAE2"/>
      </a:accent5>
      <a:accent6>
        <a:srgbClr val="9879CB"/>
      </a:accent6>
      <a:hlink>
        <a:srgbClr val="FFCC00"/>
      </a:hlink>
      <a:folHlink>
        <a:srgbClr val="FFFFCC"/>
      </a:folHlink>
    </a:clrScheme>
    <a:fontScheme name="带有标题的">
      <a:majorFont>
        <a:latin typeface="方正姚体"/>
        <a:ea typeface="方正姚体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sq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25000"/>
          </a:spcAft>
          <a:buClrTx/>
          <a:buSzPct val="80000"/>
          <a:buFont typeface="Wingdings" pitchFamily="2" charset="2"/>
          <a:buNone/>
          <a:tabLst>
            <a:tab pos="1071563" algn="l"/>
          </a:tabLst>
          <a:defRPr kumimoji="1" 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楷体_GB2312" pitchFamily="49" charset="-122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sq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25000"/>
          </a:spcAft>
          <a:buClrTx/>
          <a:buSzPct val="80000"/>
          <a:buFont typeface="Wingdings" pitchFamily="2" charset="2"/>
          <a:buNone/>
          <a:tabLst>
            <a:tab pos="1071563" algn="l"/>
          </a:tabLst>
          <a:defRPr kumimoji="1" 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楷体_GB2312" pitchFamily="49" charset="-122"/>
            <a:ea typeface="楷体_GB2312" pitchFamily="49" charset="-122"/>
          </a:defRPr>
        </a:defPPr>
      </a:lstStyle>
    </a:lnDef>
  </a:objectDefaults>
  <a:extraClrSchemeLst>
    <a:extraClrScheme>
      <a:clrScheme name="带有标题的 1">
        <a:dk1>
          <a:srgbClr val="000514"/>
        </a:dk1>
        <a:lt1>
          <a:srgbClr val="FFFFFF"/>
        </a:lt1>
        <a:dk2>
          <a:srgbClr val="003399"/>
        </a:dk2>
        <a:lt2>
          <a:srgbClr val="E5E5FF"/>
        </a:lt2>
        <a:accent1>
          <a:srgbClr val="0099CC"/>
        </a:accent1>
        <a:accent2>
          <a:srgbClr val="A886E0"/>
        </a:accent2>
        <a:accent3>
          <a:srgbClr val="AAADCA"/>
        </a:accent3>
        <a:accent4>
          <a:srgbClr val="DADADA"/>
        </a:accent4>
        <a:accent5>
          <a:srgbClr val="AACAE2"/>
        </a:accent5>
        <a:accent6>
          <a:srgbClr val="9879CB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带有标题的 2">
        <a:dk1>
          <a:srgbClr val="3E3E5C"/>
        </a:dk1>
        <a:lt1>
          <a:srgbClr val="FFFFFF"/>
        </a:lt1>
        <a:dk2>
          <a:srgbClr val="666699"/>
        </a:dk2>
        <a:lt2>
          <a:srgbClr val="DFDFE9"/>
        </a:lt2>
        <a:accent1>
          <a:srgbClr val="CC66FF"/>
        </a:accent1>
        <a:accent2>
          <a:srgbClr val="679ACD"/>
        </a:accent2>
        <a:accent3>
          <a:srgbClr val="B8B8CA"/>
        </a:accent3>
        <a:accent4>
          <a:srgbClr val="DADADA"/>
        </a:accent4>
        <a:accent5>
          <a:srgbClr val="E2B8FF"/>
        </a:accent5>
        <a:accent6>
          <a:srgbClr val="5D8BBA"/>
        </a:accent6>
        <a:hlink>
          <a:srgbClr val="CCE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带有标题的 3">
        <a:dk1>
          <a:srgbClr val="2A5400"/>
        </a:dk1>
        <a:lt1>
          <a:srgbClr val="FFFFFF"/>
        </a:lt1>
        <a:dk2>
          <a:srgbClr val="4A9400"/>
        </a:dk2>
        <a:lt2>
          <a:srgbClr val="BAE8BA"/>
        </a:lt2>
        <a:accent1>
          <a:srgbClr val="33CC33"/>
        </a:accent1>
        <a:accent2>
          <a:srgbClr val="99CC00"/>
        </a:accent2>
        <a:accent3>
          <a:srgbClr val="B1C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99FF33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带有标题的 4">
        <a:dk1>
          <a:srgbClr val="000000"/>
        </a:dk1>
        <a:lt1>
          <a:srgbClr val="FFFFFF"/>
        </a:lt1>
        <a:dk2>
          <a:srgbClr val="51596D"/>
        </a:dk2>
        <a:lt2>
          <a:srgbClr val="DDDDDD"/>
        </a:lt2>
        <a:accent1>
          <a:srgbClr val="787E8A"/>
        </a:accent1>
        <a:accent2>
          <a:srgbClr val="339966"/>
        </a:accent2>
        <a:accent3>
          <a:srgbClr val="B3B5BA"/>
        </a:accent3>
        <a:accent4>
          <a:srgbClr val="DADADA"/>
        </a:accent4>
        <a:accent5>
          <a:srgbClr val="BEC0C4"/>
        </a:accent5>
        <a:accent6>
          <a:srgbClr val="2D8A5C"/>
        </a:accent6>
        <a:hlink>
          <a:srgbClr val="00FFFF"/>
        </a:hlink>
        <a:folHlink>
          <a:srgbClr val="74B6D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带有标题的 5">
        <a:dk1>
          <a:srgbClr val="5C1F00"/>
        </a:dk1>
        <a:lt1>
          <a:srgbClr val="FFFFFF"/>
        </a:lt1>
        <a:dk2>
          <a:srgbClr val="8C0000"/>
        </a:dk2>
        <a:lt2>
          <a:srgbClr val="DFD293"/>
        </a:lt2>
        <a:accent1>
          <a:srgbClr val="FF6845"/>
        </a:accent1>
        <a:accent2>
          <a:srgbClr val="BE7960"/>
        </a:accent2>
        <a:accent3>
          <a:srgbClr val="C5AAAA"/>
        </a:accent3>
        <a:accent4>
          <a:srgbClr val="DADADA"/>
        </a:accent4>
        <a:accent5>
          <a:srgbClr val="FFB9B0"/>
        </a:accent5>
        <a:accent6>
          <a:srgbClr val="AC6D56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带有标题的 6">
        <a:dk1>
          <a:srgbClr val="5E4444"/>
        </a:dk1>
        <a:lt1>
          <a:srgbClr val="F7F3F3"/>
        </a:lt1>
        <a:dk2>
          <a:srgbClr val="8A6362"/>
        </a:dk2>
        <a:lt2>
          <a:srgbClr val="D8C1BA"/>
        </a:lt2>
        <a:accent1>
          <a:srgbClr val="CC6600"/>
        </a:accent1>
        <a:accent2>
          <a:srgbClr val="C16059"/>
        </a:accent2>
        <a:accent3>
          <a:srgbClr val="C4B7B7"/>
        </a:accent3>
        <a:accent4>
          <a:srgbClr val="D3D0D0"/>
        </a:accent4>
        <a:accent5>
          <a:srgbClr val="E2B8AA"/>
        </a:accent5>
        <a:accent6>
          <a:srgbClr val="AF5650"/>
        </a:accent6>
        <a:hlink>
          <a:srgbClr val="FFCC00"/>
        </a:hlink>
        <a:folHlink>
          <a:srgbClr val="CBB55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带有标题的 7">
        <a:dk1>
          <a:srgbClr val="7F6737"/>
        </a:dk1>
        <a:lt1>
          <a:srgbClr val="FFFFFF"/>
        </a:lt1>
        <a:dk2>
          <a:srgbClr val="BFA673"/>
        </a:dk2>
        <a:lt2>
          <a:srgbClr val="E6E3AA"/>
        </a:lt2>
        <a:accent1>
          <a:srgbClr val="FFCC00"/>
        </a:accent1>
        <a:accent2>
          <a:srgbClr val="808000"/>
        </a:accent2>
        <a:accent3>
          <a:srgbClr val="DCD0BC"/>
        </a:accent3>
        <a:accent4>
          <a:srgbClr val="DADADA"/>
        </a:accent4>
        <a:accent5>
          <a:srgbClr val="FFE2AA"/>
        </a:accent5>
        <a:accent6>
          <a:srgbClr val="737300"/>
        </a:accent6>
        <a:hlink>
          <a:srgbClr val="784700"/>
        </a:hlink>
        <a:folHlink>
          <a:srgbClr val="9A7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带有标题的 8">
        <a:dk1>
          <a:srgbClr val="4B2500"/>
        </a:dk1>
        <a:lt1>
          <a:srgbClr val="F9F0D3"/>
        </a:lt1>
        <a:dk2>
          <a:srgbClr val="A69564"/>
        </a:dk2>
        <a:lt2>
          <a:srgbClr val="EFDEAF"/>
        </a:lt2>
        <a:accent1>
          <a:srgbClr val="FFFFE3"/>
        </a:accent1>
        <a:accent2>
          <a:srgbClr val="BFBFA7"/>
        </a:accent2>
        <a:accent3>
          <a:srgbClr val="FBF6E6"/>
        </a:accent3>
        <a:accent4>
          <a:srgbClr val="3F1E00"/>
        </a:accent4>
        <a:accent5>
          <a:srgbClr val="FFFFEF"/>
        </a:accent5>
        <a:accent6>
          <a:srgbClr val="ADAD97"/>
        </a:accent6>
        <a:hlink>
          <a:srgbClr val="7B6D47"/>
        </a:hlink>
        <a:folHlink>
          <a:srgbClr val="A99D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带有标题的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EC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2D2D8A"/>
        </a:accent6>
        <a:hlink>
          <a:srgbClr val="6600FF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14860</TotalTime>
  <Words>1536</Words>
  <Application>Microsoft Office PowerPoint</Application>
  <PresentationFormat>全屏显示(4:3)</PresentationFormat>
  <Paragraphs>464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8" baseType="lpstr">
      <vt:lpstr>方正姚体</vt:lpstr>
      <vt:lpstr>华文楷体</vt:lpstr>
      <vt:lpstr>华文新魏</vt:lpstr>
      <vt:lpstr>楷体_GB2312</vt:lpstr>
      <vt:lpstr>隶书</vt:lpstr>
      <vt:lpstr>宋体</vt:lpstr>
      <vt:lpstr>微软雅黑</vt:lpstr>
      <vt:lpstr>Arial</vt:lpstr>
      <vt:lpstr>Times New Roman</vt:lpstr>
      <vt:lpstr>Wingdings</vt:lpstr>
      <vt:lpstr>带有标题的</vt:lpstr>
      <vt:lpstr>PowerPoint 演示文稿</vt:lpstr>
      <vt:lpstr>数据库系统的生存期</vt:lpstr>
      <vt:lpstr>需求分析是整个设计的基础和起点!</vt:lpstr>
      <vt:lpstr>概念结构设计是整个设计的关键!</vt:lpstr>
      <vt:lpstr>设计步骤1：选择局部应用，逐一设计分E-R图</vt:lpstr>
      <vt:lpstr>设计步骤1：选择局部应用，逐一设计分E-R图</vt:lpstr>
      <vt:lpstr>设计步骤2：视图的集成</vt:lpstr>
      <vt:lpstr>分E-R图之间的冲突</vt:lpstr>
      <vt:lpstr>分E-R图之间的冲突</vt:lpstr>
      <vt:lpstr>分E-R图之间的冲突</vt:lpstr>
      <vt:lpstr>分E-R图之间的冲突</vt:lpstr>
      <vt:lpstr>分E-R图之间的冲突</vt:lpstr>
      <vt:lpstr>分E-R图之间的冲突</vt:lpstr>
      <vt:lpstr>信息世界→机器世界</vt:lpstr>
      <vt:lpstr>第一步：E-R图转换成数据模型</vt:lpstr>
      <vt:lpstr>第一步：E-R图转换成数据模型</vt:lpstr>
      <vt:lpstr>第一步：E-R图转换成数据模型</vt:lpstr>
      <vt:lpstr>第一步：E-R图转换成数据模型</vt:lpstr>
      <vt:lpstr>第一步：E-R图转换成数据模型</vt:lpstr>
      <vt:lpstr>第一步：E-R图转换成数据模型</vt:lpstr>
      <vt:lpstr>第二步：数据模型的优化</vt:lpstr>
      <vt:lpstr>优化的几个例子</vt:lpstr>
      <vt:lpstr>优化的几个例子</vt:lpstr>
      <vt:lpstr>优化的几个例子</vt:lpstr>
      <vt:lpstr>确定数据库在物理设备上的存储结构和存取方法</vt:lpstr>
      <vt:lpstr>数据库的实施与维护</vt:lpstr>
      <vt:lpstr>数据库的实施与维护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潘 勇浩</cp:lastModifiedBy>
  <cp:revision>1693</cp:revision>
  <dcterms:created xsi:type="dcterms:W3CDTF">1601-01-01T00:00:00Z</dcterms:created>
  <dcterms:modified xsi:type="dcterms:W3CDTF">2019-06-05T16:48:31Z</dcterms:modified>
</cp:coreProperties>
</file>