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wav" ContentType="audio/wav"/>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2" r:id="rId1"/>
  </p:sldMasterIdLst>
  <p:notesMasterIdLst>
    <p:notesMasterId r:id="rId79"/>
  </p:notesMasterIdLst>
  <p:handoutMasterIdLst>
    <p:handoutMasterId r:id="rId80"/>
  </p:handoutMasterIdLst>
  <p:sldIdLst>
    <p:sldId id="304" r:id="rId2"/>
    <p:sldId id="305" r:id="rId3"/>
    <p:sldId id="306" r:id="rId4"/>
    <p:sldId id="307" r:id="rId5"/>
    <p:sldId id="308" r:id="rId6"/>
    <p:sldId id="309" r:id="rId7"/>
    <p:sldId id="310" r:id="rId8"/>
    <p:sldId id="312" r:id="rId9"/>
    <p:sldId id="313" r:id="rId10"/>
    <p:sldId id="315" r:id="rId11"/>
    <p:sldId id="316" r:id="rId12"/>
    <p:sldId id="317" r:id="rId13"/>
    <p:sldId id="318" r:id="rId14"/>
    <p:sldId id="319" r:id="rId15"/>
    <p:sldId id="320" r:id="rId16"/>
    <p:sldId id="325" r:id="rId17"/>
    <p:sldId id="326" r:id="rId18"/>
    <p:sldId id="327" r:id="rId19"/>
    <p:sldId id="328" r:id="rId20"/>
    <p:sldId id="330" r:id="rId21"/>
    <p:sldId id="383" r:id="rId22"/>
    <p:sldId id="384" r:id="rId23"/>
    <p:sldId id="385" r:id="rId24"/>
    <p:sldId id="386" r:id="rId25"/>
    <p:sldId id="387" r:id="rId26"/>
    <p:sldId id="388" r:id="rId27"/>
    <p:sldId id="389" r:id="rId28"/>
    <p:sldId id="390" r:id="rId29"/>
    <p:sldId id="391" r:id="rId30"/>
    <p:sldId id="392" r:id="rId31"/>
    <p:sldId id="341" r:id="rId32"/>
    <p:sldId id="342" r:id="rId33"/>
    <p:sldId id="393" r:id="rId34"/>
    <p:sldId id="394" r:id="rId35"/>
    <p:sldId id="382" r:id="rId36"/>
    <p:sldId id="395" r:id="rId37"/>
    <p:sldId id="396" r:id="rId38"/>
    <p:sldId id="397" r:id="rId39"/>
    <p:sldId id="398" r:id="rId40"/>
    <p:sldId id="399" r:id="rId41"/>
    <p:sldId id="345" r:id="rId42"/>
    <p:sldId id="346" r:id="rId43"/>
    <p:sldId id="347" r:id="rId44"/>
    <p:sldId id="348" r:id="rId45"/>
    <p:sldId id="349" r:id="rId46"/>
    <p:sldId id="350" r:id="rId47"/>
    <p:sldId id="351" r:id="rId48"/>
    <p:sldId id="352" r:id="rId49"/>
    <p:sldId id="353" r:id="rId50"/>
    <p:sldId id="354" r:id="rId51"/>
    <p:sldId id="355" r:id="rId52"/>
    <p:sldId id="356" r:id="rId53"/>
    <p:sldId id="357" r:id="rId54"/>
    <p:sldId id="358" r:id="rId55"/>
    <p:sldId id="359" r:id="rId56"/>
    <p:sldId id="360" r:id="rId57"/>
    <p:sldId id="361" r:id="rId58"/>
    <p:sldId id="362" r:id="rId59"/>
    <p:sldId id="363" r:id="rId60"/>
    <p:sldId id="364" r:id="rId61"/>
    <p:sldId id="365" r:id="rId62"/>
    <p:sldId id="366" r:id="rId63"/>
    <p:sldId id="367" r:id="rId64"/>
    <p:sldId id="368" r:id="rId65"/>
    <p:sldId id="369" r:id="rId66"/>
    <p:sldId id="370" r:id="rId67"/>
    <p:sldId id="371" r:id="rId68"/>
    <p:sldId id="372" r:id="rId69"/>
    <p:sldId id="373" r:id="rId70"/>
    <p:sldId id="374" r:id="rId71"/>
    <p:sldId id="375" r:id="rId72"/>
    <p:sldId id="376" r:id="rId73"/>
    <p:sldId id="377" r:id="rId74"/>
    <p:sldId id="378" r:id="rId75"/>
    <p:sldId id="379" r:id="rId76"/>
    <p:sldId id="380" r:id="rId77"/>
    <p:sldId id="381" r:id="rId78"/>
  </p:sldIdLst>
  <p:sldSz cx="9144000" cy="6858000" type="screen4x3"/>
  <p:notesSz cx="6858000" cy="9144000"/>
  <p:defaultTextStyle>
    <a:defPPr>
      <a:defRPr lang="en-US"/>
    </a:defPPr>
    <a:lvl1pPr algn="l" rtl="0" fontAlgn="base">
      <a:spcBef>
        <a:spcPct val="0"/>
      </a:spcBef>
      <a:spcAft>
        <a:spcPct val="25000"/>
      </a:spcAft>
      <a:buSzPct val="80000"/>
      <a:buFont typeface="Wingdings" pitchFamily="2" charset="2"/>
      <a:defRPr kumimoji="1" sz="3200" kern="1200">
        <a:solidFill>
          <a:schemeClr val="tx1"/>
        </a:solidFill>
        <a:effectLst>
          <a:outerShdw blurRad="38100" dist="38100" dir="2700000" algn="tl">
            <a:srgbClr val="000000">
              <a:alpha val="43137"/>
            </a:srgbClr>
          </a:outerShdw>
        </a:effectLst>
        <a:latin typeface="楷体_GB2312" pitchFamily="49" charset="-122"/>
        <a:ea typeface="楷体_GB2312" pitchFamily="49" charset="-122"/>
        <a:cs typeface="+mn-cs"/>
      </a:defRPr>
    </a:lvl1pPr>
    <a:lvl2pPr marL="457200" algn="l" rtl="0" fontAlgn="base">
      <a:spcBef>
        <a:spcPct val="0"/>
      </a:spcBef>
      <a:spcAft>
        <a:spcPct val="25000"/>
      </a:spcAft>
      <a:buSzPct val="80000"/>
      <a:buFont typeface="Wingdings" pitchFamily="2" charset="2"/>
      <a:defRPr kumimoji="1" sz="3200" kern="1200">
        <a:solidFill>
          <a:schemeClr val="tx1"/>
        </a:solidFill>
        <a:effectLst>
          <a:outerShdw blurRad="38100" dist="38100" dir="2700000" algn="tl">
            <a:srgbClr val="000000">
              <a:alpha val="43137"/>
            </a:srgbClr>
          </a:outerShdw>
        </a:effectLst>
        <a:latin typeface="楷体_GB2312" pitchFamily="49" charset="-122"/>
        <a:ea typeface="楷体_GB2312" pitchFamily="49" charset="-122"/>
        <a:cs typeface="+mn-cs"/>
      </a:defRPr>
    </a:lvl2pPr>
    <a:lvl3pPr marL="914400" algn="l" rtl="0" fontAlgn="base">
      <a:spcBef>
        <a:spcPct val="0"/>
      </a:spcBef>
      <a:spcAft>
        <a:spcPct val="25000"/>
      </a:spcAft>
      <a:buSzPct val="80000"/>
      <a:buFont typeface="Wingdings" pitchFamily="2" charset="2"/>
      <a:defRPr kumimoji="1" sz="3200" kern="1200">
        <a:solidFill>
          <a:schemeClr val="tx1"/>
        </a:solidFill>
        <a:effectLst>
          <a:outerShdw blurRad="38100" dist="38100" dir="2700000" algn="tl">
            <a:srgbClr val="000000">
              <a:alpha val="43137"/>
            </a:srgbClr>
          </a:outerShdw>
        </a:effectLst>
        <a:latin typeface="楷体_GB2312" pitchFamily="49" charset="-122"/>
        <a:ea typeface="楷体_GB2312" pitchFamily="49" charset="-122"/>
        <a:cs typeface="+mn-cs"/>
      </a:defRPr>
    </a:lvl3pPr>
    <a:lvl4pPr marL="1371600" algn="l" rtl="0" fontAlgn="base">
      <a:spcBef>
        <a:spcPct val="0"/>
      </a:spcBef>
      <a:spcAft>
        <a:spcPct val="25000"/>
      </a:spcAft>
      <a:buSzPct val="80000"/>
      <a:buFont typeface="Wingdings" pitchFamily="2" charset="2"/>
      <a:defRPr kumimoji="1" sz="3200" kern="1200">
        <a:solidFill>
          <a:schemeClr val="tx1"/>
        </a:solidFill>
        <a:effectLst>
          <a:outerShdw blurRad="38100" dist="38100" dir="2700000" algn="tl">
            <a:srgbClr val="000000">
              <a:alpha val="43137"/>
            </a:srgbClr>
          </a:outerShdw>
        </a:effectLst>
        <a:latin typeface="楷体_GB2312" pitchFamily="49" charset="-122"/>
        <a:ea typeface="楷体_GB2312" pitchFamily="49" charset="-122"/>
        <a:cs typeface="+mn-cs"/>
      </a:defRPr>
    </a:lvl4pPr>
    <a:lvl5pPr marL="1828800" algn="l" rtl="0" fontAlgn="base">
      <a:spcBef>
        <a:spcPct val="0"/>
      </a:spcBef>
      <a:spcAft>
        <a:spcPct val="25000"/>
      </a:spcAft>
      <a:buSzPct val="80000"/>
      <a:buFont typeface="Wingdings" pitchFamily="2" charset="2"/>
      <a:defRPr kumimoji="1" sz="3200" kern="1200">
        <a:solidFill>
          <a:schemeClr val="tx1"/>
        </a:solidFill>
        <a:effectLst>
          <a:outerShdw blurRad="38100" dist="38100" dir="2700000" algn="tl">
            <a:srgbClr val="000000">
              <a:alpha val="43137"/>
            </a:srgbClr>
          </a:outerShdw>
        </a:effectLst>
        <a:latin typeface="楷体_GB2312" pitchFamily="49" charset="-122"/>
        <a:ea typeface="楷体_GB2312" pitchFamily="49" charset="-122"/>
        <a:cs typeface="+mn-cs"/>
      </a:defRPr>
    </a:lvl5pPr>
    <a:lvl6pPr marL="2286000" algn="l" defTabSz="914400" rtl="0" eaLnBrk="1" latinLnBrk="0" hangingPunct="1">
      <a:defRPr kumimoji="1" sz="3200" kern="1200">
        <a:solidFill>
          <a:schemeClr val="tx1"/>
        </a:solidFill>
        <a:effectLst>
          <a:outerShdw blurRad="38100" dist="38100" dir="2700000" algn="tl">
            <a:srgbClr val="000000">
              <a:alpha val="43137"/>
            </a:srgbClr>
          </a:outerShdw>
        </a:effectLst>
        <a:latin typeface="楷体_GB2312" pitchFamily="49" charset="-122"/>
        <a:ea typeface="楷体_GB2312" pitchFamily="49" charset="-122"/>
        <a:cs typeface="+mn-cs"/>
      </a:defRPr>
    </a:lvl6pPr>
    <a:lvl7pPr marL="2743200" algn="l" defTabSz="914400" rtl="0" eaLnBrk="1" latinLnBrk="0" hangingPunct="1">
      <a:defRPr kumimoji="1" sz="3200" kern="1200">
        <a:solidFill>
          <a:schemeClr val="tx1"/>
        </a:solidFill>
        <a:effectLst>
          <a:outerShdw blurRad="38100" dist="38100" dir="2700000" algn="tl">
            <a:srgbClr val="000000">
              <a:alpha val="43137"/>
            </a:srgbClr>
          </a:outerShdw>
        </a:effectLst>
        <a:latin typeface="楷体_GB2312" pitchFamily="49" charset="-122"/>
        <a:ea typeface="楷体_GB2312" pitchFamily="49" charset="-122"/>
        <a:cs typeface="+mn-cs"/>
      </a:defRPr>
    </a:lvl7pPr>
    <a:lvl8pPr marL="3200400" algn="l" defTabSz="914400" rtl="0" eaLnBrk="1" latinLnBrk="0" hangingPunct="1">
      <a:defRPr kumimoji="1" sz="3200" kern="1200">
        <a:solidFill>
          <a:schemeClr val="tx1"/>
        </a:solidFill>
        <a:effectLst>
          <a:outerShdw blurRad="38100" dist="38100" dir="2700000" algn="tl">
            <a:srgbClr val="000000">
              <a:alpha val="43137"/>
            </a:srgbClr>
          </a:outerShdw>
        </a:effectLst>
        <a:latin typeface="楷体_GB2312" pitchFamily="49" charset="-122"/>
        <a:ea typeface="楷体_GB2312" pitchFamily="49" charset="-122"/>
        <a:cs typeface="+mn-cs"/>
      </a:defRPr>
    </a:lvl8pPr>
    <a:lvl9pPr marL="3657600" algn="l" defTabSz="914400" rtl="0" eaLnBrk="1" latinLnBrk="0" hangingPunct="1">
      <a:defRPr kumimoji="1" sz="3200" kern="1200">
        <a:solidFill>
          <a:schemeClr val="tx1"/>
        </a:solidFill>
        <a:effectLst>
          <a:outerShdw blurRad="38100" dist="38100" dir="2700000" algn="tl">
            <a:srgbClr val="000000">
              <a:alpha val="43137"/>
            </a:srgbClr>
          </a:outerShdw>
        </a:effectLst>
        <a:latin typeface="楷体_GB2312" pitchFamily="49" charset="-122"/>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CC"/>
    <a:srgbClr val="FF0000"/>
    <a:srgbClr val="0000CC"/>
    <a:srgbClr val="CCFF99"/>
    <a:srgbClr val="660066"/>
    <a:srgbClr val="99FF33"/>
    <a:srgbClr val="00FFFF"/>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62" autoAdjust="0"/>
    <p:restoredTop sz="87546" autoAdjust="0"/>
  </p:normalViewPr>
  <p:slideViewPr>
    <p:cSldViewPr>
      <p:cViewPr varScale="1">
        <p:scale>
          <a:sx n="87" d="100"/>
          <a:sy n="87" d="100"/>
        </p:scale>
        <p:origin x="954" y="108"/>
      </p:cViewPr>
      <p:guideLst>
        <p:guide orient="horz" pos="2160"/>
        <p:guide pos="2880"/>
      </p:guideLst>
    </p:cSldViewPr>
  </p:slideViewPr>
  <p:outlineViewPr>
    <p:cViewPr>
      <p:scale>
        <a:sx n="33" d="100"/>
        <a:sy n="33" d="100"/>
      </p:scale>
      <p:origin x="0" y="1590"/>
    </p:cViewPr>
    <p:sldLst>
      <p:sld r:id="rId1" collapse="1"/>
      <p:sld r:id="rId2" collapse="1"/>
    </p:sldLst>
  </p:outlineViewPr>
  <p:notesTextViewPr>
    <p:cViewPr>
      <p:scale>
        <a:sx n="100" d="100"/>
        <a:sy n="100" d="100"/>
      </p:scale>
      <p:origin x="0" y="0"/>
    </p:cViewPr>
  </p:notesTextViewPr>
  <p:sorterViewPr>
    <p:cViewPr>
      <p:scale>
        <a:sx n="100" d="100"/>
        <a:sy n="100" d="100"/>
      </p:scale>
      <p:origin x="0" y="-9432"/>
    </p:cViewPr>
  </p:sorterViewPr>
  <p:notesViewPr>
    <p:cSldViewPr>
      <p:cViewPr>
        <p:scale>
          <a:sx n="66" d="100"/>
          <a:sy n="66" d="100"/>
        </p:scale>
        <p:origin x="2550" y="-31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_rels/viewProps.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Aft>
                <a:spcPct val="0"/>
              </a:spcAft>
              <a:buSzTx/>
              <a:buFontTx/>
              <a:buNone/>
              <a:defRPr sz="1200">
                <a:effectLst/>
                <a:latin typeface="Times New Roman" pitchFamily="18" charset="0"/>
                <a:ea typeface="宋体" pitchFamily="2" charset="-122"/>
              </a:defRPr>
            </a:lvl1pPr>
          </a:lstStyle>
          <a:p>
            <a:pPr>
              <a:defRPr/>
            </a:pPr>
            <a:endParaRPr lang="zh-CN" altLang="en-US"/>
          </a:p>
        </p:txBody>
      </p:sp>
      <p:sp>
        <p:nvSpPr>
          <p:cNvPr id="9219"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Aft>
                <a:spcPct val="0"/>
              </a:spcAft>
              <a:buSzTx/>
              <a:buFontTx/>
              <a:buNone/>
              <a:defRPr sz="1200">
                <a:effectLst/>
                <a:latin typeface="Times New Roman" pitchFamily="18" charset="0"/>
                <a:ea typeface="宋体" pitchFamily="2" charset="-122"/>
              </a:defRPr>
            </a:lvl1pPr>
          </a:lstStyle>
          <a:p>
            <a:pPr>
              <a:defRPr/>
            </a:pPr>
            <a:endParaRPr lang="en-US" altLang="zh-CN"/>
          </a:p>
        </p:txBody>
      </p:sp>
      <p:sp>
        <p:nvSpPr>
          <p:cNvPr id="9220"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Aft>
                <a:spcPct val="0"/>
              </a:spcAft>
              <a:buSzTx/>
              <a:buFontTx/>
              <a:buNone/>
              <a:defRPr sz="1200">
                <a:effectLst/>
                <a:latin typeface="Times New Roman" pitchFamily="18" charset="0"/>
                <a:ea typeface="宋体" pitchFamily="2" charset="-122"/>
              </a:defRPr>
            </a:lvl1pPr>
          </a:lstStyle>
          <a:p>
            <a:pPr>
              <a:defRPr/>
            </a:pPr>
            <a:endParaRPr lang="en-US" altLang="zh-CN"/>
          </a:p>
        </p:txBody>
      </p:sp>
      <p:sp>
        <p:nvSpPr>
          <p:cNvPr id="9221"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Aft>
                <a:spcPct val="0"/>
              </a:spcAft>
              <a:buSzTx/>
              <a:buFontTx/>
              <a:buNone/>
              <a:defRPr sz="1200">
                <a:effectLst/>
                <a:latin typeface="Times New Roman" pitchFamily="18" charset="0"/>
                <a:ea typeface="宋体" pitchFamily="2" charset="-122"/>
              </a:defRPr>
            </a:lvl1pPr>
          </a:lstStyle>
          <a:p>
            <a:pPr>
              <a:defRPr/>
            </a:pPr>
            <a:fld id="{FD91E59D-EC2F-4086-B031-ACC944BE80BC}" type="slidenum">
              <a:rPr lang="zh-CN" altLang="en-US"/>
              <a:pPr>
                <a:defRPr/>
              </a:pPr>
              <a:t>‹#›</a:t>
            </a:fld>
            <a:endParaRPr lang="en-US" altLang="zh-CN"/>
          </a:p>
        </p:txBody>
      </p:sp>
    </p:spTree>
    <p:extLst>
      <p:ext uri="{BB962C8B-B14F-4D97-AF65-F5344CB8AC3E}">
        <p14:creationId xmlns:p14="http://schemas.microsoft.com/office/powerpoint/2010/main" val="1561625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Aft>
                <a:spcPct val="0"/>
              </a:spcAft>
              <a:buSzTx/>
              <a:buFontTx/>
              <a:buNone/>
              <a:defRPr sz="1200">
                <a:effectLst/>
                <a:latin typeface="Times New Roman" pitchFamily="18" charset="0"/>
                <a:ea typeface="宋体" pitchFamily="2" charset="-122"/>
              </a:defRPr>
            </a:lvl1pPr>
          </a:lstStyle>
          <a:p>
            <a:pPr>
              <a:defRPr/>
            </a:pPr>
            <a:endParaRPr lang="zh-CN" altLang="en-US"/>
          </a:p>
        </p:txBody>
      </p:sp>
      <p:sp>
        <p:nvSpPr>
          <p:cNvPr id="1741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Aft>
                <a:spcPct val="0"/>
              </a:spcAft>
              <a:buSzTx/>
              <a:buFontTx/>
              <a:buNone/>
              <a:defRPr sz="1200">
                <a:effectLst/>
                <a:latin typeface="Times New Roman" pitchFamily="18" charset="0"/>
                <a:ea typeface="宋体" pitchFamily="2" charset="-122"/>
              </a:defRPr>
            </a:lvl1pPr>
          </a:lstStyle>
          <a:p>
            <a:pPr>
              <a:defRPr/>
            </a:pPr>
            <a:endParaRPr lang="en-US" altLang="zh-CN"/>
          </a:p>
        </p:txBody>
      </p:sp>
      <p:sp>
        <p:nvSpPr>
          <p:cNvPr id="8192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1741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Aft>
                <a:spcPct val="0"/>
              </a:spcAft>
              <a:buSzTx/>
              <a:buFontTx/>
              <a:buNone/>
              <a:defRPr sz="1200">
                <a:effectLst/>
                <a:latin typeface="Times New Roman" pitchFamily="18" charset="0"/>
                <a:ea typeface="宋体" pitchFamily="2" charset="-122"/>
              </a:defRPr>
            </a:lvl1pPr>
          </a:lstStyle>
          <a:p>
            <a:pPr>
              <a:defRPr/>
            </a:pPr>
            <a:endParaRPr lang="en-US" altLang="zh-CN"/>
          </a:p>
        </p:txBody>
      </p:sp>
      <p:sp>
        <p:nvSpPr>
          <p:cNvPr id="1741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Aft>
                <a:spcPct val="0"/>
              </a:spcAft>
              <a:buSzTx/>
              <a:buFontTx/>
              <a:buNone/>
              <a:defRPr sz="1200">
                <a:effectLst/>
                <a:latin typeface="Times New Roman" pitchFamily="18" charset="0"/>
                <a:ea typeface="宋体" pitchFamily="2" charset="-122"/>
              </a:defRPr>
            </a:lvl1pPr>
          </a:lstStyle>
          <a:p>
            <a:pPr>
              <a:defRPr/>
            </a:pPr>
            <a:fld id="{D8AA48CE-7973-4CC2-96C4-57BF6025881A}" type="slidenum">
              <a:rPr lang="zh-CN" altLang="en-US"/>
              <a:pPr>
                <a:defRPr/>
              </a:pPr>
              <a:t>‹#›</a:t>
            </a:fld>
            <a:endParaRPr lang="en-US" altLang="zh-CN"/>
          </a:p>
        </p:txBody>
      </p:sp>
    </p:spTree>
    <p:extLst>
      <p:ext uri="{BB962C8B-B14F-4D97-AF65-F5344CB8AC3E}">
        <p14:creationId xmlns:p14="http://schemas.microsoft.com/office/powerpoint/2010/main" val="359914657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4231799844"/>
      </p:ext>
    </p:extLst>
  </p:cSld>
  <p:clrMapOvr>
    <a:masterClrMapping/>
  </p:clrMapOvr>
  <p:transition spd="med">
    <p:random/>
    <p:sndAc>
      <p:stSnd>
        <p:snd r:embed="rId1" name="camera.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384010201"/>
      </p:ext>
    </p:extLst>
  </p:cSld>
  <p:clrMapOvr>
    <a:masterClrMapping/>
  </p:clrMapOvr>
  <p:transition spd="med">
    <p:random/>
    <p:sndAc>
      <p:stSnd>
        <p:snd r:embed="rId1" name="camera.wav"/>
      </p:stSnd>
    </p:sndAc>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2978204723"/>
      </p:ext>
    </p:extLst>
  </p:cSld>
  <p:clrMapOvr>
    <a:masterClrMapping/>
  </p:clrMapOvr>
  <p:transition spd="med">
    <p:random/>
    <p:sndAc>
      <p:stSnd>
        <p:snd r:embed="rId1" name="camera.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68313" y="2276475"/>
            <a:ext cx="4038600" cy="40544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59313" y="2276475"/>
            <a:ext cx="4038600" cy="40544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089471048"/>
      </p:ext>
    </p:extLst>
  </p:cSld>
  <p:clrMapOvr>
    <a:masterClrMapping/>
  </p:clrMapOvr>
  <p:transition spd="med">
    <p:random/>
    <p:sndAc>
      <p:stSnd>
        <p:snd r:embed="rId1" name="camera.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964366417"/>
      </p:ext>
    </p:extLst>
  </p:cSld>
  <p:clrMapOvr>
    <a:masterClrMapping/>
  </p:clrMapOvr>
  <p:transition spd="med">
    <p:random/>
    <p:sndAc>
      <p:stSnd>
        <p:snd r:embed="rId1" name="camera.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861321496"/>
      </p:ext>
    </p:extLst>
  </p:cSld>
  <p:clrMapOvr>
    <a:masterClrMapping/>
  </p:clrMapOvr>
  <p:transition spd="med">
    <p:random/>
    <p:sndAc>
      <p:stSnd>
        <p:snd r:embed="rId1" name="camera.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0648040"/>
      </p:ext>
    </p:extLst>
  </p:cSld>
  <p:clrMapOvr>
    <a:masterClrMapping/>
  </p:clrMapOvr>
  <p:transition spd="med">
    <p:random/>
    <p:sndAc>
      <p:stSnd>
        <p:snd r:embed="rId1" name="camera.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1816086853"/>
      </p:ext>
    </p:extLst>
  </p:cSld>
  <p:clrMapOvr>
    <a:masterClrMapping/>
  </p:clrMapOvr>
  <p:transition spd="med">
    <p:random/>
    <p:sndAc>
      <p:stSnd>
        <p:snd r:embed="rId1" name="camera.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94999791"/>
      </p:ext>
    </p:extLst>
  </p:cSld>
  <p:clrMapOvr>
    <a:masterClrMapping/>
  </p:clrMapOvr>
  <p:transition spd="med">
    <p:random/>
    <p:sndAc>
      <p:stSnd>
        <p:snd r:embed="rId1" name="camera.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68761639"/>
      </p:ext>
    </p:extLst>
  </p:cSld>
  <p:clrMapOvr>
    <a:masterClrMapping/>
  </p:clrMapOvr>
  <p:transition spd="med">
    <p:random/>
    <p:sndAc>
      <p:stSnd>
        <p:snd r:embed="rId1" name="camera.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0513" y="989013"/>
            <a:ext cx="2057400" cy="5341937"/>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68313" y="989013"/>
            <a:ext cx="6019800" cy="5341937"/>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997340544"/>
      </p:ext>
    </p:extLst>
  </p:cSld>
  <p:clrMapOvr>
    <a:masterClrMapping/>
  </p:clrMapOvr>
  <p:transition spd="med">
    <p:random/>
    <p:sndAc>
      <p:stSnd>
        <p:snd r:embed="rId1" name="camera.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68313" y="989013"/>
            <a:ext cx="4756150" cy="549275"/>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68313" y="2276475"/>
            <a:ext cx="4038600" cy="405447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59313" y="2276475"/>
            <a:ext cx="4038600" cy="405447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4152052208"/>
      </p:ext>
    </p:extLst>
  </p:cSld>
  <p:clrMapOvr>
    <a:masterClrMapping/>
  </p:clrMapOvr>
  <p:transition spd="med">
    <p:random/>
    <p:sndAc>
      <p:stSnd>
        <p:snd r:embed="rId1" name="camera.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wav"/></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541702" name="Rectangle 6"/>
          <p:cNvSpPr>
            <a:spLocks noGrp="1" noChangeArrowheads="1"/>
          </p:cNvSpPr>
          <p:nvPr>
            <p:ph type="body" idx="1"/>
          </p:nvPr>
        </p:nvSpPr>
        <p:spPr bwMode="auto">
          <a:xfrm>
            <a:off x="468313" y="2276475"/>
            <a:ext cx="8229600" cy="405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7" name="Rectangle 8"/>
          <p:cNvSpPr>
            <a:spLocks noGrp="1" noChangeArrowheads="1"/>
          </p:cNvSpPr>
          <p:nvPr>
            <p:ph type="title"/>
          </p:nvPr>
        </p:nvSpPr>
        <p:spPr bwMode="auto">
          <a:xfrm>
            <a:off x="468313" y="989013"/>
            <a:ext cx="4756150" cy="549275"/>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spAutoFit/>
          </a:bodyPr>
          <a:lstStyle/>
          <a:p>
            <a:pPr lvl="0"/>
            <a:r>
              <a:rPr lang="zh-CN" altLang="en-US" smtClean="0"/>
              <a:t>单击此处编辑母版标题样式</a:t>
            </a:r>
          </a:p>
        </p:txBody>
      </p:sp>
      <p:sp>
        <p:nvSpPr>
          <p:cNvPr id="1028" name="Text Box 9"/>
          <p:cNvSpPr txBox="1">
            <a:spLocks noChangeArrowheads="1"/>
          </p:cNvSpPr>
          <p:nvPr userDrawn="1"/>
        </p:nvSpPr>
        <p:spPr bwMode="auto">
          <a:xfrm>
            <a:off x="8523288" y="6535738"/>
            <a:ext cx="625475" cy="32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a:tailEnd/>
              </a14:hiddenLine>
            </a:ext>
          </a:extLst>
        </p:spPr>
        <p:txBody>
          <a:bodyPr wrap="none" lIns="72000" tIns="72000" rIns="72000" bIns="7200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algn="ctr" eaLnBrk="1" hangingPunct="1">
              <a:spcAft>
                <a:spcPct val="0"/>
              </a:spcAft>
              <a:buSzTx/>
              <a:buFontTx/>
              <a:buNone/>
              <a:defRPr/>
            </a:pPr>
            <a:r>
              <a:rPr kumimoji="0" lang="zh-CN" altLang="en-US" sz="1800" baseline="-25000" smtClean="0">
                <a:effectLst/>
              </a:rPr>
              <a:t>第</a:t>
            </a:r>
            <a:fld id="{323B1D6B-95D6-4198-A7A7-9523C55BBDE6}" type="slidenum">
              <a:rPr kumimoji="0" lang="zh-CN" altLang="en-US" sz="1800" baseline="-25000" smtClean="0">
                <a:effectLst/>
              </a:rPr>
              <a:pPr algn="ctr" eaLnBrk="1" hangingPunct="1">
                <a:spcAft>
                  <a:spcPct val="0"/>
                </a:spcAft>
                <a:buSzTx/>
                <a:buFontTx/>
                <a:buNone/>
                <a:defRPr/>
              </a:pPr>
              <a:t>‹#›</a:t>
            </a:fld>
            <a:r>
              <a:rPr kumimoji="0" lang="zh-CN" altLang="en-US" sz="1800" baseline="-25000" smtClean="0">
                <a:effectLst/>
              </a:rPr>
              <a:t>页</a:t>
            </a:r>
            <a:endParaRPr kumimoji="0" lang="en-US" altLang="zh-CN" sz="1800" baseline="-25000" smtClean="0">
              <a:effectLst/>
            </a:endParaRPr>
          </a:p>
        </p:txBody>
      </p:sp>
      <p:sp>
        <p:nvSpPr>
          <p:cNvPr id="6" name="Text Box 10"/>
          <p:cNvSpPr txBox="1">
            <a:spLocks noChangeArrowheads="1"/>
          </p:cNvSpPr>
          <p:nvPr userDrawn="1"/>
        </p:nvSpPr>
        <p:spPr bwMode="auto">
          <a:xfrm>
            <a:off x="6697515" y="131763"/>
            <a:ext cx="2314736" cy="215444"/>
          </a:xfrm>
          <a:prstGeom prst="rect">
            <a:avLst/>
          </a:prstGeom>
          <a:noFill/>
          <a:ln w="12700" cap="sq">
            <a:noFill/>
            <a:miter lim="800000"/>
            <a:headEnd/>
            <a:tailEnd/>
          </a:ln>
          <a:effectLst/>
        </p:spPr>
        <p:txBody>
          <a:bodyPr wrap="none" lIns="0" tIns="0" rIns="0" bIns="0">
            <a:spAutoFit/>
          </a:bodyPr>
          <a:lstStyle/>
          <a:p>
            <a:pPr algn="ctr">
              <a:defRPr/>
            </a:pPr>
            <a:r>
              <a:rPr lang="zh-CN" altLang="en-US" sz="1400" baseline="0" dirty="0">
                <a:solidFill>
                  <a:srgbClr val="8BB1E9"/>
                </a:solidFill>
                <a:effectLst>
                  <a:outerShdw blurRad="38100" dist="38100" dir="2700000" algn="tl">
                    <a:srgbClr val="000000"/>
                  </a:outerShdw>
                </a:effectLst>
                <a:latin typeface="华文楷体" pitchFamily="2" charset="-122"/>
                <a:ea typeface="华文楷体" pitchFamily="2" charset="-122"/>
              </a:rPr>
              <a:t>四川农业大学    潘勇浩 </a:t>
            </a:r>
            <a:r>
              <a:rPr lang="zh-CN" altLang="en-US" sz="1400" baseline="0" dirty="0" smtClean="0">
                <a:solidFill>
                  <a:srgbClr val="8BB1E9"/>
                </a:solidFill>
                <a:effectLst>
                  <a:outerShdw blurRad="38100" dist="38100" dir="2700000" algn="tl">
                    <a:srgbClr val="000000"/>
                  </a:outerShdw>
                </a:effectLst>
                <a:latin typeface="华文楷体" pitchFamily="2" charset="-122"/>
                <a:ea typeface="华文楷体" pitchFamily="2" charset="-122"/>
              </a:rPr>
              <a:t>   </a:t>
            </a:r>
            <a:r>
              <a:rPr lang="en-US" altLang="zh-CN" sz="1400" baseline="0" dirty="0" smtClean="0">
                <a:solidFill>
                  <a:srgbClr val="8BB1E9"/>
                </a:solidFill>
                <a:effectLst>
                  <a:outerShdw blurRad="38100" dist="38100" dir="2700000" algn="tl">
                    <a:srgbClr val="000000"/>
                  </a:outerShdw>
                </a:effectLst>
                <a:latin typeface="华文楷体" pitchFamily="2" charset="-122"/>
                <a:ea typeface="华文楷体" pitchFamily="2" charset="-122"/>
              </a:rPr>
              <a:t>2019</a:t>
            </a:r>
            <a:endParaRPr lang="zh-CN" altLang="en-US" sz="1400" baseline="0" dirty="0">
              <a:solidFill>
                <a:srgbClr val="8BB1E9"/>
              </a:solidFill>
              <a:effectLst>
                <a:outerShdw blurRad="38100" dist="38100" dir="2700000" algn="tl">
                  <a:srgbClr val="000000"/>
                </a:outerShdw>
              </a:effectLst>
              <a:latin typeface="华文楷体" pitchFamily="2" charset="-122"/>
              <a:ea typeface="华文楷体" pitchFamily="2" charset="-122"/>
            </a:endParaRPr>
          </a:p>
        </p:txBody>
      </p:sp>
    </p:spTree>
  </p:cSld>
  <p:clrMap bg1="dk2" tx1="lt1" bg2="dk1" tx2="lt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 id="2147483664" r:id="rId12"/>
  </p:sldLayoutIdLst>
  <p:transition spd="med">
    <p:random/>
    <p:sndAc>
      <p:stSnd>
        <p:snd r:embed="rId14" name="camera.wav"/>
      </p:stSnd>
    </p:sndAc>
  </p:transition>
  <p:timing>
    <p:tnLst>
      <p:par>
        <p:cTn id="1" dur="indefinite" restart="never" nodeType="tmRoot"/>
      </p:par>
    </p:tnLst>
  </p:timing>
  <p:txStyles>
    <p:titleStyle>
      <a:lvl1pPr algn="l" rtl="0" eaLnBrk="0" fontAlgn="base" hangingPunct="0">
        <a:spcBef>
          <a:spcPct val="0"/>
        </a:spcBef>
        <a:spcAft>
          <a:spcPct val="0"/>
        </a:spcAft>
        <a:defRPr sz="3000">
          <a:solidFill>
            <a:srgbClr val="FF9900"/>
          </a:solidFill>
          <a:latin typeface="+mj-lt"/>
          <a:ea typeface="+mj-ea"/>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p:titleStyle>
    <p:bodyStyle>
      <a:lvl1pPr marL="342900" indent="-342900" algn="l" rtl="0" eaLnBrk="0" fontAlgn="base" hangingPunct="0">
        <a:spcBef>
          <a:spcPct val="0"/>
        </a:spcBef>
        <a:spcAft>
          <a:spcPct val="40000"/>
        </a:spcAft>
        <a:buClr>
          <a:srgbClr val="66FF33"/>
        </a:buClr>
        <a:buSzPct val="85000"/>
        <a:buFont typeface="Wingdings" pitchFamily="2" charset="2"/>
        <a:buBlip>
          <a:blip r:embed="rId16"/>
        </a:buBlip>
        <a:defRPr sz="3200">
          <a:solidFill>
            <a:srgbClr val="CCFFCC"/>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mn-lt"/>
          <a:ea typeface="+mn-ea"/>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mn-lt"/>
          <a:ea typeface="+mn-ea"/>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26" name="WordArt 26"/>
          <p:cNvSpPr>
            <a:spLocks noChangeArrowheads="1" noChangeShapeType="1" noTextEdit="1"/>
          </p:cNvSpPr>
          <p:nvPr/>
        </p:nvSpPr>
        <p:spPr bwMode="auto">
          <a:xfrm>
            <a:off x="2699792" y="1311730"/>
            <a:ext cx="3312616" cy="880350"/>
          </a:xfrm>
          <a:prstGeom prst="rect">
            <a:avLst/>
          </a:prstGeom>
        </p:spPr>
        <p:txBody>
          <a:bodyPr wrap="none" fromWordArt="1">
            <a:prstTxWarp prst="textPlain">
              <a:avLst>
                <a:gd name="adj" fmla="val 50000"/>
              </a:avLst>
            </a:prstTxWarp>
          </a:bodyPr>
          <a:lstStyle/>
          <a:p>
            <a:pPr algn="dist">
              <a:defRPr/>
            </a:pPr>
            <a:r>
              <a:rPr lang="zh-CN" altLang="en-US" sz="2800" kern="10" dirty="0">
                <a:ln w="19050" cap="sq">
                  <a:solidFill>
                    <a:schemeClr val="hlink"/>
                  </a:solidFill>
                  <a:round/>
                  <a:headEnd/>
                  <a:tailEnd/>
                </a:ln>
                <a:gradFill rotWithShape="0">
                  <a:gsLst>
                    <a:gs pos="0">
                      <a:srgbClr val="50080D"/>
                    </a:gs>
                    <a:gs pos="100000">
                      <a:srgbClr val="FF0000"/>
                    </a:gs>
                  </a:gsLst>
                  <a:lin ang="2700000" scaled="1"/>
                </a:gradFill>
                <a:effectLst>
                  <a:outerShdw dist="35921" dir="2700000" algn="ctr" rotWithShape="0">
                    <a:schemeClr val="bg2">
                      <a:alpha val="80000"/>
                    </a:schemeClr>
                  </a:outerShdw>
                </a:effectLst>
                <a:latin typeface="隶书"/>
                <a:ea typeface="隶书"/>
              </a:rPr>
              <a:t>第 </a:t>
            </a:r>
            <a:r>
              <a:rPr lang="en-US" altLang="zh-CN" sz="2800" kern="10" dirty="0" smtClean="0">
                <a:ln w="19050" cap="sq">
                  <a:solidFill>
                    <a:schemeClr val="hlink"/>
                  </a:solidFill>
                  <a:round/>
                  <a:headEnd/>
                  <a:tailEnd/>
                </a:ln>
                <a:gradFill rotWithShape="0">
                  <a:gsLst>
                    <a:gs pos="0">
                      <a:srgbClr val="50080D"/>
                    </a:gs>
                    <a:gs pos="100000">
                      <a:srgbClr val="FF0000"/>
                    </a:gs>
                  </a:gsLst>
                  <a:lin ang="2700000" scaled="1"/>
                </a:gradFill>
                <a:effectLst>
                  <a:outerShdw dist="35921" dir="2700000" algn="ctr" rotWithShape="0">
                    <a:schemeClr val="bg2">
                      <a:alpha val="80000"/>
                    </a:schemeClr>
                  </a:outerShdw>
                </a:effectLst>
                <a:latin typeface="隶书"/>
                <a:ea typeface="隶书"/>
              </a:rPr>
              <a:t>6 </a:t>
            </a:r>
            <a:r>
              <a:rPr lang="zh-CN" altLang="en-US" sz="2800" kern="10" dirty="0">
                <a:ln w="19050" cap="sq">
                  <a:solidFill>
                    <a:schemeClr val="hlink"/>
                  </a:solidFill>
                  <a:round/>
                  <a:headEnd/>
                  <a:tailEnd/>
                </a:ln>
                <a:gradFill rotWithShape="0">
                  <a:gsLst>
                    <a:gs pos="0">
                      <a:srgbClr val="50080D"/>
                    </a:gs>
                    <a:gs pos="100000">
                      <a:srgbClr val="FF0000"/>
                    </a:gs>
                  </a:gsLst>
                  <a:lin ang="2700000" scaled="1"/>
                </a:gradFill>
                <a:effectLst>
                  <a:outerShdw dist="35921" dir="2700000" algn="ctr" rotWithShape="0">
                    <a:schemeClr val="bg2">
                      <a:alpha val="80000"/>
                    </a:schemeClr>
                  </a:outerShdw>
                </a:effectLst>
                <a:latin typeface="隶书"/>
                <a:ea typeface="隶书"/>
              </a:rPr>
              <a:t>章</a:t>
            </a:r>
          </a:p>
        </p:txBody>
      </p:sp>
      <p:sp>
        <p:nvSpPr>
          <p:cNvPr id="2051" name="WordArt 80"/>
          <p:cNvSpPr>
            <a:spLocks noChangeArrowheads="1" noChangeShapeType="1" noTextEdit="1"/>
          </p:cNvSpPr>
          <p:nvPr/>
        </p:nvSpPr>
        <p:spPr bwMode="auto">
          <a:xfrm>
            <a:off x="325438" y="3501008"/>
            <a:ext cx="8495034" cy="1153542"/>
          </a:xfrm>
          <a:prstGeom prst="rect">
            <a:avLst/>
          </a:prstGeom>
        </p:spPr>
        <p:txBody>
          <a:bodyPr wrap="none" fromWordArt="1">
            <a:prstTxWarp prst="textPlain">
              <a:avLst>
                <a:gd name="adj" fmla="val 50000"/>
              </a:avLst>
            </a:prstTxWarp>
          </a:bodyPr>
          <a:lstStyle/>
          <a:p>
            <a:pPr algn="ctr"/>
            <a:r>
              <a:rPr lang="zh-CN" altLang="en-US" sz="2800" kern="10" dirty="0" smtClean="0">
                <a:ln w="19050" cap="sq">
                  <a:solidFill>
                    <a:schemeClr val="hlink"/>
                  </a:solidFill>
                  <a:round/>
                  <a:headEnd/>
                  <a:tailEnd/>
                </a:ln>
                <a:gradFill rotWithShape="1">
                  <a:gsLst>
                    <a:gs pos="0">
                      <a:srgbClr val="50080D"/>
                    </a:gs>
                    <a:gs pos="100000">
                      <a:srgbClr val="FF0000"/>
                    </a:gs>
                  </a:gsLst>
                  <a:lin ang="2700000" scaled="1"/>
                </a:gradFill>
                <a:effectLst>
                  <a:outerShdw dist="35921" dir="2700000" algn="ctr" rotWithShape="0">
                    <a:schemeClr val="bg2">
                      <a:alpha val="79999"/>
                    </a:schemeClr>
                  </a:outerShdw>
                </a:effectLst>
                <a:latin typeface="隶书"/>
                <a:ea typeface="隶书"/>
              </a:rPr>
              <a:t>关系数据库设计理论</a:t>
            </a:r>
            <a:endParaRPr lang="zh-CN" altLang="en-US" sz="2800" kern="10" dirty="0">
              <a:ln w="19050" cap="sq">
                <a:solidFill>
                  <a:schemeClr val="hlink"/>
                </a:solidFill>
                <a:round/>
                <a:headEnd/>
                <a:tailEnd/>
              </a:ln>
              <a:gradFill rotWithShape="1">
                <a:gsLst>
                  <a:gs pos="0">
                    <a:srgbClr val="50080D"/>
                  </a:gs>
                  <a:gs pos="100000">
                    <a:srgbClr val="FF0000"/>
                  </a:gs>
                </a:gsLst>
                <a:lin ang="2700000" scaled="1"/>
              </a:gradFill>
              <a:effectLst>
                <a:outerShdw dist="35921" dir="2700000" algn="ctr" rotWithShape="0">
                  <a:schemeClr val="bg2">
                    <a:alpha val="79999"/>
                  </a:schemeClr>
                </a:outerShdw>
              </a:effectLst>
              <a:latin typeface="隶书"/>
              <a:ea typeface="隶书"/>
            </a:endParaRPr>
          </a:p>
        </p:txBody>
      </p:sp>
    </p:spTree>
  </p:cSld>
  <p:clrMapOvr>
    <a:masterClrMapping/>
  </p:clrMapOvr>
  <p:transition spd="med">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1490" name="Text Box 2"/>
          <p:cNvSpPr txBox="1">
            <a:spLocks noChangeArrowheads="1"/>
          </p:cNvSpPr>
          <p:nvPr/>
        </p:nvSpPr>
        <p:spPr bwMode="auto">
          <a:xfrm>
            <a:off x="174937" y="-68263"/>
            <a:ext cx="2710211"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lvl1pPr lvl="0" defTabSz="914400" eaLnBrk="1" latinLnBrk="0" hangingPunct="1">
              <a:spcBef>
                <a:spcPts val="0"/>
              </a:spcBef>
              <a:buNone/>
              <a:defRPr sz="4000" b="1" baseline="0">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r>
              <a:rPr lang="zh-CN" altLang="en-US" dirty="0" smtClean="0"/>
              <a:t>问题的引入</a:t>
            </a:r>
            <a:endParaRPr lang="en-US" altLang="zh-CN" dirty="0" smtClean="0"/>
          </a:p>
        </p:txBody>
      </p:sp>
      <p:sp>
        <p:nvSpPr>
          <p:cNvPr id="3075" name="Rectangle 3"/>
          <p:cNvSpPr>
            <a:spLocks noGrp="1" noChangeArrowheads="1"/>
          </p:cNvSpPr>
          <p:nvPr>
            <p:ph type="title"/>
          </p:nvPr>
        </p:nvSpPr>
        <p:spPr>
          <a:xfrm>
            <a:off x="87313" y="924431"/>
            <a:ext cx="3435350" cy="584775"/>
          </a:xfrm>
        </p:spPr>
        <p:txBody>
          <a:bodyPr wrap="square"/>
          <a:lstStyle/>
          <a:p>
            <a:pPr>
              <a:buFont typeface="Wingdings" pitchFamily="2" charset="2"/>
              <a:buNone/>
            </a:pPr>
            <a:r>
              <a:rPr lang="zh-CN" altLang="en-US" sz="3200" dirty="0" smtClean="0">
                <a:latin typeface="微软雅黑" panose="020B0503020204020204" pitchFamily="34" charset="-122"/>
                <a:ea typeface="微软雅黑" panose="020B0503020204020204" pitchFamily="34" charset="-122"/>
              </a:rPr>
              <a:t>一个学籍</a:t>
            </a:r>
            <a:r>
              <a:rPr lang="en-US" altLang="zh-CN" sz="3200" dirty="0" smtClean="0">
                <a:latin typeface="微软雅黑" panose="020B0503020204020204" pitchFamily="34" charset="-122"/>
                <a:ea typeface="微软雅黑" panose="020B0503020204020204" pitchFamily="34" charset="-122"/>
              </a:rPr>
              <a:t>E-R</a:t>
            </a:r>
            <a:r>
              <a:rPr lang="zh-CN" altLang="en-US" sz="3200" dirty="0" smtClean="0">
                <a:latin typeface="微软雅黑" panose="020B0503020204020204" pitchFamily="34" charset="-122"/>
                <a:ea typeface="微软雅黑" panose="020B0503020204020204" pitchFamily="34" charset="-122"/>
              </a:rPr>
              <a:t>模型</a:t>
            </a:r>
          </a:p>
        </p:txBody>
      </p:sp>
      <p:sp>
        <p:nvSpPr>
          <p:cNvPr id="1471492" name="Rectangle 4"/>
          <p:cNvSpPr>
            <a:spLocks noChangeArrowheads="1"/>
          </p:cNvSpPr>
          <p:nvPr/>
        </p:nvSpPr>
        <p:spPr bwMode="auto">
          <a:xfrm>
            <a:off x="323850" y="4483968"/>
            <a:ext cx="8523288" cy="457200"/>
          </a:xfrm>
          <a:prstGeom prst="rect">
            <a:avLst/>
          </a:prstGeom>
          <a:noFill/>
          <a:ln w="12700" cap="sq">
            <a:noFill/>
            <a:miter lim="800000"/>
            <a:headEnd/>
            <a:tailEnd/>
          </a:ln>
          <a:effectLst/>
        </p:spPr>
        <p:txBody>
          <a:bodyPr lIns="0" tIns="0" rIns="0" bIns="0"/>
          <a:lstStyle/>
          <a:p>
            <a:pPr marL="198438" indent="-198438">
              <a:buSzTx/>
              <a:buFontTx/>
              <a:buChar char="•"/>
              <a:defRPr/>
            </a:pPr>
            <a:r>
              <a:rPr lang="zh-CN" altLang="en-US" sz="2800">
                <a:effectLst>
                  <a:outerShdw blurRad="38100" dist="38100" dir="2700000" algn="tl">
                    <a:srgbClr val="000000"/>
                  </a:outerShdw>
                </a:effectLst>
                <a:latin typeface="Times New Roman" pitchFamily="18" charset="0"/>
              </a:rPr>
              <a:t>学生可能重名，但只有一个学号；</a:t>
            </a:r>
            <a:endParaRPr lang="en-US" altLang="zh-CN" sz="2800">
              <a:effectLst>
                <a:outerShdw blurRad="38100" dist="38100" dir="2700000" algn="tl">
                  <a:srgbClr val="000000"/>
                </a:outerShdw>
              </a:effectLst>
              <a:latin typeface="Times New Roman" pitchFamily="18" charset="0"/>
            </a:endParaRPr>
          </a:p>
          <a:p>
            <a:pPr marL="198438" indent="-198438">
              <a:buSzTx/>
              <a:buFontTx/>
              <a:buChar char="•"/>
              <a:defRPr/>
            </a:pPr>
            <a:r>
              <a:rPr lang="zh-CN" altLang="en-US" sz="2800">
                <a:effectLst>
                  <a:outerShdw blurRad="38100" dist="38100" dir="2700000" algn="tl">
                    <a:srgbClr val="000000"/>
                  </a:outerShdw>
                </a:effectLst>
                <a:latin typeface="Times New Roman" pitchFamily="18" charset="0"/>
              </a:rPr>
              <a:t>系不能重名，只有一名系主任，但系主任可能重名；</a:t>
            </a:r>
          </a:p>
          <a:p>
            <a:pPr marL="198438" indent="-198438" algn="just">
              <a:buSzTx/>
              <a:buFontTx/>
              <a:buChar char="•"/>
              <a:defRPr/>
            </a:pPr>
            <a:r>
              <a:rPr lang="zh-CN" altLang="en-US" sz="2800">
                <a:effectLst>
                  <a:outerShdw blurRad="38100" dist="38100" dir="2700000" algn="tl">
                    <a:srgbClr val="000000"/>
                  </a:outerShdw>
                </a:effectLst>
                <a:latin typeface="Times New Roman" pitchFamily="18" charset="0"/>
              </a:rPr>
              <a:t>每门课有一个唯一的课名，不同课的学分可能相同；</a:t>
            </a:r>
          </a:p>
          <a:p>
            <a:pPr marL="198438" indent="-198438" algn="just">
              <a:buSzTx/>
              <a:buFontTx/>
              <a:buChar char="•"/>
              <a:defRPr/>
            </a:pPr>
            <a:r>
              <a:rPr lang="zh-CN" altLang="en-US" sz="2800">
                <a:effectLst>
                  <a:outerShdw blurRad="38100" dist="38100" dir="2700000" algn="tl">
                    <a:srgbClr val="000000"/>
                  </a:outerShdw>
                </a:effectLst>
                <a:latin typeface="Times New Roman" pitchFamily="18" charset="0"/>
              </a:rPr>
              <a:t>每个学生所学的每一门课程都有一个成绩。</a:t>
            </a:r>
            <a:endParaRPr lang="en-US" altLang="zh-CN" sz="2800">
              <a:effectLst>
                <a:outerShdw blurRad="38100" dist="38100" dir="2700000" algn="tl">
                  <a:srgbClr val="000000"/>
                </a:outerShdw>
              </a:effectLst>
              <a:latin typeface="Times New Roman" pitchFamily="18" charset="0"/>
            </a:endParaRPr>
          </a:p>
        </p:txBody>
      </p:sp>
      <p:grpSp>
        <p:nvGrpSpPr>
          <p:cNvPr id="3077" name="Group 5"/>
          <p:cNvGrpSpPr>
            <a:grpSpLocks/>
          </p:cNvGrpSpPr>
          <p:nvPr/>
        </p:nvGrpSpPr>
        <p:grpSpPr bwMode="auto">
          <a:xfrm>
            <a:off x="323850" y="1762125"/>
            <a:ext cx="8362950" cy="1666875"/>
            <a:chOff x="204" y="929"/>
            <a:chExt cx="5268" cy="1050"/>
          </a:xfrm>
        </p:grpSpPr>
        <p:sp>
          <p:nvSpPr>
            <p:cNvPr id="1471494" name="Rectangle 6"/>
            <p:cNvSpPr>
              <a:spLocks noChangeArrowheads="1"/>
            </p:cNvSpPr>
            <p:nvPr/>
          </p:nvSpPr>
          <p:spPr bwMode="auto">
            <a:xfrm>
              <a:off x="571" y="1579"/>
              <a:ext cx="506" cy="266"/>
            </a:xfrm>
            <a:prstGeom prst="rect">
              <a:avLst/>
            </a:prstGeom>
            <a:solidFill>
              <a:schemeClr val="bg1"/>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课程</a:t>
              </a:r>
            </a:p>
          </p:txBody>
        </p:sp>
        <p:sp>
          <p:nvSpPr>
            <p:cNvPr id="1471495" name="AutoShape 7"/>
            <p:cNvSpPr>
              <a:spLocks noChangeArrowheads="1"/>
            </p:cNvSpPr>
            <p:nvPr/>
          </p:nvSpPr>
          <p:spPr bwMode="auto">
            <a:xfrm>
              <a:off x="204" y="929"/>
              <a:ext cx="562" cy="267"/>
            </a:xfrm>
            <a:prstGeom prst="roundRect">
              <a:avLst>
                <a:gd name="adj" fmla="val 50000"/>
              </a:avLst>
            </a:prstGeom>
            <a:solidFill>
              <a:schemeClr val="bg1"/>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课名</a:t>
              </a:r>
            </a:p>
          </p:txBody>
        </p:sp>
        <p:sp>
          <p:nvSpPr>
            <p:cNvPr id="1471496" name="AutoShape 8"/>
            <p:cNvSpPr>
              <a:spLocks noChangeArrowheads="1"/>
            </p:cNvSpPr>
            <p:nvPr/>
          </p:nvSpPr>
          <p:spPr bwMode="auto">
            <a:xfrm>
              <a:off x="814" y="947"/>
              <a:ext cx="562" cy="267"/>
            </a:xfrm>
            <a:prstGeom prst="roundRect">
              <a:avLst>
                <a:gd name="adj" fmla="val 50000"/>
              </a:avLst>
            </a:prstGeom>
            <a:solidFill>
              <a:schemeClr val="bg1"/>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学分</a:t>
              </a:r>
            </a:p>
          </p:txBody>
        </p:sp>
        <p:sp>
          <p:nvSpPr>
            <p:cNvPr id="1471497" name="Rectangle 9"/>
            <p:cNvSpPr>
              <a:spLocks noChangeArrowheads="1"/>
            </p:cNvSpPr>
            <p:nvPr/>
          </p:nvSpPr>
          <p:spPr bwMode="auto">
            <a:xfrm>
              <a:off x="2556" y="1579"/>
              <a:ext cx="563" cy="266"/>
            </a:xfrm>
            <a:prstGeom prst="rect">
              <a:avLst/>
            </a:prstGeom>
            <a:solidFill>
              <a:schemeClr val="bg1"/>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学生</a:t>
              </a:r>
            </a:p>
          </p:txBody>
        </p:sp>
        <p:sp>
          <p:nvSpPr>
            <p:cNvPr id="1471498" name="AutoShape 10"/>
            <p:cNvSpPr>
              <a:spLocks noChangeArrowheads="1"/>
            </p:cNvSpPr>
            <p:nvPr/>
          </p:nvSpPr>
          <p:spPr bwMode="auto">
            <a:xfrm>
              <a:off x="2219" y="963"/>
              <a:ext cx="557" cy="260"/>
            </a:xfrm>
            <a:prstGeom prst="roundRect">
              <a:avLst>
                <a:gd name="adj" fmla="val 50000"/>
              </a:avLst>
            </a:prstGeom>
            <a:solidFill>
              <a:schemeClr val="bg1"/>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学号</a:t>
              </a:r>
            </a:p>
          </p:txBody>
        </p:sp>
        <p:sp>
          <p:nvSpPr>
            <p:cNvPr id="1471499" name="AutoShape 11"/>
            <p:cNvSpPr>
              <a:spLocks noChangeArrowheads="1"/>
            </p:cNvSpPr>
            <p:nvPr/>
          </p:nvSpPr>
          <p:spPr bwMode="auto">
            <a:xfrm>
              <a:off x="3006" y="963"/>
              <a:ext cx="558" cy="267"/>
            </a:xfrm>
            <a:prstGeom prst="roundRect">
              <a:avLst>
                <a:gd name="adj" fmla="val 50000"/>
              </a:avLst>
            </a:prstGeom>
            <a:solidFill>
              <a:schemeClr val="bg1"/>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姓名</a:t>
              </a:r>
            </a:p>
          </p:txBody>
        </p:sp>
        <p:cxnSp>
          <p:nvCxnSpPr>
            <p:cNvPr id="3085" name="AutoShape 12"/>
            <p:cNvCxnSpPr>
              <a:cxnSpLocks noChangeShapeType="1"/>
              <a:stCxn id="1471495" idx="2"/>
              <a:endCxn id="1471494" idx="0"/>
            </p:cNvCxnSpPr>
            <p:nvPr/>
          </p:nvCxnSpPr>
          <p:spPr bwMode="auto">
            <a:xfrm>
              <a:off x="485" y="1196"/>
              <a:ext cx="339" cy="383"/>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3086" name="AutoShape 13"/>
            <p:cNvCxnSpPr>
              <a:cxnSpLocks noChangeShapeType="1"/>
              <a:stCxn id="1471496" idx="2"/>
              <a:endCxn id="1471494" idx="0"/>
            </p:cNvCxnSpPr>
            <p:nvPr/>
          </p:nvCxnSpPr>
          <p:spPr bwMode="auto">
            <a:xfrm flipH="1">
              <a:off x="824" y="1214"/>
              <a:ext cx="271" cy="365"/>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3087" name="AutoShape 14"/>
            <p:cNvCxnSpPr>
              <a:cxnSpLocks noChangeShapeType="1"/>
              <a:stCxn id="1471497" idx="0"/>
              <a:endCxn id="1471498" idx="2"/>
            </p:cNvCxnSpPr>
            <p:nvPr/>
          </p:nvCxnSpPr>
          <p:spPr bwMode="auto">
            <a:xfrm flipH="1" flipV="1">
              <a:off x="2498" y="1223"/>
              <a:ext cx="340" cy="356"/>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3088" name="AutoShape 15"/>
            <p:cNvCxnSpPr>
              <a:cxnSpLocks noChangeShapeType="1"/>
              <a:stCxn id="1471497" idx="0"/>
              <a:endCxn id="1471499" idx="2"/>
            </p:cNvCxnSpPr>
            <p:nvPr/>
          </p:nvCxnSpPr>
          <p:spPr bwMode="auto">
            <a:xfrm flipV="1">
              <a:off x="2838" y="1230"/>
              <a:ext cx="447" cy="349"/>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1471504" name="AutoShape 16"/>
            <p:cNvSpPr>
              <a:spLocks noChangeArrowheads="1"/>
            </p:cNvSpPr>
            <p:nvPr/>
          </p:nvSpPr>
          <p:spPr bwMode="auto">
            <a:xfrm>
              <a:off x="1356" y="1445"/>
              <a:ext cx="900" cy="533"/>
            </a:xfrm>
            <a:prstGeom prst="diamond">
              <a:avLst/>
            </a:prstGeom>
            <a:solidFill>
              <a:schemeClr val="bg1"/>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选修</a:t>
              </a:r>
            </a:p>
          </p:txBody>
        </p:sp>
        <p:sp>
          <p:nvSpPr>
            <p:cNvPr id="1471505" name="AutoShape 17"/>
            <p:cNvSpPr>
              <a:spLocks noChangeArrowheads="1"/>
            </p:cNvSpPr>
            <p:nvPr/>
          </p:nvSpPr>
          <p:spPr bwMode="auto">
            <a:xfrm>
              <a:off x="1527" y="957"/>
              <a:ext cx="558" cy="259"/>
            </a:xfrm>
            <a:prstGeom prst="roundRect">
              <a:avLst>
                <a:gd name="adj" fmla="val 50000"/>
              </a:avLst>
            </a:prstGeom>
            <a:solidFill>
              <a:schemeClr val="bg1"/>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成绩</a:t>
              </a:r>
            </a:p>
          </p:txBody>
        </p:sp>
        <p:cxnSp>
          <p:nvCxnSpPr>
            <p:cNvPr id="3091" name="AutoShape 18"/>
            <p:cNvCxnSpPr>
              <a:cxnSpLocks noChangeShapeType="1"/>
              <a:stCxn id="1471505" idx="2"/>
              <a:endCxn id="1471504" idx="0"/>
            </p:cNvCxnSpPr>
            <p:nvPr/>
          </p:nvCxnSpPr>
          <p:spPr bwMode="auto">
            <a:xfrm>
              <a:off x="1806" y="1216"/>
              <a:ext cx="0" cy="229"/>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3092" name="AutoShape 19"/>
            <p:cNvCxnSpPr>
              <a:cxnSpLocks noChangeShapeType="1"/>
              <a:stCxn id="1471494" idx="3"/>
              <a:endCxn id="1471504" idx="1"/>
            </p:cNvCxnSpPr>
            <p:nvPr/>
          </p:nvCxnSpPr>
          <p:spPr bwMode="auto">
            <a:xfrm>
              <a:off x="1077" y="1712"/>
              <a:ext cx="279" cy="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3093" name="AutoShape 20"/>
            <p:cNvCxnSpPr>
              <a:cxnSpLocks noChangeShapeType="1"/>
              <a:stCxn id="1471504" idx="3"/>
              <a:endCxn id="1471497" idx="1"/>
            </p:cNvCxnSpPr>
            <p:nvPr/>
          </p:nvCxnSpPr>
          <p:spPr bwMode="auto">
            <a:xfrm>
              <a:off x="2256" y="1712"/>
              <a:ext cx="300" cy="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1471509" name="Rectangle 21"/>
            <p:cNvSpPr>
              <a:spLocks noChangeArrowheads="1"/>
            </p:cNvSpPr>
            <p:nvPr/>
          </p:nvSpPr>
          <p:spPr bwMode="auto">
            <a:xfrm>
              <a:off x="972" y="1441"/>
              <a:ext cx="562" cy="265"/>
            </a:xfrm>
            <a:prstGeom prst="rect">
              <a:avLst/>
            </a:prstGeom>
            <a:noFill/>
            <a:ln w="12700" cap="sq">
              <a:noFill/>
              <a:miter lim="800000"/>
              <a:headEnd/>
              <a:tailEnd/>
            </a:ln>
            <a:effectLst/>
          </p:spPr>
          <p:txBody>
            <a:bodyPr wrap="none" lIns="0" tIns="0" rIns="0" bIns="0" anchor="ct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m</a:t>
              </a:r>
            </a:p>
          </p:txBody>
        </p:sp>
        <p:sp>
          <p:nvSpPr>
            <p:cNvPr id="1471510" name="Rectangle 22"/>
            <p:cNvSpPr>
              <a:spLocks noChangeArrowheads="1"/>
            </p:cNvSpPr>
            <p:nvPr/>
          </p:nvSpPr>
          <p:spPr bwMode="auto">
            <a:xfrm>
              <a:off x="2127" y="1464"/>
              <a:ext cx="563" cy="266"/>
            </a:xfrm>
            <a:prstGeom prst="rect">
              <a:avLst/>
            </a:prstGeom>
            <a:noFill/>
            <a:ln w="12700" cap="sq">
              <a:noFill/>
              <a:miter lim="800000"/>
              <a:headEnd/>
              <a:tailEnd/>
            </a:ln>
            <a:effectLst/>
          </p:spPr>
          <p:txBody>
            <a:bodyPr wrap="none" lIns="0" tIns="0" rIns="0" bIns="0" anchor="ct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n</a:t>
              </a:r>
            </a:p>
          </p:txBody>
        </p:sp>
        <p:sp>
          <p:nvSpPr>
            <p:cNvPr id="1471511" name="AutoShape 23"/>
            <p:cNvSpPr>
              <a:spLocks noChangeArrowheads="1"/>
            </p:cNvSpPr>
            <p:nvPr/>
          </p:nvSpPr>
          <p:spPr bwMode="auto">
            <a:xfrm>
              <a:off x="3482" y="1446"/>
              <a:ext cx="900" cy="533"/>
            </a:xfrm>
            <a:prstGeom prst="diamond">
              <a:avLst/>
            </a:prstGeom>
            <a:solidFill>
              <a:schemeClr val="bg1"/>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属于</a:t>
              </a:r>
            </a:p>
          </p:txBody>
        </p:sp>
        <p:cxnSp>
          <p:nvCxnSpPr>
            <p:cNvPr id="3097" name="AutoShape 24"/>
            <p:cNvCxnSpPr>
              <a:cxnSpLocks noChangeShapeType="1"/>
              <a:stCxn id="1471497" idx="3"/>
              <a:endCxn id="1471511" idx="1"/>
            </p:cNvCxnSpPr>
            <p:nvPr/>
          </p:nvCxnSpPr>
          <p:spPr bwMode="auto">
            <a:xfrm>
              <a:off x="3119" y="1712"/>
              <a:ext cx="363" cy="1"/>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1471513" name="Rectangle 25"/>
            <p:cNvSpPr>
              <a:spLocks noChangeArrowheads="1"/>
            </p:cNvSpPr>
            <p:nvPr/>
          </p:nvSpPr>
          <p:spPr bwMode="auto">
            <a:xfrm>
              <a:off x="3050" y="1448"/>
              <a:ext cx="563" cy="265"/>
            </a:xfrm>
            <a:prstGeom prst="rect">
              <a:avLst/>
            </a:prstGeom>
            <a:noFill/>
            <a:ln w="12700" cap="sq">
              <a:noFill/>
              <a:miter lim="800000"/>
              <a:headEnd/>
              <a:tailEnd/>
            </a:ln>
            <a:effectLst/>
          </p:spPr>
          <p:txBody>
            <a:bodyPr wrap="none" lIns="0" tIns="0" rIns="0" bIns="0" anchor="ct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n</a:t>
              </a:r>
            </a:p>
          </p:txBody>
        </p:sp>
        <p:sp>
          <p:nvSpPr>
            <p:cNvPr id="1471514" name="Rectangle 26"/>
            <p:cNvSpPr>
              <a:spLocks noChangeArrowheads="1"/>
            </p:cNvSpPr>
            <p:nvPr/>
          </p:nvSpPr>
          <p:spPr bwMode="auto">
            <a:xfrm>
              <a:off x="4693" y="1579"/>
              <a:ext cx="506" cy="266"/>
            </a:xfrm>
            <a:prstGeom prst="rect">
              <a:avLst/>
            </a:prstGeom>
            <a:solidFill>
              <a:schemeClr val="bg1"/>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系</a:t>
              </a:r>
            </a:p>
          </p:txBody>
        </p:sp>
        <p:sp>
          <p:nvSpPr>
            <p:cNvPr id="1471515" name="AutoShape 27"/>
            <p:cNvSpPr>
              <a:spLocks noChangeArrowheads="1"/>
            </p:cNvSpPr>
            <p:nvPr/>
          </p:nvSpPr>
          <p:spPr bwMode="auto">
            <a:xfrm>
              <a:off x="4157" y="1002"/>
              <a:ext cx="562" cy="267"/>
            </a:xfrm>
            <a:prstGeom prst="roundRect">
              <a:avLst>
                <a:gd name="adj" fmla="val 50000"/>
              </a:avLst>
            </a:prstGeom>
            <a:solidFill>
              <a:schemeClr val="bg1"/>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系名</a:t>
              </a:r>
            </a:p>
          </p:txBody>
        </p:sp>
        <p:sp>
          <p:nvSpPr>
            <p:cNvPr id="1471516" name="AutoShape 28"/>
            <p:cNvSpPr>
              <a:spLocks noChangeArrowheads="1"/>
            </p:cNvSpPr>
            <p:nvPr/>
          </p:nvSpPr>
          <p:spPr bwMode="auto">
            <a:xfrm>
              <a:off x="4793" y="1002"/>
              <a:ext cx="679" cy="267"/>
            </a:xfrm>
            <a:prstGeom prst="roundRect">
              <a:avLst>
                <a:gd name="adj" fmla="val 50000"/>
              </a:avLst>
            </a:prstGeom>
            <a:solidFill>
              <a:schemeClr val="bg1"/>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系主任</a:t>
              </a:r>
            </a:p>
          </p:txBody>
        </p:sp>
        <p:cxnSp>
          <p:nvCxnSpPr>
            <p:cNvPr id="3102" name="AutoShape 29"/>
            <p:cNvCxnSpPr>
              <a:cxnSpLocks noChangeShapeType="1"/>
              <a:stCxn id="1471515" idx="2"/>
              <a:endCxn id="1471514" idx="0"/>
            </p:cNvCxnSpPr>
            <p:nvPr/>
          </p:nvCxnSpPr>
          <p:spPr bwMode="auto">
            <a:xfrm>
              <a:off x="4438" y="1269"/>
              <a:ext cx="508" cy="31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3103" name="AutoShape 30"/>
            <p:cNvCxnSpPr>
              <a:cxnSpLocks noChangeShapeType="1"/>
              <a:stCxn id="1471516" idx="2"/>
              <a:endCxn id="1471514" idx="0"/>
            </p:cNvCxnSpPr>
            <p:nvPr/>
          </p:nvCxnSpPr>
          <p:spPr bwMode="auto">
            <a:xfrm flipH="1">
              <a:off x="4946" y="1269"/>
              <a:ext cx="187" cy="31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3104" name="AutoShape 31"/>
            <p:cNvCxnSpPr>
              <a:cxnSpLocks noChangeShapeType="1"/>
              <a:stCxn id="1471511" idx="3"/>
              <a:endCxn id="1471514" idx="1"/>
            </p:cNvCxnSpPr>
            <p:nvPr/>
          </p:nvCxnSpPr>
          <p:spPr bwMode="auto">
            <a:xfrm flipV="1">
              <a:off x="4382" y="1712"/>
              <a:ext cx="311" cy="1"/>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1471520" name="Rectangle 32"/>
            <p:cNvSpPr>
              <a:spLocks noChangeArrowheads="1"/>
            </p:cNvSpPr>
            <p:nvPr/>
          </p:nvSpPr>
          <p:spPr bwMode="auto">
            <a:xfrm>
              <a:off x="4236" y="1448"/>
              <a:ext cx="563" cy="265"/>
            </a:xfrm>
            <a:prstGeom prst="rect">
              <a:avLst/>
            </a:prstGeom>
            <a:noFill/>
            <a:ln w="12700" cap="sq">
              <a:noFill/>
              <a:miter lim="800000"/>
              <a:headEnd/>
              <a:tailEnd/>
            </a:ln>
            <a:effectLst/>
          </p:spPr>
          <p:txBody>
            <a:bodyPr wrap="none" lIns="0" tIns="0" rIns="0" bIns="0" anchor="ct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1</a:t>
              </a:r>
            </a:p>
          </p:txBody>
        </p:sp>
      </p:grpSp>
      <p:sp>
        <p:nvSpPr>
          <p:cNvPr id="3078" name="Rectangle 33"/>
          <p:cNvSpPr>
            <a:spLocks noChangeArrowheads="1"/>
          </p:cNvSpPr>
          <p:nvPr/>
        </p:nvSpPr>
        <p:spPr bwMode="auto">
          <a:xfrm>
            <a:off x="184151" y="3836268"/>
            <a:ext cx="3019698" cy="566737"/>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Aft>
                <a:spcPct val="0"/>
              </a:spcAft>
              <a:buSzTx/>
            </a:pPr>
            <a:r>
              <a:rPr kumimoji="0" lang="zh-CN" altLang="en-US" dirty="0">
                <a:solidFill>
                  <a:srgbClr val="FF9900"/>
                </a:solidFill>
                <a:effectLst/>
                <a:latin typeface="微软雅黑" panose="020B0503020204020204" pitchFamily="34" charset="-122"/>
                <a:ea typeface="微软雅黑" panose="020B0503020204020204" pitchFamily="34" charset="-122"/>
              </a:rPr>
              <a:t>另有语义约定</a:t>
            </a:r>
            <a:r>
              <a:rPr kumimoji="0" lang="en-US" altLang="zh-CN" dirty="0">
                <a:solidFill>
                  <a:srgbClr val="FF9900"/>
                </a:solidFill>
                <a:effectLst/>
                <a:latin typeface="微软雅黑" panose="020B0503020204020204" pitchFamily="34" charset="-122"/>
                <a:ea typeface="微软雅黑" panose="020B0503020204020204" pitchFamily="34" charset="-122"/>
              </a:rPr>
              <a:t>:</a:t>
            </a: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p:cNvSpPr>
            <a:spLocks noGrp="1" noChangeArrowheads="1"/>
          </p:cNvSpPr>
          <p:nvPr>
            <p:ph type="title"/>
          </p:nvPr>
        </p:nvSpPr>
        <p:spPr>
          <a:xfrm>
            <a:off x="179512" y="858779"/>
            <a:ext cx="8949183" cy="584775"/>
          </a:xfrm>
        </p:spPr>
        <p:txBody>
          <a:bodyPr wrap="square"/>
          <a:lstStyle/>
          <a:p>
            <a:pPr>
              <a:buFont typeface="Wingdings" pitchFamily="2" charset="2"/>
              <a:buNone/>
            </a:pPr>
            <a:r>
              <a:rPr lang="zh-CN" altLang="en-US" sz="3200" dirty="0" smtClean="0">
                <a:latin typeface="微软雅黑" panose="020B0503020204020204" pitchFamily="34" charset="-122"/>
                <a:ea typeface="微软雅黑" panose="020B0503020204020204" pitchFamily="34" charset="-122"/>
              </a:rPr>
              <a:t>方案</a:t>
            </a:r>
            <a:r>
              <a:rPr lang="en-US" altLang="zh-CN" sz="3200" dirty="0" smtClean="0">
                <a:latin typeface="微软雅黑" panose="020B0503020204020204" pitchFamily="34" charset="-122"/>
                <a:ea typeface="微软雅黑" panose="020B0503020204020204" pitchFamily="34" charset="-122"/>
              </a:rPr>
              <a:t>1</a:t>
            </a:r>
            <a:r>
              <a:rPr lang="zh-CN" altLang="en-US" sz="3200" dirty="0" smtClean="0">
                <a:latin typeface="微软雅黑" panose="020B0503020204020204" pitchFamily="34" charset="-122"/>
                <a:ea typeface="微软雅黑" panose="020B0503020204020204" pitchFamily="34" charset="-122"/>
              </a:rPr>
              <a:t>：把学籍</a:t>
            </a:r>
            <a:r>
              <a:rPr lang="en-US" altLang="zh-CN" sz="3200" dirty="0" smtClean="0">
                <a:latin typeface="微软雅黑" panose="020B0503020204020204" pitchFamily="34" charset="-122"/>
                <a:ea typeface="微软雅黑" panose="020B0503020204020204" pitchFamily="34" charset="-122"/>
              </a:rPr>
              <a:t>E-R</a:t>
            </a:r>
            <a:r>
              <a:rPr lang="zh-CN" altLang="en-US" sz="3200" dirty="0" smtClean="0">
                <a:latin typeface="微软雅黑" panose="020B0503020204020204" pitchFamily="34" charset="-122"/>
                <a:ea typeface="微软雅黑" panose="020B0503020204020204" pitchFamily="34" charset="-122"/>
              </a:rPr>
              <a:t>模型设计成一个关系模式</a:t>
            </a:r>
            <a:endParaRPr lang="en-US" altLang="zh-CN" sz="3200" dirty="0" smtClean="0">
              <a:latin typeface="微软雅黑" panose="020B0503020204020204" pitchFamily="34" charset="-122"/>
              <a:ea typeface="微软雅黑" panose="020B0503020204020204" pitchFamily="34" charset="-122"/>
            </a:endParaRPr>
          </a:p>
        </p:txBody>
      </p:sp>
      <p:graphicFrame>
        <p:nvGraphicFramePr>
          <p:cNvPr id="1472516" name="Group 4"/>
          <p:cNvGraphicFramePr>
            <a:graphicFrameLocks noGrp="1"/>
          </p:cNvGraphicFramePr>
          <p:nvPr>
            <p:extLst>
              <p:ext uri="{D42A27DB-BD31-4B8C-83A1-F6EECF244321}">
                <p14:modId xmlns:p14="http://schemas.microsoft.com/office/powerpoint/2010/main" val="3581600814"/>
              </p:ext>
            </p:extLst>
          </p:nvPr>
        </p:nvGraphicFramePr>
        <p:xfrm>
          <a:off x="323850" y="3068216"/>
          <a:ext cx="8001000" cy="3295646"/>
        </p:xfrm>
        <a:graphic>
          <a:graphicData uri="http://schemas.openxmlformats.org/drawingml/2006/table">
            <a:tbl>
              <a:tblPr/>
              <a:tblGrid>
                <a:gridCol w="1033463">
                  <a:extLst>
                    <a:ext uri="{9D8B030D-6E8A-4147-A177-3AD203B41FA5}">
                      <a16:colId xmlns:a16="http://schemas.microsoft.com/office/drawing/2014/main" val="20000"/>
                    </a:ext>
                  </a:extLst>
                </a:gridCol>
                <a:gridCol w="1031875">
                  <a:extLst>
                    <a:ext uri="{9D8B030D-6E8A-4147-A177-3AD203B41FA5}">
                      <a16:colId xmlns:a16="http://schemas.microsoft.com/office/drawing/2014/main" val="20001"/>
                    </a:ext>
                  </a:extLst>
                </a:gridCol>
                <a:gridCol w="825500">
                  <a:extLst>
                    <a:ext uri="{9D8B030D-6E8A-4147-A177-3AD203B41FA5}">
                      <a16:colId xmlns:a16="http://schemas.microsoft.com/office/drawing/2014/main" val="20002"/>
                    </a:ext>
                  </a:extLst>
                </a:gridCol>
                <a:gridCol w="1343025">
                  <a:extLst>
                    <a:ext uri="{9D8B030D-6E8A-4147-A177-3AD203B41FA5}">
                      <a16:colId xmlns:a16="http://schemas.microsoft.com/office/drawing/2014/main" val="20003"/>
                    </a:ext>
                  </a:extLst>
                </a:gridCol>
                <a:gridCol w="1455737">
                  <a:extLst>
                    <a:ext uri="{9D8B030D-6E8A-4147-A177-3AD203B41FA5}">
                      <a16:colId xmlns:a16="http://schemas.microsoft.com/office/drawing/2014/main" val="20004"/>
                    </a:ext>
                  </a:extLst>
                </a:gridCol>
                <a:gridCol w="1055688">
                  <a:extLst>
                    <a:ext uri="{9D8B030D-6E8A-4147-A177-3AD203B41FA5}">
                      <a16:colId xmlns:a16="http://schemas.microsoft.com/office/drawing/2014/main" val="20005"/>
                    </a:ext>
                  </a:extLst>
                </a:gridCol>
                <a:gridCol w="1255712">
                  <a:extLst>
                    <a:ext uri="{9D8B030D-6E8A-4147-A177-3AD203B41FA5}">
                      <a16:colId xmlns:a16="http://schemas.microsoft.com/office/drawing/2014/main" val="20006"/>
                    </a:ext>
                  </a:extLst>
                </a:gridCol>
              </a:tblGrid>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smtClean="0">
                          <a:ln>
                            <a:noFill/>
                          </a:ln>
                          <a:solidFill>
                            <a:srgbClr val="00FFFF"/>
                          </a:solidFill>
                          <a:effectLst/>
                          <a:latin typeface="Times New Roman" pitchFamily="18" charset="0"/>
                          <a:ea typeface="宋体" pitchFamily="2" charset="-122"/>
                        </a:rPr>
                        <a:t>学号</a:t>
                      </a:r>
                    </a:p>
                  </a:txBody>
                  <a:tcPr marL="0" marR="0" marT="0" marB="0"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姓名</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系名</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smtClean="0">
                          <a:ln>
                            <a:noFill/>
                          </a:ln>
                          <a:solidFill>
                            <a:schemeClr val="tx1"/>
                          </a:solidFill>
                          <a:effectLst/>
                          <a:latin typeface="Times New Roman" pitchFamily="18" charset="0"/>
                          <a:ea typeface="宋体" pitchFamily="2" charset="-122"/>
                        </a:rPr>
                        <a:t>系主任</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rgbClr val="00FFFF"/>
                          </a:solidFill>
                          <a:effectLst/>
                          <a:latin typeface="Times New Roman" pitchFamily="18" charset="0"/>
                          <a:ea typeface="宋体" pitchFamily="2" charset="-122"/>
                        </a:rPr>
                        <a:t>课名</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学分</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成绩</a:t>
                      </a:r>
                    </a:p>
                  </a:txBody>
                  <a:tcPr marL="0" marR="0" marT="0" marB="0"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9801</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张明</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IS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刘成</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rgbClr val="00FFFF"/>
                          </a:solidFill>
                          <a:effectLst/>
                          <a:latin typeface="Times New Roman" pitchFamily="18" charset="0"/>
                          <a:ea typeface="宋体" pitchFamily="2" charset="-122"/>
                        </a:rPr>
                        <a:t>C</a:t>
                      </a: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语言</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85</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9801</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张明</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IS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刘成</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数据库</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80</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78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9801</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张明</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IS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刘成</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数据结构</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76</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9801</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张明</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IS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刘成</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高数</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5</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82</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9802</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赵龙</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CS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王浩</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高数</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72</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9802</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赵龙</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CS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王浩</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rgbClr val="00FFFF"/>
                          </a:solidFill>
                          <a:effectLst/>
                          <a:latin typeface="Times New Roman" pitchFamily="18" charset="0"/>
                          <a:ea typeface="宋体" pitchFamily="2" charset="-122"/>
                        </a:rPr>
                        <a:t>C</a:t>
                      </a: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语言</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68</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9803</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陈然</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MA</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魏征</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rgbClr val="00FFFF"/>
                          </a:solidFill>
                          <a:effectLst/>
                          <a:latin typeface="Times New Roman" pitchFamily="18" charset="0"/>
                          <a:ea typeface="宋体" pitchFamily="2" charset="-122"/>
                        </a:rPr>
                        <a:t>C</a:t>
                      </a: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语言</a:t>
                      </a:r>
                      <a:endParaRPr kumimoji="1" lang="en-US" altLang="zh-CN" sz="1800" b="0" i="0" u="none" strike="noStrike" cap="none" normalizeH="0" baseline="0" smtClean="0">
                        <a:ln>
                          <a:noFill/>
                        </a:ln>
                        <a:solidFill>
                          <a:srgbClr val="00FFFF"/>
                        </a:solidFill>
                        <a:effectLst/>
                        <a:latin typeface="Times New Roman" pitchFamily="18" charset="0"/>
                        <a:ea typeface="宋体" pitchFamily="2"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84</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9803</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陈然</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MA</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魏征</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数据库</a:t>
                      </a:r>
                      <a:endParaRPr kumimoji="1" lang="en-US" altLang="zh-CN" sz="1800" b="0" i="0" u="none" strike="noStrike" cap="none" normalizeH="0" baseline="0" smtClean="0">
                        <a:ln>
                          <a:noFill/>
                        </a:ln>
                        <a:solidFill>
                          <a:srgbClr val="00FFFF"/>
                        </a:solidFill>
                        <a:effectLst/>
                        <a:latin typeface="Times New Roman" pitchFamily="18" charset="0"/>
                        <a:ea typeface="宋体" pitchFamily="2"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86</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9803</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陈然</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MA</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魏征</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高数</a:t>
                      </a:r>
                      <a:endParaRPr kumimoji="1" lang="en-US" altLang="zh-CN" sz="1800" b="0" i="0" u="none" strike="noStrike" cap="none" normalizeH="0" baseline="0" smtClean="0">
                        <a:ln>
                          <a:noFill/>
                        </a:ln>
                        <a:solidFill>
                          <a:srgbClr val="00FFFF"/>
                        </a:solidFill>
                        <a:effectLst/>
                        <a:latin typeface="Times New Roman" pitchFamily="18" charset="0"/>
                        <a:ea typeface="宋体" pitchFamily="2"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5</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74</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9804</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钟伟</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IS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刘成</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高数</a:t>
                      </a:r>
                      <a:endParaRPr kumimoji="1" lang="en-US" altLang="zh-CN" sz="1800" b="0" i="0" u="none" strike="noStrike" cap="none" normalizeH="0" baseline="0" smtClean="0">
                        <a:ln>
                          <a:noFill/>
                        </a:ln>
                        <a:solidFill>
                          <a:srgbClr val="00FFFF"/>
                        </a:solidFill>
                        <a:effectLst/>
                        <a:latin typeface="Times New Roman" pitchFamily="18" charset="0"/>
                        <a:ea typeface="宋体" pitchFamily="2"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5</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75</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a:t>
                      </a:r>
                    </a:p>
                  </a:txBody>
                  <a:tcPr marL="0" marR="0" marT="0" marB="0"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rgbClr val="00FFFF"/>
                          </a:solidFill>
                          <a:effectLst/>
                          <a:latin typeface="Times New Roman" pitchFamily="18" charset="0"/>
                          <a:ea typeface="宋体" pitchFamily="2"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a:t>
                      </a:r>
                    </a:p>
                  </a:txBody>
                  <a:tcPr marL="0" marR="0" marT="0" marB="0"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
        <p:nvSpPr>
          <p:cNvPr id="1472648" name="Rectangle 136"/>
          <p:cNvSpPr>
            <a:spLocks noChangeArrowheads="1"/>
          </p:cNvSpPr>
          <p:nvPr/>
        </p:nvSpPr>
        <p:spPr bwMode="auto">
          <a:xfrm>
            <a:off x="250825" y="1772816"/>
            <a:ext cx="8305800" cy="457200"/>
          </a:xfrm>
          <a:prstGeom prst="rect">
            <a:avLst/>
          </a:prstGeom>
          <a:noFill/>
          <a:ln w="12700" cap="sq">
            <a:noFill/>
            <a:miter lim="800000"/>
            <a:headEnd/>
            <a:tailEnd/>
          </a:ln>
          <a:effectLst/>
        </p:spPr>
        <p:txBody>
          <a:bodyPr lIns="0" tIns="0" rIns="0" bIns="0"/>
          <a:lstStyle/>
          <a:p>
            <a:pPr marL="198438" indent="-198438">
              <a:spcAft>
                <a:spcPct val="35000"/>
              </a:spcAft>
              <a:buSzTx/>
              <a:buFontTx/>
              <a:buNone/>
              <a:defRPr/>
            </a:pPr>
            <a:r>
              <a:rPr lang="en-US" altLang="zh-CN" sz="2800" b="1" dirty="0" smtClean="0">
                <a:solidFill>
                  <a:srgbClr val="99FF33"/>
                </a:solidFill>
                <a:effectLst>
                  <a:outerShdw blurRad="38100" dist="38100" dir="2700000" algn="tl">
                    <a:srgbClr val="000000"/>
                  </a:outerShdw>
                </a:effectLst>
              </a:rPr>
              <a:t>DSC(</a:t>
            </a:r>
            <a:r>
              <a:rPr lang="zh-CN" altLang="en-US" sz="2800" b="1" u="sng" dirty="0">
                <a:solidFill>
                  <a:srgbClr val="99FF33"/>
                </a:solidFill>
                <a:effectLst>
                  <a:outerShdw blurRad="38100" dist="38100" dir="2700000" algn="tl">
                    <a:srgbClr val="000000"/>
                  </a:outerShdw>
                </a:effectLst>
              </a:rPr>
              <a:t>学号</a:t>
            </a:r>
            <a:r>
              <a:rPr lang="en-US" altLang="zh-CN" sz="2800" b="1" dirty="0">
                <a:solidFill>
                  <a:srgbClr val="99FF33"/>
                </a:solidFill>
                <a:effectLst>
                  <a:outerShdw blurRad="38100" dist="38100" dir="2700000" algn="tl">
                    <a:srgbClr val="000000"/>
                  </a:outerShdw>
                </a:effectLst>
              </a:rPr>
              <a:t>,</a:t>
            </a:r>
            <a:r>
              <a:rPr lang="zh-CN" altLang="en-US" sz="2800" b="1" dirty="0">
                <a:solidFill>
                  <a:srgbClr val="99FF33"/>
                </a:solidFill>
                <a:effectLst>
                  <a:outerShdw blurRad="38100" dist="38100" dir="2700000" algn="tl">
                    <a:srgbClr val="000000"/>
                  </a:outerShdw>
                </a:effectLst>
              </a:rPr>
              <a:t>姓名</a:t>
            </a:r>
            <a:r>
              <a:rPr lang="en-US" altLang="zh-CN" sz="2800" b="1" dirty="0">
                <a:solidFill>
                  <a:srgbClr val="99FF33"/>
                </a:solidFill>
                <a:effectLst>
                  <a:outerShdw blurRad="38100" dist="38100" dir="2700000" algn="tl">
                    <a:srgbClr val="000000"/>
                  </a:outerShdw>
                </a:effectLst>
              </a:rPr>
              <a:t>,</a:t>
            </a:r>
            <a:r>
              <a:rPr lang="zh-CN" altLang="en-US" sz="2800" b="1" dirty="0">
                <a:solidFill>
                  <a:srgbClr val="99FF33"/>
                </a:solidFill>
                <a:effectLst>
                  <a:outerShdw blurRad="38100" dist="38100" dir="2700000" algn="tl">
                    <a:srgbClr val="000000"/>
                  </a:outerShdw>
                </a:effectLst>
              </a:rPr>
              <a:t>系名</a:t>
            </a:r>
            <a:r>
              <a:rPr lang="en-US" altLang="zh-CN" sz="2800" b="1" dirty="0">
                <a:solidFill>
                  <a:srgbClr val="99FF33"/>
                </a:solidFill>
                <a:effectLst>
                  <a:outerShdw blurRad="38100" dist="38100" dir="2700000" algn="tl">
                    <a:srgbClr val="000000"/>
                  </a:outerShdw>
                </a:effectLst>
              </a:rPr>
              <a:t>,</a:t>
            </a:r>
            <a:r>
              <a:rPr lang="zh-CN" altLang="en-US" sz="2800" b="1" dirty="0">
                <a:solidFill>
                  <a:srgbClr val="99FF33"/>
                </a:solidFill>
                <a:effectLst>
                  <a:outerShdw blurRad="38100" dist="38100" dir="2700000" algn="tl">
                    <a:srgbClr val="000000"/>
                  </a:outerShdw>
                </a:effectLst>
              </a:rPr>
              <a:t>系主任</a:t>
            </a:r>
            <a:r>
              <a:rPr lang="en-US" altLang="zh-CN" sz="2800" b="1" dirty="0">
                <a:solidFill>
                  <a:srgbClr val="99FF33"/>
                </a:solidFill>
                <a:effectLst>
                  <a:outerShdw blurRad="38100" dist="38100" dir="2700000" algn="tl">
                    <a:srgbClr val="000000"/>
                  </a:outerShdw>
                </a:effectLst>
              </a:rPr>
              <a:t>,</a:t>
            </a:r>
            <a:r>
              <a:rPr lang="zh-CN" altLang="en-US" sz="2800" b="1" u="sng" dirty="0">
                <a:solidFill>
                  <a:srgbClr val="99FF33"/>
                </a:solidFill>
                <a:effectLst>
                  <a:outerShdw blurRad="38100" dist="38100" dir="2700000" algn="tl">
                    <a:srgbClr val="000000"/>
                  </a:outerShdw>
                </a:effectLst>
              </a:rPr>
              <a:t>课名</a:t>
            </a:r>
            <a:r>
              <a:rPr lang="en-US" altLang="zh-CN" sz="2800" b="1" dirty="0">
                <a:solidFill>
                  <a:srgbClr val="99FF33"/>
                </a:solidFill>
                <a:effectLst>
                  <a:outerShdw blurRad="38100" dist="38100" dir="2700000" algn="tl">
                    <a:srgbClr val="000000"/>
                  </a:outerShdw>
                </a:effectLst>
              </a:rPr>
              <a:t>,</a:t>
            </a:r>
            <a:r>
              <a:rPr lang="zh-CN" altLang="en-US" sz="2800" b="1" dirty="0">
                <a:solidFill>
                  <a:srgbClr val="99FF33"/>
                </a:solidFill>
                <a:effectLst>
                  <a:outerShdw blurRad="38100" dist="38100" dir="2700000" algn="tl">
                    <a:srgbClr val="000000"/>
                  </a:outerShdw>
                </a:effectLst>
              </a:rPr>
              <a:t>学分</a:t>
            </a:r>
            <a:r>
              <a:rPr lang="en-US" altLang="zh-CN" sz="2800" b="1" dirty="0">
                <a:solidFill>
                  <a:srgbClr val="99FF33"/>
                </a:solidFill>
                <a:effectLst>
                  <a:outerShdw blurRad="38100" dist="38100" dir="2700000" algn="tl">
                    <a:srgbClr val="000000"/>
                  </a:outerShdw>
                </a:effectLst>
              </a:rPr>
              <a:t>,</a:t>
            </a:r>
            <a:r>
              <a:rPr lang="zh-CN" altLang="en-US" sz="2800" b="1" dirty="0">
                <a:solidFill>
                  <a:srgbClr val="99FF33"/>
                </a:solidFill>
                <a:effectLst>
                  <a:outerShdw blurRad="38100" dist="38100" dir="2700000" algn="tl">
                    <a:srgbClr val="000000"/>
                  </a:outerShdw>
                </a:effectLst>
              </a:rPr>
              <a:t>成绩</a:t>
            </a:r>
            <a:r>
              <a:rPr lang="en-US" altLang="zh-CN" sz="2800" b="1" dirty="0">
                <a:solidFill>
                  <a:srgbClr val="99FF33"/>
                </a:solidFill>
                <a:effectLst>
                  <a:outerShdw blurRad="38100" dist="38100" dir="2700000" algn="tl">
                    <a:srgbClr val="000000"/>
                  </a:outerShdw>
                </a:effectLst>
              </a:rPr>
              <a:t>)</a:t>
            </a:r>
          </a:p>
          <a:p>
            <a:pPr marL="198438" indent="-198438">
              <a:spcAft>
                <a:spcPct val="35000"/>
              </a:spcAft>
              <a:buSzTx/>
              <a:buFontTx/>
              <a:buNone/>
              <a:defRPr/>
            </a:pPr>
            <a:r>
              <a:rPr lang="zh-CN" altLang="en-US" sz="2800" b="1" dirty="0">
                <a:effectLst>
                  <a:outerShdw blurRad="38100" dist="38100" dir="2700000" algn="tl">
                    <a:srgbClr val="000000"/>
                  </a:outerShdw>
                </a:effectLst>
              </a:rPr>
              <a:t>说明：带下划线的属性集构成</a:t>
            </a:r>
            <a:r>
              <a:rPr lang="zh-CN" altLang="en-US" sz="2800" b="1" dirty="0" smtClean="0">
                <a:effectLst>
                  <a:outerShdw blurRad="38100" dist="38100" dir="2700000" algn="tl">
                    <a:srgbClr val="000000"/>
                  </a:outerShdw>
                </a:effectLst>
              </a:rPr>
              <a:t>主键。 </a:t>
            </a:r>
            <a:endParaRPr lang="zh-CN" altLang="en-US" sz="2800" b="1" dirty="0">
              <a:effectLst>
                <a:outerShdw blurRad="38100" dist="38100" dir="2700000" algn="tl">
                  <a:srgbClr val="000000"/>
                </a:outerShdw>
              </a:effectLst>
            </a:endParaRPr>
          </a:p>
        </p:txBody>
      </p:sp>
      <p:sp>
        <p:nvSpPr>
          <p:cNvPr id="1472649" name="Rectangle 137"/>
          <p:cNvSpPr>
            <a:spLocks noChangeArrowheads="1"/>
          </p:cNvSpPr>
          <p:nvPr/>
        </p:nvSpPr>
        <p:spPr bwMode="auto">
          <a:xfrm>
            <a:off x="1258888" y="4365203"/>
            <a:ext cx="6265862" cy="566738"/>
          </a:xfrm>
          <a:prstGeom prst="rect">
            <a:avLst/>
          </a:prstGeom>
          <a:solidFill>
            <a:srgbClr val="FF0000"/>
          </a:solidFill>
          <a:ln w="9525">
            <a:solidFill>
              <a:schemeClr val="hlink"/>
            </a:solidFill>
            <a:miter lim="800000"/>
            <a:headEnd/>
            <a:tailEnd/>
          </a:ln>
          <a:effectLst>
            <a:outerShdw dist="107763" dir="2700000" algn="ctr" rotWithShape="0">
              <a:schemeClr val="bg2">
                <a:alpha val="50000"/>
              </a:schemeClr>
            </a:outerShdw>
          </a:effectLst>
        </p:spPr>
        <p:txBody>
          <a:bodyPr anchor="ctr"/>
          <a:lstStyle/>
          <a:p>
            <a:pPr algn="ctr">
              <a:spcAft>
                <a:spcPct val="0"/>
              </a:spcAft>
              <a:buSzTx/>
            </a:pPr>
            <a:r>
              <a:rPr kumimoji="0" lang="zh-CN" altLang="en-US" b="1">
                <a:solidFill>
                  <a:srgbClr val="FFFF00"/>
                </a:solidFill>
                <a:effectLst/>
                <a:latin typeface="方正姚体" pitchFamily="2" charset="-122"/>
                <a:ea typeface="方正姚体" pitchFamily="2" charset="-122"/>
              </a:rPr>
              <a:t>这个方案是</a:t>
            </a:r>
            <a:r>
              <a:rPr kumimoji="0" lang="en-US" altLang="zh-CN" b="1">
                <a:solidFill>
                  <a:srgbClr val="FFFF00"/>
                </a:solidFill>
                <a:effectLst/>
                <a:latin typeface="Arial" charset="0"/>
                <a:ea typeface="方正姚体" pitchFamily="2" charset="-122"/>
              </a:rPr>
              <a:t>“</a:t>
            </a:r>
            <a:r>
              <a:rPr kumimoji="0" lang="zh-CN" altLang="en-US" b="1">
                <a:solidFill>
                  <a:srgbClr val="FFFF00"/>
                </a:solidFill>
                <a:effectLst/>
                <a:latin typeface="方正姚体" pitchFamily="2" charset="-122"/>
                <a:ea typeface="方正姚体" pitchFamily="2" charset="-122"/>
              </a:rPr>
              <a:t>好</a:t>
            </a:r>
            <a:r>
              <a:rPr kumimoji="0" lang="zh-CN" altLang="en-US" b="1">
                <a:solidFill>
                  <a:srgbClr val="FFFF00"/>
                </a:solidFill>
                <a:effectLst/>
                <a:latin typeface="Arial" charset="0"/>
                <a:ea typeface="方正姚体" pitchFamily="2" charset="-122"/>
              </a:rPr>
              <a:t>”</a:t>
            </a:r>
            <a:r>
              <a:rPr kumimoji="0" lang="zh-CN" altLang="en-US" b="1">
                <a:solidFill>
                  <a:srgbClr val="FFFF00"/>
                </a:solidFill>
                <a:effectLst/>
                <a:latin typeface="方正姚体" pitchFamily="2" charset="-122"/>
                <a:ea typeface="方正姚体" pitchFamily="2" charset="-122"/>
              </a:rPr>
              <a:t>的方案吗？</a:t>
            </a:r>
          </a:p>
        </p:txBody>
      </p:sp>
      <p:sp>
        <p:nvSpPr>
          <p:cNvPr id="7" name="Text Box 2"/>
          <p:cNvSpPr txBox="1">
            <a:spLocks noChangeArrowheads="1"/>
          </p:cNvSpPr>
          <p:nvPr/>
        </p:nvSpPr>
        <p:spPr bwMode="auto">
          <a:xfrm>
            <a:off x="174937" y="-68263"/>
            <a:ext cx="2710211"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lvl1pPr lvl="0" defTabSz="914400" eaLnBrk="1" latinLnBrk="0" hangingPunct="1">
              <a:spcBef>
                <a:spcPts val="0"/>
              </a:spcBef>
              <a:buNone/>
              <a:defRPr sz="4000" b="1" baseline="0">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r>
              <a:rPr lang="zh-CN" altLang="en-US" dirty="0" smtClean="0"/>
              <a:t>问题的引入</a:t>
            </a:r>
            <a:endParaRPr lang="en-US" altLang="zh-CN" dirty="0" smtClean="0"/>
          </a:p>
        </p:txBody>
      </p:sp>
    </p:spTree>
  </p:cSld>
  <p:clrMapOvr>
    <a:masterClrMapping/>
  </p:clrMapOvr>
  <p:transition spd="med">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72649"/>
                                        </p:tgtEl>
                                        <p:attrNameLst>
                                          <p:attrName>style.visibility</p:attrName>
                                        </p:attrNameLst>
                                      </p:cBhvr>
                                      <p:to>
                                        <p:strVal val="visible"/>
                                      </p:to>
                                    </p:set>
                                    <p:animEffect transition="in" filter="fade">
                                      <p:cBhvr>
                                        <p:cTn id="7" dur="1000"/>
                                        <p:tgtEl>
                                          <p:spTgt spid="1472649"/>
                                        </p:tgtEl>
                                      </p:cBhvr>
                                    </p:animEffect>
                                    <p:anim calcmode="lin" valueType="num">
                                      <p:cBhvr>
                                        <p:cTn id="8" dur="1000" fill="hold"/>
                                        <p:tgtEl>
                                          <p:spTgt spid="1472649"/>
                                        </p:tgtEl>
                                        <p:attrNameLst>
                                          <p:attrName>ppt_x</p:attrName>
                                        </p:attrNameLst>
                                      </p:cBhvr>
                                      <p:tavLst>
                                        <p:tav tm="0">
                                          <p:val>
                                            <p:strVal val="#ppt_x"/>
                                          </p:val>
                                        </p:tav>
                                        <p:tav tm="100000">
                                          <p:val>
                                            <p:strVal val="#ppt_x"/>
                                          </p:val>
                                        </p:tav>
                                      </p:tavLst>
                                    </p:anim>
                                    <p:anim calcmode="lin" valueType="num">
                                      <p:cBhvr>
                                        <p:cTn id="9" dur="1000" fill="hold"/>
                                        <p:tgtEl>
                                          <p:spTgt spid="147264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264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type="title"/>
          </p:nvPr>
        </p:nvSpPr>
        <p:spPr>
          <a:xfrm>
            <a:off x="323850" y="4575682"/>
            <a:ext cx="5543550" cy="584775"/>
          </a:xfrm>
        </p:spPr>
        <p:txBody>
          <a:bodyPr wrap="square"/>
          <a:lstStyle/>
          <a:p>
            <a:pPr>
              <a:buFont typeface="Wingdings" pitchFamily="2" charset="2"/>
              <a:buNone/>
            </a:pPr>
            <a:r>
              <a:rPr lang="en-US" altLang="zh-CN" sz="3200" dirty="0" smtClean="0"/>
              <a:t>DSC</a:t>
            </a:r>
            <a:r>
              <a:rPr lang="zh-CN" altLang="en-US" sz="3200" dirty="0" smtClean="0"/>
              <a:t>的问题</a:t>
            </a:r>
            <a:r>
              <a:rPr lang="en-US" altLang="zh-CN" sz="3200" dirty="0" smtClean="0"/>
              <a:t>1</a:t>
            </a:r>
            <a:r>
              <a:rPr lang="zh-CN" altLang="en-US" sz="3200" dirty="0" smtClean="0"/>
              <a:t>：</a:t>
            </a:r>
            <a:r>
              <a:rPr lang="zh-CN" altLang="en-US" sz="3200" dirty="0" smtClean="0">
                <a:solidFill>
                  <a:srgbClr val="FFFF00"/>
                </a:solidFill>
              </a:rPr>
              <a:t>数据冗余太大</a:t>
            </a:r>
          </a:p>
        </p:txBody>
      </p:sp>
      <p:sp>
        <p:nvSpPr>
          <p:cNvPr id="1473540" name="Rectangle 4"/>
          <p:cNvSpPr>
            <a:spLocks noChangeArrowheads="1"/>
          </p:cNvSpPr>
          <p:nvPr/>
        </p:nvSpPr>
        <p:spPr bwMode="auto">
          <a:xfrm>
            <a:off x="395288" y="5343525"/>
            <a:ext cx="8497887" cy="457200"/>
          </a:xfrm>
          <a:prstGeom prst="rect">
            <a:avLst/>
          </a:prstGeom>
          <a:noFill/>
          <a:ln w="12700" cap="sq">
            <a:noFill/>
            <a:miter lim="800000"/>
            <a:headEnd/>
            <a:tailEnd/>
          </a:ln>
          <a:effectLst/>
        </p:spPr>
        <p:txBody>
          <a:bodyPr lIns="0" tIns="0" rIns="0" bIns="0"/>
          <a:lstStyle/>
          <a:p>
            <a:pPr>
              <a:spcAft>
                <a:spcPct val="30000"/>
              </a:spcAft>
              <a:buSzTx/>
              <a:buFontTx/>
              <a:buNone/>
              <a:defRPr/>
            </a:pPr>
            <a:r>
              <a:rPr lang="zh-CN" altLang="en-US" sz="2800">
                <a:effectLst>
                  <a:outerShdw blurRad="38100" dist="38100" dir="2700000" algn="tl">
                    <a:srgbClr val="000000"/>
                  </a:outerShdw>
                </a:effectLst>
                <a:latin typeface="Times New Roman" pitchFamily="18" charset="0"/>
              </a:rPr>
              <a:t>多次出现同一个学生的姓名、所在系和系主任；多次出现同一课程的学分。</a:t>
            </a:r>
            <a:endParaRPr lang="en-US" altLang="zh-CN" sz="2800">
              <a:effectLst>
                <a:outerShdw blurRad="38100" dist="38100" dir="2700000" algn="tl">
                  <a:srgbClr val="000000"/>
                </a:outerShdw>
              </a:effectLst>
              <a:latin typeface="Times New Roman" pitchFamily="18" charset="0"/>
            </a:endParaRPr>
          </a:p>
        </p:txBody>
      </p:sp>
      <p:graphicFrame>
        <p:nvGraphicFramePr>
          <p:cNvPr id="1473541" name="Group 5"/>
          <p:cNvGraphicFramePr>
            <a:graphicFrameLocks noGrp="1"/>
          </p:cNvGraphicFramePr>
          <p:nvPr>
            <p:extLst>
              <p:ext uri="{D42A27DB-BD31-4B8C-83A1-F6EECF244321}">
                <p14:modId xmlns:p14="http://schemas.microsoft.com/office/powerpoint/2010/main" val="908824757"/>
              </p:ext>
            </p:extLst>
          </p:nvPr>
        </p:nvGraphicFramePr>
        <p:xfrm>
          <a:off x="323850" y="1069458"/>
          <a:ext cx="8001000" cy="3295646"/>
        </p:xfrm>
        <a:graphic>
          <a:graphicData uri="http://schemas.openxmlformats.org/drawingml/2006/table">
            <a:tbl>
              <a:tblPr/>
              <a:tblGrid>
                <a:gridCol w="1033463">
                  <a:extLst>
                    <a:ext uri="{9D8B030D-6E8A-4147-A177-3AD203B41FA5}">
                      <a16:colId xmlns:a16="http://schemas.microsoft.com/office/drawing/2014/main" val="20000"/>
                    </a:ext>
                  </a:extLst>
                </a:gridCol>
                <a:gridCol w="1031875">
                  <a:extLst>
                    <a:ext uri="{9D8B030D-6E8A-4147-A177-3AD203B41FA5}">
                      <a16:colId xmlns:a16="http://schemas.microsoft.com/office/drawing/2014/main" val="20001"/>
                    </a:ext>
                  </a:extLst>
                </a:gridCol>
                <a:gridCol w="825500">
                  <a:extLst>
                    <a:ext uri="{9D8B030D-6E8A-4147-A177-3AD203B41FA5}">
                      <a16:colId xmlns:a16="http://schemas.microsoft.com/office/drawing/2014/main" val="20002"/>
                    </a:ext>
                  </a:extLst>
                </a:gridCol>
                <a:gridCol w="1343025">
                  <a:extLst>
                    <a:ext uri="{9D8B030D-6E8A-4147-A177-3AD203B41FA5}">
                      <a16:colId xmlns:a16="http://schemas.microsoft.com/office/drawing/2014/main" val="20003"/>
                    </a:ext>
                  </a:extLst>
                </a:gridCol>
                <a:gridCol w="1455737">
                  <a:extLst>
                    <a:ext uri="{9D8B030D-6E8A-4147-A177-3AD203B41FA5}">
                      <a16:colId xmlns:a16="http://schemas.microsoft.com/office/drawing/2014/main" val="20004"/>
                    </a:ext>
                  </a:extLst>
                </a:gridCol>
                <a:gridCol w="1055688">
                  <a:extLst>
                    <a:ext uri="{9D8B030D-6E8A-4147-A177-3AD203B41FA5}">
                      <a16:colId xmlns:a16="http://schemas.microsoft.com/office/drawing/2014/main" val="20005"/>
                    </a:ext>
                  </a:extLst>
                </a:gridCol>
                <a:gridCol w="1255712">
                  <a:extLst>
                    <a:ext uri="{9D8B030D-6E8A-4147-A177-3AD203B41FA5}">
                      <a16:colId xmlns:a16="http://schemas.microsoft.com/office/drawing/2014/main" val="20006"/>
                    </a:ext>
                  </a:extLst>
                </a:gridCol>
              </a:tblGrid>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rgbClr val="00FFFF"/>
                          </a:solidFill>
                          <a:effectLst/>
                          <a:latin typeface="Times New Roman" pitchFamily="18" charset="0"/>
                          <a:ea typeface="宋体" pitchFamily="2" charset="-122"/>
                        </a:rPr>
                        <a:t>学号</a:t>
                      </a:r>
                    </a:p>
                  </a:txBody>
                  <a:tcPr marL="0" marR="0" marT="0" marB="0"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姓名</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系名</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系主任</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rgbClr val="00FFFF"/>
                          </a:solidFill>
                          <a:effectLst/>
                          <a:latin typeface="Times New Roman" pitchFamily="18" charset="0"/>
                          <a:ea typeface="宋体" pitchFamily="2" charset="-122"/>
                        </a:rPr>
                        <a:t>课名</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学分</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成绩</a:t>
                      </a:r>
                    </a:p>
                  </a:txBody>
                  <a:tcPr marL="0" marR="0" marT="0" marB="0"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9801</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张明</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IS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刘成</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rgbClr val="00FFFF"/>
                          </a:solidFill>
                          <a:effectLst/>
                          <a:latin typeface="Times New Roman" pitchFamily="18" charset="0"/>
                          <a:ea typeface="宋体" pitchFamily="2" charset="-122"/>
                        </a:rPr>
                        <a:t>C</a:t>
                      </a: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语言</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85</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9801</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张明</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IS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刘成</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数据库</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80</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78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9801</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张明</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IS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刘成</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数据结构</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76</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9801</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张明</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IS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刘成</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高数</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5</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82</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9802</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赵龙</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CS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王浩</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高数</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72</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9802</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赵龙</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CS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王浩</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rgbClr val="00FFFF"/>
                          </a:solidFill>
                          <a:effectLst/>
                          <a:latin typeface="Times New Roman" pitchFamily="18" charset="0"/>
                          <a:ea typeface="宋体" pitchFamily="2" charset="-122"/>
                        </a:rPr>
                        <a:t>C</a:t>
                      </a: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语言</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68</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9803</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陈然</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MA</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魏征</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rgbClr val="00FFFF"/>
                          </a:solidFill>
                          <a:effectLst/>
                          <a:latin typeface="Times New Roman" pitchFamily="18" charset="0"/>
                          <a:ea typeface="宋体" pitchFamily="2" charset="-122"/>
                        </a:rPr>
                        <a:t>C</a:t>
                      </a: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语言</a:t>
                      </a:r>
                      <a:endParaRPr kumimoji="1" lang="en-US" altLang="zh-CN" sz="1800" b="0" i="0" u="none" strike="noStrike" cap="none" normalizeH="0" baseline="0" smtClean="0">
                        <a:ln>
                          <a:noFill/>
                        </a:ln>
                        <a:solidFill>
                          <a:srgbClr val="00FFFF"/>
                        </a:solidFill>
                        <a:effectLst/>
                        <a:latin typeface="Times New Roman" pitchFamily="18" charset="0"/>
                        <a:ea typeface="宋体" pitchFamily="2"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84</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9803</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陈然</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MA</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魏征</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数据库</a:t>
                      </a:r>
                      <a:endParaRPr kumimoji="1" lang="en-US" altLang="zh-CN" sz="1800" b="0" i="0" u="none" strike="noStrike" cap="none" normalizeH="0" baseline="0" smtClean="0">
                        <a:ln>
                          <a:noFill/>
                        </a:ln>
                        <a:solidFill>
                          <a:srgbClr val="00FFFF"/>
                        </a:solidFill>
                        <a:effectLst/>
                        <a:latin typeface="Times New Roman" pitchFamily="18" charset="0"/>
                        <a:ea typeface="宋体" pitchFamily="2"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86</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9803</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陈然</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MA</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魏征</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高数</a:t>
                      </a:r>
                      <a:endParaRPr kumimoji="1" lang="en-US" altLang="zh-CN" sz="1800" b="0" i="0" u="none" strike="noStrike" cap="none" normalizeH="0" baseline="0" smtClean="0">
                        <a:ln>
                          <a:noFill/>
                        </a:ln>
                        <a:solidFill>
                          <a:srgbClr val="00FFFF"/>
                        </a:solidFill>
                        <a:effectLst/>
                        <a:latin typeface="Times New Roman" pitchFamily="18" charset="0"/>
                        <a:ea typeface="宋体" pitchFamily="2"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5</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74</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9804</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钟伟</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IS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刘成</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高数</a:t>
                      </a:r>
                      <a:endParaRPr kumimoji="1" lang="en-US" altLang="zh-CN" sz="1800" b="0" i="0" u="none" strike="noStrike" cap="none" normalizeH="0" baseline="0" smtClean="0">
                        <a:ln>
                          <a:noFill/>
                        </a:ln>
                        <a:solidFill>
                          <a:srgbClr val="00FFFF"/>
                        </a:solidFill>
                        <a:effectLst/>
                        <a:latin typeface="Times New Roman" pitchFamily="18" charset="0"/>
                        <a:ea typeface="宋体" pitchFamily="2"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5</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75</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a:t>
                      </a:r>
                    </a:p>
                  </a:txBody>
                  <a:tcPr marL="0" marR="0" marT="0" marB="0"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rgbClr val="00FFFF"/>
                          </a:solidFill>
                          <a:effectLst/>
                          <a:latin typeface="Times New Roman" pitchFamily="18" charset="0"/>
                          <a:ea typeface="宋体" pitchFamily="2"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a:t>
                      </a:r>
                    </a:p>
                  </a:txBody>
                  <a:tcPr marL="0" marR="0" marT="0" marB="0"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
        <p:nvSpPr>
          <p:cNvPr id="7" name="Text Box 2"/>
          <p:cNvSpPr txBox="1">
            <a:spLocks noChangeArrowheads="1"/>
          </p:cNvSpPr>
          <p:nvPr/>
        </p:nvSpPr>
        <p:spPr bwMode="auto">
          <a:xfrm>
            <a:off x="174937" y="-68263"/>
            <a:ext cx="2710211"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lvl1pPr lvl="0" defTabSz="914400" eaLnBrk="1" latinLnBrk="0" hangingPunct="1">
              <a:spcBef>
                <a:spcPts val="0"/>
              </a:spcBef>
              <a:buNone/>
              <a:defRPr sz="4000" b="1" baseline="0">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r>
              <a:rPr lang="zh-CN" altLang="en-US" dirty="0" smtClean="0"/>
              <a:t>问题的引入</a:t>
            </a:r>
            <a:endParaRPr lang="en-US" altLang="zh-CN" dirty="0" smtClean="0"/>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p:cNvSpPr>
            <a:spLocks noGrp="1" noChangeArrowheads="1"/>
          </p:cNvSpPr>
          <p:nvPr>
            <p:ph type="title"/>
          </p:nvPr>
        </p:nvSpPr>
        <p:spPr>
          <a:xfrm>
            <a:off x="323850" y="4575682"/>
            <a:ext cx="5543550" cy="584775"/>
          </a:xfrm>
        </p:spPr>
        <p:txBody>
          <a:bodyPr wrap="square"/>
          <a:lstStyle/>
          <a:p>
            <a:pPr>
              <a:buFont typeface="Wingdings" pitchFamily="2" charset="2"/>
              <a:buNone/>
            </a:pPr>
            <a:r>
              <a:rPr lang="en-US" altLang="zh-CN" sz="3200" dirty="0" smtClean="0">
                <a:latin typeface="微软雅黑" panose="020B0503020204020204" pitchFamily="34" charset="-122"/>
                <a:ea typeface="微软雅黑" panose="020B0503020204020204" pitchFamily="34" charset="-122"/>
              </a:rPr>
              <a:t>DSC</a:t>
            </a:r>
            <a:r>
              <a:rPr lang="zh-CN" altLang="en-US" sz="3200" dirty="0" smtClean="0">
                <a:latin typeface="微软雅黑" panose="020B0503020204020204" pitchFamily="34" charset="-122"/>
                <a:ea typeface="微软雅黑" panose="020B0503020204020204" pitchFamily="34" charset="-122"/>
              </a:rPr>
              <a:t>的问题</a:t>
            </a:r>
            <a:r>
              <a:rPr lang="en-US" altLang="zh-CN" sz="3200" dirty="0" smtClean="0">
                <a:latin typeface="微软雅黑" panose="020B0503020204020204" pitchFamily="34" charset="-122"/>
                <a:ea typeface="微软雅黑" panose="020B0503020204020204" pitchFamily="34" charset="-122"/>
              </a:rPr>
              <a:t>2</a:t>
            </a:r>
            <a:r>
              <a:rPr lang="zh-CN" altLang="en-US" sz="3200" dirty="0" smtClean="0">
                <a:latin typeface="微软雅黑" panose="020B0503020204020204" pitchFamily="34" charset="-122"/>
                <a:ea typeface="微软雅黑" panose="020B0503020204020204" pitchFamily="34" charset="-122"/>
              </a:rPr>
              <a:t>：</a:t>
            </a:r>
            <a:r>
              <a:rPr lang="zh-CN" altLang="en-US" sz="3200" dirty="0" smtClean="0">
                <a:solidFill>
                  <a:srgbClr val="FFFF00"/>
                </a:solidFill>
                <a:latin typeface="微软雅黑" panose="020B0503020204020204" pitchFamily="34" charset="-122"/>
                <a:ea typeface="微软雅黑" panose="020B0503020204020204" pitchFamily="34" charset="-122"/>
              </a:rPr>
              <a:t>存在插入异常</a:t>
            </a:r>
          </a:p>
        </p:txBody>
      </p:sp>
      <p:sp>
        <p:nvSpPr>
          <p:cNvPr id="1474696" name="Rectangle 136"/>
          <p:cNvSpPr>
            <a:spLocks noChangeArrowheads="1"/>
          </p:cNvSpPr>
          <p:nvPr/>
        </p:nvSpPr>
        <p:spPr bwMode="auto">
          <a:xfrm>
            <a:off x="395288" y="5348288"/>
            <a:ext cx="8497887" cy="457200"/>
          </a:xfrm>
          <a:prstGeom prst="rect">
            <a:avLst/>
          </a:prstGeom>
          <a:noFill/>
          <a:ln w="12700" cap="sq">
            <a:noFill/>
            <a:miter lim="800000"/>
            <a:headEnd/>
            <a:tailEnd/>
          </a:ln>
          <a:effectLst/>
        </p:spPr>
        <p:txBody>
          <a:bodyPr lIns="0" tIns="0" rIns="0" bIns="0"/>
          <a:lstStyle/>
          <a:p>
            <a:pPr>
              <a:spcAft>
                <a:spcPct val="10000"/>
              </a:spcAft>
              <a:buSzTx/>
              <a:buFontTx/>
              <a:buNone/>
              <a:defRPr/>
            </a:pPr>
            <a:r>
              <a:rPr lang="zh-CN" altLang="en-US" sz="2800">
                <a:effectLst>
                  <a:outerShdw blurRad="38100" dist="38100" dir="2700000" algn="tl">
                    <a:srgbClr val="000000"/>
                  </a:outerShdw>
                </a:effectLst>
                <a:latin typeface="Times New Roman" pitchFamily="18" charset="0"/>
              </a:rPr>
              <a:t>无法插入没有选课的学生；无法插入还无学生选修的新课；无法插入尚无学生的新系。</a:t>
            </a:r>
            <a:endParaRPr lang="en-US" altLang="zh-CN" sz="2800">
              <a:effectLst>
                <a:outerShdw blurRad="38100" dist="38100" dir="2700000" algn="tl">
                  <a:srgbClr val="000000"/>
                </a:outerShdw>
              </a:effectLst>
              <a:latin typeface="Times New Roman" pitchFamily="18" charset="0"/>
            </a:endParaRPr>
          </a:p>
        </p:txBody>
      </p:sp>
      <p:sp>
        <p:nvSpPr>
          <p:cNvPr id="7" name="Text Box 2"/>
          <p:cNvSpPr txBox="1">
            <a:spLocks noChangeArrowheads="1"/>
          </p:cNvSpPr>
          <p:nvPr/>
        </p:nvSpPr>
        <p:spPr bwMode="auto">
          <a:xfrm>
            <a:off x="174937" y="-68263"/>
            <a:ext cx="2710211"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lvl1pPr lvl="0" defTabSz="914400" eaLnBrk="1" latinLnBrk="0" hangingPunct="1">
              <a:spcBef>
                <a:spcPts val="0"/>
              </a:spcBef>
              <a:buNone/>
              <a:defRPr sz="4000" b="1" baseline="0">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r>
              <a:rPr lang="zh-CN" altLang="en-US" dirty="0" smtClean="0"/>
              <a:t>问题的引入</a:t>
            </a:r>
            <a:endParaRPr lang="en-US" altLang="zh-CN" dirty="0" smtClean="0"/>
          </a:p>
        </p:txBody>
      </p:sp>
      <p:graphicFrame>
        <p:nvGraphicFramePr>
          <p:cNvPr id="8" name="Group 5"/>
          <p:cNvGraphicFramePr>
            <a:graphicFrameLocks noGrp="1"/>
          </p:cNvGraphicFramePr>
          <p:nvPr>
            <p:extLst>
              <p:ext uri="{D42A27DB-BD31-4B8C-83A1-F6EECF244321}">
                <p14:modId xmlns:p14="http://schemas.microsoft.com/office/powerpoint/2010/main" val="1514424158"/>
              </p:ext>
            </p:extLst>
          </p:nvPr>
        </p:nvGraphicFramePr>
        <p:xfrm>
          <a:off x="323850" y="1069458"/>
          <a:ext cx="8001000" cy="3295646"/>
        </p:xfrm>
        <a:graphic>
          <a:graphicData uri="http://schemas.openxmlformats.org/drawingml/2006/table">
            <a:tbl>
              <a:tblPr/>
              <a:tblGrid>
                <a:gridCol w="1033463">
                  <a:extLst>
                    <a:ext uri="{9D8B030D-6E8A-4147-A177-3AD203B41FA5}">
                      <a16:colId xmlns:a16="http://schemas.microsoft.com/office/drawing/2014/main" val="20000"/>
                    </a:ext>
                  </a:extLst>
                </a:gridCol>
                <a:gridCol w="1031875">
                  <a:extLst>
                    <a:ext uri="{9D8B030D-6E8A-4147-A177-3AD203B41FA5}">
                      <a16:colId xmlns:a16="http://schemas.microsoft.com/office/drawing/2014/main" val="20001"/>
                    </a:ext>
                  </a:extLst>
                </a:gridCol>
                <a:gridCol w="825500">
                  <a:extLst>
                    <a:ext uri="{9D8B030D-6E8A-4147-A177-3AD203B41FA5}">
                      <a16:colId xmlns:a16="http://schemas.microsoft.com/office/drawing/2014/main" val="20002"/>
                    </a:ext>
                  </a:extLst>
                </a:gridCol>
                <a:gridCol w="1343025">
                  <a:extLst>
                    <a:ext uri="{9D8B030D-6E8A-4147-A177-3AD203B41FA5}">
                      <a16:colId xmlns:a16="http://schemas.microsoft.com/office/drawing/2014/main" val="20003"/>
                    </a:ext>
                  </a:extLst>
                </a:gridCol>
                <a:gridCol w="1455737">
                  <a:extLst>
                    <a:ext uri="{9D8B030D-6E8A-4147-A177-3AD203B41FA5}">
                      <a16:colId xmlns:a16="http://schemas.microsoft.com/office/drawing/2014/main" val="20004"/>
                    </a:ext>
                  </a:extLst>
                </a:gridCol>
                <a:gridCol w="1055688">
                  <a:extLst>
                    <a:ext uri="{9D8B030D-6E8A-4147-A177-3AD203B41FA5}">
                      <a16:colId xmlns:a16="http://schemas.microsoft.com/office/drawing/2014/main" val="20005"/>
                    </a:ext>
                  </a:extLst>
                </a:gridCol>
                <a:gridCol w="1255712">
                  <a:extLst>
                    <a:ext uri="{9D8B030D-6E8A-4147-A177-3AD203B41FA5}">
                      <a16:colId xmlns:a16="http://schemas.microsoft.com/office/drawing/2014/main" val="20006"/>
                    </a:ext>
                  </a:extLst>
                </a:gridCol>
              </a:tblGrid>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rgbClr val="00FFFF"/>
                          </a:solidFill>
                          <a:effectLst/>
                          <a:latin typeface="Times New Roman" pitchFamily="18" charset="0"/>
                          <a:ea typeface="宋体" pitchFamily="2" charset="-122"/>
                        </a:rPr>
                        <a:t>学号</a:t>
                      </a:r>
                    </a:p>
                  </a:txBody>
                  <a:tcPr marL="0" marR="0" marT="0" marB="0"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姓名</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系名</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系主任</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rgbClr val="00FFFF"/>
                          </a:solidFill>
                          <a:effectLst/>
                          <a:latin typeface="Times New Roman" pitchFamily="18" charset="0"/>
                          <a:ea typeface="宋体" pitchFamily="2" charset="-122"/>
                        </a:rPr>
                        <a:t>课名</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学分</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成绩</a:t>
                      </a:r>
                    </a:p>
                  </a:txBody>
                  <a:tcPr marL="0" marR="0" marT="0" marB="0"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9801</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张明</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IS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刘成</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rgbClr val="00FFFF"/>
                          </a:solidFill>
                          <a:effectLst/>
                          <a:latin typeface="Times New Roman" pitchFamily="18" charset="0"/>
                          <a:ea typeface="宋体" pitchFamily="2" charset="-122"/>
                        </a:rPr>
                        <a:t>C</a:t>
                      </a: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语言</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85</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9801</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张明</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IS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刘成</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数据库</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80</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78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9801</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张明</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IS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刘成</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数据结构</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76</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9801</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张明</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IS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刘成</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高数</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5</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82</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9802</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赵龙</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CS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王浩</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高数</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72</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9802</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赵龙</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CS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王浩</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rgbClr val="00FFFF"/>
                          </a:solidFill>
                          <a:effectLst/>
                          <a:latin typeface="Times New Roman" pitchFamily="18" charset="0"/>
                          <a:ea typeface="宋体" pitchFamily="2" charset="-122"/>
                        </a:rPr>
                        <a:t>C</a:t>
                      </a: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语言</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68</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9803</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陈然</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MA</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魏征</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rgbClr val="00FFFF"/>
                          </a:solidFill>
                          <a:effectLst/>
                          <a:latin typeface="Times New Roman" pitchFamily="18" charset="0"/>
                          <a:ea typeface="宋体" pitchFamily="2" charset="-122"/>
                        </a:rPr>
                        <a:t>C</a:t>
                      </a: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语言</a:t>
                      </a:r>
                      <a:endParaRPr kumimoji="1" lang="en-US" altLang="zh-CN" sz="1800" b="0" i="0" u="none" strike="noStrike" cap="none" normalizeH="0" baseline="0" smtClean="0">
                        <a:ln>
                          <a:noFill/>
                        </a:ln>
                        <a:solidFill>
                          <a:srgbClr val="00FFFF"/>
                        </a:solidFill>
                        <a:effectLst/>
                        <a:latin typeface="Times New Roman" pitchFamily="18" charset="0"/>
                        <a:ea typeface="宋体" pitchFamily="2"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84</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9803</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陈然</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MA</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魏征</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数据库</a:t>
                      </a:r>
                      <a:endParaRPr kumimoji="1" lang="en-US" altLang="zh-CN" sz="1800" b="0" i="0" u="none" strike="noStrike" cap="none" normalizeH="0" baseline="0" smtClean="0">
                        <a:ln>
                          <a:noFill/>
                        </a:ln>
                        <a:solidFill>
                          <a:srgbClr val="00FFFF"/>
                        </a:solidFill>
                        <a:effectLst/>
                        <a:latin typeface="Times New Roman" pitchFamily="18" charset="0"/>
                        <a:ea typeface="宋体" pitchFamily="2"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86</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9803</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陈然</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MA</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魏征</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高数</a:t>
                      </a:r>
                      <a:endParaRPr kumimoji="1" lang="en-US" altLang="zh-CN" sz="1800" b="0" i="0" u="none" strike="noStrike" cap="none" normalizeH="0" baseline="0" smtClean="0">
                        <a:ln>
                          <a:noFill/>
                        </a:ln>
                        <a:solidFill>
                          <a:srgbClr val="00FFFF"/>
                        </a:solidFill>
                        <a:effectLst/>
                        <a:latin typeface="Times New Roman" pitchFamily="18" charset="0"/>
                        <a:ea typeface="宋体" pitchFamily="2"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5</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74</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9804</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钟伟</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IS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刘成</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高数</a:t>
                      </a:r>
                      <a:endParaRPr kumimoji="1" lang="en-US" altLang="zh-CN" sz="1800" b="0" i="0" u="none" strike="noStrike" cap="none" normalizeH="0" baseline="0" smtClean="0">
                        <a:ln>
                          <a:noFill/>
                        </a:ln>
                        <a:solidFill>
                          <a:srgbClr val="00FFFF"/>
                        </a:solidFill>
                        <a:effectLst/>
                        <a:latin typeface="Times New Roman" pitchFamily="18" charset="0"/>
                        <a:ea typeface="宋体" pitchFamily="2"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5</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75</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a:t>
                      </a:r>
                    </a:p>
                  </a:txBody>
                  <a:tcPr marL="0" marR="0" marT="0" marB="0"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rgbClr val="00FFFF"/>
                          </a:solidFill>
                          <a:effectLst/>
                          <a:latin typeface="Times New Roman" pitchFamily="18" charset="0"/>
                          <a:ea typeface="宋体" pitchFamily="2"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a:t>
                      </a:r>
                    </a:p>
                  </a:txBody>
                  <a:tcPr marL="0" marR="0" marT="0" marB="0"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Tree>
  </p:cSld>
  <p:clrMapOvr>
    <a:masterClrMapping/>
  </p:clrMapOvr>
  <p:transition spd="med">
    <p:random/>
    <p:sndAc>
      <p:stSnd>
        <p:snd r:embed="rId2" name="camera.wav"/>
      </p:stSnd>
    </p:sndAc>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type="title"/>
          </p:nvPr>
        </p:nvSpPr>
        <p:spPr>
          <a:xfrm>
            <a:off x="323850" y="4575682"/>
            <a:ext cx="5543550" cy="584775"/>
          </a:xfrm>
        </p:spPr>
        <p:txBody>
          <a:bodyPr wrap="square"/>
          <a:lstStyle/>
          <a:p>
            <a:pPr>
              <a:buFont typeface="Wingdings" pitchFamily="2" charset="2"/>
              <a:buNone/>
            </a:pPr>
            <a:r>
              <a:rPr lang="en-US" altLang="zh-CN" sz="3200" dirty="0" smtClean="0">
                <a:latin typeface="微软雅黑" panose="020B0503020204020204" pitchFamily="34" charset="-122"/>
                <a:ea typeface="微软雅黑" panose="020B0503020204020204" pitchFamily="34" charset="-122"/>
              </a:rPr>
              <a:t>DSC</a:t>
            </a:r>
            <a:r>
              <a:rPr lang="zh-CN" altLang="en-US" sz="3200" dirty="0" smtClean="0">
                <a:latin typeface="微软雅黑" panose="020B0503020204020204" pitchFamily="34" charset="-122"/>
                <a:ea typeface="微软雅黑" panose="020B0503020204020204" pitchFamily="34" charset="-122"/>
              </a:rPr>
              <a:t>的问题</a:t>
            </a:r>
            <a:r>
              <a:rPr lang="en-US" altLang="zh-CN" sz="3200" dirty="0" smtClean="0">
                <a:latin typeface="微软雅黑" panose="020B0503020204020204" pitchFamily="34" charset="-122"/>
                <a:ea typeface="微软雅黑" panose="020B0503020204020204" pitchFamily="34" charset="-122"/>
              </a:rPr>
              <a:t>3</a:t>
            </a:r>
            <a:r>
              <a:rPr lang="zh-CN" altLang="en-US" sz="3200" dirty="0" smtClean="0">
                <a:latin typeface="微软雅黑" panose="020B0503020204020204" pitchFamily="34" charset="-122"/>
                <a:ea typeface="微软雅黑" panose="020B0503020204020204" pitchFamily="34" charset="-122"/>
              </a:rPr>
              <a:t>：</a:t>
            </a:r>
            <a:r>
              <a:rPr lang="zh-CN" altLang="en-US" sz="3200" dirty="0" smtClean="0">
                <a:solidFill>
                  <a:srgbClr val="FFFF00"/>
                </a:solidFill>
                <a:latin typeface="微软雅黑" panose="020B0503020204020204" pitchFamily="34" charset="-122"/>
                <a:ea typeface="微软雅黑" panose="020B0503020204020204" pitchFamily="34" charset="-122"/>
              </a:rPr>
              <a:t>存在删除异常</a:t>
            </a:r>
          </a:p>
        </p:txBody>
      </p:sp>
      <p:sp>
        <p:nvSpPr>
          <p:cNvPr id="1475720" name="Rectangle 136"/>
          <p:cNvSpPr>
            <a:spLocks noChangeArrowheads="1"/>
          </p:cNvSpPr>
          <p:nvPr/>
        </p:nvSpPr>
        <p:spPr bwMode="auto">
          <a:xfrm>
            <a:off x="382588" y="5289550"/>
            <a:ext cx="8497887" cy="457200"/>
          </a:xfrm>
          <a:prstGeom prst="rect">
            <a:avLst/>
          </a:prstGeom>
          <a:noFill/>
          <a:ln w="12700" cap="sq">
            <a:noFill/>
            <a:miter lim="800000"/>
            <a:headEnd/>
            <a:tailEnd/>
          </a:ln>
          <a:effectLst/>
        </p:spPr>
        <p:txBody>
          <a:bodyPr lIns="0" tIns="0" rIns="0" bIns="0"/>
          <a:lstStyle/>
          <a:p>
            <a:pPr>
              <a:spcAft>
                <a:spcPct val="10000"/>
              </a:spcAft>
              <a:buSzTx/>
              <a:buFontTx/>
              <a:buNone/>
              <a:defRPr/>
            </a:pPr>
            <a:r>
              <a:rPr lang="zh-CN" altLang="zh-CN" sz="2800">
                <a:effectLst>
                  <a:outerShdw blurRad="38100" dist="38100" dir="2700000" algn="tl">
                    <a:srgbClr val="000000"/>
                  </a:outerShdw>
                </a:effectLst>
                <a:latin typeface="Times New Roman" pitchFamily="18" charset="0"/>
              </a:rPr>
              <a:t>如果删除了某一系的所有学生，则该系被删除</a:t>
            </a:r>
            <a:r>
              <a:rPr lang="zh-CN" altLang="en-US" sz="2800">
                <a:effectLst>
                  <a:outerShdw blurRad="38100" dist="38100" dir="2700000" algn="tl">
                    <a:srgbClr val="000000"/>
                  </a:outerShdw>
                </a:effectLst>
                <a:latin typeface="Times New Roman" pitchFamily="18" charset="0"/>
              </a:rPr>
              <a:t>；</a:t>
            </a:r>
            <a:r>
              <a:rPr lang="zh-CN" altLang="zh-CN" sz="2800">
                <a:effectLst>
                  <a:outerShdw blurRad="38100" dist="38100" dir="2700000" algn="tl">
                    <a:srgbClr val="000000"/>
                  </a:outerShdw>
                </a:effectLst>
                <a:latin typeface="Times New Roman" pitchFamily="18" charset="0"/>
              </a:rPr>
              <a:t>如果删除了所有选同一门课的学生，则该课程被删除</a:t>
            </a:r>
            <a:r>
              <a:rPr lang="zh-CN" altLang="en-US" sz="2800">
                <a:effectLst>
                  <a:outerShdw blurRad="38100" dist="38100" dir="2700000" algn="tl">
                    <a:srgbClr val="000000"/>
                  </a:outerShdw>
                </a:effectLst>
                <a:latin typeface="Times New Roman" pitchFamily="18" charset="0"/>
              </a:rPr>
              <a:t>。</a:t>
            </a:r>
            <a:endParaRPr lang="en-US" altLang="zh-CN" sz="2800">
              <a:effectLst>
                <a:outerShdw blurRad="38100" dist="38100" dir="2700000" algn="tl">
                  <a:srgbClr val="000000"/>
                </a:outerShdw>
              </a:effectLst>
              <a:latin typeface="Times New Roman" pitchFamily="18" charset="0"/>
            </a:endParaRPr>
          </a:p>
        </p:txBody>
      </p:sp>
      <p:sp>
        <p:nvSpPr>
          <p:cNvPr id="7" name="Text Box 2"/>
          <p:cNvSpPr txBox="1">
            <a:spLocks noChangeArrowheads="1"/>
          </p:cNvSpPr>
          <p:nvPr/>
        </p:nvSpPr>
        <p:spPr bwMode="auto">
          <a:xfrm>
            <a:off x="174937" y="-68263"/>
            <a:ext cx="2710211"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lvl1pPr lvl="0" defTabSz="914400" eaLnBrk="1" latinLnBrk="0" hangingPunct="1">
              <a:spcBef>
                <a:spcPts val="0"/>
              </a:spcBef>
              <a:buNone/>
              <a:defRPr sz="4000" b="1" baseline="0">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r>
              <a:rPr lang="zh-CN" altLang="en-US" dirty="0" smtClean="0"/>
              <a:t>问题的引入</a:t>
            </a:r>
            <a:endParaRPr lang="en-US" altLang="zh-CN" dirty="0" smtClean="0"/>
          </a:p>
        </p:txBody>
      </p:sp>
      <p:graphicFrame>
        <p:nvGraphicFramePr>
          <p:cNvPr id="8" name="Group 5"/>
          <p:cNvGraphicFramePr>
            <a:graphicFrameLocks noGrp="1"/>
          </p:cNvGraphicFramePr>
          <p:nvPr>
            <p:extLst>
              <p:ext uri="{D42A27DB-BD31-4B8C-83A1-F6EECF244321}">
                <p14:modId xmlns:p14="http://schemas.microsoft.com/office/powerpoint/2010/main" val="1514424158"/>
              </p:ext>
            </p:extLst>
          </p:nvPr>
        </p:nvGraphicFramePr>
        <p:xfrm>
          <a:off x="323850" y="1069458"/>
          <a:ext cx="8001000" cy="3295646"/>
        </p:xfrm>
        <a:graphic>
          <a:graphicData uri="http://schemas.openxmlformats.org/drawingml/2006/table">
            <a:tbl>
              <a:tblPr/>
              <a:tblGrid>
                <a:gridCol w="1033463">
                  <a:extLst>
                    <a:ext uri="{9D8B030D-6E8A-4147-A177-3AD203B41FA5}">
                      <a16:colId xmlns:a16="http://schemas.microsoft.com/office/drawing/2014/main" val="20000"/>
                    </a:ext>
                  </a:extLst>
                </a:gridCol>
                <a:gridCol w="1031875">
                  <a:extLst>
                    <a:ext uri="{9D8B030D-6E8A-4147-A177-3AD203B41FA5}">
                      <a16:colId xmlns:a16="http://schemas.microsoft.com/office/drawing/2014/main" val="20001"/>
                    </a:ext>
                  </a:extLst>
                </a:gridCol>
                <a:gridCol w="825500">
                  <a:extLst>
                    <a:ext uri="{9D8B030D-6E8A-4147-A177-3AD203B41FA5}">
                      <a16:colId xmlns:a16="http://schemas.microsoft.com/office/drawing/2014/main" val="20002"/>
                    </a:ext>
                  </a:extLst>
                </a:gridCol>
                <a:gridCol w="1343025">
                  <a:extLst>
                    <a:ext uri="{9D8B030D-6E8A-4147-A177-3AD203B41FA5}">
                      <a16:colId xmlns:a16="http://schemas.microsoft.com/office/drawing/2014/main" val="20003"/>
                    </a:ext>
                  </a:extLst>
                </a:gridCol>
                <a:gridCol w="1455737">
                  <a:extLst>
                    <a:ext uri="{9D8B030D-6E8A-4147-A177-3AD203B41FA5}">
                      <a16:colId xmlns:a16="http://schemas.microsoft.com/office/drawing/2014/main" val="20004"/>
                    </a:ext>
                  </a:extLst>
                </a:gridCol>
                <a:gridCol w="1055688">
                  <a:extLst>
                    <a:ext uri="{9D8B030D-6E8A-4147-A177-3AD203B41FA5}">
                      <a16:colId xmlns:a16="http://schemas.microsoft.com/office/drawing/2014/main" val="20005"/>
                    </a:ext>
                  </a:extLst>
                </a:gridCol>
                <a:gridCol w="1255712">
                  <a:extLst>
                    <a:ext uri="{9D8B030D-6E8A-4147-A177-3AD203B41FA5}">
                      <a16:colId xmlns:a16="http://schemas.microsoft.com/office/drawing/2014/main" val="20006"/>
                    </a:ext>
                  </a:extLst>
                </a:gridCol>
              </a:tblGrid>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smtClean="0">
                          <a:ln>
                            <a:noFill/>
                          </a:ln>
                          <a:solidFill>
                            <a:srgbClr val="00FFFF"/>
                          </a:solidFill>
                          <a:effectLst/>
                          <a:latin typeface="Times New Roman" pitchFamily="18" charset="0"/>
                          <a:ea typeface="宋体" pitchFamily="2" charset="-122"/>
                        </a:rPr>
                        <a:t>学号</a:t>
                      </a:r>
                    </a:p>
                  </a:txBody>
                  <a:tcPr marL="0" marR="0" marT="0" marB="0"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姓名</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系名</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系主任</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rgbClr val="00FFFF"/>
                          </a:solidFill>
                          <a:effectLst/>
                          <a:latin typeface="Times New Roman" pitchFamily="18" charset="0"/>
                          <a:ea typeface="宋体" pitchFamily="2" charset="-122"/>
                        </a:rPr>
                        <a:t>课名</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学分</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成绩</a:t>
                      </a:r>
                    </a:p>
                  </a:txBody>
                  <a:tcPr marL="0" marR="0" marT="0" marB="0"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9801</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张明</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IS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刘成</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rgbClr val="00FFFF"/>
                          </a:solidFill>
                          <a:effectLst/>
                          <a:latin typeface="Times New Roman" pitchFamily="18" charset="0"/>
                          <a:ea typeface="宋体" pitchFamily="2" charset="-122"/>
                        </a:rPr>
                        <a:t>C</a:t>
                      </a: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语言</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85</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9801</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张明</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IS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刘成</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数据库</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80</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78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9801</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张明</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IS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刘成</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数据结构</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76</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9801</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张明</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IS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刘成</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高数</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5</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82</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9802</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赵龙</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CS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王浩</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高数</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72</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9802</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赵龙</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CS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王浩</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rgbClr val="00FFFF"/>
                          </a:solidFill>
                          <a:effectLst/>
                          <a:latin typeface="Times New Roman" pitchFamily="18" charset="0"/>
                          <a:ea typeface="宋体" pitchFamily="2" charset="-122"/>
                        </a:rPr>
                        <a:t>C</a:t>
                      </a: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语言</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68</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9803</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陈然</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MA</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魏征</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rgbClr val="00FFFF"/>
                          </a:solidFill>
                          <a:effectLst/>
                          <a:latin typeface="Times New Roman" pitchFamily="18" charset="0"/>
                          <a:ea typeface="宋体" pitchFamily="2" charset="-122"/>
                        </a:rPr>
                        <a:t>C</a:t>
                      </a: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语言</a:t>
                      </a:r>
                      <a:endParaRPr kumimoji="1" lang="en-US" altLang="zh-CN" sz="1800" b="0" i="0" u="none" strike="noStrike" cap="none" normalizeH="0" baseline="0" smtClean="0">
                        <a:ln>
                          <a:noFill/>
                        </a:ln>
                        <a:solidFill>
                          <a:srgbClr val="00FFFF"/>
                        </a:solidFill>
                        <a:effectLst/>
                        <a:latin typeface="Times New Roman" pitchFamily="18" charset="0"/>
                        <a:ea typeface="宋体" pitchFamily="2"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84</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9803</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陈然</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MA</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魏征</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数据库</a:t>
                      </a:r>
                      <a:endParaRPr kumimoji="1" lang="en-US" altLang="zh-CN" sz="1800" b="0" i="0" u="none" strike="noStrike" cap="none" normalizeH="0" baseline="0" smtClean="0">
                        <a:ln>
                          <a:noFill/>
                        </a:ln>
                        <a:solidFill>
                          <a:srgbClr val="00FFFF"/>
                        </a:solidFill>
                        <a:effectLst/>
                        <a:latin typeface="Times New Roman" pitchFamily="18" charset="0"/>
                        <a:ea typeface="宋体" pitchFamily="2"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86</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9803</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陈然</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MA</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魏征</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高数</a:t>
                      </a:r>
                      <a:endParaRPr kumimoji="1" lang="en-US" altLang="zh-CN" sz="1800" b="0" i="0" u="none" strike="noStrike" cap="none" normalizeH="0" baseline="0" smtClean="0">
                        <a:ln>
                          <a:noFill/>
                        </a:ln>
                        <a:solidFill>
                          <a:srgbClr val="00FFFF"/>
                        </a:solidFill>
                        <a:effectLst/>
                        <a:latin typeface="Times New Roman" pitchFamily="18" charset="0"/>
                        <a:ea typeface="宋体" pitchFamily="2"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5</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74</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9804</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钟伟</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IS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刘成</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高数</a:t>
                      </a:r>
                      <a:endParaRPr kumimoji="1" lang="en-US" altLang="zh-CN" sz="1800" b="0" i="0" u="none" strike="noStrike" cap="none" normalizeH="0" baseline="0" smtClean="0">
                        <a:ln>
                          <a:noFill/>
                        </a:ln>
                        <a:solidFill>
                          <a:srgbClr val="00FFFF"/>
                        </a:solidFill>
                        <a:effectLst/>
                        <a:latin typeface="Times New Roman" pitchFamily="18" charset="0"/>
                        <a:ea typeface="宋体" pitchFamily="2"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5</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75</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a:t>
                      </a:r>
                    </a:p>
                  </a:txBody>
                  <a:tcPr marL="0" marR="0" marT="0" marB="0"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rgbClr val="00FFFF"/>
                          </a:solidFill>
                          <a:effectLst/>
                          <a:latin typeface="Times New Roman" pitchFamily="18" charset="0"/>
                          <a:ea typeface="宋体" pitchFamily="2"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a:t>
                      </a:r>
                    </a:p>
                  </a:txBody>
                  <a:tcPr marL="0" marR="0" marT="0" marB="0"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Tree>
  </p:cSld>
  <p:clrMapOvr>
    <a:masterClrMapping/>
  </p:clrMapOvr>
  <p:transition spd="med">
    <p:random/>
    <p:sndAc>
      <p:stSnd>
        <p:snd r:embed="rId2" name="camera.wav"/>
      </p:stSnd>
    </p:sndAc>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title"/>
          </p:nvPr>
        </p:nvSpPr>
        <p:spPr>
          <a:xfrm>
            <a:off x="323850" y="4575682"/>
            <a:ext cx="5543550" cy="584775"/>
          </a:xfrm>
        </p:spPr>
        <p:txBody>
          <a:bodyPr wrap="square"/>
          <a:lstStyle/>
          <a:p>
            <a:pPr>
              <a:buFont typeface="Wingdings" pitchFamily="2" charset="2"/>
              <a:buNone/>
            </a:pPr>
            <a:r>
              <a:rPr lang="en-US" altLang="zh-CN" sz="3200" dirty="0" smtClean="0">
                <a:latin typeface="微软雅黑" panose="020B0503020204020204" pitchFamily="34" charset="-122"/>
                <a:ea typeface="微软雅黑" panose="020B0503020204020204" pitchFamily="34" charset="-122"/>
              </a:rPr>
              <a:t>DSC</a:t>
            </a:r>
            <a:r>
              <a:rPr lang="zh-CN" altLang="en-US" sz="3200" dirty="0" smtClean="0">
                <a:latin typeface="微软雅黑" panose="020B0503020204020204" pitchFamily="34" charset="-122"/>
                <a:ea typeface="微软雅黑" panose="020B0503020204020204" pitchFamily="34" charset="-122"/>
              </a:rPr>
              <a:t>的问题</a:t>
            </a:r>
            <a:r>
              <a:rPr lang="en-US" altLang="zh-CN" sz="3200" dirty="0" smtClean="0">
                <a:latin typeface="微软雅黑" panose="020B0503020204020204" pitchFamily="34" charset="-122"/>
                <a:ea typeface="微软雅黑" panose="020B0503020204020204" pitchFamily="34" charset="-122"/>
              </a:rPr>
              <a:t>4</a:t>
            </a:r>
            <a:r>
              <a:rPr lang="zh-CN" altLang="en-US" sz="3200" dirty="0" smtClean="0">
                <a:latin typeface="微软雅黑" panose="020B0503020204020204" pitchFamily="34" charset="-122"/>
                <a:ea typeface="微软雅黑" panose="020B0503020204020204" pitchFamily="34" charset="-122"/>
              </a:rPr>
              <a:t>：</a:t>
            </a:r>
            <a:r>
              <a:rPr lang="zh-CN" altLang="en-US" sz="3200" dirty="0" smtClean="0">
                <a:solidFill>
                  <a:srgbClr val="FFFF00"/>
                </a:solidFill>
                <a:latin typeface="微软雅黑" panose="020B0503020204020204" pitchFamily="34" charset="-122"/>
                <a:ea typeface="微软雅黑" panose="020B0503020204020204" pitchFamily="34" charset="-122"/>
              </a:rPr>
              <a:t>更新复杂</a:t>
            </a:r>
          </a:p>
        </p:txBody>
      </p:sp>
      <p:sp>
        <p:nvSpPr>
          <p:cNvPr id="1476744" name="Rectangle 136"/>
          <p:cNvSpPr>
            <a:spLocks noChangeArrowheads="1"/>
          </p:cNvSpPr>
          <p:nvPr/>
        </p:nvSpPr>
        <p:spPr bwMode="auto">
          <a:xfrm>
            <a:off x="382588" y="5276850"/>
            <a:ext cx="8497887" cy="457200"/>
          </a:xfrm>
          <a:prstGeom prst="rect">
            <a:avLst/>
          </a:prstGeom>
          <a:noFill/>
          <a:ln w="12700" cap="sq">
            <a:noFill/>
            <a:miter lim="800000"/>
            <a:headEnd/>
            <a:tailEnd/>
          </a:ln>
          <a:effectLst/>
        </p:spPr>
        <p:txBody>
          <a:bodyPr lIns="0" tIns="0" rIns="0" bIns="0"/>
          <a:lstStyle/>
          <a:p>
            <a:pPr>
              <a:spcAft>
                <a:spcPct val="10000"/>
              </a:spcAft>
              <a:buSzTx/>
              <a:buFontTx/>
              <a:buNone/>
              <a:defRPr/>
            </a:pPr>
            <a:r>
              <a:rPr lang="zh-CN" altLang="zh-CN" sz="2800">
                <a:effectLst>
                  <a:outerShdw blurRad="38100" dist="38100" dir="2700000" algn="tl">
                    <a:srgbClr val="000000"/>
                  </a:outerShdw>
                </a:effectLst>
                <a:latin typeface="Times New Roman" pitchFamily="18" charset="0"/>
              </a:rPr>
              <a:t>某一系换了系主任，则必须修改所有该系学生的系主任数据，否则就会出现同一系有两个以上</a:t>
            </a:r>
            <a:r>
              <a:rPr lang="zh-CN" altLang="en-US" sz="2800">
                <a:effectLst>
                  <a:outerShdw blurRad="38100" dist="38100" dir="2700000" algn="tl">
                    <a:srgbClr val="000000"/>
                  </a:outerShdw>
                </a:effectLst>
                <a:latin typeface="Times New Roman" pitchFamily="18" charset="0"/>
              </a:rPr>
              <a:t>的</a:t>
            </a:r>
            <a:r>
              <a:rPr lang="zh-CN" altLang="zh-CN" sz="2800">
                <a:effectLst>
                  <a:outerShdw blurRad="38100" dist="38100" dir="2700000" algn="tl">
                    <a:srgbClr val="000000"/>
                  </a:outerShdw>
                </a:effectLst>
                <a:latin typeface="Times New Roman" pitchFamily="18" charset="0"/>
              </a:rPr>
              <a:t>系主任</a:t>
            </a:r>
            <a:r>
              <a:rPr lang="zh-CN" altLang="en-US" sz="2800">
                <a:effectLst>
                  <a:outerShdw blurRad="38100" dist="38100" dir="2700000" algn="tl">
                    <a:srgbClr val="000000"/>
                  </a:outerShdw>
                </a:effectLst>
                <a:latin typeface="Times New Roman" pitchFamily="18" charset="0"/>
              </a:rPr>
              <a:t>。</a:t>
            </a:r>
            <a:endParaRPr lang="en-US" altLang="zh-CN" sz="2800">
              <a:effectLst>
                <a:outerShdw blurRad="38100" dist="38100" dir="2700000" algn="tl">
                  <a:srgbClr val="000000"/>
                </a:outerShdw>
              </a:effectLst>
              <a:latin typeface="Times New Roman" pitchFamily="18" charset="0"/>
            </a:endParaRPr>
          </a:p>
        </p:txBody>
      </p:sp>
      <p:sp>
        <p:nvSpPr>
          <p:cNvPr id="7" name="Text Box 2"/>
          <p:cNvSpPr txBox="1">
            <a:spLocks noChangeArrowheads="1"/>
          </p:cNvSpPr>
          <p:nvPr/>
        </p:nvSpPr>
        <p:spPr bwMode="auto">
          <a:xfrm>
            <a:off x="174937" y="-68263"/>
            <a:ext cx="2710211"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lvl1pPr lvl="0" defTabSz="914400" eaLnBrk="1" latinLnBrk="0" hangingPunct="1">
              <a:spcBef>
                <a:spcPts val="0"/>
              </a:spcBef>
              <a:buNone/>
              <a:defRPr sz="4000" b="1" baseline="0">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r>
              <a:rPr lang="zh-CN" altLang="en-US" dirty="0" smtClean="0"/>
              <a:t>问题的引入</a:t>
            </a:r>
            <a:endParaRPr lang="en-US" altLang="zh-CN" dirty="0" smtClean="0"/>
          </a:p>
        </p:txBody>
      </p:sp>
      <p:graphicFrame>
        <p:nvGraphicFramePr>
          <p:cNvPr id="8" name="Group 5"/>
          <p:cNvGraphicFramePr>
            <a:graphicFrameLocks noGrp="1"/>
          </p:cNvGraphicFramePr>
          <p:nvPr>
            <p:extLst>
              <p:ext uri="{D42A27DB-BD31-4B8C-83A1-F6EECF244321}">
                <p14:modId xmlns:p14="http://schemas.microsoft.com/office/powerpoint/2010/main" val="1514424158"/>
              </p:ext>
            </p:extLst>
          </p:nvPr>
        </p:nvGraphicFramePr>
        <p:xfrm>
          <a:off x="323850" y="1069458"/>
          <a:ext cx="8001000" cy="3295646"/>
        </p:xfrm>
        <a:graphic>
          <a:graphicData uri="http://schemas.openxmlformats.org/drawingml/2006/table">
            <a:tbl>
              <a:tblPr/>
              <a:tblGrid>
                <a:gridCol w="1033463">
                  <a:extLst>
                    <a:ext uri="{9D8B030D-6E8A-4147-A177-3AD203B41FA5}">
                      <a16:colId xmlns:a16="http://schemas.microsoft.com/office/drawing/2014/main" val="20000"/>
                    </a:ext>
                  </a:extLst>
                </a:gridCol>
                <a:gridCol w="1031875">
                  <a:extLst>
                    <a:ext uri="{9D8B030D-6E8A-4147-A177-3AD203B41FA5}">
                      <a16:colId xmlns:a16="http://schemas.microsoft.com/office/drawing/2014/main" val="20001"/>
                    </a:ext>
                  </a:extLst>
                </a:gridCol>
                <a:gridCol w="825500">
                  <a:extLst>
                    <a:ext uri="{9D8B030D-6E8A-4147-A177-3AD203B41FA5}">
                      <a16:colId xmlns:a16="http://schemas.microsoft.com/office/drawing/2014/main" val="20002"/>
                    </a:ext>
                  </a:extLst>
                </a:gridCol>
                <a:gridCol w="1343025">
                  <a:extLst>
                    <a:ext uri="{9D8B030D-6E8A-4147-A177-3AD203B41FA5}">
                      <a16:colId xmlns:a16="http://schemas.microsoft.com/office/drawing/2014/main" val="20003"/>
                    </a:ext>
                  </a:extLst>
                </a:gridCol>
                <a:gridCol w="1455737">
                  <a:extLst>
                    <a:ext uri="{9D8B030D-6E8A-4147-A177-3AD203B41FA5}">
                      <a16:colId xmlns:a16="http://schemas.microsoft.com/office/drawing/2014/main" val="20004"/>
                    </a:ext>
                  </a:extLst>
                </a:gridCol>
                <a:gridCol w="1055688">
                  <a:extLst>
                    <a:ext uri="{9D8B030D-6E8A-4147-A177-3AD203B41FA5}">
                      <a16:colId xmlns:a16="http://schemas.microsoft.com/office/drawing/2014/main" val="20005"/>
                    </a:ext>
                  </a:extLst>
                </a:gridCol>
                <a:gridCol w="1255712">
                  <a:extLst>
                    <a:ext uri="{9D8B030D-6E8A-4147-A177-3AD203B41FA5}">
                      <a16:colId xmlns:a16="http://schemas.microsoft.com/office/drawing/2014/main" val="20006"/>
                    </a:ext>
                  </a:extLst>
                </a:gridCol>
              </a:tblGrid>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rgbClr val="00FFFF"/>
                          </a:solidFill>
                          <a:effectLst/>
                          <a:latin typeface="Times New Roman" pitchFamily="18" charset="0"/>
                          <a:ea typeface="宋体" pitchFamily="2" charset="-122"/>
                        </a:rPr>
                        <a:t>学号</a:t>
                      </a:r>
                    </a:p>
                  </a:txBody>
                  <a:tcPr marL="0" marR="0" marT="0" marB="0"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姓名</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系名</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系主任</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rgbClr val="00FFFF"/>
                          </a:solidFill>
                          <a:effectLst/>
                          <a:latin typeface="Times New Roman" pitchFamily="18" charset="0"/>
                          <a:ea typeface="宋体" pitchFamily="2" charset="-122"/>
                        </a:rPr>
                        <a:t>课名</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学分</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成绩</a:t>
                      </a:r>
                    </a:p>
                  </a:txBody>
                  <a:tcPr marL="0" marR="0" marT="0" marB="0"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9801</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张明</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IS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刘成</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rgbClr val="00FFFF"/>
                          </a:solidFill>
                          <a:effectLst/>
                          <a:latin typeface="Times New Roman" pitchFamily="18" charset="0"/>
                          <a:ea typeface="宋体" pitchFamily="2" charset="-122"/>
                        </a:rPr>
                        <a:t>C</a:t>
                      </a: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语言</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85</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9801</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张明</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IS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刘成</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数据库</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80</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78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9801</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张明</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IS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刘成</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数据结构</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76</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9801</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张明</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IS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刘成</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高数</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5</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82</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9802</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赵龙</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CS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王浩</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高数</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72</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9802</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赵龙</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CS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王浩</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rgbClr val="00FFFF"/>
                          </a:solidFill>
                          <a:effectLst/>
                          <a:latin typeface="Times New Roman" pitchFamily="18" charset="0"/>
                          <a:ea typeface="宋体" pitchFamily="2" charset="-122"/>
                        </a:rPr>
                        <a:t>C</a:t>
                      </a: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语言</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68</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9803</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陈然</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MA</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魏征</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rgbClr val="00FFFF"/>
                          </a:solidFill>
                          <a:effectLst/>
                          <a:latin typeface="Times New Roman" pitchFamily="18" charset="0"/>
                          <a:ea typeface="宋体" pitchFamily="2" charset="-122"/>
                        </a:rPr>
                        <a:t>C</a:t>
                      </a: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语言</a:t>
                      </a:r>
                      <a:endParaRPr kumimoji="1" lang="en-US" altLang="zh-CN" sz="1800" b="0" i="0" u="none" strike="noStrike" cap="none" normalizeH="0" baseline="0" smtClean="0">
                        <a:ln>
                          <a:noFill/>
                        </a:ln>
                        <a:solidFill>
                          <a:srgbClr val="00FFFF"/>
                        </a:solidFill>
                        <a:effectLst/>
                        <a:latin typeface="Times New Roman" pitchFamily="18" charset="0"/>
                        <a:ea typeface="宋体" pitchFamily="2"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84</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9803</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陈然</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MA</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魏征</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数据库</a:t>
                      </a:r>
                      <a:endParaRPr kumimoji="1" lang="en-US" altLang="zh-CN" sz="1800" b="0" i="0" u="none" strike="noStrike" cap="none" normalizeH="0" baseline="0" smtClean="0">
                        <a:ln>
                          <a:noFill/>
                        </a:ln>
                        <a:solidFill>
                          <a:srgbClr val="00FFFF"/>
                        </a:solidFill>
                        <a:effectLst/>
                        <a:latin typeface="Times New Roman" pitchFamily="18" charset="0"/>
                        <a:ea typeface="宋体" pitchFamily="2"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86</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9803</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陈然</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MA</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魏征</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高数</a:t>
                      </a:r>
                      <a:endParaRPr kumimoji="1" lang="en-US" altLang="zh-CN" sz="1800" b="0" i="0" u="none" strike="noStrike" cap="none" normalizeH="0" baseline="0" smtClean="0">
                        <a:ln>
                          <a:noFill/>
                        </a:ln>
                        <a:solidFill>
                          <a:srgbClr val="00FFFF"/>
                        </a:solidFill>
                        <a:effectLst/>
                        <a:latin typeface="Times New Roman" pitchFamily="18" charset="0"/>
                        <a:ea typeface="宋体" pitchFamily="2"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5</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74</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9804</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钟伟</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IS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刘成</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高数</a:t>
                      </a:r>
                      <a:endParaRPr kumimoji="1" lang="en-US" altLang="zh-CN" sz="1800" b="0" i="0" u="none" strike="noStrike" cap="none" normalizeH="0" baseline="0" smtClean="0">
                        <a:ln>
                          <a:noFill/>
                        </a:ln>
                        <a:solidFill>
                          <a:srgbClr val="00FFFF"/>
                        </a:solidFill>
                        <a:effectLst/>
                        <a:latin typeface="Times New Roman" pitchFamily="18" charset="0"/>
                        <a:ea typeface="宋体" pitchFamily="2"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5</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75</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a:t>
                      </a:r>
                    </a:p>
                  </a:txBody>
                  <a:tcPr marL="0" marR="0" marT="0" marB="0"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rgbClr val="00FFFF"/>
                          </a:solidFill>
                          <a:effectLst/>
                          <a:latin typeface="Times New Roman" pitchFamily="18" charset="0"/>
                          <a:ea typeface="宋体" pitchFamily="2"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a:t>
                      </a:r>
                    </a:p>
                  </a:txBody>
                  <a:tcPr marL="0" marR="0" marT="0" marB="0"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Tree>
  </p:cSld>
  <p:clrMapOvr>
    <a:masterClrMapping/>
  </p:clrMapOvr>
  <p:transition spd="med">
    <p:random/>
    <p:sndAc>
      <p:stSnd>
        <p:snd r:embed="rId2" name="camera.wav"/>
      </p:stSnd>
    </p:sndAc>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type="title"/>
          </p:nvPr>
        </p:nvSpPr>
        <p:spPr>
          <a:xfrm>
            <a:off x="179512" y="828001"/>
            <a:ext cx="8516937" cy="584775"/>
          </a:xfrm>
        </p:spPr>
        <p:txBody>
          <a:bodyPr wrap="square"/>
          <a:lstStyle/>
          <a:p>
            <a:pPr>
              <a:buFont typeface="Wingdings" pitchFamily="2" charset="2"/>
              <a:buNone/>
            </a:pPr>
            <a:r>
              <a:rPr lang="zh-CN" altLang="en-US" sz="3200" dirty="0" smtClean="0">
                <a:latin typeface="微软雅黑" panose="020B0503020204020204" pitchFamily="34" charset="-122"/>
                <a:ea typeface="微软雅黑" panose="020B0503020204020204" pitchFamily="34" charset="-122"/>
              </a:rPr>
              <a:t>方案</a:t>
            </a:r>
            <a:r>
              <a:rPr lang="en-US" altLang="zh-CN" sz="3200" dirty="0" smtClean="0">
                <a:latin typeface="微软雅黑" panose="020B0503020204020204" pitchFamily="34" charset="-122"/>
                <a:ea typeface="微软雅黑" panose="020B0503020204020204" pitchFamily="34" charset="-122"/>
              </a:rPr>
              <a:t>2</a:t>
            </a:r>
            <a:r>
              <a:rPr lang="zh-CN" altLang="en-US" sz="3200" dirty="0" smtClean="0">
                <a:latin typeface="微软雅黑" panose="020B0503020204020204" pitchFamily="34" charset="-122"/>
                <a:ea typeface="微软雅黑" panose="020B0503020204020204" pitchFamily="34" charset="-122"/>
              </a:rPr>
              <a:t>：把学籍</a:t>
            </a:r>
            <a:r>
              <a:rPr lang="en-US" altLang="zh-CN" sz="3200" dirty="0" smtClean="0">
                <a:latin typeface="微软雅黑" panose="020B0503020204020204" pitchFamily="34" charset="-122"/>
                <a:ea typeface="微软雅黑" panose="020B0503020204020204" pitchFamily="34" charset="-122"/>
              </a:rPr>
              <a:t>E-R</a:t>
            </a:r>
            <a:r>
              <a:rPr lang="zh-CN" altLang="en-US" sz="3200" dirty="0" smtClean="0">
                <a:latin typeface="微软雅黑" panose="020B0503020204020204" pitchFamily="34" charset="-122"/>
                <a:ea typeface="微软雅黑" panose="020B0503020204020204" pitchFamily="34" charset="-122"/>
              </a:rPr>
              <a:t>模型设计成</a:t>
            </a:r>
            <a:r>
              <a:rPr lang="en-US" altLang="zh-CN" sz="3200" dirty="0" smtClean="0">
                <a:latin typeface="微软雅黑" panose="020B0503020204020204" pitchFamily="34" charset="-122"/>
                <a:ea typeface="微软雅黑" panose="020B0503020204020204" pitchFamily="34" charset="-122"/>
              </a:rPr>
              <a:t>4</a:t>
            </a:r>
            <a:r>
              <a:rPr lang="zh-CN" altLang="en-US" sz="3200" dirty="0" smtClean="0">
                <a:latin typeface="微软雅黑" panose="020B0503020204020204" pitchFamily="34" charset="-122"/>
                <a:ea typeface="微软雅黑" panose="020B0503020204020204" pitchFamily="34" charset="-122"/>
              </a:rPr>
              <a:t>个关系模式</a:t>
            </a:r>
            <a:endParaRPr lang="en-US" altLang="zh-CN" sz="3200" dirty="0" smtClean="0">
              <a:latin typeface="微软雅黑" panose="020B0503020204020204" pitchFamily="34" charset="-122"/>
              <a:ea typeface="微软雅黑" panose="020B0503020204020204" pitchFamily="34" charset="-122"/>
            </a:endParaRPr>
          </a:p>
        </p:txBody>
      </p:sp>
      <p:graphicFrame>
        <p:nvGraphicFramePr>
          <p:cNvPr id="1478660" name="Group 4"/>
          <p:cNvGraphicFramePr>
            <a:graphicFrameLocks noGrp="1"/>
          </p:cNvGraphicFramePr>
          <p:nvPr>
            <p:extLst>
              <p:ext uri="{D42A27DB-BD31-4B8C-83A1-F6EECF244321}">
                <p14:modId xmlns:p14="http://schemas.microsoft.com/office/powerpoint/2010/main" val="240927520"/>
              </p:ext>
            </p:extLst>
          </p:nvPr>
        </p:nvGraphicFramePr>
        <p:xfrm>
          <a:off x="468313" y="4667275"/>
          <a:ext cx="2057400" cy="1646238"/>
        </p:xfrm>
        <a:graphic>
          <a:graphicData uri="http://schemas.openxmlformats.org/drawingml/2006/table">
            <a:tbl>
              <a:tblPr/>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tblGrid>
              <a:tr h="27437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rgbClr val="00FFFF"/>
                          </a:solidFill>
                          <a:effectLst/>
                          <a:latin typeface="Times New Roman" pitchFamily="18" charset="0"/>
                          <a:ea typeface="宋体" pitchFamily="2" charset="-122"/>
                        </a:rPr>
                        <a:t>学号</a:t>
                      </a:r>
                    </a:p>
                  </a:txBody>
                  <a:tcPr marL="0" marR="0" marT="0" marB="0"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姓名</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系名</a:t>
                      </a:r>
                    </a:p>
                  </a:txBody>
                  <a:tcPr marL="0" marR="0" marT="0" marB="0"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437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9801</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张明</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IS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37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9802</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赵龙</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CS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37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9803</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陈然</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MA</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37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9804</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钟伟</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IS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37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a:t>
                      </a:r>
                    </a:p>
                  </a:txBody>
                  <a:tcPr marL="0" marR="0" marT="0" marB="0"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a:t>
                      </a:r>
                    </a:p>
                  </a:txBody>
                  <a:tcPr marL="0" marR="0" marT="0" marB="0"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1478696" name="Group 40"/>
          <p:cNvGraphicFramePr>
            <a:graphicFrameLocks noGrp="1"/>
          </p:cNvGraphicFramePr>
          <p:nvPr>
            <p:extLst>
              <p:ext uri="{D42A27DB-BD31-4B8C-83A1-F6EECF244321}">
                <p14:modId xmlns:p14="http://schemas.microsoft.com/office/powerpoint/2010/main" val="3074378978"/>
              </p:ext>
            </p:extLst>
          </p:nvPr>
        </p:nvGraphicFramePr>
        <p:xfrm>
          <a:off x="6084888" y="2322538"/>
          <a:ext cx="2620962" cy="3295646"/>
        </p:xfrm>
        <a:graphic>
          <a:graphicData uri="http://schemas.openxmlformats.org/drawingml/2006/table">
            <a:tbl>
              <a:tblPr/>
              <a:tblGrid>
                <a:gridCol w="804862">
                  <a:extLst>
                    <a:ext uri="{9D8B030D-6E8A-4147-A177-3AD203B41FA5}">
                      <a16:colId xmlns:a16="http://schemas.microsoft.com/office/drawing/2014/main" val="20000"/>
                    </a:ext>
                  </a:extLst>
                </a:gridCol>
                <a:gridCol w="11303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tblGrid>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rgbClr val="00FFFF"/>
                          </a:solidFill>
                          <a:effectLst/>
                          <a:latin typeface="Times New Roman" pitchFamily="18" charset="0"/>
                          <a:ea typeface="宋体" pitchFamily="2" charset="-122"/>
                        </a:rPr>
                        <a:t>学号</a:t>
                      </a:r>
                    </a:p>
                  </a:txBody>
                  <a:tcPr marL="0" marR="0" marT="0" marB="0"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rgbClr val="00FFFF"/>
                          </a:solidFill>
                          <a:effectLst/>
                          <a:latin typeface="Times New Roman" pitchFamily="18" charset="0"/>
                          <a:ea typeface="宋体" pitchFamily="2" charset="-122"/>
                        </a:rPr>
                        <a:t>课名</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成绩</a:t>
                      </a:r>
                    </a:p>
                  </a:txBody>
                  <a:tcPr marL="0" marR="0" marT="0" marB="0"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9801</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rgbClr val="00FFFF"/>
                          </a:solidFill>
                          <a:effectLst/>
                          <a:latin typeface="Times New Roman" pitchFamily="18" charset="0"/>
                          <a:ea typeface="宋体" pitchFamily="2" charset="-122"/>
                        </a:rPr>
                        <a:t>C</a:t>
                      </a: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语言</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85</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9801</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数据库</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80</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78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9801</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数据结构</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76</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9801</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高数</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82</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9802</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高数</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72</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9802</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rgbClr val="00FFFF"/>
                          </a:solidFill>
                          <a:effectLst/>
                          <a:latin typeface="Times New Roman" pitchFamily="18" charset="0"/>
                          <a:ea typeface="宋体" pitchFamily="2" charset="-122"/>
                        </a:rPr>
                        <a:t>C</a:t>
                      </a: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语言</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68</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9803</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rgbClr val="00FFFF"/>
                          </a:solidFill>
                          <a:effectLst/>
                          <a:latin typeface="Times New Roman" pitchFamily="18" charset="0"/>
                          <a:ea typeface="宋体" pitchFamily="2" charset="-122"/>
                        </a:rPr>
                        <a:t>C</a:t>
                      </a: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语言</a:t>
                      </a:r>
                      <a:endParaRPr kumimoji="1" lang="en-US" altLang="zh-CN" sz="1800" b="0" i="0" u="none" strike="noStrike" cap="none" normalizeH="0" baseline="0" smtClean="0">
                        <a:ln>
                          <a:noFill/>
                        </a:ln>
                        <a:solidFill>
                          <a:srgbClr val="00FFFF"/>
                        </a:solidFill>
                        <a:effectLst/>
                        <a:latin typeface="Times New Roman" pitchFamily="18" charset="0"/>
                        <a:ea typeface="宋体" pitchFamily="2"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84</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9803</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数据库</a:t>
                      </a:r>
                      <a:endParaRPr kumimoji="1" lang="en-US" altLang="zh-CN" sz="1800" b="0" i="0" u="none" strike="noStrike" cap="none" normalizeH="0" baseline="0" smtClean="0">
                        <a:ln>
                          <a:noFill/>
                        </a:ln>
                        <a:solidFill>
                          <a:srgbClr val="00FFFF"/>
                        </a:solidFill>
                        <a:effectLst/>
                        <a:latin typeface="Times New Roman" pitchFamily="18" charset="0"/>
                        <a:ea typeface="宋体" pitchFamily="2"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86</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9803</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高数</a:t>
                      </a:r>
                      <a:endParaRPr kumimoji="1" lang="en-US" altLang="zh-CN" sz="1800" b="0" i="0" u="none" strike="noStrike" cap="none" normalizeH="0" baseline="0" smtClean="0">
                        <a:ln>
                          <a:noFill/>
                        </a:ln>
                        <a:solidFill>
                          <a:srgbClr val="00FFFF"/>
                        </a:solidFill>
                        <a:effectLst/>
                        <a:latin typeface="Times New Roman" pitchFamily="18" charset="0"/>
                        <a:ea typeface="宋体" pitchFamily="2"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74</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9804</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高数</a:t>
                      </a:r>
                      <a:endParaRPr kumimoji="1" lang="en-US" altLang="zh-CN" sz="1800" b="0" i="0" u="none" strike="noStrike" cap="none" normalizeH="0" baseline="0" smtClean="0">
                        <a:ln>
                          <a:noFill/>
                        </a:ln>
                        <a:solidFill>
                          <a:srgbClr val="00FFFF"/>
                        </a:solidFill>
                        <a:effectLst/>
                        <a:latin typeface="Times New Roman" pitchFamily="18" charset="0"/>
                        <a:ea typeface="宋体" pitchFamily="2"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75</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a:t>
                      </a:r>
                    </a:p>
                  </a:txBody>
                  <a:tcPr marL="0" marR="0" marT="0" marB="0"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rgbClr val="00FFFF"/>
                          </a:solidFill>
                          <a:effectLst/>
                          <a:latin typeface="Times New Roman" pitchFamily="18" charset="0"/>
                          <a:ea typeface="宋体" pitchFamily="2"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a:t>
                      </a:r>
                    </a:p>
                  </a:txBody>
                  <a:tcPr marL="0" marR="0" marT="0" marB="0"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graphicFrame>
        <p:nvGraphicFramePr>
          <p:cNvPr id="1478768" name="Group 112"/>
          <p:cNvGraphicFramePr>
            <a:graphicFrameLocks noGrp="1"/>
          </p:cNvGraphicFramePr>
          <p:nvPr>
            <p:extLst>
              <p:ext uri="{D42A27DB-BD31-4B8C-83A1-F6EECF244321}">
                <p14:modId xmlns:p14="http://schemas.microsoft.com/office/powerpoint/2010/main" val="797566465"/>
              </p:ext>
            </p:extLst>
          </p:nvPr>
        </p:nvGraphicFramePr>
        <p:xfrm>
          <a:off x="4140200" y="2322538"/>
          <a:ext cx="1447800" cy="1371600"/>
        </p:xfrm>
        <a:graphic>
          <a:graphicData uri="http://schemas.openxmlformats.org/drawingml/2006/table">
            <a:tbl>
              <a:tblPr/>
              <a:tblGrid>
                <a:gridCol w="550863">
                  <a:extLst>
                    <a:ext uri="{9D8B030D-6E8A-4147-A177-3AD203B41FA5}">
                      <a16:colId xmlns:a16="http://schemas.microsoft.com/office/drawing/2014/main" val="20000"/>
                    </a:ext>
                  </a:extLst>
                </a:gridCol>
                <a:gridCol w="896937">
                  <a:extLst>
                    <a:ext uri="{9D8B030D-6E8A-4147-A177-3AD203B41FA5}">
                      <a16:colId xmlns:a16="http://schemas.microsoft.com/office/drawing/2014/main" val="20001"/>
                    </a:ext>
                  </a:extLst>
                </a:gridCol>
              </a:tblGrid>
              <a:tr h="1508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rgbClr val="00FFFF"/>
                          </a:solidFill>
                          <a:effectLst/>
                          <a:latin typeface="Times New Roman" pitchFamily="18" charset="0"/>
                          <a:ea typeface="宋体" pitchFamily="2" charset="-122"/>
                        </a:rPr>
                        <a:t>系名</a:t>
                      </a:r>
                    </a:p>
                  </a:txBody>
                  <a:tcPr marL="0" marR="0" marT="0" marB="0"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系主任</a:t>
                      </a:r>
                    </a:p>
                  </a:txBody>
                  <a:tcPr marL="0" marR="0" marT="0" marB="0"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rgbClr val="00FFFF"/>
                          </a:solidFill>
                          <a:effectLst/>
                          <a:latin typeface="Times New Roman" pitchFamily="18" charset="0"/>
                          <a:ea typeface="宋体" pitchFamily="2" charset="-122"/>
                        </a:rPr>
                        <a:t>IS</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刘成</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08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rgbClr val="00FFFF"/>
                          </a:solidFill>
                          <a:effectLst/>
                          <a:latin typeface="Times New Roman" pitchFamily="18" charset="0"/>
                          <a:ea typeface="宋体" pitchFamily="2" charset="-122"/>
                        </a:rPr>
                        <a:t>CS</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王浩</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508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rgbClr val="00FFFF"/>
                          </a:solidFill>
                          <a:effectLst/>
                          <a:latin typeface="Times New Roman" pitchFamily="18" charset="0"/>
                          <a:ea typeface="宋体" pitchFamily="2" charset="-122"/>
                        </a:rPr>
                        <a:t>MA</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魏征</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08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rgbClr val="00FFFF"/>
                          </a:solidFill>
                          <a:effectLst/>
                          <a:latin typeface="Times New Roman" pitchFamily="18" charset="0"/>
                          <a:ea typeface="宋体" pitchFamily="2" charset="-122"/>
                        </a:rPr>
                        <a:t>┆</a:t>
                      </a:r>
                    </a:p>
                  </a:txBody>
                  <a:tcPr marL="0" marR="0" marT="0" marB="0"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a:t>
                      </a:r>
                    </a:p>
                  </a:txBody>
                  <a:tcPr marL="0" marR="0" marT="0" marB="0"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1478792" name="Group 136"/>
          <p:cNvGraphicFramePr>
            <a:graphicFrameLocks noGrp="1"/>
          </p:cNvGraphicFramePr>
          <p:nvPr>
            <p:extLst>
              <p:ext uri="{D42A27DB-BD31-4B8C-83A1-F6EECF244321}">
                <p14:modId xmlns:p14="http://schemas.microsoft.com/office/powerpoint/2010/main" val="3084406380"/>
              </p:ext>
            </p:extLst>
          </p:nvPr>
        </p:nvGraphicFramePr>
        <p:xfrm>
          <a:off x="3348038" y="4667275"/>
          <a:ext cx="1709737" cy="1649413"/>
        </p:xfrm>
        <a:graphic>
          <a:graphicData uri="http://schemas.openxmlformats.org/drawingml/2006/table">
            <a:tbl>
              <a:tblPr/>
              <a:tblGrid>
                <a:gridCol w="1130300">
                  <a:extLst>
                    <a:ext uri="{9D8B030D-6E8A-4147-A177-3AD203B41FA5}">
                      <a16:colId xmlns:a16="http://schemas.microsoft.com/office/drawing/2014/main" val="20000"/>
                    </a:ext>
                  </a:extLst>
                </a:gridCol>
                <a:gridCol w="579437">
                  <a:extLst>
                    <a:ext uri="{9D8B030D-6E8A-4147-A177-3AD203B41FA5}">
                      <a16:colId xmlns:a16="http://schemas.microsoft.com/office/drawing/2014/main" val="20001"/>
                    </a:ext>
                  </a:extLst>
                </a:gridCol>
              </a:tblGrid>
              <a:tr h="1508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rgbClr val="00FFFF"/>
                          </a:solidFill>
                          <a:effectLst/>
                          <a:latin typeface="Times New Roman" pitchFamily="18" charset="0"/>
                          <a:ea typeface="宋体" pitchFamily="2" charset="-122"/>
                        </a:rPr>
                        <a:t>课名</a:t>
                      </a:r>
                    </a:p>
                  </a:txBody>
                  <a:tcPr marL="0" marR="0" marT="0" marB="0"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学分</a:t>
                      </a:r>
                    </a:p>
                  </a:txBody>
                  <a:tcPr marL="0" marR="0" marT="0" marB="0"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rgbClr val="00FFFF"/>
                          </a:solidFill>
                          <a:effectLst/>
                          <a:latin typeface="Times New Roman" pitchFamily="18" charset="0"/>
                          <a:ea typeface="宋体" pitchFamily="2" charset="-122"/>
                        </a:rPr>
                        <a:t>C</a:t>
                      </a: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语言</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3</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24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数据库</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3</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78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数据结构</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3</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24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高数</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5</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524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a:t>
                      </a:r>
                    </a:p>
                  </a:txBody>
                  <a:tcPr marL="0" marR="0" marT="0" marB="0"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a:t>
                      </a:r>
                    </a:p>
                  </a:txBody>
                  <a:tcPr marL="0" marR="0" marT="0" marB="0"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478823" name="Rectangle 167"/>
          <p:cNvSpPr>
            <a:spLocks noChangeArrowheads="1"/>
          </p:cNvSpPr>
          <p:nvPr/>
        </p:nvSpPr>
        <p:spPr bwMode="auto">
          <a:xfrm>
            <a:off x="285750" y="1628800"/>
            <a:ext cx="3565525" cy="457200"/>
          </a:xfrm>
          <a:prstGeom prst="rect">
            <a:avLst/>
          </a:prstGeom>
          <a:noFill/>
          <a:ln w="12700" cap="sq">
            <a:noFill/>
            <a:miter lim="800000"/>
            <a:headEnd/>
            <a:tailEnd/>
          </a:ln>
          <a:effectLst/>
        </p:spPr>
        <p:txBody>
          <a:bodyPr lIns="0" tIns="0" rIns="0" bIns="0"/>
          <a:lstStyle/>
          <a:p>
            <a:pPr marL="198438" indent="-198438">
              <a:spcAft>
                <a:spcPct val="35000"/>
              </a:spcAft>
              <a:buSzTx/>
              <a:buFontTx/>
              <a:buNone/>
              <a:defRPr/>
            </a:pPr>
            <a:r>
              <a:rPr lang="en-US" altLang="zh-CN" sz="2800">
                <a:solidFill>
                  <a:srgbClr val="99FF33"/>
                </a:solidFill>
                <a:effectLst>
                  <a:outerShdw blurRad="38100" dist="38100" dir="2700000" algn="tl">
                    <a:srgbClr val="000000"/>
                  </a:outerShdw>
                </a:effectLst>
              </a:rPr>
              <a:t>S(</a:t>
            </a:r>
            <a:r>
              <a:rPr lang="zh-CN" altLang="en-US" sz="2800" u="sng">
                <a:solidFill>
                  <a:srgbClr val="99FF33"/>
                </a:solidFill>
                <a:effectLst>
                  <a:outerShdw blurRad="38100" dist="38100" dir="2700000" algn="tl">
                    <a:srgbClr val="000000"/>
                  </a:outerShdw>
                </a:effectLst>
              </a:rPr>
              <a:t>学号</a:t>
            </a:r>
            <a:r>
              <a:rPr lang="en-US" altLang="zh-CN" sz="2800">
                <a:solidFill>
                  <a:srgbClr val="99FF33"/>
                </a:solidFill>
                <a:effectLst>
                  <a:outerShdw blurRad="38100" dist="38100" dir="2700000" algn="tl">
                    <a:srgbClr val="000000"/>
                  </a:outerShdw>
                </a:effectLst>
              </a:rPr>
              <a:t>,</a:t>
            </a:r>
            <a:r>
              <a:rPr lang="zh-CN" altLang="en-US" sz="2800">
                <a:solidFill>
                  <a:srgbClr val="99FF33"/>
                </a:solidFill>
                <a:effectLst>
                  <a:outerShdw blurRad="38100" dist="38100" dir="2700000" algn="tl">
                    <a:srgbClr val="000000"/>
                  </a:outerShdw>
                </a:effectLst>
              </a:rPr>
              <a:t>姓名</a:t>
            </a:r>
            <a:r>
              <a:rPr lang="en-US" altLang="zh-CN" sz="2800">
                <a:solidFill>
                  <a:srgbClr val="99FF33"/>
                </a:solidFill>
                <a:effectLst>
                  <a:outerShdw blurRad="38100" dist="38100" dir="2700000" algn="tl">
                    <a:srgbClr val="000000"/>
                  </a:outerShdw>
                </a:effectLst>
              </a:rPr>
              <a:t>,</a:t>
            </a:r>
            <a:r>
              <a:rPr lang="zh-CN" altLang="en-US" sz="2800">
                <a:solidFill>
                  <a:srgbClr val="99FF33"/>
                </a:solidFill>
                <a:effectLst>
                  <a:outerShdw blurRad="38100" dist="38100" dir="2700000" algn="tl">
                    <a:srgbClr val="000000"/>
                  </a:outerShdw>
                </a:effectLst>
              </a:rPr>
              <a:t>系名</a:t>
            </a:r>
            <a:r>
              <a:rPr lang="en-US" altLang="zh-CN" sz="2800">
                <a:solidFill>
                  <a:srgbClr val="99FF33"/>
                </a:solidFill>
                <a:effectLst>
                  <a:outerShdw blurRad="38100" dist="38100" dir="2700000" algn="tl">
                    <a:srgbClr val="000000"/>
                  </a:outerShdw>
                </a:effectLst>
              </a:rPr>
              <a:t>) </a:t>
            </a:r>
          </a:p>
          <a:p>
            <a:pPr marL="198438" indent="-198438">
              <a:spcAft>
                <a:spcPct val="35000"/>
              </a:spcAft>
              <a:buSzTx/>
              <a:buFontTx/>
              <a:buNone/>
              <a:defRPr/>
            </a:pPr>
            <a:r>
              <a:rPr lang="en-US" altLang="zh-CN" sz="2800">
                <a:solidFill>
                  <a:srgbClr val="99FF33"/>
                </a:solidFill>
                <a:effectLst>
                  <a:outerShdw blurRad="38100" dist="38100" dir="2700000" algn="tl">
                    <a:srgbClr val="000000"/>
                  </a:outerShdw>
                </a:effectLst>
              </a:rPr>
              <a:t>D(</a:t>
            </a:r>
            <a:r>
              <a:rPr lang="zh-CN" altLang="en-US" sz="2800" u="sng">
                <a:solidFill>
                  <a:srgbClr val="99FF33"/>
                </a:solidFill>
                <a:effectLst>
                  <a:outerShdw blurRad="38100" dist="38100" dir="2700000" algn="tl">
                    <a:srgbClr val="000000"/>
                  </a:outerShdw>
                </a:effectLst>
              </a:rPr>
              <a:t>系名</a:t>
            </a:r>
            <a:r>
              <a:rPr lang="en-US" altLang="zh-CN" sz="2800">
                <a:solidFill>
                  <a:srgbClr val="99FF33"/>
                </a:solidFill>
                <a:effectLst>
                  <a:outerShdw blurRad="38100" dist="38100" dir="2700000" algn="tl">
                    <a:srgbClr val="000000"/>
                  </a:outerShdw>
                </a:effectLst>
              </a:rPr>
              <a:t>,</a:t>
            </a:r>
            <a:r>
              <a:rPr lang="zh-CN" altLang="en-US" sz="2800">
                <a:solidFill>
                  <a:srgbClr val="99FF33"/>
                </a:solidFill>
                <a:effectLst>
                  <a:outerShdw blurRad="38100" dist="38100" dir="2700000" algn="tl">
                    <a:srgbClr val="000000"/>
                  </a:outerShdw>
                </a:effectLst>
              </a:rPr>
              <a:t>系主任</a:t>
            </a:r>
            <a:r>
              <a:rPr lang="en-US" altLang="zh-CN" sz="2800">
                <a:solidFill>
                  <a:srgbClr val="99FF33"/>
                </a:solidFill>
                <a:effectLst>
                  <a:outerShdw blurRad="38100" dist="38100" dir="2700000" algn="tl">
                    <a:srgbClr val="000000"/>
                  </a:outerShdw>
                </a:effectLst>
              </a:rPr>
              <a:t>)</a:t>
            </a:r>
          </a:p>
          <a:p>
            <a:pPr marL="198438" indent="-198438">
              <a:spcAft>
                <a:spcPct val="35000"/>
              </a:spcAft>
              <a:buSzTx/>
              <a:buFontTx/>
              <a:buNone/>
              <a:defRPr/>
            </a:pPr>
            <a:r>
              <a:rPr lang="en-US" altLang="zh-CN" sz="2800">
                <a:solidFill>
                  <a:srgbClr val="99FF33"/>
                </a:solidFill>
                <a:effectLst>
                  <a:outerShdw blurRad="38100" dist="38100" dir="2700000" algn="tl">
                    <a:srgbClr val="000000"/>
                  </a:outerShdw>
                </a:effectLst>
              </a:rPr>
              <a:t>C(</a:t>
            </a:r>
            <a:r>
              <a:rPr lang="zh-CN" altLang="en-US" sz="2800" u="sng">
                <a:solidFill>
                  <a:srgbClr val="99FF33"/>
                </a:solidFill>
                <a:effectLst>
                  <a:outerShdw blurRad="38100" dist="38100" dir="2700000" algn="tl">
                    <a:srgbClr val="000000"/>
                  </a:outerShdw>
                </a:effectLst>
              </a:rPr>
              <a:t>课名</a:t>
            </a:r>
            <a:r>
              <a:rPr lang="en-US" altLang="zh-CN" sz="2800">
                <a:solidFill>
                  <a:srgbClr val="99FF33"/>
                </a:solidFill>
                <a:effectLst>
                  <a:outerShdw blurRad="38100" dist="38100" dir="2700000" algn="tl">
                    <a:srgbClr val="000000"/>
                  </a:outerShdw>
                </a:effectLst>
              </a:rPr>
              <a:t>,</a:t>
            </a:r>
            <a:r>
              <a:rPr lang="zh-CN" altLang="en-US" sz="2800">
                <a:solidFill>
                  <a:srgbClr val="99FF33"/>
                </a:solidFill>
                <a:effectLst>
                  <a:outerShdw blurRad="38100" dist="38100" dir="2700000" algn="tl">
                    <a:srgbClr val="000000"/>
                  </a:outerShdw>
                </a:effectLst>
              </a:rPr>
              <a:t>学分</a:t>
            </a:r>
            <a:r>
              <a:rPr lang="en-US" altLang="zh-CN" sz="2800">
                <a:solidFill>
                  <a:srgbClr val="99FF33"/>
                </a:solidFill>
                <a:effectLst>
                  <a:outerShdw blurRad="38100" dist="38100" dir="2700000" algn="tl">
                    <a:srgbClr val="000000"/>
                  </a:outerShdw>
                </a:effectLst>
              </a:rPr>
              <a:t>)</a:t>
            </a:r>
          </a:p>
          <a:p>
            <a:pPr marL="198438" indent="-198438">
              <a:spcAft>
                <a:spcPct val="35000"/>
              </a:spcAft>
              <a:buSzTx/>
              <a:buFontTx/>
              <a:buNone/>
              <a:defRPr/>
            </a:pPr>
            <a:r>
              <a:rPr lang="en-US" altLang="zh-CN" sz="2800">
                <a:solidFill>
                  <a:srgbClr val="99FF33"/>
                </a:solidFill>
                <a:effectLst>
                  <a:outerShdw blurRad="38100" dist="38100" dir="2700000" algn="tl">
                    <a:srgbClr val="000000"/>
                  </a:outerShdw>
                </a:effectLst>
              </a:rPr>
              <a:t>SC(</a:t>
            </a:r>
            <a:r>
              <a:rPr lang="zh-CN" altLang="en-US" sz="2800" u="sng">
                <a:solidFill>
                  <a:srgbClr val="99FF33"/>
                </a:solidFill>
                <a:effectLst>
                  <a:outerShdw blurRad="38100" dist="38100" dir="2700000" algn="tl">
                    <a:srgbClr val="000000"/>
                  </a:outerShdw>
                </a:effectLst>
              </a:rPr>
              <a:t>学号</a:t>
            </a:r>
            <a:r>
              <a:rPr lang="en-US" altLang="zh-CN" sz="2800">
                <a:solidFill>
                  <a:srgbClr val="99FF33"/>
                </a:solidFill>
                <a:effectLst>
                  <a:outerShdw blurRad="38100" dist="38100" dir="2700000" algn="tl">
                    <a:srgbClr val="000000"/>
                  </a:outerShdw>
                </a:effectLst>
              </a:rPr>
              <a:t>,</a:t>
            </a:r>
            <a:r>
              <a:rPr lang="zh-CN" altLang="en-US" sz="2800" u="sng">
                <a:solidFill>
                  <a:srgbClr val="99FF33"/>
                </a:solidFill>
                <a:effectLst>
                  <a:outerShdw blurRad="38100" dist="38100" dir="2700000" algn="tl">
                    <a:srgbClr val="000000"/>
                  </a:outerShdw>
                </a:effectLst>
              </a:rPr>
              <a:t>课名</a:t>
            </a:r>
            <a:r>
              <a:rPr lang="en-US" altLang="zh-CN" sz="2800">
                <a:solidFill>
                  <a:srgbClr val="99FF33"/>
                </a:solidFill>
                <a:effectLst>
                  <a:outerShdw blurRad="38100" dist="38100" dir="2700000" algn="tl">
                    <a:srgbClr val="000000"/>
                  </a:outerShdw>
                </a:effectLst>
              </a:rPr>
              <a:t>,</a:t>
            </a:r>
            <a:r>
              <a:rPr lang="zh-CN" altLang="en-US" sz="2800">
                <a:solidFill>
                  <a:srgbClr val="99FF33"/>
                </a:solidFill>
                <a:effectLst>
                  <a:outerShdw blurRad="38100" dist="38100" dir="2700000" algn="tl">
                    <a:srgbClr val="000000"/>
                  </a:outerShdw>
                </a:effectLst>
              </a:rPr>
              <a:t>成绩</a:t>
            </a:r>
            <a:r>
              <a:rPr lang="en-US" altLang="zh-CN" sz="2800">
                <a:solidFill>
                  <a:srgbClr val="99FF33"/>
                </a:solidFill>
                <a:effectLst>
                  <a:outerShdw blurRad="38100" dist="38100" dir="2700000" algn="tl">
                    <a:srgbClr val="000000"/>
                  </a:outerShdw>
                </a:effectLst>
              </a:rPr>
              <a:t>)</a:t>
            </a:r>
            <a:endParaRPr lang="zh-CN" altLang="en-US" sz="2800">
              <a:solidFill>
                <a:srgbClr val="99FF33"/>
              </a:solidFill>
              <a:effectLst>
                <a:outerShdw blurRad="38100" dist="38100" dir="2700000" algn="tl">
                  <a:srgbClr val="000000"/>
                </a:outerShdw>
              </a:effectLst>
            </a:endParaRPr>
          </a:p>
        </p:txBody>
      </p:sp>
      <p:sp>
        <p:nvSpPr>
          <p:cNvPr id="1478824" name="Rectangle 168"/>
          <p:cNvSpPr>
            <a:spLocks noChangeArrowheads="1"/>
          </p:cNvSpPr>
          <p:nvPr/>
        </p:nvSpPr>
        <p:spPr bwMode="auto">
          <a:xfrm>
            <a:off x="468313" y="4092600"/>
            <a:ext cx="320675" cy="569913"/>
          </a:xfrm>
          <a:prstGeom prst="rect">
            <a:avLst/>
          </a:prstGeom>
          <a:noFill/>
          <a:ln w="12700" cap="sq">
            <a:noFill/>
            <a:miter lim="800000"/>
            <a:headEnd/>
            <a:tailEnd/>
          </a:ln>
          <a:effectLst/>
        </p:spPr>
        <p:txBody>
          <a:bodyPr wrap="none" lIns="72000" tIns="72000" rIns="72000" bIns="72000">
            <a:spAutoFit/>
          </a:bodyPr>
          <a:lstStyle/>
          <a:p>
            <a:pPr>
              <a:spcAft>
                <a:spcPct val="0"/>
              </a:spcAft>
              <a:buSzTx/>
              <a:buFontTx/>
              <a:buNone/>
              <a:defRPr/>
            </a:pPr>
            <a:r>
              <a:rPr lang="en-US" altLang="zh-CN" sz="2800">
                <a:solidFill>
                  <a:srgbClr val="FFFF00"/>
                </a:solidFill>
                <a:effectLst>
                  <a:outerShdw blurRad="38100" dist="38100" dir="2700000" algn="tl">
                    <a:srgbClr val="000000"/>
                  </a:outerShdw>
                </a:effectLst>
              </a:rPr>
              <a:t>S</a:t>
            </a:r>
            <a:endParaRPr lang="zh-CN" altLang="en-US" sz="2800">
              <a:solidFill>
                <a:srgbClr val="FFFF00"/>
              </a:solidFill>
              <a:effectLst>
                <a:outerShdw blurRad="38100" dist="38100" dir="2700000" algn="tl">
                  <a:srgbClr val="000000"/>
                </a:outerShdw>
              </a:effectLst>
            </a:endParaRPr>
          </a:p>
        </p:txBody>
      </p:sp>
      <p:sp>
        <p:nvSpPr>
          <p:cNvPr id="1478825" name="Rectangle 169"/>
          <p:cNvSpPr>
            <a:spLocks noChangeArrowheads="1"/>
          </p:cNvSpPr>
          <p:nvPr/>
        </p:nvSpPr>
        <p:spPr bwMode="auto">
          <a:xfrm>
            <a:off x="6130925" y="1798663"/>
            <a:ext cx="498475" cy="569912"/>
          </a:xfrm>
          <a:prstGeom prst="rect">
            <a:avLst/>
          </a:prstGeom>
          <a:noFill/>
          <a:ln w="12700" cap="sq">
            <a:noFill/>
            <a:miter lim="800000"/>
            <a:headEnd/>
            <a:tailEnd/>
          </a:ln>
          <a:effectLst/>
        </p:spPr>
        <p:txBody>
          <a:bodyPr wrap="none" lIns="72000" tIns="72000" rIns="72000" bIns="72000">
            <a:spAutoFit/>
          </a:bodyPr>
          <a:lstStyle/>
          <a:p>
            <a:pPr>
              <a:spcAft>
                <a:spcPct val="0"/>
              </a:spcAft>
              <a:buSzTx/>
              <a:buFontTx/>
              <a:buNone/>
              <a:defRPr/>
            </a:pPr>
            <a:r>
              <a:rPr lang="en-US" altLang="zh-CN" sz="2800">
                <a:solidFill>
                  <a:srgbClr val="FFFF00"/>
                </a:solidFill>
                <a:effectLst>
                  <a:outerShdw blurRad="38100" dist="38100" dir="2700000" algn="tl">
                    <a:srgbClr val="000000"/>
                  </a:outerShdw>
                </a:effectLst>
              </a:rPr>
              <a:t>SC</a:t>
            </a:r>
            <a:endParaRPr lang="zh-CN" altLang="en-US" sz="2800">
              <a:solidFill>
                <a:srgbClr val="FFFF00"/>
              </a:solidFill>
              <a:effectLst>
                <a:outerShdw blurRad="38100" dist="38100" dir="2700000" algn="tl">
                  <a:srgbClr val="000000"/>
                </a:outerShdw>
              </a:effectLst>
            </a:endParaRPr>
          </a:p>
        </p:txBody>
      </p:sp>
      <p:sp>
        <p:nvSpPr>
          <p:cNvPr id="1478826" name="Rectangle 170"/>
          <p:cNvSpPr>
            <a:spLocks noChangeArrowheads="1"/>
          </p:cNvSpPr>
          <p:nvPr/>
        </p:nvSpPr>
        <p:spPr bwMode="auto">
          <a:xfrm>
            <a:off x="4186238" y="1798663"/>
            <a:ext cx="320675" cy="569912"/>
          </a:xfrm>
          <a:prstGeom prst="rect">
            <a:avLst/>
          </a:prstGeom>
          <a:noFill/>
          <a:ln w="12700" cap="sq">
            <a:noFill/>
            <a:miter lim="800000"/>
            <a:headEnd/>
            <a:tailEnd/>
          </a:ln>
          <a:effectLst/>
        </p:spPr>
        <p:txBody>
          <a:bodyPr wrap="none" lIns="72000" tIns="72000" rIns="72000" bIns="72000">
            <a:spAutoFit/>
          </a:bodyPr>
          <a:lstStyle/>
          <a:p>
            <a:pPr>
              <a:spcAft>
                <a:spcPct val="0"/>
              </a:spcAft>
              <a:buSzTx/>
              <a:buFontTx/>
              <a:buNone/>
              <a:defRPr/>
            </a:pPr>
            <a:r>
              <a:rPr lang="en-US" altLang="zh-CN" sz="2800">
                <a:solidFill>
                  <a:srgbClr val="FFFF00"/>
                </a:solidFill>
                <a:effectLst>
                  <a:outerShdw blurRad="38100" dist="38100" dir="2700000" algn="tl">
                    <a:srgbClr val="000000"/>
                  </a:outerShdw>
                </a:effectLst>
              </a:rPr>
              <a:t>D</a:t>
            </a:r>
            <a:endParaRPr lang="zh-CN" altLang="en-US" sz="2800">
              <a:solidFill>
                <a:srgbClr val="FFFF00"/>
              </a:solidFill>
              <a:effectLst>
                <a:outerShdw blurRad="38100" dist="38100" dir="2700000" algn="tl">
                  <a:srgbClr val="000000"/>
                </a:outerShdw>
              </a:effectLst>
            </a:endParaRPr>
          </a:p>
        </p:txBody>
      </p:sp>
      <p:sp>
        <p:nvSpPr>
          <p:cNvPr id="1478827" name="Rectangle 171"/>
          <p:cNvSpPr>
            <a:spLocks noChangeArrowheads="1"/>
          </p:cNvSpPr>
          <p:nvPr/>
        </p:nvSpPr>
        <p:spPr bwMode="auto">
          <a:xfrm>
            <a:off x="3348038" y="4092600"/>
            <a:ext cx="320675" cy="569913"/>
          </a:xfrm>
          <a:prstGeom prst="rect">
            <a:avLst/>
          </a:prstGeom>
          <a:noFill/>
          <a:ln w="12700" cap="sq">
            <a:noFill/>
            <a:miter lim="800000"/>
            <a:headEnd/>
            <a:tailEnd/>
          </a:ln>
          <a:effectLst/>
        </p:spPr>
        <p:txBody>
          <a:bodyPr wrap="none" lIns="72000" tIns="72000" rIns="72000" bIns="72000">
            <a:spAutoFit/>
          </a:bodyPr>
          <a:lstStyle/>
          <a:p>
            <a:pPr>
              <a:spcAft>
                <a:spcPct val="0"/>
              </a:spcAft>
              <a:buSzTx/>
              <a:buFontTx/>
              <a:buNone/>
              <a:defRPr/>
            </a:pPr>
            <a:r>
              <a:rPr lang="en-US" altLang="zh-CN" sz="2800">
                <a:solidFill>
                  <a:srgbClr val="FFFF00"/>
                </a:solidFill>
                <a:effectLst>
                  <a:outerShdw blurRad="38100" dist="38100" dir="2700000" algn="tl">
                    <a:srgbClr val="000000"/>
                  </a:outerShdw>
                </a:effectLst>
              </a:rPr>
              <a:t>C</a:t>
            </a:r>
            <a:endParaRPr lang="zh-CN" altLang="en-US" sz="2800">
              <a:solidFill>
                <a:srgbClr val="FFFF00"/>
              </a:solidFill>
              <a:effectLst>
                <a:outerShdw blurRad="38100" dist="38100" dir="2700000" algn="tl">
                  <a:srgbClr val="000000"/>
                </a:outerShdw>
              </a:effectLst>
            </a:endParaRPr>
          </a:p>
        </p:txBody>
      </p:sp>
      <p:sp>
        <p:nvSpPr>
          <p:cNvPr id="14" name="Text Box 2"/>
          <p:cNvSpPr txBox="1">
            <a:spLocks noChangeArrowheads="1"/>
          </p:cNvSpPr>
          <p:nvPr/>
        </p:nvSpPr>
        <p:spPr bwMode="auto">
          <a:xfrm>
            <a:off x="174937" y="-68263"/>
            <a:ext cx="2710211"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lvl1pPr lvl="0" defTabSz="914400" eaLnBrk="1" latinLnBrk="0" hangingPunct="1">
              <a:spcBef>
                <a:spcPts val="0"/>
              </a:spcBef>
              <a:buNone/>
              <a:defRPr sz="4000" b="1" baseline="0">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r>
              <a:rPr lang="zh-CN" altLang="en-US" dirty="0" smtClean="0"/>
              <a:t>问题的引入</a:t>
            </a:r>
            <a:endParaRPr lang="en-US" altLang="zh-CN" dirty="0" smtClean="0"/>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type="title"/>
          </p:nvPr>
        </p:nvSpPr>
        <p:spPr>
          <a:xfrm>
            <a:off x="251520" y="764704"/>
            <a:ext cx="8661400" cy="584775"/>
          </a:xfrm>
        </p:spPr>
        <p:txBody>
          <a:bodyPr wrap="square"/>
          <a:lstStyle/>
          <a:p>
            <a:pPr>
              <a:buFont typeface="Wingdings" pitchFamily="2" charset="2"/>
              <a:buNone/>
            </a:pPr>
            <a:r>
              <a:rPr lang="zh-CN" altLang="zh-CN" sz="3200" dirty="0" smtClean="0">
                <a:latin typeface="微软雅黑" panose="020B0503020204020204" pitchFamily="34" charset="-122"/>
                <a:ea typeface="微软雅黑" panose="020B0503020204020204" pitchFamily="34" charset="-122"/>
              </a:rPr>
              <a:t>方案</a:t>
            </a:r>
            <a:r>
              <a:rPr lang="zh-CN" altLang="en-US" sz="3200" dirty="0" smtClean="0">
                <a:latin typeface="微软雅黑" panose="020B0503020204020204" pitchFamily="34" charset="-122"/>
                <a:ea typeface="微软雅黑" panose="020B0503020204020204" pitchFamily="34" charset="-122"/>
              </a:rPr>
              <a:t>2的评价</a:t>
            </a:r>
            <a:endParaRPr lang="en-US" altLang="zh-CN" sz="3200" dirty="0" smtClean="0">
              <a:solidFill>
                <a:srgbClr val="FFFF00"/>
              </a:solidFill>
              <a:latin typeface="微软雅黑" panose="020B0503020204020204" pitchFamily="34" charset="-122"/>
              <a:ea typeface="微软雅黑" panose="020B0503020204020204" pitchFamily="34" charset="-122"/>
            </a:endParaRPr>
          </a:p>
        </p:txBody>
      </p:sp>
      <p:graphicFrame>
        <p:nvGraphicFramePr>
          <p:cNvPr id="1479684" name="Group 4"/>
          <p:cNvGraphicFramePr>
            <a:graphicFrameLocks noGrp="1"/>
          </p:cNvGraphicFramePr>
          <p:nvPr>
            <p:extLst>
              <p:ext uri="{D42A27DB-BD31-4B8C-83A1-F6EECF244321}">
                <p14:modId xmlns:p14="http://schemas.microsoft.com/office/powerpoint/2010/main" val="1270067756"/>
              </p:ext>
            </p:extLst>
          </p:nvPr>
        </p:nvGraphicFramePr>
        <p:xfrm>
          <a:off x="323850" y="2147991"/>
          <a:ext cx="2057400" cy="1646238"/>
        </p:xfrm>
        <a:graphic>
          <a:graphicData uri="http://schemas.openxmlformats.org/drawingml/2006/table">
            <a:tbl>
              <a:tblPr/>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tblGrid>
              <a:tr h="27437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rgbClr val="00FFFF"/>
                          </a:solidFill>
                          <a:effectLst/>
                          <a:latin typeface="Times New Roman" pitchFamily="18" charset="0"/>
                          <a:ea typeface="宋体" pitchFamily="2" charset="-122"/>
                        </a:rPr>
                        <a:t>学号</a:t>
                      </a:r>
                    </a:p>
                  </a:txBody>
                  <a:tcPr marL="0" marR="0" marT="0" marB="0"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姓名</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系名</a:t>
                      </a:r>
                    </a:p>
                  </a:txBody>
                  <a:tcPr marL="0" marR="0" marT="0" marB="0"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437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9801</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张明</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IS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37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9802</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赵龙</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CS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37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9803</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陈然</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MA</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37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9804</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钟伟</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IS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37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a:t>
                      </a:r>
                    </a:p>
                  </a:txBody>
                  <a:tcPr marL="0" marR="0" marT="0" marB="0"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a:t>
                      </a:r>
                    </a:p>
                  </a:txBody>
                  <a:tcPr marL="0" marR="0" marT="0" marB="0"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1479720" name="Group 40"/>
          <p:cNvGraphicFramePr>
            <a:graphicFrameLocks noGrp="1"/>
          </p:cNvGraphicFramePr>
          <p:nvPr>
            <p:extLst>
              <p:ext uri="{D42A27DB-BD31-4B8C-83A1-F6EECF244321}">
                <p14:modId xmlns:p14="http://schemas.microsoft.com/office/powerpoint/2010/main" val="1038426177"/>
              </p:ext>
            </p:extLst>
          </p:nvPr>
        </p:nvGraphicFramePr>
        <p:xfrm>
          <a:off x="6313488" y="2149578"/>
          <a:ext cx="2620962" cy="3295646"/>
        </p:xfrm>
        <a:graphic>
          <a:graphicData uri="http://schemas.openxmlformats.org/drawingml/2006/table">
            <a:tbl>
              <a:tblPr/>
              <a:tblGrid>
                <a:gridCol w="804862">
                  <a:extLst>
                    <a:ext uri="{9D8B030D-6E8A-4147-A177-3AD203B41FA5}">
                      <a16:colId xmlns:a16="http://schemas.microsoft.com/office/drawing/2014/main" val="20000"/>
                    </a:ext>
                  </a:extLst>
                </a:gridCol>
                <a:gridCol w="11303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tblGrid>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rgbClr val="00FFFF"/>
                          </a:solidFill>
                          <a:effectLst/>
                          <a:latin typeface="Times New Roman" pitchFamily="18" charset="0"/>
                          <a:ea typeface="宋体" pitchFamily="2" charset="-122"/>
                        </a:rPr>
                        <a:t>学号</a:t>
                      </a:r>
                    </a:p>
                  </a:txBody>
                  <a:tcPr marL="0" marR="0" marT="0" marB="0"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rgbClr val="00FFFF"/>
                          </a:solidFill>
                          <a:effectLst/>
                          <a:latin typeface="Times New Roman" pitchFamily="18" charset="0"/>
                          <a:ea typeface="宋体" pitchFamily="2" charset="-122"/>
                        </a:rPr>
                        <a:t>课名</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成绩</a:t>
                      </a:r>
                    </a:p>
                  </a:txBody>
                  <a:tcPr marL="0" marR="0" marT="0" marB="0"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9801</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rgbClr val="00FFFF"/>
                          </a:solidFill>
                          <a:effectLst/>
                          <a:latin typeface="Times New Roman" pitchFamily="18" charset="0"/>
                          <a:ea typeface="宋体" pitchFamily="2" charset="-122"/>
                        </a:rPr>
                        <a:t>C</a:t>
                      </a: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语言</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85</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9801</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数据库</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80</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78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9801</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数据结构</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76</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9801</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高数</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82</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9802</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高数</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72</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9802</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rgbClr val="00FFFF"/>
                          </a:solidFill>
                          <a:effectLst/>
                          <a:latin typeface="Times New Roman" pitchFamily="18" charset="0"/>
                          <a:ea typeface="宋体" pitchFamily="2" charset="-122"/>
                        </a:rPr>
                        <a:t>C</a:t>
                      </a: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语言</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68</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9803</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rgbClr val="00FFFF"/>
                          </a:solidFill>
                          <a:effectLst/>
                          <a:latin typeface="Times New Roman" pitchFamily="18" charset="0"/>
                          <a:ea typeface="宋体" pitchFamily="2" charset="-122"/>
                        </a:rPr>
                        <a:t>C</a:t>
                      </a: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语言</a:t>
                      </a:r>
                      <a:endParaRPr kumimoji="1" lang="en-US" altLang="zh-CN" sz="1800" b="0" i="0" u="none" strike="noStrike" cap="none" normalizeH="0" baseline="0" smtClean="0">
                        <a:ln>
                          <a:noFill/>
                        </a:ln>
                        <a:solidFill>
                          <a:srgbClr val="00FFFF"/>
                        </a:solidFill>
                        <a:effectLst/>
                        <a:latin typeface="Times New Roman" pitchFamily="18" charset="0"/>
                        <a:ea typeface="宋体" pitchFamily="2"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84</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9803</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数据库</a:t>
                      </a:r>
                      <a:endParaRPr kumimoji="1" lang="en-US" altLang="zh-CN" sz="1800" b="0" i="0" u="none" strike="noStrike" cap="none" normalizeH="0" baseline="0" smtClean="0">
                        <a:ln>
                          <a:noFill/>
                        </a:ln>
                        <a:solidFill>
                          <a:srgbClr val="00FFFF"/>
                        </a:solidFill>
                        <a:effectLst/>
                        <a:latin typeface="Times New Roman" pitchFamily="18" charset="0"/>
                        <a:ea typeface="宋体" pitchFamily="2"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86</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9803</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高数</a:t>
                      </a:r>
                      <a:endParaRPr kumimoji="1" lang="en-US" altLang="zh-CN" sz="1800" b="0" i="0" u="none" strike="noStrike" cap="none" normalizeH="0" baseline="0" smtClean="0">
                        <a:ln>
                          <a:noFill/>
                        </a:ln>
                        <a:solidFill>
                          <a:srgbClr val="00FFFF"/>
                        </a:solidFill>
                        <a:effectLst/>
                        <a:latin typeface="Times New Roman" pitchFamily="18" charset="0"/>
                        <a:ea typeface="宋体" pitchFamily="2"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74</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9804</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高数</a:t>
                      </a:r>
                      <a:endParaRPr kumimoji="1" lang="en-US" altLang="zh-CN" sz="1800" b="0" i="0" u="none" strike="noStrike" cap="none" normalizeH="0" baseline="0" smtClean="0">
                        <a:ln>
                          <a:noFill/>
                        </a:ln>
                        <a:solidFill>
                          <a:srgbClr val="00FFFF"/>
                        </a:solidFill>
                        <a:effectLst/>
                        <a:latin typeface="Times New Roman" pitchFamily="18" charset="0"/>
                        <a:ea typeface="宋体" pitchFamily="2"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75</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74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a:t>
                      </a:r>
                    </a:p>
                  </a:txBody>
                  <a:tcPr marL="0" marR="0" marT="0" marB="0"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rgbClr val="00FFFF"/>
                          </a:solidFill>
                          <a:effectLst/>
                          <a:latin typeface="Times New Roman" pitchFamily="18" charset="0"/>
                          <a:ea typeface="宋体" pitchFamily="2"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a:t>
                      </a:r>
                    </a:p>
                  </a:txBody>
                  <a:tcPr marL="0" marR="0" marT="0" marB="0"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graphicFrame>
        <p:nvGraphicFramePr>
          <p:cNvPr id="1479792" name="Group 112"/>
          <p:cNvGraphicFramePr>
            <a:graphicFrameLocks noGrp="1"/>
          </p:cNvGraphicFramePr>
          <p:nvPr>
            <p:extLst>
              <p:ext uri="{D42A27DB-BD31-4B8C-83A1-F6EECF244321}">
                <p14:modId xmlns:p14="http://schemas.microsoft.com/office/powerpoint/2010/main" val="3714750194"/>
              </p:ext>
            </p:extLst>
          </p:nvPr>
        </p:nvGraphicFramePr>
        <p:xfrm>
          <a:off x="2627313" y="2147991"/>
          <a:ext cx="1447800" cy="1371600"/>
        </p:xfrm>
        <a:graphic>
          <a:graphicData uri="http://schemas.openxmlformats.org/drawingml/2006/table">
            <a:tbl>
              <a:tblPr/>
              <a:tblGrid>
                <a:gridCol w="550862">
                  <a:extLst>
                    <a:ext uri="{9D8B030D-6E8A-4147-A177-3AD203B41FA5}">
                      <a16:colId xmlns:a16="http://schemas.microsoft.com/office/drawing/2014/main" val="20000"/>
                    </a:ext>
                  </a:extLst>
                </a:gridCol>
                <a:gridCol w="896938">
                  <a:extLst>
                    <a:ext uri="{9D8B030D-6E8A-4147-A177-3AD203B41FA5}">
                      <a16:colId xmlns:a16="http://schemas.microsoft.com/office/drawing/2014/main" val="20001"/>
                    </a:ext>
                  </a:extLst>
                </a:gridCol>
              </a:tblGrid>
              <a:tr h="1508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rgbClr val="00FFFF"/>
                          </a:solidFill>
                          <a:effectLst/>
                          <a:latin typeface="Times New Roman" pitchFamily="18" charset="0"/>
                          <a:ea typeface="宋体" pitchFamily="2" charset="-122"/>
                        </a:rPr>
                        <a:t>系名</a:t>
                      </a:r>
                    </a:p>
                  </a:txBody>
                  <a:tcPr marL="0" marR="0" marT="0" marB="0"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系主任</a:t>
                      </a:r>
                    </a:p>
                  </a:txBody>
                  <a:tcPr marL="0" marR="0" marT="0" marB="0"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rgbClr val="00FFFF"/>
                          </a:solidFill>
                          <a:effectLst/>
                          <a:latin typeface="Times New Roman" pitchFamily="18" charset="0"/>
                          <a:ea typeface="宋体" pitchFamily="2" charset="-122"/>
                        </a:rPr>
                        <a:t>IS</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刘成</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08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rgbClr val="00FFFF"/>
                          </a:solidFill>
                          <a:effectLst/>
                          <a:latin typeface="Times New Roman" pitchFamily="18" charset="0"/>
                          <a:ea typeface="宋体" pitchFamily="2" charset="-122"/>
                        </a:rPr>
                        <a:t>CS</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王浩</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508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rgbClr val="00FFFF"/>
                          </a:solidFill>
                          <a:effectLst/>
                          <a:latin typeface="Times New Roman" pitchFamily="18" charset="0"/>
                          <a:ea typeface="宋体" pitchFamily="2" charset="-122"/>
                        </a:rPr>
                        <a:t>MA</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魏征</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08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rgbClr val="00FFFF"/>
                          </a:solidFill>
                          <a:effectLst/>
                          <a:latin typeface="Times New Roman" pitchFamily="18" charset="0"/>
                          <a:ea typeface="宋体" pitchFamily="2" charset="-122"/>
                        </a:rPr>
                        <a:t>┆</a:t>
                      </a:r>
                    </a:p>
                  </a:txBody>
                  <a:tcPr marL="0" marR="0" marT="0" marB="0"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a:t>
                      </a:r>
                    </a:p>
                  </a:txBody>
                  <a:tcPr marL="0" marR="0" marT="0" marB="0"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1479816" name="Group 136"/>
          <p:cNvGraphicFramePr>
            <a:graphicFrameLocks noGrp="1"/>
          </p:cNvGraphicFramePr>
          <p:nvPr>
            <p:extLst>
              <p:ext uri="{D42A27DB-BD31-4B8C-83A1-F6EECF244321}">
                <p14:modId xmlns:p14="http://schemas.microsoft.com/office/powerpoint/2010/main" val="2888400971"/>
              </p:ext>
            </p:extLst>
          </p:nvPr>
        </p:nvGraphicFramePr>
        <p:xfrm>
          <a:off x="4335463" y="2147991"/>
          <a:ext cx="1709737" cy="1649413"/>
        </p:xfrm>
        <a:graphic>
          <a:graphicData uri="http://schemas.openxmlformats.org/drawingml/2006/table">
            <a:tbl>
              <a:tblPr/>
              <a:tblGrid>
                <a:gridCol w="1130300">
                  <a:extLst>
                    <a:ext uri="{9D8B030D-6E8A-4147-A177-3AD203B41FA5}">
                      <a16:colId xmlns:a16="http://schemas.microsoft.com/office/drawing/2014/main" val="20000"/>
                    </a:ext>
                  </a:extLst>
                </a:gridCol>
                <a:gridCol w="579437">
                  <a:extLst>
                    <a:ext uri="{9D8B030D-6E8A-4147-A177-3AD203B41FA5}">
                      <a16:colId xmlns:a16="http://schemas.microsoft.com/office/drawing/2014/main" val="20001"/>
                    </a:ext>
                  </a:extLst>
                </a:gridCol>
              </a:tblGrid>
              <a:tr h="27432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rgbClr val="00FFFF"/>
                          </a:solidFill>
                          <a:effectLst/>
                          <a:latin typeface="Times New Roman" pitchFamily="18" charset="0"/>
                          <a:ea typeface="宋体" pitchFamily="2" charset="-122"/>
                        </a:rPr>
                        <a:t>课名</a:t>
                      </a:r>
                    </a:p>
                  </a:txBody>
                  <a:tcPr marL="0" marR="0" marT="0" marB="0"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学分</a:t>
                      </a:r>
                    </a:p>
                  </a:txBody>
                  <a:tcPr marL="0" marR="0" marT="0" marB="0"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432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smtClean="0">
                          <a:ln>
                            <a:noFill/>
                          </a:ln>
                          <a:solidFill>
                            <a:srgbClr val="00FFFF"/>
                          </a:solidFill>
                          <a:effectLst/>
                          <a:latin typeface="Times New Roman" pitchFamily="18" charset="0"/>
                          <a:ea typeface="宋体" pitchFamily="2" charset="-122"/>
                        </a:rPr>
                        <a:t>C</a:t>
                      </a: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语言</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3</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32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数据库</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3</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78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数据结构</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3</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32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高数</a:t>
                      </a: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5</a:t>
                      </a:r>
                    </a:p>
                  </a:txBody>
                  <a:tcPr marL="0" marR="0" marT="0" marB="0"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32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rgbClr val="00FFFF"/>
                          </a:solidFill>
                          <a:effectLst/>
                          <a:latin typeface="Times New Roman" pitchFamily="18" charset="0"/>
                          <a:ea typeface="宋体" pitchFamily="2" charset="-122"/>
                        </a:rPr>
                        <a:t>┆</a:t>
                      </a:r>
                    </a:p>
                  </a:txBody>
                  <a:tcPr marL="0" marR="0" marT="0" marB="0"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smtClean="0">
                          <a:ln>
                            <a:noFill/>
                          </a:ln>
                          <a:solidFill>
                            <a:schemeClr val="tx1"/>
                          </a:solidFill>
                          <a:effectLst/>
                          <a:latin typeface="Times New Roman" pitchFamily="18" charset="0"/>
                          <a:ea typeface="宋体" pitchFamily="2" charset="-122"/>
                        </a:rPr>
                        <a:t>┆</a:t>
                      </a:r>
                    </a:p>
                  </a:txBody>
                  <a:tcPr marL="0" marR="0" marT="0" marB="0"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479847" name="Rectangle 167"/>
          <p:cNvSpPr>
            <a:spLocks noChangeArrowheads="1"/>
          </p:cNvSpPr>
          <p:nvPr/>
        </p:nvSpPr>
        <p:spPr bwMode="auto">
          <a:xfrm>
            <a:off x="323850" y="1573316"/>
            <a:ext cx="320675" cy="569912"/>
          </a:xfrm>
          <a:prstGeom prst="rect">
            <a:avLst/>
          </a:prstGeom>
          <a:noFill/>
          <a:ln w="12700" cap="sq">
            <a:noFill/>
            <a:miter lim="800000"/>
            <a:headEnd/>
            <a:tailEnd/>
          </a:ln>
          <a:effectLst/>
        </p:spPr>
        <p:txBody>
          <a:bodyPr wrap="none" lIns="72000" tIns="72000" rIns="72000" bIns="72000">
            <a:spAutoFit/>
          </a:bodyPr>
          <a:lstStyle/>
          <a:p>
            <a:pPr>
              <a:spcAft>
                <a:spcPct val="0"/>
              </a:spcAft>
              <a:buSzTx/>
              <a:buFontTx/>
              <a:buNone/>
              <a:defRPr/>
            </a:pPr>
            <a:r>
              <a:rPr lang="en-US" altLang="zh-CN" sz="2800">
                <a:effectLst>
                  <a:outerShdw blurRad="38100" dist="38100" dir="2700000" algn="tl">
                    <a:srgbClr val="000000"/>
                  </a:outerShdw>
                </a:effectLst>
              </a:rPr>
              <a:t>S</a:t>
            </a:r>
            <a:endParaRPr lang="zh-CN" altLang="en-US" sz="2800">
              <a:effectLst>
                <a:outerShdw blurRad="38100" dist="38100" dir="2700000" algn="tl">
                  <a:srgbClr val="000000"/>
                </a:outerShdw>
              </a:effectLst>
            </a:endParaRPr>
          </a:p>
        </p:txBody>
      </p:sp>
      <p:sp>
        <p:nvSpPr>
          <p:cNvPr id="1479848" name="Rectangle 168"/>
          <p:cNvSpPr>
            <a:spLocks noChangeArrowheads="1"/>
          </p:cNvSpPr>
          <p:nvPr/>
        </p:nvSpPr>
        <p:spPr bwMode="auto">
          <a:xfrm>
            <a:off x="6359525" y="1573316"/>
            <a:ext cx="498475" cy="569912"/>
          </a:xfrm>
          <a:prstGeom prst="rect">
            <a:avLst/>
          </a:prstGeom>
          <a:noFill/>
          <a:ln w="12700" cap="sq">
            <a:noFill/>
            <a:miter lim="800000"/>
            <a:headEnd/>
            <a:tailEnd/>
          </a:ln>
          <a:effectLst/>
        </p:spPr>
        <p:txBody>
          <a:bodyPr wrap="none" lIns="72000" tIns="72000" rIns="72000" bIns="72000">
            <a:spAutoFit/>
          </a:bodyPr>
          <a:lstStyle/>
          <a:p>
            <a:pPr>
              <a:spcAft>
                <a:spcPct val="0"/>
              </a:spcAft>
              <a:buSzTx/>
              <a:buFontTx/>
              <a:buNone/>
              <a:defRPr/>
            </a:pPr>
            <a:r>
              <a:rPr lang="en-US" altLang="zh-CN" sz="2800">
                <a:effectLst>
                  <a:outerShdw blurRad="38100" dist="38100" dir="2700000" algn="tl">
                    <a:srgbClr val="000000"/>
                  </a:outerShdw>
                </a:effectLst>
              </a:rPr>
              <a:t>SC</a:t>
            </a:r>
            <a:endParaRPr lang="zh-CN" altLang="en-US" sz="2800">
              <a:effectLst>
                <a:outerShdw blurRad="38100" dist="38100" dir="2700000" algn="tl">
                  <a:srgbClr val="000000"/>
                </a:outerShdw>
              </a:effectLst>
            </a:endParaRPr>
          </a:p>
        </p:txBody>
      </p:sp>
      <p:sp>
        <p:nvSpPr>
          <p:cNvPr id="1479849" name="Rectangle 169"/>
          <p:cNvSpPr>
            <a:spLocks noChangeArrowheads="1"/>
          </p:cNvSpPr>
          <p:nvPr/>
        </p:nvSpPr>
        <p:spPr bwMode="auto">
          <a:xfrm>
            <a:off x="2673350" y="1573316"/>
            <a:ext cx="320675" cy="569912"/>
          </a:xfrm>
          <a:prstGeom prst="rect">
            <a:avLst/>
          </a:prstGeom>
          <a:noFill/>
          <a:ln w="12700" cap="sq">
            <a:noFill/>
            <a:miter lim="800000"/>
            <a:headEnd/>
            <a:tailEnd/>
          </a:ln>
          <a:effectLst/>
        </p:spPr>
        <p:txBody>
          <a:bodyPr wrap="none" lIns="72000" tIns="72000" rIns="72000" bIns="72000">
            <a:spAutoFit/>
          </a:bodyPr>
          <a:lstStyle/>
          <a:p>
            <a:pPr>
              <a:spcAft>
                <a:spcPct val="0"/>
              </a:spcAft>
              <a:buSzTx/>
              <a:buFontTx/>
              <a:buNone/>
              <a:defRPr/>
            </a:pPr>
            <a:r>
              <a:rPr lang="en-US" altLang="zh-CN" sz="2800">
                <a:effectLst>
                  <a:outerShdw blurRad="38100" dist="38100" dir="2700000" algn="tl">
                    <a:srgbClr val="000000"/>
                  </a:outerShdw>
                </a:effectLst>
              </a:rPr>
              <a:t>D</a:t>
            </a:r>
            <a:endParaRPr lang="zh-CN" altLang="en-US" sz="2800">
              <a:effectLst>
                <a:outerShdw blurRad="38100" dist="38100" dir="2700000" algn="tl">
                  <a:srgbClr val="000000"/>
                </a:outerShdw>
              </a:effectLst>
            </a:endParaRPr>
          </a:p>
        </p:txBody>
      </p:sp>
      <p:sp>
        <p:nvSpPr>
          <p:cNvPr id="1479850" name="Rectangle 170"/>
          <p:cNvSpPr>
            <a:spLocks noChangeArrowheads="1"/>
          </p:cNvSpPr>
          <p:nvPr/>
        </p:nvSpPr>
        <p:spPr bwMode="auto">
          <a:xfrm>
            <a:off x="4335463" y="1573316"/>
            <a:ext cx="320675" cy="569912"/>
          </a:xfrm>
          <a:prstGeom prst="rect">
            <a:avLst/>
          </a:prstGeom>
          <a:noFill/>
          <a:ln w="12700" cap="sq">
            <a:noFill/>
            <a:miter lim="800000"/>
            <a:headEnd/>
            <a:tailEnd/>
          </a:ln>
          <a:effectLst/>
        </p:spPr>
        <p:txBody>
          <a:bodyPr wrap="none" lIns="72000" tIns="72000" rIns="72000" bIns="72000">
            <a:spAutoFit/>
          </a:bodyPr>
          <a:lstStyle/>
          <a:p>
            <a:pPr>
              <a:spcAft>
                <a:spcPct val="0"/>
              </a:spcAft>
              <a:buSzTx/>
              <a:buFontTx/>
              <a:buNone/>
              <a:defRPr/>
            </a:pPr>
            <a:r>
              <a:rPr lang="en-US" altLang="zh-CN" sz="2800">
                <a:effectLst>
                  <a:outerShdw blurRad="38100" dist="38100" dir="2700000" algn="tl">
                    <a:srgbClr val="000000"/>
                  </a:outerShdw>
                </a:effectLst>
              </a:rPr>
              <a:t>C</a:t>
            </a:r>
            <a:endParaRPr lang="zh-CN" altLang="en-US" sz="2800">
              <a:effectLst>
                <a:outerShdw blurRad="38100" dist="38100" dir="2700000" algn="tl">
                  <a:srgbClr val="000000"/>
                </a:outerShdw>
              </a:effectLst>
            </a:endParaRPr>
          </a:p>
        </p:txBody>
      </p:sp>
      <p:sp>
        <p:nvSpPr>
          <p:cNvPr id="1479851" name="Rectangle 171"/>
          <p:cNvSpPr>
            <a:spLocks noChangeArrowheads="1"/>
          </p:cNvSpPr>
          <p:nvPr/>
        </p:nvSpPr>
        <p:spPr bwMode="auto">
          <a:xfrm>
            <a:off x="323850" y="4341916"/>
            <a:ext cx="4343400" cy="457200"/>
          </a:xfrm>
          <a:prstGeom prst="rect">
            <a:avLst/>
          </a:prstGeom>
          <a:noFill/>
          <a:ln w="12700" cap="sq">
            <a:noFill/>
            <a:miter lim="800000"/>
            <a:headEnd/>
            <a:tailEnd/>
          </a:ln>
          <a:effectLst/>
        </p:spPr>
        <p:txBody>
          <a:bodyPr lIns="0" tIns="0" rIns="0" bIns="0"/>
          <a:lstStyle/>
          <a:p>
            <a:pPr marL="377825" indent="-377825">
              <a:spcAft>
                <a:spcPct val="0"/>
              </a:spcAft>
              <a:buSzTx/>
              <a:buFontTx/>
              <a:buChar char="•"/>
              <a:defRPr/>
            </a:pPr>
            <a:r>
              <a:rPr lang="zh-CN" altLang="en-US" dirty="0">
                <a:solidFill>
                  <a:srgbClr val="FFFF00"/>
                </a:solidFill>
                <a:effectLst>
                  <a:outerShdw blurRad="38100" dist="38100" dir="2700000" algn="tl">
                    <a:srgbClr val="000000"/>
                  </a:outerShdw>
                </a:effectLst>
                <a:latin typeface="Times New Roman" pitchFamily="18" charset="0"/>
              </a:rPr>
              <a:t>数据冗余最小</a:t>
            </a:r>
          </a:p>
          <a:p>
            <a:pPr marL="377825" indent="-377825">
              <a:spcAft>
                <a:spcPct val="0"/>
              </a:spcAft>
              <a:buSzTx/>
              <a:buFontTx/>
              <a:buChar char="•"/>
              <a:defRPr/>
            </a:pPr>
            <a:r>
              <a:rPr lang="zh-CN" altLang="en-US" dirty="0">
                <a:solidFill>
                  <a:srgbClr val="FFFF00"/>
                </a:solidFill>
                <a:effectLst>
                  <a:outerShdw blurRad="38100" dist="38100" dir="2700000" algn="tl">
                    <a:srgbClr val="000000"/>
                  </a:outerShdw>
                </a:effectLst>
                <a:latin typeface="Times New Roman" pitchFamily="18" charset="0"/>
              </a:rPr>
              <a:t>没有插入异常</a:t>
            </a:r>
          </a:p>
          <a:p>
            <a:pPr marL="377825" indent="-377825">
              <a:spcAft>
                <a:spcPct val="0"/>
              </a:spcAft>
              <a:buSzTx/>
              <a:buFontTx/>
              <a:buChar char="•"/>
              <a:defRPr/>
            </a:pPr>
            <a:r>
              <a:rPr lang="zh-CN" altLang="en-US" dirty="0">
                <a:solidFill>
                  <a:srgbClr val="FFFF00"/>
                </a:solidFill>
                <a:effectLst>
                  <a:outerShdw blurRad="38100" dist="38100" dir="2700000" algn="tl">
                    <a:srgbClr val="000000"/>
                  </a:outerShdw>
                </a:effectLst>
                <a:latin typeface="Times New Roman" pitchFamily="18" charset="0"/>
              </a:rPr>
              <a:t>没有删除异常</a:t>
            </a:r>
          </a:p>
          <a:p>
            <a:pPr marL="377825" indent="-377825">
              <a:spcAft>
                <a:spcPct val="0"/>
              </a:spcAft>
              <a:buSzTx/>
              <a:buFontTx/>
              <a:buChar char="•"/>
              <a:defRPr/>
            </a:pPr>
            <a:r>
              <a:rPr lang="zh-CN" altLang="en-US" dirty="0">
                <a:solidFill>
                  <a:srgbClr val="FFFF00"/>
                </a:solidFill>
                <a:effectLst>
                  <a:outerShdw blurRad="38100" dist="38100" dir="2700000" algn="tl">
                    <a:srgbClr val="000000"/>
                  </a:outerShdw>
                </a:effectLst>
                <a:latin typeface="Times New Roman" pitchFamily="18" charset="0"/>
              </a:rPr>
              <a:t>更新简单</a:t>
            </a:r>
          </a:p>
        </p:txBody>
      </p:sp>
      <p:sp>
        <p:nvSpPr>
          <p:cNvPr id="14" name="Text Box 2"/>
          <p:cNvSpPr txBox="1">
            <a:spLocks noChangeArrowheads="1"/>
          </p:cNvSpPr>
          <p:nvPr/>
        </p:nvSpPr>
        <p:spPr bwMode="auto">
          <a:xfrm>
            <a:off x="174937" y="-68263"/>
            <a:ext cx="2710211"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lvl1pPr lvl="0" defTabSz="914400" eaLnBrk="1" latinLnBrk="0" hangingPunct="1">
              <a:spcBef>
                <a:spcPts val="0"/>
              </a:spcBef>
              <a:buNone/>
              <a:defRPr sz="4000" b="1" baseline="0">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r>
              <a:rPr lang="zh-CN" altLang="en-US" dirty="0" smtClean="0"/>
              <a:t>问题的引入</a:t>
            </a:r>
            <a:endParaRPr lang="en-US" altLang="zh-CN" dirty="0" smtClean="0"/>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Grp="1" noChangeArrowheads="1"/>
          </p:cNvSpPr>
          <p:nvPr>
            <p:ph type="title"/>
          </p:nvPr>
        </p:nvSpPr>
        <p:spPr>
          <a:xfrm>
            <a:off x="323850" y="851407"/>
            <a:ext cx="8516938" cy="584775"/>
          </a:xfrm>
        </p:spPr>
        <p:txBody>
          <a:bodyPr wrap="square"/>
          <a:lstStyle/>
          <a:p>
            <a:pPr>
              <a:buFont typeface="Wingdings" pitchFamily="2" charset="2"/>
              <a:buNone/>
            </a:pPr>
            <a:r>
              <a:rPr lang="zh-CN" altLang="en-US" sz="3200" dirty="0" smtClean="0">
                <a:latin typeface="微软雅黑" panose="020B0503020204020204" pitchFamily="34" charset="-122"/>
                <a:ea typeface="微软雅黑" panose="020B0503020204020204" pitchFamily="34" charset="-122"/>
              </a:rPr>
              <a:t>结论：什么是一个“好”的关系模式？</a:t>
            </a:r>
            <a:endParaRPr lang="en-US" altLang="zh-CN" sz="3200" dirty="0" smtClean="0">
              <a:latin typeface="微软雅黑" panose="020B0503020204020204" pitchFamily="34" charset="-122"/>
              <a:ea typeface="微软雅黑" panose="020B0503020204020204" pitchFamily="34" charset="-122"/>
            </a:endParaRPr>
          </a:p>
        </p:txBody>
      </p:sp>
      <p:sp>
        <p:nvSpPr>
          <p:cNvPr id="1481732" name="Rectangle 4"/>
          <p:cNvSpPr>
            <a:spLocks noGrp="1" noChangeArrowheads="1"/>
          </p:cNvSpPr>
          <p:nvPr>
            <p:ph type="body" idx="1"/>
          </p:nvPr>
        </p:nvSpPr>
        <p:spPr>
          <a:xfrm>
            <a:off x="374650" y="1411288"/>
            <a:ext cx="8208963" cy="1081087"/>
          </a:xfrm>
        </p:spPr>
        <p:txBody>
          <a:bodyPr/>
          <a:lstStyle/>
          <a:p>
            <a:pPr marL="0" indent="0">
              <a:buFont typeface="Wingdings" pitchFamily="2" charset="2"/>
              <a:buNone/>
              <a:defRPr/>
            </a:pPr>
            <a:r>
              <a:rPr lang="zh-CN" altLang="en-US" sz="2800"/>
              <a:t>要能正确而完整地体现客观现实；无过度的数据冗余；无插入异常；无删除异常；更新不复杂！</a:t>
            </a:r>
          </a:p>
        </p:txBody>
      </p:sp>
      <p:sp>
        <p:nvSpPr>
          <p:cNvPr id="13317" name="Rectangle 5"/>
          <p:cNvSpPr>
            <a:spLocks noChangeArrowheads="1"/>
          </p:cNvSpPr>
          <p:nvPr/>
        </p:nvSpPr>
        <p:spPr bwMode="auto">
          <a:xfrm>
            <a:off x="323850" y="4776788"/>
            <a:ext cx="8280400" cy="566737"/>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Aft>
                <a:spcPct val="0"/>
              </a:spcAft>
              <a:buSzTx/>
            </a:pPr>
            <a:r>
              <a:rPr kumimoji="0" lang="zh-CN" altLang="en-US">
                <a:solidFill>
                  <a:srgbClr val="FF9900"/>
                </a:solidFill>
                <a:effectLst/>
                <a:latin typeface="微软雅黑" panose="020B0503020204020204" pitchFamily="34" charset="-122"/>
                <a:ea typeface="微软雅黑" panose="020B0503020204020204" pitchFamily="34" charset="-122"/>
              </a:rPr>
              <a:t>对一个不“好”的关系模式该怎么办？</a:t>
            </a:r>
            <a:endParaRPr kumimoji="0" lang="en-US" altLang="zh-CN">
              <a:solidFill>
                <a:srgbClr val="FF9900"/>
              </a:solidFill>
              <a:effectLst/>
              <a:latin typeface="微软雅黑" panose="020B0503020204020204" pitchFamily="34" charset="-122"/>
              <a:ea typeface="微软雅黑" panose="020B0503020204020204" pitchFamily="34" charset="-122"/>
            </a:endParaRPr>
          </a:p>
        </p:txBody>
      </p:sp>
      <p:sp>
        <p:nvSpPr>
          <p:cNvPr id="1481734" name="Rectangle 6"/>
          <p:cNvSpPr>
            <a:spLocks noChangeArrowheads="1"/>
          </p:cNvSpPr>
          <p:nvPr/>
        </p:nvSpPr>
        <p:spPr bwMode="auto">
          <a:xfrm>
            <a:off x="374650" y="5399088"/>
            <a:ext cx="8208963" cy="525462"/>
          </a:xfrm>
          <a:prstGeom prst="rect">
            <a:avLst/>
          </a:prstGeom>
          <a:noFill/>
          <a:ln w="9525">
            <a:noFill/>
            <a:miter lim="800000"/>
            <a:headEnd/>
            <a:tailEnd/>
          </a:ln>
          <a:effectLst/>
        </p:spPr>
        <p:txBody>
          <a:bodyPr/>
          <a:lstStyle/>
          <a:p>
            <a:pPr>
              <a:spcAft>
                <a:spcPct val="40000"/>
              </a:spcAft>
              <a:buClr>
                <a:srgbClr val="66FF33"/>
              </a:buClr>
              <a:buSzPct val="85000"/>
              <a:defRPr/>
            </a:pPr>
            <a:r>
              <a:rPr kumimoji="0" lang="zh-CN" altLang="en-US" sz="2800">
                <a:solidFill>
                  <a:srgbClr val="CCFFCC"/>
                </a:solidFill>
                <a:effectLst>
                  <a:outerShdw blurRad="38100" dist="38100" dir="2700000" algn="tl">
                    <a:srgbClr val="000000"/>
                  </a:outerShdw>
                </a:effectLst>
                <a:latin typeface="Times New Roman" pitchFamily="18" charset="0"/>
              </a:rPr>
              <a:t>依据关系模式的规范化理论，将它</a:t>
            </a:r>
            <a:r>
              <a:rPr kumimoji="0" lang="zh-CN" altLang="en-US" sz="2800">
                <a:solidFill>
                  <a:srgbClr val="FFFF00"/>
                </a:solidFill>
                <a:effectLst>
                  <a:outerShdw blurRad="38100" dist="38100" dir="2700000" algn="tl">
                    <a:srgbClr val="000000"/>
                  </a:outerShdw>
                </a:effectLst>
                <a:latin typeface="Times New Roman" pitchFamily="18" charset="0"/>
              </a:rPr>
              <a:t>分解</a:t>
            </a:r>
            <a:r>
              <a:rPr kumimoji="0" lang="zh-CN" altLang="en-US" sz="2800">
                <a:solidFill>
                  <a:srgbClr val="CCFFCC"/>
                </a:solidFill>
                <a:effectLst>
                  <a:outerShdw blurRad="38100" dist="38100" dir="2700000" algn="tl">
                    <a:srgbClr val="000000"/>
                  </a:outerShdw>
                </a:effectLst>
                <a:latin typeface="Times New Roman" pitchFamily="18" charset="0"/>
              </a:rPr>
              <a:t>成符合某种规范化标准（范式）的</a:t>
            </a:r>
            <a:r>
              <a:rPr kumimoji="0" lang="en-US" altLang="zh-CN" sz="2800">
                <a:solidFill>
                  <a:srgbClr val="CCFFCC"/>
                </a:solidFill>
                <a:effectLst>
                  <a:outerShdw blurRad="38100" dist="38100" dir="2700000" algn="tl">
                    <a:srgbClr val="000000"/>
                  </a:outerShdw>
                </a:effectLst>
                <a:latin typeface="Times New Roman" pitchFamily="18" charset="0"/>
              </a:rPr>
              <a:t>“</a:t>
            </a:r>
            <a:r>
              <a:rPr kumimoji="0" lang="zh-CN" altLang="en-US" sz="2800">
                <a:solidFill>
                  <a:srgbClr val="CCFFCC"/>
                </a:solidFill>
                <a:effectLst>
                  <a:outerShdw blurRad="38100" dist="38100" dir="2700000" algn="tl">
                    <a:srgbClr val="000000"/>
                  </a:outerShdw>
                </a:effectLst>
                <a:latin typeface="Times New Roman" pitchFamily="18" charset="0"/>
              </a:rPr>
              <a:t>好”的关系模式集！</a:t>
            </a:r>
          </a:p>
        </p:txBody>
      </p:sp>
      <p:sp>
        <p:nvSpPr>
          <p:cNvPr id="13319" name="Rectangle 7"/>
          <p:cNvSpPr>
            <a:spLocks noChangeArrowheads="1"/>
          </p:cNvSpPr>
          <p:nvPr/>
        </p:nvSpPr>
        <p:spPr bwMode="auto">
          <a:xfrm>
            <a:off x="323850" y="2806700"/>
            <a:ext cx="8280400" cy="566738"/>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Aft>
                <a:spcPct val="0"/>
              </a:spcAft>
              <a:buSzTx/>
            </a:pPr>
            <a:r>
              <a:rPr kumimoji="0" lang="zh-CN" altLang="en-US">
                <a:solidFill>
                  <a:srgbClr val="FF9900"/>
                </a:solidFill>
                <a:effectLst/>
                <a:latin typeface="微软雅黑" panose="020B0503020204020204" pitchFamily="34" charset="-122"/>
                <a:ea typeface="微软雅黑" panose="020B0503020204020204" pitchFamily="34" charset="-122"/>
              </a:rPr>
              <a:t>影响关系模式</a:t>
            </a:r>
            <a:r>
              <a:rPr kumimoji="0" lang="en-US" altLang="zh-CN">
                <a:solidFill>
                  <a:srgbClr val="FF9900"/>
                </a:solidFill>
                <a:effectLst/>
                <a:latin typeface="微软雅黑" panose="020B0503020204020204" pitchFamily="34" charset="-122"/>
                <a:ea typeface="微软雅黑" panose="020B0503020204020204" pitchFamily="34" charset="-122"/>
              </a:rPr>
              <a:t>“</a:t>
            </a:r>
            <a:r>
              <a:rPr kumimoji="0" lang="zh-CN" altLang="en-US">
                <a:solidFill>
                  <a:srgbClr val="FF9900"/>
                </a:solidFill>
                <a:effectLst/>
                <a:latin typeface="微软雅黑" panose="020B0503020204020204" pitchFamily="34" charset="-122"/>
                <a:ea typeface="微软雅黑" panose="020B0503020204020204" pitchFamily="34" charset="-122"/>
              </a:rPr>
              <a:t>好坏”的主要因素是什么？</a:t>
            </a:r>
            <a:endParaRPr kumimoji="0" lang="en-US" altLang="zh-CN">
              <a:solidFill>
                <a:srgbClr val="FF9900"/>
              </a:solidFill>
              <a:effectLst/>
              <a:latin typeface="微软雅黑" panose="020B0503020204020204" pitchFamily="34" charset="-122"/>
              <a:ea typeface="微软雅黑" panose="020B0503020204020204" pitchFamily="34" charset="-122"/>
            </a:endParaRPr>
          </a:p>
        </p:txBody>
      </p:sp>
      <p:sp>
        <p:nvSpPr>
          <p:cNvPr id="1481736" name="Rectangle 8"/>
          <p:cNvSpPr>
            <a:spLocks noChangeArrowheads="1"/>
          </p:cNvSpPr>
          <p:nvPr/>
        </p:nvSpPr>
        <p:spPr bwMode="auto">
          <a:xfrm>
            <a:off x="395288" y="3429000"/>
            <a:ext cx="8208962" cy="647700"/>
          </a:xfrm>
          <a:prstGeom prst="rect">
            <a:avLst/>
          </a:prstGeom>
          <a:noFill/>
          <a:ln w="9525">
            <a:noFill/>
            <a:miter lim="800000"/>
            <a:headEnd/>
            <a:tailEnd/>
          </a:ln>
          <a:effectLst/>
        </p:spPr>
        <p:txBody>
          <a:bodyPr/>
          <a:lstStyle/>
          <a:p>
            <a:pPr>
              <a:spcAft>
                <a:spcPct val="40000"/>
              </a:spcAft>
              <a:buClr>
                <a:srgbClr val="66FF33"/>
              </a:buClr>
              <a:buSzPct val="85000"/>
              <a:defRPr/>
            </a:pPr>
            <a:r>
              <a:rPr kumimoji="0" lang="zh-CN" altLang="en-US" sz="2800">
                <a:solidFill>
                  <a:srgbClr val="CCFFCC"/>
                </a:solidFill>
                <a:effectLst>
                  <a:outerShdw blurRad="38100" dist="38100" dir="2700000" algn="tl">
                    <a:srgbClr val="000000"/>
                  </a:outerShdw>
                </a:effectLst>
                <a:latin typeface="Times New Roman" pitchFamily="18" charset="0"/>
              </a:rPr>
              <a:t>属性间的数据依赖！它也是关系模式规范化理论的最基本的概念。</a:t>
            </a:r>
          </a:p>
        </p:txBody>
      </p:sp>
      <p:sp>
        <p:nvSpPr>
          <p:cNvPr id="10" name="Text Box 2"/>
          <p:cNvSpPr txBox="1">
            <a:spLocks noChangeArrowheads="1"/>
          </p:cNvSpPr>
          <p:nvPr/>
        </p:nvSpPr>
        <p:spPr bwMode="auto">
          <a:xfrm>
            <a:off x="174937" y="-68263"/>
            <a:ext cx="2710211"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lvl1pPr lvl="0" defTabSz="914400" eaLnBrk="1" latinLnBrk="0" hangingPunct="1">
              <a:spcBef>
                <a:spcPts val="0"/>
              </a:spcBef>
              <a:buNone/>
              <a:defRPr sz="4000" b="1" baseline="0">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r>
              <a:rPr lang="zh-CN" altLang="en-US" dirty="0" smtClean="0"/>
              <a:t>问题的引入</a:t>
            </a:r>
            <a:endParaRPr lang="en-US" altLang="zh-CN" dirty="0" smtClean="0"/>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2754" name="Text Box 2"/>
          <p:cNvSpPr txBox="1">
            <a:spLocks noChangeArrowheads="1"/>
          </p:cNvSpPr>
          <p:nvPr/>
        </p:nvSpPr>
        <p:spPr bwMode="auto">
          <a:xfrm>
            <a:off x="179388" y="-55324"/>
            <a:ext cx="3744539" cy="760959"/>
          </a:xfrm>
          <a:prstGeom prst="rect">
            <a:avLst/>
          </a:prstGeom>
          <a:noFill/>
          <a:ln w="12700" cap="sq">
            <a:noFill/>
            <a:miter lim="800000"/>
            <a:headEnd/>
            <a:tailEnd/>
          </a:ln>
          <a:effectLst>
            <a:outerShdw dist="35921" dir="2700000" algn="ctr" rotWithShape="0">
              <a:schemeClr val="bg2"/>
            </a:outerShdw>
          </a:effectLst>
        </p:spPr>
        <p:txBody>
          <a:bodyPr wrap="square" lIns="72000" tIns="72000" rIns="72000" bIns="72000">
            <a:spAutoFit/>
          </a:bodyPr>
          <a:lstStyle/>
          <a:p>
            <a:pPr>
              <a:spcBef>
                <a:spcPts val="0"/>
              </a:spcBef>
              <a:defRPr/>
            </a:pPr>
            <a:r>
              <a:rPr lang="zh-CN" altLang="en-US" sz="4000" b="1" dirty="0" smtClean="0">
                <a:solidFill>
                  <a:srgbClr val="FFFFCC"/>
                </a:solidFill>
                <a:effectLst>
                  <a:outerShdw blurRad="38100" dist="38100" dir="2700000" algn="tl">
                    <a:srgbClr val="000000"/>
                  </a:outerShdw>
                </a:effectLst>
                <a:latin typeface="Arial" pitchFamily="34" charset="0"/>
                <a:ea typeface="微软雅黑" pitchFamily="34" charset="-122"/>
                <a:cs typeface="+mj-cs"/>
              </a:rPr>
              <a:t>函数依赖的定义</a:t>
            </a:r>
            <a:endParaRPr lang="zh-CN" altLang="en-US" sz="4000" b="1" dirty="0">
              <a:solidFill>
                <a:srgbClr val="FFFFCC"/>
              </a:solidFill>
              <a:effectLst>
                <a:outerShdw blurRad="38100" dist="38100" dir="2700000" algn="tl">
                  <a:srgbClr val="000000"/>
                </a:outerShdw>
              </a:effectLst>
              <a:latin typeface="Arial" pitchFamily="34" charset="0"/>
              <a:ea typeface="微软雅黑" pitchFamily="34" charset="-122"/>
              <a:cs typeface="+mj-cs"/>
            </a:endParaRPr>
          </a:p>
        </p:txBody>
      </p:sp>
      <p:sp>
        <p:nvSpPr>
          <p:cNvPr id="1482756" name="Rectangle 4"/>
          <p:cNvSpPr>
            <a:spLocks noChangeArrowheads="1"/>
          </p:cNvSpPr>
          <p:nvPr/>
        </p:nvSpPr>
        <p:spPr bwMode="auto">
          <a:xfrm>
            <a:off x="539750" y="953337"/>
            <a:ext cx="8208963" cy="647700"/>
          </a:xfrm>
          <a:prstGeom prst="rect">
            <a:avLst/>
          </a:prstGeom>
          <a:noFill/>
          <a:ln w="9525">
            <a:noFill/>
            <a:miter lim="800000"/>
            <a:headEnd/>
            <a:tailEnd/>
          </a:ln>
          <a:effectLst/>
        </p:spPr>
        <p:txBody>
          <a:bodyPr/>
          <a:lstStyle/>
          <a:p>
            <a:pPr>
              <a:spcAft>
                <a:spcPct val="30000"/>
              </a:spcAft>
              <a:buClr>
                <a:srgbClr val="66FF33"/>
              </a:buClr>
              <a:buSzPct val="85000"/>
              <a:defRPr/>
            </a:pPr>
            <a:r>
              <a:rPr kumimoji="0" lang="zh-CN" altLang="en-US" sz="2800" dirty="0">
                <a:solidFill>
                  <a:srgbClr val="CCFFCC"/>
                </a:solidFill>
                <a:effectLst>
                  <a:outerShdw blurRad="38100" dist="38100" dir="2700000" algn="tl">
                    <a:srgbClr val="000000"/>
                  </a:outerShdw>
                </a:effectLst>
              </a:rPr>
              <a:t>设有关系模式</a:t>
            </a:r>
            <a:r>
              <a:rPr kumimoji="0" lang="en-US" altLang="zh-CN" sz="2800" dirty="0">
                <a:solidFill>
                  <a:srgbClr val="CCFFCC"/>
                </a:solidFill>
                <a:effectLst>
                  <a:outerShdw blurRad="38100" dist="38100" dir="2700000" algn="tl">
                    <a:srgbClr val="000000"/>
                  </a:outerShdw>
                </a:effectLst>
              </a:rPr>
              <a:t>R(U)</a:t>
            </a:r>
            <a:r>
              <a:rPr kumimoji="0" lang="zh-CN" altLang="en-US" sz="2800" dirty="0">
                <a:solidFill>
                  <a:srgbClr val="CCFFCC"/>
                </a:solidFill>
                <a:effectLst>
                  <a:outerShdw blurRad="38100" dist="38100" dir="2700000" algn="tl">
                    <a:srgbClr val="000000"/>
                  </a:outerShdw>
                </a:effectLst>
              </a:rPr>
              <a:t>，</a:t>
            </a:r>
            <a:r>
              <a:rPr kumimoji="0" lang="en-US" altLang="zh-CN" sz="2800" dirty="0">
                <a:solidFill>
                  <a:srgbClr val="CCFFCC"/>
                </a:solidFill>
                <a:effectLst>
                  <a:outerShdw blurRad="38100" dist="38100" dir="2700000" algn="tl">
                    <a:srgbClr val="000000"/>
                  </a:outerShdw>
                </a:effectLst>
              </a:rPr>
              <a:t>X</a:t>
            </a:r>
            <a:r>
              <a:rPr kumimoji="0" lang="zh-CN" altLang="en-US" sz="2800" dirty="0">
                <a:solidFill>
                  <a:srgbClr val="CCFFCC"/>
                </a:solidFill>
                <a:effectLst>
                  <a:outerShdw blurRad="38100" dist="38100" dir="2700000" algn="tl">
                    <a:srgbClr val="000000"/>
                  </a:outerShdw>
                </a:effectLst>
              </a:rPr>
              <a:t>和</a:t>
            </a:r>
            <a:r>
              <a:rPr kumimoji="0" lang="en-US" altLang="zh-CN" sz="2800" dirty="0">
                <a:solidFill>
                  <a:srgbClr val="CCFFCC"/>
                </a:solidFill>
                <a:effectLst>
                  <a:outerShdw blurRad="38100" dist="38100" dir="2700000" algn="tl">
                    <a:srgbClr val="000000"/>
                  </a:outerShdw>
                </a:effectLst>
              </a:rPr>
              <a:t>Y</a:t>
            </a:r>
            <a:r>
              <a:rPr kumimoji="0" lang="zh-CN" altLang="en-US" sz="2800" dirty="0">
                <a:solidFill>
                  <a:srgbClr val="CCFFCC"/>
                </a:solidFill>
                <a:effectLst>
                  <a:outerShdw blurRad="38100" dist="38100" dir="2700000" algn="tl">
                    <a:srgbClr val="000000"/>
                  </a:outerShdw>
                </a:effectLst>
              </a:rPr>
              <a:t>是</a:t>
            </a:r>
            <a:r>
              <a:rPr kumimoji="0" lang="en-US" altLang="zh-CN" sz="2800" dirty="0">
                <a:solidFill>
                  <a:srgbClr val="CCFFCC"/>
                </a:solidFill>
                <a:effectLst>
                  <a:outerShdw blurRad="38100" dist="38100" dir="2700000" algn="tl">
                    <a:srgbClr val="000000"/>
                  </a:outerShdw>
                </a:effectLst>
              </a:rPr>
              <a:t>U</a:t>
            </a:r>
            <a:r>
              <a:rPr kumimoji="0" lang="zh-CN" altLang="en-US" sz="2800" dirty="0">
                <a:solidFill>
                  <a:srgbClr val="CCFFCC"/>
                </a:solidFill>
                <a:effectLst>
                  <a:outerShdw blurRad="38100" dist="38100" dir="2700000" algn="tl">
                    <a:srgbClr val="000000"/>
                  </a:outerShdw>
                </a:effectLst>
              </a:rPr>
              <a:t>的子集。若对</a:t>
            </a:r>
            <a:r>
              <a:rPr kumimoji="0" lang="en-US" altLang="zh-CN" sz="2800" dirty="0">
                <a:solidFill>
                  <a:srgbClr val="CCFFCC"/>
                </a:solidFill>
                <a:effectLst>
                  <a:outerShdw blurRad="38100" dist="38100" dir="2700000" algn="tl">
                    <a:srgbClr val="000000"/>
                  </a:outerShdw>
                </a:effectLst>
              </a:rPr>
              <a:t>R(U)</a:t>
            </a:r>
            <a:r>
              <a:rPr kumimoji="0" lang="zh-CN" altLang="en-US" sz="2800" dirty="0">
                <a:solidFill>
                  <a:srgbClr val="CCFFCC"/>
                </a:solidFill>
                <a:effectLst>
                  <a:outerShdw blurRad="38100" dist="38100" dir="2700000" algn="tl">
                    <a:srgbClr val="000000"/>
                  </a:outerShdw>
                </a:effectLst>
              </a:rPr>
              <a:t>的</a:t>
            </a:r>
            <a:r>
              <a:rPr kumimoji="0" lang="zh-CN" altLang="en-US" sz="2800" dirty="0">
                <a:solidFill>
                  <a:srgbClr val="00FFFF"/>
                </a:solidFill>
                <a:effectLst>
                  <a:outerShdw blurRad="38100" dist="38100" dir="2700000" algn="tl">
                    <a:srgbClr val="000000"/>
                  </a:outerShdw>
                </a:effectLst>
              </a:rPr>
              <a:t>任一具体关系</a:t>
            </a:r>
            <a:r>
              <a:rPr kumimoji="0" lang="en-US" altLang="zh-CN" sz="2800" dirty="0">
                <a:solidFill>
                  <a:srgbClr val="00FFFF"/>
                </a:solidFill>
                <a:effectLst>
                  <a:outerShdw blurRad="38100" dist="38100" dir="2700000" algn="tl">
                    <a:srgbClr val="000000"/>
                  </a:outerShdw>
                </a:effectLst>
              </a:rPr>
              <a:t>r</a:t>
            </a:r>
            <a:r>
              <a:rPr kumimoji="0" lang="zh-CN" altLang="en-US" sz="2800" dirty="0">
                <a:solidFill>
                  <a:srgbClr val="CCFFCC"/>
                </a:solidFill>
                <a:effectLst>
                  <a:outerShdw blurRad="38100" dist="38100" dir="2700000" algn="tl">
                    <a:srgbClr val="000000"/>
                  </a:outerShdw>
                </a:effectLst>
              </a:rPr>
              <a:t>中的任意两个元组</a:t>
            </a:r>
            <a:r>
              <a:rPr kumimoji="0" lang="en-US" altLang="zh-CN" sz="2800" dirty="0">
                <a:solidFill>
                  <a:srgbClr val="CCFFCC"/>
                </a:solidFill>
                <a:effectLst>
                  <a:outerShdw blurRad="38100" dist="38100" dir="2700000" algn="tl">
                    <a:srgbClr val="000000"/>
                  </a:outerShdw>
                </a:effectLst>
              </a:rPr>
              <a:t>u</a:t>
            </a:r>
            <a:r>
              <a:rPr kumimoji="0" lang="zh-CN" altLang="en-US" sz="2800" dirty="0">
                <a:solidFill>
                  <a:srgbClr val="CCFFCC"/>
                </a:solidFill>
                <a:effectLst>
                  <a:outerShdw blurRad="38100" dist="38100" dir="2700000" algn="tl">
                    <a:srgbClr val="000000"/>
                  </a:outerShdw>
                </a:effectLst>
              </a:rPr>
              <a:t>和</a:t>
            </a:r>
            <a:r>
              <a:rPr kumimoji="0" lang="en-US" altLang="zh-CN" sz="2800" dirty="0">
                <a:solidFill>
                  <a:srgbClr val="CCFFCC"/>
                </a:solidFill>
                <a:effectLst>
                  <a:outerShdw blurRad="38100" dist="38100" dir="2700000" algn="tl">
                    <a:srgbClr val="000000"/>
                  </a:outerShdw>
                </a:effectLst>
              </a:rPr>
              <a:t>v</a:t>
            </a:r>
            <a:r>
              <a:rPr kumimoji="0" lang="zh-CN" altLang="en-US" sz="2800" dirty="0">
                <a:solidFill>
                  <a:srgbClr val="CCFFCC"/>
                </a:solidFill>
                <a:effectLst>
                  <a:outerShdw blurRad="38100" dist="38100" dir="2700000" algn="tl">
                    <a:srgbClr val="000000"/>
                  </a:outerShdw>
                </a:effectLst>
              </a:rPr>
              <a:t>，只要</a:t>
            </a:r>
            <a:r>
              <a:rPr kumimoji="0" lang="en-US" altLang="zh-CN" sz="2800" dirty="0">
                <a:solidFill>
                  <a:srgbClr val="CCFFCC"/>
                </a:solidFill>
                <a:effectLst>
                  <a:outerShdw blurRad="38100" dist="38100" dir="2700000" algn="tl">
                    <a:srgbClr val="000000"/>
                  </a:outerShdw>
                </a:effectLst>
              </a:rPr>
              <a:t>u[X]=v[X]</a:t>
            </a:r>
            <a:r>
              <a:rPr kumimoji="0" lang="zh-CN" altLang="en-US" sz="2800" dirty="0">
                <a:solidFill>
                  <a:srgbClr val="CCFFCC"/>
                </a:solidFill>
                <a:effectLst>
                  <a:outerShdw blurRad="38100" dist="38100" dir="2700000" algn="tl">
                    <a:srgbClr val="000000"/>
                  </a:outerShdw>
                </a:effectLst>
              </a:rPr>
              <a:t>就有</a:t>
            </a:r>
            <a:r>
              <a:rPr kumimoji="0" lang="en-US" altLang="zh-CN" sz="2800" dirty="0">
                <a:solidFill>
                  <a:srgbClr val="CCFFCC"/>
                </a:solidFill>
                <a:effectLst>
                  <a:outerShdw blurRad="38100" dist="38100" dir="2700000" algn="tl">
                    <a:srgbClr val="000000"/>
                  </a:outerShdw>
                </a:effectLst>
              </a:rPr>
              <a:t>u[Y]=v[Y]</a:t>
            </a:r>
            <a:r>
              <a:rPr kumimoji="0" lang="zh-CN" altLang="en-US" sz="2800" dirty="0">
                <a:solidFill>
                  <a:srgbClr val="CCFFCC"/>
                </a:solidFill>
                <a:effectLst>
                  <a:outerShdw blurRad="38100" dist="38100" dir="2700000" algn="tl">
                    <a:srgbClr val="000000"/>
                  </a:outerShdw>
                </a:effectLst>
              </a:rPr>
              <a:t>，则称</a:t>
            </a:r>
            <a:r>
              <a:rPr kumimoji="0" lang="en-US" altLang="zh-CN" sz="2800" dirty="0">
                <a:solidFill>
                  <a:srgbClr val="FFFF00"/>
                </a:solidFill>
                <a:effectLst>
                  <a:outerShdw blurRad="38100" dist="38100" dir="2700000" algn="tl">
                    <a:srgbClr val="000000"/>
                  </a:outerShdw>
                </a:effectLst>
              </a:rPr>
              <a:t>X</a:t>
            </a:r>
            <a:r>
              <a:rPr kumimoji="0" lang="zh-CN" altLang="en-US" sz="2800" dirty="0">
                <a:solidFill>
                  <a:srgbClr val="FFFF00"/>
                </a:solidFill>
                <a:effectLst>
                  <a:outerShdw blurRad="38100" dist="38100" dir="2700000" algn="tl">
                    <a:srgbClr val="000000"/>
                  </a:outerShdw>
                </a:effectLst>
              </a:rPr>
              <a:t>函数决定</a:t>
            </a:r>
            <a:r>
              <a:rPr kumimoji="0" lang="en-US" altLang="zh-CN" sz="2800" dirty="0">
                <a:solidFill>
                  <a:srgbClr val="FFFF00"/>
                </a:solidFill>
                <a:effectLst>
                  <a:outerShdw blurRad="38100" dist="38100" dir="2700000" algn="tl">
                    <a:srgbClr val="000000"/>
                  </a:outerShdw>
                </a:effectLst>
              </a:rPr>
              <a:t>Y</a:t>
            </a:r>
            <a:r>
              <a:rPr kumimoji="0" lang="zh-CN" altLang="en-US" sz="2800" dirty="0">
                <a:solidFill>
                  <a:srgbClr val="CCFFCC"/>
                </a:solidFill>
                <a:effectLst>
                  <a:outerShdw blurRad="38100" dist="38100" dir="2700000" algn="tl">
                    <a:srgbClr val="000000"/>
                  </a:outerShdw>
                </a:effectLst>
              </a:rPr>
              <a:t>或</a:t>
            </a:r>
            <a:r>
              <a:rPr kumimoji="0" lang="en-US" altLang="zh-CN" sz="2800" dirty="0">
                <a:solidFill>
                  <a:srgbClr val="FFFF00"/>
                </a:solidFill>
                <a:effectLst>
                  <a:outerShdw blurRad="38100" dist="38100" dir="2700000" algn="tl">
                    <a:srgbClr val="000000"/>
                  </a:outerShdw>
                </a:effectLst>
              </a:rPr>
              <a:t>Y</a:t>
            </a:r>
            <a:r>
              <a:rPr kumimoji="0" lang="zh-CN" altLang="en-US" sz="2800" dirty="0">
                <a:solidFill>
                  <a:srgbClr val="FFFF00"/>
                </a:solidFill>
                <a:effectLst>
                  <a:outerShdw blurRad="38100" dist="38100" dir="2700000" algn="tl">
                    <a:srgbClr val="000000"/>
                  </a:outerShdw>
                </a:effectLst>
              </a:rPr>
              <a:t>函数依赖于</a:t>
            </a:r>
            <a:r>
              <a:rPr kumimoji="0" lang="en-US" altLang="zh-CN" sz="2800" dirty="0">
                <a:solidFill>
                  <a:srgbClr val="FFFF00"/>
                </a:solidFill>
                <a:effectLst>
                  <a:outerShdw blurRad="38100" dist="38100" dir="2700000" algn="tl">
                    <a:srgbClr val="000000"/>
                  </a:outerShdw>
                </a:effectLst>
              </a:rPr>
              <a:t>X</a:t>
            </a:r>
            <a:r>
              <a:rPr kumimoji="0" lang="zh-CN" altLang="en-US" sz="2800" dirty="0">
                <a:solidFill>
                  <a:srgbClr val="CCFFCC"/>
                </a:solidFill>
                <a:effectLst>
                  <a:outerShdw blurRad="38100" dist="38100" dir="2700000" algn="tl">
                    <a:srgbClr val="000000"/>
                  </a:outerShdw>
                </a:effectLst>
              </a:rPr>
              <a:t>，记作</a:t>
            </a:r>
            <a:r>
              <a:rPr kumimoji="0" lang="en-US" altLang="zh-CN" sz="2800" b="1" dirty="0">
                <a:solidFill>
                  <a:srgbClr val="FFFF00"/>
                </a:solidFill>
                <a:effectLst>
                  <a:outerShdw blurRad="38100" dist="38100" dir="2700000" algn="tl">
                    <a:srgbClr val="000000"/>
                  </a:outerShdw>
                </a:effectLst>
              </a:rPr>
              <a:t>X→Y</a:t>
            </a:r>
            <a:r>
              <a:rPr kumimoji="0" lang="zh-CN" altLang="en-US" sz="2800" dirty="0">
                <a:solidFill>
                  <a:srgbClr val="CCFFCC"/>
                </a:solidFill>
                <a:effectLst>
                  <a:outerShdw blurRad="38100" dist="38100" dir="2700000" algn="tl">
                    <a:srgbClr val="000000"/>
                  </a:outerShdw>
                </a:effectLst>
              </a:rPr>
              <a:t>。</a:t>
            </a:r>
          </a:p>
        </p:txBody>
      </p:sp>
      <p:graphicFrame>
        <p:nvGraphicFramePr>
          <p:cNvPr id="1482757" name="Group 5"/>
          <p:cNvGraphicFramePr>
            <a:graphicFrameLocks noGrp="1"/>
          </p:cNvGraphicFramePr>
          <p:nvPr/>
        </p:nvGraphicFramePr>
        <p:xfrm>
          <a:off x="5253038" y="3068638"/>
          <a:ext cx="3351212" cy="2438400"/>
        </p:xfrm>
        <a:graphic>
          <a:graphicData uri="http://schemas.openxmlformats.org/drawingml/2006/table">
            <a:tbl>
              <a:tblPr/>
              <a:tblGrid>
                <a:gridCol w="820737">
                  <a:extLst>
                    <a:ext uri="{9D8B030D-6E8A-4147-A177-3AD203B41FA5}">
                      <a16:colId xmlns:a16="http://schemas.microsoft.com/office/drawing/2014/main" val="20000"/>
                    </a:ext>
                  </a:extLst>
                </a:gridCol>
                <a:gridCol w="758825">
                  <a:extLst>
                    <a:ext uri="{9D8B030D-6E8A-4147-A177-3AD203B41FA5}">
                      <a16:colId xmlns:a16="http://schemas.microsoft.com/office/drawing/2014/main" val="20001"/>
                    </a:ext>
                  </a:extLst>
                </a:gridCol>
                <a:gridCol w="569913">
                  <a:extLst>
                    <a:ext uri="{9D8B030D-6E8A-4147-A177-3AD203B41FA5}">
                      <a16:colId xmlns:a16="http://schemas.microsoft.com/office/drawing/2014/main" val="20002"/>
                    </a:ext>
                  </a:extLst>
                </a:gridCol>
                <a:gridCol w="569912">
                  <a:extLst>
                    <a:ext uri="{9D8B030D-6E8A-4147-A177-3AD203B41FA5}">
                      <a16:colId xmlns:a16="http://schemas.microsoft.com/office/drawing/2014/main" val="20003"/>
                    </a:ext>
                  </a:extLst>
                </a:gridCol>
                <a:gridCol w="631825">
                  <a:extLst>
                    <a:ext uri="{9D8B030D-6E8A-4147-A177-3AD203B41FA5}">
                      <a16:colId xmlns:a16="http://schemas.microsoft.com/office/drawing/2014/main" val="20004"/>
                    </a:ext>
                  </a:extLst>
                </a:gridCol>
              </a:tblGrid>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Sno</a:t>
                      </a:r>
                    </a:p>
                  </a:txBody>
                  <a:tcPr marL="0" marR="0" marT="0" marB="0"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Sname</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Ssex</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Sage</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Sdep</a:t>
                      </a:r>
                    </a:p>
                  </a:txBody>
                  <a:tcPr marL="0" marR="0" marT="0" marB="0"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98001</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张明</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29</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24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98002</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李华</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30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7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98003</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王军</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28</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24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98004</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孙六</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27</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98005</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赵龙</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18</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524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98006</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李华</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22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98007</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钟伟</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19</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99"/>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1482827" name="Rectangle 75"/>
          <p:cNvSpPr>
            <a:spLocks noChangeArrowheads="1"/>
          </p:cNvSpPr>
          <p:nvPr/>
        </p:nvSpPr>
        <p:spPr bwMode="auto">
          <a:xfrm>
            <a:off x="587375" y="3031750"/>
            <a:ext cx="4464050" cy="647700"/>
          </a:xfrm>
          <a:prstGeom prst="rect">
            <a:avLst/>
          </a:prstGeom>
          <a:noFill/>
          <a:ln w="9525">
            <a:noFill/>
            <a:miter lim="800000"/>
            <a:headEnd/>
            <a:tailEnd/>
          </a:ln>
          <a:effectLst/>
        </p:spPr>
        <p:txBody>
          <a:bodyPr/>
          <a:lstStyle/>
          <a:p>
            <a:pPr>
              <a:spcAft>
                <a:spcPct val="50000"/>
              </a:spcAft>
              <a:buClr>
                <a:srgbClr val="66FF33"/>
              </a:buClr>
              <a:buSzPct val="85000"/>
              <a:defRPr/>
            </a:pPr>
            <a:r>
              <a:rPr kumimoji="0" lang="en-US" altLang="zh-CN" sz="2800" dirty="0">
                <a:solidFill>
                  <a:srgbClr val="CCFFCC"/>
                </a:solidFill>
                <a:effectLst>
                  <a:outerShdw blurRad="38100" dist="38100" dir="2700000" algn="tl">
                    <a:srgbClr val="000000"/>
                  </a:outerShdw>
                </a:effectLst>
              </a:rPr>
              <a:t>X→Y</a:t>
            </a:r>
            <a:r>
              <a:rPr kumimoji="0" lang="zh-CN" altLang="en-US" sz="2800" dirty="0">
                <a:solidFill>
                  <a:srgbClr val="CCFFCC"/>
                </a:solidFill>
                <a:effectLst>
                  <a:outerShdw blurRad="38100" dist="38100" dir="2700000" algn="tl">
                    <a:srgbClr val="000000"/>
                  </a:outerShdw>
                </a:effectLst>
              </a:rPr>
              <a:t>意为元组的</a:t>
            </a:r>
            <a:r>
              <a:rPr kumimoji="0" lang="en-US" altLang="zh-CN" sz="2800" dirty="0">
                <a:solidFill>
                  <a:srgbClr val="CCFFCC"/>
                </a:solidFill>
                <a:effectLst>
                  <a:outerShdw blurRad="38100" dist="38100" dir="2700000" algn="tl">
                    <a:srgbClr val="000000"/>
                  </a:outerShdw>
                </a:effectLst>
              </a:rPr>
              <a:t>X</a:t>
            </a:r>
            <a:r>
              <a:rPr kumimoji="0" lang="zh-CN" altLang="en-US" sz="2800" dirty="0">
                <a:solidFill>
                  <a:srgbClr val="CCFFCC"/>
                </a:solidFill>
                <a:effectLst>
                  <a:outerShdw blurRad="38100" dist="38100" dir="2700000" algn="tl">
                    <a:srgbClr val="000000"/>
                  </a:outerShdw>
                </a:effectLst>
              </a:rPr>
              <a:t>值一经确定则它的</a:t>
            </a:r>
            <a:r>
              <a:rPr kumimoji="0" lang="en-US" altLang="zh-CN" sz="2800" dirty="0">
                <a:solidFill>
                  <a:srgbClr val="CCFFCC"/>
                </a:solidFill>
                <a:effectLst>
                  <a:outerShdw blurRad="38100" dist="38100" dir="2700000" algn="tl">
                    <a:srgbClr val="000000"/>
                  </a:outerShdw>
                </a:effectLst>
              </a:rPr>
              <a:t>Y</a:t>
            </a:r>
            <a:r>
              <a:rPr kumimoji="0" lang="zh-CN" altLang="en-US" sz="2800" dirty="0">
                <a:solidFill>
                  <a:srgbClr val="CCFFCC"/>
                </a:solidFill>
                <a:effectLst>
                  <a:outerShdw blurRad="38100" dist="38100" dir="2700000" algn="tl">
                    <a:srgbClr val="000000"/>
                  </a:outerShdw>
                </a:effectLst>
              </a:rPr>
              <a:t>值也随之确定。</a:t>
            </a:r>
          </a:p>
          <a:p>
            <a:pPr>
              <a:spcAft>
                <a:spcPct val="50000"/>
              </a:spcAft>
              <a:buClr>
                <a:srgbClr val="66FF33"/>
              </a:buClr>
              <a:buSzPct val="85000"/>
              <a:defRPr/>
            </a:pPr>
            <a:r>
              <a:rPr kumimoji="0" lang="zh-CN" altLang="en-US" sz="2800" dirty="0">
                <a:solidFill>
                  <a:srgbClr val="CCFFCC"/>
                </a:solidFill>
                <a:effectLst>
                  <a:outerShdw blurRad="38100" dist="38100" dir="2700000" algn="tl">
                    <a:srgbClr val="000000"/>
                  </a:outerShdw>
                </a:effectLst>
              </a:rPr>
              <a:t>或者说，不可能存在</a:t>
            </a:r>
            <a:r>
              <a:rPr kumimoji="0" lang="en-US" altLang="zh-CN" sz="2800" dirty="0">
                <a:solidFill>
                  <a:srgbClr val="CCFFCC"/>
                </a:solidFill>
                <a:effectLst>
                  <a:outerShdw blurRad="38100" dist="38100" dir="2700000" algn="tl">
                    <a:srgbClr val="000000"/>
                  </a:outerShdw>
                </a:effectLst>
              </a:rPr>
              <a:t>X</a:t>
            </a:r>
            <a:r>
              <a:rPr kumimoji="0" lang="zh-CN" altLang="en-US" sz="2800" dirty="0">
                <a:solidFill>
                  <a:srgbClr val="CCFFCC"/>
                </a:solidFill>
                <a:effectLst>
                  <a:outerShdw blurRad="38100" dist="38100" dir="2700000" algn="tl">
                    <a:srgbClr val="000000"/>
                  </a:outerShdw>
                </a:effectLst>
              </a:rPr>
              <a:t>上的属性值相等，而在</a:t>
            </a:r>
            <a:r>
              <a:rPr kumimoji="0" lang="en-US" altLang="zh-CN" sz="2800" dirty="0">
                <a:solidFill>
                  <a:srgbClr val="CCFFCC"/>
                </a:solidFill>
                <a:effectLst>
                  <a:outerShdw blurRad="38100" dist="38100" dir="2700000" algn="tl">
                    <a:srgbClr val="000000"/>
                  </a:outerShdw>
                </a:effectLst>
              </a:rPr>
              <a:t>Y</a:t>
            </a:r>
            <a:r>
              <a:rPr kumimoji="0" lang="zh-CN" altLang="en-US" sz="2800" dirty="0">
                <a:solidFill>
                  <a:srgbClr val="CCFFCC"/>
                </a:solidFill>
                <a:effectLst>
                  <a:outerShdw blurRad="38100" dist="38100" dir="2700000" algn="tl">
                    <a:srgbClr val="000000"/>
                  </a:outerShdw>
                </a:effectLst>
              </a:rPr>
              <a:t>上的属性值不等的两个元组。</a:t>
            </a:r>
          </a:p>
        </p:txBody>
      </p:sp>
      <p:sp>
        <p:nvSpPr>
          <p:cNvPr id="1482828" name="Rectangle 76"/>
          <p:cNvSpPr>
            <a:spLocks noChangeArrowheads="1"/>
          </p:cNvSpPr>
          <p:nvPr/>
        </p:nvSpPr>
        <p:spPr bwMode="auto">
          <a:xfrm>
            <a:off x="590550" y="5757863"/>
            <a:ext cx="7966075" cy="569912"/>
          </a:xfrm>
          <a:prstGeom prst="rect">
            <a:avLst/>
          </a:prstGeom>
          <a:noFill/>
          <a:ln w="12700" cap="sq">
            <a:noFill/>
            <a:miter lim="800000"/>
            <a:headEnd/>
            <a:tailEnd/>
          </a:ln>
          <a:effectLst/>
        </p:spPr>
        <p:txBody>
          <a:bodyPr wrap="none" lIns="72000" tIns="72000" rIns="72000" bIns="72000">
            <a:spAutoFit/>
          </a:bodyPr>
          <a:lstStyle/>
          <a:p>
            <a:pPr>
              <a:spcAft>
                <a:spcPct val="0"/>
              </a:spcAft>
              <a:buSzTx/>
              <a:buFontTx/>
              <a:buNone/>
              <a:defRPr/>
            </a:pPr>
            <a:r>
              <a:rPr kumimoji="0" lang="zh-CN" altLang="en-US" sz="2800">
                <a:solidFill>
                  <a:srgbClr val="99FF33"/>
                </a:solidFill>
                <a:effectLst>
                  <a:outerShdw blurRad="38100" dist="38100" dir="2700000" algn="tl">
                    <a:srgbClr val="000000"/>
                  </a:outerShdw>
                </a:effectLst>
              </a:rPr>
              <a:t>例如</a:t>
            </a:r>
            <a:r>
              <a:rPr kumimoji="0" lang="en-US" altLang="zh-CN" sz="2800">
                <a:solidFill>
                  <a:srgbClr val="99FF33"/>
                </a:solidFill>
                <a:effectLst>
                  <a:outerShdw blurRad="38100" dist="38100" dir="2700000" algn="tl">
                    <a:srgbClr val="000000"/>
                  </a:outerShdw>
                </a:effectLst>
              </a:rPr>
              <a:t>Sno→Sname</a:t>
            </a:r>
            <a:r>
              <a:rPr kumimoji="0" lang="zh-CN" altLang="en-US" sz="2800">
                <a:solidFill>
                  <a:srgbClr val="99FF33"/>
                </a:solidFill>
                <a:effectLst>
                  <a:outerShdw blurRad="38100" dist="38100" dir="2700000" algn="tl">
                    <a:srgbClr val="000000"/>
                  </a:outerShdw>
                </a:effectLst>
              </a:rPr>
              <a:t>， </a:t>
            </a:r>
            <a:r>
              <a:rPr kumimoji="0" lang="en-US" altLang="zh-CN" sz="2800">
                <a:solidFill>
                  <a:srgbClr val="99FF33"/>
                </a:solidFill>
                <a:effectLst>
                  <a:outerShdw blurRad="38100" dist="38100" dir="2700000" algn="tl">
                    <a:srgbClr val="000000"/>
                  </a:outerShdw>
                </a:effectLst>
              </a:rPr>
              <a:t>Sno→(Sname,Ssex,Sage,Sdep)</a:t>
            </a:r>
            <a:endParaRPr kumimoji="0" lang="zh-CN" altLang="en-US" sz="2800">
              <a:solidFill>
                <a:srgbClr val="99FF33"/>
              </a:solidFill>
              <a:effectLst>
                <a:outerShdw blurRad="38100" dist="38100" dir="2700000" algn="tl">
                  <a:srgbClr val="000000"/>
                </a:outerShdw>
              </a:effectLst>
            </a:endParaRP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382842" y="2924274"/>
            <a:ext cx="604982" cy="491732"/>
            <a:chOff x="4369719" y="620688"/>
            <a:chExt cx="604982" cy="491732"/>
          </a:xfrm>
        </p:grpSpPr>
        <p:sp>
          <p:nvSpPr>
            <p:cNvPr id="1483785" name="Rectangle 9"/>
            <p:cNvSpPr>
              <a:spLocks noChangeArrowheads="1"/>
            </p:cNvSpPr>
            <p:nvPr/>
          </p:nvSpPr>
          <p:spPr bwMode="auto">
            <a:xfrm>
              <a:off x="4369719" y="620688"/>
              <a:ext cx="604982" cy="491732"/>
            </a:xfrm>
            <a:prstGeom prst="rect">
              <a:avLst/>
            </a:prstGeom>
            <a:noFill/>
            <a:ln w="12700" cap="sq">
              <a:noFill/>
              <a:miter lim="800000"/>
              <a:headEnd/>
              <a:tailEnd/>
            </a:ln>
            <a:effectLst/>
          </p:spPr>
          <p:txBody>
            <a:bodyPr wrap="none" lIns="72000" tIns="72000" rIns="72000" bIns="72000">
              <a:noAutofit/>
            </a:bodyPr>
            <a:lstStyle/>
            <a:p>
              <a:pPr>
                <a:spcAft>
                  <a:spcPct val="0"/>
                </a:spcAft>
                <a:buSzTx/>
                <a:buFontTx/>
                <a:buNone/>
                <a:defRPr/>
              </a:pPr>
              <a:r>
                <a:rPr lang="en-US" altLang="zh-CN" sz="2800" dirty="0">
                  <a:solidFill>
                    <a:srgbClr val="CCFFCC"/>
                  </a:solidFill>
                  <a:effectLst/>
                  <a:sym typeface="Symbol" pitchFamily="18" charset="2"/>
                </a:rPr>
                <a:t></a:t>
              </a:r>
              <a:endParaRPr lang="zh-CN" altLang="en-US" sz="2800" dirty="0">
                <a:solidFill>
                  <a:srgbClr val="CCFFCC"/>
                </a:solidFill>
                <a:effectLst/>
                <a:sym typeface="Symbol" pitchFamily="18" charset="2"/>
              </a:endParaRPr>
            </a:p>
          </p:txBody>
        </p:sp>
        <p:sp>
          <p:nvSpPr>
            <p:cNvPr id="1483784" name="Line 8"/>
            <p:cNvSpPr>
              <a:spLocks noChangeShapeType="1"/>
            </p:cNvSpPr>
            <p:nvPr/>
          </p:nvSpPr>
          <p:spPr bwMode="auto">
            <a:xfrm>
              <a:off x="4506514" y="866554"/>
              <a:ext cx="165696" cy="245866"/>
            </a:xfrm>
            <a:prstGeom prst="line">
              <a:avLst/>
            </a:prstGeom>
            <a:noFill/>
            <a:ln w="19050" cap="sq">
              <a:solidFill>
                <a:srgbClr val="CCFFCC"/>
              </a:solidFill>
              <a:round/>
              <a:headEnd/>
              <a:tailEnd/>
            </a:ln>
            <a:effectLst/>
          </p:spPr>
          <p:txBody>
            <a:bodyPr wrap="none" lIns="0" tIns="0" rIns="0" bIns="0" anchor="ctr"/>
            <a:lstStyle/>
            <a:p>
              <a:pPr>
                <a:defRPr/>
              </a:pPr>
              <a:endParaRPr lang="zh-CN" altLang="en-US"/>
            </a:p>
          </p:txBody>
        </p:sp>
      </p:grpSp>
      <p:sp>
        <p:nvSpPr>
          <p:cNvPr id="1483781" name="Rectangle 5"/>
          <p:cNvSpPr>
            <a:spLocks noChangeArrowheads="1"/>
          </p:cNvSpPr>
          <p:nvPr/>
        </p:nvSpPr>
        <p:spPr bwMode="auto">
          <a:xfrm>
            <a:off x="539750" y="980728"/>
            <a:ext cx="8208963" cy="647700"/>
          </a:xfrm>
          <a:prstGeom prst="rect">
            <a:avLst/>
          </a:prstGeom>
          <a:noFill/>
          <a:ln w="9525">
            <a:noFill/>
            <a:miter lim="800000"/>
            <a:headEnd/>
            <a:tailEnd/>
          </a:ln>
          <a:effectLst/>
        </p:spPr>
        <p:txBody>
          <a:bodyPr/>
          <a:lstStyle/>
          <a:p>
            <a:pPr>
              <a:buClr>
                <a:srgbClr val="66FF33"/>
              </a:buClr>
              <a:buSzPct val="85000"/>
              <a:defRPr/>
            </a:pPr>
            <a:r>
              <a:rPr kumimoji="0" lang="zh-CN" altLang="en-US" sz="2800" dirty="0">
                <a:solidFill>
                  <a:srgbClr val="CCFFCC"/>
                </a:solidFill>
                <a:effectLst>
                  <a:outerShdw blurRad="38100" dist="38100" dir="2700000" algn="tl">
                    <a:srgbClr val="000000"/>
                  </a:outerShdw>
                </a:effectLst>
              </a:rPr>
              <a:t>若</a:t>
            </a:r>
            <a:r>
              <a:rPr kumimoji="0" lang="en-US" altLang="zh-CN" sz="2800" dirty="0">
                <a:solidFill>
                  <a:srgbClr val="CCFFCC"/>
                </a:solidFill>
                <a:effectLst>
                  <a:outerShdw blurRad="38100" dist="38100" dir="2700000" algn="tl">
                    <a:srgbClr val="000000"/>
                  </a:outerShdw>
                </a:effectLst>
              </a:rPr>
              <a:t>X→Y</a:t>
            </a:r>
            <a:r>
              <a:rPr kumimoji="0" lang="zh-CN" altLang="en-US" sz="2800" dirty="0">
                <a:solidFill>
                  <a:srgbClr val="CCFFCC"/>
                </a:solidFill>
                <a:effectLst>
                  <a:outerShdw blurRad="38100" dist="38100" dir="2700000" algn="tl">
                    <a:srgbClr val="000000"/>
                  </a:outerShdw>
                </a:effectLst>
              </a:rPr>
              <a:t>，则称</a:t>
            </a:r>
            <a:r>
              <a:rPr kumimoji="0" lang="en-US" altLang="zh-CN" sz="2800" dirty="0">
                <a:solidFill>
                  <a:srgbClr val="CCFFCC"/>
                </a:solidFill>
                <a:effectLst>
                  <a:outerShdw blurRad="38100" dist="38100" dir="2700000" algn="tl">
                    <a:srgbClr val="000000"/>
                  </a:outerShdw>
                </a:effectLst>
              </a:rPr>
              <a:t>X</a:t>
            </a:r>
            <a:r>
              <a:rPr kumimoji="0" lang="zh-CN" altLang="en-US" sz="2800" dirty="0">
                <a:solidFill>
                  <a:srgbClr val="CCFFCC"/>
                </a:solidFill>
                <a:effectLst>
                  <a:outerShdw blurRad="38100" dist="38100" dir="2700000" algn="tl">
                    <a:srgbClr val="000000"/>
                  </a:outerShdw>
                </a:effectLst>
              </a:rPr>
              <a:t>为该函数依赖的</a:t>
            </a:r>
            <a:r>
              <a:rPr kumimoji="0" lang="zh-CN" altLang="en-US" sz="2800" dirty="0">
                <a:solidFill>
                  <a:srgbClr val="FFFF00"/>
                </a:solidFill>
                <a:effectLst>
                  <a:outerShdw blurRad="38100" dist="38100" dir="2700000" algn="tl">
                    <a:srgbClr val="000000"/>
                  </a:outerShdw>
                </a:effectLst>
              </a:rPr>
              <a:t>决定因子</a:t>
            </a:r>
            <a:r>
              <a:rPr kumimoji="0" lang="zh-CN" altLang="en-US" sz="2800" dirty="0" smtClean="0">
                <a:solidFill>
                  <a:srgbClr val="CCFFCC"/>
                </a:solidFill>
                <a:effectLst>
                  <a:outerShdw blurRad="38100" dist="38100" dir="2700000" algn="tl">
                    <a:srgbClr val="000000"/>
                  </a:outerShdw>
                </a:effectLst>
              </a:rPr>
              <a:t>。相应的</a:t>
            </a:r>
            <a:r>
              <a:rPr kumimoji="0" lang="en-US" altLang="zh-CN" sz="2800" dirty="0" smtClean="0">
                <a:solidFill>
                  <a:srgbClr val="CCFFCC"/>
                </a:solidFill>
                <a:effectLst>
                  <a:outerShdw blurRad="38100" dist="38100" dir="2700000" algn="tl">
                    <a:srgbClr val="000000"/>
                  </a:outerShdw>
                </a:effectLst>
              </a:rPr>
              <a:t>Y</a:t>
            </a:r>
            <a:r>
              <a:rPr kumimoji="0" lang="zh-CN" altLang="en-US" sz="2800" dirty="0" smtClean="0">
                <a:solidFill>
                  <a:srgbClr val="CCFFCC"/>
                </a:solidFill>
                <a:effectLst>
                  <a:outerShdw blurRad="38100" dist="38100" dir="2700000" algn="tl">
                    <a:srgbClr val="000000"/>
                  </a:outerShdw>
                </a:effectLst>
              </a:rPr>
              <a:t>称为</a:t>
            </a:r>
            <a:r>
              <a:rPr kumimoji="0" lang="zh-CN" altLang="en-US" sz="2800" dirty="0">
                <a:solidFill>
                  <a:srgbClr val="FFFF00"/>
                </a:solidFill>
                <a:effectLst>
                  <a:outerShdw blurRad="38100" dist="38100" dir="2700000" algn="tl">
                    <a:srgbClr val="000000"/>
                  </a:outerShdw>
                </a:effectLst>
              </a:rPr>
              <a:t>依赖因子</a:t>
            </a:r>
            <a:r>
              <a:rPr kumimoji="0" lang="zh-CN" altLang="en-US" sz="2800" dirty="0" smtClean="0">
                <a:solidFill>
                  <a:srgbClr val="CCFFCC"/>
                </a:solidFill>
                <a:effectLst>
                  <a:outerShdw blurRad="38100" dist="38100" dir="2700000" algn="tl">
                    <a:srgbClr val="000000"/>
                  </a:outerShdw>
                </a:effectLst>
              </a:rPr>
              <a:t>。</a:t>
            </a:r>
            <a:endParaRPr kumimoji="0" lang="zh-CN" altLang="en-US" sz="2800" dirty="0">
              <a:solidFill>
                <a:srgbClr val="CCFFCC"/>
              </a:solidFill>
              <a:effectLst>
                <a:outerShdw blurRad="38100" dist="38100" dir="2700000" algn="tl">
                  <a:srgbClr val="000000"/>
                </a:outerShdw>
              </a:effectLst>
            </a:endParaRPr>
          </a:p>
          <a:p>
            <a:pPr>
              <a:buClr>
                <a:srgbClr val="66FF33"/>
              </a:buClr>
              <a:buSzPct val="85000"/>
              <a:defRPr/>
            </a:pPr>
            <a:r>
              <a:rPr kumimoji="0" lang="zh-CN" altLang="en-US" sz="2800" dirty="0">
                <a:solidFill>
                  <a:srgbClr val="CCFFCC"/>
                </a:solidFill>
                <a:effectLst>
                  <a:outerShdw blurRad="38100" dist="38100" dir="2700000" algn="tl">
                    <a:srgbClr val="000000"/>
                  </a:outerShdw>
                </a:effectLst>
              </a:rPr>
              <a:t>若</a:t>
            </a:r>
            <a:r>
              <a:rPr kumimoji="0" lang="en-US" altLang="zh-CN" sz="2800" dirty="0">
                <a:solidFill>
                  <a:srgbClr val="CCFFCC"/>
                </a:solidFill>
                <a:effectLst>
                  <a:outerShdw blurRad="38100" dist="38100" dir="2700000" algn="tl">
                    <a:srgbClr val="000000"/>
                  </a:outerShdw>
                </a:effectLst>
              </a:rPr>
              <a:t>X→Y</a:t>
            </a:r>
            <a:r>
              <a:rPr kumimoji="0" lang="zh-CN" altLang="en-US" sz="2800" dirty="0">
                <a:solidFill>
                  <a:srgbClr val="CCFFCC"/>
                </a:solidFill>
                <a:effectLst>
                  <a:outerShdw blurRad="38100" dist="38100" dir="2700000" algn="tl">
                    <a:srgbClr val="000000"/>
                  </a:outerShdw>
                </a:effectLst>
              </a:rPr>
              <a:t>，且</a:t>
            </a:r>
            <a:r>
              <a:rPr kumimoji="0" lang="en-US" altLang="zh-CN" sz="2800" dirty="0">
                <a:solidFill>
                  <a:srgbClr val="CCFFCC"/>
                </a:solidFill>
                <a:effectLst>
                  <a:outerShdw blurRad="38100" dist="38100" dir="2700000" algn="tl">
                    <a:srgbClr val="000000"/>
                  </a:outerShdw>
                </a:effectLst>
              </a:rPr>
              <a:t>Y→X </a:t>
            </a:r>
            <a:r>
              <a:rPr kumimoji="0" lang="zh-CN" altLang="en-US" sz="2800" dirty="0">
                <a:solidFill>
                  <a:srgbClr val="CCFFCC"/>
                </a:solidFill>
                <a:effectLst>
                  <a:outerShdw blurRad="38100" dist="38100" dir="2700000" algn="tl">
                    <a:srgbClr val="000000"/>
                  </a:outerShdw>
                </a:effectLst>
              </a:rPr>
              <a:t>，则记为</a:t>
            </a:r>
            <a:r>
              <a:rPr kumimoji="0" lang="en-US" altLang="zh-CN" sz="2800" dirty="0">
                <a:solidFill>
                  <a:srgbClr val="FFFF00"/>
                </a:solidFill>
                <a:effectLst>
                  <a:outerShdw blurRad="38100" dist="38100" dir="2700000" algn="tl">
                    <a:srgbClr val="000000"/>
                  </a:outerShdw>
                </a:effectLst>
              </a:rPr>
              <a:t>X←→Y</a:t>
            </a:r>
            <a:r>
              <a:rPr kumimoji="0" lang="en-US" altLang="zh-CN" sz="2800" dirty="0">
                <a:solidFill>
                  <a:srgbClr val="CCFFCC"/>
                </a:solidFill>
                <a:effectLst>
                  <a:outerShdw blurRad="38100" dist="38100" dir="2700000" algn="tl">
                    <a:srgbClr val="000000"/>
                  </a:outerShdw>
                </a:effectLst>
              </a:rPr>
              <a:t> (</a:t>
            </a:r>
            <a:r>
              <a:rPr kumimoji="0" lang="zh-CN" altLang="en-US" sz="2800" dirty="0">
                <a:solidFill>
                  <a:srgbClr val="CCFFCC"/>
                </a:solidFill>
                <a:effectLst>
                  <a:outerShdw blurRad="38100" dist="38100" dir="2700000" algn="tl">
                    <a:srgbClr val="000000"/>
                  </a:outerShdw>
                </a:effectLst>
              </a:rPr>
              <a:t>即互相依赖</a:t>
            </a:r>
            <a:r>
              <a:rPr kumimoji="0" lang="en-US" altLang="zh-CN" sz="2800" dirty="0">
                <a:solidFill>
                  <a:srgbClr val="CCFFCC"/>
                </a:solidFill>
                <a:effectLst>
                  <a:outerShdw blurRad="38100" dist="38100" dir="2700000" algn="tl">
                    <a:srgbClr val="000000"/>
                  </a:outerShdw>
                </a:effectLst>
              </a:rPr>
              <a:t>)</a:t>
            </a:r>
            <a:r>
              <a:rPr kumimoji="0" lang="zh-CN" altLang="en-US" sz="2800" dirty="0">
                <a:solidFill>
                  <a:srgbClr val="CCFFCC"/>
                </a:solidFill>
                <a:effectLst>
                  <a:outerShdw blurRad="38100" dist="38100" dir="2700000" algn="tl">
                    <a:srgbClr val="000000"/>
                  </a:outerShdw>
                </a:effectLst>
              </a:rPr>
              <a:t>。</a:t>
            </a:r>
          </a:p>
          <a:p>
            <a:pPr>
              <a:buClr>
                <a:srgbClr val="66FF33"/>
              </a:buClr>
              <a:buSzPct val="85000"/>
              <a:defRPr/>
            </a:pPr>
            <a:r>
              <a:rPr kumimoji="0" lang="zh-CN" altLang="en-US" sz="2800" dirty="0">
                <a:solidFill>
                  <a:srgbClr val="CCFFCC"/>
                </a:solidFill>
                <a:effectLst>
                  <a:outerShdw blurRad="38100" dist="38100" dir="2700000" algn="tl">
                    <a:srgbClr val="000000"/>
                  </a:outerShdw>
                </a:effectLst>
              </a:rPr>
              <a:t>若</a:t>
            </a:r>
            <a:r>
              <a:rPr kumimoji="0" lang="en-US" altLang="zh-CN" sz="2800" dirty="0">
                <a:solidFill>
                  <a:srgbClr val="CCFFCC"/>
                </a:solidFill>
                <a:effectLst>
                  <a:outerShdw blurRad="38100" dist="38100" dir="2700000" algn="tl">
                    <a:srgbClr val="000000"/>
                  </a:outerShdw>
                </a:effectLst>
              </a:rPr>
              <a:t>Y</a:t>
            </a:r>
            <a:r>
              <a:rPr kumimoji="0" lang="zh-CN" altLang="en-US" sz="2800" dirty="0">
                <a:solidFill>
                  <a:srgbClr val="CCFFCC"/>
                </a:solidFill>
                <a:effectLst>
                  <a:outerShdw blurRad="38100" dist="38100" dir="2700000" algn="tl">
                    <a:srgbClr val="000000"/>
                  </a:outerShdw>
                </a:effectLst>
              </a:rPr>
              <a:t>不函数依赖于</a:t>
            </a:r>
            <a:r>
              <a:rPr kumimoji="0" lang="en-US" altLang="zh-CN" sz="2800" dirty="0">
                <a:solidFill>
                  <a:srgbClr val="CCFFCC"/>
                </a:solidFill>
                <a:effectLst>
                  <a:outerShdw blurRad="38100" dist="38100" dir="2700000" algn="tl">
                    <a:srgbClr val="000000"/>
                  </a:outerShdw>
                </a:effectLst>
              </a:rPr>
              <a:t>X</a:t>
            </a:r>
            <a:r>
              <a:rPr kumimoji="0" lang="zh-CN" altLang="en-US" sz="2800" dirty="0">
                <a:solidFill>
                  <a:srgbClr val="CCFFCC"/>
                </a:solidFill>
                <a:effectLst>
                  <a:outerShdw blurRad="38100" dist="38100" dir="2700000" algn="tl">
                    <a:srgbClr val="000000"/>
                  </a:outerShdw>
                </a:effectLst>
              </a:rPr>
              <a:t>，则记为</a:t>
            </a:r>
            <a:r>
              <a:rPr kumimoji="0" lang="en-US" altLang="zh-CN" sz="2800" dirty="0">
                <a:solidFill>
                  <a:srgbClr val="FFFF00"/>
                </a:solidFill>
                <a:effectLst>
                  <a:outerShdw blurRad="38100" dist="38100" dir="2700000" algn="tl">
                    <a:srgbClr val="000000"/>
                  </a:outerShdw>
                </a:effectLst>
              </a:rPr>
              <a:t>X→Y</a:t>
            </a:r>
            <a:r>
              <a:rPr kumimoji="0" lang="zh-CN" altLang="en-US" sz="2800" dirty="0">
                <a:solidFill>
                  <a:srgbClr val="CCFFCC"/>
                </a:solidFill>
                <a:effectLst>
                  <a:outerShdw blurRad="38100" dist="38100" dir="2700000" algn="tl">
                    <a:srgbClr val="000000"/>
                  </a:outerShdw>
                </a:effectLst>
              </a:rPr>
              <a:t>。</a:t>
            </a:r>
          </a:p>
          <a:p>
            <a:pPr>
              <a:buClr>
                <a:srgbClr val="66FF33"/>
              </a:buClr>
              <a:buSzPct val="85000"/>
              <a:defRPr/>
            </a:pPr>
            <a:r>
              <a:rPr lang="zh-CN" altLang="en-US" sz="2800" dirty="0">
                <a:solidFill>
                  <a:srgbClr val="CCFFCC"/>
                </a:solidFill>
                <a:effectLst>
                  <a:outerShdw blurRad="38100" dist="38100" dir="2700000" algn="tl">
                    <a:srgbClr val="000000"/>
                  </a:outerShdw>
                </a:effectLst>
              </a:rPr>
              <a:t>若</a:t>
            </a:r>
            <a:r>
              <a:rPr lang="en-US" altLang="zh-CN" sz="2800" dirty="0">
                <a:solidFill>
                  <a:srgbClr val="CCFFCC"/>
                </a:solidFill>
                <a:effectLst>
                  <a:outerShdw blurRad="38100" dist="38100" dir="2700000" algn="tl">
                    <a:srgbClr val="000000"/>
                  </a:outerShdw>
                </a:effectLst>
              </a:rPr>
              <a:t>X→Y,</a:t>
            </a:r>
            <a:r>
              <a:rPr lang="zh-CN" altLang="en-US" sz="2800" dirty="0">
                <a:solidFill>
                  <a:srgbClr val="CCFFCC"/>
                </a:solidFill>
                <a:effectLst>
                  <a:outerShdw blurRad="38100" dist="38100" dir="2700000" algn="tl">
                    <a:srgbClr val="000000"/>
                  </a:outerShdw>
                </a:effectLst>
              </a:rPr>
              <a:t>但</a:t>
            </a:r>
            <a:r>
              <a:rPr lang="en-US" altLang="zh-CN" sz="2800" dirty="0">
                <a:solidFill>
                  <a:srgbClr val="CCFFCC"/>
                </a:solidFill>
                <a:effectLst>
                  <a:outerShdw blurRad="38100" dist="38100" dir="2700000" algn="tl">
                    <a:srgbClr val="000000"/>
                  </a:outerShdw>
                </a:effectLst>
              </a:rPr>
              <a:t>Y</a:t>
            </a:r>
            <a:r>
              <a:rPr lang="en-US" altLang="zh-CN" sz="2800" dirty="0">
                <a:solidFill>
                  <a:srgbClr val="CCFFCC"/>
                </a:solidFill>
                <a:effectLst>
                  <a:outerShdw blurRad="38100" dist="38100" dir="2700000" algn="tl">
                    <a:srgbClr val="000000"/>
                  </a:outerShdw>
                </a:effectLst>
                <a:sym typeface="Symbol" pitchFamily="18" charset="2"/>
              </a:rPr>
              <a:t>  </a:t>
            </a:r>
            <a:r>
              <a:rPr lang="en-US" altLang="zh-CN" sz="2800" dirty="0">
                <a:solidFill>
                  <a:srgbClr val="CCFFCC"/>
                </a:solidFill>
                <a:effectLst>
                  <a:outerShdw blurRad="38100" dist="38100" dir="2700000" algn="tl">
                    <a:srgbClr val="000000"/>
                  </a:outerShdw>
                </a:effectLst>
              </a:rPr>
              <a:t>X</a:t>
            </a:r>
            <a:r>
              <a:rPr lang="zh-CN" altLang="en-US" sz="2800" dirty="0">
                <a:solidFill>
                  <a:srgbClr val="CCFFCC"/>
                </a:solidFill>
                <a:effectLst>
                  <a:outerShdw blurRad="38100" dist="38100" dir="2700000" algn="tl">
                    <a:srgbClr val="000000"/>
                  </a:outerShdw>
                </a:effectLst>
              </a:rPr>
              <a:t>,则称</a:t>
            </a:r>
            <a:r>
              <a:rPr lang="en-US" altLang="zh-CN" sz="2800" dirty="0">
                <a:solidFill>
                  <a:srgbClr val="CCFFCC"/>
                </a:solidFill>
                <a:effectLst>
                  <a:outerShdw blurRad="38100" dist="38100" dir="2700000" algn="tl">
                    <a:srgbClr val="000000"/>
                  </a:outerShdw>
                </a:effectLst>
              </a:rPr>
              <a:t>X→Y</a:t>
            </a:r>
            <a:r>
              <a:rPr lang="zh-CN" altLang="en-US" sz="2800" dirty="0">
                <a:solidFill>
                  <a:srgbClr val="FFFF00"/>
                </a:solidFill>
                <a:effectLst>
                  <a:outerShdw blurRad="38100" dist="38100" dir="2700000" algn="tl">
                    <a:srgbClr val="000000"/>
                  </a:outerShdw>
                </a:effectLst>
              </a:rPr>
              <a:t>是非平凡的函数依赖</a:t>
            </a:r>
            <a:r>
              <a:rPr lang="zh-CN" altLang="en-US" sz="2800" dirty="0">
                <a:solidFill>
                  <a:srgbClr val="CCFFCC"/>
                </a:solidFill>
                <a:effectLst>
                  <a:outerShdw blurRad="38100" dist="38100" dir="2700000" algn="tl">
                    <a:srgbClr val="000000"/>
                  </a:outerShdw>
                </a:effectLst>
              </a:rPr>
              <a:t>。</a:t>
            </a:r>
          </a:p>
          <a:p>
            <a:pPr>
              <a:buClr>
                <a:srgbClr val="66FF33"/>
              </a:buClr>
              <a:buSzPct val="85000"/>
              <a:defRPr/>
            </a:pPr>
            <a:r>
              <a:rPr lang="zh-CN" altLang="en-US" sz="2800" dirty="0">
                <a:solidFill>
                  <a:srgbClr val="CCFFCC"/>
                </a:solidFill>
                <a:effectLst>
                  <a:outerShdw blurRad="38100" dist="38100" dir="2700000" algn="tl">
                    <a:srgbClr val="000000"/>
                  </a:outerShdw>
                </a:effectLst>
              </a:rPr>
              <a:t>若</a:t>
            </a:r>
            <a:r>
              <a:rPr lang="en-US" altLang="zh-CN" sz="2800" dirty="0">
                <a:solidFill>
                  <a:srgbClr val="CCFFCC"/>
                </a:solidFill>
                <a:effectLst>
                  <a:outerShdw blurRad="38100" dist="38100" dir="2700000" algn="tl">
                    <a:srgbClr val="000000"/>
                  </a:outerShdw>
                </a:effectLst>
              </a:rPr>
              <a:t>X→Y,</a:t>
            </a:r>
            <a:r>
              <a:rPr lang="zh-CN" altLang="en-US" sz="2800" dirty="0">
                <a:solidFill>
                  <a:srgbClr val="CCFFCC"/>
                </a:solidFill>
                <a:effectLst>
                  <a:outerShdw blurRad="38100" dist="38100" dir="2700000" algn="tl">
                    <a:srgbClr val="000000"/>
                  </a:outerShdw>
                </a:effectLst>
              </a:rPr>
              <a:t>但</a:t>
            </a:r>
            <a:r>
              <a:rPr lang="en-US" altLang="zh-CN" sz="2800" dirty="0">
                <a:solidFill>
                  <a:srgbClr val="CCFFCC"/>
                </a:solidFill>
                <a:effectLst>
                  <a:outerShdw blurRad="38100" dist="38100" dir="2700000" algn="tl">
                    <a:srgbClr val="000000"/>
                  </a:outerShdw>
                </a:effectLst>
              </a:rPr>
              <a:t>Y  X</a:t>
            </a:r>
            <a:r>
              <a:rPr lang="zh-CN" altLang="en-US" sz="2800" dirty="0">
                <a:solidFill>
                  <a:srgbClr val="CCFFCC"/>
                </a:solidFill>
                <a:effectLst>
                  <a:outerShdw blurRad="38100" dist="38100" dir="2700000" algn="tl">
                    <a:srgbClr val="000000"/>
                  </a:outerShdw>
                </a:effectLst>
              </a:rPr>
              <a:t>,则称</a:t>
            </a:r>
            <a:r>
              <a:rPr lang="en-US" altLang="zh-CN" sz="2800" dirty="0">
                <a:solidFill>
                  <a:srgbClr val="CCFFCC"/>
                </a:solidFill>
                <a:effectLst>
                  <a:outerShdw blurRad="38100" dist="38100" dir="2700000" algn="tl">
                    <a:srgbClr val="000000"/>
                  </a:outerShdw>
                </a:effectLst>
              </a:rPr>
              <a:t>X→Y</a:t>
            </a:r>
            <a:r>
              <a:rPr lang="zh-CN" altLang="en-US" sz="2800" dirty="0">
                <a:solidFill>
                  <a:srgbClr val="CCFFCC"/>
                </a:solidFill>
                <a:effectLst>
                  <a:outerShdw blurRad="38100" dist="38100" dir="2700000" algn="tl">
                    <a:srgbClr val="000000"/>
                  </a:outerShdw>
                </a:effectLst>
              </a:rPr>
              <a:t>是</a:t>
            </a:r>
            <a:r>
              <a:rPr lang="zh-CN" altLang="en-US" sz="2800" dirty="0">
                <a:solidFill>
                  <a:srgbClr val="FFFF00"/>
                </a:solidFill>
                <a:effectLst>
                  <a:outerShdw blurRad="38100" dist="38100" dir="2700000" algn="tl">
                    <a:srgbClr val="000000"/>
                  </a:outerShdw>
                </a:effectLst>
              </a:rPr>
              <a:t>平凡的函数依赖</a:t>
            </a:r>
            <a:r>
              <a:rPr lang="zh-CN" altLang="en-US" sz="2800" dirty="0">
                <a:solidFill>
                  <a:srgbClr val="CCFFCC"/>
                </a:solidFill>
                <a:effectLst>
                  <a:outerShdw blurRad="38100" dist="38100" dir="2700000" algn="tl">
                    <a:srgbClr val="000000"/>
                  </a:outerShdw>
                </a:effectLst>
              </a:rPr>
              <a:t>。</a:t>
            </a:r>
          </a:p>
        </p:txBody>
      </p:sp>
      <p:sp>
        <p:nvSpPr>
          <p:cNvPr id="1483782" name="Rectangle 6"/>
          <p:cNvSpPr>
            <a:spLocks noChangeArrowheads="1"/>
          </p:cNvSpPr>
          <p:nvPr/>
        </p:nvSpPr>
        <p:spPr bwMode="auto">
          <a:xfrm>
            <a:off x="2373909" y="3471194"/>
            <a:ext cx="498475" cy="569912"/>
          </a:xfrm>
          <a:prstGeom prst="rect">
            <a:avLst/>
          </a:prstGeom>
          <a:noFill/>
          <a:ln w="12700" cap="sq">
            <a:noFill/>
            <a:miter lim="800000"/>
            <a:headEnd/>
            <a:tailEnd/>
          </a:ln>
          <a:effectLst/>
        </p:spPr>
        <p:txBody>
          <a:bodyPr wrap="none" lIns="72000" tIns="72000" rIns="72000" bIns="72000">
            <a:spAutoFit/>
          </a:bodyPr>
          <a:lstStyle/>
          <a:p>
            <a:pPr>
              <a:spcAft>
                <a:spcPct val="0"/>
              </a:spcAft>
              <a:buSzTx/>
              <a:buFontTx/>
              <a:buNone/>
              <a:defRPr/>
            </a:pPr>
            <a:r>
              <a:rPr lang="en-US" altLang="zh-CN" sz="2800" dirty="0">
                <a:solidFill>
                  <a:srgbClr val="CCFFCC"/>
                </a:solidFill>
                <a:effectLst>
                  <a:outerShdw blurRad="38100" dist="38100" dir="2700000" algn="tl">
                    <a:srgbClr val="000000"/>
                  </a:outerShdw>
                </a:effectLst>
                <a:sym typeface="Symbol" pitchFamily="18" charset="2"/>
              </a:rPr>
              <a:t></a:t>
            </a:r>
            <a:endParaRPr lang="zh-CN" altLang="en-US" sz="2800" dirty="0">
              <a:solidFill>
                <a:srgbClr val="CCFFCC"/>
              </a:solidFill>
              <a:effectLst>
                <a:outerShdw blurRad="38100" dist="38100" dir="2700000" algn="tl">
                  <a:srgbClr val="000000"/>
                </a:outerShdw>
              </a:effectLst>
              <a:sym typeface="Symbol" pitchFamily="18" charset="2"/>
            </a:endParaRPr>
          </a:p>
        </p:txBody>
      </p:sp>
      <p:sp>
        <p:nvSpPr>
          <p:cNvPr id="1483786" name="Rectangle 10"/>
          <p:cNvSpPr>
            <a:spLocks noChangeArrowheads="1"/>
          </p:cNvSpPr>
          <p:nvPr/>
        </p:nvSpPr>
        <p:spPr bwMode="auto">
          <a:xfrm>
            <a:off x="920750" y="4195266"/>
            <a:ext cx="7813675" cy="457200"/>
          </a:xfrm>
          <a:prstGeom prst="rect">
            <a:avLst/>
          </a:prstGeom>
          <a:noFill/>
          <a:ln w="12700" cap="sq">
            <a:noFill/>
            <a:miter lim="800000"/>
            <a:headEnd/>
            <a:tailEnd/>
          </a:ln>
          <a:effectLst/>
        </p:spPr>
        <p:txBody>
          <a:bodyPr lIns="0" tIns="0" rIns="0" bIns="0"/>
          <a:lstStyle/>
          <a:p>
            <a:pPr>
              <a:buSzTx/>
              <a:buFontTx/>
              <a:buNone/>
              <a:defRPr/>
            </a:pPr>
            <a:r>
              <a:rPr lang="zh-CN" altLang="en-US" sz="2600" dirty="0">
                <a:solidFill>
                  <a:srgbClr val="99FF33"/>
                </a:solidFill>
                <a:effectLst>
                  <a:outerShdw blurRad="38100" dist="38100" dir="2700000" algn="tl">
                    <a:srgbClr val="000000"/>
                  </a:outerShdw>
                </a:effectLst>
              </a:rPr>
              <a:t>学号</a:t>
            </a:r>
            <a:r>
              <a:rPr lang="en-US" altLang="zh-CN" sz="2600" dirty="0">
                <a:solidFill>
                  <a:srgbClr val="99FF33"/>
                </a:solidFill>
                <a:effectLst>
                  <a:outerShdw blurRad="38100" dist="38100" dir="2700000" algn="tl">
                    <a:srgbClr val="000000"/>
                  </a:outerShdw>
                </a:effectLst>
              </a:rPr>
              <a:t>→</a:t>
            </a:r>
            <a:r>
              <a:rPr lang="zh-CN" altLang="en-US" sz="2600" dirty="0">
                <a:solidFill>
                  <a:srgbClr val="99FF33"/>
                </a:solidFill>
                <a:effectLst>
                  <a:outerShdw blurRad="38100" dist="38100" dir="2700000" algn="tl">
                    <a:srgbClr val="000000"/>
                  </a:outerShdw>
                </a:effectLst>
              </a:rPr>
              <a:t>姓名，</a:t>
            </a:r>
            <a:r>
              <a:rPr lang="en-US" altLang="zh-CN" sz="2600" dirty="0">
                <a:solidFill>
                  <a:srgbClr val="99FF33"/>
                </a:solidFill>
                <a:effectLst>
                  <a:outerShdw blurRad="38100" dist="38100" dir="2700000" algn="tl">
                    <a:srgbClr val="000000"/>
                  </a:outerShdw>
                </a:effectLst>
              </a:rPr>
              <a:t>(</a:t>
            </a:r>
            <a:r>
              <a:rPr lang="en-US" altLang="zh-CN" sz="2600" dirty="0" err="1">
                <a:solidFill>
                  <a:srgbClr val="99FF33"/>
                </a:solidFill>
                <a:effectLst>
                  <a:outerShdw blurRad="38100" dist="38100" dir="2700000" algn="tl">
                    <a:srgbClr val="000000"/>
                  </a:outerShdw>
                </a:effectLst>
              </a:rPr>
              <a:t>学号,课名</a:t>
            </a:r>
            <a:r>
              <a:rPr lang="en-US" altLang="zh-CN" sz="2600" dirty="0">
                <a:solidFill>
                  <a:srgbClr val="99FF33"/>
                </a:solidFill>
                <a:effectLst>
                  <a:outerShdw blurRad="38100" dist="38100" dir="2700000" algn="tl">
                    <a:srgbClr val="000000"/>
                  </a:outerShdw>
                </a:effectLst>
              </a:rPr>
              <a:t>)→</a:t>
            </a:r>
            <a:r>
              <a:rPr lang="en-US" altLang="zh-CN" sz="2600" dirty="0" err="1">
                <a:solidFill>
                  <a:srgbClr val="99FF33"/>
                </a:solidFill>
                <a:effectLst>
                  <a:outerShdw blurRad="38100" dist="38100" dir="2700000" algn="tl">
                    <a:srgbClr val="000000"/>
                  </a:outerShdw>
                </a:effectLst>
              </a:rPr>
              <a:t>成绩</a:t>
            </a:r>
            <a:r>
              <a:rPr lang="en-US" altLang="zh-CN" sz="2600" dirty="0">
                <a:effectLst>
                  <a:outerShdw blurRad="38100" dist="38100" dir="2700000" algn="tl">
                    <a:srgbClr val="000000"/>
                  </a:outerShdw>
                </a:effectLst>
              </a:rPr>
              <a:t>  </a:t>
            </a:r>
            <a:r>
              <a:rPr lang="en-US" altLang="zh-CN" sz="2600" dirty="0" err="1">
                <a:effectLst>
                  <a:outerShdw blurRad="38100" dist="38100" dir="2700000" algn="tl">
                    <a:srgbClr val="000000"/>
                  </a:outerShdw>
                </a:effectLst>
              </a:rPr>
              <a:t>是非平凡的</a:t>
            </a:r>
            <a:endParaRPr lang="en-US" altLang="zh-CN" sz="2600" dirty="0">
              <a:effectLst>
                <a:outerShdw blurRad="38100" dist="38100" dir="2700000" algn="tl">
                  <a:srgbClr val="000000"/>
                </a:outerShdw>
              </a:effectLst>
            </a:endParaRPr>
          </a:p>
          <a:p>
            <a:pPr>
              <a:buSzTx/>
              <a:buFontTx/>
              <a:buNone/>
              <a:defRPr/>
            </a:pPr>
            <a:r>
              <a:rPr lang="zh-CN" altLang="en-US" sz="2600" dirty="0">
                <a:solidFill>
                  <a:srgbClr val="99FF33"/>
                </a:solidFill>
                <a:effectLst>
                  <a:outerShdw blurRad="38100" dist="38100" dir="2700000" algn="tl">
                    <a:srgbClr val="000000"/>
                  </a:outerShdw>
                </a:effectLst>
              </a:rPr>
              <a:t>学号</a:t>
            </a:r>
            <a:r>
              <a:rPr lang="en-US" altLang="zh-CN" sz="2600" dirty="0">
                <a:solidFill>
                  <a:srgbClr val="99FF33"/>
                </a:solidFill>
                <a:effectLst>
                  <a:outerShdw blurRad="38100" dist="38100" dir="2700000" algn="tl">
                    <a:srgbClr val="000000"/>
                  </a:outerShdw>
                </a:effectLst>
              </a:rPr>
              <a:t>→</a:t>
            </a:r>
            <a:r>
              <a:rPr lang="en-US" altLang="zh-CN" sz="2600" dirty="0" err="1">
                <a:solidFill>
                  <a:srgbClr val="99FF33"/>
                </a:solidFill>
                <a:effectLst>
                  <a:outerShdw blurRad="38100" dist="38100" dir="2700000" algn="tl">
                    <a:srgbClr val="000000"/>
                  </a:outerShdw>
                </a:effectLst>
              </a:rPr>
              <a:t>学号</a:t>
            </a:r>
            <a:r>
              <a:rPr lang="zh-CN" altLang="en-US" sz="2600" dirty="0">
                <a:solidFill>
                  <a:srgbClr val="99FF33"/>
                </a:solidFill>
                <a:effectLst>
                  <a:outerShdw blurRad="38100" dist="38100" dir="2700000" algn="tl">
                    <a:srgbClr val="000000"/>
                  </a:outerShdw>
                </a:effectLst>
              </a:rPr>
              <a:t>，</a:t>
            </a:r>
            <a:r>
              <a:rPr lang="en-US" altLang="zh-CN" sz="2600" dirty="0">
                <a:solidFill>
                  <a:srgbClr val="99FF33"/>
                </a:solidFill>
                <a:effectLst>
                  <a:outerShdw blurRad="38100" dist="38100" dir="2700000" algn="tl">
                    <a:srgbClr val="000000"/>
                  </a:outerShdw>
                </a:effectLst>
              </a:rPr>
              <a:t>(</a:t>
            </a:r>
            <a:r>
              <a:rPr lang="en-US" altLang="zh-CN" sz="2600" dirty="0" err="1">
                <a:solidFill>
                  <a:srgbClr val="99FF33"/>
                </a:solidFill>
                <a:effectLst>
                  <a:outerShdw blurRad="38100" dist="38100" dir="2700000" algn="tl">
                    <a:srgbClr val="000000"/>
                  </a:outerShdw>
                </a:effectLst>
              </a:rPr>
              <a:t>学号,课名</a:t>
            </a:r>
            <a:r>
              <a:rPr lang="en-US" altLang="zh-CN" sz="2600" dirty="0">
                <a:solidFill>
                  <a:srgbClr val="99FF33"/>
                </a:solidFill>
                <a:effectLst>
                  <a:outerShdw blurRad="38100" dist="38100" dir="2700000" algn="tl">
                    <a:srgbClr val="000000"/>
                  </a:outerShdw>
                </a:effectLst>
              </a:rPr>
              <a:t>)→</a:t>
            </a:r>
            <a:r>
              <a:rPr lang="en-US" altLang="zh-CN" sz="2600" dirty="0" err="1">
                <a:solidFill>
                  <a:srgbClr val="99FF33"/>
                </a:solidFill>
                <a:effectLst>
                  <a:outerShdw blurRad="38100" dist="38100" dir="2700000" algn="tl">
                    <a:srgbClr val="000000"/>
                  </a:outerShdw>
                </a:effectLst>
              </a:rPr>
              <a:t>学号</a:t>
            </a:r>
            <a:r>
              <a:rPr lang="en-US" altLang="zh-CN" sz="2600" dirty="0">
                <a:effectLst>
                  <a:outerShdw blurRad="38100" dist="38100" dir="2700000" algn="tl">
                    <a:srgbClr val="000000"/>
                  </a:outerShdw>
                </a:effectLst>
              </a:rPr>
              <a:t>  </a:t>
            </a:r>
            <a:r>
              <a:rPr lang="en-US" altLang="zh-CN" sz="2600" dirty="0" err="1">
                <a:effectLst>
                  <a:outerShdw blurRad="38100" dist="38100" dir="2700000" algn="tl">
                    <a:srgbClr val="000000"/>
                  </a:outerShdw>
                </a:effectLst>
              </a:rPr>
              <a:t>是平凡的</a:t>
            </a:r>
            <a:endParaRPr lang="zh-CN" altLang="en-US" sz="2600" dirty="0">
              <a:effectLst>
                <a:outerShdw blurRad="38100" dist="38100" dir="2700000" algn="tl">
                  <a:srgbClr val="000000"/>
                </a:outerShdw>
              </a:effectLst>
            </a:endParaRPr>
          </a:p>
        </p:txBody>
      </p:sp>
      <p:sp>
        <p:nvSpPr>
          <p:cNvPr id="1483787" name="Rectangle 11"/>
          <p:cNvSpPr>
            <a:spLocks noChangeArrowheads="1"/>
          </p:cNvSpPr>
          <p:nvPr/>
        </p:nvSpPr>
        <p:spPr bwMode="auto">
          <a:xfrm>
            <a:off x="611188" y="5439625"/>
            <a:ext cx="7993062" cy="457200"/>
          </a:xfrm>
          <a:prstGeom prst="rect">
            <a:avLst/>
          </a:prstGeom>
          <a:noFill/>
          <a:ln w="12700" cap="sq">
            <a:noFill/>
            <a:miter lim="800000"/>
            <a:headEnd/>
            <a:tailEnd/>
          </a:ln>
          <a:effectLst/>
        </p:spPr>
        <p:txBody>
          <a:bodyPr lIns="0" tIns="0" rIns="0" bIns="0"/>
          <a:lstStyle/>
          <a:p>
            <a:pPr>
              <a:buSzTx/>
              <a:buFontTx/>
              <a:buNone/>
              <a:defRPr/>
            </a:pPr>
            <a:r>
              <a:rPr lang="zh-CN" altLang="en-US" sz="2800" dirty="0">
                <a:solidFill>
                  <a:srgbClr val="FF9900"/>
                </a:solidFill>
                <a:effectLst>
                  <a:outerShdw blurRad="38100" dist="38100" dir="2700000" algn="tl">
                    <a:srgbClr val="000000"/>
                  </a:outerShdw>
                </a:effectLst>
              </a:rPr>
              <a:t>注意：</a:t>
            </a:r>
            <a:r>
              <a:rPr lang="zh-CN" altLang="en-US" sz="2800" dirty="0">
                <a:solidFill>
                  <a:schemeClr val="folHlink"/>
                </a:solidFill>
                <a:effectLst>
                  <a:outerShdw blurRad="38100" dist="38100" dir="2700000" algn="tl">
                    <a:srgbClr val="000000"/>
                  </a:outerShdw>
                </a:effectLst>
              </a:rPr>
              <a:t>平凡的函数依赖是必然成立的，所以一般没有特别指明时均是指非平凡的函数依赖。</a:t>
            </a:r>
            <a:endParaRPr lang="en-US" altLang="zh-CN" sz="2800" dirty="0">
              <a:solidFill>
                <a:schemeClr val="folHlink"/>
              </a:solidFill>
              <a:effectLst>
                <a:outerShdw blurRad="38100" dist="38100" dir="2700000" algn="tl">
                  <a:srgbClr val="000000"/>
                </a:outerShdw>
              </a:effectLst>
            </a:endParaRPr>
          </a:p>
        </p:txBody>
      </p:sp>
      <p:sp>
        <p:nvSpPr>
          <p:cNvPr id="13" name="Text Box 2"/>
          <p:cNvSpPr txBox="1">
            <a:spLocks noChangeArrowheads="1"/>
          </p:cNvSpPr>
          <p:nvPr/>
        </p:nvSpPr>
        <p:spPr bwMode="auto">
          <a:xfrm>
            <a:off x="179388" y="-27613"/>
            <a:ext cx="4248595" cy="760959"/>
          </a:xfrm>
          <a:prstGeom prst="rect">
            <a:avLst/>
          </a:prstGeom>
          <a:noFill/>
          <a:ln w="12700" cap="sq">
            <a:noFill/>
            <a:miter lim="800000"/>
            <a:headEnd/>
            <a:tailEnd/>
          </a:ln>
          <a:effectLst>
            <a:outerShdw dist="35921" dir="2700000" algn="ctr" rotWithShape="0">
              <a:schemeClr val="bg2"/>
            </a:outerShdw>
          </a:effectLst>
        </p:spPr>
        <p:txBody>
          <a:bodyPr wrap="square" lIns="72000" tIns="72000" rIns="72000" bIns="72000">
            <a:spAutoFit/>
          </a:bodyPr>
          <a:lstStyle/>
          <a:p>
            <a:pPr>
              <a:spcBef>
                <a:spcPts val="0"/>
              </a:spcBef>
              <a:defRPr/>
            </a:pPr>
            <a:r>
              <a:rPr lang="zh-CN" altLang="en-US" sz="4000" b="1" dirty="0" smtClean="0">
                <a:solidFill>
                  <a:srgbClr val="FFFFCC"/>
                </a:solidFill>
                <a:effectLst>
                  <a:outerShdw blurRad="38100" dist="38100" dir="2700000" algn="tl">
                    <a:srgbClr val="000000"/>
                  </a:outerShdw>
                </a:effectLst>
                <a:latin typeface="Arial" pitchFamily="34" charset="0"/>
                <a:ea typeface="微软雅黑" pitchFamily="34" charset="-122"/>
                <a:cs typeface="+mj-cs"/>
              </a:rPr>
              <a:t>函数依赖的定义</a:t>
            </a:r>
            <a:endParaRPr lang="zh-CN" altLang="en-US" sz="4000" b="1" dirty="0">
              <a:solidFill>
                <a:srgbClr val="FFFFCC"/>
              </a:solidFill>
              <a:effectLst>
                <a:outerShdw blurRad="38100" dist="38100" dir="2700000" algn="tl">
                  <a:srgbClr val="000000"/>
                </a:outerShdw>
              </a:effectLst>
              <a:latin typeface="Arial" pitchFamily="34" charset="0"/>
              <a:ea typeface="微软雅黑" pitchFamily="34" charset="-122"/>
              <a:cs typeface="+mj-cs"/>
            </a:endParaRPr>
          </a:p>
        </p:txBody>
      </p:sp>
      <p:sp>
        <p:nvSpPr>
          <p:cNvPr id="1483780" name="Line 4"/>
          <p:cNvSpPr>
            <a:spLocks noChangeShapeType="1"/>
          </p:cNvSpPr>
          <p:nvPr/>
        </p:nvSpPr>
        <p:spPr bwMode="auto">
          <a:xfrm>
            <a:off x="5148064" y="2636242"/>
            <a:ext cx="96838" cy="192087"/>
          </a:xfrm>
          <a:prstGeom prst="line">
            <a:avLst/>
          </a:prstGeom>
          <a:noFill/>
          <a:ln w="19050" cap="sq">
            <a:solidFill>
              <a:srgbClr val="FFFF00"/>
            </a:solidFill>
            <a:round/>
            <a:headEnd/>
            <a:tailEnd/>
          </a:ln>
          <a:effectLst/>
        </p:spPr>
        <p:txBody>
          <a:bodyPr wrap="none" lIns="0" tIns="0" rIns="0" bIns="0" anchor="ctr"/>
          <a:lstStyle/>
          <a:p>
            <a:pPr>
              <a:defRPr/>
            </a:pPr>
            <a:endParaRPr lang="zh-CN" altLang="en-US"/>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84804" name="Group 4"/>
          <p:cNvGraphicFramePr>
            <a:graphicFrameLocks noGrp="1"/>
          </p:cNvGraphicFramePr>
          <p:nvPr>
            <p:extLst>
              <p:ext uri="{D42A27DB-BD31-4B8C-83A1-F6EECF244321}">
                <p14:modId xmlns:p14="http://schemas.microsoft.com/office/powerpoint/2010/main" val="3758770902"/>
              </p:ext>
            </p:extLst>
          </p:nvPr>
        </p:nvGraphicFramePr>
        <p:xfrm>
          <a:off x="639432" y="2708920"/>
          <a:ext cx="3671887" cy="1584325"/>
        </p:xfrm>
        <a:graphic>
          <a:graphicData uri="http://schemas.openxmlformats.org/drawingml/2006/table">
            <a:tbl>
              <a:tblPr/>
              <a:tblGrid>
                <a:gridCol w="787400">
                  <a:extLst>
                    <a:ext uri="{9D8B030D-6E8A-4147-A177-3AD203B41FA5}">
                      <a16:colId xmlns:a16="http://schemas.microsoft.com/office/drawing/2014/main" val="20000"/>
                    </a:ext>
                  </a:extLst>
                </a:gridCol>
                <a:gridCol w="785812">
                  <a:extLst>
                    <a:ext uri="{9D8B030D-6E8A-4147-A177-3AD203B41FA5}">
                      <a16:colId xmlns:a16="http://schemas.microsoft.com/office/drawing/2014/main" val="20001"/>
                    </a:ext>
                  </a:extLst>
                </a:gridCol>
                <a:gridCol w="590550">
                  <a:extLst>
                    <a:ext uri="{9D8B030D-6E8A-4147-A177-3AD203B41FA5}">
                      <a16:colId xmlns:a16="http://schemas.microsoft.com/office/drawing/2014/main" val="20002"/>
                    </a:ext>
                  </a:extLst>
                </a:gridCol>
                <a:gridCol w="852488">
                  <a:extLst>
                    <a:ext uri="{9D8B030D-6E8A-4147-A177-3AD203B41FA5}">
                      <a16:colId xmlns:a16="http://schemas.microsoft.com/office/drawing/2014/main" val="20003"/>
                    </a:ext>
                  </a:extLst>
                </a:gridCol>
                <a:gridCol w="655637">
                  <a:extLst>
                    <a:ext uri="{9D8B030D-6E8A-4147-A177-3AD203B41FA5}">
                      <a16:colId xmlns:a16="http://schemas.microsoft.com/office/drawing/2014/main" val="20004"/>
                    </a:ext>
                  </a:extLst>
                </a:gridCol>
              </a:tblGrid>
              <a:tr h="109538">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学号</a:t>
                      </a:r>
                    </a:p>
                  </a:txBody>
                  <a:tcPr marL="0" marR="0" marT="0" marB="0"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姓名</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性别</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年龄</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系别</a:t>
                      </a:r>
                    </a:p>
                  </a:txBody>
                  <a:tcPr marL="0" marR="0" marT="0" marB="0"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5876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98001</a:t>
                      </a:r>
                    </a:p>
                  </a:txBody>
                  <a:tcPr marL="0" marR="0" marT="0" marB="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张三</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男</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20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CS</a:t>
                      </a:r>
                    </a:p>
                  </a:txBody>
                  <a:tcPr marL="0" marR="0" marT="0" marB="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9538">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98002</a:t>
                      </a:r>
                    </a:p>
                  </a:txBody>
                  <a:tcPr marL="0" marR="0" marT="0" marB="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李四</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女</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19</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IS</a:t>
                      </a:r>
                    </a:p>
                  </a:txBody>
                  <a:tcPr marL="0" marR="0" marT="0" marB="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795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9</a:t>
                      </a: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8003</a:t>
                      </a:r>
                    </a:p>
                  </a:txBody>
                  <a:tcPr marL="0" marR="0" marT="0" marB="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王五</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男</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21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IS</a:t>
                      </a:r>
                    </a:p>
                  </a:txBody>
                  <a:tcPr marL="0" marR="0" marT="0" marB="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125">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98004</a:t>
                      </a:r>
                    </a:p>
                  </a:txBody>
                  <a:tcPr marL="0" marR="0" marT="0" marB="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赵六</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女</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20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MA</a:t>
                      </a:r>
                    </a:p>
                  </a:txBody>
                  <a:tcPr marL="0" marR="0" marT="0" marB="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484850" name="Rectangle 50"/>
          <p:cNvSpPr>
            <a:spLocks noChangeArrowheads="1"/>
          </p:cNvSpPr>
          <p:nvPr/>
        </p:nvSpPr>
        <p:spPr bwMode="auto">
          <a:xfrm>
            <a:off x="1115616" y="4476359"/>
            <a:ext cx="3024187" cy="457200"/>
          </a:xfrm>
          <a:prstGeom prst="rect">
            <a:avLst/>
          </a:prstGeom>
          <a:noFill/>
          <a:ln w="12700" cap="sq">
            <a:noFill/>
            <a:miter lim="800000"/>
            <a:headEnd/>
            <a:tailEnd/>
          </a:ln>
          <a:effectLst/>
        </p:spPr>
        <p:txBody>
          <a:bodyPr lIns="0" tIns="0" rIns="0" bIns="0"/>
          <a:lstStyle/>
          <a:p>
            <a:pPr>
              <a:spcAft>
                <a:spcPct val="5000"/>
              </a:spcAft>
              <a:buSzTx/>
              <a:buFontTx/>
              <a:buNone/>
              <a:defRPr/>
            </a:pPr>
            <a:r>
              <a:rPr lang="zh-CN" altLang="en-US" sz="2800" dirty="0">
                <a:solidFill>
                  <a:srgbClr val="99FF33"/>
                </a:solidFill>
                <a:effectLst>
                  <a:outerShdw blurRad="38100" dist="38100" dir="2700000" algn="tl">
                    <a:srgbClr val="000000"/>
                  </a:outerShdw>
                </a:effectLst>
              </a:rPr>
              <a:t>此时姓名</a:t>
            </a:r>
            <a:r>
              <a:rPr lang="en-US" altLang="zh-CN" sz="2800" dirty="0">
                <a:solidFill>
                  <a:srgbClr val="99FF33"/>
                </a:solidFill>
                <a:effectLst>
                  <a:outerShdw blurRad="38100" dist="38100" dir="2700000" algn="tl">
                    <a:srgbClr val="000000"/>
                  </a:outerShdw>
                </a:effectLst>
              </a:rPr>
              <a:t>→</a:t>
            </a:r>
            <a:r>
              <a:rPr lang="zh-CN" altLang="en-US" sz="2800" dirty="0">
                <a:solidFill>
                  <a:srgbClr val="99FF33"/>
                </a:solidFill>
                <a:effectLst>
                  <a:outerShdw blurRad="38100" dist="38100" dir="2700000" algn="tl">
                    <a:srgbClr val="000000"/>
                  </a:outerShdw>
                </a:effectLst>
              </a:rPr>
              <a:t>年龄</a:t>
            </a:r>
          </a:p>
        </p:txBody>
      </p:sp>
      <p:sp>
        <p:nvSpPr>
          <p:cNvPr id="1484851" name="Rectangle 51"/>
          <p:cNvSpPr>
            <a:spLocks noChangeArrowheads="1"/>
          </p:cNvSpPr>
          <p:nvPr/>
        </p:nvSpPr>
        <p:spPr bwMode="auto">
          <a:xfrm>
            <a:off x="611188" y="927192"/>
            <a:ext cx="7813675" cy="457200"/>
          </a:xfrm>
          <a:prstGeom prst="rect">
            <a:avLst/>
          </a:prstGeom>
          <a:noFill/>
          <a:ln w="12700" cap="sq">
            <a:noFill/>
            <a:miter lim="800000"/>
            <a:headEnd/>
            <a:tailEnd/>
          </a:ln>
          <a:effectLst/>
        </p:spPr>
        <p:txBody>
          <a:bodyPr lIns="0" tIns="0" rIns="0" bIns="0"/>
          <a:lstStyle/>
          <a:p>
            <a:pPr>
              <a:buSzTx/>
              <a:buFontTx/>
              <a:buNone/>
              <a:defRPr/>
            </a:pPr>
            <a:r>
              <a:rPr lang="zh-CN" altLang="en-US" sz="2800" dirty="0">
                <a:solidFill>
                  <a:srgbClr val="CCFFCC"/>
                </a:solidFill>
                <a:effectLst>
                  <a:outerShdw blurRad="38100" dist="38100" dir="2700000" algn="tl">
                    <a:srgbClr val="000000"/>
                  </a:outerShdw>
                </a:effectLst>
              </a:rPr>
              <a:t>函数依赖是一个</a:t>
            </a:r>
            <a:r>
              <a:rPr lang="zh-CN" altLang="en-US" sz="2800" dirty="0">
                <a:solidFill>
                  <a:srgbClr val="FFFF00"/>
                </a:solidFill>
                <a:effectLst>
                  <a:outerShdw blurRad="38100" dist="38100" dir="2700000" algn="tl">
                    <a:srgbClr val="000000"/>
                  </a:outerShdw>
                </a:effectLst>
              </a:rPr>
              <a:t>语义范畴</a:t>
            </a:r>
            <a:r>
              <a:rPr lang="zh-CN" altLang="en-US" sz="2800" dirty="0">
                <a:solidFill>
                  <a:srgbClr val="CCFFCC"/>
                </a:solidFill>
                <a:effectLst>
                  <a:outerShdw blurRad="38100" dist="38100" dir="2700000" algn="tl">
                    <a:srgbClr val="000000"/>
                  </a:outerShdw>
                </a:effectLst>
              </a:rPr>
              <a:t>的概念，并且必须</a:t>
            </a:r>
            <a:r>
              <a:rPr lang="zh-CN" altLang="en-US" sz="2800" dirty="0">
                <a:solidFill>
                  <a:schemeClr val="hlink"/>
                </a:solidFill>
                <a:effectLst>
                  <a:outerShdw blurRad="38100" dist="38100" dir="2700000" algn="tl">
                    <a:srgbClr val="000000"/>
                  </a:outerShdw>
                </a:effectLst>
              </a:rPr>
              <a:t>以关系模式</a:t>
            </a:r>
            <a:r>
              <a:rPr lang="zh-CN" altLang="en-US" sz="2800" dirty="0">
                <a:solidFill>
                  <a:srgbClr val="CCFFCC"/>
                </a:solidFill>
                <a:effectLst>
                  <a:outerShdw blurRad="38100" dist="38100" dir="2700000" algn="tl">
                    <a:srgbClr val="000000"/>
                  </a:outerShdw>
                </a:effectLst>
              </a:rPr>
              <a:t>（包括所有可能的关系）</a:t>
            </a:r>
            <a:r>
              <a:rPr lang="zh-CN" altLang="en-US" sz="2800" dirty="0">
                <a:solidFill>
                  <a:schemeClr val="hlink"/>
                </a:solidFill>
                <a:effectLst>
                  <a:outerShdw blurRad="38100" dist="38100" dir="2700000" algn="tl">
                    <a:srgbClr val="000000"/>
                  </a:outerShdw>
                </a:effectLst>
              </a:rPr>
              <a:t>为准</a:t>
            </a:r>
            <a:r>
              <a:rPr lang="zh-CN" altLang="en-US" sz="2800" dirty="0">
                <a:solidFill>
                  <a:srgbClr val="CCFFCC"/>
                </a:solidFill>
                <a:effectLst>
                  <a:outerShdw blurRad="38100" dist="38100" dir="2700000" algn="tl">
                    <a:srgbClr val="000000"/>
                  </a:outerShdw>
                </a:effectLst>
              </a:rPr>
              <a:t>，而不能只考虑到一个关系的状态！</a:t>
            </a:r>
          </a:p>
        </p:txBody>
      </p:sp>
      <p:graphicFrame>
        <p:nvGraphicFramePr>
          <p:cNvPr id="1484852" name="Group 52"/>
          <p:cNvGraphicFramePr>
            <a:graphicFrameLocks noGrp="1"/>
          </p:cNvGraphicFramePr>
          <p:nvPr>
            <p:extLst>
              <p:ext uri="{D42A27DB-BD31-4B8C-83A1-F6EECF244321}">
                <p14:modId xmlns:p14="http://schemas.microsoft.com/office/powerpoint/2010/main" val="595441714"/>
              </p:ext>
            </p:extLst>
          </p:nvPr>
        </p:nvGraphicFramePr>
        <p:xfrm>
          <a:off x="5032044" y="2708920"/>
          <a:ext cx="3671888" cy="1584325"/>
        </p:xfrm>
        <a:graphic>
          <a:graphicData uri="http://schemas.openxmlformats.org/drawingml/2006/table">
            <a:tbl>
              <a:tblPr/>
              <a:tblGrid>
                <a:gridCol w="787400">
                  <a:extLst>
                    <a:ext uri="{9D8B030D-6E8A-4147-A177-3AD203B41FA5}">
                      <a16:colId xmlns:a16="http://schemas.microsoft.com/office/drawing/2014/main" val="20000"/>
                    </a:ext>
                  </a:extLst>
                </a:gridCol>
                <a:gridCol w="785813">
                  <a:extLst>
                    <a:ext uri="{9D8B030D-6E8A-4147-A177-3AD203B41FA5}">
                      <a16:colId xmlns:a16="http://schemas.microsoft.com/office/drawing/2014/main" val="20001"/>
                    </a:ext>
                  </a:extLst>
                </a:gridCol>
                <a:gridCol w="590550">
                  <a:extLst>
                    <a:ext uri="{9D8B030D-6E8A-4147-A177-3AD203B41FA5}">
                      <a16:colId xmlns:a16="http://schemas.microsoft.com/office/drawing/2014/main" val="20002"/>
                    </a:ext>
                  </a:extLst>
                </a:gridCol>
                <a:gridCol w="852487">
                  <a:extLst>
                    <a:ext uri="{9D8B030D-6E8A-4147-A177-3AD203B41FA5}">
                      <a16:colId xmlns:a16="http://schemas.microsoft.com/office/drawing/2014/main" val="20003"/>
                    </a:ext>
                  </a:extLst>
                </a:gridCol>
                <a:gridCol w="655638">
                  <a:extLst>
                    <a:ext uri="{9D8B030D-6E8A-4147-A177-3AD203B41FA5}">
                      <a16:colId xmlns:a16="http://schemas.microsoft.com/office/drawing/2014/main" val="20004"/>
                    </a:ext>
                  </a:extLst>
                </a:gridCol>
              </a:tblGrid>
              <a:tr h="109538">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学号</a:t>
                      </a:r>
                    </a:p>
                  </a:txBody>
                  <a:tcPr marL="0" marR="0" marT="0" marB="0"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姓名</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性别</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年龄</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系别</a:t>
                      </a:r>
                    </a:p>
                  </a:txBody>
                  <a:tcPr marL="0" marR="0" marT="0" marB="0"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5876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98001</a:t>
                      </a:r>
                    </a:p>
                  </a:txBody>
                  <a:tcPr marL="0" marR="0" marT="0" marB="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张三</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男</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20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CS</a:t>
                      </a:r>
                    </a:p>
                  </a:txBody>
                  <a:tcPr marL="0" marR="0" marT="0" marB="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9538">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98002</a:t>
                      </a:r>
                    </a:p>
                  </a:txBody>
                  <a:tcPr marL="0" marR="0" marT="0" marB="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李四</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女</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19</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IS</a:t>
                      </a:r>
                    </a:p>
                  </a:txBody>
                  <a:tcPr marL="0" marR="0" marT="0" marB="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795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9</a:t>
                      </a: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8003</a:t>
                      </a:r>
                    </a:p>
                  </a:txBody>
                  <a:tcPr marL="0" marR="0" marT="0" marB="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王五</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男</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21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IS</a:t>
                      </a:r>
                    </a:p>
                  </a:txBody>
                  <a:tcPr marL="0" marR="0" marT="0" marB="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125">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a:t>
                      </a:r>
                    </a:p>
                  </a:txBody>
                  <a:tcPr marL="0" marR="0" marT="0" marB="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a:t>
                      </a:r>
                    </a:p>
                  </a:txBody>
                  <a:tcPr marL="0" marR="0" marT="0" marB="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484898" name="Rectangle 98"/>
          <p:cNvSpPr>
            <a:spLocks noChangeArrowheads="1"/>
          </p:cNvSpPr>
          <p:nvPr/>
        </p:nvSpPr>
        <p:spPr bwMode="auto">
          <a:xfrm>
            <a:off x="5148064" y="4476359"/>
            <a:ext cx="3816350" cy="457200"/>
          </a:xfrm>
          <a:prstGeom prst="rect">
            <a:avLst/>
          </a:prstGeom>
          <a:noFill/>
          <a:ln w="12700" cap="sq">
            <a:noFill/>
            <a:miter lim="800000"/>
            <a:headEnd/>
            <a:tailEnd/>
          </a:ln>
          <a:effectLst/>
        </p:spPr>
        <p:txBody>
          <a:bodyPr lIns="0" tIns="0" rIns="0" bIns="0"/>
          <a:lstStyle/>
          <a:p>
            <a:pPr>
              <a:spcAft>
                <a:spcPct val="5000"/>
              </a:spcAft>
              <a:buSzTx/>
              <a:buFontTx/>
              <a:buNone/>
              <a:defRPr/>
            </a:pPr>
            <a:r>
              <a:rPr lang="zh-CN" altLang="en-US" sz="2800" dirty="0">
                <a:solidFill>
                  <a:srgbClr val="99FF33"/>
                </a:solidFill>
                <a:effectLst>
                  <a:outerShdw blurRad="38100" dist="38100" dir="2700000" algn="tl">
                    <a:srgbClr val="000000"/>
                  </a:outerShdw>
                </a:effectLst>
              </a:rPr>
              <a:t>能肯定姓名</a:t>
            </a:r>
            <a:r>
              <a:rPr lang="en-US" altLang="zh-CN" sz="2800" dirty="0">
                <a:solidFill>
                  <a:srgbClr val="99FF33"/>
                </a:solidFill>
                <a:effectLst>
                  <a:outerShdw blurRad="38100" dist="38100" dir="2700000" algn="tl">
                    <a:srgbClr val="000000"/>
                  </a:outerShdw>
                </a:effectLst>
              </a:rPr>
              <a:t>→</a:t>
            </a:r>
            <a:r>
              <a:rPr lang="zh-CN" altLang="en-US" sz="2800" dirty="0">
                <a:solidFill>
                  <a:srgbClr val="99FF33"/>
                </a:solidFill>
                <a:effectLst>
                  <a:outerShdw blurRad="38100" dist="38100" dir="2700000" algn="tl">
                    <a:srgbClr val="000000"/>
                  </a:outerShdw>
                </a:effectLst>
              </a:rPr>
              <a:t>年龄吗？</a:t>
            </a:r>
          </a:p>
          <a:p>
            <a:pPr>
              <a:spcAft>
                <a:spcPct val="5000"/>
              </a:spcAft>
              <a:buSzTx/>
              <a:buFontTx/>
              <a:buNone/>
              <a:defRPr/>
            </a:pPr>
            <a:r>
              <a:rPr lang="zh-CN" altLang="en-US" sz="2800" dirty="0">
                <a:solidFill>
                  <a:srgbClr val="99FF33"/>
                </a:solidFill>
                <a:effectLst>
                  <a:outerShdw blurRad="38100" dist="38100" dir="2700000" algn="tl">
                    <a:srgbClr val="000000"/>
                  </a:outerShdw>
                </a:effectLst>
              </a:rPr>
              <a:t>若约定不能重名呢？</a:t>
            </a:r>
          </a:p>
        </p:txBody>
      </p:sp>
      <p:sp>
        <p:nvSpPr>
          <p:cNvPr id="10" name="Text Box 2"/>
          <p:cNvSpPr txBox="1">
            <a:spLocks noChangeArrowheads="1"/>
          </p:cNvSpPr>
          <p:nvPr/>
        </p:nvSpPr>
        <p:spPr bwMode="auto">
          <a:xfrm>
            <a:off x="179388" y="-27613"/>
            <a:ext cx="4392611" cy="760959"/>
          </a:xfrm>
          <a:prstGeom prst="rect">
            <a:avLst/>
          </a:prstGeom>
          <a:noFill/>
          <a:ln w="12700" cap="sq">
            <a:noFill/>
            <a:miter lim="800000"/>
            <a:headEnd/>
            <a:tailEnd/>
          </a:ln>
          <a:effectLst>
            <a:outerShdw dist="35921" dir="2700000" algn="ctr" rotWithShape="0">
              <a:schemeClr val="bg2"/>
            </a:outerShdw>
          </a:effectLst>
        </p:spPr>
        <p:txBody>
          <a:bodyPr wrap="square" lIns="72000" tIns="72000" rIns="72000" bIns="72000">
            <a:spAutoFit/>
          </a:bodyPr>
          <a:lstStyle/>
          <a:p>
            <a:pPr>
              <a:spcBef>
                <a:spcPts val="0"/>
              </a:spcBef>
              <a:defRPr/>
            </a:pPr>
            <a:r>
              <a:rPr lang="zh-CN" altLang="en-US" sz="4000" b="1" dirty="0" smtClean="0">
                <a:solidFill>
                  <a:srgbClr val="FFFFCC"/>
                </a:solidFill>
                <a:effectLst>
                  <a:outerShdw blurRad="38100" dist="38100" dir="2700000" algn="tl">
                    <a:srgbClr val="000000"/>
                  </a:outerShdw>
                </a:effectLst>
                <a:latin typeface="Arial" pitchFamily="34" charset="0"/>
                <a:ea typeface="微软雅黑" pitchFamily="34" charset="-122"/>
                <a:cs typeface="+mj-cs"/>
              </a:rPr>
              <a:t>函数依赖的定义</a:t>
            </a:r>
            <a:endParaRPr lang="zh-CN" altLang="en-US" sz="4000" b="1" dirty="0">
              <a:solidFill>
                <a:srgbClr val="FFFFCC"/>
              </a:solidFill>
              <a:effectLst>
                <a:outerShdw blurRad="38100" dist="38100" dir="2700000" algn="tl">
                  <a:srgbClr val="000000"/>
                </a:outerShdw>
              </a:effectLst>
              <a:latin typeface="Arial" pitchFamily="34" charset="0"/>
              <a:ea typeface="微软雅黑" pitchFamily="34" charset="-122"/>
              <a:cs typeface="+mj-cs"/>
            </a:endParaRPr>
          </a:p>
        </p:txBody>
      </p:sp>
      <p:sp>
        <p:nvSpPr>
          <p:cNvPr id="9" name="Rectangle 11"/>
          <p:cNvSpPr>
            <a:spLocks noChangeArrowheads="1"/>
          </p:cNvSpPr>
          <p:nvPr/>
        </p:nvSpPr>
        <p:spPr bwMode="auto">
          <a:xfrm>
            <a:off x="639432" y="5733256"/>
            <a:ext cx="7993062" cy="457200"/>
          </a:xfrm>
          <a:prstGeom prst="rect">
            <a:avLst/>
          </a:prstGeom>
          <a:noFill/>
          <a:ln w="12700" cap="sq">
            <a:noFill/>
            <a:miter lim="800000"/>
            <a:headEnd/>
            <a:tailEnd/>
          </a:ln>
          <a:effectLst/>
        </p:spPr>
        <p:txBody>
          <a:bodyPr lIns="0" tIns="0" rIns="0" bIns="0"/>
          <a:lstStyle/>
          <a:p>
            <a:pPr>
              <a:buSzTx/>
              <a:buFontTx/>
              <a:buNone/>
              <a:defRPr/>
            </a:pPr>
            <a:r>
              <a:rPr lang="zh-CN" altLang="en-US" sz="2800" dirty="0" smtClean="0">
                <a:solidFill>
                  <a:schemeClr val="folHlink"/>
                </a:solidFill>
                <a:effectLst>
                  <a:outerShdw blurRad="38100" dist="38100" dir="2700000" algn="tl">
                    <a:srgbClr val="000000"/>
                  </a:outerShdw>
                </a:effectLst>
              </a:rPr>
              <a:t>另外，函数依赖也可以根据属性间的联系类型（即</a:t>
            </a:r>
            <a:r>
              <a:rPr lang="en-US" altLang="zh-CN" sz="2800" dirty="0" smtClean="0">
                <a:solidFill>
                  <a:schemeClr val="folHlink"/>
                </a:solidFill>
                <a:effectLst>
                  <a:outerShdw blurRad="38100" dist="38100" dir="2700000" algn="tl">
                    <a:srgbClr val="000000"/>
                  </a:outerShdw>
                </a:effectLst>
              </a:rPr>
              <a:t>1:1</a:t>
            </a:r>
            <a:r>
              <a:rPr lang="zh-CN" altLang="en-US" sz="2800" dirty="0" smtClean="0">
                <a:solidFill>
                  <a:schemeClr val="folHlink"/>
                </a:solidFill>
                <a:effectLst>
                  <a:outerShdw blurRad="38100" dist="38100" dir="2700000" algn="tl">
                    <a:srgbClr val="000000"/>
                  </a:outerShdw>
                </a:effectLst>
              </a:rPr>
              <a:t>、</a:t>
            </a:r>
            <a:r>
              <a:rPr lang="en-US" altLang="zh-CN" sz="2800" dirty="0" smtClean="0">
                <a:solidFill>
                  <a:schemeClr val="folHlink"/>
                </a:solidFill>
                <a:effectLst>
                  <a:outerShdw blurRad="38100" dist="38100" dir="2700000" algn="tl">
                    <a:srgbClr val="000000"/>
                  </a:outerShdw>
                </a:effectLst>
              </a:rPr>
              <a:t>1:n </a:t>
            </a:r>
            <a:r>
              <a:rPr lang="zh-CN" altLang="en-US" sz="2800" dirty="0" smtClean="0">
                <a:solidFill>
                  <a:schemeClr val="folHlink"/>
                </a:solidFill>
                <a:effectLst>
                  <a:outerShdw blurRad="38100" dist="38100" dir="2700000" algn="tl">
                    <a:srgbClr val="000000"/>
                  </a:outerShdw>
                </a:effectLst>
              </a:rPr>
              <a:t>和 </a:t>
            </a:r>
            <a:r>
              <a:rPr lang="en-US" altLang="zh-CN" sz="2800" dirty="0" smtClean="0">
                <a:solidFill>
                  <a:schemeClr val="folHlink"/>
                </a:solidFill>
                <a:effectLst>
                  <a:outerShdw blurRad="38100" dist="38100" dir="2700000" algn="tl">
                    <a:srgbClr val="000000"/>
                  </a:outerShdw>
                </a:effectLst>
              </a:rPr>
              <a:t>m:n </a:t>
            </a:r>
            <a:r>
              <a:rPr lang="zh-CN" altLang="en-US" sz="2800" dirty="0" smtClean="0">
                <a:solidFill>
                  <a:schemeClr val="folHlink"/>
                </a:solidFill>
                <a:effectLst>
                  <a:outerShdw blurRad="38100" dist="38100" dir="2700000" algn="tl">
                    <a:srgbClr val="000000"/>
                  </a:outerShdw>
                </a:effectLst>
              </a:rPr>
              <a:t>来判断。</a:t>
            </a:r>
            <a:endParaRPr lang="en-US" altLang="zh-CN" sz="2800" dirty="0">
              <a:solidFill>
                <a:schemeClr val="folHlink"/>
              </a:solidFill>
              <a:effectLst>
                <a:outerShdw blurRad="38100" dist="38100" dir="2700000" algn="tl">
                  <a:srgbClr val="000000"/>
                </a:outerShdw>
              </a:effectLst>
            </a:endParaRP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5828" name="Rectangle 4"/>
          <p:cNvSpPr>
            <a:spLocks noChangeArrowheads="1"/>
          </p:cNvSpPr>
          <p:nvPr/>
        </p:nvSpPr>
        <p:spPr bwMode="auto">
          <a:xfrm>
            <a:off x="539750" y="1098294"/>
            <a:ext cx="8208963" cy="647700"/>
          </a:xfrm>
          <a:prstGeom prst="rect">
            <a:avLst/>
          </a:prstGeom>
          <a:noFill/>
          <a:ln w="9525">
            <a:noFill/>
            <a:miter lim="800000"/>
            <a:headEnd/>
            <a:tailEnd/>
          </a:ln>
          <a:effectLst/>
        </p:spPr>
        <p:txBody>
          <a:bodyPr/>
          <a:lstStyle/>
          <a:p>
            <a:pPr>
              <a:lnSpc>
                <a:spcPct val="110000"/>
              </a:lnSpc>
              <a:spcAft>
                <a:spcPct val="40000"/>
              </a:spcAft>
              <a:buClr>
                <a:srgbClr val="66FF33"/>
              </a:buClr>
              <a:buSzPct val="85000"/>
              <a:defRPr/>
            </a:pPr>
            <a:r>
              <a:rPr kumimoji="0" lang="zh-CN" altLang="en-US" sz="2800" dirty="0">
                <a:solidFill>
                  <a:srgbClr val="CCFFCC"/>
                </a:solidFill>
                <a:effectLst>
                  <a:outerShdw blurRad="38100" dist="38100" dir="2700000" algn="tl">
                    <a:srgbClr val="000000"/>
                  </a:outerShdw>
                </a:effectLst>
              </a:rPr>
              <a:t>设</a:t>
            </a:r>
            <a:r>
              <a:rPr kumimoji="0" lang="en-US" altLang="zh-CN" sz="2800" dirty="0">
                <a:solidFill>
                  <a:srgbClr val="CCFFCC"/>
                </a:solidFill>
                <a:effectLst>
                  <a:outerShdw blurRad="38100" dist="38100" dir="2700000" algn="tl">
                    <a:srgbClr val="000000"/>
                  </a:outerShdw>
                </a:effectLst>
              </a:rPr>
              <a:t>R(U)</a:t>
            </a:r>
            <a:r>
              <a:rPr kumimoji="0" lang="zh-CN" altLang="en-US" sz="2800" dirty="0">
                <a:solidFill>
                  <a:srgbClr val="CCFFCC"/>
                </a:solidFill>
                <a:effectLst>
                  <a:outerShdw blurRad="38100" dist="38100" dir="2700000" algn="tl">
                    <a:srgbClr val="000000"/>
                  </a:outerShdw>
                </a:effectLst>
              </a:rPr>
              <a:t>是一个关系模式，</a:t>
            </a:r>
            <a:r>
              <a:rPr kumimoji="0" lang="en-US" altLang="zh-CN" sz="2800" dirty="0">
                <a:solidFill>
                  <a:srgbClr val="CCFFCC"/>
                </a:solidFill>
                <a:effectLst>
                  <a:outerShdw blurRad="38100" dist="38100" dir="2700000" algn="tl">
                    <a:srgbClr val="000000"/>
                  </a:outerShdw>
                </a:effectLst>
              </a:rPr>
              <a:t>X</a:t>
            </a:r>
            <a:r>
              <a:rPr kumimoji="0" lang="zh-CN" altLang="en-US" sz="2800" dirty="0">
                <a:solidFill>
                  <a:srgbClr val="CCFFCC"/>
                </a:solidFill>
                <a:effectLst>
                  <a:outerShdw blurRad="38100" dist="38100" dir="2700000" algn="tl">
                    <a:srgbClr val="000000"/>
                  </a:outerShdw>
                </a:effectLst>
              </a:rPr>
              <a:t>和</a:t>
            </a:r>
            <a:r>
              <a:rPr kumimoji="0" lang="en-US" altLang="zh-CN" sz="2800" dirty="0">
                <a:solidFill>
                  <a:srgbClr val="CCFFCC"/>
                </a:solidFill>
                <a:effectLst>
                  <a:outerShdw blurRad="38100" dist="38100" dir="2700000" algn="tl">
                    <a:srgbClr val="000000"/>
                  </a:outerShdw>
                </a:effectLst>
              </a:rPr>
              <a:t>Y</a:t>
            </a:r>
            <a:r>
              <a:rPr kumimoji="0" lang="zh-CN" altLang="en-US" sz="2800" dirty="0">
                <a:solidFill>
                  <a:srgbClr val="CCFFCC"/>
                </a:solidFill>
                <a:effectLst>
                  <a:outerShdw blurRad="38100" dist="38100" dir="2700000" algn="tl">
                    <a:srgbClr val="000000"/>
                  </a:outerShdw>
                </a:effectLst>
              </a:rPr>
              <a:t>都是</a:t>
            </a:r>
            <a:r>
              <a:rPr kumimoji="0" lang="en-US" altLang="zh-CN" sz="2800" dirty="0">
                <a:solidFill>
                  <a:srgbClr val="CCFFCC"/>
                </a:solidFill>
                <a:effectLst>
                  <a:outerShdw blurRad="38100" dist="38100" dir="2700000" algn="tl">
                    <a:srgbClr val="000000"/>
                  </a:outerShdw>
                </a:effectLst>
              </a:rPr>
              <a:t>U</a:t>
            </a:r>
            <a:r>
              <a:rPr kumimoji="0" lang="zh-CN" altLang="en-US" sz="2800" dirty="0">
                <a:solidFill>
                  <a:srgbClr val="CCFFCC"/>
                </a:solidFill>
                <a:effectLst>
                  <a:outerShdw blurRad="38100" dist="38100" dir="2700000" algn="tl">
                    <a:srgbClr val="000000"/>
                  </a:outerShdw>
                </a:effectLst>
              </a:rPr>
              <a:t>的子集，且存在</a:t>
            </a:r>
            <a:r>
              <a:rPr lang="en-US" altLang="zh-CN" sz="2800" dirty="0">
                <a:solidFill>
                  <a:srgbClr val="CCFFCC"/>
                </a:solidFill>
                <a:effectLst>
                  <a:outerShdw blurRad="38100" dist="38100" dir="2700000" algn="tl">
                    <a:srgbClr val="000000"/>
                  </a:outerShdw>
                </a:effectLst>
              </a:rPr>
              <a:t>X→Y</a:t>
            </a:r>
            <a:r>
              <a:rPr lang="zh-CN" altLang="en-US" sz="2800" dirty="0">
                <a:solidFill>
                  <a:srgbClr val="CCFFCC"/>
                </a:solidFill>
                <a:effectLst>
                  <a:outerShdw blurRad="38100" dist="38100" dir="2700000" algn="tl">
                    <a:srgbClr val="000000"/>
                  </a:outerShdw>
                </a:effectLst>
              </a:rPr>
              <a:t>。若对于</a:t>
            </a:r>
            <a:r>
              <a:rPr lang="en-US" altLang="zh-CN" sz="2800" dirty="0">
                <a:solidFill>
                  <a:srgbClr val="CCFFCC"/>
                </a:solidFill>
                <a:effectLst>
                  <a:outerShdw blurRad="38100" dist="38100" dir="2700000" algn="tl">
                    <a:srgbClr val="000000"/>
                  </a:outerShdw>
                </a:effectLst>
              </a:rPr>
              <a:t>X</a:t>
            </a:r>
            <a:r>
              <a:rPr lang="zh-CN" altLang="en-US" sz="2800" dirty="0">
                <a:solidFill>
                  <a:srgbClr val="CCFFCC"/>
                </a:solidFill>
                <a:effectLst>
                  <a:outerShdw blurRad="38100" dist="38100" dir="2700000" algn="tl">
                    <a:srgbClr val="000000"/>
                  </a:outerShdw>
                </a:effectLst>
              </a:rPr>
              <a:t>的任何一个真子集</a:t>
            </a:r>
            <a:r>
              <a:rPr lang="en-US" altLang="zh-CN" sz="2800" dirty="0">
                <a:solidFill>
                  <a:srgbClr val="CCFFCC"/>
                </a:solidFill>
                <a:effectLst>
                  <a:outerShdw blurRad="38100" dist="38100" dir="2700000" algn="tl">
                    <a:srgbClr val="000000"/>
                  </a:outerShdw>
                </a:effectLst>
              </a:rPr>
              <a:t>X'，</a:t>
            </a:r>
            <a:r>
              <a:rPr lang="zh-CN" altLang="en-US" sz="2800" dirty="0">
                <a:solidFill>
                  <a:srgbClr val="CCFFCC"/>
                </a:solidFill>
                <a:effectLst>
                  <a:outerShdw blurRad="38100" dist="38100" dir="2700000" algn="tl">
                    <a:srgbClr val="000000"/>
                  </a:outerShdw>
                </a:effectLst>
              </a:rPr>
              <a:t>都有</a:t>
            </a:r>
            <a:r>
              <a:rPr lang="en-US" altLang="zh-CN" sz="2800" dirty="0">
                <a:solidFill>
                  <a:srgbClr val="CCFFCC"/>
                </a:solidFill>
                <a:effectLst>
                  <a:outerShdw blurRad="38100" dist="38100" dir="2700000" algn="tl">
                    <a:srgbClr val="000000"/>
                  </a:outerShdw>
                </a:effectLst>
              </a:rPr>
              <a:t>X'→Y，</a:t>
            </a:r>
            <a:r>
              <a:rPr lang="zh-CN" altLang="en-US" sz="2800" dirty="0">
                <a:solidFill>
                  <a:srgbClr val="CCFFCC"/>
                </a:solidFill>
                <a:effectLst>
                  <a:outerShdw blurRad="38100" dist="38100" dir="2700000" algn="tl">
                    <a:srgbClr val="000000"/>
                  </a:outerShdw>
                </a:effectLst>
              </a:rPr>
              <a:t>则称</a:t>
            </a:r>
            <a:r>
              <a:rPr lang="en-US" altLang="zh-CN" sz="2800" dirty="0">
                <a:solidFill>
                  <a:srgbClr val="CCFFCC"/>
                </a:solidFill>
                <a:effectLst>
                  <a:outerShdw blurRad="38100" dist="38100" dir="2700000" algn="tl">
                    <a:srgbClr val="000000"/>
                  </a:outerShdw>
                </a:effectLst>
              </a:rPr>
              <a:t>Y</a:t>
            </a:r>
            <a:r>
              <a:rPr lang="zh-CN" altLang="en-US" sz="2800" dirty="0">
                <a:solidFill>
                  <a:srgbClr val="FFFF00"/>
                </a:solidFill>
                <a:effectLst>
                  <a:outerShdw blurRad="38100" dist="38100" dir="2700000" algn="tl">
                    <a:srgbClr val="000000"/>
                  </a:outerShdw>
                </a:effectLst>
              </a:rPr>
              <a:t>完全函数依赖</a:t>
            </a:r>
            <a:r>
              <a:rPr lang="zh-CN" altLang="en-US" sz="2800" dirty="0">
                <a:solidFill>
                  <a:srgbClr val="CCFFCC"/>
                </a:solidFill>
                <a:effectLst>
                  <a:outerShdw blurRad="38100" dist="38100" dir="2700000" algn="tl">
                    <a:srgbClr val="000000"/>
                  </a:outerShdw>
                </a:effectLst>
              </a:rPr>
              <a:t>于</a:t>
            </a:r>
            <a:r>
              <a:rPr lang="en-US" altLang="zh-CN" sz="2800" dirty="0">
                <a:solidFill>
                  <a:srgbClr val="CCFFCC"/>
                </a:solidFill>
                <a:effectLst>
                  <a:outerShdw blurRad="38100" dist="38100" dir="2700000" algn="tl">
                    <a:srgbClr val="000000"/>
                  </a:outerShdw>
                </a:effectLst>
              </a:rPr>
              <a:t>X，</a:t>
            </a:r>
            <a:r>
              <a:rPr lang="zh-CN" altLang="en-US" sz="2800" dirty="0">
                <a:solidFill>
                  <a:srgbClr val="CCFFCC"/>
                </a:solidFill>
                <a:effectLst>
                  <a:outerShdw blurRad="38100" dist="38100" dir="2700000" algn="tl">
                    <a:srgbClr val="000000"/>
                  </a:outerShdw>
                </a:effectLst>
              </a:rPr>
              <a:t>记作</a:t>
            </a:r>
            <a:r>
              <a:rPr lang="en-US" altLang="zh-CN" sz="2800" dirty="0">
                <a:solidFill>
                  <a:srgbClr val="FFFF00"/>
                </a:solidFill>
                <a:effectLst>
                  <a:outerShdw blurRad="38100" dist="38100" dir="2700000" algn="tl">
                    <a:srgbClr val="000000"/>
                  </a:outerShdw>
                </a:effectLst>
              </a:rPr>
              <a:t>X   Y</a:t>
            </a:r>
            <a:r>
              <a:rPr lang="zh-CN" altLang="en-US" sz="2800" dirty="0">
                <a:solidFill>
                  <a:srgbClr val="CCFFCC"/>
                </a:solidFill>
                <a:effectLst>
                  <a:outerShdw blurRad="38100" dist="38100" dir="2700000" algn="tl">
                    <a:srgbClr val="000000"/>
                  </a:outerShdw>
                </a:effectLst>
                <a:sym typeface="Symbol" pitchFamily="18" charset="2"/>
              </a:rPr>
              <a:t>；若对于</a:t>
            </a:r>
            <a:r>
              <a:rPr lang="en-US" altLang="zh-CN" sz="2800" dirty="0">
                <a:solidFill>
                  <a:srgbClr val="CCFFCC"/>
                </a:solidFill>
                <a:effectLst>
                  <a:outerShdw blurRad="38100" dist="38100" dir="2700000" algn="tl">
                    <a:srgbClr val="000000"/>
                  </a:outerShdw>
                </a:effectLst>
                <a:sym typeface="Symbol" pitchFamily="18" charset="2"/>
              </a:rPr>
              <a:t>X</a:t>
            </a:r>
            <a:r>
              <a:rPr lang="zh-CN" altLang="en-US" sz="2800" dirty="0">
                <a:solidFill>
                  <a:srgbClr val="CCFFCC"/>
                </a:solidFill>
                <a:effectLst>
                  <a:outerShdw blurRad="38100" dist="38100" dir="2700000" algn="tl">
                    <a:srgbClr val="000000"/>
                  </a:outerShdw>
                </a:effectLst>
                <a:sym typeface="Symbol" pitchFamily="18" charset="2"/>
              </a:rPr>
              <a:t>的某一个真子集</a:t>
            </a:r>
            <a:r>
              <a:rPr lang="en-US" altLang="zh-CN" sz="2800" dirty="0">
                <a:solidFill>
                  <a:srgbClr val="CCFFCC"/>
                </a:solidFill>
                <a:effectLst>
                  <a:outerShdw blurRad="38100" dist="38100" dir="2700000" algn="tl">
                    <a:srgbClr val="000000"/>
                  </a:outerShdw>
                </a:effectLst>
              </a:rPr>
              <a:t>X'，</a:t>
            </a:r>
            <a:r>
              <a:rPr lang="zh-CN" altLang="en-US" sz="2800" dirty="0">
                <a:solidFill>
                  <a:srgbClr val="CCFFCC"/>
                </a:solidFill>
                <a:effectLst>
                  <a:outerShdw blurRad="38100" dist="38100" dir="2700000" algn="tl">
                    <a:srgbClr val="000000"/>
                  </a:outerShdw>
                </a:effectLst>
              </a:rPr>
              <a:t>有</a:t>
            </a:r>
            <a:r>
              <a:rPr lang="en-US" altLang="zh-CN" sz="2800" dirty="0">
                <a:solidFill>
                  <a:srgbClr val="CCFFCC"/>
                </a:solidFill>
                <a:effectLst>
                  <a:outerShdw blurRad="38100" dist="38100" dir="2700000" algn="tl">
                    <a:srgbClr val="000000"/>
                  </a:outerShdw>
                </a:effectLst>
              </a:rPr>
              <a:t>X'→Y，</a:t>
            </a:r>
            <a:r>
              <a:rPr lang="zh-CN" altLang="en-US" sz="2800" dirty="0">
                <a:solidFill>
                  <a:srgbClr val="CCFFCC"/>
                </a:solidFill>
                <a:effectLst>
                  <a:outerShdw blurRad="38100" dist="38100" dir="2700000" algn="tl">
                    <a:srgbClr val="000000"/>
                  </a:outerShdw>
                </a:effectLst>
              </a:rPr>
              <a:t>则称</a:t>
            </a:r>
            <a:r>
              <a:rPr lang="en-US" altLang="zh-CN" sz="2800" dirty="0">
                <a:solidFill>
                  <a:srgbClr val="CCFFCC"/>
                </a:solidFill>
                <a:effectLst>
                  <a:outerShdw blurRad="38100" dist="38100" dir="2700000" algn="tl">
                    <a:srgbClr val="000000"/>
                  </a:outerShdw>
                </a:effectLst>
              </a:rPr>
              <a:t>Y</a:t>
            </a:r>
            <a:r>
              <a:rPr lang="zh-CN" altLang="en-US" sz="2800" dirty="0">
                <a:solidFill>
                  <a:srgbClr val="FFFF00"/>
                </a:solidFill>
                <a:effectLst>
                  <a:outerShdw blurRad="38100" dist="38100" dir="2700000" algn="tl">
                    <a:srgbClr val="000000"/>
                  </a:outerShdw>
                </a:effectLst>
              </a:rPr>
              <a:t>部分函数依赖</a:t>
            </a:r>
            <a:r>
              <a:rPr lang="zh-CN" altLang="en-US" sz="2800" dirty="0">
                <a:solidFill>
                  <a:srgbClr val="CCFFCC"/>
                </a:solidFill>
                <a:effectLst>
                  <a:outerShdw blurRad="38100" dist="38100" dir="2700000" algn="tl">
                    <a:srgbClr val="000000"/>
                  </a:outerShdw>
                </a:effectLst>
              </a:rPr>
              <a:t>于</a:t>
            </a:r>
            <a:r>
              <a:rPr lang="en-US" altLang="zh-CN" sz="2800" dirty="0">
                <a:solidFill>
                  <a:srgbClr val="CCFFCC"/>
                </a:solidFill>
                <a:effectLst>
                  <a:outerShdw blurRad="38100" dist="38100" dir="2700000" algn="tl">
                    <a:srgbClr val="000000"/>
                  </a:outerShdw>
                </a:effectLst>
              </a:rPr>
              <a:t>X，</a:t>
            </a:r>
            <a:r>
              <a:rPr lang="zh-CN" altLang="en-US" sz="2800" dirty="0">
                <a:solidFill>
                  <a:srgbClr val="CCFFCC"/>
                </a:solidFill>
                <a:effectLst>
                  <a:outerShdw blurRad="38100" dist="38100" dir="2700000" algn="tl">
                    <a:srgbClr val="000000"/>
                  </a:outerShdw>
                </a:effectLst>
              </a:rPr>
              <a:t>记作</a:t>
            </a:r>
            <a:r>
              <a:rPr lang="en-US" altLang="zh-CN" sz="2800" dirty="0">
                <a:solidFill>
                  <a:srgbClr val="CCFFCC"/>
                </a:solidFill>
                <a:effectLst>
                  <a:outerShdw blurRad="38100" dist="38100" dir="2700000" algn="tl">
                    <a:srgbClr val="000000"/>
                  </a:outerShdw>
                </a:effectLst>
              </a:rPr>
              <a:t>X   Y</a:t>
            </a:r>
            <a:r>
              <a:rPr lang="zh-CN" altLang="en-US" sz="2800" dirty="0">
                <a:solidFill>
                  <a:srgbClr val="CCFFCC"/>
                </a:solidFill>
                <a:effectLst>
                  <a:outerShdw blurRad="38100" dist="38100" dir="2700000" algn="tl">
                    <a:srgbClr val="000000"/>
                  </a:outerShdw>
                </a:effectLst>
              </a:rPr>
              <a:t>。</a:t>
            </a:r>
            <a:endParaRPr lang="zh-CN" altLang="en-US" sz="2800" dirty="0">
              <a:solidFill>
                <a:srgbClr val="CCFFCC"/>
              </a:solidFill>
              <a:effectLst>
                <a:outerShdw blurRad="38100" dist="38100" dir="2700000" algn="tl">
                  <a:srgbClr val="000000"/>
                </a:outerShdw>
              </a:effectLst>
              <a:sym typeface="Symbol" pitchFamily="18" charset="2"/>
            </a:endParaRPr>
          </a:p>
        </p:txBody>
      </p:sp>
      <p:sp>
        <p:nvSpPr>
          <p:cNvPr id="1485829" name="Line 5"/>
          <p:cNvSpPr>
            <a:spLocks noChangeShapeType="1"/>
          </p:cNvSpPr>
          <p:nvPr/>
        </p:nvSpPr>
        <p:spPr bwMode="auto">
          <a:xfrm>
            <a:off x="5495925" y="2376231"/>
            <a:ext cx="457200" cy="0"/>
          </a:xfrm>
          <a:prstGeom prst="line">
            <a:avLst/>
          </a:prstGeom>
          <a:noFill/>
          <a:ln w="12700" cap="sq">
            <a:solidFill>
              <a:srgbClr val="FFFF00"/>
            </a:solidFill>
            <a:round/>
            <a:headEnd/>
            <a:tailEnd type="stealth" w="med" len="med"/>
          </a:ln>
          <a:effectLst/>
        </p:spPr>
        <p:txBody>
          <a:bodyPr wrap="none" lIns="0" tIns="0" rIns="0" bIns="0" anchor="ctr"/>
          <a:lstStyle/>
          <a:p>
            <a:pPr>
              <a:defRPr/>
            </a:pPr>
            <a:endParaRPr lang="zh-CN" altLang="en-US"/>
          </a:p>
        </p:txBody>
      </p:sp>
      <p:sp>
        <p:nvSpPr>
          <p:cNvPr id="1485830" name="Text Box 6"/>
          <p:cNvSpPr txBox="1">
            <a:spLocks noChangeArrowheads="1"/>
          </p:cNvSpPr>
          <p:nvPr/>
        </p:nvSpPr>
        <p:spPr bwMode="auto">
          <a:xfrm>
            <a:off x="5651500" y="2112706"/>
            <a:ext cx="76200" cy="247650"/>
          </a:xfrm>
          <a:prstGeom prst="rect">
            <a:avLst/>
          </a:prstGeom>
          <a:noFill/>
          <a:ln w="12700" cap="sq">
            <a:noFill/>
            <a:miter lim="800000"/>
            <a:headEnd/>
            <a:tailEnd/>
          </a:ln>
          <a:effec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algn="ctr" eaLnBrk="1" hangingPunct="1">
              <a:lnSpc>
                <a:spcPct val="90000"/>
              </a:lnSpc>
              <a:spcAft>
                <a:spcPct val="0"/>
              </a:spcAft>
              <a:buSzTx/>
              <a:buFontTx/>
              <a:buNone/>
              <a:defRPr/>
            </a:pPr>
            <a:r>
              <a:rPr lang="en-US" altLang="zh-CN" sz="1800" b="1" i="1" smtClean="0">
                <a:solidFill>
                  <a:srgbClr val="FFFF00"/>
                </a:solidFill>
                <a:effectLst>
                  <a:outerShdw blurRad="38100" dist="38100" dir="2700000" algn="tl">
                    <a:srgbClr val="000000"/>
                  </a:outerShdw>
                </a:effectLst>
                <a:latin typeface="Times New Roman" pitchFamily="18" charset="0"/>
              </a:rPr>
              <a:t>f</a:t>
            </a:r>
          </a:p>
        </p:txBody>
      </p:sp>
      <p:sp>
        <p:nvSpPr>
          <p:cNvPr id="1485831" name="Line 7"/>
          <p:cNvSpPr>
            <a:spLocks noChangeShapeType="1"/>
          </p:cNvSpPr>
          <p:nvPr/>
        </p:nvSpPr>
        <p:spPr bwMode="auto">
          <a:xfrm>
            <a:off x="7672388" y="1774569"/>
            <a:ext cx="76200" cy="228600"/>
          </a:xfrm>
          <a:prstGeom prst="line">
            <a:avLst/>
          </a:prstGeom>
          <a:noFill/>
          <a:ln w="19050" cap="sq">
            <a:solidFill>
              <a:srgbClr val="CCFFCC"/>
            </a:solidFill>
            <a:round/>
            <a:headEnd/>
            <a:tailEnd/>
          </a:ln>
          <a:effectLst/>
        </p:spPr>
        <p:txBody>
          <a:bodyPr wrap="none" lIns="0" tIns="0" rIns="0" bIns="0" anchor="ctr"/>
          <a:lstStyle/>
          <a:p>
            <a:pPr>
              <a:defRPr/>
            </a:pPr>
            <a:endParaRPr lang="zh-CN" altLang="en-US"/>
          </a:p>
        </p:txBody>
      </p:sp>
      <p:sp>
        <p:nvSpPr>
          <p:cNvPr id="1485832" name="Line 8"/>
          <p:cNvSpPr>
            <a:spLocks noChangeShapeType="1"/>
          </p:cNvSpPr>
          <p:nvPr/>
        </p:nvSpPr>
        <p:spPr bwMode="auto">
          <a:xfrm>
            <a:off x="1593850" y="3279519"/>
            <a:ext cx="457200" cy="0"/>
          </a:xfrm>
          <a:prstGeom prst="line">
            <a:avLst/>
          </a:prstGeom>
          <a:noFill/>
          <a:ln w="12700" cap="sq">
            <a:solidFill>
              <a:srgbClr val="FFFF00"/>
            </a:solidFill>
            <a:round/>
            <a:headEnd/>
            <a:tailEnd type="stealth" w="med" len="med"/>
          </a:ln>
          <a:effectLst/>
        </p:spPr>
        <p:txBody>
          <a:bodyPr wrap="none" lIns="0" tIns="0" rIns="0" bIns="0" anchor="ctr"/>
          <a:lstStyle/>
          <a:p>
            <a:pPr>
              <a:defRPr/>
            </a:pPr>
            <a:endParaRPr lang="zh-CN" altLang="en-US"/>
          </a:p>
        </p:txBody>
      </p:sp>
      <p:sp>
        <p:nvSpPr>
          <p:cNvPr id="1485833" name="Text Box 9"/>
          <p:cNvSpPr txBox="1">
            <a:spLocks noChangeArrowheads="1"/>
          </p:cNvSpPr>
          <p:nvPr/>
        </p:nvSpPr>
        <p:spPr bwMode="auto">
          <a:xfrm>
            <a:off x="1730375" y="3015994"/>
            <a:ext cx="114300" cy="247650"/>
          </a:xfrm>
          <a:prstGeom prst="rect">
            <a:avLst/>
          </a:prstGeom>
          <a:noFill/>
          <a:ln w="12700" cap="sq">
            <a:noFill/>
            <a:miter lim="800000"/>
            <a:headEnd/>
            <a:tailEnd/>
          </a:ln>
          <a:effec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algn="ctr" eaLnBrk="1" hangingPunct="1">
              <a:lnSpc>
                <a:spcPct val="90000"/>
              </a:lnSpc>
              <a:spcAft>
                <a:spcPct val="0"/>
              </a:spcAft>
              <a:buSzTx/>
              <a:buFontTx/>
              <a:buNone/>
              <a:defRPr/>
            </a:pPr>
            <a:r>
              <a:rPr lang="en-US" altLang="zh-CN" sz="1800" b="1" i="1" smtClean="0">
                <a:solidFill>
                  <a:srgbClr val="FFFF00"/>
                </a:solidFill>
                <a:effectLst>
                  <a:outerShdw blurRad="38100" dist="38100" dir="2700000" algn="tl">
                    <a:srgbClr val="000000"/>
                  </a:outerShdw>
                </a:effectLst>
                <a:latin typeface="Times New Roman" pitchFamily="18" charset="0"/>
              </a:rPr>
              <a:t>p</a:t>
            </a:r>
          </a:p>
        </p:txBody>
      </p:sp>
      <p:sp>
        <p:nvSpPr>
          <p:cNvPr id="1485834" name="Rectangle 10"/>
          <p:cNvSpPr>
            <a:spLocks noChangeArrowheads="1"/>
          </p:cNvSpPr>
          <p:nvPr/>
        </p:nvSpPr>
        <p:spPr bwMode="auto">
          <a:xfrm>
            <a:off x="1838325" y="4725988"/>
            <a:ext cx="2206625" cy="720725"/>
          </a:xfrm>
          <a:prstGeom prst="rect">
            <a:avLst/>
          </a:prstGeom>
          <a:solidFill>
            <a:srgbClr val="3333FF"/>
          </a:solidFill>
          <a:ln w="12700" cap="sq">
            <a:solidFill>
              <a:srgbClr val="CCFF33"/>
            </a:solidFill>
            <a:miter lim="800000"/>
            <a:headEnd/>
            <a:tailEnd/>
          </a:ln>
          <a:effectLst/>
        </p:spPr>
        <p:txBody>
          <a:bodyPr wrap="none" lIns="0" tIns="0" rIns="0" bIns="0" anchor="ctr"/>
          <a:lstStyle/>
          <a:p>
            <a:pPr algn="ctr">
              <a:spcAft>
                <a:spcPct val="0"/>
              </a:spcAft>
              <a:buSzTx/>
              <a:buFontTx/>
              <a:buNone/>
              <a:defRPr/>
            </a:pPr>
            <a:endParaRPr lang="zh-CN" altLang="en-US" sz="2400">
              <a:effectLst>
                <a:outerShdw blurRad="38100" dist="38100" dir="2700000" algn="tl">
                  <a:srgbClr val="000000"/>
                </a:outerShdw>
              </a:effectLst>
              <a:latin typeface="Times New Roman" pitchFamily="18" charset="0"/>
            </a:endParaRPr>
          </a:p>
        </p:txBody>
      </p:sp>
      <p:sp>
        <p:nvSpPr>
          <p:cNvPr id="1485835" name="Rectangle 11"/>
          <p:cNvSpPr>
            <a:spLocks noChangeArrowheads="1"/>
          </p:cNvSpPr>
          <p:nvPr/>
        </p:nvSpPr>
        <p:spPr bwMode="auto">
          <a:xfrm>
            <a:off x="1966913" y="4886325"/>
            <a:ext cx="779462" cy="400050"/>
          </a:xfrm>
          <a:prstGeom prst="rect">
            <a:avLst/>
          </a:prstGeom>
          <a:solidFill>
            <a:srgbClr val="DDDDDD"/>
          </a:solidFill>
          <a:ln w="12700" cap="sq">
            <a:solidFill>
              <a:srgbClr val="CCFF33"/>
            </a:solidFill>
            <a:miter lim="800000"/>
            <a:headEnd/>
            <a:tailEnd/>
          </a:ln>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学号</a:t>
            </a:r>
          </a:p>
        </p:txBody>
      </p:sp>
      <p:sp>
        <p:nvSpPr>
          <p:cNvPr id="1485836" name="Rectangle 12"/>
          <p:cNvSpPr>
            <a:spLocks noChangeArrowheads="1"/>
          </p:cNvSpPr>
          <p:nvPr/>
        </p:nvSpPr>
        <p:spPr bwMode="auto">
          <a:xfrm>
            <a:off x="3071813" y="4886325"/>
            <a:ext cx="777875" cy="400050"/>
          </a:xfrm>
          <a:prstGeom prst="rect">
            <a:avLst/>
          </a:prstGeom>
          <a:solidFill>
            <a:srgbClr val="DDDDDD"/>
          </a:solidFill>
          <a:ln w="12700" cap="sq">
            <a:solidFill>
              <a:srgbClr val="CCFF33"/>
            </a:solidFill>
            <a:miter lim="800000"/>
            <a:headEnd/>
            <a:tailEnd/>
          </a:ln>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课名</a:t>
            </a:r>
          </a:p>
        </p:txBody>
      </p:sp>
      <p:sp>
        <p:nvSpPr>
          <p:cNvPr id="1485837" name="Rectangle 13"/>
          <p:cNvSpPr>
            <a:spLocks noChangeArrowheads="1"/>
          </p:cNvSpPr>
          <p:nvPr/>
        </p:nvSpPr>
        <p:spPr bwMode="auto">
          <a:xfrm>
            <a:off x="669925" y="4886325"/>
            <a:ext cx="777875" cy="400050"/>
          </a:xfrm>
          <a:prstGeom prst="rect">
            <a:avLst/>
          </a:prstGeom>
          <a:solidFill>
            <a:srgbClr val="DDDDDD"/>
          </a:solidFill>
          <a:ln w="12700" cap="sq">
            <a:solidFill>
              <a:srgbClr val="CCFF33"/>
            </a:solidFill>
            <a:miter lim="800000"/>
            <a:headEnd/>
            <a:tailEnd/>
          </a:ln>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系名</a:t>
            </a:r>
          </a:p>
        </p:txBody>
      </p:sp>
      <p:sp>
        <p:nvSpPr>
          <p:cNvPr id="1485838" name="Rectangle 14"/>
          <p:cNvSpPr>
            <a:spLocks noChangeArrowheads="1"/>
          </p:cNvSpPr>
          <p:nvPr/>
        </p:nvSpPr>
        <p:spPr bwMode="auto">
          <a:xfrm>
            <a:off x="611188" y="5686425"/>
            <a:ext cx="895350" cy="401638"/>
          </a:xfrm>
          <a:prstGeom prst="rect">
            <a:avLst/>
          </a:prstGeom>
          <a:solidFill>
            <a:srgbClr val="DDDDDD"/>
          </a:solidFill>
          <a:ln w="12700" cap="sq">
            <a:solidFill>
              <a:srgbClr val="CCFF33"/>
            </a:solidFill>
            <a:miter lim="800000"/>
            <a:headEnd/>
            <a:tailEnd/>
          </a:ln>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系主任</a:t>
            </a:r>
          </a:p>
        </p:txBody>
      </p:sp>
      <p:cxnSp>
        <p:nvCxnSpPr>
          <p:cNvPr id="17423" name="AutoShape 15"/>
          <p:cNvCxnSpPr>
            <a:cxnSpLocks noChangeShapeType="1"/>
            <a:stCxn id="1485835" idx="1"/>
            <a:endCxn id="1485837" idx="3"/>
          </p:cNvCxnSpPr>
          <p:nvPr/>
        </p:nvCxnSpPr>
        <p:spPr bwMode="auto">
          <a:xfrm flipH="1">
            <a:off x="1447800" y="5086350"/>
            <a:ext cx="519113" cy="0"/>
          </a:xfrm>
          <a:prstGeom prst="straightConnector1">
            <a:avLst/>
          </a:prstGeom>
          <a:noFill/>
          <a:ln w="28575" cap="sq">
            <a:solidFill>
              <a:srgbClr val="99FF33"/>
            </a:solidFill>
            <a:round/>
            <a:headEnd/>
            <a:tailEnd type="triangle" w="med" len="med"/>
          </a:ln>
          <a:extLst>
            <a:ext uri="{909E8E84-426E-40DD-AFC4-6F175D3DCCD1}">
              <a14:hiddenFill xmlns:a14="http://schemas.microsoft.com/office/drawing/2010/main">
                <a:noFill/>
              </a14:hiddenFill>
            </a:ext>
          </a:extLst>
        </p:spPr>
      </p:cxnSp>
      <p:cxnSp>
        <p:nvCxnSpPr>
          <p:cNvPr id="17424" name="AutoShape 16"/>
          <p:cNvCxnSpPr>
            <a:cxnSpLocks noChangeShapeType="1"/>
            <a:stCxn id="1485837" idx="2"/>
            <a:endCxn id="1485838" idx="0"/>
          </p:cNvCxnSpPr>
          <p:nvPr/>
        </p:nvCxnSpPr>
        <p:spPr bwMode="auto">
          <a:xfrm>
            <a:off x="1058863" y="5286375"/>
            <a:ext cx="0" cy="400050"/>
          </a:xfrm>
          <a:prstGeom prst="straightConnector1">
            <a:avLst/>
          </a:prstGeom>
          <a:noFill/>
          <a:ln w="28575" cap="sq">
            <a:solidFill>
              <a:srgbClr val="99FF33"/>
            </a:solidFill>
            <a:round/>
            <a:headEnd/>
            <a:tailEnd type="triangle" w="med" len="med"/>
          </a:ln>
          <a:extLst>
            <a:ext uri="{909E8E84-426E-40DD-AFC4-6F175D3DCCD1}">
              <a14:hiddenFill xmlns:a14="http://schemas.microsoft.com/office/drawing/2010/main">
                <a:noFill/>
              </a14:hiddenFill>
            </a:ext>
          </a:extLst>
        </p:spPr>
      </p:cxnSp>
      <p:sp>
        <p:nvSpPr>
          <p:cNvPr id="1485841" name="Rectangle 17"/>
          <p:cNvSpPr>
            <a:spLocks noChangeArrowheads="1"/>
          </p:cNvSpPr>
          <p:nvPr/>
        </p:nvSpPr>
        <p:spPr bwMode="auto">
          <a:xfrm>
            <a:off x="3071813" y="4005263"/>
            <a:ext cx="779462" cy="400050"/>
          </a:xfrm>
          <a:prstGeom prst="rect">
            <a:avLst/>
          </a:prstGeom>
          <a:solidFill>
            <a:srgbClr val="DDDDDD"/>
          </a:solidFill>
          <a:ln w="12700" cap="sq">
            <a:solidFill>
              <a:srgbClr val="CCFF33"/>
            </a:solidFill>
            <a:miter lim="800000"/>
            <a:headEnd/>
            <a:tailEnd/>
          </a:ln>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学分</a:t>
            </a:r>
          </a:p>
        </p:txBody>
      </p:sp>
      <p:cxnSp>
        <p:nvCxnSpPr>
          <p:cNvPr id="17426" name="AutoShape 18"/>
          <p:cNvCxnSpPr>
            <a:cxnSpLocks noChangeShapeType="1"/>
            <a:stCxn id="1485836" idx="0"/>
            <a:endCxn id="1485841" idx="2"/>
          </p:cNvCxnSpPr>
          <p:nvPr/>
        </p:nvCxnSpPr>
        <p:spPr bwMode="auto">
          <a:xfrm flipV="1">
            <a:off x="3460750" y="4405313"/>
            <a:ext cx="1588" cy="481012"/>
          </a:xfrm>
          <a:prstGeom prst="straightConnector1">
            <a:avLst/>
          </a:prstGeom>
          <a:noFill/>
          <a:ln w="28575" cap="sq">
            <a:solidFill>
              <a:srgbClr val="99FF33"/>
            </a:solidFill>
            <a:round/>
            <a:headEnd/>
            <a:tailEnd type="triangle" w="med" len="med"/>
          </a:ln>
          <a:extLst>
            <a:ext uri="{909E8E84-426E-40DD-AFC4-6F175D3DCCD1}">
              <a14:hiddenFill xmlns:a14="http://schemas.microsoft.com/office/drawing/2010/main">
                <a:noFill/>
              </a14:hiddenFill>
            </a:ext>
          </a:extLst>
        </p:spPr>
      </p:cxnSp>
      <p:sp>
        <p:nvSpPr>
          <p:cNvPr id="1485843" name="Rectangle 19"/>
          <p:cNvSpPr>
            <a:spLocks noChangeArrowheads="1"/>
          </p:cNvSpPr>
          <p:nvPr/>
        </p:nvSpPr>
        <p:spPr bwMode="auto">
          <a:xfrm>
            <a:off x="3330575" y="5767388"/>
            <a:ext cx="779463" cy="400050"/>
          </a:xfrm>
          <a:prstGeom prst="rect">
            <a:avLst/>
          </a:prstGeom>
          <a:solidFill>
            <a:srgbClr val="DDDDDD"/>
          </a:solidFill>
          <a:ln w="12700" cap="sq">
            <a:solidFill>
              <a:srgbClr val="CCFF33"/>
            </a:solidFill>
            <a:miter lim="800000"/>
            <a:headEnd/>
            <a:tailEnd/>
          </a:ln>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成绩</a:t>
            </a:r>
          </a:p>
        </p:txBody>
      </p:sp>
      <p:cxnSp>
        <p:nvCxnSpPr>
          <p:cNvPr id="17428" name="AutoShape 20"/>
          <p:cNvCxnSpPr>
            <a:cxnSpLocks noChangeShapeType="1"/>
            <a:endCxn id="1485843" idx="0"/>
          </p:cNvCxnSpPr>
          <p:nvPr/>
        </p:nvCxnSpPr>
        <p:spPr bwMode="auto">
          <a:xfrm>
            <a:off x="3721100" y="5446713"/>
            <a:ext cx="0" cy="320675"/>
          </a:xfrm>
          <a:prstGeom prst="straightConnector1">
            <a:avLst/>
          </a:prstGeom>
          <a:noFill/>
          <a:ln w="28575" cap="sq">
            <a:solidFill>
              <a:srgbClr val="99FF33"/>
            </a:solidFill>
            <a:round/>
            <a:headEnd/>
            <a:tailEnd type="triangle" w="med" len="med"/>
          </a:ln>
          <a:extLst>
            <a:ext uri="{909E8E84-426E-40DD-AFC4-6F175D3DCCD1}">
              <a14:hiddenFill xmlns:a14="http://schemas.microsoft.com/office/drawing/2010/main">
                <a:noFill/>
              </a14:hiddenFill>
            </a:ext>
          </a:extLst>
        </p:spPr>
      </p:cxnSp>
      <p:sp>
        <p:nvSpPr>
          <p:cNvPr id="1485845" name="Rectangle 21"/>
          <p:cNvSpPr>
            <a:spLocks noChangeArrowheads="1"/>
          </p:cNvSpPr>
          <p:nvPr/>
        </p:nvSpPr>
        <p:spPr bwMode="auto">
          <a:xfrm>
            <a:off x="1966913" y="5686425"/>
            <a:ext cx="779462" cy="401638"/>
          </a:xfrm>
          <a:prstGeom prst="rect">
            <a:avLst/>
          </a:prstGeom>
          <a:solidFill>
            <a:srgbClr val="DDDDDD"/>
          </a:solidFill>
          <a:ln w="12700" cap="sq">
            <a:solidFill>
              <a:srgbClr val="CCFF33"/>
            </a:solidFill>
            <a:miter lim="800000"/>
            <a:headEnd/>
            <a:tailEnd/>
          </a:ln>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姓名</a:t>
            </a:r>
          </a:p>
        </p:txBody>
      </p:sp>
      <p:cxnSp>
        <p:nvCxnSpPr>
          <p:cNvPr id="17430" name="AutoShape 22"/>
          <p:cNvCxnSpPr>
            <a:cxnSpLocks noChangeShapeType="1"/>
            <a:stCxn id="1485835" idx="2"/>
            <a:endCxn id="1485845" idx="0"/>
          </p:cNvCxnSpPr>
          <p:nvPr/>
        </p:nvCxnSpPr>
        <p:spPr bwMode="auto">
          <a:xfrm>
            <a:off x="2357438" y="5286375"/>
            <a:ext cx="0" cy="400050"/>
          </a:xfrm>
          <a:prstGeom prst="straightConnector1">
            <a:avLst/>
          </a:prstGeom>
          <a:noFill/>
          <a:ln w="28575" cap="sq">
            <a:solidFill>
              <a:srgbClr val="99FF33"/>
            </a:solidFill>
            <a:round/>
            <a:headEnd/>
            <a:tailEnd type="triangle" w="med" len="med"/>
          </a:ln>
          <a:extLst>
            <a:ext uri="{909E8E84-426E-40DD-AFC4-6F175D3DCCD1}">
              <a14:hiddenFill xmlns:a14="http://schemas.microsoft.com/office/drawing/2010/main">
                <a:noFill/>
              </a14:hiddenFill>
            </a:ext>
          </a:extLst>
        </p:spPr>
      </p:cxnSp>
      <p:sp>
        <p:nvSpPr>
          <p:cNvPr id="1485847" name="Rectangle 23"/>
          <p:cNvSpPr>
            <a:spLocks noChangeArrowheads="1"/>
          </p:cNvSpPr>
          <p:nvPr/>
        </p:nvSpPr>
        <p:spPr bwMode="auto">
          <a:xfrm>
            <a:off x="4859338" y="4721225"/>
            <a:ext cx="3505200" cy="457200"/>
          </a:xfrm>
          <a:prstGeom prst="rect">
            <a:avLst/>
          </a:prstGeom>
          <a:noFill/>
          <a:ln w="12700" cap="sq">
            <a:noFill/>
            <a:miter lim="800000"/>
            <a:headEnd/>
            <a:tailEnd/>
          </a:ln>
          <a:effectLst/>
        </p:spPr>
        <p:txBody>
          <a:bodyPr lIns="0" tIns="0" rIns="0" bIns="0"/>
          <a:lstStyle/>
          <a:p>
            <a:pPr>
              <a:spcBef>
                <a:spcPct val="35000"/>
              </a:spcBef>
              <a:spcAft>
                <a:spcPct val="0"/>
              </a:spcAft>
              <a:buSzTx/>
              <a:buFontTx/>
              <a:buNone/>
              <a:defRPr/>
            </a:pPr>
            <a:r>
              <a:rPr lang="zh-CN" altLang="en-US" sz="2800">
                <a:effectLst>
                  <a:outerShdw blurRad="38100" dist="38100" dir="2700000" algn="tl">
                    <a:srgbClr val="000000"/>
                  </a:outerShdw>
                </a:effectLst>
                <a:sym typeface="Symbol" pitchFamily="18" charset="2"/>
              </a:rPr>
              <a:t>(学号,课名)    成绩</a:t>
            </a:r>
            <a:endParaRPr lang="zh-CN" altLang="en-US" sz="2800">
              <a:effectLst>
                <a:outerShdw blurRad="38100" dist="38100" dir="2700000" algn="tl">
                  <a:srgbClr val="000000"/>
                </a:outerShdw>
              </a:effectLst>
              <a:latin typeface="Times New Roman" pitchFamily="18" charset="0"/>
            </a:endParaRPr>
          </a:p>
          <a:p>
            <a:pPr>
              <a:spcBef>
                <a:spcPct val="35000"/>
              </a:spcBef>
              <a:spcAft>
                <a:spcPct val="0"/>
              </a:spcAft>
              <a:buSzTx/>
              <a:buFontTx/>
              <a:buNone/>
              <a:defRPr/>
            </a:pPr>
            <a:r>
              <a:rPr lang="zh-CN" altLang="en-US" sz="2800">
                <a:effectLst>
                  <a:outerShdw blurRad="38100" dist="38100" dir="2700000" algn="tl">
                    <a:srgbClr val="000000"/>
                  </a:outerShdw>
                </a:effectLst>
                <a:sym typeface="Symbol" pitchFamily="18" charset="2"/>
              </a:rPr>
              <a:t>(学号,课名)    </a:t>
            </a:r>
            <a:r>
              <a:rPr lang="zh-CN" altLang="en-US" sz="2800">
                <a:effectLst>
                  <a:outerShdw blurRad="38100" dist="38100" dir="2700000" algn="tl">
                    <a:srgbClr val="000000"/>
                  </a:outerShdw>
                </a:effectLst>
                <a:latin typeface="Times New Roman" pitchFamily="18" charset="0"/>
              </a:rPr>
              <a:t>学分</a:t>
            </a:r>
          </a:p>
        </p:txBody>
      </p:sp>
      <p:sp>
        <p:nvSpPr>
          <p:cNvPr id="1485848" name="Line 24"/>
          <p:cNvSpPr>
            <a:spLocks noChangeShapeType="1"/>
          </p:cNvSpPr>
          <p:nvPr/>
        </p:nvSpPr>
        <p:spPr bwMode="auto">
          <a:xfrm>
            <a:off x="6923088" y="4970463"/>
            <a:ext cx="457200" cy="0"/>
          </a:xfrm>
          <a:prstGeom prst="line">
            <a:avLst/>
          </a:prstGeom>
          <a:noFill/>
          <a:ln w="12700" cap="sq">
            <a:solidFill>
              <a:schemeClr val="tx1"/>
            </a:solidFill>
            <a:round/>
            <a:headEnd/>
            <a:tailEnd type="stealth" w="med" len="med"/>
          </a:ln>
          <a:effectLst/>
        </p:spPr>
        <p:txBody>
          <a:bodyPr wrap="none" lIns="0" tIns="0" rIns="0" bIns="0" anchor="ctr"/>
          <a:lstStyle/>
          <a:p>
            <a:pPr>
              <a:defRPr/>
            </a:pPr>
            <a:endParaRPr lang="zh-CN" altLang="en-US"/>
          </a:p>
        </p:txBody>
      </p:sp>
      <p:sp>
        <p:nvSpPr>
          <p:cNvPr id="1485849" name="Text Box 25"/>
          <p:cNvSpPr txBox="1">
            <a:spLocks noChangeArrowheads="1"/>
          </p:cNvSpPr>
          <p:nvPr/>
        </p:nvSpPr>
        <p:spPr bwMode="auto">
          <a:xfrm>
            <a:off x="7067550" y="4548188"/>
            <a:ext cx="101600" cy="365125"/>
          </a:xfrm>
          <a:prstGeom prst="rect">
            <a:avLst/>
          </a:prstGeom>
          <a:noFill/>
          <a:ln w="12700" cap="sq">
            <a:noFill/>
            <a:miter lim="800000"/>
            <a:headEnd/>
            <a:tailEnd/>
          </a:ln>
          <a:effec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algn="ctr" eaLnBrk="1" hangingPunct="1">
              <a:spcAft>
                <a:spcPct val="0"/>
              </a:spcAft>
              <a:buSzTx/>
              <a:buFontTx/>
              <a:buNone/>
              <a:defRPr/>
            </a:pPr>
            <a:r>
              <a:rPr lang="en-US" altLang="zh-CN" sz="2400" b="1" i="1" smtClean="0">
                <a:effectLst>
                  <a:outerShdw blurRad="38100" dist="38100" dir="2700000" algn="tl">
                    <a:srgbClr val="000000"/>
                  </a:outerShdw>
                </a:effectLst>
                <a:latin typeface="Times New Roman" pitchFamily="18" charset="0"/>
              </a:rPr>
              <a:t>f</a:t>
            </a:r>
          </a:p>
        </p:txBody>
      </p:sp>
      <p:sp>
        <p:nvSpPr>
          <p:cNvPr id="1485850" name="Line 26"/>
          <p:cNvSpPr>
            <a:spLocks noChangeShapeType="1"/>
          </p:cNvSpPr>
          <p:nvPr/>
        </p:nvSpPr>
        <p:spPr bwMode="auto">
          <a:xfrm>
            <a:off x="6923088" y="5545138"/>
            <a:ext cx="457200" cy="0"/>
          </a:xfrm>
          <a:prstGeom prst="line">
            <a:avLst/>
          </a:prstGeom>
          <a:noFill/>
          <a:ln w="12700" cap="sq">
            <a:solidFill>
              <a:schemeClr val="tx1"/>
            </a:solidFill>
            <a:round/>
            <a:headEnd/>
            <a:tailEnd type="stealth" w="med" len="med"/>
          </a:ln>
          <a:effectLst/>
        </p:spPr>
        <p:txBody>
          <a:bodyPr wrap="none" lIns="0" tIns="0" rIns="0" bIns="0" anchor="ctr"/>
          <a:lstStyle/>
          <a:p>
            <a:pPr>
              <a:defRPr/>
            </a:pPr>
            <a:endParaRPr lang="zh-CN" altLang="en-US"/>
          </a:p>
        </p:txBody>
      </p:sp>
      <p:sp>
        <p:nvSpPr>
          <p:cNvPr id="1485851" name="Text Box 27"/>
          <p:cNvSpPr txBox="1">
            <a:spLocks noChangeArrowheads="1"/>
          </p:cNvSpPr>
          <p:nvPr/>
        </p:nvSpPr>
        <p:spPr bwMode="auto">
          <a:xfrm>
            <a:off x="7053263" y="5132388"/>
            <a:ext cx="152400" cy="365125"/>
          </a:xfrm>
          <a:prstGeom prst="rect">
            <a:avLst/>
          </a:prstGeom>
          <a:noFill/>
          <a:ln w="12700" cap="sq">
            <a:noFill/>
            <a:miter lim="800000"/>
            <a:headEnd/>
            <a:tailEnd/>
          </a:ln>
          <a:effec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algn="ctr" eaLnBrk="1" hangingPunct="1">
              <a:spcAft>
                <a:spcPct val="0"/>
              </a:spcAft>
              <a:buSzTx/>
              <a:buFontTx/>
              <a:buNone/>
              <a:defRPr/>
            </a:pPr>
            <a:r>
              <a:rPr lang="en-US" altLang="zh-CN" sz="2400" b="1" i="1" smtClean="0">
                <a:effectLst>
                  <a:outerShdw blurRad="38100" dist="38100" dir="2700000" algn="tl">
                    <a:srgbClr val="000000"/>
                  </a:outerShdw>
                </a:effectLst>
                <a:latin typeface="Times New Roman" pitchFamily="18" charset="0"/>
              </a:rPr>
              <a:t>p</a:t>
            </a:r>
          </a:p>
        </p:txBody>
      </p:sp>
      <p:sp>
        <p:nvSpPr>
          <p:cNvPr id="29" name="Text Box 2"/>
          <p:cNvSpPr txBox="1">
            <a:spLocks noChangeArrowheads="1"/>
          </p:cNvSpPr>
          <p:nvPr/>
        </p:nvSpPr>
        <p:spPr bwMode="auto">
          <a:xfrm>
            <a:off x="179388" y="-55324"/>
            <a:ext cx="4679949" cy="760959"/>
          </a:xfrm>
          <a:prstGeom prst="rect">
            <a:avLst/>
          </a:prstGeom>
          <a:noFill/>
          <a:ln w="12700" cap="sq">
            <a:noFill/>
            <a:miter lim="800000"/>
            <a:headEnd/>
            <a:tailEnd/>
          </a:ln>
          <a:effectLst>
            <a:outerShdw dist="35921" dir="2700000" algn="ctr" rotWithShape="0">
              <a:schemeClr val="bg2"/>
            </a:outerShdw>
          </a:effectLst>
        </p:spPr>
        <p:txBody>
          <a:bodyPr wrap="square" lIns="72000" tIns="72000" rIns="72000" bIns="72000">
            <a:spAutoFit/>
          </a:bodyPr>
          <a:lstStyle/>
          <a:p>
            <a:pPr>
              <a:spcBef>
                <a:spcPts val="0"/>
              </a:spcBef>
              <a:defRPr/>
            </a:pPr>
            <a:r>
              <a:rPr lang="zh-CN" altLang="en-US" sz="4000" b="1" dirty="0" smtClean="0">
                <a:solidFill>
                  <a:srgbClr val="FFFFCC"/>
                </a:solidFill>
                <a:effectLst>
                  <a:outerShdw blurRad="38100" dist="38100" dir="2700000" algn="tl">
                    <a:srgbClr val="000000"/>
                  </a:outerShdw>
                </a:effectLst>
                <a:latin typeface="Arial" pitchFamily="34" charset="0"/>
                <a:ea typeface="微软雅黑" pitchFamily="34" charset="-122"/>
                <a:cs typeface="+mj-cs"/>
              </a:rPr>
              <a:t>完全</a:t>
            </a:r>
            <a:r>
              <a:rPr lang="en-US" altLang="zh-CN" sz="4000" b="1" dirty="0" smtClean="0">
                <a:solidFill>
                  <a:srgbClr val="FFFFCC"/>
                </a:solidFill>
                <a:effectLst>
                  <a:outerShdw blurRad="38100" dist="38100" dir="2700000" algn="tl">
                    <a:srgbClr val="000000"/>
                  </a:outerShdw>
                </a:effectLst>
                <a:latin typeface="Arial" pitchFamily="34" charset="0"/>
                <a:ea typeface="微软雅黑" pitchFamily="34" charset="-122"/>
                <a:cs typeface="+mj-cs"/>
              </a:rPr>
              <a:t>/</a:t>
            </a:r>
            <a:r>
              <a:rPr lang="zh-CN" altLang="en-US" sz="4000" b="1" dirty="0" smtClean="0">
                <a:solidFill>
                  <a:srgbClr val="FFFFCC"/>
                </a:solidFill>
                <a:effectLst>
                  <a:outerShdw blurRad="38100" dist="38100" dir="2700000" algn="tl">
                    <a:srgbClr val="000000"/>
                  </a:outerShdw>
                </a:effectLst>
                <a:latin typeface="Arial" pitchFamily="34" charset="0"/>
                <a:ea typeface="微软雅黑" pitchFamily="34" charset="-122"/>
                <a:cs typeface="+mj-cs"/>
              </a:rPr>
              <a:t>部分函数依赖</a:t>
            </a:r>
            <a:endParaRPr lang="zh-CN" altLang="en-US" sz="4000" b="1" dirty="0">
              <a:solidFill>
                <a:srgbClr val="FFFFCC"/>
              </a:solidFill>
              <a:effectLst>
                <a:outerShdw blurRad="38100" dist="38100" dir="2700000" algn="tl">
                  <a:srgbClr val="000000"/>
                </a:outerShdw>
              </a:effectLst>
              <a:latin typeface="Arial" pitchFamily="34" charset="0"/>
              <a:ea typeface="微软雅黑" pitchFamily="34" charset="-122"/>
              <a:cs typeface="+mj-cs"/>
            </a:endParaRP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436" name="Group 4"/>
          <p:cNvGrpSpPr>
            <a:grpSpLocks/>
          </p:cNvGrpSpPr>
          <p:nvPr/>
        </p:nvGrpSpPr>
        <p:grpSpPr bwMode="auto">
          <a:xfrm>
            <a:off x="5219700" y="4365625"/>
            <a:ext cx="3505200" cy="592138"/>
            <a:chOff x="3107" y="2393"/>
            <a:chExt cx="2208" cy="373"/>
          </a:xfrm>
        </p:grpSpPr>
        <p:sp>
          <p:nvSpPr>
            <p:cNvPr id="1486853" name="Rectangle 5"/>
            <p:cNvSpPr>
              <a:spLocks noChangeArrowheads="1"/>
            </p:cNvSpPr>
            <p:nvPr/>
          </p:nvSpPr>
          <p:spPr bwMode="auto">
            <a:xfrm>
              <a:off x="3107" y="2478"/>
              <a:ext cx="2208" cy="288"/>
            </a:xfrm>
            <a:prstGeom prst="rect">
              <a:avLst/>
            </a:prstGeom>
            <a:noFill/>
            <a:ln w="12700" cap="sq">
              <a:noFill/>
              <a:miter lim="800000"/>
              <a:headEnd/>
              <a:tailEnd/>
            </a:ln>
            <a:effectLst/>
          </p:spPr>
          <p:txBody>
            <a:bodyPr lIns="0" tIns="0" rIns="0" bIns="0"/>
            <a:lstStyle/>
            <a:p>
              <a:pPr>
                <a:spcBef>
                  <a:spcPct val="35000"/>
                </a:spcBef>
                <a:spcAft>
                  <a:spcPct val="0"/>
                </a:spcAft>
                <a:buSzTx/>
                <a:buFontTx/>
                <a:buNone/>
                <a:defRPr/>
              </a:pPr>
              <a:r>
                <a:rPr lang="zh-CN" altLang="en-US" sz="2800" dirty="0">
                  <a:effectLst>
                    <a:outerShdw blurRad="38100" dist="38100" dir="2700000" algn="tl">
                      <a:srgbClr val="000000"/>
                    </a:outerShdw>
                  </a:effectLst>
                  <a:sym typeface="Symbol" pitchFamily="18" charset="2"/>
                </a:rPr>
                <a:t>学号    系主任</a:t>
              </a:r>
              <a:endParaRPr lang="zh-CN" altLang="en-US" sz="2800" dirty="0">
                <a:effectLst>
                  <a:outerShdw blurRad="38100" dist="38100" dir="2700000" algn="tl">
                    <a:srgbClr val="000000"/>
                  </a:outerShdw>
                </a:effectLst>
                <a:latin typeface="Times New Roman" pitchFamily="18" charset="0"/>
              </a:endParaRPr>
            </a:p>
          </p:txBody>
        </p:sp>
        <p:sp>
          <p:nvSpPr>
            <p:cNvPr id="1486854" name="Line 6"/>
            <p:cNvSpPr>
              <a:spLocks noChangeShapeType="1"/>
            </p:cNvSpPr>
            <p:nvPr/>
          </p:nvSpPr>
          <p:spPr bwMode="auto">
            <a:xfrm>
              <a:off x="3651" y="2659"/>
              <a:ext cx="288" cy="0"/>
            </a:xfrm>
            <a:prstGeom prst="line">
              <a:avLst/>
            </a:prstGeom>
            <a:noFill/>
            <a:ln w="12700" cap="sq">
              <a:solidFill>
                <a:schemeClr val="tx1"/>
              </a:solidFill>
              <a:round/>
              <a:headEnd/>
              <a:tailEnd type="stealth" w="med" len="med"/>
            </a:ln>
            <a:effectLst/>
          </p:spPr>
          <p:txBody>
            <a:bodyPr wrap="none" lIns="0" tIns="0" rIns="0" bIns="0" anchor="ctr"/>
            <a:lstStyle/>
            <a:p>
              <a:pPr>
                <a:defRPr/>
              </a:pPr>
              <a:endParaRPr lang="zh-CN" altLang="en-US"/>
            </a:p>
          </p:txBody>
        </p:sp>
        <p:sp>
          <p:nvSpPr>
            <p:cNvPr id="1486855" name="Text Box 7"/>
            <p:cNvSpPr txBox="1">
              <a:spLocks noChangeArrowheads="1"/>
            </p:cNvSpPr>
            <p:nvPr/>
          </p:nvSpPr>
          <p:spPr bwMode="auto">
            <a:xfrm>
              <a:off x="3747" y="2393"/>
              <a:ext cx="53" cy="230"/>
            </a:xfrm>
            <a:prstGeom prst="rect">
              <a:avLst/>
            </a:prstGeom>
            <a:noFill/>
            <a:ln w="12700" cap="sq">
              <a:noFill/>
              <a:miter lim="800000"/>
              <a:headEnd/>
              <a:tailEnd/>
            </a:ln>
            <a:effec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algn="ctr" eaLnBrk="1" hangingPunct="1">
                <a:spcAft>
                  <a:spcPct val="0"/>
                </a:spcAft>
                <a:buSzTx/>
                <a:buFontTx/>
                <a:buNone/>
                <a:defRPr/>
              </a:pPr>
              <a:r>
                <a:rPr lang="en-US" altLang="zh-CN" sz="2400" b="1" i="1" smtClean="0">
                  <a:effectLst>
                    <a:outerShdw blurRad="38100" dist="38100" dir="2700000" algn="tl">
                      <a:srgbClr val="000000"/>
                    </a:outerShdw>
                  </a:effectLst>
                  <a:latin typeface="Times New Roman" pitchFamily="18" charset="0"/>
                </a:rPr>
                <a:t>t</a:t>
              </a:r>
            </a:p>
          </p:txBody>
        </p:sp>
      </p:grpSp>
      <p:grpSp>
        <p:nvGrpSpPr>
          <p:cNvPr id="18437" name="Group 8"/>
          <p:cNvGrpSpPr>
            <a:grpSpLocks/>
          </p:cNvGrpSpPr>
          <p:nvPr/>
        </p:nvGrpSpPr>
        <p:grpSpPr bwMode="auto">
          <a:xfrm>
            <a:off x="539750" y="1341438"/>
            <a:ext cx="8208963" cy="1295400"/>
            <a:chOff x="340" y="845"/>
            <a:chExt cx="5171" cy="816"/>
          </a:xfrm>
        </p:grpSpPr>
        <p:sp>
          <p:nvSpPr>
            <p:cNvPr id="1486857" name="Rectangle 9"/>
            <p:cNvSpPr>
              <a:spLocks noChangeArrowheads="1"/>
            </p:cNvSpPr>
            <p:nvPr/>
          </p:nvSpPr>
          <p:spPr bwMode="auto">
            <a:xfrm>
              <a:off x="340" y="845"/>
              <a:ext cx="5171" cy="408"/>
            </a:xfrm>
            <a:prstGeom prst="rect">
              <a:avLst/>
            </a:prstGeom>
            <a:noFill/>
            <a:ln w="9525">
              <a:noFill/>
              <a:miter lim="800000"/>
              <a:headEnd/>
              <a:tailEnd/>
            </a:ln>
            <a:effectLst/>
          </p:spPr>
          <p:txBody>
            <a:bodyPr/>
            <a:lstStyle/>
            <a:p>
              <a:pPr>
                <a:lnSpc>
                  <a:spcPct val="110000"/>
                </a:lnSpc>
                <a:spcAft>
                  <a:spcPct val="40000"/>
                </a:spcAft>
                <a:buClr>
                  <a:srgbClr val="66FF33"/>
                </a:buClr>
                <a:buSzPct val="85000"/>
                <a:defRPr/>
              </a:pPr>
              <a:r>
                <a:rPr kumimoji="0" lang="zh-CN" altLang="en-US" sz="2800">
                  <a:solidFill>
                    <a:srgbClr val="CCFFCC"/>
                  </a:solidFill>
                  <a:effectLst/>
                </a:rPr>
                <a:t>设</a:t>
              </a:r>
              <a:r>
                <a:rPr kumimoji="0" lang="en-US" altLang="zh-CN" sz="2800">
                  <a:solidFill>
                    <a:srgbClr val="CCFFCC"/>
                  </a:solidFill>
                  <a:effectLst/>
                </a:rPr>
                <a:t>R(U)</a:t>
              </a:r>
              <a:r>
                <a:rPr kumimoji="0" lang="zh-CN" altLang="en-US" sz="2800">
                  <a:solidFill>
                    <a:srgbClr val="CCFFCC"/>
                  </a:solidFill>
                  <a:effectLst/>
                </a:rPr>
                <a:t>是一个关系模式，</a:t>
              </a:r>
              <a:r>
                <a:rPr kumimoji="0" lang="en-US" altLang="zh-CN" sz="2800">
                  <a:solidFill>
                    <a:srgbClr val="CCFFCC"/>
                  </a:solidFill>
                  <a:effectLst/>
                </a:rPr>
                <a:t>X</a:t>
              </a:r>
              <a:r>
                <a:rPr kumimoji="0" lang="zh-CN" altLang="en-US" sz="2800">
                  <a:solidFill>
                    <a:srgbClr val="CCFFCC"/>
                  </a:solidFill>
                  <a:effectLst/>
                </a:rPr>
                <a:t>、</a:t>
              </a:r>
              <a:r>
                <a:rPr kumimoji="0" lang="en-US" altLang="zh-CN" sz="2800">
                  <a:solidFill>
                    <a:srgbClr val="CCFFCC"/>
                  </a:solidFill>
                  <a:effectLst/>
                </a:rPr>
                <a:t>Y</a:t>
              </a:r>
              <a:r>
                <a:rPr kumimoji="0" lang="zh-CN" altLang="en-US" sz="2800">
                  <a:solidFill>
                    <a:srgbClr val="CCFFCC"/>
                  </a:solidFill>
                  <a:effectLst/>
                </a:rPr>
                <a:t>、</a:t>
              </a:r>
              <a:r>
                <a:rPr kumimoji="0" lang="en-US" altLang="zh-CN" sz="2800">
                  <a:solidFill>
                    <a:srgbClr val="CCFFCC"/>
                  </a:solidFill>
                  <a:effectLst/>
                </a:rPr>
                <a:t>Z</a:t>
              </a:r>
              <a:r>
                <a:rPr kumimoji="0" lang="zh-CN" altLang="en-US" sz="2800">
                  <a:solidFill>
                    <a:srgbClr val="CCFFCC"/>
                  </a:solidFill>
                  <a:effectLst/>
                </a:rPr>
                <a:t>都是</a:t>
              </a:r>
              <a:r>
                <a:rPr kumimoji="0" lang="en-US" altLang="zh-CN" sz="2800">
                  <a:solidFill>
                    <a:srgbClr val="CCFFCC"/>
                  </a:solidFill>
                  <a:effectLst/>
                </a:rPr>
                <a:t>U</a:t>
              </a:r>
              <a:r>
                <a:rPr kumimoji="0" lang="zh-CN" altLang="en-US" sz="2800">
                  <a:solidFill>
                    <a:srgbClr val="CCFFCC"/>
                  </a:solidFill>
                  <a:effectLst/>
                </a:rPr>
                <a:t>的子集，</a:t>
              </a:r>
              <a:r>
                <a:rPr lang="zh-CN" altLang="en-US" sz="2800">
                  <a:solidFill>
                    <a:srgbClr val="CCFFCC"/>
                  </a:solidFill>
                  <a:effectLst>
                    <a:outerShdw blurRad="38100" dist="38100" dir="2700000" algn="tl">
                      <a:srgbClr val="000000"/>
                    </a:outerShdw>
                  </a:effectLst>
                </a:rPr>
                <a:t>如果</a:t>
              </a:r>
              <a:r>
                <a:rPr lang="en-US" altLang="zh-CN" sz="2800">
                  <a:solidFill>
                    <a:srgbClr val="CCFFCC"/>
                  </a:solidFill>
                  <a:effectLst>
                    <a:outerShdw blurRad="38100" dist="38100" dir="2700000" algn="tl">
                      <a:srgbClr val="000000"/>
                    </a:outerShdw>
                  </a:effectLst>
                </a:rPr>
                <a:t>X→Y,Y→Z，</a:t>
              </a:r>
              <a:r>
                <a:rPr lang="zh-CN" altLang="en-US" sz="2800">
                  <a:solidFill>
                    <a:srgbClr val="CCFFCC"/>
                  </a:solidFill>
                  <a:effectLst>
                    <a:outerShdw blurRad="38100" dist="38100" dir="2700000" algn="tl">
                      <a:srgbClr val="000000"/>
                    </a:outerShdw>
                  </a:effectLst>
                </a:rPr>
                <a:t>并且</a:t>
              </a:r>
              <a:r>
                <a:rPr lang="en-US" altLang="zh-CN" sz="2800">
                  <a:solidFill>
                    <a:srgbClr val="CCFFCC"/>
                  </a:solidFill>
                  <a:effectLst>
                    <a:outerShdw blurRad="38100" dist="38100" dir="2700000" algn="tl">
                      <a:srgbClr val="000000"/>
                    </a:outerShdw>
                  </a:effectLst>
                </a:rPr>
                <a:t>Y</a:t>
              </a:r>
              <a:r>
                <a:rPr lang="en-US" altLang="zh-CN" sz="2800">
                  <a:solidFill>
                    <a:srgbClr val="CCFFCC"/>
                  </a:solidFill>
                  <a:effectLst>
                    <a:outerShdw blurRad="38100" dist="38100" dir="2700000" algn="tl">
                      <a:srgbClr val="000000"/>
                    </a:outerShdw>
                  </a:effectLst>
                  <a:sym typeface="Symbol" pitchFamily="18" charset="2"/>
                </a:rPr>
                <a:t>  </a:t>
              </a:r>
              <a:r>
                <a:rPr lang="en-US" altLang="zh-CN" sz="2800">
                  <a:solidFill>
                    <a:srgbClr val="CCFFCC"/>
                  </a:solidFill>
                  <a:effectLst>
                    <a:outerShdw blurRad="38100" dist="38100" dir="2700000" algn="tl">
                      <a:srgbClr val="000000"/>
                    </a:outerShdw>
                  </a:effectLst>
                </a:rPr>
                <a:t>X</a:t>
              </a:r>
              <a:r>
                <a:rPr lang="zh-CN" altLang="en-US" sz="2800">
                  <a:solidFill>
                    <a:srgbClr val="CCFFCC"/>
                  </a:solidFill>
                  <a:effectLst>
                    <a:outerShdw blurRad="38100" dist="38100" dir="2700000" algn="tl">
                      <a:srgbClr val="000000"/>
                    </a:outerShdw>
                  </a:effectLst>
                </a:rPr>
                <a:t>，</a:t>
              </a:r>
              <a:r>
                <a:rPr lang="en-US" altLang="zh-CN" sz="2800">
                  <a:solidFill>
                    <a:srgbClr val="CCFFCC"/>
                  </a:solidFill>
                  <a:effectLst>
                    <a:outerShdw blurRad="38100" dist="38100" dir="2700000" algn="tl">
                      <a:srgbClr val="000000"/>
                    </a:outerShdw>
                  </a:effectLst>
                </a:rPr>
                <a:t>Z  Y，Y→X，</a:t>
              </a:r>
              <a:r>
                <a:rPr lang="zh-CN" altLang="en-US" sz="2800">
                  <a:solidFill>
                    <a:srgbClr val="CCFFCC"/>
                  </a:solidFill>
                  <a:effectLst>
                    <a:outerShdw blurRad="38100" dist="38100" dir="2700000" algn="tl">
                      <a:srgbClr val="000000"/>
                    </a:outerShdw>
                  </a:effectLst>
                </a:rPr>
                <a:t>则称</a:t>
              </a:r>
              <a:r>
                <a:rPr lang="en-US" altLang="zh-CN" sz="2800">
                  <a:solidFill>
                    <a:srgbClr val="CCFFCC"/>
                  </a:solidFill>
                  <a:effectLst>
                    <a:outerShdw blurRad="38100" dist="38100" dir="2700000" algn="tl">
                      <a:srgbClr val="000000"/>
                    </a:outerShdw>
                  </a:effectLst>
                </a:rPr>
                <a:t>Z</a:t>
              </a:r>
              <a:r>
                <a:rPr lang="zh-CN" altLang="en-US" sz="2800">
                  <a:solidFill>
                    <a:srgbClr val="FFFF00"/>
                  </a:solidFill>
                  <a:effectLst>
                    <a:outerShdw blurRad="38100" dist="38100" dir="2700000" algn="tl">
                      <a:srgbClr val="000000"/>
                    </a:outerShdw>
                  </a:effectLst>
                </a:rPr>
                <a:t>传递函数依赖</a:t>
              </a:r>
              <a:r>
                <a:rPr lang="zh-CN" altLang="en-US" sz="2800">
                  <a:solidFill>
                    <a:srgbClr val="CCFFCC"/>
                  </a:solidFill>
                  <a:effectLst>
                    <a:outerShdw blurRad="38100" dist="38100" dir="2700000" algn="tl">
                      <a:srgbClr val="000000"/>
                    </a:outerShdw>
                  </a:effectLst>
                </a:rPr>
                <a:t>于</a:t>
              </a:r>
              <a:r>
                <a:rPr lang="en-US" altLang="zh-CN" sz="2800">
                  <a:solidFill>
                    <a:srgbClr val="CCFFCC"/>
                  </a:solidFill>
                  <a:effectLst>
                    <a:outerShdw blurRad="38100" dist="38100" dir="2700000" algn="tl">
                      <a:srgbClr val="000000"/>
                    </a:outerShdw>
                  </a:effectLst>
                </a:rPr>
                <a:t>X，</a:t>
              </a:r>
              <a:r>
                <a:rPr lang="zh-CN" altLang="en-US" sz="2800">
                  <a:solidFill>
                    <a:srgbClr val="CCFFCC"/>
                  </a:solidFill>
                  <a:effectLst>
                    <a:outerShdw blurRad="38100" dist="38100" dir="2700000" algn="tl">
                      <a:srgbClr val="000000"/>
                    </a:outerShdw>
                  </a:effectLst>
                </a:rPr>
                <a:t>记作</a:t>
              </a:r>
              <a:r>
                <a:rPr lang="en-US" altLang="zh-CN" sz="2800">
                  <a:solidFill>
                    <a:srgbClr val="FFFF00"/>
                  </a:solidFill>
                  <a:effectLst>
                    <a:outerShdw blurRad="38100" dist="38100" dir="2700000" algn="tl">
                      <a:srgbClr val="000000"/>
                    </a:outerShdw>
                  </a:effectLst>
                </a:rPr>
                <a:t>X　  Z</a:t>
              </a:r>
              <a:r>
                <a:rPr lang="en-US" altLang="zh-CN" sz="2800">
                  <a:solidFill>
                    <a:srgbClr val="CCFFCC"/>
                  </a:solidFill>
                  <a:effectLst>
                    <a:outerShdw blurRad="38100" dist="38100" dir="2700000" algn="tl">
                      <a:srgbClr val="000000"/>
                    </a:outerShdw>
                  </a:effectLst>
                </a:rPr>
                <a:t>。</a:t>
              </a:r>
              <a:endParaRPr lang="zh-CN" altLang="en-US" sz="2800">
                <a:solidFill>
                  <a:srgbClr val="CCFFCC"/>
                </a:solidFill>
                <a:effectLst>
                  <a:outerShdw blurRad="38100" dist="38100" dir="2700000" algn="tl">
                    <a:srgbClr val="000000"/>
                  </a:outerShdw>
                </a:effectLst>
              </a:endParaRPr>
            </a:p>
          </p:txBody>
        </p:sp>
        <p:sp>
          <p:nvSpPr>
            <p:cNvPr id="1486858" name="Line 10"/>
            <p:cNvSpPr>
              <a:spLocks noChangeShapeType="1"/>
            </p:cNvSpPr>
            <p:nvPr/>
          </p:nvSpPr>
          <p:spPr bwMode="auto">
            <a:xfrm>
              <a:off x="2496" y="1661"/>
              <a:ext cx="288" cy="0"/>
            </a:xfrm>
            <a:prstGeom prst="line">
              <a:avLst/>
            </a:prstGeom>
            <a:noFill/>
            <a:ln w="12700" cap="sq">
              <a:solidFill>
                <a:srgbClr val="FFFF00"/>
              </a:solidFill>
              <a:round/>
              <a:headEnd/>
              <a:tailEnd type="stealth" w="med" len="med"/>
            </a:ln>
            <a:effectLst/>
          </p:spPr>
          <p:txBody>
            <a:bodyPr wrap="none" lIns="0" tIns="0" rIns="0" bIns="0" anchor="ctr"/>
            <a:lstStyle/>
            <a:p>
              <a:pPr>
                <a:defRPr/>
              </a:pPr>
              <a:endParaRPr lang="zh-CN" altLang="en-US"/>
            </a:p>
          </p:txBody>
        </p:sp>
        <p:sp>
          <p:nvSpPr>
            <p:cNvPr id="1486859" name="Text Box 11"/>
            <p:cNvSpPr txBox="1">
              <a:spLocks noChangeArrowheads="1"/>
            </p:cNvSpPr>
            <p:nvPr/>
          </p:nvSpPr>
          <p:spPr bwMode="auto">
            <a:xfrm>
              <a:off x="2590" y="1480"/>
              <a:ext cx="40" cy="156"/>
            </a:xfrm>
            <a:prstGeom prst="rect">
              <a:avLst/>
            </a:prstGeom>
            <a:noFill/>
            <a:ln w="12700" cap="sq">
              <a:noFill/>
              <a:miter lim="800000"/>
              <a:headEnd/>
              <a:tailEnd/>
            </a:ln>
            <a:effec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algn="ctr" eaLnBrk="1" hangingPunct="1">
                <a:lnSpc>
                  <a:spcPct val="90000"/>
                </a:lnSpc>
                <a:spcAft>
                  <a:spcPct val="0"/>
                </a:spcAft>
                <a:buSzTx/>
                <a:buFontTx/>
                <a:buNone/>
                <a:defRPr/>
              </a:pPr>
              <a:r>
                <a:rPr lang="en-US" altLang="zh-CN" sz="1800" b="1" i="1" smtClean="0">
                  <a:solidFill>
                    <a:srgbClr val="FFFF00"/>
                  </a:solidFill>
                  <a:effectLst>
                    <a:outerShdw blurRad="38100" dist="38100" dir="2700000" algn="tl">
                      <a:srgbClr val="000000"/>
                    </a:outerShdw>
                  </a:effectLst>
                  <a:latin typeface="Times New Roman" pitchFamily="18" charset="0"/>
                </a:rPr>
                <a:t>t</a:t>
              </a:r>
            </a:p>
          </p:txBody>
        </p:sp>
        <p:sp>
          <p:nvSpPr>
            <p:cNvPr id="1486860" name="Line 12"/>
            <p:cNvSpPr>
              <a:spLocks noChangeShapeType="1"/>
            </p:cNvSpPr>
            <p:nvPr/>
          </p:nvSpPr>
          <p:spPr bwMode="auto">
            <a:xfrm>
              <a:off x="3830" y="1274"/>
              <a:ext cx="48" cy="144"/>
            </a:xfrm>
            <a:prstGeom prst="line">
              <a:avLst/>
            </a:prstGeom>
            <a:noFill/>
            <a:ln w="19050" cap="sq">
              <a:solidFill>
                <a:srgbClr val="CCFFCC"/>
              </a:solidFill>
              <a:round/>
              <a:headEnd/>
              <a:tailEnd/>
            </a:ln>
            <a:effectLst/>
          </p:spPr>
          <p:txBody>
            <a:bodyPr wrap="none" lIns="0" tIns="0" rIns="0" bIns="0" anchor="ctr"/>
            <a:lstStyle/>
            <a:p>
              <a:pPr>
                <a:defRPr/>
              </a:pPr>
              <a:endParaRPr lang="zh-CN" altLang="en-US"/>
            </a:p>
          </p:txBody>
        </p:sp>
        <p:grpSp>
          <p:nvGrpSpPr>
            <p:cNvPr id="18455" name="Group 13"/>
            <p:cNvGrpSpPr>
              <a:grpSpLocks/>
            </p:cNvGrpSpPr>
            <p:nvPr/>
          </p:nvGrpSpPr>
          <p:grpSpPr bwMode="auto">
            <a:xfrm>
              <a:off x="3084" y="1113"/>
              <a:ext cx="314" cy="359"/>
              <a:chOff x="1503" y="2400"/>
              <a:chExt cx="314" cy="359"/>
            </a:xfrm>
          </p:grpSpPr>
          <p:sp>
            <p:nvSpPr>
              <p:cNvPr id="1486863" name="Rectangle 15"/>
              <p:cNvSpPr>
                <a:spLocks noChangeArrowheads="1"/>
              </p:cNvSpPr>
              <p:nvPr/>
            </p:nvSpPr>
            <p:spPr bwMode="auto">
              <a:xfrm>
                <a:off x="1503" y="2400"/>
                <a:ext cx="314" cy="359"/>
              </a:xfrm>
              <a:prstGeom prst="rect">
                <a:avLst/>
              </a:prstGeom>
              <a:noFill/>
              <a:ln w="12700" cap="sq">
                <a:noFill/>
                <a:miter lim="800000"/>
                <a:headEnd/>
                <a:tailEnd/>
              </a:ln>
              <a:effectLst/>
            </p:spPr>
            <p:txBody>
              <a:bodyPr wrap="none" lIns="72000" tIns="72000" rIns="72000" bIns="72000">
                <a:spAutoFit/>
              </a:bodyPr>
              <a:lstStyle/>
              <a:p>
                <a:pPr>
                  <a:spcAft>
                    <a:spcPct val="0"/>
                  </a:spcAft>
                  <a:buSzTx/>
                  <a:buFontTx/>
                  <a:buNone/>
                  <a:defRPr/>
                </a:pPr>
                <a:r>
                  <a:rPr lang="en-US" altLang="zh-CN" sz="2800">
                    <a:solidFill>
                      <a:srgbClr val="CCFFCC"/>
                    </a:solidFill>
                    <a:effectLst>
                      <a:outerShdw blurRad="38100" dist="38100" dir="2700000" algn="tl">
                        <a:srgbClr val="000000"/>
                      </a:outerShdw>
                    </a:effectLst>
                    <a:sym typeface="Symbol" pitchFamily="18" charset="2"/>
                  </a:rPr>
                  <a:t></a:t>
                </a:r>
                <a:endParaRPr lang="zh-CN" altLang="en-US" sz="2800">
                  <a:solidFill>
                    <a:srgbClr val="CCFFCC"/>
                  </a:solidFill>
                  <a:effectLst>
                    <a:outerShdw blurRad="38100" dist="38100" dir="2700000" algn="tl">
                      <a:srgbClr val="000000"/>
                    </a:outerShdw>
                  </a:effectLst>
                  <a:sym typeface="Symbol" pitchFamily="18" charset="2"/>
                </a:endParaRPr>
              </a:p>
            </p:txBody>
          </p:sp>
          <p:sp>
            <p:nvSpPr>
              <p:cNvPr id="1486862" name="Line 14"/>
              <p:cNvSpPr>
                <a:spLocks noChangeShapeType="1"/>
              </p:cNvSpPr>
              <p:nvPr/>
            </p:nvSpPr>
            <p:spPr bwMode="auto">
              <a:xfrm>
                <a:off x="1577" y="2518"/>
                <a:ext cx="86" cy="227"/>
              </a:xfrm>
              <a:prstGeom prst="line">
                <a:avLst/>
              </a:prstGeom>
              <a:noFill/>
              <a:ln w="19050" cap="sq">
                <a:solidFill>
                  <a:srgbClr val="CCFFCC"/>
                </a:solidFill>
                <a:round/>
                <a:headEnd/>
                <a:tailEnd/>
              </a:ln>
              <a:effectLst/>
            </p:spPr>
            <p:txBody>
              <a:bodyPr wrap="none" lIns="0" tIns="0" rIns="0" bIns="0" anchor="ctr"/>
              <a:lstStyle/>
              <a:p>
                <a:pPr>
                  <a:defRPr/>
                </a:pPr>
                <a:endParaRPr lang="zh-CN" altLang="en-US"/>
              </a:p>
            </p:txBody>
          </p:sp>
        </p:grpSp>
        <p:grpSp>
          <p:nvGrpSpPr>
            <p:cNvPr id="18456" name="Group 16"/>
            <p:cNvGrpSpPr>
              <a:grpSpLocks/>
            </p:cNvGrpSpPr>
            <p:nvPr/>
          </p:nvGrpSpPr>
          <p:grpSpPr bwMode="auto">
            <a:xfrm>
              <a:off x="2418" y="1113"/>
              <a:ext cx="314" cy="359"/>
              <a:chOff x="1503" y="2400"/>
              <a:chExt cx="314" cy="359"/>
            </a:xfrm>
          </p:grpSpPr>
          <p:sp>
            <p:nvSpPr>
              <p:cNvPr id="1486866" name="Rectangle 18"/>
              <p:cNvSpPr>
                <a:spLocks noChangeArrowheads="1"/>
              </p:cNvSpPr>
              <p:nvPr/>
            </p:nvSpPr>
            <p:spPr bwMode="auto">
              <a:xfrm>
                <a:off x="1503" y="2400"/>
                <a:ext cx="314" cy="359"/>
              </a:xfrm>
              <a:prstGeom prst="rect">
                <a:avLst/>
              </a:prstGeom>
              <a:noFill/>
              <a:ln w="12700" cap="sq">
                <a:noFill/>
                <a:miter lim="800000"/>
                <a:headEnd/>
                <a:tailEnd/>
              </a:ln>
              <a:effectLst/>
            </p:spPr>
            <p:txBody>
              <a:bodyPr wrap="none" lIns="72000" tIns="72000" rIns="72000" bIns="72000">
                <a:spAutoFit/>
              </a:bodyPr>
              <a:lstStyle/>
              <a:p>
                <a:pPr>
                  <a:spcAft>
                    <a:spcPct val="0"/>
                  </a:spcAft>
                  <a:buSzTx/>
                  <a:buFontTx/>
                  <a:buNone/>
                  <a:defRPr/>
                </a:pPr>
                <a:r>
                  <a:rPr lang="en-US" altLang="zh-CN" sz="2800" dirty="0">
                    <a:solidFill>
                      <a:srgbClr val="CCFFCC"/>
                    </a:solidFill>
                    <a:effectLst>
                      <a:outerShdw blurRad="38100" dist="38100" dir="2700000" algn="tl">
                        <a:srgbClr val="000000"/>
                      </a:outerShdw>
                    </a:effectLst>
                    <a:sym typeface="Symbol" pitchFamily="18" charset="2"/>
                  </a:rPr>
                  <a:t></a:t>
                </a:r>
                <a:endParaRPr lang="zh-CN" altLang="en-US" sz="2800" dirty="0">
                  <a:solidFill>
                    <a:srgbClr val="CCFFCC"/>
                  </a:solidFill>
                  <a:effectLst>
                    <a:outerShdw blurRad="38100" dist="38100" dir="2700000" algn="tl">
                      <a:srgbClr val="000000"/>
                    </a:outerShdw>
                  </a:effectLst>
                  <a:sym typeface="Symbol" pitchFamily="18" charset="2"/>
                </a:endParaRPr>
              </a:p>
            </p:txBody>
          </p:sp>
          <p:sp>
            <p:nvSpPr>
              <p:cNvPr id="1486865" name="Line 17"/>
              <p:cNvSpPr>
                <a:spLocks noChangeShapeType="1"/>
              </p:cNvSpPr>
              <p:nvPr/>
            </p:nvSpPr>
            <p:spPr bwMode="auto">
              <a:xfrm>
                <a:off x="1577" y="2518"/>
                <a:ext cx="86" cy="227"/>
              </a:xfrm>
              <a:prstGeom prst="line">
                <a:avLst/>
              </a:prstGeom>
              <a:noFill/>
              <a:ln w="19050" cap="sq">
                <a:solidFill>
                  <a:srgbClr val="CCFFCC"/>
                </a:solidFill>
                <a:round/>
                <a:headEnd/>
                <a:tailEnd/>
              </a:ln>
              <a:effectLst/>
            </p:spPr>
            <p:txBody>
              <a:bodyPr wrap="none" lIns="0" tIns="0" rIns="0" bIns="0" anchor="ctr"/>
              <a:lstStyle/>
              <a:p>
                <a:pPr>
                  <a:defRPr/>
                </a:pPr>
                <a:endParaRPr lang="zh-CN" altLang="en-US"/>
              </a:p>
            </p:txBody>
          </p:sp>
        </p:grpSp>
      </p:grpSp>
      <p:sp>
        <p:nvSpPr>
          <p:cNvPr id="1486867" name="Rectangle 19"/>
          <p:cNvSpPr>
            <a:spLocks noChangeArrowheads="1"/>
          </p:cNvSpPr>
          <p:nvPr/>
        </p:nvSpPr>
        <p:spPr bwMode="auto">
          <a:xfrm>
            <a:off x="1838325" y="4364038"/>
            <a:ext cx="2206625" cy="720725"/>
          </a:xfrm>
          <a:prstGeom prst="rect">
            <a:avLst/>
          </a:prstGeom>
          <a:solidFill>
            <a:srgbClr val="3333FF"/>
          </a:solidFill>
          <a:ln w="12700" cap="sq">
            <a:solidFill>
              <a:srgbClr val="CCFF33"/>
            </a:solidFill>
            <a:miter lim="800000"/>
            <a:headEnd/>
            <a:tailEnd/>
          </a:ln>
          <a:effectLst/>
        </p:spPr>
        <p:txBody>
          <a:bodyPr wrap="none" lIns="0" tIns="0" rIns="0" bIns="0" anchor="ctr"/>
          <a:lstStyle/>
          <a:p>
            <a:pPr algn="ctr">
              <a:spcAft>
                <a:spcPct val="0"/>
              </a:spcAft>
              <a:buSzTx/>
              <a:buFontTx/>
              <a:buNone/>
              <a:defRPr/>
            </a:pPr>
            <a:endParaRPr lang="zh-CN" altLang="en-US" sz="2400">
              <a:effectLst>
                <a:outerShdw blurRad="38100" dist="38100" dir="2700000" algn="tl">
                  <a:srgbClr val="000000"/>
                </a:outerShdw>
              </a:effectLst>
              <a:latin typeface="Times New Roman" pitchFamily="18" charset="0"/>
            </a:endParaRPr>
          </a:p>
        </p:txBody>
      </p:sp>
      <p:sp>
        <p:nvSpPr>
          <p:cNvPr id="1486868" name="Rectangle 20"/>
          <p:cNvSpPr>
            <a:spLocks noChangeArrowheads="1"/>
          </p:cNvSpPr>
          <p:nvPr/>
        </p:nvSpPr>
        <p:spPr bwMode="auto">
          <a:xfrm>
            <a:off x="1966913" y="4524375"/>
            <a:ext cx="779462" cy="400050"/>
          </a:xfrm>
          <a:prstGeom prst="rect">
            <a:avLst/>
          </a:prstGeom>
          <a:solidFill>
            <a:srgbClr val="DDDDDD"/>
          </a:solidFill>
          <a:ln w="12700" cap="sq">
            <a:solidFill>
              <a:srgbClr val="CCFF33"/>
            </a:solidFill>
            <a:miter lim="800000"/>
            <a:headEnd/>
            <a:tailEnd/>
          </a:ln>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学号</a:t>
            </a:r>
          </a:p>
        </p:txBody>
      </p:sp>
      <p:sp>
        <p:nvSpPr>
          <p:cNvPr id="1486869" name="Rectangle 21"/>
          <p:cNvSpPr>
            <a:spLocks noChangeArrowheads="1"/>
          </p:cNvSpPr>
          <p:nvPr/>
        </p:nvSpPr>
        <p:spPr bwMode="auto">
          <a:xfrm>
            <a:off x="3071813" y="4524375"/>
            <a:ext cx="777875" cy="400050"/>
          </a:xfrm>
          <a:prstGeom prst="rect">
            <a:avLst/>
          </a:prstGeom>
          <a:solidFill>
            <a:srgbClr val="DDDDDD"/>
          </a:solidFill>
          <a:ln w="12700" cap="sq">
            <a:solidFill>
              <a:srgbClr val="CCFF33"/>
            </a:solidFill>
            <a:miter lim="800000"/>
            <a:headEnd/>
            <a:tailEnd/>
          </a:ln>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课名</a:t>
            </a:r>
          </a:p>
        </p:txBody>
      </p:sp>
      <p:sp>
        <p:nvSpPr>
          <p:cNvPr id="1486870" name="Rectangle 22"/>
          <p:cNvSpPr>
            <a:spLocks noChangeArrowheads="1"/>
          </p:cNvSpPr>
          <p:nvPr/>
        </p:nvSpPr>
        <p:spPr bwMode="auto">
          <a:xfrm>
            <a:off x="669925" y="4524375"/>
            <a:ext cx="777875" cy="400050"/>
          </a:xfrm>
          <a:prstGeom prst="rect">
            <a:avLst/>
          </a:prstGeom>
          <a:solidFill>
            <a:srgbClr val="DDDDDD"/>
          </a:solidFill>
          <a:ln w="12700" cap="sq">
            <a:solidFill>
              <a:srgbClr val="CCFF33"/>
            </a:solidFill>
            <a:miter lim="800000"/>
            <a:headEnd/>
            <a:tailEnd/>
          </a:ln>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系名</a:t>
            </a:r>
          </a:p>
        </p:txBody>
      </p:sp>
      <p:sp>
        <p:nvSpPr>
          <p:cNvPr id="1486871" name="Rectangle 23"/>
          <p:cNvSpPr>
            <a:spLocks noChangeArrowheads="1"/>
          </p:cNvSpPr>
          <p:nvPr/>
        </p:nvSpPr>
        <p:spPr bwMode="auto">
          <a:xfrm>
            <a:off x="611188" y="5324475"/>
            <a:ext cx="895350" cy="401638"/>
          </a:xfrm>
          <a:prstGeom prst="rect">
            <a:avLst/>
          </a:prstGeom>
          <a:solidFill>
            <a:srgbClr val="DDDDDD"/>
          </a:solidFill>
          <a:ln w="12700" cap="sq">
            <a:solidFill>
              <a:srgbClr val="CCFF33"/>
            </a:solidFill>
            <a:miter lim="800000"/>
            <a:headEnd/>
            <a:tailEnd/>
          </a:ln>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系主任</a:t>
            </a:r>
          </a:p>
        </p:txBody>
      </p:sp>
      <p:cxnSp>
        <p:nvCxnSpPr>
          <p:cNvPr id="18443" name="AutoShape 24"/>
          <p:cNvCxnSpPr>
            <a:cxnSpLocks noChangeShapeType="1"/>
            <a:stCxn id="1486868" idx="1"/>
            <a:endCxn id="1486870" idx="3"/>
          </p:cNvCxnSpPr>
          <p:nvPr/>
        </p:nvCxnSpPr>
        <p:spPr bwMode="auto">
          <a:xfrm flipH="1">
            <a:off x="1447800" y="4724400"/>
            <a:ext cx="519113" cy="0"/>
          </a:xfrm>
          <a:prstGeom prst="straightConnector1">
            <a:avLst/>
          </a:prstGeom>
          <a:noFill/>
          <a:ln w="28575" cap="sq">
            <a:solidFill>
              <a:srgbClr val="99FF33"/>
            </a:solidFill>
            <a:round/>
            <a:headEnd/>
            <a:tailEnd type="triangle" w="med" len="med"/>
          </a:ln>
          <a:extLst>
            <a:ext uri="{909E8E84-426E-40DD-AFC4-6F175D3DCCD1}">
              <a14:hiddenFill xmlns:a14="http://schemas.microsoft.com/office/drawing/2010/main">
                <a:noFill/>
              </a14:hiddenFill>
            </a:ext>
          </a:extLst>
        </p:spPr>
      </p:cxnSp>
      <p:cxnSp>
        <p:nvCxnSpPr>
          <p:cNvPr id="18444" name="AutoShape 25"/>
          <p:cNvCxnSpPr>
            <a:cxnSpLocks noChangeShapeType="1"/>
            <a:stCxn id="1486870" idx="2"/>
            <a:endCxn id="1486871" idx="0"/>
          </p:cNvCxnSpPr>
          <p:nvPr/>
        </p:nvCxnSpPr>
        <p:spPr bwMode="auto">
          <a:xfrm>
            <a:off x="1058863" y="4924425"/>
            <a:ext cx="0" cy="400050"/>
          </a:xfrm>
          <a:prstGeom prst="straightConnector1">
            <a:avLst/>
          </a:prstGeom>
          <a:noFill/>
          <a:ln w="28575" cap="sq">
            <a:solidFill>
              <a:srgbClr val="99FF33"/>
            </a:solidFill>
            <a:round/>
            <a:headEnd/>
            <a:tailEnd type="triangle" w="med" len="med"/>
          </a:ln>
          <a:extLst>
            <a:ext uri="{909E8E84-426E-40DD-AFC4-6F175D3DCCD1}">
              <a14:hiddenFill xmlns:a14="http://schemas.microsoft.com/office/drawing/2010/main">
                <a:noFill/>
              </a14:hiddenFill>
            </a:ext>
          </a:extLst>
        </p:spPr>
      </p:cxnSp>
      <p:sp>
        <p:nvSpPr>
          <p:cNvPr id="1486874" name="Rectangle 26"/>
          <p:cNvSpPr>
            <a:spLocks noChangeArrowheads="1"/>
          </p:cNvSpPr>
          <p:nvPr/>
        </p:nvSpPr>
        <p:spPr bwMode="auto">
          <a:xfrm>
            <a:off x="3071813" y="3643313"/>
            <a:ext cx="779462" cy="400050"/>
          </a:xfrm>
          <a:prstGeom prst="rect">
            <a:avLst/>
          </a:prstGeom>
          <a:solidFill>
            <a:srgbClr val="DDDDDD"/>
          </a:solidFill>
          <a:ln w="12700" cap="sq">
            <a:solidFill>
              <a:srgbClr val="CCFF33"/>
            </a:solidFill>
            <a:miter lim="800000"/>
            <a:headEnd/>
            <a:tailEnd/>
          </a:ln>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学分</a:t>
            </a:r>
          </a:p>
        </p:txBody>
      </p:sp>
      <p:cxnSp>
        <p:nvCxnSpPr>
          <p:cNvPr id="18446" name="AutoShape 27"/>
          <p:cNvCxnSpPr>
            <a:cxnSpLocks noChangeShapeType="1"/>
            <a:stCxn id="1486869" idx="0"/>
            <a:endCxn id="1486874" idx="2"/>
          </p:cNvCxnSpPr>
          <p:nvPr/>
        </p:nvCxnSpPr>
        <p:spPr bwMode="auto">
          <a:xfrm flipV="1">
            <a:off x="3460750" y="4043363"/>
            <a:ext cx="1588" cy="481012"/>
          </a:xfrm>
          <a:prstGeom prst="straightConnector1">
            <a:avLst/>
          </a:prstGeom>
          <a:noFill/>
          <a:ln w="28575" cap="sq">
            <a:solidFill>
              <a:srgbClr val="99FF33"/>
            </a:solidFill>
            <a:round/>
            <a:headEnd/>
            <a:tailEnd type="triangle" w="med" len="med"/>
          </a:ln>
          <a:extLst>
            <a:ext uri="{909E8E84-426E-40DD-AFC4-6F175D3DCCD1}">
              <a14:hiddenFill xmlns:a14="http://schemas.microsoft.com/office/drawing/2010/main">
                <a:noFill/>
              </a14:hiddenFill>
            </a:ext>
          </a:extLst>
        </p:spPr>
      </p:cxnSp>
      <p:sp>
        <p:nvSpPr>
          <p:cNvPr id="1486876" name="Rectangle 28"/>
          <p:cNvSpPr>
            <a:spLocks noChangeArrowheads="1"/>
          </p:cNvSpPr>
          <p:nvPr/>
        </p:nvSpPr>
        <p:spPr bwMode="auto">
          <a:xfrm>
            <a:off x="3330575" y="5405438"/>
            <a:ext cx="779463" cy="400050"/>
          </a:xfrm>
          <a:prstGeom prst="rect">
            <a:avLst/>
          </a:prstGeom>
          <a:solidFill>
            <a:srgbClr val="DDDDDD"/>
          </a:solidFill>
          <a:ln w="12700" cap="sq">
            <a:solidFill>
              <a:srgbClr val="CCFF33"/>
            </a:solidFill>
            <a:miter lim="800000"/>
            <a:headEnd/>
            <a:tailEnd/>
          </a:ln>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成绩</a:t>
            </a:r>
          </a:p>
        </p:txBody>
      </p:sp>
      <p:cxnSp>
        <p:nvCxnSpPr>
          <p:cNvPr id="18448" name="AutoShape 29"/>
          <p:cNvCxnSpPr>
            <a:cxnSpLocks noChangeShapeType="1"/>
            <a:endCxn id="1486876" idx="0"/>
          </p:cNvCxnSpPr>
          <p:nvPr/>
        </p:nvCxnSpPr>
        <p:spPr bwMode="auto">
          <a:xfrm>
            <a:off x="3721100" y="5084763"/>
            <a:ext cx="0" cy="320675"/>
          </a:xfrm>
          <a:prstGeom prst="straightConnector1">
            <a:avLst/>
          </a:prstGeom>
          <a:noFill/>
          <a:ln w="28575" cap="sq">
            <a:solidFill>
              <a:srgbClr val="99FF33"/>
            </a:solidFill>
            <a:round/>
            <a:headEnd/>
            <a:tailEnd type="triangle" w="med" len="med"/>
          </a:ln>
          <a:extLst>
            <a:ext uri="{909E8E84-426E-40DD-AFC4-6F175D3DCCD1}">
              <a14:hiddenFill xmlns:a14="http://schemas.microsoft.com/office/drawing/2010/main">
                <a:noFill/>
              </a14:hiddenFill>
            </a:ext>
          </a:extLst>
        </p:spPr>
      </p:cxnSp>
      <p:sp>
        <p:nvSpPr>
          <p:cNvPr id="1486878" name="Rectangle 30"/>
          <p:cNvSpPr>
            <a:spLocks noChangeArrowheads="1"/>
          </p:cNvSpPr>
          <p:nvPr/>
        </p:nvSpPr>
        <p:spPr bwMode="auto">
          <a:xfrm>
            <a:off x="1966913" y="5324475"/>
            <a:ext cx="779462" cy="401638"/>
          </a:xfrm>
          <a:prstGeom prst="rect">
            <a:avLst/>
          </a:prstGeom>
          <a:solidFill>
            <a:srgbClr val="DDDDDD"/>
          </a:solidFill>
          <a:ln w="12700" cap="sq">
            <a:solidFill>
              <a:srgbClr val="CCFF33"/>
            </a:solidFill>
            <a:miter lim="800000"/>
            <a:headEnd/>
            <a:tailEnd/>
          </a:ln>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姓名</a:t>
            </a:r>
          </a:p>
        </p:txBody>
      </p:sp>
      <p:cxnSp>
        <p:nvCxnSpPr>
          <p:cNvPr id="18450" name="AutoShape 31"/>
          <p:cNvCxnSpPr>
            <a:cxnSpLocks noChangeShapeType="1"/>
            <a:stCxn id="1486868" idx="2"/>
            <a:endCxn id="1486878" idx="0"/>
          </p:cNvCxnSpPr>
          <p:nvPr/>
        </p:nvCxnSpPr>
        <p:spPr bwMode="auto">
          <a:xfrm>
            <a:off x="2357438" y="4924425"/>
            <a:ext cx="0" cy="400050"/>
          </a:xfrm>
          <a:prstGeom prst="straightConnector1">
            <a:avLst/>
          </a:prstGeom>
          <a:noFill/>
          <a:ln w="28575" cap="sq">
            <a:solidFill>
              <a:srgbClr val="99FF33"/>
            </a:solidFill>
            <a:round/>
            <a:headEnd/>
            <a:tailEnd type="triangle" w="med" len="med"/>
          </a:ln>
          <a:extLst>
            <a:ext uri="{909E8E84-426E-40DD-AFC4-6F175D3DCCD1}">
              <a14:hiddenFill xmlns:a14="http://schemas.microsoft.com/office/drawing/2010/main">
                <a:noFill/>
              </a14:hiddenFill>
            </a:ext>
          </a:extLst>
        </p:spPr>
      </p:cxnSp>
      <p:sp>
        <p:nvSpPr>
          <p:cNvPr id="33" name="Text Box 2"/>
          <p:cNvSpPr txBox="1">
            <a:spLocks noChangeArrowheads="1"/>
          </p:cNvSpPr>
          <p:nvPr/>
        </p:nvSpPr>
        <p:spPr bwMode="auto">
          <a:xfrm>
            <a:off x="179389" y="-55324"/>
            <a:ext cx="3659186" cy="760959"/>
          </a:xfrm>
          <a:prstGeom prst="rect">
            <a:avLst/>
          </a:prstGeom>
          <a:noFill/>
          <a:ln w="12700" cap="sq">
            <a:noFill/>
            <a:miter lim="800000"/>
            <a:headEnd/>
            <a:tailEnd/>
          </a:ln>
          <a:effectLst>
            <a:outerShdw dist="35921" dir="2700000" algn="ctr" rotWithShape="0">
              <a:schemeClr val="bg2"/>
            </a:outerShdw>
          </a:effectLst>
        </p:spPr>
        <p:txBody>
          <a:bodyPr wrap="square" lIns="72000" tIns="72000" rIns="72000" bIns="72000">
            <a:spAutoFit/>
          </a:bodyPr>
          <a:lstStyle/>
          <a:p>
            <a:pPr>
              <a:spcBef>
                <a:spcPts val="0"/>
              </a:spcBef>
              <a:defRPr/>
            </a:pPr>
            <a:r>
              <a:rPr lang="zh-CN" altLang="en-US" sz="4000" b="1" dirty="0" smtClean="0">
                <a:solidFill>
                  <a:srgbClr val="FFFFCC"/>
                </a:solidFill>
                <a:effectLst>
                  <a:outerShdw blurRad="38100" dist="38100" dir="2700000" algn="tl">
                    <a:srgbClr val="000000"/>
                  </a:outerShdw>
                </a:effectLst>
                <a:latin typeface="Arial" pitchFamily="34" charset="0"/>
                <a:ea typeface="微软雅黑" pitchFamily="34" charset="-122"/>
                <a:cs typeface="+mj-cs"/>
              </a:rPr>
              <a:t>传递函数依赖</a:t>
            </a:r>
            <a:endParaRPr lang="zh-CN" altLang="en-US" sz="4000" b="1" dirty="0">
              <a:solidFill>
                <a:srgbClr val="FFFFCC"/>
              </a:solidFill>
              <a:effectLst>
                <a:outerShdw blurRad="38100" dist="38100" dir="2700000" algn="tl">
                  <a:srgbClr val="000000"/>
                </a:outerShdw>
              </a:effectLst>
              <a:latin typeface="Arial" pitchFamily="34" charset="0"/>
              <a:ea typeface="微软雅黑" pitchFamily="34" charset="-122"/>
              <a:cs typeface="+mj-cs"/>
            </a:endParaRP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1970" name="Text Box 2"/>
          <p:cNvSpPr txBox="1">
            <a:spLocks noChangeArrowheads="1"/>
          </p:cNvSpPr>
          <p:nvPr/>
        </p:nvSpPr>
        <p:spPr bwMode="auto">
          <a:xfrm>
            <a:off x="179388" y="-27613"/>
            <a:ext cx="5400675" cy="760959"/>
          </a:xfrm>
          <a:prstGeom prst="rect">
            <a:avLst/>
          </a:prstGeom>
          <a:noFill/>
          <a:ln w="12700" cap="sq">
            <a:noFill/>
            <a:miter lim="800000"/>
            <a:headEnd/>
            <a:tailEnd/>
          </a:ln>
          <a:effectLst>
            <a:outerShdw dist="35921" dir="2700000" algn="ctr" rotWithShape="0">
              <a:schemeClr val="bg2"/>
            </a:outerShdw>
          </a:effectLst>
        </p:spPr>
        <p:txBody>
          <a:bodyPr wrap="square" lIns="72000" tIns="72000" rIns="72000" bIns="72000">
            <a:spAutoFit/>
          </a:bodyPr>
          <a:lstStyle>
            <a:defPPr>
              <a:defRPr lang="en-US"/>
            </a:defPPr>
            <a:lvl1pPr>
              <a:spcBef>
                <a:spcPts val="0"/>
              </a:spcBef>
              <a:defRPr sz="4000" b="1">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r>
              <a:rPr lang="zh-CN" altLang="en-US" dirty="0" smtClean="0"/>
              <a:t>函数依赖的推理规则</a:t>
            </a:r>
            <a:endParaRPr lang="zh-CN" altLang="en-US" dirty="0"/>
          </a:p>
        </p:txBody>
      </p:sp>
      <p:sp>
        <p:nvSpPr>
          <p:cNvPr id="1491972" name="Text Box 4"/>
          <p:cNvSpPr txBox="1">
            <a:spLocks noChangeArrowheads="1"/>
          </p:cNvSpPr>
          <p:nvPr/>
        </p:nvSpPr>
        <p:spPr bwMode="auto">
          <a:xfrm>
            <a:off x="395536" y="1196752"/>
            <a:ext cx="8382000" cy="1143000"/>
          </a:xfrm>
          <a:prstGeom prst="rect">
            <a:avLst/>
          </a:prstGeom>
          <a:noFill/>
          <a:ln w="12700" cap="sq">
            <a:noFill/>
            <a:miter lim="800000"/>
            <a:headEnd type="none" w="sm" len="sm"/>
            <a:tailEnd type="none" w="sm" len="sm"/>
          </a:ln>
          <a:effectLst/>
        </p:spPr>
        <p:txBody>
          <a:bodyPr/>
          <a:lstStyle/>
          <a:p>
            <a:pPr>
              <a:spcBef>
                <a:spcPct val="30000"/>
              </a:spcBef>
              <a:spcAft>
                <a:spcPct val="70000"/>
              </a:spcAft>
              <a:tabLst>
                <a:tab pos="715963" algn="l"/>
                <a:tab pos="1905000" algn="l"/>
              </a:tabLst>
              <a:defRPr/>
            </a:pPr>
            <a:r>
              <a:rPr lang="zh-CN" altLang="en-US" sz="2800" dirty="0">
                <a:solidFill>
                  <a:srgbClr val="CCFFCC"/>
                </a:solidFill>
                <a:effectLst>
                  <a:outerShdw blurRad="38100" dist="38100" dir="2700000" algn="tl">
                    <a:srgbClr val="000000"/>
                  </a:outerShdw>
                </a:effectLst>
              </a:rPr>
              <a:t>函数依赖涉及这样一类问题：</a:t>
            </a:r>
            <a:r>
              <a:rPr lang="zh-CN" altLang="en-US" sz="2800" dirty="0">
                <a:solidFill>
                  <a:srgbClr val="00FFFF"/>
                </a:solidFill>
                <a:effectLst>
                  <a:outerShdw blurRad="38100" dist="38100" dir="2700000" algn="tl">
                    <a:srgbClr val="000000"/>
                  </a:outerShdw>
                </a:effectLst>
              </a:rPr>
              <a:t>已知关系模式</a:t>
            </a:r>
            <a:r>
              <a:rPr lang="en-US" altLang="zh-CN" sz="2800" dirty="0">
                <a:solidFill>
                  <a:srgbClr val="00FFFF"/>
                </a:solidFill>
                <a:effectLst>
                  <a:outerShdw blurRad="38100" dist="38100" dir="2700000" algn="tl">
                    <a:srgbClr val="000000"/>
                  </a:outerShdw>
                </a:effectLst>
              </a:rPr>
              <a:t>R(U,F)</a:t>
            </a:r>
            <a:r>
              <a:rPr lang="zh-CN" altLang="en-US" sz="2800" dirty="0">
                <a:solidFill>
                  <a:srgbClr val="00FFFF"/>
                </a:solidFill>
                <a:effectLst>
                  <a:outerShdw blurRad="38100" dist="38100" dir="2700000" algn="tl">
                    <a:srgbClr val="000000"/>
                  </a:outerShdw>
                </a:effectLst>
              </a:rPr>
              <a:t>，其中属性集</a:t>
            </a:r>
            <a:r>
              <a:rPr lang="en-US" altLang="zh-CN" sz="2800" dirty="0">
                <a:solidFill>
                  <a:srgbClr val="00FFFF"/>
                </a:solidFill>
                <a:effectLst>
                  <a:outerShdw blurRad="38100" dist="38100" dir="2700000" algn="tl">
                    <a:srgbClr val="000000"/>
                  </a:outerShdw>
                </a:effectLst>
              </a:rPr>
              <a:t>U={A,B,C}</a:t>
            </a:r>
            <a:r>
              <a:rPr lang="zh-CN" altLang="en-US" sz="2800" dirty="0">
                <a:solidFill>
                  <a:srgbClr val="00FFFF"/>
                </a:solidFill>
                <a:effectLst>
                  <a:outerShdw blurRad="38100" dist="38100" dir="2700000" algn="tl">
                    <a:srgbClr val="000000"/>
                  </a:outerShdw>
                </a:effectLst>
              </a:rPr>
              <a:t>，函数依赖集</a:t>
            </a:r>
            <a:r>
              <a:rPr lang="en-US" altLang="zh-CN" sz="2800" dirty="0">
                <a:solidFill>
                  <a:srgbClr val="00FFFF"/>
                </a:solidFill>
                <a:effectLst>
                  <a:outerShdw blurRad="38100" dist="38100" dir="2700000" algn="tl">
                    <a:srgbClr val="000000"/>
                  </a:outerShdw>
                </a:effectLst>
              </a:rPr>
              <a:t>F={A→B</a:t>
            </a:r>
            <a:r>
              <a:rPr lang="zh-CN" altLang="en-US" sz="2800" dirty="0">
                <a:solidFill>
                  <a:srgbClr val="00FFFF"/>
                </a:solidFill>
                <a:effectLst>
                  <a:outerShdw blurRad="38100" dist="38100" dir="2700000" algn="tl">
                    <a:srgbClr val="000000"/>
                  </a:outerShdw>
                </a:effectLst>
              </a:rPr>
              <a:t>，</a:t>
            </a:r>
            <a:r>
              <a:rPr lang="en-US" altLang="zh-CN" sz="2800" dirty="0">
                <a:solidFill>
                  <a:srgbClr val="00FFFF"/>
                </a:solidFill>
                <a:effectLst>
                  <a:outerShdw blurRad="38100" dist="38100" dir="2700000" algn="tl">
                    <a:srgbClr val="000000"/>
                  </a:outerShdw>
                </a:effectLst>
              </a:rPr>
              <a:t>B→C}</a:t>
            </a:r>
            <a:r>
              <a:rPr lang="zh-CN" altLang="en-US" sz="2800" dirty="0">
                <a:solidFill>
                  <a:srgbClr val="00FFFF"/>
                </a:solidFill>
                <a:effectLst>
                  <a:outerShdw blurRad="38100" dist="38100" dir="2700000" algn="tl">
                    <a:srgbClr val="000000"/>
                  </a:outerShdw>
                </a:effectLst>
              </a:rPr>
              <a:t>，能推出</a:t>
            </a:r>
            <a:r>
              <a:rPr lang="en-US" altLang="zh-CN" sz="2800" dirty="0">
                <a:solidFill>
                  <a:srgbClr val="00FFFF"/>
                </a:solidFill>
                <a:effectLst>
                  <a:outerShdw blurRad="38100" dist="38100" dir="2700000" algn="tl">
                    <a:srgbClr val="000000"/>
                  </a:outerShdw>
                </a:effectLst>
              </a:rPr>
              <a:t>A→C</a:t>
            </a:r>
            <a:r>
              <a:rPr lang="zh-CN" altLang="en-US" sz="2800" dirty="0">
                <a:solidFill>
                  <a:srgbClr val="00FFFF"/>
                </a:solidFill>
                <a:effectLst>
                  <a:outerShdw blurRad="38100" dist="38100" dir="2700000" algn="tl">
                    <a:srgbClr val="000000"/>
                  </a:outerShdw>
                </a:effectLst>
              </a:rPr>
              <a:t>成立吗</a:t>
            </a:r>
            <a:r>
              <a:rPr lang="en-US" altLang="zh-CN" sz="2800" dirty="0">
                <a:solidFill>
                  <a:srgbClr val="00FFFF"/>
                </a:solidFill>
                <a:effectLst>
                  <a:outerShdw blurRad="38100" dist="38100" dir="2700000" algn="tl">
                    <a:srgbClr val="000000"/>
                  </a:outerShdw>
                </a:effectLst>
              </a:rPr>
              <a:t>?</a:t>
            </a:r>
            <a:endParaRPr lang="zh-CN" altLang="en-US" sz="2800" dirty="0">
              <a:solidFill>
                <a:srgbClr val="00FFFF"/>
              </a:solidFill>
              <a:effectLst>
                <a:outerShdw blurRad="38100" dist="38100" dir="2700000" algn="tl">
                  <a:srgbClr val="000000"/>
                </a:outerShdw>
              </a:effectLst>
            </a:endParaRPr>
          </a:p>
          <a:p>
            <a:pPr>
              <a:spcBef>
                <a:spcPct val="30000"/>
              </a:spcBef>
              <a:spcAft>
                <a:spcPct val="70000"/>
              </a:spcAft>
              <a:tabLst>
                <a:tab pos="715963" algn="l"/>
                <a:tab pos="1905000" algn="l"/>
              </a:tabLst>
              <a:defRPr/>
            </a:pPr>
            <a:r>
              <a:rPr lang="zh-CN" altLang="en-US" sz="2800" dirty="0">
                <a:solidFill>
                  <a:srgbClr val="CCFFCC"/>
                </a:solidFill>
                <a:effectLst>
                  <a:outerShdw blurRad="38100" dist="38100" dir="2700000" algn="tl">
                    <a:srgbClr val="000000"/>
                  </a:outerShdw>
                </a:effectLst>
              </a:rPr>
              <a:t>对于关系模式</a:t>
            </a:r>
            <a:r>
              <a:rPr lang="en-US" altLang="zh-CN" sz="2800" dirty="0">
                <a:solidFill>
                  <a:srgbClr val="CCFFCC"/>
                </a:solidFill>
                <a:effectLst>
                  <a:outerShdw blurRad="38100" dist="38100" dir="2700000" algn="tl">
                    <a:srgbClr val="000000"/>
                  </a:outerShdw>
                </a:effectLst>
              </a:rPr>
              <a:t>R(U,F)</a:t>
            </a:r>
            <a:r>
              <a:rPr lang="zh-CN" altLang="en-US" sz="2800" dirty="0">
                <a:solidFill>
                  <a:srgbClr val="CCFFCC"/>
                </a:solidFill>
                <a:effectLst>
                  <a:outerShdw blurRad="38100" dist="38100" dir="2700000" algn="tl">
                    <a:srgbClr val="000000"/>
                  </a:outerShdw>
                </a:effectLst>
              </a:rPr>
              <a:t>，</a:t>
            </a:r>
            <a:r>
              <a:rPr lang="en-US" altLang="zh-CN" sz="2800" dirty="0">
                <a:solidFill>
                  <a:srgbClr val="CCFFCC"/>
                </a:solidFill>
                <a:effectLst>
                  <a:outerShdw blurRad="38100" dist="38100" dir="2700000" algn="tl">
                    <a:srgbClr val="000000"/>
                  </a:outerShdw>
                </a:effectLst>
              </a:rPr>
              <a:t>X</a:t>
            </a:r>
            <a:r>
              <a:rPr lang="zh-CN" altLang="en-US" sz="2800" dirty="0">
                <a:solidFill>
                  <a:srgbClr val="CCFFCC"/>
                </a:solidFill>
                <a:effectLst>
                  <a:outerShdw blurRad="38100" dist="38100" dir="2700000" algn="tl">
                    <a:srgbClr val="000000"/>
                  </a:outerShdw>
                </a:effectLst>
                <a:sym typeface="Symbol" pitchFamily="18" charset="2"/>
              </a:rPr>
              <a:t></a:t>
            </a:r>
            <a:r>
              <a:rPr lang="en-US" altLang="zh-CN" sz="2800" dirty="0">
                <a:solidFill>
                  <a:srgbClr val="CCFFCC"/>
                </a:solidFill>
                <a:effectLst>
                  <a:outerShdw blurRad="38100" dist="38100" dir="2700000" algn="tl">
                    <a:srgbClr val="000000"/>
                  </a:outerShdw>
                </a:effectLst>
              </a:rPr>
              <a:t>U</a:t>
            </a:r>
            <a:r>
              <a:rPr lang="zh-CN" altLang="en-US" sz="2800" dirty="0">
                <a:solidFill>
                  <a:srgbClr val="CCFFCC"/>
                </a:solidFill>
                <a:effectLst>
                  <a:outerShdw blurRad="38100" dist="38100" dir="2700000" algn="tl">
                    <a:srgbClr val="000000"/>
                  </a:outerShdw>
                </a:effectLst>
              </a:rPr>
              <a:t>，</a:t>
            </a:r>
            <a:r>
              <a:rPr lang="en-US" altLang="zh-CN" sz="2800" dirty="0">
                <a:solidFill>
                  <a:srgbClr val="CCFFCC"/>
                </a:solidFill>
                <a:effectLst>
                  <a:outerShdw blurRad="38100" dist="38100" dir="2700000" algn="tl">
                    <a:srgbClr val="000000"/>
                  </a:outerShdw>
                </a:effectLst>
              </a:rPr>
              <a:t>Y</a:t>
            </a:r>
            <a:r>
              <a:rPr lang="zh-CN" altLang="en-US" sz="2800" dirty="0">
                <a:solidFill>
                  <a:srgbClr val="CCFFCC"/>
                </a:solidFill>
                <a:effectLst>
                  <a:outerShdw blurRad="38100" dist="38100" dir="2700000" algn="tl">
                    <a:srgbClr val="000000"/>
                  </a:outerShdw>
                </a:effectLst>
                <a:sym typeface="Symbol" pitchFamily="18" charset="2"/>
              </a:rPr>
              <a:t></a:t>
            </a:r>
            <a:r>
              <a:rPr lang="en-US" altLang="zh-CN" sz="2800" dirty="0">
                <a:solidFill>
                  <a:srgbClr val="CCFFCC"/>
                </a:solidFill>
                <a:effectLst>
                  <a:outerShdw blurRad="38100" dist="38100" dir="2700000" algn="tl">
                    <a:srgbClr val="000000"/>
                  </a:outerShdw>
                </a:effectLst>
              </a:rPr>
              <a:t>U</a:t>
            </a:r>
            <a:r>
              <a:rPr lang="zh-CN" altLang="en-US" sz="2800" dirty="0" smtClean="0">
                <a:solidFill>
                  <a:srgbClr val="CCFFCC"/>
                </a:solidFill>
                <a:effectLst>
                  <a:outerShdw blurRad="38100" dist="38100" dir="2700000" algn="tl">
                    <a:srgbClr val="000000"/>
                  </a:outerShdw>
                </a:effectLst>
              </a:rPr>
              <a:t>，若从</a:t>
            </a:r>
            <a:r>
              <a:rPr lang="en-US" altLang="zh-CN" sz="2800" dirty="0" smtClean="0">
                <a:solidFill>
                  <a:srgbClr val="CCFFCC"/>
                </a:solidFill>
                <a:effectLst>
                  <a:outerShdw blurRad="38100" dist="38100" dir="2700000" algn="tl">
                    <a:srgbClr val="000000"/>
                  </a:outerShdw>
                </a:effectLst>
              </a:rPr>
              <a:t>F</a:t>
            </a:r>
            <a:r>
              <a:rPr lang="zh-CN" altLang="en-US" sz="2800" dirty="0" smtClean="0">
                <a:solidFill>
                  <a:srgbClr val="CCFFCC"/>
                </a:solidFill>
                <a:effectLst>
                  <a:outerShdw blurRad="38100" dist="38100" dir="2700000" algn="tl">
                    <a:srgbClr val="000000"/>
                  </a:outerShdw>
                </a:effectLst>
              </a:rPr>
              <a:t>中能够推导出函数依赖</a:t>
            </a:r>
            <a:r>
              <a:rPr lang="en-US" altLang="zh-CN" sz="2800" dirty="0">
                <a:solidFill>
                  <a:srgbClr val="CCFFCC"/>
                </a:solidFill>
                <a:effectLst>
                  <a:outerShdw blurRad="38100" dist="38100" dir="2700000" algn="tl">
                    <a:srgbClr val="000000"/>
                  </a:outerShdw>
                </a:effectLst>
              </a:rPr>
              <a:t>X→Y</a:t>
            </a:r>
            <a:r>
              <a:rPr lang="zh-CN" altLang="en-US" sz="2800" dirty="0">
                <a:solidFill>
                  <a:srgbClr val="CCFFCC"/>
                </a:solidFill>
                <a:effectLst>
                  <a:outerShdw blurRad="38100" dist="38100" dir="2700000" algn="tl">
                    <a:srgbClr val="000000"/>
                  </a:outerShdw>
                </a:effectLst>
              </a:rPr>
              <a:t>成立，则称</a:t>
            </a:r>
            <a:r>
              <a:rPr lang="en-US" altLang="zh-CN" sz="2800" dirty="0">
                <a:solidFill>
                  <a:srgbClr val="CCFFCC"/>
                </a:solidFill>
                <a:effectLst>
                  <a:outerShdw blurRad="38100" dist="38100" dir="2700000" algn="tl">
                    <a:srgbClr val="000000"/>
                  </a:outerShdw>
                </a:effectLst>
              </a:rPr>
              <a:t>R</a:t>
            </a:r>
            <a:r>
              <a:rPr lang="zh-CN" altLang="en-US" sz="2800" dirty="0">
                <a:solidFill>
                  <a:srgbClr val="CCFFCC"/>
                </a:solidFill>
                <a:effectLst>
                  <a:outerShdw blurRad="38100" dist="38100" dir="2700000" algn="tl">
                    <a:srgbClr val="000000"/>
                  </a:outerShdw>
                </a:effectLst>
              </a:rPr>
              <a:t>的函数依赖集</a:t>
            </a:r>
            <a:r>
              <a:rPr lang="en-US" altLang="zh-CN" sz="2800" dirty="0">
                <a:solidFill>
                  <a:srgbClr val="CCFFCC"/>
                </a:solidFill>
                <a:effectLst>
                  <a:outerShdw blurRad="38100" dist="38100" dir="2700000" algn="tl">
                    <a:srgbClr val="000000"/>
                  </a:outerShdw>
                </a:effectLst>
              </a:rPr>
              <a:t>F</a:t>
            </a:r>
            <a:r>
              <a:rPr lang="zh-CN" altLang="en-US" sz="2800" dirty="0">
                <a:solidFill>
                  <a:srgbClr val="FFFF00"/>
                </a:solidFill>
                <a:effectLst>
                  <a:outerShdw blurRad="38100" dist="38100" dir="2700000" algn="tl">
                    <a:srgbClr val="000000"/>
                  </a:outerShdw>
                </a:effectLst>
              </a:rPr>
              <a:t>逻辑蕴涵</a:t>
            </a:r>
            <a:r>
              <a:rPr lang="en-US" altLang="zh-CN" sz="2800" dirty="0">
                <a:solidFill>
                  <a:srgbClr val="CCFFCC"/>
                </a:solidFill>
                <a:effectLst>
                  <a:outerShdw blurRad="38100" dist="38100" dir="2700000" algn="tl">
                    <a:srgbClr val="000000"/>
                  </a:outerShdw>
                </a:effectLst>
              </a:rPr>
              <a:t>X→Y</a:t>
            </a:r>
            <a:r>
              <a:rPr lang="zh-CN" altLang="en-US" sz="2800" dirty="0">
                <a:solidFill>
                  <a:srgbClr val="CCFFCC"/>
                </a:solidFill>
                <a:effectLst>
                  <a:outerShdw blurRad="38100" dist="38100" dir="2700000" algn="tl">
                    <a:srgbClr val="000000"/>
                  </a:outerShdw>
                </a:effectLst>
              </a:rPr>
              <a:t>，记</a:t>
            </a:r>
            <a:r>
              <a:rPr lang="zh-CN" altLang="en-US" sz="2800" dirty="0" smtClean="0">
                <a:solidFill>
                  <a:srgbClr val="CCFFCC"/>
                </a:solidFill>
                <a:effectLst>
                  <a:outerShdw blurRad="38100" dist="38100" dir="2700000" algn="tl">
                    <a:srgbClr val="000000"/>
                  </a:outerShdw>
                </a:effectLst>
              </a:rPr>
              <a:t>为</a:t>
            </a:r>
            <a:r>
              <a:rPr lang="en-US" altLang="zh-CN" sz="2800" b="1" dirty="0">
                <a:effectLst>
                  <a:outerShdw blurRad="38100" dist="38100" dir="2700000" algn="tl">
                    <a:srgbClr val="000000"/>
                  </a:outerShdw>
                </a:effectLst>
              </a:rPr>
              <a:t>F|=X→Y</a:t>
            </a:r>
            <a:r>
              <a:rPr lang="zh-CN" altLang="en-US" sz="2800" dirty="0" smtClean="0">
                <a:solidFill>
                  <a:srgbClr val="CCFFCC"/>
                </a:solidFill>
                <a:effectLst>
                  <a:outerShdw blurRad="38100" dist="38100" dir="2700000" algn="tl">
                    <a:srgbClr val="000000"/>
                  </a:outerShdw>
                </a:effectLst>
              </a:rPr>
              <a:t>。</a:t>
            </a:r>
            <a:endParaRPr lang="zh-CN" altLang="en-US" sz="2800" dirty="0">
              <a:solidFill>
                <a:srgbClr val="CCFFCC"/>
              </a:solidFill>
              <a:effectLst>
                <a:outerShdw blurRad="38100" dist="38100" dir="2700000" algn="tl">
                  <a:srgbClr val="000000"/>
                </a:outerShdw>
              </a:effectLst>
            </a:endParaRPr>
          </a:p>
          <a:p>
            <a:pPr>
              <a:spcBef>
                <a:spcPct val="30000"/>
              </a:spcBef>
              <a:spcAft>
                <a:spcPct val="0"/>
              </a:spcAft>
              <a:tabLst>
                <a:tab pos="715963" algn="l"/>
                <a:tab pos="1905000" algn="l"/>
              </a:tabLst>
              <a:defRPr/>
            </a:pPr>
            <a:r>
              <a:rPr lang="zh-CN" altLang="en-US" sz="2800" dirty="0">
                <a:solidFill>
                  <a:srgbClr val="CCFFCC"/>
                </a:solidFill>
                <a:effectLst>
                  <a:outerShdw blurRad="38100" dist="38100" dir="2700000" algn="tl">
                    <a:srgbClr val="000000"/>
                  </a:outerShdw>
                </a:effectLst>
              </a:rPr>
              <a:t>被函数依赖集</a:t>
            </a:r>
            <a:r>
              <a:rPr lang="en-US" altLang="zh-CN" sz="2800" dirty="0">
                <a:solidFill>
                  <a:srgbClr val="CCFFCC"/>
                </a:solidFill>
                <a:effectLst>
                  <a:outerShdw blurRad="38100" dist="38100" dir="2700000" algn="tl">
                    <a:srgbClr val="000000"/>
                  </a:outerShdw>
                </a:effectLst>
              </a:rPr>
              <a:t>F</a:t>
            </a:r>
            <a:r>
              <a:rPr lang="zh-CN" altLang="en-US" sz="2800" dirty="0">
                <a:solidFill>
                  <a:srgbClr val="CCFFCC"/>
                </a:solidFill>
                <a:effectLst>
                  <a:outerShdw blurRad="38100" dist="38100" dir="2700000" algn="tl">
                    <a:srgbClr val="000000"/>
                  </a:outerShdw>
                </a:effectLst>
              </a:rPr>
              <a:t>逻辑蕴涵的所有函数依赖所构成的集合，称为</a:t>
            </a:r>
            <a:r>
              <a:rPr lang="en-US" altLang="zh-CN" sz="2800" dirty="0">
                <a:solidFill>
                  <a:srgbClr val="CCFFCC"/>
                </a:solidFill>
                <a:effectLst>
                  <a:outerShdw blurRad="38100" dist="38100" dir="2700000" algn="tl">
                    <a:srgbClr val="000000"/>
                  </a:outerShdw>
                </a:effectLst>
              </a:rPr>
              <a:t>F</a:t>
            </a:r>
            <a:r>
              <a:rPr lang="zh-CN" altLang="en-US" sz="2800" dirty="0">
                <a:solidFill>
                  <a:srgbClr val="CCFFCC"/>
                </a:solidFill>
                <a:effectLst>
                  <a:outerShdw blurRad="38100" dist="38100" dir="2700000" algn="tl">
                    <a:srgbClr val="000000"/>
                  </a:outerShdw>
                </a:effectLst>
              </a:rPr>
              <a:t>的</a:t>
            </a:r>
            <a:r>
              <a:rPr lang="zh-CN" altLang="en-US" sz="2800" dirty="0">
                <a:solidFill>
                  <a:srgbClr val="FFFF00"/>
                </a:solidFill>
                <a:effectLst>
                  <a:outerShdw blurRad="38100" dist="38100" dir="2700000" algn="tl">
                    <a:srgbClr val="000000"/>
                  </a:outerShdw>
                </a:effectLst>
              </a:rPr>
              <a:t>闭包</a:t>
            </a:r>
            <a:r>
              <a:rPr lang="en-US" altLang="zh-CN" sz="2800" dirty="0">
                <a:solidFill>
                  <a:srgbClr val="CCFFCC"/>
                </a:solidFill>
                <a:effectLst>
                  <a:outerShdw blurRad="38100" dist="38100" dir="2700000" algn="tl">
                    <a:srgbClr val="000000"/>
                  </a:outerShdw>
                </a:effectLst>
              </a:rPr>
              <a:t>(closure)</a:t>
            </a:r>
            <a:r>
              <a:rPr lang="zh-CN" altLang="en-US" sz="2800" dirty="0">
                <a:solidFill>
                  <a:srgbClr val="CCFFCC"/>
                </a:solidFill>
                <a:effectLst>
                  <a:outerShdw blurRad="38100" dist="38100" dir="2700000" algn="tl">
                    <a:srgbClr val="000000"/>
                  </a:outerShdw>
                </a:effectLst>
              </a:rPr>
              <a:t>，记作</a:t>
            </a:r>
            <a:r>
              <a:rPr lang="en-US" altLang="zh-CN" sz="2800" dirty="0">
                <a:solidFill>
                  <a:srgbClr val="CCFFCC"/>
                </a:solidFill>
                <a:effectLst>
                  <a:outerShdw blurRad="38100" dist="38100" dir="2700000" algn="tl">
                    <a:srgbClr val="000000"/>
                  </a:outerShdw>
                </a:effectLst>
              </a:rPr>
              <a:t>F</a:t>
            </a:r>
            <a:r>
              <a:rPr lang="en-US" altLang="zh-CN" sz="2800" baseline="30000" dirty="0">
                <a:solidFill>
                  <a:srgbClr val="CCFFCC"/>
                </a:solidFill>
                <a:effectLst>
                  <a:outerShdw blurRad="38100" dist="38100" dir="2700000" algn="tl">
                    <a:srgbClr val="000000"/>
                  </a:outerShdw>
                </a:effectLst>
              </a:rPr>
              <a:t>+</a:t>
            </a:r>
            <a:r>
              <a:rPr lang="zh-CN" altLang="en-US" sz="2800" dirty="0">
                <a:solidFill>
                  <a:srgbClr val="CCFFCC"/>
                </a:solidFill>
                <a:effectLst>
                  <a:outerShdw blurRad="38100" dist="38100" dir="2700000" algn="tl">
                    <a:srgbClr val="000000"/>
                  </a:outerShdw>
                </a:effectLst>
              </a:rPr>
              <a:t>。</a:t>
            </a:r>
          </a:p>
          <a:p>
            <a:pPr>
              <a:spcAft>
                <a:spcPct val="5000"/>
              </a:spcAft>
              <a:tabLst>
                <a:tab pos="715963" algn="l"/>
                <a:tab pos="1905000" algn="l"/>
              </a:tabLst>
              <a:defRPr/>
            </a:pPr>
            <a:r>
              <a:rPr lang="zh-CN" altLang="en-US" sz="2800" dirty="0">
                <a:solidFill>
                  <a:srgbClr val="CCFFCC"/>
                </a:solidFill>
                <a:effectLst>
                  <a:outerShdw blurRad="38100" dist="38100" dir="2700000" algn="tl">
                    <a:srgbClr val="000000"/>
                  </a:outerShdw>
                </a:effectLst>
              </a:rPr>
              <a:t>即：</a:t>
            </a:r>
            <a:r>
              <a:rPr lang="en-US" altLang="zh-CN" sz="2800" dirty="0">
                <a:effectLst>
                  <a:outerShdw blurRad="38100" dist="38100" dir="2700000" algn="tl">
                    <a:srgbClr val="000000"/>
                  </a:outerShdw>
                </a:effectLst>
              </a:rPr>
              <a:t>F</a:t>
            </a:r>
            <a:r>
              <a:rPr lang="en-US" altLang="zh-CN" sz="2800" baseline="30000" dirty="0">
                <a:effectLst>
                  <a:outerShdw blurRad="38100" dist="38100" dir="2700000" algn="tl">
                    <a:srgbClr val="000000"/>
                  </a:outerShdw>
                </a:effectLst>
              </a:rPr>
              <a:t>+</a:t>
            </a:r>
            <a:r>
              <a:rPr lang="en-US" altLang="zh-CN" sz="2800" dirty="0">
                <a:effectLst>
                  <a:outerShdw blurRad="38100" dist="38100" dir="2700000" algn="tl">
                    <a:srgbClr val="000000"/>
                  </a:outerShdw>
                </a:effectLst>
              </a:rPr>
              <a:t>={X→</a:t>
            </a:r>
            <a:r>
              <a:rPr lang="en-US" altLang="zh-CN" sz="2800" dirty="0" smtClean="0">
                <a:effectLst>
                  <a:outerShdw blurRad="38100" dist="38100" dir="2700000" algn="tl">
                    <a:srgbClr val="000000"/>
                  </a:outerShdw>
                </a:effectLst>
              </a:rPr>
              <a:t>Y| F</a:t>
            </a:r>
            <a:r>
              <a:rPr lang="en-US" altLang="zh-CN" sz="2400" dirty="0" smtClean="0">
                <a:effectLst>
                  <a:outerShdw blurRad="38100" dist="38100" dir="2700000" algn="tl">
                    <a:srgbClr val="000000"/>
                  </a:outerShdw>
                </a:effectLst>
                <a:sym typeface="Symbol" pitchFamily="18" charset="2"/>
              </a:rPr>
              <a:t>|</a:t>
            </a:r>
            <a:r>
              <a:rPr lang="en-US" altLang="zh-CN" sz="2800" dirty="0" smtClean="0">
                <a:effectLst>
                  <a:outerShdw blurRad="38100" dist="38100" dir="2700000" algn="tl">
                    <a:srgbClr val="000000"/>
                  </a:outerShdw>
                </a:effectLst>
                <a:sym typeface="Symbol" pitchFamily="18" charset="2"/>
              </a:rPr>
              <a:t>=</a:t>
            </a:r>
            <a:r>
              <a:rPr lang="en-US" altLang="zh-CN" sz="2800" dirty="0" smtClean="0">
                <a:effectLst>
                  <a:outerShdw blurRad="38100" dist="38100" dir="2700000" algn="tl">
                    <a:srgbClr val="000000"/>
                  </a:outerShdw>
                </a:effectLst>
              </a:rPr>
              <a:t>X</a:t>
            </a:r>
            <a:r>
              <a:rPr lang="en-US" altLang="zh-CN" sz="2800" dirty="0">
                <a:effectLst>
                  <a:outerShdw blurRad="38100" dist="38100" dir="2700000" algn="tl">
                    <a:srgbClr val="000000"/>
                  </a:outerShdw>
                </a:effectLst>
              </a:rPr>
              <a:t>→Y}</a:t>
            </a:r>
            <a:r>
              <a:rPr lang="zh-CN" altLang="en-US" sz="2800" dirty="0">
                <a:solidFill>
                  <a:srgbClr val="CCFFCC"/>
                </a:solidFill>
                <a:effectLst>
                  <a:outerShdw blurRad="38100" dist="38100" dir="2700000" algn="tl">
                    <a:srgbClr val="000000"/>
                  </a:outerShdw>
                </a:effectLst>
              </a:rPr>
              <a:t>。</a:t>
            </a:r>
            <a:endParaRPr lang="en-US" altLang="zh-CN" sz="2800" dirty="0">
              <a:solidFill>
                <a:srgbClr val="CCFFCC"/>
              </a:solidFill>
              <a:effectLst>
                <a:outerShdw blurRad="38100" dist="38100" dir="2700000" algn="tl">
                  <a:srgbClr val="000000"/>
                </a:outerShdw>
              </a:effectLst>
            </a:endParaRP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2996" name="Text Box 4"/>
          <p:cNvSpPr txBox="1">
            <a:spLocks noChangeArrowheads="1"/>
          </p:cNvSpPr>
          <p:nvPr/>
        </p:nvSpPr>
        <p:spPr bwMode="auto">
          <a:xfrm>
            <a:off x="564713" y="778932"/>
            <a:ext cx="8382000" cy="1143000"/>
          </a:xfrm>
          <a:prstGeom prst="rect">
            <a:avLst/>
          </a:prstGeom>
          <a:noFill/>
          <a:ln w="12700" cap="sq">
            <a:noFill/>
            <a:miter lim="800000"/>
            <a:headEnd type="none" w="sm" len="sm"/>
            <a:tailEnd type="none" w="sm" len="sm"/>
          </a:ln>
          <a:effectLst/>
        </p:spPr>
        <p:txBody>
          <a:bodyPr/>
          <a:lstStyle/>
          <a:p>
            <a:pPr>
              <a:spcBef>
                <a:spcPct val="30000"/>
              </a:spcBef>
              <a:spcAft>
                <a:spcPct val="70000"/>
              </a:spcAft>
              <a:tabLst>
                <a:tab pos="715963" algn="l"/>
                <a:tab pos="1905000" algn="l"/>
              </a:tabLst>
              <a:defRPr/>
            </a:pPr>
            <a:r>
              <a:rPr lang="zh-CN" altLang="en-US" sz="2800" dirty="0">
                <a:solidFill>
                  <a:srgbClr val="CCFFCC"/>
                </a:solidFill>
                <a:effectLst>
                  <a:outerShdw blurRad="38100" dist="38100" dir="2700000" algn="tl">
                    <a:srgbClr val="000000"/>
                  </a:outerShdw>
                </a:effectLst>
              </a:rPr>
              <a:t>设有关系模式</a:t>
            </a:r>
            <a:r>
              <a:rPr lang="en-US" altLang="zh-CN" sz="2800" dirty="0">
                <a:solidFill>
                  <a:srgbClr val="CCFFCC"/>
                </a:solidFill>
                <a:effectLst>
                  <a:outerShdw blurRad="38100" dist="38100" dir="2700000" algn="tl">
                    <a:srgbClr val="000000"/>
                  </a:outerShdw>
                </a:effectLst>
              </a:rPr>
              <a:t>R(U,F)</a:t>
            </a:r>
            <a:r>
              <a:rPr lang="zh-CN" altLang="en-US" sz="2800" dirty="0">
                <a:solidFill>
                  <a:srgbClr val="CCFFCC"/>
                </a:solidFill>
                <a:effectLst>
                  <a:outerShdw blurRad="38100" dist="38100" dir="2700000" algn="tl">
                    <a:srgbClr val="000000"/>
                  </a:outerShdw>
                </a:effectLst>
              </a:rPr>
              <a:t>，</a:t>
            </a:r>
            <a:r>
              <a:rPr lang="en-US" altLang="zh-CN" sz="2800" dirty="0">
                <a:solidFill>
                  <a:srgbClr val="CCFFCC"/>
                </a:solidFill>
                <a:effectLst>
                  <a:outerShdw blurRad="38100" dist="38100" dir="2700000" algn="tl">
                    <a:srgbClr val="000000"/>
                  </a:outerShdw>
                </a:effectLst>
              </a:rPr>
              <a:t>X</a:t>
            </a:r>
            <a:r>
              <a:rPr lang="zh-CN" altLang="en-US" sz="2800" dirty="0">
                <a:solidFill>
                  <a:srgbClr val="CCFFCC"/>
                </a:solidFill>
                <a:effectLst>
                  <a:outerShdw blurRad="38100" dist="38100" dir="2700000" algn="tl">
                    <a:srgbClr val="000000"/>
                  </a:outerShdw>
                </a:effectLst>
              </a:rPr>
              <a:t>、</a:t>
            </a:r>
            <a:r>
              <a:rPr lang="en-US" altLang="zh-CN" sz="2800" dirty="0">
                <a:solidFill>
                  <a:srgbClr val="CCFFCC"/>
                </a:solidFill>
                <a:effectLst>
                  <a:outerShdw blurRad="38100" dist="38100" dir="2700000" algn="tl">
                    <a:srgbClr val="000000"/>
                  </a:outerShdw>
                </a:effectLst>
              </a:rPr>
              <a:t>Y</a:t>
            </a:r>
            <a:r>
              <a:rPr lang="zh-CN" altLang="en-US" sz="2800" dirty="0">
                <a:solidFill>
                  <a:srgbClr val="CCFFCC"/>
                </a:solidFill>
                <a:effectLst>
                  <a:outerShdw blurRad="38100" dist="38100" dir="2700000" algn="tl">
                    <a:srgbClr val="000000"/>
                  </a:outerShdw>
                </a:effectLst>
              </a:rPr>
              <a:t>、</a:t>
            </a:r>
            <a:r>
              <a:rPr lang="en-US" altLang="zh-CN" sz="2800" dirty="0">
                <a:solidFill>
                  <a:srgbClr val="CCFFCC"/>
                </a:solidFill>
                <a:effectLst>
                  <a:outerShdw blurRad="38100" dist="38100" dir="2700000" algn="tl">
                    <a:srgbClr val="000000"/>
                  </a:outerShdw>
                </a:effectLst>
              </a:rPr>
              <a:t>Z</a:t>
            </a:r>
            <a:r>
              <a:rPr lang="zh-CN" altLang="en-US" sz="2800" dirty="0">
                <a:solidFill>
                  <a:srgbClr val="CCFFCC"/>
                </a:solidFill>
                <a:effectLst>
                  <a:outerShdw blurRad="38100" dist="38100" dir="2700000" algn="tl">
                    <a:srgbClr val="000000"/>
                  </a:outerShdw>
                </a:effectLst>
              </a:rPr>
              <a:t>、</a:t>
            </a:r>
            <a:r>
              <a:rPr lang="en-US" altLang="zh-CN" sz="2800" dirty="0">
                <a:solidFill>
                  <a:srgbClr val="CCFFCC"/>
                </a:solidFill>
                <a:effectLst>
                  <a:outerShdw blurRad="38100" dist="38100" dir="2700000" algn="tl">
                    <a:srgbClr val="000000"/>
                  </a:outerShdw>
                </a:effectLst>
              </a:rPr>
              <a:t>W</a:t>
            </a:r>
            <a:r>
              <a:rPr lang="zh-CN" altLang="en-US" sz="2800" dirty="0">
                <a:solidFill>
                  <a:srgbClr val="CCFFCC"/>
                </a:solidFill>
                <a:effectLst>
                  <a:outerShdw blurRad="38100" dist="38100" dir="2700000" algn="tl">
                    <a:srgbClr val="000000"/>
                  </a:outerShdw>
                </a:effectLst>
              </a:rPr>
              <a:t>均是</a:t>
            </a:r>
            <a:r>
              <a:rPr lang="en-US" altLang="zh-CN" sz="2800" dirty="0">
                <a:solidFill>
                  <a:srgbClr val="CCFFCC"/>
                </a:solidFill>
                <a:effectLst>
                  <a:outerShdw blurRad="38100" dist="38100" dir="2700000" algn="tl">
                    <a:srgbClr val="000000"/>
                  </a:outerShdw>
                </a:effectLst>
              </a:rPr>
              <a:t>U</a:t>
            </a:r>
            <a:r>
              <a:rPr lang="zh-CN" altLang="en-US" sz="2800" dirty="0">
                <a:solidFill>
                  <a:srgbClr val="CCFFCC"/>
                </a:solidFill>
                <a:effectLst>
                  <a:outerShdw blurRad="38100" dist="38100" dir="2700000" algn="tl">
                    <a:srgbClr val="000000"/>
                  </a:outerShdw>
                </a:effectLst>
              </a:rPr>
              <a:t>的子集：</a:t>
            </a:r>
            <a:endParaRPr lang="en-US" altLang="zh-CN" sz="2800" dirty="0">
              <a:solidFill>
                <a:srgbClr val="CCFFCC"/>
              </a:solidFill>
              <a:effectLst>
                <a:outerShdw blurRad="38100" dist="38100" dir="2700000" algn="tl">
                  <a:srgbClr val="000000"/>
                </a:outerShdw>
              </a:effectLst>
            </a:endParaRPr>
          </a:p>
        </p:txBody>
      </p:sp>
      <p:sp>
        <p:nvSpPr>
          <p:cNvPr id="1492997" name="Text Box 5"/>
          <p:cNvSpPr txBox="1">
            <a:spLocks noChangeArrowheads="1"/>
          </p:cNvSpPr>
          <p:nvPr/>
        </p:nvSpPr>
        <p:spPr bwMode="auto">
          <a:xfrm>
            <a:off x="379413" y="1408075"/>
            <a:ext cx="8382000" cy="1143000"/>
          </a:xfrm>
          <a:prstGeom prst="rect">
            <a:avLst/>
          </a:prstGeom>
          <a:noFill/>
          <a:ln w="12700" cap="sq">
            <a:noFill/>
            <a:miter lim="800000"/>
            <a:headEnd type="none" w="sm" len="sm"/>
            <a:tailEnd type="none" w="sm" len="sm"/>
          </a:ln>
          <a:effectLst/>
        </p:spPr>
        <p:txBody>
          <a:bodyPr/>
          <a:lstStyle/>
          <a:p>
            <a:pPr marL="182563" indent="-182563">
              <a:spcAft>
                <a:spcPct val="20000"/>
              </a:spcAft>
              <a:buClr>
                <a:srgbClr val="FF9900"/>
              </a:buClr>
              <a:buFont typeface="Wingdings" pitchFamily="2" charset="2"/>
              <a:buChar char="§"/>
              <a:tabLst>
                <a:tab pos="715963" algn="l"/>
                <a:tab pos="2416175" algn="l"/>
              </a:tabLst>
              <a:defRPr/>
            </a:pPr>
            <a:r>
              <a:rPr lang="zh-CN" altLang="zh-CN" sz="2800" dirty="0">
                <a:solidFill>
                  <a:srgbClr val="66FFFF"/>
                </a:solidFill>
                <a:effectLst>
                  <a:outerShdw blurRad="38100" dist="38100" dir="2700000" algn="tl">
                    <a:srgbClr val="000000"/>
                  </a:outerShdw>
                </a:effectLst>
              </a:rPr>
              <a:t>自反</a:t>
            </a:r>
            <a:r>
              <a:rPr lang="zh-CN" altLang="en-US" sz="2800" dirty="0">
                <a:solidFill>
                  <a:srgbClr val="66FFFF"/>
                </a:solidFill>
                <a:effectLst>
                  <a:outerShdw blurRad="38100" dist="38100" dir="2700000" algn="tl">
                    <a:srgbClr val="000000"/>
                  </a:outerShdw>
                </a:effectLst>
              </a:rPr>
              <a:t>律</a:t>
            </a:r>
            <a:r>
              <a:rPr lang="zh-CN" altLang="zh-CN" sz="2800" dirty="0">
                <a:solidFill>
                  <a:srgbClr val="CCFFCC"/>
                </a:solidFill>
                <a:effectLst>
                  <a:outerShdw blurRad="38100" dist="38100" dir="2700000" algn="tl">
                    <a:srgbClr val="000000"/>
                  </a:outerShdw>
                </a:effectLst>
              </a:rPr>
              <a:t>：</a:t>
            </a:r>
            <a:r>
              <a:rPr lang="zh-CN" altLang="en-US" sz="2800" dirty="0">
                <a:solidFill>
                  <a:srgbClr val="CCFFCC"/>
                </a:solidFill>
                <a:effectLst>
                  <a:outerShdw blurRad="38100" dist="38100" dir="2700000" algn="tl">
                    <a:srgbClr val="000000"/>
                  </a:outerShdw>
                </a:effectLst>
              </a:rPr>
              <a:t>	</a:t>
            </a:r>
            <a:r>
              <a:rPr lang="zh-CN" altLang="zh-CN" sz="2800" dirty="0">
                <a:solidFill>
                  <a:srgbClr val="CCFFCC"/>
                </a:solidFill>
                <a:effectLst>
                  <a:outerShdw blurRad="38100" dist="38100" dir="2700000" algn="tl">
                    <a:srgbClr val="000000"/>
                  </a:outerShdw>
                </a:effectLst>
              </a:rPr>
              <a:t>若Y</a:t>
            </a:r>
            <a:r>
              <a:rPr lang="zh-CN" altLang="zh-CN" sz="2800" dirty="0">
                <a:solidFill>
                  <a:srgbClr val="CCFFCC"/>
                </a:solidFill>
                <a:effectLst>
                  <a:outerShdw blurRad="38100" dist="38100" dir="2700000" algn="tl">
                    <a:srgbClr val="000000"/>
                  </a:outerShdw>
                </a:effectLst>
                <a:sym typeface="Symbol" pitchFamily="18" charset="2"/>
              </a:rPr>
              <a:t></a:t>
            </a:r>
            <a:r>
              <a:rPr lang="zh-CN" altLang="zh-CN" sz="2800" dirty="0">
                <a:solidFill>
                  <a:srgbClr val="CCFFCC"/>
                </a:solidFill>
                <a:effectLst>
                  <a:outerShdw blurRad="38100" dist="38100" dir="2700000" algn="tl">
                    <a:srgbClr val="000000"/>
                  </a:outerShdw>
                </a:effectLst>
              </a:rPr>
              <a:t>X，则</a:t>
            </a:r>
            <a:r>
              <a:rPr lang="zh-CN" altLang="en-US" sz="2800" dirty="0">
                <a:solidFill>
                  <a:srgbClr val="CCFFCC"/>
                </a:solidFill>
                <a:effectLst>
                  <a:outerShdw blurRad="38100" dist="38100" dir="2700000" algn="tl">
                    <a:srgbClr val="000000"/>
                  </a:outerShdw>
                </a:effectLst>
              </a:rPr>
              <a:t>有</a:t>
            </a:r>
            <a:r>
              <a:rPr lang="zh-CN" altLang="zh-CN" sz="2800" dirty="0">
                <a:solidFill>
                  <a:srgbClr val="CCFFCC"/>
                </a:solidFill>
                <a:effectLst>
                  <a:outerShdw blurRad="38100" dist="38100" dir="2700000" algn="tl">
                    <a:srgbClr val="000000"/>
                  </a:outerShdw>
                </a:effectLst>
              </a:rPr>
              <a:t>X→Y；</a:t>
            </a:r>
            <a:endParaRPr lang="zh-CN" altLang="en-US" sz="2800" dirty="0">
              <a:solidFill>
                <a:srgbClr val="CCFFCC"/>
              </a:solidFill>
              <a:effectLst>
                <a:outerShdw blurRad="38100" dist="38100" dir="2700000" algn="tl">
                  <a:srgbClr val="000000"/>
                </a:outerShdw>
              </a:effectLst>
            </a:endParaRPr>
          </a:p>
          <a:p>
            <a:pPr marL="182563" indent="-182563">
              <a:spcAft>
                <a:spcPct val="20000"/>
              </a:spcAft>
              <a:buClr>
                <a:srgbClr val="FF9900"/>
              </a:buClr>
              <a:buFont typeface="Wingdings" pitchFamily="2" charset="2"/>
              <a:buChar char="§"/>
              <a:tabLst>
                <a:tab pos="715963" algn="l"/>
                <a:tab pos="2416175" algn="l"/>
              </a:tabLst>
              <a:defRPr/>
            </a:pPr>
            <a:r>
              <a:rPr lang="zh-CN" altLang="zh-CN" sz="2800" dirty="0">
                <a:solidFill>
                  <a:srgbClr val="66FFFF"/>
                </a:solidFill>
                <a:effectLst>
                  <a:outerShdw blurRad="38100" dist="38100" dir="2700000" algn="tl">
                    <a:srgbClr val="000000"/>
                  </a:outerShdw>
                </a:effectLst>
              </a:rPr>
              <a:t>增广</a:t>
            </a:r>
            <a:r>
              <a:rPr lang="zh-CN" altLang="en-US" sz="2800" dirty="0">
                <a:solidFill>
                  <a:srgbClr val="66FFFF"/>
                </a:solidFill>
                <a:effectLst>
                  <a:outerShdw blurRad="38100" dist="38100" dir="2700000" algn="tl">
                    <a:srgbClr val="000000"/>
                  </a:outerShdw>
                </a:effectLst>
              </a:rPr>
              <a:t>律</a:t>
            </a:r>
            <a:r>
              <a:rPr lang="zh-CN" altLang="zh-CN" sz="2800" dirty="0">
                <a:solidFill>
                  <a:srgbClr val="CCFFCC"/>
                </a:solidFill>
                <a:effectLst>
                  <a:outerShdw blurRad="38100" dist="38100" dir="2700000" algn="tl">
                    <a:srgbClr val="000000"/>
                  </a:outerShdw>
                </a:effectLst>
              </a:rPr>
              <a:t>: </a:t>
            </a:r>
            <a:r>
              <a:rPr lang="zh-CN" altLang="en-US" sz="2800" dirty="0">
                <a:solidFill>
                  <a:srgbClr val="CCFFCC"/>
                </a:solidFill>
                <a:effectLst>
                  <a:outerShdw blurRad="38100" dist="38100" dir="2700000" algn="tl">
                    <a:srgbClr val="000000"/>
                  </a:outerShdw>
                </a:effectLst>
              </a:rPr>
              <a:t>	</a:t>
            </a:r>
            <a:r>
              <a:rPr lang="zh-CN" altLang="zh-CN" sz="2800" dirty="0">
                <a:solidFill>
                  <a:srgbClr val="CCFFCC"/>
                </a:solidFill>
                <a:effectLst>
                  <a:outerShdw blurRad="38100" dist="38100" dir="2700000" algn="tl">
                    <a:srgbClr val="000000"/>
                  </a:outerShdw>
                </a:effectLst>
              </a:rPr>
              <a:t>若X→Y，则</a:t>
            </a:r>
            <a:r>
              <a:rPr lang="zh-CN" altLang="en-US" sz="2800" dirty="0">
                <a:solidFill>
                  <a:srgbClr val="CCFFCC"/>
                </a:solidFill>
                <a:effectLst>
                  <a:outerShdw blurRad="38100" dist="38100" dir="2700000" algn="tl">
                    <a:srgbClr val="000000"/>
                  </a:outerShdw>
                </a:effectLst>
              </a:rPr>
              <a:t>有</a:t>
            </a:r>
            <a:r>
              <a:rPr lang="zh-CN" altLang="zh-CN" sz="2800" dirty="0">
                <a:solidFill>
                  <a:srgbClr val="CCFFCC"/>
                </a:solidFill>
                <a:effectLst>
                  <a:outerShdw blurRad="38100" dist="38100" dir="2700000" algn="tl">
                    <a:srgbClr val="000000"/>
                  </a:outerShdw>
                </a:effectLst>
              </a:rPr>
              <a:t>XZ→YZ；</a:t>
            </a:r>
          </a:p>
          <a:p>
            <a:pPr marL="182563" indent="-182563">
              <a:spcAft>
                <a:spcPct val="20000"/>
              </a:spcAft>
              <a:buClr>
                <a:srgbClr val="FF9900"/>
              </a:buClr>
              <a:buFont typeface="Wingdings" pitchFamily="2" charset="2"/>
              <a:buChar char="§"/>
              <a:tabLst>
                <a:tab pos="715963" algn="l"/>
                <a:tab pos="2416175" algn="l"/>
              </a:tabLst>
              <a:defRPr/>
            </a:pPr>
            <a:r>
              <a:rPr lang="zh-CN" altLang="zh-CN" sz="2800" dirty="0">
                <a:solidFill>
                  <a:srgbClr val="66FFFF"/>
                </a:solidFill>
                <a:effectLst>
                  <a:outerShdw blurRad="38100" dist="38100" dir="2700000" algn="tl">
                    <a:srgbClr val="000000"/>
                  </a:outerShdw>
                </a:effectLst>
              </a:rPr>
              <a:t>传递</a:t>
            </a:r>
            <a:r>
              <a:rPr lang="zh-CN" altLang="en-US" sz="2800" dirty="0">
                <a:solidFill>
                  <a:srgbClr val="66FFFF"/>
                </a:solidFill>
                <a:effectLst>
                  <a:outerShdw blurRad="38100" dist="38100" dir="2700000" algn="tl">
                    <a:srgbClr val="000000"/>
                  </a:outerShdw>
                </a:effectLst>
              </a:rPr>
              <a:t>律</a:t>
            </a:r>
            <a:r>
              <a:rPr lang="zh-CN" altLang="zh-CN" sz="2800" dirty="0">
                <a:solidFill>
                  <a:srgbClr val="CCFFCC"/>
                </a:solidFill>
                <a:effectLst>
                  <a:outerShdw blurRad="38100" dist="38100" dir="2700000" algn="tl">
                    <a:srgbClr val="000000"/>
                  </a:outerShdw>
                </a:effectLst>
              </a:rPr>
              <a:t>: </a:t>
            </a:r>
            <a:r>
              <a:rPr lang="zh-CN" altLang="en-US" sz="2800" dirty="0">
                <a:solidFill>
                  <a:srgbClr val="CCFFCC"/>
                </a:solidFill>
                <a:effectLst>
                  <a:outerShdw blurRad="38100" dist="38100" dir="2700000" algn="tl">
                    <a:srgbClr val="000000"/>
                  </a:outerShdw>
                </a:effectLst>
              </a:rPr>
              <a:t>	</a:t>
            </a:r>
            <a:r>
              <a:rPr lang="zh-CN" altLang="zh-CN" sz="2800" dirty="0">
                <a:solidFill>
                  <a:srgbClr val="CCFFCC"/>
                </a:solidFill>
                <a:effectLst>
                  <a:outerShdw blurRad="38100" dist="38100" dir="2700000" algn="tl">
                    <a:srgbClr val="000000"/>
                  </a:outerShdw>
                </a:effectLst>
              </a:rPr>
              <a:t>若X→Y</a:t>
            </a:r>
            <a:r>
              <a:rPr lang="zh-CN" altLang="en-US" sz="2800" dirty="0">
                <a:solidFill>
                  <a:srgbClr val="CCFFCC"/>
                </a:solidFill>
                <a:effectLst>
                  <a:outerShdw blurRad="38100" dist="38100" dir="2700000" algn="tl">
                    <a:srgbClr val="000000"/>
                  </a:outerShdw>
                </a:effectLst>
              </a:rPr>
              <a:t>，</a:t>
            </a:r>
            <a:r>
              <a:rPr lang="zh-CN" altLang="zh-CN" sz="2800" dirty="0">
                <a:solidFill>
                  <a:srgbClr val="CCFFCC"/>
                </a:solidFill>
                <a:effectLst>
                  <a:outerShdw blurRad="38100" dist="38100" dir="2700000" algn="tl">
                    <a:srgbClr val="000000"/>
                  </a:outerShdw>
                </a:effectLst>
              </a:rPr>
              <a:t>Y→Z，则</a:t>
            </a:r>
            <a:r>
              <a:rPr lang="zh-CN" altLang="en-US" sz="2800" dirty="0">
                <a:solidFill>
                  <a:srgbClr val="CCFFCC"/>
                </a:solidFill>
                <a:effectLst>
                  <a:outerShdw blurRad="38100" dist="38100" dir="2700000" algn="tl">
                    <a:srgbClr val="000000"/>
                  </a:outerShdw>
                </a:effectLst>
              </a:rPr>
              <a:t>有</a:t>
            </a:r>
            <a:r>
              <a:rPr lang="zh-CN" altLang="zh-CN" sz="2800" dirty="0">
                <a:solidFill>
                  <a:srgbClr val="CCFFCC"/>
                </a:solidFill>
                <a:effectLst>
                  <a:outerShdw blurRad="38100" dist="38100" dir="2700000" algn="tl">
                    <a:srgbClr val="000000"/>
                  </a:outerShdw>
                </a:effectLst>
              </a:rPr>
              <a:t>X→Z；</a:t>
            </a:r>
          </a:p>
        </p:txBody>
      </p:sp>
      <p:sp>
        <p:nvSpPr>
          <p:cNvPr id="1492998" name="Text Box 6"/>
          <p:cNvSpPr txBox="1">
            <a:spLocks noChangeArrowheads="1"/>
          </p:cNvSpPr>
          <p:nvPr/>
        </p:nvSpPr>
        <p:spPr bwMode="auto">
          <a:xfrm>
            <a:off x="379413" y="3877262"/>
            <a:ext cx="8382000" cy="1143000"/>
          </a:xfrm>
          <a:prstGeom prst="rect">
            <a:avLst/>
          </a:prstGeom>
          <a:noFill/>
          <a:ln w="12700" cap="sq">
            <a:noFill/>
            <a:miter lim="800000"/>
            <a:headEnd type="none" w="sm" len="sm"/>
            <a:tailEnd type="none" w="sm" len="sm"/>
          </a:ln>
          <a:effectLst/>
        </p:spPr>
        <p:txBody>
          <a:bodyPr/>
          <a:lstStyle/>
          <a:p>
            <a:pPr marL="182563" indent="-182563">
              <a:spcAft>
                <a:spcPct val="20000"/>
              </a:spcAft>
              <a:buClr>
                <a:srgbClr val="FF9900"/>
              </a:buClr>
              <a:buFont typeface="Wingdings" pitchFamily="2" charset="2"/>
              <a:buChar char="§"/>
              <a:tabLst>
                <a:tab pos="715963" algn="l"/>
                <a:tab pos="2416175" algn="l"/>
              </a:tabLst>
              <a:defRPr/>
            </a:pPr>
            <a:r>
              <a:rPr lang="zh-CN" altLang="zh-CN" sz="2800" dirty="0">
                <a:solidFill>
                  <a:srgbClr val="66FFFF"/>
                </a:solidFill>
                <a:effectLst>
                  <a:outerShdw blurRad="38100" dist="38100" dir="2700000" algn="tl">
                    <a:srgbClr val="000000"/>
                  </a:outerShdw>
                </a:effectLst>
              </a:rPr>
              <a:t>合</a:t>
            </a:r>
            <a:r>
              <a:rPr lang="zh-CN" altLang="en-US" sz="2800" dirty="0">
                <a:solidFill>
                  <a:srgbClr val="66FFFF"/>
                </a:solidFill>
                <a:effectLst>
                  <a:outerShdw blurRad="38100" dist="38100" dir="2700000" algn="tl">
                    <a:srgbClr val="000000"/>
                  </a:outerShdw>
                </a:effectLst>
              </a:rPr>
              <a:t>并律</a:t>
            </a:r>
            <a:r>
              <a:rPr lang="zh-CN" altLang="zh-CN" sz="2800" dirty="0">
                <a:solidFill>
                  <a:srgbClr val="CCFFCC"/>
                </a:solidFill>
                <a:effectLst>
                  <a:outerShdw blurRad="38100" dist="38100" dir="2700000" algn="tl">
                    <a:srgbClr val="000000"/>
                  </a:outerShdw>
                </a:effectLst>
              </a:rPr>
              <a:t>: </a:t>
            </a:r>
            <a:r>
              <a:rPr lang="zh-CN" altLang="en-US" sz="2800" dirty="0">
                <a:solidFill>
                  <a:srgbClr val="CCFFCC"/>
                </a:solidFill>
                <a:effectLst>
                  <a:outerShdw blurRad="38100" dist="38100" dir="2700000" algn="tl">
                    <a:srgbClr val="000000"/>
                  </a:outerShdw>
                </a:effectLst>
              </a:rPr>
              <a:t>	</a:t>
            </a:r>
            <a:r>
              <a:rPr lang="zh-CN" altLang="zh-CN" sz="2800" dirty="0">
                <a:solidFill>
                  <a:srgbClr val="CCFFCC"/>
                </a:solidFill>
                <a:effectLst>
                  <a:outerShdw blurRad="38100" dist="38100" dir="2700000" algn="tl">
                    <a:srgbClr val="000000"/>
                  </a:outerShdw>
                </a:effectLst>
              </a:rPr>
              <a:t>若X→Y</a:t>
            </a:r>
            <a:r>
              <a:rPr lang="zh-CN" altLang="en-US" sz="2800" dirty="0">
                <a:solidFill>
                  <a:srgbClr val="CCFFCC"/>
                </a:solidFill>
                <a:effectLst>
                  <a:outerShdw blurRad="38100" dist="38100" dir="2700000" algn="tl">
                    <a:srgbClr val="000000"/>
                  </a:outerShdw>
                </a:effectLst>
              </a:rPr>
              <a:t>，</a:t>
            </a:r>
            <a:r>
              <a:rPr lang="zh-CN" altLang="zh-CN" sz="2800" dirty="0">
                <a:solidFill>
                  <a:srgbClr val="CCFFCC"/>
                </a:solidFill>
                <a:effectLst>
                  <a:outerShdw blurRad="38100" dist="38100" dir="2700000" algn="tl">
                    <a:srgbClr val="000000"/>
                  </a:outerShdw>
                </a:effectLst>
              </a:rPr>
              <a:t>X→Z，则</a:t>
            </a:r>
            <a:r>
              <a:rPr lang="zh-CN" altLang="en-US" sz="2800" dirty="0">
                <a:solidFill>
                  <a:srgbClr val="CCFFCC"/>
                </a:solidFill>
                <a:effectLst>
                  <a:outerShdw blurRad="38100" dist="38100" dir="2700000" algn="tl">
                    <a:srgbClr val="000000"/>
                  </a:outerShdw>
                </a:effectLst>
              </a:rPr>
              <a:t>有</a:t>
            </a:r>
            <a:r>
              <a:rPr lang="zh-CN" altLang="zh-CN" sz="2800" dirty="0">
                <a:solidFill>
                  <a:srgbClr val="CCFFCC"/>
                </a:solidFill>
                <a:effectLst>
                  <a:outerShdw blurRad="38100" dist="38100" dir="2700000" algn="tl">
                    <a:srgbClr val="000000"/>
                  </a:outerShdw>
                </a:effectLst>
              </a:rPr>
              <a:t>X→YZ</a:t>
            </a:r>
            <a:r>
              <a:rPr lang="zh-CN" altLang="en-US" sz="2800" dirty="0">
                <a:solidFill>
                  <a:srgbClr val="CCFFCC"/>
                </a:solidFill>
                <a:effectLst>
                  <a:outerShdw blurRad="38100" dist="38100" dir="2700000" algn="tl">
                    <a:srgbClr val="000000"/>
                  </a:outerShdw>
                </a:effectLst>
              </a:rPr>
              <a:t>；</a:t>
            </a:r>
          </a:p>
          <a:p>
            <a:pPr marL="182563" indent="-182563">
              <a:spcAft>
                <a:spcPct val="20000"/>
              </a:spcAft>
              <a:buClr>
                <a:srgbClr val="FF9900"/>
              </a:buClr>
              <a:buFont typeface="Wingdings" pitchFamily="2" charset="2"/>
              <a:buChar char="§"/>
              <a:tabLst>
                <a:tab pos="715963" algn="l"/>
                <a:tab pos="2416175" algn="l"/>
              </a:tabLst>
              <a:defRPr/>
            </a:pPr>
            <a:r>
              <a:rPr lang="zh-CN" altLang="zh-CN" sz="2800" dirty="0">
                <a:solidFill>
                  <a:srgbClr val="66FFFF"/>
                </a:solidFill>
                <a:effectLst>
                  <a:outerShdw blurRad="38100" dist="38100" dir="2700000" algn="tl">
                    <a:srgbClr val="000000"/>
                  </a:outerShdw>
                </a:effectLst>
              </a:rPr>
              <a:t>伪传递律</a:t>
            </a:r>
            <a:r>
              <a:rPr lang="zh-CN" altLang="zh-CN" sz="2800" dirty="0">
                <a:solidFill>
                  <a:srgbClr val="CCFFCC"/>
                </a:solidFill>
                <a:effectLst>
                  <a:outerShdw blurRad="38100" dist="38100" dir="2700000" algn="tl">
                    <a:srgbClr val="000000"/>
                  </a:outerShdw>
                </a:effectLst>
              </a:rPr>
              <a:t>：</a:t>
            </a:r>
            <a:r>
              <a:rPr lang="zh-CN" altLang="en-US" sz="2800" dirty="0">
                <a:solidFill>
                  <a:srgbClr val="CCFFCC"/>
                </a:solidFill>
                <a:effectLst>
                  <a:outerShdw blurRad="38100" dist="38100" dir="2700000" algn="tl">
                    <a:srgbClr val="000000"/>
                  </a:outerShdw>
                </a:effectLst>
              </a:rPr>
              <a:t>	</a:t>
            </a:r>
            <a:r>
              <a:rPr lang="zh-CN" altLang="zh-CN" sz="2800" dirty="0">
                <a:solidFill>
                  <a:srgbClr val="CCFFCC"/>
                </a:solidFill>
                <a:effectLst>
                  <a:outerShdw blurRad="38100" dist="38100" dir="2700000" algn="tl">
                    <a:srgbClr val="000000"/>
                  </a:outerShdw>
                </a:effectLst>
              </a:rPr>
              <a:t>若X→Y，YW→Z, 则</a:t>
            </a:r>
            <a:r>
              <a:rPr lang="zh-CN" altLang="en-US" sz="2800" dirty="0">
                <a:solidFill>
                  <a:srgbClr val="CCFFCC"/>
                </a:solidFill>
                <a:effectLst>
                  <a:outerShdw blurRad="38100" dist="38100" dir="2700000" algn="tl">
                    <a:srgbClr val="000000"/>
                  </a:outerShdw>
                </a:effectLst>
              </a:rPr>
              <a:t>有</a:t>
            </a:r>
            <a:r>
              <a:rPr lang="zh-CN" altLang="zh-CN" sz="2800" dirty="0">
                <a:solidFill>
                  <a:srgbClr val="CCFFCC"/>
                </a:solidFill>
                <a:effectLst>
                  <a:outerShdw blurRad="38100" dist="38100" dir="2700000" algn="tl">
                    <a:srgbClr val="000000"/>
                  </a:outerShdw>
                </a:effectLst>
              </a:rPr>
              <a:t>XW→Z；</a:t>
            </a:r>
            <a:endParaRPr lang="zh-CN" altLang="en-US" sz="2800" dirty="0">
              <a:solidFill>
                <a:srgbClr val="CCFFCC"/>
              </a:solidFill>
              <a:effectLst>
                <a:outerShdw blurRad="38100" dist="38100" dir="2700000" algn="tl">
                  <a:srgbClr val="000000"/>
                </a:outerShdw>
              </a:effectLst>
            </a:endParaRPr>
          </a:p>
          <a:p>
            <a:pPr marL="182563" indent="-182563">
              <a:spcAft>
                <a:spcPct val="20000"/>
              </a:spcAft>
              <a:buClr>
                <a:srgbClr val="FF9900"/>
              </a:buClr>
              <a:buFont typeface="Wingdings" pitchFamily="2" charset="2"/>
              <a:buChar char="§"/>
              <a:tabLst>
                <a:tab pos="715963" algn="l"/>
                <a:tab pos="2416175" algn="l"/>
              </a:tabLst>
              <a:defRPr/>
            </a:pPr>
            <a:r>
              <a:rPr lang="zh-CN" altLang="zh-CN" sz="2800" dirty="0">
                <a:solidFill>
                  <a:srgbClr val="66FFFF"/>
                </a:solidFill>
                <a:effectLst>
                  <a:outerShdw blurRad="38100" dist="38100" dir="2700000" algn="tl">
                    <a:srgbClr val="000000"/>
                  </a:outerShdw>
                </a:effectLst>
              </a:rPr>
              <a:t>分解</a:t>
            </a:r>
            <a:r>
              <a:rPr lang="zh-CN" altLang="en-US" sz="2800" dirty="0">
                <a:solidFill>
                  <a:srgbClr val="66FFFF"/>
                </a:solidFill>
                <a:effectLst>
                  <a:outerShdw blurRad="38100" dist="38100" dir="2700000" algn="tl">
                    <a:srgbClr val="000000"/>
                  </a:outerShdw>
                </a:effectLst>
              </a:rPr>
              <a:t>律</a:t>
            </a:r>
            <a:r>
              <a:rPr lang="zh-CN" altLang="en-US" sz="2800" dirty="0">
                <a:solidFill>
                  <a:srgbClr val="CCFFCC"/>
                </a:solidFill>
                <a:effectLst>
                  <a:outerShdw blurRad="38100" dist="38100" dir="2700000" algn="tl">
                    <a:srgbClr val="000000"/>
                  </a:outerShdw>
                </a:effectLst>
              </a:rPr>
              <a:t>：	</a:t>
            </a:r>
            <a:r>
              <a:rPr lang="zh-CN" altLang="zh-CN" sz="2800" dirty="0">
                <a:solidFill>
                  <a:srgbClr val="CCFFCC"/>
                </a:solidFill>
                <a:effectLst>
                  <a:outerShdw blurRad="38100" dist="38100" dir="2700000" algn="tl">
                    <a:srgbClr val="000000"/>
                  </a:outerShdw>
                </a:effectLst>
              </a:rPr>
              <a:t>若X→Y</a:t>
            </a:r>
            <a:r>
              <a:rPr lang="zh-CN" altLang="en-US" sz="2800" dirty="0">
                <a:solidFill>
                  <a:srgbClr val="CCFFCC"/>
                </a:solidFill>
                <a:effectLst>
                  <a:outerShdw blurRad="38100" dist="38100" dir="2700000" algn="tl">
                    <a:srgbClr val="000000"/>
                  </a:outerShdw>
                </a:effectLst>
              </a:rPr>
              <a:t>，</a:t>
            </a:r>
            <a:r>
              <a:rPr lang="zh-CN" altLang="zh-CN" sz="2800" dirty="0">
                <a:solidFill>
                  <a:srgbClr val="CCFFCC"/>
                </a:solidFill>
                <a:effectLst>
                  <a:outerShdw blurRad="38100" dist="38100" dir="2700000" algn="tl">
                    <a:srgbClr val="000000"/>
                  </a:outerShdw>
                </a:effectLst>
              </a:rPr>
              <a:t>Z</a:t>
            </a:r>
            <a:r>
              <a:rPr lang="zh-CN" altLang="zh-CN" sz="2800" dirty="0">
                <a:solidFill>
                  <a:srgbClr val="CCFFCC"/>
                </a:solidFill>
                <a:effectLst>
                  <a:outerShdw blurRad="38100" dist="38100" dir="2700000" algn="tl">
                    <a:srgbClr val="000000"/>
                  </a:outerShdw>
                </a:effectLst>
                <a:sym typeface="Symbol" pitchFamily="18" charset="2"/>
              </a:rPr>
              <a:t></a:t>
            </a:r>
            <a:r>
              <a:rPr lang="zh-CN" altLang="zh-CN" sz="2800" dirty="0">
                <a:solidFill>
                  <a:srgbClr val="CCFFCC"/>
                </a:solidFill>
                <a:effectLst>
                  <a:outerShdw blurRad="38100" dist="38100" dir="2700000" algn="tl">
                    <a:srgbClr val="000000"/>
                  </a:outerShdw>
                </a:effectLst>
              </a:rPr>
              <a:t>Y，则</a:t>
            </a:r>
            <a:r>
              <a:rPr lang="zh-CN" altLang="en-US" sz="2800" dirty="0">
                <a:solidFill>
                  <a:srgbClr val="CCFFCC"/>
                </a:solidFill>
                <a:effectLst>
                  <a:outerShdw blurRad="38100" dist="38100" dir="2700000" algn="tl">
                    <a:srgbClr val="000000"/>
                  </a:outerShdw>
                </a:effectLst>
              </a:rPr>
              <a:t>有</a:t>
            </a:r>
            <a:r>
              <a:rPr lang="zh-CN" altLang="zh-CN" sz="2800" dirty="0">
                <a:solidFill>
                  <a:srgbClr val="CCFFCC"/>
                </a:solidFill>
                <a:effectLst>
                  <a:outerShdw blurRad="38100" dist="38100" dir="2700000" algn="tl">
                    <a:srgbClr val="000000"/>
                  </a:outerShdw>
                </a:effectLst>
              </a:rPr>
              <a:t>X→Z</a:t>
            </a:r>
            <a:r>
              <a:rPr lang="zh-CN" altLang="zh-CN" sz="2800" dirty="0" smtClean="0">
                <a:solidFill>
                  <a:srgbClr val="CCFFCC"/>
                </a:solidFill>
                <a:effectLst>
                  <a:outerShdw blurRad="38100" dist="38100" dir="2700000" algn="tl">
                    <a:srgbClr val="000000"/>
                  </a:outerShdw>
                </a:effectLst>
              </a:rPr>
              <a:t>；</a:t>
            </a:r>
            <a:endParaRPr lang="en-US" altLang="zh-CN" sz="2800" dirty="0" smtClean="0">
              <a:solidFill>
                <a:srgbClr val="CCFFCC"/>
              </a:solidFill>
              <a:effectLst>
                <a:outerShdw blurRad="38100" dist="38100" dir="2700000" algn="tl">
                  <a:srgbClr val="000000"/>
                </a:outerShdw>
              </a:effectLst>
            </a:endParaRPr>
          </a:p>
          <a:p>
            <a:pPr marL="182563" indent="-182563">
              <a:spcAft>
                <a:spcPct val="20000"/>
              </a:spcAft>
              <a:buClr>
                <a:srgbClr val="FF9900"/>
              </a:buClr>
              <a:buFont typeface="Wingdings" pitchFamily="2" charset="2"/>
              <a:buChar char="§"/>
              <a:tabLst>
                <a:tab pos="715963" algn="l"/>
                <a:tab pos="2416175" algn="l"/>
              </a:tabLst>
              <a:defRPr/>
            </a:pPr>
            <a:r>
              <a:rPr lang="zh-CN" altLang="en-US" sz="2800" dirty="0">
                <a:solidFill>
                  <a:srgbClr val="66FFFF"/>
                </a:solidFill>
                <a:effectLst>
                  <a:outerShdw blurRad="38100" dist="38100" dir="2700000" algn="tl">
                    <a:srgbClr val="000000"/>
                  </a:outerShdw>
                </a:effectLst>
              </a:rPr>
              <a:t>复合</a:t>
            </a:r>
            <a:r>
              <a:rPr lang="zh-CN" altLang="en-US" sz="2800" dirty="0" smtClean="0">
                <a:solidFill>
                  <a:srgbClr val="66FFFF"/>
                </a:solidFill>
                <a:effectLst>
                  <a:outerShdw blurRad="38100" dist="38100" dir="2700000" algn="tl">
                    <a:srgbClr val="000000"/>
                  </a:outerShdw>
                </a:effectLst>
              </a:rPr>
              <a:t>律</a:t>
            </a:r>
            <a:r>
              <a:rPr lang="zh-CN" altLang="en-US" sz="2800" dirty="0">
                <a:solidFill>
                  <a:srgbClr val="CCFFCC"/>
                </a:solidFill>
                <a:effectLst>
                  <a:outerShdw blurRad="38100" dist="38100" dir="2700000" algn="tl">
                    <a:srgbClr val="000000"/>
                  </a:outerShdw>
                </a:effectLst>
              </a:rPr>
              <a:t>：	</a:t>
            </a:r>
            <a:r>
              <a:rPr lang="zh-CN" altLang="zh-CN" sz="2800" dirty="0">
                <a:solidFill>
                  <a:srgbClr val="CCFFCC"/>
                </a:solidFill>
                <a:effectLst>
                  <a:outerShdw blurRad="38100" dist="38100" dir="2700000" algn="tl">
                    <a:srgbClr val="000000"/>
                  </a:outerShdw>
                </a:effectLst>
              </a:rPr>
              <a:t>若X→Y</a:t>
            </a:r>
            <a:r>
              <a:rPr lang="zh-CN" altLang="en-US" sz="2800" dirty="0" smtClean="0">
                <a:solidFill>
                  <a:srgbClr val="CCFFCC"/>
                </a:solidFill>
                <a:effectLst>
                  <a:outerShdw blurRad="38100" dist="38100" dir="2700000" algn="tl">
                    <a:srgbClr val="000000"/>
                  </a:outerShdw>
                </a:effectLst>
              </a:rPr>
              <a:t>，</a:t>
            </a:r>
            <a:r>
              <a:rPr lang="en-US" altLang="zh-CN" sz="2800" dirty="0" smtClean="0">
                <a:solidFill>
                  <a:srgbClr val="CCFFCC"/>
                </a:solidFill>
                <a:effectLst>
                  <a:outerShdw blurRad="38100" dist="38100" dir="2700000" algn="tl">
                    <a:srgbClr val="000000"/>
                  </a:outerShdw>
                </a:effectLst>
              </a:rPr>
              <a:t>W</a:t>
            </a:r>
            <a:r>
              <a:rPr lang="zh-CN" altLang="zh-CN" sz="2800" dirty="0" smtClean="0">
                <a:solidFill>
                  <a:srgbClr val="CCFFCC"/>
                </a:solidFill>
                <a:effectLst>
                  <a:outerShdw blurRad="38100" dist="38100" dir="2700000" algn="tl">
                    <a:srgbClr val="000000"/>
                  </a:outerShdw>
                </a:effectLst>
              </a:rPr>
              <a:t>→</a:t>
            </a:r>
            <a:r>
              <a:rPr lang="en-US" altLang="zh-CN" sz="2800" dirty="0">
                <a:solidFill>
                  <a:srgbClr val="CCFFCC"/>
                </a:solidFill>
                <a:effectLst>
                  <a:outerShdw blurRad="38100" dist="38100" dir="2700000" algn="tl">
                    <a:srgbClr val="000000"/>
                  </a:outerShdw>
                </a:effectLst>
              </a:rPr>
              <a:t>Z</a:t>
            </a:r>
            <a:r>
              <a:rPr lang="zh-CN" altLang="en-US" sz="2800" dirty="0" smtClean="0">
                <a:solidFill>
                  <a:srgbClr val="CCFFCC"/>
                </a:solidFill>
                <a:effectLst>
                  <a:outerShdw blurRad="38100" dist="38100" dir="2700000" algn="tl">
                    <a:srgbClr val="000000"/>
                  </a:outerShdw>
                </a:effectLst>
              </a:rPr>
              <a:t>，</a:t>
            </a:r>
            <a:r>
              <a:rPr lang="zh-CN" altLang="zh-CN" sz="2800" dirty="0" smtClean="0">
                <a:solidFill>
                  <a:srgbClr val="CCFFCC"/>
                </a:solidFill>
                <a:effectLst>
                  <a:outerShdw blurRad="38100" dist="38100" dir="2700000" algn="tl">
                    <a:srgbClr val="000000"/>
                  </a:outerShdw>
                </a:effectLst>
              </a:rPr>
              <a:t>则</a:t>
            </a:r>
            <a:r>
              <a:rPr lang="zh-CN" altLang="en-US" sz="2800" dirty="0">
                <a:solidFill>
                  <a:srgbClr val="CCFFCC"/>
                </a:solidFill>
                <a:effectLst>
                  <a:outerShdw blurRad="38100" dist="38100" dir="2700000" algn="tl">
                    <a:srgbClr val="000000"/>
                  </a:outerShdw>
                </a:effectLst>
              </a:rPr>
              <a:t>有</a:t>
            </a:r>
            <a:r>
              <a:rPr lang="zh-CN" altLang="zh-CN" sz="2800" dirty="0" smtClean="0">
                <a:solidFill>
                  <a:srgbClr val="CCFFCC"/>
                </a:solidFill>
                <a:effectLst>
                  <a:outerShdw blurRad="38100" dist="38100" dir="2700000" algn="tl">
                    <a:srgbClr val="000000"/>
                  </a:outerShdw>
                </a:effectLst>
              </a:rPr>
              <a:t>X</a:t>
            </a:r>
            <a:r>
              <a:rPr lang="en-US" altLang="zh-CN" sz="2800" dirty="0" smtClean="0">
                <a:solidFill>
                  <a:srgbClr val="CCFFCC"/>
                </a:solidFill>
                <a:effectLst>
                  <a:outerShdw blurRad="38100" dist="38100" dir="2700000" algn="tl">
                    <a:srgbClr val="000000"/>
                  </a:outerShdw>
                </a:effectLst>
              </a:rPr>
              <a:t>W</a:t>
            </a:r>
            <a:r>
              <a:rPr lang="zh-CN" altLang="zh-CN" sz="2800" dirty="0" smtClean="0">
                <a:solidFill>
                  <a:srgbClr val="CCFFCC"/>
                </a:solidFill>
                <a:effectLst>
                  <a:outerShdw blurRad="38100" dist="38100" dir="2700000" algn="tl">
                    <a:srgbClr val="000000"/>
                  </a:outerShdw>
                </a:effectLst>
              </a:rPr>
              <a:t>→</a:t>
            </a:r>
            <a:r>
              <a:rPr lang="en-US" altLang="zh-CN" sz="2800" dirty="0" smtClean="0">
                <a:solidFill>
                  <a:srgbClr val="CCFFCC"/>
                </a:solidFill>
                <a:effectLst>
                  <a:outerShdw blurRad="38100" dist="38100" dir="2700000" algn="tl">
                    <a:srgbClr val="000000"/>
                  </a:outerShdw>
                </a:effectLst>
              </a:rPr>
              <a:t>Y</a:t>
            </a:r>
            <a:r>
              <a:rPr lang="zh-CN" altLang="zh-CN" sz="2800" dirty="0" smtClean="0">
                <a:solidFill>
                  <a:srgbClr val="CCFFCC"/>
                </a:solidFill>
                <a:effectLst>
                  <a:outerShdw blurRad="38100" dist="38100" dir="2700000" algn="tl">
                    <a:srgbClr val="000000"/>
                  </a:outerShdw>
                </a:effectLst>
              </a:rPr>
              <a:t>Z</a:t>
            </a:r>
            <a:r>
              <a:rPr lang="zh-CN" altLang="zh-CN" sz="2800" dirty="0">
                <a:solidFill>
                  <a:srgbClr val="CCFFCC"/>
                </a:solidFill>
                <a:effectLst>
                  <a:outerShdw blurRad="38100" dist="38100" dir="2700000" algn="tl">
                    <a:srgbClr val="000000"/>
                  </a:outerShdw>
                </a:effectLst>
              </a:rPr>
              <a:t>；</a:t>
            </a:r>
            <a:endParaRPr lang="en-US" altLang="zh-CN" sz="2800" dirty="0">
              <a:solidFill>
                <a:srgbClr val="CCFFCC"/>
              </a:solidFill>
              <a:effectLst>
                <a:outerShdw blurRad="38100" dist="38100" dir="2700000" algn="tl">
                  <a:srgbClr val="000000"/>
                </a:outerShdw>
              </a:effectLst>
            </a:endParaRPr>
          </a:p>
          <a:p>
            <a:pPr marL="182563" indent="-182563">
              <a:spcAft>
                <a:spcPct val="20000"/>
              </a:spcAft>
              <a:buClr>
                <a:srgbClr val="FF9900"/>
              </a:buClr>
              <a:buFont typeface="Wingdings" pitchFamily="2" charset="2"/>
              <a:buChar char="§"/>
              <a:tabLst>
                <a:tab pos="715963" algn="l"/>
                <a:tab pos="2416175" algn="l"/>
              </a:tabLst>
              <a:defRPr/>
            </a:pPr>
            <a:endParaRPr lang="en-US" altLang="zh-CN" sz="2800" dirty="0">
              <a:solidFill>
                <a:srgbClr val="CCFFCC"/>
              </a:solidFill>
              <a:effectLst>
                <a:outerShdw blurRad="38100" dist="38100" dir="2700000" algn="tl">
                  <a:srgbClr val="000000"/>
                </a:outerShdw>
              </a:effectLst>
            </a:endParaRPr>
          </a:p>
        </p:txBody>
      </p:sp>
      <p:sp>
        <p:nvSpPr>
          <p:cNvPr id="1492999" name="Text Box 7"/>
          <p:cNvSpPr txBox="1">
            <a:spLocks noChangeArrowheads="1"/>
          </p:cNvSpPr>
          <p:nvPr/>
        </p:nvSpPr>
        <p:spPr bwMode="auto">
          <a:xfrm>
            <a:off x="582613" y="3361073"/>
            <a:ext cx="8382000" cy="1143000"/>
          </a:xfrm>
          <a:prstGeom prst="rect">
            <a:avLst/>
          </a:prstGeom>
          <a:noFill/>
          <a:ln w="12700" cap="sq">
            <a:noFill/>
            <a:miter lim="800000"/>
            <a:headEnd type="none" w="sm" len="sm"/>
            <a:tailEnd type="none" w="sm" len="sm"/>
          </a:ln>
          <a:effectLst/>
        </p:spPr>
        <p:txBody>
          <a:bodyPr/>
          <a:lstStyle/>
          <a:p>
            <a:pPr>
              <a:spcBef>
                <a:spcPct val="30000"/>
              </a:spcBef>
              <a:spcAft>
                <a:spcPct val="70000"/>
              </a:spcAft>
              <a:tabLst>
                <a:tab pos="715963" algn="l"/>
                <a:tab pos="1905000" algn="l"/>
              </a:tabLst>
              <a:defRPr/>
            </a:pPr>
            <a:r>
              <a:rPr lang="en-US" altLang="zh-CN" sz="2800" dirty="0" smtClean="0">
                <a:solidFill>
                  <a:srgbClr val="CCFFCC"/>
                </a:solidFill>
                <a:effectLst>
                  <a:outerShdw blurRad="38100" dist="38100" dir="2700000" algn="tl">
                    <a:srgbClr val="000000"/>
                  </a:outerShdw>
                </a:effectLst>
              </a:rPr>
              <a:t>4</a:t>
            </a:r>
            <a:r>
              <a:rPr lang="zh-CN" altLang="en-US" sz="2800" dirty="0" smtClean="0">
                <a:solidFill>
                  <a:srgbClr val="CCFFCC"/>
                </a:solidFill>
                <a:effectLst>
                  <a:outerShdw blurRad="38100" dist="38100" dir="2700000" algn="tl">
                    <a:srgbClr val="000000"/>
                  </a:outerShdw>
                </a:effectLst>
              </a:rPr>
              <a:t>条推论</a:t>
            </a:r>
            <a:r>
              <a:rPr lang="zh-CN" altLang="en-US" sz="2800" dirty="0">
                <a:solidFill>
                  <a:srgbClr val="CCFFCC"/>
                </a:solidFill>
                <a:effectLst>
                  <a:outerShdw blurRad="38100" dist="38100" dir="2700000" algn="tl">
                    <a:srgbClr val="000000"/>
                  </a:outerShdw>
                </a:effectLst>
              </a:rPr>
              <a:t>：</a:t>
            </a:r>
            <a:endParaRPr lang="en-US" altLang="zh-CN" sz="2800" dirty="0">
              <a:solidFill>
                <a:srgbClr val="CCFFCC"/>
              </a:solidFill>
              <a:effectLst>
                <a:outerShdw blurRad="38100" dist="38100" dir="2700000" algn="tl">
                  <a:srgbClr val="000000"/>
                </a:outerShdw>
              </a:effectLst>
            </a:endParaRPr>
          </a:p>
        </p:txBody>
      </p:sp>
      <p:sp>
        <p:nvSpPr>
          <p:cNvPr id="1493000" name="Text Box 8"/>
          <p:cNvSpPr txBox="1">
            <a:spLocks noChangeArrowheads="1"/>
          </p:cNvSpPr>
          <p:nvPr/>
        </p:nvSpPr>
        <p:spPr bwMode="auto">
          <a:xfrm>
            <a:off x="582613" y="6115050"/>
            <a:ext cx="8382000" cy="542925"/>
          </a:xfrm>
          <a:prstGeom prst="rect">
            <a:avLst/>
          </a:prstGeom>
          <a:noFill/>
          <a:ln w="12700" cap="sq">
            <a:noFill/>
            <a:miter lim="800000"/>
            <a:headEnd type="none" w="sm" len="sm"/>
            <a:tailEnd type="none" w="sm" len="sm"/>
          </a:ln>
          <a:effectLst/>
        </p:spPr>
        <p:txBody>
          <a:bodyPr/>
          <a:lstStyle/>
          <a:p>
            <a:pPr>
              <a:spcBef>
                <a:spcPct val="30000"/>
              </a:spcBef>
              <a:spcAft>
                <a:spcPct val="70000"/>
              </a:spcAft>
              <a:tabLst>
                <a:tab pos="715963" algn="l"/>
                <a:tab pos="1905000" algn="l"/>
              </a:tabLst>
              <a:defRPr/>
            </a:pPr>
            <a:r>
              <a:rPr lang="zh-CN" altLang="en-US" sz="2800">
                <a:solidFill>
                  <a:srgbClr val="CCFFCC"/>
                </a:solidFill>
                <a:effectLst>
                  <a:outerShdw blurRad="38100" dist="38100" dir="2700000" algn="tl">
                    <a:srgbClr val="000000"/>
                  </a:outerShdw>
                </a:effectLst>
                <a:latin typeface="Arial" charset="0"/>
              </a:rPr>
              <a:t>性质：</a:t>
            </a:r>
            <a:r>
              <a:rPr lang="en-US" altLang="zh-CN" sz="2800">
                <a:solidFill>
                  <a:srgbClr val="FFFF00"/>
                </a:solidFill>
                <a:effectLst>
                  <a:outerShdw blurRad="38100" dist="38100" dir="2700000" algn="tl">
                    <a:srgbClr val="000000"/>
                  </a:outerShdw>
                </a:effectLst>
                <a:latin typeface="Arial" charset="0"/>
              </a:rPr>
              <a:t>Armstrong</a:t>
            </a:r>
            <a:r>
              <a:rPr lang="zh-CN" altLang="en-US" sz="2800">
                <a:solidFill>
                  <a:srgbClr val="FFFF00"/>
                </a:solidFill>
                <a:effectLst>
                  <a:outerShdw blurRad="38100" dist="38100" dir="2700000" algn="tl">
                    <a:srgbClr val="000000"/>
                  </a:outerShdw>
                </a:effectLst>
                <a:latin typeface="Arial" charset="0"/>
              </a:rPr>
              <a:t>公理系统是有效的，完备的</a:t>
            </a:r>
            <a:r>
              <a:rPr lang="zh-CN" altLang="en-US" sz="2800">
                <a:solidFill>
                  <a:srgbClr val="CCFFCC"/>
                </a:solidFill>
                <a:effectLst>
                  <a:outerShdw blurRad="38100" dist="38100" dir="2700000" algn="tl">
                    <a:srgbClr val="000000"/>
                  </a:outerShdw>
                </a:effectLst>
                <a:latin typeface="Arial" charset="0"/>
              </a:rPr>
              <a:t>。</a:t>
            </a:r>
            <a:endParaRPr lang="en-US" altLang="zh-CN" sz="2800">
              <a:solidFill>
                <a:srgbClr val="CCFFCC"/>
              </a:solidFill>
              <a:effectLst>
                <a:outerShdw blurRad="38100" dist="38100" dir="2700000" algn="tl">
                  <a:srgbClr val="000000"/>
                </a:outerShdw>
              </a:effectLst>
              <a:latin typeface="Arial" charset="0"/>
            </a:endParaRPr>
          </a:p>
        </p:txBody>
      </p:sp>
      <p:sp>
        <p:nvSpPr>
          <p:cNvPr id="9" name="Text Box 2"/>
          <p:cNvSpPr txBox="1">
            <a:spLocks noChangeArrowheads="1"/>
          </p:cNvSpPr>
          <p:nvPr/>
        </p:nvSpPr>
        <p:spPr bwMode="auto">
          <a:xfrm>
            <a:off x="179388" y="-27613"/>
            <a:ext cx="5400675" cy="760959"/>
          </a:xfrm>
          <a:prstGeom prst="rect">
            <a:avLst/>
          </a:prstGeom>
          <a:noFill/>
          <a:ln w="12700" cap="sq">
            <a:noFill/>
            <a:miter lim="800000"/>
            <a:headEnd/>
            <a:tailEnd/>
          </a:ln>
          <a:effectLst>
            <a:outerShdw dist="35921" dir="2700000" algn="ctr" rotWithShape="0">
              <a:schemeClr val="bg2"/>
            </a:outerShdw>
          </a:effectLst>
        </p:spPr>
        <p:txBody>
          <a:bodyPr wrap="square" lIns="72000" tIns="72000" rIns="72000" bIns="72000">
            <a:spAutoFit/>
          </a:bodyPr>
          <a:lstStyle>
            <a:defPPr>
              <a:defRPr lang="en-US"/>
            </a:defPPr>
            <a:lvl1pPr>
              <a:spcBef>
                <a:spcPts val="0"/>
              </a:spcBef>
              <a:defRPr sz="4000" b="1">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r>
              <a:rPr lang="zh-CN" altLang="zh-CN" dirty="0">
                <a:latin typeface="微软雅黑" panose="020B0503020204020204" pitchFamily="34" charset="-122"/>
              </a:rPr>
              <a:t>Armstrong公理系统</a:t>
            </a:r>
            <a:endParaRPr lang="zh-CN" altLang="en-US" dirty="0"/>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type="title"/>
          </p:nvPr>
        </p:nvSpPr>
        <p:spPr>
          <a:xfrm>
            <a:off x="158750" y="897541"/>
            <a:ext cx="8516938" cy="584775"/>
          </a:xfrm>
          <a:noFill/>
          <a:ln>
            <a:noFill/>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spAutoFit/>
          </a:bodyPr>
          <a:lstStyle/>
          <a:p>
            <a:pPr>
              <a:buFont typeface="Wingdings" pitchFamily="2" charset="2"/>
              <a:buChar char="¯"/>
            </a:pPr>
            <a:r>
              <a:rPr lang="zh-CN" altLang="en-US" sz="3200" dirty="0" smtClean="0">
                <a:effectLst>
                  <a:outerShdw blurRad="38100" dist="38100" dir="2700000" algn="tl">
                    <a:srgbClr val="000000"/>
                  </a:outerShdw>
                </a:effectLst>
                <a:latin typeface="微软雅黑" panose="020B0503020204020204" pitchFamily="34" charset="-122"/>
                <a:ea typeface="微软雅黑" panose="020B0503020204020204" pitchFamily="34" charset="-122"/>
              </a:rPr>
              <a:t> 应用一例：证明逻辑蕴涵</a:t>
            </a:r>
            <a:endParaRPr lang="en-US" altLang="zh-CN" sz="3200" dirty="0">
              <a:effectLst>
                <a:outerShdw blurRad="38100" dist="38100" dir="2700000" algn="tl">
                  <a:srgbClr val="000000"/>
                </a:outerShdw>
              </a:effectLst>
              <a:latin typeface="微软雅黑" panose="020B0503020204020204" pitchFamily="34" charset="-122"/>
              <a:ea typeface="微软雅黑" panose="020B0503020204020204" pitchFamily="34" charset="-122"/>
            </a:endParaRPr>
          </a:p>
        </p:txBody>
      </p:sp>
      <p:sp>
        <p:nvSpPr>
          <p:cNvPr id="1494020" name="Text Box 4"/>
          <p:cNvSpPr txBox="1">
            <a:spLocks noChangeArrowheads="1"/>
          </p:cNvSpPr>
          <p:nvPr/>
        </p:nvSpPr>
        <p:spPr bwMode="auto">
          <a:xfrm>
            <a:off x="611188" y="1901007"/>
            <a:ext cx="8382000" cy="1431677"/>
          </a:xfrm>
          <a:prstGeom prst="rect">
            <a:avLst/>
          </a:prstGeom>
          <a:noFill/>
          <a:ln w="12700" cap="sq">
            <a:noFill/>
            <a:miter lim="800000"/>
            <a:headEnd type="none" w="sm" len="sm"/>
            <a:tailEnd type="none" w="sm" len="sm"/>
          </a:ln>
          <a:effectLst/>
        </p:spPr>
        <p:txBody>
          <a:bodyPr/>
          <a:lstStyle/>
          <a:p>
            <a:pPr>
              <a:spcBef>
                <a:spcPct val="30000"/>
              </a:spcBef>
              <a:spcAft>
                <a:spcPct val="70000"/>
              </a:spcAft>
              <a:tabLst>
                <a:tab pos="715963" algn="l"/>
                <a:tab pos="1905000" algn="l"/>
              </a:tabLst>
              <a:defRPr/>
            </a:pPr>
            <a:r>
              <a:rPr lang="zh-CN" altLang="en-US" sz="2800" dirty="0">
                <a:solidFill>
                  <a:srgbClr val="99FF99"/>
                </a:solidFill>
                <a:effectLst>
                  <a:outerShdw blurRad="38100" dist="38100" dir="2700000" algn="tl">
                    <a:srgbClr val="000000"/>
                  </a:outerShdw>
                </a:effectLst>
              </a:rPr>
              <a:t>设有</a:t>
            </a:r>
            <a:r>
              <a:rPr lang="zh-CN" altLang="zh-CN" sz="2800" dirty="0">
                <a:solidFill>
                  <a:srgbClr val="99FF99"/>
                </a:solidFill>
                <a:effectLst>
                  <a:outerShdw blurRad="38100" dist="38100" dir="2700000" algn="tl">
                    <a:srgbClr val="000000"/>
                  </a:outerShdw>
                </a:effectLst>
              </a:rPr>
              <a:t>关系模式R</a:t>
            </a:r>
            <a:r>
              <a:rPr lang="zh-CN" altLang="en-US" sz="2800" dirty="0">
                <a:solidFill>
                  <a:srgbClr val="99FF99"/>
                </a:solidFill>
                <a:effectLst>
                  <a:outerShdw blurRad="38100" dist="38100" dir="2700000" algn="tl">
                    <a:srgbClr val="000000"/>
                  </a:outerShdw>
                </a:effectLst>
              </a:rPr>
              <a:t>(</a:t>
            </a:r>
            <a:r>
              <a:rPr lang="en-US" altLang="zh-CN" sz="2800" dirty="0">
                <a:solidFill>
                  <a:srgbClr val="99FF99"/>
                </a:solidFill>
                <a:effectLst>
                  <a:outerShdw blurRad="38100" dist="38100" dir="2700000" algn="tl">
                    <a:srgbClr val="000000"/>
                  </a:outerShdw>
                </a:effectLst>
              </a:rPr>
              <a:t>U,F)</a:t>
            </a:r>
            <a:r>
              <a:rPr lang="zh-CN" altLang="en-US" sz="2800" dirty="0">
                <a:solidFill>
                  <a:srgbClr val="99FF99"/>
                </a:solidFill>
                <a:effectLst>
                  <a:outerShdw blurRad="38100" dist="38100" dir="2700000" algn="tl">
                    <a:srgbClr val="000000"/>
                  </a:outerShdw>
                </a:effectLst>
              </a:rPr>
              <a:t>，其中</a:t>
            </a:r>
            <a:r>
              <a:rPr lang="zh-CN" altLang="zh-CN" sz="2800" dirty="0">
                <a:solidFill>
                  <a:srgbClr val="99FF99"/>
                </a:solidFill>
                <a:effectLst>
                  <a:outerShdw blurRad="38100" dist="38100" dir="2700000" algn="tl">
                    <a:srgbClr val="000000"/>
                  </a:outerShdw>
                </a:effectLst>
              </a:rPr>
              <a:t>U={A，B，C，D, E, G}, </a:t>
            </a:r>
            <a:r>
              <a:rPr lang="zh-CN" altLang="en-US" sz="2800" dirty="0">
                <a:solidFill>
                  <a:srgbClr val="99FF99"/>
                </a:solidFill>
                <a:effectLst>
                  <a:outerShdw blurRad="38100" dist="38100" dir="2700000" algn="tl">
                    <a:srgbClr val="000000"/>
                  </a:outerShdw>
                </a:effectLst>
              </a:rPr>
              <a:t>   </a:t>
            </a:r>
            <a:r>
              <a:rPr lang="zh-CN" altLang="zh-CN" sz="2800" dirty="0">
                <a:solidFill>
                  <a:srgbClr val="99FF99"/>
                </a:solidFill>
                <a:effectLst>
                  <a:outerShdw blurRad="38100" dist="38100" dir="2700000" algn="tl">
                    <a:srgbClr val="000000"/>
                  </a:outerShdw>
                </a:effectLst>
              </a:rPr>
              <a:t>F={AB→C, C→A, BC→D, ACD→B, D→EG, BE→C</a:t>
            </a:r>
            <a:r>
              <a:rPr lang="zh-CN" altLang="en-US" sz="2800" dirty="0">
                <a:solidFill>
                  <a:srgbClr val="99FF99"/>
                </a:solidFill>
                <a:effectLst>
                  <a:outerShdw blurRad="38100" dist="38100" dir="2700000" algn="tl">
                    <a:srgbClr val="000000"/>
                  </a:outerShdw>
                </a:effectLst>
              </a:rPr>
              <a:t>，</a:t>
            </a:r>
            <a:r>
              <a:rPr lang="zh-CN" altLang="zh-CN" sz="2800" dirty="0">
                <a:solidFill>
                  <a:srgbClr val="99FF99"/>
                </a:solidFill>
                <a:effectLst>
                  <a:outerShdw blurRad="38100" dist="38100" dir="2700000" algn="tl">
                    <a:srgbClr val="000000"/>
                  </a:outerShdw>
                </a:effectLst>
              </a:rPr>
              <a:t>CG→BD, CE→AG},</a:t>
            </a:r>
            <a:r>
              <a:rPr lang="zh-CN" altLang="en-US" sz="2800" dirty="0">
                <a:solidFill>
                  <a:srgbClr val="99FF99"/>
                </a:solidFill>
                <a:effectLst>
                  <a:outerShdw blurRad="38100" dist="38100" dir="2700000" algn="tl">
                    <a:srgbClr val="000000"/>
                  </a:outerShdw>
                </a:effectLst>
              </a:rPr>
              <a:t>证明</a:t>
            </a:r>
            <a:r>
              <a:rPr lang="en-US" altLang="zh-CN" sz="2800" dirty="0" smtClean="0">
                <a:solidFill>
                  <a:srgbClr val="99FF99"/>
                </a:solidFill>
                <a:effectLst>
                  <a:outerShdw blurRad="38100" dist="38100" dir="2700000" algn="tl">
                    <a:srgbClr val="000000"/>
                  </a:outerShdw>
                </a:effectLst>
              </a:rPr>
              <a:t>F</a:t>
            </a:r>
            <a:r>
              <a:rPr lang="en-US" altLang="zh-CN" sz="2800" dirty="0" smtClean="0">
                <a:solidFill>
                  <a:srgbClr val="99FF99"/>
                </a:solidFill>
                <a:effectLst>
                  <a:outerShdw blurRad="38100" dist="38100" dir="2700000" algn="tl">
                    <a:srgbClr val="000000"/>
                  </a:outerShdw>
                </a:effectLst>
                <a:sym typeface="Symbol" pitchFamily="18" charset="2"/>
              </a:rPr>
              <a:t>|=</a:t>
            </a:r>
            <a:r>
              <a:rPr lang="zh-CN" altLang="zh-CN" sz="2800" dirty="0" smtClean="0">
                <a:solidFill>
                  <a:srgbClr val="99FF99"/>
                </a:solidFill>
                <a:effectLst>
                  <a:outerShdw blurRad="38100" dist="38100" dir="2700000" algn="tl">
                    <a:srgbClr val="000000"/>
                  </a:outerShdw>
                </a:effectLst>
              </a:rPr>
              <a:t>BD</a:t>
            </a:r>
            <a:r>
              <a:rPr lang="zh-CN" altLang="zh-CN" sz="2800" dirty="0">
                <a:solidFill>
                  <a:srgbClr val="99FF99"/>
                </a:solidFill>
                <a:effectLst>
                  <a:outerShdw blurRad="38100" dist="38100" dir="2700000" algn="tl">
                    <a:srgbClr val="000000"/>
                  </a:outerShdw>
                </a:effectLst>
              </a:rPr>
              <a:t>→AC</a:t>
            </a:r>
            <a:r>
              <a:rPr lang="zh-CN" altLang="en-US" sz="2800" dirty="0">
                <a:solidFill>
                  <a:srgbClr val="99FF99"/>
                </a:solidFill>
                <a:effectLst>
                  <a:outerShdw blurRad="38100" dist="38100" dir="2700000" algn="tl">
                    <a:srgbClr val="000000"/>
                  </a:outerShdw>
                </a:effectLst>
              </a:rPr>
              <a:t>。</a:t>
            </a:r>
            <a:endParaRPr lang="zh-CN" altLang="zh-CN" sz="2800" dirty="0">
              <a:solidFill>
                <a:srgbClr val="99FF99"/>
              </a:solidFill>
              <a:effectLst>
                <a:outerShdw blurRad="38100" dist="38100" dir="2700000" algn="tl">
                  <a:srgbClr val="000000"/>
                </a:outerShdw>
              </a:effectLst>
            </a:endParaRPr>
          </a:p>
        </p:txBody>
      </p:sp>
      <p:sp>
        <p:nvSpPr>
          <p:cNvPr id="1494021" name="Rectangle 5"/>
          <p:cNvSpPr>
            <a:spLocks noChangeArrowheads="1"/>
          </p:cNvSpPr>
          <p:nvPr/>
        </p:nvSpPr>
        <p:spPr bwMode="auto">
          <a:xfrm>
            <a:off x="611188" y="3644900"/>
            <a:ext cx="8318500" cy="1311275"/>
          </a:xfrm>
          <a:prstGeom prst="rect">
            <a:avLst/>
          </a:prstGeom>
          <a:noFill/>
          <a:ln w="12700" cap="sq" algn="ctr">
            <a:noFill/>
            <a:miter lim="800000"/>
            <a:headEnd/>
            <a:tailEnd/>
          </a:ln>
          <a:effectLst/>
        </p:spPr>
        <p:txBody>
          <a:bodyPr/>
          <a:lstStyle/>
          <a:p>
            <a:pPr>
              <a:spcAft>
                <a:spcPct val="30000"/>
              </a:spcAft>
              <a:tabLst>
                <a:tab pos="715963" algn="l"/>
                <a:tab pos="1905000" algn="l"/>
              </a:tabLst>
              <a:defRPr/>
            </a:pPr>
            <a:r>
              <a:rPr lang="zh-CN" altLang="en-US" sz="2800" dirty="0">
                <a:solidFill>
                  <a:srgbClr val="CCFFCC"/>
                </a:solidFill>
                <a:effectLst>
                  <a:outerShdw blurRad="38100" dist="38100" dir="2700000" algn="tl">
                    <a:srgbClr val="000000"/>
                  </a:outerShdw>
                </a:effectLst>
              </a:rPr>
              <a:t>由</a:t>
            </a:r>
            <a:r>
              <a:rPr lang="en-US" altLang="zh-CN" sz="2800" dirty="0">
                <a:solidFill>
                  <a:srgbClr val="CCFFCC"/>
                </a:solidFill>
                <a:effectLst>
                  <a:outerShdw blurRad="38100" dist="38100" dir="2700000" algn="tl">
                    <a:srgbClr val="000000"/>
                  </a:outerShdw>
                </a:effectLst>
              </a:rPr>
              <a:t>D→EG</a:t>
            </a:r>
            <a:r>
              <a:rPr lang="zh-CN" altLang="en-US" sz="2800" dirty="0">
                <a:solidFill>
                  <a:srgbClr val="CCFFCC"/>
                </a:solidFill>
                <a:effectLst>
                  <a:outerShdw blurRad="38100" dist="38100" dir="2700000" algn="tl">
                    <a:srgbClr val="000000"/>
                  </a:outerShdw>
                </a:effectLst>
              </a:rPr>
              <a:t>可得</a:t>
            </a:r>
            <a:r>
              <a:rPr lang="en-US" altLang="zh-CN" sz="2800" dirty="0">
                <a:solidFill>
                  <a:srgbClr val="CCFFCC"/>
                </a:solidFill>
                <a:effectLst>
                  <a:outerShdw blurRad="38100" dist="38100" dir="2700000" algn="tl">
                    <a:srgbClr val="000000"/>
                  </a:outerShdw>
                </a:effectLst>
              </a:rPr>
              <a:t>D→E(</a:t>
            </a:r>
            <a:r>
              <a:rPr lang="zh-CN" altLang="en-US" sz="2800" dirty="0">
                <a:solidFill>
                  <a:srgbClr val="CCFFCC"/>
                </a:solidFill>
                <a:effectLst>
                  <a:outerShdw blurRad="38100" dist="38100" dir="2700000" algn="tl">
                    <a:srgbClr val="000000"/>
                  </a:outerShdw>
                </a:effectLst>
              </a:rPr>
              <a:t>分解</a:t>
            </a:r>
            <a:r>
              <a:rPr lang="en-US" altLang="zh-CN" sz="2800" dirty="0">
                <a:solidFill>
                  <a:srgbClr val="CCFFCC"/>
                </a:solidFill>
                <a:effectLst>
                  <a:outerShdw blurRad="38100" dist="38100" dir="2700000" algn="tl">
                    <a:srgbClr val="000000"/>
                  </a:outerShdw>
                </a:effectLst>
              </a:rPr>
              <a:t>)</a:t>
            </a:r>
            <a:r>
              <a:rPr lang="zh-CN" altLang="en-US" sz="2800" dirty="0">
                <a:solidFill>
                  <a:srgbClr val="CCFFCC"/>
                </a:solidFill>
                <a:effectLst>
                  <a:outerShdw blurRad="38100" dist="38100" dir="2700000" algn="tl">
                    <a:srgbClr val="000000"/>
                  </a:outerShdw>
                </a:effectLst>
              </a:rPr>
              <a:t>，进一步得</a:t>
            </a:r>
            <a:r>
              <a:rPr lang="en-US" altLang="zh-CN" sz="2800" dirty="0">
                <a:solidFill>
                  <a:srgbClr val="CCFFCC"/>
                </a:solidFill>
                <a:effectLst>
                  <a:outerShdw blurRad="38100" dist="38100" dir="2700000" algn="tl">
                    <a:srgbClr val="000000"/>
                  </a:outerShdw>
                </a:effectLst>
              </a:rPr>
              <a:t>BD→BE(</a:t>
            </a:r>
            <a:r>
              <a:rPr lang="zh-CN" altLang="en-US" sz="2800" dirty="0">
                <a:solidFill>
                  <a:srgbClr val="CCFFCC"/>
                </a:solidFill>
                <a:effectLst>
                  <a:outerShdw blurRad="38100" dist="38100" dir="2700000" algn="tl">
                    <a:srgbClr val="000000"/>
                  </a:outerShdw>
                </a:effectLst>
              </a:rPr>
              <a:t>增广</a:t>
            </a:r>
            <a:r>
              <a:rPr lang="en-US" altLang="zh-CN" sz="2800" dirty="0">
                <a:solidFill>
                  <a:srgbClr val="CCFFCC"/>
                </a:solidFill>
                <a:effectLst>
                  <a:outerShdw blurRad="38100" dist="38100" dir="2700000" algn="tl">
                    <a:srgbClr val="000000"/>
                  </a:outerShdw>
                </a:effectLst>
              </a:rPr>
              <a:t>)</a:t>
            </a:r>
            <a:r>
              <a:rPr lang="zh-CN" altLang="en-US" sz="2800" dirty="0">
                <a:solidFill>
                  <a:srgbClr val="CCFFCC"/>
                </a:solidFill>
                <a:effectLst>
                  <a:outerShdw blurRad="38100" dist="38100" dir="2700000" algn="tl">
                    <a:srgbClr val="000000"/>
                  </a:outerShdw>
                </a:effectLst>
              </a:rPr>
              <a:t>；</a:t>
            </a:r>
          </a:p>
          <a:p>
            <a:pPr>
              <a:spcAft>
                <a:spcPct val="30000"/>
              </a:spcAft>
              <a:tabLst>
                <a:tab pos="715963" algn="l"/>
                <a:tab pos="1905000" algn="l"/>
              </a:tabLst>
              <a:defRPr/>
            </a:pPr>
            <a:r>
              <a:rPr lang="zh-CN" altLang="en-US" sz="2800" dirty="0">
                <a:solidFill>
                  <a:srgbClr val="CCFFCC"/>
                </a:solidFill>
                <a:effectLst>
                  <a:outerShdw blurRad="38100" dist="38100" dir="2700000" algn="tl">
                    <a:srgbClr val="000000"/>
                  </a:outerShdw>
                </a:effectLst>
              </a:rPr>
              <a:t>由</a:t>
            </a:r>
            <a:r>
              <a:rPr lang="en-US" altLang="zh-CN" sz="2800" dirty="0">
                <a:solidFill>
                  <a:srgbClr val="CCFFCC"/>
                </a:solidFill>
                <a:effectLst>
                  <a:outerShdw blurRad="38100" dist="38100" dir="2700000" algn="tl">
                    <a:srgbClr val="000000"/>
                  </a:outerShdw>
                </a:effectLst>
              </a:rPr>
              <a:t>BE→C</a:t>
            </a:r>
            <a:r>
              <a:rPr lang="zh-CN" altLang="en-US" sz="2800" dirty="0">
                <a:solidFill>
                  <a:srgbClr val="CCFFCC"/>
                </a:solidFill>
                <a:effectLst>
                  <a:outerShdw blurRad="38100" dist="38100" dir="2700000" algn="tl">
                    <a:srgbClr val="000000"/>
                  </a:outerShdw>
                </a:effectLst>
              </a:rPr>
              <a:t>，</a:t>
            </a:r>
            <a:r>
              <a:rPr lang="en-US" altLang="zh-CN" sz="2800" dirty="0">
                <a:solidFill>
                  <a:srgbClr val="CCFFCC"/>
                </a:solidFill>
                <a:effectLst>
                  <a:outerShdw blurRad="38100" dist="38100" dir="2700000" algn="tl">
                    <a:srgbClr val="000000"/>
                  </a:outerShdw>
                </a:effectLst>
              </a:rPr>
              <a:t>C→A</a:t>
            </a:r>
            <a:r>
              <a:rPr lang="zh-CN" altLang="en-US" sz="2800" dirty="0">
                <a:solidFill>
                  <a:srgbClr val="CCFFCC"/>
                </a:solidFill>
                <a:effectLst>
                  <a:outerShdw blurRad="38100" dist="38100" dir="2700000" algn="tl">
                    <a:srgbClr val="000000"/>
                  </a:outerShdw>
                </a:effectLst>
              </a:rPr>
              <a:t>得出</a:t>
            </a:r>
            <a:r>
              <a:rPr lang="en-US" altLang="zh-CN" sz="2800" dirty="0">
                <a:solidFill>
                  <a:srgbClr val="CCFFCC"/>
                </a:solidFill>
                <a:effectLst>
                  <a:outerShdw blurRad="38100" dist="38100" dir="2700000" algn="tl">
                    <a:srgbClr val="000000"/>
                  </a:outerShdw>
                </a:effectLst>
              </a:rPr>
              <a:t>BE→A(</a:t>
            </a:r>
            <a:r>
              <a:rPr lang="zh-CN" altLang="en-US" sz="2800" dirty="0">
                <a:solidFill>
                  <a:srgbClr val="CCFFCC"/>
                </a:solidFill>
                <a:effectLst>
                  <a:outerShdw blurRad="38100" dist="38100" dir="2700000" algn="tl">
                    <a:srgbClr val="000000"/>
                  </a:outerShdw>
                </a:effectLst>
              </a:rPr>
              <a:t>传递</a:t>
            </a:r>
            <a:r>
              <a:rPr lang="en-US" altLang="zh-CN" sz="2800" dirty="0">
                <a:solidFill>
                  <a:srgbClr val="CCFFCC"/>
                </a:solidFill>
                <a:effectLst>
                  <a:outerShdw blurRad="38100" dist="38100" dir="2700000" algn="tl">
                    <a:srgbClr val="000000"/>
                  </a:outerShdw>
                </a:effectLst>
              </a:rPr>
              <a:t>)</a:t>
            </a:r>
            <a:r>
              <a:rPr lang="zh-CN" altLang="en-US" sz="2800" dirty="0">
                <a:solidFill>
                  <a:srgbClr val="CCFFCC"/>
                </a:solidFill>
                <a:effectLst>
                  <a:outerShdw blurRad="38100" dist="38100" dir="2700000" algn="tl">
                    <a:srgbClr val="000000"/>
                  </a:outerShdw>
                </a:effectLst>
              </a:rPr>
              <a:t>，</a:t>
            </a:r>
            <a:r>
              <a:rPr lang="en-US" altLang="zh-CN" sz="2800" dirty="0">
                <a:solidFill>
                  <a:srgbClr val="CCFFCC"/>
                </a:solidFill>
                <a:effectLst>
                  <a:outerShdw blurRad="38100" dist="38100" dir="2700000" algn="tl">
                    <a:srgbClr val="000000"/>
                  </a:outerShdw>
                </a:effectLst>
              </a:rPr>
              <a:t>BE→AC(</a:t>
            </a:r>
            <a:r>
              <a:rPr lang="zh-CN" altLang="en-US" sz="2800" dirty="0">
                <a:solidFill>
                  <a:srgbClr val="CCFFCC"/>
                </a:solidFill>
                <a:effectLst>
                  <a:outerShdw blurRad="38100" dist="38100" dir="2700000" algn="tl">
                    <a:srgbClr val="000000"/>
                  </a:outerShdw>
                </a:effectLst>
              </a:rPr>
              <a:t>合并</a:t>
            </a:r>
            <a:r>
              <a:rPr lang="en-US" altLang="zh-CN" sz="2800" dirty="0">
                <a:solidFill>
                  <a:srgbClr val="CCFFCC"/>
                </a:solidFill>
                <a:effectLst>
                  <a:outerShdw blurRad="38100" dist="38100" dir="2700000" algn="tl">
                    <a:srgbClr val="000000"/>
                  </a:outerShdw>
                </a:effectLst>
              </a:rPr>
              <a:t>);</a:t>
            </a:r>
          </a:p>
          <a:p>
            <a:pPr>
              <a:spcAft>
                <a:spcPct val="30000"/>
              </a:spcAft>
              <a:tabLst>
                <a:tab pos="715963" algn="l"/>
                <a:tab pos="1905000" algn="l"/>
              </a:tabLst>
              <a:defRPr/>
            </a:pPr>
            <a:r>
              <a:rPr lang="zh-CN" altLang="en-US" sz="2800" dirty="0">
                <a:solidFill>
                  <a:srgbClr val="CCFFCC"/>
                </a:solidFill>
                <a:effectLst>
                  <a:outerShdw blurRad="38100" dist="38100" dir="2700000" algn="tl">
                    <a:srgbClr val="000000"/>
                  </a:outerShdw>
                </a:effectLst>
              </a:rPr>
              <a:t>由前面推导出的</a:t>
            </a:r>
            <a:r>
              <a:rPr lang="en-US" altLang="zh-CN" sz="2800" dirty="0">
                <a:solidFill>
                  <a:srgbClr val="CCFFCC"/>
                </a:solidFill>
                <a:effectLst>
                  <a:outerShdw blurRad="38100" dist="38100" dir="2700000" algn="tl">
                    <a:srgbClr val="000000"/>
                  </a:outerShdw>
                </a:effectLst>
              </a:rPr>
              <a:t>BD→BE</a:t>
            </a:r>
            <a:r>
              <a:rPr lang="zh-CN" altLang="en-US" sz="2800" dirty="0">
                <a:solidFill>
                  <a:srgbClr val="CCFFCC"/>
                </a:solidFill>
                <a:effectLst>
                  <a:outerShdw blurRad="38100" dist="38100" dir="2700000" algn="tl">
                    <a:srgbClr val="000000"/>
                  </a:outerShdw>
                </a:effectLst>
              </a:rPr>
              <a:t>和</a:t>
            </a:r>
            <a:r>
              <a:rPr lang="en-US" altLang="zh-CN" sz="2800" dirty="0">
                <a:solidFill>
                  <a:srgbClr val="CCFFCC"/>
                </a:solidFill>
                <a:effectLst>
                  <a:outerShdw blurRad="38100" dist="38100" dir="2700000" algn="tl">
                    <a:srgbClr val="000000"/>
                  </a:outerShdw>
                </a:effectLst>
              </a:rPr>
              <a:t>BE→AC</a:t>
            </a:r>
            <a:r>
              <a:rPr lang="zh-CN" altLang="en-US" sz="2800" dirty="0">
                <a:solidFill>
                  <a:srgbClr val="CCFFCC"/>
                </a:solidFill>
                <a:effectLst>
                  <a:outerShdw blurRad="38100" dist="38100" dir="2700000" algn="tl">
                    <a:srgbClr val="000000"/>
                  </a:outerShdw>
                </a:effectLst>
              </a:rPr>
              <a:t>得出</a:t>
            </a:r>
            <a:r>
              <a:rPr lang="en-US" altLang="zh-CN" sz="2800" dirty="0">
                <a:solidFill>
                  <a:srgbClr val="CCFFCC"/>
                </a:solidFill>
                <a:effectLst>
                  <a:outerShdw blurRad="38100" dist="38100" dir="2700000" algn="tl">
                    <a:srgbClr val="000000"/>
                  </a:outerShdw>
                </a:effectLst>
              </a:rPr>
              <a:t>BD→AC(</a:t>
            </a:r>
            <a:r>
              <a:rPr lang="zh-CN" altLang="en-US" sz="2800" dirty="0">
                <a:solidFill>
                  <a:srgbClr val="CCFFCC"/>
                </a:solidFill>
                <a:effectLst>
                  <a:outerShdw blurRad="38100" dist="38100" dir="2700000" algn="tl">
                    <a:srgbClr val="000000"/>
                  </a:outerShdw>
                </a:effectLst>
              </a:rPr>
              <a:t>传递</a:t>
            </a:r>
            <a:r>
              <a:rPr lang="en-US" altLang="zh-CN" sz="2800" dirty="0">
                <a:solidFill>
                  <a:srgbClr val="CCFFCC"/>
                </a:solidFill>
                <a:effectLst>
                  <a:outerShdw blurRad="38100" dist="38100" dir="2700000" algn="tl">
                    <a:srgbClr val="000000"/>
                  </a:outerShdw>
                </a:effectLst>
              </a:rPr>
              <a:t>)</a:t>
            </a:r>
            <a:endParaRPr lang="zh-CN" altLang="en-US" sz="2800" dirty="0">
              <a:solidFill>
                <a:srgbClr val="CCFFCC"/>
              </a:solidFill>
              <a:effectLst>
                <a:outerShdw blurRad="38100" dist="38100" dir="2700000" algn="tl">
                  <a:srgbClr val="000000"/>
                </a:outerShdw>
              </a:effectLst>
            </a:endParaRPr>
          </a:p>
          <a:p>
            <a:pPr>
              <a:spcAft>
                <a:spcPct val="30000"/>
              </a:spcAft>
              <a:tabLst>
                <a:tab pos="715963" algn="l"/>
                <a:tab pos="1905000" algn="l"/>
              </a:tabLst>
              <a:defRPr/>
            </a:pPr>
            <a:r>
              <a:rPr lang="zh-CN" altLang="en-US" sz="2800" dirty="0">
                <a:solidFill>
                  <a:srgbClr val="CCFFCC"/>
                </a:solidFill>
                <a:effectLst>
                  <a:outerShdw blurRad="38100" dist="38100" dir="2700000" algn="tl">
                    <a:srgbClr val="000000"/>
                  </a:outerShdw>
                </a:effectLst>
              </a:rPr>
              <a:t>所以</a:t>
            </a:r>
            <a:r>
              <a:rPr lang="en-US" altLang="zh-CN" sz="2800" dirty="0">
                <a:solidFill>
                  <a:srgbClr val="CCFFCC"/>
                </a:solidFill>
                <a:effectLst>
                  <a:outerShdw blurRad="38100" dist="38100" dir="2700000" algn="tl">
                    <a:srgbClr val="000000"/>
                  </a:outerShdw>
                </a:effectLst>
              </a:rPr>
              <a:t>BD→AC</a:t>
            </a:r>
            <a:r>
              <a:rPr lang="zh-CN" altLang="en-US" sz="2800" dirty="0">
                <a:solidFill>
                  <a:srgbClr val="CCFFCC"/>
                </a:solidFill>
                <a:effectLst>
                  <a:outerShdw blurRad="38100" dist="38100" dir="2700000" algn="tl">
                    <a:srgbClr val="000000"/>
                  </a:outerShdw>
                </a:effectLst>
              </a:rPr>
              <a:t>被</a:t>
            </a:r>
            <a:r>
              <a:rPr lang="en-US" altLang="zh-CN" sz="2800" dirty="0">
                <a:solidFill>
                  <a:srgbClr val="CCFFCC"/>
                </a:solidFill>
                <a:effectLst>
                  <a:outerShdw blurRad="38100" dist="38100" dir="2700000" algn="tl">
                    <a:srgbClr val="000000"/>
                  </a:outerShdw>
                </a:effectLst>
              </a:rPr>
              <a:t>F</a:t>
            </a:r>
            <a:r>
              <a:rPr lang="zh-CN" altLang="en-US" sz="2800" dirty="0">
                <a:solidFill>
                  <a:srgbClr val="CCFFCC"/>
                </a:solidFill>
                <a:effectLst>
                  <a:outerShdw blurRad="38100" dist="38100" dir="2700000" algn="tl">
                    <a:srgbClr val="000000"/>
                  </a:outerShdw>
                </a:effectLst>
              </a:rPr>
              <a:t>所蕴涵，即</a:t>
            </a:r>
            <a:r>
              <a:rPr lang="en-US" altLang="zh-CN" sz="2600" dirty="0" smtClean="0">
                <a:solidFill>
                  <a:srgbClr val="CCFFCC"/>
                </a:solidFill>
                <a:effectLst>
                  <a:outerShdw blurRad="38100" dist="38100" dir="2700000" algn="tl">
                    <a:srgbClr val="000000"/>
                  </a:outerShdw>
                </a:effectLst>
              </a:rPr>
              <a:t>F</a:t>
            </a:r>
            <a:r>
              <a:rPr lang="en-US" altLang="zh-CN" sz="2600" dirty="0" smtClean="0">
                <a:solidFill>
                  <a:srgbClr val="CCFFCC"/>
                </a:solidFill>
                <a:effectLst>
                  <a:outerShdw blurRad="38100" dist="38100" dir="2700000" algn="tl">
                    <a:srgbClr val="000000"/>
                  </a:outerShdw>
                </a:effectLst>
                <a:sym typeface="Symbol" pitchFamily="18" charset="2"/>
              </a:rPr>
              <a:t>|=</a:t>
            </a:r>
            <a:r>
              <a:rPr lang="zh-CN" altLang="en-US" sz="2600" dirty="0" smtClean="0">
                <a:solidFill>
                  <a:srgbClr val="99FF33"/>
                </a:solidFill>
                <a:effectLst>
                  <a:outerShdw blurRad="38100" dist="38100" dir="2700000" algn="tl">
                    <a:srgbClr val="000000"/>
                  </a:outerShdw>
                </a:effectLst>
              </a:rPr>
              <a:t> </a:t>
            </a:r>
            <a:r>
              <a:rPr lang="en-US" altLang="zh-CN" sz="2800" dirty="0">
                <a:solidFill>
                  <a:srgbClr val="CCFFCC"/>
                </a:solidFill>
                <a:effectLst>
                  <a:outerShdw blurRad="38100" dist="38100" dir="2700000" algn="tl">
                    <a:srgbClr val="000000"/>
                  </a:outerShdw>
                </a:effectLst>
              </a:rPr>
              <a:t>BD→AC</a:t>
            </a:r>
          </a:p>
        </p:txBody>
      </p:sp>
      <p:sp>
        <p:nvSpPr>
          <p:cNvPr id="7" name="Text Box 2"/>
          <p:cNvSpPr txBox="1">
            <a:spLocks noChangeArrowheads="1"/>
          </p:cNvSpPr>
          <p:nvPr/>
        </p:nvSpPr>
        <p:spPr bwMode="auto">
          <a:xfrm>
            <a:off x="179388" y="-27613"/>
            <a:ext cx="5400675" cy="760959"/>
          </a:xfrm>
          <a:prstGeom prst="rect">
            <a:avLst/>
          </a:prstGeom>
          <a:noFill/>
          <a:ln w="12700" cap="sq">
            <a:noFill/>
            <a:miter lim="800000"/>
            <a:headEnd/>
            <a:tailEnd/>
          </a:ln>
          <a:effectLst>
            <a:outerShdw dist="35921" dir="2700000" algn="ctr" rotWithShape="0">
              <a:schemeClr val="bg2"/>
            </a:outerShdw>
          </a:effectLst>
        </p:spPr>
        <p:txBody>
          <a:bodyPr wrap="square" lIns="72000" tIns="72000" rIns="72000" bIns="72000">
            <a:spAutoFit/>
          </a:bodyPr>
          <a:lstStyle>
            <a:defPPr>
              <a:defRPr lang="en-US"/>
            </a:defPPr>
            <a:lvl1pPr>
              <a:spcBef>
                <a:spcPts val="0"/>
              </a:spcBef>
              <a:defRPr sz="4000" b="1">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r>
              <a:rPr lang="zh-CN" altLang="zh-CN" dirty="0">
                <a:latin typeface="微软雅黑" panose="020B0503020204020204" pitchFamily="34" charset="-122"/>
              </a:rPr>
              <a:t>Armstrong公理系统</a:t>
            </a:r>
            <a:endParaRPr lang="zh-CN" altLang="en-US" dirty="0"/>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type="title"/>
          </p:nvPr>
        </p:nvSpPr>
        <p:spPr>
          <a:xfrm>
            <a:off x="158750" y="882573"/>
            <a:ext cx="8516938" cy="584775"/>
          </a:xfrm>
          <a:noFill/>
          <a:ln>
            <a:noFill/>
          </a:ln>
          <a:effectLst>
            <a:outerShdw dist="1796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spAutoFit/>
          </a:bodyPr>
          <a:lstStyle/>
          <a:p>
            <a:pPr>
              <a:buFont typeface="Wingdings" pitchFamily="2" charset="2"/>
              <a:buChar char="¯"/>
            </a:pPr>
            <a:r>
              <a:rPr lang="zh-CN" altLang="en-US" sz="3200" dirty="0">
                <a:effectLst>
                  <a:outerShdw blurRad="38100" dist="38100" dir="2700000" algn="tl">
                    <a:srgbClr val="000000"/>
                  </a:outerShdw>
                </a:effectLst>
                <a:latin typeface="微软雅黑" panose="020B0503020204020204" pitchFamily="34" charset="-122"/>
                <a:ea typeface="微软雅黑" panose="020B0503020204020204" pitchFamily="34" charset="-122"/>
              </a:rPr>
              <a:t>应用一例</a:t>
            </a:r>
            <a:r>
              <a:rPr lang="zh-CN" altLang="en-US" sz="3200" dirty="0" smtClean="0">
                <a:effectLst>
                  <a:outerShdw blurRad="38100" dist="38100" dir="2700000" algn="tl">
                    <a:srgbClr val="000000"/>
                  </a:outerShdw>
                </a:effectLst>
                <a:latin typeface="微软雅黑" panose="020B0503020204020204" pitchFamily="34" charset="-122"/>
                <a:ea typeface="微软雅黑" panose="020B0503020204020204" pitchFamily="34" charset="-122"/>
              </a:rPr>
              <a:t>：推导函数依赖集的闭包</a:t>
            </a:r>
            <a:endParaRPr lang="en-US" altLang="zh-CN" sz="3200" dirty="0">
              <a:effectLst>
                <a:outerShdw blurRad="38100" dist="38100" dir="2700000" algn="tl">
                  <a:srgbClr val="000000"/>
                </a:outerShdw>
              </a:effectLst>
              <a:latin typeface="微软雅黑" panose="020B0503020204020204" pitchFamily="34" charset="-122"/>
              <a:ea typeface="微软雅黑" panose="020B0503020204020204" pitchFamily="34" charset="-122"/>
            </a:endParaRPr>
          </a:p>
        </p:txBody>
      </p:sp>
      <p:sp>
        <p:nvSpPr>
          <p:cNvPr id="1495044" name="Text Box 4"/>
          <p:cNvSpPr txBox="1">
            <a:spLocks noChangeArrowheads="1"/>
          </p:cNvSpPr>
          <p:nvPr/>
        </p:nvSpPr>
        <p:spPr bwMode="auto">
          <a:xfrm>
            <a:off x="468313" y="1641973"/>
            <a:ext cx="8382000" cy="604838"/>
          </a:xfrm>
          <a:prstGeom prst="rect">
            <a:avLst/>
          </a:prstGeom>
          <a:noFill/>
          <a:ln w="12700" cap="sq">
            <a:noFill/>
            <a:miter lim="800000"/>
            <a:headEnd type="none" w="sm" len="sm"/>
            <a:tailEnd type="none" w="sm" len="sm"/>
          </a:ln>
          <a:effectLst/>
        </p:spPr>
        <p:txBody>
          <a:bodyPr/>
          <a:lstStyle/>
          <a:p>
            <a:pPr>
              <a:spcBef>
                <a:spcPct val="30000"/>
              </a:spcBef>
              <a:spcAft>
                <a:spcPct val="70000"/>
              </a:spcAft>
              <a:tabLst>
                <a:tab pos="715963" algn="l"/>
                <a:tab pos="1905000" algn="l"/>
              </a:tabLst>
              <a:defRPr/>
            </a:pPr>
            <a:r>
              <a:rPr lang="zh-CN" altLang="en-US" sz="2800" dirty="0">
                <a:solidFill>
                  <a:srgbClr val="99FF99"/>
                </a:solidFill>
                <a:effectLst>
                  <a:outerShdw blurRad="38100" dist="38100" dir="2700000" algn="tl">
                    <a:srgbClr val="000000"/>
                  </a:outerShdw>
                </a:effectLst>
              </a:rPr>
              <a:t>已知</a:t>
            </a:r>
            <a:r>
              <a:rPr lang="zh-CN" altLang="zh-CN" sz="2800" dirty="0">
                <a:solidFill>
                  <a:srgbClr val="99FF99"/>
                </a:solidFill>
                <a:effectLst>
                  <a:outerShdw blurRad="38100" dist="38100" dir="2700000" algn="tl">
                    <a:srgbClr val="000000"/>
                  </a:outerShdw>
                </a:effectLst>
              </a:rPr>
              <a:t>R</a:t>
            </a:r>
            <a:r>
              <a:rPr lang="zh-CN" altLang="en-US" sz="2800" dirty="0">
                <a:solidFill>
                  <a:srgbClr val="99FF99"/>
                </a:solidFill>
                <a:effectLst>
                  <a:outerShdw blurRad="38100" dist="38100" dir="2700000" algn="tl">
                    <a:srgbClr val="000000"/>
                  </a:outerShdw>
                </a:effectLst>
              </a:rPr>
              <a:t>(</a:t>
            </a:r>
            <a:r>
              <a:rPr lang="en-US" altLang="zh-CN" sz="2800" dirty="0">
                <a:solidFill>
                  <a:srgbClr val="99FF99"/>
                </a:solidFill>
                <a:effectLst>
                  <a:outerShdw blurRad="38100" dist="38100" dir="2700000" algn="tl">
                    <a:srgbClr val="000000"/>
                  </a:outerShdw>
                </a:effectLst>
              </a:rPr>
              <a:t>U={</a:t>
            </a:r>
            <a:r>
              <a:rPr lang="zh-CN" altLang="zh-CN" sz="2800" dirty="0">
                <a:solidFill>
                  <a:srgbClr val="99FF99"/>
                </a:solidFill>
                <a:effectLst>
                  <a:outerShdw blurRad="38100" dist="38100" dir="2700000" algn="tl">
                    <a:srgbClr val="000000"/>
                  </a:outerShdw>
                </a:effectLst>
              </a:rPr>
              <a:t>ABC</a:t>
            </a:r>
            <a:r>
              <a:rPr lang="zh-CN" altLang="en-US" sz="2800" dirty="0">
                <a:solidFill>
                  <a:srgbClr val="99FF99"/>
                </a:solidFill>
                <a:effectLst>
                  <a:outerShdw blurRad="38100" dist="38100" dir="2700000" algn="tl">
                    <a:srgbClr val="000000"/>
                  </a:outerShdw>
                </a:effectLst>
              </a:rPr>
              <a:t>}</a:t>
            </a:r>
            <a:r>
              <a:rPr lang="zh-CN" altLang="zh-CN" sz="2800" dirty="0">
                <a:solidFill>
                  <a:srgbClr val="99FF99"/>
                </a:solidFill>
                <a:effectLst>
                  <a:outerShdw blurRad="38100" dist="38100" dir="2700000" algn="tl">
                    <a:srgbClr val="000000"/>
                  </a:outerShdw>
                </a:effectLst>
              </a:rPr>
              <a:t>,</a:t>
            </a:r>
            <a:r>
              <a:rPr lang="zh-CN" altLang="en-US" sz="2800" dirty="0">
                <a:solidFill>
                  <a:srgbClr val="99FF99"/>
                </a:solidFill>
                <a:effectLst>
                  <a:outerShdw blurRad="38100" dist="38100" dir="2700000" algn="tl">
                    <a:srgbClr val="000000"/>
                  </a:outerShdw>
                </a:effectLst>
              </a:rPr>
              <a:t>F</a:t>
            </a:r>
            <a:r>
              <a:rPr lang="en-US" altLang="zh-CN" sz="2800" dirty="0">
                <a:solidFill>
                  <a:srgbClr val="99FF99"/>
                </a:solidFill>
                <a:effectLst>
                  <a:outerShdw blurRad="38100" dist="38100" dir="2700000" algn="tl">
                    <a:srgbClr val="000000"/>
                  </a:outerShdw>
                </a:effectLst>
              </a:rPr>
              <a:t>=</a:t>
            </a:r>
            <a:r>
              <a:rPr lang="zh-CN" altLang="zh-CN" sz="2800" dirty="0">
                <a:solidFill>
                  <a:srgbClr val="99FF99"/>
                </a:solidFill>
                <a:effectLst>
                  <a:outerShdw blurRad="38100" dist="38100" dir="2700000" algn="tl">
                    <a:srgbClr val="000000"/>
                  </a:outerShdw>
                </a:effectLst>
              </a:rPr>
              <a:t>{A→B, B→C}</a:t>
            </a:r>
            <a:r>
              <a:rPr lang="en-US" altLang="zh-CN" sz="2800" dirty="0">
                <a:solidFill>
                  <a:srgbClr val="99FF99"/>
                </a:solidFill>
                <a:effectLst>
                  <a:outerShdw blurRad="38100" dist="38100" dir="2700000" algn="tl">
                    <a:srgbClr val="000000"/>
                  </a:outerShdw>
                </a:effectLst>
              </a:rPr>
              <a:t>)</a:t>
            </a:r>
            <a:r>
              <a:rPr lang="zh-CN" altLang="zh-CN" sz="2800" dirty="0">
                <a:solidFill>
                  <a:srgbClr val="99FF99"/>
                </a:solidFill>
                <a:effectLst>
                  <a:outerShdw blurRad="38100" dist="38100" dir="2700000" algn="tl">
                    <a:srgbClr val="000000"/>
                  </a:outerShdw>
                </a:effectLst>
              </a:rPr>
              <a:t>, 求F</a:t>
            </a:r>
            <a:r>
              <a:rPr lang="zh-CN" altLang="zh-CN" sz="2800" baseline="30000" dirty="0">
                <a:solidFill>
                  <a:srgbClr val="99FF99"/>
                </a:solidFill>
                <a:effectLst>
                  <a:outerShdw blurRad="38100" dist="38100" dir="2700000" algn="tl">
                    <a:srgbClr val="000000"/>
                  </a:outerShdw>
                </a:effectLst>
              </a:rPr>
              <a:t>+</a:t>
            </a:r>
            <a:r>
              <a:rPr lang="zh-CN" altLang="en-US" sz="2800" dirty="0">
                <a:solidFill>
                  <a:srgbClr val="99FF99"/>
                </a:solidFill>
                <a:effectLst>
                  <a:outerShdw blurRad="38100" dist="38100" dir="2700000" algn="tl">
                    <a:srgbClr val="000000"/>
                  </a:outerShdw>
                </a:effectLst>
              </a:rPr>
              <a:t>。</a:t>
            </a:r>
            <a:endParaRPr lang="zh-CN" altLang="zh-CN" sz="2800" dirty="0">
              <a:solidFill>
                <a:srgbClr val="99FF99"/>
              </a:solidFill>
              <a:effectLst>
                <a:outerShdw blurRad="38100" dist="38100" dir="2700000" algn="tl">
                  <a:srgbClr val="000000"/>
                </a:outerShdw>
              </a:effectLst>
            </a:endParaRPr>
          </a:p>
        </p:txBody>
      </p:sp>
      <p:sp>
        <p:nvSpPr>
          <p:cNvPr id="1495045" name="Rectangle 5"/>
          <p:cNvSpPr>
            <a:spLocks noChangeArrowheads="1"/>
          </p:cNvSpPr>
          <p:nvPr/>
        </p:nvSpPr>
        <p:spPr bwMode="auto">
          <a:xfrm>
            <a:off x="468313" y="2421436"/>
            <a:ext cx="8675687" cy="1311275"/>
          </a:xfrm>
          <a:prstGeom prst="rect">
            <a:avLst/>
          </a:prstGeom>
          <a:noFill/>
          <a:ln w="12700" cap="sq" algn="ctr">
            <a:noFill/>
            <a:miter lim="800000"/>
            <a:headEnd/>
            <a:tailEnd/>
          </a:ln>
          <a:effectLst/>
        </p:spPr>
        <p:txBody>
          <a:bodyPr/>
          <a:lstStyle/>
          <a:p>
            <a:pPr>
              <a:spcBef>
                <a:spcPct val="20000"/>
              </a:spcBef>
              <a:spcAft>
                <a:spcPct val="0"/>
              </a:spcAft>
              <a:buSzTx/>
              <a:buFontTx/>
              <a:buNone/>
              <a:tabLst>
                <a:tab pos="715963" algn="l"/>
                <a:tab pos="1905000" algn="l"/>
              </a:tabLst>
              <a:defRPr/>
            </a:pPr>
            <a:r>
              <a:rPr lang="en-US" altLang="zh-CN" sz="2800" dirty="0">
                <a:solidFill>
                  <a:srgbClr val="CCFFCC"/>
                </a:solidFill>
                <a:effectLst>
                  <a:outerShdw blurRad="38100" dist="38100" dir="2700000" algn="tl">
                    <a:srgbClr val="000000"/>
                  </a:outerShdw>
                </a:effectLst>
                <a:latin typeface="Times New Roman" pitchFamily="18" charset="0"/>
              </a:rPr>
              <a:t>F</a:t>
            </a:r>
            <a:r>
              <a:rPr lang="en-US" altLang="zh-CN" sz="2800" baseline="30000" dirty="0">
                <a:solidFill>
                  <a:srgbClr val="CCFFCC"/>
                </a:solidFill>
                <a:effectLst>
                  <a:outerShdw blurRad="38100" dist="38100" dir="2700000" algn="tl">
                    <a:srgbClr val="000000"/>
                  </a:outerShdw>
                </a:effectLst>
                <a:latin typeface="Times New Roman" pitchFamily="18" charset="0"/>
              </a:rPr>
              <a:t>+ </a:t>
            </a:r>
            <a:r>
              <a:rPr lang="en-US" altLang="zh-CN" sz="2800" dirty="0">
                <a:solidFill>
                  <a:srgbClr val="CCFFCC"/>
                </a:solidFill>
                <a:effectLst>
                  <a:outerShdw blurRad="38100" dist="38100" dir="2700000" algn="tl">
                    <a:srgbClr val="000000"/>
                  </a:outerShdw>
                </a:effectLst>
                <a:latin typeface="Times New Roman" pitchFamily="18" charset="0"/>
              </a:rPr>
              <a:t>={</a:t>
            </a:r>
            <a:r>
              <a:rPr lang="en-US" altLang="zh-CN" sz="2400" dirty="0" err="1">
                <a:solidFill>
                  <a:srgbClr val="CCFFCC"/>
                </a:solidFill>
                <a:effectLst>
                  <a:outerShdw blurRad="38100" dist="38100" dir="2700000" algn="tl">
                    <a:srgbClr val="000000"/>
                  </a:outerShdw>
                </a:effectLst>
                <a:latin typeface="Times New Roman" pitchFamily="18" charset="0"/>
              </a:rPr>
              <a:t>A→φ</a:t>
            </a:r>
            <a:r>
              <a:rPr lang="zh-CN" altLang="en-US" sz="2400" dirty="0">
                <a:solidFill>
                  <a:srgbClr val="CCFFCC"/>
                </a:solidFill>
                <a:effectLst>
                  <a:outerShdw blurRad="38100" dist="38100" dir="2700000" algn="tl">
                    <a:srgbClr val="000000"/>
                  </a:outerShdw>
                </a:effectLst>
                <a:latin typeface="Times New Roman" pitchFamily="18" charset="0"/>
              </a:rPr>
              <a:t>，</a:t>
            </a:r>
            <a:r>
              <a:rPr lang="en-US" altLang="zh-CN" sz="2400" dirty="0" err="1">
                <a:solidFill>
                  <a:srgbClr val="CCFFCC"/>
                </a:solidFill>
                <a:effectLst>
                  <a:outerShdw blurRad="38100" dist="38100" dir="2700000" algn="tl">
                    <a:srgbClr val="000000"/>
                  </a:outerShdw>
                </a:effectLst>
                <a:latin typeface="Times New Roman" pitchFamily="18" charset="0"/>
              </a:rPr>
              <a:t>AB→φ</a:t>
            </a:r>
            <a:r>
              <a:rPr lang="zh-CN" altLang="en-US" sz="2400" dirty="0">
                <a:solidFill>
                  <a:srgbClr val="CCFFCC"/>
                </a:solidFill>
                <a:effectLst>
                  <a:outerShdw blurRad="38100" dist="38100" dir="2700000" algn="tl">
                    <a:srgbClr val="000000"/>
                  </a:outerShdw>
                </a:effectLst>
                <a:latin typeface="Times New Roman" pitchFamily="18" charset="0"/>
              </a:rPr>
              <a:t>，</a:t>
            </a:r>
            <a:r>
              <a:rPr lang="en-US" altLang="zh-CN" sz="2400" dirty="0" err="1">
                <a:solidFill>
                  <a:srgbClr val="CCFFCC"/>
                </a:solidFill>
                <a:effectLst>
                  <a:outerShdw blurRad="38100" dist="38100" dir="2700000" algn="tl">
                    <a:srgbClr val="000000"/>
                  </a:outerShdw>
                </a:effectLst>
                <a:latin typeface="Times New Roman" pitchFamily="18" charset="0"/>
              </a:rPr>
              <a:t>AC→φ</a:t>
            </a:r>
            <a:r>
              <a:rPr lang="zh-CN" altLang="en-US" sz="2400" dirty="0">
                <a:solidFill>
                  <a:srgbClr val="CCFFCC"/>
                </a:solidFill>
                <a:effectLst>
                  <a:outerShdw blurRad="38100" dist="38100" dir="2700000" algn="tl">
                    <a:srgbClr val="000000"/>
                  </a:outerShdw>
                </a:effectLst>
                <a:latin typeface="Times New Roman" pitchFamily="18" charset="0"/>
              </a:rPr>
              <a:t>，</a:t>
            </a:r>
            <a:r>
              <a:rPr lang="en-US" altLang="zh-CN" sz="2400" dirty="0" err="1">
                <a:solidFill>
                  <a:srgbClr val="CCFFCC"/>
                </a:solidFill>
                <a:effectLst>
                  <a:outerShdw blurRad="38100" dist="38100" dir="2700000" algn="tl">
                    <a:srgbClr val="000000"/>
                  </a:outerShdw>
                </a:effectLst>
                <a:latin typeface="Times New Roman" pitchFamily="18" charset="0"/>
              </a:rPr>
              <a:t>ABC→φ</a:t>
            </a:r>
            <a:r>
              <a:rPr lang="zh-CN" altLang="en-US" sz="2400" dirty="0">
                <a:solidFill>
                  <a:srgbClr val="CCFFCC"/>
                </a:solidFill>
                <a:effectLst>
                  <a:outerShdw blurRad="38100" dist="38100" dir="2700000" algn="tl">
                    <a:srgbClr val="000000"/>
                  </a:outerShdw>
                </a:effectLst>
                <a:latin typeface="Times New Roman" pitchFamily="18" charset="0"/>
              </a:rPr>
              <a:t>，</a:t>
            </a:r>
            <a:r>
              <a:rPr lang="en-US" altLang="zh-CN" sz="2400" dirty="0" err="1">
                <a:solidFill>
                  <a:srgbClr val="CCFFCC"/>
                </a:solidFill>
                <a:effectLst>
                  <a:outerShdw blurRad="38100" dist="38100" dir="2700000" algn="tl">
                    <a:srgbClr val="000000"/>
                  </a:outerShdw>
                </a:effectLst>
                <a:latin typeface="Times New Roman" pitchFamily="18" charset="0"/>
              </a:rPr>
              <a:t>B→φ</a:t>
            </a:r>
            <a:r>
              <a:rPr lang="zh-CN" altLang="en-US" sz="2400" dirty="0">
                <a:solidFill>
                  <a:srgbClr val="CCFFCC"/>
                </a:solidFill>
                <a:effectLst>
                  <a:outerShdw blurRad="38100" dist="38100" dir="2700000" algn="tl">
                    <a:srgbClr val="000000"/>
                  </a:outerShdw>
                </a:effectLst>
                <a:latin typeface="Times New Roman" pitchFamily="18" charset="0"/>
              </a:rPr>
              <a:t>，</a:t>
            </a:r>
            <a:r>
              <a:rPr lang="en-US" altLang="zh-CN" sz="2400" dirty="0" err="1">
                <a:solidFill>
                  <a:srgbClr val="CCFFCC"/>
                </a:solidFill>
                <a:effectLst>
                  <a:outerShdw blurRad="38100" dist="38100" dir="2700000" algn="tl">
                    <a:srgbClr val="000000"/>
                  </a:outerShdw>
                </a:effectLst>
                <a:latin typeface="Times New Roman" pitchFamily="18" charset="0"/>
              </a:rPr>
              <a:t>C→φ</a:t>
            </a:r>
            <a:r>
              <a:rPr lang="zh-CN" altLang="en-US" sz="2400" dirty="0">
                <a:solidFill>
                  <a:srgbClr val="CCFFCC"/>
                </a:solidFill>
                <a:effectLst>
                  <a:outerShdw blurRad="38100" dist="38100" dir="2700000" algn="tl">
                    <a:srgbClr val="000000"/>
                  </a:outerShdw>
                </a:effectLst>
                <a:latin typeface="Times New Roman" pitchFamily="18" charset="0"/>
              </a:rPr>
              <a:t>，</a:t>
            </a:r>
          </a:p>
          <a:p>
            <a:pPr>
              <a:spcBef>
                <a:spcPct val="20000"/>
              </a:spcBef>
              <a:spcAft>
                <a:spcPct val="0"/>
              </a:spcAft>
              <a:buSzTx/>
              <a:buFontTx/>
              <a:buNone/>
              <a:tabLst>
                <a:tab pos="715963" algn="l"/>
                <a:tab pos="1905000" algn="l"/>
              </a:tabLst>
              <a:defRPr/>
            </a:pPr>
            <a:r>
              <a:rPr lang="en-US" altLang="zh-CN" sz="2400" dirty="0">
                <a:solidFill>
                  <a:srgbClr val="CCFFCC"/>
                </a:solidFill>
                <a:effectLst>
                  <a:outerShdw blurRad="38100" dist="38100" dir="2700000" algn="tl">
                    <a:srgbClr val="000000"/>
                  </a:outerShdw>
                </a:effectLst>
                <a:latin typeface="Times New Roman" pitchFamily="18" charset="0"/>
              </a:rPr>
              <a:t>	A→A</a:t>
            </a:r>
            <a:r>
              <a:rPr lang="zh-CN" altLang="en-US" sz="2400" dirty="0">
                <a:solidFill>
                  <a:srgbClr val="CCFFCC"/>
                </a:solidFill>
                <a:effectLst>
                  <a:outerShdw blurRad="38100" dist="38100" dir="2700000" algn="tl">
                    <a:srgbClr val="000000"/>
                  </a:outerShdw>
                </a:effectLst>
                <a:latin typeface="Times New Roman" pitchFamily="18" charset="0"/>
              </a:rPr>
              <a:t>，</a:t>
            </a:r>
            <a:r>
              <a:rPr lang="en-US" altLang="zh-CN" sz="2400" dirty="0">
                <a:solidFill>
                  <a:srgbClr val="CCFFCC"/>
                </a:solidFill>
                <a:effectLst>
                  <a:outerShdw blurRad="38100" dist="38100" dir="2700000" algn="tl">
                    <a:srgbClr val="000000"/>
                  </a:outerShdw>
                </a:effectLst>
                <a:latin typeface="Times New Roman" pitchFamily="18" charset="0"/>
              </a:rPr>
              <a:t>AB→A</a:t>
            </a:r>
            <a:r>
              <a:rPr lang="zh-CN" altLang="en-US" sz="2400" dirty="0">
                <a:solidFill>
                  <a:srgbClr val="CCFFCC"/>
                </a:solidFill>
                <a:effectLst>
                  <a:outerShdw blurRad="38100" dist="38100" dir="2700000" algn="tl">
                    <a:srgbClr val="000000"/>
                  </a:outerShdw>
                </a:effectLst>
                <a:latin typeface="Times New Roman" pitchFamily="18" charset="0"/>
              </a:rPr>
              <a:t>，</a:t>
            </a:r>
            <a:r>
              <a:rPr lang="en-US" altLang="zh-CN" sz="2400" dirty="0">
                <a:solidFill>
                  <a:srgbClr val="CCFFCC"/>
                </a:solidFill>
                <a:effectLst>
                  <a:outerShdw blurRad="38100" dist="38100" dir="2700000" algn="tl">
                    <a:srgbClr val="000000"/>
                  </a:outerShdw>
                </a:effectLst>
                <a:latin typeface="Times New Roman" pitchFamily="18" charset="0"/>
              </a:rPr>
              <a:t>AC→A</a:t>
            </a:r>
            <a:r>
              <a:rPr lang="zh-CN" altLang="en-US" sz="2400" dirty="0">
                <a:solidFill>
                  <a:srgbClr val="CCFFCC"/>
                </a:solidFill>
                <a:effectLst>
                  <a:outerShdw blurRad="38100" dist="38100" dir="2700000" algn="tl">
                    <a:srgbClr val="000000"/>
                  </a:outerShdw>
                </a:effectLst>
                <a:latin typeface="Times New Roman" pitchFamily="18" charset="0"/>
              </a:rPr>
              <a:t>，</a:t>
            </a:r>
            <a:r>
              <a:rPr lang="en-US" altLang="zh-CN" sz="2400" dirty="0">
                <a:solidFill>
                  <a:srgbClr val="CCFFCC"/>
                </a:solidFill>
                <a:effectLst>
                  <a:outerShdw blurRad="38100" dist="38100" dir="2700000" algn="tl">
                    <a:srgbClr val="000000"/>
                  </a:outerShdw>
                </a:effectLst>
                <a:latin typeface="Times New Roman" pitchFamily="18" charset="0"/>
              </a:rPr>
              <a:t>ABC→A</a:t>
            </a:r>
            <a:r>
              <a:rPr lang="zh-CN" altLang="en-US" sz="2400" dirty="0">
                <a:solidFill>
                  <a:srgbClr val="CCFFCC"/>
                </a:solidFill>
                <a:effectLst>
                  <a:outerShdw blurRad="38100" dist="38100" dir="2700000" algn="tl">
                    <a:srgbClr val="000000"/>
                  </a:outerShdw>
                </a:effectLst>
                <a:latin typeface="Times New Roman" pitchFamily="18" charset="0"/>
              </a:rPr>
              <a:t>，</a:t>
            </a:r>
            <a:r>
              <a:rPr lang="en-US" altLang="zh-CN" sz="2400" dirty="0">
                <a:solidFill>
                  <a:srgbClr val="CCFFCC"/>
                </a:solidFill>
                <a:effectLst>
                  <a:outerShdw blurRad="38100" dist="38100" dir="2700000" algn="tl">
                    <a:srgbClr val="000000"/>
                  </a:outerShdw>
                </a:effectLst>
                <a:latin typeface="Times New Roman" pitchFamily="18" charset="0"/>
              </a:rPr>
              <a:t>B→B</a:t>
            </a:r>
            <a:r>
              <a:rPr lang="zh-CN" altLang="en-US" sz="2400" dirty="0">
                <a:solidFill>
                  <a:srgbClr val="CCFFCC"/>
                </a:solidFill>
                <a:effectLst>
                  <a:outerShdw blurRad="38100" dist="38100" dir="2700000" algn="tl">
                    <a:srgbClr val="000000"/>
                  </a:outerShdw>
                </a:effectLst>
                <a:latin typeface="Times New Roman" pitchFamily="18" charset="0"/>
              </a:rPr>
              <a:t>，</a:t>
            </a:r>
            <a:r>
              <a:rPr lang="en-US" altLang="zh-CN" sz="2400" dirty="0">
                <a:solidFill>
                  <a:srgbClr val="CCFFCC"/>
                </a:solidFill>
                <a:effectLst>
                  <a:outerShdw blurRad="38100" dist="38100" dir="2700000" algn="tl">
                    <a:srgbClr val="000000"/>
                  </a:outerShdw>
                </a:effectLst>
                <a:latin typeface="Times New Roman" pitchFamily="18" charset="0"/>
              </a:rPr>
              <a:t>C→C</a:t>
            </a:r>
            <a:r>
              <a:rPr lang="zh-CN" altLang="en-US" sz="2400" dirty="0">
                <a:solidFill>
                  <a:srgbClr val="CCFFCC"/>
                </a:solidFill>
                <a:effectLst>
                  <a:outerShdw blurRad="38100" dist="38100" dir="2700000" algn="tl">
                    <a:srgbClr val="000000"/>
                  </a:outerShdw>
                </a:effectLst>
                <a:latin typeface="Times New Roman" pitchFamily="18" charset="0"/>
              </a:rPr>
              <a:t>，</a:t>
            </a:r>
          </a:p>
          <a:p>
            <a:pPr>
              <a:spcBef>
                <a:spcPct val="20000"/>
              </a:spcBef>
              <a:spcAft>
                <a:spcPct val="0"/>
              </a:spcAft>
              <a:buSzTx/>
              <a:buFontTx/>
              <a:buNone/>
              <a:tabLst>
                <a:tab pos="715963" algn="l"/>
                <a:tab pos="1905000" algn="l"/>
              </a:tabLst>
              <a:defRPr/>
            </a:pPr>
            <a:r>
              <a:rPr lang="en-US" altLang="zh-CN" sz="2400" dirty="0">
                <a:solidFill>
                  <a:srgbClr val="CCFFCC"/>
                </a:solidFill>
                <a:effectLst>
                  <a:outerShdw blurRad="38100" dist="38100" dir="2700000" algn="tl">
                    <a:srgbClr val="000000"/>
                  </a:outerShdw>
                </a:effectLst>
                <a:latin typeface="Times New Roman" pitchFamily="18" charset="0"/>
              </a:rPr>
              <a:t>         A→B</a:t>
            </a:r>
            <a:r>
              <a:rPr lang="zh-CN" altLang="en-US" sz="2400" dirty="0">
                <a:solidFill>
                  <a:srgbClr val="CCFFCC"/>
                </a:solidFill>
                <a:effectLst>
                  <a:outerShdw blurRad="38100" dist="38100" dir="2700000" algn="tl">
                    <a:srgbClr val="000000"/>
                  </a:outerShdw>
                </a:effectLst>
                <a:latin typeface="Times New Roman" pitchFamily="18" charset="0"/>
              </a:rPr>
              <a:t>，</a:t>
            </a:r>
            <a:r>
              <a:rPr lang="en-US" altLang="zh-CN" sz="2400" dirty="0">
                <a:solidFill>
                  <a:srgbClr val="CCFFCC"/>
                </a:solidFill>
                <a:effectLst>
                  <a:outerShdw blurRad="38100" dist="38100" dir="2700000" algn="tl">
                    <a:srgbClr val="000000"/>
                  </a:outerShdw>
                </a:effectLst>
                <a:latin typeface="Times New Roman" pitchFamily="18" charset="0"/>
              </a:rPr>
              <a:t>AB→B</a:t>
            </a:r>
            <a:r>
              <a:rPr lang="zh-CN" altLang="en-US" sz="2400" dirty="0">
                <a:solidFill>
                  <a:srgbClr val="CCFFCC"/>
                </a:solidFill>
                <a:effectLst>
                  <a:outerShdw blurRad="38100" dist="38100" dir="2700000" algn="tl">
                    <a:srgbClr val="000000"/>
                  </a:outerShdw>
                </a:effectLst>
                <a:latin typeface="Times New Roman" pitchFamily="18" charset="0"/>
              </a:rPr>
              <a:t>，</a:t>
            </a:r>
            <a:r>
              <a:rPr lang="en-US" altLang="zh-CN" sz="2400" dirty="0">
                <a:solidFill>
                  <a:srgbClr val="CCFFCC"/>
                </a:solidFill>
                <a:effectLst>
                  <a:outerShdw blurRad="38100" dist="38100" dir="2700000" algn="tl">
                    <a:srgbClr val="000000"/>
                  </a:outerShdw>
                </a:effectLst>
                <a:latin typeface="Times New Roman" pitchFamily="18" charset="0"/>
              </a:rPr>
              <a:t>AC→B</a:t>
            </a:r>
            <a:r>
              <a:rPr lang="zh-CN" altLang="en-US" sz="2400" dirty="0">
                <a:solidFill>
                  <a:srgbClr val="CCFFCC"/>
                </a:solidFill>
                <a:effectLst>
                  <a:outerShdw blurRad="38100" dist="38100" dir="2700000" algn="tl">
                    <a:srgbClr val="000000"/>
                  </a:outerShdw>
                </a:effectLst>
                <a:latin typeface="Times New Roman" pitchFamily="18" charset="0"/>
              </a:rPr>
              <a:t>，</a:t>
            </a:r>
            <a:r>
              <a:rPr lang="en-US" altLang="zh-CN" sz="2400" dirty="0">
                <a:solidFill>
                  <a:srgbClr val="CCFFCC"/>
                </a:solidFill>
                <a:effectLst>
                  <a:outerShdw blurRad="38100" dist="38100" dir="2700000" algn="tl">
                    <a:srgbClr val="000000"/>
                  </a:outerShdw>
                </a:effectLst>
                <a:latin typeface="Times New Roman" pitchFamily="18" charset="0"/>
              </a:rPr>
              <a:t>ABC→B</a:t>
            </a:r>
            <a:r>
              <a:rPr lang="zh-CN" altLang="en-US" sz="2400" dirty="0">
                <a:solidFill>
                  <a:srgbClr val="CCFFCC"/>
                </a:solidFill>
                <a:effectLst>
                  <a:outerShdw blurRad="38100" dist="38100" dir="2700000" algn="tl">
                    <a:srgbClr val="000000"/>
                  </a:outerShdw>
                </a:effectLst>
                <a:latin typeface="Times New Roman" pitchFamily="18" charset="0"/>
              </a:rPr>
              <a:t>，</a:t>
            </a:r>
            <a:r>
              <a:rPr lang="en-US" altLang="zh-CN" sz="2400" dirty="0">
                <a:solidFill>
                  <a:srgbClr val="CCFFCC"/>
                </a:solidFill>
                <a:effectLst>
                  <a:outerShdw blurRad="38100" dist="38100" dir="2700000" algn="tl">
                    <a:srgbClr val="000000"/>
                  </a:outerShdw>
                </a:effectLst>
                <a:latin typeface="Times New Roman" pitchFamily="18" charset="0"/>
              </a:rPr>
              <a:t>B→C</a:t>
            </a:r>
            <a:r>
              <a:rPr lang="zh-CN" altLang="en-US" sz="2400" dirty="0">
                <a:solidFill>
                  <a:srgbClr val="CCFFCC"/>
                </a:solidFill>
                <a:effectLst>
                  <a:outerShdw blurRad="38100" dist="38100" dir="2700000" algn="tl">
                    <a:srgbClr val="000000"/>
                  </a:outerShdw>
                </a:effectLst>
                <a:latin typeface="Times New Roman" pitchFamily="18" charset="0"/>
              </a:rPr>
              <a:t>，</a:t>
            </a:r>
          </a:p>
          <a:p>
            <a:pPr>
              <a:spcBef>
                <a:spcPct val="20000"/>
              </a:spcBef>
              <a:spcAft>
                <a:spcPct val="0"/>
              </a:spcAft>
              <a:buSzTx/>
              <a:buFontTx/>
              <a:buNone/>
              <a:tabLst>
                <a:tab pos="715963" algn="l"/>
                <a:tab pos="1905000" algn="l"/>
              </a:tabLst>
              <a:defRPr/>
            </a:pPr>
            <a:r>
              <a:rPr lang="en-US" altLang="zh-CN" sz="2400" dirty="0">
                <a:solidFill>
                  <a:srgbClr val="CCFFCC"/>
                </a:solidFill>
                <a:effectLst>
                  <a:outerShdw blurRad="38100" dist="38100" dir="2700000" algn="tl">
                    <a:srgbClr val="000000"/>
                  </a:outerShdw>
                </a:effectLst>
                <a:latin typeface="Times New Roman" pitchFamily="18" charset="0"/>
              </a:rPr>
              <a:t>         A→C</a:t>
            </a:r>
            <a:r>
              <a:rPr lang="zh-CN" altLang="en-US" sz="2400" dirty="0">
                <a:solidFill>
                  <a:srgbClr val="CCFFCC"/>
                </a:solidFill>
                <a:effectLst>
                  <a:outerShdw blurRad="38100" dist="38100" dir="2700000" algn="tl">
                    <a:srgbClr val="000000"/>
                  </a:outerShdw>
                </a:effectLst>
                <a:latin typeface="Times New Roman" pitchFamily="18" charset="0"/>
              </a:rPr>
              <a:t>，</a:t>
            </a:r>
            <a:r>
              <a:rPr lang="en-US" altLang="zh-CN" sz="2400" dirty="0">
                <a:solidFill>
                  <a:srgbClr val="CCFFCC"/>
                </a:solidFill>
                <a:effectLst>
                  <a:outerShdw blurRad="38100" dist="38100" dir="2700000" algn="tl">
                    <a:srgbClr val="000000"/>
                  </a:outerShdw>
                </a:effectLst>
                <a:latin typeface="Times New Roman" pitchFamily="18" charset="0"/>
              </a:rPr>
              <a:t>AB→C</a:t>
            </a:r>
            <a:r>
              <a:rPr lang="zh-CN" altLang="en-US" sz="2400" dirty="0">
                <a:solidFill>
                  <a:srgbClr val="CCFFCC"/>
                </a:solidFill>
                <a:effectLst>
                  <a:outerShdw blurRad="38100" dist="38100" dir="2700000" algn="tl">
                    <a:srgbClr val="000000"/>
                  </a:outerShdw>
                </a:effectLst>
                <a:latin typeface="Times New Roman" pitchFamily="18" charset="0"/>
              </a:rPr>
              <a:t>，</a:t>
            </a:r>
            <a:r>
              <a:rPr lang="en-US" altLang="zh-CN" sz="2400" dirty="0">
                <a:solidFill>
                  <a:srgbClr val="CCFFCC"/>
                </a:solidFill>
                <a:effectLst>
                  <a:outerShdw blurRad="38100" dist="38100" dir="2700000" algn="tl">
                    <a:srgbClr val="000000"/>
                  </a:outerShdw>
                </a:effectLst>
                <a:latin typeface="Times New Roman" pitchFamily="18" charset="0"/>
              </a:rPr>
              <a:t>AC→C</a:t>
            </a:r>
            <a:r>
              <a:rPr lang="zh-CN" altLang="en-US" sz="2400" dirty="0">
                <a:solidFill>
                  <a:srgbClr val="CCFFCC"/>
                </a:solidFill>
                <a:effectLst>
                  <a:outerShdw blurRad="38100" dist="38100" dir="2700000" algn="tl">
                    <a:srgbClr val="000000"/>
                  </a:outerShdw>
                </a:effectLst>
                <a:latin typeface="Times New Roman" pitchFamily="18" charset="0"/>
              </a:rPr>
              <a:t>，</a:t>
            </a:r>
            <a:r>
              <a:rPr lang="en-US" altLang="zh-CN" sz="2400" dirty="0">
                <a:solidFill>
                  <a:srgbClr val="CCFFCC"/>
                </a:solidFill>
                <a:effectLst>
                  <a:outerShdw blurRad="38100" dist="38100" dir="2700000" algn="tl">
                    <a:srgbClr val="000000"/>
                  </a:outerShdw>
                </a:effectLst>
                <a:latin typeface="Times New Roman" pitchFamily="18" charset="0"/>
              </a:rPr>
              <a:t>ABC→C</a:t>
            </a:r>
            <a:r>
              <a:rPr lang="zh-CN" altLang="en-US" sz="2400" dirty="0">
                <a:solidFill>
                  <a:srgbClr val="CCFFCC"/>
                </a:solidFill>
                <a:effectLst>
                  <a:outerShdw blurRad="38100" dist="38100" dir="2700000" algn="tl">
                    <a:srgbClr val="000000"/>
                  </a:outerShdw>
                </a:effectLst>
                <a:latin typeface="Times New Roman" pitchFamily="18" charset="0"/>
              </a:rPr>
              <a:t>，</a:t>
            </a:r>
            <a:r>
              <a:rPr lang="en-US" altLang="zh-CN" sz="2400" dirty="0">
                <a:solidFill>
                  <a:srgbClr val="CCFFCC"/>
                </a:solidFill>
                <a:effectLst>
                  <a:outerShdw blurRad="38100" dist="38100" dir="2700000" algn="tl">
                    <a:srgbClr val="000000"/>
                  </a:outerShdw>
                </a:effectLst>
                <a:latin typeface="Times New Roman" pitchFamily="18" charset="0"/>
              </a:rPr>
              <a:t>B→BC</a:t>
            </a:r>
            <a:r>
              <a:rPr lang="zh-CN" altLang="en-US" sz="2400" dirty="0">
                <a:solidFill>
                  <a:srgbClr val="CCFFCC"/>
                </a:solidFill>
                <a:effectLst>
                  <a:outerShdw blurRad="38100" dist="38100" dir="2700000" algn="tl">
                    <a:srgbClr val="000000"/>
                  </a:outerShdw>
                </a:effectLst>
                <a:latin typeface="Times New Roman" pitchFamily="18" charset="0"/>
              </a:rPr>
              <a:t>，</a:t>
            </a:r>
          </a:p>
          <a:p>
            <a:pPr>
              <a:spcBef>
                <a:spcPct val="20000"/>
              </a:spcBef>
              <a:spcAft>
                <a:spcPct val="0"/>
              </a:spcAft>
              <a:buSzTx/>
              <a:buFontTx/>
              <a:buNone/>
              <a:tabLst>
                <a:tab pos="715963" algn="l"/>
                <a:tab pos="1905000" algn="l"/>
              </a:tabLst>
              <a:defRPr/>
            </a:pPr>
            <a:r>
              <a:rPr lang="en-US" altLang="zh-CN" sz="2400" dirty="0">
                <a:solidFill>
                  <a:srgbClr val="CCFFCC"/>
                </a:solidFill>
                <a:effectLst>
                  <a:outerShdw blurRad="38100" dist="38100" dir="2700000" algn="tl">
                    <a:srgbClr val="000000"/>
                  </a:outerShdw>
                </a:effectLst>
                <a:latin typeface="Times New Roman" pitchFamily="18" charset="0"/>
              </a:rPr>
              <a:t>         A→AB</a:t>
            </a:r>
            <a:r>
              <a:rPr lang="zh-CN" altLang="en-US" sz="2400" dirty="0">
                <a:solidFill>
                  <a:srgbClr val="CCFFCC"/>
                </a:solidFill>
                <a:effectLst>
                  <a:outerShdw blurRad="38100" dist="38100" dir="2700000" algn="tl">
                    <a:srgbClr val="000000"/>
                  </a:outerShdw>
                </a:effectLst>
                <a:latin typeface="Times New Roman" pitchFamily="18" charset="0"/>
              </a:rPr>
              <a:t>，</a:t>
            </a:r>
            <a:r>
              <a:rPr lang="en-US" altLang="zh-CN" sz="2400" dirty="0">
                <a:solidFill>
                  <a:srgbClr val="CCFFCC"/>
                </a:solidFill>
                <a:effectLst>
                  <a:outerShdw blurRad="38100" dist="38100" dir="2700000" algn="tl">
                    <a:srgbClr val="000000"/>
                  </a:outerShdw>
                </a:effectLst>
                <a:latin typeface="Times New Roman" pitchFamily="18" charset="0"/>
              </a:rPr>
              <a:t>AB→AB</a:t>
            </a:r>
            <a:r>
              <a:rPr lang="zh-CN" altLang="en-US" sz="2400" dirty="0">
                <a:solidFill>
                  <a:srgbClr val="CCFFCC"/>
                </a:solidFill>
                <a:effectLst>
                  <a:outerShdw blurRad="38100" dist="38100" dir="2700000" algn="tl">
                    <a:srgbClr val="000000"/>
                  </a:outerShdw>
                </a:effectLst>
                <a:latin typeface="Times New Roman" pitchFamily="18" charset="0"/>
              </a:rPr>
              <a:t>，</a:t>
            </a:r>
            <a:r>
              <a:rPr lang="en-US" altLang="zh-CN" sz="2400" dirty="0">
                <a:solidFill>
                  <a:srgbClr val="CCFFCC"/>
                </a:solidFill>
                <a:effectLst>
                  <a:outerShdw blurRad="38100" dist="38100" dir="2700000" algn="tl">
                    <a:srgbClr val="000000"/>
                  </a:outerShdw>
                </a:effectLst>
                <a:latin typeface="Times New Roman" pitchFamily="18" charset="0"/>
              </a:rPr>
              <a:t>AC→AB</a:t>
            </a:r>
            <a:r>
              <a:rPr lang="zh-CN" altLang="en-US" sz="2400" dirty="0">
                <a:solidFill>
                  <a:srgbClr val="CCFFCC"/>
                </a:solidFill>
                <a:effectLst>
                  <a:outerShdw blurRad="38100" dist="38100" dir="2700000" algn="tl">
                    <a:srgbClr val="000000"/>
                  </a:outerShdw>
                </a:effectLst>
                <a:latin typeface="Times New Roman" pitchFamily="18" charset="0"/>
              </a:rPr>
              <a:t>，</a:t>
            </a:r>
            <a:r>
              <a:rPr lang="en-US" altLang="zh-CN" sz="2400" dirty="0">
                <a:solidFill>
                  <a:srgbClr val="CCFFCC"/>
                </a:solidFill>
                <a:effectLst>
                  <a:outerShdw blurRad="38100" dist="38100" dir="2700000" algn="tl">
                    <a:srgbClr val="000000"/>
                  </a:outerShdw>
                </a:effectLst>
                <a:latin typeface="Times New Roman" pitchFamily="18" charset="0"/>
              </a:rPr>
              <a:t>ABC→AB</a:t>
            </a:r>
            <a:r>
              <a:rPr lang="zh-CN" altLang="en-US" sz="2400" dirty="0">
                <a:solidFill>
                  <a:srgbClr val="CCFFCC"/>
                </a:solidFill>
                <a:effectLst>
                  <a:outerShdw blurRad="38100" dist="38100" dir="2700000" algn="tl">
                    <a:srgbClr val="000000"/>
                  </a:outerShdw>
                </a:effectLst>
                <a:latin typeface="Times New Roman" pitchFamily="18" charset="0"/>
              </a:rPr>
              <a:t>，</a:t>
            </a:r>
            <a:r>
              <a:rPr lang="en-US" altLang="zh-CN" sz="2400" dirty="0">
                <a:solidFill>
                  <a:srgbClr val="CCFFCC"/>
                </a:solidFill>
                <a:effectLst>
                  <a:outerShdw blurRad="38100" dist="38100" dir="2700000" algn="tl">
                    <a:srgbClr val="000000"/>
                  </a:outerShdw>
                </a:effectLst>
                <a:latin typeface="Times New Roman" pitchFamily="18" charset="0"/>
              </a:rPr>
              <a:t>BC→Φ</a:t>
            </a:r>
            <a:r>
              <a:rPr lang="zh-CN" altLang="en-US" sz="2400" dirty="0">
                <a:solidFill>
                  <a:srgbClr val="CCFFCC"/>
                </a:solidFill>
                <a:effectLst>
                  <a:outerShdw blurRad="38100" dist="38100" dir="2700000" algn="tl">
                    <a:srgbClr val="000000"/>
                  </a:outerShdw>
                </a:effectLst>
                <a:latin typeface="Times New Roman" pitchFamily="18" charset="0"/>
              </a:rPr>
              <a:t>，</a:t>
            </a:r>
          </a:p>
          <a:p>
            <a:pPr>
              <a:spcBef>
                <a:spcPct val="20000"/>
              </a:spcBef>
              <a:spcAft>
                <a:spcPct val="0"/>
              </a:spcAft>
              <a:buSzTx/>
              <a:buFontTx/>
              <a:buNone/>
              <a:tabLst>
                <a:tab pos="715963" algn="l"/>
                <a:tab pos="1905000" algn="l"/>
              </a:tabLst>
              <a:defRPr/>
            </a:pPr>
            <a:r>
              <a:rPr lang="en-US" altLang="zh-CN" sz="2400" dirty="0">
                <a:solidFill>
                  <a:srgbClr val="CCFFCC"/>
                </a:solidFill>
                <a:effectLst>
                  <a:outerShdw blurRad="38100" dist="38100" dir="2700000" algn="tl">
                    <a:srgbClr val="000000"/>
                  </a:outerShdw>
                </a:effectLst>
                <a:latin typeface="Times New Roman" pitchFamily="18" charset="0"/>
              </a:rPr>
              <a:t>        A→AC</a:t>
            </a:r>
            <a:r>
              <a:rPr lang="zh-CN" altLang="en-US" sz="2400" dirty="0">
                <a:solidFill>
                  <a:srgbClr val="CCFFCC"/>
                </a:solidFill>
                <a:effectLst>
                  <a:outerShdw blurRad="38100" dist="38100" dir="2700000" algn="tl">
                    <a:srgbClr val="000000"/>
                  </a:outerShdw>
                </a:effectLst>
                <a:latin typeface="Times New Roman" pitchFamily="18" charset="0"/>
              </a:rPr>
              <a:t>，</a:t>
            </a:r>
            <a:r>
              <a:rPr lang="en-US" altLang="zh-CN" sz="2400" dirty="0">
                <a:solidFill>
                  <a:srgbClr val="CCFFCC"/>
                </a:solidFill>
                <a:effectLst>
                  <a:outerShdw blurRad="38100" dist="38100" dir="2700000" algn="tl">
                    <a:srgbClr val="000000"/>
                  </a:outerShdw>
                </a:effectLst>
                <a:latin typeface="Times New Roman" pitchFamily="18" charset="0"/>
              </a:rPr>
              <a:t>AB→AC</a:t>
            </a:r>
            <a:r>
              <a:rPr lang="zh-CN" altLang="en-US" sz="2400" dirty="0">
                <a:solidFill>
                  <a:srgbClr val="CCFFCC"/>
                </a:solidFill>
                <a:effectLst>
                  <a:outerShdw blurRad="38100" dist="38100" dir="2700000" algn="tl">
                    <a:srgbClr val="000000"/>
                  </a:outerShdw>
                </a:effectLst>
                <a:latin typeface="Times New Roman" pitchFamily="18" charset="0"/>
              </a:rPr>
              <a:t>，</a:t>
            </a:r>
            <a:r>
              <a:rPr lang="en-US" altLang="zh-CN" sz="2400" dirty="0">
                <a:solidFill>
                  <a:srgbClr val="CCFFCC"/>
                </a:solidFill>
                <a:effectLst>
                  <a:outerShdw blurRad="38100" dist="38100" dir="2700000" algn="tl">
                    <a:srgbClr val="000000"/>
                  </a:outerShdw>
                </a:effectLst>
                <a:latin typeface="Times New Roman" pitchFamily="18" charset="0"/>
              </a:rPr>
              <a:t>AC→AC</a:t>
            </a:r>
            <a:r>
              <a:rPr lang="zh-CN" altLang="en-US" sz="2400" dirty="0">
                <a:solidFill>
                  <a:srgbClr val="CCFFCC"/>
                </a:solidFill>
                <a:effectLst>
                  <a:outerShdw blurRad="38100" dist="38100" dir="2700000" algn="tl">
                    <a:srgbClr val="000000"/>
                  </a:outerShdw>
                </a:effectLst>
                <a:latin typeface="Times New Roman" pitchFamily="18" charset="0"/>
              </a:rPr>
              <a:t>，</a:t>
            </a:r>
            <a:r>
              <a:rPr lang="en-US" altLang="zh-CN" sz="2400" dirty="0">
                <a:solidFill>
                  <a:srgbClr val="CCFFCC"/>
                </a:solidFill>
                <a:effectLst>
                  <a:outerShdw blurRad="38100" dist="38100" dir="2700000" algn="tl">
                    <a:srgbClr val="000000"/>
                  </a:outerShdw>
                </a:effectLst>
                <a:latin typeface="Times New Roman" pitchFamily="18" charset="0"/>
              </a:rPr>
              <a:t>ABC→AC</a:t>
            </a:r>
            <a:r>
              <a:rPr lang="zh-CN" altLang="en-US" sz="2400" dirty="0">
                <a:solidFill>
                  <a:srgbClr val="CCFFCC"/>
                </a:solidFill>
                <a:effectLst>
                  <a:outerShdw blurRad="38100" dist="38100" dir="2700000" algn="tl">
                    <a:srgbClr val="000000"/>
                  </a:outerShdw>
                </a:effectLst>
                <a:latin typeface="Times New Roman" pitchFamily="18" charset="0"/>
              </a:rPr>
              <a:t>，</a:t>
            </a:r>
            <a:r>
              <a:rPr lang="en-US" altLang="zh-CN" sz="2400" dirty="0">
                <a:solidFill>
                  <a:srgbClr val="CCFFCC"/>
                </a:solidFill>
                <a:effectLst>
                  <a:outerShdw blurRad="38100" dist="38100" dir="2700000" algn="tl">
                    <a:srgbClr val="000000"/>
                  </a:outerShdw>
                </a:effectLst>
                <a:latin typeface="Times New Roman" pitchFamily="18" charset="0"/>
              </a:rPr>
              <a:t>BC→B</a:t>
            </a:r>
            <a:r>
              <a:rPr lang="zh-CN" altLang="en-US" sz="2400" dirty="0">
                <a:solidFill>
                  <a:srgbClr val="CCFFCC"/>
                </a:solidFill>
                <a:effectLst>
                  <a:outerShdw blurRad="38100" dist="38100" dir="2700000" algn="tl">
                    <a:srgbClr val="000000"/>
                  </a:outerShdw>
                </a:effectLst>
                <a:latin typeface="Times New Roman" pitchFamily="18" charset="0"/>
              </a:rPr>
              <a:t>，</a:t>
            </a:r>
          </a:p>
          <a:p>
            <a:pPr>
              <a:spcBef>
                <a:spcPct val="20000"/>
              </a:spcBef>
              <a:spcAft>
                <a:spcPct val="0"/>
              </a:spcAft>
              <a:buSzTx/>
              <a:buFontTx/>
              <a:buNone/>
              <a:tabLst>
                <a:tab pos="715963" algn="l"/>
                <a:tab pos="1905000" algn="l"/>
              </a:tabLst>
              <a:defRPr/>
            </a:pPr>
            <a:r>
              <a:rPr lang="en-US" altLang="zh-CN" sz="2400" dirty="0">
                <a:solidFill>
                  <a:srgbClr val="CCFFCC"/>
                </a:solidFill>
                <a:effectLst>
                  <a:outerShdw blurRad="38100" dist="38100" dir="2700000" algn="tl">
                    <a:srgbClr val="000000"/>
                  </a:outerShdw>
                </a:effectLst>
                <a:latin typeface="Times New Roman" pitchFamily="18" charset="0"/>
              </a:rPr>
              <a:t>        A→BC</a:t>
            </a:r>
            <a:r>
              <a:rPr lang="zh-CN" altLang="en-US" sz="2400" dirty="0">
                <a:solidFill>
                  <a:srgbClr val="CCFFCC"/>
                </a:solidFill>
                <a:effectLst>
                  <a:outerShdw blurRad="38100" dist="38100" dir="2700000" algn="tl">
                    <a:srgbClr val="000000"/>
                  </a:outerShdw>
                </a:effectLst>
                <a:latin typeface="Times New Roman" pitchFamily="18" charset="0"/>
              </a:rPr>
              <a:t>，</a:t>
            </a:r>
            <a:r>
              <a:rPr lang="en-US" altLang="zh-CN" sz="2400" dirty="0">
                <a:solidFill>
                  <a:srgbClr val="CCFFCC"/>
                </a:solidFill>
                <a:effectLst>
                  <a:outerShdw blurRad="38100" dist="38100" dir="2700000" algn="tl">
                    <a:srgbClr val="000000"/>
                  </a:outerShdw>
                </a:effectLst>
                <a:latin typeface="Times New Roman" pitchFamily="18" charset="0"/>
              </a:rPr>
              <a:t>AB→BC</a:t>
            </a:r>
            <a:r>
              <a:rPr lang="zh-CN" altLang="en-US" sz="2400" dirty="0">
                <a:solidFill>
                  <a:srgbClr val="CCFFCC"/>
                </a:solidFill>
                <a:effectLst>
                  <a:outerShdw blurRad="38100" dist="38100" dir="2700000" algn="tl">
                    <a:srgbClr val="000000"/>
                  </a:outerShdw>
                </a:effectLst>
                <a:latin typeface="Times New Roman" pitchFamily="18" charset="0"/>
              </a:rPr>
              <a:t>，</a:t>
            </a:r>
            <a:r>
              <a:rPr lang="en-US" altLang="zh-CN" sz="2400" dirty="0">
                <a:solidFill>
                  <a:srgbClr val="CCFFCC"/>
                </a:solidFill>
                <a:effectLst>
                  <a:outerShdw blurRad="38100" dist="38100" dir="2700000" algn="tl">
                    <a:srgbClr val="000000"/>
                  </a:outerShdw>
                </a:effectLst>
                <a:latin typeface="Times New Roman" pitchFamily="18" charset="0"/>
              </a:rPr>
              <a:t>AC→BC</a:t>
            </a:r>
            <a:r>
              <a:rPr lang="zh-CN" altLang="en-US" sz="2400" dirty="0">
                <a:solidFill>
                  <a:srgbClr val="CCFFCC"/>
                </a:solidFill>
                <a:effectLst>
                  <a:outerShdw blurRad="38100" dist="38100" dir="2700000" algn="tl">
                    <a:srgbClr val="000000"/>
                  </a:outerShdw>
                </a:effectLst>
                <a:latin typeface="Times New Roman" pitchFamily="18" charset="0"/>
              </a:rPr>
              <a:t>，</a:t>
            </a:r>
            <a:r>
              <a:rPr lang="en-US" altLang="zh-CN" sz="2400" dirty="0">
                <a:solidFill>
                  <a:srgbClr val="CCFFCC"/>
                </a:solidFill>
                <a:effectLst>
                  <a:outerShdw blurRad="38100" dist="38100" dir="2700000" algn="tl">
                    <a:srgbClr val="000000"/>
                  </a:outerShdw>
                </a:effectLst>
                <a:latin typeface="Times New Roman" pitchFamily="18" charset="0"/>
              </a:rPr>
              <a:t>ABC→BC</a:t>
            </a:r>
            <a:r>
              <a:rPr lang="zh-CN" altLang="en-US" sz="2400" dirty="0">
                <a:solidFill>
                  <a:srgbClr val="CCFFCC"/>
                </a:solidFill>
                <a:effectLst>
                  <a:outerShdw blurRad="38100" dist="38100" dir="2700000" algn="tl">
                    <a:srgbClr val="000000"/>
                  </a:outerShdw>
                </a:effectLst>
                <a:latin typeface="Times New Roman" pitchFamily="18" charset="0"/>
              </a:rPr>
              <a:t>，</a:t>
            </a:r>
            <a:r>
              <a:rPr lang="en-US" altLang="zh-CN" sz="2400" dirty="0">
                <a:solidFill>
                  <a:srgbClr val="CCFFCC"/>
                </a:solidFill>
                <a:effectLst>
                  <a:outerShdw blurRad="38100" dist="38100" dir="2700000" algn="tl">
                    <a:srgbClr val="000000"/>
                  </a:outerShdw>
                </a:effectLst>
                <a:latin typeface="Times New Roman" pitchFamily="18" charset="0"/>
              </a:rPr>
              <a:t>BC→C</a:t>
            </a:r>
            <a:r>
              <a:rPr lang="zh-CN" altLang="en-US" sz="2400" dirty="0">
                <a:solidFill>
                  <a:srgbClr val="CCFFCC"/>
                </a:solidFill>
                <a:effectLst>
                  <a:outerShdw blurRad="38100" dist="38100" dir="2700000" algn="tl">
                    <a:srgbClr val="000000"/>
                  </a:outerShdw>
                </a:effectLst>
                <a:latin typeface="Times New Roman" pitchFamily="18" charset="0"/>
              </a:rPr>
              <a:t>，</a:t>
            </a:r>
          </a:p>
          <a:p>
            <a:pPr>
              <a:spcBef>
                <a:spcPct val="20000"/>
              </a:spcBef>
              <a:spcAft>
                <a:spcPct val="0"/>
              </a:spcAft>
              <a:buSzTx/>
              <a:buFontTx/>
              <a:buNone/>
              <a:tabLst>
                <a:tab pos="715963" algn="l"/>
                <a:tab pos="1905000" algn="l"/>
              </a:tabLst>
              <a:defRPr/>
            </a:pPr>
            <a:r>
              <a:rPr lang="en-US" altLang="zh-CN" sz="2400" dirty="0">
                <a:solidFill>
                  <a:srgbClr val="CCFFCC"/>
                </a:solidFill>
                <a:effectLst>
                  <a:outerShdw blurRad="38100" dist="38100" dir="2700000" algn="tl">
                    <a:srgbClr val="000000"/>
                  </a:outerShdw>
                </a:effectLst>
                <a:latin typeface="Times New Roman" pitchFamily="18" charset="0"/>
              </a:rPr>
              <a:t>        A→ABC</a:t>
            </a:r>
            <a:r>
              <a:rPr lang="zh-CN" altLang="en-US" sz="2400" dirty="0">
                <a:solidFill>
                  <a:srgbClr val="CCFFCC"/>
                </a:solidFill>
                <a:effectLst>
                  <a:outerShdw blurRad="38100" dist="38100" dir="2700000" algn="tl">
                    <a:srgbClr val="000000"/>
                  </a:outerShdw>
                </a:effectLst>
                <a:latin typeface="Times New Roman" pitchFamily="18" charset="0"/>
              </a:rPr>
              <a:t>，</a:t>
            </a:r>
            <a:r>
              <a:rPr lang="en-US" altLang="zh-CN" sz="2400" dirty="0">
                <a:solidFill>
                  <a:srgbClr val="CCFFCC"/>
                </a:solidFill>
                <a:effectLst>
                  <a:outerShdw blurRad="38100" dist="38100" dir="2700000" algn="tl">
                    <a:srgbClr val="000000"/>
                  </a:outerShdw>
                </a:effectLst>
                <a:latin typeface="Times New Roman" pitchFamily="18" charset="0"/>
              </a:rPr>
              <a:t>AB→ABC</a:t>
            </a:r>
            <a:r>
              <a:rPr lang="zh-CN" altLang="en-US" sz="2400" dirty="0">
                <a:solidFill>
                  <a:srgbClr val="CCFFCC"/>
                </a:solidFill>
                <a:effectLst>
                  <a:outerShdw blurRad="38100" dist="38100" dir="2700000" algn="tl">
                    <a:srgbClr val="000000"/>
                  </a:outerShdw>
                </a:effectLst>
                <a:latin typeface="Times New Roman" pitchFamily="18" charset="0"/>
              </a:rPr>
              <a:t>，</a:t>
            </a:r>
            <a:r>
              <a:rPr lang="en-US" altLang="zh-CN" sz="2400" dirty="0">
                <a:solidFill>
                  <a:srgbClr val="CCFFCC"/>
                </a:solidFill>
                <a:effectLst>
                  <a:outerShdw blurRad="38100" dist="38100" dir="2700000" algn="tl">
                    <a:srgbClr val="000000"/>
                  </a:outerShdw>
                </a:effectLst>
                <a:latin typeface="Times New Roman" pitchFamily="18" charset="0"/>
              </a:rPr>
              <a:t>AC→ABC</a:t>
            </a:r>
            <a:r>
              <a:rPr lang="zh-CN" altLang="en-US" sz="2400" dirty="0">
                <a:solidFill>
                  <a:srgbClr val="CCFFCC"/>
                </a:solidFill>
                <a:effectLst>
                  <a:outerShdw blurRad="38100" dist="38100" dir="2700000" algn="tl">
                    <a:srgbClr val="000000"/>
                  </a:outerShdw>
                </a:effectLst>
                <a:latin typeface="Times New Roman" pitchFamily="18" charset="0"/>
              </a:rPr>
              <a:t>，</a:t>
            </a:r>
            <a:r>
              <a:rPr lang="en-US" altLang="zh-CN" sz="2400" dirty="0">
                <a:solidFill>
                  <a:srgbClr val="CCFFCC"/>
                </a:solidFill>
                <a:effectLst>
                  <a:outerShdw blurRad="38100" dist="38100" dir="2700000" algn="tl">
                    <a:srgbClr val="000000"/>
                  </a:outerShdw>
                </a:effectLst>
                <a:latin typeface="Times New Roman" pitchFamily="18" charset="0"/>
              </a:rPr>
              <a:t>ABC→A</a:t>
            </a:r>
            <a:r>
              <a:rPr lang="zh-CN" altLang="en-US" sz="2400" dirty="0">
                <a:solidFill>
                  <a:srgbClr val="CCFFCC"/>
                </a:solidFill>
                <a:effectLst>
                  <a:outerShdw blurRad="38100" dist="38100" dir="2700000" algn="tl">
                    <a:srgbClr val="000000"/>
                  </a:outerShdw>
                </a:effectLst>
                <a:latin typeface="Times New Roman" pitchFamily="18" charset="0"/>
              </a:rPr>
              <a:t>，</a:t>
            </a:r>
            <a:r>
              <a:rPr lang="en-US" altLang="zh-CN" sz="2400" dirty="0">
                <a:solidFill>
                  <a:srgbClr val="CCFFCC"/>
                </a:solidFill>
                <a:effectLst>
                  <a:outerShdw blurRad="38100" dist="38100" dir="2700000" algn="tl">
                    <a:srgbClr val="000000"/>
                  </a:outerShdw>
                </a:effectLst>
                <a:latin typeface="Times New Roman" pitchFamily="18" charset="0"/>
              </a:rPr>
              <a:t>BC→BC</a:t>
            </a:r>
            <a:r>
              <a:rPr lang="en-US" altLang="zh-CN" sz="2800" dirty="0">
                <a:solidFill>
                  <a:srgbClr val="CCFFCC"/>
                </a:solidFill>
                <a:effectLst>
                  <a:outerShdw blurRad="38100" dist="38100" dir="2700000" algn="tl">
                    <a:srgbClr val="000000"/>
                  </a:outerShdw>
                </a:effectLst>
                <a:latin typeface="Times New Roman" pitchFamily="18" charset="0"/>
              </a:rPr>
              <a:t>}</a:t>
            </a:r>
          </a:p>
        </p:txBody>
      </p:sp>
      <p:sp>
        <p:nvSpPr>
          <p:cNvPr id="7" name="Text Box 2"/>
          <p:cNvSpPr txBox="1">
            <a:spLocks noChangeArrowheads="1"/>
          </p:cNvSpPr>
          <p:nvPr/>
        </p:nvSpPr>
        <p:spPr bwMode="auto">
          <a:xfrm>
            <a:off x="179388" y="-27613"/>
            <a:ext cx="5400675" cy="760959"/>
          </a:xfrm>
          <a:prstGeom prst="rect">
            <a:avLst/>
          </a:prstGeom>
          <a:noFill/>
          <a:ln w="12700" cap="sq">
            <a:noFill/>
            <a:miter lim="800000"/>
            <a:headEnd/>
            <a:tailEnd/>
          </a:ln>
          <a:effectLst>
            <a:outerShdw dist="35921" dir="2700000" algn="ctr" rotWithShape="0">
              <a:schemeClr val="bg2"/>
            </a:outerShdw>
          </a:effectLst>
        </p:spPr>
        <p:txBody>
          <a:bodyPr wrap="square" lIns="72000" tIns="72000" rIns="72000" bIns="72000">
            <a:spAutoFit/>
          </a:bodyPr>
          <a:lstStyle>
            <a:defPPr>
              <a:defRPr lang="en-US"/>
            </a:defPPr>
            <a:lvl1pPr>
              <a:spcBef>
                <a:spcPts val="0"/>
              </a:spcBef>
              <a:defRPr sz="4000" b="1">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r>
              <a:rPr lang="zh-CN" altLang="zh-CN" dirty="0">
                <a:latin typeface="微软雅黑" panose="020B0503020204020204" pitchFamily="34" charset="-122"/>
              </a:rPr>
              <a:t>Armstrong公理系统</a:t>
            </a:r>
            <a:endParaRPr lang="zh-CN" altLang="en-US" dirty="0"/>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type="title"/>
          </p:nvPr>
        </p:nvSpPr>
        <p:spPr>
          <a:xfrm>
            <a:off x="62129" y="0"/>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pPr>
            <a:r>
              <a:rPr kumimoji="1" lang="zh-CN" altLang="en-US" sz="4000" b="1" kern="1200" dirty="0">
                <a:solidFill>
                  <a:srgbClr val="FFFFCC"/>
                </a:solidFill>
                <a:effectLst>
                  <a:outerShdw blurRad="38100" dist="38100" dir="2700000" algn="tl">
                    <a:srgbClr val="000000"/>
                  </a:outerShdw>
                </a:effectLst>
                <a:latin typeface="微软雅黑" panose="020B0503020204020204" pitchFamily="34" charset="-122"/>
                <a:ea typeface="微软雅黑" pitchFamily="34" charset="-122"/>
              </a:rPr>
              <a:t>属性集闭包</a:t>
            </a:r>
            <a:endParaRPr kumimoji="1" lang="en-US" altLang="zh-CN" sz="4000" b="1" kern="1200" dirty="0">
              <a:solidFill>
                <a:srgbClr val="FFFFCC"/>
              </a:solidFill>
              <a:effectLst>
                <a:outerShdw blurRad="38100" dist="38100" dir="2700000" algn="tl">
                  <a:srgbClr val="000000"/>
                </a:outerShdw>
              </a:effectLst>
              <a:latin typeface="微软雅黑" panose="020B0503020204020204" pitchFamily="34" charset="-122"/>
              <a:ea typeface="微软雅黑" pitchFamily="34" charset="-122"/>
            </a:endParaRPr>
          </a:p>
        </p:txBody>
      </p:sp>
      <p:sp>
        <p:nvSpPr>
          <p:cNvPr id="1497092" name="Text Box 4"/>
          <p:cNvSpPr txBox="1">
            <a:spLocks noChangeArrowheads="1"/>
          </p:cNvSpPr>
          <p:nvPr/>
        </p:nvSpPr>
        <p:spPr bwMode="auto">
          <a:xfrm>
            <a:off x="395536" y="1268760"/>
            <a:ext cx="8382000" cy="1143000"/>
          </a:xfrm>
          <a:prstGeom prst="rect">
            <a:avLst/>
          </a:prstGeom>
          <a:noFill/>
          <a:ln w="12700" cap="sq">
            <a:noFill/>
            <a:miter lim="800000"/>
            <a:headEnd type="none" w="sm" len="sm"/>
            <a:tailEnd type="none" w="sm" len="sm"/>
          </a:ln>
          <a:effectLst/>
        </p:spPr>
        <p:txBody>
          <a:bodyPr/>
          <a:lstStyle/>
          <a:p>
            <a:pPr>
              <a:spcAft>
                <a:spcPct val="0"/>
              </a:spcAft>
              <a:tabLst>
                <a:tab pos="715963" algn="l"/>
                <a:tab pos="1905000" algn="l"/>
              </a:tabLst>
              <a:defRPr/>
            </a:pPr>
            <a:r>
              <a:rPr lang="zh-CN" altLang="en-US" sz="2800" dirty="0">
                <a:solidFill>
                  <a:srgbClr val="CCFFCC"/>
                </a:solidFill>
                <a:effectLst>
                  <a:outerShdw blurRad="38100" dist="38100" dir="2700000" algn="tl">
                    <a:srgbClr val="000000"/>
                  </a:outerShdw>
                </a:effectLst>
              </a:rPr>
              <a:t>对于关系模式</a:t>
            </a:r>
            <a:r>
              <a:rPr lang="en-US" altLang="zh-CN" sz="2800" dirty="0">
                <a:solidFill>
                  <a:srgbClr val="CCFFCC"/>
                </a:solidFill>
                <a:effectLst>
                  <a:outerShdw blurRad="38100" dist="38100" dir="2700000" algn="tl">
                    <a:srgbClr val="000000"/>
                  </a:outerShdw>
                </a:effectLst>
              </a:rPr>
              <a:t>R(U,F)</a:t>
            </a:r>
            <a:r>
              <a:rPr lang="zh-CN" altLang="en-US" sz="2800" dirty="0">
                <a:solidFill>
                  <a:srgbClr val="CCFFCC"/>
                </a:solidFill>
                <a:effectLst>
                  <a:outerShdw blurRad="38100" dist="38100" dir="2700000" algn="tl">
                    <a:srgbClr val="000000"/>
                  </a:outerShdw>
                </a:effectLst>
              </a:rPr>
              <a:t>，</a:t>
            </a:r>
            <a:r>
              <a:rPr lang="en-US" altLang="zh-CN" sz="2800" dirty="0">
                <a:solidFill>
                  <a:srgbClr val="CCFFCC"/>
                </a:solidFill>
                <a:effectLst>
                  <a:outerShdw blurRad="38100" dist="38100" dir="2700000" algn="tl">
                    <a:srgbClr val="000000"/>
                  </a:outerShdw>
                </a:effectLst>
              </a:rPr>
              <a:t>X</a:t>
            </a:r>
            <a:r>
              <a:rPr lang="zh-CN" altLang="en-US" sz="2800" dirty="0">
                <a:solidFill>
                  <a:srgbClr val="CCFFCC"/>
                </a:solidFill>
                <a:effectLst>
                  <a:outerShdw blurRad="38100" dist="38100" dir="2700000" algn="tl">
                    <a:srgbClr val="000000"/>
                  </a:outerShdw>
                </a:effectLst>
                <a:sym typeface="Symbol" pitchFamily="18" charset="2"/>
              </a:rPr>
              <a:t></a:t>
            </a:r>
            <a:r>
              <a:rPr lang="en-US" altLang="zh-CN" sz="2800" dirty="0">
                <a:solidFill>
                  <a:srgbClr val="CCFFCC"/>
                </a:solidFill>
                <a:effectLst>
                  <a:outerShdw blurRad="38100" dist="38100" dir="2700000" algn="tl">
                    <a:srgbClr val="000000"/>
                  </a:outerShdw>
                </a:effectLst>
              </a:rPr>
              <a:t>U</a:t>
            </a:r>
            <a:r>
              <a:rPr lang="zh-CN" altLang="en-US" sz="2800" dirty="0">
                <a:solidFill>
                  <a:srgbClr val="CCFFCC"/>
                </a:solidFill>
                <a:effectLst>
                  <a:outerShdw blurRad="38100" dist="38100" dir="2700000" algn="tl">
                    <a:srgbClr val="000000"/>
                  </a:outerShdw>
                </a:effectLst>
              </a:rPr>
              <a:t>，</a:t>
            </a:r>
            <a:r>
              <a:rPr lang="en-US" altLang="zh-CN" sz="2800" dirty="0">
                <a:solidFill>
                  <a:srgbClr val="CCFFCC"/>
                </a:solidFill>
                <a:effectLst>
                  <a:outerShdw blurRad="38100" dist="38100" dir="2700000" algn="tl">
                    <a:srgbClr val="000000"/>
                  </a:outerShdw>
                </a:effectLst>
              </a:rPr>
              <a:t>A</a:t>
            </a:r>
            <a:r>
              <a:rPr lang="zh-CN" altLang="en-US" sz="2800" dirty="0">
                <a:solidFill>
                  <a:srgbClr val="CCFFCC"/>
                </a:solidFill>
                <a:effectLst>
                  <a:outerShdw blurRad="38100" dist="38100" dir="2700000" algn="tl">
                    <a:srgbClr val="000000"/>
                  </a:outerShdw>
                </a:effectLst>
              </a:rPr>
              <a:t>是</a:t>
            </a:r>
            <a:r>
              <a:rPr lang="en-US" altLang="zh-CN" sz="2800" dirty="0">
                <a:solidFill>
                  <a:srgbClr val="CCFFCC"/>
                </a:solidFill>
                <a:effectLst>
                  <a:outerShdw blurRad="38100" dist="38100" dir="2700000" algn="tl">
                    <a:srgbClr val="000000"/>
                  </a:outerShdw>
                </a:effectLst>
              </a:rPr>
              <a:t>U</a:t>
            </a:r>
            <a:r>
              <a:rPr lang="zh-CN" altLang="en-US" sz="2800" dirty="0">
                <a:solidFill>
                  <a:srgbClr val="CCFFCC"/>
                </a:solidFill>
                <a:effectLst>
                  <a:outerShdw blurRad="38100" dist="38100" dir="2700000" algn="tl">
                    <a:srgbClr val="000000"/>
                  </a:outerShdw>
                </a:effectLst>
              </a:rPr>
              <a:t>中的单个属性，称</a:t>
            </a:r>
          </a:p>
          <a:p>
            <a:pPr>
              <a:spcBef>
                <a:spcPct val="30000"/>
              </a:spcBef>
              <a:spcAft>
                <a:spcPct val="0"/>
              </a:spcAft>
              <a:tabLst>
                <a:tab pos="715963" algn="l"/>
                <a:tab pos="1905000" algn="l"/>
              </a:tabLst>
              <a:defRPr/>
            </a:pPr>
            <a:r>
              <a:rPr lang="zh-CN" altLang="en-US" sz="2800" dirty="0">
                <a:solidFill>
                  <a:srgbClr val="CCFFCC"/>
                </a:solidFill>
                <a:effectLst>
                  <a:outerShdw blurRad="38100" dist="38100" dir="2700000" algn="tl">
                    <a:srgbClr val="000000"/>
                  </a:outerShdw>
                </a:effectLst>
              </a:rPr>
              <a:t>	</a:t>
            </a:r>
            <a:r>
              <a:rPr lang="en-US" altLang="zh-CN" sz="2800" dirty="0">
                <a:effectLst>
                  <a:outerShdw blurRad="38100" dist="38100" dir="2700000" algn="tl">
                    <a:srgbClr val="000000"/>
                  </a:outerShdw>
                </a:effectLst>
              </a:rPr>
              <a:t>={A|A</a:t>
            </a:r>
            <a:r>
              <a:rPr lang="en-US" altLang="zh-CN" sz="2600" dirty="0">
                <a:effectLst>
                  <a:outerShdw blurRad="38100" dist="38100" dir="2700000" algn="tl">
                    <a:srgbClr val="000000"/>
                  </a:outerShdw>
                </a:effectLst>
                <a:sym typeface="Symbol" pitchFamily="18" charset="2"/>
              </a:rPr>
              <a:t></a:t>
            </a:r>
            <a:r>
              <a:rPr lang="en-US" altLang="zh-CN" sz="2800" dirty="0">
                <a:effectLst>
                  <a:outerShdw blurRad="38100" dist="38100" dir="2700000" algn="tl">
                    <a:srgbClr val="000000"/>
                  </a:outerShdw>
                </a:effectLst>
              </a:rPr>
              <a:t>U</a:t>
            </a:r>
            <a:r>
              <a:rPr lang="zh-CN" altLang="en-US" sz="2800" dirty="0">
                <a:effectLst>
                  <a:outerShdw blurRad="38100" dist="38100" dir="2700000" algn="tl">
                    <a:srgbClr val="000000"/>
                  </a:outerShdw>
                </a:effectLst>
              </a:rPr>
              <a:t>，</a:t>
            </a:r>
            <a:r>
              <a:rPr lang="en-US" altLang="zh-CN" sz="2800" dirty="0">
                <a:effectLst>
                  <a:outerShdw blurRad="38100" dist="38100" dir="2700000" algn="tl">
                    <a:srgbClr val="000000"/>
                  </a:outerShdw>
                </a:effectLst>
              </a:rPr>
              <a:t>X→A</a:t>
            </a:r>
            <a:r>
              <a:rPr lang="zh-CN" altLang="en-US" sz="2800" dirty="0">
                <a:effectLst>
                  <a:outerShdw blurRad="38100" dist="38100" dir="2700000" algn="tl">
                    <a:srgbClr val="000000"/>
                  </a:outerShdw>
                </a:effectLst>
              </a:rPr>
              <a:t>能由</a:t>
            </a:r>
            <a:r>
              <a:rPr lang="en-US" altLang="zh-CN" sz="2800" dirty="0">
                <a:effectLst>
                  <a:outerShdw blurRad="38100" dist="38100" dir="2700000" algn="tl">
                    <a:srgbClr val="000000"/>
                  </a:outerShdw>
                </a:effectLst>
              </a:rPr>
              <a:t>F</a:t>
            </a:r>
            <a:r>
              <a:rPr lang="zh-CN" altLang="en-US" sz="2800" dirty="0">
                <a:effectLst>
                  <a:outerShdw blurRad="38100" dist="38100" dir="2700000" algn="tl">
                    <a:srgbClr val="000000"/>
                  </a:outerShdw>
                </a:effectLst>
              </a:rPr>
              <a:t>根据</a:t>
            </a:r>
            <a:r>
              <a:rPr lang="en-US" altLang="zh-CN" sz="2800" dirty="0">
                <a:effectLst>
                  <a:outerShdw blurRad="38100" dist="38100" dir="2700000" algn="tl">
                    <a:srgbClr val="000000"/>
                  </a:outerShdw>
                </a:effectLst>
                <a:latin typeface="Arial" charset="0"/>
              </a:rPr>
              <a:t>Armstrong</a:t>
            </a:r>
            <a:r>
              <a:rPr lang="zh-CN" altLang="en-US" sz="2800" dirty="0">
                <a:effectLst>
                  <a:outerShdw blurRad="38100" dist="38100" dir="2700000" algn="tl">
                    <a:srgbClr val="000000"/>
                  </a:outerShdw>
                </a:effectLst>
                <a:latin typeface="Arial" charset="0"/>
              </a:rPr>
              <a:t>公理</a:t>
            </a:r>
            <a:r>
              <a:rPr lang="zh-CN" altLang="en-US" sz="2800" dirty="0">
                <a:effectLst>
                  <a:outerShdw blurRad="38100" dist="38100" dir="2700000" algn="tl">
                    <a:srgbClr val="000000"/>
                  </a:outerShdw>
                </a:effectLst>
              </a:rPr>
              <a:t>导出</a:t>
            </a:r>
            <a:r>
              <a:rPr lang="en-US" altLang="zh-CN" sz="2800" dirty="0">
                <a:effectLst>
                  <a:outerShdw blurRad="38100" dist="38100" dir="2700000" algn="tl">
                    <a:srgbClr val="000000"/>
                  </a:outerShdw>
                </a:effectLst>
              </a:rPr>
              <a:t>}</a:t>
            </a:r>
            <a:r>
              <a:rPr lang="zh-CN" altLang="en-US" sz="2800" dirty="0">
                <a:solidFill>
                  <a:srgbClr val="CCFFCC"/>
                </a:solidFill>
                <a:effectLst>
                  <a:outerShdw blurRad="38100" dist="38100" dir="2700000" algn="tl">
                    <a:srgbClr val="000000"/>
                  </a:outerShdw>
                </a:effectLst>
              </a:rPr>
              <a:t>为属性集</a:t>
            </a:r>
            <a:r>
              <a:rPr lang="en-US" altLang="zh-CN" sz="2800" dirty="0">
                <a:solidFill>
                  <a:srgbClr val="CCFFCC"/>
                </a:solidFill>
                <a:effectLst>
                  <a:outerShdw blurRad="38100" dist="38100" dir="2700000" algn="tl">
                    <a:srgbClr val="000000"/>
                  </a:outerShdw>
                </a:effectLst>
              </a:rPr>
              <a:t>X</a:t>
            </a:r>
            <a:r>
              <a:rPr lang="zh-CN" altLang="en-US" sz="2800" dirty="0">
                <a:solidFill>
                  <a:srgbClr val="CCFFCC"/>
                </a:solidFill>
                <a:effectLst>
                  <a:outerShdw blurRad="38100" dist="38100" dir="2700000" algn="tl">
                    <a:srgbClr val="000000"/>
                  </a:outerShdw>
                </a:effectLst>
              </a:rPr>
              <a:t>关于</a:t>
            </a:r>
            <a:r>
              <a:rPr lang="en-US" altLang="zh-CN" sz="2800" dirty="0">
                <a:solidFill>
                  <a:srgbClr val="CCFFCC"/>
                </a:solidFill>
                <a:effectLst>
                  <a:outerShdw blurRad="38100" dist="38100" dir="2700000" algn="tl">
                    <a:srgbClr val="000000"/>
                  </a:outerShdw>
                </a:effectLst>
              </a:rPr>
              <a:t>F</a:t>
            </a:r>
            <a:r>
              <a:rPr lang="zh-CN" altLang="en-US" sz="2800" dirty="0">
                <a:solidFill>
                  <a:srgbClr val="CCFFCC"/>
                </a:solidFill>
                <a:effectLst>
                  <a:outerShdw blurRad="38100" dist="38100" dir="2700000" algn="tl">
                    <a:srgbClr val="000000"/>
                  </a:outerShdw>
                </a:effectLst>
              </a:rPr>
              <a:t>的闭包，通常简记为</a:t>
            </a:r>
            <a:r>
              <a:rPr lang="en-US" altLang="zh-CN" sz="3600" b="1" dirty="0">
                <a:solidFill>
                  <a:srgbClr val="FFFF00"/>
                </a:solidFill>
                <a:effectLst>
                  <a:outerShdw blurRad="38100" dist="38100" dir="2700000" algn="tl">
                    <a:srgbClr val="000000"/>
                  </a:outerShdw>
                </a:effectLst>
              </a:rPr>
              <a:t>X</a:t>
            </a:r>
            <a:r>
              <a:rPr lang="en-US" altLang="zh-CN" sz="3600" b="1" baseline="30000" dirty="0">
                <a:solidFill>
                  <a:srgbClr val="FFFF00"/>
                </a:solidFill>
                <a:effectLst>
                  <a:outerShdw blurRad="38100" dist="38100" dir="2700000" algn="tl">
                    <a:srgbClr val="000000"/>
                  </a:outerShdw>
                </a:effectLst>
              </a:rPr>
              <a:t>+</a:t>
            </a:r>
            <a:r>
              <a:rPr lang="zh-CN" altLang="en-US" sz="2800" dirty="0">
                <a:solidFill>
                  <a:srgbClr val="CCFFCC"/>
                </a:solidFill>
                <a:effectLst>
                  <a:outerShdw blurRad="38100" dist="38100" dir="2700000" algn="tl">
                    <a:srgbClr val="000000"/>
                  </a:outerShdw>
                </a:effectLst>
              </a:rPr>
              <a:t>。</a:t>
            </a:r>
          </a:p>
        </p:txBody>
      </p:sp>
      <p:sp>
        <p:nvSpPr>
          <p:cNvPr id="1497093" name="Text Box 5"/>
          <p:cNvSpPr txBox="1">
            <a:spLocks noChangeArrowheads="1"/>
          </p:cNvSpPr>
          <p:nvPr/>
        </p:nvSpPr>
        <p:spPr bwMode="auto">
          <a:xfrm>
            <a:off x="388756" y="3429000"/>
            <a:ext cx="8382000" cy="604837"/>
          </a:xfrm>
          <a:prstGeom prst="rect">
            <a:avLst/>
          </a:prstGeom>
          <a:noFill/>
          <a:ln w="12700" cap="sq">
            <a:noFill/>
            <a:miter lim="800000"/>
            <a:headEnd type="none" w="sm" len="sm"/>
            <a:tailEnd type="none" w="sm" len="sm"/>
          </a:ln>
          <a:effectLst/>
        </p:spPr>
        <p:txBody>
          <a:bodyPr/>
          <a:lstStyle/>
          <a:p>
            <a:pPr>
              <a:spcAft>
                <a:spcPct val="40000"/>
              </a:spcAft>
              <a:tabLst>
                <a:tab pos="715963" algn="l"/>
                <a:tab pos="1905000" algn="l"/>
              </a:tabLst>
              <a:defRPr/>
            </a:pPr>
            <a:r>
              <a:rPr lang="zh-CN" altLang="en-US" sz="2800" dirty="0">
                <a:solidFill>
                  <a:srgbClr val="99FF99"/>
                </a:solidFill>
                <a:effectLst>
                  <a:outerShdw blurRad="38100" dist="38100" dir="2700000" algn="tl">
                    <a:srgbClr val="000000"/>
                  </a:outerShdw>
                </a:effectLst>
              </a:rPr>
              <a:t>已知</a:t>
            </a:r>
            <a:r>
              <a:rPr lang="zh-CN" altLang="zh-CN" sz="2800" dirty="0">
                <a:solidFill>
                  <a:srgbClr val="99FF99"/>
                </a:solidFill>
                <a:effectLst>
                  <a:outerShdw blurRad="38100" dist="38100" dir="2700000" algn="tl">
                    <a:srgbClr val="000000"/>
                  </a:outerShdw>
                </a:effectLst>
              </a:rPr>
              <a:t>R</a:t>
            </a:r>
            <a:r>
              <a:rPr lang="zh-CN" altLang="en-US" sz="2800" dirty="0">
                <a:solidFill>
                  <a:srgbClr val="99FF99"/>
                </a:solidFill>
                <a:effectLst>
                  <a:outerShdw blurRad="38100" dist="38100" dir="2700000" algn="tl">
                    <a:srgbClr val="000000"/>
                  </a:outerShdw>
                </a:effectLst>
              </a:rPr>
              <a:t>(</a:t>
            </a:r>
            <a:r>
              <a:rPr lang="en-US" altLang="zh-CN" sz="2800" dirty="0">
                <a:solidFill>
                  <a:srgbClr val="99FF99"/>
                </a:solidFill>
                <a:effectLst>
                  <a:outerShdw blurRad="38100" dist="38100" dir="2700000" algn="tl">
                    <a:srgbClr val="000000"/>
                  </a:outerShdw>
                </a:effectLst>
              </a:rPr>
              <a:t>{</a:t>
            </a:r>
            <a:r>
              <a:rPr lang="zh-CN" altLang="zh-CN" sz="2800" dirty="0">
                <a:solidFill>
                  <a:srgbClr val="99FF99"/>
                </a:solidFill>
                <a:effectLst>
                  <a:outerShdw blurRad="38100" dist="38100" dir="2700000" algn="tl">
                    <a:srgbClr val="000000"/>
                  </a:outerShdw>
                </a:effectLst>
              </a:rPr>
              <a:t>ABC</a:t>
            </a:r>
            <a:r>
              <a:rPr lang="zh-CN" altLang="en-US" sz="2800" dirty="0">
                <a:solidFill>
                  <a:srgbClr val="99FF99"/>
                </a:solidFill>
                <a:effectLst>
                  <a:outerShdw blurRad="38100" dist="38100" dir="2700000" algn="tl">
                    <a:srgbClr val="000000"/>
                  </a:outerShdw>
                </a:effectLst>
              </a:rPr>
              <a:t>}</a:t>
            </a:r>
            <a:r>
              <a:rPr lang="zh-CN" altLang="zh-CN" sz="2800" dirty="0">
                <a:solidFill>
                  <a:srgbClr val="99FF99"/>
                </a:solidFill>
                <a:effectLst>
                  <a:outerShdw blurRad="38100" dist="38100" dir="2700000" algn="tl">
                    <a:srgbClr val="000000"/>
                  </a:outerShdw>
                </a:effectLst>
              </a:rPr>
              <a:t>,{A→B, B→C}</a:t>
            </a:r>
            <a:r>
              <a:rPr lang="en-US" altLang="zh-CN" sz="2800" dirty="0">
                <a:solidFill>
                  <a:srgbClr val="99FF99"/>
                </a:solidFill>
                <a:effectLst>
                  <a:outerShdw blurRad="38100" dist="38100" dir="2700000" algn="tl">
                    <a:srgbClr val="000000"/>
                  </a:outerShdw>
                </a:effectLst>
              </a:rPr>
              <a:t>)</a:t>
            </a:r>
            <a:endParaRPr lang="zh-CN" altLang="en-US" sz="2800" dirty="0">
              <a:solidFill>
                <a:srgbClr val="99FF99"/>
              </a:solidFill>
              <a:effectLst>
                <a:outerShdw blurRad="38100" dist="38100" dir="2700000" algn="tl">
                  <a:srgbClr val="000000"/>
                </a:outerShdw>
              </a:effectLst>
            </a:endParaRPr>
          </a:p>
          <a:p>
            <a:pPr>
              <a:spcAft>
                <a:spcPct val="40000"/>
              </a:spcAft>
              <a:tabLst>
                <a:tab pos="715963" algn="l"/>
                <a:tab pos="1905000" algn="l"/>
              </a:tabLst>
              <a:defRPr/>
            </a:pPr>
            <a:r>
              <a:rPr lang="zh-CN" altLang="en-US" sz="2800" dirty="0">
                <a:solidFill>
                  <a:srgbClr val="99FF99"/>
                </a:solidFill>
                <a:effectLst>
                  <a:outerShdw blurRad="38100" dist="38100" dir="2700000" algn="tl">
                    <a:srgbClr val="000000"/>
                  </a:outerShdw>
                </a:effectLst>
              </a:rPr>
              <a:t>根据</a:t>
            </a:r>
            <a:r>
              <a:rPr lang="en-US" altLang="zh-CN" sz="2800" dirty="0">
                <a:solidFill>
                  <a:srgbClr val="99FF99"/>
                </a:solidFill>
                <a:effectLst>
                  <a:outerShdw blurRad="38100" dist="38100" dir="2700000" algn="tl">
                    <a:srgbClr val="000000"/>
                  </a:outerShdw>
                </a:effectLst>
              </a:rPr>
              <a:t>F</a:t>
            </a:r>
            <a:r>
              <a:rPr lang="zh-CN" altLang="en-US" sz="2800" dirty="0">
                <a:solidFill>
                  <a:srgbClr val="99FF99"/>
                </a:solidFill>
                <a:effectLst>
                  <a:outerShdw blurRad="38100" dist="38100" dir="2700000" algn="tl">
                    <a:srgbClr val="000000"/>
                  </a:outerShdw>
                </a:effectLst>
              </a:rPr>
              <a:t>能得出</a:t>
            </a:r>
            <a:r>
              <a:rPr lang="en-US" altLang="zh-CN" sz="2800" dirty="0">
                <a:solidFill>
                  <a:srgbClr val="99FF99"/>
                </a:solidFill>
                <a:effectLst>
                  <a:outerShdw blurRad="38100" dist="38100" dir="2700000" algn="tl">
                    <a:srgbClr val="000000"/>
                  </a:outerShdw>
                </a:effectLst>
              </a:rPr>
              <a:t>A</a:t>
            </a:r>
            <a:r>
              <a:rPr lang="zh-CN" altLang="zh-CN" sz="2800" dirty="0">
                <a:solidFill>
                  <a:srgbClr val="99FF99"/>
                </a:solidFill>
                <a:effectLst>
                  <a:outerShdw blurRad="38100" dist="38100" dir="2700000" algn="tl">
                    <a:srgbClr val="000000"/>
                  </a:outerShdw>
                </a:effectLst>
              </a:rPr>
              <a:t>→</a:t>
            </a:r>
            <a:r>
              <a:rPr lang="zh-CN" altLang="en-US" sz="2800" dirty="0">
                <a:solidFill>
                  <a:srgbClr val="99FF99"/>
                </a:solidFill>
                <a:effectLst>
                  <a:outerShdw blurRad="38100" dist="38100" dir="2700000" algn="tl">
                    <a:srgbClr val="000000"/>
                  </a:outerShdw>
                </a:effectLst>
              </a:rPr>
              <a:t>A</a:t>
            </a:r>
            <a:r>
              <a:rPr lang="en-US" altLang="zh-CN" sz="2800" dirty="0">
                <a:solidFill>
                  <a:srgbClr val="99FF99"/>
                </a:solidFill>
                <a:effectLst>
                  <a:outerShdw blurRad="38100" dist="38100" dir="2700000" algn="tl">
                    <a:srgbClr val="000000"/>
                  </a:outerShdw>
                </a:effectLst>
              </a:rPr>
              <a:t>(</a:t>
            </a:r>
            <a:r>
              <a:rPr lang="zh-CN" altLang="en-US" sz="2800" dirty="0">
                <a:solidFill>
                  <a:srgbClr val="99FF99"/>
                </a:solidFill>
                <a:effectLst>
                  <a:outerShdw blurRad="38100" dist="38100" dir="2700000" algn="tl">
                    <a:srgbClr val="000000"/>
                  </a:outerShdw>
                </a:effectLst>
              </a:rPr>
              <a:t>自反</a:t>
            </a:r>
            <a:r>
              <a:rPr lang="en-US" altLang="zh-CN" sz="2800" dirty="0">
                <a:solidFill>
                  <a:srgbClr val="99FF99"/>
                </a:solidFill>
                <a:effectLst>
                  <a:outerShdw blurRad="38100" dist="38100" dir="2700000" algn="tl">
                    <a:srgbClr val="000000"/>
                  </a:outerShdw>
                </a:effectLst>
              </a:rPr>
              <a:t>)</a:t>
            </a:r>
            <a:r>
              <a:rPr lang="zh-CN" altLang="en-US" sz="2800" dirty="0">
                <a:solidFill>
                  <a:srgbClr val="99FF99"/>
                </a:solidFill>
                <a:effectLst>
                  <a:outerShdw blurRad="38100" dist="38100" dir="2700000" algn="tl">
                    <a:srgbClr val="000000"/>
                  </a:outerShdw>
                </a:effectLst>
              </a:rPr>
              <a:t>，</a:t>
            </a:r>
            <a:r>
              <a:rPr lang="zh-CN" altLang="zh-CN" sz="2800" dirty="0">
                <a:solidFill>
                  <a:srgbClr val="99FF99"/>
                </a:solidFill>
                <a:effectLst>
                  <a:outerShdw blurRad="38100" dist="38100" dir="2700000" algn="tl">
                    <a:srgbClr val="000000"/>
                  </a:outerShdw>
                </a:effectLst>
              </a:rPr>
              <a:t>A→B</a:t>
            </a:r>
            <a:r>
              <a:rPr lang="zh-CN" altLang="en-US" sz="2800" dirty="0">
                <a:solidFill>
                  <a:srgbClr val="99FF99"/>
                </a:solidFill>
                <a:effectLst>
                  <a:outerShdw blurRad="38100" dist="38100" dir="2700000" algn="tl">
                    <a:srgbClr val="000000"/>
                  </a:outerShdw>
                </a:effectLst>
              </a:rPr>
              <a:t>(已知</a:t>
            </a:r>
            <a:r>
              <a:rPr lang="en-US" altLang="zh-CN" sz="2800" dirty="0">
                <a:solidFill>
                  <a:srgbClr val="99FF99"/>
                </a:solidFill>
                <a:effectLst>
                  <a:outerShdw blurRad="38100" dist="38100" dir="2700000" algn="tl">
                    <a:srgbClr val="000000"/>
                  </a:outerShdw>
                </a:effectLst>
              </a:rPr>
              <a:t>)</a:t>
            </a:r>
            <a:r>
              <a:rPr lang="zh-CN" altLang="en-US" sz="2800" dirty="0">
                <a:solidFill>
                  <a:srgbClr val="99FF99"/>
                </a:solidFill>
                <a:effectLst>
                  <a:outerShdw blurRad="38100" dist="38100" dir="2700000" algn="tl">
                    <a:srgbClr val="000000"/>
                  </a:outerShdw>
                </a:effectLst>
              </a:rPr>
              <a:t>，</a:t>
            </a:r>
            <a:r>
              <a:rPr lang="zh-CN" altLang="zh-CN" sz="2800" dirty="0">
                <a:solidFill>
                  <a:srgbClr val="99FF99"/>
                </a:solidFill>
                <a:effectLst>
                  <a:outerShdw blurRad="38100" dist="38100" dir="2700000" algn="tl">
                    <a:srgbClr val="000000"/>
                  </a:outerShdw>
                </a:effectLst>
              </a:rPr>
              <a:t>A→</a:t>
            </a:r>
            <a:r>
              <a:rPr lang="zh-CN" altLang="en-US" sz="2800" dirty="0">
                <a:solidFill>
                  <a:srgbClr val="99FF99"/>
                </a:solidFill>
                <a:effectLst>
                  <a:outerShdw blurRad="38100" dist="38100" dir="2700000" algn="tl">
                    <a:srgbClr val="000000"/>
                  </a:outerShdw>
                </a:effectLst>
              </a:rPr>
              <a:t>C</a:t>
            </a:r>
            <a:r>
              <a:rPr lang="en-US" altLang="zh-CN" sz="2800" dirty="0">
                <a:solidFill>
                  <a:srgbClr val="99FF99"/>
                </a:solidFill>
                <a:effectLst>
                  <a:outerShdw blurRad="38100" dist="38100" dir="2700000" algn="tl">
                    <a:srgbClr val="000000"/>
                  </a:outerShdw>
                </a:effectLst>
              </a:rPr>
              <a:t>(</a:t>
            </a:r>
            <a:r>
              <a:rPr lang="zh-CN" altLang="en-US" sz="2800" dirty="0">
                <a:solidFill>
                  <a:srgbClr val="99FF99"/>
                </a:solidFill>
                <a:effectLst>
                  <a:outerShdw blurRad="38100" dist="38100" dir="2700000" algn="tl">
                    <a:srgbClr val="000000"/>
                  </a:outerShdw>
                </a:effectLst>
              </a:rPr>
              <a:t>传递</a:t>
            </a:r>
            <a:r>
              <a:rPr lang="en-US" altLang="zh-CN" sz="2800" dirty="0">
                <a:solidFill>
                  <a:srgbClr val="99FF99"/>
                </a:solidFill>
                <a:effectLst>
                  <a:outerShdw blurRad="38100" dist="38100" dir="2700000" algn="tl">
                    <a:srgbClr val="000000"/>
                  </a:outerShdw>
                </a:effectLst>
              </a:rPr>
              <a:t>)</a:t>
            </a:r>
          </a:p>
          <a:p>
            <a:pPr>
              <a:spcAft>
                <a:spcPct val="40000"/>
              </a:spcAft>
              <a:tabLst>
                <a:tab pos="715963" algn="l"/>
                <a:tab pos="1905000" algn="l"/>
              </a:tabLst>
              <a:defRPr/>
            </a:pPr>
            <a:r>
              <a:rPr lang="zh-CN" altLang="en-US" sz="2800" dirty="0">
                <a:solidFill>
                  <a:srgbClr val="99FF99"/>
                </a:solidFill>
                <a:effectLst>
                  <a:outerShdw blurRad="38100" dist="38100" dir="2700000" algn="tl">
                    <a:srgbClr val="000000"/>
                  </a:outerShdw>
                </a:effectLst>
              </a:rPr>
              <a:t>所以 </a:t>
            </a:r>
            <a:r>
              <a:rPr lang="en-US" altLang="zh-CN" sz="2800" dirty="0">
                <a:solidFill>
                  <a:srgbClr val="99FF99"/>
                </a:solidFill>
                <a:effectLst>
                  <a:outerShdw blurRad="38100" dist="38100" dir="2700000" algn="tl">
                    <a:srgbClr val="000000"/>
                  </a:outerShdw>
                </a:effectLst>
              </a:rPr>
              <a:t>A</a:t>
            </a:r>
            <a:r>
              <a:rPr lang="en-US" altLang="zh-CN" sz="2800" baseline="30000" dirty="0">
                <a:solidFill>
                  <a:srgbClr val="99FF99"/>
                </a:solidFill>
                <a:effectLst>
                  <a:outerShdw blurRad="38100" dist="38100" dir="2700000" algn="tl">
                    <a:srgbClr val="000000"/>
                  </a:outerShdw>
                </a:effectLst>
              </a:rPr>
              <a:t>+</a:t>
            </a:r>
            <a:r>
              <a:rPr lang="en-US" altLang="zh-CN" sz="2800" dirty="0">
                <a:solidFill>
                  <a:srgbClr val="99FF99"/>
                </a:solidFill>
                <a:effectLst>
                  <a:outerShdw blurRad="38100" dist="38100" dir="2700000" algn="tl">
                    <a:srgbClr val="000000"/>
                  </a:outerShdw>
                </a:effectLst>
              </a:rPr>
              <a:t> = {A</a:t>
            </a:r>
            <a:r>
              <a:rPr lang="zh-CN" altLang="en-US" sz="2800" dirty="0">
                <a:solidFill>
                  <a:srgbClr val="99FF99"/>
                </a:solidFill>
                <a:effectLst>
                  <a:outerShdw blurRad="38100" dist="38100" dir="2700000" algn="tl">
                    <a:srgbClr val="000000"/>
                  </a:outerShdw>
                </a:effectLst>
              </a:rPr>
              <a:t>，</a:t>
            </a:r>
            <a:r>
              <a:rPr lang="en-US" altLang="zh-CN" sz="2800" dirty="0">
                <a:solidFill>
                  <a:srgbClr val="99FF99"/>
                </a:solidFill>
                <a:effectLst>
                  <a:outerShdw blurRad="38100" dist="38100" dir="2700000" algn="tl">
                    <a:srgbClr val="000000"/>
                  </a:outerShdw>
                </a:effectLst>
              </a:rPr>
              <a:t>B</a:t>
            </a:r>
            <a:r>
              <a:rPr lang="zh-CN" altLang="en-US" sz="2800" dirty="0">
                <a:solidFill>
                  <a:srgbClr val="99FF99"/>
                </a:solidFill>
                <a:effectLst>
                  <a:outerShdw blurRad="38100" dist="38100" dir="2700000" algn="tl">
                    <a:srgbClr val="000000"/>
                  </a:outerShdw>
                </a:effectLst>
              </a:rPr>
              <a:t>，</a:t>
            </a:r>
            <a:r>
              <a:rPr lang="en-US" altLang="zh-CN" sz="2800" dirty="0">
                <a:solidFill>
                  <a:srgbClr val="99FF99"/>
                </a:solidFill>
                <a:effectLst>
                  <a:outerShdw blurRad="38100" dist="38100" dir="2700000" algn="tl">
                    <a:srgbClr val="000000"/>
                  </a:outerShdw>
                </a:effectLst>
              </a:rPr>
              <a:t>C}</a:t>
            </a:r>
          </a:p>
          <a:p>
            <a:pPr>
              <a:spcAft>
                <a:spcPct val="40000"/>
              </a:spcAft>
              <a:tabLst>
                <a:tab pos="715963" algn="l"/>
                <a:tab pos="1905000" algn="l"/>
              </a:tabLst>
              <a:defRPr/>
            </a:pPr>
            <a:r>
              <a:rPr lang="zh-CN" altLang="en-US" sz="2800" dirty="0">
                <a:solidFill>
                  <a:srgbClr val="99FF99"/>
                </a:solidFill>
                <a:effectLst>
                  <a:outerShdw blurRad="38100" dist="38100" dir="2700000" algn="tl">
                    <a:srgbClr val="000000"/>
                  </a:outerShdw>
                </a:effectLst>
              </a:rPr>
              <a:t>同理 </a:t>
            </a:r>
            <a:r>
              <a:rPr lang="en-US" altLang="zh-CN" sz="2800" dirty="0">
                <a:solidFill>
                  <a:srgbClr val="99FF99"/>
                </a:solidFill>
                <a:effectLst>
                  <a:outerShdw blurRad="38100" dist="38100" dir="2700000" algn="tl">
                    <a:srgbClr val="000000"/>
                  </a:outerShdw>
                </a:effectLst>
              </a:rPr>
              <a:t>B</a:t>
            </a:r>
            <a:r>
              <a:rPr lang="en-US" altLang="zh-CN" sz="2800" baseline="30000" dirty="0">
                <a:solidFill>
                  <a:srgbClr val="99FF99"/>
                </a:solidFill>
                <a:effectLst>
                  <a:outerShdw blurRad="38100" dist="38100" dir="2700000" algn="tl">
                    <a:srgbClr val="000000"/>
                  </a:outerShdw>
                </a:effectLst>
              </a:rPr>
              <a:t>+</a:t>
            </a:r>
            <a:r>
              <a:rPr lang="en-US" altLang="zh-CN" sz="2800" dirty="0">
                <a:solidFill>
                  <a:srgbClr val="99FF99"/>
                </a:solidFill>
                <a:effectLst>
                  <a:outerShdw blurRad="38100" dist="38100" dir="2700000" algn="tl">
                    <a:srgbClr val="000000"/>
                  </a:outerShdw>
                </a:effectLst>
              </a:rPr>
              <a:t> = {B</a:t>
            </a:r>
            <a:r>
              <a:rPr lang="zh-CN" altLang="en-US" sz="2800" dirty="0">
                <a:solidFill>
                  <a:srgbClr val="99FF99"/>
                </a:solidFill>
                <a:effectLst>
                  <a:outerShdw blurRad="38100" dist="38100" dir="2700000" algn="tl">
                    <a:srgbClr val="000000"/>
                  </a:outerShdw>
                </a:effectLst>
              </a:rPr>
              <a:t>，</a:t>
            </a:r>
            <a:r>
              <a:rPr lang="en-US" altLang="zh-CN" sz="2800" dirty="0">
                <a:solidFill>
                  <a:srgbClr val="99FF99"/>
                </a:solidFill>
                <a:effectLst>
                  <a:outerShdw blurRad="38100" dist="38100" dir="2700000" algn="tl">
                    <a:srgbClr val="000000"/>
                  </a:outerShdw>
                </a:effectLst>
              </a:rPr>
              <a:t>C}</a:t>
            </a:r>
          </a:p>
          <a:p>
            <a:pPr>
              <a:spcAft>
                <a:spcPct val="40000"/>
              </a:spcAft>
              <a:tabLst>
                <a:tab pos="715963" algn="l"/>
                <a:tab pos="1905000" algn="l"/>
              </a:tabLst>
              <a:defRPr/>
            </a:pPr>
            <a:r>
              <a:rPr lang="en-US" altLang="zh-CN" sz="2800" dirty="0">
                <a:solidFill>
                  <a:srgbClr val="99FF99"/>
                </a:solidFill>
                <a:effectLst>
                  <a:outerShdw blurRad="38100" dist="38100" dir="2700000" algn="tl">
                    <a:srgbClr val="000000"/>
                  </a:outerShdw>
                </a:effectLst>
              </a:rPr>
              <a:t>     C</a:t>
            </a:r>
            <a:r>
              <a:rPr lang="en-US" altLang="zh-CN" sz="2800" baseline="30000" dirty="0">
                <a:solidFill>
                  <a:srgbClr val="99FF99"/>
                </a:solidFill>
                <a:effectLst>
                  <a:outerShdw blurRad="38100" dist="38100" dir="2700000" algn="tl">
                    <a:srgbClr val="000000"/>
                  </a:outerShdw>
                </a:effectLst>
              </a:rPr>
              <a:t>+</a:t>
            </a:r>
            <a:r>
              <a:rPr lang="en-US" altLang="zh-CN" sz="2800" dirty="0">
                <a:solidFill>
                  <a:srgbClr val="99FF99"/>
                </a:solidFill>
                <a:effectLst>
                  <a:outerShdw blurRad="38100" dist="38100" dir="2700000" algn="tl">
                    <a:srgbClr val="000000"/>
                  </a:outerShdw>
                </a:effectLst>
              </a:rPr>
              <a:t> = {C}</a:t>
            </a:r>
            <a:endParaRPr lang="zh-CN" altLang="zh-CN" sz="2800" dirty="0">
              <a:solidFill>
                <a:srgbClr val="99FF99"/>
              </a:solidFill>
              <a:effectLst>
                <a:outerShdw blurRad="38100" dist="38100" dir="2700000" algn="tl">
                  <a:srgbClr val="000000"/>
                </a:outerShdw>
              </a:effectLst>
            </a:endParaRPr>
          </a:p>
        </p:txBody>
      </p:sp>
      <p:grpSp>
        <p:nvGrpSpPr>
          <p:cNvPr id="28678" name="Group 6"/>
          <p:cNvGrpSpPr>
            <a:grpSpLocks/>
          </p:cNvGrpSpPr>
          <p:nvPr/>
        </p:nvGrpSpPr>
        <p:grpSpPr bwMode="auto">
          <a:xfrm>
            <a:off x="644774" y="1632297"/>
            <a:ext cx="522287" cy="698500"/>
            <a:chOff x="521" y="1170"/>
            <a:chExt cx="329" cy="440"/>
          </a:xfrm>
        </p:grpSpPr>
        <p:sp>
          <p:nvSpPr>
            <p:cNvPr id="1497095" name="Rectangle 7"/>
            <p:cNvSpPr>
              <a:spLocks noChangeArrowheads="1"/>
            </p:cNvSpPr>
            <p:nvPr/>
          </p:nvSpPr>
          <p:spPr bwMode="auto">
            <a:xfrm>
              <a:off x="521" y="1226"/>
              <a:ext cx="270" cy="384"/>
            </a:xfrm>
            <a:prstGeom prst="rect">
              <a:avLst/>
            </a:prstGeom>
            <a:noFill/>
            <a:ln w="12700" cap="sq" algn="ctr">
              <a:noFill/>
              <a:miter lim="800000"/>
              <a:headEnd/>
              <a:tailEnd/>
            </a:ln>
            <a:effectLst/>
          </p:spPr>
          <p:txBody>
            <a:bodyPr wrap="none" lIns="0" tIns="0" rIns="0" bIns="0">
              <a:spAutoFit/>
            </a:bodyPr>
            <a:lstStyle/>
            <a:p>
              <a:pPr>
                <a:buSzTx/>
                <a:buFontTx/>
                <a:buNone/>
                <a:defRPr/>
              </a:pPr>
              <a:r>
                <a:rPr lang="en-US" altLang="zh-CN" sz="4000" b="1">
                  <a:solidFill>
                    <a:srgbClr val="FFFF00"/>
                  </a:solidFill>
                  <a:effectLst>
                    <a:outerShdw blurRad="38100" dist="38100" dir="2700000" algn="tl">
                      <a:srgbClr val="000000"/>
                    </a:outerShdw>
                  </a:effectLst>
                </a:rPr>
                <a:t>X</a:t>
              </a:r>
              <a:r>
                <a:rPr lang="en-US" altLang="zh-CN" sz="4000" b="1" baseline="-25000">
                  <a:solidFill>
                    <a:srgbClr val="FFFF00"/>
                  </a:solidFill>
                  <a:effectLst>
                    <a:outerShdw blurRad="38100" dist="38100" dir="2700000" algn="tl">
                      <a:srgbClr val="000000"/>
                    </a:outerShdw>
                  </a:effectLst>
                </a:rPr>
                <a:t>F</a:t>
              </a:r>
              <a:endParaRPr lang="zh-CN" altLang="en-US" sz="4000" b="1" baseline="-25000">
                <a:solidFill>
                  <a:srgbClr val="FFFF00"/>
                </a:solidFill>
                <a:effectLst>
                  <a:outerShdw blurRad="38100" dist="38100" dir="2700000" algn="tl">
                    <a:srgbClr val="000000"/>
                  </a:outerShdw>
                </a:effectLst>
              </a:endParaRPr>
            </a:p>
          </p:txBody>
        </p:sp>
        <p:sp>
          <p:nvSpPr>
            <p:cNvPr id="1497096" name="Rectangle 8"/>
            <p:cNvSpPr>
              <a:spLocks noChangeArrowheads="1"/>
            </p:cNvSpPr>
            <p:nvPr/>
          </p:nvSpPr>
          <p:spPr bwMode="auto">
            <a:xfrm>
              <a:off x="677" y="1170"/>
              <a:ext cx="173" cy="307"/>
            </a:xfrm>
            <a:prstGeom prst="rect">
              <a:avLst/>
            </a:prstGeom>
            <a:noFill/>
            <a:ln w="12700" cap="sq" algn="ctr">
              <a:noFill/>
              <a:miter lim="800000"/>
              <a:headEnd/>
              <a:tailEnd/>
            </a:ln>
            <a:effectLst/>
          </p:spPr>
          <p:txBody>
            <a:bodyPr lIns="0" tIns="0" rIns="0" bIns="0">
              <a:spAutoFit/>
            </a:bodyPr>
            <a:lstStyle/>
            <a:p>
              <a:pPr>
                <a:buSzTx/>
                <a:buFontTx/>
                <a:buNone/>
                <a:defRPr/>
              </a:pPr>
              <a:r>
                <a:rPr lang="en-US" altLang="zh-CN" b="1">
                  <a:solidFill>
                    <a:srgbClr val="FFFF00"/>
                  </a:solidFill>
                  <a:effectLst>
                    <a:outerShdw blurRad="38100" dist="38100" dir="2700000" algn="tl">
                      <a:srgbClr val="000000"/>
                    </a:outerShdw>
                  </a:effectLst>
                </a:rPr>
                <a:t>+</a:t>
              </a:r>
              <a:endParaRPr lang="zh-CN" altLang="en-US" b="1">
                <a:solidFill>
                  <a:srgbClr val="FFFF00"/>
                </a:solidFill>
                <a:effectLst>
                  <a:outerShdw blurRad="38100" dist="38100" dir="2700000" algn="tl">
                    <a:srgbClr val="000000"/>
                  </a:outerShdw>
                </a:effectLst>
              </a:endParaRPr>
            </a:p>
          </p:txBody>
        </p:sp>
      </p:grpSp>
    </p:spTree>
  </p:cSld>
  <p:clrMapOvr>
    <a:masterClrMapping/>
  </p:clrMapOvr>
  <p:transition spd="med">
    <p:random/>
    <p:sndAc>
      <p:stSnd>
        <p:snd r:embed="rId2" name="camera.wav"/>
      </p:stSnd>
    </p:sndAc>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type="title"/>
          </p:nvPr>
        </p:nvSpPr>
        <p:spPr>
          <a:xfrm>
            <a:off x="62129" y="0"/>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pPr>
            <a:r>
              <a:rPr kumimoji="1" lang="zh-CN" altLang="en-US" sz="4000" b="1" kern="1200" dirty="0">
                <a:solidFill>
                  <a:srgbClr val="FFFFCC"/>
                </a:solidFill>
                <a:effectLst>
                  <a:outerShdw blurRad="38100" dist="38100" dir="2700000" algn="tl">
                    <a:srgbClr val="000000"/>
                  </a:outerShdw>
                </a:effectLst>
                <a:latin typeface="微软雅黑" panose="020B0503020204020204" pitchFamily="34" charset="-122"/>
                <a:ea typeface="微软雅黑" pitchFamily="34" charset="-122"/>
              </a:rPr>
              <a:t>属性集闭包</a:t>
            </a:r>
            <a:endParaRPr kumimoji="1" lang="en-US" altLang="zh-CN" sz="4000" b="1" kern="1200" dirty="0">
              <a:solidFill>
                <a:srgbClr val="FFFFCC"/>
              </a:solidFill>
              <a:effectLst>
                <a:outerShdw blurRad="38100" dist="38100" dir="2700000" algn="tl">
                  <a:srgbClr val="000000"/>
                </a:outerShdw>
              </a:effectLst>
              <a:latin typeface="微软雅黑" panose="020B0503020204020204" pitchFamily="34" charset="-122"/>
              <a:ea typeface="微软雅黑" pitchFamily="34" charset="-122"/>
            </a:endParaRPr>
          </a:p>
        </p:txBody>
      </p:sp>
      <p:sp>
        <p:nvSpPr>
          <p:cNvPr id="8" name="Text Box 4"/>
          <p:cNvSpPr txBox="1">
            <a:spLocks noChangeArrowheads="1"/>
          </p:cNvSpPr>
          <p:nvPr/>
        </p:nvSpPr>
        <p:spPr bwMode="auto">
          <a:xfrm>
            <a:off x="611560" y="1268760"/>
            <a:ext cx="8382000" cy="1143000"/>
          </a:xfrm>
          <a:prstGeom prst="rect">
            <a:avLst/>
          </a:prstGeom>
          <a:noFill/>
          <a:ln w="12700" cap="sq">
            <a:noFill/>
            <a:miter lim="800000"/>
            <a:headEnd type="none" w="sm" len="sm"/>
            <a:tailEnd type="none" w="sm" len="sm"/>
          </a:ln>
          <a:effectLst/>
        </p:spPr>
        <p:txBody>
          <a:bodyPr/>
          <a:lstStyle/>
          <a:p>
            <a:pPr>
              <a:spcBef>
                <a:spcPct val="30000"/>
              </a:spcBef>
              <a:spcAft>
                <a:spcPct val="70000"/>
              </a:spcAft>
              <a:tabLst>
                <a:tab pos="715963" algn="l"/>
                <a:tab pos="1905000" algn="l"/>
              </a:tabLst>
              <a:defRPr/>
            </a:pPr>
            <a:r>
              <a:rPr lang="zh-CN" altLang="en-US" sz="2800" dirty="0">
                <a:solidFill>
                  <a:srgbClr val="CCFFCC"/>
                </a:solidFill>
                <a:effectLst>
                  <a:outerShdw blurRad="38100" dist="38100" dir="2700000" algn="tl">
                    <a:srgbClr val="000000"/>
                  </a:outerShdw>
                </a:effectLst>
              </a:rPr>
              <a:t>下面给出一种求属性集闭包的算法</a:t>
            </a:r>
            <a:r>
              <a:rPr lang="en-US" altLang="zh-CN" sz="2800" dirty="0">
                <a:solidFill>
                  <a:srgbClr val="CCFFCC"/>
                </a:solidFill>
                <a:effectLst>
                  <a:outerShdw blurRad="38100" dist="38100" dir="2700000" algn="tl">
                    <a:srgbClr val="000000"/>
                  </a:outerShdw>
                </a:effectLst>
              </a:rPr>
              <a:t>:</a:t>
            </a:r>
          </a:p>
        </p:txBody>
      </p:sp>
      <p:sp>
        <p:nvSpPr>
          <p:cNvPr id="9" name="Text Box 5"/>
          <p:cNvSpPr txBox="1">
            <a:spLocks noChangeArrowheads="1"/>
          </p:cNvSpPr>
          <p:nvPr/>
        </p:nvSpPr>
        <p:spPr bwMode="auto">
          <a:xfrm>
            <a:off x="611560" y="1843435"/>
            <a:ext cx="8424863" cy="604837"/>
          </a:xfrm>
          <a:prstGeom prst="rect">
            <a:avLst/>
          </a:prstGeom>
          <a:noFill/>
          <a:ln w="12700" cap="sq">
            <a:noFill/>
            <a:miter lim="800000"/>
            <a:headEnd type="none" w="sm" len="sm"/>
            <a:tailEnd type="none" w="sm" len="sm"/>
          </a:ln>
          <a:effectLst/>
        </p:spPr>
        <p:txBody>
          <a:bodyPr/>
          <a:lstStyle/>
          <a:p>
            <a:pPr>
              <a:spcAft>
                <a:spcPct val="40000"/>
              </a:spcAft>
              <a:buSzTx/>
              <a:buFontTx/>
              <a:buNone/>
              <a:tabLst>
                <a:tab pos="715963" algn="l"/>
                <a:tab pos="1905000" algn="l"/>
              </a:tabLst>
              <a:defRPr/>
            </a:pPr>
            <a:r>
              <a:rPr kumimoji="0" lang="zh-CN" altLang="en-US" sz="2600" dirty="0">
                <a:effectLst>
                  <a:outerShdw blurRad="38100" dist="38100" dir="2700000" algn="tl">
                    <a:srgbClr val="000000"/>
                  </a:outerShdw>
                </a:effectLst>
              </a:rPr>
              <a:t>输入：</a:t>
            </a:r>
            <a:r>
              <a:rPr kumimoji="0" lang="zh-CN" altLang="en-US" sz="2600" dirty="0">
                <a:solidFill>
                  <a:srgbClr val="99FF33"/>
                </a:solidFill>
                <a:effectLst>
                  <a:outerShdw blurRad="38100" dist="38100" dir="2700000" algn="tl">
                    <a:srgbClr val="000000"/>
                  </a:outerShdw>
                </a:effectLst>
              </a:rPr>
              <a:t>属性集</a:t>
            </a:r>
            <a:r>
              <a:rPr kumimoji="0" lang="en-US" altLang="zh-CN" sz="2600" dirty="0">
                <a:solidFill>
                  <a:srgbClr val="99FF33"/>
                </a:solidFill>
                <a:effectLst>
                  <a:outerShdw blurRad="38100" dist="38100" dir="2700000" algn="tl">
                    <a:srgbClr val="000000"/>
                  </a:outerShdw>
                </a:effectLst>
              </a:rPr>
              <a:t>U</a:t>
            </a:r>
            <a:r>
              <a:rPr kumimoji="0" lang="zh-CN" altLang="en-US" sz="2600" dirty="0">
                <a:solidFill>
                  <a:srgbClr val="99FF33"/>
                </a:solidFill>
                <a:effectLst>
                  <a:outerShdw blurRad="38100" dist="38100" dir="2700000" algn="tl">
                    <a:srgbClr val="000000"/>
                  </a:outerShdw>
                </a:effectLst>
              </a:rPr>
              <a:t>、函数依赖集</a:t>
            </a:r>
            <a:r>
              <a:rPr kumimoji="0" lang="en-US" altLang="zh-CN" sz="2600" dirty="0">
                <a:solidFill>
                  <a:srgbClr val="99FF33"/>
                </a:solidFill>
                <a:effectLst>
                  <a:outerShdw blurRad="38100" dist="38100" dir="2700000" algn="tl">
                    <a:srgbClr val="000000"/>
                  </a:outerShdw>
                </a:effectLst>
              </a:rPr>
              <a:t>F</a:t>
            </a:r>
            <a:r>
              <a:rPr kumimoji="0" lang="zh-CN" altLang="en-US" sz="2600" dirty="0">
                <a:solidFill>
                  <a:srgbClr val="99FF33"/>
                </a:solidFill>
                <a:effectLst>
                  <a:outerShdw blurRad="38100" dist="38100" dir="2700000" algn="tl">
                    <a:srgbClr val="000000"/>
                  </a:outerShdw>
                </a:effectLst>
              </a:rPr>
              <a:t>和</a:t>
            </a:r>
            <a:r>
              <a:rPr kumimoji="0" lang="en-US" altLang="zh-CN" sz="2600" dirty="0">
                <a:solidFill>
                  <a:srgbClr val="99FF33"/>
                </a:solidFill>
                <a:effectLst>
                  <a:outerShdw blurRad="38100" dist="38100" dir="2700000" algn="tl">
                    <a:srgbClr val="000000"/>
                  </a:outerShdw>
                </a:effectLst>
              </a:rPr>
              <a:t>U</a:t>
            </a:r>
            <a:r>
              <a:rPr kumimoji="0" lang="zh-CN" altLang="en-US" sz="2600" dirty="0">
                <a:solidFill>
                  <a:srgbClr val="99FF33"/>
                </a:solidFill>
                <a:effectLst>
                  <a:outerShdw blurRad="38100" dist="38100" dir="2700000" algn="tl">
                    <a:srgbClr val="000000"/>
                  </a:outerShdw>
                </a:effectLst>
              </a:rPr>
              <a:t>的一个子集</a:t>
            </a:r>
            <a:r>
              <a:rPr kumimoji="0" lang="en-US" altLang="zh-CN" sz="2600" dirty="0">
                <a:solidFill>
                  <a:srgbClr val="99FF33"/>
                </a:solidFill>
                <a:effectLst>
                  <a:outerShdw blurRad="38100" dist="38100" dir="2700000" algn="tl">
                    <a:srgbClr val="000000"/>
                  </a:outerShdw>
                </a:effectLst>
              </a:rPr>
              <a:t>X</a:t>
            </a:r>
            <a:r>
              <a:rPr kumimoji="0" lang="zh-CN" altLang="en-US" sz="2600" dirty="0">
                <a:solidFill>
                  <a:srgbClr val="99FF33"/>
                </a:solidFill>
                <a:effectLst>
                  <a:outerShdw blurRad="38100" dist="38100" dir="2700000" algn="tl">
                    <a:srgbClr val="000000"/>
                  </a:outerShdw>
                </a:effectLst>
              </a:rPr>
              <a:t>。</a:t>
            </a:r>
          </a:p>
          <a:p>
            <a:pPr>
              <a:spcAft>
                <a:spcPct val="40000"/>
              </a:spcAft>
              <a:buSzTx/>
              <a:buFontTx/>
              <a:buNone/>
              <a:tabLst>
                <a:tab pos="715963" algn="l"/>
                <a:tab pos="1905000" algn="l"/>
              </a:tabLst>
              <a:defRPr/>
            </a:pPr>
            <a:r>
              <a:rPr kumimoji="0" lang="zh-CN" altLang="en-US" sz="2600" dirty="0">
                <a:effectLst>
                  <a:outerShdw blurRad="38100" dist="38100" dir="2700000" algn="tl">
                    <a:srgbClr val="000000"/>
                  </a:outerShdw>
                </a:effectLst>
              </a:rPr>
              <a:t>输出：</a:t>
            </a:r>
            <a:r>
              <a:rPr kumimoji="0" lang="en-US" altLang="zh-CN" sz="2600" dirty="0">
                <a:solidFill>
                  <a:srgbClr val="99FF33"/>
                </a:solidFill>
                <a:effectLst>
                  <a:outerShdw blurRad="38100" dist="38100" dir="2700000" algn="tl">
                    <a:srgbClr val="000000"/>
                  </a:outerShdw>
                </a:effectLst>
              </a:rPr>
              <a:t>X</a:t>
            </a:r>
            <a:r>
              <a:rPr kumimoji="0" lang="zh-CN" altLang="en-US" sz="2600" dirty="0">
                <a:solidFill>
                  <a:srgbClr val="99FF33"/>
                </a:solidFill>
                <a:effectLst>
                  <a:outerShdw blurRad="38100" dist="38100" dir="2700000" algn="tl">
                    <a:srgbClr val="000000"/>
                  </a:outerShdw>
                </a:effectLst>
              </a:rPr>
              <a:t>关于</a:t>
            </a:r>
            <a:r>
              <a:rPr kumimoji="0" lang="en-US" altLang="zh-CN" sz="2600" dirty="0">
                <a:solidFill>
                  <a:srgbClr val="99FF33"/>
                </a:solidFill>
                <a:effectLst>
                  <a:outerShdw blurRad="38100" dist="38100" dir="2700000" algn="tl">
                    <a:srgbClr val="000000"/>
                  </a:outerShdw>
                </a:effectLst>
              </a:rPr>
              <a:t>F</a:t>
            </a:r>
            <a:r>
              <a:rPr kumimoji="0" lang="zh-CN" altLang="en-US" sz="2600" dirty="0">
                <a:solidFill>
                  <a:srgbClr val="99FF33"/>
                </a:solidFill>
                <a:effectLst>
                  <a:outerShdw blurRad="38100" dist="38100" dir="2700000" algn="tl">
                    <a:srgbClr val="000000"/>
                  </a:outerShdw>
                </a:effectLst>
              </a:rPr>
              <a:t>的闭包</a:t>
            </a:r>
            <a:r>
              <a:rPr kumimoji="0" lang="en-US" altLang="zh-CN" sz="2600" dirty="0">
                <a:solidFill>
                  <a:srgbClr val="99FF33"/>
                </a:solidFill>
                <a:effectLst>
                  <a:outerShdw blurRad="38100" dist="38100" dir="2700000" algn="tl">
                    <a:srgbClr val="000000"/>
                  </a:outerShdw>
                </a:effectLst>
              </a:rPr>
              <a:t>X</a:t>
            </a:r>
            <a:r>
              <a:rPr kumimoji="0" lang="en-US" altLang="zh-CN" sz="2600" baseline="30000" dirty="0">
                <a:solidFill>
                  <a:srgbClr val="99FF33"/>
                </a:solidFill>
                <a:effectLst>
                  <a:outerShdw blurRad="38100" dist="38100" dir="2700000" algn="tl">
                    <a:srgbClr val="000000"/>
                  </a:outerShdw>
                </a:effectLst>
              </a:rPr>
              <a:t>+</a:t>
            </a:r>
            <a:r>
              <a:rPr kumimoji="0" lang="zh-CN" altLang="en-US" sz="2600" dirty="0">
                <a:solidFill>
                  <a:srgbClr val="99FF33"/>
                </a:solidFill>
                <a:effectLst>
                  <a:outerShdw blurRad="38100" dist="38100" dir="2700000" algn="tl">
                    <a:srgbClr val="000000"/>
                  </a:outerShdw>
                </a:effectLst>
              </a:rPr>
              <a:t>。</a:t>
            </a:r>
          </a:p>
          <a:p>
            <a:pPr>
              <a:spcAft>
                <a:spcPct val="40000"/>
              </a:spcAft>
              <a:buSzTx/>
              <a:buFontTx/>
              <a:buNone/>
              <a:tabLst>
                <a:tab pos="715963" algn="l"/>
                <a:tab pos="1905000" algn="l"/>
              </a:tabLst>
              <a:defRPr/>
            </a:pPr>
            <a:r>
              <a:rPr kumimoji="0" lang="zh-CN" altLang="en-US" sz="2600" dirty="0">
                <a:solidFill>
                  <a:srgbClr val="FFFF00"/>
                </a:solidFill>
                <a:effectLst>
                  <a:outerShdw blurRad="38100" dist="38100" dir="2700000" algn="tl">
                    <a:srgbClr val="000000"/>
                  </a:outerShdw>
                </a:effectLst>
              </a:rPr>
              <a:t>计算方法和计算步骤：</a:t>
            </a:r>
          </a:p>
          <a:p>
            <a:pPr>
              <a:lnSpc>
                <a:spcPct val="120000"/>
              </a:lnSpc>
              <a:spcAft>
                <a:spcPct val="0"/>
              </a:spcAft>
              <a:buSzTx/>
              <a:buFontTx/>
              <a:buNone/>
              <a:tabLst>
                <a:tab pos="715963" algn="l"/>
                <a:tab pos="1905000" algn="l"/>
              </a:tabLst>
              <a:defRPr/>
            </a:pPr>
            <a:r>
              <a:rPr kumimoji="0" lang="zh-CN" altLang="en-US" sz="2600" dirty="0">
                <a:solidFill>
                  <a:srgbClr val="99FF33"/>
                </a:solidFill>
                <a:effectLst>
                  <a:outerShdw blurRad="38100" dist="38100" dir="2700000" algn="tl">
                    <a:srgbClr val="000000"/>
                  </a:outerShdw>
                </a:effectLst>
              </a:rPr>
              <a:t>⑴　设置初始值：令</a:t>
            </a:r>
            <a:r>
              <a:rPr kumimoji="0" lang="en-US" altLang="zh-CN" sz="2600" dirty="0">
                <a:solidFill>
                  <a:srgbClr val="99FF33"/>
                </a:solidFill>
                <a:effectLst>
                  <a:outerShdw blurRad="38100" dist="38100" dir="2700000" algn="tl">
                    <a:srgbClr val="000000"/>
                  </a:outerShdw>
                </a:effectLst>
              </a:rPr>
              <a:t>X</a:t>
            </a:r>
            <a:r>
              <a:rPr kumimoji="0" lang="en-US" altLang="zh-CN" sz="2600" baseline="-25000" dirty="0">
                <a:solidFill>
                  <a:srgbClr val="99FF33"/>
                </a:solidFill>
                <a:effectLst>
                  <a:outerShdw blurRad="38100" dist="38100" dir="2700000" algn="tl">
                    <a:srgbClr val="000000"/>
                  </a:outerShdw>
                </a:effectLst>
              </a:rPr>
              <a:t>0</a:t>
            </a:r>
            <a:r>
              <a:rPr kumimoji="0" lang="zh-CN" altLang="en-US" sz="2600" dirty="0">
                <a:solidFill>
                  <a:srgbClr val="99FF33"/>
                </a:solidFill>
                <a:effectLst>
                  <a:outerShdw blurRad="38100" dist="38100" dir="2700000" algn="tl">
                    <a:srgbClr val="000000"/>
                  </a:outerShdw>
                </a:effectLst>
              </a:rPr>
              <a:t>＝</a:t>
            </a:r>
            <a:r>
              <a:rPr kumimoji="0" lang="en-US" altLang="zh-CN" sz="2600" dirty="0">
                <a:solidFill>
                  <a:srgbClr val="99FF33"/>
                </a:solidFill>
                <a:effectLst>
                  <a:outerShdw blurRad="38100" dist="38100" dir="2700000" algn="tl">
                    <a:srgbClr val="000000"/>
                  </a:outerShdw>
                </a:effectLst>
              </a:rPr>
              <a:t>φ</a:t>
            </a:r>
            <a:r>
              <a:rPr kumimoji="0" lang="zh-CN" altLang="en-US" sz="2600" dirty="0">
                <a:solidFill>
                  <a:srgbClr val="99FF33"/>
                </a:solidFill>
                <a:effectLst>
                  <a:outerShdw blurRad="38100" dist="38100" dir="2700000" algn="tl">
                    <a:srgbClr val="000000"/>
                  </a:outerShdw>
                </a:effectLst>
              </a:rPr>
              <a:t>，</a:t>
            </a:r>
            <a:r>
              <a:rPr kumimoji="0" lang="en-US" altLang="zh-CN" sz="2600" dirty="0">
                <a:solidFill>
                  <a:srgbClr val="99FF33"/>
                </a:solidFill>
                <a:effectLst>
                  <a:outerShdw blurRad="38100" dist="38100" dir="2700000" algn="tl">
                    <a:srgbClr val="000000"/>
                  </a:outerShdw>
                </a:effectLst>
              </a:rPr>
              <a:t>X</a:t>
            </a:r>
            <a:r>
              <a:rPr kumimoji="0" lang="en-US" altLang="zh-CN" sz="2600" baseline="-25000" dirty="0">
                <a:solidFill>
                  <a:srgbClr val="99FF33"/>
                </a:solidFill>
                <a:effectLst>
                  <a:outerShdw blurRad="38100" dist="38100" dir="2700000" algn="tl">
                    <a:srgbClr val="000000"/>
                  </a:outerShdw>
                </a:effectLst>
              </a:rPr>
              <a:t>1</a:t>
            </a:r>
            <a:r>
              <a:rPr kumimoji="0" lang="zh-CN" altLang="en-US" sz="2600" dirty="0">
                <a:solidFill>
                  <a:srgbClr val="99FF33"/>
                </a:solidFill>
                <a:effectLst>
                  <a:outerShdw blurRad="38100" dist="38100" dir="2700000" algn="tl">
                    <a:srgbClr val="000000"/>
                  </a:outerShdw>
                </a:effectLst>
              </a:rPr>
              <a:t>＝</a:t>
            </a:r>
            <a:r>
              <a:rPr kumimoji="0" lang="en-US" altLang="zh-CN" sz="2600" dirty="0">
                <a:solidFill>
                  <a:srgbClr val="99FF33"/>
                </a:solidFill>
                <a:effectLst>
                  <a:outerShdw blurRad="38100" dist="38100" dir="2700000" algn="tl">
                    <a:srgbClr val="000000"/>
                  </a:outerShdw>
                </a:effectLst>
              </a:rPr>
              <a:t>X </a:t>
            </a:r>
            <a:r>
              <a:rPr kumimoji="0" lang="zh-CN" altLang="en-US" sz="2600" dirty="0">
                <a:solidFill>
                  <a:srgbClr val="99FF33"/>
                </a:solidFill>
                <a:effectLst>
                  <a:outerShdw blurRad="38100" dist="38100" dir="2700000" algn="tl">
                    <a:srgbClr val="000000"/>
                  </a:outerShdw>
                </a:effectLst>
              </a:rPr>
              <a:t>；</a:t>
            </a:r>
          </a:p>
          <a:p>
            <a:pPr>
              <a:lnSpc>
                <a:spcPct val="120000"/>
              </a:lnSpc>
              <a:spcAft>
                <a:spcPct val="0"/>
              </a:spcAft>
              <a:buSzTx/>
              <a:buFontTx/>
              <a:buNone/>
              <a:tabLst>
                <a:tab pos="715963" algn="l"/>
                <a:tab pos="1905000" algn="l"/>
              </a:tabLst>
              <a:defRPr/>
            </a:pPr>
            <a:r>
              <a:rPr kumimoji="0" lang="zh-CN" altLang="en-US" sz="2600" dirty="0">
                <a:solidFill>
                  <a:srgbClr val="99FF33"/>
                </a:solidFill>
                <a:effectLst>
                  <a:outerShdw blurRad="38100" dist="38100" dir="2700000" algn="tl">
                    <a:srgbClr val="000000"/>
                  </a:outerShdw>
                </a:effectLst>
              </a:rPr>
              <a:t>⑵　如果</a:t>
            </a:r>
            <a:r>
              <a:rPr kumimoji="0" lang="en-US" altLang="zh-CN" sz="2600" dirty="0">
                <a:solidFill>
                  <a:srgbClr val="99FF33"/>
                </a:solidFill>
                <a:effectLst>
                  <a:outerShdw blurRad="38100" dist="38100" dir="2700000" algn="tl">
                    <a:srgbClr val="000000"/>
                  </a:outerShdw>
                </a:effectLst>
              </a:rPr>
              <a:t>X</a:t>
            </a:r>
            <a:r>
              <a:rPr kumimoji="0" lang="en-US" altLang="zh-CN" sz="2600" baseline="-25000" dirty="0">
                <a:solidFill>
                  <a:srgbClr val="99FF33"/>
                </a:solidFill>
                <a:effectLst>
                  <a:outerShdw blurRad="38100" dist="38100" dir="2700000" algn="tl">
                    <a:srgbClr val="000000"/>
                  </a:outerShdw>
                </a:effectLst>
              </a:rPr>
              <a:t>0</a:t>
            </a:r>
            <a:r>
              <a:rPr kumimoji="0" lang="en-US" altLang="zh-CN" sz="2600" dirty="0">
                <a:solidFill>
                  <a:srgbClr val="99FF33"/>
                </a:solidFill>
                <a:effectLst>
                  <a:outerShdw blurRad="38100" dist="38100" dir="2700000" algn="tl">
                    <a:srgbClr val="000000"/>
                  </a:outerShdw>
                </a:effectLst>
                <a:latin typeface="Symbol"/>
              </a:rPr>
              <a:t>¹</a:t>
            </a:r>
            <a:r>
              <a:rPr kumimoji="0" lang="en-US" altLang="zh-CN" sz="2600" dirty="0">
                <a:solidFill>
                  <a:srgbClr val="99FF33"/>
                </a:solidFill>
                <a:effectLst>
                  <a:outerShdw blurRad="38100" dist="38100" dir="2700000" algn="tl">
                    <a:srgbClr val="000000"/>
                  </a:outerShdw>
                </a:effectLst>
              </a:rPr>
              <a:t>X</a:t>
            </a:r>
            <a:r>
              <a:rPr kumimoji="0" lang="en-US" altLang="zh-CN" sz="2600" baseline="-25000" dirty="0">
                <a:solidFill>
                  <a:srgbClr val="99FF33"/>
                </a:solidFill>
                <a:effectLst>
                  <a:outerShdw blurRad="38100" dist="38100" dir="2700000" algn="tl">
                    <a:srgbClr val="000000"/>
                  </a:outerShdw>
                </a:effectLst>
              </a:rPr>
              <a:t>1</a:t>
            </a:r>
            <a:r>
              <a:rPr kumimoji="0" lang="zh-CN" altLang="en-US" sz="2600" dirty="0">
                <a:solidFill>
                  <a:srgbClr val="99FF33"/>
                </a:solidFill>
                <a:effectLst>
                  <a:outerShdw blurRad="38100" dist="38100" dir="2700000" algn="tl">
                    <a:srgbClr val="000000"/>
                  </a:outerShdw>
                </a:effectLst>
              </a:rPr>
              <a:t>，令</a:t>
            </a:r>
            <a:r>
              <a:rPr kumimoji="0" lang="en-US" altLang="zh-CN" sz="2600" dirty="0">
                <a:solidFill>
                  <a:srgbClr val="99FF33"/>
                </a:solidFill>
                <a:effectLst>
                  <a:outerShdw blurRad="38100" dist="38100" dir="2700000" algn="tl">
                    <a:srgbClr val="000000"/>
                  </a:outerShdw>
                </a:effectLst>
              </a:rPr>
              <a:t>X</a:t>
            </a:r>
            <a:r>
              <a:rPr kumimoji="0" lang="en-US" altLang="zh-CN" sz="2600" baseline="-25000" dirty="0">
                <a:solidFill>
                  <a:srgbClr val="99FF33"/>
                </a:solidFill>
                <a:effectLst>
                  <a:outerShdw blurRad="38100" dist="38100" dir="2700000" algn="tl">
                    <a:srgbClr val="000000"/>
                  </a:outerShdw>
                </a:effectLst>
              </a:rPr>
              <a:t>0</a:t>
            </a:r>
            <a:r>
              <a:rPr kumimoji="0" lang="zh-CN" altLang="en-US" sz="2600" dirty="0">
                <a:solidFill>
                  <a:srgbClr val="99FF33"/>
                </a:solidFill>
                <a:effectLst>
                  <a:outerShdw blurRad="38100" dist="38100" dir="2700000" algn="tl">
                    <a:srgbClr val="000000"/>
                  </a:outerShdw>
                </a:effectLst>
              </a:rPr>
              <a:t>＝</a:t>
            </a:r>
            <a:r>
              <a:rPr kumimoji="0" lang="en-US" altLang="zh-CN" sz="2600" dirty="0">
                <a:solidFill>
                  <a:srgbClr val="99FF33"/>
                </a:solidFill>
                <a:effectLst>
                  <a:outerShdw blurRad="38100" dist="38100" dir="2700000" algn="tl">
                    <a:srgbClr val="000000"/>
                  </a:outerShdw>
                </a:effectLst>
              </a:rPr>
              <a:t>X</a:t>
            </a:r>
            <a:r>
              <a:rPr kumimoji="0" lang="en-US" altLang="zh-CN" sz="2600" baseline="-25000" dirty="0">
                <a:solidFill>
                  <a:srgbClr val="99FF33"/>
                </a:solidFill>
                <a:effectLst>
                  <a:outerShdw blurRad="38100" dist="38100" dir="2700000" algn="tl">
                    <a:srgbClr val="000000"/>
                  </a:outerShdw>
                </a:effectLst>
              </a:rPr>
              <a:t>1</a:t>
            </a:r>
            <a:r>
              <a:rPr kumimoji="0" lang="zh-CN" altLang="en-US" sz="2600" dirty="0">
                <a:solidFill>
                  <a:srgbClr val="99FF33"/>
                </a:solidFill>
                <a:effectLst>
                  <a:outerShdw blurRad="38100" dist="38100" dir="2700000" algn="tl">
                    <a:srgbClr val="000000"/>
                  </a:outerShdw>
                </a:effectLst>
              </a:rPr>
              <a:t>，否则转⑷ ；</a:t>
            </a:r>
          </a:p>
          <a:p>
            <a:pPr>
              <a:lnSpc>
                <a:spcPct val="120000"/>
              </a:lnSpc>
              <a:spcAft>
                <a:spcPct val="0"/>
              </a:spcAft>
              <a:buSzTx/>
              <a:buFontTx/>
              <a:buNone/>
              <a:tabLst>
                <a:tab pos="715963" algn="l"/>
                <a:tab pos="1905000" algn="l"/>
              </a:tabLst>
              <a:defRPr/>
            </a:pPr>
            <a:r>
              <a:rPr kumimoji="0" lang="zh-CN" altLang="en-US" sz="2600" dirty="0">
                <a:solidFill>
                  <a:srgbClr val="99FF33"/>
                </a:solidFill>
                <a:effectLst>
                  <a:outerShdw blurRad="38100" dist="38100" dir="2700000" algn="tl">
                    <a:srgbClr val="000000"/>
                  </a:outerShdw>
                </a:effectLst>
              </a:rPr>
              <a:t>⑶  构造函数依赖集</a:t>
            </a:r>
            <a:r>
              <a:rPr kumimoji="0" lang="en-US" altLang="zh-CN" sz="2600" dirty="0">
                <a:solidFill>
                  <a:srgbClr val="99FF33"/>
                </a:solidFill>
                <a:effectLst>
                  <a:outerShdw blurRad="38100" dist="38100" dir="2700000" algn="tl">
                    <a:srgbClr val="000000"/>
                  </a:outerShdw>
                </a:effectLst>
              </a:rPr>
              <a:t>F</a:t>
            </a:r>
            <a:r>
              <a:rPr kumimoji="0" lang="en-US" altLang="zh-CN" sz="2600" dirty="0">
                <a:solidFill>
                  <a:srgbClr val="99FF33"/>
                </a:solidFill>
                <a:effectLst>
                  <a:outerShdw blurRad="38100" dist="38100" dir="2700000" algn="tl">
                    <a:srgbClr val="000000"/>
                  </a:outerShdw>
                </a:effectLst>
                <a:latin typeface="Symbol"/>
              </a:rPr>
              <a:t>¢</a:t>
            </a:r>
            <a:r>
              <a:rPr kumimoji="0" lang="en-US" altLang="zh-CN" sz="2600" dirty="0">
                <a:solidFill>
                  <a:srgbClr val="99FF33"/>
                </a:solidFill>
                <a:effectLst>
                  <a:outerShdw blurRad="38100" dist="38100" dir="2700000" algn="tl">
                    <a:srgbClr val="000000"/>
                  </a:outerShdw>
                </a:effectLst>
              </a:rPr>
              <a:t>={Y→Z | (Y→Z)</a:t>
            </a:r>
            <a:r>
              <a:rPr kumimoji="0" lang="en-US" altLang="zh-CN" sz="2600" dirty="0">
                <a:solidFill>
                  <a:srgbClr val="99FF33"/>
                </a:solidFill>
                <a:effectLst>
                  <a:outerShdw blurRad="38100" dist="38100" dir="2700000" algn="tl">
                    <a:srgbClr val="000000"/>
                  </a:outerShdw>
                </a:effectLst>
                <a:latin typeface="Symbol"/>
              </a:rPr>
              <a:t>Î</a:t>
            </a:r>
            <a:r>
              <a:rPr kumimoji="0" lang="en-US" altLang="zh-CN" sz="2600" dirty="0">
                <a:solidFill>
                  <a:srgbClr val="99FF33"/>
                </a:solidFill>
                <a:effectLst>
                  <a:outerShdw blurRad="38100" dist="38100" dir="2700000" algn="tl">
                    <a:srgbClr val="000000"/>
                  </a:outerShdw>
                </a:effectLst>
              </a:rPr>
              <a:t>F</a:t>
            </a:r>
            <a:r>
              <a:rPr kumimoji="0" lang="zh-CN" altLang="en-US" sz="2600" dirty="0">
                <a:solidFill>
                  <a:srgbClr val="99FF33"/>
                </a:solidFill>
                <a:effectLst>
                  <a:outerShdw blurRad="38100" dist="38100" dir="2700000" algn="tl">
                    <a:srgbClr val="000000"/>
                  </a:outerShdw>
                </a:effectLst>
              </a:rPr>
              <a:t>且</a:t>
            </a:r>
            <a:r>
              <a:rPr kumimoji="0" lang="en-US" altLang="zh-CN" sz="2600" dirty="0">
                <a:solidFill>
                  <a:srgbClr val="99FF33"/>
                </a:solidFill>
                <a:effectLst>
                  <a:outerShdw blurRad="38100" dist="38100" dir="2700000" algn="tl">
                    <a:srgbClr val="000000"/>
                  </a:outerShdw>
                </a:effectLst>
              </a:rPr>
              <a:t>Y</a:t>
            </a:r>
            <a:r>
              <a:rPr kumimoji="0" lang="en-US" altLang="zh-CN" sz="2600" dirty="0">
                <a:solidFill>
                  <a:srgbClr val="99FF33"/>
                </a:solidFill>
                <a:effectLst>
                  <a:outerShdw blurRad="38100" dist="38100" dir="2700000" algn="tl">
                    <a:srgbClr val="000000"/>
                  </a:outerShdw>
                </a:effectLst>
                <a:latin typeface="Symbol"/>
              </a:rPr>
              <a:t>Í</a:t>
            </a:r>
            <a:r>
              <a:rPr kumimoji="0" lang="en-US" altLang="zh-CN" sz="2600" dirty="0">
                <a:solidFill>
                  <a:srgbClr val="99FF33"/>
                </a:solidFill>
                <a:effectLst>
                  <a:outerShdw blurRad="38100" dist="38100" dir="2700000" algn="tl">
                    <a:srgbClr val="000000"/>
                  </a:outerShdw>
                </a:effectLst>
              </a:rPr>
              <a:t>X</a:t>
            </a:r>
            <a:r>
              <a:rPr kumimoji="0" lang="en-US" altLang="zh-CN" sz="2600" baseline="-25000" dirty="0">
                <a:solidFill>
                  <a:srgbClr val="99FF33"/>
                </a:solidFill>
                <a:effectLst>
                  <a:outerShdw blurRad="38100" dist="38100" dir="2700000" algn="tl">
                    <a:srgbClr val="000000"/>
                  </a:outerShdw>
                </a:effectLst>
              </a:rPr>
              <a:t>1</a:t>
            </a:r>
            <a:r>
              <a:rPr kumimoji="0" lang="en-US" altLang="zh-CN" sz="2600" dirty="0">
                <a:solidFill>
                  <a:srgbClr val="99FF33"/>
                </a:solidFill>
                <a:effectLst>
                  <a:outerShdw blurRad="38100" dist="38100" dir="2700000" algn="tl">
                    <a:srgbClr val="000000"/>
                  </a:outerShdw>
                </a:effectLst>
              </a:rPr>
              <a:t>}</a:t>
            </a:r>
            <a:r>
              <a:rPr kumimoji="0" lang="zh-CN" altLang="en-US" sz="2600" dirty="0">
                <a:solidFill>
                  <a:srgbClr val="99FF33"/>
                </a:solidFill>
                <a:effectLst>
                  <a:outerShdw blurRad="38100" dist="38100" dir="2700000" algn="tl">
                    <a:srgbClr val="000000"/>
                  </a:outerShdw>
                </a:effectLst>
              </a:rPr>
              <a:t>，</a:t>
            </a:r>
          </a:p>
          <a:p>
            <a:pPr>
              <a:lnSpc>
                <a:spcPct val="120000"/>
              </a:lnSpc>
              <a:spcAft>
                <a:spcPct val="0"/>
              </a:spcAft>
              <a:buSzTx/>
              <a:buFontTx/>
              <a:buNone/>
              <a:tabLst>
                <a:tab pos="715963" algn="l"/>
                <a:tab pos="1905000" algn="l"/>
              </a:tabLst>
              <a:defRPr/>
            </a:pPr>
            <a:r>
              <a:rPr kumimoji="0" lang="zh-CN" altLang="en-US" sz="2600" dirty="0">
                <a:solidFill>
                  <a:srgbClr val="99FF33"/>
                </a:solidFill>
                <a:effectLst>
                  <a:outerShdw blurRad="38100" dist="38100" dir="2700000" algn="tl">
                    <a:srgbClr val="000000"/>
                  </a:outerShdw>
                </a:effectLst>
              </a:rPr>
              <a:t>    令 </a:t>
            </a:r>
            <a:r>
              <a:rPr kumimoji="0" lang="en-US" altLang="zh-CN" sz="2600" dirty="0">
                <a:solidFill>
                  <a:srgbClr val="99FF33"/>
                </a:solidFill>
                <a:effectLst>
                  <a:outerShdw blurRad="38100" dist="38100" dir="2700000" algn="tl">
                    <a:srgbClr val="000000"/>
                  </a:outerShdw>
                </a:effectLst>
              </a:rPr>
              <a:t>F=F-F</a:t>
            </a:r>
            <a:r>
              <a:rPr kumimoji="0" lang="en-US" altLang="zh-CN" sz="2600" dirty="0">
                <a:solidFill>
                  <a:srgbClr val="99FF33"/>
                </a:solidFill>
                <a:effectLst>
                  <a:outerShdw blurRad="38100" dist="38100" dir="2700000" algn="tl">
                    <a:srgbClr val="000000"/>
                  </a:outerShdw>
                </a:effectLst>
                <a:latin typeface="Symbol"/>
              </a:rPr>
              <a:t>¢</a:t>
            </a:r>
            <a:endParaRPr kumimoji="0" lang="en-US" altLang="zh-CN" sz="2600" dirty="0">
              <a:solidFill>
                <a:srgbClr val="99FF33"/>
              </a:solidFill>
              <a:effectLst>
                <a:outerShdw blurRad="38100" dist="38100" dir="2700000" algn="tl">
                  <a:srgbClr val="000000"/>
                </a:outerShdw>
              </a:effectLst>
            </a:endParaRPr>
          </a:p>
          <a:p>
            <a:pPr>
              <a:lnSpc>
                <a:spcPct val="120000"/>
              </a:lnSpc>
              <a:spcAft>
                <a:spcPct val="0"/>
              </a:spcAft>
              <a:buSzTx/>
              <a:buFontTx/>
              <a:buNone/>
              <a:tabLst>
                <a:tab pos="715963" algn="l"/>
                <a:tab pos="1905000" algn="l"/>
              </a:tabLst>
              <a:defRPr/>
            </a:pPr>
            <a:r>
              <a:rPr kumimoji="0" lang="zh-CN" altLang="en-US" sz="2600" dirty="0">
                <a:solidFill>
                  <a:srgbClr val="99FF33"/>
                </a:solidFill>
                <a:effectLst>
                  <a:outerShdw blurRad="38100" dist="38100" dir="2700000" algn="tl">
                    <a:srgbClr val="000000"/>
                  </a:outerShdw>
                </a:effectLst>
              </a:rPr>
              <a:t>    对</a:t>
            </a:r>
            <a:r>
              <a:rPr kumimoji="0" lang="en-US" altLang="zh-CN" sz="2600" dirty="0">
                <a:solidFill>
                  <a:srgbClr val="99FF33"/>
                </a:solidFill>
                <a:effectLst>
                  <a:outerShdw blurRad="38100" dist="38100" dir="2700000" algn="tl">
                    <a:srgbClr val="000000"/>
                  </a:outerShdw>
                </a:effectLst>
              </a:rPr>
              <a:t>F</a:t>
            </a:r>
            <a:r>
              <a:rPr kumimoji="0" lang="en-US" altLang="zh-CN" sz="2600" dirty="0">
                <a:solidFill>
                  <a:srgbClr val="99FF33"/>
                </a:solidFill>
                <a:effectLst>
                  <a:outerShdw blurRad="38100" dist="38100" dir="2700000" algn="tl">
                    <a:srgbClr val="000000"/>
                  </a:outerShdw>
                </a:effectLst>
                <a:latin typeface="Symbol"/>
              </a:rPr>
              <a:t>¢</a:t>
            </a:r>
            <a:r>
              <a:rPr kumimoji="0" lang="zh-CN" altLang="en-US" sz="2600" dirty="0">
                <a:solidFill>
                  <a:srgbClr val="99FF33"/>
                </a:solidFill>
                <a:effectLst>
                  <a:outerShdw blurRad="38100" dist="38100" dir="2700000" algn="tl">
                    <a:srgbClr val="000000"/>
                  </a:outerShdw>
                </a:effectLst>
              </a:rPr>
              <a:t>中的每一个函数依赖</a:t>
            </a:r>
            <a:r>
              <a:rPr kumimoji="0" lang="en-US" altLang="zh-CN" sz="2600" dirty="0">
                <a:solidFill>
                  <a:srgbClr val="99FF33"/>
                </a:solidFill>
                <a:effectLst>
                  <a:outerShdw blurRad="38100" dist="38100" dir="2700000" algn="tl">
                    <a:srgbClr val="000000"/>
                  </a:outerShdw>
                </a:effectLst>
              </a:rPr>
              <a:t>Y→Z,</a:t>
            </a:r>
            <a:r>
              <a:rPr kumimoji="0" lang="zh-CN" altLang="en-US" sz="2600" dirty="0">
                <a:solidFill>
                  <a:srgbClr val="99FF33"/>
                </a:solidFill>
                <a:effectLst>
                  <a:outerShdw blurRad="38100" dist="38100" dir="2700000" algn="tl">
                    <a:srgbClr val="000000"/>
                  </a:outerShdw>
                </a:effectLst>
              </a:rPr>
              <a:t>令</a:t>
            </a:r>
            <a:r>
              <a:rPr kumimoji="0" lang="en-US" altLang="zh-CN" sz="2600" dirty="0">
                <a:solidFill>
                  <a:srgbClr val="99FF33"/>
                </a:solidFill>
                <a:effectLst>
                  <a:outerShdw blurRad="38100" dist="38100" dir="2700000" algn="tl">
                    <a:srgbClr val="000000"/>
                  </a:outerShdw>
                </a:effectLst>
              </a:rPr>
              <a:t>X</a:t>
            </a:r>
            <a:r>
              <a:rPr kumimoji="0" lang="en-US" altLang="zh-CN" sz="2600" baseline="-25000" dirty="0">
                <a:solidFill>
                  <a:srgbClr val="99FF33"/>
                </a:solidFill>
                <a:effectLst>
                  <a:outerShdw blurRad="38100" dist="38100" dir="2700000" algn="tl">
                    <a:srgbClr val="000000"/>
                  </a:outerShdw>
                </a:effectLst>
              </a:rPr>
              <a:t>1</a:t>
            </a:r>
            <a:r>
              <a:rPr kumimoji="0" lang="en-US" altLang="zh-CN" sz="2600" dirty="0">
                <a:solidFill>
                  <a:srgbClr val="99FF33"/>
                </a:solidFill>
                <a:effectLst>
                  <a:outerShdw blurRad="38100" dist="38100" dir="2700000" algn="tl">
                    <a:srgbClr val="000000"/>
                  </a:outerShdw>
                </a:effectLst>
              </a:rPr>
              <a:t>= X</a:t>
            </a:r>
            <a:r>
              <a:rPr kumimoji="0" lang="en-US" altLang="zh-CN" sz="2600" baseline="-25000" dirty="0">
                <a:solidFill>
                  <a:srgbClr val="99FF33"/>
                </a:solidFill>
                <a:effectLst>
                  <a:outerShdw blurRad="38100" dist="38100" dir="2700000" algn="tl">
                    <a:srgbClr val="000000"/>
                  </a:outerShdw>
                </a:effectLst>
              </a:rPr>
              <a:t>1</a:t>
            </a:r>
            <a:r>
              <a:rPr kumimoji="0" lang="en-US" altLang="zh-CN" sz="2600" dirty="0">
                <a:solidFill>
                  <a:srgbClr val="99FF33"/>
                </a:solidFill>
                <a:effectLst>
                  <a:outerShdw blurRad="38100" dist="38100" dir="2700000" algn="tl">
                    <a:srgbClr val="000000"/>
                  </a:outerShdw>
                </a:effectLst>
              </a:rPr>
              <a:t>∪Z,</a:t>
            </a:r>
            <a:r>
              <a:rPr kumimoji="0" lang="zh-CN" altLang="en-US" sz="2600" dirty="0">
                <a:solidFill>
                  <a:srgbClr val="99FF33"/>
                </a:solidFill>
                <a:effectLst>
                  <a:outerShdw blurRad="38100" dist="38100" dir="2700000" algn="tl">
                    <a:srgbClr val="000000"/>
                  </a:outerShdw>
                </a:effectLst>
              </a:rPr>
              <a:t>转⑵</a:t>
            </a:r>
          </a:p>
          <a:p>
            <a:pPr>
              <a:lnSpc>
                <a:spcPct val="120000"/>
              </a:lnSpc>
              <a:spcAft>
                <a:spcPct val="0"/>
              </a:spcAft>
              <a:buSzTx/>
              <a:buFontTx/>
              <a:buNone/>
              <a:tabLst>
                <a:tab pos="715963" algn="l"/>
                <a:tab pos="1905000" algn="l"/>
              </a:tabLst>
              <a:defRPr/>
            </a:pPr>
            <a:r>
              <a:rPr kumimoji="0" lang="zh-CN" altLang="en-US" sz="2600" dirty="0">
                <a:solidFill>
                  <a:srgbClr val="99FF33"/>
                </a:solidFill>
                <a:effectLst>
                  <a:outerShdw blurRad="38100" dist="38100" dir="2700000" algn="tl">
                    <a:srgbClr val="000000"/>
                  </a:outerShdw>
                </a:effectLst>
              </a:rPr>
              <a:t>⑷  输出</a:t>
            </a:r>
            <a:r>
              <a:rPr kumimoji="0" lang="en-US" altLang="zh-CN" sz="2600" dirty="0">
                <a:solidFill>
                  <a:srgbClr val="99FF33"/>
                </a:solidFill>
                <a:effectLst>
                  <a:outerShdw blurRad="38100" dist="38100" dir="2700000" algn="tl">
                    <a:srgbClr val="000000"/>
                  </a:outerShdw>
                </a:effectLst>
              </a:rPr>
              <a:t>X</a:t>
            </a:r>
            <a:r>
              <a:rPr kumimoji="0" lang="en-US" altLang="zh-CN" sz="2600" baseline="-25000" dirty="0">
                <a:solidFill>
                  <a:srgbClr val="99FF33"/>
                </a:solidFill>
                <a:effectLst>
                  <a:outerShdw blurRad="38100" dist="38100" dir="2700000" algn="tl">
                    <a:srgbClr val="000000"/>
                  </a:outerShdw>
                </a:effectLst>
              </a:rPr>
              <a:t>1</a:t>
            </a:r>
            <a:r>
              <a:rPr kumimoji="0" lang="zh-CN" altLang="en-US" sz="2600" dirty="0">
                <a:solidFill>
                  <a:srgbClr val="99FF33"/>
                </a:solidFill>
                <a:effectLst>
                  <a:outerShdw blurRad="38100" dist="38100" dir="2700000" algn="tl">
                    <a:srgbClr val="000000"/>
                  </a:outerShdw>
                </a:effectLst>
              </a:rPr>
              <a:t>，它就是</a:t>
            </a:r>
            <a:r>
              <a:rPr kumimoji="0" lang="en-US" altLang="zh-CN" sz="2600" dirty="0">
                <a:solidFill>
                  <a:srgbClr val="99FF33"/>
                </a:solidFill>
                <a:effectLst>
                  <a:outerShdw blurRad="38100" dist="38100" dir="2700000" algn="tl">
                    <a:srgbClr val="000000"/>
                  </a:outerShdw>
                </a:effectLst>
              </a:rPr>
              <a:t>X</a:t>
            </a:r>
            <a:r>
              <a:rPr kumimoji="0" lang="en-US" altLang="zh-CN" sz="2600" baseline="30000" dirty="0">
                <a:solidFill>
                  <a:srgbClr val="99FF33"/>
                </a:solidFill>
                <a:effectLst>
                  <a:outerShdw blurRad="38100" dist="38100" dir="2700000" algn="tl">
                    <a:srgbClr val="000000"/>
                  </a:outerShdw>
                </a:effectLst>
              </a:rPr>
              <a:t>+</a:t>
            </a:r>
            <a:r>
              <a:rPr kumimoji="0" lang="zh-CN" altLang="en-US" sz="2600" dirty="0">
                <a:solidFill>
                  <a:srgbClr val="99FF33"/>
                </a:solidFill>
                <a:effectLst>
                  <a:outerShdw blurRad="38100" dist="38100" dir="2700000" algn="tl">
                    <a:srgbClr val="000000"/>
                  </a:outerShdw>
                </a:effectLst>
              </a:rPr>
              <a:t>。</a:t>
            </a:r>
          </a:p>
        </p:txBody>
      </p:sp>
    </p:spTree>
    <p:extLst>
      <p:ext uri="{BB962C8B-B14F-4D97-AF65-F5344CB8AC3E}">
        <p14:creationId xmlns:p14="http://schemas.microsoft.com/office/powerpoint/2010/main" val="3682049818"/>
      </p:ext>
    </p:extLst>
  </p:cSld>
  <p:clrMapOvr>
    <a:masterClrMapping/>
  </p:clrMapOvr>
  <p:transition spd="med">
    <p:random/>
    <p:sndAc>
      <p:stSnd>
        <p:snd r:embed="rId2" name="camera.wav"/>
      </p:stSnd>
    </p:sndAc>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type="title"/>
          </p:nvPr>
        </p:nvSpPr>
        <p:spPr>
          <a:xfrm>
            <a:off x="62129" y="0"/>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pPr>
            <a:r>
              <a:rPr kumimoji="1" lang="zh-CN" altLang="en-US" sz="4000" b="1" kern="1200" dirty="0">
                <a:solidFill>
                  <a:srgbClr val="FFFFCC"/>
                </a:solidFill>
                <a:effectLst>
                  <a:outerShdw blurRad="38100" dist="38100" dir="2700000" algn="tl">
                    <a:srgbClr val="000000"/>
                  </a:outerShdw>
                </a:effectLst>
                <a:latin typeface="微软雅黑" panose="020B0503020204020204" pitchFamily="34" charset="-122"/>
                <a:ea typeface="微软雅黑" pitchFamily="34" charset="-122"/>
              </a:rPr>
              <a:t>属性集闭包</a:t>
            </a:r>
            <a:endParaRPr kumimoji="1" lang="en-US" altLang="zh-CN" sz="4000" b="1" kern="1200" dirty="0">
              <a:solidFill>
                <a:srgbClr val="FFFFCC"/>
              </a:solidFill>
              <a:effectLst>
                <a:outerShdw blurRad="38100" dist="38100" dir="2700000" algn="tl">
                  <a:srgbClr val="000000"/>
                </a:outerShdw>
              </a:effectLst>
              <a:latin typeface="微软雅黑" panose="020B0503020204020204" pitchFamily="34" charset="-122"/>
              <a:ea typeface="微软雅黑" pitchFamily="34" charset="-122"/>
            </a:endParaRPr>
          </a:p>
        </p:txBody>
      </p:sp>
      <p:sp>
        <p:nvSpPr>
          <p:cNvPr id="3" name="Text Box 4"/>
          <p:cNvSpPr txBox="1">
            <a:spLocks noChangeArrowheads="1"/>
          </p:cNvSpPr>
          <p:nvPr/>
        </p:nvSpPr>
        <p:spPr bwMode="auto">
          <a:xfrm>
            <a:off x="467544" y="908720"/>
            <a:ext cx="8382000" cy="1143000"/>
          </a:xfrm>
          <a:prstGeom prst="rect">
            <a:avLst/>
          </a:prstGeom>
          <a:noFill/>
          <a:ln w="12700" cap="sq">
            <a:noFill/>
            <a:miter lim="800000"/>
            <a:headEnd type="none" w="sm" len="sm"/>
            <a:tailEnd type="none" w="sm" len="sm"/>
          </a:ln>
          <a:effectLst/>
        </p:spPr>
        <p:txBody>
          <a:bodyPr/>
          <a:lstStyle/>
          <a:p>
            <a:pPr>
              <a:spcBef>
                <a:spcPct val="30000"/>
              </a:spcBef>
              <a:spcAft>
                <a:spcPct val="70000"/>
              </a:spcAft>
              <a:tabLst>
                <a:tab pos="715963" algn="l"/>
                <a:tab pos="1905000" algn="l"/>
              </a:tabLst>
              <a:defRPr/>
            </a:pPr>
            <a:r>
              <a:rPr lang="zh-CN" altLang="en-US" sz="2800" dirty="0">
                <a:solidFill>
                  <a:srgbClr val="CCFFCC"/>
                </a:solidFill>
                <a:effectLst>
                  <a:outerShdw blurRad="38100" dist="38100" dir="2700000" algn="tl">
                    <a:srgbClr val="000000"/>
                  </a:outerShdw>
                </a:effectLst>
              </a:rPr>
              <a:t>例</a:t>
            </a:r>
            <a:r>
              <a:rPr lang="en-US" altLang="zh-CN" sz="2800" dirty="0">
                <a:solidFill>
                  <a:srgbClr val="CCFFCC"/>
                </a:solidFill>
                <a:effectLst>
                  <a:outerShdw blurRad="38100" dist="38100" dir="2700000" algn="tl">
                    <a:srgbClr val="000000"/>
                  </a:outerShdw>
                </a:effectLst>
              </a:rPr>
              <a:t>:</a:t>
            </a:r>
            <a:r>
              <a:rPr lang="zh-CN" altLang="en-US" sz="2800" dirty="0">
                <a:solidFill>
                  <a:srgbClr val="99FF99"/>
                </a:solidFill>
                <a:effectLst>
                  <a:outerShdw blurRad="38100" dist="38100" dir="2700000" algn="tl">
                    <a:srgbClr val="000000"/>
                  </a:outerShdw>
                </a:effectLst>
              </a:rPr>
              <a:t>设有</a:t>
            </a:r>
            <a:r>
              <a:rPr lang="zh-CN" altLang="zh-CN" sz="2800" dirty="0">
                <a:solidFill>
                  <a:srgbClr val="99FF99"/>
                </a:solidFill>
                <a:effectLst>
                  <a:outerShdw blurRad="38100" dist="38100" dir="2700000" algn="tl">
                    <a:srgbClr val="000000"/>
                  </a:outerShdw>
                </a:effectLst>
              </a:rPr>
              <a:t>关系模式R</a:t>
            </a:r>
            <a:r>
              <a:rPr lang="zh-CN" altLang="en-US" sz="2800" dirty="0">
                <a:solidFill>
                  <a:srgbClr val="99FF99"/>
                </a:solidFill>
                <a:effectLst>
                  <a:outerShdw blurRad="38100" dist="38100" dir="2700000" algn="tl">
                    <a:srgbClr val="000000"/>
                  </a:outerShdw>
                </a:effectLst>
              </a:rPr>
              <a:t>(</a:t>
            </a:r>
            <a:r>
              <a:rPr lang="en-US" altLang="zh-CN" sz="2800" dirty="0">
                <a:solidFill>
                  <a:srgbClr val="99FF99"/>
                </a:solidFill>
                <a:effectLst>
                  <a:outerShdw blurRad="38100" dist="38100" dir="2700000" algn="tl">
                    <a:srgbClr val="000000"/>
                  </a:outerShdw>
                </a:effectLst>
              </a:rPr>
              <a:t>U,F)</a:t>
            </a:r>
            <a:r>
              <a:rPr lang="zh-CN" altLang="en-US" sz="2800" dirty="0">
                <a:solidFill>
                  <a:srgbClr val="99FF99"/>
                </a:solidFill>
                <a:effectLst>
                  <a:outerShdw blurRad="38100" dist="38100" dir="2700000" algn="tl">
                    <a:srgbClr val="000000"/>
                  </a:outerShdw>
                </a:effectLst>
              </a:rPr>
              <a:t>，其中</a:t>
            </a:r>
            <a:r>
              <a:rPr lang="zh-CN" altLang="zh-CN" sz="2800" dirty="0">
                <a:solidFill>
                  <a:srgbClr val="99FF99"/>
                </a:solidFill>
                <a:effectLst>
                  <a:outerShdw blurRad="38100" dist="38100" dir="2700000" algn="tl">
                    <a:srgbClr val="000000"/>
                  </a:outerShdw>
                </a:effectLst>
              </a:rPr>
              <a:t>U={A</a:t>
            </a:r>
            <a:r>
              <a:rPr lang="zh-CN" altLang="en-US" sz="2800" dirty="0">
                <a:solidFill>
                  <a:srgbClr val="99FF99"/>
                </a:solidFill>
                <a:effectLst>
                  <a:outerShdw blurRad="38100" dist="38100" dir="2700000" algn="tl">
                    <a:srgbClr val="000000"/>
                  </a:outerShdw>
                </a:effectLst>
              </a:rPr>
              <a:t>,</a:t>
            </a:r>
            <a:r>
              <a:rPr lang="zh-CN" altLang="zh-CN" sz="2800" dirty="0">
                <a:solidFill>
                  <a:srgbClr val="99FF99"/>
                </a:solidFill>
                <a:effectLst>
                  <a:outerShdw blurRad="38100" dist="38100" dir="2700000" algn="tl">
                    <a:srgbClr val="000000"/>
                  </a:outerShdw>
                </a:effectLst>
              </a:rPr>
              <a:t>B</a:t>
            </a:r>
            <a:r>
              <a:rPr lang="zh-CN" altLang="en-US" sz="2800" dirty="0">
                <a:solidFill>
                  <a:srgbClr val="99FF99"/>
                </a:solidFill>
                <a:effectLst>
                  <a:outerShdw blurRad="38100" dist="38100" dir="2700000" algn="tl">
                    <a:srgbClr val="000000"/>
                  </a:outerShdw>
                </a:effectLst>
              </a:rPr>
              <a:t>,</a:t>
            </a:r>
            <a:r>
              <a:rPr lang="zh-CN" altLang="zh-CN" sz="2800" dirty="0">
                <a:solidFill>
                  <a:srgbClr val="99FF99"/>
                </a:solidFill>
                <a:effectLst>
                  <a:outerShdw blurRad="38100" dist="38100" dir="2700000" algn="tl">
                    <a:srgbClr val="000000"/>
                  </a:outerShdw>
                </a:effectLst>
              </a:rPr>
              <a:t>C</a:t>
            </a:r>
            <a:r>
              <a:rPr lang="zh-CN" altLang="en-US" sz="2800" dirty="0">
                <a:solidFill>
                  <a:srgbClr val="99FF99"/>
                </a:solidFill>
                <a:effectLst>
                  <a:outerShdw blurRad="38100" dist="38100" dir="2700000" algn="tl">
                    <a:srgbClr val="000000"/>
                  </a:outerShdw>
                </a:effectLst>
              </a:rPr>
              <a:t>,</a:t>
            </a:r>
            <a:r>
              <a:rPr lang="zh-CN" altLang="zh-CN" sz="2800" dirty="0">
                <a:solidFill>
                  <a:srgbClr val="99FF99"/>
                </a:solidFill>
                <a:effectLst>
                  <a:outerShdw blurRad="38100" dist="38100" dir="2700000" algn="tl">
                    <a:srgbClr val="000000"/>
                  </a:outerShdw>
                </a:effectLst>
              </a:rPr>
              <a:t>D</a:t>
            </a:r>
            <a:r>
              <a:rPr lang="zh-CN" altLang="en-US" sz="2800" dirty="0">
                <a:solidFill>
                  <a:srgbClr val="99FF99"/>
                </a:solidFill>
                <a:effectLst>
                  <a:outerShdw blurRad="38100" dist="38100" dir="2700000" algn="tl">
                    <a:srgbClr val="000000"/>
                  </a:outerShdw>
                </a:effectLst>
              </a:rPr>
              <a:t>,</a:t>
            </a:r>
            <a:r>
              <a:rPr lang="zh-CN" altLang="zh-CN" sz="2800" dirty="0">
                <a:solidFill>
                  <a:srgbClr val="99FF99"/>
                </a:solidFill>
                <a:effectLst>
                  <a:outerShdw blurRad="38100" dist="38100" dir="2700000" algn="tl">
                    <a:srgbClr val="000000"/>
                  </a:outerShdw>
                </a:effectLst>
              </a:rPr>
              <a:t>E</a:t>
            </a:r>
            <a:r>
              <a:rPr lang="zh-CN" altLang="en-US" sz="2800" dirty="0">
                <a:solidFill>
                  <a:srgbClr val="99FF99"/>
                </a:solidFill>
                <a:effectLst>
                  <a:outerShdw blurRad="38100" dist="38100" dir="2700000" algn="tl">
                    <a:srgbClr val="000000"/>
                  </a:outerShdw>
                </a:effectLst>
              </a:rPr>
              <a:t>,</a:t>
            </a:r>
            <a:r>
              <a:rPr lang="zh-CN" altLang="zh-CN" sz="2800" dirty="0">
                <a:solidFill>
                  <a:srgbClr val="99FF99"/>
                </a:solidFill>
                <a:effectLst>
                  <a:outerShdw blurRad="38100" dist="38100" dir="2700000" algn="tl">
                    <a:srgbClr val="000000"/>
                  </a:outerShdw>
                </a:effectLst>
              </a:rPr>
              <a:t>G}, </a:t>
            </a:r>
            <a:r>
              <a:rPr lang="en-US" altLang="zh-CN" sz="2800" dirty="0">
                <a:solidFill>
                  <a:srgbClr val="99FF99"/>
                </a:solidFill>
                <a:effectLst>
                  <a:outerShdw blurRad="38100" dist="38100" dir="2700000" algn="tl">
                    <a:srgbClr val="000000"/>
                  </a:outerShdw>
                </a:effectLst>
              </a:rPr>
              <a:t>   </a:t>
            </a:r>
            <a:r>
              <a:rPr lang="zh-CN" altLang="zh-CN" sz="2800" dirty="0">
                <a:solidFill>
                  <a:srgbClr val="99FF99"/>
                </a:solidFill>
                <a:effectLst>
                  <a:outerShdw blurRad="38100" dist="38100" dir="2700000" algn="tl">
                    <a:srgbClr val="000000"/>
                  </a:outerShdw>
                </a:effectLst>
              </a:rPr>
              <a:t>F={AB→C, C→A, BC→D, ACD→B, D→EG, BE→C</a:t>
            </a:r>
            <a:r>
              <a:rPr lang="zh-CN" altLang="en-US" sz="2800" dirty="0">
                <a:solidFill>
                  <a:srgbClr val="99FF99"/>
                </a:solidFill>
                <a:effectLst>
                  <a:outerShdw blurRad="38100" dist="38100" dir="2700000" algn="tl">
                    <a:srgbClr val="000000"/>
                  </a:outerShdw>
                </a:effectLst>
              </a:rPr>
              <a:t>，</a:t>
            </a:r>
            <a:r>
              <a:rPr lang="zh-CN" altLang="zh-CN" sz="2800" dirty="0">
                <a:solidFill>
                  <a:srgbClr val="99FF99"/>
                </a:solidFill>
                <a:effectLst>
                  <a:outerShdw blurRad="38100" dist="38100" dir="2700000" algn="tl">
                    <a:srgbClr val="000000"/>
                  </a:outerShdw>
                </a:effectLst>
              </a:rPr>
              <a:t>CG→BD, CE→AG},</a:t>
            </a:r>
            <a:r>
              <a:rPr lang="zh-CN" altLang="en-US" sz="2800" dirty="0">
                <a:solidFill>
                  <a:srgbClr val="99FF99"/>
                </a:solidFill>
                <a:effectLst>
                  <a:outerShdw blurRad="38100" dist="38100" dir="2700000" algn="tl">
                    <a:srgbClr val="000000"/>
                  </a:outerShdw>
                </a:effectLst>
              </a:rPr>
              <a:t>求</a:t>
            </a:r>
            <a:r>
              <a:rPr lang="en-US" altLang="zh-CN" sz="2800" dirty="0">
                <a:solidFill>
                  <a:srgbClr val="99FF99"/>
                </a:solidFill>
                <a:effectLst>
                  <a:outerShdw blurRad="38100" dist="38100" dir="2700000" algn="tl">
                    <a:srgbClr val="000000"/>
                  </a:outerShdw>
                </a:effectLst>
              </a:rPr>
              <a:t>(BD)</a:t>
            </a:r>
            <a:r>
              <a:rPr lang="en-US" altLang="zh-CN" sz="2800" baseline="30000" dirty="0">
                <a:solidFill>
                  <a:srgbClr val="99FF99"/>
                </a:solidFill>
                <a:effectLst>
                  <a:outerShdw blurRad="38100" dist="38100" dir="2700000" algn="tl">
                    <a:srgbClr val="000000"/>
                  </a:outerShdw>
                </a:effectLst>
              </a:rPr>
              <a:t>+</a:t>
            </a:r>
            <a:r>
              <a:rPr lang="zh-CN" altLang="en-US" sz="2800" dirty="0">
                <a:solidFill>
                  <a:srgbClr val="99FF99"/>
                </a:solidFill>
                <a:effectLst>
                  <a:outerShdw blurRad="38100" dist="38100" dir="2700000" algn="tl">
                    <a:srgbClr val="000000"/>
                  </a:outerShdw>
                </a:effectLst>
              </a:rPr>
              <a:t>。</a:t>
            </a:r>
          </a:p>
        </p:txBody>
      </p:sp>
    </p:spTree>
    <p:extLst>
      <p:ext uri="{BB962C8B-B14F-4D97-AF65-F5344CB8AC3E}">
        <p14:creationId xmlns:p14="http://schemas.microsoft.com/office/powerpoint/2010/main" val="2570954103"/>
      </p:ext>
    </p:extLst>
  </p:cSld>
  <p:clrMapOvr>
    <a:masterClrMapping/>
  </p:clrMapOvr>
  <p:transition spd="med">
    <p:random/>
    <p:sndAc>
      <p:stSnd>
        <p:snd r:embed="rId2" name="camera.wav"/>
      </p:stSnd>
    </p:sndAc>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type="title"/>
          </p:nvPr>
        </p:nvSpPr>
        <p:spPr>
          <a:xfrm>
            <a:off x="62129" y="0"/>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pPr>
            <a:r>
              <a:rPr kumimoji="1" lang="zh-CN" altLang="en-US" sz="4000" b="1" kern="1200" dirty="0">
                <a:solidFill>
                  <a:srgbClr val="FFFFCC"/>
                </a:solidFill>
                <a:effectLst>
                  <a:outerShdw blurRad="38100" dist="38100" dir="2700000" algn="tl">
                    <a:srgbClr val="000000"/>
                  </a:outerShdw>
                </a:effectLst>
                <a:latin typeface="微软雅黑" panose="020B0503020204020204" pitchFamily="34" charset="-122"/>
                <a:ea typeface="微软雅黑" pitchFamily="34" charset="-122"/>
              </a:rPr>
              <a:t>属性集闭包</a:t>
            </a:r>
            <a:endParaRPr kumimoji="1" lang="en-US" altLang="zh-CN" sz="4000" b="1" kern="1200" dirty="0">
              <a:solidFill>
                <a:srgbClr val="FFFFCC"/>
              </a:solidFill>
              <a:effectLst>
                <a:outerShdw blurRad="38100" dist="38100" dir="2700000" algn="tl">
                  <a:srgbClr val="000000"/>
                </a:outerShdw>
              </a:effectLst>
              <a:latin typeface="微软雅黑" panose="020B0503020204020204" pitchFamily="34" charset="-122"/>
              <a:ea typeface="微软雅黑" pitchFamily="34" charset="-122"/>
            </a:endParaRPr>
          </a:p>
        </p:txBody>
      </p:sp>
      <p:sp>
        <p:nvSpPr>
          <p:cNvPr id="5" name="Rectangle 5"/>
          <p:cNvSpPr>
            <a:spLocks noChangeArrowheads="1"/>
          </p:cNvSpPr>
          <p:nvPr/>
        </p:nvSpPr>
        <p:spPr bwMode="auto">
          <a:xfrm>
            <a:off x="493713" y="2987824"/>
            <a:ext cx="8318500" cy="1311275"/>
          </a:xfrm>
          <a:prstGeom prst="rect">
            <a:avLst/>
          </a:prstGeom>
          <a:noFill/>
          <a:ln w="12700" cap="sq" algn="ctr">
            <a:noFill/>
            <a:miter lim="800000"/>
            <a:headEnd/>
            <a:tailEnd/>
          </a:ln>
          <a:effectLst/>
        </p:spPr>
        <p:txBody>
          <a:bodyPr/>
          <a:lstStyle/>
          <a:p>
            <a:pPr>
              <a:spcAft>
                <a:spcPct val="30000"/>
              </a:spcAft>
              <a:tabLst>
                <a:tab pos="715963" algn="l"/>
                <a:tab pos="1905000" algn="l"/>
              </a:tabLst>
              <a:defRPr/>
            </a:pPr>
            <a:r>
              <a:rPr lang="zh-CN" altLang="en-US" sz="2800" dirty="0">
                <a:solidFill>
                  <a:srgbClr val="CCFFCC"/>
                </a:solidFill>
                <a:effectLst>
                  <a:outerShdw blurRad="38100" dist="38100" dir="2700000" algn="tl">
                    <a:srgbClr val="000000"/>
                  </a:outerShdw>
                </a:effectLst>
              </a:rPr>
              <a:t>第一次：</a:t>
            </a:r>
          </a:p>
          <a:p>
            <a:pPr>
              <a:spcAft>
                <a:spcPct val="30000"/>
              </a:spcAft>
              <a:tabLst>
                <a:tab pos="715963" algn="l"/>
                <a:tab pos="1905000" algn="l"/>
              </a:tabLst>
              <a:defRPr/>
            </a:pPr>
            <a:r>
              <a:rPr lang="zh-CN" altLang="en-US" sz="2800" dirty="0">
                <a:solidFill>
                  <a:srgbClr val="CCFFCC"/>
                </a:solidFill>
                <a:effectLst>
                  <a:outerShdw blurRad="38100" dist="38100" dir="2700000" algn="tl">
                    <a:srgbClr val="000000"/>
                  </a:outerShdw>
                </a:effectLst>
              </a:rPr>
              <a:t>令当前</a:t>
            </a:r>
            <a:r>
              <a:rPr lang="en-US" altLang="zh-CN" sz="2800" dirty="0">
                <a:solidFill>
                  <a:srgbClr val="CCFFCC"/>
                </a:solidFill>
                <a:effectLst>
                  <a:outerShdw blurRad="38100" dist="38100" dir="2700000" algn="tl">
                    <a:srgbClr val="000000"/>
                  </a:outerShdw>
                </a:effectLst>
              </a:rPr>
              <a:t>(BD)</a:t>
            </a:r>
            <a:r>
              <a:rPr lang="en-US" altLang="zh-CN" sz="2800" baseline="30000" dirty="0">
                <a:solidFill>
                  <a:srgbClr val="CCFFCC"/>
                </a:solidFill>
                <a:effectLst>
                  <a:outerShdw blurRad="38100" dist="38100" dir="2700000" algn="tl">
                    <a:srgbClr val="000000"/>
                  </a:outerShdw>
                </a:effectLst>
              </a:rPr>
              <a:t>+ </a:t>
            </a:r>
            <a:r>
              <a:rPr lang="en-US" altLang="zh-CN" sz="2800" dirty="0">
                <a:solidFill>
                  <a:srgbClr val="CCFFCC"/>
                </a:solidFill>
                <a:effectLst>
                  <a:outerShdw blurRad="38100" dist="38100" dir="2700000" algn="tl">
                    <a:srgbClr val="000000"/>
                  </a:outerShdw>
                </a:effectLst>
              </a:rPr>
              <a:t>= {B,D}</a:t>
            </a:r>
          </a:p>
          <a:p>
            <a:pPr>
              <a:spcAft>
                <a:spcPct val="30000"/>
              </a:spcAft>
              <a:tabLst>
                <a:tab pos="715963" algn="l"/>
                <a:tab pos="1905000" algn="l"/>
              </a:tabLst>
              <a:defRPr/>
            </a:pPr>
            <a:r>
              <a:rPr lang="zh-CN" altLang="en-US" sz="2800" dirty="0">
                <a:solidFill>
                  <a:srgbClr val="CCFFCC"/>
                </a:solidFill>
                <a:effectLst>
                  <a:outerShdw blurRad="38100" dist="38100" dir="2700000" algn="tl">
                    <a:srgbClr val="000000"/>
                  </a:outerShdw>
                </a:effectLst>
              </a:rPr>
              <a:t>找出</a:t>
            </a:r>
            <a:r>
              <a:rPr lang="en-US" altLang="zh-CN" sz="2800" dirty="0">
                <a:solidFill>
                  <a:srgbClr val="CCFFCC"/>
                </a:solidFill>
                <a:effectLst>
                  <a:outerShdw blurRad="38100" dist="38100" dir="2700000" algn="tl">
                    <a:srgbClr val="000000"/>
                  </a:outerShdw>
                </a:effectLst>
              </a:rPr>
              <a:t>F</a:t>
            </a:r>
            <a:r>
              <a:rPr lang="zh-CN" altLang="en-US" sz="2800" dirty="0">
                <a:solidFill>
                  <a:srgbClr val="CCFFCC"/>
                </a:solidFill>
                <a:effectLst>
                  <a:outerShdw blurRad="38100" dist="38100" dir="2700000" algn="tl">
                    <a:srgbClr val="000000"/>
                  </a:outerShdw>
                </a:effectLst>
              </a:rPr>
              <a:t>中所有决定因子包含在</a:t>
            </a:r>
            <a:r>
              <a:rPr lang="en-US" altLang="zh-CN" sz="2800" dirty="0">
                <a:solidFill>
                  <a:srgbClr val="CCFFCC"/>
                </a:solidFill>
                <a:effectLst>
                  <a:outerShdw blurRad="38100" dist="38100" dir="2700000" algn="tl">
                    <a:srgbClr val="000000"/>
                  </a:outerShdw>
                </a:effectLst>
              </a:rPr>
              <a:t>(BD)</a:t>
            </a:r>
            <a:r>
              <a:rPr lang="en-US" altLang="zh-CN" sz="2800" baseline="30000" dirty="0">
                <a:solidFill>
                  <a:srgbClr val="CCFFCC"/>
                </a:solidFill>
                <a:effectLst>
                  <a:outerShdw blurRad="38100" dist="38100" dir="2700000" algn="tl">
                    <a:srgbClr val="000000"/>
                  </a:outerShdw>
                </a:effectLst>
              </a:rPr>
              <a:t>+</a:t>
            </a:r>
            <a:r>
              <a:rPr lang="zh-CN" altLang="en-US" sz="2800" dirty="0">
                <a:solidFill>
                  <a:srgbClr val="CCFFCC"/>
                </a:solidFill>
                <a:effectLst>
                  <a:outerShdw blurRad="38100" dist="38100" dir="2700000" algn="tl">
                    <a:srgbClr val="000000"/>
                  </a:outerShdw>
                </a:effectLst>
              </a:rPr>
              <a:t>中的函数依赖，将其右边部分并入</a:t>
            </a:r>
            <a:r>
              <a:rPr lang="en-US" altLang="zh-CN" sz="2800" dirty="0">
                <a:solidFill>
                  <a:srgbClr val="CCFFCC"/>
                </a:solidFill>
                <a:effectLst>
                  <a:outerShdw blurRad="38100" dist="38100" dir="2700000" algn="tl">
                    <a:srgbClr val="000000"/>
                  </a:outerShdw>
                </a:effectLst>
              </a:rPr>
              <a:t>(BD)</a:t>
            </a:r>
            <a:r>
              <a:rPr lang="en-US" altLang="zh-CN" sz="2800" baseline="30000" dirty="0">
                <a:solidFill>
                  <a:srgbClr val="CCFFCC"/>
                </a:solidFill>
                <a:effectLst>
                  <a:outerShdw blurRad="38100" dist="38100" dir="2700000" algn="tl">
                    <a:srgbClr val="000000"/>
                  </a:outerShdw>
                </a:effectLst>
              </a:rPr>
              <a:t>+</a:t>
            </a:r>
            <a:r>
              <a:rPr lang="zh-CN" altLang="en-US" sz="2800" dirty="0">
                <a:solidFill>
                  <a:srgbClr val="CCFFCC"/>
                </a:solidFill>
                <a:effectLst>
                  <a:outerShdw blurRad="38100" dist="38100" dir="2700000" algn="tl">
                    <a:srgbClr val="000000"/>
                  </a:outerShdw>
                </a:effectLst>
              </a:rPr>
              <a:t>，并做访问标记。</a:t>
            </a:r>
          </a:p>
          <a:p>
            <a:pPr>
              <a:spcAft>
                <a:spcPct val="30000"/>
              </a:spcAft>
              <a:tabLst>
                <a:tab pos="715963" algn="l"/>
                <a:tab pos="1905000" algn="l"/>
              </a:tabLst>
              <a:defRPr/>
            </a:pPr>
            <a:r>
              <a:rPr lang="zh-CN" altLang="en-US" sz="2800" dirty="0">
                <a:solidFill>
                  <a:srgbClr val="CCFFCC"/>
                </a:solidFill>
                <a:effectLst>
                  <a:outerShdw blurRad="38100" dist="38100" dir="2700000" algn="tl">
                    <a:srgbClr val="000000"/>
                  </a:outerShdw>
                </a:effectLst>
              </a:rPr>
              <a:t>得到新</a:t>
            </a:r>
            <a:r>
              <a:rPr lang="en-US" altLang="zh-CN" sz="2800" dirty="0">
                <a:solidFill>
                  <a:srgbClr val="CCFFCC"/>
                </a:solidFill>
                <a:effectLst>
                  <a:outerShdw blurRad="38100" dist="38100" dir="2700000" algn="tl">
                    <a:srgbClr val="000000"/>
                  </a:outerShdw>
                </a:effectLst>
              </a:rPr>
              <a:t>(BD)</a:t>
            </a:r>
            <a:r>
              <a:rPr lang="en-US" altLang="zh-CN" sz="2800" baseline="30000" dirty="0">
                <a:solidFill>
                  <a:srgbClr val="CCFFCC"/>
                </a:solidFill>
                <a:effectLst>
                  <a:outerShdw blurRad="38100" dist="38100" dir="2700000" algn="tl">
                    <a:srgbClr val="000000"/>
                  </a:outerShdw>
                </a:effectLst>
              </a:rPr>
              <a:t>+ </a:t>
            </a:r>
            <a:r>
              <a:rPr lang="en-US" altLang="zh-CN" sz="2800" dirty="0">
                <a:solidFill>
                  <a:srgbClr val="CCFFCC"/>
                </a:solidFill>
                <a:effectLst>
                  <a:outerShdw blurRad="38100" dist="38100" dir="2700000" algn="tl">
                    <a:srgbClr val="000000"/>
                  </a:outerShdw>
                </a:effectLst>
              </a:rPr>
              <a:t>= {B,D,</a:t>
            </a:r>
            <a:r>
              <a:rPr lang="en-US" altLang="zh-CN" sz="2800" dirty="0">
                <a:solidFill>
                  <a:srgbClr val="00FFFF"/>
                </a:solidFill>
                <a:effectLst>
                  <a:outerShdw blurRad="38100" dist="38100" dir="2700000" algn="tl">
                    <a:srgbClr val="000000"/>
                  </a:outerShdw>
                </a:effectLst>
              </a:rPr>
              <a:t>E</a:t>
            </a:r>
            <a:r>
              <a:rPr lang="en-US" altLang="zh-CN" sz="2800" dirty="0">
                <a:solidFill>
                  <a:srgbClr val="CCFFCC"/>
                </a:solidFill>
                <a:effectLst>
                  <a:outerShdw blurRad="38100" dist="38100" dir="2700000" algn="tl">
                    <a:srgbClr val="000000"/>
                  </a:outerShdw>
                </a:effectLst>
              </a:rPr>
              <a:t>,</a:t>
            </a:r>
            <a:r>
              <a:rPr lang="en-US" altLang="zh-CN" sz="2800" dirty="0">
                <a:solidFill>
                  <a:srgbClr val="00FFFF"/>
                </a:solidFill>
                <a:effectLst>
                  <a:outerShdw blurRad="38100" dist="38100" dir="2700000" algn="tl">
                    <a:srgbClr val="000000"/>
                  </a:outerShdw>
                </a:effectLst>
              </a:rPr>
              <a:t>G</a:t>
            </a:r>
            <a:r>
              <a:rPr lang="en-US" altLang="zh-CN" sz="2800" dirty="0">
                <a:solidFill>
                  <a:srgbClr val="CCFFCC"/>
                </a:solidFill>
                <a:effectLst>
                  <a:outerShdw blurRad="38100" dist="38100" dir="2700000" algn="tl">
                    <a:srgbClr val="000000"/>
                  </a:outerShdw>
                </a:effectLst>
              </a:rPr>
              <a:t>}</a:t>
            </a:r>
          </a:p>
        </p:txBody>
      </p:sp>
      <p:sp>
        <p:nvSpPr>
          <p:cNvPr id="6" name="Line 6"/>
          <p:cNvSpPr>
            <a:spLocks noChangeShapeType="1"/>
          </p:cNvSpPr>
          <p:nvPr/>
        </p:nvSpPr>
        <p:spPr bwMode="auto">
          <a:xfrm>
            <a:off x="6084168" y="1844824"/>
            <a:ext cx="863600" cy="0"/>
          </a:xfrm>
          <a:prstGeom prst="line">
            <a:avLst/>
          </a:prstGeom>
          <a:noFill/>
          <a:ln w="57150" cap="sq">
            <a:solidFill>
              <a:srgbClr val="FF0000"/>
            </a:solidFill>
            <a:round/>
            <a:headEnd/>
            <a:tailEnd/>
          </a:ln>
          <a:effectLst/>
        </p:spPr>
        <p:txBody>
          <a:bodyPr lIns="0" tIns="0" rIns="0" bIns="0"/>
          <a:lstStyle/>
          <a:p>
            <a:pPr>
              <a:defRPr/>
            </a:pPr>
            <a:endParaRPr lang="zh-CN" altLang="en-US"/>
          </a:p>
        </p:txBody>
      </p:sp>
      <p:sp>
        <p:nvSpPr>
          <p:cNvPr id="7" name="Text Box 4"/>
          <p:cNvSpPr txBox="1">
            <a:spLocks noChangeArrowheads="1"/>
          </p:cNvSpPr>
          <p:nvPr/>
        </p:nvSpPr>
        <p:spPr bwMode="auto">
          <a:xfrm>
            <a:off x="467544" y="908720"/>
            <a:ext cx="8382000" cy="1143000"/>
          </a:xfrm>
          <a:prstGeom prst="rect">
            <a:avLst/>
          </a:prstGeom>
          <a:noFill/>
          <a:ln w="12700" cap="sq">
            <a:noFill/>
            <a:miter lim="800000"/>
            <a:headEnd type="none" w="sm" len="sm"/>
            <a:tailEnd type="none" w="sm" len="sm"/>
          </a:ln>
          <a:effectLst/>
        </p:spPr>
        <p:txBody>
          <a:bodyPr/>
          <a:lstStyle/>
          <a:p>
            <a:pPr>
              <a:spcBef>
                <a:spcPct val="30000"/>
              </a:spcBef>
              <a:spcAft>
                <a:spcPct val="70000"/>
              </a:spcAft>
              <a:tabLst>
                <a:tab pos="715963" algn="l"/>
                <a:tab pos="1905000" algn="l"/>
              </a:tabLst>
              <a:defRPr/>
            </a:pPr>
            <a:r>
              <a:rPr lang="zh-CN" altLang="en-US" sz="2800" dirty="0">
                <a:solidFill>
                  <a:srgbClr val="CCFFCC"/>
                </a:solidFill>
                <a:effectLst>
                  <a:outerShdw blurRad="38100" dist="38100" dir="2700000" algn="tl">
                    <a:srgbClr val="000000"/>
                  </a:outerShdw>
                </a:effectLst>
              </a:rPr>
              <a:t>例</a:t>
            </a:r>
            <a:r>
              <a:rPr lang="en-US" altLang="zh-CN" sz="2800" dirty="0">
                <a:solidFill>
                  <a:srgbClr val="CCFFCC"/>
                </a:solidFill>
                <a:effectLst>
                  <a:outerShdw blurRad="38100" dist="38100" dir="2700000" algn="tl">
                    <a:srgbClr val="000000"/>
                  </a:outerShdw>
                </a:effectLst>
              </a:rPr>
              <a:t>:</a:t>
            </a:r>
            <a:r>
              <a:rPr lang="zh-CN" altLang="en-US" sz="2800" dirty="0">
                <a:solidFill>
                  <a:srgbClr val="99FF99"/>
                </a:solidFill>
                <a:effectLst>
                  <a:outerShdw blurRad="38100" dist="38100" dir="2700000" algn="tl">
                    <a:srgbClr val="000000"/>
                  </a:outerShdw>
                </a:effectLst>
              </a:rPr>
              <a:t>设有</a:t>
            </a:r>
            <a:r>
              <a:rPr lang="zh-CN" altLang="zh-CN" sz="2800" dirty="0">
                <a:solidFill>
                  <a:srgbClr val="99FF99"/>
                </a:solidFill>
                <a:effectLst>
                  <a:outerShdw blurRad="38100" dist="38100" dir="2700000" algn="tl">
                    <a:srgbClr val="000000"/>
                  </a:outerShdw>
                </a:effectLst>
              </a:rPr>
              <a:t>关系模式R</a:t>
            </a:r>
            <a:r>
              <a:rPr lang="zh-CN" altLang="en-US" sz="2800" dirty="0">
                <a:solidFill>
                  <a:srgbClr val="99FF99"/>
                </a:solidFill>
                <a:effectLst>
                  <a:outerShdw blurRad="38100" dist="38100" dir="2700000" algn="tl">
                    <a:srgbClr val="000000"/>
                  </a:outerShdw>
                </a:effectLst>
              </a:rPr>
              <a:t>(</a:t>
            </a:r>
            <a:r>
              <a:rPr lang="en-US" altLang="zh-CN" sz="2800" dirty="0">
                <a:solidFill>
                  <a:srgbClr val="99FF99"/>
                </a:solidFill>
                <a:effectLst>
                  <a:outerShdw blurRad="38100" dist="38100" dir="2700000" algn="tl">
                    <a:srgbClr val="000000"/>
                  </a:outerShdw>
                </a:effectLst>
              </a:rPr>
              <a:t>U,F)</a:t>
            </a:r>
            <a:r>
              <a:rPr lang="zh-CN" altLang="en-US" sz="2800" dirty="0">
                <a:solidFill>
                  <a:srgbClr val="99FF99"/>
                </a:solidFill>
                <a:effectLst>
                  <a:outerShdw blurRad="38100" dist="38100" dir="2700000" algn="tl">
                    <a:srgbClr val="000000"/>
                  </a:outerShdw>
                </a:effectLst>
              </a:rPr>
              <a:t>，其中</a:t>
            </a:r>
            <a:r>
              <a:rPr lang="zh-CN" altLang="zh-CN" sz="2800" dirty="0">
                <a:solidFill>
                  <a:srgbClr val="99FF99"/>
                </a:solidFill>
                <a:effectLst>
                  <a:outerShdw blurRad="38100" dist="38100" dir="2700000" algn="tl">
                    <a:srgbClr val="000000"/>
                  </a:outerShdw>
                </a:effectLst>
              </a:rPr>
              <a:t>U={A</a:t>
            </a:r>
            <a:r>
              <a:rPr lang="zh-CN" altLang="en-US" sz="2800" dirty="0">
                <a:solidFill>
                  <a:srgbClr val="99FF99"/>
                </a:solidFill>
                <a:effectLst>
                  <a:outerShdw blurRad="38100" dist="38100" dir="2700000" algn="tl">
                    <a:srgbClr val="000000"/>
                  </a:outerShdw>
                </a:effectLst>
              </a:rPr>
              <a:t>,</a:t>
            </a:r>
            <a:r>
              <a:rPr lang="zh-CN" altLang="zh-CN" sz="2800" dirty="0">
                <a:solidFill>
                  <a:srgbClr val="99FF99"/>
                </a:solidFill>
                <a:effectLst>
                  <a:outerShdw blurRad="38100" dist="38100" dir="2700000" algn="tl">
                    <a:srgbClr val="000000"/>
                  </a:outerShdw>
                </a:effectLst>
              </a:rPr>
              <a:t>B</a:t>
            </a:r>
            <a:r>
              <a:rPr lang="zh-CN" altLang="en-US" sz="2800" dirty="0">
                <a:solidFill>
                  <a:srgbClr val="99FF99"/>
                </a:solidFill>
                <a:effectLst>
                  <a:outerShdw blurRad="38100" dist="38100" dir="2700000" algn="tl">
                    <a:srgbClr val="000000"/>
                  </a:outerShdw>
                </a:effectLst>
              </a:rPr>
              <a:t>,</a:t>
            </a:r>
            <a:r>
              <a:rPr lang="zh-CN" altLang="zh-CN" sz="2800" dirty="0">
                <a:solidFill>
                  <a:srgbClr val="99FF99"/>
                </a:solidFill>
                <a:effectLst>
                  <a:outerShdw blurRad="38100" dist="38100" dir="2700000" algn="tl">
                    <a:srgbClr val="000000"/>
                  </a:outerShdw>
                </a:effectLst>
              </a:rPr>
              <a:t>C</a:t>
            </a:r>
            <a:r>
              <a:rPr lang="zh-CN" altLang="en-US" sz="2800" dirty="0">
                <a:solidFill>
                  <a:srgbClr val="99FF99"/>
                </a:solidFill>
                <a:effectLst>
                  <a:outerShdw blurRad="38100" dist="38100" dir="2700000" algn="tl">
                    <a:srgbClr val="000000"/>
                  </a:outerShdw>
                </a:effectLst>
              </a:rPr>
              <a:t>,</a:t>
            </a:r>
            <a:r>
              <a:rPr lang="zh-CN" altLang="zh-CN" sz="2800" dirty="0">
                <a:solidFill>
                  <a:srgbClr val="99FF99"/>
                </a:solidFill>
                <a:effectLst>
                  <a:outerShdw blurRad="38100" dist="38100" dir="2700000" algn="tl">
                    <a:srgbClr val="000000"/>
                  </a:outerShdw>
                </a:effectLst>
              </a:rPr>
              <a:t>D</a:t>
            </a:r>
            <a:r>
              <a:rPr lang="zh-CN" altLang="en-US" sz="2800" dirty="0">
                <a:solidFill>
                  <a:srgbClr val="99FF99"/>
                </a:solidFill>
                <a:effectLst>
                  <a:outerShdw blurRad="38100" dist="38100" dir="2700000" algn="tl">
                    <a:srgbClr val="000000"/>
                  </a:outerShdw>
                </a:effectLst>
              </a:rPr>
              <a:t>,</a:t>
            </a:r>
            <a:r>
              <a:rPr lang="zh-CN" altLang="zh-CN" sz="2800" dirty="0">
                <a:solidFill>
                  <a:srgbClr val="99FF99"/>
                </a:solidFill>
                <a:effectLst>
                  <a:outerShdw blurRad="38100" dist="38100" dir="2700000" algn="tl">
                    <a:srgbClr val="000000"/>
                  </a:outerShdw>
                </a:effectLst>
              </a:rPr>
              <a:t>E</a:t>
            </a:r>
            <a:r>
              <a:rPr lang="zh-CN" altLang="en-US" sz="2800" dirty="0">
                <a:solidFill>
                  <a:srgbClr val="99FF99"/>
                </a:solidFill>
                <a:effectLst>
                  <a:outerShdw blurRad="38100" dist="38100" dir="2700000" algn="tl">
                    <a:srgbClr val="000000"/>
                  </a:outerShdw>
                </a:effectLst>
              </a:rPr>
              <a:t>,</a:t>
            </a:r>
            <a:r>
              <a:rPr lang="zh-CN" altLang="zh-CN" sz="2800" dirty="0">
                <a:solidFill>
                  <a:srgbClr val="99FF99"/>
                </a:solidFill>
                <a:effectLst>
                  <a:outerShdw blurRad="38100" dist="38100" dir="2700000" algn="tl">
                    <a:srgbClr val="000000"/>
                  </a:outerShdw>
                </a:effectLst>
              </a:rPr>
              <a:t>G}, </a:t>
            </a:r>
            <a:r>
              <a:rPr lang="en-US" altLang="zh-CN" sz="2800" dirty="0">
                <a:solidFill>
                  <a:srgbClr val="99FF99"/>
                </a:solidFill>
                <a:effectLst>
                  <a:outerShdw blurRad="38100" dist="38100" dir="2700000" algn="tl">
                    <a:srgbClr val="000000"/>
                  </a:outerShdw>
                </a:effectLst>
              </a:rPr>
              <a:t>   </a:t>
            </a:r>
            <a:r>
              <a:rPr lang="zh-CN" altLang="zh-CN" sz="2800" dirty="0">
                <a:solidFill>
                  <a:srgbClr val="99FF99"/>
                </a:solidFill>
                <a:effectLst>
                  <a:outerShdw blurRad="38100" dist="38100" dir="2700000" algn="tl">
                    <a:srgbClr val="000000"/>
                  </a:outerShdw>
                </a:effectLst>
              </a:rPr>
              <a:t>F={AB→C, C→A, BC→D, ACD→B, </a:t>
            </a:r>
            <a:r>
              <a:rPr lang="zh-CN" altLang="zh-CN" sz="2800" dirty="0">
                <a:solidFill>
                  <a:schemeClr val="accent1">
                    <a:lumMod val="60000"/>
                    <a:lumOff val="40000"/>
                  </a:schemeClr>
                </a:solidFill>
                <a:effectLst>
                  <a:outerShdw blurRad="38100" dist="38100" dir="2700000" algn="tl">
                    <a:srgbClr val="000000"/>
                  </a:outerShdw>
                </a:effectLst>
              </a:rPr>
              <a:t>D→EG</a:t>
            </a:r>
            <a:r>
              <a:rPr lang="zh-CN" altLang="zh-CN" sz="2800" dirty="0">
                <a:solidFill>
                  <a:srgbClr val="99FF99"/>
                </a:solidFill>
                <a:effectLst>
                  <a:outerShdw blurRad="38100" dist="38100" dir="2700000" algn="tl">
                    <a:srgbClr val="000000"/>
                  </a:outerShdw>
                </a:effectLst>
              </a:rPr>
              <a:t>, BE→C</a:t>
            </a:r>
            <a:r>
              <a:rPr lang="zh-CN" altLang="en-US" sz="2800" dirty="0">
                <a:solidFill>
                  <a:srgbClr val="99FF99"/>
                </a:solidFill>
                <a:effectLst>
                  <a:outerShdw blurRad="38100" dist="38100" dir="2700000" algn="tl">
                    <a:srgbClr val="000000"/>
                  </a:outerShdw>
                </a:effectLst>
              </a:rPr>
              <a:t>，</a:t>
            </a:r>
            <a:r>
              <a:rPr lang="zh-CN" altLang="zh-CN" sz="2800" dirty="0">
                <a:solidFill>
                  <a:srgbClr val="99FF99"/>
                </a:solidFill>
                <a:effectLst>
                  <a:outerShdw blurRad="38100" dist="38100" dir="2700000" algn="tl">
                    <a:srgbClr val="000000"/>
                  </a:outerShdw>
                </a:effectLst>
              </a:rPr>
              <a:t>CG→BD, CE→AG},</a:t>
            </a:r>
            <a:r>
              <a:rPr lang="zh-CN" altLang="en-US" sz="2800" dirty="0">
                <a:solidFill>
                  <a:srgbClr val="99FF99"/>
                </a:solidFill>
                <a:effectLst>
                  <a:outerShdw blurRad="38100" dist="38100" dir="2700000" algn="tl">
                    <a:srgbClr val="000000"/>
                  </a:outerShdw>
                </a:effectLst>
              </a:rPr>
              <a:t>求</a:t>
            </a:r>
            <a:r>
              <a:rPr lang="en-US" altLang="zh-CN" sz="2800" dirty="0">
                <a:solidFill>
                  <a:srgbClr val="99FF99"/>
                </a:solidFill>
                <a:effectLst>
                  <a:outerShdw blurRad="38100" dist="38100" dir="2700000" algn="tl">
                    <a:srgbClr val="000000"/>
                  </a:outerShdw>
                </a:effectLst>
              </a:rPr>
              <a:t>(BD)</a:t>
            </a:r>
            <a:r>
              <a:rPr lang="en-US" altLang="zh-CN" sz="2800" baseline="30000" dirty="0">
                <a:solidFill>
                  <a:srgbClr val="99FF99"/>
                </a:solidFill>
                <a:effectLst>
                  <a:outerShdw blurRad="38100" dist="38100" dir="2700000" algn="tl">
                    <a:srgbClr val="000000"/>
                  </a:outerShdw>
                </a:effectLst>
              </a:rPr>
              <a:t>+</a:t>
            </a:r>
            <a:r>
              <a:rPr lang="zh-CN" altLang="en-US" sz="2800" dirty="0">
                <a:solidFill>
                  <a:srgbClr val="99FF99"/>
                </a:solidFill>
                <a:effectLst>
                  <a:outerShdw blurRad="38100" dist="38100" dir="2700000" algn="tl">
                    <a:srgbClr val="000000"/>
                  </a:outerShdw>
                </a:effectLst>
              </a:rPr>
              <a:t>。</a:t>
            </a:r>
          </a:p>
        </p:txBody>
      </p:sp>
    </p:spTree>
    <p:extLst>
      <p:ext uri="{BB962C8B-B14F-4D97-AF65-F5344CB8AC3E}">
        <p14:creationId xmlns:p14="http://schemas.microsoft.com/office/powerpoint/2010/main" val="2300278410"/>
      </p:ext>
    </p:extLst>
  </p:cSld>
  <p:clrMapOvr>
    <a:masterClrMapping/>
  </p:clrMapOvr>
  <p:transition spd="med">
    <p:random/>
    <p:sndAc>
      <p:stSnd>
        <p:snd r:embed="rId2" name="camera.wav"/>
      </p:stSnd>
    </p:sndAc>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type="title"/>
          </p:nvPr>
        </p:nvSpPr>
        <p:spPr>
          <a:xfrm>
            <a:off x="62129" y="0"/>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pPr>
            <a:r>
              <a:rPr kumimoji="1" lang="zh-CN" altLang="en-US" sz="4000" b="1" kern="1200" dirty="0">
                <a:solidFill>
                  <a:srgbClr val="FFFFCC"/>
                </a:solidFill>
                <a:effectLst>
                  <a:outerShdw blurRad="38100" dist="38100" dir="2700000" algn="tl">
                    <a:srgbClr val="000000"/>
                  </a:outerShdw>
                </a:effectLst>
                <a:latin typeface="微软雅黑" panose="020B0503020204020204" pitchFamily="34" charset="-122"/>
                <a:ea typeface="微软雅黑" pitchFamily="34" charset="-122"/>
              </a:rPr>
              <a:t>属性集闭包</a:t>
            </a:r>
            <a:endParaRPr kumimoji="1" lang="en-US" altLang="zh-CN" sz="4000" b="1" kern="1200" dirty="0">
              <a:solidFill>
                <a:srgbClr val="FFFFCC"/>
              </a:solidFill>
              <a:effectLst>
                <a:outerShdw blurRad="38100" dist="38100" dir="2700000" algn="tl">
                  <a:srgbClr val="000000"/>
                </a:outerShdw>
              </a:effectLst>
              <a:latin typeface="微软雅黑" panose="020B0503020204020204" pitchFamily="34" charset="-122"/>
              <a:ea typeface="微软雅黑" pitchFamily="34" charset="-122"/>
            </a:endParaRPr>
          </a:p>
        </p:txBody>
      </p:sp>
      <p:sp>
        <p:nvSpPr>
          <p:cNvPr id="4" name="Rectangle 4"/>
          <p:cNvSpPr>
            <a:spLocks noChangeArrowheads="1"/>
          </p:cNvSpPr>
          <p:nvPr/>
        </p:nvSpPr>
        <p:spPr bwMode="auto">
          <a:xfrm>
            <a:off x="539552" y="3058765"/>
            <a:ext cx="8318500" cy="1311275"/>
          </a:xfrm>
          <a:prstGeom prst="rect">
            <a:avLst/>
          </a:prstGeom>
          <a:noFill/>
          <a:ln w="12700" cap="sq" algn="ctr">
            <a:noFill/>
            <a:miter lim="800000"/>
            <a:headEnd/>
            <a:tailEnd/>
          </a:ln>
          <a:effectLst/>
        </p:spPr>
        <p:txBody>
          <a:bodyPr/>
          <a:lstStyle/>
          <a:p>
            <a:pPr>
              <a:spcAft>
                <a:spcPct val="30000"/>
              </a:spcAft>
              <a:tabLst>
                <a:tab pos="715963" algn="l"/>
                <a:tab pos="1905000" algn="l"/>
              </a:tabLst>
              <a:defRPr/>
            </a:pPr>
            <a:r>
              <a:rPr lang="zh-CN" altLang="en-US" sz="2800" dirty="0">
                <a:solidFill>
                  <a:srgbClr val="CCFFCC"/>
                </a:solidFill>
                <a:effectLst>
                  <a:outerShdw blurRad="38100" dist="38100" dir="2700000" algn="tl">
                    <a:srgbClr val="000000"/>
                  </a:outerShdw>
                </a:effectLst>
              </a:rPr>
              <a:t>第二次：</a:t>
            </a:r>
          </a:p>
          <a:p>
            <a:pPr>
              <a:spcAft>
                <a:spcPct val="30000"/>
              </a:spcAft>
              <a:tabLst>
                <a:tab pos="715963" algn="l"/>
                <a:tab pos="1905000" algn="l"/>
              </a:tabLst>
              <a:defRPr/>
            </a:pPr>
            <a:r>
              <a:rPr lang="zh-CN" altLang="en-US" sz="2800" dirty="0">
                <a:solidFill>
                  <a:srgbClr val="CCFFCC"/>
                </a:solidFill>
                <a:effectLst>
                  <a:outerShdw blurRad="38100" dist="38100" dir="2700000" algn="tl">
                    <a:srgbClr val="000000"/>
                  </a:outerShdw>
                </a:effectLst>
              </a:rPr>
              <a:t>当前</a:t>
            </a:r>
            <a:r>
              <a:rPr lang="en-US" altLang="zh-CN" sz="2800" dirty="0">
                <a:solidFill>
                  <a:srgbClr val="CCFFCC"/>
                </a:solidFill>
                <a:effectLst>
                  <a:outerShdw blurRad="38100" dist="38100" dir="2700000" algn="tl">
                    <a:srgbClr val="000000"/>
                  </a:outerShdw>
                </a:effectLst>
              </a:rPr>
              <a:t>(BD)</a:t>
            </a:r>
            <a:r>
              <a:rPr lang="en-US" altLang="zh-CN" sz="2800" baseline="30000" dirty="0">
                <a:solidFill>
                  <a:srgbClr val="CCFFCC"/>
                </a:solidFill>
                <a:effectLst>
                  <a:outerShdw blurRad="38100" dist="38100" dir="2700000" algn="tl">
                    <a:srgbClr val="000000"/>
                  </a:outerShdw>
                </a:effectLst>
              </a:rPr>
              <a:t>+ </a:t>
            </a:r>
            <a:r>
              <a:rPr lang="en-US" altLang="zh-CN" sz="2800" dirty="0">
                <a:solidFill>
                  <a:srgbClr val="CCFFCC"/>
                </a:solidFill>
                <a:effectLst>
                  <a:outerShdw blurRad="38100" dist="38100" dir="2700000" algn="tl">
                    <a:srgbClr val="000000"/>
                  </a:outerShdw>
                </a:effectLst>
              </a:rPr>
              <a:t>= {B,D,E,G}</a:t>
            </a:r>
          </a:p>
          <a:p>
            <a:pPr>
              <a:spcAft>
                <a:spcPct val="30000"/>
              </a:spcAft>
              <a:tabLst>
                <a:tab pos="715963" algn="l"/>
                <a:tab pos="1905000" algn="l"/>
              </a:tabLst>
              <a:defRPr/>
            </a:pPr>
            <a:r>
              <a:rPr lang="zh-CN" altLang="en-US" sz="2800" dirty="0">
                <a:solidFill>
                  <a:srgbClr val="CCFFCC"/>
                </a:solidFill>
                <a:effectLst>
                  <a:outerShdw blurRad="38100" dist="38100" dir="2700000" algn="tl">
                    <a:srgbClr val="000000"/>
                  </a:outerShdw>
                </a:effectLst>
              </a:rPr>
              <a:t>找出</a:t>
            </a:r>
            <a:r>
              <a:rPr lang="en-US" altLang="zh-CN" sz="2800" dirty="0">
                <a:solidFill>
                  <a:srgbClr val="CCFFCC"/>
                </a:solidFill>
                <a:effectLst>
                  <a:outerShdw blurRad="38100" dist="38100" dir="2700000" algn="tl">
                    <a:srgbClr val="000000"/>
                  </a:outerShdw>
                </a:effectLst>
              </a:rPr>
              <a:t>F</a:t>
            </a:r>
            <a:r>
              <a:rPr lang="zh-CN" altLang="en-US" sz="2800" dirty="0">
                <a:solidFill>
                  <a:srgbClr val="CCFFCC"/>
                </a:solidFill>
                <a:effectLst>
                  <a:outerShdw blurRad="38100" dist="38100" dir="2700000" algn="tl">
                    <a:srgbClr val="000000"/>
                  </a:outerShdw>
                </a:effectLst>
              </a:rPr>
              <a:t>中所有决定因子包含在</a:t>
            </a:r>
            <a:r>
              <a:rPr lang="en-US" altLang="zh-CN" sz="2800" dirty="0">
                <a:solidFill>
                  <a:srgbClr val="CCFFCC"/>
                </a:solidFill>
                <a:effectLst>
                  <a:outerShdw blurRad="38100" dist="38100" dir="2700000" algn="tl">
                    <a:srgbClr val="000000"/>
                  </a:outerShdw>
                </a:effectLst>
              </a:rPr>
              <a:t>(BD)</a:t>
            </a:r>
            <a:r>
              <a:rPr lang="en-US" altLang="zh-CN" sz="2800" baseline="30000" dirty="0">
                <a:solidFill>
                  <a:srgbClr val="CCFFCC"/>
                </a:solidFill>
                <a:effectLst>
                  <a:outerShdw blurRad="38100" dist="38100" dir="2700000" algn="tl">
                    <a:srgbClr val="000000"/>
                  </a:outerShdw>
                </a:effectLst>
              </a:rPr>
              <a:t>+</a:t>
            </a:r>
            <a:r>
              <a:rPr lang="zh-CN" altLang="en-US" sz="2800" dirty="0">
                <a:solidFill>
                  <a:srgbClr val="CCFFCC"/>
                </a:solidFill>
                <a:effectLst>
                  <a:outerShdw blurRad="38100" dist="38100" dir="2700000" algn="tl">
                    <a:srgbClr val="000000"/>
                  </a:outerShdw>
                </a:effectLst>
              </a:rPr>
              <a:t>中的函数依赖，将其右边部分并入</a:t>
            </a:r>
            <a:r>
              <a:rPr lang="en-US" altLang="zh-CN" sz="2800" dirty="0">
                <a:solidFill>
                  <a:srgbClr val="CCFFCC"/>
                </a:solidFill>
                <a:effectLst>
                  <a:outerShdw blurRad="38100" dist="38100" dir="2700000" algn="tl">
                    <a:srgbClr val="000000"/>
                  </a:outerShdw>
                </a:effectLst>
              </a:rPr>
              <a:t>(BD)</a:t>
            </a:r>
            <a:r>
              <a:rPr lang="en-US" altLang="zh-CN" sz="2800" baseline="30000" dirty="0">
                <a:solidFill>
                  <a:srgbClr val="CCFFCC"/>
                </a:solidFill>
                <a:effectLst>
                  <a:outerShdw blurRad="38100" dist="38100" dir="2700000" algn="tl">
                    <a:srgbClr val="000000"/>
                  </a:outerShdw>
                </a:effectLst>
              </a:rPr>
              <a:t>+</a:t>
            </a:r>
            <a:r>
              <a:rPr lang="zh-CN" altLang="en-US" sz="2800" dirty="0">
                <a:solidFill>
                  <a:srgbClr val="CCFFCC"/>
                </a:solidFill>
                <a:effectLst>
                  <a:outerShdw blurRad="38100" dist="38100" dir="2700000" algn="tl">
                    <a:srgbClr val="000000"/>
                  </a:outerShdw>
                </a:effectLst>
              </a:rPr>
              <a:t>，并做访问标记。</a:t>
            </a:r>
          </a:p>
          <a:p>
            <a:pPr>
              <a:spcAft>
                <a:spcPct val="30000"/>
              </a:spcAft>
              <a:tabLst>
                <a:tab pos="715963" algn="l"/>
                <a:tab pos="1905000" algn="l"/>
              </a:tabLst>
              <a:defRPr/>
            </a:pPr>
            <a:r>
              <a:rPr lang="zh-CN" altLang="en-US" sz="2800" dirty="0">
                <a:solidFill>
                  <a:srgbClr val="CCFFCC"/>
                </a:solidFill>
                <a:effectLst>
                  <a:outerShdw blurRad="38100" dist="38100" dir="2700000" algn="tl">
                    <a:srgbClr val="000000"/>
                  </a:outerShdw>
                </a:effectLst>
              </a:rPr>
              <a:t>得到新</a:t>
            </a:r>
            <a:r>
              <a:rPr lang="en-US" altLang="zh-CN" sz="2800" dirty="0">
                <a:solidFill>
                  <a:srgbClr val="CCFFCC"/>
                </a:solidFill>
                <a:effectLst>
                  <a:outerShdw blurRad="38100" dist="38100" dir="2700000" algn="tl">
                    <a:srgbClr val="000000"/>
                  </a:outerShdw>
                </a:effectLst>
              </a:rPr>
              <a:t>(BD)</a:t>
            </a:r>
            <a:r>
              <a:rPr lang="en-US" altLang="zh-CN" sz="2800" baseline="30000" dirty="0">
                <a:solidFill>
                  <a:srgbClr val="CCFFCC"/>
                </a:solidFill>
                <a:effectLst>
                  <a:outerShdw blurRad="38100" dist="38100" dir="2700000" algn="tl">
                    <a:srgbClr val="000000"/>
                  </a:outerShdw>
                </a:effectLst>
              </a:rPr>
              <a:t>+</a:t>
            </a:r>
            <a:r>
              <a:rPr lang="en-US" altLang="zh-CN" sz="2800" dirty="0">
                <a:solidFill>
                  <a:srgbClr val="CCFFCC"/>
                </a:solidFill>
                <a:effectLst>
                  <a:outerShdw blurRad="38100" dist="38100" dir="2700000" algn="tl">
                    <a:srgbClr val="000000"/>
                  </a:outerShdw>
                </a:effectLst>
              </a:rPr>
              <a:t> = {B,D,</a:t>
            </a:r>
            <a:r>
              <a:rPr lang="en-US" altLang="zh-CN" sz="2800" dirty="0">
                <a:solidFill>
                  <a:srgbClr val="00FFFF"/>
                </a:solidFill>
                <a:effectLst>
                  <a:outerShdw blurRad="38100" dist="38100" dir="2700000" algn="tl">
                    <a:srgbClr val="000000"/>
                  </a:outerShdw>
                </a:effectLst>
              </a:rPr>
              <a:t>E</a:t>
            </a:r>
            <a:r>
              <a:rPr lang="en-US" altLang="zh-CN" sz="2800" dirty="0">
                <a:solidFill>
                  <a:srgbClr val="CCFFCC"/>
                </a:solidFill>
                <a:effectLst>
                  <a:outerShdw blurRad="38100" dist="38100" dir="2700000" algn="tl">
                    <a:srgbClr val="000000"/>
                  </a:outerShdw>
                </a:effectLst>
              </a:rPr>
              <a:t>,</a:t>
            </a:r>
            <a:r>
              <a:rPr lang="en-US" altLang="zh-CN" sz="2800" dirty="0">
                <a:solidFill>
                  <a:srgbClr val="00FFFF"/>
                </a:solidFill>
                <a:effectLst>
                  <a:outerShdw blurRad="38100" dist="38100" dir="2700000" algn="tl">
                    <a:srgbClr val="000000"/>
                  </a:outerShdw>
                </a:effectLst>
              </a:rPr>
              <a:t>G</a:t>
            </a:r>
            <a:r>
              <a:rPr lang="en-US" altLang="zh-CN" sz="2800" dirty="0">
                <a:solidFill>
                  <a:srgbClr val="CCFFCC"/>
                </a:solidFill>
                <a:effectLst>
                  <a:outerShdw blurRad="38100" dist="38100" dir="2700000" algn="tl">
                    <a:srgbClr val="000000"/>
                  </a:outerShdw>
                </a:effectLst>
              </a:rPr>
              <a:t>,</a:t>
            </a:r>
            <a:r>
              <a:rPr lang="en-US" altLang="zh-CN" sz="2800" dirty="0">
                <a:solidFill>
                  <a:srgbClr val="FFFF00"/>
                </a:solidFill>
                <a:effectLst>
                  <a:outerShdw blurRad="38100" dist="38100" dir="2700000" algn="tl">
                    <a:srgbClr val="000000"/>
                  </a:outerShdw>
                </a:effectLst>
              </a:rPr>
              <a:t>C</a:t>
            </a:r>
            <a:r>
              <a:rPr lang="en-US" altLang="zh-CN" sz="2800" dirty="0">
                <a:solidFill>
                  <a:srgbClr val="CCFFCC"/>
                </a:solidFill>
                <a:effectLst>
                  <a:outerShdw blurRad="38100" dist="38100" dir="2700000" algn="tl">
                    <a:srgbClr val="000000"/>
                  </a:outerShdw>
                </a:effectLst>
              </a:rPr>
              <a:t>}</a:t>
            </a:r>
          </a:p>
        </p:txBody>
      </p:sp>
      <p:sp>
        <p:nvSpPr>
          <p:cNvPr id="5" name="Text Box 5"/>
          <p:cNvSpPr txBox="1">
            <a:spLocks noChangeArrowheads="1"/>
          </p:cNvSpPr>
          <p:nvPr/>
        </p:nvSpPr>
        <p:spPr bwMode="auto">
          <a:xfrm>
            <a:off x="539552" y="980728"/>
            <a:ext cx="8382000" cy="1143000"/>
          </a:xfrm>
          <a:prstGeom prst="rect">
            <a:avLst/>
          </a:prstGeom>
          <a:noFill/>
          <a:ln w="12700" cap="sq">
            <a:noFill/>
            <a:miter lim="800000"/>
            <a:headEnd type="none" w="sm" len="sm"/>
            <a:tailEnd type="none" w="sm" len="sm"/>
          </a:ln>
          <a:effectLst/>
        </p:spPr>
        <p:txBody>
          <a:bodyPr/>
          <a:lstStyle/>
          <a:p>
            <a:pPr>
              <a:spcBef>
                <a:spcPct val="30000"/>
              </a:spcBef>
              <a:spcAft>
                <a:spcPct val="70000"/>
              </a:spcAft>
              <a:tabLst>
                <a:tab pos="715963" algn="l"/>
                <a:tab pos="1905000" algn="l"/>
              </a:tabLst>
              <a:defRPr/>
            </a:pPr>
            <a:r>
              <a:rPr lang="zh-CN" altLang="en-US" sz="2800">
                <a:solidFill>
                  <a:srgbClr val="CCFFCC"/>
                </a:solidFill>
                <a:effectLst>
                  <a:outerShdw blurRad="38100" dist="38100" dir="2700000" algn="tl">
                    <a:srgbClr val="000000"/>
                  </a:outerShdw>
                </a:effectLst>
              </a:rPr>
              <a:t>例</a:t>
            </a:r>
            <a:r>
              <a:rPr lang="en-US" altLang="zh-CN" sz="2800">
                <a:solidFill>
                  <a:srgbClr val="CCFFCC"/>
                </a:solidFill>
                <a:effectLst>
                  <a:outerShdw blurRad="38100" dist="38100" dir="2700000" algn="tl">
                    <a:srgbClr val="000000"/>
                  </a:outerShdw>
                </a:effectLst>
              </a:rPr>
              <a:t>:</a:t>
            </a:r>
            <a:r>
              <a:rPr lang="zh-CN" altLang="en-US" sz="2800">
                <a:solidFill>
                  <a:srgbClr val="99FF99"/>
                </a:solidFill>
                <a:effectLst>
                  <a:outerShdw blurRad="38100" dist="38100" dir="2700000" algn="tl">
                    <a:srgbClr val="000000"/>
                  </a:outerShdw>
                </a:effectLst>
              </a:rPr>
              <a:t>设有</a:t>
            </a:r>
            <a:r>
              <a:rPr lang="zh-CN" altLang="zh-CN" sz="2800">
                <a:solidFill>
                  <a:srgbClr val="99FF99"/>
                </a:solidFill>
                <a:effectLst>
                  <a:outerShdw blurRad="38100" dist="38100" dir="2700000" algn="tl">
                    <a:srgbClr val="000000"/>
                  </a:outerShdw>
                </a:effectLst>
              </a:rPr>
              <a:t>关系模式R</a:t>
            </a:r>
            <a:r>
              <a:rPr lang="zh-CN" altLang="en-US" sz="2800">
                <a:solidFill>
                  <a:srgbClr val="99FF99"/>
                </a:solidFill>
                <a:effectLst>
                  <a:outerShdw blurRad="38100" dist="38100" dir="2700000" algn="tl">
                    <a:srgbClr val="000000"/>
                  </a:outerShdw>
                </a:effectLst>
              </a:rPr>
              <a:t>(</a:t>
            </a:r>
            <a:r>
              <a:rPr lang="en-US" altLang="zh-CN" sz="2800">
                <a:solidFill>
                  <a:srgbClr val="99FF99"/>
                </a:solidFill>
                <a:effectLst>
                  <a:outerShdw blurRad="38100" dist="38100" dir="2700000" algn="tl">
                    <a:srgbClr val="000000"/>
                  </a:outerShdw>
                </a:effectLst>
              </a:rPr>
              <a:t>U,F)</a:t>
            </a:r>
            <a:r>
              <a:rPr lang="zh-CN" altLang="en-US" sz="2800">
                <a:solidFill>
                  <a:srgbClr val="99FF99"/>
                </a:solidFill>
                <a:effectLst>
                  <a:outerShdw blurRad="38100" dist="38100" dir="2700000" algn="tl">
                    <a:srgbClr val="000000"/>
                  </a:outerShdw>
                </a:effectLst>
              </a:rPr>
              <a:t>，其中</a:t>
            </a:r>
            <a:r>
              <a:rPr lang="zh-CN" altLang="zh-CN" sz="2800">
                <a:solidFill>
                  <a:srgbClr val="99FF99"/>
                </a:solidFill>
                <a:effectLst>
                  <a:outerShdw blurRad="38100" dist="38100" dir="2700000" algn="tl">
                    <a:srgbClr val="000000"/>
                  </a:outerShdw>
                </a:effectLst>
              </a:rPr>
              <a:t>U={A</a:t>
            </a:r>
            <a:r>
              <a:rPr lang="zh-CN" altLang="en-US" sz="2800">
                <a:solidFill>
                  <a:srgbClr val="99FF99"/>
                </a:solidFill>
                <a:effectLst>
                  <a:outerShdw blurRad="38100" dist="38100" dir="2700000" algn="tl">
                    <a:srgbClr val="000000"/>
                  </a:outerShdw>
                </a:effectLst>
              </a:rPr>
              <a:t>,</a:t>
            </a:r>
            <a:r>
              <a:rPr lang="zh-CN" altLang="zh-CN" sz="2800">
                <a:solidFill>
                  <a:srgbClr val="99FF99"/>
                </a:solidFill>
                <a:effectLst>
                  <a:outerShdw blurRad="38100" dist="38100" dir="2700000" algn="tl">
                    <a:srgbClr val="000000"/>
                  </a:outerShdw>
                </a:effectLst>
              </a:rPr>
              <a:t>B</a:t>
            </a:r>
            <a:r>
              <a:rPr lang="zh-CN" altLang="en-US" sz="2800">
                <a:solidFill>
                  <a:srgbClr val="99FF99"/>
                </a:solidFill>
                <a:effectLst>
                  <a:outerShdw blurRad="38100" dist="38100" dir="2700000" algn="tl">
                    <a:srgbClr val="000000"/>
                  </a:outerShdw>
                </a:effectLst>
              </a:rPr>
              <a:t>,</a:t>
            </a:r>
            <a:r>
              <a:rPr lang="zh-CN" altLang="zh-CN" sz="2800">
                <a:solidFill>
                  <a:srgbClr val="99FF99"/>
                </a:solidFill>
                <a:effectLst>
                  <a:outerShdw blurRad="38100" dist="38100" dir="2700000" algn="tl">
                    <a:srgbClr val="000000"/>
                  </a:outerShdw>
                </a:effectLst>
              </a:rPr>
              <a:t>C</a:t>
            </a:r>
            <a:r>
              <a:rPr lang="zh-CN" altLang="en-US" sz="2800">
                <a:solidFill>
                  <a:srgbClr val="99FF99"/>
                </a:solidFill>
                <a:effectLst>
                  <a:outerShdw blurRad="38100" dist="38100" dir="2700000" algn="tl">
                    <a:srgbClr val="000000"/>
                  </a:outerShdw>
                </a:effectLst>
              </a:rPr>
              <a:t>,</a:t>
            </a:r>
            <a:r>
              <a:rPr lang="zh-CN" altLang="zh-CN" sz="2800">
                <a:solidFill>
                  <a:srgbClr val="99FF99"/>
                </a:solidFill>
                <a:effectLst>
                  <a:outerShdw blurRad="38100" dist="38100" dir="2700000" algn="tl">
                    <a:srgbClr val="000000"/>
                  </a:outerShdw>
                </a:effectLst>
              </a:rPr>
              <a:t>D</a:t>
            </a:r>
            <a:r>
              <a:rPr lang="zh-CN" altLang="en-US" sz="2800">
                <a:solidFill>
                  <a:srgbClr val="99FF99"/>
                </a:solidFill>
                <a:effectLst>
                  <a:outerShdw blurRad="38100" dist="38100" dir="2700000" algn="tl">
                    <a:srgbClr val="000000"/>
                  </a:outerShdw>
                </a:effectLst>
              </a:rPr>
              <a:t>,</a:t>
            </a:r>
            <a:r>
              <a:rPr lang="zh-CN" altLang="zh-CN" sz="2800">
                <a:solidFill>
                  <a:srgbClr val="99FF99"/>
                </a:solidFill>
                <a:effectLst>
                  <a:outerShdw blurRad="38100" dist="38100" dir="2700000" algn="tl">
                    <a:srgbClr val="000000"/>
                  </a:outerShdw>
                </a:effectLst>
              </a:rPr>
              <a:t>E</a:t>
            </a:r>
            <a:r>
              <a:rPr lang="zh-CN" altLang="en-US" sz="2800">
                <a:solidFill>
                  <a:srgbClr val="99FF99"/>
                </a:solidFill>
                <a:effectLst>
                  <a:outerShdw blurRad="38100" dist="38100" dir="2700000" algn="tl">
                    <a:srgbClr val="000000"/>
                  </a:outerShdw>
                </a:effectLst>
              </a:rPr>
              <a:t>,</a:t>
            </a:r>
            <a:r>
              <a:rPr lang="zh-CN" altLang="zh-CN" sz="2800">
                <a:solidFill>
                  <a:srgbClr val="99FF99"/>
                </a:solidFill>
                <a:effectLst>
                  <a:outerShdw blurRad="38100" dist="38100" dir="2700000" algn="tl">
                    <a:srgbClr val="000000"/>
                  </a:outerShdw>
                </a:effectLst>
              </a:rPr>
              <a:t>G}, </a:t>
            </a:r>
            <a:r>
              <a:rPr lang="en-US" altLang="zh-CN" sz="2800">
                <a:solidFill>
                  <a:srgbClr val="99FF99"/>
                </a:solidFill>
                <a:effectLst>
                  <a:outerShdw blurRad="38100" dist="38100" dir="2700000" algn="tl">
                    <a:srgbClr val="000000"/>
                  </a:outerShdw>
                </a:effectLst>
              </a:rPr>
              <a:t>   </a:t>
            </a:r>
            <a:r>
              <a:rPr lang="zh-CN" altLang="zh-CN" sz="2800">
                <a:solidFill>
                  <a:srgbClr val="99FF99"/>
                </a:solidFill>
                <a:effectLst>
                  <a:outerShdw blurRad="38100" dist="38100" dir="2700000" algn="tl">
                    <a:srgbClr val="000000"/>
                  </a:outerShdw>
                </a:effectLst>
              </a:rPr>
              <a:t>F={AB→C, C→A, BC→D, ACD→B, </a:t>
            </a:r>
            <a:r>
              <a:rPr lang="zh-CN" altLang="zh-CN" sz="2800">
                <a:solidFill>
                  <a:srgbClr val="00FFFF"/>
                </a:solidFill>
                <a:effectLst>
                  <a:outerShdw blurRad="38100" dist="38100" dir="2700000" algn="tl">
                    <a:srgbClr val="000000"/>
                  </a:outerShdw>
                </a:effectLst>
              </a:rPr>
              <a:t>D→EG</a:t>
            </a:r>
            <a:r>
              <a:rPr lang="zh-CN" altLang="zh-CN" sz="2800">
                <a:solidFill>
                  <a:srgbClr val="99FF99"/>
                </a:solidFill>
                <a:effectLst>
                  <a:outerShdw blurRad="38100" dist="38100" dir="2700000" algn="tl">
                    <a:srgbClr val="000000"/>
                  </a:outerShdw>
                </a:effectLst>
              </a:rPr>
              <a:t>, </a:t>
            </a:r>
            <a:r>
              <a:rPr lang="zh-CN" altLang="zh-CN" sz="2800">
                <a:solidFill>
                  <a:srgbClr val="FFFF00"/>
                </a:solidFill>
                <a:effectLst>
                  <a:outerShdw blurRad="38100" dist="38100" dir="2700000" algn="tl">
                    <a:srgbClr val="000000"/>
                  </a:outerShdw>
                </a:effectLst>
              </a:rPr>
              <a:t>BE→C</a:t>
            </a:r>
            <a:r>
              <a:rPr lang="zh-CN" altLang="en-US" sz="2800">
                <a:solidFill>
                  <a:srgbClr val="99FF99"/>
                </a:solidFill>
                <a:effectLst>
                  <a:outerShdw blurRad="38100" dist="38100" dir="2700000" algn="tl">
                    <a:srgbClr val="000000"/>
                  </a:outerShdw>
                </a:effectLst>
              </a:rPr>
              <a:t>，</a:t>
            </a:r>
            <a:r>
              <a:rPr lang="zh-CN" altLang="zh-CN" sz="2800">
                <a:solidFill>
                  <a:srgbClr val="99FF99"/>
                </a:solidFill>
                <a:effectLst>
                  <a:outerShdw blurRad="38100" dist="38100" dir="2700000" algn="tl">
                    <a:srgbClr val="000000"/>
                  </a:outerShdw>
                </a:effectLst>
              </a:rPr>
              <a:t>CG→BD, CE→AG},</a:t>
            </a:r>
            <a:r>
              <a:rPr lang="zh-CN" altLang="en-US" sz="2800">
                <a:solidFill>
                  <a:srgbClr val="99FF99"/>
                </a:solidFill>
                <a:effectLst>
                  <a:outerShdw blurRad="38100" dist="38100" dir="2700000" algn="tl">
                    <a:srgbClr val="000000"/>
                  </a:outerShdw>
                </a:effectLst>
              </a:rPr>
              <a:t>求</a:t>
            </a:r>
            <a:r>
              <a:rPr lang="en-US" altLang="zh-CN" sz="2800">
                <a:solidFill>
                  <a:srgbClr val="99FF99"/>
                </a:solidFill>
                <a:effectLst>
                  <a:outerShdw blurRad="38100" dist="38100" dir="2700000" algn="tl">
                    <a:srgbClr val="000000"/>
                  </a:outerShdw>
                </a:effectLst>
              </a:rPr>
              <a:t>(BD)</a:t>
            </a:r>
            <a:r>
              <a:rPr lang="en-US" altLang="zh-CN" sz="2800" baseline="30000">
                <a:solidFill>
                  <a:srgbClr val="99FF99"/>
                </a:solidFill>
                <a:effectLst>
                  <a:outerShdw blurRad="38100" dist="38100" dir="2700000" algn="tl">
                    <a:srgbClr val="000000"/>
                  </a:outerShdw>
                </a:effectLst>
              </a:rPr>
              <a:t>+</a:t>
            </a:r>
            <a:r>
              <a:rPr lang="zh-CN" altLang="en-US" sz="2800">
                <a:solidFill>
                  <a:srgbClr val="99FF99"/>
                </a:solidFill>
                <a:effectLst>
                  <a:outerShdw blurRad="38100" dist="38100" dir="2700000" algn="tl">
                    <a:srgbClr val="000000"/>
                  </a:outerShdw>
                </a:effectLst>
              </a:rPr>
              <a:t>。</a:t>
            </a:r>
          </a:p>
        </p:txBody>
      </p:sp>
      <p:sp>
        <p:nvSpPr>
          <p:cNvPr id="6" name="Line 6"/>
          <p:cNvSpPr>
            <a:spLocks noChangeShapeType="1"/>
          </p:cNvSpPr>
          <p:nvPr/>
        </p:nvSpPr>
        <p:spPr bwMode="auto">
          <a:xfrm>
            <a:off x="6156127" y="1628428"/>
            <a:ext cx="863600" cy="0"/>
          </a:xfrm>
          <a:prstGeom prst="line">
            <a:avLst/>
          </a:prstGeom>
          <a:noFill/>
          <a:ln w="57150" cap="sq">
            <a:solidFill>
              <a:srgbClr val="FF0000"/>
            </a:solidFill>
            <a:round/>
            <a:headEnd/>
            <a:tailEnd/>
          </a:ln>
          <a:effectLst/>
        </p:spPr>
        <p:txBody>
          <a:bodyPr lIns="0" tIns="0" rIns="0" bIns="0"/>
          <a:lstStyle/>
          <a:p>
            <a:pPr>
              <a:defRPr/>
            </a:pPr>
            <a:endParaRPr lang="zh-CN" altLang="en-US"/>
          </a:p>
        </p:txBody>
      </p:sp>
      <p:sp>
        <p:nvSpPr>
          <p:cNvPr id="7" name="Line 7"/>
          <p:cNvSpPr>
            <a:spLocks noChangeShapeType="1"/>
          </p:cNvSpPr>
          <p:nvPr/>
        </p:nvSpPr>
        <p:spPr bwMode="auto">
          <a:xfrm>
            <a:off x="7405490" y="1915765"/>
            <a:ext cx="863600" cy="0"/>
          </a:xfrm>
          <a:prstGeom prst="line">
            <a:avLst/>
          </a:prstGeom>
          <a:noFill/>
          <a:ln w="57150" cap="sq">
            <a:solidFill>
              <a:srgbClr val="FF0000"/>
            </a:solidFill>
            <a:round/>
            <a:headEnd/>
            <a:tailEnd/>
          </a:ln>
          <a:effectLst/>
        </p:spPr>
        <p:txBody>
          <a:bodyPr lIns="0" tIns="0" rIns="0" bIns="0"/>
          <a:lstStyle/>
          <a:p>
            <a:pPr>
              <a:defRPr/>
            </a:pPr>
            <a:endParaRPr lang="zh-CN" altLang="en-US"/>
          </a:p>
        </p:txBody>
      </p:sp>
    </p:spTree>
    <p:extLst>
      <p:ext uri="{BB962C8B-B14F-4D97-AF65-F5344CB8AC3E}">
        <p14:creationId xmlns:p14="http://schemas.microsoft.com/office/powerpoint/2010/main" val="603426947"/>
      </p:ext>
    </p:extLst>
  </p:cSld>
  <p:clrMapOvr>
    <a:masterClrMapping/>
  </p:clrMapOvr>
  <p:transition spd="med">
    <p:random/>
    <p:sndAc>
      <p:stSnd>
        <p:snd r:embed="rId2" name="camera.wav"/>
      </p:stSnd>
    </p:sndAc>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type="title"/>
          </p:nvPr>
        </p:nvSpPr>
        <p:spPr>
          <a:xfrm>
            <a:off x="62129" y="0"/>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pPr>
            <a:r>
              <a:rPr kumimoji="1" lang="zh-CN" altLang="en-US" sz="4000" b="1" kern="1200" dirty="0">
                <a:solidFill>
                  <a:srgbClr val="FFFFCC"/>
                </a:solidFill>
                <a:effectLst>
                  <a:outerShdw blurRad="38100" dist="38100" dir="2700000" algn="tl">
                    <a:srgbClr val="000000"/>
                  </a:outerShdw>
                </a:effectLst>
                <a:latin typeface="微软雅黑" panose="020B0503020204020204" pitchFamily="34" charset="-122"/>
                <a:ea typeface="微软雅黑" pitchFamily="34" charset="-122"/>
              </a:rPr>
              <a:t>属性集闭包</a:t>
            </a:r>
            <a:endParaRPr kumimoji="1" lang="en-US" altLang="zh-CN" sz="4000" b="1" kern="1200" dirty="0">
              <a:solidFill>
                <a:srgbClr val="FFFFCC"/>
              </a:solidFill>
              <a:effectLst>
                <a:outerShdw blurRad="38100" dist="38100" dir="2700000" algn="tl">
                  <a:srgbClr val="000000"/>
                </a:outerShdw>
              </a:effectLst>
              <a:latin typeface="微软雅黑" panose="020B0503020204020204" pitchFamily="34" charset="-122"/>
              <a:ea typeface="微软雅黑" pitchFamily="34" charset="-122"/>
            </a:endParaRPr>
          </a:p>
        </p:txBody>
      </p:sp>
      <p:sp>
        <p:nvSpPr>
          <p:cNvPr id="3" name="Text Box 2"/>
          <p:cNvSpPr txBox="1">
            <a:spLocks noChangeArrowheads="1"/>
          </p:cNvSpPr>
          <p:nvPr/>
        </p:nvSpPr>
        <p:spPr bwMode="auto">
          <a:xfrm>
            <a:off x="539750" y="1124744"/>
            <a:ext cx="8382000" cy="1143000"/>
          </a:xfrm>
          <a:prstGeom prst="rect">
            <a:avLst/>
          </a:prstGeom>
          <a:noFill/>
          <a:ln w="12700" cap="sq">
            <a:noFill/>
            <a:miter lim="800000"/>
            <a:headEnd type="none" w="sm" len="sm"/>
            <a:tailEnd type="none" w="sm" len="sm"/>
          </a:ln>
          <a:effectLst/>
        </p:spPr>
        <p:txBody>
          <a:bodyPr/>
          <a:lstStyle/>
          <a:p>
            <a:pPr>
              <a:spcBef>
                <a:spcPct val="30000"/>
              </a:spcBef>
              <a:spcAft>
                <a:spcPct val="70000"/>
              </a:spcAft>
              <a:tabLst>
                <a:tab pos="715963" algn="l"/>
                <a:tab pos="1905000" algn="l"/>
              </a:tabLst>
              <a:defRPr/>
            </a:pPr>
            <a:r>
              <a:rPr lang="zh-CN" altLang="en-US" sz="2800">
                <a:solidFill>
                  <a:srgbClr val="CCFFCC"/>
                </a:solidFill>
                <a:effectLst>
                  <a:outerShdw blurRad="38100" dist="38100" dir="2700000" algn="tl">
                    <a:srgbClr val="000000"/>
                  </a:outerShdw>
                </a:effectLst>
              </a:rPr>
              <a:t>例</a:t>
            </a:r>
            <a:r>
              <a:rPr lang="en-US" altLang="zh-CN" sz="2800">
                <a:solidFill>
                  <a:srgbClr val="CCFFCC"/>
                </a:solidFill>
                <a:effectLst>
                  <a:outerShdw blurRad="38100" dist="38100" dir="2700000" algn="tl">
                    <a:srgbClr val="000000"/>
                  </a:outerShdw>
                </a:effectLst>
              </a:rPr>
              <a:t>:</a:t>
            </a:r>
            <a:r>
              <a:rPr lang="zh-CN" altLang="en-US" sz="2800">
                <a:solidFill>
                  <a:srgbClr val="99FF99"/>
                </a:solidFill>
                <a:effectLst>
                  <a:outerShdw blurRad="38100" dist="38100" dir="2700000" algn="tl">
                    <a:srgbClr val="000000"/>
                  </a:outerShdw>
                </a:effectLst>
              </a:rPr>
              <a:t>设有</a:t>
            </a:r>
            <a:r>
              <a:rPr lang="zh-CN" altLang="zh-CN" sz="2800">
                <a:solidFill>
                  <a:srgbClr val="99FF99"/>
                </a:solidFill>
                <a:effectLst>
                  <a:outerShdw blurRad="38100" dist="38100" dir="2700000" algn="tl">
                    <a:srgbClr val="000000"/>
                  </a:outerShdw>
                </a:effectLst>
              </a:rPr>
              <a:t>关系模式R</a:t>
            </a:r>
            <a:r>
              <a:rPr lang="zh-CN" altLang="en-US" sz="2800">
                <a:solidFill>
                  <a:srgbClr val="99FF99"/>
                </a:solidFill>
                <a:effectLst>
                  <a:outerShdw blurRad="38100" dist="38100" dir="2700000" algn="tl">
                    <a:srgbClr val="000000"/>
                  </a:outerShdw>
                </a:effectLst>
              </a:rPr>
              <a:t>(</a:t>
            </a:r>
            <a:r>
              <a:rPr lang="en-US" altLang="zh-CN" sz="2800">
                <a:solidFill>
                  <a:srgbClr val="99FF99"/>
                </a:solidFill>
                <a:effectLst>
                  <a:outerShdw blurRad="38100" dist="38100" dir="2700000" algn="tl">
                    <a:srgbClr val="000000"/>
                  </a:outerShdw>
                </a:effectLst>
              </a:rPr>
              <a:t>U,F)</a:t>
            </a:r>
            <a:r>
              <a:rPr lang="zh-CN" altLang="en-US" sz="2800">
                <a:solidFill>
                  <a:srgbClr val="99FF99"/>
                </a:solidFill>
                <a:effectLst>
                  <a:outerShdw blurRad="38100" dist="38100" dir="2700000" algn="tl">
                    <a:srgbClr val="000000"/>
                  </a:outerShdw>
                </a:effectLst>
              </a:rPr>
              <a:t>，其中</a:t>
            </a:r>
            <a:r>
              <a:rPr lang="zh-CN" altLang="zh-CN" sz="2800">
                <a:solidFill>
                  <a:srgbClr val="99FF99"/>
                </a:solidFill>
                <a:effectLst>
                  <a:outerShdw blurRad="38100" dist="38100" dir="2700000" algn="tl">
                    <a:srgbClr val="000000"/>
                  </a:outerShdw>
                </a:effectLst>
              </a:rPr>
              <a:t>U={A</a:t>
            </a:r>
            <a:r>
              <a:rPr lang="zh-CN" altLang="en-US" sz="2800">
                <a:solidFill>
                  <a:srgbClr val="99FF99"/>
                </a:solidFill>
                <a:effectLst>
                  <a:outerShdw blurRad="38100" dist="38100" dir="2700000" algn="tl">
                    <a:srgbClr val="000000"/>
                  </a:outerShdw>
                </a:effectLst>
              </a:rPr>
              <a:t>,</a:t>
            </a:r>
            <a:r>
              <a:rPr lang="zh-CN" altLang="zh-CN" sz="2800">
                <a:solidFill>
                  <a:srgbClr val="99FF99"/>
                </a:solidFill>
                <a:effectLst>
                  <a:outerShdw blurRad="38100" dist="38100" dir="2700000" algn="tl">
                    <a:srgbClr val="000000"/>
                  </a:outerShdw>
                </a:effectLst>
              </a:rPr>
              <a:t>B</a:t>
            </a:r>
            <a:r>
              <a:rPr lang="zh-CN" altLang="en-US" sz="2800">
                <a:solidFill>
                  <a:srgbClr val="99FF99"/>
                </a:solidFill>
                <a:effectLst>
                  <a:outerShdw blurRad="38100" dist="38100" dir="2700000" algn="tl">
                    <a:srgbClr val="000000"/>
                  </a:outerShdw>
                </a:effectLst>
              </a:rPr>
              <a:t>,</a:t>
            </a:r>
            <a:r>
              <a:rPr lang="zh-CN" altLang="zh-CN" sz="2800">
                <a:solidFill>
                  <a:srgbClr val="99FF99"/>
                </a:solidFill>
                <a:effectLst>
                  <a:outerShdw blurRad="38100" dist="38100" dir="2700000" algn="tl">
                    <a:srgbClr val="000000"/>
                  </a:outerShdw>
                </a:effectLst>
              </a:rPr>
              <a:t>C</a:t>
            </a:r>
            <a:r>
              <a:rPr lang="zh-CN" altLang="en-US" sz="2800">
                <a:solidFill>
                  <a:srgbClr val="99FF99"/>
                </a:solidFill>
                <a:effectLst>
                  <a:outerShdw blurRad="38100" dist="38100" dir="2700000" algn="tl">
                    <a:srgbClr val="000000"/>
                  </a:outerShdw>
                </a:effectLst>
              </a:rPr>
              <a:t>,</a:t>
            </a:r>
            <a:r>
              <a:rPr lang="zh-CN" altLang="zh-CN" sz="2800">
                <a:solidFill>
                  <a:srgbClr val="99FF99"/>
                </a:solidFill>
                <a:effectLst>
                  <a:outerShdw blurRad="38100" dist="38100" dir="2700000" algn="tl">
                    <a:srgbClr val="000000"/>
                  </a:outerShdw>
                </a:effectLst>
              </a:rPr>
              <a:t>D</a:t>
            </a:r>
            <a:r>
              <a:rPr lang="zh-CN" altLang="en-US" sz="2800">
                <a:solidFill>
                  <a:srgbClr val="99FF99"/>
                </a:solidFill>
                <a:effectLst>
                  <a:outerShdw blurRad="38100" dist="38100" dir="2700000" algn="tl">
                    <a:srgbClr val="000000"/>
                  </a:outerShdw>
                </a:effectLst>
              </a:rPr>
              <a:t>,</a:t>
            </a:r>
            <a:r>
              <a:rPr lang="zh-CN" altLang="zh-CN" sz="2800">
                <a:solidFill>
                  <a:srgbClr val="99FF99"/>
                </a:solidFill>
                <a:effectLst>
                  <a:outerShdw blurRad="38100" dist="38100" dir="2700000" algn="tl">
                    <a:srgbClr val="000000"/>
                  </a:outerShdw>
                </a:effectLst>
              </a:rPr>
              <a:t>E</a:t>
            </a:r>
            <a:r>
              <a:rPr lang="zh-CN" altLang="en-US" sz="2800">
                <a:solidFill>
                  <a:srgbClr val="99FF99"/>
                </a:solidFill>
                <a:effectLst>
                  <a:outerShdw blurRad="38100" dist="38100" dir="2700000" algn="tl">
                    <a:srgbClr val="000000"/>
                  </a:outerShdw>
                </a:effectLst>
              </a:rPr>
              <a:t>,</a:t>
            </a:r>
            <a:r>
              <a:rPr lang="zh-CN" altLang="zh-CN" sz="2800">
                <a:solidFill>
                  <a:srgbClr val="99FF99"/>
                </a:solidFill>
                <a:effectLst>
                  <a:outerShdw blurRad="38100" dist="38100" dir="2700000" algn="tl">
                    <a:srgbClr val="000000"/>
                  </a:outerShdw>
                </a:effectLst>
              </a:rPr>
              <a:t>G}, </a:t>
            </a:r>
            <a:r>
              <a:rPr lang="en-US" altLang="zh-CN" sz="2800">
                <a:solidFill>
                  <a:srgbClr val="99FF99"/>
                </a:solidFill>
                <a:effectLst>
                  <a:outerShdw blurRad="38100" dist="38100" dir="2700000" algn="tl">
                    <a:srgbClr val="000000"/>
                  </a:outerShdw>
                </a:effectLst>
              </a:rPr>
              <a:t>   </a:t>
            </a:r>
            <a:r>
              <a:rPr lang="zh-CN" altLang="zh-CN" sz="2800">
                <a:solidFill>
                  <a:srgbClr val="99FF99"/>
                </a:solidFill>
                <a:effectLst>
                  <a:outerShdw blurRad="38100" dist="38100" dir="2700000" algn="tl">
                    <a:srgbClr val="000000"/>
                  </a:outerShdw>
                </a:effectLst>
              </a:rPr>
              <a:t>F={AB→C, </a:t>
            </a:r>
            <a:r>
              <a:rPr lang="zh-CN" altLang="zh-CN" sz="2800">
                <a:solidFill>
                  <a:srgbClr val="FF9900"/>
                </a:solidFill>
                <a:effectLst>
                  <a:outerShdw blurRad="38100" dist="38100" dir="2700000" algn="tl">
                    <a:srgbClr val="000000"/>
                  </a:outerShdw>
                </a:effectLst>
              </a:rPr>
              <a:t>C→A</a:t>
            </a:r>
            <a:r>
              <a:rPr lang="zh-CN" altLang="zh-CN" sz="2800">
                <a:solidFill>
                  <a:srgbClr val="99FF99"/>
                </a:solidFill>
                <a:effectLst>
                  <a:outerShdw blurRad="38100" dist="38100" dir="2700000" algn="tl">
                    <a:srgbClr val="000000"/>
                  </a:outerShdw>
                </a:effectLst>
              </a:rPr>
              <a:t>, </a:t>
            </a:r>
            <a:r>
              <a:rPr lang="zh-CN" altLang="zh-CN" sz="2800">
                <a:solidFill>
                  <a:srgbClr val="FF9900"/>
                </a:solidFill>
                <a:effectLst>
                  <a:outerShdw blurRad="38100" dist="38100" dir="2700000" algn="tl">
                    <a:srgbClr val="000000"/>
                  </a:outerShdw>
                </a:effectLst>
              </a:rPr>
              <a:t>BC→D</a:t>
            </a:r>
            <a:r>
              <a:rPr lang="zh-CN" altLang="zh-CN" sz="2800">
                <a:solidFill>
                  <a:srgbClr val="99FF99"/>
                </a:solidFill>
                <a:effectLst>
                  <a:outerShdw blurRad="38100" dist="38100" dir="2700000" algn="tl">
                    <a:srgbClr val="000000"/>
                  </a:outerShdw>
                </a:effectLst>
              </a:rPr>
              <a:t>, ACD→B, </a:t>
            </a:r>
            <a:r>
              <a:rPr lang="zh-CN" altLang="zh-CN" sz="2800">
                <a:solidFill>
                  <a:srgbClr val="00FFFF"/>
                </a:solidFill>
                <a:effectLst>
                  <a:outerShdw blurRad="38100" dist="38100" dir="2700000" algn="tl">
                    <a:srgbClr val="000000"/>
                  </a:outerShdw>
                </a:effectLst>
              </a:rPr>
              <a:t>D→EG</a:t>
            </a:r>
            <a:r>
              <a:rPr lang="zh-CN" altLang="zh-CN" sz="2800">
                <a:solidFill>
                  <a:srgbClr val="99FF99"/>
                </a:solidFill>
                <a:effectLst>
                  <a:outerShdw blurRad="38100" dist="38100" dir="2700000" algn="tl">
                    <a:srgbClr val="000000"/>
                  </a:outerShdw>
                </a:effectLst>
              </a:rPr>
              <a:t>, </a:t>
            </a:r>
            <a:r>
              <a:rPr lang="zh-CN" altLang="zh-CN" sz="2800">
                <a:solidFill>
                  <a:srgbClr val="FFFF00"/>
                </a:solidFill>
                <a:effectLst>
                  <a:outerShdw blurRad="38100" dist="38100" dir="2700000" algn="tl">
                    <a:srgbClr val="000000"/>
                  </a:outerShdw>
                </a:effectLst>
              </a:rPr>
              <a:t>BE→C</a:t>
            </a:r>
            <a:r>
              <a:rPr lang="zh-CN" altLang="en-US" sz="2800">
                <a:solidFill>
                  <a:srgbClr val="99FF99"/>
                </a:solidFill>
                <a:effectLst>
                  <a:outerShdw blurRad="38100" dist="38100" dir="2700000" algn="tl">
                    <a:srgbClr val="000000"/>
                  </a:outerShdw>
                </a:effectLst>
              </a:rPr>
              <a:t>，</a:t>
            </a:r>
            <a:r>
              <a:rPr lang="zh-CN" altLang="zh-CN" sz="2800">
                <a:solidFill>
                  <a:srgbClr val="FF9900"/>
                </a:solidFill>
                <a:effectLst>
                  <a:outerShdw blurRad="38100" dist="38100" dir="2700000" algn="tl">
                    <a:srgbClr val="000000"/>
                  </a:outerShdw>
                </a:effectLst>
              </a:rPr>
              <a:t>CG→BD</a:t>
            </a:r>
            <a:r>
              <a:rPr lang="zh-CN" altLang="zh-CN" sz="2800">
                <a:solidFill>
                  <a:srgbClr val="99FF99"/>
                </a:solidFill>
                <a:effectLst>
                  <a:outerShdw blurRad="38100" dist="38100" dir="2700000" algn="tl">
                    <a:srgbClr val="000000"/>
                  </a:outerShdw>
                </a:effectLst>
              </a:rPr>
              <a:t>, </a:t>
            </a:r>
            <a:r>
              <a:rPr lang="zh-CN" altLang="zh-CN" sz="2800">
                <a:solidFill>
                  <a:srgbClr val="FF9900"/>
                </a:solidFill>
                <a:effectLst>
                  <a:outerShdw blurRad="38100" dist="38100" dir="2700000" algn="tl">
                    <a:srgbClr val="000000"/>
                  </a:outerShdw>
                </a:effectLst>
              </a:rPr>
              <a:t>CE→AG</a:t>
            </a:r>
            <a:r>
              <a:rPr lang="zh-CN" altLang="zh-CN" sz="2800">
                <a:solidFill>
                  <a:srgbClr val="99FF99"/>
                </a:solidFill>
                <a:effectLst>
                  <a:outerShdw blurRad="38100" dist="38100" dir="2700000" algn="tl">
                    <a:srgbClr val="000000"/>
                  </a:outerShdw>
                </a:effectLst>
              </a:rPr>
              <a:t>},</a:t>
            </a:r>
            <a:r>
              <a:rPr lang="zh-CN" altLang="en-US" sz="2800">
                <a:solidFill>
                  <a:srgbClr val="99FF99"/>
                </a:solidFill>
                <a:effectLst>
                  <a:outerShdw blurRad="38100" dist="38100" dir="2700000" algn="tl">
                    <a:srgbClr val="000000"/>
                  </a:outerShdw>
                </a:effectLst>
              </a:rPr>
              <a:t>求</a:t>
            </a:r>
            <a:r>
              <a:rPr lang="en-US" altLang="zh-CN" sz="2800">
                <a:solidFill>
                  <a:srgbClr val="99FF99"/>
                </a:solidFill>
                <a:effectLst>
                  <a:outerShdw blurRad="38100" dist="38100" dir="2700000" algn="tl">
                    <a:srgbClr val="000000"/>
                  </a:outerShdw>
                </a:effectLst>
              </a:rPr>
              <a:t>(BD)</a:t>
            </a:r>
            <a:r>
              <a:rPr lang="en-US" altLang="zh-CN" sz="2800" baseline="30000">
                <a:solidFill>
                  <a:srgbClr val="99FF99"/>
                </a:solidFill>
                <a:effectLst>
                  <a:outerShdw blurRad="38100" dist="38100" dir="2700000" algn="tl">
                    <a:srgbClr val="000000"/>
                  </a:outerShdw>
                </a:effectLst>
              </a:rPr>
              <a:t>+</a:t>
            </a:r>
            <a:r>
              <a:rPr lang="zh-CN" altLang="en-US" sz="2800">
                <a:solidFill>
                  <a:srgbClr val="99FF99"/>
                </a:solidFill>
                <a:effectLst>
                  <a:outerShdw blurRad="38100" dist="38100" dir="2700000" algn="tl">
                    <a:srgbClr val="000000"/>
                  </a:outerShdw>
                </a:effectLst>
              </a:rPr>
              <a:t>。</a:t>
            </a:r>
          </a:p>
        </p:txBody>
      </p:sp>
      <p:sp>
        <p:nvSpPr>
          <p:cNvPr id="4" name="Rectangle 5"/>
          <p:cNvSpPr>
            <a:spLocks noChangeArrowheads="1"/>
          </p:cNvSpPr>
          <p:nvPr/>
        </p:nvSpPr>
        <p:spPr bwMode="auto">
          <a:xfrm>
            <a:off x="535527" y="2915444"/>
            <a:ext cx="8318500" cy="1311275"/>
          </a:xfrm>
          <a:prstGeom prst="rect">
            <a:avLst/>
          </a:prstGeom>
          <a:noFill/>
          <a:ln w="12700" cap="sq" algn="ctr">
            <a:noFill/>
            <a:miter lim="800000"/>
            <a:headEnd/>
            <a:tailEnd/>
          </a:ln>
          <a:effectLst/>
        </p:spPr>
        <p:txBody>
          <a:bodyPr/>
          <a:lstStyle/>
          <a:p>
            <a:pPr>
              <a:spcAft>
                <a:spcPct val="30000"/>
              </a:spcAft>
              <a:tabLst>
                <a:tab pos="715963" algn="l"/>
                <a:tab pos="1905000" algn="l"/>
              </a:tabLst>
              <a:defRPr/>
            </a:pPr>
            <a:r>
              <a:rPr lang="zh-CN" altLang="en-US" sz="2800" dirty="0">
                <a:solidFill>
                  <a:srgbClr val="CCFFCC"/>
                </a:solidFill>
                <a:effectLst>
                  <a:outerShdw blurRad="38100" dist="38100" dir="2700000" algn="tl">
                    <a:srgbClr val="000000"/>
                  </a:outerShdw>
                </a:effectLst>
              </a:rPr>
              <a:t>第三次：</a:t>
            </a:r>
          </a:p>
          <a:p>
            <a:pPr>
              <a:spcAft>
                <a:spcPct val="30000"/>
              </a:spcAft>
              <a:tabLst>
                <a:tab pos="715963" algn="l"/>
                <a:tab pos="1905000" algn="l"/>
              </a:tabLst>
              <a:defRPr/>
            </a:pPr>
            <a:r>
              <a:rPr lang="zh-CN" altLang="en-US" sz="2800" dirty="0">
                <a:solidFill>
                  <a:srgbClr val="CCFFCC"/>
                </a:solidFill>
                <a:effectLst>
                  <a:outerShdw blurRad="38100" dist="38100" dir="2700000" algn="tl">
                    <a:srgbClr val="000000"/>
                  </a:outerShdw>
                </a:effectLst>
              </a:rPr>
              <a:t>当前</a:t>
            </a:r>
            <a:r>
              <a:rPr lang="en-US" altLang="zh-CN" sz="2800" dirty="0">
                <a:solidFill>
                  <a:srgbClr val="CCFFCC"/>
                </a:solidFill>
                <a:effectLst>
                  <a:outerShdw blurRad="38100" dist="38100" dir="2700000" algn="tl">
                    <a:srgbClr val="000000"/>
                  </a:outerShdw>
                </a:effectLst>
              </a:rPr>
              <a:t>(BD)</a:t>
            </a:r>
            <a:r>
              <a:rPr lang="en-US" altLang="zh-CN" sz="2800" baseline="30000" dirty="0">
                <a:solidFill>
                  <a:srgbClr val="CCFFCC"/>
                </a:solidFill>
                <a:effectLst>
                  <a:outerShdw blurRad="38100" dist="38100" dir="2700000" algn="tl">
                    <a:srgbClr val="000000"/>
                  </a:outerShdw>
                </a:effectLst>
              </a:rPr>
              <a:t>+ </a:t>
            </a:r>
            <a:r>
              <a:rPr lang="en-US" altLang="zh-CN" sz="2800" dirty="0">
                <a:solidFill>
                  <a:srgbClr val="CCFFCC"/>
                </a:solidFill>
                <a:effectLst>
                  <a:outerShdw blurRad="38100" dist="38100" dir="2700000" algn="tl">
                    <a:srgbClr val="000000"/>
                  </a:outerShdw>
                </a:effectLst>
              </a:rPr>
              <a:t>= {B,D,E,G,C}</a:t>
            </a:r>
          </a:p>
          <a:p>
            <a:pPr>
              <a:spcAft>
                <a:spcPct val="30000"/>
              </a:spcAft>
              <a:tabLst>
                <a:tab pos="715963" algn="l"/>
                <a:tab pos="1905000" algn="l"/>
              </a:tabLst>
              <a:defRPr/>
            </a:pPr>
            <a:r>
              <a:rPr lang="zh-CN" altLang="en-US" sz="2800" dirty="0">
                <a:solidFill>
                  <a:srgbClr val="CCFFCC"/>
                </a:solidFill>
                <a:effectLst>
                  <a:outerShdw blurRad="38100" dist="38100" dir="2700000" algn="tl">
                    <a:srgbClr val="000000"/>
                  </a:outerShdw>
                </a:effectLst>
              </a:rPr>
              <a:t>找出</a:t>
            </a:r>
            <a:r>
              <a:rPr lang="en-US" altLang="zh-CN" sz="2800" dirty="0">
                <a:solidFill>
                  <a:srgbClr val="CCFFCC"/>
                </a:solidFill>
                <a:effectLst>
                  <a:outerShdw blurRad="38100" dist="38100" dir="2700000" algn="tl">
                    <a:srgbClr val="000000"/>
                  </a:outerShdw>
                </a:effectLst>
              </a:rPr>
              <a:t>F</a:t>
            </a:r>
            <a:r>
              <a:rPr lang="zh-CN" altLang="en-US" sz="2800" dirty="0">
                <a:solidFill>
                  <a:srgbClr val="CCFFCC"/>
                </a:solidFill>
                <a:effectLst>
                  <a:outerShdw blurRad="38100" dist="38100" dir="2700000" algn="tl">
                    <a:srgbClr val="000000"/>
                  </a:outerShdw>
                </a:effectLst>
              </a:rPr>
              <a:t>中所有决定因子包含在</a:t>
            </a:r>
            <a:r>
              <a:rPr lang="en-US" altLang="zh-CN" sz="2800" dirty="0">
                <a:solidFill>
                  <a:srgbClr val="CCFFCC"/>
                </a:solidFill>
                <a:effectLst>
                  <a:outerShdw blurRad="38100" dist="38100" dir="2700000" algn="tl">
                    <a:srgbClr val="000000"/>
                  </a:outerShdw>
                </a:effectLst>
              </a:rPr>
              <a:t>(BD)</a:t>
            </a:r>
            <a:r>
              <a:rPr lang="en-US" altLang="zh-CN" sz="2800" baseline="30000" dirty="0">
                <a:solidFill>
                  <a:srgbClr val="CCFFCC"/>
                </a:solidFill>
                <a:effectLst>
                  <a:outerShdw blurRad="38100" dist="38100" dir="2700000" algn="tl">
                    <a:srgbClr val="000000"/>
                  </a:outerShdw>
                </a:effectLst>
              </a:rPr>
              <a:t>+</a:t>
            </a:r>
            <a:r>
              <a:rPr lang="zh-CN" altLang="en-US" sz="2800" dirty="0">
                <a:solidFill>
                  <a:srgbClr val="CCFFCC"/>
                </a:solidFill>
                <a:effectLst>
                  <a:outerShdw blurRad="38100" dist="38100" dir="2700000" algn="tl">
                    <a:srgbClr val="000000"/>
                  </a:outerShdw>
                </a:effectLst>
              </a:rPr>
              <a:t>中的函数依赖，将其右边部分并入</a:t>
            </a:r>
            <a:r>
              <a:rPr lang="en-US" altLang="zh-CN" sz="2800" dirty="0">
                <a:solidFill>
                  <a:srgbClr val="CCFFCC"/>
                </a:solidFill>
                <a:effectLst>
                  <a:outerShdw blurRad="38100" dist="38100" dir="2700000" algn="tl">
                    <a:srgbClr val="000000"/>
                  </a:outerShdw>
                </a:effectLst>
              </a:rPr>
              <a:t>(BD)</a:t>
            </a:r>
            <a:r>
              <a:rPr lang="en-US" altLang="zh-CN" sz="2800" baseline="30000" dirty="0">
                <a:solidFill>
                  <a:srgbClr val="CCFFCC"/>
                </a:solidFill>
                <a:effectLst>
                  <a:outerShdw blurRad="38100" dist="38100" dir="2700000" algn="tl">
                    <a:srgbClr val="000000"/>
                  </a:outerShdw>
                </a:effectLst>
              </a:rPr>
              <a:t>+</a:t>
            </a:r>
            <a:r>
              <a:rPr lang="zh-CN" altLang="en-US" sz="2800" dirty="0">
                <a:solidFill>
                  <a:srgbClr val="CCFFCC"/>
                </a:solidFill>
                <a:effectLst>
                  <a:outerShdw blurRad="38100" dist="38100" dir="2700000" algn="tl">
                    <a:srgbClr val="000000"/>
                  </a:outerShdw>
                </a:effectLst>
              </a:rPr>
              <a:t>，并做访问标记。</a:t>
            </a:r>
          </a:p>
          <a:p>
            <a:pPr>
              <a:spcAft>
                <a:spcPct val="30000"/>
              </a:spcAft>
              <a:tabLst>
                <a:tab pos="715963" algn="l"/>
                <a:tab pos="1905000" algn="l"/>
              </a:tabLst>
              <a:defRPr/>
            </a:pPr>
            <a:r>
              <a:rPr lang="zh-CN" altLang="en-US" sz="2800" dirty="0">
                <a:solidFill>
                  <a:srgbClr val="CCFFCC"/>
                </a:solidFill>
                <a:effectLst>
                  <a:outerShdw blurRad="38100" dist="38100" dir="2700000" algn="tl">
                    <a:srgbClr val="000000"/>
                  </a:outerShdw>
                </a:effectLst>
              </a:rPr>
              <a:t>得到新</a:t>
            </a:r>
            <a:r>
              <a:rPr lang="en-US" altLang="zh-CN" sz="2800" dirty="0">
                <a:solidFill>
                  <a:srgbClr val="CCFFCC"/>
                </a:solidFill>
                <a:effectLst>
                  <a:outerShdw blurRad="38100" dist="38100" dir="2700000" algn="tl">
                    <a:srgbClr val="000000"/>
                  </a:outerShdw>
                </a:effectLst>
              </a:rPr>
              <a:t>(BD)</a:t>
            </a:r>
            <a:r>
              <a:rPr lang="en-US" altLang="zh-CN" sz="2800" baseline="30000" dirty="0">
                <a:solidFill>
                  <a:srgbClr val="CCFFCC"/>
                </a:solidFill>
                <a:effectLst>
                  <a:outerShdw blurRad="38100" dist="38100" dir="2700000" algn="tl">
                    <a:srgbClr val="000000"/>
                  </a:outerShdw>
                </a:effectLst>
              </a:rPr>
              <a:t>+</a:t>
            </a:r>
            <a:r>
              <a:rPr lang="en-US" altLang="zh-CN" sz="2800" dirty="0">
                <a:solidFill>
                  <a:srgbClr val="CCFFCC"/>
                </a:solidFill>
                <a:effectLst>
                  <a:outerShdw blurRad="38100" dist="38100" dir="2700000" algn="tl">
                    <a:srgbClr val="000000"/>
                  </a:outerShdw>
                </a:effectLst>
              </a:rPr>
              <a:t> = {B,D,</a:t>
            </a:r>
            <a:r>
              <a:rPr lang="en-US" altLang="zh-CN" sz="2800" dirty="0">
                <a:solidFill>
                  <a:srgbClr val="00FFFF"/>
                </a:solidFill>
                <a:effectLst>
                  <a:outerShdw blurRad="38100" dist="38100" dir="2700000" algn="tl">
                    <a:srgbClr val="000000"/>
                  </a:outerShdw>
                </a:effectLst>
              </a:rPr>
              <a:t>E</a:t>
            </a:r>
            <a:r>
              <a:rPr lang="en-US" altLang="zh-CN" sz="2800" dirty="0">
                <a:solidFill>
                  <a:srgbClr val="CCFFCC"/>
                </a:solidFill>
                <a:effectLst>
                  <a:outerShdw blurRad="38100" dist="38100" dir="2700000" algn="tl">
                    <a:srgbClr val="000000"/>
                  </a:outerShdw>
                </a:effectLst>
              </a:rPr>
              <a:t>,</a:t>
            </a:r>
            <a:r>
              <a:rPr lang="en-US" altLang="zh-CN" sz="2800" dirty="0">
                <a:solidFill>
                  <a:srgbClr val="00FFFF"/>
                </a:solidFill>
                <a:effectLst>
                  <a:outerShdw blurRad="38100" dist="38100" dir="2700000" algn="tl">
                    <a:srgbClr val="000000"/>
                  </a:outerShdw>
                </a:effectLst>
              </a:rPr>
              <a:t>G</a:t>
            </a:r>
            <a:r>
              <a:rPr lang="en-US" altLang="zh-CN" sz="2800" dirty="0">
                <a:solidFill>
                  <a:srgbClr val="CCFFCC"/>
                </a:solidFill>
                <a:effectLst>
                  <a:outerShdw blurRad="38100" dist="38100" dir="2700000" algn="tl">
                    <a:srgbClr val="000000"/>
                  </a:outerShdw>
                </a:effectLst>
              </a:rPr>
              <a:t>,</a:t>
            </a:r>
            <a:r>
              <a:rPr lang="en-US" altLang="zh-CN" sz="2800" dirty="0">
                <a:solidFill>
                  <a:srgbClr val="FFFF00"/>
                </a:solidFill>
                <a:effectLst>
                  <a:outerShdw blurRad="38100" dist="38100" dir="2700000" algn="tl">
                    <a:srgbClr val="000000"/>
                  </a:outerShdw>
                </a:effectLst>
              </a:rPr>
              <a:t>C</a:t>
            </a:r>
            <a:r>
              <a:rPr lang="en-US" altLang="zh-CN" sz="2800" dirty="0">
                <a:solidFill>
                  <a:srgbClr val="CCFFCC"/>
                </a:solidFill>
                <a:effectLst>
                  <a:outerShdw blurRad="38100" dist="38100" dir="2700000" algn="tl">
                    <a:srgbClr val="000000"/>
                  </a:outerShdw>
                </a:effectLst>
              </a:rPr>
              <a:t>,</a:t>
            </a:r>
            <a:r>
              <a:rPr lang="en-US" altLang="zh-CN" sz="2800" dirty="0">
                <a:solidFill>
                  <a:srgbClr val="FF9900"/>
                </a:solidFill>
                <a:effectLst>
                  <a:outerShdw blurRad="38100" dist="38100" dir="2700000" algn="tl">
                    <a:srgbClr val="000000"/>
                  </a:outerShdw>
                </a:effectLst>
              </a:rPr>
              <a:t>A</a:t>
            </a:r>
            <a:r>
              <a:rPr lang="en-US" altLang="zh-CN" sz="2800" dirty="0">
                <a:solidFill>
                  <a:srgbClr val="CCFFCC"/>
                </a:solidFill>
                <a:effectLst>
                  <a:outerShdw blurRad="38100" dist="38100" dir="2700000" algn="tl">
                    <a:srgbClr val="000000"/>
                  </a:outerShdw>
                </a:effectLst>
              </a:rPr>
              <a:t>}</a:t>
            </a:r>
          </a:p>
        </p:txBody>
      </p:sp>
      <p:sp>
        <p:nvSpPr>
          <p:cNvPr id="5" name="Line 6"/>
          <p:cNvSpPr>
            <a:spLocks noChangeShapeType="1"/>
          </p:cNvSpPr>
          <p:nvPr/>
        </p:nvSpPr>
        <p:spPr bwMode="auto">
          <a:xfrm>
            <a:off x="2347913" y="2021681"/>
            <a:ext cx="863600" cy="0"/>
          </a:xfrm>
          <a:prstGeom prst="line">
            <a:avLst/>
          </a:prstGeom>
          <a:noFill/>
          <a:ln w="57150" cap="sq">
            <a:solidFill>
              <a:srgbClr val="FF0000"/>
            </a:solidFill>
            <a:round/>
            <a:headEnd/>
            <a:tailEnd/>
          </a:ln>
          <a:effectLst/>
        </p:spPr>
        <p:txBody>
          <a:bodyPr lIns="0" tIns="0" rIns="0" bIns="0"/>
          <a:lstStyle/>
          <a:p>
            <a:pPr>
              <a:defRPr/>
            </a:pPr>
            <a:endParaRPr lang="zh-CN" altLang="en-US"/>
          </a:p>
        </p:txBody>
      </p:sp>
      <p:sp>
        <p:nvSpPr>
          <p:cNvPr id="6" name="Line 7"/>
          <p:cNvSpPr>
            <a:spLocks noChangeShapeType="1"/>
          </p:cNvSpPr>
          <p:nvPr/>
        </p:nvSpPr>
        <p:spPr bwMode="auto">
          <a:xfrm>
            <a:off x="3492500" y="2021681"/>
            <a:ext cx="863600" cy="0"/>
          </a:xfrm>
          <a:prstGeom prst="line">
            <a:avLst/>
          </a:prstGeom>
          <a:noFill/>
          <a:ln w="57150" cap="sq">
            <a:solidFill>
              <a:srgbClr val="FF0000"/>
            </a:solidFill>
            <a:round/>
            <a:headEnd/>
            <a:tailEnd/>
          </a:ln>
          <a:effectLst/>
        </p:spPr>
        <p:txBody>
          <a:bodyPr lIns="0" tIns="0" rIns="0" bIns="0"/>
          <a:lstStyle/>
          <a:p>
            <a:pPr>
              <a:defRPr/>
            </a:pPr>
            <a:endParaRPr lang="zh-CN" altLang="en-US"/>
          </a:p>
        </p:txBody>
      </p:sp>
      <p:sp>
        <p:nvSpPr>
          <p:cNvPr id="7" name="Line 8"/>
          <p:cNvSpPr>
            <a:spLocks noChangeShapeType="1"/>
          </p:cNvSpPr>
          <p:nvPr/>
        </p:nvSpPr>
        <p:spPr bwMode="auto">
          <a:xfrm>
            <a:off x="6156325" y="1772444"/>
            <a:ext cx="863600" cy="0"/>
          </a:xfrm>
          <a:prstGeom prst="line">
            <a:avLst/>
          </a:prstGeom>
          <a:noFill/>
          <a:ln w="57150" cap="sq">
            <a:solidFill>
              <a:srgbClr val="FF0000"/>
            </a:solidFill>
            <a:round/>
            <a:headEnd/>
            <a:tailEnd/>
          </a:ln>
          <a:effectLst/>
        </p:spPr>
        <p:txBody>
          <a:bodyPr lIns="0" tIns="0" rIns="0" bIns="0"/>
          <a:lstStyle/>
          <a:p>
            <a:pPr>
              <a:defRPr/>
            </a:pPr>
            <a:endParaRPr lang="zh-CN" altLang="en-US"/>
          </a:p>
        </p:txBody>
      </p:sp>
      <p:sp>
        <p:nvSpPr>
          <p:cNvPr id="8" name="Line 9"/>
          <p:cNvSpPr>
            <a:spLocks noChangeShapeType="1"/>
          </p:cNvSpPr>
          <p:nvPr/>
        </p:nvSpPr>
        <p:spPr bwMode="auto">
          <a:xfrm>
            <a:off x="7380288" y="1772444"/>
            <a:ext cx="863600" cy="0"/>
          </a:xfrm>
          <a:prstGeom prst="line">
            <a:avLst/>
          </a:prstGeom>
          <a:noFill/>
          <a:ln w="57150" cap="sq">
            <a:solidFill>
              <a:srgbClr val="FF0000"/>
            </a:solidFill>
            <a:round/>
            <a:headEnd/>
            <a:tailEnd/>
          </a:ln>
          <a:effectLst/>
        </p:spPr>
        <p:txBody>
          <a:bodyPr lIns="0" tIns="0" rIns="0" bIns="0"/>
          <a:lstStyle/>
          <a:p>
            <a:pPr>
              <a:defRPr/>
            </a:pPr>
            <a:endParaRPr lang="zh-CN" altLang="en-US"/>
          </a:p>
        </p:txBody>
      </p:sp>
      <p:sp>
        <p:nvSpPr>
          <p:cNvPr id="9" name="Line 10"/>
          <p:cNvSpPr>
            <a:spLocks noChangeShapeType="1"/>
          </p:cNvSpPr>
          <p:nvPr/>
        </p:nvSpPr>
        <p:spPr bwMode="auto">
          <a:xfrm>
            <a:off x="684213" y="2420144"/>
            <a:ext cx="1008062" cy="0"/>
          </a:xfrm>
          <a:prstGeom prst="line">
            <a:avLst/>
          </a:prstGeom>
          <a:noFill/>
          <a:ln w="57150" cap="sq">
            <a:solidFill>
              <a:srgbClr val="FF0000"/>
            </a:solidFill>
            <a:round/>
            <a:headEnd/>
            <a:tailEnd/>
          </a:ln>
          <a:effectLst/>
        </p:spPr>
        <p:txBody>
          <a:bodyPr lIns="0" tIns="0" rIns="0" bIns="0"/>
          <a:lstStyle/>
          <a:p>
            <a:pPr>
              <a:defRPr/>
            </a:pPr>
            <a:endParaRPr lang="zh-CN" altLang="en-US"/>
          </a:p>
        </p:txBody>
      </p:sp>
      <p:sp>
        <p:nvSpPr>
          <p:cNvPr id="10" name="Line 11"/>
          <p:cNvSpPr>
            <a:spLocks noChangeShapeType="1"/>
          </p:cNvSpPr>
          <p:nvPr/>
        </p:nvSpPr>
        <p:spPr bwMode="auto">
          <a:xfrm>
            <a:off x="2051050" y="2420144"/>
            <a:ext cx="1008063" cy="0"/>
          </a:xfrm>
          <a:prstGeom prst="line">
            <a:avLst/>
          </a:prstGeom>
          <a:noFill/>
          <a:ln w="57150" cap="sq">
            <a:solidFill>
              <a:srgbClr val="FF0000"/>
            </a:solidFill>
            <a:round/>
            <a:headEnd/>
            <a:tailEnd/>
          </a:ln>
          <a:effectLst/>
        </p:spPr>
        <p:txBody>
          <a:bodyPr lIns="0" tIns="0" rIns="0" bIns="0"/>
          <a:lstStyle/>
          <a:p>
            <a:pPr>
              <a:defRPr/>
            </a:pPr>
            <a:endParaRPr lang="zh-CN" altLang="en-US"/>
          </a:p>
        </p:txBody>
      </p:sp>
    </p:spTree>
    <p:extLst>
      <p:ext uri="{BB962C8B-B14F-4D97-AF65-F5344CB8AC3E}">
        <p14:creationId xmlns:p14="http://schemas.microsoft.com/office/powerpoint/2010/main" val="1075548379"/>
      </p:ext>
    </p:extLst>
  </p:cSld>
  <p:clrMapOvr>
    <a:masterClrMapping/>
  </p:clrMapOvr>
  <p:transition spd="med">
    <p:random/>
    <p:sndAc>
      <p:stSnd>
        <p:snd r:embed="rId2" name="camera.wav"/>
      </p:stSnd>
    </p:sndAc>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type="title"/>
          </p:nvPr>
        </p:nvSpPr>
        <p:spPr>
          <a:xfrm>
            <a:off x="62129" y="0"/>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pPr>
            <a:r>
              <a:rPr kumimoji="1" lang="zh-CN" altLang="en-US" sz="4000" b="1" kern="1200" dirty="0">
                <a:solidFill>
                  <a:srgbClr val="FFFFCC"/>
                </a:solidFill>
                <a:effectLst>
                  <a:outerShdw blurRad="38100" dist="38100" dir="2700000" algn="tl">
                    <a:srgbClr val="000000"/>
                  </a:outerShdw>
                </a:effectLst>
                <a:latin typeface="微软雅黑" panose="020B0503020204020204" pitchFamily="34" charset="-122"/>
                <a:ea typeface="微软雅黑" pitchFamily="34" charset="-122"/>
              </a:rPr>
              <a:t>属性集闭包</a:t>
            </a:r>
            <a:endParaRPr kumimoji="1" lang="en-US" altLang="zh-CN" sz="4000" b="1" kern="1200" dirty="0">
              <a:solidFill>
                <a:srgbClr val="FFFFCC"/>
              </a:solidFill>
              <a:effectLst>
                <a:outerShdw blurRad="38100" dist="38100" dir="2700000" algn="tl">
                  <a:srgbClr val="000000"/>
                </a:outerShdw>
              </a:effectLst>
              <a:latin typeface="微软雅黑" panose="020B0503020204020204" pitchFamily="34" charset="-122"/>
              <a:ea typeface="微软雅黑" pitchFamily="34" charset="-122"/>
            </a:endParaRPr>
          </a:p>
        </p:txBody>
      </p:sp>
      <p:sp>
        <p:nvSpPr>
          <p:cNvPr id="3" name="Text Box 2"/>
          <p:cNvSpPr txBox="1">
            <a:spLocks noChangeArrowheads="1"/>
          </p:cNvSpPr>
          <p:nvPr/>
        </p:nvSpPr>
        <p:spPr bwMode="auto">
          <a:xfrm>
            <a:off x="539750" y="1052736"/>
            <a:ext cx="8382000" cy="1143000"/>
          </a:xfrm>
          <a:prstGeom prst="rect">
            <a:avLst/>
          </a:prstGeom>
          <a:noFill/>
          <a:ln w="12700" cap="sq">
            <a:noFill/>
            <a:miter lim="800000"/>
            <a:headEnd type="none" w="sm" len="sm"/>
            <a:tailEnd type="none" w="sm" len="sm"/>
          </a:ln>
          <a:effectLst/>
        </p:spPr>
        <p:txBody>
          <a:bodyPr/>
          <a:lstStyle/>
          <a:p>
            <a:pPr>
              <a:spcBef>
                <a:spcPct val="30000"/>
              </a:spcBef>
              <a:spcAft>
                <a:spcPct val="70000"/>
              </a:spcAft>
              <a:tabLst>
                <a:tab pos="715963" algn="l"/>
                <a:tab pos="1905000" algn="l"/>
              </a:tabLst>
              <a:defRPr/>
            </a:pPr>
            <a:r>
              <a:rPr lang="zh-CN" altLang="en-US" sz="2800">
                <a:solidFill>
                  <a:srgbClr val="CCFFCC"/>
                </a:solidFill>
                <a:effectLst>
                  <a:outerShdw blurRad="38100" dist="38100" dir="2700000" algn="tl">
                    <a:srgbClr val="000000"/>
                  </a:outerShdw>
                </a:effectLst>
              </a:rPr>
              <a:t>例</a:t>
            </a:r>
            <a:r>
              <a:rPr lang="en-US" altLang="zh-CN" sz="2800">
                <a:solidFill>
                  <a:srgbClr val="CCFFCC"/>
                </a:solidFill>
                <a:effectLst>
                  <a:outerShdw blurRad="38100" dist="38100" dir="2700000" algn="tl">
                    <a:srgbClr val="000000"/>
                  </a:outerShdw>
                </a:effectLst>
              </a:rPr>
              <a:t>:</a:t>
            </a:r>
            <a:r>
              <a:rPr lang="zh-CN" altLang="en-US" sz="2800">
                <a:solidFill>
                  <a:srgbClr val="99FF99"/>
                </a:solidFill>
                <a:effectLst>
                  <a:outerShdw blurRad="38100" dist="38100" dir="2700000" algn="tl">
                    <a:srgbClr val="000000"/>
                  </a:outerShdw>
                </a:effectLst>
              </a:rPr>
              <a:t>设有</a:t>
            </a:r>
            <a:r>
              <a:rPr lang="zh-CN" altLang="zh-CN" sz="2800">
                <a:solidFill>
                  <a:srgbClr val="99FF99"/>
                </a:solidFill>
                <a:effectLst>
                  <a:outerShdw blurRad="38100" dist="38100" dir="2700000" algn="tl">
                    <a:srgbClr val="000000"/>
                  </a:outerShdw>
                </a:effectLst>
              </a:rPr>
              <a:t>关系模式R</a:t>
            </a:r>
            <a:r>
              <a:rPr lang="zh-CN" altLang="en-US" sz="2800">
                <a:solidFill>
                  <a:srgbClr val="99FF99"/>
                </a:solidFill>
                <a:effectLst>
                  <a:outerShdw blurRad="38100" dist="38100" dir="2700000" algn="tl">
                    <a:srgbClr val="000000"/>
                  </a:outerShdw>
                </a:effectLst>
              </a:rPr>
              <a:t>(</a:t>
            </a:r>
            <a:r>
              <a:rPr lang="en-US" altLang="zh-CN" sz="2800">
                <a:solidFill>
                  <a:srgbClr val="99FF99"/>
                </a:solidFill>
                <a:effectLst>
                  <a:outerShdw blurRad="38100" dist="38100" dir="2700000" algn="tl">
                    <a:srgbClr val="000000"/>
                  </a:outerShdw>
                </a:effectLst>
              </a:rPr>
              <a:t>U,F)</a:t>
            </a:r>
            <a:r>
              <a:rPr lang="zh-CN" altLang="en-US" sz="2800">
                <a:solidFill>
                  <a:srgbClr val="99FF99"/>
                </a:solidFill>
                <a:effectLst>
                  <a:outerShdw blurRad="38100" dist="38100" dir="2700000" algn="tl">
                    <a:srgbClr val="000000"/>
                  </a:outerShdw>
                </a:effectLst>
              </a:rPr>
              <a:t>，其中</a:t>
            </a:r>
            <a:r>
              <a:rPr lang="zh-CN" altLang="zh-CN" sz="2800">
                <a:solidFill>
                  <a:srgbClr val="99FF99"/>
                </a:solidFill>
                <a:effectLst>
                  <a:outerShdw blurRad="38100" dist="38100" dir="2700000" algn="tl">
                    <a:srgbClr val="000000"/>
                  </a:outerShdw>
                </a:effectLst>
              </a:rPr>
              <a:t>U={A</a:t>
            </a:r>
            <a:r>
              <a:rPr lang="zh-CN" altLang="en-US" sz="2800">
                <a:solidFill>
                  <a:srgbClr val="99FF99"/>
                </a:solidFill>
                <a:effectLst>
                  <a:outerShdw blurRad="38100" dist="38100" dir="2700000" algn="tl">
                    <a:srgbClr val="000000"/>
                  </a:outerShdw>
                </a:effectLst>
              </a:rPr>
              <a:t>,</a:t>
            </a:r>
            <a:r>
              <a:rPr lang="zh-CN" altLang="zh-CN" sz="2800">
                <a:solidFill>
                  <a:srgbClr val="99FF99"/>
                </a:solidFill>
                <a:effectLst>
                  <a:outerShdw blurRad="38100" dist="38100" dir="2700000" algn="tl">
                    <a:srgbClr val="000000"/>
                  </a:outerShdw>
                </a:effectLst>
              </a:rPr>
              <a:t>B</a:t>
            </a:r>
            <a:r>
              <a:rPr lang="zh-CN" altLang="en-US" sz="2800">
                <a:solidFill>
                  <a:srgbClr val="99FF99"/>
                </a:solidFill>
                <a:effectLst>
                  <a:outerShdw blurRad="38100" dist="38100" dir="2700000" algn="tl">
                    <a:srgbClr val="000000"/>
                  </a:outerShdw>
                </a:effectLst>
              </a:rPr>
              <a:t>,</a:t>
            </a:r>
            <a:r>
              <a:rPr lang="zh-CN" altLang="zh-CN" sz="2800">
                <a:solidFill>
                  <a:srgbClr val="99FF99"/>
                </a:solidFill>
                <a:effectLst>
                  <a:outerShdw blurRad="38100" dist="38100" dir="2700000" algn="tl">
                    <a:srgbClr val="000000"/>
                  </a:outerShdw>
                </a:effectLst>
              </a:rPr>
              <a:t>C</a:t>
            </a:r>
            <a:r>
              <a:rPr lang="zh-CN" altLang="en-US" sz="2800">
                <a:solidFill>
                  <a:srgbClr val="99FF99"/>
                </a:solidFill>
                <a:effectLst>
                  <a:outerShdw blurRad="38100" dist="38100" dir="2700000" algn="tl">
                    <a:srgbClr val="000000"/>
                  </a:outerShdw>
                </a:effectLst>
              </a:rPr>
              <a:t>,</a:t>
            </a:r>
            <a:r>
              <a:rPr lang="zh-CN" altLang="zh-CN" sz="2800">
                <a:solidFill>
                  <a:srgbClr val="99FF99"/>
                </a:solidFill>
                <a:effectLst>
                  <a:outerShdw blurRad="38100" dist="38100" dir="2700000" algn="tl">
                    <a:srgbClr val="000000"/>
                  </a:outerShdw>
                </a:effectLst>
              </a:rPr>
              <a:t>D</a:t>
            </a:r>
            <a:r>
              <a:rPr lang="zh-CN" altLang="en-US" sz="2800">
                <a:solidFill>
                  <a:srgbClr val="99FF99"/>
                </a:solidFill>
                <a:effectLst>
                  <a:outerShdw blurRad="38100" dist="38100" dir="2700000" algn="tl">
                    <a:srgbClr val="000000"/>
                  </a:outerShdw>
                </a:effectLst>
              </a:rPr>
              <a:t>,</a:t>
            </a:r>
            <a:r>
              <a:rPr lang="zh-CN" altLang="zh-CN" sz="2800">
                <a:solidFill>
                  <a:srgbClr val="99FF99"/>
                </a:solidFill>
                <a:effectLst>
                  <a:outerShdw blurRad="38100" dist="38100" dir="2700000" algn="tl">
                    <a:srgbClr val="000000"/>
                  </a:outerShdw>
                </a:effectLst>
              </a:rPr>
              <a:t>E</a:t>
            </a:r>
            <a:r>
              <a:rPr lang="zh-CN" altLang="en-US" sz="2800">
                <a:solidFill>
                  <a:srgbClr val="99FF99"/>
                </a:solidFill>
                <a:effectLst>
                  <a:outerShdw blurRad="38100" dist="38100" dir="2700000" algn="tl">
                    <a:srgbClr val="000000"/>
                  </a:outerShdw>
                </a:effectLst>
              </a:rPr>
              <a:t>,</a:t>
            </a:r>
            <a:r>
              <a:rPr lang="zh-CN" altLang="zh-CN" sz="2800">
                <a:solidFill>
                  <a:srgbClr val="99FF99"/>
                </a:solidFill>
                <a:effectLst>
                  <a:outerShdw blurRad="38100" dist="38100" dir="2700000" algn="tl">
                    <a:srgbClr val="000000"/>
                  </a:outerShdw>
                </a:effectLst>
              </a:rPr>
              <a:t>G}, </a:t>
            </a:r>
            <a:r>
              <a:rPr lang="en-US" altLang="zh-CN" sz="2800">
                <a:solidFill>
                  <a:srgbClr val="99FF99"/>
                </a:solidFill>
                <a:effectLst>
                  <a:outerShdw blurRad="38100" dist="38100" dir="2700000" algn="tl">
                    <a:srgbClr val="000000"/>
                  </a:outerShdw>
                </a:effectLst>
              </a:rPr>
              <a:t>   </a:t>
            </a:r>
            <a:r>
              <a:rPr lang="zh-CN" altLang="zh-CN" sz="2800">
                <a:solidFill>
                  <a:srgbClr val="99FF99"/>
                </a:solidFill>
                <a:effectLst>
                  <a:outerShdw blurRad="38100" dist="38100" dir="2700000" algn="tl">
                    <a:srgbClr val="000000"/>
                  </a:outerShdw>
                </a:effectLst>
              </a:rPr>
              <a:t>F={</a:t>
            </a:r>
            <a:r>
              <a:rPr lang="zh-CN" altLang="zh-CN" sz="2800">
                <a:solidFill>
                  <a:srgbClr val="CCFF33"/>
                </a:solidFill>
                <a:effectLst>
                  <a:outerShdw blurRad="38100" dist="38100" dir="2700000" algn="tl">
                    <a:srgbClr val="000000"/>
                  </a:outerShdw>
                </a:effectLst>
              </a:rPr>
              <a:t>AB→C</a:t>
            </a:r>
            <a:r>
              <a:rPr lang="zh-CN" altLang="zh-CN" sz="2800">
                <a:solidFill>
                  <a:srgbClr val="99FF99"/>
                </a:solidFill>
                <a:effectLst>
                  <a:outerShdw blurRad="38100" dist="38100" dir="2700000" algn="tl">
                    <a:srgbClr val="000000"/>
                  </a:outerShdw>
                </a:effectLst>
              </a:rPr>
              <a:t>, </a:t>
            </a:r>
            <a:r>
              <a:rPr lang="zh-CN" altLang="zh-CN" sz="2800">
                <a:solidFill>
                  <a:srgbClr val="FF9900"/>
                </a:solidFill>
                <a:effectLst>
                  <a:outerShdw blurRad="38100" dist="38100" dir="2700000" algn="tl">
                    <a:srgbClr val="000000"/>
                  </a:outerShdw>
                </a:effectLst>
              </a:rPr>
              <a:t>C→A</a:t>
            </a:r>
            <a:r>
              <a:rPr lang="zh-CN" altLang="zh-CN" sz="2800">
                <a:solidFill>
                  <a:srgbClr val="99FF99"/>
                </a:solidFill>
                <a:effectLst>
                  <a:outerShdw blurRad="38100" dist="38100" dir="2700000" algn="tl">
                    <a:srgbClr val="000000"/>
                  </a:outerShdw>
                </a:effectLst>
              </a:rPr>
              <a:t>, </a:t>
            </a:r>
            <a:r>
              <a:rPr lang="zh-CN" altLang="zh-CN" sz="2800">
                <a:solidFill>
                  <a:srgbClr val="FF9900"/>
                </a:solidFill>
                <a:effectLst>
                  <a:outerShdw blurRad="38100" dist="38100" dir="2700000" algn="tl">
                    <a:srgbClr val="000000"/>
                  </a:outerShdw>
                </a:effectLst>
              </a:rPr>
              <a:t>BC→D</a:t>
            </a:r>
            <a:r>
              <a:rPr lang="zh-CN" altLang="zh-CN" sz="2800">
                <a:solidFill>
                  <a:srgbClr val="99FF99"/>
                </a:solidFill>
                <a:effectLst>
                  <a:outerShdw blurRad="38100" dist="38100" dir="2700000" algn="tl">
                    <a:srgbClr val="000000"/>
                  </a:outerShdw>
                </a:effectLst>
              </a:rPr>
              <a:t>, </a:t>
            </a:r>
            <a:r>
              <a:rPr lang="zh-CN" altLang="zh-CN" sz="2800">
                <a:solidFill>
                  <a:srgbClr val="CCFF33"/>
                </a:solidFill>
                <a:effectLst>
                  <a:outerShdw blurRad="38100" dist="38100" dir="2700000" algn="tl">
                    <a:srgbClr val="000000"/>
                  </a:outerShdw>
                </a:effectLst>
              </a:rPr>
              <a:t>ACD→B</a:t>
            </a:r>
            <a:r>
              <a:rPr lang="zh-CN" altLang="zh-CN" sz="2800">
                <a:solidFill>
                  <a:srgbClr val="99FF99"/>
                </a:solidFill>
                <a:effectLst>
                  <a:outerShdw blurRad="38100" dist="38100" dir="2700000" algn="tl">
                    <a:srgbClr val="000000"/>
                  </a:outerShdw>
                </a:effectLst>
              </a:rPr>
              <a:t>, </a:t>
            </a:r>
            <a:r>
              <a:rPr lang="zh-CN" altLang="zh-CN" sz="2800">
                <a:solidFill>
                  <a:srgbClr val="00FFFF"/>
                </a:solidFill>
                <a:effectLst>
                  <a:outerShdw blurRad="38100" dist="38100" dir="2700000" algn="tl">
                    <a:srgbClr val="000000"/>
                  </a:outerShdw>
                </a:effectLst>
              </a:rPr>
              <a:t>D→EG</a:t>
            </a:r>
            <a:r>
              <a:rPr lang="zh-CN" altLang="zh-CN" sz="2800">
                <a:solidFill>
                  <a:srgbClr val="99FF99"/>
                </a:solidFill>
                <a:effectLst>
                  <a:outerShdw blurRad="38100" dist="38100" dir="2700000" algn="tl">
                    <a:srgbClr val="000000"/>
                  </a:outerShdw>
                </a:effectLst>
              </a:rPr>
              <a:t>, </a:t>
            </a:r>
            <a:r>
              <a:rPr lang="zh-CN" altLang="zh-CN" sz="2800">
                <a:solidFill>
                  <a:srgbClr val="FFFF00"/>
                </a:solidFill>
                <a:effectLst>
                  <a:outerShdw blurRad="38100" dist="38100" dir="2700000" algn="tl">
                    <a:srgbClr val="000000"/>
                  </a:outerShdw>
                </a:effectLst>
              </a:rPr>
              <a:t>BE→C</a:t>
            </a:r>
            <a:r>
              <a:rPr lang="zh-CN" altLang="en-US" sz="2800">
                <a:solidFill>
                  <a:srgbClr val="99FF99"/>
                </a:solidFill>
                <a:effectLst>
                  <a:outerShdw blurRad="38100" dist="38100" dir="2700000" algn="tl">
                    <a:srgbClr val="000000"/>
                  </a:outerShdw>
                </a:effectLst>
              </a:rPr>
              <a:t>，</a:t>
            </a:r>
            <a:r>
              <a:rPr lang="zh-CN" altLang="zh-CN" sz="2800">
                <a:solidFill>
                  <a:srgbClr val="FF9900"/>
                </a:solidFill>
                <a:effectLst>
                  <a:outerShdw blurRad="38100" dist="38100" dir="2700000" algn="tl">
                    <a:srgbClr val="000000"/>
                  </a:outerShdw>
                </a:effectLst>
              </a:rPr>
              <a:t>CG→BD</a:t>
            </a:r>
            <a:r>
              <a:rPr lang="zh-CN" altLang="zh-CN" sz="2800">
                <a:solidFill>
                  <a:srgbClr val="99FF99"/>
                </a:solidFill>
                <a:effectLst>
                  <a:outerShdw blurRad="38100" dist="38100" dir="2700000" algn="tl">
                    <a:srgbClr val="000000"/>
                  </a:outerShdw>
                </a:effectLst>
              </a:rPr>
              <a:t>, </a:t>
            </a:r>
            <a:r>
              <a:rPr lang="zh-CN" altLang="zh-CN" sz="2800">
                <a:solidFill>
                  <a:srgbClr val="FF9900"/>
                </a:solidFill>
                <a:effectLst>
                  <a:outerShdw blurRad="38100" dist="38100" dir="2700000" algn="tl">
                    <a:srgbClr val="000000"/>
                  </a:outerShdw>
                </a:effectLst>
              </a:rPr>
              <a:t>CE→AG</a:t>
            </a:r>
            <a:r>
              <a:rPr lang="zh-CN" altLang="zh-CN" sz="2800">
                <a:solidFill>
                  <a:srgbClr val="99FF99"/>
                </a:solidFill>
                <a:effectLst>
                  <a:outerShdw blurRad="38100" dist="38100" dir="2700000" algn="tl">
                    <a:srgbClr val="000000"/>
                  </a:outerShdw>
                </a:effectLst>
              </a:rPr>
              <a:t>},</a:t>
            </a:r>
            <a:r>
              <a:rPr lang="zh-CN" altLang="en-US" sz="2800">
                <a:solidFill>
                  <a:srgbClr val="99FF99"/>
                </a:solidFill>
                <a:effectLst>
                  <a:outerShdw blurRad="38100" dist="38100" dir="2700000" algn="tl">
                    <a:srgbClr val="000000"/>
                  </a:outerShdw>
                </a:effectLst>
              </a:rPr>
              <a:t>求</a:t>
            </a:r>
            <a:r>
              <a:rPr lang="en-US" altLang="zh-CN" sz="2800">
                <a:solidFill>
                  <a:srgbClr val="99FF99"/>
                </a:solidFill>
                <a:effectLst>
                  <a:outerShdw blurRad="38100" dist="38100" dir="2700000" algn="tl">
                    <a:srgbClr val="000000"/>
                  </a:outerShdw>
                </a:effectLst>
              </a:rPr>
              <a:t>(BD)</a:t>
            </a:r>
            <a:r>
              <a:rPr lang="en-US" altLang="zh-CN" sz="2800" baseline="30000">
                <a:solidFill>
                  <a:srgbClr val="99FF99"/>
                </a:solidFill>
                <a:effectLst>
                  <a:outerShdw blurRad="38100" dist="38100" dir="2700000" algn="tl">
                    <a:srgbClr val="000000"/>
                  </a:outerShdw>
                </a:effectLst>
              </a:rPr>
              <a:t>+</a:t>
            </a:r>
            <a:r>
              <a:rPr lang="zh-CN" altLang="en-US" sz="2800">
                <a:solidFill>
                  <a:srgbClr val="99FF99"/>
                </a:solidFill>
                <a:effectLst>
                  <a:outerShdw blurRad="38100" dist="38100" dir="2700000" algn="tl">
                    <a:srgbClr val="000000"/>
                  </a:outerShdw>
                </a:effectLst>
              </a:rPr>
              <a:t>。</a:t>
            </a:r>
          </a:p>
        </p:txBody>
      </p:sp>
      <p:sp>
        <p:nvSpPr>
          <p:cNvPr id="4" name="Rectangle 5"/>
          <p:cNvSpPr>
            <a:spLocks noChangeArrowheads="1"/>
          </p:cNvSpPr>
          <p:nvPr/>
        </p:nvSpPr>
        <p:spPr bwMode="auto">
          <a:xfrm>
            <a:off x="493713" y="2764719"/>
            <a:ext cx="8318500" cy="1311275"/>
          </a:xfrm>
          <a:prstGeom prst="rect">
            <a:avLst/>
          </a:prstGeom>
          <a:noFill/>
          <a:ln w="12700" cap="sq" algn="ctr">
            <a:noFill/>
            <a:miter lim="800000"/>
            <a:headEnd/>
            <a:tailEnd/>
          </a:ln>
          <a:effectLst/>
        </p:spPr>
        <p:txBody>
          <a:bodyPr/>
          <a:lstStyle/>
          <a:p>
            <a:pPr>
              <a:spcAft>
                <a:spcPct val="30000"/>
              </a:spcAft>
              <a:tabLst>
                <a:tab pos="715963" algn="l"/>
                <a:tab pos="1905000" algn="l"/>
              </a:tabLst>
              <a:defRPr/>
            </a:pPr>
            <a:r>
              <a:rPr lang="zh-CN" altLang="en-US" sz="2800" dirty="0">
                <a:solidFill>
                  <a:srgbClr val="CCFFCC"/>
                </a:solidFill>
                <a:effectLst>
                  <a:outerShdw blurRad="38100" dist="38100" dir="2700000" algn="tl">
                    <a:srgbClr val="000000"/>
                  </a:outerShdw>
                </a:effectLst>
              </a:rPr>
              <a:t>第四次：</a:t>
            </a:r>
          </a:p>
          <a:p>
            <a:pPr>
              <a:spcAft>
                <a:spcPct val="30000"/>
              </a:spcAft>
              <a:tabLst>
                <a:tab pos="715963" algn="l"/>
                <a:tab pos="1905000" algn="l"/>
              </a:tabLst>
              <a:defRPr/>
            </a:pPr>
            <a:r>
              <a:rPr lang="zh-CN" altLang="en-US" sz="2800" dirty="0">
                <a:solidFill>
                  <a:srgbClr val="CCFFCC"/>
                </a:solidFill>
                <a:effectLst>
                  <a:outerShdw blurRad="38100" dist="38100" dir="2700000" algn="tl">
                    <a:srgbClr val="000000"/>
                  </a:outerShdw>
                </a:effectLst>
              </a:rPr>
              <a:t>当前</a:t>
            </a:r>
            <a:r>
              <a:rPr lang="en-US" altLang="zh-CN" sz="2800" dirty="0">
                <a:solidFill>
                  <a:srgbClr val="CCFFCC"/>
                </a:solidFill>
                <a:effectLst>
                  <a:outerShdw blurRad="38100" dist="38100" dir="2700000" algn="tl">
                    <a:srgbClr val="000000"/>
                  </a:outerShdw>
                </a:effectLst>
              </a:rPr>
              <a:t>(BD)</a:t>
            </a:r>
            <a:r>
              <a:rPr lang="en-US" altLang="zh-CN" sz="2800" baseline="30000" dirty="0">
                <a:solidFill>
                  <a:srgbClr val="CCFFCC"/>
                </a:solidFill>
                <a:effectLst>
                  <a:outerShdw blurRad="38100" dist="38100" dir="2700000" algn="tl">
                    <a:srgbClr val="000000"/>
                  </a:outerShdw>
                </a:effectLst>
              </a:rPr>
              <a:t>+ </a:t>
            </a:r>
            <a:r>
              <a:rPr lang="en-US" altLang="zh-CN" sz="2800" dirty="0">
                <a:solidFill>
                  <a:srgbClr val="CCFFCC"/>
                </a:solidFill>
                <a:effectLst>
                  <a:outerShdw blurRad="38100" dist="38100" dir="2700000" algn="tl">
                    <a:srgbClr val="000000"/>
                  </a:outerShdw>
                </a:effectLst>
              </a:rPr>
              <a:t>= {B,D,E,G,C,A}</a:t>
            </a:r>
          </a:p>
          <a:p>
            <a:pPr>
              <a:spcAft>
                <a:spcPct val="30000"/>
              </a:spcAft>
              <a:tabLst>
                <a:tab pos="715963" algn="l"/>
                <a:tab pos="1905000" algn="l"/>
              </a:tabLst>
              <a:defRPr/>
            </a:pPr>
            <a:r>
              <a:rPr lang="zh-CN" altLang="en-US" sz="2800" dirty="0">
                <a:solidFill>
                  <a:srgbClr val="CCFFCC"/>
                </a:solidFill>
                <a:effectLst>
                  <a:outerShdw blurRad="38100" dist="38100" dir="2700000" algn="tl">
                    <a:srgbClr val="000000"/>
                  </a:outerShdw>
                </a:effectLst>
              </a:rPr>
              <a:t>找出</a:t>
            </a:r>
            <a:r>
              <a:rPr lang="en-US" altLang="zh-CN" sz="2800" dirty="0">
                <a:solidFill>
                  <a:srgbClr val="CCFFCC"/>
                </a:solidFill>
                <a:effectLst>
                  <a:outerShdw blurRad="38100" dist="38100" dir="2700000" algn="tl">
                    <a:srgbClr val="000000"/>
                  </a:outerShdw>
                </a:effectLst>
              </a:rPr>
              <a:t>F</a:t>
            </a:r>
            <a:r>
              <a:rPr lang="zh-CN" altLang="en-US" sz="2800" dirty="0">
                <a:solidFill>
                  <a:srgbClr val="CCFFCC"/>
                </a:solidFill>
                <a:effectLst>
                  <a:outerShdw blurRad="38100" dist="38100" dir="2700000" algn="tl">
                    <a:srgbClr val="000000"/>
                  </a:outerShdw>
                </a:effectLst>
              </a:rPr>
              <a:t>中所有决定因子包含在</a:t>
            </a:r>
            <a:r>
              <a:rPr lang="en-US" altLang="zh-CN" sz="2800" dirty="0">
                <a:solidFill>
                  <a:srgbClr val="CCFFCC"/>
                </a:solidFill>
                <a:effectLst>
                  <a:outerShdw blurRad="38100" dist="38100" dir="2700000" algn="tl">
                    <a:srgbClr val="000000"/>
                  </a:outerShdw>
                </a:effectLst>
              </a:rPr>
              <a:t>(BD)</a:t>
            </a:r>
            <a:r>
              <a:rPr lang="en-US" altLang="zh-CN" sz="2800" baseline="30000" dirty="0">
                <a:solidFill>
                  <a:srgbClr val="CCFFCC"/>
                </a:solidFill>
                <a:effectLst>
                  <a:outerShdw blurRad="38100" dist="38100" dir="2700000" algn="tl">
                    <a:srgbClr val="000000"/>
                  </a:outerShdw>
                </a:effectLst>
              </a:rPr>
              <a:t>+</a:t>
            </a:r>
            <a:r>
              <a:rPr lang="zh-CN" altLang="en-US" sz="2800" dirty="0">
                <a:solidFill>
                  <a:srgbClr val="CCFFCC"/>
                </a:solidFill>
                <a:effectLst>
                  <a:outerShdw blurRad="38100" dist="38100" dir="2700000" algn="tl">
                    <a:srgbClr val="000000"/>
                  </a:outerShdw>
                </a:effectLst>
              </a:rPr>
              <a:t>中的函数依赖，将其右边部分并入</a:t>
            </a:r>
            <a:r>
              <a:rPr lang="en-US" altLang="zh-CN" sz="2800" dirty="0">
                <a:solidFill>
                  <a:srgbClr val="CCFFCC"/>
                </a:solidFill>
                <a:effectLst>
                  <a:outerShdw blurRad="38100" dist="38100" dir="2700000" algn="tl">
                    <a:srgbClr val="000000"/>
                  </a:outerShdw>
                </a:effectLst>
              </a:rPr>
              <a:t>(BD)</a:t>
            </a:r>
            <a:r>
              <a:rPr lang="en-US" altLang="zh-CN" sz="2800" baseline="30000" dirty="0">
                <a:solidFill>
                  <a:srgbClr val="CCFFCC"/>
                </a:solidFill>
                <a:effectLst>
                  <a:outerShdw blurRad="38100" dist="38100" dir="2700000" algn="tl">
                    <a:srgbClr val="000000"/>
                  </a:outerShdw>
                </a:effectLst>
              </a:rPr>
              <a:t>+</a:t>
            </a:r>
            <a:r>
              <a:rPr lang="zh-CN" altLang="en-US" sz="2800" dirty="0">
                <a:solidFill>
                  <a:srgbClr val="CCFFCC"/>
                </a:solidFill>
                <a:effectLst>
                  <a:outerShdw blurRad="38100" dist="38100" dir="2700000" algn="tl">
                    <a:srgbClr val="000000"/>
                  </a:outerShdw>
                </a:effectLst>
              </a:rPr>
              <a:t>，并做访问标记。</a:t>
            </a:r>
          </a:p>
          <a:p>
            <a:pPr>
              <a:spcAft>
                <a:spcPct val="30000"/>
              </a:spcAft>
              <a:tabLst>
                <a:tab pos="715963" algn="l"/>
                <a:tab pos="1905000" algn="l"/>
              </a:tabLst>
              <a:defRPr/>
            </a:pPr>
            <a:r>
              <a:rPr lang="zh-CN" altLang="en-US" sz="2800" dirty="0">
                <a:solidFill>
                  <a:srgbClr val="CCFFCC"/>
                </a:solidFill>
                <a:effectLst>
                  <a:outerShdw blurRad="38100" dist="38100" dir="2700000" algn="tl">
                    <a:srgbClr val="000000"/>
                  </a:outerShdw>
                </a:effectLst>
              </a:rPr>
              <a:t>得到新</a:t>
            </a:r>
            <a:r>
              <a:rPr lang="en-US" altLang="zh-CN" sz="2800" dirty="0">
                <a:solidFill>
                  <a:srgbClr val="CCFFCC"/>
                </a:solidFill>
                <a:effectLst>
                  <a:outerShdw blurRad="38100" dist="38100" dir="2700000" algn="tl">
                    <a:srgbClr val="000000"/>
                  </a:outerShdw>
                </a:effectLst>
              </a:rPr>
              <a:t>(BD)</a:t>
            </a:r>
            <a:r>
              <a:rPr lang="en-US" altLang="zh-CN" sz="2800" baseline="30000" dirty="0">
                <a:solidFill>
                  <a:srgbClr val="CCFFCC"/>
                </a:solidFill>
                <a:effectLst>
                  <a:outerShdw blurRad="38100" dist="38100" dir="2700000" algn="tl">
                    <a:srgbClr val="000000"/>
                  </a:outerShdw>
                </a:effectLst>
              </a:rPr>
              <a:t>+ </a:t>
            </a:r>
            <a:r>
              <a:rPr lang="en-US" altLang="zh-CN" sz="2800" dirty="0">
                <a:solidFill>
                  <a:srgbClr val="CCFFCC"/>
                </a:solidFill>
                <a:effectLst>
                  <a:outerShdw blurRad="38100" dist="38100" dir="2700000" algn="tl">
                    <a:srgbClr val="000000"/>
                  </a:outerShdw>
                </a:effectLst>
              </a:rPr>
              <a:t>= {B,D,E,G,C,A}</a:t>
            </a:r>
          </a:p>
          <a:p>
            <a:pPr>
              <a:spcAft>
                <a:spcPct val="30000"/>
              </a:spcAft>
              <a:tabLst>
                <a:tab pos="715963" algn="l"/>
                <a:tab pos="1905000" algn="l"/>
              </a:tabLst>
              <a:defRPr/>
            </a:pPr>
            <a:r>
              <a:rPr lang="zh-CN" altLang="en-US" sz="2800" dirty="0">
                <a:solidFill>
                  <a:srgbClr val="CCFFCC"/>
                </a:solidFill>
                <a:effectLst>
                  <a:outerShdw blurRad="38100" dist="38100" dir="2700000" algn="tl">
                    <a:srgbClr val="000000"/>
                  </a:outerShdw>
                </a:effectLst>
              </a:rPr>
              <a:t>此时</a:t>
            </a:r>
            <a:r>
              <a:rPr lang="en-US" altLang="zh-CN" sz="2800" dirty="0">
                <a:solidFill>
                  <a:srgbClr val="CCFFCC"/>
                </a:solidFill>
                <a:effectLst>
                  <a:outerShdw blurRad="38100" dist="38100" dir="2700000" algn="tl">
                    <a:srgbClr val="000000"/>
                  </a:outerShdw>
                </a:effectLst>
              </a:rPr>
              <a:t>(BD)</a:t>
            </a:r>
            <a:r>
              <a:rPr lang="en-US" altLang="zh-CN" sz="2800" baseline="30000" dirty="0">
                <a:solidFill>
                  <a:srgbClr val="CCFFCC"/>
                </a:solidFill>
                <a:effectLst>
                  <a:outerShdw blurRad="38100" dist="38100" dir="2700000" algn="tl">
                    <a:srgbClr val="000000"/>
                  </a:outerShdw>
                </a:effectLst>
              </a:rPr>
              <a:t>+</a:t>
            </a:r>
            <a:r>
              <a:rPr lang="zh-CN" altLang="en-US" sz="2800" dirty="0">
                <a:solidFill>
                  <a:srgbClr val="CCFFCC"/>
                </a:solidFill>
                <a:effectLst>
                  <a:outerShdw blurRad="38100" dist="38100" dir="2700000" algn="tl">
                    <a:srgbClr val="000000"/>
                  </a:outerShdw>
                </a:effectLst>
              </a:rPr>
              <a:t>与第三次相比已没有变化，这就是最终的</a:t>
            </a:r>
            <a:r>
              <a:rPr lang="en-US" altLang="zh-CN" sz="2800" dirty="0">
                <a:solidFill>
                  <a:srgbClr val="CCFFCC"/>
                </a:solidFill>
                <a:effectLst>
                  <a:outerShdw blurRad="38100" dist="38100" dir="2700000" algn="tl">
                    <a:srgbClr val="000000"/>
                  </a:outerShdw>
                </a:effectLst>
              </a:rPr>
              <a:t>(BD)</a:t>
            </a:r>
            <a:r>
              <a:rPr lang="en-US" altLang="zh-CN" sz="2800" baseline="30000" dirty="0">
                <a:solidFill>
                  <a:srgbClr val="CCFFCC"/>
                </a:solidFill>
                <a:effectLst>
                  <a:outerShdw blurRad="38100" dist="38100" dir="2700000" algn="tl">
                    <a:srgbClr val="000000"/>
                  </a:outerShdw>
                </a:effectLst>
              </a:rPr>
              <a:t>+ </a:t>
            </a:r>
            <a:r>
              <a:rPr lang="zh-CN" altLang="en-US" sz="2800" dirty="0">
                <a:solidFill>
                  <a:srgbClr val="CCFFCC"/>
                </a:solidFill>
                <a:effectLst>
                  <a:outerShdw blurRad="38100" dist="38100" dir="2700000" algn="tl">
                    <a:srgbClr val="000000"/>
                  </a:outerShdw>
                </a:effectLst>
              </a:rPr>
              <a:t>，结束。</a:t>
            </a:r>
          </a:p>
        </p:txBody>
      </p:sp>
      <p:sp>
        <p:nvSpPr>
          <p:cNvPr id="5" name="Line 6"/>
          <p:cNvSpPr>
            <a:spLocks noChangeShapeType="1"/>
          </p:cNvSpPr>
          <p:nvPr/>
        </p:nvSpPr>
        <p:spPr bwMode="auto">
          <a:xfrm>
            <a:off x="2347913" y="1733773"/>
            <a:ext cx="863600" cy="0"/>
          </a:xfrm>
          <a:prstGeom prst="line">
            <a:avLst/>
          </a:prstGeom>
          <a:noFill/>
          <a:ln w="57150" cap="sq">
            <a:solidFill>
              <a:srgbClr val="FF0000"/>
            </a:solidFill>
            <a:round/>
            <a:headEnd/>
            <a:tailEnd/>
          </a:ln>
          <a:effectLst/>
        </p:spPr>
        <p:txBody>
          <a:bodyPr lIns="0" tIns="0" rIns="0" bIns="0"/>
          <a:lstStyle/>
          <a:p>
            <a:pPr>
              <a:defRPr/>
            </a:pPr>
            <a:endParaRPr lang="zh-CN" altLang="en-US"/>
          </a:p>
        </p:txBody>
      </p:sp>
      <p:sp>
        <p:nvSpPr>
          <p:cNvPr id="6" name="Line 7"/>
          <p:cNvSpPr>
            <a:spLocks noChangeShapeType="1"/>
          </p:cNvSpPr>
          <p:nvPr/>
        </p:nvSpPr>
        <p:spPr bwMode="auto">
          <a:xfrm>
            <a:off x="3492500" y="1733773"/>
            <a:ext cx="863600" cy="0"/>
          </a:xfrm>
          <a:prstGeom prst="line">
            <a:avLst/>
          </a:prstGeom>
          <a:noFill/>
          <a:ln w="57150" cap="sq">
            <a:solidFill>
              <a:srgbClr val="FF0000"/>
            </a:solidFill>
            <a:round/>
            <a:headEnd/>
            <a:tailEnd/>
          </a:ln>
          <a:effectLst/>
        </p:spPr>
        <p:txBody>
          <a:bodyPr lIns="0" tIns="0" rIns="0" bIns="0"/>
          <a:lstStyle/>
          <a:p>
            <a:pPr>
              <a:defRPr/>
            </a:pPr>
            <a:endParaRPr lang="zh-CN" altLang="en-US"/>
          </a:p>
        </p:txBody>
      </p:sp>
      <p:sp>
        <p:nvSpPr>
          <p:cNvPr id="7" name="Line 8"/>
          <p:cNvSpPr>
            <a:spLocks noChangeShapeType="1"/>
          </p:cNvSpPr>
          <p:nvPr/>
        </p:nvSpPr>
        <p:spPr bwMode="auto">
          <a:xfrm>
            <a:off x="6156325" y="1700436"/>
            <a:ext cx="863600" cy="0"/>
          </a:xfrm>
          <a:prstGeom prst="line">
            <a:avLst/>
          </a:prstGeom>
          <a:noFill/>
          <a:ln w="57150" cap="sq">
            <a:solidFill>
              <a:srgbClr val="FF0000"/>
            </a:solidFill>
            <a:round/>
            <a:headEnd/>
            <a:tailEnd/>
          </a:ln>
          <a:effectLst/>
        </p:spPr>
        <p:txBody>
          <a:bodyPr lIns="0" tIns="0" rIns="0" bIns="0"/>
          <a:lstStyle/>
          <a:p>
            <a:pPr>
              <a:defRPr/>
            </a:pPr>
            <a:endParaRPr lang="zh-CN" altLang="en-US"/>
          </a:p>
        </p:txBody>
      </p:sp>
      <p:sp>
        <p:nvSpPr>
          <p:cNvPr id="8" name="Line 9"/>
          <p:cNvSpPr>
            <a:spLocks noChangeShapeType="1"/>
          </p:cNvSpPr>
          <p:nvPr/>
        </p:nvSpPr>
        <p:spPr bwMode="auto">
          <a:xfrm>
            <a:off x="7380288" y="1700436"/>
            <a:ext cx="863600" cy="0"/>
          </a:xfrm>
          <a:prstGeom prst="line">
            <a:avLst/>
          </a:prstGeom>
          <a:noFill/>
          <a:ln w="57150" cap="sq">
            <a:solidFill>
              <a:srgbClr val="FF0000"/>
            </a:solidFill>
            <a:round/>
            <a:headEnd/>
            <a:tailEnd/>
          </a:ln>
          <a:effectLst/>
        </p:spPr>
        <p:txBody>
          <a:bodyPr lIns="0" tIns="0" rIns="0" bIns="0"/>
          <a:lstStyle/>
          <a:p>
            <a:pPr>
              <a:defRPr/>
            </a:pPr>
            <a:endParaRPr lang="zh-CN" altLang="en-US"/>
          </a:p>
        </p:txBody>
      </p:sp>
      <p:sp>
        <p:nvSpPr>
          <p:cNvPr id="9" name="Line 10"/>
          <p:cNvSpPr>
            <a:spLocks noChangeShapeType="1"/>
          </p:cNvSpPr>
          <p:nvPr/>
        </p:nvSpPr>
        <p:spPr bwMode="auto">
          <a:xfrm>
            <a:off x="684213" y="2132236"/>
            <a:ext cx="1008062" cy="0"/>
          </a:xfrm>
          <a:prstGeom prst="line">
            <a:avLst/>
          </a:prstGeom>
          <a:noFill/>
          <a:ln w="57150" cap="sq">
            <a:solidFill>
              <a:srgbClr val="FF0000"/>
            </a:solidFill>
            <a:round/>
            <a:headEnd/>
            <a:tailEnd/>
          </a:ln>
          <a:effectLst/>
        </p:spPr>
        <p:txBody>
          <a:bodyPr lIns="0" tIns="0" rIns="0" bIns="0"/>
          <a:lstStyle/>
          <a:p>
            <a:pPr>
              <a:defRPr/>
            </a:pPr>
            <a:endParaRPr lang="zh-CN" altLang="en-US"/>
          </a:p>
        </p:txBody>
      </p:sp>
      <p:sp>
        <p:nvSpPr>
          <p:cNvPr id="10" name="Line 11"/>
          <p:cNvSpPr>
            <a:spLocks noChangeShapeType="1"/>
          </p:cNvSpPr>
          <p:nvPr/>
        </p:nvSpPr>
        <p:spPr bwMode="auto">
          <a:xfrm>
            <a:off x="2051050" y="2132236"/>
            <a:ext cx="1008063" cy="0"/>
          </a:xfrm>
          <a:prstGeom prst="line">
            <a:avLst/>
          </a:prstGeom>
          <a:noFill/>
          <a:ln w="57150" cap="sq">
            <a:solidFill>
              <a:srgbClr val="FF0000"/>
            </a:solidFill>
            <a:round/>
            <a:headEnd/>
            <a:tailEnd/>
          </a:ln>
          <a:effectLst/>
        </p:spPr>
        <p:txBody>
          <a:bodyPr lIns="0" tIns="0" rIns="0" bIns="0"/>
          <a:lstStyle/>
          <a:p>
            <a:pPr>
              <a:defRPr/>
            </a:pPr>
            <a:endParaRPr lang="zh-CN" altLang="en-US"/>
          </a:p>
        </p:txBody>
      </p:sp>
      <p:sp>
        <p:nvSpPr>
          <p:cNvPr id="11" name="Line 12"/>
          <p:cNvSpPr>
            <a:spLocks noChangeShapeType="1"/>
          </p:cNvSpPr>
          <p:nvPr/>
        </p:nvSpPr>
        <p:spPr bwMode="auto">
          <a:xfrm>
            <a:off x="1195388" y="1941736"/>
            <a:ext cx="863600" cy="0"/>
          </a:xfrm>
          <a:prstGeom prst="line">
            <a:avLst/>
          </a:prstGeom>
          <a:noFill/>
          <a:ln w="57150" cap="sq">
            <a:solidFill>
              <a:srgbClr val="FF0000"/>
            </a:solidFill>
            <a:round/>
            <a:headEnd/>
            <a:tailEnd/>
          </a:ln>
          <a:effectLst/>
        </p:spPr>
        <p:txBody>
          <a:bodyPr lIns="0" tIns="0" rIns="0" bIns="0"/>
          <a:lstStyle/>
          <a:p>
            <a:pPr>
              <a:defRPr/>
            </a:pPr>
            <a:endParaRPr lang="zh-CN" altLang="en-US"/>
          </a:p>
        </p:txBody>
      </p:sp>
      <p:sp>
        <p:nvSpPr>
          <p:cNvPr id="12" name="Line 13"/>
          <p:cNvSpPr>
            <a:spLocks noChangeShapeType="1"/>
          </p:cNvSpPr>
          <p:nvPr/>
        </p:nvSpPr>
        <p:spPr bwMode="auto">
          <a:xfrm>
            <a:off x="4749800" y="1941736"/>
            <a:ext cx="1008063" cy="0"/>
          </a:xfrm>
          <a:prstGeom prst="line">
            <a:avLst/>
          </a:prstGeom>
          <a:noFill/>
          <a:ln w="57150" cap="sq">
            <a:solidFill>
              <a:srgbClr val="FF0000"/>
            </a:solidFill>
            <a:round/>
            <a:headEnd/>
            <a:tailEnd/>
          </a:ln>
          <a:effectLst/>
        </p:spPr>
        <p:txBody>
          <a:bodyPr lIns="0" tIns="0" rIns="0" bIns="0"/>
          <a:lstStyle/>
          <a:p>
            <a:pPr>
              <a:defRPr/>
            </a:pPr>
            <a:endParaRPr lang="zh-CN" altLang="en-US"/>
          </a:p>
        </p:txBody>
      </p:sp>
    </p:spTree>
    <p:extLst>
      <p:ext uri="{BB962C8B-B14F-4D97-AF65-F5344CB8AC3E}">
        <p14:creationId xmlns:p14="http://schemas.microsoft.com/office/powerpoint/2010/main" val="4053227100"/>
      </p:ext>
    </p:extLst>
  </p:cSld>
  <p:clrMapOvr>
    <a:masterClrMapping/>
  </p:clrMapOvr>
  <p:transition spd="med">
    <p:random/>
    <p:sndAc>
      <p:stSnd>
        <p:snd r:embed="rId2" name="camera.wav"/>
      </p:stSnd>
    </p:sndAc>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type="title"/>
          </p:nvPr>
        </p:nvSpPr>
        <p:spPr>
          <a:xfrm>
            <a:off x="62129" y="0"/>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pPr>
            <a:r>
              <a:rPr kumimoji="1" lang="zh-CN" altLang="en-US" sz="4000" b="1" kern="1200" dirty="0">
                <a:solidFill>
                  <a:srgbClr val="FFFFCC"/>
                </a:solidFill>
                <a:effectLst>
                  <a:outerShdw blurRad="38100" dist="38100" dir="2700000" algn="tl">
                    <a:srgbClr val="000000"/>
                  </a:outerShdw>
                </a:effectLst>
                <a:latin typeface="微软雅黑" panose="020B0503020204020204" pitchFamily="34" charset="-122"/>
                <a:ea typeface="微软雅黑" pitchFamily="34" charset="-122"/>
              </a:rPr>
              <a:t>属性集闭包</a:t>
            </a:r>
            <a:endParaRPr kumimoji="1" lang="en-US" altLang="zh-CN" sz="4000" b="1" kern="1200" dirty="0">
              <a:solidFill>
                <a:srgbClr val="FFFFCC"/>
              </a:solidFill>
              <a:effectLst>
                <a:outerShdw blurRad="38100" dist="38100" dir="2700000" algn="tl">
                  <a:srgbClr val="000000"/>
                </a:outerShdw>
              </a:effectLst>
              <a:latin typeface="微软雅黑" panose="020B0503020204020204" pitchFamily="34" charset="-122"/>
              <a:ea typeface="微软雅黑" pitchFamily="34" charset="-122"/>
            </a:endParaRPr>
          </a:p>
        </p:txBody>
      </p:sp>
      <p:sp>
        <p:nvSpPr>
          <p:cNvPr id="3" name="Text Box 4"/>
          <p:cNvSpPr txBox="1">
            <a:spLocks noChangeArrowheads="1"/>
          </p:cNvSpPr>
          <p:nvPr/>
        </p:nvSpPr>
        <p:spPr bwMode="auto">
          <a:xfrm>
            <a:off x="539750" y="1341438"/>
            <a:ext cx="8382000" cy="1143000"/>
          </a:xfrm>
          <a:prstGeom prst="rect">
            <a:avLst/>
          </a:prstGeom>
          <a:noFill/>
          <a:ln w="12700" cap="sq">
            <a:noFill/>
            <a:miter lim="800000"/>
            <a:headEnd type="none" w="sm" len="sm"/>
            <a:tailEnd type="none" w="sm" len="sm"/>
          </a:ln>
          <a:effectLst/>
        </p:spPr>
        <p:txBody>
          <a:bodyPr/>
          <a:lstStyle/>
          <a:p>
            <a:pPr>
              <a:spcBef>
                <a:spcPct val="30000"/>
              </a:spcBef>
              <a:spcAft>
                <a:spcPct val="70000"/>
              </a:spcAft>
              <a:tabLst>
                <a:tab pos="715963" algn="l"/>
                <a:tab pos="1905000" algn="l"/>
              </a:tabLst>
              <a:defRPr/>
            </a:pPr>
            <a:r>
              <a:rPr lang="zh-CN" altLang="en-US" sz="2800" dirty="0">
                <a:solidFill>
                  <a:srgbClr val="CCFFCC"/>
                </a:solidFill>
                <a:effectLst>
                  <a:outerShdw blurRad="38100" dist="38100" dir="2700000" algn="tl">
                    <a:srgbClr val="000000"/>
                  </a:outerShdw>
                </a:effectLst>
              </a:rPr>
              <a:t>例</a:t>
            </a:r>
            <a:r>
              <a:rPr lang="en-US" altLang="zh-CN" sz="2800" dirty="0">
                <a:solidFill>
                  <a:srgbClr val="CCFFCC"/>
                </a:solidFill>
                <a:effectLst>
                  <a:outerShdw blurRad="38100" dist="38100" dir="2700000" algn="tl">
                    <a:srgbClr val="000000"/>
                  </a:outerShdw>
                </a:effectLst>
              </a:rPr>
              <a:t>:</a:t>
            </a:r>
            <a:r>
              <a:rPr lang="zh-CN" altLang="en-US" sz="2800" dirty="0">
                <a:solidFill>
                  <a:srgbClr val="99FF99"/>
                </a:solidFill>
                <a:effectLst>
                  <a:outerShdw blurRad="38100" dist="38100" dir="2700000" algn="tl">
                    <a:srgbClr val="000000"/>
                  </a:outerShdw>
                </a:effectLst>
              </a:rPr>
              <a:t>设有</a:t>
            </a:r>
            <a:r>
              <a:rPr lang="zh-CN" altLang="zh-CN" sz="2800" dirty="0">
                <a:solidFill>
                  <a:srgbClr val="99FF99"/>
                </a:solidFill>
                <a:effectLst>
                  <a:outerShdw blurRad="38100" dist="38100" dir="2700000" algn="tl">
                    <a:srgbClr val="000000"/>
                  </a:outerShdw>
                </a:effectLst>
              </a:rPr>
              <a:t>关系模式R</a:t>
            </a:r>
            <a:r>
              <a:rPr lang="zh-CN" altLang="en-US" sz="2800" dirty="0">
                <a:solidFill>
                  <a:srgbClr val="99FF99"/>
                </a:solidFill>
                <a:effectLst>
                  <a:outerShdw blurRad="38100" dist="38100" dir="2700000" algn="tl">
                    <a:srgbClr val="000000"/>
                  </a:outerShdw>
                </a:effectLst>
              </a:rPr>
              <a:t>(</a:t>
            </a:r>
            <a:r>
              <a:rPr lang="en-US" altLang="zh-CN" sz="2800" dirty="0">
                <a:solidFill>
                  <a:srgbClr val="99FF99"/>
                </a:solidFill>
                <a:effectLst>
                  <a:outerShdw blurRad="38100" dist="38100" dir="2700000" algn="tl">
                    <a:srgbClr val="000000"/>
                  </a:outerShdw>
                </a:effectLst>
              </a:rPr>
              <a:t>U,F)</a:t>
            </a:r>
            <a:r>
              <a:rPr lang="zh-CN" altLang="en-US" sz="2800" dirty="0">
                <a:solidFill>
                  <a:srgbClr val="99FF99"/>
                </a:solidFill>
                <a:effectLst>
                  <a:outerShdw blurRad="38100" dist="38100" dir="2700000" algn="tl">
                    <a:srgbClr val="000000"/>
                  </a:outerShdw>
                </a:effectLst>
              </a:rPr>
              <a:t>，其中</a:t>
            </a:r>
            <a:r>
              <a:rPr lang="zh-CN" altLang="zh-CN" sz="2800" dirty="0">
                <a:solidFill>
                  <a:srgbClr val="99FF99"/>
                </a:solidFill>
                <a:effectLst>
                  <a:outerShdw blurRad="38100" dist="38100" dir="2700000" algn="tl">
                    <a:srgbClr val="000000"/>
                  </a:outerShdw>
                </a:effectLst>
              </a:rPr>
              <a:t>U={A</a:t>
            </a:r>
            <a:r>
              <a:rPr lang="zh-CN" altLang="en-US" sz="2800" dirty="0">
                <a:solidFill>
                  <a:srgbClr val="99FF99"/>
                </a:solidFill>
                <a:effectLst>
                  <a:outerShdw blurRad="38100" dist="38100" dir="2700000" algn="tl">
                    <a:srgbClr val="000000"/>
                  </a:outerShdw>
                </a:effectLst>
              </a:rPr>
              <a:t>,</a:t>
            </a:r>
            <a:r>
              <a:rPr lang="zh-CN" altLang="zh-CN" sz="2800" dirty="0">
                <a:solidFill>
                  <a:srgbClr val="99FF99"/>
                </a:solidFill>
                <a:effectLst>
                  <a:outerShdw blurRad="38100" dist="38100" dir="2700000" algn="tl">
                    <a:srgbClr val="000000"/>
                  </a:outerShdw>
                </a:effectLst>
              </a:rPr>
              <a:t>B</a:t>
            </a:r>
            <a:r>
              <a:rPr lang="zh-CN" altLang="en-US" sz="2800" dirty="0">
                <a:solidFill>
                  <a:srgbClr val="99FF99"/>
                </a:solidFill>
                <a:effectLst>
                  <a:outerShdw blurRad="38100" dist="38100" dir="2700000" algn="tl">
                    <a:srgbClr val="000000"/>
                  </a:outerShdw>
                </a:effectLst>
              </a:rPr>
              <a:t>,</a:t>
            </a:r>
            <a:r>
              <a:rPr lang="zh-CN" altLang="zh-CN" sz="2800" dirty="0">
                <a:solidFill>
                  <a:srgbClr val="99FF99"/>
                </a:solidFill>
                <a:effectLst>
                  <a:outerShdw blurRad="38100" dist="38100" dir="2700000" algn="tl">
                    <a:srgbClr val="000000"/>
                  </a:outerShdw>
                </a:effectLst>
              </a:rPr>
              <a:t>C</a:t>
            </a:r>
            <a:r>
              <a:rPr lang="zh-CN" altLang="en-US" sz="2800" dirty="0">
                <a:solidFill>
                  <a:srgbClr val="99FF99"/>
                </a:solidFill>
                <a:effectLst>
                  <a:outerShdw blurRad="38100" dist="38100" dir="2700000" algn="tl">
                    <a:srgbClr val="000000"/>
                  </a:outerShdw>
                </a:effectLst>
              </a:rPr>
              <a:t>,</a:t>
            </a:r>
            <a:r>
              <a:rPr lang="zh-CN" altLang="zh-CN" sz="2800" dirty="0">
                <a:solidFill>
                  <a:srgbClr val="99FF99"/>
                </a:solidFill>
                <a:effectLst>
                  <a:outerShdw blurRad="38100" dist="38100" dir="2700000" algn="tl">
                    <a:srgbClr val="000000"/>
                  </a:outerShdw>
                </a:effectLst>
              </a:rPr>
              <a:t>D</a:t>
            </a:r>
            <a:r>
              <a:rPr lang="zh-CN" altLang="en-US" sz="2800" dirty="0">
                <a:solidFill>
                  <a:srgbClr val="99FF99"/>
                </a:solidFill>
                <a:effectLst>
                  <a:outerShdw blurRad="38100" dist="38100" dir="2700000" algn="tl">
                    <a:srgbClr val="000000"/>
                  </a:outerShdw>
                </a:effectLst>
              </a:rPr>
              <a:t>,</a:t>
            </a:r>
            <a:r>
              <a:rPr lang="zh-CN" altLang="zh-CN" sz="2800" dirty="0">
                <a:solidFill>
                  <a:srgbClr val="99FF99"/>
                </a:solidFill>
                <a:effectLst>
                  <a:outerShdw blurRad="38100" dist="38100" dir="2700000" algn="tl">
                    <a:srgbClr val="000000"/>
                  </a:outerShdw>
                </a:effectLst>
              </a:rPr>
              <a:t>E</a:t>
            </a:r>
            <a:r>
              <a:rPr lang="zh-CN" altLang="en-US" sz="2800" dirty="0">
                <a:solidFill>
                  <a:srgbClr val="99FF99"/>
                </a:solidFill>
                <a:effectLst>
                  <a:outerShdw blurRad="38100" dist="38100" dir="2700000" algn="tl">
                    <a:srgbClr val="000000"/>
                  </a:outerShdw>
                </a:effectLst>
              </a:rPr>
              <a:t>,</a:t>
            </a:r>
            <a:r>
              <a:rPr lang="zh-CN" altLang="zh-CN" sz="2800" dirty="0">
                <a:solidFill>
                  <a:srgbClr val="99FF99"/>
                </a:solidFill>
                <a:effectLst>
                  <a:outerShdw blurRad="38100" dist="38100" dir="2700000" algn="tl">
                    <a:srgbClr val="000000"/>
                  </a:outerShdw>
                </a:effectLst>
              </a:rPr>
              <a:t>G}, </a:t>
            </a:r>
            <a:r>
              <a:rPr lang="en-US" altLang="zh-CN" sz="2800" dirty="0">
                <a:solidFill>
                  <a:srgbClr val="99FF99"/>
                </a:solidFill>
                <a:effectLst>
                  <a:outerShdw blurRad="38100" dist="38100" dir="2700000" algn="tl">
                    <a:srgbClr val="000000"/>
                  </a:outerShdw>
                </a:effectLst>
              </a:rPr>
              <a:t>   </a:t>
            </a:r>
            <a:r>
              <a:rPr lang="zh-CN" altLang="zh-CN" sz="2800" dirty="0">
                <a:solidFill>
                  <a:srgbClr val="99FF99"/>
                </a:solidFill>
                <a:effectLst>
                  <a:outerShdw blurRad="38100" dist="38100" dir="2700000" algn="tl">
                    <a:srgbClr val="000000"/>
                  </a:outerShdw>
                </a:effectLst>
              </a:rPr>
              <a:t>F={AB→C, C→A, BC→D, ACD→B, D→EG, BE→C</a:t>
            </a:r>
            <a:r>
              <a:rPr lang="zh-CN" altLang="en-US" sz="2800" dirty="0">
                <a:solidFill>
                  <a:srgbClr val="99FF99"/>
                </a:solidFill>
                <a:effectLst>
                  <a:outerShdw blurRad="38100" dist="38100" dir="2700000" algn="tl">
                    <a:srgbClr val="000000"/>
                  </a:outerShdw>
                </a:effectLst>
              </a:rPr>
              <a:t>，</a:t>
            </a:r>
            <a:r>
              <a:rPr lang="zh-CN" altLang="zh-CN" sz="2800" dirty="0">
                <a:solidFill>
                  <a:srgbClr val="99FF99"/>
                </a:solidFill>
                <a:effectLst>
                  <a:outerShdw blurRad="38100" dist="38100" dir="2700000" algn="tl">
                    <a:srgbClr val="000000"/>
                  </a:outerShdw>
                </a:effectLst>
              </a:rPr>
              <a:t>CG→BD, CE→AG},</a:t>
            </a:r>
            <a:r>
              <a:rPr lang="zh-CN" altLang="en-US" sz="2800" dirty="0">
                <a:solidFill>
                  <a:srgbClr val="99FF99"/>
                </a:solidFill>
                <a:effectLst>
                  <a:outerShdw blurRad="38100" dist="38100" dir="2700000" algn="tl">
                    <a:srgbClr val="000000"/>
                  </a:outerShdw>
                </a:effectLst>
              </a:rPr>
              <a:t>求</a:t>
            </a:r>
            <a:r>
              <a:rPr lang="en-US" altLang="zh-CN" sz="2800" dirty="0">
                <a:solidFill>
                  <a:srgbClr val="99FF99"/>
                </a:solidFill>
                <a:effectLst>
                  <a:outerShdw blurRad="38100" dist="38100" dir="2700000" algn="tl">
                    <a:srgbClr val="000000"/>
                  </a:outerShdw>
                </a:effectLst>
              </a:rPr>
              <a:t>(DE)</a:t>
            </a:r>
            <a:r>
              <a:rPr lang="en-US" altLang="zh-CN" sz="2800" baseline="30000" dirty="0">
                <a:solidFill>
                  <a:srgbClr val="99FF99"/>
                </a:solidFill>
                <a:effectLst>
                  <a:outerShdw blurRad="38100" dist="38100" dir="2700000" algn="tl">
                    <a:srgbClr val="000000"/>
                  </a:outerShdw>
                </a:effectLst>
              </a:rPr>
              <a:t>+</a:t>
            </a:r>
            <a:r>
              <a:rPr lang="zh-CN" altLang="en-US" sz="2800" dirty="0">
                <a:solidFill>
                  <a:srgbClr val="99FF99"/>
                </a:solidFill>
                <a:effectLst>
                  <a:outerShdw blurRad="38100" dist="38100" dir="2700000" algn="tl">
                    <a:srgbClr val="000000"/>
                  </a:outerShdw>
                </a:effectLst>
              </a:rPr>
              <a:t>。</a:t>
            </a:r>
          </a:p>
        </p:txBody>
      </p:sp>
    </p:spTree>
    <p:extLst>
      <p:ext uri="{BB962C8B-B14F-4D97-AF65-F5344CB8AC3E}">
        <p14:creationId xmlns:p14="http://schemas.microsoft.com/office/powerpoint/2010/main" val="1204391664"/>
      </p:ext>
    </p:extLst>
  </p:cSld>
  <p:clrMapOvr>
    <a:masterClrMapping/>
  </p:clrMapOvr>
  <p:transition spd="med">
    <p:random/>
    <p:sndAc>
      <p:stSnd>
        <p:snd r:embed="rId2" name="camera.wav"/>
      </p:stSnd>
    </p:sndAc>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type="title"/>
          </p:nvPr>
        </p:nvSpPr>
        <p:spPr>
          <a:xfrm>
            <a:off x="62129" y="0"/>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pPr>
            <a:r>
              <a:rPr kumimoji="1" lang="zh-CN" altLang="en-US" sz="4000" b="1" kern="1200" dirty="0">
                <a:solidFill>
                  <a:srgbClr val="FFFFCC"/>
                </a:solidFill>
                <a:effectLst>
                  <a:outerShdw blurRad="38100" dist="38100" dir="2700000" algn="tl">
                    <a:srgbClr val="000000"/>
                  </a:outerShdw>
                </a:effectLst>
                <a:latin typeface="微软雅黑" panose="020B0503020204020204" pitchFamily="34" charset="-122"/>
                <a:ea typeface="微软雅黑" pitchFamily="34" charset="-122"/>
              </a:rPr>
              <a:t>属性集闭包</a:t>
            </a:r>
            <a:endParaRPr kumimoji="1" lang="en-US" altLang="zh-CN" sz="4000" b="1" kern="1200" dirty="0">
              <a:solidFill>
                <a:srgbClr val="FFFFCC"/>
              </a:solidFill>
              <a:effectLst>
                <a:outerShdw blurRad="38100" dist="38100" dir="2700000" algn="tl">
                  <a:srgbClr val="000000"/>
                </a:outerShdw>
              </a:effectLst>
              <a:latin typeface="微软雅黑" panose="020B0503020204020204" pitchFamily="34" charset="-122"/>
              <a:ea typeface="微软雅黑" pitchFamily="34" charset="-122"/>
            </a:endParaRPr>
          </a:p>
        </p:txBody>
      </p:sp>
      <p:sp>
        <p:nvSpPr>
          <p:cNvPr id="3" name="Text Box 4"/>
          <p:cNvSpPr txBox="1">
            <a:spLocks noChangeArrowheads="1"/>
          </p:cNvSpPr>
          <p:nvPr/>
        </p:nvSpPr>
        <p:spPr bwMode="auto">
          <a:xfrm>
            <a:off x="539750" y="1341438"/>
            <a:ext cx="8382000" cy="1143000"/>
          </a:xfrm>
          <a:prstGeom prst="rect">
            <a:avLst/>
          </a:prstGeom>
          <a:noFill/>
          <a:ln w="12700" cap="sq">
            <a:noFill/>
            <a:miter lim="800000"/>
            <a:headEnd type="none" w="sm" len="sm"/>
            <a:tailEnd type="none" w="sm" len="sm"/>
          </a:ln>
          <a:effectLst/>
        </p:spPr>
        <p:txBody>
          <a:bodyPr/>
          <a:lstStyle/>
          <a:p>
            <a:pPr>
              <a:spcBef>
                <a:spcPct val="30000"/>
              </a:spcBef>
              <a:spcAft>
                <a:spcPct val="70000"/>
              </a:spcAft>
              <a:tabLst>
                <a:tab pos="715963" algn="l"/>
                <a:tab pos="1905000" algn="l"/>
              </a:tabLst>
              <a:defRPr/>
            </a:pPr>
            <a:r>
              <a:rPr lang="zh-CN" altLang="en-US" sz="2800">
                <a:solidFill>
                  <a:srgbClr val="CCFFCC"/>
                </a:solidFill>
                <a:effectLst>
                  <a:outerShdw blurRad="38100" dist="38100" dir="2700000" algn="tl">
                    <a:srgbClr val="000000"/>
                  </a:outerShdw>
                </a:effectLst>
              </a:rPr>
              <a:t>例</a:t>
            </a:r>
            <a:r>
              <a:rPr lang="en-US" altLang="zh-CN" sz="2800">
                <a:solidFill>
                  <a:srgbClr val="CCFFCC"/>
                </a:solidFill>
                <a:effectLst>
                  <a:outerShdw blurRad="38100" dist="38100" dir="2700000" algn="tl">
                    <a:srgbClr val="000000"/>
                  </a:outerShdw>
                </a:effectLst>
              </a:rPr>
              <a:t>:</a:t>
            </a:r>
            <a:r>
              <a:rPr lang="zh-CN" altLang="en-US" sz="2800">
                <a:solidFill>
                  <a:srgbClr val="99FF99"/>
                </a:solidFill>
                <a:effectLst>
                  <a:outerShdw blurRad="38100" dist="38100" dir="2700000" algn="tl">
                    <a:srgbClr val="000000"/>
                  </a:outerShdw>
                </a:effectLst>
              </a:rPr>
              <a:t>设有</a:t>
            </a:r>
            <a:r>
              <a:rPr lang="zh-CN" altLang="zh-CN" sz="2800">
                <a:solidFill>
                  <a:srgbClr val="99FF99"/>
                </a:solidFill>
                <a:effectLst>
                  <a:outerShdw blurRad="38100" dist="38100" dir="2700000" algn="tl">
                    <a:srgbClr val="000000"/>
                  </a:outerShdw>
                </a:effectLst>
              </a:rPr>
              <a:t>关系模式R</a:t>
            </a:r>
            <a:r>
              <a:rPr lang="zh-CN" altLang="en-US" sz="2800">
                <a:solidFill>
                  <a:srgbClr val="99FF99"/>
                </a:solidFill>
                <a:effectLst>
                  <a:outerShdw blurRad="38100" dist="38100" dir="2700000" algn="tl">
                    <a:srgbClr val="000000"/>
                  </a:outerShdw>
                </a:effectLst>
              </a:rPr>
              <a:t>(</a:t>
            </a:r>
            <a:r>
              <a:rPr lang="en-US" altLang="zh-CN" sz="2800">
                <a:solidFill>
                  <a:srgbClr val="99FF99"/>
                </a:solidFill>
                <a:effectLst>
                  <a:outerShdw blurRad="38100" dist="38100" dir="2700000" algn="tl">
                    <a:srgbClr val="000000"/>
                  </a:outerShdw>
                </a:effectLst>
              </a:rPr>
              <a:t>U,F)</a:t>
            </a:r>
            <a:r>
              <a:rPr lang="zh-CN" altLang="en-US" sz="2800">
                <a:solidFill>
                  <a:srgbClr val="99FF99"/>
                </a:solidFill>
                <a:effectLst>
                  <a:outerShdw blurRad="38100" dist="38100" dir="2700000" algn="tl">
                    <a:srgbClr val="000000"/>
                  </a:outerShdw>
                </a:effectLst>
              </a:rPr>
              <a:t>，其中</a:t>
            </a:r>
            <a:r>
              <a:rPr lang="zh-CN" altLang="zh-CN" sz="2800">
                <a:solidFill>
                  <a:srgbClr val="99FF99"/>
                </a:solidFill>
                <a:effectLst>
                  <a:outerShdw blurRad="38100" dist="38100" dir="2700000" algn="tl">
                    <a:srgbClr val="000000"/>
                  </a:outerShdw>
                </a:effectLst>
              </a:rPr>
              <a:t>U={A</a:t>
            </a:r>
            <a:r>
              <a:rPr lang="zh-CN" altLang="en-US" sz="2800">
                <a:solidFill>
                  <a:srgbClr val="99FF99"/>
                </a:solidFill>
                <a:effectLst>
                  <a:outerShdw blurRad="38100" dist="38100" dir="2700000" algn="tl">
                    <a:srgbClr val="000000"/>
                  </a:outerShdw>
                </a:effectLst>
              </a:rPr>
              <a:t>,</a:t>
            </a:r>
            <a:r>
              <a:rPr lang="zh-CN" altLang="zh-CN" sz="2800">
                <a:solidFill>
                  <a:srgbClr val="99FF99"/>
                </a:solidFill>
                <a:effectLst>
                  <a:outerShdw blurRad="38100" dist="38100" dir="2700000" algn="tl">
                    <a:srgbClr val="000000"/>
                  </a:outerShdw>
                </a:effectLst>
              </a:rPr>
              <a:t>B</a:t>
            </a:r>
            <a:r>
              <a:rPr lang="zh-CN" altLang="en-US" sz="2800">
                <a:solidFill>
                  <a:srgbClr val="99FF99"/>
                </a:solidFill>
                <a:effectLst>
                  <a:outerShdw blurRad="38100" dist="38100" dir="2700000" algn="tl">
                    <a:srgbClr val="000000"/>
                  </a:outerShdw>
                </a:effectLst>
              </a:rPr>
              <a:t>,</a:t>
            </a:r>
            <a:r>
              <a:rPr lang="zh-CN" altLang="zh-CN" sz="2800">
                <a:solidFill>
                  <a:srgbClr val="99FF99"/>
                </a:solidFill>
                <a:effectLst>
                  <a:outerShdw blurRad="38100" dist="38100" dir="2700000" algn="tl">
                    <a:srgbClr val="000000"/>
                  </a:outerShdw>
                </a:effectLst>
              </a:rPr>
              <a:t>C</a:t>
            </a:r>
            <a:r>
              <a:rPr lang="zh-CN" altLang="en-US" sz="2800">
                <a:solidFill>
                  <a:srgbClr val="99FF99"/>
                </a:solidFill>
                <a:effectLst>
                  <a:outerShdw blurRad="38100" dist="38100" dir="2700000" algn="tl">
                    <a:srgbClr val="000000"/>
                  </a:outerShdw>
                </a:effectLst>
              </a:rPr>
              <a:t>,</a:t>
            </a:r>
            <a:r>
              <a:rPr lang="zh-CN" altLang="zh-CN" sz="2800">
                <a:solidFill>
                  <a:srgbClr val="99FF99"/>
                </a:solidFill>
                <a:effectLst>
                  <a:outerShdw blurRad="38100" dist="38100" dir="2700000" algn="tl">
                    <a:srgbClr val="000000"/>
                  </a:outerShdw>
                </a:effectLst>
              </a:rPr>
              <a:t>D</a:t>
            </a:r>
            <a:r>
              <a:rPr lang="zh-CN" altLang="en-US" sz="2800">
                <a:solidFill>
                  <a:srgbClr val="99FF99"/>
                </a:solidFill>
                <a:effectLst>
                  <a:outerShdw blurRad="38100" dist="38100" dir="2700000" algn="tl">
                    <a:srgbClr val="000000"/>
                  </a:outerShdw>
                </a:effectLst>
              </a:rPr>
              <a:t>,</a:t>
            </a:r>
            <a:r>
              <a:rPr lang="zh-CN" altLang="zh-CN" sz="2800">
                <a:solidFill>
                  <a:srgbClr val="99FF99"/>
                </a:solidFill>
                <a:effectLst>
                  <a:outerShdw blurRad="38100" dist="38100" dir="2700000" algn="tl">
                    <a:srgbClr val="000000"/>
                  </a:outerShdw>
                </a:effectLst>
              </a:rPr>
              <a:t>E</a:t>
            </a:r>
            <a:r>
              <a:rPr lang="zh-CN" altLang="en-US" sz="2800">
                <a:solidFill>
                  <a:srgbClr val="99FF99"/>
                </a:solidFill>
                <a:effectLst>
                  <a:outerShdw blurRad="38100" dist="38100" dir="2700000" algn="tl">
                    <a:srgbClr val="000000"/>
                  </a:outerShdw>
                </a:effectLst>
              </a:rPr>
              <a:t>,</a:t>
            </a:r>
            <a:r>
              <a:rPr lang="zh-CN" altLang="zh-CN" sz="2800">
                <a:solidFill>
                  <a:srgbClr val="99FF99"/>
                </a:solidFill>
                <a:effectLst>
                  <a:outerShdw blurRad="38100" dist="38100" dir="2700000" algn="tl">
                    <a:srgbClr val="000000"/>
                  </a:outerShdw>
                </a:effectLst>
              </a:rPr>
              <a:t>G}, </a:t>
            </a:r>
            <a:r>
              <a:rPr lang="en-US" altLang="zh-CN" sz="2800">
                <a:solidFill>
                  <a:srgbClr val="99FF99"/>
                </a:solidFill>
                <a:effectLst>
                  <a:outerShdw blurRad="38100" dist="38100" dir="2700000" algn="tl">
                    <a:srgbClr val="000000"/>
                  </a:outerShdw>
                </a:effectLst>
              </a:rPr>
              <a:t>   </a:t>
            </a:r>
            <a:r>
              <a:rPr lang="zh-CN" altLang="zh-CN" sz="2800">
                <a:solidFill>
                  <a:srgbClr val="99FF99"/>
                </a:solidFill>
                <a:effectLst>
                  <a:outerShdw blurRad="38100" dist="38100" dir="2700000" algn="tl">
                    <a:srgbClr val="000000"/>
                  </a:outerShdw>
                </a:effectLst>
              </a:rPr>
              <a:t>F={AB→C, C→A, BC→D, ACD→B, D→EG, BE→C</a:t>
            </a:r>
            <a:r>
              <a:rPr lang="zh-CN" altLang="en-US" sz="2800">
                <a:solidFill>
                  <a:srgbClr val="99FF99"/>
                </a:solidFill>
                <a:effectLst>
                  <a:outerShdw blurRad="38100" dist="38100" dir="2700000" algn="tl">
                    <a:srgbClr val="000000"/>
                  </a:outerShdw>
                </a:effectLst>
              </a:rPr>
              <a:t>，</a:t>
            </a:r>
            <a:r>
              <a:rPr lang="zh-CN" altLang="zh-CN" sz="2800">
                <a:solidFill>
                  <a:srgbClr val="99FF99"/>
                </a:solidFill>
                <a:effectLst>
                  <a:outerShdw blurRad="38100" dist="38100" dir="2700000" algn="tl">
                    <a:srgbClr val="000000"/>
                  </a:outerShdw>
                </a:effectLst>
              </a:rPr>
              <a:t>CG→BD, CE→AG},</a:t>
            </a:r>
            <a:r>
              <a:rPr lang="zh-CN" altLang="en-US" sz="2800">
                <a:solidFill>
                  <a:srgbClr val="99FF99"/>
                </a:solidFill>
                <a:effectLst>
                  <a:outerShdw blurRad="38100" dist="38100" dir="2700000" algn="tl">
                    <a:srgbClr val="000000"/>
                  </a:outerShdw>
                </a:effectLst>
              </a:rPr>
              <a:t>求</a:t>
            </a:r>
            <a:r>
              <a:rPr lang="en-US" altLang="zh-CN" sz="2800">
                <a:solidFill>
                  <a:srgbClr val="99FF99"/>
                </a:solidFill>
                <a:effectLst>
                  <a:outerShdw blurRad="38100" dist="38100" dir="2700000" algn="tl">
                    <a:srgbClr val="000000"/>
                  </a:outerShdw>
                </a:effectLst>
              </a:rPr>
              <a:t>(DE)</a:t>
            </a:r>
            <a:r>
              <a:rPr lang="en-US" altLang="zh-CN" sz="2800" baseline="30000">
                <a:solidFill>
                  <a:srgbClr val="99FF99"/>
                </a:solidFill>
                <a:effectLst>
                  <a:outerShdw blurRad="38100" dist="38100" dir="2700000" algn="tl">
                    <a:srgbClr val="000000"/>
                  </a:outerShdw>
                </a:effectLst>
              </a:rPr>
              <a:t>+</a:t>
            </a:r>
            <a:r>
              <a:rPr lang="zh-CN" altLang="en-US" sz="2800">
                <a:solidFill>
                  <a:srgbClr val="99FF99"/>
                </a:solidFill>
                <a:effectLst>
                  <a:outerShdw blurRad="38100" dist="38100" dir="2700000" algn="tl">
                    <a:srgbClr val="000000"/>
                  </a:outerShdw>
                </a:effectLst>
              </a:rPr>
              <a:t>。</a:t>
            </a:r>
          </a:p>
        </p:txBody>
      </p:sp>
      <p:sp>
        <p:nvSpPr>
          <p:cNvPr id="4" name="Rectangle 5"/>
          <p:cNvSpPr>
            <a:spLocks noChangeArrowheads="1"/>
          </p:cNvSpPr>
          <p:nvPr/>
        </p:nvSpPr>
        <p:spPr bwMode="auto">
          <a:xfrm>
            <a:off x="493713" y="2924175"/>
            <a:ext cx="8318500" cy="1311275"/>
          </a:xfrm>
          <a:prstGeom prst="rect">
            <a:avLst/>
          </a:prstGeom>
          <a:noFill/>
          <a:ln w="12700" cap="sq" algn="ctr">
            <a:noFill/>
            <a:miter lim="800000"/>
            <a:headEnd/>
            <a:tailEnd/>
          </a:ln>
          <a:effectLst/>
        </p:spPr>
        <p:txBody>
          <a:bodyPr/>
          <a:lstStyle/>
          <a:p>
            <a:pPr>
              <a:spcAft>
                <a:spcPct val="30000"/>
              </a:spcAft>
              <a:tabLst>
                <a:tab pos="715963" algn="l"/>
                <a:tab pos="1905000" algn="l"/>
              </a:tabLst>
              <a:defRPr/>
            </a:pPr>
            <a:r>
              <a:rPr lang="zh-CN" altLang="en-US" sz="2800">
                <a:solidFill>
                  <a:srgbClr val="CCFFCC"/>
                </a:solidFill>
                <a:effectLst>
                  <a:outerShdw blurRad="38100" dist="38100" dir="2700000" algn="tl">
                    <a:srgbClr val="000000"/>
                  </a:outerShdw>
                </a:effectLst>
              </a:rPr>
              <a:t>第一次：</a:t>
            </a:r>
          </a:p>
          <a:p>
            <a:pPr>
              <a:spcAft>
                <a:spcPct val="30000"/>
              </a:spcAft>
              <a:tabLst>
                <a:tab pos="715963" algn="l"/>
                <a:tab pos="1905000" algn="l"/>
              </a:tabLst>
              <a:defRPr/>
            </a:pPr>
            <a:r>
              <a:rPr lang="zh-CN" altLang="en-US" sz="2800">
                <a:solidFill>
                  <a:srgbClr val="CCFFCC"/>
                </a:solidFill>
                <a:effectLst>
                  <a:outerShdw blurRad="38100" dist="38100" dir="2700000" algn="tl">
                    <a:srgbClr val="000000"/>
                  </a:outerShdw>
                </a:effectLst>
              </a:rPr>
              <a:t>令</a:t>
            </a:r>
            <a:r>
              <a:rPr lang="en-US" altLang="zh-CN" sz="2800">
                <a:solidFill>
                  <a:srgbClr val="CCFFCC"/>
                </a:solidFill>
                <a:effectLst>
                  <a:outerShdw blurRad="38100" dist="38100" dir="2700000" algn="tl">
                    <a:srgbClr val="000000"/>
                  </a:outerShdw>
                </a:effectLst>
              </a:rPr>
              <a:t>(DE)</a:t>
            </a:r>
            <a:r>
              <a:rPr lang="en-US" altLang="zh-CN" sz="2800" baseline="30000">
                <a:solidFill>
                  <a:srgbClr val="CCFFCC"/>
                </a:solidFill>
                <a:effectLst>
                  <a:outerShdw blurRad="38100" dist="38100" dir="2700000" algn="tl">
                    <a:srgbClr val="000000"/>
                  </a:outerShdw>
                </a:effectLst>
              </a:rPr>
              <a:t>+ </a:t>
            </a:r>
            <a:r>
              <a:rPr lang="en-US" altLang="zh-CN" sz="2800">
                <a:solidFill>
                  <a:srgbClr val="CCFFCC"/>
                </a:solidFill>
                <a:effectLst>
                  <a:outerShdw blurRad="38100" dist="38100" dir="2700000" algn="tl">
                    <a:srgbClr val="000000"/>
                  </a:outerShdw>
                </a:effectLst>
              </a:rPr>
              <a:t>= {D,E}</a:t>
            </a:r>
          </a:p>
          <a:p>
            <a:pPr>
              <a:spcAft>
                <a:spcPct val="30000"/>
              </a:spcAft>
              <a:tabLst>
                <a:tab pos="715963" algn="l"/>
                <a:tab pos="1905000" algn="l"/>
              </a:tabLst>
              <a:defRPr/>
            </a:pPr>
            <a:r>
              <a:rPr lang="zh-CN" altLang="en-US" sz="2800">
                <a:solidFill>
                  <a:srgbClr val="CCFFCC"/>
                </a:solidFill>
                <a:effectLst>
                  <a:outerShdw blurRad="38100" dist="38100" dir="2700000" algn="tl">
                    <a:srgbClr val="000000"/>
                  </a:outerShdw>
                </a:effectLst>
              </a:rPr>
              <a:t>找出</a:t>
            </a:r>
            <a:r>
              <a:rPr lang="en-US" altLang="zh-CN" sz="2800">
                <a:solidFill>
                  <a:srgbClr val="CCFFCC"/>
                </a:solidFill>
                <a:effectLst>
                  <a:outerShdw blurRad="38100" dist="38100" dir="2700000" algn="tl">
                    <a:srgbClr val="000000"/>
                  </a:outerShdw>
                </a:effectLst>
              </a:rPr>
              <a:t>F</a:t>
            </a:r>
            <a:r>
              <a:rPr lang="zh-CN" altLang="en-US" sz="2800">
                <a:solidFill>
                  <a:srgbClr val="CCFFCC"/>
                </a:solidFill>
                <a:effectLst>
                  <a:outerShdw blurRad="38100" dist="38100" dir="2700000" algn="tl">
                    <a:srgbClr val="000000"/>
                  </a:outerShdw>
                </a:effectLst>
              </a:rPr>
              <a:t>中所有决定因子包含在</a:t>
            </a:r>
            <a:r>
              <a:rPr lang="en-US" altLang="zh-CN" sz="2800">
                <a:solidFill>
                  <a:srgbClr val="CCFFCC"/>
                </a:solidFill>
                <a:effectLst>
                  <a:outerShdw blurRad="38100" dist="38100" dir="2700000" algn="tl">
                    <a:srgbClr val="000000"/>
                  </a:outerShdw>
                </a:effectLst>
              </a:rPr>
              <a:t>(AB)</a:t>
            </a:r>
            <a:r>
              <a:rPr lang="en-US" altLang="zh-CN" sz="2800" baseline="30000">
                <a:solidFill>
                  <a:srgbClr val="CCFFCC"/>
                </a:solidFill>
                <a:effectLst>
                  <a:outerShdw blurRad="38100" dist="38100" dir="2700000" algn="tl">
                    <a:srgbClr val="000000"/>
                  </a:outerShdw>
                </a:effectLst>
              </a:rPr>
              <a:t>+</a:t>
            </a:r>
            <a:r>
              <a:rPr lang="zh-CN" altLang="en-US" sz="2800">
                <a:solidFill>
                  <a:srgbClr val="CCFFCC"/>
                </a:solidFill>
                <a:effectLst>
                  <a:outerShdw blurRad="38100" dist="38100" dir="2700000" algn="tl">
                    <a:srgbClr val="000000"/>
                  </a:outerShdw>
                </a:effectLst>
              </a:rPr>
              <a:t>中的函数依赖，将其右边部分并入</a:t>
            </a:r>
            <a:r>
              <a:rPr lang="en-US" altLang="zh-CN" sz="2800">
                <a:solidFill>
                  <a:srgbClr val="CCFFCC"/>
                </a:solidFill>
                <a:effectLst>
                  <a:outerShdw blurRad="38100" dist="38100" dir="2700000" algn="tl">
                    <a:srgbClr val="000000"/>
                  </a:outerShdw>
                </a:effectLst>
              </a:rPr>
              <a:t>(AB)</a:t>
            </a:r>
            <a:r>
              <a:rPr lang="en-US" altLang="zh-CN" sz="2800" baseline="30000">
                <a:solidFill>
                  <a:srgbClr val="CCFFCC"/>
                </a:solidFill>
                <a:effectLst>
                  <a:outerShdw blurRad="38100" dist="38100" dir="2700000" algn="tl">
                    <a:srgbClr val="000000"/>
                  </a:outerShdw>
                </a:effectLst>
              </a:rPr>
              <a:t>+</a:t>
            </a:r>
            <a:r>
              <a:rPr lang="zh-CN" altLang="en-US" sz="2800">
                <a:solidFill>
                  <a:srgbClr val="CCFFCC"/>
                </a:solidFill>
                <a:effectLst>
                  <a:outerShdw blurRad="38100" dist="38100" dir="2700000" algn="tl">
                    <a:srgbClr val="000000"/>
                  </a:outerShdw>
                </a:effectLst>
              </a:rPr>
              <a:t>，并做访问标记。</a:t>
            </a:r>
          </a:p>
          <a:p>
            <a:pPr>
              <a:spcAft>
                <a:spcPct val="30000"/>
              </a:spcAft>
              <a:tabLst>
                <a:tab pos="715963" algn="l"/>
                <a:tab pos="1905000" algn="l"/>
              </a:tabLst>
              <a:defRPr/>
            </a:pPr>
            <a:r>
              <a:rPr lang="zh-CN" altLang="en-US" sz="2800">
                <a:solidFill>
                  <a:srgbClr val="CCFFCC"/>
                </a:solidFill>
                <a:effectLst>
                  <a:outerShdw blurRad="38100" dist="38100" dir="2700000" algn="tl">
                    <a:srgbClr val="000000"/>
                  </a:outerShdw>
                </a:effectLst>
              </a:rPr>
              <a:t>得到新</a:t>
            </a:r>
            <a:r>
              <a:rPr lang="en-US" altLang="zh-CN" sz="2800">
                <a:solidFill>
                  <a:srgbClr val="CCFFCC"/>
                </a:solidFill>
                <a:effectLst>
                  <a:outerShdw blurRad="38100" dist="38100" dir="2700000" algn="tl">
                    <a:srgbClr val="000000"/>
                  </a:outerShdw>
                </a:effectLst>
              </a:rPr>
              <a:t>(DE)</a:t>
            </a:r>
            <a:r>
              <a:rPr lang="en-US" altLang="zh-CN" sz="2800" baseline="30000">
                <a:solidFill>
                  <a:srgbClr val="CCFFCC"/>
                </a:solidFill>
                <a:effectLst>
                  <a:outerShdw blurRad="38100" dist="38100" dir="2700000" algn="tl">
                    <a:srgbClr val="000000"/>
                  </a:outerShdw>
                </a:effectLst>
              </a:rPr>
              <a:t>+ </a:t>
            </a:r>
            <a:r>
              <a:rPr lang="en-US" altLang="zh-CN" sz="2800">
                <a:solidFill>
                  <a:srgbClr val="CCFFCC"/>
                </a:solidFill>
                <a:effectLst>
                  <a:outerShdw blurRad="38100" dist="38100" dir="2700000" algn="tl">
                    <a:srgbClr val="000000"/>
                  </a:outerShdw>
                </a:effectLst>
              </a:rPr>
              <a:t>= {D,E,G}</a:t>
            </a:r>
          </a:p>
        </p:txBody>
      </p:sp>
      <p:sp>
        <p:nvSpPr>
          <p:cNvPr id="5" name="Freeform 6"/>
          <p:cNvSpPr>
            <a:spLocks/>
          </p:cNvSpPr>
          <p:nvPr/>
        </p:nvSpPr>
        <p:spPr bwMode="auto">
          <a:xfrm>
            <a:off x="6300788" y="1916113"/>
            <a:ext cx="598487" cy="292100"/>
          </a:xfrm>
          <a:custGeom>
            <a:avLst/>
            <a:gdLst/>
            <a:ahLst/>
            <a:cxnLst>
              <a:cxn ang="0">
                <a:pos x="0" y="79"/>
              </a:cxn>
              <a:cxn ang="0">
                <a:pos x="121" y="184"/>
              </a:cxn>
              <a:cxn ang="0">
                <a:pos x="377" y="0"/>
              </a:cxn>
            </a:cxnLst>
            <a:rect l="0" t="0" r="r" b="b"/>
            <a:pathLst>
              <a:path w="377" h="184">
                <a:moveTo>
                  <a:pt x="0" y="79"/>
                </a:moveTo>
                <a:lnTo>
                  <a:pt x="121" y="184"/>
                </a:lnTo>
                <a:lnTo>
                  <a:pt x="377" y="0"/>
                </a:lnTo>
              </a:path>
            </a:pathLst>
          </a:custGeom>
          <a:noFill/>
          <a:ln w="57150" cap="sq" cmpd="sng">
            <a:solidFill>
              <a:srgbClr val="FF0000"/>
            </a:solidFill>
            <a:prstDash val="solid"/>
            <a:round/>
            <a:headEnd type="none" w="med" len="med"/>
            <a:tailEnd type="none" w="med" len="med"/>
          </a:ln>
          <a:effectLst/>
        </p:spPr>
        <p:txBody>
          <a:bodyPr lIns="0" tIns="0" rIns="0" bIns="0"/>
          <a:lstStyle/>
          <a:p>
            <a:pPr>
              <a:defRPr/>
            </a:pPr>
            <a:endParaRPr lang="zh-CN" altLang="en-US"/>
          </a:p>
        </p:txBody>
      </p:sp>
    </p:spTree>
    <p:extLst>
      <p:ext uri="{BB962C8B-B14F-4D97-AF65-F5344CB8AC3E}">
        <p14:creationId xmlns:p14="http://schemas.microsoft.com/office/powerpoint/2010/main" val="1557443801"/>
      </p:ext>
    </p:extLst>
  </p:cSld>
  <p:clrMapOvr>
    <a:masterClrMapping/>
  </p:clrMapOvr>
  <p:transition spd="med">
    <p:random/>
    <p:sndAc>
      <p:stSnd>
        <p:snd r:embed="rId2" name="camera.wav"/>
      </p:stSnd>
    </p:sndAc>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type="title"/>
          </p:nvPr>
        </p:nvSpPr>
        <p:spPr>
          <a:xfrm>
            <a:off x="62129" y="0"/>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pPr>
            <a:r>
              <a:rPr kumimoji="1" lang="zh-CN" altLang="en-US" sz="4000" b="1" kern="1200" dirty="0">
                <a:solidFill>
                  <a:srgbClr val="FFFFCC"/>
                </a:solidFill>
                <a:effectLst>
                  <a:outerShdw blurRad="38100" dist="38100" dir="2700000" algn="tl">
                    <a:srgbClr val="000000"/>
                  </a:outerShdw>
                </a:effectLst>
                <a:latin typeface="微软雅黑" panose="020B0503020204020204" pitchFamily="34" charset="-122"/>
                <a:ea typeface="微软雅黑" pitchFamily="34" charset="-122"/>
              </a:rPr>
              <a:t>属性集闭包</a:t>
            </a:r>
            <a:endParaRPr kumimoji="1" lang="en-US" altLang="zh-CN" sz="4000" b="1" kern="1200" dirty="0">
              <a:solidFill>
                <a:srgbClr val="FFFFCC"/>
              </a:solidFill>
              <a:effectLst>
                <a:outerShdw blurRad="38100" dist="38100" dir="2700000" algn="tl">
                  <a:srgbClr val="000000"/>
                </a:outerShdw>
              </a:effectLst>
              <a:latin typeface="微软雅黑" panose="020B0503020204020204" pitchFamily="34" charset="-122"/>
              <a:ea typeface="微软雅黑" pitchFamily="34" charset="-122"/>
            </a:endParaRPr>
          </a:p>
        </p:txBody>
      </p:sp>
      <p:sp>
        <p:nvSpPr>
          <p:cNvPr id="3" name="Text Box 4"/>
          <p:cNvSpPr txBox="1">
            <a:spLocks noChangeArrowheads="1"/>
          </p:cNvSpPr>
          <p:nvPr/>
        </p:nvSpPr>
        <p:spPr bwMode="auto">
          <a:xfrm>
            <a:off x="539750" y="1341438"/>
            <a:ext cx="8382000" cy="1143000"/>
          </a:xfrm>
          <a:prstGeom prst="rect">
            <a:avLst/>
          </a:prstGeom>
          <a:noFill/>
          <a:ln w="12700" cap="sq">
            <a:noFill/>
            <a:miter lim="800000"/>
            <a:headEnd type="none" w="sm" len="sm"/>
            <a:tailEnd type="none" w="sm" len="sm"/>
          </a:ln>
          <a:effectLst/>
        </p:spPr>
        <p:txBody>
          <a:bodyPr/>
          <a:lstStyle/>
          <a:p>
            <a:pPr>
              <a:spcBef>
                <a:spcPct val="30000"/>
              </a:spcBef>
              <a:spcAft>
                <a:spcPct val="70000"/>
              </a:spcAft>
              <a:tabLst>
                <a:tab pos="715963" algn="l"/>
                <a:tab pos="1905000" algn="l"/>
              </a:tabLst>
              <a:defRPr/>
            </a:pPr>
            <a:r>
              <a:rPr lang="zh-CN" altLang="en-US" sz="2800">
                <a:solidFill>
                  <a:srgbClr val="CCFFCC"/>
                </a:solidFill>
                <a:effectLst>
                  <a:outerShdw blurRad="38100" dist="38100" dir="2700000" algn="tl">
                    <a:srgbClr val="000000"/>
                  </a:outerShdw>
                </a:effectLst>
              </a:rPr>
              <a:t>例</a:t>
            </a:r>
            <a:r>
              <a:rPr lang="en-US" altLang="zh-CN" sz="2800">
                <a:solidFill>
                  <a:srgbClr val="CCFFCC"/>
                </a:solidFill>
                <a:effectLst>
                  <a:outerShdw blurRad="38100" dist="38100" dir="2700000" algn="tl">
                    <a:srgbClr val="000000"/>
                  </a:outerShdw>
                </a:effectLst>
              </a:rPr>
              <a:t>:</a:t>
            </a:r>
            <a:r>
              <a:rPr lang="zh-CN" altLang="en-US" sz="2800">
                <a:solidFill>
                  <a:srgbClr val="99FF99"/>
                </a:solidFill>
                <a:effectLst>
                  <a:outerShdw blurRad="38100" dist="38100" dir="2700000" algn="tl">
                    <a:srgbClr val="000000"/>
                  </a:outerShdw>
                </a:effectLst>
              </a:rPr>
              <a:t>设有</a:t>
            </a:r>
            <a:r>
              <a:rPr lang="zh-CN" altLang="zh-CN" sz="2800">
                <a:solidFill>
                  <a:srgbClr val="99FF99"/>
                </a:solidFill>
                <a:effectLst>
                  <a:outerShdw blurRad="38100" dist="38100" dir="2700000" algn="tl">
                    <a:srgbClr val="000000"/>
                  </a:outerShdw>
                </a:effectLst>
              </a:rPr>
              <a:t>关系模式R</a:t>
            </a:r>
            <a:r>
              <a:rPr lang="zh-CN" altLang="en-US" sz="2800">
                <a:solidFill>
                  <a:srgbClr val="99FF99"/>
                </a:solidFill>
                <a:effectLst>
                  <a:outerShdw blurRad="38100" dist="38100" dir="2700000" algn="tl">
                    <a:srgbClr val="000000"/>
                  </a:outerShdw>
                </a:effectLst>
              </a:rPr>
              <a:t>(</a:t>
            </a:r>
            <a:r>
              <a:rPr lang="en-US" altLang="zh-CN" sz="2800">
                <a:solidFill>
                  <a:srgbClr val="99FF99"/>
                </a:solidFill>
                <a:effectLst>
                  <a:outerShdw blurRad="38100" dist="38100" dir="2700000" algn="tl">
                    <a:srgbClr val="000000"/>
                  </a:outerShdw>
                </a:effectLst>
              </a:rPr>
              <a:t>U,F)</a:t>
            </a:r>
            <a:r>
              <a:rPr lang="zh-CN" altLang="en-US" sz="2800">
                <a:solidFill>
                  <a:srgbClr val="99FF99"/>
                </a:solidFill>
                <a:effectLst>
                  <a:outerShdw blurRad="38100" dist="38100" dir="2700000" algn="tl">
                    <a:srgbClr val="000000"/>
                  </a:outerShdw>
                </a:effectLst>
              </a:rPr>
              <a:t>，其中</a:t>
            </a:r>
            <a:r>
              <a:rPr lang="zh-CN" altLang="zh-CN" sz="2800">
                <a:solidFill>
                  <a:srgbClr val="99FF99"/>
                </a:solidFill>
                <a:effectLst>
                  <a:outerShdw blurRad="38100" dist="38100" dir="2700000" algn="tl">
                    <a:srgbClr val="000000"/>
                  </a:outerShdw>
                </a:effectLst>
              </a:rPr>
              <a:t>U={A</a:t>
            </a:r>
            <a:r>
              <a:rPr lang="zh-CN" altLang="en-US" sz="2800">
                <a:solidFill>
                  <a:srgbClr val="99FF99"/>
                </a:solidFill>
                <a:effectLst>
                  <a:outerShdw blurRad="38100" dist="38100" dir="2700000" algn="tl">
                    <a:srgbClr val="000000"/>
                  </a:outerShdw>
                </a:effectLst>
              </a:rPr>
              <a:t>,</a:t>
            </a:r>
            <a:r>
              <a:rPr lang="zh-CN" altLang="zh-CN" sz="2800">
                <a:solidFill>
                  <a:srgbClr val="99FF99"/>
                </a:solidFill>
                <a:effectLst>
                  <a:outerShdw blurRad="38100" dist="38100" dir="2700000" algn="tl">
                    <a:srgbClr val="000000"/>
                  </a:outerShdw>
                </a:effectLst>
              </a:rPr>
              <a:t>B</a:t>
            </a:r>
            <a:r>
              <a:rPr lang="zh-CN" altLang="en-US" sz="2800">
                <a:solidFill>
                  <a:srgbClr val="99FF99"/>
                </a:solidFill>
                <a:effectLst>
                  <a:outerShdw blurRad="38100" dist="38100" dir="2700000" algn="tl">
                    <a:srgbClr val="000000"/>
                  </a:outerShdw>
                </a:effectLst>
              </a:rPr>
              <a:t>,</a:t>
            </a:r>
            <a:r>
              <a:rPr lang="zh-CN" altLang="zh-CN" sz="2800">
                <a:solidFill>
                  <a:srgbClr val="99FF99"/>
                </a:solidFill>
                <a:effectLst>
                  <a:outerShdw blurRad="38100" dist="38100" dir="2700000" algn="tl">
                    <a:srgbClr val="000000"/>
                  </a:outerShdw>
                </a:effectLst>
              </a:rPr>
              <a:t>C</a:t>
            </a:r>
            <a:r>
              <a:rPr lang="zh-CN" altLang="en-US" sz="2800">
                <a:solidFill>
                  <a:srgbClr val="99FF99"/>
                </a:solidFill>
                <a:effectLst>
                  <a:outerShdw blurRad="38100" dist="38100" dir="2700000" algn="tl">
                    <a:srgbClr val="000000"/>
                  </a:outerShdw>
                </a:effectLst>
              </a:rPr>
              <a:t>,</a:t>
            </a:r>
            <a:r>
              <a:rPr lang="zh-CN" altLang="zh-CN" sz="2800">
                <a:solidFill>
                  <a:srgbClr val="99FF99"/>
                </a:solidFill>
                <a:effectLst>
                  <a:outerShdw blurRad="38100" dist="38100" dir="2700000" algn="tl">
                    <a:srgbClr val="000000"/>
                  </a:outerShdw>
                </a:effectLst>
              </a:rPr>
              <a:t>D</a:t>
            </a:r>
            <a:r>
              <a:rPr lang="zh-CN" altLang="en-US" sz="2800">
                <a:solidFill>
                  <a:srgbClr val="99FF99"/>
                </a:solidFill>
                <a:effectLst>
                  <a:outerShdw blurRad="38100" dist="38100" dir="2700000" algn="tl">
                    <a:srgbClr val="000000"/>
                  </a:outerShdw>
                </a:effectLst>
              </a:rPr>
              <a:t>,</a:t>
            </a:r>
            <a:r>
              <a:rPr lang="zh-CN" altLang="zh-CN" sz="2800">
                <a:solidFill>
                  <a:srgbClr val="99FF99"/>
                </a:solidFill>
                <a:effectLst>
                  <a:outerShdw blurRad="38100" dist="38100" dir="2700000" algn="tl">
                    <a:srgbClr val="000000"/>
                  </a:outerShdw>
                </a:effectLst>
              </a:rPr>
              <a:t>E</a:t>
            </a:r>
            <a:r>
              <a:rPr lang="zh-CN" altLang="en-US" sz="2800">
                <a:solidFill>
                  <a:srgbClr val="99FF99"/>
                </a:solidFill>
                <a:effectLst>
                  <a:outerShdw blurRad="38100" dist="38100" dir="2700000" algn="tl">
                    <a:srgbClr val="000000"/>
                  </a:outerShdw>
                </a:effectLst>
              </a:rPr>
              <a:t>,</a:t>
            </a:r>
            <a:r>
              <a:rPr lang="zh-CN" altLang="zh-CN" sz="2800">
                <a:solidFill>
                  <a:srgbClr val="99FF99"/>
                </a:solidFill>
                <a:effectLst>
                  <a:outerShdw blurRad="38100" dist="38100" dir="2700000" algn="tl">
                    <a:srgbClr val="000000"/>
                  </a:outerShdw>
                </a:effectLst>
              </a:rPr>
              <a:t>G}, </a:t>
            </a:r>
            <a:r>
              <a:rPr lang="en-US" altLang="zh-CN" sz="2800">
                <a:solidFill>
                  <a:srgbClr val="99FF99"/>
                </a:solidFill>
                <a:effectLst>
                  <a:outerShdw blurRad="38100" dist="38100" dir="2700000" algn="tl">
                    <a:srgbClr val="000000"/>
                  </a:outerShdw>
                </a:effectLst>
              </a:rPr>
              <a:t>   </a:t>
            </a:r>
            <a:r>
              <a:rPr lang="zh-CN" altLang="zh-CN" sz="2800">
                <a:solidFill>
                  <a:srgbClr val="99FF99"/>
                </a:solidFill>
                <a:effectLst>
                  <a:outerShdw blurRad="38100" dist="38100" dir="2700000" algn="tl">
                    <a:srgbClr val="000000"/>
                  </a:outerShdw>
                </a:effectLst>
              </a:rPr>
              <a:t>F={AB→C, C→A, BC→D, ACD→B, D→EG, BE→C</a:t>
            </a:r>
            <a:r>
              <a:rPr lang="zh-CN" altLang="en-US" sz="2800">
                <a:solidFill>
                  <a:srgbClr val="99FF99"/>
                </a:solidFill>
                <a:effectLst>
                  <a:outerShdw blurRad="38100" dist="38100" dir="2700000" algn="tl">
                    <a:srgbClr val="000000"/>
                  </a:outerShdw>
                </a:effectLst>
              </a:rPr>
              <a:t>，</a:t>
            </a:r>
            <a:r>
              <a:rPr lang="zh-CN" altLang="zh-CN" sz="2800">
                <a:solidFill>
                  <a:srgbClr val="99FF99"/>
                </a:solidFill>
                <a:effectLst>
                  <a:outerShdw blurRad="38100" dist="38100" dir="2700000" algn="tl">
                    <a:srgbClr val="000000"/>
                  </a:outerShdw>
                </a:effectLst>
              </a:rPr>
              <a:t>CG→BD, CE→AG},</a:t>
            </a:r>
            <a:r>
              <a:rPr lang="zh-CN" altLang="en-US" sz="2800">
                <a:solidFill>
                  <a:srgbClr val="99FF99"/>
                </a:solidFill>
                <a:effectLst>
                  <a:outerShdw blurRad="38100" dist="38100" dir="2700000" algn="tl">
                    <a:srgbClr val="000000"/>
                  </a:outerShdw>
                </a:effectLst>
              </a:rPr>
              <a:t>求</a:t>
            </a:r>
            <a:r>
              <a:rPr lang="en-US" altLang="zh-CN" sz="2800">
                <a:solidFill>
                  <a:srgbClr val="99FF99"/>
                </a:solidFill>
                <a:effectLst>
                  <a:outerShdw blurRad="38100" dist="38100" dir="2700000" algn="tl">
                    <a:srgbClr val="000000"/>
                  </a:outerShdw>
                </a:effectLst>
              </a:rPr>
              <a:t>(DE)</a:t>
            </a:r>
            <a:r>
              <a:rPr lang="en-US" altLang="zh-CN" sz="2800" baseline="30000">
                <a:solidFill>
                  <a:srgbClr val="99FF99"/>
                </a:solidFill>
                <a:effectLst>
                  <a:outerShdw blurRad="38100" dist="38100" dir="2700000" algn="tl">
                    <a:srgbClr val="000000"/>
                  </a:outerShdw>
                </a:effectLst>
              </a:rPr>
              <a:t>+</a:t>
            </a:r>
            <a:r>
              <a:rPr lang="zh-CN" altLang="en-US" sz="2800">
                <a:solidFill>
                  <a:srgbClr val="99FF99"/>
                </a:solidFill>
                <a:effectLst>
                  <a:outerShdw blurRad="38100" dist="38100" dir="2700000" algn="tl">
                    <a:srgbClr val="000000"/>
                  </a:outerShdw>
                </a:effectLst>
              </a:rPr>
              <a:t>。</a:t>
            </a:r>
          </a:p>
        </p:txBody>
      </p:sp>
      <p:sp>
        <p:nvSpPr>
          <p:cNvPr id="4" name="Rectangle 5"/>
          <p:cNvSpPr>
            <a:spLocks noChangeArrowheads="1"/>
          </p:cNvSpPr>
          <p:nvPr/>
        </p:nvSpPr>
        <p:spPr bwMode="auto">
          <a:xfrm>
            <a:off x="493713" y="2852738"/>
            <a:ext cx="8318500" cy="1311275"/>
          </a:xfrm>
          <a:prstGeom prst="rect">
            <a:avLst/>
          </a:prstGeom>
          <a:noFill/>
          <a:ln w="12700" cap="sq" algn="ctr">
            <a:noFill/>
            <a:miter lim="800000"/>
            <a:headEnd/>
            <a:tailEnd/>
          </a:ln>
          <a:effectLst/>
        </p:spPr>
        <p:txBody>
          <a:bodyPr/>
          <a:lstStyle/>
          <a:p>
            <a:pPr>
              <a:spcAft>
                <a:spcPct val="30000"/>
              </a:spcAft>
              <a:tabLst>
                <a:tab pos="715963" algn="l"/>
                <a:tab pos="1905000" algn="l"/>
              </a:tabLst>
              <a:defRPr/>
            </a:pPr>
            <a:r>
              <a:rPr lang="zh-CN" altLang="en-US" sz="2800">
                <a:solidFill>
                  <a:srgbClr val="CCFFCC"/>
                </a:solidFill>
                <a:effectLst>
                  <a:outerShdw blurRad="38100" dist="38100" dir="2700000" algn="tl">
                    <a:srgbClr val="000000"/>
                  </a:outerShdw>
                </a:effectLst>
              </a:rPr>
              <a:t>第二次：</a:t>
            </a:r>
          </a:p>
          <a:p>
            <a:pPr>
              <a:spcAft>
                <a:spcPct val="30000"/>
              </a:spcAft>
              <a:tabLst>
                <a:tab pos="715963" algn="l"/>
                <a:tab pos="1905000" algn="l"/>
              </a:tabLst>
              <a:defRPr/>
            </a:pPr>
            <a:r>
              <a:rPr lang="zh-CN" altLang="en-US" sz="2800">
                <a:solidFill>
                  <a:srgbClr val="CCFFCC"/>
                </a:solidFill>
                <a:effectLst>
                  <a:outerShdw blurRad="38100" dist="38100" dir="2700000" algn="tl">
                    <a:srgbClr val="000000"/>
                  </a:outerShdw>
                </a:effectLst>
              </a:rPr>
              <a:t>当前</a:t>
            </a:r>
            <a:r>
              <a:rPr lang="en-US" altLang="zh-CN" sz="2800">
                <a:solidFill>
                  <a:srgbClr val="CCFFCC"/>
                </a:solidFill>
                <a:effectLst>
                  <a:outerShdw blurRad="38100" dist="38100" dir="2700000" algn="tl">
                    <a:srgbClr val="000000"/>
                  </a:outerShdw>
                </a:effectLst>
              </a:rPr>
              <a:t>(DE)</a:t>
            </a:r>
            <a:r>
              <a:rPr lang="en-US" altLang="zh-CN" sz="2800" baseline="30000">
                <a:solidFill>
                  <a:srgbClr val="CCFFCC"/>
                </a:solidFill>
                <a:effectLst>
                  <a:outerShdw blurRad="38100" dist="38100" dir="2700000" algn="tl">
                    <a:srgbClr val="000000"/>
                  </a:outerShdw>
                </a:effectLst>
              </a:rPr>
              <a:t>+ </a:t>
            </a:r>
            <a:r>
              <a:rPr lang="en-US" altLang="zh-CN" sz="2800">
                <a:solidFill>
                  <a:srgbClr val="CCFFCC"/>
                </a:solidFill>
                <a:effectLst>
                  <a:outerShdw blurRad="38100" dist="38100" dir="2700000" algn="tl">
                    <a:srgbClr val="000000"/>
                  </a:outerShdw>
                </a:effectLst>
              </a:rPr>
              <a:t>= {D,E,G}</a:t>
            </a:r>
          </a:p>
          <a:p>
            <a:pPr>
              <a:spcAft>
                <a:spcPct val="30000"/>
              </a:spcAft>
              <a:tabLst>
                <a:tab pos="715963" algn="l"/>
                <a:tab pos="1905000" algn="l"/>
              </a:tabLst>
              <a:defRPr/>
            </a:pPr>
            <a:r>
              <a:rPr lang="zh-CN" altLang="en-US" sz="2800">
                <a:solidFill>
                  <a:srgbClr val="CCFFCC"/>
                </a:solidFill>
                <a:effectLst>
                  <a:outerShdw blurRad="38100" dist="38100" dir="2700000" algn="tl">
                    <a:srgbClr val="000000"/>
                  </a:outerShdw>
                </a:effectLst>
              </a:rPr>
              <a:t>找出</a:t>
            </a:r>
            <a:r>
              <a:rPr lang="en-US" altLang="zh-CN" sz="2800">
                <a:solidFill>
                  <a:srgbClr val="CCFFCC"/>
                </a:solidFill>
                <a:effectLst>
                  <a:outerShdw blurRad="38100" dist="38100" dir="2700000" algn="tl">
                    <a:srgbClr val="000000"/>
                  </a:outerShdw>
                </a:effectLst>
              </a:rPr>
              <a:t>F</a:t>
            </a:r>
            <a:r>
              <a:rPr lang="zh-CN" altLang="en-US" sz="2800">
                <a:solidFill>
                  <a:srgbClr val="CCFFCC"/>
                </a:solidFill>
                <a:effectLst>
                  <a:outerShdw blurRad="38100" dist="38100" dir="2700000" algn="tl">
                    <a:srgbClr val="000000"/>
                  </a:outerShdw>
                </a:effectLst>
              </a:rPr>
              <a:t>中所有决定因子包含在</a:t>
            </a:r>
            <a:r>
              <a:rPr lang="en-US" altLang="zh-CN" sz="2800">
                <a:solidFill>
                  <a:srgbClr val="CCFFCC"/>
                </a:solidFill>
                <a:effectLst>
                  <a:outerShdw blurRad="38100" dist="38100" dir="2700000" algn="tl">
                    <a:srgbClr val="000000"/>
                  </a:outerShdw>
                </a:effectLst>
              </a:rPr>
              <a:t>(AB)</a:t>
            </a:r>
            <a:r>
              <a:rPr lang="en-US" altLang="zh-CN" sz="2800" baseline="30000">
                <a:solidFill>
                  <a:srgbClr val="CCFFCC"/>
                </a:solidFill>
                <a:effectLst>
                  <a:outerShdw blurRad="38100" dist="38100" dir="2700000" algn="tl">
                    <a:srgbClr val="000000"/>
                  </a:outerShdw>
                </a:effectLst>
              </a:rPr>
              <a:t>+</a:t>
            </a:r>
            <a:r>
              <a:rPr lang="zh-CN" altLang="en-US" sz="2800">
                <a:solidFill>
                  <a:srgbClr val="CCFFCC"/>
                </a:solidFill>
                <a:effectLst>
                  <a:outerShdw blurRad="38100" dist="38100" dir="2700000" algn="tl">
                    <a:srgbClr val="000000"/>
                  </a:outerShdw>
                </a:effectLst>
              </a:rPr>
              <a:t>中的函数依赖，将其右边部分并入</a:t>
            </a:r>
            <a:r>
              <a:rPr lang="en-US" altLang="zh-CN" sz="2800">
                <a:solidFill>
                  <a:srgbClr val="CCFFCC"/>
                </a:solidFill>
                <a:effectLst>
                  <a:outerShdw blurRad="38100" dist="38100" dir="2700000" algn="tl">
                    <a:srgbClr val="000000"/>
                  </a:outerShdw>
                </a:effectLst>
              </a:rPr>
              <a:t>(AB)</a:t>
            </a:r>
            <a:r>
              <a:rPr lang="en-US" altLang="zh-CN" sz="2800" baseline="30000">
                <a:solidFill>
                  <a:srgbClr val="CCFFCC"/>
                </a:solidFill>
                <a:effectLst>
                  <a:outerShdw blurRad="38100" dist="38100" dir="2700000" algn="tl">
                    <a:srgbClr val="000000"/>
                  </a:outerShdw>
                </a:effectLst>
              </a:rPr>
              <a:t>+</a:t>
            </a:r>
            <a:r>
              <a:rPr lang="zh-CN" altLang="en-US" sz="2800">
                <a:solidFill>
                  <a:srgbClr val="CCFFCC"/>
                </a:solidFill>
                <a:effectLst>
                  <a:outerShdw blurRad="38100" dist="38100" dir="2700000" algn="tl">
                    <a:srgbClr val="000000"/>
                  </a:outerShdw>
                </a:effectLst>
              </a:rPr>
              <a:t>，并做访问标记。</a:t>
            </a:r>
          </a:p>
          <a:p>
            <a:pPr>
              <a:spcAft>
                <a:spcPct val="30000"/>
              </a:spcAft>
              <a:tabLst>
                <a:tab pos="715963" algn="l"/>
                <a:tab pos="1905000" algn="l"/>
              </a:tabLst>
              <a:defRPr/>
            </a:pPr>
            <a:r>
              <a:rPr lang="zh-CN" altLang="en-US" sz="2800">
                <a:solidFill>
                  <a:srgbClr val="CCFFCC"/>
                </a:solidFill>
                <a:effectLst>
                  <a:outerShdw blurRad="38100" dist="38100" dir="2700000" algn="tl">
                    <a:srgbClr val="000000"/>
                  </a:outerShdw>
                </a:effectLst>
              </a:rPr>
              <a:t>得到新</a:t>
            </a:r>
            <a:r>
              <a:rPr lang="en-US" altLang="zh-CN" sz="2800">
                <a:solidFill>
                  <a:srgbClr val="CCFFCC"/>
                </a:solidFill>
                <a:effectLst>
                  <a:outerShdw blurRad="38100" dist="38100" dir="2700000" algn="tl">
                    <a:srgbClr val="000000"/>
                  </a:outerShdw>
                </a:effectLst>
              </a:rPr>
              <a:t>(DE)</a:t>
            </a:r>
            <a:r>
              <a:rPr lang="en-US" altLang="zh-CN" sz="2800" baseline="30000">
                <a:solidFill>
                  <a:srgbClr val="CCFFCC"/>
                </a:solidFill>
                <a:effectLst>
                  <a:outerShdw blurRad="38100" dist="38100" dir="2700000" algn="tl">
                    <a:srgbClr val="000000"/>
                  </a:outerShdw>
                </a:effectLst>
              </a:rPr>
              <a:t>+ </a:t>
            </a:r>
            <a:r>
              <a:rPr lang="en-US" altLang="zh-CN" sz="2800">
                <a:solidFill>
                  <a:srgbClr val="CCFFCC"/>
                </a:solidFill>
                <a:effectLst>
                  <a:outerShdw blurRad="38100" dist="38100" dir="2700000" algn="tl">
                    <a:srgbClr val="000000"/>
                  </a:outerShdw>
                </a:effectLst>
              </a:rPr>
              <a:t>= {D,E,G}</a:t>
            </a:r>
          </a:p>
          <a:p>
            <a:pPr>
              <a:spcAft>
                <a:spcPct val="30000"/>
              </a:spcAft>
              <a:tabLst>
                <a:tab pos="715963" algn="l"/>
                <a:tab pos="1905000" algn="l"/>
              </a:tabLst>
              <a:defRPr/>
            </a:pPr>
            <a:r>
              <a:rPr lang="zh-CN" altLang="en-US" sz="2800">
                <a:solidFill>
                  <a:srgbClr val="CCFFCC"/>
                </a:solidFill>
                <a:effectLst>
                  <a:outerShdw blurRad="38100" dist="38100" dir="2700000" algn="tl">
                    <a:srgbClr val="000000"/>
                  </a:outerShdw>
                </a:effectLst>
              </a:rPr>
              <a:t>此时</a:t>
            </a:r>
            <a:r>
              <a:rPr lang="en-US" altLang="zh-CN" sz="2800">
                <a:solidFill>
                  <a:srgbClr val="CCFFCC"/>
                </a:solidFill>
                <a:effectLst>
                  <a:outerShdw blurRad="38100" dist="38100" dir="2700000" algn="tl">
                    <a:srgbClr val="000000"/>
                  </a:outerShdw>
                </a:effectLst>
              </a:rPr>
              <a:t>(DE)</a:t>
            </a:r>
            <a:r>
              <a:rPr lang="en-US" altLang="zh-CN" sz="2800" baseline="30000">
                <a:solidFill>
                  <a:srgbClr val="CCFFCC"/>
                </a:solidFill>
                <a:effectLst>
                  <a:outerShdw blurRad="38100" dist="38100" dir="2700000" algn="tl">
                    <a:srgbClr val="000000"/>
                  </a:outerShdw>
                </a:effectLst>
              </a:rPr>
              <a:t>+</a:t>
            </a:r>
            <a:r>
              <a:rPr lang="zh-CN" altLang="en-US" sz="2800">
                <a:solidFill>
                  <a:srgbClr val="CCFFCC"/>
                </a:solidFill>
                <a:effectLst>
                  <a:outerShdw blurRad="38100" dist="38100" dir="2700000" algn="tl">
                    <a:srgbClr val="000000"/>
                  </a:outerShdw>
                </a:effectLst>
              </a:rPr>
              <a:t>与第上一次相比已没有变化，这就是最终的</a:t>
            </a:r>
            <a:r>
              <a:rPr lang="en-US" altLang="zh-CN" sz="2800">
                <a:solidFill>
                  <a:srgbClr val="CCFFCC"/>
                </a:solidFill>
                <a:effectLst>
                  <a:outerShdw blurRad="38100" dist="38100" dir="2700000" algn="tl">
                    <a:srgbClr val="000000"/>
                  </a:outerShdw>
                </a:effectLst>
              </a:rPr>
              <a:t>(DE)</a:t>
            </a:r>
            <a:r>
              <a:rPr lang="en-US" altLang="zh-CN" sz="2800" baseline="30000">
                <a:solidFill>
                  <a:srgbClr val="CCFFCC"/>
                </a:solidFill>
                <a:effectLst>
                  <a:outerShdw blurRad="38100" dist="38100" dir="2700000" algn="tl">
                    <a:srgbClr val="000000"/>
                  </a:outerShdw>
                </a:effectLst>
              </a:rPr>
              <a:t>+ </a:t>
            </a:r>
            <a:r>
              <a:rPr lang="zh-CN" altLang="en-US" sz="2800">
                <a:solidFill>
                  <a:srgbClr val="CCFFCC"/>
                </a:solidFill>
                <a:effectLst>
                  <a:outerShdw blurRad="38100" dist="38100" dir="2700000" algn="tl">
                    <a:srgbClr val="000000"/>
                  </a:outerShdw>
                </a:effectLst>
              </a:rPr>
              <a:t>，结束。</a:t>
            </a:r>
            <a:endParaRPr lang="en-US" altLang="zh-CN" sz="2800">
              <a:solidFill>
                <a:srgbClr val="CCFFCC"/>
              </a:solidFill>
              <a:effectLst>
                <a:outerShdw blurRad="38100" dist="38100" dir="2700000" algn="tl">
                  <a:srgbClr val="000000"/>
                </a:outerShdw>
              </a:effectLst>
            </a:endParaRPr>
          </a:p>
        </p:txBody>
      </p:sp>
      <p:sp>
        <p:nvSpPr>
          <p:cNvPr id="5" name="Freeform 6"/>
          <p:cNvSpPr>
            <a:spLocks/>
          </p:cNvSpPr>
          <p:nvPr/>
        </p:nvSpPr>
        <p:spPr bwMode="auto">
          <a:xfrm>
            <a:off x="6300788" y="1916113"/>
            <a:ext cx="598487" cy="292100"/>
          </a:xfrm>
          <a:custGeom>
            <a:avLst/>
            <a:gdLst/>
            <a:ahLst/>
            <a:cxnLst>
              <a:cxn ang="0">
                <a:pos x="0" y="79"/>
              </a:cxn>
              <a:cxn ang="0">
                <a:pos x="121" y="184"/>
              </a:cxn>
              <a:cxn ang="0">
                <a:pos x="377" y="0"/>
              </a:cxn>
            </a:cxnLst>
            <a:rect l="0" t="0" r="r" b="b"/>
            <a:pathLst>
              <a:path w="377" h="184">
                <a:moveTo>
                  <a:pt x="0" y="79"/>
                </a:moveTo>
                <a:lnTo>
                  <a:pt x="121" y="184"/>
                </a:lnTo>
                <a:lnTo>
                  <a:pt x="377" y="0"/>
                </a:lnTo>
              </a:path>
            </a:pathLst>
          </a:custGeom>
          <a:noFill/>
          <a:ln w="57150" cap="sq" cmpd="sng">
            <a:solidFill>
              <a:srgbClr val="FF0000"/>
            </a:solidFill>
            <a:prstDash val="solid"/>
            <a:round/>
            <a:headEnd type="none" w="med" len="med"/>
            <a:tailEnd type="none" w="med" len="med"/>
          </a:ln>
          <a:effectLst/>
        </p:spPr>
        <p:txBody>
          <a:bodyPr lIns="0" tIns="0" rIns="0" bIns="0"/>
          <a:lstStyle/>
          <a:p>
            <a:pPr>
              <a:defRPr/>
            </a:pPr>
            <a:endParaRPr lang="zh-CN" altLang="en-US"/>
          </a:p>
        </p:txBody>
      </p:sp>
    </p:spTree>
    <p:extLst>
      <p:ext uri="{BB962C8B-B14F-4D97-AF65-F5344CB8AC3E}">
        <p14:creationId xmlns:p14="http://schemas.microsoft.com/office/powerpoint/2010/main" val="3487026820"/>
      </p:ext>
    </p:extLst>
  </p:cSld>
  <p:clrMapOvr>
    <a:masterClrMapping/>
  </p:clrMapOvr>
  <p:transition spd="med">
    <p:random/>
    <p:sndAc>
      <p:stSnd>
        <p:snd r:embed="rId2" name="camera.wav"/>
      </p:stSnd>
    </p:sndAc>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type="title"/>
          </p:nvPr>
        </p:nvSpPr>
        <p:spPr>
          <a:xfrm>
            <a:off x="62129" y="0"/>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pPr>
            <a:r>
              <a:rPr kumimoji="1" lang="zh-CN" altLang="en-US" sz="4000" b="1" kern="1200" dirty="0">
                <a:solidFill>
                  <a:srgbClr val="FFFFCC"/>
                </a:solidFill>
                <a:effectLst>
                  <a:outerShdw blurRad="38100" dist="38100" dir="2700000" algn="tl">
                    <a:srgbClr val="000000"/>
                  </a:outerShdw>
                </a:effectLst>
                <a:latin typeface="微软雅黑" panose="020B0503020204020204" pitchFamily="34" charset="-122"/>
                <a:ea typeface="微软雅黑" pitchFamily="34" charset="-122"/>
              </a:rPr>
              <a:t>属性集闭包</a:t>
            </a:r>
            <a:endParaRPr kumimoji="1" lang="en-US" altLang="zh-CN" sz="4000" b="1" kern="1200" dirty="0">
              <a:solidFill>
                <a:srgbClr val="FFFFCC"/>
              </a:solidFill>
              <a:effectLst>
                <a:outerShdw blurRad="38100" dist="38100" dir="2700000" algn="tl">
                  <a:srgbClr val="000000"/>
                </a:outerShdw>
              </a:effectLst>
              <a:latin typeface="微软雅黑" panose="020B0503020204020204" pitchFamily="34" charset="-122"/>
              <a:ea typeface="微软雅黑" pitchFamily="34" charset="-122"/>
            </a:endParaRPr>
          </a:p>
        </p:txBody>
      </p:sp>
      <p:sp>
        <p:nvSpPr>
          <p:cNvPr id="3" name="Text Box 4"/>
          <p:cNvSpPr txBox="1">
            <a:spLocks noChangeArrowheads="1"/>
          </p:cNvSpPr>
          <p:nvPr/>
        </p:nvSpPr>
        <p:spPr bwMode="auto">
          <a:xfrm>
            <a:off x="539750" y="1341438"/>
            <a:ext cx="8382000" cy="1143000"/>
          </a:xfrm>
          <a:prstGeom prst="rect">
            <a:avLst/>
          </a:prstGeom>
          <a:noFill/>
          <a:ln w="12700" cap="sq">
            <a:noFill/>
            <a:miter lim="800000"/>
            <a:headEnd type="none" w="sm" len="sm"/>
            <a:tailEnd type="none" w="sm" len="sm"/>
          </a:ln>
          <a:effectLst/>
        </p:spPr>
        <p:txBody>
          <a:bodyPr/>
          <a:lstStyle/>
          <a:p>
            <a:pPr>
              <a:spcBef>
                <a:spcPct val="30000"/>
              </a:spcBef>
              <a:spcAft>
                <a:spcPct val="70000"/>
              </a:spcAft>
              <a:tabLst>
                <a:tab pos="715963" algn="l"/>
                <a:tab pos="1905000" algn="l"/>
              </a:tabLst>
              <a:defRPr/>
            </a:pPr>
            <a:r>
              <a:rPr lang="zh-CN" altLang="en-US" sz="2800">
                <a:solidFill>
                  <a:srgbClr val="CCFFCC"/>
                </a:solidFill>
                <a:effectLst>
                  <a:outerShdw blurRad="38100" dist="38100" dir="2700000" algn="tl">
                    <a:srgbClr val="000000"/>
                  </a:outerShdw>
                </a:effectLst>
              </a:rPr>
              <a:t>属性集闭包应用的一个重要定理</a:t>
            </a:r>
            <a:r>
              <a:rPr lang="en-US" altLang="zh-CN" sz="2800">
                <a:solidFill>
                  <a:srgbClr val="CCFFCC"/>
                </a:solidFill>
                <a:effectLst>
                  <a:outerShdw blurRad="38100" dist="38100" dir="2700000" algn="tl">
                    <a:srgbClr val="000000"/>
                  </a:outerShdw>
                </a:effectLst>
              </a:rPr>
              <a:t>:</a:t>
            </a:r>
            <a:endParaRPr lang="en-US" altLang="zh-CN" sz="2800">
              <a:solidFill>
                <a:srgbClr val="99FF99"/>
              </a:solidFill>
              <a:effectLst>
                <a:outerShdw blurRad="38100" dist="38100" dir="2700000" algn="tl">
                  <a:srgbClr val="000000"/>
                </a:outerShdw>
              </a:effectLst>
            </a:endParaRPr>
          </a:p>
        </p:txBody>
      </p:sp>
      <p:sp>
        <p:nvSpPr>
          <p:cNvPr id="4" name="Rectangle 5"/>
          <p:cNvSpPr>
            <a:spLocks noChangeArrowheads="1"/>
          </p:cNvSpPr>
          <p:nvPr/>
        </p:nvSpPr>
        <p:spPr bwMode="auto">
          <a:xfrm>
            <a:off x="611188" y="1916113"/>
            <a:ext cx="8318500" cy="1311275"/>
          </a:xfrm>
          <a:prstGeom prst="rect">
            <a:avLst/>
          </a:prstGeom>
          <a:noFill/>
          <a:ln w="12700" cap="sq" algn="ctr">
            <a:noFill/>
            <a:miter lim="800000"/>
            <a:headEnd/>
            <a:tailEnd/>
          </a:ln>
          <a:effectLst/>
        </p:spPr>
        <p:txBody>
          <a:bodyPr/>
          <a:lstStyle/>
          <a:p>
            <a:pPr>
              <a:spcAft>
                <a:spcPct val="30000"/>
              </a:spcAft>
              <a:tabLst>
                <a:tab pos="715963" algn="l"/>
                <a:tab pos="1905000" algn="l"/>
              </a:tabLst>
              <a:defRPr/>
            </a:pPr>
            <a:r>
              <a:rPr lang="zh-CN" altLang="en-US" sz="2800">
                <a:effectLst>
                  <a:outerShdw blurRad="38100" dist="38100" dir="2700000" algn="tl">
                    <a:srgbClr val="000000"/>
                  </a:outerShdw>
                </a:effectLst>
                <a:latin typeface="Arial" charset="0"/>
              </a:rPr>
              <a:t>设</a:t>
            </a:r>
            <a:r>
              <a:rPr lang="en-US" altLang="zh-CN" sz="2800">
                <a:effectLst>
                  <a:outerShdw blurRad="38100" dist="38100" dir="2700000" algn="tl">
                    <a:srgbClr val="000000"/>
                  </a:outerShdw>
                </a:effectLst>
                <a:latin typeface="Arial" charset="0"/>
              </a:rPr>
              <a:t>F</a:t>
            </a:r>
            <a:r>
              <a:rPr lang="zh-CN" altLang="en-US" sz="2800">
                <a:effectLst>
                  <a:outerShdw blurRad="38100" dist="38100" dir="2700000" algn="tl">
                    <a:srgbClr val="000000"/>
                  </a:outerShdw>
                </a:effectLst>
                <a:latin typeface="Arial" charset="0"/>
              </a:rPr>
              <a:t>是属性集</a:t>
            </a:r>
            <a:r>
              <a:rPr lang="en-US" altLang="zh-CN" sz="2800">
                <a:effectLst>
                  <a:outerShdw blurRad="38100" dist="38100" dir="2700000" algn="tl">
                    <a:srgbClr val="000000"/>
                  </a:outerShdw>
                </a:effectLst>
                <a:latin typeface="Arial" charset="0"/>
              </a:rPr>
              <a:t>U</a:t>
            </a:r>
            <a:r>
              <a:rPr lang="zh-CN" altLang="en-US" sz="2800">
                <a:effectLst>
                  <a:outerShdw blurRad="38100" dist="38100" dir="2700000" algn="tl">
                    <a:srgbClr val="000000"/>
                  </a:outerShdw>
                </a:effectLst>
                <a:latin typeface="Arial" charset="0"/>
              </a:rPr>
              <a:t>上的函数依赖集，</a:t>
            </a:r>
            <a:r>
              <a:rPr lang="en-US" altLang="zh-CN" sz="2800">
                <a:effectLst>
                  <a:outerShdw blurRad="38100" dist="38100" dir="2700000" algn="tl">
                    <a:srgbClr val="000000"/>
                  </a:outerShdw>
                </a:effectLst>
                <a:latin typeface="Arial" charset="0"/>
              </a:rPr>
              <a:t>X</a:t>
            </a:r>
            <a:r>
              <a:rPr lang="zh-CN" altLang="en-US" sz="2800">
                <a:effectLst>
                  <a:outerShdw blurRad="38100" dist="38100" dir="2700000" algn="tl">
                    <a:srgbClr val="000000"/>
                  </a:outerShdw>
                </a:effectLst>
                <a:latin typeface="Arial" charset="0"/>
              </a:rPr>
              <a:t>与</a:t>
            </a:r>
            <a:r>
              <a:rPr lang="en-US" altLang="zh-CN" sz="2800">
                <a:effectLst>
                  <a:outerShdw blurRad="38100" dist="38100" dir="2700000" algn="tl">
                    <a:srgbClr val="000000"/>
                  </a:outerShdw>
                </a:effectLst>
                <a:latin typeface="Arial" charset="0"/>
              </a:rPr>
              <a:t>Y</a:t>
            </a:r>
            <a:r>
              <a:rPr lang="zh-CN" altLang="en-US" sz="2800">
                <a:effectLst>
                  <a:outerShdw blurRad="38100" dist="38100" dir="2700000" algn="tl">
                    <a:srgbClr val="000000"/>
                  </a:outerShdw>
                </a:effectLst>
                <a:latin typeface="Arial" charset="0"/>
              </a:rPr>
              <a:t>是</a:t>
            </a:r>
            <a:r>
              <a:rPr lang="en-US" altLang="zh-CN" sz="2800">
                <a:effectLst>
                  <a:outerShdw blurRad="38100" dist="38100" dir="2700000" algn="tl">
                    <a:srgbClr val="000000"/>
                  </a:outerShdw>
                </a:effectLst>
                <a:latin typeface="Arial" charset="0"/>
              </a:rPr>
              <a:t>U</a:t>
            </a:r>
            <a:r>
              <a:rPr lang="zh-CN" altLang="en-US" sz="2800">
                <a:effectLst>
                  <a:outerShdw blurRad="38100" dist="38100" dir="2700000" algn="tl">
                    <a:srgbClr val="000000"/>
                  </a:outerShdw>
                </a:effectLst>
                <a:latin typeface="Arial" charset="0"/>
              </a:rPr>
              <a:t>的子集，则</a:t>
            </a:r>
            <a:r>
              <a:rPr lang="en-US" altLang="zh-CN" sz="2800">
                <a:effectLst>
                  <a:outerShdw blurRad="38100" dist="38100" dir="2700000" algn="tl">
                    <a:srgbClr val="000000"/>
                  </a:outerShdw>
                </a:effectLst>
                <a:latin typeface="Arial" charset="0"/>
              </a:rPr>
              <a:t>X→Y</a:t>
            </a:r>
            <a:r>
              <a:rPr lang="zh-CN" altLang="en-US" sz="2800">
                <a:effectLst>
                  <a:outerShdw blurRad="38100" dist="38100" dir="2700000" algn="tl">
                    <a:srgbClr val="000000"/>
                  </a:outerShdw>
                </a:effectLst>
                <a:latin typeface="Arial" charset="0"/>
              </a:rPr>
              <a:t>能由</a:t>
            </a:r>
            <a:r>
              <a:rPr lang="en-US" altLang="zh-CN" sz="2800">
                <a:effectLst>
                  <a:outerShdw blurRad="38100" dist="38100" dir="2700000" algn="tl">
                    <a:srgbClr val="000000"/>
                  </a:outerShdw>
                </a:effectLst>
                <a:latin typeface="Arial" charset="0"/>
              </a:rPr>
              <a:t>F</a:t>
            </a:r>
            <a:r>
              <a:rPr lang="zh-CN" altLang="en-US" sz="2800">
                <a:effectLst>
                  <a:outerShdw blurRad="38100" dist="38100" dir="2700000" algn="tl">
                    <a:srgbClr val="000000"/>
                  </a:outerShdw>
                </a:effectLst>
                <a:latin typeface="Arial" charset="0"/>
              </a:rPr>
              <a:t>根据</a:t>
            </a:r>
            <a:r>
              <a:rPr lang="en-US" altLang="zh-CN" sz="2800">
                <a:effectLst>
                  <a:outerShdw blurRad="38100" dist="38100" dir="2700000" algn="tl">
                    <a:srgbClr val="000000"/>
                  </a:outerShdw>
                </a:effectLst>
                <a:latin typeface="Arial" charset="0"/>
              </a:rPr>
              <a:t>Armstrong</a:t>
            </a:r>
            <a:r>
              <a:rPr lang="zh-CN" altLang="en-US" sz="2800">
                <a:effectLst>
                  <a:outerShdw blurRad="38100" dist="38100" dir="2700000" algn="tl">
                    <a:srgbClr val="000000"/>
                  </a:outerShdw>
                </a:effectLst>
                <a:latin typeface="Arial" charset="0"/>
              </a:rPr>
              <a:t>公理导出的充分必要条件是</a:t>
            </a:r>
            <a:r>
              <a:rPr lang="en-US" altLang="zh-CN" sz="2800">
                <a:effectLst>
                  <a:outerShdw blurRad="38100" dist="38100" dir="2700000" algn="tl">
                    <a:srgbClr val="000000"/>
                  </a:outerShdw>
                </a:effectLst>
                <a:latin typeface="Arial" charset="0"/>
              </a:rPr>
              <a:t>Y</a:t>
            </a:r>
            <a:r>
              <a:rPr lang="zh-CN" altLang="en-US" sz="2800">
                <a:effectLst>
                  <a:outerShdw blurRad="38100" dist="38100" dir="2700000" algn="tl">
                    <a:srgbClr val="000000"/>
                  </a:outerShdw>
                </a:effectLst>
                <a:latin typeface="Arial" charset="0"/>
                <a:sym typeface="Symbol" pitchFamily="18" charset="2"/>
              </a:rPr>
              <a:t></a:t>
            </a:r>
            <a:r>
              <a:rPr lang="en-US" altLang="zh-CN" sz="2800">
                <a:effectLst>
                  <a:outerShdw blurRad="38100" dist="38100" dir="2700000" algn="tl">
                    <a:srgbClr val="000000"/>
                  </a:outerShdw>
                </a:effectLst>
                <a:latin typeface="Arial" charset="0"/>
              </a:rPr>
              <a:t>X</a:t>
            </a:r>
            <a:r>
              <a:rPr lang="en-US" altLang="zh-CN" sz="2800" baseline="30000">
                <a:effectLst>
                  <a:outerShdw blurRad="38100" dist="38100" dir="2700000" algn="tl">
                    <a:srgbClr val="000000"/>
                  </a:outerShdw>
                </a:effectLst>
                <a:latin typeface="Arial" charset="0"/>
              </a:rPr>
              <a:t>+</a:t>
            </a:r>
            <a:r>
              <a:rPr lang="zh-CN" altLang="en-US" sz="2800">
                <a:effectLst>
                  <a:outerShdw blurRad="38100" dist="38100" dir="2700000" algn="tl">
                    <a:srgbClr val="000000"/>
                  </a:outerShdw>
                </a:effectLst>
                <a:latin typeface="Arial" charset="0"/>
              </a:rPr>
              <a:t>。</a:t>
            </a:r>
          </a:p>
        </p:txBody>
      </p:sp>
      <p:sp>
        <p:nvSpPr>
          <p:cNvPr id="5" name="Rectangle 6"/>
          <p:cNvSpPr>
            <a:spLocks noChangeArrowheads="1"/>
          </p:cNvSpPr>
          <p:nvPr/>
        </p:nvSpPr>
        <p:spPr bwMode="auto">
          <a:xfrm>
            <a:off x="611188" y="5084763"/>
            <a:ext cx="8318500" cy="1311275"/>
          </a:xfrm>
          <a:prstGeom prst="rect">
            <a:avLst/>
          </a:prstGeom>
          <a:noFill/>
          <a:ln w="12700" cap="sq" algn="ctr">
            <a:noFill/>
            <a:miter lim="800000"/>
            <a:headEnd/>
            <a:tailEnd/>
          </a:ln>
          <a:effectLst/>
        </p:spPr>
        <p:txBody>
          <a:bodyPr/>
          <a:lstStyle/>
          <a:p>
            <a:pPr>
              <a:spcAft>
                <a:spcPct val="30000"/>
              </a:spcAft>
              <a:tabLst>
                <a:tab pos="715963" algn="l"/>
                <a:tab pos="1905000" algn="l"/>
              </a:tabLst>
              <a:defRPr/>
            </a:pPr>
            <a:r>
              <a:rPr lang="en-US" altLang="zh-CN" sz="2800" dirty="0">
                <a:solidFill>
                  <a:srgbClr val="CCFFCC"/>
                </a:solidFill>
                <a:effectLst>
                  <a:outerShdw blurRad="38100" dist="38100" dir="2700000" algn="tl">
                    <a:srgbClr val="000000"/>
                  </a:outerShdw>
                </a:effectLst>
              </a:rPr>
              <a:t>(BD)</a:t>
            </a:r>
            <a:r>
              <a:rPr lang="en-US" altLang="zh-CN" sz="2800" baseline="30000" dirty="0">
                <a:solidFill>
                  <a:srgbClr val="CCFFCC"/>
                </a:solidFill>
                <a:effectLst>
                  <a:outerShdw blurRad="38100" dist="38100" dir="2700000" algn="tl">
                    <a:srgbClr val="000000"/>
                  </a:outerShdw>
                </a:effectLst>
              </a:rPr>
              <a:t>+ </a:t>
            </a:r>
            <a:r>
              <a:rPr lang="en-US" altLang="zh-CN" sz="2800" dirty="0">
                <a:solidFill>
                  <a:srgbClr val="CCFFCC"/>
                </a:solidFill>
                <a:effectLst>
                  <a:outerShdw blurRad="38100" dist="38100" dir="2700000" algn="tl">
                    <a:srgbClr val="000000"/>
                  </a:outerShdw>
                </a:effectLst>
              </a:rPr>
              <a:t>= {B,D,E,G,C,A}</a:t>
            </a:r>
          </a:p>
          <a:p>
            <a:pPr>
              <a:spcAft>
                <a:spcPct val="30000"/>
              </a:spcAft>
              <a:tabLst>
                <a:tab pos="715963" algn="l"/>
                <a:tab pos="1905000" algn="l"/>
              </a:tabLst>
              <a:defRPr/>
            </a:pPr>
            <a:r>
              <a:rPr lang="en-US" altLang="zh-CN" sz="2800" dirty="0">
                <a:solidFill>
                  <a:srgbClr val="CCFFCC"/>
                </a:solidFill>
                <a:effectLst>
                  <a:outerShdw blurRad="38100" dist="38100" dir="2700000" algn="tl">
                    <a:srgbClr val="000000"/>
                  </a:outerShdw>
                </a:effectLst>
              </a:rPr>
              <a:t>(AC)</a:t>
            </a:r>
            <a:r>
              <a:rPr lang="zh-CN" altLang="en-US" sz="2600" dirty="0">
                <a:solidFill>
                  <a:srgbClr val="CCFFCC"/>
                </a:solidFill>
                <a:effectLst>
                  <a:outerShdw blurRad="38100" dist="38100" dir="2700000" algn="tl">
                    <a:srgbClr val="000000"/>
                  </a:outerShdw>
                </a:effectLst>
                <a:sym typeface="Symbol" pitchFamily="18" charset="2"/>
              </a:rPr>
              <a:t> </a:t>
            </a:r>
            <a:r>
              <a:rPr lang="en-US" altLang="zh-CN" sz="2800" dirty="0">
                <a:solidFill>
                  <a:srgbClr val="CCFFCC"/>
                </a:solidFill>
                <a:effectLst>
                  <a:outerShdw blurRad="38100" dist="38100" dir="2700000" algn="tl">
                    <a:srgbClr val="000000"/>
                  </a:outerShdw>
                </a:effectLst>
              </a:rPr>
              <a:t>(BD)</a:t>
            </a:r>
            <a:r>
              <a:rPr lang="en-US" altLang="zh-CN" sz="2800" baseline="30000" dirty="0">
                <a:solidFill>
                  <a:srgbClr val="CCFFCC"/>
                </a:solidFill>
                <a:effectLst>
                  <a:outerShdw blurRad="38100" dist="38100" dir="2700000" algn="tl">
                    <a:srgbClr val="000000"/>
                  </a:outerShdw>
                </a:effectLst>
              </a:rPr>
              <a:t>+ </a:t>
            </a:r>
            <a:r>
              <a:rPr lang="en-US" altLang="zh-CN" sz="2800" dirty="0">
                <a:solidFill>
                  <a:srgbClr val="CCFFCC"/>
                </a:solidFill>
                <a:effectLst>
                  <a:outerShdw blurRad="38100" dist="38100" dir="2700000" algn="tl">
                    <a:srgbClr val="000000"/>
                  </a:outerShdw>
                </a:effectLst>
              </a:rPr>
              <a:t>,</a:t>
            </a:r>
            <a:r>
              <a:rPr lang="zh-CN" altLang="en-US" sz="2800" dirty="0">
                <a:solidFill>
                  <a:srgbClr val="CCFFCC"/>
                </a:solidFill>
                <a:effectLst>
                  <a:outerShdw blurRad="38100" dist="38100" dir="2700000" algn="tl">
                    <a:srgbClr val="000000"/>
                  </a:outerShdw>
                </a:effectLst>
              </a:rPr>
              <a:t>所以</a:t>
            </a:r>
            <a:r>
              <a:rPr lang="en-US" altLang="zh-CN" sz="2800" dirty="0" smtClean="0">
                <a:solidFill>
                  <a:srgbClr val="CCFFCC"/>
                </a:solidFill>
                <a:effectLst>
                  <a:outerShdw blurRad="38100" dist="38100" dir="2700000" algn="tl">
                    <a:srgbClr val="000000"/>
                  </a:outerShdw>
                </a:effectLst>
              </a:rPr>
              <a:t>F</a:t>
            </a:r>
            <a:r>
              <a:rPr lang="en-US" altLang="zh-CN" sz="2800" dirty="0" smtClean="0">
                <a:solidFill>
                  <a:srgbClr val="CCFFCC"/>
                </a:solidFill>
                <a:effectLst>
                  <a:outerShdw blurRad="38100" dist="38100" dir="2700000" algn="tl">
                    <a:srgbClr val="000000"/>
                  </a:outerShdw>
                </a:effectLst>
                <a:sym typeface="Symbol" pitchFamily="18" charset="2"/>
              </a:rPr>
              <a:t>|=</a:t>
            </a:r>
            <a:r>
              <a:rPr lang="zh-CN" altLang="zh-CN" sz="2800" dirty="0" smtClean="0">
                <a:solidFill>
                  <a:srgbClr val="CCFFCC"/>
                </a:solidFill>
                <a:effectLst>
                  <a:outerShdw blurRad="38100" dist="38100" dir="2700000" algn="tl">
                    <a:srgbClr val="000000"/>
                  </a:outerShdw>
                </a:effectLst>
              </a:rPr>
              <a:t>BD</a:t>
            </a:r>
            <a:r>
              <a:rPr lang="zh-CN" altLang="zh-CN" sz="2800" dirty="0">
                <a:solidFill>
                  <a:srgbClr val="CCFFCC"/>
                </a:solidFill>
                <a:effectLst>
                  <a:outerShdw blurRad="38100" dist="38100" dir="2700000" algn="tl">
                    <a:srgbClr val="000000"/>
                  </a:outerShdw>
                </a:effectLst>
              </a:rPr>
              <a:t>→AC</a:t>
            </a:r>
            <a:endParaRPr lang="zh-CN" altLang="en-US" sz="2800" dirty="0">
              <a:solidFill>
                <a:srgbClr val="CCFFCC"/>
              </a:solidFill>
              <a:effectLst>
                <a:outerShdw blurRad="38100" dist="38100" dir="2700000" algn="tl">
                  <a:srgbClr val="000000"/>
                </a:outerShdw>
              </a:effectLst>
            </a:endParaRPr>
          </a:p>
        </p:txBody>
      </p:sp>
      <p:sp>
        <p:nvSpPr>
          <p:cNvPr id="6" name="Text Box 7"/>
          <p:cNvSpPr txBox="1">
            <a:spLocks noChangeArrowheads="1"/>
          </p:cNvSpPr>
          <p:nvPr/>
        </p:nvSpPr>
        <p:spPr bwMode="auto">
          <a:xfrm>
            <a:off x="611188" y="3500438"/>
            <a:ext cx="8382000" cy="1143000"/>
          </a:xfrm>
          <a:prstGeom prst="rect">
            <a:avLst/>
          </a:prstGeom>
          <a:noFill/>
          <a:ln w="12700" cap="sq">
            <a:noFill/>
            <a:miter lim="800000"/>
            <a:headEnd type="none" w="sm" len="sm"/>
            <a:tailEnd type="none" w="sm" len="sm"/>
          </a:ln>
          <a:effectLst/>
        </p:spPr>
        <p:txBody>
          <a:bodyPr/>
          <a:lstStyle/>
          <a:p>
            <a:pPr>
              <a:spcBef>
                <a:spcPct val="30000"/>
              </a:spcBef>
              <a:spcAft>
                <a:spcPct val="70000"/>
              </a:spcAft>
              <a:tabLst>
                <a:tab pos="715963" algn="l"/>
                <a:tab pos="1905000" algn="l"/>
              </a:tabLst>
              <a:defRPr/>
            </a:pPr>
            <a:r>
              <a:rPr lang="zh-CN" altLang="en-US" sz="2800" dirty="0">
                <a:solidFill>
                  <a:srgbClr val="99FF99"/>
                </a:solidFill>
                <a:effectLst>
                  <a:outerShdw blurRad="38100" dist="38100" dir="2700000" algn="tl">
                    <a:srgbClr val="000000"/>
                  </a:outerShdw>
                </a:effectLst>
              </a:rPr>
              <a:t>设有</a:t>
            </a:r>
            <a:r>
              <a:rPr lang="zh-CN" altLang="zh-CN" sz="2800" dirty="0">
                <a:solidFill>
                  <a:srgbClr val="99FF99"/>
                </a:solidFill>
                <a:effectLst>
                  <a:outerShdw blurRad="38100" dist="38100" dir="2700000" algn="tl">
                    <a:srgbClr val="000000"/>
                  </a:outerShdw>
                </a:effectLst>
              </a:rPr>
              <a:t>关系模式R</a:t>
            </a:r>
            <a:r>
              <a:rPr lang="zh-CN" altLang="en-US" sz="2800" dirty="0">
                <a:solidFill>
                  <a:srgbClr val="99FF99"/>
                </a:solidFill>
                <a:effectLst>
                  <a:outerShdw blurRad="38100" dist="38100" dir="2700000" algn="tl">
                    <a:srgbClr val="000000"/>
                  </a:outerShdw>
                </a:effectLst>
              </a:rPr>
              <a:t>(</a:t>
            </a:r>
            <a:r>
              <a:rPr lang="en-US" altLang="zh-CN" sz="2800" dirty="0">
                <a:solidFill>
                  <a:srgbClr val="99FF99"/>
                </a:solidFill>
                <a:effectLst>
                  <a:outerShdw blurRad="38100" dist="38100" dir="2700000" algn="tl">
                    <a:srgbClr val="000000"/>
                  </a:outerShdw>
                </a:effectLst>
              </a:rPr>
              <a:t>U,F)</a:t>
            </a:r>
            <a:r>
              <a:rPr lang="zh-CN" altLang="en-US" sz="2800" dirty="0">
                <a:solidFill>
                  <a:srgbClr val="99FF99"/>
                </a:solidFill>
                <a:effectLst>
                  <a:outerShdw blurRad="38100" dist="38100" dir="2700000" algn="tl">
                    <a:srgbClr val="000000"/>
                  </a:outerShdw>
                </a:effectLst>
              </a:rPr>
              <a:t>，其中</a:t>
            </a:r>
            <a:r>
              <a:rPr lang="zh-CN" altLang="zh-CN" sz="2800" dirty="0">
                <a:solidFill>
                  <a:srgbClr val="99FF99"/>
                </a:solidFill>
                <a:effectLst>
                  <a:outerShdw blurRad="38100" dist="38100" dir="2700000" algn="tl">
                    <a:srgbClr val="000000"/>
                  </a:outerShdw>
                </a:effectLst>
              </a:rPr>
              <a:t>U={A，B，C，D, E, G}, </a:t>
            </a:r>
            <a:r>
              <a:rPr lang="zh-CN" altLang="en-US" sz="2800" dirty="0">
                <a:solidFill>
                  <a:srgbClr val="99FF99"/>
                </a:solidFill>
                <a:effectLst>
                  <a:outerShdw blurRad="38100" dist="38100" dir="2700000" algn="tl">
                    <a:srgbClr val="000000"/>
                  </a:outerShdw>
                </a:effectLst>
              </a:rPr>
              <a:t>   </a:t>
            </a:r>
            <a:r>
              <a:rPr lang="zh-CN" altLang="zh-CN" sz="2800" dirty="0">
                <a:solidFill>
                  <a:srgbClr val="99FF99"/>
                </a:solidFill>
                <a:effectLst>
                  <a:outerShdw blurRad="38100" dist="38100" dir="2700000" algn="tl">
                    <a:srgbClr val="000000"/>
                  </a:outerShdw>
                </a:effectLst>
              </a:rPr>
              <a:t>F={AB→C, C→A, BC→D, ACD→B, D→EG, BE→C</a:t>
            </a:r>
            <a:r>
              <a:rPr lang="zh-CN" altLang="en-US" sz="2800" dirty="0">
                <a:solidFill>
                  <a:srgbClr val="99FF99"/>
                </a:solidFill>
                <a:effectLst>
                  <a:outerShdw blurRad="38100" dist="38100" dir="2700000" algn="tl">
                    <a:srgbClr val="000000"/>
                  </a:outerShdw>
                </a:effectLst>
              </a:rPr>
              <a:t>，</a:t>
            </a:r>
            <a:r>
              <a:rPr lang="zh-CN" altLang="zh-CN" sz="2800" dirty="0">
                <a:solidFill>
                  <a:srgbClr val="99FF99"/>
                </a:solidFill>
                <a:effectLst>
                  <a:outerShdw blurRad="38100" dist="38100" dir="2700000" algn="tl">
                    <a:srgbClr val="000000"/>
                  </a:outerShdw>
                </a:effectLst>
              </a:rPr>
              <a:t>CG→BD, CE→AG},</a:t>
            </a:r>
            <a:r>
              <a:rPr lang="zh-CN" altLang="en-US" sz="2800" dirty="0">
                <a:solidFill>
                  <a:srgbClr val="99FF99"/>
                </a:solidFill>
                <a:effectLst>
                  <a:outerShdw blurRad="38100" dist="38100" dir="2700000" algn="tl">
                    <a:srgbClr val="000000"/>
                  </a:outerShdw>
                </a:effectLst>
              </a:rPr>
              <a:t>证明</a:t>
            </a:r>
            <a:r>
              <a:rPr lang="en-US" altLang="zh-CN" sz="2800" dirty="0" smtClean="0">
                <a:solidFill>
                  <a:srgbClr val="99FF99"/>
                </a:solidFill>
                <a:effectLst>
                  <a:outerShdw blurRad="38100" dist="38100" dir="2700000" algn="tl">
                    <a:srgbClr val="000000"/>
                  </a:outerShdw>
                </a:effectLst>
              </a:rPr>
              <a:t>F</a:t>
            </a:r>
            <a:r>
              <a:rPr lang="en-US" altLang="zh-CN" sz="2800" dirty="0" smtClean="0">
                <a:solidFill>
                  <a:srgbClr val="99FF99"/>
                </a:solidFill>
                <a:effectLst>
                  <a:outerShdw blurRad="38100" dist="38100" dir="2700000" algn="tl">
                    <a:srgbClr val="000000"/>
                  </a:outerShdw>
                </a:effectLst>
                <a:sym typeface="Symbol" pitchFamily="18" charset="2"/>
              </a:rPr>
              <a:t>|=</a:t>
            </a:r>
            <a:r>
              <a:rPr lang="zh-CN" altLang="zh-CN" sz="2800" dirty="0" smtClean="0">
                <a:solidFill>
                  <a:srgbClr val="99FF99"/>
                </a:solidFill>
                <a:effectLst>
                  <a:outerShdw blurRad="38100" dist="38100" dir="2700000" algn="tl">
                    <a:srgbClr val="000000"/>
                  </a:outerShdw>
                </a:effectLst>
              </a:rPr>
              <a:t>BD</a:t>
            </a:r>
            <a:r>
              <a:rPr lang="zh-CN" altLang="zh-CN" sz="2800" dirty="0">
                <a:solidFill>
                  <a:srgbClr val="99FF99"/>
                </a:solidFill>
                <a:effectLst>
                  <a:outerShdw blurRad="38100" dist="38100" dir="2700000" algn="tl">
                    <a:srgbClr val="000000"/>
                  </a:outerShdw>
                </a:effectLst>
              </a:rPr>
              <a:t>→AC</a:t>
            </a:r>
            <a:r>
              <a:rPr lang="zh-CN" altLang="en-US" sz="2800" dirty="0">
                <a:solidFill>
                  <a:srgbClr val="99FF99"/>
                </a:solidFill>
                <a:effectLst>
                  <a:outerShdw blurRad="38100" dist="38100" dir="2700000" algn="tl">
                    <a:srgbClr val="000000"/>
                  </a:outerShdw>
                </a:effectLst>
              </a:rPr>
              <a:t>。</a:t>
            </a:r>
            <a:endParaRPr lang="zh-CN" altLang="zh-CN" sz="2800" dirty="0">
              <a:solidFill>
                <a:srgbClr val="99FF99"/>
              </a:solidFill>
              <a:effectLst>
                <a:outerShdw blurRad="38100" dist="38100" dir="2700000" algn="tl">
                  <a:srgbClr val="000000"/>
                </a:outerShdw>
              </a:effectLst>
            </a:endParaRPr>
          </a:p>
        </p:txBody>
      </p:sp>
    </p:spTree>
    <p:extLst>
      <p:ext uri="{BB962C8B-B14F-4D97-AF65-F5344CB8AC3E}">
        <p14:creationId xmlns:p14="http://schemas.microsoft.com/office/powerpoint/2010/main" val="1837679550"/>
      </p:ext>
    </p:extLst>
  </p:cSld>
  <p:clrMapOvr>
    <a:masterClrMapping/>
  </p:clrMapOvr>
  <p:transition spd="med">
    <p:random/>
    <p:sndAc>
      <p:stSnd>
        <p:snd r:embed="rId2" name="camera.wav"/>
      </p:stSnd>
    </p:sndAc>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p:cNvSpPr>
            <a:spLocks noGrp="1" noChangeArrowheads="1"/>
          </p:cNvSpPr>
          <p:nvPr>
            <p:ph type="title"/>
          </p:nvPr>
        </p:nvSpPr>
        <p:spPr>
          <a:xfrm>
            <a:off x="34605" y="-33211"/>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pPr>
            <a:r>
              <a:rPr kumimoji="1" lang="zh-CN" altLang="en-US" sz="4000" b="1" kern="1200" dirty="0">
                <a:solidFill>
                  <a:srgbClr val="FFFFCC"/>
                </a:solidFill>
                <a:effectLst>
                  <a:outerShdw blurRad="38100" dist="38100" dir="2700000" algn="tl">
                    <a:srgbClr val="000000"/>
                  </a:outerShdw>
                </a:effectLst>
                <a:latin typeface="微软雅黑" panose="020B0503020204020204" pitchFamily="34" charset="-122"/>
                <a:ea typeface="微软雅黑" pitchFamily="34" charset="-122"/>
              </a:rPr>
              <a:t>函数依赖的等价</a:t>
            </a:r>
            <a:endParaRPr kumimoji="1" lang="en-US" altLang="zh-CN" sz="4000" b="1" kern="1200" dirty="0">
              <a:solidFill>
                <a:srgbClr val="FFFFCC"/>
              </a:solidFill>
              <a:effectLst>
                <a:outerShdw blurRad="38100" dist="38100" dir="2700000" algn="tl">
                  <a:srgbClr val="000000"/>
                </a:outerShdw>
              </a:effectLst>
              <a:latin typeface="微软雅黑" panose="020B0503020204020204" pitchFamily="34" charset="-122"/>
              <a:ea typeface="微软雅黑" pitchFamily="34" charset="-122"/>
            </a:endParaRPr>
          </a:p>
        </p:txBody>
      </p:sp>
      <p:sp>
        <p:nvSpPr>
          <p:cNvPr id="1508356" name="Text Box 4"/>
          <p:cNvSpPr txBox="1">
            <a:spLocks noChangeArrowheads="1"/>
          </p:cNvSpPr>
          <p:nvPr/>
        </p:nvSpPr>
        <p:spPr bwMode="auto">
          <a:xfrm>
            <a:off x="506413" y="1052736"/>
            <a:ext cx="8382000" cy="1143000"/>
          </a:xfrm>
          <a:prstGeom prst="rect">
            <a:avLst/>
          </a:prstGeom>
          <a:noFill/>
          <a:ln w="12700" cap="sq">
            <a:noFill/>
            <a:miter lim="800000"/>
            <a:headEnd type="none" w="sm" len="sm"/>
            <a:tailEnd type="none" w="sm" len="sm"/>
          </a:ln>
          <a:effectLst/>
        </p:spPr>
        <p:txBody>
          <a:bodyPr/>
          <a:lstStyle/>
          <a:p>
            <a:pPr>
              <a:spcBef>
                <a:spcPct val="30000"/>
              </a:spcBef>
              <a:spcAft>
                <a:spcPct val="45000"/>
              </a:spcAft>
              <a:tabLst>
                <a:tab pos="1071563" algn="l"/>
              </a:tabLst>
              <a:defRPr/>
            </a:pPr>
            <a:r>
              <a:rPr lang="zh-CN" altLang="en-US" sz="2800" dirty="0">
                <a:solidFill>
                  <a:srgbClr val="CCFFCC"/>
                </a:solidFill>
                <a:effectLst>
                  <a:outerShdw blurRad="38100" dist="38100" dir="2700000" algn="tl">
                    <a:srgbClr val="000000"/>
                  </a:outerShdw>
                </a:effectLst>
              </a:rPr>
              <a:t>关系模式</a:t>
            </a:r>
            <a:r>
              <a:rPr lang="en-US" altLang="zh-CN" sz="2800" dirty="0">
                <a:solidFill>
                  <a:srgbClr val="CCFFCC"/>
                </a:solidFill>
                <a:effectLst>
                  <a:outerShdw blurRad="38100" dist="38100" dir="2700000" algn="tl">
                    <a:srgbClr val="000000"/>
                  </a:outerShdw>
                </a:effectLst>
              </a:rPr>
              <a:t>R(U)</a:t>
            </a:r>
            <a:r>
              <a:rPr lang="zh-CN" altLang="en-US" sz="2800" dirty="0">
                <a:solidFill>
                  <a:srgbClr val="CCFFCC"/>
                </a:solidFill>
                <a:effectLst>
                  <a:outerShdw blurRad="38100" dist="38100" dir="2700000" algn="tl">
                    <a:srgbClr val="000000"/>
                  </a:outerShdw>
                </a:effectLst>
              </a:rPr>
              <a:t>上的两个函数依赖集</a:t>
            </a:r>
            <a:r>
              <a:rPr lang="en-US" altLang="zh-CN" sz="2800" dirty="0">
                <a:solidFill>
                  <a:srgbClr val="CCFFCC"/>
                </a:solidFill>
                <a:effectLst>
                  <a:outerShdw blurRad="38100" dist="38100" dir="2700000" algn="tl">
                    <a:srgbClr val="000000"/>
                  </a:outerShdw>
                </a:effectLst>
              </a:rPr>
              <a:t>F</a:t>
            </a:r>
            <a:r>
              <a:rPr lang="zh-CN" altLang="en-US" sz="2800" dirty="0">
                <a:solidFill>
                  <a:srgbClr val="CCFFCC"/>
                </a:solidFill>
                <a:effectLst>
                  <a:outerShdw blurRad="38100" dist="38100" dir="2700000" algn="tl">
                    <a:srgbClr val="000000"/>
                  </a:outerShdw>
                </a:effectLst>
              </a:rPr>
              <a:t>和</a:t>
            </a:r>
            <a:r>
              <a:rPr lang="en-US" altLang="zh-CN" sz="2800" dirty="0">
                <a:solidFill>
                  <a:srgbClr val="CCFFCC"/>
                </a:solidFill>
                <a:effectLst>
                  <a:outerShdw blurRad="38100" dist="38100" dir="2700000" algn="tl">
                    <a:srgbClr val="000000"/>
                  </a:outerShdw>
                </a:effectLst>
              </a:rPr>
              <a:t>G</a:t>
            </a:r>
            <a:r>
              <a:rPr lang="zh-CN" altLang="en-US" sz="2800" dirty="0">
                <a:solidFill>
                  <a:srgbClr val="CCFFCC"/>
                </a:solidFill>
                <a:effectLst>
                  <a:outerShdw blurRad="38100" dist="38100" dir="2700000" algn="tl">
                    <a:srgbClr val="000000"/>
                  </a:outerShdw>
                </a:effectLst>
              </a:rPr>
              <a:t>，如果满足</a:t>
            </a:r>
            <a:r>
              <a:rPr lang="en-US" altLang="zh-CN" sz="2800" dirty="0">
                <a:solidFill>
                  <a:srgbClr val="CCFFCC"/>
                </a:solidFill>
                <a:effectLst>
                  <a:outerShdw blurRad="38100" dist="38100" dir="2700000" algn="tl">
                    <a:srgbClr val="000000"/>
                  </a:outerShdw>
                </a:effectLst>
              </a:rPr>
              <a:t>F</a:t>
            </a:r>
            <a:r>
              <a:rPr lang="en-US" altLang="zh-CN" sz="2800" baseline="30000" dirty="0">
                <a:solidFill>
                  <a:srgbClr val="CCFFCC"/>
                </a:solidFill>
                <a:effectLst>
                  <a:outerShdw blurRad="38100" dist="38100" dir="2700000" algn="tl">
                    <a:srgbClr val="000000"/>
                  </a:outerShdw>
                </a:effectLst>
              </a:rPr>
              <a:t>+</a:t>
            </a:r>
            <a:r>
              <a:rPr lang="en-US" altLang="zh-CN" sz="2800" dirty="0">
                <a:solidFill>
                  <a:srgbClr val="CCFFCC"/>
                </a:solidFill>
                <a:effectLst>
                  <a:outerShdw blurRad="38100" dist="38100" dir="2700000" algn="tl">
                    <a:srgbClr val="000000"/>
                  </a:outerShdw>
                </a:effectLst>
              </a:rPr>
              <a:t>=G</a:t>
            </a:r>
            <a:r>
              <a:rPr lang="en-US" altLang="zh-CN" sz="2800" baseline="30000" dirty="0">
                <a:solidFill>
                  <a:srgbClr val="CCFFCC"/>
                </a:solidFill>
                <a:effectLst>
                  <a:outerShdw blurRad="38100" dist="38100" dir="2700000" algn="tl">
                    <a:srgbClr val="000000"/>
                  </a:outerShdw>
                </a:effectLst>
              </a:rPr>
              <a:t>+</a:t>
            </a:r>
            <a:r>
              <a:rPr lang="zh-CN" altLang="en-US" sz="2800" dirty="0">
                <a:solidFill>
                  <a:srgbClr val="CCFFCC"/>
                </a:solidFill>
                <a:effectLst>
                  <a:outerShdw blurRad="38100" dist="38100" dir="2700000" algn="tl">
                    <a:srgbClr val="000000"/>
                  </a:outerShdw>
                </a:effectLst>
              </a:rPr>
              <a:t>，则称</a:t>
            </a:r>
            <a:r>
              <a:rPr lang="en-US" altLang="zh-CN" sz="2800" dirty="0">
                <a:solidFill>
                  <a:srgbClr val="CCFFCC"/>
                </a:solidFill>
                <a:effectLst>
                  <a:outerShdw blurRad="38100" dist="38100" dir="2700000" algn="tl">
                    <a:srgbClr val="000000"/>
                  </a:outerShdw>
                </a:effectLst>
              </a:rPr>
              <a:t>F</a:t>
            </a:r>
            <a:r>
              <a:rPr lang="zh-CN" altLang="en-US" sz="2800" dirty="0">
                <a:solidFill>
                  <a:srgbClr val="CCFFCC"/>
                </a:solidFill>
                <a:effectLst>
                  <a:outerShdw blurRad="38100" dist="38100" dir="2700000" algn="tl">
                    <a:srgbClr val="000000"/>
                  </a:outerShdw>
                </a:effectLst>
              </a:rPr>
              <a:t>和</a:t>
            </a:r>
            <a:r>
              <a:rPr lang="en-US" altLang="zh-CN" sz="2800" dirty="0">
                <a:solidFill>
                  <a:srgbClr val="CCFFCC"/>
                </a:solidFill>
                <a:effectLst>
                  <a:outerShdw blurRad="38100" dist="38100" dir="2700000" algn="tl">
                    <a:srgbClr val="000000"/>
                  </a:outerShdw>
                </a:effectLst>
              </a:rPr>
              <a:t>G</a:t>
            </a:r>
            <a:r>
              <a:rPr lang="zh-CN" altLang="en-US" sz="2800" dirty="0">
                <a:solidFill>
                  <a:srgbClr val="CCFFCC"/>
                </a:solidFill>
                <a:effectLst>
                  <a:outerShdw blurRad="38100" dist="38100" dir="2700000" algn="tl">
                    <a:srgbClr val="000000"/>
                  </a:outerShdw>
                </a:effectLst>
              </a:rPr>
              <a:t>是等价的。</a:t>
            </a:r>
          </a:p>
          <a:p>
            <a:pPr>
              <a:spcBef>
                <a:spcPct val="30000"/>
              </a:spcBef>
              <a:spcAft>
                <a:spcPct val="45000"/>
              </a:spcAft>
              <a:tabLst>
                <a:tab pos="1071563" algn="l"/>
              </a:tabLst>
              <a:defRPr/>
            </a:pPr>
            <a:r>
              <a:rPr lang="en-US" altLang="zh-CN" sz="2800" dirty="0">
                <a:solidFill>
                  <a:srgbClr val="CCFFCC"/>
                </a:solidFill>
                <a:effectLst>
                  <a:outerShdw blurRad="38100" dist="38100" dir="2700000" algn="tl">
                    <a:srgbClr val="000000"/>
                  </a:outerShdw>
                </a:effectLst>
              </a:rPr>
              <a:t>F</a:t>
            </a:r>
            <a:r>
              <a:rPr lang="en-US" altLang="zh-CN" sz="2800" baseline="30000" dirty="0">
                <a:solidFill>
                  <a:srgbClr val="CCFFCC"/>
                </a:solidFill>
                <a:effectLst>
                  <a:outerShdw blurRad="38100" dist="38100" dir="2700000" algn="tl">
                    <a:srgbClr val="000000"/>
                  </a:outerShdw>
                </a:effectLst>
              </a:rPr>
              <a:t>+</a:t>
            </a:r>
            <a:r>
              <a:rPr lang="en-US" altLang="zh-CN" sz="2800" dirty="0">
                <a:solidFill>
                  <a:srgbClr val="CCFFCC"/>
                </a:solidFill>
                <a:effectLst>
                  <a:outerShdw blurRad="38100" dist="38100" dir="2700000" algn="tl">
                    <a:srgbClr val="000000"/>
                  </a:outerShdw>
                </a:effectLst>
              </a:rPr>
              <a:t>=G</a:t>
            </a:r>
            <a:r>
              <a:rPr lang="en-US" altLang="zh-CN" sz="2800" baseline="30000" dirty="0">
                <a:solidFill>
                  <a:srgbClr val="CCFFCC"/>
                </a:solidFill>
                <a:effectLst>
                  <a:outerShdw blurRad="38100" dist="38100" dir="2700000" algn="tl">
                    <a:srgbClr val="000000"/>
                  </a:outerShdw>
                </a:effectLst>
              </a:rPr>
              <a:t>+</a:t>
            </a:r>
            <a:r>
              <a:rPr lang="zh-CN" altLang="en-US" sz="2800" dirty="0">
                <a:solidFill>
                  <a:srgbClr val="CCFFCC"/>
                </a:solidFill>
                <a:effectLst>
                  <a:outerShdw blurRad="38100" dist="38100" dir="2700000" algn="tl">
                    <a:srgbClr val="000000"/>
                  </a:outerShdw>
                </a:effectLst>
              </a:rPr>
              <a:t>的充要条件是</a:t>
            </a:r>
            <a:r>
              <a:rPr lang="en-US" altLang="zh-CN" sz="2800" dirty="0">
                <a:solidFill>
                  <a:srgbClr val="CCFFCC"/>
                </a:solidFill>
                <a:effectLst>
                  <a:outerShdw blurRad="38100" dist="38100" dir="2700000" algn="tl">
                    <a:srgbClr val="000000"/>
                  </a:outerShdw>
                </a:effectLst>
              </a:rPr>
              <a:t>F</a:t>
            </a:r>
            <a:r>
              <a:rPr lang="zh-CN" altLang="en-US" sz="2800" dirty="0">
                <a:solidFill>
                  <a:srgbClr val="CCFFCC"/>
                </a:solidFill>
                <a:effectLst>
                  <a:outerShdw blurRad="38100" dist="38100" dir="2700000" algn="tl">
                    <a:srgbClr val="000000"/>
                  </a:outerShdw>
                </a:effectLst>
                <a:sym typeface="Symbol" pitchFamily="18" charset="2"/>
              </a:rPr>
              <a:t></a:t>
            </a:r>
            <a:r>
              <a:rPr lang="en-US" altLang="zh-CN" sz="2800" dirty="0">
                <a:solidFill>
                  <a:srgbClr val="CCFFCC"/>
                </a:solidFill>
                <a:effectLst>
                  <a:outerShdw blurRad="38100" dist="38100" dir="2700000" algn="tl">
                    <a:srgbClr val="000000"/>
                  </a:outerShdw>
                </a:effectLst>
                <a:sym typeface="Symbol" pitchFamily="18" charset="2"/>
              </a:rPr>
              <a:t>G</a:t>
            </a:r>
            <a:r>
              <a:rPr lang="en-US" altLang="zh-CN" sz="2800" baseline="30000" dirty="0">
                <a:solidFill>
                  <a:srgbClr val="CCFFCC"/>
                </a:solidFill>
                <a:effectLst>
                  <a:outerShdw blurRad="38100" dist="38100" dir="2700000" algn="tl">
                    <a:srgbClr val="000000"/>
                  </a:outerShdw>
                </a:effectLst>
              </a:rPr>
              <a:t>+</a:t>
            </a:r>
            <a:r>
              <a:rPr lang="en-US" altLang="zh-CN" sz="2800" dirty="0">
                <a:solidFill>
                  <a:srgbClr val="CCFFCC"/>
                </a:solidFill>
                <a:effectLst>
                  <a:outerShdw blurRad="38100" dist="38100" dir="2700000" algn="tl">
                    <a:srgbClr val="000000"/>
                  </a:outerShdw>
                </a:effectLst>
              </a:rPr>
              <a:t>, G</a:t>
            </a:r>
            <a:r>
              <a:rPr lang="zh-CN" altLang="en-US" sz="2800" dirty="0">
                <a:solidFill>
                  <a:srgbClr val="CCFFCC"/>
                </a:solidFill>
                <a:effectLst>
                  <a:outerShdw blurRad="38100" dist="38100" dir="2700000" algn="tl">
                    <a:srgbClr val="000000"/>
                  </a:outerShdw>
                </a:effectLst>
                <a:sym typeface="Symbol" pitchFamily="18" charset="2"/>
              </a:rPr>
              <a:t></a:t>
            </a:r>
            <a:r>
              <a:rPr lang="en-US" altLang="zh-CN" sz="2800" dirty="0">
                <a:solidFill>
                  <a:srgbClr val="CCFFCC"/>
                </a:solidFill>
                <a:effectLst>
                  <a:outerShdw blurRad="38100" dist="38100" dir="2700000" algn="tl">
                    <a:srgbClr val="000000"/>
                  </a:outerShdw>
                </a:effectLst>
                <a:sym typeface="Symbol" pitchFamily="18" charset="2"/>
              </a:rPr>
              <a:t>F</a:t>
            </a:r>
            <a:r>
              <a:rPr lang="en-US" altLang="zh-CN" sz="2800" baseline="30000" dirty="0">
                <a:solidFill>
                  <a:srgbClr val="CCFFCC"/>
                </a:solidFill>
                <a:effectLst>
                  <a:outerShdw blurRad="38100" dist="38100" dir="2700000" algn="tl">
                    <a:srgbClr val="000000"/>
                  </a:outerShdw>
                </a:effectLst>
              </a:rPr>
              <a:t>+</a:t>
            </a:r>
            <a:r>
              <a:rPr lang="zh-CN" altLang="en-US" sz="2800" dirty="0">
                <a:solidFill>
                  <a:srgbClr val="CCFFCC"/>
                </a:solidFill>
                <a:effectLst>
                  <a:outerShdw blurRad="38100" dist="38100" dir="2700000" algn="tl">
                    <a:srgbClr val="000000"/>
                  </a:outerShdw>
                </a:effectLst>
              </a:rPr>
              <a:t>。</a:t>
            </a:r>
          </a:p>
        </p:txBody>
      </p:sp>
      <p:sp>
        <p:nvSpPr>
          <p:cNvPr id="1508357" name="Text Box 5"/>
          <p:cNvSpPr txBox="1">
            <a:spLocks noChangeArrowheads="1"/>
          </p:cNvSpPr>
          <p:nvPr/>
        </p:nvSpPr>
        <p:spPr bwMode="auto">
          <a:xfrm>
            <a:off x="506413" y="3284538"/>
            <a:ext cx="8382000" cy="647700"/>
          </a:xfrm>
          <a:prstGeom prst="rect">
            <a:avLst/>
          </a:prstGeom>
          <a:noFill/>
          <a:ln w="12700" cap="sq">
            <a:noFill/>
            <a:miter lim="800000"/>
            <a:headEnd type="none" w="sm" len="sm"/>
            <a:tailEnd type="none" w="sm" len="sm"/>
          </a:ln>
          <a:effectLst/>
        </p:spPr>
        <p:txBody>
          <a:bodyPr/>
          <a:lstStyle/>
          <a:p>
            <a:pPr>
              <a:spcAft>
                <a:spcPct val="20000"/>
              </a:spcAft>
              <a:tabLst>
                <a:tab pos="715963" algn="l"/>
                <a:tab pos="1905000" algn="l"/>
              </a:tabLst>
              <a:defRPr/>
            </a:pPr>
            <a:r>
              <a:rPr lang="zh-CN" altLang="en-US" sz="2800">
                <a:solidFill>
                  <a:srgbClr val="99FF33"/>
                </a:solidFill>
                <a:effectLst>
                  <a:outerShdw blurRad="38100" dist="38100" dir="2700000" algn="tl">
                    <a:srgbClr val="000000"/>
                  </a:outerShdw>
                </a:effectLst>
              </a:rPr>
              <a:t>例如关系模式</a:t>
            </a:r>
            <a:r>
              <a:rPr lang="en-US" altLang="zh-CN" sz="2800">
                <a:solidFill>
                  <a:srgbClr val="99FF33"/>
                </a:solidFill>
                <a:effectLst>
                  <a:outerShdw blurRad="38100" dist="38100" dir="2700000" algn="tl">
                    <a:srgbClr val="000000"/>
                  </a:outerShdw>
                </a:effectLst>
              </a:rPr>
              <a:t>R(U)</a:t>
            </a:r>
            <a:r>
              <a:rPr lang="zh-CN" altLang="en-US" sz="2800">
                <a:solidFill>
                  <a:srgbClr val="99FF33"/>
                </a:solidFill>
                <a:effectLst>
                  <a:outerShdw blurRad="38100" dist="38100" dir="2700000" algn="tl">
                    <a:srgbClr val="000000"/>
                  </a:outerShdw>
                </a:effectLst>
              </a:rPr>
              <a:t>，</a:t>
            </a:r>
            <a:r>
              <a:rPr lang="en-US" altLang="zh-CN" sz="2800">
                <a:solidFill>
                  <a:srgbClr val="99FF33"/>
                </a:solidFill>
                <a:effectLst>
                  <a:outerShdw blurRad="38100" dist="38100" dir="2700000" algn="tl">
                    <a:srgbClr val="000000"/>
                  </a:outerShdw>
                </a:effectLst>
              </a:rPr>
              <a:t>U={A,B,C}</a:t>
            </a:r>
            <a:r>
              <a:rPr lang="zh-CN" altLang="en-US" sz="2800">
                <a:solidFill>
                  <a:srgbClr val="99FF33"/>
                </a:solidFill>
                <a:effectLst>
                  <a:outerShdw blurRad="38100" dist="38100" dir="2700000" algn="tl">
                    <a:srgbClr val="000000"/>
                  </a:outerShdw>
                </a:effectLst>
              </a:rPr>
              <a:t>，</a:t>
            </a:r>
            <a:r>
              <a:rPr lang="en-US" altLang="zh-CN" sz="2800">
                <a:solidFill>
                  <a:srgbClr val="99FF33"/>
                </a:solidFill>
                <a:effectLst>
                  <a:outerShdw blurRad="38100" dist="38100" dir="2700000" algn="tl">
                    <a:srgbClr val="000000"/>
                  </a:outerShdw>
                </a:effectLst>
              </a:rPr>
              <a:t>F</a:t>
            </a:r>
            <a:r>
              <a:rPr lang="zh-CN" altLang="zh-CN" sz="2800">
                <a:solidFill>
                  <a:srgbClr val="99FF33"/>
                </a:solidFill>
                <a:effectLst>
                  <a:outerShdw blurRad="38100" dist="38100" dir="2700000" algn="tl">
                    <a:srgbClr val="000000"/>
                  </a:outerShdw>
                </a:effectLst>
              </a:rPr>
              <a:t>=</a:t>
            </a:r>
            <a:r>
              <a:rPr lang="zh-CN" altLang="en-US" sz="2800">
                <a:solidFill>
                  <a:srgbClr val="99FF33"/>
                </a:solidFill>
                <a:effectLst>
                  <a:outerShdw blurRad="38100" dist="38100" dir="2700000" algn="tl">
                    <a:srgbClr val="000000"/>
                  </a:outerShdw>
                </a:effectLst>
              </a:rPr>
              <a:t>{</a:t>
            </a:r>
            <a:r>
              <a:rPr lang="zh-CN" altLang="zh-CN" sz="2800">
                <a:solidFill>
                  <a:srgbClr val="99FF33"/>
                </a:solidFill>
                <a:effectLst>
                  <a:outerShdw blurRad="38100" dist="38100" dir="2700000" algn="tl">
                    <a:srgbClr val="000000"/>
                  </a:outerShdw>
                </a:effectLst>
              </a:rPr>
              <a:t>A→BC,B→C}</a:t>
            </a:r>
            <a:r>
              <a:rPr lang="zh-CN" altLang="en-US" sz="2800">
                <a:solidFill>
                  <a:srgbClr val="99FF33"/>
                </a:solidFill>
                <a:effectLst>
                  <a:outerShdw blurRad="38100" dist="38100" dir="2700000" algn="tl">
                    <a:srgbClr val="000000"/>
                  </a:outerShdw>
                </a:effectLst>
              </a:rPr>
              <a:t>，</a:t>
            </a:r>
          </a:p>
          <a:p>
            <a:pPr>
              <a:spcAft>
                <a:spcPct val="20000"/>
              </a:spcAft>
              <a:tabLst>
                <a:tab pos="715963" algn="l"/>
                <a:tab pos="1905000" algn="l"/>
              </a:tabLst>
              <a:defRPr/>
            </a:pPr>
            <a:r>
              <a:rPr lang="zh-CN" altLang="en-US" sz="2800">
                <a:solidFill>
                  <a:srgbClr val="99FF33"/>
                </a:solidFill>
                <a:effectLst>
                  <a:outerShdw blurRad="38100" dist="38100" dir="2700000" algn="tl">
                    <a:srgbClr val="000000"/>
                  </a:outerShdw>
                </a:effectLst>
              </a:rPr>
              <a:t>G</a:t>
            </a:r>
            <a:r>
              <a:rPr lang="zh-CN" altLang="zh-CN" sz="2800">
                <a:solidFill>
                  <a:srgbClr val="99FF33"/>
                </a:solidFill>
                <a:effectLst>
                  <a:outerShdw blurRad="38100" dist="38100" dir="2700000" algn="tl">
                    <a:srgbClr val="000000"/>
                  </a:outerShdw>
                </a:effectLst>
              </a:rPr>
              <a:t>={A→B,B→C}</a:t>
            </a:r>
            <a:r>
              <a:rPr lang="zh-CN" altLang="en-US" sz="2800">
                <a:solidFill>
                  <a:srgbClr val="99FF33"/>
                </a:solidFill>
                <a:effectLst>
                  <a:outerShdw blurRad="38100" dist="38100" dir="2700000" algn="tl">
                    <a:srgbClr val="000000"/>
                  </a:outerShdw>
                </a:effectLst>
              </a:rPr>
              <a:t>中</a:t>
            </a:r>
          </a:p>
          <a:p>
            <a:pPr>
              <a:spcAft>
                <a:spcPct val="20000"/>
              </a:spcAft>
              <a:tabLst>
                <a:tab pos="715963" algn="l"/>
                <a:tab pos="1905000" algn="l"/>
              </a:tabLst>
              <a:defRPr/>
            </a:pPr>
            <a:r>
              <a:rPr lang="zh-CN" altLang="en-US" sz="2800">
                <a:solidFill>
                  <a:srgbClr val="99FF33"/>
                </a:solidFill>
                <a:effectLst>
                  <a:outerShdw blurRad="38100" dist="38100" dir="2700000" algn="tl">
                    <a:srgbClr val="000000"/>
                  </a:outerShdw>
                </a:effectLst>
              </a:rPr>
              <a:t>由于从</a:t>
            </a:r>
            <a:r>
              <a:rPr lang="en-US" altLang="zh-CN" sz="2800">
                <a:solidFill>
                  <a:srgbClr val="99FF33"/>
                </a:solidFill>
                <a:effectLst>
                  <a:outerShdw blurRad="38100" dist="38100" dir="2700000" algn="tl">
                    <a:srgbClr val="000000"/>
                  </a:outerShdw>
                </a:effectLst>
              </a:rPr>
              <a:t>F</a:t>
            </a:r>
            <a:r>
              <a:rPr lang="zh-CN" altLang="en-US" sz="2800">
                <a:solidFill>
                  <a:srgbClr val="99FF33"/>
                </a:solidFill>
                <a:effectLst>
                  <a:outerShdw blurRad="38100" dist="38100" dir="2700000" algn="tl">
                    <a:srgbClr val="000000"/>
                  </a:outerShdw>
                </a:effectLst>
              </a:rPr>
              <a:t>中的</a:t>
            </a:r>
            <a:r>
              <a:rPr lang="en-US" altLang="zh-CN" sz="2800">
                <a:solidFill>
                  <a:srgbClr val="99FF33"/>
                </a:solidFill>
                <a:effectLst>
                  <a:outerShdw blurRad="38100" dist="38100" dir="2700000" algn="tl">
                    <a:srgbClr val="000000"/>
                  </a:outerShdw>
                </a:effectLst>
              </a:rPr>
              <a:t>A</a:t>
            </a:r>
            <a:r>
              <a:rPr lang="zh-CN" altLang="zh-CN" sz="2800">
                <a:solidFill>
                  <a:srgbClr val="99FF33"/>
                </a:solidFill>
                <a:effectLst>
                  <a:outerShdw blurRad="38100" dist="38100" dir="2700000" algn="tl">
                    <a:srgbClr val="000000"/>
                  </a:outerShdw>
                </a:effectLst>
              </a:rPr>
              <a:t>→BC</a:t>
            </a:r>
            <a:r>
              <a:rPr lang="zh-CN" altLang="en-US" sz="2800">
                <a:solidFill>
                  <a:srgbClr val="99FF33"/>
                </a:solidFill>
                <a:effectLst>
                  <a:outerShdw blurRad="38100" dist="38100" dir="2700000" algn="tl">
                    <a:srgbClr val="000000"/>
                  </a:outerShdw>
                </a:effectLst>
              </a:rPr>
              <a:t>分解即可得到</a:t>
            </a:r>
            <a:r>
              <a:rPr lang="zh-CN" altLang="zh-CN" sz="2800">
                <a:solidFill>
                  <a:srgbClr val="99FF33"/>
                </a:solidFill>
                <a:effectLst>
                  <a:outerShdw blurRad="38100" dist="38100" dir="2700000" algn="tl">
                    <a:srgbClr val="000000"/>
                  </a:outerShdw>
                </a:effectLst>
              </a:rPr>
              <a:t>A→B</a:t>
            </a:r>
            <a:r>
              <a:rPr lang="zh-CN" altLang="en-US" sz="2800">
                <a:solidFill>
                  <a:srgbClr val="99FF33"/>
                </a:solidFill>
                <a:effectLst>
                  <a:outerShdw blurRad="38100" dist="38100" dir="2700000" algn="tl">
                    <a:srgbClr val="000000"/>
                  </a:outerShdw>
                </a:effectLst>
              </a:rPr>
              <a:t>和</a:t>
            </a:r>
            <a:r>
              <a:rPr lang="zh-CN" altLang="zh-CN" sz="2800">
                <a:solidFill>
                  <a:srgbClr val="99FF33"/>
                </a:solidFill>
                <a:effectLst>
                  <a:outerShdw blurRad="38100" dist="38100" dir="2700000" algn="tl">
                    <a:srgbClr val="000000"/>
                  </a:outerShdw>
                </a:effectLst>
              </a:rPr>
              <a:t>B→C</a:t>
            </a:r>
            <a:r>
              <a:rPr lang="zh-CN" altLang="en-US" sz="2800">
                <a:solidFill>
                  <a:srgbClr val="99FF33"/>
                </a:solidFill>
                <a:effectLst>
                  <a:outerShdw blurRad="38100" dist="38100" dir="2700000" algn="tl">
                    <a:srgbClr val="000000"/>
                  </a:outerShdw>
                </a:effectLst>
              </a:rPr>
              <a:t>，即</a:t>
            </a:r>
            <a:r>
              <a:rPr lang="en-US" altLang="zh-CN" sz="2800">
                <a:solidFill>
                  <a:srgbClr val="99FF33"/>
                </a:solidFill>
                <a:effectLst>
                  <a:outerShdw blurRad="38100" dist="38100" dir="2700000" algn="tl">
                    <a:srgbClr val="000000"/>
                  </a:outerShdw>
                </a:effectLst>
              </a:rPr>
              <a:t>G</a:t>
            </a:r>
            <a:r>
              <a:rPr lang="zh-CN" altLang="en-US" sz="2800">
                <a:solidFill>
                  <a:srgbClr val="99FF33"/>
                </a:solidFill>
                <a:effectLst>
                  <a:outerShdw blurRad="38100" dist="38100" dir="2700000" algn="tl">
                    <a:srgbClr val="000000"/>
                  </a:outerShdw>
                </a:effectLst>
                <a:sym typeface="Symbol" pitchFamily="18" charset="2"/>
              </a:rPr>
              <a:t></a:t>
            </a:r>
            <a:r>
              <a:rPr lang="en-US" altLang="zh-CN" sz="2800">
                <a:solidFill>
                  <a:srgbClr val="99FF33"/>
                </a:solidFill>
                <a:effectLst>
                  <a:outerShdw blurRad="38100" dist="38100" dir="2700000" algn="tl">
                    <a:srgbClr val="000000"/>
                  </a:outerShdw>
                </a:effectLst>
                <a:sym typeface="Symbol" pitchFamily="18" charset="2"/>
              </a:rPr>
              <a:t>F</a:t>
            </a:r>
            <a:r>
              <a:rPr lang="en-US" altLang="zh-CN" sz="2800" baseline="30000">
                <a:solidFill>
                  <a:srgbClr val="99FF33"/>
                </a:solidFill>
                <a:effectLst>
                  <a:outerShdw blurRad="38100" dist="38100" dir="2700000" algn="tl">
                    <a:srgbClr val="000000"/>
                  </a:outerShdw>
                </a:effectLst>
                <a:sym typeface="Symbol" pitchFamily="18" charset="2"/>
              </a:rPr>
              <a:t>+</a:t>
            </a:r>
          </a:p>
          <a:p>
            <a:pPr>
              <a:spcAft>
                <a:spcPct val="20000"/>
              </a:spcAft>
              <a:tabLst>
                <a:tab pos="715963" algn="l"/>
                <a:tab pos="1905000" algn="l"/>
              </a:tabLst>
              <a:defRPr/>
            </a:pPr>
            <a:r>
              <a:rPr lang="zh-CN" altLang="en-US" sz="2800">
                <a:solidFill>
                  <a:srgbClr val="99FF33"/>
                </a:solidFill>
                <a:effectLst>
                  <a:outerShdw blurRad="38100" dist="38100" dir="2700000" algn="tl">
                    <a:srgbClr val="000000"/>
                  </a:outerShdw>
                </a:effectLst>
              </a:rPr>
              <a:t>同理从</a:t>
            </a:r>
            <a:r>
              <a:rPr lang="en-US" altLang="zh-CN" sz="2800">
                <a:solidFill>
                  <a:srgbClr val="99FF33"/>
                </a:solidFill>
                <a:effectLst>
                  <a:outerShdw blurRad="38100" dist="38100" dir="2700000" algn="tl">
                    <a:srgbClr val="000000"/>
                  </a:outerShdw>
                </a:effectLst>
              </a:rPr>
              <a:t>G</a:t>
            </a:r>
            <a:r>
              <a:rPr lang="zh-CN" altLang="en-US" sz="2800">
                <a:solidFill>
                  <a:srgbClr val="99FF33"/>
                </a:solidFill>
                <a:effectLst>
                  <a:outerShdw blurRad="38100" dist="38100" dir="2700000" algn="tl">
                    <a:srgbClr val="000000"/>
                  </a:outerShdw>
                </a:effectLst>
              </a:rPr>
              <a:t>中的</a:t>
            </a:r>
            <a:r>
              <a:rPr lang="en-US" altLang="zh-CN" sz="2800">
                <a:solidFill>
                  <a:srgbClr val="99FF33"/>
                </a:solidFill>
                <a:effectLst>
                  <a:outerShdw blurRad="38100" dist="38100" dir="2700000" algn="tl">
                    <a:srgbClr val="000000"/>
                  </a:outerShdw>
                </a:effectLst>
              </a:rPr>
              <a:t>A</a:t>
            </a:r>
            <a:r>
              <a:rPr lang="zh-CN" altLang="zh-CN" sz="2800">
                <a:solidFill>
                  <a:srgbClr val="99FF33"/>
                </a:solidFill>
                <a:effectLst>
                  <a:outerShdw blurRad="38100" dist="38100" dir="2700000" algn="tl">
                    <a:srgbClr val="000000"/>
                  </a:outerShdw>
                </a:effectLst>
              </a:rPr>
              <a:t>→B</a:t>
            </a:r>
            <a:r>
              <a:rPr lang="zh-CN" altLang="en-US" sz="2800">
                <a:solidFill>
                  <a:srgbClr val="99FF33"/>
                </a:solidFill>
                <a:effectLst>
                  <a:outerShdw blurRad="38100" dist="38100" dir="2700000" algn="tl">
                    <a:srgbClr val="000000"/>
                  </a:outerShdw>
                </a:effectLst>
              </a:rPr>
              <a:t>和</a:t>
            </a:r>
            <a:r>
              <a:rPr lang="zh-CN" altLang="zh-CN" sz="2800">
                <a:solidFill>
                  <a:srgbClr val="99FF33"/>
                </a:solidFill>
                <a:effectLst>
                  <a:outerShdw blurRad="38100" dist="38100" dir="2700000" algn="tl">
                    <a:srgbClr val="000000"/>
                  </a:outerShdw>
                </a:effectLst>
              </a:rPr>
              <a:t>B→C</a:t>
            </a:r>
            <a:r>
              <a:rPr lang="zh-CN" altLang="en-US" sz="2800">
                <a:solidFill>
                  <a:srgbClr val="99FF33"/>
                </a:solidFill>
                <a:effectLst>
                  <a:outerShdw blurRad="38100" dist="38100" dir="2700000" algn="tl">
                    <a:srgbClr val="000000"/>
                  </a:outerShdw>
                </a:effectLst>
              </a:rPr>
              <a:t>传递可得</a:t>
            </a:r>
            <a:r>
              <a:rPr lang="en-US" altLang="zh-CN" sz="2800">
                <a:solidFill>
                  <a:srgbClr val="99FF33"/>
                </a:solidFill>
                <a:effectLst>
                  <a:outerShdw blurRad="38100" dist="38100" dir="2700000" algn="tl">
                    <a:srgbClr val="000000"/>
                  </a:outerShdw>
                </a:effectLst>
              </a:rPr>
              <a:t>A</a:t>
            </a:r>
            <a:r>
              <a:rPr lang="zh-CN" altLang="zh-CN" sz="2800">
                <a:solidFill>
                  <a:srgbClr val="99FF33"/>
                </a:solidFill>
                <a:effectLst>
                  <a:outerShdw blurRad="38100" dist="38100" dir="2700000" algn="tl">
                    <a:srgbClr val="000000"/>
                  </a:outerShdw>
                </a:effectLst>
              </a:rPr>
              <a:t>→C</a:t>
            </a:r>
            <a:r>
              <a:rPr lang="zh-CN" altLang="en-US" sz="2800">
                <a:solidFill>
                  <a:srgbClr val="99FF33"/>
                </a:solidFill>
                <a:effectLst>
                  <a:outerShdw blurRad="38100" dist="38100" dir="2700000" algn="tl">
                    <a:srgbClr val="000000"/>
                  </a:outerShdw>
                </a:effectLst>
              </a:rPr>
              <a:t>，进而合并得</a:t>
            </a:r>
            <a:r>
              <a:rPr lang="en-US" altLang="zh-CN" sz="2800">
                <a:solidFill>
                  <a:srgbClr val="99FF33"/>
                </a:solidFill>
                <a:effectLst>
                  <a:outerShdw blurRad="38100" dist="38100" dir="2700000" algn="tl">
                    <a:srgbClr val="000000"/>
                  </a:outerShdw>
                </a:effectLst>
              </a:rPr>
              <a:t>A</a:t>
            </a:r>
            <a:r>
              <a:rPr lang="zh-CN" altLang="zh-CN" sz="2800">
                <a:solidFill>
                  <a:srgbClr val="99FF33"/>
                </a:solidFill>
                <a:effectLst>
                  <a:outerShdw blurRad="38100" dist="38100" dir="2700000" algn="tl">
                    <a:srgbClr val="000000"/>
                  </a:outerShdw>
                </a:effectLst>
              </a:rPr>
              <a:t>→</a:t>
            </a:r>
            <a:r>
              <a:rPr lang="zh-CN" altLang="en-US" sz="2800">
                <a:solidFill>
                  <a:srgbClr val="99FF33"/>
                </a:solidFill>
                <a:effectLst>
                  <a:outerShdw blurRad="38100" dist="38100" dir="2700000" algn="tl">
                    <a:srgbClr val="000000"/>
                  </a:outerShdw>
                </a:effectLst>
              </a:rPr>
              <a:t>B</a:t>
            </a:r>
            <a:r>
              <a:rPr lang="zh-CN" altLang="zh-CN" sz="2800">
                <a:solidFill>
                  <a:srgbClr val="99FF33"/>
                </a:solidFill>
                <a:effectLst>
                  <a:outerShdw blurRad="38100" dist="38100" dir="2700000" algn="tl">
                    <a:srgbClr val="000000"/>
                  </a:outerShdw>
                </a:effectLst>
              </a:rPr>
              <a:t>C</a:t>
            </a:r>
            <a:r>
              <a:rPr lang="zh-CN" altLang="en-US" sz="2800">
                <a:solidFill>
                  <a:srgbClr val="99FF33"/>
                </a:solidFill>
                <a:effectLst>
                  <a:outerShdw blurRad="38100" dist="38100" dir="2700000" algn="tl">
                    <a:srgbClr val="000000"/>
                  </a:outerShdw>
                </a:effectLst>
              </a:rPr>
              <a:t>，即</a:t>
            </a:r>
            <a:r>
              <a:rPr lang="en-US" altLang="zh-CN" sz="2800">
                <a:solidFill>
                  <a:srgbClr val="99FF33"/>
                </a:solidFill>
                <a:effectLst>
                  <a:outerShdw blurRad="38100" dist="38100" dir="2700000" algn="tl">
                    <a:srgbClr val="000000"/>
                  </a:outerShdw>
                </a:effectLst>
              </a:rPr>
              <a:t>F</a:t>
            </a:r>
            <a:r>
              <a:rPr lang="zh-CN" altLang="en-US" sz="2800">
                <a:solidFill>
                  <a:srgbClr val="99FF33"/>
                </a:solidFill>
                <a:effectLst>
                  <a:outerShdw blurRad="38100" dist="38100" dir="2700000" algn="tl">
                    <a:srgbClr val="000000"/>
                  </a:outerShdw>
                </a:effectLst>
                <a:sym typeface="Symbol" pitchFamily="18" charset="2"/>
              </a:rPr>
              <a:t></a:t>
            </a:r>
            <a:r>
              <a:rPr lang="en-US" altLang="zh-CN" sz="2800">
                <a:solidFill>
                  <a:srgbClr val="99FF33"/>
                </a:solidFill>
                <a:effectLst>
                  <a:outerShdw blurRad="38100" dist="38100" dir="2700000" algn="tl">
                    <a:srgbClr val="000000"/>
                  </a:outerShdw>
                </a:effectLst>
                <a:sym typeface="Symbol" pitchFamily="18" charset="2"/>
              </a:rPr>
              <a:t>G</a:t>
            </a:r>
            <a:r>
              <a:rPr lang="en-US" altLang="zh-CN" sz="2800" baseline="30000">
                <a:solidFill>
                  <a:srgbClr val="99FF33"/>
                </a:solidFill>
                <a:effectLst>
                  <a:outerShdw blurRad="38100" dist="38100" dir="2700000" algn="tl">
                    <a:srgbClr val="000000"/>
                  </a:outerShdw>
                </a:effectLst>
                <a:sym typeface="Symbol" pitchFamily="18" charset="2"/>
              </a:rPr>
              <a:t>+</a:t>
            </a:r>
            <a:endParaRPr lang="zh-CN" altLang="en-US" sz="2800" baseline="30000">
              <a:solidFill>
                <a:srgbClr val="99FF33"/>
              </a:solidFill>
              <a:effectLst>
                <a:outerShdw blurRad="38100" dist="38100" dir="2700000" algn="tl">
                  <a:srgbClr val="000000"/>
                </a:outerShdw>
              </a:effectLst>
              <a:sym typeface="Symbol" pitchFamily="18" charset="2"/>
            </a:endParaRPr>
          </a:p>
          <a:p>
            <a:pPr>
              <a:spcAft>
                <a:spcPct val="20000"/>
              </a:spcAft>
              <a:tabLst>
                <a:tab pos="715963" algn="l"/>
                <a:tab pos="1905000" algn="l"/>
              </a:tabLst>
              <a:defRPr/>
            </a:pPr>
            <a:r>
              <a:rPr lang="zh-CN" altLang="en-US" sz="2800">
                <a:solidFill>
                  <a:srgbClr val="99FF33"/>
                </a:solidFill>
                <a:effectLst>
                  <a:outerShdw blurRad="38100" dist="38100" dir="2700000" algn="tl">
                    <a:srgbClr val="000000"/>
                  </a:outerShdw>
                </a:effectLst>
              </a:rPr>
              <a:t>故有</a:t>
            </a:r>
            <a:r>
              <a:rPr lang="en-US" altLang="zh-CN" sz="2800">
                <a:solidFill>
                  <a:srgbClr val="99FF33"/>
                </a:solidFill>
                <a:effectLst>
                  <a:outerShdw blurRad="38100" dist="38100" dir="2700000" algn="tl">
                    <a:srgbClr val="000000"/>
                  </a:outerShdw>
                </a:effectLst>
              </a:rPr>
              <a:t>F</a:t>
            </a:r>
            <a:r>
              <a:rPr lang="zh-CN" altLang="en-US" sz="2800">
                <a:solidFill>
                  <a:srgbClr val="99FF33"/>
                </a:solidFill>
                <a:effectLst>
                  <a:outerShdw blurRad="38100" dist="38100" dir="2700000" algn="tl">
                    <a:srgbClr val="000000"/>
                  </a:outerShdw>
                </a:effectLst>
              </a:rPr>
              <a:t>与</a:t>
            </a:r>
            <a:r>
              <a:rPr lang="en-US" altLang="zh-CN" sz="2800">
                <a:solidFill>
                  <a:srgbClr val="99FF33"/>
                </a:solidFill>
                <a:effectLst>
                  <a:outerShdw blurRad="38100" dist="38100" dir="2700000" algn="tl">
                    <a:srgbClr val="000000"/>
                  </a:outerShdw>
                </a:effectLst>
              </a:rPr>
              <a:t>G</a:t>
            </a:r>
            <a:r>
              <a:rPr lang="zh-CN" altLang="en-US" sz="2800">
                <a:solidFill>
                  <a:srgbClr val="99FF33"/>
                </a:solidFill>
                <a:effectLst>
                  <a:outerShdw blurRad="38100" dist="38100" dir="2700000" algn="tl">
                    <a:srgbClr val="000000"/>
                  </a:outerShdw>
                </a:effectLst>
              </a:rPr>
              <a:t>等价。</a:t>
            </a:r>
            <a:endParaRPr lang="zh-CN" altLang="zh-CN" sz="2800" baseline="30000">
              <a:solidFill>
                <a:srgbClr val="99FF33"/>
              </a:solidFill>
              <a:effectLst>
                <a:outerShdw blurRad="38100" dist="38100" dir="2700000" algn="tl">
                  <a:srgbClr val="000000"/>
                </a:outerShdw>
              </a:effectLst>
              <a:sym typeface="Symbol" pitchFamily="18" charset="2"/>
            </a:endParaRP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title"/>
          </p:nvPr>
        </p:nvSpPr>
        <p:spPr>
          <a:xfrm>
            <a:off x="0" y="13855"/>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pPr>
            <a:r>
              <a:rPr kumimoji="1" lang="zh-CN" altLang="en-US" sz="4000" b="1" kern="1200" dirty="0" smtClean="0">
                <a:solidFill>
                  <a:srgbClr val="FFFFCC"/>
                </a:solidFill>
                <a:effectLst>
                  <a:outerShdw blurRad="38100" dist="38100" dir="2700000" algn="tl">
                    <a:srgbClr val="000000"/>
                  </a:outerShdw>
                </a:effectLst>
                <a:latin typeface="微软雅黑" panose="020B0503020204020204" pitchFamily="34" charset="-122"/>
                <a:ea typeface="微软雅黑" pitchFamily="34" charset="-122"/>
              </a:rPr>
              <a:t> 最小</a:t>
            </a:r>
            <a:r>
              <a:rPr kumimoji="1" lang="zh-CN" altLang="en-US" sz="4000" b="1" kern="1200" dirty="0">
                <a:solidFill>
                  <a:srgbClr val="FFFFCC"/>
                </a:solidFill>
                <a:effectLst>
                  <a:outerShdw blurRad="38100" dist="38100" dir="2700000" algn="tl">
                    <a:srgbClr val="000000"/>
                  </a:outerShdw>
                </a:effectLst>
                <a:latin typeface="微软雅黑" panose="020B0503020204020204" pitchFamily="34" charset="-122"/>
                <a:ea typeface="微软雅黑" pitchFamily="34" charset="-122"/>
              </a:rPr>
              <a:t>函数依赖集</a:t>
            </a:r>
            <a:endParaRPr kumimoji="1" lang="en-US" altLang="zh-CN" sz="4000" b="1" kern="1200" dirty="0">
              <a:solidFill>
                <a:srgbClr val="FFFFCC"/>
              </a:solidFill>
              <a:effectLst>
                <a:outerShdw blurRad="38100" dist="38100" dir="2700000" algn="tl">
                  <a:srgbClr val="000000"/>
                </a:outerShdw>
              </a:effectLst>
              <a:latin typeface="微软雅黑" panose="020B0503020204020204" pitchFamily="34" charset="-122"/>
              <a:ea typeface="微软雅黑" pitchFamily="34" charset="-122"/>
            </a:endParaRPr>
          </a:p>
        </p:txBody>
      </p:sp>
      <p:sp>
        <p:nvSpPr>
          <p:cNvPr id="1509380" name="Text Box 4"/>
          <p:cNvSpPr txBox="1">
            <a:spLocks noChangeArrowheads="1"/>
          </p:cNvSpPr>
          <p:nvPr/>
        </p:nvSpPr>
        <p:spPr bwMode="auto">
          <a:xfrm>
            <a:off x="323529" y="1196752"/>
            <a:ext cx="8424936" cy="1143000"/>
          </a:xfrm>
          <a:prstGeom prst="rect">
            <a:avLst/>
          </a:prstGeom>
          <a:noFill/>
          <a:ln w="12700" cap="sq">
            <a:noFill/>
            <a:miter lim="800000"/>
            <a:headEnd type="none" w="sm" len="sm"/>
            <a:tailEnd type="none" w="sm" len="sm"/>
          </a:ln>
          <a:effectLst/>
        </p:spPr>
        <p:txBody>
          <a:bodyPr/>
          <a:lstStyle/>
          <a:p>
            <a:pPr marL="457200" indent="-457200">
              <a:tabLst>
                <a:tab pos="1071563" algn="l"/>
              </a:tabLst>
              <a:defRPr/>
            </a:pPr>
            <a:r>
              <a:rPr lang="zh-CN" altLang="en-US" sz="2800">
                <a:solidFill>
                  <a:srgbClr val="CCFFCC"/>
                </a:solidFill>
                <a:effectLst>
                  <a:outerShdw blurRad="38100" dist="38100" dir="2700000" algn="tl">
                    <a:srgbClr val="000000"/>
                  </a:outerShdw>
                </a:effectLst>
              </a:rPr>
              <a:t>如果函数集</a:t>
            </a:r>
            <a:r>
              <a:rPr lang="en-US" altLang="zh-CN" sz="2800">
                <a:solidFill>
                  <a:srgbClr val="CCFFCC"/>
                </a:solidFill>
                <a:effectLst>
                  <a:outerShdw blurRad="38100" dist="38100" dir="2700000" algn="tl">
                    <a:srgbClr val="000000"/>
                  </a:outerShdw>
                </a:effectLst>
              </a:rPr>
              <a:t>F</a:t>
            </a:r>
            <a:r>
              <a:rPr lang="zh-CN" altLang="en-US" sz="2800">
                <a:solidFill>
                  <a:srgbClr val="CCFFCC"/>
                </a:solidFill>
                <a:effectLst>
                  <a:outerShdw blurRad="38100" dist="38100" dir="2700000" algn="tl">
                    <a:srgbClr val="000000"/>
                  </a:outerShdw>
                </a:effectLst>
              </a:rPr>
              <a:t>满足：</a:t>
            </a:r>
          </a:p>
          <a:p>
            <a:pPr marL="457200" indent="-457200">
              <a:buFont typeface="Wingdings" pitchFamily="2" charset="2"/>
              <a:buAutoNum type="arabicParenR"/>
              <a:tabLst>
                <a:tab pos="1071563" algn="l"/>
              </a:tabLst>
              <a:defRPr/>
            </a:pPr>
            <a:r>
              <a:rPr lang="en-US" altLang="zh-CN" sz="2800">
                <a:solidFill>
                  <a:srgbClr val="CCFFCC"/>
                </a:solidFill>
                <a:effectLst>
                  <a:outerShdw blurRad="38100" dist="38100" dir="2700000" algn="tl">
                    <a:srgbClr val="000000"/>
                  </a:outerShdw>
                </a:effectLst>
              </a:rPr>
              <a:t>F</a:t>
            </a:r>
            <a:r>
              <a:rPr lang="zh-CN" altLang="en-US" sz="2800">
                <a:solidFill>
                  <a:srgbClr val="CCFFCC"/>
                </a:solidFill>
                <a:effectLst>
                  <a:outerShdw blurRad="38100" dist="38100" dir="2700000" algn="tl">
                    <a:srgbClr val="000000"/>
                  </a:outerShdw>
                </a:effectLst>
              </a:rPr>
              <a:t>中的任一函数依赖</a:t>
            </a:r>
            <a:r>
              <a:rPr lang="en-US" altLang="zh-CN" sz="2800">
                <a:solidFill>
                  <a:srgbClr val="CCFFCC"/>
                </a:solidFill>
                <a:effectLst>
                  <a:outerShdw blurRad="38100" dist="38100" dir="2700000" algn="tl">
                    <a:srgbClr val="000000"/>
                  </a:outerShdw>
                </a:effectLst>
              </a:rPr>
              <a:t>X</a:t>
            </a:r>
            <a:r>
              <a:rPr lang="zh-CN" altLang="en-US" sz="2800">
                <a:solidFill>
                  <a:srgbClr val="CCFFCC"/>
                </a:solidFill>
                <a:effectLst>
                  <a:outerShdw blurRad="38100" dist="38100" dir="2700000" algn="tl">
                    <a:srgbClr val="000000"/>
                  </a:outerShdw>
                </a:effectLst>
              </a:rPr>
              <a:t>→</a:t>
            </a:r>
            <a:r>
              <a:rPr lang="en-US" altLang="zh-CN" sz="2800">
                <a:solidFill>
                  <a:srgbClr val="CCFFCC"/>
                </a:solidFill>
                <a:effectLst>
                  <a:outerShdw blurRad="38100" dist="38100" dir="2700000" algn="tl">
                    <a:srgbClr val="000000"/>
                  </a:outerShdw>
                </a:effectLst>
              </a:rPr>
              <a:t>A</a:t>
            </a:r>
            <a:r>
              <a:rPr lang="zh-CN" altLang="en-US" sz="2800">
                <a:solidFill>
                  <a:srgbClr val="CCFFCC"/>
                </a:solidFill>
                <a:effectLst>
                  <a:outerShdw blurRad="38100" dist="38100" dir="2700000" algn="tl">
                    <a:srgbClr val="000000"/>
                  </a:outerShdw>
                </a:effectLst>
              </a:rPr>
              <a:t>的右部都是单属性；</a:t>
            </a:r>
          </a:p>
          <a:p>
            <a:pPr marL="457200" indent="-457200">
              <a:buFont typeface="Wingdings" pitchFamily="2" charset="2"/>
              <a:buAutoNum type="arabicParenR"/>
              <a:tabLst>
                <a:tab pos="1071563" algn="l"/>
              </a:tabLst>
              <a:defRPr/>
            </a:pPr>
            <a:r>
              <a:rPr lang="zh-CN" altLang="en-US" sz="2800">
                <a:solidFill>
                  <a:srgbClr val="CCFFCC"/>
                </a:solidFill>
                <a:effectLst>
                  <a:outerShdw blurRad="38100" dist="38100" dir="2700000" algn="tl">
                    <a:srgbClr val="000000"/>
                  </a:outerShdw>
                </a:effectLst>
              </a:rPr>
              <a:t>对</a:t>
            </a:r>
            <a:r>
              <a:rPr lang="en-US" altLang="zh-CN" sz="2800">
                <a:solidFill>
                  <a:srgbClr val="CCFFCC"/>
                </a:solidFill>
                <a:effectLst>
                  <a:outerShdw blurRad="38100" dist="38100" dir="2700000" algn="tl">
                    <a:srgbClr val="000000"/>
                  </a:outerShdw>
                </a:effectLst>
              </a:rPr>
              <a:t>F</a:t>
            </a:r>
            <a:r>
              <a:rPr lang="zh-CN" altLang="en-US" sz="2800">
                <a:solidFill>
                  <a:srgbClr val="CCFFCC"/>
                </a:solidFill>
                <a:effectLst>
                  <a:outerShdw blurRad="38100" dist="38100" dir="2700000" algn="tl">
                    <a:srgbClr val="000000"/>
                  </a:outerShdw>
                </a:effectLst>
              </a:rPr>
              <a:t>中的任一函数依赖</a:t>
            </a:r>
            <a:r>
              <a:rPr lang="en-US" altLang="zh-CN" sz="2800">
                <a:solidFill>
                  <a:srgbClr val="CCFFCC"/>
                </a:solidFill>
                <a:effectLst>
                  <a:outerShdw blurRad="38100" dist="38100" dir="2700000" algn="tl">
                    <a:srgbClr val="000000"/>
                  </a:outerShdw>
                </a:effectLst>
              </a:rPr>
              <a:t>X</a:t>
            </a:r>
            <a:r>
              <a:rPr lang="zh-CN" altLang="en-US" sz="2800">
                <a:solidFill>
                  <a:srgbClr val="CCFFCC"/>
                </a:solidFill>
                <a:effectLst>
                  <a:outerShdw blurRad="38100" dist="38100" dir="2700000" algn="tl">
                    <a:srgbClr val="000000"/>
                  </a:outerShdw>
                </a:effectLst>
              </a:rPr>
              <a:t>→</a:t>
            </a:r>
            <a:r>
              <a:rPr lang="en-US" altLang="zh-CN" sz="2800">
                <a:solidFill>
                  <a:srgbClr val="CCFFCC"/>
                </a:solidFill>
                <a:effectLst>
                  <a:outerShdw blurRad="38100" dist="38100" dir="2700000" algn="tl">
                    <a:srgbClr val="000000"/>
                  </a:outerShdw>
                </a:effectLst>
              </a:rPr>
              <a:t>A</a:t>
            </a:r>
            <a:r>
              <a:rPr lang="zh-CN" altLang="en-US" sz="2800">
                <a:solidFill>
                  <a:srgbClr val="CCFFCC"/>
                </a:solidFill>
                <a:effectLst>
                  <a:outerShdw blurRad="38100" dist="38100" dir="2700000" algn="tl">
                    <a:srgbClr val="000000"/>
                  </a:outerShdw>
                </a:effectLst>
              </a:rPr>
              <a:t>，有</a:t>
            </a:r>
            <a:r>
              <a:rPr lang="en-US" altLang="zh-CN" sz="2800">
                <a:solidFill>
                  <a:srgbClr val="CCFFCC"/>
                </a:solidFill>
                <a:effectLst>
                  <a:outerShdw blurRad="38100" dist="38100" dir="2700000" algn="tl">
                    <a:srgbClr val="000000"/>
                  </a:outerShdw>
                </a:effectLst>
              </a:rPr>
              <a:t>F-{X</a:t>
            </a:r>
            <a:r>
              <a:rPr lang="zh-CN" altLang="en-US" sz="2800">
                <a:solidFill>
                  <a:srgbClr val="CCFFCC"/>
                </a:solidFill>
                <a:effectLst>
                  <a:outerShdw blurRad="38100" dist="38100" dir="2700000" algn="tl">
                    <a:srgbClr val="000000"/>
                  </a:outerShdw>
                </a:effectLst>
              </a:rPr>
              <a:t>→</a:t>
            </a:r>
            <a:r>
              <a:rPr lang="en-US" altLang="zh-CN" sz="2800">
                <a:solidFill>
                  <a:srgbClr val="CCFFCC"/>
                </a:solidFill>
                <a:effectLst>
                  <a:outerShdw blurRad="38100" dist="38100" dir="2700000" algn="tl">
                    <a:srgbClr val="000000"/>
                  </a:outerShdw>
                </a:effectLst>
              </a:rPr>
              <a:t>A}</a:t>
            </a:r>
            <a:r>
              <a:rPr lang="zh-CN" altLang="en-US" sz="2800">
                <a:solidFill>
                  <a:srgbClr val="CCFFCC"/>
                </a:solidFill>
                <a:effectLst>
                  <a:outerShdw blurRad="38100" dist="38100" dir="2700000" algn="tl">
                    <a:srgbClr val="000000"/>
                  </a:outerShdw>
                </a:effectLst>
              </a:rPr>
              <a:t>与</a:t>
            </a:r>
            <a:r>
              <a:rPr lang="en-US" altLang="zh-CN" sz="2800">
                <a:solidFill>
                  <a:srgbClr val="CCFFCC"/>
                </a:solidFill>
                <a:effectLst>
                  <a:outerShdw blurRad="38100" dist="38100" dir="2700000" algn="tl">
                    <a:srgbClr val="000000"/>
                  </a:outerShdw>
                </a:effectLst>
              </a:rPr>
              <a:t>F</a:t>
            </a:r>
            <a:r>
              <a:rPr lang="zh-CN" altLang="en-US" sz="2800">
                <a:solidFill>
                  <a:srgbClr val="CCFFCC"/>
                </a:solidFill>
                <a:effectLst>
                  <a:outerShdw blurRad="38100" dist="38100" dir="2700000" algn="tl">
                    <a:srgbClr val="000000"/>
                  </a:outerShdw>
                </a:effectLst>
              </a:rPr>
              <a:t>不等价，即</a:t>
            </a:r>
            <a:r>
              <a:rPr lang="en-US" altLang="zh-CN" sz="2800">
                <a:solidFill>
                  <a:srgbClr val="CCFFCC"/>
                </a:solidFill>
                <a:effectLst>
                  <a:outerShdw blurRad="38100" dist="38100" dir="2700000" algn="tl">
                    <a:srgbClr val="000000"/>
                  </a:outerShdw>
                </a:effectLst>
              </a:rPr>
              <a:t>F</a:t>
            </a:r>
            <a:r>
              <a:rPr lang="zh-CN" altLang="en-US" sz="2800">
                <a:solidFill>
                  <a:srgbClr val="CCFFCC"/>
                </a:solidFill>
                <a:effectLst>
                  <a:outerShdw blurRad="38100" dist="38100" dir="2700000" algn="tl">
                    <a:srgbClr val="000000"/>
                  </a:outerShdw>
                </a:effectLst>
              </a:rPr>
              <a:t>中没有冗余的函数依赖；</a:t>
            </a:r>
          </a:p>
          <a:p>
            <a:pPr marL="457200" indent="-457200">
              <a:buFont typeface="Wingdings" pitchFamily="2" charset="2"/>
              <a:buAutoNum type="arabicParenR"/>
              <a:tabLst>
                <a:tab pos="1071563" algn="l"/>
              </a:tabLst>
              <a:defRPr/>
            </a:pPr>
            <a:r>
              <a:rPr lang="zh-CN" altLang="en-US" sz="2800">
                <a:solidFill>
                  <a:srgbClr val="CCFFCC"/>
                </a:solidFill>
                <a:effectLst>
                  <a:outerShdw blurRad="38100" dist="38100" dir="2700000" algn="tl">
                    <a:srgbClr val="000000"/>
                  </a:outerShdw>
                </a:effectLst>
              </a:rPr>
              <a:t>对</a:t>
            </a:r>
            <a:r>
              <a:rPr lang="en-US" altLang="zh-CN" sz="2800">
                <a:solidFill>
                  <a:srgbClr val="CCFFCC"/>
                </a:solidFill>
                <a:effectLst>
                  <a:outerShdw blurRad="38100" dist="38100" dir="2700000" algn="tl">
                    <a:srgbClr val="000000"/>
                  </a:outerShdw>
                </a:effectLst>
              </a:rPr>
              <a:t>F</a:t>
            </a:r>
            <a:r>
              <a:rPr lang="zh-CN" altLang="en-US" sz="2800">
                <a:solidFill>
                  <a:srgbClr val="CCFFCC"/>
                </a:solidFill>
                <a:effectLst>
                  <a:outerShdw blurRad="38100" dist="38100" dir="2700000" algn="tl">
                    <a:srgbClr val="000000"/>
                  </a:outerShdw>
                </a:effectLst>
              </a:rPr>
              <a:t>中的任一函数依赖</a:t>
            </a:r>
            <a:r>
              <a:rPr lang="en-US" altLang="zh-CN" sz="2800">
                <a:solidFill>
                  <a:srgbClr val="CCFFCC"/>
                </a:solidFill>
                <a:effectLst>
                  <a:outerShdw blurRad="38100" dist="38100" dir="2700000" algn="tl">
                    <a:srgbClr val="000000"/>
                  </a:outerShdw>
                </a:effectLst>
              </a:rPr>
              <a:t>X</a:t>
            </a:r>
            <a:r>
              <a:rPr lang="zh-CN" altLang="en-US" sz="2800">
                <a:solidFill>
                  <a:srgbClr val="CCFFCC"/>
                </a:solidFill>
                <a:effectLst>
                  <a:outerShdw blurRad="38100" dist="38100" dir="2700000" algn="tl">
                    <a:srgbClr val="000000"/>
                  </a:outerShdw>
                </a:effectLst>
              </a:rPr>
              <a:t>→</a:t>
            </a:r>
            <a:r>
              <a:rPr lang="en-US" altLang="zh-CN" sz="2800">
                <a:solidFill>
                  <a:srgbClr val="CCFFCC"/>
                </a:solidFill>
                <a:effectLst>
                  <a:outerShdw blurRad="38100" dist="38100" dir="2700000" algn="tl">
                    <a:srgbClr val="000000"/>
                  </a:outerShdw>
                </a:effectLst>
              </a:rPr>
              <a:t>A</a:t>
            </a:r>
            <a:r>
              <a:rPr lang="zh-CN" altLang="en-US" sz="2800">
                <a:solidFill>
                  <a:srgbClr val="CCFFCC"/>
                </a:solidFill>
                <a:effectLst>
                  <a:outerShdw blurRad="38100" dist="38100" dir="2700000" algn="tl">
                    <a:srgbClr val="000000"/>
                  </a:outerShdw>
                </a:effectLst>
              </a:rPr>
              <a:t>，若</a:t>
            </a:r>
            <a:r>
              <a:rPr lang="en-US" altLang="zh-CN" sz="2800">
                <a:solidFill>
                  <a:srgbClr val="CCFFCC"/>
                </a:solidFill>
                <a:effectLst>
                  <a:outerShdw blurRad="38100" dist="38100" dir="2700000" algn="tl">
                    <a:srgbClr val="000000"/>
                  </a:outerShdw>
                </a:effectLst>
              </a:rPr>
              <a:t>Z</a:t>
            </a:r>
            <a:r>
              <a:rPr lang="zh-CN" altLang="en-US" sz="2800">
                <a:solidFill>
                  <a:srgbClr val="CCFFCC"/>
                </a:solidFill>
                <a:effectLst>
                  <a:outerShdw blurRad="38100" dist="38100" dir="2700000" algn="tl">
                    <a:srgbClr val="000000"/>
                  </a:outerShdw>
                </a:effectLst>
                <a:sym typeface="Symbol" pitchFamily="18" charset="2"/>
              </a:rPr>
              <a:t></a:t>
            </a:r>
            <a:r>
              <a:rPr lang="en-US" altLang="zh-CN" sz="2800">
                <a:solidFill>
                  <a:srgbClr val="CCFFCC"/>
                </a:solidFill>
                <a:effectLst>
                  <a:outerShdw blurRad="38100" dist="38100" dir="2700000" algn="tl">
                    <a:srgbClr val="000000"/>
                  </a:outerShdw>
                </a:effectLst>
                <a:sym typeface="Symbol" pitchFamily="18" charset="2"/>
              </a:rPr>
              <a:t>X</a:t>
            </a:r>
            <a:r>
              <a:rPr lang="zh-CN" altLang="en-US" sz="2800">
                <a:solidFill>
                  <a:srgbClr val="CCFFCC"/>
                </a:solidFill>
                <a:effectLst>
                  <a:outerShdw blurRad="38100" dist="38100" dir="2700000" algn="tl">
                    <a:srgbClr val="000000"/>
                  </a:outerShdw>
                </a:effectLst>
                <a:sym typeface="Symbol" pitchFamily="18" charset="2"/>
              </a:rPr>
              <a:t>，则</a:t>
            </a:r>
            <a:r>
              <a:rPr lang="en-US" altLang="zh-CN" sz="2800">
                <a:solidFill>
                  <a:srgbClr val="CCFFCC"/>
                </a:solidFill>
                <a:effectLst>
                  <a:outerShdw blurRad="38100" dist="38100" dir="2700000" algn="tl">
                    <a:srgbClr val="000000"/>
                  </a:outerShdw>
                </a:effectLst>
                <a:sym typeface="Symbol" pitchFamily="18" charset="2"/>
              </a:rPr>
              <a:t>(</a:t>
            </a:r>
            <a:r>
              <a:rPr lang="en-US" altLang="zh-CN" sz="2800">
                <a:solidFill>
                  <a:srgbClr val="CCFFCC"/>
                </a:solidFill>
                <a:effectLst>
                  <a:outerShdw blurRad="38100" dist="38100" dir="2700000" algn="tl">
                    <a:srgbClr val="000000"/>
                  </a:outerShdw>
                </a:effectLst>
              </a:rPr>
              <a:t>F-{X</a:t>
            </a:r>
            <a:r>
              <a:rPr lang="zh-CN" altLang="en-US" sz="2800">
                <a:solidFill>
                  <a:srgbClr val="CCFFCC"/>
                </a:solidFill>
                <a:effectLst>
                  <a:outerShdw blurRad="38100" dist="38100" dir="2700000" algn="tl">
                    <a:srgbClr val="000000"/>
                  </a:outerShdw>
                </a:effectLst>
              </a:rPr>
              <a:t>→</a:t>
            </a:r>
            <a:r>
              <a:rPr lang="en-US" altLang="zh-CN" sz="2800">
                <a:solidFill>
                  <a:srgbClr val="CCFFCC"/>
                </a:solidFill>
                <a:effectLst>
                  <a:outerShdw blurRad="38100" dist="38100" dir="2700000" algn="tl">
                    <a:srgbClr val="000000"/>
                  </a:outerShdw>
                </a:effectLst>
              </a:rPr>
              <a:t>A}) ∪{Z</a:t>
            </a:r>
            <a:r>
              <a:rPr lang="zh-CN" altLang="en-US" sz="2800">
                <a:solidFill>
                  <a:srgbClr val="CCFFCC"/>
                </a:solidFill>
                <a:effectLst>
                  <a:outerShdw blurRad="38100" dist="38100" dir="2700000" algn="tl">
                    <a:srgbClr val="000000"/>
                  </a:outerShdw>
                </a:effectLst>
              </a:rPr>
              <a:t>→</a:t>
            </a:r>
            <a:r>
              <a:rPr lang="en-US" altLang="zh-CN" sz="2800">
                <a:solidFill>
                  <a:srgbClr val="CCFFCC"/>
                </a:solidFill>
                <a:effectLst>
                  <a:outerShdw blurRad="38100" dist="38100" dir="2700000" algn="tl">
                    <a:srgbClr val="000000"/>
                  </a:outerShdw>
                </a:effectLst>
              </a:rPr>
              <a:t>A}</a:t>
            </a:r>
            <a:r>
              <a:rPr lang="zh-CN" altLang="en-US" sz="2800">
                <a:solidFill>
                  <a:srgbClr val="CCFFCC"/>
                </a:solidFill>
                <a:effectLst>
                  <a:outerShdw blurRad="38100" dist="38100" dir="2700000" algn="tl">
                    <a:srgbClr val="000000"/>
                  </a:outerShdw>
                </a:effectLst>
              </a:rPr>
              <a:t>与</a:t>
            </a:r>
            <a:r>
              <a:rPr lang="en-US" altLang="zh-CN" sz="2800">
                <a:solidFill>
                  <a:srgbClr val="CCFFCC"/>
                </a:solidFill>
                <a:effectLst>
                  <a:outerShdw blurRad="38100" dist="38100" dir="2700000" algn="tl">
                    <a:srgbClr val="000000"/>
                  </a:outerShdw>
                </a:effectLst>
              </a:rPr>
              <a:t>F</a:t>
            </a:r>
            <a:r>
              <a:rPr lang="zh-CN" altLang="en-US" sz="2800">
                <a:solidFill>
                  <a:srgbClr val="CCFFCC"/>
                </a:solidFill>
                <a:effectLst>
                  <a:outerShdw blurRad="38100" dist="38100" dir="2700000" algn="tl">
                    <a:srgbClr val="000000"/>
                  </a:outerShdw>
                </a:effectLst>
              </a:rPr>
              <a:t>不等价，即每个函数依赖左部没有冗余属性。</a:t>
            </a:r>
          </a:p>
          <a:p>
            <a:pPr marL="457200" indent="-457200">
              <a:tabLst>
                <a:tab pos="1071563" algn="l"/>
              </a:tabLst>
              <a:defRPr/>
            </a:pPr>
            <a:r>
              <a:rPr lang="zh-CN" altLang="en-US" sz="2800">
                <a:solidFill>
                  <a:srgbClr val="CCFFCC"/>
                </a:solidFill>
                <a:effectLst>
                  <a:outerShdw blurRad="38100" dist="38100" dir="2700000" algn="tl">
                    <a:srgbClr val="000000"/>
                  </a:outerShdw>
                </a:effectLst>
              </a:rPr>
              <a:t>则称</a:t>
            </a:r>
            <a:r>
              <a:rPr lang="en-US" altLang="zh-CN" sz="2800">
                <a:solidFill>
                  <a:srgbClr val="CCFFCC"/>
                </a:solidFill>
                <a:effectLst>
                  <a:outerShdw blurRad="38100" dist="38100" dir="2700000" algn="tl">
                    <a:srgbClr val="000000"/>
                  </a:outerShdw>
                </a:effectLst>
              </a:rPr>
              <a:t>F</a:t>
            </a:r>
            <a:r>
              <a:rPr lang="zh-CN" altLang="en-US" sz="2800">
                <a:solidFill>
                  <a:srgbClr val="CCFFCC"/>
                </a:solidFill>
                <a:effectLst>
                  <a:outerShdw blurRad="38100" dist="38100" dir="2700000" algn="tl">
                    <a:srgbClr val="000000"/>
                  </a:outerShdw>
                </a:effectLst>
              </a:rPr>
              <a:t>为最小函数依赖集，记为</a:t>
            </a:r>
            <a:r>
              <a:rPr lang="en-US" altLang="zh-CN" sz="2800">
                <a:solidFill>
                  <a:srgbClr val="CCFFCC"/>
                </a:solidFill>
                <a:effectLst>
                  <a:outerShdw blurRad="38100" dist="38100" dir="2700000" algn="tl">
                    <a:srgbClr val="000000"/>
                  </a:outerShdw>
                </a:effectLst>
              </a:rPr>
              <a:t>F</a:t>
            </a:r>
            <a:r>
              <a:rPr lang="en-US" altLang="zh-CN" sz="2800" baseline="-25000">
                <a:solidFill>
                  <a:srgbClr val="CCFFCC"/>
                </a:solidFill>
                <a:effectLst>
                  <a:outerShdw blurRad="38100" dist="38100" dir="2700000" algn="tl">
                    <a:srgbClr val="000000"/>
                  </a:outerShdw>
                </a:effectLst>
              </a:rPr>
              <a:t>min</a:t>
            </a:r>
            <a:r>
              <a:rPr lang="zh-CN" altLang="en-US" sz="2800">
                <a:solidFill>
                  <a:srgbClr val="CCFFCC"/>
                </a:solidFill>
                <a:effectLst>
                  <a:outerShdw blurRad="38100" dist="38100" dir="2700000" algn="tl">
                    <a:srgbClr val="000000"/>
                  </a:outerShdw>
                </a:effectLst>
              </a:rPr>
              <a:t>。</a:t>
            </a:r>
          </a:p>
        </p:txBody>
      </p:sp>
      <p:sp>
        <p:nvSpPr>
          <p:cNvPr id="1509381" name="Text Box 5"/>
          <p:cNvSpPr txBox="1">
            <a:spLocks noChangeArrowheads="1"/>
          </p:cNvSpPr>
          <p:nvPr/>
        </p:nvSpPr>
        <p:spPr bwMode="auto">
          <a:xfrm>
            <a:off x="539750" y="5715000"/>
            <a:ext cx="8424863" cy="1143000"/>
          </a:xfrm>
          <a:prstGeom prst="rect">
            <a:avLst/>
          </a:prstGeom>
          <a:noFill/>
          <a:ln w="12700" cap="sq">
            <a:noFill/>
            <a:miter lim="800000"/>
            <a:headEnd type="none" w="sm" len="sm"/>
            <a:tailEnd type="none" w="sm" len="sm"/>
          </a:ln>
          <a:effectLst/>
        </p:spPr>
        <p:txBody>
          <a:bodyPr/>
          <a:lstStyle/>
          <a:p>
            <a:pPr marL="457200" indent="-457200">
              <a:tabLst>
                <a:tab pos="1071563" algn="l"/>
              </a:tabLst>
              <a:defRPr/>
            </a:pPr>
            <a:r>
              <a:rPr lang="zh-CN" altLang="en-US" sz="2800">
                <a:solidFill>
                  <a:srgbClr val="FFFF00"/>
                </a:solidFill>
                <a:effectLst>
                  <a:outerShdw blurRad="38100" dist="38100" dir="2700000" algn="tl">
                    <a:srgbClr val="000000"/>
                  </a:outerShdw>
                </a:effectLst>
              </a:rPr>
              <a:t>每个函数依赖集必有等价的最小函数依赖集。</a:t>
            </a:r>
            <a:endParaRPr lang="en-US" altLang="zh-CN" sz="2800">
              <a:solidFill>
                <a:srgbClr val="FFFF00"/>
              </a:solidFill>
              <a:effectLst>
                <a:outerShdw blurRad="38100" dist="38100" dir="2700000" algn="tl">
                  <a:srgbClr val="000000"/>
                </a:outerShdw>
              </a:effectLst>
            </a:endParaRP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title"/>
          </p:nvPr>
        </p:nvSpPr>
        <p:spPr>
          <a:xfrm>
            <a:off x="0" y="13855"/>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pPr>
            <a:r>
              <a:rPr kumimoji="1" lang="zh-CN" altLang="en-US" sz="4000" b="1" kern="1200" dirty="0" smtClean="0">
                <a:solidFill>
                  <a:srgbClr val="FFFFCC"/>
                </a:solidFill>
                <a:effectLst>
                  <a:outerShdw blurRad="38100" dist="38100" dir="2700000" algn="tl">
                    <a:srgbClr val="000000"/>
                  </a:outerShdw>
                </a:effectLst>
                <a:latin typeface="微软雅黑" panose="020B0503020204020204" pitchFamily="34" charset="-122"/>
                <a:ea typeface="微软雅黑" pitchFamily="34" charset="-122"/>
              </a:rPr>
              <a:t> 最小</a:t>
            </a:r>
            <a:r>
              <a:rPr kumimoji="1" lang="zh-CN" altLang="en-US" sz="4000" b="1" kern="1200" dirty="0">
                <a:solidFill>
                  <a:srgbClr val="FFFFCC"/>
                </a:solidFill>
                <a:effectLst>
                  <a:outerShdw blurRad="38100" dist="38100" dir="2700000" algn="tl">
                    <a:srgbClr val="000000"/>
                  </a:outerShdw>
                </a:effectLst>
                <a:latin typeface="微软雅黑" panose="020B0503020204020204" pitchFamily="34" charset="-122"/>
                <a:ea typeface="微软雅黑" pitchFamily="34" charset="-122"/>
              </a:rPr>
              <a:t>函数依赖集</a:t>
            </a:r>
            <a:endParaRPr kumimoji="1" lang="en-US" altLang="zh-CN" sz="4000" b="1" kern="1200" dirty="0">
              <a:solidFill>
                <a:srgbClr val="FFFFCC"/>
              </a:solidFill>
              <a:effectLst>
                <a:outerShdw blurRad="38100" dist="38100" dir="2700000" algn="tl">
                  <a:srgbClr val="000000"/>
                </a:outerShdw>
              </a:effectLst>
              <a:latin typeface="微软雅黑" panose="020B0503020204020204" pitchFamily="34" charset="-122"/>
              <a:ea typeface="微软雅黑" pitchFamily="34" charset="-122"/>
            </a:endParaRPr>
          </a:p>
        </p:txBody>
      </p:sp>
      <p:sp>
        <p:nvSpPr>
          <p:cNvPr id="5" name="Text Box 4"/>
          <p:cNvSpPr txBox="1">
            <a:spLocks noChangeArrowheads="1"/>
          </p:cNvSpPr>
          <p:nvPr/>
        </p:nvSpPr>
        <p:spPr bwMode="auto">
          <a:xfrm>
            <a:off x="395536" y="1340768"/>
            <a:ext cx="8424863" cy="1143000"/>
          </a:xfrm>
          <a:prstGeom prst="rect">
            <a:avLst/>
          </a:prstGeom>
          <a:noFill/>
          <a:ln w="12700" cap="sq">
            <a:noFill/>
            <a:miter lim="800000"/>
            <a:headEnd type="none" w="sm" len="sm"/>
            <a:tailEnd type="none" w="sm" len="sm"/>
          </a:ln>
          <a:effectLst/>
        </p:spPr>
        <p:txBody>
          <a:bodyPr/>
          <a:lstStyle/>
          <a:p>
            <a:pPr>
              <a:tabLst>
                <a:tab pos="1071563" algn="l"/>
              </a:tabLst>
              <a:defRPr/>
            </a:pPr>
            <a:r>
              <a:rPr lang="en-US" altLang="zh-CN" sz="2800" dirty="0">
                <a:solidFill>
                  <a:srgbClr val="CCFF33"/>
                </a:solidFill>
                <a:effectLst>
                  <a:outerShdw blurRad="38100" dist="38100" dir="2700000" algn="tl">
                    <a:srgbClr val="000000"/>
                  </a:outerShdw>
                </a:effectLst>
              </a:rPr>
              <a:t>R(U,F)</a:t>
            </a:r>
            <a:r>
              <a:rPr lang="zh-CN" altLang="en-US" sz="2800" dirty="0">
                <a:solidFill>
                  <a:srgbClr val="CCFF33"/>
                </a:solidFill>
                <a:effectLst>
                  <a:outerShdw blurRad="38100" dist="38100" dir="2700000" algn="tl">
                    <a:srgbClr val="000000"/>
                  </a:outerShdw>
                </a:effectLst>
              </a:rPr>
              <a:t>中</a:t>
            </a:r>
            <a:r>
              <a:rPr lang="en-US" altLang="zh-CN" sz="2800" dirty="0">
                <a:solidFill>
                  <a:srgbClr val="CCFF33"/>
                </a:solidFill>
                <a:effectLst>
                  <a:outerShdw blurRad="38100" dist="38100" dir="2700000" algn="tl">
                    <a:srgbClr val="000000"/>
                  </a:outerShdw>
                </a:effectLst>
              </a:rPr>
              <a:t>U={A,B,C},F={A→BC,B→C}</a:t>
            </a:r>
            <a:r>
              <a:rPr lang="zh-CN" altLang="en-US" sz="2800" dirty="0">
                <a:solidFill>
                  <a:srgbClr val="CCFF33"/>
                </a:solidFill>
                <a:effectLst>
                  <a:outerShdw blurRad="38100" dist="38100" dir="2700000" algn="tl">
                    <a:srgbClr val="000000"/>
                  </a:outerShdw>
                </a:effectLst>
              </a:rPr>
              <a:t>。</a:t>
            </a:r>
          </a:p>
          <a:p>
            <a:pPr>
              <a:tabLst>
                <a:tab pos="1071563" algn="l"/>
              </a:tabLst>
              <a:defRPr/>
            </a:pPr>
            <a:r>
              <a:rPr lang="en-US" altLang="zh-CN" sz="2800" dirty="0">
                <a:solidFill>
                  <a:srgbClr val="CCFF33"/>
                </a:solidFill>
                <a:effectLst>
                  <a:outerShdw blurRad="38100" dist="38100" dir="2700000" algn="tl">
                    <a:srgbClr val="000000"/>
                  </a:outerShdw>
                </a:effectLst>
              </a:rPr>
              <a:t>A→BC</a:t>
            </a:r>
            <a:r>
              <a:rPr lang="zh-CN" altLang="en-US" sz="2800" dirty="0">
                <a:solidFill>
                  <a:srgbClr val="CCFF33"/>
                </a:solidFill>
                <a:effectLst>
                  <a:outerShdw blurRad="38100" dist="38100" dir="2700000" algn="tl">
                    <a:srgbClr val="000000"/>
                  </a:outerShdw>
                </a:effectLst>
              </a:rPr>
              <a:t>右端不是单属性，故</a:t>
            </a:r>
            <a:r>
              <a:rPr lang="en-US" altLang="zh-CN" sz="2800" dirty="0">
                <a:solidFill>
                  <a:srgbClr val="CCFF33"/>
                </a:solidFill>
                <a:effectLst>
                  <a:outerShdw blurRad="38100" dist="38100" dir="2700000" algn="tl">
                    <a:srgbClr val="000000"/>
                  </a:outerShdw>
                </a:effectLst>
              </a:rPr>
              <a:t>F</a:t>
            </a:r>
            <a:r>
              <a:rPr lang="zh-CN" altLang="en-US" sz="2800" dirty="0">
                <a:solidFill>
                  <a:srgbClr val="CCFF33"/>
                </a:solidFill>
                <a:effectLst>
                  <a:outerShdw blurRad="38100" dist="38100" dir="2700000" algn="tl">
                    <a:srgbClr val="000000"/>
                  </a:outerShdw>
                </a:effectLst>
              </a:rPr>
              <a:t>不是最小函数依赖集。</a:t>
            </a:r>
          </a:p>
        </p:txBody>
      </p:sp>
      <p:sp>
        <p:nvSpPr>
          <p:cNvPr id="6" name="Text Box 5"/>
          <p:cNvSpPr txBox="1">
            <a:spLocks noChangeArrowheads="1"/>
          </p:cNvSpPr>
          <p:nvPr/>
        </p:nvSpPr>
        <p:spPr bwMode="auto">
          <a:xfrm>
            <a:off x="395536" y="2852068"/>
            <a:ext cx="8424863" cy="1143000"/>
          </a:xfrm>
          <a:prstGeom prst="rect">
            <a:avLst/>
          </a:prstGeom>
          <a:noFill/>
          <a:ln w="12700" cap="sq">
            <a:noFill/>
            <a:miter lim="800000"/>
            <a:headEnd type="none" w="sm" len="sm"/>
            <a:tailEnd type="none" w="sm" len="sm"/>
          </a:ln>
          <a:effectLst/>
        </p:spPr>
        <p:txBody>
          <a:bodyPr/>
          <a:lstStyle/>
          <a:p>
            <a:pPr>
              <a:tabLst>
                <a:tab pos="1071563" algn="l"/>
              </a:tabLst>
              <a:defRPr/>
            </a:pPr>
            <a:r>
              <a:rPr lang="en-US" altLang="zh-CN" sz="2800">
                <a:solidFill>
                  <a:srgbClr val="CCFF33"/>
                </a:solidFill>
                <a:effectLst>
                  <a:outerShdw blurRad="38100" dist="38100" dir="2700000" algn="tl">
                    <a:srgbClr val="000000"/>
                  </a:outerShdw>
                </a:effectLst>
              </a:rPr>
              <a:t>R(U,F)</a:t>
            </a:r>
            <a:r>
              <a:rPr lang="zh-CN" altLang="en-US" sz="2800">
                <a:solidFill>
                  <a:srgbClr val="CCFF33"/>
                </a:solidFill>
                <a:effectLst>
                  <a:outerShdw blurRad="38100" dist="38100" dir="2700000" algn="tl">
                    <a:srgbClr val="000000"/>
                  </a:outerShdw>
                </a:effectLst>
              </a:rPr>
              <a:t>中</a:t>
            </a:r>
            <a:r>
              <a:rPr lang="en-US" altLang="zh-CN" sz="2800">
                <a:solidFill>
                  <a:srgbClr val="CCFF33"/>
                </a:solidFill>
                <a:effectLst>
                  <a:outerShdw blurRad="38100" dist="38100" dir="2700000" algn="tl">
                    <a:srgbClr val="000000"/>
                  </a:outerShdw>
                </a:effectLst>
              </a:rPr>
              <a:t>U={A,B,C},F={A→B,B→C,A→C}</a:t>
            </a:r>
            <a:r>
              <a:rPr lang="zh-CN" altLang="en-US" sz="2800">
                <a:solidFill>
                  <a:srgbClr val="CCFF33"/>
                </a:solidFill>
                <a:effectLst>
                  <a:outerShdw blurRad="38100" dist="38100" dir="2700000" algn="tl">
                    <a:srgbClr val="000000"/>
                  </a:outerShdw>
                </a:effectLst>
              </a:rPr>
              <a:t>。</a:t>
            </a:r>
          </a:p>
          <a:p>
            <a:pPr>
              <a:tabLst>
                <a:tab pos="1071563" algn="l"/>
              </a:tabLst>
              <a:defRPr/>
            </a:pPr>
            <a:r>
              <a:rPr lang="en-US" altLang="zh-CN" sz="2800">
                <a:solidFill>
                  <a:srgbClr val="CCFF33"/>
                </a:solidFill>
                <a:effectLst>
                  <a:outerShdw blurRad="38100" dist="38100" dir="2700000" algn="tl">
                    <a:srgbClr val="000000"/>
                  </a:outerShdw>
                </a:effectLst>
              </a:rPr>
              <a:t>A→C</a:t>
            </a:r>
            <a:r>
              <a:rPr lang="zh-CN" altLang="en-US" sz="2800">
                <a:solidFill>
                  <a:srgbClr val="CCFF33"/>
                </a:solidFill>
                <a:effectLst>
                  <a:outerShdw blurRad="38100" dist="38100" dir="2700000" algn="tl">
                    <a:srgbClr val="000000"/>
                  </a:outerShdw>
                </a:effectLst>
              </a:rPr>
              <a:t>可由</a:t>
            </a:r>
            <a:r>
              <a:rPr lang="en-US" altLang="zh-CN" sz="2800">
                <a:solidFill>
                  <a:srgbClr val="CCFF33"/>
                </a:solidFill>
                <a:effectLst>
                  <a:outerShdw blurRad="38100" dist="38100" dir="2700000" algn="tl">
                    <a:srgbClr val="000000"/>
                  </a:outerShdw>
                </a:effectLst>
              </a:rPr>
              <a:t>A→B</a:t>
            </a:r>
            <a:r>
              <a:rPr lang="zh-CN" altLang="en-US" sz="2800">
                <a:solidFill>
                  <a:srgbClr val="CCFF33"/>
                </a:solidFill>
                <a:effectLst>
                  <a:outerShdw blurRad="38100" dist="38100" dir="2700000" algn="tl">
                    <a:srgbClr val="000000"/>
                  </a:outerShdw>
                </a:effectLst>
              </a:rPr>
              <a:t>和</a:t>
            </a:r>
            <a:r>
              <a:rPr lang="en-US" altLang="zh-CN" sz="2800">
                <a:solidFill>
                  <a:srgbClr val="CCFF33"/>
                </a:solidFill>
                <a:effectLst>
                  <a:outerShdw blurRad="38100" dist="38100" dir="2700000" algn="tl">
                    <a:srgbClr val="000000"/>
                  </a:outerShdw>
                </a:effectLst>
              </a:rPr>
              <a:t>B→C</a:t>
            </a:r>
            <a:r>
              <a:rPr lang="zh-CN" altLang="en-US" sz="2800">
                <a:solidFill>
                  <a:srgbClr val="CCFF33"/>
                </a:solidFill>
                <a:effectLst>
                  <a:outerShdw blurRad="38100" dist="38100" dir="2700000" algn="tl">
                    <a:srgbClr val="000000"/>
                  </a:outerShdw>
                </a:effectLst>
              </a:rPr>
              <a:t>推出</a:t>
            </a:r>
            <a:r>
              <a:rPr lang="zh-CN" altLang="en-US" sz="2800">
                <a:solidFill>
                  <a:srgbClr val="99FF33"/>
                </a:solidFill>
                <a:effectLst>
                  <a:outerShdw blurRad="38100" dist="38100" dir="2700000" algn="tl">
                    <a:srgbClr val="000000"/>
                  </a:outerShdw>
                </a:effectLst>
              </a:rPr>
              <a:t>，</a:t>
            </a:r>
            <a:r>
              <a:rPr lang="zh-CN" altLang="en-US" sz="2800">
                <a:solidFill>
                  <a:srgbClr val="CCFF33"/>
                </a:solidFill>
                <a:effectLst>
                  <a:outerShdw blurRad="38100" dist="38100" dir="2700000" algn="tl">
                    <a:srgbClr val="000000"/>
                  </a:outerShdw>
                </a:effectLst>
              </a:rPr>
              <a:t>是冗余函数依赖，故</a:t>
            </a:r>
            <a:r>
              <a:rPr lang="en-US" altLang="zh-CN" sz="2800">
                <a:solidFill>
                  <a:srgbClr val="CCFF33"/>
                </a:solidFill>
                <a:effectLst>
                  <a:outerShdw blurRad="38100" dist="38100" dir="2700000" algn="tl">
                    <a:srgbClr val="000000"/>
                  </a:outerShdw>
                </a:effectLst>
              </a:rPr>
              <a:t>F</a:t>
            </a:r>
            <a:r>
              <a:rPr lang="zh-CN" altLang="en-US" sz="2800">
                <a:solidFill>
                  <a:srgbClr val="CCFF33"/>
                </a:solidFill>
                <a:effectLst>
                  <a:outerShdw blurRad="38100" dist="38100" dir="2700000" algn="tl">
                    <a:srgbClr val="000000"/>
                  </a:outerShdw>
                </a:effectLst>
              </a:rPr>
              <a:t>不是其最小函数依赖集。</a:t>
            </a:r>
          </a:p>
        </p:txBody>
      </p:sp>
      <p:sp>
        <p:nvSpPr>
          <p:cNvPr id="7" name="Text Box 6"/>
          <p:cNvSpPr txBox="1">
            <a:spLocks noChangeArrowheads="1"/>
          </p:cNvSpPr>
          <p:nvPr/>
        </p:nvSpPr>
        <p:spPr bwMode="auto">
          <a:xfrm>
            <a:off x="395536" y="4869781"/>
            <a:ext cx="8424863" cy="1143000"/>
          </a:xfrm>
          <a:prstGeom prst="rect">
            <a:avLst/>
          </a:prstGeom>
          <a:noFill/>
          <a:ln w="12700" cap="sq">
            <a:noFill/>
            <a:miter lim="800000"/>
            <a:headEnd type="none" w="sm" len="sm"/>
            <a:tailEnd type="none" w="sm" len="sm"/>
          </a:ln>
          <a:effectLst/>
        </p:spPr>
        <p:txBody>
          <a:bodyPr/>
          <a:lstStyle/>
          <a:p>
            <a:pPr>
              <a:tabLst>
                <a:tab pos="1071563" algn="l"/>
              </a:tabLst>
              <a:defRPr/>
            </a:pPr>
            <a:r>
              <a:rPr lang="en-US" altLang="zh-CN" sz="2800">
                <a:solidFill>
                  <a:srgbClr val="CCFF33"/>
                </a:solidFill>
                <a:effectLst>
                  <a:outerShdw blurRad="38100" dist="38100" dir="2700000" algn="tl">
                    <a:srgbClr val="000000"/>
                  </a:outerShdw>
                </a:effectLst>
              </a:rPr>
              <a:t>R(U,F)</a:t>
            </a:r>
            <a:r>
              <a:rPr lang="zh-CN" altLang="en-US" sz="2800">
                <a:solidFill>
                  <a:srgbClr val="CCFF33"/>
                </a:solidFill>
                <a:effectLst>
                  <a:outerShdw blurRad="38100" dist="38100" dir="2700000" algn="tl">
                    <a:srgbClr val="000000"/>
                  </a:outerShdw>
                </a:effectLst>
              </a:rPr>
              <a:t>中</a:t>
            </a:r>
            <a:r>
              <a:rPr lang="en-US" altLang="zh-CN" sz="2800">
                <a:solidFill>
                  <a:srgbClr val="CCFF33"/>
                </a:solidFill>
                <a:effectLst>
                  <a:outerShdw blurRad="38100" dist="38100" dir="2700000" algn="tl">
                    <a:srgbClr val="000000"/>
                  </a:outerShdw>
                </a:effectLst>
              </a:rPr>
              <a:t>U={A,B,C},F={AB→C,B→A}</a:t>
            </a:r>
            <a:r>
              <a:rPr lang="zh-CN" altLang="en-US" sz="2800">
                <a:solidFill>
                  <a:srgbClr val="CCFF33"/>
                </a:solidFill>
                <a:effectLst>
                  <a:outerShdw blurRad="38100" dist="38100" dir="2700000" algn="tl">
                    <a:srgbClr val="000000"/>
                  </a:outerShdw>
                </a:effectLst>
              </a:rPr>
              <a:t>。</a:t>
            </a:r>
          </a:p>
          <a:p>
            <a:pPr>
              <a:tabLst>
                <a:tab pos="1071563" algn="l"/>
              </a:tabLst>
              <a:defRPr/>
            </a:pPr>
            <a:r>
              <a:rPr lang="en-US" altLang="zh-CN" sz="2800">
                <a:solidFill>
                  <a:srgbClr val="CCFF33"/>
                </a:solidFill>
                <a:effectLst>
                  <a:outerShdw blurRad="38100" dist="38100" dir="2700000" algn="tl">
                    <a:srgbClr val="000000"/>
                  </a:outerShdw>
                </a:effectLst>
              </a:rPr>
              <a:t>AB→C</a:t>
            </a:r>
            <a:r>
              <a:rPr lang="zh-CN" altLang="en-US" sz="2800">
                <a:solidFill>
                  <a:srgbClr val="CCFF33"/>
                </a:solidFill>
                <a:effectLst>
                  <a:outerShdw blurRad="38100" dist="38100" dir="2700000" algn="tl">
                    <a:srgbClr val="000000"/>
                  </a:outerShdw>
                </a:effectLst>
              </a:rPr>
              <a:t>中的</a:t>
            </a:r>
            <a:r>
              <a:rPr lang="en-US" altLang="zh-CN" sz="2800">
                <a:solidFill>
                  <a:srgbClr val="CCFF33"/>
                </a:solidFill>
                <a:effectLst>
                  <a:outerShdw blurRad="38100" dist="38100" dir="2700000" algn="tl">
                    <a:srgbClr val="000000"/>
                  </a:outerShdw>
                </a:effectLst>
              </a:rPr>
              <a:t>A</a:t>
            </a:r>
            <a:r>
              <a:rPr lang="zh-CN" altLang="en-US" sz="2800">
                <a:solidFill>
                  <a:srgbClr val="CCFF33"/>
                </a:solidFill>
                <a:effectLst>
                  <a:outerShdw blurRad="38100" dist="38100" dir="2700000" algn="tl">
                    <a:srgbClr val="000000"/>
                  </a:outerShdw>
                </a:effectLst>
              </a:rPr>
              <a:t>是冗余属性</a:t>
            </a:r>
            <a:r>
              <a:rPr lang="zh-CN" altLang="en-US" sz="2600">
                <a:solidFill>
                  <a:srgbClr val="99FF33"/>
                </a:solidFill>
                <a:effectLst>
                  <a:outerShdw blurRad="38100" dist="38100" dir="2700000" algn="tl">
                    <a:srgbClr val="000000"/>
                  </a:outerShdw>
                </a:effectLst>
              </a:rPr>
              <a:t>，</a:t>
            </a:r>
            <a:r>
              <a:rPr lang="zh-CN" altLang="en-US" sz="2800">
                <a:solidFill>
                  <a:srgbClr val="CCFF33"/>
                </a:solidFill>
                <a:effectLst>
                  <a:outerShdw blurRad="38100" dist="38100" dir="2700000" algn="tl">
                    <a:srgbClr val="000000"/>
                  </a:outerShdw>
                </a:effectLst>
              </a:rPr>
              <a:t>故</a:t>
            </a:r>
            <a:r>
              <a:rPr lang="en-US" altLang="zh-CN" sz="2800">
                <a:solidFill>
                  <a:srgbClr val="CCFF33"/>
                </a:solidFill>
                <a:effectLst>
                  <a:outerShdw blurRad="38100" dist="38100" dir="2700000" algn="tl">
                    <a:srgbClr val="000000"/>
                  </a:outerShdw>
                </a:effectLst>
              </a:rPr>
              <a:t>F</a:t>
            </a:r>
            <a:r>
              <a:rPr lang="zh-CN" altLang="en-US" sz="2800">
                <a:solidFill>
                  <a:srgbClr val="CCFF33"/>
                </a:solidFill>
                <a:effectLst>
                  <a:outerShdw blurRad="38100" dist="38100" dir="2700000" algn="tl">
                    <a:srgbClr val="000000"/>
                  </a:outerShdw>
                </a:effectLst>
              </a:rPr>
              <a:t>不是最小函数依赖集。</a:t>
            </a:r>
          </a:p>
        </p:txBody>
      </p:sp>
    </p:spTree>
    <p:extLst>
      <p:ext uri="{BB962C8B-B14F-4D97-AF65-F5344CB8AC3E}">
        <p14:creationId xmlns:p14="http://schemas.microsoft.com/office/powerpoint/2010/main" val="3477607027"/>
      </p:ext>
    </p:extLst>
  </p:cSld>
  <p:clrMapOvr>
    <a:masterClrMapping/>
  </p:clrMapOvr>
  <p:transition spd="med">
    <p:random/>
    <p:sndAc>
      <p:stSnd>
        <p:snd r:embed="rId2" name="camera.wav"/>
      </p:stSnd>
    </p:sndAc>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title"/>
          </p:nvPr>
        </p:nvSpPr>
        <p:spPr>
          <a:xfrm>
            <a:off x="0" y="13855"/>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pPr>
            <a:r>
              <a:rPr kumimoji="1" lang="zh-CN" altLang="en-US" sz="4000" b="1" kern="1200" dirty="0" smtClean="0">
                <a:solidFill>
                  <a:srgbClr val="FFFFCC"/>
                </a:solidFill>
                <a:effectLst>
                  <a:outerShdw blurRad="38100" dist="38100" dir="2700000" algn="tl">
                    <a:srgbClr val="000000"/>
                  </a:outerShdw>
                </a:effectLst>
                <a:latin typeface="微软雅黑" panose="020B0503020204020204" pitchFamily="34" charset="-122"/>
                <a:ea typeface="微软雅黑" pitchFamily="34" charset="-122"/>
              </a:rPr>
              <a:t> 最小</a:t>
            </a:r>
            <a:r>
              <a:rPr kumimoji="1" lang="zh-CN" altLang="en-US" sz="4000" b="1" kern="1200" dirty="0">
                <a:solidFill>
                  <a:srgbClr val="FFFFCC"/>
                </a:solidFill>
                <a:effectLst>
                  <a:outerShdw blurRad="38100" dist="38100" dir="2700000" algn="tl">
                    <a:srgbClr val="000000"/>
                  </a:outerShdw>
                </a:effectLst>
                <a:latin typeface="微软雅黑" panose="020B0503020204020204" pitchFamily="34" charset="-122"/>
                <a:ea typeface="微软雅黑" pitchFamily="34" charset="-122"/>
              </a:rPr>
              <a:t>函数依赖集</a:t>
            </a:r>
            <a:endParaRPr kumimoji="1" lang="en-US" altLang="zh-CN" sz="4000" b="1" kern="1200" dirty="0">
              <a:solidFill>
                <a:srgbClr val="FFFFCC"/>
              </a:solidFill>
              <a:effectLst>
                <a:outerShdw blurRad="38100" dist="38100" dir="2700000" algn="tl">
                  <a:srgbClr val="000000"/>
                </a:outerShdw>
              </a:effectLst>
              <a:latin typeface="微软雅黑" panose="020B0503020204020204" pitchFamily="34" charset="-122"/>
              <a:ea typeface="微软雅黑" pitchFamily="34" charset="-122"/>
            </a:endParaRPr>
          </a:p>
        </p:txBody>
      </p:sp>
      <p:sp>
        <p:nvSpPr>
          <p:cNvPr id="8" name="Text Box 4"/>
          <p:cNvSpPr txBox="1">
            <a:spLocks noChangeArrowheads="1"/>
          </p:cNvSpPr>
          <p:nvPr/>
        </p:nvSpPr>
        <p:spPr bwMode="auto">
          <a:xfrm>
            <a:off x="250825" y="1124744"/>
            <a:ext cx="8642350" cy="1143000"/>
          </a:xfrm>
          <a:prstGeom prst="rect">
            <a:avLst/>
          </a:prstGeom>
          <a:noFill/>
          <a:ln w="12700" cap="sq">
            <a:noFill/>
            <a:miter lim="800000"/>
            <a:headEnd type="none" w="sm" len="sm"/>
            <a:tailEnd type="none" w="sm" len="sm"/>
          </a:ln>
          <a:effectLst/>
        </p:spPr>
        <p:txBody>
          <a:bodyPr/>
          <a:lstStyle/>
          <a:p>
            <a:pPr>
              <a:tabLst>
                <a:tab pos="1071563" algn="l"/>
              </a:tabLst>
              <a:defRPr/>
            </a:pPr>
            <a:r>
              <a:rPr lang="en-US" altLang="en-US" sz="2400" dirty="0" err="1">
                <a:solidFill>
                  <a:srgbClr val="CCFF33"/>
                </a:solidFill>
                <a:effectLst>
                  <a:outerShdw blurRad="38100" dist="38100" dir="2700000" algn="tl">
                    <a:srgbClr val="000000"/>
                  </a:outerShdw>
                </a:effectLst>
              </a:rPr>
              <a:t>已知关系模式R中</a:t>
            </a:r>
            <a:r>
              <a:rPr lang="en-US" altLang="zh-CN" sz="2400" dirty="0" err="1">
                <a:solidFill>
                  <a:srgbClr val="CCFF33"/>
                </a:solidFill>
                <a:effectLst>
                  <a:outerShdw blurRad="38100" dist="38100" dir="2700000" algn="tl">
                    <a:srgbClr val="000000"/>
                  </a:outerShdw>
                </a:effectLst>
              </a:rPr>
              <a:t>，U</a:t>
            </a:r>
            <a:r>
              <a:rPr lang="en-US" altLang="en-US" sz="2400" dirty="0">
                <a:solidFill>
                  <a:srgbClr val="CCFF33"/>
                </a:solidFill>
                <a:effectLst>
                  <a:outerShdw blurRad="38100" dist="38100" dir="2700000" algn="tl">
                    <a:srgbClr val="000000"/>
                  </a:outerShdw>
                </a:effectLst>
              </a:rPr>
              <a:t>={A,B,C,D,E,G},F={AB→C,C→A, BC→D, ACD→B, D→EG, BE→C, CG→BD, CE→AG},</a:t>
            </a:r>
            <a:br>
              <a:rPr lang="en-US" altLang="en-US" sz="2400" dirty="0">
                <a:solidFill>
                  <a:srgbClr val="CCFF33"/>
                </a:solidFill>
                <a:effectLst>
                  <a:outerShdw blurRad="38100" dist="38100" dir="2700000" algn="tl">
                    <a:srgbClr val="000000"/>
                  </a:outerShdw>
                </a:effectLst>
              </a:rPr>
            </a:br>
            <a:r>
              <a:rPr lang="en-US" altLang="en-US" sz="2400" dirty="0" err="1">
                <a:solidFill>
                  <a:srgbClr val="CCFF33"/>
                </a:solidFill>
                <a:effectLst>
                  <a:outerShdw blurRad="38100" dist="38100" dir="2700000" algn="tl">
                    <a:srgbClr val="000000"/>
                  </a:outerShdw>
                </a:effectLst>
              </a:rPr>
              <a:t>求F的最小函数依赖集</a:t>
            </a:r>
            <a:r>
              <a:rPr lang="en-US" altLang="zh-CN" sz="2400" dirty="0">
                <a:solidFill>
                  <a:srgbClr val="CCFF33"/>
                </a:solidFill>
                <a:effectLst>
                  <a:outerShdw blurRad="38100" dist="38100" dir="2700000" algn="tl">
                    <a:srgbClr val="000000"/>
                  </a:outerShdw>
                </a:effectLst>
              </a:rPr>
              <a:t>。</a:t>
            </a:r>
            <a:endParaRPr lang="zh-CN" altLang="en-US" sz="2400" dirty="0">
              <a:solidFill>
                <a:srgbClr val="CCFF33"/>
              </a:solidFill>
              <a:effectLst>
                <a:outerShdw blurRad="38100" dist="38100" dir="2700000" algn="tl">
                  <a:srgbClr val="000000"/>
                </a:outerShdw>
              </a:effectLst>
            </a:endParaRPr>
          </a:p>
        </p:txBody>
      </p:sp>
      <p:sp>
        <p:nvSpPr>
          <p:cNvPr id="9" name="Text Box 5"/>
          <p:cNvSpPr txBox="1">
            <a:spLocks noChangeArrowheads="1"/>
          </p:cNvSpPr>
          <p:nvPr/>
        </p:nvSpPr>
        <p:spPr bwMode="auto">
          <a:xfrm>
            <a:off x="250825" y="2852738"/>
            <a:ext cx="8642350" cy="1143000"/>
          </a:xfrm>
          <a:prstGeom prst="rect">
            <a:avLst/>
          </a:prstGeom>
          <a:noFill/>
          <a:ln w="12700" cap="sq">
            <a:noFill/>
            <a:miter lim="800000"/>
            <a:headEnd type="none" w="sm" len="sm"/>
            <a:tailEnd type="none" w="sm" len="sm"/>
          </a:ln>
          <a:effectLst/>
        </p:spPr>
        <p:txBody>
          <a:bodyPr/>
          <a:lstStyle/>
          <a:p>
            <a:pPr>
              <a:tabLst>
                <a:tab pos="627063" algn="l"/>
              </a:tabLst>
              <a:defRPr/>
            </a:pPr>
            <a:r>
              <a:rPr lang="en-US" altLang="zh-CN" sz="2400" dirty="0">
                <a:solidFill>
                  <a:srgbClr val="99FF33"/>
                </a:solidFill>
                <a:effectLst>
                  <a:outerShdw blurRad="38100" dist="38100" dir="2700000" algn="tl">
                    <a:srgbClr val="000000"/>
                  </a:outerShdw>
                </a:effectLst>
              </a:rPr>
              <a:t>1)</a:t>
            </a:r>
            <a:r>
              <a:rPr lang="zh-CN" altLang="en-US" sz="2400" dirty="0">
                <a:solidFill>
                  <a:srgbClr val="99FF33"/>
                </a:solidFill>
                <a:effectLst>
                  <a:outerShdw blurRad="38100" dist="38100" dir="2700000" algn="tl">
                    <a:srgbClr val="000000"/>
                  </a:outerShdw>
                </a:effectLst>
              </a:rPr>
              <a:t>将所有函数依赖右端分解成单属性。</a:t>
            </a:r>
          </a:p>
          <a:p>
            <a:pPr>
              <a:tabLst>
                <a:tab pos="627063" algn="l"/>
              </a:tabLst>
              <a:defRPr/>
            </a:pPr>
            <a:r>
              <a:rPr lang="zh-CN" altLang="en-US" sz="2400" dirty="0">
                <a:solidFill>
                  <a:srgbClr val="CCFF33"/>
                </a:solidFill>
                <a:effectLst>
                  <a:outerShdw blurRad="38100" dist="38100" dir="2700000" algn="tl">
                    <a:srgbClr val="000000"/>
                  </a:outerShdw>
                </a:effectLst>
              </a:rPr>
              <a:t> </a:t>
            </a:r>
            <a:r>
              <a:rPr lang="en-US" altLang="zh-CN" sz="2400" dirty="0">
                <a:solidFill>
                  <a:srgbClr val="CCFF33"/>
                </a:solidFill>
                <a:effectLst>
                  <a:outerShdw blurRad="38100" dist="38100" dir="2700000" algn="tl">
                    <a:srgbClr val="000000"/>
                  </a:outerShdw>
                </a:effectLst>
              </a:rPr>
              <a:t>F={AB→C, C→A, BC→D, ACD→B, D→E, D→G,BE→C,CG→B,</a:t>
            </a:r>
            <a:r>
              <a:rPr lang="zh-CN" altLang="en-US" sz="2400" dirty="0">
                <a:solidFill>
                  <a:srgbClr val="CCFF33"/>
                </a:solidFill>
                <a:effectLst>
                  <a:outerShdw blurRad="38100" dist="38100" dir="2700000" algn="tl">
                    <a:srgbClr val="000000"/>
                  </a:outerShdw>
                </a:effectLst>
              </a:rPr>
              <a:t>　　　　	</a:t>
            </a:r>
            <a:r>
              <a:rPr lang="en-US" altLang="zh-CN" sz="2400" dirty="0">
                <a:solidFill>
                  <a:srgbClr val="CCFF33"/>
                </a:solidFill>
                <a:effectLst>
                  <a:outerShdw blurRad="38100" dist="38100" dir="2700000" algn="tl">
                    <a:srgbClr val="000000"/>
                  </a:outerShdw>
                </a:effectLst>
              </a:rPr>
              <a:t>CG→D, CE→A</a:t>
            </a:r>
            <a:r>
              <a:rPr lang="zh-CN" altLang="en-US" sz="2400" dirty="0">
                <a:solidFill>
                  <a:srgbClr val="CCFF33"/>
                </a:solidFill>
                <a:effectLst>
                  <a:outerShdw blurRad="38100" dist="38100" dir="2700000" algn="tl">
                    <a:srgbClr val="000000"/>
                  </a:outerShdw>
                </a:effectLst>
              </a:rPr>
              <a:t>，</a:t>
            </a:r>
            <a:r>
              <a:rPr lang="en-US" altLang="zh-CN" sz="2400" dirty="0">
                <a:solidFill>
                  <a:srgbClr val="CCFF33"/>
                </a:solidFill>
                <a:effectLst>
                  <a:outerShdw blurRad="38100" dist="38100" dir="2700000" algn="tl">
                    <a:srgbClr val="000000"/>
                  </a:outerShdw>
                </a:effectLst>
              </a:rPr>
              <a:t>CE→G}</a:t>
            </a:r>
          </a:p>
          <a:p>
            <a:pPr>
              <a:tabLst>
                <a:tab pos="627063" algn="l"/>
              </a:tabLst>
              <a:defRPr/>
            </a:pPr>
            <a:r>
              <a:rPr lang="en-US" altLang="zh-CN" sz="2400" dirty="0">
                <a:solidFill>
                  <a:srgbClr val="99FF33"/>
                </a:solidFill>
                <a:effectLst>
                  <a:outerShdw blurRad="38100" dist="38100" dir="2700000" algn="tl">
                    <a:srgbClr val="000000"/>
                  </a:outerShdw>
                </a:effectLst>
              </a:rPr>
              <a:t>2)</a:t>
            </a:r>
            <a:r>
              <a:rPr lang="zh-CN" altLang="en-US" sz="2400" dirty="0">
                <a:solidFill>
                  <a:srgbClr val="99FF33"/>
                </a:solidFill>
                <a:effectLst>
                  <a:outerShdw blurRad="38100" dist="38100" dir="2700000" algn="tl">
                    <a:srgbClr val="000000"/>
                  </a:outerShdw>
                </a:effectLst>
              </a:rPr>
              <a:t>消去冗余函数依赖。</a:t>
            </a:r>
          </a:p>
          <a:p>
            <a:pPr>
              <a:tabLst>
                <a:tab pos="627063" algn="l"/>
              </a:tabLst>
              <a:defRPr/>
            </a:pPr>
            <a:r>
              <a:rPr lang="en-US" altLang="zh-CN" sz="2400" dirty="0">
                <a:solidFill>
                  <a:srgbClr val="CCFF33"/>
                </a:solidFill>
                <a:effectLst>
                  <a:outerShdw blurRad="38100" dist="38100" dir="2700000" algn="tl">
                    <a:srgbClr val="000000"/>
                  </a:outerShdw>
                </a:effectLst>
              </a:rPr>
              <a:t> F={AB→C, C→A, BC→D, D→E, D→G, BE→C, CG→B, CE→G}</a:t>
            </a:r>
          </a:p>
          <a:p>
            <a:pPr>
              <a:tabLst>
                <a:tab pos="627063" algn="l"/>
              </a:tabLst>
              <a:defRPr/>
            </a:pPr>
            <a:r>
              <a:rPr lang="en-US" altLang="zh-CN" sz="2400" dirty="0">
                <a:solidFill>
                  <a:srgbClr val="99FF33"/>
                </a:solidFill>
                <a:effectLst>
                  <a:outerShdw blurRad="38100" dist="38100" dir="2700000" algn="tl">
                    <a:srgbClr val="000000"/>
                  </a:outerShdw>
                </a:effectLst>
              </a:rPr>
              <a:t>3)</a:t>
            </a:r>
            <a:r>
              <a:rPr lang="zh-CN" altLang="en-US" sz="2400" dirty="0">
                <a:solidFill>
                  <a:srgbClr val="99FF33"/>
                </a:solidFill>
                <a:effectLst>
                  <a:outerShdw blurRad="38100" dist="38100" dir="2700000" algn="tl">
                    <a:srgbClr val="000000"/>
                  </a:outerShdw>
                </a:effectLst>
              </a:rPr>
              <a:t>消去冗余属性。</a:t>
            </a:r>
          </a:p>
          <a:p>
            <a:pPr>
              <a:tabLst>
                <a:tab pos="627063" algn="l"/>
              </a:tabLst>
              <a:defRPr/>
            </a:pPr>
            <a:r>
              <a:rPr lang="en-US" altLang="zh-CN" sz="2400" dirty="0">
                <a:solidFill>
                  <a:srgbClr val="CCFF33"/>
                </a:solidFill>
                <a:effectLst>
                  <a:outerShdw blurRad="38100" dist="38100" dir="2700000" algn="tl">
                    <a:srgbClr val="000000"/>
                  </a:outerShdw>
                </a:effectLst>
              </a:rPr>
              <a:t> F={AB→C, C→A, BC→D, D→E, D→G, BE→C, CG→B, CE→G}</a:t>
            </a:r>
            <a:endParaRPr lang="zh-CN" altLang="en-US" sz="2400" dirty="0">
              <a:solidFill>
                <a:srgbClr val="CCFF33"/>
              </a:solidFill>
              <a:effectLst>
                <a:outerShdw blurRad="38100" dist="38100" dir="2700000" algn="tl">
                  <a:srgbClr val="000000"/>
                </a:outerShdw>
              </a:effectLst>
            </a:endParaRPr>
          </a:p>
        </p:txBody>
      </p:sp>
    </p:spTree>
    <p:extLst>
      <p:ext uri="{BB962C8B-B14F-4D97-AF65-F5344CB8AC3E}">
        <p14:creationId xmlns:p14="http://schemas.microsoft.com/office/powerpoint/2010/main" val="1634128273"/>
      </p:ext>
    </p:extLst>
  </p:cSld>
  <p:clrMapOvr>
    <a:masterClrMapping/>
  </p:clrMapOvr>
  <p:transition spd="med">
    <p:random/>
    <p:sndAc>
      <p:stSnd>
        <p:snd r:embed="rId2" name="camera.wav"/>
      </p:stSnd>
    </p:sndAc>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title"/>
          </p:nvPr>
        </p:nvSpPr>
        <p:spPr>
          <a:xfrm>
            <a:off x="35496" y="-20116"/>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pPr>
            <a:r>
              <a:rPr lang="zh-CN" altLang="en-US" sz="4000" b="1" dirty="0">
                <a:solidFill>
                  <a:srgbClr val="FFFFCC"/>
                </a:solidFill>
                <a:effectLst>
                  <a:outerShdw blurRad="38100" dist="38100" dir="2700000" algn="tl">
                    <a:srgbClr val="000000"/>
                  </a:outerShdw>
                </a:effectLst>
                <a:latin typeface="Arial" pitchFamily="34" charset="0"/>
                <a:ea typeface="微软雅黑" pitchFamily="34" charset="-122"/>
              </a:rPr>
              <a:t>候选键</a:t>
            </a:r>
            <a:r>
              <a:rPr kumimoji="1" lang="zh-CN" altLang="en-US" sz="4000" b="1" kern="1200" dirty="0" smtClean="0">
                <a:solidFill>
                  <a:srgbClr val="FFFFCC"/>
                </a:solidFill>
                <a:effectLst>
                  <a:outerShdw blurRad="38100" dist="38100" dir="2700000" algn="tl">
                    <a:srgbClr val="000000"/>
                  </a:outerShdw>
                </a:effectLst>
                <a:latin typeface="Arial" pitchFamily="34" charset="0"/>
                <a:ea typeface="微软雅黑" pitchFamily="34" charset="-122"/>
              </a:rPr>
              <a:t>的</a:t>
            </a:r>
            <a:r>
              <a:rPr kumimoji="1" lang="zh-CN" altLang="en-US" sz="4000" b="1" kern="1200" dirty="0">
                <a:solidFill>
                  <a:srgbClr val="FFFFCC"/>
                </a:solidFill>
                <a:effectLst>
                  <a:outerShdw blurRad="38100" dist="38100" dir="2700000" algn="tl">
                    <a:srgbClr val="000000"/>
                  </a:outerShdw>
                </a:effectLst>
                <a:latin typeface="Arial" pitchFamily="34" charset="0"/>
                <a:ea typeface="微软雅黑" pitchFamily="34" charset="-122"/>
              </a:rPr>
              <a:t>形式化定义</a:t>
            </a:r>
            <a:endParaRPr kumimoji="1" lang="en-US" altLang="zh-CN" sz="4000" b="1" kern="1200" dirty="0">
              <a:solidFill>
                <a:srgbClr val="FFFFCC"/>
              </a:solidFill>
              <a:effectLst>
                <a:outerShdw blurRad="38100" dist="38100" dir="2700000" algn="tl">
                  <a:srgbClr val="000000"/>
                </a:outerShdw>
              </a:effectLst>
              <a:latin typeface="Arial" pitchFamily="34" charset="0"/>
              <a:ea typeface="微软雅黑" pitchFamily="34" charset="-122"/>
            </a:endParaRPr>
          </a:p>
        </p:txBody>
      </p:sp>
      <p:sp>
        <p:nvSpPr>
          <p:cNvPr id="1487876" name="Text Box 4"/>
          <p:cNvSpPr txBox="1">
            <a:spLocks noChangeArrowheads="1"/>
          </p:cNvSpPr>
          <p:nvPr/>
        </p:nvSpPr>
        <p:spPr bwMode="auto">
          <a:xfrm>
            <a:off x="288230" y="897835"/>
            <a:ext cx="8604250" cy="1143000"/>
          </a:xfrm>
          <a:prstGeom prst="rect">
            <a:avLst/>
          </a:prstGeom>
          <a:noFill/>
          <a:ln w="12700" cap="sq">
            <a:noFill/>
            <a:miter lim="800000"/>
            <a:headEnd type="none" w="sm" len="sm"/>
            <a:tailEnd type="none" w="sm" len="sm"/>
          </a:ln>
          <a:effectLst/>
        </p:spPr>
        <p:txBody>
          <a:bodyPr/>
          <a:lstStyle/>
          <a:p>
            <a:pPr>
              <a:spcBef>
                <a:spcPts val="0"/>
              </a:spcBef>
              <a:spcAft>
                <a:spcPts val="1800"/>
              </a:spcAft>
              <a:tabLst>
                <a:tab pos="428625" algn="l"/>
                <a:tab pos="1905000" algn="l"/>
              </a:tabLst>
              <a:defRPr/>
            </a:pPr>
            <a:r>
              <a:rPr lang="zh-CN" altLang="en-US" sz="2800" dirty="0">
                <a:solidFill>
                  <a:srgbClr val="CCFFCC"/>
                </a:solidFill>
                <a:effectLst>
                  <a:outerShdw blurRad="38100" dist="38100" dir="2700000" algn="tl">
                    <a:srgbClr val="000000"/>
                  </a:outerShdw>
                </a:effectLst>
              </a:rPr>
              <a:t>关系模式</a:t>
            </a:r>
            <a:r>
              <a:rPr lang="en-US" altLang="zh-CN" sz="2800" dirty="0">
                <a:solidFill>
                  <a:srgbClr val="CCFFCC"/>
                </a:solidFill>
                <a:effectLst>
                  <a:outerShdw blurRad="38100" dist="38100" dir="2700000" algn="tl">
                    <a:srgbClr val="000000"/>
                  </a:outerShdw>
                </a:effectLst>
              </a:rPr>
              <a:t>R(U)</a:t>
            </a:r>
            <a:r>
              <a:rPr lang="zh-CN" altLang="en-US" sz="2800" dirty="0">
                <a:solidFill>
                  <a:srgbClr val="CCFFCC"/>
                </a:solidFill>
                <a:effectLst>
                  <a:outerShdw blurRad="38100" dist="38100" dir="2700000" algn="tl">
                    <a:srgbClr val="000000"/>
                  </a:outerShdw>
                </a:effectLst>
              </a:rPr>
              <a:t>中</a:t>
            </a:r>
            <a:r>
              <a:rPr lang="zh-CN" altLang="en-US" sz="2800" dirty="0" smtClean="0">
                <a:solidFill>
                  <a:srgbClr val="CCFFCC"/>
                </a:solidFill>
                <a:effectLst>
                  <a:outerShdw blurRad="38100" dist="38100" dir="2700000" algn="tl">
                    <a:srgbClr val="000000"/>
                  </a:outerShdw>
                </a:effectLst>
              </a:rPr>
              <a:t>，若</a:t>
            </a:r>
            <a:r>
              <a:rPr lang="en-US" altLang="zh-CN" sz="2800" dirty="0" smtClean="0">
                <a:solidFill>
                  <a:srgbClr val="CCFFCC"/>
                </a:solidFill>
                <a:effectLst>
                  <a:outerShdw blurRad="38100" dist="38100" dir="2700000" algn="tl">
                    <a:srgbClr val="000000"/>
                  </a:outerShdw>
                </a:effectLst>
              </a:rPr>
              <a:t>K  </a:t>
            </a:r>
            <a:r>
              <a:rPr lang="en-US" altLang="zh-CN" sz="2800" dirty="0">
                <a:solidFill>
                  <a:srgbClr val="CCFFCC"/>
                </a:solidFill>
                <a:effectLst>
                  <a:outerShdw blurRad="38100" dist="38100" dir="2700000" algn="tl">
                    <a:srgbClr val="000000"/>
                  </a:outerShdw>
                </a:effectLst>
              </a:rPr>
              <a:t>U</a:t>
            </a:r>
            <a:r>
              <a:rPr lang="zh-CN" altLang="en-US" sz="2800" dirty="0">
                <a:solidFill>
                  <a:srgbClr val="CCFFCC"/>
                </a:solidFill>
                <a:effectLst>
                  <a:outerShdw blurRad="38100" dist="38100" dir="2700000" algn="tl">
                    <a:srgbClr val="000000"/>
                  </a:outerShdw>
                </a:effectLst>
              </a:rPr>
              <a:t>且</a:t>
            </a:r>
            <a:r>
              <a:rPr lang="en-US" altLang="zh-CN" sz="2800" dirty="0">
                <a:solidFill>
                  <a:srgbClr val="CCFFCC"/>
                </a:solidFill>
                <a:effectLst>
                  <a:outerShdw blurRad="38100" dist="38100" dir="2700000" algn="tl">
                    <a:srgbClr val="000000"/>
                  </a:outerShdw>
                </a:effectLst>
              </a:rPr>
              <a:t>K　 U</a:t>
            </a:r>
            <a:r>
              <a:rPr lang="zh-CN" altLang="en-US" sz="2800" dirty="0">
                <a:solidFill>
                  <a:srgbClr val="CCFFCC"/>
                </a:solidFill>
                <a:effectLst>
                  <a:outerShdw blurRad="38100" dist="38100" dir="2700000" algn="tl">
                    <a:srgbClr val="000000"/>
                  </a:outerShdw>
                </a:effectLst>
              </a:rPr>
              <a:t>成立，则称</a:t>
            </a:r>
            <a:r>
              <a:rPr lang="en-US" altLang="zh-CN" sz="2800" dirty="0">
                <a:solidFill>
                  <a:srgbClr val="CCFFCC"/>
                </a:solidFill>
                <a:effectLst>
                  <a:outerShdw blurRad="38100" dist="38100" dir="2700000" algn="tl">
                    <a:srgbClr val="000000"/>
                  </a:outerShdw>
                </a:effectLst>
              </a:rPr>
              <a:t>K</a:t>
            </a:r>
            <a:r>
              <a:rPr lang="zh-CN" altLang="en-US" sz="2800" dirty="0">
                <a:solidFill>
                  <a:srgbClr val="CCFFCC"/>
                </a:solidFill>
                <a:effectLst>
                  <a:outerShdw blurRad="38100" dist="38100" dir="2700000" algn="tl">
                    <a:srgbClr val="000000"/>
                  </a:outerShdw>
                </a:effectLst>
              </a:rPr>
              <a:t>为</a:t>
            </a:r>
            <a:r>
              <a:rPr lang="en-US" altLang="zh-CN" sz="2800" dirty="0">
                <a:solidFill>
                  <a:srgbClr val="CCFFCC"/>
                </a:solidFill>
                <a:effectLst>
                  <a:outerShdw blurRad="38100" dist="38100" dir="2700000" algn="tl">
                    <a:srgbClr val="000000"/>
                  </a:outerShdw>
                </a:effectLst>
              </a:rPr>
              <a:t>R</a:t>
            </a:r>
            <a:r>
              <a:rPr lang="zh-CN" altLang="en-US" sz="2800" dirty="0">
                <a:solidFill>
                  <a:srgbClr val="CCFFCC"/>
                </a:solidFill>
                <a:effectLst>
                  <a:outerShdw blurRad="38100" dist="38100" dir="2700000" algn="tl">
                    <a:srgbClr val="000000"/>
                  </a:outerShdw>
                </a:effectLst>
              </a:rPr>
              <a:t>的一</a:t>
            </a:r>
            <a:r>
              <a:rPr lang="zh-CN" altLang="en-US" sz="2800" dirty="0" smtClean="0">
                <a:solidFill>
                  <a:srgbClr val="CCFFCC"/>
                </a:solidFill>
                <a:effectLst>
                  <a:outerShdw blurRad="38100" dist="38100" dir="2700000" algn="tl">
                    <a:srgbClr val="000000"/>
                  </a:outerShdw>
                </a:effectLst>
              </a:rPr>
              <a:t>个</a:t>
            </a:r>
            <a:r>
              <a:rPr lang="zh-CN" altLang="en-US" sz="2800" dirty="0" smtClean="0">
                <a:solidFill>
                  <a:srgbClr val="FFFF00"/>
                </a:solidFill>
                <a:effectLst>
                  <a:outerShdw blurRad="38100" dist="38100" dir="2700000" algn="tl">
                    <a:srgbClr val="000000"/>
                  </a:outerShdw>
                </a:effectLst>
              </a:rPr>
              <a:t>超键</a:t>
            </a:r>
            <a:r>
              <a:rPr lang="zh-CN" altLang="en-US" sz="2800" dirty="0" smtClean="0">
                <a:solidFill>
                  <a:srgbClr val="CCFFCC"/>
                </a:solidFill>
                <a:effectLst>
                  <a:outerShdw blurRad="38100" dist="38100" dir="2700000" algn="tl">
                    <a:srgbClr val="000000"/>
                  </a:outerShdw>
                </a:effectLst>
              </a:rPr>
              <a:t>；</a:t>
            </a:r>
            <a:r>
              <a:rPr lang="en-US" altLang="zh-CN" sz="2800" dirty="0" smtClean="0">
                <a:solidFill>
                  <a:srgbClr val="CCFFCC"/>
                </a:solidFill>
                <a:effectLst>
                  <a:outerShdw blurRad="38100" dist="38100" dir="2700000" algn="tl">
                    <a:srgbClr val="000000"/>
                  </a:outerShdw>
                </a:effectLst>
              </a:rPr>
              <a:t>K</a:t>
            </a:r>
            <a:r>
              <a:rPr lang="en-US" altLang="zh-CN" sz="2800" dirty="0">
                <a:solidFill>
                  <a:srgbClr val="CCFFCC"/>
                </a:solidFill>
                <a:effectLst>
                  <a:outerShdw blurRad="38100" dist="38100" dir="2700000" algn="tl">
                    <a:srgbClr val="000000"/>
                  </a:outerShdw>
                </a:effectLst>
              </a:rPr>
              <a:t>　 U</a:t>
            </a:r>
            <a:r>
              <a:rPr lang="zh-CN" altLang="en-US" sz="2800" dirty="0">
                <a:solidFill>
                  <a:srgbClr val="CCFFCC"/>
                </a:solidFill>
                <a:effectLst>
                  <a:outerShdw blurRad="38100" dist="38100" dir="2700000" algn="tl">
                    <a:srgbClr val="000000"/>
                  </a:outerShdw>
                </a:effectLst>
              </a:rPr>
              <a:t>成立，则称</a:t>
            </a:r>
            <a:r>
              <a:rPr lang="en-US" altLang="zh-CN" sz="2800" dirty="0">
                <a:solidFill>
                  <a:srgbClr val="CCFFCC"/>
                </a:solidFill>
                <a:effectLst>
                  <a:outerShdw blurRad="38100" dist="38100" dir="2700000" algn="tl">
                    <a:srgbClr val="000000"/>
                  </a:outerShdw>
                </a:effectLst>
              </a:rPr>
              <a:t>K</a:t>
            </a:r>
            <a:r>
              <a:rPr lang="zh-CN" altLang="en-US" sz="2800" dirty="0">
                <a:solidFill>
                  <a:srgbClr val="CCFFCC"/>
                </a:solidFill>
                <a:effectLst>
                  <a:outerShdw blurRad="38100" dist="38100" dir="2700000" algn="tl">
                    <a:srgbClr val="000000"/>
                  </a:outerShdw>
                </a:effectLst>
              </a:rPr>
              <a:t>为</a:t>
            </a:r>
            <a:r>
              <a:rPr lang="en-US" altLang="zh-CN" sz="2800" dirty="0">
                <a:solidFill>
                  <a:srgbClr val="CCFFCC"/>
                </a:solidFill>
                <a:effectLst>
                  <a:outerShdw blurRad="38100" dist="38100" dir="2700000" algn="tl">
                    <a:srgbClr val="000000"/>
                  </a:outerShdw>
                </a:effectLst>
              </a:rPr>
              <a:t>R</a:t>
            </a:r>
            <a:r>
              <a:rPr lang="zh-CN" altLang="en-US" sz="2800" dirty="0">
                <a:solidFill>
                  <a:srgbClr val="CCFFCC"/>
                </a:solidFill>
                <a:effectLst>
                  <a:outerShdw blurRad="38100" dist="38100" dir="2700000" algn="tl">
                    <a:srgbClr val="000000"/>
                  </a:outerShdw>
                </a:effectLst>
              </a:rPr>
              <a:t>的一个</a:t>
            </a:r>
            <a:r>
              <a:rPr lang="zh-CN" altLang="en-US" sz="2800" dirty="0" smtClean="0">
                <a:solidFill>
                  <a:srgbClr val="FFFF00"/>
                </a:solidFill>
                <a:effectLst>
                  <a:outerShdw blurRad="38100" dist="38100" dir="2700000" algn="tl">
                    <a:srgbClr val="000000"/>
                  </a:outerShdw>
                </a:effectLst>
              </a:rPr>
              <a:t>候选键</a:t>
            </a:r>
            <a:r>
              <a:rPr lang="zh-CN" altLang="en-US" sz="2800" dirty="0" smtClean="0">
                <a:solidFill>
                  <a:srgbClr val="CCFFCC"/>
                </a:solidFill>
                <a:effectLst>
                  <a:outerShdw blurRad="38100" dist="38100" dir="2700000" algn="tl">
                    <a:srgbClr val="000000"/>
                  </a:outerShdw>
                </a:effectLst>
              </a:rPr>
              <a:t>。</a:t>
            </a:r>
            <a:endParaRPr lang="en-US" altLang="zh-CN" sz="2800" dirty="0" smtClean="0">
              <a:solidFill>
                <a:srgbClr val="CCFFCC"/>
              </a:solidFill>
              <a:effectLst>
                <a:outerShdw blurRad="38100" dist="38100" dir="2700000" algn="tl">
                  <a:srgbClr val="000000"/>
                </a:outerShdw>
              </a:effectLst>
            </a:endParaRPr>
          </a:p>
          <a:p>
            <a:pPr>
              <a:spcBef>
                <a:spcPts val="600"/>
              </a:spcBef>
              <a:spcAft>
                <a:spcPts val="1800"/>
              </a:spcAft>
              <a:tabLst>
                <a:tab pos="428625" algn="l"/>
                <a:tab pos="1905000" algn="l"/>
              </a:tabLst>
              <a:defRPr/>
            </a:pPr>
            <a:r>
              <a:rPr lang="zh-CN" altLang="en-US" sz="2800" dirty="0" smtClean="0">
                <a:solidFill>
                  <a:srgbClr val="CCFFCC"/>
                </a:solidFill>
                <a:effectLst>
                  <a:outerShdw blurRad="38100" dist="38100" dir="2700000" algn="tl">
                    <a:srgbClr val="000000"/>
                  </a:outerShdw>
                </a:effectLst>
              </a:rPr>
              <a:t>若</a:t>
            </a:r>
            <a:r>
              <a:rPr lang="zh-CN" altLang="en-US" sz="2800" dirty="0">
                <a:solidFill>
                  <a:srgbClr val="CCFFCC"/>
                </a:solidFill>
                <a:effectLst>
                  <a:outerShdw blurRad="38100" dist="38100" dir="2700000" algn="tl">
                    <a:srgbClr val="000000"/>
                  </a:outerShdw>
                </a:effectLst>
              </a:rPr>
              <a:t>关系</a:t>
            </a:r>
            <a:r>
              <a:rPr lang="en-US" altLang="zh-CN" sz="2800" dirty="0">
                <a:solidFill>
                  <a:srgbClr val="CCFFCC"/>
                </a:solidFill>
                <a:effectLst>
                  <a:outerShdw blurRad="38100" dist="38100" dir="2700000" algn="tl">
                    <a:srgbClr val="000000"/>
                  </a:outerShdw>
                </a:effectLst>
              </a:rPr>
              <a:t>R</a:t>
            </a:r>
            <a:r>
              <a:rPr lang="zh-CN" altLang="en-US" sz="2800" dirty="0">
                <a:solidFill>
                  <a:srgbClr val="CCFFCC"/>
                </a:solidFill>
                <a:effectLst>
                  <a:outerShdw blurRad="38100" dist="38100" dir="2700000" algn="tl">
                    <a:srgbClr val="000000"/>
                  </a:outerShdw>
                </a:effectLst>
              </a:rPr>
              <a:t>有多个</a:t>
            </a:r>
            <a:r>
              <a:rPr lang="zh-CN" altLang="en-US" sz="2800" dirty="0" smtClean="0">
                <a:solidFill>
                  <a:srgbClr val="CCFFCC"/>
                </a:solidFill>
                <a:effectLst>
                  <a:outerShdw blurRad="38100" dist="38100" dir="2700000" algn="tl">
                    <a:srgbClr val="000000"/>
                  </a:outerShdw>
                </a:effectLst>
              </a:rPr>
              <a:t>候选键，</a:t>
            </a:r>
            <a:r>
              <a:rPr lang="zh-CN" altLang="en-US" sz="2800" dirty="0">
                <a:solidFill>
                  <a:srgbClr val="CCFFCC"/>
                </a:solidFill>
                <a:effectLst>
                  <a:outerShdw blurRad="38100" dist="38100" dir="2700000" algn="tl">
                    <a:srgbClr val="000000"/>
                  </a:outerShdw>
                </a:effectLst>
              </a:rPr>
              <a:t>则可选定其中一个做为</a:t>
            </a:r>
            <a:r>
              <a:rPr lang="zh-CN" altLang="en-US" sz="2800" dirty="0" smtClean="0">
                <a:solidFill>
                  <a:srgbClr val="FFFF00"/>
                </a:solidFill>
                <a:effectLst>
                  <a:outerShdw blurRad="38100" dist="38100" dir="2700000" algn="tl">
                    <a:srgbClr val="000000"/>
                  </a:outerShdw>
                </a:effectLst>
              </a:rPr>
              <a:t>主键</a:t>
            </a:r>
            <a:r>
              <a:rPr lang="zh-CN" altLang="en-US" sz="2800" dirty="0" smtClean="0">
                <a:solidFill>
                  <a:srgbClr val="CCFFCC"/>
                </a:solidFill>
                <a:effectLst>
                  <a:outerShdw blurRad="38100" dist="38100" dir="2700000" algn="tl">
                    <a:srgbClr val="000000"/>
                  </a:outerShdw>
                </a:effectLst>
              </a:rPr>
              <a:t>。</a:t>
            </a:r>
            <a:endParaRPr lang="en-US" altLang="zh-CN" sz="2800" dirty="0" smtClean="0">
              <a:solidFill>
                <a:srgbClr val="CCFFCC"/>
              </a:solidFill>
              <a:effectLst>
                <a:outerShdw blurRad="38100" dist="38100" dir="2700000" algn="tl">
                  <a:srgbClr val="000000"/>
                </a:outerShdw>
              </a:effectLst>
            </a:endParaRPr>
          </a:p>
          <a:p>
            <a:pPr>
              <a:spcBef>
                <a:spcPts val="1200"/>
              </a:spcBef>
              <a:spcAft>
                <a:spcPts val="1800"/>
              </a:spcAft>
              <a:tabLst>
                <a:tab pos="428625" algn="l"/>
                <a:tab pos="1905000" algn="l"/>
              </a:tabLst>
              <a:defRPr/>
            </a:pPr>
            <a:r>
              <a:rPr lang="zh-CN" altLang="en-US" sz="2800" dirty="0" smtClean="0">
                <a:solidFill>
                  <a:srgbClr val="CCFFCC"/>
                </a:solidFill>
                <a:effectLst>
                  <a:outerShdw blurRad="38100" dist="38100" dir="2700000" algn="tl">
                    <a:srgbClr val="000000"/>
                  </a:outerShdw>
                </a:effectLst>
              </a:rPr>
              <a:t>包含</a:t>
            </a:r>
            <a:r>
              <a:rPr lang="zh-CN" altLang="en-US" sz="2800" dirty="0">
                <a:solidFill>
                  <a:srgbClr val="CCFFCC"/>
                </a:solidFill>
                <a:effectLst>
                  <a:outerShdw blurRad="38100" dist="38100" dir="2700000" algn="tl">
                    <a:srgbClr val="000000"/>
                  </a:outerShdw>
                </a:effectLst>
              </a:rPr>
              <a:t>在</a:t>
            </a:r>
            <a:r>
              <a:rPr lang="en-US" altLang="zh-CN" sz="2800" dirty="0">
                <a:solidFill>
                  <a:srgbClr val="CCFFCC"/>
                </a:solidFill>
                <a:effectLst>
                  <a:outerShdw blurRad="38100" dist="38100" dir="2700000" algn="tl">
                    <a:srgbClr val="000000"/>
                  </a:outerShdw>
                </a:effectLst>
              </a:rPr>
              <a:t>R(U)</a:t>
            </a:r>
            <a:r>
              <a:rPr lang="zh-CN" altLang="en-US" sz="2800" dirty="0">
                <a:solidFill>
                  <a:srgbClr val="CCFFCC"/>
                </a:solidFill>
                <a:effectLst>
                  <a:outerShdw blurRad="38100" dist="38100" dir="2700000" algn="tl">
                    <a:srgbClr val="000000"/>
                  </a:outerShdw>
                </a:effectLst>
              </a:rPr>
              <a:t>的任何一个</a:t>
            </a:r>
            <a:r>
              <a:rPr lang="zh-CN" altLang="en-US" sz="2800" dirty="0" smtClean="0">
                <a:solidFill>
                  <a:srgbClr val="CCFFCC"/>
                </a:solidFill>
                <a:effectLst>
                  <a:outerShdw blurRad="38100" dist="38100" dir="2700000" algn="tl">
                    <a:srgbClr val="000000"/>
                  </a:outerShdw>
                </a:effectLst>
              </a:rPr>
              <a:t>候选键中</a:t>
            </a:r>
            <a:r>
              <a:rPr lang="zh-CN" altLang="en-US" sz="2800" dirty="0">
                <a:solidFill>
                  <a:srgbClr val="CCFFCC"/>
                </a:solidFill>
                <a:effectLst>
                  <a:outerShdw blurRad="38100" dist="38100" dir="2700000" algn="tl">
                    <a:srgbClr val="000000"/>
                  </a:outerShdw>
                </a:effectLst>
              </a:rPr>
              <a:t>的属性称为</a:t>
            </a:r>
            <a:r>
              <a:rPr lang="en-US" altLang="zh-CN" sz="2800" dirty="0">
                <a:solidFill>
                  <a:srgbClr val="CCFFCC"/>
                </a:solidFill>
                <a:effectLst>
                  <a:outerShdw blurRad="38100" dist="38100" dir="2700000" algn="tl">
                    <a:srgbClr val="000000"/>
                  </a:outerShdw>
                </a:effectLst>
              </a:rPr>
              <a:t>R(U)</a:t>
            </a:r>
            <a:r>
              <a:rPr lang="zh-CN" altLang="en-US" sz="2800" dirty="0">
                <a:solidFill>
                  <a:srgbClr val="CCFFCC"/>
                </a:solidFill>
                <a:effectLst>
                  <a:outerShdw blurRad="38100" dist="38100" dir="2700000" algn="tl">
                    <a:srgbClr val="000000"/>
                  </a:outerShdw>
                </a:effectLst>
              </a:rPr>
              <a:t>的</a:t>
            </a:r>
            <a:r>
              <a:rPr lang="zh-CN" altLang="en-US" sz="2800" dirty="0">
                <a:solidFill>
                  <a:srgbClr val="FFFF00"/>
                </a:solidFill>
                <a:effectLst>
                  <a:outerShdw blurRad="38100" dist="38100" dir="2700000" algn="tl">
                    <a:srgbClr val="000000"/>
                  </a:outerShdw>
                </a:effectLst>
              </a:rPr>
              <a:t>主属性</a:t>
            </a:r>
            <a:r>
              <a:rPr lang="zh-CN" altLang="en-US" sz="2800" dirty="0">
                <a:solidFill>
                  <a:srgbClr val="CCFFCC"/>
                </a:solidFill>
                <a:effectLst>
                  <a:outerShdw blurRad="38100" dist="38100" dir="2700000" algn="tl">
                    <a:srgbClr val="000000"/>
                  </a:outerShdw>
                </a:effectLst>
              </a:rPr>
              <a:t>，否则称为</a:t>
            </a:r>
            <a:r>
              <a:rPr lang="en-US" altLang="zh-CN" sz="2800" dirty="0">
                <a:solidFill>
                  <a:srgbClr val="CCFFCC"/>
                </a:solidFill>
                <a:effectLst>
                  <a:outerShdw blurRad="38100" dist="38100" dir="2700000" algn="tl">
                    <a:srgbClr val="000000"/>
                  </a:outerShdw>
                </a:effectLst>
              </a:rPr>
              <a:t>R(U)</a:t>
            </a:r>
            <a:r>
              <a:rPr lang="zh-CN" altLang="en-US" sz="2800" dirty="0">
                <a:solidFill>
                  <a:srgbClr val="CCFFCC"/>
                </a:solidFill>
                <a:effectLst>
                  <a:outerShdw blurRad="38100" dist="38100" dir="2700000" algn="tl">
                    <a:srgbClr val="000000"/>
                  </a:outerShdw>
                </a:effectLst>
              </a:rPr>
              <a:t>的</a:t>
            </a:r>
            <a:r>
              <a:rPr lang="zh-CN" altLang="en-US" sz="2800" dirty="0">
                <a:solidFill>
                  <a:srgbClr val="FFFF00"/>
                </a:solidFill>
                <a:effectLst>
                  <a:outerShdw blurRad="38100" dist="38100" dir="2700000" algn="tl">
                    <a:srgbClr val="000000"/>
                  </a:outerShdw>
                </a:effectLst>
              </a:rPr>
              <a:t>非主属性</a:t>
            </a:r>
            <a:r>
              <a:rPr lang="zh-CN" altLang="en-US" sz="2800" dirty="0">
                <a:solidFill>
                  <a:srgbClr val="CCFFCC"/>
                </a:solidFill>
                <a:effectLst>
                  <a:outerShdw blurRad="38100" dist="38100" dir="2700000" algn="tl">
                    <a:srgbClr val="000000"/>
                  </a:outerShdw>
                </a:effectLst>
              </a:rPr>
              <a:t>。</a:t>
            </a:r>
          </a:p>
        </p:txBody>
      </p:sp>
      <p:sp>
        <p:nvSpPr>
          <p:cNvPr id="1487877" name="Line 5"/>
          <p:cNvSpPr>
            <a:spLocks noChangeShapeType="1"/>
          </p:cNvSpPr>
          <p:nvPr/>
        </p:nvSpPr>
        <p:spPr bwMode="auto">
          <a:xfrm>
            <a:off x="2059564" y="1686042"/>
            <a:ext cx="457200" cy="0"/>
          </a:xfrm>
          <a:prstGeom prst="line">
            <a:avLst/>
          </a:prstGeom>
          <a:noFill/>
          <a:ln w="12700" cap="sq">
            <a:solidFill>
              <a:srgbClr val="CCFFCC"/>
            </a:solidFill>
            <a:round/>
            <a:headEnd/>
            <a:tailEnd type="stealth" w="med" len="med"/>
          </a:ln>
          <a:effectLst/>
        </p:spPr>
        <p:txBody>
          <a:bodyPr wrap="none" lIns="0" tIns="0" rIns="0" bIns="0" anchor="ctr"/>
          <a:lstStyle/>
          <a:p>
            <a:pPr>
              <a:defRPr/>
            </a:pPr>
            <a:endParaRPr lang="zh-CN" altLang="en-US"/>
          </a:p>
        </p:txBody>
      </p:sp>
      <p:sp>
        <p:nvSpPr>
          <p:cNvPr id="1487878" name="Text Box 6"/>
          <p:cNvSpPr txBox="1">
            <a:spLocks noChangeArrowheads="1"/>
          </p:cNvSpPr>
          <p:nvPr/>
        </p:nvSpPr>
        <p:spPr bwMode="auto">
          <a:xfrm>
            <a:off x="2215139" y="1381242"/>
            <a:ext cx="76200" cy="274637"/>
          </a:xfrm>
          <a:prstGeom prst="rect">
            <a:avLst/>
          </a:prstGeom>
          <a:noFill/>
          <a:ln w="12700" cap="sq">
            <a:noFill/>
            <a:miter lim="800000"/>
            <a:headEnd/>
            <a:tailEnd/>
          </a:ln>
          <a:effectLst/>
        </p:spPr>
        <p:txBody>
          <a:bodyPr wrap="none" lIns="0" tIns="0" rIns="0" bIns="0">
            <a:spAutoFit/>
          </a:bodyPr>
          <a:lstStyle>
            <a:lvl1pPr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algn="ctr" eaLnBrk="1" hangingPunct="1">
              <a:spcAft>
                <a:spcPct val="0"/>
              </a:spcAft>
              <a:buSzTx/>
              <a:buFontTx/>
              <a:buNone/>
              <a:defRPr/>
            </a:pPr>
            <a:r>
              <a:rPr lang="en-US" altLang="zh-CN" sz="1800" b="1" i="1" smtClean="0">
                <a:solidFill>
                  <a:srgbClr val="CCFFCC"/>
                </a:solidFill>
                <a:effectLst>
                  <a:outerShdw blurRad="38100" dist="38100" dir="2700000" algn="tl">
                    <a:srgbClr val="000000"/>
                  </a:outerShdw>
                </a:effectLst>
                <a:latin typeface="Times New Roman" pitchFamily="18" charset="0"/>
              </a:rPr>
              <a:t>f</a:t>
            </a:r>
          </a:p>
        </p:txBody>
      </p:sp>
      <p:sp>
        <p:nvSpPr>
          <p:cNvPr id="1487879" name="Rectangle 7"/>
          <p:cNvSpPr>
            <a:spLocks noChangeArrowheads="1"/>
          </p:cNvSpPr>
          <p:nvPr/>
        </p:nvSpPr>
        <p:spPr bwMode="auto">
          <a:xfrm>
            <a:off x="3724696" y="836712"/>
            <a:ext cx="498475" cy="569912"/>
          </a:xfrm>
          <a:prstGeom prst="rect">
            <a:avLst/>
          </a:prstGeom>
          <a:noFill/>
          <a:ln w="12700" cap="sq">
            <a:noFill/>
            <a:miter lim="800000"/>
            <a:headEnd/>
            <a:tailEnd/>
          </a:ln>
          <a:effectLst/>
        </p:spPr>
        <p:txBody>
          <a:bodyPr wrap="none" lIns="72000" tIns="72000" rIns="72000" bIns="72000">
            <a:spAutoFit/>
          </a:bodyPr>
          <a:lstStyle/>
          <a:p>
            <a:pPr>
              <a:spcAft>
                <a:spcPct val="0"/>
              </a:spcAft>
              <a:buSzTx/>
              <a:buFontTx/>
              <a:buNone/>
              <a:defRPr/>
            </a:pPr>
            <a:r>
              <a:rPr lang="en-US" altLang="zh-CN" sz="2800" dirty="0">
                <a:solidFill>
                  <a:srgbClr val="CCFFCC"/>
                </a:solidFill>
                <a:effectLst>
                  <a:outerShdw blurRad="38100" dist="38100" dir="2700000" algn="tl">
                    <a:srgbClr val="000000"/>
                  </a:outerShdw>
                </a:effectLst>
                <a:sym typeface="Symbol" pitchFamily="18" charset="2"/>
              </a:rPr>
              <a:t></a:t>
            </a:r>
            <a:endParaRPr lang="zh-CN" altLang="en-US" sz="2800" dirty="0">
              <a:solidFill>
                <a:srgbClr val="CCFFCC"/>
              </a:solidFill>
              <a:effectLst>
                <a:outerShdw blurRad="38100" dist="38100" dir="2700000" algn="tl">
                  <a:srgbClr val="000000"/>
                </a:outerShdw>
              </a:effectLst>
              <a:sym typeface="Symbol" pitchFamily="18" charset="2"/>
            </a:endParaRPr>
          </a:p>
        </p:txBody>
      </p:sp>
      <p:sp>
        <p:nvSpPr>
          <p:cNvPr id="1487880" name="Rectangle 8"/>
          <p:cNvSpPr>
            <a:spLocks noChangeArrowheads="1"/>
          </p:cNvSpPr>
          <p:nvPr/>
        </p:nvSpPr>
        <p:spPr bwMode="auto">
          <a:xfrm>
            <a:off x="1838325" y="4940300"/>
            <a:ext cx="2206625" cy="720725"/>
          </a:xfrm>
          <a:prstGeom prst="rect">
            <a:avLst/>
          </a:prstGeom>
          <a:solidFill>
            <a:srgbClr val="3333FF"/>
          </a:solidFill>
          <a:ln w="12700" cap="sq">
            <a:solidFill>
              <a:srgbClr val="CCFF33"/>
            </a:solidFill>
            <a:miter lim="800000"/>
            <a:headEnd/>
            <a:tailEnd/>
          </a:ln>
          <a:effectLst/>
        </p:spPr>
        <p:txBody>
          <a:bodyPr wrap="none" lIns="0" tIns="0" rIns="0" bIns="0" anchor="ctr"/>
          <a:lstStyle/>
          <a:p>
            <a:pPr algn="ctr">
              <a:spcAft>
                <a:spcPct val="0"/>
              </a:spcAft>
              <a:buSzTx/>
              <a:buFontTx/>
              <a:buNone/>
              <a:defRPr/>
            </a:pPr>
            <a:endParaRPr lang="zh-CN" altLang="en-US" sz="2400">
              <a:effectLst>
                <a:outerShdw blurRad="38100" dist="38100" dir="2700000" algn="tl">
                  <a:srgbClr val="000000"/>
                </a:outerShdw>
              </a:effectLst>
              <a:latin typeface="Times New Roman" pitchFamily="18" charset="0"/>
            </a:endParaRPr>
          </a:p>
        </p:txBody>
      </p:sp>
      <p:sp>
        <p:nvSpPr>
          <p:cNvPr id="1487881" name="Rectangle 9"/>
          <p:cNvSpPr>
            <a:spLocks noChangeArrowheads="1"/>
          </p:cNvSpPr>
          <p:nvPr/>
        </p:nvSpPr>
        <p:spPr bwMode="auto">
          <a:xfrm>
            <a:off x="1966913" y="5100638"/>
            <a:ext cx="779462" cy="400050"/>
          </a:xfrm>
          <a:prstGeom prst="rect">
            <a:avLst/>
          </a:prstGeom>
          <a:solidFill>
            <a:srgbClr val="DDDDDD"/>
          </a:solidFill>
          <a:ln w="12700" cap="sq">
            <a:solidFill>
              <a:srgbClr val="CCFF33"/>
            </a:solidFill>
            <a:miter lim="800000"/>
            <a:headEnd/>
            <a:tailEnd/>
          </a:ln>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学号</a:t>
            </a:r>
          </a:p>
        </p:txBody>
      </p:sp>
      <p:sp>
        <p:nvSpPr>
          <p:cNvPr id="1487882" name="Rectangle 10"/>
          <p:cNvSpPr>
            <a:spLocks noChangeArrowheads="1"/>
          </p:cNvSpPr>
          <p:nvPr/>
        </p:nvSpPr>
        <p:spPr bwMode="auto">
          <a:xfrm>
            <a:off x="3071813" y="5100638"/>
            <a:ext cx="777875" cy="400050"/>
          </a:xfrm>
          <a:prstGeom prst="rect">
            <a:avLst/>
          </a:prstGeom>
          <a:solidFill>
            <a:srgbClr val="DDDDDD"/>
          </a:solidFill>
          <a:ln w="12700" cap="sq">
            <a:solidFill>
              <a:srgbClr val="CCFF33"/>
            </a:solidFill>
            <a:miter lim="800000"/>
            <a:headEnd/>
            <a:tailEnd/>
          </a:ln>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课名</a:t>
            </a:r>
          </a:p>
        </p:txBody>
      </p:sp>
      <p:sp>
        <p:nvSpPr>
          <p:cNvPr id="1487883" name="Rectangle 11"/>
          <p:cNvSpPr>
            <a:spLocks noChangeArrowheads="1"/>
          </p:cNvSpPr>
          <p:nvPr/>
        </p:nvSpPr>
        <p:spPr bwMode="auto">
          <a:xfrm>
            <a:off x="669925" y="5100638"/>
            <a:ext cx="777875" cy="400050"/>
          </a:xfrm>
          <a:prstGeom prst="rect">
            <a:avLst/>
          </a:prstGeom>
          <a:solidFill>
            <a:srgbClr val="DDDDDD"/>
          </a:solidFill>
          <a:ln w="12700" cap="sq">
            <a:solidFill>
              <a:srgbClr val="CCFF33"/>
            </a:solidFill>
            <a:miter lim="800000"/>
            <a:headEnd/>
            <a:tailEnd/>
          </a:ln>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系名</a:t>
            </a:r>
          </a:p>
        </p:txBody>
      </p:sp>
      <p:sp>
        <p:nvSpPr>
          <p:cNvPr id="1487884" name="Rectangle 12"/>
          <p:cNvSpPr>
            <a:spLocks noChangeArrowheads="1"/>
          </p:cNvSpPr>
          <p:nvPr/>
        </p:nvSpPr>
        <p:spPr bwMode="auto">
          <a:xfrm>
            <a:off x="611188" y="5900738"/>
            <a:ext cx="895350" cy="401637"/>
          </a:xfrm>
          <a:prstGeom prst="rect">
            <a:avLst/>
          </a:prstGeom>
          <a:solidFill>
            <a:srgbClr val="DDDDDD"/>
          </a:solidFill>
          <a:ln w="12700" cap="sq">
            <a:solidFill>
              <a:srgbClr val="CCFF33"/>
            </a:solidFill>
            <a:miter lim="800000"/>
            <a:headEnd/>
            <a:tailEnd/>
          </a:ln>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系主任</a:t>
            </a:r>
          </a:p>
        </p:txBody>
      </p:sp>
      <p:cxnSp>
        <p:nvCxnSpPr>
          <p:cNvPr id="19469" name="AutoShape 13"/>
          <p:cNvCxnSpPr>
            <a:cxnSpLocks noChangeShapeType="1"/>
            <a:stCxn id="1487881" idx="1"/>
            <a:endCxn id="1487883" idx="3"/>
          </p:cNvCxnSpPr>
          <p:nvPr/>
        </p:nvCxnSpPr>
        <p:spPr bwMode="auto">
          <a:xfrm flipH="1">
            <a:off x="1447800" y="5300663"/>
            <a:ext cx="519113" cy="0"/>
          </a:xfrm>
          <a:prstGeom prst="straightConnector1">
            <a:avLst/>
          </a:prstGeom>
          <a:noFill/>
          <a:ln w="28575" cap="sq">
            <a:solidFill>
              <a:srgbClr val="99FF33"/>
            </a:solidFill>
            <a:round/>
            <a:headEnd/>
            <a:tailEnd type="triangle" w="med" len="med"/>
          </a:ln>
          <a:extLst>
            <a:ext uri="{909E8E84-426E-40DD-AFC4-6F175D3DCCD1}">
              <a14:hiddenFill xmlns:a14="http://schemas.microsoft.com/office/drawing/2010/main">
                <a:noFill/>
              </a14:hiddenFill>
            </a:ext>
          </a:extLst>
        </p:spPr>
      </p:cxnSp>
      <p:cxnSp>
        <p:nvCxnSpPr>
          <p:cNvPr id="19470" name="AutoShape 14"/>
          <p:cNvCxnSpPr>
            <a:cxnSpLocks noChangeShapeType="1"/>
            <a:stCxn id="1487883" idx="2"/>
            <a:endCxn id="1487884" idx="0"/>
          </p:cNvCxnSpPr>
          <p:nvPr/>
        </p:nvCxnSpPr>
        <p:spPr bwMode="auto">
          <a:xfrm>
            <a:off x="1058863" y="5500688"/>
            <a:ext cx="0" cy="400050"/>
          </a:xfrm>
          <a:prstGeom prst="straightConnector1">
            <a:avLst/>
          </a:prstGeom>
          <a:noFill/>
          <a:ln w="28575" cap="sq">
            <a:solidFill>
              <a:srgbClr val="99FF33"/>
            </a:solidFill>
            <a:round/>
            <a:headEnd/>
            <a:tailEnd type="triangle" w="med" len="med"/>
          </a:ln>
          <a:extLst>
            <a:ext uri="{909E8E84-426E-40DD-AFC4-6F175D3DCCD1}">
              <a14:hiddenFill xmlns:a14="http://schemas.microsoft.com/office/drawing/2010/main">
                <a:noFill/>
              </a14:hiddenFill>
            </a:ext>
          </a:extLst>
        </p:spPr>
      </p:cxnSp>
      <p:sp>
        <p:nvSpPr>
          <p:cNvPr id="1487887" name="Rectangle 15"/>
          <p:cNvSpPr>
            <a:spLocks noChangeArrowheads="1"/>
          </p:cNvSpPr>
          <p:nvPr/>
        </p:nvSpPr>
        <p:spPr bwMode="auto">
          <a:xfrm>
            <a:off x="3071813" y="4219575"/>
            <a:ext cx="779462" cy="400050"/>
          </a:xfrm>
          <a:prstGeom prst="rect">
            <a:avLst/>
          </a:prstGeom>
          <a:solidFill>
            <a:srgbClr val="DDDDDD"/>
          </a:solidFill>
          <a:ln w="12700" cap="sq">
            <a:solidFill>
              <a:srgbClr val="CCFF33"/>
            </a:solidFill>
            <a:miter lim="800000"/>
            <a:headEnd/>
            <a:tailEnd/>
          </a:ln>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学分</a:t>
            </a:r>
          </a:p>
        </p:txBody>
      </p:sp>
      <p:cxnSp>
        <p:nvCxnSpPr>
          <p:cNvPr id="19472" name="AutoShape 16"/>
          <p:cNvCxnSpPr>
            <a:cxnSpLocks noChangeShapeType="1"/>
            <a:stCxn id="1487882" idx="0"/>
            <a:endCxn id="1487887" idx="2"/>
          </p:cNvCxnSpPr>
          <p:nvPr/>
        </p:nvCxnSpPr>
        <p:spPr bwMode="auto">
          <a:xfrm flipV="1">
            <a:off x="3460750" y="4619625"/>
            <a:ext cx="1588" cy="481013"/>
          </a:xfrm>
          <a:prstGeom prst="straightConnector1">
            <a:avLst/>
          </a:prstGeom>
          <a:noFill/>
          <a:ln w="28575" cap="sq">
            <a:solidFill>
              <a:srgbClr val="99FF33"/>
            </a:solidFill>
            <a:round/>
            <a:headEnd/>
            <a:tailEnd type="triangle" w="med" len="med"/>
          </a:ln>
          <a:extLst>
            <a:ext uri="{909E8E84-426E-40DD-AFC4-6F175D3DCCD1}">
              <a14:hiddenFill xmlns:a14="http://schemas.microsoft.com/office/drawing/2010/main">
                <a:noFill/>
              </a14:hiddenFill>
            </a:ext>
          </a:extLst>
        </p:spPr>
      </p:cxnSp>
      <p:sp>
        <p:nvSpPr>
          <p:cNvPr id="1487889" name="Rectangle 17"/>
          <p:cNvSpPr>
            <a:spLocks noChangeArrowheads="1"/>
          </p:cNvSpPr>
          <p:nvPr/>
        </p:nvSpPr>
        <p:spPr bwMode="auto">
          <a:xfrm>
            <a:off x="3330575" y="5981700"/>
            <a:ext cx="779463" cy="400050"/>
          </a:xfrm>
          <a:prstGeom prst="rect">
            <a:avLst/>
          </a:prstGeom>
          <a:solidFill>
            <a:srgbClr val="DDDDDD"/>
          </a:solidFill>
          <a:ln w="12700" cap="sq">
            <a:solidFill>
              <a:srgbClr val="CCFF33"/>
            </a:solidFill>
            <a:miter lim="800000"/>
            <a:headEnd/>
            <a:tailEnd/>
          </a:ln>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成绩</a:t>
            </a:r>
          </a:p>
        </p:txBody>
      </p:sp>
      <p:cxnSp>
        <p:nvCxnSpPr>
          <p:cNvPr id="19474" name="AutoShape 18"/>
          <p:cNvCxnSpPr>
            <a:cxnSpLocks noChangeShapeType="1"/>
            <a:endCxn id="1487889" idx="0"/>
          </p:cNvCxnSpPr>
          <p:nvPr/>
        </p:nvCxnSpPr>
        <p:spPr bwMode="auto">
          <a:xfrm>
            <a:off x="3721100" y="5661025"/>
            <a:ext cx="0" cy="320675"/>
          </a:xfrm>
          <a:prstGeom prst="straightConnector1">
            <a:avLst/>
          </a:prstGeom>
          <a:noFill/>
          <a:ln w="28575" cap="sq">
            <a:solidFill>
              <a:srgbClr val="99FF33"/>
            </a:solidFill>
            <a:round/>
            <a:headEnd/>
            <a:tailEnd type="triangle" w="med" len="med"/>
          </a:ln>
          <a:extLst>
            <a:ext uri="{909E8E84-426E-40DD-AFC4-6F175D3DCCD1}">
              <a14:hiddenFill xmlns:a14="http://schemas.microsoft.com/office/drawing/2010/main">
                <a:noFill/>
              </a14:hiddenFill>
            </a:ext>
          </a:extLst>
        </p:spPr>
      </p:cxnSp>
      <p:sp>
        <p:nvSpPr>
          <p:cNvPr id="1487891" name="Rectangle 19"/>
          <p:cNvSpPr>
            <a:spLocks noChangeArrowheads="1"/>
          </p:cNvSpPr>
          <p:nvPr/>
        </p:nvSpPr>
        <p:spPr bwMode="auto">
          <a:xfrm>
            <a:off x="1966913" y="5900738"/>
            <a:ext cx="779462" cy="401637"/>
          </a:xfrm>
          <a:prstGeom prst="rect">
            <a:avLst/>
          </a:prstGeom>
          <a:solidFill>
            <a:srgbClr val="DDDDDD"/>
          </a:solidFill>
          <a:ln w="12700" cap="sq">
            <a:solidFill>
              <a:srgbClr val="CCFF33"/>
            </a:solidFill>
            <a:miter lim="800000"/>
            <a:headEnd/>
            <a:tailEnd/>
          </a:ln>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姓名</a:t>
            </a:r>
          </a:p>
        </p:txBody>
      </p:sp>
      <p:cxnSp>
        <p:nvCxnSpPr>
          <p:cNvPr id="19476" name="AutoShape 20"/>
          <p:cNvCxnSpPr>
            <a:cxnSpLocks noChangeShapeType="1"/>
            <a:stCxn id="1487881" idx="2"/>
            <a:endCxn id="1487891" idx="0"/>
          </p:cNvCxnSpPr>
          <p:nvPr/>
        </p:nvCxnSpPr>
        <p:spPr bwMode="auto">
          <a:xfrm>
            <a:off x="2357438" y="5500688"/>
            <a:ext cx="0" cy="400050"/>
          </a:xfrm>
          <a:prstGeom prst="straightConnector1">
            <a:avLst/>
          </a:prstGeom>
          <a:noFill/>
          <a:ln w="28575" cap="sq">
            <a:solidFill>
              <a:srgbClr val="99FF33"/>
            </a:solidFill>
            <a:round/>
            <a:headEnd/>
            <a:tailEnd type="triangle" w="med" len="med"/>
          </a:ln>
          <a:extLst>
            <a:ext uri="{909E8E84-426E-40DD-AFC4-6F175D3DCCD1}">
              <a14:hiddenFill xmlns:a14="http://schemas.microsoft.com/office/drawing/2010/main">
                <a:noFill/>
              </a14:hiddenFill>
            </a:ext>
          </a:extLst>
        </p:spPr>
      </p:cxnSp>
      <p:sp>
        <p:nvSpPr>
          <p:cNvPr id="1487893" name="Rectangle 21"/>
          <p:cNvSpPr>
            <a:spLocks noChangeArrowheads="1"/>
          </p:cNvSpPr>
          <p:nvPr/>
        </p:nvSpPr>
        <p:spPr bwMode="auto">
          <a:xfrm>
            <a:off x="4500563" y="4437063"/>
            <a:ext cx="4357687" cy="457200"/>
          </a:xfrm>
          <a:prstGeom prst="rect">
            <a:avLst/>
          </a:prstGeom>
          <a:noFill/>
          <a:ln w="12700" cap="sq">
            <a:noFill/>
            <a:miter lim="800000"/>
            <a:headEnd/>
            <a:tailEnd/>
          </a:ln>
          <a:effectLst/>
        </p:spPr>
        <p:txBody>
          <a:bodyPr lIns="0" tIns="0" rIns="0" bIns="0"/>
          <a:lstStyle/>
          <a:p>
            <a:pPr>
              <a:spcAft>
                <a:spcPct val="20000"/>
              </a:spcAft>
              <a:buSzTx/>
              <a:buFontTx/>
              <a:buNone/>
              <a:defRPr/>
            </a:pPr>
            <a:r>
              <a:rPr lang="en-US" altLang="zh-CN" sz="2800" dirty="0">
                <a:effectLst>
                  <a:outerShdw blurRad="38100" dist="38100" dir="2700000" algn="tl">
                    <a:srgbClr val="000000"/>
                  </a:outerShdw>
                </a:effectLst>
              </a:rPr>
              <a:t>(</a:t>
            </a:r>
            <a:r>
              <a:rPr lang="zh-CN" altLang="en-US" sz="2800" dirty="0">
                <a:effectLst>
                  <a:outerShdw blurRad="38100" dist="38100" dir="2700000" algn="tl">
                    <a:srgbClr val="000000"/>
                  </a:outerShdw>
                </a:effectLst>
              </a:rPr>
              <a:t>学号</a:t>
            </a:r>
            <a:r>
              <a:rPr lang="en-US" altLang="zh-CN" sz="2800" dirty="0">
                <a:effectLst>
                  <a:outerShdw blurRad="38100" dist="38100" dir="2700000" algn="tl">
                    <a:srgbClr val="000000"/>
                  </a:outerShdw>
                </a:effectLst>
              </a:rPr>
              <a:t>,</a:t>
            </a:r>
            <a:r>
              <a:rPr lang="zh-CN" altLang="en-US" sz="2800" dirty="0">
                <a:effectLst>
                  <a:outerShdw blurRad="38100" dist="38100" dir="2700000" algn="tl">
                    <a:srgbClr val="000000"/>
                  </a:outerShdw>
                </a:effectLst>
              </a:rPr>
              <a:t>课名</a:t>
            </a:r>
            <a:r>
              <a:rPr lang="en-US" altLang="zh-CN" sz="2800" dirty="0">
                <a:effectLst>
                  <a:outerShdw blurRad="38100" dist="38100" dir="2700000" algn="tl">
                    <a:srgbClr val="000000"/>
                  </a:outerShdw>
                </a:effectLst>
              </a:rPr>
              <a:t>)</a:t>
            </a:r>
            <a:r>
              <a:rPr lang="zh-CN" altLang="en-US" sz="2800" dirty="0" smtClean="0">
                <a:effectLst>
                  <a:outerShdw blurRad="38100" dist="38100" dir="2700000" algn="tl">
                    <a:srgbClr val="000000"/>
                  </a:outerShdw>
                </a:effectLst>
              </a:rPr>
              <a:t>是</a:t>
            </a:r>
            <a:r>
              <a:rPr lang="zh-CN" altLang="en-US" sz="2800" dirty="0">
                <a:effectLst>
                  <a:outerShdw blurRad="38100" dist="38100" dir="2700000" algn="tl">
                    <a:srgbClr val="000000"/>
                  </a:outerShdw>
                </a:effectLst>
              </a:rPr>
              <a:t>主</a:t>
            </a:r>
            <a:r>
              <a:rPr lang="zh-CN" altLang="en-US" sz="2800" dirty="0" smtClean="0">
                <a:effectLst>
                  <a:outerShdw blurRad="38100" dist="38100" dir="2700000" algn="tl">
                    <a:srgbClr val="000000"/>
                  </a:outerShdw>
                </a:effectLst>
              </a:rPr>
              <a:t>键。</a:t>
            </a:r>
            <a:endParaRPr lang="zh-CN" altLang="en-US" sz="2800" dirty="0">
              <a:effectLst>
                <a:outerShdw blurRad="38100" dist="38100" dir="2700000" algn="tl">
                  <a:srgbClr val="000000"/>
                </a:outerShdw>
              </a:effectLst>
            </a:endParaRPr>
          </a:p>
          <a:p>
            <a:pPr>
              <a:spcAft>
                <a:spcPct val="20000"/>
              </a:spcAft>
              <a:buSzTx/>
              <a:buFontTx/>
              <a:buNone/>
              <a:defRPr/>
            </a:pPr>
            <a:r>
              <a:rPr lang="zh-CN" altLang="en-US" sz="2800" dirty="0">
                <a:effectLst>
                  <a:outerShdw blurRad="38100" dist="38100" dir="2700000" algn="tl">
                    <a:srgbClr val="000000"/>
                  </a:outerShdw>
                </a:effectLst>
              </a:rPr>
              <a:t>学号和课名都是主属性。</a:t>
            </a:r>
          </a:p>
          <a:p>
            <a:pPr>
              <a:spcAft>
                <a:spcPct val="20000"/>
              </a:spcAft>
              <a:buSzTx/>
              <a:buFontTx/>
              <a:buNone/>
              <a:defRPr/>
            </a:pPr>
            <a:r>
              <a:rPr lang="zh-CN" altLang="en-US" sz="2800" dirty="0">
                <a:effectLst>
                  <a:outerShdw blurRad="38100" dist="38100" dir="2700000" algn="tl">
                    <a:srgbClr val="000000"/>
                  </a:outerShdw>
                </a:effectLst>
              </a:rPr>
              <a:t>系名、系主任、姓名、学分和成绩是非主属性。</a:t>
            </a:r>
          </a:p>
        </p:txBody>
      </p:sp>
      <p:sp>
        <p:nvSpPr>
          <p:cNvPr id="22" name="Line 5"/>
          <p:cNvSpPr>
            <a:spLocks noChangeShapeType="1"/>
          </p:cNvSpPr>
          <p:nvPr/>
        </p:nvSpPr>
        <p:spPr bwMode="auto">
          <a:xfrm>
            <a:off x="4871590" y="1167132"/>
            <a:ext cx="457200" cy="0"/>
          </a:xfrm>
          <a:prstGeom prst="line">
            <a:avLst/>
          </a:prstGeom>
          <a:noFill/>
          <a:ln w="12700" cap="sq">
            <a:solidFill>
              <a:srgbClr val="CCFFCC"/>
            </a:solidFill>
            <a:round/>
            <a:headEnd/>
            <a:tailEnd type="stealth" w="med" len="med"/>
          </a:ln>
          <a:effectLst/>
        </p:spPr>
        <p:txBody>
          <a:bodyPr wrap="none" lIns="0" tIns="0" rIns="0" bIns="0" anchor="ctr"/>
          <a:lstStyle/>
          <a:p>
            <a:pPr>
              <a:defRPr/>
            </a:pPr>
            <a:endParaRPr lang="zh-CN" altLang="en-US"/>
          </a:p>
        </p:txBody>
      </p:sp>
    </p:spTree>
    <p:extLst>
      <p:ext uri="{BB962C8B-B14F-4D97-AF65-F5344CB8AC3E}">
        <p14:creationId xmlns:p14="http://schemas.microsoft.com/office/powerpoint/2010/main" val="456936455"/>
      </p:ext>
    </p:extLst>
  </p:cSld>
  <p:clrMapOvr>
    <a:masterClrMapping/>
  </p:clrMapOvr>
  <p:transition spd="med">
    <p:random/>
    <p:sndAc>
      <p:stSnd>
        <p:snd r:embed="rId2" name="camera.wav"/>
      </p:stSnd>
    </p:sndAc>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title"/>
          </p:nvPr>
        </p:nvSpPr>
        <p:spPr>
          <a:xfrm>
            <a:off x="35496" y="-20116"/>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pPr>
            <a:r>
              <a:rPr lang="zh-CN" altLang="en-US" sz="4000" b="1" dirty="0">
                <a:solidFill>
                  <a:srgbClr val="FFFFCC"/>
                </a:solidFill>
                <a:effectLst>
                  <a:outerShdw blurRad="38100" dist="38100" dir="2700000" algn="tl">
                    <a:srgbClr val="000000"/>
                  </a:outerShdw>
                </a:effectLst>
                <a:latin typeface="Arial" pitchFamily="34" charset="0"/>
                <a:ea typeface="微软雅黑" pitchFamily="34" charset="-122"/>
              </a:rPr>
              <a:t>候选键</a:t>
            </a:r>
            <a:r>
              <a:rPr kumimoji="1" lang="zh-CN" altLang="en-US" sz="4000" b="1" kern="1200" dirty="0" smtClean="0">
                <a:solidFill>
                  <a:srgbClr val="FFFFCC"/>
                </a:solidFill>
                <a:effectLst>
                  <a:outerShdw blurRad="38100" dist="38100" dir="2700000" algn="tl">
                    <a:srgbClr val="000000"/>
                  </a:outerShdw>
                </a:effectLst>
                <a:latin typeface="Arial" pitchFamily="34" charset="0"/>
                <a:ea typeface="微软雅黑" pitchFamily="34" charset="-122"/>
              </a:rPr>
              <a:t>的求解理论</a:t>
            </a:r>
            <a:endParaRPr kumimoji="1" lang="en-US" altLang="zh-CN" sz="4000" b="1" kern="1200" dirty="0">
              <a:solidFill>
                <a:srgbClr val="FFFFCC"/>
              </a:solidFill>
              <a:effectLst>
                <a:outerShdw blurRad="38100" dist="38100" dir="2700000" algn="tl">
                  <a:srgbClr val="000000"/>
                </a:outerShdw>
              </a:effectLst>
              <a:latin typeface="Arial" pitchFamily="34" charset="0"/>
              <a:ea typeface="微软雅黑" pitchFamily="34" charset="-122"/>
            </a:endParaRPr>
          </a:p>
        </p:txBody>
      </p:sp>
      <p:sp>
        <p:nvSpPr>
          <p:cNvPr id="3" name="矩形 2"/>
          <p:cNvSpPr/>
          <p:nvPr/>
        </p:nvSpPr>
        <p:spPr>
          <a:xfrm>
            <a:off x="56424" y="908720"/>
            <a:ext cx="8836055" cy="2942152"/>
          </a:xfrm>
          <a:prstGeom prst="rect">
            <a:avLst/>
          </a:prstGeom>
        </p:spPr>
        <p:txBody>
          <a:bodyPr wrap="square">
            <a:spAutoFit/>
          </a:bodyPr>
          <a:lstStyle/>
          <a:p>
            <a:pPr indent="266700" algn="just">
              <a:lnSpc>
                <a:spcPct val="125000"/>
              </a:lnSpc>
              <a:spcAft>
                <a:spcPts val="1800"/>
              </a:spcAft>
            </a:pPr>
            <a:r>
              <a:rPr lang="zh-CN" altLang="zh-CN" sz="2800" dirty="0">
                <a:solidFill>
                  <a:srgbClr val="CCFFCC"/>
                </a:solidFill>
                <a:effectLst>
                  <a:outerShdw blurRad="38100" dist="38100" dir="2700000" algn="tl">
                    <a:srgbClr val="000000"/>
                  </a:outerShdw>
                </a:effectLst>
              </a:rPr>
              <a:t>关系模式</a:t>
            </a:r>
            <a:r>
              <a:rPr lang="en-US" altLang="zh-CN" sz="2800" dirty="0">
                <a:solidFill>
                  <a:srgbClr val="CCFFCC"/>
                </a:solidFill>
                <a:effectLst>
                  <a:outerShdw blurRad="38100" dist="38100" dir="2700000" algn="tl">
                    <a:srgbClr val="000000"/>
                  </a:outerShdw>
                </a:effectLst>
              </a:rPr>
              <a:t>R(U,F)</a:t>
            </a:r>
            <a:r>
              <a:rPr lang="zh-CN" altLang="en-US" sz="2800" dirty="0">
                <a:solidFill>
                  <a:srgbClr val="CCFFCC"/>
                </a:solidFill>
                <a:effectLst>
                  <a:outerShdw blurRad="38100" dist="38100" dir="2700000" algn="tl">
                    <a:srgbClr val="000000"/>
                  </a:outerShdw>
                </a:effectLst>
              </a:rPr>
              <a:t>的属性</a:t>
            </a:r>
            <a:r>
              <a:rPr lang="zh-CN" altLang="zh-CN" sz="2800" dirty="0">
                <a:solidFill>
                  <a:srgbClr val="CCFFCC"/>
                </a:solidFill>
                <a:effectLst>
                  <a:outerShdw blurRad="38100" dist="38100" dir="2700000" algn="tl">
                    <a:srgbClr val="000000"/>
                  </a:outerShdw>
                </a:effectLst>
              </a:rPr>
              <a:t>可分为以下四类</a:t>
            </a:r>
            <a:r>
              <a:rPr lang="zh-CN" altLang="en-US" sz="2800" dirty="0">
                <a:solidFill>
                  <a:srgbClr val="CCFFCC"/>
                </a:solidFill>
                <a:effectLst>
                  <a:outerShdw blurRad="38100" dist="38100" dir="2700000" algn="tl">
                    <a:srgbClr val="000000"/>
                  </a:outerShdw>
                </a:effectLst>
              </a:rPr>
              <a:t>：</a:t>
            </a:r>
            <a:endParaRPr lang="zh-CN" altLang="zh-CN" sz="2800" dirty="0">
              <a:solidFill>
                <a:srgbClr val="CCFFCC"/>
              </a:solidFill>
              <a:effectLst>
                <a:outerShdw blurRad="38100" dist="38100" dir="2700000" algn="tl">
                  <a:srgbClr val="000000"/>
                </a:outerShdw>
              </a:effectLst>
            </a:endParaRPr>
          </a:p>
          <a:p>
            <a:pPr marL="457200" indent="-457200" algn="just">
              <a:lnSpc>
                <a:spcPct val="125000"/>
              </a:lnSpc>
              <a:spcAft>
                <a:spcPts val="0"/>
              </a:spcAft>
              <a:buFont typeface="Arial" panose="020B0604020202020204" pitchFamily="34" charset="0"/>
              <a:buChar char="•"/>
            </a:pPr>
            <a:r>
              <a:rPr lang="en-US" altLang="zh-CN" sz="2800" dirty="0">
                <a:solidFill>
                  <a:srgbClr val="CCFFCC"/>
                </a:solidFill>
                <a:effectLst>
                  <a:outerShdw blurRad="38100" dist="38100" dir="2700000" algn="tl">
                    <a:srgbClr val="000000"/>
                  </a:outerShdw>
                </a:effectLst>
              </a:rPr>
              <a:t>L</a:t>
            </a:r>
            <a:r>
              <a:rPr lang="zh-CN" altLang="zh-CN" sz="2800" dirty="0">
                <a:solidFill>
                  <a:srgbClr val="CCFFCC"/>
                </a:solidFill>
                <a:effectLst>
                  <a:outerShdw blurRad="38100" dist="38100" dir="2700000" algn="tl">
                    <a:srgbClr val="000000"/>
                  </a:outerShdw>
                </a:effectLst>
              </a:rPr>
              <a:t>类：仅出现在</a:t>
            </a:r>
            <a:r>
              <a:rPr lang="en-US" altLang="zh-CN" sz="2800" dirty="0">
                <a:solidFill>
                  <a:srgbClr val="CCFFCC"/>
                </a:solidFill>
                <a:effectLst>
                  <a:outerShdw blurRad="38100" dist="38100" dir="2700000" algn="tl">
                    <a:srgbClr val="000000"/>
                  </a:outerShdw>
                </a:effectLst>
              </a:rPr>
              <a:t>F</a:t>
            </a:r>
            <a:r>
              <a:rPr lang="zh-CN" altLang="zh-CN" sz="2800" dirty="0">
                <a:solidFill>
                  <a:srgbClr val="CCFFCC"/>
                </a:solidFill>
                <a:effectLst>
                  <a:outerShdw blurRad="38100" dist="38100" dir="2700000" algn="tl">
                    <a:srgbClr val="000000"/>
                  </a:outerShdw>
                </a:effectLst>
              </a:rPr>
              <a:t>中的函数依赖的决定因素的属性。</a:t>
            </a:r>
          </a:p>
          <a:p>
            <a:pPr marL="457200" indent="-457200" algn="just">
              <a:lnSpc>
                <a:spcPct val="125000"/>
              </a:lnSpc>
              <a:spcAft>
                <a:spcPts val="0"/>
              </a:spcAft>
              <a:buFont typeface="Arial" panose="020B0604020202020204" pitchFamily="34" charset="0"/>
              <a:buChar char="•"/>
            </a:pPr>
            <a:r>
              <a:rPr lang="en-US" altLang="zh-CN" sz="2800" dirty="0">
                <a:solidFill>
                  <a:srgbClr val="CCFFCC"/>
                </a:solidFill>
                <a:effectLst>
                  <a:outerShdw blurRad="38100" dist="38100" dir="2700000" algn="tl">
                    <a:srgbClr val="000000"/>
                  </a:outerShdw>
                </a:effectLst>
              </a:rPr>
              <a:t>R</a:t>
            </a:r>
            <a:r>
              <a:rPr lang="zh-CN" altLang="zh-CN" sz="2800" dirty="0">
                <a:solidFill>
                  <a:srgbClr val="CCFFCC"/>
                </a:solidFill>
                <a:effectLst>
                  <a:outerShdw blurRad="38100" dist="38100" dir="2700000" algn="tl">
                    <a:srgbClr val="000000"/>
                  </a:outerShdw>
                </a:effectLst>
              </a:rPr>
              <a:t>类：仅出现在</a:t>
            </a:r>
            <a:r>
              <a:rPr lang="en-US" altLang="zh-CN" sz="2800" dirty="0">
                <a:solidFill>
                  <a:srgbClr val="CCFFCC"/>
                </a:solidFill>
                <a:effectLst>
                  <a:outerShdw blurRad="38100" dist="38100" dir="2700000" algn="tl">
                    <a:srgbClr val="000000"/>
                  </a:outerShdw>
                </a:effectLst>
              </a:rPr>
              <a:t>F</a:t>
            </a:r>
            <a:r>
              <a:rPr lang="zh-CN" altLang="zh-CN" sz="2800" dirty="0">
                <a:solidFill>
                  <a:srgbClr val="CCFFCC"/>
                </a:solidFill>
                <a:effectLst>
                  <a:outerShdw blurRad="38100" dist="38100" dir="2700000" algn="tl">
                    <a:srgbClr val="000000"/>
                  </a:outerShdw>
                </a:effectLst>
              </a:rPr>
              <a:t>的函数依赖的依赖因素的属性。</a:t>
            </a:r>
          </a:p>
          <a:p>
            <a:pPr marL="457200" indent="-457200" algn="just">
              <a:lnSpc>
                <a:spcPct val="125000"/>
              </a:lnSpc>
              <a:spcAft>
                <a:spcPts val="0"/>
              </a:spcAft>
              <a:buFont typeface="Arial" panose="020B0604020202020204" pitchFamily="34" charset="0"/>
              <a:buChar char="•"/>
            </a:pPr>
            <a:r>
              <a:rPr lang="en-US" altLang="zh-CN" sz="2800" dirty="0">
                <a:solidFill>
                  <a:srgbClr val="CCFFCC"/>
                </a:solidFill>
                <a:effectLst>
                  <a:outerShdw blurRad="38100" dist="38100" dir="2700000" algn="tl">
                    <a:srgbClr val="000000"/>
                  </a:outerShdw>
                </a:effectLst>
              </a:rPr>
              <a:t>N</a:t>
            </a:r>
            <a:r>
              <a:rPr lang="zh-CN" altLang="zh-CN" sz="2800" dirty="0">
                <a:solidFill>
                  <a:srgbClr val="CCFFCC"/>
                </a:solidFill>
                <a:effectLst>
                  <a:outerShdw blurRad="38100" dist="38100" dir="2700000" algn="tl">
                    <a:srgbClr val="000000"/>
                  </a:outerShdw>
                </a:effectLst>
              </a:rPr>
              <a:t>类：在</a:t>
            </a:r>
            <a:r>
              <a:rPr lang="en-US" altLang="zh-CN" sz="2800" dirty="0">
                <a:solidFill>
                  <a:srgbClr val="CCFFCC"/>
                </a:solidFill>
                <a:effectLst>
                  <a:outerShdw blurRad="38100" dist="38100" dir="2700000" algn="tl">
                    <a:srgbClr val="000000"/>
                  </a:outerShdw>
                </a:effectLst>
              </a:rPr>
              <a:t>F</a:t>
            </a:r>
            <a:r>
              <a:rPr lang="zh-CN" altLang="zh-CN" sz="2800" dirty="0">
                <a:solidFill>
                  <a:srgbClr val="CCFFCC"/>
                </a:solidFill>
                <a:effectLst>
                  <a:outerShdw blurRad="38100" dist="38100" dir="2700000" algn="tl">
                    <a:srgbClr val="000000"/>
                  </a:outerShdw>
                </a:effectLst>
              </a:rPr>
              <a:t>的函数依赖左右两边均未出现的属性。</a:t>
            </a:r>
          </a:p>
          <a:p>
            <a:pPr marL="457200" indent="-457200" algn="just">
              <a:lnSpc>
                <a:spcPct val="125000"/>
              </a:lnSpc>
              <a:spcAft>
                <a:spcPts val="0"/>
              </a:spcAft>
              <a:buFont typeface="Arial" panose="020B0604020202020204" pitchFamily="34" charset="0"/>
              <a:buChar char="•"/>
            </a:pPr>
            <a:r>
              <a:rPr lang="en-US" altLang="zh-CN" sz="2800" dirty="0">
                <a:solidFill>
                  <a:srgbClr val="CCFFCC"/>
                </a:solidFill>
                <a:effectLst>
                  <a:outerShdw blurRad="38100" dist="38100" dir="2700000" algn="tl">
                    <a:srgbClr val="000000"/>
                  </a:outerShdw>
                </a:effectLst>
              </a:rPr>
              <a:t>LR</a:t>
            </a:r>
            <a:r>
              <a:rPr lang="zh-CN" altLang="zh-CN" sz="2800" dirty="0">
                <a:solidFill>
                  <a:srgbClr val="CCFFCC"/>
                </a:solidFill>
                <a:effectLst>
                  <a:outerShdw blurRad="38100" dist="38100" dir="2700000" algn="tl">
                    <a:srgbClr val="000000"/>
                  </a:outerShdw>
                </a:effectLst>
              </a:rPr>
              <a:t>类：在</a:t>
            </a:r>
            <a:r>
              <a:rPr lang="en-US" altLang="zh-CN" sz="2800" dirty="0">
                <a:solidFill>
                  <a:srgbClr val="CCFFCC"/>
                </a:solidFill>
                <a:effectLst>
                  <a:outerShdw blurRad="38100" dist="38100" dir="2700000" algn="tl">
                    <a:srgbClr val="000000"/>
                  </a:outerShdw>
                </a:effectLst>
              </a:rPr>
              <a:t>F</a:t>
            </a:r>
            <a:r>
              <a:rPr lang="zh-CN" altLang="zh-CN" sz="2800" dirty="0">
                <a:solidFill>
                  <a:srgbClr val="CCFFCC"/>
                </a:solidFill>
                <a:effectLst>
                  <a:outerShdw blurRad="38100" dist="38100" dir="2700000" algn="tl">
                    <a:srgbClr val="000000"/>
                  </a:outerShdw>
                </a:effectLst>
              </a:rPr>
              <a:t>的函数依赖左右两边均出现的属性。</a:t>
            </a:r>
          </a:p>
        </p:txBody>
      </p:sp>
      <p:sp>
        <p:nvSpPr>
          <p:cNvPr id="24" name="矩形 23"/>
          <p:cNvSpPr/>
          <p:nvPr/>
        </p:nvSpPr>
        <p:spPr>
          <a:xfrm>
            <a:off x="452467" y="4437112"/>
            <a:ext cx="8043968" cy="1708160"/>
          </a:xfrm>
          <a:prstGeom prst="rect">
            <a:avLst/>
          </a:prstGeom>
        </p:spPr>
        <p:txBody>
          <a:bodyPr wrap="square">
            <a:spAutoFit/>
          </a:bodyPr>
          <a:lstStyle/>
          <a:p>
            <a:pPr algn="just">
              <a:lnSpc>
                <a:spcPct val="125000"/>
              </a:lnSpc>
              <a:spcAft>
                <a:spcPts val="0"/>
              </a:spcAft>
            </a:pPr>
            <a:r>
              <a:rPr lang="zh-CN" altLang="en-US" sz="2800" kern="100" dirty="0" smtClean="0">
                <a:effectLst/>
                <a:latin typeface="Times New Roman" panose="02020603050405020304" pitchFamily="18" charset="0"/>
                <a:ea typeface="宋体" panose="02010600030101010101" pitchFamily="2" charset="-122"/>
                <a:cs typeface="Times New Roman" panose="02020603050405020304" pitchFamily="18" charset="0"/>
              </a:rPr>
              <a:t>例如</a:t>
            </a:r>
            <a:r>
              <a:rPr lang="zh-CN" altLang="zh-CN" sz="2800" kern="100" dirty="0" smtClean="0">
                <a:effectLst/>
                <a:latin typeface="Times New Roman" panose="02020603050405020304" pitchFamily="18" charset="0"/>
                <a:ea typeface="宋体" panose="02010600030101010101" pitchFamily="2" charset="-122"/>
                <a:cs typeface="Times New Roman" panose="02020603050405020304" pitchFamily="18" charset="0"/>
              </a:rPr>
              <a:t>关系</a:t>
            </a:r>
            <a:r>
              <a:rPr lang="zh-CN" altLang="zh-CN" sz="2800" kern="100" dirty="0">
                <a:effectLst/>
                <a:latin typeface="Times New Roman" panose="02020603050405020304" pitchFamily="18" charset="0"/>
                <a:ea typeface="宋体" panose="02010600030101010101" pitchFamily="2" charset="-122"/>
                <a:cs typeface="Times New Roman" panose="02020603050405020304" pitchFamily="18" charset="0"/>
              </a:rPr>
              <a:t>模式</a:t>
            </a:r>
            <a:r>
              <a:rPr lang="en-US" altLang="zh-CN" sz="2800" kern="100" dirty="0" smtClean="0">
                <a:effectLst/>
                <a:latin typeface="Times New Roman" panose="02020603050405020304" pitchFamily="18" charset="0"/>
                <a:ea typeface="宋体" panose="02010600030101010101" pitchFamily="2" charset="-122"/>
                <a:cs typeface="Times New Roman" panose="02020603050405020304" pitchFamily="18" charset="0"/>
              </a:rPr>
              <a:t>R(U,F)</a:t>
            </a:r>
            <a:r>
              <a:rPr lang="zh-CN" altLang="en-US" sz="2800" kern="100" dirty="0" smtClean="0">
                <a:effectLst/>
                <a:latin typeface="Times New Roman" panose="02020603050405020304" pitchFamily="18" charset="0"/>
                <a:ea typeface="宋体" panose="02010600030101010101" pitchFamily="2" charset="-122"/>
                <a:cs typeface="Times New Roman" panose="02020603050405020304" pitchFamily="18" charset="0"/>
              </a:rPr>
              <a:t>中</a:t>
            </a:r>
            <a:r>
              <a:rPr lang="zh-CN" altLang="zh-CN" sz="2800" kern="100" dirty="0" smtClean="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800" kern="100" dirty="0" smtClean="0">
                <a:effectLst/>
                <a:latin typeface="Times New Roman" panose="02020603050405020304" pitchFamily="18" charset="0"/>
                <a:ea typeface="宋体" panose="02010600030101010101" pitchFamily="2" charset="-122"/>
                <a:cs typeface="Times New Roman" panose="02020603050405020304" pitchFamily="18" charset="0"/>
              </a:rPr>
              <a:t>U=ABCD</a:t>
            </a:r>
            <a:r>
              <a:rPr lang="zh-CN" altLang="zh-CN" sz="2800" kern="100" dirty="0" smtClean="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800" kern="100" dirty="0">
                <a:effectLst/>
                <a:latin typeface="Times New Roman" panose="02020603050405020304" pitchFamily="18" charset="0"/>
                <a:ea typeface="宋体" panose="02010600030101010101" pitchFamily="2" charset="-122"/>
                <a:cs typeface="Times New Roman" panose="02020603050405020304" pitchFamily="18" charset="0"/>
              </a:rPr>
              <a:t>F={D</a:t>
            </a:r>
            <a:r>
              <a:rPr lang="zh-CN" altLang="zh-CN" sz="2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800" kern="100" dirty="0">
                <a:effectLst/>
                <a:latin typeface="Times New Roman" panose="02020603050405020304" pitchFamily="18" charset="0"/>
                <a:ea typeface="宋体" panose="02010600030101010101" pitchFamily="2" charset="-122"/>
                <a:cs typeface="Times New Roman" panose="02020603050405020304" pitchFamily="18" charset="0"/>
              </a:rPr>
              <a:t>B</a:t>
            </a:r>
            <a:r>
              <a:rPr lang="zh-CN" altLang="zh-CN" sz="2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800" kern="100" dirty="0">
                <a:effectLst/>
                <a:latin typeface="Times New Roman" panose="02020603050405020304" pitchFamily="18" charset="0"/>
                <a:ea typeface="宋体" panose="02010600030101010101" pitchFamily="2" charset="-122"/>
                <a:cs typeface="Times New Roman" panose="02020603050405020304" pitchFamily="18" charset="0"/>
              </a:rPr>
              <a:t>B</a:t>
            </a:r>
            <a:r>
              <a:rPr lang="zh-CN" altLang="zh-CN" sz="2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800" kern="100" dirty="0">
                <a:effectLst/>
                <a:latin typeface="Times New Roman" panose="02020603050405020304" pitchFamily="18" charset="0"/>
                <a:ea typeface="宋体" panose="02010600030101010101" pitchFamily="2" charset="-122"/>
                <a:cs typeface="Times New Roman" panose="02020603050405020304" pitchFamily="18" charset="0"/>
              </a:rPr>
              <a:t>D</a:t>
            </a:r>
            <a:r>
              <a:rPr lang="zh-CN" altLang="zh-CN" sz="2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800" kern="100" dirty="0">
                <a:effectLst/>
                <a:latin typeface="Times New Roman" panose="02020603050405020304" pitchFamily="18" charset="0"/>
                <a:ea typeface="宋体" panose="02010600030101010101" pitchFamily="2" charset="-122"/>
                <a:cs typeface="Times New Roman" panose="02020603050405020304" pitchFamily="18" charset="0"/>
              </a:rPr>
              <a:t>AD</a:t>
            </a:r>
            <a:r>
              <a:rPr lang="zh-CN" altLang="zh-CN" sz="2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800" kern="100" dirty="0">
                <a:effectLst/>
                <a:latin typeface="Times New Roman" panose="02020603050405020304" pitchFamily="18" charset="0"/>
                <a:ea typeface="宋体" panose="02010600030101010101" pitchFamily="2" charset="-122"/>
                <a:cs typeface="Times New Roman" panose="02020603050405020304" pitchFamily="18" charset="0"/>
              </a:rPr>
              <a:t>B</a:t>
            </a:r>
            <a:r>
              <a:rPr lang="zh-CN" altLang="zh-CN" sz="2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800" kern="100" dirty="0">
                <a:effectLst/>
                <a:latin typeface="Times New Roman" panose="02020603050405020304" pitchFamily="18" charset="0"/>
                <a:ea typeface="宋体" panose="02010600030101010101" pitchFamily="2" charset="-122"/>
                <a:cs typeface="Times New Roman" panose="02020603050405020304" pitchFamily="18" charset="0"/>
              </a:rPr>
              <a:t>AC</a:t>
            </a:r>
            <a:r>
              <a:rPr lang="zh-CN" altLang="zh-CN" sz="2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800" kern="100" dirty="0">
                <a:effectLst/>
                <a:latin typeface="Times New Roman" panose="02020603050405020304" pitchFamily="18" charset="0"/>
                <a:ea typeface="宋体" panose="02010600030101010101" pitchFamily="2" charset="-122"/>
                <a:cs typeface="Times New Roman" panose="02020603050405020304" pitchFamily="18" charset="0"/>
              </a:rPr>
              <a:t>D}</a:t>
            </a:r>
            <a:r>
              <a:rPr lang="zh-CN" altLang="zh-CN" sz="2800" kern="100" dirty="0" smtClean="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2800" kern="100" dirty="0" smtClean="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25000"/>
              </a:lnSpc>
              <a:spcAft>
                <a:spcPts val="0"/>
              </a:spcAft>
            </a:pPr>
            <a:r>
              <a:rPr lang="zh-CN" altLang="en-US" sz="2800" dirty="0" smtClean="0">
                <a:effectLst/>
                <a:latin typeface="Times New Roman" panose="02020603050405020304" pitchFamily="18" charset="0"/>
                <a:ea typeface="宋体" panose="02010600030101010101" pitchFamily="2" charset="-122"/>
                <a:cs typeface="Times New Roman" panose="02020603050405020304" pitchFamily="18" charset="0"/>
              </a:rPr>
              <a:t>则</a:t>
            </a:r>
            <a:r>
              <a:rPr lang="zh-CN" altLang="zh-CN" sz="2800" dirty="0" smtClean="0">
                <a:effectLst/>
                <a:latin typeface="Times New Roman" panose="02020603050405020304" pitchFamily="18" charset="0"/>
                <a:ea typeface="宋体" panose="02010600030101010101" pitchFamily="2" charset="-122"/>
                <a:cs typeface="Times New Roman" panose="02020603050405020304" pitchFamily="18" charset="0"/>
              </a:rPr>
              <a:t>可</a:t>
            </a:r>
            <a:r>
              <a:rPr lang="zh-CN" altLang="en-US" sz="2800" dirty="0">
                <a:effectLst/>
                <a:latin typeface="Times New Roman" panose="02020603050405020304" pitchFamily="18" charset="0"/>
                <a:ea typeface="宋体" panose="02010600030101010101" pitchFamily="2" charset="-122"/>
                <a:cs typeface="Times New Roman" panose="02020603050405020304" pitchFamily="18" charset="0"/>
              </a:rPr>
              <a:t>知</a:t>
            </a:r>
            <a:r>
              <a:rPr lang="en-US" altLang="zh-CN" sz="2800" dirty="0" smtClean="0">
                <a:effectLst/>
                <a:latin typeface="Times New Roman" panose="02020603050405020304" pitchFamily="18" charset="0"/>
                <a:ea typeface="宋体" panose="02010600030101010101" pitchFamily="2" charset="-122"/>
              </a:rPr>
              <a:t>A</a:t>
            </a:r>
            <a:r>
              <a:rPr lang="zh-CN" altLang="zh-CN" sz="2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smtClean="0">
                <a:effectLst/>
                <a:latin typeface="Times New Roman" panose="02020603050405020304" pitchFamily="18" charset="0"/>
                <a:ea typeface="宋体" panose="02010600030101010101" pitchFamily="2" charset="-122"/>
              </a:rPr>
              <a:t>C</a:t>
            </a:r>
            <a:r>
              <a:rPr lang="zh-CN" altLang="zh-CN" sz="2800" dirty="0" smtClean="0">
                <a:effectLst/>
                <a:latin typeface="Times New Roman" panose="02020603050405020304" pitchFamily="18" charset="0"/>
                <a:ea typeface="宋体" panose="02010600030101010101" pitchFamily="2" charset="-122"/>
                <a:cs typeface="Times New Roman" panose="02020603050405020304" pitchFamily="18" charset="0"/>
              </a:rPr>
              <a:t>是</a:t>
            </a:r>
            <a:r>
              <a:rPr lang="en-US" altLang="zh-CN" sz="2800" dirty="0">
                <a:effectLst/>
                <a:latin typeface="Times New Roman" panose="02020603050405020304" pitchFamily="18" charset="0"/>
                <a:ea typeface="宋体" panose="02010600030101010101" pitchFamily="2" charset="-122"/>
              </a:rPr>
              <a:t>L</a:t>
            </a:r>
            <a:r>
              <a:rPr lang="zh-CN" altLang="zh-CN" sz="2800" dirty="0">
                <a:effectLst/>
                <a:latin typeface="Times New Roman" panose="02020603050405020304" pitchFamily="18" charset="0"/>
                <a:ea typeface="宋体" panose="02010600030101010101" pitchFamily="2" charset="-122"/>
                <a:cs typeface="Times New Roman" panose="02020603050405020304" pitchFamily="18" charset="0"/>
              </a:rPr>
              <a:t>类</a:t>
            </a:r>
            <a:r>
              <a:rPr lang="zh-CN" altLang="zh-CN" sz="2800" dirty="0" smtClean="0">
                <a:effectLst/>
                <a:latin typeface="Times New Roman" panose="02020603050405020304" pitchFamily="18" charset="0"/>
                <a:ea typeface="宋体" panose="02010600030101010101" pitchFamily="2" charset="-122"/>
                <a:cs typeface="Times New Roman" panose="02020603050405020304" pitchFamily="18" charset="0"/>
              </a:rPr>
              <a:t>属性</a:t>
            </a:r>
            <a:r>
              <a:rPr lang="zh-CN" altLang="en-US" sz="2800" dirty="0" smtClean="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smtClean="0">
                <a:effectLst/>
                <a:latin typeface="Times New Roman" panose="02020603050405020304" pitchFamily="18" charset="0"/>
                <a:ea typeface="宋体" panose="02010600030101010101" pitchFamily="2" charset="-122"/>
                <a:cs typeface="Times New Roman" panose="02020603050405020304" pitchFamily="18" charset="0"/>
              </a:rPr>
              <a:t>B</a:t>
            </a:r>
            <a:r>
              <a:rPr lang="zh-CN" altLang="en-US" sz="2800" dirty="0" smtClean="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800" dirty="0" smtClean="0">
                <a:effectLst/>
                <a:latin typeface="Times New Roman" panose="02020603050405020304" pitchFamily="18" charset="0"/>
                <a:ea typeface="宋体" panose="02010600030101010101" pitchFamily="2" charset="-122"/>
                <a:cs typeface="Times New Roman" panose="02020603050405020304" pitchFamily="18" charset="0"/>
              </a:rPr>
              <a:t>D</a:t>
            </a:r>
            <a:r>
              <a:rPr lang="zh-CN" altLang="en-US" sz="2800" dirty="0" smtClean="0">
                <a:effectLst/>
                <a:latin typeface="Times New Roman" panose="02020603050405020304" pitchFamily="18" charset="0"/>
                <a:ea typeface="宋体" panose="02010600030101010101" pitchFamily="2" charset="-122"/>
                <a:cs typeface="Times New Roman" panose="02020603050405020304" pitchFamily="18" charset="0"/>
              </a:rPr>
              <a:t>是</a:t>
            </a:r>
            <a:r>
              <a:rPr lang="en-US" altLang="zh-CN" sz="2800" dirty="0" smtClean="0">
                <a:effectLst/>
                <a:latin typeface="Times New Roman" panose="02020603050405020304" pitchFamily="18" charset="0"/>
                <a:ea typeface="宋体" panose="02010600030101010101" pitchFamily="2" charset="-122"/>
                <a:cs typeface="Times New Roman" panose="02020603050405020304" pitchFamily="18" charset="0"/>
              </a:rPr>
              <a:t>LR</a:t>
            </a:r>
            <a:r>
              <a:rPr lang="zh-CN" altLang="en-US" sz="2800" dirty="0" smtClean="0">
                <a:effectLst/>
                <a:latin typeface="Times New Roman" panose="02020603050405020304" pitchFamily="18" charset="0"/>
                <a:ea typeface="宋体" panose="02010600030101010101" pitchFamily="2" charset="-122"/>
                <a:cs typeface="Times New Roman" panose="02020603050405020304" pitchFamily="18" charset="0"/>
              </a:rPr>
              <a:t>类属性</a:t>
            </a:r>
            <a:r>
              <a:rPr lang="zh-CN" altLang="zh-CN" sz="2800" dirty="0" smtClean="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2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720932699"/>
      </p:ext>
    </p:extLst>
  </p:cSld>
  <p:clrMapOvr>
    <a:masterClrMapping/>
  </p:clrMapOvr>
  <p:transition spd="med">
    <p:random/>
    <p:sndAc>
      <p:stSnd>
        <p:snd r:embed="rId2" name="camera.wav"/>
      </p:stSnd>
    </p:sndAc>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title"/>
          </p:nvPr>
        </p:nvSpPr>
        <p:spPr>
          <a:xfrm>
            <a:off x="35496" y="-20116"/>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pPr>
            <a:r>
              <a:rPr lang="zh-CN" altLang="en-US" sz="4000" b="1" dirty="0">
                <a:solidFill>
                  <a:srgbClr val="FFFFCC"/>
                </a:solidFill>
                <a:effectLst>
                  <a:outerShdw blurRad="38100" dist="38100" dir="2700000" algn="tl">
                    <a:srgbClr val="000000"/>
                  </a:outerShdw>
                </a:effectLst>
                <a:latin typeface="Arial" pitchFamily="34" charset="0"/>
                <a:ea typeface="微软雅黑" pitchFamily="34" charset="-122"/>
              </a:rPr>
              <a:t>候选键</a:t>
            </a:r>
            <a:r>
              <a:rPr kumimoji="1" lang="zh-CN" altLang="en-US" sz="4000" b="1" kern="1200" dirty="0" smtClean="0">
                <a:solidFill>
                  <a:srgbClr val="FFFFCC"/>
                </a:solidFill>
                <a:effectLst>
                  <a:outerShdw blurRad="38100" dist="38100" dir="2700000" algn="tl">
                    <a:srgbClr val="000000"/>
                  </a:outerShdw>
                </a:effectLst>
                <a:latin typeface="Arial" pitchFamily="34" charset="0"/>
                <a:ea typeface="微软雅黑" pitchFamily="34" charset="-122"/>
              </a:rPr>
              <a:t>的</a:t>
            </a:r>
            <a:r>
              <a:rPr kumimoji="1" lang="zh-CN" altLang="en-US" sz="4000" b="1" kern="1200" dirty="0">
                <a:solidFill>
                  <a:srgbClr val="FFFFCC"/>
                </a:solidFill>
                <a:effectLst>
                  <a:outerShdw blurRad="38100" dist="38100" dir="2700000" algn="tl">
                    <a:srgbClr val="000000"/>
                  </a:outerShdw>
                </a:effectLst>
                <a:latin typeface="Arial" pitchFamily="34" charset="0"/>
                <a:ea typeface="微软雅黑" pitchFamily="34" charset="-122"/>
              </a:rPr>
              <a:t>求解理论</a:t>
            </a:r>
            <a:endParaRPr kumimoji="1" lang="en-US" altLang="zh-CN" sz="4000" b="1" kern="1200" dirty="0">
              <a:solidFill>
                <a:srgbClr val="FFFFCC"/>
              </a:solidFill>
              <a:effectLst>
                <a:outerShdw blurRad="38100" dist="38100" dir="2700000" algn="tl">
                  <a:srgbClr val="000000"/>
                </a:outerShdw>
              </a:effectLst>
              <a:latin typeface="Arial" pitchFamily="34" charset="0"/>
              <a:ea typeface="微软雅黑" pitchFamily="34" charset="-122"/>
            </a:endParaRPr>
          </a:p>
        </p:txBody>
      </p:sp>
      <mc:AlternateContent xmlns:mc="http://schemas.openxmlformats.org/markup-compatibility/2006" xmlns:a14="http://schemas.microsoft.com/office/drawing/2010/main">
        <mc:Choice Requires="a14">
          <p:sp>
            <p:nvSpPr>
              <p:cNvPr id="3" name="矩形 2"/>
              <p:cNvSpPr/>
              <p:nvPr/>
            </p:nvSpPr>
            <p:spPr>
              <a:xfrm>
                <a:off x="44771" y="1196752"/>
                <a:ext cx="8532948" cy="4508927"/>
              </a:xfrm>
              <a:prstGeom prst="rect">
                <a:avLst/>
              </a:prstGeom>
            </p:spPr>
            <p:txBody>
              <a:bodyPr wrap="square">
                <a:spAutoFit/>
              </a:bodyPr>
              <a:lstStyle/>
              <a:p>
                <a:pPr indent="267970" algn="just">
                  <a:lnSpc>
                    <a:spcPct val="125000"/>
                  </a:lnSpc>
                  <a:spcBef>
                    <a:spcPts val="1800"/>
                  </a:spcBef>
                  <a:spcAft>
                    <a:spcPts val="0"/>
                  </a:spcAft>
                </a:pPr>
                <a:r>
                  <a:rPr lang="en-US" altLang="zh-CN" sz="2800" kern="100" dirty="0" smtClean="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800" dirty="0">
                    <a:solidFill>
                      <a:srgbClr val="CCFFCC"/>
                    </a:solidFill>
                    <a:effectLst>
                      <a:outerShdw blurRad="38100" dist="38100" dir="2700000" algn="tl">
                        <a:srgbClr val="000000"/>
                      </a:outerShdw>
                    </a:effectLst>
                  </a:rPr>
                  <a:t>对于关系模式</a:t>
                </a:r>
                <a:r>
                  <a:rPr lang="en-US" altLang="zh-CN" sz="2800" dirty="0">
                    <a:solidFill>
                      <a:srgbClr val="CCFFCC"/>
                    </a:solidFill>
                    <a:effectLst>
                      <a:outerShdw blurRad="38100" dist="38100" dir="2700000" algn="tl">
                        <a:srgbClr val="000000"/>
                      </a:outerShdw>
                    </a:effectLst>
                  </a:rPr>
                  <a:t>R(U,F)</a:t>
                </a:r>
                <a:r>
                  <a:rPr lang="zh-CN" altLang="zh-CN" sz="2800" dirty="0">
                    <a:solidFill>
                      <a:srgbClr val="CCFFCC"/>
                    </a:solidFill>
                    <a:effectLst>
                      <a:outerShdw blurRad="38100" dist="38100" dir="2700000" algn="tl">
                        <a:srgbClr val="000000"/>
                      </a:outerShdw>
                    </a:effectLst>
                  </a:rPr>
                  <a:t>，</a:t>
                </a:r>
                <a:r>
                  <a:rPr lang="en-US" altLang="zh-CN" sz="2800" dirty="0">
                    <a:solidFill>
                      <a:srgbClr val="CCFFCC"/>
                    </a:solidFill>
                    <a:effectLst>
                      <a:outerShdw blurRad="38100" dist="38100" dir="2700000" algn="tl">
                        <a:srgbClr val="000000"/>
                      </a:outerShdw>
                    </a:effectLst>
                  </a:rPr>
                  <a:t>X</a:t>
                </a:r>
                <a14:m>
                  <m:oMath xmlns:m="http://schemas.openxmlformats.org/officeDocument/2006/math">
                    <m:r>
                      <a:rPr lang="en-US" altLang="zh-CN" sz="2800">
                        <a:solidFill>
                          <a:srgbClr val="CCFFCC"/>
                        </a:solidFill>
                        <a:effectLst>
                          <a:outerShdw blurRad="38100" dist="38100" dir="2700000" algn="tl">
                            <a:srgbClr val="000000"/>
                          </a:outerShdw>
                        </a:effectLst>
                        <a:latin typeface="Cambria Math" panose="02040503050406030204" pitchFamily="18" charset="0"/>
                      </a:rPr>
                      <m:t>∈</m:t>
                    </m:r>
                  </m:oMath>
                </a14:m>
                <a:r>
                  <a:rPr lang="en-US" altLang="zh-CN" sz="2800" dirty="0">
                    <a:solidFill>
                      <a:srgbClr val="CCFFCC"/>
                    </a:solidFill>
                    <a:effectLst>
                      <a:outerShdw blurRad="38100" dist="38100" dir="2700000" algn="tl">
                        <a:srgbClr val="000000"/>
                      </a:outerShdw>
                    </a:effectLst>
                  </a:rPr>
                  <a:t>U</a:t>
                </a:r>
                <a:r>
                  <a:rPr lang="zh-CN" altLang="zh-CN" sz="2800" dirty="0">
                    <a:solidFill>
                      <a:srgbClr val="CCFFCC"/>
                    </a:solidFill>
                    <a:effectLst>
                      <a:outerShdw blurRad="38100" dist="38100" dir="2700000" algn="tl">
                        <a:srgbClr val="000000"/>
                      </a:outerShdw>
                    </a:effectLst>
                  </a:rPr>
                  <a:t>，有以下结论</a:t>
                </a:r>
                <a:r>
                  <a:rPr lang="zh-CN" altLang="en-US" sz="2800" dirty="0">
                    <a:solidFill>
                      <a:srgbClr val="CCFFCC"/>
                    </a:solidFill>
                    <a:effectLst>
                      <a:outerShdw blurRad="38100" dist="38100" dir="2700000" algn="tl">
                        <a:srgbClr val="000000"/>
                      </a:outerShdw>
                    </a:effectLst>
                  </a:rPr>
                  <a:t>：</a:t>
                </a:r>
                <a:endParaRPr lang="zh-CN" altLang="zh-CN" sz="2800" dirty="0">
                  <a:solidFill>
                    <a:srgbClr val="CCFFCC"/>
                  </a:solidFill>
                  <a:effectLst>
                    <a:outerShdw blurRad="38100" dist="38100" dir="2700000" algn="tl">
                      <a:srgbClr val="000000"/>
                    </a:outerShdw>
                  </a:effectLst>
                </a:endParaRPr>
              </a:p>
              <a:p>
                <a:pPr marL="457200" lvl="0" indent="-457200" algn="just">
                  <a:lnSpc>
                    <a:spcPct val="150000"/>
                  </a:lnSpc>
                  <a:spcAft>
                    <a:spcPts val="0"/>
                  </a:spcAft>
                  <a:buFont typeface="Arial" panose="020B0604020202020204" pitchFamily="34" charset="0"/>
                  <a:buChar char="•"/>
                </a:pPr>
                <a:r>
                  <a:rPr lang="zh-CN" altLang="zh-CN" sz="2800" dirty="0">
                    <a:solidFill>
                      <a:srgbClr val="CCFFCC"/>
                    </a:solidFill>
                    <a:effectLst>
                      <a:outerShdw blurRad="38100" dist="38100" dir="2700000" algn="tl">
                        <a:srgbClr val="000000"/>
                      </a:outerShdw>
                    </a:effectLst>
                  </a:rPr>
                  <a:t>若</a:t>
                </a:r>
                <a:r>
                  <a:rPr lang="en-US" altLang="zh-CN" sz="2800" dirty="0">
                    <a:solidFill>
                      <a:srgbClr val="CCFFCC"/>
                    </a:solidFill>
                    <a:effectLst>
                      <a:outerShdw blurRad="38100" dist="38100" dir="2700000" algn="tl">
                        <a:srgbClr val="000000"/>
                      </a:outerShdw>
                    </a:effectLst>
                  </a:rPr>
                  <a:t>X</a:t>
                </a:r>
                <a:r>
                  <a:rPr lang="zh-CN" altLang="zh-CN" sz="2800" dirty="0">
                    <a:solidFill>
                      <a:srgbClr val="CCFFCC"/>
                    </a:solidFill>
                    <a:effectLst>
                      <a:outerShdw blurRad="38100" dist="38100" dir="2700000" algn="tl">
                        <a:srgbClr val="000000"/>
                      </a:outerShdw>
                    </a:effectLst>
                  </a:rPr>
                  <a:t>是</a:t>
                </a:r>
                <a:r>
                  <a:rPr lang="en-US" altLang="zh-CN" sz="2800" dirty="0">
                    <a:solidFill>
                      <a:srgbClr val="CCFFCC"/>
                    </a:solidFill>
                    <a:effectLst>
                      <a:outerShdw blurRad="38100" dist="38100" dir="2700000" algn="tl">
                        <a:srgbClr val="000000"/>
                      </a:outerShdw>
                    </a:effectLst>
                  </a:rPr>
                  <a:t>L</a:t>
                </a:r>
                <a:r>
                  <a:rPr lang="zh-CN" altLang="zh-CN" sz="2800" dirty="0">
                    <a:solidFill>
                      <a:srgbClr val="CCFFCC"/>
                    </a:solidFill>
                    <a:effectLst>
                      <a:outerShdw blurRad="38100" dist="38100" dir="2700000" algn="tl">
                        <a:srgbClr val="000000"/>
                      </a:outerShdw>
                    </a:effectLst>
                  </a:rPr>
                  <a:t>类属性，则</a:t>
                </a:r>
                <a:r>
                  <a:rPr lang="en-US" altLang="zh-CN" sz="2800" dirty="0">
                    <a:solidFill>
                      <a:srgbClr val="CCFFCC"/>
                    </a:solidFill>
                    <a:effectLst>
                      <a:outerShdw blurRad="38100" dist="38100" dir="2700000" algn="tl">
                        <a:srgbClr val="000000"/>
                      </a:outerShdw>
                    </a:effectLst>
                  </a:rPr>
                  <a:t>X</a:t>
                </a:r>
                <a:r>
                  <a:rPr lang="zh-CN" altLang="zh-CN" sz="2800" dirty="0">
                    <a:solidFill>
                      <a:srgbClr val="CCFFCC"/>
                    </a:solidFill>
                    <a:effectLst>
                      <a:outerShdw blurRad="38100" dist="38100" dir="2700000" algn="tl">
                        <a:srgbClr val="000000"/>
                      </a:outerShdw>
                    </a:effectLst>
                  </a:rPr>
                  <a:t>必为</a:t>
                </a:r>
                <a:r>
                  <a:rPr lang="en-US" altLang="zh-CN" sz="2800" dirty="0">
                    <a:solidFill>
                      <a:srgbClr val="CCFFCC"/>
                    </a:solidFill>
                    <a:effectLst>
                      <a:outerShdw blurRad="38100" dist="38100" dir="2700000" algn="tl">
                        <a:srgbClr val="000000"/>
                      </a:outerShdw>
                    </a:effectLst>
                  </a:rPr>
                  <a:t>R</a:t>
                </a:r>
                <a:r>
                  <a:rPr lang="zh-CN" altLang="zh-CN" sz="2800" dirty="0">
                    <a:solidFill>
                      <a:srgbClr val="CCFFCC"/>
                    </a:solidFill>
                    <a:effectLst>
                      <a:outerShdw blurRad="38100" dist="38100" dir="2700000" algn="tl">
                        <a:srgbClr val="000000"/>
                      </a:outerShdw>
                    </a:effectLst>
                  </a:rPr>
                  <a:t>的任一候选键的成员。</a:t>
                </a:r>
              </a:p>
              <a:p>
                <a:pPr marL="457200" lvl="0" indent="-457200" algn="just">
                  <a:lnSpc>
                    <a:spcPct val="150000"/>
                  </a:lnSpc>
                  <a:spcAft>
                    <a:spcPts val="0"/>
                  </a:spcAft>
                  <a:buFont typeface="Arial" panose="020B0604020202020204" pitchFamily="34" charset="0"/>
                  <a:buChar char="•"/>
                </a:pPr>
                <a:r>
                  <a:rPr lang="zh-CN" altLang="zh-CN" sz="2800" dirty="0">
                    <a:solidFill>
                      <a:srgbClr val="CCFFCC"/>
                    </a:solidFill>
                    <a:effectLst>
                      <a:outerShdw blurRad="38100" dist="38100" dir="2700000" algn="tl">
                        <a:srgbClr val="000000"/>
                      </a:outerShdw>
                    </a:effectLst>
                  </a:rPr>
                  <a:t>若</a:t>
                </a:r>
                <a:r>
                  <a:rPr lang="en-US" altLang="zh-CN" sz="2800" dirty="0">
                    <a:solidFill>
                      <a:srgbClr val="CCFFCC"/>
                    </a:solidFill>
                    <a:effectLst>
                      <a:outerShdw blurRad="38100" dist="38100" dir="2700000" algn="tl">
                        <a:srgbClr val="000000"/>
                      </a:outerShdw>
                    </a:effectLst>
                  </a:rPr>
                  <a:t>X</a:t>
                </a:r>
                <a:r>
                  <a:rPr lang="zh-CN" altLang="zh-CN" sz="2800" dirty="0">
                    <a:solidFill>
                      <a:srgbClr val="CCFFCC"/>
                    </a:solidFill>
                    <a:effectLst>
                      <a:outerShdw blurRad="38100" dist="38100" dir="2700000" algn="tl">
                        <a:srgbClr val="000000"/>
                      </a:outerShdw>
                    </a:effectLst>
                  </a:rPr>
                  <a:t>是</a:t>
                </a:r>
                <a:r>
                  <a:rPr lang="en-US" altLang="zh-CN" sz="2800" dirty="0">
                    <a:solidFill>
                      <a:srgbClr val="CCFFCC"/>
                    </a:solidFill>
                    <a:effectLst>
                      <a:outerShdw blurRad="38100" dist="38100" dir="2700000" algn="tl">
                        <a:srgbClr val="000000"/>
                      </a:outerShdw>
                    </a:effectLst>
                  </a:rPr>
                  <a:t>L</a:t>
                </a:r>
                <a:r>
                  <a:rPr lang="zh-CN" altLang="zh-CN" sz="2800" dirty="0">
                    <a:solidFill>
                      <a:srgbClr val="CCFFCC"/>
                    </a:solidFill>
                    <a:effectLst>
                      <a:outerShdw blurRad="38100" dist="38100" dir="2700000" algn="tl">
                        <a:srgbClr val="000000"/>
                      </a:outerShdw>
                    </a:effectLst>
                  </a:rPr>
                  <a:t>类属性，且</a:t>
                </a:r>
                <a:r>
                  <a:rPr lang="en-US" altLang="zh-CN" sz="2800" dirty="0">
                    <a:solidFill>
                      <a:srgbClr val="CCFFCC"/>
                    </a:solidFill>
                    <a:effectLst>
                      <a:outerShdw blurRad="38100" dist="38100" dir="2700000" algn="tl">
                        <a:srgbClr val="000000"/>
                      </a:outerShdw>
                    </a:effectLst>
                  </a:rPr>
                  <a:t>X</a:t>
                </a:r>
                <a:r>
                  <a:rPr lang="en-US" altLang="zh-CN" sz="2800" baseline="30000" dirty="0">
                    <a:solidFill>
                      <a:srgbClr val="CCFFCC"/>
                    </a:solidFill>
                    <a:effectLst>
                      <a:outerShdw blurRad="38100" dist="38100" dir="2700000" algn="tl">
                        <a:srgbClr val="000000"/>
                      </a:outerShdw>
                    </a:effectLst>
                  </a:rPr>
                  <a:t>+</a:t>
                </a:r>
                <a:r>
                  <a:rPr lang="en-US" altLang="zh-CN" sz="2800" dirty="0">
                    <a:solidFill>
                      <a:srgbClr val="CCFFCC"/>
                    </a:solidFill>
                    <a:effectLst>
                      <a:outerShdw blurRad="38100" dist="38100" dir="2700000" algn="tl">
                        <a:srgbClr val="000000"/>
                      </a:outerShdw>
                    </a:effectLst>
                  </a:rPr>
                  <a:t>=U</a:t>
                </a:r>
                <a:r>
                  <a:rPr lang="zh-CN" altLang="zh-CN" sz="2800" dirty="0">
                    <a:solidFill>
                      <a:srgbClr val="CCFFCC"/>
                    </a:solidFill>
                    <a:effectLst>
                      <a:outerShdw blurRad="38100" dist="38100" dir="2700000" algn="tl">
                        <a:srgbClr val="000000"/>
                      </a:outerShdw>
                    </a:effectLst>
                  </a:rPr>
                  <a:t>，则</a:t>
                </a:r>
                <a:r>
                  <a:rPr lang="en-US" altLang="zh-CN" sz="2800" dirty="0">
                    <a:solidFill>
                      <a:srgbClr val="CCFFCC"/>
                    </a:solidFill>
                    <a:effectLst>
                      <a:outerShdw blurRad="38100" dist="38100" dir="2700000" algn="tl">
                        <a:srgbClr val="000000"/>
                      </a:outerShdw>
                    </a:effectLst>
                  </a:rPr>
                  <a:t>X</a:t>
                </a:r>
                <a:r>
                  <a:rPr lang="zh-CN" altLang="zh-CN" sz="2800" dirty="0">
                    <a:solidFill>
                      <a:srgbClr val="CCFFCC"/>
                    </a:solidFill>
                    <a:effectLst>
                      <a:outerShdw blurRad="38100" dist="38100" dir="2700000" algn="tl">
                        <a:srgbClr val="000000"/>
                      </a:outerShdw>
                    </a:effectLst>
                  </a:rPr>
                  <a:t>必为</a:t>
                </a:r>
                <a:r>
                  <a:rPr lang="en-US" altLang="zh-CN" sz="2800" dirty="0">
                    <a:solidFill>
                      <a:srgbClr val="CCFFCC"/>
                    </a:solidFill>
                    <a:effectLst>
                      <a:outerShdw blurRad="38100" dist="38100" dir="2700000" algn="tl">
                        <a:srgbClr val="000000"/>
                      </a:outerShdw>
                    </a:effectLst>
                  </a:rPr>
                  <a:t>R</a:t>
                </a:r>
                <a:r>
                  <a:rPr lang="zh-CN" altLang="zh-CN" sz="2800" dirty="0">
                    <a:solidFill>
                      <a:srgbClr val="CCFFCC"/>
                    </a:solidFill>
                    <a:effectLst>
                      <a:outerShdw blurRad="38100" dist="38100" dir="2700000" algn="tl">
                        <a:srgbClr val="000000"/>
                      </a:outerShdw>
                    </a:effectLst>
                  </a:rPr>
                  <a:t>的唯一候选键。</a:t>
                </a:r>
              </a:p>
              <a:p>
                <a:pPr marL="457200" lvl="0" indent="-457200" algn="just">
                  <a:lnSpc>
                    <a:spcPct val="150000"/>
                  </a:lnSpc>
                  <a:spcAft>
                    <a:spcPts val="0"/>
                  </a:spcAft>
                  <a:buFont typeface="Arial" panose="020B0604020202020204" pitchFamily="34" charset="0"/>
                  <a:buChar char="•"/>
                </a:pPr>
                <a:r>
                  <a:rPr lang="zh-CN" altLang="zh-CN" sz="2800" dirty="0">
                    <a:solidFill>
                      <a:srgbClr val="CCFFCC"/>
                    </a:solidFill>
                    <a:effectLst>
                      <a:outerShdw blurRad="38100" dist="38100" dir="2700000" algn="tl">
                        <a:srgbClr val="000000"/>
                      </a:outerShdw>
                    </a:effectLst>
                  </a:rPr>
                  <a:t>若</a:t>
                </a:r>
                <a:r>
                  <a:rPr lang="en-US" altLang="zh-CN" sz="2800" dirty="0">
                    <a:solidFill>
                      <a:srgbClr val="CCFFCC"/>
                    </a:solidFill>
                    <a:effectLst>
                      <a:outerShdw blurRad="38100" dist="38100" dir="2700000" algn="tl">
                        <a:srgbClr val="000000"/>
                      </a:outerShdw>
                    </a:effectLst>
                  </a:rPr>
                  <a:t>X</a:t>
                </a:r>
                <a:r>
                  <a:rPr lang="zh-CN" altLang="zh-CN" sz="2800" dirty="0">
                    <a:solidFill>
                      <a:srgbClr val="CCFFCC"/>
                    </a:solidFill>
                    <a:effectLst>
                      <a:outerShdw blurRad="38100" dist="38100" dir="2700000" algn="tl">
                        <a:srgbClr val="000000"/>
                      </a:outerShdw>
                    </a:effectLst>
                  </a:rPr>
                  <a:t>是</a:t>
                </a:r>
                <a:r>
                  <a:rPr lang="en-US" altLang="zh-CN" sz="2800" dirty="0">
                    <a:solidFill>
                      <a:srgbClr val="CCFFCC"/>
                    </a:solidFill>
                    <a:effectLst>
                      <a:outerShdw blurRad="38100" dist="38100" dir="2700000" algn="tl">
                        <a:srgbClr val="000000"/>
                      </a:outerShdw>
                    </a:effectLst>
                  </a:rPr>
                  <a:t>R</a:t>
                </a:r>
                <a:r>
                  <a:rPr lang="zh-CN" altLang="zh-CN" sz="2800" dirty="0">
                    <a:solidFill>
                      <a:srgbClr val="CCFFCC"/>
                    </a:solidFill>
                    <a:effectLst>
                      <a:outerShdw blurRad="38100" dist="38100" dir="2700000" algn="tl">
                        <a:srgbClr val="000000"/>
                      </a:outerShdw>
                    </a:effectLst>
                  </a:rPr>
                  <a:t>类属性，则</a:t>
                </a:r>
                <a:r>
                  <a:rPr lang="en-US" altLang="zh-CN" sz="2800" dirty="0">
                    <a:solidFill>
                      <a:srgbClr val="CCFFCC"/>
                    </a:solidFill>
                    <a:effectLst>
                      <a:outerShdw blurRad="38100" dist="38100" dir="2700000" algn="tl">
                        <a:srgbClr val="000000"/>
                      </a:outerShdw>
                    </a:effectLst>
                  </a:rPr>
                  <a:t>X</a:t>
                </a:r>
                <a:r>
                  <a:rPr lang="zh-CN" altLang="zh-CN" sz="2800" dirty="0">
                    <a:solidFill>
                      <a:srgbClr val="CCFFCC"/>
                    </a:solidFill>
                    <a:effectLst>
                      <a:outerShdw blurRad="38100" dist="38100" dir="2700000" algn="tl">
                        <a:srgbClr val="000000"/>
                      </a:outerShdw>
                    </a:effectLst>
                  </a:rPr>
                  <a:t>不在任何候选键中。</a:t>
                </a:r>
              </a:p>
              <a:p>
                <a:pPr marL="457200" lvl="0" indent="-457200" algn="just">
                  <a:lnSpc>
                    <a:spcPct val="150000"/>
                  </a:lnSpc>
                  <a:spcAft>
                    <a:spcPts val="0"/>
                  </a:spcAft>
                  <a:buFont typeface="Arial" panose="020B0604020202020204" pitchFamily="34" charset="0"/>
                  <a:buChar char="•"/>
                </a:pPr>
                <a:r>
                  <a:rPr lang="zh-CN" altLang="zh-CN" sz="2800" dirty="0">
                    <a:solidFill>
                      <a:srgbClr val="CCFFCC"/>
                    </a:solidFill>
                    <a:effectLst>
                      <a:outerShdw blurRad="38100" dist="38100" dir="2700000" algn="tl">
                        <a:srgbClr val="000000"/>
                      </a:outerShdw>
                    </a:effectLst>
                  </a:rPr>
                  <a:t>若</a:t>
                </a:r>
                <a:r>
                  <a:rPr lang="en-US" altLang="zh-CN" sz="2800" dirty="0">
                    <a:solidFill>
                      <a:srgbClr val="CCFFCC"/>
                    </a:solidFill>
                    <a:effectLst>
                      <a:outerShdw blurRad="38100" dist="38100" dir="2700000" algn="tl">
                        <a:srgbClr val="000000"/>
                      </a:outerShdw>
                    </a:effectLst>
                  </a:rPr>
                  <a:t>X</a:t>
                </a:r>
                <a:r>
                  <a:rPr lang="zh-CN" altLang="zh-CN" sz="2800" dirty="0">
                    <a:solidFill>
                      <a:srgbClr val="CCFFCC"/>
                    </a:solidFill>
                    <a:effectLst>
                      <a:outerShdw blurRad="38100" dist="38100" dir="2700000" algn="tl">
                        <a:srgbClr val="000000"/>
                      </a:outerShdw>
                    </a:effectLst>
                  </a:rPr>
                  <a:t>是</a:t>
                </a:r>
                <a:r>
                  <a:rPr lang="en-US" altLang="zh-CN" sz="2800" dirty="0">
                    <a:solidFill>
                      <a:srgbClr val="CCFFCC"/>
                    </a:solidFill>
                    <a:effectLst>
                      <a:outerShdw blurRad="38100" dist="38100" dir="2700000" algn="tl">
                        <a:srgbClr val="000000"/>
                      </a:outerShdw>
                    </a:effectLst>
                  </a:rPr>
                  <a:t>N</a:t>
                </a:r>
                <a:r>
                  <a:rPr lang="zh-CN" altLang="zh-CN" sz="2800" dirty="0">
                    <a:solidFill>
                      <a:srgbClr val="CCFFCC"/>
                    </a:solidFill>
                    <a:effectLst>
                      <a:outerShdw blurRad="38100" dist="38100" dir="2700000" algn="tl">
                        <a:srgbClr val="000000"/>
                      </a:outerShdw>
                    </a:effectLst>
                  </a:rPr>
                  <a:t>类属性，则</a:t>
                </a:r>
                <a:r>
                  <a:rPr lang="en-US" altLang="zh-CN" sz="2800" dirty="0">
                    <a:solidFill>
                      <a:srgbClr val="CCFFCC"/>
                    </a:solidFill>
                    <a:effectLst>
                      <a:outerShdw blurRad="38100" dist="38100" dir="2700000" algn="tl">
                        <a:srgbClr val="000000"/>
                      </a:outerShdw>
                    </a:effectLst>
                  </a:rPr>
                  <a:t>X</a:t>
                </a:r>
                <a:r>
                  <a:rPr lang="zh-CN" altLang="zh-CN" sz="2800" dirty="0">
                    <a:solidFill>
                      <a:srgbClr val="CCFFCC"/>
                    </a:solidFill>
                    <a:effectLst>
                      <a:outerShdw blurRad="38100" dist="38100" dir="2700000" algn="tl">
                        <a:srgbClr val="000000"/>
                      </a:outerShdw>
                    </a:effectLst>
                  </a:rPr>
                  <a:t>必为</a:t>
                </a:r>
                <a:r>
                  <a:rPr lang="en-US" altLang="zh-CN" sz="2800" dirty="0">
                    <a:solidFill>
                      <a:srgbClr val="CCFFCC"/>
                    </a:solidFill>
                    <a:effectLst>
                      <a:outerShdw blurRad="38100" dist="38100" dir="2700000" algn="tl">
                        <a:srgbClr val="000000"/>
                      </a:outerShdw>
                    </a:effectLst>
                  </a:rPr>
                  <a:t>R</a:t>
                </a:r>
                <a:r>
                  <a:rPr lang="zh-CN" altLang="zh-CN" sz="2800" dirty="0">
                    <a:solidFill>
                      <a:srgbClr val="CCFFCC"/>
                    </a:solidFill>
                    <a:effectLst>
                      <a:outerShdw blurRad="38100" dist="38100" dir="2700000" algn="tl">
                        <a:srgbClr val="000000"/>
                      </a:outerShdw>
                    </a:effectLst>
                  </a:rPr>
                  <a:t>的任一候选键的成员。</a:t>
                </a:r>
              </a:p>
              <a:p>
                <a:pPr marL="457200" lvl="0" indent="-457200" algn="just">
                  <a:lnSpc>
                    <a:spcPct val="150000"/>
                  </a:lnSpc>
                  <a:spcAft>
                    <a:spcPts val="0"/>
                  </a:spcAft>
                  <a:buFont typeface="Arial" panose="020B0604020202020204" pitchFamily="34" charset="0"/>
                  <a:buChar char="•"/>
                </a:pPr>
                <a:r>
                  <a:rPr lang="zh-CN" altLang="zh-CN" sz="2800" dirty="0">
                    <a:solidFill>
                      <a:srgbClr val="CCFFCC"/>
                    </a:solidFill>
                    <a:effectLst>
                      <a:outerShdw blurRad="38100" dist="38100" dir="2700000" algn="tl">
                        <a:srgbClr val="000000"/>
                      </a:outerShdw>
                    </a:effectLst>
                  </a:rPr>
                  <a:t>若</a:t>
                </a:r>
                <a:r>
                  <a:rPr lang="en-US" altLang="zh-CN" sz="2800" dirty="0">
                    <a:solidFill>
                      <a:srgbClr val="CCFFCC"/>
                    </a:solidFill>
                    <a:effectLst>
                      <a:outerShdw blurRad="38100" dist="38100" dir="2700000" algn="tl">
                        <a:srgbClr val="000000"/>
                      </a:outerShdw>
                    </a:effectLst>
                  </a:rPr>
                  <a:t>X</a:t>
                </a:r>
                <a:r>
                  <a:rPr lang="zh-CN" altLang="zh-CN" sz="2800" dirty="0">
                    <a:solidFill>
                      <a:srgbClr val="CCFFCC"/>
                    </a:solidFill>
                    <a:effectLst>
                      <a:outerShdw blurRad="38100" dist="38100" dir="2700000" algn="tl">
                        <a:srgbClr val="000000"/>
                      </a:outerShdw>
                    </a:effectLst>
                  </a:rPr>
                  <a:t>是</a:t>
                </a:r>
                <a:r>
                  <a:rPr lang="en-US" altLang="zh-CN" sz="2800" dirty="0">
                    <a:solidFill>
                      <a:srgbClr val="CCFFCC"/>
                    </a:solidFill>
                    <a:effectLst>
                      <a:outerShdw blurRad="38100" dist="38100" dir="2700000" algn="tl">
                        <a:srgbClr val="000000"/>
                      </a:outerShdw>
                    </a:effectLst>
                  </a:rPr>
                  <a:t>R</a:t>
                </a:r>
                <a:r>
                  <a:rPr lang="zh-CN" altLang="zh-CN" sz="2800" dirty="0">
                    <a:solidFill>
                      <a:srgbClr val="CCFFCC"/>
                    </a:solidFill>
                    <a:effectLst>
                      <a:outerShdw blurRad="38100" dist="38100" dir="2700000" algn="tl">
                        <a:srgbClr val="000000"/>
                      </a:outerShdw>
                    </a:effectLst>
                  </a:rPr>
                  <a:t>的</a:t>
                </a:r>
                <a:r>
                  <a:rPr lang="en-US" altLang="zh-CN" sz="2800" dirty="0">
                    <a:solidFill>
                      <a:srgbClr val="CCFFCC"/>
                    </a:solidFill>
                    <a:effectLst>
                      <a:outerShdw blurRad="38100" dist="38100" dir="2700000" algn="tl">
                        <a:srgbClr val="000000"/>
                      </a:outerShdw>
                    </a:effectLst>
                  </a:rPr>
                  <a:t>N</a:t>
                </a:r>
                <a:r>
                  <a:rPr lang="zh-CN" altLang="zh-CN" sz="2800" dirty="0">
                    <a:solidFill>
                      <a:srgbClr val="CCFFCC"/>
                    </a:solidFill>
                    <a:effectLst>
                      <a:outerShdw blurRad="38100" dist="38100" dir="2700000" algn="tl">
                        <a:srgbClr val="000000"/>
                      </a:outerShdw>
                    </a:effectLst>
                  </a:rPr>
                  <a:t>类和</a:t>
                </a:r>
                <a:r>
                  <a:rPr lang="en-US" altLang="zh-CN" sz="2800" dirty="0">
                    <a:solidFill>
                      <a:srgbClr val="CCFFCC"/>
                    </a:solidFill>
                    <a:effectLst>
                      <a:outerShdw blurRad="38100" dist="38100" dir="2700000" algn="tl">
                        <a:srgbClr val="000000"/>
                      </a:outerShdw>
                    </a:effectLst>
                  </a:rPr>
                  <a:t>L</a:t>
                </a:r>
                <a:r>
                  <a:rPr lang="zh-CN" altLang="zh-CN" sz="2800" dirty="0">
                    <a:solidFill>
                      <a:srgbClr val="CCFFCC"/>
                    </a:solidFill>
                    <a:effectLst>
                      <a:outerShdw blurRad="38100" dist="38100" dir="2700000" algn="tl">
                        <a:srgbClr val="000000"/>
                      </a:outerShdw>
                    </a:effectLst>
                  </a:rPr>
                  <a:t>类属性组成的属性集，且</a:t>
                </a:r>
                <a:r>
                  <a:rPr lang="en-US" altLang="zh-CN" sz="2800" dirty="0">
                    <a:solidFill>
                      <a:srgbClr val="CCFFCC"/>
                    </a:solidFill>
                    <a:effectLst>
                      <a:outerShdw blurRad="38100" dist="38100" dir="2700000" algn="tl">
                        <a:srgbClr val="000000"/>
                      </a:outerShdw>
                    </a:effectLst>
                  </a:rPr>
                  <a:t>X</a:t>
                </a:r>
                <a:r>
                  <a:rPr lang="en-US" altLang="zh-CN" sz="2800" baseline="30000" dirty="0">
                    <a:solidFill>
                      <a:srgbClr val="CCFFCC"/>
                    </a:solidFill>
                    <a:effectLst>
                      <a:outerShdw blurRad="38100" dist="38100" dir="2700000" algn="tl">
                        <a:srgbClr val="000000"/>
                      </a:outerShdw>
                    </a:effectLst>
                  </a:rPr>
                  <a:t>+</a:t>
                </a:r>
                <a:r>
                  <a:rPr lang="en-US" altLang="zh-CN" sz="2800" dirty="0">
                    <a:solidFill>
                      <a:srgbClr val="CCFFCC"/>
                    </a:solidFill>
                    <a:effectLst>
                      <a:outerShdw blurRad="38100" dist="38100" dir="2700000" algn="tl">
                        <a:srgbClr val="000000"/>
                      </a:outerShdw>
                    </a:effectLst>
                  </a:rPr>
                  <a:t>=U</a:t>
                </a:r>
                <a:r>
                  <a:rPr lang="zh-CN" altLang="zh-CN" sz="2800" dirty="0">
                    <a:solidFill>
                      <a:srgbClr val="CCFFCC"/>
                    </a:solidFill>
                    <a:effectLst>
                      <a:outerShdw blurRad="38100" dist="38100" dir="2700000" algn="tl">
                        <a:srgbClr val="000000"/>
                      </a:outerShdw>
                    </a:effectLst>
                  </a:rPr>
                  <a:t>，则</a:t>
                </a:r>
                <a:r>
                  <a:rPr lang="en-US" altLang="zh-CN" sz="2800" dirty="0">
                    <a:solidFill>
                      <a:srgbClr val="CCFFCC"/>
                    </a:solidFill>
                    <a:effectLst>
                      <a:outerShdw blurRad="38100" dist="38100" dir="2700000" algn="tl">
                        <a:srgbClr val="000000"/>
                      </a:outerShdw>
                    </a:effectLst>
                  </a:rPr>
                  <a:t>X</a:t>
                </a:r>
                <a:r>
                  <a:rPr lang="zh-CN" altLang="zh-CN" sz="2800" dirty="0">
                    <a:solidFill>
                      <a:srgbClr val="CCFFCC"/>
                    </a:solidFill>
                    <a:effectLst>
                      <a:outerShdw blurRad="38100" dist="38100" dir="2700000" algn="tl">
                        <a:srgbClr val="000000"/>
                      </a:outerShdw>
                    </a:effectLst>
                  </a:rPr>
                  <a:t>是</a:t>
                </a:r>
                <a:r>
                  <a:rPr lang="en-US" altLang="zh-CN" sz="2800" dirty="0">
                    <a:solidFill>
                      <a:srgbClr val="CCFFCC"/>
                    </a:solidFill>
                    <a:effectLst>
                      <a:outerShdw blurRad="38100" dist="38100" dir="2700000" algn="tl">
                        <a:srgbClr val="000000"/>
                      </a:outerShdw>
                    </a:effectLst>
                  </a:rPr>
                  <a:t>R</a:t>
                </a:r>
                <a:r>
                  <a:rPr lang="zh-CN" altLang="zh-CN" sz="2800" dirty="0">
                    <a:solidFill>
                      <a:srgbClr val="CCFFCC"/>
                    </a:solidFill>
                    <a:effectLst>
                      <a:outerShdw blurRad="38100" dist="38100" dir="2700000" algn="tl">
                        <a:srgbClr val="000000"/>
                      </a:outerShdw>
                    </a:effectLst>
                  </a:rPr>
                  <a:t>的唯一候选键。</a:t>
                </a:r>
              </a:p>
            </p:txBody>
          </p:sp>
        </mc:Choice>
        <mc:Fallback xmlns="">
          <p:sp>
            <p:nvSpPr>
              <p:cNvPr id="3" name="矩形 2"/>
              <p:cNvSpPr>
                <a:spLocks noRot="1" noChangeAspect="1" noMove="1" noResize="1" noEditPoints="1" noAdjustHandles="1" noChangeArrowheads="1" noChangeShapeType="1" noTextEdit="1"/>
              </p:cNvSpPr>
              <p:nvPr/>
            </p:nvSpPr>
            <p:spPr>
              <a:xfrm>
                <a:off x="44771" y="1196752"/>
                <a:ext cx="8532948" cy="4508927"/>
              </a:xfrm>
              <a:prstGeom prst="rect">
                <a:avLst/>
              </a:prstGeom>
              <a:blipFill>
                <a:blip r:embed="rId3"/>
                <a:stretch>
                  <a:fillRect l="-929" t="-676" r="-1929" b="-135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85071704"/>
      </p:ext>
    </p:extLst>
  </p:cSld>
  <p:clrMapOvr>
    <a:masterClrMapping/>
  </p:clrMapOvr>
  <p:transition spd="med">
    <p:random/>
    <p:sndAc>
      <p:stSnd>
        <p:snd r:embed="rId2" name="camera.wav"/>
      </p:stSnd>
    </p:sndAc>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title"/>
          </p:nvPr>
        </p:nvSpPr>
        <p:spPr>
          <a:xfrm>
            <a:off x="35496" y="-20116"/>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pPr>
            <a:r>
              <a:rPr lang="zh-CN" altLang="en-US" sz="4000" b="1" dirty="0">
                <a:solidFill>
                  <a:srgbClr val="FFFFCC"/>
                </a:solidFill>
                <a:effectLst>
                  <a:outerShdw blurRad="38100" dist="38100" dir="2700000" algn="tl">
                    <a:srgbClr val="000000"/>
                  </a:outerShdw>
                </a:effectLst>
                <a:latin typeface="Arial" pitchFamily="34" charset="0"/>
                <a:ea typeface="微软雅黑" pitchFamily="34" charset="-122"/>
              </a:rPr>
              <a:t>候选键</a:t>
            </a:r>
            <a:r>
              <a:rPr kumimoji="1" lang="zh-CN" altLang="en-US" sz="4000" b="1" kern="1200" dirty="0" smtClean="0">
                <a:solidFill>
                  <a:srgbClr val="FFFFCC"/>
                </a:solidFill>
                <a:effectLst>
                  <a:outerShdw blurRad="38100" dist="38100" dir="2700000" algn="tl">
                    <a:srgbClr val="000000"/>
                  </a:outerShdw>
                </a:effectLst>
                <a:latin typeface="Arial" pitchFamily="34" charset="0"/>
                <a:ea typeface="微软雅黑" pitchFamily="34" charset="-122"/>
              </a:rPr>
              <a:t>的求解算法</a:t>
            </a:r>
            <a:endParaRPr kumimoji="1" lang="en-US" altLang="zh-CN" sz="4000" b="1" kern="1200" dirty="0">
              <a:solidFill>
                <a:srgbClr val="FFFFCC"/>
              </a:solidFill>
              <a:effectLst>
                <a:outerShdw blurRad="38100" dist="38100" dir="2700000" algn="tl">
                  <a:srgbClr val="000000"/>
                </a:outerShdw>
              </a:effectLst>
              <a:latin typeface="Arial" pitchFamily="34" charset="0"/>
              <a:ea typeface="微软雅黑" pitchFamily="34" charset="-122"/>
            </a:endParaRPr>
          </a:p>
        </p:txBody>
      </p:sp>
      <p:sp>
        <p:nvSpPr>
          <p:cNvPr id="3" name="矩形 2"/>
          <p:cNvSpPr/>
          <p:nvPr/>
        </p:nvSpPr>
        <p:spPr>
          <a:xfrm>
            <a:off x="107504" y="746104"/>
            <a:ext cx="8856984" cy="5973943"/>
          </a:xfrm>
          <a:prstGeom prst="rect">
            <a:avLst/>
          </a:prstGeom>
        </p:spPr>
        <p:txBody>
          <a:bodyPr wrap="square">
            <a:spAutoFit/>
          </a:bodyPr>
          <a:lstStyle/>
          <a:p>
            <a:pPr algn="just">
              <a:lnSpc>
                <a:spcPct val="125000"/>
              </a:lnSpc>
              <a:spcAft>
                <a:spcPts val="0"/>
              </a:spcAft>
            </a:pPr>
            <a:r>
              <a:rPr lang="zh-CN" altLang="zh-CN" sz="2200" kern="100" dirty="0" smtClean="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设有</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关系模式</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R(U,F)</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U</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是属性全集，</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F</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是</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R</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上的一个函数依赖集，求</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R</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的所有候选键。</a:t>
            </a:r>
          </a:p>
          <a:p>
            <a:pPr algn="just">
              <a:lnSpc>
                <a:spcPct val="125000"/>
              </a:lnSpc>
              <a:spcAft>
                <a:spcPts val="0"/>
              </a:spcAft>
            </a:pPr>
            <a:r>
              <a:rPr lang="en-US" altLang="zh-CN" sz="2200" kern="100" dirty="0" smtClean="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1) </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根据函数依赖集</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F</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，将</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R</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的所有属性分为</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L</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类、</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R</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类、</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N</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类和</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LR</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类等四类，并令</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X</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代表</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L</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类和</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N</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类属性，</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Y</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代表</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LR</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类属性。令</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K=</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φ。</a:t>
            </a:r>
          </a:p>
          <a:p>
            <a:pPr algn="just">
              <a:lnSpc>
                <a:spcPct val="125000"/>
              </a:lnSpc>
              <a:spcAft>
                <a:spcPts val="0"/>
              </a:spcAft>
            </a:pP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(2) </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求</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2200" kern="100" baseline="300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，若</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2200" kern="100" baseline="300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=U</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，则</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X</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即为</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R</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的唯一候选键，转</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(5)</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；否则转</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(3)</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p>
          <a:p>
            <a:pPr algn="just">
              <a:lnSpc>
                <a:spcPct val="125000"/>
              </a:lnSpc>
              <a:spcAft>
                <a:spcPts val="0"/>
              </a:spcAft>
            </a:pP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(3) </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对</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Y</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中每一个属性</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，求</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XA</a:t>
            </a:r>
            <a:r>
              <a:rPr lang="en-US" altLang="zh-CN" sz="2200" kern="100" baseline="300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200" kern="100" dirty="0">
                <a:solidFill>
                  <a:srgbClr val="CCFFCC"/>
                </a:solidFill>
                <a:effectLst/>
                <a:latin typeface="Times New Roman" panose="02020603050405020304" pitchFamily="18" charset="0"/>
                <a:ea typeface="宋体" panose="02010600030101010101" pitchFamily="2" charset="-122"/>
                <a:cs typeface="宋体" panose="02010600030101010101" pitchFamily="2" charset="-122"/>
              </a:rPr>
              <a:t>。若某个</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XA</a:t>
            </a:r>
            <a:r>
              <a:rPr lang="en-US" altLang="zh-CN" sz="2200" kern="100" baseline="300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200" kern="100" dirty="0">
                <a:solidFill>
                  <a:srgbClr val="CCFFCC"/>
                </a:solidFill>
                <a:effectLst/>
                <a:latin typeface="宋体" panose="02010600030101010101" pitchFamily="2" charset="-122"/>
                <a:ea typeface="宋体" panose="02010600030101010101" pitchFamily="2" charset="-122"/>
                <a:cs typeface="宋体" panose="02010600030101010101" pitchFamily="2" charset="-122"/>
              </a:rPr>
              <a:t>=U</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，将此</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XA</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并入</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K</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并将该属性</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从</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Y</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中去除。全部完成后若</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Y=</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φ则转</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(6)</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；否则转</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(4)</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p>
          <a:p>
            <a:pPr algn="just">
              <a:lnSpc>
                <a:spcPct val="125000"/>
              </a:lnSpc>
              <a:spcAft>
                <a:spcPts val="0"/>
              </a:spcAft>
            </a:pPr>
            <a:r>
              <a:rPr lang="en-US" altLang="zh-CN" sz="2200" kern="100" dirty="0" smtClean="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4) </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求出</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Y</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中的所有两个属性的组合，将每一种组合与</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X</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合并求属性集的闭包。如果某个组合与</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X</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合并的属性集闭包包含了所有的属性，则将此组合与</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X</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合并的属性集并入</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K</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，并将该组合的属性从</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Y</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中去除。全部完成后若</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Y=</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φ则转</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(6)</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；否则转</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(5)</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p>
          <a:p>
            <a:pPr algn="just">
              <a:lnSpc>
                <a:spcPct val="125000"/>
              </a:lnSpc>
              <a:spcAft>
                <a:spcPts val="0"/>
              </a:spcAft>
            </a:pPr>
            <a:r>
              <a:rPr lang="en-US" altLang="zh-CN" sz="2200" kern="100" dirty="0" smtClean="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5) </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类似第</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(4)</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步的做法，求</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Y</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中</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3</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个属性组合、</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4</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个属性组合…，直到</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Y=</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φ转（</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6</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200" kern="100" dirty="0" smtClean="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2200" kern="100" dirty="0" smtClean="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25000"/>
              </a:lnSpc>
              <a:spcAft>
                <a:spcPts val="0"/>
              </a:spcAft>
            </a:pPr>
            <a:r>
              <a:rPr lang="en-US" altLang="zh-CN" sz="2200" kern="100" dirty="0" smtClean="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6) </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停止，输出</a:t>
            </a:r>
            <a:r>
              <a:rPr lang="en-US"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K</a:t>
            </a:r>
            <a:r>
              <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p>
        </p:txBody>
      </p:sp>
    </p:spTree>
    <p:extLst>
      <p:ext uri="{BB962C8B-B14F-4D97-AF65-F5344CB8AC3E}">
        <p14:creationId xmlns:p14="http://schemas.microsoft.com/office/powerpoint/2010/main" val="3210566878"/>
      </p:ext>
    </p:extLst>
  </p:cSld>
  <p:clrMapOvr>
    <a:masterClrMapping/>
  </p:clrMapOvr>
  <p:transition spd="med">
    <p:random/>
    <p:sndAc>
      <p:stSnd>
        <p:snd r:embed="rId2" name="camera.wav"/>
      </p:stSnd>
    </p:sndAc>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title"/>
          </p:nvPr>
        </p:nvSpPr>
        <p:spPr>
          <a:xfrm>
            <a:off x="35496" y="-20116"/>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pPr>
            <a:r>
              <a:rPr lang="zh-CN" altLang="en-US" sz="4000" b="1" dirty="0">
                <a:solidFill>
                  <a:srgbClr val="FFFFCC"/>
                </a:solidFill>
                <a:effectLst>
                  <a:outerShdw blurRad="38100" dist="38100" dir="2700000" algn="tl">
                    <a:srgbClr val="000000"/>
                  </a:outerShdw>
                </a:effectLst>
                <a:latin typeface="Arial" pitchFamily="34" charset="0"/>
                <a:ea typeface="微软雅黑" pitchFamily="34" charset="-122"/>
              </a:rPr>
              <a:t>候选键</a:t>
            </a:r>
            <a:r>
              <a:rPr kumimoji="1" lang="zh-CN" altLang="en-US" sz="4000" b="1" kern="1200" dirty="0" smtClean="0">
                <a:solidFill>
                  <a:srgbClr val="FFFFCC"/>
                </a:solidFill>
                <a:effectLst>
                  <a:outerShdw blurRad="38100" dist="38100" dir="2700000" algn="tl">
                    <a:srgbClr val="000000"/>
                  </a:outerShdw>
                </a:effectLst>
                <a:latin typeface="Arial" pitchFamily="34" charset="0"/>
                <a:ea typeface="微软雅黑" pitchFamily="34" charset="-122"/>
              </a:rPr>
              <a:t>的求解算法</a:t>
            </a:r>
            <a:endParaRPr kumimoji="1" lang="en-US" altLang="zh-CN" sz="4000" b="1" kern="1200" dirty="0">
              <a:solidFill>
                <a:srgbClr val="FFFFCC"/>
              </a:solidFill>
              <a:effectLst>
                <a:outerShdw blurRad="38100" dist="38100" dir="2700000" algn="tl">
                  <a:srgbClr val="000000"/>
                </a:outerShdw>
              </a:effectLst>
              <a:latin typeface="Arial" pitchFamily="34" charset="0"/>
              <a:ea typeface="微软雅黑" pitchFamily="34" charset="-122"/>
            </a:endParaRPr>
          </a:p>
        </p:txBody>
      </p:sp>
      <p:sp>
        <p:nvSpPr>
          <p:cNvPr id="3" name="矩形 2"/>
          <p:cNvSpPr/>
          <p:nvPr/>
        </p:nvSpPr>
        <p:spPr>
          <a:xfrm>
            <a:off x="107504" y="746104"/>
            <a:ext cx="8856984" cy="475900"/>
          </a:xfrm>
          <a:prstGeom prst="rect">
            <a:avLst/>
          </a:prstGeom>
        </p:spPr>
        <p:txBody>
          <a:bodyPr wrap="square">
            <a:spAutoFit/>
          </a:bodyPr>
          <a:lstStyle/>
          <a:p>
            <a:pPr algn="just">
              <a:lnSpc>
                <a:spcPct val="125000"/>
              </a:lnSpc>
              <a:spcAft>
                <a:spcPts val="0"/>
              </a:spcAft>
            </a:pPr>
            <a:endPar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矩形 5"/>
          <p:cNvSpPr/>
          <p:nvPr/>
        </p:nvSpPr>
        <p:spPr>
          <a:xfrm>
            <a:off x="169194" y="984054"/>
            <a:ext cx="8733603" cy="5170646"/>
          </a:xfrm>
          <a:prstGeom prst="rect">
            <a:avLst/>
          </a:prstGeom>
        </p:spPr>
        <p:txBody>
          <a:bodyPr wrap="square">
            <a:spAutoFit/>
          </a:bodyPr>
          <a:lstStyle/>
          <a:p>
            <a:pPr algn="just">
              <a:lnSpc>
                <a:spcPct val="125000"/>
              </a:lnSpc>
              <a:spcAft>
                <a:spcPts val="0"/>
              </a:spcAft>
            </a:pPr>
            <a:r>
              <a:rPr lang="zh-CN" altLang="zh-CN" sz="2400" kern="100" dirty="0" smtClean="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【例】</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设有关系模式</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R(U,F)</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U=ABC</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F={D</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B</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B</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D</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AD</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B</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AC</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D}</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，求</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R</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的所有候选键。</a:t>
            </a:r>
          </a:p>
          <a:p>
            <a:pPr algn="just">
              <a:lnSpc>
                <a:spcPct val="125000"/>
              </a:lnSpc>
              <a:spcAft>
                <a:spcPts val="0"/>
              </a:spcAft>
            </a:pP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解：依据</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F</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可见</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C</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两属性是</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L</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类属性，故</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C</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两属性必为</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R</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的任一候选键的成员；可求得</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AC</a:t>
            </a:r>
            <a:r>
              <a:rPr lang="en-US" altLang="zh-CN" sz="2400" kern="100" baseline="300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=ABCD=U</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，因此解出</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AC</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是</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R</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的唯一候选键</a:t>
            </a:r>
            <a:r>
              <a:rPr lang="zh-CN" altLang="zh-CN" sz="2400" kern="100" dirty="0" smtClean="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kern="100" dirty="0" smtClean="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25000"/>
              </a:lnSpc>
              <a:spcAft>
                <a:spcPts val="0"/>
              </a:spcAft>
            </a:pPr>
            <a:endPar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25000"/>
              </a:lnSpc>
              <a:spcAft>
                <a:spcPts val="0"/>
              </a:spcAft>
            </a:pPr>
            <a:r>
              <a:rPr lang="zh-CN" altLang="zh-CN" sz="2400" kern="100" dirty="0" smtClean="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【例】设有</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关系模式</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R(U,F)</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smtClean="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U=ABCDEG</a:t>
            </a:r>
            <a:r>
              <a:rPr lang="zh-CN" altLang="zh-CN" sz="2400" kern="100" dirty="0" smtClean="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F={A</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D</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E</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D</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D</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B</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BC</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D</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DC</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，求</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R</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的所有候选键。</a:t>
            </a:r>
          </a:p>
          <a:p>
            <a:pPr algn="just">
              <a:lnSpc>
                <a:spcPct val="125000"/>
              </a:lnSpc>
              <a:spcAft>
                <a:spcPts val="0"/>
              </a:spcAft>
            </a:pP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解：根据</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F</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可知</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C</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E</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两属性是</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L</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类属性，故</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C</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E</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两属性必为</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R</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的任一候选键的成员；又由于</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G</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是</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N</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类属性，故</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G</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也必为</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R</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的任一候选键的成员。计算</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CEG</a:t>
            </a:r>
            <a:r>
              <a:rPr lang="en-US" altLang="zh-CN" sz="2400" kern="100" baseline="300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 ABCDEG=U</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CEG</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是</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R</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的唯一候选键。</a:t>
            </a:r>
          </a:p>
        </p:txBody>
      </p:sp>
    </p:spTree>
    <p:extLst>
      <p:ext uri="{BB962C8B-B14F-4D97-AF65-F5344CB8AC3E}">
        <p14:creationId xmlns:p14="http://schemas.microsoft.com/office/powerpoint/2010/main" val="4117088663"/>
      </p:ext>
    </p:extLst>
  </p:cSld>
  <p:clrMapOvr>
    <a:masterClrMapping/>
  </p:clrMapOvr>
  <p:transition spd="med">
    <p:random/>
    <p:sndAc>
      <p:stSnd>
        <p:snd r:embed="rId2" name="camera.wav"/>
      </p:stSnd>
    </p:sndAc>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title"/>
          </p:nvPr>
        </p:nvSpPr>
        <p:spPr>
          <a:xfrm>
            <a:off x="35496" y="-20116"/>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pPr>
            <a:r>
              <a:rPr lang="zh-CN" altLang="en-US" sz="4000" b="1" dirty="0">
                <a:solidFill>
                  <a:srgbClr val="FFFFCC"/>
                </a:solidFill>
                <a:effectLst>
                  <a:outerShdw blurRad="38100" dist="38100" dir="2700000" algn="tl">
                    <a:srgbClr val="000000"/>
                  </a:outerShdw>
                </a:effectLst>
                <a:latin typeface="Arial" pitchFamily="34" charset="0"/>
                <a:ea typeface="微软雅黑" pitchFamily="34" charset="-122"/>
              </a:rPr>
              <a:t>候选键</a:t>
            </a:r>
            <a:r>
              <a:rPr kumimoji="1" lang="zh-CN" altLang="en-US" sz="4000" b="1" kern="1200" dirty="0" smtClean="0">
                <a:solidFill>
                  <a:srgbClr val="FFFFCC"/>
                </a:solidFill>
                <a:effectLst>
                  <a:outerShdw blurRad="38100" dist="38100" dir="2700000" algn="tl">
                    <a:srgbClr val="000000"/>
                  </a:outerShdw>
                </a:effectLst>
                <a:latin typeface="Arial" pitchFamily="34" charset="0"/>
                <a:ea typeface="微软雅黑" pitchFamily="34" charset="-122"/>
              </a:rPr>
              <a:t>的求解算法</a:t>
            </a:r>
            <a:endParaRPr kumimoji="1" lang="en-US" altLang="zh-CN" sz="4000" b="1" kern="1200" dirty="0">
              <a:solidFill>
                <a:srgbClr val="FFFFCC"/>
              </a:solidFill>
              <a:effectLst>
                <a:outerShdw blurRad="38100" dist="38100" dir="2700000" algn="tl">
                  <a:srgbClr val="000000"/>
                </a:outerShdw>
              </a:effectLst>
              <a:latin typeface="Arial" pitchFamily="34" charset="0"/>
              <a:ea typeface="微软雅黑" pitchFamily="34" charset="-122"/>
            </a:endParaRPr>
          </a:p>
        </p:txBody>
      </p:sp>
      <p:sp>
        <p:nvSpPr>
          <p:cNvPr id="3" name="矩形 2"/>
          <p:cNvSpPr/>
          <p:nvPr/>
        </p:nvSpPr>
        <p:spPr>
          <a:xfrm>
            <a:off x="107504" y="746104"/>
            <a:ext cx="8856984" cy="475900"/>
          </a:xfrm>
          <a:prstGeom prst="rect">
            <a:avLst/>
          </a:prstGeom>
        </p:spPr>
        <p:txBody>
          <a:bodyPr wrap="square">
            <a:spAutoFit/>
          </a:bodyPr>
          <a:lstStyle/>
          <a:p>
            <a:pPr algn="just">
              <a:lnSpc>
                <a:spcPct val="125000"/>
              </a:lnSpc>
              <a:spcAft>
                <a:spcPts val="0"/>
              </a:spcAft>
            </a:pPr>
            <a:endParaRPr lang="zh-CN" altLang="zh-CN" sz="22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矩形 5"/>
          <p:cNvSpPr/>
          <p:nvPr/>
        </p:nvSpPr>
        <p:spPr>
          <a:xfrm>
            <a:off x="169194" y="984054"/>
            <a:ext cx="8733603" cy="5123647"/>
          </a:xfrm>
          <a:prstGeom prst="rect">
            <a:avLst/>
          </a:prstGeom>
        </p:spPr>
        <p:txBody>
          <a:bodyPr wrap="square">
            <a:spAutoFit/>
          </a:bodyPr>
          <a:lstStyle/>
          <a:p>
            <a:pPr algn="just">
              <a:lnSpc>
                <a:spcPct val="125000"/>
              </a:lnSpc>
              <a:spcAft>
                <a:spcPts val="0"/>
              </a:spcAft>
            </a:pPr>
            <a:r>
              <a:rPr lang="zh-CN" altLang="zh-CN" sz="2400" kern="100" dirty="0" smtClean="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【例】</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设有关系模式</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R(A,B,C,D,E)</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与它的函数依赖集</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F={A</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BC, B</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D,CD</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E,E</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，求</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R</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的所有候选键。</a:t>
            </a:r>
          </a:p>
          <a:p>
            <a:pPr algn="just">
              <a:lnSpc>
                <a:spcPct val="125000"/>
              </a:lnSpc>
              <a:spcAft>
                <a:spcPts val="0"/>
              </a:spcAft>
            </a:pP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解：由</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F</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可见所有属性均为</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LR</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类，无</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L</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类和</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N</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类属性，即</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X=</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φ，</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Y={A,B,C,D,E}</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。令</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K=</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φ。</a:t>
            </a:r>
          </a:p>
          <a:p>
            <a:pPr algn="just">
              <a:lnSpc>
                <a:spcPct val="125000"/>
              </a:lnSpc>
              <a:spcAft>
                <a:spcPts val="0"/>
              </a:spcAft>
            </a:pP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求</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Y</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中各属性的闭包：</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a:t>
            </a:r>
            <a:r>
              <a:rPr lang="en-US" altLang="zh-CN" sz="2400" kern="100" baseline="300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=ABCDE</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B</a:t>
            </a:r>
            <a:r>
              <a:rPr lang="en-US" altLang="zh-CN" sz="2400" kern="100" baseline="300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=BD</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C</a:t>
            </a:r>
            <a:r>
              <a:rPr lang="en-US" altLang="zh-CN" sz="2400" kern="100" baseline="300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=C</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D</a:t>
            </a:r>
            <a:r>
              <a:rPr lang="en-US" altLang="zh-CN" sz="2400" kern="100" baseline="300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=D</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E</a:t>
            </a:r>
            <a:r>
              <a:rPr lang="en-US" altLang="zh-CN" sz="2400" kern="100" baseline="300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=ABCDE</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。可见</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E</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都是候选键。将其并入</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K</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，得</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K={A</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E}</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。然后将</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E</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从</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Y</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中去掉得</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Y ={B,C,D}</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p>
          <a:p>
            <a:pPr algn="just">
              <a:lnSpc>
                <a:spcPct val="125000"/>
              </a:lnSpc>
              <a:spcAft>
                <a:spcPts val="0"/>
              </a:spcAft>
            </a:pP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由于</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Y≠</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φ</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取其中属性的两两组合的闭包：</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BC</a:t>
            </a:r>
            <a:r>
              <a:rPr lang="en-US" altLang="zh-CN" sz="2400" kern="100" baseline="300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=BDCEA</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BD</a:t>
            </a:r>
            <a:r>
              <a:rPr lang="en-US" altLang="zh-CN" sz="2400" kern="100" baseline="300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=BD</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CD</a:t>
            </a:r>
            <a:r>
              <a:rPr lang="en-US" altLang="zh-CN" sz="2400" kern="100" baseline="300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=CDEAB</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。可见</a:t>
            </a:r>
            <a:r>
              <a:rPr lang="en-US" altLang="zh-CN" sz="2400" kern="100" dirty="0">
                <a:solidFill>
                  <a:srgbClr val="CCFFCC"/>
                </a:solidFill>
                <a:effectLst/>
                <a:latin typeface="宋体" panose="02010600030101010101" pitchFamily="2" charset="-122"/>
                <a:ea typeface="宋体" panose="02010600030101010101" pitchFamily="2" charset="-122"/>
                <a:cs typeface="Times New Roman" panose="02020603050405020304" pitchFamily="18" charset="0"/>
              </a:rPr>
              <a:t>BC</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CD</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也是候选键，并入</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K</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，得</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K={A</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E</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BC</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CD}</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。然后将</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B</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C</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D</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从</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Y</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中去掉得</a:t>
            </a:r>
            <a:r>
              <a:rPr lang="en-US"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Y=</a:t>
            </a:r>
            <a:r>
              <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φ。</a:t>
            </a:r>
          </a:p>
          <a:p>
            <a:pPr>
              <a:lnSpc>
                <a:spcPct val="125000"/>
              </a:lnSpc>
            </a:pPr>
            <a:r>
              <a:rPr lang="zh-CN" altLang="zh-CN" sz="2400" dirty="0">
                <a:solidFill>
                  <a:srgbClr val="CCFFCC"/>
                </a:solidFill>
                <a:effectLst/>
                <a:ea typeface="宋体" panose="02010600030101010101" pitchFamily="2" charset="-122"/>
                <a:cs typeface="Times New Roman" panose="02020603050405020304" pitchFamily="18" charset="0"/>
              </a:rPr>
              <a:t>由于</a:t>
            </a:r>
            <a:r>
              <a:rPr lang="en-US" altLang="zh-CN" sz="2400" dirty="0">
                <a:solidFill>
                  <a:srgbClr val="CCFFCC"/>
                </a:solidFill>
                <a:effectLst/>
                <a:ea typeface="宋体" panose="02010600030101010101" pitchFamily="2" charset="-122"/>
                <a:cs typeface="Times New Roman" panose="02020603050405020304" pitchFamily="18" charset="0"/>
              </a:rPr>
              <a:t>Y</a:t>
            </a:r>
            <a:r>
              <a:rPr lang="zh-CN" altLang="zh-CN" sz="2400" dirty="0">
                <a:solidFill>
                  <a:srgbClr val="CCFFCC"/>
                </a:solidFill>
                <a:effectLst/>
                <a:ea typeface="宋体" panose="02010600030101010101" pitchFamily="2" charset="-122"/>
                <a:cs typeface="Times New Roman" panose="02020603050405020304" pitchFamily="18" charset="0"/>
              </a:rPr>
              <a:t>为空，算法结束。所以</a:t>
            </a:r>
            <a:r>
              <a:rPr lang="en-US" altLang="zh-CN" sz="2400" dirty="0">
                <a:solidFill>
                  <a:srgbClr val="CCFFCC"/>
                </a:solidFill>
                <a:effectLst/>
                <a:ea typeface="宋体" panose="02010600030101010101" pitchFamily="2" charset="-122"/>
                <a:cs typeface="Times New Roman" panose="02020603050405020304" pitchFamily="18" charset="0"/>
              </a:rPr>
              <a:t>R</a:t>
            </a:r>
            <a:r>
              <a:rPr lang="zh-CN" altLang="zh-CN" sz="2400" dirty="0">
                <a:solidFill>
                  <a:srgbClr val="CCFFCC"/>
                </a:solidFill>
                <a:effectLst/>
                <a:ea typeface="宋体" panose="02010600030101010101" pitchFamily="2" charset="-122"/>
                <a:cs typeface="Times New Roman" panose="02020603050405020304" pitchFamily="18" charset="0"/>
              </a:rPr>
              <a:t>的候选键有</a:t>
            </a:r>
            <a:r>
              <a:rPr lang="en-US" altLang="zh-CN" sz="2400" dirty="0">
                <a:solidFill>
                  <a:srgbClr val="CCFFCC"/>
                </a:solidFill>
                <a:effectLst/>
                <a:latin typeface="Times New Roman" panose="02020603050405020304" pitchFamily="18" charset="0"/>
                <a:ea typeface="宋体" panose="02010600030101010101" pitchFamily="2" charset="-122"/>
              </a:rPr>
              <a:t>A</a:t>
            </a:r>
            <a:r>
              <a:rPr lang="zh-CN" altLang="zh-CN" sz="24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rgbClr val="CCFFCC"/>
                </a:solidFill>
                <a:effectLst/>
                <a:latin typeface="Times New Roman" panose="02020603050405020304" pitchFamily="18" charset="0"/>
                <a:ea typeface="宋体" panose="02010600030101010101" pitchFamily="2" charset="-122"/>
              </a:rPr>
              <a:t>E</a:t>
            </a:r>
            <a:r>
              <a:rPr lang="zh-CN" altLang="zh-CN" sz="24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rgbClr val="CCFFCC"/>
                </a:solidFill>
                <a:effectLst/>
                <a:latin typeface="Times New Roman" panose="02020603050405020304" pitchFamily="18" charset="0"/>
                <a:ea typeface="宋体" panose="02010600030101010101" pitchFamily="2" charset="-122"/>
              </a:rPr>
              <a:t>BC</a:t>
            </a:r>
            <a:r>
              <a:rPr lang="zh-CN" altLang="zh-CN" sz="24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2400" dirty="0">
                <a:solidFill>
                  <a:srgbClr val="CCFFCC"/>
                </a:solidFill>
                <a:effectLst/>
                <a:latin typeface="Times New Roman" panose="02020603050405020304" pitchFamily="18" charset="0"/>
                <a:ea typeface="宋体" panose="02010600030101010101" pitchFamily="2" charset="-122"/>
              </a:rPr>
              <a:t>CD</a:t>
            </a:r>
            <a:r>
              <a:rPr lang="zh-CN" altLang="zh-CN" sz="24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共</a:t>
            </a:r>
            <a:r>
              <a:rPr lang="en-US" altLang="zh-CN" sz="2400" dirty="0">
                <a:solidFill>
                  <a:srgbClr val="CCFFCC"/>
                </a:solidFill>
                <a:effectLst/>
                <a:latin typeface="Times New Roman" panose="02020603050405020304" pitchFamily="18" charset="0"/>
                <a:ea typeface="宋体" panose="02010600030101010101" pitchFamily="2" charset="-122"/>
              </a:rPr>
              <a:t>4</a:t>
            </a:r>
            <a:r>
              <a:rPr lang="zh-CN" altLang="zh-CN" sz="24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rPr>
              <a:t>个。</a:t>
            </a:r>
            <a:endParaRPr lang="zh-CN" altLang="zh-CN" sz="2400" kern="100" dirty="0">
              <a:solidFill>
                <a:srgbClr val="CCFFCC"/>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423507094"/>
      </p:ext>
    </p:extLst>
  </p:cSld>
  <p:clrMapOvr>
    <a:masterClrMapping/>
  </p:clrMapOvr>
  <p:transition spd="med">
    <p:random/>
    <p:sndAc>
      <p:stSnd>
        <p:snd r:embed="rId2" name="camera.wav"/>
      </p:stSnd>
    </p:sndAc>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p:cNvSpPr>
            <a:spLocks noGrp="1" noChangeArrowheads="1"/>
          </p:cNvSpPr>
          <p:nvPr>
            <p:ph type="title"/>
          </p:nvPr>
        </p:nvSpPr>
        <p:spPr>
          <a:xfrm>
            <a:off x="24606" y="-22102"/>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ea typeface="微软雅黑" pitchFamily="34" charset="-122"/>
              </a:rPr>
              <a:t>范式 </a:t>
            </a:r>
            <a:r>
              <a:rPr kumimoji="1" lang="en-US" altLang="zh-CN" sz="4000" b="1" kern="1200" dirty="0">
                <a:solidFill>
                  <a:srgbClr val="FFFFCC"/>
                </a:solidFill>
                <a:effectLst>
                  <a:outerShdw blurRad="38100" dist="38100" dir="2700000" algn="tl">
                    <a:srgbClr val="000000"/>
                  </a:outerShdw>
                </a:effectLst>
                <a:latin typeface="Arial" pitchFamily="34" charset="0"/>
                <a:ea typeface="微软雅黑" pitchFamily="34" charset="-122"/>
              </a:rPr>
              <a:t>(Normal Form)</a:t>
            </a:r>
            <a:r>
              <a:rPr kumimoji="1" lang="zh-CN" altLang="en-US" sz="4000" b="1" kern="1200" dirty="0">
                <a:solidFill>
                  <a:srgbClr val="FFFFCC"/>
                </a:solidFill>
                <a:effectLst>
                  <a:outerShdw blurRad="38100" dist="38100" dir="2700000" algn="tl">
                    <a:srgbClr val="000000"/>
                  </a:outerShdw>
                </a:effectLst>
                <a:latin typeface="Arial" pitchFamily="34" charset="0"/>
                <a:ea typeface="微软雅黑" pitchFamily="34" charset="-122"/>
              </a:rPr>
              <a:t>的定义</a:t>
            </a:r>
            <a:endParaRPr kumimoji="1" lang="en-US" altLang="zh-CN" sz="4000" b="1" kern="1200" dirty="0">
              <a:solidFill>
                <a:srgbClr val="FFFFCC"/>
              </a:solidFill>
              <a:effectLst>
                <a:outerShdw blurRad="38100" dist="38100" dir="2700000" algn="tl">
                  <a:srgbClr val="000000"/>
                </a:outerShdw>
              </a:effectLst>
              <a:latin typeface="Arial" pitchFamily="34" charset="0"/>
              <a:ea typeface="微软雅黑" pitchFamily="34" charset="-122"/>
            </a:endParaRPr>
          </a:p>
        </p:txBody>
      </p:sp>
      <p:sp>
        <p:nvSpPr>
          <p:cNvPr id="1550340" name="Rectangle 4"/>
          <p:cNvSpPr>
            <a:spLocks noGrp="1" noChangeArrowheads="1"/>
          </p:cNvSpPr>
          <p:nvPr>
            <p:ph type="body" idx="1"/>
          </p:nvPr>
        </p:nvSpPr>
        <p:spPr>
          <a:xfrm>
            <a:off x="538901" y="1010853"/>
            <a:ext cx="8229600" cy="647700"/>
          </a:xfrm>
        </p:spPr>
        <p:txBody>
          <a:bodyPr/>
          <a:lstStyle/>
          <a:p>
            <a:pPr>
              <a:buFont typeface="Wingdings" pitchFamily="2" charset="2"/>
              <a:buNone/>
              <a:defRPr/>
            </a:pPr>
            <a:r>
              <a:rPr lang="zh-CN" altLang="en-US" sz="2800" dirty="0"/>
              <a:t>满足某种规范化标准的关系模式。</a:t>
            </a:r>
          </a:p>
        </p:txBody>
      </p:sp>
      <p:sp>
        <p:nvSpPr>
          <p:cNvPr id="1550341" name="Oval 5"/>
          <p:cNvSpPr>
            <a:spLocks noChangeArrowheads="1"/>
          </p:cNvSpPr>
          <p:nvPr/>
        </p:nvSpPr>
        <p:spPr bwMode="auto">
          <a:xfrm>
            <a:off x="611188" y="2262336"/>
            <a:ext cx="4191000" cy="4191000"/>
          </a:xfrm>
          <a:prstGeom prst="ellipse">
            <a:avLst/>
          </a:prstGeom>
          <a:solidFill>
            <a:srgbClr val="F5F5FF"/>
          </a:solidFill>
          <a:ln w="12700" cap="sq">
            <a:solidFill>
              <a:srgbClr val="000000"/>
            </a:solidFill>
            <a:round/>
            <a:headEnd/>
            <a:tailEnd/>
          </a:ln>
          <a:effectLst/>
        </p:spPr>
        <p:txBody>
          <a:bodyPr wrap="none" lIns="0" tIns="0" rIns="0" bIns="0" anchor="ctr"/>
          <a:lstStyle/>
          <a:p>
            <a:pPr>
              <a:defRPr/>
            </a:pPr>
            <a:endParaRPr lang="zh-CN" altLang="en-US"/>
          </a:p>
        </p:txBody>
      </p:sp>
      <p:sp>
        <p:nvSpPr>
          <p:cNvPr id="1550342" name="Oval 6"/>
          <p:cNvSpPr>
            <a:spLocks noChangeArrowheads="1"/>
          </p:cNvSpPr>
          <p:nvPr/>
        </p:nvSpPr>
        <p:spPr bwMode="auto">
          <a:xfrm>
            <a:off x="895350" y="2703661"/>
            <a:ext cx="3657600" cy="3657600"/>
          </a:xfrm>
          <a:prstGeom prst="ellipse">
            <a:avLst/>
          </a:prstGeom>
          <a:solidFill>
            <a:srgbClr val="EBEBFF"/>
          </a:solidFill>
          <a:ln w="12700" cap="sq">
            <a:solidFill>
              <a:srgbClr val="000000"/>
            </a:solidFill>
            <a:round/>
            <a:headEnd/>
            <a:tailEnd/>
          </a:ln>
          <a:effectLst/>
        </p:spPr>
        <p:txBody>
          <a:bodyPr wrap="none" lIns="0" tIns="0" rIns="0" bIns="0" anchor="ctr"/>
          <a:lstStyle/>
          <a:p>
            <a:pPr>
              <a:defRPr/>
            </a:pPr>
            <a:endParaRPr lang="zh-CN" altLang="en-US"/>
          </a:p>
        </p:txBody>
      </p:sp>
      <p:sp>
        <p:nvSpPr>
          <p:cNvPr id="1550343" name="Oval 7"/>
          <p:cNvSpPr>
            <a:spLocks noChangeAspect="1" noChangeArrowheads="1"/>
          </p:cNvSpPr>
          <p:nvPr/>
        </p:nvSpPr>
        <p:spPr bwMode="auto">
          <a:xfrm>
            <a:off x="1166813" y="3168798"/>
            <a:ext cx="3116262" cy="3116263"/>
          </a:xfrm>
          <a:prstGeom prst="ellipse">
            <a:avLst/>
          </a:prstGeom>
          <a:solidFill>
            <a:srgbClr val="E1E1FF"/>
          </a:solidFill>
          <a:ln w="12700" cap="sq">
            <a:solidFill>
              <a:srgbClr val="000000"/>
            </a:solidFill>
            <a:round/>
            <a:headEnd/>
            <a:tailEnd/>
          </a:ln>
          <a:effectLst/>
        </p:spPr>
        <p:txBody>
          <a:bodyPr wrap="none" lIns="0" tIns="0" rIns="0" bIns="0" anchor="ctr"/>
          <a:lstStyle/>
          <a:p>
            <a:pPr>
              <a:defRPr/>
            </a:pPr>
            <a:endParaRPr lang="zh-CN" altLang="en-US"/>
          </a:p>
        </p:txBody>
      </p:sp>
      <p:sp>
        <p:nvSpPr>
          <p:cNvPr id="1550344" name="Oval 8"/>
          <p:cNvSpPr>
            <a:spLocks noChangeAspect="1" noChangeArrowheads="1"/>
          </p:cNvSpPr>
          <p:nvPr/>
        </p:nvSpPr>
        <p:spPr bwMode="auto">
          <a:xfrm>
            <a:off x="1449388" y="3694261"/>
            <a:ext cx="2514600" cy="2514600"/>
          </a:xfrm>
          <a:prstGeom prst="ellipse">
            <a:avLst/>
          </a:prstGeom>
          <a:solidFill>
            <a:srgbClr val="D7D7FF"/>
          </a:solidFill>
          <a:ln w="12700" cap="sq">
            <a:solidFill>
              <a:srgbClr val="000000"/>
            </a:solidFill>
            <a:round/>
            <a:headEnd/>
            <a:tailEnd/>
          </a:ln>
          <a:effectLst/>
        </p:spPr>
        <p:txBody>
          <a:bodyPr wrap="none" lIns="0" tIns="0" rIns="0" bIns="0" anchor="ctr"/>
          <a:lstStyle/>
          <a:p>
            <a:pPr>
              <a:defRPr/>
            </a:pPr>
            <a:endParaRPr lang="zh-CN" altLang="en-US"/>
          </a:p>
        </p:txBody>
      </p:sp>
      <p:sp>
        <p:nvSpPr>
          <p:cNvPr id="1550345" name="Oval 9"/>
          <p:cNvSpPr>
            <a:spLocks noChangeAspect="1" noChangeArrowheads="1"/>
          </p:cNvSpPr>
          <p:nvPr/>
        </p:nvSpPr>
        <p:spPr bwMode="auto">
          <a:xfrm>
            <a:off x="1754188" y="4227661"/>
            <a:ext cx="1905000" cy="1905000"/>
          </a:xfrm>
          <a:prstGeom prst="ellipse">
            <a:avLst/>
          </a:prstGeom>
          <a:solidFill>
            <a:srgbClr val="CDCDFF"/>
          </a:solidFill>
          <a:ln w="12700" cap="sq">
            <a:solidFill>
              <a:srgbClr val="000000"/>
            </a:solidFill>
            <a:round/>
            <a:headEnd/>
            <a:tailEnd/>
          </a:ln>
          <a:effectLst/>
        </p:spPr>
        <p:txBody>
          <a:bodyPr wrap="none" lIns="0" tIns="0" rIns="0" bIns="0" anchor="ctr"/>
          <a:lstStyle/>
          <a:p>
            <a:pPr>
              <a:defRPr/>
            </a:pPr>
            <a:endParaRPr lang="zh-CN" altLang="en-US"/>
          </a:p>
        </p:txBody>
      </p:sp>
      <p:sp>
        <p:nvSpPr>
          <p:cNvPr id="1550346" name="Oval 10"/>
          <p:cNvSpPr>
            <a:spLocks noChangeAspect="1" noChangeArrowheads="1"/>
          </p:cNvSpPr>
          <p:nvPr/>
        </p:nvSpPr>
        <p:spPr bwMode="auto">
          <a:xfrm>
            <a:off x="2058988" y="4767411"/>
            <a:ext cx="1289050" cy="1289050"/>
          </a:xfrm>
          <a:prstGeom prst="ellipse">
            <a:avLst/>
          </a:prstGeom>
          <a:solidFill>
            <a:srgbClr val="C3C3FF"/>
          </a:solidFill>
          <a:ln w="12700" cap="sq">
            <a:solidFill>
              <a:srgbClr val="000000"/>
            </a:solidFill>
            <a:round/>
            <a:headEnd/>
            <a:tailEnd/>
          </a:ln>
          <a:effectLst/>
        </p:spPr>
        <p:txBody>
          <a:bodyPr wrap="none" lIns="0" tIns="0" rIns="0" bIns="0" anchor="ctr"/>
          <a:lstStyle/>
          <a:p>
            <a:pPr>
              <a:defRPr/>
            </a:pPr>
            <a:endParaRPr lang="zh-CN" altLang="en-US"/>
          </a:p>
        </p:txBody>
      </p:sp>
      <p:sp>
        <p:nvSpPr>
          <p:cNvPr id="1550347" name="Oval 11"/>
          <p:cNvSpPr>
            <a:spLocks noChangeAspect="1" noChangeArrowheads="1"/>
          </p:cNvSpPr>
          <p:nvPr/>
        </p:nvSpPr>
        <p:spPr bwMode="auto">
          <a:xfrm>
            <a:off x="2319338" y="5218261"/>
            <a:ext cx="762000" cy="762000"/>
          </a:xfrm>
          <a:prstGeom prst="ellipse">
            <a:avLst/>
          </a:prstGeom>
          <a:solidFill>
            <a:srgbClr val="B9B9FF"/>
          </a:solidFill>
          <a:ln w="12700" cap="sq">
            <a:solidFill>
              <a:srgbClr val="000000"/>
            </a:solidFill>
            <a:round/>
            <a:headEnd/>
            <a:tailEnd/>
          </a:ln>
          <a:effectLst/>
        </p:spPr>
        <p:txBody>
          <a:bodyPr wrap="none" lIns="0" tIns="0" rIns="0" bIns="0" anchor="ctr"/>
          <a:lstStyle/>
          <a:p>
            <a:pPr>
              <a:defRPr/>
            </a:pPr>
            <a:endParaRPr lang="zh-CN" altLang="en-US"/>
          </a:p>
        </p:txBody>
      </p:sp>
      <p:sp>
        <p:nvSpPr>
          <p:cNvPr id="1550348" name="Text Box 12"/>
          <p:cNvSpPr txBox="1">
            <a:spLocks noChangeArrowheads="1"/>
          </p:cNvSpPr>
          <p:nvPr/>
        </p:nvSpPr>
        <p:spPr bwMode="auto">
          <a:xfrm>
            <a:off x="2428875" y="5427811"/>
            <a:ext cx="541338"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5</a:t>
            </a:r>
            <a:r>
              <a:rPr lang="en-US" altLang="zh-CN" sz="2400" i="1">
                <a:solidFill>
                  <a:srgbClr val="000000"/>
                </a:solidFill>
                <a:effectLst>
                  <a:outerShdw blurRad="38100" dist="38100" dir="2700000" algn="tl">
                    <a:srgbClr val="FFFFFF"/>
                  </a:outerShdw>
                </a:effectLst>
                <a:latin typeface="Times New Roman" pitchFamily="18" charset="0"/>
              </a:rPr>
              <a:t>NF</a:t>
            </a:r>
          </a:p>
        </p:txBody>
      </p:sp>
      <p:sp>
        <p:nvSpPr>
          <p:cNvPr id="1550349" name="Text Box 13"/>
          <p:cNvSpPr txBox="1">
            <a:spLocks noChangeArrowheads="1"/>
          </p:cNvSpPr>
          <p:nvPr/>
        </p:nvSpPr>
        <p:spPr bwMode="auto">
          <a:xfrm>
            <a:off x="2428875" y="4811861"/>
            <a:ext cx="541338"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solidFill>
                  <a:srgbClr val="000000"/>
                </a:solidFill>
                <a:effectLst>
                  <a:outerShdw blurRad="38100" dist="38100" dir="2700000" algn="tl">
                    <a:srgbClr val="FFFFFF"/>
                  </a:outerShdw>
                </a:effectLst>
                <a:latin typeface="Times New Roman" pitchFamily="18" charset="0"/>
              </a:rPr>
              <a:t>4</a:t>
            </a:r>
            <a:r>
              <a:rPr lang="en-US" altLang="zh-CN" sz="2400" i="1">
                <a:solidFill>
                  <a:srgbClr val="000000"/>
                </a:solidFill>
                <a:effectLst>
                  <a:outerShdw blurRad="38100" dist="38100" dir="2700000" algn="tl">
                    <a:srgbClr val="FFFFFF"/>
                  </a:outerShdw>
                </a:effectLst>
                <a:latin typeface="Times New Roman" pitchFamily="18" charset="0"/>
              </a:rPr>
              <a:t>NF</a:t>
            </a:r>
          </a:p>
        </p:txBody>
      </p:sp>
      <p:sp>
        <p:nvSpPr>
          <p:cNvPr id="1550350" name="Text Box 14"/>
          <p:cNvSpPr txBox="1">
            <a:spLocks noChangeArrowheads="1"/>
          </p:cNvSpPr>
          <p:nvPr/>
        </p:nvSpPr>
        <p:spPr bwMode="auto">
          <a:xfrm>
            <a:off x="2301875" y="4372123"/>
            <a:ext cx="795338"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solidFill>
                  <a:srgbClr val="000000"/>
                </a:solidFill>
                <a:effectLst>
                  <a:outerShdw blurRad="38100" dist="38100" dir="2700000" algn="tl">
                    <a:srgbClr val="FFFFFF"/>
                  </a:outerShdw>
                </a:effectLst>
                <a:latin typeface="Times New Roman" pitchFamily="18" charset="0"/>
              </a:rPr>
              <a:t>BC</a:t>
            </a:r>
            <a:r>
              <a:rPr lang="en-US" altLang="zh-CN" sz="2400" i="1">
                <a:solidFill>
                  <a:srgbClr val="000000"/>
                </a:solidFill>
                <a:effectLst>
                  <a:outerShdw blurRad="38100" dist="38100" dir="2700000" algn="tl">
                    <a:srgbClr val="FFFFFF"/>
                  </a:outerShdw>
                </a:effectLst>
                <a:latin typeface="Times New Roman" pitchFamily="18" charset="0"/>
              </a:rPr>
              <a:t>NF</a:t>
            </a:r>
          </a:p>
        </p:txBody>
      </p:sp>
      <p:sp>
        <p:nvSpPr>
          <p:cNvPr id="1550351" name="Text Box 15"/>
          <p:cNvSpPr txBox="1">
            <a:spLocks noChangeArrowheads="1"/>
          </p:cNvSpPr>
          <p:nvPr/>
        </p:nvSpPr>
        <p:spPr bwMode="auto">
          <a:xfrm>
            <a:off x="2428875" y="3770461"/>
            <a:ext cx="541338"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solidFill>
                  <a:srgbClr val="000000"/>
                </a:solidFill>
                <a:effectLst>
                  <a:outerShdw blurRad="38100" dist="38100" dir="2700000" algn="tl">
                    <a:srgbClr val="FFFFFF"/>
                  </a:outerShdw>
                </a:effectLst>
                <a:latin typeface="Times New Roman" pitchFamily="18" charset="0"/>
              </a:rPr>
              <a:t>3</a:t>
            </a:r>
            <a:r>
              <a:rPr lang="en-US" altLang="zh-CN" sz="2400" i="1">
                <a:solidFill>
                  <a:srgbClr val="000000"/>
                </a:solidFill>
                <a:effectLst>
                  <a:outerShdw blurRad="38100" dist="38100" dir="2700000" algn="tl">
                    <a:srgbClr val="FFFFFF"/>
                  </a:outerShdw>
                </a:effectLst>
                <a:latin typeface="Times New Roman" pitchFamily="18" charset="0"/>
              </a:rPr>
              <a:t>NF</a:t>
            </a:r>
          </a:p>
        </p:txBody>
      </p:sp>
      <p:sp>
        <p:nvSpPr>
          <p:cNvPr id="1550352" name="Text Box 16"/>
          <p:cNvSpPr txBox="1">
            <a:spLocks noChangeArrowheads="1"/>
          </p:cNvSpPr>
          <p:nvPr/>
        </p:nvSpPr>
        <p:spPr bwMode="auto">
          <a:xfrm>
            <a:off x="2428875" y="3237061"/>
            <a:ext cx="541338"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solidFill>
                  <a:srgbClr val="000000"/>
                </a:solidFill>
                <a:effectLst>
                  <a:outerShdw blurRad="38100" dist="38100" dir="2700000" algn="tl">
                    <a:srgbClr val="FFFFFF"/>
                  </a:outerShdw>
                </a:effectLst>
                <a:latin typeface="Times New Roman" pitchFamily="18" charset="0"/>
              </a:rPr>
              <a:t>2</a:t>
            </a:r>
            <a:r>
              <a:rPr lang="en-US" altLang="zh-CN" sz="2400" i="1">
                <a:solidFill>
                  <a:srgbClr val="000000"/>
                </a:solidFill>
                <a:effectLst>
                  <a:outerShdw blurRad="38100" dist="38100" dir="2700000" algn="tl">
                    <a:srgbClr val="FFFFFF"/>
                  </a:outerShdw>
                </a:effectLst>
                <a:latin typeface="Times New Roman" pitchFamily="18" charset="0"/>
              </a:rPr>
              <a:t>NF</a:t>
            </a:r>
          </a:p>
        </p:txBody>
      </p:sp>
      <p:sp>
        <p:nvSpPr>
          <p:cNvPr id="1550353" name="Text Box 17"/>
          <p:cNvSpPr txBox="1">
            <a:spLocks noChangeArrowheads="1"/>
          </p:cNvSpPr>
          <p:nvPr/>
        </p:nvSpPr>
        <p:spPr bwMode="auto">
          <a:xfrm>
            <a:off x="2428875" y="2779861"/>
            <a:ext cx="541338"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solidFill>
                  <a:srgbClr val="000000"/>
                </a:solidFill>
                <a:effectLst>
                  <a:outerShdw blurRad="38100" dist="38100" dir="2700000" algn="tl">
                    <a:srgbClr val="FFFFFF"/>
                  </a:outerShdw>
                </a:effectLst>
                <a:latin typeface="Times New Roman" pitchFamily="18" charset="0"/>
              </a:rPr>
              <a:t>1</a:t>
            </a:r>
            <a:r>
              <a:rPr lang="en-US" altLang="zh-CN" sz="2400" i="1">
                <a:solidFill>
                  <a:srgbClr val="000000"/>
                </a:solidFill>
                <a:effectLst>
                  <a:outerShdw blurRad="38100" dist="38100" dir="2700000" algn="tl">
                    <a:srgbClr val="FFFFFF"/>
                  </a:outerShdw>
                </a:effectLst>
                <a:latin typeface="Times New Roman" pitchFamily="18" charset="0"/>
              </a:rPr>
              <a:t>NF</a:t>
            </a:r>
          </a:p>
        </p:txBody>
      </p:sp>
      <p:sp>
        <p:nvSpPr>
          <p:cNvPr id="1550354" name="Text Box 18"/>
          <p:cNvSpPr txBox="1">
            <a:spLocks noChangeArrowheads="1"/>
          </p:cNvSpPr>
          <p:nvPr/>
        </p:nvSpPr>
        <p:spPr bwMode="auto">
          <a:xfrm>
            <a:off x="2241550" y="2302023"/>
            <a:ext cx="914400"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非规范</a:t>
            </a:r>
            <a:endParaRPr lang="zh-CN" altLang="en-US" sz="2400" i="1">
              <a:solidFill>
                <a:srgbClr val="000000"/>
              </a:solidFill>
              <a:effectLst>
                <a:outerShdw blurRad="38100" dist="38100" dir="2700000" algn="tl">
                  <a:srgbClr val="FFFFFF"/>
                </a:outerShdw>
              </a:effectLst>
              <a:latin typeface="Times New Roman" pitchFamily="18" charset="0"/>
            </a:endParaRPr>
          </a:p>
        </p:txBody>
      </p:sp>
      <p:sp>
        <p:nvSpPr>
          <p:cNvPr id="1550355" name="Line 19"/>
          <p:cNvSpPr>
            <a:spLocks noChangeShapeType="1"/>
          </p:cNvSpPr>
          <p:nvPr/>
        </p:nvSpPr>
        <p:spPr bwMode="auto">
          <a:xfrm>
            <a:off x="5002213" y="2689373"/>
            <a:ext cx="0" cy="3200400"/>
          </a:xfrm>
          <a:prstGeom prst="line">
            <a:avLst/>
          </a:prstGeom>
          <a:noFill/>
          <a:ln w="28575" cap="sq">
            <a:solidFill>
              <a:srgbClr val="FF0000"/>
            </a:solidFill>
            <a:round/>
            <a:headEnd/>
            <a:tailEnd type="triangle" w="med" len="med"/>
          </a:ln>
          <a:effectLst/>
        </p:spPr>
        <p:txBody>
          <a:bodyPr wrap="none" lIns="0" tIns="0" rIns="0" bIns="0" anchor="ctr"/>
          <a:lstStyle/>
          <a:p>
            <a:pPr>
              <a:defRPr/>
            </a:pPr>
            <a:endParaRPr lang="zh-CN" altLang="en-US"/>
          </a:p>
        </p:txBody>
      </p:sp>
      <p:sp>
        <p:nvSpPr>
          <p:cNvPr id="1550356" name="Text Box 20"/>
          <p:cNvSpPr txBox="1">
            <a:spLocks noChangeArrowheads="1"/>
          </p:cNvSpPr>
          <p:nvPr/>
        </p:nvSpPr>
        <p:spPr bwMode="auto">
          <a:xfrm>
            <a:off x="4859338" y="2217886"/>
            <a:ext cx="355600" cy="427037"/>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800">
                <a:solidFill>
                  <a:srgbClr val="99FF33"/>
                </a:solidFill>
                <a:effectLst>
                  <a:outerShdw blurRad="38100" dist="38100" dir="2700000" algn="tl">
                    <a:srgbClr val="000000"/>
                  </a:outerShdw>
                </a:effectLst>
                <a:latin typeface="Times New Roman" pitchFamily="18" charset="0"/>
              </a:rPr>
              <a:t>低</a:t>
            </a:r>
            <a:endParaRPr lang="en-US" altLang="zh-CN" sz="2800" i="1">
              <a:solidFill>
                <a:srgbClr val="99FF33"/>
              </a:solidFill>
              <a:effectLst>
                <a:outerShdw blurRad="38100" dist="38100" dir="2700000" algn="tl">
                  <a:srgbClr val="000000"/>
                </a:outerShdw>
              </a:effectLst>
              <a:latin typeface="Times New Roman" pitchFamily="18" charset="0"/>
            </a:endParaRPr>
          </a:p>
        </p:txBody>
      </p:sp>
      <p:sp>
        <p:nvSpPr>
          <p:cNvPr id="1550357" name="Text Box 21"/>
          <p:cNvSpPr txBox="1">
            <a:spLocks noChangeArrowheads="1"/>
          </p:cNvSpPr>
          <p:nvPr/>
        </p:nvSpPr>
        <p:spPr bwMode="auto">
          <a:xfrm>
            <a:off x="4865688" y="5919936"/>
            <a:ext cx="355600" cy="427037"/>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800">
                <a:solidFill>
                  <a:srgbClr val="99FF33"/>
                </a:solidFill>
                <a:effectLst>
                  <a:outerShdw blurRad="38100" dist="38100" dir="2700000" algn="tl">
                    <a:srgbClr val="000000"/>
                  </a:outerShdw>
                </a:effectLst>
                <a:latin typeface="Times New Roman" pitchFamily="18" charset="0"/>
              </a:rPr>
              <a:t>高</a:t>
            </a:r>
            <a:endParaRPr lang="en-US" altLang="zh-CN" sz="2800" i="1">
              <a:solidFill>
                <a:srgbClr val="99FF33"/>
              </a:solidFill>
              <a:effectLst>
                <a:outerShdw blurRad="38100" dist="38100" dir="2700000" algn="tl">
                  <a:srgbClr val="000000"/>
                </a:outerShdw>
              </a:effectLst>
              <a:latin typeface="Times New Roman" pitchFamily="18" charset="0"/>
            </a:endParaRPr>
          </a:p>
        </p:txBody>
      </p:sp>
      <p:sp>
        <p:nvSpPr>
          <p:cNvPr id="1550358" name="Text Box 22"/>
          <p:cNvSpPr txBox="1">
            <a:spLocks noChangeArrowheads="1"/>
          </p:cNvSpPr>
          <p:nvPr/>
        </p:nvSpPr>
        <p:spPr bwMode="auto">
          <a:xfrm>
            <a:off x="5145088" y="3248173"/>
            <a:ext cx="427037" cy="1778000"/>
          </a:xfrm>
          <a:prstGeom prst="rect">
            <a:avLst/>
          </a:prstGeom>
          <a:noFill/>
          <a:ln w="12700" cap="sq">
            <a:noFill/>
            <a:miter lim="800000"/>
            <a:headEnd/>
            <a:tailEnd/>
          </a:ln>
          <a:effectLst/>
        </p:spPr>
        <p:txBody>
          <a:bodyPr vert="eaVert" wrap="none" lIns="0" tIns="0" rIns="0" bIns="0">
            <a:spAutoFit/>
          </a:bodyPr>
          <a:lstStyle/>
          <a:p>
            <a:pPr algn="ctr">
              <a:spcAft>
                <a:spcPct val="0"/>
              </a:spcAft>
              <a:buSzTx/>
              <a:buFontTx/>
              <a:buNone/>
              <a:defRPr/>
            </a:pPr>
            <a:r>
              <a:rPr lang="zh-CN" altLang="en-US" sz="2800">
                <a:solidFill>
                  <a:srgbClr val="99FF33"/>
                </a:solidFill>
                <a:effectLst>
                  <a:outerShdw blurRad="38100" dist="38100" dir="2700000" algn="tl">
                    <a:srgbClr val="000000"/>
                  </a:outerShdw>
                </a:effectLst>
                <a:latin typeface="Times New Roman" pitchFamily="18" charset="0"/>
              </a:rPr>
              <a:t>规范化要求</a:t>
            </a:r>
            <a:endParaRPr lang="en-US" altLang="zh-CN" sz="2800" i="1">
              <a:solidFill>
                <a:srgbClr val="99FF33"/>
              </a:solidFill>
              <a:effectLst>
                <a:outerShdw blurRad="38100" dist="38100" dir="2700000" algn="tl">
                  <a:srgbClr val="000000"/>
                </a:outerShdw>
              </a:effectLst>
              <a:latin typeface="Times New Roman" pitchFamily="18" charset="0"/>
            </a:endParaRPr>
          </a:p>
        </p:txBody>
      </p:sp>
      <p:sp>
        <p:nvSpPr>
          <p:cNvPr id="1550359" name="Text Box 23"/>
          <p:cNvSpPr txBox="1">
            <a:spLocks noChangeArrowheads="1"/>
          </p:cNvSpPr>
          <p:nvPr/>
        </p:nvSpPr>
        <p:spPr bwMode="auto">
          <a:xfrm>
            <a:off x="5580063" y="3070373"/>
            <a:ext cx="427037" cy="2133600"/>
          </a:xfrm>
          <a:prstGeom prst="rect">
            <a:avLst/>
          </a:prstGeom>
          <a:noFill/>
          <a:ln w="12700" cap="sq">
            <a:noFill/>
            <a:miter lim="800000"/>
            <a:headEnd/>
            <a:tailEnd/>
          </a:ln>
          <a:effectLst/>
        </p:spPr>
        <p:txBody>
          <a:bodyPr vert="eaVert" wrap="none" lIns="0" tIns="0" rIns="0" bIns="0">
            <a:spAutoFit/>
          </a:bodyPr>
          <a:lstStyle/>
          <a:p>
            <a:pPr algn="ctr">
              <a:spcAft>
                <a:spcPct val="0"/>
              </a:spcAft>
              <a:buSzTx/>
              <a:buFontTx/>
              <a:buNone/>
              <a:defRPr/>
            </a:pPr>
            <a:r>
              <a:rPr lang="zh-CN" altLang="en-US" sz="2800">
                <a:solidFill>
                  <a:srgbClr val="99FF33"/>
                </a:solidFill>
                <a:effectLst>
                  <a:outerShdw blurRad="38100" dist="38100" dir="2700000" algn="tl">
                    <a:srgbClr val="000000"/>
                  </a:outerShdw>
                </a:effectLst>
                <a:latin typeface="Times New Roman" pitchFamily="18" charset="0"/>
              </a:rPr>
              <a:t>（约束条件）</a:t>
            </a:r>
            <a:endParaRPr lang="en-US" altLang="zh-CN" sz="2800" i="1">
              <a:solidFill>
                <a:srgbClr val="99FF33"/>
              </a:solidFill>
              <a:effectLst>
                <a:outerShdw blurRad="38100" dist="38100" dir="2700000" algn="tl">
                  <a:srgbClr val="000000"/>
                </a:outerShdw>
              </a:effectLst>
              <a:latin typeface="Times New Roman" pitchFamily="18" charset="0"/>
            </a:endParaRPr>
          </a:p>
        </p:txBody>
      </p:sp>
      <p:pic>
        <p:nvPicPr>
          <p:cNvPr id="44056" name="Picture 24" descr="PE01832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16688" y="2833836"/>
            <a:ext cx="2222500" cy="242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50361" name="Text Box 25"/>
          <p:cNvSpPr txBox="1">
            <a:spLocks noChangeArrowheads="1"/>
          </p:cNvSpPr>
          <p:nvPr/>
        </p:nvSpPr>
        <p:spPr bwMode="auto">
          <a:xfrm>
            <a:off x="6232525" y="5354786"/>
            <a:ext cx="2489200" cy="85407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800">
                <a:solidFill>
                  <a:srgbClr val="FFFF00"/>
                </a:solidFill>
                <a:effectLst>
                  <a:outerShdw blurRad="38100" dist="38100" dir="2700000" algn="tl">
                    <a:srgbClr val="000000"/>
                  </a:outerShdw>
                </a:effectLst>
                <a:latin typeface="Times New Roman" pitchFamily="18" charset="0"/>
              </a:rPr>
              <a:t>关系数据库之父</a:t>
            </a:r>
          </a:p>
          <a:p>
            <a:pPr algn="ctr">
              <a:spcAft>
                <a:spcPct val="0"/>
              </a:spcAft>
              <a:buSzTx/>
              <a:buFontTx/>
              <a:buNone/>
              <a:defRPr/>
            </a:pPr>
            <a:r>
              <a:rPr lang="en-US" altLang="zh-CN" sz="2800">
                <a:solidFill>
                  <a:srgbClr val="FFFF00"/>
                </a:solidFill>
                <a:effectLst>
                  <a:outerShdw blurRad="38100" dist="38100" dir="2700000" algn="tl">
                    <a:srgbClr val="000000"/>
                  </a:outerShdw>
                </a:effectLst>
                <a:latin typeface="Times New Roman" pitchFamily="18" charset="0"/>
              </a:rPr>
              <a:t>E. F. Codd</a:t>
            </a:r>
            <a:endParaRPr lang="zh-CN" altLang="en-US" sz="2800" i="1">
              <a:solidFill>
                <a:srgbClr val="FFFF00"/>
              </a:solidFill>
              <a:effectLst>
                <a:outerShdw blurRad="38100" dist="38100" dir="2700000" algn="tl">
                  <a:srgbClr val="000000"/>
                </a:outerShdw>
              </a:effectLst>
              <a:latin typeface="Times New Roman" pitchFamily="18" charset="0"/>
            </a:endParaRP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p:cNvSpPr>
            <a:spLocks noGrp="1" noChangeArrowheads="1"/>
          </p:cNvSpPr>
          <p:nvPr>
            <p:ph type="title"/>
          </p:nvPr>
        </p:nvSpPr>
        <p:spPr>
          <a:xfrm>
            <a:off x="35496" y="-13886"/>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ea typeface="微软雅黑" pitchFamily="34" charset="-122"/>
              </a:rPr>
              <a:t>第一范式</a:t>
            </a:r>
            <a:r>
              <a:rPr kumimoji="1" lang="en-US" altLang="zh-CN" sz="4000" b="1" kern="1200" dirty="0">
                <a:solidFill>
                  <a:srgbClr val="FFFFCC"/>
                </a:solidFill>
                <a:effectLst>
                  <a:outerShdw blurRad="38100" dist="38100" dir="2700000" algn="tl">
                    <a:srgbClr val="000000"/>
                  </a:outerShdw>
                </a:effectLst>
                <a:latin typeface="Arial" pitchFamily="34" charset="0"/>
                <a:ea typeface="微软雅黑" pitchFamily="34" charset="-122"/>
              </a:rPr>
              <a:t>(1NF)</a:t>
            </a:r>
          </a:p>
        </p:txBody>
      </p:sp>
      <p:sp>
        <p:nvSpPr>
          <p:cNvPr id="1551364" name="Rectangle 4"/>
          <p:cNvSpPr>
            <a:spLocks noGrp="1" noChangeArrowheads="1"/>
          </p:cNvSpPr>
          <p:nvPr>
            <p:ph type="body" idx="1"/>
          </p:nvPr>
        </p:nvSpPr>
        <p:spPr>
          <a:xfrm>
            <a:off x="374650" y="1035477"/>
            <a:ext cx="8229600" cy="647700"/>
          </a:xfrm>
        </p:spPr>
        <p:txBody>
          <a:bodyPr/>
          <a:lstStyle/>
          <a:p>
            <a:pPr marL="0" indent="0">
              <a:spcAft>
                <a:spcPct val="25000"/>
              </a:spcAft>
              <a:buFont typeface="Wingdings" pitchFamily="2" charset="2"/>
              <a:buNone/>
              <a:defRPr/>
            </a:pPr>
            <a:r>
              <a:rPr lang="zh-CN" altLang="en-US" sz="2800" dirty="0">
                <a:latin typeface="楷体_GB2312" pitchFamily="49" charset="-122"/>
              </a:rPr>
              <a:t>如果关系模式</a:t>
            </a:r>
            <a:r>
              <a:rPr lang="en-US" altLang="zh-CN" sz="2800" dirty="0">
                <a:latin typeface="楷体_GB2312" pitchFamily="49" charset="-122"/>
              </a:rPr>
              <a:t>R(U)</a:t>
            </a:r>
            <a:r>
              <a:rPr lang="zh-CN" altLang="en-US" sz="2800" dirty="0">
                <a:latin typeface="楷体_GB2312" pitchFamily="49" charset="-122"/>
              </a:rPr>
              <a:t>的所有属性均是不可再分的基本数据项，则称</a:t>
            </a:r>
            <a:r>
              <a:rPr lang="en-US" altLang="zh-CN" sz="2800" dirty="0">
                <a:latin typeface="楷体_GB2312" pitchFamily="49" charset="-122"/>
              </a:rPr>
              <a:t>R</a:t>
            </a:r>
            <a:r>
              <a:rPr lang="zh-CN" altLang="en-US" sz="2800" dirty="0">
                <a:latin typeface="楷体_GB2312" pitchFamily="49" charset="-122"/>
              </a:rPr>
              <a:t>属于</a:t>
            </a:r>
            <a:r>
              <a:rPr lang="zh-CN" altLang="en-US" sz="2800" dirty="0">
                <a:solidFill>
                  <a:srgbClr val="FFFF00"/>
                </a:solidFill>
                <a:latin typeface="楷体_GB2312" pitchFamily="49" charset="-122"/>
              </a:rPr>
              <a:t>第一范式</a:t>
            </a:r>
            <a:r>
              <a:rPr lang="zh-CN" altLang="en-US" sz="2800" dirty="0">
                <a:latin typeface="楷体_GB2312" pitchFamily="49" charset="-122"/>
              </a:rPr>
              <a:t>，记作</a:t>
            </a:r>
            <a:r>
              <a:rPr lang="en-US" altLang="zh-CN" sz="2800" dirty="0">
                <a:solidFill>
                  <a:srgbClr val="FFFF00"/>
                </a:solidFill>
                <a:latin typeface="楷体_GB2312" pitchFamily="49" charset="-122"/>
              </a:rPr>
              <a:t>R(U)</a:t>
            </a:r>
            <a:r>
              <a:rPr lang="zh-CN" altLang="en-US" sz="2800" dirty="0">
                <a:solidFill>
                  <a:srgbClr val="FFFF00"/>
                </a:solidFill>
                <a:latin typeface="宋体" pitchFamily="2" charset="-122"/>
                <a:ea typeface="宋体" pitchFamily="2" charset="-122"/>
              </a:rPr>
              <a:t>∈</a:t>
            </a:r>
            <a:r>
              <a:rPr lang="en-US" altLang="zh-CN" sz="2800" dirty="0">
                <a:solidFill>
                  <a:srgbClr val="FFFF00"/>
                </a:solidFill>
                <a:latin typeface="楷体_GB2312" pitchFamily="49" charset="-122"/>
              </a:rPr>
              <a:t>1NF</a:t>
            </a:r>
            <a:r>
              <a:rPr lang="zh-CN" altLang="en-US" sz="2800" dirty="0">
                <a:latin typeface="楷体_GB2312" pitchFamily="49" charset="-122"/>
              </a:rPr>
              <a:t>。任何一个关系模式都必须满足</a:t>
            </a:r>
            <a:r>
              <a:rPr lang="en-US" altLang="zh-CN" sz="2800" dirty="0">
                <a:latin typeface="楷体_GB2312" pitchFamily="49" charset="-122"/>
              </a:rPr>
              <a:t>1NF</a:t>
            </a:r>
            <a:r>
              <a:rPr lang="zh-CN" altLang="en-US" sz="2800" dirty="0">
                <a:latin typeface="楷体_GB2312" pitchFamily="49" charset="-122"/>
              </a:rPr>
              <a:t>。</a:t>
            </a:r>
          </a:p>
          <a:p>
            <a:pPr marL="0" indent="0">
              <a:spcAft>
                <a:spcPct val="25000"/>
              </a:spcAft>
              <a:buFont typeface="Wingdings" pitchFamily="2" charset="2"/>
              <a:buNone/>
              <a:defRPr/>
            </a:pPr>
            <a:r>
              <a:rPr lang="zh-CN" altLang="en-US" sz="2800" dirty="0">
                <a:latin typeface="楷体_GB2312" pitchFamily="49" charset="-122"/>
              </a:rPr>
              <a:t>属性不可再分依赖于语义。</a:t>
            </a:r>
            <a:r>
              <a:rPr lang="en-US" altLang="zh-CN" sz="2800" dirty="0">
                <a:latin typeface="楷体_GB2312" pitchFamily="49" charset="-122"/>
              </a:rPr>
              <a:t>1NF</a:t>
            </a:r>
            <a:r>
              <a:rPr lang="zh-CN" altLang="en-US" sz="2800" dirty="0">
                <a:latin typeface="楷体_GB2312" pitchFamily="49" charset="-122"/>
              </a:rPr>
              <a:t>的关系模式在形式上表现为一张规则二维表，即不允许出现表中表。</a:t>
            </a:r>
          </a:p>
        </p:txBody>
      </p:sp>
      <p:graphicFrame>
        <p:nvGraphicFramePr>
          <p:cNvPr id="1551365" name="Group 5"/>
          <p:cNvGraphicFramePr>
            <a:graphicFrameLocks noGrp="1"/>
          </p:cNvGraphicFramePr>
          <p:nvPr>
            <p:extLst>
              <p:ext uri="{D42A27DB-BD31-4B8C-83A1-F6EECF244321}">
                <p14:modId xmlns:p14="http://schemas.microsoft.com/office/powerpoint/2010/main" val="734189843"/>
              </p:ext>
            </p:extLst>
          </p:nvPr>
        </p:nvGraphicFramePr>
        <p:xfrm>
          <a:off x="684213" y="4636541"/>
          <a:ext cx="2262187" cy="1528763"/>
        </p:xfrm>
        <a:graphic>
          <a:graphicData uri="http://schemas.openxmlformats.org/drawingml/2006/table">
            <a:tbl>
              <a:tblPr/>
              <a:tblGrid>
                <a:gridCol w="574675">
                  <a:extLst>
                    <a:ext uri="{9D8B030D-6E8A-4147-A177-3AD203B41FA5}">
                      <a16:colId xmlns:a16="http://schemas.microsoft.com/office/drawing/2014/main" val="20000"/>
                    </a:ext>
                  </a:extLst>
                </a:gridCol>
                <a:gridCol w="704850">
                  <a:extLst>
                    <a:ext uri="{9D8B030D-6E8A-4147-A177-3AD203B41FA5}">
                      <a16:colId xmlns:a16="http://schemas.microsoft.com/office/drawing/2014/main" val="20001"/>
                    </a:ext>
                  </a:extLst>
                </a:gridCol>
                <a:gridCol w="982662">
                  <a:extLst>
                    <a:ext uri="{9D8B030D-6E8A-4147-A177-3AD203B41FA5}">
                      <a16:colId xmlns:a16="http://schemas.microsoft.com/office/drawing/2014/main" val="20002"/>
                    </a:ext>
                  </a:extLst>
                </a:gridCol>
              </a:tblGrid>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学号</a:t>
                      </a:r>
                    </a:p>
                  </a:txBody>
                  <a:tcPr marL="0" marR="0" marT="0" marB="0"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语文</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数学</a:t>
                      </a:r>
                    </a:p>
                  </a:txBody>
                  <a:tcPr marL="0" marR="0" marT="0" marB="0"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9801</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85</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58</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24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980</a:t>
                      </a: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2</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82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76</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956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9803</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84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75</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24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1551399" name="Group 39"/>
          <p:cNvGraphicFramePr>
            <a:graphicFrameLocks noGrp="1"/>
          </p:cNvGraphicFramePr>
          <p:nvPr/>
        </p:nvGraphicFramePr>
        <p:xfrm>
          <a:off x="5435600" y="4508500"/>
          <a:ext cx="2262188" cy="1882775"/>
        </p:xfrm>
        <a:graphic>
          <a:graphicData uri="http://schemas.openxmlformats.org/drawingml/2006/table">
            <a:tbl>
              <a:tblPr/>
              <a:tblGrid>
                <a:gridCol w="603250">
                  <a:extLst>
                    <a:ext uri="{9D8B030D-6E8A-4147-A177-3AD203B41FA5}">
                      <a16:colId xmlns:a16="http://schemas.microsoft.com/office/drawing/2014/main" val="20000"/>
                    </a:ext>
                  </a:extLst>
                </a:gridCol>
                <a:gridCol w="676275">
                  <a:extLst>
                    <a:ext uri="{9D8B030D-6E8A-4147-A177-3AD203B41FA5}">
                      <a16:colId xmlns:a16="http://schemas.microsoft.com/office/drawing/2014/main" val="20001"/>
                    </a:ext>
                  </a:extLst>
                </a:gridCol>
                <a:gridCol w="982663">
                  <a:extLst>
                    <a:ext uri="{9D8B030D-6E8A-4147-A177-3AD203B41FA5}">
                      <a16:colId xmlns:a16="http://schemas.microsoft.com/office/drawing/2014/main" val="20002"/>
                    </a:ext>
                  </a:extLst>
                </a:gridCol>
              </a:tblGrid>
              <a:tr h="358775">
                <a:tc rowSpan="2">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学号</a:t>
                      </a:r>
                    </a:p>
                  </a:txBody>
                  <a:tcPr marL="0" marR="0" marT="0" marB="0" anchor="ctr" anchorCtr="1"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成绩</a:t>
                      </a:r>
                    </a:p>
                  </a:txBody>
                  <a:tcPr marL="0" marR="0" marT="0" marB="0" anchor="ctr" anchorCtr="1"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0"/>
                  </a:ext>
                </a:extLst>
              </a:tr>
              <a:tr h="144463">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语文</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数学</a:t>
                      </a:r>
                    </a:p>
                  </a:txBody>
                  <a:tcPr marL="0" marR="0" marT="0" marB="0" anchor="ctr" anchorCtr="1"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9801</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85</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58</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524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980</a:t>
                      </a: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2</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82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76</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9803</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84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75</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551434" name="Rectangle 74"/>
          <p:cNvSpPr>
            <a:spLocks noChangeArrowheads="1"/>
          </p:cNvSpPr>
          <p:nvPr/>
        </p:nvSpPr>
        <p:spPr bwMode="auto">
          <a:xfrm>
            <a:off x="5435600" y="4061866"/>
            <a:ext cx="3168650" cy="457200"/>
          </a:xfrm>
          <a:prstGeom prst="rect">
            <a:avLst/>
          </a:prstGeom>
          <a:noFill/>
          <a:ln w="12700" cap="sq">
            <a:noFill/>
            <a:miter lim="800000"/>
            <a:headEnd/>
            <a:tailEnd/>
          </a:ln>
          <a:effectLst/>
        </p:spPr>
        <p:txBody>
          <a:bodyPr lIns="0" tIns="0" rIns="0" bIns="0"/>
          <a:lstStyle/>
          <a:p>
            <a:pPr>
              <a:spcAft>
                <a:spcPct val="20000"/>
              </a:spcAft>
              <a:buSzTx/>
              <a:buFontTx/>
              <a:buNone/>
              <a:defRPr/>
            </a:pPr>
            <a:r>
              <a:rPr lang="en-US" altLang="zh-CN" sz="2400">
                <a:solidFill>
                  <a:srgbClr val="99FF33"/>
                </a:solidFill>
                <a:effectLst>
                  <a:outerShdw blurRad="38100" dist="38100" dir="2700000" algn="tl">
                    <a:srgbClr val="000000"/>
                  </a:outerShdw>
                </a:effectLst>
              </a:rPr>
              <a:t>R2(</a:t>
            </a:r>
            <a:r>
              <a:rPr lang="zh-CN" altLang="en-US" sz="2400">
                <a:solidFill>
                  <a:srgbClr val="99FF33"/>
                </a:solidFill>
                <a:effectLst>
                  <a:outerShdw blurRad="38100" dist="38100" dir="2700000" algn="tl">
                    <a:srgbClr val="000000"/>
                  </a:outerShdw>
                </a:effectLst>
              </a:rPr>
              <a:t>学号</a:t>
            </a:r>
            <a:r>
              <a:rPr lang="en-US" altLang="zh-CN" sz="2400">
                <a:solidFill>
                  <a:srgbClr val="99FF33"/>
                </a:solidFill>
                <a:effectLst>
                  <a:outerShdw blurRad="38100" dist="38100" dir="2700000" algn="tl">
                    <a:srgbClr val="000000"/>
                  </a:outerShdw>
                </a:effectLst>
              </a:rPr>
              <a:t>,</a:t>
            </a:r>
            <a:r>
              <a:rPr lang="zh-CN" altLang="en-US" sz="2400">
                <a:solidFill>
                  <a:srgbClr val="99FF33"/>
                </a:solidFill>
                <a:effectLst>
                  <a:outerShdw blurRad="38100" dist="38100" dir="2700000" algn="tl">
                    <a:srgbClr val="000000"/>
                  </a:outerShdw>
                </a:effectLst>
              </a:rPr>
              <a:t>成绩</a:t>
            </a:r>
            <a:r>
              <a:rPr lang="en-US" altLang="zh-CN" sz="2400">
                <a:solidFill>
                  <a:srgbClr val="99FF33"/>
                </a:solidFill>
                <a:effectLst>
                  <a:outerShdw blurRad="38100" dist="38100" dir="2700000" algn="tl">
                    <a:srgbClr val="000000"/>
                  </a:outerShdw>
                </a:effectLst>
              </a:rPr>
              <a:t>)</a:t>
            </a:r>
            <a:r>
              <a:rPr kumimoji="0" lang="en-US" altLang="zh-CN" sz="2400">
                <a:solidFill>
                  <a:srgbClr val="99FF33"/>
                </a:solidFill>
                <a:effectLst>
                  <a:outerShdw blurRad="38100" dist="38100" dir="2700000" algn="tl">
                    <a:srgbClr val="000000"/>
                  </a:outerShdw>
                </a:effectLst>
                <a:latin typeface="宋体" pitchFamily="2" charset="-122"/>
                <a:ea typeface="宋体" pitchFamily="2" charset="-122"/>
              </a:rPr>
              <a:t>∈</a:t>
            </a:r>
            <a:r>
              <a:rPr kumimoji="0" lang="en-US" altLang="zh-CN" sz="2400">
                <a:solidFill>
                  <a:srgbClr val="99FF33"/>
                </a:solidFill>
                <a:effectLst>
                  <a:outerShdw blurRad="38100" dist="38100" dir="2700000" algn="tl">
                    <a:srgbClr val="000000"/>
                  </a:outerShdw>
                </a:effectLst>
              </a:rPr>
              <a:t>1NF</a:t>
            </a:r>
          </a:p>
        </p:txBody>
      </p:sp>
      <p:sp>
        <p:nvSpPr>
          <p:cNvPr id="1551435" name="Rectangle 75"/>
          <p:cNvSpPr>
            <a:spLocks noChangeArrowheads="1"/>
          </p:cNvSpPr>
          <p:nvPr/>
        </p:nvSpPr>
        <p:spPr bwMode="auto">
          <a:xfrm>
            <a:off x="684213" y="4061866"/>
            <a:ext cx="3527425" cy="457200"/>
          </a:xfrm>
          <a:prstGeom prst="rect">
            <a:avLst/>
          </a:prstGeom>
          <a:noFill/>
          <a:ln w="12700" cap="sq">
            <a:noFill/>
            <a:miter lim="800000"/>
            <a:headEnd/>
            <a:tailEnd/>
          </a:ln>
          <a:effectLst/>
        </p:spPr>
        <p:txBody>
          <a:bodyPr lIns="0" tIns="0" rIns="0" bIns="0"/>
          <a:lstStyle/>
          <a:p>
            <a:pPr>
              <a:spcAft>
                <a:spcPct val="20000"/>
              </a:spcAft>
              <a:buSzTx/>
              <a:buFontTx/>
              <a:buNone/>
              <a:defRPr/>
            </a:pPr>
            <a:r>
              <a:rPr lang="en-US" altLang="zh-CN" sz="2400">
                <a:solidFill>
                  <a:srgbClr val="99FF33"/>
                </a:solidFill>
                <a:effectLst>
                  <a:outerShdw blurRad="38100" dist="38100" dir="2700000" algn="tl">
                    <a:srgbClr val="000000"/>
                  </a:outerShdw>
                </a:effectLst>
              </a:rPr>
              <a:t>R1(</a:t>
            </a:r>
            <a:r>
              <a:rPr lang="zh-CN" altLang="en-US" sz="2400">
                <a:solidFill>
                  <a:srgbClr val="99FF33"/>
                </a:solidFill>
                <a:effectLst>
                  <a:outerShdw blurRad="38100" dist="38100" dir="2700000" algn="tl">
                    <a:srgbClr val="000000"/>
                  </a:outerShdw>
                </a:effectLst>
              </a:rPr>
              <a:t>学号</a:t>
            </a:r>
            <a:r>
              <a:rPr lang="en-US" altLang="zh-CN" sz="2400">
                <a:solidFill>
                  <a:srgbClr val="99FF33"/>
                </a:solidFill>
                <a:effectLst>
                  <a:outerShdw blurRad="38100" dist="38100" dir="2700000" algn="tl">
                    <a:srgbClr val="000000"/>
                  </a:outerShdw>
                </a:effectLst>
              </a:rPr>
              <a:t>,</a:t>
            </a:r>
            <a:r>
              <a:rPr lang="zh-CN" altLang="en-US" sz="2400">
                <a:solidFill>
                  <a:srgbClr val="99FF33"/>
                </a:solidFill>
                <a:effectLst>
                  <a:outerShdw blurRad="38100" dist="38100" dir="2700000" algn="tl">
                    <a:srgbClr val="000000"/>
                  </a:outerShdw>
                </a:effectLst>
              </a:rPr>
              <a:t>语文</a:t>
            </a:r>
            <a:r>
              <a:rPr lang="en-US" altLang="zh-CN" sz="2400">
                <a:solidFill>
                  <a:srgbClr val="99FF33"/>
                </a:solidFill>
                <a:effectLst>
                  <a:outerShdw blurRad="38100" dist="38100" dir="2700000" algn="tl">
                    <a:srgbClr val="000000"/>
                  </a:outerShdw>
                </a:effectLst>
              </a:rPr>
              <a:t>,</a:t>
            </a:r>
            <a:r>
              <a:rPr lang="zh-CN" altLang="en-US" sz="2400">
                <a:solidFill>
                  <a:srgbClr val="99FF33"/>
                </a:solidFill>
                <a:effectLst>
                  <a:outerShdw blurRad="38100" dist="38100" dir="2700000" algn="tl">
                    <a:srgbClr val="000000"/>
                  </a:outerShdw>
                </a:effectLst>
              </a:rPr>
              <a:t>数学</a:t>
            </a:r>
            <a:r>
              <a:rPr lang="en-US" altLang="zh-CN" sz="2400">
                <a:solidFill>
                  <a:srgbClr val="99FF33"/>
                </a:solidFill>
                <a:effectLst>
                  <a:outerShdw blurRad="38100" dist="38100" dir="2700000" algn="tl">
                    <a:srgbClr val="000000"/>
                  </a:outerShdw>
                </a:effectLst>
              </a:rPr>
              <a:t>)</a:t>
            </a:r>
            <a:r>
              <a:rPr kumimoji="0" lang="en-US" altLang="zh-CN" sz="2400">
                <a:solidFill>
                  <a:srgbClr val="99FF33"/>
                </a:solidFill>
                <a:effectLst>
                  <a:outerShdw blurRad="38100" dist="38100" dir="2700000" algn="tl">
                    <a:srgbClr val="000000"/>
                  </a:outerShdw>
                </a:effectLst>
                <a:latin typeface="宋体" pitchFamily="2" charset="-122"/>
                <a:ea typeface="宋体" pitchFamily="2" charset="-122"/>
              </a:rPr>
              <a:t>∈</a:t>
            </a:r>
            <a:r>
              <a:rPr kumimoji="0" lang="en-US" altLang="zh-CN" sz="2400">
                <a:solidFill>
                  <a:srgbClr val="99FF33"/>
                </a:solidFill>
                <a:effectLst>
                  <a:outerShdw blurRad="38100" dist="38100" dir="2700000" algn="tl">
                    <a:srgbClr val="000000"/>
                  </a:outerShdw>
                </a:effectLst>
              </a:rPr>
              <a:t>1NF</a:t>
            </a:r>
          </a:p>
        </p:txBody>
      </p:sp>
      <p:sp>
        <p:nvSpPr>
          <p:cNvPr id="1551436" name="Line 76"/>
          <p:cNvSpPr>
            <a:spLocks noChangeShapeType="1"/>
          </p:cNvSpPr>
          <p:nvPr/>
        </p:nvSpPr>
        <p:spPr bwMode="auto">
          <a:xfrm>
            <a:off x="7537450" y="4133304"/>
            <a:ext cx="71438" cy="287337"/>
          </a:xfrm>
          <a:prstGeom prst="line">
            <a:avLst/>
          </a:prstGeom>
          <a:noFill/>
          <a:ln w="19050" cap="sq">
            <a:solidFill>
              <a:srgbClr val="99FF33"/>
            </a:solidFill>
            <a:round/>
            <a:headEnd/>
            <a:tailEnd/>
          </a:ln>
          <a:effectLst/>
        </p:spPr>
        <p:txBody>
          <a:bodyPr lIns="0" tIns="0" rIns="0" bIns="0"/>
          <a:lstStyle/>
          <a:p>
            <a:pPr>
              <a:defRPr/>
            </a:pPr>
            <a:endParaRPr lang="zh-CN" altLang="en-US"/>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p:cNvSpPr>
            <a:spLocks noGrp="1" noChangeArrowheads="1"/>
          </p:cNvSpPr>
          <p:nvPr>
            <p:ph type="title"/>
          </p:nvPr>
        </p:nvSpPr>
        <p:spPr>
          <a:xfrm>
            <a:off x="0" y="0"/>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ea typeface="微软雅黑" pitchFamily="34" charset="-122"/>
              </a:rPr>
              <a:t>第二范式</a:t>
            </a:r>
            <a:r>
              <a:rPr kumimoji="1" lang="en-US" altLang="zh-CN" sz="4000" b="1" kern="1200" dirty="0">
                <a:solidFill>
                  <a:srgbClr val="FFFFCC"/>
                </a:solidFill>
                <a:effectLst>
                  <a:outerShdw blurRad="38100" dist="38100" dir="2700000" algn="tl">
                    <a:srgbClr val="000000"/>
                  </a:outerShdw>
                </a:effectLst>
                <a:latin typeface="Arial" pitchFamily="34" charset="0"/>
                <a:ea typeface="微软雅黑" pitchFamily="34" charset="-122"/>
              </a:rPr>
              <a:t>(2NF)</a:t>
            </a:r>
          </a:p>
        </p:txBody>
      </p:sp>
      <p:sp>
        <p:nvSpPr>
          <p:cNvPr id="1552388" name="Rectangle 4"/>
          <p:cNvSpPr>
            <a:spLocks noGrp="1" noChangeArrowheads="1"/>
          </p:cNvSpPr>
          <p:nvPr>
            <p:ph type="body" idx="1"/>
          </p:nvPr>
        </p:nvSpPr>
        <p:spPr>
          <a:xfrm>
            <a:off x="287338" y="978967"/>
            <a:ext cx="8229600" cy="647700"/>
          </a:xfrm>
        </p:spPr>
        <p:txBody>
          <a:bodyPr/>
          <a:lstStyle/>
          <a:p>
            <a:pPr marL="0" indent="0">
              <a:spcAft>
                <a:spcPct val="25000"/>
              </a:spcAft>
              <a:buFont typeface="Wingdings" pitchFamily="2" charset="2"/>
              <a:buNone/>
              <a:defRPr/>
            </a:pPr>
            <a:r>
              <a:rPr lang="zh-CN" altLang="en-US" sz="2800" dirty="0">
                <a:latin typeface="楷体_GB2312" pitchFamily="49" charset="-122"/>
              </a:rPr>
              <a:t>若关系模式</a:t>
            </a:r>
            <a:r>
              <a:rPr lang="en-US" altLang="zh-CN" sz="2800" dirty="0">
                <a:latin typeface="楷体_GB2312" pitchFamily="49" charset="-122"/>
              </a:rPr>
              <a:t>R(U)</a:t>
            </a:r>
            <a:r>
              <a:rPr lang="en-US" altLang="zh-CN" sz="2800" dirty="0">
                <a:latin typeface="宋体" pitchFamily="2" charset="-122"/>
                <a:ea typeface="宋体" pitchFamily="2" charset="-122"/>
              </a:rPr>
              <a:t>∈</a:t>
            </a:r>
            <a:r>
              <a:rPr lang="en-US" altLang="zh-CN" sz="2800" dirty="0">
                <a:latin typeface="楷体_GB2312" pitchFamily="49" charset="-122"/>
              </a:rPr>
              <a:t>1NF</a:t>
            </a:r>
            <a:r>
              <a:rPr lang="zh-CN" altLang="en-US" sz="2800" dirty="0">
                <a:latin typeface="楷体_GB2312" pitchFamily="49" charset="-122"/>
              </a:rPr>
              <a:t>，且</a:t>
            </a:r>
            <a:r>
              <a:rPr lang="en-US" altLang="zh-CN" sz="2800" dirty="0">
                <a:latin typeface="楷体_GB2312" pitchFamily="49" charset="-122"/>
              </a:rPr>
              <a:t>R</a:t>
            </a:r>
            <a:r>
              <a:rPr lang="zh-CN" altLang="en-US" sz="2800" dirty="0">
                <a:latin typeface="楷体_GB2312" pitchFamily="49" charset="-122"/>
              </a:rPr>
              <a:t>的每一个非主属性都完全函数依赖于</a:t>
            </a:r>
            <a:r>
              <a:rPr lang="en-US" altLang="zh-CN" sz="2800" dirty="0">
                <a:latin typeface="楷体_GB2312" pitchFamily="49" charset="-122"/>
              </a:rPr>
              <a:t>R</a:t>
            </a:r>
            <a:r>
              <a:rPr lang="zh-CN" altLang="en-US" sz="2800" dirty="0">
                <a:latin typeface="楷体_GB2312" pitchFamily="49" charset="-122"/>
              </a:rPr>
              <a:t>的任何一个</a:t>
            </a:r>
            <a:r>
              <a:rPr lang="zh-CN" altLang="en-US" sz="2800" dirty="0" smtClean="0">
                <a:latin typeface="楷体_GB2312" pitchFamily="49" charset="-122"/>
              </a:rPr>
              <a:t>候选键，</a:t>
            </a:r>
            <a:r>
              <a:rPr lang="zh-CN" altLang="en-US" sz="2800" dirty="0">
                <a:latin typeface="楷体_GB2312" pitchFamily="49" charset="-122"/>
              </a:rPr>
              <a:t>则</a:t>
            </a:r>
            <a:r>
              <a:rPr lang="en-US" altLang="zh-CN" sz="2800" dirty="0">
                <a:solidFill>
                  <a:srgbClr val="FFFF00"/>
                </a:solidFill>
                <a:latin typeface="楷体_GB2312" pitchFamily="49" charset="-122"/>
              </a:rPr>
              <a:t>R(U)</a:t>
            </a:r>
            <a:r>
              <a:rPr lang="en-US" altLang="zh-CN" sz="2800" dirty="0">
                <a:solidFill>
                  <a:srgbClr val="FFFF00"/>
                </a:solidFill>
                <a:latin typeface="宋体" pitchFamily="2" charset="-122"/>
                <a:ea typeface="宋体" pitchFamily="2" charset="-122"/>
              </a:rPr>
              <a:t>∈</a:t>
            </a:r>
            <a:r>
              <a:rPr lang="en-US" altLang="zh-CN" sz="2800" dirty="0">
                <a:solidFill>
                  <a:srgbClr val="FFFF00"/>
                </a:solidFill>
                <a:latin typeface="楷体_GB2312" pitchFamily="49" charset="-122"/>
              </a:rPr>
              <a:t>2NF</a:t>
            </a:r>
            <a:r>
              <a:rPr lang="zh-CN" altLang="en-US" sz="2800" dirty="0">
                <a:latin typeface="楷体_GB2312" pitchFamily="49" charset="-122"/>
              </a:rPr>
              <a:t>。</a:t>
            </a:r>
          </a:p>
        </p:txBody>
      </p:sp>
      <p:graphicFrame>
        <p:nvGraphicFramePr>
          <p:cNvPr id="1552389" name="Group 5"/>
          <p:cNvGraphicFramePr>
            <a:graphicFrameLocks noGrp="1"/>
          </p:cNvGraphicFramePr>
          <p:nvPr/>
        </p:nvGraphicFramePr>
        <p:xfrm>
          <a:off x="684213" y="3213100"/>
          <a:ext cx="2743200" cy="1219200"/>
        </p:xfrm>
        <a:graphic>
          <a:graphicData uri="http://schemas.openxmlformats.org/drawingml/2006/table">
            <a:tbl>
              <a:tblPr/>
              <a:tblGrid>
                <a:gridCol w="5334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tblGrid>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学号</a:t>
                      </a:r>
                    </a:p>
                  </a:txBody>
                  <a:tcPr marL="0" marR="0" marT="0" marB="0"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姓名</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系名</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系主任</a:t>
                      </a:r>
                    </a:p>
                  </a:txBody>
                  <a:tcPr marL="0" marR="0" marT="0" marB="0"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9801</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张明</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刘成</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9802</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赵龙</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王浩</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9803</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陈然</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魏征</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46110" name="Rectangle 34"/>
          <p:cNvSpPr>
            <a:spLocks noChangeArrowheads="1"/>
          </p:cNvSpPr>
          <p:nvPr/>
        </p:nvSpPr>
        <p:spPr bwMode="auto">
          <a:xfrm>
            <a:off x="684213" y="2492375"/>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a:tailEnd/>
              </a14:hiddenLine>
            </a:ext>
          </a:extLst>
        </p:spPr>
        <p:txBody>
          <a:bodyPr lIns="0" tIns="0" rIns="0" bIns="0"/>
          <a:lstStyle/>
          <a:p>
            <a:pPr marL="198438" indent="-198438">
              <a:spcAft>
                <a:spcPct val="0"/>
              </a:spcAft>
              <a:buSzTx/>
              <a:buFontTx/>
              <a:buNone/>
            </a:pPr>
            <a:r>
              <a:rPr lang="en-US" altLang="zh-CN" sz="2400">
                <a:solidFill>
                  <a:srgbClr val="99FF33"/>
                </a:solidFill>
                <a:effectLst/>
                <a:latin typeface="Times New Roman" pitchFamily="18" charset="0"/>
              </a:rPr>
              <a:t>SD(</a:t>
            </a:r>
            <a:r>
              <a:rPr lang="zh-CN" altLang="en-US" sz="2400" u="sng">
                <a:solidFill>
                  <a:srgbClr val="99FF33"/>
                </a:solidFill>
                <a:effectLst/>
                <a:latin typeface="Times New Roman" pitchFamily="18" charset="0"/>
              </a:rPr>
              <a:t>学号</a:t>
            </a:r>
            <a:r>
              <a:rPr lang="zh-CN" altLang="en-US" sz="2400">
                <a:solidFill>
                  <a:srgbClr val="99FF33"/>
                </a:solidFill>
                <a:effectLst/>
                <a:latin typeface="Times New Roman" pitchFamily="18" charset="0"/>
              </a:rPr>
              <a:t>, 姓名, 系名, 系主任)，</a:t>
            </a:r>
            <a:r>
              <a:rPr lang="en-US" altLang="zh-CN" sz="2400">
                <a:solidFill>
                  <a:srgbClr val="99FF33"/>
                </a:solidFill>
                <a:effectLst/>
                <a:latin typeface="Times New Roman" pitchFamily="18" charset="0"/>
              </a:rPr>
              <a:t>SC(</a:t>
            </a:r>
            <a:r>
              <a:rPr lang="zh-CN" altLang="en-US" sz="2400" u="sng">
                <a:solidFill>
                  <a:srgbClr val="99FF33"/>
                </a:solidFill>
                <a:effectLst/>
                <a:latin typeface="Times New Roman" pitchFamily="18" charset="0"/>
              </a:rPr>
              <a:t>学号, 课名</a:t>
            </a:r>
            <a:r>
              <a:rPr lang="zh-CN" altLang="en-US" sz="2400">
                <a:solidFill>
                  <a:srgbClr val="99FF33"/>
                </a:solidFill>
                <a:effectLst/>
                <a:latin typeface="Times New Roman" pitchFamily="18" charset="0"/>
              </a:rPr>
              <a:t>, 成绩) </a:t>
            </a:r>
            <a:r>
              <a:rPr lang="en-US" altLang="zh-CN" sz="2400">
                <a:solidFill>
                  <a:srgbClr val="99FF33"/>
                </a:solidFill>
                <a:effectLst/>
                <a:latin typeface="Times New Roman" pitchFamily="18" charset="0"/>
                <a:ea typeface="宋体" pitchFamily="2" charset="-122"/>
              </a:rPr>
              <a:t>∈ </a:t>
            </a:r>
            <a:r>
              <a:rPr lang="en-US" altLang="zh-CN" sz="2400">
                <a:solidFill>
                  <a:srgbClr val="99FF33"/>
                </a:solidFill>
                <a:effectLst/>
                <a:latin typeface="Times New Roman" pitchFamily="18" charset="0"/>
              </a:rPr>
              <a:t>2NF</a:t>
            </a:r>
            <a:endParaRPr lang="zh-CN" altLang="en-US" sz="2400">
              <a:solidFill>
                <a:srgbClr val="99FF33"/>
              </a:solidFill>
              <a:effectLst/>
              <a:latin typeface="Times New Roman" pitchFamily="18" charset="0"/>
            </a:endParaRPr>
          </a:p>
        </p:txBody>
      </p:sp>
      <p:graphicFrame>
        <p:nvGraphicFramePr>
          <p:cNvPr id="1552419" name="Group 35"/>
          <p:cNvGraphicFramePr>
            <a:graphicFrameLocks noGrp="1"/>
          </p:cNvGraphicFramePr>
          <p:nvPr/>
        </p:nvGraphicFramePr>
        <p:xfrm>
          <a:off x="5405438" y="3068638"/>
          <a:ext cx="2551112" cy="2438400"/>
        </p:xfrm>
        <a:graphic>
          <a:graphicData uri="http://schemas.openxmlformats.org/drawingml/2006/table">
            <a:tbl>
              <a:tblPr/>
              <a:tblGrid>
                <a:gridCol w="638175">
                  <a:extLst>
                    <a:ext uri="{9D8B030D-6E8A-4147-A177-3AD203B41FA5}">
                      <a16:colId xmlns:a16="http://schemas.microsoft.com/office/drawing/2014/main" val="20000"/>
                    </a:ext>
                  </a:extLst>
                </a:gridCol>
                <a:gridCol w="1274762">
                  <a:extLst>
                    <a:ext uri="{9D8B030D-6E8A-4147-A177-3AD203B41FA5}">
                      <a16:colId xmlns:a16="http://schemas.microsoft.com/office/drawing/2014/main" val="20001"/>
                    </a:ext>
                  </a:extLst>
                </a:gridCol>
                <a:gridCol w="638175">
                  <a:extLst>
                    <a:ext uri="{9D8B030D-6E8A-4147-A177-3AD203B41FA5}">
                      <a16:colId xmlns:a16="http://schemas.microsoft.com/office/drawing/2014/main" val="20002"/>
                    </a:ext>
                  </a:extLst>
                </a:gridCol>
              </a:tblGrid>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学号</a:t>
                      </a:r>
                    </a:p>
                  </a:txBody>
                  <a:tcPr marL="0" marR="0" marT="0" marB="0"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课名</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成绩</a:t>
                      </a:r>
                    </a:p>
                  </a:txBody>
                  <a:tcPr marL="0" marR="0" marT="0" marB="0"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9801</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C</a:t>
                      </a: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语言</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85</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24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9801</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数据库</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80</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7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9801</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数据结构</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76</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24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9801</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高数</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82</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9802</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高数</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72</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524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9802</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C</a:t>
                      </a: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语言</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68</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9803</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C</a:t>
                      </a: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语言</a:t>
                      </a:r>
                      <a:endPar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84</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1552471" name="Rectangle 87"/>
          <p:cNvSpPr>
            <a:spLocks noChangeArrowheads="1"/>
          </p:cNvSpPr>
          <p:nvPr/>
        </p:nvSpPr>
        <p:spPr bwMode="auto">
          <a:xfrm>
            <a:off x="2332038" y="4868863"/>
            <a:ext cx="944562" cy="407987"/>
          </a:xfrm>
          <a:prstGeom prst="rect">
            <a:avLst/>
          </a:prstGeom>
          <a:solidFill>
            <a:srgbClr val="3333FF"/>
          </a:solidFill>
          <a:ln w="12700" cap="sq">
            <a:solidFill>
              <a:srgbClr val="99FF33"/>
            </a:solidFill>
            <a:miter lim="800000"/>
            <a:headEnd/>
            <a:tailEnd/>
          </a:ln>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学号</a:t>
            </a:r>
          </a:p>
        </p:txBody>
      </p:sp>
      <p:sp>
        <p:nvSpPr>
          <p:cNvPr id="1552472" name="Rectangle 88"/>
          <p:cNvSpPr>
            <a:spLocks noChangeArrowheads="1"/>
          </p:cNvSpPr>
          <p:nvPr/>
        </p:nvSpPr>
        <p:spPr bwMode="auto">
          <a:xfrm>
            <a:off x="755650" y="4868863"/>
            <a:ext cx="946150" cy="407987"/>
          </a:xfrm>
          <a:prstGeom prst="rect">
            <a:avLst/>
          </a:prstGeom>
          <a:solidFill>
            <a:srgbClr val="DDDDDD"/>
          </a:solidFill>
          <a:ln w="12700" cap="sq">
            <a:solidFill>
              <a:srgbClr val="000000"/>
            </a:solidFill>
            <a:miter lim="800000"/>
            <a:headEnd/>
            <a:tailEnd/>
          </a:ln>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系名</a:t>
            </a:r>
          </a:p>
        </p:txBody>
      </p:sp>
      <p:sp>
        <p:nvSpPr>
          <p:cNvPr id="1552473" name="Rectangle 89"/>
          <p:cNvSpPr>
            <a:spLocks noChangeArrowheads="1"/>
          </p:cNvSpPr>
          <p:nvPr/>
        </p:nvSpPr>
        <p:spPr bwMode="auto">
          <a:xfrm>
            <a:off x="755650" y="5684838"/>
            <a:ext cx="946150" cy="407987"/>
          </a:xfrm>
          <a:prstGeom prst="rect">
            <a:avLst/>
          </a:prstGeom>
          <a:solidFill>
            <a:srgbClr val="DDDDDD"/>
          </a:solidFill>
          <a:ln w="12700" cap="sq">
            <a:solidFill>
              <a:srgbClr val="000000"/>
            </a:solidFill>
            <a:miter lim="800000"/>
            <a:headEnd/>
            <a:tailEnd/>
          </a:ln>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系主任</a:t>
            </a:r>
          </a:p>
        </p:txBody>
      </p:sp>
      <p:cxnSp>
        <p:nvCxnSpPr>
          <p:cNvPr id="46150" name="AutoShape 90"/>
          <p:cNvCxnSpPr>
            <a:cxnSpLocks noChangeShapeType="1"/>
            <a:stCxn id="1552471" idx="1"/>
            <a:endCxn id="1552472" idx="3"/>
          </p:cNvCxnSpPr>
          <p:nvPr/>
        </p:nvCxnSpPr>
        <p:spPr bwMode="auto">
          <a:xfrm flipH="1">
            <a:off x="1701800" y="5073650"/>
            <a:ext cx="630238" cy="0"/>
          </a:xfrm>
          <a:prstGeom prst="straightConnector1">
            <a:avLst/>
          </a:prstGeom>
          <a:noFill/>
          <a:ln w="28575" cap="sq">
            <a:solidFill>
              <a:srgbClr val="99FF33"/>
            </a:solidFill>
            <a:round/>
            <a:headEnd/>
            <a:tailEnd type="triangle" w="med" len="med"/>
          </a:ln>
          <a:extLst>
            <a:ext uri="{909E8E84-426E-40DD-AFC4-6F175D3DCCD1}">
              <a14:hiddenFill xmlns:a14="http://schemas.microsoft.com/office/drawing/2010/main">
                <a:noFill/>
              </a14:hiddenFill>
            </a:ext>
          </a:extLst>
        </p:spPr>
      </p:cxnSp>
      <p:cxnSp>
        <p:nvCxnSpPr>
          <p:cNvPr id="46151" name="AutoShape 91"/>
          <p:cNvCxnSpPr>
            <a:cxnSpLocks noChangeShapeType="1"/>
            <a:stCxn id="1552472" idx="2"/>
            <a:endCxn id="1552473" idx="0"/>
          </p:cNvCxnSpPr>
          <p:nvPr/>
        </p:nvCxnSpPr>
        <p:spPr bwMode="auto">
          <a:xfrm>
            <a:off x="1228725" y="5276850"/>
            <a:ext cx="0" cy="407988"/>
          </a:xfrm>
          <a:prstGeom prst="straightConnector1">
            <a:avLst/>
          </a:prstGeom>
          <a:noFill/>
          <a:ln w="28575" cap="sq">
            <a:solidFill>
              <a:srgbClr val="99FF33"/>
            </a:solidFill>
            <a:round/>
            <a:headEnd/>
            <a:tailEnd type="triangle" w="med" len="med"/>
          </a:ln>
          <a:extLst>
            <a:ext uri="{909E8E84-426E-40DD-AFC4-6F175D3DCCD1}">
              <a14:hiddenFill xmlns:a14="http://schemas.microsoft.com/office/drawing/2010/main">
                <a:noFill/>
              </a14:hiddenFill>
            </a:ext>
          </a:extLst>
        </p:spPr>
      </p:cxnSp>
      <p:sp>
        <p:nvSpPr>
          <p:cNvPr id="1552476" name="Rectangle 92"/>
          <p:cNvSpPr>
            <a:spLocks noChangeArrowheads="1"/>
          </p:cNvSpPr>
          <p:nvPr/>
        </p:nvSpPr>
        <p:spPr bwMode="auto">
          <a:xfrm>
            <a:off x="2332038" y="5684838"/>
            <a:ext cx="944562" cy="407987"/>
          </a:xfrm>
          <a:prstGeom prst="rect">
            <a:avLst/>
          </a:prstGeom>
          <a:solidFill>
            <a:srgbClr val="DDDDDD"/>
          </a:solidFill>
          <a:ln w="12700" cap="sq">
            <a:solidFill>
              <a:srgbClr val="000000"/>
            </a:solidFill>
            <a:miter lim="800000"/>
            <a:headEnd/>
            <a:tailEnd/>
          </a:ln>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姓名</a:t>
            </a:r>
          </a:p>
        </p:txBody>
      </p:sp>
      <p:cxnSp>
        <p:nvCxnSpPr>
          <p:cNvPr id="46153" name="AutoShape 93"/>
          <p:cNvCxnSpPr>
            <a:cxnSpLocks noChangeShapeType="1"/>
            <a:stCxn id="1552471" idx="2"/>
            <a:endCxn id="1552476" idx="0"/>
          </p:cNvCxnSpPr>
          <p:nvPr/>
        </p:nvCxnSpPr>
        <p:spPr bwMode="auto">
          <a:xfrm>
            <a:off x="2805113" y="5276850"/>
            <a:ext cx="0" cy="407988"/>
          </a:xfrm>
          <a:prstGeom prst="straightConnector1">
            <a:avLst/>
          </a:prstGeom>
          <a:noFill/>
          <a:ln w="28575" cap="sq">
            <a:solidFill>
              <a:srgbClr val="99FF33"/>
            </a:solidFill>
            <a:round/>
            <a:headEnd/>
            <a:tailEnd type="triangle" w="med" len="med"/>
          </a:ln>
          <a:extLst>
            <a:ext uri="{909E8E84-426E-40DD-AFC4-6F175D3DCCD1}">
              <a14:hiddenFill xmlns:a14="http://schemas.microsoft.com/office/drawing/2010/main">
                <a:noFill/>
              </a14:hiddenFill>
            </a:ext>
          </a:extLst>
        </p:spPr>
      </p:cxnSp>
      <p:sp>
        <p:nvSpPr>
          <p:cNvPr id="1552478" name="Rectangle 94"/>
          <p:cNvSpPr>
            <a:spLocks noChangeArrowheads="1"/>
          </p:cNvSpPr>
          <p:nvPr/>
        </p:nvSpPr>
        <p:spPr bwMode="auto">
          <a:xfrm>
            <a:off x="5219700" y="5734050"/>
            <a:ext cx="1871663" cy="552450"/>
          </a:xfrm>
          <a:prstGeom prst="rect">
            <a:avLst/>
          </a:prstGeom>
          <a:solidFill>
            <a:srgbClr val="3333FF"/>
          </a:solidFill>
          <a:ln w="12700" cap="sq">
            <a:solidFill>
              <a:srgbClr val="99FF33"/>
            </a:solidFill>
            <a:miter lim="800000"/>
            <a:headEnd/>
            <a:tailEnd/>
          </a:ln>
          <a:effectLst/>
        </p:spPr>
        <p:txBody>
          <a:bodyPr wrap="none" lIns="0" tIns="0" rIns="0" bIns="0" anchor="ctr"/>
          <a:lstStyle/>
          <a:p>
            <a:pPr algn="ctr">
              <a:spcAft>
                <a:spcPct val="0"/>
              </a:spcAft>
              <a:buSzTx/>
              <a:buFontTx/>
              <a:buNone/>
              <a:defRPr/>
            </a:pPr>
            <a:endParaRPr lang="zh-CN" altLang="en-US" sz="2400">
              <a:effectLst>
                <a:outerShdw blurRad="38100" dist="38100" dir="2700000" algn="tl">
                  <a:srgbClr val="000000"/>
                </a:outerShdw>
              </a:effectLst>
              <a:latin typeface="Times New Roman" pitchFamily="18" charset="0"/>
            </a:endParaRPr>
          </a:p>
        </p:txBody>
      </p:sp>
      <p:sp>
        <p:nvSpPr>
          <p:cNvPr id="1552479" name="Rectangle 95"/>
          <p:cNvSpPr>
            <a:spLocks noChangeArrowheads="1"/>
          </p:cNvSpPr>
          <p:nvPr/>
        </p:nvSpPr>
        <p:spPr bwMode="auto">
          <a:xfrm>
            <a:off x="5292725" y="5808663"/>
            <a:ext cx="801688" cy="396875"/>
          </a:xfrm>
          <a:prstGeom prst="rect">
            <a:avLst/>
          </a:prstGeom>
          <a:solidFill>
            <a:srgbClr val="DDDDDD"/>
          </a:solidFill>
          <a:ln w="12700" cap="sq">
            <a:solidFill>
              <a:srgbClr val="000000"/>
            </a:solidFill>
            <a:miter lim="800000"/>
            <a:headEnd/>
            <a:tailEnd/>
          </a:ln>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学号</a:t>
            </a:r>
          </a:p>
        </p:txBody>
      </p:sp>
      <p:sp>
        <p:nvSpPr>
          <p:cNvPr id="1552480" name="Rectangle 96"/>
          <p:cNvSpPr>
            <a:spLocks noChangeArrowheads="1"/>
          </p:cNvSpPr>
          <p:nvPr/>
        </p:nvSpPr>
        <p:spPr bwMode="auto">
          <a:xfrm>
            <a:off x="6203950" y="5808663"/>
            <a:ext cx="803275" cy="396875"/>
          </a:xfrm>
          <a:prstGeom prst="rect">
            <a:avLst/>
          </a:prstGeom>
          <a:solidFill>
            <a:srgbClr val="DDDDDD"/>
          </a:solidFill>
          <a:ln w="12700" cap="sq">
            <a:solidFill>
              <a:srgbClr val="000000"/>
            </a:solidFill>
            <a:miter lim="800000"/>
            <a:headEnd/>
            <a:tailEnd/>
          </a:ln>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课名</a:t>
            </a:r>
          </a:p>
        </p:txBody>
      </p:sp>
      <p:sp>
        <p:nvSpPr>
          <p:cNvPr id="1552481" name="Rectangle 97"/>
          <p:cNvSpPr>
            <a:spLocks noChangeArrowheads="1"/>
          </p:cNvSpPr>
          <p:nvPr/>
        </p:nvSpPr>
        <p:spPr bwMode="auto">
          <a:xfrm>
            <a:off x="7524750" y="5805488"/>
            <a:ext cx="801688" cy="400050"/>
          </a:xfrm>
          <a:prstGeom prst="rect">
            <a:avLst/>
          </a:prstGeom>
          <a:solidFill>
            <a:srgbClr val="DDDDDD"/>
          </a:solidFill>
          <a:ln w="12700" cap="sq">
            <a:solidFill>
              <a:srgbClr val="000000"/>
            </a:solidFill>
            <a:miter lim="800000"/>
            <a:headEnd/>
            <a:tailEnd/>
          </a:ln>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成绩</a:t>
            </a:r>
          </a:p>
        </p:txBody>
      </p:sp>
      <p:cxnSp>
        <p:nvCxnSpPr>
          <p:cNvPr id="46158" name="AutoShape 98"/>
          <p:cNvCxnSpPr>
            <a:cxnSpLocks noChangeShapeType="1"/>
            <a:stCxn id="1552478" idx="3"/>
            <a:endCxn id="1552481" idx="1"/>
          </p:cNvCxnSpPr>
          <p:nvPr/>
        </p:nvCxnSpPr>
        <p:spPr bwMode="auto">
          <a:xfrm flipV="1">
            <a:off x="7091363" y="6005513"/>
            <a:ext cx="433387" cy="4762"/>
          </a:xfrm>
          <a:prstGeom prst="straightConnector1">
            <a:avLst/>
          </a:prstGeom>
          <a:noFill/>
          <a:ln w="28575" cap="sq">
            <a:solidFill>
              <a:srgbClr val="99FF33"/>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transition spd="med">
    <p:random/>
    <p:sndAc>
      <p:stSnd>
        <p:snd r:embed="rId2" name="camera.wav"/>
      </p:stSnd>
    </p:sndAc>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type="title"/>
          </p:nvPr>
        </p:nvSpPr>
        <p:spPr>
          <a:xfrm>
            <a:off x="0" y="13012"/>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ea typeface="微软雅黑" pitchFamily="34" charset="-122"/>
              </a:rPr>
              <a:t>第三范式</a:t>
            </a:r>
            <a:r>
              <a:rPr kumimoji="1" lang="en-US" altLang="zh-CN" sz="4000" b="1" kern="1200" dirty="0">
                <a:solidFill>
                  <a:srgbClr val="FFFFCC"/>
                </a:solidFill>
                <a:effectLst>
                  <a:outerShdw blurRad="38100" dist="38100" dir="2700000" algn="tl">
                    <a:srgbClr val="000000"/>
                  </a:outerShdw>
                </a:effectLst>
                <a:latin typeface="Arial" pitchFamily="34" charset="0"/>
                <a:ea typeface="微软雅黑" pitchFamily="34" charset="-122"/>
              </a:rPr>
              <a:t>(3NF)</a:t>
            </a:r>
          </a:p>
        </p:txBody>
      </p:sp>
      <p:sp>
        <p:nvSpPr>
          <p:cNvPr id="1553412" name="Rectangle 4"/>
          <p:cNvSpPr>
            <a:spLocks noGrp="1" noChangeArrowheads="1"/>
          </p:cNvSpPr>
          <p:nvPr>
            <p:ph type="body" idx="1"/>
          </p:nvPr>
        </p:nvSpPr>
        <p:spPr>
          <a:xfrm>
            <a:off x="539552" y="1139826"/>
            <a:ext cx="8229600" cy="647700"/>
          </a:xfrm>
        </p:spPr>
        <p:txBody>
          <a:bodyPr/>
          <a:lstStyle/>
          <a:p>
            <a:pPr marL="0" indent="0">
              <a:spcAft>
                <a:spcPct val="25000"/>
              </a:spcAft>
              <a:buFont typeface="Wingdings" pitchFamily="2" charset="2"/>
              <a:buNone/>
              <a:defRPr/>
            </a:pPr>
            <a:r>
              <a:rPr lang="zh-CN" altLang="en-US" sz="2800" dirty="0">
                <a:latin typeface="楷体_GB2312" pitchFamily="49" charset="-122"/>
              </a:rPr>
              <a:t>若关系模式</a:t>
            </a:r>
            <a:r>
              <a:rPr lang="en-US" altLang="zh-CN" sz="2800" dirty="0">
                <a:latin typeface="楷体_GB2312" pitchFamily="49" charset="-122"/>
              </a:rPr>
              <a:t>R(U)</a:t>
            </a:r>
            <a:r>
              <a:rPr lang="zh-CN" altLang="en-US" sz="2800" dirty="0">
                <a:latin typeface="宋体" pitchFamily="2" charset="-122"/>
                <a:ea typeface="宋体" pitchFamily="2" charset="-122"/>
              </a:rPr>
              <a:t>∈</a:t>
            </a:r>
            <a:r>
              <a:rPr lang="en-US" altLang="zh-CN" sz="2800" dirty="0">
                <a:latin typeface="楷体_GB2312" pitchFamily="49" charset="-122"/>
              </a:rPr>
              <a:t>2NF</a:t>
            </a:r>
            <a:r>
              <a:rPr lang="zh-CN" altLang="en-US" sz="2800" dirty="0">
                <a:latin typeface="楷体_GB2312" pitchFamily="49" charset="-122"/>
              </a:rPr>
              <a:t>，且</a:t>
            </a:r>
            <a:r>
              <a:rPr lang="en-US" altLang="zh-CN" sz="2800" dirty="0">
                <a:latin typeface="楷体_GB2312" pitchFamily="49" charset="-122"/>
              </a:rPr>
              <a:t>R</a:t>
            </a:r>
            <a:r>
              <a:rPr lang="zh-CN" altLang="en-US" sz="2800" dirty="0">
                <a:latin typeface="楷体_GB2312" pitchFamily="49" charset="-122"/>
              </a:rPr>
              <a:t>的每一个非主属性都不传递函数依赖于</a:t>
            </a:r>
            <a:r>
              <a:rPr lang="en-US" altLang="zh-CN" sz="2800" dirty="0">
                <a:latin typeface="楷体_GB2312" pitchFamily="49" charset="-122"/>
              </a:rPr>
              <a:t>R</a:t>
            </a:r>
            <a:r>
              <a:rPr lang="zh-CN" altLang="en-US" sz="2800" dirty="0">
                <a:latin typeface="楷体_GB2312" pitchFamily="49" charset="-122"/>
              </a:rPr>
              <a:t>的任何</a:t>
            </a:r>
            <a:r>
              <a:rPr lang="zh-CN" altLang="en-US" sz="2800" dirty="0" smtClean="0">
                <a:latin typeface="楷体_GB2312" pitchFamily="49" charset="-122"/>
              </a:rPr>
              <a:t>候选键，</a:t>
            </a:r>
            <a:r>
              <a:rPr lang="zh-CN" altLang="en-US" sz="2800" dirty="0">
                <a:latin typeface="楷体_GB2312" pitchFamily="49" charset="-122"/>
              </a:rPr>
              <a:t>则</a:t>
            </a:r>
            <a:r>
              <a:rPr lang="en-US" altLang="zh-CN" sz="2800" dirty="0">
                <a:solidFill>
                  <a:srgbClr val="FFFF00"/>
                </a:solidFill>
                <a:latin typeface="楷体_GB2312" pitchFamily="49" charset="-122"/>
              </a:rPr>
              <a:t>R(U)</a:t>
            </a:r>
            <a:r>
              <a:rPr lang="en-US" altLang="zh-CN" sz="2800" dirty="0">
                <a:solidFill>
                  <a:srgbClr val="FFFF00"/>
                </a:solidFill>
                <a:latin typeface="宋体" pitchFamily="2" charset="-122"/>
                <a:ea typeface="宋体" pitchFamily="2" charset="-122"/>
              </a:rPr>
              <a:t>∈</a:t>
            </a:r>
            <a:r>
              <a:rPr lang="en-US" altLang="zh-CN" sz="2800" dirty="0">
                <a:solidFill>
                  <a:srgbClr val="FFFF00"/>
                </a:solidFill>
                <a:latin typeface="楷体_GB2312" pitchFamily="49" charset="-122"/>
              </a:rPr>
              <a:t>3NF</a:t>
            </a:r>
            <a:r>
              <a:rPr lang="zh-CN" altLang="en-US" sz="2800" dirty="0">
                <a:latin typeface="楷体_GB2312" pitchFamily="49" charset="-122"/>
              </a:rPr>
              <a:t>。</a:t>
            </a:r>
          </a:p>
        </p:txBody>
      </p:sp>
      <p:sp>
        <p:nvSpPr>
          <p:cNvPr id="47109" name="Rectangle 5"/>
          <p:cNvSpPr>
            <a:spLocks noChangeArrowheads="1"/>
          </p:cNvSpPr>
          <p:nvPr/>
        </p:nvSpPr>
        <p:spPr bwMode="auto">
          <a:xfrm>
            <a:off x="684213" y="2446338"/>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a:tailEnd/>
              </a14:hiddenLine>
            </a:ext>
          </a:extLst>
        </p:spPr>
        <p:txBody>
          <a:bodyPr lIns="0" tIns="0" rIns="0" bIns="0"/>
          <a:lstStyle/>
          <a:p>
            <a:pPr marL="198438" indent="-198438">
              <a:spcAft>
                <a:spcPct val="0"/>
              </a:spcAft>
              <a:buSzTx/>
              <a:buFontTx/>
              <a:buNone/>
            </a:pPr>
            <a:r>
              <a:rPr lang="en-US" altLang="en-US" sz="2800">
                <a:solidFill>
                  <a:srgbClr val="99FF33"/>
                </a:solidFill>
                <a:effectLst/>
              </a:rPr>
              <a:t>S(</a:t>
            </a:r>
            <a:r>
              <a:rPr lang="en-US" altLang="en-US" sz="2800" u="sng">
                <a:solidFill>
                  <a:srgbClr val="99FF33"/>
                </a:solidFill>
                <a:effectLst/>
              </a:rPr>
              <a:t>学号</a:t>
            </a:r>
            <a:r>
              <a:rPr lang="en-US" altLang="en-US" sz="2800">
                <a:solidFill>
                  <a:srgbClr val="99FF33"/>
                </a:solidFill>
                <a:effectLst/>
              </a:rPr>
              <a:t>,姓名,系名)，D(</a:t>
            </a:r>
            <a:r>
              <a:rPr lang="en-US" altLang="en-US" sz="2800" u="sng">
                <a:solidFill>
                  <a:srgbClr val="99FF33"/>
                </a:solidFill>
                <a:effectLst/>
              </a:rPr>
              <a:t>系名</a:t>
            </a:r>
            <a:r>
              <a:rPr lang="en-US" altLang="en-US" sz="2800">
                <a:solidFill>
                  <a:srgbClr val="99FF33"/>
                </a:solidFill>
                <a:effectLst/>
              </a:rPr>
              <a:t>,系主任）</a:t>
            </a:r>
            <a:r>
              <a:rPr lang="en-US" altLang="zh-CN" sz="2800">
                <a:solidFill>
                  <a:srgbClr val="99FF33"/>
                </a:solidFill>
                <a:effectLst/>
                <a:latin typeface="Times New Roman" pitchFamily="18" charset="0"/>
                <a:ea typeface="宋体" pitchFamily="2" charset="-122"/>
              </a:rPr>
              <a:t>∈ </a:t>
            </a:r>
            <a:r>
              <a:rPr lang="en-US" altLang="zh-CN" sz="2800">
                <a:solidFill>
                  <a:srgbClr val="99FF33"/>
                </a:solidFill>
                <a:effectLst/>
                <a:latin typeface="Times New Roman" pitchFamily="18" charset="0"/>
              </a:rPr>
              <a:t>3NF</a:t>
            </a:r>
            <a:endParaRPr lang="zh-CN" altLang="en-US" sz="2800">
              <a:solidFill>
                <a:srgbClr val="99FF33"/>
              </a:solidFill>
              <a:effectLst/>
              <a:latin typeface="Times New Roman" pitchFamily="18" charset="0"/>
            </a:endParaRPr>
          </a:p>
        </p:txBody>
      </p:sp>
      <p:sp>
        <p:nvSpPr>
          <p:cNvPr id="1553414" name="Rectangle 6"/>
          <p:cNvSpPr>
            <a:spLocks noChangeArrowheads="1"/>
          </p:cNvSpPr>
          <p:nvPr/>
        </p:nvSpPr>
        <p:spPr bwMode="auto">
          <a:xfrm>
            <a:off x="2987675" y="5805488"/>
            <a:ext cx="944563" cy="407987"/>
          </a:xfrm>
          <a:prstGeom prst="rect">
            <a:avLst/>
          </a:prstGeom>
          <a:solidFill>
            <a:srgbClr val="3333FF"/>
          </a:solidFill>
          <a:ln w="12700" cap="sq">
            <a:solidFill>
              <a:srgbClr val="99FF33"/>
            </a:solidFill>
            <a:miter lim="800000"/>
            <a:headEnd/>
            <a:tailEnd/>
          </a:ln>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学号</a:t>
            </a:r>
          </a:p>
        </p:txBody>
      </p:sp>
      <p:sp>
        <p:nvSpPr>
          <p:cNvPr id="1553415" name="Rectangle 7"/>
          <p:cNvSpPr>
            <a:spLocks noChangeArrowheads="1"/>
          </p:cNvSpPr>
          <p:nvPr/>
        </p:nvSpPr>
        <p:spPr bwMode="auto">
          <a:xfrm>
            <a:off x="1411288" y="5805488"/>
            <a:ext cx="946150" cy="407987"/>
          </a:xfrm>
          <a:prstGeom prst="rect">
            <a:avLst/>
          </a:prstGeom>
          <a:solidFill>
            <a:srgbClr val="DDDDDD"/>
          </a:solidFill>
          <a:ln w="12700" cap="sq">
            <a:solidFill>
              <a:srgbClr val="000000"/>
            </a:solidFill>
            <a:miter lim="800000"/>
            <a:headEnd/>
            <a:tailEnd/>
          </a:ln>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系名</a:t>
            </a:r>
          </a:p>
        </p:txBody>
      </p:sp>
      <p:cxnSp>
        <p:nvCxnSpPr>
          <p:cNvPr id="47112" name="AutoShape 8"/>
          <p:cNvCxnSpPr>
            <a:cxnSpLocks noChangeShapeType="1"/>
            <a:stCxn id="1553414" idx="1"/>
            <a:endCxn id="1553415" idx="3"/>
          </p:cNvCxnSpPr>
          <p:nvPr/>
        </p:nvCxnSpPr>
        <p:spPr bwMode="auto">
          <a:xfrm flipH="1">
            <a:off x="2357438" y="6010275"/>
            <a:ext cx="630237" cy="0"/>
          </a:xfrm>
          <a:prstGeom prst="straightConnector1">
            <a:avLst/>
          </a:prstGeom>
          <a:noFill/>
          <a:ln w="28575" cap="sq">
            <a:solidFill>
              <a:srgbClr val="99FF33"/>
            </a:solidFill>
            <a:round/>
            <a:headEnd/>
            <a:tailEnd type="triangle" w="med" len="med"/>
          </a:ln>
          <a:extLst>
            <a:ext uri="{909E8E84-426E-40DD-AFC4-6F175D3DCCD1}">
              <a14:hiddenFill xmlns:a14="http://schemas.microsoft.com/office/drawing/2010/main">
                <a:noFill/>
              </a14:hiddenFill>
            </a:ext>
          </a:extLst>
        </p:spPr>
      </p:cxnSp>
      <p:sp>
        <p:nvSpPr>
          <p:cNvPr id="1553417" name="Rectangle 9"/>
          <p:cNvSpPr>
            <a:spLocks noChangeArrowheads="1"/>
          </p:cNvSpPr>
          <p:nvPr/>
        </p:nvSpPr>
        <p:spPr bwMode="auto">
          <a:xfrm>
            <a:off x="2987675" y="4868863"/>
            <a:ext cx="944563" cy="407987"/>
          </a:xfrm>
          <a:prstGeom prst="rect">
            <a:avLst/>
          </a:prstGeom>
          <a:solidFill>
            <a:srgbClr val="DDDDDD"/>
          </a:solidFill>
          <a:ln w="12700" cap="sq">
            <a:solidFill>
              <a:srgbClr val="000000"/>
            </a:solidFill>
            <a:miter lim="800000"/>
            <a:headEnd/>
            <a:tailEnd/>
          </a:ln>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姓名</a:t>
            </a:r>
          </a:p>
        </p:txBody>
      </p:sp>
      <p:cxnSp>
        <p:nvCxnSpPr>
          <p:cNvPr id="47114" name="AutoShape 10"/>
          <p:cNvCxnSpPr>
            <a:cxnSpLocks noChangeShapeType="1"/>
            <a:stCxn id="1553414" idx="0"/>
            <a:endCxn id="1553417" idx="2"/>
          </p:cNvCxnSpPr>
          <p:nvPr/>
        </p:nvCxnSpPr>
        <p:spPr bwMode="auto">
          <a:xfrm flipV="1">
            <a:off x="3460750" y="5276850"/>
            <a:ext cx="0" cy="528638"/>
          </a:xfrm>
          <a:prstGeom prst="straightConnector1">
            <a:avLst/>
          </a:prstGeom>
          <a:noFill/>
          <a:ln w="28575" cap="sq">
            <a:solidFill>
              <a:srgbClr val="99FF33"/>
            </a:solidFill>
            <a:round/>
            <a:headEnd/>
            <a:tailEnd type="triangle" w="med" len="med"/>
          </a:ln>
          <a:extLst>
            <a:ext uri="{909E8E84-426E-40DD-AFC4-6F175D3DCCD1}">
              <a14:hiddenFill xmlns:a14="http://schemas.microsoft.com/office/drawing/2010/main">
                <a:noFill/>
              </a14:hiddenFill>
            </a:ext>
          </a:extLst>
        </p:spPr>
      </p:cxnSp>
      <p:graphicFrame>
        <p:nvGraphicFramePr>
          <p:cNvPr id="1553419" name="Group 11"/>
          <p:cNvGraphicFramePr>
            <a:graphicFrameLocks noGrp="1"/>
          </p:cNvGraphicFramePr>
          <p:nvPr/>
        </p:nvGraphicFramePr>
        <p:xfrm>
          <a:off x="684213" y="3068638"/>
          <a:ext cx="1905000" cy="2438400"/>
        </p:xfrm>
        <a:graphic>
          <a:graphicData uri="http://schemas.openxmlformats.org/drawingml/2006/table">
            <a:tbl>
              <a:tblPr/>
              <a:tblGrid>
                <a:gridCol w="533400">
                  <a:extLst>
                    <a:ext uri="{9D8B030D-6E8A-4147-A177-3AD203B41FA5}">
                      <a16:colId xmlns:a16="http://schemas.microsoft.com/office/drawing/2014/main" val="20000"/>
                    </a:ext>
                  </a:extLst>
                </a:gridCol>
                <a:gridCol w="690562">
                  <a:extLst>
                    <a:ext uri="{9D8B030D-6E8A-4147-A177-3AD203B41FA5}">
                      <a16:colId xmlns:a16="http://schemas.microsoft.com/office/drawing/2014/main" val="20001"/>
                    </a:ext>
                  </a:extLst>
                </a:gridCol>
                <a:gridCol w="681038">
                  <a:extLst>
                    <a:ext uri="{9D8B030D-6E8A-4147-A177-3AD203B41FA5}">
                      <a16:colId xmlns:a16="http://schemas.microsoft.com/office/drawing/2014/main" val="20002"/>
                    </a:ext>
                  </a:extLst>
                </a:gridCol>
              </a:tblGrid>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学号</a:t>
                      </a:r>
                    </a:p>
                  </a:txBody>
                  <a:tcPr marL="0" marR="0" marT="0" marB="0"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姓名</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系名</a:t>
                      </a:r>
                    </a:p>
                  </a:txBody>
                  <a:tcPr marL="0" marR="0" marT="0" marB="0"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9801</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张明</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9802</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赵龙</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9803</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陈然</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9804</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李科</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9805</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王军</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9806</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朱成</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9807</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黄沙</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graphicFrame>
        <p:nvGraphicFramePr>
          <p:cNvPr id="1553459" name="Group 51"/>
          <p:cNvGraphicFramePr>
            <a:graphicFrameLocks noGrp="1"/>
          </p:cNvGraphicFramePr>
          <p:nvPr/>
        </p:nvGraphicFramePr>
        <p:xfrm>
          <a:off x="6300788" y="3081338"/>
          <a:ext cx="1524000" cy="1219200"/>
        </p:xfrm>
        <a:graphic>
          <a:graphicData uri="http://schemas.openxmlformats.org/drawingml/2006/table">
            <a:tbl>
              <a:tblPr/>
              <a:tblGrid>
                <a:gridCol w="685800">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tblGrid>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系名</a:t>
                      </a:r>
                    </a:p>
                  </a:txBody>
                  <a:tcPr marL="0" marR="0" marT="0" marB="0"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系主任</a:t>
                      </a:r>
                    </a:p>
                  </a:txBody>
                  <a:tcPr marL="0" marR="0" marT="0" marB="0"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刘成</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王浩</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33"/>
                          </a:solidFill>
                          <a:effectLst>
                            <a:outerShdw blurRad="38100" dist="38100" dir="2700000" algn="tl">
                              <a:srgbClr val="000000"/>
                            </a:outerShdw>
                          </a:effectLst>
                          <a:latin typeface="Times New Roman" pitchFamily="18" charset="0"/>
                          <a:ea typeface="楷体_GB2312" pitchFamily="49" charset="-122"/>
                        </a:rPr>
                        <a:t>魏征</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553478" name="Rectangle 70"/>
          <p:cNvSpPr>
            <a:spLocks noChangeArrowheads="1"/>
          </p:cNvSpPr>
          <p:nvPr/>
        </p:nvSpPr>
        <p:spPr bwMode="auto">
          <a:xfrm>
            <a:off x="6659563" y="4724400"/>
            <a:ext cx="946150" cy="407988"/>
          </a:xfrm>
          <a:prstGeom prst="rect">
            <a:avLst/>
          </a:prstGeom>
          <a:solidFill>
            <a:srgbClr val="3333FF"/>
          </a:solidFill>
          <a:ln w="12700" cap="sq">
            <a:solidFill>
              <a:srgbClr val="99FF33"/>
            </a:solidFill>
            <a:miter lim="800000"/>
            <a:headEnd/>
            <a:tailEnd/>
          </a:ln>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系名</a:t>
            </a:r>
          </a:p>
        </p:txBody>
      </p:sp>
      <p:sp>
        <p:nvSpPr>
          <p:cNvPr id="1553479" name="Rectangle 71"/>
          <p:cNvSpPr>
            <a:spLocks noChangeArrowheads="1"/>
          </p:cNvSpPr>
          <p:nvPr/>
        </p:nvSpPr>
        <p:spPr bwMode="auto">
          <a:xfrm>
            <a:off x="6659563" y="5540375"/>
            <a:ext cx="946150" cy="407988"/>
          </a:xfrm>
          <a:prstGeom prst="rect">
            <a:avLst/>
          </a:prstGeom>
          <a:solidFill>
            <a:srgbClr val="DDDDDD"/>
          </a:solidFill>
          <a:ln w="12700" cap="sq">
            <a:solidFill>
              <a:srgbClr val="000000"/>
            </a:solidFill>
            <a:miter lim="800000"/>
            <a:headEnd/>
            <a:tailEnd/>
          </a:ln>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系主任</a:t>
            </a:r>
          </a:p>
        </p:txBody>
      </p:sp>
      <p:cxnSp>
        <p:nvCxnSpPr>
          <p:cNvPr id="47168" name="AutoShape 72"/>
          <p:cNvCxnSpPr>
            <a:cxnSpLocks noChangeShapeType="1"/>
            <a:stCxn id="1553478" idx="2"/>
            <a:endCxn id="1553479" idx="0"/>
          </p:cNvCxnSpPr>
          <p:nvPr/>
        </p:nvCxnSpPr>
        <p:spPr bwMode="auto">
          <a:xfrm>
            <a:off x="7132638" y="5132388"/>
            <a:ext cx="0" cy="407987"/>
          </a:xfrm>
          <a:prstGeom prst="straightConnector1">
            <a:avLst/>
          </a:prstGeom>
          <a:noFill/>
          <a:ln w="28575" cap="sq">
            <a:solidFill>
              <a:srgbClr val="99FF33"/>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transition spd="med">
    <p:random/>
    <p:sndAc>
      <p:stSnd>
        <p:snd r:embed="rId2" name="camera.wav"/>
      </p:stSnd>
    </p:sndAc>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3"/>
          <p:cNvSpPr>
            <a:spLocks noGrp="1" noChangeArrowheads="1"/>
          </p:cNvSpPr>
          <p:nvPr>
            <p:ph type="title"/>
          </p:nvPr>
        </p:nvSpPr>
        <p:spPr>
          <a:xfrm>
            <a:off x="0" y="13468"/>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buNone/>
            </a:pPr>
            <a:r>
              <a:rPr kumimoji="1" lang="en-US" altLang="zh-CN" sz="4000" b="1" kern="1200" dirty="0">
                <a:solidFill>
                  <a:srgbClr val="FFFFCC"/>
                </a:solidFill>
                <a:effectLst>
                  <a:outerShdw blurRad="38100" dist="38100" dir="2700000" algn="tl">
                    <a:srgbClr val="000000"/>
                  </a:outerShdw>
                </a:effectLst>
                <a:latin typeface="Arial" pitchFamily="34" charset="0"/>
                <a:ea typeface="微软雅黑" pitchFamily="34" charset="-122"/>
              </a:rPr>
              <a:t>BC</a:t>
            </a:r>
            <a:r>
              <a:rPr kumimoji="1" lang="zh-CN" altLang="en-US" sz="4000" b="1" kern="1200" dirty="0">
                <a:solidFill>
                  <a:srgbClr val="FFFFCC"/>
                </a:solidFill>
                <a:effectLst>
                  <a:outerShdw blurRad="38100" dist="38100" dir="2700000" algn="tl">
                    <a:srgbClr val="000000"/>
                  </a:outerShdw>
                </a:effectLst>
                <a:latin typeface="Arial" pitchFamily="34" charset="0"/>
                <a:ea typeface="微软雅黑" pitchFamily="34" charset="-122"/>
              </a:rPr>
              <a:t>范式</a:t>
            </a:r>
            <a:r>
              <a:rPr kumimoji="1" lang="en-US" altLang="zh-CN" sz="4000" b="1" kern="1200" dirty="0">
                <a:solidFill>
                  <a:srgbClr val="FFFFCC"/>
                </a:solidFill>
                <a:effectLst>
                  <a:outerShdw blurRad="38100" dist="38100" dir="2700000" algn="tl">
                    <a:srgbClr val="000000"/>
                  </a:outerShdw>
                </a:effectLst>
                <a:latin typeface="Arial" pitchFamily="34" charset="0"/>
                <a:ea typeface="微软雅黑" pitchFamily="34" charset="-122"/>
              </a:rPr>
              <a:t>(BCNF)</a:t>
            </a:r>
          </a:p>
        </p:txBody>
      </p:sp>
      <p:sp>
        <p:nvSpPr>
          <p:cNvPr id="1554436" name="Rectangle 4"/>
          <p:cNvSpPr>
            <a:spLocks noGrp="1" noChangeArrowheads="1"/>
          </p:cNvSpPr>
          <p:nvPr>
            <p:ph type="body" idx="1"/>
          </p:nvPr>
        </p:nvSpPr>
        <p:spPr>
          <a:xfrm>
            <a:off x="480219" y="985406"/>
            <a:ext cx="8229600" cy="647700"/>
          </a:xfrm>
        </p:spPr>
        <p:txBody>
          <a:bodyPr/>
          <a:lstStyle/>
          <a:p>
            <a:pPr marL="0" indent="0">
              <a:spcAft>
                <a:spcPct val="25000"/>
              </a:spcAft>
              <a:buFont typeface="Wingdings" pitchFamily="2" charset="2"/>
              <a:buNone/>
              <a:defRPr/>
            </a:pPr>
            <a:r>
              <a:rPr lang="zh-CN" altLang="en-US" sz="2800" dirty="0">
                <a:latin typeface="楷体_GB2312" pitchFamily="49" charset="-122"/>
              </a:rPr>
              <a:t>若关系模式</a:t>
            </a:r>
            <a:r>
              <a:rPr lang="en-US" altLang="zh-CN" sz="2800" dirty="0">
                <a:latin typeface="楷体_GB2312" pitchFamily="49" charset="-122"/>
              </a:rPr>
              <a:t>R(U)</a:t>
            </a:r>
            <a:r>
              <a:rPr lang="zh-CN" altLang="en-US" sz="2800" dirty="0">
                <a:latin typeface="宋体" pitchFamily="2" charset="-122"/>
                <a:ea typeface="宋体" pitchFamily="2" charset="-122"/>
              </a:rPr>
              <a:t>∈</a:t>
            </a:r>
            <a:r>
              <a:rPr lang="en-US" altLang="zh-CN" sz="2800" dirty="0">
                <a:latin typeface="楷体_GB2312" pitchFamily="49" charset="-122"/>
              </a:rPr>
              <a:t>1NF</a:t>
            </a:r>
            <a:r>
              <a:rPr lang="zh-CN" altLang="en-US" sz="2800" dirty="0">
                <a:latin typeface="楷体_GB2312" pitchFamily="49" charset="-122"/>
              </a:rPr>
              <a:t>，对于</a:t>
            </a:r>
            <a:r>
              <a:rPr lang="en-US" altLang="zh-CN" sz="2800" dirty="0">
                <a:latin typeface="楷体_GB2312" pitchFamily="49" charset="-122"/>
              </a:rPr>
              <a:t>R</a:t>
            </a:r>
            <a:r>
              <a:rPr lang="zh-CN" altLang="en-US" sz="2800" dirty="0">
                <a:latin typeface="楷体_GB2312" pitchFamily="49" charset="-122"/>
              </a:rPr>
              <a:t>的任意一个函数依赖</a:t>
            </a:r>
            <a:r>
              <a:rPr lang="en-US" altLang="zh-CN" sz="2800" dirty="0">
                <a:latin typeface="楷体_GB2312" pitchFamily="49" charset="-122"/>
              </a:rPr>
              <a:t>X→Y(Y  X)</a:t>
            </a:r>
            <a:r>
              <a:rPr lang="zh-CN" altLang="en-US" sz="2800" dirty="0" smtClean="0">
                <a:latin typeface="楷体_GB2312" pitchFamily="49" charset="-122"/>
              </a:rPr>
              <a:t>，</a:t>
            </a:r>
            <a:r>
              <a:rPr lang="en-US" altLang="zh-CN" sz="2800" dirty="0" smtClean="0">
                <a:latin typeface="楷体_GB2312" pitchFamily="49" charset="-122"/>
              </a:rPr>
              <a:t>X</a:t>
            </a:r>
            <a:r>
              <a:rPr lang="en-US" altLang="zh-CN" sz="2800" dirty="0">
                <a:latin typeface="楷体_GB2312" pitchFamily="49" charset="-122"/>
              </a:rPr>
              <a:t>(</a:t>
            </a:r>
            <a:r>
              <a:rPr lang="zh-CN" altLang="en-US" sz="2800" dirty="0">
                <a:latin typeface="楷体_GB2312" pitchFamily="49" charset="-122"/>
              </a:rPr>
              <a:t>即决定因子</a:t>
            </a:r>
            <a:r>
              <a:rPr lang="en-US" altLang="zh-CN" sz="2800" dirty="0">
                <a:latin typeface="楷体_GB2312" pitchFamily="49" charset="-122"/>
              </a:rPr>
              <a:t>)</a:t>
            </a:r>
            <a:r>
              <a:rPr lang="zh-CN" altLang="en-US" sz="2800" dirty="0">
                <a:latin typeface="楷体_GB2312" pitchFamily="49" charset="-122"/>
              </a:rPr>
              <a:t>必含有</a:t>
            </a:r>
            <a:r>
              <a:rPr lang="zh-CN" altLang="en-US" sz="2800" dirty="0" smtClean="0">
                <a:latin typeface="楷体_GB2312" pitchFamily="49" charset="-122"/>
              </a:rPr>
              <a:t>候选键，</a:t>
            </a:r>
            <a:r>
              <a:rPr lang="zh-CN" altLang="en-US" sz="2800" dirty="0">
                <a:latin typeface="楷体_GB2312" pitchFamily="49" charset="-122"/>
              </a:rPr>
              <a:t>则</a:t>
            </a:r>
            <a:r>
              <a:rPr lang="en-US" altLang="zh-CN" sz="2800" dirty="0">
                <a:solidFill>
                  <a:srgbClr val="FFFF00"/>
                </a:solidFill>
                <a:latin typeface="楷体_GB2312" pitchFamily="49" charset="-122"/>
              </a:rPr>
              <a:t>R(U)</a:t>
            </a:r>
            <a:r>
              <a:rPr lang="en-US" altLang="zh-CN" sz="2800" dirty="0">
                <a:solidFill>
                  <a:srgbClr val="FFFF00"/>
                </a:solidFill>
                <a:latin typeface="宋体" pitchFamily="2" charset="-122"/>
                <a:ea typeface="宋体" pitchFamily="2" charset="-122"/>
              </a:rPr>
              <a:t>∈BC</a:t>
            </a:r>
            <a:r>
              <a:rPr lang="en-US" altLang="zh-CN" sz="2800" dirty="0">
                <a:solidFill>
                  <a:srgbClr val="FFFF00"/>
                </a:solidFill>
                <a:latin typeface="楷体_GB2312" pitchFamily="49" charset="-122"/>
              </a:rPr>
              <a:t>NF</a:t>
            </a:r>
            <a:r>
              <a:rPr lang="zh-CN" altLang="en-US" sz="2800" dirty="0">
                <a:latin typeface="楷体_GB2312" pitchFamily="49" charset="-122"/>
              </a:rPr>
              <a:t>。</a:t>
            </a:r>
          </a:p>
          <a:p>
            <a:pPr marL="0" indent="0">
              <a:spcBef>
                <a:spcPct val="15000"/>
              </a:spcBef>
              <a:spcAft>
                <a:spcPct val="25000"/>
              </a:spcAft>
              <a:buFont typeface="Wingdings" pitchFamily="2" charset="2"/>
              <a:buNone/>
              <a:defRPr/>
            </a:pPr>
            <a:r>
              <a:rPr lang="en-US" altLang="zh-CN" sz="2800" dirty="0">
                <a:latin typeface="楷体_GB2312" pitchFamily="49" charset="-122"/>
              </a:rPr>
              <a:t>BCNF</a:t>
            </a:r>
            <a:r>
              <a:rPr lang="zh-CN" altLang="en-US" sz="2800" dirty="0">
                <a:latin typeface="楷体_GB2312" pitchFamily="49" charset="-122"/>
              </a:rPr>
              <a:t>又称修正的</a:t>
            </a:r>
            <a:r>
              <a:rPr lang="en-US" altLang="zh-CN" sz="2800" dirty="0">
                <a:latin typeface="楷体_GB2312" pitchFamily="49" charset="-122"/>
              </a:rPr>
              <a:t>3NF</a:t>
            </a:r>
            <a:r>
              <a:rPr lang="zh-CN" altLang="en-US" sz="2800" dirty="0">
                <a:latin typeface="楷体_GB2312" pitchFamily="49" charset="-122"/>
              </a:rPr>
              <a:t>，它具有如下性质：</a:t>
            </a:r>
          </a:p>
        </p:txBody>
      </p:sp>
      <p:grpSp>
        <p:nvGrpSpPr>
          <p:cNvPr id="48133" name="Group 5"/>
          <p:cNvGrpSpPr>
            <a:grpSpLocks/>
          </p:cNvGrpSpPr>
          <p:nvPr/>
        </p:nvGrpSpPr>
        <p:grpSpPr bwMode="auto">
          <a:xfrm>
            <a:off x="1601788" y="1341438"/>
            <a:ext cx="498475" cy="574674"/>
            <a:chOff x="1501" y="1595"/>
            <a:chExt cx="314" cy="362"/>
          </a:xfrm>
        </p:grpSpPr>
        <p:sp>
          <p:nvSpPr>
            <p:cNvPr id="1554438" name="Line 6"/>
            <p:cNvSpPr>
              <a:spLocks noChangeShapeType="1"/>
            </p:cNvSpPr>
            <p:nvPr/>
          </p:nvSpPr>
          <p:spPr bwMode="auto">
            <a:xfrm>
              <a:off x="1593" y="1730"/>
              <a:ext cx="86" cy="227"/>
            </a:xfrm>
            <a:prstGeom prst="line">
              <a:avLst/>
            </a:prstGeom>
            <a:noFill/>
            <a:ln w="19050" cap="sq">
              <a:solidFill>
                <a:srgbClr val="CCFFCC"/>
              </a:solidFill>
              <a:round/>
              <a:headEnd/>
              <a:tailEnd/>
            </a:ln>
            <a:effectLst/>
          </p:spPr>
          <p:txBody>
            <a:bodyPr wrap="none" lIns="0" tIns="0" rIns="0" bIns="0" anchor="ctr"/>
            <a:lstStyle/>
            <a:p>
              <a:pPr>
                <a:defRPr/>
              </a:pPr>
              <a:endParaRPr lang="zh-CN" altLang="en-US"/>
            </a:p>
          </p:txBody>
        </p:sp>
        <p:sp>
          <p:nvSpPr>
            <p:cNvPr id="1554439" name="Rectangle 7"/>
            <p:cNvSpPr>
              <a:spLocks noChangeArrowheads="1"/>
            </p:cNvSpPr>
            <p:nvPr/>
          </p:nvSpPr>
          <p:spPr bwMode="auto">
            <a:xfrm>
              <a:off x="1501" y="1595"/>
              <a:ext cx="314" cy="359"/>
            </a:xfrm>
            <a:prstGeom prst="rect">
              <a:avLst/>
            </a:prstGeom>
            <a:noFill/>
            <a:ln w="12700" cap="sq">
              <a:noFill/>
              <a:miter lim="800000"/>
              <a:headEnd/>
              <a:tailEnd/>
            </a:ln>
            <a:effectLst/>
          </p:spPr>
          <p:txBody>
            <a:bodyPr wrap="none" lIns="72000" tIns="72000" rIns="72000" bIns="72000">
              <a:spAutoFit/>
            </a:bodyPr>
            <a:lstStyle/>
            <a:p>
              <a:pPr>
                <a:spcAft>
                  <a:spcPct val="0"/>
                </a:spcAft>
                <a:buSzTx/>
                <a:buFontTx/>
                <a:buNone/>
                <a:defRPr/>
              </a:pPr>
              <a:r>
                <a:rPr lang="en-US" altLang="zh-CN" sz="2800" dirty="0">
                  <a:solidFill>
                    <a:srgbClr val="CCFFCC"/>
                  </a:solidFill>
                  <a:effectLst>
                    <a:outerShdw blurRad="38100" dist="38100" dir="2700000" algn="tl">
                      <a:srgbClr val="000000"/>
                    </a:outerShdw>
                  </a:effectLst>
                  <a:sym typeface="Symbol" pitchFamily="18" charset="2"/>
                </a:rPr>
                <a:t></a:t>
              </a:r>
              <a:endParaRPr lang="zh-CN" altLang="en-US" sz="2800" dirty="0">
                <a:solidFill>
                  <a:srgbClr val="CCFFCC"/>
                </a:solidFill>
                <a:effectLst>
                  <a:outerShdw blurRad="38100" dist="38100" dir="2700000" algn="tl">
                    <a:srgbClr val="000000"/>
                  </a:outerShdw>
                </a:effectLst>
                <a:sym typeface="Symbol" pitchFamily="18" charset="2"/>
              </a:endParaRPr>
            </a:p>
          </p:txBody>
        </p:sp>
      </p:grpSp>
      <p:sp>
        <p:nvSpPr>
          <p:cNvPr id="1554440" name="Rectangle 8"/>
          <p:cNvSpPr>
            <a:spLocks noChangeArrowheads="1"/>
          </p:cNvSpPr>
          <p:nvPr/>
        </p:nvSpPr>
        <p:spPr bwMode="auto">
          <a:xfrm>
            <a:off x="188119" y="3068960"/>
            <a:ext cx="8521700" cy="1366837"/>
          </a:xfrm>
          <a:prstGeom prst="rect">
            <a:avLst/>
          </a:prstGeom>
          <a:noFill/>
          <a:ln w="12700" cap="sq" algn="ctr">
            <a:noFill/>
            <a:miter lim="800000"/>
            <a:headEnd/>
            <a:tailEnd/>
          </a:ln>
          <a:effectLst/>
        </p:spPr>
        <p:txBody>
          <a:bodyPr lIns="0" tIns="0" rIns="0" bIns="0">
            <a:spAutoFit/>
          </a:bodyPr>
          <a:lstStyle/>
          <a:p>
            <a:pPr marL="271463" indent="-271463">
              <a:spcAft>
                <a:spcPct val="10000"/>
              </a:spcAft>
              <a:buClr>
                <a:srgbClr val="66FF33"/>
              </a:buClr>
              <a:buSzPct val="85000"/>
              <a:buFont typeface="Wingdings" pitchFamily="2" charset="2"/>
              <a:buBlip>
                <a:blip r:embed="rId3"/>
              </a:buBlip>
              <a:defRPr/>
            </a:pPr>
            <a:r>
              <a:rPr kumimoji="0" lang="zh-CN" altLang="en-US" sz="2800" dirty="0">
                <a:solidFill>
                  <a:srgbClr val="99FFCC"/>
                </a:solidFill>
                <a:effectLst>
                  <a:outerShdw blurRad="38100" dist="38100" dir="2700000" algn="tl">
                    <a:srgbClr val="000000"/>
                  </a:outerShdw>
                </a:effectLst>
              </a:rPr>
              <a:t>所有非主属性都完全函数依赖于每一个</a:t>
            </a:r>
            <a:r>
              <a:rPr kumimoji="0" lang="zh-CN" altLang="en-US" sz="2800" dirty="0" smtClean="0">
                <a:solidFill>
                  <a:srgbClr val="99FFCC"/>
                </a:solidFill>
                <a:effectLst>
                  <a:outerShdw blurRad="38100" dist="38100" dir="2700000" algn="tl">
                    <a:srgbClr val="000000"/>
                  </a:outerShdw>
                </a:effectLst>
              </a:rPr>
              <a:t>候选键。</a:t>
            </a:r>
            <a:endParaRPr kumimoji="0" lang="zh-CN" altLang="en-US" sz="2800" dirty="0">
              <a:solidFill>
                <a:srgbClr val="99FFCC"/>
              </a:solidFill>
              <a:effectLst>
                <a:outerShdw blurRad="38100" dist="38100" dir="2700000" algn="tl">
                  <a:srgbClr val="000000"/>
                </a:outerShdw>
              </a:effectLst>
            </a:endParaRPr>
          </a:p>
          <a:p>
            <a:pPr marL="271463" indent="-271463">
              <a:spcAft>
                <a:spcPct val="10000"/>
              </a:spcAft>
              <a:buClr>
                <a:srgbClr val="66FF33"/>
              </a:buClr>
              <a:buSzPct val="85000"/>
              <a:buFont typeface="Wingdings" pitchFamily="2" charset="2"/>
              <a:buBlip>
                <a:blip r:embed="rId3"/>
              </a:buBlip>
              <a:defRPr/>
            </a:pPr>
            <a:r>
              <a:rPr kumimoji="0" lang="zh-CN" altLang="en-US" sz="2800" dirty="0">
                <a:solidFill>
                  <a:srgbClr val="99FFCC"/>
                </a:solidFill>
                <a:effectLst>
                  <a:outerShdw blurRad="38100" dist="38100" dir="2700000" algn="tl">
                    <a:srgbClr val="000000"/>
                  </a:outerShdw>
                </a:effectLst>
              </a:rPr>
              <a:t>所有主属性都完全函数依赖于不包含它的</a:t>
            </a:r>
            <a:r>
              <a:rPr kumimoji="0" lang="zh-CN" altLang="en-US" sz="2800" dirty="0" smtClean="0">
                <a:solidFill>
                  <a:srgbClr val="99FFCC"/>
                </a:solidFill>
                <a:effectLst>
                  <a:outerShdw blurRad="38100" dist="38100" dir="2700000" algn="tl">
                    <a:srgbClr val="000000"/>
                  </a:outerShdw>
                </a:effectLst>
              </a:rPr>
              <a:t>候选键。</a:t>
            </a:r>
            <a:endParaRPr kumimoji="0" lang="zh-CN" altLang="en-US" sz="2800" dirty="0">
              <a:solidFill>
                <a:srgbClr val="99FFCC"/>
              </a:solidFill>
              <a:effectLst>
                <a:outerShdw blurRad="38100" dist="38100" dir="2700000" algn="tl">
                  <a:srgbClr val="000000"/>
                </a:outerShdw>
              </a:effectLst>
            </a:endParaRPr>
          </a:p>
          <a:p>
            <a:pPr marL="271463" indent="-271463">
              <a:spcAft>
                <a:spcPct val="10000"/>
              </a:spcAft>
              <a:buClr>
                <a:srgbClr val="66FF33"/>
              </a:buClr>
              <a:buSzPct val="85000"/>
              <a:buFont typeface="Wingdings" pitchFamily="2" charset="2"/>
              <a:buBlip>
                <a:blip r:embed="rId3"/>
              </a:buBlip>
              <a:defRPr/>
            </a:pPr>
            <a:r>
              <a:rPr kumimoji="0" lang="zh-CN" altLang="en-US" sz="2800" dirty="0">
                <a:solidFill>
                  <a:srgbClr val="99FFCC"/>
                </a:solidFill>
                <a:effectLst>
                  <a:outerShdw blurRad="38100" dist="38100" dir="2700000" algn="tl">
                    <a:srgbClr val="000000"/>
                  </a:outerShdw>
                </a:effectLst>
              </a:rPr>
              <a:t>没有属性完全函数依赖于任何一组非</a:t>
            </a:r>
            <a:r>
              <a:rPr kumimoji="0" lang="zh-CN" altLang="en-US" sz="2800" dirty="0" smtClean="0">
                <a:solidFill>
                  <a:srgbClr val="99FFCC"/>
                </a:solidFill>
                <a:effectLst>
                  <a:outerShdw blurRad="38100" dist="38100" dir="2700000" algn="tl">
                    <a:srgbClr val="000000"/>
                  </a:outerShdw>
                </a:effectLst>
              </a:rPr>
              <a:t>候选键属性</a:t>
            </a:r>
            <a:r>
              <a:rPr kumimoji="0" lang="zh-CN" altLang="en-US" sz="2800" dirty="0">
                <a:solidFill>
                  <a:srgbClr val="99FFCC"/>
                </a:solidFill>
                <a:effectLst>
                  <a:outerShdw blurRad="38100" dist="38100" dir="2700000" algn="tl">
                    <a:srgbClr val="000000"/>
                  </a:outerShdw>
                </a:effectLst>
              </a:rPr>
              <a:t>。 </a:t>
            </a:r>
          </a:p>
        </p:txBody>
      </p:sp>
      <p:sp>
        <p:nvSpPr>
          <p:cNvPr id="1554441" name="Rectangle 9"/>
          <p:cNvSpPr>
            <a:spLocks noChangeArrowheads="1"/>
          </p:cNvSpPr>
          <p:nvPr/>
        </p:nvSpPr>
        <p:spPr bwMode="auto">
          <a:xfrm>
            <a:off x="598488" y="4810125"/>
            <a:ext cx="7993062" cy="1493838"/>
          </a:xfrm>
          <a:prstGeom prst="rect">
            <a:avLst/>
          </a:prstGeom>
          <a:noFill/>
          <a:ln w="12700" cap="sq" algn="ctr">
            <a:noFill/>
            <a:miter lim="800000"/>
            <a:headEnd/>
            <a:tailEnd/>
          </a:ln>
          <a:effectLst/>
        </p:spPr>
        <p:txBody>
          <a:bodyPr lIns="0" tIns="0" rIns="0" bIns="0">
            <a:spAutoFit/>
          </a:bodyPr>
          <a:lstStyle/>
          <a:p>
            <a:pPr>
              <a:spcBef>
                <a:spcPct val="25000"/>
              </a:spcBef>
              <a:buClr>
                <a:srgbClr val="66FF33"/>
              </a:buClr>
              <a:buSzPct val="85000"/>
              <a:defRPr/>
            </a:pPr>
            <a:r>
              <a:rPr kumimoji="0" lang="en-US" altLang="en-US" sz="2800" dirty="0" err="1">
                <a:solidFill>
                  <a:srgbClr val="CCFFCC"/>
                </a:solidFill>
                <a:effectLst>
                  <a:outerShdw blurRad="38100" dist="38100" dir="2700000" algn="tl">
                    <a:srgbClr val="000000"/>
                  </a:outerShdw>
                </a:effectLst>
              </a:rPr>
              <a:t>可见BCNF</a:t>
            </a:r>
            <a:r>
              <a:rPr kumimoji="0" lang="en-US" altLang="en-US" sz="2800" dirty="0" err="1" smtClean="0">
                <a:solidFill>
                  <a:srgbClr val="CCFFCC"/>
                </a:solidFill>
                <a:effectLst>
                  <a:outerShdw blurRad="38100" dist="38100" dir="2700000" algn="tl">
                    <a:srgbClr val="000000"/>
                  </a:outerShdw>
                </a:effectLst>
              </a:rPr>
              <a:t>中不存在任何属性传递函数依赖或部分函数依赖于任何候选</a:t>
            </a:r>
            <a:r>
              <a:rPr kumimoji="0" lang="zh-CN" altLang="en-US" sz="2800" dirty="0" smtClean="0">
                <a:solidFill>
                  <a:srgbClr val="CCFFCC"/>
                </a:solidFill>
                <a:effectLst>
                  <a:outerShdw blurRad="38100" dist="38100" dir="2700000" algn="tl">
                    <a:srgbClr val="000000"/>
                  </a:outerShdw>
                </a:effectLst>
              </a:rPr>
              <a:t>键！</a:t>
            </a:r>
            <a:endParaRPr kumimoji="0" lang="zh-CN" altLang="en-US" sz="2800" dirty="0">
              <a:solidFill>
                <a:srgbClr val="CCFFCC"/>
              </a:solidFill>
              <a:effectLst>
                <a:outerShdw blurRad="38100" dist="38100" dir="2700000" algn="tl">
                  <a:srgbClr val="000000"/>
                </a:outerShdw>
              </a:effectLst>
            </a:endParaRPr>
          </a:p>
          <a:p>
            <a:pPr>
              <a:spcBef>
                <a:spcPct val="25000"/>
              </a:spcBef>
              <a:buClr>
                <a:srgbClr val="66FF33"/>
              </a:buClr>
              <a:buSzPct val="85000"/>
              <a:defRPr/>
            </a:pPr>
            <a:r>
              <a:rPr kumimoji="0" lang="zh-CN" altLang="en-US" sz="2800" dirty="0">
                <a:solidFill>
                  <a:srgbClr val="CCFFCC"/>
                </a:solidFill>
                <a:effectLst>
                  <a:outerShdw blurRad="38100" dist="38100" dir="2700000" algn="tl">
                    <a:srgbClr val="000000"/>
                  </a:outerShdw>
                </a:effectLst>
              </a:rPr>
              <a:t>若</a:t>
            </a:r>
            <a:r>
              <a:rPr kumimoji="0" lang="en-US" altLang="zh-CN" sz="2800" dirty="0">
                <a:solidFill>
                  <a:srgbClr val="CCFFCC"/>
                </a:solidFill>
                <a:effectLst>
                  <a:outerShdw blurRad="38100" dist="38100" dir="2700000" algn="tl">
                    <a:srgbClr val="000000"/>
                  </a:outerShdw>
                </a:effectLst>
              </a:rPr>
              <a:t>R(U)</a:t>
            </a:r>
            <a:r>
              <a:rPr kumimoji="0" lang="zh-CN" altLang="en-US" sz="2800" dirty="0">
                <a:solidFill>
                  <a:srgbClr val="CCFFCC"/>
                </a:solidFill>
                <a:effectLst>
                  <a:outerShdw blurRad="38100" dist="38100" dir="2700000" algn="tl">
                    <a:srgbClr val="000000"/>
                  </a:outerShdw>
                </a:effectLst>
                <a:latin typeface="宋体" pitchFamily="2" charset="-122"/>
                <a:ea typeface="宋体" pitchFamily="2" charset="-122"/>
              </a:rPr>
              <a:t>∈</a:t>
            </a:r>
            <a:r>
              <a:rPr kumimoji="0" lang="en-US" altLang="zh-CN" sz="2800" dirty="0">
                <a:solidFill>
                  <a:srgbClr val="CCFFCC"/>
                </a:solidFill>
                <a:effectLst>
                  <a:outerShdw blurRad="38100" dist="38100" dir="2700000" algn="tl">
                    <a:srgbClr val="000000"/>
                  </a:outerShdw>
                </a:effectLst>
              </a:rPr>
              <a:t>BCNF</a:t>
            </a:r>
            <a:r>
              <a:rPr kumimoji="0" lang="zh-CN" altLang="en-US" sz="2800" dirty="0">
                <a:solidFill>
                  <a:srgbClr val="CCFFCC"/>
                </a:solidFill>
                <a:effectLst>
                  <a:outerShdw blurRad="38100" dist="38100" dir="2700000" algn="tl">
                    <a:srgbClr val="000000"/>
                  </a:outerShdw>
                </a:effectLst>
              </a:rPr>
              <a:t>，则必有</a:t>
            </a:r>
            <a:r>
              <a:rPr kumimoji="0" lang="en-US" altLang="zh-CN" sz="2800" dirty="0">
                <a:solidFill>
                  <a:srgbClr val="CCFFCC"/>
                </a:solidFill>
                <a:effectLst>
                  <a:outerShdw blurRad="38100" dist="38100" dir="2700000" algn="tl">
                    <a:srgbClr val="000000"/>
                  </a:outerShdw>
                </a:effectLst>
              </a:rPr>
              <a:t>R</a:t>
            </a:r>
            <a:r>
              <a:rPr kumimoji="0" lang="en-US" altLang="zh-CN" sz="2800" dirty="0">
                <a:solidFill>
                  <a:srgbClr val="CCFFCC"/>
                </a:solidFill>
                <a:effectLst>
                  <a:outerShdw blurRad="38100" dist="38100" dir="2700000" algn="tl">
                    <a:srgbClr val="000000"/>
                  </a:outerShdw>
                </a:effectLst>
                <a:latin typeface="宋体" pitchFamily="2" charset="-122"/>
                <a:ea typeface="宋体" pitchFamily="2" charset="-122"/>
              </a:rPr>
              <a:t>∈</a:t>
            </a:r>
            <a:r>
              <a:rPr kumimoji="0" lang="en-US" altLang="zh-CN" sz="2800" dirty="0">
                <a:solidFill>
                  <a:srgbClr val="CCFFCC"/>
                </a:solidFill>
                <a:effectLst>
                  <a:outerShdw blurRad="38100" dist="38100" dir="2700000" algn="tl">
                    <a:srgbClr val="000000"/>
                  </a:outerShdw>
                </a:effectLst>
              </a:rPr>
              <a:t>3NF</a:t>
            </a:r>
            <a:r>
              <a:rPr kumimoji="0" lang="zh-CN" altLang="en-US" sz="2800" dirty="0">
                <a:solidFill>
                  <a:srgbClr val="CCFFCC"/>
                </a:solidFill>
                <a:effectLst>
                  <a:outerShdw blurRad="38100" dist="38100" dir="2700000" algn="tl">
                    <a:srgbClr val="000000"/>
                  </a:outerShdw>
                </a:effectLst>
              </a:rPr>
              <a:t>，反之未必</a:t>
            </a:r>
            <a:r>
              <a:rPr kumimoji="0" lang="en-US" altLang="zh-CN" sz="2800" dirty="0">
                <a:solidFill>
                  <a:srgbClr val="CCFFCC"/>
                </a:solidFill>
                <a:effectLst>
                  <a:outerShdw blurRad="38100" dist="38100" dir="2700000" algn="tl">
                    <a:srgbClr val="000000"/>
                  </a:outerShdw>
                </a:effectLst>
              </a:rPr>
              <a:t>!</a:t>
            </a: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3"/>
          <p:cNvSpPr>
            <a:spLocks noGrp="1" noChangeArrowheads="1"/>
          </p:cNvSpPr>
          <p:nvPr>
            <p:ph type="title"/>
          </p:nvPr>
        </p:nvSpPr>
        <p:spPr>
          <a:xfrm>
            <a:off x="0" y="-19535"/>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ea typeface="微软雅黑" pitchFamily="34" charset="-122"/>
              </a:rPr>
              <a:t>规范化（</a:t>
            </a:r>
            <a:r>
              <a:rPr kumimoji="1" lang="en-US" altLang="zh-CN" sz="4000" b="1" kern="1200" dirty="0">
                <a:solidFill>
                  <a:srgbClr val="FFFFCC"/>
                </a:solidFill>
                <a:effectLst>
                  <a:outerShdw blurRad="38100" dist="38100" dir="2700000" algn="tl">
                    <a:srgbClr val="000000"/>
                  </a:outerShdw>
                </a:effectLst>
                <a:latin typeface="Arial" pitchFamily="34" charset="0"/>
                <a:ea typeface="微软雅黑" pitchFamily="34" charset="-122"/>
              </a:rPr>
              <a:t>Normalization</a:t>
            </a:r>
            <a:r>
              <a:rPr kumimoji="1" lang="zh-CN" altLang="en-US" sz="4000" b="1" kern="1200" dirty="0">
                <a:solidFill>
                  <a:srgbClr val="FFFFCC"/>
                </a:solidFill>
                <a:effectLst>
                  <a:outerShdw blurRad="38100" dist="38100" dir="2700000" algn="tl">
                    <a:srgbClr val="000000"/>
                  </a:outerShdw>
                </a:effectLst>
                <a:latin typeface="Arial" pitchFamily="34" charset="0"/>
                <a:ea typeface="微软雅黑" pitchFamily="34" charset="-122"/>
              </a:rPr>
              <a:t>）</a:t>
            </a:r>
          </a:p>
        </p:txBody>
      </p:sp>
      <p:sp>
        <p:nvSpPr>
          <p:cNvPr id="1555460" name="Rectangle 4"/>
          <p:cNvSpPr>
            <a:spLocks noGrp="1" noChangeArrowheads="1"/>
          </p:cNvSpPr>
          <p:nvPr>
            <p:ph type="body" idx="1"/>
          </p:nvPr>
        </p:nvSpPr>
        <p:spPr>
          <a:xfrm>
            <a:off x="179512" y="1412776"/>
            <a:ext cx="8647112" cy="647700"/>
          </a:xfrm>
        </p:spPr>
        <p:txBody>
          <a:bodyPr/>
          <a:lstStyle/>
          <a:p>
            <a:pPr marL="358775" indent="-358775">
              <a:spcAft>
                <a:spcPct val="100000"/>
              </a:spcAft>
              <a:defRPr/>
            </a:pPr>
            <a:r>
              <a:rPr lang="zh-CN" altLang="en-US" sz="2800" dirty="0">
                <a:latin typeface="楷体_GB2312" pitchFamily="49" charset="-122"/>
              </a:rPr>
              <a:t>通过模式分解将一个低级别范式的关系模式转换为若干个高级别范式的关系模式的过程，称作关系模式的</a:t>
            </a:r>
            <a:r>
              <a:rPr lang="zh-CN" altLang="en-US" sz="2800" dirty="0">
                <a:solidFill>
                  <a:srgbClr val="FFFF00"/>
                </a:solidFill>
                <a:latin typeface="楷体_GB2312" pitchFamily="49" charset="-122"/>
              </a:rPr>
              <a:t>规范化</a:t>
            </a:r>
            <a:r>
              <a:rPr lang="zh-CN" altLang="en-US" sz="2800" dirty="0">
                <a:latin typeface="楷体_GB2312" pitchFamily="49" charset="-122"/>
              </a:rPr>
              <a:t>。</a:t>
            </a:r>
          </a:p>
          <a:p>
            <a:pPr marL="358775" indent="-358775">
              <a:spcAft>
                <a:spcPct val="100000"/>
              </a:spcAft>
              <a:defRPr/>
            </a:pPr>
            <a:r>
              <a:rPr lang="zh-CN" altLang="en-US" sz="2800" dirty="0">
                <a:latin typeface="楷体_GB2312" pitchFamily="49" charset="-122"/>
              </a:rPr>
              <a:t>规范化的</a:t>
            </a:r>
            <a:r>
              <a:rPr lang="zh-CN" altLang="en-US" sz="2800" dirty="0">
                <a:solidFill>
                  <a:schemeClr val="tx2"/>
                </a:solidFill>
                <a:latin typeface="楷体_GB2312" pitchFamily="49" charset="-122"/>
              </a:rPr>
              <a:t>基本思想</a:t>
            </a:r>
            <a:r>
              <a:rPr lang="zh-CN" altLang="en-US" sz="2800" dirty="0">
                <a:latin typeface="楷体_GB2312" pitchFamily="49" charset="-122"/>
              </a:rPr>
              <a:t>是使原先关系模式中属性之间的数据依赖达到某种程度的</a:t>
            </a:r>
            <a:r>
              <a:rPr lang="zh-CN" altLang="en-US" sz="2800" dirty="0"/>
              <a:t>“</a:t>
            </a:r>
            <a:r>
              <a:rPr lang="zh-CN" altLang="en-US" sz="2800" dirty="0">
                <a:latin typeface="楷体_GB2312" pitchFamily="49" charset="-122"/>
              </a:rPr>
              <a:t>分离</a:t>
            </a:r>
            <a:r>
              <a:rPr lang="zh-CN" altLang="en-US" sz="2800" dirty="0"/>
              <a:t>”</a:t>
            </a:r>
            <a:r>
              <a:rPr lang="zh-CN" altLang="en-US" sz="2800" dirty="0">
                <a:latin typeface="楷体_GB2312" pitchFamily="49" charset="-122"/>
              </a:rPr>
              <a:t>，逐步消除数据依赖中不合理的部分，实现</a:t>
            </a:r>
            <a:r>
              <a:rPr lang="zh-CN" altLang="en-US" sz="2800" dirty="0">
                <a:solidFill>
                  <a:srgbClr val="FF9900"/>
                </a:solidFill>
                <a:latin typeface="楷体_GB2312" pitchFamily="49" charset="-122"/>
              </a:rPr>
              <a:t>概念的单一化</a:t>
            </a:r>
            <a:r>
              <a:rPr lang="zh-CN" altLang="en-US" sz="2800" dirty="0">
                <a:latin typeface="楷体_GB2312" pitchFamily="49" charset="-122"/>
              </a:rPr>
              <a:t>。</a:t>
            </a:r>
          </a:p>
          <a:p>
            <a:pPr marL="358775" indent="-358775">
              <a:spcAft>
                <a:spcPct val="100000"/>
              </a:spcAft>
              <a:defRPr/>
            </a:pPr>
            <a:r>
              <a:rPr lang="zh-CN" altLang="en-US" sz="2800" dirty="0">
                <a:latin typeface="楷体_GB2312" pitchFamily="49" charset="-122"/>
              </a:rPr>
              <a:t>规范化的</a:t>
            </a:r>
            <a:r>
              <a:rPr lang="zh-CN" altLang="en-US" sz="2800" dirty="0">
                <a:solidFill>
                  <a:srgbClr val="99FF33"/>
                </a:solidFill>
                <a:latin typeface="楷体_GB2312" pitchFamily="49" charset="-122"/>
              </a:rPr>
              <a:t>目的</a:t>
            </a:r>
            <a:r>
              <a:rPr lang="zh-CN" altLang="en-US" sz="2800" dirty="0">
                <a:latin typeface="楷体_GB2312" pitchFamily="49" charset="-122"/>
              </a:rPr>
              <a:t>是使关系模式结构合理，消除存储异常，使数据冗余尽量小，便于插入、删除和更新。</a:t>
            </a: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3"/>
          <p:cNvSpPr>
            <a:spLocks noGrp="1" noChangeArrowheads="1"/>
          </p:cNvSpPr>
          <p:nvPr>
            <p:ph type="title"/>
          </p:nvPr>
        </p:nvSpPr>
        <p:spPr>
          <a:xfrm>
            <a:off x="0" y="-3592"/>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ea typeface="微软雅黑" pitchFamily="34" charset="-122"/>
              </a:rPr>
              <a:t>规范化的一般步骤</a:t>
            </a:r>
          </a:p>
        </p:txBody>
      </p:sp>
      <p:sp>
        <p:nvSpPr>
          <p:cNvPr id="1556484" name="Rectangle 4"/>
          <p:cNvSpPr>
            <a:spLocks noChangeArrowheads="1"/>
          </p:cNvSpPr>
          <p:nvPr/>
        </p:nvSpPr>
        <p:spPr bwMode="auto">
          <a:xfrm>
            <a:off x="2690813" y="1694582"/>
            <a:ext cx="558800"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400" b="1">
                <a:effectLst>
                  <a:outerShdw blurRad="38100" dist="38100" dir="2700000" algn="tl">
                    <a:srgbClr val="000000"/>
                  </a:outerShdw>
                </a:effectLst>
                <a:latin typeface="Times New Roman" pitchFamily="18" charset="0"/>
              </a:rPr>
              <a:t>1</a:t>
            </a:r>
            <a:r>
              <a:rPr lang="en-US" altLang="zh-CN" sz="2400" b="1">
                <a:effectLst>
                  <a:outerShdw blurRad="38100" dist="38100" dir="2700000" algn="tl">
                    <a:srgbClr val="000000"/>
                  </a:outerShdw>
                </a:effectLst>
                <a:latin typeface="Times New Roman" pitchFamily="18" charset="0"/>
              </a:rPr>
              <a:t>NF</a:t>
            </a:r>
          </a:p>
        </p:txBody>
      </p:sp>
      <p:sp>
        <p:nvSpPr>
          <p:cNvPr id="1556485" name="Rectangle 5"/>
          <p:cNvSpPr>
            <a:spLocks noChangeArrowheads="1"/>
          </p:cNvSpPr>
          <p:nvPr/>
        </p:nvSpPr>
        <p:spPr bwMode="auto">
          <a:xfrm>
            <a:off x="2690813" y="2586757"/>
            <a:ext cx="558800"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400" b="1">
                <a:effectLst>
                  <a:outerShdw blurRad="38100" dist="38100" dir="2700000" algn="tl">
                    <a:srgbClr val="000000"/>
                  </a:outerShdw>
                </a:effectLst>
                <a:latin typeface="Times New Roman" pitchFamily="18" charset="0"/>
              </a:rPr>
              <a:t>2</a:t>
            </a:r>
            <a:r>
              <a:rPr lang="en-US" altLang="zh-CN" sz="2400" b="1">
                <a:effectLst>
                  <a:outerShdw blurRad="38100" dist="38100" dir="2700000" algn="tl">
                    <a:srgbClr val="000000"/>
                  </a:outerShdw>
                </a:effectLst>
                <a:latin typeface="Times New Roman" pitchFamily="18" charset="0"/>
              </a:rPr>
              <a:t>NF</a:t>
            </a:r>
          </a:p>
        </p:txBody>
      </p:sp>
      <p:sp>
        <p:nvSpPr>
          <p:cNvPr id="1556486" name="Rectangle 6"/>
          <p:cNvSpPr>
            <a:spLocks noChangeArrowheads="1"/>
          </p:cNvSpPr>
          <p:nvPr/>
        </p:nvSpPr>
        <p:spPr bwMode="auto">
          <a:xfrm>
            <a:off x="2690813" y="3480519"/>
            <a:ext cx="558800"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400" b="1">
                <a:effectLst>
                  <a:outerShdw blurRad="38100" dist="38100" dir="2700000" algn="tl">
                    <a:srgbClr val="000000"/>
                  </a:outerShdw>
                </a:effectLst>
                <a:latin typeface="Times New Roman" pitchFamily="18" charset="0"/>
              </a:rPr>
              <a:t>3</a:t>
            </a:r>
            <a:r>
              <a:rPr lang="en-US" altLang="zh-CN" sz="2400" b="1">
                <a:effectLst>
                  <a:outerShdw blurRad="38100" dist="38100" dir="2700000" algn="tl">
                    <a:srgbClr val="000000"/>
                  </a:outerShdw>
                </a:effectLst>
                <a:latin typeface="Times New Roman" pitchFamily="18" charset="0"/>
              </a:rPr>
              <a:t>NF</a:t>
            </a:r>
          </a:p>
        </p:txBody>
      </p:sp>
      <p:sp>
        <p:nvSpPr>
          <p:cNvPr id="1556487" name="Rectangle 7"/>
          <p:cNvSpPr>
            <a:spLocks noChangeArrowheads="1"/>
          </p:cNvSpPr>
          <p:nvPr/>
        </p:nvSpPr>
        <p:spPr bwMode="auto">
          <a:xfrm>
            <a:off x="2555875" y="4372694"/>
            <a:ext cx="830263"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b="1">
                <a:effectLst>
                  <a:outerShdw blurRad="38100" dist="38100" dir="2700000" algn="tl">
                    <a:srgbClr val="000000"/>
                  </a:outerShdw>
                </a:effectLst>
                <a:latin typeface="Times New Roman" pitchFamily="18" charset="0"/>
              </a:rPr>
              <a:t>BCNF</a:t>
            </a:r>
          </a:p>
        </p:txBody>
      </p:sp>
      <p:sp>
        <p:nvSpPr>
          <p:cNvPr id="1556488" name="Rectangle 8"/>
          <p:cNvSpPr>
            <a:spLocks noChangeArrowheads="1"/>
          </p:cNvSpPr>
          <p:nvPr/>
        </p:nvSpPr>
        <p:spPr bwMode="auto">
          <a:xfrm>
            <a:off x="2690813" y="5266457"/>
            <a:ext cx="558800"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400" b="1">
                <a:effectLst>
                  <a:outerShdw blurRad="38100" dist="38100" dir="2700000" algn="tl">
                    <a:srgbClr val="000000"/>
                  </a:outerShdw>
                </a:effectLst>
                <a:latin typeface="Times New Roman" pitchFamily="18" charset="0"/>
              </a:rPr>
              <a:t>4</a:t>
            </a:r>
            <a:r>
              <a:rPr lang="en-US" altLang="zh-CN" sz="2400" b="1">
                <a:effectLst>
                  <a:outerShdw blurRad="38100" dist="38100" dir="2700000" algn="tl">
                    <a:srgbClr val="000000"/>
                  </a:outerShdw>
                </a:effectLst>
                <a:latin typeface="Times New Roman" pitchFamily="18" charset="0"/>
              </a:rPr>
              <a:t>NF</a:t>
            </a:r>
          </a:p>
        </p:txBody>
      </p:sp>
      <p:sp>
        <p:nvSpPr>
          <p:cNvPr id="1556489" name="Rectangle 9"/>
          <p:cNvSpPr>
            <a:spLocks noChangeArrowheads="1"/>
          </p:cNvSpPr>
          <p:nvPr/>
        </p:nvSpPr>
        <p:spPr bwMode="auto">
          <a:xfrm>
            <a:off x="2690813" y="6160219"/>
            <a:ext cx="558800"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400" b="1">
                <a:effectLst>
                  <a:outerShdw blurRad="38100" dist="38100" dir="2700000" algn="tl">
                    <a:srgbClr val="000000"/>
                  </a:outerShdw>
                </a:effectLst>
                <a:latin typeface="Times New Roman" pitchFamily="18" charset="0"/>
              </a:rPr>
              <a:t>5</a:t>
            </a:r>
            <a:r>
              <a:rPr lang="en-US" altLang="zh-CN" sz="2400" b="1">
                <a:effectLst>
                  <a:outerShdw blurRad="38100" dist="38100" dir="2700000" algn="tl">
                    <a:srgbClr val="000000"/>
                  </a:outerShdw>
                </a:effectLst>
                <a:latin typeface="Times New Roman" pitchFamily="18" charset="0"/>
              </a:rPr>
              <a:t>NF</a:t>
            </a:r>
          </a:p>
        </p:txBody>
      </p:sp>
      <p:cxnSp>
        <p:nvCxnSpPr>
          <p:cNvPr id="50186" name="AutoShape 10"/>
          <p:cNvCxnSpPr>
            <a:cxnSpLocks noChangeShapeType="1"/>
            <a:stCxn id="1556484" idx="2"/>
            <a:endCxn id="1556485" idx="0"/>
          </p:cNvCxnSpPr>
          <p:nvPr/>
        </p:nvCxnSpPr>
        <p:spPr bwMode="auto">
          <a:xfrm>
            <a:off x="2970213" y="2059707"/>
            <a:ext cx="0" cy="52705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0187" name="AutoShape 11"/>
          <p:cNvCxnSpPr>
            <a:cxnSpLocks noChangeShapeType="1"/>
            <a:stCxn id="1556485" idx="2"/>
            <a:endCxn id="1556486" idx="0"/>
          </p:cNvCxnSpPr>
          <p:nvPr/>
        </p:nvCxnSpPr>
        <p:spPr bwMode="auto">
          <a:xfrm>
            <a:off x="2970213" y="2951882"/>
            <a:ext cx="0" cy="528637"/>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0188" name="AutoShape 12"/>
          <p:cNvCxnSpPr>
            <a:cxnSpLocks noChangeShapeType="1"/>
            <a:stCxn id="1556486" idx="2"/>
            <a:endCxn id="1556487" idx="0"/>
          </p:cNvCxnSpPr>
          <p:nvPr/>
        </p:nvCxnSpPr>
        <p:spPr bwMode="auto">
          <a:xfrm>
            <a:off x="2970213" y="3845644"/>
            <a:ext cx="1587" cy="52705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0189" name="AutoShape 13"/>
          <p:cNvCxnSpPr>
            <a:cxnSpLocks noChangeShapeType="1"/>
            <a:stCxn id="1556487" idx="2"/>
            <a:endCxn id="1556488" idx="0"/>
          </p:cNvCxnSpPr>
          <p:nvPr/>
        </p:nvCxnSpPr>
        <p:spPr bwMode="auto">
          <a:xfrm flipH="1">
            <a:off x="2970213" y="4737819"/>
            <a:ext cx="1587" cy="528638"/>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0190" name="AutoShape 14"/>
          <p:cNvCxnSpPr>
            <a:cxnSpLocks noChangeShapeType="1"/>
            <a:stCxn id="1556488" idx="2"/>
            <a:endCxn id="1556489" idx="0"/>
          </p:cNvCxnSpPr>
          <p:nvPr/>
        </p:nvCxnSpPr>
        <p:spPr bwMode="auto">
          <a:xfrm>
            <a:off x="2970213" y="5631582"/>
            <a:ext cx="0" cy="528637"/>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0191" name="AutoShape 15"/>
          <p:cNvCxnSpPr>
            <a:cxnSpLocks noChangeShapeType="1"/>
            <a:stCxn id="1556484" idx="1"/>
            <a:endCxn id="1556487" idx="1"/>
          </p:cNvCxnSpPr>
          <p:nvPr/>
        </p:nvCxnSpPr>
        <p:spPr bwMode="auto">
          <a:xfrm rot="10800000" flipV="1">
            <a:off x="2555875" y="1877144"/>
            <a:ext cx="134938" cy="2678113"/>
          </a:xfrm>
          <a:prstGeom prst="bentConnector3">
            <a:avLst>
              <a:gd name="adj1" fmla="val 562352"/>
            </a:avLst>
          </a:prstGeom>
          <a:noFill/>
          <a:ln w="381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556496" name="Rectangle 16"/>
          <p:cNvSpPr>
            <a:spLocks noChangeArrowheads="1"/>
          </p:cNvSpPr>
          <p:nvPr/>
        </p:nvSpPr>
        <p:spPr bwMode="auto">
          <a:xfrm>
            <a:off x="3132138" y="2054944"/>
            <a:ext cx="5545137" cy="369332"/>
          </a:xfrm>
          <a:prstGeom prst="rect">
            <a:avLst/>
          </a:prstGeom>
          <a:noFill/>
          <a:ln w="12700" cap="sq">
            <a:noFill/>
            <a:miter lim="800000"/>
            <a:headEnd/>
            <a:tailEnd/>
          </a:ln>
          <a:effectLst/>
        </p:spPr>
        <p:txBody>
          <a:bodyPr lIns="0" tIns="0" rIns="0" bIns="0">
            <a:spAutoFit/>
          </a:bodyPr>
          <a:lstStyle/>
          <a:p>
            <a:pPr algn="dist">
              <a:spcAft>
                <a:spcPct val="0"/>
              </a:spcAft>
              <a:buSzTx/>
              <a:buFontTx/>
              <a:buNone/>
              <a:defRPr/>
            </a:pPr>
            <a:r>
              <a:rPr kumimoji="0" lang="zh-CN" altLang="en-US" sz="2400" dirty="0">
                <a:solidFill>
                  <a:srgbClr val="CCFFCC"/>
                </a:solidFill>
                <a:effectLst>
                  <a:outerShdw blurRad="38100" dist="38100" dir="2700000" algn="tl">
                    <a:srgbClr val="000000"/>
                  </a:outerShdw>
                </a:effectLst>
                <a:latin typeface="Times New Roman" pitchFamily="18" charset="0"/>
              </a:rPr>
              <a:t>消除非主属性对</a:t>
            </a:r>
            <a:r>
              <a:rPr kumimoji="0" lang="zh-CN" altLang="en-US" sz="2400" dirty="0" smtClean="0">
                <a:solidFill>
                  <a:srgbClr val="CCFFCC"/>
                </a:solidFill>
                <a:effectLst>
                  <a:outerShdw blurRad="38100" dist="38100" dir="2700000" algn="tl">
                    <a:srgbClr val="000000"/>
                  </a:outerShdw>
                </a:effectLst>
                <a:latin typeface="Times New Roman" pitchFamily="18" charset="0"/>
              </a:rPr>
              <a:t>候选键的</a:t>
            </a:r>
            <a:r>
              <a:rPr kumimoji="0" lang="zh-CN" altLang="en-US" sz="2400" dirty="0">
                <a:solidFill>
                  <a:srgbClr val="CCFFCC"/>
                </a:solidFill>
                <a:effectLst>
                  <a:outerShdw blurRad="38100" dist="38100" dir="2700000" algn="tl">
                    <a:srgbClr val="000000"/>
                  </a:outerShdw>
                </a:effectLst>
                <a:latin typeface="Times New Roman" pitchFamily="18" charset="0"/>
              </a:rPr>
              <a:t>部分函数依赖</a:t>
            </a:r>
          </a:p>
        </p:txBody>
      </p:sp>
      <p:sp>
        <p:nvSpPr>
          <p:cNvPr id="1556497" name="Rectangle 17"/>
          <p:cNvSpPr>
            <a:spLocks noChangeArrowheads="1"/>
          </p:cNvSpPr>
          <p:nvPr/>
        </p:nvSpPr>
        <p:spPr bwMode="auto">
          <a:xfrm>
            <a:off x="3132138" y="2994744"/>
            <a:ext cx="5207000" cy="369332"/>
          </a:xfrm>
          <a:prstGeom prst="rect">
            <a:avLst/>
          </a:prstGeom>
          <a:noFill/>
          <a:ln w="12700" cap="sq" algn="ctr">
            <a:noFill/>
            <a:miter lim="800000"/>
            <a:headEnd/>
            <a:tailEnd/>
          </a:ln>
          <a:effectLst/>
        </p:spPr>
        <p:txBody>
          <a:bodyPr lIns="0" tIns="0" rIns="0" bIns="0">
            <a:spAutoFit/>
          </a:bodyPr>
          <a:lstStyle/>
          <a:p>
            <a:pPr algn="dist">
              <a:spcAft>
                <a:spcPct val="0"/>
              </a:spcAft>
              <a:buSzTx/>
              <a:buFontTx/>
              <a:buNone/>
              <a:defRPr/>
            </a:pPr>
            <a:r>
              <a:rPr kumimoji="0" lang="zh-CN" altLang="en-US" sz="2400" dirty="0">
                <a:solidFill>
                  <a:srgbClr val="CCFFCC"/>
                </a:solidFill>
                <a:effectLst>
                  <a:outerShdw blurRad="38100" dist="38100" dir="2700000" algn="tl">
                    <a:srgbClr val="000000"/>
                  </a:outerShdw>
                </a:effectLst>
                <a:latin typeface="Times New Roman" pitchFamily="18" charset="0"/>
              </a:rPr>
              <a:t>消除非主属性对</a:t>
            </a:r>
            <a:r>
              <a:rPr kumimoji="0" lang="zh-CN" altLang="en-US" sz="2400" dirty="0" smtClean="0">
                <a:solidFill>
                  <a:srgbClr val="CCFFCC"/>
                </a:solidFill>
                <a:effectLst>
                  <a:outerShdw blurRad="38100" dist="38100" dir="2700000" algn="tl">
                    <a:srgbClr val="000000"/>
                  </a:outerShdw>
                </a:effectLst>
                <a:latin typeface="Times New Roman" pitchFamily="18" charset="0"/>
              </a:rPr>
              <a:t>候选键的</a:t>
            </a:r>
            <a:r>
              <a:rPr kumimoji="0" lang="zh-CN" altLang="en-US" sz="2400" dirty="0">
                <a:solidFill>
                  <a:srgbClr val="CCFFCC"/>
                </a:solidFill>
                <a:effectLst>
                  <a:outerShdw blurRad="38100" dist="38100" dir="2700000" algn="tl">
                    <a:srgbClr val="000000"/>
                  </a:outerShdw>
                </a:effectLst>
                <a:latin typeface="Times New Roman" pitchFamily="18" charset="0"/>
              </a:rPr>
              <a:t>传递函数依赖</a:t>
            </a:r>
          </a:p>
        </p:txBody>
      </p:sp>
      <p:sp>
        <p:nvSpPr>
          <p:cNvPr id="1556498" name="Rectangle 18"/>
          <p:cNvSpPr>
            <a:spLocks noChangeArrowheads="1"/>
          </p:cNvSpPr>
          <p:nvPr/>
        </p:nvSpPr>
        <p:spPr bwMode="auto">
          <a:xfrm>
            <a:off x="3492500" y="3644032"/>
            <a:ext cx="3240088" cy="738664"/>
          </a:xfrm>
          <a:prstGeom prst="rect">
            <a:avLst/>
          </a:prstGeom>
          <a:noFill/>
          <a:ln w="12700" cap="sq">
            <a:noFill/>
            <a:miter lim="800000"/>
            <a:headEnd/>
            <a:tailEnd/>
          </a:ln>
          <a:effectLst/>
        </p:spPr>
        <p:txBody>
          <a:bodyPr lIns="0" tIns="0" rIns="0" bIns="0">
            <a:spAutoFit/>
          </a:bodyPr>
          <a:lstStyle/>
          <a:p>
            <a:pPr>
              <a:spcAft>
                <a:spcPct val="0"/>
              </a:spcAft>
              <a:buSzTx/>
              <a:buFontTx/>
              <a:buNone/>
              <a:defRPr/>
            </a:pPr>
            <a:r>
              <a:rPr kumimoji="0" lang="zh-CN" altLang="en-US" sz="2400" dirty="0">
                <a:solidFill>
                  <a:srgbClr val="CCFFCC"/>
                </a:solidFill>
                <a:effectLst>
                  <a:outerShdw blurRad="38100" dist="38100" dir="2700000" algn="tl">
                    <a:srgbClr val="000000"/>
                  </a:outerShdw>
                </a:effectLst>
                <a:latin typeface="Times New Roman" pitchFamily="18" charset="0"/>
              </a:rPr>
              <a:t>消除主属性对</a:t>
            </a:r>
            <a:r>
              <a:rPr kumimoji="0" lang="zh-CN" altLang="en-US" sz="2400" dirty="0" smtClean="0">
                <a:solidFill>
                  <a:srgbClr val="CCFFCC"/>
                </a:solidFill>
                <a:effectLst>
                  <a:outerShdw blurRad="38100" dist="38100" dir="2700000" algn="tl">
                    <a:srgbClr val="000000"/>
                  </a:outerShdw>
                </a:effectLst>
                <a:latin typeface="Times New Roman" pitchFamily="18" charset="0"/>
              </a:rPr>
              <a:t>候选键的</a:t>
            </a:r>
            <a:r>
              <a:rPr kumimoji="0" lang="zh-CN" altLang="en-US" sz="2400" dirty="0">
                <a:solidFill>
                  <a:srgbClr val="CCFFCC"/>
                </a:solidFill>
                <a:effectLst>
                  <a:outerShdw blurRad="38100" dist="38100" dir="2700000" algn="tl">
                    <a:srgbClr val="000000"/>
                  </a:outerShdw>
                </a:effectLst>
                <a:latin typeface="Times New Roman" pitchFamily="18" charset="0"/>
              </a:rPr>
              <a:t>部分和传递函数依赖</a:t>
            </a:r>
          </a:p>
        </p:txBody>
      </p:sp>
      <p:sp>
        <p:nvSpPr>
          <p:cNvPr id="1556499" name="Rectangle 19"/>
          <p:cNvSpPr>
            <a:spLocks noChangeArrowheads="1"/>
          </p:cNvSpPr>
          <p:nvPr/>
        </p:nvSpPr>
        <p:spPr bwMode="auto">
          <a:xfrm>
            <a:off x="3132138" y="4820369"/>
            <a:ext cx="5256212" cy="365125"/>
          </a:xfrm>
          <a:prstGeom prst="rect">
            <a:avLst/>
          </a:prstGeom>
          <a:noFill/>
          <a:ln w="12700" cap="sq">
            <a:noFill/>
            <a:miter lim="800000"/>
            <a:headEnd/>
            <a:tailEnd/>
          </a:ln>
          <a:effectLst/>
        </p:spPr>
        <p:txBody>
          <a:bodyPr lIns="0" tIns="0" rIns="0" bIns="0">
            <a:spAutoFit/>
          </a:bodyPr>
          <a:lstStyle/>
          <a:p>
            <a:pPr>
              <a:spcAft>
                <a:spcPct val="0"/>
              </a:spcAft>
              <a:buSzTx/>
              <a:buFontTx/>
              <a:buNone/>
              <a:defRPr/>
            </a:pPr>
            <a:r>
              <a:rPr kumimoji="0" lang="zh-CN" altLang="en-US" sz="2400">
                <a:solidFill>
                  <a:srgbClr val="CCFFCC"/>
                </a:solidFill>
                <a:effectLst>
                  <a:outerShdw blurRad="38100" dist="38100" dir="2700000" algn="tl">
                    <a:srgbClr val="000000"/>
                  </a:outerShdw>
                </a:effectLst>
                <a:latin typeface="Times New Roman" pitchFamily="18" charset="0"/>
              </a:rPr>
              <a:t>消除非平凡且非函数依赖的多值依赖</a:t>
            </a:r>
          </a:p>
        </p:txBody>
      </p:sp>
      <p:sp>
        <p:nvSpPr>
          <p:cNvPr id="1556500" name="Rectangle 20"/>
          <p:cNvSpPr>
            <a:spLocks noChangeArrowheads="1"/>
          </p:cNvSpPr>
          <p:nvPr/>
        </p:nvSpPr>
        <p:spPr bwMode="auto">
          <a:xfrm>
            <a:off x="3132138" y="5660157"/>
            <a:ext cx="5183187" cy="369332"/>
          </a:xfrm>
          <a:prstGeom prst="rect">
            <a:avLst/>
          </a:prstGeom>
          <a:noFill/>
          <a:ln w="12700" cap="sq">
            <a:noFill/>
            <a:miter lim="800000"/>
            <a:headEnd/>
            <a:tailEnd/>
          </a:ln>
          <a:effectLst/>
        </p:spPr>
        <p:txBody>
          <a:bodyPr lIns="0" tIns="0" rIns="0" bIns="0">
            <a:spAutoFit/>
          </a:bodyPr>
          <a:lstStyle/>
          <a:p>
            <a:pPr>
              <a:spcAft>
                <a:spcPct val="0"/>
              </a:spcAft>
              <a:buSzTx/>
              <a:buFontTx/>
              <a:buNone/>
              <a:defRPr/>
            </a:pPr>
            <a:r>
              <a:rPr kumimoji="0" lang="zh-CN" altLang="en-US" sz="2400" dirty="0">
                <a:solidFill>
                  <a:srgbClr val="CCFFCC"/>
                </a:solidFill>
                <a:effectLst>
                  <a:outerShdw blurRad="38100" dist="38100" dir="2700000" algn="tl">
                    <a:srgbClr val="000000"/>
                  </a:outerShdw>
                </a:effectLst>
                <a:latin typeface="Times New Roman" pitchFamily="18" charset="0"/>
              </a:rPr>
              <a:t>消除不是由</a:t>
            </a:r>
            <a:r>
              <a:rPr kumimoji="0" lang="zh-CN" altLang="en-US" sz="2400" dirty="0" smtClean="0">
                <a:solidFill>
                  <a:srgbClr val="CCFFCC"/>
                </a:solidFill>
                <a:effectLst>
                  <a:outerShdw blurRad="38100" dist="38100" dir="2700000" algn="tl">
                    <a:srgbClr val="000000"/>
                  </a:outerShdw>
                </a:effectLst>
                <a:latin typeface="Times New Roman" pitchFamily="18" charset="0"/>
              </a:rPr>
              <a:t>候选键所</a:t>
            </a:r>
            <a:r>
              <a:rPr kumimoji="0" lang="zh-CN" altLang="en-US" sz="2400" dirty="0">
                <a:solidFill>
                  <a:srgbClr val="CCFFCC"/>
                </a:solidFill>
                <a:effectLst>
                  <a:outerShdw blurRad="38100" dist="38100" dir="2700000" algn="tl">
                    <a:srgbClr val="000000"/>
                  </a:outerShdw>
                </a:effectLst>
                <a:latin typeface="Times New Roman" pitchFamily="18" charset="0"/>
              </a:rPr>
              <a:t>蕴含的连接依赖</a:t>
            </a:r>
          </a:p>
        </p:txBody>
      </p:sp>
      <p:sp>
        <p:nvSpPr>
          <p:cNvPr id="1556501" name="Rectangle 21"/>
          <p:cNvSpPr>
            <a:spLocks noChangeArrowheads="1"/>
          </p:cNvSpPr>
          <p:nvPr/>
        </p:nvSpPr>
        <p:spPr bwMode="auto">
          <a:xfrm>
            <a:off x="468313" y="1915244"/>
            <a:ext cx="1366837" cy="1846659"/>
          </a:xfrm>
          <a:prstGeom prst="rect">
            <a:avLst/>
          </a:prstGeom>
          <a:noFill/>
          <a:ln w="12700" cap="sq">
            <a:noFill/>
            <a:miter lim="800000"/>
            <a:headEnd/>
            <a:tailEnd/>
          </a:ln>
          <a:effectLst/>
        </p:spPr>
        <p:txBody>
          <a:bodyPr lIns="0" tIns="0" rIns="0" bIns="0">
            <a:spAutoFit/>
          </a:bodyPr>
          <a:lstStyle/>
          <a:p>
            <a:pPr eaLnBrk="0" hangingPunct="0">
              <a:spcAft>
                <a:spcPct val="0"/>
              </a:spcAft>
              <a:buSzTx/>
              <a:buFontTx/>
              <a:buNone/>
              <a:defRPr/>
            </a:pPr>
            <a:r>
              <a:rPr kumimoji="0" lang="zh-CN" altLang="en-US" sz="2400" dirty="0">
                <a:solidFill>
                  <a:srgbClr val="CCFFCC"/>
                </a:solidFill>
                <a:effectLst>
                  <a:outerShdw blurRad="38100" dist="38100" dir="2700000" algn="tl">
                    <a:srgbClr val="000000"/>
                  </a:outerShdw>
                </a:effectLst>
                <a:latin typeface="Times New Roman" pitchFamily="18" charset="0"/>
              </a:rPr>
              <a:t>消除决定因子不包含</a:t>
            </a:r>
            <a:r>
              <a:rPr kumimoji="0" lang="zh-CN" altLang="en-US" sz="2400" dirty="0" smtClean="0">
                <a:solidFill>
                  <a:srgbClr val="CCFFCC"/>
                </a:solidFill>
                <a:effectLst>
                  <a:outerShdw blurRad="38100" dist="38100" dir="2700000" algn="tl">
                    <a:srgbClr val="000000"/>
                  </a:outerShdw>
                </a:effectLst>
                <a:latin typeface="Times New Roman" pitchFamily="18" charset="0"/>
              </a:rPr>
              <a:t>候选键的</a:t>
            </a:r>
            <a:r>
              <a:rPr kumimoji="0" lang="zh-CN" altLang="en-US" sz="2400" dirty="0">
                <a:solidFill>
                  <a:srgbClr val="CCFFCC"/>
                </a:solidFill>
                <a:effectLst>
                  <a:outerShdw blurRad="38100" dist="38100" dir="2700000" algn="tl">
                    <a:srgbClr val="000000"/>
                  </a:outerShdw>
                </a:effectLst>
                <a:latin typeface="Times New Roman" pitchFamily="18" charset="0"/>
              </a:rPr>
              <a:t>非平凡函数依赖</a:t>
            </a:r>
          </a:p>
        </p:txBody>
      </p:sp>
      <p:sp>
        <p:nvSpPr>
          <p:cNvPr id="1556502" name="Rectangle 22"/>
          <p:cNvSpPr>
            <a:spLocks noChangeArrowheads="1"/>
          </p:cNvSpPr>
          <p:nvPr/>
        </p:nvSpPr>
        <p:spPr bwMode="auto">
          <a:xfrm>
            <a:off x="468313" y="4941019"/>
            <a:ext cx="1584325" cy="1293813"/>
          </a:xfrm>
          <a:prstGeom prst="rect">
            <a:avLst/>
          </a:prstGeom>
          <a:solidFill>
            <a:srgbClr val="3333FF"/>
          </a:solidFill>
          <a:ln w="12700" cap="sq" algn="ctr">
            <a:solidFill>
              <a:schemeClr val="folHlink"/>
            </a:solidFill>
            <a:miter lim="800000"/>
            <a:headEnd/>
            <a:tailEnd/>
          </a:ln>
          <a:effectLst>
            <a:outerShdw dist="107763" dir="2700000" algn="ctr" rotWithShape="0">
              <a:schemeClr val="bg2">
                <a:alpha val="50000"/>
              </a:schemeClr>
            </a:outerShdw>
          </a:effectLst>
        </p:spPr>
        <p:txBody>
          <a:bodyPr lIns="0" tIns="0" rIns="0" bIns="0" anchor="ctr">
            <a:spAutoFit/>
          </a:bodyPr>
          <a:lstStyle/>
          <a:p>
            <a:pPr algn="ctr">
              <a:spcAft>
                <a:spcPct val="0"/>
              </a:spcAft>
              <a:buSzTx/>
              <a:buFontTx/>
              <a:buNone/>
              <a:defRPr/>
            </a:pPr>
            <a:r>
              <a:rPr lang="zh-CN" altLang="en-US" sz="2800">
                <a:solidFill>
                  <a:schemeClr val="folHlink"/>
                </a:solidFill>
                <a:effectLst>
                  <a:outerShdw blurRad="38100" dist="38100" dir="2700000" algn="tl">
                    <a:srgbClr val="000000"/>
                  </a:outerShdw>
                </a:effectLst>
                <a:latin typeface="Times New Roman" pitchFamily="18" charset="0"/>
              </a:rPr>
              <a:t>全面衡量</a:t>
            </a:r>
          </a:p>
          <a:p>
            <a:pPr algn="ctr">
              <a:spcAft>
                <a:spcPct val="0"/>
              </a:spcAft>
              <a:buSzTx/>
              <a:buFontTx/>
              <a:buNone/>
              <a:defRPr/>
            </a:pPr>
            <a:r>
              <a:rPr lang="zh-CN" altLang="en-US" sz="2800">
                <a:solidFill>
                  <a:schemeClr val="folHlink"/>
                </a:solidFill>
                <a:effectLst>
                  <a:outerShdw blurRad="38100" dist="38100" dir="2700000" algn="tl">
                    <a:srgbClr val="000000"/>
                  </a:outerShdw>
                </a:effectLst>
                <a:latin typeface="Times New Roman" pitchFamily="18" charset="0"/>
              </a:rPr>
              <a:t>综合考虑</a:t>
            </a:r>
          </a:p>
          <a:p>
            <a:pPr algn="ctr">
              <a:spcAft>
                <a:spcPct val="0"/>
              </a:spcAft>
              <a:buSzTx/>
              <a:buFontTx/>
              <a:buNone/>
              <a:defRPr/>
            </a:pPr>
            <a:r>
              <a:rPr lang="zh-CN" altLang="en-US" sz="2800">
                <a:solidFill>
                  <a:schemeClr val="folHlink"/>
                </a:solidFill>
                <a:effectLst>
                  <a:outerShdw blurRad="38100" dist="38100" dir="2700000" algn="tl">
                    <a:srgbClr val="000000"/>
                  </a:outerShdw>
                </a:effectLst>
                <a:latin typeface="Times New Roman" pitchFamily="18" charset="0"/>
              </a:rPr>
              <a:t>结合实际</a:t>
            </a:r>
          </a:p>
        </p:txBody>
      </p:sp>
      <p:sp>
        <p:nvSpPr>
          <p:cNvPr id="1556503" name="Rectangle 23"/>
          <p:cNvSpPr>
            <a:spLocks noChangeArrowheads="1"/>
          </p:cNvSpPr>
          <p:nvPr/>
        </p:nvSpPr>
        <p:spPr bwMode="auto">
          <a:xfrm>
            <a:off x="4427538" y="1053232"/>
            <a:ext cx="4176712" cy="439737"/>
          </a:xfrm>
          <a:prstGeom prst="rect">
            <a:avLst/>
          </a:prstGeom>
          <a:solidFill>
            <a:srgbClr val="3333FF"/>
          </a:solidFill>
          <a:ln w="12700" cap="sq" algn="ctr">
            <a:solidFill>
              <a:schemeClr val="folHlink"/>
            </a:solidFill>
            <a:miter lim="800000"/>
            <a:headEnd/>
            <a:tailEnd/>
          </a:ln>
          <a:effectLst>
            <a:outerShdw dist="107763" dir="2700000" algn="ctr" rotWithShape="0">
              <a:schemeClr val="bg2">
                <a:alpha val="50000"/>
              </a:schemeClr>
            </a:outerShdw>
          </a:effectLst>
        </p:spPr>
        <p:txBody>
          <a:bodyPr lIns="0" tIns="0" rIns="0" bIns="0" anchor="ctr">
            <a:spAutoFit/>
          </a:bodyPr>
          <a:lstStyle/>
          <a:p>
            <a:pPr algn="ctr">
              <a:spcAft>
                <a:spcPct val="0"/>
              </a:spcAft>
              <a:buSzTx/>
              <a:buFontTx/>
              <a:buNone/>
              <a:defRPr/>
            </a:pPr>
            <a:r>
              <a:rPr lang="zh-CN" altLang="en-US" sz="2800">
                <a:solidFill>
                  <a:schemeClr val="folHlink"/>
                </a:solidFill>
                <a:effectLst>
                  <a:outerShdw blurRad="38100" dist="38100" dir="2700000" algn="tl">
                    <a:srgbClr val="000000"/>
                  </a:outerShdw>
                </a:effectLst>
                <a:latin typeface="Times New Roman" pitchFamily="18" charset="0"/>
              </a:rPr>
              <a:t>并非规范化级别越高越好</a:t>
            </a: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2451" name="Rectangle 3"/>
          <p:cNvSpPr>
            <a:spLocks noGrp="1" noChangeArrowheads="1"/>
          </p:cNvSpPr>
          <p:nvPr>
            <p:ph type="title"/>
          </p:nvPr>
        </p:nvSpPr>
        <p:spPr>
          <a:xfrm>
            <a:off x="15875" y="0"/>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ea typeface="微软雅黑" pitchFamily="34" charset="-122"/>
              </a:rPr>
              <a:t>关系模式的分解</a:t>
            </a:r>
          </a:p>
        </p:txBody>
      </p:sp>
      <p:sp>
        <p:nvSpPr>
          <p:cNvPr id="1512452" name="Rectangle 4"/>
          <p:cNvSpPr>
            <a:spLocks noGrp="1" noChangeArrowheads="1"/>
          </p:cNvSpPr>
          <p:nvPr>
            <p:ph type="body" idx="1"/>
          </p:nvPr>
        </p:nvSpPr>
        <p:spPr>
          <a:xfrm>
            <a:off x="28956" y="1167359"/>
            <a:ext cx="8647112" cy="647700"/>
          </a:xfrm>
        </p:spPr>
        <p:txBody>
          <a:bodyPr/>
          <a:lstStyle/>
          <a:p>
            <a:pPr marL="358775" indent="-358775" algn="just">
              <a:lnSpc>
                <a:spcPct val="120000"/>
              </a:lnSpc>
              <a:spcAft>
                <a:spcPct val="0"/>
              </a:spcAft>
              <a:buFont typeface="Wingdings" pitchFamily="2" charset="2"/>
              <a:buNone/>
              <a:defRPr/>
            </a:pPr>
            <a:r>
              <a:rPr lang="zh-CN" altLang="en-US" sz="2800" dirty="0">
                <a:latin typeface="楷体_GB2312" pitchFamily="49" charset="-122"/>
              </a:rPr>
              <a:t>	设有关系模式</a:t>
            </a:r>
            <a:r>
              <a:rPr lang="en-US" altLang="zh-CN" sz="2800" dirty="0">
                <a:latin typeface="楷体_GB2312" pitchFamily="49" charset="-122"/>
              </a:rPr>
              <a:t>R(U,F)</a:t>
            </a:r>
            <a:r>
              <a:rPr lang="zh-CN" altLang="en-US" sz="2800" dirty="0">
                <a:latin typeface="楷体_GB2312" pitchFamily="49" charset="-122"/>
              </a:rPr>
              <a:t>，则称</a:t>
            </a:r>
            <a:r>
              <a:rPr lang="en-US" altLang="zh-CN" sz="2800" i="1" dirty="0">
                <a:latin typeface="楷体_GB2312" pitchFamily="49" charset="-122"/>
              </a:rPr>
              <a:t>ρ</a:t>
            </a:r>
            <a:r>
              <a:rPr lang="en-US" altLang="zh-CN" sz="2800" dirty="0">
                <a:latin typeface="楷体_GB2312" pitchFamily="49" charset="-122"/>
              </a:rPr>
              <a:t>={R</a:t>
            </a:r>
            <a:r>
              <a:rPr lang="en-US" altLang="zh-CN" sz="2800" baseline="-30000" dirty="0">
                <a:latin typeface="楷体_GB2312" pitchFamily="49" charset="-122"/>
              </a:rPr>
              <a:t>1</a:t>
            </a:r>
            <a:r>
              <a:rPr lang="en-US" altLang="zh-CN" sz="2800" dirty="0">
                <a:latin typeface="楷体_GB2312" pitchFamily="49" charset="-122"/>
              </a:rPr>
              <a:t>(U</a:t>
            </a:r>
            <a:r>
              <a:rPr lang="en-US" altLang="zh-CN" sz="2800" baseline="-30000" dirty="0">
                <a:latin typeface="楷体_GB2312" pitchFamily="49" charset="-122"/>
              </a:rPr>
              <a:t>1</a:t>
            </a:r>
            <a:r>
              <a:rPr lang="en-US" altLang="zh-CN" sz="2800" dirty="0">
                <a:latin typeface="楷体_GB2312" pitchFamily="49" charset="-122"/>
              </a:rPr>
              <a:t>),R</a:t>
            </a:r>
            <a:r>
              <a:rPr lang="en-US" altLang="zh-CN" sz="2800" baseline="-30000" dirty="0">
                <a:latin typeface="楷体_GB2312" pitchFamily="49" charset="-122"/>
              </a:rPr>
              <a:t>2</a:t>
            </a:r>
            <a:r>
              <a:rPr lang="en-US" altLang="zh-CN" sz="2800" dirty="0">
                <a:latin typeface="楷体_GB2312" pitchFamily="49" charset="-122"/>
              </a:rPr>
              <a:t>(U</a:t>
            </a:r>
            <a:r>
              <a:rPr lang="en-US" altLang="zh-CN" sz="2800" baseline="-30000" dirty="0">
                <a:latin typeface="楷体_GB2312" pitchFamily="49" charset="-122"/>
              </a:rPr>
              <a:t>2</a:t>
            </a:r>
            <a:r>
              <a:rPr lang="en-US" altLang="zh-CN" sz="2800" dirty="0">
                <a:latin typeface="楷体_GB2312" pitchFamily="49" charset="-122"/>
              </a:rPr>
              <a:t>),</a:t>
            </a:r>
            <a:r>
              <a:rPr lang="en-US" altLang="zh-CN" sz="2800" dirty="0"/>
              <a:t>…</a:t>
            </a:r>
            <a:r>
              <a:rPr lang="en-US" altLang="zh-CN" sz="2800" dirty="0">
                <a:latin typeface="楷体_GB2312" pitchFamily="49" charset="-122"/>
              </a:rPr>
              <a:t>, </a:t>
            </a:r>
            <a:r>
              <a:rPr lang="en-US" altLang="zh-CN" sz="2800" dirty="0" err="1">
                <a:latin typeface="楷体_GB2312" pitchFamily="49" charset="-122"/>
              </a:rPr>
              <a:t>R</a:t>
            </a:r>
            <a:r>
              <a:rPr lang="en-US" altLang="zh-CN" sz="2800" baseline="-30000" dirty="0" err="1">
                <a:latin typeface="楷体_GB2312" pitchFamily="49" charset="-122"/>
              </a:rPr>
              <a:t>k</a:t>
            </a:r>
            <a:r>
              <a:rPr lang="en-US" altLang="zh-CN" sz="2800" dirty="0">
                <a:latin typeface="楷体_GB2312" pitchFamily="49" charset="-122"/>
              </a:rPr>
              <a:t>(</a:t>
            </a:r>
            <a:r>
              <a:rPr lang="en-US" altLang="zh-CN" sz="2800" dirty="0" err="1">
                <a:latin typeface="楷体_GB2312" pitchFamily="49" charset="-122"/>
              </a:rPr>
              <a:t>U</a:t>
            </a:r>
            <a:r>
              <a:rPr lang="en-US" altLang="zh-CN" sz="2800" baseline="-30000" dirty="0" err="1">
                <a:latin typeface="楷体_GB2312" pitchFamily="49" charset="-122"/>
              </a:rPr>
              <a:t>k</a:t>
            </a:r>
            <a:r>
              <a:rPr lang="en-US" altLang="zh-CN" sz="2800" dirty="0">
                <a:latin typeface="楷体_GB2312" pitchFamily="49" charset="-122"/>
              </a:rPr>
              <a:t>)}</a:t>
            </a:r>
            <a:r>
              <a:rPr lang="zh-CN" altLang="en-US" sz="2800" dirty="0">
                <a:latin typeface="楷体_GB2312" pitchFamily="49" charset="-122"/>
              </a:rPr>
              <a:t>为</a:t>
            </a:r>
            <a:r>
              <a:rPr lang="en-US" altLang="zh-CN" sz="2800" dirty="0">
                <a:latin typeface="楷体_GB2312" pitchFamily="49" charset="-122"/>
              </a:rPr>
              <a:t>R</a:t>
            </a:r>
            <a:r>
              <a:rPr lang="zh-CN" altLang="en-US" sz="2800" dirty="0">
                <a:latin typeface="楷体_GB2312" pitchFamily="49" charset="-122"/>
              </a:rPr>
              <a:t>的一个</a:t>
            </a:r>
            <a:r>
              <a:rPr lang="zh-CN" altLang="en-US" sz="2800" dirty="0">
                <a:solidFill>
                  <a:srgbClr val="FFFF00"/>
                </a:solidFill>
                <a:latin typeface="楷体_GB2312" pitchFamily="49" charset="-122"/>
              </a:rPr>
              <a:t>分解</a:t>
            </a:r>
            <a:r>
              <a:rPr lang="zh-CN" altLang="en-US" sz="2800" dirty="0">
                <a:latin typeface="楷体_GB2312" pitchFamily="49" charset="-122"/>
              </a:rPr>
              <a:t>，其中</a:t>
            </a:r>
            <a:r>
              <a:rPr lang="en-US" altLang="zh-CN" sz="2800" dirty="0">
                <a:latin typeface="楷体_GB2312" pitchFamily="49" charset="-122"/>
              </a:rPr>
              <a:t>U</a:t>
            </a:r>
            <a:r>
              <a:rPr lang="zh-CN" altLang="en-US" sz="2800" dirty="0">
                <a:latin typeface="楷体_GB2312" pitchFamily="49" charset="-122"/>
              </a:rPr>
              <a:t>＝</a:t>
            </a:r>
            <a:r>
              <a:rPr lang="en-US" altLang="zh-CN" sz="2800" dirty="0">
                <a:latin typeface="楷体_GB2312" pitchFamily="49" charset="-122"/>
              </a:rPr>
              <a:t>U</a:t>
            </a:r>
            <a:r>
              <a:rPr lang="en-US" altLang="zh-CN" sz="2800" baseline="-30000" dirty="0">
                <a:latin typeface="楷体_GB2312" pitchFamily="49" charset="-122"/>
              </a:rPr>
              <a:t>1</a:t>
            </a:r>
            <a:r>
              <a:rPr lang="en-US" altLang="zh-CN" sz="2800" dirty="0">
                <a:latin typeface="楷体_GB2312" pitchFamily="49" charset="-122"/>
              </a:rPr>
              <a:t>∪U</a:t>
            </a:r>
            <a:r>
              <a:rPr lang="en-US" altLang="zh-CN" sz="2800" baseline="-30000" dirty="0">
                <a:latin typeface="楷体_GB2312" pitchFamily="49" charset="-122"/>
              </a:rPr>
              <a:t>2</a:t>
            </a:r>
            <a:r>
              <a:rPr lang="en-US" altLang="zh-CN" sz="2800" dirty="0">
                <a:latin typeface="楷体_GB2312" pitchFamily="49" charset="-122"/>
              </a:rPr>
              <a:t>∪</a:t>
            </a:r>
            <a:r>
              <a:rPr lang="en-US" altLang="zh-CN" sz="2800" dirty="0"/>
              <a:t>…</a:t>
            </a:r>
            <a:r>
              <a:rPr lang="en-US" altLang="zh-CN" sz="2800" dirty="0">
                <a:latin typeface="楷体_GB2312" pitchFamily="49" charset="-122"/>
              </a:rPr>
              <a:t>∪</a:t>
            </a:r>
            <a:r>
              <a:rPr lang="en-US" altLang="zh-CN" sz="2800" dirty="0" err="1">
                <a:latin typeface="楷体_GB2312" pitchFamily="49" charset="-122"/>
              </a:rPr>
              <a:t>U</a:t>
            </a:r>
            <a:r>
              <a:rPr lang="en-US" altLang="zh-CN" sz="2800" baseline="-30000" dirty="0" err="1">
                <a:latin typeface="楷体_GB2312" pitchFamily="49" charset="-122"/>
              </a:rPr>
              <a:t>k</a:t>
            </a:r>
            <a:r>
              <a:rPr lang="zh-CN" altLang="en-US" sz="2800" dirty="0">
                <a:latin typeface="楷体_GB2312" pitchFamily="49" charset="-122"/>
              </a:rPr>
              <a:t>且不存在</a:t>
            </a:r>
            <a:r>
              <a:rPr lang="en-US" altLang="zh-CN" sz="2800" dirty="0" err="1">
                <a:latin typeface="楷体_GB2312" pitchFamily="49" charset="-122"/>
              </a:rPr>
              <a:t>U</a:t>
            </a:r>
            <a:r>
              <a:rPr lang="en-US" altLang="zh-CN" sz="2800" baseline="-25000" dirty="0" err="1">
                <a:latin typeface="楷体_GB2312" pitchFamily="49" charset="-122"/>
              </a:rPr>
              <a:t>i</a:t>
            </a:r>
            <a:r>
              <a:rPr lang="en-US" altLang="zh-CN" sz="2800" dirty="0">
                <a:latin typeface="楷体_GB2312" pitchFamily="49" charset="-122"/>
              </a:rPr>
              <a:t>  </a:t>
            </a:r>
            <a:r>
              <a:rPr lang="en-US" altLang="zh-CN" sz="2800" dirty="0" err="1">
                <a:latin typeface="楷体_GB2312" pitchFamily="49" charset="-122"/>
              </a:rPr>
              <a:t>U</a:t>
            </a:r>
            <a:r>
              <a:rPr lang="en-US" altLang="zh-CN" sz="2800" baseline="-25000" dirty="0" err="1">
                <a:latin typeface="楷体_GB2312" pitchFamily="49" charset="-122"/>
              </a:rPr>
              <a:t>j</a:t>
            </a:r>
            <a:r>
              <a:rPr lang="en-US" altLang="zh-CN" sz="2800" dirty="0">
                <a:latin typeface="楷体_GB2312" pitchFamily="49" charset="-122"/>
              </a:rPr>
              <a:t>(1≤i,j≤k</a:t>
            </a:r>
            <a:r>
              <a:rPr lang="zh-CN" altLang="en-US" sz="2800" dirty="0">
                <a:latin typeface="楷体_GB2312" pitchFamily="49" charset="-122"/>
              </a:rPr>
              <a:t>且</a:t>
            </a:r>
            <a:r>
              <a:rPr lang="en-US" altLang="zh-CN" sz="2800" dirty="0" err="1">
                <a:latin typeface="楷体_GB2312" pitchFamily="49" charset="-122"/>
              </a:rPr>
              <a:t>i≠j</a:t>
            </a:r>
            <a:r>
              <a:rPr lang="en-US" altLang="zh-CN" sz="2800" dirty="0">
                <a:latin typeface="楷体_GB2312" pitchFamily="49" charset="-122"/>
              </a:rPr>
              <a:t>)</a:t>
            </a:r>
            <a:r>
              <a:rPr lang="zh-CN" altLang="en-US" sz="2800" dirty="0">
                <a:latin typeface="楷体_GB2312" pitchFamily="49" charset="-122"/>
              </a:rPr>
              <a:t>。</a:t>
            </a:r>
          </a:p>
        </p:txBody>
      </p:sp>
      <p:sp>
        <p:nvSpPr>
          <p:cNvPr id="1512453" name="Rectangle 5"/>
          <p:cNvSpPr>
            <a:spLocks noChangeArrowheads="1"/>
          </p:cNvSpPr>
          <p:nvPr/>
        </p:nvSpPr>
        <p:spPr bwMode="auto">
          <a:xfrm>
            <a:off x="468313" y="3102009"/>
            <a:ext cx="8064500" cy="647700"/>
          </a:xfrm>
          <a:prstGeom prst="rect">
            <a:avLst/>
          </a:prstGeom>
          <a:noFill/>
          <a:ln w="9525">
            <a:noFill/>
            <a:miter lim="800000"/>
            <a:headEnd/>
            <a:tailEnd/>
          </a:ln>
          <a:effectLst/>
        </p:spPr>
        <p:txBody>
          <a:bodyPr/>
          <a:lstStyle/>
          <a:p>
            <a:pPr>
              <a:buClr>
                <a:srgbClr val="66FF33"/>
              </a:buClr>
              <a:buSzPct val="85000"/>
              <a:defRPr/>
            </a:pPr>
            <a:r>
              <a:rPr kumimoji="0" lang="zh-CN" altLang="en-US" sz="2800" dirty="0">
                <a:solidFill>
                  <a:srgbClr val="CCFF33"/>
                </a:solidFill>
                <a:effectLst>
                  <a:outerShdw blurRad="38100" dist="38100" dir="2700000" algn="tl">
                    <a:srgbClr val="000000"/>
                  </a:outerShdw>
                </a:effectLst>
              </a:rPr>
              <a:t>例如设有关系模式</a:t>
            </a:r>
            <a:r>
              <a:rPr kumimoji="0" lang="en-US" altLang="zh-CN" sz="2800" dirty="0">
                <a:solidFill>
                  <a:srgbClr val="CCFF33"/>
                </a:solidFill>
                <a:effectLst>
                  <a:outerShdw blurRad="38100" dist="38100" dir="2700000" algn="tl">
                    <a:srgbClr val="000000"/>
                  </a:outerShdw>
                </a:effectLst>
              </a:rPr>
              <a:t>R(ABCDE,{A→B,BC→E,D→C})</a:t>
            </a:r>
          </a:p>
          <a:p>
            <a:pPr>
              <a:buClr>
                <a:srgbClr val="66FF33"/>
              </a:buClr>
              <a:buSzPct val="85000"/>
              <a:defRPr/>
            </a:pPr>
            <a:r>
              <a:rPr kumimoji="0" lang="zh-CN" altLang="en-US" sz="2800" dirty="0">
                <a:solidFill>
                  <a:srgbClr val="CCFF33"/>
                </a:solidFill>
                <a:effectLst>
                  <a:outerShdw blurRad="38100" dist="38100" dir="2700000" algn="tl">
                    <a:srgbClr val="000000"/>
                  </a:outerShdw>
                </a:effectLst>
              </a:rPr>
              <a:t>则</a:t>
            </a:r>
            <a:r>
              <a:rPr kumimoji="0" lang="en-US" altLang="zh-CN" sz="2800" dirty="0">
                <a:solidFill>
                  <a:srgbClr val="CCFF33"/>
                </a:solidFill>
                <a:effectLst>
                  <a:outerShdw blurRad="38100" dist="38100" dir="2700000" algn="tl">
                    <a:srgbClr val="000000"/>
                  </a:outerShdw>
                </a:effectLst>
              </a:rPr>
              <a:t>R</a:t>
            </a:r>
            <a:r>
              <a:rPr kumimoji="0" lang="zh-CN" altLang="en-US" sz="2800" dirty="0">
                <a:solidFill>
                  <a:srgbClr val="CCFF33"/>
                </a:solidFill>
                <a:effectLst>
                  <a:outerShdw blurRad="38100" dist="38100" dir="2700000" algn="tl">
                    <a:srgbClr val="000000"/>
                  </a:outerShdw>
                </a:effectLst>
              </a:rPr>
              <a:t>的一个可能的分解</a:t>
            </a:r>
            <a:r>
              <a:rPr kumimoji="0" lang="en-US" altLang="zh-CN" sz="2800" i="1" dirty="0">
                <a:solidFill>
                  <a:srgbClr val="CCFF33"/>
                </a:solidFill>
                <a:effectLst>
                  <a:outerShdw blurRad="38100" dist="38100" dir="2700000" algn="tl">
                    <a:srgbClr val="000000"/>
                  </a:outerShdw>
                </a:effectLst>
              </a:rPr>
              <a:t>ρ</a:t>
            </a:r>
            <a:r>
              <a:rPr kumimoji="0" lang="zh-CN" altLang="en-US" sz="2800" dirty="0">
                <a:solidFill>
                  <a:srgbClr val="CCFF33"/>
                </a:solidFill>
                <a:effectLst>
                  <a:outerShdw blurRad="38100" dist="38100" dir="2700000" algn="tl">
                    <a:srgbClr val="000000"/>
                  </a:outerShdw>
                </a:effectLst>
              </a:rPr>
              <a:t>为：</a:t>
            </a:r>
          </a:p>
        </p:txBody>
      </p:sp>
      <p:sp>
        <p:nvSpPr>
          <p:cNvPr id="1512454" name="Rectangle 6"/>
          <p:cNvSpPr>
            <a:spLocks noChangeArrowheads="1"/>
          </p:cNvSpPr>
          <p:nvPr/>
        </p:nvSpPr>
        <p:spPr bwMode="auto">
          <a:xfrm>
            <a:off x="524833" y="4391887"/>
            <a:ext cx="7921625" cy="427038"/>
          </a:xfrm>
          <a:prstGeom prst="rect">
            <a:avLst/>
          </a:prstGeom>
          <a:noFill/>
          <a:ln w="12700" cap="sq" algn="ctr">
            <a:noFill/>
            <a:miter lim="800000"/>
            <a:headEnd/>
            <a:tailEnd/>
          </a:ln>
          <a:effectLst/>
        </p:spPr>
        <p:txBody>
          <a:bodyPr lIns="0" tIns="0" rIns="0" bIns="0">
            <a:spAutoFit/>
          </a:bodyPr>
          <a:lstStyle/>
          <a:p>
            <a:pPr>
              <a:buSzTx/>
              <a:buFontTx/>
              <a:buNone/>
              <a:defRPr/>
            </a:pPr>
            <a:r>
              <a:rPr kumimoji="0" lang="en-US" altLang="zh-CN" sz="2800" i="1" dirty="0">
                <a:solidFill>
                  <a:srgbClr val="CCFF33"/>
                </a:solidFill>
                <a:effectLst>
                  <a:outerShdw blurRad="38100" dist="38100" dir="2700000" algn="tl">
                    <a:srgbClr val="000000"/>
                  </a:outerShdw>
                </a:effectLst>
              </a:rPr>
              <a:t>ρ </a:t>
            </a:r>
            <a:r>
              <a:rPr kumimoji="0" lang="en-US" altLang="zh-CN" sz="2800" dirty="0">
                <a:solidFill>
                  <a:srgbClr val="CCFF33"/>
                </a:solidFill>
                <a:effectLst>
                  <a:outerShdw blurRad="38100" dist="38100" dir="2700000" algn="tl">
                    <a:srgbClr val="000000"/>
                  </a:outerShdw>
                </a:effectLst>
              </a:rPr>
              <a:t>= {R</a:t>
            </a:r>
            <a:r>
              <a:rPr kumimoji="0" lang="en-US" altLang="zh-CN" sz="2800" baseline="-30000" dirty="0">
                <a:solidFill>
                  <a:srgbClr val="CCFF33"/>
                </a:solidFill>
                <a:effectLst>
                  <a:outerShdw blurRad="38100" dist="38100" dir="2700000" algn="tl">
                    <a:srgbClr val="000000"/>
                  </a:outerShdw>
                </a:effectLst>
              </a:rPr>
              <a:t>1</a:t>
            </a:r>
            <a:r>
              <a:rPr kumimoji="0" lang="en-US" altLang="zh-CN" sz="2800" dirty="0">
                <a:solidFill>
                  <a:srgbClr val="CCFF33"/>
                </a:solidFill>
                <a:effectLst>
                  <a:outerShdw blurRad="38100" dist="38100" dir="2700000" algn="tl">
                    <a:srgbClr val="000000"/>
                  </a:outerShdw>
                </a:effectLst>
              </a:rPr>
              <a:t>(AB),R</a:t>
            </a:r>
            <a:r>
              <a:rPr kumimoji="0" lang="en-US" altLang="zh-CN" sz="2800" baseline="-30000" dirty="0">
                <a:solidFill>
                  <a:srgbClr val="CCFF33"/>
                </a:solidFill>
                <a:effectLst>
                  <a:outerShdw blurRad="38100" dist="38100" dir="2700000" algn="tl">
                    <a:srgbClr val="000000"/>
                  </a:outerShdw>
                </a:effectLst>
              </a:rPr>
              <a:t>2</a:t>
            </a:r>
            <a:r>
              <a:rPr kumimoji="0" lang="en-US" altLang="zh-CN" sz="2800" dirty="0">
                <a:solidFill>
                  <a:srgbClr val="CCFF33"/>
                </a:solidFill>
                <a:effectLst>
                  <a:outerShdw blurRad="38100" dist="38100" dir="2700000" algn="tl">
                    <a:srgbClr val="000000"/>
                  </a:outerShdw>
                </a:effectLst>
              </a:rPr>
              <a:t>(BCE),R</a:t>
            </a:r>
            <a:r>
              <a:rPr kumimoji="0" lang="en-US" altLang="zh-CN" sz="2800" baseline="-30000" dirty="0">
                <a:solidFill>
                  <a:srgbClr val="CCFF33"/>
                </a:solidFill>
                <a:effectLst>
                  <a:outerShdw blurRad="38100" dist="38100" dir="2700000" algn="tl">
                    <a:srgbClr val="000000"/>
                  </a:outerShdw>
                </a:effectLst>
              </a:rPr>
              <a:t>3</a:t>
            </a:r>
            <a:r>
              <a:rPr kumimoji="0" lang="en-US" altLang="zh-CN" sz="2800" dirty="0">
                <a:solidFill>
                  <a:srgbClr val="CCFF33"/>
                </a:solidFill>
                <a:effectLst>
                  <a:outerShdw blurRad="38100" dist="38100" dir="2700000" algn="tl">
                    <a:srgbClr val="000000"/>
                  </a:outerShdw>
                </a:effectLst>
              </a:rPr>
              <a:t>(CD)}</a:t>
            </a:r>
            <a:endParaRPr kumimoji="0" lang="zh-CN" altLang="en-US" sz="2800" dirty="0">
              <a:solidFill>
                <a:srgbClr val="CCFF33"/>
              </a:solidFill>
              <a:effectLst>
                <a:outerShdw blurRad="38100" dist="38100" dir="2700000" algn="tl">
                  <a:srgbClr val="000000"/>
                </a:outerShdw>
              </a:effectLst>
            </a:endParaRPr>
          </a:p>
        </p:txBody>
      </p:sp>
      <p:sp>
        <p:nvSpPr>
          <p:cNvPr id="1512455" name="Rectangle 7"/>
          <p:cNvSpPr>
            <a:spLocks noChangeArrowheads="1"/>
          </p:cNvSpPr>
          <p:nvPr/>
        </p:nvSpPr>
        <p:spPr bwMode="auto">
          <a:xfrm>
            <a:off x="611188" y="5434608"/>
            <a:ext cx="7921625" cy="874712"/>
          </a:xfrm>
          <a:prstGeom prst="rect">
            <a:avLst/>
          </a:prstGeom>
          <a:noFill/>
          <a:ln w="12700" cap="sq" algn="ctr">
            <a:noFill/>
            <a:miter lim="800000"/>
            <a:headEnd/>
            <a:tailEnd/>
          </a:ln>
          <a:effectLst/>
        </p:spPr>
        <p:txBody>
          <a:bodyPr lIns="0" tIns="0" rIns="0" bIns="0">
            <a:spAutoFit/>
          </a:bodyPr>
          <a:lstStyle/>
          <a:p>
            <a:pPr marL="1077913" indent="-1077913">
              <a:spcAft>
                <a:spcPct val="5000"/>
              </a:spcAft>
              <a:buSzTx/>
              <a:buFontTx/>
              <a:buNone/>
              <a:defRPr/>
            </a:pPr>
            <a:r>
              <a:rPr kumimoji="0" lang="zh-CN" altLang="en-US" sz="2800">
                <a:solidFill>
                  <a:srgbClr val="FF9900"/>
                </a:solidFill>
                <a:effectLst>
                  <a:outerShdw blurRad="38100" dist="38100" dir="2700000" algn="tl">
                    <a:srgbClr val="000000"/>
                  </a:outerShdw>
                </a:effectLst>
              </a:rPr>
              <a:t>问题：</a:t>
            </a:r>
            <a:r>
              <a:rPr kumimoji="0" lang="zh-CN" altLang="en-US" sz="2800">
                <a:solidFill>
                  <a:srgbClr val="CCFFCC"/>
                </a:solidFill>
                <a:effectLst>
                  <a:outerShdw blurRad="38100" dist="38100" dir="2700000" algn="tl">
                    <a:srgbClr val="000000"/>
                  </a:outerShdw>
                </a:effectLst>
              </a:rPr>
              <a:t>这个分解能保证不丢失信息吗？</a:t>
            </a:r>
          </a:p>
          <a:p>
            <a:pPr marL="1077913" indent="-1077913">
              <a:spcAft>
                <a:spcPct val="5000"/>
              </a:spcAft>
              <a:buSzTx/>
              <a:buFontTx/>
              <a:buNone/>
              <a:defRPr/>
            </a:pPr>
            <a:r>
              <a:rPr kumimoji="0" lang="zh-CN" altLang="en-US" sz="2800">
                <a:solidFill>
                  <a:srgbClr val="CCFFCC"/>
                </a:solidFill>
                <a:effectLst>
                  <a:outerShdw blurRad="38100" dist="38100" dir="2700000" algn="tl">
                    <a:srgbClr val="000000"/>
                  </a:outerShdw>
                </a:effectLst>
              </a:rPr>
              <a:t>	这个分解能保持原有的函数依赖吗？</a:t>
            </a:r>
          </a:p>
        </p:txBody>
      </p:sp>
      <p:sp>
        <p:nvSpPr>
          <p:cNvPr id="1512456" name="Rectangle 8"/>
          <p:cNvSpPr>
            <a:spLocks noChangeArrowheads="1"/>
          </p:cNvSpPr>
          <p:nvPr/>
        </p:nvSpPr>
        <p:spPr bwMode="auto">
          <a:xfrm>
            <a:off x="1456118" y="2172246"/>
            <a:ext cx="498475" cy="569913"/>
          </a:xfrm>
          <a:prstGeom prst="rect">
            <a:avLst/>
          </a:prstGeom>
          <a:noFill/>
          <a:ln w="12700" cap="sq">
            <a:noFill/>
            <a:miter lim="800000"/>
            <a:headEnd/>
            <a:tailEnd/>
          </a:ln>
          <a:effectLst/>
        </p:spPr>
        <p:txBody>
          <a:bodyPr wrap="none" lIns="72000" tIns="72000" rIns="72000" bIns="72000">
            <a:spAutoFit/>
          </a:bodyPr>
          <a:lstStyle/>
          <a:p>
            <a:pPr>
              <a:spcAft>
                <a:spcPct val="0"/>
              </a:spcAft>
              <a:buSzTx/>
              <a:buFontTx/>
              <a:buNone/>
              <a:defRPr/>
            </a:pPr>
            <a:r>
              <a:rPr lang="en-US" altLang="zh-CN" sz="2800">
                <a:solidFill>
                  <a:srgbClr val="CCFFCC"/>
                </a:solidFill>
                <a:effectLst>
                  <a:outerShdw blurRad="38100" dist="38100" dir="2700000" algn="tl">
                    <a:srgbClr val="000000"/>
                  </a:outerShdw>
                </a:effectLst>
                <a:sym typeface="Symbol" pitchFamily="18" charset="2"/>
              </a:rPr>
              <a:t></a:t>
            </a:r>
            <a:endParaRPr lang="zh-CN" altLang="en-US" sz="2800">
              <a:solidFill>
                <a:srgbClr val="CCFFCC"/>
              </a:solidFill>
              <a:effectLst>
                <a:outerShdw blurRad="38100" dist="38100" dir="2700000" algn="tl">
                  <a:srgbClr val="000000"/>
                </a:outerShdw>
              </a:effectLst>
              <a:sym typeface="Symbol" pitchFamily="18" charset="2"/>
            </a:endParaRP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3475" name="Rectangle 3"/>
          <p:cNvSpPr>
            <a:spLocks noGrp="1" noChangeArrowheads="1"/>
          </p:cNvSpPr>
          <p:nvPr>
            <p:ph type="body" idx="1"/>
          </p:nvPr>
        </p:nvSpPr>
        <p:spPr>
          <a:xfrm>
            <a:off x="148885" y="1251223"/>
            <a:ext cx="8844408" cy="647700"/>
          </a:xfrm>
        </p:spPr>
        <p:txBody>
          <a:bodyPr/>
          <a:lstStyle/>
          <a:p>
            <a:pPr marL="358775" indent="-358775" algn="just">
              <a:lnSpc>
                <a:spcPct val="110000"/>
              </a:lnSpc>
              <a:defRPr/>
            </a:pPr>
            <a:r>
              <a:rPr lang="zh-CN" altLang="en-US" sz="2800" dirty="0">
                <a:latin typeface="楷体_GB2312" pitchFamily="49" charset="-122"/>
              </a:rPr>
              <a:t>设</a:t>
            </a:r>
            <a:r>
              <a:rPr lang="en-US" altLang="zh-CN" sz="2800" i="1" dirty="0">
                <a:latin typeface="楷体_GB2312" pitchFamily="49" charset="-122"/>
              </a:rPr>
              <a:t>ρ</a:t>
            </a:r>
            <a:r>
              <a:rPr lang="en-US" altLang="zh-CN" sz="2800" dirty="0">
                <a:latin typeface="楷体_GB2312" pitchFamily="49" charset="-122"/>
              </a:rPr>
              <a:t>={R</a:t>
            </a:r>
            <a:r>
              <a:rPr lang="en-US" altLang="zh-CN" sz="2800" baseline="-30000" dirty="0">
                <a:latin typeface="楷体_GB2312" pitchFamily="49" charset="-122"/>
              </a:rPr>
              <a:t>1</a:t>
            </a:r>
            <a:r>
              <a:rPr lang="en-US" altLang="zh-CN" sz="2800" dirty="0">
                <a:latin typeface="楷体_GB2312" pitchFamily="49" charset="-122"/>
              </a:rPr>
              <a:t>(U</a:t>
            </a:r>
            <a:r>
              <a:rPr lang="en-US" altLang="zh-CN" sz="2800" baseline="-30000" dirty="0">
                <a:latin typeface="楷体_GB2312" pitchFamily="49" charset="-122"/>
              </a:rPr>
              <a:t>1</a:t>
            </a:r>
            <a:r>
              <a:rPr lang="en-US" altLang="zh-CN" sz="2800" dirty="0">
                <a:latin typeface="楷体_GB2312" pitchFamily="49" charset="-122"/>
              </a:rPr>
              <a:t>),R</a:t>
            </a:r>
            <a:r>
              <a:rPr lang="en-US" altLang="zh-CN" sz="2800" baseline="-30000" dirty="0">
                <a:latin typeface="楷体_GB2312" pitchFamily="49" charset="-122"/>
              </a:rPr>
              <a:t>2</a:t>
            </a:r>
            <a:r>
              <a:rPr lang="en-US" altLang="zh-CN" sz="2800" dirty="0">
                <a:latin typeface="楷体_GB2312" pitchFamily="49" charset="-122"/>
              </a:rPr>
              <a:t>(U</a:t>
            </a:r>
            <a:r>
              <a:rPr lang="en-US" altLang="zh-CN" sz="2800" baseline="-30000" dirty="0">
                <a:latin typeface="楷体_GB2312" pitchFamily="49" charset="-122"/>
              </a:rPr>
              <a:t>2</a:t>
            </a:r>
            <a:r>
              <a:rPr lang="en-US" altLang="zh-CN" sz="2800" dirty="0">
                <a:latin typeface="楷体_GB2312" pitchFamily="49" charset="-122"/>
              </a:rPr>
              <a:t>),</a:t>
            </a:r>
            <a:r>
              <a:rPr lang="en-US" altLang="zh-CN" sz="2800" dirty="0"/>
              <a:t>…</a:t>
            </a:r>
            <a:r>
              <a:rPr lang="en-US" altLang="zh-CN" sz="2800" dirty="0">
                <a:latin typeface="楷体_GB2312" pitchFamily="49" charset="-122"/>
              </a:rPr>
              <a:t>,</a:t>
            </a:r>
            <a:r>
              <a:rPr lang="en-US" altLang="zh-CN" sz="2800" dirty="0" err="1">
                <a:latin typeface="楷体_GB2312" pitchFamily="49" charset="-122"/>
              </a:rPr>
              <a:t>R</a:t>
            </a:r>
            <a:r>
              <a:rPr lang="en-US" altLang="zh-CN" sz="2800" baseline="-30000" dirty="0" err="1">
                <a:latin typeface="楷体_GB2312" pitchFamily="49" charset="-122"/>
              </a:rPr>
              <a:t>k</a:t>
            </a:r>
            <a:r>
              <a:rPr lang="en-US" altLang="zh-CN" sz="2800" dirty="0">
                <a:latin typeface="楷体_GB2312" pitchFamily="49" charset="-122"/>
              </a:rPr>
              <a:t>(</a:t>
            </a:r>
            <a:r>
              <a:rPr lang="en-US" altLang="zh-CN" sz="2800" dirty="0" err="1">
                <a:latin typeface="楷体_GB2312" pitchFamily="49" charset="-122"/>
              </a:rPr>
              <a:t>U</a:t>
            </a:r>
            <a:r>
              <a:rPr lang="en-US" altLang="zh-CN" sz="2800" baseline="-30000" dirty="0" err="1">
                <a:latin typeface="楷体_GB2312" pitchFamily="49" charset="-122"/>
              </a:rPr>
              <a:t>k</a:t>
            </a:r>
            <a:r>
              <a:rPr lang="en-US" altLang="zh-CN" sz="2800" dirty="0">
                <a:latin typeface="楷体_GB2312" pitchFamily="49" charset="-122"/>
              </a:rPr>
              <a:t>)}</a:t>
            </a:r>
            <a:r>
              <a:rPr lang="zh-CN" altLang="en-US" sz="2800" dirty="0">
                <a:latin typeface="楷体_GB2312" pitchFamily="49" charset="-122"/>
              </a:rPr>
              <a:t>是关系模式</a:t>
            </a:r>
            <a:r>
              <a:rPr lang="en-US" altLang="zh-CN" sz="2800" dirty="0">
                <a:latin typeface="楷体_GB2312" pitchFamily="49" charset="-122"/>
              </a:rPr>
              <a:t>R(U,F)</a:t>
            </a:r>
            <a:r>
              <a:rPr lang="zh-CN" altLang="en-US" sz="2800" dirty="0">
                <a:latin typeface="楷体_GB2312" pitchFamily="49" charset="-122"/>
              </a:rPr>
              <a:t>的一个分解，若对</a:t>
            </a:r>
            <a:r>
              <a:rPr lang="en-US" altLang="zh-CN" sz="2800" dirty="0">
                <a:latin typeface="楷体_GB2312" pitchFamily="49" charset="-122"/>
              </a:rPr>
              <a:t>R</a:t>
            </a:r>
            <a:r>
              <a:rPr lang="zh-CN" altLang="en-US" sz="2800" dirty="0">
                <a:latin typeface="楷体_GB2312" pitchFamily="49" charset="-122"/>
              </a:rPr>
              <a:t>的每一个满足</a:t>
            </a:r>
            <a:r>
              <a:rPr lang="en-US" altLang="zh-CN" sz="2800" dirty="0">
                <a:latin typeface="楷体_GB2312" pitchFamily="49" charset="-122"/>
              </a:rPr>
              <a:t>F</a:t>
            </a:r>
            <a:r>
              <a:rPr lang="zh-CN" altLang="en-US" sz="2800" dirty="0">
                <a:latin typeface="楷体_GB2312" pitchFamily="49" charset="-122"/>
              </a:rPr>
              <a:t>的具体关系</a:t>
            </a:r>
            <a:r>
              <a:rPr lang="en-US" altLang="zh-CN" sz="2800" dirty="0">
                <a:latin typeface="楷体_GB2312" pitchFamily="49" charset="-122"/>
              </a:rPr>
              <a:t>r</a:t>
            </a:r>
            <a:r>
              <a:rPr lang="zh-CN" altLang="en-US" sz="2800" dirty="0">
                <a:latin typeface="楷体_GB2312" pitchFamily="49" charset="-122"/>
              </a:rPr>
              <a:t>都有：</a:t>
            </a:r>
          </a:p>
        </p:txBody>
      </p:sp>
      <p:grpSp>
        <p:nvGrpSpPr>
          <p:cNvPr id="52228" name="Group 4"/>
          <p:cNvGrpSpPr>
            <a:grpSpLocks/>
          </p:cNvGrpSpPr>
          <p:nvPr/>
        </p:nvGrpSpPr>
        <p:grpSpPr bwMode="auto">
          <a:xfrm>
            <a:off x="1261722" y="2267223"/>
            <a:ext cx="7921625" cy="487362"/>
            <a:chOff x="702" y="1453"/>
            <a:chExt cx="4990" cy="307"/>
          </a:xfrm>
        </p:grpSpPr>
        <p:sp>
          <p:nvSpPr>
            <p:cNvPr id="1513477" name="Rectangle 5"/>
            <p:cNvSpPr>
              <a:spLocks noChangeArrowheads="1"/>
            </p:cNvSpPr>
            <p:nvPr/>
          </p:nvSpPr>
          <p:spPr bwMode="auto">
            <a:xfrm>
              <a:off x="702" y="1453"/>
              <a:ext cx="4990" cy="307"/>
            </a:xfrm>
            <a:prstGeom prst="rect">
              <a:avLst/>
            </a:prstGeom>
            <a:noFill/>
            <a:ln w="12700" cap="sq" algn="ctr">
              <a:noFill/>
              <a:miter lim="800000"/>
              <a:headEnd/>
              <a:tailEnd/>
            </a:ln>
            <a:effectLst/>
          </p:spPr>
          <p:txBody>
            <a:bodyPr lIns="0" tIns="0" rIns="0" bIns="0">
              <a:spAutoFit/>
            </a:bodyPr>
            <a:lstStyle/>
            <a:p>
              <a:pPr>
                <a:buSzTx/>
                <a:buFontTx/>
                <a:buNone/>
                <a:defRPr/>
              </a:pPr>
              <a:r>
                <a:rPr kumimoji="0" lang="en-US" altLang="zh-CN" dirty="0">
                  <a:solidFill>
                    <a:srgbClr val="CCFFCC"/>
                  </a:solidFill>
                  <a:effectLst>
                    <a:outerShdw blurRad="38100" dist="38100" dir="2700000" algn="tl">
                      <a:srgbClr val="000000"/>
                    </a:outerShdw>
                  </a:effectLst>
                </a:rPr>
                <a:t>r = Π</a:t>
              </a:r>
              <a:r>
                <a:rPr kumimoji="0" lang="en-US" altLang="zh-CN" sz="2400" dirty="0">
                  <a:solidFill>
                    <a:srgbClr val="CCFFCC"/>
                  </a:solidFill>
                  <a:effectLst>
                    <a:outerShdw blurRad="38100" dist="38100" dir="2700000" algn="tl">
                      <a:srgbClr val="000000"/>
                    </a:outerShdw>
                  </a:effectLst>
                </a:rPr>
                <a:t>U</a:t>
              </a:r>
              <a:r>
                <a:rPr kumimoji="0" lang="en-US" altLang="zh-CN" sz="2800" baseline="-30000" dirty="0">
                  <a:solidFill>
                    <a:srgbClr val="CCFFCC"/>
                  </a:solidFill>
                  <a:effectLst>
                    <a:outerShdw blurRad="38100" dist="38100" dir="2700000" algn="tl">
                      <a:srgbClr val="000000"/>
                    </a:outerShdw>
                  </a:effectLst>
                </a:rPr>
                <a:t>1</a:t>
              </a:r>
              <a:r>
                <a:rPr kumimoji="0" lang="en-US" altLang="zh-CN" dirty="0">
                  <a:solidFill>
                    <a:srgbClr val="CCFFCC"/>
                  </a:solidFill>
                  <a:effectLst>
                    <a:outerShdw blurRad="38100" dist="38100" dir="2700000" algn="tl">
                      <a:srgbClr val="000000"/>
                    </a:outerShdw>
                  </a:effectLst>
                </a:rPr>
                <a:t>(r)   Π</a:t>
              </a:r>
              <a:r>
                <a:rPr kumimoji="0" lang="en-US" altLang="zh-CN" sz="2400" dirty="0">
                  <a:solidFill>
                    <a:srgbClr val="CCFFCC"/>
                  </a:solidFill>
                  <a:effectLst>
                    <a:outerShdw blurRad="38100" dist="38100" dir="2700000" algn="tl">
                      <a:srgbClr val="000000"/>
                    </a:outerShdw>
                  </a:effectLst>
                </a:rPr>
                <a:t>U</a:t>
              </a:r>
              <a:r>
                <a:rPr kumimoji="0" lang="en-US" altLang="zh-CN" baseline="-30000" dirty="0">
                  <a:solidFill>
                    <a:srgbClr val="CCFFCC"/>
                  </a:solidFill>
                  <a:effectLst>
                    <a:outerShdw blurRad="38100" dist="38100" dir="2700000" algn="tl">
                      <a:srgbClr val="000000"/>
                    </a:outerShdw>
                  </a:effectLst>
                </a:rPr>
                <a:t>2</a:t>
              </a:r>
              <a:r>
                <a:rPr kumimoji="0" lang="en-US" altLang="zh-CN" dirty="0">
                  <a:solidFill>
                    <a:srgbClr val="CCFFCC"/>
                  </a:solidFill>
                  <a:effectLst>
                    <a:outerShdw blurRad="38100" dist="38100" dir="2700000" algn="tl">
                      <a:srgbClr val="000000"/>
                    </a:outerShdw>
                  </a:effectLst>
                </a:rPr>
                <a:t>(r)   </a:t>
              </a:r>
              <a:r>
                <a:rPr kumimoji="0" lang="en-US" altLang="zh-CN" dirty="0">
                  <a:solidFill>
                    <a:srgbClr val="CCFFCC"/>
                  </a:solidFill>
                  <a:effectLst>
                    <a:outerShdw blurRad="38100" dist="38100" dir="2700000" algn="tl">
                      <a:srgbClr val="000000"/>
                    </a:outerShdw>
                  </a:effectLst>
                  <a:latin typeface="Times New Roman"/>
                </a:rPr>
                <a:t>···</a:t>
              </a:r>
              <a:r>
                <a:rPr kumimoji="0" lang="en-US" altLang="zh-CN" dirty="0">
                  <a:solidFill>
                    <a:srgbClr val="CCFFCC"/>
                  </a:solidFill>
                  <a:effectLst>
                    <a:outerShdw blurRad="38100" dist="38100" dir="2700000" algn="tl">
                      <a:srgbClr val="000000"/>
                    </a:outerShdw>
                  </a:effectLst>
                </a:rPr>
                <a:t>   </a:t>
              </a:r>
              <a:r>
                <a:rPr kumimoji="0" lang="en-US" altLang="zh-CN" dirty="0" err="1">
                  <a:solidFill>
                    <a:srgbClr val="CCFFCC"/>
                  </a:solidFill>
                  <a:effectLst>
                    <a:outerShdw blurRad="38100" dist="38100" dir="2700000" algn="tl">
                      <a:srgbClr val="000000"/>
                    </a:outerShdw>
                  </a:effectLst>
                </a:rPr>
                <a:t>Π</a:t>
              </a:r>
              <a:r>
                <a:rPr kumimoji="0" lang="en-US" altLang="zh-CN" sz="2400" dirty="0" err="1">
                  <a:solidFill>
                    <a:srgbClr val="CCFFCC"/>
                  </a:solidFill>
                  <a:effectLst>
                    <a:outerShdw blurRad="38100" dist="38100" dir="2700000" algn="tl">
                      <a:srgbClr val="000000"/>
                    </a:outerShdw>
                  </a:effectLst>
                </a:rPr>
                <a:t>U</a:t>
              </a:r>
              <a:r>
                <a:rPr kumimoji="0" lang="en-US" altLang="zh-CN" baseline="-30000" dirty="0" err="1">
                  <a:solidFill>
                    <a:srgbClr val="CCFFCC"/>
                  </a:solidFill>
                  <a:effectLst>
                    <a:outerShdw blurRad="38100" dist="38100" dir="2700000" algn="tl">
                      <a:srgbClr val="000000"/>
                    </a:outerShdw>
                  </a:effectLst>
                </a:rPr>
                <a:t>k</a:t>
              </a:r>
              <a:r>
                <a:rPr kumimoji="0" lang="en-US" altLang="zh-CN" dirty="0">
                  <a:solidFill>
                    <a:srgbClr val="CCFFCC"/>
                  </a:solidFill>
                  <a:effectLst>
                    <a:outerShdw blurRad="38100" dist="38100" dir="2700000" algn="tl">
                      <a:srgbClr val="000000"/>
                    </a:outerShdw>
                  </a:effectLst>
                </a:rPr>
                <a:t>(r)</a:t>
              </a:r>
              <a:endParaRPr kumimoji="0" lang="zh-CN" altLang="en-US" dirty="0">
                <a:solidFill>
                  <a:srgbClr val="CCFFCC"/>
                </a:solidFill>
                <a:effectLst>
                  <a:outerShdw blurRad="38100" dist="38100" dir="2700000" algn="tl">
                    <a:srgbClr val="000000"/>
                  </a:outerShdw>
                </a:effectLst>
              </a:endParaRPr>
            </a:p>
          </p:txBody>
        </p:sp>
        <p:sp>
          <p:nvSpPr>
            <p:cNvPr id="1513478" name="Freeform 6"/>
            <p:cNvSpPr>
              <a:spLocks/>
            </p:cNvSpPr>
            <p:nvPr/>
          </p:nvSpPr>
          <p:spPr bwMode="auto">
            <a:xfrm>
              <a:off x="2114" y="1528"/>
              <a:ext cx="182" cy="143"/>
            </a:xfrm>
            <a:custGeom>
              <a:avLst/>
              <a:gdLst/>
              <a:ahLst/>
              <a:cxnLst>
                <a:cxn ang="0">
                  <a:pos x="0" y="8"/>
                </a:cxn>
                <a:cxn ang="0">
                  <a:pos x="266" y="174"/>
                </a:cxn>
                <a:cxn ang="0">
                  <a:pos x="266" y="0"/>
                </a:cxn>
                <a:cxn ang="0">
                  <a:pos x="0" y="168"/>
                </a:cxn>
                <a:cxn ang="0">
                  <a:pos x="0" y="8"/>
                </a:cxn>
              </a:cxnLst>
              <a:rect l="0" t="0" r="r" b="b"/>
              <a:pathLst>
                <a:path w="266" h="174">
                  <a:moveTo>
                    <a:pt x="0" y="8"/>
                  </a:moveTo>
                  <a:lnTo>
                    <a:pt x="266" y="174"/>
                  </a:lnTo>
                  <a:lnTo>
                    <a:pt x="266" y="0"/>
                  </a:lnTo>
                  <a:lnTo>
                    <a:pt x="0" y="168"/>
                  </a:lnTo>
                  <a:lnTo>
                    <a:pt x="0" y="8"/>
                  </a:lnTo>
                  <a:close/>
                </a:path>
              </a:pathLst>
            </a:custGeom>
            <a:noFill/>
            <a:ln w="19050" cap="sq" cmpd="sng">
              <a:solidFill>
                <a:srgbClr val="CCFFCC"/>
              </a:solidFill>
              <a:prstDash val="solid"/>
              <a:round/>
              <a:headEnd type="none" w="med" len="med"/>
              <a:tailEnd type="none" w="med" len="med"/>
            </a:ln>
            <a:effectLst/>
          </p:spPr>
          <p:txBody>
            <a:bodyPr lIns="72000" tIns="72000" rIns="72000" bIns="72000"/>
            <a:lstStyle/>
            <a:p>
              <a:pPr>
                <a:defRPr/>
              </a:pPr>
              <a:endParaRPr lang="zh-CN" altLang="en-US"/>
            </a:p>
          </p:txBody>
        </p:sp>
        <p:sp>
          <p:nvSpPr>
            <p:cNvPr id="1513479" name="Freeform 7"/>
            <p:cNvSpPr>
              <a:spLocks/>
            </p:cNvSpPr>
            <p:nvPr/>
          </p:nvSpPr>
          <p:spPr bwMode="auto">
            <a:xfrm>
              <a:off x="3325" y="1528"/>
              <a:ext cx="182" cy="143"/>
            </a:xfrm>
            <a:custGeom>
              <a:avLst/>
              <a:gdLst/>
              <a:ahLst/>
              <a:cxnLst>
                <a:cxn ang="0">
                  <a:pos x="0" y="8"/>
                </a:cxn>
                <a:cxn ang="0">
                  <a:pos x="266" y="174"/>
                </a:cxn>
                <a:cxn ang="0">
                  <a:pos x="266" y="0"/>
                </a:cxn>
                <a:cxn ang="0">
                  <a:pos x="0" y="168"/>
                </a:cxn>
                <a:cxn ang="0">
                  <a:pos x="0" y="8"/>
                </a:cxn>
              </a:cxnLst>
              <a:rect l="0" t="0" r="r" b="b"/>
              <a:pathLst>
                <a:path w="266" h="174">
                  <a:moveTo>
                    <a:pt x="0" y="8"/>
                  </a:moveTo>
                  <a:lnTo>
                    <a:pt x="266" y="174"/>
                  </a:lnTo>
                  <a:lnTo>
                    <a:pt x="266" y="0"/>
                  </a:lnTo>
                  <a:lnTo>
                    <a:pt x="0" y="168"/>
                  </a:lnTo>
                  <a:lnTo>
                    <a:pt x="0" y="8"/>
                  </a:lnTo>
                  <a:close/>
                </a:path>
              </a:pathLst>
            </a:custGeom>
            <a:noFill/>
            <a:ln w="19050" cap="sq" cmpd="sng">
              <a:solidFill>
                <a:srgbClr val="CCFFCC"/>
              </a:solidFill>
              <a:prstDash val="solid"/>
              <a:round/>
              <a:headEnd type="none" w="med" len="med"/>
              <a:tailEnd type="none" w="med" len="med"/>
            </a:ln>
            <a:effectLst/>
          </p:spPr>
          <p:txBody>
            <a:bodyPr lIns="72000" tIns="72000" rIns="72000" bIns="72000"/>
            <a:lstStyle/>
            <a:p>
              <a:pPr>
                <a:defRPr/>
              </a:pPr>
              <a:endParaRPr lang="zh-CN" altLang="en-US"/>
            </a:p>
          </p:txBody>
        </p:sp>
        <p:sp>
          <p:nvSpPr>
            <p:cNvPr id="1513480" name="Freeform 8"/>
            <p:cNvSpPr>
              <a:spLocks/>
            </p:cNvSpPr>
            <p:nvPr/>
          </p:nvSpPr>
          <p:spPr bwMode="auto">
            <a:xfrm>
              <a:off x="3919" y="1528"/>
              <a:ext cx="182" cy="143"/>
            </a:xfrm>
            <a:custGeom>
              <a:avLst/>
              <a:gdLst/>
              <a:ahLst/>
              <a:cxnLst>
                <a:cxn ang="0">
                  <a:pos x="0" y="8"/>
                </a:cxn>
                <a:cxn ang="0">
                  <a:pos x="266" y="174"/>
                </a:cxn>
                <a:cxn ang="0">
                  <a:pos x="266" y="0"/>
                </a:cxn>
                <a:cxn ang="0">
                  <a:pos x="0" y="168"/>
                </a:cxn>
                <a:cxn ang="0">
                  <a:pos x="0" y="8"/>
                </a:cxn>
              </a:cxnLst>
              <a:rect l="0" t="0" r="r" b="b"/>
              <a:pathLst>
                <a:path w="266" h="174">
                  <a:moveTo>
                    <a:pt x="0" y="8"/>
                  </a:moveTo>
                  <a:lnTo>
                    <a:pt x="266" y="174"/>
                  </a:lnTo>
                  <a:lnTo>
                    <a:pt x="266" y="0"/>
                  </a:lnTo>
                  <a:lnTo>
                    <a:pt x="0" y="168"/>
                  </a:lnTo>
                  <a:lnTo>
                    <a:pt x="0" y="8"/>
                  </a:lnTo>
                  <a:close/>
                </a:path>
              </a:pathLst>
            </a:custGeom>
            <a:noFill/>
            <a:ln w="19050" cap="sq" cmpd="sng">
              <a:solidFill>
                <a:srgbClr val="CCFFCC"/>
              </a:solidFill>
              <a:prstDash val="solid"/>
              <a:round/>
              <a:headEnd type="none" w="med" len="med"/>
              <a:tailEnd type="none" w="med" len="med"/>
            </a:ln>
            <a:effectLst/>
          </p:spPr>
          <p:txBody>
            <a:bodyPr lIns="72000" tIns="72000" rIns="72000" bIns="72000"/>
            <a:lstStyle/>
            <a:p>
              <a:pPr>
                <a:defRPr/>
              </a:pPr>
              <a:endParaRPr lang="zh-CN" altLang="en-US"/>
            </a:p>
          </p:txBody>
        </p:sp>
      </p:grpSp>
      <p:sp>
        <p:nvSpPr>
          <p:cNvPr id="1513481" name="Rectangle 9"/>
          <p:cNvSpPr>
            <a:spLocks noChangeArrowheads="1"/>
          </p:cNvSpPr>
          <p:nvPr/>
        </p:nvSpPr>
        <p:spPr bwMode="auto">
          <a:xfrm>
            <a:off x="148885" y="2822848"/>
            <a:ext cx="8647112" cy="647700"/>
          </a:xfrm>
          <a:prstGeom prst="rect">
            <a:avLst/>
          </a:prstGeom>
          <a:noFill/>
          <a:ln w="9525">
            <a:noFill/>
            <a:miter lim="800000"/>
            <a:headEnd/>
            <a:tailEnd/>
          </a:ln>
          <a:effectLst/>
        </p:spPr>
        <p:txBody>
          <a:bodyPr/>
          <a:lstStyle/>
          <a:p>
            <a:pPr marL="358775" indent="-358775" algn="just">
              <a:spcAft>
                <a:spcPct val="40000"/>
              </a:spcAft>
              <a:buClr>
                <a:srgbClr val="66FF33"/>
              </a:buClr>
              <a:buSzPct val="85000"/>
              <a:defRPr/>
            </a:pPr>
            <a:r>
              <a:rPr kumimoji="0" lang="zh-CN" altLang="en-US" sz="2800" dirty="0">
                <a:solidFill>
                  <a:srgbClr val="CCFFCC"/>
                </a:solidFill>
                <a:effectLst>
                  <a:outerShdw blurRad="38100" dist="38100" dir="2700000" algn="tl">
                    <a:srgbClr val="000000"/>
                  </a:outerShdw>
                </a:effectLst>
              </a:rPr>
              <a:t>	则称这个分解</a:t>
            </a:r>
            <a:r>
              <a:rPr kumimoji="0" lang="en-US" altLang="zh-CN" sz="2800" i="1" dirty="0">
                <a:solidFill>
                  <a:srgbClr val="CCFFCC"/>
                </a:solidFill>
                <a:effectLst>
                  <a:outerShdw blurRad="38100" dist="38100" dir="2700000" algn="tl">
                    <a:srgbClr val="000000"/>
                  </a:outerShdw>
                </a:effectLst>
              </a:rPr>
              <a:t>ρ</a:t>
            </a:r>
            <a:r>
              <a:rPr kumimoji="0" lang="zh-CN" altLang="en-US" sz="2800" dirty="0">
                <a:solidFill>
                  <a:srgbClr val="CCFFCC"/>
                </a:solidFill>
                <a:effectLst>
                  <a:outerShdw blurRad="38100" dist="38100" dir="2700000" algn="tl">
                    <a:srgbClr val="000000"/>
                  </a:outerShdw>
                </a:effectLst>
              </a:rPr>
              <a:t>相对于</a:t>
            </a:r>
            <a:r>
              <a:rPr kumimoji="0" lang="en-US" altLang="zh-CN" sz="2800" dirty="0">
                <a:solidFill>
                  <a:srgbClr val="CCFFCC"/>
                </a:solidFill>
                <a:effectLst>
                  <a:outerShdw blurRad="38100" dist="38100" dir="2700000" algn="tl">
                    <a:srgbClr val="000000"/>
                  </a:outerShdw>
                </a:effectLst>
              </a:rPr>
              <a:t>F</a:t>
            </a:r>
            <a:r>
              <a:rPr kumimoji="0" lang="zh-CN" altLang="en-US" sz="2800" dirty="0">
                <a:solidFill>
                  <a:srgbClr val="CCFFCC"/>
                </a:solidFill>
                <a:effectLst>
                  <a:outerShdw blurRad="38100" dist="38100" dir="2700000" algn="tl">
                    <a:srgbClr val="000000"/>
                  </a:outerShdw>
                </a:effectLst>
              </a:rPr>
              <a:t>具有</a:t>
            </a:r>
            <a:r>
              <a:rPr kumimoji="0" lang="zh-CN" altLang="en-US" sz="2800" dirty="0">
                <a:solidFill>
                  <a:srgbClr val="FFFF00"/>
                </a:solidFill>
                <a:effectLst>
                  <a:outerShdw blurRad="38100" dist="38100" dir="2700000" algn="tl">
                    <a:srgbClr val="000000"/>
                  </a:outerShdw>
                </a:effectLst>
              </a:rPr>
              <a:t>无损连接性</a:t>
            </a:r>
            <a:r>
              <a:rPr kumimoji="0" lang="en-US" altLang="zh-CN" sz="2800" dirty="0">
                <a:solidFill>
                  <a:srgbClr val="FFFF00"/>
                </a:solidFill>
                <a:effectLst>
                  <a:outerShdw blurRad="38100" dist="38100" dir="2700000" algn="tl">
                    <a:srgbClr val="000000"/>
                  </a:outerShdw>
                </a:effectLst>
              </a:rPr>
              <a:t>(</a:t>
            </a:r>
            <a:r>
              <a:rPr kumimoji="0" lang="en-US" altLang="zh-CN" sz="2800" i="1" dirty="0">
                <a:solidFill>
                  <a:srgbClr val="FFFF00"/>
                </a:solidFill>
                <a:effectLst>
                  <a:outerShdw blurRad="38100" dist="38100" dir="2700000" algn="tl">
                    <a:srgbClr val="000000"/>
                  </a:outerShdw>
                </a:effectLst>
              </a:rPr>
              <a:t>lossless join decomposition </a:t>
            </a:r>
            <a:r>
              <a:rPr kumimoji="0" lang="en-US" altLang="zh-CN" sz="2800" dirty="0">
                <a:solidFill>
                  <a:srgbClr val="FFFF00"/>
                </a:solidFill>
                <a:effectLst>
                  <a:outerShdw blurRad="38100" dist="38100" dir="2700000" algn="tl">
                    <a:srgbClr val="000000"/>
                  </a:outerShdw>
                </a:effectLst>
              </a:rPr>
              <a:t>)</a:t>
            </a:r>
            <a:r>
              <a:rPr kumimoji="0" lang="zh-CN" altLang="en-US" sz="2800" dirty="0">
                <a:solidFill>
                  <a:srgbClr val="CCFFCC"/>
                </a:solidFill>
                <a:effectLst>
                  <a:outerShdw blurRad="38100" dist="38100" dir="2700000" algn="tl">
                    <a:srgbClr val="000000"/>
                  </a:outerShdw>
                </a:effectLst>
              </a:rPr>
              <a:t>，简称</a:t>
            </a:r>
            <a:r>
              <a:rPr kumimoji="0" lang="en-US" altLang="zh-CN" sz="2800" i="1" dirty="0">
                <a:solidFill>
                  <a:srgbClr val="CCFFCC"/>
                </a:solidFill>
                <a:effectLst>
                  <a:outerShdw blurRad="38100" dist="38100" dir="2700000" algn="tl">
                    <a:srgbClr val="000000"/>
                  </a:outerShdw>
                </a:effectLst>
              </a:rPr>
              <a:t>ρ</a:t>
            </a:r>
            <a:r>
              <a:rPr kumimoji="0" lang="zh-CN" altLang="en-US" sz="2800" dirty="0">
                <a:solidFill>
                  <a:srgbClr val="CCFFCC"/>
                </a:solidFill>
                <a:effectLst>
                  <a:outerShdw blurRad="38100" dist="38100" dir="2700000" algn="tl">
                    <a:srgbClr val="000000"/>
                  </a:outerShdw>
                </a:effectLst>
              </a:rPr>
              <a:t>为</a:t>
            </a:r>
            <a:r>
              <a:rPr kumimoji="0" lang="en-US" altLang="zh-CN" sz="2800" dirty="0">
                <a:solidFill>
                  <a:srgbClr val="CCFFCC"/>
                </a:solidFill>
                <a:effectLst>
                  <a:outerShdw blurRad="38100" dist="38100" dir="2700000" algn="tl">
                    <a:srgbClr val="000000"/>
                  </a:outerShdw>
                </a:effectLst>
              </a:rPr>
              <a:t>R(U,F)</a:t>
            </a:r>
            <a:r>
              <a:rPr kumimoji="0" lang="zh-CN" altLang="en-US" sz="2800" dirty="0">
                <a:solidFill>
                  <a:srgbClr val="CCFFCC"/>
                </a:solidFill>
                <a:effectLst>
                  <a:outerShdw blurRad="38100" dist="38100" dir="2700000" algn="tl">
                    <a:srgbClr val="000000"/>
                  </a:outerShdw>
                </a:effectLst>
              </a:rPr>
              <a:t>的无损连接分解。</a:t>
            </a:r>
            <a:endParaRPr kumimoji="0" lang="en-US" altLang="zh-CN" sz="2800" dirty="0">
              <a:solidFill>
                <a:srgbClr val="CCFFCC"/>
              </a:solidFill>
              <a:effectLst>
                <a:outerShdw blurRad="38100" dist="38100" dir="2700000" algn="tl">
                  <a:srgbClr val="000000"/>
                </a:outerShdw>
              </a:effectLst>
            </a:endParaRPr>
          </a:p>
        </p:txBody>
      </p:sp>
      <p:sp>
        <p:nvSpPr>
          <p:cNvPr id="1513482" name="Rectangle 10"/>
          <p:cNvSpPr>
            <a:spLocks noChangeArrowheads="1"/>
          </p:cNvSpPr>
          <p:nvPr/>
        </p:nvSpPr>
        <p:spPr bwMode="auto">
          <a:xfrm>
            <a:off x="147638" y="5734050"/>
            <a:ext cx="8647112" cy="647700"/>
          </a:xfrm>
          <a:prstGeom prst="rect">
            <a:avLst/>
          </a:prstGeom>
          <a:noFill/>
          <a:ln w="9525">
            <a:noFill/>
            <a:miter lim="800000"/>
            <a:headEnd/>
            <a:tailEnd/>
          </a:ln>
          <a:effectLst/>
        </p:spPr>
        <p:txBody>
          <a:bodyPr/>
          <a:lstStyle/>
          <a:p>
            <a:pPr marL="358775" indent="-358775" algn="just">
              <a:spcAft>
                <a:spcPct val="40000"/>
              </a:spcAft>
              <a:buClr>
                <a:srgbClr val="66FF33"/>
              </a:buClr>
              <a:buSzPct val="85000"/>
              <a:defRPr/>
            </a:pPr>
            <a:r>
              <a:rPr kumimoji="0" lang="zh-CN" altLang="en-US" sz="2800">
                <a:solidFill>
                  <a:schemeClr val="hlink"/>
                </a:solidFill>
                <a:effectLst>
                  <a:outerShdw blurRad="38100" dist="38100" dir="2700000" algn="tl">
                    <a:srgbClr val="000000"/>
                  </a:outerShdw>
                </a:effectLst>
              </a:rPr>
              <a:t>	具有无损连接性的分解能够保证不丢失信息！</a:t>
            </a:r>
            <a:endParaRPr kumimoji="0" lang="en-US" altLang="zh-CN" sz="2800">
              <a:solidFill>
                <a:schemeClr val="hlink"/>
              </a:solidFill>
              <a:effectLst>
                <a:outerShdw blurRad="38100" dist="38100" dir="2700000" algn="tl">
                  <a:srgbClr val="000000"/>
                </a:outerShdw>
              </a:effectLst>
            </a:endParaRPr>
          </a:p>
        </p:txBody>
      </p:sp>
      <p:sp>
        <p:nvSpPr>
          <p:cNvPr id="1513483" name="Rectangle 11"/>
          <p:cNvSpPr>
            <a:spLocks noGrp="1" noChangeArrowheads="1"/>
          </p:cNvSpPr>
          <p:nvPr>
            <p:ph type="title"/>
          </p:nvPr>
        </p:nvSpPr>
        <p:spPr>
          <a:xfrm>
            <a:off x="1782" y="56877"/>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ea typeface="微软雅黑" pitchFamily="34" charset="-122"/>
              </a:rPr>
              <a:t>分解的无损连接性</a:t>
            </a:r>
          </a:p>
        </p:txBody>
      </p:sp>
      <p:sp>
        <p:nvSpPr>
          <p:cNvPr id="1513484" name="Rectangle 12"/>
          <p:cNvSpPr>
            <a:spLocks noChangeArrowheads="1"/>
          </p:cNvSpPr>
          <p:nvPr/>
        </p:nvSpPr>
        <p:spPr bwMode="auto">
          <a:xfrm>
            <a:off x="506413" y="4652963"/>
            <a:ext cx="8386762" cy="647700"/>
          </a:xfrm>
          <a:prstGeom prst="rect">
            <a:avLst/>
          </a:prstGeom>
          <a:noFill/>
          <a:ln w="9525">
            <a:noFill/>
            <a:miter lim="800000"/>
            <a:headEnd/>
            <a:tailEnd/>
          </a:ln>
          <a:effectLst/>
        </p:spPr>
        <p:txBody>
          <a:bodyPr/>
          <a:lstStyle/>
          <a:p>
            <a:pPr algn="just">
              <a:spcAft>
                <a:spcPct val="40000"/>
              </a:spcAft>
              <a:buClr>
                <a:srgbClr val="66FF33"/>
              </a:buClr>
              <a:buSzPct val="85000"/>
              <a:defRPr/>
            </a:pPr>
            <a:r>
              <a:rPr kumimoji="0" lang="zh-CN" altLang="en-US" sz="2800">
                <a:solidFill>
                  <a:srgbClr val="CCFFCC"/>
                </a:solidFill>
                <a:effectLst>
                  <a:outerShdw blurRad="38100" dist="38100" dir="2700000" algn="tl">
                    <a:srgbClr val="000000"/>
                  </a:outerShdw>
                </a:effectLst>
              </a:rPr>
              <a:t>无损连接分解意为分解前的关系</a:t>
            </a:r>
            <a:r>
              <a:rPr kumimoji="0" lang="en-US" altLang="zh-CN" sz="2800">
                <a:solidFill>
                  <a:srgbClr val="CCFFCC"/>
                </a:solidFill>
                <a:effectLst>
                  <a:outerShdw blurRad="38100" dist="38100" dir="2700000" algn="tl">
                    <a:srgbClr val="000000"/>
                  </a:outerShdw>
                </a:effectLst>
              </a:rPr>
              <a:t>r</a:t>
            </a:r>
            <a:r>
              <a:rPr kumimoji="0" lang="zh-CN" altLang="en-US" sz="2800">
                <a:solidFill>
                  <a:srgbClr val="CCFFCC"/>
                </a:solidFill>
                <a:effectLst>
                  <a:outerShdw blurRad="38100" dist="38100" dir="2700000" algn="tl">
                    <a:srgbClr val="000000"/>
                  </a:outerShdw>
                </a:effectLst>
              </a:rPr>
              <a:t>可以由分解后的各关系</a:t>
            </a:r>
            <a:r>
              <a:rPr kumimoji="0" lang="en-US" altLang="zh-CN" sz="2800">
                <a:solidFill>
                  <a:srgbClr val="CCFFCC"/>
                </a:solidFill>
                <a:effectLst>
                  <a:outerShdw blurRad="38100" dist="38100" dir="2700000" algn="tl">
                    <a:srgbClr val="000000"/>
                  </a:outerShdw>
                </a:effectLst>
              </a:rPr>
              <a:t>(</a:t>
            </a:r>
            <a:r>
              <a:rPr kumimoji="0" lang="zh-CN" altLang="en-US" sz="2800">
                <a:solidFill>
                  <a:srgbClr val="CCFFCC"/>
                </a:solidFill>
                <a:effectLst>
                  <a:outerShdw blurRad="38100" dist="38100" dir="2700000" algn="tl">
                    <a:srgbClr val="000000"/>
                  </a:outerShdw>
                </a:effectLst>
              </a:rPr>
              <a:t>即</a:t>
            </a:r>
            <a:r>
              <a:rPr kumimoji="0" lang="en-US" altLang="zh-CN" sz="2800">
                <a:solidFill>
                  <a:srgbClr val="CCFFCC"/>
                </a:solidFill>
                <a:effectLst>
                  <a:outerShdw blurRad="38100" dist="38100" dir="2700000" algn="tl">
                    <a:srgbClr val="000000"/>
                  </a:outerShdw>
                </a:effectLst>
              </a:rPr>
              <a:t>r</a:t>
            </a:r>
            <a:r>
              <a:rPr kumimoji="0" lang="zh-CN" altLang="zh-CN" sz="2800">
                <a:solidFill>
                  <a:srgbClr val="CCFFCC"/>
                </a:solidFill>
                <a:effectLst>
                  <a:outerShdw blurRad="38100" dist="38100" dir="2700000" algn="tl">
                    <a:srgbClr val="000000"/>
                  </a:outerShdw>
                </a:effectLst>
              </a:rPr>
              <a:t>在U</a:t>
            </a:r>
            <a:r>
              <a:rPr kumimoji="0" lang="zh-CN" altLang="zh-CN" sz="2800" baseline="-25000">
                <a:solidFill>
                  <a:srgbClr val="CCFFCC"/>
                </a:solidFill>
                <a:effectLst>
                  <a:outerShdw blurRad="38100" dist="38100" dir="2700000" algn="tl">
                    <a:srgbClr val="000000"/>
                  </a:outerShdw>
                </a:effectLst>
              </a:rPr>
              <a:t>i</a:t>
            </a:r>
            <a:r>
              <a:rPr kumimoji="0" lang="zh-CN" altLang="zh-CN" sz="2800">
                <a:solidFill>
                  <a:srgbClr val="CCFFCC"/>
                </a:solidFill>
                <a:effectLst>
                  <a:outerShdw blurRad="38100" dist="38100" dir="2700000" algn="tl">
                    <a:srgbClr val="000000"/>
                  </a:outerShdw>
                </a:effectLst>
              </a:rPr>
              <a:t>上</a:t>
            </a:r>
            <a:r>
              <a:rPr kumimoji="0" lang="zh-CN" altLang="en-US" sz="2800">
                <a:solidFill>
                  <a:srgbClr val="CCFFCC"/>
                </a:solidFill>
                <a:effectLst>
                  <a:outerShdw blurRad="38100" dist="38100" dir="2700000" algn="tl">
                    <a:srgbClr val="000000"/>
                  </a:outerShdw>
                </a:effectLst>
              </a:rPr>
              <a:t>的</a:t>
            </a:r>
            <a:r>
              <a:rPr kumimoji="0" lang="zh-CN" altLang="zh-CN" sz="2800">
                <a:solidFill>
                  <a:srgbClr val="CCFFCC"/>
                </a:solidFill>
                <a:effectLst>
                  <a:outerShdw blurRad="38100" dist="38100" dir="2700000" algn="tl">
                    <a:srgbClr val="000000"/>
                  </a:outerShdw>
                </a:effectLst>
              </a:rPr>
              <a:t>投影</a:t>
            </a:r>
            <a:r>
              <a:rPr kumimoji="0" lang="zh-CN" altLang="en-US" sz="2800">
                <a:solidFill>
                  <a:srgbClr val="CCFFCC"/>
                </a:solidFill>
                <a:effectLst>
                  <a:outerShdw blurRad="38100" dist="38100" dir="2700000" algn="tl">
                    <a:srgbClr val="000000"/>
                  </a:outerShdw>
                </a:effectLst>
              </a:rPr>
              <a:t>)</a:t>
            </a:r>
            <a:r>
              <a:rPr kumimoji="0" lang="zh-CN" altLang="zh-CN" sz="2800">
                <a:solidFill>
                  <a:srgbClr val="CCFFCC"/>
                </a:solidFill>
                <a:effectLst>
                  <a:outerShdw blurRad="38100" dist="38100" dir="2700000" algn="tl">
                    <a:srgbClr val="000000"/>
                  </a:outerShdw>
                </a:effectLst>
              </a:rPr>
              <a:t>自然连接</a:t>
            </a:r>
            <a:r>
              <a:rPr kumimoji="0" lang="zh-CN" altLang="en-US" sz="2800">
                <a:solidFill>
                  <a:srgbClr val="CCFFCC"/>
                </a:solidFill>
                <a:effectLst>
                  <a:outerShdw blurRad="38100" dist="38100" dir="2700000" algn="tl">
                    <a:srgbClr val="000000"/>
                  </a:outerShdw>
                </a:effectLst>
              </a:rPr>
              <a:t>而还原。</a:t>
            </a:r>
            <a:endParaRPr kumimoji="0" lang="en-US" altLang="zh-CN" sz="2800">
              <a:solidFill>
                <a:srgbClr val="CCFFCC"/>
              </a:solidFill>
              <a:effectLst>
                <a:outerShdw blurRad="38100" dist="38100" dir="2700000" algn="tl">
                  <a:srgbClr val="000000"/>
                </a:outerShdw>
              </a:effectLst>
            </a:endParaRP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4499" name="Rectangle 3"/>
          <p:cNvSpPr>
            <a:spLocks noGrp="1" noChangeArrowheads="1"/>
          </p:cNvSpPr>
          <p:nvPr>
            <p:ph type="body" idx="1"/>
          </p:nvPr>
        </p:nvSpPr>
        <p:spPr>
          <a:xfrm>
            <a:off x="192088" y="1341438"/>
            <a:ext cx="8647112" cy="2016125"/>
          </a:xfrm>
        </p:spPr>
        <p:txBody>
          <a:bodyPr/>
          <a:lstStyle/>
          <a:p>
            <a:pPr marL="358775" indent="-358775" algn="just">
              <a:lnSpc>
                <a:spcPct val="115000"/>
              </a:lnSpc>
              <a:defRPr/>
            </a:pPr>
            <a:r>
              <a:rPr lang="zh-CN" altLang="en-US" sz="2800" dirty="0">
                <a:latin typeface="楷体_GB2312" pitchFamily="49" charset="-122"/>
              </a:rPr>
              <a:t>设</a:t>
            </a:r>
            <a:r>
              <a:rPr lang="en-US" altLang="zh-CN" sz="2800" i="1" dirty="0">
                <a:latin typeface="楷体_GB2312" pitchFamily="49" charset="-122"/>
              </a:rPr>
              <a:t>ρ</a:t>
            </a:r>
            <a:r>
              <a:rPr lang="en-US" altLang="zh-CN" sz="2800" dirty="0">
                <a:latin typeface="楷体_GB2312" pitchFamily="49" charset="-122"/>
              </a:rPr>
              <a:t>={R</a:t>
            </a:r>
            <a:r>
              <a:rPr lang="en-US" altLang="zh-CN" sz="2800" baseline="-30000" dirty="0">
                <a:latin typeface="楷体_GB2312" pitchFamily="49" charset="-122"/>
              </a:rPr>
              <a:t>1</a:t>
            </a:r>
            <a:r>
              <a:rPr lang="en-US" altLang="zh-CN" sz="2800" dirty="0">
                <a:latin typeface="楷体_GB2312" pitchFamily="49" charset="-122"/>
              </a:rPr>
              <a:t>(U</a:t>
            </a:r>
            <a:r>
              <a:rPr lang="en-US" altLang="zh-CN" sz="2800" baseline="-30000" dirty="0">
                <a:latin typeface="楷体_GB2312" pitchFamily="49" charset="-122"/>
              </a:rPr>
              <a:t>1</a:t>
            </a:r>
            <a:r>
              <a:rPr lang="en-US" altLang="zh-CN" sz="2800" dirty="0">
                <a:latin typeface="楷体_GB2312" pitchFamily="49" charset="-122"/>
              </a:rPr>
              <a:t>),R</a:t>
            </a:r>
            <a:r>
              <a:rPr lang="en-US" altLang="zh-CN" sz="2800" baseline="-30000" dirty="0">
                <a:latin typeface="楷体_GB2312" pitchFamily="49" charset="-122"/>
              </a:rPr>
              <a:t>2</a:t>
            </a:r>
            <a:r>
              <a:rPr lang="en-US" altLang="zh-CN" sz="2800" dirty="0">
                <a:latin typeface="楷体_GB2312" pitchFamily="49" charset="-122"/>
              </a:rPr>
              <a:t>(U</a:t>
            </a:r>
            <a:r>
              <a:rPr lang="en-US" altLang="zh-CN" sz="2800" baseline="-30000" dirty="0">
                <a:latin typeface="楷体_GB2312" pitchFamily="49" charset="-122"/>
              </a:rPr>
              <a:t>2</a:t>
            </a:r>
            <a:r>
              <a:rPr lang="en-US" altLang="zh-CN" sz="2800" dirty="0">
                <a:latin typeface="楷体_GB2312" pitchFamily="49" charset="-122"/>
              </a:rPr>
              <a:t>),</a:t>
            </a:r>
            <a:r>
              <a:rPr lang="en-US" altLang="zh-CN" sz="2800" dirty="0"/>
              <a:t>…</a:t>
            </a:r>
            <a:r>
              <a:rPr lang="en-US" altLang="zh-CN" sz="2800" dirty="0">
                <a:latin typeface="楷体_GB2312" pitchFamily="49" charset="-122"/>
              </a:rPr>
              <a:t>,</a:t>
            </a:r>
            <a:r>
              <a:rPr lang="en-US" altLang="zh-CN" sz="2800" dirty="0" err="1">
                <a:latin typeface="楷体_GB2312" pitchFamily="49" charset="-122"/>
              </a:rPr>
              <a:t>R</a:t>
            </a:r>
            <a:r>
              <a:rPr lang="en-US" altLang="zh-CN" sz="2800" baseline="-30000" dirty="0" err="1">
                <a:latin typeface="楷体_GB2312" pitchFamily="49" charset="-122"/>
              </a:rPr>
              <a:t>k</a:t>
            </a:r>
            <a:r>
              <a:rPr lang="en-US" altLang="zh-CN" sz="2800" dirty="0">
                <a:latin typeface="楷体_GB2312" pitchFamily="49" charset="-122"/>
              </a:rPr>
              <a:t>(</a:t>
            </a:r>
            <a:r>
              <a:rPr lang="en-US" altLang="zh-CN" sz="2800" dirty="0" err="1">
                <a:latin typeface="楷体_GB2312" pitchFamily="49" charset="-122"/>
              </a:rPr>
              <a:t>U</a:t>
            </a:r>
            <a:r>
              <a:rPr lang="en-US" altLang="zh-CN" sz="2800" baseline="-30000" dirty="0" err="1">
                <a:latin typeface="楷体_GB2312" pitchFamily="49" charset="-122"/>
              </a:rPr>
              <a:t>k</a:t>
            </a:r>
            <a:r>
              <a:rPr lang="en-US" altLang="zh-CN" sz="2800" dirty="0">
                <a:latin typeface="楷体_GB2312" pitchFamily="49" charset="-122"/>
              </a:rPr>
              <a:t>)}</a:t>
            </a:r>
            <a:r>
              <a:rPr lang="zh-CN" altLang="en-US" sz="2800" dirty="0">
                <a:latin typeface="楷体_GB2312" pitchFamily="49" charset="-122"/>
              </a:rPr>
              <a:t>是关系模式</a:t>
            </a:r>
            <a:r>
              <a:rPr lang="en-US" altLang="zh-CN" sz="2800" dirty="0">
                <a:latin typeface="楷体_GB2312" pitchFamily="49" charset="-122"/>
              </a:rPr>
              <a:t>R(U,F)</a:t>
            </a:r>
            <a:r>
              <a:rPr lang="zh-CN" altLang="en-US" sz="2800" dirty="0">
                <a:latin typeface="楷体_GB2312" pitchFamily="49" charset="-122"/>
              </a:rPr>
              <a:t>的一个分解，如果</a:t>
            </a:r>
            <a:r>
              <a:rPr lang="en-US" altLang="zh-CN" sz="2800" dirty="0">
                <a:latin typeface="楷体_GB2312" pitchFamily="49" charset="-122"/>
              </a:rPr>
              <a:t>F</a:t>
            </a:r>
            <a:r>
              <a:rPr lang="zh-CN" altLang="en-US" sz="2800" dirty="0">
                <a:latin typeface="楷体_GB2312" pitchFamily="49" charset="-122"/>
              </a:rPr>
              <a:t>所蕴含的函数依赖一定也可以由所有</a:t>
            </a:r>
            <a:r>
              <a:rPr lang="en-US" altLang="zh-CN" sz="2800" dirty="0">
                <a:latin typeface="楷体_GB2312" pitchFamily="49" charset="-122"/>
              </a:rPr>
              <a:t>F</a:t>
            </a:r>
            <a:r>
              <a:rPr lang="zh-CN" altLang="en-US" sz="2800" dirty="0">
                <a:latin typeface="楷体_GB2312" pitchFamily="49" charset="-122"/>
              </a:rPr>
              <a:t>在</a:t>
            </a:r>
            <a:r>
              <a:rPr lang="en-US" altLang="zh-CN" sz="2800" dirty="0" err="1">
                <a:latin typeface="楷体_GB2312" pitchFamily="49" charset="-122"/>
              </a:rPr>
              <a:t>U</a:t>
            </a:r>
            <a:r>
              <a:rPr lang="en-US" altLang="zh-CN" sz="2800" baseline="-25000" dirty="0" err="1">
                <a:latin typeface="楷体_GB2312" pitchFamily="49" charset="-122"/>
              </a:rPr>
              <a:t>i</a:t>
            </a:r>
            <a:r>
              <a:rPr lang="zh-CN" altLang="en-US" sz="2800" dirty="0">
                <a:latin typeface="楷体_GB2312" pitchFamily="49" charset="-122"/>
              </a:rPr>
              <a:t>上的投影所逻辑蕴含，即：</a:t>
            </a:r>
          </a:p>
          <a:p>
            <a:pPr marL="358775" indent="-358775" algn="just">
              <a:lnSpc>
                <a:spcPct val="115000"/>
              </a:lnSpc>
              <a:buFont typeface="Wingdings" pitchFamily="2" charset="2"/>
              <a:buNone/>
              <a:defRPr/>
            </a:pPr>
            <a:r>
              <a:rPr lang="zh-CN" altLang="en-US" sz="2800" dirty="0">
                <a:latin typeface="楷体_GB2312" pitchFamily="49" charset="-122"/>
              </a:rPr>
              <a:t>	</a:t>
            </a:r>
          </a:p>
        </p:txBody>
      </p:sp>
      <p:sp>
        <p:nvSpPr>
          <p:cNvPr id="1514500" name="Rectangle 4"/>
          <p:cNvSpPr>
            <a:spLocks noGrp="1" noChangeArrowheads="1"/>
          </p:cNvSpPr>
          <p:nvPr>
            <p:ph type="title"/>
          </p:nvPr>
        </p:nvSpPr>
        <p:spPr>
          <a:xfrm>
            <a:off x="0" y="0"/>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ea typeface="微软雅黑" pitchFamily="34" charset="-122"/>
              </a:rPr>
              <a:t>分解的保持函数依赖性</a:t>
            </a:r>
          </a:p>
        </p:txBody>
      </p:sp>
      <p:sp>
        <p:nvSpPr>
          <p:cNvPr id="1514501" name="Rectangle 5"/>
          <p:cNvSpPr>
            <a:spLocks noChangeArrowheads="1"/>
          </p:cNvSpPr>
          <p:nvPr/>
        </p:nvSpPr>
        <p:spPr bwMode="auto">
          <a:xfrm>
            <a:off x="192088" y="5835650"/>
            <a:ext cx="8772525" cy="647700"/>
          </a:xfrm>
          <a:prstGeom prst="rect">
            <a:avLst/>
          </a:prstGeom>
          <a:noFill/>
          <a:ln w="9525">
            <a:noFill/>
            <a:miter lim="800000"/>
            <a:headEnd/>
            <a:tailEnd/>
          </a:ln>
          <a:effectLst/>
        </p:spPr>
        <p:txBody>
          <a:bodyPr/>
          <a:lstStyle/>
          <a:p>
            <a:pPr marL="358775" indent="-358775" algn="just">
              <a:spcAft>
                <a:spcPct val="40000"/>
              </a:spcAft>
              <a:buClr>
                <a:srgbClr val="66FF33"/>
              </a:buClr>
              <a:buSzPct val="85000"/>
              <a:defRPr/>
            </a:pPr>
            <a:r>
              <a:rPr kumimoji="0" lang="zh-CN" altLang="en-US" sz="2800">
                <a:solidFill>
                  <a:schemeClr val="hlink"/>
                </a:solidFill>
                <a:effectLst>
                  <a:outerShdw blurRad="38100" dist="38100" dir="2700000" algn="tl">
                    <a:srgbClr val="000000"/>
                  </a:outerShdw>
                </a:effectLst>
              </a:rPr>
              <a:t>	</a:t>
            </a:r>
            <a:r>
              <a:rPr kumimoji="0" lang="zh-CN" altLang="zh-CN" sz="2800">
                <a:solidFill>
                  <a:schemeClr val="hlink"/>
                </a:solidFill>
                <a:effectLst>
                  <a:outerShdw blurRad="38100" dist="38100" dir="2700000" algn="tl">
                    <a:srgbClr val="000000"/>
                  </a:outerShdw>
                </a:effectLst>
              </a:rPr>
              <a:t>保持函数依赖的分解可以减轻或解决各种异常</a:t>
            </a:r>
            <a:r>
              <a:rPr kumimoji="0" lang="zh-CN" altLang="en-US" sz="2800">
                <a:solidFill>
                  <a:schemeClr val="hlink"/>
                </a:solidFill>
                <a:effectLst>
                  <a:outerShdw blurRad="38100" dist="38100" dir="2700000" algn="tl">
                    <a:srgbClr val="000000"/>
                  </a:outerShdw>
                </a:effectLst>
              </a:rPr>
              <a:t>！</a:t>
            </a:r>
            <a:endParaRPr kumimoji="0" lang="en-US" altLang="zh-CN" sz="2800">
              <a:solidFill>
                <a:schemeClr val="hlink"/>
              </a:solidFill>
              <a:effectLst>
                <a:outerShdw blurRad="38100" dist="38100" dir="2700000" algn="tl">
                  <a:srgbClr val="000000"/>
                </a:outerShdw>
              </a:effectLst>
            </a:endParaRPr>
          </a:p>
        </p:txBody>
      </p:sp>
      <p:sp>
        <p:nvSpPr>
          <p:cNvPr id="1514502" name="Rectangle 6"/>
          <p:cNvSpPr>
            <a:spLocks noChangeArrowheads="1"/>
          </p:cNvSpPr>
          <p:nvPr/>
        </p:nvSpPr>
        <p:spPr bwMode="auto">
          <a:xfrm>
            <a:off x="552450" y="3860800"/>
            <a:ext cx="8178800" cy="576263"/>
          </a:xfrm>
          <a:prstGeom prst="rect">
            <a:avLst/>
          </a:prstGeom>
          <a:noFill/>
          <a:ln w="9525">
            <a:noFill/>
            <a:miter lim="800000"/>
            <a:headEnd/>
            <a:tailEnd/>
          </a:ln>
          <a:effectLst/>
        </p:spPr>
        <p:txBody>
          <a:bodyPr/>
          <a:lstStyle/>
          <a:p>
            <a:pPr marL="358775" indent="-358775" algn="just">
              <a:spcAft>
                <a:spcPct val="40000"/>
              </a:spcAft>
              <a:buClr>
                <a:srgbClr val="66FF33"/>
              </a:buClr>
              <a:buSzPct val="85000"/>
              <a:defRPr/>
            </a:pPr>
            <a:r>
              <a:rPr kumimoji="0" lang="zh-CN" altLang="en-US" sz="2800">
                <a:solidFill>
                  <a:srgbClr val="CCFFCC"/>
                </a:solidFill>
                <a:effectLst>
                  <a:outerShdw blurRad="38100" dist="38100" dir="2700000" algn="tl">
                    <a:srgbClr val="000000"/>
                  </a:outerShdw>
                </a:effectLst>
              </a:rPr>
              <a:t>则称</a:t>
            </a:r>
            <a:r>
              <a:rPr kumimoji="0" lang="en-US" altLang="zh-CN" sz="2800" i="1">
                <a:solidFill>
                  <a:srgbClr val="CCFFCC"/>
                </a:solidFill>
                <a:effectLst>
                  <a:outerShdw blurRad="38100" dist="38100" dir="2700000" algn="tl">
                    <a:srgbClr val="000000"/>
                  </a:outerShdw>
                </a:effectLst>
              </a:rPr>
              <a:t>ρ</a:t>
            </a:r>
            <a:r>
              <a:rPr kumimoji="0" lang="zh-CN" altLang="en-US" sz="2800">
                <a:solidFill>
                  <a:srgbClr val="CCFFCC"/>
                </a:solidFill>
                <a:effectLst>
                  <a:outerShdw blurRad="38100" dist="38100" dir="2700000" algn="tl">
                    <a:srgbClr val="000000"/>
                  </a:outerShdw>
                </a:effectLst>
              </a:rPr>
              <a:t>是</a:t>
            </a:r>
            <a:r>
              <a:rPr kumimoji="0" lang="zh-CN" altLang="en-US" sz="2800">
                <a:solidFill>
                  <a:srgbClr val="FFFF00"/>
                </a:solidFill>
                <a:effectLst>
                  <a:outerShdw blurRad="38100" dist="38100" dir="2700000" algn="tl">
                    <a:srgbClr val="000000"/>
                  </a:outerShdw>
                </a:effectLst>
              </a:rPr>
              <a:t>保持函数依赖</a:t>
            </a:r>
            <a:r>
              <a:rPr kumimoji="0" lang="zh-CN" altLang="en-US" sz="2800">
                <a:solidFill>
                  <a:srgbClr val="CCFFCC"/>
                </a:solidFill>
                <a:effectLst>
                  <a:outerShdw blurRad="38100" dist="38100" dir="2700000" algn="tl">
                    <a:srgbClr val="000000"/>
                  </a:outerShdw>
                </a:effectLst>
              </a:rPr>
              <a:t>的分解。</a:t>
            </a:r>
          </a:p>
        </p:txBody>
      </p:sp>
      <p:sp>
        <p:nvSpPr>
          <p:cNvPr id="1514503" name="Rectangle 7"/>
          <p:cNvSpPr>
            <a:spLocks noChangeArrowheads="1"/>
          </p:cNvSpPr>
          <p:nvPr/>
        </p:nvSpPr>
        <p:spPr bwMode="auto">
          <a:xfrm>
            <a:off x="539750" y="4652963"/>
            <a:ext cx="8208963" cy="1008062"/>
          </a:xfrm>
          <a:prstGeom prst="rect">
            <a:avLst/>
          </a:prstGeom>
          <a:noFill/>
          <a:ln w="9525">
            <a:noFill/>
            <a:miter lim="800000"/>
            <a:headEnd/>
            <a:tailEnd/>
          </a:ln>
          <a:effectLst/>
        </p:spPr>
        <p:txBody>
          <a:bodyPr/>
          <a:lstStyle/>
          <a:p>
            <a:pPr algn="just">
              <a:spcAft>
                <a:spcPct val="40000"/>
              </a:spcAft>
              <a:buClr>
                <a:srgbClr val="66FF33"/>
              </a:buClr>
              <a:buSzPct val="85000"/>
              <a:defRPr/>
            </a:pPr>
            <a:r>
              <a:rPr kumimoji="0" lang="zh-CN" altLang="en-US" sz="2800" dirty="0">
                <a:solidFill>
                  <a:srgbClr val="CCFFCC"/>
                </a:solidFill>
                <a:effectLst>
                  <a:outerShdw blurRad="38100" dist="38100" dir="2700000" algn="tl">
                    <a:srgbClr val="000000"/>
                  </a:outerShdw>
                </a:effectLst>
              </a:rPr>
              <a:t>其中</a:t>
            </a:r>
            <a:r>
              <a:rPr kumimoji="0" lang="en-US" altLang="zh-CN" sz="2800" dirty="0">
                <a:solidFill>
                  <a:srgbClr val="CCFFCC"/>
                </a:solidFill>
                <a:effectLst>
                  <a:outerShdw blurRad="38100" dist="38100" dir="2700000" algn="tl">
                    <a:srgbClr val="000000"/>
                  </a:outerShdw>
                </a:effectLst>
              </a:rPr>
              <a:t>π</a:t>
            </a:r>
            <a:r>
              <a:rPr kumimoji="0" lang="en-US" altLang="zh-CN" sz="2800" baseline="-25000" dirty="0">
                <a:solidFill>
                  <a:srgbClr val="CCFFCC"/>
                </a:solidFill>
                <a:effectLst>
                  <a:outerShdw blurRad="38100" dist="38100" dir="2700000" algn="tl">
                    <a:srgbClr val="000000"/>
                  </a:outerShdw>
                </a:effectLst>
              </a:rPr>
              <a:t>Z</a:t>
            </a:r>
            <a:r>
              <a:rPr kumimoji="0" lang="en-US" altLang="zh-CN" sz="2800" dirty="0">
                <a:solidFill>
                  <a:srgbClr val="CCFFCC"/>
                </a:solidFill>
                <a:effectLst>
                  <a:outerShdw blurRad="38100" dist="38100" dir="2700000" algn="tl">
                    <a:srgbClr val="000000"/>
                  </a:outerShdw>
                </a:effectLst>
              </a:rPr>
              <a:t>(F)</a:t>
            </a:r>
            <a:r>
              <a:rPr kumimoji="0" lang="zh-CN" altLang="en-US" sz="2800" dirty="0">
                <a:solidFill>
                  <a:srgbClr val="CCFFCC"/>
                </a:solidFill>
                <a:effectLst>
                  <a:outerShdw blurRad="38100" dist="38100" dir="2700000" algn="tl">
                    <a:srgbClr val="000000"/>
                  </a:outerShdw>
                </a:effectLst>
              </a:rPr>
              <a:t>表示</a:t>
            </a:r>
            <a:r>
              <a:rPr kumimoji="0" lang="en-US" altLang="zh-CN" sz="2800" dirty="0">
                <a:solidFill>
                  <a:srgbClr val="CCFFCC"/>
                </a:solidFill>
                <a:effectLst>
                  <a:outerShdw blurRad="38100" dist="38100" dir="2700000" algn="tl">
                    <a:srgbClr val="000000"/>
                  </a:outerShdw>
                </a:effectLst>
              </a:rPr>
              <a:t>F</a:t>
            </a:r>
            <a:r>
              <a:rPr kumimoji="0" lang="zh-CN" altLang="en-US" sz="2800" dirty="0">
                <a:solidFill>
                  <a:srgbClr val="CCFFCC"/>
                </a:solidFill>
                <a:effectLst>
                  <a:outerShdw blurRad="38100" dist="38100" dir="2700000" algn="tl">
                    <a:srgbClr val="000000"/>
                  </a:outerShdw>
                </a:effectLst>
              </a:rPr>
              <a:t>在</a:t>
            </a:r>
            <a:r>
              <a:rPr kumimoji="0" lang="en-US" altLang="zh-CN" sz="2800" dirty="0">
                <a:solidFill>
                  <a:srgbClr val="CCFFCC"/>
                </a:solidFill>
                <a:effectLst>
                  <a:outerShdw blurRad="38100" dist="38100" dir="2700000" algn="tl">
                    <a:srgbClr val="000000"/>
                  </a:outerShdw>
                </a:effectLst>
              </a:rPr>
              <a:t>U</a:t>
            </a:r>
            <a:r>
              <a:rPr kumimoji="0" lang="zh-CN" altLang="en-US" sz="2800" dirty="0">
                <a:solidFill>
                  <a:srgbClr val="CCFFCC"/>
                </a:solidFill>
                <a:effectLst>
                  <a:outerShdw blurRad="38100" dist="38100" dir="2700000" algn="tl">
                    <a:srgbClr val="000000"/>
                  </a:outerShdw>
                </a:effectLst>
              </a:rPr>
              <a:t>的一个属性子集</a:t>
            </a:r>
            <a:r>
              <a:rPr kumimoji="0" lang="en-US" altLang="zh-CN" sz="2800" dirty="0">
                <a:solidFill>
                  <a:srgbClr val="CCFFCC"/>
                </a:solidFill>
                <a:effectLst>
                  <a:outerShdw blurRad="38100" dist="38100" dir="2700000" algn="tl">
                    <a:srgbClr val="000000"/>
                  </a:outerShdw>
                </a:effectLst>
              </a:rPr>
              <a:t>Z</a:t>
            </a:r>
            <a:r>
              <a:rPr kumimoji="0" lang="zh-CN" altLang="en-US" sz="2800" dirty="0">
                <a:solidFill>
                  <a:srgbClr val="CCFFCC"/>
                </a:solidFill>
                <a:effectLst>
                  <a:outerShdw blurRad="38100" dist="38100" dir="2700000" algn="tl">
                    <a:srgbClr val="000000"/>
                  </a:outerShdw>
                </a:effectLst>
              </a:rPr>
              <a:t>上的投影，其定义为：</a:t>
            </a:r>
            <a:r>
              <a:rPr kumimoji="0" lang="en-US" altLang="zh-CN" sz="2800" dirty="0">
                <a:solidFill>
                  <a:srgbClr val="CCFFCC"/>
                </a:solidFill>
                <a:effectLst>
                  <a:outerShdw blurRad="38100" dist="38100" dir="2700000" algn="tl">
                    <a:srgbClr val="000000"/>
                  </a:outerShdw>
                </a:effectLst>
              </a:rPr>
              <a:t>π</a:t>
            </a:r>
            <a:r>
              <a:rPr kumimoji="0" lang="en-US" altLang="zh-CN" sz="2800" baseline="-25000" dirty="0">
                <a:solidFill>
                  <a:srgbClr val="CCFFCC"/>
                </a:solidFill>
                <a:effectLst>
                  <a:outerShdw blurRad="38100" dist="38100" dir="2700000" algn="tl">
                    <a:srgbClr val="000000"/>
                  </a:outerShdw>
                </a:effectLst>
              </a:rPr>
              <a:t>Z</a:t>
            </a:r>
            <a:r>
              <a:rPr kumimoji="0" lang="en-US" altLang="zh-CN" sz="2800" dirty="0">
                <a:solidFill>
                  <a:srgbClr val="CCFFCC"/>
                </a:solidFill>
                <a:effectLst>
                  <a:outerShdw blurRad="38100" dist="38100" dir="2700000" algn="tl">
                    <a:srgbClr val="000000"/>
                  </a:outerShdw>
                </a:effectLst>
              </a:rPr>
              <a:t>(F)={X</a:t>
            </a:r>
            <a:r>
              <a:rPr kumimoji="0" lang="en-US" altLang="en-US" sz="2800" dirty="0">
                <a:solidFill>
                  <a:srgbClr val="CCFFCC"/>
                </a:solidFill>
                <a:effectLst>
                  <a:outerShdw blurRad="38100" dist="38100" dir="2700000" algn="tl">
                    <a:srgbClr val="000000"/>
                  </a:outerShdw>
                </a:effectLst>
              </a:rPr>
              <a:t>→</a:t>
            </a:r>
            <a:r>
              <a:rPr kumimoji="0" lang="en-US" altLang="zh-CN" sz="2800" dirty="0">
                <a:solidFill>
                  <a:srgbClr val="CCFFCC"/>
                </a:solidFill>
                <a:effectLst>
                  <a:outerShdw blurRad="38100" dist="38100" dir="2700000" algn="tl">
                    <a:srgbClr val="000000"/>
                  </a:outerShdw>
                </a:effectLst>
              </a:rPr>
              <a:t>Y|(X</a:t>
            </a:r>
            <a:r>
              <a:rPr kumimoji="0" lang="en-US" altLang="en-US" sz="2800" dirty="0">
                <a:solidFill>
                  <a:srgbClr val="CCFFCC"/>
                </a:solidFill>
                <a:effectLst>
                  <a:outerShdw blurRad="38100" dist="38100" dir="2700000" algn="tl">
                    <a:srgbClr val="000000"/>
                  </a:outerShdw>
                </a:effectLst>
              </a:rPr>
              <a:t>→</a:t>
            </a:r>
            <a:r>
              <a:rPr kumimoji="0" lang="en-US" altLang="zh-CN" sz="2800" dirty="0">
                <a:solidFill>
                  <a:srgbClr val="CCFFCC"/>
                </a:solidFill>
                <a:effectLst>
                  <a:outerShdw blurRad="38100" dist="38100" dir="2700000" algn="tl">
                    <a:srgbClr val="000000"/>
                  </a:outerShdw>
                </a:effectLst>
              </a:rPr>
              <a:t>Y)</a:t>
            </a:r>
            <a:r>
              <a:rPr kumimoji="0" lang="zh-CN" altLang="en-US" sz="2800" dirty="0">
                <a:solidFill>
                  <a:srgbClr val="CCFFCC"/>
                </a:solidFill>
                <a:effectLst>
                  <a:outerShdw blurRad="38100" dist="38100" dir="2700000" algn="tl">
                    <a:srgbClr val="000000"/>
                  </a:outerShdw>
                </a:effectLst>
                <a:latin typeface="宋体" pitchFamily="2" charset="-122"/>
                <a:ea typeface="宋体" pitchFamily="2" charset="-122"/>
              </a:rPr>
              <a:t>∈</a:t>
            </a:r>
            <a:r>
              <a:rPr kumimoji="0" lang="en-US" altLang="zh-CN" sz="2800" dirty="0">
                <a:solidFill>
                  <a:srgbClr val="CCFFCC"/>
                </a:solidFill>
                <a:effectLst>
                  <a:outerShdw blurRad="38100" dist="38100" dir="2700000" algn="tl">
                    <a:srgbClr val="000000"/>
                  </a:outerShdw>
                </a:effectLst>
              </a:rPr>
              <a:t>F</a:t>
            </a:r>
            <a:r>
              <a:rPr kumimoji="0" lang="en-US" altLang="zh-CN" sz="2800" baseline="30000" dirty="0">
                <a:solidFill>
                  <a:srgbClr val="CCFFCC"/>
                </a:solidFill>
                <a:effectLst>
                  <a:outerShdw blurRad="38100" dist="38100" dir="2700000" algn="tl">
                    <a:srgbClr val="000000"/>
                  </a:outerShdw>
                </a:effectLst>
              </a:rPr>
              <a:t>+</a:t>
            </a:r>
            <a:r>
              <a:rPr kumimoji="0" lang="en-US" altLang="zh-CN" sz="2800" dirty="0">
                <a:solidFill>
                  <a:srgbClr val="CCFFCC"/>
                </a:solidFill>
                <a:effectLst>
                  <a:outerShdw blurRad="38100" dist="38100" dir="2700000" algn="tl">
                    <a:srgbClr val="000000"/>
                  </a:outerShdw>
                </a:effectLst>
              </a:rPr>
              <a:t> </a:t>
            </a:r>
            <a:r>
              <a:rPr kumimoji="0" lang="zh-CN" altLang="en-US" sz="2800" dirty="0">
                <a:solidFill>
                  <a:srgbClr val="CCFFCC"/>
                </a:solidFill>
                <a:effectLst>
                  <a:outerShdw blurRad="38100" dist="38100" dir="2700000" algn="tl">
                    <a:srgbClr val="000000"/>
                  </a:outerShdw>
                </a:effectLst>
              </a:rPr>
              <a:t>且 </a:t>
            </a:r>
            <a:r>
              <a:rPr kumimoji="0" lang="en-US" altLang="zh-CN" sz="2800" dirty="0">
                <a:solidFill>
                  <a:srgbClr val="CCFFCC"/>
                </a:solidFill>
                <a:effectLst>
                  <a:outerShdw blurRad="38100" dist="38100" dir="2700000" algn="tl">
                    <a:srgbClr val="000000"/>
                  </a:outerShdw>
                </a:effectLst>
              </a:rPr>
              <a:t>XY</a:t>
            </a:r>
            <a:r>
              <a:rPr lang="zh-CN" altLang="zh-CN" sz="2800" dirty="0">
                <a:solidFill>
                  <a:srgbClr val="CCFFCC"/>
                </a:solidFill>
                <a:effectLst>
                  <a:outerShdw blurRad="38100" dist="38100" dir="2700000" algn="tl">
                    <a:srgbClr val="000000"/>
                  </a:outerShdw>
                </a:effectLst>
                <a:sym typeface="Symbol" pitchFamily="18" charset="2"/>
              </a:rPr>
              <a:t></a:t>
            </a:r>
            <a:r>
              <a:rPr lang="zh-CN" altLang="en-US" sz="2800" dirty="0">
                <a:solidFill>
                  <a:srgbClr val="CCFFCC"/>
                </a:solidFill>
                <a:effectLst>
                  <a:outerShdw blurRad="38100" dist="38100" dir="2700000" algn="tl">
                    <a:srgbClr val="000000"/>
                  </a:outerShdw>
                </a:effectLst>
              </a:rPr>
              <a:t>Z</a:t>
            </a:r>
            <a:r>
              <a:rPr kumimoji="0" lang="en-US" altLang="zh-CN" sz="2800" dirty="0">
                <a:solidFill>
                  <a:srgbClr val="CCFFCC"/>
                </a:solidFill>
                <a:effectLst>
                  <a:outerShdw blurRad="38100" dist="38100" dir="2700000" algn="tl">
                    <a:srgbClr val="000000"/>
                  </a:outerShdw>
                </a:effectLst>
              </a:rPr>
              <a:t>}</a:t>
            </a:r>
            <a:r>
              <a:rPr kumimoji="0" lang="zh-CN" altLang="en-US" sz="2800" dirty="0">
                <a:solidFill>
                  <a:srgbClr val="CCFFCC"/>
                </a:solidFill>
                <a:effectLst>
                  <a:outerShdw blurRad="38100" dist="38100" dir="2700000" algn="tl">
                    <a:srgbClr val="000000"/>
                  </a:outerShdw>
                </a:effectLst>
              </a:rPr>
              <a:t>。</a:t>
            </a:r>
          </a:p>
        </p:txBody>
      </p:sp>
      <p:grpSp>
        <p:nvGrpSpPr>
          <p:cNvPr id="53256" name="Group 8"/>
          <p:cNvGrpSpPr>
            <a:grpSpLocks/>
          </p:cNvGrpSpPr>
          <p:nvPr/>
        </p:nvGrpSpPr>
        <p:grpSpPr bwMode="auto">
          <a:xfrm>
            <a:off x="2339975" y="2924175"/>
            <a:ext cx="2825750" cy="804863"/>
            <a:chOff x="492" y="1706"/>
            <a:chExt cx="1780" cy="507"/>
          </a:xfrm>
        </p:grpSpPr>
        <p:grpSp>
          <p:nvGrpSpPr>
            <p:cNvPr id="53257" name="Group 9"/>
            <p:cNvGrpSpPr>
              <a:grpSpLocks/>
            </p:cNvGrpSpPr>
            <p:nvPr/>
          </p:nvGrpSpPr>
          <p:grpSpPr bwMode="auto">
            <a:xfrm>
              <a:off x="1156" y="1706"/>
              <a:ext cx="256" cy="507"/>
              <a:chOff x="2813" y="2045"/>
              <a:chExt cx="256" cy="507"/>
            </a:xfrm>
          </p:grpSpPr>
          <p:sp>
            <p:nvSpPr>
              <p:cNvPr id="1514506" name="Rectangle 10"/>
              <p:cNvSpPr>
                <a:spLocks noChangeArrowheads="1"/>
              </p:cNvSpPr>
              <p:nvPr/>
            </p:nvSpPr>
            <p:spPr bwMode="auto">
              <a:xfrm>
                <a:off x="2813" y="2144"/>
                <a:ext cx="256" cy="307"/>
              </a:xfrm>
              <a:prstGeom prst="rect">
                <a:avLst/>
              </a:prstGeom>
              <a:noFill/>
              <a:ln w="12700" cap="sq" algn="ctr">
                <a:noFill/>
                <a:miter lim="800000"/>
                <a:headEnd/>
                <a:tailEnd/>
              </a:ln>
              <a:effectLst/>
            </p:spPr>
            <p:txBody>
              <a:bodyPr wrap="none" lIns="0" tIns="0" rIns="0" bIns="0">
                <a:spAutoFit/>
              </a:bodyPr>
              <a:lstStyle/>
              <a:p>
                <a:pPr>
                  <a:buSzTx/>
                  <a:buFontTx/>
                  <a:buNone/>
                  <a:defRPr/>
                </a:pPr>
                <a:r>
                  <a:rPr kumimoji="0" lang="zh-CN" altLang="en-US" b="1">
                    <a:solidFill>
                      <a:srgbClr val="CCFFCC"/>
                    </a:solidFill>
                    <a:effectLst>
                      <a:outerShdw blurRad="38100" dist="38100" dir="2700000" algn="tl">
                        <a:srgbClr val="000000"/>
                      </a:outerShdw>
                    </a:effectLst>
                  </a:rPr>
                  <a:t>∪</a:t>
                </a:r>
              </a:p>
            </p:txBody>
          </p:sp>
          <p:sp>
            <p:nvSpPr>
              <p:cNvPr id="1514507" name="Rectangle 11"/>
              <p:cNvSpPr>
                <a:spLocks noChangeArrowheads="1"/>
              </p:cNvSpPr>
              <p:nvPr/>
            </p:nvSpPr>
            <p:spPr bwMode="auto">
              <a:xfrm>
                <a:off x="2835" y="2379"/>
                <a:ext cx="219" cy="173"/>
              </a:xfrm>
              <a:prstGeom prst="rect">
                <a:avLst/>
              </a:prstGeom>
              <a:noFill/>
              <a:ln w="12700" cap="sq" algn="ctr">
                <a:noFill/>
                <a:miter lim="800000"/>
                <a:headEnd/>
                <a:tailEnd/>
              </a:ln>
              <a:effectLst/>
            </p:spPr>
            <p:txBody>
              <a:bodyPr wrap="none" lIns="0" tIns="0" rIns="0" bIns="0">
                <a:spAutoFit/>
              </a:bodyPr>
              <a:lstStyle/>
              <a:p>
                <a:pPr>
                  <a:buSzTx/>
                  <a:buFontTx/>
                  <a:buNone/>
                  <a:defRPr/>
                </a:pPr>
                <a:r>
                  <a:rPr kumimoji="0" lang="en-US" altLang="zh-CN" sz="1800" b="1">
                    <a:solidFill>
                      <a:srgbClr val="CCFFCC"/>
                    </a:solidFill>
                    <a:effectLst>
                      <a:outerShdw blurRad="38100" dist="38100" dir="2700000" algn="tl">
                        <a:srgbClr val="000000"/>
                      </a:outerShdw>
                    </a:effectLst>
                  </a:rPr>
                  <a:t>i=1</a:t>
                </a:r>
              </a:p>
            </p:txBody>
          </p:sp>
          <p:sp>
            <p:nvSpPr>
              <p:cNvPr id="1514508" name="Rectangle 12"/>
              <p:cNvSpPr>
                <a:spLocks noChangeArrowheads="1"/>
              </p:cNvSpPr>
              <p:nvPr/>
            </p:nvSpPr>
            <p:spPr bwMode="auto">
              <a:xfrm>
                <a:off x="2901" y="2045"/>
                <a:ext cx="72" cy="173"/>
              </a:xfrm>
              <a:prstGeom prst="rect">
                <a:avLst/>
              </a:prstGeom>
              <a:noFill/>
              <a:ln w="12700" cap="sq" algn="ctr">
                <a:noFill/>
                <a:miter lim="800000"/>
                <a:headEnd/>
                <a:tailEnd/>
              </a:ln>
              <a:effectLst/>
            </p:spPr>
            <p:txBody>
              <a:bodyPr wrap="none" lIns="0" tIns="0" rIns="0" bIns="0">
                <a:spAutoFit/>
              </a:bodyPr>
              <a:lstStyle/>
              <a:p>
                <a:pPr>
                  <a:buSzTx/>
                  <a:buFontTx/>
                  <a:buNone/>
                  <a:defRPr/>
                </a:pPr>
                <a:r>
                  <a:rPr kumimoji="0" lang="en-US" altLang="zh-CN" sz="1800" b="1">
                    <a:solidFill>
                      <a:srgbClr val="CCFFCC"/>
                    </a:solidFill>
                    <a:effectLst>
                      <a:outerShdw blurRad="38100" dist="38100" dir="2700000" algn="tl">
                        <a:srgbClr val="000000"/>
                      </a:outerShdw>
                    </a:effectLst>
                  </a:rPr>
                  <a:t>k</a:t>
                </a:r>
              </a:p>
            </p:txBody>
          </p:sp>
        </p:grpSp>
        <p:sp>
          <p:nvSpPr>
            <p:cNvPr id="1514509" name="Rectangle 13"/>
            <p:cNvSpPr>
              <a:spLocks noChangeArrowheads="1"/>
            </p:cNvSpPr>
            <p:nvPr/>
          </p:nvSpPr>
          <p:spPr bwMode="auto">
            <a:xfrm>
              <a:off x="492" y="1760"/>
              <a:ext cx="780" cy="346"/>
            </a:xfrm>
            <a:prstGeom prst="rect">
              <a:avLst/>
            </a:prstGeom>
            <a:noFill/>
            <a:ln w="12700" cap="sq" algn="ctr">
              <a:noFill/>
              <a:miter lim="800000"/>
              <a:headEnd/>
              <a:tailEnd/>
            </a:ln>
            <a:effectLst/>
          </p:spPr>
          <p:txBody>
            <a:bodyPr wrap="none" lIns="0" tIns="0" rIns="0" bIns="0">
              <a:spAutoFit/>
            </a:bodyPr>
            <a:lstStyle/>
            <a:p>
              <a:pPr>
                <a:buSzTx/>
                <a:buFontTx/>
                <a:buNone/>
                <a:defRPr/>
              </a:pPr>
              <a:r>
                <a:rPr kumimoji="0" lang="en-US" altLang="zh-CN" sz="2800">
                  <a:solidFill>
                    <a:srgbClr val="CCFFCC"/>
                  </a:solidFill>
                  <a:effectLst>
                    <a:outerShdw blurRad="38100" dist="38100" dir="2700000" algn="tl">
                      <a:srgbClr val="000000"/>
                    </a:outerShdw>
                  </a:effectLst>
                </a:rPr>
                <a:t>F</a:t>
              </a:r>
              <a:r>
                <a:rPr kumimoji="0" lang="en-US" altLang="zh-CN" sz="2800" baseline="30000">
                  <a:solidFill>
                    <a:srgbClr val="CCFFCC"/>
                  </a:solidFill>
                  <a:effectLst>
                    <a:outerShdw blurRad="38100" dist="38100" dir="2700000" algn="tl">
                      <a:srgbClr val="000000"/>
                    </a:outerShdw>
                  </a:effectLst>
                </a:rPr>
                <a:t>+</a:t>
              </a:r>
              <a:r>
                <a:rPr kumimoji="0" lang="en-US" altLang="zh-CN" sz="2800">
                  <a:solidFill>
                    <a:srgbClr val="CCFFCC"/>
                  </a:solidFill>
                  <a:effectLst>
                    <a:outerShdw blurRad="38100" dist="38100" dir="2700000" algn="tl">
                      <a:srgbClr val="000000"/>
                    </a:outerShdw>
                  </a:effectLst>
                </a:rPr>
                <a:t> = </a:t>
              </a:r>
              <a:r>
                <a:rPr kumimoji="0" lang="en-US" altLang="zh-CN" sz="3600">
                  <a:solidFill>
                    <a:srgbClr val="CCFFCC"/>
                  </a:solidFill>
                  <a:effectLst>
                    <a:outerShdw blurRad="38100" dist="38100" dir="2700000" algn="tl">
                      <a:srgbClr val="000000"/>
                    </a:outerShdw>
                  </a:effectLst>
                </a:rPr>
                <a:t>(</a:t>
              </a:r>
              <a:r>
                <a:rPr kumimoji="0" lang="en-US" altLang="zh-CN" sz="2800">
                  <a:solidFill>
                    <a:srgbClr val="CCFFCC"/>
                  </a:solidFill>
                  <a:effectLst>
                    <a:outerShdw blurRad="38100" dist="38100" dir="2700000" algn="tl">
                      <a:srgbClr val="000000"/>
                    </a:outerShdw>
                  </a:effectLst>
                </a:rPr>
                <a:t> </a:t>
              </a:r>
            </a:p>
          </p:txBody>
        </p:sp>
        <p:sp>
          <p:nvSpPr>
            <p:cNvPr id="1514510" name="Rectangle 14"/>
            <p:cNvSpPr>
              <a:spLocks noChangeArrowheads="1"/>
            </p:cNvSpPr>
            <p:nvPr/>
          </p:nvSpPr>
          <p:spPr bwMode="auto">
            <a:xfrm>
              <a:off x="1429" y="1793"/>
              <a:ext cx="672" cy="307"/>
            </a:xfrm>
            <a:prstGeom prst="rect">
              <a:avLst/>
            </a:prstGeom>
            <a:noFill/>
            <a:ln w="12700" cap="sq" algn="ctr">
              <a:noFill/>
              <a:miter lim="800000"/>
              <a:headEnd/>
              <a:tailEnd/>
            </a:ln>
            <a:effectLst/>
          </p:spPr>
          <p:txBody>
            <a:bodyPr wrap="none" lIns="0" tIns="0" rIns="0" bIns="0">
              <a:spAutoFit/>
            </a:bodyPr>
            <a:lstStyle/>
            <a:p>
              <a:pPr>
                <a:buSzTx/>
                <a:buFontTx/>
                <a:buNone/>
                <a:defRPr/>
              </a:pPr>
              <a:r>
                <a:rPr kumimoji="0" lang="en-US" altLang="zh-CN">
                  <a:solidFill>
                    <a:srgbClr val="CCFFCC"/>
                  </a:solidFill>
                  <a:effectLst>
                    <a:outerShdw blurRad="38100" dist="38100" dir="2700000" algn="tl">
                      <a:srgbClr val="000000"/>
                    </a:outerShdw>
                  </a:effectLst>
                </a:rPr>
                <a:t>π</a:t>
              </a:r>
              <a:r>
                <a:rPr kumimoji="0" lang="en-US" altLang="zh-CN" sz="2000">
                  <a:solidFill>
                    <a:srgbClr val="CCFFCC"/>
                  </a:solidFill>
                  <a:effectLst>
                    <a:outerShdw blurRad="38100" dist="38100" dir="2700000" algn="tl">
                      <a:srgbClr val="000000"/>
                    </a:outerShdw>
                  </a:effectLst>
                </a:rPr>
                <a:t> </a:t>
              </a:r>
              <a:r>
                <a:rPr kumimoji="0" lang="en-US" altLang="zh-CN" sz="2800">
                  <a:solidFill>
                    <a:srgbClr val="CCFFCC"/>
                  </a:solidFill>
                  <a:effectLst>
                    <a:outerShdw blurRad="38100" dist="38100" dir="2700000" algn="tl">
                      <a:srgbClr val="000000"/>
                    </a:outerShdw>
                  </a:effectLst>
                </a:rPr>
                <a:t>(F)</a:t>
              </a:r>
            </a:p>
          </p:txBody>
        </p:sp>
        <p:sp>
          <p:nvSpPr>
            <p:cNvPr id="1514511" name="Rectangle 15"/>
            <p:cNvSpPr>
              <a:spLocks noChangeArrowheads="1"/>
            </p:cNvSpPr>
            <p:nvPr/>
          </p:nvSpPr>
          <p:spPr bwMode="auto">
            <a:xfrm>
              <a:off x="1651" y="1915"/>
              <a:ext cx="172" cy="250"/>
            </a:xfrm>
            <a:prstGeom prst="rect">
              <a:avLst/>
            </a:prstGeom>
            <a:noFill/>
            <a:ln w="12700" cap="sq" algn="ctr">
              <a:noFill/>
              <a:miter lim="800000"/>
              <a:headEnd/>
              <a:tailEnd/>
            </a:ln>
            <a:effectLst/>
          </p:spPr>
          <p:txBody>
            <a:bodyPr wrap="none" lIns="0" tIns="0" rIns="0" bIns="0">
              <a:spAutoFit/>
            </a:bodyPr>
            <a:lstStyle/>
            <a:p>
              <a:pPr>
                <a:buSzTx/>
                <a:buFontTx/>
                <a:buNone/>
                <a:defRPr/>
              </a:pPr>
              <a:r>
                <a:rPr kumimoji="0" lang="en-US" altLang="zh-CN" sz="2600">
                  <a:solidFill>
                    <a:srgbClr val="CCFFCC"/>
                  </a:solidFill>
                  <a:effectLst>
                    <a:outerShdw blurRad="38100" dist="38100" dir="2700000" algn="tl">
                      <a:srgbClr val="000000"/>
                    </a:outerShdw>
                  </a:effectLst>
                </a:rPr>
                <a:t>U</a:t>
              </a:r>
              <a:r>
                <a:rPr kumimoji="0" lang="en-US" altLang="zh-CN" sz="2600" baseline="-25000">
                  <a:solidFill>
                    <a:srgbClr val="CCFFCC"/>
                  </a:solidFill>
                  <a:effectLst>
                    <a:outerShdw blurRad="38100" dist="38100" dir="2700000" algn="tl">
                      <a:srgbClr val="000000"/>
                    </a:outerShdw>
                  </a:effectLst>
                </a:rPr>
                <a:t>i</a:t>
              </a:r>
              <a:endParaRPr kumimoji="0" lang="zh-CN" altLang="en-US" sz="2600" baseline="-25000">
                <a:solidFill>
                  <a:srgbClr val="CCFFCC"/>
                </a:solidFill>
                <a:effectLst>
                  <a:outerShdw blurRad="38100" dist="38100" dir="2700000" algn="tl">
                    <a:srgbClr val="000000"/>
                  </a:outerShdw>
                </a:effectLst>
              </a:endParaRPr>
            </a:p>
          </p:txBody>
        </p:sp>
        <p:sp>
          <p:nvSpPr>
            <p:cNvPr id="1514512" name="Rectangle 16"/>
            <p:cNvSpPr>
              <a:spLocks noChangeArrowheads="1"/>
            </p:cNvSpPr>
            <p:nvPr/>
          </p:nvSpPr>
          <p:spPr bwMode="auto">
            <a:xfrm>
              <a:off x="2093" y="1789"/>
              <a:ext cx="144" cy="346"/>
            </a:xfrm>
            <a:prstGeom prst="rect">
              <a:avLst/>
            </a:prstGeom>
            <a:noFill/>
            <a:ln w="12700" cap="sq" algn="ctr">
              <a:noFill/>
              <a:miter lim="800000"/>
              <a:headEnd/>
              <a:tailEnd/>
            </a:ln>
            <a:effectLst/>
          </p:spPr>
          <p:txBody>
            <a:bodyPr wrap="none" lIns="0" tIns="0" rIns="0" bIns="0">
              <a:spAutoFit/>
            </a:bodyPr>
            <a:lstStyle/>
            <a:p>
              <a:pPr>
                <a:buSzTx/>
                <a:buFontTx/>
                <a:buNone/>
                <a:defRPr/>
              </a:pPr>
              <a:r>
                <a:rPr kumimoji="0" lang="en-US" altLang="zh-CN" sz="3600">
                  <a:solidFill>
                    <a:srgbClr val="CCFFCC"/>
                  </a:solidFill>
                  <a:effectLst>
                    <a:outerShdw blurRad="38100" dist="38100" dir="2700000" algn="tl">
                      <a:srgbClr val="000000"/>
                    </a:outerShdw>
                  </a:effectLst>
                </a:rPr>
                <a:t>)</a:t>
              </a:r>
              <a:endParaRPr kumimoji="0" lang="zh-CN" altLang="en-US" sz="2800" baseline="30000">
                <a:solidFill>
                  <a:srgbClr val="CCFFCC"/>
                </a:solidFill>
                <a:effectLst>
                  <a:outerShdw blurRad="38100" dist="38100" dir="2700000" algn="tl">
                    <a:srgbClr val="000000"/>
                  </a:outerShdw>
                </a:effectLst>
              </a:endParaRPr>
            </a:p>
          </p:txBody>
        </p:sp>
        <p:sp>
          <p:nvSpPr>
            <p:cNvPr id="1514513" name="Rectangle 17"/>
            <p:cNvSpPr>
              <a:spLocks noChangeArrowheads="1"/>
            </p:cNvSpPr>
            <p:nvPr/>
          </p:nvSpPr>
          <p:spPr bwMode="auto">
            <a:xfrm>
              <a:off x="2192" y="1802"/>
              <a:ext cx="80" cy="192"/>
            </a:xfrm>
            <a:prstGeom prst="rect">
              <a:avLst/>
            </a:prstGeom>
            <a:noFill/>
            <a:ln w="12700" cap="sq" algn="ctr">
              <a:noFill/>
              <a:miter lim="800000"/>
              <a:headEnd/>
              <a:tailEnd/>
            </a:ln>
            <a:effectLst/>
          </p:spPr>
          <p:txBody>
            <a:bodyPr wrap="none" lIns="0" tIns="0" rIns="0" bIns="0">
              <a:spAutoFit/>
            </a:bodyPr>
            <a:lstStyle/>
            <a:p>
              <a:pPr>
                <a:buSzTx/>
                <a:buFontTx/>
                <a:buNone/>
                <a:defRPr/>
              </a:pPr>
              <a:r>
                <a:rPr kumimoji="0" lang="en-US" altLang="zh-CN" sz="2000">
                  <a:solidFill>
                    <a:srgbClr val="CCFFCC"/>
                  </a:solidFill>
                  <a:effectLst>
                    <a:outerShdw blurRad="38100" dist="38100" dir="2700000" algn="tl">
                      <a:srgbClr val="000000"/>
                    </a:outerShdw>
                  </a:effectLst>
                </a:rPr>
                <a:t>+</a:t>
              </a:r>
              <a:endParaRPr kumimoji="0" lang="zh-CN" altLang="en-US" sz="2000">
                <a:solidFill>
                  <a:srgbClr val="CCFFCC"/>
                </a:solidFill>
                <a:effectLst>
                  <a:outerShdw blurRad="38100" dist="38100" dir="2700000" algn="tl">
                    <a:srgbClr val="000000"/>
                  </a:outerShdw>
                </a:effectLst>
              </a:endParaRPr>
            </a:p>
          </p:txBody>
        </p:sp>
      </p:grpSp>
    </p:spTree>
  </p:cSld>
  <p:clrMapOvr>
    <a:masterClrMapping/>
  </p:clrMapOvr>
  <p:transition spd="med">
    <p:random/>
    <p:sndAc>
      <p:stSnd>
        <p:snd r:embed="rId2" name="camera.wav"/>
      </p:stSnd>
    </p:sndAc>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3"/>
          <p:cNvSpPr>
            <a:spLocks noGrp="1" noChangeArrowheads="1"/>
          </p:cNvSpPr>
          <p:nvPr>
            <p:ph type="title"/>
          </p:nvPr>
        </p:nvSpPr>
        <p:spPr>
          <a:xfrm>
            <a:off x="0" y="16122"/>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ea typeface="微软雅黑" pitchFamily="34" charset="-122"/>
              </a:rPr>
              <a:t>分解案例</a:t>
            </a:r>
          </a:p>
        </p:txBody>
      </p:sp>
      <p:graphicFrame>
        <p:nvGraphicFramePr>
          <p:cNvPr id="1515524" name="Group 4"/>
          <p:cNvGraphicFramePr>
            <a:graphicFrameLocks noGrp="1"/>
          </p:cNvGraphicFramePr>
          <p:nvPr/>
        </p:nvGraphicFramePr>
        <p:xfrm>
          <a:off x="3995738" y="1219200"/>
          <a:ext cx="685800" cy="2438400"/>
        </p:xfrm>
        <a:graphic>
          <a:graphicData uri="http://schemas.openxmlformats.org/drawingml/2006/table">
            <a:tbl>
              <a:tblPr/>
              <a:tblGrid>
                <a:gridCol w="685800">
                  <a:extLst>
                    <a:ext uri="{9D8B030D-6E8A-4147-A177-3AD203B41FA5}">
                      <a16:colId xmlns:a16="http://schemas.microsoft.com/office/drawing/2014/main" val="20000"/>
                    </a:ext>
                  </a:extLst>
                </a:gridCol>
              </a:tblGrid>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姓名</a:t>
                      </a:r>
                    </a:p>
                  </a:txBody>
                  <a:tcPr marL="0" marR="0" marT="0" marB="0" horzOverflow="overflow">
                    <a:lnL cap="flat">
                      <a:noFill/>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张明</a:t>
                      </a:r>
                    </a:p>
                  </a:txBody>
                  <a:tcPr marL="0" marR="0" marT="0" marB="0" horzOverflow="overflow">
                    <a:lnL cap="flat">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赵龙</a:t>
                      </a:r>
                    </a:p>
                  </a:txBody>
                  <a:tcPr marL="0" marR="0" marT="0" marB="0" horzOverflow="overflow">
                    <a:lnL cap="flat">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陈然</a:t>
                      </a:r>
                    </a:p>
                  </a:txBody>
                  <a:tcPr marL="0" marR="0" marT="0" marB="0" horzOverflow="overflow">
                    <a:lnL cap="flat">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李科</a:t>
                      </a:r>
                    </a:p>
                  </a:txBody>
                  <a:tcPr marL="0" marR="0" marT="0" marB="0" horzOverflow="overflow">
                    <a:lnL cap="flat">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王军</a:t>
                      </a:r>
                    </a:p>
                  </a:txBody>
                  <a:tcPr marL="0" marR="0" marT="0" marB="0" horzOverflow="overflow">
                    <a:lnL cap="flat">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朱成</a:t>
                      </a:r>
                    </a:p>
                  </a:txBody>
                  <a:tcPr marL="0" marR="0" marT="0" marB="0" horzOverflow="overflow">
                    <a:lnL cap="flat">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黄沙</a:t>
                      </a:r>
                    </a:p>
                  </a:txBody>
                  <a:tcPr marL="0" marR="0" marT="0" marB="0" horzOverflow="overflow">
                    <a:lnL cap="flat">
                      <a:noFill/>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1515546" name="Rectangle 26"/>
          <p:cNvSpPr>
            <a:spLocks noChangeArrowheads="1"/>
          </p:cNvSpPr>
          <p:nvPr/>
        </p:nvSpPr>
        <p:spPr bwMode="auto">
          <a:xfrm>
            <a:off x="4051300" y="803275"/>
            <a:ext cx="169863"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S</a:t>
            </a:r>
          </a:p>
        </p:txBody>
      </p:sp>
      <p:graphicFrame>
        <p:nvGraphicFramePr>
          <p:cNvPr id="1515547" name="Group 27"/>
          <p:cNvGraphicFramePr>
            <a:graphicFrameLocks noGrp="1"/>
          </p:cNvGraphicFramePr>
          <p:nvPr/>
        </p:nvGraphicFramePr>
        <p:xfrm>
          <a:off x="5143500" y="1219200"/>
          <a:ext cx="685800" cy="1219200"/>
        </p:xfrm>
        <a:graphic>
          <a:graphicData uri="http://schemas.openxmlformats.org/drawingml/2006/table">
            <a:tbl>
              <a:tblPr/>
              <a:tblGrid>
                <a:gridCol w="685800">
                  <a:extLst>
                    <a:ext uri="{9D8B030D-6E8A-4147-A177-3AD203B41FA5}">
                      <a16:colId xmlns:a16="http://schemas.microsoft.com/office/drawing/2014/main" val="20000"/>
                    </a:ext>
                  </a:extLst>
                </a:gridCol>
              </a:tblGrid>
              <a:tr h="3048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系名</a:t>
                      </a:r>
                    </a:p>
                  </a:txBody>
                  <a:tcPr marL="0" marR="0" marT="0" marB="0" horzOverflow="overflow">
                    <a:lnL cap="flat">
                      <a:noFill/>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48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cap="flat">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48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cap="flat">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48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cap="flat">
                      <a:noFill/>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515565" name="Rectangle 45"/>
          <p:cNvSpPr>
            <a:spLocks noChangeArrowheads="1"/>
          </p:cNvSpPr>
          <p:nvPr/>
        </p:nvSpPr>
        <p:spPr bwMode="auto">
          <a:xfrm>
            <a:off x="5235575" y="796925"/>
            <a:ext cx="220663"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D</a:t>
            </a:r>
          </a:p>
        </p:txBody>
      </p:sp>
      <p:graphicFrame>
        <p:nvGraphicFramePr>
          <p:cNvPr id="1515566" name="Group 46"/>
          <p:cNvGraphicFramePr>
            <a:graphicFrameLocks noGrp="1"/>
          </p:cNvGraphicFramePr>
          <p:nvPr/>
        </p:nvGraphicFramePr>
        <p:xfrm>
          <a:off x="6300788" y="1219200"/>
          <a:ext cx="838200" cy="914400"/>
        </p:xfrm>
        <a:graphic>
          <a:graphicData uri="http://schemas.openxmlformats.org/drawingml/2006/table">
            <a:tbl>
              <a:tblPr/>
              <a:tblGrid>
                <a:gridCol w="838200">
                  <a:extLst>
                    <a:ext uri="{9D8B030D-6E8A-4147-A177-3AD203B41FA5}">
                      <a16:colId xmlns:a16="http://schemas.microsoft.com/office/drawing/2014/main" val="20000"/>
                    </a:ext>
                  </a:extLst>
                </a:gridCol>
              </a:tblGrid>
              <a:tr h="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系主任</a:t>
                      </a:r>
                    </a:p>
                  </a:txBody>
                  <a:tcPr marL="0" marR="0" marT="0" marB="0" horzOverflow="overflow">
                    <a:lnL cap="flat">
                      <a:noFill/>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刘成</a:t>
                      </a:r>
                    </a:p>
                  </a:txBody>
                  <a:tcPr marL="0" marR="0" marT="0" marB="0" horzOverflow="overflow">
                    <a:lnL cap="flat">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魏征</a:t>
                      </a:r>
                    </a:p>
                  </a:txBody>
                  <a:tcPr marL="0" marR="0" marT="0" marB="0" horzOverflow="overflow">
                    <a:lnL cap="flat">
                      <a:noFill/>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515578" name="Rectangle 58"/>
          <p:cNvSpPr>
            <a:spLocks noChangeArrowheads="1"/>
          </p:cNvSpPr>
          <p:nvPr/>
        </p:nvSpPr>
        <p:spPr bwMode="auto">
          <a:xfrm>
            <a:off x="6532563" y="798513"/>
            <a:ext cx="271462"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M</a:t>
            </a:r>
          </a:p>
        </p:txBody>
      </p:sp>
      <p:sp>
        <p:nvSpPr>
          <p:cNvPr id="1515579" name="Rectangle 59"/>
          <p:cNvSpPr>
            <a:spLocks noChangeArrowheads="1"/>
          </p:cNvSpPr>
          <p:nvPr/>
        </p:nvSpPr>
        <p:spPr bwMode="auto">
          <a:xfrm>
            <a:off x="3995738" y="3886200"/>
            <a:ext cx="785812" cy="406400"/>
          </a:xfrm>
          <a:prstGeom prst="rect">
            <a:avLst/>
          </a:prstGeom>
          <a:solidFill>
            <a:srgbClr val="0000FF"/>
          </a:solidFill>
          <a:ln w="12700" cap="sq">
            <a:solidFill>
              <a:schemeClr val="tx1"/>
            </a:solidFill>
            <a:miter lim="800000"/>
            <a:headEnd/>
            <a:tailEnd/>
          </a:ln>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姓名</a:t>
            </a:r>
          </a:p>
        </p:txBody>
      </p:sp>
      <p:sp>
        <p:nvSpPr>
          <p:cNvPr id="1515580" name="Rectangle 60"/>
          <p:cNvSpPr>
            <a:spLocks noChangeArrowheads="1"/>
          </p:cNvSpPr>
          <p:nvPr/>
        </p:nvSpPr>
        <p:spPr bwMode="auto">
          <a:xfrm>
            <a:off x="5143500" y="2667000"/>
            <a:ext cx="785813" cy="406400"/>
          </a:xfrm>
          <a:prstGeom prst="rect">
            <a:avLst/>
          </a:prstGeom>
          <a:solidFill>
            <a:srgbClr val="0000FF"/>
          </a:solidFill>
          <a:ln w="12700" cap="sq">
            <a:solidFill>
              <a:schemeClr val="tx1"/>
            </a:solidFill>
            <a:miter lim="800000"/>
            <a:headEnd/>
            <a:tailEnd/>
          </a:ln>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系名</a:t>
            </a:r>
          </a:p>
        </p:txBody>
      </p:sp>
      <p:sp>
        <p:nvSpPr>
          <p:cNvPr id="1515581" name="Rectangle 61"/>
          <p:cNvSpPr>
            <a:spLocks noChangeArrowheads="1"/>
          </p:cNvSpPr>
          <p:nvPr/>
        </p:nvSpPr>
        <p:spPr bwMode="auto">
          <a:xfrm>
            <a:off x="6300788" y="2667000"/>
            <a:ext cx="1017587" cy="406400"/>
          </a:xfrm>
          <a:prstGeom prst="rect">
            <a:avLst/>
          </a:prstGeom>
          <a:solidFill>
            <a:srgbClr val="0000FF"/>
          </a:solidFill>
          <a:ln w="12700" cap="sq">
            <a:solidFill>
              <a:schemeClr val="tx1"/>
            </a:solidFill>
            <a:miter lim="800000"/>
            <a:headEnd/>
            <a:tailEnd/>
          </a:ln>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系主任</a:t>
            </a:r>
          </a:p>
        </p:txBody>
      </p:sp>
      <p:sp>
        <p:nvSpPr>
          <p:cNvPr id="1515582" name="Rectangle 62"/>
          <p:cNvSpPr>
            <a:spLocks noChangeArrowheads="1"/>
          </p:cNvSpPr>
          <p:nvPr/>
        </p:nvSpPr>
        <p:spPr bwMode="auto">
          <a:xfrm>
            <a:off x="323850" y="1557338"/>
            <a:ext cx="2590800" cy="4572000"/>
          </a:xfrm>
          <a:prstGeom prst="rect">
            <a:avLst/>
          </a:prstGeom>
          <a:solidFill>
            <a:srgbClr val="EBEBFF"/>
          </a:solidFill>
          <a:ln w="12700" cap="sq">
            <a:solidFill>
              <a:srgbClr val="FF9900"/>
            </a:solidFill>
            <a:miter lim="800000"/>
            <a:headEnd/>
            <a:tailEnd/>
          </a:ln>
          <a:effectLst/>
        </p:spPr>
        <p:txBody>
          <a:bodyPr wrap="none" lIns="0" tIns="0" rIns="0" bIns="0" anchor="ctr"/>
          <a:lstStyle/>
          <a:p>
            <a:pPr>
              <a:defRPr/>
            </a:pPr>
            <a:endParaRPr lang="zh-CN" altLang="en-US"/>
          </a:p>
        </p:txBody>
      </p:sp>
      <p:sp>
        <p:nvSpPr>
          <p:cNvPr id="1515583" name="Rectangle 63"/>
          <p:cNvSpPr>
            <a:spLocks noChangeArrowheads="1"/>
          </p:cNvSpPr>
          <p:nvPr/>
        </p:nvSpPr>
        <p:spPr bwMode="auto">
          <a:xfrm>
            <a:off x="552450" y="1709738"/>
            <a:ext cx="1509713"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solidFill>
                  <a:srgbClr val="000000"/>
                </a:solidFill>
                <a:effectLst>
                  <a:outerShdw blurRad="38100" dist="38100" dir="2700000" algn="tl">
                    <a:srgbClr val="FFFFFF"/>
                  </a:outerShdw>
                </a:effectLst>
                <a:latin typeface="Times New Roman" pitchFamily="18" charset="0"/>
              </a:rPr>
              <a:t>SDM∈2NF</a:t>
            </a:r>
          </a:p>
        </p:txBody>
      </p:sp>
      <p:graphicFrame>
        <p:nvGraphicFramePr>
          <p:cNvPr id="1515584" name="Group 64"/>
          <p:cNvGraphicFramePr>
            <a:graphicFrameLocks noGrp="1"/>
          </p:cNvGraphicFramePr>
          <p:nvPr/>
        </p:nvGraphicFramePr>
        <p:xfrm>
          <a:off x="476250" y="2141538"/>
          <a:ext cx="2209800" cy="2438400"/>
        </p:xfrm>
        <a:graphic>
          <a:graphicData uri="http://schemas.openxmlformats.org/drawingml/2006/table">
            <a:tbl>
              <a:tblPr/>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tblGrid>
              <a:tr h="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chemeClr val="bg1"/>
                          </a:solidFill>
                          <a:effectLst/>
                          <a:latin typeface="Times New Roman" pitchFamily="18" charset="0"/>
                          <a:ea typeface="楷体_GB2312" pitchFamily="49" charset="-122"/>
                        </a:rPr>
                        <a:t>姓名</a:t>
                      </a:r>
                    </a:p>
                  </a:txBody>
                  <a:tcPr marL="0" marR="0" marT="0" marB="0" horzOverflow="overflow">
                    <a:lnL cap="flat">
                      <a:noFill/>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chemeClr val="bg1"/>
                          </a:solidFill>
                          <a:effectLst/>
                          <a:latin typeface="Times New Roman" pitchFamily="18" charset="0"/>
                          <a:ea typeface="楷体_GB2312" pitchFamily="49" charset="-122"/>
                        </a:rPr>
                        <a:t>系名</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chemeClr val="bg1"/>
                          </a:solidFill>
                          <a:effectLst/>
                          <a:latin typeface="Times New Roman" pitchFamily="18" charset="0"/>
                          <a:ea typeface="楷体_GB2312" pitchFamily="49" charset="-122"/>
                        </a:rPr>
                        <a:t>系主任</a:t>
                      </a:r>
                    </a:p>
                  </a:txBody>
                  <a:tcPr marL="0" marR="0" marT="0" marB="0" horzOverflow="overflow">
                    <a:lnL w="12700" cap="flat" cmpd="sng" algn="ctr">
                      <a:solidFill>
                        <a:srgbClr val="000000"/>
                      </a:solidFill>
                      <a:prstDash val="solid"/>
                      <a:round/>
                      <a:headEnd type="none" w="med" len="med"/>
                      <a:tailEnd type="none" w="med" len="med"/>
                    </a:lnL>
                    <a:lnR cap="flat">
                      <a:noFill/>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张明</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chemeClr val="bg1"/>
                          </a:solidFill>
                          <a:effectLst/>
                          <a:latin typeface="Times New Roman" pitchFamily="18" charset="0"/>
                          <a:ea typeface="楷体_GB2312" pitchFamily="49" charset="-122"/>
                        </a:rPr>
                        <a:t>IS</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刘成</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赵龙</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chemeClr val="bg1"/>
                          </a:solidFill>
                          <a:effectLst/>
                          <a:latin typeface="Times New Roman" pitchFamily="18" charset="0"/>
                          <a:ea typeface="楷体_GB2312" pitchFamily="49" charset="-122"/>
                        </a:rPr>
                        <a:t>CS</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刘成</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陈然</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chemeClr val="bg1"/>
                          </a:solidFill>
                          <a:effectLst/>
                          <a:latin typeface="Times New Roman" pitchFamily="18" charset="0"/>
                          <a:ea typeface="楷体_GB2312" pitchFamily="49" charset="-122"/>
                        </a:rPr>
                        <a:t>MA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魏征</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李科</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chemeClr val="bg1"/>
                          </a:solidFill>
                          <a:effectLst/>
                          <a:latin typeface="Times New Roman" pitchFamily="18" charset="0"/>
                          <a:ea typeface="楷体_GB2312" pitchFamily="49" charset="-122"/>
                        </a:rPr>
                        <a:t>IS</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刘成</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王军</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chemeClr val="bg1"/>
                          </a:solidFill>
                          <a:effectLst/>
                          <a:latin typeface="Times New Roman" pitchFamily="18" charset="0"/>
                          <a:ea typeface="楷体_GB2312" pitchFamily="49" charset="-122"/>
                        </a:rPr>
                        <a:t>MA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魏征</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朱成</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chemeClr val="bg1"/>
                          </a:solidFill>
                          <a:effectLst/>
                          <a:latin typeface="Times New Roman" pitchFamily="18" charset="0"/>
                          <a:ea typeface="楷体_GB2312" pitchFamily="49" charset="-122"/>
                        </a:rPr>
                        <a:t>IS</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刘成</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黄沙</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chemeClr val="bg1"/>
                          </a:solidFill>
                          <a:effectLst/>
                          <a:latin typeface="Times New Roman" pitchFamily="18" charset="0"/>
                          <a:ea typeface="楷体_GB2312" pitchFamily="49" charset="-122"/>
                        </a:rPr>
                        <a:t>CS</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刘成</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1515624" name="Rectangle 104"/>
          <p:cNvSpPr>
            <a:spLocks noChangeArrowheads="1"/>
          </p:cNvSpPr>
          <p:nvPr/>
        </p:nvSpPr>
        <p:spPr bwMode="auto">
          <a:xfrm>
            <a:off x="1785938" y="4910138"/>
            <a:ext cx="785812" cy="330200"/>
          </a:xfrm>
          <a:prstGeom prst="rect">
            <a:avLst/>
          </a:prstGeom>
          <a:solidFill>
            <a:srgbClr val="CCCCFF"/>
          </a:solidFill>
          <a:ln w="12700" cap="sq">
            <a:solidFill>
              <a:srgbClr val="000000"/>
            </a:solidFill>
            <a:miter lim="800000"/>
            <a:headEnd/>
            <a:tailEnd/>
          </a:ln>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姓名</a:t>
            </a:r>
          </a:p>
        </p:txBody>
      </p:sp>
      <p:sp>
        <p:nvSpPr>
          <p:cNvPr id="1515625" name="Rectangle 105"/>
          <p:cNvSpPr>
            <a:spLocks noChangeArrowheads="1"/>
          </p:cNvSpPr>
          <p:nvPr/>
        </p:nvSpPr>
        <p:spPr bwMode="auto">
          <a:xfrm>
            <a:off x="692150" y="4910138"/>
            <a:ext cx="785813" cy="330200"/>
          </a:xfrm>
          <a:prstGeom prst="rect">
            <a:avLst/>
          </a:prstGeom>
          <a:solidFill>
            <a:srgbClr val="DDDDDD"/>
          </a:solidFill>
          <a:ln w="12700" cap="sq">
            <a:solidFill>
              <a:srgbClr val="000000"/>
            </a:solidFill>
            <a:miter lim="800000"/>
            <a:headEnd/>
            <a:tailEnd/>
          </a:ln>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系名</a:t>
            </a:r>
          </a:p>
        </p:txBody>
      </p:sp>
      <p:sp>
        <p:nvSpPr>
          <p:cNvPr id="1515626" name="Rectangle 106"/>
          <p:cNvSpPr>
            <a:spLocks noChangeArrowheads="1"/>
          </p:cNvSpPr>
          <p:nvPr/>
        </p:nvSpPr>
        <p:spPr bwMode="auto">
          <a:xfrm>
            <a:off x="620713" y="5570538"/>
            <a:ext cx="927100" cy="330200"/>
          </a:xfrm>
          <a:prstGeom prst="rect">
            <a:avLst/>
          </a:prstGeom>
          <a:solidFill>
            <a:srgbClr val="DDDDDD"/>
          </a:solidFill>
          <a:ln w="12700" cap="sq">
            <a:solidFill>
              <a:srgbClr val="000000"/>
            </a:solidFill>
            <a:miter lim="800000"/>
            <a:headEnd/>
            <a:tailEnd/>
          </a:ln>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系主任</a:t>
            </a:r>
          </a:p>
        </p:txBody>
      </p:sp>
      <p:cxnSp>
        <p:nvCxnSpPr>
          <p:cNvPr id="54359" name="AutoShape 107"/>
          <p:cNvCxnSpPr>
            <a:cxnSpLocks noChangeShapeType="1"/>
            <a:stCxn id="1515624" idx="1"/>
            <a:endCxn id="1515625" idx="3"/>
          </p:cNvCxnSpPr>
          <p:nvPr/>
        </p:nvCxnSpPr>
        <p:spPr bwMode="auto">
          <a:xfrm flipH="1">
            <a:off x="1477963" y="5075238"/>
            <a:ext cx="307975" cy="0"/>
          </a:xfrm>
          <a:prstGeom prst="straightConnector1">
            <a:avLst/>
          </a:prstGeom>
          <a:noFill/>
          <a:ln w="28575" cap="sq">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4360" name="AutoShape 108"/>
          <p:cNvCxnSpPr>
            <a:cxnSpLocks noChangeShapeType="1"/>
            <a:stCxn id="1515625" idx="2"/>
            <a:endCxn id="1515626" idx="0"/>
          </p:cNvCxnSpPr>
          <p:nvPr/>
        </p:nvCxnSpPr>
        <p:spPr bwMode="auto">
          <a:xfrm flipH="1">
            <a:off x="1084263" y="5240338"/>
            <a:ext cx="1587" cy="330200"/>
          </a:xfrm>
          <a:prstGeom prst="straightConnector1">
            <a:avLst/>
          </a:prstGeom>
          <a:noFill/>
          <a:ln w="28575" cap="sq">
            <a:solidFill>
              <a:srgbClr val="000000"/>
            </a:solidFill>
            <a:round/>
            <a:headEnd/>
            <a:tailEnd type="triangle" w="med" len="med"/>
          </a:ln>
          <a:extLst>
            <a:ext uri="{909E8E84-426E-40DD-AFC4-6F175D3DCCD1}">
              <a14:hiddenFill xmlns:a14="http://schemas.microsoft.com/office/drawing/2010/main">
                <a:noFill/>
              </a14:hiddenFill>
            </a:ext>
          </a:extLst>
        </p:spPr>
      </p:cxnSp>
      <p:grpSp>
        <p:nvGrpSpPr>
          <p:cNvPr id="54361" name="Group 109"/>
          <p:cNvGrpSpPr>
            <a:grpSpLocks/>
          </p:cNvGrpSpPr>
          <p:nvPr/>
        </p:nvGrpSpPr>
        <p:grpSpPr bwMode="auto">
          <a:xfrm>
            <a:off x="4049713" y="4868863"/>
            <a:ext cx="4267200" cy="381000"/>
            <a:chOff x="2381" y="2976"/>
            <a:chExt cx="2688" cy="240"/>
          </a:xfrm>
        </p:grpSpPr>
        <p:sp>
          <p:nvSpPr>
            <p:cNvPr id="1515630" name="Rectangle 110"/>
            <p:cNvSpPr>
              <a:spLocks noChangeArrowheads="1"/>
            </p:cNvSpPr>
            <p:nvPr/>
          </p:nvSpPr>
          <p:spPr bwMode="auto">
            <a:xfrm>
              <a:off x="2381" y="2976"/>
              <a:ext cx="2688" cy="240"/>
            </a:xfrm>
            <a:prstGeom prst="rect">
              <a:avLst/>
            </a:prstGeom>
            <a:noFill/>
            <a:ln w="12700" cap="sq">
              <a:noFill/>
              <a:miter lim="800000"/>
              <a:headEnd/>
              <a:tailEnd/>
            </a:ln>
            <a:effectLst/>
          </p:spPr>
          <p:txBody>
            <a:bodyPr lIns="0" tIns="0" rIns="0" bIns="0"/>
            <a:lstStyle/>
            <a:p>
              <a:pPr>
                <a:spcAft>
                  <a:spcPct val="0"/>
                </a:spcAft>
                <a:buSzTx/>
                <a:buFontTx/>
                <a:buNone/>
                <a:defRPr/>
              </a:pPr>
              <a:r>
                <a:rPr lang="en-US" altLang="zh-CN" sz="2800">
                  <a:solidFill>
                    <a:srgbClr val="CCFFCC"/>
                  </a:solidFill>
                  <a:effectLst>
                    <a:outerShdw blurRad="38100" dist="38100" dir="2700000" algn="tl">
                      <a:srgbClr val="000000"/>
                    </a:outerShdw>
                  </a:effectLst>
                  <a:latin typeface="Times New Roman" pitchFamily="18" charset="0"/>
                </a:rPr>
                <a:t>S  </a:t>
              </a:r>
              <a:r>
                <a:rPr lang="zh-CN" altLang="en-US" sz="2800">
                  <a:solidFill>
                    <a:srgbClr val="CCFFCC"/>
                  </a:solidFill>
                  <a:effectLst>
                    <a:outerShdw blurRad="38100" dist="38100" dir="2700000" algn="tl">
                      <a:srgbClr val="000000"/>
                    </a:outerShdw>
                  </a:effectLst>
                  <a:latin typeface="Times New Roman" pitchFamily="18" charset="0"/>
                </a:rPr>
                <a:t>     </a:t>
              </a:r>
              <a:r>
                <a:rPr lang="en-US" altLang="zh-CN" sz="2800">
                  <a:solidFill>
                    <a:srgbClr val="CCFFCC"/>
                  </a:solidFill>
                  <a:effectLst>
                    <a:outerShdw blurRad="38100" dist="38100" dir="2700000" algn="tl">
                      <a:srgbClr val="000000"/>
                    </a:outerShdw>
                  </a:effectLst>
                  <a:latin typeface="Times New Roman" pitchFamily="18" charset="0"/>
                </a:rPr>
                <a:t>D       M</a:t>
              </a:r>
              <a:r>
                <a:rPr lang="zh-CN" altLang="en-US" sz="2800">
                  <a:solidFill>
                    <a:srgbClr val="CCFFCC"/>
                  </a:solidFill>
                  <a:effectLst>
                    <a:outerShdw blurRad="38100" dist="38100" dir="2700000" algn="tl">
                      <a:srgbClr val="000000"/>
                    </a:outerShdw>
                  </a:effectLst>
                  <a:latin typeface="Times New Roman" pitchFamily="18" charset="0"/>
                </a:rPr>
                <a:t>有0个元组</a:t>
              </a:r>
            </a:p>
            <a:p>
              <a:pPr>
                <a:spcAft>
                  <a:spcPct val="0"/>
                </a:spcAft>
                <a:buSzTx/>
                <a:buFontTx/>
                <a:buNone/>
                <a:defRPr/>
              </a:pPr>
              <a:r>
                <a:rPr lang="zh-CN" altLang="en-US" sz="2800">
                  <a:solidFill>
                    <a:srgbClr val="CCFFCC"/>
                  </a:solidFill>
                  <a:effectLst>
                    <a:outerShdw blurRad="38100" dist="38100" dir="2700000" algn="tl">
                      <a:srgbClr val="000000"/>
                    </a:outerShdw>
                  </a:effectLst>
                  <a:latin typeface="Times New Roman" pitchFamily="18" charset="0"/>
                </a:rPr>
                <a:t>不具有无损连接性</a:t>
              </a:r>
            </a:p>
            <a:p>
              <a:pPr>
                <a:spcAft>
                  <a:spcPct val="0"/>
                </a:spcAft>
                <a:buSzTx/>
                <a:buFontTx/>
                <a:buNone/>
                <a:defRPr/>
              </a:pPr>
              <a:r>
                <a:rPr lang="zh-CN" altLang="en-US" sz="2800">
                  <a:solidFill>
                    <a:srgbClr val="CCFFCC"/>
                  </a:solidFill>
                  <a:effectLst>
                    <a:outerShdw blurRad="38100" dist="38100" dir="2700000" algn="tl">
                      <a:srgbClr val="000000"/>
                    </a:outerShdw>
                  </a:effectLst>
                  <a:latin typeface="Times New Roman" pitchFamily="18" charset="0"/>
                </a:rPr>
                <a:t>丢失了所有的函数依赖</a:t>
              </a:r>
            </a:p>
          </p:txBody>
        </p:sp>
        <p:sp>
          <p:nvSpPr>
            <p:cNvPr id="1515631" name="Freeform 111"/>
            <p:cNvSpPr>
              <a:spLocks/>
            </p:cNvSpPr>
            <p:nvPr/>
          </p:nvSpPr>
          <p:spPr bwMode="auto">
            <a:xfrm>
              <a:off x="2608" y="3047"/>
              <a:ext cx="182" cy="143"/>
            </a:xfrm>
            <a:custGeom>
              <a:avLst/>
              <a:gdLst/>
              <a:ahLst/>
              <a:cxnLst>
                <a:cxn ang="0">
                  <a:pos x="0" y="8"/>
                </a:cxn>
                <a:cxn ang="0">
                  <a:pos x="266" y="174"/>
                </a:cxn>
                <a:cxn ang="0">
                  <a:pos x="266" y="0"/>
                </a:cxn>
                <a:cxn ang="0">
                  <a:pos x="0" y="168"/>
                </a:cxn>
                <a:cxn ang="0">
                  <a:pos x="0" y="8"/>
                </a:cxn>
              </a:cxnLst>
              <a:rect l="0" t="0" r="r" b="b"/>
              <a:pathLst>
                <a:path w="266" h="174">
                  <a:moveTo>
                    <a:pt x="0" y="8"/>
                  </a:moveTo>
                  <a:lnTo>
                    <a:pt x="266" y="174"/>
                  </a:lnTo>
                  <a:lnTo>
                    <a:pt x="266" y="0"/>
                  </a:lnTo>
                  <a:lnTo>
                    <a:pt x="0" y="168"/>
                  </a:lnTo>
                  <a:lnTo>
                    <a:pt x="0" y="8"/>
                  </a:lnTo>
                  <a:close/>
                </a:path>
              </a:pathLst>
            </a:custGeom>
            <a:noFill/>
            <a:ln w="19050" cap="sq" cmpd="sng">
              <a:solidFill>
                <a:srgbClr val="CCFFCC"/>
              </a:solidFill>
              <a:prstDash val="solid"/>
              <a:round/>
              <a:headEnd type="none" w="med" len="med"/>
              <a:tailEnd type="none" w="med" len="med"/>
            </a:ln>
            <a:effectLst/>
          </p:spPr>
          <p:txBody>
            <a:bodyPr lIns="72000" tIns="72000" rIns="72000" bIns="72000"/>
            <a:lstStyle/>
            <a:p>
              <a:pPr>
                <a:defRPr/>
              </a:pPr>
              <a:endParaRPr lang="zh-CN" altLang="en-US"/>
            </a:p>
          </p:txBody>
        </p:sp>
        <p:sp>
          <p:nvSpPr>
            <p:cNvPr id="1515632" name="Freeform 112"/>
            <p:cNvSpPr>
              <a:spLocks/>
            </p:cNvSpPr>
            <p:nvPr/>
          </p:nvSpPr>
          <p:spPr bwMode="auto">
            <a:xfrm>
              <a:off x="3165" y="3047"/>
              <a:ext cx="182" cy="143"/>
            </a:xfrm>
            <a:custGeom>
              <a:avLst/>
              <a:gdLst/>
              <a:ahLst/>
              <a:cxnLst>
                <a:cxn ang="0">
                  <a:pos x="0" y="8"/>
                </a:cxn>
                <a:cxn ang="0">
                  <a:pos x="266" y="174"/>
                </a:cxn>
                <a:cxn ang="0">
                  <a:pos x="266" y="0"/>
                </a:cxn>
                <a:cxn ang="0">
                  <a:pos x="0" y="168"/>
                </a:cxn>
                <a:cxn ang="0">
                  <a:pos x="0" y="8"/>
                </a:cxn>
              </a:cxnLst>
              <a:rect l="0" t="0" r="r" b="b"/>
              <a:pathLst>
                <a:path w="266" h="174">
                  <a:moveTo>
                    <a:pt x="0" y="8"/>
                  </a:moveTo>
                  <a:lnTo>
                    <a:pt x="266" y="174"/>
                  </a:lnTo>
                  <a:lnTo>
                    <a:pt x="266" y="0"/>
                  </a:lnTo>
                  <a:lnTo>
                    <a:pt x="0" y="168"/>
                  </a:lnTo>
                  <a:lnTo>
                    <a:pt x="0" y="8"/>
                  </a:lnTo>
                  <a:close/>
                </a:path>
              </a:pathLst>
            </a:custGeom>
            <a:noFill/>
            <a:ln w="19050" cap="sq" cmpd="sng">
              <a:solidFill>
                <a:srgbClr val="CCFFCC"/>
              </a:solidFill>
              <a:prstDash val="solid"/>
              <a:round/>
              <a:headEnd type="none" w="med" len="med"/>
              <a:tailEnd type="none" w="med" len="med"/>
            </a:ln>
            <a:effectLst/>
          </p:spPr>
          <p:txBody>
            <a:bodyPr lIns="72000" tIns="72000" rIns="72000" bIns="72000"/>
            <a:lstStyle/>
            <a:p>
              <a:pPr>
                <a:defRPr/>
              </a:pPr>
              <a:endParaRPr lang="zh-CN" altLang="en-US"/>
            </a:p>
          </p:txBody>
        </p:sp>
      </p:grpSp>
      <p:sp>
        <p:nvSpPr>
          <p:cNvPr id="1515633" name="Rectangle 113"/>
          <p:cNvSpPr>
            <a:spLocks noChangeArrowheads="1"/>
          </p:cNvSpPr>
          <p:nvPr/>
        </p:nvSpPr>
        <p:spPr bwMode="auto">
          <a:xfrm>
            <a:off x="3995738" y="4941888"/>
            <a:ext cx="3600450" cy="1150937"/>
          </a:xfrm>
          <a:prstGeom prst="rect">
            <a:avLst/>
          </a:prstGeom>
          <a:solidFill>
            <a:srgbClr val="FF0000"/>
          </a:solidFill>
          <a:ln w="12700" cap="sq" algn="ctr">
            <a:solidFill>
              <a:schemeClr val="tx1"/>
            </a:solidFill>
            <a:miter lim="800000"/>
            <a:headEnd/>
            <a:tailEnd/>
          </a:ln>
          <a:effectLst>
            <a:outerShdw dist="107763" dir="2700000" algn="ctr" rotWithShape="0">
              <a:schemeClr val="bg2">
                <a:alpha val="50000"/>
              </a:schemeClr>
            </a:outerShdw>
          </a:effectLst>
        </p:spPr>
        <p:txBody>
          <a:bodyPr lIns="0" tIns="0" rIns="0" bIns="0" anchor="ctr" anchorCtr="1"/>
          <a:lstStyle/>
          <a:p>
            <a:pPr marL="377825" indent="-377825" algn="ctr">
              <a:spcAft>
                <a:spcPct val="0"/>
              </a:spcAft>
              <a:buSzTx/>
              <a:buFontTx/>
              <a:buNone/>
            </a:pPr>
            <a:r>
              <a:rPr lang="zh-CN" altLang="en-US" sz="2800" b="1">
                <a:solidFill>
                  <a:srgbClr val="FFFF00"/>
                </a:solidFill>
                <a:effectLst/>
                <a:latin typeface="Times New Roman" pitchFamily="18" charset="0"/>
              </a:rPr>
              <a:t>信息几乎丢失</a:t>
            </a:r>
          </a:p>
          <a:p>
            <a:pPr marL="377825" indent="-377825" algn="ctr">
              <a:spcAft>
                <a:spcPct val="0"/>
              </a:spcAft>
              <a:buSzTx/>
              <a:buFontTx/>
              <a:buNone/>
            </a:pPr>
            <a:r>
              <a:rPr lang="zh-CN" altLang="en-US" sz="2800" b="1">
                <a:solidFill>
                  <a:srgbClr val="FFFF00"/>
                </a:solidFill>
                <a:effectLst/>
                <a:latin typeface="Times New Roman" pitchFamily="18" charset="0"/>
              </a:rPr>
              <a:t>不可取的分解方案</a:t>
            </a:r>
          </a:p>
        </p:txBody>
      </p:sp>
    </p:spTree>
  </p:cSld>
  <p:clrMapOvr>
    <a:masterClrMapping/>
  </p:clrMapOvr>
  <p:transition spd="med">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1515633"/>
                                        </p:tgtEl>
                                        <p:attrNameLst>
                                          <p:attrName>style.visibility</p:attrName>
                                        </p:attrNameLst>
                                      </p:cBhvr>
                                      <p:to>
                                        <p:strVal val="visible"/>
                                      </p:to>
                                    </p:set>
                                    <p:animEffect transition="in" filter="fade">
                                      <p:cBhvr>
                                        <p:cTn id="7" dur="1000"/>
                                        <p:tgtEl>
                                          <p:spTgt spid="1515633"/>
                                        </p:tgtEl>
                                      </p:cBhvr>
                                    </p:animEffect>
                                    <p:anim calcmode="lin" valueType="num">
                                      <p:cBhvr>
                                        <p:cTn id="8" dur="1000" fill="hold"/>
                                        <p:tgtEl>
                                          <p:spTgt spid="1515633"/>
                                        </p:tgtEl>
                                        <p:attrNameLst>
                                          <p:attrName>ppt_x</p:attrName>
                                        </p:attrNameLst>
                                      </p:cBhvr>
                                      <p:tavLst>
                                        <p:tav tm="0">
                                          <p:val>
                                            <p:strVal val="#ppt_x"/>
                                          </p:val>
                                        </p:tav>
                                        <p:tav tm="100000">
                                          <p:val>
                                            <p:strVal val="#ppt_x"/>
                                          </p:val>
                                        </p:tav>
                                      </p:tavLst>
                                    </p:anim>
                                    <p:anim calcmode="lin" valueType="num">
                                      <p:cBhvr>
                                        <p:cTn id="9" dur="1000" fill="hold"/>
                                        <p:tgtEl>
                                          <p:spTgt spid="15156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633"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6548" name="Rectangle 4"/>
          <p:cNvSpPr>
            <a:spLocks noChangeArrowheads="1"/>
          </p:cNvSpPr>
          <p:nvPr/>
        </p:nvSpPr>
        <p:spPr bwMode="auto">
          <a:xfrm>
            <a:off x="3421063" y="4776788"/>
            <a:ext cx="5327650" cy="381000"/>
          </a:xfrm>
          <a:prstGeom prst="rect">
            <a:avLst/>
          </a:prstGeom>
          <a:noFill/>
          <a:ln w="12700" cap="sq">
            <a:noFill/>
            <a:miter lim="800000"/>
            <a:headEnd/>
            <a:tailEnd/>
          </a:ln>
          <a:effectLst/>
        </p:spPr>
        <p:txBody>
          <a:bodyPr lIns="0" tIns="0" rIns="0" bIns="0"/>
          <a:lstStyle/>
          <a:p>
            <a:pPr>
              <a:buSzTx/>
              <a:buFontTx/>
              <a:buNone/>
              <a:defRPr/>
            </a:pPr>
            <a:r>
              <a:rPr lang="en-US" altLang="zh-CN" sz="2800">
                <a:solidFill>
                  <a:srgbClr val="CCFFCC"/>
                </a:solidFill>
                <a:effectLst>
                  <a:outerShdw blurRad="38100" dist="38100" dir="2700000" algn="tl">
                    <a:srgbClr val="000000"/>
                  </a:outerShdw>
                </a:effectLst>
                <a:latin typeface="Times New Roman" pitchFamily="18" charset="0"/>
              </a:rPr>
              <a:t>SM  </a:t>
            </a:r>
            <a:r>
              <a:rPr lang="zh-CN" altLang="en-US" sz="2800">
                <a:solidFill>
                  <a:srgbClr val="CCFFCC"/>
                </a:solidFill>
                <a:effectLst>
                  <a:outerShdw blurRad="38100" dist="38100" dir="2700000" algn="tl">
                    <a:srgbClr val="000000"/>
                  </a:outerShdw>
                </a:effectLst>
                <a:latin typeface="Times New Roman" pitchFamily="18" charset="0"/>
              </a:rPr>
              <a:t>     </a:t>
            </a:r>
            <a:r>
              <a:rPr lang="en-US" altLang="zh-CN" sz="2800">
                <a:solidFill>
                  <a:srgbClr val="CCFFCC"/>
                </a:solidFill>
                <a:effectLst>
                  <a:outerShdw blurRad="38100" dist="38100" dir="2700000" algn="tl">
                    <a:srgbClr val="000000"/>
                  </a:outerShdw>
                </a:effectLst>
                <a:latin typeface="Times New Roman" pitchFamily="18" charset="0"/>
              </a:rPr>
              <a:t>DM</a:t>
            </a:r>
            <a:r>
              <a:rPr lang="zh-CN" altLang="en-US" sz="2800">
                <a:solidFill>
                  <a:srgbClr val="CCFFCC"/>
                </a:solidFill>
                <a:effectLst>
                  <a:outerShdw blurRad="38100" dist="38100" dir="2700000" algn="tl">
                    <a:srgbClr val="000000"/>
                  </a:outerShdw>
                </a:effectLst>
                <a:latin typeface="Times New Roman" pitchFamily="18" charset="0"/>
              </a:rPr>
              <a:t>多出</a:t>
            </a:r>
            <a:r>
              <a:rPr lang="en-US" altLang="zh-CN" sz="2800">
                <a:solidFill>
                  <a:srgbClr val="99FF99"/>
                </a:solidFill>
                <a:effectLst>
                  <a:outerShdw blurRad="38100" dist="38100" dir="2700000" algn="tl">
                    <a:srgbClr val="000000"/>
                  </a:outerShdw>
                </a:effectLst>
                <a:latin typeface="Times New Roman" pitchFamily="18" charset="0"/>
              </a:rPr>
              <a:t>(</a:t>
            </a:r>
            <a:r>
              <a:rPr lang="zh-CN" altLang="en-US" sz="2800">
                <a:solidFill>
                  <a:srgbClr val="99FF99"/>
                </a:solidFill>
                <a:effectLst>
                  <a:outerShdw blurRad="38100" dist="38100" dir="2700000" algn="tl">
                    <a:srgbClr val="000000"/>
                  </a:outerShdw>
                </a:effectLst>
                <a:latin typeface="Times New Roman" pitchFamily="18" charset="0"/>
              </a:rPr>
              <a:t>张明</a:t>
            </a:r>
            <a:r>
              <a:rPr lang="en-US" altLang="zh-CN" sz="2800">
                <a:solidFill>
                  <a:srgbClr val="99FF99"/>
                </a:solidFill>
                <a:effectLst>
                  <a:outerShdw blurRad="38100" dist="38100" dir="2700000" algn="tl">
                    <a:srgbClr val="000000"/>
                  </a:outerShdw>
                </a:effectLst>
                <a:latin typeface="Times New Roman" pitchFamily="18" charset="0"/>
              </a:rPr>
              <a:t>,CS,</a:t>
            </a:r>
            <a:r>
              <a:rPr lang="zh-CN" altLang="en-US" sz="2800">
                <a:solidFill>
                  <a:srgbClr val="99FF99"/>
                </a:solidFill>
                <a:effectLst>
                  <a:outerShdw blurRad="38100" dist="38100" dir="2700000" algn="tl">
                    <a:srgbClr val="000000"/>
                  </a:outerShdw>
                </a:effectLst>
                <a:latin typeface="Times New Roman" pitchFamily="18" charset="0"/>
              </a:rPr>
              <a:t>刘成</a:t>
            </a:r>
            <a:r>
              <a:rPr lang="en-US" altLang="zh-CN" sz="2800">
                <a:solidFill>
                  <a:srgbClr val="99FF99"/>
                </a:solidFill>
                <a:effectLst>
                  <a:outerShdw blurRad="38100" dist="38100" dir="2700000" algn="tl">
                    <a:srgbClr val="000000"/>
                  </a:outerShdw>
                </a:effectLst>
                <a:latin typeface="Times New Roman" pitchFamily="18" charset="0"/>
              </a:rPr>
              <a:t>)</a:t>
            </a:r>
            <a:r>
              <a:rPr lang="zh-CN" altLang="en-US" sz="2800">
                <a:solidFill>
                  <a:srgbClr val="CCFFCC"/>
                </a:solidFill>
                <a:effectLst>
                  <a:outerShdw blurRad="38100" dist="38100" dir="2700000" algn="tl">
                    <a:srgbClr val="000000"/>
                  </a:outerShdw>
                </a:effectLst>
                <a:latin typeface="Times New Roman" pitchFamily="18" charset="0"/>
              </a:rPr>
              <a:t>等</a:t>
            </a:r>
            <a:r>
              <a:rPr lang="en-US" altLang="zh-CN" sz="2800">
                <a:solidFill>
                  <a:srgbClr val="CCFFCC"/>
                </a:solidFill>
                <a:effectLst>
                  <a:outerShdw blurRad="38100" dist="38100" dir="2700000" algn="tl">
                    <a:srgbClr val="000000"/>
                  </a:outerShdw>
                </a:effectLst>
                <a:latin typeface="Times New Roman" pitchFamily="18" charset="0"/>
              </a:rPr>
              <a:t>5</a:t>
            </a:r>
            <a:r>
              <a:rPr lang="zh-CN" altLang="en-US" sz="2800">
                <a:solidFill>
                  <a:srgbClr val="CCFFCC"/>
                </a:solidFill>
                <a:effectLst>
                  <a:outerShdw blurRad="38100" dist="38100" dir="2700000" algn="tl">
                    <a:srgbClr val="000000"/>
                  </a:outerShdw>
                </a:effectLst>
                <a:latin typeface="Times New Roman" pitchFamily="18" charset="0"/>
              </a:rPr>
              <a:t>个元组，不具有无损连接性。</a:t>
            </a:r>
          </a:p>
          <a:p>
            <a:pPr>
              <a:buSzTx/>
              <a:buFontTx/>
              <a:buNone/>
              <a:defRPr/>
            </a:pPr>
            <a:r>
              <a:rPr lang="zh-CN" altLang="en-US" sz="2800">
                <a:solidFill>
                  <a:srgbClr val="CCFFCC"/>
                </a:solidFill>
                <a:effectLst>
                  <a:outerShdw blurRad="38100" dist="38100" dir="2700000" algn="tl">
                    <a:srgbClr val="000000"/>
                  </a:outerShdw>
                </a:effectLst>
                <a:latin typeface="Times New Roman" pitchFamily="18" charset="0"/>
              </a:rPr>
              <a:t>丢失了</a:t>
            </a:r>
            <a:r>
              <a:rPr lang="zh-CN" altLang="en-US" sz="2800">
                <a:solidFill>
                  <a:srgbClr val="99FF99"/>
                </a:solidFill>
                <a:effectLst>
                  <a:outerShdw blurRad="38100" dist="38100" dir="2700000" algn="tl">
                    <a:srgbClr val="000000"/>
                  </a:outerShdw>
                </a:effectLst>
                <a:latin typeface="Times New Roman" pitchFamily="18" charset="0"/>
              </a:rPr>
              <a:t>姓名→系名</a:t>
            </a:r>
            <a:r>
              <a:rPr lang="zh-CN" altLang="en-US" sz="2800">
                <a:solidFill>
                  <a:srgbClr val="CCFFCC"/>
                </a:solidFill>
                <a:effectLst>
                  <a:outerShdw blurRad="38100" dist="38100" dir="2700000" algn="tl">
                    <a:srgbClr val="000000"/>
                  </a:outerShdw>
                </a:effectLst>
                <a:latin typeface="Times New Roman" pitchFamily="18" charset="0"/>
              </a:rPr>
              <a:t>函数依赖。</a:t>
            </a:r>
          </a:p>
        </p:txBody>
      </p:sp>
      <p:sp>
        <p:nvSpPr>
          <p:cNvPr id="1516549" name="Freeform 5"/>
          <p:cNvSpPr>
            <a:spLocks/>
          </p:cNvSpPr>
          <p:nvPr/>
        </p:nvSpPr>
        <p:spPr bwMode="auto">
          <a:xfrm>
            <a:off x="4105275" y="4889500"/>
            <a:ext cx="309563" cy="227013"/>
          </a:xfrm>
          <a:custGeom>
            <a:avLst/>
            <a:gdLst/>
            <a:ahLst/>
            <a:cxnLst>
              <a:cxn ang="0">
                <a:pos x="0" y="8"/>
              </a:cxn>
              <a:cxn ang="0">
                <a:pos x="266" y="174"/>
              </a:cxn>
              <a:cxn ang="0">
                <a:pos x="266" y="0"/>
              </a:cxn>
              <a:cxn ang="0">
                <a:pos x="0" y="168"/>
              </a:cxn>
              <a:cxn ang="0">
                <a:pos x="0" y="8"/>
              </a:cxn>
            </a:cxnLst>
            <a:rect l="0" t="0" r="r" b="b"/>
            <a:pathLst>
              <a:path w="266" h="174">
                <a:moveTo>
                  <a:pt x="0" y="8"/>
                </a:moveTo>
                <a:lnTo>
                  <a:pt x="266" y="174"/>
                </a:lnTo>
                <a:lnTo>
                  <a:pt x="266" y="0"/>
                </a:lnTo>
                <a:lnTo>
                  <a:pt x="0" y="168"/>
                </a:lnTo>
                <a:lnTo>
                  <a:pt x="0" y="8"/>
                </a:lnTo>
                <a:close/>
              </a:path>
            </a:pathLst>
          </a:custGeom>
          <a:noFill/>
          <a:ln w="19050" cap="sq" cmpd="sng">
            <a:solidFill>
              <a:srgbClr val="CCFFCC"/>
            </a:solidFill>
            <a:prstDash val="solid"/>
            <a:round/>
            <a:headEnd type="none" w="med" len="med"/>
            <a:tailEnd type="none" w="med" len="med"/>
          </a:ln>
          <a:effectLst/>
        </p:spPr>
        <p:txBody>
          <a:bodyPr lIns="72000" tIns="72000" rIns="72000" bIns="72000"/>
          <a:lstStyle/>
          <a:p>
            <a:pPr>
              <a:defRPr/>
            </a:pPr>
            <a:endParaRPr lang="zh-CN" altLang="en-US"/>
          </a:p>
        </p:txBody>
      </p:sp>
      <p:sp>
        <p:nvSpPr>
          <p:cNvPr id="1516550" name="Rectangle 6"/>
          <p:cNvSpPr>
            <a:spLocks noChangeArrowheads="1"/>
          </p:cNvSpPr>
          <p:nvPr/>
        </p:nvSpPr>
        <p:spPr bwMode="auto">
          <a:xfrm>
            <a:off x="3932238" y="671513"/>
            <a:ext cx="441325"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SM</a:t>
            </a:r>
          </a:p>
        </p:txBody>
      </p:sp>
      <p:sp>
        <p:nvSpPr>
          <p:cNvPr id="1516551" name="Rectangle 7"/>
          <p:cNvSpPr>
            <a:spLocks noChangeArrowheads="1"/>
          </p:cNvSpPr>
          <p:nvPr/>
        </p:nvSpPr>
        <p:spPr bwMode="auto">
          <a:xfrm>
            <a:off x="6550025" y="620713"/>
            <a:ext cx="492125"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DM</a:t>
            </a:r>
          </a:p>
        </p:txBody>
      </p:sp>
      <p:graphicFrame>
        <p:nvGraphicFramePr>
          <p:cNvPr id="1516552" name="Group 8"/>
          <p:cNvGraphicFramePr>
            <a:graphicFrameLocks noGrp="1"/>
          </p:cNvGraphicFramePr>
          <p:nvPr/>
        </p:nvGraphicFramePr>
        <p:xfrm>
          <a:off x="3779838" y="1128713"/>
          <a:ext cx="1524000" cy="2438400"/>
        </p:xfrm>
        <a:graphic>
          <a:graphicData uri="http://schemas.openxmlformats.org/drawingml/2006/table">
            <a:tbl>
              <a:tblPr/>
              <a:tblGrid>
                <a:gridCol w="685800">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tblGrid>
              <a:tr h="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姓名</a:t>
                      </a:r>
                    </a:p>
                  </a:txBody>
                  <a:tcPr marL="0" marR="0" marT="0" marB="0"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系主任</a:t>
                      </a:r>
                    </a:p>
                  </a:txBody>
                  <a:tcPr marL="0" marR="0" marT="0" marB="0"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张明</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刘成</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赵龙</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刘成</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陈然</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魏征</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李科</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刘成</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王军</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魏征</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朱成</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刘成</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黄沙</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刘成</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graphicFrame>
        <p:nvGraphicFramePr>
          <p:cNvPr id="1516583" name="Group 39"/>
          <p:cNvGraphicFramePr>
            <a:graphicFrameLocks noGrp="1"/>
          </p:cNvGraphicFramePr>
          <p:nvPr/>
        </p:nvGraphicFramePr>
        <p:xfrm>
          <a:off x="6446838" y="1103313"/>
          <a:ext cx="1524000" cy="1219200"/>
        </p:xfrm>
        <a:graphic>
          <a:graphicData uri="http://schemas.openxmlformats.org/drawingml/2006/table">
            <a:tbl>
              <a:tblPr/>
              <a:tblGrid>
                <a:gridCol w="685800">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tblGrid>
              <a:tr h="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系名</a:t>
                      </a:r>
                    </a:p>
                  </a:txBody>
                  <a:tcPr marL="0" marR="0" marT="0" marB="0"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系主任</a:t>
                      </a:r>
                    </a:p>
                  </a:txBody>
                  <a:tcPr marL="0" marR="0" marT="0" marB="0"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刘成</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刘成</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魏征</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516602" name="Rectangle 58"/>
          <p:cNvSpPr>
            <a:spLocks noChangeArrowheads="1"/>
          </p:cNvSpPr>
          <p:nvPr/>
        </p:nvSpPr>
        <p:spPr bwMode="auto">
          <a:xfrm>
            <a:off x="3635375" y="3840163"/>
            <a:ext cx="754063" cy="381000"/>
          </a:xfrm>
          <a:prstGeom prst="rect">
            <a:avLst/>
          </a:prstGeom>
          <a:solidFill>
            <a:srgbClr val="0000FF"/>
          </a:solidFill>
          <a:ln w="12700" cap="sq" algn="ctr">
            <a:solidFill>
              <a:schemeClr val="tx1"/>
            </a:solidFill>
            <a:miter lim="800000"/>
            <a:headEnd/>
            <a:tailEnd/>
          </a:ln>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姓名</a:t>
            </a:r>
          </a:p>
        </p:txBody>
      </p:sp>
      <p:sp>
        <p:nvSpPr>
          <p:cNvPr id="1516603" name="Rectangle 59"/>
          <p:cNvSpPr>
            <a:spLocks noChangeArrowheads="1"/>
          </p:cNvSpPr>
          <p:nvPr/>
        </p:nvSpPr>
        <p:spPr bwMode="auto">
          <a:xfrm>
            <a:off x="4846638" y="3840163"/>
            <a:ext cx="949325" cy="381000"/>
          </a:xfrm>
          <a:prstGeom prst="rect">
            <a:avLst/>
          </a:prstGeom>
          <a:solidFill>
            <a:srgbClr val="DDDDDD"/>
          </a:solidFill>
          <a:ln w="12700" cap="sq" algn="ctr">
            <a:solidFill>
              <a:srgbClr val="CCFF33"/>
            </a:solidFill>
            <a:miter lim="800000"/>
            <a:headEnd/>
            <a:tailEnd/>
          </a:ln>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系主任</a:t>
            </a:r>
          </a:p>
        </p:txBody>
      </p:sp>
      <p:cxnSp>
        <p:nvCxnSpPr>
          <p:cNvPr id="55348" name="AutoShape 60"/>
          <p:cNvCxnSpPr>
            <a:cxnSpLocks noChangeShapeType="1"/>
            <a:stCxn id="1516602" idx="3"/>
            <a:endCxn id="1516603" idx="1"/>
          </p:cNvCxnSpPr>
          <p:nvPr/>
        </p:nvCxnSpPr>
        <p:spPr bwMode="auto">
          <a:xfrm>
            <a:off x="4389438" y="4030663"/>
            <a:ext cx="457200" cy="0"/>
          </a:xfrm>
          <a:prstGeom prst="straightConnector1">
            <a:avLst/>
          </a:prstGeom>
          <a:noFill/>
          <a:ln w="28575" cap="sq">
            <a:solidFill>
              <a:srgbClr val="CCFF33"/>
            </a:solidFill>
            <a:round/>
            <a:headEnd/>
            <a:tailEnd type="triangle" w="med" len="med"/>
          </a:ln>
          <a:extLst>
            <a:ext uri="{909E8E84-426E-40DD-AFC4-6F175D3DCCD1}">
              <a14:hiddenFill xmlns:a14="http://schemas.microsoft.com/office/drawing/2010/main">
                <a:noFill/>
              </a14:hiddenFill>
            </a:ext>
          </a:extLst>
        </p:spPr>
      </p:cxnSp>
      <p:sp>
        <p:nvSpPr>
          <p:cNvPr id="1516605" name="Rectangle 61"/>
          <p:cNvSpPr>
            <a:spLocks noChangeArrowheads="1"/>
          </p:cNvSpPr>
          <p:nvPr/>
        </p:nvSpPr>
        <p:spPr bwMode="auto">
          <a:xfrm>
            <a:off x="6156325" y="2582863"/>
            <a:ext cx="747713" cy="381000"/>
          </a:xfrm>
          <a:prstGeom prst="rect">
            <a:avLst/>
          </a:prstGeom>
          <a:solidFill>
            <a:srgbClr val="0000FF"/>
          </a:solidFill>
          <a:ln w="12700" cap="sq" algn="ctr">
            <a:solidFill>
              <a:schemeClr val="tx1"/>
            </a:solidFill>
            <a:miter lim="800000"/>
            <a:headEnd/>
            <a:tailEnd/>
          </a:ln>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系名</a:t>
            </a:r>
          </a:p>
        </p:txBody>
      </p:sp>
      <p:cxnSp>
        <p:nvCxnSpPr>
          <p:cNvPr id="55350" name="AutoShape 62"/>
          <p:cNvCxnSpPr>
            <a:cxnSpLocks noChangeShapeType="1"/>
            <a:stCxn id="1516605" idx="3"/>
            <a:endCxn id="1516607" idx="1"/>
          </p:cNvCxnSpPr>
          <p:nvPr/>
        </p:nvCxnSpPr>
        <p:spPr bwMode="auto">
          <a:xfrm>
            <a:off x="6904038" y="2773363"/>
            <a:ext cx="547687" cy="1587"/>
          </a:xfrm>
          <a:prstGeom prst="straightConnector1">
            <a:avLst/>
          </a:prstGeom>
          <a:noFill/>
          <a:ln w="28575" cap="sq">
            <a:solidFill>
              <a:srgbClr val="CCFF33"/>
            </a:solidFill>
            <a:round/>
            <a:headEnd/>
            <a:tailEnd type="triangle" w="med" len="med"/>
          </a:ln>
          <a:extLst>
            <a:ext uri="{909E8E84-426E-40DD-AFC4-6F175D3DCCD1}">
              <a14:hiddenFill xmlns:a14="http://schemas.microsoft.com/office/drawing/2010/main">
                <a:noFill/>
              </a14:hiddenFill>
            </a:ext>
          </a:extLst>
        </p:spPr>
      </p:cxnSp>
      <p:sp>
        <p:nvSpPr>
          <p:cNvPr id="1516607" name="Rectangle 63"/>
          <p:cNvSpPr>
            <a:spLocks noChangeArrowheads="1"/>
          </p:cNvSpPr>
          <p:nvPr/>
        </p:nvSpPr>
        <p:spPr bwMode="auto">
          <a:xfrm>
            <a:off x="7451725" y="2559050"/>
            <a:ext cx="1008063" cy="431800"/>
          </a:xfrm>
          <a:prstGeom prst="rect">
            <a:avLst/>
          </a:prstGeom>
          <a:solidFill>
            <a:srgbClr val="DDDDDD"/>
          </a:solidFill>
          <a:ln w="12700" cap="sq">
            <a:solidFill>
              <a:srgbClr val="CCFF33"/>
            </a:solidFill>
            <a:miter lim="800000"/>
            <a:headEnd/>
            <a:tailEnd/>
          </a:ln>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系主任</a:t>
            </a:r>
          </a:p>
        </p:txBody>
      </p:sp>
      <p:sp>
        <p:nvSpPr>
          <p:cNvPr id="1516608" name="Rectangle 64"/>
          <p:cNvSpPr>
            <a:spLocks noChangeArrowheads="1"/>
          </p:cNvSpPr>
          <p:nvPr/>
        </p:nvSpPr>
        <p:spPr bwMode="auto">
          <a:xfrm>
            <a:off x="323850" y="1557338"/>
            <a:ext cx="2590800" cy="4572000"/>
          </a:xfrm>
          <a:prstGeom prst="rect">
            <a:avLst/>
          </a:prstGeom>
          <a:solidFill>
            <a:srgbClr val="EBEBFF"/>
          </a:solidFill>
          <a:ln w="12700" cap="sq">
            <a:solidFill>
              <a:srgbClr val="FF9900"/>
            </a:solidFill>
            <a:miter lim="800000"/>
            <a:headEnd/>
            <a:tailEnd/>
          </a:ln>
          <a:effectLst/>
        </p:spPr>
        <p:txBody>
          <a:bodyPr wrap="none" lIns="0" tIns="0" rIns="0" bIns="0" anchor="ctr"/>
          <a:lstStyle/>
          <a:p>
            <a:pPr>
              <a:defRPr/>
            </a:pPr>
            <a:endParaRPr lang="zh-CN" altLang="en-US"/>
          </a:p>
        </p:txBody>
      </p:sp>
      <p:sp>
        <p:nvSpPr>
          <p:cNvPr id="1516609" name="Rectangle 65"/>
          <p:cNvSpPr>
            <a:spLocks noChangeArrowheads="1"/>
          </p:cNvSpPr>
          <p:nvPr/>
        </p:nvSpPr>
        <p:spPr bwMode="auto">
          <a:xfrm>
            <a:off x="552450" y="1709738"/>
            <a:ext cx="1509713"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solidFill>
                  <a:srgbClr val="000000"/>
                </a:solidFill>
                <a:effectLst>
                  <a:outerShdw blurRad="38100" dist="38100" dir="2700000" algn="tl">
                    <a:srgbClr val="FFFFFF"/>
                  </a:outerShdw>
                </a:effectLst>
                <a:latin typeface="Times New Roman" pitchFamily="18" charset="0"/>
              </a:rPr>
              <a:t>SDM∈2NF</a:t>
            </a:r>
          </a:p>
        </p:txBody>
      </p:sp>
      <p:graphicFrame>
        <p:nvGraphicFramePr>
          <p:cNvPr id="1516610" name="Group 66"/>
          <p:cNvGraphicFramePr>
            <a:graphicFrameLocks noGrp="1"/>
          </p:cNvGraphicFramePr>
          <p:nvPr/>
        </p:nvGraphicFramePr>
        <p:xfrm>
          <a:off x="476250" y="2141538"/>
          <a:ext cx="2209800" cy="2438400"/>
        </p:xfrm>
        <a:graphic>
          <a:graphicData uri="http://schemas.openxmlformats.org/drawingml/2006/table">
            <a:tbl>
              <a:tblPr/>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tblGrid>
              <a:tr h="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chemeClr val="bg1"/>
                          </a:solidFill>
                          <a:effectLst/>
                          <a:latin typeface="Times New Roman" pitchFamily="18" charset="0"/>
                          <a:ea typeface="楷体_GB2312" pitchFamily="49" charset="-122"/>
                        </a:rPr>
                        <a:t>姓名</a:t>
                      </a:r>
                    </a:p>
                  </a:txBody>
                  <a:tcPr marL="0" marR="0" marT="0" marB="0" horzOverflow="overflow">
                    <a:lnL cap="flat">
                      <a:noFill/>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chemeClr val="bg1"/>
                          </a:solidFill>
                          <a:effectLst/>
                          <a:latin typeface="Times New Roman" pitchFamily="18" charset="0"/>
                          <a:ea typeface="楷体_GB2312" pitchFamily="49" charset="-122"/>
                        </a:rPr>
                        <a:t>系名</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chemeClr val="bg1"/>
                          </a:solidFill>
                          <a:effectLst/>
                          <a:latin typeface="Times New Roman" pitchFamily="18" charset="0"/>
                          <a:ea typeface="楷体_GB2312" pitchFamily="49" charset="-122"/>
                        </a:rPr>
                        <a:t>系主任</a:t>
                      </a:r>
                    </a:p>
                  </a:txBody>
                  <a:tcPr marL="0" marR="0" marT="0" marB="0" horzOverflow="overflow">
                    <a:lnL w="12700" cap="flat" cmpd="sng" algn="ctr">
                      <a:solidFill>
                        <a:srgbClr val="000000"/>
                      </a:solidFill>
                      <a:prstDash val="solid"/>
                      <a:round/>
                      <a:headEnd type="none" w="med" len="med"/>
                      <a:tailEnd type="none" w="med" len="med"/>
                    </a:lnL>
                    <a:lnR cap="flat">
                      <a:noFill/>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张明</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chemeClr val="bg1"/>
                          </a:solidFill>
                          <a:effectLst/>
                          <a:latin typeface="Times New Roman" pitchFamily="18" charset="0"/>
                          <a:ea typeface="楷体_GB2312" pitchFamily="49" charset="-122"/>
                        </a:rPr>
                        <a:t>IS</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刘成</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赵龙</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chemeClr val="bg1"/>
                          </a:solidFill>
                          <a:effectLst/>
                          <a:latin typeface="Times New Roman" pitchFamily="18" charset="0"/>
                          <a:ea typeface="楷体_GB2312" pitchFamily="49" charset="-122"/>
                        </a:rPr>
                        <a:t>CS</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刘成</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陈然</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chemeClr val="bg1"/>
                          </a:solidFill>
                          <a:effectLst/>
                          <a:latin typeface="Times New Roman" pitchFamily="18" charset="0"/>
                          <a:ea typeface="楷体_GB2312" pitchFamily="49" charset="-122"/>
                        </a:rPr>
                        <a:t>MA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魏征</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李科</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chemeClr val="bg1"/>
                          </a:solidFill>
                          <a:effectLst/>
                          <a:latin typeface="Times New Roman" pitchFamily="18" charset="0"/>
                          <a:ea typeface="楷体_GB2312" pitchFamily="49" charset="-122"/>
                        </a:rPr>
                        <a:t>IS</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刘成</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王军</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chemeClr val="bg1"/>
                          </a:solidFill>
                          <a:effectLst/>
                          <a:latin typeface="Times New Roman" pitchFamily="18" charset="0"/>
                          <a:ea typeface="楷体_GB2312" pitchFamily="49" charset="-122"/>
                        </a:rPr>
                        <a:t>MA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魏征</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朱成</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chemeClr val="bg1"/>
                          </a:solidFill>
                          <a:effectLst/>
                          <a:latin typeface="Times New Roman" pitchFamily="18" charset="0"/>
                          <a:ea typeface="楷体_GB2312" pitchFamily="49" charset="-122"/>
                        </a:rPr>
                        <a:t>IS</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刘成</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黄沙</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chemeClr val="bg1"/>
                          </a:solidFill>
                          <a:effectLst/>
                          <a:latin typeface="Times New Roman" pitchFamily="18" charset="0"/>
                          <a:ea typeface="楷体_GB2312" pitchFamily="49" charset="-122"/>
                        </a:rPr>
                        <a:t>CS</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刘成</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1516650" name="Rectangle 106"/>
          <p:cNvSpPr>
            <a:spLocks noChangeArrowheads="1"/>
          </p:cNvSpPr>
          <p:nvPr/>
        </p:nvSpPr>
        <p:spPr bwMode="auto">
          <a:xfrm>
            <a:off x="1785938" y="4910138"/>
            <a:ext cx="785812" cy="330200"/>
          </a:xfrm>
          <a:prstGeom prst="rect">
            <a:avLst/>
          </a:prstGeom>
          <a:solidFill>
            <a:srgbClr val="CCCCFF"/>
          </a:solidFill>
          <a:ln w="12700" cap="sq">
            <a:solidFill>
              <a:srgbClr val="000000"/>
            </a:solidFill>
            <a:miter lim="800000"/>
            <a:headEnd/>
            <a:tailEnd/>
          </a:ln>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姓名</a:t>
            </a:r>
          </a:p>
        </p:txBody>
      </p:sp>
      <p:sp>
        <p:nvSpPr>
          <p:cNvPr id="1516651" name="Rectangle 107"/>
          <p:cNvSpPr>
            <a:spLocks noChangeArrowheads="1"/>
          </p:cNvSpPr>
          <p:nvPr/>
        </p:nvSpPr>
        <p:spPr bwMode="auto">
          <a:xfrm>
            <a:off x="692150" y="4910138"/>
            <a:ext cx="785813" cy="330200"/>
          </a:xfrm>
          <a:prstGeom prst="rect">
            <a:avLst/>
          </a:prstGeom>
          <a:solidFill>
            <a:srgbClr val="DDDDDD"/>
          </a:solidFill>
          <a:ln w="12700" cap="sq">
            <a:solidFill>
              <a:srgbClr val="000000"/>
            </a:solidFill>
            <a:miter lim="800000"/>
            <a:headEnd/>
            <a:tailEnd/>
          </a:ln>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系名</a:t>
            </a:r>
          </a:p>
        </p:txBody>
      </p:sp>
      <p:sp>
        <p:nvSpPr>
          <p:cNvPr id="1516652" name="Rectangle 108"/>
          <p:cNvSpPr>
            <a:spLocks noChangeArrowheads="1"/>
          </p:cNvSpPr>
          <p:nvPr/>
        </p:nvSpPr>
        <p:spPr bwMode="auto">
          <a:xfrm>
            <a:off x="620713" y="5570538"/>
            <a:ext cx="927100" cy="330200"/>
          </a:xfrm>
          <a:prstGeom prst="rect">
            <a:avLst/>
          </a:prstGeom>
          <a:solidFill>
            <a:srgbClr val="DDDDDD"/>
          </a:solidFill>
          <a:ln w="12700" cap="sq">
            <a:solidFill>
              <a:srgbClr val="000000"/>
            </a:solidFill>
            <a:miter lim="800000"/>
            <a:headEnd/>
            <a:tailEnd/>
          </a:ln>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系主任</a:t>
            </a:r>
          </a:p>
        </p:txBody>
      </p:sp>
      <p:cxnSp>
        <p:nvCxnSpPr>
          <p:cNvPr id="55393" name="AutoShape 109"/>
          <p:cNvCxnSpPr>
            <a:cxnSpLocks noChangeShapeType="1"/>
            <a:stCxn id="1516650" idx="1"/>
            <a:endCxn id="1516651" idx="3"/>
          </p:cNvCxnSpPr>
          <p:nvPr/>
        </p:nvCxnSpPr>
        <p:spPr bwMode="auto">
          <a:xfrm flipH="1">
            <a:off x="1477963" y="5075238"/>
            <a:ext cx="307975" cy="0"/>
          </a:xfrm>
          <a:prstGeom prst="straightConnector1">
            <a:avLst/>
          </a:prstGeom>
          <a:noFill/>
          <a:ln w="28575" cap="sq">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5394" name="AutoShape 110"/>
          <p:cNvCxnSpPr>
            <a:cxnSpLocks noChangeShapeType="1"/>
            <a:stCxn id="1516651" idx="2"/>
            <a:endCxn id="1516652" idx="0"/>
          </p:cNvCxnSpPr>
          <p:nvPr/>
        </p:nvCxnSpPr>
        <p:spPr bwMode="auto">
          <a:xfrm flipH="1">
            <a:off x="1084263" y="5240338"/>
            <a:ext cx="1587" cy="330200"/>
          </a:xfrm>
          <a:prstGeom prst="straightConnector1">
            <a:avLst/>
          </a:prstGeom>
          <a:noFill/>
          <a:ln w="28575" cap="sq">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516655" name="Rectangle 111"/>
          <p:cNvSpPr>
            <a:spLocks noChangeArrowheads="1"/>
          </p:cNvSpPr>
          <p:nvPr/>
        </p:nvSpPr>
        <p:spPr bwMode="auto">
          <a:xfrm>
            <a:off x="4067175" y="4941888"/>
            <a:ext cx="3457575" cy="1150937"/>
          </a:xfrm>
          <a:prstGeom prst="rect">
            <a:avLst/>
          </a:prstGeom>
          <a:solidFill>
            <a:srgbClr val="FF0000"/>
          </a:solidFill>
          <a:ln w="12700" cap="sq" algn="ctr">
            <a:solidFill>
              <a:schemeClr val="tx1"/>
            </a:solidFill>
            <a:miter lim="800000"/>
            <a:headEnd/>
            <a:tailEnd/>
          </a:ln>
          <a:effectLst>
            <a:outerShdw dist="107763" dir="2700000" algn="ctr" rotWithShape="0">
              <a:schemeClr val="bg2">
                <a:alpha val="50000"/>
              </a:schemeClr>
            </a:outerShdw>
          </a:effectLst>
        </p:spPr>
        <p:txBody>
          <a:bodyPr lIns="0" tIns="0" rIns="0" bIns="0" anchor="ctr" anchorCtr="1"/>
          <a:lstStyle/>
          <a:p>
            <a:pPr marL="377825" indent="-377825" algn="ctr">
              <a:spcAft>
                <a:spcPct val="0"/>
              </a:spcAft>
              <a:buSzTx/>
              <a:buFontTx/>
              <a:buNone/>
            </a:pPr>
            <a:r>
              <a:rPr lang="zh-CN" altLang="en-US" sz="2800" b="1">
                <a:solidFill>
                  <a:srgbClr val="FFFF00"/>
                </a:solidFill>
                <a:effectLst/>
                <a:latin typeface="Times New Roman" pitchFamily="18" charset="0"/>
              </a:rPr>
              <a:t>信息无法正确还原</a:t>
            </a:r>
          </a:p>
          <a:p>
            <a:pPr marL="377825" indent="-377825" algn="ctr">
              <a:spcAft>
                <a:spcPct val="0"/>
              </a:spcAft>
              <a:buSzTx/>
              <a:buFontTx/>
              <a:buNone/>
            </a:pPr>
            <a:r>
              <a:rPr lang="zh-CN" altLang="en-US" sz="2800" b="1">
                <a:solidFill>
                  <a:srgbClr val="FFFF00"/>
                </a:solidFill>
                <a:effectLst/>
                <a:latin typeface="Times New Roman" pitchFamily="18" charset="0"/>
              </a:rPr>
              <a:t>不可取的分解方案</a:t>
            </a:r>
          </a:p>
        </p:txBody>
      </p:sp>
      <p:sp>
        <p:nvSpPr>
          <p:cNvPr id="26" name="Rectangle 3"/>
          <p:cNvSpPr>
            <a:spLocks noGrp="1" noChangeArrowheads="1"/>
          </p:cNvSpPr>
          <p:nvPr>
            <p:ph type="title"/>
          </p:nvPr>
        </p:nvSpPr>
        <p:spPr>
          <a:xfrm>
            <a:off x="0" y="16122"/>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ea typeface="微软雅黑" pitchFamily="34" charset="-122"/>
              </a:rPr>
              <a:t>分解案例</a:t>
            </a:r>
          </a:p>
        </p:txBody>
      </p:sp>
    </p:spTree>
  </p:cSld>
  <p:clrMapOvr>
    <a:masterClrMapping/>
  </p:clrMapOvr>
  <p:transition spd="med">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1516655"/>
                                        </p:tgtEl>
                                        <p:attrNameLst>
                                          <p:attrName>style.visibility</p:attrName>
                                        </p:attrNameLst>
                                      </p:cBhvr>
                                      <p:to>
                                        <p:strVal val="visible"/>
                                      </p:to>
                                    </p:set>
                                    <p:animEffect transition="in" filter="fade">
                                      <p:cBhvr>
                                        <p:cTn id="7" dur="1000"/>
                                        <p:tgtEl>
                                          <p:spTgt spid="1516655"/>
                                        </p:tgtEl>
                                      </p:cBhvr>
                                    </p:animEffect>
                                    <p:anim calcmode="lin" valueType="num">
                                      <p:cBhvr>
                                        <p:cTn id="8" dur="1000" fill="hold"/>
                                        <p:tgtEl>
                                          <p:spTgt spid="1516655"/>
                                        </p:tgtEl>
                                        <p:attrNameLst>
                                          <p:attrName>ppt_x</p:attrName>
                                        </p:attrNameLst>
                                      </p:cBhvr>
                                      <p:tavLst>
                                        <p:tav tm="0">
                                          <p:val>
                                            <p:strVal val="#ppt_x"/>
                                          </p:val>
                                        </p:tav>
                                        <p:tav tm="100000">
                                          <p:val>
                                            <p:strVal val="#ppt_x"/>
                                          </p:val>
                                        </p:tav>
                                      </p:tavLst>
                                    </p:anim>
                                    <p:anim calcmode="lin" valueType="num">
                                      <p:cBhvr>
                                        <p:cTn id="9" dur="1000" fill="hold"/>
                                        <p:tgtEl>
                                          <p:spTgt spid="151665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6655"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7572" name="Rectangle 4"/>
          <p:cNvSpPr>
            <a:spLocks noChangeArrowheads="1"/>
          </p:cNvSpPr>
          <p:nvPr/>
        </p:nvSpPr>
        <p:spPr bwMode="auto">
          <a:xfrm>
            <a:off x="3492500" y="4776788"/>
            <a:ext cx="5327650" cy="381000"/>
          </a:xfrm>
          <a:prstGeom prst="rect">
            <a:avLst/>
          </a:prstGeom>
          <a:noFill/>
          <a:ln w="12700" cap="sq">
            <a:noFill/>
            <a:miter lim="800000"/>
            <a:headEnd/>
            <a:tailEnd/>
          </a:ln>
          <a:effectLst/>
        </p:spPr>
        <p:txBody>
          <a:bodyPr lIns="0" tIns="0" rIns="0" bIns="0"/>
          <a:lstStyle/>
          <a:p>
            <a:pPr>
              <a:buSzTx/>
              <a:buFontTx/>
              <a:buNone/>
              <a:defRPr/>
            </a:pPr>
            <a:r>
              <a:rPr lang="en-US" altLang="zh-CN" sz="2800">
                <a:solidFill>
                  <a:srgbClr val="CCFFCC"/>
                </a:solidFill>
                <a:effectLst>
                  <a:outerShdw blurRad="38100" dist="38100" dir="2700000" algn="tl">
                    <a:srgbClr val="000000"/>
                  </a:outerShdw>
                </a:effectLst>
                <a:latin typeface="Times New Roman" pitchFamily="18" charset="0"/>
              </a:rPr>
              <a:t>SD      SM</a:t>
            </a:r>
            <a:r>
              <a:rPr lang="zh-CN" altLang="en-US" sz="2800">
                <a:solidFill>
                  <a:srgbClr val="CCFFCC"/>
                </a:solidFill>
                <a:effectLst>
                  <a:outerShdw blurRad="38100" dist="38100" dir="2700000" algn="tl">
                    <a:srgbClr val="000000"/>
                  </a:outerShdw>
                </a:effectLst>
                <a:latin typeface="Times New Roman" pitchFamily="18" charset="0"/>
              </a:rPr>
              <a:t> </a:t>
            </a:r>
            <a:r>
              <a:rPr lang="en-US" altLang="zh-CN" sz="2800">
                <a:solidFill>
                  <a:srgbClr val="CCFFCC"/>
                </a:solidFill>
                <a:effectLst>
                  <a:outerShdw blurRad="38100" dist="38100" dir="2700000" algn="tl">
                    <a:srgbClr val="000000"/>
                  </a:outerShdw>
                </a:effectLst>
                <a:latin typeface="Times New Roman" pitchFamily="18" charset="0"/>
              </a:rPr>
              <a:t>= SDM</a:t>
            </a:r>
            <a:r>
              <a:rPr lang="zh-CN" altLang="en-US" sz="2800">
                <a:solidFill>
                  <a:srgbClr val="CCFFCC"/>
                </a:solidFill>
                <a:effectLst>
                  <a:outerShdw blurRad="38100" dist="38100" dir="2700000" algn="tl">
                    <a:srgbClr val="000000"/>
                  </a:outerShdw>
                </a:effectLst>
                <a:latin typeface="Times New Roman" pitchFamily="18" charset="0"/>
              </a:rPr>
              <a:t>，是具有无损连接性的分解。</a:t>
            </a:r>
          </a:p>
          <a:p>
            <a:pPr>
              <a:buSzTx/>
              <a:buFontTx/>
              <a:buNone/>
              <a:defRPr/>
            </a:pPr>
            <a:r>
              <a:rPr lang="zh-CN" altLang="en-US" sz="2800">
                <a:solidFill>
                  <a:srgbClr val="CCFFCC"/>
                </a:solidFill>
                <a:effectLst>
                  <a:outerShdw blurRad="38100" dist="38100" dir="2700000" algn="tl">
                    <a:srgbClr val="000000"/>
                  </a:outerShdw>
                </a:effectLst>
                <a:latin typeface="Times New Roman" pitchFamily="18" charset="0"/>
              </a:rPr>
              <a:t>丢失了</a:t>
            </a:r>
            <a:r>
              <a:rPr lang="zh-CN" altLang="en-US" sz="2800">
                <a:solidFill>
                  <a:srgbClr val="99FF99"/>
                </a:solidFill>
                <a:effectLst>
                  <a:outerShdw blurRad="38100" dist="38100" dir="2700000" algn="tl">
                    <a:srgbClr val="000000"/>
                  </a:outerShdw>
                </a:effectLst>
                <a:latin typeface="Times New Roman" pitchFamily="18" charset="0"/>
              </a:rPr>
              <a:t>系名→系主任</a:t>
            </a:r>
            <a:r>
              <a:rPr lang="zh-CN" altLang="en-US" sz="2800">
                <a:solidFill>
                  <a:srgbClr val="CCFFCC"/>
                </a:solidFill>
                <a:effectLst>
                  <a:outerShdw blurRad="38100" dist="38100" dir="2700000" algn="tl">
                    <a:srgbClr val="000000"/>
                  </a:outerShdw>
                </a:effectLst>
                <a:latin typeface="Times New Roman" pitchFamily="18" charset="0"/>
              </a:rPr>
              <a:t>函数依赖。</a:t>
            </a:r>
          </a:p>
        </p:txBody>
      </p:sp>
      <p:sp>
        <p:nvSpPr>
          <p:cNvPr id="1517573" name="Freeform 5"/>
          <p:cNvSpPr>
            <a:spLocks/>
          </p:cNvSpPr>
          <p:nvPr/>
        </p:nvSpPr>
        <p:spPr bwMode="auto">
          <a:xfrm>
            <a:off x="4067175" y="4868863"/>
            <a:ext cx="309563" cy="227012"/>
          </a:xfrm>
          <a:custGeom>
            <a:avLst/>
            <a:gdLst/>
            <a:ahLst/>
            <a:cxnLst>
              <a:cxn ang="0">
                <a:pos x="0" y="8"/>
              </a:cxn>
              <a:cxn ang="0">
                <a:pos x="266" y="174"/>
              </a:cxn>
              <a:cxn ang="0">
                <a:pos x="266" y="0"/>
              </a:cxn>
              <a:cxn ang="0">
                <a:pos x="0" y="168"/>
              </a:cxn>
              <a:cxn ang="0">
                <a:pos x="0" y="8"/>
              </a:cxn>
            </a:cxnLst>
            <a:rect l="0" t="0" r="r" b="b"/>
            <a:pathLst>
              <a:path w="266" h="174">
                <a:moveTo>
                  <a:pt x="0" y="8"/>
                </a:moveTo>
                <a:lnTo>
                  <a:pt x="266" y="174"/>
                </a:lnTo>
                <a:lnTo>
                  <a:pt x="266" y="0"/>
                </a:lnTo>
                <a:lnTo>
                  <a:pt x="0" y="168"/>
                </a:lnTo>
                <a:lnTo>
                  <a:pt x="0" y="8"/>
                </a:lnTo>
                <a:close/>
              </a:path>
            </a:pathLst>
          </a:custGeom>
          <a:noFill/>
          <a:ln w="19050" cap="sq" cmpd="sng">
            <a:solidFill>
              <a:srgbClr val="CCFFCC"/>
            </a:solidFill>
            <a:prstDash val="solid"/>
            <a:round/>
            <a:headEnd type="none" w="med" len="med"/>
            <a:tailEnd type="none" w="med" len="med"/>
          </a:ln>
          <a:effectLst/>
        </p:spPr>
        <p:txBody>
          <a:bodyPr lIns="72000" tIns="72000" rIns="72000" bIns="72000"/>
          <a:lstStyle/>
          <a:p>
            <a:pPr>
              <a:defRPr/>
            </a:pPr>
            <a:endParaRPr lang="zh-CN" altLang="en-US"/>
          </a:p>
        </p:txBody>
      </p:sp>
      <p:sp>
        <p:nvSpPr>
          <p:cNvPr id="1517574" name="Rectangle 6"/>
          <p:cNvSpPr>
            <a:spLocks noChangeArrowheads="1"/>
          </p:cNvSpPr>
          <p:nvPr/>
        </p:nvSpPr>
        <p:spPr bwMode="auto">
          <a:xfrm>
            <a:off x="3635375" y="3840163"/>
            <a:ext cx="754063" cy="381000"/>
          </a:xfrm>
          <a:prstGeom prst="rect">
            <a:avLst/>
          </a:prstGeom>
          <a:solidFill>
            <a:srgbClr val="0000FF"/>
          </a:solidFill>
          <a:ln w="12700" cap="sq" algn="ctr">
            <a:solidFill>
              <a:schemeClr val="tx1"/>
            </a:solidFill>
            <a:miter lim="800000"/>
            <a:headEnd/>
            <a:tailEnd/>
          </a:ln>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姓名</a:t>
            </a:r>
          </a:p>
        </p:txBody>
      </p:sp>
      <p:sp>
        <p:nvSpPr>
          <p:cNvPr id="1517575" name="Rectangle 7"/>
          <p:cNvSpPr>
            <a:spLocks noChangeArrowheads="1"/>
          </p:cNvSpPr>
          <p:nvPr/>
        </p:nvSpPr>
        <p:spPr bwMode="auto">
          <a:xfrm>
            <a:off x="4846638" y="3840163"/>
            <a:ext cx="804862" cy="381000"/>
          </a:xfrm>
          <a:prstGeom prst="rect">
            <a:avLst/>
          </a:prstGeom>
          <a:solidFill>
            <a:srgbClr val="DDDDDD"/>
          </a:solidFill>
          <a:ln w="12700" cap="sq" algn="ctr">
            <a:solidFill>
              <a:srgbClr val="CCFF33"/>
            </a:solidFill>
            <a:miter lim="800000"/>
            <a:headEnd/>
            <a:tailEnd/>
          </a:ln>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系名</a:t>
            </a:r>
          </a:p>
        </p:txBody>
      </p:sp>
      <p:cxnSp>
        <p:nvCxnSpPr>
          <p:cNvPr id="56328" name="AutoShape 8"/>
          <p:cNvCxnSpPr>
            <a:cxnSpLocks noChangeShapeType="1"/>
            <a:stCxn id="1517574" idx="3"/>
            <a:endCxn id="1517575" idx="1"/>
          </p:cNvCxnSpPr>
          <p:nvPr/>
        </p:nvCxnSpPr>
        <p:spPr bwMode="auto">
          <a:xfrm>
            <a:off x="4389438" y="4030663"/>
            <a:ext cx="457200" cy="0"/>
          </a:xfrm>
          <a:prstGeom prst="straightConnector1">
            <a:avLst/>
          </a:prstGeom>
          <a:noFill/>
          <a:ln w="28575" cap="sq">
            <a:solidFill>
              <a:srgbClr val="CCFF33"/>
            </a:solidFill>
            <a:round/>
            <a:headEnd/>
            <a:tailEnd type="triangle" w="med" len="med"/>
          </a:ln>
          <a:extLst>
            <a:ext uri="{909E8E84-426E-40DD-AFC4-6F175D3DCCD1}">
              <a14:hiddenFill xmlns:a14="http://schemas.microsoft.com/office/drawing/2010/main">
                <a:noFill/>
              </a14:hiddenFill>
            </a:ext>
          </a:extLst>
        </p:spPr>
      </p:cxnSp>
      <p:sp>
        <p:nvSpPr>
          <p:cNvPr id="1517577" name="Rectangle 9"/>
          <p:cNvSpPr>
            <a:spLocks noChangeArrowheads="1"/>
          </p:cNvSpPr>
          <p:nvPr/>
        </p:nvSpPr>
        <p:spPr bwMode="auto">
          <a:xfrm>
            <a:off x="6372225" y="3813175"/>
            <a:ext cx="747713" cy="381000"/>
          </a:xfrm>
          <a:prstGeom prst="rect">
            <a:avLst/>
          </a:prstGeom>
          <a:solidFill>
            <a:srgbClr val="0000FF"/>
          </a:solidFill>
          <a:ln w="12700" cap="sq" algn="ctr">
            <a:solidFill>
              <a:schemeClr val="tx1"/>
            </a:solidFill>
            <a:miter lim="800000"/>
            <a:headEnd/>
            <a:tailEnd/>
          </a:ln>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姓名</a:t>
            </a:r>
          </a:p>
        </p:txBody>
      </p:sp>
      <p:cxnSp>
        <p:nvCxnSpPr>
          <p:cNvPr id="56330" name="AutoShape 10"/>
          <p:cNvCxnSpPr>
            <a:cxnSpLocks noChangeShapeType="1"/>
            <a:stCxn id="1517577" idx="3"/>
            <a:endCxn id="1517579" idx="1"/>
          </p:cNvCxnSpPr>
          <p:nvPr/>
        </p:nvCxnSpPr>
        <p:spPr bwMode="auto">
          <a:xfrm>
            <a:off x="7119938" y="4003675"/>
            <a:ext cx="547687" cy="1588"/>
          </a:xfrm>
          <a:prstGeom prst="straightConnector1">
            <a:avLst/>
          </a:prstGeom>
          <a:noFill/>
          <a:ln w="28575" cap="sq">
            <a:solidFill>
              <a:srgbClr val="CCFF33"/>
            </a:solidFill>
            <a:round/>
            <a:headEnd/>
            <a:tailEnd type="triangle" w="med" len="med"/>
          </a:ln>
          <a:extLst>
            <a:ext uri="{909E8E84-426E-40DD-AFC4-6F175D3DCCD1}">
              <a14:hiddenFill xmlns:a14="http://schemas.microsoft.com/office/drawing/2010/main">
                <a:noFill/>
              </a14:hiddenFill>
            </a:ext>
          </a:extLst>
        </p:spPr>
      </p:cxnSp>
      <p:sp>
        <p:nvSpPr>
          <p:cNvPr id="1517579" name="Rectangle 11"/>
          <p:cNvSpPr>
            <a:spLocks noChangeArrowheads="1"/>
          </p:cNvSpPr>
          <p:nvPr/>
        </p:nvSpPr>
        <p:spPr bwMode="auto">
          <a:xfrm>
            <a:off x="7667625" y="3789363"/>
            <a:ext cx="1008063" cy="431800"/>
          </a:xfrm>
          <a:prstGeom prst="rect">
            <a:avLst/>
          </a:prstGeom>
          <a:solidFill>
            <a:srgbClr val="DDDDDD"/>
          </a:solidFill>
          <a:ln w="12700" cap="sq">
            <a:solidFill>
              <a:srgbClr val="CCFF33"/>
            </a:solidFill>
            <a:miter lim="800000"/>
            <a:headEnd/>
            <a:tailEnd/>
          </a:ln>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系主任</a:t>
            </a:r>
          </a:p>
        </p:txBody>
      </p:sp>
      <p:sp>
        <p:nvSpPr>
          <p:cNvPr id="1517580" name="Rectangle 12"/>
          <p:cNvSpPr>
            <a:spLocks noChangeArrowheads="1"/>
          </p:cNvSpPr>
          <p:nvPr/>
        </p:nvSpPr>
        <p:spPr bwMode="auto">
          <a:xfrm>
            <a:off x="323850" y="1557338"/>
            <a:ext cx="2590800" cy="4572000"/>
          </a:xfrm>
          <a:prstGeom prst="rect">
            <a:avLst/>
          </a:prstGeom>
          <a:solidFill>
            <a:srgbClr val="EBEBFF"/>
          </a:solidFill>
          <a:ln w="12700" cap="sq">
            <a:solidFill>
              <a:srgbClr val="FF9900"/>
            </a:solidFill>
            <a:miter lim="800000"/>
            <a:headEnd/>
            <a:tailEnd/>
          </a:ln>
          <a:effectLst/>
        </p:spPr>
        <p:txBody>
          <a:bodyPr wrap="none" lIns="0" tIns="0" rIns="0" bIns="0" anchor="ctr"/>
          <a:lstStyle/>
          <a:p>
            <a:pPr>
              <a:defRPr/>
            </a:pPr>
            <a:endParaRPr lang="zh-CN" altLang="en-US"/>
          </a:p>
        </p:txBody>
      </p:sp>
      <p:sp>
        <p:nvSpPr>
          <p:cNvPr id="1517581" name="Rectangle 13"/>
          <p:cNvSpPr>
            <a:spLocks noChangeArrowheads="1"/>
          </p:cNvSpPr>
          <p:nvPr/>
        </p:nvSpPr>
        <p:spPr bwMode="auto">
          <a:xfrm>
            <a:off x="552450" y="1709738"/>
            <a:ext cx="1509713"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solidFill>
                  <a:srgbClr val="000000"/>
                </a:solidFill>
                <a:effectLst>
                  <a:outerShdw blurRad="38100" dist="38100" dir="2700000" algn="tl">
                    <a:srgbClr val="FFFFFF"/>
                  </a:outerShdw>
                </a:effectLst>
                <a:latin typeface="Times New Roman" pitchFamily="18" charset="0"/>
              </a:rPr>
              <a:t>SDM∈2NF</a:t>
            </a:r>
          </a:p>
        </p:txBody>
      </p:sp>
      <p:graphicFrame>
        <p:nvGraphicFramePr>
          <p:cNvPr id="1517582" name="Group 14"/>
          <p:cNvGraphicFramePr>
            <a:graphicFrameLocks noGrp="1"/>
          </p:cNvGraphicFramePr>
          <p:nvPr/>
        </p:nvGraphicFramePr>
        <p:xfrm>
          <a:off x="476250" y="2141538"/>
          <a:ext cx="2209800" cy="2438400"/>
        </p:xfrm>
        <a:graphic>
          <a:graphicData uri="http://schemas.openxmlformats.org/drawingml/2006/table">
            <a:tbl>
              <a:tblPr/>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tblGrid>
              <a:tr h="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chemeClr val="bg1"/>
                          </a:solidFill>
                          <a:effectLst/>
                          <a:latin typeface="Times New Roman" pitchFamily="18" charset="0"/>
                          <a:ea typeface="楷体_GB2312" pitchFamily="49" charset="-122"/>
                        </a:rPr>
                        <a:t>姓名</a:t>
                      </a:r>
                    </a:p>
                  </a:txBody>
                  <a:tcPr marL="0" marR="0" marT="0" marB="0" horzOverflow="overflow">
                    <a:lnL cap="flat">
                      <a:noFill/>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chemeClr val="bg1"/>
                          </a:solidFill>
                          <a:effectLst/>
                          <a:latin typeface="Times New Roman" pitchFamily="18" charset="0"/>
                          <a:ea typeface="楷体_GB2312" pitchFamily="49" charset="-122"/>
                        </a:rPr>
                        <a:t>系名</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chemeClr val="bg1"/>
                          </a:solidFill>
                          <a:effectLst/>
                          <a:latin typeface="Times New Roman" pitchFamily="18" charset="0"/>
                          <a:ea typeface="楷体_GB2312" pitchFamily="49" charset="-122"/>
                        </a:rPr>
                        <a:t>系主任</a:t>
                      </a:r>
                    </a:p>
                  </a:txBody>
                  <a:tcPr marL="0" marR="0" marT="0" marB="0" horzOverflow="overflow">
                    <a:lnL w="12700" cap="flat" cmpd="sng" algn="ctr">
                      <a:solidFill>
                        <a:srgbClr val="000000"/>
                      </a:solidFill>
                      <a:prstDash val="solid"/>
                      <a:round/>
                      <a:headEnd type="none" w="med" len="med"/>
                      <a:tailEnd type="none" w="med" len="med"/>
                    </a:lnL>
                    <a:lnR cap="flat">
                      <a:noFill/>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张明</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chemeClr val="bg1"/>
                          </a:solidFill>
                          <a:effectLst/>
                          <a:latin typeface="Times New Roman" pitchFamily="18" charset="0"/>
                          <a:ea typeface="楷体_GB2312" pitchFamily="49" charset="-122"/>
                        </a:rPr>
                        <a:t>IS</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刘成</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赵龙</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chemeClr val="bg1"/>
                          </a:solidFill>
                          <a:effectLst/>
                          <a:latin typeface="Times New Roman" pitchFamily="18" charset="0"/>
                          <a:ea typeface="楷体_GB2312" pitchFamily="49" charset="-122"/>
                        </a:rPr>
                        <a:t>CS</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刘成</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陈然</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chemeClr val="bg1"/>
                          </a:solidFill>
                          <a:effectLst/>
                          <a:latin typeface="Times New Roman" pitchFamily="18" charset="0"/>
                          <a:ea typeface="楷体_GB2312" pitchFamily="49" charset="-122"/>
                        </a:rPr>
                        <a:t>MA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魏征</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李科</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chemeClr val="bg1"/>
                          </a:solidFill>
                          <a:effectLst/>
                          <a:latin typeface="Times New Roman" pitchFamily="18" charset="0"/>
                          <a:ea typeface="楷体_GB2312" pitchFamily="49" charset="-122"/>
                        </a:rPr>
                        <a:t>IS</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刘成</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王军</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chemeClr val="bg1"/>
                          </a:solidFill>
                          <a:effectLst/>
                          <a:latin typeface="Times New Roman" pitchFamily="18" charset="0"/>
                          <a:ea typeface="楷体_GB2312" pitchFamily="49" charset="-122"/>
                        </a:rPr>
                        <a:t>MA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魏征</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朱成</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chemeClr val="bg1"/>
                          </a:solidFill>
                          <a:effectLst/>
                          <a:latin typeface="Times New Roman" pitchFamily="18" charset="0"/>
                          <a:ea typeface="楷体_GB2312" pitchFamily="49" charset="-122"/>
                        </a:rPr>
                        <a:t>IS</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刘成</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黄沙</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chemeClr val="bg1"/>
                          </a:solidFill>
                          <a:effectLst/>
                          <a:latin typeface="Times New Roman" pitchFamily="18" charset="0"/>
                          <a:ea typeface="楷体_GB2312" pitchFamily="49" charset="-122"/>
                        </a:rPr>
                        <a:t>CS</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刘成</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1517622" name="Rectangle 54"/>
          <p:cNvSpPr>
            <a:spLocks noChangeArrowheads="1"/>
          </p:cNvSpPr>
          <p:nvPr/>
        </p:nvSpPr>
        <p:spPr bwMode="auto">
          <a:xfrm>
            <a:off x="1785938" y="4910138"/>
            <a:ext cx="785812" cy="330200"/>
          </a:xfrm>
          <a:prstGeom prst="rect">
            <a:avLst/>
          </a:prstGeom>
          <a:solidFill>
            <a:srgbClr val="CCCCFF"/>
          </a:solidFill>
          <a:ln w="12700" cap="sq">
            <a:solidFill>
              <a:srgbClr val="000000"/>
            </a:solidFill>
            <a:miter lim="800000"/>
            <a:headEnd/>
            <a:tailEnd/>
          </a:ln>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姓名</a:t>
            </a:r>
          </a:p>
        </p:txBody>
      </p:sp>
      <p:sp>
        <p:nvSpPr>
          <p:cNvPr id="1517623" name="Rectangle 55"/>
          <p:cNvSpPr>
            <a:spLocks noChangeArrowheads="1"/>
          </p:cNvSpPr>
          <p:nvPr/>
        </p:nvSpPr>
        <p:spPr bwMode="auto">
          <a:xfrm>
            <a:off x="692150" y="4910138"/>
            <a:ext cx="785813" cy="330200"/>
          </a:xfrm>
          <a:prstGeom prst="rect">
            <a:avLst/>
          </a:prstGeom>
          <a:solidFill>
            <a:srgbClr val="DDDDDD"/>
          </a:solidFill>
          <a:ln w="12700" cap="sq">
            <a:solidFill>
              <a:srgbClr val="000000"/>
            </a:solidFill>
            <a:miter lim="800000"/>
            <a:headEnd/>
            <a:tailEnd/>
          </a:ln>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系名</a:t>
            </a:r>
          </a:p>
        </p:txBody>
      </p:sp>
      <p:sp>
        <p:nvSpPr>
          <p:cNvPr id="1517624" name="Rectangle 56"/>
          <p:cNvSpPr>
            <a:spLocks noChangeArrowheads="1"/>
          </p:cNvSpPr>
          <p:nvPr/>
        </p:nvSpPr>
        <p:spPr bwMode="auto">
          <a:xfrm>
            <a:off x="620713" y="5570538"/>
            <a:ext cx="927100" cy="330200"/>
          </a:xfrm>
          <a:prstGeom prst="rect">
            <a:avLst/>
          </a:prstGeom>
          <a:solidFill>
            <a:srgbClr val="DDDDDD"/>
          </a:solidFill>
          <a:ln w="12700" cap="sq">
            <a:solidFill>
              <a:srgbClr val="000000"/>
            </a:solidFill>
            <a:miter lim="800000"/>
            <a:headEnd/>
            <a:tailEnd/>
          </a:ln>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系主任</a:t>
            </a:r>
          </a:p>
        </p:txBody>
      </p:sp>
      <p:cxnSp>
        <p:nvCxnSpPr>
          <p:cNvPr id="56373" name="AutoShape 57"/>
          <p:cNvCxnSpPr>
            <a:cxnSpLocks noChangeShapeType="1"/>
            <a:stCxn id="1517622" idx="1"/>
            <a:endCxn id="1517623" idx="3"/>
          </p:cNvCxnSpPr>
          <p:nvPr/>
        </p:nvCxnSpPr>
        <p:spPr bwMode="auto">
          <a:xfrm flipH="1">
            <a:off x="1477963" y="5075238"/>
            <a:ext cx="307975" cy="0"/>
          </a:xfrm>
          <a:prstGeom prst="straightConnector1">
            <a:avLst/>
          </a:prstGeom>
          <a:noFill/>
          <a:ln w="28575" cap="sq">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6374" name="AutoShape 58"/>
          <p:cNvCxnSpPr>
            <a:cxnSpLocks noChangeShapeType="1"/>
            <a:stCxn id="1517623" idx="2"/>
            <a:endCxn id="1517624" idx="0"/>
          </p:cNvCxnSpPr>
          <p:nvPr/>
        </p:nvCxnSpPr>
        <p:spPr bwMode="auto">
          <a:xfrm flipH="1">
            <a:off x="1084263" y="5240338"/>
            <a:ext cx="1587" cy="330200"/>
          </a:xfrm>
          <a:prstGeom prst="straightConnector1">
            <a:avLst/>
          </a:prstGeom>
          <a:noFill/>
          <a:ln w="28575" cap="sq">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517627" name="Rectangle 59"/>
          <p:cNvSpPr>
            <a:spLocks noChangeArrowheads="1"/>
          </p:cNvSpPr>
          <p:nvPr/>
        </p:nvSpPr>
        <p:spPr bwMode="auto">
          <a:xfrm>
            <a:off x="4457700" y="677863"/>
            <a:ext cx="390525"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SD</a:t>
            </a:r>
            <a:endParaRPr lang="en-US" altLang="zh-CN" sz="2400" b="1">
              <a:effectLst>
                <a:outerShdw blurRad="38100" dist="38100" dir="2700000" algn="tl">
                  <a:srgbClr val="000000"/>
                </a:outerShdw>
              </a:effectLst>
              <a:latin typeface="Times New Roman" pitchFamily="18" charset="0"/>
            </a:endParaRPr>
          </a:p>
        </p:txBody>
      </p:sp>
      <p:sp>
        <p:nvSpPr>
          <p:cNvPr id="1517628" name="Rectangle 60"/>
          <p:cNvSpPr>
            <a:spLocks noChangeArrowheads="1"/>
          </p:cNvSpPr>
          <p:nvPr/>
        </p:nvSpPr>
        <p:spPr bwMode="auto">
          <a:xfrm>
            <a:off x="7073900" y="647700"/>
            <a:ext cx="441325"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SM</a:t>
            </a:r>
            <a:endParaRPr lang="en-US" altLang="zh-CN" sz="2400" b="1">
              <a:effectLst>
                <a:outerShdw blurRad="38100" dist="38100" dir="2700000" algn="tl">
                  <a:srgbClr val="000000"/>
                </a:outerShdw>
              </a:effectLst>
              <a:latin typeface="Times New Roman" pitchFamily="18" charset="0"/>
            </a:endParaRPr>
          </a:p>
        </p:txBody>
      </p:sp>
      <p:graphicFrame>
        <p:nvGraphicFramePr>
          <p:cNvPr id="1517629" name="Group 61"/>
          <p:cNvGraphicFramePr>
            <a:graphicFrameLocks noGrp="1"/>
          </p:cNvGraphicFramePr>
          <p:nvPr/>
        </p:nvGraphicFramePr>
        <p:xfrm>
          <a:off x="3910013" y="1135063"/>
          <a:ext cx="1524000" cy="2438400"/>
        </p:xfrm>
        <a:graphic>
          <a:graphicData uri="http://schemas.openxmlformats.org/drawingml/2006/table">
            <a:tbl>
              <a:tblPr/>
              <a:tblGrid>
                <a:gridCol w="685800">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tblGrid>
              <a:tr h="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姓名</a:t>
                      </a:r>
                    </a:p>
                  </a:txBody>
                  <a:tcPr marL="0" marR="0" marT="0" marB="0"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系名</a:t>
                      </a:r>
                    </a:p>
                  </a:txBody>
                  <a:tcPr marL="0" marR="0" marT="0" marB="0"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张明</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赵龙</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陈然</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李科</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王军</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朱成</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黄沙</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graphicFrame>
        <p:nvGraphicFramePr>
          <p:cNvPr id="1517660" name="Group 92"/>
          <p:cNvGraphicFramePr>
            <a:graphicFrameLocks noGrp="1"/>
          </p:cNvGraphicFramePr>
          <p:nvPr/>
        </p:nvGraphicFramePr>
        <p:xfrm>
          <a:off x="6577013" y="1109663"/>
          <a:ext cx="1524000" cy="2438400"/>
        </p:xfrm>
        <a:graphic>
          <a:graphicData uri="http://schemas.openxmlformats.org/drawingml/2006/table">
            <a:tbl>
              <a:tblPr/>
              <a:tblGrid>
                <a:gridCol w="685800">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tblGrid>
              <a:tr h="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姓名</a:t>
                      </a:r>
                    </a:p>
                  </a:txBody>
                  <a:tcPr marL="0" marR="0" marT="0" marB="0"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系主任</a:t>
                      </a:r>
                    </a:p>
                  </a:txBody>
                  <a:tcPr marL="0" marR="0" marT="0" marB="0"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张明</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刘成</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赵龙</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刘成</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48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陈然</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魏征</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李科</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刘成</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王军</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魏征</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朱成</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刘成</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黄沙</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刘成</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1517691" name="Rectangle 123"/>
          <p:cNvSpPr>
            <a:spLocks noChangeArrowheads="1"/>
          </p:cNvSpPr>
          <p:nvPr/>
        </p:nvSpPr>
        <p:spPr bwMode="auto">
          <a:xfrm>
            <a:off x="4067175" y="4868863"/>
            <a:ext cx="3457575" cy="1150937"/>
          </a:xfrm>
          <a:prstGeom prst="rect">
            <a:avLst/>
          </a:prstGeom>
          <a:solidFill>
            <a:srgbClr val="FF0000"/>
          </a:solidFill>
          <a:ln w="12700" cap="sq" algn="ctr">
            <a:solidFill>
              <a:schemeClr val="tx1"/>
            </a:solidFill>
            <a:miter lim="800000"/>
            <a:headEnd/>
            <a:tailEnd/>
          </a:ln>
          <a:effectLst>
            <a:outerShdw dist="107763" dir="2700000" algn="ctr" rotWithShape="0">
              <a:schemeClr val="bg2">
                <a:alpha val="50000"/>
              </a:schemeClr>
            </a:outerShdw>
          </a:effectLst>
        </p:spPr>
        <p:txBody>
          <a:bodyPr lIns="0" tIns="0" rIns="0" bIns="0" anchor="ctr" anchorCtr="1"/>
          <a:lstStyle/>
          <a:p>
            <a:pPr marL="377825" indent="-377825" algn="ctr">
              <a:spcAft>
                <a:spcPct val="0"/>
              </a:spcAft>
              <a:buSzTx/>
              <a:buFontTx/>
              <a:buNone/>
            </a:pPr>
            <a:r>
              <a:rPr lang="zh-CN" altLang="en-US" sz="2800" b="1">
                <a:solidFill>
                  <a:srgbClr val="FFFF00"/>
                </a:solidFill>
                <a:effectLst/>
                <a:latin typeface="Times New Roman" pitchFamily="18" charset="0"/>
              </a:rPr>
              <a:t>数据冗余和操作异常</a:t>
            </a:r>
          </a:p>
          <a:p>
            <a:pPr marL="377825" indent="-377825" algn="ctr">
              <a:spcAft>
                <a:spcPct val="0"/>
              </a:spcAft>
              <a:buSzTx/>
              <a:buFontTx/>
              <a:buNone/>
            </a:pPr>
            <a:r>
              <a:rPr lang="zh-CN" altLang="en-US" sz="2800" b="1">
                <a:solidFill>
                  <a:srgbClr val="FFFF00"/>
                </a:solidFill>
                <a:effectLst/>
                <a:latin typeface="Times New Roman" pitchFamily="18" charset="0"/>
              </a:rPr>
              <a:t>不可取的分解方案</a:t>
            </a:r>
          </a:p>
        </p:txBody>
      </p:sp>
      <p:sp>
        <p:nvSpPr>
          <p:cNvPr id="26" name="Rectangle 3"/>
          <p:cNvSpPr>
            <a:spLocks noGrp="1" noChangeArrowheads="1"/>
          </p:cNvSpPr>
          <p:nvPr>
            <p:ph type="title"/>
          </p:nvPr>
        </p:nvSpPr>
        <p:spPr>
          <a:xfrm>
            <a:off x="0" y="16122"/>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ea typeface="微软雅黑" pitchFamily="34" charset="-122"/>
              </a:rPr>
              <a:t>分解案例</a:t>
            </a:r>
          </a:p>
        </p:txBody>
      </p:sp>
    </p:spTree>
  </p:cSld>
  <p:clrMapOvr>
    <a:masterClrMapping/>
  </p:clrMapOvr>
  <p:transition spd="med">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1517691"/>
                                        </p:tgtEl>
                                        <p:attrNameLst>
                                          <p:attrName>style.visibility</p:attrName>
                                        </p:attrNameLst>
                                      </p:cBhvr>
                                      <p:to>
                                        <p:strVal val="visible"/>
                                      </p:to>
                                    </p:set>
                                    <p:animEffect transition="in" filter="fade">
                                      <p:cBhvr>
                                        <p:cTn id="7" dur="1000"/>
                                        <p:tgtEl>
                                          <p:spTgt spid="1517691"/>
                                        </p:tgtEl>
                                      </p:cBhvr>
                                    </p:animEffect>
                                    <p:anim calcmode="lin" valueType="num">
                                      <p:cBhvr>
                                        <p:cTn id="8" dur="1000" fill="hold"/>
                                        <p:tgtEl>
                                          <p:spTgt spid="1517691"/>
                                        </p:tgtEl>
                                        <p:attrNameLst>
                                          <p:attrName>ppt_x</p:attrName>
                                        </p:attrNameLst>
                                      </p:cBhvr>
                                      <p:tavLst>
                                        <p:tav tm="0">
                                          <p:val>
                                            <p:strVal val="#ppt_x"/>
                                          </p:val>
                                        </p:tav>
                                        <p:tav tm="100000">
                                          <p:val>
                                            <p:strVal val="#ppt_x"/>
                                          </p:val>
                                        </p:tav>
                                      </p:tavLst>
                                    </p:anim>
                                    <p:anim calcmode="lin" valueType="num">
                                      <p:cBhvr>
                                        <p:cTn id="9" dur="1000" fill="hold"/>
                                        <p:tgtEl>
                                          <p:spTgt spid="151769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7691"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8596" name="Rectangle 4"/>
          <p:cNvSpPr>
            <a:spLocks noChangeArrowheads="1"/>
          </p:cNvSpPr>
          <p:nvPr/>
        </p:nvSpPr>
        <p:spPr bwMode="auto">
          <a:xfrm>
            <a:off x="3492500" y="4776788"/>
            <a:ext cx="5327650" cy="381000"/>
          </a:xfrm>
          <a:prstGeom prst="rect">
            <a:avLst/>
          </a:prstGeom>
          <a:noFill/>
          <a:ln w="12700" cap="sq">
            <a:noFill/>
            <a:miter lim="800000"/>
            <a:headEnd/>
            <a:tailEnd/>
          </a:ln>
          <a:effectLst/>
        </p:spPr>
        <p:txBody>
          <a:bodyPr lIns="0" tIns="0" rIns="0" bIns="0"/>
          <a:lstStyle/>
          <a:p>
            <a:pPr>
              <a:buSzTx/>
              <a:buFontTx/>
              <a:buNone/>
              <a:defRPr/>
            </a:pPr>
            <a:r>
              <a:rPr lang="en-US" altLang="zh-CN" sz="2800">
                <a:solidFill>
                  <a:srgbClr val="CCFFCC"/>
                </a:solidFill>
                <a:effectLst>
                  <a:outerShdw blurRad="38100" dist="38100" dir="2700000" algn="tl">
                    <a:srgbClr val="000000"/>
                  </a:outerShdw>
                </a:effectLst>
                <a:latin typeface="Times New Roman" pitchFamily="18" charset="0"/>
              </a:rPr>
              <a:t>SD      DM</a:t>
            </a:r>
            <a:r>
              <a:rPr lang="zh-CN" altLang="en-US" sz="2800">
                <a:solidFill>
                  <a:srgbClr val="CCFFCC"/>
                </a:solidFill>
                <a:effectLst>
                  <a:outerShdw blurRad="38100" dist="38100" dir="2700000" algn="tl">
                    <a:srgbClr val="000000"/>
                  </a:outerShdw>
                </a:effectLst>
                <a:latin typeface="Times New Roman" pitchFamily="18" charset="0"/>
              </a:rPr>
              <a:t> </a:t>
            </a:r>
            <a:r>
              <a:rPr lang="en-US" altLang="zh-CN" sz="2800">
                <a:solidFill>
                  <a:srgbClr val="CCFFCC"/>
                </a:solidFill>
                <a:effectLst>
                  <a:outerShdw blurRad="38100" dist="38100" dir="2700000" algn="tl">
                    <a:srgbClr val="000000"/>
                  </a:outerShdw>
                </a:effectLst>
                <a:latin typeface="Times New Roman" pitchFamily="18" charset="0"/>
              </a:rPr>
              <a:t>= SDM</a:t>
            </a:r>
            <a:r>
              <a:rPr lang="zh-CN" altLang="en-US" sz="2800">
                <a:solidFill>
                  <a:srgbClr val="CCFFCC"/>
                </a:solidFill>
                <a:effectLst>
                  <a:outerShdw blurRad="38100" dist="38100" dir="2700000" algn="tl">
                    <a:srgbClr val="000000"/>
                  </a:outerShdw>
                </a:effectLst>
                <a:latin typeface="Times New Roman" pitchFamily="18" charset="0"/>
              </a:rPr>
              <a:t>，是具有无损连接性的分解。</a:t>
            </a:r>
          </a:p>
          <a:p>
            <a:pPr>
              <a:buSzTx/>
              <a:buFontTx/>
              <a:buNone/>
              <a:defRPr/>
            </a:pPr>
            <a:r>
              <a:rPr lang="zh-CN" altLang="en-US" sz="2800">
                <a:solidFill>
                  <a:srgbClr val="CCFFCC"/>
                </a:solidFill>
                <a:effectLst>
                  <a:outerShdw blurRad="38100" dist="38100" dir="2700000" algn="tl">
                    <a:srgbClr val="000000"/>
                  </a:outerShdw>
                </a:effectLst>
                <a:latin typeface="Times New Roman" pitchFamily="18" charset="0"/>
              </a:rPr>
              <a:t>保持了所有的函数依赖。</a:t>
            </a:r>
          </a:p>
        </p:txBody>
      </p:sp>
      <p:sp>
        <p:nvSpPr>
          <p:cNvPr id="1518597" name="Freeform 5"/>
          <p:cNvSpPr>
            <a:spLocks/>
          </p:cNvSpPr>
          <p:nvPr/>
        </p:nvSpPr>
        <p:spPr bwMode="auto">
          <a:xfrm>
            <a:off x="4067175" y="4889500"/>
            <a:ext cx="309563" cy="227013"/>
          </a:xfrm>
          <a:custGeom>
            <a:avLst/>
            <a:gdLst/>
            <a:ahLst/>
            <a:cxnLst>
              <a:cxn ang="0">
                <a:pos x="0" y="8"/>
              </a:cxn>
              <a:cxn ang="0">
                <a:pos x="266" y="174"/>
              </a:cxn>
              <a:cxn ang="0">
                <a:pos x="266" y="0"/>
              </a:cxn>
              <a:cxn ang="0">
                <a:pos x="0" y="168"/>
              </a:cxn>
              <a:cxn ang="0">
                <a:pos x="0" y="8"/>
              </a:cxn>
            </a:cxnLst>
            <a:rect l="0" t="0" r="r" b="b"/>
            <a:pathLst>
              <a:path w="266" h="174">
                <a:moveTo>
                  <a:pt x="0" y="8"/>
                </a:moveTo>
                <a:lnTo>
                  <a:pt x="266" y="174"/>
                </a:lnTo>
                <a:lnTo>
                  <a:pt x="266" y="0"/>
                </a:lnTo>
                <a:lnTo>
                  <a:pt x="0" y="168"/>
                </a:lnTo>
                <a:lnTo>
                  <a:pt x="0" y="8"/>
                </a:lnTo>
                <a:close/>
              </a:path>
            </a:pathLst>
          </a:custGeom>
          <a:noFill/>
          <a:ln w="19050" cap="sq" cmpd="sng">
            <a:solidFill>
              <a:srgbClr val="CCFFCC"/>
            </a:solidFill>
            <a:prstDash val="solid"/>
            <a:round/>
            <a:headEnd type="none" w="med" len="med"/>
            <a:tailEnd type="none" w="med" len="med"/>
          </a:ln>
          <a:effectLst/>
        </p:spPr>
        <p:txBody>
          <a:bodyPr lIns="72000" tIns="72000" rIns="72000" bIns="72000"/>
          <a:lstStyle/>
          <a:p>
            <a:pPr>
              <a:defRPr/>
            </a:pPr>
            <a:endParaRPr lang="zh-CN" altLang="en-US"/>
          </a:p>
        </p:txBody>
      </p:sp>
      <p:sp>
        <p:nvSpPr>
          <p:cNvPr id="1518598" name="Rectangle 6"/>
          <p:cNvSpPr>
            <a:spLocks noChangeArrowheads="1"/>
          </p:cNvSpPr>
          <p:nvPr/>
        </p:nvSpPr>
        <p:spPr bwMode="auto">
          <a:xfrm>
            <a:off x="3635375" y="3840163"/>
            <a:ext cx="754063" cy="381000"/>
          </a:xfrm>
          <a:prstGeom prst="rect">
            <a:avLst/>
          </a:prstGeom>
          <a:solidFill>
            <a:srgbClr val="0000FF"/>
          </a:solidFill>
          <a:ln w="12700" cap="sq" algn="ctr">
            <a:solidFill>
              <a:schemeClr val="tx1"/>
            </a:solidFill>
            <a:miter lim="800000"/>
            <a:headEnd/>
            <a:tailEnd/>
          </a:ln>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姓名</a:t>
            </a:r>
          </a:p>
        </p:txBody>
      </p:sp>
      <p:sp>
        <p:nvSpPr>
          <p:cNvPr id="1518599" name="Rectangle 7"/>
          <p:cNvSpPr>
            <a:spLocks noChangeArrowheads="1"/>
          </p:cNvSpPr>
          <p:nvPr/>
        </p:nvSpPr>
        <p:spPr bwMode="auto">
          <a:xfrm>
            <a:off x="4846638" y="3840163"/>
            <a:ext cx="804862" cy="381000"/>
          </a:xfrm>
          <a:prstGeom prst="rect">
            <a:avLst/>
          </a:prstGeom>
          <a:solidFill>
            <a:srgbClr val="DDDDDD"/>
          </a:solidFill>
          <a:ln w="12700" cap="sq" algn="ctr">
            <a:solidFill>
              <a:srgbClr val="CCFF33"/>
            </a:solidFill>
            <a:miter lim="800000"/>
            <a:headEnd/>
            <a:tailEnd/>
          </a:ln>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系名</a:t>
            </a:r>
          </a:p>
        </p:txBody>
      </p:sp>
      <p:cxnSp>
        <p:nvCxnSpPr>
          <p:cNvPr id="57352" name="AutoShape 8"/>
          <p:cNvCxnSpPr>
            <a:cxnSpLocks noChangeShapeType="1"/>
            <a:stCxn id="1518598" idx="3"/>
            <a:endCxn id="1518599" idx="1"/>
          </p:cNvCxnSpPr>
          <p:nvPr/>
        </p:nvCxnSpPr>
        <p:spPr bwMode="auto">
          <a:xfrm>
            <a:off x="4389438" y="4030663"/>
            <a:ext cx="457200" cy="0"/>
          </a:xfrm>
          <a:prstGeom prst="straightConnector1">
            <a:avLst/>
          </a:prstGeom>
          <a:noFill/>
          <a:ln w="28575" cap="sq">
            <a:solidFill>
              <a:srgbClr val="CCFF33"/>
            </a:solidFill>
            <a:round/>
            <a:headEnd/>
            <a:tailEnd type="triangle" w="med" len="med"/>
          </a:ln>
          <a:extLst>
            <a:ext uri="{909E8E84-426E-40DD-AFC4-6F175D3DCCD1}">
              <a14:hiddenFill xmlns:a14="http://schemas.microsoft.com/office/drawing/2010/main">
                <a:noFill/>
              </a14:hiddenFill>
            </a:ext>
          </a:extLst>
        </p:spPr>
      </p:cxnSp>
      <p:sp>
        <p:nvSpPr>
          <p:cNvPr id="1518601" name="Rectangle 9"/>
          <p:cNvSpPr>
            <a:spLocks noChangeArrowheads="1"/>
          </p:cNvSpPr>
          <p:nvPr/>
        </p:nvSpPr>
        <p:spPr bwMode="auto">
          <a:xfrm>
            <a:off x="6227763" y="2708275"/>
            <a:ext cx="747712" cy="381000"/>
          </a:xfrm>
          <a:prstGeom prst="rect">
            <a:avLst/>
          </a:prstGeom>
          <a:solidFill>
            <a:srgbClr val="0000FF"/>
          </a:solidFill>
          <a:ln w="12700" cap="sq" algn="ctr">
            <a:solidFill>
              <a:schemeClr val="tx1"/>
            </a:solidFill>
            <a:miter lim="800000"/>
            <a:headEnd/>
            <a:tailEnd/>
          </a:ln>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系名</a:t>
            </a:r>
          </a:p>
        </p:txBody>
      </p:sp>
      <p:cxnSp>
        <p:nvCxnSpPr>
          <p:cNvPr id="57354" name="AutoShape 10"/>
          <p:cNvCxnSpPr>
            <a:cxnSpLocks noChangeShapeType="1"/>
            <a:stCxn id="1518601" idx="3"/>
            <a:endCxn id="1518603" idx="1"/>
          </p:cNvCxnSpPr>
          <p:nvPr/>
        </p:nvCxnSpPr>
        <p:spPr bwMode="auto">
          <a:xfrm>
            <a:off x="6975475" y="2898775"/>
            <a:ext cx="547688" cy="1588"/>
          </a:xfrm>
          <a:prstGeom prst="straightConnector1">
            <a:avLst/>
          </a:prstGeom>
          <a:noFill/>
          <a:ln w="28575" cap="sq">
            <a:solidFill>
              <a:srgbClr val="CCFF33"/>
            </a:solidFill>
            <a:round/>
            <a:headEnd/>
            <a:tailEnd type="triangle" w="med" len="med"/>
          </a:ln>
          <a:extLst>
            <a:ext uri="{909E8E84-426E-40DD-AFC4-6F175D3DCCD1}">
              <a14:hiddenFill xmlns:a14="http://schemas.microsoft.com/office/drawing/2010/main">
                <a:noFill/>
              </a14:hiddenFill>
            </a:ext>
          </a:extLst>
        </p:spPr>
      </p:cxnSp>
      <p:sp>
        <p:nvSpPr>
          <p:cNvPr id="1518603" name="Rectangle 11"/>
          <p:cNvSpPr>
            <a:spLocks noChangeArrowheads="1"/>
          </p:cNvSpPr>
          <p:nvPr/>
        </p:nvSpPr>
        <p:spPr bwMode="auto">
          <a:xfrm>
            <a:off x="7523163" y="2684463"/>
            <a:ext cx="1008062" cy="431800"/>
          </a:xfrm>
          <a:prstGeom prst="rect">
            <a:avLst/>
          </a:prstGeom>
          <a:solidFill>
            <a:srgbClr val="DDDDDD"/>
          </a:solidFill>
          <a:ln w="12700" cap="sq">
            <a:solidFill>
              <a:srgbClr val="CCFF33"/>
            </a:solidFill>
            <a:miter lim="800000"/>
            <a:headEnd/>
            <a:tailEnd/>
          </a:ln>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系主任</a:t>
            </a:r>
          </a:p>
        </p:txBody>
      </p:sp>
      <p:sp>
        <p:nvSpPr>
          <p:cNvPr id="1518604" name="Rectangle 12"/>
          <p:cNvSpPr>
            <a:spLocks noChangeArrowheads="1"/>
          </p:cNvSpPr>
          <p:nvPr/>
        </p:nvSpPr>
        <p:spPr bwMode="auto">
          <a:xfrm>
            <a:off x="323850" y="1557338"/>
            <a:ext cx="2590800" cy="4572000"/>
          </a:xfrm>
          <a:prstGeom prst="rect">
            <a:avLst/>
          </a:prstGeom>
          <a:solidFill>
            <a:srgbClr val="EBEBFF"/>
          </a:solidFill>
          <a:ln w="12700" cap="sq">
            <a:solidFill>
              <a:srgbClr val="FF9900"/>
            </a:solidFill>
            <a:miter lim="800000"/>
            <a:headEnd/>
            <a:tailEnd/>
          </a:ln>
          <a:effectLst/>
        </p:spPr>
        <p:txBody>
          <a:bodyPr wrap="none" lIns="0" tIns="0" rIns="0" bIns="0" anchor="ctr"/>
          <a:lstStyle/>
          <a:p>
            <a:pPr>
              <a:defRPr/>
            </a:pPr>
            <a:endParaRPr lang="zh-CN" altLang="en-US"/>
          </a:p>
        </p:txBody>
      </p:sp>
      <p:sp>
        <p:nvSpPr>
          <p:cNvPr id="1518605" name="Rectangle 13"/>
          <p:cNvSpPr>
            <a:spLocks noChangeArrowheads="1"/>
          </p:cNvSpPr>
          <p:nvPr/>
        </p:nvSpPr>
        <p:spPr bwMode="auto">
          <a:xfrm>
            <a:off x="552450" y="1709738"/>
            <a:ext cx="1509713"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solidFill>
                  <a:srgbClr val="000000"/>
                </a:solidFill>
                <a:effectLst>
                  <a:outerShdw blurRad="38100" dist="38100" dir="2700000" algn="tl">
                    <a:srgbClr val="FFFFFF"/>
                  </a:outerShdw>
                </a:effectLst>
                <a:latin typeface="Times New Roman" pitchFamily="18" charset="0"/>
              </a:rPr>
              <a:t>SDM∈2NF</a:t>
            </a:r>
          </a:p>
        </p:txBody>
      </p:sp>
      <p:graphicFrame>
        <p:nvGraphicFramePr>
          <p:cNvPr id="1518606" name="Group 14"/>
          <p:cNvGraphicFramePr>
            <a:graphicFrameLocks noGrp="1"/>
          </p:cNvGraphicFramePr>
          <p:nvPr/>
        </p:nvGraphicFramePr>
        <p:xfrm>
          <a:off x="476250" y="2141538"/>
          <a:ext cx="2209800" cy="2438400"/>
        </p:xfrm>
        <a:graphic>
          <a:graphicData uri="http://schemas.openxmlformats.org/drawingml/2006/table">
            <a:tbl>
              <a:tblPr/>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tblGrid>
              <a:tr h="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chemeClr val="bg1"/>
                          </a:solidFill>
                          <a:effectLst/>
                          <a:latin typeface="Times New Roman" pitchFamily="18" charset="0"/>
                          <a:ea typeface="楷体_GB2312" pitchFamily="49" charset="-122"/>
                        </a:rPr>
                        <a:t>姓名</a:t>
                      </a:r>
                    </a:p>
                  </a:txBody>
                  <a:tcPr marL="0" marR="0" marT="0" marB="0" horzOverflow="overflow">
                    <a:lnL cap="flat">
                      <a:noFill/>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chemeClr val="bg1"/>
                          </a:solidFill>
                          <a:effectLst/>
                          <a:latin typeface="Times New Roman" pitchFamily="18" charset="0"/>
                          <a:ea typeface="楷体_GB2312" pitchFamily="49" charset="-122"/>
                        </a:rPr>
                        <a:t>系名</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chemeClr val="bg1"/>
                          </a:solidFill>
                          <a:effectLst/>
                          <a:latin typeface="Times New Roman" pitchFamily="18" charset="0"/>
                          <a:ea typeface="楷体_GB2312" pitchFamily="49" charset="-122"/>
                        </a:rPr>
                        <a:t>系主任</a:t>
                      </a:r>
                    </a:p>
                  </a:txBody>
                  <a:tcPr marL="0" marR="0" marT="0" marB="0" horzOverflow="overflow">
                    <a:lnL w="12700" cap="flat" cmpd="sng" algn="ctr">
                      <a:solidFill>
                        <a:srgbClr val="000000"/>
                      </a:solidFill>
                      <a:prstDash val="solid"/>
                      <a:round/>
                      <a:headEnd type="none" w="med" len="med"/>
                      <a:tailEnd type="none" w="med" len="med"/>
                    </a:lnL>
                    <a:lnR cap="flat">
                      <a:noFill/>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张明</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chemeClr val="bg1"/>
                          </a:solidFill>
                          <a:effectLst/>
                          <a:latin typeface="Times New Roman" pitchFamily="18" charset="0"/>
                          <a:ea typeface="楷体_GB2312" pitchFamily="49" charset="-122"/>
                        </a:rPr>
                        <a:t>IS</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刘成</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赵龙</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chemeClr val="bg1"/>
                          </a:solidFill>
                          <a:effectLst/>
                          <a:latin typeface="Times New Roman" pitchFamily="18" charset="0"/>
                          <a:ea typeface="楷体_GB2312" pitchFamily="49" charset="-122"/>
                        </a:rPr>
                        <a:t>CS</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刘成</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陈然</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chemeClr val="bg1"/>
                          </a:solidFill>
                          <a:effectLst/>
                          <a:latin typeface="Times New Roman" pitchFamily="18" charset="0"/>
                          <a:ea typeface="楷体_GB2312" pitchFamily="49" charset="-122"/>
                        </a:rPr>
                        <a:t>MA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魏征</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李科</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chemeClr val="bg1"/>
                          </a:solidFill>
                          <a:effectLst/>
                          <a:latin typeface="Times New Roman" pitchFamily="18" charset="0"/>
                          <a:ea typeface="楷体_GB2312" pitchFamily="49" charset="-122"/>
                        </a:rPr>
                        <a:t>IS</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刘成</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王军</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chemeClr val="bg1"/>
                          </a:solidFill>
                          <a:effectLst/>
                          <a:latin typeface="Times New Roman" pitchFamily="18" charset="0"/>
                          <a:ea typeface="楷体_GB2312" pitchFamily="49" charset="-122"/>
                        </a:rPr>
                        <a:t>MA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魏征</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朱成</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chemeClr val="bg1"/>
                          </a:solidFill>
                          <a:effectLst/>
                          <a:latin typeface="Times New Roman" pitchFamily="18" charset="0"/>
                          <a:ea typeface="楷体_GB2312" pitchFamily="49" charset="-122"/>
                        </a:rPr>
                        <a:t>IS</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刘成</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黄沙</a:t>
                      </a:r>
                    </a:p>
                  </a:txBody>
                  <a:tcPr marL="0" marR="0" marT="0" marB="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chemeClr val="bg1"/>
                          </a:solidFill>
                          <a:effectLst/>
                          <a:latin typeface="Times New Roman" pitchFamily="18" charset="0"/>
                          <a:ea typeface="楷体_GB2312" pitchFamily="49" charset="-122"/>
                        </a:rPr>
                        <a:t>CS</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chemeClr val="bg1"/>
                          </a:solidFill>
                          <a:effectLst/>
                          <a:latin typeface="Times New Roman" pitchFamily="18" charset="0"/>
                          <a:ea typeface="楷体_GB2312" pitchFamily="49" charset="-122"/>
                        </a:rPr>
                        <a:t>刘成</a:t>
                      </a:r>
                    </a:p>
                  </a:txBody>
                  <a:tcPr marL="0" marR="0" marT="0" marB="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1518646" name="Rectangle 54"/>
          <p:cNvSpPr>
            <a:spLocks noChangeArrowheads="1"/>
          </p:cNvSpPr>
          <p:nvPr/>
        </p:nvSpPr>
        <p:spPr bwMode="auto">
          <a:xfrm>
            <a:off x="1785938" y="4910138"/>
            <a:ext cx="785812" cy="330200"/>
          </a:xfrm>
          <a:prstGeom prst="rect">
            <a:avLst/>
          </a:prstGeom>
          <a:solidFill>
            <a:srgbClr val="CCCCFF"/>
          </a:solidFill>
          <a:ln w="12700" cap="sq">
            <a:solidFill>
              <a:srgbClr val="000000"/>
            </a:solidFill>
            <a:miter lim="800000"/>
            <a:headEnd/>
            <a:tailEnd/>
          </a:ln>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姓名</a:t>
            </a:r>
          </a:p>
        </p:txBody>
      </p:sp>
      <p:sp>
        <p:nvSpPr>
          <p:cNvPr id="1518647" name="Rectangle 55"/>
          <p:cNvSpPr>
            <a:spLocks noChangeArrowheads="1"/>
          </p:cNvSpPr>
          <p:nvPr/>
        </p:nvSpPr>
        <p:spPr bwMode="auto">
          <a:xfrm>
            <a:off x="692150" y="4910138"/>
            <a:ext cx="785813" cy="330200"/>
          </a:xfrm>
          <a:prstGeom prst="rect">
            <a:avLst/>
          </a:prstGeom>
          <a:solidFill>
            <a:srgbClr val="DDDDDD"/>
          </a:solidFill>
          <a:ln w="12700" cap="sq">
            <a:solidFill>
              <a:srgbClr val="000000"/>
            </a:solidFill>
            <a:miter lim="800000"/>
            <a:headEnd/>
            <a:tailEnd/>
          </a:ln>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系名</a:t>
            </a:r>
          </a:p>
        </p:txBody>
      </p:sp>
      <p:sp>
        <p:nvSpPr>
          <p:cNvPr id="1518648" name="Rectangle 56"/>
          <p:cNvSpPr>
            <a:spLocks noChangeArrowheads="1"/>
          </p:cNvSpPr>
          <p:nvPr/>
        </p:nvSpPr>
        <p:spPr bwMode="auto">
          <a:xfrm>
            <a:off x="620713" y="5570538"/>
            <a:ext cx="927100" cy="330200"/>
          </a:xfrm>
          <a:prstGeom prst="rect">
            <a:avLst/>
          </a:prstGeom>
          <a:solidFill>
            <a:srgbClr val="DDDDDD"/>
          </a:solidFill>
          <a:ln w="12700" cap="sq">
            <a:solidFill>
              <a:srgbClr val="000000"/>
            </a:solidFill>
            <a:miter lim="800000"/>
            <a:headEnd/>
            <a:tailEnd/>
          </a:ln>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Times New Roman" pitchFamily="18" charset="0"/>
              </a:rPr>
              <a:t>系主任</a:t>
            </a:r>
          </a:p>
        </p:txBody>
      </p:sp>
      <p:cxnSp>
        <p:nvCxnSpPr>
          <p:cNvPr id="57397" name="AutoShape 57"/>
          <p:cNvCxnSpPr>
            <a:cxnSpLocks noChangeShapeType="1"/>
            <a:stCxn id="1518646" idx="1"/>
            <a:endCxn id="1518647" idx="3"/>
          </p:cNvCxnSpPr>
          <p:nvPr/>
        </p:nvCxnSpPr>
        <p:spPr bwMode="auto">
          <a:xfrm flipH="1">
            <a:off x="1477963" y="5075238"/>
            <a:ext cx="307975" cy="0"/>
          </a:xfrm>
          <a:prstGeom prst="straightConnector1">
            <a:avLst/>
          </a:prstGeom>
          <a:noFill/>
          <a:ln w="28575" cap="sq">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7398" name="AutoShape 58"/>
          <p:cNvCxnSpPr>
            <a:cxnSpLocks noChangeShapeType="1"/>
            <a:stCxn id="1518647" idx="2"/>
            <a:endCxn id="1518648" idx="0"/>
          </p:cNvCxnSpPr>
          <p:nvPr/>
        </p:nvCxnSpPr>
        <p:spPr bwMode="auto">
          <a:xfrm flipH="1">
            <a:off x="1084263" y="5240338"/>
            <a:ext cx="1587" cy="330200"/>
          </a:xfrm>
          <a:prstGeom prst="straightConnector1">
            <a:avLst/>
          </a:prstGeom>
          <a:noFill/>
          <a:ln w="28575" cap="sq">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518651" name="Rectangle 59"/>
          <p:cNvSpPr>
            <a:spLocks noChangeArrowheads="1"/>
          </p:cNvSpPr>
          <p:nvPr/>
        </p:nvSpPr>
        <p:spPr bwMode="auto">
          <a:xfrm>
            <a:off x="7064375" y="677863"/>
            <a:ext cx="492125"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DM</a:t>
            </a:r>
            <a:endParaRPr lang="en-US" altLang="zh-CN" sz="2400" b="1">
              <a:effectLst>
                <a:outerShdw blurRad="38100" dist="38100" dir="2700000" algn="tl">
                  <a:srgbClr val="000000"/>
                </a:outerShdw>
              </a:effectLst>
              <a:latin typeface="Times New Roman" pitchFamily="18" charset="0"/>
            </a:endParaRPr>
          </a:p>
        </p:txBody>
      </p:sp>
      <p:graphicFrame>
        <p:nvGraphicFramePr>
          <p:cNvPr id="1518652" name="Group 60"/>
          <p:cNvGraphicFramePr>
            <a:graphicFrameLocks noGrp="1"/>
          </p:cNvGraphicFramePr>
          <p:nvPr/>
        </p:nvGraphicFramePr>
        <p:xfrm>
          <a:off x="6503988" y="1109663"/>
          <a:ext cx="1524000" cy="1219200"/>
        </p:xfrm>
        <a:graphic>
          <a:graphicData uri="http://schemas.openxmlformats.org/drawingml/2006/table">
            <a:tbl>
              <a:tblPr/>
              <a:tblGrid>
                <a:gridCol w="685800">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tblGrid>
              <a:tr h="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系名</a:t>
                      </a:r>
                    </a:p>
                  </a:txBody>
                  <a:tcPr marL="0" marR="0" marT="0" marB="0"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系主任</a:t>
                      </a:r>
                    </a:p>
                  </a:txBody>
                  <a:tcPr marL="0" marR="0" marT="0" marB="0"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刘成</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刘成</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魏征</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518671" name="Rectangle 79"/>
          <p:cNvSpPr>
            <a:spLocks noChangeArrowheads="1"/>
          </p:cNvSpPr>
          <p:nvPr/>
        </p:nvSpPr>
        <p:spPr bwMode="auto">
          <a:xfrm>
            <a:off x="4457700" y="677863"/>
            <a:ext cx="390525" cy="36512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SD</a:t>
            </a:r>
            <a:endParaRPr lang="en-US" altLang="zh-CN" sz="2400" b="1">
              <a:effectLst>
                <a:outerShdw blurRad="38100" dist="38100" dir="2700000" algn="tl">
                  <a:srgbClr val="000000"/>
                </a:outerShdw>
              </a:effectLst>
              <a:latin typeface="Times New Roman" pitchFamily="18" charset="0"/>
            </a:endParaRPr>
          </a:p>
        </p:txBody>
      </p:sp>
      <p:graphicFrame>
        <p:nvGraphicFramePr>
          <p:cNvPr id="1518672" name="Group 80"/>
          <p:cNvGraphicFramePr>
            <a:graphicFrameLocks noGrp="1"/>
          </p:cNvGraphicFramePr>
          <p:nvPr/>
        </p:nvGraphicFramePr>
        <p:xfrm>
          <a:off x="3910013" y="1135063"/>
          <a:ext cx="1524000" cy="2438400"/>
        </p:xfrm>
        <a:graphic>
          <a:graphicData uri="http://schemas.openxmlformats.org/drawingml/2006/table">
            <a:tbl>
              <a:tblPr/>
              <a:tblGrid>
                <a:gridCol w="685800">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tblGrid>
              <a:tr h="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姓名</a:t>
                      </a:r>
                    </a:p>
                  </a:txBody>
                  <a:tcPr marL="0" marR="0" marT="0" marB="0"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系名</a:t>
                      </a:r>
                    </a:p>
                  </a:txBody>
                  <a:tcPr marL="0" marR="0" marT="0" marB="0"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张明</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赵龙</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陈然</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李科</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王军</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朱成</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黄沙</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smtClean="0">
                          <a:ln>
                            <a:noFill/>
                          </a:ln>
                          <a:solidFill>
                            <a:srgbClr val="CCFFCC"/>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1518703" name="Rectangle 111"/>
          <p:cNvSpPr>
            <a:spLocks noChangeArrowheads="1"/>
          </p:cNvSpPr>
          <p:nvPr/>
        </p:nvSpPr>
        <p:spPr bwMode="auto">
          <a:xfrm>
            <a:off x="3563938" y="4868863"/>
            <a:ext cx="4895850" cy="1150937"/>
          </a:xfrm>
          <a:prstGeom prst="rect">
            <a:avLst/>
          </a:prstGeom>
          <a:solidFill>
            <a:srgbClr val="FF0000"/>
          </a:solidFill>
          <a:ln w="12700" cap="sq" algn="ctr">
            <a:solidFill>
              <a:schemeClr val="tx1"/>
            </a:solidFill>
            <a:miter lim="800000"/>
            <a:headEnd/>
            <a:tailEnd/>
          </a:ln>
          <a:effectLst>
            <a:outerShdw dist="107763" dir="2700000" algn="ctr" rotWithShape="0">
              <a:schemeClr val="bg2">
                <a:alpha val="50000"/>
              </a:schemeClr>
            </a:outerShdw>
          </a:effectLst>
        </p:spPr>
        <p:txBody>
          <a:bodyPr lIns="0" tIns="0" rIns="0" bIns="0" anchor="ctr" anchorCtr="1"/>
          <a:lstStyle/>
          <a:p>
            <a:pPr marL="377825" indent="-377825" algn="ctr">
              <a:spcAft>
                <a:spcPct val="0"/>
              </a:spcAft>
              <a:buSzTx/>
              <a:buFontTx/>
              <a:buNone/>
            </a:pPr>
            <a:r>
              <a:rPr lang="zh-CN" altLang="en-US" sz="2800" b="1">
                <a:solidFill>
                  <a:srgbClr val="FFFF00"/>
                </a:solidFill>
                <a:effectLst/>
                <a:latin typeface="Times New Roman" pitchFamily="18" charset="0"/>
              </a:rPr>
              <a:t>信息完整无冗余，无操作异常</a:t>
            </a:r>
          </a:p>
          <a:p>
            <a:pPr marL="377825" indent="-377825" algn="ctr">
              <a:spcAft>
                <a:spcPct val="0"/>
              </a:spcAft>
              <a:buSzTx/>
              <a:buFontTx/>
              <a:buNone/>
            </a:pPr>
            <a:r>
              <a:rPr lang="zh-CN" altLang="en-US" sz="2800" b="1">
                <a:solidFill>
                  <a:srgbClr val="FFFF00"/>
                </a:solidFill>
                <a:effectLst/>
                <a:latin typeface="Times New Roman" pitchFamily="18" charset="0"/>
              </a:rPr>
              <a:t>最可取的分解方案</a:t>
            </a:r>
          </a:p>
        </p:txBody>
      </p:sp>
      <p:sp>
        <p:nvSpPr>
          <p:cNvPr id="26" name="Rectangle 3"/>
          <p:cNvSpPr>
            <a:spLocks noGrp="1" noChangeArrowheads="1"/>
          </p:cNvSpPr>
          <p:nvPr>
            <p:ph type="title"/>
          </p:nvPr>
        </p:nvSpPr>
        <p:spPr>
          <a:xfrm>
            <a:off x="0" y="16122"/>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ea typeface="微软雅黑" pitchFamily="34" charset="-122"/>
              </a:rPr>
              <a:t>分解案例</a:t>
            </a:r>
          </a:p>
        </p:txBody>
      </p:sp>
    </p:spTree>
  </p:cSld>
  <p:clrMapOvr>
    <a:masterClrMapping/>
  </p:clrMapOvr>
  <p:transition spd="med">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1518703"/>
                                        </p:tgtEl>
                                        <p:attrNameLst>
                                          <p:attrName>style.visibility</p:attrName>
                                        </p:attrNameLst>
                                      </p:cBhvr>
                                      <p:to>
                                        <p:strVal val="visible"/>
                                      </p:to>
                                    </p:set>
                                    <p:animEffect transition="in" filter="fade">
                                      <p:cBhvr>
                                        <p:cTn id="7" dur="1000"/>
                                        <p:tgtEl>
                                          <p:spTgt spid="1518703"/>
                                        </p:tgtEl>
                                      </p:cBhvr>
                                    </p:animEffect>
                                    <p:anim calcmode="lin" valueType="num">
                                      <p:cBhvr>
                                        <p:cTn id="8" dur="1000" fill="hold"/>
                                        <p:tgtEl>
                                          <p:spTgt spid="1518703"/>
                                        </p:tgtEl>
                                        <p:attrNameLst>
                                          <p:attrName>ppt_x</p:attrName>
                                        </p:attrNameLst>
                                      </p:cBhvr>
                                      <p:tavLst>
                                        <p:tav tm="0">
                                          <p:val>
                                            <p:strVal val="#ppt_x"/>
                                          </p:val>
                                        </p:tav>
                                        <p:tav tm="100000">
                                          <p:val>
                                            <p:strVal val="#ppt_x"/>
                                          </p:val>
                                        </p:tav>
                                      </p:tavLst>
                                    </p:anim>
                                    <p:anim calcmode="lin" valueType="num">
                                      <p:cBhvr>
                                        <p:cTn id="9" dur="1000" fill="hold"/>
                                        <p:tgtEl>
                                          <p:spTgt spid="151870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8703"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3"/>
          <p:cNvSpPr>
            <a:spLocks noGrp="1" noChangeArrowheads="1"/>
          </p:cNvSpPr>
          <p:nvPr>
            <p:ph type="title"/>
          </p:nvPr>
        </p:nvSpPr>
        <p:spPr>
          <a:xfrm>
            <a:off x="0" y="15305"/>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ea typeface="微软雅黑" pitchFamily="34" charset="-122"/>
              </a:rPr>
              <a:t>无损连接的测试算法</a:t>
            </a:r>
          </a:p>
        </p:txBody>
      </p:sp>
      <p:sp>
        <p:nvSpPr>
          <p:cNvPr id="58372" name="Rectangle 4"/>
          <p:cNvSpPr>
            <a:spLocks noGrp="1" noChangeArrowheads="1"/>
          </p:cNvSpPr>
          <p:nvPr>
            <p:ph type="body" idx="1"/>
          </p:nvPr>
        </p:nvSpPr>
        <p:spPr>
          <a:xfrm>
            <a:off x="250825" y="1023132"/>
            <a:ext cx="8642350" cy="647700"/>
          </a:xfrm>
          <a:noFill/>
          <a:extLst>
            <a:ext uri="{909E8E84-426E-40DD-AFC4-6F175D3DCCD1}">
              <a14:hiddenFill xmlns:a14="http://schemas.microsoft.com/office/drawing/2010/main">
                <a:solidFill>
                  <a:srgbClr val="FFFFFF"/>
                </a:solidFill>
              </a14:hiddenFill>
            </a:ext>
          </a:extLst>
        </p:spPr>
        <p:txBody>
          <a:bodyPr/>
          <a:lstStyle/>
          <a:p>
            <a:pPr marL="0" indent="0" algn="just">
              <a:buFont typeface="Wingdings" pitchFamily="2" charset="2"/>
              <a:buNone/>
            </a:pPr>
            <a:r>
              <a:rPr lang="en-US" altLang="zh-CN" sz="2400" i="1" smtClean="0">
                <a:effectLst/>
                <a:latin typeface="楷体_GB2312" pitchFamily="49" charset="-122"/>
              </a:rPr>
              <a:t>ρ</a:t>
            </a:r>
            <a:r>
              <a:rPr lang="en-US" altLang="zh-CN" sz="2400" smtClean="0">
                <a:effectLst/>
                <a:latin typeface="楷体_GB2312" pitchFamily="49" charset="-122"/>
              </a:rPr>
              <a:t>={R</a:t>
            </a:r>
            <a:r>
              <a:rPr lang="en-US" altLang="zh-CN" sz="2400" baseline="-30000" smtClean="0">
                <a:effectLst/>
                <a:latin typeface="楷体_GB2312" pitchFamily="49" charset="-122"/>
              </a:rPr>
              <a:t>1</a:t>
            </a:r>
            <a:r>
              <a:rPr lang="en-US" altLang="zh-CN" sz="2400" smtClean="0">
                <a:effectLst/>
                <a:latin typeface="楷体_GB2312" pitchFamily="49" charset="-122"/>
              </a:rPr>
              <a:t>(U</a:t>
            </a:r>
            <a:r>
              <a:rPr lang="en-US" altLang="zh-CN" sz="2400" baseline="-30000" smtClean="0">
                <a:effectLst/>
                <a:latin typeface="楷体_GB2312" pitchFamily="49" charset="-122"/>
              </a:rPr>
              <a:t>1</a:t>
            </a:r>
            <a:r>
              <a:rPr lang="en-US" altLang="zh-CN" sz="2400" smtClean="0">
                <a:effectLst/>
                <a:latin typeface="楷体_GB2312" pitchFamily="49" charset="-122"/>
              </a:rPr>
              <a:t>),R</a:t>
            </a:r>
            <a:r>
              <a:rPr lang="en-US" altLang="zh-CN" sz="2400" baseline="-30000" smtClean="0">
                <a:effectLst/>
                <a:latin typeface="楷体_GB2312" pitchFamily="49" charset="-122"/>
              </a:rPr>
              <a:t>2</a:t>
            </a:r>
            <a:r>
              <a:rPr lang="en-US" altLang="zh-CN" sz="2400" smtClean="0">
                <a:effectLst/>
                <a:latin typeface="楷体_GB2312" pitchFamily="49" charset="-122"/>
              </a:rPr>
              <a:t>(U</a:t>
            </a:r>
            <a:r>
              <a:rPr lang="en-US" altLang="zh-CN" sz="2400" baseline="-30000" smtClean="0">
                <a:effectLst/>
                <a:latin typeface="楷体_GB2312" pitchFamily="49" charset="-122"/>
              </a:rPr>
              <a:t>2</a:t>
            </a:r>
            <a:r>
              <a:rPr lang="en-US" altLang="zh-CN" sz="2400" smtClean="0">
                <a:effectLst/>
                <a:latin typeface="楷体_GB2312" pitchFamily="49" charset="-122"/>
              </a:rPr>
              <a:t>),</a:t>
            </a:r>
            <a:r>
              <a:rPr lang="en-US" altLang="zh-CN" sz="2400" smtClean="0">
                <a:effectLst/>
              </a:rPr>
              <a:t>…</a:t>
            </a:r>
            <a:r>
              <a:rPr lang="en-US" altLang="zh-CN" sz="2400" smtClean="0">
                <a:effectLst/>
                <a:latin typeface="楷体_GB2312" pitchFamily="49" charset="-122"/>
              </a:rPr>
              <a:t>, R</a:t>
            </a:r>
            <a:r>
              <a:rPr lang="en-US" altLang="zh-CN" sz="2400" baseline="-30000" smtClean="0">
                <a:effectLst/>
                <a:latin typeface="楷体_GB2312" pitchFamily="49" charset="-122"/>
              </a:rPr>
              <a:t>k</a:t>
            </a:r>
            <a:r>
              <a:rPr lang="en-US" altLang="zh-CN" sz="2400" smtClean="0">
                <a:effectLst/>
                <a:latin typeface="楷体_GB2312" pitchFamily="49" charset="-122"/>
              </a:rPr>
              <a:t>(U</a:t>
            </a:r>
            <a:r>
              <a:rPr lang="en-US" altLang="zh-CN" sz="2400" baseline="-30000" smtClean="0">
                <a:effectLst/>
                <a:latin typeface="楷体_GB2312" pitchFamily="49" charset="-122"/>
              </a:rPr>
              <a:t>k</a:t>
            </a:r>
            <a:r>
              <a:rPr lang="en-US" altLang="zh-CN" sz="2400" smtClean="0">
                <a:effectLst/>
                <a:latin typeface="楷体_GB2312" pitchFamily="49" charset="-122"/>
              </a:rPr>
              <a:t>)}</a:t>
            </a:r>
            <a:r>
              <a:rPr lang="zh-CN" altLang="en-US" sz="2400" smtClean="0">
                <a:effectLst/>
                <a:latin typeface="楷体_GB2312" pitchFamily="49" charset="-122"/>
              </a:rPr>
              <a:t>为关系模式</a:t>
            </a:r>
            <a:r>
              <a:rPr lang="en-US" altLang="zh-CN" sz="2400" smtClean="0">
                <a:effectLst/>
                <a:latin typeface="楷体_GB2312" pitchFamily="49" charset="-122"/>
              </a:rPr>
              <a:t>R(U,F)</a:t>
            </a:r>
            <a:r>
              <a:rPr lang="zh-CN" altLang="en-US" sz="2400" smtClean="0">
                <a:effectLst/>
                <a:latin typeface="楷体_GB2312" pitchFamily="49" charset="-122"/>
              </a:rPr>
              <a:t>的分解，其中</a:t>
            </a:r>
            <a:r>
              <a:rPr lang="en-US" altLang="zh-CN" sz="2400" smtClean="0">
                <a:effectLst/>
                <a:latin typeface="楷体_GB2312" pitchFamily="49" charset="-122"/>
              </a:rPr>
              <a:t>U={A</a:t>
            </a:r>
            <a:r>
              <a:rPr lang="en-US" altLang="zh-CN" sz="2400" baseline="-25000" smtClean="0">
                <a:effectLst/>
                <a:latin typeface="楷体_GB2312" pitchFamily="49" charset="-122"/>
              </a:rPr>
              <a:t>1</a:t>
            </a:r>
            <a:r>
              <a:rPr lang="en-US" altLang="zh-CN" sz="2400" smtClean="0">
                <a:effectLst/>
                <a:latin typeface="楷体_GB2312" pitchFamily="49" charset="-122"/>
              </a:rPr>
              <a:t>,A</a:t>
            </a:r>
            <a:r>
              <a:rPr lang="en-US" altLang="zh-CN" sz="2400" baseline="-25000" smtClean="0">
                <a:effectLst/>
                <a:latin typeface="楷体_GB2312" pitchFamily="49" charset="-122"/>
              </a:rPr>
              <a:t>2</a:t>
            </a:r>
            <a:r>
              <a:rPr lang="en-US" altLang="zh-CN" sz="2400" smtClean="0">
                <a:effectLst/>
                <a:latin typeface="楷体_GB2312" pitchFamily="49" charset="-122"/>
              </a:rPr>
              <a:t>,</a:t>
            </a:r>
            <a:r>
              <a:rPr lang="en-US" altLang="zh-CN" sz="2400" smtClean="0">
                <a:effectLst/>
              </a:rPr>
              <a:t>…</a:t>
            </a:r>
            <a:r>
              <a:rPr lang="en-US" altLang="zh-CN" sz="2400" smtClean="0">
                <a:effectLst/>
                <a:latin typeface="楷体_GB2312" pitchFamily="49" charset="-122"/>
              </a:rPr>
              <a:t>,A</a:t>
            </a:r>
            <a:r>
              <a:rPr lang="en-US" altLang="zh-CN" sz="2400" baseline="-25000" smtClean="0">
                <a:effectLst/>
                <a:latin typeface="楷体_GB2312" pitchFamily="49" charset="-122"/>
              </a:rPr>
              <a:t>n</a:t>
            </a:r>
            <a:r>
              <a:rPr lang="en-US" altLang="zh-CN" sz="2400" smtClean="0">
                <a:effectLst/>
                <a:latin typeface="楷体_GB2312" pitchFamily="49" charset="-122"/>
              </a:rPr>
              <a:t>}=</a:t>
            </a:r>
            <a:r>
              <a:rPr lang="zh-CN" altLang="en-US" sz="2400" smtClean="0">
                <a:effectLst/>
                <a:latin typeface="楷体_GB2312" pitchFamily="49" charset="-122"/>
              </a:rPr>
              <a:t>（</a:t>
            </a:r>
            <a:r>
              <a:rPr lang="en-US" altLang="zh-CN" sz="2400" smtClean="0">
                <a:effectLst/>
                <a:latin typeface="楷体_GB2312" pitchFamily="49" charset="-122"/>
              </a:rPr>
              <a:t>U</a:t>
            </a:r>
            <a:r>
              <a:rPr lang="en-US" altLang="zh-CN" sz="2400" baseline="-30000" smtClean="0">
                <a:effectLst/>
                <a:latin typeface="楷体_GB2312" pitchFamily="49" charset="-122"/>
              </a:rPr>
              <a:t>1</a:t>
            </a:r>
            <a:r>
              <a:rPr lang="en-US" altLang="zh-CN" sz="2400" smtClean="0">
                <a:effectLst/>
                <a:latin typeface="楷体_GB2312" pitchFamily="49" charset="-122"/>
              </a:rPr>
              <a:t>∪U</a:t>
            </a:r>
            <a:r>
              <a:rPr lang="en-US" altLang="zh-CN" sz="2400" baseline="-30000" smtClean="0">
                <a:effectLst/>
                <a:latin typeface="楷体_GB2312" pitchFamily="49" charset="-122"/>
              </a:rPr>
              <a:t>2</a:t>
            </a:r>
            <a:r>
              <a:rPr lang="en-US" altLang="zh-CN" sz="2400" smtClean="0">
                <a:effectLst/>
                <a:latin typeface="楷体_GB2312" pitchFamily="49" charset="-122"/>
              </a:rPr>
              <a:t>∪</a:t>
            </a:r>
            <a:r>
              <a:rPr lang="en-US" altLang="zh-CN" sz="2400" smtClean="0">
                <a:effectLst/>
              </a:rPr>
              <a:t>…</a:t>
            </a:r>
            <a:r>
              <a:rPr lang="en-US" altLang="zh-CN" sz="2400" smtClean="0">
                <a:effectLst/>
                <a:latin typeface="楷体_GB2312" pitchFamily="49" charset="-122"/>
              </a:rPr>
              <a:t>∪U</a:t>
            </a:r>
            <a:r>
              <a:rPr lang="en-US" altLang="zh-CN" sz="2400" baseline="-30000" smtClean="0">
                <a:effectLst/>
                <a:latin typeface="楷体_GB2312" pitchFamily="49" charset="-122"/>
              </a:rPr>
              <a:t>k</a:t>
            </a:r>
            <a:r>
              <a:rPr lang="zh-CN" altLang="en-US" sz="2400" smtClean="0">
                <a:effectLst/>
                <a:latin typeface="楷体_GB2312" pitchFamily="49" charset="-122"/>
              </a:rPr>
              <a:t>），</a:t>
            </a:r>
            <a:r>
              <a:rPr lang="en-US" altLang="zh-CN" sz="2400" i="1" smtClean="0">
                <a:effectLst/>
                <a:latin typeface="楷体_GB2312" pitchFamily="49" charset="-122"/>
              </a:rPr>
              <a:t>ρ</a:t>
            </a:r>
            <a:r>
              <a:rPr lang="zh-CN" altLang="en-US" sz="2400" smtClean="0">
                <a:effectLst/>
                <a:latin typeface="楷体_GB2312" pitchFamily="49" charset="-122"/>
              </a:rPr>
              <a:t>是否是无损连接分解的测试方法如下：</a:t>
            </a:r>
          </a:p>
        </p:txBody>
      </p:sp>
      <p:sp>
        <p:nvSpPr>
          <p:cNvPr id="1519621" name="Rectangle 5"/>
          <p:cNvSpPr>
            <a:spLocks noChangeArrowheads="1"/>
          </p:cNvSpPr>
          <p:nvPr/>
        </p:nvSpPr>
        <p:spPr bwMode="auto">
          <a:xfrm>
            <a:off x="250825" y="2420888"/>
            <a:ext cx="8642350" cy="647700"/>
          </a:xfrm>
          <a:prstGeom prst="rect">
            <a:avLst/>
          </a:prstGeom>
          <a:noFill/>
          <a:ln w="9525">
            <a:noFill/>
            <a:miter lim="800000"/>
            <a:headEnd/>
            <a:tailEnd/>
          </a:ln>
          <a:effectLst/>
        </p:spPr>
        <p:txBody>
          <a:bodyPr/>
          <a:lstStyle/>
          <a:p>
            <a:pPr marL="352425" indent="-352425" algn="just">
              <a:spcAft>
                <a:spcPct val="40000"/>
              </a:spcAft>
              <a:buClr>
                <a:srgbClr val="66FF33"/>
              </a:buClr>
              <a:buSzPct val="85000"/>
              <a:defRPr/>
            </a:pPr>
            <a:r>
              <a:rPr kumimoji="0" lang="en-US" altLang="zh-CN" sz="2400" dirty="0">
                <a:solidFill>
                  <a:srgbClr val="CCFFCC"/>
                </a:solidFill>
                <a:effectLst/>
              </a:rPr>
              <a:t>1)</a:t>
            </a:r>
            <a:r>
              <a:rPr kumimoji="0" lang="zh-CN" altLang="en-US" sz="2400" dirty="0">
                <a:solidFill>
                  <a:srgbClr val="CCFFCC"/>
                </a:solidFill>
                <a:effectLst/>
              </a:rPr>
              <a:t>构造一张</a:t>
            </a:r>
            <a:r>
              <a:rPr kumimoji="0" lang="en-US" altLang="zh-CN" sz="2400" dirty="0">
                <a:solidFill>
                  <a:srgbClr val="CCFFCC"/>
                </a:solidFill>
                <a:effectLst/>
              </a:rPr>
              <a:t>k</a:t>
            </a:r>
            <a:r>
              <a:rPr kumimoji="0" lang="zh-CN" altLang="en-US" sz="2400" dirty="0">
                <a:solidFill>
                  <a:srgbClr val="CCFFCC"/>
                </a:solidFill>
                <a:effectLst/>
              </a:rPr>
              <a:t>行</a:t>
            </a:r>
            <a:r>
              <a:rPr kumimoji="0" lang="en-US" altLang="zh-CN" sz="2400" dirty="0">
                <a:solidFill>
                  <a:srgbClr val="CCFFCC"/>
                </a:solidFill>
                <a:effectLst/>
              </a:rPr>
              <a:t>n</a:t>
            </a:r>
            <a:r>
              <a:rPr kumimoji="0" lang="zh-CN" altLang="en-US" sz="2400" dirty="0">
                <a:solidFill>
                  <a:srgbClr val="CCFFCC"/>
                </a:solidFill>
                <a:effectLst/>
              </a:rPr>
              <a:t>列的表，列标题为</a:t>
            </a:r>
            <a:r>
              <a:rPr kumimoji="0" lang="en-US" altLang="zh-CN" sz="2400" dirty="0" err="1">
                <a:solidFill>
                  <a:srgbClr val="CCFFCC"/>
                </a:solidFill>
                <a:effectLst/>
              </a:rPr>
              <a:t>A</a:t>
            </a:r>
            <a:r>
              <a:rPr kumimoji="0" lang="en-US" altLang="zh-CN" sz="2400" baseline="-25000" dirty="0" err="1">
                <a:solidFill>
                  <a:srgbClr val="CCFFCC"/>
                </a:solidFill>
                <a:effectLst/>
              </a:rPr>
              <a:t>j</a:t>
            </a:r>
            <a:r>
              <a:rPr kumimoji="0" lang="en-US" altLang="zh-CN" sz="2400" dirty="0">
                <a:solidFill>
                  <a:srgbClr val="CCFFCC"/>
                </a:solidFill>
                <a:effectLst/>
              </a:rPr>
              <a:t>(j=1,2</a:t>
            </a:r>
            <a:r>
              <a:rPr kumimoji="0" lang="en-US" altLang="zh-CN" sz="2400" dirty="0">
                <a:solidFill>
                  <a:srgbClr val="CCFFCC"/>
                </a:solidFill>
                <a:effectLst/>
                <a:latin typeface="Times New Roman"/>
              </a:rPr>
              <a:t>…</a:t>
            </a:r>
            <a:r>
              <a:rPr kumimoji="0" lang="en-US" altLang="zh-CN" sz="2400" dirty="0">
                <a:solidFill>
                  <a:srgbClr val="CCFFCC"/>
                </a:solidFill>
                <a:effectLst/>
              </a:rPr>
              <a:t>,n)</a:t>
            </a:r>
            <a:r>
              <a:rPr kumimoji="0" lang="zh-CN" altLang="en-US" sz="2400" dirty="0">
                <a:solidFill>
                  <a:srgbClr val="CCFFCC"/>
                </a:solidFill>
                <a:effectLst/>
              </a:rPr>
              <a:t>，行标题为</a:t>
            </a:r>
            <a:r>
              <a:rPr kumimoji="0" lang="en-US" altLang="zh-CN" sz="2400" dirty="0" err="1">
                <a:solidFill>
                  <a:srgbClr val="CCFFCC"/>
                </a:solidFill>
                <a:effectLst/>
              </a:rPr>
              <a:t>U</a:t>
            </a:r>
            <a:r>
              <a:rPr kumimoji="0" lang="en-US" altLang="zh-CN" sz="2400" baseline="-25000" dirty="0" err="1">
                <a:solidFill>
                  <a:srgbClr val="CCFFCC"/>
                </a:solidFill>
                <a:effectLst/>
              </a:rPr>
              <a:t>i</a:t>
            </a:r>
            <a:r>
              <a:rPr kumimoji="0" lang="en-US" altLang="zh-CN" sz="2400" dirty="0">
                <a:solidFill>
                  <a:srgbClr val="CCFFCC"/>
                </a:solidFill>
                <a:effectLst/>
              </a:rPr>
              <a:t>(</a:t>
            </a:r>
            <a:r>
              <a:rPr kumimoji="0" lang="en-US" altLang="zh-CN" sz="2400" dirty="0" err="1">
                <a:solidFill>
                  <a:srgbClr val="CCFFCC"/>
                </a:solidFill>
                <a:effectLst/>
              </a:rPr>
              <a:t>i</a:t>
            </a:r>
            <a:r>
              <a:rPr kumimoji="0" lang="en-US" altLang="zh-CN" sz="2400" dirty="0">
                <a:solidFill>
                  <a:srgbClr val="CCFFCC"/>
                </a:solidFill>
                <a:effectLst/>
              </a:rPr>
              <a:t>=1,2</a:t>
            </a:r>
            <a:r>
              <a:rPr kumimoji="0" lang="en-US" altLang="zh-CN" sz="2400" dirty="0">
                <a:solidFill>
                  <a:srgbClr val="CCFFCC"/>
                </a:solidFill>
                <a:effectLst/>
                <a:latin typeface="Times New Roman"/>
              </a:rPr>
              <a:t>…</a:t>
            </a:r>
            <a:r>
              <a:rPr kumimoji="0" lang="en-US" altLang="zh-CN" sz="2400" dirty="0">
                <a:solidFill>
                  <a:srgbClr val="CCFFCC"/>
                </a:solidFill>
                <a:effectLst/>
              </a:rPr>
              <a:t>,k)</a:t>
            </a:r>
            <a:r>
              <a:rPr kumimoji="0" lang="zh-CN" altLang="en-US" sz="2400" dirty="0">
                <a:solidFill>
                  <a:srgbClr val="CCFFCC"/>
                </a:solidFill>
                <a:effectLst/>
              </a:rPr>
              <a:t>，若</a:t>
            </a:r>
            <a:r>
              <a:rPr kumimoji="0" lang="en-US" altLang="zh-CN" sz="2400" dirty="0" err="1">
                <a:solidFill>
                  <a:srgbClr val="CCFFCC"/>
                </a:solidFill>
                <a:effectLst/>
              </a:rPr>
              <a:t>A</a:t>
            </a:r>
            <a:r>
              <a:rPr kumimoji="0" lang="en-US" altLang="zh-CN" sz="2400" baseline="-25000" dirty="0" err="1">
                <a:solidFill>
                  <a:srgbClr val="CCFFCC"/>
                </a:solidFill>
                <a:effectLst/>
              </a:rPr>
              <a:t>j</a:t>
            </a:r>
            <a:r>
              <a:rPr kumimoji="0" lang="zh-CN" altLang="en-US" sz="2800" dirty="0">
                <a:solidFill>
                  <a:srgbClr val="CCFFCC"/>
                </a:solidFill>
                <a:effectLst>
                  <a:outerShdw blurRad="38100" dist="38100" dir="2700000" algn="tl">
                    <a:srgbClr val="000000"/>
                  </a:outerShdw>
                </a:effectLst>
                <a:latin typeface="宋体" pitchFamily="2" charset="-122"/>
                <a:ea typeface="宋体" pitchFamily="2" charset="-122"/>
              </a:rPr>
              <a:t>∈</a:t>
            </a:r>
            <a:r>
              <a:rPr kumimoji="0" lang="en-US" altLang="zh-CN" sz="2400" dirty="0" err="1">
                <a:solidFill>
                  <a:srgbClr val="CCFFCC"/>
                </a:solidFill>
                <a:effectLst/>
              </a:rPr>
              <a:t>U</a:t>
            </a:r>
            <a:r>
              <a:rPr kumimoji="0" lang="en-US" altLang="zh-CN" sz="2400" baseline="-25000" dirty="0" err="1">
                <a:solidFill>
                  <a:srgbClr val="CCFFCC"/>
                </a:solidFill>
                <a:effectLst/>
              </a:rPr>
              <a:t>i</a:t>
            </a:r>
            <a:r>
              <a:rPr kumimoji="0" lang="zh-CN" altLang="en-US" sz="2400" dirty="0">
                <a:solidFill>
                  <a:srgbClr val="CCFFCC"/>
                </a:solidFill>
                <a:effectLst/>
              </a:rPr>
              <a:t>则在表格的</a:t>
            </a:r>
            <a:r>
              <a:rPr kumimoji="0" lang="en-US" altLang="zh-CN" sz="2400" dirty="0" err="1">
                <a:solidFill>
                  <a:srgbClr val="CCFFCC"/>
                </a:solidFill>
                <a:effectLst/>
              </a:rPr>
              <a:t>i</a:t>
            </a:r>
            <a:r>
              <a:rPr kumimoji="0" lang="zh-CN" altLang="en-US" sz="2400" dirty="0">
                <a:solidFill>
                  <a:srgbClr val="CCFFCC"/>
                </a:solidFill>
                <a:effectLst/>
              </a:rPr>
              <a:t>行</a:t>
            </a:r>
            <a:r>
              <a:rPr kumimoji="0" lang="en-US" altLang="zh-CN" sz="2400" dirty="0">
                <a:solidFill>
                  <a:srgbClr val="CCFFCC"/>
                </a:solidFill>
                <a:effectLst/>
              </a:rPr>
              <a:t>j</a:t>
            </a:r>
            <a:r>
              <a:rPr kumimoji="0" lang="zh-CN" altLang="en-US" sz="2400" dirty="0">
                <a:solidFill>
                  <a:srgbClr val="CCFFCC"/>
                </a:solidFill>
                <a:effectLst/>
              </a:rPr>
              <a:t>列处填上</a:t>
            </a:r>
            <a:r>
              <a:rPr kumimoji="0" lang="en-US" altLang="zh-CN" sz="2400" dirty="0" err="1">
                <a:solidFill>
                  <a:srgbClr val="CCFFCC"/>
                </a:solidFill>
                <a:effectLst/>
              </a:rPr>
              <a:t>a</a:t>
            </a:r>
            <a:r>
              <a:rPr kumimoji="0" lang="en-US" altLang="zh-CN" sz="2400" baseline="-25000" dirty="0" err="1">
                <a:solidFill>
                  <a:srgbClr val="CCFFCC"/>
                </a:solidFill>
                <a:effectLst/>
              </a:rPr>
              <a:t>j</a:t>
            </a:r>
            <a:r>
              <a:rPr kumimoji="0" lang="zh-CN" altLang="en-US" sz="2400" dirty="0">
                <a:solidFill>
                  <a:srgbClr val="CCFFCC"/>
                </a:solidFill>
                <a:effectLst/>
              </a:rPr>
              <a:t>，否则填上</a:t>
            </a:r>
            <a:r>
              <a:rPr kumimoji="0" lang="en-US" altLang="zh-CN" sz="2400" dirty="0" err="1">
                <a:solidFill>
                  <a:srgbClr val="CCFFCC"/>
                </a:solidFill>
                <a:effectLst/>
              </a:rPr>
              <a:t>b</a:t>
            </a:r>
            <a:r>
              <a:rPr kumimoji="0" lang="en-US" altLang="zh-CN" sz="2400" baseline="-25000" dirty="0" err="1">
                <a:solidFill>
                  <a:srgbClr val="CCFFCC"/>
                </a:solidFill>
                <a:effectLst/>
              </a:rPr>
              <a:t>ij</a:t>
            </a:r>
            <a:r>
              <a:rPr kumimoji="0" lang="en-US" altLang="zh-CN" sz="2400" baseline="-25000" dirty="0">
                <a:solidFill>
                  <a:srgbClr val="CCFFCC"/>
                </a:solidFill>
                <a:effectLst/>
              </a:rPr>
              <a:t> </a:t>
            </a:r>
            <a:r>
              <a:rPr kumimoji="0" lang="zh-CN" altLang="en-US" sz="2400" dirty="0">
                <a:solidFill>
                  <a:srgbClr val="CCFFCC"/>
                </a:solidFill>
                <a:effectLst/>
              </a:rPr>
              <a:t>。</a:t>
            </a:r>
          </a:p>
          <a:p>
            <a:pPr marL="352425" indent="-352425" algn="just">
              <a:spcAft>
                <a:spcPct val="20000"/>
              </a:spcAft>
              <a:buClr>
                <a:srgbClr val="66FF33"/>
              </a:buClr>
              <a:buSzPct val="85000"/>
              <a:defRPr/>
            </a:pPr>
            <a:r>
              <a:rPr kumimoji="0" lang="en-US" altLang="zh-CN" sz="2400" dirty="0">
                <a:solidFill>
                  <a:srgbClr val="CCFFCC"/>
                </a:solidFill>
                <a:effectLst/>
              </a:rPr>
              <a:t>2)</a:t>
            </a:r>
            <a:r>
              <a:rPr kumimoji="0" lang="zh-CN" altLang="en-US" sz="2400" dirty="0">
                <a:solidFill>
                  <a:srgbClr val="CCFFCC"/>
                </a:solidFill>
                <a:effectLst/>
              </a:rPr>
              <a:t>依次根据</a:t>
            </a:r>
            <a:r>
              <a:rPr kumimoji="0" lang="en-US" altLang="zh-CN" sz="2400" dirty="0">
                <a:solidFill>
                  <a:srgbClr val="CCFFCC"/>
                </a:solidFill>
                <a:effectLst/>
              </a:rPr>
              <a:t>F</a:t>
            </a:r>
            <a:r>
              <a:rPr kumimoji="0" lang="zh-CN" altLang="en-US" sz="2400" dirty="0">
                <a:solidFill>
                  <a:srgbClr val="CCFFCC"/>
                </a:solidFill>
                <a:effectLst/>
              </a:rPr>
              <a:t>中的函数依赖</a:t>
            </a:r>
            <a:r>
              <a:rPr kumimoji="0" lang="en-US" altLang="zh-CN" sz="2400" dirty="0">
                <a:solidFill>
                  <a:srgbClr val="CCFFCC"/>
                </a:solidFill>
                <a:effectLst/>
              </a:rPr>
              <a:t>X→Y</a:t>
            </a:r>
            <a:r>
              <a:rPr kumimoji="0" lang="zh-CN" altLang="en-US" sz="2400" dirty="0">
                <a:solidFill>
                  <a:srgbClr val="CCFFCC"/>
                </a:solidFill>
                <a:effectLst/>
              </a:rPr>
              <a:t>，将表格中所有</a:t>
            </a:r>
            <a:r>
              <a:rPr kumimoji="0" lang="en-US" altLang="zh-CN" sz="2400" dirty="0">
                <a:solidFill>
                  <a:srgbClr val="CCFFCC"/>
                </a:solidFill>
                <a:effectLst/>
              </a:rPr>
              <a:t>X</a:t>
            </a:r>
            <a:r>
              <a:rPr kumimoji="0" lang="zh-CN" altLang="en-US" sz="2400" dirty="0">
                <a:solidFill>
                  <a:srgbClr val="CCFFCC"/>
                </a:solidFill>
                <a:effectLst/>
              </a:rPr>
              <a:t>相等而</a:t>
            </a:r>
            <a:r>
              <a:rPr kumimoji="0" lang="en-US" altLang="zh-CN" sz="2400" dirty="0">
                <a:solidFill>
                  <a:srgbClr val="CCFFCC"/>
                </a:solidFill>
                <a:effectLst/>
              </a:rPr>
              <a:t>Y</a:t>
            </a:r>
            <a:r>
              <a:rPr kumimoji="0" lang="zh-CN" altLang="en-US" sz="2400" dirty="0">
                <a:solidFill>
                  <a:srgbClr val="CCFFCC"/>
                </a:solidFill>
                <a:effectLst/>
              </a:rPr>
              <a:t>不等的行按下面规则将其</a:t>
            </a:r>
            <a:r>
              <a:rPr kumimoji="0" lang="en-US" altLang="zh-CN" sz="2400" dirty="0">
                <a:solidFill>
                  <a:srgbClr val="CCFFCC"/>
                </a:solidFill>
                <a:effectLst/>
              </a:rPr>
              <a:t>Y</a:t>
            </a:r>
            <a:r>
              <a:rPr kumimoji="0" lang="zh-CN" altLang="en-US" sz="2400" dirty="0">
                <a:solidFill>
                  <a:srgbClr val="CCFFCC"/>
                </a:solidFill>
                <a:effectLst/>
              </a:rPr>
              <a:t>修改相等：</a:t>
            </a:r>
          </a:p>
          <a:p>
            <a:pPr marL="352425" indent="-352425" algn="just">
              <a:spcAft>
                <a:spcPct val="20000"/>
              </a:spcAft>
              <a:buClr>
                <a:srgbClr val="66FF33"/>
              </a:buClr>
              <a:buSzPct val="85000"/>
              <a:defRPr/>
            </a:pPr>
            <a:r>
              <a:rPr kumimoji="0" lang="zh-CN" altLang="en-US" sz="2400" dirty="0">
                <a:solidFill>
                  <a:srgbClr val="CCFFCC"/>
                </a:solidFill>
                <a:effectLst/>
              </a:rPr>
              <a:t>  ①如果某一行的</a:t>
            </a:r>
            <a:r>
              <a:rPr kumimoji="0" lang="en-US" altLang="zh-CN" sz="2400" dirty="0">
                <a:solidFill>
                  <a:srgbClr val="CCFFCC"/>
                </a:solidFill>
                <a:effectLst/>
              </a:rPr>
              <a:t>Y</a:t>
            </a:r>
            <a:r>
              <a:rPr kumimoji="0" lang="zh-CN" altLang="en-US" sz="2400" dirty="0">
                <a:solidFill>
                  <a:srgbClr val="CCFFCC"/>
                </a:solidFill>
                <a:effectLst/>
              </a:rPr>
              <a:t>为</a:t>
            </a:r>
            <a:r>
              <a:rPr kumimoji="0" lang="en-US" altLang="zh-CN" sz="2400" dirty="0" err="1">
                <a:solidFill>
                  <a:srgbClr val="CCFFCC"/>
                </a:solidFill>
                <a:effectLst/>
              </a:rPr>
              <a:t>a</a:t>
            </a:r>
            <a:r>
              <a:rPr kumimoji="0" lang="en-US" altLang="zh-CN" sz="2400" baseline="-25000" dirty="0" err="1">
                <a:solidFill>
                  <a:srgbClr val="CCFFCC"/>
                </a:solidFill>
                <a:effectLst/>
              </a:rPr>
              <a:t>j</a:t>
            </a:r>
            <a:r>
              <a:rPr kumimoji="0" lang="zh-CN" altLang="en-US" sz="2400" dirty="0">
                <a:solidFill>
                  <a:srgbClr val="CCFFCC"/>
                </a:solidFill>
                <a:effectLst/>
              </a:rPr>
              <a:t>，则将其它行的</a:t>
            </a:r>
            <a:r>
              <a:rPr kumimoji="0" lang="en-US" altLang="zh-CN" sz="2400" dirty="0">
                <a:solidFill>
                  <a:srgbClr val="CCFFCC"/>
                </a:solidFill>
                <a:effectLst/>
              </a:rPr>
              <a:t>Y</a:t>
            </a:r>
            <a:r>
              <a:rPr kumimoji="0" lang="zh-CN" altLang="en-US" sz="2400" dirty="0">
                <a:solidFill>
                  <a:srgbClr val="CCFFCC"/>
                </a:solidFill>
                <a:effectLst/>
              </a:rPr>
              <a:t>都改为</a:t>
            </a:r>
            <a:r>
              <a:rPr kumimoji="0" lang="en-US" altLang="zh-CN" sz="2400" dirty="0" err="1">
                <a:solidFill>
                  <a:srgbClr val="CCFFCC"/>
                </a:solidFill>
                <a:effectLst/>
              </a:rPr>
              <a:t>a</a:t>
            </a:r>
            <a:r>
              <a:rPr kumimoji="0" lang="en-US" altLang="zh-CN" sz="2400" baseline="-25000" dirty="0" err="1">
                <a:solidFill>
                  <a:srgbClr val="CCFFCC"/>
                </a:solidFill>
                <a:effectLst/>
              </a:rPr>
              <a:t>j</a:t>
            </a:r>
            <a:endParaRPr kumimoji="0" lang="zh-CN" altLang="en-US" sz="2400" dirty="0">
              <a:solidFill>
                <a:srgbClr val="CCFFCC"/>
              </a:solidFill>
              <a:effectLst/>
            </a:endParaRPr>
          </a:p>
          <a:p>
            <a:pPr marL="352425" indent="-352425" algn="just">
              <a:spcAft>
                <a:spcPct val="40000"/>
              </a:spcAft>
              <a:buClr>
                <a:srgbClr val="66FF33"/>
              </a:buClr>
              <a:buSzPct val="85000"/>
              <a:defRPr/>
            </a:pPr>
            <a:r>
              <a:rPr kumimoji="0" lang="zh-CN" altLang="en-US" sz="2400" dirty="0">
                <a:solidFill>
                  <a:srgbClr val="CCFFCC"/>
                </a:solidFill>
                <a:effectLst/>
              </a:rPr>
              <a:t>	②如果没有</a:t>
            </a:r>
            <a:r>
              <a:rPr kumimoji="0" lang="en-US" altLang="zh-CN" sz="2400" dirty="0">
                <a:solidFill>
                  <a:srgbClr val="CCFFCC"/>
                </a:solidFill>
                <a:effectLst/>
              </a:rPr>
              <a:t>Y</a:t>
            </a:r>
            <a:r>
              <a:rPr kumimoji="0" lang="zh-CN" altLang="en-US" sz="2400" dirty="0">
                <a:solidFill>
                  <a:srgbClr val="CCFFCC"/>
                </a:solidFill>
                <a:effectLst/>
              </a:rPr>
              <a:t>为</a:t>
            </a:r>
            <a:r>
              <a:rPr kumimoji="0" lang="en-US" altLang="zh-CN" sz="2400" dirty="0" err="1">
                <a:solidFill>
                  <a:srgbClr val="CCFFCC"/>
                </a:solidFill>
                <a:effectLst/>
              </a:rPr>
              <a:t>a</a:t>
            </a:r>
            <a:r>
              <a:rPr kumimoji="0" lang="en-US" altLang="zh-CN" sz="2400" baseline="-25000" dirty="0" err="1">
                <a:solidFill>
                  <a:srgbClr val="CCFFCC"/>
                </a:solidFill>
                <a:effectLst/>
              </a:rPr>
              <a:t>j</a:t>
            </a:r>
            <a:r>
              <a:rPr kumimoji="0" lang="zh-CN" altLang="en-US" sz="2400" dirty="0">
                <a:solidFill>
                  <a:srgbClr val="CCFFCC"/>
                </a:solidFill>
                <a:effectLst/>
              </a:rPr>
              <a:t>，则用</a:t>
            </a:r>
            <a:r>
              <a:rPr kumimoji="0" lang="en-US" altLang="zh-CN" sz="2400" dirty="0" err="1">
                <a:solidFill>
                  <a:srgbClr val="CCFFCC"/>
                </a:solidFill>
                <a:effectLst/>
              </a:rPr>
              <a:t>i</a:t>
            </a:r>
            <a:r>
              <a:rPr kumimoji="0" lang="zh-CN" altLang="en-US" sz="2400" dirty="0">
                <a:solidFill>
                  <a:srgbClr val="CCFFCC"/>
                </a:solidFill>
                <a:effectLst/>
              </a:rPr>
              <a:t>最小的</a:t>
            </a:r>
            <a:r>
              <a:rPr kumimoji="0" lang="en-US" altLang="zh-CN" sz="2400" dirty="0" err="1">
                <a:solidFill>
                  <a:srgbClr val="CCFFCC"/>
                </a:solidFill>
                <a:effectLst/>
              </a:rPr>
              <a:t>b</a:t>
            </a:r>
            <a:r>
              <a:rPr kumimoji="0" lang="en-US" altLang="zh-CN" sz="2400" baseline="-25000" dirty="0" err="1">
                <a:solidFill>
                  <a:srgbClr val="CCFFCC"/>
                </a:solidFill>
                <a:effectLst/>
              </a:rPr>
              <a:t>ij</a:t>
            </a:r>
            <a:r>
              <a:rPr kumimoji="0" lang="zh-CN" altLang="en-US" sz="2400" dirty="0">
                <a:solidFill>
                  <a:srgbClr val="CCFFCC"/>
                </a:solidFill>
                <a:effectLst/>
              </a:rPr>
              <a:t>替换其他的</a:t>
            </a:r>
            <a:r>
              <a:rPr kumimoji="0" lang="en-US" altLang="zh-CN" sz="2400" dirty="0" err="1">
                <a:solidFill>
                  <a:srgbClr val="CCFFCC"/>
                </a:solidFill>
                <a:effectLst/>
              </a:rPr>
              <a:t>b</a:t>
            </a:r>
            <a:r>
              <a:rPr kumimoji="0" lang="en-US" altLang="zh-CN" sz="2400" baseline="-25000" dirty="0" err="1">
                <a:solidFill>
                  <a:srgbClr val="CCFFCC"/>
                </a:solidFill>
                <a:effectLst/>
              </a:rPr>
              <a:t>ij</a:t>
            </a:r>
            <a:endParaRPr kumimoji="0" lang="en-US" altLang="zh-CN" sz="2400" baseline="-25000" dirty="0">
              <a:solidFill>
                <a:srgbClr val="CCFFCC"/>
              </a:solidFill>
              <a:effectLst/>
            </a:endParaRPr>
          </a:p>
          <a:p>
            <a:pPr marL="352425" indent="-352425" algn="just">
              <a:spcAft>
                <a:spcPct val="40000"/>
              </a:spcAft>
              <a:buClr>
                <a:srgbClr val="66FF33"/>
              </a:buClr>
              <a:buSzPct val="85000"/>
              <a:defRPr/>
            </a:pPr>
            <a:r>
              <a:rPr kumimoji="0" lang="en-US" altLang="zh-CN" sz="2400" dirty="0">
                <a:solidFill>
                  <a:srgbClr val="CCFFCC"/>
                </a:solidFill>
                <a:effectLst/>
              </a:rPr>
              <a:t>3)</a:t>
            </a:r>
            <a:r>
              <a:rPr kumimoji="0" lang="zh-CN" altLang="en-US" sz="2400" dirty="0">
                <a:solidFill>
                  <a:srgbClr val="CCFFCC"/>
                </a:solidFill>
                <a:effectLst/>
              </a:rPr>
              <a:t>修改结束后某一行全是</a:t>
            </a:r>
            <a:r>
              <a:rPr kumimoji="0" lang="en-US" altLang="zh-CN" sz="2400" dirty="0">
                <a:solidFill>
                  <a:srgbClr val="CCFFCC"/>
                </a:solidFill>
                <a:effectLst/>
              </a:rPr>
              <a:t>a</a:t>
            </a:r>
            <a:r>
              <a:rPr kumimoji="0" lang="zh-CN" altLang="en-US" sz="2400" dirty="0">
                <a:solidFill>
                  <a:srgbClr val="CCFFCC"/>
                </a:solidFill>
                <a:effectLst/>
              </a:rPr>
              <a:t>型元素，则</a:t>
            </a:r>
            <a:r>
              <a:rPr kumimoji="0" lang="en-US" altLang="zh-CN" sz="2400" i="1" dirty="0">
                <a:solidFill>
                  <a:srgbClr val="CCFFCC"/>
                </a:solidFill>
                <a:effectLst/>
              </a:rPr>
              <a:t>ρ</a:t>
            </a:r>
            <a:r>
              <a:rPr kumimoji="0" lang="zh-CN" altLang="en-US" sz="2400" dirty="0">
                <a:solidFill>
                  <a:srgbClr val="CCFFCC"/>
                </a:solidFill>
                <a:effectLst/>
              </a:rPr>
              <a:t>是无损连接分解，否则，即所有行都包含</a:t>
            </a:r>
            <a:r>
              <a:rPr kumimoji="0" lang="en-US" altLang="zh-CN" sz="2400" dirty="0">
                <a:solidFill>
                  <a:srgbClr val="CCFFCC"/>
                </a:solidFill>
                <a:effectLst/>
              </a:rPr>
              <a:t>b</a:t>
            </a:r>
            <a:r>
              <a:rPr kumimoji="0" lang="zh-CN" altLang="en-US" sz="2400" dirty="0">
                <a:solidFill>
                  <a:srgbClr val="CCFFCC"/>
                </a:solidFill>
                <a:effectLst/>
              </a:rPr>
              <a:t>型元素，</a:t>
            </a:r>
            <a:r>
              <a:rPr kumimoji="0" lang="en-US" altLang="zh-CN" sz="2400" i="1" dirty="0">
                <a:solidFill>
                  <a:srgbClr val="CCFFCC"/>
                </a:solidFill>
                <a:effectLst/>
              </a:rPr>
              <a:t>ρ</a:t>
            </a:r>
            <a:r>
              <a:rPr kumimoji="0" lang="zh-CN" altLang="en-US" sz="2400" dirty="0">
                <a:solidFill>
                  <a:srgbClr val="CCFFCC"/>
                </a:solidFill>
                <a:effectLst/>
              </a:rPr>
              <a:t>不是无损连接分解。</a:t>
            </a:r>
            <a:endParaRPr kumimoji="0" lang="en-US" altLang="zh-CN" sz="2400" dirty="0">
              <a:solidFill>
                <a:srgbClr val="CCFFCC"/>
              </a:solidFill>
              <a:effectLst/>
            </a:endParaRP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0644" name="Rectangle 4"/>
          <p:cNvSpPr>
            <a:spLocks noGrp="1" noChangeArrowheads="1"/>
          </p:cNvSpPr>
          <p:nvPr>
            <p:ph type="body" idx="1"/>
          </p:nvPr>
        </p:nvSpPr>
        <p:spPr>
          <a:xfrm>
            <a:off x="250825" y="1268413"/>
            <a:ext cx="8642350" cy="647700"/>
          </a:xfrm>
        </p:spPr>
        <p:txBody>
          <a:bodyPr/>
          <a:lstStyle/>
          <a:p>
            <a:pPr marL="0" indent="0" algn="just">
              <a:buFont typeface="Wingdings" pitchFamily="2" charset="2"/>
              <a:buNone/>
              <a:defRPr/>
            </a:pPr>
            <a:r>
              <a:rPr lang="zh-CN" altLang="en-US" sz="2800">
                <a:solidFill>
                  <a:srgbClr val="99FF33"/>
                </a:solidFill>
                <a:latin typeface="楷体_GB2312" pitchFamily="49" charset="-122"/>
              </a:rPr>
              <a:t>关系模式</a:t>
            </a:r>
            <a:r>
              <a:rPr lang="en-US" altLang="zh-CN" sz="2800">
                <a:solidFill>
                  <a:srgbClr val="99FF33"/>
                </a:solidFill>
                <a:latin typeface="楷体_GB2312" pitchFamily="49" charset="-122"/>
              </a:rPr>
              <a:t>R(U,F)</a:t>
            </a:r>
            <a:r>
              <a:rPr lang="zh-CN" altLang="en-US" sz="2800">
                <a:solidFill>
                  <a:srgbClr val="99FF33"/>
                </a:solidFill>
                <a:latin typeface="楷体_GB2312" pitchFamily="49" charset="-122"/>
              </a:rPr>
              <a:t>中，</a:t>
            </a:r>
            <a:r>
              <a:rPr lang="en-US" altLang="zh-CN" sz="2800">
                <a:solidFill>
                  <a:srgbClr val="99FF33"/>
                </a:solidFill>
                <a:latin typeface="楷体_GB2312" pitchFamily="49" charset="-122"/>
              </a:rPr>
              <a:t>U={A,B,C,D,E}</a:t>
            </a:r>
            <a:r>
              <a:rPr lang="zh-CN" altLang="en-US" sz="2800">
                <a:solidFill>
                  <a:srgbClr val="99FF33"/>
                </a:solidFill>
                <a:latin typeface="楷体_GB2312" pitchFamily="49" charset="-122"/>
              </a:rPr>
              <a:t>，</a:t>
            </a:r>
            <a:r>
              <a:rPr lang="en-US" altLang="zh-CN" sz="2800">
                <a:solidFill>
                  <a:srgbClr val="99FF33"/>
                </a:solidFill>
                <a:latin typeface="楷体_GB2312" pitchFamily="49" charset="-122"/>
              </a:rPr>
              <a:t>F={A</a:t>
            </a:r>
            <a:r>
              <a:rPr lang="en-US" altLang="en-US" sz="2800">
                <a:solidFill>
                  <a:srgbClr val="99FF33"/>
                </a:solidFill>
                <a:latin typeface="楷体_GB2312" pitchFamily="49" charset="-122"/>
              </a:rPr>
              <a:t>→</a:t>
            </a:r>
            <a:r>
              <a:rPr lang="en-US" altLang="zh-CN" sz="2800">
                <a:solidFill>
                  <a:srgbClr val="99FF33"/>
                </a:solidFill>
                <a:latin typeface="楷体_GB2312" pitchFamily="49" charset="-122"/>
              </a:rPr>
              <a:t>D,E</a:t>
            </a:r>
            <a:r>
              <a:rPr lang="en-US" altLang="en-US" sz="2800">
                <a:solidFill>
                  <a:srgbClr val="99FF33"/>
                </a:solidFill>
                <a:latin typeface="楷体_GB2312" pitchFamily="49" charset="-122"/>
              </a:rPr>
              <a:t>→</a:t>
            </a:r>
            <a:r>
              <a:rPr lang="en-US" altLang="zh-CN" sz="2800">
                <a:solidFill>
                  <a:srgbClr val="99FF33"/>
                </a:solidFill>
                <a:latin typeface="楷体_GB2312" pitchFamily="49" charset="-122"/>
              </a:rPr>
              <a:t>D, D</a:t>
            </a:r>
            <a:r>
              <a:rPr lang="en-US" altLang="en-US" sz="2800">
                <a:solidFill>
                  <a:srgbClr val="99FF33"/>
                </a:solidFill>
                <a:latin typeface="楷体_GB2312" pitchFamily="49" charset="-122"/>
              </a:rPr>
              <a:t>→</a:t>
            </a:r>
            <a:r>
              <a:rPr lang="en-US" altLang="zh-CN" sz="2800">
                <a:solidFill>
                  <a:srgbClr val="99FF33"/>
                </a:solidFill>
                <a:latin typeface="楷体_GB2312" pitchFamily="49" charset="-122"/>
              </a:rPr>
              <a:t>B,BC</a:t>
            </a:r>
            <a:r>
              <a:rPr lang="en-US" altLang="en-US" sz="2800">
                <a:solidFill>
                  <a:srgbClr val="99FF33"/>
                </a:solidFill>
                <a:latin typeface="楷体_GB2312" pitchFamily="49" charset="-122"/>
              </a:rPr>
              <a:t>→D,DC→</a:t>
            </a:r>
            <a:r>
              <a:rPr lang="en-US" altLang="zh-CN" sz="2800">
                <a:solidFill>
                  <a:srgbClr val="99FF33"/>
                </a:solidFill>
                <a:latin typeface="楷体_GB2312" pitchFamily="49" charset="-122"/>
              </a:rPr>
              <a:t>A}</a:t>
            </a:r>
            <a:r>
              <a:rPr lang="zh-CN" altLang="en-US" sz="2800">
                <a:solidFill>
                  <a:srgbClr val="99FF33"/>
                </a:solidFill>
                <a:latin typeface="楷体_GB2312" pitchFamily="49" charset="-122"/>
              </a:rPr>
              <a:t>，</a:t>
            </a:r>
            <a:r>
              <a:rPr lang="en-US" altLang="zh-CN" sz="2800" i="1">
                <a:solidFill>
                  <a:srgbClr val="99FF33"/>
                </a:solidFill>
                <a:latin typeface="楷体_GB2312" pitchFamily="49" charset="-122"/>
              </a:rPr>
              <a:t>ρ</a:t>
            </a:r>
            <a:r>
              <a:rPr lang="en-US" altLang="zh-CN" sz="2800">
                <a:solidFill>
                  <a:srgbClr val="99FF33"/>
                </a:solidFill>
                <a:latin typeface="楷体_GB2312" pitchFamily="49" charset="-122"/>
              </a:rPr>
              <a:t>={R</a:t>
            </a:r>
            <a:r>
              <a:rPr lang="en-US" altLang="zh-CN" sz="2800" baseline="-30000">
                <a:solidFill>
                  <a:srgbClr val="99FF33"/>
                </a:solidFill>
                <a:latin typeface="楷体_GB2312" pitchFamily="49" charset="-122"/>
              </a:rPr>
              <a:t>1</a:t>
            </a:r>
            <a:r>
              <a:rPr lang="en-US" altLang="zh-CN" sz="2800">
                <a:solidFill>
                  <a:srgbClr val="99FF33"/>
                </a:solidFill>
                <a:latin typeface="楷体_GB2312" pitchFamily="49" charset="-122"/>
              </a:rPr>
              <a:t>(A,B),R</a:t>
            </a:r>
            <a:r>
              <a:rPr lang="en-US" altLang="zh-CN" sz="2800" baseline="-30000">
                <a:solidFill>
                  <a:srgbClr val="99FF33"/>
                </a:solidFill>
                <a:latin typeface="楷体_GB2312" pitchFamily="49" charset="-122"/>
              </a:rPr>
              <a:t>2</a:t>
            </a:r>
            <a:r>
              <a:rPr lang="en-US" altLang="zh-CN" sz="2800">
                <a:solidFill>
                  <a:srgbClr val="99FF33"/>
                </a:solidFill>
                <a:latin typeface="楷体_GB2312" pitchFamily="49" charset="-122"/>
              </a:rPr>
              <a:t>(A,E),R</a:t>
            </a:r>
            <a:r>
              <a:rPr lang="en-US" altLang="zh-CN" sz="2800" baseline="-30000">
                <a:solidFill>
                  <a:srgbClr val="99FF33"/>
                </a:solidFill>
                <a:latin typeface="楷体_GB2312" pitchFamily="49" charset="-122"/>
              </a:rPr>
              <a:t>3</a:t>
            </a:r>
            <a:r>
              <a:rPr lang="en-US" altLang="zh-CN" sz="2800">
                <a:solidFill>
                  <a:srgbClr val="99FF33"/>
                </a:solidFill>
                <a:latin typeface="楷体_GB2312" pitchFamily="49" charset="-122"/>
              </a:rPr>
              <a:t>(C,E), R</a:t>
            </a:r>
            <a:r>
              <a:rPr lang="en-US" altLang="zh-CN" sz="2800" baseline="-30000">
                <a:solidFill>
                  <a:srgbClr val="99FF33"/>
                </a:solidFill>
                <a:latin typeface="楷体_GB2312" pitchFamily="49" charset="-122"/>
              </a:rPr>
              <a:t>4</a:t>
            </a:r>
            <a:r>
              <a:rPr lang="en-US" altLang="zh-CN" sz="2800">
                <a:solidFill>
                  <a:srgbClr val="99FF33"/>
                </a:solidFill>
                <a:latin typeface="楷体_GB2312" pitchFamily="49" charset="-122"/>
              </a:rPr>
              <a:t>(B,C,D),R</a:t>
            </a:r>
            <a:r>
              <a:rPr lang="en-US" altLang="zh-CN" sz="2800" baseline="-30000">
                <a:solidFill>
                  <a:srgbClr val="99FF33"/>
                </a:solidFill>
                <a:latin typeface="楷体_GB2312" pitchFamily="49" charset="-122"/>
              </a:rPr>
              <a:t>5</a:t>
            </a:r>
            <a:r>
              <a:rPr lang="en-US" altLang="zh-CN" sz="2800">
                <a:solidFill>
                  <a:srgbClr val="99FF33"/>
                </a:solidFill>
                <a:latin typeface="楷体_GB2312" pitchFamily="49" charset="-122"/>
              </a:rPr>
              <a:t>(A,C)}</a:t>
            </a:r>
            <a:r>
              <a:rPr lang="zh-CN" altLang="en-US" sz="2800">
                <a:solidFill>
                  <a:srgbClr val="99FF33"/>
                </a:solidFill>
                <a:latin typeface="楷体_GB2312" pitchFamily="49" charset="-122"/>
              </a:rPr>
              <a:t>，</a:t>
            </a:r>
            <a:r>
              <a:rPr lang="en-US" altLang="zh-CN" sz="2800" i="1">
                <a:solidFill>
                  <a:srgbClr val="99FF33"/>
                </a:solidFill>
                <a:latin typeface="楷体_GB2312" pitchFamily="49" charset="-122"/>
              </a:rPr>
              <a:t>ρ</a:t>
            </a:r>
            <a:r>
              <a:rPr lang="zh-CN" altLang="en-US" sz="2800">
                <a:solidFill>
                  <a:srgbClr val="99FF33"/>
                </a:solidFill>
                <a:latin typeface="楷体_GB2312" pitchFamily="49" charset="-122"/>
              </a:rPr>
              <a:t>是否是无损连接分解</a:t>
            </a:r>
            <a:r>
              <a:rPr lang="en-US" altLang="zh-CN" sz="2800">
                <a:solidFill>
                  <a:srgbClr val="99FF33"/>
                </a:solidFill>
                <a:latin typeface="楷体_GB2312" pitchFamily="49" charset="-122"/>
              </a:rPr>
              <a:t>?</a:t>
            </a:r>
            <a:endParaRPr lang="zh-CN" altLang="en-US" sz="2800">
              <a:solidFill>
                <a:srgbClr val="99FF33"/>
              </a:solidFill>
              <a:latin typeface="楷体_GB2312" pitchFamily="49" charset="-122"/>
            </a:endParaRPr>
          </a:p>
        </p:txBody>
      </p:sp>
      <p:graphicFrame>
        <p:nvGraphicFramePr>
          <p:cNvPr id="1520645" name="Group 5"/>
          <p:cNvGraphicFramePr>
            <a:graphicFrameLocks noGrp="1"/>
          </p:cNvGraphicFramePr>
          <p:nvPr/>
        </p:nvGraphicFramePr>
        <p:xfrm>
          <a:off x="971550" y="3429000"/>
          <a:ext cx="7112000" cy="2930918"/>
        </p:xfrm>
        <a:graphic>
          <a:graphicData uri="http://schemas.openxmlformats.org/drawingml/2006/table">
            <a:tbl>
              <a:tblPr/>
              <a:tblGrid>
                <a:gridCol w="360363">
                  <a:extLst>
                    <a:ext uri="{9D8B030D-6E8A-4147-A177-3AD203B41FA5}">
                      <a16:colId xmlns:a16="http://schemas.microsoft.com/office/drawing/2014/main" val="20000"/>
                    </a:ext>
                  </a:extLst>
                </a:gridCol>
                <a:gridCol w="1671637">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gridCol w="1016000">
                  <a:extLst>
                    <a:ext uri="{9D8B030D-6E8A-4147-A177-3AD203B41FA5}">
                      <a16:colId xmlns:a16="http://schemas.microsoft.com/office/drawing/2014/main" val="20006"/>
                    </a:ext>
                  </a:extLst>
                </a:gridCol>
              </a:tblGrid>
              <a:tr h="365702">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1</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2</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3</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4</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5</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C</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D</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E</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1558">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1</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{A,B}</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b13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b14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b15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2</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{A,E}</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b22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b23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b24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3</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{C,E}</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b31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b32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b34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4</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{B,C,D}</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b41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b45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5</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{A,C}</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b52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b54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b55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520725" name="Rectangle 85"/>
          <p:cNvSpPr>
            <a:spLocks noChangeArrowheads="1"/>
          </p:cNvSpPr>
          <p:nvPr/>
        </p:nvSpPr>
        <p:spPr bwMode="auto">
          <a:xfrm>
            <a:off x="395288" y="2852738"/>
            <a:ext cx="8748712" cy="381000"/>
          </a:xfrm>
          <a:prstGeom prst="rect">
            <a:avLst/>
          </a:prstGeom>
          <a:noFill/>
          <a:ln w="12700" cap="sq">
            <a:noFill/>
            <a:miter lim="800000"/>
            <a:headEnd/>
            <a:tailEnd/>
          </a:ln>
          <a:effectLst/>
        </p:spPr>
        <p:txBody>
          <a:bodyPr lIns="0" tIns="0" rIns="0" bIns="0"/>
          <a:lstStyle/>
          <a:p>
            <a:pPr>
              <a:buSzTx/>
              <a:buFontTx/>
              <a:buNone/>
              <a:defRPr/>
            </a:pPr>
            <a:r>
              <a:rPr lang="en-US" altLang="zh-CN" sz="2800">
                <a:effectLst>
                  <a:outerShdw blurRad="38100" dist="38100" dir="2700000" algn="tl">
                    <a:srgbClr val="000000"/>
                  </a:outerShdw>
                </a:effectLst>
              </a:rPr>
              <a:t>1)</a:t>
            </a:r>
            <a:r>
              <a:rPr lang="zh-CN" altLang="en-US" sz="2800">
                <a:effectLst>
                  <a:outerShdw blurRad="38100" dist="38100" dir="2700000" algn="tl">
                    <a:srgbClr val="000000"/>
                  </a:outerShdw>
                </a:effectLst>
              </a:rPr>
              <a:t>构建初始表格</a:t>
            </a:r>
          </a:p>
        </p:txBody>
      </p:sp>
      <p:sp>
        <p:nvSpPr>
          <p:cNvPr id="8" name="Rectangle 3"/>
          <p:cNvSpPr>
            <a:spLocks noGrp="1" noChangeArrowheads="1"/>
          </p:cNvSpPr>
          <p:nvPr>
            <p:ph type="title"/>
          </p:nvPr>
        </p:nvSpPr>
        <p:spPr>
          <a:xfrm>
            <a:off x="0" y="15305"/>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ea typeface="微软雅黑" pitchFamily="34" charset="-122"/>
              </a:rPr>
              <a:t>无损连接的测试算法</a:t>
            </a: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1668" name="Rectangle 4"/>
          <p:cNvSpPr>
            <a:spLocks noGrp="1" noChangeArrowheads="1"/>
          </p:cNvSpPr>
          <p:nvPr>
            <p:ph type="body" idx="1"/>
          </p:nvPr>
        </p:nvSpPr>
        <p:spPr>
          <a:xfrm>
            <a:off x="250825" y="1268413"/>
            <a:ext cx="8642350" cy="647700"/>
          </a:xfrm>
        </p:spPr>
        <p:txBody>
          <a:bodyPr/>
          <a:lstStyle/>
          <a:p>
            <a:pPr marL="0" indent="0" algn="just">
              <a:buFont typeface="Wingdings" pitchFamily="2" charset="2"/>
              <a:buNone/>
              <a:defRPr/>
            </a:pPr>
            <a:r>
              <a:rPr lang="zh-CN" altLang="en-US" sz="2800">
                <a:solidFill>
                  <a:srgbClr val="99FF33"/>
                </a:solidFill>
                <a:latin typeface="楷体_GB2312" pitchFamily="49" charset="-122"/>
              </a:rPr>
              <a:t>关系模式</a:t>
            </a:r>
            <a:r>
              <a:rPr lang="en-US" altLang="zh-CN" sz="2800">
                <a:solidFill>
                  <a:srgbClr val="99FF33"/>
                </a:solidFill>
                <a:latin typeface="楷体_GB2312" pitchFamily="49" charset="-122"/>
              </a:rPr>
              <a:t>R(U,F)</a:t>
            </a:r>
            <a:r>
              <a:rPr lang="zh-CN" altLang="en-US" sz="2800">
                <a:solidFill>
                  <a:srgbClr val="99FF33"/>
                </a:solidFill>
                <a:latin typeface="楷体_GB2312" pitchFamily="49" charset="-122"/>
              </a:rPr>
              <a:t>中，</a:t>
            </a:r>
            <a:r>
              <a:rPr lang="en-US" altLang="zh-CN" sz="2800">
                <a:solidFill>
                  <a:srgbClr val="99FF33"/>
                </a:solidFill>
                <a:latin typeface="楷体_GB2312" pitchFamily="49" charset="-122"/>
              </a:rPr>
              <a:t>U={A,B,C,D,E}</a:t>
            </a:r>
            <a:r>
              <a:rPr lang="zh-CN" altLang="en-US" sz="2800">
                <a:solidFill>
                  <a:srgbClr val="99FF33"/>
                </a:solidFill>
                <a:latin typeface="楷体_GB2312" pitchFamily="49" charset="-122"/>
              </a:rPr>
              <a:t>，</a:t>
            </a:r>
            <a:r>
              <a:rPr lang="en-US" altLang="zh-CN" sz="2800">
                <a:solidFill>
                  <a:srgbClr val="99FF33"/>
                </a:solidFill>
                <a:latin typeface="楷体_GB2312" pitchFamily="49" charset="-122"/>
              </a:rPr>
              <a:t>F={</a:t>
            </a:r>
            <a:r>
              <a:rPr lang="en-US" altLang="zh-CN" sz="2800">
                <a:solidFill>
                  <a:srgbClr val="00FFFF"/>
                </a:solidFill>
                <a:latin typeface="楷体_GB2312" pitchFamily="49" charset="-122"/>
              </a:rPr>
              <a:t>A</a:t>
            </a:r>
            <a:r>
              <a:rPr lang="en-US" altLang="en-US" sz="2800">
                <a:solidFill>
                  <a:srgbClr val="00FFFF"/>
                </a:solidFill>
                <a:latin typeface="楷体_GB2312" pitchFamily="49" charset="-122"/>
              </a:rPr>
              <a:t>→</a:t>
            </a:r>
            <a:r>
              <a:rPr lang="en-US" altLang="zh-CN" sz="2800">
                <a:solidFill>
                  <a:srgbClr val="00FFFF"/>
                </a:solidFill>
                <a:latin typeface="楷体_GB2312" pitchFamily="49" charset="-122"/>
              </a:rPr>
              <a:t>D</a:t>
            </a:r>
            <a:r>
              <a:rPr lang="en-US" altLang="zh-CN" sz="2800">
                <a:solidFill>
                  <a:srgbClr val="99FF33"/>
                </a:solidFill>
                <a:latin typeface="楷体_GB2312" pitchFamily="49" charset="-122"/>
              </a:rPr>
              <a:t>,E</a:t>
            </a:r>
            <a:r>
              <a:rPr lang="en-US" altLang="en-US" sz="2800">
                <a:solidFill>
                  <a:srgbClr val="99FF33"/>
                </a:solidFill>
                <a:latin typeface="楷体_GB2312" pitchFamily="49" charset="-122"/>
              </a:rPr>
              <a:t>→</a:t>
            </a:r>
            <a:r>
              <a:rPr lang="en-US" altLang="zh-CN" sz="2800">
                <a:solidFill>
                  <a:srgbClr val="99FF33"/>
                </a:solidFill>
                <a:latin typeface="楷体_GB2312" pitchFamily="49" charset="-122"/>
              </a:rPr>
              <a:t>D, D</a:t>
            </a:r>
            <a:r>
              <a:rPr lang="en-US" altLang="en-US" sz="2800">
                <a:solidFill>
                  <a:srgbClr val="99FF33"/>
                </a:solidFill>
                <a:latin typeface="楷体_GB2312" pitchFamily="49" charset="-122"/>
              </a:rPr>
              <a:t>→</a:t>
            </a:r>
            <a:r>
              <a:rPr lang="en-US" altLang="zh-CN" sz="2800">
                <a:solidFill>
                  <a:srgbClr val="99FF33"/>
                </a:solidFill>
                <a:latin typeface="楷体_GB2312" pitchFamily="49" charset="-122"/>
              </a:rPr>
              <a:t>B,BC</a:t>
            </a:r>
            <a:r>
              <a:rPr lang="en-US" altLang="en-US" sz="2800">
                <a:solidFill>
                  <a:srgbClr val="99FF33"/>
                </a:solidFill>
                <a:latin typeface="楷体_GB2312" pitchFamily="49" charset="-122"/>
              </a:rPr>
              <a:t>→D,DC→</a:t>
            </a:r>
            <a:r>
              <a:rPr lang="en-US" altLang="zh-CN" sz="2800">
                <a:solidFill>
                  <a:srgbClr val="99FF33"/>
                </a:solidFill>
                <a:latin typeface="楷体_GB2312" pitchFamily="49" charset="-122"/>
              </a:rPr>
              <a:t>A}</a:t>
            </a:r>
            <a:r>
              <a:rPr lang="zh-CN" altLang="en-US" sz="2800">
                <a:solidFill>
                  <a:srgbClr val="99FF33"/>
                </a:solidFill>
                <a:latin typeface="楷体_GB2312" pitchFamily="49" charset="-122"/>
              </a:rPr>
              <a:t>，</a:t>
            </a:r>
            <a:r>
              <a:rPr lang="en-US" altLang="zh-CN" sz="2800" i="1">
                <a:solidFill>
                  <a:srgbClr val="99FF33"/>
                </a:solidFill>
                <a:latin typeface="楷体_GB2312" pitchFamily="49" charset="-122"/>
              </a:rPr>
              <a:t>ρ</a:t>
            </a:r>
            <a:r>
              <a:rPr lang="en-US" altLang="zh-CN" sz="2800">
                <a:solidFill>
                  <a:srgbClr val="99FF33"/>
                </a:solidFill>
                <a:latin typeface="楷体_GB2312" pitchFamily="49" charset="-122"/>
              </a:rPr>
              <a:t>={R</a:t>
            </a:r>
            <a:r>
              <a:rPr lang="en-US" altLang="zh-CN" sz="2800" baseline="-30000">
                <a:solidFill>
                  <a:srgbClr val="99FF33"/>
                </a:solidFill>
                <a:latin typeface="楷体_GB2312" pitchFamily="49" charset="-122"/>
              </a:rPr>
              <a:t>1</a:t>
            </a:r>
            <a:r>
              <a:rPr lang="en-US" altLang="zh-CN" sz="2800">
                <a:solidFill>
                  <a:srgbClr val="99FF33"/>
                </a:solidFill>
                <a:latin typeface="楷体_GB2312" pitchFamily="49" charset="-122"/>
              </a:rPr>
              <a:t>(A,B),R</a:t>
            </a:r>
            <a:r>
              <a:rPr lang="en-US" altLang="zh-CN" sz="2800" baseline="-30000">
                <a:solidFill>
                  <a:srgbClr val="99FF33"/>
                </a:solidFill>
                <a:latin typeface="楷体_GB2312" pitchFamily="49" charset="-122"/>
              </a:rPr>
              <a:t>2</a:t>
            </a:r>
            <a:r>
              <a:rPr lang="en-US" altLang="zh-CN" sz="2800">
                <a:solidFill>
                  <a:srgbClr val="99FF33"/>
                </a:solidFill>
                <a:latin typeface="楷体_GB2312" pitchFamily="49" charset="-122"/>
              </a:rPr>
              <a:t>(A,E),R</a:t>
            </a:r>
            <a:r>
              <a:rPr lang="en-US" altLang="zh-CN" sz="2800" baseline="-30000">
                <a:solidFill>
                  <a:srgbClr val="99FF33"/>
                </a:solidFill>
                <a:latin typeface="楷体_GB2312" pitchFamily="49" charset="-122"/>
              </a:rPr>
              <a:t>3</a:t>
            </a:r>
            <a:r>
              <a:rPr lang="en-US" altLang="zh-CN" sz="2800">
                <a:solidFill>
                  <a:srgbClr val="99FF33"/>
                </a:solidFill>
                <a:latin typeface="楷体_GB2312" pitchFamily="49" charset="-122"/>
              </a:rPr>
              <a:t>(C,E), R</a:t>
            </a:r>
            <a:r>
              <a:rPr lang="en-US" altLang="zh-CN" sz="2800" baseline="-30000">
                <a:solidFill>
                  <a:srgbClr val="99FF33"/>
                </a:solidFill>
                <a:latin typeface="楷体_GB2312" pitchFamily="49" charset="-122"/>
              </a:rPr>
              <a:t>4</a:t>
            </a:r>
            <a:r>
              <a:rPr lang="en-US" altLang="zh-CN" sz="2800">
                <a:solidFill>
                  <a:srgbClr val="99FF33"/>
                </a:solidFill>
                <a:latin typeface="楷体_GB2312" pitchFamily="49" charset="-122"/>
              </a:rPr>
              <a:t>(B,C,D),R</a:t>
            </a:r>
            <a:r>
              <a:rPr lang="en-US" altLang="zh-CN" sz="2800" baseline="-30000">
                <a:solidFill>
                  <a:srgbClr val="99FF33"/>
                </a:solidFill>
                <a:latin typeface="楷体_GB2312" pitchFamily="49" charset="-122"/>
              </a:rPr>
              <a:t>5</a:t>
            </a:r>
            <a:r>
              <a:rPr lang="en-US" altLang="zh-CN" sz="2800">
                <a:solidFill>
                  <a:srgbClr val="99FF33"/>
                </a:solidFill>
                <a:latin typeface="楷体_GB2312" pitchFamily="49" charset="-122"/>
              </a:rPr>
              <a:t>(A,C)}</a:t>
            </a:r>
            <a:r>
              <a:rPr lang="zh-CN" altLang="en-US" sz="2800">
                <a:solidFill>
                  <a:srgbClr val="99FF33"/>
                </a:solidFill>
                <a:latin typeface="楷体_GB2312" pitchFamily="49" charset="-122"/>
              </a:rPr>
              <a:t>，</a:t>
            </a:r>
            <a:r>
              <a:rPr lang="en-US" altLang="zh-CN" sz="2800" i="1">
                <a:solidFill>
                  <a:srgbClr val="99FF33"/>
                </a:solidFill>
                <a:latin typeface="楷体_GB2312" pitchFamily="49" charset="-122"/>
              </a:rPr>
              <a:t>ρ</a:t>
            </a:r>
            <a:r>
              <a:rPr lang="zh-CN" altLang="en-US" sz="2800">
                <a:solidFill>
                  <a:srgbClr val="99FF33"/>
                </a:solidFill>
                <a:latin typeface="楷体_GB2312" pitchFamily="49" charset="-122"/>
              </a:rPr>
              <a:t>是否是无损连接分解</a:t>
            </a:r>
            <a:r>
              <a:rPr lang="en-US" altLang="zh-CN" sz="2800">
                <a:solidFill>
                  <a:srgbClr val="99FF33"/>
                </a:solidFill>
                <a:latin typeface="楷体_GB2312" pitchFamily="49" charset="-122"/>
              </a:rPr>
              <a:t>?</a:t>
            </a:r>
            <a:endParaRPr lang="zh-CN" altLang="en-US" sz="2800">
              <a:solidFill>
                <a:srgbClr val="99FF33"/>
              </a:solidFill>
              <a:latin typeface="楷体_GB2312" pitchFamily="49" charset="-122"/>
            </a:endParaRPr>
          </a:p>
        </p:txBody>
      </p:sp>
      <p:graphicFrame>
        <p:nvGraphicFramePr>
          <p:cNvPr id="1521669" name="Group 5"/>
          <p:cNvGraphicFramePr>
            <a:graphicFrameLocks noGrp="1"/>
          </p:cNvGraphicFramePr>
          <p:nvPr/>
        </p:nvGraphicFramePr>
        <p:xfrm>
          <a:off x="971550" y="3429000"/>
          <a:ext cx="7112000" cy="2930918"/>
        </p:xfrm>
        <a:graphic>
          <a:graphicData uri="http://schemas.openxmlformats.org/drawingml/2006/table">
            <a:tbl>
              <a:tblPr/>
              <a:tblGrid>
                <a:gridCol w="360363">
                  <a:extLst>
                    <a:ext uri="{9D8B030D-6E8A-4147-A177-3AD203B41FA5}">
                      <a16:colId xmlns:a16="http://schemas.microsoft.com/office/drawing/2014/main" val="20000"/>
                    </a:ext>
                  </a:extLst>
                </a:gridCol>
                <a:gridCol w="1671637">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gridCol w="1016000">
                  <a:extLst>
                    <a:ext uri="{9D8B030D-6E8A-4147-A177-3AD203B41FA5}">
                      <a16:colId xmlns:a16="http://schemas.microsoft.com/office/drawing/2014/main" val="20006"/>
                    </a:ext>
                  </a:extLst>
                </a:gridCol>
              </a:tblGrid>
              <a:tr h="365702">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1</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2</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3</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4</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5</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C</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D</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E</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1558">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1</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{A,B}</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b13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b14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b15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2</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{A,E}</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b22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b23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b24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3</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{C,E}</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b31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b32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b34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4</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{B,C,D}</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b41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b45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5</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{A,C}</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b52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b54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b55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521749" name="Rectangle 85"/>
          <p:cNvSpPr>
            <a:spLocks noChangeArrowheads="1"/>
          </p:cNvSpPr>
          <p:nvPr/>
        </p:nvSpPr>
        <p:spPr bwMode="auto">
          <a:xfrm>
            <a:off x="395288" y="2852738"/>
            <a:ext cx="8748712" cy="381000"/>
          </a:xfrm>
          <a:prstGeom prst="rect">
            <a:avLst/>
          </a:prstGeom>
          <a:noFill/>
          <a:ln w="12700" cap="sq">
            <a:noFill/>
            <a:miter lim="800000"/>
            <a:headEnd/>
            <a:tailEnd/>
          </a:ln>
          <a:effectLst/>
        </p:spPr>
        <p:txBody>
          <a:bodyPr lIns="0" tIns="0" rIns="0" bIns="0"/>
          <a:lstStyle/>
          <a:p>
            <a:pPr>
              <a:buSzTx/>
              <a:buFontTx/>
              <a:buNone/>
              <a:defRPr/>
            </a:pPr>
            <a:r>
              <a:rPr lang="en-US" altLang="zh-CN" sz="2800">
                <a:effectLst>
                  <a:outerShdw blurRad="38100" dist="38100" dir="2700000" algn="tl">
                    <a:srgbClr val="000000"/>
                  </a:outerShdw>
                </a:effectLst>
              </a:rPr>
              <a:t>2)</a:t>
            </a:r>
            <a:r>
              <a:rPr lang="zh-CN" altLang="en-US" sz="2800">
                <a:effectLst>
                  <a:outerShdw blurRad="38100" dist="38100" dir="2700000" algn="tl">
                    <a:srgbClr val="000000"/>
                  </a:outerShdw>
                </a:effectLst>
              </a:rPr>
              <a:t>找出所有</a:t>
            </a:r>
            <a:r>
              <a:rPr lang="en-US" altLang="zh-CN" sz="2800">
                <a:effectLst>
                  <a:outerShdw blurRad="38100" dist="38100" dir="2700000" algn="tl">
                    <a:srgbClr val="000000"/>
                  </a:outerShdw>
                </a:effectLst>
              </a:rPr>
              <a:t>A</a:t>
            </a:r>
            <a:r>
              <a:rPr lang="zh-CN" altLang="en-US" sz="2800">
                <a:effectLst>
                  <a:outerShdw blurRad="38100" dist="38100" dir="2700000" algn="tl">
                    <a:srgbClr val="000000"/>
                  </a:outerShdw>
                </a:effectLst>
              </a:rPr>
              <a:t>相等而</a:t>
            </a:r>
            <a:r>
              <a:rPr lang="en-US" altLang="zh-CN" sz="2800">
                <a:effectLst>
                  <a:outerShdw blurRad="38100" dist="38100" dir="2700000" algn="tl">
                    <a:srgbClr val="000000"/>
                  </a:outerShdw>
                </a:effectLst>
              </a:rPr>
              <a:t>D</a:t>
            </a:r>
            <a:r>
              <a:rPr lang="zh-CN" altLang="en-US" sz="2800">
                <a:effectLst>
                  <a:outerShdw blurRad="38100" dist="38100" dir="2700000" algn="tl">
                    <a:srgbClr val="000000"/>
                  </a:outerShdw>
                </a:effectLst>
              </a:rPr>
              <a:t>不相等的行进行</a:t>
            </a:r>
            <a:r>
              <a:rPr lang="en-US" altLang="zh-CN" sz="2800">
                <a:effectLst>
                  <a:outerShdw blurRad="38100" dist="38100" dir="2700000" algn="tl">
                    <a:srgbClr val="000000"/>
                  </a:outerShdw>
                </a:effectLst>
              </a:rPr>
              <a:t>D</a:t>
            </a:r>
            <a:r>
              <a:rPr lang="zh-CN" altLang="en-US" sz="2800">
                <a:effectLst>
                  <a:outerShdw blurRad="38100" dist="38100" dir="2700000" algn="tl">
                    <a:srgbClr val="000000"/>
                  </a:outerShdw>
                </a:effectLst>
              </a:rPr>
              <a:t>的替换</a:t>
            </a:r>
          </a:p>
        </p:txBody>
      </p:sp>
      <p:sp>
        <p:nvSpPr>
          <p:cNvPr id="1521750" name="Oval 86"/>
          <p:cNvSpPr>
            <a:spLocks noChangeArrowheads="1"/>
          </p:cNvSpPr>
          <p:nvPr/>
        </p:nvSpPr>
        <p:spPr bwMode="auto">
          <a:xfrm>
            <a:off x="6877050" y="4365625"/>
            <a:ext cx="117475" cy="117475"/>
          </a:xfrm>
          <a:prstGeom prst="ellipse">
            <a:avLst/>
          </a:prstGeom>
          <a:solidFill>
            <a:srgbClr val="FF0000"/>
          </a:solidFill>
          <a:ln w="12700" cap="sq" algn="ctr">
            <a:solidFill>
              <a:srgbClr val="FF0000"/>
            </a:solidFill>
            <a:round/>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9" name="Rectangle 3"/>
          <p:cNvSpPr>
            <a:spLocks noGrp="1" noChangeArrowheads="1"/>
          </p:cNvSpPr>
          <p:nvPr>
            <p:ph type="title"/>
          </p:nvPr>
        </p:nvSpPr>
        <p:spPr>
          <a:xfrm>
            <a:off x="0" y="15305"/>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ea typeface="微软雅黑" pitchFamily="34" charset="-122"/>
              </a:rPr>
              <a:t>无损连接的测试算法</a:t>
            </a:r>
          </a:p>
        </p:txBody>
      </p:sp>
    </p:spTree>
  </p:cSld>
  <p:clrMapOvr>
    <a:masterClrMapping/>
  </p:clrMapOvr>
  <p:transition spd="med">
    <p:fade/>
    <p:sndAc>
      <p:stSnd>
        <p:snd r:embed="rId2" name="camera.wav"/>
      </p:stSnd>
    </p:sndAc>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2692" name="Rectangle 4"/>
          <p:cNvSpPr>
            <a:spLocks noGrp="1" noChangeArrowheads="1"/>
          </p:cNvSpPr>
          <p:nvPr>
            <p:ph type="body" idx="1"/>
          </p:nvPr>
        </p:nvSpPr>
        <p:spPr>
          <a:xfrm>
            <a:off x="250825" y="1268413"/>
            <a:ext cx="8642350" cy="647700"/>
          </a:xfrm>
        </p:spPr>
        <p:txBody>
          <a:bodyPr/>
          <a:lstStyle/>
          <a:p>
            <a:pPr marL="0" indent="0" algn="just">
              <a:buFont typeface="Wingdings" pitchFamily="2" charset="2"/>
              <a:buNone/>
              <a:defRPr/>
            </a:pPr>
            <a:r>
              <a:rPr lang="zh-CN" altLang="en-US" sz="2800">
                <a:solidFill>
                  <a:srgbClr val="99FF33"/>
                </a:solidFill>
                <a:latin typeface="楷体_GB2312" pitchFamily="49" charset="-122"/>
              </a:rPr>
              <a:t>关系模式</a:t>
            </a:r>
            <a:r>
              <a:rPr lang="en-US" altLang="zh-CN" sz="2800">
                <a:solidFill>
                  <a:srgbClr val="99FF33"/>
                </a:solidFill>
                <a:latin typeface="楷体_GB2312" pitchFamily="49" charset="-122"/>
              </a:rPr>
              <a:t>R(U,F)</a:t>
            </a:r>
            <a:r>
              <a:rPr lang="zh-CN" altLang="en-US" sz="2800">
                <a:solidFill>
                  <a:srgbClr val="99FF33"/>
                </a:solidFill>
                <a:latin typeface="楷体_GB2312" pitchFamily="49" charset="-122"/>
              </a:rPr>
              <a:t>中，</a:t>
            </a:r>
            <a:r>
              <a:rPr lang="en-US" altLang="zh-CN" sz="2800">
                <a:solidFill>
                  <a:srgbClr val="99FF33"/>
                </a:solidFill>
                <a:latin typeface="楷体_GB2312" pitchFamily="49" charset="-122"/>
              </a:rPr>
              <a:t>U={A,B,C,D,E}</a:t>
            </a:r>
            <a:r>
              <a:rPr lang="zh-CN" altLang="en-US" sz="2800">
                <a:solidFill>
                  <a:srgbClr val="99FF33"/>
                </a:solidFill>
                <a:latin typeface="楷体_GB2312" pitchFamily="49" charset="-122"/>
              </a:rPr>
              <a:t>，</a:t>
            </a:r>
            <a:r>
              <a:rPr lang="en-US" altLang="zh-CN" sz="2800">
                <a:solidFill>
                  <a:srgbClr val="99FF33"/>
                </a:solidFill>
                <a:latin typeface="楷体_GB2312" pitchFamily="49" charset="-122"/>
              </a:rPr>
              <a:t>F={</a:t>
            </a:r>
            <a:r>
              <a:rPr lang="en-US" altLang="zh-CN" sz="2800">
                <a:solidFill>
                  <a:srgbClr val="00FFFF"/>
                </a:solidFill>
                <a:latin typeface="楷体_GB2312" pitchFamily="49" charset="-122"/>
              </a:rPr>
              <a:t>A</a:t>
            </a:r>
            <a:r>
              <a:rPr lang="en-US" altLang="en-US" sz="2800">
                <a:solidFill>
                  <a:srgbClr val="00FFFF"/>
                </a:solidFill>
                <a:latin typeface="楷体_GB2312" pitchFamily="49" charset="-122"/>
              </a:rPr>
              <a:t>→</a:t>
            </a:r>
            <a:r>
              <a:rPr lang="en-US" altLang="zh-CN" sz="2800">
                <a:solidFill>
                  <a:srgbClr val="00FFFF"/>
                </a:solidFill>
                <a:latin typeface="楷体_GB2312" pitchFamily="49" charset="-122"/>
              </a:rPr>
              <a:t>D</a:t>
            </a:r>
            <a:r>
              <a:rPr lang="en-US" altLang="zh-CN" sz="2800">
                <a:solidFill>
                  <a:srgbClr val="99FF33"/>
                </a:solidFill>
                <a:latin typeface="楷体_GB2312" pitchFamily="49" charset="-122"/>
              </a:rPr>
              <a:t>,E</a:t>
            </a:r>
            <a:r>
              <a:rPr lang="en-US" altLang="en-US" sz="2800">
                <a:solidFill>
                  <a:srgbClr val="99FF33"/>
                </a:solidFill>
                <a:latin typeface="楷体_GB2312" pitchFamily="49" charset="-122"/>
              </a:rPr>
              <a:t>→</a:t>
            </a:r>
            <a:r>
              <a:rPr lang="en-US" altLang="zh-CN" sz="2800">
                <a:solidFill>
                  <a:srgbClr val="99FF33"/>
                </a:solidFill>
                <a:latin typeface="楷体_GB2312" pitchFamily="49" charset="-122"/>
              </a:rPr>
              <a:t>D, D</a:t>
            </a:r>
            <a:r>
              <a:rPr lang="en-US" altLang="en-US" sz="2800">
                <a:solidFill>
                  <a:srgbClr val="99FF33"/>
                </a:solidFill>
                <a:latin typeface="楷体_GB2312" pitchFamily="49" charset="-122"/>
              </a:rPr>
              <a:t>→</a:t>
            </a:r>
            <a:r>
              <a:rPr lang="en-US" altLang="zh-CN" sz="2800">
                <a:solidFill>
                  <a:srgbClr val="99FF33"/>
                </a:solidFill>
                <a:latin typeface="楷体_GB2312" pitchFamily="49" charset="-122"/>
              </a:rPr>
              <a:t>B,BC</a:t>
            </a:r>
            <a:r>
              <a:rPr lang="en-US" altLang="en-US" sz="2800">
                <a:solidFill>
                  <a:srgbClr val="99FF33"/>
                </a:solidFill>
                <a:latin typeface="楷体_GB2312" pitchFamily="49" charset="-122"/>
              </a:rPr>
              <a:t>→D,DC→</a:t>
            </a:r>
            <a:r>
              <a:rPr lang="en-US" altLang="zh-CN" sz="2800">
                <a:solidFill>
                  <a:srgbClr val="99FF33"/>
                </a:solidFill>
                <a:latin typeface="楷体_GB2312" pitchFamily="49" charset="-122"/>
              </a:rPr>
              <a:t>A}</a:t>
            </a:r>
            <a:r>
              <a:rPr lang="zh-CN" altLang="en-US" sz="2800">
                <a:solidFill>
                  <a:srgbClr val="99FF33"/>
                </a:solidFill>
                <a:latin typeface="楷体_GB2312" pitchFamily="49" charset="-122"/>
              </a:rPr>
              <a:t>，</a:t>
            </a:r>
            <a:r>
              <a:rPr lang="en-US" altLang="zh-CN" sz="2800" i="1">
                <a:solidFill>
                  <a:srgbClr val="99FF33"/>
                </a:solidFill>
                <a:latin typeface="楷体_GB2312" pitchFamily="49" charset="-122"/>
              </a:rPr>
              <a:t>ρ</a:t>
            </a:r>
            <a:r>
              <a:rPr lang="en-US" altLang="zh-CN" sz="2800">
                <a:solidFill>
                  <a:srgbClr val="99FF33"/>
                </a:solidFill>
                <a:latin typeface="楷体_GB2312" pitchFamily="49" charset="-122"/>
              </a:rPr>
              <a:t>={R</a:t>
            </a:r>
            <a:r>
              <a:rPr lang="en-US" altLang="zh-CN" sz="2800" baseline="-30000">
                <a:solidFill>
                  <a:srgbClr val="99FF33"/>
                </a:solidFill>
                <a:latin typeface="楷体_GB2312" pitchFamily="49" charset="-122"/>
              </a:rPr>
              <a:t>1</a:t>
            </a:r>
            <a:r>
              <a:rPr lang="en-US" altLang="zh-CN" sz="2800">
                <a:solidFill>
                  <a:srgbClr val="99FF33"/>
                </a:solidFill>
                <a:latin typeface="楷体_GB2312" pitchFamily="49" charset="-122"/>
              </a:rPr>
              <a:t>(A,B),R</a:t>
            </a:r>
            <a:r>
              <a:rPr lang="en-US" altLang="zh-CN" sz="2800" baseline="-30000">
                <a:solidFill>
                  <a:srgbClr val="99FF33"/>
                </a:solidFill>
                <a:latin typeface="楷体_GB2312" pitchFamily="49" charset="-122"/>
              </a:rPr>
              <a:t>2</a:t>
            </a:r>
            <a:r>
              <a:rPr lang="en-US" altLang="zh-CN" sz="2800">
                <a:solidFill>
                  <a:srgbClr val="99FF33"/>
                </a:solidFill>
                <a:latin typeface="楷体_GB2312" pitchFamily="49" charset="-122"/>
              </a:rPr>
              <a:t>(A,E),R</a:t>
            </a:r>
            <a:r>
              <a:rPr lang="en-US" altLang="zh-CN" sz="2800" baseline="-30000">
                <a:solidFill>
                  <a:srgbClr val="99FF33"/>
                </a:solidFill>
                <a:latin typeface="楷体_GB2312" pitchFamily="49" charset="-122"/>
              </a:rPr>
              <a:t>3</a:t>
            </a:r>
            <a:r>
              <a:rPr lang="en-US" altLang="zh-CN" sz="2800">
                <a:solidFill>
                  <a:srgbClr val="99FF33"/>
                </a:solidFill>
                <a:latin typeface="楷体_GB2312" pitchFamily="49" charset="-122"/>
              </a:rPr>
              <a:t>(C,E), R</a:t>
            </a:r>
            <a:r>
              <a:rPr lang="en-US" altLang="zh-CN" sz="2800" baseline="-30000">
                <a:solidFill>
                  <a:srgbClr val="99FF33"/>
                </a:solidFill>
                <a:latin typeface="楷体_GB2312" pitchFamily="49" charset="-122"/>
              </a:rPr>
              <a:t>4</a:t>
            </a:r>
            <a:r>
              <a:rPr lang="en-US" altLang="zh-CN" sz="2800">
                <a:solidFill>
                  <a:srgbClr val="99FF33"/>
                </a:solidFill>
                <a:latin typeface="楷体_GB2312" pitchFamily="49" charset="-122"/>
              </a:rPr>
              <a:t>(B,C,D),R</a:t>
            </a:r>
            <a:r>
              <a:rPr lang="en-US" altLang="zh-CN" sz="2800" baseline="-30000">
                <a:solidFill>
                  <a:srgbClr val="99FF33"/>
                </a:solidFill>
                <a:latin typeface="楷体_GB2312" pitchFamily="49" charset="-122"/>
              </a:rPr>
              <a:t>5</a:t>
            </a:r>
            <a:r>
              <a:rPr lang="en-US" altLang="zh-CN" sz="2800">
                <a:solidFill>
                  <a:srgbClr val="99FF33"/>
                </a:solidFill>
                <a:latin typeface="楷体_GB2312" pitchFamily="49" charset="-122"/>
              </a:rPr>
              <a:t>(A,C)}</a:t>
            </a:r>
            <a:r>
              <a:rPr lang="zh-CN" altLang="en-US" sz="2800">
                <a:solidFill>
                  <a:srgbClr val="99FF33"/>
                </a:solidFill>
                <a:latin typeface="楷体_GB2312" pitchFamily="49" charset="-122"/>
              </a:rPr>
              <a:t>，</a:t>
            </a:r>
            <a:r>
              <a:rPr lang="en-US" altLang="zh-CN" sz="2800" i="1">
                <a:solidFill>
                  <a:srgbClr val="99FF33"/>
                </a:solidFill>
                <a:latin typeface="楷体_GB2312" pitchFamily="49" charset="-122"/>
              </a:rPr>
              <a:t>ρ</a:t>
            </a:r>
            <a:r>
              <a:rPr lang="zh-CN" altLang="en-US" sz="2800">
                <a:solidFill>
                  <a:srgbClr val="99FF33"/>
                </a:solidFill>
                <a:latin typeface="楷体_GB2312" pitchFamily="49" charset="-122"/>
              </a:rPr>
              <a:t>是否是无损连接分解</a:t>
            </a:r>
            <a:r>
              <a:rPr lang="en-US" altLang="zh-CN" sz="2800">
                <a:solidFill>
                  <a:srgbClr val="99FF33"/>
                </a:solidFill>
                <a:latin typeface="楷体_GB2312" pitchFamily="49" charset="-122"/>
              </a:rPr>
              <a:t>?</a:t>
            </a:r>
            <a:endParaRPr lang="zh-CN" altLang="en-US" sz="2800">
              <a:solidFill>
                <a:srgbClr val="99FF33"/>
              </a:solidFill>
              <a:latin typeface="楷体_GB2312" pitchFamily="49" charset="-122"/>
            </a:endParaRPr>
          </a:p>
        </p:txBody>
      </p:sp>
      <p:graphicFrame>
        <p:nvGraphicFramePr>
          <p:cNvPr id="1522693" name="Group 5"/>
          <p:cNvGraphicFramePr>
            <a:graphicFrameLocks noGrp="1"/>
          </p:cNvGraphicFramePr>
          <p:nvPr/>
        </p:nvGraphicFramePr>
        <p:xfrm>
          <a:off x="971550" y="3429000"/>
          <a:ext cx="7112000" cy="2930918"/>
        </p:xfrm>
        <a:graphic>
          <a:graphicData uri="http://schemas.openxmlformats.org/drawingml/2006/table">
            <a:tbl>
              <a:tblPr/>
              <a:tblGrid>
                <a:gridCol w="360363">
                  <a:extLst>
                    <a:ext uri="{9D8B030D-6E8A-4147-A177-3AD203B41FA5}">
                      <a16:colId xmlns:a16="http://schemas.microsoft.com/office/drawing/2014/main" val="20000"/>
                    </a:ext>
                  </a:extLst>
                </a:gridCol>
                <a:gridCol w="1671637">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gridCol w="1016000">
                  <a:extLst>
                    <a:ext uri="{9D8B030D-6E8A-4147-A177-3AD203B41FA5}">
                      <a16:colId xmlns:a16="http://schemas.microsoft.com/office/drawing/2014/main" val="20006"/>
                    </a:ext>
                  </a:extLst>
                </a:gridCol>
              </a:tblGrid>
              <a:tr h="365702">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1</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2</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3</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4</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5</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C</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D</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E</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1558">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1</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{A,B}</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b13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b14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b15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2</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{A,E}</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b22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b23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b14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3</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{C,E}</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b31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b32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b34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4</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{B,C,D}</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b41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b45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5</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{A,C}</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b52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b14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b55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522773" name="Rectangle 85"/>
          <p:cNvSpPr>
            <a:spLocks noChangeArrowheads="1"/>
          </p:cNvSpPr>
          <p:nvPr/>
        </p:nvSpPr>
        <p:spPr bwMode="auto">
          <a:xfrm>
            <a:off x="395288" y="2852738"/>
            <a:ext cx="8748712" cy="381000"/>
          </a:xfrm>
          <a:prstGeom prst="rect">
            <a:avLst/>
          </a:prstGeom>
          <a:noFill/>
          <a:ln w="12700" cap="sq">
            <a:noFill/>
            <a:miter lim="800000"/>
            <a:headEnd/>
            <a:tailEnd/>
          </a:ln>
          <a:effectLst/>
        </p:spPr>
        <p:txBody>
          <a:bodyPr lIns="0" tIns="0" rIns="0" bIns="0"/>
          <a:lstStyle/>
          <a:p>
            <a:pPr>
              <a:buSzTx/>
              <a:buFontTx/>
              <a:buNone/>
              <a:defRPr/>
            </a:pPr>
            <a:r>
              <a:rPr lang="en-US" altLang="zh-CN" sz="2800">
                <a:effectLst>
                  <a:outerShdw blurRad="38100" dist="38100" dir="2700000" algn="tl">
                    <a:srgbClr val="000000"/>
                  </a:outerShdw>
                </a:effectLst>
              </a:rPr>
              <a:t>2)</a:t>
            </a:r>
            <a:r>
              <a:rPr lang="zh-CN" altLang="en-US" sz="2800">
                <a:effectLst>
                  <a:outerShdw blurRad="38100" dist="38100" dir="2700000" algn="tl">
                    <a:srgbClr val="000000"/>
                  </a:outerShdw>
                </a:effectLst>
              </a:rPr>
              <a:t>第</a:t>
            </a:r>
            <a:r>
              <a:rPr lang="en-US" altLang="zh-CN" sz="2800">
                <a:effectLst>
                  <a:outerShdw blurRad="38100" dist="38100" dir="2700000" algn="tl">
                    <a:srgbClr val="000000"/>
                  </a:outerShdw>
                </a:effectLst>
              </a:rPr>
              <a:t>1</a:t>
            </a:r>
            <a:r>
              <a:rPr lang="zh-CN" altLang="en-US" sz="2800">
                <a:effectLst>
                  <a:outerShdw blurRad="38100" dist="38100" dir="2700000" algn="tl">
                    <a:srgbClr val="000000"/>
                  </a:outerShdw>
                </a:effectLst>
              </a:rPr>
              <a:t>次修改后得到下表</a:t>
            </a:r>
          </a:p>
        </p:txBody>
      </p:sp>
      <p:sp>
        <p:nvSpPr>
          <p:cNvPr id="8" name="Rectangle 3"/>
          <p:cNvSpPr>
            <a:spLocks noGrp="1" noChangeArrowheads="1"/>
          </p:cNvSpPr>
          <p:nvPr>
            <p:ph type="title"/>
          </p:nvPr>
        </p:nvSpPr>
        <p:spPr>
          <a:xfrm>
            <a:off x="0" y="15305"/>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ea typeface="微软雅黑" pitchFamily="34" charset="-122"/>
              </a:rPr>
              <a:t>无损连接的测试算法</a:t>
            </a:r>
          </a:p>
        </p:txBody>
      </p:sp>
    </p:spTree>
  </p:cSld>
  <p:clrMapOvr>
    <a:masterClrMapping/>
  </p:clrMapOvr>
  <p:transition spd="med">
    <p:fade/>
    <p:sndAc>
      <p:stSnd>
        <p:snd r:embed="rId2" name="camera.wav"/>
      </p:stSnd>
    </p:sndAc>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3716" name="Rectangle 4"/>
          <p:cNvSpPr>
            <a:spLocks noGrp="1" noChangeArrowheads="1"/>
          </p:cNvSpPr>
          <p:nvPr>
            <p:ph type="body" idx="1"/>
          </p:nvPr>
        </p:nvSpPr>
        <p:spPr>
          <a:xfrm>
            <a:off x="250825" y="1268413"/>
            <a:ext cx="8642350" cy="647700"/>
          </a:xfrm>
        </p:spPr>
        <p:txBody>
          <a:bodyPr/>
          <a:lstStyle/>
          <a:p>
            <a:pPr marL="0" indent="0" algn="just">
              <a:buFont typeface="Wingdings" pitchFamily="2" charset="2"/>
              <a:buNone/>
              <a:defRPr/>
            </a:pPr>
            <a:r>
              <a:rPr lang="zh-CN" altLang="en-US" sz="2800">
                <a:solidFill>
                  <a:srgbClr val="99FF33"/>
                </a:solidFill>
                <a:latin typeface="楷体_GB2312" pitchFamily="49" charset="-122"/>
              </a:rPr>
              <a:t>关系模式</a:t>
            </a:r>
            <a:r>
              <a:rPr lang="en-US" altLang="zh-CN" sz="2800">
                <a:solidFill>
                  <a:srgbClr val="99FF33"/>
                </a:solidFill>
                <a:latin typeface="楷体_GB2312" pitchFamily="49" charset="-122"/>
              </a:rPr>
              <a:t>R(U,F)</a:t>
            </a:r>
            <a:r>
              <a:rPr lang="zh-CN" altLang="en-US" sz="2800">
                <a:solidFill>
                  <a:srgbClr val="99FF33"/>
                </a:solidFill>
                <a:latin typeface="楷体_GB2312" pitchFamily="49" charset="-122"/>
              </a:rPr>
              <a:t>中，</a:t>
            </a:r>
            <a:r>
              <a:rPr lang="en-US" altLang="zh-CN" sz="2800">
                <a:solidFill>
                  <a:srgbClr val="99FF33"/>
                </a:solidFill>
                <a:latin typeface="楷体_GB2312" pitchFamily="49" charset="-122"/>
              </a:rPr>
              <a:t>U={A,B,C,D,E}</a:t>
            </a:r>
            <a:r>
              <a:rPr lang="zh-CN" altLang="en-US" sz="2800">
                <a:solidFill>
                  <a:srgbClr val="99FF33"/>
                </a:solidFill>
                <a:latin typeface="楷体_GB2312" pitchFamily="49" charset="-122"/>
              </a:rPr>
              <a:t>，</a:t>
            </a:r>
            <a:r>
              <a:rPr lang="en-US" altLang="zh-CN" sz="2800">
                <a:solidFill>
                  <a:srgbClr val="99FF33"/>
                </a:solidFill>
                <a:latin typeface="楷体_GB2312" pitchFamily="49" charset="-122"/>
              </a:rPr>
              <a:t>F={</a:t>
            </a:r>
            <a:r>
              <a:rPr lang="en-US" altLang="zh-CN" sz="2800">
                <a:solidFill>
                  <a:srgbClr val="00FFFF"/>
                </a:solidFill>
                <a:latin typeface="楷体_GB2312" pitchFamily="49" charset="-122"/>
              </a:rPr>
              <a:t>A</a:t>
            </a:r>
            <a:r>
              <a:rPr lang="en-US" altLang="en-US" sz="2800">
                <a:solidFill>
                  <a:srgbClr val="00FFFF"/>
                </a:solidFill>
                <a:latin typeface="楷体_GB2312" pitchFamily="49" charset="-122"/>
              </a:rPr>
              <a:t>→</a:t>
            </a:r>
            <a:r>
              <a:rPr lang="en-US" altLang="zh-CN" sz="2800">
                <a:solidFill>
                  <a:srgbClr val="00FFFF"/>
                </a:solidFill>
                <a:latin typeface="楷体_GB2312" pitchFamily="49" charset="-122"/>
              </a:rPr>
              <a:t>D</a:t>
            </a:r>
            <a:r>
              <a:rPr lang="en-US" altLang="zh-CN" sz="2800">
                <a:solidFill>
                  <a:srgbClr val="99FF33"/>
                </a:solidFill>
                <a:latin typeface="楷体_GB2312" pitchFamily="49" charset="-122"/>
              </a:rPr>
              <a:t>,</a:t>
            </a:r>
            <a:r>
              <a:rPr lang="en-US" altLang="zh-CN" sz="2800">
                <a:solidFill>
                  <a:srgbClr val="00FFFF"/>
                </a:solidFill>
                <a:latin typeface="楷体_GB2312" pitchFamily="49" charset="-122"/>
              </a:rPr>
              <a:t>E</a:t>
            </a:r>
            <a:r>
              <a:rPr lang="en-US" altLang="en-US" sz="2800">
                <a:solidFill>
                  <a:srgbClr val="00FFFF"/>
                </a:solidFill>
                <a:latin typeface="楷体_GB2312" pitchFamily="49" charset="-122"/>
              </a:rPr>
              <a:t>→</a:t>
            </a:r>
            <a:r>
              <a:rPr lang="en-US" altLang="zh-CN" sz="2800">
                <a:solidFill>
                  <a:srgbClr val="00FFFF"/>
                </a:solidFill>
                <a:latin typeface="楷体_GB2312" pitchFamily="49" charset="-122"/>
              </a:rPr>
              <a:t>D</a:t>
            </a:r>
            <a:r>
              <a:rPr lang="en-US" altLang="zh-CN" sz="2800">
                <a:solidFill>
                  <a:srgbClr val="99FF33"/>
                </a:solidFill>
                <a:latin typeface="楷体_GB2312" pitchFamily="49" charset="-122"/>
              </a:rPr>
              <a:t>, D</a:t>
            </a:r>
            <a:r>
              <a:rPr lang="en-US" altLang="en-US" sz="2800">
                <a:solidFill>
                  <a:srgbClr val="99FF33"/>
                </a:solidFill>
                <a:latin typeface="楷体_GB2312" pitchFamily="49" charset="-122"/>
              </a:rPr>
              <a:t>→</a:t>
            </a:r>
            <a:r>
              <a:rPr lang="en-US" altLang="zh-CN" sz="2800">
                <a:solidFill>
                  <a:srgbClr val="99FF33"/>
                </a:solidFill>
                <a:latin typeface="楷体_GB2312" pitchFamily="49" charset="-122"/>
              </a:rPr>
              <a:t>B,BC</a:t>
            </a:r>
            <a:r>
              <a:rPr lang="en-US" altLang="en-US" sz="2800">
                <a:solidFill>
                  <a:srgbClr val="99FF33"/>
                </a:solidFill>
                <a:latin typeface="楷体_GB2312" pitchFamily="49" charset="-122"/>
              </a:rPr>
              <a:t>→D,DC→</a:t>
            </a:r>
            <a:r>
              <a:rPr lang="en-US" altLang="zh-CN" sz="2800">
                <a:solidFill>
                  <a:srgbClr val="99FF33"/>
                </a:solidFill>
                <a:latin typeface="楷体_GB2312" pitchFamily="49" charset="-122"/>
              </a:rPr>
              <a:t>A}</a:t>
            </a:r>
            <a:r>
              <a:rPr lang="zh-CN" altLang="en-US" sz="2800">
                <a:solidFill>
                  <a:srgbClr val="99FF33"/>
                </a:solidFill>
                <a:latin typeface="楷体_GB2312" pitchFamily="49" charset="-122"/>
              </a:rPr>
              <a:t>，</a:t>
            </a:r>
            <a:r>
              <a:rPr lang="en-US" altLang="zh-CN" sz="2800" i="1">
                <a:solidFill>
                  <a:srgbClr val="99FF33"/>
                </a:solidFill>
                <a:latin typeface="楷体_GB2312" pitchFamily="49" charset="-122"/>
              </a:rPr>
              <a:t>ρ</a:t>
            </a:r>
            <a:r>
              <a:rPr lang="en-US" altLang="zh-CN" sz="2800">
                <a:solidFill>
                  <a:srgbClr val="99FF33"/>
                </a:solidFill>
                <a:latin typeface="楷体_GB2312" pitchFamily="49" charset="-122"/>
              </a:rPr>
              <a:t>={R</a:t>
            </a:r>
            <a:r>
              <a:rPr lang="en-US" altLang="zh-CN" sz="2800" baseline="-30000">
                <a:solidFill>
                  <a:srgbClr val="99FF33"/>
                </a:solidFill>
                <a:latin typeface="楷体_GB2312" pitchFamily="49" charset="-122"/>
              </a:rPr>
              <a:t>1</a:t>
            </a:r>
            <a:r>
              <a:rPr lang="en-US" altLang="zh-CN" sz="2800">
                <a:solidFill>
                  <a:srgbClr val="99FF33"/>
                </a:solidFill>
                <a:latin typeface="楷体_GB2312" pitchFamily="49" charset="-122"/>
              </a:rPr>
              <a:t>(A,B),R</a:t>
            </a:r>
            <a:r>
              <a:rPr lang="en-US" altLang="zh-CN" sz="2800" baseline="-30000">
                <a:solidFill>
                  <a:srgbClr val="99FF33"/>
                </a:solidFill>
                <a:latin typeface="楷体_GB2312" pitchFamily="49" charset="-122"/>
              </a:rPr>
              <a:t>2</a:t>
            </a:r>
            <a:r>
              <a:rPr lang="en-US" altLang="zh-CN" sz="2800">
                <a:solidFill>
                  <a:srgbClr val="99FF33"/>
                </a:solidFill>
                <a:latin typeface="楷体_GB2312" pitchFamily="49" charset="-122"/>
              </a:rPr>
              <a:t>(A,E),R</a:t>
            </a:r>
            <a:r>
              <a:rPr lang="en-US" altLang="zh-CN" sz="2800" baseline="-30000">
                <a:solidFill>
                  <a:srgbClr val="99FF33"/>
                </a:solidFill>
                <a:latin typeface="楷体_GB2312" pitchFamily="49" charset="-122"/>
              </a:rPr>
              <a:t>3</a:t>
            </a:r>
            <a:r>
              <a:rPr lang="en-US" altLang="zh-CN" sz="2800">
                <a:solidFill>
                  <a:srgbClr val="99FF33"/>
                </a:solidFill>
                <a:latin typeface="楷体_GB2312" pitchFamily="49" charset="-122"/>
              </a:rPr>
              <a:t>(C,E), R</a:t>
            </a:r>
            <a:r>
              <a:rPr lang="en-US" altLang="zh-CN" sz="2800" baseline="-30000">
                <a:solidFill>
                  <a:srgbClr val="99FF33"/>
                </a:solidFill>
                <a:latin typeface="楷体_GB2312" pitchFamily="49" charset="-122"/>
              </a:rPr>
              <a:t>4</a:t>
            </a:r>
            <a:r>
              <a:rPr lang="en-US" altLang="zh-CN" sz="2800">
                <a:solidFill>
                  <a:srgbClr val="99FF33"/>
                </a:solidFill>
                <a:latin typeface="楷体_GB2312" pitchFamily="49" charset="-122"/>
              </a:rPr>
              <a:t>(B,C,D),R</a:t>
            </a:r>
            <a:r>
              <a:rPr lang="en-US" altLang="zh-CN" sz="2800" baseline="-30000">
                <a:solidFill>
                  <a:srgbClr val="99FF33"/>
                </a:solidFill>
                <a:latin typeface="楷体_GB2312" pitchFamily="49" charset="-122"/>
              </a:rPr>
              <a:t>5</a:t>
            </a:r>
            <a:r>
              <a:rPr lang="en-US" altLang="zh-CN" sz="2800">
                <a:solidFill>
                  <a:srgbClr val="99FF33"/>
                </a:solidFill>
                <a:latin typeface="楷体_GB2312" pitchFamily="49" charset="-122"/>
              </a:rPr>
              <a:t>(A,C)}</a:t>
            </a:r>
            <a:r>
              <a:rPr lang="zh-CN" altLang="en-US" sz="2800">
                <a:solidFill>
                  <a:srgbClr val="99FF33"/>
                </a:solidFill>
                <a:latin typeface="楷体_GB2312" pitchFamily="49" charset="-122"/>
              </a:rPr>
              <a:t>，</a:t>
            </a:r>
            <a:r>
              <a:rPr lang="en-US" altLang="zh-CN" sz="2800" i="1">
                <a:solidFill>
                  <a:srgbClr val="99FF33"/>
                </a:solidFill>
                <a:latin typeface="楷体_GB2312" pitchFamily="49" charset="-122"/>
              </a:rPr>
              <a:t>ρ</a:t>
            </a:r>
            <a:r>
              <a:rPr lang="zh-CN" altLang="en-US" sz="2800">
                <a:solidFill>
                  <a:srgbClr val="99FF33"/>
                </a:solidFill>
                <a:latin typeface="楷体_GB2312" pitchFamily="49" charset="-122"/>
              </a:rPr>
              <a:t>是否是无损连接分解</a:t>
            </a:r>
            <a:r>
              <a:rPr lang="en-US" altLang="zh-CN" sz="2800">
                <a:solidFill>
                  <a:srgbClr val="99FF33"/>
                </a:solidFill>
                <a:latin typeface="楷体_GB2312" pitchFamily="49" charset="-122"/>
              </a:rPr>
              <a:t>?</a:t>
            </a:r>
            <a:endParaRPr lang="zh-CN" altLang="en-US" sz="2800">
              <a:solidFill>
                <a:srgbClr val="99FF33"/>
              </a:solidFill>
              <a:latin typeface="楷体_GB2312" pitchFamily="49" charset="-122"/>
            </a:endParaRPr>
          </a:p>
        </p:txBody>
      </p:sp>
      <p:graphicFrame>
        <p:nvGraphicFramePr>
          <p:cNvPr id="1523717" name="Group 5"/>
          <p:cNvGraphicFramePr>
            <a:graphicFrameLocks noGrp="1"/>
          </p:cNvGraphicFramePr>
          <p:nvPr/>
        </p:nvGraphicFramePr>
        <p:xfrm>
          <a:off x="971550" y="3429000"/>
          <a:ext cx="7112000" cy="2930918"/>
        </p:xfrm>
        <a:graphic>
          <a:graphicData uri="http://schemas.openxmlformats.org/drawingml/2006/table">
            <a:tbl>
              <a:tblPr/>
              <a:tblGrid>
                <a:gridCol w="360363">
                  <a:extLst>
                    <a:ext uri="{9D8B030D-6E8A-4147-A177-3AD203B41FA5}">
                      <a16:colId xmlns:a16="http://schemas.microsoft.com/office/drawing/2014/main" val="20000"/>
                    </a:ext>
                  </a:extLst>
                </a:gridCol>
                <a:gridCol w="1671637">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gridCol w="1016000">
                  <a:extLst>
                    <a:ext uri="{9D8B030D-6E8A-4147-A177-3AD203B41FA5}">
                      <a16:colId xmlns:a16="http://schemas.microsoft.com/office/drawing/2014/main" val="20006"/>
                    </a:ext>
                  </a:extLst>
                </a:gridCol>
              </a:tblGrid>
              <a:tr h="365702">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1</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2</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3</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4</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5</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C</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D</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E</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1558">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1</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{A,B}</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b13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b14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b15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2</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{A,E}</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b22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b23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b14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a5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3</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{C,E}</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b31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b32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b34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a5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4</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{B,C,D}</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b41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b45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5</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{A,C}</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b52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b14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b55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523797" name="Rectangle 85"/>
          <p:cNvSpPr>
            <a:spLocks noChangeArrowheads="1"/>
          </p:cNvSpPr>
          <p:nvPr/>
        </p:nvSpPr>
        <p:spPr bwMode="auto">
          <a:xfrm>
            <a:off x="395288" y="2852738"/>
            <a:ext cx="8748712" cy="381000"/>
          </a:xfrm>
          <a:prstGeom prst="rect">
            <a:avLst/>
          </a:prstGeom>
          <a:noFill/>
          <a:ln w="12700" cap="sq">
            <a:noFill/>
            <a:miter lim="800000"/>
            <a:headEnd/>
            <a:tailEnd/>
          </a:ln>
          <a:effectLst/>
        </p:spPr>
        <p:txBody>
          <a:bodyPr lIns="0" tIns="0" rIns="0" bIns="0"/>
          <a:lstStyle/>
          <a:p>
            <a:pPr>
              <a:buSzTx/>
              <a:buFontTx/>
              <a:buNone/>
              <a:defRPr/>
            </a:pPr>
            <a:r>
              <a:rPr lang="en-US" altLang="zh-CN" sz="2800">
                <a:effectLst>
                  <a:outerShdw blurRad="38100" dist="38100" dir="2700000" algn="tl">
                    <a:srgbClr val="000000"/>
                  </a:outerShdw>
                </a:effectLst>
              </a:rPr>
              <a:t>3)</a:t>
            </a:r>
            <a:r>
              <a:rPr lang="zh-CN" altLang="en-US" sz="2800">
                <a:effectLst>
                  <a:outerShdw blurRad="38100" dist="38100" dir="2700000" algn="tl">
                    <a:srgbClr val="000000"/>
                  </a:outerShdw>
                </a:effectLst>
              </a:rPr>
              <a:t>找出所有</a:t>
            </a:r>
            <a:r>
              <a:rPr lang="en-US" altLang="zh-CN" sz="2800">
                <a:effectLst>
                  <a:outerShdw blurRad="38100" dist="38100" dir="2700000" algn="tl">
                    <a:srgbClr val="000000"/>
                  </a:outerShdw>
                </a:effectLst>
              </a:rPr>
              <a:t>E</a:t>
            </a:r>
            <a:r>
              <a:rPr lang="zh-CN" altLang="en-US" sz="2800">
                <a:effectLst>
                  <a:outerShdw blurRad="38100" dist="38100" dir="2700000" algn="tl">
                    <a:srgbClr val="000000"/>
                  </a:outerShdw>
                </a:effectLst>
              </a:rPr>
              <a:t>相等而</a:t>
            </a:r>
            <a:r>
              <a:rPr lang="en-US" altLang="zh-CN" sz="2800">
                <a:effectLst>
                  <a:outerShdw blurRad="38100" dist="38100" dir="2700000" algn="tl">
                    <a:srgbClr val="000000"/>
                  </a:outerShdw>
                </a:effectLst>
              </a:rPr>
              <a:t>D</a:t>
            </a:r>
            <a:r>
              <a:rPr lang="zh-CN" altLang="en-US" sz="2800">
                <a:effectLst>
                  <a:outerShdw blurRad="38100" dist="38100" dir="2700000" algn="tl">
                    <a:srgbClr val="000000"/>
                  </a:outerShdw>
                </a:effectLst>
              </a:rPr>
              <a:t>不相等的行进行</a:t>
            </a:r>
            <a:r>
              <a:rPr lang="en-US" altLang="zh-CN" sz="2800">
                <a:effectLst>
                  <a:outerShdw blurRad="38100" dist="38100" dir="2700000" algn="tl">
                    <a:srgbClr val="000000"/>
                  </a:outerShdw>
                </a:effectLst>
              </a:rPr>
              <a:t>D</a:t>
            </a:r>
            <a:r>
              <a:rPr lang="zh-CN" altLang="en-US" sz="2800">
                <a:effectLst>
                  <a:outerShdw blurRad="38100" dist="38100" dir="2700000" algn="tl">
                    <a:srgbClr val="000000"/>
                  </a:outerShdw>
                </a:effectLst>
              </a:rPr>
              <a:t>的替换</a:t>
            </a:r>
          </a:p>
        </p:txBody>
      </p:sp>
      <p:sp>
        <p:nvSpPr>
          <p:cNvPr id="1523798" name="Line 86"/>
          <p:cNvSpPr>
            <a:spLocks noChangeShapeType="1"/>
          </p:cNvSpPr>
          <p:nvPr/>
        </p:nvSpPr>
        <p:spPr bwMode="auto">
          <a:xfrm>
            <a:off x="7019925" y="1557338"/>
            <a:ext cx="720725" cy="0"/>
          </a:xfrm>
          <a:prstGeom prst="line">
            <a:avLst/>
          </a:prstGeom>
          <a:noFill/>
          <a:ln w="28575" cap="sq">
            <a:solidFill>
              <a:srgbClr val="FF0000"/>
            </a:solidFill>
            <a:round/>
            <a:headEnd/>
            <a:tailEnd/>
          </a:ln>
          <a:effectLst/>
        </p:spPr>
        <p:txBody>
          <a:bodyPr lIns="0" tIns="0" rIns="0" bIns="0"/>
          <a:lstStyle/>
          <a:p>
            <a:pPr>
              <a:defRPr/>
            </a:pPr>
            <a:endParaRPr lang="zh-CN" altLang="en-US"/>
          </a:p>
        </p:txBody>
      </p:sp>
      <p:sp>
        <p:nvSpPr>
          <p:cNvPr id="1523799" name="Oval 87"/>
          <p:cNvSpPr>
            <a:spLocks noChangeArrowheads="1"/>
          </p:cNvSpPr>
          <p:nvPr/>
        </p:nvSpPr>
        <p:spPr bwMode="auto">
          <a:xfrm>
            <a:off x="6877050" y="4751388"/>
            <a:ext cx="117475" cy="117475"/>
          </a:xfrm>
          <a:prstGeom prst="ellipse">
            <a:avLst/>
          </a:prstGeom>
          <a:solidFill>
            <a:srgbClr val="FF0000"/>
          </a:solidFill>
          <a:ln w="12700" cap="sq" algn="ctr">
            <a:solidFill>
              <a:srgbClr val="FF0000"/>
            </a:solidFill>
            <a:round/>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0" name="Rectangle 3"/>
          <p:cNvSpPr>
            <a:spLocks noGrp="1" noChangeArrowheads="1"/>
          </p:cNvSpPr>
          <p:nvPr>
            <p:ph type="title"/>
          </p:nvPr>
        </p:nvSpPr>
        <p:spPr>
          <a:xfrm>
            <a:off x="0" y="15305"/>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ea typeface="微软雅黑" pitchFamily="34" charset="-122"/>
              </a:rPr>
              <a:t>无损连接的测试算法</a:t>
            </a:r>
          </a:p>
        </p:txBody>
      </p:sp>
    </p:spTree>
  </p:cSld>
  <p:clrMapOvr>
    <a:masterClrMapping/>
  </p:clrMapOvr>
  <p:transition spd="med">
    <p:fade/>
    <p:sndAc>
      <p:stSnd>
        <p:snd r:embed="rId2" name="camera.wav"/>
      </p:stSnd>
    </p:sndAc>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4740" name="Rectangle 4"/>
          <p:cNvSpPr>
            <a:spLocks noGrp="1" noChangeArrowheads="1"/>
          </p:cNvSpPr>
          <p:nvPr>
            <p:ph type="body" idx="1"/>
          </p:nvPr>
        </p:nvSpPr>
        <p:spPr>
          <a:xfrm>
            <a:off x="250825" y="1268413"/>
            <a:ext cx="8642350" cy="647700"/>
          </a:xfrm>
        </p:spPr>
        <p:txBody>
          <a:bodyPr/>
          <a:lstStyle/>
          <a:p>
            <a:pPr marL="0" indent="0" algn="just">
              <a:buFont typeface="Wingdings" pitchFamily="2" charset="2"/>
              <a:buNone/>
              <a:defRPr/>
            </a:pPr>
            <a:r>
              <a:rPr lang="zh-CN" altLang="en-US" sz="2800">
                <a:solidFill>
                  <a:srgbClr val="99FF33"/>
                </a:solidFill>
                <a:latin typeface="楷体_GB2312" pitchFamily="49" charset="-122"/>
              </a:rPr>
              <a:t>关系模式</a:t>
            </a:r>
            <a:r>
              <a:rPr lang="en-US" altLang="zh-CN" sz="2800">
                <a:solidFill>
                  <a:srgbClr val="99FF33"/>
                </a:solidFill>
                <a:latin typeface="楷体_GB2312" pitchFamily="49" charset="-122"/>
              </a:rPr>
              <a:t>R(U,F)</a:t>
            </a:r>
            <a:r>
              <a:rPr lang="zh-CN" altLang="en-US" sz="2800">
                <a:solidFill>
                  <a:srgbClr val="99FF33"/>
                </a:solidFill>
                <a:latin typeface="楷体_GB2312" pitchFamily="49" charset="-122"/>
              </a:rPr>
              <a:t>中，</a:t>
            </a:r>
            <a:r>
              <a:rPr lang="en-US" altLang="zh-CN" sz="2800">
                <a:solidFill>
                  <a:srgbClr val="99FF33"/>
                </a:solidFill>
                <a:latin typeface="楷体_GB2312" pitchFamily="49" charset="-122"/>
              </a:rPr>
              <a:t>U={A,B,C,D,E}</a:t>
            </a:r>
            <a:r>
              <a:rPr lang="zh-CN" altLang="en-US" sz="2800">
                <a:solidFill>
                  <a:srgbClr val="99FF33"/>
                </a:solidFill>
                <a:latin typeface="楷体_GB2312" pitchFamily="49" charset="-122"/>
              </a:rPr>
              <a:t>，</a:t>
            </a:r>
            <a:r>
              <a:rPr lang="en-US" altLang="zh-CN" sz="2800">
                <a:solidFill>
                  <a:srgbClr val="99FF33"/>
                </a:solidFill>
                <a:latin typeface="楷体_GB2312" pitchFamily="49" charset="-122"/>
              </a:rPr>
              <a:t>F={</a:t>
            </a:r>
            <a:r>
              <a:rPr lang="en-US" altLang="zh-CN" sz="2800">
                <a:solidFill>
                  <a:srgbClr val="00FFFF"/>
                </a:solidFill>
                <a:latin typeface="楷体_GB2312" pitchFamily="49" charset="-122"/>
              </a:rPr>
              <a:t>A</a:t>
            </a:r>
            <a:r>
              <a:rPr lang="en-US" altLang="en-US" sz="2800">
                <a:solidFill>
                  <a:srgbClr val="00FFFF"/>
                </a:solidFill>
                <a:latin typeface="楷体_GB2312" pitchFamily="49" charset="-122"/>
              </a:rPr>
              <a:t>→</a:t>
            </a:r>
            <a:r>
              <a:rPr lang="en-US" altLang="zh-CN" sz="2800">
                <a:solidFill>
                  <a:srgbClr val="00FFFF"/>
                </a:solidFill>
                <a:latin typeface="楷体_GB2312" pitchFamily="49" charset="-122"/>
              </a:rPr>
              <a:t>D</a:t>
            </a:r>
            <a:r>
              <a:rPr lang="en-US" altLang="zh-CN" sz="2800">
                <a:solidFill>
                  <a:srgbClr val="99FF33"/>
                </a:solidFill>
                <a:latin typeface="楷体_GB2312" pitchFamily="49" charset="-122"/>
              </a:rPr>
              <a:t>,</a:t>
            </a:r>
            <a:r>
              <a:rPr lang="en-US" altLang="zh-CN" sz="2800">
                <a:solidFill>
                  <a:srgbClr val="00FFFF"/>
                </a:solidFill>
                <a:latin typeface="楷体_GB2312" pitchFamily="49" charset="-122"/>
              </a:rPr>
              <a:t>E</a:t>
            </a:r>
            <a:r>
              <a:rPr lang="en-US" altLang="en-US" sz="2800">
                <a:solidFill>
                  <a:srgbClr val="00FFFF"/>
                </a:solidFill>
                <a:latin typeface="楷体_GB2312" pitchFamily="49" charset="-122"/>
              </a:rPr>
              <a:t>→</a:t>
            </a:r>
            <a:r>
              <a:rPr lang="en-US" altLang="zh-CN" sz="2800">
                <a:solidFill>
                  <a:srgbClr val="00FFFF"/>
                </a:solidFill>
                <a:latin typeface="楷体_GB2312" pitchFamily="49" charset="-122"/>
              </a:rPr>
              <a:t>D</a:t>
            </a:r>
            <a:r>
              <a:rPr lang="en-US" altLang="zh-CN" sz="2800">
                <a:solidFill>
                  <a:srgbClr val="99FF33"/>
                </a:solidFill>
                <a:latin typeface="楷体_GB2312" pitchFamily="49" charset="-122"/>
              </a:rPr>
              <a:t>, D</a:t>
            </a:r>
            <a:r>
              <a:rPr lang="en-US" altLang="en-US" sz="2800">
                <a:solidFill>
                  <a:srgbClr val="99FF33"/>
                </a:solidFill>
                <a:latin typeface="楷体_GB2312" pitchFamily="49" charset="-122"/>
              </a:rPr>
              <a:t>→</a:t>
            </a:r>
            <a:r>
              <a:rPr lang="en-US" altLang="zh-CN" sz="2800">
                <a:solidFill>
                  <a:srgbClr val="99FF33"/>
                </a:solidFill>
                <a:latin typeface="楷体_GB2312" pitchFamily="49" charset="-122"/>
              </a:rPr>
              <a:t>B,BC</a:t>
            </a:r>
            <a:r>
              <a:rPr lang="en-US" altLang="en-US" sz="2800">
                <a:solidFill>
                  <a:srgbClr val="99FF33"/>
                </a:solidFill>
                <a:latin typeface="楷体_GB2312" pitchFamily="49" charset="-122"/>
              </a:rPr>
              <a:t>→D,DC→</a:t>
            </a:r>
            <a:r>
              <a:rPr lang="en-US" altLang="zh-CN" sz="2800">
                <a:solidFill>
                  <a:srgbClr val="99FF33"/>
                </a:solidFill>
                <a:latin typeface="楷体_GB2312" pitchFamily="49" charset="-122"/>
              </a:rPr>
              <a:t>A}</a:t>
            </a:r>
            <a:r>
              <a:rPr lang="zh-CN" altLang="en-US" sz="2800">
                <a:solidFill>
                  <a:srgbClr val="99FF33"/>
                </a:solidFill>
                <a:latin typeface="楷体_GB2312" pitchFamily="49" charset="-122"/>
              </a:rPr>
              <a:t>，</a:t>
            </a:r>
            <a:r>
              <a:rPr lang="en-US" altLang="zh-CN" sz="2800" i="1">
                <a:solidFill>
                  <a:srgbClr val="99FF33"/>
                </a:solidFill>
                <a:latin typeface="楷体_GB2312" pitchFamily="49" charset="-122"/>
              </a:rPr>
              <a:t>ρ</a:t>
            </a:r>
            <a:r>
              <a:rPr lang="en-US" altLang="zh-CN" sz="2800">
                <a:solidFill>
                  <a:srgbClr val="99FF33"/>
                </a:solidFill>
                <a:latin typeface="楷体_GB2312" pitchFamily="49" charset="-122"/>
              </a:rPr>
              <a:t>={R</a:t>
            </a:r>
            <a:r>
              <a:rPr lang="en-US" altLang="zh-CN" sz="2800" baseline="-30000">
                <a:solidFill>
                  <a:srgbClr val="99FF33"/>
                </a:solidFill>
                <a:latin typeface="楷体_GB2312" pitchFamily="49" charset="-122"/>
              </a:rPr>
              <a:t>1</a:t>
            </a:r>
            <a:r>
              <a:rPr lang="en-US" altLang="zh-CN" sz="2800">
                <a:solidFill>
                  <a:srgbClr val="99FF33"/>
                </a:solidFill>
                <a:latin typeface="楷体_GB2312" pitchFamily="49" charset="-122"/>
              </a:rPr>
              <a:t>(A,B),R</a:t>
            </a:r>
            <a:r>
              <a:rPr lang="en-US" altLang="zh-CN" sz="2800" baseline="-30000">
                <a:solidFill>
                  <a:srgbClr val="99FF33"/>
                </a:solidFill>
                <a:latin typeface="楷体_GB2312" pitchFamily="49" charset="-122"/>
              </a:rPr>
              <a:t>2</a:t>
            </a:r>
            <a:r>
              <a:rPr lang="en-US" altLang="zh-CN" sz="2800">
                <a:solidFill>
                  <a:srgbClr val="99FF33"/>
                </a:solidFill>
                <a:latin typeface="楷体_GB2312" pitchFamily="49" charset="-122"/>
              </a:rPr>
              <a:t>(A,E),R</a:t>
            </a:r>
            <a:r>
              <a:rPr lang="en-US" altLang="zh-CN" sz="2800" baseline="-30000">
                <a:solidFill>
                  <a:srgbClr val="99FF33"/>
                </a:solidFill>
                <a:latin typeface="楷体_GB2312" pitchFamily="49" charset="-122"/>
              </a:rPr>
              <a:t>3</a:t>
            </a:r>
            <a:r>
              <a:rPr lang="en-US" altLang="zh-CN" sz="2800">
                <a:solidFill>
                  <a:srgbClr val="99FF33"/>
                </a:solidFill>
                <a:latin typeface="楷体_GB2312" pitchFamily="49" charset="-122"/>
              </a:rPr>
              <a:t>(C,E), R</a:t>
            </a:r>
            <a:r>
              <a:rPr lang="en-US" altLang="zh-CN" sz="2800" baseline="-30000">
                <a:solidFill>
                  <a:srgbClr val="99FF33"/>
                </a:solidFill>
                <a:latin typeface="楷体_GB2312" pitchFamily="49" charset="-122"/>
              </a:rPr>
              <a:t>4</a:t>
            </a:r>
            <a:r>
              <a:rPr lang="en-US" altLang="zh-CN" sz="2800">
                <a:solidFill>
                  <a:srgbClr val="99FF33"/>
                </a:solidFill>
                <a:latin typeface="楷体_GB2312" pitchFamily="49" charset="-122"/>
              </a:rPr>
              <a:t>(B,C,D),R</a:t>
            </a:r>
            <a:r>
              <a:rPr lang="en-US" altLang="zh-CN" sz="2800" baseline="-30000">
                <a:solidFill>
                  <a:srgbClr val="99FF33"/>
                </a:solidFill>
                <a:latin typeface="楷体_GB2312" pitchFamily="49" charset="-122"/>
              </a:rPr>
              <a:t>5</a:t>
            </a:r>
            <a:r>
              <a:rPr lang="en-US" altLang="zh-CN" sz="2800">
                <a:solidFill>
                  <a:srgbClr val="99FF33"/>
                </a:solidFill>
                <a:latin typeface="楷体_GB2312" pitchFamily="49" charset="-122"/>
              </a:rPr>
              <a:t>(A,C)}</a:t>
            </a:r>
            <a:r>
              <a:rPr lang="zh-CN" altLang="en-US" sz="2800">
                <a:solidFill>
                  <a:srgbClr val="99FF33"/>
                </a:solidFill>
                <a:latin typeface="楷体_GB2312" pitchFamily="49" charset="-122"/>
              </a:rPr>
              <a:t>，</a:t>
            </a:r>
            <a:r>
              <a:rPr lang="en-US" altLang="zh-CN" sz="2800" i="1">
                <a:solidFill>
                  <a:srgbClr val="99FF33"/>
                </a:solidFill>
                <a:latin typeface="楷体_GB2312" pitchFamily="49" charset="-122"/>
              </a:rPr>
              <a:t>ρ</a:t>
            </a:r>
            <a:r>
              <a:rPr lang="zh-CN" altLang="en-US" sz="2800">
                <a:solidFill>
                  <a:srgbClr val="99FF33"/>
                </a:solidFill>
                <a:latin typeface="楷体_GB2312" pitchFamily="49" charset="-122"/>
              </a:rPr>
              <a:t>是否是无损连接分解</a:t>
            </a:r>
            <a:r>
              <a:rPr lang="en-US" altLang="zh-CN" sz="2800">
                <a:solidFill>
                  <a:srgbClr val="99FF33"/>
                </a:solidFill>
                <a:latin typeface="楷体_GB2312" pitchFamily="49" charset="-122"/>
              </a:rPr>
              <a:t>?</a:t>
            </a:r>
            <a:endParaRPr lang="zh-CN" altLang="en-US" sz="2800">
              <a:solidFill>
                <a:srgbClr val="99FF33"/>
              </a:solidFill>
              <a:latin typeface="楷体_GB2312" pitchFamily="49" charset="-122"/>
            </a:endParaRPr>
          </a:p>
        </p:txBody>
      </p:sp>
      <p:graphicFrame>
        <p:nvGraphicFramePr>
          <p:cNvPr id="1524741" name="Group 5"/>
          <p:cNvGraphicFramePr>
            <a:graphicFrameLocks noGrp="1"/>
          </p:cNvGraphicFramePr>
          <p:nvPr/>
        </p:nvGraphicFramePr>
        <p:xfrm>
          <a:off x="971550" y="3429000"/>
          <a:ext cx="7112000" cy="2930918"/>
        </p:xfrm>
        <a:graphic>
          <a:graphicData uri="http://schemas.openxmlformats.org/drawingml/2006/table">
            <a:tbl>
              <a:tblPr/>
              <a:tblGrid>
                <a:gridCol w="360363">
                  <a:extLst>
                    <a:ext uri="{9D8B030D-6E8A-4147-A177-3AD203B41FA5}">
                      <a16:colId xmlns:a16="http://schemas.microsoft.com/office/drawing/2014/main" val="20000"/>
                    </a:ext>
                  </a:extLst>
                </a:gridCol>
                <a:gridCol w="1671637">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gridCol w="1016000">
                  <a:extLst>
                    <a:ext uri="{9D8B030D-6E8A-4147-A177-3AD203B41FA5}">
                      <a16:colId xmlns:a16="http://schemas.microsoft.com/office/drawing/2014/main" val="20006"/>
                    </a:ext>
                  </a:extLst>
                </a:gridCol>
              </a:tblGrid>
              <a:tr h="365702">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1</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2</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3</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4</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5</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C</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D</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E</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1558">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1</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{A,B}</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b13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b14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b15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2</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{A,E}</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b22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b23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b14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a5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3</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{C,E}</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b31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b32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b14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a5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4</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{B,C,D}</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b41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b45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2665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5</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{A,C}</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b52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b14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b55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524821" name="Rectangle 85"/>
          <p:cNvSpPr>
            <a:spLocks noChangeArrowheads="1"/>
          </p:cNvSpPr>
          <p:nvPr/>
        </p:nvSpPr>
        <p:spPr bwMode="auto">
          <a:xfrm>
            <a:off x="395288" y="2852738"/>
            <a:ext cx="8748712" cy="381000"/>
          </a:xfrm>
          <a:prstGeom prst="rect">
            <a:avLst/>
          </a:prstGeom>
          <a:noFill/>
          <a:ln w="12700" cap="sq">
            <a:noFill/>
            <a:miter lim="800000"/>
            <a:headEnd/>
            <a:tailEnd/>
          </a:ln>
          <a:effectLst/>
        </p:spPr>
        <p:txBody>
          <a:bodyPr lIns="0" tIns="0" rIns="0" bIns="0"/>
          <a:lstStyle/>
          <a:p>
            <a:pPr>
              <a:buSzTx/>
              <a:buFontTx/>
              <a:buNone/>
              <a:defRPr/>
            </a:pPr>
            <a:r>
              <a:rPr lang="en-US" altLang="zh-CN" sz="2800">
                <a:effectLst>
                  <a:outerShdw blurRad="38100" dist="38100" dir="2700000" algn="tl">
                    <a:srgbClr val="000000"/>
                  </a:outerShdw>
                </a:effectLst>
              </a:rPr>
              <a:t>3)</a:t>
            </a:r>
            <a:r>
              <a:rPr lang="zh-CN" altLang="en-US" sz="2800">
                <a:effectLst>
                  <a:outerShdw blurRad="38100" dist="38100" dir="2700000" algn="tl">
                    <a:srgbClr val="000000"/>
                  </a:outerShdw>
                </a:effectLst>
              </a:rPr>
              <a:t>第</a:t>
            </a:r>
            <a:r>
              <a:rPr lang="en-US" altLang="zh-CN" sz="2800">
                <a:effectLst>
                  <a:outerShdw blurRad="38100" dist="38100" dir="2700000" algn="tl">
                    <a:srgbClr val="000000"/>
                  </a:outerShdw>
                </a:effectLst>
              </a:rPr>
              <a:t>2</a:t>
            </a:r>
            <a:r>
              <a:rPr lang="zh-CN" altLang="en-US" sz="2800">
                <a:effectLst>
                  <a:outerShdw blurRad="38100" dist="38100" dir="2700000" algn="tl">
                    <a:srgbClr val="000000"/>
                  </a:outerShdw>
                </a:effectLst>
              </a:rPr>
              <a:t>次修改后的结果如下表</a:t>
            </a:r>
          </a:p>
        </p:txBody>
      </p:sp>
      <p:sp>
        <p:nvSpPr>
          <p:cNvPr id="1524822" name="Line 86"/>
          <p:cNvSpPr>
            <a:spLocks noChangeShapeType="1"/>
          </p:cNvSpPr>
          <p:nvPr/>
        </p:nvSpPr>
        <p:spPr bwMode="auto">
          <a:xfrm>
            <a:off x="7019925" y="1557338"/>
            <a:ext cx="720725" cy="0"/>
          </a:xfrm>
          <a:prstGeom prst="line">
            <a:avLst/>
          </a:prstGeom>
          <a:noFill/>
          <a:ln w="28575" cap="sq">
            <a:solidFill>
              <a:srgbClr val="FF0000"/>
            </a:solidFill>
            <a:round/>
            <a:headEnd/>
            <a:tailEnd/>
          </a:ln>
          <a:effectLst/>
        </p:spPr>
        <p:txBody>
          <a:bodyPr lIns="0" tIns="0" rIns="0" bIns="0"/>
          <a:lstStyle/>
          <a:p>
            <a:pPr>
              <a:defRPr/>
            </a:pPr>
            <a:endParaRPr lang="zh-CN" altLang="en-US"/>
          </a:p>
        </p:txBody>
      </p:sp>
      <p:sp>
        <p:nvSpPr>
          <p:cNvPr id="9" name="Rectangle 3"/>
          <p:cNvSpPr>
            <a:spLocks noGrp="1" noChangeArrowheads="1"/>
          </p:cNvSpPr>
          <p:nvPr>
            <p:ph type="title"/>
          </p:nvPr>
        </p:nvSpPr>
        <p:spPr>
          <a:xfrm>
            <a:off x="0" y="15305"/>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ea typeface="微软雅黑" pitchFamily="34" charset="-122"/>
              </a:rPr>
              <a:t>无损连接的测试算法</a:t>
            </a:r>
          </a:p>
        </p:txBody>
      </p:sp>
    </p:spTree>
  </p:cSld>
  <p:clrMapOvr>
    <a:masterClrMapping/>
  </p:clrMapOvr>
  <p:transition spd="med">
    <p:fade/>
    <p:sndAc>
      <p:stSnd>
        <p:snd r:embed="rId2" name="camera.wav"/>
      </p:stSnd>
    </p:sndAc>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64" name="Rectangle 4"/>
          <p:cNvSpPr>
            <a:spLocks noGrp="1" noChangeArrowheads="1"/>
          </p:cNvSpPr>
          <p:nvPr>
            <p:ph type="body" idx="1"/>
          </p:nvPr>
        </p:nvSpPr>
        <p:spPr>
          <a:xfrm>
            <a:off x="250825" y="1268413"/>
            <a:ext cx="8642350" cy="647700"/>
          </a:xfrm>
        </p:spPr>
        <p:txBody>
          <a:bodyPr/>
          <a:lstStyle/>
          <a:p>
            <a:pPr marL="0" indent="0" algn="just">
              <a:buFont typeface="Wingdings" pitchFamily="2" charset="2"/>
              <a:buNone/>
              <a:defRPr/>
            </a:pPr>
            <a:r>
              <a:rPr lang="zh-CN" altLang="en-US" sz="2800">
                <a:solidFill>
                  <a:srgbClr val="99FF33"/>
                </a:solidFill>
                <a:latin typeface="楷体_GB2312" pitchFamily="49" charset="-122"/>
              </a:rPr>
              <a:t>关系模式</a:t>
            </a:r>
            <a:r>
              <a:rPr lang="en-US" altLang="zh-CN" sz="2800">
                <a:solidFill>
                  <a:srgbClr val="99FF33"/>
                </a:solidFill>
                <a:latin typeface="楷体_GB2312" pitchFamily="49" charset="-122"/>
              </a:rPr>
              <a:t>R(U,F)</a:t>
            </a:r>
            <a:r>
              <a:rPr lang="zh-CN" altLang="en-US" sz="2800">
                <a:solidFill>
                  <a:srgbClr val="99FF33"/>
                </a:solidFill>
                <a:latin typeface="楷体_GB2312" pitchFamily="49" charset="-122"/>
              </a:rPr>
              <a:t>中，</a:t>
            </a:r>
            <a:r>
              <a:rPr lang="en-US" altLang="zh-CN" sz="2800">
                <a:solidFill>
                  <a:srgbClr val="99FF33"/>
                </a:solidFill>
                <a:latin typeface="楷体_GB2312" pitchFamily="49" charset="-122"/>
              </a:rPr>
              <a:t>U={A,B,C,D,E}</a:t>
            </a:r>
            <a:r>
              <a:rPr lang="zh-CN" altLang="en-US" sz="2800">
                <a:solidFill>
                  <a:srgbClr val="99FF33"/>
                </a:solidFill>
                <a:latin typeface="楷体_GB2312" pitchFamily="49" charset="-122"/>
              </a:rPr>
              <a:t>，</a:t>
            </a:r>
            <a:r>
              <a:rPr lang="en-US" altLang="zh-CN" sz="2800">
                <a:solidFill>
                  <a:srgbClr val="99FF33"/>
                </a:solidFill>
                <a:latin typeface="楷体_GB2312" pitchFamily="49" charset="-122"/>
              </a:rPr>
              <a:t>F={</a:t>
            </a:r>
            <a:r>
              <a:rPr lang="en-US" altLang="zh-CN" sz="2800">
                <a:solidFill>
                  <a:srgbClr val="00FFFF"/>
                </a:solidFill>
                <a:latin typeface="楷体_GB2312" pitchFamily="49" charset="-122"/>
              </a:rPr>
              <a:t>A</a:t>
            </a:r>
            <a:r>
              <a:rPr lang="en-US" altLang="en-US" sz="2800">
                <a:solidFill>
                  <a:srgbClr val="00FFFF"/>
                </a:solidFill>
                <a:latin typeface="楷体_GB2312" pitchFamily="49" charset="-122"/>
              </a:rPr>
              <a:t>→</a:t>
            </a:r>
            <a:r>
              <a:rPr lang="en-US" altLang="zh-CN" sz="2800">
                <a:solidFill>
                  <a:srgbClr val="00FFFF"/>
                </a:solidFill>
                <a:latin typeface="楷体_GB2312" pitchFamily="49" charset="-122"/>
              </a:rPr>
              <a:t>D</a:t>
            </a:r>
            <a:r>
              <a:rPr lang="en-US" altLang="zh-CN" sz="2800">
                <a:solidFill>
                  <a:srgbClr val="99FF33"/>
                </a:solidFill>
                <a:latin typeface="楷体_GB2312" pitchFamily="49" charset="-122"/>
              </a:rPr>
              <a:t>,</a:t>
            </a:r>
            <a:r>
              <a:rPr lang="en-US" altLang="zh-CN" sz="2800">
                <a:solidFill>
                  <a:srgbClr val="00FFFF"/>
                </a:solidFill>
                <a:latin typeface="楷体_GB2312" pitchFamily="49" charset="-122"/>
              </a:rPr>
              <a:t>E</a:t>
            </a:r>
            <a:r>
              <a:rPr lang="en-US" altLang="en-US" sz="2800">
                <a:solidFill>
                  <a:srgbClr val="00FFFF"/>
                </a:solidFill>
                <a:latin typeface="楷体_GB2312" pitchFamily="49" charset="-122"/>
              </a:rPr>
              <a:t>→</a:t>
            </a:r>
            <a:r>
              <a:rPr lang="en-US" altLang="zh-CN" sz="2800">
                <a:solidFill>
                  <a:srgbClr val="00FFFF"/>
                </a:solidFill>
                <a:latin typeface="楷体_GB2312" pitchFamily="49" charset="-122"/>
              </a:rPr>
              <a:t>D</a:t>
            </a:r>
            <a:r>
              <a:rPr lang="en-US" altLang="zh-CN" sz="2800">
                <a:solidFill>
                  <a:srgbClr val="99FF33"/>
                </a:solidFill>
                <a:latin typeface="楷体_GB2312" pitchFamily="49" charset="-122"/>
              </a:rPr>
              <a:t>, </a:t>
            </a:r>
            <a:r>
              <a:rPr lang="en-US" altLang="zh-CN" sz="2800">
                <a:solidFill>
                  <a:srgbClr val="00FFFF"/>
                </a:solidFill>
                <a:latin typeface="楷体_GB2312" pitchFamily="49" charset="-122"/>
              </a:rPr>
              <a:t>D</a:t>
            </a:r>
            <a:r>
              <a:rPr lang="en-US" altLang="en-US" sz="2800">
                <a:solidFill>
                  <a:srgbClr val="00FFFF"/>
                </a:solidFill>
                <a:latin typeface="楷体_GB2312" pitchFamily="49" charset="-122"/>
              </a:rPr>
              <a:t>→</a:t>
            </a:r>
            <a:r>
              <a:rPr lang="en-US" altLang="zh-CN" sz="2800">
                <a:solidFill>
                  <a:srgbClr val="00FFFF"/>
                </a:solidFill>
                <a:latin typeface="楷体_GB2312" pitchFamily="49" charset="-122"/>
              </a:rPr>
              <a:t>B</a:t>
            </a:r>
            <a:r>
              <a:rPr lang="en-US" altLang="zh-CN" sz="2800">
                <a:solidFill>
                  <a:srgbClr val="99FF33"/>
                </a:solidFill>
                <a:latin typeface="楷体_GB2312" pitchFamily="49" charset="-122"/>
              </a:rPr>
              <a:t>,BC</a:t>
            </a:r>
            <a:r>
              <a:rPr lang="en-US" altLang="en-US" sz="2800">
                <a:solidFill>
                  <a:srgbClr val="99FF33"/>
                </a:solidFill>
                <a:latin typeface="楷体_GB2312" pitchFamily="49" charset="-122"/>
              </a:rPr>
              <a:t>→D,DC→</a:t>
            </a:r>
            <a:r>
              <a:rPr lang="en-US" altLang="zh-CN" sz="2800">
                <a:solidFill>
                  <a:srgbClr val="99FF33"/>
                </a:solidFill>
                <a:latin typeface="楷体_GB2312" pitchFamily="49" charset="-122"/>
              </a:rPr>
              <a:t>A}</a:t>
            </a:r>
            <a:r>
              <a:rPr lang="zh-CN" altLang="en-US" sz="2800">
                <a:solidFill>
                  <a:srgbClr val="99FF33"/>
                </a:solidFill>
                <a:latin typeface="楷体_GB2312" pitchFamily="49" charset="-122"/>
              </a:rPr>
              <a:t>，</a:t>
            </a:r>
            <a:r>
              <a:rPr lang="en-US" altLang="zh-CN" sz="2800" i="1">
                <a:solidFill>
                  <a:srgbClr val="99FF33"/>
                </a:solidFill>
                <a:latin typeface="楷体_GB2312" pitchFamily="49" charset="-122"/>
              </a:rPr>
              <a:t>ρ</a:t>
            </a:r>
            <a:r>
              <a:rPr lang="en-US" altLang="zh-CN" sz="2800">
                <a:solidFill>
                  <a:srgbClr val="99FF33"/>
                </a:solidFill>
                <a:latin typeface="楷体_GB2312" pitchFamily="49" charset="-122"/>
              </a:rPr>
              <a:t>={R</a:t>
            </a:r>
            <a:r>
              <a:rPr lang="en-US" altLang="zh-CN" sz="2800" baseline="-30000">
                <a:solidFill>
                  <a:srgbClr val="99FF33"/>
                </a:solidFill>
                <a:latin typeface="楷体_GB2312" pitchFamily="49" charset="-122"/>
              </a:rPr>
              <a:t>1</a:t>
            </a:r>
            <a:r>
              <a:rPr lang="en-US" altLang="zh-CN" sz="2800">
                <a:solidFill>
                  <a:srgbClr val="99FF33"/>
                </a:solidFill>
                <a:latin typeface="楷体_GB2312" pitchFamily="49" charset="-122"/>
              </a:rPr>
              <a:t>(A,B),R</a:t>
            </a:r>
            <a:r>
              <a:rPr lang="en-US" altLang="zh-CN" sz="2800" baseline="-30000">
                <a:solidFill>
                  <a:srgbClr val="99FF33"/>
                </a:solidFill>
                <a:latin typeface="楷体_GB2312" pitchFamily="49" charset="-122"/>
              </a:rPr>
              <a:t>2</a:t>
            </a:r>
            <a:r>
              <a:rPr lang="en-US" altLang="zh-CN" sz="2800">
                <a:solidFill>
                  <a:srgbClr val="99FF33"/>
                </a:solidFill>
                <a:latin typeface="楷体_GB2312" pitchFamily="49" charset="-122"/>
              </a:rPr>
              <a:t>(A,E),R</a:t>
            </a:r>
            <a:r>
              <a:rPr lang="en-US" altLang="zh-CN" sz="2800" baseline="-30000">
                <a:solidFill>
                  <a:srgbClr val="99FF33"/>
                </a:solidFill>
                <a:latin typeface="楷体_GB2312" pitchFamily="49" charset="-122"/>
              </a:rPr>
              <a:t>3</a:t>
            </a:r>
            <a:r>
              <a:rPr lang="en-US" altLang="zh-CN" sz="2800">
                <a:solidFill>
                  <a:srgbClr val="99FF33"/>
                </a:solidFill>
                <a:latin typeface="楷体_GB2312" pitchFamily="49" charset="-122"/>
              </a:rPr>
              <a:t>(C,E), R</a:t>
            </a:r>
            <a:r>
              <a:rPr lang="en-US" altLang="zh-CN" sz="2800" baseline="-30000">
                <a:solidFill>
                  <a:srgbClr val="99FF33"/>
                </a:solidFill>
                <a:latin typeface="楷体_GB2312" pitchFamily="49" charset="-122"/>
              </a:rPr>
              <a:t>4</a:t>
            </a:r>
            <a:r>
              <a:rPr lang="en-US" altLang="zh-CN" sz="2800">
                <a:solidFill>
                  <a:srgbClr val="99FF33"/>
                </a:solidFill>
                <a:latin typeface="楷体_GB2312" pitchFamily="49" charset="-122"/>
              </a:rPr>
              <a:t>(B,C,D),R</a:t>
            </a:r>
            <a:r>
              <a:rPr lang="en-US" altLang="zh-CN" sz="2800" baseline="-30000">
                <a:solidFill>
                  <a:srgbClr val="99FF33"/>
                </a:solidFill>
                <a:latin typeface="楷体_GB2312" pitchFamily="49" charset="-122"/>
              </a:rPr>
              <a:t>5</a:t>
            </a:r>
            <a:r>
              <a:rPr lang="en-US" altLang="zh-CN" sz="2800">
                <a:solidFill>
                  <a:srgbClr val="99FF33"/>
                </a:solidFill>
                <a:latin typeface="楷体_GB2312" pitchFamily="49" charset="-122"/>
              </a:rPr>
              <a:t>(A,C)}</a:t>
            </a:r>
            <a:r>
              <a:rPr lang="zh-CN" altLang="en-US" sz="2800">
                <a:solidFill>
                  <a:srgbClr val="99FF33"/>
                </a:solidFill>
                <a:latin typeface="楷体_GB2312" pitchFamily="49" charset="-122"/>
              </a:rPr>
              <a:t>，</a:t>
            </a:r>
            <a:r>
              <a:rPr lang="en-US" altLang="zh-CN" sz="2800" i="1">
                <a:solidFill>
                  <a:srgbClr val="99FF33"/>
                </a:solidFill>
                <a:latin typeface="楷体_GB2312" pitchFamily="49" charset="-122"/>
              </a:rPr>
              <a:t>ρ</a:t>
            </a:r>
            <a:r>
              <a:rPr lang="zh-CN" altLang="en-US" sz="2800">
                <a:solidFill>
                  <a:srgbClr val="99FF33"/>
                </a:solidFill>
                <a:latin typeface="楷体_GB2312" pitchFamily="49" charset="-122"/>
              </a:rPr>
              <a:t>是否是无损连接分解</a:t>
            </a:r>
            <a:r>
              <a:rPr lang="en-US" altLang="zh-CN" sz="2800">
                <a:solidFill>
                  <a:srgbClr val="99FF33"/>
                </a:solidFill>
                <a:latin typeface="楷体_GB2312" pitchFamily="49" charset="-122"/>
              </a:rPr>
              <a:t>?</a:t>
            </a:r>
            <a:endParaRPr lang="zh-CN" altLang="en-US" sz="2800">
              <a:solidFill>
                <a:srgbClr val="99FF33"/>
              </a:solidFill>
              <a:latin typeface="楷体_GB2312" pitchFamily="49" charset="-122"/>
            </a:endParaRPr>
          </a:p>
        </p:txBody>
      </p:sp>
      <p:graphicFrame>
        <p:nvGraphicFramePr>
          <p:cNvPr id="1525765" name="Group 5"/>
          <p:cNvGraphicFramePr>
            <a:graphicFrameLocks noGrp="1"/>
          </p:cNvGraphicFramePr>
          <p:nvPr/>
        </p:nvGraphicFramePr>
        <p:xfrm>
          <a:off x="971550" y="3429000"/>
          <a:ext cx="7112000" cy="2952751"/>
        </p:xfrm>
        <a:graphic>
          <a:graphicData uri="http://schemas.openxmlformats.org/drawingml/2006/table">
            <a:tbl>
              <a:tblPr/>
              <a:tblGrid>
                <a:gridCol w="360363">
                  <a:extLst>
                    <a:ext uri="{9D8B030D-6E8A-4147-A177-3AD203B41FA5}">
                      <a16:colId xmlns:a16="http://schemas.microsoft.com/office/drawing/2014/main" val="20000"/>
                    </a:ext>
                  </a:extLst>
                </a:gridCol>
                <a:gridCol w="1671637">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gridCol w="1016000">
                  <a:extLst>
                    <a:ext uri="{9D8B030D-6E8A-4147-A177-3AD203B41FA5}">
                      <a16:colId xmlns:a16="http://schemas.microsoft.com/office/drawing/2014/main" val="20006"/>
                    </a:ext>
                  </a:extLst>
                </a:gridCol>
              </a:tblGrid>
              <a:tr h="365839">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1</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2</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3</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4</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5</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6812">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C</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D</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E</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189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1</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{A,B}</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b13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b14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b15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6812">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2</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{A,E}</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b22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b23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b14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6812">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3</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{C,E}</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b31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b32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b14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6812">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4</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{B,C,D}</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b41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b45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47771">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5</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{A,C}</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b52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b14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b55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525845" name="Rectangle 85"/>
          <p:cNvSpPr>
            <a:spLocks noChangeArrowheads="1"/>
          </p:cNvSpPr>
          <p:nvPr/>
        </p:nvSpPr>
        <p:spPr bwMode="auto">
          <a:xfrm>
            <a:off x="395288" y="2852738"/>
            <a:ext cx="8748712" cy="381000"/>
          </a:xfrm>
          <a:prstGeom prst="rect">
            <a:avLst/>
          </a:prstGeom>
          <a:noFill/>
          <a:ln w="12700" cap="sq">
            <a:noFill/>
            <a:miter lim="800000"/>
            <a:headEnd/>
            <a:tailEnd/>
          </a:ln>
          <a:effectLst/>
        </p:spPr>
        <p:txBody>
          <a:bodyPr lIns="0" tIns="0" rIns="0" bIns="0"/>
          <a:lstStyle/>
          <a:p>
            <a:pPr>
              <a:buSzTx/>
              <a:buFontTx/>
              <a:buNone/>
              <a:defRPr/>
            </a:pPr>
            <a:r>
              <a:rPr lang="en-US" altLang="zh-CN" sz="2800">
                <a:effectLst>
                  <a:outerShdw blurRad="38100" dist="38100" dir="2700000" algn="tl">
                    <a:srgbClr val="000000"/>
                  </a:outerShdw>
                </a:effectLst>
              </a:rPr>
              <a:t>4)</a:t>
            </a:r>
            <a:r>
              <a:rPr lang="zh-CN" altLang="en-US" sz="2800">
                <a:effectLst>
                  <a:outerShdw blurRad="38100" dist="38100" dir="2700000" algn="tl">
                    <a:srgbClr val="000000"/>
                  </a:outerShdw>
                </a:effectLst>
              </a:rPr>
              <a:t>找出所有</a:t>
            </a:r>
            <a:r>
              <a:rPr lang="en-US" altLang="zh-CN" sz="2800">
                <a:effectLst>
                  <a:outerShdw blurRad="38100" dist="38100" dir="2700000" algn="tl">
                    <a:srgbClr val="000000"/>
                  </a:outerShdw>
                </a:effectLst>
              </a:rPr>
              <a:t>D</a:t>
            </a:r>
            <a:r>
              <a:rPr lang="zh-CN" altLang="en-US" sz="2800">
                <a:effectLst>
                  <a:outerShdw blurRad="38100" dist="38100" dir="2700000" algn="tl">
                    <a:srgbClr val="000000"/>
                  </a:outerShdw>
                </a:effectLst>
              </a:rPr>
              <a:t>相等而</a:t>
            </a:r>
            <a:r>
              <a:rPr lang="en-US" altLang="zh-CN" sz="2800">
                <a:effectLst>
                  <a:outerShdw blurRad="38100" dist="38100" dir="2700000" algn="tl">
                    <a:srgbClr val="000000"/>
                  </a:outerShdw>
                </a:effectLst>
              </a:rPr>
              <a:t>B</a:t>
            </a:r>
            <a:r>
              <a:rPr lang="zh-CN" altLang="en-US" sz="2800">
                <a:effectLst>
                  <a:outerShdw blurRad="38100" dist="38100" dir="2700000" algn="tl">
                    <a:srgbClr val="000000"/>
                  </a:outerShdw>
                </a:effectLst>
              </a:rPr>
              <a:t>不相等的行进行</a:t>
            </a:r>
            <a:r>
              <a:rPr lang="en-US" altLang="zh-CN" sz="2800">
                <a:effectLst>
                  <a:outerShdw blurRad="38100" dist="38100" dir="2700000" algn="tl">
                    <a:srgbClr val="000000"/>
                  </a:outerShdw>
                </a:effectLst>
              </a:rPr>
              <a:t>B</a:t>
            </a:r>
            <a:r>
              <a:rPr lang="zh-CN" altLang="en-US" sz="2800">
                <a:effectLst>
                  <a:outerShdw blurRad="38100" dist="38100" dir="2700000" algn="tl">
                    <a:srgbClr val="000000"/>
                  </a:outerShdw>
                </a:effectLst>
              </a:rPr>
              <a:t>的替换</a:t>
            </a:r>
          </a:p>
        </p:txBody>
      </p:sp>
      <p:sp>
        <p:nvSpPr>
          <p:cNvPr id="1525846" name="Line 86"/>
          <p:cNvSpPr>
            <a:spLocks noChangeShapeType="1"/>
          </p:cNvSpPr>
          <p:nvPr/>
        </p:nvSpPr>
        <p:spPr bwMode="auto">
          <a:xfrm>
            <a:off x="7019925" y="1557338"/>
            <a:ext cx="720725" cy="0"/>
          </a:xfrm>
          <a:prstGeom prst="line">
            <a:avLst/>
          </a:prstGeom>
          <a:noFill/>
          <a:ln w="28575" cap="sq">
            <a:solidFill>
              <a:srgbClr val="FF0000"/>
            </a:solidFill>
            <a:round/>
            <a:headEnd/>
            <a:tailEnd/>
          </a:ln>
          <a:effectLst/>
        </p:spPr>
        <p:txBody>
          <a:bodyPr lIns="0" tIns="0" rIns="0" bIns="0"/>
          <a:lstStyle/>
          <a:p>
            <a:pPr>
              <a:defRPr/>
            </a:pPr>
            <a:endParaRPr lang="zh-CN" altLang="en-US"/>
          </a:p>
        </p:txBody>
      </p:sp>
      <p:sp>
        <p:nvSpPr>
          <p:cNvPr id="1525847" name="Line 87"/>
          <p:cNvSpPr>
            <a:spLocks noChangeShapeType="1"/>
          </p:cNvSpPr>
          <p:nvPr/>
        </p:nvSpPr>
        <p:spPr bwMode="auto">
          <a:xfrm>
            <a:off x="7956550" y="1557338"/>
            <a:ext cx="720725" cy="0"/>
          </a:xfrm>
          <a:prstGeom prst="line">
            <a:avLst/>
          </a:prstGeom>
          <a:noFill/>
          <a:ln w="28575" cap="sq">
            <a:solidFill>
              <a:srgbClr val="FF0000"/>
            </a:solidFill>
            <a:round/>
            <a:headEnd/>
            <a:tailEnd/>
          </a:ln>
          <a:effectLst/>
        </p:spPr>
        <p:txBody>
          <a:bodyPr lIns="0" tIns="0" rIns="0" bIns="0"/>
          <a:lstStyle/>
          <a:p>
            <a:pPr>
              <a:defRPr/>
            </a:pPr>
            <a:endParaRPr lang="zh-CN" altLang="en-US"/>
          </a:p>
        </p:txBody>
      </p:sp>
      <p:sp>
        <p:nvSpPr>
          <p:cNvPr id="1525848" name="Oval 88"/>
          <p:cNvSpPr>
            <a:spLocks noChangeArrowheads="1"/>
          </p:cNvSpPr>
          <p:nvPr/>
        </p:nvSpPr>
        <p:spPr bwMode="auto">
          <a:xfrm>
            <a:off x="4787900" y="4343400"/>
            <a:ext cx="117475" cy="117475"/>
          </a:xfrm>
          <a:prstGeom prst="ellipse">
            <a:avLst/>
          </a:prstGeom>
          <a:solidFill>
            <a:srgbClr val="FF0000"/>
          </a:solidFill>
          <a:ln w="12700" cap="sq" algn="ctr">
            <a:solidFill>
              <a:srgbClr val="FF0000"/>
            </a:solidFill>
            <a:round/>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 name="Rectangle 3"/>
          <p:cNvSpPr>
            <a:spLocks noGrp="1" noChangeArrowheads="1"/>
          </p:cNvSpPr>
          <p:nvPr>
            <p:ph type="title"/>
          </p:nvPr>
        </p:nvSpPr>
        <p:spPr>
          <a:xfrm>
            <a:off x="0" y="15305"/>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ea typeface="微软雅黑" pitchFamily="34" charset="-122"/>
              </a:rPr>
              <a:t>无损连接的测试算法</a:t>
            </a:r>
          </a:p>
        </p:txBody>
      </p:sp>
    </p:spTree>
  </p:cSld>
  <p:clrMapOvr>
    <a:masterClrMapping/>
  </p:clrMapOvr>
  <p:transition spd="med">
    <p:fade/>
    <p:sndAc>
      <p:stSnd>
        <p:snd r:embed="rId2" name="camera.wav"/>
      </p:stSnd>
    </p:sndAc>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6788" name="Rectangle 4"/>
          <p:cNvSpPr>
            <a:spLocks noGrp="1" noChangeArrowheads="1"/>
          </p:cNvSpPr>
          <p:nvPr>
            <p:ph type="body" idx="1"/>
          </p:nvPr>
        </p:nvSpPr>
        <p:spPr>
          <a:xfrm>
            <a:off x="250825" y="1268413"/>
            <a:ext cx="8642350" cy="647700"/>
          </a:xfrm>
        </p:spPr>
        <p:txBody>
          <a:bodyPr/>
          <a:lstStyle/>
          <a:p>
            <a:pPr marL="0" indent="0" algn="just">
              <a:buFont typeface="Wingdings" pitchFamily="2" charset="2"/>
              <a:buNone/>
              <a:defRPr/>
            </a:pPr>
            <a:r>
              <a:rPr lang="zh-CN" altLang="en-US" sz="2800">
                <a:solidFill>
                  <a:srgbClr val="99FF33"/>
                </a:solidFill>
                <a:latin typeface="楷体_GB2312" pitchFamily="49" charset="-122"/>
              </a:rPr>
              <a:t>关系模式</a:t>
            </a:r>
            <a:r>
              <a:rPr lang="en-US" altLang="zh-CN" sz="2800">
                <a:solidFill>
                  <a:srgbClr val="99FF33"/>
                </a:solidFill>
                <a:latin typeface="楷体_GB2312" pitchFamily="49" charset="-122"/>
              </a:rPr>
              <a:t>R(U,F)</a:t>
            </a:r>
            <a:r>
              <a:rPr lang="zh-CN" altLang="en-US" sz="2800">
                <a:solidFill>
                  <a:srgbClr val="99FF33"/>
                </a:solidFill>
                <a:latin typeface="楷体_GB2312" pitchFamily="49" charset="-122"/>
              </a:rPr>
              <a:t>中，</a:t>
            </a:r>
            <a:r>
              <a:rPr lang="en-US" altLang="zh-CN" sz="2800">
                <a:solidFill>
                  <a:srgbClr val="99FF33"/>
                </a:solidFill>
                <a:latin typeface="楷体_GB2312" pitchFamily="49" charset="-122"/>
              </a:rPr>
              <a:t>U={A,B,C,D,E}</a:t>
            </a:r>
            <a:r>
              <a:rPr lang="zh-CN" altLang="en-US" sz="2800">
                <a:solidFill>
                  <a:srgbClr val="99FF33"/>
                </a:solidFill>
                <a:latin typeface="楷体_GB2312" pitchFamily="49" charset="-122"/>
              </a:rPr>
              <a:t>，</a:t>
            </a:r>
            <a:r>
              <a:rPr lang="en-US" altLang="zh-CN" sz="2800">
                <a:solidFill>
                  <a:srgbClr val="99FF33"/>
                </a:solidFill>
                <a:latin typeface="楷体_GB2312" pitchFamily="49" charset="-122"/>
              </a:rPr>
              <a:t>F={</a:t>
            </a:r>
            <a:r>
              <a:rPr lang="en-US" altLang="zh-CN" sz="2800">
                <a:solidFill>
                  <a:srgbClr val="00FFFF"/>
                </a:solidFill>
                <a:latin typeface="楷体_GB2312" pitchFamily="49" charset="-122"/>
              </a:rPr>
              <a:t>A</a:t>
            </a:r>
            <a:r>
              <a:rPr lang="en-US" altLang="en-US" sz="2800">
                <a:solidFill>
                  <a:srgbClr val="00FFFF"/>
                </a:solidFill>
                <a:latin typeface="楷体_GB2312" pitchFamily="49" charset="-122"/>
              </a:rPr>
              <a:t>→</a:t>
            </a:r>
            <a:r>
              <a:rPr lang="en-US" altLang="zh-CN" sz="2800">
                <a:solidFill>
                  <a:srgbClr val="00FFFF"/>
                </a:solidFill>
                <a:latin typeface="楷体_GB2312" pitchFamily="49" charset="-122"/>
              </a:rPr>
              <a:t>D</a:t>
            </a:r>
            <a:r>
              <a:rPr lang="en-US" altLang="zh-CN" sz="2800">
                <a:solidFill>
                  <a:srgbClr val="99FF33"/>
                </a:solidFill>
                <a:latin typeface="楷体_GB2312" pitchFamily="49" charset="-122"/>
              </a:rPr>
              <a:t>,</a:t>
            </a:r>
            <a:r>
              <a:rPr lang="en-US" altLang="zh-CN" sz="2800">
                <a:solidFill>
                  <a:srgbClr val="00FFFF"/>
                </a:solidFill>
                <a:latin typeface="楷体_GB2312" pitchFamily="49" charset="-122"/>
              </a:rPr>
              <a:t>E</a:t>
            </a:r>
            <a:r>
              <a:rPr lang="en-US" altLang="en-US" sz="2800">
                <a:solidFill>
                  <a:srgbClr val="00FFFF"/>
                </a:solidFill>
                <a:latin typeface="楷体_GB2312" pitchFamily="49" charset="-122"/>
              </a:rPr>
              <a:t>→</a:t>
            </a:r>
            <a:r>
              <a:rPr lang="en-US" altLang="zh-CN" sz="2800">
                <a:solidFill>
                  <a:srgbClr val="00FFFF"/>
                </a:solidFill>
                <a:latin typeface="楷体_GB2312" pitchFamily="49" charset="-122"/>
              </a:rPr>
              <a:t>D</a:t>
            </a:r>
            <a:r>
              <a:rPr lang="en-US" altLang="zh-CN" sz="2800">
                <a:solidFill>
                  <a:srgbClr val="99FF33"/>
                </a:solidFill>
                <a:latin typeface="楷体_GB2312" pitchFamily="49" charset="-122"/>
              </a:rPr>
              <a:t>, </a:t>
            </a:r>
            <a:r>
              <a:rPr lang="en-US" altLang="zh-CN" sz="2800">
                <a:solidFill>
                  <a:srgbClr val="00FFFF"/>
                </a:solidFill>
                <a:latin typeface="楷体_GB2312" pitchFamily="49" charset="-122"/>
              </a:rPr>
              <a:t>D</a:t>
            </a:r>
            <a:r>
              <a:rPr lang="en-US" altLang="en-US" sz="2800">
                <a:solidFill>
                  <a:srgbClr val="00FFFF"/>
                </a:solidFill>
                <a:latin typeface="楷体_GB2312" pitchFamily="49" charset="-122"/>
              </a:rPr>
              <a:t>→</a:t>
            </a:r>
            <a:r>
              <a:rPr lang="en-US" altLang="zh-CN" sz="2800">
                <a:solidFill>
                  <a:srgbClr val="00FFFF"/>
                </a:solidFill>
                <a:latin typeface="楷体_GB2312" pitchFamily="49" charset="-122"/>
              </a:rPr>
              <a:t>B</a:t>
            </a:r>
            <a:r>
              <a:rPr lang="en-US" altLang="zh-CN" sz="2800">
                <a:solidFill>
                  <a:srgbClr val="99FF33"/>
                </a:solidFill>
                <a:latin typeface="楷体_GB2312" pitchFamily="49" charset="-122"/>
              </a:rPr>
              <a:t>,BC</a:t>
            </a:r>
            <a:r>
              <a:rPr lang="en-US" altLang="en-US" sz="2800">
                <a:solidFill>
                  <a:srgbClr val="99FF33"/>
                </a:solidFill>
                <a:latin typeface="楷体_GB2312" pitchFamily="49" charset="-122"/>
              </a:rPr>
              <a:t>→D,DC→</a:t>
            </a:r>
            <a:r>
              <a:rPr lang="en-US" altLang="zh-CN" sz="2800">
                <a:solidFill>
                  <a:srgbClr val="99FF33"/>
                </a:solidFill>
                <a:latin typeface="楷体_GB2312" pitchFamily="49" charset="-122"/>
              </a:rPr>
              <a:t>A}</a:t>
            </a:r>
            <a:r>
              <a:rPr lang="zh-CN" altLang="en-US" sz="2800">
                <a:solidFill>
                  <a:srgbClr val="99FF33"/>
                </a:solidFill>
                <a:latin typeface="楷体_GB2312" pitchFamily="49" charset="-122"/>
              </a:rPr>
              <a:t>，</a:t>
            </a:r>
            <a:r>
              <a:rPr lang="en-US" altLang="zh-CN" sz="2800" i="1">
                <a:solidFill>
                  <a:srgbClr val="99FF33"/>
                </a:solidFill>
                <a:latin typeface="楷体_GB2312" pitchFamily="49" charset="-122"/>
              </a:rPr>
              <a:t>ρ</a:t>
            </a:r>
            <a:r>
              <a:rPr lang="en-US" altLang="zh-CN" sz="2800">
                <a:solidFill>
                  <a:srgbClr val="99FF33"/>
                </a:solidFill>
                <a:latin typeface="楷体_GB2312" pitchFamily="49" charset="-122"/>
              </a:rPr>
              <a:t>={R</a:t>
            </a:r>
            <a:r>
              <a:rPr lang="en-US" altLang="zh-CN" sz="2800" baseline="-30000">
                <a:solidFill>
                  <a:srgbClr val="99FF33"/>
                </a:solidFill>
                <a:latin typeface="楷体_GB2312" pitchFamily="49" charset="-122"/>
              </a:rPr>
              <a:t>1</a:t>
            </a:r>
            <a:r>
              <a:rPr lang="en-US" altLang="zh-CN" sz="2800">
                <a:solidFill>
                  <a:srgbClr val="99FF33"/>
                </a:solidFill>
                <a:latin typeface="楷体_GB2312" pitchFamily="49" charset="-122"/>
              </a:rPr>
              <a:t>(A,B),R</a:t>
            </a:r>
            <a:r>
              <a:rPr lang="en-US" altLang="zh-CN" sz="2800" baseline="-30000">
                <a:solidFill>
                  <a:srgbClr val="99FF33"/>
                </a:solidFill>
                <a:latin typeface="楷体_GB2312" pitchFamily="49" charset="-122"/>
              </a:rPr>
              <a:t>2</a:t>
            </a:r>
            <a:r>
              <a:rPr lang="en-US" altLang="zh-CN" sz="2800">
                <a:solidFill>
                  <a:srgbClr val="99FF33"/>
                </a:solidFill>
                <a:latin typeface="楷体_GB2312" pitchFamily="49" charset="-122"/>
              </a:rPr>
              <a:t>(A,E),R</a:t>
            </a:r>
            <a:r>
              <a:rPr lang="en-US" altLang="zh-CN" sz="2800" baseline="-30000">
                <a:solidFill>
                  <a:srgbClr val="99FF33"/>
                </a:solidFill>
                <a:latin typeface="楷体_GB2312" pitchFamily="49" charset="-122"/>
              </a:rPr>
              <a:t>3</a:t>
            </a:r>
            <a:r>
              <a:rPr lang="en-US" altLang="zh-CN" sz="2800">
                <a:solidFill>
                  <a:srgbClr val="99FF33"/>
                </a:solidFill>
                <a:latin typeface="楷体_GB2312" pitchFamily="49" charset="-122"/>
              </a:rPr>
              <a:t>(C,E), R</a:t>
            </a:r>
            <a:r>
              <a:rPr lang="en-US" altLang="zh-CN" sz="2800" baseline="-30000">
                <a:solidFill>
                  <a:srgbClr val="99FF33"/>
                </a:solidFill>
                <a:latin typeface="楷体_GB2312" pitchFamily="49" charset="-122"/>
              </a:rPr>
              <a:t>4</a:t>
            </a:r>
            <a:r>
              <a:rPr lang="en-US" altLang="zh-CN" sz="2800">
                <a:solidFill>
                  <a:srgbClr val="99FF33"/>
                </a:solidFill>
                <a:latin typeface="楷体_GB2312" pitchFamily="49" charset="-122"/>
              </a:rPr>
              <a:t>(B,C,D),R</a:t>
            </a:r>
            <a:r>
              <a:rPr lang="en-US" altLang="zh-CN" sz="2800" baseline="-30000">
                <a:solidFill>
                  <a:srgbClr val="99FF33"/>
                </a:solidFill>
                <a:latin typeface="楷体_GB2312" pitchFamily="49" charset="-122"/>
              </a:rPr>
              <a:t>5</a:t>
            </a:r>
            <a:r>
              <a:rPr lang="en-US" altLang="zh-CN" sz="2800">
                <a:solidFill>
                  <a:srgbClr val="99FF33"/>
                </a:solidFill>
                <a:latin typeface="楷体_GB2312" pitchFamily="49" charset="-122"/>
              </a:rPr>
              <a:t>(A,C)}</a:t>
            </a:r>
            <a:r>
              <a:rPr lang="zh-CN" altLang="en-US" sz="2800">
                <a:solidFill>
                  <a:srgbClr val="99FF33"/>
                </a:solidFill>
                <a:latin typeface="楷体_GB2312" pitchFamily="49" charset="-122"/>
              </a:rPr>
              <a:t>，</a:t>
            </a:r>
            <a:r>
              <a:rPr lang="en-US" altLang="zh-CN" sz="2800" i="1">
                <a:solidFill>
                  <a:srgbClr val="99FF33"/>
                </a:solidFill>
                <a:latin typeface="楷体_GB2312" pitchFamily="49" charset="-122"/>
              </a:rPr>
              <a:t>ρ</a:t>
            </a:r>
            <a:r>
              <a:rPr lang="zh-CN" altLang="en-US" sz="2800">
                <a:solidFill>
                  <a:srgbClr val="99FF33"/>
                </a:solidFill>
                <a:latin typeface="楷体_GB2312" pitchFamily="49" charset="-122"/>
              </a:rPr>
              <a:t>是否是无损连接分解</a:t>
            </a:r>
            <a:r>
              <a:rPr lang="en-US" altLang="zh-CN" sz="2800">
                <a:solidFill>
                  <a:srgbClr val="99FF33"/>
                </a:solidFill>
                <a:latin typeface="楷体_GB2312" pitchFamily="49" charset="-122"/>
              </a:rPr>
              <a:t>?</a:t>
            </a:r>
            <a:endParaRPr lang="zh-CN" altLang="en-US" sz="2800">
              <a:solidFill>
                <a:srgbClr val="99FF33"/>
              </a:solidFill>
              <a:latin typeface="楷体_GB2312" pitchFamily="49" charset="-122"/>
            </a:endParaRPr>
          </a:p>
        </p:txBody>
      </p:sp>
      <p:graphicFrame>
        <p:nvGraphicFramePr>
          <p:cNvPr id="1526789" name="Group 5"/>
          <p:cNvGraphicFramePr>
            <a:graphicFrameLocks noGrp="1"/>
          </p:cNvGraphicFramePr>
          <p:nvPr/>
        </p:nvGraphicFramePr>
        <p:xfrm>
          <a:off x="971550" y="3429000"/>
          <a:ext cx="7112000" cy="2952751"/>
        </p:xfrm>
        <a:graphic>
          <a:graphicData uri="http://schemas.openxmlformats.org/drawingml/2006/table">
            <a:tbl>
              <a:tblPr/>
              <a:tblGrid>
                <a:gridCol w="360363">
                  <a:extLst>
                    <a:ext uri="{9D8B030D-6E8A-4147-A177-3AD203B41FA5}">
                      <a16:colId xmlns:a16="http://schemas.microsoft.com/office/drawing/2014/main" val="20000"/>
                    </a:ext>
                  </a:extLst>
                </a:gridCol>
                <a:gridCol w="1671637">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gridCol w="1016000">
                  <a:extLst>
                    <a:ext uri="{9D8B030D-6E8A-4147-A177-3AD203B41FA5}">
                      <a16:colId xmlns:a16="http://schemas.microsoft.com/office/drawing/2014/main" val="20006"/>
                    </a:ext>
                  </a:extLst>
                </a:gridCol>
              </a:tblGrid>
              <a:tr h="365839">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1</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2</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3</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4</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5</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6812">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C</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D</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E</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189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1</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{A,B}</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b13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b14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b15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6812">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2</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{A,E}</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b23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b14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6812">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3</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{C,E}</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b31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b14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6812">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4</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{B,C,D}</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b41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b45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47771">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5</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{A,C}</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b14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b55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526869" name="Rectangle 85"/>
          <p:cNvSpPr>
            <a:spLocks noChangeArrowheads="1"/>
          </p:cNvSpPr>
          <p:nvPr/>
        </p:nvSpPr>
        <p:spPr bwMode="auto">
          <a:xfrm>
            <a:off x="395288" y="2852738"/>
            <a:ext cx="8748712" cy="381000"/>
          </a:xfrm>
          <a:prstGeom prst="rect">
            <a:avLst/>
          </a:prstGeom>
          <a:noFill/>
          <a:ln w="12700" cap="sq">
            <a:noFill/>
            <a:miter lim="800000"/>
            <a:headEnd/>
            <a:tailEnd/>
          </a:ln>
          <a:effectLst/>
        </p:spPr>
        <p:txBody>
          <a:bodyPr lIns="0" tIns="0" rIns="0" bIns="0"/>
          <a:lstStyle/>
          <a:p>
            <a:pPr>
              <a:buSzTx/>
              <a:buFontTx/>
              <a:buNone/>
              <a:defRPr/>
            </a:pPr>
            <a:r>
              <a:rPr lang="en-US" altLang="zh-CN" sz="2800">
                <a:effectLst>
                  <a:outerShdw blurRad="38100" dist="38100" dir="2700000" algn="tl">
                    <a:srgbClr val="000000"/>
                  </a:outerShdw>
                </a:effectLst>
              </a:rPr>
              <a:t>4)</a:t>
            </a:r>
            <a:r>
              <a:rPr lang="zh-CN" altLang="en-US" sz="2800">
                <a:effectLst>
                  <a:outerShdw blurRad="38100" dist="38100" dir="2700000" algn="tl">
                    <a:srgbClr val="000000"/>
                  </a:outerShdw>
                </a:effectLst>
              </a:rPr>
              <a:t>第</a:t>
            </a:r>
            <a:r>
              <a:rPr lang="en-US" altLang="zh-CN" sz="2800">
                <a:effectLst>
                  <a:outerShdw blurRad="38100" dist="38100" dir="2700000" algn="tl">
                    <a:srgbClr val="000000"/>
                  </a:outerShdw>
                </a:effectLst>
              </a:rPr>
              <a:t>3</a:t>
            </a:r>
            <a:r>
              <a:rPr lang="zh-CN" altLang="en-US" sz="2800">
                <a:effectLst>
                  <a:outerShdw blurRad="38100" dist="38100" dir="2700000" algn="tl">
                    <a:srgbClr val="000000"/>
                  </a:outerShdw>
                </a:effectLst>
              </a:rPr>
              <a:t>次修改后的结果如下表</a:t>
            </a:r>
          </a:p>
        </p:txBody>
      </p:sp>
      <p:sp>
        <p:nvSpPr>
          <p:cNvPr id="1526870" name="Line 86"/>
          <p:cNvSpPr>
            <a:spLocks noChangeShapeType="1"/>
          </p:cNvSpPr>
          <p:nvPr/>
        </p:nvSpPr>
        <p:spPr bwMode="auto">
          <a:xfrm>
            <a:off x="7019925" y="1557338"/>
            <a:ext cx="720725" cy="0"/>
          </a:xfrm>
          <a:prstGeom prst="line">
            <a:avLst/>
          </a:prstGeom>
          <a:noFill/>
          <a:ln w="28575" cap="sq">
            <a:solidFill>
              <a:srgbClr val="FF0000"/>
            </a:solidFill>
            <a:round/>
            <a:headEnd/>
            <a:tailEnd/>
          </a:ln>
          <a:effectLst/>
        </p:spPr>
        <p:txBody>
          <a:bodyPr lIns="0" tIns="0" rIns="0" bIns="0"/>
          <a:lstStyle/>
          <a:p>
            <a:pPr>
              <a:defRPr/>
            </a:pPr>
            <a:endParaRPr lang="zh-CN" altLang="en-US"/>
          </a:p>
        </p:txBody>
      </p:sp>
      <p:sp>
        <p:nvSpPr>
          <p:cNvPr id="1526871" name="Line 87"/>
          <p:cNvSpPr>
            <a:spLocks noChangeShapeType="1"/>
          </p:cNvSpPr>
          <p:nvPr/>
        </p:nvSpPr>
        <p:spPr bwMode="auto">
          <a:xfrm>
            <a:off x="7956550" y="1557338"/>
            <a:ext cx="720725" cy="0"/>
          </a:xfrm>
          <a:prstGeom prst="line">
            <a:avLst/>
          </a:prstGeom>
          <a:noFill/>
          <a:ln w="28575" cap="sq">
            <a:solidFill>
              <a:srgbClr val="FF0000"/>
            </a:solidFill>
            <a:round/>
            <a:headEnd/>
            <a:tailEnd/>
          </a:ln>
          <a:effectLst/>
        </p:spPr>
        <p:txBody>
          <a:bodyPr lIns="0" tIns="0" rIns="0" bIns="0"/>
          <a:lstStyle/>
          <a:p>
            <a:pPr>
              <a:defRPr/>
            </a:pPr>
            <a:endParaRPr lang="zh-CN" altLang="en-US"/>
          </a:p>
        </p:txBody>
      </p:sp>
      <p:sp>
        <p:nvSpPr>
          <p:cNvPr id="10" name="Rectangle 3"/>
          <p:cNvSpPr>
            <a:spLocks noGrp="1" noChangeArrowheads="1"/>
          </p:cNvSpPr>
          <p:nvPr>
            <p:ph type="title"/>
          </p:nvPr>
        </p:nvSpPr>
        <p:spPr>
          <a:xfrm>
            <a:off x="0" y="15305"/>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ea typeface="微软雅黑" pitchFamily="34" charset="-122"/>
              </a:rPr>
              <a:t>无损连接的测试算法</a:t>
            </a:r>
          </a:p>
        </p:txBody>
      </p:sp>
    </p:spTree>
  </p:cSld>
  <p:clrMapOvr>
    <a:masterClrMapping/>
  </p:clrMapOvr>
  <p:transition spd="med">
    <p:fade/>
    <p:sndAc>
      <p:stSnd>
        <p:snd r:embed="rId2" name="camera.wav"/>
      </p:stSnd>
    </p:sndAc>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7812" name="Rectangle 4"/>
          <p:cNvSpPr>
            <a:spLocks noGrp="1" noChangeArrowheads="1"/>
          </p:cNvSpPr>
          <p:nvPr>
            <p:ph type="body" idx="1"/>
          </p:nvPr>
        </p:nvSpPr>
        <p:spPr>
          <a:xfrm>
            <a:off x="250825" y="1268413"/>
            <a:ext cx="8642350" cy="647700"/>
          </a:xfrm>
        </p:spPr>
        <p:txBody>
          <a:bodyPr/>
          <a:lstStyle/>
          <a:p>
            <a:pPr marL="0" indent="0" algn="just">
              <a:buFont typeface="Wingdings" pitchFamily="2" charset="2"/>
              <a:buNone/>
              <a:defRPr/>
            </a:pPr>
            <a:r>
              <a:rPr lang="zh-CN" altLang="en-US" sz="2800">
                <a:solidFill>
                  <a:srgbClr val="99FF33"/>
                </a:solidFill>
                <a:latin typeface="楷体_GB2312" pitchFamily="49" charset="-122"/>
              </a:rPr>
              <a:t>关系模式</a:t>
            </a:r>
            <a:r>
              <a:rPr lang="en-US" altLang="zh-CN" sz="2800">
                <a:solidFill>
                  <a:srgbClr val="99FF33"/>
                </a:solidFill>
                <a:latin typeface="楷体_GB2312" pitchFamily="49" charset="-122"/>
              </a:rPr>
              <a:t>R(U,F)</a:t>
            </a:r>
            <a:r>
              <a:rPr lang="zh-CN" altLang="en-US" sz="2800">
                <a:solidFill>
                  <a:srgbClr val="99FF33"/>
                </a:solidFill>
                <a:latin typeface="楷体_GB2312" pitchFamily="49" charset="-122"/>
              </a:rPr>
              <a:t>中，</a:t>
            </a:r>
            <a:r>
              <a:rPr lang="en-US" altLang="zh-CN" sz="2800">
                <a:solidFill>
                  <a:srgbClr val="99FF33"/>
                </a:solidFill>
                <a:latin typeface="楷体_GB2312" pitchFamily="49" charset="-122"/>
              </a:rPr>
              <a:t>U={A,B,C,D,E}</a:t>
            </a:r>
            <a:r>
              <a:rPr lang="zh-CN" altLang="en-US" sz="2800">
                <a:solidFill>
                  <a:srgbClr val="99FF33"/>
                </a:solidFill>
                <a:latin typeface="楷体_GB2312" pitchFamily="49" charset="-122"/>
              </a:rPr>
              <a:t>，</a:t>
            </a:r>
            <a:r>
              <a:rPr lang="en-US" altLang="zh-CN" sz="2800">
                <a:solidFill>
                  <a:srgbClr val="99FF33"/>
                </a:solidFill>
                <a:latin typeface="楷体_GB2312" pitchFamily="49" charset="-122"/>
              </a:rPr>
              <a:t>F={</a:t>
            </a:r>
            <a:r>
              <a:rPr lang="en-US" altLang="zh-CN" sz="2800">
                <a:solidFill>
                  <a:srgbClr val="00FFFF"/>
                </a:solidFill>
                <a:latin typeface="楷体_GB2312" pitchFamily="49" charset="-122"/>
              </a:rPr>
              <a:t>A</a:t>
            </a:r>
            <a:r>
              <a:rPr lang="en-US" altLang="en-US" sz="2800">
                <a:solidFill>
                  <a:srgbClr val="00FFFF"/>
                </a:solidFill>
                <a:latin typeface="楷体_GB2312" pitchFamily="49" charset="-122"/>
              </a:rPr>
              <a:t>→</a:t>
            </a:r>
            <a:r>
              <a:rPr lang="en-US" altLang="zh-CN" sz="2800">
                <a:solidFill>
                  <a:srgbClr val="00FFFF"/>
                </a:solidFill>
                <a:latin typeface="楷体_GB2312" pitchFamily="49" charset="-122"/>
              </a:rPr>
              <a:t>D</a:t>
            </a:r>
            <a:r>
              <a:rPr lang="en-US" altLang="zh-CN" sz="2800">
                <a:solidFill>
                  <a:srgbClr val="99FF33"/>
                </a:solidFill>
                <a:latin typeface="楷体_GB2312" pitchFamily="49" charset="-122"/>
              </a:rPr>
              <a:t>,</a:t>
            </a:r>
            <a:r>
              <a:rPr lang="en-US" altLang="zh-CN" sz="2800">
                <a:solidFill>
                  <a:srgbClr val="00FFFF"/>
                </a:solidFill>
                <a:latin typeface="楷体_GB2312" pitchFamily="49" charset="-122"/>
              </a:rPr>
              <a:t>E</a:t>
            </a:r>
            <a:r>
              <a:rPr lang="en-US" altLang="en-US" sz="2800">
                <a:solidFill>
                  <a:srgbClr val="00FFFF"/>
                </a:solidFill>
                <a:latin typeface="楷体_GB2312" pitchFamily="49" charset="-122"/>
              </a:rPr>
              <a:t>→</a:t>
            </a:r>
            <a:r>
              <a:rPr lang="en-US" altLang="zh-CN" sz="2800">
                <a:solidFill>
                  <a:srgbClr val="00FFFF"/>
                </a:solidFill>
                <a:latin typeface="楷体_GB2312" pitchFamily="49" charset="-122"/>
              </a:rPr>
              <a:t>D</a:t>
            </a:r>
            <a:r>
              <a:rPr lang="en-US" altLang="zh-CN" sz="2800">
                <a:solidFill>
                  <a:srgbClr val="99FF33"/>
                </a:solidFill>
                <a:latin typeface="楷体_GB2312" pitchFamily="49" charset="-122"/>
              </a:rPr>
              <a:t>, </a:t>
            </a:r>
            <a:r>
              <a:rPr lang="en-US" altLang="zh-CN" sz="2800">
                <a:solidFill>
                  <a:srgbClr val="00FFFF"/>
                </a:solidFill>
                <a:latin typeface="楷体_GB2312" pitchFamily="49" charset="-122"/>
              </a:rPr>
              <a:t>D</a:t>
            </a:r>
            <a:r>
              <a:rPr lang="en-US" altLang="en-US" sz="2800">
                <a:solidFill>
                  <a:srgbClr val="00FFFF"/>
                </a:solidFill>
                <a:latin typeface="楷体_GB2312" pitchFamily="49" charset="-122"/>
              </a:rPr>
              <a:t>→</a:t>
            </a:r>
            <a:r>
              <a:rPr lang="en-US" altLang="zh-CN" sz="2800">
                <a:solidFill>
                  <a:srgbClr val="00FFFF"/>
                </a:solidFill>
                <a:latin typeface="楷体_GB2312" pitchFamily="49" charset="-122"/>
              </a:rPr>
              <a:t>B</a:t>
            </a:r>
            <a:r>
              <a:rPr lang="en-US" altLang="zh-CN" sz="2800">
                <a:solidFill>
                  <a:srgbClr val="99FF33"/>
                </a:solidFill>
                <a:latin typeface="楷体_GB2312" pitchFamily="49" charset="-122"/>
              </a:rPr>
              <a:t>,</a:t>
            </a:r>
            <a:r>
              <a:rPr lang="en-US" altLang="zh-CN" sz="2800">
                <a:solidFill>
                  <a:srgbClr val="00FFFF"/>
                </a:solidFill>
                <a:latin typeface="楷体_GB2312" pitchFamily="49" charset="-122"/>
              </a:rPr>
              <a:t>BC</a:t>
            </a:r>
            <a:r>
              <a:rPr lang="en-US" altLang="en-US" sz="2800">
                <a:solidFill>
                  <a:srgbClr val="00FFFF"/>
                </a:solidFill>
                <a:latin typeface="楷体_GB2312" pitchFamily="49" charset="-122"/>
              </a:rPr>
              <a:t>→D</a:t>
            </a:r>
            <a:r>
              <a:rPr lang="en-US" altLang="en-US" sz="2800">
                <a:solidFill>
                  <a:srgbClr val="99FF33"/>
                </a:solidFill>
                <a:latin typeface="楷体_GB2312" pitchFamily="49" charset="-122"/>
              </a:rPr>
              <a:t>,DC→</a:t>
            </a:r>
            <a:r>
              <a:rPr lang="en-US" altLang="zh-CN" sz="2800">
                <a:solidFill>
                  <a:srgbClr val="99FF33"/>
                </a:solidFill>
                <a:latin typeface="楷体_GB2312" pitchFamily="49" charset="-122"/>
              </a:rPr>
              <a:t>A}</a:t>
            </a:r>
            <a:r>
              <a:rPr lang="zh-CN" altLang="en-US" sz="2800">
                <a:solidFill>
                  <a:srgbClr val="99FF33"/>
                </a:solidFill>
                <a:latin typeface="楷体_GB2312" pitchFamily="49" charset="-122"/>
              </a:rPr>
              <a:t>，</a:t>
            </a:r>
            <a:r>
              <a:rPr lang="en-US" altLang="zh-CN" sz="2800" i="1">
                <a:solidFill>
                  <a:srgbClr val="99FF33"/>
                </a:solidFill>
                <a:latin typeface="楷体_GB2312" pitchFamily="49" charset="-122"/>
              </a:rPr>
              <a:t>ρ</a:t>
            </a:r>
            <a:r>
              <a:rPr lang="en-US" altLang="zh-CN" sz="2800">
                <a:solidFill>
                  <a:srgbClr val="99FF33"/>
                </a:solidFill>
                <a:latin typeface="楷体_GB2312" pitchFamily="49" charset="-122"/>
              </a:rPr>
              <a:t>={R</a:t>
            </a:r>
            <a:r>
              <a:rPr lang="en-US" altLang="zh-CN" sz="2800" baseline="-30000">
                <a:solidFill>
                  <a:srgbClr val="99FF33"/>
                </a:solidFill>
                <a:latin typeface="楷体_GB2312" pitchFamily="49" charset="-122"/>
              </a:rPr>
              <a:t>1</a:t>
            </a:r>
            <a:r>
              <a:rPr lang="en-US" altLang="zh-CN" sz="2800">
                <a:solidFill>
                  <a:srgbClr val="99FF33"/>
                </a:solidFill>
                <a:latin typeface="楷体_GB2312" pitchFamily="49" charset="-122"/>
              </a:rPr>
              <a:t>(A,B),R</a:t>
            </a:r>
            <a:r>
              <a:rPr lang="en-US" altLang="zh-CN" sz="2800" baseline="-30000">
                <a:solidFill>
                  <a:srgbClr val="99FF33"/>
                </a:solidFill>
                <a:latin typeface="楷体_GB2312" pitchFamily="49" charset="-122"/>
              </a:rPr>
              <a:t>2</a:t>
            </a:r>
            <a:r>
              <a:rPr lang="en-US" altLang="zh-CN" sz="2800">
                <a:solidFill>
                  <a:srgbClr val="99FF33"/>
                </a:solidFill>
                <a:latin typeface="楷体_GB2312" pitchFamily="49" charset="-122"/>
              </a:rPr>
              <a:t>(A,E),R</a:t>
            </a:r>
            <a:r>
              <a:rPr lang="en-US" altLang="zh-CN" sz="2800" baseline="-30000">
                <a:solidFill>
                  <a:srgbClr val="99FF33"/>
                </a:solidFill>
                <a:latin typeface="楷体_GB2312" pitchFamily="49" charset="-122"/>
              </a:rPr>
              <a:t>3</a:t>
            </a:r>
            <a:r>
              <a:rPr lang="en-US" altLang="zh-CN" sz="2800">
                <a:solidFill>
                  <a:srgbClr val="99FF33"/>
                </a:solidFill>
                <a:latin typeface="楷体_GB2312" pitchFamily="49" charset="-122"/>
              </a:rPr>
              <a:t>(C,E), R</a:t>
            </a:r>
            <a:r>
              <a:rPr lang="en-US" altLang="zh-CN" sz="2800" baseline="-30000">
                <a:solidFill>
                  <a:srgbClr val="99FF33"/>
                </a:solidFill>
                <a:latin typeface="楷体_GB2312" pitchFamily="49" charset="-122"/>
              </a:rPr>
              <a:t>4</a:t>
            </a:r>
            <a:r>
              <a:rPr lang="en-US" altLang="zh-CN" sz="2800">
                <a:solidFill>
                  <a:srgbClr val="99FF33"/>
                </a:solidFill>
                <a:latin typeface="楷体_GB2312" pitchFamily="49" charset="-122"/>
              </a:rPr>
              <a:t>(B,C,D),R</a:t>
            </a:r>
            <a:r>
              <a:rPr lang="en-US" altLang="zh-CN" sz="2800" baseline="-30000">
                <a:solidFill>
                  <a:srgbClr val="99FF33"/>
                </a:solidFill>
                <a:latin typeface="楷体_GB2312" pitchFamily="49" charset="-122"/>
              </a:rPr>
              <a:t>5</a:t>
            </a:r>
            <a:r>
              <a:rPr lang="en-US" altLang="zh-CN" sz="2800">
                <a:solidFill>
                  <a:srgbClr val="99FF33"/>
                </a:solidFill>
                <a:latin typeface="楷体_GB2312" pitchFamily="49" charset="-122"/>
              </a:rPr>
              <a:t>(A,C)}</a:t>
            </a:r>
            <a:r>
              <a:rPr lang="zh-CN" altLang="en-US" sz="2800">
                <a:solidFill>
                  <a:srgbClr val="99FF33"/>
                </a:solidFill>
                <a:latin typeface="楷体_GB2312" pitchFamily="49" charset="-122"/>
              </a:rPr>
              <a:t>，</a:t>
            </a:r>
            <a:r>
              <a:rPr lang="en-US" altLang="zh-CN" sz="2800" i="1">
                <a:solidFill>
                  <a:srgbClr val="99FF33"/>
                </a:solidFill>
                <a:latin typeface="楷体_GB2312" pitchFamily="49" charset="-122"/>
              </a:rPr>
              <a:t>ρ</a:t>
            </a:r>
            <a:r>
              <a:rPr lang="zh-CN" altLang="en-US" sz="2800">
                <a:solidFill>
                  <a:srgbClr val="99FF33"/>
                </a:solidFill>
                <a:latin typeface="楷体_GB2312" pitchFamily="49" charset="-122"/>
              </a:rPr>
              <a:t>是否是无损连接分解</a:t>
            </a:r>
            <a:r>
              <a:rPr lang="en-US" altLang="zh-CN" sz="2800">
                <a:solidFill>
                  <a:srgbClr val="99FF33"/>
                </a:solidFill>
                <a:latin typeface="楷体_GB2312" pitchFamily="49" charset="-122"/>
              </a:rPr>
              <a:t>?</a:t>
            </a:r>
            <a:endParaRPr lang="zh-CN" altLang="en-US" sz="2800">
              <a:solidFill>
                <a:srgbClr val="99FF33"/>
              </a:solidFill>
              <a:latin typeface="楷体_GB2312" pitchFamily="49" charset="-122"/>
            </a:endParaRPr>
          </a:p>
        </p:txBody>
      </p:sp>
      <p:graphicFrame>
        <p:nvGraphicFramePr>
          <p:cNvPr id="1527813" name="Group 5"/>
          <p:cNvGraphicFramePr>
            <a:graphicFrameLocks noGrp="1"/>
          </p:cNvGraphicFramePr>
          <p:nvPr/>
        </p:nvGraphicFramePr>
        <p:xfrm>
          <a:off x="971550" y="3429000"/>
          <a:ext cx="7112000" cy="2952751"/>
        </p:xfrm>
        <a:graphic>
          <a:graphicData uri="http://schemas.openxmlformats.org/drawingml/2006/table">
            <a:tbl>
              <a:tblPr/>
              <a:tblGrid>
                <a:gridCol w="360363">
                  <a:extLst>
                    <a:ext uri="{9D8B030D-6E8A-4147-A177-3AD203B41FA5}">
                      <a16:colId xmlns:a16="http://schemas.microsoft.com/office/drawing/2014/main" val="20000"/>
                    </a:ext>
                  </a:extLst>
                </a:gridCol>
                <a:gridCol w="1671637">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gridCol w="1016000">
                  <a:extLst>
                    <a:ext uri="{9D8B030D-6E8A-4147-A177-3AD203B41FA5}">
                      <a16:colId xmlns:a16="http://schemas.microsoft.com/office/drawing/2014/main" val="20006"/>
                    </a:ext>
                  </a:extLst>
                </a:gridCol>
              </a:tblGrid>
              <a:tr h="365839">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1</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2</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3</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4</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5</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6812">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C</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D</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E</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189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1</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{A,B}</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b13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b14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b15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6812">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2</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{A,E}</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b23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b14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6812">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3</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{C,E}</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b31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a3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99FF33"/>
                          </a:solidFill>
                          <a:effectLst>
                            <a:outerShdw blurRad="38100" dist="38100" dir="2700000" algn="tl">
                              <a:srgbClr val="000000"/>
                            </a:outerShdw>
                          </a:effectLst>
                          <a:latin typeface="楷体_GB2312" pitchFamily="49" charset="-122"/>
                          <a:ea typeface="楷体_GB2312" pitchFamily="49" charset="-122"/>
                        </a:rPr>
                        <a:t>b14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6812">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4</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{B,C,D}</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b41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a3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99FF33"/>
                          </a:solidFill>
                          <a:effectLst>
                            <a:outerShdw blurRad="38100" dist="38100" dir="2700000" algn="tl">
                              <a:srgbClr val="000000"/>
                            </a:outerShdw>
                          </a:effectLst>
                          <a:latin typeface="楷体_GB2312" pitchFamily="49" charset="-122"/>
                          <a:ea typeface="楷体_GB2312" pitchFamily="49" charset="-122"/>
                        </a:rPr>
                        <a:t>a4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b45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47771">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5</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{A,C}</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a3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99FF33"/>
                          </a:solidFill>
                          <a:effectLst>
                            <a:outerShdw blurRad="38100" dist="38100" dir="2700000" algn="tl">
                              <a:srgbClr val="000000"/>
                            </a:outerShdw>
                          </a:effectLst>
                          <a:latin typeface="楷体_GB2312" pitchFamily="49" charset="-122"/>
                          <a:ea typeface="楷体_GB2312" pitchFamily="49" charset="-122"/>
                        </a:rPr>
                        <a:t>b14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b55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527893" name="Rectangle 85"/>
          <p:cNvSpPr>
            <a:spLocks noChangeArrowheads="1"/>
          </p:cNvSpPr>
          <p:nvPr/>
        </p:nvSpPr>
        <p:spPr bwMode="auto">
          <a:xfrm>
            <a:off x="395288" y="2852738"/>
            <a:ext cx="8748712" cy="381000"/>
          </a:xfrm>
          <a:prstGeom prst="rect">
            <a:avLst/>
          </a:prstGeom>
          <a:noFill/>
          <a:ln w="12700" cap="sq">
            <a:noFill/>
            <a:miter lim="800000"/>
            <a:headEnd/>
            <a:tailEnd/>
          </a:ln>
          <a:effectLst/>
        </p:spPr>
        <p:txBody>
          <a:bodyPr lIns="0" tIns="0" rIns="0" bIns="0"/>
          <a:lstStyle/>
          <a:p>
            <a:pPr>
              <a:buSzTx/>
              <a:buFontTx/>
              <a:buNone/>
              <a:defRPr/>
            </a:pPr>
            <a:r>
              <a:rPr lang="en-US" altLang="zh-CN" sz="2800">
                <a:effectLst>
                  <a:outerShdw blurRad="38100" dist="38100" dir="2700000" algn="tl">
                    <a:srgbClr val="000000"/>
                  </a:outerShdw>
                </a:effectLst>
              </a:rPr>
              <a:t>5)</a:t>
            </a:r>
            <a:r>
              <a:rPr lang="zh-CN" altLang="en-US" sz="2800">
                <a:effectLst>
                  <a:outerShdw blurRad="38100" dist="38100" dir="2700000" algn="tl">
                    <a:srgbClr val="000000"/>
                  </a:outerShdw>
                </a:effectLst>
              </a:rPr>
              <a:t>找出所有</a:t>
            </a:r>
            <a:r>
              <a:rPr lang="en-US" altLang="zh-CN" sz="2800">
                <a:effectLst>
                  <a:outerShdw blurRad="38100" dist="38100" dir="2700000" algn="tl">
                    <a:srgbClr val="000000"/>
                  </a:outerShdw>
                </a:effectLst>
              </a:rPr>
              <a:t>BC</a:t>
            </a:r>
            <a:r>
              <a:rPr lang="zh-CN" altLang="en-US" sz="2800">
                <a:effectLst>
                  <a:outerShdw blurRad="38100" dist="38100" dir="2700000" algn="tl">
                    <a:srgbClr val="000000"/>
                  </a:outerShdw>
                </a:effectLst>
              </a:rPr>
              <a:t>相等而</a:t>
            </a:r>
            <a:r>
              <a:rPr lang="en-US" altLang="zh-CN" sz="2800">
                <a:effectLst>
                  <a:outerShdw blurRad="38100" dist="38100" dir="2700000" algn="tl">
                    <a:srgbClr val="000000"/>
                  </a:outerShdw>
                </a:effectLst>
              </a:rPr>
              <a:t>D</a:t>
            </a:r>
            <a:r>
              <a:rPr lang="zh-CN" altLang="en-US" sz="2800">
                <a:effectLst>
                  <a:outerShdw blurRad="38100" dist="38100" dir="2700000" algn="tl">
                    <a:srgbClr val="000000"/>
                  </a:outerShdw>
                </a:effectLst>
              </a:rPr>
              <a:t>不相等的行进行</a:t>
            </a:r>
            <a:r>
              <a:rPr lang="en-US" altLang="zh-CN" sz="2800">
                <a:effectLst>
                  <a:outerShdw blurRad="38100" dist="38100" dir="2700000" algn="tl">
                    <a:srgbClr val="000000"/>
                  </a:outerShdw>
                </a:effectLst>
              </a:rPr>
              <a:t>D</a:t>
            </a:r>
            <a:r>
              <a:rPr lang="zh-CN" altLang="en-US" sz="2800">
                <a:effectLst>
                  <a:outerShdw blurRad="38100" dist="38100" dir="2700000" algn="tl">
                    <a:srgbClr val="000000"/>
                  </a:outerShdw>
                </a:effectLst>
              </a:rPr>
              <a:t>的替换</a:t>
            </a:r>
          </a:p>
        </p:txBody>
      </p:sp>
      <p:sp>
        <p:nvSpPr>
          <p:cNvPr id="1527894" name="Line 86"/>
          <p:cNvSpPr>
            <a:spLocks noChangeShapeType="1"/>
          </p:cNvSpPr>
          <p:nvPr/>
        </p:nvSpPr>
        <p:spPr bwMode="auto">
          <a:xfrm>
            <a:off x="7019925" y="1557338"/>
            <a:ext cx="720725" cy="0"/>
          </a:xfrm>
          <a:prstGeom prst="line">
            <a:avLst/>
          </a:prstGeom>
          <a:noFill/>
          <a:ln w="28575" cap="sq">
            <a:solidFill>
              <a:srgbClr val="FF0000"/>
            </a:solidFill>
            <a:round/>
            <a:headEnd/>
            <a:tailEnd/>
          </a:ln>
          <a:effectLst/>
        </p:spPr>
        <p:txBody>
          <a:bodyPr lIns="0" tIns="0" rIns="0" bIns="0"/>
          <a:lstStyle/>
          <a:p>
            <a:pPr>
              <a:defRPr/>
            </a:pPr>
            <a:endParaRPr lang="zh-CN" altLang="en-US"/>
          </a:p>
        </p:txBody>
      </p:sp>
      <p:sp>
        <p:nvSpPr>
          <p:cNvPr id="1527895" name="Line 87"/>
          <p:cNvSpPr>
            <a:spLocks noChangeShapeType="1"/>
          </p:cNvSpPr>
          <p:nvPr/>
        </p:nvSpPr>
        <p:spPr bwMode="auto">
          <a:xfrm>
            <a:off x="7956550" y="1557338"/>
            <a:ext cx="720725" cy="0"/>
          </a:xfrm>
          <a:prstGeom prst="line">
            <a:avLst/>
          </a:prstGeom>
          <a:noFill/>
          <a:ln w="28575" cap="sq">
            <a:solidFill>
              <a:srgbClr val="FF0000"/>
            </a:solidFill>
            <a:round/>
            <a:headEnd/>
            <a:tailEnd/>
          </a:ln>
          <a:effectLst/>
        </p:spPr>
        <p:txBody>
          <a:bodyPr lIns="0" tIns="0" rIns="0" bIns="0"/>
          <a:lstStyle/>
          <a:p>
            <a:pPr>
              <a:defRPr/>
            </a:pPr>
            <a:endParaRPr lang="zh-CN" altLang="en-US"/>
          </a:p>
        </p:txBody>
      </p:sp>
      <p:sp>
        <p:nvSpPr>
          <p:cNvPr id="1527896" name="Line 88"/>
          <p:cNvSpPr>
            <a:spLocks noChangeShapeType="1"/>
          </p:cNvSpPr>
          <p:nvPr/>
        </p:nvSpPr>
        <p:spPr bwMode="auto">
          <a:xfrm>
            <a:off x="331788" y="1976438"/>
            <a:ext cx="720725" cy="0"/>
          </a:xfrm>
          <a:prstGeom prst="line">
            <a:avLst/>
          </a:prstGeom>
          <a:noFill/>
          <a:ln w="28575" cap="sq">
            <a:solidFill>
              <a:srgbClr val="FF0000"/>
            </a:solidFill>
            <a:round/>
            <a:headEnd/>
            <a:tailEnd/>
          </a:ln>
          <a:effectLst/>
        </p:spPr>
        <p:txBody>
          <a:bodyPr lIns="0" tIns="0" rIns="0" bIns="0"/>
          <a:lstStyle/>
          <a:p>
            <a:pPr>
              <a:defRPr/>
            </a:pPr>
            <a:endParaRPr lang="zh-CN" altLang="en-US"/>
          </a:p>
        </p:txBody>
      </p:sp>
      <p:sp>
        <p:nvSpPr>
          <p:cNvPr id="1527897" name="Oval 89"/>
          <p:cNvSpPr>
            <a:spLocks noChangeArrowheads="1"/>
          </p:cNvSpPr>
          <p:nvPr/>
        </p:nvSpPr>
        <p:spPr bwMode="auto">
          <a:xfrm>
            <a:off x="6831013" y="5629275"/>
            <a:ext cx="117475" cy="117475"/>
          </a:xfrm>
          <a:prstGeom prst="ellipse">
            <a:avLst/>
          </a:prstGeom>
          <a:solidFill>
            <a:srgbClr val="FF0000"/>
          </a:solidFill>
          <a:ln w="12700" cap="sq" algn="ctr">
            <a:solidFill>
              <a:srgbClr val="FF0000"/>
            </a:solidFill>
            <a:round/>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2" name="Rectangle 3"/>
          <p:cNvSpPr>
            <a:spLocks noGrp="1" noChangeArrowheads="1"/>
          </p:cNvSpPr>
          <p:nvPr>
            <p:ph type="title"/>
          </p:nvPr>
        </p:nvSpPr>
        <p:spPr>
          <a:xfrm>
            <a:off x="0" y="15305"/>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ea typeface="微软雅黑" pitchFamily="34" charset="-122"/>
              </a:rPr>
              <a:t>无损连接的测试算法</a:t>
            </a:r>
          </a:p>
        </p:txBody>
      </p:sp>
    </p:spTree>
  </p:cSld>
  <p:clrMapOvr>
    <a:masterClrMapping/>
  </p:clrMapOvr>
  <p:transition spd="med">
    <p:fade/>
    <p:sndAc>
      <p:stSnd>
        <p:snd r:embed="rId2" name="camera.wav"/>
      </p:stSnd>
    </p:sndAc>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8836" name="Rectangle 4"/>
          <p:cNvSpPr>
            <a:spLocks noGrp="1" noChangeArrowheads="1"/>
          </p:cNvSpPr>
          <p:nvPr>
            <p:ph type="body" idx="1"/>
          </p:nvPr>
        </p:nvSpPr>
        <p:spPr>
          <a:xfrm>
            <a:off x="250825" y="1268413"/>
            <a:ext cx="8642350" cy="647700"/>
          </a:xfrm>
        </p:spPr>
        <p:txBody>
          <a:bodyPr/>
          <a:lstStyle/>
          <a:p>
            <a:pPr marL="0" indent="0" algn="just">
              <a:buFont typeface="Wingdings" pitchFamily="2" charset="2"/>
              <a:buNone/>
              <a:defRPr/>
            </a:pPr>
            <a:r>
              <a:rPr lang="zh-CN" altLang="en-US" sz="2800">
                <a:solidFill>
                  <a:srgbClr val="99FF33"/>
                </a:solidFill>
                <a:latin typeface="楷体_GB2312" pitchFamily="49" charset="-122"/>
              </a:rPr>
              <a:t>关系模式</a:t>
            </a:r>
            <a:r>
              <a:rPr lang="en-US" altLang="zh-CN" sz="2800">
                <a:solidFill>
                  <a:srgbClr val="99FF33"/>
                </a:solidFill>
                <a:latin typeface="楷体_GB2312" pitchFamily="49" charset="-122"/>
              </a:rPr>
              <a:t>R(U,F)</a:t>
            </a:r>
            <a:r>
              <a:rPr lang="zh-CN" altLang="en-US" sz="2800">
                <a:solidFill>
                  <a:srgbClr val="99FF33"/>
                </a:solidFill>
                <a:latin typeface="楷体_GB2312" pitchFamily="49" charset="-122"/>
              </a:rPr>
              <a:t>中，</a:t>
            </a:r>
            <a:r>
              <a:rPr lang="en-US" altLang="zh-CN" sz="2800">
                <a:solidFill>
                  <a:srgbClr val="99FF33"/>
                </a:solidFill>
                <a:latin typeface="楷体_GB2312" pitchFamily="49" charset="-122"/>
              </a:rPr>
              <a:t>U={A,B,C,D,E}</a:t>
            </a:r>
            <a:r>
              <a:rPr lang="zh-CN" altLang="en-US" sz="2800">
                <a:solidFill>
                  <a:srgbClr val="99FF33"/>
                </a:solidFill>
                <a:latin typeface="楷体_GB2312" pitchFamily="49" charset="-122"/>
              </a:rPr>
              <a:t>，</a:t>
            </a:r>
            <a:r>
              <a:rPr lang="en-US" altLang="zh-CN" sz="2800">
                <a:solidFill>
                  <a:srgbClr val="99FF33"/>
                </a:solidFill>
                <a:latin typeface="楷体_GB2312" pitchFamily="49" charset="-122"/>
              </a:rPr>
              <a:t>F={</a:t>
            </a:r>
            <a:r>
              <a:rPr lang="en-US" altLang="zh-CN" sz="2800">
                <a:solidFill>
                  <a:srgbClr val="00FFFF"/>
                </a:solidFill>
                <a:latin typeface="楷体_GB2312" pitchFamily="49" charset="-122"/>
              </a:rPr>
              <a:t>A</a:t>
            </a:r>
            <a:r>
              <a:rPr lang="en-US" altLang="en-US" sz="2800">
                <a:solidFill>
                  <a:srgbClr val="00FFFF"/>
                </a:solidFill>
                <a:latin typeface="楷体_GB2312" pitchFamily="49" charset="-122"/>
              </a:rPr>
              <a:t>→</a:t>
            </a:r>
            <a:r>
              <a:rPr lang="en-US" altLang="zh-CN" sz="2800">
                <a:solidFill>
                  <a:srgbClr val="00FFFF"/>
                </a:solidFill>
                <a:latin typeface="楷体_GB2312" pitchFamily="49" charset="-122"/>
              </a:rPr>
              <a:t>D</a:t>
            </a:r>
            <a:r>
              <a:rPr lang="en-US" altLang="zh-CN" sz="2800">
                <a:solidFill>
                  <a:srgbClr val="99FF33"/>
                </a:solidFill>
                <a:latin typeface="楷体_GB2312" pitchFamily="49" charset="-122"/>
              </a:rPr>
              <a:t>,</a:t>
            </a:r>
            <a:r>
              <a:rPr lang="en-US" altLang="zh-CN" sz="2800">
                <a:solidFill>
                  <a:srgbClr val="00FFFF"/>
                </a:solidFill>
                <a:latin typeface="楷体_GB2312" pitchFamily="49" charset="-122"/>
              </a:rPr>
              <a:t>E</a:t>
            </a:r>
            <a:r>
              <a:rPr lang="en-US" altLang="en-US" sz="2800">
                <a:solidFill>
                  <a:srgbClr val="00FFFF"/>
                </a:solidFill>
                <a:latin typeface="楷体_GB2312" pitchFamily="49" charset="-122"/>
              </a:rPr>
              <a:t>→</a:t>
            </a:r>
            <a:r>
              <a:rPr lang="en-US" altLang="zh-CN" sz="2800">
                <a:solidFill>
                  <a:srgbClr val="00FFFF"/>
                </a:solidFill>
                <a:latin typeface="楷体_GB2312" pitchFamily="49" charset="-122"/>
              </a:rPr>
              <a:t>D</a:t>
            </a:r>
            <a:r>
              <a:rPr lang="en-US" altLang="zh-CN" sz="2800">
                <a:solidFill>
                  <a:srgbClr val="99FF33"/>
                </a:solidFill>
                <a:latin typeface="楷体_GB2312" pitchFamily="49" charset="-122"/>
              </a:rPr>
              <a:t>, </a:t>
            </a:r>
            <a:r>
              <a:rPr lang="en-US" altLang="zh-CN" sz="2800">
                <a:solidFill>
                  <a:srgbClr val="00FFFF"/>
                </a:solidFill>
                <a:latin typeface="楷体_GB2312" pitchFamily="49" charset="-122"/>
              </a:rPr>
              <a:t>D</a:t>
            </a:r>
            <a:r>
              <a:rPr lang="en-US" altLang="en-US" sz="2800">
                <a:solidFill>
                  <a:srgbClr val="00FFFF"/>
                </a:solidFill>
                <a:latin typeface="楷体_GB2312" pitchFamily="49" charset="-122"/>
              </a:rPr>
              <a:t>→</a:t>
            </a:r>
            <a:r>
              <a:rPr lang="en-US" altLang="zh-CN" sz="2800">
                <a:solidFill>
                  <a:srgbClr val="00FFFF"/>
                </a:solidFill>
                <a:latin typeface="楷体_GB2312" pitchFamily="49" charset="-122"/>
              </a:rPr>
              <a:t>B</a:t>
            </a:r>
            <a:r>
              <a:rPr lang="en-US" altLang="zh-CN" sz="2800">
                <a:solidFill>
                  <a:srgbClr val="99FF33"/>
                </a:solidFill>
                <a:latin typeface="楷体_GB2312" pitchFamily="49" charset="-122"/>
              </a:rPr>
              <a:t>,</a:t>
            </a:r>
            <a:r>
              <a:rPr lang="en-US" altLang="zh-CN" sz="2800">
                <a:solidFill>
                  <a:srgbClr val="00FFFF"/>
                </a:solidFill>
                <a:latin typeface="楷体_GB2312" pitchFamily="49" charset="-122"/>
              </a:rPr>
              <a:t>BC</a:t>
            </a:r>
            <a:r>
              <a:rPr lang="en-US" altLang="en-US" sz="2800">
                <a:solidFill>
                  <a:srgbClr val="00FFFF"/>
                </a:solidFill>
                <a:latin typeface="楷体_GB2312" pitchFamily="49" charset="-122"/>
              </a:rPr>
              <a:t>→D</a:t>
            </a:r>
            <a:r>
              <a:rPr lang="en-US" altLang="en-US" sz="2800">
                <a:solidFill>
                  <a:srgbClr val="99FF33"/>
                </a:solidFill>
                <a:latin typeface="楷体_GB2312" pitchFamily="49" charset="-122"/>
              </a:rPr>
              <a:t>,DC→</a:t>
            </a:r>
            <a:r>
              <a:rPr lang="en-US" altLang="zh-CN" sz="2800">
                <a:solidFill>
                  <a:srgbClr val="99FF33"/>
                </a:solidFill>
                <a:latin typeface="楷体_GB2312" pitchFamily="49" charset="-122"/>
              </a:rPr>
              <a:t>A}</a:t>
            </a:r>
            <a:r>
              <a:rPr lang="zh-CN" altLang="en-US" sz="2800">
                <a:solidFill>
                  <a:srgbClr val="99FF33"/>
                </a:solidFill>
                <a:latin typeface="楷体_GB2312" pitchFamily="49" charset="-122"/>
              </a:rPr>
              <a:t>，</a:t>
            </a:r>
            <a:r>
              <a:rPr lang="en-US" altLang="zh-CN" sz="2800" i="1">
                <a:solidFill>
                  <a:srgbClr val="99FF33"/>
                </a:solidFill>
                <a:latin typeface="楷体_GB2312" pitchFamily="49" charset="-122"/>
              </a:rPr>
              <a:t>ρ</a:t>
            </a:r>
            <a:r>
              <a:rPr lang="en-US" altLang="zh-CN" sz="2800">
                <a:solidFill>
                  <a:srgbClr val="99FF33"/>
                </a:solidFill>
                <a:latin typeface="楷体_GB2312" pitchFamily="49" charset="-122"/>
              </a:rPr>
              <a:t>={R</a:t>
            </a:r>
            <a:r>
              <a:rPr lang="en-US" altLang="zh-CN" sz="2800" baseline="-30000">
                <a:solidFill>
                  <a:srgbClr val="99FF33"/>
                </a:solidFill>
                <a:latin typeface="楷体_GB2312" pitchFamily="49" charset="-122"/>
              </a:rPr>
              <a:t>1</a:t>
            </a:r>
            <a:r>
              <a:rPr lang="en-US" altLang="zh-CN" sz="2800">
                <a:solidFill>
                  <a:srgbClr val="99FF33"/>
                </a:solidFill>
                <a:latin typeface="楷体_GB2312" pitchFamily="49" charset="-122"/>
              </a:rPr>
              <a:t>(A,B),R</a:t>
            </a:r>
            <a:r>
              <a:rPr lang="en-US" altLang="zh-CN" sz="2800" baseline="-30000">
                <a:solidFill>
                  <a:srgbClr val="99FF33"/>
                </a:solidFill>
                <a:latin typeface="楷体_GB2312" pitchFamily="49" charset="-122"/>
              </a:rPr>
              <a:t>2</a:t>
            </a:r>
            <a:r>
              <a:rPr lang="en-US" altLang="zh-CN" sz="2800">
                <a:solidFill>
                  <a:srgbClr val="99FF33"/>
                </a:solidFill>
                <a:latin typeface="楷体_GB2312" pitchFamily="49" charset="-122"/>
              </a:rPr>
              <a:t>(A,E),R</a:t>
            </a:r>
            <a:r>
              <a:rPr lang="en-US" altLang="zh-CN" sz="2800" baseline="-30000">
                <a:solidFill>
                  <a:srgbClr val="99FF33"/>
                </a:solidFill>
                <a:latin typeface="楷体_GB2312" pitchFamily="49" charset="-122"/>
              </a:rPr>
              <a:t>3</a:t>
            </a:r>
            <a:r>
              <a:rPr lang="en-US" altLang="zh-CN" sz="2800">
                <a:solidFill>
                  <a:srgbClr val="99FF33"/>
                </a:solidFill>
                <a:latin typeface="楷体_GB2312" pitchFamily="49" charset="-122"/>
              </a:rPr>
              <a:t>(C,E), R</a:t>
            </a:r>
            <a:r>
              <a:rPr lang="en-US" altLang="zh-CN" sz="2800" baseline="-30000">
                <a:solidFill>
                  <a:srgbClr val="99FF33"/>
                </a:solidFill>
                <a:latin typeface="楷体_GB2312" pitchFamily="49" charset="-122"/>
              </a:rPr>
              <a:t>4</a:t>
            </a:r>
            <a:r>
              <a:rPr lang="en-US" altLang="zh-CN" sz="2800">
                <a:solidFill>
                  <a:srgbClr val="99FF33"/>
                </a:solidFill>
                <a:latin typeface="楷体_GB2312" pitchFamily="49" charset="-122"/>
              </a:rPr>
              <a:t>(B,C,D),R</a:t>
            </a:r>
            <a:r>
              <a:rPr lang="en-US" altLang="zh-CN" sz="2800" baseline="-30000">
                <a:solidFill>
                  <a:srgbClr val="99FF33"/>
                </a:solidFill>
                <a:latin typeface="楷体_GB2312" pitchFamily="49" charset="-122"/>
              </a:rPr>
              <a:t>5</a:t>
            </a:r>
            <a:r>
              <a:rPr lang="en-US" altLang="zh-CN" sz="2800">
                <a:solidFill>
                  <a:srgbClr val="99FF33"/>
                </a:solidFill>
                <a:latin typeface="楷体_GB2312" pitchFamily="49" charset="-122"/>
              </a:rPr>
              <a:t>(A,C)}</a:t>
            </a:r>
            <a:r>
              <a:rPr lang="zh-CN" altLang="en-US" sz="2800">
                <a:solidFill>
                  <a:srgbClr val="99FF33"/>
                </a:solidFill>
                <a:latin typeface="楷体_GB2312" pitchFamily="49" charset="-122"/>
              </a:rPr>
              <a:t>，</a:t>
            </a:r>
            <a:r>
              <a:rPr lang="en-US" altLang="zh-CN" sz="2800" i="1">
                <a:solidFill>
                  <a:srgbClr val="99FF33"/>
                </a:solidFill>
                <a:latin typeface="楷体_GB2312" pitchFamily="49" charset="-122"/>
              </a:rPr>
              <a:t>ρ</a:t>
            </a:r>
            <a:r>
              <a:rPr lang="zh-CN" altLang="en-US" sz="2800">
                <a:solidFill>
                  <a:srgbClr val="99FF33"/>
                </a:solidFill>
                <a:latin typeface="楷体_GB2312" pitchFamily="49" charset="-122"/>
              </a:rPr>
              <a:t>是否是无损连接分解</a:t>
            </a:r>
            <a:r>
              <a:rPr lang="en-US" altLang="zh-CN" sz="2800">
                <a:solidFill>
                  <a:srgbClr val="99FF33"/>
                </a:solidFill>
                <a:latin typeface="楷体_GB2312" pitchFamily="49" charset="-122"/>
              </a:rPr>
              <a:t>?</a:t>
            </a:r>
            <a:endParaRPr lang="zh-CN" altLang="en-US" sz="2800">
              <a:solidFill>
                <a:srgbClr val="99FF33"/>
              </a:solidFill>
              <a:latin typeface="楷体_GB2312" pitchFamily="49" charset="-122"/>
            </a:endParaRPr>
          </a:p>
        </p:txBody>
      </p:sp>
      <p:graphicFrame>
        <p:nvGraphicFramePr>
          <p:cNvPr id="1528837" name="Group 5"/>
          <p:cNvGraphicFramePr>
            <a:graphicFrameLocks noGrp="1"/>
          </p:cNvGraphicFramePr>
          <p:nvPr/>
        </p:nvGraphicFramePr>
        <p:xfrm>
          <a:off x="971550" y="3429000"/>
          <a:ext cx="7112000" cy="2952751"/>
        </p:xfrm>
        <a:graphic>
          <a:graphicData uri="http://schemas.openxmlformats.org/drawingml/2006/table">
            <a:tbl>
              <a:tblPr/>
              <a:tblGrid>
                <a:gridCol w="360363">
                  <a:extLst>
                    <a:ext uri="{9D8B030D-6E8A-4147-A177-3AD203B41FA5}">
                      <a16:colId xmlns:a16="http://schemas.microsoft.com/office/drawing/2014/main" val="20000"/>
                    </a:ext>
                  </a:extLst>
                </a:gridCol>
                <a:gridCol w="1671637">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gridCol w="1016000">
                  <a:extLst>
                    <a:ext uri="{9D8B030D-6E8A-4147-A177-3AD203B41FA5}">
                      <a16:colId xmlns:a16="http://schemas.microsoft.com/office/drawing/2014/main" val="20006"/>
                    </a:ext>
                  </a:extLst>
                </a:gridCol>
              </a:tblGrid>
              <a:tr h="365839">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1</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2</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3</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4</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5</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6812">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C</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D</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E</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189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1</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{A,B}</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b13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b14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b15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6812">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2</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{A,E}</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b23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b14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6812">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3</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{C,E}</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b31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a3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99FF33"/>
                          </a:solidFill>
                          <a:effectLst>
                            <a:outerShdw blurRad="38100" dist="38100" dir="2700000" algn="tl">
                              <a:srgbClr val="000000"/>
                            </a:outerShdw>
                          </a:effectLst>
                          <a:latin typeface="楷体_GB2312" pitchFamily="49" charset="-122"/>
                          <a:ea typeface="楷体_GB2312" pitchFamily="49" charset="-122"/>
                        </a:rPr>
                        <a:t>a4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6812">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4</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{B,C,D}</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b41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a3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99FF33"/>
                          </a:solidFill>
                          <a:effectLst>
                            <a:outerShdw blurRad="38100" dist="38100" dir="2700000" algn="tl">
                              <a:srgbClr val="000000"/>
                            </a:outerShdw>
                          </a:effectLst>
                          <a:latin typeface="楷体_GB2312" pitchFamily="49" charset="-122"/>
                          <a:ea typeface="楷体_GB2312" pitchFamily="49" charset="-122"/>
                        </a:rPr>
                        <a:t>a4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b45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47771">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5</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{A,C}</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a3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99FF33"/>
                          </a:solidFill>
                          <a:effectLst>
                            <a:outerShdw blurRad="38100" dist="38100" dir="2700000" algn="tl">
                              <a:srgbClr val="000000"/>
                            </a:outerShdw>
                          </a:effectLst>
                          <a:latin typeface="楷体_GB2312" pitchFamily="49" charset="-122"/>
                          <a:ea typeface="楷体_GB2312" pitchFamily="49" charset="-122"/>
                        </a:rPr>
                        <a:t>a4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b55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528917" name="Rectangle 85"/>
          <p:cNvSpPr>
            <a:spLocks noChangeArrowheads="1"/>
          </p:cNvSpPr>
          <p:nvPr/>
        </p:nvSpPr>
        <p:spPr bwMode="auto">
          <a:xfrm>
            <a:off x="395288" y="2852738"/>
            <a:ext cx="8748712" cy="381000"/>
          </a:xfrm>
          <a:prstGeom prst="rect">
            <a:avLst/>
          </a:prstGeom>
          <a:noFill/>
          <a:ln w="12700" cap="sq">
            <a:noFill/>
            <a:miter lim="800000"/>
            <a:headEnd/>
            <a:tailEnd/>
          </a:ln>
          <a:effectLst/>
        </p:spPr>
        <p:txBody>
          <a:bodyPr lIns="0" tIns="0" rIns="0" bIns="0"/>
          <a:lstStyle/>
          <a:p>
            <a:pPr>
              <a:buSzTx/>
              <a:buFontTx/>
              <a:buNone/>
              <a:defRPr/>
            </a:pPr>
            <a:r>
              <a:rPr lang="en-US" altLang="zh-CN" sz="2800">
                <a:effectLst>
                  <a:outerShdw blurRad="38100" dist="38100" dir="2700000" algn="tl">
                    <a:srgbClr val="000000"/>
                  </a:outerShdw>
                </a:effectLst>
              </a:rPr>
              <a:t>5)</a:t>
            </a:r>
            <a:r>
              <a:rPr lang="zh-CN" altLang="en-US" sz="2800">
                <a:effectLst>
                  <a:outerShdw blurRad="38100" dist="38100" dir="2700000" algn="tl">
                    <a:srgbClr val="000000"/>
                  </a:outerShdw>
                </a:effectLst>
              </a:rPr>
              <a:t>第</a:t>
            </a:r>
            <a:r>
              <a:rPr lang="en-US" altLang="zh-CN" sz="2800">
                <a:effectLst>
                  <a:outerShdw blurRad="38100" dist="38100" dir="2700000" algn="tl">
                    <a:srgbClr val="000000"/>
                  </a:outerShdw>
                </a:effectLst>
              </a:rPr>
              <a:t>4</a:t>
            </a:r>
            <a:r>
              <a:rPr lang="zh-CN" altLang="en-US" sz="2800">
                <a:effectLst>
                  <a:outerShdw blurRad="38100" dist="38100" dir="2700000" algn="tl">
                    <a:srgbClr val="000000"/>
                  </a:outerShdw>
                </a:effectLst>
              </a:rPr>
              <a:t>次修改后的结果如下表</a:t>
            </a:r>
          </a:p>
        </p:txBody>
      </p:sp>
      <p:sp>
        <p:nvSpPr>
          <p:cNvPr id="1528918" name="Line 86"/>
          <p:cNvSpPr>
            <a:spLocks noChangeShapeType="1"/>
          </p:cNvSpPr>
          <p:nvPr/>
        </p:nvSpPr>
        <p:spPr bwMode="auto">
          <a:xfrm>
            <a:off x="7019925" y="1557338"/>
            <a:ext cx="720725" cy="0"/>
          </a:xfrm>
          <a:prstGeom prst="line">
            <a:avLst/>
          </a:prstGeom>
          <a:noFill/>
          <a:ln w="28575" cap="sq">
            <a:solidFill>
              <a:srgbClr val="FF0000"/>
            </a:solidFill>
            <a:round/>
            <a:headEnd/>
            <a:tailEnd/>
          </a:ln>
          <a:effectLst/>
        </p:spPr>
        <p:txBody>
          <a:bodyPr lIns="0" tIns="0" rIns="0" bIns="0"/>
          <a:lstStyle/>
          <a:p>
            <a:pPr>
              <a:defRPr/>
            </a:pPr>
            <a:endParaRPr lang="zh-CN" altLang="en-US"/>
          </a:p>
        </p:txBody>
      </p:sp>
      <p:sp>
        <p:nvSpPr>
          <p:cNvPr id="1528919" name="Line 87"/>
          <p:cNvSpPr>
            <a:spLocks noChangeShapeType="1"/>
          </p:cNvSpPr>
          <p:nvPr/>
        </p:nvSpPr>
        <p:spPr bwMode="auto">
          <a:xfrm>
            <a:off x="7956550" y="1557338"/>
            <a:ext cx="720725" cy="0"/>
          </a:xfrm>
          <a:prstGeom prst="line">
            <a:avLst/>
          </a:prstGeom>
          <a:noFill/>
          <a:ln w="28575" cap="sq">
            <a:solidFill>
              <a:srgbClr val="FF0000"/>
            </a:solidFill>
            <a:round/>
            <a:headEnd/>
            <a:tailEnd/>
          </a:ln>
          <a:effectLst/>
        </p:spPr>
        <p:txBody>
          <a:bodyPr lIns="0" tIns="0" rIns="0" bIns="0"/>
          <a:lstStyle/>
          <a:p>
            <a:pPr>
              <a:defRPr/>
            </a:pPr>
            <a:endParaRPr lang="zh-CN" altLang="en-US"/>
          </a:p>
        </p:txBody>
      </p:sp>
      <p:sp>
        <p:nvSpPr>
          <p:cNvPr id="1528920" name="Line 88"/>
          <p:cNvSpPr>
            <a:spLocks noChangeShapeType="1"/>
          </p:cNvSpPr>
          <p:nvPr/>
        </p:nvSpPr>
        <p:spPr bwMode="auto">
          <a:xfrm>
            <a:off x="331788" y="1976438"/>
            <a:ext cx="720725" cy="0"/>
          </a:xfrm>
          <a:prstGeom prst="line">
            <a:avLst/>
          </a:prstGeom>
          <a:noFill/>
          <a:ln w="28575" cap="sq">
            <a:solidFill>
              <a:srgbClr val="FF0000"/>
            </a:solidFill>
            <a:round/>
            <a:headEnd/>
            <a:tailEnd/>
          </a:ln>
          <a:effectLst/>
        </p:spPr>
        <p:txBody>
          <a:bodyPr lIns="0" tIns="0" rIns="0" bIns="0"/>
          <a:lstStyle/>
          <a:p>
            <a:pPr>
              <a:defRPr/>
            </a:pPr>
            <a:endParaRPr lang="zh-CN" altLang="en-US"/>
          </a:p>
        </p:txBody>
      </p:sp>
      <p:sp>
        <p:nvSpPr>
          <p:cNvPr id="11" name="Rectangle 3"/>
          <p:cNvSpPr>
            <a:spLocks noGrp="1" noChangeArrowheads="1"/>
          </p:cNvSpPr>
          <p:nvPr>
            <p:ph type="title"/>
          </p:nvPr>
        </p:nvSpPr>
        <p:spPr>
          <a:xfrm>
            <a:off x="0" y="15305"/>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ea typeface="微软雅黑" pitchFamily="34" charset="-122"/>
              </a:rPr>
              <a:t>无损连接的测试算法</a:t>
            </a:r>
          </a:p>
        </p:txBody>
      </p:sp>
    </p:spTree>
  </p:cSld>
  <p:clrMapOvr>
    <a:masterClrMapping/>
  </p:clrMapOvr>
  <p:transition spd="med">
    <p:fade/>
    <p:sndAc>
      <p:stSnd>
        <p:snd r:embed="rId2" name="camera.wav"/>
      </p:stSnd>
    </p:sndAc>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9860" name="Rectangle 4"/>
          <p:cNvSpPr>
            <a:spLocks noGrp="1" noChangeArrowheads="1"/>
          </p:cNvSpPr>
          <p:nvPr>
            <p:ph type="body" idx="1"/>
          </p:nvPr>
        </p:nvSpPr>
        <p:spPr>
          <a:xfrm>
            <a:off x="250825" y="1268413"/>
            <a:ext cx="8642350" cy="647700"/>
          </a:xfrm>
        </p:spPr>
        <p:txBody>
          <a:bodyPr/>
          <a:lstStyle/>
          <a:p>
            <a:pPr marL="0" indent="0" algn="just">
              <a:buFont typeface="Wingdings" pitchFamily="2" charset="2"/>
              <a:buNone/>
              <a:defRPr/>
            </a:pPr>
            <a:r>
              <a:rPr lang="zh-CN" altLang="en-US" sz="2800">
                <a:solidFill>
                  <a:srgbClr val="99FF33"/>
                </a:solidFill>
                <a:latin typeface="楷体_GB2312" pitchFamily="49" charset="-122"/>
              </a:rPr>
              <a:t>关系模式</a:t>
            </a:r>
            <a:r>
              <a:rPr lang="en-US" altLang="zh-CN" sz="2800">
                <a:solidFill>
                  <a:srgbClr val="99FF33"/>
                </a:solidFill>
                <a:latin typeface="楷体_GB2312" pitchFamily="49" charset="-122"/>
              </a:rPr>
              <a:t>R(U,F)</a:t>
            </a:r>
            <a:r>
              <a:rPr lang="zh-CN" altLang="en-US" sz="2800">
                <a:solidFill>
                  <a:srgbClr val="99FF33"/>
                </a:solidFill>
                <a:latin typeface="楷体_GB2312" pitchFamily="49" charset="-122"/>
              </a:rPr>
              <a:t>中，</a:t>
            </a:r>
            <a:r>
              <a:rPr lang="en-US" altLang="zh-CN" sz="2800">
                <a:solidFill>
                  <a:srgbClr val="99FF33"/>
                </a:solidFill>
                <a:latin typeface="楷体_GB2312" pitchFamily="49" charset="-122"/>
              </a:rPr>
              <a:t>U={A,B,C,D,E}</a:t>
            </a:r>
            <a:r>
              <a:rPr lang="zh-CN" altLang="en-US" sz="2800">
                <a:solidFill>
                  <a:srgbClr val="99FF33"/>
                </a:solidFill>
                <a:latin typeface="楷体_GB2312" pitchFamily="49" charset="-122"/>
              </a:rPr>
              <a:t>，</a:t>
            </a:r>
            <a:r>
              <a:rPr lang="en-US" altLang="zh-CN" sz="2800">
                <a:solidFill>
                  <a:srgbClr val="99FF33"/>
                </a:solidFill>
                <a:latin typeface="楷体_GB2312" pitchFamily="49" charset="-122"/>
              </a:rPr>
              <a:t>F={</a:t>
            </a:r>
            <a:r>
              <a:rPr lang="en-US" altLang="zh-CN" sz="2800">
                <a:solidFill>
                  <a:srgbClr val="00FFFF"/>
                </a:solidFill>
                <a:latin typeface="楷体_GB2312" pitchFamily="49" charset="-122"/>
              </a:rPr>
              <a:t>A</a:t>
            </a:r>
            <a:r>
              <a:rPr lang="en-US" altLang="en-US" sz="2800">
                <a:solidFill>
                  <a:srgbClr val="00FFFF"/>
                </a:solidFill>
                <a:latin typeface="楷体_GB2312" pitchFamily="49" charset="-122"/>
              </a:rPr>
              <a:t>→</a:t>
            </a:r>
            <a:r>
              <a:rPr lang="en-US" altLang="zh-CN" sz="2800">
                <a:solidFill>
                  <a:srgbClr val="00FFFF"/>
                </a:solidFill>
                <a:latin typeface="楷体_GB2312" pitchFamily="49" charset="-122"/>
              </a:rPr>
              <a:t>D</a:t>
            </a:r>
            <a:r>
              <a:rPr lang="en-US" altLang="zh-CN" sz="2800">
                <a:solidFill>
                  <a:srgbClr val="99FF33"/>
                </a:solidFill>
                <a:latin typeface="楷体_GB2312" pitchFamily="49" charset="-122"/>
              </a:rPr>
              <a:t>,</a:t>
            </a:r>
            <a:r>
              <a:rPr lang="en-US" altLang="zh-CN" sz="2800">
                <a:solidFill>
                  <a:srgbClr val="00FFFF"/>
                </a:solidFill>
                <a:latin typeface="楷体_GB2312" pitchFamily="49" charset="-122"/>
              </a:rPr>
              <a:t>E</a:t>
            </a:r>
            <a:r>
              <a:rPr lang="en-US" altLang="en-US" sz="2800">
                <a:solidFill>
                  <a:srgbClr val="00FFFF"/>
                </a:solidFill>
                <a:latin typeface="楷体_GB2312" pitchFamily="49" charset="-122"/>
              </a:rPr>
              <a:t>→</a:t>
            </a:r>
            <a:r>
              <a:rPr lang="en-US" altLang="zh-CN" sz="2800">
                <a:solidFill>
                  <a:srgbClr val="00FFFF"/>
                </a:solidFill>
                <a:latin typeface="楷体_GB2312" pitchFamily="49" charset="-122"/>
              </a:rPr>
              <a:t>D</a:t>
            </a:r>
            <a:r>
              <a:rPr lang="en-US" altLang="zh-CN" sz="2800">
                <a:solidFill>
                  <a:srgbClr val="99FF33"/>
                </a:solidFill>
                <a:latin typeface="楷体_GB2312" pitchFamily="49" charset="-122"/>
              </a:rPr>
              <a:t>, </a:t>
            </a:r>
            <a:r>
              <a:rPr lang="en-US" altLang="zh-CN" sz="2800">
                <a:solidFill>
                  <a:srgbClr val="00FFFF"/>
                </a:solidFill>
                <a:latin typeface="楷体_GB2312" pitchFamily="49" charset="-122"/>
              </a:rPr>
              <a:t>D</a:t>
            </a:r>
            <a:r>
              <a:rPr lang="en-US" altLang="en-US" sz="2800">
                <a:solidFill>
                  <a:srgbClr val="00FFFF"/>
                </a:solidFill>
                <a:latin typeface="楷体_GB2312" pitchFamily="49" charset="-122"/>
              </a:rPr>
              <a:t>→</a:t>
            </a:r>
            <a:r>
              <a:rPr lang="en-US" altLang="zh-CN" sz="2800">
                <a:solidFill>
                  <a:srgbClr val="00FFFF"/>
                </a:solidFill>
                <a:latin typeface="楷体_GB2312" pitchFamily="49" charset="-122"/>
              </a:rPr>
              <a:t>B</a:t>
            </a:r>
            <a:r>
              <a:rPr lang="en-US" altLang="zh-CN" sz="2800">
                <a:solidFill>
                  <a:srgbClr val="99FF33"/>
                </a:solidFill>
                <a:latin typeface="楷体_GB2312" pitchFamily="49" charset="-122"/>
              </a:rPr>
              <a:t>,</a:t>
            </a:r>
            <a:r>
              <a:rPr lang="en-US" altLang="zh-CN" sz="2800">
                <a:solidFill>
                  <a:srgbClr val="00FFFF"/>
                </a:solidFill>
                <a:latin typeface="楷体_GB2312" pitchFamily="49" charset="-122"/>
              </a:rPr>
              <a:t>BC</a:t>
            </a:r>
            <a:r>
              <a:rPr lang="en-US" altLang="en-US" sz="2800">
                <a:solidFill>
                  <a:srgbClr val="00FFFF"/>
                </a:solidFill>
                <a:latin typeface="楷体_GB2312" pitchFamily="49" charset="-122"/>
              </a:rPr>
              <a:t>→D</a:t>
            </a:r>
            <a:r>
              <a:rPr lang="en-US" altLang="en-US" sz="2800">
                <a:solidFill>
                  <a:srgbClr val="99FF33"/>
                </a:solidFill>
                <a:latin typeface="楷体_GB2312" pitchFamily="49" charset="-122"/>
              </a:rPr>
              <a:t>,</a:t>
            </a:r>
            <a:r>
              <a:rPr lang="en-US" altLang="en-US" sz="2800">
                <a:solidFill>
                  <a:srgbClr val="00FFFF"/>
                </a:solidFill>
                <a:latin typeface="楷体_GB2312" pitchFamily="49" charset="-122"/>
              </a:rPr>
              <a:t>DC→</a:t>
            </a:r>
            <a:r>
              <a:rPr lang="en-US" altLang="zh-CN" sz="2800">
                <a:solidFill>
                  <a:srgbClr val="00FFFF"/>
                </a:solidFill>
                <a:latin typeface="楷体_GB2312" pitchFamily="49" charset="-122"/>
              </a:rPr>
              <a:t>A</a:t>
            </a:r>
            <a:r>
              <a:rPr lang="en-US" altLang="zh-CN" sz="2800">
                <a:solidFill>
                  <a:srgbClr val="99FF33"/>
                </a:solidFill>
                <a:latin typeface="楷体_GB2312" pitchFamily="49" charset="-122"/>
              </a:rPr>
              <a:t>}</a:t>
            </a:r>
            <a:r>
              <a:rPr lang="zh-CN" altLang="en-US" sz="2800">
                <a:solidFill>
                  <a:srgbClr val="99FF33"/>
                </a:solidFill>
                <a:latin typeface="楷体_GB2312" pitchFamily="49" charset="-122"/>
              </a:rPr>
              <a:t>，</a:t>
            </a:r>
            <a:r>
              <a:rPr lang="en-US" altLang="zh-CN" sz="2800" i="1">
                <a:solidFill>
                  <a:srgbClr val="99FF33"/>
                </a:solidFill>
                <a:latin typeface="楷体_GB2312" pitchFamily="49" charset="-122"/>
              </a:rPr>
              <a:t>ρ</a:t>
            </a:r>
            <a:r>
              <a:rPr lang="en-US" altLang="zh-CN" sz="2800">
                <a:solidFill>
                  <a:srgbClr val="99FF33"/>
                </a:solidFill>
                <a:latin typeface="楷体_GB2312" pitchFamily="49" charset="-122"/>
              </a:rPr>
              <a:t>={R</a:t>
            </a:r>
            <a:r>
              <a:rPr lang="en-US" altLang="zh-CN" sz="2800" baseline="-30000">
                <a:solidFill>
                  <a:srgbClr val="99FF33"/>
                </a:solidFill>
                <a:latin typeface="楷体_GB2312" pitchFamily="49" charset="-122"/>
              </a:rPr>
              <a:t>1</a:t>
            </a:r>
            <a:r>
              <a:rPr lang="en-US" altLang="zh-CN" sz="2800">
                <a:solidFill>
                  <a:srgbClr val="99FF33"/>
                </a:solidFill>
                <a:latin typeface="楷体_GB2312" pitchFamily="49" charset="-122"/>
              </a:rPr>
              <a:t>(A,B),R</a:t>
            </a:r>
            <a:r>
              <a:rPr lang="en-US" altLang="zh-CN" sz="2800" baseline="-30000">
                <a:solidFill>
                  <a:srgbClr val="99FF33"/>
                </a:solidFill>
                <a:latin typeface="楷体_GB2312" pitchFamily="49" charset="-122"/>
              </a:rPr>
              <a:t>2</a:t>
            </a:r>
            <a:r>
              <a:rPr lang="en-US" altLang="zh-CN" sz="2800">
                <a:solidFill>
                  <a:srgbClr val="99FF33"/>
                </a:solidFill>
                <a:latin typeface="楷体_GB2312" pitchFamily="49" charset="-122"/>
              </a:rPr>
              <a:t>(A,E),R</a:t>
            </a:r>
            <a:r>
              <a:rPr lang="en-US" altLang="zh-CN" sz="2800" baseline="-30000">
                <a:solidFill>
                  <a:srgbClr val="99FF33"/>
                </a:solidFill>
                <a:latin typeface="楷体_GB2312" pitchFamily="49" charset="-122"/>
              </a:rPr>
              <a:t>3</a:t>
            </a:r>
            <a:r>
              <a:rPr lang="en-US" altLang="zh-CN" sz="2800">
                <a:solidFill>
                  <a:srgbClr val="99FF33"/>
                </a:solidFill>
                <a:latin typeface="楷体_GB2312" pitchFamily="49" charset="-122"/>
              </a:rPr>
              <a:t>(C,E), R</a:t>
            </a:r>
            <a:r>
              <a:rPr lang="en-US" altLang="zh-CN" sz="2800" baseline="-30000">
                <a:solidFill>
                  <a:srgbClr val="99FF33"/>
                </a:solidFill>
                <a:latin typeface="楷体_GB2312" pitchFamily="49" charset="-122"/>
              </a:rPr>
              <a:t>4</a:t>
            </a:r>
            <a:r>
              <a:rPr lang="en-US" altLang="zh-CN" sz="2800">
                <a:solidFill>
                  <a:srgbClr val="99FF33"/>
                </a:solidFill>
                <a:latin typeface="楷体_GB2312" pitchFamily="49" charset="-122"/>
              </a:rPr>
              <a:t>(B,C,D),R</a:t>
            </a:r>
            <a:r>
              <a:rPr lang="en-US" altLang="zh-CN" sz="2800" baseline="-30000">
                <a:solidFill>
                  <a:srgbClr val="99FF33"/>
                </a:solidFill>
                <a:latin typeface="楷体_GB2312" pitchFamily="49" charset="-122"/>
              </a:rPr>
              <a:t>5</a:t>
            </a:r>
            <a:r>
              <a:rPr lang="en-US" altLang="zh-CN" sz="2800">
                <a:solidFill>
                  <a:srgbClr val="99FF33"/>
                </a:solidFill>
                <a:latin typeface="楷体_GB2312" pitchFamily="49" charset="-122"/>
              </a:rPr>
              <a:t>(A,C)}</a:t>
            </a:r>
            <a:r>
              <a:rPr lang="zh-CN" altLang="en-US" sz="2800">
                <a:solidFill>
                  <a:srgbClr val="99FF33"/>
                </a:solidFill>
                <a:latin typeface="楷体_GB2312" pitchFamily="49" charset="-122"/>
              </a:rPr>
              <a:t>，</a:t>
            </a:r>
            <a:r>
              <a:rPr lang="en-US" altLang="zh-CN" sz="2800" i="1">
                <a:solidFill>
                  <a:srgbClr val="99FF33"/>
                </a:solidFill>
                <a:latin typeface="楷体_GB2312" pitchFamily="49" charset="-122"/>
              </a:rPr>
              <a:t>ρ</a:t>
            </a:r>
            <a:r>
              <a:rPr lang="zh-CN" altLang="en-US" sz="2800">
                <a:solidFill>
                  <a:srgbClr val="99FF33"/>
                </a:solidFill>
                <a:latin typeface="楷体_GB2312" pitchFamily="49" charset="-122"/>
              </a:rPr>
              <a:t>是否是无损连接分解</a:t>
            </a:r>
            <a:r>
              <a:rPr lang="en-US" altLang="zh-CN" sz="2800">
                <a:solidFill>
                  <a:srgbClr val="99FF33"/>
                </a:solidFill>
                <a:latin typeface="楷体_GB2312" pitchFamily="49" charset="-122"/>
              </a:rPr>
              <a:t>?</a:t>
            </a:r>
            <a:endParaRPr lang="zh-CN" altLang="en-US" sz="2800">
              <a:solidFill>
                <a:srgbClr val="99FF33"/>
              </a:solidFill>
              <a:latin typeface="楷体_GB2312" pitchFamily="49" charset="-122"/>
            </a:endParaRPr>
          </a:p>
        </p:txBody>
      </p:sp>
      <p:graphicFrame>
        <p:nvGraphicFramePr>
          <p:cNvPr id="1529861" name="Group 5"/>
          <p:cNvGraphicFramePr>
            <a:graphicFrameLocks noGrp="1"/>
          </p:cNvGraphicFramePr>
          <p:nvPr/>
        </p:nvGraphicFramePr>
        <p:xfrm>
          <a:off x="971550" y="3429000"/>
          <a:ext cx="7112000" cy="2952751"/>
        </p:xfrm>
        <a:graphic>
          <a:graphicData uri="http://schemas.openxmlformats.org/drawingml/2006/table">
            <a:tbl>
              <a:tblPr/>
              <a:tblGrid>
                <a:gridCol w="360363">
                  <a:extLst>
                    <a:ext uri="{9D8B030D-6E8A-4147-A177-3AD203B41FA5}">
                      <a16:colId xmlns:a16="http://schemas.microsoft.com/office/drawing/2014/main" val="20000"/>
                    </a:ext>
                  </a:extLst>
                </a:gridCol>
                <a:gridCol w="1671637">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gridCol w="1016000">
                  <a:extLst>
                    <a:ext uri="{9D8B030D-6E8A-4147-A177-3AD203B41FA5}">
                      <a16:colId xmlns:a16="http://schemas.microsoft.com/office/drawing/2014/main" val="20006"/>
                    </a:ext>
                  </a:extLst>
                </a:gridCol>
              </a:tblGrid>
              <a:tr h="365839">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1</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2</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3</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4</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5</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6812">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C</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D</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E</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189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1</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{A,B}</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b13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b14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b15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6812">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2</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{A,E}</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b23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b14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6812">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3</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{C,E}</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b31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a3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a4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6812">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4</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{B,C,D}</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b41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a3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a4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b45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47771">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5</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{A,C}</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a3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a4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b55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529941" name="Rectangle 85"/>
          <p:cNvSpPr>
            <a:spLocks noChangeArrowheads="1"/>
          </p:cNvSpPr>
          <p:nvPr/>
        </p:nvSpPr>
        <p:spPr bwMode="auto">
          <a:xfrm>
            <a:off x="395288" y="2852738"/>
            <a:ext cx="8748712" cy="381000"/>
          </a:xfrm>
          <a:prstGeom prst="rect">
            <a:avLst/>
          </a:prstGeom>
          <a:noFill/>
          <a:ln w="12700" cap="sq">
            <a:noFill/>
            <a:miter lim="800000"/>
            <a:headEnd/>
            <a:tailEnd/>
          </a:ln>
          <a:effectLst/>
        </p:spPr>
        <p:txBody>
          <a:bodyPr lIns="0" tIns="0" rIns="0" bIns="0"/>
          <a:lstStyle/>
          <a:p>
            <a:pPr>
              <a:buSzTx/>
              <a:buFontTx/>
              <a:buNone/>
              <a:defRPr/>
            </a:pPr>
            <a:r>
              <a:rPr lang="en-US" altLang="zh-CN" sz="2800">
                <a:effectLst>
                  <a:outerShdw blurRad="38100" dist="38100" dir="2700000" algn="tl">
                    <a:srgbClr val="000000"/>
                  </a:outerShdw>
                </a:effectLst>
              </a:rPr>
              <a:t>6)</a:t>
            </a:r>
            <a:r>
              <a:rPr lang="zh-CN" altLang="en-US" sz="2800">
                <a:effectLst>
                  <a:outerShdw blurRad="38100" dist="38100" dir="2700000" algn="tl">
                    <a:srgbClr val="000000"/>
                  </a:outerShdw>
                </a:effectLst>
              </a:rPr>
              <a:t>找出所有</a:t>
            </a:r>
            <a:r>
              <a:rPr lang="en-US" altLang="zh-CN" sz="2800">
                <a:effectLst>
                  <a:outerShdw blurRad="38100" dist="38100" dir="2700000" algn="tl">
                    <a:srgbClr val="000000"/>
                  </a:outerShdw>
                </a:effectLst>
              </a:rPr>
              <a:t>DC</a:t>
            </a:r>
            <a:r>
              <a:rPr lang="zh-CN" altLang="en-US" sz="2800">
                <a:effectLst>
                  <a:outerShdw blurRad="38100" dist="38100" dir="2700000" algn="tl">
                    <a:srgbClr val="000000"/>
                  </a:outerShdw>
                </a:effectLst>
              </a:rPr>
              <a:t>相等而</a:t>
            </a:r>
            <a:r>
              <a:rPr lang="en-US" altLang="zh-CN" sz="2800">
                <a:effectLst>
                  <a:outerShdw blurRad="38100" dist="38100" dir="2700000" algn="tl">
                    <a:srgbClr val="000000"/>
                  </a:outerShdw>
                </a:effectLst>
              </a:rPr>
              <a:t>A</a:t>
            </a:r>
            <a:r>
              <a:rPr lang="zh-CN" altLang="en-US" sz="2800">
                <a:effectLst>
                  <a:outerShdw blurRad="38100" dist="38100" dir="2700000" algn="tl">
                    <a:srgbClr val="000000"/>
                  </a:outerShdw>
                </a:effectLst>
              </a:rPr>
              <a:t>不相等的行进行</a:t>
            </a:r>
            <a:r>
              <a:rPr lang="en-US" altLang="zh-CN" sz="2800">
                <a:effectLst>
                  <a:outerShdw blurRad="38100" dist="38100" dir="2700000" algn="tl">
                    <a:srgbClr val="000000"/>
                  </a:outerShdw>
                </a:effectLst>
              </a:rPr>
              <a:t>D</a:t>
            </a:r>
            <a:r>
              <a:rPr lang="zh-CN" altLang="en-US" sz="2800">
                <a:effectLst>
                  <a:outerShdw blurRad="38100" dist="38100" dir="2700000" algn="tl">
                    <a:srgbClr val="000000"/>
                  </a:outerShdw>
                </a:effectLst>
              </a:rPr>
              <a:t>的替换</a:t>
            </a:r>
          </a:p>
        </p:txBody>
      </p:sp>
      <p:sp>
        <p:nvSpPr>
          <p:cNvPr id="1529942" name="Line 86"/>
          <p:cNvSpPr>
            <a:spLocks noChangeShapeType="1"/>
          </p:cNvSpPr>
          <p:nvPr/>
        </p:nvSpPr>
        <p:spPr bwMode="auto">
          <a:xfrm>
            <a:off x="7019925" y="1557338"/>
            <a:ext cx="720725" cy="0"/>
          </a:xfrm>
          <a:prstGeom prst="line">
            <a:avLst/>
          </a:prstGeom>
          <a:noFill/>
          <a:ln w="28575" cap="sq">
            <a:solidFill>
              <a:srgbClr val="FF0000"/>
            </a:solidFill>
            <a:round/>
            <a:headEnd/>
            <a:tailEnd/>
          </a:ln>
          <a:effectLst/>
        </p:spPr>
        <p:txBody>
          <a:bodyPr lIns="0" tIns="0" rIns="0" bIns="0"/>
          <a:lstStyle/>
          <a:p>
            <a:pPr>
              <a:defRPr/>
            </a:pPr>
            <a:endParaRPr lang="zh-CN" altLang="en-US"/>
          </a:p>
        </p:txBody>
      </p:sp>
      <p:sp>
        <p:nvSpPr>
          <p:cNvPr id="1529943" name="Line 87"/>
          <p:cNvSpPr>
            <a:spLocks noChangeShapeType="1"/>
          </p:cNvSpPr>
          <p:nvPr/>
        </p:nvSpPr>
        <p:spPr bwMode="auto">
          <a:xfrm>
            <a:off x="7956550" y="1557338"/>
            <a:ext cx="720725" cy="0"/>
          </a:xfrm>
          <a:prstGeom prst="line">
            <a:avLst/>
          </a:prstGeom>
          <a:noFill/>
          <a:ln w="28575" cap="sq">
            <a:solidFill>
              <a:srgbClr val="FF0000"/>
            </a:solidFill>
            <a:round/>
            <a:headEnd/>
            <a:tailEnd/>
          </a:ln>
          <a:effectLst/>
        </p:spPr>
        <p:txBody>
          <a:bodyPr lIns="0" tIns="0" rIns="0" bIns="0"/>
          <a:lstStyle/>
          <a:p>
            <a:pPr>
              <a:defRPr/>
            </a:pPr>
            <a:endParaRPr lang="zh-CN" altLang="en-US"/>
          </a:p>
        </p:txBody>
      </p:sp>
      <p:sp>
        <p:nvSpPr>
          <p:cNvPr id="1529944" name="Line 88"/>
          <p:cNvSpPr>
            <a:spLocks noChangeShapeType="1"/>
          </p:cNvSpPr>
          <p:nvPr/>
        </p:nvSpPr>
        <p:spPr bwMode="auto">
          <a:xfrm>
            <a:off x="331788" y="1976438"/>
            <a:ext cx="720725" cy="0"/>
          </a:xfrm>
          <a:prstGeom prst="line">
            <a:avLst/>
          </a:prstGeom>
          <a:noFill/>
          <a:ln w="28575" cap="sq">
            <a:solidFill>
              <a:srgbClr val="FF0000"/>
            </a:solidFill>
            <a:round/>
            <a:headEnd/>
            <a:tailEnd/>
          </a:ln>
          <a:effectLst/>
        </p:spPr>
        <p:txBody>
          <a:bodyPr lIns="0" tIns="0" rIns="0" bIns="0"/>
          <a:lstStyle/>
          <a:p>
            <a:pPr>
              <a:defRPr/>
            </a:pPr>
            <a:endParaRPr lang="zh-CN" altLang="en-US"/>
          </a:p>
        </p:txBody>
      </p:sp>
      <p:sp>
        <p:nvSpPr>
          <p:cNvPr id="1529945" name="Line 89"/>
          <p:cNvSpPr>
            <a:spLocks noChangeShapeType="1"/>
          </p:cNvSpPr>
          <p:nvPr/>
        </p:nvSpPr>
        <p:spPr bwMode="auto">
          <a:xfrm>
            <a:off x="1331913" y="1976438"/>
            <a:ext cx="720725" cy="0"/>
          </a:xfrm>
          <a:prstGeom prst="line">
            <a:avLst/>
          </a:prstGeom>
          <a:noFill/>
          <a:ln w="28575" cap="sq">
            <a:solidFill>
              <a:srgbClr val="FF0000"/>
            </a:solidFill>
            <a:round/>
            <a:headEnd/>
            <a:tailEnd/>
          </a:ln>
          <a:effectLst/>
        </p:spPr>
        <p:txBody>
          <a:bodyPr lIns="0" tIns="0" rIns="0" bIns="0"/>
          <a:lstStyle/>
          <a:p>
            <a:pPr>
              <a:defRPr/>
            </a:pPr>
            <a:endParaRPr lang="zh-CN" altLang="en-US"/>
          </a:p>
        </p:txBody>
      </p:sp>
      <p:sp>
        <p:nvSpPr>
          <p:cNvPr id="1529946" name="Oval 90"/>
          <p:cNvSpPr>
            <a:spLocks noChangeArrowheads="1"/>
          </p:cNvSpPr>
          <p:nvPr/>
        </p:nvSpPr>
        <p:spPr bwMode="auto">
          <a:xfrm>
            <a:off x="3779838" y="6021388"/>
            <a:ext cx="117475" cy="117475"/>
          </a:xfrm>
          <a:prstGeom prst="ellipse">
            <a:avLst/>
          </a:prstGeom>
          <a:solidFill>
            <a:srgbClr val="FF0000"/>
          </a:solidFill>
          <a:ln w="12700" cap="sq" algn="ctr">
            <a:solidFill>
              <a:srgbClr val="FF0000"/>
            </a:solidFill>
            <a:round/>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3" name="Rectangle 3"/>
          <p:cNvSpPr>
            <a:spLocks noGrp="1" noChangeArrowheads="1"/>
          </p:cNvSpPr>
          <p:nvPr>
            <p:ph type="title"/>
          </p:nvPr>
        </p:nvSpPr>
        <p:spPr>
          <a:xfrm>
            <a:off x="0" y="15305"/>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ea typeface="微软雅黑" pitchFamily="34" charset="-122"/>
              </a:rPr>
              <a:t>无损连接的测试算法</a:t>
            </a:r>
          </a:p>
        </p:txBody>
      </p:sp>
    </p:spTree>
  </p:cSld>
  <p:clrMapOvr>
    <a:masterClrMapping/>
  </p:clrMapOvr>
  <p:transition spd="med">
    <p:fade/>
    <p:sndAc>
      <p:stSnd>
        <p:snd r:embed="rId2" name="camera.wav"/>
      </p:stSnd>
    </p:sndAc>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0884" name="Rectangle 4"/>
          <p:cNvSpPr>
            <a:spLocks noGrp="1" noChangeArrowheads="1"/>
          </p:cNvSpPr>
          <p:nvPr>
            <p:ph type="body" idx="1"/>
          </p:nvPr>
        </p:nvSpPr>
        <p:spPr>
          <a:xfrm>
            <a:off x="250825" y="1268413"/>
            <a:ext cx="8642350" cy="647700"/>
          </a:xfrm>
        </p:spPr>
        <p:txBody>
          <a:bodyPr/>
          <a:lstStyle/>
          <a:p>
            <a:pPr marL="0" indent="0" algn="just">
              <a:buFont typeface="Wingdings" pitchFamily="2" charset="2"/>
              <a:buNone/>
              <a:defRPr/>
            </a:pPr>
            <a:r>
              <a:rPr lang="zh-CN" altLang="en-US" sz="2800">
                <a:solidFill>
                  <a:srgbClr val="99FF33"/>
                </a:solidFill>
                <a:latin typeface="楷体_GB2312" pitchFamily="49" charset="-122"/>
              </a:rPr>
              <a:t>关系模式</a:t>
            </a:r>
            <a:r>
              <a:rPr lang="en-US" altLang="zh-CN" sz="2800">
                <a:solidFill>
                  <a:srgbClr val="99FF33"/>
                </a:solidFill>
                <a:latin typeface="楷体_GB2312" pitchFamily="49" charset="-122"/>
              </a:rPr>
              <a:t>R(U,F)</a:t>
            </a:r>
            <a:r>
              <a:rPr lang="zh-CN" altLang="en-US" sz="2800">
                <a:solidFill>
                  <a:srgbClr val="99FF33"/>
                </a:solidFill>
                <a:latin typeface="楷体_GB2312" pitchFamily="49" charset="-122"/>
              </a:rPr>
              <a:t>中，</a:t>
            </a:r>
            <a:r>
              <a:rPr lang="en-US" altLang="zh-CN" sz="2800">
                <a:solidFill>
                  <a:srgbClr val="99FF33"/>
                </a:solidFill>
                <a:latin typeface="楷体_GB2312" pitchFamily="49" charset="-122"/>
              </a:rPr>
              <a:t>U={A,B,C,D,E}</a:t>
            </a:r>
            <a:r>
              <a:rPr lang="zh-CN" altLang="en-US" sz="2800">
                <a:solidFill>
                  <a:srgbClr val="99FF33"/>
                </a:solidFill>
                <a:latin typeface="楷体_GB2312" pitchFamily="49" charset="-122"/>
              </a:rPr>
              <a:t>，</a:t>
            </a:r>
            <a:r>
              <a:rPr lang="en-US" altLang="zh-CN" sz="2800">
                <a:solidFill>
                  <a:srgbClr val="99FF33"/>
                </a:solidFill>
                <a:latin typeface="楷体_GB2312" pitchFamily="49" charset="-122"/>
              </a:rPr>
              <a:t>F={</a:t>
            </a:r>
            <a:r>
              <a:rPr lang="en-US" altLang="zh-CN" sz="2800">
                <a:solidFill>
                  <a:srgbClr val="00FFFF"/>
                </a:solidFill>
                <a:latin typeface="楷体_GB2312" pitchFamily="49" charset="-122"/>
              </a:rPr>
              <a:t>A</a:t>
            </a:r>
            <a:r>
              <a:rPr lang="en-US" altLang="en-US" sz="2800">
                <a:solidFill>
                  <a:srgbClr val="00FFFF"/>
                </a:solidFill>
                <a:latin typeface="楷体_GB2312" pitchFamily="49" charset="-122"/>
              </a:rPr>
              <a:t>→</a:t>
            </a:r>
            <a:r>
              <a:rPr lang="en-US" altLang="zh-CN" sz="2800">
                <a:solidFill>
                  <a:srgbClr val="00FFFF"/>
                </a:solidFill>
                <a:latin typeface="楷体_GB2312" pitchFamily="49" charset="-122"/>
              </a:rPr>
              <a:t>D</a:t>
            </a:r>
            <a:r>
              <a:rPr lang="en-US" altLang="zh-CN" sz="2800">
                <a:solidFill>
                  <a:srgbClr val="99FF33"/>
                </a:solidFill>
                <a:latin typeface="楷体_GB2312" pitchFamily="49" charset="-122"/>
              </a:rPr>
              <a:t>,</a:t>
            </a:r>
            <a:r>
              <a:rPr lang="en-US" altLang="zh-CN" sz="2800">
                <a:solidFill>
                  <a:srgbClr val="00FFFF"/>
                </a:solidFill>
                <a:latin typeface="楷体_GB2312" pitchFamily="49" charset="-122"/>
              </a:rPr>
              <a:t>E</a:t>
            </a:r>
            <a:r>
              <a:rPr lang="en-US" altLang="en-US" sz="2800">
                <a:solidFill>
                  <a:srgbClr val="00FFFF"/>
                </a:solidFill>
                <a:latin typeface="楷体_GB2312" pitchFamily="49" charset="-122"/>
              </a:rPr>
              <a:t>→</a:t>
            </a:r>
            <a:r>
              <a:rPr lang="en-US" altLang="zh-CN" sz="2800">
                <a:solidFill>
                  <a:srgbClr val="00FFFF"/>
                </a:solidFill>
                <a:latin typeface="楷体_GB2312" pitchFamily="49" charset="-122"/>
              </a:rPr>
              <a:t>D</a:t>
            </a:r>
            <a:r>
              <a:rPr lang="en-US" altLang="zh-CN" sz="2800">
                <a:solidFill>
                  <a:srgbClr val="99FF33"/>
                </a:solidFill>
                <a:latin typeface="楷体_GB2312" pitchFamily="49" charset="-122"/>
              </a:rPr>
              <a:t>, </a:t>
            </a:r>
            <a:r>
              <a:rPr lang="en-US" altLang="zh-CN" sz="2800">
                <a:solidFill>
                  <a:srgbClr val="00FFFF"/>
                </a:solidFill>
                <a:latin typeface="楷体_GB2312" pitchFamily="49" charset="-122"/>
              </a:rPr>
              <a:t>D</a:t>
            </a:r>
            <a:r>
              <a:rPr lang="en-US" altLang="en-US" sz="2800">
                <a:solidFill>
                  <a:srgbClr val="00FFFF"/>
                </a:solidFill>
                <a:latin typeface="楷体_GB2312" pitchFamily="49" charset="-122"/>
              </a:rPr>
              <a:t>→</a:t>
            </a:r>
            <a:r>
              <a:rPr lang="en-US" altLang="zh-CN" sz="2800">
                <a:solidFill>
                  <a:srgbClr val="00FFFF"/>
                </a:solidFill>
                <a:latin typeface="楷体_GB2312" pitchFamily="49" charset="-122"/>
              </a:rPr>
              <a:t>B</a:t>
            </a:r>
            <a:r>
              <a:rPr lang="en-US" altLang="zh-CN" sz="2800">
                <a:solidFill>
                  <a:srgbClr val="99FF33"/>
                </a:solidFill>
                <a:latin typeface="楷体_GB2312" pitchFamily="49" charset="-122"/>
              </a:rPr>
              <a:t>,</a:t>
            </a:r>
            <a:r>
              <a:rPr lang="en-US" altLang="zh-CN" sz="2800">
                <a:solidFill>
                  <a:srgbClr val="00FFFF"/>
                </a:solidFill>
                <a:latin typeface="楷体_GB2312" pitchFamily="49" charset="-122"/>
              </a:rPr>
              <a:t>BC</a:t>
            </a:r>
            <a:r>
              <a:rPr lang="en-US" altLang="en-US" sz="2800">
                <a:solidFill>
                  <a:srgbClr val="00FFFF"/>
                </a:solidFill>
                <a:latin typeface="楷体_GB2312" pitchFamily="49" charset="-122"/>
              </a:rPr>
              <a:t>→D</a:t>
            </a:r>
            <a:r>
              <a:rPr lang="en-US" altLang="en-US" sz="2800">
                <a:solidFill>
                  <a:srgbClr val="99FF33"/>
                </a:solidFill>
                <a:latin typeface="楷体_GB2312" pitchFamily="49" charset="-122"/>
              </a:rPr>
              <a:t>,</a:t>
            </a:r>
            <a:r>
              <a:rPr lang="en-US" altLang="en-US" sz="2800">
                <a:solidFill>
                  <a:srgbClr val="00FFFF"/>
                </a:solidFill>
                <a:latin typeface="楷体_GB2312" pitchFamily="49" charset="-122"/>
              </a:rPr>
              <a:t>DC→</a:t>
            </a:r>
            <a:r>
              <a:rPr lang="en-US" altLang="zh-CN" sz="2800">
                <a:solidFill>
                  <a:srgbClr val="00FFFF"/>
                </a:solidFill>
                <a:latin typeface="楷体_GB2312" pitchFamily="49" charset="-122"/>
              </a:rPr>
              <a:t>A</a:t>
            </a:r>
            <a:r>
              <a:rPr lang="en-US" altLang="zh-CN" sz="2800">
                <a:solidFill>
                  <a:srgbClr val="99FF33"/>
                </a:solidFill>
                <a:latin typeface="楷体_GB2312" pitchFamily="49" charset="-122"/>
              </a:rPr>
              <a:t>}</a:t>
            </a:r>
            <a:r>
              <a:rPr lang="zh-CN" altLang="en-US" sz="2800">
                <a:solidFill>
                  <a:srgbClr val="99FF33"/>
                </a:solidFill>
                <a:latin typeface="楷体_GB2312" pitchFamily="49" charset="-122"/>
              </a:rPr>
              <a:t>，</a:t>
            </a:r>
            <a:r>
              <a:rPr lang="en-US" altLang="zh-CN" sz="2800" i="1">
                <a:solidFill>
                  <a:srgbClr val="99FF33"/>
                </a:solidFill>
                <a:latin typeface="楷体_GB2312" pitchFamily="49" charset="-122"/>
              </a:rPr>
              <a:t>ρ</a:t>
            </a:r>
            <a:r>
              <a:rPr lang="en-US" altLang="zh-CN" sz="2800">
                <a:solidFill>
                  <a:srgbClr val="99FF33"/>
                </a:solidFill>
                <a:latin typeface="楷体_GB2312" pitchFamily="49" charset="-122"/>
              </a:rPr>
              <a:t>={R</a:t>
            </a:r>
            <a:r>
              <a:rPr lang="en-US" altLang="zh-CN" sz="2800" baseline="-30000">
                <a:solidFill>
                  <a:srgbClr val="99FF33"/>
                </a:solidFill>
                <a:latin typeface="楷体_GB2312" pitchFamily="49" charset="-122"/>
              </a:rPr>
              <a:t>1</a:t>
            </a:r>
            <a:r>
              <a:rPr lang="en-US" altLang="zh-CN" sz="2800">
                <a:solidFill>
                  <a:srgbClr val="99FF33"/>
                </a:solidFill>
                <a:latin typeface="楷体_GB2312" pitchFamily="49" charset="-122"/>
              </a:rPr>
              <a:t>(A,B),R</a:t>
            </a:r>
            <a:r>
              <a:rPr lang="en-US" altLang="zh-CN" sz="2800" baseline="-30000">
                <a:solidFill>
                  <a:srgbClr val="99FF33"/>
                </a:solidFill>
                <a:latin typeface="楷体_GB2312" pitchFamily="49" charset="-122"/>
              </a:rPr>
              <a:t>2</a:t>
            </a:r>
            <a:r>
              <a:rPr lang="en-US" altLang="zh-CN" sz="2800">
                <a:solidFill>
                  <a:srgbClr val="99FF33"/>
                </a:solidFill>
                <a:latin typeface="楷体_GB2312" pitchFamily="49" charset="-122"/>
              </a:rPr>
              <a:t>(A,E),R</a:t>
            </a:r>
            <a:r>
              <a:rPr lang="en-US" altLang="zh-CN" sz="2800" baseline="-30000">
                <a:solidFill>
                  <a:srgbClr val="99FF33"/>
                </a:solidFill>
                <a:latin typeface="楷体_GB2312" pitchFamily="49" charset="-122"/>
              </a:rPr>
              <a:t>3</a:t>
            </a:r>
            <a:r>
              <a:rPr lang="en-US" altLang="zh-CN" sz="2800">
                <a:solidFill>
                  <a:srgbClr val="99FF33"/>
                </a:solidFill>
                <a:latin typeface="楷体_GB2312" pitchFamily="49" charset="-122"/>
              </a:rPr>
              <a:t>(C,E), R</a:t>
            </a:r>
            <a:r>
              <a:rPr lang="en-US" altLang="zh-CN" sz="2800" baseline="-30000">
                <a:solidFill>
                  <a:srgbClr val="99FF33"/>
                </a:solidFill>
                <a:latin typeface="楷体_GB2312" pitchFamily="49" charset="-122"/>
              </a:rPr>
              <a:t>4</a:t>
            </a:r>
            <a:r>
              <a:rPr lang="en-US" altLang="zh-CN" sz="2800">
                <a:solidFill>
                  <a:srgbClr val="99FF33"/>
                </a:solidFill>
                <a:latin typeface="楷体_GB2312" pitchFamily="49" charset="-122"/>
              </a:rPr>
              <a:t>(B,C,D),R</a:t>
            </a:r>
            <a:r>
              <a:rPr lang="en-US" altLang="zh-CN" sz="2800" baseline="-30000">
                <a:solidFill>
                  <a:srgbClr val="99FF33"/>
                </a:solidFill>
                <a:latin typeface="楷体_GB2312" pitchFamily="49" charset="-122"/>
              </a:rPr>
              <a:t>5</a:t>
            </a:r>
            <a:r>
              <a:rPr lang="en-US" altLang="zh-CN" sz="2800">
                <a:solidFill>
                  <a:srgbClr val="99FF33"/>
                </a:solidFill>
                <a:latin typeface="楷体_GB2312" pitchFamily="49" charset="-122"/>
              </a:rPr>
              <a:t>(A,C)}</a:t>
            </a:r>
            <a:r>
              <a:rPr lang="zh-CN" altLang="en-US" sz="2800">
                <a:solidFill>
                  <a:srgbClr val="99FF33"/>
                </a:solidFill>
                <a:latin typeface="楷体_GB2312" pitchFamily="49" charset="-122"/>
              </a:rPr>
              <a:t>，</a:t>
            </a:r>
            <a:r>
              <a:rPr lang="en-US" altLang="zh-CN" sz="2800" i="1">
                <a:solidFill>
                  <a:srgbClr val="99FF33"/>
                </a:solidFill>
                <a:latin typeface="楷体_GB2312" pitchFamily="49" charset="-122"/>
              </a:rPr>
              <a:t>ρ</a:t>
            </a:r>
            <a:r>
              <a:rPr lang="zh-CN" altLang="en-US" sz="2800">
                <a:solidFill>
                  <a:srgbClr val="99FF33"/>
                </a:solidFill>
                <a:latin typeface="楷体_GB2312" pitchFamily="49" charset="-122"/>
              </a:rPr>
              <a:t>是否是无损连接分解</a:t>
            </a:r>
            <a:r>
              <a:rPr lang="en-US" altLang="zh-CN" sz="2800">
                <a:solidFill>
                  <a:srgbClr val="99FF33"/>
                </a:solidFill>
                <a:latin typeface="楷体_GB2312" pitchFamily="49" charset="-122"/>
              </a:rPr>
              <a:t>?</a:t>
            </a:r>
            <a:endParaRPr lang="zh-CN" altLang="en-US" sz="2800">
              <a:solidFill>
                <a:srgbClr val="99FF33"/>
              </a:solidFill>
              <a:latin typeface="楷体_GB2312" pitchFamily="49" charset="-122"/>
            </a:endParaRPr>
          </a:p>
        </p:txBody>
      </p:sp>
      <p:graphicFrame>
        <p:nvGraphicFramePr>
          <p:cNvPr id="1530885" name="Group 5"/>
          <p:cNvGraphicFramePr>
            <a:graphicFrameLocks noGrp="1"/>
          </p:cNvGraphicFramePr>
          <p:nvPr/>
        </p:nvGraphicFramePr>
        <p:xfrm>
          <a:off x="971550" y="3429000"/>
          <a:ext cx="7112000" cy="2952751"/>
        </p:xfrm>
        <a:graphic>
          <a:graphicData uri="http://schemas.openxmlformats.org/drawingml/2006/table">
            <a:tbl>
              <a:tblPr/>
              <a:tblGrid>
                <a:gridCol w="360363">
                  <a:extLst>
                    <a:ext uri="{9D8B030D-6E8A-4147-A177-3AD203B41FA5}">
                      <a16:colId xmlns:a16="http://schemas.microsoft.com/office/drawing/2014/main" val="20000"/>
                    </a:ext>
                  </a:extLst>
                </a:gridCol>
                <a:gridCol w="1671637">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gridCol w="1016000">
                  <a:extLst>
                    <a:ext uri="{9D8B030D-6E8A-4147-A177-3AD203B41FA5}">
                      <a16:colId xmlns:a16="http://schemas.microsoft.com/office/drawing/2014/main" val="20006"/>
                    </a:ext>
                  </a:extLst>
                </a:gridCol>
              </a:tblGrid>
              <a:tr h="365839">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1</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2</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3</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4</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5</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6812">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C</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D</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E</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189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1</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{A,B}</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b13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b14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b15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6812">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2</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{A,E}</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b23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b14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6812">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3</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{C,E}</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a1</a:t>
                      </a:r>
                      <a:endParaRPr kumimoji="0" lang="zh-CN" altLang="en-US"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a3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a4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6812">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4</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{B,C,D}</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a1</a:t>
                      </a:r>
                      <a:endParaRPr kumimoji="0" lang="zh-CN" altLang="en-US"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a3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a4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b45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47771">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5</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{A,C}</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a3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a4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b55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530965" name="Rectangle 85"/>
          <p:cNvSpPr>
            <a:spLocks noChangeArrowheads="1"/>
          </p:cNvSpPr>
          <p:nvPr/>
        </p:nvSpPr>
        <p:spPr bwMode="auto">
          <a:xfrm>
            <a:off x="395288" y="2852738"/>
            <a:ext cx="8748712" cy="381000"/>
          </a:xfrm>
          <a:prstGeom prst="rect">
            <a:avLst/>
          </a:prstGeom>
          <a:noFill/>
          <a:ln w="12700" cap="sq">
            <a:noFill/>
            <a:miter lim="800000"/>
            <a:headEnd/>
            <a:tailEnd/>
          </a:ln>
          <a:effectLst/>
        </p:spPr>
        <p:txBody>
          <a:bodyPr lIns="0" tIns="0" rIns="0" bIns="0"/>
          <a:lstStyle/>
          <a:p>
            <a:pPr>
              <a:buSzTx/>
              <a:buFontTx/>
              <a:buNone/>
              <a:defRPr/>
            </a:pPr>
            <a:r>
              <a:rPr lang="en-US" altLang="zh-CN" sz="2800">
                <a:effectLst>
                  <a:outerShdw blurRad="38100" dist="38100" dir="2700000" algn="tl">
                    <a:srgbClr val="000000"/>
                  </a:outerShdw>
                </a:effectLst>
              </a:rPr>
              <a:t>6)</a:t>
            </a:r>
            <a:r>
              <a:rPr lang="zh-CN" altLang="en-US" sz="2800">
                <a:effectLst>
                  <a:outerShdw blurRad="38100" dist="38100" dir="2700000" algn="tl">
                    <a:srgbClr val="000000"/>
                  </a:outerShdw>
                </a:effectLst>
              </a:rPr>
              <a:t>第</a:t>
            </a:r>
            <a:r>
              <a:rPr lang="en-US" altLang="zh-CN" sz="2800">
                <a:effectLst>
                  <a:outerShdw blurRad="38100" dist="38100" dir="2700000" algn="tl">
                    <a:srgbClr val="000000"/>
                  </a:outerShdw>
                </a:effectLst>
              </a:rPr>
              <a:t>5</a:t>
            </a:r>
            <a:r>
              <a:rPr lang="zh-CN" altLang="en-US" sz="2800">
                <a:effectLst>
                  <a:outerShdw blurRad="38100" dist="38100" dir="2700000" algn="tl">
                    <a:srgbClr val="000000"/>
                  </a:outerShdw>
                </a:effectLst>
              </a:rPr>
              <a:t>次修改后的结果如下表</a:t>
            </a:r>
          </a:p>
        </p:txBody>
      </p:sp>
      <p:sp>
        <p:nvSpPr>
          <p:cNvPr id="1530966" name="Line 86"/>
          <p:cNvSpPr>
            <a:spLocks noChangeShapeType="1"/>
          </p:cNvSpPr>
          <p:nvPr/>
        </p:nvSpPr>
        <p:spPr bwMode="auto">
          <a:xfrm>
            <a:off x="7019925" y="1557338"/>
            <a:ext cx="720725" cy="0"/>
          </a:xfrm>
          <a:prstGeom prst="line">
            <a:avLst/>
          </a:prstGeom>
          <a:noFill/>
          <a:ln w="28575" cap="sq">
            <a:solidFill>
              <a:srgbClr val="FF0000"/>
            </a:solidFill>
            <a:round/>
            <a:headEnd/>
            <a:tailEnd/>
          </a:ln>
          <a:effectLst/>
        </p:spPr>
        <p:txBody>
          <a:bodyPr lIns="0" tIns="0" rIns="0" bIns="0"/>
          <a:lstStyle/>
          <a:p>
            <a:pPr>
              <a:defRPr/>
            </a:pPr>
            <a:endParaRPr lang="zh-CN" altLang="en-US"/>
          </a:p>
        </p:txBody>
      </p:sp>
      <p:sp>
        <p:nvSpPr>
          <p:cNvPr id="1530967" name="Line 87"/>
          <p:cNvSpPr>
            <a:spLocks noChangeShapeType="1"/>
          </p:cNvSpPr>
          <p:nvPr/>
        </p:nvSpPr>
        <p:spPr bwMode="auto">
          <a:xfrm>
            <a:off x="7956550" y="1557338"/>
            <a:ext cx="720725" cy="0"/>
          </a:xfrm>
          <a:prstGeom prst="line">
            <a:avLst/>
          </a:prstGeom>
          <a:noFill/>
          <a:ln w="28575" cap="sq">
            <a:solidFill>
              <a:srgbClr val="FF0000"/>
            </a:solidFill>
            <a:round/>
            <a:headEnd/>
            <a:tailEnd/>
          </a:ln>
          <a:effectLst/>
        </p:spPr>
        <p:txBody>
          <a:bodyPr lIns="0" tIns="0" rIns="0" bIns="0"/>
          <a:lstStyle/>
          <a:p>
            <a:pPr>
              <a:defRPr/>
            </a:pPr>
            <a:endParaRPr lang="zh-CN" altLang="en-US"/>
          </a:p>
        </p:txBody>
      </p:sp>
      <p:sp>
        <p:nvSpPr>
          <p:cNvPr id="1530968" name="Line 88"/>
          <p:cNvSpPr>
            <a:spLocks noChangeShapeType="1"/>
          </p:cNvSpPr>
          <p:nvPr/>
        </p:nvSpPr>
        <p:spPr bwMode="auto">
          <a:xfrm>
            <a:off x="331788" y="1976438"/>
            <a:ext cx="720725" cy="0"/>
          </a:xfrm>
          <a:prstGeom prst="line">
            <a:avLst/>
          </a:prstGeom>
          <a:noFill/>
          <a:ln w="28575" cap="sq">
            <a:solidFill>
              <a:srgbClr val="FF0000"/>
            </a:solidFill>
            <a:round/>
            <a:headEnd/>
            <a:tailEnd/>
          </a:ln>
          <a:effectLst/>
        </p:spPr>
        <p:txBody>
          <a:bodyPr lIns="0" tIns="0" rIns="0" bIns="0"/>
          <a:lstStyle/>
          <a:p>
            <a:pPr>
              <a:defRPr/>
            </a:pPr>
            <a:endParaRPr lang="zh-CN" altLang="en-US"/>
          </a:p>
        </p:txBody>
      </p:sp>
      <p:sp>
        <p:nvSpPr>
          <p:cNvPr id="1530969" name="Line 89"/>
          <p:cNvSpPr>
            <a:spLocks noChangeShapeType="1"/>
          </p:cNvSpPr>
          <p:nvPr/>
        </p:nvSpPr>
        <p:spPr bwMode="auto">
          <a:xfrm>
            <a:off x="1331913" y="1976438"/>
            <a:ext cx="720725" cy="0"/>
          </a:xfrm>
          <a:prstGeom prst="line">
            <a:avLst/>
          </a:prstGeom>
          <a:noFill/>
          <a:ln w="28575" cap="sq">
            <a:solidFill>
              <a:srgbClr val="FF0000"/>
            </a:solidFill>
            <a:round/>
            <a:headEnd/>
            <a:tailEnd/>
          </a:ln>
          <a:effectLst/>
        </p:spPr>
        <p:txBody>
          <a:bodyPr lIns="0" tIns="0" rIns="0" bIns="0"/>
          <a:lstStyle/>
          <a:p>
            <a:pPr>
              <a:defRPr/>
            </a:pPr>
            <a:endParaRPr lang="zh-CN" altLang="en-US"/>
          </a:p>
        </p:txBody>
      </p:sp>
      <p:sp>
        <p:nvSpPr>
          <p:cNvPr id="12" name="Rectangle 3"/>
          <p:cNvSpPr>
            <a:spLocks noGrp="1" noChangeArrowheads="1"/>
          </p:cNvSpPr>
          <p:nvPr>
            <p:ph type="title"/>
          </p:nvPr>
        </p:nvSpPr>
        <p:spPr>
          <a:xfrm>
            <a:off x="0" y="15305"/>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ea typeface="微软雅黑" pitchFamily="34" charset="-122"/>
              </a:rPr>
              <a:t>无损连接的测试算法</a:t>
            </a:r>
          </a:p>
        </p:txBody>
      </p:sp>
    </p:spTree>
  </p:cSld>
  <p:clrMapOvr>
    <a:masterClrMapping/>
  </p:clrMapOvr>
  <p:transition spd="med">
    <p:fade/>
    <p:sndAc>
      <p:stSnd>
        <p:snd r:embed="rId2" name="camera.wav"/>
      </p:stSnd>
    </p:sndAc>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1908" name="Rectangle 4"/>
          <p:cNvSpPr>
            <a:spLocks noGrp="1" noChangeArrowheads="1"/>
          </p:cNvSpPr>
          <p:nvPr>
            <p:ph type="body" idx="1"/>
          </p:nvPr>
        </p:nvSpPr>
        <p:spPr>
          <a:xfrm>
            <a:off x="250825" y="1268413"/>
            <a:ext cx="8642350" cy="647700"/>
          </a:xfrm>
        </p:spPr>
        <p:txBody>
          <a:bodyPr/>
          <a:lstStyle/>
          <a:p>
            <a:pPr marL="0" indent="0" algn="just">
              <a:buFont typeface="Wingdings" pitchFamily="2" charset="2"/>
              <a:buNone/>
              <a:defRPr/>
            </a:pPr>
            <a:r>
              <a:rPr lang="zh-CN" altLang="en-US" sz="2800">
                <a:solidFill>
                  <a:srgbClr val="99FF33"/>
                </a:solidFill>
                <a:latin typeface="楷体_GB2312" pitchFamily="49" charset="-122"/>
              </a:rPr>
              <a:t>关系模式</a:t>
            </a:r>
            <a:r>
              <a:rPr lang="en-US" altLang="zh-CN" sz="2800">
                <a:solidFill>
                  <a:srgbClr val="99FF33"/>
                </a:solidFill>
                <a:latin typeface="楷体_GB2312" pitchFamily="49" charset="-122"/>
              </a:rPr>
              <a:t>R(U,F)</a:t>
            </a:r>
            <a:r>
              <a:rPr lang="zh-CN" altLang="en-US" sz="2800">
                <a:solidFill>
                  <a:srgbClr val="99FF33"/>
                </a:solidFill>
                <a:latin typeface="楷体_GB2312" pitchFamily="49" charset="-122"/>
              </a:rPr>
              <a:t>中，</a:t>
            </a:r>
            <a:r>
              <a:rPr lang="en-US" altLang="zh-CN" sz="2800">
                <a:solidFill>
                  <a:srgbClr val="99FF33"/>
                </a:solidFill>
                <a:latin typeface="楷体_GB2312" pitchFamily="49" charset="-122"/>
              </a:rPr>
              <a:t>U={A,B,C,D,E}</a:t>
            </a:r>
            <a:r>
              <a:rPr lang="zh-CN" altLang="en-US" sz="2800">
                <a:solidFill>
                  <a:srgbClr val="99FF33"/>
                </a:solidFill>
                <a:latin typeface="楷体_GB2312" pitchFamily="49" charset="-122"/>
              </a:rPr>
              <a:t>，</a:t>
            </a:r>
            <a:r>
              <a:rPr lang="en-US" altLang="zh-CN" sz="2800">
                <a:solidFill>
                  <a:srgbClr val="99FF33"/>
                </a:solidFill>
                <a:latin typeface="楷体_GB2312" pitchFamily="49" charset="-122"/>
              </a:rPr>
              <a:t>F={</a:t>
            </a:r>
            <a:r>
              <a:rPr lang="en-US" altLang="zh-CN" sz="2800">
                <a:solidFill>
                  <a:srgbClr val="00FFFF"/>
                </a:solidFill>
                <a:latin typeface="楷体_GB2312" pitchFamily="49" charset="-122"/>
              </a:rPr>
              <a:t>A</a:t>
            </a:r>
            <a:r>
              <a:rPr lang="en-US" altLang="en-US" sz="2800">
                <a:solidFill>
                  <a:srgbClr val="00FFFF"/>
                </a:solidFill>
                <a:latin typeface="楷体_GB2312" pitchFamily="49" charset="-122"/>
              </a:rPr>
              <a:t>→</a:t>
            </a:r>
            <a:r>
              <a:rPr lang="en-US" altLang="zh-CN" sz="2800">
                <a:solidFill>
                  <a:srgbClr val="00FFFF"/>
                </a:solidFill>
                <a:latin typeface="楷体_GB2312" pitchFamily="49" charset="-122"/>
              </a:rPr>
              <a:t>D</a:t>
            </a:r>
            <a:r>
              <a:rPr lang="en-US" altLang="zh-CN" sz="2800">
                <a:solidFill>
                  <a:srgbClr val="99FF33"/>
                </a:solidFill>
                <a:latin typeface="楷体_GB2312" pitchFamily="49" charset="-122"/>
              </a:rPr>
              <a:t>,</a:t>
            </a:r>
            <a:r>
              <a:rPr lang="en-US" altLang="zh-CN" sz="2800">
                <a:solidFill>
                  <a:srgbClr val="00FFFF"/>
                </a:solidFill>
                <a:latin typeface="楷体_GB2312" pitchFamily="49" charset="-122"/>
              </a:rPr>
              <a:t>E</a:t>
            </a:r>
            <a:r>
              <a:rPr lang="en-US" altLang="en-US" sz="2800">
                <a:solidFill>
                  <a:srgbClr val="00FFFF"/>
                </a:solidFill>
                <a:latin typeface="楷体_GB2312" pitchFamily="49" charset="-122"/>
              </a:rPr>
              <a:t>→</a:t>
            </a:r>
            <a:r>
              <a:rPr lang="en-US" altLang="zh-CN" sz="2800">
                <a:solidFill>
                  <a:srgbClr val="00FFFF"/>
                </a:solidFill>
                <a:latin typeface="楷体_GB2312" pitchFamily="49" charset="-122"/>
              </a:rPr>
              <a:t>D</a:t>
            </a:r>
            <a:r>
              <a:rPr lang="en-US" altLang="zh-CN" sz="2800">
                <a:solidFill>
                  <a:srgbClr val="99FF33"/>
                </a:solidFill>
                <a:latin typeface="楷体_GB2312" pitchFamily="49" charset="-122"/>
              </a:rPr>
              <a:t>, </a:t>
            </a:r>
            <a:r>
              <a:rPr lang="en-US" altLang="zh-CN" sz="2800">
                <a:solidFill>
                  <a:srgbClr val="00FFFF"/>
                </a:solidFill>
                <a:latin typeface="楷体_GB2312" pitchFamily="49" charset="-122"/>
              </a:rPr>
              <a:t>D</a:t>
            </a:r>
            <a:r>
              <a:rPr lang="en-US" altLang="en-US" sz="2800">
                <a:solidFill>
                  <a:srgbClr val="00FFFF"/>
                </a:solidFill>
                <a:latin typeface="楷体_GB2312" pitchFamily="49" charset="-122"/>
              </a:rPr>
              <a:t>→</a:t>
            </a:r>
            <a:r>
              <a:rPr lang="en-US" altLang="zh-CN" sz="2800">
                <a:solidFill>
                  <a:srgbClr val="00FFFF"/>
                </a:solidFill>
                <a:latin typeface="楷体_GB2312" pitchFamily="49" charset="-122"/>
              </a:rPr>
              <a:t>B</a:t>
            </a:r>
            <a:r>
              <a:rPr lang="en-US" altLang="zh-CN" sz="2800">
                <a:solidFill>
                  <a:srgbClr val="99FF33"/>
                </a:solidFill>
                <a:latin typeface="楷体_GB2312" pitchFamily="49" charset="-122"/>
              </a:rPr>
              <a:t>,</a:t>
            </a:r>
            <a:r>
              <a:rPr lang="en-US" altLang="zh-CN" sz="2800">
                <a:solidFill>
                  <a:srgbClr val="00FFFF"/>
                </a:solidFill>
                <a:latin typeface="楷体_GB2312" pitchFamily="49" charset="-122"/>
              </a:rPr>
              <a:t>BC</a:t>
            </a:r>
            <a:r>
              <a:rPr lang="en-US" altLang="en-US" sz="2800">
                <a:solidFill>
                  <a:srgbClr val="00FFFF"/>
                </a:solidFill>
                <a:latin typeface="楷体_GB2312" pitchFamily="49" charset="-122"/>
              </a:rPr>
              <a:t>→D</a:t>
            </a:r>
            <a:r>
              <a:rPr lang="en-US" altLang="en-US" sz="2800">
                <a:solidFill>
                  <a:srgbClr val="99FF33"/>
                </a:solidFill>
                <a:latin typeface="楷体_GB2312" pitchFamily="49" charset="-122"/>
              </a:rPr>
              <a:t>,</a:t>
            </a:r>
            <a:r>
              <a:rPr lang="en-US" altLang="en-US" sz="2800">
                <a:solidFill>
                  <a:srgbClr val="00FFFF"/>
                </a:solidFill>
                <a:latin typeface="楷体_GB2312" pitchFamily="49" charset="-122"/>
              </a:rPr>
              <a:t>DC→</a:t>
            </a:r>
            <a:r>
              <a:rPr lang="en-US" altLang="zh-CN" sz="2800">
                <a:solidFill>
                  <a:srgbClr val="00FFFF"/>
                </a:solidFill>
                <a:latin typeface="楷体_GB2312" pitchFamily="49" charset="-122"/>
              </a:rPr>
              <a:t>A</a:t>
            </a:r>
            <a:r>
              <a:rPr lang="en-US" altLang="zh-CN" sz="2800">
                <a:solidFill>
                  <a:srgbClr val="99FF33"/>
                </a:solidFill>
                <a:latin typeface="楷体_GB2312" pitchFamily="49" charset="-122"/>
              </a:rPr>
              <a:t>}</a:t>
            </a:r>
            <a:r>
              <a:rPr lang="zh-CN" altLang="en-US" sz="2800">
                <a:solidFill>
                  <a:srgbClr val="99FF33"/>
                </a:solidFill>
                <a:latin typeface="楷体_GB2312" pitchFamily="49" charset="-122"/>
              </a:rPr>
              <a:t>，</a:t>
            </a:r>
            <a:r>
              <a:rPr lang="en-US" altLang="zh-CN" sz="2800" i="1">
                <a:solidFill>
                  <a:srgbClr val="99FF33"/>
                </a:solidFill>
                <a:latin typeface="楷体_GB2312" pitchFamily="49" charset="-122"/>
              </a:rPr>
              <a:t>ρ</a:t>
            </a:r>
            <a:r>
              <a:rPr lang="en-US" altLang="zh-CN" sz="2800">
                <a:solidFill>
                  <a:srgbClr val="99FF33"/>
                </a:solidFill>
                <a:latin typeface="楷体_GB2312" pitchFamily="49" charset="-122"/>
              </a:rPr>
              <a:t>={R</a:t>
            </a:r>
            <a:r>
              <a:rPr lang="en-US" altLang="zh-CN" sz="2800" baseline="-30000">
                <a:solidFill>
                  <a:srgbClr val="99FF33"/>
                </a:solidFill>
                <a:latin typeface="楷体_GB2312" pitchFamily="49" charset="-122"/>
              </a:rPr>
              <a:t>1</a:t>
            </a:r>
            <a:r>
              <a:rPr lang="en-US" altLang="zh-CN" sz="2800">
                <a:solidFill>
                  <a:srgbClr val="99FF33"/>
                </a:solidFill>
                <a:latin typeface="楷体_GB2312" pitchFamily="49" charset="-122"/>
              </a:rPr>
              <a:t>(A,B),R</a:t>
            </a:r>
            <a:r>
              <a:rPr lang="en-US" altLang="zh-CN" sz="2800" baseline="-30000">
                <a:solidFill>
                  <a:srgbClr val="99FF33"/>
                </a:solidFill>
                <a:latin typeface="楷体_GB2312" pitchFamily="49" charset="-122"/>
              </a:rPr>
              <a:t>2</a:t>
            </a:r>
            <a:r>
              <a:rPr lang="en-US" altLang="zh-CN" sz="2800">
                <a:solidFill>
                  <a:srgbClr val="99FF33"/>
                </a:solidFill>
                <a:latin typeface="楷体_GB2312" pitchFamily="49" charset="-122"/>
              </a:rPr>
              <a:t>(A,E),R</a:t>
            </a:r>
            <a:r>
              <a:rPr lang="en-US" altLang="zh-CN" sz="2800" baseline="-30000">
                <a:solidFill>
                  <a:srgbClr val="99FF33"/>
                </a:solidFill>
                <a:latin typeface="楷体_GB2312" pitchFamily="49" charset="-122"/>
              </a:rPr>
              <a:t>3</a:t>
            </a:r>
            <a:r>
              <a:rPr lang="en-US" altLang="zh-CN" sz="2800">
                <a:solidFill>
                  <a:srgbClr val="99FF33"/>
                </a:solidFill>
                <a:latin typeface="楷体_GB2312" pitchFamily="49" charset="-122"/>
              </a:rPr>
              <a:t>(C,E), R</a:t>
            </a:r>
            <a:r>
              <a:rPr lang="en-US" altLang="zh-CN" sz="2800" baseline="-30000">
                <a:solidFill>
                  <a:srgbClr val="99FF33"/>
                </a:solidFill>
                <a:latin typeface="楷体_GB2312" pitchFamily="49" charset="-122"/>
              </a:rPr>
              <a:t>4</a:t>
            </a:r>
            <a:r>
              <a:rPr lang="en-US" altLang="zh-CN" sz="2800">
                <a:solidFill>
                  <a:srgbClr val="99FF33"/>
                </a:solidFill>
                <a:latin typeface="楷体_GB2312" pitchFamily="49" charset="-122"/>
              </a:rPr>
              <a:t>(B,C,D),R</a:t>
            </a:r>
            <a:r>
              <a:rPr lang="en-US" altLang="zh-CN" sz="2800" baseline="-30000">
                <a:solidFill>
                  <a:srgbClr val="99FF33"/>
                </a:solidFill>
                <a:latin typeface="楷体_GB2312" pitchFamily="49" charset="-122"/>
              </a:rPr>
              <a:t>5</a:t>
            </a:r>
            <a:r>
              <a:rPr lang="en-US" altLang="zh-CN" sz="2800">
                <a:solidFill>
                  <a:srgbClr val="99FF33"/>
                </a:solidFill>
                <a:latin typeface="楷体_GB2312" pitchFamily="49" charset="-122"/>
              </a:rPr>
              <a:t>(A,C)}</a:t>
            </a:r>
            <a:r>
              <a:rPr lang="zh-CN" altLang="en-US" sz="2800">
                <a:solidFill>
                  <a:srgbClr val="99FF33"/>
                </a:solidFill>
                <a:latin typeface="楷体_GB2312" pitchFamily="49" charset="-122"/>
              </a:rPr>
              <a:t>，</a:t>
            </a:r>
            <a:r>
              <a:rPr lang="en-US" altLang="zh-CN" sz="2800" i="1">
                <a:solidFill>
                  <a:srgbClr val="99FF33"/>
                </a:solidFill>
                <a:latin typeface="楷体_GB2312" pitchFamily="49" charset="-122"/>
              </a:rPr>
              <a:t>ρ</a:t>
            </a:r>
            <a:r>
              <a:rPr lang="zh-CN" altLang="en-US" sz="2800">
                <a:solidFill>
                  <a:srgbClr val="99FF33"/>
                </a:solidFill>
                <a:latin typeface="楷体_GB2312" pitchFamily="49" charset="-122"/>
              </a:rPr>
              <a:t>是否是无损连接分解</a:t>
            </a:r>
            <a:r>
              <a:rPr lang="en-US" altLang="zh-CN" sz="2800">
                <a:solidFill>
                  <a:srgbClr val="99FF33"/>
                </a:solidFill>
                <a:latin typeface="楷体_GB2312" pitchFamily="49" charset="-122"/>
              </a:rPr>
              <a:t>?</a:t>
            </a:r>
            <a:endParaRPr lang="zh-CN" altLang="en-US" sz="2800">
              <a:solidFill>
                <a:srgbClr val="99FF33"/>
              </a:solidFill>
              <a:latin typeface="楷体_GB2312" pitchFamily="49" charset="-122"/>
            </a:endParaRPr>
          </a:p>
        </p:txBody>
      </p:sp>
      <p:graphicFrame>
        <p:nvGraphicFramePr>
          <p:cNvPr id="1531909" name="Group 5"/>
          <p:cNvGraphicFramePr>
            <a:graphicFrameLocks noGrp="1"/>
          </p:cNvGraphicFramePr>
          <p:nvPr/>
        </p:nvGraphicFramePr>
        <p:xfrm>
          <a:off x="971550" y="3429000"/>
          <a:ext cx="7112000" cy="2952751"/>
        </p:xfrm>
        <a:graphic>
          <a:graphicData uri="http://schemas.openxmlformats.org/drawingml/2006/table">
            <a:tbl>
              <a:tblPr/>
              <a:tblGrid>
                <a:gridCol w="360363">
                  <a:extLst>
                    <a:ext uri="{9D8B030D-6E8A-4147-A177-3AD203B41FA5}">
                      <a16:colId xmlns:a16="http://schemas.microsoft.com/office/drawing/2014/main" val="20000"/>
                    </a:ext>
                  </a:extLst>
                </a:gridCol>
                <a:gridCol w="1671637">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gridCol w="1016000">
                  <a:extLst>
                    <a:ext uri="{9D8B030D-6E8A-4147-A177-3AD203B41FA5}">
                      <a16:colId xmlns:a16="http://schemas.microsoft.com/office/drawing/2014/main" val="20006"/>
                    </a:ext>
                  </a:extLst>
                </a:gridCol>
              </a:tblGrid>
              <a:tr h="365839">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1</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2</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3</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4</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5</a:t>
                      </a: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6812">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C</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D</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E</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189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1</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{A,B}</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b13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b14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b15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6812">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2</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{A,E}</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b23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b14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6812">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3</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{C,E}</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a1</a:t>
                      </a:r>
                      <a:endParaRPr kumimoji="0" lang="zh-CN" altLang="en-US"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a3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a4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33"/>
                          </a:solidFill>
                          <a:effectLst>
                            <a:outerShdw blurRad="38100" dist="38100" dir="2700000" algn="tl">
                              <a:srgbClr val="000000"/>
                            </a:outerShdw>
                          </a:effectLst>
                          <a:latin typeface="楷体_GB2312" pitchFamily="49" charset="-122"/>
                          <a:ea typeface="楷体_GB2312" pitchFamily="49" charset="-122"/>
                        </a:rPr>
                        <a:t>a5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6812">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4</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{B,C,D}</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a1</a:t>
                      </a:r>
                      <a:endParaRPr kumimoji="0" lang="zh-CN" altLang="en-US"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b45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47771">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5</a:t>
                      </a: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{A,C}</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a4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smtClean="0">
                          <a:ln>
                            <a:noFill/>
                          </a:ln>
                          <a:solidFill>
                            <a:srgbClr val="CCFFCC"/>
                          </a:solidFill>
                          <a:effectLst>
                            <a:outerShdw blurRad="38100" dist="38100" dir="2700000" algn="tl">
                              <a:srgbClr val="000000"/>
                            </a:outerShdw>
                          </a:effectLst>
                          <a:latin typeface="楷体_GB2312" pitchFamily="49" charset="-122"/>
                          <a:ea typeface="楷体_GB2312" pitchFamily="49" charset="-122"/>
                        </a:rPr>
                        <a:t>b55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531989" name="Rectangle 85"/>
          <p:cNvSpPr>
            <a:spLocks noChangeArrowheads="1"/>
          </p:cNvSpPr>
          <p:nvPr/>
        </p:nvSpPr>
        <p:spPr bwMode="auto">
          <a:xfrm>
            <a:off x="395288" y="2852738"/>
            <a:ext cx="8748712" cy="381000"/>
          </a:xfrm>
          <a:prstGeom prst="rect">
            <a:avLst/>
          </a:prstGeom>
          <a:noFill/>
          <a:ln w="12700" cap="sq">
            <a:noFill/>
            <a:miter lim="800000"/>
            <a:headEnd/>
            <a:tailEnd/>
          </a:ln>
          <a:effectLst/>
        </p:spPr>
        <p:txBody>
          <a:bodyPr lIns="0" tIns="0" rIns="0" bIns="0"/>
          <a:lstStyle/>
          <a:p>
            <a:pPr>
              <a:buSzTx/>
              <a:buFontTx/>
              <a:buNone/>
              <a:defRPr/>
            </a:pPr>
            <a:r>
              <a:rPr lang="en-US" altLang="zh-CN" sz="2800">
                <a:effectLst>
                  <a:outerShdw blurRad="38100" dist="38100" dir="2700000" algn="tl">
                    <a:srgbClr val="000000"/>
                  </a:outerShdw>
                </a:effectLst>
              </a:rPr>
              <a:t>7)</a:t>
            </a:r>
            <a:r>
              <a:rPr lang="zh-CN" altLang="en-US" sz="2800">
                <a:effectLst>
                  <a:outerShdw blurRad="38100" dist="38100" dir="2700000" algn="tl">
                    <a:srgbClr val="000000"/>
                  </a:outerShdw>
                </a:effectLst>
              </a:rPr>
              <a:t>出现全</a:t>
            </a:r>
            <a:r>
              <a:rPr lang="en-US" altLang="zh-CN" sz="2800">
                <a:effectLst>
                  <a:outerShdw blurRad="38100" dist="38100" dir="2700000" algn="tl">
                    <a:srgbClr val="000000"/>
                  </a:outerShdw>
                </a:effectLst>
              </a:rPr>
              <a:t>a</a:t>
            </a:r>
            <a:r>
              <a:rPr lang="zh-CN" altLang="en-US" sz="2800">
                <a:effectLst>
                  <a:outerShdw blurRad="38100" dist="38100" dir="2700000" algn="tl">
                    <a:srgbClr val="000000"/>
                  </a:outerShdw>
                </a:effectLst>
              </a:rPr>
              <a:t>型元素行，故</a:t>
            </a:r>
            <a:r>
              <a:rPr lang="en-US" altLang="zh-CN" sz="2800" i="1">
                <a:effectLst>
                  <a:outerShdw blurRad="38100" dist="38100" dir="2700000" algn="tl">
                    <a:srgbClr val="000000"/>
                  </a:outerShdw>
                </a:effectLst>
              </a:rPr>
              <a:t>ρ</a:t>
            </a:r>
            <a:r>
              <a:rPr lang="zh-CN" altLang="en-US" sz="2800">
                <a:effectLst>
                  <a:outerShdw blurRad="38100" dist="38100" dir="2700000" algn="tl">
                    <a:srgbClr val="000000"/>
                  </a:outerShdw>
                </a:effectLst>
              </a:rPr>
              <a:t>是无损连接分解！</a:t>
            </a:r>
          </a:p>
        </p:txBody>
      </p:sp>
      <p:sp>
        <p:nvSpPr>
          <p:cNvPr id="1531990" name="Line 86"/>
          <p:cNvSpPr>
            <a:spLocks noChangeShapeType="1"/>
          </p:cNvSpPr>
          <p:nvPr/>
        </p:nvSpPr>
        <p:spPr bwMode="auto">
          <a:xfrm>
            <a:off x="7019925" y="1557338"/>
            <a:ext cx="720725" cy="0"/>
          </a:xfrm>
          <a:prstGeom prst="line">
            <a:avLst/>
          </a:prstGeom>
          <a:noFill/>
          <a:ln w="28575" cap="sq">
            <a:solidFill>
              <a:srgbClr val="FF0000"/>
            </a:solidFill>
            <a:round/>
            <a:headEnd/>
            <a:tailEnd/>
          </a:ln>
          <a:effectLst/>
        </p:spPr>
        <p:txBody>
          <a:bodyPr lIns="0" tIns="0" rIns="0" bIns="0"/>
          <a:lstStyle/>
          <a:p>
            <a:pPr>
              <a:defRPr/>
            </a:pPr>
            <a:endParaRPr lang="zh-CN" altLang="en-US"/>
          </a:p>
        </p:txBody>
      </p:sp>
      <p:sp>
        <p:nvSpPr>
          <p:cNvPr id="1531991" name="Line 87"/>
          <p:cNvSpPr>
            <a:spLocks noChangeShapeType="1"/>
          </p:cNvSpPr>
          <p:nvPr/>
        </p:nvSpPr>
        <p:spPr bwMode="auto">
          <a:xfrm>
            <a:off x="7956550" y="1557338"/>
            <a:ext cx="720725" cy="0"/>
          </a:xfrm>
          <a:prstGeom prst="line">
            <a:avLst/>
          </a:prstGeom>
          <a:noFill/>
          <a:ln w="28575" cap="sq">
            <a:solidFill>
              <a:srgbClr val="FF0000"/>
            </a:solidFill>
            <a:round/>
            <a:headEnd/>
            <a:tailEnd/>
          </a:ln>
          <a:effectLst/>
        </p:spPr>
        <p:txBody>
          <a:bodyPr lIns="0" tIns="0" rIns="0" bIns="0"/>
          <a:lstStyle/>
          <a:p>
            <a:pPr>
              <a:defRPr/>
            </a:pPr>
            <a:endParaRPr lang="zh-CN" altLang="en-US"/>
          </a:p>
        </p:txBody>
      </p:sp>
      <p:sp>
        <p:nvSpPr>
          <p:cNvPr id="1531992" name="Line 88"/>
          <p:cNvSpPr>
            <a:spLocks noChangeShapeType="1"/>
          </p:cNvSpPr>
          <p:nvPr/>
        </p:nvSpPr>
        <p:spPr bwMode="auto">
          <a:xfrm>
            <a:off x="331788" y="1976438"/>
            <a:ext cx="720725" cy="0"/>
          </a:xfrm>
          <a:prstGeom prst="line">
            <a:avLst/>
          </a:prstGeom>
          <a:noFill/>
          <a:ln w="28575" cap="sq">
            <a:solidFill>
              <a:srgbClr val="FF0000"/>
            </a:solidFill>
            <a:round/>
            <a:headEnd/>
            <a:tailEnd/>
          </a:ln>
          <a:effectLst/>
        </p:spPr>
        <p:txBody>
          <a:bodyPr lIns="0" tIns="0" rIns="0" bIns="0"/>
          <a:lstStyle/>
          <a:p>
            <a:pPr>
              <a:defRPr/>
            </a:pPr>
            <a:endParaRPr lang="zh-CN" altLang="en-US"/>
          </a:p>
        </p:txBody>
      </p:sp>
      <p:sp>
        <p:nvSpPr>
          <p:cNvPr id="1531993" name="Line 89"/>
          <p:cNvSpPr>
            <a:spLocks noChangeShapeType="1"/>
          </p:cNvSpPr>
          <p:nvPr/>
        </p:nvSpPr>
        <p:spPr bwMode="auto">
          <a:xfrm>
            <a:off x="1331913" y="1976438"/>
            <a:ext cx="720725" cy="0"/>
          </a:xfrm>
          <a:prstGeom prst="line">
            <a:avLst/>
          </a:prstGeom>
          <a:noFill/>
          <a:ln w="28575" cap="sq">
            <a:solidFill>
              <a:srgbClr val="FF0000"/>
            </a:solidFill>
            <a:round/>
            <a:headEnd/>
            <a:tailEnd/>
          </a:ln>
          <a:effectLst/>
        </p:spPr>
        <p:txBody>
          <a:bodyPr lIns="0" tIns="0" rIns="0" bIns="0"/>
          <a:lstStyle/>
          <a:p>
            <a:pPr>
              <a:defRPr/>
            </a:pPr>
            <a:endParaRPr lang="zh-CN" altLang="en-US"/>
          </a:p>
        </p:txBody>
      </p:sp>
      <p:sp>
        <p:nvSpPr>
          <p:cNvPr id="1531994" name="Line 90"/>
          <p:cNvSpPr>
            <a:spLocks noChangeShapeType="1"/>
          </p:cNvSpPr>
          <p:nvPr/>
        </p:nvSpPr>
        <p:spPr bwMode="auto">
          <a:xfrm>
            <a:off x="2382838" y="1976438"/>
            <a:ext cx="720725" cy="0"/>
          </a:xfrm>
          <a:prstGeom prst="line">
            <a:avLst/>
          </a:prstGeom>
          <a:noFill/>
          <a:ln w="28575" cap="sq">
            <a:solidFill>
              <a:srgbClr val="FF0000"/>
            </a:solidFill>
            <a:round/>
            <a:headEnd/>
            <a:tailEnd/>
          </a:ln>
          <a:effectLst/>
        </p:spPr>
        <p:txBody>
          <a:bodyPr lIns="0" tIns="0" rIns="0" bIns="0"/>
          <a:lstStyle/>
          <a:p>
            <a:pPr>
              <a:defRPr/>
            </a:pPr>
            <a:endParaRPr lang="zh-CN" altLang="en-US"/>
          </a:p>
        </p:txBody>
      </p:sp>
      <p:sp>
        <p:nvSpPr>
          <p:cNvPr id="1531995" name="Line 91"/>
          <p:cNvSpPr>
            <a:spLocks noChangeShapeType="1"/>
          </p:cNvSpPr>
          <p:nvPr/>
        </p:nvSpPr>
        <p:spPr bwMode="auto">
          <a:xfrm>
            <a:off x="2987675" y="5445125"/>
            <a:ext cx="5040313" cy="0"/>
          </a:xfrm>
          <a:prstGeom prst="line">
            <a:avLst/>
          </a:prstGeom>
          <a:noFill/>
          <a:ln w="28575" cap="sq">
            <a:solidFill>
              <a:srgbClr val="FF0000"/>
            </a:solidFill>
            <a:round/>
            <a:headEnd/>
            <a:tailEnd/>
          </a:ln>
          <a:effectLst/>
        </p:spPr>
        <p:txBody>
          <a:bodyPr lIns="0" tIns="0" rIns="0" bIns="0"/>
          <a:lstStyle/>
          <a:p>
            <a:pPr>
              <a:defRPr/>
            </a:pPr>
            <a:endParaRPr lang="zh-CN" altLang="en-US"/>
          </a:p>
        </p:txBody>
      </p:sp>
      <p:sp>
        <p:nvSpPr>
          <p:cNvPr id="14" name="Rectangle 3"/>
          <p:cNvSpPr>
            <a:spLocks noGrp="1" noChangeArrowheads="1"/>
          </p:cNvSpPr>
          <p:nvPr>
            <p:ph type="title"/>
          </p:nvPr>
        </p:nvSpPr>
        <p:spPr>
          <a:xfrm>
            <a:off x="0" y="15305"/>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ea typeface="微软雅黑" pitchFamily="34" charset="-122"/>
              </a:rPr>
              <a:t>无损连接的测试算法</a:t>
            </a:r>
          </a:p>
        </p:txBody>
      </p:sp>
    </p:spTree>
  </p:cSld>
  <p:clrMapOvr>
    <a:masterClrMapping/>
  </p:clrMapOvr>
  <p:transition spd="med">
    <p:fade/>
    <p:sndAc>
      <p:stSnd>
        <p:snd r:embed="rId2" name="camera.wav"/>
      </p:stSnd>
    </p:sndAc>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2931" name="Rectangle 3"/>
          <p:cNvSpPr>
            <a:spLocks noGrp="1" noChangeArrowheads="1"/>
          </p:cNvSpPr>
          <p:nvPr>
            <p:ph type="body" idx="1"/>
          </p:nvPr>
        </p:nvSpPr>
        <p:spPr>
          <a:xfrm>
            <a:off x="192088" y="1341438"/>
            <a:ext cx="8647112" cy="2016125"/>
          </a:xfrm>
        </p:spPr>
        <p:txBody>
          <a:bodyPr/>
          <a:lstStyle/>
          <a:p>
            <a:pPr marL="358775" indent="-358775" algn="just">
              <a:lnSpc>
                <a:spcPct val="115000"/>
              </a:lnSpc>
              <a:defRPr/>
            </a:pPr>
            <a:r>
              <a:rPr lang="zh-CN" altLang="en-US" sz="2800">
                <a:latin typeface="楷体_GB2312" pitchFamily="49" charset="-122"/>
              </a:rPr>
              <a:t>如果</a:t>
            </a:r>
            <a:r>
              <a:rPr lang="en-US" altLang="zh-CN" sz="2800">
                <a:latin typeface="楷体_GB2312" pitchFamily="49" charset="-122"/>
              </a:rPr>
              <a:t>R(U,F)</a:t>
            </a:r>
            <a:r>
              <a:rPr lang="zh-CN" altLang="en-US" sz="2800">
                <a:latin typeface="楷体_GB2312" pitchFamily="49" charset="-122"/>
              </a:rPr>
              <a:t>的分解为</a:t>
            </a:r>
            <a:r>
              <a:rPr lang="en-US" altLang="zh-CN" sz="2800" i="1">
                <a:latin typeface="楷体_GB2312" pitchFamily="49" charset="-122"/>
              </a:rPr>
              <a:t>ρ</a:t>
            </a:r>
            <a:r>
              <a:rPr lang="zh-CN" altLang="en-US" sz="2800">
                <a:latin typeface="楷体_GB2312" pitchFamily="49" charset="-122"/>
              </a:rPr>
              <a:t>＝</a:t>
            </a:r>
            <a:r>
              <a:rPr lang="en-US" altLang="zh-CN" sz="2800">
                <a:latin typeface="楷体_GB2312" pitchFamily="49" charset="-122"/>
              </a:rPr>
              <a:t>{R</a:t>
            </a:r>
            <a:r>
              <a:rPr lang="en-US" altLang="zh-CN" sz="2800" baseline="-30000">
                <a:latin typeface="楷体_GB2312" pitchFamily="49" charset="-122"/>
              </a:rPr>
              <a:t>l</a:t>
            </a:r>
            <a:r>
              <a:rPr lang="en-US" altLang="zh-CN" sz="2800">
                <a:latin typeface="楷体_GB2312" pitchFamily="49" charset="-122"/>
              </a:rPr>
              <a:t>(U</a:t>
            </a:r>
            <a:r>
              <a:rPr lang="en-US" altLang="zh-CN" sz="2800" baseline="-30000">
                <a:latin typeface="楷体_GB2312" pitchFamily="49" charset="-122"/>
              </a:rPr>
              <a:t>1</a:t>
            </a:r>
            <a:r>
              <a:rPr lang="en-US" altLang="zh-CN" sz="2800">
                <a:latin typeface="楷体_GB2312" pitchFamily="49" charset="-122"/>
              </a:rPr>
              <a:t>),R</a:t>
            </a:r>
            <a:r>
              <a:rPr lang="en-US" altLang="zh-CN" sz="2800" baseline="-30000">
                <a:latin typeface="楷体_GB2312" pitchFamily="49" charset="-122"/>
              </a:rPr>
              <a:t>2</a:t>
            </a:r>
            <a:r>
              <a:rPr lang="en-US" altLang="zh-CN" sz="2800">
                <a:latin typeface="楷体_GB2312" pitchFamily="49" charset="-122"/>
              </a:rPr>
              <a:t>(U</a:t>
            </a:r>
            <a:r>
              <a:rPr lang="en-US" altLang="zh-CN" sz="2800" baseline="-30000">
                <a:latin typeface="楷体_GB2312" pitchFamily="49" charset="-122"/>
              </a:rPr>
              <a:t>2</a:t>
            </a:r>
            <a:r>
              <a:rPr lang="en-US" altLang="zh-CN" sz="2800">
                <a:latin typeface="楷体_GB2312" pitchFamily="49" charset="-122"/>
              </a:rPr>
              <a:t>)}</a:t>
            </a:r>
            <a:r>
              <a:rPr lang="zh-CN" altLang="en-US" sz="2800">
                <a:latin typeface="楷体_GB2312" pitchFamily="49" charset="-122"/>
              </a:rPr>
              <a:t>，其中</a:t>
            </a:r>
            <a:r>
              <a:rPr lang="en-US" altLang="zh-CN" sz="2800">
                <a:latin typeface="楷体_GB2312" pitchFamily="49" charset="-122"/>
              </a:rPr>
              <a:t>U=U</a:t>
            </a:r>
            <a:r>
              <a:rPr lang="en-US" altLang="zh-CN" sz="2800" baseline="-30000">
                <a:latin typeface="楷体_GB2312" pitchFamily="49" charset="-122"/>
              </a:rPr>
              <a:t>1</a:t>
            </a:r>
            <a:r>
              <a:rPr lang="en-US" altLang="zh-CN" sz="2800">
                <a:latin typeface="楷体_GB2312" pitchFamily="49" charset="-122"/>
              </a:rPr>
              <a:t>∪U</a:t>
            </a:r>
            <a:r>
              <a:rPr lang="en-US" altLang="zh-CN" sz="2800" baseline="-30000">
                <a:latin typeface="楷体_GB2312" pitchFamily="49" charset="-122"/>
              </a:rPr>
              <a:t>2</a:t>
            </a:r>
            <a:r>
              <a:rPr lang="zh-CN" altLang="en-US" sz="2800">
                <a:latin typeface="楷体_GB2312" pitchFamily="49" charset="-122"/>
              </a:rPr>
              <a:t>，则分解</a:t>
            </a:r>
            <a:r>
              <a:rPr lang="en-US" altLang="zh-CN" sz="2800" i="1">
                <a:latin typeface="楷体_GB2312" pitchFamily="49" charset="-122"/>
              </a:rPr>
              <a:t>ρ</a:t>
            </a:r>
            <a:r>
              <a:rPr lang="zh-CN" altLang="en-US" sz="2800">
                <a:latin typeface="楷体_GB2312" pitchFamily="49" charset="-122"/>
              </a:rPr>
              <a:t>是无损连接的充要条件为</a:t>
            </a:r>
            <a:r>
              <a:rPr lang="en-US" altLang="zh-CN" sz="2800">
                <a:latin typeface="楷体_GB2312" pitchFamily="49" charset="-122"/>
              </a:rPr>
              <a:t>(U</a:t>
            </a:r>
            <a:r>
              <a:rPr lang="en-US" altLang="zh-CN" sz="2800" baseline="-30000">
                <a:latin typeface="楷体_GB2312" pitchFamily="49" charset="-122"/>
              </a:rPr>
              <a:t>1</a:t>
            </a:r>
            <a:r>
              <a:rPr lang="en-US" altLang="zh-CN" sz="2800">
                <a:latin typeface="楷体_GB2312" pitchFamily="49" charset="-122"/>
              </a:rPr>
              <a:t>∩U</a:t>
            </a:r>
            <a:r>
              <a:rPr lang="en-US" altLang="zh-CN" sz="2800" baseline="-30000">
                <a:latin typeface="楷体_GB2312" pitchFamily="49" charset="-122"/>
              </a:rPr>
              <a:t>2</a:t>
            </a:r>
            <a:r>
              <a:rPr lang="en-US" altLang="zh-CN" sz="2800">
                <a:latin typeface="楷体_GB2312" pitchFamily="49" charset="-122"/>
              </a:rPr>
              <a:t>)→(U</a:t>
            </a:r>
            <a:r>
              <a:rPr lang="en-US" altLang="zh-CN" sz="2800" baseline="-30000">
                <a:latin typeface="楷体_GB2312" pitchFamily="49" charset="-122"/>
              </a:rPr>
              <a:t>1</a:t>
            </a:r>
            <a:r>
              <a:rPr lang="en-US" altLang="zh-CN" sz="2800">
                <a:latin typeface="楷体_GB2312" pitchFamily="49" charset="-122"/>
              </a:rPr>
              <a:t>-U</a:t>
            </a:r>
            <a:r>
              <a:rPr lang="en-US" altLang="zh-CN" sz="2800" baseline="-30000">
                <a:latin typeface="楷体_GB2312" pitchFamily="49" charset="-122"/>
              </a:rPr>
              <a:t>2</a:t>
            </a:r>
            <a:r>
              <a:rPr lang="en-US" altLang="zh-CN" sz="2800">
                <a:latin typeface="楷体_GB2312" pitchFamily="49" charset="-122"/>
              </a:rPr>
              <a:t>)</a:t>
            </a:r>
            <a:r>
              <a:rPr lang="zh-CN" altLang="en-US" sz="2800">
                <a:latin typeface="楷体_GB2312" pitchFamily="49" charset="-122"/>
              </a:rPr>
              <a:t>或者</a:t>
            </a:r>
            <a:r>
              <a:rPr lang="en-US" altLang="zh-CN" sz="2800">
                <a:latin typeface="楷体_GB2312" pitchFamily="49" charset="-122"/>
              </a:rPr>
              <a:t>(U</a:t>
            </a:r>
            <a:r>
              <a:rPr lang="en-US" altLang="zh-CN" sz="2800" baseline="-30000">
                <a:latin typeface="楷体_GB2312" pitchFamily="49" charset="-122"/>
              </a:rPr>
              <a:t>1</a:t>
            </a:r>
            <a:r>
              <a:rPr lang="en-US" altLang="zh-CN" sz="2800">
                <a:latin typeface="楷体_GB2312" pitchFamily="49" charset="-122"/>
              </a:rPr>
              <a:t>∩U</a:t>
            </a:r>
            <a:r>
              <a:rPr lang="en-US" altLang="zh-CN" sz="2800" baseline="-30000">
                <a:latin typeface="楷体_GB2312" pitchFamily="49" charset="-122"/>
              </a:rPr>
              <a:t>2</a:t>
            </a:r>
            <a:r>
              <a:rPr lang="en-US" altLang="zh-CN" sz="2800">
                <a:latin typeface="楷体_GB2312" pitchFamily="49" charset="-122"/>
              </a:rPr>
              <a:t>)→(U</a:t>
            </a:r>
            <a:r>
              <a:rPr lang="en-US" altLang="zh-CN" sz="2800" baseline="-30000">
                <a:latin typeface="楷体_GB2312" pitchFamily="49" charset="-122"/>
              </a:rPr>
              <a:t>2</a:t>
            </a:r>
            <a:r>
              <a:rPr lang="en-US" altLang="zh-CN" sz="2800">
                <a:latin typeface="楷体_GB2312" pitchFamily="49" charset="-122"/>
              </a:rPr>
              <a:t>-U</a:t>
            </a:r>
            <a:r>
              <a:rPr lang="en-US" altLang="zh-CN" sz="2800" baseline="-30000">
                <a:latin typeface="楷体_GB2312" pitchFamily="49" charset="-122"/>
              </a:rPr>
              <a:t>1</a:t>
            </a:r>
            <a:r>
              <a:rPr lang="en-US" altLang="zh-CN" sz="2800">
                <a:latin typeface="楷体_GB2312" pitchFamily="49" charset="-122"/>
              </a:rPr>
              <a:t>)</a:t>
            </a:r>
            <a:r>
              <a:rPr lang="zh-CN" altLang="en-US" sz="2800">
                <a:latin typeface="楷体_GB2312" pitchFamily="49" charset="-122"/>
              </a:rPr>
              <a:t>成立。	</a:t>
            </a:r>
          </a:p>
        </p:txBody>
      </p:sp>
      <p:sp>
        <p:nvSpPr>
          <p:cNvPr id="71684" name="Rectangle 4"/>
          <p:cNvSpPr>
            <a:spLocks noGrp="1" noChangeArrowheads="1"/>
          </p:cNvSpPr>
          <p:nvPr>
            <p:ph type="title"/>
          </p:nvPr>
        </p:nvSpPr>
        <p:spPr>
          <a:xfrm>
            <a:off x="0" y="77242"/>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ea typeface="微软雅黑" pitchFamily="34" charset="-122"/>
              </a:rPr>
              <a:t>无损连接</a:t>
            </a:r>
            <a:r>
              <a:rPr kumimoji="1" lang="zh-CN" altLang="en-US" sz="4000" b="1" kern="1200" dirty="0" smtClean="0">
                <a:solidFill>
                  <a:srgbClr val="FFFFCC"/>
                </a:solidFill>
                <a:effectLst>
                  <a:outerShdw blurRad="38100" dist="38100" dir="2700000" algn="tl">
                    <a:srgbClr val="000000"/>
                  </a:outerShdw>
                </a:effectLst>
                <a:latin typeface="Arial" pitchFamily="34" charset="0"/>
                <a:ea typeface="微软雅黑" pitchFamily="34" charset="-122"/>
              </a:rPr>
              <a:t>的一</a:t>
            </a:r>
            <a:r>
              <a:rPr kumimoji="1" lang="zh-CN" altLang="en-US" sz="4000" b="1" kern="1200" dirty="0">
                <a:solidFill>
                  <a:srgbClr val="FFFFCC"/>
                </a:solidFill>
                <a:effectLst>
                  <a:outerShdw blurRad="38100" dist="38100" dir="2700000" algn="tl">
                    <a:srgbClr val="000000"/>
                  </a:outerShdw>
                </a:effectLst>
                <a:latin typeface="Arial" pitchFamily="34" charset="0"/>
                <a:ea typeface="微软雅黑" pitchFamily="34" charset="-122"/>
              </a:rPr>
              <a:t>个实用定理</a:t>
            </a:r>
          </a:p>
        </p:txBody>
      </p:sp>
      <p:sp>
        <p:nvSpPr>
          <p:cNvPr id="1532933" name="Text Box 5"/>
          <p:cNvSpPr txBox="1">
            <a:spLocks noChangeArrowheads="1"/>
          </p:cNvSpPr>
          <p:nvPr/>
        </p:nvSpPr>
        <p:spPr bwMode="auto">
          <a:xfrm>
            <a:off x="539750" y="3213100"/>
            <a:ext cx="8382000" cy="647700"/>
          </a:xfrm>
          <a:prstGeom prst="rect">
            <a:avLst/>
          </a:prstGeom>
          <a:noFill/>
          <a:ln w="12700" cap="sq">
            <a:noFill/>
            <a:miter lim="800000"/>
            <a:headEnd type="none" w="sm" len="sm"/>
            <a:tailEnd type="none" w="sm" len="sm"/>
          </a:ln>
          <a:effectLst/>
        </p:spPr>
        <p:txBody>
          <a:bodyPr/>
          <a:lstStyle/>
          <a:p>
            <a:pPr>
              <a:spcAft>
                <a:spcPct val="20000"/>
              </a:spcAft>
              <a:buSzTx/>
              <a:buFontTx/>
              <a:buNone/>
              <a:defRPr/>
            </a:pPr>
            <a:r>
              <a:rPr kumimoji="0" lang="zh-CN" altLang="en-US" sz="2800">
                <a:solidFill>
                  <a:srgbClr val="99FF33"/>
                </a:solidFill>
                <a:effectLst>
                  <a:outerShdw blurRad="38100" dist="38100" dir="2700000" algn="tl">
                    <a:srgbClr val="000000"/>
                  </a:outerShdw>
                </a:effectLst>
              </a:rPr>
              <a:t>设关系模式</a:t>
            </a:r>
            <a:r>
              <a:rPr kumimoji="0" lang="en-US" altLang="zh-CN" sz="2800">
                <a:solidFill>
                  <a:srgbClr val="99FF33"/>
                </a:solidFill>
                <a:effectLst>
                  <a:outerShdw blurRad="38100" dist="38100" dir="2700000" algn="tl">
                    <a:srgbClr val="000000"/>
                  </a:outerShdw>
                </a:effectLst>
              </a:rPr>
              <a:t>R(A,B,C)</a:t>
            </a:r>
            <a:r>
              <a:rPr kumimoji="0" lang="zh-CN" altLang="en-US" sz="2800">
                <a:solidFill>
                  <a:srgbClr val="99FF33"/>
                </a:solidFill>
                <a:effectLst>
                  <a:outerShdw blurRad="38100" dist="38100" dir="2700000" algn="tl">
                    <a:srgbClr val="000000"/>
                  </a:outerShdw>
                </a:effectLst>
              </a:rPr>
              <a:t>，</a:t>
            </a:r>
            <a:r>
              <a:rPr kumimoji="0" lang="en-US" altLang="zh-CN" sz="2800">
                <a:solidFill>
                  <a:srgbClr val="99FF33"/>
                </a:solidFill>
                <a:effectLst>
                  <a:outerShdw blurRad="38100" dist="38100" dir="2700000" algn="tl">
                    <a:srgbClr val="000000"/>
                  </a:outerShdw>
                </a:effectLst>
              </a:rPr>
              <a:t>F</a:t>
            </a:r>
            <a:r>
              <a:rPr kumimoji="0" lang="zh-CN" altLang="en-US" sz="2800">
                <a:solidFill>
                  <a:srgbClr val="99FF33"/>
                </a:solidFill>
                <a:effectLst>
                  <a:outerShdw blurRad="38100" dist="38100" dir="2700000" algn="tl">
                    <a:srgbClr val="000000"/>
                  </a:outerShdw>
                </a:effectLst>
              </a:rPr>
              <a:t>＝</a:t>
            </a:r>
            <a:r>
              <a:rPr kumimoji="0" lang="en-US" altLang="zh-CN" sz="2800">
                <a:solidFill>
                  <a:srgbClr val="99FF33"/>
                </a:solidFill>
                <a:effectLst>
                  <a:outerShdw blurRad="38100" dist="38100" dir="2700000" algn="tl">
                    <a:srgbClr val="000000"/>
                  </a:outerShdw>
                </a:effectLst>
              </a:rPr>
              <a:t>{A→B}</a:t>
            </a:r>
            <a:r>
              <a:rPr kumimoji="0" lang="zh-CN" altLang="en-US" sz="2800">
                <a:solidFill>
                  <a:srgbClr val="99FF33"/>
                </a:solidFill>
                <a:effectLst>
                  <a:outerShdw blurRad="38100" dist="38100" dir="2700000" algn="tl">
                    <a:srgbClr val="000000"/>
                  </a:outerShdw>
                </a:effectLst>
              </a:rPr>
              <a:t>。若</a:t>
            </a:r>
            <a:r>
              <a:rPr kumimoji="0" lang="en-US" altLang="zh-CN" sz="2800">
                <a:solidFill>
                  <a:srgbClr val="99FF33"/>
                </a:solidFill>
                <a:effectLst>
                  <a:outerShdw blurRad="38100" dist="38100" dir="2700000" algn="tl">
                    <a:srgbClr val="000000"/>
                  </a:outerShdw>
                </a:effectLst>
              </a:rPr>
              <a:t>R</a:t>
            </a:r>
            <a:r>
              <a:rPr kumimoji="0" lang="zh-CN" altLang="en-US" sz="2800">
                <a:solidFill>
                  <a:srgbClr val="99FF33"/>
                </a:solidFill>
                <a:effectLst>
                  <a:outerShdw blurRad="38100" dist="38100" dir="2700000" algn="tl">
                    <a:srgbClr val="000000"/>
                  </a:outerShdw>
                </a:effectLst>
              </a:rPr>
              <a:t>分解成</a:t>
            </a:r>
            <a:r>
              <a:rPr kumimoji="0" lang="en-US" altLang="zh-CN" sz="2800" i="1">
                <a:solidFill>
                  <a:srgbClr val="99FF33"/>
                </a:solidFill>
                <a:effectLst>
                  <a:outerShdw blurRad="38100" dist="38100" dir="2700000" algn="tl">
                    <a:srgbClr val="000000"/>
                  </a:outerShdw>
                </a:effectLst>
              </a:rPr>
              <a:t>ρ</a:t>
            </a:r>
            <a:r>
              <a:rPr kumimoji="0" lang="en-US" altLang="zh-CN" sz="2800">
                <a:solidFill>
                  <a:srgbClr val="99FF33"/>
                </a:solidFill>
                <a:effectLst>
                  <a:outerShdw blurRad="38100" dist="38100" dir="2700000" algn="tl">
                    <a:srgbClr val="000000"/>
                  </a:outerShdw>
                </a:effectLst>
              </a:rPr>
              <a:t>={R</a:t>
            </a:r>
            <a:r>
              <a:rPr kumimoji="0" lang="en-US" altLang="zh-CN" sz="2800" baseline="-25000">
                <a:solidFill>
                  <a:srgbClr val="99FF33"/>
                </a:solidFill>
                <a:effectLst>
                  <a:outerShdw blurRad="38100" dist="38100" dir="2700000" algn="tl">
                    <a:srgbClr val="000000"/>
                  </a:outerShdw>
                </a:effectLst>
              </a:rPr>
              <a:t>1</a:t>
            </a:r>
            <a:r>
              <a:rPr kumimoji="0" lang="en-US" altLang="zh-CN" sz="2800">
                <a:solidFill>
                  <a:srgbClr val="99FF33"/>
                </a:solidFill>
                <a:effectLst>
                  <a:outerShdw blurRad="38100" dist="38100" dir="2700000" algn="tl">
                    <a:srgbClr val="000000"/>
                  </a:outerShdw>
                </a:effectLst>
              </a:rPr>
              <a:t>(A,B)</a:t>
            </a:r>
            <a:r>
              <a:rPr kumimoji="0" lang="zh-CN" altLang="en-US" sz="2800">
                <a:solidFill>
                  <a:srgbClr val="99FF33"/>
                </a:solidFill>
                <a:effectLst>
                  <a:outerShdw blurRad="38100" dist="38100" dir="2700000" algn="tl">
                    <a:srgbClr val="000000"/>
                  </a:outerShdw>
                </a:effectLst>
              </a:rPr>
              <a:t>，</a:t>
            </a:r>
            <a:r>
              <a:rPr kumimoji="0" lang="en-US" altLang="zh-CN" sz="2800">
                <a:solidFill>
                  <a:srgbClr val="99FF33"/>
                </a:solidFill>
                <a:effectLst>
                  <a:outerShdw blurRad="38100" dist="38100" dir="2700000" algn="tl">
                    <a:srgbClr val="000000"/>
                  </a:outerShdw>
                </a:effectLst>
              </a:rPr>
              <a:t>R</a:t>
            </a:r>
            <a:r>
              <a:rPr kumimoji="0" lang="en-US" altLang="zh-CN" sz="2800" baseline="-25000">
                <a:solidFill>
                  <a:srgbClr val="99FF33"/>
                </a:solidFill>
                <a:effectLst>
                  <a:outerShdw blurRad="38100" dist="38100" dir="2700000" algn="tl">
                    <a:srgbClr val="000000"/>
                  </a:outerShdw>
                </a:effectLst>
              </a:rPr>
              <a:t>2</a:t>
            </a:r>
            <a:r>
              <a:rPr kumimoji="0" lang="en-US" altLang="zh-CN" sz="2800">
                <a:solidFill>
                  <a:srgbClr val="99FF33"/>
                </a:solidFill>
                <a:effectLst>
                  <a:outerShdw blurRad="38100" dist="38100" dir="2700000" algn="tl">
                    <a:srgbClr val="000000"/>
                  </a:outerShdw>
                </a:effectLst>
              </a:rPr>
              <a:t>(A,C)}</a:t>
            </a:r>
          </a:p>
          <a:p>
            <a:pPr>
              <a:spcBef>
                <a:spcPct val="15000"/>
              </a:spcBef>
              <a:spcAft>
                <a:spcPct val="20000"/>
              </a:spcAft>
              <a:buSzTx/>
              <a:buFontTx/>
              <a:buNone/>
              <a:defRPr/>
            </a:pPr>
            <a:r>
              <a:rPr kumimoji="0" lang="zh-CN" altLang="en-US" sz="2800">
                <a:solidFill>
                  <a:srgbClr val="99FF33"/>
                </a:solidFill>
                <a:effectLst>
                  <a:outerShdw blurRad="38100" dist="38100" dir="2700000" algn="tl">
                    <a:srgbClr val="000000"/>
                  </a:outerShdw>
                </a:effectLst>
              </a:rPr>
              <a:t>则有</a:t>
            </a:r>
            <a:r>
              <a:rPr kumimoji="0" lang="en-US" altLang="zh-CN" sz="2800">
                <a:solidFill>
                  <a:srgbClr val="99FF33"/>
                </a:solidFill>
                <a:effectLst>
                  <a:outerShdw blurRad="38100" dist="38100" dir="2700000" algn="tl">
                    <a:srgbClr val="000000"/>
                  </a:outerShdw>
                </a:effectLst>
              </a:rPr>
              <a:t>U</a:t>
            </a:r>
            <a:r>
              <a:rPr kumimoji="0" lang="en-US" altLang="zh-CN" sz="2800" baseline="-30000">
                <a:solidFill>
                  <a:srgbClr val="99FF33"/>
                </a:solidFill>
                <a:effectLst>
                  <a:outerShdw blurRad="38100" dist="38100" dir="2700000" algn="tl">
                    <a:srgbClr val="000000"/>
                  </a:outerShdw>
                </a:effectLst>
              </a:rPr>
              <a:t>1</a:t>
            </a:r>
            <a:r>
              <a:rPr kumimoji="0" lang="en-US" altLang="zh-CN" sz="2800">
                <a:solidFill>
                  <a:srgbClr val="99FF33"/>
                </a:solidFill>
                <a:effectLst>
                  <a:outerShdw blurRad="38100" dist="38100" dir="2700000" algn="tl">
                    <a:srgbClr val="000000"/>
                  </a:outerShdw>
                </a:effectLst>
              </a:rPr>
              <a:t>={A,B}</a:t>
            </a:r>
            <a:r>
              <a:rPr kumimoji="0" lang="zh-CN" altLang="en-US" sz="2800">
                <a:solidFill>
                  <a:srgbClr val="99FF33"/>
                </a:solidFill>
                <a:effectLst>
                  <a:outerShdw blurRad="38100" dist="38100" dir="2700000" algn="tl">
                    <a:srgbClr val="000000"/>
                  </a:outerShdw>
                </a:effectLst>
              </a:rPr>
              <a:t>，</a:t>
            </a:r>
            <a:r>
              <a:rPr kumimoji="0" lang="en-US" altLang="zh-CN" sz="2800">
                <a:solidFill>
                  <a:srgbClr val="99FF33"/>
                </a:solidFill>
                <a:effectLst>
                  <a:outerShdw blurRad="38100" dist="38100" dir="2700000" algn="tl">
                    <a:srgbClr val="000000"/>
                  </a:outerShdw>
                </a:effectLst>
              </a:rPr>
              <a:t>U</a:t>
            </a:r>
            <a:r>
              <a:rPr kumimoji="0" lang="en-US" altLang="zh-CN" sz="2800" baseline="-30000">
                <a:solidFill>
                  <a:srgbClr val="99FF33"/>
                </a:solidFill>
                <a:effectLst>
                  <a:outerShdw blurRad="38100" dist="38100" dir="2700000" algn="tl">
                    <a:srgbClr val="000000"/>
                  </a:outerShdw>
                </a:effectLst>
              </a:rPr>
              <a:t>2</a:t>
            </a:r>
            <a:r>
              <a:rPr kumimoji="0" lang="en-US" altLang="zh-CN" sz="2800">
                <a:solidFill>
                  <a:srgbClr val="99FF33"/>
                </a:solidFill>
                <a:effectLst>
                  <a:outerShdw blurRad="38100" dist="38100" dir="2700000" algn="tl">
                    <a:srgbClr val="000000"/>
                  </a:outerShdw>
                </a:effectLst>
              </a:rPr>
              <a:t>={A,C}</a:t>
            </a:r>
            <a:r>
              <a:rPr kumimoji="0" lang="zh-CN" altLang="en-US" sz="2800">
                <a:solidFill>
                  <a:srgbClr val="99FF33"/>
                </a:solidFill>
                <a:effectLst>
                  <a:outerShdw blurRad="38100" dist="38100" dir="2700000" algn="tl">
                    <a:srgbClr val="000000"/>
                  </a:outerShdw>
                </a:effectLst>
              </a:rPr>
              <a:t>，</a:t>
            </a:r>
            <a:r>
              <a:rPr kumimoji="0" lang="en-US" altLang="zh-CN" sz="2800">
                <a:solidFill>
                  <a:srgbClr val="99FF33"/>
                </a:solidFill>
                <a:effectLst>
                  <a:outerShdw blurRad="38100" dist="38100" dir="2700000" algn="tl">
                    <a:srgbClr val="000000"/>
                  </a:outerShdw>
                </a:effectLst>
              </a:rPr>
              <a:t>U</a:t>
            </a:r>
            <a:r>
              <a:rPr kumimoji="0" lang="en-US" altLang="zh-CN" sz="2800" baseline="-30000">
                <a:solidFill>
                  <a:srgbClr val="99FF33"/>
                </a:solidFill>
                <a:effectLst>
                  <a:outerShdw blurRad="38100" dist="38100" dir="2700000" algn="tl">
                    <a:srgbClr val="000000"/>
                  </a:outerShdw>
                </a:effectLst>
              </a:rPr>
              <a:t>1</a:t>
            </a:r>
            <a:r>
              <a:rPr kumimoji="0" lang="en-US" altLang="zh-CN" sz="2800">
                <a:solidFill>
                  <a:srgbClr val="99FF33"/>
                </a:solidFill>
                <a:effectLst>
                  <a:outerShdw blurRad="38100" dist="38100" dir="2700000" algn="tl">
                    <a:srgbClr val="000000"/>
                  </a:outerShdw>
                </a:effectLst>
              </a:rPr>
              <a:t>∪U</a:t>
            </a:r>
            <a:r>
              <a:rPr kumimoji="0" lang="en-US" altLang="zh-CN" sz="2800" baseline="-30000">
                <a:solidFill>
                  <a:srgbClr val="99FF33"/>
                </a:solidFill>
                <a:effectLst>
                  <a:outerShdw blurRad="38100" dist="38100" dir="2700000" algn="tl">
                    <a:srgbClr val="000000"/>
                  </a:outerShdw>
                </a:effectLst>
              </a:rPr>
              <a:t>2 </a:t>
            </a:r>
            <a:r>
              <a:rPr kumimoji="0" lang="en-US" altLang="zh-CN" sz="2800">
                <a:solidFill>
                  <a:srgbClr val="99FF33"/>
                </a:solidFill>
                <a:effectLst>
                  <a:outerShdw blurRad="38100" dist="38100" dir="2700000" algn="tl">
                    <a:srgbClr val="000000"/>
                  </a:outerShdw>
                </a:effectLst>
              </a:rPr>
              <a:t>={A,B,C}=U</a:t>
            </a:r>
            <a:endParaRPr kumimoji="0" lang="zh-CN" altLang="en-US" sz="2800">
              <a:solidFill>
                <a:srgbClr val="99FF33"/>
              </a:solidFill>
              <a:effectLst>
                <a:outerShdw blurRad="38100" dist="38100" dir="2700000" algn="tl">
                  <a:srgbClr val="000000"/>
                </a:outerShdw>
              </a:effectLst>
            </a:endParaRPr>
          </a:p>
          <a:p>
            <a:pPr>
              <a:spcBef>
                <a:spcPct val="15000"/>
              </a:spcBef>
              <a:spcAft>
                <a:spcPct val="20000"/>
              </a:spcAft>
              <a:buSzTx/>
              <a:buFontTx/>
              <a:buNone/>
              <a:defRPr/>
            </a:pPr>
            <a:r>
              <a:rPr kumimoji="0" lang="zh-CN" altLang="zh-CN" sz="2800">
                <a:solidFill>
                  <a:srgbClr val="99FF33"/>
                </a:solidFill>
                <a:effectLst>
                  <a:outerShdw blurRad="38100" dist="38100" dir="2700000" algn="tl">
                    <a:srgbClr val="000000"/>
                  </a:outerShdw>
                </a:effectLst>
              </a:rPr>
              <a:t>(U</a:t>
            </a:r>
            <a:r>
              <a:rPr kumimoji="0" lang="zh-CN" altLang="zh-CN" sz="2800" baseline="-25000">
                <a:solidFill>
                  <a:srgbClr val="99FF33"/>
                </a:solidFill>
                <a:effectLst>
                  <a:outerShdw blurRad="38100" dist="38100" dir="2700000" algn="tl">
                    <a:srgbClr val="000000"/>
                  </a:outerShdw>
                </a:effectLst>
              </a:rPr>
              <a:t>1</a:t>
            </a:r>
            <a:r>
              <a:rPr kumimoji="0" lang="zh-CN" altLang="zh-CN" sz="2800">
                <a:solidFill>
                  <a:srgbClr val="99FF33"/>
                </a:solidFill>
                <a:effectLst>
                  <a:outerShdw blurRad="38100" dist="38100" dir="2700000" algn="tl">
                    <a:srgbClr val="000000"/>
                  </a:outerShdw>
                </a:effectLst>
              </a:rPr>
              <a:t>∩U</a:t>
            </a:r>
            <a:r>
              <a:rPr kumimoji="0" lang="zh-CN" altLang="zh-CN" sz="2800" baseline="-25000">
                <a:solidFill>
                  <a:srgbClr val="99FF33"/>
                </a:solidFill>
                <a:effectLst>
                  <a:outerShdw blurRad="38100" dist="38100" dir="2700000" algn="tl">
                    <a:srgbClr val="000000"/>
                  </a:outerShdw>
                </a:effectLst>
              </a:rPr>
              <a:t>2</a:t>
            </a:r>
            <a:r>
              <a:rPr kumimoji="0" lang="zh-CN" altLang="zh-CN" sz="2800">
                <a:solidFill>
                  <a:srgbClr val="99FF33"/>
                </a:solidFill>
                <a:effectLst>
                  <a:outerShdw blurRad="38100" dist="38100" dir="2700000" algn="tl">
                    <a:srgbClr val="000000"/>
                  </a:outerShdw>
                </a:effectLst>
              </a:rPr>
              <a:t>)</a:t>
            </a:r>
            <a:r>
              <a:rPr kumimoji="0" lang="zh-CN" altLang="en-US" sz="2800">
                <a:solidFill>
                  <a:srgbClr val="99FF33"/>
                </a:solidFill>
                <a:effectLst>
                  <a:outerShdw blurRad="38100" dist="38100" dir="2700000" algn="tl">
                    <a:srgbClr val="000000"/>
                  </a:outerShdw>
                </a:effectLst>
              </a:rPr>
              <a:t>=</a:t>
            </a:r>
            <a:r>
              <a:rPr kumimoji="0" lang="en-US" altLang="zh-CN" sz="2800">
                <a:solidFill>
                  <a:srgbClr val="99FF33"/>
                </a:solidFill>
                <a:effectLst>
                  <a:outerShdw blurRad="38100" dist="38100" dir="2700000" algn="tl">
                    <a:srgbClr val="000000"/>
                  </a:outerShdw>
                </a:effectLst>
              </a:rPr>
              <a:t>{A}</a:t>
            </a:r>
            <a:r>
              <a:rPr kumimoji="0" lang="zh-CN" altLang="en-US" sz="2800">
                <a:solidFill>
                  <a:srgbClr val="99FF33"/>
                </a:solidFill>
                <a:effectLst>
                  <a:outerShdw blurRad="38100" dist="38100" dir="2700000" algn="tl">
                    <a:srgbClr val="000000"/>
                  </a:outerShdw>
                </a:effectLst>
              </a:rPr>
              <a:t>，</a:t>
            </a:r>
            <a:r>
              <a:rPr kumimoji="0" lang="zh-CN" altLang="zh-CN" sz="2800">
                <a:solidFill>
                  <a:srgbClr val="99FF33"/>
                </a:solidFill>
                <a:effectLst>
                  <a:outerShdw blurRad="38100" dist="38100" dir="2700000" algn="tl">
                    <a:srgbClr val="000000"/>
                  </a:outerShdw>
                </a:effectLst>
              </a:rPr>
              <a:t>(U</a:t>
            </a:r>
            <a:r>
              <a:rPr kumimoji="0" lang="zh-CN" altLang="zh-CN" sz="2800" baseline="-25000">
                <a:solidFill>
                  <a:srgbClr val="99FF33"/>
                </a:solidFill>
                <a:effectLst>
                  <a:outerShdw blurRad="38100" dist="38100" dir="2700000" algn="tl">
                    <a:srgbClr val="000000"/>
                  </a:outerShdw>
                </a:effectLst>
              </a:rPr>
              <a:t>1</a:t>
            </a:r>
            <a:r>
              <a:rPr kumimoji="0" lang="zh-CN" altLang="zh-CN" sz="2800">
                <a:solidFill>
                  <a:srgbClr val="99FF33"/>
                </a:solidFill>
                <a:effectLst>
                  <a:outerShdw blurRad="38100" dist="38100" dir="2700000" algn="tl">
                    <a:srgbClr val="000000"/>
                  </a:outerShdw>
                </a:effectLst>
              </a:rPr>
              <a:t>-U</a:t>
            </a:r>
            <a:r>
              <a:rPr kumimoji="0" lang="zh-CN" altLang="zh-CN" sz="2800" baseline="-25000">
                <a:solidFill>
                  <a:srgbClr val="99FF33"/>
                </a:solidFill>
                <a:effectLst>
                  <a:outerShdw blurRad="38100" dist="38100" dir="2700000" algn="tl">
                    <a:srgbClr val="000000"/>
                  </a:outerShdw>
                </a:effectLst>
              </a:rPr>
              <a:t>2</a:t>
            </a:r>
            <a:r>
              <a:rPr kumimoji="0" lang="zh-CN" altLang="zh-CN" sz="2800">
                <a:solidFill>
                  <a:srgbClr val="99FF33"/>
                </a:solidFill>
                <a:effectLst>
                  <a:outerShdw blurRad="38100" dist="38100" dir="2700000" algn="tl">
                    <a:srgbClr val="000000"/>
                  </a:outerShdw>
                </a:effectLst>
              </a:rPr>
              <a:t>)</a:t>
            </a:r>
            <a:r>
              <a:rPr kumimoji="0" lang="zh-CN" altLang="en-US" sz="2800">
                <a:solidFill>
                  <a:srgbClr val="99FF33"/>
                </a:solidFill>
                <a:effectLst>
                  <a:outerShdw blurRad="38100" dist="38100" dir="2700000" algn="tl">
                    <a:srgbClr val="000000"/>
                  </a:outerShdw>
                </a:effectLst>
              </a:rPr>
              <a:t>=</a:t>
            </a:r>
            <a:r>
              <a:rPr kumimoji="0" lang="en-US" altLang="zh-CN" sz="2800">
                <a:solidFill>
                  <a:srgbClr val="99FF33"/>
                </a:solidFill>
                <a:effectLst>
                  <a:outerShdw blurRad="38100" dist="38100" dir="2700000" algn="tl">
                    <a:srgbClr val="000000"/>
                  </a:outerShdw>
                </a:effectLst>
              </a:rPr>
              <a:t>{B}</a:t>
            </a:r>
            <a:r>
              <a:rPr kumimoji="0" lang="zh-CN" altLang="en-US" sz="2800">
                <a:solidFill>
                  <a:srgbClr val="99FF33"/>
                </a:solidFill>
                <a:effectLst>
                  <a:outerShdw blurRad="38100" dist="38100" dir="2700000" algn="tl">
                    <a:srgbClr val="000000"/>
                  </a:outerShdw>
                </a:effectLst>
              </a:rPr>
              <a:t>，</a:t>
            </a:r>
            <a:r>
              <a:rPr kumimoji="0" lang="zh-CN" altLang="zh-CN" sz="2800">
                <a:solidFill>
                  <a:srgbClr val="99FF33"/>
                </a:solidFill>
                <a:effectLst>
                  <a:outerShdw blurRad="38100" dist="38100" dir="2700000" algn="tl">
                    <a:srgbClr val="000000"/>
                  </a:outerShdw>
                </a:effectLst>
              </a:rPr>
              <a:t>(U</a:t>
            </a:r>
            <a:r>
              <a:rPr kumimoji="0" lang="zh-CN" altLang="en-US" sz="2800" baseline="-25000">
                <a:solidFill>
                  <a:srgbClr val="99FF33"/>
                </a:solidFill>
                <a:effectLst>
                  <a:outerShdw blurRad="38100" dist="38100" dir="2700000" algn="tl">
                    <a:srgbClr val="000000"/>
                  </a:outerShdw>
                </a:effectLst>
              </a:rPr>
              <a:t>2</a:t>
            </a:r>
            <a:r>
              <a:rPr kumimoji="0" lang="zh-CN" altLang="zh-CN" sz="2800">
                <a:solidFill>
                  <a:srgbClr val="99FF33"/>
                </a:solidFill>
                <a:effectLst>
                  <a:outerShdw blurRad="38100" dist="38100" dir="2700000" algn="tl">
                    <a:srgbClr val="000000"/>
                  </a:outerShdw>
                </a:effectLst>
              </a:rPr>
              <a:t>-U</a:t>
            </a:r>
            <a:r>
              <a:rPr kumimoji="0" lang="zh-CN" altLang="en-US" sz="2800" baseline="-25000">
                <a:solidFill>
                  <a:srgbClr val="99FF33"/>
                </a:solidFill>
                <a:effectLst>
                  <a:outerShdw blurRad="38100" dist="38100" dir="2700000" algn="tl">
                    <a:srgbClr val="000000"/>
                  </a:outerShdw>
                </a:effectLst>
              </a:rPr>
              <a:t>1</a:t>
            </a:r>
            <a:r>
              <a:rPr kumimoji="0" lang="zh-CN" altLang="zh-CN" sz="2800">
                <a:solidFill>
                  <a:srgbClr val="99FF33"/>
                </a:solidFill>
                <a:effectLst>
                  <a:outerShdw blurRad="38100" dist="38100" dir="2700000" algn="tl">
                    <a:srgbClr val="000000"/>
                  </a:outerShdw>
                </a:effectLst>
              </a:rPr>
              <a:t>)</a:t>
            </a:r>
            <a:r>
              <a:rPr kumimoji="0" lang="en-US" altLang="zh-CN" sz="2800">
                <a:solidFill>
                  <a:srgbClr val="99FF33"/>
                </a:solidFill>
                <a:effectLst>
                  <a:outerShdw blurRad="38100" dist="38100" dir="2700000" algn="tl">
                    <a:srgbClr val="000000"/>
                  </a:outerShdw>
                </a:effectLst>
              </a:rPr>
              <a:t>={C}</a:t>
            </a:r>
          </a:p>
          <a:p>
            <a:pPr>
              <a:spcAft>
                <a:spcPct val="20000"/>
              </a:spcAft>
              <a:buSzTx/>
              <a:buFontTx/>
              <a:buNone/>
              <a:defRPr/>
            </a:pPr>
            <a:r>
              <a:rPr kumimoji="0" lang="zh-CN" altLang="en-US" sz="2800">
                <a:solidFill>
                  <a:srgbClr val="99FF33"/>
                </a:solidFill>
                <a:effectLst>
                  <a:outerShdw blurRad="38100" dist="38100" dir="2700000" algn="tl">
                    <a:srgbClr val="000000"/>
                  </a:outerShdw>
                </a:effectLst>
              </a:rPr>
              <a:t>由</a:t>
            </a:r>
            <a:r>
              <a:rPr kumimoji="0" lang="en-US" altLang="zh-CN" sz="2800">
                <a:solidFill>
                  <a:srgbClr val="99FF33"/>
                </a:solidFill>
                <a:effectLst>
                  <a:outerShdw blurRad="38100" dist="38100" dir="2700000" algn="tl">
                    <a:srgbClr val="000000"/>
                  </a:outerShdw>
                </a:effectLst>
              </a:rPr>
              <a:t>F</a:t>
            </a:r>
            <a:r>
              <a:rPr kumimoji="0" lang="zh-CN" altLang="en-US" sz="2800">
                <a:solidFill>
                  <a:srgbClr val="99FF33"/>
                </a:solidFill>
                <a:effectLst>
                  <a:outerShdw blurRad="38100" dist="38100" dir="2700000" algn="tl">
                    <a:srgbClr val="000000"/>
                  </a:outerShdw>
                </a:effectLst>
              </a:rPr>
              <a:t>可知</a:t>
            </a:r>
            <a:r>
              <a:rPr kumimoji="0" lang="en-US" altLang="zh-CN" sz="2800">
                <a:solidFill>
                  <a:srgbClr val="99FF33"/>
                </a:solidFill>
                <a:effectLst>
                  <a:outerShdw blurRad="38100" dist="38100" dir="2700000" algn="tl">
                    <a:srgbClr val="000000"/>
                  </a:outerShdw>
                </a:effectLst>
              </a:rPr>
              <a:t>A→B</a:t>
            </a:r>
            <a:r>
              <a:rPr kumimoji="0" lang="zh-CN" altLang="en-US" sz="2800">
                <a:solidFill>
                  <a:srgbClr val="99FF33"/>
                </a:solidFill>
                <a:effectLst>
                  <a:outerShdw blurRad="38100" dist="38100" dir="2700000" algn="tl">
                    <a:srgbClr val="000000"/>
                  </a:outerShdw>
                </a:effectLst>
              </a:rPr>
              <a:t>，即</a:t>
            </a:r>
            <a:r>
              <a:rPr kumimoji="0" lang="en-US" altLang="zh-CN" sz="2800">
                <a:solidFill>
                  <a:srgbClr val="99FF33"/>
                </a:solidFill>
                <a:effectLst>
                  <a:outerShdw blurRad="38100" dist="38100" dir="2700000" algn="tl">
                    <a:srgbClr val="000000"/>
                  </a:outerShdw>
                </a:effectLst>
              </a:rPr>
              <a:t>(U</a:t>
            </a:r>
            <a:r>
              <a:rPr kumimoji="0" lang="en-US" altLang="zh-CN" sz="2800" baseline="-30000">
                <a:solidFill>
                  <a:srgbClr val="99FF33"/>
                </a:solidFill>
                <a:effectLst>
                  <a:outerShdw blurRad="38100" dist="38100" dir="2700000" algn="tl">
                    <a:srgbClr val="000000"/>
                  </a:outerShdw>
                </a:effectLst>
              </a:rPr>
              <a:t>1</a:t>
            </a:r>
            <a:r>
              <a:rPr kumimoji="0" lang="en-US" altLang="zh-CN" sz="2800">
                <a:solidFill>
                  <a:srgbClr val="99FF33"/>
                </a:solidFill>
                <a:effectLst>
                  <a:outerShdw blurRad="38100" dist="38100" dir="2700000" algn="tl">
                    <a:srgbClr val="000000"/>
                  </a:outerShdw>
                </a:effectLst>
              </a:rPr>
              <a:t>∩U</a:t>
            </a:r>
            <a:r>
              <a:rPr kumimoji="0" lang="en-US" altLang="zh-CN" sz="2800" baseline="-30000">
                <a:solidFill>
                  <a:srgbClr val="99FF33"/>
                </a:solidFill>
                <a:effectLst>
                  <a:outerShdw blurRad="38100" dist="38100" dir="2700000" algn="tl">
                    <a:srgbClr val="000000"/>
                  </a:outerShdw>
                </a:effectLst>
              </a:rPr>
              <a:t>2</a:t>
            </a:r>
            <a:r>
              <a:rPr kumimoji="0" lang="en-US" altLang="zh-CN" sz="2800">
                <a:solidFill>
                  <a:srgbClr val="99FF33"/>
                </a:solidFill>
                <a:effectLst>
                  <a:outerShdw blurRad="38100" dist="38100" dir="2700000" algn="tl">
                    <a:srgbClr val="000000"/>
                  </a:outerShdw>
                </a:effectLst>
              </a:rPr>
              <a:t>)→(U</a:t>
            </a:r>
            <a:r>
              <a:rPr kumimoji="0" lang="en-US" altLang="zh-CN" sz="2800" baseline="-30000">
                <a:solidFill>
                  <a:srgbClr val="99FF33"/>
                </a:solidFill>
                <a:effectLst>
                  <a:outerShdw blurRad="38100" dist="38100" dir="2700000" algn="tl">
                    <a:srgbClr val="000000"/>
                  </a:outerShdw>
                </a:effectLst>
              </a:rPr>
              <a:t>1</a:t>
            </a:r>
            <a:r>
              <a:rPr kumimoji="0" lang="en-US" altLang="zh-CN" sz="2800">
                <a:solidFill>
                  <a:srgbClr val="99FF33"/>
                </a:solidFill>
                <a:effectLst>
                  <a:outerShdw blurRad="38100" dist="38100" dir="2700000" algn="tl">
                    <a:srgbClr val="000000"/>
                  </a:outerShdw>
                </a:effectLst>
              </a:rPr>
              <a:t>-U</a:t>
            </a:r>
            <a:r>
              <a:rPr kumimoji="0" lang="en-US" altLang="zh-CN" sz="2800" baseline="-30000">
                <a:solidFill>
                  <a:srgbClr val="99FF33"/>
                </a:solidFill>
                <a:effectLst>
                  <a:outerShdw blurRad="38100" dist="38100" dir="2700000" algn="tl">
                    <a:srgbClr val="000000"/>
                  </a:outerShdw>
                </a:effectLst>
              </a:rPr>
              <a:t>2</a:t>
            </a:r>
            <a:r>
              <a:rPr kumimoji="0" lang="en-US" altLang="zh-CN" sz="2800">
                <a:solidFill>
                  <a:srgbClr val="99FF33"/>
                </a:solidFill>
                <a:effectLst>
                  <a:outerShdw blurRad="38100" dist="38100" dir="2700000" algn="tl">
                    <a:srgbClr val="000000"/>
                  </a:outerShdw>
                </a:effectLst>
              </a:rPr>
              <a:t>)</a:t>
            </a:r>
            <a:r>
              <a:rPr kumimoji="0" lang="zh-CN" altLang="en-US" sz="2800">
                <a:solidFill>
                  <a:srgbClr val="99FF33"/>
                </a:solidFill>
                <a:effectLst>
                  <a:outerShdw blurRad="38100" dist="38100" dir="2700000" algn="tl">
                    <a:srgbClr val="000000"/>
                  </a:outerShdw>
                </a:effectLst>
              </a:rPr>
              <a:t>成立</a:t>
            </a:r>
          </a:p>
          <a:p>
            <a:pPr>
              <a:spcAft>
                <a:spcPct val="20000"/>
              </a:spcAft>
              <a:buSzTx/>
              <a:buFontTx/>
              <a:buNone/>
              <a:defRPr/>
            </a:pPr>
            <a:r>
              <a:rPr kumimoji="0" lang="zh-CN" altLang="en-US" sz="2800">
                <a:solidFill>
                  <a:srgbClr val="99FF33"/>
                </a:solidFill>
                <a:effectLst>
                  <a:outerShdw blurRad="38100" dist="38100" dir="2700000" algn="tl">
                    <a:srgbClr val="000000"/>
                  </a:outerShdw>
                </a:effectLst>
              </a:rPr>
              <a:t>故此</a:t>
            </a:r>
            <a:r>
              <a:rPr kumimoji="0" lang="en-US" altLang="zh-CN" sz="2600" i="1">
                <a:solidFill>
                  <a:srgbClr val="99FF33"/>
                </a:solidFill>
                <a:effectLst>
                  <a:outerShdw blurRad="38100" dist="38100" dir="2700000" algn="tl">
                    <a:srgbClr val="000000"/>
                  </a:outerShdw>
                </a:effectLst>
              </a:rPr>
              <a:t>ρ</a:t>
            </a:r>
            <a:r>
              <a:rPr kumimoji="0" lang="zh-CN" altLang="en-US" sz="2600">
                <a:solidFill>
                  <a:srgbClr val="99FF33"/>
                </a:solidFill>
                <a:effectLst>
                  <a:outerShdw blurRad="38100" dist="38100" dir="2700000" algn="tl">
                    <a:srgbClr val="000000"/>
                  </a:outerShdw>
                </a:effectLst>
              </a:rPr>
              <a:t>为无损连接分解</a:t>
            </a:r>
            <a:endParaRPr kumimoji="0" lang="zh-CN" altLang="zh-CN" sz="2600">
              <a:solidFill>
                <a:srgbClr val="99FF33"/>
              </a:solidFill>
              <a:effectLst>
                <a:outerShdw blurRad="38100" dist="38100" dir="2700000" algn="tl">
                  <a:srgbClr val="000000"/>
                </a:outerShdw>
              </a:effectLst>
            </a:endParaRP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3955" name="Rectangle 3"/>
          <p:cNvSpPr>
            <a:spLocks noGrp="1" noChangeArrowheads="1"/>
          </p:cNvSpPr>
          <p:nvPr>
            <p:ph type="body" idx="1"/>
          </p:nvPr>
        </p:nvSpPr>
        <p:spPr>
          <a:xfrm>
            <a:off x="192088" y="1341438"/>
            <a:ext cx="8647112" cy="2016125"/>
          </a:xfrm>
        </p:spPr>
        <p:txBody>
          <a:bodyPr/>
          <a:lstStyle/>
          <a:p>
            <a:pPr marL="358775" indent="-358775" algn="just">
              <a:lnSpc>
                <a:spcPct val="115000"/>
              </a:lnSpc>
              <a:defRPr/>
            </a:pPr>
            <a:r>
              <a:rPr lang="zh-CN" altLang="en-US" sz="2800">
                <a:latin typeface="楷体_GB2312" pitchFamily="49" charset="-122"/>
              </a:rPr>
              <a:t>如果</a:t>
            </a:r>
            <a:r>
              <a:rPr lang="en-US" altLang="zh-CN" sz="2800">
                <a:latin typeface="楷体_GB2312" pitchFamily="49" charset="-122"/>
              </a:rPr>
              <a:t>R(U,F)</a:t>
            </a:r>
            <a:r>
              <a:rPr lang="zh-CN" altLang="en-US" sz="2800">
                <a:latin typeface="楷体_GB2312" pitchFamily="49" charset="-122"/>
              </a:rPr>
              <a:t>的分解为</a:t>
            </a:r>
            <a:r>
              <a:rPr lang="en-US" altLang="zh-CN" sz="2800" i="1">
                <a:latin typeface="楷体_GB2312" pitchFamily="49" charset="-122"/>
              </a:rPr>
              <a:t>ρ</a:t>
            </a:r>
            <a:r>
              <a:rPr lang="zh-CN" altLang="en-US" sz="2800">
                <a:latin typeface="楷体_GB2312" pitchFamily="49" charset="-122"/>
              </a:rPr>
              <a:t>＝</a:t>
            </a:r>
            <a:r>
              <a:rPr lang="en-US" altLang="zh-CN" sz="2800">
                <a:latin typeface="楷体_GB2312" pitchFamily="49" charset="-122"/>
              </a:rPr>
              <a:t>{R</a:t>
            </a:r>
            <a:r>
              <a:rPr lang="en-US" altLang="zh-CN" sz="2800" baseline="-30000">
                <a:latin typeface="楷体_GB2312" pitchFamily="49" charset="-122"/>
              </a:rPr>
              <a:t>l</a:t>
            </a:r>
            <a:r>
              <a:rPr lang="en-US" altLang="zh-CN" sz="2800">
                <a:latin typeface="楷体_GB2312" pitchFamily="49" charset="-122"/>
              </a:rPr>
              <a:t>(U</a:t>
            </a:r>
            <a:r>
              <a:rPr lang="en-US" altLang="zh-CN" sz="2800" baseline="-30000">
                <a:latin typeface="楷体_GB2312" pitchFamily="49" charset="-122"/>
              </a:rPr>
              <a:t>1</a:t>
            </a:r>
            <a:r>
              <a:rPr lang="en-US" altLang="zh-CN" sz="2800">
                <a:latin typeface="楷体_GB2312" pitchFamily="49" charset="-122"/>
              </a:rPr>
              <a:t>),R</a:t>
            </a:r>
            <a:r>
              <a:rPr lang="en-US" altLang="zh-CN" sz="2800" baseline="-30000">
                <a:latin typeface="楷体_GB2312" pitchFamily="49" charset="-122"/>
              </a:rPr>
              <a:t>2</a:t>
            </a:r>
            <a:r>
              <a:rPr lang="en-US" altLang="zh-CN" sz="2800">
                <a:latin typeface="楷体_GB2312" pitchFamily="49" charset="-122"/>
              </a:rPr>
              <a:t>(U</a:t>
            </a:r>
            <a:r>
              <a:rPr lang="en-US" altLang="zh-CN" sz="2800" baseline="-30000">
                <a:latin typeface="楷体_GB2312" pitchFamily="49" charset="-122"/>
              </a:rPr>
              <a:t>2</a:t>
            </a:r>
            <a:r>
              <a:rPr lang="en-US" altLang="zh-CN" sz="2800">
                <a:latin typeface="楷体_GB2312" pitchFamily="49" charset="-122"/>
              </a:rPr>
              <a:t>)}</a:t>
            </a:r>
            <a:r>
              <a:rPr lang="zh-CN" altLang="en-US" sz="2800">
                <a:latin typeface="楷体_GB2312" pitchFamily="49" charset="-122"/>
              </a:rPr>
              <a:t>，其中</a:t>
            </a:r>
            <a:r>
              <a:rPr lang="en-US" altLang="zh-CN" sz="2800">
                <a:latin typeface="楷体_GB2312" pitchFamily="49" charset="-122"/>
              </a:rPr>
              <a:t>U=U</a:t>
            </a:r>
            <a:r>
              <a:rPr lang="en-US" altLang="zh-CN" sz="2800" baseline="-30000">
                <a:latin typeface="楷体_GB2312" pitchFamily="49" charset="-122"/>
              </a:rPr>
              <a:t>1</a:t>
            </a:r>
            <a:r>
              <a:rPr lang="en-US" altLang="zh-CN" sz="2800">
                <a:latin typeface="楷体_GB2312" pitchFamily="49" charset="-122"/>
              </a:rPr>
              <a:t>∪U</a:t>
            </a:r>
            <a:r>
              <a:rPr lang="en-US" altLang="zh-CN" sz="2800" baseline="-30000">
                <a:latin typeface="楷体_GB2312" pitchFamily="49" charset="-122"/>
              </a:rPr>
              <a:t>2</a:t>
            </a:r>
            <a:r>
              <a:rPr lang="zh-CN" altLang="en-US" sz="2800">
                <a:latin typeface="楷体_GB2312" pitchFamily="49" charset="-122"/>
              </a:rPr>
              <a:t>，则分解</a:t>
            </a:r>
            <a:r>
              <a:rPr lang="en-US" altLang="zh-CN" sz="2800" i="1">
                <a:latin typeface="楷体_GB2312" pitchFamily="49" charset="-122"/>
              </a:rPr>
              <a:t>ρ</a:t>
            </a:r>
            <a:r>
              <a:rPr lang="zh-CN" altLang="en-US" sz="2800">
                <a:latin typeface="楷体_GB2312" pitchFamily="49" charset="-122"/>
              </a:rPr>
              <a:t>是无损连接的充要条件为</a:t>
            </a:r>
            <a:r>
              <a:rPr lang="en-US" altLang="zh-CN" sz="2800">
                <a:latin typeface="楷体_GB2312" pitchFamily="49" charset="-122"/>
              </a:rPr>
              <a:t>(U</a:t>
            </a:r>
            <a:r>
              <a:rPr lang="en-US" altLang="zh-CN" sz="2800" baseline="-30000">
                <a:latin typeface="楷体_GB2312" pitchFamily="49" charset="-122"/>
              </a:rPr>
              <a:t>1</a:t>
            </a:r>
            <a:r>
              <a:rPr lang="en-US" altLang="zh-CN" sz="2800">
                <a:latin typeface="楷体_GB2312" pitchFamily="49" charset="-122"/>
              </a:rPr>
              <a:t>∩U</a:t>
            </a:r>
            <a:r>
              <a:rPr lang="en-US" altLang="zh-CN" sz="2800" baseline="-30000">
                <a:latin typeface="楷体_GB2312" pitchFamily="49" charset="-122"/>
              </a:rPr>
              <a:t>2</a:t>
            </a:r>
            <a:r>
              <a:rPr lang="en-US" altLang="zh-CN" sz="2800">
                <a:latin typeface="楷体_GB2312" pitchFamily="49" charset="-122"/>
              </a:rPr>
              <a:t>)→(U</a:t>
            </a:r>
            <a:r>
              <a:rPr lang="en-US" altLang="zh-CN" sz="2800" baseline="-30000">
                <a:latin typeface="楷体_GB2312" pitchFamily="49" charset="-122"/>
              </a:rPr>
              <a:t>1</a:t>
            </a:r>
            <a:r>
              <a:rPr lang="en-US" altLang="zh-CN" sz="2800">
                <a:latin typeface="楷体_GB2312" pitchFamily="49" charset="-122"/>
              </a:rPr>
              <a:t>-U</a:t>
            </a:r>
            <a:r>
              <a:rPr lang="en-US" altLang="zh-CN" sz="2800" baseline="-30000">
                <a:latin typeface="楷体_GB2312" pitchFamily="49" charset="-122"/>
              </a:rPr>
              <a:t>2</a:t>
            </a:r>
            <a:r>
              <a:rPr lang="en-US" altLang="zh-CN" sz="2800">
                <a:latin typeface="楷体_GB2312" pitchFamily="49" charset="-122"/>
              </a:rPr>
              <a:t>)</a:t>
            </a:r>
            <a:r>
              <a:rPr lang="zh-CN" altLang="en-US" sz="2800">
                <a:latin typeface="楷体_GB2312" pitchFamily="49" charset="-122"/>
              </a:rPr>
              <a:t>或者</a:t>
            </a:r>
            <a:r>
              <a:rPr lang="en-US" altLang="zh-CN" sz="2800">
                <a:latin typeface="楷体_GB2312" pitchFamily="49" charset="-122"/>
              </a:rPr>
              <a:t>(U</a:t>
            </a:r>
            <a:r>
              <a:rPr lang="en-US" altLang="zh-CN" sz="2800" baseline="-30000">
                <a:latin typeface="楷体_GB2312" pitchFamily="49" charset="-122"/>
              </a:rPr>
              <a:t>1</a:t>
            </a:r>
            <a:r>
              <a:rPr lang="en-US" altLang="zh-CN" sz="2800">
                <a:latin typeface="楷体_GB2312" pitchFamily="49" charset="-122"/>
              </a:rPr>
              <a:t>∩U</a:t>
            </a:r>
            <a:r>
              <a:rPr lang="en-US" altLang="zh-CN" sz="2800" baseline="-30000">
                <a:latin typeface="楷体_GB2312" pitchFamily="49" charset="-122"/>
              </a:rPr>
              <a:t>2</a:t>
            </a:r>
            <a:r>
              <a:rPr lang="en-US" altLang="zh-CN" sz="2800">
                <a:latin typeface="楷体_GB2312" pitchFamily="49" charset="-122"/>
              </a:rPr>
              <a:t>)→(U</a:t>
            </a:r>
            <a:r>
              <a:rPr lang="en-US" altLang="zh-CN" sz="2800" baseline="-30000">
                <a:latin typeface="楷体_GB2312" pitchFamily="49" charset="-122"/>
              </a:rPr>
              <a:t>2</a:t>
            </a:r>
            <a:r>
              <a:rPr lang="en-US" altLang="zh-CN" sz="2800">
                <a:latin typeface="楷体_GB2312" pitchFamily="49" charset="-122"/>
              </a:rPr>
              <a:t>-U</a:t>
            </a:r>
            <a:r>
              <a:rPr lang="en-US" altLang="zh-CN" sz="2800" baseline="-30000">
                <a:latin typeface="楷体_GB2312" pitchFamily="49" charset="-122"/>
              </a:rPr>
              <a:t>1</a:t>
            </a:r>
            <a:r>
              <a:rPr lang="en-US" altLang="zh-CN" sz="2800">
                <a:latin typeface="楷体_GB2312" pitchFamily="49" charset="-122"/>
              </a:rPr>
              <a:t>)</a:t>
            </a:r>
            <a:r>
              <a:rPr lang="zh-CN" altLang="en-US" sz="2800">
                <a:latin typeface="楷体_GB2312" pitchFamily="49" charset="-122"/>
              </a:rPr>
              <a:t>成立。	</a:t>
            </a:r>
          </a:p>
        </p:txBody>
      </p:sp>
      <p:sp>
        <p:nvSpPr>
          <p:cNvPr id="1533957" name="Text Box 5"/>
          <p:cNvSpPr txBox="1">
            <a:spLocks noChangeArrowheads="1"/>
          </p:cNvSpPr>
          <p:nvPr/>
        </p:nvSpPr>
        <p:spPr bwMode="auto">
          <a:xfrm>
            <a:off x="539750" y="3141663"/>
            <a:ext cx="8382000" cy="647700"/>
          </a:xfrm>
          <a:prstGeom prst="rect">
            <a:avLst/>
          </a:prstGeom>
          <a:noFill/>
          <a:ln w="12700" cap="sq">
            <a:noFill/>
            <a:miter lim="800000"/>
            <a:headEnd type="none" w="sm" len="sm"/>
            <a:tailEnd type="none" w="sm" len="sm"/>
          </a:ln>
          <a:effectLst/>
        </p:spPr>
        <p:txBody>
          <a:bodyPr/>
          <a:lstStyle/>
          <a:p>
            <a:pPr>
              <a:spcAft>
                <a:spcPct val="0"/>
              </a:spcAft>
              <a:buSzTx/>
              <a:buFontTx/>
              <a:buNone/>
              <a:defRPr/>
            </a:pPr>
            <a:r>
              <a:rPr kumimoji="0" lang="zh-CN" altLang="en-US" sz="2800">
                <a:solidFill>
                  <a:srgbClr val="99FF33"/>
                </a:solidFill>
                <a:effectLst>
                  <a:outerShdw blurRad="38100" dist="38100" dir="2700000" algn="tl">
                    <a:srgbClr val="000000"/>
                  </a:outerShdw>
                </a:effectLst>
              </a:rPr>
              <a:t>设关系模式</a:t>
            </a:r>
            <a:r>
              <a:rPr kumimoji="0" lang="en-US" altLang="zh-CN" sz="2800">
                <a:solidFill>
                  <a:srgbClr val="99FF33"/>
                </a:solidFill>
                <a:effectLst>
                  <a:outerShdw blurRad="38100" dist="38100" dir="2700000" algn="tl">
                    <a:srgbClr val="000000"/>
                  </a:outerShdw>
                </a:effectLst>
              </a:rPr>
              <a:t>R(A,B,C)</a:t>
            </a:r>
            <a:r>
              <a:rPr kumimoji="0" lang="zh-CN" altLang="en-US" sz="2800">
                <a:solidFill>
                  <a:srgbClr val="99FF33"/>
                </a:solidFill>
                <a:effectLst>
                  <a:outerShdw blurRad="38100" dist="38100" dir="2700000" algn="tl">
                    <a:srgbClr val="000000"/>
                  </a:outerShdw>
                </a:effectLst>
              </a:rPr>
              <a:t>，</a:t>
            </a:r>
            <a:r>
              <a:rPr kumimoji="0" lang="en-US" altLang="zh-CN" sz="2800">
                <a:solidFill>
                  <a:srgbClr val="99FF33"/>
                </a:solidFill>
                <a:effectLst>
                  <a:outerShdw blurRad="38100" dist="38100" dir="2700000" algn="tl">
                    <a:srgbClr val="000000"/>
                  </a:outerShdw>
                </a:effectLst>
              </a:rPr>
              <a:t>F</a:t>
            </a:r>
            <a:r>
              <a:rPr kumimoji="0" lang="zh-CN" altLang="en-US" sz="2800">
                <a:solidFill>
                  <a:srgbClr val="99FF33"/>
                </a:solidFill>
                <a:effectLst>
                  <a:outerShdw blurRad="38100" dist="38100" dir="2700000" algn="tl">
                    <a:srgbClr val="000000"/>
                  </a:outerShdw>
                </a:effectLst>
              </a:rPr>
              <a:t>＝</a:t>
            </a:r>
            <a:r>
              <a:rPr kumimoji="0" lang="en-US" altLang="zh-CN" sz="2800">
                <a:solidFill>
                  <a:srgbClr val="99FF33"/>
                </a:solidFill>
                <a:effectLst>
                  <a:outerShdw blurRad="38100" dist="38100" dir="2700000" algn="tl">
                    <a:srgbClr val="000000"/>
                  </a:outerShdw>
                </a:effectLst>
              </a:rPr>
              <a:t>{A→B}</a:t>
            </a:r>
            <a:r>
              <a:rPr kumimoji="0" lang="zh-CN" altLang="en-US" sz="2800">
                <a:solidFill>
                  <a:srgbClr val="99FF33"/>
                </a:solidFill>
                <a:effectLst>
                  <a:outerShdw blurRad="38100" dist="38100" dir="2700000" algn="tl">
                    <a:srgbClr val="000000"/>
                  </a:outerShdw>
                </a:effectLst>
              </a:rPr>
              <a:t>。若</a:t>
            </a:r>
            <a:r>
              <a:rPr kumimoji="0" lang="en-US" altLang="zh-CN" sz="2800">
                <a:solidFill>
                  <a:srgbClr val="99FF33"/>
                </a:solidFill>
                <a:effectLst>
                  <a:outerShdw blurRad="38100" dist="38100" dir="2700000" algn="tl">
                    <a:srgbClr val="000000"/>
                  </a:outerShdw>
                </a:effectLst>
              </a:rPr>
              <a:t>R</a:t>
            </a:r>
            <a:r>
              <a:rPr kumimoji="0" lang="zh-CN" altLang="en-US" sz="2800">
                <a:solidFill>
                  <a:srgbClr val="99FF33"/>
                </a:solidFill>
                <a:effectLst>
                  <a:outerShdw blurRad="38100" dist="38100" dir="2700000" algn="tl">
                    <a:srgbClr val="000000"/>
                  </a:outerShdw>
                </a:effectLst>
              </a:rPr>
              <a:t>分解成</a:t>
            </a:r>
            <a:r>
              <a:rPr kumimoji="0" lang="en-US" altLang="zh-CN" sz="2800" i="1">
                <a:solidFill>
                  <a:srgbClr val="99FF33"/>
                </a:solidFill>
                <a:effectLst>
                  <a:outerShdw blurRad="38100" dist="38100" dir="2700000" algn="tl">
                    <a:srgbClr val="000000"/>
                  </a:outerShdw>
                </a:effectLst>
              </a:rPr>
              <a:t>ρ</a:t>
            </a:r>
            <a:r>
              <a:rPr kumimoji="0" lang="en-US" altLang="zh-CN" sz="2800">
                <a:solidFill>
                  <a:srgbClr val="99FF33"/>
                </a:solidFill>
                <a:effectLst>
                  <a:outerShdw blurRad="38100" dist="38100" dir="2700000" algn="tl">
                    <a:srgbClr val="000000"/>
                  </a:outerShdw>
                </a:effectLst>
              </a:rPr>
              <a:t>={R</a:t>
            </a:r>
            <a:r>
              <a:rPr kumimoji="0" lang="en-US" altLang="zh-CN" sz="2800" baseline="-25000">
                <a:solidFill>
                  <a:srgbClr val="99FF33"/>
                </a:solidFill>
                <a:effectLst>
                  <a:outerShdw blurRad="38100" dist="38100" dir="2700000" algn="tl">
                    <a:srgbClr val="000000"/>
                  </a:outerShdw>
                </a:effectLst>
              </a:rPr>
              <a:t>1</a:t>
            </a:r>
            <a:r>
              <a:rPr kumimoji="0" lang="en-US" altLang="zh-CN" sz="2800">
                <a:solidFill>
                  <a:srgbClr val="99FF33"/>
                </a:solidFill>
                <a:effectLst>
                  <a:outerShdw blurRad="38100" dist="38100" dir="2700000" algn="tl">
                    <a:srgbClr val="000000"/>
                  </a:outerShdw>
                </a:effectLst>
              </a:rPr>
              <a:t>(A,B)</a:t>
            </a:r>
            <a:r>
              <a:rPr kumimoji="0" lang="zh-CN" altLang="en-US" sz="2800">
                <a:solidFill>
                  <a:srgbClr val="99FF33"/>
                </a:solidFill>
                <a:effectLst>
                  <a:outerShdw blurRad="38100" dist="38100" dir="2700000" algn="tl">
                    <a:srgbClr val="000000"/>
                  </a:outerShdw>
                </a:effectLst>
              </a:rPr>
              <a:t>，</a:t>
            </a:r>
            <a:r>
              <a:rPr kumimoji="0" lang="en-US" altLang="zh-CN" sz="2800">
                <a:solidFill>
                  <a:srgbClr val="99FF33"/>
                </a:solidFill>
                <a:effectLst>
                  <a:outerShdw blurRad="38100" dist="38100" dir="2700000" algn="tl">
                    <a:srgbClr val="000000"/>
                  </a:outerShdw>
                </a:effectLst>
              </a:rPr>
              <a:t>R</a:t>
            </a:r>
            <a:r>
              <a:rPr kumimoji="0" lang="en-US" altLang="zh-CN" sz="2800" baseline="-25000">
                <a:solidFill>
                  <a:srgbClr val="99FF33"/>
                </a:solidFill>
                <a:effectLst>
                  <a:outerShdw blurRad="38100" dist="38100" dir="2700000" algn="tl">
                    <a:srgbClr val="000000"/>
                  </a:outerShdw>
                </a:effectLst>
              </a:rPr>
              <a:t>2</a:t>
            </a:r>
            <a:r>
              <a:rPr kumimoji="0" lang="en-US" altLang="zh-CN" sz="2800">
                <a:solidFill>
                  <a:srgbClr val="99FF33"/>
                </a:solidFill>
                <a:effectLst>
                  <a:outerShdw blurRad="38100" dist="38100" dir="2700000" algn="tl">
                    <a:srgbClr val="000000"/>
                  </a:outerShdw>
                </a:effectLst>
              </a:rPr>
              <a:t>(B,C)}</a:t>
            </a:r>
          </a:p>
          <a:p>
            <a:pPr>
              <a:spcBef>
                <a:spcPct val="15000"/>
              </a:spcBef>
              <a:spcAft>
                <a:spcPct val="0"/>
              </a:spcAft>
              <a:buSzTx/>
              <a:buFontTx/>
              <a:buNone/>
              <a:defRPr/>
            </a:pPr>
            <a:r>
              <a:rPr kumimoji="0" lang="zh-CN" altLang="en-US" sz="2800">
                <a:solidFill>
                  <a:srgbClr val="99FF33"/>
                </a:solidFill>
                <a:effectLst>
                  <a:outerShdw blurRad="38100" dist="38100" dir="2700000" algn="tl">
                    <a:srgbClr val="000000"/>
                  </a:outerShdw>
                </a:effectLst>
              </a:rPr>
              <a:t>则有</a:t>
            </a:r>
            <a:r>
              <a:rPr kumimoji="0" lang="en-US" altLang="zh-CN" sz="2800">
                <a:solidFill>
                  <a:srgbClr val="99FF33"/>
                </a:solidFill>
                <a:effectLst>
                  <a:outerShdw blurRad="38100" dist="38100" dir="2700000" algn="tl">
                    <a:srgbClr val="000000"/>
                  </a:outerShdw>
                </a:effectLst>
              </a:rPr>
              <a:t>U</a:t>
            </a:r>
            <a:r>
              <a:rPr kumimoji="0" lang="en-US" altLang="zh-CN" sz="2800" baseline="-30000">
                <a:solidFill>
                  <a:srgbClr val="99FF33"/>
                </a:solidFill>
                <a:effectLst>
                  <a:outerShdw blurRad="38100" dist="38100" dir="2700000" algn="tl">
                    <a:srgbClr val="000000"/>
                  </a:outerShdw>
                </a:effectLst>
              </a:rPr>
              <a:t>1</a:t>
            </a:r>
            <a:r>
              <a:rPr kumimoji="0" lang="en-US" altLang="zh-CN" sz="2800">
                <a:solidFill>
                  <a:srgbClr val="99FF33"/>
                </a:solidFill>
                <a:effectLst>
                  <a:outerShdw blurRad="38100" dist="38100" dir="2700000" algn="tl">
                    <a:srgbClr val="000000"/>
                  </a:outerShdw>
                </a:effectLst>
              </a:rPr>
              <a:t>={A,B}</a:t>
            </a:r>
            <a:r>
              <a:rPr kumimoji="0" lang="zh-CN" altLang="en-US" sz="2800">
                <a:solidFill>
                  <a:srgbClr val="99FF33"/>
                </a:solidFill>
                <a:effectLst>
                  <a:outerShdw blurRad="38100" dist="38100" dir="2700000" algn="tl">
                    <a:srgbClr val="000000"/>
                  </a:outerShdw>
                </a:effectLst>
              </a:rPr>
              <a:t>，</a:t>
            </a:r>
            <a:r>
              <a:rPr kumimoji="0" lang="en-US" altLang="zh-CN" sz="2800">
                <a:solidFill>
                  <a:srgbClr val="99FF33"/>
                </a:solidFill>
                <a:effectLst>
                  <a:outerShdw blurRad="38100" dist="38100" dir="2700000" algn="tl">
                    <a:srgbClr val="000000"/>
                  </a:outerShdw>
                </a:effectLst>
              </a:rPr>
              <a:t>U</a:t>
            </a:r>
            <a:r>
              <a:rPr kumimoji="0" lang="en-US" altLang="zh-CN" sz="2800" baseline="-30000">
                <a:solidFill>
                  <a:srgbClr val="99FF33"/>
                </a:solidFill>
                <a:effectLst>
                  <a:outerShdw blurRad="38100" dist="38100" dir="2700000" algn="tl">
                    <a:srgbClr val="000000"/>
                  </a:outerShdw>
                </a:effectLst>
              </a:rPr>
              <a:t>2</a:t>
            </a:r>
            <a:r>
              <a:rPr kumimoji="0" lang="en-US" altLang="zh-CN" sz="2800">
                <a:solidFill>
                  <a:srgbClr val="99FF33"/>
                </a:solidFill>
                <a:effectLst>
                  <a:outerShdw blurRad="38100" dist="38100" dir="2700000" algn="tl">
                    <a:srgbClr val="000000"/>
                  </a:outerShdw>
                </a:effectLst>
              </a:rPr>
              <a:t>={B,C}</a:t>
            </a:r>
            <a:r>
              <a:rPr kumimoji="0" lang="zh-CN" altLang="en-US" sz="2800">
                <a:solidFill>
                  <a:srgbClr val="99FF33"/>
                </a:solidFill>
                <a:effectLst>
                  <a:outerShdw blurRad="38100" dist="38100" dir="2700000" algn="tl">
                    <a:srgbClr val="000000"/>
                  </a:outerShdw>
                </a:effectLst>
              </a:rPr>
              <a:t>，</a:t>
            </a:r>
            <a:r>
              <a:rPr kumimoji="0" lang="en-US" altLang="zh-CN" sz="2800">
                <a:solidFill>
                  <a:srgbClr val="99FF33"/>
                </a:solidFill>
                <a:effectLst>
                  <a:outerShdw blurRad="38100" dist="38100" dir="2700000" algn="tl">
                    <a:srgbClr val="000000"/>
                  </a:outerShdw>
                </a:effectLst>
              </a:rPr>
              <a:t>U</a:t>
            </a:r>
            <a:r>
              <a:rPr kumimoji="0" lang="en-US" altLang="zh-CN" sz="2800" baseline="-30000">
                <a:solidFill>
                  <a:srgbClr val="99FF33"/>
                </a:solidFill>
                <a:effectLst>
                  <a:outerShdw blurRad="38100" dist="38100" dir="2700000" algn="tl">
                    <a:srgbClr val="000000"/>
                  </a:outerShdw>
                </a:effectLst>
              </a:rPr>
              <a:t>1</a:t>
            </a:r>
            <a:r>
              <a:rPr kumimoji="0" lang="en-US" altLang="zh-CN" sz="2800">
                <a:solidFill>
                  <a:srgbClr val="99FF33"/>
                </a:solidFill>
                <a:effectLst>
                  <a:outerShdw blurRad="38100" dist="38100" dir="2700000" algn="tl">
                    <a:srgbClr val="000000"/>
                  </a:outerShdw>
                </a:effectLst>
              </a:rPr>
              <a:t>∪U</a:t>
            </a:r>
            <a:r>
              <a:rPr kumimoji="0" lang="en-US" altLang="zh-CN" sz="2800" baseline="-30000">
                <a:solidFill>
                  <a:srgbClr val="99FF33"/>
                </a:solidFill>
                <a:effectLst>
                  <a:outerShdw blurRad="38100" dist="38100" dir="2700000" algn="tl">
                    <a:srgbClr val="000000"/>
                  </a:outerShdw>
                </a:effectLst>
              </a:rPr>
              <a:t>2 </a:t>
            </a:r>
            <a:r>
              <a:rPr kumimoji="0" lang="en-US" altLang="zh-CN" sz="2800">
                <a:solidFill>
                  <a:srgbClr val="99FF33"/>
                </a:solidFill>
                <a:effectLst>
                  <a:outerShdw blurRad="38100" dist="38100" dir="2700000" algn="tl">
                    <a:srgbClr val="000000"/>
                  </a:outerShdw>
                </a:effectLst>
              </a:rPr>
              <a:t>={A,B,C}=U</a:t>
            </a:r>
            <a:endParaRPr kumimoji="0" lang="zh-CN" altLang="en-US" sz="2800">
              <a:solidFill>
                <a:srgbClr val="99FF33"/>
              </a:solidFill>
              <a:effectLst>
                <a:outerShdw blurRad="38100" dist="38100" dir="2700000" algn="tl">
                  <a:srgbClr val="000000"/>
                </a:outerShdw>
              </a:effectLst>
            </a:endParaRPr>
          </a:p>
          <a:p>
            <a:pPr>
              <a:spcBef>
                <a:spcPct val="15000"/>
              </a:spcBef>
              <a:spcAft>
                <a:spcPct val="0"/>
              </a:spcAft>
              <a:buSzTx/>
              <a:buFontTx/>
              <a:buNone/>
              <a:defRPr/>
            </a:pPr>
            <a:r>
              <a:rPr kumimoji="0" lang="zh-CN" altLang="zh-CN" sz="2800">
                <a:solidFill>
                  <a:srgbClr val="99FF33"/>
                </a:solidFill>
                <a:effectLst>
                  <a:outerShdw blurRad="38100" dist="38100" dir="2700000" algn="tl">
                    <a:srgbClr val="000000"/>
                  </a:outerShdw>
                </a:effectLst>
              </a:rPr>
              <a:t>(U</a:t>
            </a:r>
            <a:r>
              <a:rPr kumimoji="0" lang="zh-CN" altLang="zh-CN" sz="2800" baseline="-25000">
                <a:solidFill>
                  <a:srgbClr val="99FF33"/>
                </a:solidFill>
                <a:effectLst>
                  <a:outerShdw blurRad="38100" dist="38100" dir="2700000" algn="tl">
                    <a:srgbClr val="000000"/>
                  </a:outerShdw>
                </a:effectLst>
              </a:rPr>
              <a:t>1</a:t>
            </a:r>
            <a:r>
              <a:rPr kumimoji="0" lang="zh-CN" altLang="zh-CN" sz="2800">
                <a:solidFill>
                  <a:srgbClr val="99FF33"/>
                </a:solidFill>
                <a:effectLst>
                  <a:outerShdw blurRad="38100" dist="38100" dir="2700000" algn="tl">
                    <a:srgbClr val="000000"/>
                  </a:outerShdw>
                </a:effectLst>
              </a:rPr>
              <a:t>∩U</a:t>
            </a:r>
            <a:r>
              <a:rPr kumimoji="0" lang="zh-CN" altLang="zh-CN" sz="2800" baseline="-25000">
                <a:solidFill>
                  <a:srgbClr val="99FF33"/>
                </a:solidFill>
                <a:effectLst>
                  <a:outerShdw blurRad="38100" dist="38100" dir="2700000" algn="tl">
                    <a:srgbClr val="000000"/>
                  </a:outerShdw>
                </a:effectLst>
              </a:rPr>
              <a:t>2</a:t>
            </a:r>
            <a:r>
              <a:rPr kumimoji="0" lang="zh-CN" altLang="zh-CN" sz="2800">
                <a:solidFill>
                  <a:srgbClr val="99FF33"/>
                </a:solidFill>
                <a:effectLst>
                  <a:outerShdw blurRad="38100" dist="38100" dir="2700000" algn="tl">
                    <a:srgbClr val="000000"/>
                  </a:outerShdw>
                </a:effectLst>
              </a:rPr>
              <a:t>)</a:t>
            </a:r>
            <a:r>
              <a:rPr kumimoji="0" lang="zh-CN" altLang="en-US" sz="2800">
                <a:solidFill>
                  <a:srgbClr val="99FF33"/>
                </a:solidFill>
                <a:effectLst>
                  <a:outerShdw blurRad="38100" dist="38100" dir="2700000" algn="tl">
                    <a:srgbClr val="000000"/>
                  </a:outerShdw>
                </a:effectLst>
              </a:rPr>
              <a:t>=</a:t>
            </a:r>
            <a:r>
              <a:rPr kumimoji="0" lang="en-US" altLang="zh-CN" sz="2800">
                <a:solidFill>
                  <a:srgbClr val="99FF33"/>
                </a:solidFill>
                <a:effectLst>
                  <a:outerShdw blurRad="38100" dist="38100" dir="2700000" algn="tl">
                    <a:srgbClr val="000000"/>
                  </a:outerShdw>
                </a:effectLst>
              </a:rPr>
              <a:t>{B}</a:t>
            </a:r>
            <a:r>
              <a:rPr kumimoji="0" lang="zh-CN" altLang="en-US" sz="2800">
                <a:solidFill>
                  <a:srgbClr val="99FF33"/>
                </a:solidFill>
                <a:effectLst>
                  <a:outerShdw blurRad="38100" dist="38100" dir="2700000" algn="tl">
                    <a:srgbClr val="000000"/>
                  </a:outerShdw>
                </a:effectLst>
              </a:rPr>
              <a:t>，</a:t>
            </a:r>
            <a:r>
              <a:rPr kumimoji="0" lang="zh-CN" altLang="zh-CN" sz="2800">
                <a:solidFill>
                  <a:srgbClr val="99FF33"/>
                </a:solidFill>
                <a:effectLst>
                  <a:outerShdw blurRad="38100" dist="38100" dir="2700000" algn="tl">
                    <a:srgbClr val="000000"/>
                  </a:outerShdw>
                </a:effectLst>
              </a:rPr>
              <a:t>(U</a:t>
            </a:r>
            <a:r>
              <a:rPr kumimoji="0" lang="zh-CN" altLang="zh-CN" sz="2800" baseline="-25000">
                <a:solidFill>
                  <a:srgbClr val="99FF33"/>
                </a:solidFill>
                <a:effectLst>
                  <a:outerShdw blurRad="38100" dist="38100" dir="2700000" algn="tl">
                    <a:srgbClr val="000000"/>
                  </a:outerShdw>
                </a:effectLst>
              </a:rPr>
              <a:t>1</a:t>
            </a:r>
            <a:r>
              <a:rPr kumimoji="0" lang="zh-CN" altLang="zh-CN" sz="2800">
                <a:solidFill>
                  <a:srgbClr val="99FF33"/>
                </a:solidFill>
                <a:effectLst>
                  <a:outerShdw blurRad="38100" dist="38100" dir="2700000" algn="tl">
                    <a:srgbClr val="000000"/>
                  </a:outerShdw>
                </a:effectLst>
              </a:rPr>
              <a:t>-U</a:t>
            </a:r>
            <a:r>
              <a:rPr kumimoji="0" lang="zh-CN" altLang="zh-CN" sz="2800" baseline="-25000">
                <a:solidFill>
                  <a:srgbClr val="99FF33"/>
                </a:solidFill>
                <a:effectLst>
                  <a:outerShdw blurRad="38100" dist="38100" dir="2700000" algn="tl">
                    <a:srgbClr val="000000"/>
                  </a:outerShdw>
                </a:effectLst>
              </a:rPr>
              <a:t>2</a:t>
            </a:r>
            <a:r>
              <a:rPr kumimoji="0" lang="zh-CN" altLang="zh-CN" sz="2800">
                <a:solidFill>
                  <a:srgbClr val="99FF33"/>
                </a:solidFill>
                <a:effectLst>
                  <a:outerShdw blurRad="38100" dist="38100" dir="2700000" algn="tl">
                    <a:srgbClr val="000000"/>
                  </a:outerShdw>
                </a:effectLst>
              </a:rPr>
              <a:t>)</a:t>
            </a:r>
            <a:r>
              <a:rPr kumimoji="0" lang="zh-CN" altLang="en-US" sz="2800">
                <a:solidFill>
                  <a:srgbClr val="99FF33"/>
                </a:solidFill>
                <a:effectLst>
                  <a:outerShdw blurRad="38100" dist="38100" dir="2700000" algn="tl">
                    <a:srgbClr val="000000"/>
                  </a:outerShdw>
                </a:effectLst>
              </a:rPr>
              <a:t>=</a:t>
            </a:r>
            <a:r>
              <a:rPr kumimoji="0" lang="en-US" altLang="zh-CN" sz="2800">
                <a:solidFill>
                  <a:srgbClr val="99FF33"/>
                </a:solidFill>
                <a:effectLst>
                  <a:outerShdw blurRad="38100" dist="38100" dir="2700000" algn="tl">
                    <a:srgbClr val="000000"/>
                  </a:outerShdw>
                </a:effectLst>
              </a:rPr>
              <a:t>{A}</a:t>
            </a:r>
            <a:r>
              <a:rPr kumimoji="0" lang="zh-CN" altLang="en-US" sz="2800">
                <a:solidFill>
                  <a:srgbClr val="99FF33"/>
                </a:solidFill>
                <a:effectLst>
                  <a:outerShdw blurRad="38100" dist="38100" dir="2700000" algn="tl">
                    <a:srgbClr val="000000"/>
                  </a:outerShdw>
                </a:effectLst>
              </a:rPr>
              <a:t>，</a:t>
            </a:r>
            <a:r>
              <a:rPr kumimoji="0" lang="zh-CN" altLang="zh-CN" sz="2800">
                <a:solidFill>
                  <a:srgbClr val="99FF33"/>
                </a:solidFill>
                <a:effectLst>
                  <a:outerShdw blurRad="38100" dist="38100" dir="2700000" algn="tl">
                    <a:srgbClr val="000000"/>
                  </a:outerShdw>
                </a:effectLst>
              </a:rPr>
              <a:t>(U</a:t>
            </a:r>
            <a:r>
              <a:rPr kumimoji="0" lang="zh-CN" altLang="en-US" sz="2800" baseline="-25000">
                <a:solidFill>
                  <a:srgbClr val="99FF33"/>
                </a:solidFill>
                <a:effectLst>
                  <a:outerShdw blurRad="38100" dist="38100" dir="2700000" algn="tl">
                    <a:srgbClr val="000000"/>
                  </a:outerShdw>
                </a:effectLst>
              </a:rPr>
              <a:t>2</a:t>
            </a:r>
            <a:r>
              <a:rPr kumimoji="0" lang="zh-CN" altLang="zh-CN" sz="2800">
                <a:solidFill>
                  <a:srgbClr val="99FF33"/>
                </a:solidFill>
                <a:effectLst>
                  <a:outerShdw blurRad="38100" dist="38100" dir="2700000" algn="tl">
                    <a:srgbClr val="000000"/>
                  </a:outerShdw>
                </a:effectLst>
              </a:rPr>
              <a:t>-U</a:t>
            </a:r>
            <a:r>
              <a:rPr kumimoji="0" lang="zh-CN" altLang="en-US" sz="2800" baseline="-25000">
                <a:solidFill>
                  <a:srgbClr val="99FF33"/>
                </a:solidFill>
                <a:effectLst>
                  <a:outerShdw blurRad="38100" dist="38100" dir="2700000" algn="tl">
                    <a:srgbClr val="000000"/>
                  </a:outerShdw>
                </a:effectLst>
              </a:rPr>
              <a:t>1</a:t>
            </a:r>
            <a:r>
              <a:rPr kumimoji="0" lang="zh-CN" altLang="zh-CN" sz="2800">
                <a:solidFill>
                  <a:srgbClr val="99FF33"/>
                </a:solidFill>
                <a:effectLst>
                  <a:outerShdw blurRad="38100" dist="38100" dir="2700000" algn="tl">
                    <a:srgbClr val="000000"/>
                  </a:outerShdw>
                </a:effectLst>
              </a:rPr>
              <a:t>)</a:t>
            </a:r>
            <a:r>
              <a:rPr kumimoji="0" lang="en-US" altLang="zh-CN" sz="2800">
                <a:solidFill>
                  <a:srgbClr val="99FF33"/>
                </a:solidFill>
                <a:effectLst>
                  <a:outerShdw blurRad="38100" dist="38100" dir="2700000" algn="tl">
                    <a:srgbClr val="000000"/>
                  </a:outerShdw>
                </a:effectLst>
              </a:rPr>
              <a:t>={C}</a:t>
            </a:r>
          </a:p>
          <a:p>
            <a:pPr>
              <a:spcAft>
                <a:spcPct val="0"/>
              </a:spcAft>
              <a:buSzTx/>
              <a:buFontTx/>
              <a:buNone/>
              <a:defRPr/>
            </a:pPr>
            <a:r>
              <a:rPr kumimoji="0" lang="zh-CN" altLang="en-US" sz="2800">
                <a:solidFill>
                  <a:srgbClr val="99FF33"/>
                </a:solidFill>
                <a:effectLst>
                  <a:outerShdw blurRad="38100" dist="38100" dir="2700000" algn="tl">
                    <a:srgbClr val="000000"/>
                  </a:outerShdw>
                </a:effectLst>
              </a:rPr>
              <a:t>由</a:t>
            </a:r>
            <a:r>
              <a:rPr kumimoji="0" lang="en-US" altLang="zh-CN" sz="2800">
                <a:solidFill>
                  <a:srgbClr val="99FF33"/>
                </a:solidFill>
                <a:effectLst>
                  <a:outerShdw blurRad="38100" dist="38100" dir="2700000" algn="tl">
                    <a:srgbClr val="000000"/>
                  </a:outerShdw>
                </a:effectLst>
              </a:rPr>
              <a:t>F</a:t>
            </a:r>
            <a:r>
              <a:rPr kumimoji="0" lang="zh-CN" altLang="en-US" sz="2800">
                <a:solidFill>
                  <a:srgbClr val="99FF33"/>
                </a:solidFill>
                <a:effectLst>
                  <a:outerShdw blurRad="38100" dist="38100" dir="2700000" algn="tl">
                    <a:srgbClr val="000000"/>
                  </a:outerShdw>
                </a:effectLst>
              </a:rPr>
              <a:t>无法推出</a:t>
            </a:r>
            <a:r>
              <a:rPr kumimoji="0" lang="en-US" altLang="zh-CN" sz="2800">
                <a:solidFill>
                  <a:srgbClr val="99FF33"/>
                </a:solidFill>
                <a:effectLst>
                  <a:outerShdw blurRad="38100" dist="38100" dir="2700000" algn="tl">
                    <a:srgbClr val="000000"/>
                  </a:outerShdw>
                </a:effectLst>
              </a:rPr>
              <a:t>B→A</a:t>
            </a:r>
            <a:r>
              <a:rPr kumimoji="0" lang="zh-CN" altLang="en-US" sz="2800">
                <a:solidFill>
                  <a:srgbClr val="99FF33"/>
                </a:solidFill>
                <a:effectLst>
                  <a:outerShdw blurRad="38100" dist="38100" dir="2700000" algn="tl">
                    <a:srgbClr val="000000"/>
                  </a:outerShdw>
                </a:effectLst>
              </a:rPr>
              <a:t>，即</a:t>
            </a:r>
            <a:r>
              <a:rPr kumimoji="0" lang="en-US" altLang="zh-CN" sz="2800">
                <a:solidFill>
                  <a:srgbClr val="99FF33"/>
                </a:solidFill>
                <a:effectLst>
                  <a:outerShdw blurRad="38100" dist="38100" dir="2700000" algn="tl">
                    <a:srgbClr val="000000"/>
                  </a:outerShdw>
                </a:effectLst>
              </a:rPr>
              <a:t>(U</a:t>
            </a:r>
            <a:r>
              <a:rPr kumimoji="0" lang="en-US" altLang="zh-CN" sz="2800" baseline="-30000">
                <a:solidFill>
                  <a:srgbClr val="99FF33"/>
                </a:solidFill>
                <a:effectLst>
                  <a:outerShdw blurRad="38100" dist="38100" dir="2700000" algn="tl">
                    <a:srgbClr val="000000"/>
                  </a:outerShdw>
                </a:effectLst>
              </a:rPr>
              <a:t>1</a:t>
            </a:r>
            <a:r>
              <a:rPr kumimoji="0" lang="en-US" altLang="zh-CN" sz="2800">
                <a:solidFill>
                  <a:srgbClr val="99FF33"/>
                </a:solidFill>
                <a:effectLst>
                  <a:outerShdw blurRad="38100" dist="38100" dir="2700000" algn="tl">
                    <a:srgbClr val="000000"/>
                  </a:outerShdw>
                </a:effectLst>
              </a:rPr>
              <a:t>∩U</a:t>
            </a:r>
            <a:r>
              <a:rPr kumimoji="0" lang="en-US" altLang="zh-CN" sz="2800" baseline="-30000">
                <a:solidFill>
                  <a:srgbClr val="99FF33"/>
                </a:solidFill>
                <a:effectLst>
                  <a:outerShdw blurRad="38100" dist="38100" dir="2700000" algn="tl">
                    <a:srgbClr val="000000"/>
                  </a:outerShdw>
                </a:effectLst>
              </a:rPr>
              <a:t>2</a:t>
            </a:r>
            <a:r>
              <a:rPr kumimoji="0" lang="en-US" altLang="zh-CN" sz="2800">
                <a:solidFill>
                  <a:srgbClr val="99FF33"/>
                </a:solidFill>
                <a:effectLst>
                  <a:outerShdw blurRad="38100" dist="38100" dir="2700000" algn="tl">
                    <a:srgbClr val="000000"/>
                  </a:outerShdw>
                </a:effectLst>
              </a:rPr>
              <a:t>)→(U</a:t>
            </a:r>
            <a:r>
              <a:rPr kumimoji="0" lang="en-US" altLang="zh-CN" sz="2800" baseline="-30000">
                <a:solidFill>
                  <a:srgbClr val="99FF33"/>
                </a:solidFill>
                <a:effectLst>
                  <a:outerShdw blurRad="38100" dist="38100" dir="2700000" algn="tl">
                    <a:srgbClr val="000000"/>
                  </a:outerShdw>
                </a:effectLst>
              </a:rPr>
              <a:t>1</a:t>
            </a:r>
            <a:r>
              <a:rPr kumimoji="0" lang="en-US" altLang="zh-CN" sz="2800">
                <a:solidFill>
                  <a:srgbClr val="99FF33"/>
                </a:solidFill>
                <a:effectLst>
                  <a:outerShdw blurRad="38100" dist="38100" dir="2700000" algn="tl">
                    <a:srgbClr val="000000"/>
                  </a:outerShdw>
                </a:effectLst>
              </a:rPr>
              <a:t>-U</a:t>
            </a:r>
            <a:r>
              <a:rPr kumimoji="0" lang="en-US" altLang="zh-CN" sz="2800" baseline="-30000">
                <a:solidFill>
                  <a:srgbClr val="99FF33"/>
                </a:solidFill>
                <a:effectLst>
                  <a:outerShdw blurRad="38100" dist="38100" dir="2700000" algn="tl">
                    <a:srgbClr val="000000"/>
                  </a:outerShdw>
                </a:effectLst>
              </a:rPr>
              <a:t>2</a:t>
            </a:r>
            <a:r>
              <a:rPr kumimoji="0" lang="en-US" altLang="zh-CN" sz="2800">
                <a:solidFill>
                  <a:srgbClr val="99FF33"/>
                </a:solidFill>
                <a:effectLst>
                  <a:outerShdw blurRad="38100" dist="38100" dir="2700000" algn="tl">
                    <a:srgbClr val="000000"/>
                  </a:outerShdw>
                </a:effectLst>
              </a:rPr>
              <a:t>)</a:t>
            </a:r>
            <a:r>
              <a:rPr kumimoji="0" lang="zh-CN" altLang="en-US" sz="2800">
                <a:solidFill>
                  <a:srgbClr val="99FF33"/>
                </a:solidFill>
                <a:effectLst>
                  <a:outerShdw blurRad="38100" dist="38100" dir="2700000" algn="tl">
                    <a:srgbClr val="000000"/>
                  </a:outerShdw>
                </a:effectLst>
              </a:rPr>
              <a:t>不成立</a:t>
            </a:r>
          </a:p>
          <a:p>
            <a:pPr>
              <a:spcAft>
                <a:spcPct val="0"/>
              </a:spcAft>
              <a:buSzTx/>
              <a:buFontTx/>
              <a:buNone/>
              <a:defRPr/>
            </a:pPr>
            <a:r>
              <a:rPr kumimoji="0" lang="zh-CN" altLang="en-US" sz="2800">
                <a:solidFill>
                  <a:srgbClr val="99FF33"/>
                </a:solidFill>
                <a:effectLst>
                  <a:outerShdw blurRad="38100" dist="38100" dir="2700000" algn="tl">
                    <a:srgbClr val="000000"/>
                  </a:outerShdw>
                </a:effectLst>
              </a:rPr>
              <a:t>也无法推出</a:t>
            </a:r>
            <a:r>
              <a:rPr kumimoji="0" lang="en-US" altLang="zh-CN" sz="2800">
                <a:solidFill>
                  <a:srgbClr val="99FF33"/>
                </a:solidFill>
                <a:effectLst>
                  <a:outerShdw blurRad="38100" dist="38100" dir="2700000" algn="tl">
                    <a:srgbClr val="000000"/>
                  </a:outerShdw>
                </a:effectLst>
              </a:rPr>
              <a:t>B→C</a:t>
            </a:r>
            <a:r>
              <a:rPr kumimoji="0" lang="zh-CN" altLang="en-US" sz="2800">
                <a:solidFill>
                  <a:srgbClr val="99FF33"/>
                </a:solidFill>
                <a:effectLst>
                  <a:outerShdw blurRad="38100" dist="38100" dir="2700000" algn="tl">
                    <a:srgbClr val="000000"/>
                  </a:outerShdw>
                </a:effectLst>
              </a:rPr>
              <a:t>，即</a:t>
            </a:r>
            <a:r>
              <a:rPr kumimoji="0" lang="en-US" altLang="zh-CN" sz="2800">
                <a:solidFill>
                  <a:srgbClr val="99FF33"/>
                </a:solidFill>
                <a:effectLst>
                  <a:outerShdw blurRad="38100" dist="38100" dir="2700000" algn="tl">
                    <a:srgbClr val="000000"/>
                  </a:outerShdw>
                </a:effectLst>
              </a:rPr>
              <a:t>(U</a:t>
            </a:r>
            <a:r>
              <a:rPr kumimoji="0" lang="en-US" altLang="zh-CN" sz="2800" baseline="-30000">
                <a:solidFill>
                  <a:srgbClr val="99FF33"/>
                </a:solidFill>
                <a:effectLst>
                  <a:outerShdw blurRad="38100" dist="38100" dir="2700000" algn="tl">
                    <a:srgbClr val="000000"/>
                  </a:outerShdw>
                </a:effectLst>
              </a:rPr>
              <a:t>1</a:t>
            </a:r>
            <a:r>
              <a:rPr kumimoji="0" lang="en-US" altLang="zh-CN" sz="2800">
                <a:solidFill>
                  <a:srgbClr val="99FF33"/>
                </a:solidFill>
                <a:effectLst>
                  <a:outerShdw blurRad="38100" dist="38100" dir="2700000" algn="tl">
                    <a:srgbClr val="000000"/>
                  </a:outerShdw>
                </a:effectLst>
              </a:rPr>
              <a:t>∩U</a:t>
            </a:r>
            <a:r>
              <a:rPr kumimoji="0" lang="en-US" altLang="zh-CN" sz="2800" baseline="-30000">
                <a:solidFill>
                  <a:srgbClr val="99FF33"/>
                </a:solidFill>
                <a:effectLst>
                  <a:outerShdw blurRad="38100" dist="38100" dir="2700000" algn="tl">
                    <a:srgbClr val="000000"/>
                  </a:outerShdw>
                </a:effectLst>
              </a:rPr>
              <a:t>2</a:t>
            </a:r>
            <a:r>
              <a:rPr kumimoji="0" lang="en-US" altLang="zh-CN" sz="2800">
                <a:solidFill>
                  <a:srgbClr val="99FF33"/>
                </a:solidFill>
                <a:effectLst>
                  <a:outerShdw blurRad="38100" dist="38100" dir="2700000" algn="tl">
                    <a:srgbClr val="000000"/>
                  </a:outerShdw>
                </a:effectLst>
              </a:rPr>
              <a:t>)→(U</a:t>
            </a:r>
            <a:r>
              <a:rPr kumimoji="0" lang="en-US" altLang="zh-CN" sz="2800" baseline="-30000">
                <a:solidFill>
                  <a:srgbClr val="99FF33"/>
                </a:solidFill>
                <a:effectLst>
                  <a:outerShdw blurRad="38100" dist="38100" dir="2700000" algn="tl">
                    <a:srgbClr val="000000"/>
                  </a:outerShdw>
                </a:effectLst>
              </a:rPr>
              <a:t>2</a:t>
            </a:r>
            <a:r>
              <a:rPr kumimoji="0" lang="en-US" altLang="zh-CN" sz="2800">
                <a:solidFill>
                  <a:srgbClr val="99FF33"/>
                </a:solidFill>
                <a:effectLst>
                  <a:outerShdw blurRad="38100" dist="38100" dir="2700000" algn="tl">
                    <a:srgbClr val="000000"/>
                  </a:outerShdw>
                </a:effectLst>
              </a:rPr>
              <a:t>-U</a:t>
            </a:r>
            <a:r>
              <a:rPr kumimoji="0" lang="en-US" altLang="zh-CN" sz="2800" baseline="-30000">
                <a:solidFill>
                  <a:srgbClr val="99FF33"/>
                </a:solidFill>
                <a:effectLst>
                  <a:outerShdw blurRad="38100" dist="38100" dir="2700000" algn="tl">
                    <a:srgbClr val="000000"/>
                  </a:outerShdw>
                </a:effectLst>
              </a:rPr>
              <a:t>1</a:t>
            </a:r>
            <a:r>
              <a:rPr kumimoji="0" lang="en-US" altLang="zh-CN" sz="2800">
                <a:solidFill>
                  <a:srgbClr val="99FF33"/>
                </a:solidFill>
                <a:effectLst>
                  <a:outerShdw blurRad="38100" dist="38100" dir="2700000" algn="tl">
                    <a:srgbClr val="000000"/>
                  </a:outerShdw>
                </a:effectLst>
              </a:rPr>
              <a:t>)</a:t>
            </a:r>
            <a:r>
              <a:rPr kumimoji="0" lang="zh-CN" altLang="en-US" sz="2800">
                <a:solidFill>
                  <a:srgbClr val="99FF33"/>
                </a:solidFill>
                <a:effectLst>
                  <a:outerShdw blurRad="38100" dist="38100" dir="2700000" algn="tl">
                    <a:srgbClr val="000000"/>
                  </a:outerShdw>
                </a:effectLst>
              </a:rPr>
              <a:t>不成立</a:t>
            </a:r>
          </a:p>
          <a:p>
            <a:pPr>
              <a:spcAft>
                <a:spcPct val="0"/>
              </a:spcAft>
              <a:buSzTx/>
              <a:buFontTx/>
              <a:buNone/>
              <a:defRPr/>
            </a:pPr>
            <a:r>
              <a:rPr kumimoji="0" lang="zh-CN" altLang="en-US" sz="2800">
                <a:solidFill>
                  <a:srgbClr val="99FF33"/>
                </a:solidFill>
                <a:effectLst>
                  <a:outerShdw blurRad="38100" dist="38100" dir="2700000" algn="tl">
                    <a:srgbClr val="000000"/>
                  </a:outerShdw>
                </a:effectLst>
              </a:rPr>
              <a:t>故此</a:t>
            </a:r>
            <a:r>
              <a:rPr kumimoji="0" lang="en-US" altLang="zh-CN" sz="2600" i="1">
                <a:solidFill>
                  <a:srgbClr val="99FF33"/>
                </a:solidFill>
                <a:effectLst>
                  <a:outerShdw blurRad="38100" dist="38100" dir="2700000" algn="tl">
                    <a:srgbClr val="000000"/>
                  </a:outerShdw>
                </a:effectLst>
              </a:rPr>
              <a:t>ρ</a:t>
            </a:r>
            <a:r>
              <a:rPr kumimoji="0" lang="zh-CN" altLang="en-US" sz="2600">
                <a:solidFill>
                  <a:srgbClr val="99FF33"/>
                </a:solidFill>
                <a:effectLst>
                  <a:outerShdw blurRad="38100" dist="38100" dir="2700000" algn="tl">
                    <a:srgbClr val="000000"/>
                  </a:outerShdw>
                </a:effectLst>
              </a:rPr>
              <a:t>不具有无损连接性</a:t>
            </a:r>
            <a:endParaRPr kumimoji="0" lang="zh-CN" altLang="zh-CN" sz="2600">
              <a:solidFill>
                <a:srgbClr val="99FF33"/>
              </a:solidFill>
              <a:effectLst>
                <a:outerShdw blurRad="38100" dist="38100" dir="2700000" algn="tl">
                  <a:srgbClr val="000000"/>
                </a:outerShdw>
              </a:effectLst>
            </a:endParaRPr>
          </a:p>
        </p:txBody>
      </p:sp>
      <p:sp>
        <p:nvSpPr>
          <p:cNvPr id="7" name="Rectangle 4"/>
          <p:cNvSpPr>
            <a:spLocks noGrp="1" noChangeArrowheads="1"/>
          </p:cNvSpPr>
          <p:nvPr>
            <p:ph type="title"/>
          </p:nvPr>
        </p:nvSpPr>
        <p:spPr>
          <a:xfrm>
            <a:off x="0" y="77242"/>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ea typeface="微软雅黑" pitchFamily="34" charset="-122"/>
              </a:rPr>
              <a:t>无损连接</a:t>
            </a:r>
            <a:r>
              <a:rPr kumimoji="1" lang="zh-CN" altLang="en-US" sz="4000" b="1" kern="1200" dirty="0" smtClean="0">
                <a:solidFill>
                  <a:srgbClr val="FFFFCC"/>
                </a:solidFill>
                <a:effectLst>
                  <a:outerShdw blurRad="38100" dist="38100" dir="2700000" algn="tl">
                    <a:srgbClr val="000000"/>
                  </a:outerShdw>
                </a:effectLst>
                <a:latin typeface="Arial" pitchFamily="34" charset="0"/>
                <a:ea typeface="微软雅黑" pitchFamily="34" charset="-122"/>
              </a:rPr>
              <a:t>的一</a:t>
            </a:r>
            <a:r>
              <a:rPr kumimoji="1" lang="zh-CN" altLang="en-US" sz="4000" b="1" kern="1200" dirty="0">
                <a:solidFill>
                  <a:srgbClr val="FFFFCC"/>
                </a:solidFill>
                <a:effectLst>
                  <a:outerShdw blurRad="38100" dist="38100" dir="2700000" algn="tl">
                    <a:srgbClr val="000000"/>
                  </a:outerShdw>
                </a:effectLst>
                <a:latin typeface="Arial" pitchFamily="34" charset="0"/>
                <a:ea typeface="微软雅黑" pitchFamily="34" charset="-122"/>
              </a:rPr>
              <a:t>个实用定理</a:t>
            </a: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4979" name="Rectangle 3"/>
          <p:cNvSpPr>
            <a:spLocks noGrp="1" noChangeArrowheads="1"/>
          </p:cNvSpPr>
          <p:nvPr>
            <p:ph type="title"/>
          </p:nvPr>
        </p:nvSpPr>
        <p:spPr>
          <a:xfrm>
            <a:off x="32404" y="-14313"/>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ea typeface="微软雅黑" pitchFamily="34" charset="-122"/>
              </a:rPr>
              <a:t>保持函数依赖测试算法</a:t>
            </a:r>
          </a:p>
        </p:txBody>
      </p:sp>
      <p:sp>
        <p:nvSpPr>
          <p:cNvPr id="1534980" name="Rectangle 4"/>
          <p:cNvSpPr>
            <a:spLocks noGrp="1" noChangeArrowheads="1"/>
          </p:cNvSpPr>
          <p:nvPr>
            <p:ph type="body" idx="1"/>
          </p:nvPr>
        </p:nvSpPr>
        <p:spPr>
          <a:xfrm>
            <a:off x="250825" y="1473200"/>
            <a:ext cx="8642350" cy="647700"/>
          </a:xfrm>
        </p:spPr>
        <p:txBody>
          <a:bodyPr/>
          <a:lstStyle/>
          <a:p>
            <a:pPr marL="0" indent="0" algn="just">
              <a:buFont typeface="Wingdings" pitchFamily="2" charset="2"/>
              <a:buNone/>
              <a:tabLst>
                <a:tab pos="352425" algn="l"/>
              </a:tabLst>
              <a:defRPr/>
            </a:pPr>
            <a:r>
              <a:rPr lang="en-US" altLang="zh-CN" sz="2800" i="1" dirty="0">
                <a:latin typeface="楷体_GB2312" pitchFamily="49" charset="-122"/>
              </a:rPr>
              <a:t>ρ</a:t>
            </a:r>
            <a:r>
              <a:rPr lang="en-US" altLang="zh-CN" sz="2800" dirty="0">
                <a:latin typeface="楷体_GB2312" pitchFamily="49" charset="-122"/>
              </a:rPr>
              <a:t>={R</a:t>
            </a:r>
            <a:r>
              <a:rPr lang="en-US" altLang="zh-CN" sz="2800" baseline="-30000" dirty="0">
                <a:latin typeface="楷体_GB2312" pitchFamily="49" charset="-122"/>
              </a:rPr>
              <a:t>1</a:t>
            </a:r>
            <a:r>
              <a:rPr lang="en-US" altLang="zh-CN" sz="2800" dirty="0">
                <a:latin typeface="楷体_GB2312" pitchFamily="49" charset="-122"/>
              </a:rPr>
              <a:t>(U</a:t>
            </a:r>
            <a:r>
              <a:rPr lang="en-US" altLang="zh-CN" sz="2800" baseline="-30000" dirty="0">
                <a:latin typeface="楷体_GB2312" pitchFamily="49" charset="-122"/>
              </a:rPr>
              <a:t>1</a:t>
            </a:r>
            <a:r>
              <a:rPr lang="en-US" altLang="zh-CN" sz="2800" dirty="0">
                <a:latin typeface="楷体_GB2312" pitchFamily="49" charset="-122"/>
              </a:rPr>
              <a:t>),R</a:t>
            </a:r>
            <a:r>
              <a:rPr lang="en-US" altLang="zh-CN" sz="2800" baseline="-30000" dirty="0">
                <a:latin typeface="楷体_GB2312" pitchFamily="49" charset="-122"/>
              </a:rPr>
              <a:t>2</a:t>
            </a:r>
            <a:r>
              <a:rPr lang="en-US" altLang="zh-CN" sz="2800" dirty="0">
                <a:latin typeface="楷体_GB2312" pitchFamily="49" charset="-122"/>
              </a:rPr>
              <a:t>(U</a:t>
            </a:r>
            <a:r>
              <a:rPr lang="en-US" altLang="zh-CN" sz="2800" baseline="-30000" dirty="0">
                <a:latin typeface="楷体_GB2312" pitchFamily="49" charset="-122"/>
              </a:rPr>
              <a:t>2</a:t>
            </a:r>
            <a:r>
              <a:rPr lang="en-US" altLang="zh-CN" sz="2800" dirty="0">
                <a:latin typeface="楷体_GB2312" pitchFamily="49" charset="-122"/>
              </a:rPr>
              <a:t>),</a:t>
            </a:r>
            <a:r>
              <a:rPr lang="en-US" altLang="zh-CN" sz="2800" dirty="0"/>
              <a:t>…</a:t>
            </a:r>
            <a:r>
              <a:rPr lang="en-US" altLang="zh-CN" sz="2800" dirty="0">
                <a:latin typeface="楷体_GB2312" pitchFamily="49" charset="-122"/>
              </a:rPr>
              <a:t>, </a:t>
            </a:r>
            <a:r>
              <a:rPr lang="en-US" altLang="zh-CN" sz="2800" dirty="0" err="1">
                <a:latin typeface="楷体_GB2312" pitchFamily="49" charset="-122"/>
              </a:rPr>
              <a:t>R</a:t>
            </a:r>
            <a:r>
              <a:rPr lang="en-US" altLang="zh-CN" sz="2800" baseline="-30000" dirty="0" err="1">
                <a:latin typeface="楷体_GB2312" pitchFamily="49" charset="-122"/>
              </a:rPr>
              <a:t>k</a:t>
            </a:r>
            <a:r>
              <a:rPr lang="en-US" altLang="zh-CN" sz="2800" dirty="0">
                <a:latin typeface="楷体_GB2312" pitchFamily="49" charset="-122"/>
              </a:rPr>
              <a:t>(</a:t>
            </a:r>
            <a:r>
              <a:rPr lang="en-US" altLang="zh-CN" sz="2800" dirty="0" err="1">
                <a:latin typeface="楷体_GB2312" pitchFamily="49" charset="-122"/>
              </a:rPr>
              <a:t>U</a:t>
            </a:r>
            <a:r>
              <a:rPr lang="en-US" altLang="zh-CN" sz="2800" baseline="-30000" dirty="0" err="1">
                <a:latin typeface="楷体_GB2312" pitchFamily="49" charset="-122"/>
              </a:rPr>
              <a:t>k</a:t>
            </a:r>
            <a:r>
              <a:rPr lang="en-US" altLang="zh-CN" sz="2800" dirty="0">
                <a:latin typeface="楷体_GB2312" pitchFamily="49" charset="-122"/>
              </a:rPr>
              <a:t>)}</a:t>
            </a:r>
            <a:r>
              <a:rPr lang="zh-CN" altLang="en-US" sz="2800" dirty="0">
                <a:latin typeface="楷体_GB2312" pitchFamily="49" charset="-122"/>
              </a:rPr>
              <a:t>为关系模式</a:t>
            </a:r>
            <a:r>
              <a:rPr lang="en-US" altLang="zh-CN" sz="2800" dirty="0">
                <a:latin typeface="楷体_GB2312" pitchFamily="49" charset="-122"/>
              </a:rPr>
              <a:t>R(U,F)</a:t>
            </a:r>
            <a:r>
              <a:rPr lang="zh-CN" altLang="en-US" sz="2800" dirty="0">
                <a:latin typeface="楷体_GB2312" pitchFamily="49" charset="-122"/>
              </a:rPr>
              <a:t>的分解，</a:t>
            </a:r>
            <a:r>
              <a:rPr lang="en-US" altLang="zh-CN" sz="2800" i="1" dirty="0">
                <a:latin typeface="楷体_GB2312" pitchFamily="49" charset="-122"/>
              </a:rPr>
              <a:t>ρ</a:t>
            </a:r>
            <a:r>
              <a:rPr lang="zh-CN" altLang="en-US" sz="2800" dirty="0">
                <a:latin typeface="楷体_GB2312" pitchFamily="49" charset="-122"/>
              </a:rPr>
              <a:t>是否保持函数依赖的测试方法如下：</a:t>
            </a:r>
          </a:p>
          <a:p>
            <a:pPr marL="0" indent="0" algn="just">
              <a:spcBef>
                <a:spcPct val="55000"/>
              </a:spcBef>
              <a:spcAft>
                <a:spcPct val="0"/>
              </a:spcAft>
              <a:buClrTx/>
              <a:buSzTx/>
              <a:buFontTx/>
              <a:buNone/>
              <a:tabLst>
                <a:tab pos="352425" algn="l"/>
              </a:tabLst>
              <a:defRPr/>
            </a:pPr>
            <a:r>
              <a:rPr lang="zh-CN" altLang="en-US" sz="2800" dirty="0">
                <a:latin typeface="楷体_GB2312" pitchFamily="49" charset="-122"/>
              </a:rPr>
              <a:t>⑴令</a:t>
            </a:r>
            <a:r>
              <a:rPr lang="en-US" altLang="zh-CN" sz="2800" dirty="0">
                <a:latin typeface="楷体_GB2312" pitchFamily="49" charset="-122"/>
              </a:rPr>
              <a:t>G=        </a:t>
            </a:r>
            <a:r>
              <a:rPr lang="zh-CN" altLang="en-US" sz="2800" dirty="0">
                <a:latin typeface="楷体_GB2312" pitchFamily="49" charset="-122"/>
              </a:rPr>
              <a:t>，</a:t>
            </a:r>
            <a:r>
              <a:rPr lang="en-US" altLang="zh-CN" sz="2800" dirty="0">
                <a:latin typeface="楷体_GB2312" pitchFamily="49" charset="-122"/>
              </a:rPr>
              <a:t>F=F-G</a:t>
            </a:r>
            <a:r>
              <a:rPr lang="zh-CN" altLang="en-US" sz="2800" dirty="0">
                <a:latin typeface="楷体_GB2312" pitchFamily="49" charset="-122"/>
              </a:rPr>
              <a:t>，</a:t>
            </a:r>
            <a:r>
              <a:rPr lang="en-US" altLang="zh-CN" sz="2800" dirty="0">
                <a:latin typeface="楷体_GB2312" pitchFamily="49" charset="-122"/>
              </a:rPr>
              <a:t>Result=True</a:t>
            </a:r>
            <a:r>
              <a:rPr lang="zh-CN" altLang="en-US" sz="2800" dirty="0">
                <a:latin typeface="楷体_GB2312" pitchFamily="49" charset="-122"/>
              </a:rPr>
              <a:t>，若</a:t>
            </a:r>
            <a:r>
              <a:rPr lang="en-US" altLang="zh-CN" sz="2800" dirty="0">
                <a:latin typeface="楷体_GB2312" pitchFamily="49" charset="-122"/>
              </a:rPr>
              <a:t>F=φ</a:t>
            </a:r>
            <a:r>
              <a:rPr lang="zh-CN" altLang="en-US" sz="2800" dirty="0">
                <a:latin typeface="楷体_GB2312" pitchFamily="49" charset="-122"/>
              </a:rPr>
              <a:t>转⑷</a:t>
            </a:r>
          </a:p>
          <a:p>
            <a:pPr marL="0" indent="0" algn="just">
              <a:spcBef>
                <a:spcPct val="70000"/>
              </a:spcBef>
              <a:spcAft>
                <a:spcPct val="0"/>
              </a:spcAft>
              <a:buClrTx/>
              <a:buSzTx/>
              <a:buFontTx/>
              <a:buNone/>
              <a:tabLst>
                <a:tab pos="352425" algn="l"/>
              </a:tabLst>
              <a:defRPr/>
            </a:pPr>
            <a:r>
              <a:rPr lang="en-US" altLang="zh-CN" sz="2800" dirty="0">
                <a:latin typeface="楷体_GB2312" pitchFamily="49" charset="-122"/>
              </a:rPr>
              <a:t>⑵</a:t>
            </a:r>
            <a:r>
              <a:rPr lang="zh-CN" altLang="en-US" sz="2800" dirty="0">
                <a:latin typeface="楷体_GB2312" pitchFamily="49" charset="-122"/>
              </a:rPr>
              <a:t>对</a:t>
            </a:r>
            <a:r>
              <a:rPr lang="en-US" altLang="zh-CN" sz="2800" dirty="0">
                <a:latin typeface="楷体_GB2312" pitchFamily="49" charset="-122"/>
              </a:rPr>
              <a:t>F</a:t>
            </a:r>
            <a:r>
              <a:rPr lang="zh-CN" altLang="en-US" sz="2800" dirty="0">
                <a:latin typeface="楷体_GB2312" pitchFamily="49" charset="-122"/>
              </a:rPr>
              <a:t>的第</a:t>
            </a:r>
            <a:r>
              <a:rPr lang="en-US" altLang="zh-CN" sz="2800" dirty="0">
                <a:latin typeface="楷体_GB2312" pitchFamily="49" charset="-122"/>
              </a:rPr>
              <a:t>1</a:t>
            </a:r>
            <a:r>
              <a:rPr lang="zh-CN" altLang="en-US" sz="2800" dirty="0">
                <a:latin typeface="楷体_GB2312" pitchFamily="49" charset="-122"/>
              </a:rPr>
              <a:t>个函数依赖</a:t>
            </a:r>
            <a:r>
              <a:rPr lang="en-US" altLang="zh-CN" sz="2800" dirty="0">
                <a:latin typeface="楷体_GB2312" pitchFamily="49" charset="-122"/>
              </a:rPr>
              <a:t>X→Y</a:t>
            </a:r>
            <a:r>
              <a:rPr lang="zh-CN" altLang="en-US" sz="2800" dirty="0">
                <a:latin typeface="楷体_GB2312" pitchFamily="49" charset="-122"/>
              </a:rPr>
              <a:t>，计算  ，令</a:t>
            </a:r>
            <a:r>
              <a:rPr lang="en-US" altLang="zh-CN" sz="2800" dirty="0">
                <a:latin typeface="楷体_GB2312" pitchFamily="49" charset="-122"/>
              </a:rPr>
              <a:t>F=F-{X→Y}</a:t>
            </a:r>
            <a:endParaRPr lang="zh-CN" altLang="en-US" sz="2800" b="1" dirty="0">
              <a:latin typeface="楷体_GB2312" pitchFamily="49" charset="-122"/>
            </a:endParaRPr>
          </a:p>
          <a:p>
            <a:pPr marL="0" indent="0" algn="just">
              <a:spcBef>
                <a:spcPct val="70000"/>
              </a:spcBef>
              <a:spcAft>
                <a:spcPct val="0"/>
              </a:spcAft>
              <a:buClrTx/>
              <a:buSzTx/>
              <a:buFontTx/>
              <a:buNone/>
              <a:tabLst>
                <a:tab pos="352425" algn="l"/>
              </a:tabLst>
              <a:defRPr/>
            </a:pPr>
            <a:r>
              <a:rPr lang="zh-CN" altLang="en-US" sz="2800" dirty="0">
                <a:latin typeface="楷体_GB2312" pitchFamily="49" charset="-122"/>
              </a:rPr>
              <a:t>⑶若</a:t>
            </a:r>
            <a:r>
              <a:rPr lang="en-US" altLang="zh-CN" sz="2800" dirty="0">
                <a:latin typeface="楷体_GB2312" pitchFamily="49" charset="-122"/>
              </a:rPr>
              <a:t>Y     </a:t>
            </a:r>
            <a:r>
              <a:rPr lang="zh-CN" altLang="en-US" sz="2800" dirty="0">
                <a:latin typeface="楷体_GB2312" pitchFamily="49" charset="-122"/>
              </a:rPr>
              <a:t>，则令</a:t>
            </a:r>
            <a:r>
              <a:rPr lang="en-US" altLang="zh-CN" sz="2800" dirty="0">
                <a:latin typeface="楷体_GB2312" pitchFamily="49" charset="-122"/>
              </a:rPr>
              <a:t>Result=False</a:t>
            </a:r>
            <a:r>
              <a:rPr lang="zh-CN" altLang="en-US" sz="2800" dirty="0">
                <a:latin typeface="楷体_GB2312" pitchFamily="49" charset="-122"/>
              </a:rPr>
              <a:t>，转⑷</a:t>
            </a:r>
          </a:p>
          <a:p>
            <a:pPr marL="0" indent="0" algn="just">
              <a:spcBef>
                <a:spcPct val="20000"/>
              </a:spcBef>
              <a:spcAft>
                <a:spcPct val="0"/>
              </a:spcAft>
              <a:buClrTx/>
              <a:buSzTx/>
              <a:buFontTx/>
              <a:buNone/>
              <a:tabLst>
                <a:tab pos="352425" algn="l"/>
              </a:tabLst>
              <a:defRPr/>
            </a:pPr>
            <a:r>
              <a:rPr lang="zh-CN" altLang="en-US" sz="2800" dirty="0">
                <a:latin typeface="楷体_GB2312" pitchFamily="49" charset="-122"/>
              </a:rPr>
              <a:t>  否则，若</a:t>
            </a:r>
            <a:r>
              <a:rPr lang="en-US" altLang="zh-CN" sz="2800" dirty="0">
                <a:latin typeface="楷体_GB2312" pitchFamily="49" charset="-122"/>
              </a:rPr>
              <a:t>F</a:t>
            </a:r>
            <a:r>
              <a:rPr lang="en-US" altLang="zh-CN" sz="2800" dirty="0">
                <a:latin typeface="Symbol"/>
              </a:rPr>
              <a:t>¹</a:t>
            </a:r>
            <a:r>
              <a:rPr lang="en-US" altLang="zh-CN" sz="2800" dirty="0">
                <a:latin typeface="楷体_GB2312" pitchFamily="49" charset="-122"/>
              </a:rPr>
              <a:t>φ</a:t>
            </a:r>
            <a:r>
              <a:rPr lang="zh-CN" altLang="en-US" sz="2800" dirty="0">
                <a:latin typeface="楷体_GB2312" pitchFamily="49" charset="-122"/>
              </a:rPr>
              <a:t>转⑵，否则转⑷；</a:t>
            </a:r>
          </a:p>
          <a:p>
            <a:pPr marL="0" indent="0">
              <a:spcBef>
                <a:spcPct val="70000"/>
              </a:spcBef>
              <a:spcAft>
                <a:spcPct val="0"/>
              </a:spcAft>
              <a:buClrTx/>
              <a:buSzTx/>
              <a:buFontTx/>
              <a:buNone/>
              <a:tabLst>
                <a:tab pos="352425" algn="l"/>
              </a:tabLst>
              <a:defRPr/>
            </a:pPr>
            <a:r>
              <a:rPr lang="zh-CN" altLang="en-US" sz="2800" dirty="0">
                <a:latin typeface="楷体_GB2312" pitchFamily="49" charset="-122"/>
              </a:rPr>
              <a:t>⑷若</a:t>
            </a:r>
            <a:r>
              <a:rPr lang="en-US" altLang="zh-CN" sz="2800" dirty="0">
                <a:latin typeface="楷体_GB2312" pitchFamily="49" charset="-122"/>
              </a:rPr>
              <a:t>Result=True</a:t>
            </a:r>
            <a:r>
              <a:rPr lang="zh-CN" altLang="en-US" sz="2800" dirty="0">
                <a:latin typeface="楷体_GB2312" pitchFamily="49" charset="-122"/>
              </a:rPr>
              <a:t>则</a:t>
            </a:r>
            <a:r>
              <a:rPr lang="en-US" altLang="zh-CN" sz="2800" i="1" dirty="0">
                <a:latin typeface="楷体_GB2312" pitchFamily="49" charset="-122"/>
              </a:rPr>
              <a:t>ρ</a:t>
            </a:r>
            <a:r>
              <a:rPr lang="zh-CN" altLang="en-US" sz="2800" dirty="0">
                <a:latin typeface="楷体_GB2312" pitchFamily="49" charset="-122"/>
              </a:rPr>
              <a:t>保持函数依赖</a:t>
            </a:r>
            <a:r>
              <a:rPr lang="en-US" altLang="zh-CN" sz="2800" dirty="0">
                <a:latin typeface="楷体_GB2312" pitchFamily="49" charset="-122"/>
              </a:rPr>
              <a:t>F</a:t>
            </a:r>
            <a:r>
              <a:rPr lang="zh-CN" altLang="en-US" sz="2800" dirty="0">
                <a:latin typeface="楷体_GB2312" pitchFamily="49" charset="-122"/>
              </a:rPr>
              <a:t>，否则</a:t>
            </a:r>
            <a:r>
              <a:rPr lang="en-US" altLang="zh-CN" sz="2800" i="1" dirty="0">
                <a:latin typeface="楷体_GB2312" pitchFamily="49" charset="-122"/>
              </a:rPr>
              <a:t>ρ</a:t>
            </a:r>
            <a:r>
              <a:rPr lang="zh-CN" altLang="en-US" sz="2800" dirty="0">
                <a:latin typeface="楷体_GB2312" pitchFamily="49" charset="-122"/>
              </a:rPr>
              <a:t>不保持  	函数依赖</a:t>
            </a:r>
            <a:r>
              <a:rPr lang="en-US" altLang="zh-CN" sz="2800" dirty="0">
                <a:latin typeface="楷体_GB2312" pitchFamily="49" charset="-122"/>
              </a:rPr>
              <a:t>F</a:t>
            </a:r>
            <a:r>
              <a:rPr lang="zh-CN" altLang="en-US" sz="2800" dirty="0">
                <a:latin typeface="楷体_GB2312" pitchFamily="49" charset="-122"/>
              </a:rPr>
              <a:t>。 </a:t>
            </a:r>
          </a:p>
        </p:txBody>
      </p:sp>
      <p:grpSp>
        <p:nvGrpSpPr>
          <p:cNvPr id="73733" name="Group 5"/>
          <p:cNvGrpSpPr>
            <a:grpSpLocks/>
          </p:cNvGrpSpPr>
          <p:nvPr/>
        </p:nvGrpSpPr>
        <p:grpSpPr bwMode="auto">
          <a:xfrm>
            <a:off x="1438275" y="2586038"/>
            <a:ext cx="1406525" cy="804862"/>
            <a:chOff x="988" y="1456"/>
            <a:chExt cx="886" cy="507"/>
          </a:xfrm>
        </p:grpSpPr>
        <p:grpSp>
          <p:nvGrpSpPr>
            <p:cNvPr id="73743" name="Group 6"/>
            <p:cNvGrpSpPr>
              <a:grpSpLocks/>
            </p:cNvGrpSpPr>
            <p:nvPr/>
          </p:nvGrpSpPr>
          <p:grpSpPr bwMode="auto">
            <a:xfrm>
              <a:off x="988" y="1456"/>
              <a:ext cx="256" cy="507"/>
              <a:chOff x="2813" y="2045"/>
              <a:chExt cx="256" cy="507"/>
            </a:xfrm>
          </p:grpSpPr>
          <p:sp>
            <p:nvSpPr>
              <p:cNvPr id="1534983" name="Rectangle 7"/>
              <p:cNvSpPr>
                <a:spLocks noChangeArrowheads="1"/>
              </p:cNvSpPr>
              <p:nvPr/>
            </p:nvSpPr>
            <p:spPr bwMode="auto">
              <a:xfrm>
                <a:off x="2813" y="2144"/>
                <a:ext cx="256" cy="307"/>
              </a:xfrm>
              <a:prstGeom prst="rect">
                <a:avLst/>
              </a:prstGeom>
              <a:noFill/>
              <a:ln w="12700" cap="sq" algn="ctr">
                <a:noFill/>
                <a:miter lim="800000"/>
                <a:headEnd/>
                <a:tailEnd/>
              </a:ln>
              <a:effectLst/>
            </p:spPr>
            <p:txBody>
              <a:bodyPr wrap="none" lIns="0" tIns="0" rIns="0" bIns="0">
                <a:spAutoFit/>
              </a:bodyPr>
              <a:lstStyle/>
              <a:p>
                <a:pPr>
                  <a:buSzTx/>
                  <a:buFontTx/>
                  <a:buNone/>
                  <a:defRPr/>
                </a:pPr>
                <a:r>
                  <a:rPr kumimoji="0" lang="zh-CN" altLang="en-US" b="1">
                    <a:solidFill>
                      <a:srgbClr val="CCFFCC"/>
                    </a:solidFill>
                    <a:effectLst>
                      <a:outerShdw blurRad="38100" dist="38100" dir="2700000" algn="tl">
                        <a:srgbClr val="000000"/>
                      </a:outerShdw>
                    </a:effectLst>
                  </a:rPr>
                  <a:t>∪</a:t>
                </a:r>
              </a:p>
            </p:txBody>
          </p:sp>
          <p:sp>
            <p:nvSpPr>
              <p:cNvPr id="1534984" name="Rectangle 8"/>
              <p:cNvSpPr>
                <a:spLocks noChangeArrowheads="1"/>
              </p:cNvSpPr>
              <p:nvPr/>
            </p:nvSpPr>
            <p:spPr bwMode="auto">
              <a:xfrm>
                <a:off x="2835" y="2379"/>
                <a:ext cx="219" cy="173"/>
              </a:xfrm>
              <a:prstGeom prst="rect">
                <a:avLst/>
              </a:prstGeom>
              <a:noFill/>
              <a:ln w="12700" cap="sq" algn="ctr">
                <a:noFill/>
                <a:miter lim="800000"/>
                <a:headEnd/>
                <a:tailEnd/>
              </a:ln>
              <a:effectLst/>
            </p:spPr>
            <p:txBody>
              <a:bodyPr wrap="none" lIns="0" tIns="0" rIns="0" bIns="0">
                <a:spAutoFit/>
              </a:bodyPr>
              <a:lstStyle/>
              <a:p>
                <a:pPr>
                  <a:buSzTx/>
                  <a:buFontTx/>
                  <a:buNone/>
                  <a:defRPr/>
                </a:pPr>
                <a:r>
                  <a:rPr kumimoji="0" lang="en-US" altLang="zh-CN" sz="1800" b="1">
                    <a:solidFill>
                      <a:srgbClr val="CCFFCC"/>
                    </a:solidFill>
                    <a:effectLst>
                      <a:outerShdw blurRad="38100" dist="38100" dir="2700000" algn="tl">
                        <a:srgbClr val="000000"/>
                      </a:outerShdw>
                    </a:effectLst>
                  </a:rPr>
                  <a:t>i=1</a:t>
                </a:r>
              </a:p>
            </p:txBody>
          </p:sp>
          <p:sp>
            <p:nvSpPr>
              <p:cNvPr id="1534985" name="Rectangle 9"/>
              <p:cNvSpPr>
                <a:spLocks noChangeArrowheads="1"/>
              </p:cNvSpPr>
              <p:nvPr/>
            </p:nvSpPr>
            <p:spPr bwMode="auto">
              <a:xfrm>
                <a:off x="2901" y="2045"/>
                <a:ext cx="72" cy="173"/>
              </a:xfrm>
              <a:prstGeom prst="rect">
                <a:avLst/>
              </a:prstGeom>
              <a:noFill/>
              <a:ln w="12700" cap="sq" algn="ctr">
                <a:noFill/>
                <a:miter lim="800000"/>
                <a:headEnd/>
                <a:tailEnd/>
              </a:ln>
              <a:effectLst/>
            </p:spPr>
            <p:txBody>
              <a:bodyPr wrap="none" lIns="0" tIns="0" rIns="0" bIns="0">
                <a:spAutoFit/>
              </a:bodyPr>
              <a:lstStyle/>
              <a:p>
                <a:pPr>
                  <a:buSzTx/>
                  <a:buFontTx/>
                  <a:buNone/>
                  <a:defRPr/>
                </a:pPr>
                <a:r>
                  <a:rPr kumimoji="0" lang="en-US" altLang="zh-CN" sz="1800" b="1">
                    <a:solidFill>
                      <a:srgbClr val="CCFFCC"/>
                    </a:solidFill>
                    <a:effectLst>
                      <a:outerShdw blurRad="38100" dist="38100" dir="2700000" algn="tl">
                        <a:srgbClr val="000000"/>
                      </a:outerShdw>
                    </a:effectLst>
                  </a:rPr>
                  <a:t>k</a:t>
                </a:r>
              </a:p>
            </p:txBody>
          </p:sp>
        </p:grpSp>
        <p:sp>
          <p:nvSpPr>
            <p:cNvPr id="1534986" name="Rectangle 10"/>
            <p:cNvSpPr>
              <a:spLocks noChangeArrowheads="1"/>
            </p:cNvSpPr>
            <p:nvPr/>
          </p:nvSpPr>
          <p:spPr bwMode="auto">
            <a:xfrm>
              <a:off x="1202" y="1525"/>
              <a:ext cx="672" cy="307"/>
            </a:xfrm>
            <a:prstGeom prst="rect">
              <a:avLst/>
            </a:prstGeom>
            <a:noFill/>
            <a:ln w="12700" cap="sq" algn="ctr">
              <a:noFill/>
              <a:miter lim="800000"/>
              <a:headEnd/>
              <a:tailEnd/>
            </a:ln>
            <a:effectLst/>
          </p:spPr>
          <p:txBody>
            <a:bodyPr wrap="none" lIns="0" tIns="0" rIns="0" bIns="0">
              <a:spAutoFit/>
            </a:bodyPr>
            <a:lstStyle/>
            <a:p>
              <a:pPr>
                <a:buSzTx/>
                <a:buFontTx/>
                <a:buNone/>
                <a:defRPr/>
              </a:pPr>
              <a:r>
                <a:rPr kumimoji="0" lang="en-US" altLang="zh-CN">
                  <a:solidFill>
                    <a:srgbClr val="CCFFCC"/>
                  </a:solidFill>
                  <a:effectLst>
                    <a:outerShdw blurRad="38100" dist="38100" dir="2700000" algn="tl">
                      <a:srgbClr val="000000"/>
                    </a:outerShdw>
                  </a:effectLst>
                </a:rPr>
                <a:t>π</a:t>
              </a:r>
              <a:r>
                <a:rPr kumimoji="0" lang="en-US" altLang="zh-CN" sz="2000">
                  <a:solidFill>
                    <a:srgbClr val="CCFFCC"/>
                  </a:solidFill>
                  <a:effectLst>
                    <a:outerShdw blurRad="38100" dist="38100" dir="2700000" algn="tl">
                      <a:srgbClr val="000000"/>
                    </a:outerShdw>
                  </a:effectLst>
                </a:rPr>
                <a:t> </a:t>
              </a:r>
              <a:r>
                <a:rPr kumimoji="0" lang="en-US" altLang="zh-CN" sz="2800">
                  <a:solidFill>
                    <a:srgbClr val="CCFFCC"/>
                  </a:solidFill>
                  <a:effectLst>
                    <a:outerShdw blurRad="38100" dist="38100" dir="2700000" algn="tl">
                      <a:srgbClr val="000000"/>
                    </a:outerShdw>
                  </a:effectLst>
                </a:rPr>
                <a:t>(F)</a:t>
              </a:r>
            </a:p>
          </p:txBody>
        </p:sp>
        <p:sp>
          <p:nvSpPr>
            <p:cNvPr id="1534987" name="Rectangle 11"/>
            <p:cNvSpPr>
              <a:spLocks noChangeArrowheads="1"/>
            </p:cNvSpPr>
            <p:nvPr/>
          </p:nvSpPr>
          <p:spPr bwMode="auto">
            <a:xfrm>
              <a:off x="1430" y="1632"/>
              <a:ext cx="172" cy="250"/>
            </a:xfrm>
            <a:prstGeom prst="rect">
              <a:avLst/>
            </a:prstGeom>
            <a:noFill/>
            <a:ln w="12700" cap="sq" algn="ctr">
              <a:noFill/>
              <a:miter lim="800000"/>
              <a:headEnd/>
              <a:tailEnd/>
            </a:ln>
            <a:effectLst/>
          </p:spPr>
          <p:txBody>
            <a:bodyPr wrap="none" lIns="0" tIns="0" rIns="0" bIns="0">
              <a:spAutoFit/>
            </a:bodyPr>
            <a:lstStyle/>
            <a:p>
              <a:pPr>
                <a:buSzTx/>
                <a:buFontTx/>
                <a:buNone/>
                <a:defRPr/>
              </a:pPr>
              <a:r>
                <a:rPr kumimoji="0" lang="en-US" altLang="zh-CN" sz="2600">
                  <a:solidFill>
                    <a:srgbClr val="CCFFCC"/>
                  </a:solidFill>
                  <a:effectLst>
                    <a:outerShdw blurRad="38100" dist="38100" dir="2700000" algn="tl">
                      <a:srgbClr val="000000"/>
                    </a:outerShdw>
                  </a:effectLst>
                </a:rPr>
                <a:t>U</a:t>
              </a:r>
              <a:r>
                <a:rPr kumimoji="0" lang="en-US" altLang="zh-CN" sz="2600" baseline="-25000">
                  <a:solidFill>
                    <a:srgbClr val="CCFFCC"/>
                  </a:solidFill>
                  <a:effectLst>
                    <a:outerShdw blurRad="38100" dist="38100" dir="2700000" algn="tl">
                      <a:srgbClr val="000000"/>
                    </a:outerShdw>
                  </a:effectLst>
                </a:rPr>
                <a:t>i</a:t>
              </a:r>
              <a:endParaRPr kumimoji="0" lang="zh-CN" altLang="en-US" sz="2600" baseline="-25000">
                <a:solidFill>
                  <a:srgbClr val="CCFFCC"/>
                </a:solidFill>
                <a:effectLst>
                  <a:outerShdw blurRad="38100" dist="38100" dir="2700000" algn="tl">
                    <a:srgbClr val="000000"/>
                  </a:outerShdw>
                </a:effectLst>
              </a:endParaRPr>
            </a:p>
          </p:txBody>
        </p:sp>
      </p:grpSp>
      <p:grpSp>
        <p:nvGrpSpPr>
          <p:cNvPr id="73734" name="Group 12"/>
          <p:cNvGrpSpPr>
            <a:grpSpLocks/>
          </p:cNvGrpSpPr>
          <p:nvPr/>
        </p:nvGrpSpPr>
        <p:grpSpPr bwMode="auto">
          <a:xfrm>
            <a:off x="5676900" y="3506788"/>
            <a:ext cx="360363" cy="427037"/>
            <a:chOff x="4241" y="1997"/>
            <a:chExt cx="227" cy="269"/>
          </a:xfrm>
        </p:grpSpPr>
        <p:sp>
          <p:nvSpPr>
            <p:cNvPr id="1534989" name="Rectangle 13"/>
            <p:cNvSpPr>
              <a:spLocks noChangeArrowheads="1"/>
            </p:cNvSpPr>
            <p:nvPr/>
          </p:nvSpPr>
          <p:spPr bwMode="auto">
            <a:xfrm>
              <a:off x="4241" y="1997"/>
              <a:ext cx="190" cy="269"/>
            </a:xfrm>
            <a:prstGeom prst="rect">
              <a:avLst/>
            </a:prstGeom>
            <a:noFill/>
            <a:ln w="12700" cap="sq" algn="ctr">
              <a:noFill/>
              <a:miter lim="800000"/>
              <a:headEnd/>
              <a:tailEnd/>
            </a:ln>
            <a:effectLst/>
          </p:spPr>
          <p:txBody>
            <a:bodyPr wrap="none" lIns="0" tIns="0" rIns="0" bIns="0">
              <a:spAutoFit/>
            </a:bodyPr>
            <a:lstStyle/>
            <a:p>
              <a:pPr>
                <a:buSzTx/>
                <a:buFontTx/>
                <a:buNone/>
                <a:defRPr/>
              </a:pPr>
              <a:r>
                <a:rPr lang="en-US" altLang="zh-CN" sz="2800" b="1">
                  <a:solidFill>
                    <a:srgbClr val="CCFFCC"/>
                  </a:solidFill>
                  <a:effectLst>
                    <a:outerShdw blurRad="38100" dist="38100" dir="2700000" algn="tl">
                      <a:srgbClr val="000000"/>
                    </a:outerShdw>
                  </a:effectLst>
                </a:rPr>
                <a:t>X</a:t>
              </a:r>
              <a:r>
                <a:rPr lang="en-US" altLang="zh-CN" sz="2800" b="1" baseline="-25000">
                  <a:solidFill>
                    <a:srgbClr val="CCFFCC"/>
                  </a:solidFill>
                  <a:effectLst>
                    <a:outerShdw blurRad="38100" dist="38100" dir="2700000" algn="tl">
                      <a:srgbClr val="000000"/>
                    </a:outerShdw>
                  </a:effectLst>
                </a:rPr>
                <a:t>G</a:t>
              </a:r>
              <a:endParaRPr lang="zh-CN" altLang="en-US" sz="2800" b="1" baseline="-25000">
                <a:solidFill>
                  <a:srgbClr val="CCFFCC"/>
                </a:solidFill>
                <a:effectLst>
                  <a:outerShdw blurRad="38100" dist="38100" dir="2700000" algn="tl">
                    <a:srgbClr val="000000"/>
                  </a:outerShdw>
                </a:effectLst>
              </a:endParaRPr>
            </a:p>
          </p:txBody>
        </p:sp>
        <p:sp>
          <p:nvSpPr>
            <p:cNvPr id="1534990" name="Rectangle 14"/>
            <p:cNvSpPr>
              <a:spLocks noChangeArrowheads="1"/>
            </p:cNvSpPr>
            <p:nvPr/>
          </p:nvSpPr>
          <p:spPr bwMode="auto">
            <a:xfrm>
              <a:off x="4364" y="2029"/>
              <a:ext cx="104" cy="182"/>
            </a:xfrm>
            <a:prstGeom prst="rect">
              <a:avLst/>
            </a:prstGeom>
            <a:noFill/>
            <a:ln w="12700" cap="sq" algn="ctr">
              <a:noFill/>
              <a:miter lim="800000"/>
              <a:headEnd/>
              <a:tailEnd/>
            </a:ln>
            <a:effectLst/>
          </p:spPr>
          <p:txBody>
            <a:bodyPr lIns="0" tIns="0" rIns="0" bIns="0">
              <a:spAutoFit/>
            </a:bodyPr>
            <a:lstStyle/>
            <a:p>
              <a:pPr>
                <a:buSzTx/>
                <a:buFontTx/>
                <a:buNone/>
                <a:defRPr/>
              </a:pPr>
              <a:r>
                <a:rPr lang="en-US" altLang="zh-CN" sz="2800" b="1" baseline="30000">
                  <a:solidFill>
                    <a:srgbClr val="CCFFCC"/>
                  </a:solidFill>
                  <a:effectLst>
                    <a:outerShdw blurRad="38100" dist="38100" dir="2700000" algn="tl">
                      <a:srgbClr val="000000"/>
                    </a:outerShdw>
                  </a:effectLst>
                </a:rPr>
                <a:t>+</a:t>
              </a:r>
              <a:endParaRPr lang="zh-CN" altLang="en-US" sz="2800" b="1" baseline="30000">
                <a:solidFill>
                  <a:srgbClr val="CCFFCC"/>
                </a:solidFill>
                <a:effectLst>
                  <a:outerShdw blurRad="38100" dist="38100" dir="2700000" algn="tl">
                    <a:srgbClr val="000000"/>
                  </a:outerShdw>
                </a:effectLst>
              </a:endParaRPr>
            </a:p>
          </p:txBody>
        </p:sp>
      </p:grpSp>
      <p:grpSp>
        <p:nvGrpSpPr>
          <p:cNvPr id="73735" name="Group 15"/>
          <p:cNvGrpSpPr>
            <a:grpSpLocks/>
          </p:cNvGrpSpPr>
          <p:nvPr/>
        </p:nvGrpSpPr>
        <p:grpSpPr bwMode="auto">
          <a:xfrm>
            <a:off x="1238250" y="4083050"/>
            <a:ext cx="741363" cy="569913"/>
            <a:chOff x="617" y="2416"/>
            <a:chExt cx="467" cy="359"/>
          </a:xfrm>
        </p:grpSpPr>
        <p:grpSp>
          <p:nvGrpSpPr>
            <p:cNvPr id="73737" name="Group 16"/>
            <p:cNvGrpSpPr>
              <a:grpSpLocks/>
            </p:cNvGrpSpPr>
            <p:nvPr/>
          </p:nvGrpSpPr>
          <p:grpSpPr bwMode="auto">
            <a:xfrm>
              <a:off x="857" y="2494"/>
              <a:ext cx="227" cy="269"/>
              <a:chOff x="4241" y="1997"/>
              <a:chExt cx="227" cy="269"/>
            </a:xfrm>
          </p:grpSpPr>
          <p:sp>
            <p:nvSpPr>
              <p:cNvPr id="1534993" name="Rectangle 17"/>
              <p:cNvSpPr>
                <a:spLocks noChangeArrowheads="1"/>
              </p:cNvSpPr>
              <p:nvPr/>
            </p:nvSpPr>
            <p:spPr bwMode="auto">
              <a:xfrm>
                <a:off x="4241" y="1997"/>
                <a:ext cx="190" cy="269"/>
              </a:xfrm>
              <a:prstGeom prst="rect">
                <a:avLst/>
              </a:prstGeom>
              <a:noFill/>
              <a:ln w="12700" cap="sq" algn="ctr">
                <a:noFill/>
                <a:miter lim="800000"/>
                <a:headEnd/>
                <a:tailEnd/>
              </a:ln>
              <a:effectLst/>
            </p:spPr>
            <p:txBody>
              <a:bodyPr wrap="none" lIns="0" tIns="0" rIns="0" bIns="0">
                <a:spAutoFit/>
              </a:bodyPr>
              <a:lstStyle/>
              <a:p>
                <a:pPr>
                  <a:buSzTx/>
                  <a:buFontTx/>
                  <a:buNone/>
                  <a:defRPr/>
                </a:pPr>
                <a:r>
                  <a:rPr lang="en-US" altLang="zh-CN" sz="2800" b="1">
                    <a:solidFill>
                      <a:srgbClr val="CCFFCC"/>
                    </a:solidFill>
                    <a:effectLst>
                      <a:outerShdw blurRad="38100" dist="38100" dir="2700000" algn="tl">
                        <a:srgbClr val="000000"/>
                      </a:outerShdw>
                    </a:effectLst>
                  </a:rPr>
                  <a:t>X</a:t>
                </a:r>
                <a:r>
                  <a:rPr lang="en-US" altLang="zh-CN" sz="2800" b="1" baseline="-25000">
                    <a:solidFill>
                      <a:srgbClr val="CCFFCC"/>
                    </a:solidFill>
                    <a:effectLst>
                      <a:outerShdw blurRad="38100" dist="38100" dir="2700000" algn="tl">
                        <a:srgbClr val="000000"/>
                      </a:outerShdw>
                    </a:effectLst>
                  </a:rPr>
                  <a:t>G</a:t>
                </a:r>
                <a:endParaRPr lang="zh-CN" altLang="en-US" sz="2800" b="1" baseline="-25000">
                  <a:solidFill>
                    <a:srgbClr val="CCFFCC"/>
                  </a:solidFill>
                  <a:effectLst>
                    <a:outerShdw blurRad="38100" dist="38100" dir="2700000" algn="tl">
                      <a:srgbClr val="000000"/>
                    </a:outerShdw>
                  </a:effectLst>
                </a:endParaRPr>
              </a:p>
            </p:txBody>
          </p:sp>
          <p:sp>
            <p:nvSpPr>
              <p:cNvPr id="1534994" name="Rectangle 18"/>
              <p:cNvSpPr>
                <a:spLocks noChangeArrowheads="1"/>
              </p:cNvSpPr>
              <p:nvPr/>
            </p:nvSpPr>
            <p:spPr bwMode="auto">
              <a:xfrm>
                <a:off x="4364" y="2029"/>
                <a:ext cx="104" cy="182"/>
              </a:xfrm>
              <a:prstGeom prst="rect">
                <a:avLst/>
              </a:prstGeom>
              <a:noFill/>
              <a:ln w="12700" cap="sq" algn="ctr">
                <a:noFill/>
                <a:miter lim="800000"/>
                <a:headEnd/>
                <a:tailEnd/>
              </a:ln>
              <a:effectLst/>
            </p:spPr>
            <p:txBody>
              <a:bodyPr lIns="0" tIns="0" rIns="0" bIns="0">
                <a:spAutoFit/>
              </a:bodyPr>
              <a:lstStyle/>
              <a:p>
                <a:pPr>
                  <a:buSzTx/>
                  <a:buFontTx/>
                  <a:buNone/>
                  <a:defRPr/>
                </a:pPr>
                <a:r>
                  <a:rPr lang="en-US" altLang="zh-CN" sz="2800" b="1" baseline="30000">
                    <a:solidFill>
                      <a:srgbClr val="CCFFCC"/>
                    </a:solidFill>
                    <a:effectLst>
                      <a:outerShdw blurRad="38100" dist="38100" dir="2700000" algn="tl">
                        <a:srgbClr val="000000"/>
                      </a:outerShdw>
                    </a:effectLst>
                  </a:rPr>
                  <a:t>+</a:t>
                </a:r>
                <a:endParaRPr lang="zh-CN" altLang="en-US" sz="2800" b="1" baseline="30000">
                  <a:solidFill>
                    <a:srgbClr val="CCFFCC"/>
                  </a:solidFill>
                  <a:effectLst>
                    <a:outerShdw blurRad="38100" dist="38100" dir="2700000" algn="tl">
                      <a:srgbClr val="000000"/>
                    </a:outerShdw>
                  </a:effectLst>
                </a:endParaRPr>
              </a:p>
            </p:txBody>
          </p:sp>
        </p:grpSp>
        <p:sp>
          <p:nvSpPr>
            <p:cNvPr id="1534995" name="Rectangle 19"/>
            <p:cNvSpPr>
              <a:spLocks noChangeArrowheads="1"/>
            </p:cNvSpPr>
            <p:nvPr/>
          </p:nvSpPr>
          <p:spPr bwMode="auto">
            <a:xfrm>
              <a:off x="617" y="2416"/>
              <a:ext cx="250" cy="359"/>
            </a:xfrm>
            <a:prstGeom prst="rect">
              <a:avLst/>
            </a:prstGeom>
            <a:noFill/>
            <a:ln w="12700" cap="sq">
              <a:noFill/>
              <a:miter lim="800000"/>
              <a:headEnd/>
              <a:tailEnd/>
            </a:ln>
            <a:effectLst/>
          </p:spPr>
          <p:txBody>
            <a:bodyPr lIns="72000" tIns="72000" rIns="72000" bIns="72000">
              <a:spAutoFit/>
            </a:bodyPr>
            <a:lstStyle/>
            <a:p>
              <a:pPr>
                <a:spcAft>
                  <a:spcPct val="0"/>
                </a:spcAft>
                <a:buSzTx/>
                <a:buFontTx/>
                <a:buNone/>
                <a:defRPr/>
              </a:pPr>
              <a:r>
                <a:rPr lang="en-US" altLang="zh-CN" sz="2800">
                  <a:solidFill>
                    <a:srgbClr val="CCFFCC"/>
                  </a:solidFill>
                  <a:effectLst>
                    <a:outerShdw blurRad="38100" dist="38100" dir="2700000" algn="tl">
                      <a:srgbClr val="000000"/>
                    </a:outerShdw>
                  </a:effectLst>
                  <a:sym typeface="Symbol" pitchFamily="18" charset="2"/>
                </a:rPr>
                <a:t></a:t>
              </a:r>
              <a:endParaRPr lang="zh-CN" altLang="en-US" sz="2800">
                <a:solidFill>
                  <a:srgbClr val="CCFFCC"/>
                </a:solidFill>
                <a:effectLst>
                  <a:outerShdw blurRad="38100" dist="38100" dir="2700000" algn="tl">
                    <a:srgbClr val="000000"/>
                  </a:outerShdw>
                </a:effectLst>
                <a:sym typeface="Symbol" pitchFamily="18" charset="2"/>
              </a:endParaRPr>
            </a:p>
          </p:txBody>
        </p:sp>
      </p:grpSp>
      <p:sp>
        <p:nvSpPr>
          <p:cNvPr id="1534996" name="Line 20"/>
          <p:cNvSpPr>
            <a:spLocks noChangeShapeType="1"/>
          </p:cNvSpPr>
          <p:nvPr/>
        </p:nvSpPr>
        <p:spPr bwMode="auto">
          <a:xfrm>
            <a:off x="1403350" y="4279900"/>
            <a:ext cx="73025" cy="360363"/>
          </a:xfrm>
          <a:prstGeom prst="line">
            <a:avLst/>
          </a:prstGeom>
          <a:noFill/>
          <a:ln w="12700" cap="sq">
            <a:solidFill>
              <a:srgbClr val="CCFFCC"/>
            </a:solidFill>
            <a:round/>
            <a:headEnd/>
            <a:tailEnd/>
          </a:ln>
          <a:effectLst/>
        </p:spPr>
        <p:txBody>
          <a:bodyPr lIns="0" tIns="0" rIns="0" bIns="0"/>
          <a:lstStyle/>
          <a:p>
            <a:pPr>
              <a:defRPr/>
            </a:pPr>
            <a:endParaRPr lang="zh-CN" altLang="en-US"/>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04" name="Text Box 4"/>
          <p:cNvSpPr txBox="1">
            <a:spLocks noChangeArrowheads="1"/>
          </p:cNvSpPr>
          <p:nvPr/>
        </p:nvSpPr>
        <p:spPr bwMode="auto">
          <a:xfrm>
            <a:off x="323850" y="1412875"/>
            <a:ext cx="8382000" cy="647700"/>
          </a:xfrm>
          <a:prstGeom prst="rect">
            <a:avLst/>
          </a:prstGeom>
          <a:noFill/>
          <a:ln w="12700" cap="sq">
            <a:noFill/>
            <a:miter lim="800000"/>
            <a:headEnd type="none" w="sm" len="sm"/>
            <a:tailEnd type="none" w="sm" len="sm"/>
          </a:ln>
          <a:effectLst/>
        </p:spPr>
        <p:txBody>
          <a:bodyPr/>
          <a:lstStyle/>
          <a:p>
            <a:pPr>
              <a:spcAft>
                <a:spcPct val="0"/>
              </a:spcAft>
              <a:buSzTx/>
              <a:buFontTx/>
              <a:buNone/>
              <a:defRPr/>
            </a:pPr>
            <a:r>
              <a:rPr kumimoji="0" lang="zh-CN" altLang="zh-CN" sz="2800">
                <a:solidFill>
                  <a:srgbClr val="99FF33"/>
                </a:solidFill>
                <a:effectLst>
                  <a:outerShdw blurRad="38100" dist="38100" dir="2700000" algn="tl">
                    <a:srgbClr val="000000"/>
                  </a:outerShdw>
                </a:effectLst>
              </a:rPr>
              <a:t>设有关系模式R(ABCD，{A</a:t>
            </a:r>
            <a:r>
              <a:rPr kumimoji="0" lang="zh-CN" altLang="en-US" sz="2800">
                <a:solidFill>
                  <a:srgbClr val="99FF33"/>
                </a:solidFill>
                <a:effectLst>
                  <a:outerShdw blurRad="38100" dist="38100" dir="2700000" algn="tl">
                    <a:srgbClr val="000000"/>
                  </a:outerShdw>
                </a:effectLst>
              </a:rPr>
              <a:t>→</a:t>
            </a:r>
            <a:r>
              <a:rPr kumimoji="0" lang="zh-CN" altLang="zh-CN" sz="2800">
                <a:solidFill>
                  <a:srgbClr val="99FF33"/>
                </a:solidFill>
                <a:effectLst>
                  <a:outerShdw blurRad="38100" dist="38100" dir="2700000" algn="tl">
                    <a:srgbClr val="000000"/>
                  </a:outerShdw>
                </a:effectLst>
              </a:rPr>
              <a:t>B,B</a:t>
            </a:r>
            <a:r>
              <a:rPr kumimoji="0" lang="zh-CN" altLang="en-US" sz="2800">
                <a:solidFill>
                  <a:srgbClr val="99FF33"/>
                </a:solidFill>
                <a:effectLst>
                  <a:outerShdw blurRad="38100" dist="38100" dir="2700000" algn="tl">
                    <a:srgbClr val="000000"/>
                  </a:outerShdw>
                </a:effectLst>
              </a:rPr>
              <a:t>→</a:t>
            </a:r>
            <a:r>
              <a:rPr kumimoji="0" lang="zh-CN" altLang="zh-CN" sz="2800">
                <a:solidFill>
                  <a:srgbClr val="99FF33"/>
                </a:solidFill>
                <a:effectLst>
                  <a:outerShdw blurRad="38100" dist="38100" dir="2700000" algn="tl">
                    <a:srgbClr val="000000"/>
                  </a:outerShdw>
                </a:effectLst>
              </a:rPr>
              <a:t>C,C</a:t>
            </a:r>
            <a:r>
              <a:rPr kumimoji="0" lang="zh-CN" altLang="en-US" sz="2800">
                <a:solidFill>
                  <a:srgbClr val="99FF33"/>
                </a:solidFill>
                <a:effectLst>
                  <a:outerShdw blurRad="38100" dist="38100" dir="2700000" algn="tl">
                    <a:srgbClr val="000000"/>
                  </a:outerShdw>
                </a:effectLst>
              </a:rPr>
              <a:t>→</a:t>
            </a:r>
            <a:r>
              <a:rPr kumimoji="0" lang="zh-CN" altLang="zh-CN" sz="2800">
                <a:solidFill>
                  <a:srgbClr val="99FF33"/>
                </a:solidFill>
                <a:effectLst>
                  <a:outerShdw blurRad="38100" dist="38100" dir="2700000" algn="tl">
                    <a:srgbClr val="000000"/>
                  </a:outerShdw>
                </a:effectLst>
              </a:rPr>
              <a:t>D,D</a:t>
            </a:r>
            <a:r>
              <a:rPr kumimoji="0" lang="zh-CN" altLang="en-US" sz="2800">
                <a:solidFill>
                  <a:srgbClr val="99FF33"/>
                </a:solidFill>
                <a:effectLst>
                  <a:outerShdw blurRad="38100" dist="38100" dir="2700000" algn="tl">
                    <a:srgbClr val="000000"/>
                  </a:outerShdw>
                </a:effectLst>
              </a:rPr>
              <a:t>→</a:t>
            </a:r>
            <a:r>
              <a:rPr kumimoji="0" lang="zh-CN" altLang="zh-CN" sz="2800">
                <a:solidFill>
                  <a:srgbClr val="99FF33"/>
                </a:solidFill>
                <a:effectLst>
                  <a:outerShdw blurRad="38100" dist="38100" dir="2700000" algn="tl">
                    <a:srgbClr val="000000"/>
                  </a:outerShdw>
                </a:effectLst>
              </a:rPr>
              <a:t>A}</a:t>
            </a:r>
            <a:r>
              <a:rPr kumimoji="0" lang="zh-CN" altLang="en-US" sz="2800">
                <a:solidFill>
                  <a:srgbClr val="99FF33"/>
                </a:solidFill>
                <a:effectLst>
                  <a:outerShdw blurRad="38100" dist="38100" dir="2700000" algn="tl">
                    <a:srgbClr val="000000"/>
                  </a:outerShdw>
                </a:effectLst>
              </a:rPr>
              <a:t>)</a:t>
            </a:r>
            <a:r>
              <a:rPr kumimoji="0" lang="zh-CN" altLang="zh-CN" sz="2800">
                <a:solidFill>
                  <a:srgbClr val="99FF33"/>
                </a:solidFill>
                <a:effectLst>
                  <a:outerShdw blurRad="38100" dist="38100" dir="2700000" algn="tl">
                    <a:srgbClr val="000000"/>
                  </a:outerShdw>
                </a:effectLst>
              </a:rPr>
              <a:t>，R的一个分解</a:t>
            </a:r>
            <a:r>
              <a:rPr kumimoji="0" lang="zh-CN" altLang="en-US" sz="2800" i="1">
                <a:solidFill>
                  <a:srgbClr val="99FF33"/>
                </a:solidFill>
                <a:effectLst>
                  <a:outerShdw blurRad="38100" dist="38100" dir="2700000" algn="tl">
                    <a:srgbClr val="000000"/>
                  </a:outerShdw>
                </a:effectLst>
              </a:rPr>
              <a:t>ρ</a:t>
            </a:r>
            <a:r>
              <a:rPr kumimoji="0" lang="zh-CN" altLang="zh-CN" sz="2800">
                <a:solidFill>
                  <a:srgbClr val="99FF33"/>
                </a:solidFill>
                <a:effectLst>
                  <a:outerShdw blurRad="38100" dist="38100" dir="2700000" algn="tl">
                    <a:srgbClr val="000000"/>
                  </a:outerShdw>
                </a:effectLst>
              </a:rPr>
              <a:t>={R</a:t>
            </a:r>
            <a:r>
              <a:rPr kumimoji="0" lang="zh-CN" altLang="en-US" sz="2800" baseline="-25000">
                <a:solidFill>
                  <a:srgbClr val="99FF33"/>
                </a:solidFill>
                <a:effectLst>
                  <a:outerShdw blurRad="38100" dist="38100" dir="2700000" algn="tl">
                    <a:srgbClr val="000000"/>
                  </a:outerShdw>
                </a:effectLst>
              </a:rPr>
              <a:t>1</a:t>
            </a:r>
            <a:r>
              <a:rPr kumimoji="0" lang="zh-CN" altLang="zh-CN" sz="2800">
                <a:solidFill>
                  <a:srgbClr val="99FF33"/>
                </a:solidFill>
                <a:effectLst>
                  <a:outerShdw blurRad="38100" dist="38100" dir="2700000" algn="tl">
                    <a:srgbClr val="000000"/>
                  </a:outerShdw>
                </a:effectLst>
              </a:rPr>
              <a:t>(AB),R</a:t>
            </a:r>
            <a:r>
              <a:rPr kumimoji="0" lang="zh-CN" altLang="zh-CN" sz="2800" baseline="-25000">
                <a:solidFill>
                  <a:srgbClr val="99FF33"/>
                </a:solidFill>
                <a:effectLst>
                  <a:outerShdw blurRad="38100" dist="38100" dir="2700000" algn="tl">
                    <a:srgbClr val="000000"/>
                  </a:outerShdw>
                </a:effectLst>
              </a:rPr>
              <a:t>2</a:t>
            </a:r>
            <a:r>
              <a:rPr kumimoji="0" lang="zh-CN" altLang="zh-CN" sz="2800">
                <a:solidFill>
                  <a:srgbClr val="99FF33"/>
                </a:solidFill>
                <a:effectLst>
                  <a:outerShdw blurRad="38100" dist="38100" dir="2700000" algn="tl">
                    <a:srgbClr val="000000"/>
                  </a:outerShdw>
                </a:effectLst>
              </a:rPr>
              <a:t>(BC),R</a:t>
            </a:r>
            <a:r>
              <a:rPr kumimoji="0" lang="zh-CN" altLang="zh-CN" sz="2800" baseline="-25000">
                <a:solidFill>
                  <a:srgbClr val="99FF33"/>
                </a:solidFill>
                <a:effectLst>
                  <a:outerShdw blurRad="38100" dist="38100" dir="2700000" algn="tl">
                    <a:srgbClr val="000000"/>
                  </a:outerShdw>
                </a:effectLst>
              </a:rPr>
              <a:t>3</a:t>
            </a:r>
            <a:r>
              <a:rPr kumimoji="0" lang="zh-CN" altLang="zh-CN" sz="2800">
                <a:solidFill>
                  <a:srgbClr val="99FF33"/>
                </a:solidFill>
                <a:effectLst>
                  <a:outerShdw blurRad="38100" dist="38100" dir="2700000" algn="tl">
                    <a:srgbClr val="000000"/>
                  </a:outerShdw>
                </a:effectLst>
              </a:rPr>
              <a:t>(CD)}。</a:t>
            </a:r>
            <a:r>
              <a:rPr kumimoji="0" lang="zh-CN" altLang="en-US" sz="2600" i="1">
                <a:solidFill>
                  <a:srgbClr val="99FF33"/>
                </a:solidFill>
                <a:effectLst>
                  <a:outerShdw blurRad="38100" dist="38100" dir="2700000" algn="tl">
                    <a:srgbClr val="000000"/>
                  </a:outerShdw>
                </a:effectLst>
              </a:rPr>
              <a:t>ρ</a:t>
            </a:r>
            <a:r>
              <a:rPr kumimoji="0" lang="zh-CN" altLang="zh-CN" sz="2800">
                <a:solidFill>
                  <a:srgbClr val="99FF33"/>
                </a:solidFill>
                <a:effectLst>
                  <a:outerShdw blurRad="38100" dist="38100" dir="2700000" algn="tl">
                    <a:srgbClr val="000000"/>
                  </a:outerShdw>
                </a:effectLst>
              </a:rPr>
              <a:t>保持F</a:t>
            </a:r>
            <a:r>
              <a:rPr kumimoji="0" lang="zh-CN" altLang="en-US" sz="2800">
                <a:solidFill>
                  <a:srgbClr val="99FF33"/>
                </a:solidFill>
                <a:effectLst>
                  <a:outerShdw blurRad="38100" dist="38100" dir="2700000" algn="tl">
                    <a:srgbClr val="000000"/>
                  </a:outerShdw>
                </a:effectLst>
              </a:rPr>
              <a:t>?</a:t>
            </a:r>
            <a:endParaRPr kumimoji="0" lang="zh-CN" altLang="zh-CN" sz="2800">
              <a:solidFill>
                <a:srgbClr val="99FF33"/>
              </a:solidFill>
              <a:effectLst>
                <a:outerShdw blurRad="38100" dist="38100" dir="2700000" algn="tl">
                  <a:srgbClr val="000000"/>
                </a:outerShdw>
              </a:effectLst>
            </a:endParaRPr>
          </a:p>
        </p:txBody>
      </p:sp>
      <p:sp>
        <p:nvSpPr>
          <p:cNvPr id="1536005" name="Text Box 5"/>
          <p:cNvSpPr txBox="1">
            <a:spLocks noChangeArrowheads="1"/>
          </p:cNvSpPr>
          <p:nvPr/>
        </p:nvSpPr>
        <p:spPr bwMode="auto">
          <a:xfrm>
            <a:off x="323850" y="2492375"/>
            <a:ext cx="8382000" cy="647700"/>
          </a:xfrm>
          <a:prstGeom prst="rect">
            <a:avLst/>
          </a:prstGeom>
          <a:noFill/>
          <a:ln w="12700" cap="sq">
            <a:noFill/>
            <a:miter lim="800000"/>
            <a:headEnd type="none" w="sm" len="sm"/>
            <a:tailEnd type="none" w="sm" len="sm"/>
          </a:ln>
          <a:effectLst/>
        </p:spPr>
        <p:txBody>
          <a:bodyPr/>
          <a:lstStyle/>
          <a:p>
            <a:pPr algn="just">
              <a:lnSpc>
                <a:spcPct val="125000"/>
              </a:lnSpc>
              <a:spcAft>
                <a:spcPct val="0"/>
              </a:spcAft>
              <a:buSzTx/>
              <a:buFontTx/>
              <a:buNone/>
              <a:defRPr/>
            </a:pPr>
            <a:r>
              <a:rPr kumimoji="0" lang="en-US" altLang="zh-CN" sz="2800">
                <a:effectLst>
                  <a:outerShdw blurRad="38100" dist="38100" dir="2700000" algn="tl">
                    <a:srgbClr val="000000"/>
                  </a:outerShdw>
                </a:effectLst>
              </a:rPr>
              <a:t>1)F</a:t>
            </a:r>
            <a:r>
              <a:rPr kumimoji="0" lang="en-US" altLang="zh-CN" sz="2800" baseline="-30000">
                <a:effectLst>
                  <a:outerShdw blurRad="38100" dist="38100" dir="2700000" algn="tl">
                    <a:srgbClr val="000000"/>
                  </a:outerShdw>
                </a:effectLst>
              </a:rPr>
              <a:t>1</a:t>
            </a:r>
            <a:r>
              <a:rPr kumimoji="0" lang="en-US" altLang="zh-CN" sz="2800">
                <a:effectLst>
                  <a:outerShdw blurRad="38100" dist="38100" dir="2700000" algn="tl">
                    <a:srgbClr val="000000"/>
                  </a:outerShdw>
                </a:effectLst>
              </a:rPr>
              <a:t>=π</a:t>
            </a:r>
            <a:r>
              <a:rPr kumimoji="0" lang="en-US" altLang="zh-CN" sz="2800" baseline="-30000">
                <a:effectLst>
                  <a:outerShdw blurRad="38100" dist="38100" dir="2700000" algn="tl">
                    <a:srgbClr val="000000"/>
                  </a:outerShdw>
                </a:effectLst>
              </a:rPr>
              <a:t>AB</a:t>
            </a:r>
            <a:r>
              <a:rPr kumimoji="0" lang="en-US" altLang="zh-CN" sz="2800">
                <a:effectLst>
                  <a:outerShdw blurRad="38100" dist="38100" dir="2700000" algn="tl">
                    <a:srgbClr val="000000"/>
                  </a:outerShdw>
                </a:effectLst>
              </a:rPr>
              <a:t>(F)={A→B,B→A}</a:t>
            </a:r>
            <a:r>
              <a:rPr kumimoji="0" lang="zh-CN" altLang="en-US" sz="2800">
                <a:effectLst>
                  <a:outerShdw blurRad="38100" dist="38100" dir="2700000" algn="tl">
                    <a:srgbClr val="000000"/>
                  </a:outerShdw>
                </a:effectLst>
              </a:rPr>
              <a:t>，</a:t>
            </a:r>
          </a:p>
          <a:p>
            <a:pPr algn="just">
              <a:lnSpc>
                <a:spcPct val="125000"/>
              </a:lnSpc>
              <a:spcAft>
                <a:spcPct val="0"/>
              </a:spcAft>
              <a:buSzTx/>
              <a:buFontTx/>
              <a:buNone/>
              <a:defRPr/>
            </a:pPr>
            <a:r>
              <a:rPr kumimoji="0" lang="zh-CN" altLang="en-US" sz="2800">
                <a:effectLst>
                  <a:outerShdw blurRad="38100" dist="38100" dir="2700000" algn="tl">
                    <a:srgbClr val="000000"/>
                  </a:outerShdw>
                </a:effectLst>
              </a:rPr>
              <a:t>  </a:t>
            </a:r>
            <a:r>
              <a:rPr kumimoji="0" lang="en-US" altLang="zh-CN" sz="2800">
                <a:effectLst>
                  <a:outerShdw blurRad="38100" dist="38100" dir="2700000" algn="tl">
                    <a:srgbClr val="000000"/>
                  </a:outerShdw>
                </a:effectLst>
              </a:rPr>
              <a:t>F</a:t>
            </a:r>
            <a:r>
              <a:rPr kumimoji="0" lang="en-US" altLang="zh-CN" sz="2800" baseline="-30000">
                <a:effectLst>
                  <a:outerShdw blurRad="38100" dist="38100" dir="2700000" algn="tl">
                    <a:srgbClr val="000000"/>
                  </a:outerShdw>
                </a:effectLst>
              </a:rPr>
              <a:t>2</a:t>
            </a:r>
            <a:r>
              <a:rPr kumimoji="0" lang="en-US" altLang="zh-CN" sz="2800">
                <a:effectLst>
                  <a:outerShdw blurRad="38100" dist="38100" dir="2700000" algn="tl">
                    <a:srgbClr val="000000"/>
                  </a:outerShdw>
                </a:effectLst>
              </a:rPr>
              <a:t>=π</a:t>
            </a:r>
            <a:r>
              <a:rPr kumimoji="0" lang="en-US" altLang="zh-CN" sz="2800" baseline="-30000">
                <a:effectLst>
                  <a:outerShdw blurRad="38100" dist="38100" dir="2700000" algn="tl">
                    <a:srgbClr val="000000"/>
                  </a:outerShdw>
                </a:effectLst>
              </a:rPr>
              <a:t>BC</a:t>
            </a:r>
            <a:r>
              <a:rPr kumimoji="0" lang="en-US" altLang="zh-CN" sz="2800">
                <a:effectLst>
                  <a:outerShdw blurRad="38100" dist="38100" dir="2700000" algn="tl">
                    <a:srgbClr val="000000"/>
                  </a:outerShdw>
                </a:effectLst>
              </a:rPr>
              <a:t>(F)={B→C,C</a:t>
            </a:r>
            <a:r>
              <a:rPr kumimoji="0" lang="en-US" altLang="zh-CN" sz="2600">
                <a:effectLst>
                  <a:outerShdw blurRad="38100" dist="38100" dir="2700000" algn="tl">
                    <a:srgbClr val="000000"/>
                  </a:outerShdw>
                </a:effectLst>
              </a:rPr>
              <a:t>→</a:t>
            </a:r>
            <a:r>
              <a:rPr kumimoji="0" lang="en-US" altLang="zh-CN" sz="2800">
                <a:effectLst>
                  <a:outerShdw blurRad="38100" dist="38100" dir="2700000" algn="tl">
                    <a:srgbClr val="000000"/>
                  </a:outerShdw>
                </a:effectLst>
              </a:rPr>
              <a:t>B}</a:t>
            </a:r>
            <a:r>
              <a:rPr kumimoji="0" lang="zh-CN" altLang="en-US" sz="2800">
                <a:effectLst>
                  <a:outerShdw blurRad="38100" dist="38100" dir="2700000" algn="tl">
                    <a:srgbClr val="000000"/>
                  </a:outerShdw>
                </a:effectLst>
              </a:rPr>
              <a:t>，</a:t>
            </a:r>
          </a:p>
          <a:p>
            <a:pPr algn="just">
              <a:lnSpc>
                <a:spcPct val="125000"/>
              </a:lnSpc>
              <a:spcAft>
                <a:spcPct val="0"/>
              </a:spcAft>
              <a:buSzTx/>
              <a:buFontTx/>
              <a:buNone/>
              <a:defRPr/>
            </a:pPr>
            <a:r>
              <a:rPr kumimoji="0" lang="zh-CN" altLang="en-US" sz="2800">
                <a:effectLst>
                  <a:outerShdw blurRad="38100" dist="38100" dir="2700000" algn="tl">
                    <a:srgbClr val="000000"/>
                  </a:outerShdw>
                </a:effectLst>
              </a:rPr>
              <a:t>  </a:t>
            </a:r>
            <a:r>
              <a:rPr kumimoji="0" lang="en-US" altLang="zh-CN" sz="2800">
                <a:effectLst>
                  <a:outerShdw blurRad="38100" dist="38100" dir="2700000" algn="tl">
                    <a:srgbClr val="000000"/>
                  </a:outerShdw>
                </a:effectLst>
              </a:rPr>
              <a:t>F</a:t>
            </a:r>
            <a:r>
              <a:rPr kumimoji="0" lang="en-US" altLang="zh-CN" sz="2800" baseline="-30000">
                <a:effectLst>
                  <a:outerShdw blurRad="38100" dist="38100" dir="2700000" algn="tl">
                    <a:srgbClr val="000000"/>
                  </a:outerShdw>
                </a:effectLst>
              </a:rPr>
              <a:t>3</a:t>
            </a:r>
            <a:r>
              <a:rPr kumimoji="0" lang="en-US" altLang="zh-CN" sz="2800">
                <a:effectLst>
                  <a:outerShdw blurRad="38100" dist="38100" dir="2700000" algn="tl">
                    <a:srgbClr val="000000"/>
                  </a:outerShdw>
                </a:effectLst>
              </a:rPr>
              <a:t>=π</a:t>
            </a:r>
            <a:r>
              <a:rPr kumimoji="0" lang="en-US" altLang="zh-CN" sz="2800" baseline="-30000">
                <a:effectLst>
                  <a:outerShdw blurRad="38100" dist="38100" dir="2700000" algn="tl">
                    <a:srgbClr val="000000"/>
                  </a:outerShdw>
                </a:effectLst>
              </a:rPr>
              <a:t>CD</a:t>
            </a:r>
            <a:r>
              <a:rPr kumimoji="0" lang="en-US" altLang="zh-CN" sz="2800">
                <a:effectLst>
                  <a:outerShdw blurRad="38100" dist="38100" dir="2700000" algn="tl">
                    <a:srgbClr val="000000"/>
                  </a:outerShdw>
                </a:effectLst>
              </a:rPr>
              <a:t>(F)={C</a:t>
            </a:r>
            <a:r>
              <a:rPr kumimoji="0" lang="en-US" altLang="zh-CN" sz="2600">
                <a:effectLst>
                  <a:outerShdw blurRad="38100" dist="38100" dir="2700000" algn="tl">
                    <a:srgbClr val="000000"/>
                  </a:outerShdw>
                </a:effectLst>
              </a:rPr>
              <a:t>→</a:t>
            </a:r>
            <a:r>
              <a:rPr kumimoji="0" lang="en-US" altLang="zh-CN" sz="2800">
                <a:effectLst>
                  <a:outerShdw blurRad="38100" dist="38100" dir="2700000" algn="tl">
                    <a:srgbClr val="000000"/>
                  </a:outerShdw>
                </a:effectLst>
              </a:rPr>
              <a:t>D,D</a:t>
            </a:r>
            <a:r>
              <a:rPr kumimoji="0" lang="en-US" altLang="zh-CN" sz="2600">
                <a:effectLst>
                  <a:outerShdw blurRad="38100" dist="38100" dir="2700000" algn="tl">
                    <a:srgbClr val="000000"/>
                  </a:outerShdw>
                </a:effectLst>
              </a:rPr>
              <a:t>→</a:t>
            </a:r>
            <a:r>
              <a:rPr kumimoji="0" lang="en-US" altLang="zh-CN" sz="2800">
                <a:effectLst>
                  <a:outerShdw blurRad="38100" dist="38100" dir="2700000" algn="tl">
                    <a:srgbClr val="000000"/>
                  </a:outerShdw>
                </a:effectLst>
              </a:rPr>
              <a:t>C}</a:t>
            </a:r>
            <a:r>
              <a:rPr kumimoji="0" lang="zh-CN" altLang="en-US" sz="2800">
                <a:effectLst>
                  <a:outerShdw blurRad="38100" dist="38100" dir="2700000" algn="tl">
                    <a:srgbClr val="000000"/>
                  </a:outerShdw>
                </a:effectLst>
              </a:rPr>
              <a:t>，</a:t>
            </a:r>
          </a:p>
          <a:p>
            <a:pPr algn="just">
              <a:lnSpc>
                <a:spcPct val="125000"/>
              </a:lnSpc>
              <a:spcAft>
                <a:spcPct val="0"/>
              </a:spcAft>
              <a:buSzTx/>
              <a:buFontTx/>
              <a:buNone/>
              <a:defRPr/>
            </a:pPr>
            <a:r>
              <a:rPr kumimoji="0" lang="en-US" altLang="zh-CN" sz="2800">
                <a:effectLst>
                  <a:outerShdw blurRad="38100" dist="38100" dir="2700000" algn="tl">
                    <a:srgbClr val="000000"/>
                  </a:outerShdw>
                </a:effectLst>
              </a:rPr>
              <a:t>  G = F</a:t>
            </a:r>
            <a:r>
              <a:rPr kumimoji="0" lang="en-US" altLang="zh-CN" sz="2800" baseline="-25000">
                <a:effectLst>
                  <a:outerShdw blurRad="38100" dist="38100" dir="2700000" algn="tl">
                    <a:srgbClr val="000000"/>
                  </a:outerShdw>
                </a:effectLst>
              </a:rPr>
              <a:t>1</a:t>
            </a:r>
            <a:r>
              <a:rPr kumimoji="0" lang="en-US" altLang="zh-CN" sz="2800">
                <a:effectLst>
                  <a:outerShdw blurRad="38100" dist="38100" dir="2700000" algn="tl">
                    <a:srgbClr val="000000"/>
                  </a:outerShdw>
                </a:effectLst>
              </a:rPr>
              <a:t>∪F</a:t>
            </a:r>
            <a:r>
              <a:rPr kumimoji="0" lang="en-US" altLang="zh-CN" sz="2800" baseline="-25000">
                <a:effectLst>
                  <a:outerShdw blurRad="38100" dist="38100" dir="2700000" algn="tl">
                    <a:srgbClr val="000000"/>
                  </a:outerShdw>
                </a:effectLst>
              </a:rPr>
              <a:t>2</a:t>
            </a:r>
            <a:r>
              <a:rPr kumimoji="0" lang="en-US" altLang="zh-CN" sz="2800">
                <a:effectLst>
                  <a:outerShdw blurRad="38100" dist="38100" dir="2700000" algn="tl">
                    <a:srgbClr val="000000"/>
                  </a:outerShdw>
                </a:effectLst>
              </a:rPr>
              <a:t>∪F</a:t>
            </a:r>
            <a:r>
              <a:rPr kumimoji="0" lang="en-US" altLang="zh-CN" sz="2800" baseline="-25000">
                <a:effectLst>
                  <a:outerShdw blurRad="38100" dist="38100" dir="2700000" algn="tl">
                    <a:srgbClr val="000000"/>
                  </a:outerShdw>
                </a:effectLst>
              </a:rPr>
              <a:t>3</a:t>
            </a:r>
          </a:p>
          <a:p>
            <a:pPr algn="just">
              <a:lnSpc>
                <a:spcPct val="125000"/>
              </a:lnSpc>
              <a:spcAft>
                <a:spcPct val="0"/>
              </a:spcAft>
              <a:buSzTx/>
              <a:buFontTx/>
              <a:buNone/>
              <a:defRPr/>
            </a:pPr>
            <a:r>
              <a:rPr kumimoji="0" lang="en-US" altLang="zh-CN" sz="2800">
                <a:effectLst>
                  <a:outerShdw blurRad="38100" dist="38100" dir="2700000" algn="tl">
                    <a:srgbClr val="000000"/>
                  </a:outerShdw>
                </a:effectLst>
              </a:rPr>
              <a:t>    = {A→B,B→A,B→C,C</a:t>
            </a:r>
            <a:r>
              <a:rPr kumimoji="0" lang="en-US" altLang="zh-CN" sz="2600">
                <a:effectLst>
                  <a:outerShdw blurRad="38100" dist="38100" dir="2700000" algn="tl">
                    <a:srgbClr val="000000"/>
                  </a:outerShdw>
                </a:effectLst>
              </a:rPr>
              <a:t>→</a:t>
            </a:r>
            <a:r>
              <a:rPr kumimoji="0" lang="en-US" altLang="zh-CN" sz="2800">
                <a:effectLst>
                  <a:outerShdw blurRad="38100" dist="38100" dir="2700000" algn="tl">
                    <a:srgbClr val="000000"/>
                  </a:outerShdw>
                </a:effectLst>
              </a:rPr>
              <a:t>B,C</a:t>
            </a:r>
            <a:r>
              <a:rPr kumimoji="0" lang="en-US" altLang="zh-CN" sz="2600">
                <a:effectLst>
                  <a:outerShdw blurRad="38100" dist="38100" dir="2700000" algn="tl">
                    <a:srgbClr val="000000"/>
                  </a:outerShdw>
                </a:effectLst>
              </a:rPr>
              <a:t>→</a:t>
            </a:r>
            <a:r>
              <a:rPr kumimoji="0" lang="en-US" altLang="zh-CN" sz="2800">
                <a:effectLst>
                  <a:outerShdw blurRad="38100" dist="38100" dir="2700000" algn="tl">
                    <a:srgbClr val="000000"/>
                  </a:outerShdw>
                </a:effectLst>
              </a:rPr>
              <a:t>D,D</a:t>
            </a:r>
            <a:r>
              <a:rPr kumimoji="0" lang="en-US" altLang="zh-CN" sz="2600">
                <a:effectLst>
                  <a:outerShdw blurRad="38100" dist="38100" dir="2700000" algn="tl">
                    <a:srgbClr val="000000"/>
                  </a:outerShdw>
                </a:effectLst>
              </a:rPr>
              <a:t>→</a:t>
            </a:r>
            <a:r>
              <a:rPr kumimoji="0" lang="en-US" altLang="zh-CN" sz="2800">
                <a:effectLst>
                  <a:outerShdw blurRad="38100" dist="38100" dir="2700000" algn="tl">
                    <a:srgbClr val="000000"/>
                  </a:outerShdw>
                </a:effectLst>
              </a:rPr>
              <a:t>C}</a:t>
            </a:r>
          </a:p>
          <a:p>
            <a:pPr algn="just">
              <a:lnSpc>
                <a:spcPct val="125000"/>
              </a:lnSpc>
              <a:spcAft>
                <a:spcPct val="0"/>
              </a:spcAft>
              <a:buSzTx/>
              <a:buFontTx/>
              <a:buNone/>
              <a:defRPr/>
            </a:pPr>
            <a:r>
              <a:rPr kumimoji="0" lang="en-US" altLang="zh-CN" sz="2800">
                <a:effectLst>
                  <a:outerShdw blurRad="38100" dist="38100" dir="2700000" algn="tl">
                    <a:srgbClr val="000000"/>
                  </a:outerShdw>
                </a:effectLst>
              </a:rPr>
              <a:t>  F = F-G = {D</a:t>
            </a:r>
            <a:r>
              <a:rPr kumimoji="0" lang="en-US" altLang="zh-CN" sz="2600">
                <a:effectLst>
                  <a:outerShdw blurRad="38100" dist="38100" dir="2700000" algn="tl">
                    <a:srgbClr val="000000"/>
                  </a:outerShdw>
                </a:effectLst>
              </a:rPr>
              <a:t>→</a:t>
            </a:r>
            <a:r>
              <a:rPr kumimoji="0" lang="en-US" altLang="zh-CN" sz="2800">
                <a:effectLst>
                  <a:outerShdw blurRad="38100" dist="38100" dir="2700000" algn="tl">
                    <a:srgbClr val="000000"/>
                  </a:outerShdw>
                </a:effectLst>
              </a:rPr>
              <a:t>A}</a:t>
            </a:r>
          </a:p>
          <a:p>
            <a:pPr algn="just">
              <a:lnSpc>
                <a:spcPct val="125000"/>
              </a:lnSpc>
              <a:spcAft>
                <a:spcPct val="0"/>
              </a:spcAft>
              <a:buSzTx/>
              <a:buFontTx/>
              <a:buNone/>
              <a:defRPr/>
            </a:pPr>
            <a:r>
              <a:rPr kumimoji="0" lang="en-US" altLang="zh-CN" sz="2800">
                <a:effectLst>
                  <a:outerShdw blurRad="38100" dist="38100" dir="2700000" algn="tl">
                    <a:srgbClr val="000000"/>
                  </a:outerShdw>
                </a:effectLst>
              </a:rPr>
              <a:t>  Result=True</a:t>
            </a:r>
          </a:p>
        </p:txBody>
      </p:sp>
      <p:sp>
        <p:nvSpPr>
          <p:cNvPr id="7" name="Rectangle 3"/>
          <p:cNvSpPr>
            <a:spLocks noGrp="1" noChangeArrowheads="1"/>
          </p:cNvSpPr>
          <p:nvPr>
            <p:ph type="title"/>
          </p:nvPr>
        </p:nvSpPr>
        <p:spPr>
          <a:xfrm>
            <a:off x="32404" y="-14313"/>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ea typeface="微软雅黑" pitchFamily="34" charset="-122"/>
              </a:rPr>
              <a:t>保持函数依赖测试算法</a:t>
            </a: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7028" name="Text Box 4"/>
          <p:cNvSpPr txBox="1">
            <a:spLocks noChangeArrowheads="1"/>
          </p:cNvSpPr>
          <p:nvPr/>
        </p:nvSpPr>
        <p:spPr bwMode="auto">
          <a:xfrm>
            <a:off x="323850" y="1412875"/>
            <a:ext cx="8382000" cy="647700"/>
          </a:xfrm>
          <a:prstGeom prst="rect">
            <a:avLst/>
          </a:prstGeom>
          <a:noFill/>
          <a:ln w="12700" cap="sq">
            <a:noFill/>
            <a:miter lim="800000"/>
            <a:headEnd type="none" w="sm" len="sm"/>
            <a:tailEnd type="none" w="sm" len="sm"/>
          </a:ln>
          <a:effectLst/>
        </p:spPr>
        <p:txBody>
          <a:bodyPr/>
          <a:lstStyle/>
          <a:p>
            <a:pPr>
              <a:spcAft>
                <a:spcPct val="0"/>
              </a:spcAft>
              <a:buSzTx/>
              <a:buFontTx/>
              <a:buNone/>
              <a:defRPr/>
            </a:pPr>
            <a:r>
              <a:rPr kumimoji="0" lang="zh-CN" altLang="zh-CN" sz="2800">
                <a:solidFill>
                  <a:srgbClr val="99FF33"/>
                </a:solidFill>
                <a:effectLst>
                  <a:outerShdw blurRad="38100" dist="38100" dir="2700000" algn="tl">
                    <a:srgbClr val="000000"/>
                  </a:outerShdw>
                </a:effectLst>
              </a:rPr>
              <a:t>设有关系模式R(ABCD，{A</a:t>
            </a:r>
            <a:r>
              <a:rPr kumimoji="0" lang="zh-CN" altLang="en-US" sz="2800">
                <a:solidFill>
                  <a:srgbClr val="99FF33"/>
                </a:solidFill>
                <a:effectLst>
                  <a:outerShdw blurRad="38100" dist="38100" dir="2700000" algn="tl">
                    <a:srgbClr val="000000"/>
                  </a:outerShdw>
                </a:effectLst>
              </a:rPr>
              <a:t>→</a:t>
            </a:r>
            <a:r>
              <a:rPr kumimoji="0" lang="zh-CN" altLang="zh-CN" sz="2800">
                <a:solidFill>
                  <a:srgbClr val="99FF33"/>
                </a:solidFill>
                <a:effectLst>
                  <a:outerShdw blurRad="38100" dist="38100" dir="2700000" algn="tl">
                    <a:srgbClr val="000000"/>
                  </a:outerShdw>
                </a:effectLst>
              </a:rPr>
              <a:t>B,B</a:t>
            </a:r>
            <a:r>
              <a:rPr kumimoji="0" lang="zh-CN" altLang="en-US" sz="2800">
                <a:solidFill>
                  <a:srgbClr val="99FF33"/>
                </a:solidFill>
                <a:effectLst>
                  <a:outerShdw blurRad="38100" dist="38100" dir="2700000" algn="tl">
                    <a:srgbClr val="000000"/>
                  </a:outerShdw>
                </a:effectLst>
              </a:rPr>
              <a:t>→</a:t>
            </a:r>
            <a:r>
              <a:rPr kumimoji="0" lang="zh-CN" altLang="zh-CN" sz="2800">
                <a:solidFill>
                  <a:srgbClr val="99FF33"/>
                </a:solidFill>
                <a:effectLst>
                  <a:outerShdw blurRad="38100" dist="38100" dir="2700000" algn="tl">
                    <a:srgbClr val="000000"/>
                  </a:outerShdw>
                </a:effectLst>
              </a:rPr>
              <a:t>C,C</a:t>
            </a:r>
            <a:r>
              <a:rPr kumimoji="0" lang="zh-CN" altLang="en-US" sz="2800">
                <a:solidFill>
                  <a:srgbClr val="99FF33"/>
                </a:solidFill>
                <a:effectLst>
                  <a:outerShdw blurRad="38100" dist="38100" dir="2700000" algn="tl">
                    <a:srgbClr val="000000"/>
                  </a:outerShdw>
                </a:effectLst>
              </a:rPr>
              <a:t>→</a:t>
            </a:r>
            <a:r>
              <a:rPr kumimoji="0" lang="zh-CN" altLang="zh-CN" sz="2800">
                <a:solidFill>
                  <a:srgbClr val="99FF33"/>
                </a:solidFill>
                <a:effectLst>
                  <a:outerShdw blurRad="38100" dist="38100" dir="2700000" algn="tl">
                    <a:srgbClr val="000000"/>
                  </a:outerShdw>
                </a:effectLst>
              </a:rPr>
              <a:t>D,D</a:t>
            </a:r>
            <a:r>
              <a:rPr kumimoji="0" lang="zh-CN" altLang="en-US" sz="2800">
                <a:solidFill>
                  <a:srgbClr val="99FF33"/>
                </a:solidFill>
                <a:effectLst>
                  <a:outerShdw blurRad="38100" dist="38100" dir="2700000" algn="tl">
                    <a:srgbClr val="000000"/>
                  </a:outerShdw>
                </a:effectLst>
              </a:rPr>
              <a:t>→</a:t>
            </a:r>
            <a:r>
              <a:rPr kumimoji="0" lang="zh-CN" altLang="zh-CN" sz="2800">
                <a:solidFill>
                  <a:srgbClr val="99FF33"/>
                </a:solidFill>
                <a:effectLst>
                  <a:outerShdw blurRad="38100" dist="38100" dir="2700000" algn="tl">
                    <a:srgbClr val="000000"/>
                  </a:outerShdw>
                </a:effectLst>
              </a:rPr>
              <a:t>A}</a:t>
            </a:r>
            <a:r>
              <a:rPr kumimoji="0" lang="zh-CN" altLang="en-US" sz="2800">
                <a:solidFill>
                  <a:srgbClr val="99FF33"/>
                </a:solidFill>
                <a:effectLst>
                  <a:outerShdw blurRad="38100" dist="38100" dir="2700000" algn="tl">
                    <a:srgbClr val="000000"/>
                  </a:outerShdw>
                </a:effectLst>
              </a:rPr>
              <a:t>)</a:t>
            </a:r>
            <a:r>
              <a:rPr kumimoji="0" lang="zh-CN" altLang="zh-CN" sz="2800">
                <a:solidFill>
                  <a:srgbClr val="99FF33"/>
                </a:solidFill>
                <a:effectLst>
                  <a:outerShdw blurRad="38100" dist="38100" dir="2700000" algn="tl">
                    <a:srgbClr val="000000"/>
                  </a:outerShdw>
                </a:effectLst>
              </a:rPr>
              <a:t>，R的一个分解</a:t>
            </a:r>
            <a:r>
              <a:rPr kumimoji="0" lang="zh-CN" altLang="en-US" sz="2800" i="1">
                <a:solidFill>
                  <a:srgbClr val="99FF33"/>
                </a:solidFill>
                <a:effectLst>
                  <a:outerShdw blurRad="38100" dist="38100" dir="2700000" algn="tl">
                    <a:srgbClr val="000000"/>
                  </a:outerShdw>
                </a:effectLst>
              </a:rPr>
              <a:t>ρ</a:t>
            </a:r>
            <a:r>
              <a:rPr kumimoji="0" lang="zh-CN" altLang="zh-CN" sz="2800">
                <a:solidFill>
                  <a:srgbClr val="99FF33"/>
                </a:solidFill>
                <a:effectLst>
                  <a:outerShdw blurRad="38100" dist="38100" dir="2700000" algn="tl">
                    <a:srgbClr val="000000"/>
                  </a:outerShdw>
                </a:effectLst>
              </a:rPr>
              <a:t>={R</a:t>
            </a:r>
            <a:r>
              <a:rPr kumimoji="0" lang="zh-CN" altLang="en-US" sz="2800" baseline="-25000">
                <a:solidFill>
                  <a:srgbClr val="99FF33"/>
                </a:solidFill>
                <a:effectLst>
                  <a:outerShdw blurRad="38100" dist="38100" dir="2700000" algn="tl">
                    <a:srgbClr val="000000"/>
                  </a:outerShdw>
                </a:effectLst>
              </a:rPr>
              <a:t>1</a:t>
            </a:r>
            <a:r>
              <a:rPr kumimoji="0" lang="zh-CN" altLang="zh-CN" sz="2800">
                <a:solidFill>
                  <a:srgbClr val="99FF33"/>
                </a:solidFill>
                <a:effectLst>
                  <a:outerShdw blurRad="38100" dist="38100" dir="2700000" algn="tl">
                    <a:srgbClr val="000000"/>
                  </a:outerShdw>
                </a:effectLst>
              </a:rPr>
              <a:t>(AB),R</a:t>
            </a:r>
            <a:r>
              <a:rPr kumimoji="0" lang="zh-CN" altLang="zh-CN" sz="2800" baseline="-25000">
                <a:solidFill>
                  <a:srgbClr val="99FF33"/>
                </a:solidFill>
                <a:effectLst>
                  <a:outerShdw blurRad="38100" dist="38100" dir="2700000" algn="tl">
                    <a:srgbClr val="000000"/>
                  </a:outerShdw>
                </a:effectLst>
              </a:rPr>
              <a:t>2</a:t>
            </a:r>
            <a:r>
              <a:rPr kumimoji="0" lang="zh-CN" altLang="zh-CN" sz="2800">
                <a:solidFill>
                  <a:srgbClr val="99FF33"/>
                </a:solidFill>
                <a:effectLst>
                  <a:outerShdw blurRad="38100" dist="38100" dir="2700000" algn="tl">
                    <a:srgbClr val="000000"/>
                  </a:outerShdw>
                </a:effectLst>
              </a:rPr>
              <a:t>(BC),R</a:t>
            </a:r>
            <a:r>
              <a:rPr kumimoji="0" lang="zh-CN" altLang="zh-CN" sz="2800" baseline="-25000">
                <a:solidFill>
                  <a:srgbClr val="99FF33"/>
                </a:solidFill>
                <a:effectLst>
                  <a:outerShdw blurRad="38100" dist="38100" dir="2700000" algn="tl">
                    <a:srgbClr val="000000"/>
                  </a:outerShdw>
                </a:effectLst>
              </a:rPr>
              <a:t>3</a:t>
            </a:r>
            <a:r>
              <a:rPr kumimoji="0" lang="zh-CN" altLang="zh-CN" sz="2800">
                <a:solidFill>
                  <a:srgbClr val="99FF33"/>
                </a:solidFill>
                <a:effectLst>
                  <a:outerShdw blurRad="38100" dist="38100" dir="2700000" algn="tl">
                    <a:srgbClr val="000000"/>
                  </a:outerShdw>
                </a:effectLst>
              </a:rPr>
              <a:t>(CD)}。</a:t>
            </a:r>
            <a:r>
              <a:rPr kumimoji="0" lang="zh-CN" altLang="en-US" sz="2600" i="1">
                <a:solidFill>
                  <a:srgbClr val="99FF33"/>
                </a:solidFill>
                <a:effectLst>
                  <a:outerShdw blurRad="38100" dist="38100" dir="2700000" algn="tl">
                    <a:srgbClr val="000000"/>
                  </a:outerShdw>
                </a:effectLst>
              </a:rPr>
              <a:t>ρ</a:t>
            </a:r>
            <a:r>
              <a:rPr kumimoji="0" lang="zh-CN" altLang="zh-CN" sz="2800">
                <a:solidFill>
                  <a:srgbClr val="99FF33"/>
                </a:solidFill>
                <a:effectLst>
                  <a:outerShdw blurRad="38100" dist="38100" dir="2700000" algn="tl">
                    <a:srgbClr val="000000"/>
                  </a:outerShdw>
                </a:effectLst>
              </a:rPr>
              <a:t>保持F</a:t>
            </a:r>
            <a:r>
              <a:rPr kumimoji="0" lang="zh-CN" altLang="en-US" sz="2800">
                <a:solidFill>
                  <a:srgbClr val="99FF33"/>
                </a:solidFill>
                <a:effectLst>
                  <a:outerShdw blurRad="38100" dist="38100" dir="2700000" algn="tl">
                    <a:srgbClr val="000000"/>
                  </a:outerShdw>
                </a:effectLst>
              </a:rPr>
              <a:t>?</a:t>
            </a:r>
            <a:endParaRPr kumimoji="0" lang="zh-CN" altLang="zh-CN" sz="2800">
              <a:solidFill>
                <a:srgbClr val="99FF33"/>
              </a:solidFill>
              <a:effectLst>
                <a:outerShdw blurRad="38100" dist="38100" dir="2700000" algn="tl">
                  <a:srgbClr val="000000"/>
                </a:outerShdw>
              </a:effectLst>
            </a:endParaRPr>
          </a:p>
        </p:txBody>
      </p:sp>
      <p:sp>
        <p:nvSpPr>
          <p:cNvPr id="1537029" name="Text Box 5"/>
          <p:cNvSpPr txBox="1">
            <a:spLocks noChangeArrowheads="1"/>
          </p:cNvSpPr>
          <p:nvPr/>
        </p:nvSpPr>
        <p:spPr bwMode="auto">
          <a:xfrm>
            <a:off x="323850" y="2492375"/>
            <a:ext cx="8382000" cy="647700"/>
          </a:xfrm>
          <a:prstGeom prst="rect">
            <a:avLst/>
          </a:prstGeom>
          <a:noFill/>
          <a:ln w="12700" cap="sq">
            <a:noFill/>
            <a:miter lim="800000"/>
            <a:headEnd type="none" w="sm" len="sm"/>
            <a:tailEnd type="none" w="sm" len="sm"/>
          </a:ln>
          <a:effectLst/>
        </p:spPr>
        <p:txBody>
          <a:bodyPr/>
          <a:lstStyle/>
          <a:p>
            <a:pPr algn="just">
              <a:lnSpc>
                <a:spcPct val="125000"/>
              </a:lnSpc>
              <a:spcAft>
                <a:spcPct val="0"/>
              </a:spcAft>
              <a:buSzTx/>
              <a:buFontTx/>
              <a:buNone/>
              <a:defRPr/>
            </a:pPr>
            <a:r>
              <a:rPr kumimoji="0" lang="zh-CN" altLang="en-US" sz="2800">
                <a:effectLst>
                  <a:outerShdw blurRad="38100" dist="38100" dir="2700000" algn="tl">
                    <a:srgbClr val="000000"/>
                  </a:outerShdw>
                </a:effectLst>
              </a:rPr>
              <a:t>  上一步求出了</a:t>
            </a:r>
            <a:r>
              <a:rPr kumimoji="0" lang="en-US" altLang="zh-CN" sz="2800">
                <a:effectLst>
                  <a:outerShdw blurRad="38100" dist="38100" dir="2700000" algn="tl">
                    <a:srgbClr val="000000"/>
                  </a:outerShdw>
                </a:effectLst>
              </a:rPr>
              <a:t>Result=true</a:t>
            </a:r>
            <a:r>
              <a:rPr kumimoji="0" lang="zh-CN" altLang="en-US" sz="2800">
                <a:effectLst>
                  <a:outerShdw blurRad="38100" dist="38100" dir="2700000" algn="tl">
                    <a:srgbClr val="000000"/>
                  </a:outerShdw>
                </a:effectLst>
              </a:rPr>
              <a:t>，</a:t>
            </a:r>
            <a:r>
              <a:rPr kumimoji="0" lang="en-US" altLang="zh-CN" sz="2800">
                <a:effectLst>
                  <a:outerShdw blurRad="38100" dist="38100" dir="2700000" algn="tl">
                    <a:srgbClr val="000000"/>
                  </a:outerShdw>
                </a:effectLst>
              </a:rPr>
              <a:t>F={D→A}</a:t>
            </a:r>
            <a:r>
              <a:rPr kumimoji="0" lang="zh-CN" altLang="en-US" sz="2800">
                <a:effectLst>
                  <a:outerShdw blurRad="38100" dist="38100" dir="2700000" algn="tl">
                    <a:srgbClr val="000000"/>
                  </a:outerShdw>
                </a:effectLst>
              </a:rPr>
              <a:t>以及</a:t>
            </a:r>
          </a:p>
          <a:p>
            <a:pPr algn="just">
              <a:lnSpc>
                <a:spcPct val="125000"/>
              </a:lnSpc>
              <a:spcAft>
                <a:spcPct val="0"/>
              </a:spcAft>
              <a:buSzTx/>
              <a:buFontTx/>
              <a:buNone/>
              <a:defRPr/>
            </a:pPr>
            <a:r>
              <a:rPr kumimoji="0" lang="en-US" altLang="zh-CN" sz="2800">
                <a:effectLst>
                  <a:outerShdw blurRad="38100" dist="38100" dir="2700000" algn="tl">
                    <a:srgbClr val="000000"/>
                  </a:outerShdw>
                </a:effectLst>
              </a:rPr>
              <a:t>  G={A→B,B→A,B→C,C→B,C→D,D→C}</a:t>
            </a:r>
          </a:p>
          <a:p>
            <a:pPr algn="just">
              <a:lnSpc>
                <a:spcPct val="125000"/>
              </a:lnSpc>
              <a:spcBef>
                <a:spcPct val="30000"/>
              </a:spcBef>
              <a:spcAft>
                <a:spcPct val="0"/>
              </a:spcAft>
              <a:buSzTx/>
              <a:buFontTx/>
              <a:buNone/>
              <a:defRPr/>
            </a:pPr>
            <a:r>
              <a:rPr kumimoji="0" lang="en-US" altLang="zh-CN" sz="2800">
                <a:effectLst>
                  <a:outerShdw blurRad="38100" dist="38100" dir="2700000" algn="tl">
                    <a:srgbClr val="000000"/>
                  </a:outerShdw>
                </a:effectLst>
              </a:rPr>
              <a:t>2)F=F-{D→A}=φ</a:t>
            </a:r>
            <a:endParaRPr kumimoji="0" lang="zh-CN" altLang="en-US" sz="2800">
              <a:effectLst>
                <a:outerShdw blurRad="38100" dist="38100" dir="2700000" algn="tl">
                  <a:srgbClr val="000000"/>
                </a:outerShdw>
              </a:effectLst>
            </a:endParaRPr>
          </a:p>
          <a:p>
            <a:pPr algn="just">
              <a:lnSpc>
                <a:spcPct val="125000"/>
              </a:lnSpc>
              <a:spcAft>
                <a:spcPct val="0"/>
              </a:spcAft>
              <a:buSzTx/>
              <a:buFontTx/>
              <a:buNone/>
              <a:defRPr/>
            </a:pPr>
            <a:r>
              <a:rPr kumimoji="0" lang="zh-CN" altLang="en-US" sz="2800">
                <a:effectLst>
                  <a:outerShdw blurRad="38100" dist="38100" dir="2700000" algn="tl">
                    <a:srgbClr val="000000"/>
                  </a:outerShdw>
                </a:effectLst>
              </a:rPr>
              <a:t>  由</a:t>
            </a:r>
            <a:r>
              <a:rPr kumimoji="0" lang="en-US" altLang="zh-CN" sz="2800">
                <a:effectLst>
                  <a:outerShdw blurRad="38100" dist="38100" dir="2700000" algn="tl">
                    <a:srgbClr val="000000"/>
                  </a:outerShdw>
                </a:effectLst>
              </a:rPr>
              <a:t>D→A</a:t>
            </a:r>
            <a:r>
              <a:rPr kumimoji="0" lang="zh-CN" altLang="en-US" sz="2800">
                <a:effectLst>
                  <a:outerShdw blurRad="38100" dist="38100" dir="2700000" algn="tl">
                    <a:srgbClr val="000000"/>
                  </a:outerShdw>
                </a:effectLst>
              </a:rPr>
              <a:t>计算   </a:t>
            </a:r>
            <a:r>
              <a:rPr kumimoji="0" lang="en-US" altLang="zh-CN" sz="2800">
                <a:effectLst>
                  <a:outerShdw blurRad="38100" dist="38100" dir="2700000" algn="tl">
                    <a:srgbClr val="000000"/>
                  </a:outerShdw>
                </a:effectLst>
              </a:rPr>
              <a:t>= {D,C,B,A}</a:t>
            </a:r>
            <a:endParaRPr kumimoji="0" lang="zh-CN" altLang="en-US" sz="2800">
              <a:effectLst>
                <a:outerShdw blurRad="38100" dist="38100" dir="2700000" algn="tl">
                  <a:srgbClr val="000000"/>
                </a:outerShdw>
              </a:effectLst>
            </a:endParaRPr>
          </a:p>
          <a:p>
            <a:pPr algn="just">
              <a:lnSpc>
                <a:spcPct val="125000"/>
              </a:lnSpc>
              <a:spcBef>
                <a:spcPct val="45000"/>
              </a:spcBef>
              <a:spcAft>
                <a:spcPct val="0"/>
              </a:spcAft>
              <a:buSzTx/>
              <a:buFontTx/>
              <a:buNone/>
              <a:defRPr/>
            </a:pPr>
            <a:r>
              <a:rPr kumimoji="0" lang="en-US" altLang="zh-CN" sz="2800">
                <a:effectLst>
                  <a:outerShdw blurRad="38100" dist="38100" dir="2700000" algn="tl">
                    <a:srgbClr val="000000"/>
                  </a:outerShdw>
                </a:effectLst>
              </a:rPr>
              <a:t>3)</a:t>
            </a:r>
            <a:r>
              <a:rPr kumimoji="0" lang="zh-CN" altLang="en-US" sz="2800">
                <a:effectLst>
                  <a:outerShdw blurRad="38100" dist="38100" dir="2700000" algn="tl">
                    <a:srgbClr val="000000"/>
                  </a:outerShdw>
                </a:effectLst>
              </a:rPr>
              <a:t>由于</a:t>
            </a:r>
            <a:r>
              <a:rPr kumimoji="0" lang="en-US" altLang="zh-CN" sz="2800">
                <a:effectLst>
                  <a:outerShdw blurRad="38100" dist="38100" dir="2700000" algn="tl">
                    <a:srgbClr val="000000"/>
                  </a:outerShdw>
                </a:effectLst>
              </a:rPr>
              <a:t>{A}     </a:t>
            </a:r>
            <a:r>
              <a:rPr kumimoji="0" lang="zh-CN" altLang="en-US" sz="2800">
                <a:effectLst>
                  <a:outerShdw blurRad="38100" dist="38100" dir="2700000" algn="tl">
                    <a:srgbClr val="000000"/>
                  </a:outerShdw>
                </a:effectLst>
              </a:rPr>
              <a:t>且</a:t>
            </a:r>
            <a:r>
              <a:rPr kumimoji="0" lang="en-US" altLang="zh-CN" sz="2800">
                <a:effectLst>
                  <a:outerShdw blurRad="38100" dist="38100" dir="2700000" algn="tl">
                    <a:srgbClr val="000000"/>
                  </a:outerShdw>
                </a:effectLst>
              </a:rPr>
              <a:t>F=φ</a:t>
            </a:r>
            <a:r>
              <a:rPr kumimoji="0" lang="zh-CN" altLang="en-US" sz="2800">
                <a:effectLst>
                  <a:outerShdw blurRad="38100" dist="38100" dir="2700000" algn="tl">
                    <a:srgbClr val="000000"/>
                  </a:outerShdw>
                </a:effectLst>
              </a:rPr>
              <a:t>，转</a:t>
            </a:r>
            <a:r>
              <a:rPr kumimoji="0" lang="en-US" altLang="zh-CN" sz="2800">
                <a:effectLst>
                  <a:outerShdw blurRad="38100" dist="38100" dir="2700000" algn="tl">
                    <a:srgbClr val="000000"/>
                  </a:outerShdw>
                </a:effectLst>
              </a:rPr>
              <a:t>4)</a:t>
            </a:r>
          </a:p>
          <a:p>
            <a:pPr algn="just">
              <a:lnSpc>
                <a:spcPct val="125000"/>
              </a:lnSpc>
              <a:spcBef>
                <a:spcPct val="45000"/>
              </a:spcBef>
              <a:spcAft>
                <a:spcPct val="0"/>
              </a:spcAft>
              <a:buSzTx/>
              <a:buFontTx/>
              <a:buNone/>
              <a:defRPr/>
            </a:pPr>
            <a:r>
              <a:rPr kumimoji="0" lang="en-US" altLang="zh-CN" sz="2800">
                <a:effectLst>
                  <a:outerShdw blurRad="38100" dist="38100" dir="2700000" algn="tl">
                    <a:srgbClr val="000000"/>
                  </a:outerShdw>
                </a:effectLst>
              </a:rPr>
              <a:t>4)</a:t>
            </a:r>
            <a:r>
              <a:rPr kumimoji="0" lang="zh-CN" altLang="en-US" sz="2800">
                <a:effectLst>
                  <a:outerShdw blurRad="38100" dist="38100" dir="2700000" algn="tl">
                    <a:srgbClr val="000000"/>
                  </a:outerShdw>
                </a:effectLst>
              </a:rPr>
              <a:t>由于</a:t>
            </a:r>
            <a:r>
              <a:rPr kumimoji="0" lang="en-US" altLang="zh-CN" sz="2800">
                <a:effectLst>
                  <a:outerShdw blurRad="38100" dist="38100" dir="2700000" algn="tl">
                    <a:srgbClr val="000000"/>
                  </a:outerShdw>
                </a:effectLst>
              </a:rPr>
              <a:t>Result</a:t>
            </a:r>
            <a:r>
              <a:rPr kumimoji="0" lang="zh-CN" altLang="en-US" sz="2800">
                <a:effectLst>
                  <a:outerShdw blurRad="38100" dist="38100" dir="2700000" algn="tl">
                    <a:srgbClr val="000000"/>
                  </a:outerShdw>
                </a:effectLst>
              </a:rPr>
              <a:t>没有改变，仍为</a:t>
            </a:r>
            <a:r>
              <a:rPr kumimoji="0" lang="en-US" altLang="zh-CN" sz="2800">
                <a:effectLst>
                  <a:outerShdw blurRad="38100" dist="38100" dir="2700000" algn="tl">
                    <a:srgbClr val="000000"/>
                  </a:outerShdw>
                </a:effectLst>
              </a:rPr>
              <a:t>true</a:t>
            </a:r>
            <a:r>
              <a:rPr kumimoji="0" lang="zh-CN" altLang="en-US" sz="2800">
                <a:effectLst>
                  <a:outerShdw blurRad="38100" dist="38100" dir="2700000" algn="tl">
                    <a:srgbClr val="000000"/>
                  </a:outerShdw>
                </a:effectLst>
              </a:rPr>
              <a:t>，故得</a:t>
            </a:r>
            <a:r>
              <a:rPr kumimoji="0" lang="zh-CN" altLang="en-US" sz="2800" i="1">
                <a:effectLst>
                  <a:outerShdw blurRad="38100" dist="38100" dir="2700000" algn="tl">
                    <a:srgbClr val="000000"/>
                  </a:outerShdw>
                </a:effectLst>
              </a:rPr>
              <a:t>ρ</a:t>
            </a:r>
            <a:r>
              <a:rPr kumimoji="0" lang="zh-CN" altLang="zh-CN" sz="2800">
                <a:effectLst>
                  <a:outerShdw blurRad="38100" dist="38100" dir="2700000" algn="tl">
                    <a:srgbClr val="000000"/>
                  </a:outerShdw>
                </a:effectLst>
              </a:rPr>
              <a:t>保持F</a:t>
            </a:r>
            <a:r>
              <a:rPr kumimoji="0" lang="zh-CN" altLang="en-US" sz="2800">
                <a:effectLst>
                  <a:outerShdw blurRad="38100" dist="38100" dir="2700000" algn="tl">
                    <a:srgbClr val="000000"/>
                  </a:outerShdw>
                </a:effectLst>
              </a:rPr>
              <a:t>。</a:t>
            </a:r>
          </a:p>
        </p:txBody>
      </p:sp>
      <p:grpSp>
        <p:nvGrpSpPr>
          <p:cNvPr id="75782" name="Group 6"/>
          <p:cNvGrpSpPr>
            <a:grpSpLocks/>
          </p:cNvGrpSpPr>
          <p:nvPr/>
        </p:nvGrpSpPr>
        <p:grpSpPr bwMode="auto">
          <a:xfrm>
            <a:off x="2640013" y="4397375"/>
            <a:ext cx="360362" cy="427038"/>
            <a:chOff x="4241" y="1997"/>
            <a:chExt cx="227" cy="269"/>
          </a:xfrm>
        </p:grpSpPr>
        <p:sp>
          <p:nvSpPr>
            <p:cNvPr id="1537031" name="Rectangle 7"/>
            <p:cNvSpPr>
              <a:spLocks noChangeArrowheads="1"/>
            </p:cNvSpPr>
            <p:nvPr/>
          </p:nvSpPr>
          <p:spPr bwMode="auto">
            <a:xfrm>
              <a:off x="4241" y="1997"/>
              <a:ext cx="188" cy="269"/>
            </a:xfrm>
            <a:prstGeom prst="rect">
              <a:avLst/>
            </a:prstGeom>
            <a:noFill/>
            <a:ln w="12700" cap="sq" algn="ctr">
              <a:noFill/>
              <a:miter lim="800000"/>
              <a:headEnd/>
              <a:tailEnd/>
            </a:ln>
            <a:effectLst/>
          </p:spPr>
          <p:txBody>
            <a:bodyPr wrap="none" lIns="0" tIns="0" rIns="0" bIns="0">
              <a:spAutoFit/>
            </a:bodyPr>
            <a:lstStyle/>
            <a:p>
              <a:pPr>
                <a:buSzTx/>
                <a:buFontTx/>
                <a:buNone/>
                <a:defRPr/>
              </a:pPr>
              <a:r>
                <a:rPr lang="en-US" altLang="zh-CN" sz="2800">
                  <a:effectLst>
                    <a:outerShdw blurRad="38100" dist="38100" dir="2700000" algn="tl">
                      <a:srgbClr val="000000"/>
                    </a:outerShdw>
                  </a:effectLst>
                </a:rPr>
                <a:t>D</a:t>
              </a:r>
              <a:r>
                <a:rPr lang="en-US" altLang="zh-CN" sz="2800" baseline="-25000">
                  <a:effectLst>
                    <a:outerShdw blurRad="38100" dist="38100" dir="2700000" algn="tl">
                      <a:srgbClr val="000000"/>
                    </a:outerShdw>
                  </a:effectLst>
                </a:rPr>
                <a:t>G</a:t>
              </a:r>
              <a:endParaRPr lang="zh-CN" altLang="en-US" sz="2800" baseline="-25000">
                <a:effectLst>
                  <a:outerShdw blurRad="38100" dist="38100" dir="2700000" algn="tl">
                    <a:srgbClr val="000000"/>
                  </a:outerShdw>
                </a:effectLst>
              </a:endParaRPr>
            </a:p>
          </p:txBody>
        </p:sp>
        <p:sp>
          <p:nvSpPr>
            <p:cNvPr id="1537032" name="Rectangle 8"/>
            <p:cNvSpPr>
              <a:spLocks noChangeArrowheads="1"/>
            </p:cNvSpPr>
            <p:nvPr/>
          </p:nvSpPr>
          <p:spPr bwMode="auto">
            <a:xfrm>
              <a:off x="4364" y="2029"/>
              <a:ext cx="104" cy="182"/>
            </a:xfrm>
            <a:prstGeom prst="rect">
              <a:avLst/>
            </a:prstGeom>
            <a:noFill/>
            <a:ln w="12700" cap="sq" algn="ctr">
              <a:noFill/>
              <a:miter lim="800000"/>
              <a:headEnd/>
              <a:tailEnd/>
            </a:ln>
            <a:effectLst/>
          </p:spPr>
          <p:txBody>
            <a:bodyPr lIns="0" tIns="0" rIns="0" bIns="0">
              <a:spAutoFit/>
            </a:bodyPr>
            <a:lstStyle/>
            <a:p>
              <a:pPr>
                <a:buSzTx/>
                <a:buFontTx/>
                <a:buNone/>
                <a:defRPr/>
              </a:pPr>
              <a:r>
                <a:rPr lang="en-US" altLang="zh-CN" sz="2800" baseline="30000">
                  <a:effectLst>
                    <a:outerShdw blurRad="38100" dist="38100" dir="2700000" algn="tl">
                      <a:srgbClr val="000000"/>
                    </a:outerShdw>
                  </a:effectLst>
                </a:rPr>
                <a:t>+</a:t>
              </a:r>
              <a:endParaRPr lang="zh-CN" altLang="en-US" sz="2800" baseline="30000">
                <a:effectLst>
                  <a:outerShdw blurRad="38100" dist="38100" dir="2700000" algn="tl">
                    <a:srgbClr val="000000"/>
                  </a:outerShdw>
                </a:effectLst>
              </a:endParaRPr>
            </a:p>
          </p:txBody>
        </p:sp>
      </p:grpSp>
      <p:grpSp>
        <p:nvGrpSpPr>
          <p:cNvPr id="75783" name="Group 9"/>
          <p:cNvGrpSpPr>
            <a:grpSpLocks/>
          </p:cNvGrpSpPr>
          <p:nvPr/>
        </p:nvGrpSpPr>
        <p:grpSpPr bwMode="auto">
          <a:xfrm>
            <a:off x="2005013" y="4930775"/>
            <a:ext cx="741362" cy="569913"/>
            <a:chOff x="617" y="2416"/>
            <a:chExt cx="467" cy="359"/>
          </a:xfrm>
        </p:grpSpPr>
        <p:grpSp>
          <p:nvGrpSpPr>
            <p:cNvPr id="75784" name="Group 10"/>
            <p:cNvGrpSpPr>
              <a:grpSpLocks/>
            </p:cNvGrpSpPr>
            <p:nvPr/>
          </p:nvGrpSpPr>
          <p:grpSpPr bwMode="auto">
            <a:xfrm>
              <a:off x="857" y="2494"/>
              <a:ext cx="227" cy="269"/>
              <a:chOff x="4241" y="1997"/>
              <a:chExt cx="227" cy="269"/>
            </a:xfrm>
          </p:grpSpPr>
          <p:sp>
            <p:nvSpPr>
              <p:cNvPr id="1537035" name="Rectangle 11"/>
              <p:cNvSpPr>
                <a:spLocks noChangeArrowheads="1"/>
              </p:cNvSpPr>
              <p:nvPr/>
            </p:nvSpPr>
            <p:spPr bwMode="auto">
              <a:xfrm>
                <a:off x="4241" y="1997"/>
                <a:ext cx="188" cy="269"/>
              </a:xfrm>
              <a:prstGeom prst="rect">
                <a:avLst/>
              </a:prstGeom>
              <a:noFill/>
              <a:ln w="12700" cap="sq" algn="ctr">
                <a:noFill/>
                <a:miter lim="800000"/>
                <a:headEnd/>
                <a:tailEnd/>
              </a:ln>
              <a:effectLst/>
            </p:spPr>
            <p:txBody>
              <a:bodyPr wrap="none" lIns="0" tIns="0" rIns="0" bIns="0">
                <a:spAutoFit/>
              </a:bodyPr>
              <a:lstStyle/>
              <a:p>
                <a:pPr>
                  <a:buSzTx/>
                  <a:buFontTx/>
                  <a:buNone/>
                  <a:defRPr/>
                </a:pPr>
                <a:r>
                  <a:rPr lang="en-US" altLang="zh-CN" sz="2800">
                    <a:effectLst>
                      <a:outerShdw blurRad="38100" dist="38100" dir="2700000" algn="tl">
                        <a:srgbClr val="000000"/>
                      </a:outerShdw>
                    </a:effectLst>
                  </a:rPr>
                  <a:t>D</a:t>
                </a:r>
                <a:r>
                  <a:rPr lang="en-US" altLang="zh-CN" sz="2800" baseline="-25000">
                    <a:effectLst>
                      <a:outerShdw blurRad="38100" dist="38100" dir="2700000" algn="tl">
                        <a:srgbClr val="000000"/>
                      </a:outerShdw>
                    </a:effectLst>
                  </a:rPr>
                  <a:t>G</a:t>
                </a:r>
                <a:endParaRPr lang="zh-CN" altLang="en-US" sz="2800" baseline="-25000">
                  <a:effectLst>
                    <a:outerShdw blurRad="38100" dist="38100" dir="2700000" algn="tl">
                      <a:srgbClr val="000000"/>
                    </a:outerShdw>
                  </a:effectLst>
                </a:endParaRPr>
              </a:p>
            </p:txBody>
          </p:sp>
          <p:sp>
            <p:nvSpPr>
              <p:cNvPr id="1537036" name="Rectangle 12"/>
              <p:cNvSpPr>
                <a:spLocks noChangeArrowheads="1"/>
              </p:cNvSpPr>
              <p:nvPr/>
            </p:nvSpPr>
            <p:spPr bwMode="auto">
              <a:xfrm>
                <a:off x="4364" y="2029"/>
                <a:ext cx="104" cy="182"/>
              </a:xfrm>
              <a:prstGeom prst="rect">
                <a:avLst/>
              </a:prstGeom>
              <a:noFill/>
              <a:ln w="12700" cap="sq" algn="ctr">
                <a:noFill/>
                <a:miter lim="800000"/>
                <a:headEnd/>
                <a:tailEnd/>
              </a:ln>
              <a:effectLst/>
            </p:spPr>
            <p:txBody>
              <a:bodyPr lIns="0" tIns="0" rIns="0" bIns="0">
                <a:spAutoFit/>
              </a:bodyPr>
              <a:lstStyle/>
              <a:p>
                <a:pPr>
                  <a:buSzTx/>
                  <a:buFontTx/>
                  <a:buNone/>
                  <a:defRPr/>
                </a:pPr>
                <a:r>
                  <a:rPr lang="en-US" altLang="zh-CN" sz="2800" b="1" baseline="30000">
                    <a:effectLst>
                      <a:outerShdw blurRad="38100" dist="38100" dir="2700000" algn="tl">
                        <a:srgbClr val="000000"/>
                      </a:outerShdw>
                    </a:effectLst>
                  </a:rPr>
                  <a:t>+</a:t>
                </a:r>
                <a:endParaRPr lang="zh-CN" altLang="en-US" sz="2800" b="1" baseline="30000">
                  <a:effectLst>
                    <a:outerShdw blurRad="38100" dist="38100" dir="2700000" algn="tl">
                      <a:srgbClr val="000000"/>
                    </a:outerShdw>
                  </a:effectLst>
                </a:endParaRPr>
              </a:p>
            </p:txBody>
          </p:sp>
        </p:grpSp>
        <p:sp>
          <p:nvSpPr>
            <p:cNvPr id="1537037" name="Rectangle 13"/>
            <p:cNvSpPr>
              <a:spLocks noChangeArrowheads="1"/>
            </p:cNvSpPr>
            <p:nvPr/>
          </p:nvSpPr>
          <p:spPr bwMode="auto">
            <a:xfrm>
              <a:off x="617" y="2416"/>
              <a:ext cx="250" cy="359"/>
            </a:xfrm>
            <a:prstGeom prst="rect">
              <a:avLst/>
            </a:prstGeom>
            <a:noFill/>
            <a:ln w="12700" cap="sq">
              <a:noFill/>
              <a:miter lim="800000"/>
              <a:headEnd/>
              <a:tailEnd/>
            </a:ln>
            <a:effectLst/>
          </p:spPr>
          <p:txBody>
            <a:bodyPr lIns="72000" tIns="72000" rIns="72000" bIns="72000">
              <a:spAutoFit/>
            </a:bodyPr>
            <a:lstStyle/>
            <a:p>
              <a:pPr>
                <a:spcAft>
                  <a:spcPct val="0"/>
                </a:spcAft>
                <a:buSzTx/>
                <a:buFontTx/>
                <a:buNone/>
                <a:defRPr/>
              </a:pPr>
              <a:r>
                <a:rPr lang="en-US" altLang="zh-CN" sz="2800">
                  <a:effectLst>
                    <a:outerShdw blurRad="38100" dist="38100" dir="2700000" algn="tl">
                      <a:srgbClr val="000000"/>
                    </a:outerShdw>
                  </a:effectLst>
                  <a:sym typeface="Symbol" pitchFamily="18" charset="2"/>
                </a:rPr>
                <a:t></a:t>
              </a:r>
              <a:endParaRPr lang="zh-CN" altLang="en-US" sz="2800">
                <a:effectLst>
                  <a:outerShdw blurRad="38100" dist="38100" dir="2700000" algn="tl">
                    <a:srgbClr val="000000"/>
                  </a:outerShdw>
                </a:effectLst>
                <a:sym typeface="Symbol" pitchFamily="18" charset="2"/>
              </a:endParaRPr>
            </a:p>
          </p:txBody>
        </p:sp>
      </p:grpSp>
      <p:sp>
        <p:nvSpPr>
          <p:cNvPr id="16" name="Rectangle 3"/>
          <p:cNvSpPr>
            <a:spLocks noGrp="1" noChangeArrowheads="1"/>
          </p:cNvSpPr>
          <p:nvPr>
            <p:ph type="title"/>
          </p:nvPr>
        </p:nvSpPr>
        <p:spPr>
          <a:xfrm>
            <a:off x="32404" y="-14313"/>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ea typeface="微软雅黑" pitchFamily="34" charset="-122"/>
              </a:rPr>
              <a:t>保持函数依赖测试算法</a:t>
            </a: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8052" name="Text Box 4"/>
          <p:cNvSpPr txBox="1">
            <a:spLocks noChangeArrowheads="1"/>
          </p:cNvSpPr>
          <p:nvPr/>
        </p:nvSpPr>
        <p:spPr bwMode="auto">
          <a:xfrm>
            <a:off x="323850" y="1412875"/>
            <a:ext cx="8382000" cy="647700"/>
          </a:xfrm>
          <a:prstGeom prst="rect">
            <a:avLst/>
          </a:prstGeom>
          <a:noFill/>
          <a:ln w="12700" cap="sq">
            <a:noFill/>
            <a:miter lim="800000"/>
            <a:headEnd type="none" w="sm" len="sm"/>
            <a:tailEnd type="none" w="sm" len="sm"/>
          </a:ln>
          <a:effectLst/>
        </p:spPr>
        <p:txBody>
          <a:bodyPr/>
          <a:lstStyle/>
          <a:p>
            <a:pPr>
              <a:spcAft>
                <a:spcPct val="0"/>
              </a:spcAft>
              <a:buSzTx/>
              <a:buFontTx/>
              <a:buNone/>
              <a:defRPr/>
            </a:pPr>
            <a:r>
              <a:rPr kumimoji="0" lang="zh-CN" altLang="zh-CN" sz="2800">
                <a:solidFill>
                  <a:srgbClr val="99FF33"/>
                </a:solidFill>
                <a:effectLst>
                  <a:outerShdw blurRad="38100" dist="38100" dir="2700000" algn="tl">
                    <a:srgbClr val="000000"/>
                  </a:outerShdw>
                </a:effectLst>
              </a:rPr>
              <a:t>设有关系模式R(ABCD</a:t>
            </a:r>
            <a:r>
              <a:rPr kumimoji="0" lang="zh-CN" altLang="en-US" sz="2800">
                <a:solidFill>
                  <a:srgbClr val="99FF33"/>
                </a:solidFill>
                <a:effectLst>
                  <a:outerShdw blurRad="38100" dist="38100" dir="2700000" algn="tl">
                    <a:srgbClr val="000000"/>
                  </a:outerShdw>
                </a:effectLst>
              </a:rPr>
              <a:t>E</a:t>
            </a:r>
            <a:r>
              <a:rPr kumimoji="0" lang="zh-CN" altLang="zh-CN" sz="2800">
                <a:solidFill>
                  <a:srgbClr val="99FF33"/>
                </a:solidFill>
                <a:effectLst>
                  <a:outerShdw blurRad="38100" dist="38100" dir="2700000" algn="tl">
                    <a:srgbClr val="000000"/>
                  </a:outerShdw>
                </a:effectLst>
              </a:rPr>
              <a:t>，{A</a:t>
            </a:r>
            <a:r>
              <a:rPr kumimoji="0" lang="zh-CN" altLang="en-US" sz="2800">
                <a:solidFill>
                  <a:srgbClr val="99FF33"/>
                </a:solidFill>
                <a:effectLst>
                  <a:outerShdw blurRad="38100" dist="38100" dir="2700000" algn="tl">
                    <a:srgbClr val="000000"/>
                  </a:outerShdw>
                </a:effectLst>
              </a:rPr>
              <a:t>→</a:t>
            </a:r>
            <a:r>
              <a:rPr kumimoji="0" lang="zh-CN" altLang="zh-CN" sz="2800">
                <a:solidFill>
                  <a:srgbClr val="99FF33"/>
                </a:solidFill>
                <a:effectLst>
                  <a:outerShdw blurRad="38100" dist="38100" dir="2700000" algn="tl">
                    <a:srgbClr val="000000"/>
                  </a:outerShdw>
                </a:effectLst>
              </a:rPr>
              <a:t>B,B</a:t>
            </a:r>
            <a:r>
              <a:rPr kumimoji="0" lang="zh-CN" altLang="en-US" sz="2800">
                <a:solidFill>
                  <a:srgbClr val="99FF33"/>
                </a:solidFill>
                <a:effectLst>
                  <a:outerShdw blurRad="38100" dist="38100" dir="2700000" algn="tl">
                    <a:srgbClr val="000000"/>
                  </a:outerShdw>
                </a:effectLst>
              </a:rPr>
              <a:t>→</a:t>
            </a:r>
            <a:r>
              <a:rPr kumimoji="0" lang="zh-CN" altLang="zh-CN" sz="2800">
                <a:solidFill>
                  <a:srgbClr val="99FF33"/>
                </a:solidFill>
                <a:effectLst>
                  <a:outerShdw blurRad="38100" dist="38100" dir="2700000" algn="tl">
                    <a:srgbClr val="000000"/>
                  </a:outerShdw>
                </a:effectLst>
              </a:rPr>
              <a:t>C</a:t>
            </a:r>
            <a:r>
              <a:rPr kumimoji="0" lang="zh-CN" altLang="en-US" sz="2800">
                <a:solidFill>
                  <a:srgbClr val="99FF33"/>
                </a:solidFill>
                <a:effectLst>
                  <a:outerShdw blurRad="38100" dist="38100" dir="2700000" algn="tl">
                    <a:srgbClr val="000000"/>
                  </a:outerShdw>
                </a:effectLst>
              </a:rPr>
              <a:t>D</a:t>
            </a:r>
            <a:r>
              <a:rPr kumimoji="0" lang="zh-CN" altLang="zh-CN" sz="2800">
                <a:solidFill>
                  <a:srgbClr val="99FF33"/>
                </a:solidFill>
                <a:effectLst>
                  <a:outerShdw blurRad="38100" dist="38100" dir="2700000" algn="tl">
                    <a:srgbClr val="000000"/>
                  </a:outerShdw>
                </a:effectLst>
              </a:rPr>
              <a:t>,D</a:t>
            </a:r>
            <a:r>
              <a:rPr kumimoji="0" lang="en-US" altLang="zh-CN" sz="2800">
                <a:solidFill>
                  <a:srgbClr val="99FF33"/>
                </a:solidFill>
                <a:effectLst>
                  <a:outerShdw blurRad="38100" dist="38100" dir="2700000" algn="tl">
                    <a:srgbClr val="000000"/>
                  </a:outerShdw>
                </a:effectLst>
              </a:rPr>
              <a:t>→</a:t>
            </a:r>
            <a:r>
              <a:rPr kumimoji="0" lang="zh-CN" altLang="en-US" sz="2800">
                <a:solidFill>
                  <a:srgbClr val="99FF33"/>
                </a:solidFill>
                <a:effectLst>
                  <a:outerShdw blurRad="38100" dist="38100" dir="2700000" algn="tl">
                    <a:srgbClr val="000000"/>
                  </a:outerShdw>
                </a:effectLst>
              </a:rPr>
              <a:t>E</a:t>
            </a:r>
            <a:r>
              <a:rPr kumimoji="0" lang="zh-CN" altLang="zh-CN" sz="2800">
                <a:solidFill>
                  <a:srgbClr val="99FF33"/>
                </a:solidFill>
                <a:effectLst>
                  <a:outerShdw blurRad="38100" dist="38100" dir="2700000" algn="tl">
                    <a:srgbClr val="000000"/>
                  </a:outerShdw>
                </a:effectLst>
              </a:rPr>
              <a:t>}</a:t>
            </a:r>
            <a:r>
              <a:rPr kumimoji="0" lang="zh-CN" altLang="en-US" sz="2800">
                <a:solidFill>
                  <a:srgbClr val="99FF33"/>
                </a:solidFill>
                <a:effectLst>
                  <a:outerShdw blurRad="38100" dist="38100" dir="2700000" algn="tl">
                    <a:srgbClr val="000000"/>
                  </a:outerShdw>
                </a:effectLst>
              </a:rPr>
              <a:t>)</a:t>
            </a:r>
            <a:r>
              <a:rPr kumimoji="0" lang="zh-CN" altLang="zh-CN" sz="2800">
                <a:solidFill>
                  <a:srgbClr val="99FF33"/>
                </a:solidFill>
                <a:effectLst>
                  <a:outerShdw blurRad="38100" dist="38100" dir="2700000" algn="tl">
                    <a:srgbClr val="000000"/>
                  </a:outerShdw>
                </a:effectLst>
              </a:rPr>
              <a:t>，R的一个分解</a:t>
            </a:r>
            <a:r>
              <a:rPr kumimoji="0" lang="zh-CN" altLang="en-US" sz="2800" i="1">
                <a:solidFill>
                  <a:srgbClr val="99FF33"/>
                </a:solidFill>
                <a:effectLst>
                  <a:outerShdw blurRad="38100" dist="38100" dir="2700000" algn="tl">
                    <a:srgbClr val="000000"/>
                  </a:outerShdw>
                </a:effectLst>
              </a:rPr>
              <a:t>ρ</a:t>
            </a:r>
            <a:r>
              <a:rPr kumimoji="0" lang="zh-CN" altLang="zh-CN" sz="2800">
                <a:solidFill>
                  <a:srgbClr val="99FF33"/>
                </a:solidFill>
                <a:effectLst>
                  <a:outerShdw blurRad="38100" dist="38100" dir="2700000" algn="tl">
                    <a:srgbClr val="000000"/>
                  </a:outerShdw>
                </a:effectLst>
              </a:rPr>
              <a:t>={R</a:t>
            </a:r>
            <a:r>
              <a:rPr kumimoji="0" lang="zh-CN" altLang="en-US" sz="2800" baseline="-25000">
                <a:solidFill>
                  <a:srgbClr val="99FF33"/>
                </a:solidFill>
                <a:effectLst>
                  <a:outerShdw blurRad="38100" dist="38100" dir="2700000" algn="tl">
                    <a:srgbClr val="000000"/>
                  </a:outerShdw>
                </a:effectLst>
              </a:rPr>
              <a:t>1</a:t>
            </a:r>
            <a:r>
              <a:rPr kumimoji="0" lang="zh-CN" altLang="zh-CN" sz="2800">
                <a:solidFill>
                  <a:srgbClr val="99FF33"/>
                </a:solidFill>
                <a:effectLst>
                  <a:outerShdw blurRad="38100" dist="38100" dir="2700000" algn="tl">
                    <a:srgbClr val="000000"/>
                  </a:outerShdw>
                </a:effectLst>
              </a:rPr>
              <a:t>(AB</a:t>
            </a:r>
            <a:r>
              <a:rPr kumimoji="0" lang="zh-CN" altLang="en-US" sz="2800">
                <a:solidFill>
                  <a:srgbClr val="99FF33"/>
                </a:solidFill>
                <a:effectLst>
                  <a:outerShdw blurRad="38100" dist="38100" dir="2700000" algn="tl">
                    <a:srgbClr val="000000"/>
                  </a:outerShdw>
                </a:effectLst>
              </a:rPr>
              <a:t>E</a:t>
            </a:r>
            <a:r>
              <a:rPr kumimoji="0" lang="zh-CN" altLang="zh-CN" sz="2800">
                <a:solidFill>
                  <a:srgbClr val="99FF33"/>
                </a:solidFill>
                <a:effectLst>
                  <a:outerShdw blurRad="38100" dist="38100" dir="2700000" algn="tl">
                    <a:srgbClr val="000000"/>
                  </a:outerShdw>
                </a:effectLst>
              </a:rPr>
              <a:t>),R</a:t>
            </a:r>
            <a:r>
              <a:rPr kumimoji="0" lang="zh-CN" altLang="zh-CN" sz="2800" baseline="-25000">
                <a:solidFill>
                  <a:srgbClr val="99FF33"/>
                </a:solidFill>
                <a:effectLst>
                  <a:outerShdw blurRad="38100" dist="38100" dir="2700000" algn="tl">
                    <a:srgbClr val="000000"/>
                  </a:outerShdw>
                </a:effectLst>
              </a:rPr>
              <a:t>2</a:t>
            </a:r>
            <a:r>
              <a:rPr kumimoji="0" lang="zh-CN" altLang="zh-CN" sz="2800">
                <a:solidFill>
                  <a:srgbClr val="99FF33"/>
                </a:solidFill>
                <a:effectLst>
                  <a:outerShdw blurRad="38100" dist="38100" dir="2700000" algn="tl">
                    <a:srgbClr val="000000"/>
                  </a:outerShdw>
                </a:effectLst>
              </a:rPr>
              <a:t>(</a:t>
            </a:r>
            <a:r>
              <a:rPr kumimoji="0" lang="en-US" altLang="zh-CN" sz="2800">
                <a:solidFill>
                  <a:srgbClr val="99FF33"/>
                </a:solidFill>
                <a:effectLst>
                  <a:outerShdw blurRad="38100" dist="38100" dir="2700000" algn="tl">
                    <a:srgbClr val="000000"/>
                  </a:outerShdw>
                </a:effectLst>
              </a:rPr>
              <a:t>CD</a:t>
            </a:r>
            <a:r>
              <a:rPr kumimoji="0" lang="zh-CN" altLang="zh-CN" sz="2800">
                <a:solidFill>
                  <a:srgbClr val="99FF33"/>
                </a:solidFill>
                <a:effectLst>
                  <a:outerShdw blurRad="38100" dist="38100" dir="2700000" algn="tl">
                    <a:srgbClr val="000000"/>
                  </a:outerShdw>
                </a:effectLst>
              </a:rPr>
              <a:t>)}。</a:t>
            </a:r>
            <a:r>
              <a:rPr kumimoji="0" lang="zh-CN" altLang="en-US" sz="2600" i="1">
                <a:solidFill>
                  <a:srgbClr val="99FF33"/>
                </a:solidFill>
                <a:effectLst>
                  <a:outerShdw blurRad="38100" dist="38100" dir="2700000" algn="tl">
                    <a:srgbClr val="000000"/>
                  </a:outerShdw>
                </a:effectLst>
              </a:rPr>
              <a:t>ρ</a:t>
            </a:r>
            <a:r>
              <a:rPr kumimoji="0" lang="zh-CN" altLang="zh-CN" sz="2800">
                <a:solidFill>
                  <a:srgbClr val="99FF33"/>
                </a:solidFill>
                <a:effectLst>
                  <a:outerShdw blurRad="38100" dist="38100" dir="2700000" algn="tl">
                    <a:srgbClr val="000000"/>
                  </a:outerShdw>
                </a:effectLst>
              </a:rPr>
              <a:t>保持F</a:t>
            </a:r>
            <a:r>
              <a:rPr kumimoji="0" lang="zh-CN" altLang="en-US" sz="2800">
                <a:solidFill>
                  <a:srgbClr val="99FF33"/>
                </a:solidFill>
                <a:effectLst>
                  <a:outerShdw blurRad="38100" dist="38100" dir="2700000" algn="tl">
                    <a:srgbClr val="000000"/>
                  </a:outerShdw>
                </a:effectLst>
              </a:rPr>
              <a:t>?</a:t>
            </a:r>
            <a:endParaRPr kumimoji="0" lang="zh-CN" altLang="zh-CN" sz="2800">
              <a:solidFill>
                <a:srgbClr val="99FF33"/>
              </a:solidFill>
              <a:effectLst>
                <a:outerShdw blurRad="38100" dist="38100" dir="2700000" algn="tl">
                  <a:srgbClr val="000000"/>
                </a:outerShdw>
              </a:effectLst>
            </a:endParaRPr>
          </a:p>
        </p:txBody>
      </p:sp>
      <p:sp>
        <p:nvSpPr>
          <p:cNvPr id="1538053" name="Text Box 5"/>
          <p:cNvSpPr txBox="1">
            <a:spLocks noChangeArrowheads="1"/>
          </p:cNvSpPr>
          <p:nvPr/>
        </p:nvSpPr>
        <p:spPr bwMode="auto">
          <a:xfrm>
            <a:off x="323850" y="2492375"/>
            <a:ext cx="8569325" cy="647700"/>
          </a:xfrm>
          <a:prstGeom prst="rect">
            <a:avLst/>
          </a:prstGeom>
          <a:noFill/>
          <a:ln w="12700" cap="sq">
            <a:noFill/>
            <a:miter lim="800000"/>
            <a:headEnd type="none" w="sm" len="sm"/>
            <a:tailEnd type="none" w="sm" len="sm"/>
          </a:ln>
          <a:effectLst/>
        </p:spPr>
        <p:txBody>
          <a:bodyPr/>
          <a:lstStyle/>
          <a:p>
            <a:pPr algn="just">
              <a:spcAft>
                <a:spcPct val="0"/>
              </a:spcAft>
              <a:buSzTx/>
              <a:buFontTx/>
              <a:buNone/>
              <a:defRPr/>
            </a:pPr>
            <a:r>
              <a:rPr kumimoji="0" lang="en-US" altLang="zh-CN" sz="2800" dirty="0">
                <a:effectLst>
                  <a:outerShdw blurRad="38100" dist="38100" dir="2700000" algn="tl">
                    <a:srgbClr val="000000"/>
                  </a:outerShdw>
                </a:effectLst>
              </a:rPr>
              <a:t>1)F</a:t>
            </a:r>
            <a:r>
              <a:rPr kumimoji="0" lang="en-US" altLang="zh-CN" sz="2800" baseline="-30000" dirty="0">
                <a:effectLst>
                  <a:outerShdw blurRad="38100" dist="38100" dir="2700000" algn="tl">
                    <a:srgbClr val="000000"/>
                  </a:outerShdw>
                </a:effectLst>
              </a:rPr>
              <a:t>1</a:t>
            </a:r>
            <a:r>
              <a:rPr kumimoji="0" lang="en-US" altLang="zh-CN" sz="2800" dirty="0">
                <a:effectLst>
                  <a:outerShdw blurRad="38100" dist="38100" dir="2700000" algn="tl">
                    <a:srgbClr val="000000"/>
                  </a:outerShdw>
                </a:effectLst>
              </a:rPr>
              <a:t>=π</a:t>
            </a:r>
            <a:r>
              <a:rPr kumimoji="0" lang="en-US" altLang="zh-CN" sz="2800" baseline="-30000" dirty="0">
                <a:effectLst>
                  <a:outerShdw blurRad="38100" dist="38100" dir="2700000" algn="tl">
                    <a:srgbClr val="000000"/>
                  </a:outerShdw>
                </a:effectLst>
              </a:rPr>
              <a:t>ABE</a:t>
            </a:r>
            <a:r>
              <a:rPr kumimoji="0" lang="en-US" altLang="zh-CN" sz="2800" dirty="0">
                <a:effectLst>
                  <a:outerShdw blurRad="38100" dist="38100" dir="2700000" algn="tl">
                    <a:srgbClr val="000000"/>
                  </a:outerShdw>
                </a:effectLst>
              </a:rPr>
              <a:t>(F)={A→B,A→E,B→E}</a:t>
            </a:r>
            <a:r>
              <a:rPr kumimoji="0" lang="zh-CN" altLang="en-US" sz="2800" dirty="0">
                <a:effectLst>
                  <a:outerShdw blurRad="38100" dist="38100" dir="2700000" algn="tl">
                    <a:srgbClr val="000000"/>
                  </a:outerShdw>
                </a:effectLst>
              </a:rPr>
              <a:t>， </a:t>
            </a:r>
            <a:r>
              <a:rPr kumimoji="0" lang="en-US" altLang="zh-CN" sz="2800" dirty="0">
                <a:effectLst>
                  <a:outerShdw blurRad="38100" dist="38100" dir="2700000" algn="tl">
                    <a:srgbClr val="000000"/>
                  </a:outerShdw>
                </a:effectLst>
              </a:rPr>
              <a:t>F</a:t>
            </a:r>
            <a:r>
              <a:rPr kumimoji="0" lang="en-US" altLang="zh-CN" sz="2800" baseline="-30000" dirty="0">
                <a:effectLst>
                  <a:outerShdw blurRad="38100" dist="38100" dir="2700000" algn="tl">
                    <a:srgbClr val="000000"/>
                  </a:outerShdw>
                </a:effectLst>
              </a:rPr>
              <a:t>2</a:t>
            </a:r>
            <a:r>
              <a:rPr kumimoji="0" lang="en-US" altLang="zh-CN" sz="2800" dirty="0">
                <a:effectLst>
                  <a:outerShdw blurRad="38100" dist="38100" dir="2700000" algn="tl">
                    <a:srgbClr val="000000"/>
                  </a:outerShdw>
                </a:effectLst>
              </a:rPr>
              <a:t>=π</a:t>
            </a:r>
            <a:r>
              <a:rPr kumimoji="0" lang="en-US" altLang="zh-CN" sz="2800" baseline="-30000" dirty="0">
                <a:effectLst>
                  <a:outerShdw blurRad="38100" dist="38100" dir="2700000" algn="tl">
                    <a:srgbClr val="000000"/>
                  </a:outerShdw>
                </a:effectLst>
              </a:rPr>
              <a:t>CD</a:t>
            </a:r>
            <a:r>
              <a:rPr kumimoji="0" lang="en-US" altLang="zh-CN" sz="2800" dirty="0">
                <a:effectLst>
                  <a:outerShdw blurRad="38100" dist="38100" dir="2700000" algn="tl">
                    <a:srgbClr val="000000"/>
                  </a:outerShdw>
                </a:effectLst>
              </a:rPr>
              <a:t>(F)=φ</a:t>
            </a:r>
          </a:p>
          <a:p>
            <a:pPr algn="just">
              <a:spcAft>
                <a:spcPct val="0"/>
              </a:spcAft>
              <a:buSzTx/>
              <a:buFontTx/>
              <a:buNone/>
              <a:defRPr/>
            </a:pPr>
            <a:r>
              <a:rPr kumimoji="0" lang="en-US" altLang="zh-CN" sz="2800" dirty="0">
                <a:effectLst>
                  <a:outerShdw blurRad="38100" dist="38100" dir="2700000" algn="tl">
                    <a:srgbClr val="000000"/>
                  </a:outerShdw>
                </a:effectLst>
              </a:rPr>
              <a:t>  G = F</a:t>
            </a:r>
            <a:r>
              <a:rPr kumimoji="0" lang="en-US" altLang="zh-CN" sz="2800" baseline="-25000" dirty="0">
                <a:effectLst>
                  <a:outerShdw blurRad="38100" dist="38100" dir="2700000" algn="tl">
                    <a:srgbClr val="000000"/>
                  </a:outerShdw>
                </a:effectLst>
              </a:rPr>
              <a:t>1</a:t>
            </a:r>
            <a:r>
              <a:rPr kumimoji="0" lang="en-US" altLang="zh-CN" sz="2800" dirty="0">
                <a:effectLst>
                  <a:outerShdw blurRad="38100" dist="38100" dir="2700000" algn="tl">
                    <a:srgbClr val="000000"/>
                  </a:outerShdw>
                </a:effectLst>
              </a:rPr>
              <a:t>∪F</a:t>
            </a:r>
            <a:r>
              <a:rPr kumimoji="0" lang="en-US" altLang="zh-CN" sz="2800" baseline="-25000" dirty="0">
                <a:effectLst>
                  <a:outerShdw blurRad="38100" dist="38100" dir="2700000" algn="tl">
                    <a:srgbClr val="000000"/>
                  </a:outerShdw>
                </a:effectLst>
              </a:rPr>
              <a:t>2 </a:t>
            </a:r>
            <a:r>
              <a:rPr kumimoji="0" lang="en-US" altLang="zh-CN" sz="2800" dirty="0">
                <a:effectLst>
                  <a:outerShdw blurRad="38100" dist="38100" dir="2700000" algn="tl">
                    <a:srgbClr val="000000"/>
                  </a:outerShdw>
                </a:effectLst>
              </a:rPr>
              <a:t>= {A→B,A→E,B→E}</a:t>
            </a:r>
          </a:p>
          <a:p>
            <a:pPr algn="just">
              <a:spcAft>
                <a:spcPct val="0"/>
              </a:spcAft>
              <a:buSzTx/>
              <a:buFontTx/>
              <a:buNone/>
              <a:defRPr/>
            </a:pPr>
            <a:r>
              <a:rPr kumimoji="0" lang="en-US" altLang="zh-CN" sz="2800" dirty="0">
                <a:effectLst>
                  <a:outerShdw blurRad="38100" dist="38100" dir="2700000" algn="tl">
                    <a:srgbClr val="000000"/>
                  </a:outerShdw>
                </a:effectLst>
              </a:rPr>
              <a:t>  F = F-G = {</a:t>
            </a:r>
            <a:r>
              <a:rPr kumimoji="0" lang="zh-CN" altLang="zh-CN" sz="2800" dirty="0">
                <a:effectLst>
                  <a:outerShdw blurRad="38100" dist="38100" dir="2700000" algn="tl">
                    <a:srgbClr val="000000"/>
                  </a:outerShdw>
                </a:effectLst>
              </a:rPr>
              <a:t>B</a:t>
            </a:r>
            <a:r>
              <a:rPr kumimoji="0" lang="zh-CN" altLang="en-US" sz="2800" dirty="0">
                <a:effectLst>
                  <a:outerShdw blurRad="38100" dist="38100" dir="2700000" algn="tl">
                    <a:srgbClr val="000000"/>
                  </a:outerShdw>
                </a:effectLst>
              </a:rPr>
              <a:t>→</a:t>
            </a:r>
            <a:r>
              <a:rPr kumimoji="0" lang="zh-CN" altLang="zh-CN" sz="2800" dirty="0">
                <a:effectLst>
                  <a:outerShdw blurRad="38100" dist="38100" dir="2700000" algn="tl">
                    <a:srgbClr val="000000"/>
                  </a:outerShdw>
                </a:effectLst>
              </a:rPr>
              <a:t>C</a:t>
            </a:r>
            <a:r>
              <a:rPr kumimoji="0" lang="zh-CN" altLang="en-US" sz="2800" dirty="0">
                <a:effectLst>
                  <a:outerShdw blurRad="38100" dist="38100" dir="2700000" algn="tl">
                    <a:srgbClr val="000000"/>
                  </a:outerShdw>
                </a:effectLst>
              </a:rPr>
              <a:t>D</a:t>
            </a:r>
            <a:r>
              <a:rPr kumimoji="0" lang="zh-CN" altLang="zh-CN" sz="2800" dirty="0">
                <a:effectLst>
                  <a:outerShdw blurRad="38100" dist="38100" dir="2700000" algn="tl">
                    <a:srgbClr val="000000"/>
                  </a:outerShdw>
                </a:effectLst>
              </a:rPr>
              <a:t>,D</a:t>
            </a:r>
            <a:r>
              <a:rPr kumimoji="0" lang="en-US" altLang="zh-CN" sz="2800" dirty="0">
                <a:effectLst>
                  <a:outerShdw blurRad="38100" dist="38100" dir="2700000" algn="tl">
                    <a:srgbClr val="000000"/>
                  </a:outerShdw>
                </a:effectLst>
              </a:rPr>
              <a:t>→</a:t>
            </a:r>
            <a:r>
              <a:rPr kumimoji="0" lang="zh-CN" altLang="en-US" sz="2800" dirty="0">
                <a:effectLst>
                  <a:outerShdw blurRad="38100" dist="38100" dir="2700000" algn="tl">
                    <a:srgbClr val="000000"/>
                  </a:outerShdw>
                </a:effectLst>
              </a:rPr>
              <a:t>E</a:t>
            </a:r>
            <a:r>
              <a:rPr kumimoji="0" lang="en-US" altLang="zh-CN" sz="2800" dirty="0">
                <a:effectLst>
                  <a:outerShdw blurRad="38100" dist="38100" dir="2700000" algn="tl">
                    <a:srgbClr val="000000"/>
                  </a:outerShdw>
                </a:effectLst>
              </a:rPr>
              <a:t>}</a:t>
            </a:r>
            <a:r>
              <a:rPr kumimoji="0" lang="zh-CN" altLang="en-US" sz="2800" dirty="0">
                <a:effectLst>
                  <a:outerShdw blurRad="38100" dist="38100" dir="2700000" algn="tl">
                    <a:srgbClr val="000000"/>
                  </a:outerShdw>
                </a:effectLst>
              </a:rPr>
              <a:t>，  </a:t>
            </a:r>
            <a:r>
              <a:rPr kumimoji="0" lang="en-US" altLang="zh-CN" sz="2800" dirty="0">
                <a:effectLst>
                  <a:outerShdw blurRad="38100" dist="38100" dir="2700000" algn="tl">
                    <a:srgbClr val="000000"/>
                  </a:outerShdw>
                </a:effectLst>
              </a:rPr>
              <a:t>Result=True</a:t>
            </a:r>
          </a:p>
          <a:p>
            <a:pPr algn="just">
              <a:spcBef>
                <a:spcPct val="50000"/>
              </a:spcBef>
              <a:spcAft>
                <a:spcPct val="0"/>
              </a:spcAft>
              <a:buSzTx/>
              <a:buFontTx/>
              <a:buNone/>
              <a:defRPr/>
            </a:pPr>
            <a:r>
              <a:rPr kumimoji="0" lang="en-US" altLang="zh-CN" sz="2800" dirty="0">
                <a:effectLst>
                  <a:outerShdw blurRad="38100" dist="38100" dir="2700000" algn="tl">
                    <a:srgbClr val="000000"/>
                  </a:outerShdw>
                </a:effectLst>
              </a:rPr>
              <a:t>2)F=F-{</a:t>
            </a:r>
            <a:r>
              <a:rPr kumimoji="0" lang="zh-CN" altLang="zh-CN" sz="2800" dirty="0">
                <a:effectLst>
                  <a:outerShdw blurRad="38100" dist="38100" dir="2700000" algn="tl">
                    <a:srgbClr val="000000"/>
                  </a:outerShdw>
                </a:effectLst>
              </a:rPr>
              <a:t>B</a:t>
            </a:r>
            <a:r>
              <a:rPr kumimoji="0" lang="zh-CN" altLang="en-US" sz="2800" dirty="0">
                <a:effectLst>
                  <a:outerShdw blurRad="38100" dist="38100" dir="2700000" algn="tl">
                    <a:srgbClr val="000000"/>
                  </a:outerShdw>
                </a:effectLst>
              </a:rPr>
              <a:t>→</a:t>
            </a:r>
            <a:r>
              <a:rPr kumimoji="0" lang="zh-CN" altLang="zh-CN" sz="2800" dirty="0">
                <a:effectLst>
                  <a:outerShdw blurRad="38100" dist="38100" dir="2700000" algn="tl">
                    <a:srgbClr val="000000"/>
                  </a:outerShdw>
                </a:effectLst>
              </a:rPr>
              <a:t>C</a:t>
            </a:r>
            <a:r>
              <a:rPr kumimoji="0" lang="zh-CN" altLang="en-US" sz="2800" dirty="0">
                <a:effectLst>
                  <a:outerShdw blurRad="38100" dist="38100" dir="2700000" algn="tl">
                    <a:srgbClr val="000000"/>
                  </a:outerShdw>
                </a:effectLst>
              </a:rPr>
              <a:t>D</a:t>
            </a:r>
            <a:r>
              <a:rPr kumimoji="0" lang="en-US" altLang="zh-CN" sz="2800" dirty="0">
                <a:effectLst>
                  <a:outerShdw blurRad="38100" dist="38100" dir="2700000" algn="tl">
                    <a:srgbClr val="000000"/>
                  </a:outerShdw>
                </a:effectLst>
              </a:rPr>
              <a:t>}={</a:t>
            </a:r>
            <a:r>
              <a:rPr kumimoji="0" lang="zh-CN" altLang="zh-CN" sz="2800" dirty="0">
                <a:effectLst>
                  <a:outerShdw blurRad="38100" dist="38100" dir="2700000" algn="tl">
                    <a:srgbClr val="000000"/>
                  </a:outerShdw>
                </a:effectLst>
              </a:rPr>
              <a:t>D</a:t>
            </a:r>
            <a:r>
              <a:rPr kumimoji="0" lang="en-US" altLang="zh-CN" sz="2800" dirty="0">
                <a:effectLst>
                  <a:outerShdw blurRad="38100" dist="38100" dir="2700000" algn="tl">
                    <a:srgbClr val="000000"/>
                  </a:outerShdw>
                </a:effectLst>
              </a:rPr>
              <a:t>→</a:t>
            </a:r>
            <a:r>
              <a:rPr kumimoji="0" lang="zh-CN" altLang="en-US" sz="2800" dirty="0">
                <a:effectLst>
                  <a:outerShdw blurRad="38100" dist="38100" dir="2700000" algn="tl">
                    <a:srgbClr val="000000"/>
                  </a:outerShdw>
                </a:effectLst>
              </a:rPr>
              <a:t>E</a:t>
            </a:r>
            <a:r>
              <a:rPr kumimoji="0" lang="en-US" altLang="zh-CN" sz="2800" dirty="0">
                <a:effectLst>
                  <a:outerShdw blurRad="38100" dist="38100" dir="2700000" algn="tl">
                    <a:srgbClr val="000000"/>
                  </a:outerShdw>
                </a:effectLst>
              </a:rPr>
              <a:t>}</a:t>
            </a:r>
            <a:endParaRPr kumimoji="0" lang="zh-CN" altLang="en-US" sz="2800" dirty="0">
              <a:effectLst>
                <a:outerShdw blurRad="38100" dist="38100" dir="2700000" algn="tl">
                  <a:srgbClr val="000000"/>
                </a:outerShdw>
              </a:effectLst>
            </a:endParaRPr>
          </a:p>
          <a:p>
            <a:pPr algn="just">
              <a:spcAft>
                <a:spcPct val="0"/>
              </a:spcAft>
              <a:buSzTx/>
              <a:buFontTx/>
              <a:buNone/>
              <a:defRPr/>
            </a:pPr>
            <a:r>
              <a:rPr kumimoji="0" lang="zh-CN" altLang="en-US" sz="2800" dirty="0">
                <a:effectLst>
                  <a:outerShdw blurRad="38100" dist="38100" dir="2700000" algn="tl">
                    <a:srgbClr val="000000"/>
                  </a:outerShdw>
                </a:effectLst>
              </a:rPr>
              <a:t>  由</a:t>
            </a:r>
            <a:r>
              <a:rPr kumimoji="0" lang="zh-CN" altLang="zh-CN" sz="2800" dirty="0">
                <a:effectLst>
                  <a:outerShdw blurRad="38100" dist="38100" dir="2700000" algn="tl">
                    <a:srgbClr val="000000"/>
                  </a:outerShdw>
                </a:effectLst>
              </a:rPr>
              <a:t>B</a:t>
            </a:r>
            <a:r>
              <a:rPr kumimoji="0" lang="zh-CN" altLang="en-US" sz="2800" dirty="0">
                <a:effectLst>
                  <a:outerShdw blurRad="38100" dist="38100" dir="2700000" algn="tl">
                    <a:srgbClr val="000000"/>
                  </a:outerShdw>
                </a:effectLst>
              </a:rPr>
              <a:t>→</a:t>
            </a:r>
            <a:r>
              <a:rPr kumimoji="0" lang="zh-CN" altLang="zh-CN" sz="2800" dirty="0">
                <a:effectLst>
                  <a:outerShdw blurRad="38100" dist="38100" dir="2700000" algn="tl">
                    <a:srgbClr val="000000"/>
                  </a:outerShdw>
                </a:effectLst>
              </a:rPr>
              <a:t>C</a:t>
            </a:r>
            <a:r>
              <a:rPr kumimoji="0" lang="zh-CN" altLang="en-US" sz="2800" dirty="0">
                <a:effectLst>
                  <a:outerShdw blurRad="38100" dist="38100" dir="2700000" algn="tl">
                    <a:srgbClr val="000000"/>
                  </a:outerShdw>
                </a:effectLst>
              </a:rPr>
              <a:t>D计算   </a:t>
            </a:r>
            <a:r>
              <a:rPr kumimoji="0" lang="en-US" altLang="zh-CN" sz="2800" dirty="0">
                <a:effectLst>
                  <a:outerShdw blurRad="38100" dist="38100" dir="2700000" algn="tl">
                    <a:srgbClr val="000000"/>
                  </a:outerShdw>
                </a:effectLst>
              </a:rPr>
              <a:t>= {BE}</a:t>
            </a:r>
            <a:endParaRPr kumimoji="0" lang="zh-CN" altLang="en-US" sz="2800" dirty="0">
              <a:effectLst>
                <a:outerShdw blurRad="38100" dist="38100" dir="2700000" algn="tl">
                  <a:srgbClr val="000000"/>
                </a:outerShdw>
              </a:effectLst>
            </a:endParaRPr>
          </a:p>
          <a:p>
            <a:pPr algn="just">
              <a:spcBef>
                <a:spcPct val="50000"/>
              </a:spcBef>
              <a:spcAft>
                <a:spcPct val="0"/>
              </a:spcAft>
              <a:buSzTx/>
              <a:buFontTx/>
              <a:buNone/>
              <a:defRPr/>
            </a:pPr>
            <a:r>
              <a:rPr kumimoji="0" lang="en-US" altLang="zh-CN" sz="2800" dirty="0">
                <a:effectLst>
                  <a:outerShdw blurRad="38100" dist="38100" dir="2700000" algn="tl">
                    <a:srgbClr val="000000"/>
                  </a:outerShdw>
                </a:effectLst>
              </a:rPr>
              <a:t>3)</a:t>
            </a:r>
            <a:r>
              <a:rPr kumimoji="0" lang="zh-CN" altLang="en-US" sz="2800" dirty="0">
                <a:effectLst>
                  <a:outerShdw blurRad="38100" dist="38100" dir="2700000" algn="tl">
                    <a:srgbClr val="000000"/>
                  </a:outerShdw>
                </a:effectLst>
              </a:rPr>
              <a:t>由于</a:t>
            </a:r>
            <a:r>
              <a:rPr kumimoji="0" lang="en-US" altLang="zh-CN" sz="2800" dirty="0">
                <a:effectLst>
                  <a:outerShdw blurRad="38100" dist="38100" dir="2700000" algn="tl">
                    <a:srgbClr val="000000"/>
                  </a:outerShdw>
                </a:effectLst>
              </a:rPr>
              <a:t>{C,D}    </a:t>
            </a:r>
            <a:r>
              <a:rPr kumimoji="0" lang="zh-CN" altLang="en-US" sz="2800" dirty="0">
                <a:effectLst>
                  <a:outerShdw blurRad="38100" dist="38100" dir="2700000" algn="tl">
                    <a:srgbClr val="000000"/>
                  </a:outerShdw>
                </a:effectLst>
              </a:rPr>
              <a:t>，则</a:t>
            </a:r>
            <a:r>
              <a:rPr kumimoji="0" lang="en-US" altLang="zh-CN" sz="2800" dirty="0">
                <a:effectLst>
                  <a:outerShdw blurRad="38100" dist="38100" dir="2700000" algn="tl">
                    <a:srgbClr val="000000"/>
                  </a:outerShdw>
                </a:effectLst>
              </a:rPr>
              <a:t>Result=False</a:t>
            </a:r>
            <a:r>
              <a:rPr kumimoji="0" lang="zh-CN" altLang="en-US" sz="2800" dirty="0">
                <a:effectLst>
                  <a:outerShdw blurRad="38100" dist="38100" dir="2700000" algn="tl">
                    <a:srgbClr val="000000"/>
                  </a:outerShdw>
                </a:effectLst>
              </a:rPr>
              <a:t>，转</a:t>
            </a:r>
            <a:r>
              <a:rPr kumimoji="0" lang="en-US" altLang="zh-CN" sz="2800" dirty="0">
                <a:effectLst>
                  <a:outerShdw blurRad="38100" dist="38100" dir="2700000" algn="tl">
                    <a:srgbClr val="000000"/>
                  </a:outerShdw>
                </a:effectLst>
              </a:rPr>
              <a:t>4)</a:t>
            </a:r>
          </a:p>
          <a:p>
            <a:pPr algn="just">
              <a:spcBef>
                <a:spcPct val="50000"/>
              </a:spcBef>
              <a:spcAft>
                <a:spcPct val="0"/>
              </a:spcAft>
              <a:buSzTx/>
              <a:buFontTx/>
              <a:buNone/>
              <a:defRPr/>
            </a:pPr>
            <a:r>
              <a:rPr kumimoji="0" lang="en-US" altLang="zh-CN" sz="2800" dirty="0">
                <a:effectLst>
                  <a:outerShdw blurRad="38100" dist="38100" dir="2700000" algn="tl">
                    <a:srgbClr val="000000"/>
                  </a:outerShdw>
                </a:effectLst>
              </a:rPr>
              <a:t>4)Result=False</a:t>
            </a:r>
            <a:r>
              <a:rPr kumimoji="0" lang="zh-CN" altLang="en-US" sz="2800" dirty="0">
                <a:effectLst>
                  <a:outerShdw blurRad="38100" dist="38100" dir="2700000" algn="tl">
                    <a:srgbClr val="000000"/>
                  </a:outerShdw>
                </a:effectLst>
              </a:rPr>
              <a:t>，得</a:t>
            </a:r>
            <a:r>
              <a:rPr kumimoji="0" lang="zh-CN" altLang="en-US" sz="2800" i="1" dirty="0">
                <a:effectLst>
                  <a:outerShdw blurRad="38100" dist="38100" dir="2700000" algn="tl">
                    <a:srgbClr val="000000"/>
                  </a:outerShdw>
                </a:effectLst>
              </a:rPr>
              <a:t>ρ</a:t>
            </a:r>
            <a:r>
              <a:rPr kumimoji="0" lang="zh-CN" altLang="en-US" sz="2800" dirty="0">
                <a:effectLst>
                  <a:outerShdw blurRad="38100" dist="38100" dir="2700000" algn="tl">
                    <a:srgbClr val="000000"/>
                  </a:outerShdw>
                </a:effectLst>
              </a:rPr>
              <a:t>不</a:t>
            </a:r>
            <a:r>
              <a:rPr kumimoji="0" lang="zh-CN" altLang="zh-CN" sz="2800" dirty="0">
                <a:effectLst>
                  <a:outerShdw blurRad="38100" dist="38100" dir="2700000" algn="tl">
                    <a:srgbClr val="000000"/>
                  </a:outerShdw>
                </a:effectLst>
              </a:rPr>
              <a:t>保持F</a:t>
            </a:r>
            <a:r>
              <a:rPr kumimoji="0" lang="zh-CN" altLang="en-US" sz="2800" dirty="0">
                <a:effectLst>
                  <a:outerShdw blurRad="38100" dist="38100" dir="2700000" algn="tl">
                    <a:srgbClr val="000000"/>
                  </a:outerShdw>
                </a:effectLst>
              </a:rPr>
              <a:t>。</a:t>
            </a:r>
            <a:endParaRPr kumimoji="0" lang="en-US" altLang="zh-CN" sz="2800" dirty="0">
              <a:effectLst>
                <a:outerShdw blurRad="38100" dist="38100" dir="2700000" algn="tl">
                  <a:srgbClr val="000000"/>
                </a:outerShdw>
              </a:effectLst>
            </a:endParaRPr>
          </a:p>
        </p:txBody>
      </p:sp>
      <p:grpSp>
        <p:nvGrpSpPr>
          <p:cNvPr id="76806" name="Group 6"/>
          <p:cNvGrpSpPr>
            <a:grpSpLocks/>
          </p:cNvGrpSpPr>
          <p:nvPr/>
        </p:nvGrpSpPr>
        <p:grpSpPr bwMode="auto">
          <a:xfrm>
            <a:off x="2830513" y="4449763"/>
            <a:ext cx="360362" cy="427037"/>
            <a:chOff x="4241" y="1997"/>
            <a:chExt cx="227" cy="269"/>
          </a:xfrm>
        </p:grpSpPr>
        <p:sp>
          <p:nvSpPr>
            <p:cNvPr id="1538055" name="Rectangle 7"/>
            <p:cNvSpPr>
              <a:spLocks noChangeArrowheads="1"/>
            </p:cNvSpPr>
            <p:nvPr/>
          </p:nvSpPr>
          <p:spPr bwMode="auto">
            <a:xfrm>
              <a:off x="4241" y="1997"/>
              <a:ext cx="188" cy="269"/>
            </a:xfrm>
            <a:prstGeom prst="rect">
              <a:avLst/>
            </a:prstGeom>
            <a:noFill/>
            <a:ln w="12700" cap="sq" algn="ctr">
              <a:noFill/>
              <a:miter lim="800000"/>
              <a:headEnd/>
              <a:tailEnd/>
            </a:ln>
            <a:effectLst/>
          </p:spPr>
          <p:txBody>
            <a:bodyPr wrap="none" lIns="0" tIns="0" rIns="0" bIns="0">
              <a:spAutoFit/>
            </a:bodyPr>
            <a:lstStyle/>
            <a:p>
              <a:pPr>
                <a:buSzTx/>
                <a:buFontTx/>
                <a:buNone/>
                <a:defRPr/>
              </a:pPr>
              <a:r>
                <a:rPr lang="en-US" altLang="zh-CN" sz="2800">
                  <a:effectLst>
                    <a:outerShdw blurRad="38100" dist="38100" dir="2700000" algn="tl">
                      <a:srgbClr val="000000"/>
                    </a:outerShdw>
                  </a:effectLst>
                </a:rPr>
                <a:t>B</a:t>
              </a:r>
              <a:r>
                <a:rPr lang="en-US" altLang="zh-CN" sz="2800" baseline="-25000">
                  <a:effectLst>
                    <a:outerShdw blurRad="38100" dist="38100" dir="2700000" algn="tl">
                      <a:srgbClr val="000000"/>
                    </a:outerShdw>
                  </a:effectLst>
                </a:rPr>
                <a:t>G</a:t>
              </a:r>
              <a:endParaRPr lang="zh-CN" altLang="en-US" sz="2800" baseline="-25000">
                <a:effectLst>
                  <a:outerShdw blurRad="38100" dist="38100" dir="2700000" algn="tl">
                    <a:srgbClr val="000000"/>
                  </a:outerShdw>
                </a:effectLst>
              </a:endParaRPr>
            </a:p>
          </p:txBody>
        </p:sp>
        <p:sp>
          <p:nvSpPr>
            <p:cNvPr id="1538056" name="Rectangle 8"/>
            <p:cNvSpPr>
              <a:spLocks noChangeArrowheads="1"/>
            </p:cNvSpPr>
            <p:nvPr/>
          </p:nvSpPr>
          <p:spPr bwMode="auto">
            <a:xfrm>
              <a:off x="4364" y="2029"/>
              <a:ext cx="104" cy="182"/>
            </a:xfrm>
            <a:prstGeom prst="rect">
              <a:avLst/>
            </a:prstGeom>
            <a:noFill/>
            <a:ln w="12700" cap="sq" algn="ctr">
              <a:noFill/>
              <a:miter lim="800000"/>
              <a:headEnd/>
              <a:tailEnd/>
            </a:ln>
            <a:effectLst/>
          </p:spPr>
          <p:txBody>
            <a:bodyPr lIns="0" tIns="0" rIns="0" bIns="0">
              <a:spAutoFit/>
            </a:bodyPr>
            <a:lstStyle/>
            <a:p>
              <a:pPr>
                <a:buSzTx/>
                <a:buFontTx/>
                <a:buNone/>
                <a:defRPr/>
              </a:pPr>
              <a:r>
                <a:rPr lang="en-US" altLang="zh-CN" sz="2800" baseline="30000">
                  <a:effectLst>
                    <a:outerShdw blurRad="38100" dist="38100" dir="2700000" algn="tl">
                      <a:srgbClr val="000000"/>
                    </a:outerShdw>
                  </a:effectLst>
                </a:rPr>
                <a:t>+</a:t>
              </a:r>
              <a:endParaRPr lang="zh-CN" altLang="en-US" sz="2800" baseline="30000">
                <a:effectLst>
                  <a:outerShdw blurRad="38100" dist="38100" dir="2700000" algn="tl">
                    <a:srgbClr val="000000"/>
                  </a:outerShdw>
                </a:effectLst>
              </a:endParaRPr>
            </a:p>
          </p:txBody>
        </p:sp>
      </p:grpSp>
      <p:grpSp>
        <p:nvGrpSpPr>
          <p:cNvPr id="76807" name="Group 9"/>
          <p:cNvGrpSpPr>
            <a:grpSpLocks/>
          </p:cNvGrpSpPr>
          <p:nvPr/>
        </p:nvGrpSpPr>
        <p:grpSpPr bwMode="auto">
          <a:xfrm>
            <a:off x="2305050" y="4968875"/>
            <a:ext cx="741363" cy="569913"/>
            <a:chOff x="617" y="2416"/>
            <a:chExt cx="467" cy="359"/>
          </a:xfrm>
        </p:grpSpPr>
        <p:grpSp>
          <p:nvGrpSpPr>
            <p:cNvPr id="76809" name="Group 10"/>
            <p:cNvGrpSpPr>
              <a:grpSpLocks/>
            </p:cNvGrpSpPr>
            <p:nvPr/>
          </p:nvGrpSpPr>
          <p:grpSpPr bwMode="auto">
            <a:xfrm>
              <a:off x="857" y="2494"/>
              <a:ext cx="227" cy="269"/>
              <a:chOff x="4241" y="1997"/>
              <a:chExt cx="227" cy="269"/>
            </a:xfrm>
          </p:grpSpPr>
          <p:sp>
            <p:nvSpPr>
              <p:cNvPr id="1538059" name="Rectangle 11"/>
              <p:cNvSpPr>
                <a:spLocks noChangeArrowheads="1"/>
              </p:cNvSpPr>
              <p:nvPr/>
            </p:nvSpPr>
            <p:spPr bwMode="auto">
              <a:xfrm>
                <a:off x="4241" y="1997"/>
                <a:ext cx="188" cy="269"/>
              </a:xfrm>
              <a:prstGeom prst="rect">
                <a:avLst/>
              </a:prstGeom>
              <a:noFill/>
              <a:ln w="12700" cap="sq" algn="ctr">
                <a:noFill/>
                <a:miter lim="800000"/>
                <a:headEnd/>
                <a:tailEnd/>
              </a:ln>
              <a:effectLst/>
            </p:spPr>
            <p:txBody>
              <a:bodyPr wrap="none" lIns="0" tIns="0" rIns="0" bIns="0">
                <a:spAutoFit/>
              </a:bodyPr>
              <a:lstStyle/>
              <a:p>
                <a:pPr>
                  <a:buSzTx/>
                  <a:buFontTx/>
                  <a:buNone/>
                  <a:defRPr/>
                </a:pPr>
                <a:r>
                  <a:rPr lang="en-US" altLang="zh-CN" sz="2800">
                    <a:effectLst>
                      <a:outerShdw blurRad="38100" dist="38100" dir="2700000" algn="tl">
                        <a:srgbClr val="000000"/>
                      </a:outerShdw>
                    </a:effectLst>
                  </a:rPr>
                  <a:t>B</a:t>
                </a:r>
                <a:r>
                  <a:rPr lang="en-US" altLang="zh-CN" sz="2800" baseline="-25000">
                    <a:effectLst>
                      <a:outerShdw blurRad="38100" dist="38100" dir="2700000" algn="tl">
                        <a:srgbClr val="000000"/>
                      </a:outerShdw>
                    </a:effectLst>
                  </a:rPr>
                  <a:t>G</a:t>
                </a:r>
                <a:endParaRPr lang="zh-CN" altLang="en-US" sz="2800" baseline="-25000">
                  <a:effectLst>
                    <a:outerShdw blurRad="38100" dist="38100" dir="2700000" algn="tl">
                      <a:srgbClr val="000000"/>
                    </a:outerShdw>
                  </a:effectLst>
                </a:endParaRPr>
              </a:p>
            </p:txBody>
          </p:sp>
          <p:sp>
            <p:nvSpPr>
              <p:cNvPr id="1538060" name="Rectangle 12"/>
              <p:cNvSpPr>
                <a:spLocks noChangeArrowheads="1"/>
              </p:cNvSpPr>
              <p:nvPr/>
            </p:nvSpPr>
            <p:spPr bwMode="auto">
              <a:xfrm>
                <a:off x="4364" y="2029"/>
                <a:ext cx="104" cy="182"/>
              </a:xfrm>
              <a:prstGeom prst="rect">
                <a:avLst/>
              </a:prstGeom>
              <a:noFill/>
              <a:ln w="12700" cap="sq" algn="ctr">
                <a:noFill/>
                <a:miter lim="800000"/>
                <a:headEnd/>
                <a:tailEnd/>
              </a:ln>
              <a:effectLst/>
            </p:spPr>
            <p:txBody>
              <a:bodyPr lIns="0" tIns="0" rIns="0" bIns="0">
                <a:spAutoFit/>
              </a:bodyPr>
              <a:lstStyle/>
              <a:p>
                <a:pPr>
                  <a:buSzTx/>
                  <a:buFontTx/>
                  <a:buNone/>
                  <a:defRPr/>
                </a:pPr>
                <a:r>
                  <a:rPr lang="en-US" altLang="zh-CN" sz="2800" b="1" baseline="30000">
                    <a:effectLst>
                      <a:outerShdw blurRad="38100" dist="38100" dir="2700000" algn="tl">
                        <a:srgbClr val="000000"/>
                      </a:outerShdw>
                    </a:effectLst>
                  </a:rPr>
                  <a:t>+</a:t>
                </a:r>
                <a:endParaRPr lang="zh-CN" altLang="en-US" sz="2800" b="1" baseline="30000">
                  <a:effectLst>
                    <a:outerShdw blurRad="38100" dist="38100" dir="2700000" algn="tl">
                      <a:srgbClr val="000000"/>
                    </a:outerShdw>
                  </a:effectLst>
                </a:endParaRPr>
              </a:p>
            </p:txBody>
          </p:sp>
        </p:grpSp>
        <p:sp>
          <p:nvSpPr>
            <p:cNvPr id="1538061" name="Rectangle 13"/>
            <p:cNvSpPr>
              <a:spLocks noChangeArrowheads="1"/>
            </p:cNvSpPr>
            <p:nvPr/>
          </p:nvSpPr>
          <p:spPr bwMode="auto">
            <a:xfrm>
              <a:off x="617" y="2416"/>
              <a:ext cx="250" cy="359"/>
            </a:xfrm>
            <a:prstGeom prst="rect">
              <a:avLst/>
            </a:prstGeom>
            <a:noFill/>
            <a:ln w="12700" cap="sq">
              <a:noFill/>
              <a:miter lim="800000"/>
              <a:headEnd/>
              <a:tailEnd/>
            </a:ln>
            <a:effectLst/>
          </p:spPr>
          <p:txBody>
            <a:bodyPr lIns="72000" tIns="72000" rIns="72000" bIns="72000">
              <a:spAutoFit/>
            </a:bodyPr>
            <a:lstStyle/>
            <a:p>
              <a:pPr>
                <a:spcAft>
                  <a:spcPct val="0"/>
                </a:spcAft>
                <a:buSzTx/>
                <a:buFontTx/>
                <a:buNone/>
                <a:defRPr/>
              </a:pPr>
              <a:r>
                <a:rPr lang="en-US" altLang="zh-CN" sz="2800">
                  <a:effectLst>
                    <a:outerShdw blurRad="38100" dist="38100" dir="2700000" algn="tl">
                      <a:srgbClr val="000000"/>
                    </a:outerShdw>
                  </a:effectLst>
                  <a:sym typeface="Symbol" pitchFamily="18" charset="2"/>
                </a:rPr>
                <a:t></a:t>
              </a:r>
              <a:endParaRPr lang="zh-CN" altLang="en-US" sz="2800">
                <a:effectLst>
                  <a:outerShdw blurRad="38100" dist="38100" dir="2700000" algn="tl">
                    <a:srgbClr val="000000"/>
                  </a:outerShdw>
                </a:effectLst>
                <a:sym typeface="Symbol" pitchFamily="18" charset="2"/>
              </a:endParaRPr>
            </a:p>
          </p:txBody>
        </p:sp>
      </p:grpSp>
      <p:sp>
        <p:nvSpPr>
          <p:cNvPr id="1538062" name="Line 14"/>
          <p:cNvSpPr>
            <a:spLocks noChangeShapeType="1"/>
          </p:cNvSpPr>
          <p:nvPr/>
        </p:nvSpPr>
        <p:spPr bwMode="auto">
          <a:xfrm>
            <a:off x="2436813" y="5132388"/>
            <a:ext cx="144462" cy="431800"/>
          </a:xfrm>
          <a:prstGeom prst="line">
            <a:avLst/>
          </a:prstGeom>
          <a:noFill/>
          <a:ln w="12700" cap="sq">
            <a:solidFill>
              <a:schemeClr val="tx1"/>
            </a:solidFill>
            <a:round/>
            <a:headEnd/>
            <a:tailEnd/>
          </a:ln>
          <a:effectLst/>
        </p:spPr>
        <p:txBody>
          <a:bodyPr lIns="0" tIns="0" rIns="0" bIns="0"/>
          <a:lstStyle/>
          <a:p>
            <a:pPr>
              <a:defRPr/>
            </a:pPr>
            <a:endParaRPr lang="zh-CN" altLang="en-US"/>
          </a:p>
        </p:txBody>
      </p:sp>
      <p:sp>
        <p:nvSpPr>
          <p:cNvPr id="18" name="Rectangle 3"/>
          <p:cNvSpPr>
            <a:spLocks noGrp="1" noChangeArrowheads="1"/>
          </p:cNvSpPr>
          <p:nvPr>
            <p:ph type="title"/>
          </p:nvPr>
        </p:nvSpPr>
        <p:spPr>
          <a:xfrm>
            <a:off x="32404" y="-14313"/>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ea typeface="微软雅黑" pitchFamily="34" charset="-122"/>
              </a:rPr>
              <a:t>保持函数依赖测试算法</a:t>
            </a: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Rectangle 3"/>
          <p:cNvSpPr>
            <a:spLocks noGrp="1" noChangeArrowheads="1"/>
          </p:cNvSpPr>
          <p:nvPr>
            <p:ph type="title"/>
          </p:nvPr>
        </p:nvSpPr>
        <p:spPr>
          <a:xfrm>
            <a:off x="-3867" y="11088"/>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ea typeface="微软雅黑" pitchFamily="34" charset="-122"/>
              </a:rPr>
              <a:t>分解成</a:t>
            </a:r>
            <a:r>
              <a:rPr kumimoji="1" lang="en-US" altLang="zh-CN" sz="4000" b="1" kern="1200" dirty="0">
                <a:solidFill>
                  <a:srgbClr val="FFFFCC"/>
                </a:solidFill>
                <a:effectLst>
                  <a:outerShdw blurRad="38100" dist="38100" dir="2700000" algn="tl">
                    <a:srgbClr val="000000"/>
                  </a:outerShdw>
                </a:effectLst>
                <a:latin typeface="Arial" pitchFamily="34" charset="0"/>
                <a:ea typeface="微软雅黑" pitchFamily="34" charset="-122"/>
              </a:rPr>
              <a:t>3NF</a:t>
            </a:r>
            <a:r>
              <a:rPr kumimoji="1" lang="zh-CN" altLang="en-US" sz="4000" b="1" kern="1200" dirty="0">
                <a:solidFill>
                  <a:srgbClr val="FFFFCC"/>
                </a:solidFill>
                <a:effectLst>
                  <a:outerShdw blurRad="38100" dist="38100" dir="2700000" algn="tl">
                    <a:srgbClr val="000000"/>
                  </a:outerShdw>
                </a:effectLst>
                <a:latin typeface="Arial" pitchFamily="34" charset="0"/>
                <a:ea typeface="微软雅黑" pitchFamily="34" charset="-122"/>
              </a:rPr>
              <a:t>模式集的算法</a:t>
            </a:r>
          </a:p>
        </p:txBody>
      </p:sp>
      <p:sp>
        <p:nvSpPr>
          <p:cNvPr id="1546244" name="Rectangle 4"/>
          <p:cNvSpPr>
            <a:spLocks noGrp="1" noChangeArrowheads="1"/>
          </p:cNvSpPr>
          <p:nvPr>
            <p:ph type="body" idx="1"/>
          </p:nvPr>
        </p:nvSpPr>
        <p:spPr>
          <a:xfrm>
            <a:off x="251520" y="1268760"/>
            <a:ext cx="8701087" cy="647700"/>
          </a:xfrm>
        </p:spPr>
        <p:txBody>
          <a:bodyPr/>
          <a:lstStyle/>
          <a:p>
            <a:pPr marL="358775" indent="-358775" algn="just">
              <a:defRPr/>
            </a:pPr>
            <a:r>
              <a:rPr lang="zh-CN" altLang="en-US" sz="2800" dirty="0">
                <a:solidFill>
                  <a:srgbClr val="FFFF00"/>
                </a:solidFill>
                <a:latin typeface="楷体_GB2312" pitchFamily="49" charset="-122"/>
              </a:rPr>
              <a:t>将</a:t>
            </a:r>
            <a:r>
              <a:rPr lang="en-US" altLang="zh-CN" sz="2800" dirty="0">
                <a:solidFill>
                  <a:srgbClr val="FFFF00"/>
                </a:solidFill>
                <a:latin typeface="楷体_GB2312" pitchFamily="49" charset="-122"/>
              </a:rPr>
              <a:t>R(U,F)</a:t>
            </a:r>
            <a:r>
              <a:rPr lang="zh-CN" altLang="en-US" sz="2800" dirty="0">
                <a:solidFill>
                  <a:srgbClr val="FFFF00"/>
                </a:solidFill>
                <a:latin typeface="楷体_GB2312" pitchFamily="49" charset="-122"/>
              </a:rPr>
              <a:t>分解成保持函数依赖的</a:t>
            </a:r>
            <a:r>
              <a:rPr lang="en-US" altLang="zh-CN" sz="2800" dirty="0">
                <a:solidFill>
                  <a:srgbClr val="FFFF00"/>
                </a:solidFill>
                <a:latin typeface="楷体_GB2312" pitchFamily="49" charset="-122"/>
              </a:rPr>
              <a:t>3NF</a:t>
            </a:r>
            <a:r>
              <a:rPr lang="zh-CN" altLang="en-US" sz="2800" dirty="0">
                <a:solidFill>
                  <a:srgbClr val="FFFF00"/>
                </a:solidFill>
                <a:latin typeface="楷体_GB2312" pitchFamily="49" charset="-122"/>
              </a:rPr>
              <a:t>模式集</a:t>
            </a:r>
          </a:p>
          <a:p>
            <a:pPr marL="358775" indent="-358775" algn="just">
              <a:buFont typeface="Wingdings" pitchFamily="2" charset="2"/>
              <a:buNone/>
              <a:defRPr/>
            </a:pPr>
            <a:r>
              <a:rPr lang="en-US" altLang="zh-CN" sz="2800" dirty="0">
                <a:latin typeface="楷体_GB2312" pitchFamily="49" charset="-122"/>
              </a:rPr>
              <a:t>1)</a:t>
            </a:r>
            <a:r>
              <a:rPr lang="zh-CN" altLang="en-US" sz="2800" dirty="0">
                <a:latin typeface="楷体_GB2312" pitchFamily="49" charset="-122"/>
              </a:rPr>
              <a:t>令</a:t>
            </a:r>
            <a:r>
              <a:rPr lang="en-US" altLang="zh-CN" sz="2800" dirty="0">
                <a:latin typeface="楷体_GB2312" pitchFamily="49" charset="-122"/>
              </a:rPr>
              <a:t>F=</a:t>
            </a:r>
            <a:r>
              <a:rPr lang="en-US" altLang="zh-CN" sz="2800" dirty="0" err="1">
                <a:latin typeface="楷体_GB2312" pitchFamily="49" charset="-122"/>
              </a:rPr>
              <a:t>F</a:t>
            </a:r>
            <a:r>
              <a:rPr lang="en-US" altLang="zh-CN" sz="2800" baseline="-25000" dirty="0" err="1">
                <a:latin typeface="楷体_GB2312" pitchFamily="49" charset="-122"/>
              </a:rPr>
              <a:t>min</a:t>
            </a:r>
            <a:r>
              <a:rPr lang="zh-CN" altLang="en-US" sz="2800" dirty="0">
                <a:latin typeface="楷体_GB2312" pitchFamily="49" charset="-122"/>
              </a:rPr>
              <a:t>，</a:t>
            </a:r>
            <a:r>
              <a:rPr lang="en-US" altLang="zh-CN" sz="2800" i="1" dirty="0">
                <a:latin typeface="楷体_GB2312" pitchFamily="49" charset="-122"/>
              </a:rPr>
              <a:t>ρ</a:t>
            </a:r>
            <a:r>
              <a:rPr lang="en-US" altLang="zh-CN" sz="2800" dirty="0">
                <a:latin typeface="楷体_GB2312" pitchFamily="49" charset="-122"/>
              </a:rPr>
              <a:t>=φ</a:t>
            </a:r>
          </a:p>
          <a:p>
            <a:pPr marL="358775" indent="-358775" algn="just">
              <a:buFont typeface="Wingdings" pitchFamily="2" charset="2"/>
              <a:buNone/>
              <a:defRPr/>
            </a:pPr>
            <a:r>
              <a:rPr lang="en-US" altLang="zh-CN" sz="2800" dirty="0">
                <a:latin typeface="楷体_GB2312" pitchFamily="49" charset="-122"/>
              </a:rPr>
              <a:t>2)</a:t>
            </a:r>
            <a:r>
              <a:rPr lang="zh-CN" altLang="en-US" sz="2800" dirty="0">
                <a:latin typeface="楷体_GB2312" pitchFamily="49" charset="-122"/>
              </a:rPr>
              <a:t>令</a:t>
            </a:r>
            <a:r>
              <a:rPr lang="en-US" altLang="zh-CN" sz="2800" dirty="0">
                <a:latin typeface="楷体_GB2312" pitchFamily="49" charset="-122"/>
              </a:rPr>
              <a:t>U</a:t>
            </a:r>
            <a:r>
              <a:rPr lang="en-US" altLang="zh-CN" sz="2800" baseline="-25000" dirty="0">
                <a:latin typeface="楷体_GB2312" pitchFamily="49" charset="-122"/>
              </a:rPr>
              <a:t>1</a:t>
            </a:r>
            <a:r>
              <a:rPr lang="zh-CN" altLang="en-US" sz="2800" dirty="0">
                <a:latin typeface="楷体_GB2312" pitchFamily="49" charset="-122"/>
              </a:rPr>
              <a:t>为所有没有在</a:t>
            </a:r>
            <a:r>
              <a:rPr lang="en-US" altLang="zh-CN" sz="2800" dirty="0">
                <a:latin typeface="楷体_GB2312" pitchFamily="49" charset="-122"/>
              </a:rPr>
              <a:t>F</a:t>
            </a:r>
            <a:r>
              <a:rPr lang="zh-CN" altLang="en-US" sz="2800" dirty="0">
                <a:latin typeface="楷体_GB2312" pitchFamily="49" charset="-122"/>
              </a:rPr>
              <a:t>中出现过的属性的集合，</a:t>
            </a:r>
            <a:r>
              <a:rPr lang="en-US" altLang="zh-CN" sz="2800" i="1" dirty="0">
                <a:latin typeface="楷体_GB2312" pitchFamily="49" charset="-122"/>
              </a:rPr>
              <a:t>ρ</a:t>
            </a:r>
            <a:r>
              <a:rPr lang="en-US" altLang="zh-CN" sz="2800" dirty="0">
                <a:latin typeface="楷体_GB2312" pitchFamily="49" charset="-122"/>
              </a:rPr>
              <a:t>=</a:t>
            </a:r>
            <a:r>
              <a:rPr lang="en-US" altLang="zh-CN" sz="2800" i="1" dirty="0" err="1">
                <a:latin typeface="楷体_GB2312" pitchFamily="49" charset="-122"/>
              </a:rPr>
              <a:t>ρ</a:t>
            </a:r>
            <a:r>
              <a:rPr lang="en-US" altLang="zh-CN" sz="2800" dirty="0" err="1">
                <a:latin typeface="楷体_GB2312" pitchFamily="49" charset="-122"/>
              </a:rPr>
              <a:t>∪R</a:t>
            </a:r>
            <a:r>
              <a:rPr lang="en-US" altLang="zh-CN" sz="2800" dirty="0">
                <a:latin typeface="楷体_GB2312" pitchFamily="49" charset="-122"/>
              </a:rPr>
              <a:t>(U</a:t>
            </a:r>
            <a:r>
              <a:rPr lang="en-US" altLang="zh-CN" sz="2800" baseline="-25000" dirty="0">
                <a:latin typeface="楷体_GB2312" pitchFamily="49" charset="-122"/>
              </a:rPr>
              <a:t>1</a:t>
            </a:r>
            <a:r>
              <a:rPr lang="en-US" altLang="zh-CN" sz="2800" dirty="0">
                <a:latin typeface="楷体_GB2312" pitchFamily="49" charset="-122"/>
              </a:rPr>
              <a:t>)</a:t>
            </a:r>
            <a:r>
              <a:rPr lang="zh-CN" altLang="en-US" sz="2800" dirty="0">
                <a:latin typeface="楷体_GB2312" pitchFamily="49" charset="-122"/>
              </a:rPr>
              <a:t>， </a:t>
            </a:r>
            <a:r>
              <a:rPr lang="en-US" altLang="zh-CN" sz="2800" dirty="0">
                <a:latin typeface="楷体_GB2312" pitchFamily="49" charset="-122"/>
              </a:rPr>
              <a:t>U=U</a:t>
            </a:r>
            <a:r>
              <a:rPr lang="zh-CN" altLang="en-US" sz="2800" i="1" dirty="0">
                <a:latin typeface="楷体_GB2312" pitchFamily="49" charset="-122"/>
              </a:rPr>
              <a:t>－</a:t>
            </a:r>
            <a:r>
              <a:rPr lang="en-US" altLang="zh-CN" sz="2800" dirty="0">
                <a:latin typeface="楷体_GB2312" pitchFamily="49" charset="-122"/>
              </a:rPr>
              <a:t>U</a:t>
            </a:r>
            <a:r>
              <a:rPr lang="en-US" altLang="zh-CN" sz="2800" baseline="-25000" dirty="0">
                <a:latin typeface="楷体_GB2312" pitchFamily="49" charset="-122"/>
              </a:rPr>
              <a:t>1</a:t>
            </a:r>
            <a:endParaRPr lang="zh-CN" altLang="en-US" sz="2800" dirty="0">
              <a:latin typeface="楷体_GB2312" pitchFamily="49" charset="-122"/>
            </a:endParaRPr>
          </a:p>
          <a:p>
            <a:pPr marL="358775" indent="-358775" algn="just">
              <a:buFont typeface="Wingdings" pitchFamily="2" charset="2"/>
              <a:buNone/>
              <a:defRPr/>
            </a:pPr>
            <a:r>
              <a:rPr lang="en-US" altLang="zh-CN" sz="2800" dirty="0">
                <a:latin typeface="楷体_GB2312" pitchFamily="49" charset="-122"/>
              </a:rPr>
              <a:t>3)</a:t>
            </a:r>
            <a:r>
              <a:rPr lang="zh-CN" altLang="en-US" sz="2800" dirty="0">
                <a:latin typeface="楷体_GB2312" pitchFamily="49" charset="-122"/>
              </a:rPr>
              <a:t>若</a:t>
            </a:r>
            <a:r>
              <a:rPr lang="en-US" altLang="zh-CN" sz="2800" dirty="0">
                <a:latin typeface="楷体_GB2312" pitchFamily="49" charset="-122"/>
              </a:rPr>
              <a:t>F</a:t>
            </a:r>
            <a:r>
              <a:rPr lang="zh-CN" altLang="en-US" sz="2800" dirty="0">
                <a:latin typeface="楷体_GB2312" pitchFamily="49" charset="-122"/>
              </a:rPr>
              <a:t>中存在</a:t>
            </a:r>
            <a:r>
              <a:rPr lang="en-US" altLang="zh-CN" sz="2800" dirty="0">
                <a:latin typeface="楷体_GB2312" pitchFamily="49" charset="-122"/>
              </a:rPr>
              <a:t>X→A</a:t>
            </a:r>
            <a:r>
              <a:rPr lang="zh-CN" altLang="en-US" sz="2800" dirty="0">
                <a:latin typeface="楷体_GB2312" pitchFamily="49" charset="-122"/>
              </a:rPr>
              <a:t>且</a:t>
            </a:r>
            <a:r>
              <a:rPr lang="en-US" altLang="zh-CN" sz="2800" dirty="0">
                <a:latin typeface="楷体_GB2312" pitchFamily="49" charset="-122"/>
              </a:rPr>
              <a:t>X∪A=U</a:t>
            </a:r>
            <a:r>
              <a:rPr lang="zh-CN" altLang="en-US" sz="2800" dirty="0">
                <a:latin typeface="楷体_GB2312" pitchFamily="49" charset="-122"/>
              </a:rPr>
              <a:t>，则</a:t>
            </a:r>
            <a:r>
              <a:rPr lang="en-US" altLang="zh-CN" sz="2800" i="1" dirty="0">
                <a:latin typeface="楷体_GB2312" pitchFamily="49" charset="-122"/>
              </a:rPr>
              <a:t>ρ</a:t>
            </a:r>
            <a:r>
              <a:rPr lang="en-US" altLang="zh-CN" sz="2800" dirty="0">
                <a:latin typeface="楷体_GB2312" pitchFamily="49" charset="-122"/>
              </a:rPr>
              <a:t>=</a:t>
            </a:r>
            <a:r>
              <a:rPr lang="en-US" altLang="zh-CN" sz="2800" i="1" dirty="0" err="1">
                <a:latin typeface="楷体_GB2312" pitchFamily="49" charset="-122"/>
              </a:rPr>
              <a:t>ρ</a:t>
            </a:r>
            <a:r>
              <a:rPr lang="en-US" altLang="zh-CN" sz="2800" dirty="0" err="1">
                <a:latin typeface="楷体_GB2312" pitchFamily="49" charset="-122"/>
              </a:rPr>
              <a:t>∪R</a:t>
            </a:r>
            <a:r>
              <a:rPr lang="en-US" altLang="zh-CN" sz="2800" dirty="0">
                <a:latin typeface="楷体_GB2312" pitchFamily="49" charset="-122"/>
              </a:rPr>
              <a:t>(U)</a:t>
            </a:r>
            <a:r>
              <a:rPr lang="zh-CN" altLang="en-US" sz="2800" dirty="0">
                <a:latin typeface="楷体_GB2312" pitchFamily="49" charset="-122"/>
              </a:rPr>
              <a:t>，转</a:t>
            </a:r>
            <a:r>
              <a:rPr lang="en-US" altLang="zh-CN" sz="2800" dirty="0">
                <a:latin typeface="楷体_GB2312" pitchFamily="49" charset="-122"/>
              </a:rPr>
              <a:t>4)</a:t>
            </a:r>
            <a:r>
              <a:rPr lang="zh-CN" altLang="en-US" sz="2800" dirty="0">
                <a:latin typeface="楷体_GB2312" pitchFamily="49" charset="-122"/>
              </a:rPr>
              <a:t>。否则将所有</a:t>
            </a:r>
            <a:r>
              <a:rPr lang="en-US" altLang="zh-CN" sz="2800" dirty="0">
                <a:latin typeface="楷体_GB2312" pitchFamily="49" charset="-122"/>
              </a:rPr>
              <a:t>X→A</a:t>
            </a:r>
            <a:r>
              <a:rPr lang="en-US" altLang="zh-CN" sz="2800" baseline="-25000" dirty="0">
                <a:latin typeface="楷体_GB2312" pitchFamily="49" charset="-122"/>
              </a:rPr>
              <a:t>1</a:t>
            </a:r>
            <a:r>
              <a:rPr lang="zh-CN" altLang="en-US" sz="2800" dirty="0">
                <a:latin typeface="楷体_GB2312" pitchFamily="49" charset="-122"/>
              </a:rPr>
              <a:t>，</a:t>
            </a:r>
            <a:r>
              <a:rPr lang="en-US" altLang="zh-CN" sz="2800" dirty="0">
                <a:latin typeface="楷体_GB2312" pitchFamily="49" charset="-122"/>
              </a:rPr>
              <a:t>X→A</a:t>
            </a:r>
            <a:r>
              <a:rPr lang="en-US" altLang="zh-CN" sz="2800" baseline="-25000" dirty="0">
                <a:latin typeface="楷体_GB2312" pitchFamily="49" charset="-122"/>
              </a:rPr>
              <a:t>2</a:t>
            </a:r>
            <a:r>
              <a:rPr lang="en-US" altLang="zh-CN" sz="2800" dirty="0">
                <a:latin typeface="楷体_GB2312" pitchFamily="49" charset="-122"/>
              </a:rPr>
              <a:t>,</a:t>
            </a:r>
            <a:r>
              <a:rPr lang="en-US" altLang="zh-CN" sz="2800" dirty="0"/>
              <a:t>…</a:t>
            </a:r>
            <a:r>
              <a:rPr lang="en-US" altLang="zh-CN" sz="2800" dirty="0">
                <a:latin typeface="楷体_GB2312" pitchFamily="49" charset="-122"/>
              </a:rPr>
              <a:t>,</a:t>
            </a:r>
            <a:r>
              <a:rPr lang="en-US" altLang="zh-CN" sz="2800" dirty="0" err="1">
                <a:latin typeface="楷体_GB2312" pitchFamily="49" charset="-122"/>
              </a:rPr>
              <a:t>X→A</a:t>
            </a:r>
            <a:r>
              <a:rPr lang="en-US" altLang="zh-CN" sz="2800" baseline="-25000" dirty="0" err="1">
                <a:latin typeface="楷体_GB2312" pitchFamily="49" charset="-122"/>
              </a:rPr>
              <a:t>k</a:t>
            </a:r>
            <a:r>
              <a:rPr lang="zh-CN" altLang="en-US" sz="2800" dirty="0">
                <a:latin typeface="楷体_GB2312" pitchFamily="49" charset="-122"/>
              </a:rPr>
              <a:t>合并构成一个关系模式</a:t>
            </a:r>
            <a:r>
              <a:rPr lang="en-US" altLang="zh-CN" sz="2800" dirty="0">
                <a:latin typeface="楷体_GB2312" pitchFamily="49" charset="-122"/>
              </a:rPr>
              <a:t>R(XA</a:t>
            </a:r>
            <a:r>
              <a:rPr lang="en-US" altLang="zh-CN" sz="2800" baseline="-25000" dirty="0">
                <a:latin typeface="楷体_GB2312" pitchFamily="49" charset="-122"/>
              </a:rPr>
              <a:t>1</a:t>
            </a:r>
            <a:r>
              <a:rPr lang="en-US" altLang="zh-CN" sz="2800" dirty="0">
                <a:latin typeface="楷体_GB2312" pitchFamily="49" charset="-122"/>
              </a:rPr>
              <a:t>A</a:t>
            </a:r>
            <a:r>
              <a:rPr lang="en-US" altLang="zh-CN" sz="2800" baseline="-25000" dirty="0">
                <a:latin typeface="楷体_GB2312" pitchFamily="49" charset="-122"/>
              </a:rPr>
              <a:t>2</a:t>
            </a:r>
            <a:r>
              <a:rPr lang="en-US" altLang="zh-CN" sz="2800" dirty="0"/>
              <a:t>…</a:t>
            </a:r>
            <a:r>
              <a:rPr lang="en-US" altLang="zh-CN" sz="2800" dirty="0" err="1">
                <a:latin typeface="楷体_GB2312" pitchFamily="49" charset="-122"/>
              </a:rPr>
              <a:t>A</a:t>
            </a:r>
            <a:r>
              <a:rPr lang="en-US" altLang="zh-CN" sz="2800" baseline="-25000" dirty="0" err="1">
                <a:latin typeface="楷体_GB2312" pitchFamily="49" charset="-122"/>
              </a:rPr>
              <a:t>k</a:t>
            </a:r>
            <a:r>
              <a:rPr lang="en-US" altLang="zh-CN" sz="2800" dirty="0">
                <a:latin typeface="楷体_GB2312" pitchFamily="49" charset="-122"/>
              </a:rPr>
              <a:t>)</a:t>
            </a:r>
            <a:r>
              <a:rPr lang="zh-CN" altLang="en-US" sz="2800" dirty="0">
                <a:latin typeface="楷体_GB2312" pitchFamily="49" charset="-122"/>
              </a:rPr>
              <a:t>，并将其并入</a:t>
            </a:r>
            <a:r>
              <a:rPr lang="en-US" altLang="zh-CN" sz="2800" i="1" dirty="0">
                <a:latin typeface="楷体_GB2312" pitchFamily="49" charset="-122"/>
              </a:rPr>
              <a:t>ρ</a:t>
            </a:r>
            <a:r>
              <a:rPr lang="zh-CN" altLang="en-US" sz="2800" dirty="0">
                <a:latin typeface="楷体_GB2312" pitchFamily="49" charset="-122"/>
              </a:rPr>
              <a:t>。</a:t>
            </a:r>
          </a:p>
          <a:p>
            <a:pPr marL="358775" indent="-358775" algn="just">
              <a:buFont typeface="Wingdings" pitchFamily="2" charset="2"/>
              <a:buNone/>
              <a:defRPr/>
            </a:pPr>
            <a:r>
              <a:rPr lang="en-US" altLang="zh-CN" sz="2800" dirty="0">
                <a:latin typeface="楷体_GB2312" pitchFamily="49" charset="-122"/>
              </a:rPr>
              <a:t>4)</a:t>
            </a:r>
            <a:r>
              <a:rPr lang="zh-CN" altLang="en-US" sz="2800" dirty="0">
                <a:latin typeface="楷体_GB2312" pitchFamily="49" charset="-122"/>
              </a:rPr>
              <a:t>结束，</a:t>
            </a:r>
            <a:r>
              <a:rPr lang="en-US" altLang="zh-CN" sz="2800" i="1" dirty="0">
                <a:latin typeface="楷体_GB2312" pitchFamily="49" charset="-122"/>
              </a:rPr>
              <a:t>ρ</a:t>
            </a:r>
            <a:r>
              <a:rPr lang="zh-CN" altLang="en-US" sz="2800" dirty="0">
                <a:latin typeface="楷体_GB2312" pitchFamily="49" charset="-122"/>
              </a:rPr>
              <a:t>即是保持函数依赖的</a:t>
            </a:r>
            <a:r>
              <a:rPr lang="en-US" altLang="zh-CN" sz="2800" dirty="0">
                <a:latin typeface="楷体_GB2312" pitchFamily="49" charset="-122"/>
              </a:rPr>
              <a:t>3NF</a:t>
            </a:r>
            <a:r>
              <a:rPr lang="zh-CN" altLang="en-US" sz="2800" dirty="0">
                <a:latin typeface="楷体_GB2312" pitchFamily="49" charset="-122"/>
              </a:rPr>
              <a:t>模式集</a:t>
            </a: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3"/>
          <p:cNvSpPr>
            <a:spLocks noGrp="1" noChangeArrowheads="1"/>
          </p:cNvSpPr>
          <p:nvPr>
            <p:ph type="title"/>
          </p:nvPr>
        </p:nvSpPr>
        <p:spPr>
          <a:xfrm>
            <a:off x="0" y="0"/>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ea typeface="微软雅黑" pitchFamily="34" charset="-122"/>
              </a:rPr>
              <a:t>分解成</a:t>
            </a:r>
            <a:r>
              <a:rPr kumimoji="1" lang="en-US" altLang="zh-CN" sz="4000" b="1" kern="1200" dirty="0">
                <a:solidFill>
                  <a:srgbClr val="FFFFCC"/>
                </a:solidFill>
                <a:effectLst>
                  <a:outerShdw blurRad="38100" dist="38100" dir="2700000" algn="tl">
                    <a:srgbClr val="000000"/>
                  </a:outerShdw>
                </a:effectLst>
                <a:latin typeface="Arial" pitchFamily="34" charset="0"/>
                <a:ea typeface="微软雅黑" pitchFamily="34" charset="-122"/>
              </a:rPr>
              <a:t>3NF</a:t>
            </a:r>
            <a:r>
              <a:rPr kumimoji="1" lang="zh-CN" altLang="en-US" sz="4000" b="1" kern="1200" dirty="0">
                <a:solidFill>
                  <a:srgbClr val="FFFFCC"/>
                </a:solidFill>
                <a:effectLst>
                  <a:outerShdw blurRad="38100" dist="38100" dir="2700000" algn="tl">
                    <a:srgbClr val="000000"/>
                  </a:outerShdw>
                </a:effectLst>
                <a:latin typeface="Arial" pitchFamily="34" charset="0"/>
                <a:ea typeface="微软雅黑" pitchFamily="34" charset="-122"/>
              </a:rPr>
              <a:t>模式集的算法</a:t>
            </a:r>
          </a:p>
        </p:txBody>
      </p:sp>
      <p:sp>
        <p:nvSpPr>
          <p:cNvPr id="1547268" name="Rectangle 4"/>
          <p:cNvSpPr>
            <a:spLocks noGrp="1" noChangeArrowheads="1"/>
          </p:cNvSpPr>
          <p:nvPr>
            <p:ph type="body" idx="1"/>
          </p:nvPr>
        </p:nvSpPr>
        <p:spPr>
          <a:xfrm>
            <a:off x="204788" y="1379538"/>
            <a:ext cx="8701087" cy="647700"/>
          </a:xfrm>
        </p:spPr>
        <p:txBody>
          <a:bodyPr/>
          <a:lstStyle/>
          <a:p>
            <a:pPr marL="358775" indent="-358775" algn="just">
              <a:defRPr/>
            </a:pPr>
            <a:r>
              <a:rPr lang="zh-CN" altLang="en-US" sz="2800">
                <a:solidFill>
                  <a:srgbClr val="FFFF00"/>
                </a:solidFill>
                <a:latin typeface="楷体_GB2312" pitchFamily="49" charset="-122"/>
              </a:rPr>
              <a:t>将</a:t>
            </a:r>
            <a:r>
              <a:rPr lang="en-US" altLang="zh-CN" sz="2800">
                <a:solidFill>
                  <a:srgbClr val="FFFF00"/>
                </a:solidFill>
                <a:latin typeface="楷体_GB2312" pitchFamily="49" charset="-122"/>
              </a:rPr>
              <a:t>R(U,F)</a:t>
            </a:r>
            <a:r>
              <a:rPr lang="zh-CN" altLang="en-US" sz="2800">
                <a:solidFill>
                  <a:srgbClr val="FFFF00"/>
                </a:solidFill>
                <a:latin typeface="楷体_GB2312" pitchFamily="49" charset="-122"/>
              </a:rPr>
              <a:t>分解成保持函数依赖的</a:t>
            </a:r>
            <a:r>
              <a:rPr lang="en-US" altLang="zh-CN" sz="2800">
                <a:solidFill>
                  <a:srgbClr val="FFFF00"/>
                </a:solidFill>
                <a:latin typeface="楷体_GB2312" pitchFamily="49" charset="-122"/>
              </a:rPr>
              <a:t>3NF</a:t>
            </a:r>
            <a:r>
              <a:rPr lang="zh-CN" altLang="en-US" sz="2800">
                <a:solidFill>
                  <a:srgbClr val="FFFF00"/>
                </a:solidFill>
                <a:latin typeface="楷体_GB2312" pitchFamily="49" charset="-122"/>
              </a:rPr>
              <a:t>模式集</a:t>
            </a:r>
          </a:p>
        </p:txBody>
      </p:sp>
      <p:sp>
        <p:nvSpPr>
          <p:cNvPr id="1547269" name="Text Box 5"/>
          <p:cNvSpPr txBox="1">
            <a:spLocks noChangeArrowheads="1"/>
          </p:cNvSpPr>
          <p:nvPr/>
        </p:nvSpPr>
        <p:spPr bwMode="auto">
          <a:xfrm>
            <a:off x="603250" y="2060575"/>
            <a:ext cx="8382000" cy="647700"/>
          </a:xfrm>
          <a:prstGeom prst="rect">
            <a:avLst/>
          </a:prstGeom>
          <a:noFill/>
          <a:ln w="12700" cap="sq">
            <a:noFill/>
            <a:miter lim="800000"/>
            <a:headEnd type="none" w="sm" len="sm"/>
            <a:tailEnd type="none" w="sm" len="sm"/>
          </a:ln>
          <a:effectLst/>
        </p:spPr>
        <p:txBody>
          <a:bodyPr/>
          <a:lstStyle/>
          <a:p>
            <a:pPr>
              <a:spcAft>
                <a:spcPct val="0"/>
              </a:spcAft>
              <a:buSzTx/>
              <a:buFontTx/>
              <a:buNone/>
              <a:defRPr/>
            </a:pPr>
            <a:r>
              <a:rPr kumimoji="0" lang="zh-CN" altLang="zh-CN" sz="2800" dirty="0">
                <a:solidFill>
                  <a:srgbClr val="99FF33"/>
                </a:solidFill>
                <a:effectLst>
                  <a:outerShdw blurRad="38100" dist="38100" dir="2700000" algn="tl">
                    <a:srgbClr val="000000"/>
                  </a:outerShdw>
                </a:effectLst>
              </a:rPr>
              <a:t>设关系模式</a:t>
            </a:r>
            <a:r>
              <a:rPr kumimoji="0" lang="zh-CN" altLang="en-US" sz="2800" dirty="0">
                <a:solidFill>
                  <a:srgbClr val="99FF33"/>
                </a:solidFill>
                <a:effectLst>
                  <a:outerShdw blurRad="38100" dist="38100" dir="2700000" algn="tl">
                    <a:srgbClr val="000000"/>
                  </a:outerShdw>
                </a:effectLst>
              </a:rPr>
              <a:t>R中，</a:t>
            </a:r>
            <a:r>
              <a:rPr kumimoji="0" lang="en-US" altLang="zh-CN" sz="2800" dirty="0">
                <a:solidFill>
                  <a:srgbClr val="99FF33"/>
                </a:solidFill>
                <a:effectLst>
                  <a:outerShdw blurRad="38100" dist="38100" dir="2700000" algn="tl">
                    <a:srgbClr val="000000"/>
                  </a:outerShdw>
                </a:effectLst>
              </a:rPr>
              <a:t>U=</a:t>
            </a:r>
            <a:r>
              <a:rPr kumimoji="0" lang="zh-CN" altLang="zh-CN" sz="2800" dirty="0">
                <a:solidFill>
                  <a:srgbClr val="99FF33"/>
                </a:solidFill>
                <a:effectLst>
                  <a:outerShdw blurRad="38100" dist="38100" dir="2700000" algn="tl">
                    <a:srgbClr val="000000"/>
                  </a:outerShdw>
                </a:effectLst>
              </a:rPr>
              <a:t>CTHRSG</a:t>
            </a:r>
            <a:r>
              <a:rPr kumimoji="0" lang="zh-CN" altLang="en-US" sz="2800" dirty="0">
                <a:solidFill>
                  <a:srgbClr val="99FF33"/>
                </a:solidFill>
                <a:effectLst>
                  <a:outerShdw blurRad="38100" dist="38100" dir="2700000" algn="tl">
                    <a:srgbClr val="000000"/>
                  </a:outerShdw>
                </a:effectLst>
              </a:rPr>
              <a:t>，</a:t>
            </a:r>
            <a:r>
              <a:rPr kumimoji="0" lang="zh-CN" altLang="zh-CN" sz="2800" dirty="0">
                <a:solidFill>
                  <a:srgbClr val="99FF33"/>
                </a:solidFill>
                <a:effectLst>
                  <a:outerShdw blurRad="38100" dist="38100" dir="2700000" algn="tl">
                    <a:srgbClr val="000000"/>
                  </a:outerShdw>
                </a:effectLst>
              </a:rPr>
              <a:t>F={C→T,CS→G,HR→C,</a:t>
            </a:r>
            <a:br>
              <a:rPr kumimoji="0" lang="zh-CN" altLang="zh-CN" sz="2800" dirty="0">
                <a:solidFill>
                  <a:srgbClr val="99FF33"/>
                </a:solidFill>
                <a:effectLst>
                  <a:outerShdw blurRad="38100" dist="38100" dir="2700000" algn="tl">
                    <a:srgbClr val="000000"/>
                  </a:outerShdw>
                </a:effectLst>
              </a:rPr>
            </a:br>
            <a:r>
              <a:rPr kumimoji="0" lang="zh-CN" altLang="zh-CN" sz="2800" dirty="0">
                <a:solidFill>
                  <a:srgbClr val="99FF33"/>
                </a:solidFill>
                <a:effectLst>
                  <a:outerShdw blurRad="38100" dist="38100" dir="2700000" algn="tl">
                    <a:srgbClr val="000000"/>
                  </a:outerShdw>
                </a:effectLst>
              </a:rPr>
              <a:t>HS→R,TH→R}</a:t>
            </a:r>
            <a:endParaRPr kumimoji="0" lang="zh-CN" altLang="en-US" sz="2800" dirty="0">
              <a:solidFill>
                <a:srgbClr val="99FF33"/>
              </a:solidFill>
              <a:effectLst>
                <a:outerShdw blurRad="38100" dist="38100" dir="2700000" algn="tl">
                  <a:srgbClr val="000000"/>
                </a:outerShdw>
              </a:effectLst>
            </a:endParaRPr>
          </a:p>
          <a:p>
            <a:pPr>
              <a:spcAft>
                <a:spcPct val="0"/>
              </a:spcAft>
              <a:buSzTx/>
              <a:buFontTx/>
              <a:buNone/>
              <a:defRPr/>
            </a:pPr>
            <a:r>
              <a:rPr kumimoji="0" lang="zh-CN" altLang="en-US" sz="2800" dirty="0">
                <a:solidFill>
                  <a:srgbClr val="99FF33"/>
                </a:solidFill>
                <a:effectLst>
                  <a:outerShdw blurRad="38100" dist="38100" dir="2700000" algn="tl">
                    <a:srgbClr val="000000"/>
                  </a:outerShdw>
                </a:effectLst>
              </a:rPr>
              <a:t>容易证明</a:t>
            </a:r>
            <a:r>
              <a:rPr kumimoji="0" lang="en-US" altLang="zh-CN" sz="2800" dirty="0">
                <a:solidFill>
                  <a:srgbClr val="99FF33"/>
                </a:solidFill>
                <a:effectLst>
                  <a:outerShdw blurRad="38100" dist="38100" dir="2700000" algn="tl">
                    <a:srgbClr val="000000"/>
                  </a:outerShdw>
                </a:effectLst>
              </a:rPr>
              <a:t>F</a:t>
            </a:r>
            <a:r>
              <a:rPr kumimoji="0" lang="zh-CN" altLang="en-US" sz="2800" dirty="0">
                <a:solidFill>
                  <a:srgbClr val="99FF33"/>
                </a:solidFill>
                <a:effectLst>
                  <a:outerShdw blurRad="38100" dist="38100" dir="2700000" algn="tl">
                    <a:srgbClr val="000000"/>
                  </a:outerShdw>
                </a:effectLst>
              </a:rPr>
              <a:t>就是</a:t>
            </a:r>
            <a:r>
              <a:rPr kumimoji="0" lang="en-US" altLang="zh-CN" sz="2800" dirty="0" err="1">
                <a:solidFill>
                  <a:srgbClr val="99FF33"/>
                </a:solidFill>
                <a:effectLst>
                  <a:outerShdw blurRad="38100" dist="38100" dir="2700000" algn="tl">
                    <a:srgbClr val="000000"/>
                  </a:outerShdw>
                </a:effectLst>
              </a:rPr>
              <a:t>F</a:t>
            </a:r>
            <a:r>
              <a:rPr kumimoji="0" lang="en-US" altLang="zh-CN" sz="2800" baseline="-25000" dirty="0" err="1">
                <a:solidFill>
                  <a:srgbClr val="99FF33"/>
                </a:solidFill>
                <a:effectLst>
                  <a:outerShdw blurRad="38100" dist="38100" dir="2700000" algn="tl">
                    <a:srgbClr val="000000"/>
                  </a:outerShdw>
                </a:effectLst>
              </a:rPr>
              <a:t>min</a:t>
            </a:r>
            <a:r>
              <a:rPr kumimoji="0" lang="zh-CN" altLang="en-US" sz="2800" dirty="0">
                <a:solidFill>
                  <a:srgbClr val="99FF33"/>
                </a:solidFill>
                <a:effectLst>
                  <a:outerShdw blurRad="38100" dist="38100" dir="2700000" algn="tl">
                    <a:srgbClr val="000000"/>
                  </a:outerShdw>
                </a:effectLst>
              </a:rPr>
              <a:t>，</a:t>
            </a:r>
            <a:r>
              <a:rPr kumimoji="0" lang="zh-CN" altLang="zh-CN" sz="2800" dirty="0">
                <a:solidFill>
                  <a:srgbClr val="99FF33"/>
                </a:solidFill>
                <a:effectLst>
                  <a:outerShdw blurRad="38100" dist="38100" dir="2700000" algn="tl">
                    <a:srgbClr val="000000"/>
                  </a:outerShdw>
                </a:effectLst>
              </a:rPr>
              <a:t>ρ={CT，CSG，HR</a:t>
            </a:r>
            <a:r>
              <a:rPr kumimoji="0" lang="zh-CN" altLang="en-US" sz="2800" dirty="0">
                <a:solidFill>
                  <a:srgbClr val="99FF33"/>
                </a:solidFill>
                <a:effectLst>
                  <a:outerShdw blurRad="38100" dist="38100" dir="2700000" algn="tl">
                    <a:srgbClr val="000000"/>
                  </a:outerShdw>
                </a:effectLst>
              </a:rPr>
              <a:t>C</a:t>
            </a:r>
            <a:r>
              <a:rPr kumimoji="0" lang="zh-CN" altLang="zh-CN" sz="2800" dirty="0">
                <a:solidFill>
                  <a:srgbClr val="99FF33"/>
                </a:solidFill>
                <a:effectLst>
                  <a:outerShdw blurRad="38100" dist="38100" dir="2700000" algn="tl">
                    <a:srgbClr val="000000"/>
                  </a:outerShdw>
                </a:effectLst>
              </a:rPr>
              <a:t>，HSR，HRT}</a:t>
            </a:r>
          </a:p>
        </p:txBody>
      </p:sp>
      <p:sp>
        <p:nvSpPr>
          <p:cNvPr id="1547270" name="Text Box 6"/>
          <p:cNvSpPr txBox="1">
            <a:spLocks noChangeArrowheads="1"/>
          </p:cNvSpPr>
          <p:nvPr/>
        </p:nvSpPr>
        <p:spPr bwMode="auto">
          <a:xfrm>
            <a:off x="603250" y="3860800"/>
            <a:ext cx="8382000" cy="647700"/>
          </a:xfrm>
          <a:prstGeom prst="rect">
            <a:avLst/>
          </a:prstGeom>
          <a:noFill/>
          <a:ln w="12700" cap="sq">
            <a:noFill/>
            <a:miter lim="800000"/>
            <a:headEnd type="none" w="sm" len="sm"/>
            <a:tailEnd type="none" w="sm" len="sm"/>
          </a:ln>
          <a:effectLst/>
        </p:spPr>
        <p:txBody>
          <a:bodyPr/>
          <a:lstStyle/>
          <a:p>
            <a:pPr>
              <a:spcAft>
                <a:spcPct val="0"/>
              </a:spcAft>
              <a:buSzTx/>
              <a:buFontTx/>
              <a:buNone/>
              <a:defRPr/>
            </a:pPr>
            <a:r>
              <a:rPr kumimoji="0" lang="zh-CN" altLang="en-US" sz="2800">
                <a:solidFill>
                  <a:srgbClr val="99FF33"/>
                </a:solidFill>
                <a:effectLst>
                  <a:outerShdw blurRad="38100" dist="38100" dir="2700000" algn="tl">
                    <a:srgbClr val="000000"/>
                  </a:outerShdw>
                </a:effectLst>
              </a:rPr>
              <a:t>已知关系模式R</a:t>
            </a:r>
            <a:r>
              <a:rPr kumimoji="0" lang="en-US" altLang="zh-CN" sz="2800">
                <a:solidFill>
                  <a:srgbClr val="99FF33"/>
                </a:solidFill>
                <a:effectLst>
                  <a:outerShdw blurRad="38100" dist="38100" dir="2700000" algn="tl">
                    <a:srgbClr val="000000"/>
                  </a:outerShdw>
                </a:effectLst>
              </a:rPr>
              <a:t>(ABCD</a:t>
            </a:r>
            <a:r>
              <a:rPr kumimoji="0" lang="zh-CN" altLang="en-US" sz="2800">
                <a:solidFill>
                  <a:srgbClr val="99FF33"/>
                </a:solidFill>
                <a:effectLst>
                  <a:outerShdw blurRad="38100" dist="38100" dir="2700000" algn="tl">
                    <a:srgbClr val="000000"/>
                  </a:outerShdw>
                </a:effectLst>
              </a:rPr>
              <a:t>，</a:t>
            </a:r>
            <a:r>
              <a:rPr kumimoji="0" lang="zh-CN" altLang="zh-CN" sz="2800">
                <a:solidFill>
                  <a:srgbClr val="99FF33"/>
                </a:solidFill>
                <a:effectLst>
                  <a:outerShdw blurRad="38100" dist="38100" dir="2700000" algn="tl">
                    <a:srgbClr val="000000"/>
                  </a:outerShdw>
                </a:effectLst>
              </a:rPr>
              <a:t>{</a:t>
            </a:r>
            <a:r>
              <a:rPr kumimoji="0" lang="zh-CN" altLang="en-US" sz="2800">
                <a:solidFill>
                  <a:srgbClr val="99FF33"/>
                </a:solidFill>
                <a:effectLst>
                  <a:outerShdw blurRad="38100" dist="38100" dir="2700000" algn="tl">
                    <a:srgbClr val="000000"/>
                  </a:outerShdw>
                </a:effectLst>
              </a:rPr>
              <a:t>A</a:t>
            </a:r>
            <a:r>
              <a:rPr kumimoji="0" lang="en-US" altLang="zh-CN" sz="2800">
                <a:solidFill>
                  <a:srgbClr val="99FF33"/>
                </a:solidFill>
                <a:effectLst>
                  <a:outerShdw blurRad="38100" dist="38100" dir="2700000" algn="tl">
                    <a:srgbClr val="000000"/>
                  </a:outerShdw>
                </a:effectLst>
              </a:rPr>
              <a:t>B</a:t>
            </a:r>
            <a:r>
              <a:rPr kumimoji="0" lang="zh-CN" altLang="zh-CN" sz="2800">
                <a:solidFill>
                  <a:srgbClr val="99FF33"/>
                </a:solidFill>
                <a:effectLst>
                  <a:outerShdw blurRad="38100" dist="38100" dir="2700000" algn="tl">
                    <a:srgbClr val="000000"/>
                  </a:outerShdw>
                </a:effectLst>
              </a:rPr>
              <a:t>→</a:t>
            </a:r>
            <a:r>
              <a:rPr kumimoji="0" lang="zh-CN" altLang="en-US" sz="2800">
                <a:solidFill>
                  <a:srgbClr val="99FF33"/>
                </a:solidFill>
                <a:effectLst>
                  <a:outerShdw blurRad="38100" dist="38100" dir="2700000" algn="tl">
                    <a:srgbClr val="000000"/>
                  </a:outerShdw>
                </a:effectLst>
              </a:rPr>
              <a:t>C</a:t>
            </a:r>
            <a:r>
              <a:rPr kumimoji="0" lang="zh-CN" altLang="zh-CN" sz="2800">
                <a:solidFill>
                  <a:srgbClr val="99FF33"/>
                </a:solidFill>
                <a:effectLst>
                  <a:outerShdw blurRad="38100" dist="38100" dir="2700000" algn="tl">
                    <a:srgbClr val="000000"/>
                  </a:outerShdw>
                </a:effectLst>
              </a:rPr>
              <a:t>,</a:t>
            </a:r>
            <a:r>
              <a:rPr kumimoji="0" lang="en-US" altLang="zh-CN" sz="2800">
                <a:solidFill>
                  <a:srgbClr val="99FF33"/>
                </a:solidFill>
                <a:effectLst>
                  <a:outerShdw blurRad="38100" dist="38100" dir="2700000" algn="tl">
                    <a:srgbClr val="000000"/>
                  </a:outerShdw>
                </a:effectLst>
              </a:rPr>
              <a:t>B</a:t>
            </a:r>
            <a:r>
              <a:rPr kumimoji="0" lang="zh-CN" altLang="zh-CN" sz="2800">
                <a:solidFill>
                  <a:srgbClr val="99FF33"/>
                </a:solidFill>
                <a:effectLst>
                  <a:outerShdw blurRad="38100" dist="38100" dir="2700000" algn="tl">
                    <a:srgbClr val="000000"/>
                  </a:outerShdw>
                </a:effectLst>
              </a:rPr>
              <a:t>→</a:t>
            </a:r>
            <a:r>
              <a:rPr kumimoji="0" lang="zh-CN" altLang="en-US" sz="2800">
                <a:solidFill>
                  <a:srgbClr val="99FF33"/>
                </a:solidFill>
                <a:effectLst>
                  <a:outerShdw blurRad="38100" dist="38100" dir="2700000" algn="tl">
                    <a:srgbClr val="000000"/>
                  </a:outerShdw>
                </a:effectLst>
              </a:rPr>
              <a:t>C</a:t>
            </a:r>
            <a:r>
              <a:rPr kumimoji="0" lang="zh-CN" altLang="zh-CN" sz="2800">
                <a:solidFill>
                  <a:srgbClr val="99FF33"/>
                </a:solidFill>
                <a:effectLst>
                  <a:outerShdw blurRad="38100" dist="38100" dir="2700000" algn="tl">
                    <a:srgbClr val="000000"/>
                  </a:outerShdw>
                </a:effectLst>
              </a:rPr>
              <a:t>}</a:t>
            </a:r>
            <a:r>
              <a:rPr kumimoji="0" lang="zh-CN" altLang="en-US" sz="2800">
                <a:solidFill>
                  <a:srgbClr val="99FF33"/>
                </a:solidFill>
                <a:effectLst>
                  <a:outerShdw blurRad="38100" dist="38100" dir="2700000" algn="tl">
                    <a:srgbClr val="000000"/>
                  </a:outerShdw>
                </a:effectLst>
              </a:rPr>
              <a:t>)</a:t>
            </a:r>
          </a:p>
          <a:p>
            <a:pPr>
              <a:spcAft>
                <a:spcPct val="0"/>
              </a:spcAft>
              <a:buSzTx/>
              <a:buFontTx/>
              <a:buNone/>
              <a:defRPr/>
            </a:pPr>
            <a:r>
              <a:rPr kumimoji="0" lang="en-US" altLang="zh-CN" sz="2800">
                <a:solidFill>
                  <a:srgbClr val="99FF33"/>
                </a:solidFill>
                <a:effectLst>
                  <a:outerShdw blurRad="38100" dist="38100" dir="2700000" algn="tl">
                    <a:srgbClr val="000000"/>
                  </a:outerShdw>
                </a:effectLst>
              </a:rPr>
              <a:t>F</a:t>
            </a:r>
            <a:r>
              <a:rPr kumimoji="0" lang="en-US" altLang="zh-CN" sz="2800" baseline="-25000">
                <a:solidFill>
                  <a:srgbClr val="99FF33"/>
                </a:solidFill>
                <a:effectLst>
                  <a:outerShdw blurRad="38100" dist="38100" dir="2700000" algn="tl">
                    <a:srgbClr val="000000"/>
                  </a:outerShdw>
                </a:effectLst>
              </a:rPr>
              <a:t>min</a:t>
            </a:r>
            <a:r>
              <a:rPr kumimoji="0" lang="en-US" altLang="zh-CN" sz="2800">
                <a:solidFill>
                  <a:srgbClr val="99FF33"/>
                </a:solidFill>
                <a:effectLst>
                  <a:outerShdw blurRad="38100" dist="38100" dir="2700000" algn="tl">
                    <a:srgbClr val="000000"/>
                  </a:outerShdw>
                </a:effectLst>
              </a:rPr>
              <a:t>={B→C}</a:t>
            </a:r>
            <a:r>
              <a:rPr kumimoji="0" lang="zh-CN" altLang="en-US" sz="2800">
                <a:solidFill>
                  <a:srgbClr val="99FF33"/>
                </a:solidFill>
                <a:effectLst>
                  <a:outerShdw blurRad="38100" dist="38100" dir="2700000" algn="tl">
                    <a:srgbClr val="000000"/>
                  </a:outerShdw>
                </a:effectLst>
              </a:rPr>
              <a:t>，</a:t>
            </a:r>
            <a:r>
              <a:rPr kumimoji="0" lang="zh-CN" altLang="zh-CN" sz="2800">
                <a:solidFill>
                  <a:srgbClr val="99FF33"/>
                </a:solidFill>
                <a:effectLst>
                  <a:outerShdw blurRad="38100" dist="38100" dir="2700000" algn="tl">
                    <a:srgbClr val="000000"/>
                  </a:outerShdw>
                </a:effectLst>
              </a:rPr>
              <a:t>ρ={</a:t>
            </a:r>
            <a:r>
              <a:rPr kumimoji="0" lang="zh-CN" altLang="en-US" sz="2800">
                <a:solidFill>
                  <a:srgbClr val="99FF33"/>
                </a:solidFill>
                <a:effectLst>
                  <a:outerShdw blurRad="38100" dist="38100" dir="2700000" algn="tl">
                    <a:srgbClr val="000000"/>
                  </a:outerShdw>
                </a:effectLst>
              </a:rPr>
              <a:t>A</a:t>
            </a:r>
            <a:r>
              <a:rPr kumimoji="0" lang="en-US" altLang="zh-CN" sz="2800">
                <a:solidFill>
                  <a:srgbClr val="99FF33"/>
                </a:solidFill>
                <a:effectLst>
                  <a:outerShdw blurRad="38100" dist="38100" dir="2700000" algn="tl">
                    <a:srgbClr val="000000"/>
                  </a:outerShdw>
                </a:effectLst>
              </a:rPr>
              <a:t>D</a:t>
            </a:r>
            <a:r>
              <a:rPr kumimoji="0" lang="zh-CN" altLang="en-US" sz="2800">
                <a:solidFill>
                  <a:srgbClr val="99FF33"/>
                </a:solidFill>
                <a:effectLst>
                  <a:outerShdw blurRad="38100" dist="38100" dir="2700000" algn="tl">
                    <a:srgbClr val="000000"/>
                  </a:outerShdw>
                </a:effectLst>
              </a:rPr>
              <a:t>，</a:t>
            </a:r>
            <a:r>
              <a:rPr kumimoji="0" lang="en-US" altLang="zh-CN" sz="2800">
                <a:solidFill>
                  <a:srgbClr val="99FF33"/>
                </a:solidFill>
                <a:effectLst>
                  <a:outerShdw blurRad="38100" dist="38100" dir="2700000" algn="tl">
                    <a:srgbClr val="000000"/>
                  </a:outerShdw>
                </a:effectLst>
              </a:rPr>
              <a:t>BC</a:t>
            </a:r>
            <a:r>
              <a:rPr kumimoji="0" lang="zh-CN" altLang="zh-CN" sz="2800">
                <a:solidFill>
                  <a:srgbClr val="99FF33"/>
                </a:solidFill>
                <a:effectLst>
                  <a:outerShdw blurRad="38100" dist="38100" dir="2700000" algn="tl">
                    <a:srgbClr val="000000"/>
                  </a:outerShdw>
                </a:effectLst>
              </a:rPr>
              <a:t>}</a:t>
            </a:r>
          </a:p>
        </p:txBody>
      </p:sp>
      <p:sp>
        <p:nvSpPr>
          <p:cNvPr id="1547271" name="Text Box 7"/>
          <p:cNvSpPr txBox="1">
            <a:spLocks noChangeArrowheads="1"/>
          </p:cNvSpPr>
          <p:nvPr/>
        </p:nvSpPr>
        <p:spPr bwMode="auto">
          <a:xfrm>
            <a:off x="603250" y="5229225"/>
            <a:ext cx="7137102" cy="647700"/>
          </a:xfrm>
          <a:prstGeom prst="rect">
            <a:avLst/>
          </a:prstGeom>
          <a:noFill/>
          <a:ln w="12700" cap="sq">
            <a:noFill/>
            <a:miter lim="800000"/>
            <a:headEnd type="none" w="sm" len="sm"/>
            <a:tailEnd type="none" w="sm" len="sm"/>
          </a:ln>
          <a:effectLst/>
        </p:spPr>
        <p:txBody>
          <a:bodyPr/>
          <a:lstStyle/>
          <a:p>
            <a:pPr>
              <a:spcAft>
                <a:spcPct val="0"/>
              </a:spcAft>
              <a:buSzTx/>
              <a:buFontTx/>
              <a:buNone/>
              <a:defRPr/>
            </a:pPr>
            <a:r>
              <a:rPr kumimoji="0" lang="zh-CN" altLang="en-US" sz="2800" dirty="0">
                <a:solidFill>
                  <a:srgbClr val="99FF33"/>
                </a:solidFill>
                <a:effectLst>
                  <a:outerShdw blurRad="38100" dist="38100" dir="2700000" algn="tl">
                    <a:srgbClr val="000000"/>
                  </a:outerShdw>
                </a:effectLst>
              </a:rPr>
              <a:t>已知关系模式R</a:t>
            </a:r>
            <a:r>
              <a:rPr kumimoji="0" lang="en-US" altLang="zh-CN" sz="2800" dirty="0">
                <a:solidFill>
                  <a:srgbClr val="99FF33"/>
                </a:solidFill>
                <a:effectLst>
                  <a:outerShdw blurRad="38100" dist="38100" dir="2700000" algn="tl">
                    <a:srgbClr val="000000"/>
                  </a:outerShdw>
                </a:effectLst>
              </a:rPr>
              <a:t>(ABCDE</a:t>
            </a:r>
            <a:r>
              <a:rPr kumimoji="0" lang="zh-CN" altLang="en-US" sz="2800" dirty="0">
                <a:solidFill>
                  <a:srgbClr val="99FF33"/>
                </a:solidFill>
                <a:effectLst>
                  <a:outerShdw blurRad="38100" dist="38100" dir="2700000" algn="tl">
                    <a:srgbClr val="000000"/>
                  </a:outerShdw>
                </a:effectLst>
              </a:rPr>
              <a:t>，</a:t>
            </a:r>
            <a:r>
              <a:rPr kumimoji="0" lang="zh-CN" altLang="zh-CN" sz="2800" dirty="0">
                <a:solidFill>
                  <a:srgbClr val="99FF33"/>
                </a:solidFill>
                <a:effectLst>
                  <a:outerShdw blurRad="38100" dist="38100" dir="2700000" algn="tl">
                    <a:srgbClr val="000000"/>
                  </a:outerShdw>
                </a:effectLst>
              </a:rPr>
              <a:t>{</a:t>
            </a:r>
            <a:r>
              <a:rPr kumimoji="0" lang="zh-CN" altLang="en-US" sz="2800" dirty="0">
                <a:solidFill>
                  <a:srgbClr val="99FF33"/>
                </a:solidFill>
                <a:effectLst>
                  <a:outerShdw blurRad="38100" dist="38100" dir="2700000" algn="tl">
                    <a:srgbClr val="000000"/>
                  </a:outerShdw>
                </a:effectLst>
              </a:rPr>
              <a:t>A</a:t>
            </a:r>
            <a:r>
              <a:rPr kumimoji="0" lang="zh-CN" altLang="zh-CN" sz="2800" dirty="0">
                <a:solidFill>
                  <a:srgbClr val="99FF33"/>
                </a:solidFill>
                <a:effectLst>
                  <a:outerShdw blurRad="38100" dist="38100" dir="2700000" algn="tl">
                    <a:srgbClr val="000000"/>
                  </a:outerShdw>
                </a:effectLst>
              </a:rPr>
              <a:t>→</a:t>
            </a:r>
            <a:r>
              <a:rPr kumimoji="0" lang="en-US" altLang="zh-CN" sz="2800" dirty="0">
                <a:solidFill>
                  <a:srgbClr val="99FF33"/>
                </a:solidFill>
                <a:effectLst>
                  <a:outerShdw blurRad="38100" dist="38100" dir="2700000" algn="tl">
                    <a:srgbClr val="000000"/>
                  </a:outerShdw>
                </a:effectLst>
              </a:rPr>
              <a:t>B</a:t>
            </a:r>
            <a:r>
              <a:rPr kumimoji="0" lang="zh-CN" altLang="zh-CN" sz="2800" dirty="0">
                <a:solidFill>
                  <a:srgbClr val="99FF33"/>
                </a:solidFill>
                <a:effectLst>
                  <a:outerShdw blurRad="38100" dist="38100" dir="2700000" algn="tl">
                    <a:srgbClr val="000000"/>
                  </a:outerShdw>
                </a:effectLst>
              </a:rPr>
              <a:t>,</a:t>
            </a:r>
            <a:r>
              <a:rPr kumimoji="0" lang="zh-CN" altLang="en-US" sz="2800" dirty="0">
                <a:solidFill>
                  <a:srgbClr val="99FF33"/>
                </a:solidFill>
                <a:effectLst>
                  <a:outerShdw blurRad="38100" dist="38100" dir="2700000" algn="tl">
                    <a:srgbClr val="000000"/>
                  </a:outerShdw>
                </a:effectLst>
              </a:rPr>
              <a:t>A</a:t>
            </a:r>
            <a:r>
              <a:rPr kumimoji="0" lang="zh-CN" altLang="zh-CN" sz="2800" dirty="0">
                <a:solidFill>
                  <a:srgbClr val="99FF33"/>
                </a:solidFill>
                <a:effectLst>
                  <a:outerShdw blurRad="38100" dist="38100" dir="2700000" algn="tl">
                    <a:srgbClr val="000000"/>
                  </a:outerShdw>
                </a:effectLst>
              </a:rPr>
              <a:t>→</a:t>
            </a:r>
            <a:r>
              <a:rPr kumimoji="0" lang="zh-CN" altLang="en-US" sz="2800" dirty="0">
                <a:solidFill>
                  <a:srgbClr val="99FF33"/>
                </a:solidFill>
                <a:effectLst>
                  <a:outerShdw blurRad="38100" dist="38100" dir="2700000" algn="tl">
                    <a:srgbClr val="000000"/>
                  </a:outerShdw>
                </a:effectLst>
              </a:rPr>
              <a:t>C</a:t>
            </a:r>
            <a:r>
              <a:rPr kumimoji="0" lang="en-US" altLang="zh-CN" sz="2800" dirty="0">
                <a:solidFill>
                  <a:srgbClr val="99FF33"/>
                </a:solidFill>
                <a:effectLst>
                  <a:outerShdw blurRad="38100" dist="38100" dir="2700000" algn="tl">
                    <a:srgbClr val="000000"/>
                  </a:outerShdw>
                </a:effectLst>
              </a:rPr>
              <a:t>,D</a:t>
            </a:r>
            <a:r>
              <a:rPr kumimoji="0" lang="zh-CN" altLang="zh-CN" sz="2800" dirty="0">
                <a:solidFill>
                  <a:srgbClr val="99FF33"/>
                </a:solidFill>
                <a:effectLst>
                  <a:outerShdw blurRad="38100" dist="38100" dir="2700000" algn="tl">
                    <a:srgbClr val="000000"/>
                  </a:outerShdw>
                </a:effectLst>
              </a:rPr>
              <a:t>→</a:t>
            </a:r>
            <a:r>
              <a:rPr kumimoji="0" lang="en-US" altLang="zh-CN" sz="2800" dirty="0">
                <a:solidFill>
                  <a:srgbClr val="99FF33"/>
                </a:solidFill>
                <a:effectLst>
                  <a:outerShdw blurRad="38100" dist="38100" dir="2700000" algn="tl">
                    <a:srgbClr val="000000"/>
                  </a:outerShdw>
                </a:effectLst>
              </a:rPr>
              <a:t>E</a:t>
            </a:r>
            <a:r>
              <a:rPr kumimoji="0" lang="zh-CN" altLang="zh-CN" sz="2800" dirty="0">
                <a:solidFill>
                  <a:srgbClr val="99FF33"/>
                </a:solidFill>
                <a:effectLst>
                  <a:outerShdw blurRad="38100" dist="38100" dir="2700000" algn="tl">
                    <a:srgbClr val="000000"/>
                  </a:outerShdw>
                </a:effectLst>
              </a:rPr>
              <a:t>}</a:t>
            </a:r>
            <a:r>
              <a:rPr kumimoji="0" lang="zh-CN" altLang="en-US" sz="2800" dirty="0">
                <a:solidFill>
                  <a:srgbClr val="99FF33"/>
                </a:solidFill>
                <a:effectLst>
                  <a:outerShdw blurRad="38100" dist="38100" dir="2700000" algn="tl">
                    <a:srgbClr val="000000"/>
                  </a:outerShdw>
                </a:effectLst>
              </a:rPr>
              <a:t>)</a:t>
            </a:r>
            <a:endParaRPr kumimoji="0" lang="en-US" altLang="zh-CN" sz="2800" dirty="0">
              <a:solidFill>
                <a:srgbClr val="99FF33"/>
              </a:solidFill>
              <a:effectLst>
                <a:outerShdw blurRad="38100" dist="38100" dir="2700000" algn="tl">
                  <a:srgbClr val="000000"/>
                </a:outerShdw>
              </a:effectLst>
            </a:endParaRPr>
          </a:p>
          <a:p>
            <a:pPr>
              <a:spcAft>
                <a:spcPct val="0"/>
              </a:spcAft>
              <a:buSzTx/>
              <a:buFontTx/>
              <a:buNone/>
              <a:defRPr/>
            </a:pPr>
            <a:r>
              <a:rPr kumimoji="0" lang="en-US" altLang="zh-CN" sz="2800" dirty="0">
                <a:solidFill>
                  <a:srgbClr val="99FF33"/>
                </a:solidFill>
                <a:effectLst>
                  <a:outerShdw blurRad="38100" dist="38100" dir="2700000" algn="tl">
                    <a:srgbClr val="000000"/>
                  </a:outerShdw>
                </a:effectLst>
              </a:rPr>
              <a:t>F</a:t>
            </a:r>
            <a:r>
              <a:rPr kumimoji="0" lang="zh-CN" altLang="en-US" sz="2800" dirty="0">
                <a:solidFill>
                  <a:srgbClr val="99FF33"/>
                </a:solidFill>
                <a:effectLst>
                  <a:outerShdw blurRad="38100" dist="38100" dir="2700000" algn="tl">
                    <a:srgbClr val="000000"/>
                  </a:outerShdw>
                </a:effectLst>
              </a:rPr>
              <a:t>就是</a:t>
            </a:r>
            <a:r>
              <a:rPr kumimoji="0" lang="en-US" altLang="zh-CN" sz="2800" dirty="0" err="1">
                <a:solidFill>
                  <a:srgbClr val="99FF33"/>
                </a:solidFill>
                <a:effectLst>
                  <a:outerShdw blurRad="38100" dist="38100" dir="2700000" algn="tl">
                    <a:srgbClr val="000000"/>
                  </a:outerShdw>
                </a:effectLst>
              </a:rPr>
              <a:t>F</a:t>
            </a:r>
            <a:r>
              <a:rPr kumimoji="0" lang="en-US" altLang="zh-CN" sz="2800" baseline="-25000" dirty="0" err="1">
                <a:solidFill>
                  <a:srgbClr val="99FF33"/>
                </a:solidFill>
                <a:effectLst>
                  <a:outerShdw blurRad="38100" dist="38100" dir="2700000" algn="tl">
                    <a:srgbClr val="000000"/>
                  </a:outerShdw>
                </a:effectLst>
              </a:rPr>
              <a:t>min</a:t>
            </a:r>
            <a:r>
              <a:rPr kumimoji="0" lang="zh-CN" altLang="en-US" sz="2800" dirty="0">
                <a:solidFill>
                  <a:srgbClr val="99FF33"/>
                </a:solidFill>
                <a:effectLst>
                  <a:outerShdw blurRad="38100" dist="38100" dir="2700000" algn="tl">
                    <a:srgbClr val="000000"/>
                  </a:outerShdw>
                </a:effectLst>
              </a:rPr>
              <a:t>，</a:t>
            </a:r>
            <a:r>
              <a:rPr kumimoji="0" lang="zh-CN" altLang="zh-CN" sz="2800" dirty="0">
                <a:solidFill>
                  <a:srgbClr val="99FF33"/>
                </a:solidFill>
                <a:effectLst>
                  <a:outerShdw blurRad="38100" dist="38100" dir="2700000" algn="tl">
                    <a:srgbClr val="000000"/>
                  </a:outerShdw>
                </a:effectLst>
              </a:rPr>
              <a:t>ρ={</a:t>
            </a:r>
            <a:r>
              <a:rPr kumimoji="0" lang="zh-CN" altLang="en-US" sz="2800" dirty="0">
                <a:solidFill>
                  <a:srgbClr val="99FF33"/>
                </a:solidFill>
                <a:effectLst>
                  <a:outerShdw blurRad="38100" dist="38100" dir="2700000" algn="tl">
                    <a:srgbClr val="000000"/>
                  </a:outerShdw>
                </a:effectLst>
              </a:rPr>
              <a:t>A</a:t>
            </a:r>
            <a:r>
              <a:rPr kumimoji="0" lang="en-US" altLang="zh-CN" sz="2800" dirty="0">
                <a:solidFill>
                  <a:srgbClr val="99FF33"/>
                </a:solidFill>
                <a:effectLst>
                  <a:outerShdw blurRad="38100" dist="38100" dir="2700000" algn="tl">
                    <a:srgbClr val="000000"/>
                  </a:outerShdw>
                </a:effectLst>
              </a:rPr>
              <a:t>BC</a:t>
            </a:r>
            <a:r>
              <a:rPr kumimoji="0" lang="zh-CN" altLang="en-US" sz="2800" dirty="0">
                <a:solidFill>
                  <a:srgbClr val="99FF33"/>
                </a:solidFill>
                <a:effectLst>
                  <a:outerShdw blurRad="38100" dist="38100" dir="2700000" algn="tl">
                    <a:srgbClr val="000000"/>
                  </a:outerShdw>
                </a:effectLst>
              </a:rPr>
              <a:t>，</a:t>
            </a:r>
            <a:r>
              <a:rPr kumimoji="0" lang="en-US" altLang="zh-CN" sz="2800" dirty="0">
                <a:solidFill>
                  <a:srgbClr val="99FF33"/>
                </a:solidFill>
                <a:effectLst>
                  <a:outerShdw blurRad="38100" dist="38100" dir="2700000" algn="tl">
                    <a:srgbClr val="000000"/>
                  </a:outerShdw>
                </a:effectLst>
              </a:rPr>
              <a:t>DE</a:t>
            </a:r>
            <a:r>
              <a:rPr kumimoji="0" lang="zh-CN" altLang="zh-CN" sz="2800" dirty="0">
                <a:solidFill>
                  <a:srgbClr val="99FF33"/>
                </a:solidFill>
                <a:effectLst>
                  <a:outerShdw blurRad="38100" dist="38100" dir="2700000" algn="tl">
                    <a:srgbClr val="000000"/>
                  </a:outerShdw>
                </a:effectLst>
              </a:rPr>
              <a:t>}</a:t>
            </a: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Rectangle 3"/>
          <p:cNvSpPr>
            <a:spLocks noGrp="1" noChangeArrowheads="1"/>
          </p:cNvSpPr>
          <p:nvPr>
            <p:ph type="title"/>
          </p:nvPr>
        </p:nvSpPr>
        <p:spPr>
          <a:xfrm>
            <a:off x="0" y="24918"/>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ea typeface="微软雅黑" pitchFamily="34" charset="-122"/>
              </a:rPr>
              <a:t>分解成</a:t>
            </a:r>
            <a:r>
              <a:rPr kumimoji="1" lang="en-US" altLang="zh-CN" sz="4000" b="1" kern="1200" dirty="0">
                <a:solidFill>
                  <a:srgbClr val="FFFFCC"/>
                </a:solidFill>
                <a:effectLst>
                  <a:outerShdw blurRad="38100" dist="38100" dir="2700000" algn="tl">
                    <a:srgbClr val="000000"/>
                  </a:outerShdw>
                </a:effectLst>
                <a:latin typeface="Arial" pitchFamily="34" charset="0"/>
                <a:ea typeface="微软雅黑" pitchFamily="34" charset="-122"/>
              </a:rPr>
              <a:t>3NF</a:t>
            </a:r>
            <a:r>
              <a:rPr kumimoji="1" lang="zh-CN" altLang="en-US" sz="4000" b="1" kern="1200" dirty="0">
                <a:solidFill>
                  <a:srgbClr val="FFFFCC"/>
                </a:solidFill>
                <a:effectLst>
                  <a:outerShdw blurRad="38100" dist="38100" dir="2700000" algn="tl">
                    <a:srgbClr val="000000"/>
                  </a:outerShdw>
                </a:effectLst>
                <a:latin typeface="Arial" pitchFamily="34" charset="0"/>
                <a:ea typeface="微软雅黑" pitchFamily="34" charset="-122"/>
              </a:rPr>
              <a:t>模式集的算法</a:t>
            </a:r>
          </a:p>
        </p:txBody>
      </p:sp>
      <p:sp>
        <p:nvSpPr>
          <p:cNvPr id="1548292" name="Rectangle 4"/>
          <p:cNvSpPr>
            <a:spLocks noGrp="1" noChangeArrowheads="1"/>
          </p:cNvSpPr>
          <p:nvPr>
            <p:ph type="body" idx="1"/>
          </p:nvPr>
        </p:nvSpPr>
        <p:spPr>
          <a:xfrm>
            <a:off x="204788" y="1379538"/>
            <a:ext cx="8701087" cy="647700"/>
          </a:xfrm>
        </p:spPr>
        <p:txBody>
          <a:bodyPr/>
          <a:lstStyle/>
          <a:p>
            <a:pPr marL="358775" indent="-358775" algn="just">
              <a:defRPr/>
            </a:pPr>
            <a:r>
              <a:rPr lang="zh-CN" altLang="en-US" sz="2800">
                <a:solidFill>
                  <a:srgbClr val="FFFF00"/>
                </a:solidFill>
                <a:latin typeface="楷体_GB2312" pitchFamily="49" charset="-122"/>
              </a:rPr>
              <a:t>将</a:t>
            </a:r>
            <a:r>
              <a:rPr lang="en-US" altLang="zh-CN" sz="2800">
                <a:solidFill>
                  <a:srgbClr val="FFFF00"/>
                </a:solidFill>
                <a:latin typeface="楷体_GB2312" pitchFamily="49" charset="-122"/>
              </a:rPr>
              <a:t>R(U,F)</a:t>
            </a:r>
            <a:r>
              <a:rPr lang="zh-CN" altLang="en-US" sz="2800">
                <a:solidFill>
                  <a:srgbClr val="FFFF00"/>
                </a:solidFill>
                <a:latin typeface="楷体_GB2312" pitchFamily="49" charset="-122"/>
              </a:rPr>
              <a:t>分解成既具有无损连接性，又保持函数依赖的</a:t>
            </a:r>
            <a:r>
              <a:rPr lang="en-US" altLang="zh-CN" sz="2800">
                <a:solidFill>
                  <a:srgbClr val="FFFF00"/>
                </a:solidFill>
                <a:latin typeface="楷体_GB2312" pitchFamily="49" charset="-122"/>
              </a:rPr>
              <a:t>3NF</a:t>
            </a:r>
            <a:r>
              <a:rPr lang="zh-CN" altLang="en-US" sz="2800">
                <a:solidFill>
                  <a:srgbClr val="FFFF00"/>
                </a:solidFill>
                <a:latin typeface="楷体_GB2312" pitchFamily="49" charset="-122"/>
              </a:rPr>
              <a:t>模式集</a:t>
            </a:r>
          </a:p>
        </p:txBody>
      </p:sp>
      <p:sp>
        <p:nvSpPr>
          <p:cNvPr id="1548293" name="Rectangle 5"/>
          <p:cNvSpPr>
            <a:spLocks noChangeArrowheads="1"/>
          </p:cNvSpPr>
          <p:nvPr/>
        </p:nvSpPr>
        <p:spPr bwMode="auto">
          <a:xfrm>
            <a:off x="560388" y="2382838"/>
            <a:ext cx="8208962" cy="647700"/>
          </a:xfrm>
          <a:prstGeom prst="rect">
            <a:avLst/>
          </a:prstGeom>
          <a:noFill/>
          <a:ln w="9525" algn="ctr">
            <a:noFill/>
            <a:miter lim="800000"/>
            <a:headEnd/>
            <a:tailEnd/>
          </a:ln>
          <a:effectLst/>
        </p:spPr>
        <p:txBody>
          <a:bodyPr/>
          <a:lstStyle/>
          <a:p>
            <a:pPr algn="just">
              <a:spcAft>
                <a:spcPct val="40000"/>
              </a:spcAft>
              <a:buClr>
                <a:srgbClr val="66FF33"/>
              </a:buClr>
              <a:buSzPct val="85000"/>
              <a:defRPr/>
            </a:pPr>
            <a:r>
              <a:rPr kumimoji="0" lang="zh-CN" altLang="en-US" sz="2800" dirty="0">
                <a:solidFill>
                  <a:srgbClr val="CCFFCC"/>
                </a:solidFill>
                <a:effectLst>
                  <a:outerShdw blurRad="38100" dist="38100" dir="2700000" algn="tl">
                    <a:srgbClr val="000000"/>
                  </a:outerShdw>
                </a:effectLst>
              </a:rPr>
              <a:t>已知</a:t>
            </a:r>
            <a:r>
              <a:rPr kumimoji="0" lang="en-US" altLang="zh-CN" sz="2800" i="1" dirty="0">
                <a:solidFill>
                  <a:srgbClr val="CCFFCC"/>
                </a:solidFill>
                <a:effectLst>
                  <a:outerShdw blurRad="38100" dist="38100" dir="2700000" algn="tl">
                    <a:srgbClr val="000000"/>
                  </a:outerShdw>
                </a:effectLst>
              </a:rPr>
              <a:t>ρ</a:t>
            </a:r>
            <a:r>
              <a:rPr kumimoji="0" lang="zh-CN" altLang="en-US" sz="2800" dirty="0">
                <a:solidFill>
                  <a:srgbClr val="CCFFCC"/>
                </a:solidFill>
                <a:effectLst>
                  <a:outerShdw blurRad="38100" dist="38100" dir="2700000" algn="tl">
                    <a:srgbClr val="000000"/>
                  </a:outerShdw>
                </a:effectLst>
              </a:rPr>
              <a:t>＝</a:t>
            </a:r>
            <a:r>
              <a:rPr kumimoji="0" lang="en-US" altLang="zh-CN" sz="2800" dirty="0">
                <a:solidFill>
                  <a:srgbClr val="CCFFCC"/>
                </a:solidFill>
                <a:effectLst>
                  <a:outerShdw blurRad="38100" dist="38100" dir="2700000" algn="tl">
                    <a:srgbClr val="000000"/>
                  </a:outerShdw>
                </a:effectLst>
              </a:rPr>
              <a:t>{R</a:t>
            </a:r>
            <a:r>
              <a:rPr kumimoji="0" lang="en-US" altLang="zh-CN" sz="2800" baseline="-25000" dirty="0">
                <a:solidFill>
                  <a:srgbClr val="CCFFCC"/>
                </a:solidFill>
                <a:effectLst>
                  <a:outerShdw blurRad="38100" dist="38100" dir="2700000" algn="tl">
                    <a:srgbClr val="000000"/>
                  </a:outerShdw>
                </a:effectLst>
              </a:rPr>
              <a:t>1</a:t>
            </a:r>
            <a:r>
              <a:rPr kumimoji="0" lang="en-US" altLang="zh-CN" sz="2800" dirty="0">
                <a:solidFill>
                  <a:srgbClr val="CCFFCC"/>
                </a:solidFill>
                <a:effectLst>
                  <a:outerShdw blurRad="38100" dist="38100" dir="2700000" algn="tl">
                    <a:srgbClr val="000000"/>
                  </a:outerShdw>
                </a:effectLst>
              </a:rPr>
              <a:t>(U</a:t>
            </a:r>
            <a:r>
              <a:rPr kumimoji="0" lang="en-US" altLang="zh-CN" sz="2800" baseline="-25000" dirty="0">
                <a:solidFill>
                  <a:srgbClr val="CCFFCC"/>
                </a:solidFill>
                <a:effectLst>
                  <a:outerShdw blurRad="38100" dist="38100" dir="2700000" algn="tl">
                    <a:srgbClr val="000000"/>
                  </a:outerShdw>
                </a:effectLst>
              </a:rPr>
              <a:t>1</a:t>
            </a:r>
            <a:r>
              <a:rPr kumimoji="0" lang="en-US" altLang="zh-CN" sz="2800" dirty="0">
                <a:solidFill>
                  <a:srgbClr val="CCFFCC"/>
                </a:solidFill>
                <a:effectLst>
                  <a:outerShdw blurRad="38100" dist="38100" dir="2700000" algn="tl">
                    <a:srgbClr val="000000"/>
                  </a:outerShdw>
                </a:effectLst>
              </a:rPr>
              <a:t>),R</a:t>
            </a:r>
            <a:r>
              <a:rPr kumimoji="0" lang="en-US" altLang="zh-CN" sz="2800" baseline="-25000" dirty="0">
                <a:solidFill>
                  <a:srgbClr val="CCFFCC"/>
                </a:solidFill>
                <a:effectLst>
                  <a:outerShdw blurRad="38100" dist="38100" dir="2700000" algn="tl">
                    <a:srgbClr val="000000"/>
                  </a:outerShdw>
                </a:effectLst>
              </a:rPr>
              <a:t>2</a:t>
            </a:r>
            <a:r>
              <a:rPr kumimoji="0" lang="en-US" altLang="zh-CN" sz="2800" dirty="0">
                <a:solidFill>
                  <a:srgbClr val="CCFFCC"/>
                </a:solidFill>
                <a:effectLst>
                  <a:outerShdw blurRad="38100" dist="38100" dir="2700000" algn="tl">
                    <a:srgbClr val="000000"/>
                  </a:outerShdw>
                </a:effectLst>
              </a:rPr>
              <a:t>(U</a:t>
            </a:r>
            <a:r>
              <a:rPr kumimoji="0" lang="en-US" altLang="zh-CN" sz="2800" baseline="-25000" dirty="0">
                <a:solidFill>
                  <a:srgbClr val="CCFFCC"/>
                </a:solidFill>
                <a:effectLst>
                  <a:outerShdw blurRad="38100" dist="38100" dir="2700000" algn="tl">
                    <a:srgbClr val="000000"/>
                  </a:outerShdw>
                </a:effectLst>
              </a:rPr>
              <a:t>2</a:t>
            </a:r>
            <a:r>
              <a:rPr kumimoji="0" lang="en-US" altLang="zh-CN" sz="2800" dirty="0">
                <a:solidFill>
                  <a:srgbClr val="CCFFCC"/>
                </a:solidFill>
                <a:effectLst>
                  <a:outerShdw blurRad="38100" dist="38100" dir="2700000" algn="tl">
                    <a:srgbClr val="000000"/>
                  </a:outerShdw>
                </a:effectLst>
              </a:rPr>
              <a:t>),</a:t>
            </a:r>
            <a:r>
              <a:rPr kumimoji="0" lang="en-US" altLang="zh-CN" sz="2800" dirty="0">
                <a:solidFill>
                  <a:srgbClr val="CCFFCC"/>
                </a:solidFill>
                <a:effectLst>
                  <a:outerShdw blurRad="38100" dist="38100" dir="2700000" algn="tl">
                    <a:srgbClr val="000000"/>
                  </a:outerShdw>
                </a:effectLst>
                <a:latin typeface="Times New Roman"/>
              </a:rPr>
              <a:t>…</a:t>
            </a:r>
            <a:r>
              <a:rPr kumimoji="0" lang="en-US" altLang="zh-CN" sz="2800" dirty="0">
                <a:solidFill>
                  <a:srgbClr val="CCFFCC"/>
                </a:solidFill>
                <a:effectLst>
                  <a:outerShdw blurRad="38100" dist="38100" dir="2700000" algn="tl">
                    <a:srgbClr val="000000"/>
                  </a:outerShdw>
                </a:effectLst>
              </a:rPr>
              <a:t>,</a:t>
            </a:r>
            <a:r>
              <a:rPr kumimoji="0" lang="en-US" altLang="zh-CN" sz="2800" dirty="0" err="1">
                <a:solidFill>
                  <a:srgbClr val="CCFFCC"/>
                </a:solidFill>
                <a:effectLst>
                  <a:outerShdw blurRad="38100" dist="38100" dir="2700000" algn="tl">
                    <a:srgbClr val="000000"/>
                  </a:outerShdw>
                </a:effectLst>
              </a:rPr>
              <a:t>R</a:t>
            </a:r>
            <a:r>
              <a:rPr kumimoji="0" lang="en-US" altLang="zh-CN" sz="2800" baseline="-25000" dirty="0" err="1">
                <a:solidFill>
                  <a:srgbClr val="CCFFCC"/>
                </a:solidFill>
                <a:effectLst>
                  <a:outerShdw blurRad="38100" dist="38100" dir="2700000" algn="tl">
                    <a:srgbClr val="000000"/>
                  </a:outerShdw>
                </a:effectLst>
              </a:rPr>
              <a:t>k</a:t>
            </a:r>
            <a:r>
              <a:rPr kumimoji="0" lang="en-US" altLang="zh-CN" sz="2800" dirty="0">
                <a:solidFill>
                  <a:srgbClr val="CCFFCC"/>
                </a:solidFill>
                <a:effectLst>
                  <a:outerShdw blurRad="38100" dist="38100" dir="2700000" algn="tl">
                    <a:srgbClr val="000000"/>
                  </a:outerShdw>
                </a:effectLst>
              </a:rPr>
              <a:t>(</a:t>
            </a:r>
            <a:r>
              <a:rPr kumimoji="0" lang="en-US" altLang="zh-CN" sz="2800" dirty="0" err="1">
                <a:solidFill>
                  <a:srgbClr val="CCFFCC"/>
                </a:solidFill>
                <a:effectLst>
                  <a:outerShdw blurRad="38100" dist="38100" dir="2700000" algn="tl">
                    <a:srgbClr val="000000"/>
                  </a:outerShdw>
                </a:effectLst>
              </a:rPr>
              <a:t>U</a:t>
            </a:r>
            <a:r>
              <a:rPr kumimoji="0" lang="en-US" altLang="zh-CN" sz="2800" baseline="-25000" dirty="0" err="1">
                <a:solidFill>
                  <a:srgbClr val="CCFFCC"/>
                </a:solidFill>
                <a:effectLst>
                  <a:outerShdw blurRad="38100" dist="38100" dir="2700000" algn="tl">
                    <a:srgbClr val="000000"/>
                  </a:outerShdw>
                </a:effectLst>
              </a:rPr>
              <a:t>k</a:t>
            </a:r>
            <a:r>
              <a:rPr kumimoji="0" lang="en-US" altLang="zh-CN" sz="2800" dirty="0">
                <a:solidFill>
                  <a:srgbClr val="CCFFCC"/>
                </a:solidFill>
                <a:effectLst>
                  <a:outerShdw blurRad="38100" dist="38100" dir="2700000" algn="tl">
                    <a:srgbClr val="000000"/>
                  </a:outerShdw>
                </a:effectLst>
              </a:rPr>
              <a:t>)}</a:t>
            </a:r>
            <a:r>
              <a:rPr kumimoji="0" lang="zh-CN" altLang="en-US" sz="2800" dirty="0">
                <a:solidFill>
                  <a:srgbClr val="CCFFCC"/>
                </a:solidFill>
                <a:effectLst>
                  <a:outerShdw blurRad="38100" dist="38100" dir="2700000" algn="tl">
                    <a:srgbClr val="000000"/>
                  </a:outerShdw>
                </a:effectLst>
              </a:rPr>
              <a:t>是由</a:t>
            </a:r>
            <a:r>
              <a:rPr kumimoji="0" lang="en-US" altLang="zh-CN" sz="2800" dirty="0">
                <a:solidFill>
                  <a:srgbClr val="CCFFCC"/>
                </a:solidFill>
                <a:effectLst>
                  <a:outerShdw blurRad="38100" dist="38100" dir="2700000" algn="tl">
                    <a:srgbClr val="000000"/>
                  </a:outerShdw>
                </a:effectLst>
              </a:rPr>
              <a:t>R(U,F)</a:t>
            </a:r>
            <a:r>
              <a:rPr kumimoji="0" lang="zh-CN" altLang="en-US" sz="2800" dirty="0">
                <a:solidFill>
                  <a:srgbClr val="CCFFCC"/>
                </a:solidFill>
                <a:effectLst>
                  <a:outerShdw blurRad="38100" dist="38100" dir="2700000" algn="tl">
                    <a:srgbClr val="000000"/>
                  </a:outerShdw>
                </a:effectLst>
              </a:rPr>
              <a:t>按前面算法得到的一个保持函数依赖的分解。设</a:t>
            </a:r>
            <a:r>
              <a:rPr kumimoji="0" lang="en-US" altLang="zh-CN" sz="2800" dirty="0">
                <a:solidFill>
                  <a:srgbClr val="CCFFCC"/>
                </a:solidFill>
                <a:effectLst>
                  <a:outerShdw blurRad="38100" dist="38100" dir="2700000" algn="tl">
                    <a:srgbClr val="000000"/>
                  </a:outerShdw>
                </a:effectLst>
              </a:rPr>
              <a:t>X</a:t>
            </a:r>
            <a:r>
              <a:rPr kumimoji="0" lang="zh-CN" altLang="en-US" sz="2800" dirty="0">
                <a:solidFill>
                  <a:srgbClr val="CCFFCC"/>
                </a:solidFill>
                <a:effectLst>
                  <a:outerShdw blurRad="38100" dist="38100" dir="2700000" algn="tl">
                    <a:srgbClr val="000000"/>
                  </a:outerShdw>
                </a:effectLst>
              </a:rPr>
              <a:t>是</a:t>
            </a:r>
            <a:r>
              <a:rPr kumimoji="0" lang="en-US" altLang="zh-CN" sz="2800" dirty="0">
                <a:solidFill>
                  <a:srgbClr val="CCFFCC"/>
                </a:solidFill>
                <a:effectLst>
                  <a:outerShdw blurRad="38100" dist="38100" dir="2700000" algn="tl">
                    <a:srgbClr val="000000"/>
                  </a:outerShdw>
                </a:effectLst>
              </a:rPr>
              <a:t>R(U)</a:t>
            </a:r>
            <a:r>
              <a:rPr kumimoji="0" lang="zh-CN" altLang="en-US" sz="2800" dirty="0">
                <a:solidFill>
                  <a:srgbClr val="CCFFCC"/>
                </a:solidFill>
                <a:effectLst>
                  <a:outerShdw blurRad="38100" dist="38100" dir="2700000" algn="tl">
                    <a:srgbClr val="000000"/>
                  </a:outerShdw>
                </a:effectLst>
              </a:rPr>
              <a:t>的一个</a:t>
            </a:r>
            <a:r>
              <a:rPr kumimoji="0" lang="zh-CN" altLang="en-US" sz="2800" dirty="0" smtClean="0">
                <a:solidFill>
                  <a:srgbClr val="CCFFCC"/>
                </a:solidFill>
                <a:effectLst>
                  <a:outerShdw blurRad="38100" dist="38100" dir="2700000" algn="tl">
                    <a:srgbClr val="000000"/>
                  </a:outerShdw>
                </a:effectLst>
              </a:rPr>
              <a:t>候选键，</a:t>
            </a:r>
            <a:r>
              <a:rPr kumimoji="0" lang="zh-CN" altLang="en-US" sz="2800" dirty="0">
                <a:solidFill>
                  <a:srgbClr val="CCFFCC"/>
                </a:solidFill>
                <a:effectLst>
                  <a:outerShdw blurRad="38100" dist="38100" dir="2700000" algn="tl">
                    <a:srgbClr val="000000"/>
                  </a:outerShdw>
                </a:effectLst>
              </a:rPr>
              <a:t>若存在某个</a:t>
            </a:r>
            <a:r>
              <a:rPr kumimoji="0" lang="en-US" altLang="zh-CN" sz="2800" dirty="0" err="1">
                <a:solidFill>
                  <a:srgbClr val="CCFFCC"/>
                </a:solidFill>
                <a:effectLst>
                  <a:outerShdw blurRad="38100" dist="38100" dir="2700000" algn="tl">
                    <a:srgbClr val="000000"/>
                  </a:outerShdw>
                </a:effectLst>
              </a:rPr>
              <a:t>U</a:t>
            </a:r>
            <a:r>
              <a:rPr kumimoji="0" lang="en-US" altLang="zh-CN" sz="2800" baseline="-25000" dirty="0" err="1">
                <a:solidFill>
                  <a:srgbClr val="CCFFCC"/>
                </a:solidFill>
                <a:effectLst>
                  <a:outerShdw blurRad="38100" dist="38100" dir="2700000" algn="tl">
                    <a:srgbClr val="000000"/>
                  </a:outerShdw>
                </a:effectLst>
              </a:rPr>
              <a:t>i</a:t>
            </a:r>
            <a:r>
              <a:rPr kumimoji="0" lang="zh-CN" altLang="en-US" sz="2800" dirty="0">
                <a:solidFill>
                  <a:srgbClr val="CCFFCC"/>
                </a:solidFill>
                <a:effectLst>
                  <a:outerShdw blurRad="38100" dist="38100" dir="2700000" algn="tl">
                    <a:srgbClr val="000000"/>
                  </a:outerShdw>
                </a:effectLst>
              </a:rPr>
              <a:t>使</a:t>
            </a:r>
            <a:r>
              <a:rPr kumimoji="0" lang="en-US" altLang="zh-CN" sz="2800" dirty="0" err="1">
                <a:solidFill>
                  <a:srgbClr val="CCFFCC"/>
                </a:solidFill>
                <a:effectLst>
                  <a:outerShdw blurRad="38100" dist="38100" dir="2700000" algn="tl">
                    <a:srgbClr val="000000"/>
                  </a:outerShdw>
                </a:effectLst>
              </a:rPr>
              <a:t>X</a:t>
            </a:r>
            <a:r>
              <a:rPr kumimoji="0" lang="en-US" altLang="zh-CN" sz="2800" dirty="0" err="1">
                <a:solidFill>
                  <a:srgbClr val="CCFFCC"/>
                </a:solidFill>
                <a:effectLst>
                  <a:outerShdw blurRad="38100" dist="38100" dir="2700000" algn="tl">
                    <a:srgbClr val="000000"/>
                  </a:outerShdw>
                </a:effectLst>
                <a:sym typeface="Symbol" pitchFamily="18" charset="2"/>
              </a:rPr>
              <a:t></a:t>
            </a:r>
            <a:r>
              <a:rPr kumimoji="0" lang="en-US" altLang="zh-CN" sz="2800" dirty="0" err="1">
                <a:solidFill>
                  <a:srgbClr val="CCFFCC"/>
                </a:solidFill>
                <a:effectLst>
                  <a:outerShdw blurRad="38100" dist="38100" dir="2700000" algn="tl">
                    <a:srgbClr val="000000"/>
                  </a:outerShdw>
                </a:effectLst>
              </a:rPr>
              <a:t>U</a:t>
            </a:r>
            <a:r>
              <a:rPr kumimoji="0" lang="en-US" altLang="zh-CN" sz="2800" baseline="-25000" dirty="0" err="1">
                <a:solidFill>
                  <a:srgbClr val="CCFFCC"/>
                </a:solidFill>
                <a:effectLst>
                  <a:outerShdw blurRad="38100" dist="38100" dir="2700000" algn="tl">
                    <a:srgbClr val="000000"/>
                  </a:outerShdw>
                </a:effectLst>
              </a:rPr>
              <a:t>i</a:t>
            </a:r>
            <a:r>
              <a:rPr kumimoji="0" lang="zh-CN" altLang="en-US" sz="2800" dirty="0">
                <a:solidFill>
                  <a:srgbClr val="CCFFCC"/>
                </a:solidFill>
                <a:effectLst>
                  <a:outerShdw blurRad="38100" dist="38100" dir="2700000" algn="tl">
                    <a:srgbClr val="000000"/>
                  </a:outerShdw>
                </a:effectLst>
              </a:rPr>
              <a:t>，则令</a:t>
            </a:r>
            <a:r>
              <a:rPr kumimoji="0" lang="en-US" altLang="zh-CN" sz="2800" i="1" dirty="0">
                <a:solidFill>
                  <a:srgbClr val="CCFFCC"/>
                </a:solidFill>
                <a:effectLst>
                  <a:outerShdw blurRad="38100" dist="38100" dir="2700000" algn="tl">
                    <a:srgbClr val="000000"/>
                  </a:outerShdw>
                </a:effectLst>
              </a:rPr>
              <a:t>τ</a:t>
            </a:r>
            <a:r>
              <a:rPr kumimoji="0" lang="en-US" altLang="zh-CN" sz="2800" dirty="0">
                <a:solidFill>
                  <a:srgbClr val="CCFFCC"/>
                </a:solidFill>
                <a:effectLst>
                  <a:outerShdw blurRad="38100" dist="38100" dir="2700000" algn="tl">
                    <a:srgbClr val="000000"/>
                  </a:outerShdw>
                </a:effectLst>
              </a:rPr>
              <a:t>=</a:t>
            </a:r>
            <a:r>
              <a:rPr kumimoji="0" lang="en-US" altLang="zh-CN" sz="2800" i="1" dirty="0">
                <a:solidFill>
                  <a:srgbClr val="CCFFCC"/>
                </a:solidFill>
                <a:effectLst>
                  <a:outerShdw blurRad="38100" dist="38100" dir="2700000" algn="tl">
                    <a:srgbClr val="000000"/>
                  </a:outerShdw>
                </a:effectLst>
              </a:rPr>
              <a:t>ρ</a:t>
            </a:r>
            <a:r>
              <a:rPr kumimoji="0" lang="zh-CN" altLang="en-US" sz="2800" dirty="0">
                <a:solidFill>
                  <a:srgbClr val="CCFFCC"/>
                </a:solidFill>
                <a:effectLst>
                  <a:outerShdw blurRad="38100" dist="38100" dir="2700000" algn="tl">
                    <a:srgbClr val="000000"/>
                  </a:outerShdw>
                </a:effectLst>
              </a:rPr>
              <a:t>，否则令</a:t>
            </a:r>
            <a:r>
              <a:rPr kumimoji="0" lang="en-US" altLang="zh-CN" sz="2800" i="1" dirty="0">
                <a:solidFill>
                  <a:srgbClr val="CCFFCC"/>
                </a:solidFill>
                <a:effectLst>
                  <a:outerShdw blurRad="38100" dist="38100" dir="2700000" algn="tl">
                    <a:srgbClr val="000000"/>
                  </a:outerShdw>
                </a:effectLst>
              </a:rPr>
              <a:t>τ</a:t>
            </a:r>
            <a:r>
              <a:rPr kumimoji="0" lang="en-US" altLang="zh-CN" sz="2800" dirty="0">
                <a:solidFill>
                  <a:srgbClr val="CCFFCC"/>
                </a:solidFill>
                <a:effectLst>
                  <a:outerShdw blurRad="38100" dist="38100" dir="2700000" algn="tl">
                    <a:srgbClr val="000000"/>
                  </a:outerShdw>
                </a:effectLst>
              </a:rPr>
              <a:t>=</a:t>
            </a:r>
            <a:r>
              <a:rPr kumimoji="0" lang="en-US" altLang="zh-CN" sz="2800" i="1" dirty="0">
                <a:solidFill>
                  <a:srgbClr val="CCFFCC"/>
                </a:solidFill>
                <a:effectLst>
                  <a:outerShdw blurRad="38100" dist="38100" dir="2700000" algn="tl">
                    <a:srgbClr val="000000"/>
                  </a:outerShdw>
                </a:effectLst>
              </a:rPr>
              <a:t>ρ</a:t>
            </a:r>
            <a:r>
              <a:rPr kumimoji="0" lang="en-US" altLang="zh-CN" sz="2800" dirty="0">
                <a:solidFill>
                  <a:srgbClr val="CCFFCC"/>
                </a:solidFill>
                <a:effectLst>
                  <a:outerShdw blurRad="38100" dist="38100" dir="2700000" algn="tl">
                    <a:srgbClr val="000000"/>
                  </a:outerShdw>
                </a:effectLst>
              </a:rPr>
              <a:t>∪{R(X)}</a:t>
            </a:r>
            <a:r>
              <a:rPr kumimoji="0" lang="zh-CN" altLang="en-US" sz="2800" dirty="0">
                <a:solidFill>
                  <a:srgbClr val="CCFFCC"/>
                </a:solidFill>
                <a:effectLst>
                  <a:outerShdw blurRad="38100" dist="38100" dir="2700000" algn="tl">
                    <a:srgbClr val="000000"/>
                  </a:outerShdw>
                </a:effectLst>
              </a:rPr>
              <a:t>。</a:t>
            </a:r>
            <a:r>
              <a:rPr kumimoji="0" lang="en-US" altLang="zh-CN" sz="2800" i="1" dirty="0">
                <a:solidFill>
                  <a:srgbClr val="CCFFCC"/>
                </a:solidFill>
                <a:effectLst>
                  <a:outerShdw blurRad="38100" dist="38100" dir="2700000" algn="tl">
                    <a:srgbClr val="000000"/>
                  </a:outerShdw>
                </a:effectLst>
              </a:rPr>
              <a:t>τ</a:t>
            </a:r>
            <a:r>
              <a:rPr kumimoji="0" lang="zh-CN" altLang="en-US" sz="2800" dirty="0">
                <a:solidFill>
                  <a:srgbClr val="CCFFCC"/>
                </a:solidFill>
                <a:effectLst>
                  <a:outerShdw blurRad="38100" dist="38100" dir="2700000" algn="tl">
                    <a:srgbClr val="000000"/>
                  </a:outerShdw>
                </a:effectLst>
              </a:rPr>
              <a:t>就是所需的分解。</a:t>
            </a:r>
          </a:p>
        </p:txBody>
      </p:sp>
      <p:sp>
        <p:nvSpPr>
          <p:cNvPr id="1548294" name="Text Box 6"/>
          <p:cNvSpPr txBox="1">
            <a:spLocks noChangeArrowheads="1"/>
          </p:cNvSpPr>
          <p:nvPr/>
        </p:nvSpPr>
        <p:spPr bwMode="auto">
          <a:xfrm>
            <a:off x="603250" y="4510088"/>
            <a:ext cx="8382000" cy="647700"/>
          </a:xfrm>
          <a:prstGeom prst="rect">
            <a:avLst/>
          </a:prstGeom>
          <a:noFill/>
          <a:ln w="12700" cap="sq">
            <a:noFill/>
            <a:miter lim="800000"/>
            <a:headEnd type="none" w="sm" len="sm"/>
            <a:tailEnd type="none" w="sm" len="sm"/>
          </a:ln>
          <a:effectLst/>
        </p:spPr>
        <p:txBody>
          <a:bodyPr/>
          <a:lstStyle/>
          <a:p>
            <a:pPr>
              <a:spcAft>
                <a:spcPct val="0"/>
              </a:spcAft>
              <a:buSzTx/>
              <a:buFontTx/>
              <a:buNone/>
              <a:defRPr/>
            </a:pPr>
            <a:r>
              <a:rPr kumimoji="0" lang="zh-CN" altLang="en-US" sz="2800" dirty="0">
                <a:solidFill>
                  <a:srgbClr val="99FF33"/>
                </a:solidFill>
                <a:effectLst>
                  <a:outerShdw blurRad="38100" dist="38100" dir="2700000" algn="tl">
                    <a:srgbClr val="000000"/>
                  </a:outerShdw>
                </a:effectLst>
              </a:rPr>
              <a:t>由</a:t>
            </a:r>
            <a:r>
              <a:rPr kumimoji="0" lang="zh-CN" altLang="zh-CN" sz="2800" dirty="0">
                <a:solidFill>
                  <a:srgbClr val="99FF33"/>
                </a:solidFill>
                <a:effectLst>
                  <a:outerShdw blurRad="38100" dist="38100" dir="2700000" algn="tl">
                    <a:srgbClr val="000000"/>
                  </a:outerShdw>
                </a:effectLst>
              </a:rPr>
              <a:t>关系模式</a:t>
            </a:r>
            <a:r>
              <a:rPr kumimoji="0" lang="zh-CN" altLang="en-US" sz="2800" dirty="0">
                <a:solidFill>
                  <a:srgbClr val="99FF33"/>
                </a:solidFill>
                <a:effectLst>
                  <a:outerShdw blurRad="38100" dist="38100" dir="2700000" algn="tl">
                    <a:srgbClr val="000000"/>
                  </a:outerShdw>
                </a:effectLst>
              </a:rPr>
              <a:t>R</a:t>
            </a:r>
            <a:r>
              <a:rPr kumimoji="0" lang="en-US" altLang="zh-CN" sz="2800" dirty="0">
                <a:solidFill>
                  <a:srgbClr val="99FF33"/>
                </a:solidFill>
                <a:effectLst>
                  <a:outerShdw blurRad="38100" dist="38100" dir="2700000" algn="tl">
                    <a:srgbClr val="000000"/>
                  </a:outerShdw>
                </a:effectLst>
              </a:rPr>
              <a:t>(</a:t>
            </a:r>
            <a:r>
              <a:rPr kumimoji="0" lang="zh-CN" altLang="zh-CN" sz="2800" dirty="0">
                <a:solidFill>
                  <a:srgbClr val="99FF33"/>
                </a:solidFill>
                <a:effectLst>
                  <a:outerShdw blurRad="38100" dist="38100" dir="2700000" algn="tl">
                    <a:srgbClr val="000000"/>
                  </a:outerShdw>
                </a:effectLst>
              </a:rPr>
              <a:t>CTHRSG</a:t>
            </a:r>
            <a:r>
              <a:rPr kumimoji="0" lang="zh-CN" altLang="en-US" sz="2800" dirty="0">
                <a:solidFill>
                  <a:srgbClr val="99FF33"/>
                </a:solidFill>
                <a:effectLst>
                  <a:outerShdw blurRad="38100" dist="38100" dir="2700000" algn="tl">
                    <a:srgbClr val="000000"/>
                  </a:outerShdw>
                </a:effectLst>
              </a:rPr>
              <a:t>，</a:t>
            </a:r>
            <a:r>
              <a:rPr kumimoji="0" lang="zh-CN" altLang="zh-CN" sz="2800" dirty="0">
                <a:solidFill>
                  <a:srgbClr val="99FF33"/>
                </a:solidFill>
                <a:effectLst>
                  <a:outerShdw blurRad="38100" dist="38100" dir="2700000" algn="tl">
                    <a:srgbClr val="000000"/>
                  </a:outerShdw>
                </a:effectLst>
              </a:rPr>
              <a:t>{C→T,CS→G,HR→C,HS→R,</a:t>
            </a:r>
            <a:r>
              <a:rPr kumimoji="0" lang="zh-CN" altLang="en-US" sz="2800" dirty="0">
                <a:solidFill>
                  <a:srgbClr val="99FF33"/>
                </a:solidFill>
                <a:effectLst>
                  <a:outerShdw blurRad="38100" dist="38100" dir="2700000" algn="tl">
                    <a:srgbClr val="000000"/>
                  </a:outerShdw>
                </a:effectLst>
              </a:rPr>
              <a:t> </a:t>
            </a:r>
            <a:r>
              <a:rPr kumimoji="0" lang="zh-CN" altLang="zh-CN" sz="2800" dirty="0">
                <a:solidFill>
                  <a:srgbClr val="99FF33"/>
                </a:solidFill>
                <a:effectLst>
                  <a:outerShdw blurRad="38100" dist="38100" dir="2700000" algn="tl">
                    <a:srgbClr val="000000"/>
                  </a:outerShdw>
                </a:effectLst>
              </a:rPr>
              <a:t>TH→R}</a:t>
            </a:r>
            <a:r>
              <a:rPr kumimoji="0" lang="zh-CN" altLang="en-US" sz="2800" dirty="0">
                <a:solidFill>
                  <a:srgbClr val="99FF33"/>
                </a:solidFill>
                <a:effectLst>
                  <a:outerShdw blurRad="38100" dist="38100" dir="2700000" algn="tl">
                    <a:srgbClr val="000000"/>
                  </a:outerShdw>
                </a:effectLst>
              </a:rPr>
              <a:t>)可得保持函数依赖的</a:t>
            </a:r>
            <a:r>
              <a:rPr kumimoji="0" lang="en-US" altLang="zh-CN" sz="2800" dirty="0">
                <a:solidFill>
                  <a:srgbClr val="99FF33"/>
                </a:solidFill>
                <a:effectLst>
                  <a:outerShdw blurRad="38100" dist="38100" dir="2700000" algn="tl">
                    <a:srgbClr val="000000"/>
                  </a:outerShdw>
                </a:effectLst>
              </a:rPr>
              <a:t>3NF</a:t>
            </a:r>
            <a:r>
              <a:rPr kumimoji="0" lang="zh-CN" altLang="en-US" sz="2800" dirty="0">
                <a:solidFill>
                  <a:srgbClr val="99FF33"/>
                </a:solidFill>
                <a:effectLst>
                  <a:outerShdw blurRad="38100" dist="38100" dir="2700000" algn="tl">
                    <a:srgbClr val="000000"/>
                  </a:outerShdw>
                </a:effectLst>
              </a:rPr>
              <a:t>分解</a:t>
            </a:r>
            <a:r>
              <a:rPr kumimoji="0" lang="zh-CN" altLang="zh-CN" sz="2800" dirty="0">
                <a:solidFill>
                  <a:srgbClr val="99FF33"/>
                </a:solidFill>
                <a:effectLst>
                  <a:outerShdw blurRad="38100" dist="38100" dir="2700000" algn="tl">
                    <a:srgbClr val="000000"/>
                  </a:outerShdw>
                </a:effectLst>
              </a:rPr>
              <a:t>ρ={CT，CSG，HR</a:t>
            </a:r>
            <a:r>
              <a:rPr kumimoji="0" lang="zh-CN" altLang="en-US" sz="2800" dirty="0">
                <a:solidFill>
                  <a:srgbClr val="99FF33"/>
                </a:solidFill>
                <a:effectLst>
                  <a:outerShdw blurRad="38100" dist="38100" dir="2700000" algn="tl">
                    <a:srgbClr val="000000"/>
                  </a:outerShdw>
                </a:effectLst>
              </a:rPr>
              <a:t>C</a:t>
            </a:r>
            <a:r>
              <a:rPr kumimoji="0" lang="zh-CN" altLang="zh-CN" sz="2800" dirty="0">
                <a:solidFill>
                  <a:srgbClr val="99FF33"/>
                </a:solidFill>
                <a:effectLst>
                  <a:outerShdw blurRad="38100" dist="38100" dir="2700000" algn="tl">
                    <a:srgbClr val="000000"/>
                  </a:outerShdw>
                </a:effectLst>
              </a:rPr>
              <a:t>，HSR，HRT}</a:t>
            </a:r>
            <a:r>
              <a:rPr kumimoji="0" lang="zh-CN" altLang="en-US" sz="2800" dirty="0">
                <a:solidFill>
                  <a:srgbClr val="99FF33"/>
                </a:solidFill>
                <a:effectLst>
                  <a:outerShdw blurRad="38100" dist="38100" dir="2700000" algn="tl">
                    <a:srgbClr val="000000"/>
                  </a:outerShdw>
                </a:effectLst>
              </a:rPr>
              <a:t>，容易得出</a:t>
            </a:r>
            <a:r>
              <a:rPr kumimoji="0" lang="en-US" altLang="zh-CN" sz="2800" dirty="0">
                <a:solidFill>
                  <a:srgbClr val="99FF33"/>
                </a:solidFill>
                <a:effectLst>
                  <a:outerShdw blurRad="38100" dist="38100" dir="2700000" algn="tl">
                    <a:srgbClr val="000000"/>
                  </a:outerShdw>
                </a:effectLst>
              </a:rPr>
              <a:t>R</a:t>
            </a:r>
            <a:r>
              <a:rPr kumimoji="0" lang="zh-CN" altLang="en-US" sz="2800" dirty="0">
                <a:solidFill>
                  <a:srgbClr val="99FF33"/>
                </a:solidFill>
                <a:effectLst>
                  <a:outerShdw blurRad="38100" dist="38100" dir="2700000" algn="tl">
                    <a:srgbClr val="000000"/>
                  </a:outerShdw>
                </a:effectLst>
              </a:rPr>
              <a:t>的一个</a:t>
            </a:r>
            <a:r>
              <a:rPr kumimoji="0" lang="zh-CN" altLang="en-US" sz="2800" dirty="0" smtClean="0">
                <a:solidFill>
                  <a:srgbClr val="99FF33"/>
                </a:solidFill>
                <a:effectLst>
                  <a:outerShdw blurRad="38100" dist="38100" dir="2700000" algn="tl">
                    <a:srgbClr val="000000"/>
                  </a:outerShdw>
                </a:effectLst>
              </a:rPr>
              <a:t>候选键为</a:t>
            </a:r>
            <a:r>
              <a:rPr kumimoji="0" lang="en-US" altLang="zh-CN" sz="2800" dirty="0">
                <a:solidFill>
                  <a:srgbClr val="99FF33"/>
                </a:solidFill>
                <a:effectLst>
                  <a:outerShdw blurRad="38100" dist="38100" dir="2700000" algn="tl">
                    <a:srgbClr val="000000"/>
                  </a:outerShdw>
                </a:effectLst>
              </a:rPr>
              <a:t>HS</a:t>
            </a:r>
            <a:r>
              <a:rPr kumimoji="0" lang="zh-CN" altLang="en-US" sz="2800" dirty="0">
                <a:solidFill>
                  <a:srgbClr val="99FF33"/>
                </a:solidFill>
                <a:effectLst>
                  <a:outerShdw blurRad="38100" dist="38100" dir="2700000" algn="tl">
                    <a:srgbClr val="000000"/>
                  </a:outerShdw>
                </a:effectLst>
              </a:rPr>
              <a:t>，因</a:t>
            </a:r>
            <a:r>
              <a:rPr kumimoji="0" lang="en-US" altLang="zh-CN" sz="2800" dirty="0">
                <a:solidFill>
                  <a:srgbClr val="99FF33"/>
                </a:solidFill>
                <a:effectLst>
                  <a:outerShdw blurRad="38100" dist="38100" dir="2700000" algn="tl">
                    <a:srgbClr val="000000"/>
                  </a:outerShdw>
                </a:effectLst>
              </a:rPr>
              <a:t>HS</a:t>
            </a:r>
            <a:r>
              <a:rPr kumimoji="0" lang="en-US" altLang="zh-CN" sz="2800" dirty="0">
                <a:solidFill>
                  <a:srgbClr val="99FF33"/>
                </a:solidFill>
                <a:effectLst>
                  <a:outerShdw blurRad="38100" dist="38100" dir="2700000" algn="tl">
                    <a:srgbClr val="000000"/>
                  </a:outerShdw>
                </a:effectLst>
                <a:sym typeface="Symbol" pitchFamily="18" charset="2"/>
              </a:rPr>
              <a:t></a:t>
            </a:r>
            <a:r>
              <a:rPr kumimoji="0" lang="zh-CN" altLang="zh-CN" sz="2800" dirty="0">
                <a:solidFill>
                  <a:srgbClr val="99FF33"/>
                </a:solidFill>
                <a:effectLst>
                  <a:outerShdw blurRad="38100" dist="38100" dir="2700000" algn="tl">
                    <a:srgbClr val="000000"/>
                  </a:outerShdw>
                </a:effectLst>
              </a:rPr>
              <a:t>HSR</a:t>
            </a:r>
            <a:r>
              <a:rPr kumimoji="0" lang="zh-CN" altLang="en-US" sz="2800" dirty="0">
                <a:solidFill>
                  <a:srgbClr val="99FF33"/>
                </a:solidFill>
                <a:effectLst>
                  <a:outerShdw blurRad="38100" dist="38100" dir="2700000" algn="tl">
                    <a:srgbClr val="000000"/>
                  </a:outerShdw>
                </a:effectLst>
              </a:rPr>
              <a:t>，所以该分解也是无损连接分解。</a:t>
            </a:r>
            <a:endParaRPr kumimoji="0" lang="zh-CN" altLang="zh-CN" sz="2800" dirty="0">
              <a:solidFill>
                <a:srgbClr val="99FF33"/>
              </a:solidFill>
              <a:effectLst>
                <a:outerShdw blurRad="38100" dist="38100" dir="2700000" algn="tl">
                  <a:srgbClr val="000000"/>
                </a:outerShdw>
              </a:effectLst>
            </a:endParaRP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Rectangle 3"/>
          <p:cNvSpPr>
            <a:spLocks noGrp="1" noChangeArrowheads="1"/>
          </p:cNvSpPr>
          <p:nvPr>
            <p:ph type="title"/>
          </p:nvPr>
        </p:nvSpPr>
        <p:spPr>
          <a:xfrm>
            <a:off x="-12073" y="0"/>
            <a:ext cx="8516938" cy="760959"/>
          </a:xfrm>
          <a:noFill/>
          <a:ln w="12700" cap="sq">
            <a:noFill/>
            <a:miter lim="800000"/>
            <a:headEnd/>
            <a:tailEnd/>
          </a:ln>
          <a:effectLst>
            <a:outerShdw dist="35921" dir="2700000" algn="ctr" rotWithShape="0">
              <a:schemeClr val="bg2"/>
            </a:outerShdw>
          </a:effectLst>
          <a:extLst/>
        </p:spPr>
        <p:txBody>
          <a:bodyPr wrap="square" lIns="72000" tIns="72000" rIns="72000" bIns="72000">
            <a:spAutoFit/>
          </a:bodyPr>
          <a:lstStyle/>
          <a:p>
            <a:pPr>
              <a:spcBef>
                <a:spcPts val="0"/>
              </a:spcBef>
              <a:spcAft>
                <a:spcPct val="25000"/>
              </a:spcAft>
              <a:buSzPct val="80000"/>
              <a:buFont typeface="Wingdings" pitchFamily="2" charset="2"/>
              <a:buNone/>
            </a:pPr>
            <a:r>
              <a:rPr kumimoji="1" lang="zh-CN" altLang="en-US" sz="4000" b="1" kern="1200" dirty="0">
                <a:solidFill>
                  <a:srgbClr val="FFFFCC"/>
                </a:solidFill>
                <a:effectLst>
                  <a:outerShdw blurRad="38100" dist="38100" dir="2700000" algn="tl">
                    <a:srgbClr val="000000"/>
                  </a:outerShdw>
                </a:effectLst>
                <a:latin typeface="Arial" pitchFamily="34" charset="0"/>
                <a:ea typeface="微软雅黑" pitchFamily="34" charset="-122"/>
              </a:rPr>
              <a:t>分解成</a:t>
            </a:r>
            <a:r>
              <a:rPr kumimoji="1" lang="en-US" altLang="zh-CN" sz="4000" b="1" kern="1200" dirty="0">
                <a:solidFill>
                  <a:srgbClr val="FFFFCC"/>
                </a:solidFill>
                <a:effectLst>
                  <a:outerShdw blurRad="38100" dist="38100" dir="2700000" algn="tl">
                    <a:srgbClr val="000000"/>
                  </a:outerShdw>
                </a:effectLst>
                <a:latin typeface="Arial" pitchFamily="34" charset="0"/>
                <a:ea typeface="微软雅黑" pitchFamily="34" charset="-122"/>
              </a:rPr>
              <a:t>3NF</a:t>
            </a:r>
            <a:r>
              <a:rPr kumimoji="1" lang="zh-CN" altLang="en-US" sz="4000" b="1" kern="1200" dirty="0">
                <a:solidFill>
                  <a:srgbClr val="FFFFCC"/>
                </a:solidFill>
                <a:effectLst>
                  <a:outerShdw blurRad="38100" dist="38100" dir="2700000" algn="tl">
                    <a:srgbClr val="000000"/>
                  </a:outerShdw>
                </a:effectLst>
                <a:latin typeface="Arial" pitchFamily="34" charset="0"/>
                <a:ea typeface="微软雅黑" pitchFamily="34" charset="-122"/>
              </a:rPr>
              <a:t>模式集的算法</a:t>
            </a:r>
          </a:p>
        </p:txBody>
      </p:sp>
      <p:sp>
        <p:nvSpPr>
          <p:cNvPr id="1549316" name="Rectangle 4"/>
          <p:cNvSpPr>
            <a:spLocks noGrp="1" noChangeArrowheads="1"/>
          </p:cNvSpPr>
          <p:nvPr>
            <p:ph type="body" idx="1"/>
          </p:nvPr>
        </p:nvSpPr>
        <p:spPr>
          <a:xfrm>
            <a:off x="204788" y="1379538"/>
            <a:ext cx="8701087" cy="647700"/>
          </a:xfrm>
        </p:spPr>
        <p:txBody>
          <a:bodyPr/>
          <a:lstStyle/>
          <a:p>
            <a:pPr marL="358775" indent="-358775" algn="just">
              <a:defRPr/>
            </a:pPr>
            <a:r>
              <a:rPr lang="zh-CN" altLang="en-US" sz="2800" dirty="0">
                <a:solidFill>
                  <a:srgbClr val="FFFF00"/>
                </a:solidFill>
                <a:latin typeface="楷体_GB2312" pitchFamily="49" charset="-122"/>
              </a:rPr>
              <a:t>将</a:t>
            </a:r>
            <a:r>
              <a:rPr lang="en-US" altLang="zh-CN" sz="2800" dirty="0">
                <a:solidFill>
                  <a:srgbClr val="FFFF00"/>
                </a:solidFill>
                <a:latin typeface="楷体_GB2312" pitchFamily="49" charset="-122"/>
              </a:rPr>
              <a:t>R(U,F)</a:t>
            </a:r>
            <a:r>
              <a:rPr lang="zh-CN" altLang="en-US" sz="2800" dirty="0">
                <a:solidFill>
                  <a:srgbClr val="FFFF00"/>
                </a:solidFill>
                <a:latin typeface="楷体_GB2312" pitchFamily="49" charset="-122"/>
              </a:rPr>
              <a:t>分解成既具有无损连接性，又保持函数依赖的</a:t>
            </a:r>
            <a:r>
              <a:rPr lang="en-US" altLang="zh-CN" sz="2800" dirty="0">
                <a:solidFill>
                  <a:srgbClr val="FFFF00"/>
                </a:solidFill>
                <a:latin typeface="楷体_GB2312" pitchFamily="49" charset="-122"/>
              </a:rPr>
              <a:t>3NF</a:t>
            </a:r>
            <a:r>
              <a:rPr lang="zh-CN" altLang="en-US" sz="2800" dirty="0">
                <a:solidFill>
                  <a:srgbClr val="FFFF00"/>
                </a:solidFill>
                <a:latin typeface="楷体_GB2312" pitchFamily="49" charset="-122"/>
              </a:rPr>
              <a:t>模式集</a:t>
            </a:r>
          </a:p>
        </p:txBody>
      </p:sp>
      <p:sp>
        <p:nvSpPr>
          <p:cNvPr id="1549317" name="Rectangle 5"/>
          <p:cNvSpPr>
            <a:spLocks noChangeArrowheads="1"/>
          </p:cNvSpPr>
          <p:nvPr/>
        </p:nvSpPr>
        <p:spPr bwMode="auto">
          <a:xfrm>
            <a:off x="560388" y="2382838"/>
            <a:ext cx="8208962" cy="647700"/>
          </a:xfrm>
          <a:prstGeom prst="rect">
            <a:avLst/>
          </a:prstGeom>
          <a:noFill/>
          <a:ln w="9525" algn="ctr">
            <a:noFill/>
            <a:miter lim="800000"/>
            <a:headEnd/>
            <a:tailEnd/>
          </a:ln>
          <a:effectLst/>
        </p:spPr>
        <p:txBody>
          <a:bodyPr/>
          <a:lstStyle/>
          <a:p>
            <a:pPr algn="just">
              <a:spcAft>
                <a:spcPct val="40000"/>
              </a:spcAft>
              <a:buClr>
                <a:srgbClr val="66FF33"/>
              </a:buClr>
              <a:buSzPct val="85000"/>
              <a:defRPr/>
            </a:pPr>
            <a:r>
              <a:rPr kumimoji="0" lang="zh-CN" altLang="en-US" sz="2800" dirty="0">
                <a:solidFill>
                  <a:srgbClr val="CCFFCC"/>
                </a:solidFill>
                <a:effectLst>
                  <a:outerShdw blurRad="38100" dist="38100" dir="2700000" algn="tl">
                    <a:srgbClr val="000000"/>
                  </a:outerShdw>
                </a:effectLst>
              </a:rPr>
              <a:t>已知</a:t>
            </a:r>
            <a:r>
              <a:rPr kumimoji="0" lang="en-US" altLang="zh-CN" sz="2800" i="1" dirty="0">
                <a:solidFill>
                  <a:srgbClr val="CCFFCC"/>
                </a:solidFill>
                <a:effectLst>
                  <a:outerShdw blurRad="38100" dist="38100" dir="2700000" algn="tl">
                    <a:srgbClr val="000000"/>
                  </a:outerShdw>
                </a:effectLst>
              </a:rPr>
              <a:t>ρ</a:t>
            </a:r>
            <a:r>
              <a:rPr kumimoji="0" lang="zh-CN" altLang="en-US" sz="2800" dirty="0">
                <a:solidFill>
                  <a:srgbClr val="CCFFCC"/>
                </a:solidFill>
                <a:effectLst>
                  <a:outerShdw blurRad="38100" dist="38100" dir="2700000" algn="tl">
                    <a:srgbClr val="000000"/>
                  </a:outerShdw>
                </a:effectLst>
              </a:rPr>
              <a:t>＝</a:t>
            </a:r>
            <a:r>
              <a:rPr kumimoji="0" lang="en-US" altLang="zh-CN" sz="2800" dirty="0">
                <a:solidFill>
                  <a:srgbClr val="CCFFCC"/>
                </a:solidFill>
                <a:effectLst>
                  <a:outerShdw blurRad="38100" dist="38100" dir="2700000" algn="tl">
                    <a:srgbClr val="000000"/>
                  </a:outerShdw>
                </a:effectLst>
              </a:rPr>
              <a:t>{R</a:t>
            </a:r>
            <a:r>
              <a:rPr kumimoji="0" lang="en-US" altLang="zh-CN" sz="2800" baseline="-25000" dirty="0">
                <a:solidFill>
                  <a:srgbClr val="CCFFCC"/>
                </a:solidFill>
                <a:effectLst>
                  <a:outerShdw blurRad="38100" dist="38100" dir="2700000" algn="tl">
                    <a:srgbClr val="000000"/>
                  </a:outerShdw>
                </a:effectLst>
              </a:rPr>
              <a:t>1</a:t>
            </a:r>
            <a:r>
              <a:rPr kumimoji="0" lang="en-US" altLang="zh-CN" sz="2800" dirty="0">
                <a:solidFill>
                  <a:srgbClr val="CCFFCC"/>
                </a:solidFill>
                <a:effectLst>
                  <a:outerShdw blurRad="38100" dist="38100" dir="2700000" algn="tl">
                    <a:srgbClr val="000000"/>
                  </a:outerShdw>
                </a:effectLst>
              </a:rPr>
              <a:t>(U</a:t>
            </a:r>
            <a:r>
              <a:rPr kumimoji="0" lang="en-US" altLang="zh-CN" sz="2800" baseline="-25000" dirty="0">
                <a:solidFill>
                  <a:srgbClr val="CCFFCC"/>
                </a:solidFill>
                <a:effectLst>
                  <a:outerShdw blurRad="38100" dist="38100" dir="2700000" algn="tl">
                    <a:srgbClr val="000000"/>
                  </a:outerShdw>
                </a:effectLst>
              </a:rPr>
              <a:t>1</a:t>
            </a:r>
            <a:r>
              <a:rPr kumimoji="0" lang="en-US" altLang="zh-CN" sz="2800" dirty="0">
                <a:solidFill>
                  <a:srgbClr val="CCFFCC"/>
                </a:solidFill>
                <a:effectLst>
                  <a:outerShdw blurRad="38100" dist="38100" dir="2700000" algn="tl">
                    <a:srgbClr val="000000"/>
                  </a:outerShdw>
                </a:effectLst>
              </a:rPr>
              <a:t>),R</a:t>
            </a:r>
            <a:r>
              <a:rPr kumimoji="0" lang="en-US" altLang="zh-CN" sz="2800" baseline="-25000" dirty="0">
                <a:solidFill>
                  <a:srgbClr val="CCFFCC"/>
                </a:solidFill>
                <a:effectLst>
                  <a:outerShdw blurRad="38100" dist="38100" dir="2700000" algn="tl">
                    <a:srgbClr val="000000"/>
                  </a:outerShdw>
                </a:effectLst>
              </a:rPr>
              <a:t>2</a:t>
            </a:r>
            <a:r>
              <a:rPr kumimoji="0" lang="en-US" altLang="zh-CN" sz="2800" dirty="0">
                <a:solidFill>
                  <a:srgbClr val="CCFFCC"/>
                </a:solidFill>
                <a:effectLst>
                  <a:outerShdw blurRad="38100" dist="38100" dir="2700000" algn="tl">
                    <a:srgbClr val="000000"/>
                  </a:outerShdw>
                </a:effectLst>
              </a:rPr>
              <a:t>(U</a:t>
            </a:r>
            <a:r>
              <a:rPr kumimoji="0" lang="en-US" altLang="zh-CN" sz="2800" baseline="-25000" dirty="0">
                <a:solidFill>
                  <a:srgbClr val="CCFFCC"/>
                </a:solidFill>
                <a:effectLst>
                  <a:outerShdw blurRad="38100" dist="38100" dir="2700000" algn="tl">
                    <a:srgbClr val="000000"/>
                  </a:outerShdw>
                </a:effectLst>
              </a:rPr>
              <a:t>2</a:t>
            </a:r>
            <a:r>
              <a:rPr kumimoji="0" lang="en-US" altLang="zh-CN" sz="2800" dirty="0">
                <a:solidFill>
                  <a:srgbClr val="CCFFCC"/>
                </a:solidFill>
                <a:effectLst>
                  <a:outerShdw blurRad="38100" dist="38100" dir="2700000" algn="tl">
                    <a:srgbClr val="000000"/>
                  </a:outerShdw>
                </a:effectLst>
              </a:rPr>
              <a:t>),</a:t>
            </a:r>
            <a:r>
              <a:rPr kumimoji="0" lang="en-US" altLang="zh-CN" sz="2800" dirty="0">
                <a:solidFill>
                  <a:srgbClr val="CCFFCC"/>
                </a:solidFill>
                <a:effectLst>
                  <a:outerShdw blurRad="38100" dist="38100" dir="2700000" algn="tl">
                    <a:srgbClr val="000000"/>
                  </a:outerShdw>
                </a:effectLst>
                <a:latin typeface="Times New Roman"/>
              </a:rPr>
              <a:t>…</a:t>
            </a:r>
            <a:r>
              <a:rPr kumimoji="0" lang="en-US" altLang="zh-CN" sz="2800" dirty="0">
                <a:solidFill>
                  <a:srgbClr val="CCFFCC"/>
                </a:solidFill>
                <a:effectLst>
                  <a:outerShdw blurRad="38100" dist="38100" dir="2700000" algn="tl">
                    <a:srgbClr val="000000"/>
                  </a:outerShdw>
                </a:effectLst>
              </a:rPr>
              <a:t>,</a:t>
            </a:r>
            <a:r>
              <a:rPr kumimoji="0" lang="en-US" altLang="zh-CN" sz="2800" dirty="0" err="1">
                <a:solidFill>
                  <a:srgbClr val="CCFFCC"/>
                </a:solidFill>
                <a:effectLst>
                  <a:outerShdw blurRad="38100" dist="38100" dir="2700000" algn="tl">
                    <a:srgbClr val="000000"/>
                  </a:outerShdw>
                </a:effectLst>
              </a:rPr>
              <a:t>R</a:t>
            </a:r>
            <a:r>
              <a:rPr kumimoji="0" lang="en-US" altLang="zh-CN" sz="2800" baseline="-25000" dirty="0" err="1">
                <a:solidFill>
                  <a:srgbClr val="CCFFCC"/>
                </a:solidFill>
                <a:effectLst>
                  <a:outerShdw blurRad="38100" dist="38100" dir="2700000" algn="tl">
                    <a:srgbClr val="000000"/>
                  </a:outerShdw>
                </a:effectLst>
              </a:rPr>
              <a:t>k</a:t>
            </a:r>
            <a:r>
              <a:rPr kumimoji="0" lang="en-US" altLang="zh-CN" sz="2800" dirty="0">
                <a:solidFill>
                  <a:srgbClr val="CCFFCC"/>
                </a:solidFill>
                <a:effectLst>
                  <a:outerShdw blurRad="38100" dist="38100" dir="2700000" algn="tl">
                    <a:srgbClr val="000000"/>
                  </a:outerShdw>
                </a:effectLst>
              </a:rPr>
              <a:t>(</a:t>
            </a:r>
            <a:r>
              <a:rPr kumimoji="0" lang="en-US" altLang="zh-CN" sz="2800" dirty="0" err="1">
                <a:solidFill>
                  <a:srgbClr val="CCFFCC"/>
                </a:solidFill>
                <a:effectLst>
                  <a:outerShdw blurRad="38100" dist="38100" dir="2700000" algn="tl">
                    <a:srgbClr val="000000"/>
                  </a:outerShdw>
                </a:effectLst>
              </a:rPr>
              <a:t>U</a:t>
            </a:r>
            <a:r>
              <a:rPr kumimoji="0" lang="en-US" altLang="zh-CN" sz="2800" baseline="-25000" dirty="0" err="1">
                <a:solidFill>
                  <a:srgbClr val="CCFFCC"/>
                </a:solidFill>
                <a:effectLst>
                  <a:outerShdw blurRad="38100" dist="38100" dir="2700000" algn="tl">
                    <a:srgbClr val="000000"/>
                  </a:outerShdw>
                </a:effectLst>
              </a:rPr>
              <a:t>k</a:t>
            </a:r>
            <a:r>
              <a:rPr kumimoji="0" lang="en-US" altLang="zh-CN" sz="2800" dirty="0">
                <a:solidFill>
                  <a:srgbClr val="CCFFCC"/>
                </a:solidFill>
                <a:effectLst>
                  <a:outerShdw blurRad="38100" dist="38100" dir="2700000" algn="tl">
                    <a:srgbClr val="000000"/>
                  </a:outerShdw>
                </a:effectLst>
              </a:rPr>
              <a:t>)}</a:t>
            </a:r>
            <a:r>
              <a:rPr kumimoji="0" lang="zh-CN" altLang="en-US" sz="2800" dirty="0">
                <a:solidFill>
                  <a:srgbClr val="CCFFCC"/>
                </a:solidFill>
                <a:effectLst>
                  <a:outerShdw blurRad="38100" dist="38100" dir="2700000" algn="tl">
                    <a:srgbClr val="000000"/>
                  </a:outerShdw>
                </a:effectLst>
              </a:rPr>
              <a:t>是由</a:t>
            </a:r>
            <a:r>
              <a:rPr kumimoji="0" lang="en-US" altLang="zh-CN" sz="2800" dirty="0">
                <a:solidFill>
                  <a:srgbClr val="CCFFCC"/>
                </a:solidFill>
                <a:effectLst>
                  <a:outerShdw blurRad="38100" dist="38100" dir="2700000" algn="tl">
                    <a:srgbClr val="000000"/>
                  </a:outerShdw>
                </a:effectLst>
              </a:rPr>
              <a:t>R(U,F)</a:t>
            </a:r>
            <a:r>
              <a:rPr kumimoji="0" lang="zh-CN" altLang="en-US" sz="2800" dirty="0">
                <a:solidFill>
                  <a:srgbClr val="CCFFCC"/>
                </a:solidFill>
                <a:effectLst>
                  <a:outerShdw blurRad="38100" dist="38100" dir="2700000" algn="tl">
                    <a:srgbClr val="000000"/>
                  </a:outerShdw>
                </a:effectLst>
              </a:rPr>
              <a:t>按前面算法得到的一个保持函数依赖的分解。设</a:t>
            </a:r>
            <a:r>
              <a:rPr kumimoji="0" lang="en-US" altLang="zh-CN" sz="2800" dirty="0">
                <a:solidFill>
                  <a:srgbClr val="CCFFCC"/>
                </a:solidFill>
                <a:effectLst>
                  <a:outerShdw blurRad="38100" dist="38100" dir="2700000" algn="tl">
                    <a:srgbClr val="000000"/>
                  </a:outerShdw>
                </a:effectLst>
              </a:rPr>
              <a:t>X</a:t>
            </a:r>
            <a:r>
              <a:rPr kumimoji="0" lang="zh-CN" altLang="en-US" sz="2800" dirty="0">
                <a:solidFill>
                  <a:srgbClr val="CCFFCC"/>
                </a:solidFill>
                <a:effectLst>
                  <a:outerShdw blurRad="38100" dist="38100" dir="2700000" algn="tl">
                    <a:srgbClr val="000000"/>
                  </a:outerShdw>
                </a:effectLst>
              </a:rPr>
              <a:t>是</a:t>
            </a:r>
            <a:r>
              <a:rPr kumimoji="0" lang="en-US" altLang="zh-CN" sz="2800" dirty="0">
                <a:solidFill>
                  <a:srgbClr val="CCFFCC"/>
                </a:solidFill>
                <a:effectLst>
                  <a:outerShdw blurRad="38100" dist="38100" dir="2700000" algn="tl">
                    <a:srgbClr val="000000"/>
                  </a:outerShdw>
                </a:effectLst>
              </a:rPr>
              <a:t>R(U)</a:t>
            </a:r>
            <a:r>
              <a:rPr kumimoji="0" lang="zh-CN" altLang="en-US" sz="2800" dirty="0">
                <a:solidFill>
                  <a:srgbClr val="CCFFCC"/>
                </a:solidFill>
                <a:effectLst>
                  <a:outerShdw blurRad="38100" dist="38100" dir="2700000" algn="tl">
                    <a:srgbClr val="000000"/>
                  </a:outerShdw>
                </a:effectLst>
              </a:rPr>
              <a:t>的一个</a:t>
            </a:r>
            <a:r>
              <a:rPr kumimoji="0" lang="zh-CN" altLang="en-US" sz="2800" dirty="0" smtClean="0">
                <a:solidFill>
                  <a:srgbClr val="CCFFCC"/>
                </a:solidFill>
                <a:effectLst>
                  <a:outerShdw blurRad="38100" dist="38100" dir="2700000" algn="tl">
                    <a:srgbClr val="000000"/>
                  </a:outerShdw>
                </a:effectLst>
              </a:rPr>
              <a:t>候选键，</a:t>
            </a:r>
            <a:r>
              <a:rPr kumimoji="0" lang="zh-CN" altLang="en-US" sz="2800" dirty="0">
                <a:solidFill>
                  <a:srgbClr val="CCFFCC"/>
                </a:solidFill>
                <a:effectLst>
                  <a:outerShdw blurRad="38100" dist="38100" dir="2700000" algn="tl">
                    <a:srgbClr val="000000"/>
                  </a:outerShdw>
                </a:effectLst>
              </a:rPr>
              <a:t>若存在某个</a:t>
            </a:r>
            <a:r>
              <a:rPr kumimoji="0" lang="en-US" altLang="zh-CN" sz="2800" dirty="0" err="1">
                <a:solidFill>
                  <a:srgbClr val="CCFFCC"/>
                </a:solidFill>
                <a:effectLst>
                  <a:outerShdw blurRad="38100" dist="38100" dir="2700000" algn="tl">
                    <a:srgbClr val="000000"/>
                  </a:outerShdw>
                </a:effectLst>
              </a:rPr>
              <a:t>U</a:t>
            </a:r>
            <a:r>
              <a:rPr kumimoji="0" lang="en-US" altLang="zh-CN" sz="2800" baseline="-25000" dirty="0" err="1">
                <a:solidFill>
                  <a:srgbClr val="CCFFCC"/>
                </a:solidFill>
                <a:effectLst>
                  <a:outerShdw blurRad="38100" dist="38100" dir="2700000" algn="tl">
                    <a:srgbClr val="000000"/>
                  </a:outerShdw>
                </a:effectLst>
              </a:rPr>
              <a:t>i</a:t>
            </a:r>
            <a:r>
              <a:rPr kumimoji="0" lang="zh-CN" altLang="en-US" sz="2800" dirty="0">
                <a:solidFill>
                  <a:srgbClr val="CCFFCC"/>
                </a:solidFill>
                <a:effectLst>
                  <a:outerShdw blurRad="38100" dist="38100" dir="2700000" algn="tl">
                    <a:srgbClr val="000000"/>
                  </a:outerShdw>
                </a:effectLst>
              </a:rPr>
              <a:t>使</a:t>
            </a:r>
            <a:r>
              <a:rPr kumimoji="0" lang="en-US" altLang="zh-CN" sz="2800" dirty="0" err="1">
                <a:solidFill>
                  <a:srgbClr val="CCFFCC"/>
                </a:solidFill>
                <a:effectLst>
                  <a:outerShdw blurRad="38100" dist="38100" dir="2700000" algn="tl">
                    <a:srgbClr val="000000"/>
                  </a:outerShdw>
                </a:effectLst>
              </a:rPr>
              <a:t>X</a:t>
            </a:r>
            <a:r>
              <a:rPr kumimoji="0" lang="en-US" altLang="zh-CN" sz="2800" dirty="0" err="1">
                <a:solidFill>
                  <a:srgbClr val="CCFFCC"/>
                </a:solidFill>
                <a:effectLst>
                  <a:outerShdw blurRad="38100" dist="38100" dir="2700000" algn="tl">
                    <a:srgbClr val="000000"/>
                  </a:outerShdw>
                </a:effectLst>
                <a:sym typeface="Symbol" pitchFamily="18" charset="2"/>
              </a:rPr>
              <a:t></a:t>
            </a:r>
            <a:r>
              <a:rPr kumimoji="0" lang="en-US" altLang="zh-CN" sz="2800" dirty="0" err="1">
                <a:solidFill>
                  <a:srgbClr val="CCFFCC"/>
                </a:solidFill>
                <a:effectLst>
                  <a:outerShdw blurRad="38100" dist="38100" dir="2700000" algn="tl">
                    <a:srgbClr val="000000"/>
                  </a:outerShdw>
                </a:effectLst>
              </a:rPr>
              <a:t>U</a:t>
            </a:r>
            <a:r>
              <a:rPr kumimoji="0" lang="en-US" altLang="zh-CN" sz="2800" baseline="-25000" dirty="0" err="1">
                <a:solidFill>
                  <a:srgbClr val="CCFFCC"/>
                </a:solidFill>
                <a:effectLst>
                  <a:outerShdw blurRad="38100" dist="38100" dir="2700000" algn="tl">
                    <a:srgbClr val="000000"/>
                  </a:outerShdw>
                </a:effectLst>
              </a:rPr>
              <a:t>i</a:t>
            </a:r>
            <a:r>
              <a:rPr kumimoji="0" lang="zh-CN" altLang="en-US" sz="2800" dirty="0">
                <a:solidFill>
                  <a:srgbClr val="CCFFCC"/>
                </a:solidFill>
                <a:effectLst>
                  <a:outerShdw blurRad="38100" dist="38100" dir="2700000" algn="tl">
                    <a:srgbClr val="000000"/>
                  </a:outerShdw>
                </a:effectLst>
              </a:rPr>
              <a:t>，则令</a:t>
            </a:r>
            <a:r>
              <a:rPr kumimoji="0" lang="en-US" altLang="zh-CN" sz="2800" i="1" dirty="0">
                <a:solidFill>
                  <a:srgbClr val="CCFFCC"/>
                </a:solidFill>
                <a:effectLst>
                  <a:outerShdw blurRad="38100" dist="38100" dir="2700000" algn="tl">
                    <a:srgbClr val="000000"/>
                  </a:outerShdw>
                </a:effectLst>
              </a:rPr>
              <a:t>τ</a:t>
            </a:r>
            <a:r>
              <a:rPr kumimoji="0" lang="en-US" altLang="zh-CN" sz="2800" dirty="0">
                <a:solidFill>
                  <a:srgbClr val="CCFFCC"/>
                </a:solidFill>
                <a:effectLst>
                  <a:outerShdw blurRad="38100" dist="38100" dir="2700000" algn="tl">
                    <a:srgbClr val="000000"/>
                  </a:outerShdw>
                </a:effectLst>
              </a:rPr>
              <a:t>=</a:t>
            </a:r>
            <a:r>
              <a:rPr kumimoji="0" lang="en-US" altLang="zh-CN" sz="2800" i="1" dirty="0">
                <a:solidFill>
                  <a:srgbClr val="CCFFCC"/>
                </a:solidFill>
                <a:effectLst>
                  <a:outerShdw blurRad="38100" dist="38100" dir="2700000" algn="tl">
                    <a:srgbClr val="000000"/>
                  </a:outerShdw>
                </a:effectLst>
              </a:rPr>
              <a:t>ρ</a:t>
            </a:r>
            <a:r>
              <a:rPr kumimoji="0" lang="zh-CN" altLang="en-US" sz="2800" dirty="0">
                <a:solidFill>
                  <a:srgbClr val="CCFFCC"/>
                </a:solidFill>
                <a:effectLst>
                  <a:outerShdw blurRad="38100" dist="38100" dir="2700000" algn="tl">
                    <a:srgbClr val="000000"/>
                  </a:outerShdw>
                </a:effectLst>
              </a:rPr>
              <a:t>，否则令</a:t>
            </a:r>
            <a:r>
              <a:rPr kumimoji="0" lang="en-US" altLang="zh-CN" sz="2800" i="1" dirty="0">
                <a:solidFill>
                  <a:srgbClr val="CCFFCC"/>
                </a:solidFill>
                <a:effectLst>
                  <a:outerShdw blurRad="38100" dist="38100" dir="2700000" algn="tl">
                    <a:srgbClr val="000000"/>
                  </a:outerShdw>
                </a:effectLst>
              </a:rPr>
              <a:t>τ</a:t>
            </a:r>
            <a:r>
              <a:rPr kumimoji="0" lang="en-US" altLang="zh-CN" sz="2800" dirty="0">
                <a:solidFill>
                  <a:srgbClr val="CCFFCC"/>
                </a:solidFill>
                <a:effectLst>
                  <a:outerShdw blurRad="38100" dist="38100" dir="2700000" algn="tl">
                    <a:srgbClr val="000000"/>
                  </a:outerShdw>
                </a:effectLst>
              </a:rPr>
              <a:t>=</a:t>
            </a:r>
            <a:r>
              <a:rPr kumimoji="0" lang="en-US" altLang="zh-CN" sz="2800" i="1" dirty="0">
                <a:solidFill>
                  <a:srgbClr val="CCFFCC"/>
                </a:solidFill>
                <a:effectLst>
                  <a:outerShdw blurRad="38100" dist="38100" dir="2700000" algn="tl">
                    <a:srgbClr val="000000"/>
                  </a:outerShdw>
                </a:effectLst>
              </a:rPr>
              <a:t>ρ</a:t>
            </a:r>
            <a:r>
              <a:rPr kumimoji="0" lang="en-US" altLang="zh-CN" sz="2800" dirty="0">
                <a:solidFill>
                  <a:srgbClr val="CCFFCC"/>
                </a:solidFill>
                <a:effectLst>
                  <a:outerShdw blurRad="38100" dist="38100" dir="2700000" algn="tl">
                    <a:srgbClr val="000000"/>
                  </a:outerShdw>
                </a:effectLst>
              </a:rPr>
              <a:t>∪{R(X)}</a:t>
            </a:r>
            <a:r>
              <a:rPr kumimoji="0" lang="zh-CN" altLang="en-US" sz="2800" dirty="0">
                <a:solidFill>
                  <a:srgbClr val="CCFFCC"/>
                </a:solidFill>
                <a:effectLst>
                  <a:outerShdw blurRad="38100" dist="38100" dir="2700000" algn="tl">
                    <a:srgbClr val="000000"/>
                  </a:outerShdw>
                </a:effectLst>
              </a:rPr>
              <a:t>。</a:t>
            </a:r>
            <a:r>
              <a:rPr kumimoji="0" lang="en-US" altLang="zh-CN" sz="2800" i="1" dirty="0">
                <a:solidFill>
                  <a:srgbClr val="CCFFCC"/>
                </a:solidFill>
                <a:effectLst>
                  <a:outerShdw blurRad="38100" dist="38100" dir="2700000" algn="tl">
                    <a:srgbClr val="000000"/>
                  </a:outerShdw>
                </a:effectLst>
              </a:rPr>
              <a:t>τ</a:t>
            </a:r>
            <a:r>
              <a:rPr kumimoji="0" lang="zh-CN" altLang="en-US" sz="2800" dirty="0">
                <a:solidFill>
                  <a:srgbClr val="CCFFCC"/>
                </a:solidFill>
                <a:effectLst>
                  <a:outerShdw blurRad="38100" dist="38100" dir="2700000" algn="tl">
                    <a:srgbClr val="000000"/>
                  </a:outerShdw>
                </a:effectLst>
              </a:rPr>
              <a:t>就是所需的分解。</a:t>
            </a:r>
          </a:p>
        </p:txBody>
      </p:sp>
      <p:sp>
        <p:nvSpPr>
          <p:cNvPr id="1549318" name="Text Box 6"/>
          <p:cNvSpPr txBox="1">
            <a:spLocks noChangeArrowheads="1"/>
          </p:cNvSpPr>
          <p:nvPr/>
        </p:nvSpPr>
        <p:spPr bwMode="auto">
          <a:xfrm>
            <a:off x="603250" y="4508500"/>
            <a:ext cx="8382000" cy="647700"/>
          </a:xfrm>
          <a:prstGeom prst="rect">
            <a:avLst/>
          </a:prstGeom>
          <a:noFill/>
          <a:ln w="12700" cap="sq">
            <a:noFill/>
            <a:miter lim="800000"/>
            <a:headEnd type="none" w="sm" len="sm"/>
            <a:tailEnd type="none" w="sm" len="sm"/>
          </a:ln>
          <a:effectLst/>
        </p:spPr>
        <p:txBody>
          <a:bodyPr/>
          <a:lstStyle/>
          <a:p>
            <a:pPr>
              <a:spcAft>
                <a:spcPct val="0"/>
              </a:spcAft>
              <a:buSzTx/>
              <a:buFontTx/>
              <a:buNone/>
              <a:defRPr/>
            </a:pPr>
            <a:r>
              <a:rPr kumimoji="0" lang="zh-CN" altLang="en-US" sz="2800" dirty="0">
                <a:solidFill>
                  <a:srgbClr val="99FF33"/>
                </a:solidFill>
                <a:effectLst>
                  <a:outerShdw blurRad="38100" dist="38100" dir="2700000" algn="tl">
                    <a:srgbClr val="000000"/>
                  </a:outerShdw>
                </a:effectLst>
              </a:rPr>
              <a:t>由关系模式R</a:t>
            </a:r>
            <a:r>
              <a:rPr kumimoji="0" lang="en-US" altLang="zh-CN" sz="2800" dirty="0">
                <a:solidFill>
                  <a:srgbClr val="99FF33"/>
                </a:solidFill>
                <a:effectLst>
                  <a:outerShdw blurRad="38100" dist="38100" dir="2700000" algn="tl">
                    <a:srgbClr val="000000"/>
                  </a:outerShdw>
                </a:effectLst>
              </a:rPr>
              <a:t>(ABCD</a:t>
            </a:r>
            <a:r>
              <a:rPr kumimoji="0" lang="zh-CN" altLang="en-US" sz="2800" dirty="0">
                <a:solidFill>
                  <a:srgbClr val="99FF33"/>
                </a:solidFill>
                <a:effectLst>
                  <a:outerShdw blurRad="38100" dist="38100" dir="2700000" algn="tl">
                    <a:srgbClr val="000000"/>
                  </a:outerShdw>
                </a:effectLst>
              </a:rPr>
              <a:t>，</a:t>
            </a:r>
            <a:r>
              <a:rPr kumimoji="0" lang="zh-CN" altLang="zh-CN" sz="2800" dirty="0">
                <a:solidFill>
                  <a:srgbClr val="99FF33"/>
                </a:solidFill>
                <a:effectLst>
                  <a:outerShdw blurRad="38100" dist="38100" dir="2700000" algn="tl">
                    <a:srgbClr val="000000"/>
                  </a:outerShdw>
                </a:effectLst>
              </a:rPr>
              <a:t>{</a:t>
            </a:r>
            <a:r>
              <a:rPr kumimoji="0" lang="zh-CN" altLang="en-US" sz="2800" dirty="0">
                <a:solidFill>
                  <a:srgbClr val="99FF33"/>
                </a:solidFill>
                <a:effectLst>
                  <a:outerShdw blurRad="38100" dist="38100" dir="2700000" algn="tl">
                    <a:srgbClr val="000000"/>
                  </a:outerShdw>
                </a:effectLst>
              </a:rPr>
              <a:t>A</a:t>
            </a:r>
            <a:r>
              <a:rPr kumimoji="0" lang="en-US" altLang="zh-CN" sz="2800" dirty="0">
                <a:solidFill>
                  <a:srgbClr val="99FF33"/>
                </a:solidFill>
                <a:effectLst>
                  <a:outerShdw blurRad="38100" dist="38100" dir="2700000" algn="tl">
                    <a:srgbClr val="000000"/>
                  </a:outerShdw>
                </a:effectLst>
              </a:rPr>
              <a:t>B</a:t>
            </a:r>
            <a:r>
              <a:rPr kumimoji="0" lang="zh-CN" altLang="zh-CN" sz="2800" dirty="0">
                <a:solidFill>
                  <a:srgbClr val="99FF33"/>
                </a:solidFill>
                <a:effectLst>
                  <a:outerShdw blurRad="38100" dist="38100" dir="2700000" algn="tl">
                    <a:srgbClr val="000000"/>
                  </a:outerShdw>
                </a:effectLst>
              </a:rPr>
              <a:t>→</a:t>
            </a:r>
            <a:r>
              <a:rPr kumimoji="0" lang="zh-CN" altLang="en-US" sz="2800" dirty="0">
                <a:solidFill>
                  <a:srgbClr val="99FF33"/>
                </a:solidFill>
                <a:effectLst>
                  <a:outerShdw blurRad="38100" dist="38100" dir="2700000" algn="tl">
                    <a:srgbClr val="000000"/>
                  </a:outerShdw>
                </a:effectLst>
              </a:rPr>
              <a:t>C</a:t>
            </a:r>
            <a:r>
              <a:rPr kumimoji="0" lang="zh-CN" altLang="zh-CN" sz="2800" dirty="0">
                <a:solidFill>
                  <a:srgbClr val="99FF33"/>
                </a:solidFill>
                <a:effectLst>
                  <a:outerShdw blurRad="38100" dist="38100" dir="2700000" algn="tl">
                    <a:srgbClr val="000000"/>
                  </a:outerShdw>
                </a:effectLst>
              </a:rPr>
              <a:t>,</a:t>
            </a:r>
            <a:r>
              <a:rPr kumimoji="0" lang="en-US" altLang="zh-CN" sz="2800" dirty="0">
                <a:solidFill>
                  <a:srgbClr val="99FF33"/>
                </a:solidFill>
                <a:effectLst>
                  <a:outerShdw blurRad="38100" dist="38100" dir="2700000" algn="tl">
                    <a:srgbClr val="000000"/>
                  </a:outerShdw>
                </a:effectLst>
              </a:rPr>
              <a:t>B</a:t>
            </a:r>
            <a:r>
              <a:rPr kumimoji="0" lang="zh-CN" altLang="zh-CN" sz="2800" dirty="0">
                <a:solidFill>
                  <a:srgbClr val="99FF33"/>
                </a:solidFill>
                <a:effectLst>
                  <a:outerShdw blurRad="38100" dist="38100" dir="2700000" algn="tl">
                    <a:srgbClr val="000000"/>
                  </a:outerShdw>
                </a:effectLst>
              </a:rPr>
              <a:t>→</a:t>
            </a:r>
            <a:r>
              <a:rPr kumimoji="0" lang="zh-CN" altLang="en-US" sz="2800" dirty="0">
                <a:solidFill>
                  <a:srgbClr val="99FF33"/>
                </a:solidFill>
                <a:effectLst>
                  <a:outerShdw blurRad="38100" dist="38100" dir="2700000" algn="tl">
                    <a:srgbClr val="000000"/>
                  </a:outerShdw>
                </a:effectLst>
              </a:rPr>
              <a:t>C</a:t>
            </a:r>
            <a:r>
              <a:rPr kumimoji="0" lang="zh-CN" altLang="zh-CN" sz="2800" dirty="0">
                <a:solidFill>
                  <a:srgbClr val="99FF33"/>
                </a:solidFill>
                <a:effectLst>
                  <a:outerShdw blurRad="38100" dist="38100" dir="2700000" algn="tl">
                    <a:srgbClr val="000000"/>
                  </a:outerShdw>
                </a:effectLst>
              </a:rPr>
              <a:t>}</a:t>
            </a:r>
            <a:r>
              <a:rPr kumimoji="0" lang="zh-CN" altLang="en-US" sz="2800" dirty="0">
                <a:solidFill>
                  <a:srgbClr val="99FF33"/>
                </a:solidFill>
                <a:effectLst>
                  <a:outerShdw blurRad="38100" dist="38100" dir="2700000" algn="tl">
                    <a:srgbClr val="000000"/>
                  </a:outerShdw>
                </a:effectLst>
              </a:rPr>
              <a:t>)可得保持函数依赖的</a:t>
            </a:r>
            <a:r>
              <a:rPr kumimoji="0" lang="en-US" altLang="zh-CN" sz="2800" dirty="0">
                <a:solidFill>
                  <a:srgbClr val="99FF33"/>
                </a:solidFill>
                <a:effectLst>
                  <a:outerShdw blurRad="38100" dist="38100" dir="2700000" algn="tl">
                    <a:srgbClr val="000000"/>
                  </a:outerShdw>
                </a:effectLst>
              </a:rPr>
              <a:t>3NF</a:t>
            </a:r>
            <a:r>
              <a:rPr kumimoji="0" lang="zh-CN" altLang="en-US" sz="2800" dirty="0">
                <a:solidFill>
                  <a:srgbClr val="99FF33"/>
                </a:solidFill>
                <a:effectLst>
                  <a:outerShdw blurRad="38100" dist="38100" dir="2700000" algn="tl">
                    <a:srgbClr val="000000"/>
                  </a:outerShdw>
                </a:effectLst>
              </a:rPr>
              <a:t>分解</a:t>
            </a:r>
            <a:r>
              <a:rPr kumimoji="0" lang="zh-CN" altLang="zh-CN" sz="2800" dirty="0">
                <a:solidFill>
                  <a:srgbClr val="99FF33"/>
                </a:solidFill>
                <a:effectLst>
                  <a:outerShdw blurRad="38100" dist="38100" dir="2700000" algn="tl">
                    <a:srgbClr val="000000"/>
                  </a:outerShdw>
                </a:effectLst>
              </a:rPr>
              <a:t>ρ={</a:t>
            </a:r>
            <a:r>
              <a:rPr kumimoji="0" lang="zh-CN" altLang="en-US" sz="2800" dirty="0">
                <a:solidFill>
                  <a:srgbClr val="99FF33"/>
                </a:solidFill>
                <a:effectLst>
                  <a:outerShdw blurRad="38100" dist="38100" dir="2700000" algn="tl">
                    <a:srgbClr val="000000"/>
                  </a:outerShdw>
                </a:effectLst>
              </a:rPr>
              <a:t>A</a:t>
            </a:r>
            <a:r>
              <a:rPr kumimoji="0" lang="en-US" altLang="zh-CN" sz="2800" dirty="0">
                <a:solidFill>
                  <a:srgbClr val="99FF33"/>
                </a:solidFill>
                <a:effectLst>
                  <a:outerShdw blurRad="38100" dist="38100" dir="2700000" algn="tl">
                    <a:srgbClr val="000000"/>
                  </a:outerShdw>
                </a:effectLst>
              </a:rPr>
              <a:t>D</a:t>
            </a:r>
            <a:r>
              <a:rPr kumimoji="0" lang="zh-CN" altLang="en-US" sz="2800" dirty="0">
                <a:solidFill>
                  <a:srgbClr val="99FF33"/>
                </a:solidFill>
                <a:effectLst>
                  <a:outerShdw blurRad="38100" dist="38100" dir="2700000" algn="tl">
                    <a:srgbClr val="000000"/>
                  </a:outerShdw>
                </a:effectLst>
              </a:rPr>
              <a:t>，</a:t>
            </a:r>
            <a:r>
              <a:rPr kumimoji="0" lang="en-US" altLang="zh-CN" sz="2800" dirty="0">
                <a:solidFill>
                  <a:srgbClr val="99FF33"/>
                </a:solidFill>
                <a:effectLst>
                  <a:outerShdw blurRad="38100" dist="38100" dir="2700000" algn="tl">
                    <a:srgbClr val="000000"/>
                  </a:outerShdw>
                </a:effectLst>
              </a:rPr>
              <a:t>BC</a:t>
            </a:r>
            <a:r>
              <a:rPr kumimoji="0" lang="zh-CN" altLang="zh-CN" sz="2800" dirty="0">
                <a:solidFill>
                  <a:srgbClr val="99FF33"/>
                </a:solidFill>
                <a:effectLst>
                  <a:outerShdw blurRad="38100" dist="38100" dir="2700000" algn="tl">
                    <a:srgbClr val="000000"/>
                  </a:outerShdw>
                </a:effectLst>
              </a:rPr>
              <a:t>}</a:t>
            </a:r>
            <a:r>
              <a:rPr kumimoji="0" lang="zh-CN" altLang="en-US" sz="2800" dirty="0">
                <a:solidFill>
                  <a:srgbClr val="99FF33"/>
                </a:solidFill>
                <a:effectLst>
                  <a:outerShdw blurRad="38100" dist="38100" dir="2700000" algn="tl">
                    <a:srgbClr val="000000"/>
                  </a:outerShdw>
                </a:effectLst>
              </a:rPr>
              <a:t>，可得</a:t>
            </a:r>
            <a:r>
              <a:rPr kumimoji="0" lang="en-US" altLang="zh-CN" sz="2800" dirty="0">
                <a:solidFill>
                  <a:srgbClr val="99FF33"/>
                </a:solidFill>
                <a:effectLst>
                  <a:outerShdw blurRad="38100" dist="38100" dir="2700000" algn="tl">
                    <a:srgbClr val="000000"/>
                  </a:outerShdw>
                </a:effectLst>
              </a:rPr>
              <a:t>R</a:t>
            </a:r>
            <a:r>
              <a:rPr kumimoji="0" lang="zh-CN" altLang="en-US" sz="2800" dirty="0">
                <a:solidFill>
                  <a:srgbClr val="99FF33"/>
                </a:solidFill>
                <a:effectLst>
                  <a:outerShdw blurRad="38100" dist="38100" dir="2700000" algn="tl">
                    <a:srgbClr val="000000"/>
                  </a:outerShdw>
                </a:effectLst>
              </a:rPr>
              <a:t>的</a:t>
            </a:r>
            <a:r>
              <a:rPr kumimoji="0" lang="zh-CN" altLang="en-US" sz="2800" dirty="0" smtClean="0">
                <a:solidFill>
                  <a:srgbClr val="99FF33"/>
                </a:solidFill>
                <a:effectLst>
                  <a:outerShdw blurRad="38100" dist="38100" dir="2700000" algn="tl">
                    <a:srgbClr val="000000"/>
                  </a:outerShdw>
                </a:effectLst>
              </a:rPr>
              <a:t>候选键为</a:t>
            </a:r>
            <a:r>
              <a:rPr kumimoji="0" lang="en-US" altLang="zh-CN" sz="2800" dirty="0">
                <a:solidFill>
                  <a:srgbClr val="99FF33"/>
                </a:solidFill>
                <a:effectLst>
                  <a:outerShdw blurRad="38100" dist="38100" dir="2700000" algn="tl">
                    <a:srgbClr val="000000"/>
                  </a:outerShdw>
                </a:effectLst>
              </a:rPr>
              <a:t>ABD</a:t>
            </a:r>
            <a:r>
              <a:rPr kumimoji="0" lang="zh-CN" altLang="en-US" sz="2800" dirty="0">
                <a:solidFill>
                  <a:srgbClr val="99FF33"/>
                </a:solidFill>
                <a:effectLst>
                  <a:outerShdw blurRad="38100" dist="38100" dir="2700000" algn="tl">
                    <a:srgbClr val="000000"/>
                  </a:outerShdw>
                </a:effectLst>
              </a:rPr>
              <a:t>，故</a:t>
            </a:r>
            <a:r>
              <a:rPr kumimoji="0" lang="en-US" altLang="zh-CN" sz="2800" i="1" dirty="0">
                <a:solidFill>
                  <a:srgbClr val="99FF33"/>
                </a:solidFill>
                <a:effectLst>
                  <a:outerShdw blurRad="38100" dist="38100" dir="2700000" algn="tl">
                    <a:srgbClr val="000000"/>
                  </a:outerShdw>
                </a:effectLst>
              </a:rPr>
              <a:t>τ</a:t>
            </a:r>
            <a:r>
              <a:rPr kumimoji="0" lang="en-US" altLang="zh-CN" sz="2800" dirty="0">
                <a:solidFill>
                  <a:srgbClr val="99FF33"/>
                </a:solidFill>
                <a:effectLst>
                  <a:outerShdw blurRad="38100" dist="38100" dir="2700000" algn="tl">
                    <a:srgbClr val="000000"/>
                  </a:outerShdw>
                </a:effectLst>
              </a:rPr>
              <a:t>=</a:t>
            </a:r>
            <a:r>
              <a:rPr kumimoji="0" lang="zh-CN" altLang="zh-CN" sz="2800" dirty="0">
                <a:solidFill>
                  <a:srgbClr val="99FF33"/>
                </a:solidFill>
                <a:effectLst>
                  <a:outerShdw blurRad="38100" dist="38100" dir="2700000" algn="tl">
                    <a:srgbClr val="000000"/>
                  </a:outerShdw>
                </a:effectLst>
              </a:rPr>
              <a:t>{</a:t>
            </a:r>
            <a:r>
              <a:rPr kumimoji="0" lang="zh-CN" altLang="en-US" sz="2800" dirty="0">
                <a:solidFill>
                  <a:srgbClr val="99FF33"/>
                </a:solidFill>
                <a:effectLst>
                  <a:outerShdw blurRad="38100" dist="38100" dir="2700000" algn="tl">
                    <a:srgbClr val="000000"/>
                  </a:outerShdw>
                </a:effectLst>
              </a:rPr>
              <a:t>A</a:t>
            </a:r>
            <a:r>
              <a:rPr kumimoji="0" lang="en-US" altLang="zh-CN" sz="2800" dirty="0">
                <a:solidFill>
                  <a:srgbClr val="99FF33"/>
                </a:solidFill>
                <a:effectLst>
                  <a:outerShdw blurRad="38100" dist="38100" dir="2700000" algn="tl">
                    <a:srgbClr val="000000"/>
                  </a:outerShdw>
                </a:effectLst>
              </a:rPr>
              <a:t>D</a:t>
            </a:r>
            <a:r>
              <a:rPr kumimoji="0" lang="zh-CN" altLang="en-US" sz="2800" dirty="0">
                <a:solidFill>
                  <a:srgbClr val="99FF33"/>
                </a:solidFill>
                <a:effectLst>
                  <a:outerShdw blurRad="38100" dist="38100" dir="2700000" algn="tl">
                    <a:srgbClr val="000000"/>
                  </a:outerShdw>
                </a:effectLst>
              </a:rPr>
              <a:t>，</a:t>
            </a:r>
            <a:r>
              <a:rPr kumimoji="0" lang="en-US" altLang="zh-CN" sz="2800" dirty="0">
                <a:solidFill>
                  <a:srgbClr val="99FF33"/>
                </a:solidFill>
                <a:effectLst>
                  <a:outerShdw blurRad="38100" dist="38100" dir="2700000" algn="tl">
                    <a:srgbClr val="000000"/>
                  </a:outerShdw>
                </a:effectLst>
              </a:rPr>
              <a:t>BC</a:t>
            </a:r>
            <a:r>
              <a:rPr kumimoji="0" lang="zh-CN" altLang="en-US" sz="2800" dirty="0">
                <a:solidFill>
                  <a:srgbClr val="99FF33"/>
                </a:solidFill>
                <a:effectLst>
                  <a:outerShdw blurRad="38100" dist="38100" dir="2700000" algn="tl">
                    <a:srgbClr val="000000"/>
                  </a:outerShdw>
                </a:effectLst>
              </a:rPr>
              <a:t>，</a:t>
            </a:r>
            <a:r>
              <a:rPr kumimoji="0" lang="en-US" altLang="zh-CN" sz="2800" dirty="0">
                <a:solidFill>
                  <a:srgbClr val="99FF33"/>
                </a:solidFill>
                <a:effectLst>
                  <a:outerShdw blurRad="38100" dist="38100" dir="2700000" algn="tl">
                    <a:srgbClr val="000000"/>
                  </a:outerShdw>
                </a:effectLst>
              </a:rPr>
              <a:t>ABD</a:t>
            </a:r>
            <a:r>
              <a:rPr kumimoji="0" lang="zh-CN" altLang="zh-CN" sz="2800" dirty="0">
                <a:solidFill>
                  <a:srgbClr val="99FF33"/>
                </a:solidFill>
                <a:effectLst>
                  <a:outerShdw blurRad="38100" dist="38100" dir="2700000" algn="tl">
                    <a:srgbClr val="000000"/>
                  </a:outerShdw>
                </a:effectLst>
              </a:rPr>
              <a:t>}</a:t>
            </a:r>
            <a:r>
              <a:rPr kumimoji="0" lang="zh-CN" altLang="en-US" sz="2800" dirty="0">
                <a:solidFill>
                  <a:srgbClr val="99FF33"/>
                </a:solidFill>
                <a:effectLst>
                  <a:outerShdw blurRad="38100" dist="38100" dir="2700000" algn="tl">
                    <a:srgbClr val="000000"/>
                  </a:outerShdw>
                </a:effectLst>
              </a:rPr>
              <a:t>才能保证分解的无损连接性。由于</a:t>
            </a:r>
            <a:r>
              <a:rPr kumimoji="0" lang="en-US" altLang="zh-CN" sz="2800" dirty="0">
                <a:solidFill>
                  <a:srgbClr val="99FF33"/>
                </a:solidFill>
                <a:effectLst>
                  <a:outerShdw blurRad="38100" dist="38100" dir="2700000" algn="tl">
                    <a:srgbClr val="000000"/>
                  </a:outerShdw>
                </a:effectLst>
              </a:rPr>
              <a:t>AD</a:t>
            </a:r>
            <a:r>
              <a:rPr kumimoji="0" lang="en-US" altLang="zh-CN" sz="2800" dirty="0">
                <a:solidFill>
                  <a:srgbClr val="99FF33"/>
                </a:solidFill>
                <a:effectLst>
                  <a:outerShdw blurRad="38100" dist="38100" dir="2700000" algn="tl">
                    <a:srgbClr val="000000"/>
                  </a:outerShdw>
                </a:effectLst>
                <a:sym typeface="Symbol" pitchFamily="18" charset="2"/>
              </a:rPr>
              <a:t></a:t>
            </a:r>
            <a:r>
              <a:rPr kumimoji="0" lang="zh-CN" altLang="en-US" sz="2800" dirty="0">
                <a:solidFill>
                  <a:srgbClr val="99FF33"/>
                </a:solidFill>
                <a:effectLst>
                  <a:outerShdw blurRad="38100" dist="38100" dir="2700000" algn="tl">
                    <a:srgbClr val="000000"/>
                  </a:outerShdw>
                </a:effectLst>
              </a:rPr>
              <a:t>A</a:t>
            </a:r>
            <a:r>
              <a:rPr kumimoji="0" lang="en-US" altLang="zh-CN" sz="2800" dirty="0">
                <a:solidFill>
                  <a:srgbClr val="99FF33"/>
                </a:solidFill>
                <a:effectLst>
                  <a:outerShdw blurRad="38100" dist="38100" dir="2700000" algn="tl">
                    <a:srgbClr val="000000"/>
                  </a:outerShdw>
                </a:effectLst>
              </a:rPr>
              <a:t>BD</a:t>
            </a:r>
            <a:r>
              <a:rPr kumimoji="0" lang="zh-CN" altLang="en-US" sz="2800" dirty="0">
                <a:solidFill>
                  <a:srgbClr val="99FF33"/>
                </a:solidFill>
                <a:effectLst>
                  <a:outerShdw blurRad="38100" dist="38100" dir="2700000" algn="tl">
                    <a:srgbClr val="000000"/>
                  </a:outerShdw>
                </a:effectLst>
              </a:rPr>
              <a:t>，故最终得出</a:t>
            </a:r>
            <a:r>
              <a:rPr kumimoji="0" lang="en-US" altLang="zh-CN" sz="2800" i="1" dirty="0">
                <a:solidFill>
                  <a:srgbClr val="99FF33"/>
                </a:solidFill>
                <a:effectLst>
                  <a:outerShdw blurRad="38100" dist="38100" dir="2700000" algn="tl">
                    <a:srgbClr val="000000"/>
                  </a:outerShdw>
                </a:effectLst>
              </a:rPr>
              <a:t>τ</a:t>
            </a:r>
            <a:r>
              <a:rPr kumimoji="0" lang="en-US" altLang="zh-CN" sz="2800" dirty="0">
                <a:solidFill>
                  <a:srgbClr val="99FF33"/>
                </a:solidFill>
                <a:effectLst>
                  <a:outerShdw blurRad="38100" dist="38100" dir="2700000" algn="tl">
                    <a:srgbClr val="000000"/>
                  </a:outerShdw>
                </a:effectLst>
              </a:rPr>
              <a:t>=</a:t>
            </a:r>
            <a:r>
              <a:rPr kumimoji="0" lang="zh-CN" altLang="zh-CN" sz="2800" dirty="0">
                <a:solidFill>
                  <a:srgbClr val="99FF33"/>
                </a:solidFill>
                <a:effectLst>
                  <a:outerShdw blurRad="38100" dist="38100" dir="2700000" algn="tl">
                    <a:srgbClr val="000000"/>
                  </a:outerShdw>
                </a:effectLst>
              </a:rPr>
              <a:t>{</a:t>
            </a:r>
            <a:r>
              <a:rPr kumimoji="0" lang="en-US" altLang="zh-CN" sz="2800" dirty="0">
                <a:solidFill>
                  <a:srgbClr val="99FF33"/>
                </a:solidFill>
                <a:effectLst>
                  <a:outerShdw blurRad="38100" dist="38100" dir="2700000" algn="tl">
                    <a:srgbClr val="000000"/>
                  </a:outerShdw>
                </a:effectLst>
              </a:rPr>
              <a:t>BC</a:t>
            </a:r>
            <a:r>
              <a:rPr kumimoji="0" lang="zh-CN" altLang="en-US" sz="2800" dirty="0">
                <a:solidFill>
                  <a:srgbClr val="99FF33"/>
                </a:solidFill>
                <a:effectLst>
                  <a:outerShdw blurRad="38100" dist="38100" dir="2700000" algn="tl">
                    <a:srgbClr val="000000"/>
                  </a:outerShdw>
                </a:effectLst>
              </a:rPr>
              <a:t>，</a:t>
            </a:r>
            <a:r>
              <a:rPr kumimoji="0" lang="en-US" altLang="zh-CN" sz="2800" dirty="0">
                <a:solidFill>
                  <a:srgbClr val="99FF33"/>
                </a:solidFill>
                <a:effectLst>
                  <a:outerShdw blurRad="38100" dist="38100" dir="2700000" algn="tl">
                    <a:srgbClr val="000000"/>
                  </a:outerShdw>
                </a:effectLst>
              </a:rPr>
              <a:t>ABD</a:t>
            </a:r>
            <a:r>
              <a:rPr kumimoji="0" lang="zh-CN" altLang="zh-CN" sz="2800" dirty="0">
                <a:solidFill>
                  <a:srgbClr val="99FF33"/>
                </a:solidFill>
                <a:effectLst>
                  <a:outerShdw blurRad="38100" dist="38100" dir="2700000" algn="tl">
                    <a:srgbClr val="000000"/>
                  </a:outerShdw>
                </a:effectLst>
              </a:rPr>
              <a:t>}</a:t>
            </a:r>
            <a:r>
              <a:rPr kumimoji="0" lang="zh-CN" altLang="en-US" sz="2800" dirty="0">
                <a:solidFill>
                  <a:srgbClr val="99FF33"/>
                </a:solidFill>
                <a:effectLst>
                  <a:outerShdw blurRad="38100" dist="38100" dir="2700000" algn="tl">
                    <a:srgbClr val="000000"/>
                  </a:outerShdw>
                </a:effectLst>
              </a:rPr>
              <a:t>。</a:t>
            </a:r>
            <a:endParaRPr kumimoji="0" lang="zh-CN" altLang="zh-CN" sz="2800" dirty="0">
              <a:solidFill>
                <a:srgbClr val="99FF33"/>
              </a:solidFill>
              <a:effectLst>
                <a:outerShdw blurRad="38100" dist="38100" dir="2700000" algn="tl">
                  <a:srgbClr val="000000"/>
                </a:outerShdw>
              </a:effectLst>
            </a:endParaRPr>
          </a:p>
        </p:txBody>
      </p:sp>
    </p:spTree>
  </p:cSld>
  <p:clrMapOvr>
    <a:masterClrMapping/>
  </p:clrMapOvr>
  <p:transition spd="med">
    <p:random/>
    <p:sndAc>
      <p:stSnd>
        <p:snd r:embed="rId2" name="camera.wav"/>
      </p:stSnd>
    </p:sndAc>
  </p:transition>
  <p:timing>
    <p:tnLst>
      <p:par>
        <p:cTn id="1" dur="indefinite" restart="never" nodeType="tmRoot"/>
      </p:par>
    </p:tnLst>
  </p:timing>
</p:sld>
</file>

<file path=ppt/theme/theme1.xml><?xml version="1.0" encoding="utf-8"?>
<a:theme xmlns:a="http://schemas.openxmlformats.org/drawingml/2006/main" name="带有标题的">
  <a:themeElements>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带有标题的">
      <a:majorFont>
        <a:latin typeface="方正姚体"/>
        <a:ea typeface="方正姚体"/>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sq"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defRPr kumimoji="1" lang="en-US" sz="3200" b="0" i="0" u="none" strike="noStrike" cap="none" normalizeH="0" baseline="0" smtClean="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noFill/>
        <a:ln w="12700" cap="sq"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defRPr kumimoji="1" lang="en-US" sz="3200" b="0" i="0" u="none" strike="noStrike" cap="none" normalizeH="0" baseline="0" smtClean="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defRPr>
        </a:defPPr>
      </a:lstStyle>
    </a:lnDef>
  </a:objectDefaults>
  <a:extraClrSchemeLst>
    <a:extraClrScheme>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clrMap bg1="dk2" tx1="lt1" bg2="dk1" tx2="lt2" accent1="accent1" accent2="accent2" accent3="accent3" accent4="accent4" accent5="accent5" accent6="accent6" hlink="hlink" folHlink="folHlink"/>
    </a:extraClrScheme>
    <a:extraClrScheme>
      <a:clrScheme name="带有标题的 2">
        <a:dk1>
          <a:srgbClr val="3E3E5C"/>
        </a:dk1>
        <a:lt1>
          <a:srgbClr val="FFFFFF"/>
        </a:lt1>
        <a:dk2>
          <a:srgbClr val="666699"/>
        </a:dk2>
        <a:lt2>
          <a:srgbClr val="DFDFE9"/>
        </a:lt2>
        <a:accent1>
          <a:srgbClr val="CC66FF"/>
        </a:accent1>
        <a:accent2>
          <a:srgbClr val="679ACD"/>
        </a:accent2>
        <a:accent3>
          <a:srgbClr val="B8B8CA"/>
        </a:accent3>
        <a:accent4>
          <a:srgbClr val="DADADA"/>
        </a:accent4>
        <a:accent5>
          <a:srgbClr val="E2B8FF"/>
        </a:accent5>
        <a:accent6>
          <a:srgbClr val="5D8BBA"/>
        </a:accent6>
        <a:hlink>
          <a:srgbClr val="CCECFF"/>
        </a:hlink>
        <a:folHlink>
          <a:srgbClr val="CCCCFF"/>
        </a:folHlink>
      </a:clrScheme>
      <a:clrMap bg1="dk2" tx1="lt1" bg2="dk1" tx2="lt2" accent1="accent1" accent2="accent2" accent3="accent3" accent4="accent4" accent5="accent5" accent6="accent6" hlink="hlink" folHlink="folHlink"/>
    </a:extraClrScheme>
    <a:extraClrScheme>
      <a:clrScheme name="带有标题的 3">
        <a:dk1>
          <a:srgbClr val="2A5400"/>
        </a:dk1>
        <a:lt1>
          <a:srgbClr val="FFFFFF"/>
        </a:lt1>
        <a:dk2>
          <a:srgbClr val="4A9400"/>
        </a:dk2>
        <a:lt2>
          <a:srgbClr val="BAE8BA"/>
        </a:lt2>
        <a:accent1>
          <a:srgbClr val="33CC33"/>
        </a:accent1>
        <a:accent2>
          <a:srgbClr val="99CC00"/>
        </a:accent2>
        <a:accent3>
          <a:srgbClr val="B1C8AA"/>
        </a:accent3>
        <a:accent4>
          <a:srgbClr val="DADADA"/>
        </a:accent4>
        <a:accent5>
          <a:srgbClr val="ADE2AD"/>
        </a:accent5>
        <a:accent6>
          <a:srgbClr val="8AB900"/>
        </a:accent6>
        <a:hlink>
          <a:srgbClr val="99FF33"/>
        </a:hlink>
        <a:folHlink>
          <a:srgbClr val="FFFF99"/>
        </a:folHlink>
      </a:clrScheme>
      <a:clrMap bg1="dk2" tx1="lt1" bg2="dk1" tx2="lt2" accent1="accent1" accent2="accent2" accent3="accent3" accent4="accent4" accent5="accent5" accent6="accent6" hlink="hlink" folHlink="folHlink"/>
    </a:extraClrScheme>
    <a:extraClrScheme>
      <a:clrScheme name="带有标题的 4">
        <a:dk1>
          <a:srgbClr val="000000"/>
        </a:dk1>
        <a:lt1>
          <a:srgbClr val="FFFFFF"/>
        </a:lt1>
        <a:dk2>
          <a:srgbClr val="51596D"/>
        </a:dk2>
        <a:lt2>
          <a:srgbClr val="DDDDDD"/>
        </a:lt2>
        <a:accent1>
          <a:srgbClr val="787E8A"/>
        </a:accent1>
        <a:accent2>
          <a:srgbClr val="339966"/>
        </a:accent2>
        <a:accent3>
          <a:srgbClr val="B3B5BA"/>
        </a:accent3>
        <a:accent4>
          <a:srgbClr val="DADADA"/>
        </a:accent4>
        <a:accent5>
          <a:srgbClr val="BEC0C4"/>
        </a:accent5>
        <a:accent6>
          <a:srgbClr val="2D8A5C"/>
        </a:accent6>
        <a:hlink>
          <a:srgbClr val="00FFFF"/>
        </a:hlink>
        <a:folHlink>
          <a:srgbClr val="74B6D0"/>
        </a:folHlink>
      </a:clrScheme>
      <a:clrMap bg1="dk2" tx1="lt1" bg2="dk1" tx2="lt2" accent1="accent1" accent2="accent2" accent3="accent3" accent4="accent4" accent5="accent5" accent6="accent6" hlink="hlink" folHlink="folHlink"/>
    </a:extraClrScheme>
    <a:extraClrScheme>
      <a:clrScheme name="带有标题的 5">
        <a:dk1>
          <a:srgbClr val="5C1F00"/>
        </a:dk1>
        <a:lt1>
          <a:srgbClr val="FFFFFF"/>
        </a:lt1>
        <a:dk2>
          <a:srgbClr val="8C0000"/>
        </a:dk2>
        <a:lt2>
          <a:srgbClr val="DFD293"/>
        </a:lt2>
        <a:accent1>
          <a:srgbClr val="FF6845"/>
        </a:accent1>
        <a:accent2>
          <a:srgbClr val="BE7960"/>
        </a:accent2>
        <a:accent3>
          <a:srgbClr val="C5AAAA"/>
        </a:accent3>
        <a:accent4>
          <a:srgbClr val="DADADA"/>
        </a:accent4>
        <a:accent5>
          <a:srgbClr val="FFB9B0"/>
        </a:accent5>
        <a:accent6>
          <a:srgbClr val="AC6D56"/>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带有标题的 6">
        <a:dk1>
          <a:srgbClr val="5E4444"/>
        </a:dk1>
        <a:lt1>
          <a:srgbClr val="F7F3F3"/>
        </a:lt1>
        <a:dk2>
          <a:srgbClr val="8A6362"/>
        </a:dk2>
        <a:lt2>
          <a:srgbClr val="D8C1BA"/>
        </a:lt2>
        <a:accent1>
          <a:srgbClr val="CC6600"/>
        </a:accent1>
        <a:accent2>
          <a:srgbClr val="C16059"/>
        </a:accent2>
        <a:accent3>
          <a:srgbClr val="C4B7B7"/>
        </a:accent3>
        <a:accent4>
          <a:srgbClr val="D3D0D0"/>
        </a:accent4>
        <a:accent5>
          <a:srgbClr val="E2B8AA"/>
        </a:accent5>
        <a:accent6>
          <a:srgbClr val="AF5650"/>
        </a:accent6>
        <a:hlink>
          <a:srgbClr val="FFCC00"/>
        </a:hlink>
        <a:folHlink>
          <a:srgbClr val="CBB557"/>
        </a:folHlink>
      </a:clrScheme>
      <a:clrMap bg1="dk2" tx1="lt1" bg2="dk1" tx2="lt2" accent1="accent1" accent2="accent2" accent3="accent3" accent4="accent4" accent5="accent5" accent6="accent6" hlink="hlink" folHlink="folHlink"/>
    </a:extraClrScheme>
    <a:extraClrScheme>
      <a:clrScheme name="带有标题的 7">
        <a:dk1>
          <a:srgbClr val="7F6737"/>
        </a:dk1>
        <a:lt1>
          <a:srgbClr val="FFFFFF"/>
        </a:lt1>
        <a:dk2>
          <a:srgbClr val="BFA673"/>
        </a:dk2>
        <a:lt2>
          <a:srgbClr val="E6E3AA"/>
        </a:lt2>
        <a:accent1>
          <a:srgbClr val="FFCC00"/>
        </a:accent1>
        <a:accent2>
          <a:srgbClr val="808000"/>
        </a:accent2>
        <a:accent3>
          <a:srgbClr val="DCD0BC"/>
        </a:accent3>
        <a:accent4>
          <a:srgbClr val="DADADA"/>
        </a:accent4>
        <a:accent5>
          <a:srgbClr val="FFE2AA"/>
        </a:accent5>
        <a:accent6>
          <a:srgbClr val="737300"/>
        </a:accent6>
        <a:hlink>
          <a:srgbClr val="784700"/>
        </a:hlink>
        <a:folHlink>
          <a:srgbClr val="9A7200"/>
        </a:folHlink>
      </a:clrScheme>
      <a:clrMap bg1="dk2" tx1="lt1" bg2="dk1" tx2="lt2" accent1="accent1" accent2="accent2" accent3="accent3" accent4="accent4" accent5="accent5" accent6="accent6" hlink="hlink" folHlink="folHlink"/>
    </a:extraClrScheme>
    <a:extraClrScheme>
      <a:clrScheme name="带有标题的 8">
        <a:dk1>
          <a:srgbClr val="4B2500"/>
        </a:dk1>
        <a:lt1>
          <a:srgbClr val="F9F0D3"/>
        </a:lt1>
        <a:dk2>
          <a:srgbClr val="A69564"/>
        </a:dk2>
        <a:lt2>
          <a:srgbClr val="EFDEAF"/>
        </a:lt2>
        <a:accent1>
          <a:srgbClr val="FFFFE3"/>
        </a:accent1>
        <a:accent2>
          <a:srgbClr val="BFBFA7"/>
        </a:accent2>
        <a:accent3>
          <a:srgbClr val="FBF6E6"/>
        </a:accent3>
        <a:accent4>
          <a:srgbClr val="3F1E00"/>
        </a:accent4>
        <a:accent5>
          <a:srgbClr val="FFFFEF"/>
        </a:accent5>
        <a:accent6>
          <a:srgbClr val="ADAD97"/>
        </a:accent6>
        <a:hlink>
          <a:srgbClr val="7B6D47"/>
        </a:hlink>
        <a:folHlink>
          <a:srgbClr val="A99D2F"/>
        </a:folHlink>
      </a:clrScheme>
      <a:clrMap bg1="lt1" tx1="dk1" bg2="lt2" tx2="dk2" accent1="accent1" accent2="accent2" accent3="accent3" accent4="accent4" accent5="accent5" accent6="accent6" hlink="hlink" folHlink="folHlink"/>
    </a:extraClrScheme>
    <a:extraClrScheme>
      <a:clrScheme name="带有标题的 9">
        <a:dk1>
          <a:srgbClr val="000000"/>
        </a:dk1>
        <a:lt1>
          <a:srgbClr val="FFFFFF"/>
        </a:lt1>
        <a:dk2>
          <a:srgbClr val="000000"/>
        </a:dk2>
        <a:lt2>
          <a:srgbClr val="808080"/>
        </a:lt2>
        <a:accent1>
          <a:srgbClr val="CCECFF"/>
        </a:accent1>
        <a:accent2>
          <a:srgbClr val="333399"/>
        </a:accent2>
        <a:accent3>
          <a:srgbClr val="FFFFFF"/>
        </a:accent3>
        <a:accent4>
          <a:srgbClr val="000000"/>
        </a:accent4>
        <a:accent5>
          <a:srgbClr val="E2F4FF"/>
        </a:accent5>
        <a:accent6>
          <a:srgbClr val="2D2D8A"/>
        </a:accent6>
        <a:hlink>
          <a:srgbClr val="6600FF"/>
        </a:hlink>
        <a:folHlink>
          <a:srgbClr val="00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15743</TotalTime>
  <Words>9357</Words>
  <Application>Microsoft Office PowerPoint</Application>
  <PresentationFormat>全屏显示(4:3)</PresentationFormat>
  <Paragraphs>2090</Paragraphs>
  <Slides>77</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77</vt:i4>
      </vt:variant>
    </vt:vector>
  </HeadingPairs>
  <TitlesOfParts>
    <vt:vector size="89" baseType="lpstr">
      <vt:lpstr>方正姚体</vt:lpstr>
      <vt:lpstr>华文楷体</vt:lpstr>
      <vt:lpstr>楷体_GB2312</vt:lpstr>
      <vt:lpstr>隶书</vt:lpstr>
      <vt:lpstr>宋体</vt:lpstr>
      <vt:lpstr>微软雅黑</vt:lpstr>
      <vt:lpstr>Arial</vt:lpstr>
      <vt:lpstr>Cambria Math</vt:lpstr>
      <vt:lpstr>Symbol</vt:lpstr>
      <vt:lpstr>Times New Roman</vt:lpstr>
      <vt:lpstr>Wingdings</vt:lpstr>
      <vt:lpstr>带有标题的</vt:lpstr>
      <vt:lpstr>PowerPoint 演示文稿</vt:lpstr>
      <vt:lpstr>一个学籍E-R模型</vt:lpstr>
      <vt:lpstr>方案1：把学籍E-R模型设计成一个关系模式</vt:lpstr>
      <vt:lpstr>DSC的问题1：数据冗余太大</vt:lpstr>
      <vt:lpstr>DSC的问题2：存在插入异常</vt:lpstr>
      <vt:lpstr>DSC的问题3：存在删除异常</vt:lpstr>
      <vt:lpstr>DSC的问题4：更新复杂</vt:lpstr>
      <vt:lpstr>方案2：把学籍E-R模型设计成4个关系模式</vt:lpstr>
      <vt:lpstr>方案2的评价</vt:lpstr>
      <vt:lpstr>结论：什么是一个“好”的关系模式？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应用一例：证明逻辑蕴涵</vt:lpstr>
      <vt:lpstr>应用一例：推导函数依赖集的闭包</vt:lpstr>
      <vt:lpstr>属性集闭包</vt:lpstr>
      <vt:lpstr>属性集闭包</vt:lpstr>
      <vt:lpstr>属性集闭包</vt:lpstr>
      <vt:lpstr>属性集闭包</vt:lpstr>
      <vt:lpstr>属性集闭包</vt:lpstr>
      <vt:lpstr>属性集闭包</vt:lpstr>
      <vt:lpstr>属性集闭包</vt:lpstr>
      <vt:lpstr>属性集闭包</vt:lpstr>
      <vt:lpstr>属性集闭包</vt:lpstr>
      <vt:lpstr>属性集闭包</vt:lpstr>
      <vt:lpstr>属性集闭包</vt:lpstr>
      <vt:lpstr>函数依赖的等价</vt:lpstr>
      <vt:lpstr> 最小函数依赖集</vt:lpstr>
      <vt:lpstr> 最小函数依赖集</vt:lpstr>
      <vt:lpstr> 最小函数依赖集</vt:lpstr>
      <vt:lpstr>候选键的形式化定义</vt:lpstr>
      <vt:lpstr>候选键的求解理论</vt:lpstr>
      <vt:lpstr>候选键的求解理论</vt:lpstr>
      <vt:lpstr>候选键的求解算法</vt:lpstr>
      <vt:lpstr>候选键的求解算法</vt:lpstr>
      <vt:lpstr>候选键的求解算法</vt:lpstr>
      <vt:lpstr>范式 (Normal Form)的定义</vt:lpstr>
      <vt:lpstr>第一范式(1NF)</vt:lpstr>
      <vt:lpstr>第二范式(2NF)</vt:lpstr>
      <vt:lpstr>第三范式(3NF)</vt:lpstr>
      <vt:lpstr>BC范式(BCNF)</vt:lpstr>
      <vt:lpstr>规范化（Normalization）</vt:lpstr>
      <vt:lpstr>规范化的一般步骤</vt:lpstr>
      <vt:lpstr>关系模式的分解</vt:lpstr>
      <vt:lpstr>分解的无损连接性</vt:lpstr>
      <vt:lpstr>分解的保持函数依赖性</vt:lpstr>
      <vt:lpstr>分解案例</vt:lpstr>
      <vt:lpstr>分解案例</vt:lpstr>
      <vt:lpstr>分解案例</vt:lpstr>
      <vt:lpstr>分解案例</vt:lpstr>
      <vt:lpstr>无损连接的测试算法</vt:lpstr>
      <vt:lpstr>无损连接的测试算法</vt:lpstr>
      <vt:lpstr>无损连接的测试算法</vt:lpstr>
      <vt:lpstr>无损连接的测试算法</vt:lpstr>
      <vt:lpstr>无损连接的测试算法</vt:lpstr>
      <vt:lpstr>无损连接的测试算法</vt:lpstr>
      <vt:lpstr>无损连接的测试算法</vt:lpstr>
      <vt:lpstr>无损连接的测试算法</vt:lpstr>
      <vt:lpstr>无损连接的测试算法</vt:lpstr>
      <vt:lpstr>无损连接的测试算法</vt:lpstr>
      <vt:lpstr>无损连接的测试算法</vt:lpstr>
      <vt:lpstr>无损连接的测试算法</vt:lpstr>
      <vt:lpstr>无损连接的测试算法</vt:lpstr>
      <vt:lpstr>无损连接的一个实用定理</vt:lpstr>
      <vt:lpstr>无损连接的一个实用定理</vt:lpstr>
      <vt:lpstr>保持函数依赖测试算法</vt:lpstr>
      <vt:lpstr>保持函数依赖测试算法</vt:lpstr>
      <vt:lpstr>保持函数依赖测试算法</vt:lpstr>
      <vt:lpstr>保持函数依赖测试算法</vt:lpstr>
      <vt:lpstr>分解成3NF模式集的算法</vt:lpstr>
      <vt:lpstr>分解成3NF模式集的算法</vt:lpstr>
      <vt:lpstr>分解成3NF模式集的算法</vt:lpstr>
      <vt:lpstr>分解成3NF模式集的算法</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PanShuShu</dc:creator>
  <cp:lastModifiedBy>pansir</cp:lastModifiedBy>
  <cp:revision>1753</cp:revision>
  <dcterms:created xsi:type="dcterms:W3CDTF">1601-01-01T00:00:00Z</dcterms:created>
  <dcterms:modified xsi:type="dcterms:W3CDTF">2019-11-25T00:44:28Z</dcterms:modified>
</cp:coreProperties>
</file>