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mp" ContentType="image/png"/>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heme/themeOverride18.xml" ContentType="application/vnd.openxmlformats-officedocument.themeOverride+xml"/>
  <Override PartName="/ppt/theme/themeOverride19.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22.xml" ContentType="application/vnd.openxmlformats-officedocument.themeOverride+xml"/>
  <Override PartName="/ppt/theme/themeOverride23.xml" ContentType="application/vnd.openxmlformats-officedocument.themeOverride+xml"/>
  <Override PartName="/ppt/theme/themeOverride24.xml" ContentType="application/vnd.openxmlformats-officedocument.themeOverride+xml"/>
  <Override PartName="/ppt/theme/themeOverride25.xml" ContentType="application/vnd.openxmlformats-officedocument.themeOverride+xml"/>
  <Override PartName="/ppt/theme/themeOverride26.xml" ContentType="application/vnd.openxmlformats-officedocument.themeOverride+xml"/>
  <Override PartName="/ppt/theme/themeOverride27.xml" ContentType="application/vnd.openxmlformats-officedocument.themeOverride+xml"/>
  <Override PartName="/ppt/theme/themeOverride28.xml" ContentType="application/vnd.openxmlformats-officedocument.themeOverride+xml"/>
  <Override PartName="/ppt/theme/themeOverride29.xml" ContentType="application/vnd.openxmlformats-officedocument.themeOverride+xml"/>
  <Override PartName="/ppt/theme/themeOverride30.xml" ContentType="application/vnd.openxmlformats-officedocument.themeOverride+xml"/>
  <Override PartName="/ppt/theme/themeOverride31.xml" ContentType="application/vnd.openxmlformats-officedocument.themeOverride+xml"/>
  <Override PartName="/ppt/theme/themeOverride32.xml" ContentType="application/vnd.openxmlformats-officedocument.themeOverride+xml"/>
  <Override PartName="/ppt/theme/themeOverride33.xml" ContentType="application/vnd.openxmlformats-officedocument.themeOverride+xml"/>
  <Override PartName="/ppt/theme/themeOverride34.xml" ContentType="application/vnd.openxmlformats-officedocument.themeOverride+xml"/>
  <Override PartName="/ppt/theme/themeOverride35.xml" ContentType="application/vnd.openxmlformats-officedocument.themeOverride+xml"/>
  <Override PartName="/ppt/theme/themeOverride36.xml" ContentType="application/vnd.openxmlformats-officedocument.themeOverride+xml"/>
  <Override PartName="/ppt/theme/themeOverride37.xml" ContentType="application/vnd.openxmlformats-officedocument.themeOverride+xml"/>
  <Override PartName="/ppt/theme/themeOverride38.xml" ContentType="application/vnd.openxmlformats-officedocument.themeOverride+xml"/>
  <Override PartName="/ppt/theme/themeOverride39.xml" ContentType="application/vnd.openxmlformats-officedocument.themeOverride+xml"/>
  <Override PartName="/ppt/theme/themeOverride40.xml" ContentType="application/vnd.openxmlformats-officedocument.themeOverride+xml"/>
  <Override PartName="/ppt/theme/themeOverride41.xml" ContentType="application/vnd.openxmlformats-officedocument.themeOverride+xml"/>
  <Override PartName="/ppt/theme/themeOverride42.xml" ContentType="application/vnd.openxmlformats-officedocument.themeOverride+xml"/>
  <Override PartName="/ppt/theme/themeOverride43.xml" ContentType="application/vnd.openxmlformats-officedocument.themeOverride+xml"/>
  <Override PartName="/ppt/theme/themeOverride44.xml" ContentType="application/vnd.openxmlformats-officedocument.themeOverride+xml"/>
  <Override PartName="/ppt/theme/themeOverride45.xml" ContentType="application/vnd.openxmlformats-officedocument.themeOverride+xml"/>
  <Override PartName="/ppt/theme/themeOverride46.xml" ContentType="application/vnd.openxmlformats-officedocument.themeOverride+xml"/>
  <Override PartName="/ppt/theme/themeOverride47.xml" ContentType="application/vnd.openxmlformats-officedocument.themeOverride+xml"/>
  <Override PartName="/ppt/theme/themeOverride48.xml" ContentType="application/vnd.openxmlformats-officedocument.themeOverride+xml"/>
  <Override PartName="/ppt/theme/themeOverride49.xml" ContentType="application/vnd.openxmlformats-officedocument.themeOverride+xml"/>
  <Override PartName="/ppt/theme/themeOverride50.xml" ContentType="application/vnd.openxmlformats-officedocument.themeOverride+xml"/>
  <Override PartName="/ppt/theme/themeOverride51.xml" ContentType="application/vnd.openxmlformats-officedocument.themeOverride+xml"/>
  <Override PartName="/ppt/theme/themeOverride52.xml" ContentType="application/vnd.openxmlformats-officedocument.themeOverride+xml"/>
  <Override PartName="/ppt/theme/themeOverride53.xml" ContentType="application/vnd.openxmlformats-officedocument.themeOverride+xml"/>
  <Override PartName="/ppt/theme/themeOverride54.xml" ContentType="application/vnd.openxmlformats-officedocument.themeOverr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Lst>
  <p:notesMasterIdLst>
    <p:notesMasterId r:id="rId103"/>
  </p:notesMasterIdLst>
  <p:handoutMasterIdLst>
    <p:handoutMasterId r:id="rId104"/>
  </p:handoutMasterIdLst>
  <p:sldIdLst>
    <p:sldId id="441" r:id="rId2"/>
    <p:sldId id="713" r:id="rId3"/>
    <p:sldId id="681" r:id="rId4"/>
    <p:sldId id="714" r:id="rId5"/>
    <p:sldId id="715" r:id="rId6"/>
    <p:sldId id="716" r:id="rId7"/>
    <p:sldId id="717" r:id="rId8"/>
    <p:sldId id="718" r:id="rId9"/>
    <p:sldId id="719" r:id="rId10"/>
    <p:sldId id="306" r:id="rId11"/>
    <p:sldId id="720" r:id="rId12"/>
    <p:sldId id="721" r:id="rId13"/>
    <p:sldId id="722" r:id="rId14"/>
    <p:sldId id="723" r:id="rId15"/>
    <p:sldId id="724" r:id="rId16"/>
    <p:sldId id="725" r:id="rId17"/>
    <p:sldId id="726" r:id="rId18"/>
    <p:sldId id="727" r:id="rId19"/>
    <p:sldId id="769" r:id="rId20"/>
    <p:sldId id="675" r:id="rId21"/>
    <p:sldId id="728" r:id="rId22"/>
    <p:sldId id="729" r:id="rId23"/>
    <p:sldId id="339" r:id="rId24"/>
    <p:sldId id="730" r:id="rId25"/>
    <p:sldId id="687" r:id="rId26"/>
    <p:sldId id="688" r:id="rId27"/>
    <p:sldId id="689" r:id="rId28"/>
    <p:sldId id="770" r:id="rId29"/>
    <p:sldId id="676" r:id="rId30"/>
    <p:sldId id="731" r:id="rId31"/>
    <p:sldId id="732" r:id="rId32"/>
    <p:sldId id="733" r:id="rId33"/>
    <p:sldId id="734" r:id="rId34"/>
    <p:sldId id="622" r:id="rId35"/>
    <p:sldId id="638" r:id="rId36"/>
    <p:sldId id="639" r:id="rId37"/>
    <p:sldId id="640" r:id="rId38"/>
    <p:sldId id="641" r:id="rId39"/>
    <p:sldId id="691" r:id="rId40"/>
    <p:sldId id="690" r:id="rId41"/>
    <p:sldId id="692" r:id="rId42"/>
    <p:sldId id="693" r:id="rId43"/>
    <p:sldId id="694" r:id="rId44"/>
    <p:sldId id="695" r:id="rId45"/>
    <p:sldId id="696" r:id="rId46"/>
    <p:sldId id="697" r:id="rId47"/>
    <p:sldId id="698" r:id="rId48"/>
    <p:sldId id="736" r:id="rId49"/>
    <p:sldId id="737" r:id="rId50"/>
    <p:sldId id="677" r:id="rId51"/>
    <p:sldId id="738" r:id="rId52"/>
    <p:sldId id="739" r:id="rId53"/>
    <p:sldId id="664" r:id="rId54"/>
    <p:sldId id="740" r:id="rId55"/>
    <p:sldId id="700" r:id="rId56"/>
    <p:sldId id="324" r:id="rId57"/>
    <p:sldId id="701" r:id="rId58"/>
    <p:sldId id="702" r:id="rId59"/>
    <p:sldId id="703" r:id="rId60"/>
    <p:sldId id="704" r:id="rId61"/>
    <p:sldId id="671" r:id="rId62"/>
    <p:sldId id="705" r:id="rId63"/>
    <p:sldId id="706" r:id="rId64"/>
    <p:sldId id="707" r:id="rId65"/>
    <p:sldId id="741" r:id="rId66"/>
    <p:sldId id="742" r:id="rId67"/>
    <p:sldId id="743" r:id="rId68"/>
    <p:sldId id="744" r:id="rId69"/>
    <p:sldId id="745" r:id="rId70"/>
    <p:sldId id="746" r:id="rId71"/>
    <p:sldId id="747" r:id="rId72"/>
    <p:sldId id="748" r:id="rId73"/>
    <p:sldId id="678" r:id="rId74"/>
    <p:sldId id="749" r:id="rId75"/>
    <p:sldId id="750" r:id="rId76"/>
    <p:sldId id="336" r:id="rId77"/>
    <p:sldId id="710" r:id="rId78"/>
    <p:sldId id="709" r:id="rId79"/>
    <p:sldId id="751" r:id="rId80"/>
    <p:sldId id="752" r:id="rId81"/>
    <p:sldId id="753" r:id="rId82"/>
    <p:sldId id="754" r:id="rId83"/>
    <p:sldId id="755" r:id="rId84"/>
    <p:sldId id="756" r:id="rId85"/>
    <p:sldId id="757" r:id="rId86"/>
    <p:sldId id="679" r:id="rId87"/>
    <p:sldId id="758" r:id="rId88"/>
    <p:sldId id="759" r:id="rId89"/>
    <p:sldId id="760" r:id="rId90"/>
    <p:sldId id="761" r:id="rId91"/>
    <p:sldId id="762" r:id="rId92"/>
    <p:sldId id="763" r:id="rId93"/>
    <p:sldId id="337" r:id="rId94"/>
    <p:sldId id="711" r:id="rId95"/>
    <p:sldId id="764" r:id="rId96"/>
    <p:sldId id="765" r:id="rId97"/>
    <p:sldId id="766" r:id="rId98"/>
    <p:sldId id="767" r:id="rId99"/>
    <p:sldId id="768" r:id="rId100"/>
    <p:sldId id="674" r:id="rId101"/>
    <p:sldId id="771" r:id="rId102"/>
  </p:sldIdLst>
  <p:sldSz cx="12192000" cy="6858000"/>
  <p:notesSz cx="6858000" cy="9144000"/>
  <p:defaultTextStyle>
    <a:defPPr>
      <a:defRPr lang="en-US"/>
    </a:defPPr>
    <a:lvl1pPr algn="l" rtl="0" fontAlgn="base">
      <a:spcBef>
        <a:spcPct val="0"/>
      </a:spcBef>
      <a:spcAft>
        <a:spcPct val="25000"/>
      </a:spcAft>
      <a:buSzPct val="80000"/>
      <a:buFont typeface="Wingdings" pitchFamily="2" charset="2"/>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1pPr>
    <a:lvl2pPr marL="457200" algn="l" rtl="0" fontAlgn="base">
      <a:spcBef>
        <a:spcPct val="0"/>
      </a:spcBef>
      <a:spcAft>
        <a:spcPct val="25000"/>
      </a:spcAft>
      <a:buSzPct val="80000"/>
      <a:buFont typeface="Wingdings" pitchFamily="2" charset="2"/>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2pPr>
    <a:lvl3pPr marL="914400" algn="l" rtl="0" fontAlgn="base">
      <a:spcBef>
        <a:spcPct val="0"/>
      </a:spcBef>
      <a:spcAft>
        <a:spcPct val="25000"/>
      </a:spcAft>
      <a:buSzPct val="80000"/>
      <a:buFont typeface="Wingdings" pitchFamily="2" charset="2"/>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3pPr>
    <a:lvl4pPr marL="1371600" algn="l" rtl="0" fontAlgn="base">
      <a:spcBef>
        <a:spcPct val="0"/>
      </a:spcBef>
      <a:spcAft>
        <a:spcPct val="25000"/>
      </a:spcAft>
      <a:buSzPct val="80000"/>
      <a:buFont typeface="Wingdings" pitchFamily="2" charset="2"/>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4pPr>
    <a:lvl5pPr marL="1828800" algn="l" rtl="0" fontAlgn="base">
      <a:spcBef>
        <a:spcPct val="0"/>
      </a:spcBef>
      <a:spcAft>
        <a:spcPct val="25000"/>
      </a:spcAft>
      <a:buSzPct val="80000"/>
      <a:buFont typeface="Wingdings" pitchFamily="2" charset="2"/>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5pPr>
    <a:lvl6pPr marL="2286000" algn="l" defTabSz="914400" rtl="0" eaLnBrk="1" latinLnBrk="0" hangingPunct="1">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6pPr>
    <a:lvl7pPr marL="2743200" algn="l" defTabSz="914400" rtl="0" eaLnBrk="1" latinLnBrk="0" hangingPunct="1">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7pPr>
    <a:lvl8pPr marL="3200400" algn="l" defTabSz="914400" rtl="0" eaLnBrk="1" latinLnBrk="0" hangingPunct="1">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8pPr>
    <a:lvl9pPr marL="3657600" algn="l" defTabSz="914400" rtl="0" eaLnBrk="1" latinLnBrk="0" hangingPunct="1">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99FF33"/>
    <a:srgbClr val="BFBC44"/>
    <a:srgbClr val="00FFFF"/>
    <a:srgbClr val="CCFFCC"/>
    <a:srgbClr val="001B37"/>
    <a:srgbClr val="001939"/>
    <a:srgbClr val="00194D"/>
    <a:srgbClr val="000030"/>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18" autoAdjust="0"/>
    <p:restoredTop sz="86372" autoAdjust="0"/>
  </p:normalViewPr>
  <p:slideViewPr>
    <p:cSldViewPr>
      <p:cViewPr varScale="1">
        <p:scale>
          <a:sx n="113" d="100"/>
          <a:sy n="113" d="100"/>
        </p:scale>
        <p:origin x="282" y="96"/>
      </p:cViewPr>
      <p:guideLst>
        <p:guide orient="horz" pos="2160"/>
        <p:guide pos="3840"/>
      </p:guideLst>
    </p:cSldViewPr>
  </p:slideViewPr>
  <p:outlineViewPr>
    <p:cViewPr>
      <p:scale>
        <a:sx n="33" d="100"/>
        <a:sy n="33" d="100"/>
      </p:scale>
      <p:origin x="0" y="624"/>
    </p:cViewPr>
    <p:sldLst>
      <p:sld r:id="rId1" collapse="1"/>
      <p:sld r:id="rId2" collapse="1"/>
      <p:sld r:id="rId3" collapse="1"/>
      <p:sld r:id="rId4" collapse="1"/>
      <p:sld r:id="rId5" collapse="1"/>
    </p:sldLst>
  </p:outlineViewPr>
  <p:notesTextViewPr>
    <p:cViewPr>
      <p:scale>
        <a:sx n="100" d="100"/>
        <a:sy n="100" d="100"/>
      </p:scale>
      <p:origin x="0" y="0"/>
    </p:cViewPr>
  </p:notesTextViewPr>
  <p:sorterViewPr>
    <p:cViewPr>
      <p:scale>
        <a:sx n="100" d="100"/>
        <a:sy n="100" d="100"/>
      </p:scale>
      <p:origin x="0" y="0"/>
    </p:cViewPr>
  </p:sorterViewPr>
  <p:notesViewPr>
    <p:cSldViewPr>
      <p:cViewPr>
        <p:scale>
          <a:sx n="66" d="100"/>
          <a:sy n="66" d="100"/>
        </p:scale>
        <p:origin x="-852" y="135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notesMaster" Target="notesMasters/notesMaster1.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_rels/viewProps.xml.rels><?xml version="1.0" encoding="UTF-8" standalone="yes"?>
<Relationships xmlns="http://schemas.openxmlformats.org/package/2006/relationships"><Relationship Id="rId3" Type="http://schemas.openxmlformats.org/officeDocument/2006/relationships/slide" Target="slides/slide36.xml"/><Relationship Id="rId2" Type="http://schemas.openxmlformats.org/officeDocument/2006/relationships/slide" Target="slides/slide35.xml"/><Relationship Id="rId1" Type="http://schemas.openxmlformats.org/officeDocument/2006/relationships/slide" Target="slides/slide34.xml"/><Relationship Id="rId5" Type="http://schemas.openxmlformats.org/officeDocument/2006/relationships/slide" Target="slides/slide38.xml"/><Relationship Id="rId4"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Aft>
                <a:spcPct val="0"/>
              </a:spcAft>
              <a:buSzTx/>
              <a:buFontTx/>
              <a:buNone/>
              <a:defRPr sz="1200">
                <a:effectLst/>
                <a:latin typeface="Times New Roman" pitchFamily="18" charset="0"/>
                <a:ea typeface="宋体" pitchFamily="2" charset="-122"/>
              </a:defRPr>
            </a:lvl1pPr>
          </a:lstStyle>
          <a:p>
            <a:pPr>
              <a:defRPr/>
            </a:pPr>
            <a:endParaRPr lang="zh-CN" altLang="en-US"/>
          </a:p>
        </p:txBody>
      </p:sp>
      <p:sp>
        <p:nvSpPr>
          <p:cNvPr id="9219"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Aft>
                <a:spcPct val="0"/>
              </a:spcAft>
              <a:buSzTx/>
              <a:buFontTx/>
              <a:buNone/>
              <a:defRPr sz="1200">
                <a:effectLst/>
                <a:latin typeface="Times New Roman" pitchFamily="18" charset="0"/>
                <a:ea typeface="宋体" pitchFamily="2" charset="-122"/>
              </a:defRPr>
            </a:lvl1pPr>
          </a:lstStyle>
          <a:p>
            <a:pPr>
              <a:defRPr/>
            </a:pPr>
            <a:endParaRPr lang="en-US" altLang="zh-CN"/>
          </a:p>
        </p:txBody>
      </p:sp>
      <p:sp>
        <p:nvSpPr>
          <p:cNvPr id="9220"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Aft>
                <a:spcPct val="0"/>
              </a:spcAft>
              <a:buSzTx/>
              <a:buFontTx/>
              <a:buNone/>
              <a:defRPr sz="1200">
                <a:effectLst/>
                <a:latin typeface="Times New Roman" pitchFamily="18" charset="0"/>
                <a:ea typeface="宋体" pitchFamily="2" charset="-122"/>
              </a:defRPr>
            </a:lvl1pPr>
          </a:lstStyle>
          <a:p>
            <a:pPr>
              <a:defRPr/>
            </a:pPr>
            <a:endParaRPr lang="en-US" altLang="zh-CN"/>
          </a:p>
        </p:txBody>
      </p:sp>
      <p:sp>
        <p:nvSpPr>
          <p:cNvPr id="9221"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Aft>
                <a:spcPct val="0"/>
              </a:spcAft>
              <a:buSzTx/>
              <a:buFontTx/>
              <a:buNone/>
              <a:defRPr sz="1200">
                <a:effectLst/>
                <a:latin typeface="Times New Roman" pitchFamily="18" charset="0"/>
                <a:ea typeface="宋体" pitchFamily="2" charset="-122"/>
              </a:defRPr>
            </a:lvl1pPr>
          </a:lstStyle>
          <a:p>
            <a:pPr>
              <a:defRPr/>
            </a:pPr>
            <a:fld id="{E736E6C9-C754-4B41-9C0A-B651CD43CF7D}" type="slidenum">
              <a:rPr lang="zh-CN" altLang="en-US"/>
              <a:pPr>
                <a:defRPr/>
              </a:pPr>
              <a:t>‹#›</a:t>
            </a:fld>
            <a:endParaRPr lang="en-US" altLang="zh-CN"/>
          </a:p>
        </p:txBody>
      </p:sp>
    </p:spTree>
    <p:extLst>
      <p:ext uri="{BB962C8B-B14F-4D97-AF65-F5344CB8AC3E}">
        <p14:creationId xmlns:p14="http://schemas.microsoft.com/office/powerpoint/2010/main" val="2980203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Aft>
                <a:spcPct val="0"/>
              </a:spcAft>
              <a:buSzTx/>
              <a:buFontTx/>
              <a:buNone/>
              <a:defRPr sz="1200">
                <a:effectLst/>
                <a:latin typeface="Times New Roman" pitchFamily="18" charset="0"/>
                <a:ea typeface="宋体" pitchFamily="2" charset="-122"/>
              </a:defRPr>
            </a:lvl1pPr>
          </a:lstStyle>
          <a:p>
            <a:pPr>
              <a:defRPr/>
            </a:pPr>
            <a:endParaRPr lang="zh-CN" altLang="en-US"/>
          </a:p>
        </p:txBody>
      </p:sp>
      <p:sp>
        <p:nvSpPr>
          <p:cNvPr id="1741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Aft>
                <a:spcPct val="0"/>
              </a:spcAft>
              <a:buSzTx/>
              <a:buFontTx/>
              <a:buNone/>
              <a:defRPr sz="1200">
                <a:effectLst/>
                <a:latin typeface="Times New Roman" pitchFamily="18" charset="0"/>
                <a:ea typeface="宋体" pitchFamily="2" charset="-122"/>
              </a:defRPr>
            </a:lvl1pPr>
          </a:lstStyle>
          <a:p>
            <a:pPr>
              <a:defRPr/>
            </a:pPr>
            <a:endParaRPr lang="en-US" altLang="zh-CN"/>
          </a:p>
        </p:txBody>
      </p:sp>
      <p:sp>
        <p:nvSpPr>
          <p:cNvPr id="3584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741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Aft>
                <a:spcPct val="0"/>
              </a:spcAft>
              <a:buSzTx/>
              <a:buFontTx/>
              <a:buNone/>
              <a:defRPr sz="1200">
                <a:effectLst/>
                <a:latin typeface="Times New Roman" pitchFamily="18" charset="0"/>
                <a:ea typeface="宋体" pitchFamily="2" charset="-122"/>
              </a:defRPr>
            </a:lvl1pPr>
          </a:lstStyle>
          <a:p>
            <a:pPr>
              <a:defRPr/>
            </a:pPr>
            <a:endParaRPr lang="en-US" altLang="zh-CN"/>
          </a:p>
        </p:txBody>
      </p:sp>
      <p:sp>
        <p:nvSpPr>
          <p:cNvPr id="1741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Aft>
                <a:spcPct val="0"/>
              </a:spcAft>
              <a:buSzTx/>
              <a:buFontTx/>
              <a:buNone/>
              <a:defRPr sz="1200">
                <a:effectLst/>
                <a:latin typeface="Times New Roman" pitchFamily="18" charset="0"/>
                <a:ea typeface="宋体" pitchFamily="2" charset="-122"/>
              </a:defRPr>
            </a:lvl1pPr>
          </a:lstStyle>
          <a:p>
            <a:pPr>
              <a:defRPr/>
            </a:pPr>
            <a:fld id="{5C6F772C-D424-4D70-8E11-503C291A3206}" type="slidenum">
              <a:rPr lang="zh-CN" altLang="en-US"/>
              <a:pPr>
                <a:defRPr/>
              </a:pPr>
              <a:t>‹#›</a:t>
            </a:fld>
            <a:endParaRPr lang="en-US" altLang="zh-CN"/>
          </a:p>
        </p:txBody>
      </p:sp>
    </p:spTree>
    <p:extLst>
      <p:ext uri="{BB962C8B-B14F-4D97-AF65-F5344CB8AC3E}">
        <p14:creationId xmlns:p14="http://schemas.microsoft.com/office/powerpoint/2010/main" val="96429647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a:noFill/>
        </p:spPr>
        <p:txBody>
          <a:bodyPr/>
          <a:lstStyle/>
          <a:p>
            <a:endParaRPr lang="zh-CN" altLang="en-US"/>
          </a:p>
        </p:txBody>
      </p:sp>
    </p:spTree>
    <p:extLst>
      <p:ext uri="{BB962C8B-B14F-4D97-AF65-F5344CB8AC3E}">
        <p14:creationId xmlns:p14="http://schemas.microsoft.com/office/powerpoint/2010/main" val="20519988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573051"/>
            <a:ext cx="5109091" cy="58477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3358112071"/>
      </p:ext>
    </p:extLst>
  </p:cSld>
  <p:clrMapOvr>
    <a:masterClrMapping/>
  </p:clrMapOvr>
  <p:transition spd="med">
    <p:random/>
    <p:sndAc>
      <p:stSnd>
        <p:snd r:embed="rId1" name="arrow.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4418" y="971264"/>
            <a:ext cx="5109091" cy="584775"/>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24417" y="2276476"/>
            <a:ext cx="10972800" cy="40544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323652144"/>
      </p:ext>
    </p:extLst>
  </p:cSld>
  <p:clrMapOvr>
    <a:masterClrMapping/>
  </p:clrMapOvr>
  <p:transition spd="med">
    <p:random/>
    <p:sndAc>
      <p:stSnd>
        <p:snd r:embed="rId1" name="arrow.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6340197" cy="707886"/>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652821978"/>
      </p:ext>
    </p:extLst>
  </p:cSld>
  <p:clrMapOvr>
    <a:masterClrMapping/>
  </p:clrMapOvr>
  <p:transition spd="med">
    <p:random/>
    <p:sndAc>
      <p:stSnd>
        <p:snd r:embed="rId1" name="arrow.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4418" y="971264"/>
            <a:ext cx="5109091" cy="584775"/>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24417" y="2276476"/>
            <a:ext cx="5384800" cy="40544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12417" y="2276476"/>
            <a:ext cx="5384800" cy="40544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267752162"/>
      </p:ext>
    </p:extLst>
  </p:cSld>
  <p:clrMapOvr>
    <a:masterClrMapping/>
  </p:clrMapOvr>
  <p:transition spd="med">
    <p:random/>
    <p:sndAc>
      <p:stSnd>
        <p:snd r:embed="rId1" name="arrow.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553750"/>
            <a:ext cx="5109091" cy="584775"/>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62563878"/>
      </p:ext>
    </p:extLst>
  </p:cSld>
  <p:clrMapOvr>
    <a:masterClrMapping/>
  </p:clrMapOvr>
  <p:transition spd="med">
    <p:random/>
    <p:sndAc>
      <p:stSnd>
        <p:snd r:embed="rId1" name="arrow.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4418" y="971264"/>
            <a:ext cx="5109091" cy="584775"/>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039168378"/>
      </p:ext>
    </p:extLst>
  </p:cSld>
  <p:clrMapOvr>
    <a:masterClrMapping/>
  </p:clrMapOvr>
  <p:transition spd="med">
    <p:random/>
    <p:sndAc>
      <p:stSnd>
        <p:snd r:embed="rId1" name="arrow.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3307342"/>
      </p:ext>
    </p:extLst>
  </p:cSld>
  <p:clrMapOvr>
    <a:masterClrMapping/>
  </p:clrMapOvr>
  <p:transition spd="med">
    <p:random/>
    <p:sndAc>
      <p:stSnd>
        <p:snd r:embed="rId1" name="arrow.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1034990"/>
            <a:ext cx="3262432" cy="40011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363177642"/>
      </p:ext>
    </p:extLst>
  </p:cSld>
  <p:clrMapOvr>
    <a:masterClrMapping/>
  </p:clrMapOvr>
  <p:transition spd="med">
    <p:random/>
    <p:sndAc>
      <p:stSnd>
        <p:snd r:embed="rId1" name="arrow.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967228"/>
            <a:ext cx="3262432" cy="400110"/>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381678149"/>
      </p:ext>
    </p:extLst>
  </p:cSld>
  <p:clrMapOvr>
    <a:masterClrMapping/>
  </p:clrMapOvr>
  <p:transition spd="med">
    <p:random/>
    <p:sndAc>
      <p:stSnd>
        <p:snd r:embed="rId1" name="arrow.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4418" y="971264"/>
            <a:ext cx="5109091" cy="584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24417" y="2276476"/>
            <a:ext cx="10972800" cy="405447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56922091"/>
      </p:ext>
    </p:extLst>
  </p:cSld>
  <p:clrMapOvr>
    <a:masterClrMapping/>
  </p:clrMapOvr>
  <p:transition spd="med">
    <p:random/>
    <p:sndAc>
      <p:stSnd>
        <p:snd r:embed="rId1" name="arrow.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87063" y="989014"/>
            <a:ext cx="677108" cy="501675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4417" y="989014"/>
            <a:ext cx="8026400" cy="5341937"/>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922894522"/>
      </p:ext>
    </p:extLst>
  </p:cSld>
  <p:clrMapOvr>
    <a:masterClrMapping/>
  </p:clrMapOvr>
  <p:transition spd="med">
    <p:random/>
    <p:sndAc>
      <p:stSnd>
        <p:snd r:embed="rId1" name="arrow.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10"/>
          </p:nvPr>
        </p:nvSpPr>
        <p:spPr>
          <a:xfrm>
            <a:off x="335360" y="0"/>
            <a:ext cx="6912768" cy="692696"/>
          </a:xfrm>
        </p:spPr>
        <p:txBody>
          <a:bodyPr/>
          <a:lstStyle>
            <a:lvl1pPr marL="0" indent="0">
              <a:buFont typeface="Arial" pitchFamily="34" charset="0"/>
              <a:buNone/>
              <a:defRPr/>
            </a:lvl1pPr>
          </a:lstStyle>
          <a:p>
            <a:pPr lvl="0"/>
            <a:r>
              <a:rPr lang="zh-CN" altLang="en-US" dirty="0"/>
              <a:t>单击此处编辑母版文本样式</a:t>
            </a:r>
          </a:p>
        </p:txBody>
      </p:sp>
    </p:spTree>
    <p:extLst>
      <p:ext uri="{BB962C8B-B14F-4D97-AF65-F5344CB8AC3E}">
        <p14:creationId xmlns:p14="http://schemas.microsoft.com/office/powerpoint/2010/main" val="2642391328"/>
      </p:ext>
    </p:extLst>
  </p:cSld>
  <p:clrMapOvr>
    <a:masterClrMapping/>
  </p:clrMapOvr>
  <mc:AlternateContent xmlns:mc="http://schemas.openxmlformats.org/markup-compatibility/2006" xmlns:p14="http://schemas.microsoft.com/office/powerpoint/2010/main">
    <mc:Choice Requires="p14">
      <p:transition spd="slow" p14:dur="1500">
        <p:split orient="vert"/>
        <p:sndAc>
          <p:stSnd>
            <p:snd r:embed="rId1" name="arrow.wav"/>
          </p:stSnd>
        </p:sndAc>
      </p:transition>
    </mc:Choice>
    <mc:Fallback xmlns="">
      <p:transition spd="slow">
        <p:split orient="vert"/>
        <p:sndAc>
          <p:stSnd>
            <p:snd r:embed="rId3" name="arrow.wav"/>
          </p:stSnd>
        </p:sndAc>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10"/>
          </p:nvPr>
        </p:nvSpPr>
        <p:spPr>
          <a:xfrm>
            <a:off x="335360" y="0"/>
            <a:ext cx="6912768" cy="692696"/>
          </a:xfrm>
        </p:spPr>
        <p:txBody>
          <a:bodyPr/>
          <a:lstStyle>
            <a:lvl1pPr marL="0" indent="0">
              <a:buFont typeface="Arial" pitchFamily="34" charset="0"/>
              <a:buNone/>
              <a:defRPr/>
            </a:lvl1pPr>
          </a:lstStyle>
          <a:p>
            <a:pPr lvl="0"/>
            <a:r>
              <a:rPr lang="zh-CN" altLang="en-US" dirty="0"/>
              <a:t>单击此处编辑母版文本样式</a:t>
            </a:r>
          </a:p>
        </p:txBody>
      </p:sp>
    </p:spTree>
    <p:extLst>
      <p:ext uri="{BB962C8B-B14F-4D97-AF65-F5344CB8AC3E}">
        <p14:creationId xmlns:p14="http://schemas.microsoft.com/office/powerpoint/2010/main" val="3883981500"/>
      </p:ext>
    </p:extLst>
  </p:cSld>
  <p:clrMapOvr>
    <a:masterClrMapping/>
  </p:clrMapOvr>
  <mc:AlternateContent xmlns:mc="http://schemas.openxmlformats.org/markup-compatibility/2006" xmlns:p14="http://schemas.microsoft.com/office/powerpoint/2010/main">
    <mc:Choice Requires="p14">
      <p:transition spd="slow" p14:dur="1500">
        <p:split orient="vert"/>
        <p:sndAc>
          <p:stSnd>
            <p:snd r:embed="rId1" name="arrow.wav"/>
          </p:stSnd>
        </p:sndAc>
      </p:transition>
    </mc:Choice>
    <mc:Fallback xmlns="">
      <p:transition spd="slow">
        <p:split orient="vert"/>
        <p:sndAc>
          <p:stSnd>
            <p:snd r:embed="rId3" name="arrow.wav"/>
          </p:stSnd>
        </p:sndAc>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10"/>
          </p:nvPr>
        </p:nvSpPr>
        <p:spPr>
          <a:xfrm>
            <a:off x="335360" y="0"/>
            <a:ext cx="6912768" cy="692696"/>
          </a:xfrm>
        </p:spPr>
        <p:txBody>
          <a:bodyPr/>
          <a:lstStyle>
            <a:lvl1pPr marL="0" indent="0">
              <a:buFont typeface="Arial" pitchFamily="34" charset="0"/>
              <a:buNone/>
              <a:defRPr/>
            </a:lvl1pPr>
          </a:lstStyle>
          <a:p>
            <a:pPr lvl="0"/>
            <a:r>
              <a:rPr lang="zh-CN" altLang="en-US" dirty="0"/>
              <a:t>单击此处编辑母版文本样式</a:t>
            </a:r>
          </a:p>
        </p:txBody>
      </p:sp>
    </p:spTree>
    <p:extLst>
      <p:ext uri="{BB962C8B-B14F-4D97-AF65-F5344CB8AC3E}">
        <p14:creationId xmlns:p14="http://schemas.microsoft.com/office/powerpoint/2010/main" val="3275890874"/>
      </p:ext>
    </p:extLst>
  </p:cSld>
  <p:clrMapOvr>
    <a:masterClrMapping/>
  </p:clrMapOvr>
  <mc:AlternateContent xmlns:mc="http://schemas.openxmlformats.org/markup-compatibility/2006" xmlns:p14="http://schemas.microsoft.com/office/powerpoint/2010/main">
    <mc:Choice Requires="p14">
      <p:transition spd="slow" p14:dur="1500">
        <p:split orient="vert"/>
        <p:sndAc>
          <p:stSnd>
            <p:snd r:embed="rId1" name="arrow.wav"/>
          </p:stSnd>
        </p:sndAc>
      </p:transition>
    </mc:Choice>
    <mc:Fallback xmlns="">
      <p:transition spd="slow">
        <p:split orient="vert"/>
        <p:sndAc>
          <p:stSnd>
            <p:snd r:embed="rId3" name="arrow.wav"/>
          </p:stSnd>
        </p:sndAc>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10"/>
          </p:nvPr>
        </p:nvSpPr>
        <p:spPr>
          <a:xfrm>
            <a:off x="335360" y="0"/>
            <a:ext cx="6912768" cy="692696"/>
          </a:xfrm>
        </p:spPr>
        <p:txBody>
          <a:bodyPr/>
          <a:lstStyle>
            <a:lvl1pPr marL="0" indent="0">
              <a:buFont typeface="Arial" pitchFamily="34" charset="0"/>
              <a:buNone/>
              <a:defRPr/>
            </a:lvl1pPr>
          </a:lstStyle>
          <a:p>
            <a:pPr lvl="0"/>
            <a:r>
              <a:rPr lang="zh-CN" altLang="en-US" dirty="0"/>
              <a:t>单击此处编辑母版文本样式</a:t>
            </a:r>
          </a:p>
        </p:txBody>
      </p:sp>
    </p:spTree>
    <p:extLst>
      <p:ext uri="{BB962C8B-B14F-4D97-AF65-F5344CB8AC3E}">
        <p14:creationId xmlns:p14="http://schemas.microsoft.com/office/powerpoint/2010/main" val="668784083"/>
      </p:ext>
    </p:extLst>
  </p:cSld>
  <p:clrMapOvr>
    <a:masterClrMapping/>
  </p:clrMapOvr>
  <mc:AlternateContent xmlns:mc="http://schemas.openxmlformats.org/markup-compatibility/2006" xmlns:p14="http://schemas.microsoft.com/office/powerpoint/2010/main">
    <mc:Choice Requires="p14">
      <p:transition spd="slow" p14:dur="1500">
        <p:split orient="vert"/>
        <p:sndAc>
          <p:stSnd>
            <p:snd r:embed="rId1" name="arrow.wav"/>
          </p:stSnd>
        </p:sndAc>
      </p:transition>
    </mc:Choice>
    <mc:Fallback xmlns="">
      <p:transition spd="slow">
        <p:split orient="vert"/>
        <p:sndAc>
          <p:stSnd>
            <p:snd r:embed="rId3" name="arrow.wav"/>
          </p:stSnd>
        </p:sndAc>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10"/>
          </p:nvPr>
        </p:nvSpPr>
        <p:spPr>
          <a:xfrm>
            <a:off x="335360" y="0"/>
            <a:ext cx="6912768" cy="692696"/>
          </a:xfrm>
        </p:spPr>
        <p:txBody>
          <a:bodyPr/>
          <a:lstStyle>
            <a:lvl1pPr marL="0" indent="0">
              <a:buFont typeface="Arial" pitchFamily="34" charset="0"/>
              <a:buNone/>
              <a:defRPr/>
            </a:lvl1pPr>
          </a:lstStyle>
          <a:p>
            <a:pPr lvl="0"/>
            <a:r>
              <a:rPr lang="zh-CN" altLang="en-US" dirty="0"/>
              <a:t>单击此处编辑母版文本样式</a:t>
            </a:r>
          </a:p>
        </p:txBody>
      </p:sp>
    </p:spTree>
    <p:extLst>
      <p:ext uri="{BB962C8B-B14F-4D97-AF65-F5344CB8AC3E}">
        <p14:creationId xmlns:p14="http://schemas.microsoft.com/office/powerpoint/2010/main" val="228348601"/>
      </p:ext>
    </p:extLst>
  </p:cSld>
  <p:clrMapOvr>
    <a:masterClrMapping/>
  </p:clrMapOvr>
  <mc:AlternateContent xmlns:mc="http://schemas.openxmlformats.org/markup-compatibility/2006" xmlns:p14="http://schemas.microsoft.com/office/powerpoint/2010/main">
    <mc:Choice Requires="p14">
      <p:transition spd="slow" p14:dur="1500">
        <p:split orient="vert"/>
        <p:sndAc>
          <p:stSnd>
            <p:snd r:embed="rId1" name="arrow.wav"/>
          </p:stSnd>
        </p:sndAc>
      </p:transition>
    </mc:Choice>
    <mc:Fallback xmlns="">
      <p:transition spd="slow">
        <p:split orient="vert"/>
        <p:sndAc>
          <p:stSnd>
            <p:snd r:embed="rId3" name="arrow.wav"/>
          </p:stSnd>
        </p:sndAc>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1B37"/>
        </a:solidFill>
        <a:effectLst/>
      </p:bgPr>
    </p:bg>
    <p:spTree>
      <p:nvGrpSpPr>
        <p:cNvPr id="1" name=""/>
        <p:cNvGrpSpPr/>
        <p:nvPr/>
      </p:nvGrpSpPr>
      <p:grpSpPr>
        <a:xfrm>
          <a:off x="0" y="0"/>
          <a:ext cx="0" cy="0"/>
          <a:chOff x="0" y="0"/>
          <a:chExt cx="0" cy="0"/>
        </a:xfrm>
      </p:grpSpPr>
      <p:sp>
        <p:nvSpPr>
          <p:cNvPr id="16" name="椭圆 15">
            <a:extLst>
              <a:ext uri="{FF2B5EF4-FFF2-40B4-BE49-F238E27FC236}">
                <a16:creationId xmlns:a16="http://schemas.microsoft.com/office/drawing/2014/main" id="{CD3B5E52-CA8D-4A02-A293-F00F8A2ADC42}"/>
              </a:ext>
            </a:extLst>
          </p:cNvPr>
          <p:cNvSpPr/>
          <p:nvPr userDrawn="1"/>
        </p:nvSpPr>
        <p:spPr>
          <a:xfrm rot="16200000">
            <a:off x="222576" y="244210"/>
            <a:ext cx="398347" cy="398346"/>
          </a:xfrm>
          <a:prstGeom prst="ellipse">
            <a:avLst/>
          </a:prstGeom>
          <a:noFill/>
          <a:ln>
            <a:solidFill>
              <a:srgbClr val="FCF873">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1DF97"/>
              </a:solidFill>
            </a:endParaRPr>
          </a:p>
        </p:txBody>
      </p:sp>
      <p:cxnSp>
        <p:nvCxnSpPr>
          <p:cNvPr id="17" name="直接连接符 16">
            <a:extLst>
              <a:ext uri="{FF2B5EF4-FFF2-40B4-BE49-F238E27FC236}">
                <a16:creationId xmlns:a16="http://schemas.microsoft.com/office/drawing/2014/main" id="{E7766A46-BA6B-4F9C-BEC4-CFAF5E17481B}"/>
              </a:ext>
            </a:extLst>
          </p:cNvPr>
          <p:cNvCxnSpPr/>
          <p:nvPr userDrawn="1"/>
        </p:nvCxnSpPr>
        <p:spPr>
          <a:xfrm>
            <a:off x="-183148" y="445961"/>
            <a:ext cx="495705" cy="0"/>
          </a:xfrm>
          <a:prstGeom prst="line">
            <a:avLst/>
          </a:prstGeom>
          <a:ln>
            <a:solidFill>
              <a:srgbClr val="FCF873">
                <a:alpha val="70000"/>
              </a:srgbClr>
            </a:solidFill>
          </a:ln>
        </p:spPr>
        <p:style>
          <a:lnRef idx="1">
            <a:schemeClr val="accent1"/>
          </a:lnRef>
          <a:fillRef idx="0">
            <a:schemeClr val="accent1"/>
          </a:fillRef>
          <a:effectRef idx="0">
            <a:schemeClr val="accent1"/>
          </a:effectRef>
          <a:fontRef idx="minor">
            <a:schemeClr val="tx1"/>
          </a:fontRef>
        </p:style>
      </p:cxnSp>
      <p:sp>
        <p:nvSpPr>
          <p:cNvPr id="18" name="椭圆 17">
            <a:extLst>
              <a:ext uri="{FF2B5EF4-FFF2-40B4-BE49-F238E27FC236}">
                <a16:creationId xmlns:a16="http://schemas.microsoft.com/office/drawing/2014/main" id="{BFDA24AE-8A8F-4D73-B01A-A6B730FCF373}"/>
              </a:ext>
            </a:extLst>
          </p:cNvPr>
          <p:cNvSpPr>
            <a:spLocks noChangeAspect="1"/>
          </p:cNvSpPr>
          <p:nvPr userDrawn="1"/>
        </p:nvSpPr>
        <p:spPr>
          <a:xfrm rot="16200000">
            <a:off x="312557" y="334925"/>
            <a:ext cx="221871" cy="221871"/>
          </a:xfrm>
          <a:prstGeom prst="ellipse">
            <a:avLst/>
          </a:prstGeom>
          <a:gradFill>
            <a:gsLst>
              <a:gs pos="68000">
                <a:srgbClr val="C69135"/>
              </a:gs>
              <a:gs pos="31000">
                <a:srgbClr val="E6D38F"/>
              </a:gs>
              <a:gs pos="0">
                <a:srgbClr val="FCD860"/>
              </a:gs>
              <a:gs pos="100000">
                <a:srgbClr val="F1DF97"/>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1DF97"/>
              </a:solidFill>
            </a:endParaRPr>
          </a:p>
        </p:txBody>
      </p:sp>
    </p:spTree>
  </p:cSld>
  <p:clrMap bg1="dk2" tx1="lt1" bg2="dk1" tx2="lt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 id="2147483666" r:id="rId14"/>
    <p:sldLayoutId id="2147483667" r:id="rId15"/>
    <p:sldLayoutId id="2147483668" r:id="rId16"/>
  </p:sldLayoutIdLst>
  <p:transition spd="med">
    <p:random/>
    <p:sndAc>
      <p:stSnd>
        <p:snd r:embed="rId18" name="arrow.wav"/>
      </p:stSnd>
    </p:sndAc>
  </p:transition>
  <p:hf sldNum="0" hdr="0" ftr="0" dt="0"/>
  <p:txStyles>
    <p:titleStyle>
      <a:lvl1pPr algn="l" rtl="0" eaLnBrk="0" fontAlgn="base" hangingPunct="0">
        <a:spcBef>
          <a:spcPct val="0"/>
        </a:spcBef>
        <a:spcAft>
          <a:spcPct val="0"/>
        </a:spcAft>
        <a:defRPr sz="3200">
          <a:solidFill>
            <a:srgbClr val="FF9900"/>
          </a:solidFill>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p:titleStyle>
    <p:bodyStyle>
      <a:lvl1pPr marL="342900" indent="-342900" algn="l" rtl="0" eaLnBrk="0" fontAlgn="base" hangingPunct="0">
        <a:spcBef>
          <a:spcPct val="0"/>
        </a:spcBef>
        <a:spcAft>
          <a:spcPct val="40000"/>
        </a:spcAft>
        <a:buClr>
          <a:srgbClr val="66FF33"/>
        </a:buClr>
        <a:buSzPct val="85000"/>
        <a:buFont typeface="Wingdings" pitchFamily="2" charset="2"/>
        <a:buBlip>
          <a:blip r:embed="rId19"/>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_rels/slide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3.xml"/></Relationships>
</file>

<file path=ppt/slides/_rels/slide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4.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5.xml"/></Relationships>
</file>

<file path=ppt/slides/_rels/slide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6.xml"/><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7.xml"/></Relationships>
</file>

<file path=ppt/slides/_rels/slide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8.xml"/></Relationships>
</file>

<file path=ppt/slides/_rels/slide1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9.xml"/></Relationships>
</file>

<file path=ppt/slides/_rels/slide1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10.xml"/></Relationships>
</file>

<file path=ppt/slides/_rels/slide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11.xml"/></Relationships>
</file>

<file path=ppt/slides/_rels/slide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12.xml"/><Relationship Id="rId4" Type="http://schemas.openxmlformats.org/officeDocument/2006/relationships/image" Target="../media/image4.jpeg"/></Relationships>
</file>

<file path=ppt/slides/_rels/slide1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13.xml"/></Relationships>
</file>

<file path=ppt/slides/_rels/slide1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14.xml"/></Relationships>
</file>

<file path=ppt/slides/_rels/slide19.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5.tmp"/><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audio" Target="../media/audio1.wav"/><Relationship Id="rId5" Type="http://schemas.openxmlformats.org/officeDocument/2006/relationships/tags" Target="../tags/tag5.xml"/><Relationship Id="rId10" Type="http://schemas.openxmlformats.org/officeDocument/2006/relationships/slideLayout" Target="../slideLayouts/slideLayout7.xml"/><Relationship Id="rId4" Type="http://schemas.openxmlformats.org/officeDocument/2006/relationships/tags" Target="../tags/tag4.xml"/><Relationship Id="rId9" Type="http://schemas.openxmlformats.org/officeDocument/2006/relationships/tags" Target="../tags/tag9.xml"/></Relationships>
</file>

<file path=ppt/slides/_rels/slide2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15.xml"/></Relationships>
</file>

<file path=ppt/slides/_rels/slide2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16.xml"/></Relationships>
</file>

<file path=ppt/slides/_rels/slide2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17.xml"/></Relationships>
</file>

<file path=ppt/slides/_rels/slide2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tags" Target="../tags/tag17.xml"/><Relationship Id="rId3" Type="http://schemas.openxmlformats.org/officeDocument/2006/relationships/tags" Target="../tags/tag12.xml"/><Relationship Id="rId7" Type="http://schemas.openxmlformats.org/officeDocument/2006/relationships/tags" Target="../tags/tag16.xml"/><Relationship Id="rId12" Type="http://schemas.openxmlformats.org/officeDocument/2006/relationships/image" Target="../media/image5.tmp"/><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audio" Target="../media/audio1.wav"/><Relationship Id="rId5" Type="http://schemas.openxmlformats.org/officeDocument/2006/relationships/tags" Target="../tags/tag14.xml"/><Relationship Id="rId10" Type="http://schemas.openxmlformats.org/officeDocument/2006/relationships/slideLayout" Target="../slideLayouts/slideLayout7.xml"/><Relationship Id="rId4" Type="http://schemas.openxmlformats.org/officeDocument/2006/relationships/tags" Target="../tags/tag13.xml"/><Relationship Id="rId9" Type="http://schemas.openxmlformats.org/officeDocument/2006/relationships/tags" Target="../tags/tag18.xml"/></Relationships>
</file>

<file path=ppt/slides/_rels/slide2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18.xml"/></Relationships>
</file>

<file path=ppt/slides/_rels/slide3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19.xml"/></Relationships>
</file>

<file path=ppt/slides/_rels/slide3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20.xml"/></Relationships>
</file>

<file path=ppt/slides/_rels/slide3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2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12.xml"/><Relationship Id="rId4" Type="http://schemas.openxmlformats.org/officeDocument/2006/relationships/audio" Target="../media/audio1.wav"/></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13.xml"/><Relationship Id="rId4" Type="http://schemas.openxmlformats.org/officeDocument/2006/relationships/audio" Target="../media/audio1.wav"/></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14.xml"/><Relationship Id="rId4" Type="http://schemas.openxmlformats.org/officeDocument/2006/relationships/audio" Target="../media/audio1.wav"/></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15.xml"/><Relationship Id="rId4" Type="http://schemas.openxmlformats.org/officeDocument/2006/relationships/audio" Target="../media/audio1.wav"/></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emf"/></Relationships>
</file>

<file path=ppt/slides/_rels/slide3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4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22.xml"/></Relationships>
</file>

<file path=ppt/slides/_rels/slide4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23.xml"/></Relationships>
</file>

<file path=ppt/slides/_rels/slide5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24.xml"/></Relationships>
</file>

<file path=ppt/slides/_rels/slide5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25.xml"/></Relationships>
</file>

<file path=ppt/slides/_rels/slide5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5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26.xml"/><Relationship Id="rId4" Type="http://schemas.openxmlformats.org/officeDocument/2006/relationships/image" Target="../media/image13.jpeg"/></Relationships>
</file>

<file path=ppt/slides/_rels/slide5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6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27.xml"/></Relationships>
</file>

<file path=ppt/slides/_rels/slide6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28.xml"/></Relationships>
</file>

<file path=ppt/slides/_rels/slide6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29.xml"/></Relationships>
</file>

<file path=ppt/slides/_rels/slide6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30.xml"/></Relationships>
</file>

<file path=ppt/slides/_rels/slide6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31.xml"/></Relationships>
</file>

<file path=ppt/slides/_rels/slide7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32.xml"/></Relationships>
</file>

<file path=ppt/slides/_rels/slide7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33.xml"/></Relationships>
</file>

<file path=ppt/slides/_rels/slide7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34.xml"/></Relationships>
</file>

<file path=ppt/slides/_rels/slide7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35.xml"/></Relationships>
</file>

<file path=ppt/slides/_rels/slide7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36.xml"/></Relationships>
</file>

<file path=ppt/slides/_rels/slide7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37.xml"/></Relationships>
</file>

<file path=ppt/slides/_rels/slide8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38.xml"/></Relationships>
</file>

<file path=ppt/slides/_rels/slide8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39.xml"/></Relationships>
</file>

<file path=ppt/slides/_rels/slide8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40.xml"/></Relationships>
</file>

<file path=ppt/slides/_rels/slide8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41.xml"/></Relationships>
</file>

<file path=ppt/slides/_rels/slide8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42.xml"/></Relationships>
</file>

<file path=ppt/slides/_rels/slide8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43.xml"/></Relationships>
</file>

<file path=ppt/slides/_rels/slide8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44.xml"/></Relationships>
</file>

<file path=ppt/slides/_rels/slide8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45.xml"/></Relationships>
</file>

<file path=ppt/slides/_rels/slide8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46.xml"/></Relationships>
</file>

<file path=ppt/slides/_rels/slide9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47.xml"/></Relationships>
</file>

<file path=ppt/slides/_rels/slide9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48.xml"/></Relationships>
</file>

<file path=ppt/slides/_rels/slide9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49.xml"/></Relationships>
</file>

<file path=ppt/slides/_rels/slide9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9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50.xml"/></Relationships>
</file>

<file path=ppt/slides/_rels/slide9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51.xml"/></Relationships>
</file>

<file path=ppt/slides/_rels/slide9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52.xml"/></Relationships>
</file>

<file path=ppt/slides/_rels/slide9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53.xml"/></Relationships>
</file>

<file path=ppt/slides/_rels/slide9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themeOverride" Target="../theme/themeOverride54.xml"/></Relationships>
</file>

<file path=ppt/slides/_rels/slide10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8" Type="http://schemas.openxmlformats.org/officeDocument/2006/relationships/tags" Target="../tags/tag26.xml"/><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image" Target="../media/image5.tmp"/><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audio" Target="../media/audio1.wav"/><Relationship Id="rId5" Type="http://schemas.openxmlformats.org/officeDocument/2006/relationships/tags" Target="../tags/tag23.xml"/><Relationship Id="rId10" Type="http://schemas.openxmlformats.org/officeDocument/2006/relationships/slideLayout" Target="../slideLayouts/slideLayout7.xml"/><Relationship Id="rId4" Type="http://schemas.openxmlformats.org/officeDocument/2006/relationships/tags" Target="../tags/tag22.xml"/><Relationship Id="rId9" Type="http://schemas.openxmlformats.org/officeDocument/2006/relationships/tags" Target="../tags/tag2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WordArt 25"/>
          <p:cNvSpPr>
            <a:spLocks noChangeArrowheads="1" noChangeShapeType="1" noTextEdit="1"/>
          </p:cNvSpPr>
          <p:nvPr/>
        </p:nvSpPr>
        <p:spPr bwMode="auto">
          <a:xfrm>
            <a:off x="839416" y="3475039"/>
            <a:ext cx="10513168" cy="1146175"/>
          </a:xfrm>
          <a:prstGeom prst="rect">
            <a:avLst/>
          </a:prstGeom>
        </p:spPr>
        <p:txBody>
          <a:bodyPr wrap="none" fromWordArt="1">
            <a:prstTxWarp prst="textPlain">
              <a:avLst>
                <a:gd name="adj" fmla="val 50000"/>
              </a:avLst>
            </a:prstTxWarp>
          </a:bodyPr>
          <a:lstStyle/>
          <a:p>
            <a:pPr marL="0" marR="0" lvl="0" indent="0" algn="dist" defTabSz="914400" rtl="0" eaLnBrk="1" fontAlgn="base" latinLnBrk="0" hangingPunct="1">
              <a:lnSpc>
                <a:spcPct val="100000"/>
              </a:lnSpc>
              <a:spcBef>
                <a:spcPct val="0"/>
              </a:spcBef>
              <a:spcAft>
                <a:spcPct val="25000"/>
              </a:spcAft>
              <a:buClrTx/>
              <a:buSzPct val="80000"/>
              <a:buFont typeface="Wingdings" pitchFamily="2" charset="2"/>
              <a:buNone/>
              <a:tabLst/>
              <a:defRPr/>
            </a:pPr>
            <a:r>
              <a:rPr kumimoji="1" lang="zh-CN" altLang="en-US" sz="13800" b="0" i="0" u="none" strike="noStrike" kern="10" cap="none" spc="560" normalizeH="0" baseline="0" noProof="0" dirty="0">
                <a:ln w="19050" cap="sq">
                  <a:solidFill>
                    <a:srgbClr val="FFCC00"/>
                  </a:solidFill>
                  <a:round/>
                  <a:headEnd/>
                  <a:tailEnd/>
                </a:ln>
                <a:gradFill rotWithShape="1">
                  <a:gsLst>
                    <a:gs pos="0">
                      <a:srgbClr val="50080D"/>
                    </a:gs>
                    <a:gs pos="100000">
                      <a:srgbClr val="FF0000"/>
                    </a:gs>
                  </a:gsLst>
                  <a:lin ang="2700000" scaled="1"/>
                </a:gradFill>
                <a:effectLst>
                  <a:outerShdw dist="35921" dir="2700000" algn="ctr" rotWithShape="0">
                    <a:srgbClr val="000514">
                      <a:alpha val="79999"/>
                    </a:srgbClr>
                  </a:outerShdw>
                </a:effectLst>
                <a:uLnTx/>
                <a:uFillTx/>
                <a:latin typeface="隶书"/>
                <a:ea typeface="隶书"/>
                <a:cs typeface="+mn-cs"/>
              </a:rPr>
              <a:t>数据库系统设计</a:t>
            </a:r>
          </a:p>
        </p:txBody>
      </p:sp>
      <p:sp>
        <p:nvSpPr>
          <p:cNvPr id="8" name="WordArt 26"/>
          <p:cNvSpPr>
            <a:spLocks noChangeArrowheads="1" noChangeShapeType="1" noTextEdit="1"/>
          </p:cNvSpPr>
          <p:nvPr/>
        </p:nvSpPr>
        <p:spPr bwMode="auto">
          <a:xfrm>
            <a:off x="4186188" y="1867584"/>
            <a:ext cx="3565996" cy="947684"/>
          </a:xfrm>
          <a:prstGeom prst="rect">
            <a:avLst/>
          </a:prstGeom>
        </p:spPr>
        <p:txBody>
          <a:bodyPr wrap="none" fromWordArt="1">
            <a:prstTxWarp prst="textPlain">
              <a:avLst>
                <a:gd name="adj" fmla="val 50000"/>
              </a:avLst>
            </a:prstTxWarp>
          </a:bodyPr>
          <a:lstStyle/>
          <a:p>
            <a:pPr marL="0" marR="0" lvl="0" indent="0" algn="dist" defTabSz="914400" rtl="0" eaLnBrk="1" fontAlgn="base" latinLnBrk="0" hangingPunct="1">
              <a:lnSpc>
                <a:spcPct val="100000"/>
              </a:lnSpc>
              <a:spcBef>
                <a:spcPct val="0"/>
              </a:spcBef>
              <a:spcAft>
                <a:spcPct val="25000"/>
              </a:spcAft>
              <a:buClrTx/>
              <a:buSzPct val="80000"/>
              <a:buFont typeface="Wingdings" pitchFamily="2" charset="2"/>
              <a:buNone/>
              <a:tabLst/>
              <a:defRPr/>
            </a:pPr>
            <a:r>
              <a:rPr kumimoji="1" lang="zh-CN" altLang="en-US" sz="2800" b="0" i="0" u="none" strike="noStrike" kern="10" cap="none" spc="0" normalizeH="0" baseline="0" noProof="0" dirty="0">
                <a:ln w="19050" cap="sq">
                  <a:solidFill>
                    <a:srgbClr val="FFCC00"/>
                  </a:solidFill>
                  <a:round/>
                  <a:headEnd/>
                  <a:tailEnd/>
                </a:ln>
                <a:gradFill rotWithShape="0">
                  <a:gsLst>
                    <a:gs pos="0">
                      <a:srgbClr val="50080D"/>
                    </a:gs>
                    <a:gs pos="100000">
                      <a:srgbClr val="FF0000"/>
                    </a:gs>
                  </a:gsLst>
                  <a:lin ang="2700000" scaled="1"/>
                </a:gradFill>
                <a:effectLst>
                  <a:outerShdw dist="35921" dir="2700000" algn="ctr" rotWithShape="0">
                    <a:srgbClr val="000514">
                      <a:alpha val="80000"/>
                    </a:srgbClr>
                  </a:outerShdw>
                </a:effectLst>
                <a:uLnTx/>
                <a:uFillTx/>
                <a:latin typeface="隶书"/>
                <a:ea typeface="隶书"/>
                <a:cs typeface="+mn-cs"/>
              </a:rPr>
              <a:t>第</a:t>
            </a:r>
            <a:r>
              <a:rPr kumimoji="1" lang="en-US" altLang="zh-CN" sz="2800" b="0" i="0" u="none" strike="noStrike" kern="10" cap="none" spc="0" normalizeH="0" baseline="0" noProof="0" dirty="0">
                <a:ln w="19050" cap="sq">
                  <a:solidFill>
                    <a:srgbClr val="FFCC00"/>
                  </a:solidFill>
                  <a:round/>
                  <a:headEnd/>
                  <a:tailEnd/>
                </a:ln>
                <a:gradFill rotWithShape="0">
                  <a:gsLst>
                    <a:gs pos="0">
                      <a:srgbClr val="50080D"/>
                    </a:gs>
                    <a:gs pos="100000">
                      <a:srgbClr val="FF0000"/>
                    </a:gs>
                  </a:gsLst>
                  <a:lin ang="2700000" scaled="1"/>
                </a:gradFill>
                <a:effectLst>
                  <a:outerShdw dist="35921" dir="2700000" algn="ctr" rotWithShape="0">
                    <a:srgbClr val="000514">
                      <a:alpha val="80000"/>
                    </a:srgbClr>
                  </a:outerShdw>
                </a:effectLst>
                <a:uLnTx/>
                <a:uFillTx/>
                <a:latin typeface="隶书"/>
                <a:ea typeface="隶书"/>
                <a:cs typeface="+mn-cs"/>
              </a:rPr>
              <a:t>10</a:t>
            </a:r>
            <a:r>
              <a:rPr kumimoji="1" lang="zh-CN" altLang="en-US" sz="2800" b="0" i="0" u="none" strike="noStrike" kern="10" cap="none" spc="0" normalizeH="0" baseline="0" noProof="0" dirty="0">
                <a:ln w="19050" cap="sq">
                  <a:solidFill>
                    <a:srgbClr val="FFCC00"/>
                  </a:solidFill>
                  <a:round/>
                  <a:headEnd/>
                  <a:tailEnd/>
                </a:ln>
                <a:gradFill rotWithShape="0">
                  <a:gsLst>
                    <a:gs pos="0">
                      <a:srgbClr val="50080D"/>
                    </a:gs>
                    <a:gs pos="100000">
                      <a:srgbClr val="FF0000"/>
                    </a:gs>
                  </a:gsLst>
                  <a:lin ang="2700000" scaled="1"/>
                </a:gradFill>
                <a:effectLst>
                  <a:outerShdw dist="35921" dir="2700000" algn="ctr" rotWithShape="0">
                    <a:srgbClr val="000514">
                      <a:alpha val="80000"/>
                    </a:srgbClr>
                  </a:outerShdw>
                </a:effectLst>
                <a:uLnTx/>
                <a:uFillTx/>
                <a:latin typeface="隶书"/>
                <a:ea typeface="隶书"/>
                <a:cs typeface="+mn-cs"/>
              </a:rPr>
              <a:t>章</a:t>
            </a:r>
          </a:p>
        </p:txBody>
      </p:sp>
    </p:spTree>
    <p:extLst>
      <p:ext uri="{BB962C8B-B14F-4D97-AF65-F5344CB8AC3E}">
        <p14:creationId xmlns:p14="http://schemas.microsoft.com/office/powerpoint/2010/main" val="1044180058"/>
      </p:ext>
    </p:extLst>
  </p:cSld>
  <p:clrMapOvr>
    <a:masterClrMapping/>
  </p:clrMapOvr>
  <p:transition spd="med">
    <p:random/>
    <p:sndAc>
      <p:stSnd>
        <p:snd r:embed="rId2" name="arrow.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3"/>
          <p:cNvSpPr>
            <a:spLocks noGrp="1" noChangeArrowheads="1"/>
          </p:cNvSpPr>
          <p:nvPr>
            <p:ph type="subTitle" idx="1"/>
          </p:nvPr>
        </p:nvSpPr>
        <p:spPr>
          <a:xfrm>
            <a:off x="2927648" y="1412776"/>
            <a:ext cx="7010400" cy="3444875"/>
          </a:xfrm>
        </p:spPr>
        <p:txBody>
          <a:bodyPr/>
          <a:lstStyle/>
          <a:p>
            <a:pPr algn="l" eaLnBrk="1" hangingPunct="1">
              <a:lnSpc>
                <a:spcPct val="80000"/>
              </a:lnSpc>
            </a:pPr>
            <a:r>
              <a:rPr lang="en-US" altLang="zh-CN" dirty="0"/>
              <a:t>10.1</a:t>
            </a:r>
            <a:r>
              <a:rPr lang="zh-CN" altLang="en-US" dirty="0"/>
              <a:t>、</a:t>
            </a:r>
            <a:r>
              <a:rPr lang="en-US" altLang="en-US" dirty="0" err="1"/>
              <a:t>概述</a:t>
            </a:r>
            <a:endParaRPr lang="zh-CN" altLang="en-US" dirty="0"/>
          </a:p>
          <a:p>
            <a:pPr algn="l" eaLnBrk="1" hangingPunct="1">
              <a:lnSpc>
                <a:spcPct val="80000"/>
              </a:lnSpc>
            </a:pPr>
            <a:r>
              <a:rPr lang="en-US" altLang="zh-CN" dirty="0"/>
              <a:t>10.2</a:t>
            </a:r>
            <a:r>
              <a:rPr lang="zh-CN" altLang="en-US" dirty="0"/>
              <a:t>、需求分析</a:t>
            </a:r>
          </a:p>
          <a:p>
            <a:pPr algn="l" eaLnBrk="1" hangingPunct="1">
              <a:lnSpc>
                <a:spcPct val="80000"/>
              </a:lnSpc>
            </a:pPr>
            <a:r>
              <a:rPr lang="en-US" altLang="en-US" dirty="0"/>
              <a:t>10.3</a:t>
            </a:r>
            <a:r>
              <a:rPr lang="en-US" altLang="zh-CN" dirty="0"/>
              <a:t>、</a:t>
            </a:r>
            <a:r>
              <a:rPr lang="en-US" altLang="en-US" dirty="0"/>
              <a:t>概念设计</a:t>
            </a:r>
            <a:endParaRPr lang="zh-CN" altLang="en-US" dirty="0"/>
          </a:p>
          <a:p>
            <a:pPr algn="l" eaLnBrk="1" hangingPunct="1">
              <a:lnSpc>
                <a:spcPct val="80000"/>
              </a:lnSpc>
            </a:pPr>
            <a:r>
              <a:rPr lang="en-US" altLang="en-US" dirty="0"/>
              <a:t>10.4</a:t>
            </a:r>
            <a:r>
              <a:rPr lang="en-US" altLang="zh-CN" dirty="0"/>
              <a:t>、</a:t>
            </a:r>
            <a:r>
              <a:rPr lang="en-US" altLang="en-US" dirty="0"/>
              <a:t>逻辑结构设计</a:t>
            </a:r>
            <a:endParaRPr lang="zh-CN" altLang="en-US" dirty="0"/>
          </a:p>
          <a:p>
            <a:pPr algn="l" eaLnBrk="1" hangingPunct="1">
              <a:lnSpc>
                <a:spcPct val="80000"/>
              </a:lnSpc>
            </a:pPr>
            <a:r>
              <a:rPr lang="en-US" altLang="en-US" dirty="0"/>
              <a:t>10.5</a:t>
            </a:r>
            <a:r>
              <a:rPr lang="en-US" altLang="zh-CN" dirty="0"/>
              <a:t>、</a:t>
            </a:r>
            <a:r>
              <a:rPr lang="en-US" altLang="en-US" dirty="0"/>
              <a:t>物理设计</a:t>
            </a:r>
            <a:endParaRPr lang="en-US" altLang="zh-CN" dirty="0"/>
          </a:p>
          <a:p>
            <a:pPr algn="l" eaLnBrk="1" hangingPunct="1">
              <a:lnSpc>
                <a:spcPct val="80000"/>
              </a:lnSpc>
            </a:pPr>
            <a:r>
              <a:rPr lang="en-US" altLang="zh-CN" dirty="0"/>
              <a:t>10.6</a:t>
            </a:r>
            <a:r>
              <a:rPr lang="zh-CN" altLang="en-US" dirty="0"/>
              <a:t>、数据库的实施</a:t>
            </a:r>
          </a:p>
          <a:p>
            <a:pPr algn="l" eaLnBrk="1" hangingPunct="1">
              <a:lnSpc>
                <a:spcPct val="80000"/>
              </a:lnSpc>
            </a:pPr>
            <a:r>
              <a:rPr lang="en-US" altLang="zh-CN" dirty="0"/>
              <a:t>10.7</a:t>
            </a:r>
            <a:r>
              <a:rPr lang="zh-CN" altLang="en-US" dirty="0"/>
              <a:t>、数据库的运行和维护</a:t>
            </a:r>
          </a:p>
        </p:txBody>
      </p:sp>
    </p:spTree>
    <p:extLst>
      <p:ext uri="{BB962C8B-B14F-4D97-AF65-F5344CB8AC3E}">
        <p14:creationId xmlns:p14="http://schemas.microsoft.com/office/powerpoint/2010/main" val="2908099237"/>
      </p:ext>
    </p:extLst>
  </p:cSld>
  <p:clrMapOvr>
    <a:masterClrMapping/>
  </p:clrMapOvr>
  <p:transition spd="med">
    <p:random/>
    <p:sndAc>
      <p:stSnd>
        <p:snd r:embed="rId3" name="arrow.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bwMode="auto">
          <a:xfrm>
            <a:off x="4583832" y="1988840"/>
            <a:ext cx="2448272" cy="854968"/>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60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第一节</a:t>
            </a:r>
          </a:p>
        </p:txBody>
      </p:sp>
      <p:sp>
        <p:nvSpPr>
          <p:cNvPr id="2" name="标题 1"/>
          <p:cNvSpPr>
            <a:spLocks noGrp="1"/>
          </p:cNvSpPr>
          <p:nvPr>
            <p:ph type="title"/>
          </p:nvPr>
        </p:nvSpPr>
        <p:spPr>
          <a:xfrm>
            <a:off x="1271464" y="3356992"/>
            <a:ext cx="9649072" cy="1256758"/>
          </a:xfrm>
          <a:effectLst>
            <a:outerShdw blurRad="63500" sx="102000" sy="102000" algn="ctr" rotWithShape="0">
              <a:prstClr val="black">
                <a:alpha val="40000"/>
              </a:prstClr>
            </a:outerShdw>
          </a:effectLst>
        </p:spPr>
        <p:txBody>
          <a:bodyPr wrap="none" numCol="1" fromWordArt="1">
            <a:prstTxWarp prst="textPlain">
              <a:avLst>
                <a:gd name="adj" fmla="val 50000"/>
              </a:avLst>
            </a:prstTxWarp>
          </a:bodyPr>
          <a:lstStyle/>
          <a:p>
            <a:pPr fontAlgn="base">
              <a:spcAft>
                <a:spcPct val="0"/>
              </a:spcAft>
            </a:pPr>
            <a:r>
              <a:rPr lang="zh-CN" altLang="en-US" sz="6000" b="1" kern="10" baseline="-25000" dirty="0">
                <a:ln w="9525">
                  <a:solidFill>
                    <a:srgbClr val="003399"/>
                  </a:solidFill>
                  <a:prstDash val="solid"/>
                </a:ln>
                <a:solidFill>
                  <a:srgbClr val="FFFFFF"/>
                </a:solidFill>
                <a:cs typeface="+mn-cs"/>
              </a:rPr>
              <a:t>数据库设计概述</a:t>
            </a:r>
          </a:p>
        </p:txBody>
      </p:sp>
      <p:sp>
        <p:nvSpPr>
          <p:cNvPr id="4" name="标题 1">
            <a:extLst>
              <a:ext uri="{FF2B5EF4-FFF2-40B4-BE49-F238E27FC236}">
                <a16:creationId xmlns:a16="http://schemas.microsoft.com/office/drawing/2014/main" id="{1DECDF0B-FDC0-4C58-9326-80561E26595A}"/>
              </a:ext>
            </a:extLst>
          </p:cNvPr>
          <p:cNvSpPr txBox="1">
            <a:spLocks/>
          </p:cNvSpPr>
          <p:nvPr/>
        </p:nvSpPr>
        <p:spPr bwMode="auto">
          <a:xfrm>
            <a:off x="839416" y="260648"/>
            <a:ext cx="3960440" cy="367122"/>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a:t>
            </a:r>
            <a:r>
              <a:rPr kumimoji="0" lang="en-US" altLang="zh-CN"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10</a:t>
            </a: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章  数据库设计</a:t>
            </a:r>
          </a:p>
        </p:txBody>
      </p:sp>
    </p:spTree>
    <p:extLst>
      <p:ext uri="{BB962C8B-B14F-4D97-AF65-F5344CB8AC3E}">
        <p14:creationId xmlns:p14="http://schemas.microsoft.com/office/powerpoint/2010/main" val="474490545"/>
      </p:ext>
    </p:extLst>
  </p:cSld>
  <p:clrMapOvr>
    <a:masterClrMapping/>
  </p:clrMapOvr>
  <p:transition spd="med">
    <p:random/>
    <p:sndAc>
      <p:stSnd>
        <p:snd r:embed="rId2" name="arrow.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781315" name="Rectangle 3"/>
          <p:cNvSpPr>
            <a:spLocks noGrp="1" noChangeArrowheads="1"/>
          </p:cNvSpPr>
          <p:nvPr>
            <p:ph type="subTitle" idx="1"/>
          </p:nvPr>
        </p:nvSpPr>
        <p:spPr>
          <a:xfrm>
            <a:off x="767408" y="1052736"/>
            <a:ext cx="10513168" cy="1752600"/>
          </a:xfrm>
        </p:spPr>
        <p:txBody>
          <a:bodyPr/>
          <a:lstStyle/>
          <a:p>
            <a:pPr indent="457200" algn="just">
              <a:lnSpc>
                <a:spcPct val="150000"/>
              </a:lnSpc>
            </a:pPr>
            <a:r>
              <a:rPr lang="zh-CN" altLang="en-US" sz="3200" dirty="0"/>
              <a:t>在具备了</a:t>
            </a:r>
            <a:r>
              <a:rPr lang="en-US" altLang="zh-CN" sz="3200" dirty="0"/>
              <a:t>DBMS</a:t>
            </a:r>
            <a:r>
              <a:rPr lang="zh-CN" altLang="en-US" sz="3200" dirty="0"/>
              <a:t>系统软件、操作系统和硬件环境后，对数据库应用开发人员来说，就是如何使用这个环境表达用户的需求，构造最优的数据库模型，然后据此建立数据库及其应用系统，这个过程称为数据库设计。</a:t>
            </a:r>
          </a:p>
          <a:p>
            <a:pPr indent="457200" algn="just">
              <a:lnSpc>
                <a:spcPct val="150000"/>
              </a:lnSpc>
            </a:pPr>
            <a:r>
              <a:rPr lang="zh-CN" altLang="en-US" sz="3200" dirty="0"/>
              <a:t>数据库设计是建立数据库及应用程序系统的技术，是信息系统建设和开发的核心技术。</a:t>
            </a:r>
          </a:p>
        </p:txBody>
      </p:sp>
    </p:spTree>
    <p:extLst>
      <p:ext uri="{BB962C8B-B14F-4D97-AF65-F5344CB8AC3E}">
        <p14:creationId xmlns:p14="http://schemas.microsoft.com/office/powerpoint/2010/main" val="1088789693"/>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783363" name="Rectangle 3"/>
          <p:cNvSpPr>
            <a:spLocks noGrp="1" noChangeArrowheads="1"/>
          </p:cNvSpPr>
          <p:nvPr>
            <p:ph type="subTitle" idx="1"/>
          </p:nvPr>
        </p:nvSpPr>
        <p:spPr>
          <a:xfrm>
            <a:off x="1415480" y="1556792"/>
            <a:ext cx="8534400" cy="1752600"/>
          </a:xfrm>
        </p:spPr>
        <p:txBody>
          <a:bodyPr/>
          <a:lstStyle/>
          <a:p>
            <a:pPr algn="l">
              <a:lnSpc>
                <a:spcPct val="150000"/>
              </a:lnSpc>
              <a:buFontTx/>
              <a:buNone/>
            </a:pPr>
            <a:r>
              <a:rPr lang="zh-CN" altLang="en-US" dirty="0"/>
              <a:t>数据库设计指：</a:t>
            </a:r>
          </a:p>
          <a:p>
            <a:pPr lvl="1" algn="l">
              <a:lnSpc>
                <a:spcPct val="150000"/>
              </a:lnSpc>
            </a:pPr>
            <a:r>
              <a:rPr lang="zh-CN" altLang="en-US" dirty="0"/>
              <a:t>对于一个给定的应用环境，构造最优（合理）的数据库模式；</a:t>
            </a:r>
          </a:p>
          <a:p>
            <a:pPr lvl="1" algn="l">
              <a:lnSpc>
                <a:spcPct val="150000"/>
              </a:lnSpc>
            </a:pPr>
            <a:r>
              <a:rPr lang="zh-CN" altLang="en-US" dirty="0"/>
              <a:t>建立数据库和各种数据对象；</a:t>
            </a:r>
          </a:p>
          <a:p>
            <a:pPr lvl="1" algn="l">
              <a:lnSpc>
                <a:spcPct val="150000"/>
              </a:lnSpc>
            </a:pPr>
            <a:r>
              <a:rPr lang="zh-CN" altLang="en-US" dirty="0"/>
              <a:t>建立相应的应用系统，使之能有效的存储数据，满足用户的信息要求和处理要求。</a:t>
            </a:r>
          </a:p>
        </p:txBody>
      </p:sp>
    </p:spTree>
    <p:extLst>
      <p:ext uri="{BB962C8B-B14F-4D97-AF65-F5344CB8AC3E}">
        <p14:creationId xmlns:p14="http://schemas.microsoft.com/office/powerpoint/2010/main" val="2786834174"/>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784386" name="Rectangle 2"/>
          <p:cNvSpPr>
            <a:spLocks noGrp="1" noChangeArrowheads="1"/>
          </p:cNvSpPr>
          <p:nvPr>
            <p:ph type="ctrTitle"/>
          </p:nvPr>
        </p:nvSpPr>
        <p:spPr>
          <a:xfrm>
            <a:off x="767408" y="404664"/>
            <a:ext cx="8884592" cy="584775"/>
          </a:xfrm>
        </p:spPr>
        <p:txBody>
          <a:bodyPr/>
          <a:lstStyle/>
          <a:p>
            <a:r>
              <a:rPr lang="en-US" altLang="zh-CN" sz="4400" dirty="0"/>
              <a:t>10.1.1</a:t>
            </a:r>
            <a:r>
              <a:rPr lang="zh-CN" altLang="en-US" sz="4400" dirty="0"/>
              <a:t>数据库设计的任务与内容</a:t>
            </a:r>
          </a:p>
        </p:txBody>
      </p:sp>
      <p:sp>
        <p:nvSpPr>
          <p:cNvPr id="784387" name="Rectangle 3"/>
          <p:cNvSpPr>
            <a:spLocks noGrp="1" noChangeArrowheads="1"/>
          </p:cNvSpPr>
          <p:nvPr>
            <p:ph type="subTitle" idx="1"/>
          </p:nvPr>
        </p:nvSpPr>
        <p:spPr>
          <a:xfrm>
            <a:off x="1055440" y="1268760"/>
            <a:ext cx="10369152" cy="1752600"/>
          </a:xfrm>
        </p:spPr>
        <p:txBody>
          <a:bodyPr/>
          <a:lstStyle/>
          <a:p>
            <a:pPr algn="l">
              <a:lnSpc>
                <a:spcPct val="150000"/>
              </a:lnSpc>
            </a:pPr>
            <a:r>
              <a:rPr lang="zh-CN" altLang="en-US" sz="3200" dirty="0"/>
              <a:t>数据库设计任务是指根据用户需求研制数据库应用系统的过程。</a:t>
            </a:r>
          </a:p>
          <a:p>
            <a:pPr algn="l">
              <a:lnSpc>
                <a:spcPct val="150000"/>
              </a:lnSpc>
            </a:pPr>
            <a:r>
              <a:rPr lang="zh-CN" altLang="en-US" sz="3200" dirty="0"/>
              <a:t>具体地说：根据特定的用户需求以及一定的计算机软硬件系统环境，设计并优化数据库的逻辑结构和物理结构，建立高效、方便、安全的数据库，为数据库应用系统的开发和运行提供良好的平台。</a:t>
            </a:r>
          </a:p>
        </p:txBody>
      </p:sp>
    </p:spTree>
    <p:extLst>
      <p:ext uri="{BB962C8B-B14F-4D97-AF65-F5344CB8AC3E}">
        <p14:creationId xmlns:p14="http://schemas.microsoft.com/office/powerpoint/2010/main" val="2184171307"/>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785411" name="Rectangle 3"/>
          <p:cNvSpPr>
            <a:spLocks noGrp="1" noChangeArrowheads="1"/>
          </p:cNvSpPr>
          <p:nvPr>
            <p:ph type="subTitle" idx="1"/>
          </p:nvPr>
        </p:nvSpPr>
        <p:spPr/>
        <p:txBody>
          <a:bodyPr/>
          <a:lstStyle/>
          <a:p>
            <a:endParaRPr lang="zh-CN" altLang="en-US"/>
          </a:p>
        </p:txBody>
      </p:sp>
      <p:sp>
        <p:nvSpPr>
          <p:cNvPr id="785412" name="Rectangle 4"/>
          <p:cNvSpPr>
            <a:spLocks noChangeArrowheads="1"/>
          </p:cNvSpPr>
          <p:nvPr/>
        </p:nvSpPr>
        <p:spPr bwMode="auto">
          <a:xfrm>
            <a:off x="1524001" y="20870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Aft>
                <a:spcPct val="0"/>
              </a:spcAft>
              <a:buSzTx/>
            </a:pPr>
            <a:endParaRPr lang="zh-CN" altLang="en-US" sz="1800">
              <a:solidFill>
                <a:srgbClr val="000000"/>
              </a:solidFill>
              <a:effectLst/>
              <a:latin typeface="Tahoma" panose="020B0604030504040204" pitchFamily="34" charset="0"/>
              <a:ea typeface="宋体" panose="02010600030101010101" pitchFamily="2" charset="-122"/>
            </a:endParaRPr>
          </a:p>
        </p:txBody>
      </p:sp>
      <p:graphicFrame>
        <p:nvGraphicFramePr>
          <p:cNvPr id="785428" name="Group 20"/>
          <p:cNvGraphicFramePr>
            <a:graphicFrameLocks noGrp="1"/>
          </p:cNvGraphicFramePr>
          <p:nvPr/>
        </p:nvGraphicFramePr>
        <p:xfrm>
          <a:off x="1524000" y="2271714"/>
          <a:ext cx="5748338" cy="2317433"/>
        </p:xfrm>
        <a:graphic>
          <a:graphicData uri="http://schemas.openxmlformats.org/drawingml/2006/table">
            <a:tbl>
              <a:tblPr/>
              <a:tblGrid>
                <a:gridCol w="625475">
                  <a:extLst>
                    <a:ext uri="{9D8B030D-6E8A-4147-A177-3AD203B41FA5}">
                      <a16:colId xmlns:a16="http://schemas.microsoft.com/office/drawing/2014/main" val="1427048623"/>
                    </a:ext>
                  </a:extLst>
                </a:gridCol>
                <a:gridCol w="5122863">
                  <a:extLst>
                    <a:ext uri="{9D8B030D-6E8A-4147-A177-3AD203B41FA5}">
                      <a16:colId xmlns:a16="http://schemas.microsoft.com/office/drawing/2014/main" val="4274839001"/>
                    </a:ext>
                  </a:extLst>
                </a:gridCol>
              </a:tblGrid>
              <a:tr h="0">
                <a:tc>
                  <a:txBody>
                    <a:bodyPr/>
                    <a:lstStyle>
                      <a:lvl1pPr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3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cap="flat">
                      <a:noFill/>
                    </a:lnL>
                    <a:lnR>
                      <a:noFill/>
                    </a:lnR>
                    <a:lnT cap="flat">
                      <a:noFill/>
                    </a:lnT>
                    <a:lnB>
                      <a:noFill/>
                    </a:lnB>
                    <a:lnTlToBr>
                      <a:noFill/>
                    </a:lnTlToBr>
                    <a:lnBlToTr>
                      <a:noFill/>
                    </a:lnBlToTr>
                    <a:noFill/>
                  </a:tcPr>
                </a:tc>
                <a:tc>
                  <a:txBody>
                    <a:bodyPr/>
                    <a:lstStyle>
                      <a:lvl1pPr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3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3263040789"/>
                  </a:ext>
                </a:extLst>
              </a:tr>
              <a:tr h="1738313">
                <a:tc>
                  <a:txBody>
                    <a:bodyPr/>
                    <a:lstStyle>
                      <a:lvl1pPr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32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cap="flat">
                      <a:noFill/>
                    </a:lnL>
                    <a:lnR>
                      <a:noFill/>
                    </a:lnR>
                    <a:lnT>
                      <a:noFill/>
                    </a:lnT>
                    <a:lnB cap="flat">
                      <a:noFill/>
                    </a:lnB>
                    <a:lnTlToBr>
                      <a:noFill/>
                    </a:lnTlToBr>
                    <a:lnBlToTr>
                      <a:noFill/>
                    </a:lnBlToTr>
                    <a:noFill/>
                  </a:tcPr>
                </a:tc>
                <a:tc>
                  <a:txBody>
                    <a:bodyPr/>
                    <a:lstStyle>
                      <a:lvl1pPr eaLnBrk="0" hangingPunct="0">
                        <a:spcBef>
                          <a:spcPct val="20000"/>
                        </a:spcBef>
                        <a:defRPr kumimoji="1" sz="3200" b="1">
                          <a:solidFill>
                            <a:schemeClr val="tx1"/>
                          </a:solidFill>
                          <a:latin typeface="Tahoma" panose="020B0604030504040204" pitchFamily="34" charset="0"/>
                          <a:ea typeface="宋体" panose="02010600030101010101" pitchFamily="2" charset="-122"/>
                        </a:defRPr>
                      </a:lvl1pPr>
                      <a:lvl2pPr eaLnBrk="0" hangingPunct="0">
                        <a:spcBef>
                          <a:spcPct val="20000"/>
                        </a:spcBef>
                        <a:buSzPct val="75000"/>
                        <a:defRPr kumimoji="1" sz="2800" b="1">
                          <a:solidFill>
                            <a:schemeClr val="tx1"/>
                          </a:solidFill>
                          <a:latin typeface="Tahoma" panose="020B0604030504040204" pitchFamily="34" charset="0"/>
                          <a:ea typeface="宋体" panose="02010600030101010101" pitchFamily="2" charset="-122"/>
                        </a:defRPr>
                      </a:lvl2pPr>
                      <a:lvl3pPr eaLnBrk="0" hangingPunct="0">
                        <a:spcBef>
                          <a:spcPct val="20000"/>
                        </a:spcBef>
                        <a:defRPr kumimoji="1" sz="2400" b="1">
                          <a:solidFill>
                            <a:schemeClr val="tx1"/>
                          </a:solidFill>
                          <a:latin typeface="Tahoma" panose="020B0604030504040204" pitchFamily="34" charset="0"/>
                          <a:ea typeface="宋体" panose="02010600030101010101" pitchFamily="2" charset="-122"/>
                        </a:defRPr>
                      </a:lvl3pPr>
                      <a:lvl4pPr eaLnBrk="0" hangingPunct="0">
                        <a:spcBef>
                          <a:spcPct val="20000"/>
                        </a:spcBef>
                        <a:defRPr kumimoji="1" sz="2000" b="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tx2"/>
                        </a:buClr>
                        <a:defRPr kumimoji="1" b="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tx2"/>
                        </a:buClr>
                        <a:defRPr kumimoji="1" b="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10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Calibri" panose="020F0502020204030204" pitchFamily="34" charset="0"/>
                        </a:rPr>
                        <a:t>  </a:t>
                      </a:r>
                      <a:r>
                        <a:rPr kumimoji="1" lang="zh-CN" altLang="en-US" sz="9800" b="0" i="0" u="none" strike="noStrike" cap="none" normalizeH="0" baseline="0">
                          <a:ln>
                            <a:noFill/>
                          </a:ln>
                          <a:solidFill>
                            <a:schemeClr val="tx1"/>
                          </a:solidFill>
                          <a:effectLst/>
                          <a:latin typeface="Tahoma" panose="020B0604030504040204" pitchFamily="34" charset="0"/>
                          <a:ea typeface="宋体" panose="02010600030101010101" pitchFamily="2" charset="-122"/>
                          <a:cs typeface="Calibri" panose="020F0502020204030204" pitchFamily="34" charset="0"/>
                        </a:rPr>
                        <a:t> </a:t>
                      </a:r>
                      <a:r>
                        <a:rPr kumimoji="1" lang="zh-CN" altLang="en-US" sz="1000" b="0" i="0" u="none" strike="noStrike" cap="none" normalizeH="0" baseline="0">
                          <a:ln>
                            <a:noFill/>
                          </a:ln>
                          <a:solidFill>
                            <a:schemeClr val="tx1"/>
                          </a:solidFill>
                          <a:effectLst/>
                          <a:latin typeface="Tahoma" panose="020B0604030504040204" pitchFamily="34" charset="0"/>
                          <a:ea typeface="宋体" panose="02010600030101010101" pitchFamily="2" charset="-122"/>
                          <a:cs typeface="Calibri" panose="020F0502020204030204" pitchFamily="34" charset="0"/>
                        </a:rPr>
                        <a:t>                                                                                                                          </a:t>
                      </a:r>
                      <a:endParaRPr kumimoji="1" lang="zh-CN" altLang="en-US" sz="10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Calibri" panose="020F0502020204030204" pitchFamily="34" charset="0"/>
                      </a:endParaRPr>
                    </a:p>
                  </a:txBody>
                  <a:tcPr anchor="ct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106044332"/>
                  </a:ext>
                </a:extLst>
              </a:tr>
            </a:tbl>
          </a:graphicData>
        </a:graphic>
      </p:graphicFrame>
      <p:pic>
        <p:nvPicPr>
          <p:cNvPr id="785416" name="Picture 8" descr="wps7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9288" y="1628776"/>
            <a:ext cx="8424862" cy="3724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0419957"/>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786435" name="Rectangle 3"/>
          <p:cNvSpPr>
            <a:spLocks noGrp="1" noChangeArrowheads="1"/>
          </p:cNvSpPr>
          <p:nvPr>
            <p:ph type="subTitle" idx="1"/>
          </p:nvPr>
        </p:nvSpPr>
        <p:spPr>
          <a:xfrm>
            <a:off x="623392" y="980728"/>
            <a:ext cx="10945216" cy="4679950"/>
          </a:xfrm>
        </p:spPr>
        <p:txBody>
          <a:bodyPr/>
          <a:lstStyle/>
          <a:p>
            <a:pPr algn="l"/>
            <a:r>
              <a:rPr lang="zh-CN" altLang="en-US" sz="2400" dirty="0"/>
              <a:t>数据库设计包括数据库的结构设计和数据库的行为设计两方面的内容。</a:t>
            </a:r>
          </a:p>
          <a:p>
            <a:pPr algn="l"/>
            <a:r>
              <a:rPr lang="en-US" altLang="zh-CN" sz="2400" dirty="0"/>
              <a:t>1</a:t>
            </a:r>
            <a:r>
              <a:rPr lang="zh-CN" altLang="en-US" sz="2400" dirty="0"/>
              <a:t>．数据库的结构设计：即设计数据库的框架或数据库结构：</a:t>
            </a:r>
          </a:p>
          <a:p>
            <a:pPr lvl="1" algn="l"/>
            <a:r>
              <a:rPr lang="zh-CN" altLang="en-US" sz="2000" dirty="0"/>
              <a:t>指：根据给定的应用环境，进行数据库的模式或子模式的设计。它包括数据库的概念设计、逻辑设计和物理设计。</a:t>
            </a:r>
          </a:p>
          <a:p>
            <a:pPr lvl="1" algn="l"/>
            <a:r>
              <a:rPr lang="zh-CN" altLang="en-US" sz="2000" dirty="0"/>
              <a:t>数据库模式是各应用程序共享的结构，是静态的、稳定的，结构设计又称为静态模型设计。</a:t>
            </a:r>
          </a:p>
          <a:p>
            <a:pPr algn="l"/>
            <a:r>
              <a:rPr lang="en-US" altLang="zh-CN" sz="2400" dirty="0"/>
              <a:t>2</a:t>
            </a:r>
            <a:r>
              <a:rPr lang="zh-CN" altLang="en-US" sz="2400" dirty="0"/>
              <a:t>．数据库的行为设计：即是指确定数据库用户的行为和动作。</a:t>
            </a:r>
          </a:p>
          <a:p>
            <a:pPr lvl="1" algn="l"/>
            <a:r>
              <a:rPr lang="zh-CN" altLang="en-US" sz="2000" dirty="0"/>
              <a:t>在数据库系统中，用户的行为和动作指用户对数据库的操作：</a:t>
            </a:r>
          </a:p>
          <a:p>
            <a:pPr lvl="1" algn="l"/>
            <a:r>
              <a:rPr lang="zh-CN" altLang="en-US" sz="2000" dirty="0"/>
              <a:t>这些操作一般要通过应用程序来实现，所以数据库的行为设计就是应用程序的设计。行为设计又称为动态模型设计。</a:t>
            </a:r>
          </a:p>
        </p:txBody>
      </p:sp>
    </p:spTree>
    <p:extLst>
      <p:ext uri="{BB962C8B-B14F-4D97-AF65-F5344CB8AC3E}">
        <p14:creationId xmlns:p14="http://schemas.microsoft.com/office/powerpoint/2010/main" val="1580408247"/>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787459" name="Rectangle 3"/>
          <p:cNvSpPr>
            <a:spLocks noGrp="1" noChangeArrowheads="1"/>
          </p:cNvSpPr>
          <p:nvPr>
            <p:ph type="subTitle" idx="1"/>
          </p:nvPr>
        </p:nvSpPr>
        <p:spPr>
          <a:xfrm>
            <a:off x="1199456" y="1038381"/>
            <a:ext cx="3527425" cy="4489450"/>
          </a:xfrm>
        </p:spPr>
        <p:txBody>
          <a:bodyPr/>
          <a:lstStyle/>
          <a:p>
            <a:pPr algn="l">
              <a:lnSpc>
                <a:spcPct val="150000"/>
              </a:lnSpc>
            </a:pPr>
            <a:r>
              <a:rPr lang="zh-CN" altLang="en-US" dirty="0"/>
              <a:t>现代数据库的设计的特点是强调结构设计与行为设计相结合，是一种“反复探寻，逐步求精”的过程。</a:t>
            </a:r>
          </a:p>
        </p:txBody>
      </p:sp>
      <p:sp>
        <p:nvSpPr>
          <p:cNvPr id="787460" name="Rectangle 4"/>
          <p:cNvSpPr>
            <a:spLocks noChangeArrowheads="1"/>
          </p:cNvSpPr>
          <p:nvPr/>
        </p:nvSpPr>
        <p:spPr bwMode="auto">
          <a:xfrm>
            <a:off x="1524001" y="11726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Aft>
                <a:spcPct val="0"/>
              </a:spcAft>
              <a:buSzTx/>
            </a:pPr>
            <a:endParaRPr lang="zh-CN" altLang="en-US" sz="1800">
              <a:solidFill>
                <a:srgbClr val="000000"/>
              </a:solidFill>
              <a:effectLst/>
              <a:latin typeface="Tahoma" panose="020B0604030504040204" pitchFamily="34" charset="0"/>
              <a:ea typeface="宋体" panose="02010600030101010101" pitchFamily="2" charset="-122"/>
            </a:endParaRPr>
          </a:p>
        </p:txBody>
      </p:sp>
      <p:pic>
        <p:nvPicPr>
          <p:cNvPr id="787464" name="Picture 8" descr="wps7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4032" y="1357313"/>
            <a:ext cx="5076825" cy="4143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6806796"/>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4770" name="Text Box 2"/>
          <p:cNvSpPr txBox="1">
            <a:spLocks noChangeArrowheads="1"/>
          </p:cNvSpPr>
          <p:nvPr/>
        </p:nvSpPr>
        <p:spPr bwMode="auto">
          <a:xfrm>
            <a:off x="1064149" y="74007"/>
            <a:ext cx="387880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defPPr>
              <a:defRPr lang="en-US"/>
            </a:defPPr>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vl2pPr>
              <a:defRPr/>
            </a:lvl2pPr>
            <a:lvl3pPr>
              <a:defRPr/>
            </a:lvl3pPr>
            <a:lvl4pPr>
              <a:defRPr/>
            </a:lvl4pPr>
            <a:lvl5pPr>
              <a:defRPr/>
            </a:lvl5pPr>
            <a:lvl6pPr>
              <a:defRPr/>
            </a:lvl6pPr>
            <a:lvl7pPr>
              <a:defRPr/>
            </a:lvl7pPr>
            <a:lvl8pPr>
              <a:defRPr/>
            </a:lvl8pPr>
            <a:lvl9pPr>
              <a:defRPr/>
            </a:lvl9pPr>
          </a:lstStyle>
          <a:p>
            <a:r>
              <a:rPr lang="zh-CN" altLang="en-US" dirty="0"/>
              <a:t>数据库设计概述</a:t>
            </a:r>
          </a:p>
        </p:txBody>
      </p:sp>
      <p:sp>
        <p:nvSpPr>
          <p:cNvPr id="3075" name="Rectangle 3"/>
          <p:cNvSpPr>
            <a:spLocks noGrp="1" noChangeArrowheads="1"/>
          </p:cNvSpPr>
          <p:nvPr>
            <p:ph type="title"/>
          </p:nvPr>
        </p:nvSpPr>
        <p:spPr>
          <a:xfrm>
            <a:off x="1071563" y="1166842"/>
            <a:ext cx="674687" cy="4524315"/>
          </a:xfrm>
        </p:spPr>
        <p:txBody>
          <a:bodyPr wrap="square"/>
          <a:lstStyle/>
          <a:p>
            <a:pPr algn="ctr" eaLnBrk="1" hangingPunct="1">
              <a:buFont typeface="Wingdings" pitchFamily="2" charset="2"/>
              <a:buNone/>
            </a:pPr>
            <a:r>
              <a:rPr lang="zh-CN" altLang="en-US"/>
              <a:t>数据库系统的生存期</a:t>
            </a:r>
            <a:endParaRPr lang="en-US" altLang="zh-CN"/>
          </a:p>
        </p:txBody>
      </p:sp>
      <p:grpSp>
        <p:nvGrpSpPr>
          <p:cNvPr id="3076" name="组合 22"/>
          <p:cNvGrpSpPr>
            <a:grpSpLocks/>
          </p:cNvGrpSpPr>
          <p:nvPr/>
        </p:nvGrpSpPr>
        <p:grpSpPr bwMode="auto">
          <a:xfrm>
            <a:off x="1935162" y="1218406"/>
            <a:ext cx="3744912" cy="5359519"/>
            <a:chOff x="1042988" y="1556349"/>
            <a:chExt cx="3744912" cy="4798779"/>
          </a:xfrm>
        </p:grpSpPr>
        <p:sp>
          <p:nvSpPr>
            <p:cNvPr id="1184772" name="Text Box 4"/>
            <p:cNvSpPr txBox="1">
              <a:spLocks noChangeArrowheads="1"/>
            </p:cNvSpPr>
            <p:nvPr/>
          </p:nvSpPr>
          <p:spPr bwMode="auto">
            <a:xfrm>
              <a:off x="2017713" y="1748239"/>
              <a:ext cx="1736725" cy="395151"/>
            </a:xfrm>
            <a:prstGeom prst="rect">
              <a:avLst/>
            </a:prstGeom>
            <a:solidFill>
              <a:srgbClr val="FF0000"/>
            </a:solidFill>
            <a:ln w="28575" cap="sq" algn="ctr">
              <a:solidFill>
                <a:schemeClr val="tx1"/>
              </a:solidFill>
              <a:miter lim="800000"/>
              <a:headEnd/>
              <a:tailEnd/>
            </a:ln>
            <a:effectLst>
              <a:outerShdw dist="35921" dir="2700000" algn="ctr" rotWithShape="0">
                <a:schemeClr val="bg2"/>
              </a:outerShdw>
            </a:effectLst>
          </p:spPr>
          <p:txBody>
            <a:bodyPr lIns="0" tIns="0" rIns="0" bIns="0" anchor="ctr" anchorCtr="0"/>
            <a:lstStyle/>
            <a:p>
              <a:pPr algn="ctr">
                <a:spcAft>
                  <a:spcPct val="0"/>
                </a:spcAft>
                <a:buSzTx/>
                <a:buFontTx/>
                <a:buNone/>
                <a:defRPr/>
              </a:pPr>
              <a:r>
                <a:rPr lang="zh-CN" altLang="en-US" sz="2400" b="1" dirty="0">
                  <a:solidFill>
                    <a:srgbClr val="FFFF00"/>
                  </a:solidFill>
                  <a:effectLst>
                    <a:outerShdw blurRad="38100" dist="38100" dir="2700000" algn="tl">
                      <a:srgbClr val="000000"/>
                    </a:outerShdw>
                  </a:effectLst>
                  <a:latin typeface="微软雅黑" pitchFamily="34" charset="-122"/>
                  <a:ea typeface="微软雅黑" pitchFamily="34" charset="-122"/>
                </a:rPr>
                <a:t>需求分析</a:t>
              </a:r>
            </a:p>
          </p:txBody>
        </p:sp>
        <p:sp>
          <p:nvSpPr>
            <p:cNvPr id="1184773" name="Text Box 5"/>
            <p:cNvSpPr txBox="1">
              <a:spLocks noChangeArrowheads="1"/>
            </p:cNvSpPr>
            <p:nvPr/>
          </p:nvSpPr>
          <p:spPr bwMode="auto">
            <a:xfrm>
              <a:off x="1741488" y="2588291"/>
              <a:ext cx="2289175" cy="395151"/>
            </a:xfrm>
            <a:prstGeom prst="rect">
              <a:avLst/>
            </a:prstGeom>
            <a:solidFill>
              <a:srgbClr val="FFFF00"/>
            </a:solidFill>
            <a:ln w="28575" cap="sq">
              <a:solidFill>
                <a:schemeClr val="tx1"/>
              </a:solidFill>
              <a:miter lim="800000"/>
              <a:headEnd/>
              <a:tailEnd/>
            </a:ln>
            <a:effectLst>
              <a:outerShdw dist="35921" dir="2700000" algn="ctr" rotWithShape="0">
                <a:schemeClr val="bg2"/>
              </a:outerShdw>
            </a:effectLst>
          </p:spPr>
          <p:txBody>
            <a:bodyPr lIns="0" tIns="0" rIns="0" bIns="0" anchor="ctr" anchorCtr="0"/>
            <a:lstStyle/>
            <a:p>
              <a:pPr algn="ctr">
                <a:spcAft>
                  <a:spcPct val="0"/>
                </a:spcAft>
                <a:buSzTx/>
                <a:buFontTx/>
                <a:buNone/>
                <a:defRPr/>
              </a:pPr>
              <a:r>
                <a:rPr lang="zh-CN" altLang="en-US" sz="2400" b="1" dirty="0">
                  <a:solidFill>
                    <a:srgbClr val="7030A0"/>
                  </a:solidFill>
                  <a:effectLst/>
                  <a:latin typeface="微软雅黑" pitchFamily="34" charset="-122"/>
                  <a:ea typeface="微软雅黑" pitchFamily="34" charset="-122"/>
                </a:rPr>
                <a:t>概念结构设计</a:t>
              </a:r>
            </a:p>
          </p:txBody>
        </p:sp>
        <p:sp>
          <p:nvSpPr>
            <p:cNvPr id="1184774" name="Text Box 6"/>
            <p:cNvSpPr txBox="1">
              <a:spLocks noChangeArrowheads="1"/>
            </p:cNvSpPr>
            <p:nvPr/>
          </p:nvSpPr>
          <p:spPr bwMode="auto">
            <a:xfrm>
              <a:off x="1741488" y="3426921"/>
              <a:ext cx="2289175" cy="395151"/>
            </a:xfrm>
            <a:prstGeom prst="rect">
              <a:avLst/>
            </a:prstGeom>
            <a:solidFill>
              <a:srgbClr val="6600FF"/>
            </a:solidFill>
            <a:ln w="28575" cap="sq">
              <a:solidFill>
                <a:schemeClr val="tx1"/>
              </a:solidFill>
              <a:miter lim="800000"/>
              <a:headEnd/>
              <a:tailEnd/>
            </a:ln>
            <a:effectLst>
              <a:outerShdw dist="35921" dir="2700000" algn="ctr" rotWithShape="0">
                <a:schemeClr val="bg2"/>
              </a:outerShdw>
            </a:effectLst>
          </p:spPr>
          <p:txBody>
            <a:bodyPr lIns="0" tIns="0" rIns="0" bIns="0" anchor="ctr" anchorCtr="0"/>
            <a:lstStyle/>
            <a:p>
              <a:pPr algn="ctr">
                <a:spcAft>
                  <a:spcPct val="0"/>
                </a:spcAft>
                <a:buSzTx/>
                <a:buFontTx/>
                <a:buNone/>
                <a:defRPr/>
              </a:pPr>
              <a:r>
                <a:rPr lang="zh-CN" altLang="en-US" sz="2400">
                  <a:effectLst>
                    <a:outerShdw blurRad="38100" dist="38100" dir="2700000" algn="tl">
                      <a:srgbClr val="000000"/>
                    </a:outerShdw>
                  </a:effectLst>
                  <a:latin typeface="微软雅黑" pitchFamily="34" charset="-122"/>
                  <a:ea typeface="微软雅黑" pitchFamily="34" charset="-122"/>
                </a:rPr>
                <a:t>逻辑结构设计</a:t>
              </a:r>
            </a:p>
          </p:txBody>
        </p:sp>
        <p:sp>
          <p:nvSpPr>
            <p:cNvPr id="1184775" name="Text Box 7"/>
            <p:cNvSpPr txBox="1">
              <a:spLocks noChangeArrowheads="1"/>
            </p:cNvSpPr>
            <p:nvPr/>
          </p:nvSpPr>
          <p:spPr bwMode="auto">
            <a:xfrm>
              <a:off x="1584325" y="4278453"/>
              <a:ext cx="2603500" cy="395151"/>
            </a:xfrm>
            <a:prstGeom prst="rect">
              <a:avLst/>
            </a:prstGeom>
            <a:solidFill>
              <a:srgbClr val="333399"/>
            </a:solidFill>
            <a:ln w="28575" cap="sq">
              <a:solidFill>
                <a:schemeClr val="tx1"/>
              </a:solidFill>
              <a:miter lim="800000"/>
              <a:headEnd/>
              <a:tailEnd/>
            </a:ln>
            <a:effectLst>
              <a:outerShdw dist="35921" dir="2700000" algn="ctr" rotWithShape="0">
                <a:schemeClr val="bg2"/>
              </a:outerShdw>
            </a:effectLst>
          </p:spPr>
          <p:txBody>
            <a:bodyPr lIns="0" tIns="0" rIns="0" bIns="0" anchor="ctr" anchorCtr="0"/>
            <a:lstStyle/>
            <a:p>
              <a:pPr algn="ctr">
                <a:spcAft>
                  <a:spcPct val="0"/>
                </a:spcAft>
                <a:buSzTx/>
                <a:buFontTx/>
                <a:buNone/>
                <a:defRPr/>
              </a:pPr>
              <a:r>
                <a:rPr lang="zh-CN" altLang="en-US" sz="2400">
                  <a:effectLst>
                    <a:outerShdw blurRad="38100" dist="38100" dir="2700000" algn="tl">
                      <a:srgbClr val="000000"/>
                    </a:outerShdw>
                  </a:effectLst>
                  <a:latin typeface="微软雅黑" pitchFamily="34" charset="-122"/>
                  <a:ea typeface="微软雅黑" pitchFamily="34" charset="-122"/>
                </a:rPr>
                <a:t>数据库物理设计</a:t>
              </a:r>
            </a:p>
          </p:txBody>
        </p:sp>
        <p:sp>
          <p:nvSpPr>
            <p:cNvPr id="1184776" name="Text Box 8"/>
            <p:cNvSpPr txBox="1">
              <a:spLocks noChangeArrowheads="1"/>
            </p:cNvSpPr>
            <p:nvPr/>
          </p:nvSpPr>
          <p:spPr bwMode="auto">
            <a:xfrm>
              <a:off x="1900238" y="5118504"/>
              <a:ext cx="1973262" cy="395151"/>
            </a:xfrm>
            <a:prstGeom prst="rect">
              <a:avLst/>
            </a:prstGeom>
            <a:solidFill>
              <a:srgbClr val="333399"/>
            </a:solidFill>
            <a:ln w="28575" cap="sq">
              <a:solidFill>
                <a:schemeClr val="tx1"/>
              </a:solidFill>
              <a:miter lim="800000"/>
              <a:headEnd/>
              <a:tailEnd/>
            </a:ln>
            <a:effectLst>
              <a:outerShdw dist="35921" dir="2700000" algn="ctr" rotWithShape="0">
                <a:schemeClr val="bg2"/>
              </a:outerShdw>
            </a:effectLst>
          </p:spPr>
          <p:txBody>
            <a:bodyPr lIns="0" tIns="0" rIns="0" bIns="0" anchor="ctr" anchorCtr="0"/>
            <a:lstStyle/>
            <a:p>
              <a:pPr algn="ctr">
                <a:spcAft>
                  <a:spcPct val="0"/>
                </a:spcAft>
                <a:buSzTx/>
                <a:buFontTx/>
                <a:buNone/>
                <a:defRPr/>
              </a:pPr>
              <a:r>
                <a:rPr lang="zh-CN" altLang="en-US" sz="2400">
                  <a:effectLst>
                    <a:outerShdw blurRad="38100" dist="38100" dir="2700000" algn="tl">
                      <a:srgbClr val="000000"/>
                    </a:outerShdw>
                  </a:effectLst>
                  <a:latin typeface="微软雅黑" pitchFamily="34" charset="-122"/>
                  <a:ea typeface="微软雅黑" pitchFamily="34" charset="-122"/>
                </a:rPr>
                <a:t>数据库实施</a:t>
              </a:r>
            </a:p>
          </p:txBody>
        </p:sp>
        <p:sp>
          <p:nvSpPr>
            <p:cNvPr id="1184777" name="Text Box 9"/>
            <p:cNvSpPr txBox="1">
              <a:spLocks noChangeArrowheads="1"/>
            </p:cNvSpPr>
            <p:nvPr/>
          </p:nvSpPr>
          <p:spPr bwMode="auto">
            <a:xfrm>
              <a:off x="1425575" y="5959977"/>
              <a:ext cx="2919413" cy="395151"/>
            </a:xfrm>
            <a:prstGeom prst="rect">
              <a:avLst/>
            </a:prstGeom>
            <a:solidFill>
              <a:srgbClr val="333399"/>
            </a:solidFill>
            <a:ln w="28575" cap="sq">
              <a:solidFill>
                <a:schemeClr val="tx1"/>
              </a:solidFill>
              <a:miter lim="800000"/>
              <a:headEnd/>
              <a:tailEnd/>
            </a:ln>
            <a:effectLst>
              <a:outerShdw dist="35921" dir="2700000" algn="ctr" rotWithShape="0">
                <a:schemeClr val="bg2"/>
              </a:outerShdw>
            </a:effectLst>
          </p:spPr>
          <p:txBody>
            <a:bodyPr lIns="0" tIns="0" rIns="0" bIns="0" anchor="ctr" anchorCtr="0"/>
            <a:lstStyle/>
            <a:p>
              <a:pPr algn="ctr">
                <a:spcAft>
                  <a:spcPct val="0"/>
                </a:spcAft>
                <a:buSzTx/>
                <a:buFontTx/>
                <a:buNone/>
                <a:defRPr/>
              </a:pPr>
              <a:r>
                <a:rPr lang="zh-CN" altLang="en-US" sz="2400" dirty="0">
                  <a:effectLst>
                    <a:outerShdw blurRad="38100" dist="38100" dir="2700000" algn="tl">
                      <a:srgbClr val="000000"/>
                    </a:outerShdw>
                  </a:effectLst>
                  <a:latin typeface="微软雅黑" pitchFamily="34" charset="-122"/>
                  <a:ea typeface="微软雅黑" pitchFamily="34" charset="-122"/>
                </a:rPr>
                <a:t>数据库运行和维护</a:t>
              </a:r>
            </a:p>
          </p:txBody>
        </p:sp>
        <p:cxnSp>
          <p:nvCxnSpPr>
            <p:cNvPr id="3087" name="AutoShape 10"/>
            <p:cNvCxnSpPr>
              <a:cxnSpLocks noChangeShapeType="1"/>
              <a:stCxn id="1184772" idx="2"/>
              <a:endCxn id="1184773" idx="0"/>
            </p:cNvCxnSpPr>
            <p:nvPr/>
          </p:nvCxnSpPr>
          <p:spPr bwMode="auto">
            <a:xfrm>
              <a:off x="2886075" y="2143125"/>
              <a:ext cx="0" cy="444500"/>
            </a:xfrm>
            <a:prstGeom prst="straightConnector1">
              <a:avLst/>
            </a:prstGeom>
            <a:noFill/>
            <a:ln w="28575"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088" name="AutoShape 11"/>
            <p:cNvCxnSpPr>
              <a:cxnSpLocks noChangeShapeType="1"/>
              <a:stCxn id="1184773" idx="2"/>
              <a:endCxn id="1184774" idx="0"/>
            </p:cNvCxnSpPr>
            <p:nvPr/>
          </p:nvCxnSpPr>
          <p:spPr bwMode="auto">
            <a:xfrm>
              <a:off x="2886075" y="2982913"/>
              <a:ext cx="0" cy="444500"/>
            </a:xfrm>
            <a:prstGeom prst="straightConnector1">
              <a:avLst/>
            </a:prstGeom>
            <a:noFill/>
            <a:ln w="28575"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089" name="AutoShape 12"/>
            <p:cNvCxnSpPr>
              <a:cxnSpLocks noChangeShapeType="1"/>
              <a:stCxn id="1184774" idx="2"/>
              <a:endCxn id="1184775" idx="0"/>
            </p:cNvCxnSpPr>
            <p:nvPr/>
          </p:nvCxnSpPr>
          <p:spPr bwMode="auto">
            <a:xfrm flipH="1">
              <a:off x="2886075" y="3822072"/>
              <a:ext cx="1" cy="456381"/>
            </a:xfrm>
            <a:prstGeom prst="straightConnector1">
              <a:avLst/>
            </a:prstGeom>
            <a:noFill/>
            <a:ln w="28575"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090" name="AutoShape 13"/>
            <p:cNvCxnSpPr>
              <a:cxnSpLocks noChangeShapeType="1"/>
              <a:stCxn id="1184775" idx="2"/>
              <a:endCxn id="1184776" idx="0"/>
            </p:cNvCxnSpPr>
            <p:nvPr/>
          </p:nvCxnSpPr>
          <p:spPr bwMode="auto">
            <a:xfrm>
              <a:off x="2886075" y="4673604"/>
              <a:ext cx="794" cy="444900"/>
            </a:xfrm>
            <a:prstGeom prst="straightConnector1">
              <a:avLst/>
            </a:prstGeom>
            <a:noFill/>
            <a:ln w="28575"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091" name="AutoShape 14"/>
            <p:cNvCxnSpPr>
              <a:cxnSpLocks noChangeShapeType="1"/>
              <a:stCxn id="1184776" idx="2"/>
              <a:endCxn id="1184777" idx="0"/>
            </p:cNvCxnSpPr>
            <p:nvPr/>
          </p:nvCxnSpPr>
          <p:spPr bwMode="auto">
            <a:xfrm flipH="1">
              <a:off x="2885282" y="5513656"/>
              <a:ext cx="1587" cy="446321"/>
            </a:xfrm>
            <a:prstGeom prst="straightConnector1">
              <a:avLst/>
            </a:prstGeom>
            <a:noFill/>
            <a:ln w="28575"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184783" name="Rectangle 15"/>
            <p:cNvSpPr>
              <a:spLocks noChangeArrowheads="1"/>
            </p:cNvSpPr>
            <p:nvPr/>
          </p:nvSpPr>
          <p:spPr bwMode="auto">
            <a:xfrm>
              <a:off x="1110218" y="1731093"/>
              <a:ext cx="369332" cy="1929028"/>
            </a:xfrm>
            <a:prstGeom prst="rect">
              <a:avLst/>
            </a:prstGeom>
            <a:noFill/>
            <a:ln w="12700" cap="sq">
              <a:noFill/>
              <a:miter lim="800000"/>
              <a:headEnd/>
              <a:tailEnd/>
            </a:ln>
            <a:effectLst/>
          </p:spPr>
          <p:txBody>
            <a:bodyPr vert="eaVert" wrap="none" lIns="0" tIns="0" rIns="0" bIns="0">
              <a:spAutoFit/>
            </a:bodyPr>
            <a:lstStyle/>
            <a:p>
              <a:pPr algn="ctr">
                <a:spcAft>
                  <a:spcPct val="0"/>
                </a:spcAft>
                <a:buSzTx/>
                <a:buFontTx/>
                <a:buNone/>
                <a:defRPr/>
              </a:pPr>
              <a:r>
                <a:rPr lang="zh-CN" altLang="en-US" sz="2400" dirty="0">
                  <a:effectLst>
                    <a:outerShdw blurRad="38100" dist="38100" dir="2700000" algn="tl">
                      <a:srgbClr val="000000"/>
                    </a:outerShdw>
                  </a:effectLst>
                  <a:latin typeface="微软雅黑" pitchFamily="34" charset="-122"/>
                  <a:ea typeface="微软雅黑" pitchFamily="34" charset="-122"/>
                </a:rPr>
                <a:t>数据库设计时期</a:t>
              </a:r>
            </a:p>
          </p:txBody>
        </p:sp>
        <p:sp>
          <p:nvSpPr>
            <p:cNvPr id="1184786" name="Rectangle 18"/>
            <p:cNvSpPr>
              <a:spLocks noChangeArrowheads="1"/>
            </p:cNvSpPr>
            <p:nvPr/>
          </p:nvSpPr>
          <p:spPr bwMode="auto">
            <a:xfrm>
              <a:off x="1042988" y="1556349"/>
              <a:ext cx="3744912" cy="3311880"/>
            </a:xfrm>
            <a:prstGeom prst="rect">
              <a:avLst/>
            </a:prstGeom>
            <a:noFill/>
            <a:ln w="19050">
              <a:solidFill>
                <a:schemeClr val="tx1"/>
              </a:solidFill>
              <a:prstDash val="dash"/>
              <a:miter lim="800000"/>
              <a:headEnd/>
              <a:tailEnd/>
            </a:ln>
            <a:effectLst/>
          </p:spPr>
          <p:txBody>
            <a:bodyPr wrap="none" lIns="0" tIns="0" rIns="0" bIns="0" anchor="ctr"/>
            <a:lstStyle/>
            <a:p>
              <a:pPr>
                <a:defRPr/>
              </a:pPr>
              <a:endParaRPr lang="zh-CN" altLang="en-US">
                <a:latin typeface="微软雅黑" pitchFamily="34" charset="-122"/>
                <a:ea typeface="微软雅黑" pitchFamily="34" charset="-122"/>
              </a:endParaRPr>
            </a:p>
          </p:txBody>
        </p:sp>
      </p:grpSp>
      <p:sp>
        <p:nvSpPr>
          <p:cNvPr id="1184787" name="Rectangle 19"/>
          <p:cNvSpPr>
            <a:spLocks noGrp="1" noChangeArrowheads="1"/>
          </p:cNvSpPr>
          <p:nvPr>
            <p:ph type="body" idx="1"/>
          </p:nvPr>
        </p:nvSpPr>
        <p:spPr>
          <a:xfrm>
            <a:off x="7094681" y="1486592"/>
            <a:ext cx="3816350" cy="3025775"/>
          </a:xfrm>
        </p:spPr>
        <p:txBody>
          <a:bodyPr vert="horz" wrap="square" lIns="92075" tIns="46038" rIns="92075" bIns="46038" numCol="1" anchor="t" anchorCtr="0" compatLnSpc="1">
            <a:prstTxWarp prst="textNoShape">
              <a:avLst/>
            </a:prstTxWarp>
          </a:bodyPr>
          <a:lstStyle/>
          <a:p>
            <a:pPr marL="261938" indent="-261938" eaLnBrk="1" hangingPunct="1">
              <a:spcAft>
                <a:spcPct val="20000"/>
              </a:spcAft>
              <a:defRPr/>
            </a:pPr>
            <a:r>
              <a:rPr lang="zh-CN" altLang="en-US" sz="2400" dirty="0"/>
              <a:t>数据库的基本知识和数据库设计技术</a:t>
            </a:r>
          </a:p>
          <a:p>
            <a:pPr marL="261938" indent="-261938" eaLnBrk="1" hangingPunct="1">
              <a:spcAft>
                <a:spcPct val="20000"/>
              </a:spcAft>
              <a:defRPr/>
            </a:pPr>
            <a:r>
              <a:rPr lang="zh-CN" altLang="en-US" sz="2400" dirty="0"/>
              <a:t>计算机科学的基础知识和程序设计的方法和技巧</a:t>
            </a:r>
          </a:p>
          <a:p>
            <a:pPr marL="261938" indent="-261938" eaLnBrk="1" hangingPunct="1">
              <a:spcAft>
                <a:spcPct val="20000"/>
              </a:spcAft>
              <a:defRPr/>
            </a:pPr>
            <a:r>
              <a:rPr lang="zh-CN" altLang="en-US" sz="2400" dirty="0"/>
              <a:t>软件工程的原理和方法</a:t>
            </a:r>
          </a:p>
          <a:p>
            <a:pPr marL="261938" indent="-261938" eaLnBrk="1" hangingPunct="1">
              <a:spcAft>
                <a:spcPct val="20000"/>
              </a:spcAft>
              <a:defRPr/>
            </a:pPr>
            <a:r>
              <a:rPr lang="zh-CN" altLang="en-US" sz="2400" dirty="0"/>
              <a:t>应用领域的知识</a:t>
            </a:r>
            <a:endParaRPr lang="zh-CN" altLang="en-US" sz="2400" u="sng" dirty="0">
              <a:latin typeface="华文新魏" pitchFamily="2" charset="-122"/>
              <a:ea typeface="华文新魏" pitchFamily="2" charset="-122"/>
            </a:endParaRPr>
          </a:p>
        </p:txBody>
      </p:sp>
      <p:sp>
        <p:nvSpPr>
          <p:cNvPr id="1184788" name="Rectangle 20"/>
          <p:cNvSpPr>
            <a:spLocks noChangeArrowheads="1"/>
          </p:cNvSpPr>
          <p:nvPr/>
        </p:nvSpPr>
        <p:spPr bwMode="auto">
          <a:xfrm>
            <a:off x="7123256" y="1053205"/>
            <a:ext cx="3816350" cy="720725"/>
          </a:xfrm>
          <a:prstGeom prst="rect">
            <a:avLst/>
          </a:prstGeom>
          <a:noFill/>
          <a:ln w="9525">
            <a:noFill/>
            <a:miter lim="800000"/>
            <a:headEnd/>
            <a:tailEnd/>
          </a:ln>
          <a:effectLst/>
        </p:spPr>
        <p:txBody>
          <a:bodyPr lIns="92075" tIns="46038" rIns="92075" bIns="46038"/>
          <a:lstStyle/>
          <a:p>
            <a:pPr marL="261938" indent="-261938">
              <a:spcAft>
                <a:spcPct val="40000"/>
              </a:spcAft>
              <a:buClr>
                <a:srgbClr val="66FF33"/>
              </a:buClr>
              <a:buSzPct val="85000"/>
              <a:defRPr/>
            </a:pPr>
            <a:r>
              <a:rPr kumimoji="0" lang="zh-CN" altLang="en-US" sz="2400" dirty="0">
                <a:solidFill>
                  <a:srgbClr val="FFFF00"/>
                </a:solidFill>
                <a:effectLst>
                  <a:outerShdw blurRad="38100" dist="38100" dir="2700000" algn="tl">
                    <a:srgbClr val="000000"/>
                  </a:outerShdw>
                </a:effectLst>
                <a:latin typeface="微软雅黑" pitchFamily="34" charset="-122"/>
                <a:ea typeface="微软雅黑" pitchFamily="34" charset="-122"/>
              </a:rPr>
              <a:t>数据库设计应该具备</a:t>
            </a:r>
            <a:r>
              <a:rPr kumimoji="0" lang="en-US" altLang="zh-CN" sz="2400" dirty="0">
                <a:solidFill>
                  <a:srgbClr val="FFFF00"/>
                </a:solidFill>
                <a:effectLst>
                  <a:outerShdw blurRad="38100" dist="38100" dir="2700000" algn="tl">
                    <a:srgbClr val="000000"/>
                  </a:outerShdw>
                </a:effectLst>
                <a:latin typeface="微软雅黑" pitchFamily="34" charset="-122"/>
                <a:ea typeface="微软雅黑" pitchFamily="34" charset="-122"/>
              </a:rPr>
              <a:t>:</a:t>
            </a:r>
            <a:endParaRPr kumimoji="0" lang="en-US" altLang="zh-CN" sz="2400" u="sng" dirty="0">
              <a:solidFill>
                <a:srgbClr val="FFFF00"/>
              </a:solidFill>
              <a:effectLst>
                <a:outerShdw blurRad="38100" dist="38100" dir="2700000" algn="tl">
                  <a:srgbClr val="000000"/>
                </a:outerShdw>
              </a:effectLst>
              <a:latin typeface="微软雅黑" pitchFamily="34" charset="-122"/>
              <a:ea typeface="微软雅黑" pitchFamily="34" charset="-122"/>
            </a:endParaRPr>
          </a:p>
        </p:txBody>
      </p:sp>
      <p:sp>
        <p:nvSpPr>
          <p:cNvPr id="1184789" name="Rectangle 21"/>
          <p:cNvSpPr>
            <a:spLocks noChangeArrowheads="1"/>
          </p:cNvSpPr>
          <p:nvPr/>
        </p:nvSpPr>
        <p:spPr bwMode="auto">
          <a:xfrm>
            <a:off x="7111998" y="4307463"/>
            <a:ext cx="3816350" cy="720725"/>
          </a:xfrm>
          <a:prstGeom prst="rect">
            <a:avLst/>
          </a:prstGeom>
          <a:noFill/>
          <a:ln w="9525">
            <a:noFill/>
            <a:miter lim="800000"/>
            <a:headEnd/>
            <a:tailEnd/>
          </a:ln>
          <a:effectLst/>
        </p:spPr>
        <p:txBody>
          <a:bodyPr lIns="92075" tIns="46038" rIns="92075" bIns="46038"/>
          <a:lstStyle/>
          <a:p>
            <a:pPr marL="261938" indent="-261938">
              <a:spcAft>
                <a:spcPct val="40000"/>
              </a:spcAft>
              <a:buClr>
                <a:srgbClr val="66FF33"/>
              </a:buClr>
              <a:buSzPct val="85000"/>
              <a:defRPr/>
            </a:pPr>
            <a:r>
              <a:rPr kumimoji="0" lang="zh-CN" altLang="en-US" sz="2400" dirty="0">
                <a:solidFill>
                  <a:srgbClr val="FFFF00"/>
                </a:solidFill>
                <a:effectLst>
                  <a:outerShdw blurRad="38100" dist="38100" dir="2700000" algn="tl">
                    <a:srgbClr val="000000"/>
                  </a:outerShdw>
                </a:effectLst>
                <a:latin typeface="微软雅黑" pitchFamily="34" charset="-122"/>
                <a:ea typeface="微软雅黑" pitchFamily="34" charset="-122"/>
              </a:rPr>
              <a:t>数据库设计的特点</a:t>
            </a:r>
            <a:r>
              <a:rPr kumimoji="0" lang="en-US" altLang="zh-CN" sz="2400" dirty="0">
                <a:solidFill>
                  <a:srgbClr val="FFFF00"/>
                </a:solidFill>
                <a:effectLst>
                  <a:outerShdw blurRad="38100" dist="38100" dir="2700000" algn="tl">
                    <a:srgbClr val="000000"/>
                  </a:outerShdw>
                </a:effectLst>
                <a:latin typeface="微软雅黑" pitchFamily="34" charset="-122"/>
                <a:ea typeface="微软雅黑" pitchFamily="34" charset="-122"/>
              </a:rPr>
              <a:t>:</a:t>
            </a:r>
            <a:endParaRPr kumimoji="0" lang="en-US" altLang="zh-CN" sz="2400" u="sng" dirty="0">
              <a:solidFill>
                <a:srgbClr val="FFFF00"/>
              </a:solidFill>
              <a:effectLst>
                <a:outerShdw blurRad="38100" dist="38100" dir="2700000" algn="tl">
                  <a:srgbClr val="000000"/>
                </a:outerShdw>
              </a:effectLst>
              <a:latin typeface="微软雅黑" pitchFamily="34" charset="-122"/>
              <a:ea typeface="微软雅黑" pitchFamily="34" charset="-122"/>
            </a:endParaRPr>
          </a:p>
        </p:txBody>
      </p:sp>
      <p:sp>
        <p:nvSpPr>
          <p:cNvPr id="1184790" name="Rectangle 22"/>
          <p:cNvSpPr>
            <a:spLocks noChangeArrowheads="1"/>
          </p:cNvSpPr>
          <p:nvPr/>
        </p:nvSpPr>
        <p:spPr bwMode="auto">
          <a:xfrm>
            <a:off x="7083422" y="4739263"/>
            <a:ext cx="4766865" cy="1871663"/>
          </a:xfrm>
          <a:prstGeom prst="rect">
            <a:avLst/>
          </a:prstGeom>
          <a:noFill/>
          <a:ln w="9525">
            <a:noFill/>
            <a:miter lim="800000"/>
            <a:headEnd/>
            <a:tailEnd/>
          </a:ln>
          <a:effectLst/>
        </p:spPr>
        <p:txBody>
          <a:bodyPr lIns="92075" tIns="46038" rIns="92075" bIns="46038"/>
          <a:lstStyle/>
          <a:p>
            <a:pPr marL="261938" indent="-261938">
              <a:spcAft>
                <a:spcPct val="20000"/>
              </a:spcAft>
              <a:buClr>
                <a:srgbClr val="66FF33"/>
              </a:buClr>
              <a:buSzPct val="85000"/>
              <a:buBlip>
                <a:blip r:embed="rId3"/>
              </a:buBlip>
              <a:defRPr/>
            </a:pPr>
            <a:r>
              <a:rPr kumimoji="0" lang="zh-CN" altLang="en-US" sz="2400" dirty="0">
                <a:solidFill>
                  <a:srgbClr val="CCFFCC"/>
                </a:solidFill>
                <a:effectLst>
                  <a:outerShdw blurRad="38100" dist="38100" dir="2700000" algn="tl">
                    <a:srgbClr val="000000"/>
                  </a:outerShdw>
                </a:effectLst>
                <a:latin typeface="微软雅黑" pitchFamily="34" charset="-122"/>
                <a:ea typeface="微软雅黑" pitchFamily="34" charset="-122"/>
              </a:rPr>
              <a:t>反复性</a:t>
            </a:r>
          </a:p>
          <a:p>
            <a:pPr marL="261938" indent="-261938">
              <a:spcAft>
                <a:spcPct val="20000"/>
              </a:spcAft>
              <a:buClr>
                <a:srgbClr val="66FF33"/>
              </a:buClr>
              <a:buSzPct val="85000"/>
              <a:buBlip>
                <a:blip r:embed="rId3"/>
              </a:buBlip>
              <a:defRPr/>
            </a:pPr>
            <a:r>
              <a:rPr kumimoji="0" lang="zh-CN" altLang="en-US" sz="2400" dirty="0">
                <a:solidFill>
                  <a:srgbClr val="CCFFCC"/>
                </a:solidFill>
                <a:effectLst>
                  <a:outerShdw blurRad="38100" dist="38100" dir="2700000" algn="tl">
                    <a:srgbClr val="000000"/>
                  </a:outerShdw>
                </a:effectLst>
                <a:latin typeface="微软雅黑" pitchFamily="34" charset="-122"/>
                <a:ea typeface="微软雅黑" pitchFamily="34" charset="-122"/>
              </a:rPr>
              <a:t>试探性</a:t>
            </a:r>
          </a:p>
          <a:p>
            <a:pPr marL="261938" indent="-261938">
              <a:spcAft>
                <a:spcPct val="20000"/>
              </a:spcAft>
              <a:buClr>
                <a:srgbClr val="66FF33"/>
              </a:buClr>
              <a:buSzPct val="85000"/>
              <a:buBlip>
                <a:blip r:embed="rId3"/>
              </a:buBlip>
              <a:defRPr/>
            </a:pPr>
            <a:r>
              <a:rPr kumimoji="0" lang="zh-CN" altLang="en-US" sz="2400" dirty="0">
                <a:solidFill>
                  <a:srgbClr val="CCFFCC"/>
                </a:solidFill>
                <a:effectLst>
                  <a:outerShdw blurRad="38100" dist="38100" dir="2700000" algn="tl">
                    <a:srgbClr val="000000"/>
                  </a:outerShdw>
                </a:effectLst>
                <a:latin typeface="微软雅黑" pitchFamily="34" charset="-122"/>
                <a:ea typeface="微软雅黑" pitchFamily="34" charset="-122"/>
              </a:rPr>
              <a:t>多步性</a:t>
            </a:r>
          </a:p>
          <a:p>
            <a:pPr marL="261938" indent="-261938">
              <a:spcAft>
                <a:spcPct val="20000"/>
              </a:spcAft>
              <a:buClr>
                <a:srgbClr val="66FF33"/>
              </a:buClr>
              <a:buSzPct val="85000"/>
              <a:buBlip>
                <a:blip r:embed="rId3"/>
              </a:buBlip>
              <a:defRPr/>
            </a:pPr>
            <a:r>
              <a:rPr kumimoji="0" lang="zh-CN" altLang="en-US" sz="2400" dirty="0">
                <a:solidFill>
                  <a:srgbClr val="CCFFCC"/>
                </a:solidFill>
                <a:effectLst>
                  <a:outerShdw blurRad="38100" dist="38100" dir="2700000" algn="tl">
                    <a:srgbClr val="000000"/>
                  </a:outerShdw>
                </a:effectLst>
                <a:latin typeface="微软雅黑" pitchFamily="34" charset="-122"/>
                <a:ea typeface="微软雅黑" pitchFamily="34" charset="-122"/>
              </a:rPr>
              <a:t>三分技术 七分管理 十二分数据</a:t>
            </a:r>
          </a:p>
        </p:txBody>
      </p:sp>
      <p:sp>
        <p:nvSpPr>
          <p:cNvPr id="23" name="Rectangle 15"/>
          <p:cNvSpPr>
            <a:spLocks noChangeArrowheads="1"/>
          </p:cNvSpPr>
          <p:nvPr/>
        </p:nvSpPr>
        <p:spPr bwMode="auto">
          <a:xfrm>
            <a:off x="5183742" y="1415253"/>
            <a:ext cx="369332" cy="1538883"/>
          </a:xfrm>
          <a:prstGeom prst="rect">
            <a:avLst/>
          </a:prstGeom>
          <a:noFill/>
          <a:ln w="12700" cap="sq">
            <a:noFill/>
            <a:miter lim="800000"/>
            <a:headEnd/>
            <a:tailEnd/>
          </a:ln>
          <a:effectLst/>
        </p:spPr>
        <p:txBody>
          <a:bodyPr vert="eaVert" wrap="none" lIns="0" tIns="0" rIns="0" bIns="0">
            <a:spAutoFit/>
          </a:bodyPr>
          <a:lstStyle/>
          <a:p>
            <a:pPr algn="ctr">
              <a:spcAft>
                <a:spcPct val="0"/>
              </a:spcAft>
              <a:buSzTx/>
              <a:buFontTx/>
              <a:buNone/>
              <a:defRPr/>
            </a:pPr>
            <a:r>
              <a:rPr lang="zh-CN" altLang="en-US" sz="2400" b="1" dirty="0">
                <a:solidFill>
                  <a:srgbClr val="99FF33"/>
                </a:solidFill>
                <a:effectLst>
                  <a:outerShdw blurRad="38100" dist="38100" dir="2700000" algn="tl">
                    <a:srgbClr val="000000"/>
                  </a:outerShdw>
                </a:effectLst>
                <a:latin typeface="Times New Roman" pitchFamily="18" charset="0"/>
              </a:rPr>
              <a:t>新奥尔良法</a:t>
            </a:r>
          </a:p>
        </p:txBody>
      </p:sp>
    </p:spTree>
  </p:cSld>
  <p:clrMapOvr>
    <a:masterClrMapping/>
  </p:clrMapOvr>
  <p:transition spd="med">
    <p:random/>
    <p:sndAc>
      <p:stSnd>
        <p:snd r:embed="rId2" name="arrow.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788482" name="Rectangle 2"/>
          <p:cNvSpPr>
            <a:spLocks noGrp="1" noChangeArrowheads="1"/>
          </p:cNvSpPr>
          <p:nvPr>
            <p:ph type="ctrTitle"/>
          </p:nvPr>
        </p:nvSpPr>
        <p:spPr>
          <a:xfrm>
            <a:off x="695400" y="404664"/>
            <a:ext cx="5109091" cy="584775"/>
          </a:xfrm>
        </p:spPr>
        <p:txBody>
          <a:bodyPr/>
          <a:lstStyle/>
          <a:p>
            <a:r>
              <a:rPr lang="en-US" altLang="zh-CN" dirty="0"/>
              <a:t>10.1.2</a:t>
            </a:r>
            <a:r>
              <a:rPr lang="zh-CN" altLang="en-US" dirty="0"/>
              <a:t>数据库设计的方法</a:t>
            </a:r>
          </a:p>
        </p:txBody>
      </p:sp>
      <p:sp>
        <p:nvSpPr>
          <p:cNvPr id="788483" name="Rectangle 3"/>
          <p:cNvSpPr>
            <a:spLocks noGrp="1" noChangeArrowheads="1"/>
          </p:cNvSpPr>
          <p:nvPr>
            <p:ph type="subTitle" idx="1"/>
          </p:nvPr>
        </p:nvSpPr>
        <p:spPr>
          <a:xfrm>
            <a:off x="1415480" y="1916832"/>
            <a:ext cx="8534400" cy="1752600"/>
          </a:xfrm>
        </p:spPr>
        <p:txBody>
          <a:bodyPr/>
          <a:lstStyle/>
          <a:p>
            <a:pPr algn="l"/>
            <a:r>
              <a:rPr lang="zh-CN" altLang="en-US" dirty="0"/>
              <a:t>数据库设计方法主要可分为四类：</a:t>
            </a:r>
          </a:p>
          <a:p>
            <a:pPr lvl="1" algn="l"/>
            <a:r>
              <a:rPr lang="zh-CN" altLang="en-US" dirty="0"/>
              <a:t>直观设计法、</a:t>
            </a:r>
          </a:p>
          <a:p>
            <a:pPr lvl="1" algn="l"/>
            <a:r>
              <a:rPr lang="zh-CN" altLang="en-US" dirty="0"/>
              <a:t>规范设计法、</a:t>
            </a:r>
          </a:p>
          <a:p>
            <a:pPr lvl="1" algn="l"/>
            <a:r>
              <a:rPr lang="zh-CN" altLang="en-US" dirty="0"/>
              <a:t>计算机辅助设计法、</a:t>
            </a:r>
          </a:p>
          <a:p>
            <a:pPr lvl="1" algn="l"/>
            <a:r>
              <a:rPr lang="zh-CN" altLang="en-US" dirty="0"/>
              <a:t>自动化设计法。</a:t>
            </a:r>
          </a:p>
        </p:txBody>
      </p:sp>
    </p:spTree>
    <p:extLst>
      <p:ext uri="{BB962C8B-B14F-4D97-AF65-F5344CB8AC3E}">
        <p14:creationId xmlns:p14="http://schemas.microsoft.com/office/powerpoint/2010/main" val="3471764093"/>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789507" name="Rectangle 3"/>
          <p:cNvSpPr>
            <a:spLocks noGrp="1" noChangeArrowheads="1"/>
          </p:cNvSpPr>
          <p:nvPr>
            <p:ph type="subTitle" idx="1"/>
          </p:nvPr>
        </p:nvSpPr>
        <p:spPr>
          <a:xfrm>
            <a:off x="1055440" y="116632"/>
            <a:ext cx="10370616" cy="5760640"/>
          </a:xfrm>
        </p:spPr>
        <p:txBody>
          <a:bodyPr/>
          <a:lstStyle/>
          <a:p>
            <a:pPr algn="l">
              <a:lnSpc>
                <a:spcPct val="150000"/>
              </a:lnSpc>
              <a:buFontTx/>
              <a:buNone/>
            </a:pPr>
            <a:r>
              <a:rPr lang="zh-CN" altLang="en-US" sz="2000" dirty="0"/>
              <a:t>一、直观设计法</a:t>
            </a:r>
          </a:p>
          <a:p>
            <a:pPr algn="l">
              <a:lnSpc>
                <a:spcPct val="150000"/>
              </a:lnSpc>
            </a:pPr>
            <a:r>
              <a:rPr lang="zh-CN" altLang="en-US" sz="2000" dirty="0"/>
              <a:t>直观设计法也叫手工试凑法，它是最早使用的数据库设计方法。</a:t>
            </a:r>
          </a:p>
          <a:p>
            <a:pPr algn="l">
              <a:lnSpc>
                <a:spcPct val="150000"/>
              </a:lnSpc>
            </a:pPr>
            <a:r>
              <a:rPr lang="zh-CN" altLang="en-US" sz="2000" dirty="0"/>
              <a:t>特点：这种方法依赖于设计者的经验和技巧。</a:t>
            </a:r>
          </a:p>
          <a:p>
            <a:pPr algn="l">
              <a:lnSpc>
                <a:spcPct val="150000"/>
              </a:lnSpc>
            </a:pPr>
            <a:r>
              <a:rPr lang="zh-CN" altLang="en-US" sz="2000" dirty="0"/>
              <a:t>缺点：</a:t>
            </a:r>
          </a:p>
          <a:p>
            <a:pPr lvl="1" algn="l">
              <a:lnSpc>
                <a:spcPct val="150000"/>
              </a:lnSpc>
            </a:pPr>
            <a:r>
              <a:rPr lang="zh-CN" altLang="en-US" sz="1800" dirty="0"/>
              <a:t>缺乏科学理论和工程原则的支持；</a:t>
            </a:r>
          </a:p>
          <a:p>
            <a:pPr lvl="1" algn="l">
              <a:lnSpc>
                <a:spcPct val="150000"/>
              </a:lnSpc>
            </a:pPr>
            <a:r>
              <a:rPr lang="zh-CN" altLang="en-US" sz="1800" dirty="0"/>
              <a:t>设计的质量很难保证。</a:t>
            </a:r>
          </a:p>
          <a:p>
            <a:pPr algn="l">
              <a:lnSpc>
                <a:spcPct val="150000"/>
              </a:lnSpc>
            </a:pPr>
            <a:r>
              <a:rPr lang="en-US" altLang="zh-CN" sz="2000" dirty="0"/>
              <a:t>1978</a:t>
            </a:r>
            <a:r>
              <a:rPr lang="zh-CN" altLang="en-US" sz="2000" dirty="0"/>
              <a:t>年</a:t>
            </a:r>
            <a:r>
              <a:rPr lang="en-US" altLang="zh-CN" sz="2000" dirty="0"/>
              <a:t>10</a:t>
            </a:r>
            <a:r>
              <a:rPr lang="zh-CN" altLang="en-US" sz="2000" dirty="0"/>
              <a:t>月，来自三十多个国家的数据库专家在美国新奥尔良（</a:t>
            </a:r>
            <a:r>
              <a:rPr lang="en-US" altLang="zh-CN" sz="2000" dirty="0"/>
              <a:t>New Orleans</a:t>
            </a:r>
            <a:r>
              <a:rPr lang="zh-CN" altLang="en-US" sz="2000" dirty="0"/>
              <a:t>）市专门讨论了数据库设计问题。形成了新奥尔良法，新奥尔良法将数据库设计分成以下四个步骤：</a:t>
            </a:r>
          </a:p>
          <a:p>
            <a:pPr lvl="1" algn="l">
              <a:lnSpc>
                <a:spcPct val="150000"/>
              </a:lnSpc>
            </a:pPr>
            <a:r>
              <a:rPr lang="zh-CN" altLang="en-US" sz="1800" dirty="0"/>
              <a:t>需求分析（分析用户需求）、</a:t>
            </a:r>
          </a:p>
          <a:p>
            <a:pPr lvl="1" algn="l">
              <a:lnSpc>
                <a:spcPct val="150000"/>
              </a:lnSpc>
            </a:pPr>
            <a:r>
              <a:rPr lang="zh-CN" altLang="en-US" sz="1800" dirty="0"/>
              <a:t>概念设计（信息分析和定义）、</a:t>
            </a:r>
          </a:p>
          <a:p>
            <a:pPr lvl="1" algn="l">
              <a:lnSpc>
                <a:spcPct val="150000"/>
              </a:lnSpc>
            </a:pPr>
            <a:r>
              <a:rPr lang="zh-CN" altLang="en-US" sz="1800" dirty="0"/>
              <a:t>逻辑设计（设计实现）、</a:t>
            </a:r>
          </a:p>
          <a:p>
            <a:pPr lvl="1" algn="l">
              <a:lnSpc>
                <a:spcPct val="150000"/>
              </a:lnSpc>
            </a:pPr>
            <a:r>
              <a:rPr lang="zh-CN" altLang="en-US" sz="1800" dirty="0"/>
              <a:t>物理设计（物理数据库设计）。</a:t>
            </a:r>
          </a:p>
        </p:txBody>
      </p:sp>
    </p:spTree>
    <p:extLst>
      <p:ext uri="{BB962C8B-B14F-4D97-AF65-F5344CB8AC3E}">
        <p14:creationId xmlns:p14="http://schemas.microsoft.com/office/powerpoint/2010/main" val="459809211"/>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790531" name="Rectangle 3"/>
          <p:cNvSpPr>
            <a:spLocks noGrp="1" noChangeArrowheads="1"/>
          </p:cNvSpPr>
          <p:nvPr>
            <p:ph type="subTitle" idx="1"/>
          </p:nvPr>
        </p:nvSpPr>
        <p:spPr>
          <a:xfrm>
            <a:off x="1168494" y="404664"/>
            <a:ext cx="10184090" cy="5843736"/>
          </a:xfrm>
        </p:spPr>
        <p:txBody>
          <a:bodyPr/>
          <a:lstStyle/>
          <a:p>
            <a:pPr algn="l">
              <a:lnSpc>
                <a:spcPct val="150000"/>
              </a:lnSpc>
              <a:buFontTx/>
              <a:buNone/>
            </a:pPr>
            <a:r>
              <a:rPr lang="zh-CN" altLang="en-US" sz="2000" dirty="0"/>
              <a:t>二、规范设计法</a:t>
            </a:r>
          </a:p>
          <a:p>
            <a:pPr algn="l">
              <a:lnSpc>
                <a:spcPct val="150000"/>
              </a:lnSpc>
            </a:pPr>
            <a:r>
              <a:rPr lang="zh-CN" altLang="en-US" sz="2000" dirty="0"/>
              <a:t>目前，常用的规范设计方法大多起源于新奥尔良法，并在设计的每一阶段采用一些辅助方法来具体实现。</a:t>
            </a:r>
          </a:p>
          <a:p>
            <a:pPr lvl="1" algn="l">
              <a:lnSpc>
                <a:spcPct val="150000"/>
              </a:lnSpc>
            </a:pPr>
            <a:r>
              <a:rPr lang="en-US" altLang="zh-CN" sz="1800" dirty="0"/>
              <a:t>1</a:t>
            </a:r>
            <a:r>
              <a:rPr lang="zh-CN" altLang="en-US" sz="1800" dirty="0"/>
              <a:t>．基于</a:t>
            </a:r>
            <a:r>
              <a:rPr lang="en-US" altLang="zh-CN" sz="1800" dirty="0"/>
              <a:t>E-R</a:t>
            </a:r>
            <a:r>
              <a:rPr lang="zh-CN" altLang="en-US" sz="1800" dirty="0"/>
              <a:t>模型的数据库设计方法 </a:t>
            </a:r>
          </a:p>
          <a:p>
            <a:pPr lvl="1" algn="l">
              <a:lnSpc>
                <a:spcPct val="150000"/>
              </a:lnSpc>
            </a:pPr>
            <a:r>
              <a:rPr lang="en-US" altLang="zh-CN" sz="1800" dirty="0"/>
              <a:t>2</a:t>
            </a:r>
            <a:r>
              <a:rPr lang="zh-CN" altLang="en-US" sz="1800" dirty="0"/>
              <a:t>．基于</a:t>
            </a:r>
            <a:r>
              <a:rPr lang="en-US" altLang="zh-CN" sz="1800" dirty="0"/>
              <a:t>3NF</a:t>
            </a:r>
            <a:r>
              <a:rPr lang="zh-CN" altLang="en-US" sz="1800" dirty="0"/>
              <a:t>的数据库设计方法</a:t>
            </a:r>
          </a:p>
          <a:p>
            <a:pPr lvl="1" algn="l">
              <a:lnSpc>
                <a:spcPct val="150000"/>
              </a:lnSpc>
            </a:pPr>
            <a:r>
              <a:rPr lang="en-US" altLang="zh-CN" sz="1800" dirty="0"/>
              <a:t>3</a:t>
            </a:r>
            <a:r>
              <a:rPr lang="zh-CN" altLang="en-US" sz="1800" dirty="0"/>
              <a:t>．基于视图的数据库设计方法</a:t>
            </a:r>
          </a:p>
          <a:p>
            <a:pPr algn="l">
              <a:lnSpc>
                <a:spcPct val="150000"/>
              </a:lnSpc>
            </a:pPr>
            <a:r>
              <a:rPr lang="zh-CN" altLang="en-US" sz="2000" dirty="0"/>
              <a:t>除了以上三种方法外，规范化设计方法还有实体分析法、属性分析法和基于抽象语义的设计方法等。规范设计法从本质上来说仍然是手工设计方法，其基本思想是：</a:t>
            </a:r>
          </a:p>
          <a:p>
            <a:pPr lvl="1" algn="l">
              <a:lnSpc>
                <a:spcPct val="150000"/>
              </a:lnSpc>
            </a:pPr>
            <a:r>
              <a:rPr lang="zh-CN" altLang="en-US" sz="1800" dirty="0"/>
              <a:t>过程迭代</a:t>
            </a:r>
          </a:p>
          <a:p>
            <a:pPr lvl="1" algn="l">
              <a:lnSpc>
                <a:spcPct val="150000"/>
              </a:lnSpc>
            </a:pPr>
            <a:r>
              <a:rPr lang="zh-CN" altLang="en-US" sz="1800" dirty="0"/>
              <a:t>逐步求精。</a:t>
            </a:r>
          </a:p>
        </p:txBody>
      </p:sp>
    </p:spTree>
    <p:extLst>
      <p:ext uri="{BB962C8B-B14F-4D97-AF65-F5344CB8AC3E}">
        <p14:creationId xmlns:p14="http://schemas.microsoft.com/office/powerpoint/2010/main" val="1281474772"/>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791555" name="Rectangle 3"/>
          <p:cNvSpPr>
            <a:spLocks noGrp="1" noChangeArrowheads="1"/>
          </p:cNvSpPr>
          <p:nvPr>
            <p:ph type="subTitle" idx="1"/>
          </p:nvPr>
        </p:nvSpPr>
        <p:spPr>
          <a:xfrm>
            <a:off x="839416" y="116632"/>
            <a:ext cx="10369152" cy="5256584"/>
          </a:xfrm>
        </p:spPr>
        <p:txBody>
          <a:bodyPr/>
          <a:lstStyle/>
          <a:p>
            <a:pPr algn="l">
              <a:lnSpc>
                <a:spcPct val="150000"/>
              </a:lnSpc>
              <a:buFontTx/>
              <a:buNone/>
            </a:pPr>
            <a:r>
              <a:rPr lang="zh-CN" altLang="en-US" sz="2400" dirty="0"/>
              <a:t>三、计算机辅助设计法</a:t>
            </a:r>
          </a:p>
          <a:p>
            <a:pPr algn="l">
              <a:lnSpc>
                <a:spcPct val="150000"/>
              </a:lnSpc>
            </a:pPr>
            <a:r>
              <a:rPr lang="zh-CN" altLang="en-US" sz="2400" dirty="0"/>
              <a:t>计算机辅助设计法是指在数据库设计的某些过程中，模拟某一规范化设计的方法，并以人的知识或经验为主导，通过人机交互方式，实现数据库设计中的某些部分。即在数据库设计的某些阶段，借助于特定工具</a:t>
            </a:r>
            <a:r>
              <a:rPr lang="en-US" altLang="zh-CN" sz="2400" dirty="0"/>
              <a:t>——</a:t>
            </a:r>
            <a:r>
              <a:rPr lang="zh-CN" altLang="en-US" sz="2400" dirty="0"/>
              <a:t>软件来完成设计。</a:t>
            </a:r>
          </a:p>
          <a:p>
            <a:pPr lvl="1" algn="l">
              <a:lnSpc>
                <a:spcPct val="150000"/>
              </a:lnSpc>
            </a:pPr>
            <a:r>
              <a:rPr lang="zh-CN" altLang="en-US" sz="2000" dirty="0"/>
              <a:t>目前许多计算机辅助软件工程（</a:t>
            </a:r>
            <a:r>
              <a:rPr lang="en-US" altLang="zh-CN" sz="2000" dirty="0"/>
              <a:t>CASE Computer Aided Software Engineering</a:t>
            </a:r>
            <a:r>
              <a:rPr lang="zh-CN" altLang="en-US" sz="2000" dirty="0"/>
              <a:t>）工具可以自动或辅助设计人员完成数据库设计过程中的很多任务。比如：</a:t>
            </a:r>
          </a:p>
          <a:p>
            <a:pPr lvl="1" algn="l">
              <a:lnSpc>
                <a:spcPct val="150000"/>
              </a:lnSpc>
            </a:pPr>
            <a:r>
              <a:rPr lang="zh-CN" altLang="en-US" sz="2000" dirty="0"/>
              <a:t></a:t>
            </a:r>
            <a:r>
              <a:rPr lang="en-US" altLang="zh-CN" sz="2000" dirty="0" err="1"/>
              <a:t>MicroSoft</a:t>
            </a:r>
            <a:r>
              <a:rPr lang="zh-CN" altLang="en-US" sz="2000" dirty="0"/>
              <a:t>的</a:t>
            </a:r>
            <a:r>
              <a:rPr lang="en-US" altLang="zh-CN" sz="2000" dirty="0"/>
              <a:t>Visio</a:t>
            </a:r>
            <a:r>
              <a:rPr lang="zh-CN" altLang="en-US" sz="2000" dirty="0"/>
              <a:t>；</a:t>
            </a:r>
          </a:p>
          <a:p>
            <a:pPr lvl="1" algn="l">
              <a:lnSpc>
                <a:spcPct val="150000"/>
              </a:lnSpc>
            </a:pPr>
            <a:r>
              <a:rPr lang="zh-CN" altLang="en-US" sz="2000" dirty="0"/>
              <a:t></a:t>
            </a:r>
            <a:r>
              <a:rPr lang="en-US" altLang="zh-CN" sz="2000" dirty="0"/>
              <a:t>IBM</a:t>
            </a:r>
            <a:r>
              <a:rPr lang="zh-CN" altLang="en-US" sz="2000" dirty="0"/>
              <a:t>公司的</a:t>
            </a:r>
            <a:r>
              <a:rPr lang="en-US" altLang="zh-CN" sz="2000" dirty="0"/>
              <a:t>Rational ROSE</a:t>
            </a:r>
            <a:r>
              <a:rPr lang="zh-CN" altLang="en-US" sz="2000" dirty="0"/>
              <a:t>；</a:t>
            </a:r>
          </a:p>
          <a:p>
            <a:pPr lvl="1" algn="l">
              <a:lnSpc>
                <a:spcPct val="150000"/>
              </a:lnSpc>
            </a:pPr>
            <a:r>
              <a:rPr lang="zh-CN" altLang="en-US" sz="2000" dirty="0"/>
              <a:t></a:t>
            </a:r>
            <a:r>
              <a:rPr lang="en-US" altLang="zh-CN" sz="2000" dirty="0"/>
              <a:t>SYSBASE</a:t>
            </a:r>
            <a:r>
              <a:rPr lang="zh-CN" altLang="en-US" sz="2000" dirty="0"/>
              <a:t>公司的</a:t>
            </a:r>
            <a:r>
              <a:rPr lang="en-US" altLang="zh-CN" sz="2000" dirty="0" err="1"/>
              <a:t>PowerDesigner</a:t>
            </a:r>
            <a:r>
              <a:rPr lang="zh-CN" altLang="en-US" sz="2000" dirty="0"/>
              <a:t>；</a:t>
            </a:r>
          </a:p>
          <a:p>
            <a:pPr lvl="1" algn="l">
              <a:lnSpc>
                <a:spcPct val="150000"/>
              </a:lnSpc>
            </a:pPr>
            <a:r>
              <a:rPr lang="zh-CN" altLang="en-US" sz="2000" dirty="0"/>
              <a:t></a:t>
            </a:r>
            <a:r>
              <a:rPr lang="en-US" altLang="zh-CN" sz="2000" dirty="0"/>
              <a:t>Oracle</a:t>
            </a:r>
            <a:r>
              <a:rPr lang="zh-CN" altLang="en-US" sz="2000" dirty="0"/>
              <a:t>公司的</a:t>
            </a:r>
            <a:r>
              <a:rPr lang="en-US" altLang="zh-CN" sz="2000" dirty="0"/>
              <a:t>Design 2000</a:t>
            </a:r>
            <a:r>
              <a:rPr lang="zh-CN" altLang="en-US" sz="2000" dirty="0"/>
              <a:t>。 </a:t>
            </a:r>
          </a:p>
        </p:txBody>
      </p:sp>
    </p:spTree>
    <p:extLst>
      <p:ext uri="{BB962C8B-B14F-4D97-AF65-F5344CB8AC3E}">
        <p14:creationId xmlns:p14="http://schemas.microsoft.com/office/powerpoint/2010/main" val="1314994984"/>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792578" name="Rectangle 2"/>
          <p:cNvSpPr>
            <a:spLocks noGrp="1" noChangeArrowheads="1"/>
          </p:cNvSpPr>
          <p:nvPr>
            <p:ph type="ctrTitle"/>
          </p:nvPr>
        </p:nvSpPr>
        <p:spPr>
          <a:xfrm>
            <a:off x="767408" y="260648"/>
            <a:ext cx="5109091" cy="584775"/>
          </a:xfrm>
        </p:spPr>
        <p:txBody>
          <a:bodyPr/>
          <a:lstStyle/>
          <a:p>
            <a:r>
              <a:rPr lang="en-US" altLang="zh-CN" dirty="0"/>
              <a:t>10.1.3</a:t>
            </a:r>
            <a:r>
              <a:rPr lang="zh-CN" altLang="en-US" dirty="0"/>
              <a:t>数据库设计的步骤</a:t>
            </a:r>
          </a:p>
        </p:txBody>
      </p:sp>
      <p:sp>
        <p:nvSpPr>
          <p:cNvPr id="792579" name="Rectangle 3"/>
          <p:cNvSpPr>
            <a:spLocks noGrp="1" noChangeArrowheads="1"/>
          </p:cNvSpPr>
          <p:nvPr>
            <p:ph type="subTitle" idx="1"/>
          </p:nvPr>
        </p:nvSpPr>
        <p:spPr>
          <a:xfrm>
            <a:off x="911424" y="1196752"/>
            <a:ext cx="10009112" cy="1752600"/>
          </a:xfrm>
        </p:spPr>
        <p:txBody>
          <a:bodyPr/>
          <a:lstStyle/>
          <a:p>
            <a:pPr algn="l">
              <a:lnSpc>
                <a:spcPct val="90000"/>
              </a:lnSpc>
            </a:pPr>
            <a:r>
              <a:rPr lang="zh-CN" altLang="en-US" sz="3200" dirty="0"/>
              <a:t>按规范设计法可将数据库设计分为六个阶段（步骤）：</a:t>
            </a:r>
          </a:p>
          <a:p>
            <a:pPr lvl="1" algn="l">
              <a:lnSpc>
                <a:spcPct val="90000"/>
              </a:lnSpc>
            </a:pPr>
            <a:r>
              <a:rPr lang="en-US" altLang="zh-CN" sz="2800" dirty="0"/>
              <a:t>1</a:t>
            </a:r>
            <a:r>
              <a:rPr lang="zh-CN" altLang="en-US" sz="2800" dirty="0"/>
              <a:t>、系统需求分析阶段</a:t>
            </a:r>
          </a:p>
          <a:p>
            <a:pPr lvl="1" algn="l">
              <a:lnSpc>
                <a:spcPct val="90000"/>
              </a:lnSpc>
            </a:pPr>
            <a:r>
              <a:rPr lang="en-US" altLang="zh-CN" sz="2800" dirty="0"/>
              <a:t>2</a:t>
            </a:r>
            <a:r>
              <a:rPr lang="zh-CN" altLang="en-US" sz="2800" dirty="0"/>
              <a:t>、概念结构设计阶段</a:t>
            </a:r>
          </a:p>
          <a:p>
            <a:pPr lvl="1" algn="l">
              <a:lnSpc>
                <a:spcPct val="90000"/>
              </a:lnSpc>
            </a:pPr>
            <a:r>
              <a:rPr lang="en-US" altLang="zh-CN" sz="2800" dirty="0"/>
              <a:t>3</a:t>
            </a:r>
            <a:r>
              <a:rPr lang="zh-CN" altLang="en-US" sz="2800" dirty="0"/>
              <a:t>、逻辑结构设计阶段</a:t>
            </a:r>
          </a:p>
          <a:p>
            <a:pPr lvl="1" algn="l">
              <a:lnSpc>
                <a:spcPct val="90000"/>
              </a:lnSpc>
            </a:pPr>
            <a:r>
              <a:rPr lang="en-US" altLang="zh-CN" sz="2800" dirty="0"/>
              <a:t>4</a:t>
            </a:r>
            <a:r>
              <a:rPr lang="zh-CN" altLang="en-US" sz="2800" dirty="0"/>
              <a:t>、物理设计阶段</a:t>
            </a:r>
          </a:p>
          <a:p>
            <a:pPr lvl="1" algn="l">
              <a:lnSpc>
                <a:spcPct val="90000"/>
              </a:lnSpc>
            </a:pPr>
            <a:r>
              <a:rPr lang="en-US" altLang="zh-CN" sz="2800" dirty="0"/>
              <a:t>5</a:t>
            </a:r>
            <a:r>
              <a:rPr lang="zh-CN" altLang="en-US" sz="2800" dirty="0"/>
              <a:t>、数据库实施阶段</a:t>
            </a:r>
          </a:p>
          <a:p>
            <a:pPr lvl="1" algn="l">
              <a:lnSpc>
                <a:spcPct val="90000"/>
              </a:lnSpc>
            </a:pPr>
            <a:r>
              <a:rPr lang="en-US" altLang="zh-CN" sz="2800" dirty="0"/>
              <a:t>6</a:t>
            </a:r>
            <a:r>
              <a:rPr lang="zh-CN" altLang="en-US" sz="2800" dirty="0"/>
              <a:t>、数据库运行与维护阶段 </a:t>
            </a:r>
          </a:p>
        </p:txBody>
      </p:sp>
    </p:spTree>
    <p:extLst>
      <p:ext uri="{BB962C8B-B14F-4D97-AF65-F5344CB8AC3E}">
        <p14:creationId xmlns:p14="http://schemas.microsoft.com/office/powerpoint/2010/main" val="2090801482"/>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793604" name="Rectangle 4"/>
          <p:cNvSpPr>
            <a:spLocks noChangeArrowheads="1"/>
          </p:cNvSpPr>
          <p:nvPr/>
        </p:nvSpPr>
        <p:spPr bwMode="auto">
          <a:xfrm>
            <a:off x="1524001" y="7376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Aft>
                <a:spcPct val="0"/>
              </a:spcAft>
              <a:buSzTx/>
            </a:pPr>
            <a:endParaRPr lang="zh-CN" altLang="en-US" sz="1800">
              <a:solidFill>
                <a:srgbClr val="000000"/>
              </a:solidFill>
              <a:effectLst/>
              <a:latin typeface="Tahoma" panose="020B0604030504040204" pitchFamily="34" charset="0"/>
              <a:ea typeface="宋体" panose="02010600030101010101" pitchFamily="2" charset="-122"/>
            </a:endParaRPr>
          </a:p>
        </p:txBody>
      </p:sp>
      <p:pic>
        <p:nvPicPr>
          <p:cNvPr id="793608" name="Picture 8" descr="wps7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4577" y="0"/>
            <a:ext cx="6445720" cy="6708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0369121"/>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794627" name="Rectangle 3"/>
          <p:cNvSpPr>
            <a:spLocks noGrp="1" noChangeArrowheads="1"/>
          </p:cNvSpPr>
          <p:nvPr>
            <p:ph type="subTitle" idx="1"/>
          </p:nvPr>
        </p:nvSpPr>
        <p:spPr>
          <a:xfrm>
            <a:off x="839416" y="476672"/>
            <a:ext cx="10729192" cy="5400600"/>
          </a:xfrm>
        </p:spPr>
        <p:txBody>
          <a:bodyPr/>
          <a:lstStyle/>
          <a:p>
            <a:pPr algn="l">
              <a:lnSpc>
                <a:spcPct val="80000"/>
              </a:lnSpc>
            </a:pPr>
            <a:r>
              <a:rPr lang="en-US" altLang="zh-CN" sz="2800" dirty="0"/>
              <a:t>1</a:t>
            </a:r>
            <a:r>
              <a:rPr lang="zh-CN" altLang="en-US" sz="2800" dirty="0"/>
              <a:t>、系统需求分析阶段</a:t>
            </a:r>
          </a:p>
          <a:p>
            <a:pPr lvl="1" algn="l">
              <a:lnSpc>
                <a:spcPct val="80000"/>
              </a:lnSpc>
            </a:pPr>
            <a:r>
              <a:rPr lang="zh-CN" altLang="en-US" sz="2400" dirty="0"/>
              <a:t>需求分析是整个数据库设计过程的基础，要收集数据库所有用户的信息内容和处理要求，并加以规格化和分析。</a:t>
            </a:r>
          </a:p>
          <a:p>
            <a:pPr lvl="1" algn="l">
              <a:lnSpc>
                <a:spcPct val="80000"/>
              </a:lnSpc>
            </a:pPr>
            <a:r>
              <a:rPr lang="zh-CN" altLang="en-US" sz="2400" dirty="0"/>
              <a:t>它决定了以后各步设计的速度与质量。需求分析做得不好，可能会导致整个数据库设计返工重做。</a:t>
            </a:r>
          </a:p>
          <a:p>
            <a:pPr algn="l">
              <a:lnSpc>
                <a:spcPct val="80000"/>
              </a:lnSpc>
            </a:pPr>
            <a:r>
              <a:rPr lang="en-US" altLang="zh-CN" sz="2800" dirty="0"/>
              <a:t>2</a:t>
            </a:r>
            <a:r>
              <a:rPr lang="zh-CN" altLang="en-US" sz="2800" dirty="0"/>
              <a:t>、概念结构设计阶段</a:t>
            </a:r>
          </a:p>
          <a:p>
            <a:pPr lvl="1" algn="l">
              <a:lnSpc>
                <a:spcPct val="80000"/>
              </a:lnSpc>
            </a:pPr>
            <a:r>
              <a:rPr lang="zh-CN" altLang="en-US" sz="2400" dirty="0"/>
              <a:t>概念设计是把用户的信息要求统一到一个整体逻辑结构中，此结构是一个独立于任何</a:t>
            </a:r>
            <a:r>
              <a:rPr lang="en-US" altLang="zh-CN" sz="2400" dirty="0"/>
              <a:t>DBMS</a:t>
            </a:r>
            <a:r>
              <a:rPr lang="zh-CN" altLang="en-US" sz="2400" dirty="0"/>
              <a:t>软件和硬件的概念模型。</a:t>
            </a:r>
          </a:p>
          <a:p>
            <a:pPr algn="l">
              <a:lnSpc>
                <a:spcPct val="80000"/>
              </a:lnSpc>
            </a:pPr>
            <a:r>
              <a:rPr lang="en-US" altLang="zh-CN" sz="2800" dirty="0"/>
              <a:t>3</a:t>
            </a:r>
            <a:r>
              <a:rPr lang="zh-CN" altLang="en-US" sz="2800" dirty="0"/>
              <a:t>、逻辑结构设计阶段</a:t>
            </a:r>
          </a:p>
          <a:p>
            <a:pPr lvl="1" algn="l">
              <a:lnSpc>
                <a:spcPct val="80000"/>
              </a:lnSpc>
            </a:pPr>
            <a:r>
              <a:rPr lang="zh-CN" altLang="en-US" sz="2400" dirty="0"/>
              <a:t>逻辑设计是将上一步所得到的概念模型转换为某个</a:t>
            </a:r>
            <a:r>
              <a:rPr lang="en-US" altLang="zh-CN" sz="2400" dirty="0"/>
              <a:t>DBMS</a:t>
            </a:r>
            <a:r>
              <a:rPr lang="zh-CN" altLang="en-US" sz="2400" dirty="0"/>
              <a:t>所支持的数据模型，并对其进行优化。 </a:t>
            </a:r>
          </a:p>
        </p:txBody>
      </p:sp>
    </p:spTree>
    <p:extLst>
      <p:ext uri="{BB962C8B-B14F-4D97-AF65-F5344CB8AC3E}">
        <p14:creationId xmlns:p14="http://schemas.microsoft.com/office/powerpoint/2010/main" val="2219024557"/>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795651" name="Rectangle 3"/>
          <p:cNvSpPr>
            <a:spLocks noGrp="1" noChangeArrowheads="1"/>
          </p:cNvSpPr>
          <p:nvPr>
            <p:ph type="subTitle" idx="1"/>
          </p:nvPr>
        </p:nvSpPr>
        <p:spPr>
          <a:xfrm>
            <a:off x="1127448" y="116632"/>
            <a:ext cx="9562190" cy="5184576"/>
          </a:xfrm>
        </p:spPr>
        <p:txBody>
          <a:bodyPr/>
          <a:lstStyle/>
          <a:p>
            <a:pPr algn="l">
              <a:lnSpc>
                <a:spcPct val="150000"/>
              </a:lnSpc>
            </a:pPr>
            <a:r>
              <a:rPr lang="en-US" altLang="zh-CN" sz="2800" dirty="0"/>
              <a:t>4</a:t>
            </a:r>
            <a:r>
              <a:rPr lang="zh-CN" altLang="en-US" sz="2800" dirty="0"/>
              <a:t>、物理设计阶段</a:t>
            </a:r>
          </a:p>
          <a:p>
            <a:pPr lvl="1" algn="l">
              <a:lnSpc>
                <a:spcPct val="150000"/>
              </a:lnSpc>
            </a:pPr>
            <a:r>
              <a:rPr lang="zh-CN" altLang="en-US" sz="2400" dirty="0"/>
              <a:t>物理设计是为逻辑数据模型建立一个完整的能实现的数据库结构，包括存储结构和存取方法。</a:t>
            </a:r>
          </a:p>
          <a:p>
            <a:pPr algn="l">
              <a:lnSpc>
                <a:spcPct val="150000"/>
              </a:lnSpc>
            </a:pPr>
            <a:r>
              <a:rPr lang="en-US" altLang="zh-CN" sz="2800" dirty="0"/>
              <a:t>5</a:t>
            </a:r>
            <a:r>
              <a:rPr lang="zh-CN" altLang="en-US" sz="2800" dirty="0"/>
              <a:t>、数据库实施阶段</a:t>
            </a:r>
          </a:p>
          <a:p>
            <a:pPr lvl="1" algn="l">
              <a:lnSpc>
                <a:spcPct val="150000"/>
              </a:lnSpc>
            </a:pPr>
            <a:r>
              <a:rPr lang="zh-CN" altLang="en-US" sz="2400" dirty="0"/>
              <a:t>把原始数据装入数据库；编写和调试相应的应用程序。</a:t>
            </a:r>
          </a:p>
          <a:p>
            <a:pPr algn="l">
              <a:lnSpc>
                <a:spcPct val="150000"/>
              </a:lnSpc>
            </a:pPr>
            <a:r>
              <a:rPr lang="en-US" altLang="zh-CN" sz="2800" dirty="0"/>
              <a:t>6</a:t>
            </a:r>
            <a:r>
              <a:rPr lang="zh-CN" altLang="en-US" sz="2800" dirty="0"/>
              <a:t>、数据库运行与维护阶段</a:t>
            </a:r>
          </a:p>
          <a:p>
            <a:pPr lvl="1" algn="l">
              <a:lnSpc>
                <a:spcPct val="150000"/>
              </a:lnSpc>
            </a:pPr>
            <a:r>
              <a:rPr lang="zh-CN" altLang="en-US" sz="2400" dirty="0"/>
              <a:t>这一阶段主要是收集和记录实际系统运行的数据。在运行和维护阶段，可能要对数据库结构进行必要的修改或扩充。 </a:t>
            </a:r>
          </a:p>
        </p:txBody>
      </p:sp>
    </p:spTree>
    <p:extLst>
      <p:ext uri="{BB962C8B-B14F-4D97-AF65-F5344CB8AC3E}">
        <p14:creationId xmlns:p14="http://schemas.microsoft.com/office/powerpoint/2010/main" val="3902029791"/>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latin typeface="Microsoft Yahei" panose="020B0503020204020204" pitchFamily="34" charset="-122"/>
                <a:ea typeface="Microsoft Yahei" panose="020B0503020204020204" pitchFamily="34" charset="-122"/>
                <a:sym typeface="Microsoft Yahei" panose="020B0503020204020204" pitchFamily="34" charset="-122"/>
              </a:rPr>
              <a:t>请简要描述按照规范设计法，数据库设计的六个步骤。</a:t>
            </a:r>
          </a:p>
        </p:txBody>
      </p:sp>
      <p:sp>
        <p:nvSpPr>
          <p:cNvPr id="6" name="圆角矩形 5"/>
          <p:cNvSpPr/>
          <p:nvPr>
            <p:custDataLst>
              <p:tags r:id="rId3"/>
            </p:custDataLst>
          </p:nvPr>
        </p:nvSpPr>
        <p:spPr bwMode="auto">
          <a:xfrm>
            <a:off x="8915400" y="6215063"/>
            <a:ext cx="1543050" cy="411480"/>
          </a:xfrm>
          <a:prstGeom prst="roundRect">
            <a:avLst/>
          </a:prstGeom>
          <a:solidFill>
            <a:srgbClr val="808080"/>
          </a:solidFill>
          <a:ln w="38100" cap="sq"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r>
              <a:rPr kumimoji="1" lang="zh-CN" altLang="en-US" sz="1600" b="0" i="0" u="none" strike="noStrike" cap="none" normalizeH="0" baseline="0">
                <a:ln>
                  <a:noFill/>
                </a:ln>
                <a:solidFill>
                  <a:srgbClr val="FFFFFF"/>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1" name="组合 10"/>
          <p:cNvGrpSpPr/>
          <p:nvPr>
            <p:custDataLst>
              <p:tags r:id="rId4"/>
            </p:custDataLst>
          </p:nvPr>
        </p:nvGrpSpPr>
        <p:grpSpPr>
          <a:xfrm>
            <a:off x="0" y="0"/>
            <a:ext cx="12192000" cy="635000"/>
            <a:chOff x="0" y="0"/>
            <a:chExt cx="12192000" cy="635000"/>
          </a:xfrm>
        </p:grpSpPr>
        <p:sp>
          <p:nvSpPr>
            <p:cNvPr id="7" name="TitleBackground"/>
            <p:cNvSpPr/>
            <p:nvPr>
              <p:custDataLst>
                <p:tags r:id="rId6"/>
              </p:custDataLst>
            </p:nvPr>
          </p:nvSpPr>
          <p:spPr bwMode="auto">
            <a:xfrm>
              <a:off x="0" y="0"/>
              <a:ext cx="12192000" cy="635000"/>
            </a:xfrm>
            <a:prstGeom prst="rect">
              <a:avLst/>
            </a:prstGeom>
            <a:solidFill>
              <a:srgbClr val="F6F7F8"/>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8" name="ColorBlock"/>
            <p:cNvSpPr/>
            <p:nvPr>
              <p:custDataLst>
                <p:tags r:id="rId7"/>
              </p:custDataLst>
            </p:nvPr>
          </p:nvSpPr>
          <p:spPr bwMode="auto">
            <a:xfrm>
              <a:off x="0" y="0"/>
              <a:ext cx="190500" cy="635000"/>
            </a:xfrm>
            <a:prstGeom prst="rect">
              <a:avLst/>
            </a:prstGeom>
            <a:solidFill>
              <a:srgbClr val="639EF4"/>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9"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0" name="TipText"/>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p:cNvPicPr>
            <a:picLocks/>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028788993"/>
      </p:ext>
    </p:extLst>
  </p:cSld>
  <p:clrMapOvr>
    <a:masterClrMapping/>
  </p:clrMapOvr>
  <p:transition spd="med">
    <p:random/>
    <p:sndAc>
      <p:stSnd>
        <p:snd r:embed="rId11" name="arrow.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bwMode="auto">
          <a:xfrm>
            <a:off x="4583832" y="1988840"/>
            <a:ext cx="2448272" cy="854968"/>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60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第二节</a:t>
            </a:r>
          </a:p>
        </p:txBody>
      </p:sp>
      <p:sp>
        <p:nvSpPr>
          <p:cNvPr id="2" name="标题 1"/>
          <p:cNvSpPr>
            <a:spLocks noGrp="1"/>
          </p:cNvSpPr>
          <p:nvPr>
            <p:ph type="title"/>
          </p:nvPr>
        </p:nvSpPr>
        <p:spPr>
          <a:xfrm>
            <a:off x="1559496" y="3356992"/>
            <a:ext cx="9073008" cy="1256758"/>
          </a:xfrm>
          <a:effectLst>
            <a:outerShdw blurRad="63500" sx="102000" sy="102000" algn="ctr" rotWithShape="0">
              <a:prstClr val="black">
                <a:alpha val="40000"/>
              </a:prstClr>
            </a:outerShdw>
          </a:effectLst>
        </p:spPr>
        <p:txBody>
          <a:bodyPr wrap="none" numCol="1" fromWordArt="1">
            <a:prstTxWarp prst="textPlain">
              <a:avLst>
                <a:gd name="adj" fmla="val 50000"/>
              </a:avLst>
            </a:prstTxWarp>
          </a:bodyPr>
          <a:lstStyle/>
          <a:p>
            <a:pPr fontAlgn="base">
              <a:spcAft>
                <a:spcPct val="0"/>
              </a:spcAft>
            </a:pPr>
            <a:r>
              <a:rPr lang="zh-CN" altLang="en-US" sz="6000" b="1" kern="10" spc="600" baseline="-25000" dirty="0">
                <a:ln w="9525">
                  <a:solidFill>
                    <a:srgbClr val="003399"/>
                  </a:solidFill>
                  <a:prstDash val="solid"/>
                </a:ln>
                <a:solidFill>
                  <a:srgbClr val="FFFFFF"/>
                </a:solidFill>
                <a:cs typeface="+mn-cs"/>
              </a:rPr>
              <a:t>需求分析</a:t>
            </a:r>
          </a:p>
        </p:txBody>
      </p:sp>
      <p:sp>
        <p:nvSpPr>
          <p:cNvPr id="4" name="标题 1">
            <a:extLst>
              <a:ext uri="{FF2B5EF4-FFF2-40B4-BE49-F238E27FC236}">
                <a16:creationId xmlns:a16="http://schemas.microsoft.com/office/drawing/2014/main" id="{1DECDF0B-FDC0-4C58-9326-80561E26595A}"/>
              </a:ext>
            </a:extLst>
          </p:cNvPr>
          <p:cNvSpPr txBox="1">
            <a:spLocks/>
          </p:cNvSpPr>
          <p:nvPr/>
        </p:nvSpPr>
        <p:spPr bwMode="auto">
          <a:xfrm>
            <a:off x="839416" y="260648"/>
            <a:ext cx="3960440" cy="367122"/>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a:t>
            </a:r>
            <a:r>
              <a:rPr kumimoji="0" lang="en-US" altLang="zh-CN"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10</a:t>
            </a: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章  数据库设计</a:t>
            </a:r>
          </a:p>
        </p:txBody>
      </p:sp>
    </p:spTree>
    <p:extLst>
      <p:ext uri="{BB962C8B-B14F-4D97-AF65-F5344CB8AC3E}">
        <p14:creationId xmlns:p14="http://schemas.microsoft.com/office/powerpoint/2010/main" val="1541610567"/>
      </p:ext>
    </p:extLst>
  </p:cSld>
  <p:clrMapOvr>
    <a:masterClrMapping/>
  </p:clrMapOvr>
  <p:transition spd="med">
    <p:random/>
    <p:sndAc>
      <p:stSnd>
        <p:snd r:embed="rId2" name="arrow.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796675" name="Rectangle 3"/>
          <p:cNvSpPr>
            <a:spLocks noGrp="1" noChangeArrowheads="1"/>
          </p:cNvSpPr>
          <p:nvPr>
            <p:ph type="subTitle" idx="1"/>
          </p:nvPr>
        </p:nvSpPr>
        <p:spPr>
          <a:xfrm>
            <a:off x="695400" y="548680"/>
            <a:ext cx="10945216" cy="5688632"/>
          </a:xfrm>
        </p:spPr>
        <p:txBody>
          <a:bodyPr/>
          <a:lstStyle/>
          <a:p>
            <a:pPr algn="l">
              <a:lnSpc>
                <a:spcPct val="150000"/>
              </a:lnSpc>
            </a:pPr>
            <a:r>
              <a:rPr lang="zh-CN" altLang="en-US" sz="3200" dirty="0"/>
              <a:t>需求分析是数据库设计的起点，为以后的具体设计作准备。</a:t>
            </a:r>
          </a:p>
          <a:p>
            <a:pPr algn="l">
              <a:lnSpc>
                <a:spcPct val="150000"/>
              </a:lnSpc>
            </a:pPr>
            <a:r>
              <a:rPr lang="zh-CN" altLang="en-US" sz="3200" dirty="0"/>
              <a:t>需求分析的结果是否准确的反映了用户的实际要求，将直接影响到后面各个阶段的设计，并影响到设计结果是否合理和实用。经验证明，由于设计要求的不正确或误解，直到系统测试阶段才发现许多错误，则纠正起来要付出很大代价，因此，必须高度重视系统的需求分析。</a:t>
            </a:r>
          </a:p>
        </p:txBody>
      </p:sp>
    </p:spTree>
    <p:extLst>
      <p:ext uri="{BB962C8B-B14F-4D97-AF65-F5344CB8AC3E}">
        <p14:creationId xmlns:p14="http://schemas.microsoft.com/office/powerpoint/2010/main" val="1294110118"/>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797699" name="Rectangle 3"/>
          <p:cNvSpPr>
            <a:spLocks noGrp="1" noChangeArrowheads="1"/>
          </p:cNvSpPr>
          <p:nvPr>
            <p:ph type="subTitle" idx="1"/>
          </p:nvPr>
        </p:nvSpPr>
        <p:spPr>
          <a:xfrm>
            <a:off x="1199456" y="548680"/>
            <a:ext cx="10370616" cy="5123656"/>
          </a:xfrm>
        </p:spPr>
        <p:txBody>
          <a:bodyPr/>
          <a:lstStyle/>
          <a:p>
            <a:pPr algn="l">
              <a:lnSpc>
                <a:spcPct val="150000"/>
              </a:lnSpc>
            </a:pPr>
            <a:r>
              <a:rPr lang="zh-CN" altLang="en-US" sz="2400" dirty="0"/>
              <a:t>从数据库设计的角度来看，需求分析的任务是：</a:t>
            </a:r>
          </a:p>
          <a:p>
            <a:pPr lvl="1" algn="l">
              <a:lnSpc>
                <a:spcPct val="150000"/>
              </a:lnSpc>
            </a:pPr>
            <a:r>
              <a:rPr lang="zh-CN" altLang="en-US" sz="2000" dirty="0"/>
              <a:t>对现实世界要处理的对象（组织、部门、企业）等进行详细的调查；</a:t>
            </a:r>
          </a:p>
          <a:p>
            <a:pPr lvl="1" algn="l">
              <a:lnSpc>
                <a:spcPct val="150000"/>
              </a:lnSpc>
            </a:pPr>
            <a:r>
              <a:rPr lang="zh-CN" altLang="en-US" sz="2000" dirty="0"/>
              <a:t>了解原</a:t>
            </a:r>
            <a:r>
              <a:rPr lang="en-US" altLang="zh-CN" sz="2000" dirty="0"/>
              <a:t>(</a:t>
            </a:r>
            <a:r>
              <a:rPr lang="zh-CN" altLang="en-US" sz="2000" dirty="0"/>
              <a:t>旧</a:t>
            </a:r>
            <a:r>
              <a:rPr lang="en-US" altLang="zh-CN" sz="2000" dirty="0"/>
              <a:t>)</a:t>
            </a:r>
            <a:r>
              <a:rPr lang="zh-CN" altLang="en-US" sz="2000" dirty="0"/>
              <a:t>系统（人工系统或计算机系统）的工作概况，以及用户的各种数据需求；</a:t>
            </a:r>
          </a:p>
          <a:p>
            <a:pPr lvl="1" algn="l">
              <a:lnSpc>
                <a:spcPct val="150000"/>
              </a:lnSpc>
            </a:pPr>
            <a:r>
              <a:rPr lang="zh-CN" altLang="en-US" sz="2000" dirty="0"/>
              <a:t>收集支持新系统的基础数据并对其进行处理，在此基础上确定新系统的基本功能。 </a:t>
            </a:r>
          </a:p>
          <a:p>
            <a:pPr algn="l">
              <a:lnSpc>
                <a:spcPct val="150000"/>
              </a:lnSpc>
            </a:pPr>
            <a:r>
              <a:rPr lang="zh-CN" altLang="en-US" sz="2400" dirty="0"/>
              <a:t>从应用系统设计的角度来看，需求分析的任务是发现、求精、建模和规格说明的过程。包括：</a:t>
            </a:r>
          </a:p>
          <a:p>
            <a:pPr lvl="1" algn="l">
              <a:lnSpc>
                <a:spcPct val="150000"/>
              </a:lnSpc>
            </a:pPr>
            <a:r>
              <a:rPr lang="zh-CN" altLang="en-US" sz="2000" dirty="0"/>
              <a:t>细化在软件项目开发计划中规定的软件范围；</a:t>
            </a:r>
          </a:p>
          <a:p>
            <a:pPr lvl="1" algn="l">
              <a:lnSpc>
                <a:spcPct val="150000"/>
              </a:lnSpc>
            </a:pPr>
            <a:r>
              <a:rPr lang="zh-CN" altLang="en-US" sz="2000" dirty="0"/>
              <a:t>创建所需的数据模型、功能模型和控制模型；</a:t>
            </a:r>
          </a:p>
          <a:p>
            <a:pPr lvl="1" algn="l">
              <a:lnSpc>
                <a:spcPct val="150000"/>
              </a:lnSpc>
            </a:pPr>
            <a:r>
              <a:rPr lang="zh-CN" altLang="en-US" sz="2000" dirty="0"/>
              <a:t>分析可选择的解决方案，并将它们分配到各个软件成分中去。</a:t>
            </a:r>
          </a:p>
        </p:txBody>
      </p:sp>
    </p:spTree>
    <p:extLst>
      <p:ext uri="{BB962C8B-B14F-4D97-AF65-F5344CB8AC3E}">
        <p14:creationId xmlns:p14="http://schemas.microsoft.com/office/powerpoint/2010/main" val="2151982545"/>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5794" name="Text Box 2"/>
          <p:cNvSpPr txBox="1">
            <a:spLocks noChangeArrowheads="1"/>
          </p:cNvSpPr>
          <p:nvPr/>
        </p:nvSpPr>
        <p:spPr bwMode="auto">
          <a:xfrm>
            <a:off x="767408" y="73609"/>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defPPr>
              <a:defRPr lang="en-US"/>
            </a:defPPr>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a:t>需求分析</a:t>
            </a:r>
          </a:p>
        </p:txBody>
      </p:sp>
      <p:sp>
        <p:nvSpPr>
          <p:cNvPr id="1185814" name="Text Box 22"/>
          <p:cNvSpPr txBox="1">
            <a:spLocks noChangeArrowheads="1"/>
          </p:cNvSpPr>
          <p:nvPr/>
        </p:nvSpPr>
        <p:spPr bwMode="auto">
          <a:xfrm>
            <a:off x="1703388" y="692151"/>
            <a:ext cx="4267200" cy="574675"/>
          </a:xfrm>
          <a:prstGeom prst="rect">
            <a:avLst/>
          </a:prstGeom>
          <a:noFill/>
          <a:ln w="12700" cap="sq">
            <a:noFill/>
            <a:miter lim="800000"/>
            <a:headEnd type="none" w="sm" len="sm"/>
            <a:tailEnd type="none" w="sm" len="sm"/>
          </a:ln>
          <a:effectLst/>
        </p:spPr>
        <p:txBody>
          <a:bodyPr/>
          <a:lstStyle/>
          <a:p>
            <a:pPr marL="377825" indent="-377825">
              <a:spcBef>
                <a:spcPct val="50000"/>
              </a:spcBef>
              <a:spcAft>
                <a:spcPct val="0"/>
              </a:spcAft>
              <a:defRPr/>
            </a:pPr>
            <a:endParaRPr lang="zh-CN" altLang="en-US" sz="2800">
              <a:effectLst>
                <a:outerShdw blurRad="38100" dist="38100" dir="2700000" algn="tl">
                  <a:srgbClr val="000000"/>
                </a:outerShdw>
              </a:effectLst>
              <a:latin typeface="Times New Roman" pitchFamily="18" charset="0"/>
            </a:endParaRPr>
          </a:p>
        </p:txBody>
      </p:sp>
      <p:grpSp>
        <p:nvGrpSpPr>
          <p:cNvPr id="2" name="组合 1">
            <a:extLst>
              <a:ext uri="{FF2B5EF4-FFF2-40B4-BE49-F238E27FC236}">
                <a16:creationId xmlns:a16="http://schemas.microsoft.com/office/drawing/2014/main" id="{647F2693-D399-46B5-A3A0-EA220DB55259}"/>
              </a:ext>
            </a:extLst>
          </p:cNvPr>
          <p:cNvGrpSpPr/>
          <p:nvPr/>
        </p:nvGrpSpPr>
        <p:grpSpPr>
          <a:xfrm>
            <a:off x="901378" y="2132857"/>
            <a:ext cx="10307190" cy="4116844"/>
            <a:chOff x="901378" y="1831511"/>
            <a:chExt cx="10020300" cy="4418190"/>
          </a:xfrm>
        </p:grpSpPr>
        <p:sp>
          <p:nvSpPr>
            <p:cNvPr id="1185795" name="Oval 3"/>
            <p:cNvSpPr>
              <a:spLocks noChangeArrowheads="1"/>
            </p:cNvSpPr>
            <p:nvPr/>
          </p:nvSpPr>
          <p:spPr bwMode="auto">
            <a:xfrm>
              <a:off x="8040365" y="3847636"/>
              <a:ext cx="2133600" cy="1600200"/>
            </a:xfrm>
            <a:prstGeom prst="ellipse">
              <a:avLst/>
            </a:prstGeom>
            <a:solidFill>
              <a:srgbClr val="CCCCFF"/>
            </a:solidFill>
            <a:ln w="12700" cap="sq">
              <a:solidFill>
                <a:srgbClr val="000000"/>
              </a:solidFill>
              <a:round/>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85796" name="Oval 4"/>
            <p:cNvSpPr>
              <a:spLocks noChangeArrowheads="1"/>
            </p:cNvSpPr>
            <p:nvPr/>
          </p:nvSpPr>
          <p:spPr bwMode="auto">
            <a:xfrm>
              <a:off x="1771328" y="3842873"/>
              <a:ext cx="3962400" cy="1511300"/>
            </a:xfrm>
            <a:prstGeom prst="ellipse">
              <a:avLst/>
            </a:prstGeom>
            <a:solidFill>
              <a:srgbClr val="CCCCFF"/>
            </a:solidFill>
            <a:ln w="12700" cap="sq">
              <a:solidFill>
                <a:srgbClr val="000000"/>
              </a:solidFill>
              <a:round/>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85797" name="Oval 5"/>
            <p:cNvSpPr>
              <a:spLocks noChangeArrowheads="1"/>
            </p:cNvSpPr>
            <p:nvPr/>
          </p:nvSpPr>
          <p:spPr bwMode="auto">
            <a:xfrm>
              <a:off x="1847528" y="1831511"/>
              <a:ext cx="1447800" cy="1447800"/>
            </a:xfrm>
            <a:prstGeom prst="ellipse">
              <a:avLst/>
            </a:prstGeom>
            <a:solidFill>
              <a:srgbClr val="6600FF"/>
            </a:solidFill>
            <a:ln w="12700" cap="sq">
              <a:solidFill>
                <a:schemeClr val="tx1"/>
              </a:solidFill>
              <a:round/>
              <a:headEnd/>
              <a:tailEnd/>
            </a:ln>
            <a:effectLst>
              <a:outerShdw dist="35921" dir="2700000" algn="ctr" rotWithShape="0">
                <a:schemeClr val="bg2"/>
              </a:outerShdw>
            </a:effectLst>
          </p:spPr>
          <p:txBody>
            <a:bodyPr lIns="0" tIns="0" rIns="0" bIns="0" anchor="ctr" anchorCtr="1"/>
            <a:lstStyle/>
            <a:p>
              <a:pPr algn="ctr">
                <a:spcAft>
                  <a:spcPct val="0"/>
                </a:spcAft>
                <a:buSzTx/>
                <a:buFontTx/>
                <a:buNone/>
                <a:defRPr/>
              </a:pPr>
              <a:r>
                <a:rPr lang="zh-CN" altLang="en-US" sz="2400">
                  <a:effectLst>
                    <a:outerShdw blurRad="38100" dist="38100" dir="2700000" algn="tl">
                      <a:srgbClr val="000000"/>
                    </a:outerShdw>
                  </a:effectLst>
                  <a:latin typeface="微软雅黑" pitchFamily="34" charset="-122"/>
                  <a:ea typeface="微软雅黑" pitchFamily="34" charset="-122"/>
                </a:rPr>
                <a:t>调查组织机构情况</a:t>
              </a:r>
            </a:p>
          </p:txBody>
        </p:sp>
        <p:sp>
          <p:nvSpPr>
            <p:cNvPr id="1185798" name="Oval 6"/>
            <p:cNvSpPr>
              <a:spLocks noChangeArrowheads="1"/>
            </p:cNvSpPr>
            <p:nvPr/>
          </p:nvSpPr>
          <p:spPr bwMode="auto">
            <a:xfrm>
              <a:off x="4006528" y="1831511"/>
              <a:ext cx="1447800" cy="1447800"/>
            </a:xfrm>
            <a:prstGeom prst="ellipse">
              <a:avLst/>
            </a:prstGeom>
            <a:solidFill>
              <a:srgbClr val="6600FF"/>
            </a:solidFill>
            <a:ln w="12700" cap="sq">
              <a:solidFill>
                <a:schemeClr val="tx1"/>
              </a:solidFill>
              <a:round/>
              <a:headEnd/>
              <a:tailEnd/>
            </a:ln>
            <a:effectLst>
              <a:outerShdw dist="35921" dir="2700000" algn="ctr" rotWithShape="0">
                <a:schemeClr val="bg2"/>
              </a:outerShdw>
            </a:effectLst>
          </p:spPr>
          <p:txBody>
            <a:bodyPr lIns="0" tIns="0" rIns="0" bIns="0" anchor="ctr" anchorCtr="1"/>
            <a:lstStyle/>
            <a:p>
              <a:pPr algn="ctr">
                <a:spcAft>
                  <a:spcPct val="0"/>
                </a:spcAft>
                <a:buSzTx/>
                <a:buFontTx/>
                <a:buNone/>
                <a:defRPr/>
              </a:pPr>
              <a:r>
                <a:rPr lang="zh-CN" altLang="en-US" sz="2400">
                  <a:effectLst>
                    <a:outerShdw blurRad="38100" dist="38100" dir="2700000" algn="tl">
                      <a:srgbClr val="000000"/>
                    </a:outerShdw>
                  </a:effectLst>
                  <a:latin typeface="微软雅黑" pitchFamily="34" charset="-122"/>
                  <a:ea typeface="微软雅黑" pitchFamily="34" charset="-122"/>
                </a:rPr>
                <a:t>熟悉业务活动</a:t>
              </a:r>
            </a:p>
          </p:txBody>
        </p:sp>
        <p:sp>
          <p:nvSpPr>
            <p:cNvPr id="1185799" name="Oval 7"/>
            <p:cNvSpPr>
              <a:spLocks noChangeArrowheads="1"/>
            </p:cNvSpPr>
            <p:nvPr/>
          </p:nvSpPr>
          <p:spPr bwMode="auto">
            <a:xfrm>
              <a:off x="6165528" y="1831511"/>
              <a:ext cx="1447800" cy="1447800"/>
            </a:xfrm>
            <a:prstGeom prst="ellipse">
              <a:avLst/>
            </a:prstGeom>
            <a:solidFill>
              <a:srgbClr val="6600FF"/>
            </a:solidFill>
            <a:ln w="12700" cap="sq">
              <a:solidFill>
                <a:schemeClr val="tx1"/>
              </a:solidFill>
              <a:round/>
              <a:headEnd/>
              <a:tailEnd/>
            </a:ln>
            <a:effectLst>
              <a:outerShdw dist="35921" dir="2700000" algn="ctr" rotWithShape="0">
                <a:schemeClr val="bg2"/>
              </a:outerShdw>
            </a:effectLst>
          </p:spPr>
          <p:txBody>
            <a:bodyPr lIns="0" tIns="0" rIns="0" bIns="0" anchor="ctr" anchorCtr="1"/>
            <a:lstStyle/>
            <a:p>
              <a:pPr algn="ctr">
                <a:spcAft>
                  <a:spcPct val="0"/>
                </a:spcAft>
                <a:buSzTx/>
                <a:buFontTx/>
                <a:buNone/>
                <a:defRPr/>
              </a:pPr>
              <a:r>
                <a:rPr lang="zh-CN" altLang="en-US" sz="2400">
                  <a:effectLst>
                    <a:outerShdw blurRad="38100" dist="38100" dir="2700000" algn="tl">
                      <a:srgbClr val="000000"/>
                    </a:outerShdw>
                  </a:effectLst>
                  <a:latin typeface="微软雅黑" pitchFamily="34" charset="-122"/>
                  <a:ea typeface="微软雅黑" pitchFamily="34" charset="-122"/>
                </a:rPr>
                <a:t>明确用户需求</a:t>
              </a:r>
            </a:p>
          </p:txBody>
        </p:sp>
        <p:sp>
          <p:nvSpPr>
            <p:cNvPr id="1185800" name="Oval 8"/>
            <p:cNvSpPr>
              <a:spLocks noChangeArrowheads="1"/>
            </p:cNvSpPr>
            <p:nvPr/>
          </p:nvSpPr>
          <p:spPr bwMode="auto">
            <a:xfrm>
              <a:off x="8324528" y="1831511"/>
              <a:ext cx="1447800" cy="1447800"/>
            </a:xfrm>
            <a:prstGeom prst="ellipse">
              <a:avLst/>
            </a:prstGeom>
            <a:solidFill>
              <a:srgbClr val="6600FF"/>
            </a:solidFill>
            <a:ln w="12700" cap="sq">
              <a:solidFill>
                <a:schemeClr val="tx1"/>
              </a:solidFill>
              <a:round/>
              <a:headEnd/>
              <a:tailEnd/>
            </a:ln>
            <a:effectLst>
              <a:outerShdw dist="35921" dir="2700000" algn="ctr" rotWithShape="0">
                <a:schemeClr val="bg2"/>
              </a:outerShdw>
            </a:effectLst>
          </p:spPr>
          <p:txBody>
            <a:bodyPr lIns="0" tIns="0" rIns="0" bIns="0" anchor="ctr" anchorCtr="1"/>
            <a:lstStyle/>
            <a:p>
              <a:pPr algn="ctr">
                <a:spcAft>
                  <a:spcPct val="0"/>
                </a:spcAft>
                <a:buSzTx/>
                <a:buFontTx/>
                <a:buNone/>
                <a:defRPr/>
              </a:pPr>
              <a:r>
                <a:rPr lang="zh-CN" altLang="en-US" sz="2400">
                  <a:effectLst>
                    <a:outerShdw blurRad="38100" dist="38100" dir="2700000" algn="tl">
                      <a:srgbClr val="000000"/>
                    </a:outerShdw>
                  </a:effectLst>
                  <a:latin typeface="微软雅黑" pitchFamily="34" charset="-122"/>
                  <a:ea typeface="微软雅黑" pitchFamily="34" charset="-122"/>
                </a:rPr>
                <a:t>确定系统边界</a:t>
              </a:r>
            </a:p>
          </p:txBody>
        </p:sp>
        <p:cxnSp>
          <p:nvCxnSpPr>
            <p:cNvPr id="4105" name="AutoShape 9"/>
            <p:cNvCxnSpPr>
              <a:cxnSpLocks noChangeShapeType="1"/>
              <a:stCxn id="1185797" idx="6"/>
              <a:endCxn id="1185798" idx="2"/>
            </p:cNvCxnSpPr>
            <p:nvPr/>
          </p:nvCxnSpPr>
          <p:spPr bwMode="auto">
            <a:xfrm>
              <a:off x="3295328" y="2555411"/>
              <a:ext cx="711200" cy="0"/>
            </a:xfrm>
            <a:prstGeom prst="straightConnector1">
              <a:avLst/>
            </a:prstGeom>
            <a:noFill/>
            <a:ln w="28575"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106" name="AutoShape 10"/>
            <p:cNvCxnSpPr>
              <a:cxnSpLocks noChangeShapeType="1"/>
              <a:stCxn id="1185798" idx="6"/>
              <a:endCxn id="1185799" idx="2"/>
            </p:cNvCxnSpPr>
            <p:nvPr/>
          </p:nvCxnSpPr>
          <p:spPr bwMode="auto">
            <a:xfrm>
              <a:off x="5454328" y="2555411"/>
              <a:ext cx="711200" cy="0"/>
            </a:xfrm>
            <a:prstGeom prst="straightConnector1">
              <a:avLst/>
            </a:prstGeom>
            <a:noFill/>
            <a:ln w="28575"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107" name="AutoShape 11"/>
            <p:cNvCxnSpPr>
              <a:cxnSpLocks noChangeShapeType="1"/>
              <a:stCxn id="1185799" idx="6"/>
              <a:endCxn id="1185800" idx="2"/>
            </p:cNvCxnSpPr>
            <p:nvPr/>
          </p:nvCxnSpPr>
          <p:spPr bwMode="auto">
            <a:xfrm>
              <a:off x="7613328" y="2555411"/>
              <a:ext cx="711200" cy="0"/>
            </a:xfrm>
            <a:prstGeom prst="straightConnector1">
              <a:avLst/>
            </a:prstGeom>
            <a:noFill/>
            <a:ln w="28575"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185804" name="AutoShape 12"/>
            <p:cNvSpPr>
              <a:spLocks noChangeArrowheads="1"/>
            </p:cNvSpPr>
            <p:nvPr/>
          </p:nvSpPr>
          <p:spPr bwMode="auto">
            <a:xfrm>
              <a:off x="2076128" y="4300073"/>
              <a:ext cx="990600" cy="533400"/>
            </a:xfrm>
            <a:prstGeom prst="roundRect">
              <a:avLst>
                <a:gd name="adj" fmla="val 16667"/>
              </a:avLst>
            </a:prstGeom>
            <a:solidFill>
              <a:srgbClr val="F5F5FF"/>
            </a:solidFill>
            <a:ln w="12700" cap="sq">
              <a:solidFill>
                <a:srgbClr val="000000"/>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C0C0C0"/>
                    </a:outerShdw>
                  </a:effectLst>
                  <a:latin typeface="微软雅黑" pitchFamily="34" charset="-122"/>
                  <a:ea typeface="微软雅黑" pitchFamily="34" charset="-122"/>
                </a:rPr>
                <a:t>用户</a:t>
              </a:r>
            </a:p>
          </p:txBody>
        </p:sp>
        <p:sp>
          <p:nvSpPr>
            <p:cNvPr id="1185805" name="AutoShape 13"/>
            <p:cNvSpPr>
              <a:spLocks noChangeArrowheads="1"/>
            </p:cNvSpPr>
            <p:nvPr/>
          </p:nvSpPr>
          <p:spPr bwMode="auto">
            <a:xfrm>
              <a:off x="4095428" y="4223873"/>
              <a:ext cx="1219200" cy="762000"/>
            </a:xfrm>
            <a:prstGeom prst="roundRect">
              <a:avLst>
                <a:gd name="adj" fmla="val 16667"/>
              </a:avLst>
            </a:prstGeom>
            <a:solidFill>
              <a:srgbClr val="F5F5FF"/>
            </a:solidFill>
            <a:ln w="12700" cap="sq">
              <a:solidFill>
                <a:srgbClr val="000000"/>
              </a:solidFill>
              <a:round/>
              <a:headEnd/>
              <a:tailEnd/>
            </a:ln>
            <a:effectLst>
              <a:outerShdw dist="35921" dir="2700000" algn="ctr" rotWithShape="0">
                <a:schemeClr val="bg2"/>
              </a:outerShdw>
            </a:effectLst>
          </p:spPr>
          <p:txBody>
            <a:bodyPr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C0C0C0"/>
                    </a:outerShdw>
                  </a:effectLst>
                  <a:latin typeface="微软雅黑" pitchFamily="34" charset="-122"/>
                  <a:ea typeface="微软雅黑" pitchFamily="34" charset="-122"/>
                </a:rPr>
                <a:t>数据库设计员</a:t>
              </a:r>
            </a:p>
          </p:txBody>
        </p:sp>
        <p:sp>
          <p:nvSpPr>
            <p:cNvPr id="1185806" name="AutoShape 14"/>
            <p:cNvSpPr>
              <a:spLocks noChangeArrowheads="1"/>
            </p:cNvSpPr>
            <p:nvPr/>
          </p:nvSpPr>
          <p:spPr bwMode="auto">
            <a:xfrm>
              <a:off x="3219128" y="4300073"/>
              <a:ext cx="685800" cy="457200"/>
            </a:xfrm>
            <a:prstGeom prst="leftRightArrow">
              <a:avLst>
                <a:gd name="adj1" fmla="val 50000"/>
                <a:gd name="adj2" fmla="val 30000"/>
              </a:avLst>
            </a:prstGeom>
            <a:solidFill>
              <a:srgbClr val="CCFFCC"/>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85807" name="Line 15"/>
            <p:cNvSpPr>
              <a:spLocks noChangeShapeType="1"/>
            </p:cNvSpPr>
            <p:nvPr/>
          </p:nvSpPr>
          <p:spPr bwMode="auto">
            <a:xfrm flipH="1" flipV="1">
              <a:off x="2914329" y="3279312"/>
              <a:ext cx="231775" cy="490537"/>
            </a:xfrm>
            <a:prstGeom prst="line">
              <a:avLst/>
            </a:prstGeom>
            <a:noFill/>
            <a:ln w="28575" cap="sq">
              <a:solidFill>
                <a:schemeClr val="tx1"/>
              </a:solidFill>
              <a:round/>
              <a:headEnd/>
              <a:tailEnd type="triangle" w="med" len="med"/>
            </a:ln>
            <a:effectLst/>
          </p:spPr>
          <p:txBody>
            <a:bodyPr wrap="none" lIns="0" tIns="0" rIns="0" bIns="0" anchor="ctr"/>
            <a:lstStyle/>
            <a:p>
              <a:pPr>
                <a:defRPr/>
              </a:pPr>
              <a:endParaRPr lang="zh-CN" altLang="en-US"/>
            </a:p>
          </p:txBody>
        </p:sp>
        <p:sp>
          <p:nvSpPr>
            <p:cNvPr id="1185808" name="Line 16"/>
            <p:cNvSpPr>
              <a:spLocks noChangeShapeType="1"/>
            </p:cNvSpPr>
            <p:nvPr/>
          </p:nvSpPr>
          <p:spPr bwMode="auto">
            <a:xfrm flipV="1">
              <a:off x="4297040" y="3355512"/>
              <a:ext cx="293688" cy="414337"/>
            </a:xfrm>
            <a:prstGeom prst="line">
              <a:avLst/>
            </a:prstGeom>
            <a:noFill/>
            <a:ln w="28575" cap="sq">
              <a:solidFill>
                <a:schemeClr val="tx1"/>
              </a:solidFill>
              <a:round/>
              <a:headEnd/>
              <a:tailEnd type="triangle" w="med" len="med"/>
            </a:ln>
            <a:effectLst/>
          </p:spPr>
          <p:txBody>
            <a:bodyPr wrap="none" lIns="0" tIns="0" rIns="0" bIns="0" anchor="ctr"/>
            <a:lstStyle/>
            <a:p>
              <a:pPr>
                <a:defRPr/>
              </a:pPr>
              <a:endParaRPr lang="zh-CN" altLang="en-US"/>
            </a:p>
          </p:txBody>
        </p:sp>
        <p:grpSp>
          <p:nvGrpSpPr>
            <p:cNvPr id="4113" name="Group 17"/>
            <p:cNvGrpSpPr>
              <a:grpSpLocks/>
            </p:cNvGrpSpPr>
            <p:nvPr/>
          </p:nvGrpSpPr>
          <p:grpSpPr bwMode="auto">
            <a:xfrm>
              <a:off x="8330878" y="4203236"/>
              <a:ext cx="1524000" cy="895350"/>
              <a:chOff x="4464" y="2592"/>
              <a:chExt cx="960" cy="564"/>
            </a:xfrm>
          </p:grpSpPr>
          <p:sp>
            <p:nvSpPr>
              <p:cNvPr id="1185810" name="AutoShape 18"/>
              <p:cNvSpPr>
                <a:spLocks noChangeArrowheads="1"/>
              </p:cNvSpPr>
              <p:nvPr/>
            </p:nvSpPr>
            <p:spPr bwMode="auto">
              <a:xfrm>
                <a:off x="4656" y="2592"/>
                <a:ext cx="768" cy="384"/>
              </a:xfrm>
              <a:prstGeom prst="foldedCorner">
                <a:avLst>
                  <a:gd name="adj" fmla="val 22134"/>
                </a:avLst>
              </a:prstGeom>
              <a:solidFill>
                <a:srgbClr val="F5F5FF"/>
              </a:solidFill>
              <a:ln w="12700" cap="sq">
                <a:solidFill>
                  <a:srgbClr val="000000"/>
                </a:solidFill>
                <a:round/>
                <a:headEnd/>
                <a:tailEnd/>
              </a:ln>
              <a:effectLst>
                <a:outerShdw dist="35921" dir="2700000" algn="ctr" rotWithShape="0">
                  <a:schemeClr val="bg2"/>
                </a:outerShdw>
              </a:effectLst>
            </p:spPr>
            <p:txBody>
              <a:bodyPr wrap="none" lIns="72000" tIns="36000" rIns="0" bIns="0"/>
              <a:lstStyle/>
              <a:p>
                <a:pPr>
                  <a:spcAft>
                    <a:spcPct val="0"/>
                  </a:spcAft>
                  <a:buSzTx/>
                  <a:buFontTx/>
                  <a:buNone/>
                  <a:defRPr/>
                </a:pPr>
                <a:r>
                  <a:rPr lang="en-US" altLang="zh-CN" sz="2400" b="1">
                    <a:solidFill>
                      <a:srgbClr val="000000"/>
                    </a:solidFill>
                    <a:effectLst>
                      <a:outerShdw blurRad="38100" dist="38100" dir="2700000" algn="tl">
                        <a:srgbClr val="C0C0C0"/>
                      </a:outerShdw>
                    </a:effectLst>
                    <a:latin typeface="Times New Roman" pitchFamily="18" charset="0"/>
                  </a:rPr>
                  <a:t>DD</a:t>
                </a:r>
              </a:p>
            </p:txBody>
          </p:sp>
          <p:sp>
            <p:nvSpPr>
              <p:cNvPr id="1185811" name="AutoShape 19"/>
              <p:cNvSpPr>
                <a:spLocks noChangeArrowheads="1"/>
              </p:cNvSpPr>
              <p:nvPr/>
            </p:nvSpPr>
            <p:spPr bwMode="auto">
              <a:xfrm>
                <a:off x="4464" y="2852"/>
                <a:ext cx="768" cy="304"/>
              </a:xfrm>
              <a:prstGeom prst="foldedCorner">
                <a:avLst>
                  <a:gd name="adj" fmla="val 26954"/>
                </a:avLst>
              </a:prstGeom>
              <a:solidFill>
                <a:srgbClr val="F5F5FF"/>
              </a:solidFill>
              <a:ln w="12700" cap="sq">
                <a:solidFill>
                  <a:srgbClr val="000000"/>
                </a:solidFill>
                <a:round/>
                <a:headEnd/>
                <a:tailEnd/>
              </a:ln>
              <a:effectLst>
                <a:outerShdw dist="35921" dir="2700000" algn="ctr" rotWithShape="0">
                  <a:schemeClr val="bg2"/>
                </a:outerShdw>
              </a:effectLst>
            </p:spPr>
            <p:txBody>
              <a:bodyPr wrap="none" lIns="72000" tIns="36000" rIns="0" bIns="0"/>
              <a:lstStyle/>
              <a:p>
                <a:pPr>
                  <a:spcAft>
                    <a:spcPct val="0"/>
                  </a:spcAft>
                  <a:buSzTx/>
                  <a:buFontTx/>
                  <a:buNone/>
                  <a:defRPr/>
                </a:pPr>
                <a:r>
                  <a:rPr lang="en-US" altLang="zh-CN" sz="2400" b="1">
                    <a:solidFill>
                      <a:srgbClr val="000000"/>
                    </a:solidFill>
                    <a:effectLst>
                      <a:outerShdw blurRad="38100" dist="38100" dir="2700000" algn="tl">
                        <a:srgbClr val="C0C0C0"/>
                      </a:outerShdw>
                    </a:effectLst>
                    <a:latin typeface="Times New Roman" pitchFamily="18" charset="0"/>
                  </a:rPr>
                  <a:t>DFD</a:t>
                </a:r>
              </a:p>
            </p:txBody>
          </p:sp>
        </p:grpSp>
        <p:sp>
          <p:nvSpPr>
            <p:cNvPr id="1185812" name="AutoShape 20"/>
            <p:cNvSpPr>
              <a:spLocks noChangeArrowheads="1"/>
            </p:cNvSpPr>
            <p:nvPr/>
          </p:nvSpPr>
          <p:spPr bwMode="auto">
            <a:xfrm>
              <a:off x="8934128" y="3355511"/>
              <a:ext cx="381000" cy="419100"/>
            </a:xfrm>
            <a:prstGeom prst="downArrow">
              <a:avLst>
                <a:gd name="adj1" fmla="val 50000"/>
                <a:gd name="adj2" fmla="val 27500"/>
              </a:avLst>
            </a:prstGeom>
            <a:solidFill>
              <a:srgbClr val="CCFFCC"/>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85813" name="Rectangle 21"/>
            <p:cNvSpPr>
              <a:spLocks noChangeArrowheads="1"/>
            </p:cNvSpPr>
            <p:nvPr/>
          </p:nvSpPr>
          <p:spPr bwMode="auto">
            <a:xfrm>
              <a:off x="901378" y="5868701"/>
              <a:ext cx="4787900" cy="381000"/>
            </a:xfrm>
            <a:prstGeom prst="rect">
              <a:avLst/>
            </a:prstGeom>
            <a:noFill/>
            <a:ln w="12700" cap="sq">
              <a:noFill/>
              <a:miter lim="800000"/>
              <a:headEnd/>
              <a:tailEnd/>
            </a:ln>
            <a:effectLst/>
          </p:spPr>
          <p:txBody>
            <a:bodyPr lIns="0" tIns="0" rIns="0" bIns="0"/>
            <a:lstStyle/>
            <a:p>
              <a:pPr>
                <a:spcAft>
                  <a:spcPct val="0"/>
                </a:spcAft>
                <a:buSzTx/>
                <a:buFontTx/>
                <a:buNone/>
                <a:defRPr/>
              </a:pPr>
              <a:r>
                <a:rPr lang="zh-CN" altLang="en-US" sz="2400" dirty="0">
                  <a:effectLst>
                    <a:outerShdw blurRad="38100" dist="38100" dir="2700000" algn="tl">
                      <a:srgbClr val="000000"/>
                    </a:outerShdw>
                  </a:effectLst>
                  <a:latin typeface="微软雅黑" pitchFamily="34" charset="-122"/>
                  <a:ea typeface="微软雅黑" pitchFamily="34" charset="-122"/>
                </a:rPr>
                <a:t>跟班作业，开调查会，收集调查表</a:t>
              </a:r>
            </a:p>
            <a:p>
              <a:pPr>
                <a:spcAft>
                  <a:spcPct val="0"/>
                </a:spcAft>
                <a:buSzTx/>
                <a:buFontTx/>
                <a:buNone/>
                <a:defRPr/>
              </a:pPr>
              <a:r>
                <a:rPr lang="zh-CN" altLang="en-US" sz="2400" dirty="0">
                  <a:effectLst>
                    <a:outerShdw blurRad="38100" dist="38100" dir="2700000" algn="tl">
                      <a:srgbClr val="000000"/>
                    </a:outerShdw>
                  </a:effectLst>
                  <a:latin typeface="微软雅黑" pitchFamily="34" charset="-122"/>
                  <a:ea typeface="微软雅黑" pitchFamily="34" charset="-122"/>
                </a:rPr>
                <a:t>请专人介绍，询问，查阅文档资料</a:t>
              </a:r>
            </a:p>
          </p:txBody>
        </p:sp>
        <p:sp>
          <p:nvSpPr>
            <p:cNvPr id="1185815" name="Rectangle 23"/>
            <p:cNvSpPr>
              <a:spLocks noChangeArrowheads="1"/>
            </p:cNvSpPr>
            <p:nvPr/>
          </p:nvSpPr>
          <p:spPr bwMode="auto">
            <a:xfrm>
              <a:off x="8178478" y="5510178"/>
              <a:ext cx="2743200" cy="609600"/>
            </a:xfrm>
            <a:prstGeom prst="rect">
              <a:avLst/>
            </a:prstGeom>
            <a:noFill/>
            <a:ln w="12700" cap="sq">
              <a:noFill/>
              <a:miter lim="800000"/>
              <a:headEnd/>
              <a:tailEnd/>
            </a:ln>
            <a:effectLst/>
          </p:spPr>
          <p:txBody>
            <a:bodyPr lIns="0" tIns="0" rIns="0" bIns="0"/>
            <a:lstStyle/>
            <a:p>
              <a:pPr algn="r">
                <a:spcAft>
                  <a:spcPct val="0"/>
                </a:spcAft>
                <a:buSzTx/>
                <a:buFontTx/>
                <a:buNone/>
                <a:defRPr/>
              </a:pPr>
              <a:r>
                <a:rPr lang="zh-CN" altLang="en-US" sz="2400" dirty="0">
                  <a:effectLst>
                    <a:outerShdw blurRad="38100" dist="38100" dir="2700000" algn="tl">
                      <a:srgbClr val="000000"/>
                    </a:outerShdw>
                  </a:effectLst>
                  <a:latin typeface="微软雅黑" pitchFamily="34" charset="-122"/>
                  <a:ea typeface="微软雅黑" pitchFamily="34" charset="-122"/>
                </a:rPr>
                <a:t>信息要求</a:t>
              </a:r>
            </a:p>
            <a:p>
              <a:pPr algn="r">
                <a:spcAft>
                  <a:spcPct val="0"/>
                </a:spcAft>
                <a:buSzTx/>
                <a:buFontTx/>
                <a:buNone/>
                <a:defRPr/>
              </a:pPr>
              <a:r>
                <a:rPr lang="zh-CN" altLang="en-US" sz="2400" dirty="0">
                  <a:effectLst>
                    <a:outerShdw blurRad="38100" dist="38100" dir="2700000" algn="tl">
                      <a:srgbClr val="000000"/>
                    </a:outerShdw>
                  </a:effectLst>
                  <a:latin typeface="微软雅黑" pitchFamily="34" charset="-122"/>
                  <a:ea typeface="微软雅黑" pitchFamily="34" charset="-122"/>
                </a:rPr>
                <a:t>处理要求</a:t>
              </a:r>
            </a:p>
            <a:p>
              <a:pPr algn="r">
                <a:spcAft>
                  <a:spcPct val="0"/>
                </a:spcAft>
                <a:buSzTx/>
                <a:buFontTx/>
                <a:buNone/>
                <a:defRPr/>
              </a:pPr>
              <a:r>
                <a:rPr lang="zh-CN" altLang="en-US" sz="2400" dirty="0">
                  <a:effectLst>
                    <a:outerShdw blurRad="38100" dist="38100" dir="2700000" algn="tl">
                      <a:srgbClr val="000000"/>
                    </a:outerShdw>
                  </a:effectLst>
                  <a:latin typeface="微软雅黑" pitchFamily="34" charset="-122"/>
                  <a:ea typeface="微软雅黑" pitchFamily="34" charset="-122"/>
                </a:rPr>
                <a:t>安全性和完整性要求</a:t>
              </a:r>
            </a:p>
          </p:txBody>
        </p:sp>
        <p:sp>
          <p:nvSpPr>
            <p:cNvPr id="1185816" name="AutoShape 24"/>
            <p:cNvSpPr>
              <a:spLocks noChangeArrowheads="1"/>
            </p:cNvSpPr>
            <p:nvPr/>
          </p:nvSpPr>
          <p:spPr bwMode="auto">
            <a:xfrm rot="16200000">
              <a:off x="3577904" y="5498637"/>
              <a:ext cx="288925" cy="288925"/>
            </a:xfrm>
            <a:prstGeom prst="rightArrow">
              <a:avLst>
                <a:gd name="adj1" fmla="val 50000"/>
                <a:gd name="adj2" fmla="val 25000"/>
              </a:avLst>
            </a:prstGeom>
            <a:solidFill>
              <a:schemeClr val="hlink"/>
            </a:solidFill>
            <a:ln w="12700" cap="sq" algn="ctr">
              <a:solidFill>
                <a:srgbClr val="FF0000"/>
              </a:solidFill>
              <a:miter lim="800000"/>
              <a:headEnd/>
              <a:tailEnd/>
            </a:ln>
            <a:effectLst/>
          </p:spPr>
          <p:txBody>
            <a:bodyPr wrap="none" lIns="0" tIns="0" rIns="0" bIns="0" anchor="ctr"/>
            <a:lstStyle/>
            <a:p>
              <a:pPr>
                <a:defRPr/>
              </a:pPr>
              <a:endParaRPr lang="zh-CN" altLang="en-US"/>
            </a:p>
          </p:txBody>
        </p:sp>
        <p:sp>
          <p:nvSpPr>
            <p:cNvPr id="1185817" name="AutoShape 25"/>
            <p:cNvSpPr>
              <a:spLocks noChangeArrowheads="1"/>
            </p:cNvSpPr>
            <p:nvPr/>
          </p:nvSpPr>
          <p:spPr bwMode="auto">
            <a:xfrm rot="2860008">
              <a:off x="9924819" y="4858803"/>
              <a:ext cx="792163" cy="358775"/>
            </a:xfrm>
            <a:prstGeom prst="curvedDownArrow">
              <a:avLst>
                <a:gd name="adj1" fmla="val 44159"/>
                <a:gd name="adj2" fmla="val 88319"/>
                <a:gd name="adj3" fmla="val 33333"/>
              </a:avLst>
            </a:prstGeom>
            <a:solidFill>
              <a:schemeClr val="hlink"/>
            </a:solidFill>
            <a:ln w="12700" cap="sq">
              <a:solidFill>
                <a:srgbClr val="FF0000"/>
              </a:solidFill>
              <a:miter lim="800000"/>
              <a:headEnd/>
              <a:tailEnd/>
            </a:ln>
            <a:effectLst/>
          </p:spPr>
          <p:txBody>
            <a:bodyPr wrap="none" lIns="0" tIns="0" rIns="0" bIns="0" anchor="ctr"/>
            <a:lstStyle/>
            <a:p>
              <a:pPr>
                <a:defRPr/>
              </a:pPr>
              <a:endParaRPr lang="zh-CN" altLang="en-US"/>
            </a:p>
          </p:txBody>
        </p:sp>
        <p:sp>
          <p:nvSpPr>
            <p:cNvPr id="1185818" name="AutoShape 26"/>
            <p:cNvSpPr>
              <a:spLocks noChangeArrowheads="1"/>
            </p:cNvSpPr>
            <p:nvPr/>
          </p:nvSpPr>
          <p:spPr bwMode="auto">
            <a:xfrm>
              <a:off x="6717978" y="4975554"/>
              <a:ext cx="1401763" cy="1114732"/>
            </a:xfrm>
            <a:prstGeom prst="wedgeEllipseCallout">
              <a:avLst>
                <a:gd name="adj1" fmla="val 47282"/>
                <a:gd name="adj2" fmla="val -40134"/>
              </a:avLst>
            </a:prstGeom>
            <a:noFill/>
            <a:ln w="12700" cap="sq" algn="ctr">
              <a:solidFill>
                <a:schemeClr val="tx1"/>
              </a:solidFill>
              <a:miter lim="800000"/>
              <a:headEnd/>
              <a:tailEnd/>
            </a:ln>
            <a:effectLst/>
          </p:spPr>
          <p:txBody>
            <a:bodyPr lIns="0" tIns="0" rIns="0" bIns="0">
              <a:spAutoFit/>
            </a:bodyPr>
            <a:lstStyle/>
            <a:p>
              <a:pPr>
                <a:buSzTx/>
                <a:buFontTx/>
                <a:buNone/>
                <a:defRPr/>
              </a:pPr>
              <a:r>
                <a:rPr lang="zh-CN" altLang="en-US" sz="2400">
                  <a:effectLst>
                    <a:outerShdw blurRad="38100" dist="38100" dir="2700000" algn="tl">
                      <a:srgbClr val="000000"/>
                    </a:outerShdw>
                  </a:effectLst>
                  <a:latin typeface="微软雅黑" pitchFamily="34" charset="-122"/>
                  <a:ea typeface="微软雅黑" pitchFamily="34" charset="-122"/>
                </a:rPr>
                <a:t>需求规格说明</a:t>
              </a:r>
            </a:p>
          </p:txBody>
        </p:sp>
      </p:grpSp>
      <p:sp>
        <p:nvSpPr>
          <p:cNvPr id="4121" name="Rectangle 27"/>
          <p:cNvSpPr>
            <a:spLocks noGrp="1" noChangeArrowheads="1"/>
          </p:cNvSpPr>
          <p:nvPr>
            <p:ph type="title"/>
          </p:nvPr>
        </p:nvSpPr>
        <p:spPr>
          <a:xfrm>
            <a:off x="767408" y="889303"/>
            <a:ext cx="11017224" cy="584775"/>
          </a:xfrm>
        </p:spPr>
        <p:txBody>
          <a:bodyPr wrap="square"/>
          <a:lstStyle/>
          <a:p>
            <a:pPr>
              <a:spcAft>
                <a:spcPct val="20000"/>
              </a:spcAft>
            </a:pPr>
            <a:r>
              <a:rPr lang="zh-CN" altLang="en-US" sz="2800" dirty="0"/>
              <a:t>需求分析就是弄清用户对目标系统在数据、功能和非功能（性能、约束等）方面的全部确切要求，是整个设计的基础和起点！</a:t>
            </a:r>
            <a:endParaRPr lang="en-US" altLang="zh-CN" sz="2800" dirty="0">
              <a:solidFill>
                <a:srgbClr val="002060"/>
              </a:solidFill>
            </a:endParaRPr>
          </a:p>
        </p:txBody>
      </p:sp>
    </p:spTree>
    <p:extLst>
      <p:ext uri="{BB962C8B-B14F-4D97-AF65-F5344CB8AC3E}">
        <p14:creationId xmlns:p14="http://schemas.microsoft.com/office/powerpoint/2010/main" val="4246335227"/>
      </p:ext>
    </p:extLst>
  </p:cSld>
  <p:clrMapOvr>
    <a:masterClrMapping/>
  </p:clrMapOvr>
  <p:transition spd="med">
    <p:random/>
    <p:sndAc>
      <p:stSnd>
        <p:snd r:embed="rId2" name="arrow.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05891" name="Rectangle 3"/>
          <p:cNvSpPr>
            <a:spLocks noGrp="1" noChangeArrowheads="1"/>
          </p:cNvSpPr>
          <p:nvPr>
            <p:ph type="subTitle" idx="1"/>
          </p:nvPr>
        </p:nvSpPr>
        <p:spPr>
          <a:xfrm>
            <a:off x="1055440" y="548680"/>
            <a:ext cx="9658920" cy="4824536"/>
          </a:xfrm>
        </p:spPr>
        <p:txBody>
          <a:bodyPr/>
          <a:lstStyle/>
          <a:p>
            <a:pPr algn="l">
              <a:lnSpc>
                <a:spcPct val="150000"/>
              </a:lnSpc>
            </a:pPr>
            <a:r>
              <a:rPr lang="zh-CN" altLang="en-US" sz="3200" dirty="0"/>
              <a:t>自顶向下的结构分析方法（</a:t>
            </a:r>
            <a:r>
              <a:rPr lang="en-US" altLang="zh-CN" sz="3200" dirty="0"/>
              <a:t>Structured Analysis</a:t>
            </a:r>
            <a:r>
              <a:rPr lang="zh-CN" altLang="en-US" sz="3200" dirty="0"/>
              <a:t>，简称</a:t>
            </a:r>
            <a:r>
              <a:rPr lang="en-US" altLang="zh-CN" sz="3200" dirty="0"/>
              <a:t>SA</a:t>
            </a:r>
            <a:r>
              <a:rPr lang="zh-CN" altLang="en-US" sz="3200" dirty="0"/>
              <a:t>方法）是最简单实用的方法。</a:t>
            </a:r>
          </a:p>
          <a:p>
            <a:pPr algn="l">
              <a:lnSpc>
                <a:spcPct val="150000"/>
              </a:lnSpc>
            </a:pPr>
            <a:r>
              <a:rPr lang="zh-CN" altLang="en-US" sz="3200" dirty="0"/>
              <a:t>早期的</a:t>
            </a:r>
            <a:r>
              <a:rPr lang="en-US" altLang="zh-CN" sz="3200" dirty="0"/>
              <a:t>SA</a:t>
            </a:r>
            <a:r>
              <a:rPr lang="zh-CN" altLang="en-US" sz="3200" dirty="0"/>
              <a:t>方法从最上层的系统组织机构入手，采用逐层分解的方式分析系统，用</a:t>
            </a:r>
            <a:r>
              <a:rPr lang="zh-CN" altLang="en-US" sz="3200" dirty="0">
                <a:solidFill>
                  <a:srgbClr val="FF0000"/>
                </a:solidFill>
              </a:rPr>
              <a:t>数据流图</a:t>
            </a:r>
            <a:r>
              <a:rPr lang="zh-CN" altLang="en-US" sz="3200" dirty="0"/>
              <a:t>（</a:t>
            </a:r>
            <a:r>
              <a:rPr lang="en-US" altLang="zh-CN" sz="3200" dirty="0"/>
              <a:t>Data Flow Diagram</a:t>
            </a:r>
            <a:r>
              <a:rPr lang="zh-CN" altLang="en-US" sz="3200" dirty="0"/>
              <a:t>，</a:t>
            </a:r>
            <a:r>
              <a:rPr lang="en-US" altLang="zh-CN" sz="3200" dirty="0"/>
              <a:t>DFD</a:t>
            </a:r>
            <a:r>
              <a:rPr lang="zh-CN" altLang="en-US" sz="3200" dirty="0"/>
              <a:t>）和</a:t>
            </a:r>
            <a:r>
              <a:rPr lang="zh-CN" altLang="en-US" sz="3200" dirty="0">
                <a:solidFill>
                  <a:srgbClr val="FF0000"/>
                </a:solidFill>
              </a:rPr>
              <a:t>数据字典</a:t>
            </a:r>
            <a:r>
              <a:rPr lang="zh-CN" altLang="en-US" sz="3200" dirty="0"/>
              <a:t>（</a:t>
            </a:r>
            <a:r>
              <a:rPr lang="en-US" altLang="zh-CN" sz="3200" dirty="0"/>
              <a:t>Data Dictionary</a:t>
            </a:r>
            <a:r>
              <a:rPr lang="zh-CN" altLang="en-US" sz="3200" dirty="0"/>
              <a:t>，</a:t>
            </a:r>
            <a:r>
              <a:rPr lang="en-US" altLang="zh-CN" sz="3200" dirty="0"/>
              <a:t>DD</a:t>
            </a:r>
            <a:r>
              <a:rPr lang="zh-CN" altLang="en-US" sz="3200" dirty="0"/>
              <a:t>）描述系统，建立系统模型。</a:t>
            </a:r>
          </a:p>
        </p:txBody>
      </p:sp>
    </p:spTree>
    <p:extLst>
      <p:ext uri="{BB962C8B-B14F-4D97-AF65-F5344CB8AC3E}">
        <p14:creationId xmlns:p14="http://schemas.microsoft.com/office/powerpoint/2010/main" val="1472679246"/>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5794" name="Text Box 2"/>
          <p:cNvSpPr txBox="1">
            <a:spLocks noChangeArrowheads="1"/>
          </p:cNvSpPr>
          <p:nvPr/>
        </p:nvSpPr>
        <p:spPr bwMode="auto">
          <a:xfrm>
            <a:off x="767408" y="73609"/>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defPPr>
              <a:defRPr lang="en-US"/>
            </a:defPPr>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a:t>需求分析</a:t>
            </a:r>
          </a:p>
        </p:txBody>
      </p:sp>
      <p:grpSp>
        <p:nvGrpSpPr>
          <p:cNvPr id="94" name="组合 93">
            <a:extLst>
              <a:ext uri="{FF2B5EF4-FFF2-40B4-BE49-F238E27FC236}">
                <a16:creationId xmlns:a16="http://schemas.microsoft.com/office/drawing/2014/main" id="{8C20E793-7C42-4C1B-AE14-3309307FECDA}"/>
              </a:ext>
            </a:extLst>
          </p:cNvPr>
          <p:cNvGrpSpPr/>
          <p:nvPr/>
        </p:nvGrpSpPr>
        <p:grpSpPr>
          <a:xfrm>
            <a:off x="691777" y="1196752"/>
            <a:ext cx="10808445" cy="4086147"/>
            <a:chOff x="242888" y="1831828"/>
            <a:chExt cx="8232775" cy="3094241"/>
          </a:xfrm>
        </p:grpSpPr>
        <p:sp>
          <p:nvSpPr>
            <p:cNvPr id="95" name="Rectangle 15">
              <a:extLst>
                <a:ext uri="{FF2B5EF4-FFF2-40B4-BE49-F238E27FC236}">
                  <a16:creationId xmlns:a16="http://schemas.microsoft.com/office/drawing/2014/main" id="{55A4B1DD-BB7F-416F-907C-8C0587E2A588}"/>
                </a:ext>
              </a:extLst>
            </p:cNvPr>
            <p:cNvSpPr>
              <a:spLocks noChangeArrowheads="1"/>
            </p:cNvSpPr>
            <p:nvPr/>
          </p:nvSpPr>
          <p:spPr bwMode="auto">
            <a:xfrm>
              <a:off x="242888" y="2830513"/>
              <a:ext cx="609600" cy="914400"/>
            </a:xfrm>
            <a:prstGeom prst="rect">
              <a:avLst/>
            </a:prstGeom>
            <a:noFill/>
            <a:ln w="38100">
              <a:solidFill>
                <a:schemeClr val="tx1">
                  <a:lumMod val="50000"/>
                  <a:lumOff val="50000"/>
                </a:schemeClr>
              </a:solidFill>
              <a:round/>
              <a:headEnd/>
              <a:tailEnd/>
            </a:ln>
            <a:effectLst/>
            <a:extLst>
              <a:ext uri="{909E8E84-426E-40DD-AFC4-6F175D3DCCD1}">
                <a14:hiddenFill xmlns:a14="http://schemas.microsoft.com/office/drawing/2010/main">
                  <a:solidFill>
                    <a:srgbClr val="00CCFF"/>
                  </a:solidFill>
                </a14:hiddenFill>
              </a:ext>
              <a:ext uri="{AF507438-7753-43E0-B8FC-AC1667EBCBE1}">
                <a14:hiddenEffects xmlns:a14="http://schemas.microsoft.com/office/drawing/2010/main">
                  <a:effectLst>
                    <a:outerShdw dist="63500" dir="3187806" algn="ctr" rotWithShape="0">
                      <a:schemeClr val="bg2"/>
                    </a:outerShdw>
                  </a:effectLst>
                </a14:hiddenEffects>
              </a:ext>
            </a:extLst>
          </p:spPr>
          <p:txBody>
            <a:bodyPr wrap="none" lIns="27000" tIns="27000" rIns="27000" bIns="2700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400" i="0" u="none" strike="noStrike" kern="0" cap="none" spc="0" normalizeH="0" baseline="0" noProof="0" dirty="0">
                  <a:ln>
                    <a:noFill/>
                  </a:ln>
                  <a:effectLst/>
                  <a:uLnTx/>
                  <a:uFillTx/>
                  <a:latin typeface="宋体" panose="02010600030101010101" pitchFamily="2" charset="-122"/>
                  <a:ea typeface="宋体" panose="02010600030101010101" pitchFamily="2" charset="-122"/>
                </a:rPr>
                <a:t>学生</a:t>
              </a:r>
            </a:p>
          </p:txBody>
        </p:sp>
        <p:sp>
          <p:nvSpPr>
            <p:cNvPr id="96" name="Oval 16">
              <a:extLst>
                <a:ext uri="{FF2B5EF4-FFF2-40B4-BE49-F238E27FC236}">
                  <a16:creationId xmlns:a16="http://schemas.microsoft.com/office/drawing/2014/main" id="{095E78A1-5D47-400C-9E8C-8B52F131649A}"/>
                </a:ext>
              </a:extLst>
            </p:cNvPr>
            <p:cNvSpPr>
              <a:spLocks noChangeArrowheads="1"/>
            </p:cNvSpPr>
            <p:nvPr/>
          </p:nvSpPr>
          <p:spPr bwMode="auto">
            <a:xfrm>
              <a:off x="2147888" y="2849563"/>
              <a:ext cx="1222375" cy="1222375"/>
            </a:xfrm>
            <a:prstGeom prst="ellipse">
              <a:avLst/>
            </a:prstGeom>
            <a:noFill/>
            <a:ln w="38100">
              <a:solidFill>
                <a:schemeClr val="tx1">
                  <a:lumMod val="50000"/>
                  <a:lumOff val="50000"/>
                </a:schemeClr>
              </a:solidFill>
              <a:round/>
              <a:headEnd/>
              <a:tailEnd/>
            </a:ln>
            <a:effectLst/>
            <a:extLst>
              <a:ext uri="{909E8E84-426E-40DD-AFC4-6F175D3DCCD1}">
                <a14:hiddenFill xmlns:a14="http://schemas.microsoft.com/office/drawing/2010/main">
                  <a:solidFill>
                    <a:srgbClr val="00CCFF"/>
                  </a:solidFill>
                </a14:hiddenFill>
              </a:ext>
              <a:ext uri="{AF507438-7753-43E0-B8FC-AC1667EBCBE1}">
                <a14:hiddenEffects xmlns:a14="http://schemas.microsoft.com/office/drawing/2010/main">
                  <a:effectLst>
                    <a:outerShdw dist="63500" dir="3187806" algn="ctr" rotWithShape="0">
                      <a:schemeClr val="bg2"/>
                    </a:outerShdw>
                  </a:effectLst>
                </a14:hiddenEffects>
              </a:ext>
            </a:extLst>
          </p:spPr>
          <p:txBody>
            <a:bodyPr wrap="none" lIns="27000" tIns="27000" rIns="27000" bIns="2700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i="0" u="none" strike="noStrike" kern="0" cap="none" spc="0" normalizeH="0" baseline="0" noProof="0" dirty="0">
                  <a:ln>
                    <a:noFill/>
                  </a:ln>
                  <a:effectLst/>
                  <a:uLnTx/>
                  <a:uFillTx/>
                  <a:latin typeface="宋体" panose="02010600030101010101" pitchFamily="2" charset="-122"/>
                  <a:ea typeface="宋体" panose="02010600030101010101" pitchFamily="2" charset="-122"/>
                </a:rPr>
                <a:t>1</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400" i="0" u="none" strike="noStrike" kern="0" cap="none" spc="0" normalizeH="0" baseline="0" noProof="0" dirty="0">
                  <a:ln>
                    <a:noFill/>
                  </a:ln>
                  <a:effectLst/>
                  <a:uLnTx/>
                  <a:uFillTx/>
                  <a:latin typeface="宋体" panose="02010600030101010101" pitchFamily="2" charset="-122"/>
                  <a:ea typeface="宋体" panose="02010600030101010101" pitchFamily="2" charset="-122"/>
                </a:rPr>
                <a:t>审查购</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400" i="0" u="none" strike="noStrike" kern="0" cap="none" spc="0" normalizeH="0" baseline="0" noProof="0" dirty="0">
                  <a:ln>
                    <a:noFill/>
                  </a:ln>
                  <a:effectLst/>
                  <a:uLnTx/>
                  <a:uFillTx/>
                  <a:latin typeface="宋体" panose="02010600030101010101" pitchFamily="2" charset="-122"/>
                  <a:ea typeface="宋体" panose="02010600030101010101" pitchFamily="2" charset="-122"/>
                </a:rPr>
                <a:t>书单</a:t>
              </a:r>
            </a:p>
          </p:txBody>
        </p:sp>
        <p:sp>
          <p:nvSpPr>
            <p:cNvPr id="97" name="Text Box 17">
              <a:extLst>
                <a:ext uri="{FF2B5EF4-FFF2-40B4-BE49-F238E27FC236}">
                  <a16:creationId xmlns:a16="http://schemas.microsoft.com/office/drawing/2014/main" id="{7347ED2B-0766-40CB-A1F2-2F3034D38F1A}"/>
                </a:ext>
              </a:extLst>
            </p:cNvPr>
            <p:cNvSpPr txBox="1">
              <a:spLocks noChangeArrowheads="1"/>
            </p:cNvSpPr>
            <p:nvPr/>
          </p:nvSpPr>
          <p:spPr bwMode="auto">
            <a:xfrm>
              <a:off x="1149203" y="2819254"/>
              <a:ext cx="744833" cy="320968"/>
            </a:xfrm>
            <a:prstGeom prst="rect">
              <a:avLst/>
            </a:prstGeom>
            <a:noFill/>
            <a:ln w="9525">
              <a:noFill/>
              <a:miter lim="800000"/>
              <a:headEnd/>
              <a:tailEnd/>
            </a:ln>
            <a:effectLst/>
            <a:extLst>
              <a:ext uri="{909E8E84-426E-40DD-AFC4-6F175D3DCCD1}">
                <a14:hiddenFill xmlns:a14="http://schemas.microsoft.com/office/drawing/2010/main">
                  <a:solidFill>
                    <a:srgbClr val="00CCFF"/>
                  </a:solidFill>
                </a14:hiddenFill>
              </a:ext>
              <a:ext uri="{AF507438-7753-43E0-B8FC-AC1667EBCBE1}">
                <a14:hiddenEffects xmlns:a14="http://schemas.microsoft.com/office/drawing/2010/main">
                  <a:effectLst>
                    <a:outerShdw dist="63500" dir="3187806" algn="ctr" rotWithShape="0">
                      <a:schemeClr val="bg2"/>
                    </a:outerShdw>
                  </a:effectLst>
                </a14:hiddenEffects>
              </a:ext>
            </a:extLst>
          </p:spPr>
          <p:txBody>
            <a:bodyPr wrap="none" lIns="27000" tIns="27000" rIns="27000" bIns="2700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400" i="0" u="none" strike="noStrike" kern="0" cap="none" spc="0" normalizeH="0" baseline="0" noProof="0">
                  <a:ln>
                    <a:noFill/>
                  </a:ln>
                  <a:effectLst/>
                  <a:uLnTx/>
                  <a:uFillTx/>
                  <a:latin typeface="宋体" panose="02010600030101010101" pitchFamily="2" charset="-122"/>
                  <a:ea typeface="宋体" panose="02010600030101010101" pitchFamily="2" charset="-122"/>
                </a:rPr>
                <a:t>购书单</a:t>
              </a:r>
            </a:p>
          </p:txBody>
        </p:sp>
        <p:sp>
          <p:nvSpPr>
            <p:cNvPr id="98" name="Text Box 18">
              <a:extLst>
                <a:ext uri="{FF2B5EF4-FFF2-40B4-BE49-F238E27FC236}">
                  <a16:creationId xmlns:a16="http://schemas.microsoft.com/office/drawing/2014/main" id="{AAF51F3B-E6DD-4AB1-B610-3A3F350AF67C}"/>
                </a:ext>
              </a:extLst>
            </p:cNvPr>
            <p:cNvSpPr txBox="1">
              <a:spLocks noChangeArrowheads="1"/>
            </p:cNvSpPr>
            <p:nvPr/>
          </p:nvSpPr>
          <p:spPr bwMode="auto">
            <a:xfrm rot="21531473">
              <a:off x="3515092" y="2974828"/>
              <a:ext cx="1213698" cy="320968"/>
            </a:xfrm>
            <a:prstGeom prst="rect">
              <a:avLst/>
            </a:prstGeom>
            <a:noFill/>
            <a:ln w="9525">
              <a:noFill/>
              <a:miter lim="800000"/>
              <a:headEnd/>
              <a:tailEnd/>
            </a:ln>
            <a:effectLst/>
            <a:extLst>
              <a:ext uri="{909E8E84-426E-40DD-AFC4-6F175D3DCCD1}">
                <a14:hiddenFill xmlns:a14="http://schemas.microsoft.com/office/drawing/2010/main">
                  <a:solidFill>
                    <a:srgbClr val="00CCFF"/>
                  </a:solidFill>
                </a14:hiddenFill>
              </a:ext>
              <a:ext uri="{AF507438-7753-43E0-B8FC-AC1667EBCBE1}">
                <a14:hiddenEffects xmlns:a14="http://schemas.microsoft.com/office/drawing/2010/main">
                  <a:effectLst>
                    <a:outerShdw dist="63500" dir="3187806" algn="ctr" rotWithShape="0">
                      <a:schemeClr val="bg2"/>
                    </a:outerShdw>
                  </a:effectLst>
                </a14:hiddenEffects>
              </a:ext>
            </a:extLst>
          </p:spPr>
          <p:txBody>
            <a:bodyPr wrap="none" lIns="27000" tIns="27000" rIns="27000" bIns="2700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400" i="0" u="none" strike="noStrike" kern="0" cap="none" spc="0" normalizeH="0" baseline="0" noProof="0">
                  <a:ln>
                    <a:noFill/>
                  </a:ln>
                  <a:effectLst/>
                  <a:uLnTx/>
                  <a:uFillTx/>
                  <a:latin typeface="宋体" panose="02010600030101010101" pitchFamily="2" charset="-122"/>
                  <a:ea typeface="宋体" panose="02010600030101010101" pitchFamily="2" charset="-122"/>
                </a:rPr>
                <a:t>有效购书单</a:t>
              </a:r>
            </a:p>
          </p:txBody>
        </p:sp>
        <p:sp>
          <p:nvSpPr>
            <p:cNvPr id="99" name="Oval 19">
              <a:extLst>
                <a:ext uri="{FF2B5EF4-FFF2-40B4-BE49-F238E27FC236}">
                  <a16:creationId xmlns:a16="http://schemas.microsoft.com/office/drawing/2014/main" id="{162BED49-D030-4773-BD6C-5B17E606A075}"/>
                </a:ext>
              </a:extLst>
            </p:cNvPr>
            <p:cNvSpPr>
              <a:spLocks noChangeArrowheads="1"/>
            </p:cNvSpPr>
            <p:nvPr/>
          </p:nvSpPr>
          <p:spPr bwMode="auto">
            <a:xfrm>
              <a:off x="4891088" y="2830513"/>
              <a:ext cx="1222375" cy="1222375"/>
            </a:xfrm>
            <a:prstGeom prst="ellipse">
              <a:avLst/>
            </a:prstGeom>
            <a:noFill/>
            <a:ln w="38100">
              <a:solidFill>
                <a:schemeClr val="tx1">
                  <a:lumMod val="50000"/>
                  <a:lumOff val="50000"/>
                </a:schemeClr>
              </a:solidFill>
              <a:round/>
              <a:headEnd/>
              <a:tailEnd/>
            </a:ln>
            <a:effectLst/>
            <a:extLst>
              <a:ext uri="{909E8E84-426E-40DD-AFC4-6F175D3DCCD1}">
                <a14:hiddenFill xmlns:a14="http://schemas.microsoft.com/office/drawing/2010/main">
                  <a:solidFill>
                    <a:srgbClr val="00CCFF"/>
                  </a:solidFill>
                </a14:hiddenFill>
              </a:ext>
              <a:ext uri="{AF507438-7753-43E0-B8FC-AC1667EBCBE1}">
                <a14:hiddenEffects xmlns:a14="http://schemas.microsoft.com/office/drawing/2010/main">
                  <a:effectLst>
                    <a:outerShdw dist="63500" dir="3187806" algn="ctr" rotWithShape="0">
                      <a:schemeClr val="bg2"/>
                    </a:outerShdw>
                  </a:effectLst>
                </a14:hiddenEffects>
              </a:ext>
            </a:extLst>
          </p:spPr>
          <p:txBody>
            <a:bodyPr wrap="none" lIns="27000" tIns="27000" rIns="27000" bIns="2700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i="0" u="none" strike="noStrike" kern="0" cap="none" spc="0" normalizeH="0" baseline="0" noProof="0" dirty="0">
                  <a:ln>
                    <a:noFill/>
                  </a:ln>
                  <a:effectLst/>
                  <a:uLnTx/>
                  <a:uFillTx/>
                  <a:latin typeface="宋体" panose="02010600030101010101" pitchFamily="2" charset="-122"/>
                  <a:ea typeface="宋体" panose="02010600030101010101" pitchFamily="2" charset="-122"/>
                </a:rPr>
                <a:t>2</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400" i="0" u="none" strike="noStrike" kern="0" cap="none" spc="0" normalizeH="0" baseline="0" noProof="0" dirty="0">
                  <a:ln>
                    <a:noFill/>
                  </a:ln>
                  <a:effectLst/>
                  <a:uLnTx/>
                  <a:uFillTx/>
                  <a:latin typeface="宋体" panose="02010600030101010101" pitchFamily="2" charset="-122"/>
                  <a:ea typeface="宋体" panose="02010600030101010101" pitchFamily="2" charset="-122"/>
                </a:rPr>
                <a:t>开发票</a:t>
              </a:r>
            </a:p>
          </p:txBody>
        </p:sp>
        <p:cxnSp>
          <p:nvCxnSpPr>
            <p:cNvPr id="100" name="AutoShape 20">
              <a:extLst>
                <a:ext uri="{FF2B5EF4-FFF2-40B4-BE49-F238E27FC236}">
                  <a16:creationId xmlns:a16="http://schemas.microsoft.com/office/drawing/2014/main" id="{112A7C5C-71C8-4AC9-B4FB-B3ECB2CC208A}"/>
                </a:ext>
              </a:extLst>
            </p:cNvPr>
            <p:cNvCxnSpPr>
              <a:cxnSpLocks noChangeShapeType="1"/>
              <a:stCxn id="96" idx="6"/>
              <a:endCxn id="99" idx="2"/>
            </p:cNvCxnSpPr>
            <p:nvPr/>
          </p:nvCxnSpPr>
          <p:spPr bwMode="auto">
            <a:xfrm flipV="1">
              <a:off x="3389313" y="3441700"/>
              <a:ext cx="1482725" cy="19050"/>
            </a:xfrm>
            <a:prstGeom prst="straightConnector1">
              <a:avLst/>
            </a:prstGeom>
            <a:noFill/>
            <a:ln w="38100">
              <a:solidFill>
                <a:schemeClr val="tx1">
                  <a:lumMod val="50000"/>
                  <a:lumOff val="5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63500" dir="3187806" algn="ctr" rotWithShape="0">
                      <a:schemeClr val="bg2"/>
                    </a:outerShdw>
                  </a:effectLst>
                </a14:hiddenEffects>
              </a:ext>
            </a:extLst>
          </p:spPr>
        </p:cxnSp>
        <p:sp>
          <p:nvSpPr>
            <p:cNvPr id="101" name="Oval 21">
              <a:extLst>
                <a:ext uri="{FF2B5EF4-FFF2-40B4-BE49-F238E27FC236}">
                  <a16:creationId xmlns:a16="http://schemas.microsoft.com/office/drawing/2014/main" id="{6E79544D-6D1A-48E5-9993-4112A87EEB68}"/>
                </a:ext>
              </a:extLst>
            </p:cNvPr>
            <p:cNvSpPr>
              <a:spLocks noChangeArrowheads="1"/>
            </p:cNvSpPr>
            <p:nvPr/>
          </p:nvSpPr>
          <p:spPr bwMode="auto">
            <a:xfrm>
              <a:off x="7253288" y="2830513"/>
              <a:ext cx="1222375" cy="1222375"/>
            </a:xfrm>
            <a:prstGeom prst="ellipse">
              <a:avLst/>
            </a:prstGeom>
            <a:noFill/>
            <a:ln w="38100">
              <a:solidFill>
                <a:schemeClr val="tx1">
                  <a:lumMod val="50000"/>
                  <a:lumOff val="50000"/>
                </a:schemeClr>
              </a:solidFill>
              <a:round/>
              <a:headEnd/>
              <a:tailEnd/>
            </a:ln>
            <a:effectLst/>
            <a:extLst>
              <a:ext uri="{909E8E84-426E-40DD-AFC4-6F175D3DCCD1}">
                <a14:hiddenFill xmlns:a14="http://schemas.microsoft.com/office/drawing/2010/main">
                  <a:solidFill>
                    <a:srgbClr val="00CCFF"/>
                  </a:solidFill>
                </a14:hiddenFill>
              </a:ext>
              <a:ext uri="{AF507438-7753-43E0-B8FC-AC1667EBCBE1}">
                <a14:hiddenEffects xmlns:a14="http://schemas.microsoft.com/office/drawing/2010/main">
                  <a:effectLst>
                    <a:outerShdw dist="63500" dir="3187806" algn="ctr" rotWithShape="0">
                      <a:schemeClr val="bg2"/>
                    </a:outerShdw>
                  </a:effectLst>
                </a14:hiddenEffects>
              </a:ext>
            </a:extLst>
          </p:spPr>
          <p:txBody>
            <a:bodyPr wrap="none" lIns="27000" tIns="27000" rIns="27000" bIns="2700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i="0" u="none" strike="noStrike" kern="0" cap="none" spc="0" normalizeH="0" baseline="0" noProof="0" dirty="0">
                  <a:ln>
                    <a:noFill/>
                  </a:ln>
                  <a:effectLst/>
                  <a:uLnTx/>
                  <a:uFillTx/>
                  <a:latin typeface="宋体" panose="02010600030101010101" pitchFamily="2" charset="-122"/>
                  <a:ea typeface="宋体" panose="02010600030101010101" pitchFamily="2" charset="-122"/>
                </a:rPr>
                <a:t>3</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400" i="0" u="none" strike="noStrike" kern="0" cap="none" spc="0" normalizeH="0" baseline="0" noProof="0" dirty="0">
                  <a:ln>
                    <a:noFill/>
                  </a:ln>
                  <a:effectLst/>
                  <a:uLnTx/>
                  <a:uFillTx/>
                  <a:latin typeface="宋体" panose="02010600030101010101" pitchFamily="2" charset="-122"/>
                  <a:ea typeface="宋体" panose="02010600030101010101" pitchFamily="2" charset="-122"/>
                </a:rPr>
                <a:t>开领</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400" i="0" u="none" strike="noStrike" kern="0" cap="none" spc="0" normalizeH="0" baseline="0" noProof="0" dirty="0">
                  <a:ln>
                    <a:noFill/>
                  </a:ln>
                  <a:effectLst/>
                  <a:uLnTx/>
                  <a:uFillTx/>
                  <a:latin typeface="宋体" panose="02010600030101010101" pitchFamily="2" charset="-122"/>
                  <a:ea typeface="宋体" panose="02010600030101010101" pitchFamily="2" charset="-122"/>
                </a:rPr>
                <a:t>书单</a:t>
              </a:r>
            </a:p>
          </p:txBody>
        </p:sp>
        <p:cxnSp>
          <p:nvCxnSpPr>
            <p:cNvPr id="102" name="AutoShape 22">
              <a:extLst>
                <a:ext uri="{FF2B5EF4-FFF2-40B4-BE49-F238E27FC236}">
                  <a16:creationId xmlns:a16="http://schemas.microsoft.com/office/drawing/2014/main" id="{05231DF3-309B-405A-9B31-AE378EAE9B69}"/>
                </a:ext>
              </a:extLst>
            </p:cNvPr>
            <p:cNvCxnSpPr>
              <a:cxnSpLocks noChangeShapeType="1"/>
              <a:stCxn id="99" idx="6"/>
              <a:endCxn id="101" idx="2"/>
            </p:cNvCxnSpPr>
            <p:nvPr/>
          </p:nvCxnSpPr>
          <p:spPr bwMode="auto">
            <a:xfrm>
              <a:off x="6132513" y="3441700"/>
              <a:ext cx="1101725" cy="0"/>
            </a:xfrm>
            <a:prstGeom prst="straightConnector1">
              <a:avLst/>
            </a:prstGeom>
            <a:noFill/>
            <a:ln w="38100">
              <a:solidFill>
                <a:schemeClr val="tx1">
                  <a:lumMod val="50000"/>
                  <a:lumOff val="5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63500" dir="3187806" algn="ctr" rotWithShape="0">
                      <a:schemeClr val="bg2"/>
                    </a:outerShdw>
                  </a:effectLst>
                </a14:hiddenEffects>
              </a:ext>
            </a:extLst>
          </p:spPr>
        </p:cxnSp>
        <p:sp>
          <p:nvSpPr>
            <p:cNvPr id="103" name="Text Box 23">
              <a:extLst>
                <a:ext uri="{FF2B5EF4-FFF2-40B4-BE49-F238E27FC236}">
                  <a16:creationId xmlns:a16="http://schemas.microsoft.com/office/drawing/2014/main" id="{B0E7E376-CC3C-4D2D-8CE6-69E60BBD2D73}"/>
                </a:ext>
              </a:extLst>
            </p:cNvPr>
            <p:cNvSpPr txBox="1">
              <a:spLocks noChangeArrowheads="1"/>
            </p:cNvSpPr>
            <p:nvPr/>
          </p:nvSpPr>
          <p:spPr bwMode="auto">
            <a:xfrm rot="21531473">
              <a:off x="6425000" y="2952605"/>
              <a:ext cx="510399" cy="320968"/>
            </a:xfrm>
            <a:prstGeom prst="rect">
              <a:avLst/>
            </a:prstGeom>
            <a:noFill/>
            <a:ln w="9525">
              <a:noFill/>
              <a:miter lim="800000"/>
              <a:headEnd/>
              <a:tailEnd/>
            </a:ln>
            <a:effectLst/>
            <a:extLst>
              <a:ext uri="{909E8E84-426E-40DD-AFC4-6F175D3DCCD1}">
                <a14:hiddenFill xmlns:a14="http://schemas.microsoft.com/office/drawing/2010/main">
                  <a:solidFill>
                    <a:srgbClr val="00CCFF"/>
                  </a:solidFill>
                </a14:hiddenFill>
              </a:ext>
              <a:ext uri="{AF507438-7753-43E0-B8FC-AC1667EBCBE1}">
                <a14:hiddenEffects xmlns:a14="http://schemas.microsoft.com/office/drawing/2010/main">
                  <a:effectLst>
                    <a:outerShdw dist="63500" dir="3187806" algn="ctr" rotWithShape="0">
                      <a:schemeClr val="bg2"/>
                    </a:outerShdw>
                  </a:effectLst>
                </a14:hiddenEffects>
              </a:ext>
            </a:extLst>
          </p:spPr>
          <p:txBody>
            <a:bodyPr wrap="none" lIns="27000" tIns="27000" rIns="27000" bIns="2700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400" i="0" u="none" strike="noStrike" kern="0" cap="none" spc="0" normalizeH="0" baseline="0" noProof="0">
                  <a:ln>
                    <a:noFill/>
                  </a:ln>
                  <a:effectLst/>
                  <a:uLnTx/>
                  <a:uFillTx/>
                  <a:latin typeface="宋体" panose="02010600030101010101" pitchFamily="2" charset="-122"/>
                  <a:ea typeface="宋体" panose="02010600030101010101" pitchFamily="2" charset="-122"/>
                </a:rPr>
                <a:t>发票</a:t>
              </a:r>
            </a:p>
          </p:txBody>
        </p:sp>
        <p:sp>
          <p:nvSpPr>
            <p:cNvPr id="104" name="Text Box 24">
              <a:extLst>
                <a:ext uri="{FF2B5EF4-FFF2-40B4-BE49-F238E27FC236}">
                  <a16:creationId xmlns:a16="http://schemas.microsoft.com/office/drawing/2014/main" id="{69AC2785-942A-46E6-B26A-DE4AF9691835}"/>
                </a:ext>
              </a:extLst>
            </p:cNvPr>
            <p:cNvSpPr txBox="1">
              <a:spLocks noChangeArrowheads="1"/>
            </p:cNvSpPr>
            <p:nvPr/>
          </p:nvSpPr>
          <p:spPr bwMode="auto">
            <a:xfrm>
              <a:off x="4747272" y="4605101"/>
              <a:ext cx="744833" cy="320968"/>
            </a:xfrm>
            <a:prstGeom prst="rect">
              <a:avLst/>
            </a:prstGeom>
            <a:noFill/>
            <a:ln w="9525">
              <a:noFill/>
              <a:miter lim="800000"/>
              <a:headEnd/>
              <a:tailEnd/>
            </a:ln>
            <a:effectLst/>
            <a:extLst>
              <a:ext uri="{909E8E84-426E-40DD-AFC4-6F175D3DCCD1}">
                <a14:hiddenFill xmlns:a14="http://schemas.microsoft.com/office/drawing/2010/main">
                  <a:solidFill>
                    <a:srgbClr val="00CCFF"/>
                  </a:solidFill>
                </a14:hiddenFill>
              </a:ext>
              <a:ext uri="{AF507438-7753-43E0-B8FC-AC1667EBCBE1}">
                <a14:hiddenEffects xmlns:a14="http://schemas.microsoft.com/office/drawing/2010/main">
                  <a:effectLst>
                    <a:outerShdw dist="63500" dir="3187806" algn="ctr" rotWithShape="0">
                      <a:schemeClr val="bg2"/>
                    </a:outerShdw>
                  </a:effectLst>
                </a14:hiddenEffects>
              </a:ext>
            </a:extLst>
          </p:spPr>
          <p:txBody>
            <a:bodyPr wrap="none" lIns="27000" tIns="27000" rIns="27000" bIns="2700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400" i="0" u="none" strike="noStrike" kern="0" cap="none" spc="0" normalizeH="0" baseline="0" noProof="0" dirty="0">
                  <a:ln>
                    <a:noFill/>
                  </a:ln>
                  <a:effectLst/>
                  <a:uLnTx/>
                  <a:uFillTx/>
                  <a:latin typeface="宋体" panose="02010600030101010101" pitchFamily="2" charset="-122"/>
                  <a:ea typeface="宋体" panose="02010600030101010101" pitchFamily="2" charset="-122"/>
                </a:rPr>
                <a:t>领书单</a:t>
              </a:r>
            </a:p>
          </p:txBody>
        </p:sp>
        <p:cxnSp>
          <p:nvCxnSpPr>
            <p:cNvPr id="105" name="AutoShape 25">
              <a:extLst>
                <a:ext uri="{FF2B5EF4-FFF2-40B4-BE49-F238E27FC236}">
                  <a16:creationId xmlns:a16="http://schemas.microsoft.com/office/drawing/2014/main" id="{9E66CA90-6428-4DE5-8860-0C9E7B94CB63}"/>
                </a:ext>
              </a:extLst>
            </p:cNvPr>
            <p:cNvCxnSpPr>
              <a:cxnSpLocks noChangeShapeType="1"/>
              <a:stCxn id="101" idx="4"/>
              <a:endCxn id="95" idx="2"/>
            </p:cNvCxnSpPr>
            <p:nvPr/>
          </p:nvCxnSpPr>
          <p:spPr bwMode="auto">
            <a:xfrm rot="5400000" flipH="1">
              <a:off x="4052094" y="240508"/>
              <a:ext cx="307975" cy="7316787"/>
            </a:xfrm>
            <a:prstGeom prst="bentConnector3">
              <a:avLst>
                <a:gd name="adj1" fmla="val -305425"/>
              </a:avLst>
            </a:prstGeom>
            <a:noFill/>
            <a:ln w="38100">
              <a:solidFill>
                <a:schemeClr val="tx1">
                  <a:lumMod val="50000"/>
                  <a:lumOff val="50000"/>
                </a:schemeClr>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63500" dir="3187806" algn="ctr" rotWithShape="0">
                      <a:schemeClr val="bg2"/>
                    </a:outerShdw>
                  </a:effectLst>
                </a14:hiddenEffects>
              </a:ext>
            </a:extLst>
          </p:spPr>
        </p:cxnSp>
        <p:sp>
          <p:nvSpPr>
            <p:cNvPr id="106" name="Line 26">
              <a:extLst>
                <a:ext uri="{FF2B5EF4-FFF2-40B4-BE49-F238E27FC236}">
                  <a16:creationId xmlns:a16="http://schemas.microsoft.com/office/drawing/2014/main" id="{59575838-8D69-472D-8249-FB5EA7C2347F}"/>
                </a:ext>
              </a:extLst>
            </p:cNvPr>
            <p:cNvSpPr>
              <a:spLocks noChangeShapeType="1"/>
            </p:cNvSpPr>
            <p:nvPr/>
          </p:nvSpPr>
          <p:spPr bwMode="auto">
            <a:xfrm flipH="1">
              <a:off x="852488" y="3535363"/>
              <a:ext cx="1295400" cy="0"/>
            </a:xfrm>
            <a:prstGeom prst="line">
              <a:avLst/>
            </a:prstGeom>
            <a:noFill/>
            <a:ln w="38100">
              <a:solidFill>
                <a:schemeClr val="tx1">
                  <a:lumMod val="50000"/>
                  <a:lumOff val="5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63500" dir="3187806" algn="ctr" rotWithShape="0">
                      <a:schemeClr val="bg2"/>
                    </a:outerShdw>
                  </a:effectLst>
                </a14:hiddenEffects>
              </a:ext>
            </a:extLst>
          </p:spPr>
          <p:txBody>
            <a:bodyPr wrap="none" lIns="27000" tIns="27000" rIns="27000" bIns="2700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i="0" u="none" strike="noStrike" kern="0" cap="none" spc="0" normalizeH="0" baseline="-25000" noProof="0">
                <a:ln>
                  <a:noFill/>
                </a:ln>
                <a:effectLst/>
                <a:uLnTx/>
                <a:uFillTx/>
                <a:latin typeface="宋体" panose="02010600030101010101" pitchFamily="2" charset="-122"/>
                <a:ea typeface="宋体" panose="02010600030101010101" pitchFamily="2" charset="-122"/>
              </a:endParaRPr>
            </a:p>
          </p:txBody>
        </p:sp>
        <p:sp>
          <p:nvSpPr>
            <p:cNvPr id="107" name="Text Box 27">
              <a:extLst>
                <a:ext uri="{FF2B5EF4-FFF2-40B4-BE49-F238E27FC236}">
                  <a16:creationId xmlns:a16="http://schemas.microsoft.com/office/drawing/2014/main" id="{6E853C56-870E-4F50-8769-950D456CE223}"/>
                </a:ext>
              </a:extLst>
            </p:cNvPr>
            <p:cNvSpPr txBox="1">
              <a:spLocks noChangeArrowheads="1"/>
            </p:cNvSpPr>
            <p:nvPr/>
          </p:nvSpPr>
          <p:spPr bwMode="auto">
            <a:xfrm>
              <a:off x="928688" y="3636680"/>
              <a:ext cx="1143000" cy="600645"/>
            </a:xfrm>
            <a:prstGeom prst="rect">
              <a:avLst/>
            </a:prstGeom>
            <a:noFill/>
            <a:ln w="9525">
              <a:noFill/>
              <a:miter lim="800000"/>
              <a:headEnd/>
              <a:tailEnd/>
            </a:ln>
            <a:effectLst/>
            <a:extLst>
              <a:ext uri="{909E8E84-426E-40DD-AFC4-6F175D3DCCD1}">
                <a14:hiddenFill xmlns:a14="http://schemas.microsoft.com/office/drawing/2010/main">
                  <a:solidFill>
                    <a:srgbClr val="00CCFF"/>
                  </a:solidFill>
                </a14:hiddenFill>
              </a:ext>
              <a:ext uri="{AF507438-7753-43E0-B8FC-AC1667EBCBE1}">
                <a14:hiddenEffects xmlns:a14="http://schemas.microsoft.com/office/drawing/2010/main">
                  <a:effectLst>
                    <a:outerShdw dist="63500" dir="3187806" algn="ctr" rotWithShape="0">
                      <a:schemeClr val="bg2"/>
                    </a:outerShdw>
                  </a:effectLst>
                </a14:hiddenEffects>
              </a:ext>
            </a:extLst>
          </p:spPr>
          <p:txBody>
            <a:bodyPr lIns="27000" tIns="27000" rIns="27000" bIns="2700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400" i="0" u="none" strike="noStrike" kern="0" cap="none" spc="0" normalizeH="0" baseline="0" noProof="0" dirty="0">
                  <a:ln>
                    <a:noFill/>
                  </a:ln>
                  <a:effectLst/>
                  <a:uLnTx/>
                  <a:uFillTx/>
                  <a:latin typeface="宋体" panose="02010600030101010101" pitchFamily="2" charset="-122"/>
                  <a:ea typeface="宋体" panose="02010600030101010101" pitchFamily="2" charset="-122"/>
                </a:rPr>
                <a:t>无效购</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400" i="0" u="none" strike="noStrike" kern="0" cap="none" spc="0" normalizeH="0" baseline="0" noProof="0" dirty="0">
                  <a:ln>
                    <a:noFill/>
                  </a:ln>
                  <a:effectLst/>
                  <a:uLnTx/>
                  <a:uFillTx/>
                  <a:latin typeface="宋体" panose="02010600030101010101" pitchFamily="2" charset="-122"/>
                  <a:ea typeface="宋体" panose="02010600030101010101" pitchFamily="2" charset="-122"/>
                </a:rPr>
                <a:t>书单</a:t>
              </a:r>
            </a:p>
          </p:txBody>
        </p:sp>
        <p:grpSp>
          <p:nvGrpSpPr>
            <p:cNvPr id="108" name="Group 28">
              <a:extLst>
                <a:ext uri="{FF2B5EF4-FFF2-40B4-BE49-F238E27FC236}">
                  <a16:creationId xmlns:a16="http://schemas.microsoft.com/office/drawing/2014/main" id="{A1D29E75-D4A6-4621-B5E3-2F3DAF79EEB7}"/>
                </a:ext>
              </a:extLst>
            </p:cNvPr>
            <p:cNvGrpSpPr>
              <a:grpSpLocks/>
            </p:cNvGrpSpPr>
            <p:nvPr/>
          </p:nvGrpSpPr>
          <p:grpSpPr bwMode="auto">
            <a:xfrm>
              <a:off x="4397375" y="2244725"/>
              <a:ext cx="1295400" cy="76200"/>
              <a:chOff x="1728" y="912"/>
              <a:chExt cx="816" cy="48"/>
            </a:xfrm>
          </p:grpSpPr>
          <p:sp>
            <p:nvSpPr>
              <p:cNvPr id="122" name="Line 29">
                <a:extLst>
                  <a:ext uri="{FF2B5EF4-FFF2-40B4-BE49-F238E27FC236}">
                    <a16:creationId xmlns:a16="http://schemas.microsoft.com/office/drawing/2014/main" id="{15981C6C-A805-4869-9EE0-6CEAEBA37953}"/>
                  </a:ext>
                </a:extLst>
              </p:cNvPr>
              <p:cNvSpPr>
                <a:spLocks noChangeShapeType="1"/>
              </p:cNvSpPr>
              <p:nvPr/>
            </p:nvSpPr>
            <p:spPr bwMode="auto">
              <a:xfrm>
                <a:off x="1728" y="912"/>
                <a:ext cx="816" cy="0"/>
              </a:xfrm>
              <a:prstGeom prst="line">
                <a:avLst/>
              </a:prstGeom>
              <a:noFill/>
              <a:ln w="38100">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63500" dir="3187806" algn="ctr" rotWithShape="0">
                        <a:schemeClr val="bg2"/>
                      </a:outerShdw>
                    </a:effectLst>
                  </a14:hiddenEffects>
                </a:ext>
              </a:extLst>
            </p:spPr>
            <p:txBody>
              <a:bodyPr wrap="none" lIns="27000" tIns="27000" rIns="27000" bIns="2700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i="0" u="none" strike="noStrike" kern="0" cap="none" spc="0" normalizeH="0" baseline="-25000" noProof="0">
                  <a:ln>
                    <a:noFill/>
                  </a:ln>
                  <a:effectLst/>
                  <a:uLnTx/>
                  <a:uFillTx/>
                  <a:latin typeface="宋体" panose="02010600030101010101" pitchFamily="2" charset="-122"/>
                  <a:ea typeface="宋体" panose="02010600030101010101" pitchFamily="2" charset="-122"/>
                </a:endParaRPr>
              </a:p>
            </p:txBody>
          </p:sp>
          <p:sp>
            <p:nvSpPr>
              <p:cNvPr id="123" name="Line 30">
                <a:extLst>
                  <a:ext uri="{FF2B5EF4-FFF2-40B4-BE49-F238E27FC236}">
                    <a16:creationId xmlns:a16="http://schemas.microsoft.com/office/drawing/2014/main" id="{EBAA8052-57B9-462F-8651-EBE382889453}"/>
                  </a:ext>
                </a:extLst>
              </p:cNvPr>
              <p:cNvSpPr>
                <a:spLocks noChangeShapeType="1"/>
              </p:cNvSpPr>
              <p:nvPr/>
            </p:nvSpPr>
            <p:spPr bwMode="auto">
              <a:xfrm>
                <a:off x="1728" y="960"/>
                <a:ext cx="816" cy="0"/>
              </a:xfrm>
              <a:prstGeom prst="line">
                <a:avLst/>
              </a:prstGeom>
              <a:noFill/>
              <a:ln w="38100">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63500" dir="3187806" algn="ctr" rotWithShape="0">
                        <a:schemeClr val="bg2"/>
                      </a:outerShdw>
                    </a:effectLst>
                  </a14:hiddenEffects>
                </a:ext>
              </a:extLst>
            </p:spPr>
            <p:txBody>
              <a:bodyPr wrap="none" lIns="27000" tIns="27000" rIns="27000" bIns="2700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i="0" u="none" strike="noStrike" kern="0" cap="none" spc="0" normalizeH="0" baseline="-25000" noProof="0">
                  <a:ln>
                    <a:noFill/>
                  </a:ln>
                  <a:effectLst/>
                  <a:uLnTx/>
                  <a:uFillTx/>
                  <a:latin typeface="宋体" panose="02010600030101010101" pitchFamily="2" charset="-122"/>
                  <a:ea typeface="宋体" panose="02010600030101010101" pitchFamily="2" charset="-122"/>
                </a:endParaRPr>
              </a:p>
            </p:txBody>
          </p:sp>
        </p:grpSp>
        <p:sp>
          <p:nvSpPr>
            <p:cNvPr id="109" name="Text Box 31">
              <a:extLst>
                <a:ext uri="{FF2B5EF4-FFF2-40B4-BE49-F238E27FC236}">
                  <a16:creationId xmlns:a16="http://schemas.microsoft.com/office/drawing/2014/main" id="{18AB9D1E-F13C-4FFD-B12A-E3E35801F792}"/>
                </a:ext>
              </a:extLst>
            </p:cNvPr>
            <p:cNvSpPr txBox="1">
              <a:spLocks noChangeArrowheads="1"/>
            </p:cNvSpPr>
            <p:nvPr/>
          </p:nvSpPr>
          <p:spPr bwMode="auto">
            <a:xfrm>
              <a:off x="4222473" y="1831828"/>
              <a:ext cx="1569011" cy="320968"/>
            </a:xfrm>
            <a:prstGeom prst="rect">
              <a:avLst/>
            </a:prstGeom>
            <a:noFill/>
            <a:ln w="9525">
              <a:noFill/>
              <a:miter lim="800000"/>
              <a:headEnd/>
              <a:tailEnd/>
            </a:ln>
            <a:effectLst/>
            <a:extLst>
              <a:ext uri="{909E8E84-426E-40DD-AFC4-6F175D3DCCD1}">
                <a14:hiddenFill xmlns:a14="http://schemas.microsoft.com/office/drawing/2010/main">
                  <a:solidFill>
                    <a:srgbClr val="00CCFF"/>
                  </a:solidFill>
                </a14:hiddenFill>
              </a:ext>
              <a:ext uri="{AF507438-7753-43E0-B8FC-AC1667EBCBE1}">
                <a14:hiddenEffects xmlns:a14="http://schemas.microsoft.com/office/drawing/2010/main">
                  <a:effectLst>
                    <a:outerShdw dist="63500" dir="3187806" algn="ctr" rotWithShape="0">
                      <a:schemeClr val="bg2"/>
                    </a:outerShdw>
                  </a:effectLst>
                </a14:hiddenEffects>
              </a:ext>
            </a:extLst>
          </p:spPr>
          <p:txBody>
            <a:bodyPr wrap="none" lIns="27000" tIns="27000" rIns="27000" bIns="2700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i="0" u="none" strike="noStrike" kern="0" cap="none" spc="0" normalizeH="0" baseline="0" noProof="0" dirty="0">
                  <a:ln>
                    <a:noFill/>
                  </a:ln>
                  <a:effectLst/>
                  <a:uLnTx/>
                  <a:uFillTx/>
                  <a:latin typeface="宋体" panose="02010600030101010101" pitchFamily="2" charset="-122"/>
                  <a:ea typeface="宋体" panose="02010600030101010101" pitchFamily="2" charset="-122"/>
                </a:rPr>
                <a:t>F2:</a:t>
              </a:r>
              <a:r>
                <a:rPr kumimoji="1" lang="zh-CN" altLang="en-US" sz="2400" i="0" u="none" strike="noStrike" kern="0" cap="none" spc="0" normalizeH="0" baseline="0" noProof="0" dirty="0">
                  <a:ln>
                    <a:noFill/>
                  </a:ln>
                  <a:effectLst/>
                  <a:uLnTx/>
                  <a:uFillTx/>
                  <a:latin typeface="宋体" panose="02010600030101010101" pitchFamily="2" charset="-122"/>
                  <a:ea typeface="宋体" panose="02010600030101010101" pitchFamily="2" charset="-122"/>
                </a:rPr>
                <a:t>教材库存表</a:t>
              </a:r>
            </a:p>
          </p:txBody>
        </p:sp>
        <p:sp>
          <p:nvSpPr>
            <p:cNvPr id="110" name="Line 32">
              <a:extLst>
                <a:ext uri="{FF2B5EF4-FFF2-40B4-BE49-F238E27FC236}">
                  <a16:creationId xmlns:a16="http://schemas.microsoft.com/office/drawing/2014/main" id="{DFEB66DF-9B20-46C1-9A46-25A5898D9872}"/>
                </a:ext>
              </a:extLst>
            </p:cNvPr>
            <p:cNvSpPr>
              <a:spLocks noChangeShapeType="1"/>
            </p:cNvSpPr>
            <p:nvPr/>
          </p:nvSpPr>
          <p:spPr bwMode="auto">
            <a:xfrm>
              <a:off x="4967288" y="2392363"/>
              <a:ext cx="304800" cy="466725"/>
            </a:xfrm>
            <a:prstGeom prst="line">
              <a:avLst/>
            </a:prstGeom>
            <a:noFill/>
            <a:ln w="38100">
              <a:solidFill>
                <a:schemeClr val="tx1">
                  <a:lumMod val="50000"/>
                  <a:lumOff val="50000"/>
                </a:schemeClr>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63500" dir="3187806" algn="ctr" rotWithShape="0">
                      <a:schemeClr val="bg2"/>
                    </a:outerShdw>
                  </a:effectLst>
                </a14:hiddenEffects>
              </a:ext>
            </a:extLst>
          </p:spPr>
          <p:txBody>
            <a:bodyPr wrap="none" lIns="27000" tIns="27000" rIns="27000" bIns="2700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i="0" u="none" strike="noStrike" kern="0" cap="none" spc="0" normalizeH="0" baseline="-25000" noProof="0">
                <a:ln>
                  <a:noFill/>
                </a:ln>
                <a:effectLst/>
                <a:uLnTx/>
                <a:uFillTx/>
                <a:latin typeface="宋体" panose="02010600030101010101" pitchFamily="2" charset="-122"/>
                <a:ea typeface="宋体" panose="02010600030101010101" pitchFamily="2" charset="-122"/>
              </a:endParaRPr>
            </a:p>
          </p:txBody>
        </p:sp>
        <p:grpSp>
          <p:nvGrpSpPr>
            <p:cNvPr id="111" name="Group 33">
              <a:extLst>
                <a:ext uri="{FF2B5EF4-FFF2-40B4-BE49-F238E27FC236}">
                  <a16:creationId xmlns:a16="http://schemas.microsoft.com/office/drawing/2014/main" id="{476A165D-11EA-4CC0-B015-81ED98A92755}"/>
                </a:ext>
              </a:extLst>
            </p:cNvPr>
            <p:cNvGrpSpPr>
              <a:grpSpLocks/>
            </p:cNvGrpSpPr>
            <p:nvPr/>
          </p:nvGrpSpPr>
          <p:grpSpPr bwMode="auto">
            <a:xfrm>
              <a:off x="2062163" y="2244725"/>
              <a:ext cx="1295400" cy="76200"/>
              <a:chOff x="1728" y="912"/>
              <a:chExt cx="816" cy="48"/>
            </a:xfrm>
          </p:grpSpPr>
          <p:sp>
            <p:nvSpPr>
              <p:cNvPr id="120" name="Line 34">
                <a:extLst>
                  <a:ext uri="{FF2B5EF4-FFF2-40B4-BE49-F238E27FC236}">
                    <a16:creationId xmlns:a16="http://schemas.microsoft.com/office/drawing/2014/main" id="{C1AE5A47-0A78-464C-90A5-04F6CBF242EF}"/>
                  </a:ext>
                </a:extLst>
              </p:cNvPr>
              <p:cNvSpPr>
                <a:spLocks noChangeShapeType="1"/>
              </p:cNvSpPr>
              <p:nvPr/>
            </p:nvSpPr>
            <p:spPr bwMode="auto">
              <a:xfrm>
                <a:off x="1728" y="912"/>
                <a:ext cx="816" cy="0"/>
              </a:xfrm>
              <a:prstGeom prst="line">
                <a:avLst/>
              </a:prstGeom>
              <a:noFill/>
              <a:ln w="38100">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63500" dir="3187806" algn="ctr" rotWithShape="0">
                        <a:schemeClr val="bg2"/>
                      </a:outerShdw>
                    </a:effectLst>
                  </a14:hiddenEffects>
                </a:ext>
              </a:extLst>
            </p:spPr>
            <p:txBody>
              <a:bodyPr wrap="none" lIns="27000" tIns="27000" rIns="27000" bIns="2700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i="0" u="none" strike="noStrike" kern="0" cap="none" spc="0" normalizeH="0" baseline="-25000" noProof="0">
                  <a:ln>
                    <a:noFill/>
                  </a:ln>
                  <a:effectLst/>
                  <a:uLnTx/>
                  <a:uFillTx/>
                  <a:latin typeface="宋体" panose="02010600030101010101" pitchFamily="2" charset="-122"/>
                  <a:ea typeface="宋体" panose="02010600030101010101" pitchFamily="2" charset="-122"/>
                </a:endParaRPr>
              </a:p>
            </p:txBody>
          </p:sp>
          <p:sp>
            <p:nvSpPr>
              <p:cNvPr id="121" name="Line 35">
                <a:extLst>
                  <a:ext uri="{FF2B5EF4-FFF2-40B4-BE49-F238E27FC236}">
                    <a16:creationId xmlns:a16="http://schemas.microsoft.com/office/drawing/2014/main" id="{395226EA-2AD4-4794-B02D-62788D65DAEA}"/>
                  </a:ext>
                </a:extLst>
              </p:cNvPr>
              <p:cNvSpPr>
                <a:spLocks noChangeShapeType="1"/>
              </p:cNvSpPr>
              <p:nvPr/>
            </p:nvSpPr>
            <p:spPr bwMode="auto">
              <a:xfrm>
                <a:off x="1728" y="960"/>
                <a:ext cx="816" cy="0"/>
              </a:xfrm>
              <a:prstGeom prst="line">
                <a:avLst/>
              </a:prstGeom>
              <a:noFill/>
              <a:ln w="38100">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63500" dir="3187806" algn="ctr" rotWithShape="0">
                        <a:schemeClr val="bg2"/>
                      </a:outerShdw>
                    </a:effectLst>
                  </a14:hiddenEffects>
                </a:ext>
              </a:extLst>
            </p:spPr>
            <p:txBody>
              <a:bodyPr wrap="none" lIns="27000" tIns="27000" rIns="27000" bIns="2700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i="0" u="none" strike="noStrike" kern="0" cap="none" spc="0" normalizeH="0" baseline="-25000" noProof="0">
                  <a:ln>
                    <a:noFill/>
                  </a:ln>
                  <a:effectLst/>
                  <a:uLnTx/>
                  <a:uFillTx/>
                  <a:latin typeface="宋体" panose="02010600030101010101" pitchFamily="2" charset="-122"/>
                  <a:ea typeface="宋体" panose="02010600030101010101" pitchFamily="2" charset="-122"/>
                </a:endParaRPr>
              </a:p>
            </p:txBody>
          </p:sp>
        </p:grpSp>
        <p:sp>
          <p:nvSpPr>
            <p:cNvPr id="112" name="Text Box 36">
              <a:extLst>
                <a:ext uri="{FF2B5EF4-FFF2-40B4-BE49-F238E27FC236}">
                  <a16:creationId xmlns:a16="http://schemas.microsoft.com/office/drawing/2014/main" id="{EA4552C3-2697-4A47-BBE5-6A1A43EDD2FC}"/>
                </a:ext>
              </a:extLst>
            </p:cNvPr>
            <p:cNvSpPr txBox="1">
              <a:spLocks noChangeArrowheads="1"/>
            </p:cNvSpPr>
            <p:nvPr/>
          </p:nvSpPr>
          <p:spPr bwMode="auto">
            <a:xfrm>
              <a:off x="2060829" y="1841353"/>
              <a:ext cx="1334578" cy="320968"/>
            </a:xfrm>
            <a:prstGeom prst="rect">
              <a:avLst/>
            </a:prstGeom>
            <a:noFill/>
            <a:ln w="9525">
              <a:noFill/>
              <a:miter lim="800000"/>
              <a:headEnd/>
              <a:tailEnd/>
            </a:ln>
            <a:effectLst/>
            <a:extLst>
              <a:ext uri="{909E8E84-426E-40DD-AFC4-6F175D3DCCD1}">
                <a14:hiddenFill xmlns:a14="http://schemas.microsoft.com/office/drawing/2010/main">
                  <a:solidFill>
                    <a:srgbClr val="00CCFF"/>
                  </a:solidFill>
                </a14:hiddenFill>
              </a:ext>
              <a:ext uri="{AF507438-7753-43E0-B8FC-AC1667EBCBE1}">
                <a14:hiddenEffects xmlns:a14="http://schemas.microsoft.com/office/drawing/2010/main">
                  <a:effectLst>
                    <a:outerShdw dist="63500" dir="3187806" algn="ctr" rotWithShape="0">
                      <a:schemeClr val="bg2"/>
                    </a:outerShdw>
                  </a:effectLst>
                </a14:hiddenEffects>
              </a:ext>
            </a:extLst>
          </p:spPr>
          <p:txBody>
            <a:bodyPr wrap="none" lIns="27000" tIns="27000" rIns="27000" bIns="2700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i="0" u="none" strike="noStrike" kern="0" cap="none" spc="0" normalizeH="0" baseline="0" noProof="0">
                  <a:ln>
                    <a:noFill/>
                  </a:ln>
                  <a:effectLst/>
                  <a:uLnTx/>
                  <a:uFillTx/>
                  <a:latin typeface="宋体" panose="02010600030101010101" pitchFamily="2" charset="-122"/>
                  <a:ea typeface="宋体" panose="02010600030101010101" pitchFamily="2" charset="-122"/>
                </a:rPr>
                <a:t>F1:</a:t>
              </a:r>
              <a:r>
                <a:rPr kumimoji="1" lang="zh-CN" altLang="en-US" sz="2400" i="0" u="none" strike="noStrike" kern="0" cap="none" spc="0" normalizeH="0" baseline="0" noProof="0">
                  <a:ln>
                    <a:noFill/>
                  </a:ln>
                  <a:effectLst/>
                  <a:uLnTx/>
                  <a:uFillTx/>
                  <a:latin typeface="宋体" panose="02010600030101010101" pitchFamily="2" charset="-122"/>
                  <a:ea typeface="宋体" panose="02010600030101010101" pitchFamily="2" charset="-122"/>
                </a:rPr>
                <a:t>教学计划</a:t>
              </a:r>
            </a:p>
          </p:txBody>
        </p:sp>
        <p:sp>
          <p:nvSpPr>
            <p:cNvPr id="113" name="Line 37">
              <a:extLst>
                <a:ext uri="{FF2B5EF4-FFF2-40B4-BE49-F238E27FC236}">
                  <a16:creationId xmlns:a16="http://schemas.microsoft.com/office/drawing/2014/main" id="{273E7615-A376-4EBA-97E5-AC138E35FDAF}"/>
                </a:ext>
              </a:extLst>
            </p:cNvPr>
            <p:cNvSpPr>
              <a:spLocks noChangeShapeType="1"/>
            </p:cNvSpPr>
            <p:nvPr/>
          </p:nvSpPr>
          <p:spPr bwMode="auto">
            <a:xfrm>
              <a:off x="2770188" y="2382838"/>
              <a:ext cx="0" cy="447675"/>
            </a:xfrm>
            <a:prstGeom prst="line">
              <a:avLst/>
            </a:prstGeom>
            <a:noFill/>
            <a:ln w="38100">
              <a:solidFill>
                <a:schemeClr val="tx1">
                  <a:lumMod val="50000"/>
                  <a:lumOff val="5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63500" dir="3187806" algn="ctr" rotWithShape="0">
                      <a:schemeClr val="bg2"/>
                    </a:outerShdw>
                  </a:effectLst>
                </a14:hiddenEffects>
              </a:ext>
            </a:extLst>
          </p:spPr>
          <p:txBody>
            <a:bodyPr wrap="none" lIns="27000" tIns="27000" rIns="27000" bIns="2700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i="0" u="none" strike="noStrike" kern="0" cap="none" spc="0" normalizeH="0" baseline="-25000" noProof="0">
                <a:ln>
                  <a:noFill/>
                </a:ln>
                <a:effectLst/>
                <a:uLnTx/>
                <a:uFillTx/>
                <a:latin typeface="宋体" panose="02010600030101010101" pitchFamily="2" charset="-122"/>
                <a:ea typeface="宋体" panose="02010600030101010101" pitchFamily="2" charset="-122"/>
              </a:endParaRPr>
            </a:p>
          </p:txBody>
        </p:sp>
        <p:grpSp>
          <p:nvGrpSpPr>
            <p:cNvPr id="114" name="Group 38">
              <a:extLst>
                <a:ext uri="{FF2B5EF4-FFF2-40B4-BE49-F238E27FC236}">
                  <a16:creationId xmlns:a16="http://schemas.microsoft.com/office/drawing/2014/main" id="{8A987B48-61A1-46AF-94B6-18BEC17AB10E}"/>
                </a:ext>
              </a:extLst>
            </p:cNvPr>
            <p:cNvGrpSpPr>
              <a:grpSpLocks/>
            </p:cNvGrpSpPr>
            <p:nvPr/>
          </p:nvGrpSpPr>
          <p:grpSpPr bwMode="auto">
            <a:xfrm>
              <a:off x="6350000" y="2268538"/>
              <a:ext cx="1295400" cy="76200"/>
              <a:chOff x="1728" y="912"/>
              <a:chExt cx="816" cy="48"/>
            </a:xfrm>
          </p:grpSpPr>
          <p:sp>
            <p:nvSpPr>
              <p:cNvPr id="118" name="Line 39">
                <a:extLst>
                  <a:ext uri="{FF2B5EF4-FFF2-40B4-BE49-F238E27FC236}">
                    <a16:creationId xmlns:a16="http://schemas.microsoft.com/office/drawing/2014/main" id="{2925A957-7322-41E7-B841-CE51B99E90F9}"/>
                  </a:ext>
                </a:extLst>
              </p:cNvPr>
              <p:cNvSpPr>
                <a:spLocks noChangeShapeType="1"/>
              </p:cNvSpPr>
              <p:nvPr/>
            </p:nvSpPr>
            <p:spPr bwMode="auto">
              <a:xfrm>
                <a:off x="1728" y="912"/>
                <a:ext cx="816" cy="0"/>
              </a:xfrm>
              <a:prstGeom prst="line">
                <a:avLst/>
              </a:prstGeom>
              <a:noFill/>
              <a:ln w="38100">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63500" dir="3187806" algn="ctr" rotWithShape="0">
                        <a:schemeClr val="bg2"/>
                      </a:outerShdw>
                    </a:effectLst>
                  </a14:hiddenEffects>
                </a:ext>
              </a:extLst>
            </p:spPr>
            <p:txBody>
              <a:bodyPr wrap="none" lIns="27000" tIns="27000" rIns="27000" bIns="2700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i="0" u="none" strike="noStrike" kern="0" cap="none" spc="0" normalizeH="0" baseline="-25000" noProof="0">
                  <a:ln>
                    <a:noFill/>
                  </a:ln>
                  <a:effectLst/>
                  <a:uLnTx/>
                  <a:uFillTx/>
                  <a:latin typeface="宋体" panose="02010600030101010101" pitchFamily="2" charset="-122"/>
                  <a:ea typeface="宋体" panose="02010600030101010101" pitchFamily="2" charset="-122"/>
                </a:endParaRPr>
              </a:p>
            </p:txBody>
          </p:sp>
          <p:sp>
            <p:nvSpPr>
              <p:cNvPr id="119" name="Line 40">
                <a:extLst>
                  <a:ext uri="{FF2B5EF4-FFF2-40B4-BE49-F238E27FC236}">
                    <a16:creationId xmlns:a16="http://schemas.microsoft.com/office/drawing/2014/main" id="{D8C4EBBC-9F17-4ABB-A9C6-D40515DC25C5}"/>
                  </a:ext>
                </a:extLst>
              </p:cNvPr>
              <p:cNvSpPr>
                <a:spLocks noChangeShapeType="1"/>
              </p:cNvSpPr>
              <p:nvPr/>
            </p:nvSpPr>
            <p:spPr bwMode="auto">
              <a:xfrm>
                <a:off x="1728" y="960"/>
                <a:ext cx="816" cy="0"/>
              </a:xfrm>
              <a:prstGeom prst="line">
                <a:avLst/>
              </a:prstGeom>
              <a:noFill/>
              <a:ln w="38100">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63500" dir="3187806" algn="ctr" rotWithShape="0">
                        <a:schemeClr val="bg2"/>
                      </a:outerShdw>
                    </a:effectLst>
                  </a14:hiddenEffects>
                </a:ext>
              </a:extLst>
            </p:spPr>
            <p:txBody>
              <a:bodyPr wrap="none" lIns="27000" tIns="27000" rIns="27000" bIns="2700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i="0" u="none" strike="noStrike" kern="0" cap="none" spc="0" normalizeH="0" baseline="-25000" noProof="0">
                  <a:ln>
                    <a:noFill/>
                  </a:ln>
                  <a:effectLst/>
                  <a:uLnTx/>
                  <a:uFillTx/>
                  <a:latin typeface="宋体" panose="02010600030101010101" pitchFamily="2" charset="-122"/>
                  <a:ea typeface="宋体" panose="02010600030101010101" pitchFamily="2" charset="-122"/>
                </a:endParaRPr>
              </a:p>
            </p:txBody>
          </p:sp>
        </p:grpSp>
        <p:sp>
          <p:nvSpPr>
            <p:cNvPr id="115" name="Text Box 41">
              <a:extLst>
                <a:ext uri="{FF2B5EF4-FFF2-40B4-BE49-F238E27FC236}">
                  <a16:creationId xmlns:a16="http://schemas.microsoft.com/office/drawing/2014/main" id="{88E6BC55-408B-4349-A0E1-4B4725DD4FBE}"/>
                </a:ext>
              </a:extLst>
            </p:cNvPr>
            <p:cNvSpPr txBox="1">
              <a:spLocks noChangeArrowheads="1"/>
            </p:cNvSpPr>
            <p:nvPr/>
          </p:nvSpPr>
          <p:spPr bwMode="auto">
            <a:xfrm>
              <a:off x="6514822" y="1841353"/>
              <a:ext cx="1569011" cy="320968"/>
            </a:xfrm>
            <a:prstGeom prst="rect">
              <a:avLst/>
            </a:prstGeom>
            <a:noFill/>
            <a:ln w="9525">
              <a:noFill/>
              <a:miter lim="800000"/>
              <a:headEnd/>
              <a:tailEnd/>
            </a:ln>
            <a:effectLst/>
            <a:extLst>
              <a:ext uri="{909E8E84-426E-40DD-AFC4-6F175D3DCCD1}">
                <a14:hiddenFill xmlns:a14="http://schemas.microsoft.com/office/drawing/2010/main">
                  <a:solidFill>
                    <a:srgbClr val="00CCFF"/>
                  </a:solidFill>
                </a14:hiddenFill>
              </a:ext>
              <a:ext uri="{AF507438-7753-43E0-B8FC-AC1667EBCBE1}">
                <a14:hiddenEffects xmlns:a14="http://schemas.microsoft.com/office/drawing/2010/main">
                  <a:effectLst>
                    <a:outerShdw dist="63500" dir="3187806" algn="ctr" rotWithShape="0">
                      <a:schemeClr val="bg2"/>
                    </a:outerShdw>
                  </a:effectLst>
                </a14:hiddenEffects>
              </a:ext>
            </a:extLst>
          </p:spPr>
          <p:txBody>
            <a:bodyPr wrap="none" lIns="27000" tIns="27000" rIns="27000" bIns="2700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i="0" u="none" strike="noStrike" kern="0" cap="none" spc="0" normalizeH="0" baseline="0" noProof="0" dirty="0">
                  <a:ln>
                    <a:noFill/>
                  </a:ln>
                  <a:effectLst/>
                  <a:uLnTx/>
                  <a:uFillTx/>
                  <a:latin typeface="宋体" panose="02010600030101010101" pitchFamily="2" charset="-122"/>
                  <a:ea typeface="宋体" panose="02010600030101010101" pitchFamily="2" charset="-122"/>
                </a:rPr>
                <a:t>F3:</a:t>
              </a:r>
              <a:r>
                <a:rPr kumimoji="1" lang="zh-CN" altLang="en-US" sz="2400" i="0" u="none" strike="noStrike" kern="0" cap="none" spc="0" normalizeH="0" baseline="0" noProof="0" dirty="0">
                  <a:ln>
                    <a:noFill/>
                  </a:ln>
                  <a:effectLst/>
                  <a:uLnTx/>
                  <a:uFillTx/>
                  <a:latin typeface="宋体" panose="02010600030101010101" pitchFamily="2" charset="-122"/>
                  <a:ea typeface="宋体" panose="02010600030101010101" pitchFamily="2" charset="-122"/>
                </a:rPr>
                <a:t>销售记录表</a:t>
              </a:r>
            </a:p>
          </p:txBody>
        </p:sp>
        <p:sp>
          <p:nvSpPr>
            <p:cNvPr id="116" name="Line 42">
              <a:extLst>
                <a:ext uri="{FF2B5EF4-FFF2-40B4-BE49-F238E27FC236}">
                  <a16:creationId xmlns:a16="http://schemas.microsoft.com/office/drawing/2014/main" id="{BC866CA9-CC91-4D6D-BE1F-9232610B97CE}"/>
                </a:ext>
              </a:extLst>
            </p:cNvPr>
            <p:cNvSpPr>
              <a:spLocks noChangeShapeType="1"/>
            </p:cNvSpPr>
            <p:nvPr/>
          </p:nvSpPr>
          <p:spPr bwMode="auto">
            <a:xfrm flipV="1">
              <a:off x="5957888" y="2382838"/>
              <a:ext cx="977900" cy="542925"/>
            </a:xfrm>
            <a:prstGeom prst="line">
              <a:avLst/>
            </a:prstGeom>
            <a:noFill/>
            <a:ln w="38100">
              <a:solidFill>
                <a:schemeClr val="tx1">
                  <a:lumMod val="50000"/>
                  <a:lumOff val="5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63500" dir="3187806" algn="ctr" rotWithShape="0">
                      <a:schemeClr val="bg2"/>
                    </a:outerShdw>
                  </a:effectLst>
                </a14:hiddenEffects>
              </a:ext>
            </a:extLst>
          </p:spPr>
          <p:txBody>
            <a:bodyPr wrap="none" lIns="27000" tIns="27000" rIns="27000" bIns="2700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i="0" u="none" strike="noStrike" kern="0" cap="none" spc="0" normalizeH="0" baseline="-25000" noProof="0">
                <a:ln>
                  <a:noFill/>
                </a:ln>
                <a:effectLst/>
                <a:uLnTx/>
                <a:uFillTx/>
                <a:latin typeface="宋体" panose="02010600030101010101" pitchFamily="2" charset="-122"/>
                <a:ea typeface="宋体" panose="02010600030101010101" pitchFamily="2" charset="-122"/>
              </a:endParaRPr>
            </a:p>
          </p:txBody>
        </p:sp>
        <p:sp>
          <p:nvSpPr>
            <p:cNvPr id="117" name="Line 43">
              <a:extLst>
                <a:ext uri="{FF2B5EF4-FFF2-40B4-BE49-F238E27FC236}">
                  <a16:creationId xmlns:a16="http://schemas.microsoft.com/office/drawing/2014/main" id="{754043E8-0802-4F5B-BB3D-9010E8C111DC}"/>
                </a:ext>
              </a:extLst>
            </p:cNvPr>
            <p:cNvSpPr>
              <a:spLocks noChangeShapeType="1"/>
            </p:cNvSpPr>
            <p:nvPr/>
          </p:nvSpPr>
          <p:spPr bwMode="auto">
            <a:xfrm flipH="1">
              <a:off x="852488" y="3230563"/>
              <a:ext cx="1295400" cy="0"/>
            </a:xfrm>
            <a:prstGeom prst="line">
              <a:avLst/>
            </a:prstGeom>
            <a:noFill/>
            <a:ln w="38100">
              <a:solidFill>
                <a:schemeClr val="tx1">
                  <a:lumMod val="50000"/>
                  <a:lumOff val="50000"/>
                </a:schemeClr>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63500" dir="3187806" algn="ctr" rotWithShape="0">
                      <a:schemeClr val="bg2"/>
                    </a:outerShdw>
                  </a:effectLst>
                </a14:hiddenEffects>
              </a:ext>
            </a:extLst>
          </p:spPr>
          <p:txBody>
            <a:bodyPr wrap="none" lIns="27000" tIns="27000" rIns="27000" bIns="2700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i="0" u="none" strike="noStrike" kern="0" cap="none" spc="0" normalizeH="0" baseline="-25000" noProof="0">
                <a:ln>
                  <a:noFill/>
                </a:ln>
                <a:effectLst/>
                <a:uLnTx/>
                <a:uFillTx/>
                <a:latin typeface="宋体" panose="02010600030101010101" pitchFamily="2" charset="-122"/>
                <a:ea typeface="宋体" panose="02010600030101010101" pitchFamily="2" charset="-122"/>
              </a:endParaRPr>
            </a:p>
          </p:txBody>
        </p:sp>
      </p:grpSp>
      <p:sp>
        <p:nvSpPr>
          <p:cNvPr id="124" name="矩形 123">
            <a:extLst>
              <a:ext uri="{FF2B5EF4-FFF2-40B4-BE49-F238E27FC236}">
                <a16:creationId xmlns:a16="http://schemas.microsoft.com/office/drawing/2014/main" id="{54FBFEEF-DA59-4587-B3C4-CDA506F31F8F}"/>
              </a:ext>
            </a:extLst>
          </p:cNvPr>
          <p:cNvSpPr/>
          <p:nvPr/>
        </p:nvSpPr>
        <p:spPr>
          <a:xfrm>
            <a:off x="4007768" y="5839799"/>
            <a:ext cx="3900427" cy="584775"/>
          </a:xfrm>
          <a:prstGeom prst="rect">
            <a:avLst/>
          </a:prstGeom>
        </p:spPr>
        <p:txBody>
          <a:bodyPr wrap="none">
            <a:spAutoFit/>
          </a:bodyPr>
          <a:lstStyle/>
          <a:p>
            <a:pPr>
              <a:buSzTx/>
              <a:buFontTx/>
              <a:buNone/>
              <a:defRPr/>
            </a:pPr>
            <a:r>
              <a:rPr lang="zh-CN" altLang="en-US" dirty="0">
                <a:solidFill>
                  <a:srgbClr val="92D050"/>
                </a:solidFill>
                <a:latin typeface="微软雅黑" pitchFamily="34" charset="-122"/>
                <a:ea typeface="微软雅黑" pitchFamily="34" charset="-122"/>
              </a:rPr>
              <a:t>数据流程图</a:t>
            </a:r>
            <a:r>
              <a:rPr lang="en-US" altLang="zh-CN" dirty="0">
                <a:solidFill>
                  <a:srgbClr val="92D050"/>
                </a:solidFill>
                <a:latin typeface="微软雅黑" pitchFamily="34" charset="-122"/>
                <a:ea typeface="微软雅黑" pitchFamily="34" charset="-122"/>
              </a:rPr>
              <a:t>DFD</a:t>
            </a:r>
            <a:r>
              <a:rPr lang="zh-CN" altLang="en-US" dirty="0">
                <a:solidFill>
                  <a:srgbClr val="92D050"/>
                </a:solidFill>
                <a:latin typeface="微软雅黑" pitchFamily="34" charset="-122"/>
                <a:ea typeface="微软雅黑" pitchFamily="34" charset="-122"/>
              </a:rPr>
              <a:t>示例</a:t>
            </a:r>
          </a:p>
        </p:txBody>
      </p:sp>
    </p:spTree>
    <p:extLst>
      <p:ext uri="{BB962C8B-B14F-4D97-AF65-F5344CB8AC3E}">
        <p14:creationId xmlns:p14="http://schemas.microsoft.com/office/powerpoint/2010/main" val="3686927802"/>
      </p:ext>
    </p:extLst>
  </p:cSld>
  <p:clrMapOvr>
    <a:masterClrMapping/>
  </p:clrMapOvr>
  <p:transition spd="med">
    <p:random/>
    <p:sndAc>
      <p:stSnd>
        <p:snd r:embed="rId2" name="arrow.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5794" name="Text Box 2"/>
          <p:cNvSpPr txBox="1">
            <a:spLocks noChangeArrowheads="1"/>
          </p:cNvSpPr>
          <p:nvPr/>
        </p:nvSpPr>
        <p:spPr bwMode="auto">
          <a:xfrm>
            <a:off x="767408" y="73609"/>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defPPr>
              <a:defRPr lang="en-US"/>
            </a:defPPr>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a:t>需求分析</a:t>
            </a:r>
          </a:p>
        </p:txBody>
      </p:sp>
      <p:sp>
        <p:nvSpPr>
          <p:cNvPr id="34" name="矩形 33">
            <a:extLst>
              <a:ext uri="{FF2B5EF4-FFF2-40B4-BE49-F238E27FC236}">
                <a16:creationId xmlns:a16="http://schemas.microsoft.com/office/drawing/2014/main" id="{46728602-A209-4D6B-87E6-A5AA64F0B7DD}"/>
              </a:ext>
            </a:extLst>
          </p:cNvPr>
          <p:cNvSpPr/>
          <p:nvPr/>
        </p:nvSpPr>
        <p:spPr>
          <a:xfrm>
            <a:off x="3647728" y="6021288"/>
            <a:ext cx="4913525" cy="584775"/>
          </a:xfrm>
          <a:prstGeom prst="rect">
            <a:avLst/>
          </a:prstGeom>
        </p:spPr>
        <p:txBody>
          <a:bodyPr wrap="none">
            <a:spAutoFit/>
          </a:bodyPr>
          <a:lstStyle/>
          <a:p>
            <a:pPr>
              <a:buSzTx/>
              <a:buFontTx/>
              <a:buNone/>
              <a:defRPr/>
            </a:pPr>
            <a:r>
              <a:rPr lang="zh-CN" altLang="en-US" dirty="0">
                <a:solidFill>
                  <a:srgbClr val="92D050"/>
                </a:solidFill>
                <a:latin typeface="微软雅黑" pitchFamily="34" charset="-122"/>
                <a:ea typeface="微软雅黑" pitchFamily="34" charset="-122"/>
              </a:rPr>
              <a:t>数据字典</a:t>
            </a:r>
            <a:r>
              <a:rPr lang="en-US" altLang="zh-CN" dirty="0">
                <a:solidFill>
                  <a:srgbClr val="92D050"/>
                </a:solidFill>
                <a:latin typeface="微软雅黑" pitchFamily="34" charset="-122"/>
                <a:ea typeface="微软雅黑" pitchFamily="34" charset="-122"/>
              </a:rPr>
              <a:t>DD</a:t>
            </a:r>
            <a:r>
              <a:rPr lang="zh-CN" altLang="en-US" dirty="0">
                <a:solidFill>
                  <a:srgbClr val="92D050"/>
                </a:solidFill>
                <a:latin typeface="微软雅黑" pitchFamily="34" charset="-122"/>
                <a:ea typeface="微软雅黑" pitchFamily="34" charset="-122"/>
              </a:rPr>
              <a:t>示例（部分）</a:t>
            </a:r>
          </a:p>
        </p:txBody>
      </p:sp>
      <p:graphicFrame>
        <p:nvGraphicFramePr>
          <p:cNvPr id="35" name="Group 5">
            <a:extLst>
              <a:ext uri="{FF2B5EF4-FFF2-40B4-BE49-F238E27FC236}">
                <a16:creationId xmlns:a16="http://schemas.microsoft.com/office/drawing/2014/main" id="{F8985106-4A4C-4865-A055-7C7E7AD61138}"/>
              </a:ext>
            </a:extLst>
          </p:cNvPr>
          <p:cNvGraphicFramePr>
            <a:graphicFrameLocks noGrp="1"/>
          </p:cNvGraphicFramePr>
          <p:nvPr/>
        </p:nvGraphicFramePr>
        <p:xfrm>
          <a:off x="623392" y="1052736"/>
          <a:ext cx="3465618" cy="2133600"/>
        </p:xfrm>
        <a:graphic>
          <a:graphicData uri="http://schemas.openxmlformats.org/drawingml/2006/table">
            <a:tbl>
              <a:tblPr/>
              <a:tblGrid>
                <a:gridCol w="1252405">
                  <a:extLst>
                    <a:ext uri="{9D8B030D-6E8A-4147-A177-3AD203B41FA5}">
                      <a16:colId xmlns:a16="http://schemas.microsoft.com/office/drawing/2014/main" val="20000"/>
                    </a:ext>
                  </a:extLst>
                </a:gridCol>
                <a:gridCol w="2213213">
                  <a:extLst>
                    <a:ext uri="{9D8B030D-6E8A-4147-A177-3AD203B41FA5}">
                      <a16:colId xmlns:a16="http://schemas.microsoft.com/office/drawing/2014/main" val="20001"/>
                    </a:ext>
                  </a:extLst>
                </a:gridCol>
              </a:tblGrid>
              <a:tr h="24235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类别</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数据项</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4235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名称</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学号</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4235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别名</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学生</a:t>
                      </a: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ID</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4235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取值</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6位数字串</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2705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备注</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0"/>
                        </a:spcAft>
                        <a:buClr>
                          <a:srgbClr val="66FF33"/>
                        </a:buClr>
                        <a:buSzPct val="85000"/>
                        <a:buFont typeface="Wingdings" pitchFamily="2" charset="2"/>
                        <a:buNone/>
                        <a:tabLst/>
                      </a:pP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前两位为院号</a:t>
                      </a:r>
                    </a:p>
                    <a:p>
                      <a:pPr marL="0" marR="0" lvl="0" indent="0" algn="l" defTabSz="914400" rtl="0" eaLnBrk="1" fontAlgn="base" latinLnBrk="0" hangingPunct="1">
                        <a:lnSpc>
                          <a:spcPct val="100000"/>
                        </a:lnSpc>
                        <a:spcBef>
                          <a:spcPct val="0"/>
                        </a:spcBef>
                        <a:spcAft>
                          <a:spcPct val="0"/>
                        </a:spcAft>
                        <a:buClr>
                          <a:srgbClr val="66FF33"/>
                        </a:buClr>
                        <a:buSzPct val="85000"/>
                        <a:buFont typeface="Wingdings" pitchFamily="2" charset="2"/>
                        <a:buNone/>
                        <a:tabLst/>
                      </a:pP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接下来两位为班号</a:t>
                      </a:r>
                    </a:p>
                    <a:p>
                      <a:pPr marL="0" marR="0" lvl="0" indent="0" algn="l" defTabSz="914400" rtl="0" eaLnBrk="1" fontAlgn="base" latinLnBrk="0" hangingPunct="1">
                        <a:lnSpc>
                          <a:spcPct val="100000"/>
                        </a:lnSpc>
                        <a:spcBef>
                          <a:spcPct val="0"/>
                        </a:spcBef>
                        <a:spcAft>
                          <a:spcPct val="0"/>
                        </a:spcAft>
                        <a:buClr>
                          <a:srgbClr val="66FF33"/>
                        </a:buClr>
                        <a:buSzPct val="85000"/>
                        <a:buFont typeface="Wingdings" pitchFamily="2" charset="2"/>
                        <a:buNone/>
                        <a:tabLst/>
                      </a:pP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后两位为班内序号</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36" name="Group 25">
            <a:extLst>
              <a:ext uri="{FF2B5EF4-FFF2-40B4-BE49-F238E27FC236}">
                <a16:creationId xmlns:a16="http://schemas.microsoft.com/office/drawing/2014/main" id="{81D4453E-F3C9-4B63-BFD7-99FEA34C1C8E}"/>
              </a:ext>
            </a:extLst>
          </p:cNvPr>
          <p:cNvGraphicFramePr>
            <a:graphicFrameLocks noGrp="1"/>
          </p:cNvGraphicFramePr>
          <p:nvPr/>
        </p:nvGraphicFramePr>
        <p:xfrm>
          <a:off x="4562440" y="1035022"/>
          <a:ext cx="2276621" cy="1524000"/>
        </p:xfrm>
        <a:graphic>
          <a:graphicData uri="http://schemas.openxmlformats.org/drawingml/2006/table">
            <a:tbl>
              <a:tblPr/>
              <a:tblGrid>
                <a:gridCol w="960742">
                  <a:extLst>
                    <a:ext uri="{9D8B030D-6E8A-4147-A177-3AD203B41FA5}">
                      <a16:colId xmlns:a16="http://schemas.microsoft.com/office/drawing/2014/main" val="20000"/>
                    </a:ext>
                  </a:extLst>
                </a:gridCol>
                <a:gridCol w="1315879">
                  <a:extLst>
                    <a:ext uri="{9D8B030D-6E8A-4147-A177-3AD203B41FA5}">
                      <a16:colId xmlns:a16="http://schemas.microsoft.com/office/drawing/2014/main" val="20001"/>
                    </a:ext>
                  </a:extLst>
                </a:gridCol>
              </a:tblGrid>
              <a:tr h="216656">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类别</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数据项</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6656">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名称</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数量</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6656">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别名</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购书数量</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16656">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取值</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1~99</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16656">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备注</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37" name="Group 45">
            <a:extLst>
              <a:ext uri="{FF2B5EF4-FFF2-40B4-BE49-F238E27FC236}">
                <a16:creationId xmlns:a16="http://schemas.microsoft.com/office/drawing/2014/main" id="{9552E10F-7BBF-49E5-A004-C42D9DA18D6D}"/>
              </a:ext>
            </a:extLst>
          </p:cNvPr>
          <p:cNvGraphicFramePr>
            <a:graphicFrameLocks noGrp="1"/>
          </p:cNvGraphicFramePr>
          <p:nvPr/>
        </p:nvGraphicFramePr>
        <p:xfrm>
          <a:off x="7312492" y="1035022"/>
          <a:ext cx="4248472" cy="2438400"/>
        </p:xfrm>
        <a:graphic>
          <a:graphicData uri="http://schemas.openxmlformats.org/drawingml/2006/table">
            <a:tbl>
              <a:tblPr/>
              <a:tblGrid>
                <a:gridCol w="1721211">
                  <a:extLst>
                    <a:ext uri="{9D8B030D-6E8A-4147-A177-3AD203B41FA5}">
                      <a16:colId xmlns:a16="http://schemas.microsoft.com/office/drawing/2014/main" val="20000"/>
                    </a:ext>
                  </a:extLst>
                </a:gridCol>
                <a:gridCol w="2527261">
                  <a:extLst>
                    <a:ext uri="{9D8B030D-6E8A-4147-A177-3AD203B41FA5}">
                      <a16:colId xmlns:a16="http://schemas.microsoft.com/office/drawing/2014/main" val="20001"/>
                    </a:ext>
                  </a:extLst>
                </a:gridCol>
              </a:tblGrid>
              <a:tr h="19883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类别</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数据项</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9883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名称</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类别</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9883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别名</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经费代码</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95337">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取值</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just" defTabSz="914400" rtl="0" eaLnBrk="1" fontAlgn="base" latinLnBrk="0" hangingPunct="1">
                        <a:lnSpc>
                          <a:spcPct val="100000"/>
                        </a:lnSpc>
                        <a:spcBef>
                          <a:spcPct val="0"/>
                        </a:spcBef>
                        <a:spcAft>
                          <a:spcPct val="0"/>
                        </a:spcAft>
                        <a:buClr>
                          <a:srgbClr val="66FF33"/>
                        </a:buClr>
                        <a:buSzPct val="85000"/>
                        <a:buFont typeface="Wingdings" pitchFamily="2" charset="2"/>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J — </a:t>
                      </a: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教学</a:t>
                      </a:r>
                    </a:p>
                    <a:p>
                      <a:pPr marL="0" marR="0" lvl="0" indent="0" algn="just" defTabSz="914400" rtl="0" eaLnBrk="1" fontAlgn="base" latinLnBrk="0" hangingPunct="1">
                        <a:lnSpc>
                          <a:spcPct val="100000"/>
                        </a:lnSpc>
                        <a:spcBef>
                          <a:spcPct val="0"/>
                        </a:spcBef>
                        <a:spcAft>
                          <a:spcPct val="0"/>
                        </a:spcAft>
                        <a:buClr>
                          <a:srgbClr val="66FF33"/>
                        </a:buClr>
                        <a:buSzPct val="85000"/>
                        <a:buFont typeface="Wingdings" pitchFamily="2" charset="2"/>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Y — </a:t>
                      </a: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研究生</a:t>
                      </a:r>
                    </a:p>
                    <a:p>
                      <a:pPr marL="0" marR="0" lvl="0" indent="0" algn="just" defTabSz="914400" rtl="0" eaLnBrk="1" fontAlgn="base" latinLnBrk="0" hangingPunct="1">
                        <a:lnSpc>
                          <a:spcPct val="100000"/>
                        </a:lnSpc>
                        <a:spcBef>
                          <a:spcPct val="0"/>
                        </a:spcBef>
                        <a:spcAft>
                          <a:spcPct val="0"/>
                        </a:spcAft>
                        <a:buClr>
                          <a:srgbClr val="66FF33"/>
                        </a:buClr>
                        <a:buSzPct val="85000"/>
                        <a:buFont typeface="Wingdings" pitchFamily="2" charset="2"/>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D — </a:t>
                      </a: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贷款</a:t>
                      </a:r>
                    </a:p>
                    <a:p>
                      <a:pPr marL="0" marR="0" lvl="0" indent="0" algn="just" defTabSz="914400" rtl="0" eaLnBrk="1" fontAlgn="base" latinLnBrk="0" hangingPunct="1">
                        <a:lnSpc>
                          <a:spcPct val="100000"/>
                        </a:lnSpc>
                        <a:spcBef>
                          <a:spcPct val="0"/>
                        </a:spcBef>
                        <a:spcAft>
                          <a:spcPct val="0"/>
                        </a:spcAft>
                        <a:buClr>
                          <a:srgbClr val="66FF33"/>
                        </a:buClr>
                        <a:buSzPct val="85000"/>
                        <a:buFont typeface="Wingdings" pitchFamily="2" charset="2"/>
                        <a:buNone/>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K — </a:t>
                      </a: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科研 </a:t>
                      </a:r>
                      <a:endPar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98834">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备注</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0"/>
                        </a:spcAft>
                        <a:buClr>
                          <a:srgbClr val="66FF33"/>
                        </a:buClr>
                        <a:buSzPct val="85000"/>
                        <a:buFont typeface="Wingdings" pitchFamily="2" charset="2"/>
                        <a:buNone/>
                        <a:tabLst/>
                      </a:pPr>
                      <a:endPar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38" name="Group 5">
            <a:extLst>
              <a:ext uri="{FF2B5EF4-FFF2-40B4-BE49-F238E27FC236}">
                <a16:creationId xmlns:a16="http://schemas.microsoft.com/office/drawing/2014/main" id="{EA26DDB5-F07C-4DBA-831F-EF487515B8F0}"/>
              </a:ext>
            </a:extLst>
          </p:cNvPr>
          <p:cNvGraphicFramePr>
            <a:graphicFrameLocks noGrp="1"/>
          </p:cNvGraphicFramePr>
          <p:nvPr/>
        </p:nvGraphicFramePr>
        <p:xfrm>
          <a:off x="623392" y="4158607"/>
          <a:ext cx="5104924" cy="1524000"/>
        </p:xfrm>
        <a:graphic>
          <a:graphicData uri="http://schemas.openxmlformats.org/drawingml/2006/table">
            <a:tbl>
              <a:tblPr/>
              <a:tblGrid>
                <a:gridCol w="1136789">
                  <a:extLst>
                    <a:ext uri="{9D8B030D-6E8A-4147-A177-3AD203B41FA5}">
                      <a16:colId xmlns:a16="http://schemas.microsoft.com/office/drawing/2014/main" val="20000"/>
                    </a:ext>
                  </a:extLst>
                </a:gridCol>
                <a:gridCol w="3968135">
                  <a:extLst>
                    <a:ext uri="{9D8B030D-6E8A-4147-A177-3AD203B41FA5}">
                      <a16:colId xmlns:a16="http://schemas.microsoft.com/office/drawing/2014/main" val="20001"/>
                    </a:ext>
                  </a:extLst>
                </a:gridCol>
              </a:tblGrid>
              <a:tr h="27543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mn-cs"/>
                        </a:rPr>
                        <a:t>类别</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mn-cs"/>
                        </a:rPr>
                        <a:t>数据流</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6547">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kern="1200" cap="none" normalizeH="0" baseline="0">
                          <a:ln>
                            <a:noFill/>
                          </a:ln>
                          <a:solidFill>
                            <a:schemeClr val="tx1"/>
                          </a:solidFill>
                          <a:effectLst/>
                          <a:latin typeface="宋体" panose="02010600030101010101" pitchFamily="2" charset="-122"/>
                          <a:ea typeface="宋体" panose="02010600030101010101" pitchFamily="2" charset="-122"/>
                          <a:cs typeface="+mn-cs"/>
                        </a:rPr>
                        <a:t>名称</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mn-cs"/>
                        </a:rPr>
                        <a:t>学生</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543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kern="1200" cap="none" normalizeH="0" baseline="0">
                          <a:ln>
                            <a:noFill/>
                          </a:ln>
                          <a:solidFill>
                            <a:schemeClr val="tx1"/>
                          </a:solidFill>
                          <a:effectLst/>
                          <a:latin typeface="宋体" panose="02010600030101010101" pitchFamily="2" charset="-122"/>
                          <a:ea typeface="宋体" panose="02010600030101010101" pitchFamily="2" charset="-122"/>
                          <a:cs typeface="+mn-cs"/>
                        </a:rPr>
                        <a:t>别名</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mn-cs"/>
                        </a:rPr>
                        <a:t>学生基本信息</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6547">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kern="1200" cap="none" normalizeH="0" baseline="0">
                          <a:ln>
                            <a:noFill/>
                          </a:ln>
                          <a:solidFill>
                            <a:schemeClr val="tx1"/>
                          </a:solidFill>
                          <a:effectLst/>
                          <a:latin typeface="宋体" panose="02010600030101010101" pitchFamily="2" charset="-122"/>
                          <a:ea typeface="宋体" panose="02010600030101010101" pitchFamily="2" charset="-122"/>
                          <a:cs typeface="+mn-cs"/>
                        </a:rPr>
                        <a:t>组成</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kern="1200" cap="none" normalizeH="0" baseline="0">
                          <a:ln>
                            <a:noFill/>
                          </a:ln>
                          <a:solidFill>
                            <a:schemeClr val="tx1"/>
                          </a:solidFill>
                          <a:effectLst/>
                          <a:latin typeface="宋体" panose="02010600030101010101" pitchFamily="2" charset="-122"/>
                          <a:ea typeface="宋体" panose="02010600030101010101" pitchFamily="2" charset="-122"/>
                          <a:cs typeface="+mn-cs"/>
                        </a:rPr>
                        <a:t>学号,姓名,性别,出生日期,籍贯</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5432">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kern="1200" cap="none" normalizeH="0" baseline="0">
                          <a:ln>
                            <a:noFill/>
                          </a:ln>
                          <a:solidFill>
                            <a:schemeClr val="tx1"/>
                          </a:solidFill>
                          <a:effectLst/>
                          <a:latin typeface="宋体" panose="02010600030101010101" pitchFamily="2" charset="-122"/>
                          <a:ea typeface="宋体" panose="02010600030101010101" pitchFamily="2" charset="-122"/>
                          <a:cs typeface="+mn-cs"/>
                        </a:rPr>
                        <a:t>备注</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mn-cs"/>
                        </a:rPr>
                        <a:t>每个学生只有一人唯一的学号</a:t>
                      </a:r>
                      <a:endParaRPr kumimoji="0" lang="en-US" altLang="zh-CN" sz="2000" b="0"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mn-cs"/>
                      </a:endParaRP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39" name="Group 5">
            <a:extLst>
              <a:ext uri="{FF2B5EF4-FFF2-40B4-BE49-F238E27FC236}">
                <a16:creationId xmlns:a16="http://schemas.microsoft.com/office/drawing/2014/main" id="{E8262213-5FF4-44A0-9543-990D0446CDBD}"/>
              </a:ext>
            </a:extLst>
          </p:cNvPr>
          <p:cNvGraphicFramePr>
            <a:graphicFrameLocks noGrp="1"/>
          </p:cNvGraphicFramePr>
          <p:nvPr/>
        </p:nvGraphicFramePr>
        <p:xfrm>
          <a:off x="6647439" y="3860734"/>
          <a:ext cx="4913525" cy="1828800"/>
        </p:xfrm>
        <a:graphic>
          <a:graphicData uri="http://schemas.openxmlformats.org/drawingml/2006/table">
            <a:tbl>
              <a:tblPr/>
              <a:tblGrid>
                <a:gridCol w="762816">
                  <a:extLst>
                    <a:ext uri="{9D8B030D-6E8A-4147-A177-3AD203B41FA5}">
                      <a16:colId xmlns:a16="http://schemas.microsoft.com/office/drawing/2014/main" val="20000"/>
                    </a:ext>
                  </a:extLst>
                </a:gridCol>
                <a:gridCol w="4150709">
                  <a:extLst>
                    <a:ext uri="{9D8B030D-6E8A-4147-A177-3AD203B41FA5}">
                      <a16:colId xmlns:a16="http://schemas.microsoft.com/office/drawing/2014/main" val="20001"/>
                    </a:ext>
                  </a:extLst>
                </a:gridCol>
              </a:tblGrid>
              <a:tr h="228796">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mn-cs"/>
                        </a:rPr>
                        <a:t>类别</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mn-cs"/>
                        </a:rPr>
                        <a:t>数据存储</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8796">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mn-cs"/>
                        </a:rPr>
                        <a:t>名称</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mn-cs"/>
                        </a:rPr>
                        <a:t>教材库存帐本</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8796">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kern="1200" cap="none" normalizeH="0" baseline="0">
                          <a:ln>
                            <a:noFill/>
                          </a:ln>
                          <a:solidFill>
                            <a:schemeClr val="tx1"/>
                          </a:solidFill>
                          <a:effectLst/>
                          <a:latin typeface="宋体" panose="02010600030101010101" pitchFamily="2" charset="-122"/>
                          <a:ea typeface="宋体" panose="02010600030101010101" pitchFamily="2" charset="-122"/>
                          <a:cs typeface="+mn-cs"/>
                        </a:rPr>
                        <a:t>别名</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000" b="0"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mn-cs"/>
                      </a:endParaRP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8796">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kern="1200" cap="none" normalizeH="0" baseline="0">
                          <a:ln>
                            <a:noFill/>
                          </a:ln>
                          <a:solidFill>
                            <a:schemeClr val="tx1"/>
                          </a:solidFill>
                          <a:effectLst/>
                          <a:latin typeface="宋体" panose="02010600030101010101" pitchFamily="2" charset="-122"/>
                          <a:ea typeface="宋体" panose="02010600030101010101" pitchFamily="2" charset="-122"/>
                          <a:cs typeface="+mn-cs"/>
                        </a:rPr>
                        <a:t>组成</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mn-cs"/>
                        </a:rPr>
                        <a:t>书号,书名,出版社,作者,数量,单价</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28796">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kern="1200" cap="none" normalizeH="0" baseline="0">
                          <a:ln>
                            <a:noFill/>
                          </a:ln>
                          <a:solidFill>
                            <a:schemeClr val="tx1"/>
                          </a:solidFill>
                          <a:effectLst/>
                          <a:latin typeface="宋体" panose="02010600030101010101" pitchFamily="2" charset="-122"/>
                          <a:ea typeface="宋体" panose="02010600030101010101" pitchFamily="2" charset="-122"/>
                          <a:cs typeface="+mn-cs"/>
                        </a:rPr>
                        <a:t>组织</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mn-cs"/>
                        </a:rPr>
                        <a:t>按书号升序排列,随机存取</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28796">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kern="1200" cap="none" normalizeH="0" baseline="0">
                          <a:ln>
                            <a:noFill/>
                          </a:ln>
                          <a:solidFill>
                            <a:schemeClr val="tx1"/>
                          </a:solidFill>
                          <a:effectLst/>
                          <a:latin typeface="宋体" panose="02010600030101010101" pitchFamily="2" charset="-122"/>
                          <a:ea typeface="宋体" panose="02010600030101010101" pitchFamily="2" charset="-122"/>
                          <a:cs typeface="+mn-cs"/>
                        </a:rPr>
                        <a:t>备注</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mn-cs"/>
                        </a:rPr>
                        <a:t>每学期期末盘存</a:t>
                      </a:r>
                    </a:p>
                  </a:txBody>
                  <a:tcPr marL="5715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893053652"/>
      </p:ext>
    </p:extLst>
  </p:cSld>
  <p:clrMapOvr>
    <a:masterClrMapping/>
  </p:clrMapOvr>
  <p:transition spd="med">
    <p:random/>
    <p:sndAc>
      <p:stSnd>
        <p:snd r:embed="rId2" name="arrow.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5794" name="Text Box 2"/>
          <p:cNvSpPr txBox="1">
            <a:spLocks noChangeArrowheads="1"/>
          </p:cNvSpPr>
          <p:nvPr/>
        </p:nvSpPr>
        <p:spPr bwMode="auto">
          <a:xfrm>
            <a:off x="767408" y="73609"/>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defPPr>
              <a:defRPr lang="en-US"/>
            </a:defPPr>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a:t>需求分析</a:t>
            </a:r>
          </a:p>
        </p:txBody>
      </p:sp>
      <p:sp>
        <p:nvSpPr>
          <p:cNvPr id="1185814" name="Text Box 22"/>
          <p:cNvSpPr txBox="1">
            <a:spLocks noChangeArrowheads="1"/>
          </p:cNvSpPr>
          <p:nvPr/>
        </p:nvSpPr>
        <p:spPr bwMode="auto">
          <a:xfrm>
            <a:off x="1703388" y="692151"/>
            <a:ext cx="4267200" cy="574675"/>
          </a:xfrm>
          <a:prstGeom prst="rect">
            <a:avLst/>
          </a:prstGeom>
          <a:noFill/>
          <a:ln w="12700" cap="sq">
            <a:noFill/>
            <a:miter lim="800000"/>
            <a:headEnd type="none" w="sm" len="sm"/>
            <a:tailEnd type="none" w="sm" len="sm"/>
          </a:ln>
          <a:effectLst/>
        </p:spPr>
        <p:txBody>
          <a:bodyPr/>
          <a:lstStyle/>
          <a:p>
            <a:pPr marL="377825" indent="-377825">
              <a:spcBef>
                <a:spcPct val="50000"/>
              </a:spcBef>
              <a:spcAft>
                <a:spcPct val="0"/>
              </a:spcAft>
              <a:defRPr/>
            </a:pPr>
            <a:endParaRPr lang="zh-CN" altLang="en-US" sz="2800">
              <a:effectLst>
                <a:outerShdw blurRad="38100" dist="38100" dir="2700000" algn="tl">
                  <a:srgbClr val="000000"/>
                </a:outerShdw>
              </a:effectLst>
              <a:latin typeface="Times New Roman" pitchFamily="18" charset="0"/>
            </a:endParaRPr>
          </a:p>
        </p:txBody>
      </p:sp>
      <p:grpSp>
        <p:nvGrpSpPr>
          <p:cNvPr id="2" name="组合 1">
            <a:extLst>
              <a:ext uri="{FF2B5EF4-FFF2-40B4-BE49-F238E27FC236}">
                <a16:creationId xmlns:a16="http://schemas.microsoft.com/office/drawing/2014/main" id="{647F2693-D399-46B5-A3A0-EA220DB55259}"/>
              </a:ext>
            </a:extLst>
          </p:cNvPr>
          <p:cNvGrpSpPr/>
          <p:nvPr/>
        </p:nvGrpSpPr>
        <p:grpSpPr>
          <a:xfrm>
            <a:off x="901378" y="2132857"/>
            <a:ext cx="10307190" cy="4116844"/>
            <a:chOff x="901378" y="1831511"/>
            <a:chExt cx="10020300" cy="4418190"/>
          </a:xfrm>
        </p:grpSpPr>
        <p:sp>
          <p:nvSpPr>
            <p:cNvPr id="1185795" name="Oval 3"/>
            <p:cNvSpPr>
              <a:spLocks noChangeArrowheads="1"/>
            </p:cNvSpPr>
            <p:nvPr/>
          </p:nvSpPr>
          <p:spPr bwMode="auto">
            <a:xfrm>
              <a:off x="8040365" y="3847636"/>
              <a:ext cx="2133600" cy="1600200"/>
            </a:xfrm>
            <a:prstGeom prst="ellipse">
              <a:avLst/>
            </a:prstGeom>
            <a:solidFill>
              <a:srgbClr val="CCCCFF"/>
            </a:solidFill>
            <a:ln w="12700" cap="sq">
              <a:solidFill>
                <a:srgbClr val="000000"/>
              </a:solidFill>
              <a:round/>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85796" name="Oval 4"/>
            <p:cNvSpPr>
              <a:spLocks noChangeArrowheads="1"/>
            </p:cNvSpPr>
            <p:nvPr/>
          </p:nvSpPr>
          <p:spPr bwMode="auto">
            <a:xfrm>
              <a:off x="1771328" y="3842873"/>
              <a:ext cx="3962400" cy="1511300"/>
            </a:xfrm>
            <a:prstGeom prst="ellipse">
              <a:avLst/>
            </a:prstGeom>
            <a:solidFill>
              <a:srgbClr val="CCCCFF"/>
            </a:solidFill>
            <a:ln w="12700" cap="sq">
              <a:solidFill>
                <a:srgbClr val="000000"/>
              </a:solidFill>
              <a:round/>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85797" name="Oval 5"/>
            <p:cNvSpPr>
              <a:spLocks noChangeArrowheads="1"/>
            </p:cNvSpPr>
            <p:nvPr/>
          </p:nvSpPr>
          <p:spPr bwMode="auto">
            <a:xfrm>
              <a:off x="1847528" y="1831511"/>
              <a:ext cx="1447800" cy="1447800"/>
            </a:xfrm>
            <a:prstGeom prst="ellipse">
              <a:avLst/>
            </a:prstGeom>
            <a:solidFill>
              <a:srgbClr val="6600FF"/>
            </a:solidFill>
            <a:ln w="12700" cap="sq">
              <a:solidFill>
                <a:schemeClr val="tx1"/>
              </a:solidFill>
              <a:round/>
              <a:headEnd/>
              <a:tailEnd/>
            </a:ln>
            <a:effectLst>
              <a:outerShdw dist="35921" dir="2700000" algn="ctr" rotWithShape="0">
                <a:schemeClr val="bg2"/>
              </a:outerShdw>
            </a:effectLst>
          </p:spPr>
          <p:txBody>
            <a:bodyPr lIns="0" tIns="0" rIns="0" bIns="0" anchor="ctr" anchorCtr="1"/>
            <a:lstStyle/>
            <a:p>
              <a:pPr algn="ctr">
                <a:spcAft>
                  <a:spcPct val="0"/>
                </a:spcAft>
                <a:buSzTx/>
                <a:buFontTx/>
                <a:buNone/>
                <a:defRPr/>
              </a:pPr>
              <a:r>
                <a:rPr lang="zh-CN" altLang="en-US" sz="2400">
                  <a:effectLst>
                    <a:outerShdw blurRad="38100" dist="38100" dir="2700000" algn="tl">
                      <a:srgbClr val="000000"/>
                    </a:outerShdw>
                  </a:effectLst>
                  <a:latin typeface="微软雅黑" pitchFamily="34" charset="-122"/>
                  <a:ea typeface="微软雅黑" pitchFamily="34" charset="-122"/>
                </a:rPr>
                <a:t>调查组织机构情况</a:t>
              </a:r>
            </a:p>
          </p:txBody>
        </p:sp>
        <p:sp>
          <p:nvSpPr>
            <p:cNvPr id="1185798" name="Oval 6"/>
            <p:cNvSpPr>
              <a:spLocks noChangeArrowheads="1"/>
            </p:cNvSpPr>
            <p:nvPr/>
          </p:nvSpPr>
          <p:spPr bwMode="auto">
            <a:xfrm>
              <a:off x="4006528" y="1831511"/>
              <a:ext cx="1447800" cy="1447800"/>
            </a:xfrm>
            <a:prstGeom prst="ellipse">
              <a:avLst/>
            </a:prstGeom>
            <a:solidFill>
              <a:srgbClr val="6600FF"/>
            </a:solidFill>
            <a:ln w="12700" cap="sq">
              <a:solidFill>
                <a:schemeClr val="tx1"/>
              </a:solidFill>
              <a:round/>
              <a:headEnd/>
              <a:tailEnd/>
            </a:ln>
            <a:effectLst>
              <a:outerShdw dist="35921" dir="2700000" algn="ctr" rotWithShape="0">
                <a:schemeClr val="bg2"/>
              </a:outerShdw>
            </a:effectLst>
          </p:spPr>
          <p:txBody>
            <a:bodyPr lIns="0" tIns="0" rIns="0" bIns="0" anchor="ctr" anchorCtr="1"/>
            <a:lstStyle/>
            <a:p>
              <a:pPr algn="ctr">
                <a:spcAft>
                  <a:spcPct val="0"/>
                </a:spcAft>
                <a:buSzTx/>
                <a:buFontTx/>
                <a:buNone/>
                <a:defRPr/>
              </a:pPr>
              <a:r>
                <a:rPr lang="zh-CN" altLang="en-US" sz="2400">
                  <a:effectLst>
                    <a:outerShdw blurRad="38100" dist="38100" dir="2700000" algn="tl">
                      <a:srgbClr val="000000"/>
                    </a:outerShdw>
                  </a:effectLst>
                  <a:latin typeface="微软雅黑" pitchFamily="34" charset="-122"/>
                  <a:ea typeface="微软雅黑" pitchFamily="34" charset="-122"/>
                </a:rPr>
                <a:t>熟悉业务活动</a:t>
              </a:r>
            </a:p>
          </p:txBody>
        </p:sp>
        <p:sp>
          <p:nvSpPr>
            <p:cNvPr id="1185799" name="Oval 7"/>
            <p:cNvSpPr>
              <a:spLocks noChangeArrowheads="1"/>
            </p:cNvSpPr>
            <p:nvPr/>
          </p:nvSpPr>
          <p:spPr bwMode="auto">
            <a:xfrm>
              <a:off x="6165528" y="1831511"/>
              <a:ext cx="1447800" cy="1447800"/>
            </a:xfrm>
            <a:prstGeom prst="ellipse">
              <a:avLst/>
            </a:prstGeom>
            <a:solidFill>
              <a:srgbClr val="6600FF"/>
            </a:solidFill>
            <a:ln w="12700" cap="sq">
              <a:solidFill>
                <a:schemeClr val="tx1"/>
              </a:solidFill>
              <a:round/>
              <a:headEnd/>
              <a:tailEnd/>
            </a:ln>
            <a:effectLst>
              <a:outerShdw dist="35921" dir="2700000" algn="ctr" rotWithShape="0">
                <a:schemeClr val="bg2"/>
              </a:outerShdw>
            </a:effectLst>
          </p:spPr>
          <p:txBody>
            <a:bodyPr lIns="0" tIns="0" rIns="0" bIns="0" anchor="ctr" anchorCtr="1"/>
            <a:lstStyle/>
            <a:p>
              <a:pPr algn="ctr">
                <a:spcAft>
                  <a:spcPct val="0"/>
                </a:spcAft>
                <a:buSzTx/>
                <a:buFontTx/>
                <a:buNone/>
                <a:defRPr/>
              </a:pPr>
              <a:r>
                <a:rPr lang="zh-CN" altLang="en-US" sz="2400">
                  <a:effectLst>
                    <a:outerShdw blurRad="38100" dist="38100" dir="2700000" algn="tl">
                      <a:srgbClr val="000000"/>
                    </a:outerShdw>
                  </a:effectLst>
                  <a:latin typeface="微软雅黑" pitchFamily="34" charset="-122"/>
                  <a:ea typeface="微软雅黑" pitchFamily="34" charset="-122"/>
                </a:rPr>
                <a:t>明确用户需求</a:t>
              </a:r>
            </a:p>
          </p:txBody>
        </p:sp>
        <p:sp>
          <p:nvSpPr>
            <p:cNvPr id="1185800" name="Oval 8"/>
            <p:cNvSpPr>
              <a:spLocks noChangeArrowheads="1"/>
            </p:cNvSpPr>
            <p:nvPr/>
          </p:nvSpPr>
          <p:spPr bwMode="auto">
            <a:xfrm>
              <a:off x="8324528" y="1831511"/>
              <a:ext cx="1447800" cy="1447800"/>
            </a:xfrm>
            <a:prstGeom prst="ellipse">
              <a:avLst/>
            </a:prstGeom>
            <a:solidFill>
              <a:srgbClr val="6600FF"/>
            </a:solidFill>
            <a:ln w="12700" cap="sq">
              <a:solidFill>
                <a:schemeClr val="tx1"/>
              </a:solidFill>
              <a:round/>
              <a:headEnd/>
              <a:tailEnd/>
            </a:ln>
            <a:effectLst>
              <a:outerShdw dist="35921" dir="2700000" algn="ctr" rotWithShape="0">
                <a:schemeClr val="bg2"/>
              </a:outerShdw>
            </a:effectLst>
          </p:spPr>
          <p:txBody>
            <a:bodyPr lIns="0" tIns="0" rIns="0" bIns="0" anchor="ctr" anchorCtr="1"/>
            <a:lstStyle/>
            <a:p>
              <a:pPr algn="ctr">
                <a:spcAft>
                  <a:spcPct val="0"/>
                </a:spcAft>
                <a:buSzTx/>
                <a:buFontTx/>
                <a:buNone/>
                <a:defRPr/>
              </a:pPr>
              <a:r>
                <a:rPr lang="zh-CN" altLang="en-US" sz="2400">
                  <a:effectLst>
                    <a:outerShdw blurRad="38100" dist="38100" dir="2700000" algn="tl">
                      <a:srgbClr val="000000"/>
                    </a:outerShdw>
                  </a:effectLst>
                  <a:latin typeface="微软雅黑" pitchFamily="34" charset="-122"/>
                  <a:ea typeface="微软雅黑" pitchFamily="34" charset="-122"/>
                </a:rPr>
                <a:t>确定系统边界</a:t>
              </a:r>
            </a:p>
          </p:txBody>
        </p:sp>
        <p:cxnSp>
          <p:nvCxnSpPr>
            <p:cNvPr id="4105" name="AutoShape 9"/>
            <p:cNvCxnSpPr>
              <a:cxnSpLocks noChangeShapeType="1"/>
              <a:stCxn id="1185797" idx="6"/>
              <a:endCxn id="1185798" idx="2"/>
            </p:cNvCxnSpPr>
            <p:nvPr/>
          </p:nvCxnSpPr>
          <p:spPr bwMode="auto">
            <a:xfrm>
              <a:off x="3295328" y="2555411"/>
              <a:ext cx="711200" cy="0"/>
            </a:xfrm>
            <a:prstGeom prst="straightConnector1">
              <a:avLst/>
            </a:prstGeom>
            <a:noFill/>
            <a:ln w="28575"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106" name="AutoShape 10"/>
            <p:cNvCxnSpPr>
              <a:cxnSpLocks noChangeShapeType="1"/>
              <a:stCxn id="1185798" idx="6"/>
              <a:endCxn id="1185799" idx="2"/>
            </p:cNvCxnSpPr>
            <p:nvPr/>
          </p:nvCxnSpPr>
          <p:spPr bwMode="auto">
            <a:xfrm>
              <a:off x="5454328" y="2555411"/>
              <a:ext cx="711200" cy="0"/>
            </a:xfrm>
            <a:prstGeom prst="straightConnector1">
              <a:avLst/>
            </a:prstGeom>
            <a:noFill/>
            <a:ln w="28575"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107" name="AutoShape 11"/>
            <p:cNvCxnSpPr>
              <a:cxnSpLocks noChangeShapeType="1"/>
              <a:stCxn id="1185799" idx="6"/>
              <a:endCxn id="1185800" idx="2"/>
            </p:cNvCxnSpPr>
            <p:nvPr/>
          </p:nvCxnSpPr>
          <p:spPr bwMode="auto">
            <a:xfrm>
              <a:off x="7613328" y="2555411"/>
              <a:ext cx="711200" cy="0"/>
            </a:xfrm>
            <a:prstGeom prst="straightConnector1">
              <a:avLst/>
            </a:prstGeom>
            <a:noFill/>
            <a:ln w="28575"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185804" name="AutoShape 12"/>
            <p:cNvSpPr>
              <a:spLocks noChangeArrowheads="1"/>
            </p:cNvSpPr>
            <p:nvPr/>
          </p:nvSpPr>
          <p:spPr bwMode="auto">
            <a:xfrm>
              <a:off x="2076128" y="4300073"/>
              <a:ext cx="990600" cy="533400"/>
            </a:xfrm>
            <a:prstGeom prst="roundRect">
              <a:avLst>
                <a:gd name="adj" fmla="val 16667"/>
              </a:avLst>
            </a:prstGeom>
            <a:solidFill>
              <a:srgbClr val="F5F5FF"/>
            </a:solidFill>
            <a:ln w="12700" cap="sq">
              <a:solidFill>
                <a:srgbClr val="000000"/>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C0C0C0"/>
                    </a:outerShdw>
                  </a:effectLst>
                  <a:latin typeface="微软雅黑" pitchFamily="34" charset="-122"/>
                  <a:ea typeface="微软雅黑" pitchFamily="34" charset="-122"/>
                </a:rPr>
                <a:t>用户</a:t>
              </a:r>
            </a:p>
          </p:txBody>
        </p:sp>
        <p:sp>
          <p:nvSpPr>
            <p:cNvPr id="1185805" name="AutoShape 13"/>
            <p:cNvSpPr>
              <a:spLocks noChangeArrowheads="1"/>
            </p:cNvSpPr>
            <p:nvPr/>
          </p:nvSpPr>
          <p:spPr bwMode="auto">
            <a:xfrm>
              <a:off x="4095428" y="4223873"/>
              <a:ext cx="1219200" cy="762000"/>
            </a:xfrm>
            <a:prstGeom prst="roundRect">
              <a:avLst>
                <a:gd name="adj" fmla="val 16667"/>
              </a:avLst>
            </a:prstGeom>
            <a:solidFill>
              <a:srgbClr val="F5F5FF"/>
            </a:solidFill>
            <a:ln w="12700" cap="sq">
              <a:solidFill>
                <a:srgbClr val="000000"/>
              </a:solidFill>
              <a:round/>
              <a:headEnd/>
              <a:tailEnd/>
            </a:ln>
            <a:effectLst>
              <a:outerShdw dist="35921" dir="2700000" algn="ctr" rotWithShape="0">
                <a:schemeClr val="bg2"/>
              </a:outerShdw>
            </a:effectLst>
          </p:spPr>
          <p:txBody>
            <a:bodyPr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C0C0C0"/>
                    </a:outerShdw>
                  </a:effectLst>
                  <a:latin typeface="微软雅黑" pitchFamily="34" charset="-122"/>
                  <a:ea typeface="微软雅黑" pitchFamily="34" charset="-122"/>
                </a:rPr>
                <a:t>数据库设计员</a:t>
              </a:r>
            </a:p>
          </p:txBody>
        </p:sp>
        <p:sp>
          <p:nvSpPr>
            <p:cNvPr id="1185806" name="AutoShape 14"/>
            <p:cNvSpPr>
              <a:spLocks noChangeArrowheads="1"/>
            </p:cNvSpPr>
            <p:nvPr/>
          </p:nvSpPr>
          <p:spPr bwMode="auto">
            <a:xfrm>
              <a:off x="3219128" y="4300073"/>
              <a:ext cx="685800" cy="457200"/>
            </a:xfrm>
            <a:prstGeom prst="leftRightArrow">
              <a:avLst>
                <a:gd name="adj1" fmla="val 50000"/>
                <a:gd name="adj2" fmla="val 30000"/>
              </a:avLst>
            </a:prstGeom>
            <a:solidFill>
              <a:srgbClr val="CCFFCC"/>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85807" name="Line 15"/>
            <p:cNvSpPr>
              <a:spLocks noChangeShapeType="1"/>
            </p:cNvSpPr>
            <p:nvPr/>
          </p:nvSpPr>
          <p:spPr bwMode="auto">
            <a:xfrm flipH="1" flipV="1">
              <a:off x="2914329" y="3279312"/>
              <a:ext cx="231775" cy="490537"/>
            </a:xfrm>
            <a:prstGeom prst="line">
              <a:avLst/>
            </a:prstGeom>
            <a:noFill/>
            <a:ln w="28575" cap="sq">
              <a:solidFill>
                <a:schemeClr val="tx1"/>
              </a:solidFill>
              <a:round/>
              <a:headEnd/>
              <a:tailEnd type="triangle" w="med" len="med"/>
            </a:ln>
            <a:effectLst/>
          </p:spPr>
          <p:txBody>
            <a:bodyPr wrap="none" lIns="0" tIns="0" rIns="0" bIns="0" anchor="ctr"/>
            <a:lstStyle/>
            <a:p>
              <a:pPr>
                <a:defRPr/>
              </a:pPr>
              <a:endParaRPr lang="zh-CN" altLang="en-US"/>
            </a:p>
          </p:txBody>
        </p:sp>
        <p:sp>
          <p:nvSpPr>
            <p:cNvPr id="1185808" name="Line 16"/>
            <p:cNvSpPr>
              <a:spLocks noChangeShapeType="1"/>
            </p:cNvSpPr>
            <p:nvPr/>
          </p:nvSpPr>
          <p:spPr bwMode="auto">
            <a:xfrm flipV="1">
              <a:off x="4297040" y="3355512"/>
              <a:ext cx="293688" cy="414337"/>
            </a:xfrm>
            <a:prstGeom prst="line">
              <a:avLst/>
            </a:prstGeom>
            <a:noFill/>
            <a:ln w="28575" cap="sq">
              <a:solidFill>
                <a:schemeClr val="tx1"/>
              </a:solidFill>
              <a:round/>
              <a:headEnd/>
              <a:tailEnd type="triangle" w="med" len="med"/>
            </a:ln>
            <a:effectLst/>
          </p:spPr>
          <p:txBody>
            <a:bodyPr wrap="none" lIns="0" tIns="0" rIns="0" bIns="0" anchor="ctr"/>
            <a:lstStyle/>
            <a:p>
              <a:pPr>
                <a:defRPr/>
              </a:pPr>
              <a:endParaRPr lang="zh-CN" altLang="en-US"/>
            </a:p>
          </p:txBody>
        </p:sp>
        <p:grpSp>
          <p:nvGrpSpPr>
            <p:cNvPr id="4113" name="Group 17"/>
            <p:cNvGrpSpPr>
              <a:grpSpLocks/>
            </p:cNvGrpSpPr>
            <p:nvPr/>
          </p:nvGrpSpPr>
          <p:grpSpPr bwMode="auto">
            <a:xfrm>
              <a:off x="8330878" y="4203236"/>
              <a:ext cx="1524000" cy="895350"/>
              <a:chOff x="4464" y="2592"/>
              <a:chExt cx="960" cy="564"/>
            </a:xfrm>
          </p:grpSpPr>
          <p:sp>
            <p:nvSpPr>
              <p:cNvPr id="1185810" name="AutoShape 18"/>
              <p:cNvSpPr>
                <a:spLocks noChangeArrowheads="1"/>
              </p:cNvSpPr>
              <p:nvPr/>
            </p:nvSpPr>
            <p:spPr bwMode="auto">
              <a:xfrm>
                <a:off x="4656" y="2592"/>
                <a:ext cx="768" cy="384"/>
              </a:xfrm>
              <a:prstGeom prst="foldedCorner">
                <a:avLst>
                  <a:gd name="adj" fmla="val 22134"/>
                </a:avLst>
              </a:prstGeom>
              <a:solidFill>
                <a:srgbClr val="F5F5FF"/>
              </a:solidFill>
              <a:ln w="12700" cap="sq">
                <a:solidFill>
                  <a:srgbClr val="000000"/>
                </a:solidFill>
                <a:round/>
                <a:headEnd/>
                <a:tailEnd/>
              </a:ln>
              <a:effectLst>
                <a:outerShdw dist="35921" dir="2700000" algn="ctr" rotWithShape="0">
                  <a:schemeClr val="bg2"/>
                </a:outerShdw>
              </a:effectLst>
            </p:spPr>
            <p:txBody>
              <a:bodyPr wrap="none" lIns="72000" tIns="36000" rIns="0" bIns="0"/>
              <a:lstStyle/>
              <a:p>
                <a:pPr>
                  <a:spcAft>
                    <a:spcPct val="0"/>
                  </a:spcAft>
                  <a:buSzTx/>
                  <a:buFontTx/>
                  <a:buNone/>
                  <a:defRPr/>
                </a:pPr>
                <a:r>
                  <a:rPr lang="en-US" altLang="zh-CN" sz="2400" b="1">
                    <a:solidFill>
                      <a:srgbClr val="000000"/>
                    </a:solidFill>
                    <a:effectLst>
                      <a:outerShdw blurRad="38100" dist="38100" dir="2700000" algn="tl">
                        <a:srgbClr val="C0C0C0"/>
                      </a:outerShdw>
                    </a:effectLst>
                    <a:latin typeface="Times New Roman" pitchFamily="18" charset="0"/>
                  </a:rPr>
                  <a:t>DD</a:t>
                </a:r>
              </a:p>
            </p:txBody>
          </p:sp>
          <p:sp>
            <p:nvSpPr>
              <p:cNvPr id="1185811" name="AutoShape 19"/>
              <p:cNvSpPr>
                <a:spLocks noChangeArrowheads="1"/>
              </p:cNvSpPr>
              <p:nvPr/>
            </p:nvSpPr>
            <p:spPr bwMode="auto">
              <a:xfrm>
                <a:off x="4464" y="2852"/>
                <a:ext cx="768" cy="304"/>
              </a:xfrm>
              <a:prstGeom prst="foldedCorner">
                <a:avLst>
                  <a:gd name="adj" fmla="val 26954"/>
                </a:avLst>
              </a:prstGeom>
              <a:solidFill>
                <a:srgbClr val="F5F5FF"/>
              </a:solidFill>
              <a:ln w="12700" cap="sq">
                <a:solidFill>
                  <a:srgbClr val="000000"/>
                </a:solidFill>
                <a:round/>
                <a:headEnd/>
                <a:tailEnd/>
              </a:ln>
              <a:effectLst>
                <a:outerShdw dist="35921" dir="2700000" algn="ctr" rotWithShape="0">
                  <a:schemeClr val="bg2"/>
                </a:outerShdw>
              </a:effectLst>
            </p:spPr>
            <p:txBody>
              <a:bodyPr wrap="none" lIns="72000" tIns="36000" rIns="0" bIns="0"/>
              <a:lstStyle/>
              <a:p>
                <a:pPr>
                  <a:spcAft>
                    <a:spcPct val="0"/>
                  </a:spcAft>
                  <a:buSzTx/>
                  <a:buFontTx/>
                  <a:buNone/>
                  <a:defRPr/>
                </a:pPr>
                <a:r>
                  <a:rPr lang="en-US" altLang="zh-CN" sz="2400" b="1">
                    <a:solidFill>
                      <a:srgbClr val="000000"/>
                    </a:solidFill>
                    <a:effectLst>
                      <a:outerShdw blurRad="38100" dist="38100" dir="2700000" algn="tl">
                        <a:srgbClr val="C0C0C0"/>
                      </a:outerShdw>
                    </a:effectLst>
                    <a:latin typeface="Times New Roman" pitchFamily="18" charset="0"/>
                  </a:rPr>
                  <a:t>DFD</a:t>
                </a:r>
              </a:p>
            </p:txBody>
          </p:sp>
        </p:grpSp>
        <p:sp>
          <p:nvSpPr>
            <p:cNvPr id="1185812" name="AutoShape 20"/>
            <p:cNvSpPr>
              <a:spLocks noChangeArrowheads="1"/>
            </p:cNvSpPr>
            <p:nvPr/>
          </p:nvSpPr>
          <p:spPr bwMode="auto">
            <a:xfrm>
              <a:off x="8934128" y="3355511"/>
              <a:ext cx="381000" cy="419100"/>
            </a:xfrm>
            <a:prstGeom prst="downArrow">
              <a:avLst>
                <a:gd name="adj1" fmla="val 50000"/>
                <a:gd name="adj2" fmla="val 27500"/>
              </a:avLst>
            </a:prstGeom>
            <a:solidFill>
              <a:srgbClr val="CCFFCC"/>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85813" name="Rectangle 21"/>
            <p:cNvSpPr>
              <a:spLocks noChangeArrowheads="1"/>
            </p:cNvSpPr>
            <p:nvPr/>
          </p:nvSpPr>
          <p:spPr bwMode="auto">
            <a:xfrm>
              <a:off x="901378" y="5868701"/>
              <a:ext cx="4787900" cy="381000"/>
            </a:xfrm>
            <a:prstGeom prst="rect">
              <a:avLst/>
            </a:prstGeom>
            <a:noFill/>
            <a:ln w="12700" cap="sq">
              <a:noFill/>
              <a:miter lim="800000"/>
              <a:headEnd/>
              <a:tailEnd/>
            </a:ln>
            <a:effectLst/>
          </p:spPr>
          <p:txBody>
            <a:bodyPr lIns="0" tIns="0" rIns="0" bIns="0"/>
            <a:lstStyle/>
            <a:p>
              <a:pPr>
                <a:spcAft>
                  <a:spcPct val="0"/>
                </a:spcAft>
                <a:buSzTx/>
                <a:buFontTx/>
                <a:buNone/>
                <a:defRPr/>
              </a:pPr>
              <a:r>
                <a:rPr lang="zh-CN" altLang="en-US" sz="2400" dirty="0">
                  <a:effectLst>
                    <a:outerShdw blurRad="38100" dist="38100" dir="2700000" algn="tl">
                      <a:srgbClr val="000000"/>
                    </a:outerShdw>
                  </a:effectLst>
                  <a:latin typeface="微软雅黑" pitchFamily="34" charset="-122"/>
                  <a:ea typeface="微软雅黑" pitchFamily="34" charset="-122"/>
                </a:rPr>
                <a:t>跟班作业，开调查会，收集调查表</a:t>
              </a:r>
            </a:p>
            <a:p>
              <a:pPr>
                <a:spcAft>
                  <a:spcPct val="0"/>
                </a:spcAft>
                <a:buSzTx/>
                <a:buFontTx/>
                <a:buNone/>
                <a:defRPr/>
              </a:pPr>
              <a:r>
                <a:rPr lang="zh-CN" altLang="en-US" sz="2400" dirty="0">
                  <a:effectLst>
                    <a:outerShdw blurRad="38100" dist="38100" dir="2700000" algn="tl">
                      <a:srgbClr val="000000"/>
                    </a:outerShdw>
                  </a:effectLst>
                  <a:latin typeface="微软雅黑" pitchFamily="34" charset="-122"/>
                  <a:ea typeface="微软雅黑" pitchFamily="34" charset="-122"/>
                </a:rPr>
                <a:t>请专人介绍，询问，查阅文档资料</a:t>
              </a:r>
            </a:p>
          </p:txBody>
        </p:sp>
        <p:sp>
          <p:nvSpPr>
            <p:cNvPr id="1185815" name="Rectangle 23"/>
            <p:cNvSpPr>
              <a:spLocks noChangeArrowheads="1"/>
            </p:cNvSpPr>
            <p:nvPr/>
          </p:nvSpPr>
          <p:spPr bwMode="auto">
            <a:xfrm>
              <a:off x="8178478" y="5510178"/>
              <a:ext cx="2743200" cy="609600"/>
            </a:xfrm>
            <a:prstGeom prst="rect">
              <a:avLst/>
            </a:prstGeom>
            <a:noFill/>
            <a:ln w="12700" cap="sq">
              <a:noFill/>
              <a:miter lim="800000"/>
              <a:headEnd/>
              <a:tailEnd/>
            </a:ln>
            <a:effectLst/>
          </p:spPr>
          <p:txBody>
            <a:bodyPr lIns="0" tIns="0" rIns="0" bIns="0"/>
            <a:lstStyle/>
            <a:p>
              <a:pPr algn="r">
                <a:spcAft>
                  <a:spcPct val="0"/>
                </a:spcAft>
                <a:buSzTx/>
                <a:buFontTx/>
                <a:buNone/>
                <a:defRPr/>
              </a:pPr>
              <a:r>
                <a:rPr lang="zh-CN" altLang="en-US" sz="2400" dirty="0">
                  <a:effectLst>
                    <a:outerShdw blurRad="38100" dist="38100" dir="2700000" algn="tl">
                      <a:srgbClr val="000000"/>
                    </a:outerShdw>
                  </a:effectLst>
                  <a:latin typeface="微软雅黑" pitchFamily="34" charset="-122"/>
                  <a:ea typeface="微软雅黑" pitchFamily="34" charset="-122"/>
                </a:rPr>
                <a:t>信息要求</a:t>
              </a:r>
            </a:p>
            <a:p>
              <a:pPr algn="r">
                <a:spcAft>
                  <a:spcPct val="0"/>
                </a:spcAft>
                <a:buSzTx/>
                <a:buFontTx/>
                <a:buNone/>
                <a:defRPr/>
              </a:pPr>
              <a:r>
                <a:rPr lang="zh-CN" altLang="en-US" sz="2400" dirty="0">
                  <a:effectLst>
                    <a:outerShdw blurRad="38100" dist="38100" dir="2700000" algn="tl">
                      <a:srgbClr val="000000"/>
                    </a:outerShdw>
                  </a:effectLst>
                  <a:latin typeface="微软雅黑" pitchFamily="34" charset="-122"/>
                  <a:ea typeface="微软雅黑" pitchFamily="34" charset="-122"/>
                </a:rPr>
                <a:t>处理要求</a:t>
              </a:r>
            </a:p>
            <a:p>
              <a:pPr algn="r">
                <a:spcAft>
                  <a:spcPct val="0"/>
                </a:spcAft>
                <a:buSzTx/>
                <a:buFontTx/>
                <a:buNone/>
                <a:defRPr/>
              </a:pPr>
              <a:r>
                <a:rPr lang="zh-CN" altLang="en-US" sz="2400" dirty="0">
                  <a:effectLst>
                    <a:outerShdw blurRad="38100" dist="38100" dir="2700000" algn="tl">
                      <a:srgbClr val="000000"/>
                    </a:outerShdw>
                  </a:effectLst>
                  <a:latin typeface="微软雅黑" pitchFamily="34" charset="-122"/>
                  <a:ea typeface="微软雅黑" pitchFamily="34" charset="-122"/>
                </a:rPr>
                <a:t>安全性和完整性要求</a:t>
              </a:r>
            </a:p>
          </p:txBody>
        </p:sp>
        <p:sp>
          <p:nvSpPr>
            <p:cNvPr id="1185816" name="AutoShape 24"/>
            <p:cNvSpPr>
              <a:spLocks noChangeArrowheads="1"/>
            </p:cNvSpPr>
            <p:nvPr/>
          </p:nvSpPr>
          <p:spPr bwMode="auto">
            <a:xfrm rot="16200000">
              <a:off x="3577904" y="5498637"/>
              <a:ext cx="288925" cy="288925"/>
            </a:xfrm>
            <a:prstGeom prst="rightArrow">
              <a:avLst>
                <a:gd name="adj1" fmla="val 50000"/>
                <a:gd name="adj2" fmla="val 25000"/>
              </a:avLst>
            </a:prstGeom>
            <a:solidFill>
              <a:schemeClr val="hlink"/>
            </a:solidFill>
            <a:ln w="12700" cap="sq" algn="ctr">
              <a:solidFill>
                <a:srgbClr val="FF0000"/>
              </a:solidFill>
              <a:miter lim="800000"/>
              <a:headEnd/>
              <a:tailEnd/>
            </a:ln>
            <a:effectLst/>
          </p:spPr>
          <p:txBody>
            <a:bodyPr wrap="none" lIns="0" tIns="0" rIns="0" bIns="0" anchor="ctr"/>
            <a:lstStyle/>
            <a:p>
              <a:pPr>
                <a:defRPr/>
              </a:pPr>
              <a:endParaRPr lang="zh-CN" altLang="en-US"/>
            </a:p>
          </p:txBody>
        </p:sp>
        <p:sp>
          <p:nvSpPr>
            <p:cNvPr id="1185817" name="AutoShape 25"/>
            <p:cNvSpPr>
              <a:spLocks noChangeArrowheads="1"/>
            </p:cNvSpPr>
            <p:nvPr/>
          </p:nvSpPr>
          <p:spPr bwMode="auto">
            <a:xfrm rot="2860008">
              <a:off x="9924819" y="4858803"/>
              <a:ext cx="792163" cy="358775"/>
            </a:xfrm>
            <a:prstGeom prst="curvedDownArrow">
              <a:avLst>
                <a:gd name="adj1" fmla="val 44159"/>
                <a:gd name="adj2" fmla="val 88319"/>
                <a:gd name="adj3" fmla="val 33333"/>
              </a:avLst>
            </a:prstGeom>
            <a:solidFill>
              <a:schemeClr val="hlink"/>
            </a:solidFill>
            <a:ln w="12700" cap="sq">
              <a:solidFill>
                <a:srgbClr val="FF0000"/>
              </a:solidFill>
              <a:miter lim="800000"/>
              <a:headEnd/>
              <a:tailEnd/>
            </a:ln>
            <a:effectLst/>
          </p:spPr>
          <p:txBody>
            <a:bodyPr wrap="none" lIns="0" tIns="0" rIns="0" bIns="0" anchor="ctr"/>
            <a:lstStyle/>
            <a:p>
              <a:pPr>
                <a:defRPr/>
              </a:pPr>
              <a:endParaRPr lang="zh-CN" altLang="en-US"/>
            </a:p>
          </p:txBody>
        </p:sp>
        <p:sp>
          <p:nvSpPr>
            <p:cNvPr id="1185818" name="AutoShape 26"/>
            <p:cNvSpPr>
              <a:spLocks noChangeArrowheads="1"/>
            </p:cNvSpPr>
            <p:nvPr/>
          </p:nvSpPr>
          <p:spPr bwMode="auto">
            <a:xfrm>
              <a:off x="6717978" y="4975554"/>
              <a:ext cx="1401763" cy="1114732"/>
            </a:xfrm>
            <a:prstGeom prst="wedgeEllipseCallout">
              <a:avLst>
                <a:gd name="adj1" fmla="val 47282"/>
                <a:gd name="adj2" fmla="val -40134"/>
              </a:avLst>
            </a:prstGeom>
            <a:noFill/>
            <a:ln w="12700" cap="sq" algn="ctr">
              <a:solidFill>
                <a:schemeClr val="tx1"/>
              </a:solidFill>
              <a:miter lim="800000"/>
              <a:headEnd/>
              <a:tailEnd/>
            </a:ln>
            <a:effectLst/>
          </p:spPr>
          <p:txBody>
            <a:bodyPr lIns="0" tIns="0" rIns="0" bIns="0">
              <a:spAutoFit/>
            </a:bodyPr>
            <a:lstStyle/>
            <a:p>
              <a:pPr>
                <a:buSzTx/>
                <a:buFontTx/>
                <a:buNone/>
                <a:defRPr/>
              </a:pPr>
              <a:r>
                <a:rPr lang="zh-CN" altLang="en-US" sz="2400">
                  <a:effectLst>
                    <a:outerShdw blurRad="38100" dist="38100" dir="2700000" algn="tl">
                      <a:srgbClr val="000000"/>
                    </a:outerShdw>
                  </a:effectLst>
                  <a:latin typeface="微软雅黑" pitchFamily="34" charset="-122"/>
                  <a:ea typeface="微软雅黑" pitchFamily="34" charset="-122"/>
                </a:rPr>
                <a:t>需求规格说明</a:t>
              </a:r>
            </a:p>
          </p:txBody>
        </p:sp>
      </p:grpSp>
      <p:sp>
        <p:nvSpPr>
          <p:cNvPr id="4121" name="Rectangle 27"/>
          <p:cNvSpPr>
            <a:spLocks noGrp="1" noChangeArrowheads="1"/>
          </p:cNvSpPr>
          <p:nvPr>
            <p:ph type="title"/>
          </p:nvPr>
        </p:nvSpPr>
        <p:spPr>
          <a:xfrm>
            <a:off x="767408" y="889303"/>
            <a:ext cx="11017224" cy="584775"/>
          </a:xfrm>
        </p:spPr>
        <p:txBody>
          <a:bodyPr wrap="square"/>
          <a:lstStyle/>
          <a:p>
            <a:pPr>
              <a:spcAft>
                <a:spcPct val="20000"/>
              </a:spcAft>
            </a:pPr>
            <a:r>
              <a:rPr lang="zh-CN" altLang="en-US" sz="2800" dirty="0"/>
              <a:t>需求分析就是弄清用户对目标系统在数据、功能和非功能（性能、约束等）方面的全部确切要求，是整个设计的基础和起点！</a:t>
            </a:r>
            <a:endParaRPr lang="en-US" altLang="zh-CN" sz="2800" dirty="0">
              <a:solidFill>
                <a:srgbClr val="002060"/>
              </a:solidFill>
            </a:endParaRPr>
          </a:p>
        </p:txBody>
      </p:sp>
      <p:sp>
        <p:nvSpPr>
          <p:cNvPr id="29" name="WordArt 8">
            <a:extLst>
              <a:ext uri="{FF2B5EF4-FFF2-40B4-BE49-F238E27FC236}">
                <a16:creationId xmlns:a16="http://schemas.microsoft.com/office/drawing/2014/main" id="{8430DD79-99FB-49B3-B2C0-27D10F7AA8F5}"/>
              </a:ext>
            </a:extLst>
          </p:cNvPr>
          <p:cNvSpPr>
            <a:spLocks noChangeArrowheads="1" noChangeShapeType="1" noTextEdit="1"/>
          </p:cNvSpPr>
          <p:nvPr/>
        </p:nvSpPr>
        <p:spPr bwMode="auto">
          <a:xfrm rot="5400000">
            <a:off x="347069" y="3150498"/>
            <a:ext cx="1284979" cy="986361"/>
          </a:xfrm>
          <a:prstGeom prst="rect">
            <a:avLst/>
          </a:prstGeom>
        </p:spPr>
        <p:txBody>
          <a:bodyPr vert="eaVert" wrap="none" fromWordArt="1">
            <a:prstTxWarp prst="textPlain">
              <a:avLst>
                <a:gd name="adj" fmla="val 50000"/>
              </a:avLst>
            </a:prstTxWarp>
          </a:bodyPr>
          <a:lstStyle/>
          <a:p>
            <a:pPr algn="ctr" fontAlgn="base">
              <a:spcBef>
                <a:spcPct val="0"/>
              </a:spcBef>
              <a:spcAft>
                <a:spcPct val="0"/>
              </a:spcAft>
              <a:defRPr/>
            </a:pPr>
            <a:r>
              <a:rPr lang="zh-CN" altLang="en-US" sz="6600" b="1" kern="10" spc="600" baseline="-25000" dirty="0">
                <a:ln w="38100">
                  <a:solidFill>
                    <a:srgbClr val="FFFFFF"/>
                  </a:solidFill>
                  <a:prstDash val="solid"/>
                </a:ln>
                <a:solidFill>
                  <a:srgbClr val="FF0000"/>
                </a:solidFill>
                <a:effectLst>
                  <a:outerShdw blurRad="12700" dist="38100" dir="2700000" algn="tl" rotWithShape="0">
                    <a:srgbClr val="003399">
                      <a:lumMod val="50000"/>
                    </a:srgbClr>
                  </a:outerShdw>
                </a:effectLst>
                <a:latin typeface="微软雅黑" panose="020B0503020204020204" pitchFamily="34" charset="-122"/>
                <a:ea typeface="微软雅黑" panose="020B0503020204020204" pitchFamily="34" charset="-122"/>
              </a:rPr>
              <a:t>调</a:t>
            </a:r>
          </a:p>
        </p:txBody>
      </p:sp>
      <p:sp>
        <p:nvSpPr>
          <p:cNvPr id="30" name="WordArt 8">
            <a:extLst>
              <a:ext uri="{FF2B5EF4-FFF2-40B4-BE49-F238E27FC236}">
                <a16:creationId xmlns:a16="http://schemas.microsoft.com/office/drawing/2014/main" id="{4A437BA8-5846-4E80-9C40-92EF7EBEDA98}"/>
              </a:ext>
            </a:extLst>
          </p:cNvPr>
          <p:cNvSpPr>
            <a:spLocks noChangeArrowheads="1" noChangeShapeType="1" noTextEdit="1"/>
          </p:cNvSpPr>
          <p:nvPr/>
        </p:nvSpPr>
        <p:spPr bwMode="auto">
          <a:xfrm rot="5400000">
            <a:off x="10417480" y="3147369"/>
            <a:ext cx="1284979" cy="986361"/>
          </a:xfrm>
          <a:prstGeom prst="rect">
            <a:avLst/>
          </a:prstGeom>
        </p:spPr>
        <p:txBody>
          <a:bodyPr vert="eaVert" wrap="none" fromWordArt="1">
            <a:prstTxWarp prst="textPlain">
              <a:avLst>
                <a:gd name="adj" fmla="val 50000"/>
              </a:avLst>
            </a:prstTxWarp>
          </a:bodyPr>
          <a:lstStyle/>
          <a:p>
            <a:pPr algn="ctr" fontAlgn="base">
              <a:spcBef>
                <a:spcPct val="0"/>
              </a:spcBef>
              <a:spcAft>
                <a:spcPct val="0"/>
              </a:spcAft>
              <a:defRPr/>
            </a:pPr>
            <a:r>
              <a:rPr lang="zh-CN" altLang="en-US" sz="6600" b="1" kern="10" spc="600" baseline="-25000" dirty="0">
                <a:ln w="38100">
                  <a:solidFill>
                    <a:srgbClr val="FFFFFF"/>
                  </a:solidFill>
                  <a:prstDash val="solid"/>
                </a:ln>
                <a:solidFill>
                  <a:srgbClr val="FF0000"/>
                </a:solidFill>
                <a:effectLst>
                  <a:outerShdw blurRad="12700" dist="38100" dir="2700000" algn="tl" rotWithShape="0">
                    <a:srgbClr val="003399">
                      <a:lumMod val="50000"/>
                    </a:srgbClr>
                  </a:outerShdw>
                </a:effectLst>
                <a:latin typeface="微软雅黑" panose="020B0503020204020204" pitchFamily="34" charset="-122"/>
                <a:ea typeface="微软雅黑" panose="020B0503020204020204" pitchFamily="34" charset="-122"/>
              </a:rPr>
              <a:t>研</a:t>
            </a:r>
          </a:p>
        </p:txBody>
      </p:sp>
    </p:spTree>
    <p:extLst>
      <p:ext uri="{BB962C8B-B14F-4D97-AF65-F5344CB8AC3E}">
        <p14:creationId xmlns:p14="http://schemas.microsoft.com/office/powerpoint/2010/main" val="3101481889"/>
      </p:ext>
    </p:extLst>
  </p:cSld>
  <p:clrMapOvr>
    <a:masterClrMapping/>
  </p:clrMapOvr>
  <p:transition spd="med">
    <p:random/>
    <p:sndAc>
      <p:stSnd>
        <p:snd r:embed="rId2" name="arrow.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0-#ppt_w/2"/>
                                          </p:val>
                                        </p:tav>
                                        <p:tav tm="100000">
                                          <p:val>
                                            <p:strVal val="#ppt_x"/>
                                          </p:val>
                                        </p:tav>
                                      </p:tavLst>
                                    </p:anim>
                                    <p:anim calcmode="lin" valueType="num">
                                      <p:cBhvr additive="base">
                                        <p:cTn id="8" dur="500" fill="hold"/>
                                        <p:tgtEl>
                                          <p:spTgt spid="29"/>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 calcmode="lin" valueType="num">
                                      <p:cBhvr additive="base">
                                        <p:cTn id="11" dur="500" fill="hold"/>
                                        <p:tgtEl>
                                          <p:spTgt spid="30"/>
                                        </p:tgtEl>
                                        <p:attrNameLst>
                                          <p:attrName>ppt_x</p:attrName>
                                        </p:attrNameLst>
                                      </p:cBhvr>
                                      <p:tavLst>
                                        <p:tav tm="0">
                                          <p:val>
                                            <p:strVal val="1+#ppt_w/2"/>
                                          </p:val>
                                        </p:tav>
                                        <p:tav tm="100000">
                                          <p:val>
                                            <p:strVal val="#ppt_x"/>
                                          </p:val>
                                        </p:tav>
                                      </p:tavLst>
                                    </p:anim>
                                    <p:anim calcmode="lin" valueType="num">
                                      <p:cBhvr additive="base">
                                        <p:cTn id="12" dur="5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1127448" y="1281906"/>
            <a:ext cx="9753600" cy="2143125"/>
          </a:xfrm>
          <a:prstGeom prst="rect">
            <a:avLst/>
          </a:prstGeom>
          <a:noFill/>
        </p:spPr>
        <p:txBody>
          <a:bodyPr vert="horz" wrap="square" rtlCol="0" anchor="ctr" anchorCtr="0">
            <a:noAutofit/>
          </a:bodyPr>
          <a:lstStyle/>
          <a:p>
            <a:r>
              <a:rPr lang="zh-CN" altLang="en-US" sz="2600" dirty="0">
                <a:latin typeface="Microsoft Yahei" panose="020B0503020204020204" pitchFamily="34" charset="-122"/>
                <a:ea typeface="Microsoft Yahei" panose="020B0503020204020204" pitchFamily="34" charset="-122"/>
                <a:sym typeface="Microsoft Yahei" panose="020B0503020204020204" pitchFamily="34" charset="-122"/>
              </a:rPr>
              <a:t>都说需求分析是系统工程中最重要的一部分。你能分享一些你在实际学习、实践、工作甚至生活中遇到的反映需求分析重要性的案例吗？无论是成功的，还是出问题的，都可以。以此来谈谈你对需求分析的认识或者反思。</a:t>
            </a:r>
          </a:p>
        </p:txBody>
      </p:sp>
      <p:sp>
        <p:nvSpPr>
          <p:cNvPr id="6" name="圆角矩形 5"/>
          <p:cNvSpPr/>
          <p:nvPr>
            <p:custDataLst>
              <p:tags r:id="rId3"/>
            </p:custDataLst>
          </p:nvPr>
        </p:nvSpPr>
        <p:spPr bwMode="auto">
          <a:xfrm>
            <a:off x="8915400" y="6215063"/>
            <a:ext cx="1543050" cy="411480"/>
          </a:xfrm>
          <a:prstGeom prst="roundRect">
            <a:avLst/>
          </a:prstGeom>
          <a:solidFill>
            <a:srgbClr val="808080"/>
          </a:solidFill>
          <a:ln w="38100" cap="sq"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r>
              <a:rPr kumimoji="1" lang="zh-CN" altLang="en-US" sz="1600" b="0" i="0" u="none" strike="noStrike" cap="none" normalizeH="0" baseline="0">
                <a:ln>
                  <a:noFill/>
                </a:ln>
                <a:solidFill>
                  <a:srgbClr val="FFFFFF"/>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1" name="组合 10"/>
          <p:cNvGrpSpPr/>
          <p:nvPr>
            <p:custDataLst>
              <p:tags r:id="rId4"/>
            </p:custDataLst>
          </p:nvPr>
        </p:nvGrpSpPr>
        <p:grpSpPr>
          <a:xfrm>
            <a:off x="0" y="0"/>
            <a:ext cx="12192000" cy="635000"/>
            <a:chOff x="0" y="0"/>
            <a:chExt cx="12192000" cy="635000"/>
          </a:xfrm>
        </p:grpSpPr>
        <p:sp>
          <p:nvSpPr>
            <p:cNvPr id="7" name="TitleBackground"/>
            <p:cNvSpPr/>
            <p:nvPr>
              <p:custDataLst>
                <p:tags r:id="rId6"/>
              </p:custDataLst>
            </p:nvPr>
          </p:nvSpPr>
          <p:spPr bwMode="auto">
            <a:xfrm>
              <a:off x="0" y="0"/>
              <a:ext cx="12192000" cy="635000"/>
            </a:xfrm>
            <a:prstGeom prst="rect">
              <a:avLst/>
            </a:prstGeom>
            <a:solidFill>
              <a:srgbClr val="F6F7F8"/>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8" name="ColorBlock"/>
            <p:cNvSpPr/>
            <p:nvPr>
              <p:custDataLst>
                <p:tags r:id="rId7"/>
              </p:custDataLst>
            </p:nvPr>
          </p:nvSpPr>
          <p:spPr bwMode="auto">
            <a:xfrm>
              <a:off x="0" y="0"/>
              <a:ext cx="190500" cy="635000"/>
            </a:xfrm>
            <a:prstGeom prst="rect">
              <a:avLst/>
            </a:prstGeom>
            <a:solidFill>
              <a:srgbClr val="639EF4"/>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9"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0" name="TipText"/>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p:cNvPicPr>
            <a:picLocks/>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4011959371"/>
      </p:ext>
    </p:extLst>
  </p:cSld>
  <p:clrMapOvr>
    <a:masterClrMapping/>
  </p:clrMapOvr>
  <p:transition spd="med">
    <p:random/>
    <p:sndAc>
      <p:stSnd>
        <p:snd r:embed="rId11" name="arrow.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bwMode="auto">
          <a:xfrm>
            <a:off x="4583832" y="1988840"/>
            <a:ext cx="2448272" cy="854968"/>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60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第三节</a:t>
            </a:r>
          </a:p>
        </p:txBody>
      </p:sp>
      <p:sp>
        <p:nvSpPr>
          <p:cNvPr id="2" name="标题 1"/>
          <p:cNvSpPr>
            <a:spLocks noGrp="1"/>
          </p:cNvSpPr>
          <p:nvPr>
            <p:ph type="title"/>
          </p:nvPr>
        </p:nvSpPr>
        <p:spPr>
          <a:xfrm>
            <a:off x="1559496" y="3356992"/>
            <a:ext cx="9073008" cy="1256758"/>
          </a:xfrm>
          <a:effectLst>
            <a:outerShdw blurRad="63500" sx="102000" sy="102000" algn="ctr" rotWithShape="0">
              <a:prstClr val="black">
                <a:alpha val="40000"/>
              </a:prstClr>
            </a:outerShdw>
          </a:effectLst>
        </p:spPr>
        <p:txBody>
          <a:bodyPr wrap="none" numCol="1" fromWordArt="1">
            <a:prstTxWarp prst="textPlain">
              <a:avLst>
                <a:gd name="adj" fmla="val 50000"/>
              </a:avLst>
            </a:prstTxWarp>
          </a:bodyPr>
          <a:lstStyle/>
          <a:p>
            <a:pPr fontAlgn="base">
              <a:spcAft>
                <a:spcPct val="0"/>
              </a:spcAft>
            </a:pPr>
            <a:r>
              <a:rPr lang="zh-CN" altLang="en-US" sz="6000" b="1" kern="10" spc="600" baseline="-25000" dirty="0">
                <a:ln w="9525">
                  <a:solidFill>
                    <a:srgbClr val="003399"/>
                  </a:solidFill>
                  <a:prstDash val="solid"/>
                </a:ln>
                <a:solidFill>
                  <a:srgbClr val="FFFFFF"/>
                </a:solidFill>
                <a:cs typeface="+mn-cs"/>
              </a:rPr>
              <a:t>概念结构设计</a:t>
            </a:r>
          </a:p>
        </p:txBody>
      </p:sp>
      <p:sp>
        <p:nvSpPr>
          <p:cNvPr id="4" name="标题 1">
            <a:extLst>
              <a:ext uri="{FF2B5EF4-FFF2-40B4-BE49-F238E27FC236}">
                <a16:creationId xmlns:a16="http://schemas.microsoft.com/office/drawing/2014/main" id="{1DECDF0B-FDC0-4C58-9326-80561E26595A}"/>
              </a:ext>
            </a:extLst>
          </p:cNvPr>
          <p:cNvSpPr txBox="1">
            <a:spLocks/>
          </p:cNvSpPr>
          <p:nvPr/>
        </p:nvSpPr>
        <p:spPr bwMode="auto">
          <a:xfrm>
            <a:off x="839416" y="260648"/>
            <a:ext cx="3960440" cy="367122"/>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a:t>
            </a:r>
            <a:r>
              <a:rPr kumimoji="0" lang="en-US" altLang="zh-CN"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10</a:t>
            </a: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章  数据库设计</a:t>
            </a:r>
          </a:p>
        </p:txBody>
      </p:sp>
    </p:spTree>
    <p:extLst>
      <p:ext uri="{BB962C8B-B14F-4D97-AF65-F5344CB8AC3E}">
        <p14:creationId xmlns:p14="http://schemas.microsoft.com/office/powerpoint/2010/main" val="742193315"/>
      </p:ext>
    </p:extLst>
  </p:cSld>
  <p:clrMapOvr>
    <a:masterClrMapping/>
  </p:clrMapOvr>
  <p:transition spd="med">
    <p:random/>
    <p:sndAc>
      <p:stSnd>
        <p:snd r:embed="rId2" name="arrow.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19202" name="Rectangle 2"/>
          <p:cNvSpPr>
            <a:spLocks noGrp="1" noChangeArrowheads="1"/>
          </p:cNvSpPr>
          <p:nvPr>
            <p:ph type="ctrTitle"/>
          </p:nvPr>
        </p:nvSpPr>
        <p:spPr>
          <a:xfrm>
            <a:off x="911424" y="548680"/>
            <a:ext cx="5109091" cy="584775"/>
          </a:xfrm>
        </p:spPr>
        <p:txBody>
          <a:bodyPr/>
          <a:lstStyle/>
          <a:p>
            <a:r>
              <a:rPr lang="en-US" altLang="zh-CN" dirty="0"/>
              <a:t>10.3.1</a:t>
            </a:r>
            <a:r>
              <a:rPr lang="zh-CN" altLang="en-US" dirty="0"/>
              <a:t>概念结构设计概述</a:t>
            </a:r>
          </a:p>
        </p:txBody>
      </p:sp>
      <p:sp>
        <p:nvSpPr>
          <p:cNvPr id="819203" name="Rectangle 3"/>
          <p:cNvSpPr>
            <a:spLocks noGrp="1" noChangeArrowheads="1"/>
          </p:cNvSpPr>
          <p:nvPr>
            <p:ph type="subTitle" idx="1"/>
          </p:nvPr>
        </p:nvSpPr>
        <p:spPr>
          <a:xfrm>
            <a:off x="1055440" y="1166104"/>
            <a:ext cx="10081120" cy="4536504"/>
          </a:xfrm>
        </p:spPr>
        <p:txBody>
          <a:bodyPr/>
          <a:lstStyle/>
          <a:p>
            <a:pPr algn="l">
              <a:lnSpc>
                <a:spcPct val="150000"/>
              </a:lnSpc>
            </a:pPr>
            <a:r>
              <a:rPr lang="zh-CN" altLang="en-US" sz="2400" dirty="0"/>
              <a:t>在这个阶段，设计人员仅从</a:t>
            </a:r>
            <a:r>
              <a:rPr lang="zh-CN" altLang="en-US" sz="2400" dirty="0">
                <a:solidFill>
                  <a:srgbClr val="FFFF00"/>
                </a:solidFill>
              </a:rPr>
              <a:t>用户角度</a:t>
            </a:r>
            <a:r>
              <a:rPr lang="zh-CN" altLang="en-US" sz="2400" dirty="0"/>
              <a:t>看待数据及处理要求和约束，产生一个反映用户观点的概念模型，然后再把概念模型转换成逻辑模型。这样做有三个好处： </a:t>
            </a:r>
          </a:p>
          <a:p>
            <a:pPr lvl="1" algn="l">
              <a:lnSpc>
                <a:spcPct val="150000"/>
              </a:lnSpc>
            </a:pPr>
            <a:r>
              <a:rPr lang="zh-CN" altLang="en-US" sz="2000" dirty="0"/>
              <a:t>从逻辑设计中分离出概念设计以后，各阶段的任务相对单一化，设计复杂程度大大降低，便于组织管理。</a:t>
            </a:r>
          </a:p>
          <a:p>
            <a:pPr lvl="1" algn="l">
              <a:lnSpc>
                <a:spcPct val="150000"/>
              </a:lnSpc>
            </a:pPr>
            <a:r>
              <a:rPr lang="zh-CN" altLang="en-US" sz="2000" dirty="0"/>
              <a:t>概念模型不受特定的</a:t>
            </a:r>
            <a:r>
              <a:rPr lang="en-US" altLang="zh-CN" sz="2000" dirty="0"/>
              <a:t>DBMS</a:t>
            </a:r>
            <a:r>
              <a:rPr lang="zh-CN" altLang="en-US" sz="2000" dirty="0"/>
              <a:t>的限制，也独立于存储安排和效率方面的考虑，因而比逻辑模型更为稳定。</a:t>
            </a:r>
          </a:p>
          <a:p>
            <a:pPr lvl="1" algn="l">
              <a:lnSpc>
                <a:spcPct val="150000"/>
              </a:lnSpc>
            </a:pPr>
            <a:r>
              <a:rPr lang="zh-CN" altLang="en-US" sz="2000" dirty="0"/>
              <a:t>概念模型不含具体的</a:t>
            </a:r>
            <a:r>
              <a:rPr lang="en-US" altLang="zh-CN" sz="2000" dirty="0"/>
              <a:t>DBMS</a:t>
            </a:r>
            <a:r>
              <a:rPr lang="zh-CN" altLang="en-US" sz="2000" dirty="0"/>
              <a:t>所附加的技术细节，更容易为用户所理解，因而更有可能准确反映用户的信息需求。</a:t>
            </a:r>
          </a:p>
          <a:p>
            <a:pPr algn="l">
              <a:lnSpc>
                <a:spcPct val="150000"/>
              </a:lnSpc>
            </a:pPr>
            <a:r>
              <a:rPr lang="zh-CN" altLang="en-US" sz="2400" dirty="0"/>
              <a:t>设计概念模型的过程称为概念设计。</a:t>
            </a:r>
          </a:p>
        </p:txBody>
      </p:sp>
    </p:spTree>
    <p:extLst>
      <p:ext uri="{BB962C8B-B14F-4D97-AF65-F5344CB8AC3E}">
        <p14:creationId xmlns:p14="http://schemas.microsoft.com/office/powerpoint/2010/main" val="2813633041"/>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21251" name="Rectangle 3"/>
          <p:cNvSpPr>
            <a:spLocks noGrp="1" noChangeArrowheads="1"/>
          </p:cNvSpPr>
          <p:nvPr>
            <p:ph type="subTitle" idx="1"/>
          </p:nvPr>
        </p:nvSpPr>
        <p:spPr>
          <a:xfrm>
            <a:off x="1415480" y="1340768"/>
            <a:ext cx="8534400" cy="1752600"/>
          </a:xfrm>
        </p:spPr>
        <p:txBody>
          <a:bodyPr/>
          <a:lstStyle/>
          <a:p>
            <a:pPr algn="l"/>
            <a:r>
              <a:rPr lang="zh-CN" altLang="en-US" dirty="0"/>
              <a:t>概念模型作为概念设计的表达工具，必须具备以下特点：</a:t>
            </a:r>
          </a:p>
          <a:p>
            <a:pPr lvl="1" algn="l"/>
            <a:r>
              <a:rPr lang="zh-CN" altLang="en-US" dirty="0"/>
              <a:t>语义表达能力丰富。</a:t>
            </a:r>
          </a:p>
          <a:p>
            <a:pPr lvl="1" algn="l"/>
            <a:r>
              <a:rPr lang="zh-CN" altLang="en-US" dirty="0"/>
              <a:t>易于交流和理解。</a:t>
            </a:r>
          </a:p>
          <a:p>
            <a:pPr lvl="1" algn="l"/>
            <a:r>
              <a:rPr lang="zh-CN" altLang="en-US" dirty="0"/>
              <a:t>易于修改和扩充。</a:t>
            </a:r>
          </a:p>
          <a:p>
            <a:pPr lvl="1" algn="l"/>
            <a:r>
              <a:rPr lang="zh-CN" altLang="en-US" dirty="0"/>
              <a:t>易于向各种数据模型转换。</a:t>
            </a:r>
          </a:p>
        </p:txBody>
      </p:sp>
    </p:spTree>
    <p:extLst>
      <p:ext uri="{BB962C8B-B14F-4D97-AF65-F5344CB8AC3E}">
        <p14:creationId xmlns:p14="http://schemas.microsoft.com/office/powerpoint/2010/main" val="2720517166"/>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26371" name="Rectangle 3"/>
          <p:cNvSpPr>
            <a:spLocks noGrp="1" noChangeArrowheads="1"/>
          </p:cNvSpPr>
          <p:nvPr>
            <p:ph type="subTitle" idx="1"/>
          </p:nvPr>
        </p:nvSpPr>
        <p:spPr>
          <a:xfrm>
            <a:off x="335360" y="1196752"/>
            <a:ext cx="11521280" cy="1752600"/>
          </a:xfrm>
        </p:spPr>
        <p:txBody>
          <a:bodyPr/>
          <a:lstStyle/>
          <a:p>
            <a:pPr algn="l">
              <a:lnSpc>
                <a:spcPct val="150000"/>
              </a:lnSpc>
              <a:buFontTx/>
              <a:buNone/>
            </a:pPr>
            <a:r>
              <a:rPr lang="zh-CN" altLang="en-US" dirty="0"/>
              <a:t>一、</a:t>
            </a:r>
            <a:r>
              <a:rPr lang="en-US" altLang="zh-CN" dirty="0"/>
              <a:t>E-R</a:t>
            </a:r>
            <a:r>
              <a:rPr lang="zh-CN" altLang="en-US" dirty="0"/>
              <a:t>方法</a:t>
            </a:r>
          </a:p>
          <a:p>
            <a:pPr algn="l">
              <a:lnSpc>
                <a:spcPct val="150000"/>
              </a:lnSpc>
            </a:pPr>
            <a:r>
              <a:rPr lang="en-US" altLang="zh-CN" dirty="0"/>
              <a:t>E-R</a:t>
            </a:r>
            <a:r>
              <a:rPr lang="zh-CN" altLang="en-US" dirty="0"/>
              <a:t>方法是“实体</a:t>
            </a:r>
            <a:r>
              <a:rPr lang="en-US" altLang="zh-CN" dirty="0"/>
              <a:t>-</a:t>
            </a:r>
            <a:r>
              <a:rPr lang="zh-CN" altLang="en-US" dirty="0"/>
              <a:t>联系方法”（</a:t>
            </a:r>
            <a:r>
              <a:rPr lang="en-US" altLang="zh-CN" dirty="0"/>
              <a:t>Entity-Relationship Approach</a:t>
            </a:r>
            <a:r>
              <a:rPr lang="zh-CN" altLang="en-US" dirty="0"/>
              <a:t>）的简称。它是描述现实世界概念结构模型的有效方法。</a:t>
            </a:r>
          </a:p>
          <a:p>
            <a:pPr algn="l">
              <a:lnSpc>
                <a:spcPct val="150000"/>
              </a:lnSpc>
            </a:pPr>
            <a:r>
              <a:rPr lang="zh-CN" altLang="en-US" dirty="0"/>
              <a:t>用</a:t>
            </a:r>
            <a:r>
              <a:rPr lang="en-US" altLang="zh-CN" dirty="0"/>
              <a:t>E-R</a:t>
            </a:r>
            <a:r>
              <a:rPr lang="zh-CN" altLang="en-US" dirty="0"/>
              <a:t>方法建立的概念结构模型称为</a:t>
            </a:r>
            <a:r>
              <a:rPr lang="en-US" altLang="zh-CN" dirty="0"/>
              <a:t>E-R</a:t>
            </a:r>
            <a:r>
              <a:rPr lang="zh-CN" altLang="en-US" dirty="0"/>
              <a:t>模型，或称为</a:t>
            </a:r>
            <a:r>
              <a:rPr lang="en-US" altLang="zh-CN" dirty="0"/>
              <a:t>E-R</a:t>
            </a:r>
            <a:r>
              <a:rPr lang="zh-CN" altLang="en-US" dirty="0"/>
              <a:t>图。</a:t>
            </a:r>
          </a:p>
        </p:txBody>
      </p:sp>
    </p:spTree>
    <p:extLst>
      <p:ext uri="{BB962C8B-B14F-4D97-AF65-F5344CB8AC3E}">
        <p14:creationId xmlns:p14="http://schemas.microsoft.com/office/powerpoint/2010/main" val="4123996594"/>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27395" name="Rectangle 3"/>
          <p:cNvSpPr>
            <a:spLocks noGrp="1" noChangeArrowheads="1"/>
          </p:cNvSpPr>
          <p:nvPr>
            <p:ph type="subTitle" idx="1"/>
          </p:nvPr>
        </p:nvSpPr>
        <p:spPr>
          <a:xfrm>
            <a:off x="1149184" y="1052736"/>
            <a:ext cx="10059383" cy="3456384"/>
          </a:xfrm>
        </p:spPr>
        <p:txBody>
          <a:bodyPr/>
          <a:lstStyle/>
          <a:p>
            <a:pPr algn="l">
              <a:lnSpc>
                <a:spcPct val="150000"/>
              </a:lnSpc>
            </a:pPr>
            <a:r>
              <a:rPr lang="en-US" altLang="zh-CN" sz="2800" dirty="0"/>
              <a:t>E-R</a:t>
            </a:r>
            <a:r>
              <a:rPr lang="zh-CN" altLang="en-US" sz="2800" dirty="0"/>
              <a:t>图基本成分包含实体型、属性和联系。</a:t>
            </a:r>
          </a:p>
          <a:p>
            <a:pPr lvl="1" algn="l">
              <a:lnSpc>
                <a:spcPct val="150000"/>
              </a:lnSpc>
            </a:pPr>
            <a:r>
              <a:rPr lang="en-US" altLang="zh-CN" sz="2400" dirty="0"/>
              <a:t>1</a:t>
            </a:r>
            <a:r>
              <a:rPr lang="zh-CN" altLang="en-US" sz="2400" dirty="0"/>
              <a:t>、实体：是一个数据对象，指应用中可以区别的客观存在的事物，。</a:t>
            </a:r>
          </a:p>
          <a:p>
            <a:pPr lvl="1" algn="l">
              <a:lnSpc>
                <a:spcPct val="150000"/>
              </a:lnSpc>
            </a:pPr>
            <a:r>
              <a:rPr lang="en-US" altLang="zh-CN" sz="2400" dirty="0"/>
              <a:t>2</a:t>
            </a:r>
            <a:r>
              <a:rPr lang="zh-CN" altLang="en-US" sz="2400" dirty="0"/>
              <a:t>、联系：指实体之间的联系，联系用菱形框表示，框内标注联系名称。需要注意的是，因为联系本身也是一种实体型</a:t>
            </a:r>
          </a:p>
          <a:p>
            <a:pPr lvl="1" algn="l">
              <a:lnSpc>
                <a:spcPct val="150000"/>
              </a:lnSpc>
            </a:pPr>
            <a:r>
              <a:rPr lang="en-US" altLang="zh-CN" sz="2400" dirty="0"/>
              <a:t>3</a:t>
            </a:r>
            <a:r>
              <a:rPr lang="zh-CN" altLang="en-US" sz="2400" dirty="0"/>
              <a:t>、属性：实体的某一特性称为属性。实体属性的一组特定值，确定了一个特定的实体，实体的属性值是数据库中存储的主要数据。</a:t>
            </a:r>
          </a:p>
        </p:txBody>
      </p:sp>
    </p:spTree>
    <p:extLst>
      <p:ext uri="{BB962C8B-B14F-4D97-AF65-F5344CB8AC3E}">
        <p14:creationId xmlns:p14="http://schemas.microsoft.com/office/powerpoint/2010/main" val="880363444"/>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3072490"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en-US" altLang="zh-CN" b="1" u="sng" kern="1200" dirty="0">
                <a:solidFill>
                  <a:schemeClr val="folHlink"/>
                </a:solidFill>
                <a:effectLst>
                  <a:outerShdw blurRad="38100" dist="38100" dir="2700000" algn="tl">
                    <a:srgbClr val="000000"/>
                  </a:outerShdw>
                </a:effectLst>
                <a:cs typeface="+mn-cs"/>
              </a:rPr>
              <a:t>E-R</a:t>
            </a:r>
            <a:r>
              <a:rPr lang="zh-CN" altLang="en-US" b="1" u="sng" kern="1200" dirty="0">
                <a:solidFill>
                  <a:schemeClr val="folHlink"/>
                </a:solidFill>
                <a:effectLst>
                  <a:outerShdw blurRad="38100" dist="38100" dir="2700000" algn="tl">
                    <a:srgbClr val="000000"/>
                  </a:outerShdw>
                </a:effectLst>
                <a:cs typeface="+mn-cs"/>
              </a:rPr>
              <a:t>模型示例</a:t>
            </a:r>
            <a:endParaRPr lang="zh-CN" altLang="en-US" sz="4000" b="1" u="sng" kern="1200" dirty="0">
              <a:solidFill>
                <a:schemeClr val="folHlink"/>
              </a:solidFill>
              <a:effectLst>
                <a:outerShdw blurRad="38100" dist="38100" dir="2700000" algn="tl">
                  <a:srgbClr val="000000"/>
                </a:outerShdw>
              </a:effectLst>
              <a:cs typeface="+mn-cs"/>
            </a:endParaRPr>
          </a:p>
        </p:txBody>
      </p:sp>
      <p:grpSp>
        <p:nvGrpSpPr>
          <p:cNvPr id="152" name="组合 151"/>
          <p:cNvGrpSpPr/>
          <p:nvPr/>
        </p:nvGrpSpPr>
        <p:grpSpPr>
          <a:xfrm>
            <a:off x="551384" y="2124967"/>
            <a:ext cx="10721776" cy="4327525"/>
            <a:chOff x="486792" y="2092738"/>
            <a:chExt cx="8255000" cy="4327525"/>
          </a:xfrm>
        </p:grpSpPr>
        <p:sp>
          <p:nvSpPr>
            <p:cNvPr id="153" name="Rectangle 8"/>
            <p:cNvSpPr>
              <a:spLocks noChangeArrowheads="1"/>
            </p:cNvSpPr>
            <p:nvPr/>
          </p:nvSpPr>
          <p:spPr bwMode="auto">
            <a:xfrm>
              <a:off x="2469580" y="4299363"/>
              <a:ext cx="685800" cy="320675"/>
            </a:xfrm>
            <a:prstGeom prst="rect">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课程</a:t>
              </a:r>
            </a:p>
          </p:txBody>
        </p:sp>
        <p:sp>
          <p:nvSpPr>
            <p:cNvPr id="154" name="AutoShape 9"/>
            <p:cNvSpPr>
              <a:spLocks noChangeArrowheads="1"/>
            </p:cNvSpPr>
            <p:nvPr/>
          </p:nvSpPr>
          <p:spPr bwMode="auto">
            <a:xfrm>
              <a:off x="1512317" y="3664363"/>
              <a:ext cx="762000" cy="287338"/>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课程号</a:t>
              </a:r>
            </a:p>
          </p:txBody>
        </p:sp>
        <p:sp>
          <p:nvSpPr>
            <p:cNvPr id="155" name="AutoShape 10"/>
            <p:cNvSpPr>
              <a:spLocks noChangeArrowheads="1"/>
            </p:cNvSpPr>
            <p:nvPr/>
          </p:nvSpPr>
          <p:spPr bwMode="auto">
            <a:xfrm>
              <a:off x="2426717" y="3664363"/>
              <a:ext cx="762000" cy="287338"/>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课程名</a:t>
              </a:r>
            </a:p>
          </p:txBody>
        </p:sp>
        <p:sp>
          <p:nvSpPr>
            <p:cNvPr id="156" name="AutoShape 11"/>
            <p:cNvSpPr>
              <a:spLocks noChangeArrowheads="1"/>
            </p:cNvSpPr>
            <p:nvPr/>
          </p:nvSpPr>
          <p:spPr bwMode="auto">
            <a:xfrm>
              <a:off x="3341117" y="3664363"/>
              <a:ext cx="685800" cy="287338"/>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学分</a:t>
              </a:r>
            </a:p>
          </p:txBody>
        </p:sp>
        <p:sp>
          <p:nvSpPr>
            <p:cNvPr id="157" name="Rectangle 12"/>
            <p:cNvSpPr>
              <a:spLocks noChangeArrowheads="1"/>
            </p:cNvSpPr>
            <p:nvPr/>
          </p:nvSpPr>
          <p:spPr bwMode="auto">
            <a:xfrm>
              <a:off x="920180" y="5126451"/>
              <a:ext cx="685800" cy="298450"/>
            </a:xfrm>
            <a:prstGeom prst="rect">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教师</a:t>
              </a:r>
            </a:p>
          </p:txBody>
        </p:sp>
        <p:sp>
          <p:nvSpPr>
            <p:cNvPr id="158" name="AutoShape 13"/>
            <p:cNvSpPr>
              <a:spLocks noChangeArrowheads="1"/>
            </p:cNvSpPr>
            <p:nvPr/>
          </p:nvSpPr>
          <p:spPr bwMode="auto">
            <a:xfrm>
              <a:off x="486792" y="5709063"/>
              <a:ext cx="762000" cy="27940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教工号</a:t>
              </a:r>
            </a:p>
          </p:txBody>
        </p:sp>
        <p:sp>
          <p:nvSpPr>
            <p:cNvPr id="159" name="AutoShape 14"/>
            <p:cNvSpPr>
              <a:spLocks noChangeArrowheads="1"/>
            </p:cNvSpPr>
            <p:nvPr/>
          </p:nvSpPr>
          <p:spPr bwMode="auto">
            <a:xfrm>
              <a:off x="1063055" y="6140863"/>
              <a:ext cx="685800" cy="27940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姓名</a:t>
              </a:r>
            </a:p>
          </p:txBody>
        </p:sp>
        <p:sp>
          <p:nvSpPr>
            <p:cNvPr id="160" name="AutoShape 15"/>
            <p:cNvSpPr>
              <a:spLocks noChangeArrowheads="1"/>
            </p:cNvSpPr>
            <p:nvPr/>
          </p:nvSpPr>
          <p:spPr bwMode="auto">
            <a:xfrm>
              <a:off x="1494855" y="5780501"/>
              <a:ext cx="685800" cy="27940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性别</a:t>
              </a:r>
            </a:p>
          </p:txBody>
        </p:sp>
        <p:sp>
          <p:nvSpPr>
            <p:cNvPr id="161" name="AutoShape 16"/>
            <p:cNvSpPr>
              <a:spLocks noChangeArrowheads="1"/>
            </p:cNvSpPr>
            <p:nvPr/>
          </p:nvSpPr>
          <p:spPr bwMode="auto">
            <a:xfrm>
              <a:off x="2287017" y="5780501"/>
              <a:ext cx="685800" cy="27940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职称</a:t>
              </a:r>
            </a:p>
          </p:txBody>
        </p:sp>
        <p:sp>
          <p:nvSpPr>
            <p:cNvPr id="162" name="Rectangle 17"/>
            <p:cNvSpPr>
              <a:spLocks noChangeArrowheads="1"/>
            </p:cNvSpPr>
            <p:nvPr/>
          </p:nvSpPr>
          <p:spPr bwMode="auto">
            <a:xfrm>
              <a:off x="4303142" y="5089938"/>
              <a:ext cx="1066800" cy="371475"/>
            </a:xfrm>
            <a:prstGeom prst="rect">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参考书</a:t>
              </a:r>
            </a:p>
          </p:txBody>
        </p:sp>
        <p:sp>
          <p:nvSpPr>
            <p:cNvPr id="163" name="AutoShape 18"/>
            <p:cNvSpPr>
              <a:spLocks noChangeArrowheads="1"/>
            </p:cNvSpPr>
            <p:nvPr/>
          </p:nvSpPr>
          <p:spPr bwMode="auto">
            <a:xfrm>
              <a:off x="3655442" y="6012276"/>
              <a:ext cx="609600" cy="27305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书号</a:t>
              </a:r>
            </a:p>
          </p:txBody>
        </p:sp>
        <p:sp>
          <p:nvSpPr>
            <p:cNvPr id="164" name="AutoShape 19"/>
            <p:cNvSpPr>
              <a:spLocks noChangeArrowheads="1"/>
            </p:cNvSpPr>
            <p:nvPr/>
          </p:nvSpPr>
          <p:spPr bwMode="auto">
            <a:xfrm>
              <a:off x="4341242" y="5991638"/>
              <a:ext cx="685800" cy="27940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书名</a:t>
              </a:r>
            </a:p>
          </p:txBody>
        </p:sp>
        <p:sp>
          <p:nvSpPr>
            <p:cNvPr id="165" name="AutoShape 20"/>
            <p:cNvSpPr>
              <a:spLocks noChangeArrowheads="1"/>
            </p:cNvSpPr>
            <p:nvPr/>
          </p:nvSpPr>
          <p:spPr bwMode="auto">
            <a:xfrm>
              <a:off x="5104830" y="5991638"/>
              <a:ext cx="869950" cy="27940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出版社</a:t>
              </a:r>
            </a:p>
          </p:txBody>
        </p:sp>
        <p:sp>
          <p:nvSpPr>
            <p:cNvPr id="166" name="AutoShape 21"/>
            <p:cNvSpPr>
              <a:spLocks noChangeArrowheads="1"/>
            </p:cNvSpPr>
            <p:nvPr/>
          </p:nvSpPr>
          <p:spPr bwMode="auto">
            <a:xfrm>
              <a:off x="6055742" y="5991638"/>
              <a:ext cx="685800" cy="27940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主编</a:t>
              </a:r>
            </a:p>
          </p:txBody>
        </p:sp>
        <p:sp>
          <p:nvSpPr>
            <p:cNvPr id="167" name="Rectangle 22"/>
            <p:cNvSpPr>
              <a:spLocks noChangeArrowheads="1"/>
            </p:cNvSpPr>
            <p:nvPr/>
          </p:nvSpPr>
          <p:spPr bwMode="auto">
            <a:xfrm>
              <a:off x="6500242" y="4299363"/>
              <a:ext cx="762000" cy="320675"/>
            </a:xfrm>
            <a:prstGeom prst="rect">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学生</a:t>
              </a:r>
            </a:p>
          </p:txBody>
        </p:sp>
        <p:sp>
          <p:nvSpPr>
            <p:cNvPr id="168" name="AutoShape 23"/>
            <p:cNvSpPr>
              <a:spLocks noChangeArrowheads="1"/>
            </p:cNvSpPr>
            <p:nvPr/>
          </p:nvSpPr>
          <p:spPr bwMode="auto">
            <a:xfrm>
              <a:off x="7986142" y="3815176"/>
              <a:ext cx="755650" cy="246062"/>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学号</a:t>
              </a:r>
            </a:p>
          </p:txBody>
        </p:sp>
        <p:sp>
          <p:nvSpPr>
            <p:cNvPr id="169" name="AutoShape 24"/>
            <p:cNvSpPr>
              <a:spLocks noChangeArrowheads="1"/>
            </p:cNvSpPr>
            <p:nvPr/>
          </p:nvSpPr>
          <p:spPr bwMode="auto">
            <a:xfrm>
              <a:off x="7986142" y="4134263"/>
              <a:ext cx="755650" cy="252413"/>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姓名</a:t>
              </a:r>
            </a:p>
          </p:txBody>
        </p:sp>
        <p:sp>
          <p:nvSpPr>
            <p:cNvPr id="170" name="AutoShape 25"/>
            <p:cNvSpPr>
              <a:spLocks noChangeArrowheads="1"/>
            </p:cNvSpPr>
            <p:nvPr/>
          </p:nvSpPr>
          <p:spPr bwMode="auto">
            <a:xfrm>
              <a:off x="7986142" y="4881976"/>
              <a:ext cx="755650" cy="252412"/>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性别</a:t>
              </a:r>
            </a:p>
          </p:txBody>
        </p:sp>
        <p:sp>
          <p:nvSpPr>
            <p:cNvPr id="171" name="AutoShape 26"/>
            <p:cNvSpPr>
              <a:spLocks noChangeArrowheads="1"/>
            </p:cNvSpPr>
            <p:nvPr/>
          </p:nvSpPr>
          <p:spPr bwMode="auto">
            <a:xfrm>
              <a:off x="7986142" y="4480338"/>
              <a:ext cx="755650" cy="252413"/>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年龄</a:t>
              </a:r>
            </a:p>
          </p:txBody>
        </p:sp>
        <p:sp>
          <p:nvSpPr>
            <p:cNvPr id="172" name="Rectangle 27"/>
            <p:cNvSpPr>
              <a:spLocks noChangeArrowheads="1"/>
            </p:cNvSpPr>
            <p:nvPr/>
          </p:nvSpPr>
          <p:spPr bwMode="auto">
            <a:xfrm>
              <a:off x="6500242" y="2649951"/>
              <a:ext cx="762000" cy="344487"/>
            </a:xfrm>
            <a:prstGeom prst="rect">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班级</a:t>
              </a:r>
            </a:p>
          </p:txBody>
        </p:sp>
        <p:sp>
          <p:nvSpPr>
            <p:cNvPr id="173" name="AutoShape 28"/>
            <p:cNvSpPr>
              <a:spLocks noChangeArrowheads="1"/>
            </p:cNvSpPr>
            <p:nvPr/>
          </p:nvSpPr>
          <p:spPr bwMode="auto">
            <a:xfrm>
              <a:off x="6023992" y="2092738"/>
              <a:ext cx="755650" cy="334963"/>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班号</a:t>
              </a:r>
            </a:p>
          </p:txBody>
        </p:sp>
        <p:sp>
          <p:nvSpPr>
            <p:cNvPr id="174" name="AutoShape 29"/>
            <p:cNvSpPr>
              <a:spLocks noChangeArrowheads="1"/>
            </p:cNvSpPr>
            <p:nvPr/>
          </p:nvSpPr>
          <p:spPr bwMode="auto">
            <a:xfrm>
              <a:off x="6938392" y="2092738"/>
              <a:ext cx="755650" cy="334963"/>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班名</a:t>
              </a:r>
            </a:p>
          </p:txBody>
        </p:sp>
        <p:cxnSp>
          <p:nvCxnSpPr>
            <p:cNvPr id="175" name="AutoShape 30"/>
            <p:cNvCxnSpPr>
              <a:cxnSpLocks noChangeShapeType="1"/>
              <a:stCxn id="154" idx="2"/>
              <a:endCxn id="153" idx="0"/>
            </p:cNvCxnSpPr>
            <p:nvPr/>
          </p:nvCxnSpPr>
          <p:spPr bwMode="auto">
            <a:xfrm>
              <a:off x="1893317" y="3951701"/>
              <a:ext cx="919163" cy="347662"/>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76" name="AutoShape 31"/>
            <p:cNvCxnSpPr>
              <a:cxnSpLocks noChangeShapeType="1"/>
              <a:stCxn id="155" idx="2"/>
              <a:endCxn id="153" idx="0"/>
            </p:cNvCxnSpPr>
            <p:nvPr/>
          </p:nvCxnSpPr>
          <p:spPr bwMode="auto">
            <a:xfrm>
              <a:off x="2807717" y="3951701"/>
              <a:ext cx="4763" cy="347662"/>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77" name="AutoShape 32"/>
            <p:cNvCxnSpPr>
              <a:cxnSpLocks noChangeShapeType="1"/>
              <a:stCxn id="156" idx="2"/>
              <a:endCxn id="153" idx="0"/>
            </p:cNvCxnSpPr>
            <p:nvPr/>
          </p:nvCxnSpPr>
          <p:spPr bwMode="auto">
            <a:xfrm flipH="1">
              <a:off x="2812480" y="3951701"/>
              <a:ext cx="871537" cy="347662"/>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78" name="AutoShape 33"/>
            <p:cNvCxnSpPr>
              <a:cxnSpLocks noChangeShapeType="1"/>
              <a:stCxn id="157" idx="2"/>
              <a:endCxn id="158" idx="0"/>
            </p:cNvCxnSpPr>
            <p:nvPr/>
          </p:nvCxnSpPr>
          <p:spPr bwMode="auto">
            <a:xfrm flipH="1">
              <a:off x="867792" y="5424901"/>
              <a:ext cx="395288" cy="284162"/>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79" name="AutoShape 34"/>
            <p:cNvCxnSpPr>
              <a:cxnSpLocks noChangeShapeType="1"/>
              <a:stCxn id="157" idx="2"/>
              <a:endCxn id="159" idx="0"/>
            </p:cNvCxnSpPr>
            <p:nvPr/>
          </p:nvCxnSpPr>
          <p:spPr bwMode="auto">
            <a:xfrm>
              <a:off x="1263080" y="5424901"/>
              <a:ext cx="142875" cy="715962"/>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0" name="AutoShape 35"/>
            <p:cNvCxnSpPr>
              <a:cxnSpLocks noChangeShapeType="1"/>
              <a:stCxn id="157" idx="2"/>
              <a:endCxn id="160" idx="0"/>
            </p:cNvCxnSpPr>
            <p:nvPr/>
          </p:nvCxnSpPr>
          <p:spPr bwMode="auto">
            <a:xfrm>
              <a:off x="1263080" y="5424901"/>
              <a:ext cx="574675" cy="35560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1" name="AutoShape 36"/>
            <p:cNvCxnSpPr>
              <a:cxnSpLocks noChangeShapeType="1"/>
              <a:stCxn id="157" idx="2"/>
              <a:endCxn id="161" idx="0"/>
            </p:cNvCxnSpPr>
            <p:nvPr/>
          </p:nvCxnSpPr>
          <p:spPr bwMode="auto">
            <a:xfrm>
              <a:off x="1263080" y="5424901"/>
              <a:ext cx="1366837" cy="35560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2" name="AutoShape 37"/>
            <p:cNvCxnSpPr>
              <a:cxnSpLocks noChangeShapeType="1"/>
              <a:stCxn id="162" idx="2"/>
              <a:endCxn id="163" idx="0"/>
            </p:cNvCxnSpPr>
            <p:nvPr/>
          </p:nvCxnSpPr>
          <p:spPr bwMode="auto">
            <a:xfrm flipH="1">
              <a:off x="3960242" y="5461413"/>
              <a:ext cx="876300" cy="550863"/>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3" name="AutoShape 38"/>
            <p:cNvCxnSpPr>
              <a:cxnSpLocks noChangeShapeType="1"/>
              <a:stCxn id="162" idx="2"/>
              <a:endCxn id="164" idx="0"/>
            </p:cNvCxnSpPr>
            <p:nvPr/>
          </p:nvCxnSpPr>
          <p:spPr bwMode="auto">
            <a:xfrm flipH="1">
              <a:off x="4684142" y="5461413"/>
              <a:ext cx="152400" cy="53022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4" name="AutoShape 39"/>
            <p:cNvCxnSpPr>
              <a:cxnSpLocks noChangeShapeType="1"/>
              <a:stCxn id="162" idx="2"/>
              <a:endCxn id="165" idx="0"/>
            </p:cNvCxnSpPr>
            <p:nvPr/>
          </p:nvCxnSpPr>
          <p:spPr bwMode="auto">
            <a:xfrm>
              <a:off x="4836542" y="5461413"/>
              <a:ext cx="703263" cy="53022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5" name="AutoShape 40"/>
            <p:cNvCxnSpPr>
              <a:cxnSpLocks noChangeShapeType="1"/>
              <a:stCxn id="162" idx="2"/>
              <a:endCxn id="166" idx="0"/>
            </p:cNvCxnSpPr>
            <p:nvPr/>
          </p:nvCxnSpPr>
          <p:spPr bwMode="auto">
            <a:xfrm>
              <a:off x="4836542" y="5461413"/>
              <a:ext cx="1562100" cy="53022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6" name="AutoShape 41"/>
            <p:cNvCxnSpPr>
              <a:cxnSpLocks noChangeShapeType="1"/>
              <a:stCxn id="167" idx="3"/>
              <a:endCxn id="168" idx="1"/>
            </p:cNvCxnSpPr>
            <p:nvPr/>
          </p:nvCxnSpPr>
          <p:spPr bwMode="auto">
            <a:xfrm flipV="1">
              <a:off x="7262242" y="3939001"/>
              <a:ext cx="723900" cy="52070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7" name="AutoShape 42"/>
            <p:cNvCxnSpPr>
              <a:cxnSpLocks noChangeShapeType="1"/>
              <a:stCxn id="167" idx="3"/>
              <a:endCxn id="169" idx="1"/>
            </p:cNvCxnSpPr>
            <p:nvPr/>
          </p:nvCxnSpPr>
          <p:spPr bwMode="auto">
            <a:xfrm flipV="1">
              <a:off x="7262242" y="4261263"/>
              <a:ext cx="723900" cy="198438"/>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8" name="AutoShape 43"/>
            <p:cNvCxnSpPr>
              <a:cxnSpLocks noChangeShapeType="1"/>
              <a:stCxn id="167" idx="3"/>
              <a:endCxn id="171" idx="1"/>
            </p:cNvCxnSpPr>
            <p:nvPr/>
          </p:nvCxnSpPr>
          <p:spPr bwMode="auto">
            <a:xfrm>
              <a:off x="7262242" y="4459701"/>
              <a:ext cx="723900" cy="147637"/>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9" name="AutoShape 44"/>
            <p:cNvCxnSpPr>
              <a:cxnSpLocks noChangeShapeType="1"/>
              <a:stCxn id="167" idx="3"/>
              <a:endCxn id="170" idx="1"/>
            </p:cNvCxnSpPr>
            <p:nvPr/>
          </p:nvCxnSpPr>
          <p:spPr bwMode="auto">
            <a:xfrm>
              <a:off x="7262242" y="4459701"/>
              <a:ext cx="723900" cy="54927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90" name="AutoShape 45"/>
            <p:cNvCxnSpPr>
              <a:cxnSpLocks noChangeShapeType="1"/>
              <a:stCxn id="172" idx="0"/>
              <a:endCxn id="173" idx="2"/>
            </p:cNvCxnSpPr>
            <p:nvPr/>
          </p:nvCxnSpPr>
          <p:spPr bwMode="auto">
            <a:xfrm flipH="1" flipV="1">
              <a:off x="6401817" y="2427701"/>
              <a:ext cx="479425" cy="22225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91" name="AutoShape 46"/>
            <p:cNvCxnSpPr>
              <a:cxnSpLocks noChangeShapeType="1"/>
              <a:stCxn id="172" idx="0"/>
              <a:endCxn id="174" idx="2"/>
            </p:cNvCxnSpPr>
            <p:nvPr/>
          </p:nvCxnSpPr>
          <p:spPr bwMode="auto">
            <a:xfrm flipV="1">
              <a:off x="6881242" y="2427701"/>
              <a:ext cx="434975" cy="22225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192" name="AutoShape 47"/>
            <p:cNvSpPr>
              <a:spLocks noChangeArrowheads="1"/>
            </p:cNvSpPr>
            <p:nvPr/>
          </p:nvSpPr>
          <p:spPr bwMode="auto">
            <a:xfrm>
              <a:off x="4479355" y="4231101"/>
              <a:ext cx="1219200" cy="457200"/>
            </a:xfrm>
            <a:prstGeom prst="diamond">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选修</a:t>
              </a:r>
            </a:p>
          </p:txBody>
        </p:sp>
        <p:sp>
          <p:nvSpPr>
            <p:cNvPr id="193" name="AutoShape 48"/>
            <p:cNvSpPr>
              <a:spLocks noChangeArrowheads="1"/>
            </p:cNvSpPr>
            <p:nvPr/>
          </p:nvSpPr>
          <p:spPr bwMode="auto">
            <a:xfrm>
              <a:off x="4711130" y="3437351"/>
              <a:ext cx="755650" cy="27940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成绩</a:t>
              </a:r>
            </a:p>
          </p:txBody>
        </p:sp>
        <p:cxnSp>
          <p:nvCxnSpPr>
            <p:cNvPr id="194" name="AutoShape 49"/>
            <p:cNvCxnSpPr>
              <a:cxnSpLocks noChangeShapeType="1"/>
              <a:stCxn id="193" idx="2"/>
              <a:endCxn id="192" idx="0"/>
            </p:cNvCxnSpPr>
            <p:nvPr/>
          </p:nvCxnSpPr>
          <p:spPr bwMode="auto">
            <a:xfrm>
              <a:off x="5088955" y="3716751"/>
              <a:ext cx="0" cy="51435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95" name="AutoShape 50"/>
            <p:cNvCxnSpPr>
              <a:cxnSpLocks noChangeShapeType="1"/>
              <a:stCxn id="153" idx="3"/>
              <a:endCxn id="192" idx="1"/>
            </p:cNvCxnSpPr>
            <p:nvPr/>
          </p:nvCxnSpPr>
          <p:spPr bwMode="auto">
            <a:xfrm>
              <a:off x="3155380" y="4459701"/>
              <a:ext cx="1323975"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96" name="AutoShape 51"/>
            <p:cNvCxnSpPr>
              <a:cxnSpLocks noChangeShapeType="1"/>
              <a:stCxn id="192" idx="3"/>
              <a:endCxn id="167" idx="1"/>
            </p:cNvCxnSpPr>
            <p:nvPr/>
          </p:nvCxnSpPr>
          <p:spPr bwMode="auto">
            <a:xfrm>
              <a:off x="5698555" y="4459701"/>
              <a:ext cx="801687"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197" name="AutoShape 52"/>
            <p:cNvSpPr>
              <a:spLocks noChangeArrowheads="1"/>
            </p:cNvSpPr>
            <p:nvPr/>
          </p:nvSpPr>
          <p:spPr bwMode="auto">
            <a:xfrm>
              <a:off x="6271642" y="3472276"/>
              <a:ext cx="1219200" cy="457200"/>
            </a:xfrm>
            <a:prstGeom prst="diamond">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组成</a:t>
              </a:r>
            </a:p>
          </p:txBody>
        </p:sp>
        <p:cxnSp>
          <p:nvCxnSpPr>
            <p:cNvPr id="198" name="AutoShape 53"/>
            <p:cNvCxnSpPr>
              <a:cxnSpLocks noChangeShapeType="1"/>
              <a:stCxn id="172" idx="2"/>
              <a:endCxn id="197" idx="0"/>
            </p:cNvCxnSpPr>
            <p:nvPr/>
          </p:nvCxnSpPr>
          <p:spPr bwMode="auto">
            <a:xfrm>
              <a:off x="6881242" y="2994438"/>
              <a:ext cx="0" cy="477838"/>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99" name="AutoShape 54"/>
            <p:cNvCxnSpPr>
              <a:cxnSpLocks noChangeShapeType="1"/>
              <a:stCxn id="197" idx="2"/>
              <a:endCxn id="167" idx="0"/>
            </p:cNvCxnSpPr>
            <p:nvPr/>
          </p:nvCxnSpPr>
          <p:spPr bwMode="auto">
            <a:xfrm>
              <a:off x="6881242" y="3929476"/>
              <a:ext cx="0" cy="369887"/>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202" name="AutoShape 57"/>
            <p:cNvSpPr>
              <a:spLocks noChangeArrowheads="1"/>
            </p:cNvSpPr>
            <p:nvPr/>
          </p:nvSpPr>
          <p:spPr bwMode="auto">
            <a:xfrm>
              <a:off x="2202880" y="5047076"/>
              <a:ext cx="1219200" cy="457200"/>
            </a:xfrm>
            <a:prstGeom prst="diamond">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讲授</a:t>
              </a:r>
            </a:p>
          </p:txBody>
        </p:sp>
        <p:cxnSp>
          <p:nvCxnSpPr>
            <p:cNvPr id="203" name="AutoShape 58"/>
            <p:cNvCxnSpPr>
              <a:cxnSpLocks noChangeShapeType="1"/>
              <a:stCxn id="153" idx="2"/>
              <a:endCxn id="202" idx="0"/>
            </p:cNvCxnSpPr>
            <p:nvPr/>
          </p:nvCxnSpPr>
          <p:spPr bwMode="auto">
            <a:xfrm rot="5400000">
              <a:off x="2598961" y="4833557"/>
              <a:ext cx="427038"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204" name="AutoShape 59"/>
            <p:cNvCxnSpPr>
              <a:cxnSpLocks noChangeShapeType="1"/>
              <a:stCxn id="202" idx="1"/>
              <a:endCxn id="157" idx="3"/>
            </p:cNvCxnSpPr>
            <p:nvPr/>
          </p:nvCxnSpPr>
          <p:spPr bwMode="auto">
            <a:xfrm rot="10800000">
              <a:off x="1605980" y="5275676"/>
              <a:ext cx="596900"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205" name="AutoShape 60"/>
            <p:cNvCxnSpPr>
              <a:cxnSpLocks noChangeShapeType="1"/>
              <a:stCxn id="202" idx="3"/>
              <a:endCxn id="162" idx="1"/>
            </p:cNvCxnSpPr>
            <p:nvPr/>
          </p:nvCxnSpPr>
          <p:spPr bwMode="auto">
            <a:xfrm>
              <a:off x="3422080" y="5275676"/>
              <a:ext cx="881062"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206" name="Rectangle 61"/>
            <p:cNvSpPr>
              <a:spLocks noChangeArrowheads="1"/>
            </p:cNvSpPr>
            <p:nvPr/>
          </p:nvSpPr>
          <p:spPr bwMode="auto">
            <a:xfrm>
              <a:off x="3720530" y="4177126"/>
              <a:ext cx="762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2400" baseline="0">
                  <a:latin typeface="Times New Roman" pitchFamily="18" charset="0"/>
                  <a:ea typeface="楷体_GB2312" pitchFamily="49" charset="-122"/>
                </a:rPr>
                <a:t>m</a:t>
              </a:r>
            </a:p>
          </p:txBody>
        </p:sp>
        <p:sp>
          <p:nvSpPr>
            <p:cNvPr id="207" name="Rectangle 62"/>
            <p:cNvSpPr>
              <a:spLocks noChangeArrowheads="1"/>
            </p:cNvSpPr>
            <p:nvPr/>
          </p:nvSpPr>
          <p:spPr bwMode="auto">
            <a:xfrm>
              <a:off x="5874767" y="4197763"/>
              <a:ext cx="762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2400" baseline="0">
                  <a:latin typeface="Times New Roman" pitchFamily="18" charset="0"/>
                  <a:ea typeface="楷体_GB2312" pitchFamily="49" charset="-122"/>
                </a:rPr>
                <a:t>n</a:t>
              </a:r>
            </a:p>
          </p:txBody>
        </p:sp>
        <p:sp>
          <p:nvSpPr>
            <p:cNvPr id="208" name="Rectangle 64"/>
            <p:cNvSpPr>
              <a:spLocks noChangeArrowheads="1"/>
            </p:cNvSpPr>
            <p:nvPr/>
          </p:nvSpPr>
          <p:spPr bwMode="auto">
            <a:xfrm>
              <a:off x="6654230" y="3972338"/>
              <a:ext cx="762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2400" baseline="0">
                  <a:latin typeface="Times New Roman" pitchFamily="18" charset="0"/>
                  <a:ea typeface="楷体_GB2312" pitchFamily="49" charset="-122"/>
                </a:rPr>
                <a:t>n</a:t>
              </a:r>
            </a:p>
          </p:txBody>
        </p:sp>
        <p:sp>
          <p:nvSpPr>
            <p:cNvPr id="209" name="Rectangle 65"/>
            <p:cNvSpPr>
              <a:spLocks noChangeArrowheads="1"/>
            </p:cNvSpPr>
            <p:nvPr/>
          </p:nvSpPr>
          <p:spPr bwMode="auto">
            <a:xfrm>
              <a:off x="6787580" y="3162713"/>
              <a:ext cx="4572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2400" baseline="0">
                  <a:latin typeface="Times New Roman" pitchFamily="18" charset="0"/>
                  <a:ea typeface="楷体_GB2312" pitchFamily="49" charset="-122"/>
                </a:rPr>
                <a:t>1</a:t>
              </a:r>
            </a:p>
          </p:txBody>
        </p:sp>
        <p:sp>
          <p:nvSpPr>
            <p:cNvPr id="210" name="Rectangle 68"/>
            <p:cNvSpPr>
              <a:spLocks noChangeArrowheads="1"/>
            </p:cNvSpPr>
            <p:nvPr/>
          </p:nvSpPr>
          <p:spPr bwMode="auto">
            <a:xfrm>
              <a:off x="2398142" y="4693063"/>
              <a:ext cx="4572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2400" baseline="0">
                  <a:latin typeface="Times New Roman" pitchFamily="18" charset="0"/>
                  <a:ea typeface="楷体_GB2312" pitchFamily="49" charset="-122"/>
                </a:rPr>
                <a:t>m</a:t>
              </a:r>
            </a:p>
          </p:txBody>
        </p:sp>
        <p:sp>
          <p:nvSpPr>
            <p:cNvPr id="211" name="Rectangle 69"/>
            <p:cNvSpPr>
              <a:spLocks noChangeArrowheads="1"/>
            </p:cNvSpPr>
            <p:nvPr/>
          </p:nvSpPr>
          <p:spPr bwMode="auto">
            <a:xfrm>
              <a:off x="1474217" y="4996276"/>
              <a:ext cx="762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2400" baseline="0">
                  <a:latin typeface="Times New Roman" pitchFamily="18" charset="0"/>
                  <a:ea typeface="楷体_GB2312" pitchFamily="49" charset="-122"/>
                </a:rPr>
                <a:t>n</a:t>
              </a:r>
            </a:p>
          </p:txBody>
        </p:sp>
        <p:sp>
          <p:nvSpPr>
            <p:cNvPr id="212" name="Rectangle 70"/>
            <p:cNvSpPr>
              <a:spLocks noChangeArrowheads="1"/>
            </p:cNvSpPr>
            <p:nvPr/>
          </p:nvSpPr>
          <p:spPr bwMode="auto">
            <a:xfrm>
              <a:off x="3439542" y="4988338"/>
              <a:ext cx="762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2400" baseline="0">
                  <a:latin typeface="Times New Roman" pitchFamily="18" charset="0"/>
                  <a:ea typeface="楷体_GB2312" pitchFamily="49" charset="-122"/>
                </a:rPr>
                <a:t>p</a:t>
              </a:r>
            </a:p>
          </p:txBody>
        </p:sp>
      </p:grpSp>
      <p:grpSp>
        <p:nvGrpSpPr>
          <p:cNvPr id="213" name="Group 71"/>
          <p:cNvGrpSpPr>
            <a:grpSpLocks/>
          </p:cNvGrpSpPr>
          <p:nvPr/>
        </p:nvGrpSpPr>
        <p:grpSpPr bwMode="auto">
          <a:xfrm>
            <a:off x="647058" y="2077850"/>
            <a:ext cx="1800225" cy="936625"/>
            <a:chOff x="2154" y="1389"/>
            <a:chExt cx="1134" cy="590"/>
          </a:xfrm>
        </p:grpSpPr>
        <p:sp>
          <p:nvSpPr>
            <p:cNvPr id="214" name="Rectangle 72"/>
            <p:cNvSpPr>
              <a:spLocks noChangeArrowheads="1"/>
            </p:cNvSpPr>
            <p:nvPr/>
          </p:nvSpPr>
          <p:spPr bwMode="auto">
            <a:xfrm>
              <a:off x="2154" y="1389"/>
              <a:ext cx="1134" cy="590"/>
            </a:xfrm>
            <a:prstGeom prst="rect">
              <a:avLst/>
            </a:prstGeom>
            <a:solidFill>
              <a:schemeClr val="hlink"/>
            </a:solidFill>
            <a:ln w="12700" cap="sq">
              <a:solidFill>
                <a:schemeClr val="tx1"/>
              </a:solidFill>
              <a:miter lim="800000"/>
              <a:headEnd/>
              <a:tailEnd/>
            </a:ln>
            <a:effectLst>
              <a:outerShdw dist="107763" dir="2700000" algn="ctr" rotWithShape="0">
                <a:schemeClr val="bg2">
                  <a:alpha val="50000"/>
                </a:schemeClr>
              </a:outerShdw>
            </a:effectLst>
          </p:spPr>
          <p:txBody>
            <a:bodyPr wrap="none" lIns="0" tIns="0" rIns="0" bIns="0" anchor="ctr"/>
            <a:lstStyle/>
            <a:p>
              <a:pPr>
                <a:defRPr/>
              </a:pPr>
              <a:endParaRPr lang="zh-CN" altLang="en-US"/>
            </a:p>
          </p:txBody>
        </p:sp>
        <p:sp>
          <p:nvSpPr>
            <p:cNvPr id="215" name="Rectangle 73"/>
            <p:cNvSpPr>
              <a:spLocks noChangeArrowheads="1"/>
            </p:cNvSpPr>
            <p:nvPr/>
          </p:nvSpPr>
          <p:spPr bwMode="auto">
            <a:xfrm>
              <a:off x="2226" y="1433"/>
              <a:ext cx="453" cy="152"/>
            </a:xfrm>
            <a:prstGeom prst="rect">
              <a:avLst/>
            </a:prstGeom>
            <a:solidFill>
              <a:schemeClr val="bg1"/>
            </a:solidFill>
            <a:ln w="12700" cap="sq">
              <a:solidFill>
                <a:schemeClr val="tx1"/>
              </a:solidFill>
              <a:miter lim="800000"/>
              <a:headEnd/>
              <a:tailEnd/>
            </a:ln>
          </p:spPr>
          <p:txBody>
            <a:bodyPr wrap="none" lIns="0" tIns="0" rIns="0" bIns="0" anchor="ctr"/>
            <a:lstStyle/>
            <a:p>
              <a:endParaRPr lang="zh-CN" altLang="en-US"/>
            </a:p>
          </p:txBody>
        </p:sp>
        <p:sp>
          <p:nvSpPr>
            <p:cNvPr id="216" name="Rectangle 74"/>
            <p:cNvSpPr>
              <a:spLocks noChangeArrowheads="1"/>
            </p:cNvSpPr>
            <p:nvPr/>
          </p:nvSpPr>
          <p:spPr bwMode="auto">
            <a:xfrm>
              <a:off x="2850" y="1394"/>
              <a:ext cx="320" cy="192"/>
            </a:xfrm>
            <a:prstGeom prst="rect">
              <a:avLst/>
            </a:prstGeom>
            <a:solidFill>
              <a:schemeClr val="hlink"/>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a:r>
                <a:rPr kumimoji="1" lang="zh-CN" altLang="en-US" sz="2000" b="1" baseline="0">
                  <a:solidFill>
                    <a:schemeClr val="bg1"/>
                  </a:solidFill>
                  <a:latin typeface="Times New Roman" pitchFamily="18" charset="0"/>
                  <a:ea typeface="楷体_GB2312" pitchFamily="49" charset="-122"/>
                </a:rPr>
                <a:t>实体</a:t>
              </a:r>
            </a:p>
          </p:txBody>
        </p:sp>
        <p:sp>
          <p:nvSpPr>
            <p:cNvPr id="217" name="AutoShape 75"/>
            <p:cNvSpPr>
              <a:spLocks noChangeArrowheads="1"/>
            </p:cNvSpPr>
            <p:nvPr/>
          </p:nvSpPr>
          <p:spPr bwMode="auto">
            <a:xfrm>
              <a:off x="2245" y="1797"/>
              <a:ext cx="453" cy="151"/>
            </a:xfrm>
            <a:prstGeom prst="diamond">
              <a:avLst/>
            </a:prstGeom>
            <a:solidFill>
              <a:schemeClr val="bg1"/>
            </a:solidFill>
            <a:ln w="12700" cap="sq">
              <a:solidFill>
                <a:schemeClr val="tx1"/>
              </a:solidFill>
              <a:miter lim="800000"/>
              <a:headEnd/>
              <a:tailEnd/>
            </a:ln>
          </p:spPr>
          <p:txBody>
            <a:bodyPr wrap="none" lIns="0" tIns="0" rIns="0" bIns="0" anchor="ctr"/>
            <a:lstStyle/>
            <a:p>
              <a:endParaRPr lang="zh-CN" altLang="en-US"/>
            </a:p>
          </p:txBody>
        </p:sp>
        <p:sp>
          <p:nvSpPr>
            <p:cNvPr id="218" name="Rectangle 76"/>
            <p:cNvSpPr>
              <a:spLocks noChangeArrowheads="1"/>
            </p:cNvSpPr>
            <p:nvPr/>
          </p:nvSpPr>
          <p:spPr bwMode="auto">
            <a:xfrm>
              <a:off x="2862" y="1768"/>
              <a:ext cx="320" cy="192"/>
            </a:xfrm>
            <a:prstGeom prst="rect">
              <a:avLst/>
            </a:prstGeom>
            <a:solidFill>
              <a:schemeClr val="hlink"/>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a:r>
                <a:rPr kumimoji="1" lang="zh-CN" altLang="en-US" sz="2000" b="1" baseline="0">
                  <a:solidFill>
                    <a:schemeClr val="bg1"/>
                  </a:solidFill>
                  <a:latin typeface="Times New Roman" pitchFamily="18" charset="0"/>
                  <a:ea typeface="楷体_GB2312" pitchFamily="49" charset="-122"/>
                </a:rPr>
                <a:t>联系</a:t>
              </a:r>
            </a:p>
          </p:txBody>
        </p:sp>
        <p:sp>
          <p:nvSpPr>
            <p:cNvPr id="219" name="AutoShape 77"/>
            <p:cNvSpPr>
              <a:spLocks noChangeArrowheads="1"/>
            </p:cNvSpPr>
            <p:nvPr/>
          </p:nvSpPr>
          <p:spPr bwMode="auto">
            <a:xfrm>
              <a:off x="2226" y="1621"/>
              <a:ext cx="453" cy="152"/>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endParaRPr lang="zh-CN" altLang="en-US"/>
            </a:p>
          </p:txBody>
        </p:sp>
        <p:sp>
          <p:nvSpPr>
            <p:cNvPr id="220" name="Rectangle 78"/>
            <p:cNvSpPr>
              <a:spLocks noChangeArrowheads="1"/>
            </p:cNvSpPr>
            <p:nvPr/>
          </p:nvSpPr>
          <p:spPr bwMode="auto">
            <a:xfrm>
              <a:off x="2850" y="1581"/>
              <a:ext cx="320" cy="192"/>
            </a:xfrm>
            <a:prstGeom prst="rect">
              <a:avLst/>
            </a:prstGeom>
            <a:solidFill>
              <a:schemeClr val="hlink"/>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a:r>
                <a:rPr kumimoji="1" lang="zh-CN" altLang="en-US" sz="2000" b="1" baseline="0">
                  <a:solidFill>
                    <a:schemeClr val="bg1"/>
                  </a:solidFill>
                  <a:latin typeface="Times New Roman" pitchFamily="18" charset="0"/>
                  <a:ea typeface="楷体_GB2312" pitchFamily="49" charset="-122"/>
                </a:rPr>
                <a:t>属性</a:t>
              </a:r>
            </a:p>
          </p:txBody>
        </p:sp>
      </p:grpSp>
      <p:sp>
        <p:nvSpPr>
          <p:cNvPr id="221" name="Rectangle 79"/>
          <p:cNvSpPr txBox="1">
            <a:spLocks noChangeArrowheads="1"/>
          </p:cNvSpPr>
          <p:nvPr/>
        </p:nvSpPr>
        <p:spPr bwMode="auto">
          <a:xfrm>
            <a:off x="551384" y="769750"/>
            <a:ext cx="11305256" cy="10795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320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0" indent="0" eaLnBrk="1" hangingPunct="1">
              <a:spcAft>
                <a:spcPct val="30000"/>
              </a:spcAft>
              <a:buNone/>
              <a:defRPr/>
            </a:pPr>
            <a:r>
              <a:rPr lang="zh-CN" altLang="en-US" sz="3600" kern="0" baseline="0" dirty="0">
                <a:solidFill>
                  <a:schemeClr val="tx1"/>
                </a:solidFill>
              </a:rPr>
              <a:t>英文全称为</a:t>
            </a:r>
            <a:r>
              <a:rPr lang="en-US" altLang="zh-CN" sz="3600" kern="0" baseline="0" dirty="0">
                <a:solidFill>
                  <a:schemeClr val="tx1"/>
                </a:solidFill>
              </a:rPr>
              <a:t>Entity Relationship Model</a:t>
            </a:r>
            <a:r>
              <a:rPr lang="zh-CN" altLang="en-US" sz="3600" kern="0" baseline="0" dirty="0">
                <a:solidFill>
                  <a:schemeClr val="tx1"/>
                </a:solidFill>
              </a:rPr>
              <a:t>，用于建立概念性的数据模型。</a:t>
            </a:r>
          </a:p>
        </p:txBody>
      </p:sp>
    </p:spTree>
    <p:extLst>
      <p:ext uri="{BB962C8B-B14F-4D97-AF65-F5344CB8AC3E}">
        <p14:creationId xmlns:p14="http://schemas.microsoft.com/office/powerpoint/2010/main" val="1025437834"/>
      </p:ext>
    </p:extLst>
  </p:cSld>
  <p:clrMapOvr>
    <a:masterClrMapping/>
  </p:clrMapOvr>
  <mc:AlternateContent xmlns:mc="http://schemas.openxmlformats.org/markup-compatibility/2006" xmlns:p14="http://schemas.microsoft.com/office/powerpoint/2010/main">
    <mc:Choice Requires="p14">
      <p:transition spd="slow" p14:dur="1500">
        <p:split orient="vert"/>
        <p:sndAc>
          <p:stSnd>
            <p:snd r:embed="rId2" name="arrow.wav"/>
          </p:stSnd>
        </p:sndAc>
      </p:transition>
    </mc:Choice>
    <mc:Fallback xmlns="">
      <p:transition spd="slow">
        <p:split orient="vert"/>
        <p:sndAc>
          <p:stSnd>
            <p:snd r:embed="rId4" name="arrow.wav"/>
          </p:stSnd>
        </p:sndAc>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5124333"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en-US" altLang="zh-CN" b="1" u="sng" kern="1200" dirty="0">
                <a:solidFill>
                  <a:schemeClr val="folHlink"/>
                </a:solidFill>
                <a:effectLst>
                  <a:outerShdw blurRad="38100" dist="38100" dir="2700000" algn="tl">
                    <a:srgbClr val="000000"/>
                  </a:outerShdw>
                </a:effectLst>
                <a:cs typeface="+mn-cs"/>
              </a:rPr>
              <a:t>E-R</a:t>
            </a:r>
            <a:r>
              <a:rPr lang="zh-CN" altLang="en-US" b="1" u="sng" kern="1200" dirty="0">
                <a:solidFill>
                  <a:schemeClr val="folHlink"/>
                </a:solidFill>
                <a:effectLst>
                  <a:outerShdw blurRad="38100" dist="38100" dir="2700000" algn="tl">
                    <a:srgbClr val="000000"/>
                  </a:outerShdw>
                </a:effectLst>
                <a:cs typeface="+mn-cs"/>
              </a:rPr>
              <a:t>模型中的基本概念</a:t>
            </a:r>
            <a:endParaRPr lang="zh-CN" altLang="en-US" sz="4000" b="1" u="sng" kern="1200" dirty="0">
              <a:solidFill>
                <a:schemeClr val="folHlink"/>
              </a:solidFill>
              <a:effectLst>
                <a:outerShdw blurRad="38100" dist="38100" dir="2700000" algn="tl">
                  <a:srgbClr val="000000"/>
                </a:outerShdw>
              </a:effectLst>
              <a:cs typeface="+mn-cs"/>
            </a:endParaRPr>
          </a:p>
        </p:txBody>
      </p:sp>
      <p:sp>
        <p:nvSpPr>
          <p:cNvPr id="73" name="Rectangle 5"/>
          <p:cNvSpPr txBox="1">
            <a:spLocks noChangeArrowheads="1"/>
          </p:cNvSpPr>
          <p:nvPr/>
        </p:nvSpPr>
        <p:spPr bwMode="auto">
          <a:xfrm>
            <a:off x="244621" y="865289"/>
            <a:ext cx="11251979" cy="108012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spcAft>
                <a:spcPct val="20000"/>
              </a:spcAft>
              <a:defRPr/>
            </a:pPr>
            <a:r>
              <a:rPr lang="zh-CN" altLang="en-US" sz="2800" b="1" baseline="0" dirty="0">
                <a:solidFill>
                  <a:srgbClr val="FFFF00"/>
                </a:solidFill>
              </a:rPr>
              <a:t>实体</a:t>
            </a:r>
            <a:r>
              <a:rPr lang="zh-CN" altLang="en-US" sz="2800" baseline="0" dirty="0"/>
              <a:t>（</a:t>
            </a:r>
            <a:r>
              <a:rPr lang="en-US" altLang="zh-CN" sz="2800" baseline="0" dirty="0"/>
              <a:t>Entity</a:t>
            </a:r>
            <a:r>
              <a:rPr lang="zh-CN" altLang="en-US" sz="2800" baseline="0" dirty="0"/>
              <a:t>）：客观存在并可以相互区别的事物。可以是一个具体的物体或抽象的概念。</a:t>
            </a:r>
          </a:p>
          <a:p>
            <a:pPr eaLnBrk="1" hangingPunct="1">
              <a:spcBef>
                <a:spcPts val="1200"/>
              </a:spcBef>
              <a:spcAft>
                <a:spcPct val="20000"/>
              </a:spcAft>
              <a:buFont typeface="Wingdings" pitchFamily="2" charset="2"/>
              <a:buNone/>
              <a:defRPr/>
            </a:pPr>
            <a:r>
              <a:rPr lang="zh-CN" altLang="en-US" sz="2800" baseline="0" dirty="0">
                <a:solidFill>
                  <a:srgbClr val="CCFF99"/>
                </a:solidFill>
              </a:rPr>
              <a:t>	如一名学生，一门课程，一次选课等。</a:t>
            </a:r>
            <a:endParaRPr lang="en-US" altLang="zh-CN" sz="2800" baseline="0" dirty="0">
              <a:solidFill>
                <a:srgbClr val="CCFF99"/>
              </a:solidFill>
            </a:endParaRPr>
          </a:p>
        </p:txBody>
      </p:sp>
      <p:sp>
        <p:nvSpPr>
          <p:cNvPr id="74" name="矩形 73"/>
          <p:cNvSpPr/>
          <p:nvPr/>
        </p:nvSpPr>
        <p:spPr>
          <a:xfrm>
            <a:off x="284161" y="2708920"/>
            <a:ext cx="11428463" cy="1625060"/>
          </a:xfrm>
          <a:prstGeom prst="rect">
            <a:avLst/>
          </a:prstGeom>
        </p:spPr>
        <p:txBody>
          <a:bodyPr wrap="square">
            <a:spAutoFit/>
          </a:bodyPr>
          <a:lstStyle/>
          <a:p>
            <a:pPr marL="342900" indent="-342900">
              <a:spcAft>
                <a:spcPct val="20000"/>
              </a:spcAft>
              <a:buClr>
                <a:srgbClr val="66FF33"/>
              </a:buClr>
              <a:buSzPct val="85000"/>
              <a:buFontTx/>
              <a:buBlip>
                <a:blip r:embed="rId3"/>
              </a:buBlip>
              <a:defRPr/>
            </a:pPr>
            <a:r>
              <a:rPr lang="zh-CN" altLang="en-US" sz="2800" b="1" baseline="0" dirty="0">
                <a:solidFill>
                  <a:srgbClr val="FFFF00"/>
                </a:solidFill>
                <a:effectLst>
                  <a:outerShdw blurRad="38100" dist="38100" dir="2700000" algn="tl">
                    <a:srgbClr val="000000"/>
                  </a:outerShdw>
                </a:effectLst>
                <a:latin typeface="微软雅黑" pitchFamily="34" charset="-122"/>
                <a:ea typeface="微软雅黑" pitchFamily="34" charset="-122"/>
              </a:rPr>
              <a:t>属性</a:t>
            </a:r>
            <a:r>
              <a:rPr lang="zh-CN" altLang="en-US" sz="2800" baseline="0" dirty="0">
                <a:solidFill>
                  <a:srgbClr val="CCFFCC"/>
                </a:solidFill>
                <a:effectLst>
                  <a:outerShdw blurRad="38100" dist="38100" dir="2700000" algn="tl">
                    <a:srgbClr val="000000"/>
                  </a:outerShdw>
                </a:effectLst>
                <a:latin typeface="微软雅黑" pitchFamily="34" charset="-122"/>
                <a:ea typeface="微软雅黑" pitchFamily="34" charset="-122"/>
              </a:rPr>
              <a:t>（</a:t>
            </a:r>
            <a:r>
              <a:rPr lang="en-US" altLang="zh-CN" sz="2800" baseline="0" dirty="0">
                <a:solidFill>
                  <a:srgbClr val="CCFFCC"/>
                </a:solidFill>
                <a:effectLst>
                  <a:outerShdw blurRad="38100" dist="38100" dir="2700000" algn="tl">
                    <a:srgbClr val="000000"/>
                  </a:outerShdw>
                </a:effectLst>
                <a:latin typeface="微软雅黑" pitchFamily="34" charset="-122"/>
                <a:ea typeface="微软雅黑" pitchFamily="34" charset="-122"/>
              </a:rPr>
              <a:t>Attributes</a:t>
            </a:r>
            <a:r>
              <a:rPr lang="zh-CN" altLang="en-US" sz="2800" baseline="0" dirty="0">
                <a:solidFill>
                  <a:srgbClr val="CCFFCC"/>
                </a:solidFill>
                <a:effectLst>
                  <a:outerShdw blurRad="38100" dist="38100" dir="2700000" algn="tl">
                    <a:srgbClr val="000000"/>
                  </a:outerShdw>
                </a:effectLst>
                <a:latin typeface="微软雅黑" pitchFamily="34" charset="-122"/>
                <a:ea typeface="微软雅黑" pitchFamily="34" charset="-122"/>
              </a:rPr>
              <a:t>）：实体的某一特性。</a:t>
            </a:r>
            <a:endParaRPr lang="en-US" altLang="zh-CN" sz="2800" baseline="0" dirty="0">
              <a:solidFill>
                <a:srgbClr val="CCFFCC"/>
              </a:solidFill>
              <a:effectLst>
                <a:outerShdw blurRad="38100" dist="38100" dir="2700000" algn="tl">
                  <a:srgbClr val="000000"/>
                </a:outerShdw>
              </a:effectLst>
              <a:latin typeface="微软雅黑" pitchFamily="34" charset="-122"/>
              <a:ea typeface="微软雅黑" pitchFamily="34" charset="-122"/>
            </a:endParaRPr>
          </a:p>
          <a:p>
            <a:pPr marL="342900" indent="-342900">
              <a:spcBef>
                <a:spcPts val="1200"/>
              </a:spcBef>
              <a:spcAft>
                <a:spcPct val="20000"/>
              </a:spcAft>
              <a:buClr>
                <a:srgbClr val="66FF33"/>
              </a:buClr>
              <a:buSzPct val="85000"/>
              <a:defRPr/>
            </a:pPr>
            <a:r>
              <a:rPr lang="zh-CN" altLang="en-US" sz="2800" baseline="0" dirty="0">
                <a:solidFill>
                  <a:srgbClr val="CCFF99"/>
                </a:solidFill>
                <a:effectLst>
                  <a:outerShdw blurRad="38100" dist="38100" dir="2700000" algn="tl">
                    <a:srgbClr val="000000"/>
                  </a:outerShdw>
                </a:effectLst>
                <a:latin typeface="微软雅黑" pitchFamily="34" charset="-122"/>
                <a:ea typeface="微软雅黑" pitchFamily="34" charset="-122"/>
              </a:rPr>
              <a:t>   如学生实体有学号、姓名、年龄等属性，一门课程有课名、课程性质、任课教师等属性。</a:t>
            </a:r>
          </a:p>
        </p:txBody>
      </p:sp>
      <p:sp>
        <p:nvSpPr>
          <p:cNvPr id="75" name="矩形 74"/>
          <p:cNvSpPr/>
          <p:nvPr/>
        </p:nvSpPr>
        <p:spPr>
          <a:xfrm>
            <a:off x="302849" y="6002124"/>
            <a:ext cx="8429625" cy="523220"/>
          </a:xfrm>
          <a:prstGeom prst="rect">
            <a:avLst/>
          </a:prstGeom>
        </p:spPr>
        <p:txBody>
          <a:bodyPr>
            <a:spAutoFit/>
          </a:bodyPr>
          <a:lstStyle/>
          <a:p>
            <a:pPr marL="342900" indent="-342900">
              <a:spcAft>
                <a:spcPct val="20000"/>
              </a:spcAft>
              <a:buClr>
                <a:srgbClr val="66FF33"/>
              </a:buClr>
              <a:buSzPct val="85000"/>
              <a:buFontTx/>
              <a:buBlip>
                <a:blip r:embed="rId3"/>
              </a:buBlip>
              <a:defRPr/>
            </a:pPr>
            <a:r>
              <a:rPr lang="zh-CN" altLang="en-US" sz="2800" b="1" baseline="0" dirty="0">
                <a:solidFill>
                  <a:srgbClr val="FFFF00"/>
                </a:solidFill>
                <a:effectLst>
                  <a:outerShdw blurRad="38100" dist="38100" dir="2700000" algn="tl">
                    <a:srgbClr val="000000"/>
                  </a:outerShdw>
                </a:effectLst>
                <a:latin typeface="微软雅黑" pitchFamily="34" charset="-122"/>
                <a:ea typeface="微软雅黑" pitchFamily="34" charset="-122"/>
              </a:rPr>
              <a:t>码</a:t>
            </a:r>
            <a:r>
              <a:rPr lang="zh-CN" altLang="en-US" sz="2800" baseline="0" dirty="0">
                <a:solidFill>
                  <a:srgbClr val="CCFFCC"/>
                </a:solidFill>
                <a:effectLst>
                  <a:outerShdw blurRad="38100" dist="38100" dir="2700000" algn="tl">
                    <a:srgbClr val="000000"/>
                  </a:outerShdw>
                </a:effectLst>
                <a:latin typeface="微软雅黑" pitchFamily="34" charset="-122"/>
                <a:ea typeface="微软雅黑" pitchFamily="34" charset="-122"/>
              </a:rPr>
              <a:t>（</a:t>
            </a:r>
            <a:r>
              <a:rPr lang="en-US" altLang="zh-CN" sz="2800" baseline="0" dirty="0">
                <a:solidFill>
                  <a:srgbClr val="CCFFCC"/>
                </a:solidFill>
                <a:effectLst>
                  <a:outerShdw blurRad="38100" dist="38100" dir="2700000" algn="tl">
                    <a:srgbClr val="000000"/>
                  </a:outerShdw>
                </a:effectLst>
                <a:latin typeface="微软雅黑" pitchFamily="34" charset="-122"/>
                <a:ea typeface="微软雅黑" pitchFamily="34" charset="-122"/>
              </a:rPr>
              <a:t>Key</a:t>
            </a:r>
            <a:r>
              <a:rPr lang="zh-CN" altLang="en-US" sz="2800" baseline="0" dirty="0">
                <a:solidFill>
                  <a:srgbClr val="CCFFCC"/>
                </a:solidFill>
                <a:effectLst>
                  <a:outerShdw blurRad="38100" dist="38100" dir="2700000" algn="tl">
                    <a:srgbClr val="000000"/>
                  </a:outerShdw>
                </a:effectLst>
                <a:latin typeface="微软雅黑" pitchFamily="34" charset="-122"/>
                <a:ea typeface="微软雅黑" pitchFamily="34" charset="-122"/>
              </a:rPr>
              <a:t>）：唯一标识实体的属性或属性集。</a:t>
            </a:r>
          </a:p>
        </p:txBody>
      </p:sp>
      <p:sp>
        <p:nvSpPr>
          <p:cNvPr id="76" name="Rectangle 5"/>
          <p:cNvSpPr txBox="1">
            <a:spLocks noChangeArrowheads="1"/>
          </p:cNvSpPr>
          <p:nvPr/>
        </p:nvSpPr>
        <p:spPr bwMode="auto">
          <a:xfrm>
            <a:off x="244621" y="4653136"/>
            <a:ext cx="11251979" cy="108012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spcAft>
                <a:spcPct val="20000"/>
              </a:spcAft>
              <a:defRPr/>
            </a:pPr>
            <a:r>
              <a:rPr lang="zh-CN" altLang="en-US" sz="2800" b="1" baseline="0" dirty="0">
                <a:solidFill>
                  <a:srgbClr val="FFFF00"/>
                </a:solidFill>
              </a:rPr>
              <a:t>实体集</a:t>
            </a:r>
            <a:r>
              <a:rPr lang="zh-CN" altLang="en-US" sz="2800" baseline="0" dirty="0"/>
              <a:t>：具有相同属性（注意不是属性值）的实体的集合。在不引起混淆时，往往简称为实体。</a:t>
            </a:r>
            <a:endParaRPr lang="en-US" altLang="zh-CN" sz="2800" baseline="0" dirty="0">
              <a:solidFill>
                <a:srgbClr val="CCFF99"/>
              </a:solidFill>
            </a:endParaRPr>
          </a:p>
        </p:txBody>
      </p:sp>
    </p:spTree>
    <p:extLst>
      <p:ext uri="{BB962C8B-B14F-4D97-AF65-F5344CB8AC3E}">
        <p14:creationId xmlns:p14="http://schemas.microsoft.com/office/powerpoint/2010/main" val="3100147117"/>
      </p:ext>
    </p:extLst>
  </p:cSld>
  <p:clrMapOvr>
    <a:masterClrMapping/>
  </p:clrMapOvr>
  <mc:AlternateContent xmlns:mc="http://schemas.openxmlformats.org/markup-compatibility/2006" xmlns:p14="http://schemas.microsoft.com/office/powerpoint/2010/main">
    <mc:Choice Requires="p14">
      <p:transition spd="slow" p14:dur="1500">
        <p:split orient="vert"/>
        <p:sndAc>
          <p:stSnd>
            <p:snd r:embed="rId2" name="arrow.wav"/>
          </p:stSnd>
        </p:sndAc>
      </p:transition>
    </mc:Choice>
    <mc:Fallback xmlns="">
      <p:transition spd="slow">
        <p:split orient="vert"/>
        <p:sndAc>
          <p:stSnd>
            <p:snd r:embed="rId4" name="arrow.wav"/>
          </p:stSnd>
        </p:sndAc>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5124333"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en-US" altLang="zh-CN" b="1" u="sng" kern="1200" dirty="0">
                <a:solidFill>
                  <a:schemeClr val="folHlink"/>
                </a:solidFill>
                <a:effectLst>
                  <a:outerShdw blurRad="38100" dist="38100" dir="2700000" algn="tl">
                    <a:srgbClr val="000000"/>
                  </a:outerShdw>
                </a:effectLst>
                <a:cs typeface="+mn-cs"/>
              </a:rPr>
              <a:t>E-R</a:t>
            </a:r>
            <a:r>
              <a:rPr lang="zh-CN" altLang="en-US" b="1" u="sng" kern="1200" dirty="0">
                <a:solidFill>
                  <a:schemeClr val="folHlink"/>
                </a:solidFill>
                <a:effectLst>
                  <a:outerShdw blurRad="38100" dist="38100" dir="2700000" algn="tl">
                    <a:srgbClr val="000000"/>
                  </a:outerShdw>
                </a:effectLst>
                <a:cs typeface="+mn-cs"/>
              </a:rPr>
              <a:t>模型中的基本概念</a:t>
            </a:r>
            <a:endParaRPr lang="zh-CN" altLang="en-US" sz="4000" b="1" u="sng" kern="1200" dirty="0">
              <a:solidFill>
                <a:schemeClr val="folHlink"/>
              </a:solidFill>
              <a:effectLst>
                <a:outerShdw blurRad="38100" dist="38100" dir="2700000" algn="tl">
                  <a:srgbClr val="000000"/>
                </a:outerShdw>
              </a:effectLst>
              <a:cs typeface="+mn-cs"/>
            </a:endParaRPr>
          </a:p>
        </p:txBody>
      </p:sp>
      <p:sp>
        <p:nvSpPr>
          <p:cNvPr id="7" name="Rectangle 3"/>
          <p:cNvSpPr txBox="1">
            <a:spLocks noChangeArrowheads="1"/>
          </p:cNvSpPr>
          <p:nvPr/>
        </p:nvSpPr>
        <p:spPr bwMode="auto">
          <a:xfrm>
            <a:off x="379550" y="980034"/>
            <a:ext cx="11235456" cy="154277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spcAft>
                <a:spcPct val="20000"/>
              </a:spcAft>
              <a:defRPr/>
            </a:pPr>
            <a:r>
              <a:rPr lang="zh-CN" altLang="en-US" sz="2800" b="1" baseline="0" dirty="0">
                <a:solidFill>
                  <a:srgbClr val="FFFF00"/>
                </a:solidFill>
              </a:rPr>
              <a:t>联系</a:t>
            </a:r>
            <a:r>
              <a:rPr lang="zh-CN" altLang="en-US" sz="2800" baseline="0" dirty="0"/>
              <a:t>（</a:t>
            </a:r>
            <a:r>
              <a:rPr lang="en-US" altLang="zh-CN" sz="2800" baseline="0" dirty="0"/>
              <a:t>Relationship</a:t>
            </a:r>
            <a:r>
              <a:rPr lang="zh-CN" altLang="en-US" sz="2800" baseline="0" dirty="0"/>
              <a:t>）：实体集之间和实体集内部各实体之间存在的关系。</a:t>
            </a:r>
          </a:p>
          <a:p>
            <a:pPr marL="0" indent="0" eaLnBrk="1" hangingPunct="1">
              <a:spcBef>
                <a:spcPct val="10000"/>
              </a:spcBef>
              <a:spcAft>
                <a:spcPct val="20000"/>
              </a:spcAft>
              <a:buFont typeface="Wingdings" pitchFamily="2" charset="2"/>
              <a:buNone/>
              <a:defRPr/>
            </a:pPr>
            <a:r>
              <a:rPr lang="en-US" altLang="zh-CN" sz="2800" baseline="0" dirty="0"/>
              <a:t>   </a:t>
            </a:r>
            <a:r>
              <a:rPr lang="zh-CN" altLang="en-US" sz="2800" baseline="0" dirty="0"/>
              <a:t>联系分为三种：</a:t>
            </a:r>
          </a:p>
        </p:txBody>
      </p:sp>
      <p:sp>
        <p:nvSpPr>
          <p:cNvPr id="8" name="Oval 4"/>
          <p:cNvSpPr>
            <a:spLocks noChangeArrowheads="1"/>
          </p:cNvSpPr>
          <p:nvPr/>
        </p:nvSpPr>
        <p:spPr bwMode="auto">
          <a:xfrm>
            <a:off x="2427784" y="4282827"/>
            <a:ext cx="1447800" cy="838200"/>
          </a:xfrm>
          <a:prstGeom prst="ellipse">
            <a:avLst/>
          </a:prstGeom>
          <a:solidFill>
            <a:schemeClr val="accent1"/>
          </a:solidFill>
          <a:ln w="28575" cap="sq">
            <a:solidFill>
              <a:schemeClr val="bg1"/>
            </a:solidFill>
            <a:round/>
            <a:headEnd/>
            <a:tailEnd/>
          </a:ln>
          <a:effectLst>
            <a:outerShdw dist="35921" dir="2700000" algn="ctr" rotWithShape="0">
              <a:schemeClr val="bg2"/>
            </a:outerShdw>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9" name="Rectangle 5"/>
          <p:cNvSpPr>
            <a:spLocks noChangeArrowheads="1"/>
          </p:cNvSpPr>
          <p:nvPr/>
        </p:nvSpPr>
        <p:spPr bwMode="auto">
          <a:xfrm>
            <a:off x="3189784" y="4511427"/>
            <a:ext cx="152400" cy="152400"/>
          </a:xfrm>
          <a:prstGeom prst="rect">
            <a:avLst/>
          </a:prstGeom>
          <a:solidFill>
            <a:schemeClr val="hlink"/>
          </a:solidFill>
          <a:ln w="12700" cap="sq">
            <a:solidFill>
              <a:schemeClr val="tx1"/>
            </a:solidFill>
            <a:miter lim="800000"/>
            <a:headEnd/>
            <a:tailEnd/>
          </a:ln>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10" name="Rectangle 6"/>
          <p:cNvSpPr>
            <a:spLocks noChangeArrowheads="1"/>
          </p:cNvSpPr>
          <p:nvPr/>
        </p:nvSpPr>
        <p:spPr bwMode="auto">
          <a:xfrm>
            <a:off x="3418384" y="4663827"/>
            <a:ext cx="152400" cy="152400"/>
          </a:xfrm>
          <a:prstGeom prst="rect">
            <a:avLst/>
          </a:prstGeom>
          <a:solidFill>
            <a:schemeClr val="hlink"/>
          </a:solidFill>
          <a:ln w="12700" cap="sq">
            <a:solidFill>
              <a:schemeClr val="tx1"/>
            </a:solidFill>
            <a:miter lim="800000"/>
            <a:headEnd/>
            <a:tailEnd/>
          </a:ln>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11" name="Rectangle 7"/>
          <p:cNvSpPr>
            <a:spLocks noChangeArrowheads="1"/>
          </p:cNvSpPr>
          <p:nvPr/>
        </p:nvSpPr>
        <p:spPr bwMode="auto">
          <a:xfrm>
            <a:off x="2656384" y="4740027"/>
            <a:ext cx="152400" cy="152400"/>
          </a:xfrm>
          <a:prstGeom prst="rect">
            <a:avLst/>
          </a:prstGeom>
          <a:solidFill>
            <a:schemeClr val="hlink"/>
          </a:solidFill>
          <a:ln w="12700" cap="sq">
            <a:solidFill>
              <a:schemeClr val="tx1"/>
            </a:solidFill>
            <a:miter lim="800000"/>
            <a:headEnd/>
            <a:tailEnd/>
          </a:ln>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12" name="Oval 8"/>
          <p:cNvSpPr>
            <a:spLocks noChangeArrowheads="1"/>
          </p:cNvSpPr>
          <p:nvPr/>
        </p:nvSpPr>
        <p:spPr bwMode="auto">
          <a:xfrm>
            <a:off x="2351584" y="2996952"/>
            <a:ext cx="1447800" cy="838200"/>
          </a:xfrm>
          <a:prstGeom prst="ellipse">
            <a:avLst/>
          </a:prstGeom>
          <a:solidFill>
            <a:schemeClr val="accent1"/>
          </a:solidFill>
          <a:ln w="28575" cap="sq">
            <a:solidFill>
              <a:schemeClr val="bg1"/>
            </a:solidFill>
            <a:round/>
            <a:headEnd/>
            <a:tailEnd/>
          </a:ln>
          <a:effectLst>
            <a:outerShdw dist="35921" dir="2700000" algn="ctr" rotWithShape="0">
              <a:schemeClr val="bg2"/>
            </a:outerShdw>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13" name="Rectangle 9"/>
          <p:cNvSpPr>
            <a:spLocks noChangeArrowheads="1"/>
          </p:cNvSpPr>
          <p:nvPr/>
        </p:nvSpPr>
        <p:spPr bwMode="auto">
          <a:xfrm>
            <a:off x="3132634" y="3073152"/>
            <a:ext cx="152400" cy="152400"/>
          </a:xfrm>
          <a:prstGeom prst="rect">
            <a:avLst/>
          </a:prstGeom>
          <a:solidFill>
            <a:schemeClr val="hlink"/>
          </a:solidFill>
          <a:ln w="12700" cap="sq">
            <a:solidFill>
              <a:schemeClr val="tx1"/>
            </a:solidFill>
            <a:miter lim="800000"/>
            <a:headEnd/>
            <a:tailEnd/>
          </a:ln>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14" name="Rectangle 10"/>
          <p:cNvSpPr>
            <a:spLocks noChangeArrowheads="1"/>
          </p:cNvSpPr>
          <p:nvPr/>
        </p:nvSpPr>
        <p:spPr bwMode="auto">
          <a:xfrm>
            <a:off x="2675434" y="3435102"/>
            <a:ext cx="152400" cy="152400"/>
          </a:xfrm>
          <a:prstGeom prst="rect">
            <a:avLst/>
          </a:prstGeom>
          <a:solidFill>
            <a:schemeClr val="hlink"/>
          </a:solidFill>
          <a:ln w="12700" cap="sq">
            <a:solidFill>
              <a:schemeClr val="tx1"/>
            </a:solidFill>
            <a:miter lim="800000"/>
            <a:headEnd/>
            <a:tailEnd/>
          </a:ln>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15" name="Rectangle 11"/>
          <p:cNvSpPr>
            <a:spLocks noChangeArrowheads="1"/>
          </p:cNvSpPr>
          <p:nvPr/>
        </p:nvSpPr>
        <p:spPr bwMode="auto">
          <a:xfrm>
            <a:off x="3418384" y="3301752"/>
            <a:ext cx="152400" cy="152400"/>
          </a:xfrm>
          <a:prstGeom prst="rect">
            <a:avLst/>
          </a:prstGeom>
          <a:solidFill>
            <a:schemeClr val="hlink"/>
          </a:solidFill>
          <a:ln w="12700" cap="sq">
            <a:solidFill>
              <a:schemeClr val="tx1"/>
            </a:solidFill>
            <a:miter lim="800000"/>
            <a:headEnd/>
            <a:tailEnd/>
          </a:ln>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cxnSp>
        <p:nvCxnSpPr>
          <p:cNvPr id="16" name="AutoShape 12"/>
          <p:cNvCxnSpPr>
            <a:cxnSpLocks noChangeShapeType="1"/>
            <a:stCxn id="13" idx="2"/>
            <a:endCxn id="11" idx="0"/>
          </p:cNvCxnSpPr>
          <p:nvPr/>
        </p:nvCxnSpPr>
        <p:spPr bwMode="auto">
          <a:xfrm flipH="1">
            <a:off x="2732584" y="3225552"/>
            <a:ext cx="476250" cy="151447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7" name="AutoShape 13"/>
          <p:cNvCxnSpPr>
            <a:cxnSpLocks noChangeShapeType="1"/>
            <a:stCxn id="14" idx="2"/>
            <a:endCxn id="9" idx="0"/>
          </p:cNvCxnSpPr>
          <p:nvPr/>
        </p:nvCxnSpPr>
        <p:spPr bwMode="auto">
          <a:xfrm>
            <a:off x="2751634" y="3587502"/>
            <a:ext cx="514350" cy="92392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 name="AutoShape 14"/>
          <p:cNvCxnSpPr>
            <a:cxnSpLocks noChangeShapeType="1"/>
            <a:stCxn id="15" idx="2"/>
            <a:endCxn id="10" idx="0"/>
          </p:cNvCxnSpPr>
          <p:nvPr/>
        </p:nvCxnSpPr>
        <p:spPr bwMode="auto">
          <a:xfrm>
            <a:off x="3494584" y="3454152"/>
            <a:ext cx="0" cy="120967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19" name="Rectangle 15"/>
          <p:cNvSpPr>
            <a:spLocks noChangeArrowheads="1"/>
          </p:cNvSpPr>
          <p:nvPr/>
        </p:nvSpPr>
        <p:spPr bwMode="auto">
          <a:xfrm>
            <a:off x="1815480" y="5525190"/>
            <a:ext cx="2693046" cy="430887"/>
          </a:xfrm>
          <a:prstGeom prst="rect">
            <a:avLst/>
          </a:prstGeom>
          <a:noFill/>
          <a:ln w="12700" cap="sq">
            <a:noFill/>
            <a:miter lim="800000"/>
            <a:headEnd/>
            <a:tailEnd/>
          </a:ln>
          <a:effectLst/>
        </p:spPr>
        <p:txBody>
          <a:bodyPr wrap="none" lIns="0" tIns="0" rIns="0" bIns="0">
            <a:spAutoFit/>
          </a:bodyPr>
          <a:lstStyle/>
          <a:p>
            <a:pPr algn="ctr">
              <a:defRPr/>
            </a:pPr>
            <a:r>
              <a:rPr kumimoji="1" lang="zh-CN" altLang="en-US" sz="2800" baseline="0">
                <a:solidFill>
                  <a:srgbClr val="FFFFFF"/>
                </a:solidFill>
                <a:effectLst>
                  <a:outerShdw blurRad="38100" dist="38100" dir="2700000" algn="tl">
                    <a:srgbClr val="000000"/>
                  </a:outerShdw>
                </a:effectLst>
                <a:latin typeface="宋体" pitchFamily="2" charset="-122"/>
                <a:ea typeface="宋体" pitchFamily="2" charset="-122"/>
              </a:rPr>
              <a:t>一对一联系</a:t>
            </a:r>
            <a:r>
              <a:rPr kumimoji="1" lang="en-US" altLang="zh-CN" sz="2800" baseline="0">
                <a:solidFill>
                  <a:srgbClr val="FFFFFF"/>
                </a:solidFill>
                <a:effectLst>
                  <a:outerShdw blurRad="38100" dist="38100" dir="2700000" algn="tl">
                    <a:srgbClr val="000000"/>
                  </a:outerShdw>
                </a:effectLst>
                <a:latin typeface="宋体" pitchFamily="2" charset="-122"/>
                <a:ea typeface="宋体" pitchFamily="2" charset="-122"/>
              </a:rPr>
              <a:t>(1:1)</a:t>
            </a:r>
          </a:p>
        </p:txBody>
      </p:sp>
      <p:sp>
        <p:nvSpPr>
          <p:cNvPr id="20" name="Oval 16"/>
          <p:cNvSpPr>
            <a:spLocks noChangeArrowheads="1"/>
          </p:cNvSpPr>
          <p:nvPr/>
        </p:nvSpPr>
        <p:spPr bwMode="auto">
          <a:xfrm>
            <a:off x="5266234" y="4263777"/>
            <a:ext cx="1447800" cy="838200"/>
          </a:xfrm>
          <a:prstGeom prst="ellipse">
            <a:avLst/>
          </a:prstGeom>
          <a:solidFill>
            <a:schemeClr val="accent1"/>
          </a:solidFill>
          <a:ln w="28575" cap="sq">
            <a:solidFill>
              <a:schemeClr val="bg1"/>
            </a:solidFill>
            <a:round/>
            <a:headEnd/>
            <a:tailEnd/>
          </a:ln>
          <a:effectLst>
            <a:outerShdw dist="35921" dir="2700000" algn="ctr" rotWithShape="0">
              <a:schemeClr val="bg2"/>
            </a:outerShdw>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21" name="Rectangle 17"/>
          <p:cNvSpPr>
            <a:spLocks noChangeArrowheads="1"/>
          </p:cNvSpPr>
          <p:nvPr/>
        </p:nvSpPr>
        <p:spPr bwMode="auto">
          <a:xfrm>
            <a:off x="6104434" y="4368552"/>
            <a:ext cx="152400" cy="152400"/>
          </a:xfrm>
          <a:prstGeom prst="rect">
            <a:avLst/>
          </a:prstGeom>
          <a:solidFill>
            <a:schemeClr val="hlink"/>
          </a:solidFill>
          <a:ln w="12700" cap="sq">
            <a:solidFill>
              <a:schemeClr val="tx1"/>
            </a:solidFill>
            <a:miter lim="800000"/>
            <a:headEnd/>
            <a:tailEnd/>
          </a:ln>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22" name="Rectangle 18"/>
          <p:cNvSpPr>
            <a:spLocks noChangeArrowheads="1"/>
          </p:cNvSpPr>
          <p:nvPr/>
        </p:nvSpPr>
        <p:spPr bwMode="auto">
          <a:xfrm>
            <a:off x="6485434" y="4673352"/>
            <a:ext cx="152400" cy="152400"/>
          </a:xfrm>
          <a:prstGeom prst="rect">
            <a:avLst/>
          </a:prstGeom>
          <a:solidFill>
            <a:schemeClr val="hlink"/>
          </a:solidFill>
          <a:ln w="12700" cap="sq">
            <a:solidFill>
              <a:schemeClr val="tx1"/>
            </a:solidFill>
            <a:miter lim="800000"/>
            <a:headEnd/>
            <a:tailEnd/>
          </a:ln>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23" name="Rectangle 19"/>
          <p:cNvSpPr>
            <a:spLocks noChangeArrowheads="1"/>
          </p:cNvSpPr>
          <p:nvPr/>
        </p:nvSpPr>
        <p:spPr bwMode="auto">
          <a:xfrm>
            <a:off x="5628184" y="4778127"/>
            <a:ext cx="152400" cy="152400"/>
          </a:xfrm>
          <a:prstGeom prst="rect">
            <a:avLst/>
          </a:prstGeom>
          <a:solidFill>
            <a:schemeClr val="hlink"/>
          </a:solidFill>
          <a:ln w="12700" cap="sq">
            <a:solidFill>
              <a:schemeClr val="tx1"/>
            </a:solidFill>
            <a:miter lim="800000"/>
            <a:headEnd/>
            <a:tailEnd/>
          </a:ln>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24" name="Oval 20"/>
          <p:cNvSpPr>
            <a:spLocks noChangeArrowheads="1"/>
          </p:cNvSpPr>
          <p:nvPr/>
        </p:nvSpPr>
        <p:spPr bwMode="auto">
          <a:xfrm>
            <a:off x="5190034" y="2968377"/>
            <a:ext cx="1447800" cy="838200"/>
          </a:xfrm>
          <a:prstGeom prst="ellipse">
            <a:avLst/>
          </a:prstGeom>
          <a:solidFill>
            <a:schemeClr val="accent1"/>
          </a:solidFill>
          <a:ln w="28575" cap="sq">
            <a:solidFill>
              <a:schemeClr val="bg1"/>
            </a:solidFill>
            <a:round/>
            <a:headEnd/>
            <a:tailEnd/>
          </a:ln>
          <a:effectLst>
            <a:outerShdw dist="35921" dir="2700000" algn="ctr" rotWithShape="0">
              <a:schemeClr val="bg2"/>
            </a:outerShdw>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25" name="Rectangle 21"/>
          <p:cNvSpPr>
            <a:spLocks noChangeArrowheads="1"/>
          </p:cNvSpPr>
          <p:nvPr/>
        </p:nvSpPr>
        <p:spPr bwMode="auto">
          <a:xfrm>
            <a:off x="5952034" y="3225552"/>
            <a:ext cx="152400" cy="152400"/>
          </a:xfrm>
          <a:prstGeom prst="rect">
            <a:avLst/>
          </a:prstGeom>
          <a:solidFill>
            <a:schemeClr val="hlink"/>
          </a:solidFill>
          <a:ln w="12700" cap="sq">
            <a:solidFill>
              <a:schemeClr val="tx1"/>
            </a:solidFill>
            <a:miter lim="800000"/>
            <a:headEnd/>
            <a:tailEnd/>
          </a:ln>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26" name="Rectangle 22"/>
          <p:cNvSpPr>
            <a:spLocks noChangeArrowheads="1"/>
          </p:cNvSpPr>
          <p:nvPr/>
        </p:nvSpPr>
        <p:spPr bwMode="auto">
          <a:xfrm>
            <a:off x="5628184" y="3139827"/>
            <a:ext cx="152400" cy="152400"/>
          </a:xfrm>
          <a:prstGeom prst="rect">
            <a:avLst/>
          </a:prstGeom>
          <a:solidFill>
            <a:schemeClr val="hlink"/>
          </a:solidFill>
          <a:ln w="12700" cap="sq">
            <a:solidFill>
              <a:schemeClr val="tx1"/>
            </a:solidFill>
            <a:miter lim="800000"/>
            <a:headEnd/>
            <a:tailEnd/>
          </a:ln>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27" name="Rectangle 23"/>
          <p:cNvSpPr>
            <a:spLocks noChangeArrowheads="1"/>
          </p:cNvSpPr>
          <p:nvPr/>
        </p:nvSpPr>
        <p:spPr bwMode="auto">
          <a:xfrm>
            <a:off x="6256834" y="3454152"/>
            <a:ext cx="152400" cy="152400"/>
          </a:xfrm>
          <a:prstGeom prst="rect">
            <a:avLst/>
          </a:prstGeom>
          <a:solidFill>
            <a:schemeClr val="hlink"/>
          </a:solidFill>
          <a:ln w="12700" cap="sq">
            <a:solidFill>
              <a:schemeClr val="tx1"/>
            </a:solidFill>
            <a:miter lim="800000"/>
            <a:headEnd/>
            <a:tailEnd/>
          </a:ln>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28" name="Rectangle 24"/>
          <p:cNvSpPr>
            <a:spLocks noChangeArrowheads="1"/>
          </p:cNvSpPr>
          <p:nvPr/>
        </p:nvSpPr>
        <p:spPr bwMode="auto">
          <a:xfrm>
            <a:off x="5418634" y="3425577"/>
            <a:ext cx="152400" cy="152400"/>
          </a:xfrm>
          <a:prstGeom prst="rect">
            <a:avLst/>
          </a:prstGeom>
          <a:solidFill>
            <a:schemeClr val="hlink"/>
          </a:solidFill>
          <a:ln w="12700" cap="sq">
            <a:solidFill>
              <a:schemeClr val="tx1"/>
            </a:solidFill>
            <a:miter lim="800000"/>
            <a:headEnd/>
            <a:tailEnd/>
          </a:ln>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cxnSp>
        <p:nvCxnSpPr>
          <p:cNvPr id="29" name="AutoShape 25"/>
          <p:cNvCxnSpPr>
            <a:cxnSpLocks noChangeShapeType="1"/>
            <a:stCxn id="26" idx="2"/>
            <a:endCxn id="23" idx="0"/>
          </p:cNvCxnSpPr>
          <p:nvPr/>
        </p:nvCxnSpPr>
        <p:spPr bwMode="auto">
          <a:xfrm>
            <a:off x="5704384" y="3292227"/>
            <a:ext cx="0" cy="148590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30" name="AutoShape 26"/>
          <p:cNvCxnSpPr>
            <a:cxnSpLocks noChangeShapeType="1"/>
            <a:stCxn id="26" idx="2"/>
            <a:endCxn id="40" idx="0"/>
          </p:cNvCxnSpPr>
          <p:nvPr/>
        </p:nvCxnSpPr>
        <p:spPr bwMode="auto">
          <a:xfrm flipH="1">
            <a:off x="5418634" y="3292227"/>
            <a:ext cx="285750" cy="126682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31" name="AutoShape 27"/>
          <p:cNvCxnSpPr>
            <a:cxnSpLocks noChangeShapeType="1"/>
            <a:stCxn id="27" idx="2"/>
            <a:endCxn id="22" idx="0"/>
          </p:cNvCxnSpPr>
          <p:nvPr/>
        </p:nvCxnSpPr>
        <p:spPr bwMode="auto">
          <a:xfrm>
            <a:off x="6333034" y="3606552"/>
            <a:ext cx="228600" cy="106680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32" name="Rectangle 28"/>
          <p:cNvSpPr>
            <a:spLocks noChangeArrowheads="1"/>
          </p:cNvSpPr>
          <p:nvPr/>
        </p:nvSpPr>
        <p:spPr bwMode="auto">
          <a:xfrm>
            <a:off x="4650755" y="5525190"/>
            <a:ext cx="2693046" cy="430887"/>
          </a:xfrm>
          <a:prstGeom prst="rect">
            <a:avLst/>
          </a:prstGeom>
          <a:noFill/>
          <a:ln w="12700" cap="sq">
            <a:noFill/>
            <a:miter lim="800000"/>
            <a:headEnd/>
            <a:tailEnd/>
          </a:ln>
          <a:effectLst/>
        </p:spPr>
        <p:txBody>
          <a:bodyPr wrap="none" lIns="0" tIns="0" rIns="0" bIns="0">
            <a:spAutoFit/>
          </a:bodyPr>
          <a:lstStyle/>
          <a:p>
            <a:pPr algn="ctr">
              <a:defRPr/>
            </a:pPr>
            <a:r>
              <a:rPr kumimoji="1" lang="zh-CN" altLang="en-US" sz="2800" baseline="0">
                <a:solidFill>
                  <a:srgbClr val="FFFFFF"/>
                </a:solidFill>
                <a:effectLst>
                  <a:outerShdw blurRad="38100" dist="38100" dir="2700000" algn="tl">
                    <a:srgbClr val="000000"/>
                  </a:outerShdw>
                </a:effectLst>
                <a:latin typeface="宋体" pitchFamily="2" charset="-122"/>
                <a:ea typeface="宋体" pitchFamily="2" charset="-122"/>
              </a:rPr>
              <a:t>一对多联系</a:t>
            </a:r>
            <a:r>
              <a:rPr kumimoji="1" lang="en-US" altLang="zh-CN" sz="2800" baseline="0">
                <a:solidFill>
                  <a:srgbClr val="FFFFFF"/>
                </a:solidFill>
                <a:effectLst>
                  <a:outerShdw blurRad="38100" dist="38100" dir="2700000" algn="tl">
                    <a:srgbClr val="000000"/>
                  </a:outerShdw>
                </a:effectLst>
                <a:latin typeface="宋体" pitchFamily="2" charset="-122"/>
                <a:ea typeface="宋体" pitchFamily="2" charset="-122"/>
              </a:rPr>
              <a:t>(</a:t>
            </a:r>
            <a:r>
              <a:rPr kumimoji="1" lang="zh-CN" altLang="en-US" sz="2800" baseline="0">
                <a:solidFill>
                  <a:srgbClr val="FFFFFF"/>
                </a:solidFill>
                <a:effectLst>
                  <a:outerShdw blurRad="38100" dist="38100" dir="2700000" algn="tl">
                    <a:srgbClr val="000000"/>
                  </a:outerShdw>
                </a:effectLst>
                <a:latin typeface="宋体" pitchFamily="2" charset="-122"/>
                <a:ea typeface="宋体" pitchFamily="2" charset="-122"/>
              </a:rPr>
              <a:t>1:</a:t>
            </a:r>
            <a:r>
              <a:rPr kumimoji="1" lang="en-US" altLang="zh-CN" sz="2800" baseline="0">
                <a:solidFill>
                  <a:srgbClr val="FFFFFF"/>
                </a:solidFill>
                <a:effectLst>
                  <a:outerShdw blurRad="38100" dist="38100" dir="2700000" algn="tl">
                    <a:srgbClr val="000000"/>
                  </a:outerShdw>
                </a:effectLst>
                <a:latin typeface="宋体" pitchFamily="2" charset="-122"/>
                <a:ea typeface="宋体" pitchFamily="2" charset="-122"/>
              </a:rPr>
              <a:t>n)</a:t>
            </a:r>
          </a:p>
        </p:txBody>
      </p:sp>
      <p:sp>
        <p:nvSpPr>
          <p:cNvPr id="33" name="Rectangle 29"/>
          <p:cNvSpPr>
            <a:spLocks noChangeArrowheads="1"/>
          </p:cNvSpPr>
          <p:nvPr/>
        </p:nvSpPr>
        <p:spPr bwMode="auto">
          <a:xfrm>
            <a:off x="2219871" y="5958577"/>
            <a:ext cx="1795364" cy="430887"/>
          </a:xfrm>
          <a:prstGeom prst="rect">
            <a:avLst/>
          </a:prstGeom>
          <a:noFill/>
          <a:ln w="12700" cap="sq">
            <a:noFill/>
            <a:miter lim="800000"/>
            <a:headEnd/>
            <a:tailEnd/>
          </a:ln>
          <a:effectLst/>
        </p:spPr>
        <p:txBody>
          <a:bodyPr wrap="none" lIns="0" tIns="0" rIns="0" bIns="0">
            <a:spAutoFit/>
          </a:bodyPr>
          <a:lstStyle/>
          <a:p>
            <a:pPr algn="ctr">
              <a:defRPr/>
            </a:pPr>
            <a:r>
              <a:rPr kumimoji="1" lang="zh-CN" altLang="en-US" sz="2800" baseline="0">
                <a:solidFill>
                  <a:srgbClr val="CCFF99"/>
                </a:solidFill>
                <a:effectLst>
                  <a:outerShdw blurRad="38100" dist="38100" dir="2700000" algn="tl">
                    <a:srgbClr val="000000"/>
                  </a:outerShdw>
                </a:effectLst>
                <a:latin typeface="宋体" pitchFamily="2" charset="-122"/>
                <a:ea typeface="宋体" pitchFamily="2" charset="-122"/>
              </a:rPr>
              <a:t>学校与校长</a:t>
            </a:r>
          </a:p>
        </p:txBody>
      </p:sp>
      <p:sp>
        <p:nvSpPr>
          <p:cNvPr id="34" name="Rectangle 30"/>
          <p:cNvSpPr>
            <a:spLocks noChangeArrowheads="1"/>
          </p:cNvSpPr>
          <p:nvPr/>
        </p:nvSpPr>
        <p:spPr bwMode="auto">
          <a:xfrm>
            <a:off x="3056434" y="4816227"/>
            <a:ext cx="152400" cy="152400"/>
          </a:xfrm>
          <a:prstGeom prst="rect">
            <a:avLst/>
          </a:prstGeom>
          <a:solidFill>
            <a:schemeClr val="hlink"/>
          </a:solidFill>
          <a:ln w="12700" cap="sq">
            <a:solidFill>
              <a:schemeClr val="tx1"/>
            </a:solidFill>
            <a:miter lim="800000"/>
            <a:headEnd/>
            <a:tailEnd/>
          </a:ln>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35" name="Rectangle 31"/>
          <p:cNvSpPr>
            <a:spLocks noChangeArrowheads="1"/>
          </p:cNvSpPr>
          <p:nvPr/>
        </p:nvSpPr>
        <p:spPr bwMode="auto">
          <a:xfrm>
            <a:off x="2904034" y="4511427"/>
            <a:ext cx="152400" cy="152400"/>
          </a:xfrm>
          <a:prstGeom prst="rect">
            <a:avLst/>
          </a:prstGeom>
          <a:solidFill>
            <a:schemeClr val="hlink"/>
          </a:solidFill>
          <a:ln w="12700" cap="sq">
            <a:solidFill>
              <a:schemeClr val="tx1"/>
            </a:solidFill>
            <a:miter lim="800000"/>
            <a:headEnd/>
            <a:tailEnd/>
          </a:ln>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36" name="Rectangle 32"/>
          <p:cNvSpPr>
            <a:spLocks noChangeArrowheads="1"/>
          </p:cNvSpPr>
          <p:nvPr/>
        </p:nvSpPr>
        <p:spPr bwMode="auto">
          <a:xfrm>
            <a:off x="2827834" y="3092202"/>
            <a:ext cx="152400" cy="152400"/>
          </a:xfrm>
          <a:prstGeom prst="rect">
            <a:avLst/>
          </a:prstGeom>
          <a:solidFill>
            <a:schemeClr val="hlink"/>
          </a:solidFill>
          <a:ln w="12700" cap="sq">
            <a:solidFill>
              <a:schemeClr val="tx1"/>
            </a:solidFill>
            <a:miter lim="800000"/>
            <a:headEnd/>
            <a:tailEnd/>
          </a:ln>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37" name="Rectangle 33"/>
          <p:cNvSpPr>
            <a:spLocks noChangeArrowheads="1"/>
          </p:cNvSpPr>
          <p:nvPr/>
        </p:nvSpPr>
        <p:spPr bwMode="auto">
          <a:xfrm>
            <a:off x="5875834" y="4673352"/>
            <a:ext cx="152400" cy="152400"/>
          </a:xfrm>
          <a:prstGeom prst="rect">
            <a:avLst/>
          </a:prstGeom>
          <a:solidFill>
            <a:schemeClr val="hlink"/>
          </a:solidFill>
          <a:ln w="12700" cap="sq">
            <a:solidFill>
              <a:schemeClr val="tx1"/>
            </a:solidFill>
            <a:miter lim="800000"/>
            <a:headEnd/>
            <a:tailEnd/>
          </a:ln>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38" name="Rectangle 34"/>
          <p:cNvSpPr>
            <a:spLocks noChangeArrowheads="1"/>
          </p:cNvSpPr>
          <p:nvPr/>
        </p:nvSpPr>
        <p:spPr bwMode="auto">
          <a:xfrm>
            <a:off x="5799634" y="4368552"/>
            <a:ext cx="152400" cy="152400"/>
          </a:xfrm>
          <a:prstGeom prst="rect">
            <a:avLst/>
          </a:prstGeom>
          <a:solidFill>
            <a:schemeClr val="hlink"/>
          </a:solidFill>
          <a:ln w="12700" cap="sq">
            <a:solidFill>
              <a:schemeClr val="tx1"/>
            </a:solidFill>
            <a:miter lim="800000"/>
            <a:headEnd/>
            <a:tailEnd/>
          </a:ln>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39" name="Rectangle 35"/>
          <p:cNvSpPr>
            <a:spLocks noChangeArrowheads="1"/>
          </p:cNvSpPr>
          <p:nvPr/>
        </p:nvSpPr>
        <p:spPr bwMode="auto">
          <a:xfrm>
            <a:off x="6256834" y="4825752"/>
            <a:ext cx="152400" cy="152400"/>
          </a:xfrm>
          <a:prstGeom prst="rect">
            <a:avLst/>
          </a:prstGeom>
          <a:solidFill>
            <a:schemeClr val="hlink"/>
          </a:solidFill>
          <a:ln w="12700" cap="sq">
            <a:solidFill>
              <a:schemeClr val="tx1"/>
            </a:solidFill>
            <a:miter lim="800000"/>
            <a:headEnd/>
            <a:tailEnd/>
          </a:ln>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40" name="Rectangle 36"/>
          <p:cNvSpPr>
            <a:spLocks noChangeArrowheads="1"/>
          </p:cNvSpPr>
          <p:nvPr/>
        </p:nvSpPr>
        <p:spPr bwMode="auto">
          <a:xfrm>
            <a:off x="5342434" y="4559052"/>
            <a:ext cx="152400" cy="152400"/>
          </a:xfrm>
          <a:prstGeom prst="rect">
            <a:avLst/>
          </a:prstGeom>
          <a:solidFill>
            <a:schemeClr val="hlink"/>
          </a:solidFill>
          <a:ln w="12700" cap="sq">
            <a:solidFill>
              <a:schemeClr val="tx1"/>
            </a:solidFill>
            <a:miter lim="800000"/>
            <a:headEnd/>
            <a:tailEnd/>
          </a:ln>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cxnSp>
        <p:nvCxnSpPr>
          <p:cNvPr id="41" name="AutoShape 37"/>
          <p:cNvCxnSpPr>
            <a:cxnSpLocks noChangeShapeType="1"/>
            <a:stCxn id="26" idx="2"/>
            <a:endCxn id="38" idx="0"/>
          </p:cNvCxnSpPr>
          <p:nvPr/>
        </p:nvCxnSpPr>
        <p:spPr bwMode="auto">
          <a:xfrm>
            <a:off x="5704384" y="3292227"/>
            <a:ext cx="171450" cy="107632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2" name="AutoShape 38"/>
          <p:cNvCxnSpPr>
            <a:cxnSpLocks noChangeShapeType="1"/>
            <a:stCxn id="27" idx="2"/>
            <a:endCxn id="39" idx="0"/>
          </p:cNvCxnSpPr>
          <p:nvPr/>
        </p:nvCxnSpPr>
        <p:spPr bwMode="auto">
          <a:xfrm>
            <a:off x="6333034" y="3606552"/>
            <a:ext cx="0" cy="121920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3" name="AutoShape 39"/>
          <p:cNvCxnSpPr>
            <a:cxnSpLocks noChangeShapeType="1"/>
            <a:stCxn id="25" idx="2"/>
            <a:endCxn id="21" idx="0"/>
          </p:cNvCxnSpPr>
          <p:nvPr/>
        </p:nvCxnSpPr>
        <p:spPr bwMode="auto">
          <a:xfrm>
            <a:off x="6028234" y="3377952"/>
            <a:ext cx="152400" cy="99060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44" name="Rectangle 40"/>
          <p:cNvSpPr>
            <a:spLocks noChangeArrowheads="1"/>
          </p:cNvSpPr>
          <p:nvPr/>
        </p:nvSpPr>
        <p:spPr bwMode="auto">
          <a:xfrm>
            <a:off x="5129759" y="5958577"/>
            <a:ext cx="1795363" cy="430887"/>
          </a:xfrm>
          <a:prstGeom prst="rect">
            <a:avLst/>
          </a:prstGeom>
          <a:noFill/>
          <a:ln w="12700" cap="sq">
            <a:noFill/>
            <a:miter lim="800000"/>
            <a:headEnd/>
            <a:tailEnd/>
          </a:ln>
          <a:effectLst/>
        </p:spPr>
        <p:txBody>
          <a:bodyPr wrap="none" lIns="0" tIns="0" rIns="0" bIns="0">
            <a:spAutoFit/>
          </a:bodyPr>
          <a:lstStyle/>
          <a:p>
            <a:pPr algn="ctr">
              <a:defRPr/>
            </a:pPr>
            <a:r>
              <a:rPr kumimoji="1" lang="zh-CN" altLang="en-US" sz="2800" baseline="0">
                <a:solidFill>
                  <a:srgbClr val="CCFF99"/>
                </a:solidFill>
                <a:effectLst>
                  <a:outerShdw blurRad="38100" dist="38100" dir="2700000" algn="tl">
                    <a:srgbClr val="000000"/>
                  </a:outerShdw>
                </a:effectLst>
                <a:latin typeface="宋体" pitchFamily="2" charset="-122"/>
                <a:ea typeface="宋体" pitchFamily="2" charset="-122"/>
              </a:rPr>
              <a:t>班级与学生</a:t>
            </a:r>
          </a:p>
        </p:txBody>
      </p:sp>
      <p:sp>
        <p:nvSpPr>
          <p:cNvPr id="45" name="Oval 41"/>
          <p:cNvSpPr>
            <a:spLocks noChangeArrowheads="1"/>
          </p:cNvSpPr>
          <p:nvPr/>
        </p:nvSpPr>
        <p:spPr bwMode="auto">
          <a:xfrm>
            <a:off x="8161834" y="4216152"/>
            <a:ext cx="1447800" cy="838200"/>
          </a:xfrm>
          <a:prstGeom prst="ellipse">
            <a:avLst/>
          </a:prstGeom>
          <a:solidFill>
            <a:schemeClr val="accent1"/>
          </a:solidFill>
          <a:ln w="28575" cap="sq">
            <a:solidFill>
              <a:schemeClr val="bg1"/>
            </a:solidFill>
            <a:round/>
            <a:headEnd/>
            <a:tailEnd/>
          </a:ln>
          <a:effectLst>
            <a:outerShdw dist="35921" dir="2700000" algn="ctr" rotWithShape="0">
              <a:schemeClr val="bg2"/>
            </a:outerShdw>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46" name="Rectangle 42"/>
          <p:cNvSpPr>
            <a:spLocks noChangeArrowheads="1"/>
          </p:cNvSpPr>
          <p:nvPr/>
        </p:nvSpPr>
        <p:spPr bwMode="auto">
          <a:xfrm>
            <a:off x="9000034" y="4320927"/>
            <a:ext cx="152400" cy="152400"/>
          </a:xfrm>
          <a:prstGeom prst="rect">
            <a:avLst/>
          </a:prstGeom>
          <a:solidFill>
            <a:schemeClr val="hlink"/>
          </a:solidFill>
          <a:ln w="12700" cap="sq">
            <a:solidFill>
              <a:schemeClr val="tx1"/>
            </a:solidFill>
            <a:miter lim="800000"/>
            <a:headEnd/>
            <a:tailEnd/>
          </a:ln>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47" name="Rectangle 43"/>
          <p:cNvSpPr>
            <a:spLocks noChangeArrowheads="1"/>
          </p:cNvSpPr>
          <p:nvPr/>
        </p:nvSpPr>
        <p:spPr bwMode="auto">
          <a:xfrm>
            <a:off x="9381034" y="4625727"/>
            <a:ext cx="152400" cy="152400"/>
          </a:xfrm>
          <a:prstGeom prst="rect">
            <a:avLst/>
          </a:prstGeom>
          <a:solidFill>
            <a:schemeClr val="hlink"/>
          </a:solidFill>
          <a:ln w="12700" cap="sq">
            <a:solidFill>
              <a:schemeClr val="tx1"/>
            </a:solidFill>
            <a:miter lim="800000"/>
            <a:headEnd/>
            <a:tailEnd/>
          </a:ln>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48" name="Rectangle 44"/>
          <p:cNvSpPr>
            <a:spLocks noChangeArrowheads="1"/>
          </p:cNvSpPr>
          <p:nvPr/>
        </p:nvSpPr>
        <p:spPr bwMode="auto">
          <a:xfrm>
            <a:off x="8523784" y="4787652"/>
            <a:ext cx="152400" cy="152400"/>
          </a:xfrm>
          <a:prstGeom prst="rect">
            <a:avLst/>
          </a:prstGeom>
          <a:solidFill>
            <a:schemeClr val="hlink"/>
          </a:solidFill>
          <a:ln w="12700" cap="sq">
            <a:solidFill>
              <a:schemeClr val="tx1"/>
            </a:solidFill>
            <a:miter lim="800000"/>
            <a:headEnd/>
            <a:tailEnd/>
          </a:ln>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49" name="Oval 45"/>
          <p:cNvSpPr>
            <a:spLocks noChangeArrowheads="1"/>
          </p:cNvSpPr>
          <p:nvPr/>
        </p:nvSpPr>
        <p:spPr bwMode="auto">
          <a:xfrm>
            <a:off x="8085634" y="2920752"/>
            <a:ext cx="1447800" cy="838200"/>
          </a:xfrm>
          <a:prstGeom prst="ellipse">
            <a:avLst/>
          </a:prstGeom>
          <a:solidFill>
            <a:schemeClr val="accent1"/>
          </a:solidFill>
          <a:ln w="28575" cap="sq">
            <a:solidFill>
              <a:schemeClr val="bg1"/>
            </a:solidFill>
            <a:round/>
            <a:headEnd/>
            <a:tailEnd/>
          </a:ln>
          <a:effectLst>
            <a:outerShdw dist="35921" dir="2700000" algn="ctr" rotWithShape="0">
              <a:schemeClr val="bg2"/>
            </a:outerShdw>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50" name="Rectangle 46"/>
          <p:cNvSpPr>
            <a:spLocks noChangeArrowheads="1"/>
          </p:cNvSpPr>
          <p:nvPr/>
        </p:nvSpPr>
        <p:spPr bwMode="auto">
          <a:xfrm>
            <a:off x="8847634" y="3177927"/>
            <a:ext cx="152400" cy="152400"/>
          </a:xfrm>
          <a:prstGeom prst="rect">
            <a:avLst/>
          </a:prstGeom>
          <a:solidFill>
            <a:schemeClr val="hlink"/>
          </a:solidFill>
          <a:ln w="12700" cap="sq">
            <a:solidFill>
              <a:schemeClr val="tx1"/>
            </a:solidFill>
            <a:miter lim="800000"/>
            <a:headEnd/>
            <a:tailEnd/>
          </a:ln>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51" name="Rectangle 47"/>
          <p:cNvSpPr>
            <a:spLocks noChangeArrowheads="1"/>
          </p:cNvSpPr>
          <p:nvPr/>
        </p:nvSpPr>
        <p:spPr bwMode="auto">
          <a:xfrm>
            <a:off x="8523784" y="3092202"/>
            <a:ext cx="152400" cy="152400"/>
          </a:xfrm>
          <a:prstGeom prst="rect">
            <a:avLst/>
          </a:prstGeom>
          <a:solidFill>
            <a:schemeClr val="hlink"/>
          </a:solidFill>
          <a:ln w="12700" cap="sq">
            <a:solidFill>
              <a:schemeClr val="tx1"/>
            </a:solidFill>
            <a:miter lim="800000"/>
            <a:headEnd/>
            <a:tailEnd/>
          </a:ln>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52" name="Rectangle 48"/>
          <p:cNvSpPr>
            <a:spLocks noChangeArrowheads="1"/>
          </p:cNvSpPr>
          <p:nvPr/>
        </p:nvSpPr>
        <p:spPr bwMode="auto">
          <a:xfrm>
            <a:off x="9152434" y="3406527"/>
            <a:ext cx="152400" cy="152400"/>
          </a:xfrm>
          <a:prstGeom prst="rect">
            <a:avLst/>
          </a:prstGeom>
          <a:solidFill>
            <a:schemeClr val="hlink"/>
          </a:solidFill>
          <a:ln w="12700" cap="sq">
            <a:solidFill>
              <a:schemeClr val="tx1"/>
            </a:solidFill>
            <a:miter lim="800000"/>
            <a:headEnd/>
            <a:tailEnd/>
          </a:ln>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53" name="Rectangle 49"/>
          <p:cNvSpPr>
            <a:spLocks noChangeArrowheads="1"/>
          </p:cNvSpPr>
          <p:nvPr/>
        </p:nvSpPr>
        <p:spPr bwMode="auto">
          <a:xfrm>
            <a:off x="8238034" y="3225552"/>
            <a:ext cx="152400" cy="152400"/>
          </a:xfrm>
          <a:prstGeom prst="rect">
            <a:avLst/>
          </a:prstGeom>
          <a:solidFill>
            <a:schemeClr val="hlink"/>
          </a:solidFill>
          <a:ln w="12700" cap="sq">
            <a:solidFill>
              <a:schemeClr val="tx1"/>
            </a:solidFill>
            <a:miter lim="800000"/>
            <a:headEnd/>
            <a:tailEnd/>
          </a:ln>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cxnSp>
        <p:nvCxnSpPr>
          <p:cNvPr id="54" name="AutoShape 50"/>
          <p:cNvCxnSpPr>
            <a:cxnSpLocks noChangeShapeType="1"/>
            <a:stCxn id="51" idx="2"/>
            <a:endCxn id="48" idx="0"/>
          </p:cNvCxnSpPr>
          <p:nvPr/>
        </p:nvCxnSpPr>
        <p:spPr bwMode="auto">
          <a:xfrm>
            <a:off x="8599984" y="3244602"/>
            <a:ext cx="0" cy="154305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55" name="AutoShape 51"/>
          <p:cNvCxnSpPr>
            <a:cxnSpLocks noChangeShapeType="1"/>
            <a:stCxn id="51" idx="2"/>
            <a:endCxn id="61" idx="0"/>
          </p:cNvCxnSpPr>
          <p:nvPr/>
        </p:nvCxnSpPr>
        <p:spPr bwMode="auto">
          <a:xfrm flipH="1">
            <a:off x="8314234" y="3244602"/>
            <a:ext cx="285750" cy="126682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56" name="AutoShape 52"/>
          <p:cNvCxnSpPr>
            <a:cxnSpLocks noChangeShapeType="1"/>
            <a:stCxn id="52" idx="2"/>
            <a:endCxn id="47" idx="0"/>
          </p:cNvCxnSpPr>
          <p:nvPr/>
        </p:nvCxnSpPr>
        <p:spPr bwMode="auto">
          <a:xfrm>
            <a:off x="9228634" y="3558927"/>
            <a:ext cx="228600" cy="106680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57" name="Rectangle 53"/>
          <p:cNvSpPr>
            <a:spLocks noChangeArrowheads="1"/>
          </p:cNvSpPr>
          <p:nvPr/>
        </p:nvSpPr>
        <p:spPr bwMode="auto">
          <a:xfrm>
            <a:off x="7541593" y="5525190"/>
            <a:ext cx="2693045" cy="430887"/>
          </a:xfrm>
          <a:prstGeom prst="rect">
            <a:avLst/>
          </a:prstGeom>
          <a:noFill/>
          <a:ln w="12700" cap="sq">
            <a:noFill/>
            <a:miter lim="800000"/>
            <a:headEnd/>
            <a:tailEnd/>
          </a:ln>
          <a:effectLst/>
        </p:spPr>
        <p:txBody>
          <a:bodyPr wrap="none" lIns="0" tIns="0" rIns="0" bIns="0">
            <a:spAutoFit/>
          </a:bodyPr>
          <a:lstStyle/>
          <a:p>
            <a:pPr algn="ctr">
              <a:defRPr/>
            </a:pPr>
            <a:r>
              <a:rPr kumimoji="1" lang="zh-CN" altLang="en-US" sz="2800" baseline="0">
                <a:solidFill>
                  <a:srgbClr val="FFFFFF"/>
                </a:solidFill>
                <a:effectLst>
                  <a:outerShdw blurRad="38100" dist="38100" dir="2700000" algn="tl">
                    <a:srgbClr val="000000"/>
                  </a:outerShdw>
                </a:effectLst>
                <a:latin typeface="宋体" pitchFamily="2" charset="-122"/>
                <a:ea typeface="宋体" pitchFamily="2" charset="-122"/>
              </a:rPr>
              <a:t>多对多联系</a:t>
            </a:r>
            <a:r>
              <a:rPr kumimoji="1" lang="en-US" altLang="zh-CN" sz="2800" baseline="0">
                <a:solidFill>
                  <a:srgbClr val="FFFFFF"/>
                </a:solidFill>
                <a:effectLst>
                  <a:outerShdw blurRad="38100" dist="38100" dir="2700000" algn="tl">
                    <a:srgbClr val="000000"/>
                  </a:outerShdw>
                </a:effectLst>
                <a:latin typeface="宋体" pitchFamily="2" charset="-122"/>
                <a:ea typeface="宋体" pitchFamily="2" charset="-122"/>
              </a:rPr>
              <a:t>(m:n)</a:t>
            </a:r>
          </a:p>
        </p:txBody>
      </p:sp>
      <p:sp>
        <p:nvSpPr>
          <p:cNvPr id="58" name="Rectangle 54"/>
          <p:cNvSpPr>
            <a:spLocks noChangeArrowheads="1"/>
          </p:cNvSpPr>
          <p:nvPr/>
        </p:nvSpPr>
        <p:spPr bwMode="auto">
          <a:xfrm>
            <a:off x="8771434" y="4625727"/>
            <a:ext cx="152400" cy="152400"/>
          </a:xfrm>
          <a:prstGeom prst="rect">
            <a:avLst/>
          </a:prstGeom>
          <a:solidFill>
            <a:schemeClr val="hlink"/>
          </a:solidFill>
          <a:ln w="12700" cap="sq">
            <a:solidFill>
              <a:schemeClr val="tx1"/>
            </a:solidFill>
            <a:miter lim="800000"/>
            <a:headEnd/>
            <a:tailEnd/>
          </a:ln>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59" name="Rectangle 55"/>
          <p:cNvSpPr>
            <a:spLocks noChangeArrowheads="1"/>
          </p:cNvSpPr>
          <p:nvPr/>
        </p:nvSpPr>
        <p:spPr bwMode="auto">
          <a:xfrm>
            <a:off x="8771434" y="4320927"/>
            <a:ext cx="152400" cy="152400"/>
          </a:xfrm>
          <a:prstGeom prst="rect">
            <a:avLst/>
          </a:prstGeom>
          <a:solidFill>
            <a:schemeClr val="hlink"/>
          </a:solidFill>
          <a:ln w="12700" cap="sq">
            <a:solidFill>
              <a:schemeClr val="tx1"/>
            </a:solidFill>
            <a:miter lim="800000"/>
            <a:headEnd/>
            <a:tailEnd/>
          </a:ln>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60" name="Rectangle 56"/>
          <p:cNvSpPr>
            <a:spLocks noChangeArrowheads="1"/>
          </p:cNvSpPr>
          <p:nvPr/>
        </p:nvSpPr>
        <p:spPr bwMode="auto">
          <a:xfrm>
            <a:off x="9152434" y="4778127"/>
            <a:ext cx="152400" cy="152400"/>
          </a:xfrm>
          <a:prstGeom prst="rect">
            <a:avLst/>
          </a:prstGeom>
          <a:solidFill>
            <a:schemeClr val="hlink"/>
          </a:solidFill>
          <a:ln w="12700" cap="sq">
            <a:solidFill>
              <a:schemeClr val="tx1"/>
            </a:solidFill>
            <a:miter lim="800000"/>
            <a:headEnd/>
            <a:tailEnd/>
          </a:ln>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sp>
        <p:nvSpPr>
          <p:cNvPr id="61" name="Rectangle 57"/>
          <p:cNvSpPr>
            <a:spLocks noChangeArrowheads="1"/>
          </p:cNvSpPr>
          <p:nvPr/>
        </p:nvSpPr>
        <p:spPr bwMode="auto">
          <a:xfrm>
            <a:off x="8238034" y="4511427"/>
            <a:ext cx="152400" cy="152400"/>
          </a:xfrm>
          <a:prstGeom prst="rect">
            <a:avLst/>
          </a:prstGeom>
          <a:solidFill>
            <a:schemeClr val="hlink"/>
          </a:solidFill>
          <a:ln w="12700" cap="sq">
            <a:solidFill>
              <a:schemeClr val="tx1"/>
            </a:solidFill>
            <a:miter lim="800000"/>
            <a:headEnd/>
            <a:tailEnd/>
          </a:ln>
          <a:effectLst/>
        </p:spPr>
        <p:txBody>
          <a:bodyPr wrap="none" lIns="0" tIns="0" rIns="0" bIns="0" anchor="ctr"/>
          <a:lstStyle/>
          <a:p>
            <a:pPr>
              <a:spcAft>
                <a:spcPct val="25000"/>
              </a:spcAft>
              <a:buSzPct val="80000"/>
              <a:buFont typeface="Wingdings" pitchFamily="2" charset="2"/>
              <a:buNone/>
              <a:defRPr/>
            </a:pPr>
            <a:endParaRPr kumimoji="1" lang="zh-CN" altLang="en-US" sz="3200" baseline="0">
              <a:solidFill>
                <a:srgbClr val="FFFFFF"/>
              </a:solidFill>
              <a:effectLst>
                <a:outerShdw blurRad="38100" dist="38100" dir="2700000" algn="tl">
                  <a:srgbClr val="000000">
                    <a:alpha val="43137"/>
                  </a:srgbClr>
                </a:outerShdw>
              </a:effectLst>
              <a:ea typeface="楷体_GB2312" pitchFamily="49" charset="-122"/>
            </a:endParaRPr>
          </a:p>
        </p:txBody>
      </p:sp>
      <p:cxnSp>
        <p:nvCxnSpPr>
          <p:cNvPr id="62" name="AutoShape 58"/>
          <p:cNvCxnSpPr>
            <a:cxnSpLocks noChangeShapeType="1"/>
            <a:stCxn id="51" idx="2"/>
            <a:endCxn id="59" idx="0"/>
          </p:cNvCxnSpPr>
          <p:nvPr/>
        </p:nvCxnSpPr>
        <p:spPr bwMode="auto">
          <a:xfrm>
            <a:off x="8599984" y="3244602"/>
            <a:ext cx="247650" cy="107632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63" name="AutoShape 59"/>
          <p:cNvCxnSpPr>
            <a:cxnSpLocks noChangeShapeType="1"/>
            <a:stCxn id="52" idx="2"/>
            <a:endCxn id="60" idx="0"/>
          </p:cNvCxnSpPr>
          <p:nvPr/>
        </p:nvCxnSpPr>
        <p:spPr bwMode="auto">
          <a:xfrm>
            <a:off x="9228634" y="3558927"/>
            <a:ext cx="0" cy="121920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64" name="AutoShape 60"/>
          <p:cNvCxnSpPr>
            <a:cxnSpLocks noChangeShapeType="1"/>
            <a:stCxn id="50" idx="2"/>
            <a:endCxn id="46" idx="0"/>
          </p:cNvCxnSpPr>
          <p:nvPr/>
        </p:nvCxnSpPr>
        <p:spPr bwMode="auto">
          <a:xfrm>
            <a:off x="8923834" y="3330327"/>
            <a:ext cx="152400" cy="99060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65" name="Rectangle 61"/>
          <p:cNvSpPr>
            <a:spLocks noChangeArrowheads="1"/>
          </p:cNvSpPr>
          <p:nvPr/>
        </p:nvSpPr>
        <p:spPr bwMode="auto">
          <a:xfrm>
            <a:off x="8025359" y="5958577"/>
            <a:ext cx="1795363" cy="430887"/>
          </a:xfrm>
          <a:prstGeom prst="rect">
            <a:avLst/>
          </a:prstGeom>
          <a:noFill/>
          <a:ln w="12700" cap="sq">
            <a:noFill/>
            <a:miter lim="800000"/>
            <a:headEnd/>
            <a:tailEnd/>
          </a:ln>
          <a:effectLst/>
        </p:spPr>
        <p:txBody>
          <a:bodyPr wrap="none" lIns="0" tIns="0" rIns="0" bIns="0">
            <a:spAutoFit/>
          </a:bodyPr>
          <a:lstStyle/>
          <a:p>
            <a:pPr algn="ctr">
              <a:defRPr/>
            </a:pPr>
            <a:r>
              <a:rPr kumimoji="1" lang="zh-CN" altLang="en-US" sz="2800" baseline="0">
                <a:solidFill>
                  <a:srgbClr val="CCFF99"/>
                </a:solidFill>
                <a:effectLst>
                  <a:outerShdw blurRad="38100" dist="38100" dir="2700000" algn="tl">
                    <a:srgbClr val="000000"/>
                  </a:outerShdw>
                </a:effectLst>
                <a:latin typeface="宋体" pitchFamily="2" charset="-122"/>
                <a:ea typeface="宋体" pitchFamily="2" charset="-122"/>
              </a:rPr>
              <a:t>课程与学生</a:t>
            </a:r>
          </a:p>
        </p:txBody>
      </p:sp>
      <p:cxnSp>
        <p:nvCxnSpPr>
          <p:cNvPr id="66" name="AutoShape 62"/>
          <p:cNvCxnSpPr>
            <a:cxnSpLocks noChangeShapeType="1"/>
            <a:stCxn id="48" idx="0"/>
            <a:endCxn id="53" idx="2"/>
          </p:cNvCxnSpPr>
          <p:nvPr/>
        </p:nvCxnSpPr>
        <p:spPr bwMode="auto">
          <a:xfrm flipH="1" flipV="1">
            <a:off x="8314234" y="3377952"/>
            <a:ext cx="285750" cy="140970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67" name="AutoShape 63"/>
          <p:cNvCxnSpPr>
            <a:cxnSpLocks noChangeShapeType="1"/>
            <a:stCxn id="48" idx="0"/>
            <a:endCxn id="50" idx="2"/>
          </p:cNvCxnSpPr>
          <p:nvPr/>
        </p:nvCxnSpPr>
        <p:spPr bwMode="auto">
          <a:xfrm flipV="1">
            <a:off x="8599984" y="3330327"/>
            <a:ext cx="323850" cy="145732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68" name="AutoShape 64"/>
          <p:cNvCxnSpPr>
            <a:cxnSpLocks noChangeShapeType="1"/>
            <a:stCxn id="59" idx="0"/>
            <a:endCxn id="52" idx="2"/>
          </p:cNvCxnSpPr>
          <p:nvPr/>
        </p:nvCxnSpPr>
        <p:spPr bwMode="auto">
          <a:xfrm flipV="1">
            <a:off x="8847634" y="3558927"/>
            <a:ext cx="381000" cy="76200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69" name="AutoShape 65"/>
          <p:cNvCxnSpPr>
            <a:cxnSpLocks noChangeShapeType="1"/>
            <a:stCxn id="61" idx="0"/>
            <a:endCxn id="53" idx="2"/>
          </p:cNvCxnSpPr>
          <p:nvPr/>
        </p:nvCxnSpPr>
        <p:spPr bwMode="auto">
          <a:xfrm flipV="1">
            <a:off x="8314234" y="3377952"/>
            <a:ext cx="0" cy="113347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70" name="Rectangle 66"/>
          <p:cNvSpPr>
            <a:spLocks noChangeArrowheads="1"/>
          </p:cNvSpPr>
          <p:nvPr/>
        </p:nvSpPr>
        <p:spPr bwMode="auto">
          <a:xfrm>
            <a:off x="2064247" y="3084265"/>
            <a:ext cx="273646" cy="453183"/>
          </a:xfrm>
          <a:prstGeom prst="rect">
            <a:avLst/>
          </a:prstGeom>
          <a:noFill/>
          <a:ln w="12700" cap="sq">
            <a:noFill/>
            <a:miter lim="800000"/>
            <a:headEnd/>
            <a:tailEnd/>
          </a:ln>
          <a:effectLst/>
        </p:spPr>
        <p:txBody>
          <a:bodyPr wrap="none" lIns="72000" tIns="72000" rIns="72000" bIns="72000">
            <a:spAutoFit/>
          </a:bodyPr>
          <a:lstStyle/>
          <a:p>
            <a:r>
              <a:rPr kumimoji="1" lang="en-US" altLang="zh-CN" sz="2000" b="1" baseline="0" dirty="0">
                <a:effectLst>
                  <a:outerShdw blurRad="38100" dist="38100" dir="2700000" algn="tl">
                    <a:srgbClr val="000000"/>
                  </a:outerShdw>
                </a:effectLst>
                <a:latin typeface="Times New Roman" pitchFamily="18" charset="0"/>
                <a:ea typeface="楷体_GB2312" pitchFamily="49" charset="-122"/>
              </a:rPr>
              <a:t>1</a:t>
            </a:r>
          </a:p>
        </p:txBody>
      </p:sp>
      <p:sp>
        <p:nvSpPr>
          <p:cNvPr id="71" name="Rectangle 67"/>
          <p:cNvSpPr>
            <a:spLocks noChangeArrowheads="1"/>
          </p:cNvSpPr>
          <p:nvPr/>
        </p:nvSpPr>
        <p:spPr bwMode="auto">
          <a:xfrm>
            <a:off x="2064247" y="4379665"/>
            <a:ext cx="273646" cy="453183"/>
          </a:xfrm>
          <a:prstGeom prst="rect">
            <a:avLst/>
          </a:prstGeom>
          <a:noFill/>
          <a:ln w="12700" cap="sq">
            <a:noFill/>
            <a:miter lim="800000"/>
            <a:headEnd/>
            <a:tailEnd/>
          </a:ln>
          <a:effectLst/>
        </p:spPr>
        <p:txBody>
          <a:bodyPr wrap="none" lIns="72000" tIns="72000" rIns="72000" bIns="72000">
            <a:spAutoFit/>
          </a:bodyPr>
          <a:lstStyle/>
          <a:p>
            <a:r>
              <a:rPr kumimoji="1" lang="en-US" altLang="zh-CN" sz="2000" b="1" baseline="0">
                <a:effectLst>
                  <a:outerShdw blurRad="38100" dist="38100" dir="2700000" algn="tl">
                    <a:srgbClr val="000000"/>
                  </a:outerShdw>
                </a:effectLst>
                <a:latin typeface="Times New Roman" pitchFamily="18" charset="0"/>
                <a:ea typeface="楷体_GB2312" pitchFamily="49" charset="-122"/>
              </a:rPr>
              <a:t>1</a:t>
            </a:r>
          </a:p>
        </p:txBody>
      </p:sp>
      <p:sp>
        <p:nvSpPr>
          <p:cNvPr id="72" name="Rectangle 68"/>
          <p:cNvSpPr>
            <a:spLocks noChangeArrowheads="1"/>
          </p:cNvSpPr>
          <p:nvPr/>
        </p:nvSpPr>
        <p:spPr bwMode="auto">
          <a:xfrm>
            <a:off x="4943972" y="3084265"/>
            <a:ext cx="273646" cy="453183"/>
          </a:xfrm>
          <a:prstGeom prst="rect">
            <a:avLst/>
          </a:prstGeom>
          <a:noFill/>
          <a:ln w="12700" cap="sq">
            <a:noFill/>
            <a:miter lim="800000"/>
            <a:headEnd/>
            <a:tailEnd/>
          </a:ln>
          <a:effectLst/>
        </p:spPr>
        <p:txBody>
          <a:bodyPr wrap="none" lIns="72000" tIns="72000" rIns="72000" bIns="72000">
            <a:spAutoFit/>
          </a:bodyPr>
          <a:lstStyle/>
          <a:p>
            <a:r>
              <a:rPr kumimoji="1" lang="en-US" altLang="zh-CN" sz="2000" b="1" baseline="0">
                <a:effectLst>
                  <a:outerShdw blurRad="38100" dist="38100" dir="2700000" algn="tl">
                    <a:srgbClr val="000000"/>
                  </a:outerShdw>
                </a:effectLst>
                <a:latin typeface="Times New Roman" pitchFamily="18" charset="0"/>
                <a:ea typeface="楷体_GB2312" pitchFamily="49" charset="-122"/>
              </a:rPr>
              <a:t>1</a:t>
            </a:r>
          </a:p>
        </p:txBody>
      </p:sp>
      <p:sp>
        <p:nvSpPr>
          <p:cNvPr id="77" name="Rectangle 69"/>
          <p:cNvSpPr>
            <a:spLocks noChangeArrowheads="1"/>
          </p:cNvSpPr>
          <p:nvPr/>
        </p:nvSpPr>
        <p:spPr bwMode="auto">
          <a:xfrm>
            <a:off x="4943972" y="4379665"/>
            <a:ext cx="288074" cy="453183"/>
          </a:xfrm>
          <a:prstGeom prst="rect">
            <a:avLst/>
          </a:prstGeom>
          <a:noFill/>
          <a:ln w="12700" cap="sq">
            <a:noFill/>
            <a:miter lim="800000"/>
            <a:headEnd/>
            <a:tailEnd/>
          </a:ln>
          <a:effectLst/>
        </p:spPr>
        <p:txBody>
          <a:bodyPr wrap="none" lIns="72000" tIns="72000" rIns="72000" bIns="72000">
            <a:spAutoFit/>
          </a:bodyPr>
          <a:lstStyle/>
          <a:p>
            <a:r>
              <a:rPr kumimoji="1" lang="en-US" altLang="zh-CN" sz="2000" b="1" baseline="0">
                <a:effectLst>
                  <a:outerShdw blurRad="38100" dist="38100" dir="2700000" algn="tl">
                    <a:srgbClr val="000000"/>
                  </a:outerShdw>
                </a:effectLst>
                <a:latin typeface="Times New Roman" pitchFamily="18" charset="0"/>
                <a:ea typeface="楷体_GB2312" pitchFamily="49" charset="-122"/>
              </a:rPr>
              <a:t>n</a:t>
            </a:r>
          </a:p>
        </p:txBody>
      </p:sp>
      <p:sp>
        <p:nvSpPr>
          <p:cNvPr id="78" name="Rectangle 70"/>
          <p:cNvSpPr>
            <a:spLocks noChangeArrowheads="1"/>
          </p:cNvSpPr>
          <p:nvPr/>
        </p:nvSpPr>
        <p:spPr bwMode="auto">
          <a:xfrm>
            <a:off x="7752259" y="3084265"/>
            <a:ext cx="358606" cy="453183"/>
          </a:xfrm>
          <a:prstGeom prst="rect">
            <a:avLst/>
          </a:prstGeom>
          <a:noFill/>
          <a:ln w="12700" cap="sq">
            <a:noFill/>
            <a:miter lim="800000"/>
            <a:headEnd/>
            <a:tailEnd/>
          </a:ln>
          <a:effectLst/>
        </p:spPr>
        <p:txBody>
          <a:bodyPr wrap="none" lIns="72000" tIns="72000" rIns="72000" bIns="72000">
            <a:spAutoFit/>
          </a:bodyPr>
          <a:lstStyle/>
          <a:p>
            <a:r>
              <a:rPr kumimoji="1" lang="en-US" altLang="zh-CN" sz="2000" b="1" baseline="0">
                <a:effectLst>
                  <a:outerShdw blurRad="38100" dist="38100" dir="2700000" algn="tl">
                    <a:srgbClr val="000000"/>
                  </a:outerShdw>
                </a:effectLst>
                <a:latin typeface="Times New Roman" pitchFamily="18" charset="0"/>
                <a:ea typeface="楷体_GB2312" pitchFamily="49" charset="-122"/>
              </a:rPr>
              <a:t>m</a:t>
            </a:r>
          </a:p>
        </p:txBody>
      </p:sp>
      <p:sp>
        <p:nvSpPr>
          <p:cNvPr id="79" name="Rectangle 71"/>
          <p:cNvSpPr>
            <a:spLocks noChangeArrowheads="1"/>
          </p:cNvSpPr>
          <p:nvPr/>
        </p:nvSpPr>
        <p:spPr bwMode="auto">
          <a:xfrm>
            <a:off x="7752259" y="4379665"/>
            <a:ext cx="288074" cy="453183"/>
          </a:xfrm>
          <a:prstGeom prst="rect">
            <a:avLst/>
          </a:prstGeom>
          <a:noFill/>
          <a:ln w="12700" cap="sq">
            <a:noFill/>
            <a:miter lim="800000"/>
            <a:headEnd/>
            <a:tailEnd/>
          </a:ln>
          <a:effectLst/>
        </p:spPr>
        <p:txBody>
          <a:bodyPr wrap="none" lIns="72000" tIns="72000" rIns="72000" bIns="72000">
            <a:spAutoFit/>
          </a:bodyPr>
          <a:lstStyle/>
          <a:p>
            <a:r>
              <a:rPr kumimoji="1" lang="en-US" altLang="zh-CN" sz="2000" b="1" baseline="0">
                <a:effectLst>
                  <a:outerShdw blurRad="38100" dist="38100" dir="2700000" algn="tl">
                    <a:srgbClr val="000000"/>
                  </a:outerShdw>
                </a:effectLst>
                <a:latin typeface="Times New Roman" pitchFamily="18" charset="0"/>
                <a:ea typeface="楷体_GB2312" pitchFamily="49" charset="-122"/>
              </a:rPr>
              <a:t>n</a:t>
            </a:r>
          </a:p>
        </p:txBody>
      </p:sp>
    </p:spTree>
    <p:extLst>
      <p:ext uri="{BB962C8B-B14F-4D97-AF65-F5344CB8AC3E}">
        <p14:creationId xmlns:p14="http://schemas.microsoft.com/office/powerpoint/2010/main" val="4227009030"/>
      </p:ext>
    </p:extLst>
  </p:cSld>
  <p:clrMapOvr>
    <a:masterClrMapping/>
  </p:clrMapOvr>
  <mc:AlternateContent xmlns:mc="http://schemas.openxmlformats.org/markup-compatibility/2006" xmlns:p14="http://schemas.microsoft.com/office/powerpoint/2010/main">
    <mc:Choice Requires="p14">
      <p:transition spd="slow" p14:dur="1500">
        <p:split orient="vert"/>
        <p:sndAc>
          <p:stSnd>
            <p:snd r:embed="rId2" name="arrow.wav"/>
          </p:stSnd>
        </p:sndAc>
      </p:transition>
    </mc:Choice>
    <mc:Fallback xmlns="">
      <p:transition spd="slow">
        <p:split orient="vert"/>
        <p:sndAc>
          <p:stSnd>
            <p:snd r:embed="rId4" name="arrow.wav"/>
          </p:stSnd>
        </p:sndAc>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3585451"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en-US" altLang="zh-CN" b="1" u="sng" kern="1200" dirty="0">
                <a:solidFill>
                  <a:schemeClr val="folHlink"/>
                </a:solidFill>
                <a:effectLst>
                  <a:outerShdw blurRad="38100" dist="38100" dir="2700000" algn="tl">
                    <a:srgbClr val="000000"/>
                  </a:outerShdw>
                </a:effectLst>
                <a:cs typeface="+mn-cs"/>
              </a:rPr>
              <a:t>E-R</a:t>
            </a:r>
            <a:r>
              <a:rPr lang="zh-CN" altLang="en-US" b="1" u="sng" kern="1200" dirty="0">
                <a:solidFill>
                  <a:schemeClr val="folHlink"/>
                </a:solidFill>
                <a:effectLst>
                  <a:outerShdw blurRad="38100" dist="38100" dir="2700000" algn="tl">
                    <a:srgbClr val="000000"/>
                  </a:outerShdw>
                </a:effectLst>
                <a:cs typeface="+mn-cs"/>
              </a:rPr>
              <a:t>模型的绘制</a:t>
            </a:r>
            <a:endParaRPr lang="zh-CN" altLang="en-US" sz="4000" b="1" u="sng" kern="1200" dirty="0">
              <a:solidFill>
                <a:schemeClr val="folHlink"/>
              </a:solidFill>
              <a:effectLst>
                <a:outerShdw blurRad="38100" dist="38100" dir="2700000" algn="tl">
                  <a:srgbClr val="000000"/>
                </a:outerShdw>
              </a:effectLst>
              <a:cs typeface="+mn-cs"/>
            </a:endParaRPr>
          </a:p>
        </p:txBody>
      </p:sp>
      <p:sp>
        <p:nvSpPr>
          <p:cNvPr id="149" name="Rectangle 19"/>
          <p:cNvSpPr txBox="1">
            <a:spLocks noChangeArrowheads="1"/>
          </p:cNvSpPr>
          <p:nvPr/>
        </p:nvSpPr>
        <p:spPr bwMode="auto">
          <a:xfrm>
            <a:off x="683647" y="1065363"/>
            <a:ext cx="7054793" cy="2191393"/>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0" indent="0" eaLnBrk="1" hangingPunct="1">
              <a:spcAft>
                <a:spcPct val="20000"/>
              </a:spcAft>
              <a:buClr>
                <a:srgbClr val="FFC000"/>
              </a:buClr>
              <a:buNone/>
              <a:defRPr/>
            </a:pPr>
            <a:r>
              <a:rPr lang="zh-CN" altLang="en-US" sz="2800" baseline="0" dirty="0"/>
              <a:t>在仔细研究</a:t>
            </a:r>
            <a:r>
              <a:rPr lang="zh-CN" altLang="en-US" sz="2800" b="1" baseline="0" dirty="0">
                <a:solidFill>
                  <a:srgbClr val="FFC000"/>
                </a:solidFill>
              </a:rPr>
              <a:t>需求说明</a:t>
            </a:r>
            <a:r>
              <a:rPr lang="zh-CN" altLang="en-US" sz="2800" baseline="0" dirty="0"/>
              <a:t>的基础上</a:t>
            </a:r>
            <a:endParaRPr lang="en-US" altLang="zh-CN" sz="2800" baseline="0" dirty="0"/>
          </a:p>
          <a:p>
            <a:pPr marL="514350" indent="-514350" eaLnBrk="1" hangingPunct="1">
              <a:spcAft>
                <a:spcPct val="20000"/>
              </a:spcAft>
              <a:buClr>
                <a:srgbClr val="FFC000"/>
              </a:buClr>
              <a:buFont typeface="+mj-lt"/>
              <a:buAutoNum type="arabicPeriod"/>
              <a:defRPr/>
            </a:pPr>
            <a:r>
              <a:rPr lang="zh-CN" altLang="en-US" sz="2800" baseline="0" dirty="0"/>
              <a:t>首先确定出实体和属性</a:t>
            </a:r>
            <a:endParaRPr lang="en-US" altLang="zh-CN" sz="2800" baseline="0" dirty="0"/>
          </a:p>
          <a:p>
            <a:pPr marL="514350" indent="-514350" eaLnBrk="1" hangingPunct="1">
              <a:spcAft>
                <a:spcPct val="20000"/>
              </a:spcAft>
              <a:buClr>
                <a:srgbClr val="FFC000"/>
              </a:buClr>
              <a:buFont typeface="+mj-lt"/>
              <a:buAutoNum type="arabicPeriod"/>
              <a:defRPr/>
            </a:pPr>
            <a:r>
              <a:rPr lang="zh-CN" altLang="en-US" sz="2800" baseline="0" dirty="0"/>
              <a:t>确定实体间和实体内部的联系及其类型</a:t>
            </a:r>
            <a:endParaRPr lang="en-US" altLang="zh-CN" sz="2800" baseline="0" dirty="0"/>
          </a:p>
          <a:p>
            <a:pPr marL="514350" indent="-514350" eaLnBrk="1" hangingPunct="1">
              <a:spcAft>
                <a:spcPct val="20000"/>
              </a:spcAft>
              <a:buClr>
                <a:srgbClr val="FFC000"/>
              </a:buClr>
              <a:buFont typeface="+mj-lt"/>
              <a:buAutoNum type="arabicPeriod"/>
              <a:defRPr/>
            </a:pPr>
            <a:r>
              <a:rPr lang="zh-CN" altLang="en-US" sz="2800" baseline="0" dirty="0"/>
              <a:t>确定联系产生的属性</a:t>
            </a:r>
          </a:p>
        </p:txBody>
      </p:sp>
      <p:grpSp>
        <p:nvGrpSpPr>
          <p:cNvPr id="9" name="组合 8">
            <a:extLst>
              <a:ext uri="{FF2B5EF4-FFF2-40B4-BE49-F238E27FC236}">
                <a16:creationId xmlns:a16="http://schemas.microsoft.com/office/drawing/2014/main" id="{110B0DFB-0801-4557-8F84-016A8445A9DE}"/>
              </a:ext>
            </a:extLst>
          </p:cNvPr>
          <p:cNvGrpSpPr/>
          <p:nvPr/>
        </p:nvGrpSpPr>
        <p:grpSpPr>
          <a:xfrm>
            <a:off x="1883358" y="3696592"/>
            <a:ext cx="3266018" cy="955675"/>
            <a:chOff x="1883358" y="3696592"/>
            <a:chExt cx="3266018" cy="955675"/>
          </a:xfrm>
        </p:grpSpPr>
        <p:sp>
          <p:nvSpPr>
            <p:cNvPr id="158" name="Rectangle 8"/>
            <p:cNvSpPr>
              <a:spLocks noChangeArrowheads="1"/>
            </p:cNvSpPr>
            <p:nvPr/>
          </p:nvSpPr>
          <p:spPr bwMode="auto">
            <a:xfrm>
              <a:off x="3126673" y="4331592"/>
              <a:ext cx="890732" cy="320675"/>
            </a:xfrm>
            <a:prstGeom prst="rect">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2400" baseline="0" dirty="0">
                  <a:latin typeface="Times New Roman" pitchFamily="18" charset="0"/>
                  <a:ea typeface="楷体_GB2312" pitchFamily="49" charset="-122"/>
                </a:rPr>
                <a:t>课程</a:t>
              </a:r>
            </a:p>
          </p:txBody>
        </p:sp>
        <p:sp>
          <p:nvSpPr>
            <p:cNvPr id="159" name="AutoShape 9"/>
            <p:cNvSpPr>
              <a:spLocks noChangeArrowheads="1"/>
            </p:cNvSpPr>
            <p:nvPr/>
          </p:nvSpPr>
          <p:spPr bwMode="auto">
            <a:xfrm>
              <a:off x="1883358" y="3696592"/>
              <a:ext cx="989702" cy="287338"/>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课程号</a:t>
              </a:r>
            </a:p>
          </p:txBody>
        </p:sp>
        <p:sp>
          <p:nvSpPr>
            <p:cNvPr id="160" name="AutoShape 10"/>
            <p:cNvSpPr>
              <a:spLocks noChangeArrowheads="1"/>
            </p:cNvSpPr>
            <p:nvPr/>
          </p:nvSpPr>
          <p:spPr bwMode="auto">
            <a:xfrm>
              <a:off x="3071001" y="3696592"/>
              <a:ext cx="989702" cy="287338"/>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dirty="0">
                  <a:latin typeface="Times New Roman" pitchFamily="18" charset="0"/>
                  <a:ea typeface="楷体_GB2312" pitchFamily="49" charset="-122"/>
                </a:rPr>
                <a:t>课程名</a:t>
              </a:r>
            </a:p>
          </p:txBody>
        </p:sp>
        <p:sp>
          <p:nvSpPr>
            <p:cNvPr id="161" name="AutoShape 11"/>
            <p:cNvSpPr>
              <a:spLocks noChangeArrowheads="1"/>
            </p:cNvSpPr>
            <p:nvPr/>
          </p:nvSpPr>
          <p:spPr bwMode="auto">
            <a:xfrm>
              <a:off x="4258644" y="3696592"/>
              <a:ext cx="890732" cy="287338"/>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学分</a:t>
              </a:r>
            </a:p>
          </p:txBody>
        </p:sp>
        <p:cxnSp>
          <p:nvCxnSpPr>
            <p:cNvPr id="180" name="AutoShape 30"/>
            <p:cNvCxnSpPr>
              <a:cxnSpLocks noChangeShapeType="1"/>
              <a:stCxn id="159" idx="2"/>
              <a:endCxn id="158" idx="0"/>
            </p:cNvCxnSpPr>
            <p:nvPr/>
          </p:nvCxnSpPr>
          <p:spPr bwMode="auto">
            <a:xfrm>
              <a:off x="2378210" y="3983930"/>
              <a:ext cx="1193829" cy="347662"/>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1" name="AutoShape 31"/>
            <p:cNvCxnSpPr>
              <a:cxnSpLocks noChangeShapeType="1"/>
              <a:stCxn id="160" idx="2"/>
              <a:endCxn id="158" idx="0"/>
            </p:cNvCxnSpPr>
            <p:nvPr/>
          </p:nvCxnSpPr>
          <p:spPr bwMode="auto">
            <a:xfrm>
              <a:off x="3565852" y="3983930"/>
              <a:ext cx="6186" cy="347662"/>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2" name="AutoShape 32"/>
            <p:cNvCxnSpPr>
              <a:cxnSpLocks noChangeShapeType="1"/>
              <a:stCxn id="161" idx="2"/>
              <a:endCxn id="158" idx="0"/>
            </p:cNvCxnSpPr>
            <p:nvPr/>
          </p:nvCxnSpPr>
          <p:spPr bwMode="auto">
            <a:xfrm flipH="1">
              <a:off x="3572039" y="3983930"/>
              <a:ext cx="1131971" cy="347662"/>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grpSp>
      <p:grpSp>
        <p:nvGrpSpPr>
          <p:cNvPr id="11" name="组合 10">
            <a:extLst>
              <a:ext uri="{FF2B5EF4-FFF2-40B4-BE49-F238E27FC236}">
                <a16:creationId xmlns:a16="http://schemas.microsoft.com/office/drawing/2014/main" id="{BD66558D-6EA0-4290-9BEB-BC3083EF49D5}"/>
              </a:ext>
            </a:extLst>
          </p:cNvPr>
          <p:cNvGrpSpPr/>
          <p:nvPr/>
        </p:nvGrpSpPr>
        <p:grpSpPr>
          <a:xfrm>
            <a:off x="551384" y="5158680"/>
            <a:ext cx="3228904" cy="1293812"/>
            <a:chOff x="551384" y="5158680"/>
            <a:chExt cx="3228904" cy="1293812"/>
          </a:xfrm>
        </p:grpSpPr>
        <p:sp>
          <p:nvSpPr>
            <p:cNvPr id="162" name="Rectangle 12"/>
            <p:cNvSpPr>
              <a:spLocks noChangeArrowheads="1"/>
            </p:cNvSpPr>
            <p:nvPr/>
          </p:nvSpPr>
          <p:spPr bwMode="auto">
            <a:xfrm>
              <a:off x="1114278" y="5158680"/>
              <a:ext cx="890732" cy="298450"/>
            </a:xfrm>
            <a:prstGeom prst="rect">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2400" baseline="0" dirty="0">
                  <a:latin typeface="Times New Roman" pitchFamily="18" charset="0"/>
                  <a:ea typeface="楷体_GB2312" pitchFamily="49" charset="-122"/>
                </a:rPr>
                <a:t>教师</a:t>
              </a:r>
            </a:p>
          </p:txBody>
        </p:sp>
        <p:sp>
          <p:nvSpPr>
            <p:cNvPr id="163" name="AutoShape 13"/>
            <p:cNvSpPr>
              <a:spLocks noChangeArrowheads="1"/>
            </p:cNvSpPr>
            <p:nvPr/>
          </p:nvSpPr>
          <p:spPr bwMode="auto">
            <a:xfrm>
              <a:off x="551384" y="5741292"/>
              <a:ext cx="989702" cy="27940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教工号</a:t>
              </a:r>
            </a:p>
          </p:txBody>
        </p:sp>
        <p:sp>
          <p:nvSpPr>
            <p:cNvPr id="164" name="AutoShape 14"/>
            <p:cNvSpPr>
              <a:spLocks noChangeArrowheads="1"/>
            </p:cNvSpPr>
            <p:nvPr/>
          </p:nvSpPr>
          <p:spPr bwMode="auto">
            <a:xfrm>
              <a:off x="1299847" y="6173092"/>
              <a:ext cx="890732" cy="27940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姓名</a:t>
              </a:r>
            </a:p>
          </p:txBody>
        </p:sp>
        <p:sp>
          <p:nvSpPr>
            <p:cNvPr id="165" name="AutoShape 15"/>
            <p:cNvSpPr>
              <a:spLocks noChangeArrowheads="1"/>
            </p:cNvSpPr>
            <p:nvPr/>
          </p:nvSpPr>
          <p:spPr bwMode="auto">
            <a:xfrm>
              <a:off x="1860678" y="5812730"/>
              <a:ext cx="890732" cy="27940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性别</a:t>
              </a:r>
            </a:p>
          </p:txBody>
        </p:sp>
        <p:sp>
          <p:nvSpPr>
            <p:cNvPr id="166" name="AutoShape 16"/>
            <p:cNvSpPr>
              <a:spLocks noChangeArrowheads="1"/>
            </p:cNvSpPr>
            <p:nvPr/>
          </p:nvSpPr>
          <p:spPr bwMode="auto">
            <a:xfrm>
              <a:off x="2889556" y="5812730"/>
              <a:ext cx="890732" cy="27940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职称</a:t>
              </a:r>
            </a:p>
          </p:txBody>
        </p:sp>
        <p:cxnSp>
          <p:nvCxnSpPr>
            <p:cNvPr id="183" name="AutoShape 33"/>
            <p:cNvCxnSpPr>
              <a:cxnSpLocks noChangeShapeType="1"/>
              <a:stCxn id="162" idx="2"/>
              <a:endCxn id="163" idx="0"/>
            </p:cNvCxnSpPr>
            <p:nvPr/>
          </p:nvCxnSpPr>
          <p:spPr bwMode="auto">
            <a:xfrm flipH="1">
              <a:off x="1046235" y="5457130"/>
              <a:ext cx="513409" cy="284162"/>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4" name="AutoShape 34"/>
            <p:cNvCxnSpPr>
              <a:cxnSpLocks noChangeShapeType="1"/>
              <a:stCxn id="162" idx="2"/>
              <a:endCxn id="164" idx="0"/>
            </p:cNvCxnSpPr>
            <p:nvPr/>
          </p:nvCxnSpPr>
          <p:spPr bwMode="auto">
            <a:xfrm>
              <a:off x="1559644" y="5457130"/>
              <a:ext cx="185569" cy="715962"/>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5" name="AutoShape 35"/>
            <p:cNvCxnSpPr>
              <a:cxnSpLocks noChangeShapeType="1"/>
              <a:stCxn id="162" idx="2"/>
              <a:endCxn id="165" idx="0"/>
            </p:cNvCxnSpPr>
            <p:nvPr/>
          </p:nvCxnSpPr>
          <p:spPr bwMode="auto">
            <a:xfrm>
              <a:off x="1559644" y="5457130"/>
              <a:ext cx="746401" cy="35560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6" name="AutoShape 36"/>
            <p:cNvCxnSpPr>
              <a:cxnSpLocks noChangeShapeType="1"/>
              <a:stCxn id="162" idx="2"/>
              <a:endCxn id="166" idx="0"/>
            </p:cNvCxnSpPr>
            <p:nvPr/>
          </p:nvCxnSpPr>
          <p:spPr bwMode="auto">
            <a:xfrm>
              <a:off x="1559644" y="5457130"/>
              <a:ext cx="1775278" cy="35560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grpSp>
      <p:grpSp>
        <p:nvGrpSpPr>
          <p:cNvPr id="8" name="组合 7">
            <a:extLst>
              <a:ext uri="{FF2B5EF4-FFF2-40B4-BE49-F238E27FC236}">
                <a16:creationId xmlns:a16="http://schemas.microsoft.com/office/drawing/2014/main" id="{E0FC8927-C0F1-4C1E-8979-019C96B979E5}"/>
              </a:ext>
            </a:extLst>
          </p:cNvPr>
          <p:cNvGrpSpPr/>
          <p:nvPr/>
        </p:nvGrpSpPr>
        <p:grpSpPr>
          <a:xfrm>
            <a:off x="4666896" y="5122167"/>
            <a:ext cx="4008295" cy="1195388"/>
            <a:chOff x="4666896" y="5122167"/>
            <a:chExt cx="4008295" cy="1195388"/>
          </a:xfrm>
        </p:grpSpPr>
        <p:sp>
          <p:nvSpPr>
            <p:cNvPr id="167" name="Rectangle 17"/>
            <p:cNvSpPr>
              <a:spLocks noChangeArrowheads="1"/>
            </p:cNvSpPr>
            <p:nvPr/>
          </p:nvSpPr>
          <p:spPr bwMode="auto">
            <a:xfrm>
              <a:off x="5508143" y="5122167"/>
              <a:ext cx="1385583" cy="371475"/>
            </a:xfrm>
            <a:prstGeom prst="rect">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2400" baseline="0" dirty="0">
                  <a:latin typeface="Times New Roman" pitchFamily="18" charset="0"/>
                  <a:ea typeface="楷体_GB2312" pitchFamily="49" charset="-122"/>
                </a:rPr>
                <a:t>参考书</a:t>
              </a:r>
            </a:p>
          </p:txBody>
        </p:sp>
        <p:sp>
          <p:nvSpPr>
            <p:cNvPr id="168" name="AutoShape 18"/>
            <p:cNvSpPr>
              <a:spLocks noChangeArrowheads="1"/>
            </p:cNvSpPr>
            <p:nvPr/>
          </p:nvSpPr>
          <p:spPr bwMode="auto">
            <a:xfrm>
              <a:off x="4666896" y="6044505"/>
              <a:ext cx="791762" cy="27305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书号</a:t>
              </a:r>
            </a:p>
          </p:txBody>
        </p:sp>
        <p:sp>
          <p:nvSpPr>
            <p:cNvPr id="169" name="AutoShape 19"/>
            <p:cNvSpPr>
              <a:spLocks noChangeArrowheads="1"/>
            </p:cNvSpPr>
            <p:nvPr/>
          </p:nvSpPr>
          <p:spPr bwMode="auto">
            <a:xfrm>
              <a:off x="5557628" y="6023867"/>
              <a:ext cx="890732" cy="27940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书名</a:t>
              </a:r>
            </a:p>
          </p:txBody>
        </p:sp>
        <p:sp>
          <p:nvSpPr>
            <p:cNvPr id="170" name="AutoShape 20"/>
            <p:cNvSpPr>
              <a:spLocks noChangeArrowheads="1"/>
            </p:cNvSpPr>
            <p:nvPr/>
          </p:nvSpPr>
          <p:spPr bwMode="auto">
            <a:xfrm>
              <a:off x="6549393" y="6023867"/>
              <a:ext cx="1129910" cy="27940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出版社</a:t>
              </a:r>
            </a:p>
          </p:txBody>
        </p:sp>
        <p:sp>
          <p:nvSpPr>
            <p:cNvPr id="171" name="AutoShape 21"/>
            <p:cNvSpPr>
              <a:spLocks noChangeArrowheads="1"/>
            </p:cNvSpPr>
            <p:nvPr/>
          </p:nvSpPr>
          <p:spPr bwMode="auto">
            <a:xfrm>
              <a:off x="7784459" y="6023867"/>
              <a:ext cx="890732" cy="27940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主编</a:t>
              </a:r>
            </a:p>
          </p:txBody>
        </p:sp>
        <p:cxnSp>
          <p:nvCxnSpPr>
            <p:cNvPr id="187" name="AutoShape 37"/>
            <p:cNvCxnSpPr>
              <a:cxnSpLocks noChangeShapeType="1"/>
              <a:stCxn id="167" idx="2"/>
              <a:endCxn id="168" idx="0"/>
            </p:cNvCxnSpPr>
            <p:nvPr/>
          </p:nvCxnSpPr>
          <p:spPr bwMode="auto">
            <a:xfrm flipH="1">
              <a:off x="5062777" y="5493642"/>
              <a:ext cx="1138158" cy="550863"/>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8" name="AutoShape 38"/>
            <p:cNvCxnSpPr>
              <a:cxnSpLocks noChangeShapeType="1"/>
              <a:stCxn id="167" idx="2"/>
              <a:endCxn id="169" idx="0"/>
            </p:cNvCxnSpPr>
            <p:nvPr/>
          </p:nvCxnSpPr>
          <p:spPr bwMode="auto">
            <a:xfrm flipH="1">
              <a:off x="6002995" y="5493642"/>
              <a:ext cx="197940" cy="53022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9" name="AutoShape 39"/>
            <p:cNvCxnSpPr>
              <a:cxnSpLocks noChangeShapeType="1"/>
              <a:stCxn id="167" idx="2"/>
              <a:endCxn id="170" idx="0"/>
            </p:cNvCxnSpPr>
            <p:nvPr/>
          </p:nvCxnSpPr>
          <p:spPr bwMode="auto">
            <a:xfrm>
              <a:off x="6200935" y="5493642"/>
              <a:ext cx="913413" cy="53022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90" name="AutoShape 40"/>
            <p:cNvCxnSpPr>
              <a:cxnSpLocks noChangeShapeType="1"/>
              <a:stCxn id="167" idx="2"/>
              <a:endCxn id="171" idx="0"/>
            </p:cNvCxnSpPr>
            <p:nvPr/>
          </p:nvCxnSpPr>
          <p:spPr bwMode="auto">
            <a:xfrm>
              <a:off x="6200935" y="5493642"/>
              <a:ext cx="2028890" cy="53022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grpSp>
      <p:grpSp>
        <p:nvGrpSpPr>
          <p:cNvPr id="2" name="组合 1">
            <a:extLst>
              <a:ext uri="{FF2B5EF4-FFF2-40B4-BE49-F238E27FC236}">
                <a16:creationId xmlns:a16="http://schemas.microsoft.com/office/drawing/2014/main" id="{86E0C88A-D64D-472A-9C3E-4B504D1B4385}"/>
              </a:ext>
            </a:extLst>
          </p:cNvPr>
          <p:cNvGrpSpPr/>
          <p:nvPr/>
        </p:nvGrpSpPr>
        <p:grpSpPr>
          <a:xfrm>
            <a:off x="8184232" y="2124967"/>
            <a:ext cx="2169099" cy="901700"/>
            <a:chOff x="8184232" y="2124967"/>
            <a:chExt cx="2169099" cy="901700"/>
          </a:xfrm>
        </p:grpSpPr>
        <p:sp>
          <p:nvSpPr>
            <p:cNvPr id="177" name="Rectangle 27"/>
            <p:cNvSpPr>
              <a:spLocks noChangeArrowheads="1"/>
            </p:cNvSpPr>
            <p:nvPr/>
          </p:nvSpPr>
          <p:spPr bwMode="auto">
            <a:xfrm>
              <a:off x="8802796" y="2682180"/>
              <a:ext cx="989702" cy="344487"/>
            </a:xfrm>
            <a:prstGeom prst="rect">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2400" baseline="0" dirty="0">
                  <a:latin typeface="Times New Roman" pitchFamily="18" charset="0"/>
                  <a:ea typeface="楷体_GB2312" pitchFamily="49" charset="-122"/>
                </a:rPr>
                <a:t>班级</a:t>
              </a:r>
            </a:p>
          </p:txBody>
        </p:sp>
        <p:sp>
          <p:nvSpPr>
            <p:cNvPr id="178" name="AutoShape 28"/>
            <p:cNvSpPr>
              <a:spLocks noChangeArrowheads="1"/>
            </p:cNvSpPr>
            <p:nvPr/>
          </p:nvSpPr>
          <p:spPr bwMode="auto">
            <a:xfrm>
              <a:off x="8184232" y="2124967"/>
              <a:ext cx="981455" cy="334963"/>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dirty="0">
                  <a:latin typeface="Times New Roman" pitchFamily="18" charset="0"/>
                  <a:ea typeface="楷体_GB2312" pitchFamily="49" charset="-122"/>
                </a:rPr>
                <a:t>班号</a:t>
              </a:r>
            </a:p>
          </p:txBody>
        </p:sp>
        <p:sp>
          <p:nvSpPr>
            <p:cNvPr id="179" name="AutoShape 29"/>
            <p:cNvSpPr>
              <a:spLocks noChangeArrowheads="1"/>
            </p:cNvSpPr>
            <p:nvPr/>
          </p:nvSpPr>
          <p:spPr bwMode="auto">
            <a:xfrm>
              <a:off x="9371876" y="2124967"/>
              <a:ext cx="981455" cy="334963"/>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班名</a:t>
              </a:r>
            </a:p>
          </p:txBody>
        </p:sp>
        <p:cxnSp>
          <p:nvCxnSpPr>
            <p:cNvPr id="195" name="AutoShape 45"/>
            <p:cNvCxnSpPr>
              <a:cxnSpLocks noChangeShapeType="1"/>
              <a:stCxn id="177" idx="0"/>
              <a:endCxn id="178" idx="2"/>
            </p:cNvCxnSpPr>
            <p:nvPr/>
          </p:nvCxnSpPr>
          <p:spPr bwMode="auto">
            <a:xfrm flipH="1" flipV="1">
              <a:off x="8674961" y="2459930"/>
              <a:ext cx="622688" cy="22225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96" name="AutoShape 46"/>
            <p:cNvCxnSpPr>
              <a:cxnSpLocks noChangeShapeType="1"/>
              <a:stCxn id="177" idx="0"/>
              <a:endCxn id="179" idx="2"/>
            </p:cNvCxnSpPr>
            <p:nvPr/>
          </p:nvCxnSpPr>
          <p:spPr bwMode="auto">
            <a:xfrm flipV="1">
              <a:off x="9297649" y="2459930"/>
              <a:ext cx="564955" cy="22225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grpSp>
      <p:grpSp>
        <p:nvGrpSpPr>
          <p:cNvPr id="17" name="组合 16">
            <a:extLst>
              <a:ext uri="{FF2B5EF4-FFF2-40B4-BE49-F238E27FC236}">
                <a16:creationId xmlns:a16="http://schemas.microsoft.com/office/drawing/2014/main" id="{C1BA9D9D-61DF-466E-A534-095EB011F36F}"/>
              </a:ext>
            </a:extLst>
          </p:cNvPr>
          <p:cNvGrpSpPr/>
          <p:nvPr/>
        </p:nvGrpSpPr>
        <p:grpSpPr>
          <a:xfrm>
            <a:off x="6038047" y="3469580"/>
            <a:ext cx="981455" cy="793750"/>
            <a:chOff x="6038047" y="3469580"/>
            <a:chExt cx="981455" cy="793750"/>
          </a:xfrm>
        </p:grpSpPr>
        <p:sp>
          <p:nvSpPr>
            <p:cNvPr id="198" name="AutoShape 48"/>
            <p:cNvSpPr>
              <a:spLocks noChangeArrowheads="1"/>
            </p:cNvSpPr>
            <p:nvPr/>
          </p:nvSpPr>
          <p:spPr bwMode="auto">
            <a:xfrm>
              <a:off x="6038047" y="3469580"/>
              <a:ext cx="981455" cy="279400"/>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dirty="0">
                  <a:latin typeface="Times New Roman" pitchFamily="18" charset="0"/>
                  <a:ea typeface="楷体_GB2312" pitchFamily="49" charset="-122"/>
                </a:rPr>
                <a:t>成绩</a:t>
              </a:r>
            </a:p>
          </p:txBody>
        </p:sp>
        <p:cxnSp>
          <p:nvCxnSpPr>
            <p:cNvPr id="199" name="AutoShape 49"/>
            <p:cNvCxnSpPr>
              <a:cxnSpLocks noChangeShapeType="1"/>
              <a:stCxn id="198" idx="2"/>
              <a:endCxn id="197" idx="0"/>
            </p:cNvCxnSpPr>
            <p:nvPr/>
          </p:nvCxnSpPr>
          <p:spPr bwMode="auto">
            <a:xfrm>
              <a:off x="6528775" y="3748980"/>
              <a:ext cx="0" cy="51435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grpSp>
      <p:grpSp>
        <p:nvGrpSpPr>
          <p:cNvPr id="29" name="组合 28">
            <a:extLst>
              <a:ext uri="{FF2B5EF4-FFF2-40B4-BE49-F238E27FC236}">
                <a16:creationId xmlns:a16="http://schemas.microsoft.com/office/drawing/2014/main" id="{D2FB699A-778A-4FD4-A5F5-62E65D207904}"/>
              </a:ext>
            </a:extLst>
          </p:cNvPr>
          <p:cNvGrpSpPr/>
          <p:nvPr/>
        </p:nvGrpSpPr>
        <p:grpSpPr>
          <a:xfrm>
            <a:off x="8802796" y="3847405"/>
            <a:ext cx="2911376" cy="1319212"/>
            <a:chOff x="8802796" y="3847405"/>
            <a:chExt cx="2911376" cy="1319212"/>
          </a:xfrm>
        </p:grpSpPr>
        <p:sp>
          <p:nvSpPr>
            <p:cNvPr id="172" name="Rectangle 22"/>
            <p:cNvSpPr>
              <a:spLocks noChangeArrowheads="1"/>
            </p:cNvSpPr>
            <p:nvPr/>
          </p:nvSpPr>
          <p:spPr bwMode="auto">
            <a:xfrm>
              <a:off x="8802796" y="4331592"/>
              <a:ext cx="989702" cy="320675"/>
            </a:xfrm>
            <a:prstGeom prst="rect">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2400" baseline="0" dirty="0">
                  <a:latin typeface="Times New Roman" pitchFamily="18" charset="0"/>
                  <a:ea typeface="楷体_GB2312" pitchFamily="49" charset="-122"/>
                </a:rPr>
                <a:t>学生</a:t>
              </a:r>
            </a:p>
          </p:txBody>
        </p:sp>
        <p:sp>
          <p:nvSpPr>
            <p:cNvPr id="173" name="AutoShape 23"/>
            <p:cNvSpPr>
              <a:spLocks noChangeArrowheads="1"/>
            </p:cNvSpPr>
            <p:nvPr/>
          </p:nvSpPr>
          <p:spPr bwMode="auto">
            <a:xfrm>
              <a:off x="10732717" y="3847405"/>
              <a:ext cx="981455" cy="246062"/>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dirty="0">
                  <a:latin typeface="Times New Roman" pitchFamily="18" charset="0"/>
                  <a:ea typeface="楷体_GB2312" pitchFamily="49" charset="-122"/>
                </a:rPr>
                <a:t>学号</a:t>
              </a:r>
            </a:p>
          </p:txBody>
        </p:sp>
        <p:sp>
          <p:nvSpPr>
            <p:cNvPr id="174" name="AutoShape 24"/>
            <p:cNvSpPr>
              <a:spLocks noChangeArrowheads="1"/>
            </p:cNvSpPr>
            <p:nvPr/>
          </p:nvSpPr>
          <p:spPr bwMode="auto">
            <a:xfrm>
              <a:off x="10732717" y="4166492"/>
              <a:ext cx="981455" cy="252413"/>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姓名</a:t>
              </a:r>
            </a:p>
          </p:txBody>
        </p:sp>
        <p:sp>
          <p:nvSpPr>
            <p:cNvPr id="175" name="AutoShape 25"/>
            <p:cNvSpPr>
              <a:spLocks noChangeArrowheads="1"/>
            </p:cNvSpPr>
            <p:nvPr/>
          </p:nvSpPr>
          <p:spPr bwMode="auto">
            <a:xfrm>
              <a:off x="10732717" y="4914205"/>
              <a:ext cx="981455" cy="252412"/>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性别</a:t>
              </a:r>
            </a:p>
          </p:txBody>
        </p:sp>
        <p:sp>
          <p:nvSpPr>
            <p:cNvPr id="176" name="AutoShape 26"/>
            <p:cNvSpPr>
              <a:spLocks noChangeArrowheads="1"/>
            </p:cNvSpPr>
            <p:nvPr/>
          </p:nvSpPr>
          <p:spPr bwMode="auto">
            <a:xfrm>
              <a:off x="10732717" y="4512567"/>
              <a:ext cx="981455" cy="252413"/>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年龄</a:t>
              </a:r>
            </a:p>
          </p:txBody>
        </p:sp>
        <p:cxnSp>
          <p:nvCxnSpPr>
            <p:cNvPr id="191" name="AutoShape 41"/>
            <p:cNvCxnSpPr>
              <a:cxnSpLocks noChangeShapeType="1"/>
              <a:stCxn id="172" idx="3"/>
              <a:endCxn id="173" idx="1"/>
            </p:cNvCxnSpPr>
            <p:nvPr/>
          </p:nvCxnSpPr>
          <p:spPr bwMode="auto">
            <a:xfrm flipV="1">
              <a:off x="9792500" y="3971230"/>
              <a:ext cx="940217" cy="52070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92" name="AutoShape 42"/>
            <p:cNvCxnSpPr>
              <a:cxnSpLocks noChangeShapeType="1"/>
              <a:stCxn id="172" idx="3"/>
              <a:endCxn id="174" idx="1"/>
            </p:cNvCxnSpPr>
            <p:nvPr/>
          </p:nvCxnSpPr>
          <p:spPr bwMode="auto">
            <a:xfrm flipV="1">
              <a:off x="9792500" y="4293492"/>
              <a:ext cx="940217" cy="198438"/>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93" name="AutoShape 43"/>
            <p:cNvCxnSpPr>
              <a:cxnSpLocks noChangeShapeType="1"/>
              <a:stCxn id="172" idx="3"/>
              <a:endCxn id="176" idx="1"/>
            </p:cNvCxnSpPr>
            <p:nvPr/>
          </p:nvCxnSpPr>
          <p:spPr bwMode="auto">
            <a:xfrm>
              <a:off x="9792500" y="4491930"/>
              <a:ext cx="940217" cy="147637"/>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94" name="AutoShape 44"/>
            <p:cNvCxnSpPr>
              <a:cxnSpLocks noChangeShapeType="1"/>
              <a:stCxn id="172" idx="3"/>
              <a:endCxn id="175" idx="1"/>
            </p:cNvCxnSpPr>
            <p:nvPr/>
          </p:nvCxnSpPr>
          <p:spPr bwMode="auto">
            <a:xfrm>
              <a:off x="9792500" y="4491930"/>
              <a:ext cx="940217" cy="54927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grpSp>
      <p:grpSp>
        <p:nvGrpSpPr>
          <p:cNvPr id="16" name="组合 15">
            <a:extLst>
              <a:ext uri="{FF2B5EF4-FFF2-40B4-BE49-F238E27FC236}">
                <a16:creationId xmlns:a16="http://schemas.microsoft.com/office/drawing/2014/main" id="{EF0BF080-C9EE-4692-82E4-5D57C38CE4C0}"/>
              </a:ext>
            </a:extLst>
          </p:cNvPr>
          <p:cNvGrpSpPr/>
          <p:nvPr/>
        </p:nvGrpSpPr>
        <p:grpSpPr>
          <a:xfrm>
            <a:off x="4017405" y="4209355"/>
            <a:ext cx="4785390" cy="511175"/>
            <a:chOff x="4017405" y="4209355"/>
            <a:chExt cx="4785390" cy="511175"/>
          </a:xfrm>
        </p:grpSpPr>
        <p:sp>
          <p:nvSpPr>
            <p:cNvPr id="197" name="AutoShape 47"/>
            <p:cNvSpPr>
              <a:spLocks noChangeArrowheads="1"/>
            </p:cNvSpPr>
            <p:nvPr/>
          </p:nvSpPr>
          <p:spPr bwMode="auto">
            <a:xfrm>
              <a:off x="5737013" y="4263330"/>
              <a:ext cx="1583524" cy="457200"/>
            </a:xfrm>
            <a:prstGeom prst="diamond">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选修</a:t>
              </a:r>
            </a:p>
          </p:txBody>
        </p:sp>
        <p:cxnSp>
          <p:nvCxnSpPr>
            <p:cNvPr id="200" name="AutoShape 50"/>
            <p:cNvCxnSpPr>
              <a:cxnSpLocks noChangeShapeType="1"/>
              <a:stCxn id="158" idx="3"/>
              <a:endCxn id="197" idx="1"/>
            </p:cNvCxnSpPr>
            <p:nvPr/>
          </p:nvCxnSpPr>
          <p:spPr bwMode="auto">
            <a:xfrm>
              <a:off x="4017405" y="4491930"/>
              <a:ext cx="1719608"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201" name="AutoShape 51"/>
            <p:cNvCxnSpPr>
              <a:cxnSpLocks noChangeShapeType="1"/>
              <a:stCxn id="197" idx="3"/>
              <a:endCxn id="172" idx="1"/>
            </p:cNvCxnSpPr>
            <p:nvPr/>
          </p:nvCxnSpPr>
          <p:spPr bwMode="auto">
            <a:xfrm>
              <a:off x="7320536" y="4491930"/>
              <a:ext cx="1482259"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209" name="Rectangle 61"/>
            <p:cNvSpPr>
              <a:spLocks noChangeArrowheads="1"/>
            </p:cNvSpPr>
            <p:nvPr/>
          </p:nvSpPr>
          <p:spPr bwMode="auto">
            <a:xfrm>
              <a:off x="4751434" y="4209355"/>
              <a:ext cx="98970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2400" baseline="0">
                  <a:latin typeface="Times New Roman" pitchFamily="18" charset="0"/>
                  <a:ea typeface="楷体_GB2312" pitchFamily="49" charset="-122"/>
                </a:rPr>
                <a:t>m</a:t>
              </a:r>
            </a:p>
          </p:txBody>
        </p:sp>
        <p:sp>
          <p:nvSpPr>
            <p:cNvPr id="210" name="Rectangle 62"/>
            <p:cNvSpPr>
              <a:spLocks noChangeArrowheads="1"/>
            </p:cNvSpPr>
            <p:nvPr/>
          </p:nvSpPr>
          <p:spPr bwMode="auto">
            <a:xfrm>
              <a:off x="7549404" y="4229992"/>
              <a:ext cx="98970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2400" baseline="0">
                  <a:latin typeface="Times New Roman" pitchFamily="18" charset="0"/>
                  <a:ea typeface="楷体_GB2312" pitchFamily="49" charset="-122"/>
                </a:rPr>
                <a:t>n</a:t>
              </a:r>
            </a:p>
          </p:txBody>
        </p:sp>
      </p:grpSp>
      <p:grpSp>
        <p:nvGrpSpPr>
          <p:cNvPr id="21" name="组合 20">
            <a:extLst>
              <a:ext uri="{FF2B5EF4-FFF2-40B4-BE49-F238E27FC236}">
                <a16:creationId xmlns:a16="http://schemas.microsoft.com/office/drawing/2014/main" id="{BD421FD8-9335-45A6-A012-88E64D15A57F}"/>
              </a:ext>
            </a:extLst>
          </p:cNvPr>
          <p:cNvGrpSpPr/>
          <p:nvPr/>
        </p:nvGrpSpPr>
        <p:grpSpPr>
          <a:xfrm>
            <a:off x="8505887" y="3026667"/>
            <a:ext cx="1583524" cy="1304925"/>
            <a:chOff x="8505887" y="3026667"/>
            <a:chExt cx="1583524" cy="1304925"/>
          </a:xfrm>
        </p:grpSpPr>
        <p:cxnSp>
          <p:nvCxnSpPr>
            <p:cNvPr id="204" name="AutoShape 54"/>
            <p:cNvCxnSpPr>
              <a:cxnSpLocks noChangeShapeType="1"/>
              <a:stCxn id="202" idx="2"/>
              <a:endCxn id="172" idx="0"/>
            </p:cNvCxnSpPr>
            <p:nvPr/>
          </p:nvCxnSpPr>
          <p:spPr bwMode="auto">
            <a:xfrm>
              <a:off x="9297649" y="3961705"/>
              <a:ext cx="0" cy="369887"/>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grpSp>
          <p:nvGrpSpPr>
            <p:cNvPr id="15" name="组合 14">
              <a:extLst>
                <a:ext uri="{FF2B5EF4-FFF2-40B4-BE49-F238E27FC236}">
                  <a16:creationId xmlns:a16="http://schemas.microsoft.com/office/drawing/2014/main" id="{7C30BEEB-C7F8-46F5-880B-5837856565B1}"/>
                </a:ext>
              </a:extLst>
            </p:cNvPr>
            <p:cNvGrpSpPr/>
            <p:nvPr/>
          </p:nvGrpSpPr>
          <p:grpSpPr>
            <a:xfrm>
              <a:off x="8505887" y="3026667"/>
              <a:ext cx="1583524" cy="1206500"/>
              <a:chOff x="8505887" y="3026667"/>
              <a:chExt cx="1583524" cy="1206500"/>
            </a:xfrm>
          </p:grpSpPr>
          <p:sp>
            <p:nvSpPr>
              <p:cNvPr id="202" name="AutoShape 52"/>
              <p:cNvSpPr>
                <a:spLocks noChangeArrowheads="1"/>
              </p:cNvSpPr>
              <p:nvPr/>
            </p:nvSpPr>
            <p:spPr bwMode="auto">
              <a:xfrm>
                <a:off x="8505887" y="3504505"/>
                <a:ext cx="1583524" cy="457200"/>
              </a:xfrm>
              <a:prstGeom prst="diamond">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2400" baseline="0" dirty="0">
                    <a:latin typeface="Times New Roman" pitchFamily="18" charset="0"/>
                    <a:ea typeface="楷体_GB2312" pitchFamily="49" charset="-122"/>
                  </a:rPr>
                  <a:t>组成</a:t>
                </a:r>
              </a:p>
            </p:txBody>
          </p:sp>
          <p:cxnSp>
            <p:nvCxnSpPr>
              <p:cNvPr id="203" name="AutoShape 53"/>
              <p:cNvCxnSpPr>
                <a:cxnSpLocks noChangeShapeType="1"/>
                <a:stCxn id="177" idx="2"/>
                <a:endCxn id="202" idx="0"/>
              </p:cNvCxnSpPr>
              <p:nvPr/>
            </p:nvCxnSpPr>
            <p:spPr bwMode="auto">
              <a:xfrm>
                <a:off x="9297649" y="3026667"/>
                <a:ext cx="0" cy="477838"/>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211" name="Rectangle 64"/>
              <p:cNvSpPr>
                <a:spLocks noChangeArrowheads="1"/>
              </p:cNvSpPr>
              <p:nvPr/>
            </p:nvSpPr>
            <p:spPr bwMode="auto">
              <a:xfrm>
                <a:off x="9002799" y="4004567"/>
                <a:ext cx="98970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2400" baseline="0">
                    <a:latin typeface="Times New Roman" pitchFamily="18" charset="0"/>
                    <a:ea typeface="楷体_GB2312" pitchFamily="49" charset="-122"/>
                  </a:rPr>
                  <a:t>n</a:t>
                </a:r>
              </a:p>
            </p:txBody>
          </p:sp>
          <p:sp>
            <p:nvSpPr>
              <p:cNvPr id="212" name="Rectangle 65"/>
              <p:cNvSpPr>
                <a:spLocks noChangeArrowheads="1"/>
              </p:cNvSpPr>
              <p:nvPr/>
            </p:nvSpPr>
            <p:spPr bwMode="auto">
              <a:xfrm>
                <a:off x="9175998" y="3194942"/>
                <a:ext cx="593821"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2400" baseline="0">
                    <a:latin typeface="Times New Roman" pitchFamily="18" charset="0"/>
                    <a:ea typeface="楷体_GB2312" pitchFamily="49" charset="-122"/>
                  </a:rPr>
                  <a:t>1</a:t>
                </a:r>
              </a:p>
            </p:txBody>
          </p:sp>
        </p:grpSp>
      </p:grpSp>
      <p:grpSp>
        <p:nvGrpSpPr>
          <p:cNvPr id="18" name="组合 17">
            <a:extLst>
              <a:ext uri="{FF2B5EF4-FFF2-40B4-BE49-F238E27FC236}">
                <a16:creationId xmlns:a16="http://schemas.microsoft.com/office/drawing/2014/main" id="{3D80AA28-8DCC-4138-82E9-B440262E58EA}"/>
              </a:ext>
            </a:extLst>
          </p:cNvPr>
          <p:cNvGrpSpPr/>
          <p:nvPr/>
        </p:nvGrpSpPr>
        <p:grpSpPr>
          <a:xfrm>
            <a:off x="1833873" y="4652267"/>
            <a:ext cx="2529928" cy="884238"/>
            <a:chOff x="1833873" y="4652267"/>
            <a:chExt cx="2529928" cy="884238"/>
          </a:xfrm>
        </p:grpSpPr>
        <p:sp>
          <p:nvSpPr>
            <p:cNvPr id="205" name="AutoShape 57"/>
            <p:cNvSpPr>
              <a:spLocks noChangeArrowheads="1"/>
            </p:cNvSpPr>
            <p:nvPr/>
          </p:nvSpPr>
          <p:spPr bwMode="auto">
            <a:xfrm>
              <a:off x="2780277" y="5079305"/>
              <a:ext cx="1583524" cy="457200"/>
            </a:xfrm>
            <a:prstGeom prst="diamond">
              <a:avLst/>
            </a:prstGeom>
            <a:solidFill>
              <a:schemeClr val="bg1"/>
            </a:solidFill>
            <a:ln w="12700" cap="sq">
              <a:solidFill>
                <a:schemeClr val="tx1"/>
              </a:solidFill>
              <a:miter lim="800000"/>
              <a:headEnd/>
              <a:tailEnd/>
            </a:ln>
          </p:spPr>
          <p:txBody>
            <a:bodyPr wrap="none" lIns="0" tIns="0" rIns="0" bIns="0" anchor="ctr"/>
            <a:lstStyle/>
            <a:p>
              <a:pPr algn="ctr"/>
              <a:r>
                <a:rPr kumimoji="1" lang="zh-CN" altLang="en-US" sz="2400" baseline="0">
                  <a:latin typeface="Times New Roman" pitchFamily="18" charset="0"/>
                  <a:ea typeface="楷体_GB2312" pitchFamily="49" charset="-122"/>
                </a:rPr>
                <a:t>讲授</a:t>
              </a:r>
            </a:p>
          </p:txBody>
        </p:sp>
        <p:cxnSp>
          <p:nvCxnSpPr>
            <p:cNvPr id="206" name="AutoShape 58"/>
            <p:cNvCxnSpPr>
              <a:cxnSpLocks noChangeShapeType="1"/>
              <a:stCxn id="158" idx="2"/>
              <a:endCxn id="205" idx="0"/>
            </p:cNvCxnSpPr>
            <p:nvPr/>
          </p:nvCxnSpPr>
          <p:spPr bwMode="auto">
            <a:xfrm rot="5400000">
              <a:off x="3358520" y="4865786"/>
              <a:ext cx="427038"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207" name="AutoShape 59"/>
            <p:cNvCxnSpPr>
              <a:cxnSpLocks noChangeShapeType="1"/>
              <a:stCxn id="205" idx="1"/>
              <a:endCxn id="162" idx="3"/>
            </p:cNvCxnSpPr>
            <p:nvPr/>
          </p:nvCxnSpPr>
          <p:spPr bwMode="auto">
            <a:xfrm rot="10800000">
              <a:off x="2005010" y="5307905"/>
              <a:ext cx="775267"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213" name="Rectangle 68"/>
            <p:cNvSpPr>
              <a:spLocks noChangeArrowheads="1"/>
            </p:cNvSpPr>
            <p:nvPr/>
          </p:nvSpPr>
          <p:spPr bwMode="auto">
            <a:xfrm>
              <a:off x="3033887" y="4725292"/>
              <a:ext cx="593821"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2400" baseline="0">
                  <a:latin typeface="Times New Roman" pitchFamily="18" charset="0"/>
                  <a:ea typeface="楷体_GB2312" pitchFamily="49" charset="-122"/>
                </a:rPr>
                <a:t>m</a:t>
              </a:r>
            </a:p>
          </p:txBody>
        </p:sp>
        <p:sp>
          <p:nvSpPr>
            <p:cNvPr id="214" name="Rectangle 69"/>
            <p:cNvSpPr>
              <a:spLocks noChangeArrowheads="1"/>
            </p:cNvSpPr>
            <p:nvPr/>
          </p:nvSpPr>
          <p:spPr bwMode="auto">
            <a:xfrm>
              <a:off x="1833873" y="5028505"/>
              <a:ext cx="98970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2400" baseline="0">
                  <a:latin typeface="Times New Roman" pitchFamily="18" charset="0"/>
                  <a:ea typeface="楷体_GB2312" pitchFamily="49" charset="-122"/>
                </a:rPr>
                <a:t>n</a:t>
              </a:r>
            </a:p>
          </p:txBody>
        </p:sp>
      </p:grpSp>
      <p:grpSp>
        <p:nvGrpSpPr>
          <p:cNvPr id="19" name="组合 18">
            <a:extLst>
              <a:ext uri="{FF2B5EF4-FFF2-40B4-BE49-F238E27FC236}">
                <a16:creationId xmlns:a16="http://schemas.microsoft.com/office/drawing/2014/main" id="{74BE54F3-A1D0-4B05-B02D-F3BEC3147264}"/>
              </a:ext>
            </a:extLst>
          </p:cNvPr>
          <p:cNvGrpSpPr/>
          <p:nvPr/>
        </p:nvGrpSpPr>
        <p:grpSpPr>
          <a:xfrm>
            <a:off x="4363801" y="5020567"/>
            <a:ext cx="1144343" cy="287338"/>
            <a:chOff x="4363801" y="5020567"/>
            <a:chExt cx="1144343" cy="287338"/>
          </a:xfrm>
        </p:grpSpPr>
        <p:cxnSp>
          <p:nvCxnSpPr>
            <p:cNvPr id="208" name="AutoShape 60"/>
            <p:cNvCxnSpPr>
              <a:cxnSpLocks noChangeShapeType="1"/>
              <a:stCxn id="205" idx="3"/>
              <a:endCxn id="167" idx="1"/>
            </p:cNvCxnSpPr>
            <p:nvPr/>
          </p:nvCxnSpPr>
          <p:spPr bwMode="auto">
            <a:xfrm>
              <a:off x="4363801" y="5307905"/>
              <a:ext cx="1144343"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215" name="Rectangle 70"/>
            <p:cNvSpPr>
              <a:spLocks noChangeArrowheads="1"/>
            </p:cNvSpPr>
            <p:nvPr/>
          </p:nvSpPr>
          <p:spPr bwMode="auto">
            <a:xfrm>
              <a:off x="4386481" y="5020567"/>
              <a:ext cx="98970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r>
                <a:rPr kumimoji="1" lang="en-US" altLang="zh-CN" sz="2400" baseline="0" dirty="0">
                  <a:latin typeface="Times New Roman" pitchFamily="18" charset="0"/>
                  <a:ea typeface="楷体_GB2312" pitchFamily="49" charset="-122"/>
                </a:rPr>
                <a:t>p</a:t>
              </a:r>
            </a:p>
          </p:txBody>
        </p:sp>
      </p:grpSp>
      <p:grpSp>
        <p:nvGrpSpPr>
          <p:cNvPr id="216" name="Group 71"/>
          <p:cNvGrpSpPr>
            <a:grpSpLocks/>
          </p:cNvGrpSpPr>
          <p:nvPr/>
        </p:nvGrpSpPr>
        <p:grpSpPr bwMode="auto">
          <a:xfrm>
            <a:off x="10102167" y="639861"/>
            <a:ext cx="1800225" cy="936625"/>
            <a:chOff x="2154" y="1389"/>
            <a:chExt cx="1134" cy="590"/>
          </a:xfrm>
        </p:grpSpPr>
        <p:sp>
          <p:nvSpPr>
            <p:cNvPr id="217" name="Rectangle 72"/>
            <p:cNvSpPr>
              <a:spLocks noChangeArrowheads="1"/>
            </p:cNvSpPr>
            <p:nvPr/>
          </p:nvSpPr>
          <p:spPr bwMode="auto">
            <a:xfrm>
              <a:off x="2154" y="1389"/>
              <a:ext cx="1134" cy="590"/>
            </a:xfrm>
            <a:prstGeom prst="rect">
              <a:avLst/>
            </a:prstGeom>
            <a:solidFill>
              <a:schemeClr val="hlink"/>
            </a:solidFill>
            <a:ln w="12700" cap="sq">
              <a:solidFill>
                <a:schemeClr val="tx1"/>
              </a:solidFill>
              <a:miter lim="800000"/>
              <a:headEnd/>
              <a:tailEnd/>
            </a:ln>
            <a:effectLst>
              <a:outerShdw dist="107763" dir="2700000" algn="ctr" rotWithShape="0">
                <a:schemeClr val="bg2">
                  <a:alpha val="50000"/>
                </a:schemeClr>
              </a:outerShdw>
            </a:effectLst>
          </p:spPr>
          <p:txBody>
            <a:bodyPr wrap="none" lIns="0" tIns="0" rIns="0" bIns="0" anchor="ctr"/>
            <a:lstStyle/>
            <a:p>
              <a:pPr>
                <a:defRPr/>
              </a:pPr>
              <a:endParaRPr lang="zh-CN" altLang="en-US"/>
            </a:p>
          </p:txBody>
        </p:sp>
        <p:sp>
          <p:nvSpPr>
            <p:cNvPr id="218" name="Rectangle 73"/>
            <p:cNvSpPr>
              <a:spLocks noChangeArrowheads="1"/>
            </p:cNvSpPr>
            <p:nvPr/>
          </p:nvSpPr>
          <p:spPr bwMode="auto">
            <a:xfrm>
              <a:off x="2226" y="1433"/>
              <a:ext cx="453" cy="152"/>
            </a:xfrm>
            <a:prstGeom prst="rect">
              <a:avLst/>
            </a:prstGeom>
            <a:solidFill>
              <a:schemeClr val="bg1"/>
            </a:solidFill>
            <a:ln w="12700" cap="sq">
              <a:solidFill>
                <a:schemeClr val="tx1"/>
              </a:solidFill>
              <a:miter lim="800000"/>
              <a:headEnd/>
              <a:tailEnd/>
            </a:ln>
          </p:spPr>
          <p:txBody>
            <a:bodyPr wrap="none" lIns="0" tIns="0" rIns="0" bIns="0" anchor="ctr"/>
            <a:lstStyle/>
            <a:p>
              <a:endParaRPr lang="zh-CN" altLang="en-US"/>
            </a:p>
          </p:txBody>
        </p:sp>
        <p:sp>
          <p:nvSpPr>
            <p:cNvPr id="219" name="Rectangle 74"/>
            <p:cNvSpPr>
              <a:spLocks noChangeArrowheads="1"/>
            </p:cNvSpPr>
            <p:nvPr/>
          </p:nvSpPr>
          <p:spPr bwMode="auto">
            <a:xfrm>
              <a:off x="2850" y="1394"/>
              <a:ext cx="320" cy="192"/>
            </a:xfrm>
            <a:prstGeom prst="rect">
              <a:avLst/>
            </a:prstGeom>
            <a:solidFill>
              <a:schemeClr val="hlink"/>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a:r>
                <a:rPr kumimoji="1" lang="zh-CN" altLang="en-US" sz="2000" b="1" baseline="0" dirty="0">
                  <a:solidFill>
                    <a:schemeClr val="bg1"/>
                  </a:solidFill>
                  <a:effectLst/>
                  <a:latin typeface="Times New Roman" pitchFamily="18" charset="0"/>
                  <a:ea typeface="楷体_GB2312" pitchFamily="49" charset="-122"/>
                </a:rPr>
                <a:t>实体</a:t>
              </a:r>
            </a:p>
          </p:txBody>
        </p:sp>
        <p:sp>
          <p:nvSpPr>
            <p:cNvPr id="220" name="AutoShape 75"/>
            <p:cNvSpPr>
              <a:spLocks noChangeArrowheads="1"/>
            </p:cNvSpPr>
            <p:nvPr/>
          </p:nvSpPr>
          <p:spPr bwMode="auto">
            <a:xfrm>
              <a:off x="2245" y="1797"/>
              <a:ext cx="453" cy="151"/>
            </a:xfrm>
            <a:prstGeom prst="diamond">
              <a:avLst/>
            </a:prstGeom>
            <a:solidFill>
              <a:schemeClr val="bg1"/>
            </a:solidFill>
            <a:ln w="12700" cap="sq">
              <a:solidFill>
                <a:schemeClr val="tx1"/>
              </a:solidFill>
              <a:miter lim="800000"/>
              <a:headEnd/>
              <a:tailEnd/>
            </a:ln>
          </p:spPr>
          <p:txBody>
            <a:bodyPr wrap="none" lIns="0" tIns="0" rIns="0" bIns="0" anchor="ctr"/>
            <a:lstStyle/>
            <a:p>
              <a:endParaRPr lang="zh-CN" altLang="en-US"/>
            </a:p>
          </p:txBody>
        </p:sp>
        <p:sp>
          <p:nvSpPr>
            <p:cNvPr id="221" name="Rectangle 76"/>
            <p:cNvSpPr>
              <a:spLocks noChangeArrowheads="1"/>
            </p:cNvSpPr>
            <p:nvPr/>
          </p:nvSpPr>
          <p:spPr bwMode="auto">
            <a:xfrm>
              <a:off x="2862" y="1768"/>
              <a:ext cx="320" cy="192"/>
            </a:xfrm>
            <a:prstGeom prst="rect">
              <a:avLst/>
            </a:prstGeom>
            <a:solidFill>
              <a:schemeClr val="hlink"/>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a:r>
                <a:rPr kumimoji="1" lang="zh-CN" altLang="en-US" sz="2000" b="1" baseline="0" dirty="0">
                  <a:solidFill>
                    <a:schemeClr val="bg1"/>
                  </a:solidFill>
                  <a:effectLst/>
                  <a:latin typeface="Times New Roman" pitchFamily="18" charset="0"/>
                  <a:ea typeface="楷体_GB2312" pitchFamily="49" charset="-122"/>
                </a:rPr>
                <a:t>联系</a:t>
              </a:r>
            </a:p>
          </p:txBody>
        </p:sp>
        <p:sp>
          <p:nvSpPr>
            <p:cNvPr id="222" name="AutoShape 77"/>
            <p:cNvSpPr>
              <a:spLocks noChangeArrowheads="1"/>
            </p:cNvSpPr>
            <p:nvPr/>
          </p:nvSpPr>
          <p:spPr bwMode="auto">
            <a:xfrm>
              <a:off x="2226" y="1621"/>
              <a:ext cx="453" cy="152"/>
            </a:xfrm>
            <a:prstGeom prst="roundRect">
              <a:avLst>
                <a:gd name="adj" fmla="val 50000"/>
              </a:avLst>
            </a:prstGeom>
            <a:solidFill>
              <a:schemeClr val="bg1"/>
            </a:solidFill>
            <a:ln w="12700" cap="sq">
              <a:solidFill>
                <a:schemeClr val="tx1"/>
              </a:solidFill>
              <a:round/>
              <a:headEnd/>
              <a:tailEnd/>
            </a:ln>
          </p:spPr>
          <p:txBody>
            <a:bodyPr wrap="none" lIns="0" tIns="0" rIns="0" bIns="0" anchor="ctr"/>
            <a:lstStyle/>
            <a:p>
              <a:endParaRPr lang="zh-CN" altLang="en-US"/>
            </a:p>
          </p:txBody>
        </p:sp>
        <p:sp>
          <p:nvSpPr>
            <p:cNvPr id="223" name="Rectangle 78"/>
            <p:cNvSpPr>
              <a:spLocks noChangeArrowheads="1"/>
            </p:cNvSpPr>
            <p:nvPr/>
          </p:nvSpPr>
          <p:spPr bwMode="auto">
            <a:xfrm>
              <a:off x="2850" y="1581"/>
              <a:ext cx="320" cy="192"/>
            </a:xfrm>
            <a:prstGeom prst="rect">
              <a:avLst/>
            </a:prstGeom>
            <a:solidFill>
              <a:schemeClr val="hlink"/>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a:r>
                <a:rPr kumimoji="1" lang="zh-CN" altLang="en-US" sz="2000" b="1" baseline="0" dirty="0">
                  <a:solidFill>
                    <a:schemeClr val="bg1"/>
                  </a:solidFill>
                  <a:effectLst/>
                  <a:latin typeface="Times New Roman" pitchFamily="18" charset="0"/>
                  <a:ea typeface="楷体_GB2312" pitchFamily="49" charset="-122"/>
                </a:rPr>
                <a:t>属性</a:t>
              </a:r>
            </a:p>
          </p:txBody>
        </p:sp>
      </p:grpSp>
    </p:spTree>
    <p:extLst>
      <p:ext uri="{BB962C8B-B14F-4D97-AF65-F5344CB8AC3E}">
        <p14:creationId xmlns:p14="http://schemas.microsoft.com/office/powerpoint/2010/main" val="4267936991"/>
      </p:ext>
    </p:extLst>
  </p:cSld>
  <p:clrMapOvr>
    <a:masterClrMapping/>
  </p:clrMapOvr>
  <mc:AlternateContent xmlns:mc="http://schemas.openxmlformats.org/markup-compatibility/2006" xmlns:p14="http://schemas.microsoft.com/office/powerpoint/2010/main">
    <mc:Choice Requires="p14">
      <p:transition spd="slow" p14:dur="1500">
        <p:split orient="vert"/>
        <p:sndAc>
          <p:stSnd>
            <p:snd r:embed="rId2" name="arrow.wav"/>
          </p:stSnd>
        </p:sndAc>
      </p:transition>
    </mc:Choice>
    <mc:Fallback xmlns="">
      <p:transition spd="slow">
        <p:split orient="vert"/>
        <p:sndAc>
          <p:stSnd>
            <p:snd r:embed="rId4" name="arrow.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250"/>
                                        <p:tgtEl>
                                          <p:spTgt spid="29"/>
                                        </p:tgtEl>
                                      </p:cBhvr>
                                    </p:animEffect>
                                  </p:childTnLst>
                                </p:cTn>
                              </p:par>
                            </p:childTnLst>
                          </p:cTn>
                        </p:par>
                        <p:par>
                          <p:cTn id="12" fill="hold">
                            <p:stCondLst>
                              <p:cond delay="5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childTnLst>
                          </p:cTn>
                        </p:par>
                        <p:par>
                          <p:cTn id="16" fill="hold">
                            <p:stCondLst>
                              <p:cond delay="750"/>
                            </p:stCondLst>
                            <p:childTnLst>
                              <p:par>
                                <p:cTn id="17" presetID="10" presetClass="entr" presetSubtype="0"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250"/>
                                        <p:tgtEl>
                                          <p:spTgt spid="11"/>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25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wipe(up)">
                                      <p:cBhvr>
                                        <p:cTn id="28" dur="500"/>
                                        <p:tgtEl>
                                          <p:spTgt spid="2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2"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right)">
                                      <p:cBhvr>
                                        <p:cTn id="33" dur="500"/>
                                        <p:tgtEl>
                                          <p:spTgt spid="16"/>
                                        </p:tgtEl>
                                      </p:cBhvr>
                                    </p:animEffect>
                                  </p:childTnLst>
                                </p:cTn>
                              </p:par>
                            </p:childTnLst>
                          </p:cTn>
                        </p:par>
                        <p:par>
                          <p:cTn id="34" fill="hold">
                            <p:stCondLst>
                              <p:cond delay="500"/>
                            </p:stCondLst>
                            <p:childTnLst>
                              <p:par>
                                <p:cTn id="35" presetID="22" presetClass="entr" presetSubtype="4" fill="hold" nodeType="after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down)">
                                      <p:cBhvr>
                                        <p:cTn id="37" dur="25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down)">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left)">
                                      <p:cBhvr>
                                        <p:cTn id="4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67408" y="0"/>
            <a:ext cx="4098411"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tabLst>
                <a:tab pos="265113" algn="l"/>
              </a:tabLst>
            </a:pPr>
            <a:r>
              <a:rPr lang="en-US" altLang="zh-CN" b="1" u="sng" kern="1200" dirty="0">
                <a:solidFill>
                  <a:schemeClr val="folHlink"/>
                </a:solidFill>
                <a:effectLst>
                  <a:outerShdw blurRad="38100" dist="38100" dir="2700000" algn="tl">
                    <a:srgbClr val="000000"/>
                  </a:outerShdw>
                </a:effectLst>
                <a:cs typeface="+mn-cs"/>
              </a:rPr>
              <a:t>E-R</a:t>
            </a:r>
            <a:r>
              <a:rPr lang="zh-CN" altLang="en-US" b="1" u="sng" kern="1200" dirty="0">
                <a:solidFill>
                  <a:schemeClr val="folHlink"/>
                </a:solidFill>
                <a:effectLst>
                  <a:outerShdw blurRad="38100" dist="38100" dir="2700000" algn="tl">
                    <a:srgbClr val="000000"/>
                  </a:outerShdw>
                </a:effectLst>
                <a:cs typeface="+mn-cs"/>
              </a:rPr>
              <a:t>模型绘制工具</a:t>
            </a:r>
            <a:endParaRPr lang="zh-CN" altLang="en-US" sz="4000" b="1" u="sng" kern="1200" dirty="0">
              <a:solidFill>
                <a:schemeClr val="folHlink"/>
              </a:solidFill>
              <a:effectLst>
                <a:outerShdw blurRad="38100" dist="38100" dir="2700000" algn="tl">
                  <a:srgbClr val="000000"/>
                </a:outerShdw>
              </a:effectLst>
              <a:cs typeface="+mn-cs"/>
            </a:endParaRPr>
          </a:p>
        </p:txBody>
      </p:sp>
      <p:pic>
        <p:nvPicPr>
          <p:cNvPr id="2" name="图片 1"/>
          <p:cNvPicPr>
            <a:picLocks noChangeAspect="1"/>
          </p:cNvPicPr>
          <p:nvPr/>
        </p:nvPicPr>
        <p:blipFill>
          <a:blip r:embed="rId3"/>
          <a:stretch>
            <a:fillRect/>
          </a:stretch>
        </p:blipFill>
        <p:spPr>
          <a:xfrm>
            <a:off x="8040216" y="1038560"/>
            <a:ext cx="3626883" cy="1571429"/>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grpSp>
        <p:nvGrpSpPr>
          <p:cNvPr id="7" name="组合 6"/>
          <p:cNvGrpSpPr/>
          <p:nvPr/>
        </p:nvGrpSpPr>
        <p:grpSpPr>
          <a:xfrm>
            <a:off x="8054652" y="3475715"/>
            <a:ext cx="3703256" cy="768932"/>
            <a:chOff x="7145272" y="3590370"/>
            <a:chExt cx="3466237" cy="576263"/>
          </a:xfrm>
          <a:effectLst>
            <a:glow rad="139700">
              <a:schemeClr val="accent5">
                <a:satMod val="175000"/>
                <a:alpha val="40000"/>
              </a:schemeClr>
            </a:glow>
          </a:effectLst>
        </p:grpSpPr>
        <p:sp>
          <p:nvSpPr>
            <p:cNvPr id="71" name="Rectangle 2"/>
            <p:cNvSpPr>
              <a:spLocks noChangeArrowheads="1"/>
            </p:cNvSpPr>
            <p:nvPr/>
          </p:nvSpPr>
          <p:spPr bwMode="auto">
            <a:xfrm>
              <a:off x="7145272" y="3590370"/>
              <a:ext cx="3466237" cy="576263"/>
            </a:xfrm>
            <a:prstGeom prst="rect">
              <a:avLst/>
            </a:prstGeom>
            <a:gradFill rotWithShape="1">
              <a:gsLst>
                <a:gs pos="0">
                  <a:srgbClr val="FFFFFF"/>
                </a:gs>
                <a:gs pos="100000">
                  <a:srgbClr val="6600CC"/>
                </a:gs>
              </a:gsLst>
              <a:lin ang="2700000" scaled="1"/>
            </a:gradFill>
            <a:ln w="57150" cap="sq">
              <a:solidFill>
                <a:schemeClr val="tx1"/>
              </a:solidFill>
              <a:miter lim="800000"/>
              <a:headEnd/>
              <a:tailEnd/>
            </a:ln>
          </p:spPr>
          <p:txBody>
            <a:bodyPr wrap="none" lIns="72000" tIns="72000" rIns="72000" bIns="72000" anchor="ctr"/>
            <a:lstStyle/>
            <a:p>
              <a:pPr algn="ctr"/>
              <a:endParaRPr lang="en-US" altLang="zh-CN" sz="1100">
                <a:solidFill>
                  <a:srgbClr val="FFFFFF"/>
                </a:solidFill>
              </a:endParaRPr>
            </a:p>
          </p:txBody>
        </p:sp>
        <p:sp>
          <p:nvSpPr>
            <p:cNvPr id="77" name="Text Box 9"/>
            <p:cNvSpPr txBox="1">
              <a:spLocks noChangeArrowheads="1"/>
            </p:cNvSpPr>
            <p:nvPr/>
          </p:nvSpPr>
          <p:spPr bwMode="auto">
            <a:xfrm>
              <a:off x="7992806" y="3644304"/>
              <a:ext cx="2551304" cy="385762"/>
            </a:xfrm>
            <a:prstGeom prst="rect">
              <a:avLst/>
            </a:prstGeom>
            <a:noFill/>
            <a:ln w="12700" cap="sq">
              <a:noFill/>
              <a:miter lim="800000"/>
              <a:headEnd/>
              <a:tailEnd/>
            </a:ln>
            <a:effectLst/>
          </p:spPr>
          <p:txBody>
            <a:bodyPr wrap="square" lIns="72000" tIns="72000" rIns="72000" bIns="72000">
              <a:spAutoFit/>
            </a:bodyPr>
            <a:lstStyle/>
            <a:p>
              <a:pPr>
                <a:spcBef>
                  <a:spcPct val="50000"/>
                </a:spcBef>
                <a:defRPr/>
              </a:pPr>
              <a:r>
                <a:rPr lang="en-US" altLang="zh-CN" sz="2400" b="1" baseline="0" dirty="0">
                  <a:ln w="12700">
                    <a:solidFill>
                      <a:schemeClr val="accent5"/>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a typeface="宋体" pitchFamily="2" charset="-122"/>
                </a:rPr>
                <a:t>Microsoft Visio</a:t>
              </a:r>
            </a:p>
          </p:txBody>
        </p:sp>
        <p:pic>
          <p:nvPicPr>
            <p:cNvPr id="6" name="图片 5"/>
            <p:cNvPicPr>
              <a:picLocks noChangeAspect="1"/>
            </p:cNvPicPr>
            <p:nvPr/>
          </p:nvPicPr>
          <p:blipFill>
            <a:blip r:embed="rId4"/>
            <a:stretch>
              <a:fillRect/>
            </a:stretch>
          </p:blipFill>
          <p:spPr>
            <a:xfrm>
              <a:off x="7216757" y="3630355"/>
              <a:ext cx="606717" cy="504846"/>
            </a:xfrm>
            <a:prstGeom prst="rect">
              <a:avLst/>
            </a:prstGeom>
          </p:spPr>
        </p:pic>
      </p:grpSp>
      <p:pic>
        <p:nvPicPr>
          <p:cNvPr id="8" name="图片 7"/>
          <p:cNvPicPr>
            <a:picLocks noChangeAspect="1"/>
          </p:cNvPicPr>
          <p:nvPr/>
        </p:nvPicPr>
        <p:blipFill>
          <a:blip r:embed="rId5"/>
          <a:stretch>
            <a:fillRect/>
          </a:stretch>
        </p:blipFill>
        <p:spPr>
          <a:xfrm>
            <a:off x="481397" y="1268760"/>
            <a:ext cx="7106075" cy="4413906"/>
          </a:xfrm>
          <a:prstGeom prst="rect">
            <a:avLst/>
          </a:prstGeom>
          <a:solidFill>
            <a:schemeClr val="tx1"/>
          </a:solidFill>
          <a:ln w="57150" cap="sq">
            <a:solidFill>
              <a:srgbClr val="92D050"/>
            </a:solidFill>
            <a:round/>
            <a:headEnd/>
            <a:tailEnd/>
          </a:ln>
          <a:effectLst>
            <a:outerShdw blurRad="76200" dir="18900000" sy="23000" kx="-1200000" algn="bl" rotWithShape="0">
              <a:prstClr val="black">
                <a:alpha val="20000"/>
              </a:prstClr>
            </a:outerShdw>
          </a:effectLst>
        </p:spPr>
      </p:pic>
      <p:pic>
        <p:nvPicPr>
          <p:cNvPr id="74"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40216" y="5235129"/>
            <a:ext cx="3703256" cy="613273"/>
          </a:xfrm>
          <a:prstGeom prst="rect">
            <a:avLst/>
          </a:prstGeom>
          <a:solidFill>
            <a:srgbClr val="FFFFFF">
              <a:shade val="85000"/>
            </a:srgbClr>
          </a:solidFill>
          <a:ln w="88900" cap="sq">
            <a:solidFill>
              <a:srgbClr val="FFFFFF"/>
            </a:solidFill>
            <a:miter lim="800000"/>
          </a:ln>
          <a:effectLst>
            <a:glow rad="139700">
              <a:schemeClr val="accent6">
                <a:satMod val="175000"/>
                <a:alpha val="40000"/>
              </a:schemeClr>
            </a:glow>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064373942"/>
      </p:ext>
    </p:extLst>
  </p:cSld>
  <p:clrMapOvr>
    <a:masterClrMapping/>
  </p:clrMapOvr>
  <mc:AlternateContent xmlns:mc="http://schemas.openxmlformats.org/markup-compatibility/2006" xmlns:p14="http://schemas.microsoft.com/office/powerpoint/2010/main">
    <mc:Choice Requires="p14">
      <p:transition spd="slow" p14:dur="1500">
        <p:split orient="vert"/>
        <p:sndAc>
          <p:stSnd>
            <p:snd r:embed="rId2" name="arrow.wav"/>
          </p:stSnd>
        </p:sndAc>
      </p:transition>
    </mc:Choice>
    <mc:Fallback xmlns="">
      <p:transition spd="slow">
        <p:split orient="vert"/>
        <p:sndAc>
          <p:stSnd>
            <p:snd r:embed="rId7" name="arrow.wav"/>
          </p:stSnd>
        </p:sndAc>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1938" name="Text Box 2"/>
          <p:cNvSpPr txBox="1">
            <a:spLocks noChangeArrowheads="1"/>
          </p:cNvSpPr>
          <p:nvPr/>
        </p:nvSpPr>
        <p:spPr bwMode="auto">
          <a:xfrm>
            <a:off x="752900" y="30060"/>
            <a:ext cx="3223172"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defPPr>
              <a:defRPr lang="en-US"/>
            </a:defPPr>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a:t>概念结构设计</a:t>
            </a:r>
          </a:p>
        </p:txBody>
      </p:sp>
      <p:pic>
        <p:nvPicPr>
          <p:cNvPr id="18" name="图片 17">
            <a:extLst>
              <a:ext uri="{FF2B5EF4-FFF2-40B4-BE49-F238E27FC236}">
                <a16:creationId xmlns:a16="http://schemas.microsoft.com/office/drawing/2014/main" id="{86AC4C20-75BD-4F6B-8499-16D601618FE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39416" y="3783803"/>
            <a:ext cx="4438807" cy="240815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51" name="箭头: 虚尾 50">
            <a:extLst>
              <a:ext uri="{FF2B5EF4-FFF2-40B4-BE49-F238E27FC236}">
                <a16:creationId xmlns:a16="http://schemas.microsoft.com/office/drawing/2014/main" id="{19778275-F748-4B26-A37A-03B55BD517D3}"/>
              </a:ext>
            </a:extLst>
          </p:cNvPr>
          <p:cNvSpPr/>
          <p:nvPr/>
        </p:nvSpPr>
        <p:spPr>
          <a:xfrm>
            <a:off x="5671796" y="4244860"/>
            <a:ext cx="582861" cy="399625"/>
          </a:xfrm>
          <a:prstGeom prst="stripedRightArrow">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a:p>
        </p:txBody>
      </p:sp>
      <p:sp>
        <p:nvSpPr>
          <p:cNvPr id="52" name="对话气泡: 椭圆形 51">
            <a:extLst>
              <a:ext uri="{FF2B5EF4-FFF2-40B4-BE49-F238E27FC236}">
                <a16:creationId xmlns:a16="http://schemas.microsoft.com/office/drawing/2014/main" id="{49B32E61-D938-4CEE-AAA7-EDE84FD48E9B}"/>
              </a:ext>
            </a:extLst>
          </p:cNvPr>
          <p:cNvSpPr/>
          <p:nvPr/>
        </p:nvSpPr>
        <p:spPr>
          <a:xfrm>
            <a:off x="647883" y="2310088"/>
            <a:ext cx="2329584" cy="789221"/>
          </a:xfrm>
          <a:prstGeom prst="wedgeEllipseCallout">
            <a:avLst>
              <a:gd name="adj1" fmla="val -5135"/>
              <a:gd name="adj2" fmla="val 69847"/>
            </a:avLst>
          </a:prstGeom>
          <a:ln>
            <a:solidFill>
              <a:srgbClr val="FF0000"/>
            </a:solidFill>
            <a:headEnd type="none" w="med" len="med"/>
            <a:tailEnd type="none" w="med" len="med"/>
          </a:ln>
          <a:effectLst>
            <a:outerShdw blurRad="63500" sx="102000" sy="102000" algn="ctr"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800" kern="0" dirty="0">
                <a:solidFill>
                  <a:srgbClr val="FF0000"/>
                </a:solidFill>
                <a:latin typeface="微软雅黑" panose="020B0503020204020204" pitchFamily="34" charset="-122"/>
                <a:ea typeface="微软雅黑" panose="020B0503020204020204" pitchFamily="34" charset="-122"/>
              </a:rPr>
              <a:t>现实世界</a:t>
            </a:r>
            <a:endParaRPr lang="zh-CN" altLang="en-US" sz="2800" b="1" dirty="0">
              <a:solidFill>
                <a:srgbClr val="FF0000"/>
              </a:solidFill>
            </a:endParaRPr>
          </a:p>
        </p:txBody>
      </p:sp>
      <p:sp>
        <p:nvSpPr>
          <p:cNvPr id="53" name="对话气泡: 椭圆形 52">
            <a:extLst>
              <a:ext uri="{FF2B5EF4-FFF2-40B4-BE49-F238E27FC236}">
                <a16:creationId xmlns:a16="http://schemas.microsoft.com/office/drawing/2014/main" id="{0B348323-9D1B-4805-9844-3D4C4C96260D}"/>
              </a:ext>
            </a:extLst>
          </p:cNvPr>
          <p:cNvSpPr/>
          <p:nvPr/>
        </p:nvSpPr>
        <p:spPr>
          <a:xfrm>
            <a:off x="3586762" y="2402051"/>
            <a:ext cx="2329584" cy="789221"/>
          </a:xfrm>
          <a:prstGeom prst="wedgeEllipseCallout">
            <a:avLst>
              <a:gd name="adj1" fmla="val 48590"/>
              <a:gd name="adj2" fmla="val 57219"/>
            </a:avLst>
          </a:prstGeom>
          <a:ln>
            <a:solidFill>
              <a:srgbClr val="FF0000"/>
            </a:solidFill>
            <a:headEnd type="none" w="med" len="med"/>
            <a:tailEnd type="none" w="med" len="med"/>
          </a:ln>
          <a:effectLst>
            <a:outerShdw blurRad="63500" sx="102000" sy="102000" algn="ctr"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800" kern="0" dirty="0">
                <a:solidFill>
                  <a:srgbClr val="FF0000"/>
                </a:solidFill>
                <a:latin typeface="微软雅黑" panose="020B0503020204020204" pitchFamily="34" charset="-122"/>
                <a:ea typeface="微软雅黑" panose="020B0503020204020204" pitchFamily="34" charset="-122"/>
              </a:rPr>
              <a:t>信息世界</a:t>
            </a:r>
            <a:endParaRPr lang="zh-CN" altLang="en-US" sz="2800" b="1" dirty="0">
              <a:solidFill>
                <a:srgbClr val="FF0000"/>
              </a:solidFill>
            </a:endParaRPr>
          </a:p>
        </p:txBody>
      </p:sp>
      <p:grpSp>
        <p:nvGrpSpPr>
          <p:cNvPr id="6" name="组合 5">
            <a:extLst>
              <a:ext uri="{FF2B5EF4-FFF2-40B4-BE49-F238E27FC236}">
                <a16:creationId xmlns:a16="http://schemas.microsoft.com/office/drawing/2014/main" id="{38E999B7-6BD8-4218-A1BB-09C935E9FC94}"/>
              </a:ext>
            </a:extLst>
          </p:cNvPr>
          <p:cNvGrpSpPr/>
          <p:nvPr/>
        </p:nvGrpSpPr>
        <p:grpSpPr>
          <a:xfrm>
            <a:off x="6452010" y="2348880"/>
            <a:ext cx="5000384" cy="4085547"/>
            <a:chOff x="6673830" y="1684578"/>
            <a:chExt cx="4226272" cy="4048678"/>
          </a:xfrm>
        </p:grpSpPr>
        <p:pic>
          <p:nvPicPr>
            <p:cNvPr id="19" name="图形 18" descr="头上的大脑">
              <a:extLst>
                <a:ext uri="{FF2B5EF4-FFF2-40B4-BE49-F238E27FC236}">
                  <a16:creationId xmlns:a16="http://schemas.microsoft.com/office/drawing/2014/main" id="{A4E75384-10D6-43B0-B367-8837C54382C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6673830" y="2800503"/>
              <a:ext cx="1947993" cy="1691533"/>
            </a:xfrm>
            <a:prstGeom prst="rect">
              <a:avLst/>
            </a:prstGeom>
          </p:spPr>
        </p:pic>
        <p:sp>
          <p:nvSpPr>
            <p:cNvPr id="20" name="Rectangle 12">
              <a:extLst>
                <a:ext uri="{FF2B5EF4-FFF2-40B4-BE49-F238E27FC236}">
                  <a16:creationId xmlns:a16="http://schemas.microsoft.com/office/drawing/2014/main" id="{8ABAB0F0-1804-4CC9-9D6E-527AC44B672F}"/>
                </a:ext>
              </a:extLst>
            </p:cNvPr>
            <p:cNvSpPr>
              <a:spLocks noChangeArrowheads="1"/>
            </p:cNvSpPr>
            <p:nvPr/>
          </p:nvSpPr>
          <p:spPr bwMode="auto">
            <a:xfrm>
              <a:off x="7356800" y="4562419"/>
              <a:ext cx="735614" cy="344825"/>
            </a:xfrm>
            <a:prstGeom prst="rect">
              <a:avLst/>
            </a:prstGeom>
            <a:solidFill>
              <a:srgbClr val="0070C0"/>
            </a:solidFill>
            <a:ln w="12700" cap="sq">
              <a:solidFill>
                <a:schemeClr val="tx1"/>
              </a:solidFill>
              <a:miter lim="800000"/>
              <a:headEnd/>
              <a:tailEnd/>
            </a:ln>
          </p:spPr>
          <p:txBody>
            <a:bodyPr wrap="none" lIns="0" tIns="0" rIns="0" bIns="0" anchor="ctr"/>
            <a:lstStyle/>
            <a:p>
              <a:pPr algn="ctr"/>
              <a:r>
                <a:rPr kumimoji="1" lang="zh-CN" altLang="en-US" sz="2000" baseline="0" dirty="0">
                  <a:latin typeface="宋体" panose="02010600030101010101" pitchFamily="2" charset="-122"/>
                  <a:ea typeface="宋体" panose="02010600030101010101" pitchFamily="2" charset="-122"/>
                </a:rPr>
                <a:t>教师</a:t>
              </a:r>
            </a:p>
          </p:txBody>
        </p:sp>
        <p:sp>
          <p:nvSpPr>
            <p:cNvPr id="21" name="AutoShape 13">
              <a:extLst>
                <a:ext uri="{FF2B5EF4-FFF2-40B4-BE49-F238E27FC236}">
                  <a16:creationId xmlns:a16="http://schemas.microsoft.com/office/drawing/2014/main" id="{A4A80411-311E-46EA-9B89-788B6C6EB339}"/>
                </a:ext>
              </a:extLst>
            </p:cNvPr>
            <p:cNvSpPr>
              <a:spLocks noChangeArrowheads="1"/>
            </p:cNvSpPr>
            <p:nvPr/>
          </p:nvSpPr>
          <p:spPr bwMode="auto">
            <a:xfrm>
              <a:off x="6818632" y="5060545"/>
              <a:ext cx="817350" cy="344826"/>
            </a:xfrm>
            <a:prstGeom prst="roundRect">
              <a:avLst>
                <a:gd name="adj" fmla="val 50000"/>
              </a:avLst>
            </a:prstGeom>
            <a:solidFill>
              <a:schemeClr val="bg1">
                <a:lumMod val="75000"/>
              </a:schemeClr>
            </a:solidFill>
            <a:ln w="12700" cap="sq">
              <a:solidFill>
                <a:schemeClr val="tx1"/>
              </a:solidFill>
              <a:round/>
              <a:headEnd/>
              <a:tailEnd/>
            </a:ln>
          </p:spPr>
          <p:txBody>
            <a:bodyPr wrap="none" lIns="0" tIns="0" rIns="0" bIns="0" anchor="ctr"/>
            <a:lstStyle/>
            <a:p>
              <a:pPr algn="ctr"/>
              <a:r>
                <a:rPr kumimoji="1" lang="zh-CN" altLang="en-US" sz="2000" u="sng" baseline="0" dirty="0">
                  <a:latin typeface="宋体" panose="02010600030101010101" pitchFamily="2" charset="-122"/>
                  <a:ea typeface="宋体" panose="02010600030101010101" pitchFamily="2" charset="-122"/>
                </a:rPr>
                <a:t>教工号</a:t>
              </a:r>
            </a:p>
          </p:txBody>
        </p:sp>
        <p:sp>
          <p:nvSpPr>
            <p:cNvPr id="22" name="AutoShape 14">
              <a:extLst>
                <a:ext uri="{FF2B5EF4-FFF2-40B4-BE49-F238E27FC236}">
                  <a16:creationId xmlns:a16="http://schemas.microsoft.com/office/drawing/2014/main" id="{34512DE5-29B4-424E-9A13-FBA0846EC9CF}"/>
                </a:ext>
              </a:extLst>
            </p:cNvPr>
            <p:cNvSpPr>
              <a:spLocks noChangeArrowheads="1"/>
            </p:cNvSpPr>
            <p:nvPr/>
          </p:nvSpPr>
          <p:spPr bwMode="auto">
            <a:xfrm>
              <a:off x="7534219" y="5410443"/>
              <a:ext cx="735614" cy="322813"/>
            </a:xfrm>
            <a:prstGeom prst="roundRect">
              <a:avLst>
                <a:gd name="adj" fmla="val 50000"/>
              </a:avLst>
            </a:prstGeom>
            <a:noFill/>
            <a:ln w="12700" cap="sq">
              <a:solidFill>
                <a:schemeClr val="tx1"/>
              </a:solidFill>
              <a:round/>
              <a:headEnd/>
              <a:tailEnd/>
            </a:ln>
          </p:spPr>
          <p:txBody>
            <a:bodyPr wrap="none" lIns="0" tIns="0" rIns="0" bIns="0" anchor="ctr"/>
            <a:lstStyle/>
            <a:p>
              <a:pPr algn="ctr"/>
              <a:r>
                <a:rPr kumimoji="1" lang="zh-CN" altLang="en-US" sz="2000" baseline="0">
                  <a:latin typeface="宋体" panose="02010600030101010101" pitchFamily="2" charset="-122"/>
                  <a:ea typeface="宋体" panose="02010600030101010101" pitchFamily="2" charset="-122"/>
                </a:rPr>
                <a:t>姓名</a:t>
              </a:r>
            </a:p>
          </p:txBody>
        </p:sp>
        <p:sp>
          <p:nvSpPr>
            <p:cNvPr id="23" name="AutoShape 15">
              <a:extLst>
                <a:ext uri="{FF2B5EF4-FFF2-40B4-BE49-F238E27FC236}">
                  <a16:creationId xmlns:a16="http://schemas.microsoft.com/office/drawing/2014/main" id="{F038BFC5-B60F-4B40-9688-8C6774C07B1C}"/>
                </a:ext>
              </a:extLst>
            </p:cNvPr>
            <p:cNvSpPr>
              <a:spLocks noChangeArrowheads="1"/>
            </p:cNvSpPr>
            <p:nvPr/>
          </p:nvSpPr>
          <p:spPr bwMode="auto">
            <a:xfrm>
              <a:off x="8070414" y="5109189"/>
              <a:ext cx="735614" cy="322813"/>
            </a:xfrm>
            <a:prstGeom prst="roundRect">
              <a:avLst>
                <a:gd name="adj" fmla="val 50000"/>
              </a:avLst>
            </a:prstGeom>
            <a:noFill/>
            <a:ln w="12700" cap="sq">
              <a:solidFill>
                <a:schemeClr val="tx1"/>
              </a:solidFill>
              <a:round/>
              <a:headEnd/>
              <a:tailEnd/>
            </a:ln>
          </p:spPr>
          <p:txBody>
            <a:bodyPr wrap="none" lIns="0" tIns="0" rIns="0" bIns="0" anchor="ctr"/>
            <a:lstStyle/>
            <a:p>
              <a:pPr algn="ctr"/>
              <a:r>
                <a:rPr kumimoji="1" lang="zh-CN" altLang="en-US" sz="2000" baseline="0" dirty="0">
                  <a:latin typeface="宋体" panose="02010600030101010101" pitchFamily="2" charset="-122"/>
                  <a:ea typeface="宋体" panose="02010600030101010101" pitchFamily="2" charset="-122"/>
                </a:rPr>
                <a:t>性别</a:t>
              </a:r>
            </a:p>
          </p:txBody>
        </p:sp>
        <p:sp>
          <p:nvSpPr>
            <p:cNvPr id="24" name="AutoShape 16">
              <a:extLst>
                <a:ext uri="{FF2B5EF4-FFF2-40B4-BE49-F238E27FC236}">
                  <a16:creationId xmlns:a16="http://schemas.microsoft.com/office/drawing/2014/main" id="{B408573E-DA5B-40BC-8FC0-9D7F840A5104}"/>
                </a:ext>
              </a:extLst>
            </p:cNvPr>
            <p:cNvSpPr>
              <a:spLocks noChangeArrowheads="1"/>
            </p:cNvSpPr>
            <p:nvPr/>
          </p:nvSpPr>
          <p:spPr bwMode="auto">
            <a:xfrm>
              <a:off x="9054097" y="5109189"/>
              <a:ext cx="735614" cy="322813"/>
            </a:xfrm>
            <a:prstGeom prst="roundRect">
              <a:avLst>
                <a:gd name="adj" fmla="val 50000"/>
              </a:avLst>
            </a:prstGeom>
            <a:noFill/>
            <a:ln w="12700" cap="sq">
              <a:solidFill>
                <a:schemeClr val="tx1"/>
              </a:solidFill>
              <a:round/>
              <a:headEnd/>
              <a:tailEnd/>
            </a:ln>
          </p:spPr>
          <p:txBody>
            <a:bodyPr wrap="none" lIns="0" tIns="0" rIns="0" bIns="0" anchor="ctr"/>
            <a:lstStyle/>
            <a:p>
              <a:pPr algn="ctr"/>
              <a:r>
                <a:rPr kumimoji="1" lang="zh-CN" altLang="en-US" sz="2000" baseline="0">
                  <a:latin typeface="宋体" panose="02010600030101010101" pitchFamily="2" charset="-122"/>
                  <a:ea typeface="宋体" panose="02010600030101010101" pitchFamily="2" charset="-122"/>
                </a:rPr>
                <a:t>职称</a:t>
              </a:r>
            </a:p>
          </p:txBody>
        </p:sp>
        <p:cxnSp>
          <p:nvCxnSpPr>
            <p:cNvPr id="25" name="AutoShape 33">
              <a:extLst>
                <a:ext uri="{FF2B5EF4-FFF2-40B4-BE49-F238E27FC236}">
                  <a16:creationId xmlns:a16="http://schemas.microsoft.com/office/drawing/2014/main" id="{0617979C-9924-43C3-9599-2444C42805CA}"/>
                </a:ext>
              </a:extLst>
            </p:cNvPr>
            <p:cNvCxnSpPr>
              <a:cxnSpLocks noChangeShapeType="1"/>
              <a:stCxn id="20" idx="2"/>
              <a:endCxn id="21" idx="0"/>
            </p:cNvCxnSpPr>
            <p:nvPr/>
          </p:nvCxnSpPr>
          <p:spPr bwMode="auto">
            <a:xfrm flipH="1">
              <a:off x="7227307" y="4907244"/>
              <a:ext cx="497300" cy="153301"/>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26" name="AutoShape 34">
              <a:extLst>
                <a:ext uri="{FF2B5EF4-FFF2-40B4-BE49-F238E27FC236}">
                  <a16:creationId xmlns:a16="http://schemas.microsoft.com/office/drawing/2014/main" id="{F1025EBA-6349-48F2-BB76-2C06BDB8EE90}"/>
                </a:ext>
              </a:extLst>
            </p:cNvPr>
            <p:cNvCxnSpPr>
              <a:cxnSpLocks noChangeShapeType="1"/>
              <a:stCxn id="20" idx="2"/>
              <a:endCxn id="22" idx="0"/>
            </p:cNvCxnSpPr>
            <p:nvPr/>
          </p:nvCxnSpPr>
          <p:spPr bwMode="auto">
            <a:xfrm>
              <a:off x="7724608" y="4907244"/>
              <a:ext cx="177419" cy="503199"/>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27" name="AutoShape 35">
              <a:extLst>
                <a:ext uri="{FF2B5EF4-FFF2-40B4-BE49-F238E27FC236}">
                  <a16:creationId xmlns:a16="http://schemas.microsoft.com/office/drawing/2014/main" id="{EE28A121-5D78-481F-AEFB-639B6DFFBAFF}"/>
                </a:ext>
              </a:extLst>
            </p:cNvPr>
            <p:cNvCxnSpPr>
              <a:cxnSpLocks noChangeShapeType="1"/>
              <a:stCxn id="20" idx="2"/>
              <a:endCxn id="23" idx="0"/>
            </p:cNvCxnSpPr>
            <p:nvPr/>
          </p:nvCxnSpPr>
          <p:spPr bwMode="auto">
            <a:xfrm>
              <a:off x="7724608" y="4907244"/>
              <a:ext cx="713614" cy="20194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28" name="AutoShape 36">
              <a:extLst>
                <a:ext uri="{FF2B5EF4-FFF2-40B4-BE49-F238E27FC236}">
                  <a16:creationId xmlns:a16="http://schemas.microsoft.com/office/drawing/2014/main" id="{A96E96F8-7861-412A-8972-BE7DD2D4D648}"/>
                </a:ext>
              </a:extLst>
            </p:cNvPr>
            <p:cNvCxnSpPr>
              <a:cxnSpLocks noChangeShapeType="1"/>
              <a:stCxn id="20" idx="2"/>
              <a:endCxn id="24" idx="0"/>
            </p:cNvCxnSpPr>
            <p:nvPr/>
          </p:nvCxnSpPr>
          <p:spPr bwMode="auto">
            <a:xfrm>
              <a:off x="7724608" y="4907244"/>
              <a:ext cx="1697297" cy="20194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29" name="Rectangle 8">
              <a:extLst>
                <a:ext uri="{FF2B5EF4-FFF2-40B4-BE49-F238E27FC236}">
                  <a16:creationId xmlns:a16="http://schemas.microsoft.com/office/drawing/2014/main" id="{B670CE92-1854-489B-9CDD-9A9A8F6C0610}"/>
                </a:ext>
              </a:extLst>
            </p:cNvPr>
            <p:cNvSpPr>
              <a:spLocks noChangeArrowheads="1"/>
            </p:cNvSpPr>
            <p:nvPr/>
          </p:nvSpPr>
          <p:spPr bwMode="auto">
            <a:xfrm>
              <a:off x="8865777" y="3493979"/>
              <a:ext cx="851605" cy="268076"/>
            </a:xfrm>
            <a:prstGeom prst="rect">
              <a:avLst/>
            </a:prstGeom>
            <a:solidFill>
              <a:srgbClr val="0070C0"/>
            </a:solidFill>
            <a:ln w="12700" cap="sq">
              <a:solidFill>
                <a:schemeClr val="tx1"/>
              </a:solidFill>
              <a:miter lim="800000"/>
              <a:headEnd/>
              <a:tailEnd/>
            </a:ln>
          </p:spPr>
          <p:txBody>
            <a:bodyPr wrap="none" lIns="0" tIns="0" rIns="0" bIns="0" anchor="ctr"/>
            <a:lstStyle/>
            <a:p>
              <a:pPr algn="ctr"/>
              <a:r>
                <a:rPr kumimoji="1" lang="zh-CN" altLang="en-US" sz="2000" baseline="0" dirty="0">
                  <a:latin typeface="宋体" panose="02010600030101010101" pitchFamily="2" charset="-122"/>
                  <a:ea typeface="宋体" panose="02010600030101010101" pitchFamily="2" charset="-122"/>
                </a:rPr>
                <a:t>课程</a:t>
              </a:r>
            </a:p>
          </p:txBody>
        </p:sp>
        <p:sp>
          <p:nvSpPr>
            <p:cNvPr id="30" name="AutoShape 9">
              <a:extLst>
                <a:ext uri="{FF2B5EF4-FFF2-40B4-BE49-F238E27FC236}">
                  <a16:creationId xmlns:a16="http://schemas.microsoft.com/office/drawing/2014/main" id="{4A5D51D6-4A13-4420-9434-B6B916248DDC}"/>
                </a:ext>
              </a:extLst>
            </p:cNvPr>
            <p:cNvSpPr>
              <a:spLocks noChangeArrowheads="1"/>
            </p:cNvSpPr>
            <p:nvPr/>
          </p:nvSpPr>
          <p:spPr bwMode="auto">
            <a:xfrm>
              <a:off x="9912541" y="2997492"/>
              <a:ext cx="946228" cy="329272"/>
            </a:xfrm>
            <a:prstGeom prst="roundRect">
              <a:avLst>
                <a:gd name="adj" fmla="val 50000"/>
              </a:avLst>
            </a:prstGeom>
            <a:solidFill>
              <a:schemeClr val="bg1">
                <a:lumMod val="75000"/>
              </a:schemeClr>
            </a:solidFill>
            <a:ln w="12700" cap="sq">
              <a:solidFill>
                <a:schemeClr val="tx1"/>
              </a:solidFill>
              <a:round/>
              <a:headEnd/>
              <a:tailEnd/>
            </a:ln>
          </p:spPr>
          <p:txBody>
            <a:bodyPr wrap="none" lIns="0" tIns="0" rIns="0" bIns="0" anchor="ctr"/>
            <a:lstStyle/>
            <a:p>
              <a:pPr algn="ctr"/>
              <a:r>
                <a:rPr kumimoji="1" lang="zh-CN" altLang="en-US" sz="2000" u="sng" baseline="0" dirty="0">
                  <a:latin typeface="宋体" panose="02010600030101010101" pitchFamily="2" charset="-122"/>
                  <a:ea typeface="宋体" panose="02010600030101010101" pitchFamily="2" charset="-122"/>
                </a:rPr>
                <a:t>课程号</a:t>
              </a:r>
            </a:p>
          </p:txBody>
        </p:sp>
        <p:sp>
          <p:nvSpPr>
            <p:cNvPr id="31" name="AutoShape 10">
              <a:extLst>
                <a:ext uri="{FF2B5EF4-FFF2-40B4-BE49-F238E27FC236}">
                  <a16:creationId xmlns:a16="http://schemas.microsoft.com/office/drawing/2014/main" id="{38715A8C-0FBE-4FC6-B076-7E31C1F075B1}"/>
                </a:ext>
              </a:extLst>
            </p:cNvPr>
            <p:cNvSpPr>
              <a:spLocks noChangeArrowheads="1"/>
            </p:cNvSpPr>
            <p:nvPr/>
          </p:nvSpPr>
          <p:spPr bwMode="auto">
            <a:xfrm>
              <a:off x="9953874" y="3489086"/>
              <a:ext cx="946228" cy="240208"/>
            </a:xfrm>
            <a:prstGeom prst="roundRect">
              <a:avLst>
                <a:gd name="adj" fmla="val 50000"/>
              </a:avLst>
            </a:prstGeom>
            <a:noFill/>
            <a:ln w="12700" cap="sq">
              <a:solidFill>
                <a:schemeClr val="tx1"/>
              </a:solidFill>
              <a:round/>
              <a:headEnd/>
              <a:tailEnd/>
            </a:ln>
          </p:spPr>
          <p:txBody>
            <a:bodyPr wrap="none" lIns="0" tIns="0" rIns="0" bIns="0" anchor="ctr"/>
            <a:lstStyle/>
            <a:p>
              <a:pPr algn="ctr"/>
              <a:r>
                <a:rPr kumimoji="1" lang="zh-CN" altLang="en-US" sz="2000" baseline="0" dirty="0">
                  <a:latin typeface="宋体" panose="02010600030101010101" pitchFamily="2" charset="-122"/>
                  <a:ea typeface="宋体" panose="02010600030101010101" pitchFamily="2" charset="-122"/>
                </a:rPr>
                <a:t>课程名</a:t>
              </a:r>
            </a:p>
          </p:txBody>
        </p:sp>
        <p:sp>
          <p:nvSpPr>
            <p:cNvPr id="32" name="AutoShape 11">
              <a:extLst>
                <a:ext uri="{FF2B5EF4-FFF2-40B4-BE49-F238E27FC236}">
                  <a16:creationId xmlns:a16="http://schemas.microsoft.com/office/drawing/2014/main" id="{5D32781A-F2BA-4641-959B-9A87B42FE6D3}"/>
                </a:ext>
              </a:extLst>
            </p:cNvPr>
            <p:cNvSpPr>
              <a:spLocks noChangeArrowheads="1"/>
            </p:cNvSpPr>
            <p:nvPr/>
          </p:nvSpPr>
          <p:spPr bwMode="auto">
            <a:xfrm>
              <a:off x="9959853" y="3920162"/>
              <a:ext cx="851605" cy="240208"/>
            </a:xfrm>
            <a:prstGeom prst="roundRect">
              <a:avLst>
                <a:gd name="adj" fmla="val 50000"/>
              </a:avLst>
            </a:prstGeom>
            <a:noFill/>
            <a:ln w="12700" cap="sq">
              <a:solidFill>
                <a:schemeClr val="tx1"/>
              </a:solidFill>
              <a:round/>
              <a:headEnd/>
              <a:tailEnd/>
            </a:ln>
          </p:spPr>
          <p:txBody>
            <a:bodyPr wrap="none" lIns="0" tIns="0" rIns="0" bIns="0" anchor="ctr"/>
            <a:lstStyle/>
            <a:p>
              <a:pPr algn="ctr"/>
              <a:r>
                <a:rPr kumimoji="1" lang="zh-CN" altLang="en-US" sz="2000" baseline="0" dirty="0">
                  <a:latin typeface="宋体" panose="02010600030101010101" pitchFamily="2" charset="-122"/>
                  <a:ea typeface="宋体" panose="02010600030101010101" pitchFamily="2" charset="-122"/>
                </a:rPr>
                <a:t>学分</a:t>
              </a:r>
            </a:p>
          </p:txBody>
        </p:sp>
        <p:cxnSp>
          <p:nvCxnSpPr>
            <p:cNvPr id="33" name="AutoShape 30">
              <a:extLst>
                <a:ext uri="{FF2B5EF4-FFF2-40B4-BE49-F238E27FC236}">
                  <a16:creationId xmlns:a16="http://schemas.microsoft.com/office/drawing/2014/main" id="{9BAEBF80-C421-425A-A36A-0EE548F4D382}"/>
                </a:ext>
              </a:extLst>
            </p:cNvPr>
            <p:cNvCxnSpPr>
              <a:cxnSpLocks noChangeShapeType="1"/>
              <a:stCxn id="30" idx="1"/>
              <a:endCxn id="29" idx="3"/>
            </p:cNvCxnSpPr>
            <p:nvPr/>
          </p:nvCxnSpPr>
          <p:spPr bwMode="auto">
            <a:xfrm flipH="1">
              <a:off x="9717382" y="3162128"/>
              <a:ext cx="195159" cy="46589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34" name="AutoShape 31">
              <a:extLst>
                <a:ext uri="{FF2B5EF4-FFF2-40B4-BE49-F238E27FC236}">
                  <a16:creationId xmlns:a16="http://schemas.microsoft.com/office/drawing/2014/main" id="{F05882D7-BE15-4D34-9BB6-F95F05ABCA70}"/>
                </a:ext>
              </a:extLst>
            </p:cNvPr>
            <p:cNvCxnSpPr>
              <a:cxnSpLocks noChangeShapeType="1"/>
              <a:stCxn id="31" idx="1"/>
              <a:endCxn id="29" idx="3"/>
            </p:cNvCxnSpPr>
            <p:nvPr/>
          </p:nvCxnSpPr>
          <p:spPr bwMode="auto">
            <a:xfrm flipH="1">
              <a:off x="9717382" y="3609190"/>
              <a:ext cx="236493" cy="18827"/>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35" name="AutoShape 32">
              <a:extLst>
                <a:ext uri="{FF2B5EF4-FFF2-40B4-BE49-F238E27FC236}">
                  <a16:creationId xmlns:a16="http://schemas.microsoft.com/office/drawing/2014/main" id="{7FB58FB6-6F12-47DF-A9E6-4F6EC81CB771}"/>
                </a:ext>
              </a:extLst>
            </p:cNvPr>
            <p:cNvCxnSpPr>
              <a:cxnSpLocks noChangeShapeType="1"/>
              <a:stCxn id="32" idx="1"/>
              <a:endCxn id="29" idx="3"/>
            </p:cNvCxnSpPr>
            <p:nvPr/>
          </p:nvCxnSpPr>
          <p:spPr bwMode="auto">
            <a:xfrm flipH="1" flipV="1">
              <a:off x="9717382" y="3628017"/>
              <a:ext cx="242471" cy="412248"/>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36" name="Rectangle 22">
              <a:extLst>
                <a:ext uri="{FF2B5EF4-FFF2-40B4-BE49-F238E27FC236}">
                  <a16:creationId xmlns:a16="http://schemas.microsoft.com/office/drawing/2014/main" id="{3D3F5528-1522-4667-8CC5-5CB57F672192}"/>
                </a:ext>
              </a:extLst>
            </p:cNvPr>
            <p:cNvSpPr>
              <a:spLocks noChangeArrowheads="1"/>
            </p:cNvSpPr>
            <p:nvPr/>
          </p:nvSpPr>
          <p:spPr bwMode="auto">
            <a:xfrm>
              <a:off x="7274148" y="2421715"/>
              <a:ext cx="755056" cy="310261"/>
            </a:xfrm>
            <a:prstGeom prst="rect">
              <a:avLst/>
            </a:prstGeom>
            <a:solidFill>
              <a:srgbClr val="0070C0"/>
            </a:solidFill>
            <a:ln w="12700" cap="sq">
              <a:solidFill>
                <a:schemeClr val="tx1"/>
              </a:solidFill>
              <a:miter lim="800000"/>
              <a:headEnd/>
              <a:tailEnd/>
            </a:ln>
          </p:spPr>
          <p:txBody>
            <a:bodyPr wrap="none" lIns="0" tIns="0" rIns="0" bIns="0" anchor="ctr"/>
            <a:lstStyle/>
            <a:p>
              <a:pPr algn="ctr"/>
              <a:r>
                <a:rPr kumimoji="1" lang="zh-CN" altLang="en-US" sz="2000" baseline="0" dirty="0">
                  <a:latin typeface="宋体" panose="02010600030101010101" pitchFamily="2" charset="-122"/>
                  <a:ea typeface="宋体" panose="02010600030101010101" pitchFamily="2" charset="-122"/>
                </a:rPr>
                <a:t>学生</a:t>
              </a:r>
            </a:p>
          </p:txBody>
        </p:sp>
        <p:sp>
          <p:nvSpPr>
            <p:cNvPr id="37" name="AutoShape 23">
              <a:extLst>
                <a:ext uri="{FF2B5EF4-FFF2-40B4-BE49-F238E27FC236}">
                  <a16:creationId xmlns:a16="http://schemas.microsoft.com/office/drawing/2014/main" id="{65E1DC46-7A7A-43A7-A121-D4880C448809}"/>
                </a:ext>
              </a:extLst>
            </p:cNvPr>
            <p:cNvSpPr>
              <a:spLocks noChangeArrowheads="1"/>
            </p:cNvSpPr>
            <p:nvPr/>
          </p:nvSpPr>
          <p:spPr bwMode="auto">
            <a:xfrm>
              <a:off x="6698219" y="2030476"/>
              <a:ext cx="540284" cy="326344"/>
            </a:xfrm>
            <a:prstGeom prst="roundRect">
              <a:avLst>
                <a:gd name="adj" fmla="val 50000"/>
              </a:avLst>
            </a:prstGeom>
            <a:solidFill>
              <a:schemeClr val="bg1">
                <a:lumMod val="75000"/>
              </a:schemeClr>
            </a:solidFill>
            <a:ln w="12700" cap="sq">
              <a:solidFill>
                <a:schemeClr val="tx1"/>
              </a:solidFill>
              <a:round/>
              <a:headEnd/>
              <a:tailEnd/>
            </a:ln>
          </p:spPr>
          <p:txBody>
            <a:bodyPr wrap="none" lIns="0" tIns="0" rIns="0" bIns="0" anchor="ctr"/>
            <a:lstStyle/>
            <a:p>
              <a:pPr algn="ctr"/>
              <a:r>
                <a:rPr kumimoji="1" lang="zh-CN" altLang="en-US" sz="2000" u="sng" baseline="0" dirty="0">
                  <a:latin typeface="宋体" panose="02010600030101010101" pitchFamily="2" charset="-122"/>
                  <a:ea typeface="宋体" panose="02010600030101010101" pitchFamily="2" charset="-122"/>
                </a:rPr>
                <a:t>学号</a:t>
              </a:r>
            </a:p>
          </p:txBody>
        </p:sp>
        <p:sp>
          <p:nvSpPr>
            <p:cNvPr id="38" name="AutoShape 24">
              <a:extLst>
                <a:ext uri="{FF2B5EF4-FFF2-40B4-BE49-F238E27FC236}">
                  <a16:creationId xmlns:a16="http://schemas.microsoft.com/office/drawing/2014/main" id="{E96DCE55-182F-4F61-97E2-86CE3E125531}"/>
                </a:ext>
              </a:extLst>
            </p:cNvPr>
            <p:cNvSpPr>
              <a:spLocks noChangeArrowheads="1"/>
            </p:cNvSpPr>
            <p:nvPr/>
          </p:nvSpPr>
          <p:spPr bwMode="auto">
            <a:xfrm>
              <a:off x="7137164" y="1684578"/>
              <a:ext cx="612250" cy="244215"/>
            </a:xfrm>
            <a:prstGeom prst="roundRect">
              <a:avLst>
                <a:gd name="adj" fmla="val 50000"/>
              </a:avLst>
            </a:prstGeom>
            <a:noFill/>
            <a:ln w="12700" cap="sq">
              <a:solidFill>
                <a:schemeClr val="tx1"/>
              </a:solidFill>
              <a:round/>
              <a:headEnd/>
              <a:tailEnd/>
            </a:ln>
          </p:spPr>
          <p:txBody>
            <a:bodyPr wrap="none" lIns="0" tIns="0" rIns="0" bIns="0" anchor="ctr"/>
            <a:lstStyle/>
            <a:p>
              <a:pPr algn="ctr"/>
              <a:r>
                <a:rPr kumimoji="1" lang="zh-CN" altLang="en-US" sz="2000" baseline="0" dirty="0">
                  <a:latin typeface="宋体" panose="02010600030101010101" pitchFamily="2" charset="-122"/>
                  <a:ea typeface="宋体" panose="02010600030101010101" pitchFamily="2" charset="-122"/>
                </a:rPr>
                <a:t>姓名</a:t>
              </a:r>
            </a:p>
          </p:txBody>
        </p:sp>
        <p:sp>
          <p:nvSpPr>
            <p:cNvPr id="39" name="AutoShape 25">
              <a:extLst>
                <a:ext uri="{FF2B5EF4-FFF2-40B4-BE49-F238E27FC236}">
                  <a16:creationId xmlns:a16="http://schemas.microsoft.com/office/drawing/2014/main" id="{F317419A-24C4-409D-95AB-0EC03CD7F21A}"/>
                </a:ext>
              </a:extLst>
            </p:cNvPr>
            <p:cNvSpPr>
              <a:spLocks noChangeArrowheads="1"/>
            </p:cNvSpPr>
            <p:nvPr/>
          </p:nvSpPr>
          <p:spPr bwMode="auto">
            <a:xfrm>
              <a:off x="8276582" y="2044967"/>
              <a:ext cx="599539" cy="244215"/>
            </a:xfrm>
            <a:prstGeom prst="roundRect">
              <a:avLst>
                <a:gd name="adj" fmla="val 50000"/>
              </a:avLst>
            </a:prstGeom>
            <a:noFill/>
            <a:ln w="12700" cap="sq">
              <a:solidFill>
                <a:schemeClr val="tx1"/>
              </a:solidFill>
              <a:round/>
              <a:headEnd/>
              <a:tailEnd/>
            </a:ln>
          </p:spPr>
          <p:txBody>
            <a:bodyPr wrap="none" lIns="0" tIns="0" rIns="0" bIns="0" anchor="ctr"/>
            <a:lstStyle/>
            <a:p>
              <a:pPr algn="ctr"/>
              <a:r>
                <a:rPr kumimoji="1" lang="zh-CN" altLang="en-US" sz="2000" baseline="0" dirty="0">
                  <a:latin typeface="宋体" panose="02010600030101010101" pitchFamily="2" charset="-122"/>
                  <a:ea typeface="宋体" panose="02010600030101010101" pitchFamily="2" charset="-122"/>
                </a:rPr>
                <a:t>性别</a:t>
              </a:r>
            </a:p>
          </p:txBody>
        </p:sp>
        <p:sp>
          <p:nvSpPr>
            <p:cNvPr id="40" name="AutoShape 26">
              <a:extLst>
                <a:ext uri="{FF2B5EF4-FFF2-40B4-BE49-F238E27FC236}">
                  <a16:creationId xmlns:a16="http://schemas.microsoft.com/office/drawing/2014/main" id="{AD81464D-928F-4D8C-BC35-444F1976C131}"/>
                </a:ext>
              </a:extLst>
            </p:cNvPr>
            <p:cNvSpPr>
              <a:spLocks noChangeArrowheads="1"/>
            </p:cNvSpPr>
            <p:nvPr/>
          </p:nvSpPr>
          <p:spPr bwMode="auto">
            <a:xfrm>
              <a:off x="7800394" y="1703391"/>
              <a:ext cx="584038" cy="244215"/>
            </a:xfrm>
            <a:prstGeom prst="roundRect">
              <a:avLst>
                <a:gd name="adj" fmla="val 50000"/>
              </a:avLst>
            </a:prstGeom>
            <a:noFill/>
            <a:ln w="12700" cap="sq">
              <a:solidFill>
                <a:schemeClr val="tx1"/>
              </a:solidFill>
              <a:round/>
              <a:headEnd/>
              <a:tailEnd/>
            </a:ln>
          </p:spPr>
          <p:txBody>
            <a:bodyPr wrap="none" lIns="0" tIns="0" rIns="0" bIns="0" anchor="ctr"/>
            <a:lstStyle/>
            <a:p>
              <a:pPr algn="ctr"/>
              <a:r>
                <a:rPr kumimoji="1" lang="zh-CN" altLang="en-US" sz="2000" baseline="0" dirty="0">
                  <a:latin typeface="宋体" panose="02010600030101010101" pitchFamily="2" charset="-122"/>
                  <a:ea typeface="宋体" panose="02010600030101010101" pitchFamily="2" charset="-122"/>
                </a:rPr>
                <a:t>生日</a:t>
              </a:r>
            </a:p>
          </p:txBody>
        </p:sp>
        <p:cxnSp>
          <p:nvCxnSpPr>
            <p:cNvPr id="41" name="AutoShape 41">
              <a:extLst>
                <a:ext uri="{FF2B5EF4-FFF2-40B4-BE49-F238E27FC236}">
                  <a16:creationId xmlns:a16="http://schemas.microsoft.com/office/drawing/2014/main" id="{60D5B1A3-24B5-4E1D-A1EE-8F2C2B7C3AE9}"/>
                </a:ext>
              </a:extLst>
            </p:cNvPr>
            <p:cNvCxnSpPr>
              <a:cxnSpLocks noChangeShapeType="1"/>
              <a:stCxn id="36" idx="0"/>
              <a:endCxn id="37" idx="3"/>
            </p:cNvCxnSpPr>
            <p:nvPr/>
          </p:nvCxnSpPr>
          <p:spPr bwMode="auto">
            <a:xfrm flipH="1" flipV="1">
              <a:off x="7238503" y="2193647"/>
              <a:ext cx="413173" cy="228066"/>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2" name="AutoShape 42">
              <a:extLst>
                <a:ext uri="{FF2B5EF4-FFF2-40B4-BE49-F238E27FC236}">
                  <a16:creationId xmlns:a16="http://schemas.microsoft.com/office/drawing/2014/main" id="{3FD4434E-AD83-4D10-9FB1-AC453C4F0CDB}"/>
                </a:ext>
              </a:extLst>
            </p:cNvPr>
            <p:cNvCxnSpPr>
              <a:cxnSpLocks noChangeShapeType="1"/>
              <a:stCxn id="36" idx="0"/>
              <a:endCxn id="38" idx="2"/>
            </p:cNvCxnSpPr>
            <p:nvPr/>
          </p:nvCxnSpPr>
          <p:spPr bwMode="auto">
            <a:xfrm flipH="1" flipV="1">
              <a:off x="7443289" y="1928793"/>
              <a:ext cx="208388" cy="49292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3" name="AutoShape 43">
              <a:extLst>
                <a:ext uri="{FF2B5EF4-FFF2-40B4-BE49-F238E27FC236}">
                  <a16:creationId xmlns:a16="http://schemas.microsoft.com/office/drawing/2014/main" id="{681CA177-F408-4EF8-92C2-B32592C06A26}"/>
                </a:ext>
              </a:extLst>
            </p:cNvPr>
            <p:cNvCxnSpPr>
              <a:cxnSpLocks noChangeShapeType="1"/>
              <a:stCxn id="36" idx="0"/>
              <a:endCxn id="40" idx="2"/>
            </p:cNvCxnSpPr>
            <p:nvPr/>
          </p:nvCxnSpPr>
          <p:spPr bwMode="auto">
            <a:xfrm flipV="1">
              <a:off x="7651678" y="1947606"/>
              <a:ext cx="440736" cy="474107"/>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4" name="AutoShape 44">
              <a:extLst>
                <a:ext uri="{FF2B5EF4-FFF2-40B4-BE49-F238E27FC236}">
                  <a16:creationId xmlns:a16="http://schemas.microsoft.com/office/drawing/2014/main" id="{5899F0C1-F796-4849-AB1F-81AA58962E5F}"/>
                </a:ext>
              </a:extLst>
            </p:cNvPr>
            <p:cNvCxnSpPr>
              <a:cxnSpLocks noChangeShapeType="1"/>
              <a:stCxn id="36" idx="0"/>
              <a:endCxn id="39" idx="1"/>
            </p:cNvCxnSpPr>
            <p:nvPr/>
          </p:nvCxnSpPr>
          <p:spPr bwMode="auto">
            <a:xfrm flipV="1">
              <a:off x="7651677" y="2167075"/>
              <a:ext cx="624905" cy="254638"/>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45" name="AutoShape 47">
              <a:extLst>
                <a:ext uri="{FF2B5EF4-FFF2-40B4-BE49-F238E27FC236}">
                  <a16:creationId xmlns:a16="http://schemas.microsoft.com/office/drawing/2014/main" id="{A1AD3295-E70E-46E7-B0B9-81CC589F7C25}"/>
                </a:ext>
              </a:extLst>
            </p:cNvPr>
            <p:cNvSpPr>
              <a:spLocks noChangeArrowheads="1"/>
            </p:cNvSpPr>
            <p:nvPr/>
          </p:nvSpPr>
          <p:spPr bwMode="auto">
            <a:xfrm>
              <a:off x="8859432" y="2648614"/>
              <a:ext cx="857949" cy="382207"/>
            </a:xfrm>
            <a:prstGeom prst="diamond">
              <a:avLst/>
            </a:prstGeom>
            <a:solidFill>
              <a:schemeClr val="tx2">
                <a:lumMod val="75000"/>
              </a:schemeClr>
            </a:solidFill>
            <a:ln w="12700" cap="sq">
              <a:solidFill>
                <a:schemeClr val="tx1"/>
              </a:solidFill>
              <a:miter lim="800000"/>
              <a:headEnd/>
              <a:tailEnd/>
            </a:ln>
          </p:spPr>
          <p:txBody>
            <a:bodyPr wrap="none" lIns="0" tIns="0" rIns="0" bIns="0" anchor="ctr"/>
            <a:lstStyle/>
            <a:p>
              <a:pPr algn="ctr"/>
              <a:r>
                <a:rPr kumimoji="1" lang="zh-CN" altLang="en-US" sz="2000" dirty="0">
                  <a:latin typeface="宋体" panose="02010600030101010101" pitchFamily="2" charset="-122"/>
                  <a:ea typeface="宋体" panose="02010600030101010101" pitchFamily="2" charset="-122"/>
                </a:rPr>
                <a:t>学习</a:t>
              </a:r>
              <a:endParaRPr kumimoji="1" lang="zh-CN" altLang="en-US" sz="2000" baseline="0" dirty="0">
                <a:latin typeface="宋体" panose="02010600030101010101" pitchFamily="2" charset="-122"/>
                <a:ea typeface="宋体" panose="02010600030101010101" pitchFamily="2" charset="-122"/>
              </a:endParaRPr>
            </a:p>
          </p:txBody>
        </p:sp>
        <p:cxnSp>
          <p:nvCxnSpPr>
            <p:cNvPr id="46" name="AutoShape 54">
              <a:extLst>
                <a:ext uri="{FF2B5EF4-FFF2-40B4-BE49-F238E27FC236}">
                  <a16:creationId xmlns:a16="http://schemas.microsoft.com/office/drawing/2014/main" id="{5381155A-4FDE-4FE5-AB53-6C657DCBB4A5}"/>
                </a:ext>
              </a:extLst>
            </p:cNvPr>
            <p:cNvCxnSpPr>
              <a:cxnSpLocks noChangeShapeType="1"/>
              <a:stCxn id="36" idx="3"/>
              <a:endCxn id="45" idx="1"/>
            </p:cNvCxnSpPr>
            <p:nvPr/>
          </p:nvCxnSpPr>
          <p:spPr bwMode="auto">
            <a:xfrm>
              <a:off x="8029204" y="2576845"/>
              <a:ext cx="830228" cy="262873"/>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7" name="AutoShape 54">
              <a:extLst>
                <a:ext uri="{FF2B5EF4-FFF2-40B4-BE49-F238E27FC236}">
                  <a16:creationId xmlns:a16="http://schemas.microsoft.com/office/drawing/2014/main" id="{9FA8D96A-9C9D-441C-B287-ACE54848BF69}"/>
                </a:ext>
              </a:extLst>
            </p:cNvPr>
            <p:cNvCxnSpPr>
              <a:cxnSpLocks noChangeShapeType="1"/>
              <a:stCxn id="45" idx="2"/>
              <a:endCxn id="29" idx="0"/>
            </p:cNvCxnSpPr>
            <p:nvPr/>
          </p:nvCxnSpPr>
          <p:spPr bwMode="auto">
            <a:xfrm>
              <a:off x="9288407" y="3030821"/>
              <a:ext cx="3173" cy="463157"/>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8" name="AutoShape 54">
              <a:extLst>
                <a:ext uri="{FF2B5EF4-FFF2-40B4-BE49-F238E27FC236}">
                  <a16:creationId xmlns:a16="http://schemas.microsoft.com/office/drawing/2014/main" id="{47BB7AF7-583F-41D8-AD7C-2D961B97AD7A}"/>
                </a:ext>
              </a:extLst>
            </p:cNvPr>
            <p:cNvCxnSpPr>
              <a:cxnSpLocks noChangeShapeType="1"/>
              <a:stCxn id="29" idx="2"/>
              <a:endCxn id="49" idx="0"/>
            </p:cNvCxnSpPr>
            <p:nvPr/>
          </p:nvCxnSpPr>
          <p:spPr bwMode="auto">
            <a:xfrm>
              <a:off x="9291580" y="3762054"/>
              <a:ext cx="8046" cy="394827"/>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49" name="AutoShape 57">
              <a:extLst>
                <a:ext uri="{FF2B5EF4-FFF2-40B4-BE49-F238E27FC236}">
                  <a16:creationId xmlns:a16="http://schemas.microsoft.com/office/drawing/2014/main" id="{2881C9E1-5D1C-4ED5-ADAE-A3B287724144}"/>
                </a:ext>
              </a:extLst>
            </p:cNvPr>
            <p:cNvSpPr>
              <a:spLocks noChangeArrowheads="1"/>
            </p:cNvSpPr>
            <p:nvPr/>
          </p:nvSpPr>
          <p:spPr bwMode="auto">
            <a:xfrm>
              <a:off x="8828339" y="4156881"/>
              <a:ext cx="942575" cy="382207"/>
            </a:xfrm>
            <a:prstGeom prst="diamond">
              <a:avLst/>
            </a:prstGeom>
            <a:solidFill>
              <a:schemeClr val="tx2">
                <a:lumMod val="75000"/>
              </a:schemeClr>
            </a:solidFill>
            <a:ln w="12700" cap="sq">
              <a:solidFill>
                <a:schemeClr val="tx1"/>
              </a:solidFill>
              <a:miter lim="800000"/>
              <a:headEnd/>
              <a:tailEnd/>
            </a:ln>
          </p:spPr>
          <p:txBody>
            <a:bodyPr wrap="none" lIns="0" tIns="0" rIns="0" bIns="0" anchor="ctr"/>
            <a:lstStyle/>
            <a:p>
              <a:pPr algn="ctr"/>
              <a:r>
                <a:rPr kumimoji="1" lang="zh-CN" altLang="en-US" sz="2000" baseline="0" dirty="0">
                  <a:latin typeface="宋体" panose="02010600030101010101" pitchFamily="2" charset="-122"/>
                  <a:ea typeface="宋体" panose="02010600030101010101" pitchFamily="2" charset="-122"/>
                </a:rPr>
                <a:t>讲授</a:t>
              </a:r>
            </a:p>
          </p:txBody>
        </p:sp>
        <p:cxnSp>
          <p:nvCxnSpPr>
            <p:cNvPr id="50" name="AutoShape 54">
              <a:extLst>
                <a:ext uri="{FF2B5EF4-FFF2-40B4-BE49-F238E27FC236}">
                  <a16:creationId xmlns:a16="http://schemas.microsoft.com/office/drawing/2014/main" id="{B3661137-BE33-4710-A3B2-7DAAE9F764EF}"/>
                </a:ext>
              </a:extLst>
            </p:cNvPr>
            <p:cNvCxnSpPr>
              <a:cxnSpLocks noChangeShapeType="1"/>
              <a:stCxn id="49" idx="1"/>
              <a:endCxn id="20" idx="3"/>
            </p:cNvCxnSpPr>
            <p:nvPr/>
          </p:nvCxnSpPr>
          <p:spPr bwMode="auto">
            <a:xfrm flipH="1">
              <a:off x="8092414" y="4347985"/>
              <a:ext cx="735925" cy="386848"/>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54" name="矩形 53">
              <a:extLst>
                <a:ext uri="{FF2B5EF4-FFF2-40B4-BE49-F238E27FC236}">
                  <a16:creationId xmlns:a16="http://schemas.microsoft.com/office/drawing/2014/main" id="{2F825CF6-DC0C-4B30-88B1-EAEF5A567794}"/>
                </a:ext>
              </a:extLst>
            </p:cNvPr>
            <p:cNvSpPr/>
            <p:nvPr/>
          </p:nvSpPr>
          <p:spPr>
            <a:xfrm>
              <a:off x="9226744" y="3081126"/>
              <a:ext cx="195159" cy="457499"/>
            </a:xfrm>
            <a:prstGeom prst="rect">
              <a:avLst/>
            </a:prstGeom>
          </p:spPr>
          <p:txBody>
            <a:bodyPr wrap="square">
              <a:spAutoFit/>
            </a:bodyPr>
            <a:lstStyle/>
            <a:p>
              <a:r>
                <a:rPr kumimoji="1" lang="en-US" altLang="zh-CN" sz="2400" dirty="0">
                  <a:latin typeface="宋体" panose="02010600030101010101" pitchFamily="2" charset="-122"/>
                  <a:ea typeface="宋体" panose="02010600030101010101" pitchFamily="2" charset="-122"/>
                </a:rPr>
                <a:t>n</a:t>
              </a:r>
              <a:endParaRPr lang="zh-CN" altLang="en-US" sz="2400" dirty="0">
                <a:latin typeface="宋体" panose="02010600030101010101" pitchFamily="2" charset="-122"/>
                <a:ea typeface="宋体" panose="02010600030101010101" pitchFamily="2" charset="-122"/>
              </a:endParaRPr>
            </a:p>
          </p:txBody>
        </p:sp>
        <p:sp>
          <p:nvSpPr>
            <p:cNvPr id="55" name="矩形 54">
              <a:extLst>
                <a:ext uri="{FF2B5EF4-FFF2-40B4-BE49-F238E27FC236}">
                  <a16:creationId xmlns:a16="http://schemas.microsoft.com/office/drawing/2014/main" id="{A660CF46-CC6F-42F7-9A26-291B8584F7A5}"/>
                </a:ext>
              </a:extLst>
            </p:cNvPr>
            <p:cNvSpPr/>
            <p:nvPr/>
          </p:nvSpPr>
          <p:spPr>
            <a:xfrm>
              <a:off x="8167638" y="4272583"/>
              <a:ext cx="195159" cy="457499"/>
            </a:xfrm>
            <a:prstGeom prst="rect">
              <a:avLst/>
            </a:prstGeom>
          </p:spPr>
          <p:txBody>
            <a:bodyPr wrap="square">
              <a:spAutoFit/>
            </a:bodyPr>
            <a:lstStyle/>
            <a:p>
              <a:r>
                <a:rPr kumimoji="1" lang="en-US" altLang="zh-CN" sz="2400" dirty="0">
                  <a:latin typeface="宋体" panose="02010600030101010101" pitchFamily="2" charset="-122"/>
                  <a:ea typeface="宋体" panose="02010600030101010101" pitchFamily="2" charset="-122"/>
                </a:rPr>
                <a:t>n</a:t>
              </a:r>
              <a:endParaRPr lang="zh-CN" altLang="en-US" sz="2400" dirty="0">
                <a:latin typeface="宋体" panose="02010600030101010101" pitchFamily="2" charset="-122"/>
                <a:ea typeface="宋体" panose="02010600030101010101" pitchFamily="2" charset="-122"/>
              </a:endParaRPr>
            </a:p>
          </p:txBody>
        </p:sp>
        <p:sp>
          <p:nvSpPr>
            <p:cNvPr id="56" name="矩形 55">
              <a:extLst>
                <a:ext uri="{FF2B5EF4-FFF2-40B4-BE49-F238E27FC236}">
                  <a16:creationId xmlns:a16="http://schemas.microsoft.com/office/drawing/2014/main" id="{8EDF3DF8-9EAD-4ADD-A311-24ED7ADFCF27}"/>
                </a:ext>
              </a:extLst>
            </p:cNvPr>
            <p:cNvSpPr/>
            <p:nvPr/>
          </p:nvSpPr>
          <p:spPr>
            <a:xfrm>
              <a:off x="8410762" y="2301039"/>
              <a:ext cx="195159" cy="457499"/>
            </a:xfrm>
            <a:prstGeom prst="rect">
              <a:avLst/>
            </a:prstGeom>
          </p:spPr>
          <p:txBody>
            <a:bodyPr wrap="square">
              <a:spAutoFit/>
            </a:bodyPr>
            <a:lstStyle/>
            <a:p>
              <a:r>
                <a:rPr kumimoji="1" lang="en-US" altLang="zh-CN" sz="2400" dirty="0">
                  <a:latin typeface="宋体" panose="02010600030101010101" pitchFamily="2" charset="-122"/>
                  <a:ea typeface="宋体" panose="02010600030101010101" pitchFamily="2" charset="-122"/>
                </a:rPr>
                <a:t>m</a:t>
              </a:r>
              <a:endParaRPr lang="zh-CN" altLang="en-US" sz="2400" dirty="0">
                <a:latin typeface="宋体" panose="02010600030101010101" pitchFamily="2" charset="-122"/>
                <a:ea typeface="宋体" panose="02010600030101010101" pitchFamily="2" charset="-122"/>
              </a:endParaRPr>
            </a:p>
          </p:txBody>
        </p:sp>
        <p:sp>
          <p:nvSpPr>
            <p:cNvPr id="57" name="矩形 56">
              <a:extLst>
                <a:ext uri="{FF2B5EF4-FFF2-40B4-BE49-F238E27FC236}">
                  <a16:creationId xmlns:a16="http://schemas.microsoft.com/office/drawing/2014/main" id="{D3CBA204-9409-4630-8E6C-526586D2B8A1}"/>
                </a:ext>
              </a:extLst>
            </p:cNvPr>
            <p:cNvSpPr/>
            <p:nvPr/>
          </p:nvSpPr>
          <p:spPr>
            <a:xfrm>
              <a:off x="9226744" y="3690564"/>
              <a:ext cx="195159" cy="457499"/>
            </a:xfrm>
            <a:prstGeom prst="rect">
              <a:avLst/>
            </a:prstGeom>
          </p:spPr>
          <p:txBody>
            <a:bodyPr wrap="square">
              <a:spAutoFit/>
            </a:bodyPr>
            <a:lstStyle/>
            <a:p>
              <a:r>
                <a:rPr kumimoji="1" lang="en-US" altLang="zh-CN" sz="2400" dirty="0">
                  <a:latin typeface="宋体" panose="02010600030101010101" pitchFamily="2" charset="-122"/>
                  <a:ea typeface="宋体" panose="02010600030101010101" pitchFamily="2" charset="-122"/>
                </a:rPr>
                <a:t>m</a:t>
              </a:r>
              <a:endParaRPr lang="zh-CN" altLang="en-US" sz="2400" dirty="0">
                <a:latin typeface="宋体" panose="02010600030101010101" pitchFamily="2" charset="-122"/>
                <a:ea typeface="宋体" panose="02010600030101010101" pitchFamily="2" charset="-122"/>
              </a:endParaRPr>
            </a:p>
          </p:txBody>
        </p:sp>
      </p:grpSp>
      <p:sp>
        <p:nvSpPr>
          <p:cNvPr id="59" name="Rectangle 20">
            <a:extLst>
              <a:ext uri="{FF2B5EF4-FFF2-40B4-BE49-F238E27FC236}">
                <a16:creationId xmlns:a16="http://schemas.microsoft.com/office/drawing/2014/main" id="{9D4A6208-A1C0-4555-9C78-700D5357C252}"/>
              </a:ext>
            </a:extLst>
          </p:cNvPr>
          <p:cNvSpPr>
            <a:spLocks noChangeArrowheads="1"/>
          </p:cNvSpPr>
          <p:nvPr/>
        </p:nvSpPr>
        <p:spPr bwMode="auto">
          <a:xfrm>
            <a:off x="747174" y="792905"/>
            <a:ext cx="10965449" cy="1077218"/>
          </a:xfrm>
          <a:prstGeom prst="rect">
            <a:avLst/>
          </a:prstGeom>
          <a:noFill/>
        </p:spPr>
        <p:txBody>
          <a:bodyPr wrap="square" rtlCol="0">
            <a:spAutoFit/>
          </a:bodyPr>
          <a:lstStyle/>
          <a:p>
            <a:pPr>
              <a:spcAft>
                <a:spcPct val="20000"/>
              </a:spcAft>
            </a:pPr>
            <a:r>
              <a:rPr lang="zh-CN" altLang="en-US" kern="0" dirty="0">
                <a:latin typeface="微软雅黑" panose="020B0503020204020204" pitchFamily="34" charset="-122"/>
                <a:ea typeface="微软雅黑" panose="020B0503020204020204" pitchFamily="34" charset="-122"/>
              </a:rPr>
              <a:t>概念结构设计就是将需求分析得到的用户需求抽象为信息结构（即概念模型）的过程，是数据库设计的关键！</a:t>
            </a:r>
          </a:p>
        </p:txBody>
      </p:sp>
    </p:spTree>
  </p:cSld>
  <p:clrMapOvr>
    <a:masterClrMapping/>
  </p:clrMapOvr>
  <p:transition spd="med">
    <p:random/>
    <p:sndAc>
      <p:stSnd>
        <p:snd r:embed="rId2" name="arrow.wav"/>
      </p:stSnd>
    </p:sndAc>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Box 2">
            <a:extLst>
              <a:ext uri="{FF2B5EF4-FFF2-40B4-BE49-F238E27FC236}">
                <a16:creationId xmlns:a16="http://schemas.microsoft.com/office/drawing/2014/main" id="{497D6F86-4142-4F9A-8A91-AC44BB7E6750}"/>
              </a:ext>
            </a:extLst>
          </p:cNvPr>
          <p:cNvSpPr txBox="1">
            <a:spLocks noChangeArrowheads="1"/>
          </p:cNvSpPr>
          <p:nvPr/>
        </p:nvSpPr>
        <p:spPr bwMode="auto">
          <a:xfrm>
            <a:off x="752900" y="30060"/>
            <a:ext cx="4762055"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defPPr>
              <a:defRPr lang="en-US"/>
            </a:defPPr>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a:t>概念结构设计的流程</a:t>
            </a:r>
          </a:p>
        </p:txBody>
      </p:sp>
      <p:grpSp>
        <p:nvGrpSpPr>
          <p:cNvPr id="35" name="组合 34">
            <a:extLst>
              <a:ext uri="{FF2B5EF4-FFF2-40B4-BE49-F238E27FC236}">
                <a16:creationId xmlns:a16="http://schemas.microsoft.com/office/drawing/2014/main" id="{798017B6-93A3-4C89-8750-05DB94556EF5}"/>
              </a:ext>
            </a:extLst>
          </p:cNvPr>
          <p:cNvGrpSpPr/>
          <p:nvPr/>
        </p:nvGrpSpPr>
        <p:grpSpPr>
          <a:xfrm>
            <a:off x="839416" y="1124744"/>
            <a:ext cx="10148401" cy="5100885"/>
            <a:chOff x="827584" y="1113061"/>
            <a:chExt cx="7191440" cy="3614629"/>
          </a:xfrm>
        </p:grpSpPr>
        <p:sp>
          <p:nvSpPr>
            <p:cNvPr id="36" name="AutoShape 9">
              <a:extLst>
                <a:ext uri="{FF2B5EF4-FFF2-40B4-BE49-F238E27FC236}">
                  <a16:creationId xmlns:a16="http://schemas.microsoft.com/office/drawing/2014/main" id="{75262069-F2C7-4B2B-B1AB-F3D975F0037E}"/>
                </a:ext>
              </a:extLst>
            </p:cNvPr>
            <p:cNvSpPr>
              <a:spLocks noChangeArrowheads="1"/>
            </p:cNvSpPr>
            <p:nvPr/>
          </p:nvSpPr>
          <p:spPr bwMode="auto">
            <a:xfrm>
              <a:off x="3255846" y="3490402"/>
              <a:ext cx="1638773" cy="852238"/>
            </a:xfrm>
            <a:prstGeom prst="verticalScroll">
              <a:avLst>
                <a:gd name="adj" fmla="val 12500"/>
              </a:avLst>
            </a:prstGeom>
            <a:solidFill>
              <a:srgbClr val="D9F9FF"/>
            </a:solidFill>
            <a:ln w="12700" cap="sq">
              <a:solidFill>
                <a:srgbClr val="000000"/>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000" dirty="0">
                  <a:solidFill>
                    <a:srgbClr val="000000"/>
                  </a:solidFill>
                  <a:effectLst/>
                  <a:latin typeface="微软雅黑" panose="020B0503020204020204" pitchFamily="34" charset="-122"/>
                  <a:ea typeface="微软雅黑" panose="020B0503020204020204" pitchFamily="34" charset="-122"/>
                </a:rPr>
                <a:t>分</a:t>
              </a:r>
              <a:r>
                <a:rPr lang="en-US" altLang="zh-CN" sz="2000" dirty="0">
                  <a:solidFill>
                    <a:srgbClr val="000000"/>
                  </a:solidFill>
                  <a:effectLst/>
                  <a:latin typeface="微软雅黑" panose="020B0503020204020204" pitchFamily="34" charset="-122"/>
                  <a:ea typeface="微软雅黑" panose="020B0503020204020204" pitchFamily="34" charset="-122"/>
                </a:rPr>
                <a:t>E-R</a:t>
              </a:r>
              <a:r>
                <a:rPr lang="zh-CN" altLang="en-US" sz="2000" dirty="0">
                  <a:solidFill>
                    <a:srgbClr val="000000"/>
                  </a:solidFill>
                  <a:effectLst/>
                  <a:latin typeface="微软雅黑" panose="020B0503020204020204" pitchFamily="34" charset="-122"/>
                  <a:ea typeface="微软雅黑" panose="020B0503020204020204" pitchFamily="34" charset="-122"/>
                </a:rPr>
                <a:t>图</a:t>
              </a:r>
            </a:p>
          </p:txBody>
        </p:sp>
        <p:sp>
          <p:nvSpPr>
            <p:cNvPr id="37" name="Oval 4">
              <a:extLst>
                <a:ext uri="{FF2B5EF4-FFF2-40B4-BE49-F238E27FC236}">
                  <a16:creationId xmlns:a16="http://schemas.microsoft.com/office/drawing/2014/main" id="{DB1601D0-BDA3-43CB-9ECA-370C93A7FC64}"/>
                </a:ext>
              </a:extLst>
            </p:cNvPr>
            <p:cNvSpPr>
              <a:spLocks noChangeArrowheads="1"/>
            </p:cNvSpPr>
            <p:nvPr/>
          </p:nvSpPr>
          <p:spPr bwMode="auto">
            <a:xfrm>
              <a:off x="1409285" y="1848052"/>
              <a:ext cx="1929256" cy="1025835"/>
            </a:xfrm>
            <a:prstGeom prst="roundRect">
              <a:avLst/>
            </a:prstGeom>
            <a:solidFill>
              <a:srgbClr val="CCFFCC"/>
            </a:solidFill>
            <a:ln w="38100" cap="sq">
              <a:solidFill>
                <a:schemeClr val="tx1"/>
              </a:solidFill>
              <a:round/>
              <a:headEnd/>
              <a:tailEnd/>
            </a:ln>
            <a:effectLst>
              <a:outerShdw dist="35921" dir="2700000" algn="ctr" rotWithShape="0">
                <a:schemeClr val="bg2"/>
              </a:outerShdw>
            </a:effectLst>
          </p:spPr>
          <p:txBody>
            <a:bodyPr lIns="0" tIns="0" rIns="0" bIns="0" anchor="ctr" anchorCtr="1"/>
            <a:lstStyle/>
            <a:p>
              <a:pPr algn="just">
                <a:spcAft>
                  <a:spcPts val="600"/>
                </a:spcAft>
                <a:buSzTx/>
                <a:tabLst>
                  <a:tab pos="292100" algn="l"/>
                  <a:tab pos="485775" algn="l"/>
                </a:tabLst>
                <a:defRPr/>
              </a:pPr>
              <a:r>
                <a:rPr lang="zh-CN" altLang="en-US" sz="2400" dirty="0">
                  <a:solidFill>
                    <a:srgbClr val="000000"/>
                  </a:solidFill>
                  <a:effectLst/>
                  <a:latin typeface="微软雅黑" panose="020B0503020204020204" pitchFamily="34" charset="-122"/>
                  <a:ea typeface="微软雅黑" panose="020B0503020204020204" pitchFamily="34" charset="-122"/>
                </a:rPr>
                <a:t>抽象数据</a:t>
              </a:r>
              <a:endParaRPr lang="en-US" altLang="zh-CN" sz="2400" dirty="0">
                <a:solidFill>
                  <a:srgbClr val="000000"/>
                </a:solidFill>
                <a:effectLst/>
                <a:latin typeface="微软雅黑" panose="020B0503020204020204" pitchFamily="34" charset="-122"/>
                <a:ea typeface="微软雅黑" panose="020B0503020204020204" pitchFamily="34" charset="-122"/>
              </a:endParaRPr>
            </a:p>
            <a:p>
              <a:pPr algn="just">
                <a:spcAft>
                  <a:spcPts val="600"/>
                </a:spcAft>
                <a:buSzTx/>
                <a:tabLst>
                  <a:tab pos="292100" algn="l"/>
                  <a:tab pos="485775" algn="l"/>
                </a:tabLst>
                <a:defRPr/>
              </a:pPr>
              <a:r>
                <a:rPr lang="zh-CN" altLang="en-US" sz="2400" dirty="0">
                  <a:solidFill>
                    <a:srgbClr val="000000"/>
                  </a:solidFill>
                  <a:effectLst/>
                  <a:latin typeface="微软雅黑" panose="020B0503020204020204" pitchFamily="34" charset="-122"/>
                  <a:ea typeface="微软雅黑" panose="020B0503020204020204" pitchFamily="34" charset="-122"/>
                </a:rPr>
                <a:t>设计局部</a:t>
              </a:r>
              <a:r>
                <a:rPr lang="en-US" altLang="zh-CN" sz="2400" dirty="0">
                  <a:solidFill>
                    <a:srgbClr val="000000"/>
                  </a:solidFill>
                  <a:effectLst/>
                  <a:latin typeface="微软雅黑" panose="020B0503020204020204" pitchFamily="34" charset="-122"/>
                  <a:ea typeface="微软雅黑" panose="020B0503020204020204" pitchFamily="34" charset="-122"/>
                </a:rPr>
                <a:t>ER</a:t>
              </a:r>
              <a:r>
                <a:rPr lang="zh-CN" altLang="en-US" sz="2400" dirty="0">
                  <a:solidFill>
                    <a:srgbClr val="000000"/>
                  </a:solidFill>
                  <a:effectLst/>
                  <a:latin typeface="微软雅黑" panose="020B0503020204020204" pitchFamily="34" charset="-122"/>
                  <a:ea typeface="微软雅黑" panose="020B0503020204020204" pitchFamily="34" charset="-122"/>
                </a:rPr>
                <a:t>图</a:t>
              </a:r>
            </a:p>
          </p:txBody>
        </p:sp>
        <p:sp>
          <p:nvSpPr>
            <p:cNvPr id="38" name="Oval 5">
              <a:extLst>
                <a:ext uri="{FF2B5EF4-FFF2-40B4-BE49-F238E27FC236}">
                  <a16:creationId xmlns:a16="http://schemas.microsoft.com/office/drawing/2014/main" id="{AA0DB82F-A9F5-4929-9661-41ABF24D8087}"/>
                </a:ext>
              </a:extLst>
            </p:cNvPr>
            <p:cNvSpPr>
              <a:spLocks noChangeArrowheads="1"/>
            </p:cNvSpPr>
            <p:nvPr/>
          </p:nvSpPr>
          <p:spPr bwMode="auto">
            <a:xfrm>
              <a:off x="4587184" y="1848052"/>
              <a:ext cx="2694818" cy="1025835"/>
            </a:xfrm>
            <a:prstGeom prst="roundRect">
              <a:avLst/>
            </a:prstGeom>
            <a:solidFill>
              <a:srgbClr val="CCFFCC"/>
            </a:solidFill>
            <a:ln w="38100" cap="sq">
              <a:solidFill>
                <a:schemeClr val="tx1"/>
              </a:solidFill>
              <a:round/>
              <a:headEnd/>
              <a:tailEnd/>
            </a:ln>
            <a:effectLst>
              <a:outerShdw dist="35921" dir="2700000" algn="ctr" rotWithShape="0">
                <a:schemeClr val="bg2"/>
              </a:outerShdw>
            </a:effectLst>
          </p:spPr>
          <p:txBody>
            <a:bodyPr lIns="0" tIns="0" rIns="0" bIns="0" anchor="ctr" anchorCtr="1"/>
            <a:lstStyle/>
            <a:p>
              <a:pPr algn="ctr">
                <a:spcAft>
                  <a:spcPts val="600"/>
                </a:spcAft>
                <a:tabLst>
                  <a:tab pos="292100" algn="l"/>
                  <a:tab pos="485775" algn="l"/>
                </a:tabLst>
                <a:defRPr/>
              </a:pPr>
              <a:r>
                <a:rPr lang="zh-CN" altLang="en-US" sz="2400" dirty="0">
                  <a:solidFill>
                    <a:srgbClr val="000000"/>
                  </a:solidFill>
                  <a:effectLst/>
                  <a:latin typeface="微软雅黑" panose="020B0503020204020204" pitchFamily="34" charset="-122"/>
                  <a:ea typeface="微软雅黑" panose="020B0503020204020204" pitchFamily="34" charset="-122"/>
                </a:rPr>
                <a:t>集成</a:t>
              </a:r>
              <a:r>
                <a:rPr lang="en-US" altLang="zh-CN" sz="2400" dirty="0">
                  <a:solidFill>
                    <a:srgbClr val="000000"/>
                  </a:solidFill>
                  <a:effectLst/>
                  <a:latin typeface="微软雅黑" panose="020B0503020204020204" pitchFamily="34" charset="-122"/>
                  <a:ea typeface="微软雅黑" panose="020B0503020204020204" pitchFamily="34" charset="-122"/>
                </a:rPr>
                <a:t>ER</a:t>
              </a:r>
              <a:r>
                <a:rPr lang="zh-CN" altLang="en-US" sz="2400" dirty="0">
                  <a:solidFill>
                    <a:srgbClr val="000000"/>
                  </a:solidFill>
                  <a:effectLst/>
                  <a:latin typeface="微软雅黑" panose="020B0503020204020204" pitchFamily="34" charset="-122"/>
                  <a:ea typeface="微软雅黑" panose="020B0503020204020204" pitchFamily="34" charset="-122"/>
                </a:rPr>
                <a:t>图（消除冲突）</a:t>
              </a:r>
              <a:endParaRPr lang="en-US" altLang="zh-CN" sz="2400" dirty="0">
                <a:solidFill>
                  <a:srgbClr val="000000"/>
                </a:solidFill>
                <a:effectLst/>
                <a:latin typeface="微软雅黑" panose="020B0503020204020204" pitchFamily="34" charset="-122"/>
                <a:ea typeface="微软雅黑" panose="020B0503020204020204" pitchFamily="34" charset="-122"/>
              </a:endParaRPr>
            </a:p>
            <a:p>
              <a:pPr algn="ctr">
                <a:spcAft>
                  <a:spcPts val="600"/>
                </a:spcAft>
                <a:tabLst>
                  <a:tab pos="292100" algn="l"/>
                  <a:tab pos="485775" algn="l"/>
                </a:tabLst>
                <a:defRPr/>
              </a:pPr>
              <a:r>
                <a:rPr lang="zh-CN" altLang="en-US" sz="2400" dirty="0">
                  <a:solidFill>
                    <a:srgbClr val="000000"/>
                  </a:solidFill>
                  <a:effectLst/>
                  <a:latin typeface="微软雅黑" panose="020B0503020204020204" pitchFamily="34" charset="-122"/>
                  <a:ea typeface="微软雅黑" panose="020B0503020204020204" pitchFamily="34" charset="-122"/>
                </a:rPr>
                <a:t>修改与重构（消除冗余）</a:t>
              </a:r>
              <a:endParaRPr lang="en-US" altLang="zh-CN" sz="2400" dirty="0">
                <a:solidFill>
                  <a:srgbClr val="000000"/>
                </a:solidFill>
                <a:effectLst/>
                <a:latin typeface="微软雅黑" panose="020B0503020204020204" pitchFamily="34" charset="-122"/>
                <a:ea typeface="微软雅黑" panose="020B0503020204020204" pitchFamily="34" charset="-122"/>
              </a:endParaRPr>
            </a:p>
          </p:txBody>
        </p:sp>
        <p:cxnSp>
          <p:nvCxnSpPr>
            <p:cNvPr id="39" name="AutoShape 6">
              <a:extLst>
                <a:ext uri="{FF2B5EF4-FFF2-40B4-BE49-F238E27FC236}">
                  <a16:creationId xmlns:a16="http://schemas.microsoft.com/office/drawing/2014/main" id="{F8FCF993-3B6B-4D66-910F-4141E61515DE}"/>
                </a:ext>
              </a:extLst>
            </p:cNvPr>
            <p:cNvCxnSpPr>
              <a:cxnSpLocks noChangeShapeType="1"/>
              <a:stCxn id="37" idx="3"/>
              <a:endCxn id="38" idx="1"/>
            </p:cNvCxnSpPr>
            <p:nvPr/>
          </p:nvCxnSpPr>
          <p:spPr bwMode="auto">
            <a:xfrm>
              <a:off x="3338541" y="2360970"/>
              <a:ext cx="1248643" cy="0"/>
            </a:xfrm>
            <a:prstGeom prst="straightConnector1">
              <a:avLst/>
            </a:prstGeom>
            <a:noFill/>
            <a:ln w="5715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0" name="AutoShape 8">
              <a:extLst>
                <a:ext uri="{FF2B5EF4-FFF2-40B4-BE49-F238E27FC236}">
                  <a16:creationId xmlns:a16="http://schemas.microsoft.com/office/drawing/2014/main" id="{DBE00549-7673-43FC-ACDE-79458E450793}"/>
                </a:ext>
              </a:extLst>
            </p:cNvPr>
            <p:cNvSpPr>
              <a:spLocks noChangeArrowheads="1"/>
            </p:cNvSpPr>
            <p:nvPr/>
          </p:nvSpPr>
          <p:spPr bwMode="auto">
            <a:xfrm>
              <a:off x="827584" y="3518771"/>
              <a:ext cx="1326626" cy="852238"/>
            </a:xfrm>
            <a:prstGeom prst="verticalScroll">
              <a:avLst>
                <a:gd name="adj" fmla="val 12500"/>
              </a:avLst>
            </a:prstGeom>
            <a:solidFill>
              <a:srgbClr val="D9F9FF"/>
            </a:solidFill>
            <a:ln w="12700" cap="sq">
              <a:solidFill>
                <a:srgbClr val="000000"/>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en-US" altLang="zh-CN" sz="2400">
                  <a:solidFill>
                    <a:srgbClr val="000000"/>
                  </a:solidFill>
                  <a:effectLst/>
                  <a:latin typeface="微软雅黑" panose="020B0503020204020204" pitchFamily="34" charset="-122"/>
                  <a:ea typeface="微软雅黑" panose="020B0503020204020204" pitchFamily="34" charset="-122"/>
                </a:rPr>
                <a:t>DFD</a:t>
              </a:r>
            </a:p>
            <a:p>
              <a:pPr algn="ctr">
                <a:spcAft>
                  <a:spcPct val="0"/>
                </a:spcAft>
                <a:buSzTx/>
                <a:buFontTx/>
                <a:buNone/>
                <a:defRPr/>
              </a:pPr>
              <a:r>
                <a:rPr lang="en-US" altLang="zh-CN" sz="2400">
                  <a:solidFill>
                    <a:srgbClr val="000000"/>
                  </a:solidFill>
                  <a:effectLst/>
                  <a:latin typeface="微软雅黑" panose="020B0503020204020204" pitchFamily="34" charset="-122"/>
                  <a:ea typeface="微软雅黑" panose="020B0503020204020204" pitchFamily="34" charset="-122"/>
                </a:rPr>
                <a:t>DD</a:t>
              </a:r>
            </a:p>
          </p:txBody>
        </p:sp>
        <p:sp>
          <p:nvSpPr>
            <p:cNvPr id="41" name="AutoShape 9">
              <a:extLst>
                <a:ext uri="{FF2B5EF4-FFF2-40B4-BE49-F238E27FC236}">
                  <a16:creationId xmlns:a16="http://schemas.microsoft.com/office/drawing/2014/main" id="{64B91906-5FF5-4F1C-8184-FFA915B5E6B5}"/>
                </a:ext>
              </a:extLst>
            </p:cNvPr>
            <p:cNvSpPr>
              <a:spLocks noChangeArrowheads="1"/>
            </p:cNvSpPr>
            <p:nvPr/>
          </p:nvSpPr>
          <p:spPr bwMode="auto">
            <a:xfrm>
              <a:off x="3370135" y="3598595"/>
              <a:ext cx="1638773" cy="852238"/>
            </a:xfrm>
            <a:prstGeom prst="verticalScroll">
              <a:avLst>
                <a:gd name="adj" fmla="val 12500"/>
              </a:avLst>
            </a:prstGeom>
            <a:solidFill>
              <a:srgbClr val="D9F9FF"/>
            </a:solidFill>
            <a:ln w="12700" cap="sq">
              <a:solidFill>
                <a:srgbClr val="000000"/>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000">
                  <a:solidFill>
                    <a:srgbClr val="000000"/>
                  </a:solidFill>
                  <a:effectLst/>
                  <a:latin typeface="微软雅黑" panose="020B0503020204020204" pitchFamily="34" charset="-122"/>
                  <a:ea typeface="微软雅黑" panose="020B0503020204020204" pitchFamily="34" charset="-122"/>
                </a:rPr>
                <a:t>分</a:t>
              </a:r>
              <a:r>
                <a:rPr lang="en-US" altLang="zh-CN" sz="2000">
                  <a:solidFill>
                    <a:srgbClr val="000000"/>
                  </a:solidFill>
                  <a:effectLst/>
                  <a:latin typeface="微软雅黑" panose="020B0503020204020204" pitchFamily="34" charset="-122"/>
                  <a:ea typeface="微软雅黑" panose="020B0503020204020204" pitchFamily="34" charset="-122"/>
                </a:rPr>
                <a:t>E-R</a:t>
              </a:r>
              <a:r>
                <a:rPr lang="zh-CN" altLang="en-US" sz="2000">
                  <a:solidFill>
                    <a:srgbClr val="000000"/>
                  </a:solidFill>
                  <a:effectLst/>
                  <a:latin typeface="微软雅黑" panose="020B0503020204020204" pitchFamily="34" charset="-122"/>
                  <a:ea typeface="微软雅黑" panose="020B0503020204020204" pitchFamily="34" charset="-122"/>
                </a:rPr>
                <a:t>图</a:t>
              </a:r>
            </a:p>
          </p:txBody>
        </p:sp>
        <p:sp>
          <p:nvSpPr>
            <p:cNvPr id="42" name="AutoShape 10">
              <a:extLst>
                <a:ext uri="{FF2B5EF4-FFF2-40B4-BE49-F238E27FC236}">
                  <a16:creationId xmlns:a16="http://schemas.microsoft.com/office/drawing/2014/main" id="{3FD01968-4241-4FF8-801F-FEC0DAB5F9EE}"/>
                </a:ext>
              </a:extLst>
            </p:cNvPr>
            <p:cNvSpPr>
              <a:spLocks noChangeArrowheads="1"/>
            </p:cNvSpPr>
            <p:nvPr/>
          </p:nvSpPr>
          <p:spPr bwMode="auto">
            <a:xfrm>
              <a:off x="6380251" y="3519686"/>
              <a:ext cx="1638773" cy="1208004"/>
            </a:xfrm>
            <a:prstGeom prst="verticalScroll">
              <a:avLst>
                <a:gd name="adj" fmla="val 12500"/>
              </a:avLst>
            </a:prstGeom>
            <a:solidFill>
              <a:srgbClr val="D9F9FF"/>
            </a:solidFill>
            <a:ln w="12700" cap="sq">
              <a:solidFill>
                <a:srgbClr val="000000"/>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dirty="0">
                  <a:solidFill>
                    <a:srgbClr val="000000"/>
                  </a:solidFill>
                  <a:effectLst/>
                  <a:latin typeface="微软雅黑" panose="020B0503020204020204" pitchFamily="34" charset="-122"/>
                  <a:ea typeface="微软雅黑" panose="020B0503020204020204" pitchFamily="34" charset="-122"/>
                </a:rPr>
                <a:t>总</a:t>
              </a:r>
              <a:r>
                <a:rPr lang="en-US" altLang="zh-CN" sz="2400" dirty="0">
                  <a:solidFill>
                    <a:srgbClr val="000000"/>
                  </a:solidFill>
                  <a:effectLst/>
                  <a:latin typeface="微软雅黑" panose="020B0503020204020204" pitchFamily="34" charset="-122"/>
                  <a:ea typeface="微软雅黑" panose="020B0503020204020204" pitchFamily="34" charset="-122"/>
                </a:rPr>
                <a:t>ER</a:t>
              </a:r>
              <a:r>
                <a:rPr lang="zh-CN" altLang="en-US" sz="2400" dirty="0">
                  <a:solidFill>
                    <a:srgbClr val="000000"/>
                  </a:solidFill>
                  <a:effectLst/>
                  <a:latin typeface="微软雅黑" panose="020B0503020204020204" pitchFamily="34" charset="-122"/>
                  <a:ea typeface="微软雅黑" panose="020B0503020204020204" pitchFamily="34" charset="-122"/>
                </a:rPr>
                <a:t>图</a:t>
              </a:r>
            </a:p>
          </p:txBody>
        </p:sp>
        <p:sp>
          <p:nvSpPr>
            <p:cNvPr id="43" name="AutoShape 11">
              <a:extLst>
                <a:ext uri="{FF2B5EF4-FFF2-40B4-BE49-F238E27FC236}">
                  <a16:creationId xmlns:a16="http://schemas.microsoft.com/office/drawing/2014/main" id="{7ED0C83A-5A89-4752-8242-38D2377EA934}"/>
                </a:ext>
              </a:extLst>
            </p:cNvPr>
            <p:cNvSpPr>
              <a:spLocks noChangeArrowheads="1"/>
            </p:cNvSpPr>
            <p:nvPr/>
          </p:nvSpPr>
          <p:spPr bwMode="auto">
            <a:xfrm rot="2700000">
              <a:off x="1660198" y="2893261"/>
              <a:ext cx="155516" cy="606134"/>
            </a:xfrm>
            <a:prstGeom prst="upArrow">
              <a:avLst>
                <a:gd name="adj1" fmla="val 50000"/>
                <a:gd name="adj2" fmla="val 91667"/>
              </a:avLst>
            </a:prstGeom>
            <a:solidFill>
              <a:srgbClr val="CCFFCC"/>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sz="1400">
                <a:effectLst/>
                <a:latin typeface="微软雅黑" panose="020B0503020204020204" pitchFamily="34" charset="-122"/>
                <a:ea typeface="微软雅黑" panose="020B0503020204020204" pitchFamily="34" charset="-122"/>
              </a:endParaRPr>
            </a:p>
          </p:txBody>
        </p:sp>
        <p:sp>
          <p:nvSpPr>
            <p:cNvPr id="44" name="AutoShape 12">
              <a:extLst>
                <a:ext uri="{FF2B5EF4-FFF2-40B4-BE49-F238E27FC236}">
                  <a16:creationId xmlns:a16="http://schemas.microsoft.com/office/drawing/2014/main" id="{E81E2C45-58A0-48BA-954E-F853AEBB6FEA}"/>
                </a:ext>
              </a:extLst>
            </p:cNvPr>
            <p:cNvSpPr>
              <a:spLocks noChangeArrowheads="1"/>
            </p:cNvSpPr>
            <p:nvPr/>
          </p:nvSpPr>
          <p:spPr bwMode="auto">
            <a:xfrm rot="8100000">
              <a:off x="3006082" y="2893261"/>
              <a:ext cx="161636" cy="606134"/>
            </a:xfrm>
            <a:prstGeom prst="upArrow">
              <a:avLst>
                <a:gd name="adj1" fmla="val 50000"/>
                <a:gd name="adj2" fmla="val 91667"/>
              </a:avLst>
            </a:prstGeom>
            <a:solidFill>
              <a:srgbClr val="CCFFCC"/>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sz="1400">
                <a:effectLst/>
                <a:latin typeface="微软雅黑" panose="020B0503020204020204" pitchFamily="34" charset="-122"/>
                <a:ea typeface="微软雅黑" panose="020B0503020204020204" pitchFamily="34" charset="-122"/>
              </a:endParaRPr>
            </a:p>
          </p:txBody>
        </p:sp>
        <p:sp>
          <p:nvSpPr>
            <p:cNvPr id="45" name="AutoShape 13">
              <a:extLst>
                <a:ext uri="{FF2B5EF4-FFF2-40B4-BE49-F238E27FC236}">
                  <a16:creationId xmlns:a16="http://schemas.microsoft.com/office/drawing/2014/main" id="{3EB6BF7A-A9DB-4984-BDB2-553FDD5CA055}"/>
                </a:ext>
              </a:extLst>
            </p:cNvPr>
            <p:cNvSpPr>
              <a:spLocks noChangeArrowheads="1"/>
            </p:cNvSpPr>
            <p:nvPr/>
          </p:nvSpPr>
          <p:spPr bwMode="auto">
            <a:xfrm rot="2700000">
              <a:off x="4914549" y="2917259"/>
              <a:ext cx="159795" cy="606134"/>
            </a:xfrm>
            <a:prstGeom prst="upArrow">
              <a:avLst>
                <a:gd name="adj1" fmla="val 50000"/>
                <a:gd name="adj2" fmla="val 91667"/>
              </a:avLst>
            </a:prstGeom>
            <a:solidFill>
              <a:srgbClr val="CCFFCC"/>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sz="1400">
                <a:effectLst/>
                <a:latin typeface="微软雅黑" panose="020B0503020204020204" pitchFamily="34" charset="-122"/>
                <a:ea typeface="微软雅黑" panose="020B0503020204020204" pitchFamily="34" charset="-122"/>
              </a:endParaRPr>
            </a:p>
          </p:txBody>
        </p:sp>
        <p:sp>
          <p:nvSpPr>
            <p:cNvPr id="46" name="AutoShape 14">
              <a:extLst>
                <a:ext uri="{FF2B5EF4-FFF2-40B4-BE49-F238E27FC236}">
                  <a16:creationId xmlns:a16="http://schemas.microsoft.com/office/drawing/2014/main" id="{7C0F8704-B0BE-404C-9CE4-8608C6DE84C1}"/>
                </a:ext>
              </a:extLst>
            </p:cNvPr>
            <p:cNvSpPr>
              <a:spLocks noChangeArrowheads="1"/>
            </p:cNvSpPr>
            <p:nvPr/>
          </p:nvSpPr>
          <p:spPr bwMode="auto">
            <a:xfrm rot="8100000">
              <a:off x="6802654" y="2916608"/>
              <a:ext cx="161636" cy="606134"/>
            </a:xfrm>
            <a:prstGeom prst="upArrow">
              <a:avLst>
                <a:gd name="adj1" fmla="val 50000"/>
                <a:gd name="adj2" fmla="val 91667"/>
              </a:avLst>
            </a:prstGeom>
            <a:solidFill>
              <a:srgbClr val="CCFFCC"/>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sz="1400">
                <a:effectLst/>
                <a:latin typeface="微软雅黑" panose="020B0503020204020204" pitchFamily="34" charset="-122"/>
                <a:ea typeface="微软雅黑" panose="020B0503020204020204" pitchFamily="34" charset="-122"/>
              </a:endParaRPr>
            </a:p>
          </p:txBody>
        </p:sp>
        <p:sp>
          <p:nvSpPr>
            <p:cNvPr id="47" name="AutoShape 9">
              <a:extLst>
                <a:ext uri="{FF2B5EF4-FFF2-40B4-BE49-F238E27FC236}">
                  <a16:creationId xmlns:a16="http://schemas.microsoft.com/office/drawing/2014/main" id="{09F59618-582D-4823-B587-41B82DEB290B}"/>
                </a:ext>
              </a:extLst>
            </p:cNvPr>
            <p:cNvSpPr>
              <a:spLocks noChangeArrowheads="1"/>
            </p:cNvSpPr>
            <p:nvPr/>
          </p:nvSpPr>
          <p:spPr bwMode="auto">
            <a:xfrm>
              <a:off x="3577216" y="3801151"/>
              <a:ext cx="1638773" cy="852238"/>
            </a:xfrm>
            <a:prstGeom prst="verticalScroll">
              <a:avLst>
                <a:gd name="adj" fmla="val 12500"/>
              </a:avLst>
            </a:prstGeom>
            <a:solidFill>
              <a:srgbClr val="D9F9FF"/>
            </a:solidFill>
            <a:ln w="12700" cap="sq">
              <a:solidFill>
                <a:srgbClr val="000000"/>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dirty="0">
                  <a:solidFill>
                    <a:srgbClr val="000000"/>
                  </a:solidFill>
                  <a:effectLst/>
                  <a:latin typeface="微软雅黑" panose="020B0503020204020204" pitchFamily="34" charset="-122"/>
                  <a:ea typeface="微软雅黑" panose="020B0503020204020204" pitchFamily="34" charset="-122"/>
                </a:rPr>
                <a:t>局部</a:t>
              </a:r>
              <a:r>
                <a:rPr lang="en-US" altLang="zh-CN" sz="2400" dirty="0">
                  <a:solidFill>
                    <a:srgbClr val="000000"/>
                  </a:solidFill>
                  <a:effectLst/>
                  <a:latin typeface="微软雅黑" panose="020B0503020204020204" pitchFamily="34" charset="-122"/>
                  <a:ea typeface="微软雅黑" panose="020B0503020204020204" pitchFamily="34" charset="-122"/>
                </a:rPr>
                <a:t>ER</a:t>
              </a:r>
              <a:r>
                <a:rPr lang="zh-CN" altLang="en-US" sz="2400" dirty="0">
                  <a:solidFill>
                    <a:srgbClr val="000000"/>
                  </a:solidFill>
                  <a:effectLst/>
                  <a:latin typeface="微软雅黑" panose="020B0503020204020204" pitchFamily="34" charset="-122"/>
                  <a:ea typeface="微软雅黑" panose="020B0503020204020204" pitchFamily="34" charset="-122"/>
                </a:rPr>
                <a:t>图</a:t>
              </a:r>
            </a:p>
          </p:txBody>
        </p:sp>
        <p:sp>
          <p:nvSpPr>
            <p:cNvPr id="48" name="AutoShape 10">
              <a:extLst>
                <a:ext uri="{FF2B5EF4-FFF2-40B4-BE49-F238E27FC236}">
                  <a16:creationId xmlns:a16="http://schemas.microsoft.com/office/drawing/2014/main" id="{276FDBE3-95EA-4CC9-B766-B5DB2ED40E3D}"/>
                </a:ext>
              </a:extLst>
            </p:cNvPr>
            <p:cNvSpPr>
              <a:spLocks noChangeArrowheads="1"/>
            </p:cNvSpPr>
            <p:nvPr/>
          </p:nvSpPr>
          <p:spPr bwMode="auto">
            <a:xfrm>
              <a:off x="4712166" y="1113061"/>
              <a:ext cx="1007646" cy="552363"/>
            </a:xfrm>
            <a:prstGeom prst="star16">
              <a:avLst>
                <a:gd name="adj" fmla="val 43505"/>
              </a:avLst>
            </a:prstGeom>
            <a:solidFill>
              <a:srgbClr val="FFC000"/>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dirty="0">
                  <a:solidFill>
                    <a:srgbClr val="000000"/>
                  </a:solidFill>
                  <a:effectLst/>
                  <a:latin typeface="微软雅黑" panose="020B0503020204020204" pitchFamily="34" charset="-122"/>
                  <a:ea typeface="微软雅黑" panose="020B0503020204020204" pitchFamily="34" charset="-122"/>
                </a:rPr>
                <a:t>分析</a:t>
              </a:r>
            </a:p>
          </p:txBody>
        </p:sp>
        <p:sp>
          <p:nvSpPr>
            <p:cNvPr id="49" name="AutoShape 11">
              <a:extLst>
                <a:ext uri="{FF2B5EF4-FFF2-40B4-BE49-F238E27FC236}">
                  <a16:creationId xmlns:a16="http://schemas.microsoft.com/office/drawing/2014/main" id="{CFF8FE81-5FF6-4846-AB73-4DFB18772AF4}"/>
                </a:ext>
              </a:extLst>
            </p:cNvPr>
            <p:cNvSpPr>
              <a:spLocks noChangeArrowheads="1"/>
            </p:cNvSpPr>
            <p:nvPr/>
          </p:nvSpPr>
          <p:spPr bwMode="auto">
            <a:xfrm>
              <a:off x="6001003" y="1123022"/>
              <a:ext cx="1764938" cy="552363"/>
            </a:xfrm>
            <a:prstGeom prst="star16">
              <a:avLst>
                <a:gd name="adj" fmla="val 43505"/>
              </a:avLst>
            </a:prstGeom>
            <a:solidFill>
              <a:srgbClr val="FFC000"/>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dirty="0">
                  <a:solidFill>
                    <a:srgbClr val="000000"/>
                  </a:solidFill>
                  <a:effectLst/>
                  <a:latin typeface="微软雅黑" panose="020B0503020204020204" pitchFamily="34" charset="-122"/>
                  <a:ea typeface="微软雅黑" panose="020B0503020204020204" pitchFamily="34" charset="-122"/>
                </a:rPr>
                <a:t>规范化理论</a:t>
              </a:r>
            </a:p>
          </p:txBody>
        </p:sp>
        <p:cxnSp>
          <p:nvCxnSpPr>
            <p:cNvPr id="50" name="AutoShape 54">
              <a:extLst>
                <a:ext uri="{FF2B5EF4-FFF2-40B4-BE49-F238E27FC236}">
                  <a16:creationId xmlns:a16="http://schemas.microsoft.com/office/drawing/2014/main" id="{81B9AB91-3974-42DD-BA63-986A1AE26376}"/>
                </a:ext>
              </a:extLst>
            </p:cNvPr>
            <p:cNvCxnSpPr>
              <a:cxnSpLocks noChangeShapeType="1"/>
              <a:stCxn id="48" idx="6"/>
            </p:cNvCxnSpPr>
            <p:nvPr/>
          </p:nvCxnSpPr>
          <p:spPr bwMode="auto">
            <a:xfrm>
              <a:off x="5215989" y="1665424"/>
              <a:ext cx="193805" cy="182628"/>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51" name="AutoShape 54">
              <a:extLst>
                <a:ext uri="{FF2B5EF4-FFF2-40B4-BE49-F238E27FC236}">
                  <a16:creationId xmlns:a16="http://schemas.microsoft.com/office/drawing/2014/main" id="{8234375A-B087-4D1A-83D4-429ABA0BAC9B}"/>
                </a:ext>
              </a:extLst>
            </p:cNvPr>
            <p:cNvCxnSpPr>
              <a:cxnSpLocks noChangeShapeType="1"/>
              <a:stCxn id="49" idx="6"/>
            </p:cNvCxnSpPr>
            <p:nvPr/>
          </p:nvCxnSpPr>
          <p:spPr bwMode="auto">
            <a:xfrm flipH="1">
              <a:off x="6658437" y="1675385"/>
              <a:ext cx="225035" cy="170863"/>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3328608564"/>
      </p:ext>
    </p:extLst>
  </p:cSld>
  <p:clrMapOvr>
    <a:masterClrMapping/>
  </p:clrMapOvr>
  <p:transition spd="med">
    <p:random/>
    <p:sndAc>
      <p:stSnd>
        <p:snd r:embed="rId2" name="arrow.wav"/>
      </p:stSnd>
    </p:sndAc>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Box 2">
            <a:extLst>
              <a:ext uri="{FF2B5EF4-FFF2-40B4-BE49-F238E27FC236}">
                <a16:creationId xmlns:a16="http://schemas.microsoft.com/office/drawing/2014/main" id="{497D6F86-4142-4F9A-8A91-AC44BB7E6750}"/>
              </a:ext>
            </a:extLst>
          </p:cNvPr>
          <p:cNvSpPr txBox="1">
            <a:spLocks noChangeArrowheads="1"/>
          </p:cNvSpPr>
          <p:nvPr/>
        </p:nvSpPr>
        <p:spPr bwMode="auto">
          <a:xfrm>
            <a:off x="752900" y="30060"/>
            <a:ext cx="4762055"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defPPr>
              <a:defRPr lang="en-US"/>
            </a:defPPr>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a:t>概念结构设计的流程</a:t>
            </a:r>
          </a:p>
        </p:txBody>
      </p:sp>
      <p:sp>
        <p:nvSpPr>
          <p:cNvPr id="20" name="Rectangle 3">
            <a:extLst>
              <a:ext uri="{FF2B5EF4-FFF2-40B4-BE49-F238E27FC236}">
                <a16:creationId xmlns:a16="http://schemas.microsoft.com/office/drawing/2014/main" id="{602A4622-3137-4C18-88BC-C9CCFD4D5A35}"/>
              </a:ext>
            </a:extLst>
          </p:cNvPr>
          <p:cNvSpPr>
            <a:spLocks noGrp="1" noChangeArrowheads="1"/>
          </p:cNvSpPr>
          <p:nvPr>
            <p:ph type="title"/>
          </p:nvPr>
        </p:nvSpPr>
        <p:spPr>
          <a:xfrm>
            <a:off x="752900" y="959216"/>
            <a:ext cx="8964612" cy="584775"/>
          </a:xfrm>
        </p:spPr>
        <p:txBody>
          <a:bodyPr wrap="square"/>
          <a:lstStyle/>
          <a:p>
            <a:pPr eaLnBrk="1" hangingPunct="1">
              <a:buFont typeface="Wingdings" pitchFamily="2" charset="2"/>
              <a:buNone/>
            </a:pPr>
            <a:r>
              <a:rPr lang="zh-CN" altLang="en-US" dirty="0"/>
              <a:t>设计步骤</a:t>
            </a:r>
            <a:r>
              <a:rPr lang="en-US" altLang="zh-CN" dirty="0"/>
              <a:t>1</a:t>
            </a:r>
            <a:r>
              <a:rPr lang="zh-CN" altLang="en-US" dirty="0"/>
              <a:t>：选择局部应用，逐一设计分</a:t>
            </a:r>
            <a:r>
              <a:rPr lang="en-US" altLang="zh-CN" dirty="0"/>
              <a:t>E-R</a:t>
            </a:r>
            <a:r>
              <a:rPr lang="zh-CN" altLang="en-US" dirty="0"/>
              <a:t>图</a:t>
            </a:r>
            <a:endParaRPr lang="en-US" altLang="zh-CN" dirty="0"/>
          </a:p>
        </p:txBody>
      </p:sp>
      <p:sp>
        <p:nvSpPr>
          <p:cNvPr id="21" name="Line 4">
            <a:extLst>
              <a:ext uri="{FF2B5EF4-FFF2-40B4-BE49-F238E27FC236}">
                <a16:creationId xmlns:a16="http://schemas.microsoft.com/office/drawing/2014/main" id="{725CEFD9-11C5-4437-9219-AE92E5191484}"/>
              </a:ext>
            </a:extLst>
          </p:cNvPr>
          <p:cNvSpPr>
            <a:spLocks noChangeShapeType="1"/>
          </p:cNvSpPr>
          <p:nvPr/>
        </p:nvSpPr>
        <p:spPr bwMode="auto">
          <a:xfrm flipV="1">
            <a:off x="3966755" y="2354411"/>
            <a:ext cx="0" cy="609600"/>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a:p>
        </p:txBody>
      </p:sp>
      <p:sp>
        <p:nvSpPr>
          <p:cNvPr id="22" name="Oval 5">
            <a:extLst>
              <a:ext uri="{FF2B5EF4-FFF2-40B4-BE49-F238E27FC236}">
                <a16:creationId xmlns:a16="http://schemas.microsoft.com/office/drawing/2014/main" id="{B04BBFCA-8B13-4AF8-9166-155CF3E32F54}"/>
              </a:ext>
            </a:extLst>
          </p:cNvPr>
          <p:cNvSpPr>
            <a:spLocks noChangeArrowheads="1"/>
          </p:cNvSpPr>
          <p:nvPr/>
        </p:nvSpPr>
        <p:spPr bwMode="auto">
          <a:xfrm>
            <a:off x="3585755" y="2906861"/>
            <a:ext cx="838200" cy="838200"/>
          </a:xfrm>
          <a:prstGeom prst="ellipse">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Aft>
                <a:spcPct val="0"/>
              </a:spcAft>
              <a:buSzTx/>
              <a:buFontTx/>
              <a:buNone/>
            </a:pPr>
            <a:r>
              <a:rPr lang="zh-CN" altLang="en-US" sz="2400">
                <a:effectLst/>
                <a:latin typeface="Times New Roman" pitchFamily="18" charset="0"/>
              </a:rPr>
              <a:t>入学</a:t>
            </a:r>
          </a:p>
        </p:txBody>
      </p:sp>
      <p:sp>
        <p:nvSpPr>
          <p:cNvPr id="23" name="Line 6">
            <a:extLst>
              <a:ext uri="{FF2B5EF4-FFF2-40B4-BE49-F238E27FC236}">
                <a16:creationId xmlns:a16="http://schemas.microsoft.com/office/drawing/2014/main" id="{52A6FC06-89C6-44E6-8388-A6620632A504}"/>
              </a:ext>
            </a:extLst>
          </p:cNvPr>
          <p:cNvSpPr>
            <a:spLocks noChangeShapeType="1"/>
          </p:cNvSpPr>
          <p:nvPr/>
        </p:nvSpPr>
        <p:spPr bwMode="auto">
          <a:xfrm>
            <a:off x="2214155" y="3325961"/>
            <a:ext cx="1371600" cy="0"/>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a:p>
        </p:txBody>
      </p:sp>
      <p:sp>
        <p:nvSpPr>
          <p:cNvPr id="24" name="Rectangle 7">
            <a:extLst>
              <a:ext uri="{FF2B5EF4-FFF2-40B4-BE49-F238E27FC236}">
                <a16:creationId xmlns:a16="http://schemas.microsoft.com/office/drawing/2014/main" id="{A9347A09-84EE-405E-BC68-5BC54A4F8362}"/>
              </a:ext>
            </a:extLst>
          </p:cNvPr>
          <p:cNvSpPr>
            <a:spLocks noChangeArrowheads="1"/>
          </p:cNvSpPr>
          <p:nvPr/>
        </p:nvSpPr>
        <p:spPr bwMode="auto">
          <a:xfrm>
            <a:off x="1452155" y="3040211"/>
            <a:ext cx="762000" cy="609600"/>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Aft>
                <a:spcPct val="0"/>
              </a:spcAft>
              <a:buSzTx/>
              <a:buFontTx/>
              <a:buNone/>
            </a:pPr>
            <a:r>
              <a:rPr lang="zh-CN" altLang="en-US" sz="2400">
                <a:effectLst/>
                <a:latin typeface="Times New Roman" pitchFamily="18" charset="0"/>
              </a:rPr>
              <a:t>学生</a:t>
            </a:r>
          </a:p>
        </p:txBody>
      </p:sp>
      <p:sp>
        <p:nvSpPr>
          <p:cNvPr id="25" name="Line 8">
            <a:extLst>
              <a:ext uri="{FF2B5EF4-FFF2-40B4-BE49-F238E27FC236}">
                <a16:creationId xmlns:a16="http://schemas.microsoft.com/office/drawing/2014/main" id="{8D5ED4A7-65A0-449C-8D68-0A2298C56543}"/>
              </a:ext>
            </a:extLst>
          </p:cNvPr>
          <p:cNvSpPr>
            <a:spLocks noChangeShapeType="1"/>
          </p:cNvSpPr>
          <p:nvPr/>
        </p:nvSpPr>
        <p:spPr bwMode="auto">
          <a:xfrm>
            <a:off x="1833155" y="2278211"/>
            <a:ext cx="1066800" cy="0"/>
          </a:xfrm>
          <a:prstGeom prst="line">
            <a:avLst/>
          </a:prstGeom>
          <a:noFill/>
          <a:ln w="12700" cap="sq">
            <a:solidFill>
              <a:schemeClr val="tx1"/>
            </a:solidFill>
            <a:round/>
            <a:headEnd/>
            <a:tailEnd/>
          </a:ln>
          <a:effectLst/>
        </p:spPr>
        <p:txBody>
          <a:bodyPr wrap="none" lIns="0" tIns="0" rIns="0" bIns="0" anchor="ctr"/>
          <a:lstStyle/>
          <a:p>
            <a:pPr>
              <a:defRPr/>
            </a:pPr>
            <a:endParaRPr lang="zh-CN" altLang="en-US"/>
          </a:p>
        </p:txBody>
      </p:sp>
      <p:sp>
        <p:nvSpPr>
          <p:cNvPr id="26" name="Line 9">
            <a:extLst>
              <a:ext uri="{FF2B5EF4-FFF2-40B4-BE49-F238E27FC236}">
                <a16:creationId xmlns:a16="http://schemas.microsoft.com/office/drawing/2014/main" id="{8881BA4D-AD5B-4064-8536-C0832BFBA550}"/>
              </a:ext>
            </a:extLst>
          </p:cNvPr>
          <p:cNvSpPr>
            <a:spLocks noChangeShapeType="1"/>
          </p:cNvSpPr>
          <p:nvPr/>
        </p:nvSpPr>
        <p:spPr bwMode="auto">
          <a:xfrm>
            <a:off x="1833155" y="2354411"/>
            <a:ext cx="1066800" cy="0"/>
          </a:xfrm>
          <a:prstGeom prst="line">
            <a:avLst/>
          </a:prstGeom>
          <a:noFill/>
          <a:ln w="12700" cap="sq">
            <a:solidFill>
              <a:schemeClr val="tx1"/>
            </a:solidFill>
            <a:round/>
            <a:headEnd/>
            <a:tailEnd/>
          </a:ln>
          <a:effectLst/>
        </p:spPr>
        <p:txBody>
          <a:bodyPr wrap="none" lIns="0" tIns="0" rIns="0" bIns="0" anchor="ctr"/>
          <a:lstStyle/>
          <a:p>
            <a:pPr>
              <a:defRPr/>
            </a:pPr>
            <a:endParaRPr lang="zh-CN" altLang="en-US"/>
          </a:p>
        </p:txBody>
      </p:sp>
      <p:sp>
        <p:nvSpPr>
          <p:cNvPr id="27" name="Rectangle 10">
            <a:extLst>
              <a:ext uri="{FF2B5EF4-FFF2-40B4-BE49-F238E27FC236}">
                <a16:creationId xmlns:a16="http://schemas.microsoft.com/office/drawing/2014/main" id="{4B51D836-0B7E-495D-A6D5-C068735D986D}"/>
              </a:ext>
            </a:extLst>
          </p:cNvPr>
          <p:cNvSpPr>
            <a:spLocks noChangeArrowheads="1"/>
          </p:cNvSpPr>
          <p:nvPr/>
        </p:nvSpPr>
        <p:spPr bwMode="auto">
          <a:xfrm>
            <a:off x="1590765" y="1844824"/>
            <a:ext cx="15388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a:spcAft>
                <a:spcPct val="0"/>
              </a:spcAft>
              <a:buSzTx/>
              <a:buFontTx/>
              <a:buNone/>
            </a:pPr>
            <a:r>
              <a:rPr lang="zh-CN" altLang="en-US" sz="2400">
                <a:effectLst/>
                <a:latin typeface="Times New Roman" pitchFamily="18" charset="0"/>
              </a:rPr>
              <a:t>班级编码表</a:t>
            </a:r>
          </a:p>
        </p:txBody>
      </p:sp>
      <p:sp>
        <p:nvSpPr>
          <p:cNvPr id="28" name="Line 11">
            <a:extLst>
              <a:ext uri="{FF2B5EF4-FFF2-40B4-BE49-F238E27FC236}">
                <a16:creationId xmlns:a16="http://schemas.microsoft.com/office/drawing/2014/main" id="{38BAFDBA-F985-4EA6-B730-DE812C8ABA4A}"/>
              </a:ext>
            </a:extLst>
          </p:cNvPr>
          <p:cNvSpPr>
            <a:spLocks noChangeShapeType="1"/>
          </p:cNvSpPr>
          <p:nvPr/>
        </p:nvSpPr>
        <p:spPr bwMode="auto">
          <a:xfrm>
            <a:off x="2518955" y="2354411"/>
            <a:ext cx="1219200" cy="685800"/>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a:p>
        </p:txBody>
      </p:sp>
      <p:sp>
        <p:nvSpPr>
          <p:cNvPr id="29" name="Rectangle 12">
            <a:extLst>
              <a:ext uri="{FF2B5EF4-FFF2-40B4-BE49-F238E27FC236}">
                <a16:creationId xmlns:a16="http://schemas.microsoft.com/office/drawing/2014/main" id="{16E08C45-DE71-41AB-A818-D3EDA4272A26}"/>
              </a:ext>
            </a:extLst>
          </p:cNvPr>
          <p:cNvSpPr>
            <a:spLocks noChangeArrowheads="1"/>
          </p:cNvSpPr>
          <p:nvPr/>
        </p:nvSpPr>
        <p:spPr bwMode="auto">
          <a:xfrm>
            <a:off x="2259002" y="2911624"/>
            <a:ext cx="12311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a:spcAft>
                <a:spcPct val="0"/>
              </a:spcAft>
              <a:buSzTx/>
              <a:buFontTx/>
              <a:buNone/>
            </a:pPr>
            <a:r>
              <a:rPr lang="zh-CN" altLang="en-US" sz="2400">
                <a:effectLst/>
                <a:latin typeface="Times New Roman" pitchFamily="18" charset="0"/>
              </a:rPr>
              <a:t>基本信息</a:t>
            </a:r>
          </a:p>
        </p:txBody>
      </p:sp>
      <p:sp>
        <p:nvSpPr>
          <p:cNvPr id="30" name="Line 13">
            <a:extLst>
              <a:ext uri="{FF2B5EF4-FFF2-40B4-BE49-F238E27FC236}">
                <a16:creationId xmlns:a16="http://schemas.microsoft.com/office/drawing/2014/main" id="{C61FF75D-51DC-4B7D-A8F4-156F472967D6}"/>
              </a:ext>
            </a:extLst>
          </p:cNvPr>
          <p:cNvSpPr>
            <a:spLocks noChangeShapeType="1"/>
          </p:cNvSpPr>
          <p:nvPr/>
        </p:nvSpPr>
        <p:spPr bwMode="auto">
          <a:xfrm>
            <a:off x="3280955" y="2278211"/>
            <a:ext cx="1524000" cy="0"/>
          </a:xfrm>
          <a:prstGeom prst="line">
            <a:avLst/>
          </a:prstGeom>
          <a:noFill/>
          <a:ln w="12700" cap="sq">
            <a:solidFill>
              <a:schemeClr val="tx1"/>
            </a:solidFill>
            <a:round/>
            <a:headEnd/>
            <a:tailEnd/>
          </a:ln>
          <a:effectLst/>
        </p:spPr>
        <p:txBody>
          <a:bodyPr wrap="none" lIns="0" tIns="0" rIns="0" bIns="0" anchor="ctr"/>
          <a:lstStyle/>
          <a:p>
            <a:pPr>
              <a:defRPr/>
            </a:pPr>
            <a:endParaRPr lang="zh-CN" altLang="en-US"/>
          </a:p>
        </p:txBody>
      </p:sp>
      <p:sp>
        <p:nvSpPr>
          <p:cNvPr id="31" name="Line 14">
            <a:extLst>
              <a:ext uri="{FF2B5EF4-FFF2-40B4-BE49-F238E27FC236}">
                <a16:creationId xmlns:a16="http://schemas.microsoft.com/office/drawing/2014/main" id="{AD021FEE-AF7F-4920-89A9-071A97D33E2B}"/>
              </a:ext>
            </a:extLst>
          </p:cNvPr>
          <p:cNvSpPr>
            <a:spLocks noChangeShapeType="1"/>
          </p:cNvSpPr>
          <p:nvPr/>
        </p:nvSpPr>
        <p:spPr bwMode="auto">
          <a:xfrm>
            <a:off x="3280955" y="2354411"/>
            <a:ext cx="1524000" cy="0"/>
          </a:xfrm>
          <a:prstGeom prst="line">
            <a:avLst/>
          </a:prstGeom>
          <a:noFill/>
          <a:ln w="12700" cap="sq">
            <a:solidFill>
              <a:schemeClr val="tx1"/>
            </a:solidFill>
            <a:round/>
            <a:headEnd/>
            <a:tailEnd/>
          </a:ln>
          <a:effectLst/>
        </p:spPr>
        <p:txBody>
          <a:bodyPr wrap="none" lIns="0" tIns="0" rIns="0" bIns="0" anchor="ctr"/>
          <a:lstStyle/>
          <a:p>
            <a:pPr>
              <a:defRPr/>
            </a:pPr>
            <a:endParaRPr lang="zh-CN" altLang="en-US"/>
          </a:p>
        </p:txBody>
      </p:sp>
      <p:sp>
        <p:nvSpPr>
          <p:cNvPr id="32" name="Rectangle 15">
            <a:extLst>
              <a:ext uri="{FF2B5EF4-FFF2-40B4-BE49-F238E27FC236}">
                <a16:creationId xmlns:a16="http://schemas.microsoft.com/office/drawing/2014/main" id="{A0FC97D6-8406-431F-B929-63A56826CFD5}"/>
              </a:ext>
            </a:extLst>
          </p:cNvPr>
          <p:cNvSpPr>
            <a:spLocks noChangeArrowheads="1"/>
          </p:cNvSpPr>
          <p:nvPr/>
        </p:nvSpPr>
        <p:spPr bwMode="auto">
          <a:xfrm>
            <a:off x="3300402" y="1844824"/>
            <a:ext cx="12311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a:spcAft>
                <a:spcPct val="0"/>
              </a:spcAft>
              <a:buSzTx/>
              <a:buFontTx/>
              <a:buNone/>
            </a:pPr>
            <a:r>
              <a:rPr lang="zh-CN" altLang="en-US" sz="2400">
                <a:effectLst/>
                <a:latin typeface="Times New Roman" pitchFamily="18" charset="0"/>
              </a:rPr>
              <a:t>学生档案</a:t>
            </a:r>
          </a:p>
        </p:txBody>
      </p:sp>
      <p:grpSp>
        <p:nvGrpSpPr>
          <p:cNvPr id="33" name="Group 16">
            <a:extLst>
              <a:ext uri="{FF2B5EF4-FFF2-40B4-BE49-F238E27FC236}">
                <a16:creationId xmlns:a16="http://schemas.microsoft.com/office/drawing/2014/main" id="{F0331308-558F-4672-ADBE-FCE3B5506F61}"/>
              </a:ext>
            </a:extLst>
          </p:cNvPr>
          <p:cNvGrpSpPr>
            <a:grpSpLocks/>
          </p:cNvGrpSpPr>
          <p:nvPr/>
        </p:nvGrpSpPr>
        <p:grpSpPr bwMode="auto">
          <a:xfrm>
            <a:off x="4779555" y="1981350"/>
            <a:ext cx="5207000" cy="1724025"/>
            <a:chOff x="548" y="2928"/>
            <a:chExt cx="3048" cy="816"/>
          </a:xfrm>
        </p:grpSpPr>
        <p:sp>
          <p:nvSpPr>
            <p:cNvPr id="34" name="Rectangle 17">
              <a:extLst>
                <a:ext uri="{FF2B5EF4-FFF2-40B4-BE49-F238E27FC236}">
                  <a16:creationId xmlns:a16="http://schemas.microsoft.com/office/drawing/2014/main" id="{12AD72AA-B4E6-4A97-B2B6-B79B8455698F}"/>
                </a:ext>
              </a:extLst>
            </p:cNvPr>
            <p:cNvSpPr>
              <a:spLocks noChangeArrowheads="1"/>
            </p:cNvSpPr>
            <p:nvPr/>
          </p:nvSpPr>
          <p:spPr bwMode="auto">
            <a:xfrm>
              <a:off x="2784" y="3000"/>
              <a:ext cx="480" cy="144"/>
            </a:xfrm>
            <a:prstGeom prst="rect">
              <a:avLst/>
            </a:prstGeom>
            <a:solidFill>
              <a:schemeClr val="bg1"/>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400">
                  <a:effectLst/>
                  <a:latin typeface="Times New Roman" pitchFamily="18" charset="0"/>
                </a:rPr>
                <a:t>班级</a:t>
              </a:r>
            </a:p>
          </p:txBody>
        </p:sp>
        <p:sp>
          <p:nvSpPr>
            <p:cNvPr id="52" name="AutoShape 18">
              <a:extLst>
                <a:ext uri="{FF2B5EF4-FFF2-40B4-BE49-F238E27FC236}">
                  <a16:creationId xmlns:a16="http://schemas.microsoft.com/office/drawing/2014/main" id="{8532523D-DAFD-40BF-99DF-2A128DED5D30}"/>
                </a:ext>
              </a:extLst>
            </p:cNvPr>
            <p:cNvSpPr>
              <a:spLocks noChangeArrowheads="1"/>
            </p:cNvSpPr>
            <p:nvPr/>
          </p:nvSpPr>
          <p:spPr bwMode="auto">
            <a:xfrm>
              <a:off x="2544" y="3580"/>
              <a:ext cx="476" cy="140"/>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400">
                  <a:effectLst/>
                  <a:latin typeface="Times New Roman" pitchFamily="18" charset="0"/>
                </a:rPr>
                <a:t>班号</a:t>
              </a:r>
            </a:p>
          </p:txBody>
        </p:sp>
        <p:sp>
          <p:nvSpPr>
            <p:cNvPr id="53" name="AutoShape 19">
              <a:extLst>
                <a:ext uri="{FF2B5EF4-FFF2-40B4-BE49-F238E27FC236}">
                  <a16:creationId xmlns:a16="http://schemas.microsoft.com/office/drawing/2014/main" id="{9B1B685B-829F-4F2A-A5DB-E25D943935E6}"/>
                </a:ext>
              </a:extLst>
            </p:cNvPr>
            <p:cNvSpPr>
              <a:spLocks noChangeArrowheads="1"/>
            </p:cNvSpPr>
            <p:nvPr/>
          </p:nvSpPr>
          <p:spPr bwMode="auto">
            <a:xfrm>
              <a:off x="3120" y="3580"/>
              <a:ext cx="476" cy="140"/>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400">
                  <a:effectLst/>
                  <a:latin typeface="Times New Roman" pitchFamily="18" charset="0"/>
                </a:rPr>
                <a:t>班名</a:t>
              </a:r>
            </a:p>
          </p:txBody>
        </p:sp>
        <p:cxnSp>
          <p:nvCxnSpPr>
            <p:cNvPr id="54" name="AutoShape 20">
              <a:extLst>
                <a:ext uri="{FF2B5EF4-FFF2-40B4-BE49-F238E27FC236}">
                  <a16:creationId xmlns:a16="http://schemas.microsoft.com/office/drawing/2014/main" id="{1856A516-ED96-459D-B96F-D9C2C412BD6B}"/>
                </a:ext>
              </a:extLst>
            </p:cNvPr>
            <p:cNvCxnSpPr>
              <a:cxnSpLocks noChangeShapeType="1"/>
              <a:stCxn id="34" idx="2"/>
              <a:endCxn id="52" idx="0"/>
            </p:cNvCxnSpPr>
            <p:nvPr/>
          </p:nvCxnSpPr>
          <p:spPr bwMode="auto">
            <a:xfrm flipH="1">
              <a:off x="2782" y="3144"/>
              <a:ext cx="242" cy="436"/>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55" name="AutoShape 21">
              <a:extLst>
                <a:ext uri="{FF2B5EF4-FFF2-40B4-BE49-F238E27FC236}">
                  <a16:creationId xmlns:a16="http://schemas.microsoft.com/office/drawing/2014/main" id="{2BB59866-BAC8-47BD-B428-B9B2E2F3ED49}"/>
                </a:ext>
              </a:extLst>
            </p:cNvPr>
            <p:cNvCxnSpPr>
              <a:cxnSpLocks noChangeShapeType="1"/>
              <a:stCxn id="34" idx="2"/>
              <a:endCxn id="53" idx="0"/>
            </p:cNvCxnSpPr>
            <p:nvPr/>
          </p:nvCxnSpPr>
          <p:spPr bwMode="auto">
            <a:xfrm>
              <a:off x="3024" y="3144"/>
              <a:ext cx="334" cy="436"/>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56" name="Rectangle 22">
              <a:extLst>
                <a:ext uri="{FF2B5EF4-FFF2-40B4-BE49-F238E27FC236}">
                  <a16:creationId xmlns:a16="http://schemas.microsoft.com/office/drawing/2014/main" id="{5BCD4761-80F9-44B0-944D-35FC8CFF5C64}"/>
                </a:ext>
              </a:extLst>
            </p:cNvPr>
            <p:cNvSpPr>
              <a:spLocks noChangeArrowheads="1"/>
            </p:cNvSpPr>
            <p:nvPr/>
          </p:nvSpPr>
          <p:spPr bwMode="auto">
            <a:xfrm>
              <a:off x="1104" y="3000"/>
              <a:ext cx="480" cy="144"/>
            </a:xfrm>
            <a:prstGeom prst="rect">
              <a:avLst/>
            </a:prstGeom>
            <a:solidFill>
              <a:schemeClr val="bg1"/>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400">
                  <a:effectLst/>
                  <a:latin typeface="Times New Roman" pitchFamily="18" charset="0"/>
                </a:rPr>
                <a:t>学生</a:t>
              </a:r>
            </a:p>
          </p:txBody>
        </p:sp>
        <p:sp>
          <p:nvSpPr>
            <p:cNvPr id="57" name="AutoShape 23">
              <a:extLst>
                <a:ext uri="{FF2B5EF4-FFF2-40B4-BE49-F238E27FC236}">
                  <a16:creationId xmlns:a16="http://schemas.microsoft.com/office/drawing/2014/main" id="{A5BE2639-FE62-4EE1-8949-CBC6B94DC43F}"/>
                </a:ext>
              </a:extLst>
            </p:cNvPr>
            <p:cNvSpPr>
              <a:spLocks noChangeArrowheads="1"/>
            </p:cNvSpPr>
            <p:nvPr/>
          </p:nvSpPr>
          <p:spPr bwMode="auto">
            <a:xfrm>
              <a:off x="548" y="3585"/>
              <a:ext cx="385" cy="159"/>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400">
                  <a:effectLst/>
                  <a:latin typeface="Times New Roman" pitchFamily="18" charset="0"/>
                </a:rPr>
                <a:t>学号</a:t>
              </a:r>
            </a:p>
          </p:txBody>
        </p:sp>
        <p:sp>
          <p:nvSpPr>
            <p:cNvPr id="58" name="AutoShape 24">
              <a:extLst>
                <a:ext uri="{FF2B5EF4-FFF2-40B4-BE49-F238E27FC236}">
                  <a16:creationId xmlns:a16="http://schemas.microsoft.com/office/drawing/2014/main" id="{5700B70E-0A63-48DB-8841-04D0B04E875F}"/>
                </a:ext>
              </a:extLst>
            </p:cNvPr>
            <p:cNvSpPr>
              <a:spLocks noChangeArrowheads="1"/>
            </p:cNvSpPr>
            <p:nvPr/>
          </p:nvSpPr>
          <p:spPr bwMode="auto">
            <a:xfrm>
              <a:off x="988" y="3585"/>
              <a:ext cx="387" cy="159"/>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400">
                  <a:effectLst/>
                  <a:latin typeface="Times New Roman" pitchFamily="18" charset="0"/>
                </a:rPr>
                <a:t>姓名</a:t>
              </a:r>
            </a:p>
          </p:txBody>
        </p:sp>
        <p:sp>
          <p:nvSpPr>
            <p:cNvPr id="59" name="AutoShape 25">
              <a:extLst>
                <a:ext uri="{FF2B5EF4-FFF2-40B4-BE49-F238E27FC236}">
                  <a16:creationId xmlns:a16="http://schemas.microsoft.com/office/drawing/2014/main" id="{60E824B5-7B1E-4F78-80DF-F7BDDCAA721C}"/>
                </a:ext>
              </a:extLst>
            </p:cNvPr>
            <p:cNvSpPr>
              <a:spLocks noChangeArrowheads="1"/>
            </p:cNvSpPr>
            <p:nvPr/>
          </p:nvSpPr>
          <p:spPr bwMode="auto">
            <a:xfrm>
              <a:off x="1831" y="3585"/>
              <a:ext cx="385" cy="159"/>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400">
                  <a:effectLst/>
                  <a:latin typeface="Times New Roman" pitchFamily="18" charset="0"/>
                </a:rPr>
                <a:t>性别</a:t>
              </a:r>
            </a:p>
          </p:txBody>
        </p:sp>
        <p:sp>
          <p:nvSpPr>
            <p:cNvPr id="60" name="AutoShape 26">
              <a:extLst>
                <a:ext uri="{FF2B5EF4-FFF2-40B4-BE49-F238E27FC236}">
                  <a16:creationId xmlns:a16="http://schemas.microsoft.com/office/drawing/2014/main" id="{CDB523C7-37E4-4D84-9FA1-95B0E99B8C21}"/>
                </a:ext>
              </a:extLst>
            </p:cNvPr>
            <p:cNvSpPr>
              <a:spLocks noChangeArrowheads="1"/>
            </p:cNvSpPr>
            <p:nvPr/>
          </p:nvSpPr>
          <p:spPr bwMode="auto">
            <a:xfrm>
              <a:off x="1412" y="3585"/>
              <a:ext cx="385" cy="159"/>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400">
                  <a:effectLst/>
                  <a:latin typeface="Times New Roman" pitchFamily="18" charset="0"/>
                </a:rPr>
                <a:t>年龄</a:t>
              </a:r>
            </a:p>
          </p:txBody>
        </p:sp>
        <p:cxnSp>
          <p:nvCxnSpPr>
            <p:cNvPr id="61" name="AutoShape 27">
              <a:extLst>
                <a:ext uri="{FF2B5EF4-FFF2-40B4-BE49-F238E27FC236}">
                  <a16:creationId xmlns:a16="http://schemas.microsoft.com/office/drawing/2014/main" id="{7E3208C0-21E3-425B-8558-F4415C438B0B}"/>
                </a:ext>
              </a:extLst>
            </p:cNvPr>
            <p:cNvCxnSpPr>
              <a:cxnSpLocks noChangeShapeType="1"/>
              <a:stCxn id="56" idx="2"/>
              <a:endCxn id="57" idx="0"/>
            </p:cNvCxnSpPr>
            <p:nvPr/>
          </p:nvCxnSpPr>
          <p:spPr bwMode="auto">
            <a:xfrm flipH="1">
              <a:off x="741" y="3144"/>
              <a:ext cx="603" cy="441"/>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62" name="AutoShape 28">
              <a:extLst>
                <a:ext uri="{FF2B5EF4-FFF2-40B4-BE49-F238E27FC236}">
                  <a16:creationId xmlns:a16="http://schemas.microsoft.com/office/drawing/2014/main" id="{E65858BE-6E54-47ED-9737-7DD0AF771129}"/>
                </a:ext>
              </a:extLst>
            </p:cNvPr>
            <p:cNvCxnSpPr>
              <a:cxnSpLocks noChangeShapeType="1"/>
              <a:stCxn id="56" idx="2"/>
              <a:endCxn id="58" idx="0"/>
            </p:cNvCxnSpPr>
            <p:nvPr/>
          </p:nvCxnSpPr>
          <p:spPr bwMode="auto">
            <a:xfrm flipH="1">
              <a:off x="1181" y="3144"/>
              <a:ext cx="163" cy="441"/>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63" name="AutoShape 29">
              <a:extLst>
                <a:ext uri="{FF2B5EF4-FFF2-40B4-BE49-F238E27FC236}">
                  <a16:creationId xmlns:a16="http://schemas.microsoft.com/office/drawing/2014/main" id="{4C41E101-A1FB-4413-9B6F-FECBA5FA2042}"/>
                </a:ext>
              </a:extLst>
            </p:cNvPr>
            <p:cNvCxnSpPr>
              <a:cxnSpLocks noChangeShapeType="1"/>
              <a:stCxn id="56" idx="2"/>
              <a:endCxn id="60" idx="0"/>
            </p:cNvCxnSpPr>
            <p:nvPr/>
          </p:nvCxnSpPr>
          <p:spPr bwMode="auto">
            <a:xfrm>
              <a:off x="1344" y="3144"/>
              <a:ext cx="261" cy="441"/>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64" name="AutoShape 30">
              <a:extLst>
                <a:ext uri="{FF2B5EF4-FFF2-40B4-BE49-F238E27FC236}">
                  <a16:creationId xmlns:a16="http://schemas.microsoft.com/office/drawing/2014/main" id="{A9366937-B695-4363-942B-86F32712E725}"/>
                </a:ext>
              </a:extLst>
            </p:cNvPr>
            <p:cNvCxnSpPr>
              <a:cxnSpLocks noChangeShapeType="1"/>
              <a:stCxn id="56" idx="2"/>
              <a:endCxn id="59" idx="0"/>
            </p:cNvCxnSpPr>
            <p:nvPr/>
          </p:nvCxnSpPr>
          <p:spPr bwMode="auto">
            <a:xfrm>
              <a:off x="1344" y="3144"/>
              <a:ext cx="680" cy="441"/>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65" name="AutoShape 31">
              <a:extLst>
                <a:ext uri="{FF2B5EF4-FFF2-40B4-BE49-F238E27FC236}">
                  <a16:creationId xmlns:a16="http://schemas.microsoft.com/office/drawing/2014/main" id="{0DD46963-942B-493D-B9AA-D1AD87BB0B5D}"/>
                </a:ext>
              </a:extLst>
            </p:cNvPr>
            <p:cNvSpPr>
              <a:spLocks noChangeArrowheads="1"/>
            </p:cNvSpPr>
            <p:nvPr/>
          </p:nvSpPr>
          <p:spPr bwMode="auto">
            <a:xfrm>
              <a:off x="1824" y="2928"/>
              <a:ext cx="769" cy="288"/>
            </a:xfrm>
            <a:prstGeom prst="diamond">
              <a:avLst/>
            </a:prstGeom>
            <a:solidFill>
              <a:schemeClr val="bg1"/>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400">
                  <a:effectLst/>
                  <a:latin typeface="Times New Roman" pitchFamily="18" charset="0"/>
                </a:rPr>
                <a:t>组成</a:t>
              </a:r>
            </a:p>
          </p:txBody>
        </p:sp>
        <p:cxnSp>
          <p:nvCxnSpPr>
            <p:cNvPr id="66" name="AutoShape 32">
              <a:extLst>
                <a:ext uri="{FF2B5EF4-FFF2-40B4-BE49-F238E27FC236}">
                  <a16:creationId xmlns:a16="http://schemas.microsoft.com/office/drawing/2014/main" id="{B47885EB-67ED-45D1-A153-256ED6C9F4A9}"/>
                </a:ext>
              </a:extLst>
            </p:cNvPr>
            <p:cNvCxnSpPr>
              <a:cxnSpLocks noChangeShapeType="1"/>
              <a:stCxn id="56" idx="3"/>
              <a:endCxn id="65" idx="1"/>
            </p:cNvCxnSpPr>
            <p:nvPr/>
          </p:nvCxnSpPr>
          <p:spPr bwMode="auto">
            <a:xfrm>
              <a:off x="1584" y="3072"/>
              <a:ext cx="240"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67" name="AutoShape 33">
              <a:extLst>
                <a:ext uri="{FF2B5EF4-FFF2-40B4-BE49-F238E27FC236}">
                  <a16:creationId xmlns:a16="http://schemas.microsoft.com/office/drawing/2014/main" id="{8FCF0BCD-6E1B-4717-B239-3C06A5B07EF6}"/>
                </a:ext>
              </a:extLst>
            </p:cNvPr>
            <p:cNvCxnSpPr>
              <a:cxnSpLocks noChangeShapeType="1"/>
              <a:stCxn id="65" idx="3"/>
              <a:endCxn id="34" idx="1"/>
            </p:cNvCxnSpPr>
            <p:nvPr/>
          </p:nvCxnSpPr>
          <p:spPr bwMode="auto">
            <a:xfrm>
              <a:off x="2592" y="3072"/>
              <a:ext cx="192"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68" name="Rectangle 34">
              <a:extLst>
                <a:ext uri="{FF2B5EF4-FFF2-40B4-BE49-F238E27FC236}">
                  <a16:creationId xmlns:a16="http://schemas.microsoft.com/office/drawing/2014/main" id="{F324A701-32BF-4BBD-A7D6-74DE268D7B81}"/>
                </a:ext>
              </a:extLst>
            </p:cNvPr>
            <p:cNvSpPr>
              <a:spLocks noChangeArrowheads="1"/>
            </p:cNvSpPr>
            <p:nvPr/>
          </p:nvSpPr>
          <p:spPr bwMode="auto">
            <a:xfrm>
              <a:off x="2544" y="2928"/>
              <a:ext cx="28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spcAft>
                  <a:spcPct val="0"/>
                </a:spcAft>
                <a:buSzTx/>
                <a:buFontTx/>
                <a:buNone/>
              </a:pPr>
              <a:r>
                <a:rPr lang="en-US" altLang="zh-CN" sz="2400">
                  <a:effectLst/>
                  <a:latin typeface="Times New Roman" pitchFamily="18" charset="0"/>
                </a:rPr>
                <a:t>1</a:t>
              </a:r>
            </a:p>
          </p:txBody>
        </p:sp>
        <p:sp>
          <p:nvSpPr>
            <p:cNvPr id="69" name="Rectangle 35">
              <a:extLst>
                <a:ext uri="{FF2B5EF4-FFF2-40B4-BE49-F238E27FC236}">
                  <a16:creationId xmlns:a16="http://schemas.microsoft.com/office/drawing/2014/main" id="{057375E3-F59D-4409-B3B9-685B02F6D3D2}"/>
                </a:ext>
              </a:extLst>
            </p:cNvPr>
            <p:cNvSpPr>
              <a:spLocks noChangeArrowheads="1"/>
            </p:cNvSpPr>
            <p:nvPr/>
          </p:nvSpPr>
          <p:spPr bwMode="auto">
            <a:xfrm>
              <a:off x="1584" y="2928"/>
              <a:ext cx="28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spcAft>
                  <a:spcPct val="0"/>
                </a:spcAft>
                <a:buSzTx/>
                <a:buFontTx/>
                <a:buNone/>
              </a:pPr>
              <a:r>
                <a:rPr lang="en-US" altLang="zh-CN" sz="2400">
                  <a:effectLst/>
                  <a:latin typeface="Times New Roman" pitchFamily="18" charset="0"/>
                </a:rPr>
                <a:t>n</a:t>
              </a:r>
            </a:p>
          </p:txBody>
        </p:sp>
      </p:grpSp>
      <p:sp>
        <p:nvSpPr>
          <p:cNvPr id="70" name="AutoShape 36">
            <a:extLst>
              <a:ext uri="{FF2B5EF4-FFF2-40B4-BE49-F238E27FC236}">
                <a16:creationId xmlns:a16="http://schemas.microsoft.com/office/drawing/2014/main" id="{A42A7F2C-5E38-4737-8EA6-E224DC5A9E1D}"/>
              </a:ext>
            </a:extLst>
          </p:cNvPr>
          <p:cNvSpPr>
            <a:spLocks noChangeArrowheads="1"/>
          </p:cNvSpPr>
          <p:nvPr/>
        </p:nvSpPr>
        <p:spPr bwMode="auto">
          <a:xfrm>
            <a:off x="4922430" y="2484586"/>
            <a:ext cx="457200" cy="381000"/>
          </a:xfrm>
          <a:prstGeom prst="rightArrow">
            <a:avLst>
              <a:gd name="adj1" fmla="val 50000"/>
              <a:gd name="adj2" fmla="val 30000"/>
            </a:avLst>
          </a:prstGeom>
          <a:solidFill>
            <a:srgbClr val="CCFFCC"/>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71" name="Text Box 37">
            <a:extLst>
              <a:ext uri="{FF2B5EF4-FFF2-40B4-BE49-F238E27FC236}">
                <a16:creationId xmlns:a16="http://schemas.microsoft.com/office/drawing/2014/main" id="{1FFE6107-CA0F-4ACF-B1CE-87D1D71497BF}"/>
              </a:ext>
            </a:extLst>
          </p:cNvPr>
          <p:cNvSpPr txBox="1">
            <a:spLocks noChangeArrowheads="1"/>
          </p:cNvSpPr>
          <p:nvPr/>
        </p:nvSpPr>
        <p:spPr bwMode="auto">
          <a:xfrm>
            <a:off x="932776" y="4202453"/>
            <a:ext cx="10510811" cy="574675"/>
          </a:xfrm>
          <a:prstGeom prst="rect">
            <a:avLst/>
          </a:prstGeom>
          <a:noFill/>
          <a:ln w="12700" cap="sq">
            <a:noFill/>
            <a:miter lim="800000"/>
            <a:headEnd type="none" w="sm" len="sm"/>
            <a:tailEnd type="none" w="sm" len="sm"/>
          </a:ln>
          <a:effectLst/>
        </p:spPr>
        <p:txBody>
          <a:bodyPr/>
          <a:lstStyle/>
          <a:p>
            <a:pPr marL="377825" indent="-377825">
              <a:spcBef>
                <a:spcPct val="50000"/>
              </a:spcBef>
              <a:spcAft>
                <a:spcPct val="0"/>
              </a:spcAft>
              <a:defRPr/>
            </a:pPr>
            <a:r>
              <a:rPr lang="zh-CN" altLang="en-US" sz="2800" dirty="0">
                <a:effectLst>
                  <a:outerShdw blurRad="38100" dist="38100" dir="2700000" algn="tl">
                    <a:srgbClr val="000000"/>
                  </a:outerShdw>
                </a:effectLst>
                <a:latin typeface="微软雅黑" pitchFamily="34" charset="-122"/>
                <a:ea typeface="微软雅黑" pitchFamily="34" charset="-122"/>
              </a:rPr>
              <a:t>现实世界中的事物凡能够作为属性对待的应尽量抽象成属性：</a:t>
            </a:r>
          </a:p>
          <a:p>
            <a:pPr marL="442913" indent="-442913">
              <a:spcBef>
                <a:spcPct val="50000"/>
              </a:spcBef>
              <a:spcAft>
                <a:spcPct val="0"/>
              </a:spcAft>
              <a:defRPr/>
            </a:pPr>
            <a:r>
              <a:rPr lang="zh-CN" altLang="en-US" sz="2800" dirty="0">
                <a:effectLst>
                  <a:outerShdw blurRad="38100" dist="38100" dir="2700000" algn="tl">
                    <a:srgbClr val="000000"/>
                  </a:outerShdw>
                </a:effectLst>
                <a:latin typeface="微软雅黑" pitchFamily="34" charset="-122"/>
                <a:ea typeface="微软雅黑" pitchFamily="34" charset="-122"/>
              </a:rPr>
              <a:t>① 属性不能再具有需要描述的性质。即属性必须是不可分的数据项，不能再由另一些属性组成。</a:t>
            </a:r>
            <a:endParaRPr lang="en-US" altLang="zh-CN" sz="2800" dirty="0">
              <a:effectLst>
                <a:outerShdw blurRad="38100" dist="38100" dir="2700000" algn="tl">
                  <a:srgbClr val="000000"/>
                </a:outerShdw>
              </a:effectLst>
              <a:latin typeface="微软雅黑" pitchFamily="34" charset="-122"/>
              <a:ea typeface="微软雅黑" pitchFamily="34" charset="-122"/>
            </a:endParaRPr>
          </a:p>
          <a:p>
            <a:pPr marL="377825" indent="-377825">
              <a:spcBef>
                <a:spcPct val="50000"/>
              </a:spcBef>
              <a:spcAft>
                <a:spcPct val="0"/>
              </a:spcAft>
              <a:defRPr/>
            </a:pPr>
            <a:r>
              <a:rPr lang="zh-CN" altLang="en-US" sz="2800" dirty="0">
                <a:effectLst>
                  <a:outerShdw blurRad="38100" dist="38100" dir="2700000" algn="tl">
                    <a:srgbClr val="000000"/>
                  </a:outerShdw>
                </a:effectLst>
                <a:latin typeface="微软雅黑" pitchFamily="34" charset="-122"/>
                <a:ea typeface="微软雅黑" pitchFamily="34" charset="-122"/>
              </a:rPr>
              <a:t>② 属性不能与其他实体具有联系。联系只发生在实体之间。</a:t>
            </a:r>
          </a:p>
        </p:txBody>
      </p:sp>
    </p:spTree>
    <p:extLst>
      <p:ext uri="{BB962C8B-B14F-4D97-AF65-F5344CB8AC3E}">
        <p14:creationId xmlns:p14="http://schemas.microsoft.com/office/powerpoint/2010/main" val="3124092969"/>
      </p:ext>
    </p:extLst>
  </p:cSld>
  <p:clrMapOvr>
    <a:masterClrMapping/>
  </p:clrMapOvr>
  <p:transition spd="med">
    <p:random/>
    <p:sndAc>
      <p:stSnd>
        <p:snd r:embed="rId2" name="arrow.wav"/>
      </p:stSnd>
    </p:sndAc>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Box 2">
            <a:extLst>
              <a:ext uri="{FF2B5EF4-FFF2-40B4-BE49-F238E27FC236}">
                <a16:creationId xmlns:a16="http://schemas.microsoft.com/office/drawing/2014/main" id="{497D6F86-4142-4F9A-8A91-AC44BB7E6750}"/>
              </a:ext>
            </a:extLst>
          </p:cNvPr>
          <p:cNvSpPr txBox="1">
            <a:spLocks noChangeArrowheads="1"/>
          </p:cNvSpPr>
          <p:nvPr/>
        </p:nvSpPr>
        <p:spPr bwMode="auto">
          <a:xfrm>
            <a:off x="752900" y="30060"/>
            <a:ext cx="4762055"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defPPr>
              <a:defRPr lang="en-US"/>
            </a:defPPr>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a:t>概念结构设计的流程</a:t>
            </a:r>
          </a:p>
        </p:txBody>
      </p:sp>
      <p:grpSp>
        <p:nvGrpSpPr>
          <p:cNvPr id="123" name="组合 122">
            <a:extLst>
              <a:ext uri="{FF2B5EF4-FFF2-40B4-BE49-F238E27FC236}">
                <a16:creationId xmlns:a16="http://schemas.microsoft.com/office/drawing/2014/main" id="{254B1F0C-E751-4A30-83A6-5C7FDC9C47C4}"/>
              </a:ext>
            </a:extLst>
          </p:cNvPr>
          <p:cNvGrpSpPr/>
          <p:nvPr/>
        </p:nvGrpSpPr>
        <p:grpSpPr>
          <a:xfrm>
            <a:off x="263352" y="1762058"/>
            <a:ext cx="11435658" cy="3888432"/>
            <a:chOff x="327635" y="1485553"/>
            <a:chExt cx="8488730" cy="2886397"/>
          </a:xfrm>
        </p:grpSpPr>
        <p:sp>
          <p:nvSpPr>
            <p:cNvPr id="124" name="Rectangle 7">
              <a:extLst>
                <a:ext uri="{FF2B5EF4-FFF2-40B4-BE49-F238E27FC236}">
                  <a16:creationId xmlns:a16="http://schemas.microsoft.com/office/drawing/2014/main" id="{3A5AFCFA-8351-414C-A616-DE1C890CBC20}"/>
                </a:ext>
              </a:extLst>
            </p:cNvPr>
            <p:cNvSpPr>
              <a:spLocks noChangeArrowheads="1"/>
            </p:cNvSpPr>
            <p:nvPr/>
          </p:nvSpPr>
          <p:spPr bwMode="auto">
            <a:xfrm>
              <a:off x="440524" y="1485553"/>
              <a:ext cx="4147578" cy="1254645"/>
            </a:xfrm>
            <a:prstGeom prst="rect">
              <a:avLst/>
            </a:prstGeom>
            <a:solidFill>
              <a:sysClr val="window" lastClr="FFFFFF"/>
            </a:solidFill>
            <a:ln w="9525" cap="sq">
              <a:solidFill>
                <a:sysClr val="windowText" lastClr="000000"/>
              </a:solidFill>
              <a:prstDash val="dash"/>
              <a:miter lim="800000"/>
              <a:headEnd/>
              <a:tailEnd/>
            </a:ln>
            <a:effectLst>
              <a:outerShdw dist="35921" dir="2700000" algn="ctr" rotWithShape="0">
                <a:srgbClr val="EEECE1"/>
              </a:outerShdw>
            </a:effectLst>
          </p:spPr>
          <p:txBody>
            <a:bodyPr wrap="none" lIns="0" tIns="0" rIns="0" bIns="0" anchor="ctr"/>
            <a:lstStyle/>
            <a:p>
              <a:pPr marL="0" marR="0" lvl="0" indent="0" defTabSz="914400" eaLnBrk="1" fontAlgn="auto" latinLnBrk="0" hangingPunct="1">
                <a:lnSpc>
                  <a:spcPct val="100000"/>
                </a:lnSpc>
                <a:spcBef>
                  <a:spcPts val="0"/>
                </a:spcBef>
                <a:spcAft>
                  <a:spcPct val="0"/>
                </a:spcAft>
                <a:buClrTx/>
                <a:buSzTx/>
                <a:buFontTx/>
                <a:buNone/>
                <a:tabLst/>
                <a:defRPr/>
              </a:pPr>
              <a:endParaRPr kumimoji="0" lang="zh-CN" altLang="en-US" sz="28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grpSp>
          <p:nvGrpSpPr>
            <p:cNvPr id="125" name="组合 124">
              <a:extLst>
                <a:ext uri="{FF2B5EF4-FFF2-40B4-BE49-F238E27FC236}">
                  <a16:creationId xmlns:a16="http://schemas.microsoft.com/office/drawing/2014/main" id="{43F4C3C1-5A1B-430F-BAE4-6F5AFBC6E1D1}"/>
                </a:ext>
              </a:extLst>
            </p:cNvPr>
            <p:cNvGrpSpPr/>
            <p:nvPr/>
          </p:nvGrpSpPr>
          <p:grpSpPr>
            <a:xfrm>
              <a:off x="590924" y="1613127"/>
              <a:ext cx="3867118" cy="927266"/>
              <a:chOff x="3427415" y="2492018"/>
              <a:chExt cx="6408736" cy="1536701"/>
            </a:xfrm>
          </p:grpSpPr>
          <p:sp>
            <p:nvSpPr>
              <p:cNvPr id="167" name="Rectangle 5">
                <a:extLst>
                  <a:ext uri="{FF2B5EF4-FFF2-40B4-BE49-F238E27FC236}">
                    <a16:creationId xmlns:a16="http://schemas.microsoft.com/office/drawing/2014/main" id="{23A8F4D7-D40C-4569-8BFA-01977370D2EC}"/>
                  </a:ext>
                </a:extLst>
              </p:cNvPr>
              <p:cNvSpPr>
                <a:spLocks noChangeArrowheads="1"/>
              </p:cNvSpPr>
              <p:nvPr/>
            </p:nvSpPr>
            <p:spPr bwMode="auto">
              <a:xfrm>
                <a:off x="8072438" y="2666643"/>
                <a:ext cx="995363" cy="349250"/>
              </a:xfrm>
              <a:prstGeom prst="rect">
                <a:avLst/>
              </a:prstGeom>
              <a:solidFill>
                <a:sysClr val="window" lastClr="FFFFFF"/>
              </a:solidFill>
              <a:ln w="12700" cap="sq">
                <a:solidFill>
                  <a:sysClr val="windowText" lastClr="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班级</a:t>
                </a:r>
              </a:p>
            </p:txBody>
          </p:sp>
          <p:sp>
            <p:nvSpPr>
              <p:cNvPr id="168" name="AutoShape 6">
                <a:extLst>
                  <a:ext uri="{FF2B5EF4-FFF2-40B4-BE49-F238E27FC236}">
                    <a16:creationId xmlns:a16="http://schemas.microsoft.com/office/drawing/2014/main" id="{A716A10C-24D2-4BBF-80ED-F9972918AB99}"/>
                  </a:ext>
                </a:extLst>
              </p:cNvPr>
              <p:cNvSpPr>
                <a:spLocks noChangeArrowheads="1"/>
              </p:cNvSpPr>
              <p:nvPr/>
            </p:nvSpPr>
            <p:spPr bwMode="auto">
              <a:xfrm>
                <a:off x="7653338" y="3536947"/>
                <a:ext cx="987426" cy="433035"/>
              </a:xfrm>
              <a:prstGeom prst="roundRect">
                <a:avLst>
                  <a:gd name="adj" fmla="val 50000"/>
                </a:avLst>
              </a:prstGeom>
              <a:solidFill>
                <a:srgbClr val="EEECE1"/>
              </a:solidFill>
              <a:ln w="12700" cap="sq">
                <a:solidFill>
                  <a:sysClr val="windowText" lastClr="000000"/>
                </a:solidFill>
                <a:round/>
                <a:headEnd/>
                <a:tailEnd/>
              </a:ln>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sng"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班号</a:t>
                </a:r>
              </a:p>
            </p:txBody>
          </p:sp>
          <p:sp>
            <p:nvSpPr>
              <p:cNvPr id="169" name="AutoShape 7">
                <a:extLst>
                  <a:ext uri="{FF2B5EF4-FFF2-40B4-BE49-F238E27FC236}">
                    <a16:creationId xmlns:a16="http://schemas.microsoft.com/office/drawing/2014/main" id="{9073E66B-2706-4D17-AF02-72A1A55CD7B6}"/>
                  </a:ext>
                </a:extLst>
              </p:cNvPr>
              <p:cNvSpPr>
                <a:spLocks noChangeArrowheads="1"/>
              </p:cNvSpPr>
              <p:nvPr/>
            </p:nvSpPr>
            <p:spPr bwMode="auto">
              <a:xfrm>
                <a:off x="8848726" y="3630256"/>
                <a:ext cx="987425" cy="339725"/>
              </a:xfrm>
              <a:prstGeom prst="roundRect">
                <a:avLst>
                  <a:gd name="adj" fmla="val 50000"/>
                </a:avLst>
              </a:prstGeom>
              <a:solidFill>
                <a:sysClr val="window" lastClr="FFFFFF"/>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班名</a:t>
                </a:r>
              </a:p>
            </p:txBody>
          </p:sp>
          <p:cxnSp>
            <p:nvCxnSpPr>
              <p:cNvPr id="170" name="AutoShape 8">
                <a:extLst>
                  <a:ext uri="{FF2B5EF4-FFF2-40B4-BE49-F238E27FC236}">
                    <a16:creationId xmlns:a16="http://schemas.microsoft.com/office/drawing/2014/main" id="{6476E4AA-B2D2-4127-AEB8-A33828A649D4}"/>
                  </a:ext>
                </a:extLst>
              </p:cNvPr>
              <p:cNvCxnSpPr>
                <a:cxnSpLocks noChangeShapeType="1"/>
                <a:stCxn id="167" idx="2"/>
                <a:endCxn id="168" idx="0"/>
              </p:cNvCxnSpPr>
              <p:nvPr/>
            </p:nvCxnSpPr>
            <p:spPr bwMode="auto">
              <a:xfrm flipH="1">
                <a:off x="8147051" y="3015893"/>
                <a:ext cx="423070" cy="521054"/>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171" name="AutoShape 9">
                <a:extLst>
                  <a:ext uri="{FF2B5EF4-FFF2-40B4-BE49-F238E27FC236}">
                    <a16:creationId xmlns:a16="http://schemas.microsoft.com/office/drawing/2014/main" id="{2A254C5E-93E9-4AD8-B7F1-82824DD12C7E}"/>
                  </a:ext>
                </a:extLst>
              </p:cNvPr>
              <p:cNvCxnSpPr>
                <a:cxnSpLocks noChangeShapeType="1"/>
                <a:stCxn id="167" idx="2"/>
                <a:endCxn id="169" idx="0"/>
              </p:cNvCxnSpPr>
              <p:nvPr/>
            </p:nvCxnSpPr>
            <p:spPr bwMode="auto">
              <a:xfrm>
                <a:off x="8570913" y="3015893"/>
                <a:ext cx="771525" cy="614362"/>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172" name="Rectangle 10">
                <a:extLst>
                  <a:ext uri="{FF2B5EF4-FFF2-40B4-BE49-F238E27FC236}">
                    <a16:creationId xmlns:a16="http://schemas.microsoft.com/office/drawing/2014/main" id="{C29FE5B3-DA6C-4A55-BAD0-FC2F163EB2AC}"/>
                  </a:ext>
                </a:extLst>
              </p:cNvPr>
              <p:cNvSpPr>
                <a:spLocks noChangeArrowheads="1"/>
              </p:cNvSpPr>
              <p:nvPr/>
            </p:nvSpPr>
            <p:spPr bwMode="auto">
              <a:xfrm>
                <a:off x="4586288" y="2666643"/>
                <a:ext cx="995363" cy="349250"/>
              </a:xfrm>
              <a:prstGeom prst="rect">
                <a:avLst/>
              </a:prstGeom>
              <a:solidFill>
                <a:sysClr val="window" lastClr="FFFFFF"/>
              </a:solidFill>
              <a:ln w="12700" cap="sq">
                <a:solidFill>
                  <a:sysClr val="windowText" lastClr="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学生</a:t>
                </a:r>
              </a:p>
            </p:txBody>
          </p:sp>
          <p:sp>
            <p:nvSpPr>
              <p:cNvPr id="173" name="AutoShape 11">
                <a:extLst>
                  <a:ext uri="{FF2B5EF4-FFF2-40B4-BE49-F238E27FC236}">
                    <a16:creationId xmlns:a16="http://schemas.microsoft.com/office/drawing/2014/main" id="{234D6CCC-A698-4364-9EDC-23681BFD0D35}"/>
                  </a:ext>
                </a:extLst>
              </p:cNvPr>
              <p:cNvSpPr>
                <a:spLocks noChangeArrowheads="1"/>
              </p:cNvSpPr>
              <p:nvPr/>
            </p:nvSpPr>
            <p:spPr bwMode="auto">
              <a:xfrm>
                <a:off x="3427415" y="3496722"/>
                <a:ext cx="882648" cy="506823"/>
              </a:xfrm>
              <a:prstGeom prst="roundRect">
                <a:avLst>
                  <a:gd name="adj" fmla="val 50000"/>
                </a:avLst>
              </a:prstGeom>
              <a:solidFill>
                <a:srgbClr val="EEECE1"/>
              </a:solidFill>
              <a:ln w="12700" cap="sq">
                <a:solidFill>
                  <a:sysClr val="windowText" lastClr="000000"/>
                </a:solidFill>
                <a:round/>
                <a:headEnd/>
                <a:tailEnd/>
              </a:ln>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sng"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学号</a:t>
                </a:r>
              </a:p>
            </p:txBody>
          </p:sp>
          <p:sp>
            <p:nvSpPr>
              <p:cNvPr id="174" name="AutoShape 12">
                <a:extLst>
                  <a:ext uri="{FF2B5EF4-FFF2-40B4-BE49-F238E27FC236}">
                    <a16:creationId xmlns:a16="http://schemas.microsoft.com/office/drawing/2014/main" id="{0E21000E-BBD3-4201-8473-DFF74A9FB8EC}"/>
                  </a:ext>
                </a:extLst>
              </p:cNvPr>
              <p:cNvSpPr>
                <a:spLocks noChangeArrowheads="1"/>
              </p:cNvSpPr>
              <p:nvPr/>
            </p:nvSpPr>
            <p:spPr bwMode="auto">
              <a:xfrm>
                <a:off x="4424363" y="3642956"/>
                <a:ext cx="798513" cy="385763"/>
              </a:xfrm>
              <a:prstGeom prst="roundRect">
                <a:avLst>
                  <a:gd name="adj" fmla="val 50000"/>
                </a:avLst>
              </a:prstGeom>
              <a:solidFill>
                <a:sysClr val="window" lastClr="FFFFFF"/>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姓名</a:t>
                </a:r>
              </a:p>
            </p:txBody>
          </p:sp>
          <p:sp>
            <p:nvSpPr>
              <p:cNvPr id="175" name="AutoShape 13">
                <a:extLst>
                  <a:ext uri="{FF2B5EF4-FFF2-40B4-BE49-F238E27FC236}">
                    <a16:creationId xmlns:a16="http://schemas.microsoft.com/office/drawing/2014/main" id="{833B2606-E868-45C5-934E-360273917455}"/>
                  </a:ext>
                </a:extLst>
              </p:cNvPr>
              <p:cNvSpPr>
                <a:spLocks noChangeArrowheads="1"/>
              </p:cNvSpPr>
              <p:nvPr/>
            </p:nvSpPr>
            <p:spPr bwMode="auto">
              <a:xfrm>
                <a:off x="6173788" y="3642956"/>
                <a:ext cx="798513" cy="385763"/>
              </a:xfrm>
              <a:prstGeom prst="roundRect">
                <a:avLst>
                  <a:gd name="adj" fmla="val 50000"/>
                </a:avLst>
              </a:prstGeom>
              <a:solidFill>
                <a:sysClr val="window" lastClr="FFFFFF"/>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性别</a:t>
                </a:r>
              </a:p>
            </p:txBody>
          </p:sp>
          <p:sp>
            <p:nvSpPr>
              <p:cNvPr id="176" name="AutoShape 14">
                <a:extLst>
                  <a:ext uri="{FF2B5EF4-FFF2-40B4-BE49-F238E27FC236}">
                    <a16:creationId xmlns:a16="http://schemas.microsoft.com/office/drawing/2014/main" id="{9640D721-1837-4408-A2F8-908BE500600C}"/>
                  </a:ext>
                </a:extLst>
              </p:cNvPr>
              <p:cNvSpPr>
                <a:spLocks noChangeArrowheads="1"/>
              </p:cNvSpPr>
              <p:nvPr/>
            </p:nvSpPr>
            <p:spPr bwMode="auto">
              <a:xfrm>
                <a:off x="5303837" y="3642956"/>
                <a:ext cx="800100" cy="385763"/>
              </a:xfrm>
              <a:prstGeom prst="roundRect">
                <a:avLst>
                  <a:gd name="adj" fmla="val 50000"/>
                </a:avLst>
              </a:prstGeom>
              <a:solidFill>
                <a:sysClr val="window" lastClr="FFFFFF"/>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生日</a:t>
                </a:r>
              </a:p>
            </p:txBody>
          </p:sp>
          <p:cxnSp>
            <p:nvCxnSpPr>
              <p:cNvPr id="177" name="AutoShape 15">
                <a:extLst>
                  <a:ext uri="{FF2B5EF4-FFF2-40B4-BE49-F238E27FC236}">
                    <a16:creationId xmlns:a16="http://schemas.microsoft.com/office/drawing/2014/main" id="{B51992AA-8EA8-41B9-949E-7B140DC801E1}"/>
                  </a:ext>
                </a:extLst>
              </p:cNvPr>
              <p:cNvCxnSpPr>
                <a:cxnSpLocks noChangeShapeType="1"/>
                <a:stCxn id="172" idx="2"/>
                <a:endCxn id="173" idx="0"/>
              </p:cNvCxnSpPr>
              <p:nvPr/>
            </p:nvCxnSpPr>
            <p:spPr bwMode="auto">
              <a:xfrm flipH="1">
                <a:off x="3868739" y="3015893"/>
                <a:ext cx="1215231" cy="480830"/>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178" name="AutoShape 16">
                <a:extLst>
                  <a:ext uri="{FF2B5EF4-FFF2-40B4-BE49-F238E27FC236}">
                    <a16:creationId xmlns:a16="http://schemas.microsoft.com/office/drawing/2014/main" id="{188C7CB5-B9D3-4AD6-9198-C0C60251CA25}"/>
                  </a:ext>
                </a:extLst>
              </p:cNvPr>
              <p:cNvCxnSpPr>
                <a:cxnSpLocks noChangeShapeType="1"/>
                <a:stCxn id="172" idx="2"/>
                <a:endCxn id="174" idx="0"/>
              </p:cNvCxnSpPr>
              <p:nvPr/>
            </p:nvCxnSpPr>
            <p:spPr bwMode="auto">
              <a:xfrm flipH="1">
                <a:off x="4824412" y="3015893"/>
                <a:ext cx="260350" cy="627062"/>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179" name="AutoShape 17">
                <a:extLst>
                  <a:ext uri="{FF2B5EF4-FFF2-40B4-BE49-F238E27FC236}">
                    <a16:creationId xmlns:a16="http://schemas.microsoft.com/office/drawing/2014/main" id="{95A97432-916D-4D22-B84B-814BD258BFC5}"/>
                  </a:ext>
                </a:extLst>
              </p:cNvPr>
              <p:cNvCxnSpPr>
                <a:cxnSpLocks noChangeShapeType="1"/>
                <a:stCxn id="172" idx="2"/>
                <a:endCxn id="176" idx="0"/>
              </p:cNvCxnSpPr>
              <p:nvPr/>
            </p:nvCxnSpPr>
            <p:spPr bwMode="auto">
              <a:xfrm>
                <a:off x="5084763" y="3015893"/>
                <a:ext cx="619125" cy="627062"/>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180" name="AutoShape 18">
                <a:extLst>
                  <a:ext uri="{FF2B5EF4-FFF2-40B4-BE49-F238E27FC236}">
                    <a16:creationId xmlns:a16="http://schemas.microsoft.com/office/drawing/2014/main" id="{347529DE-7454-4E0F-97E9-EADE8DBA6F2B}"/>
                  </a:ext>
                </a:extLst>
              </p:cNvPr>
              <p:cNvCxnSpPr>
                <a:cxnSpLocks noChangeShapeType="1"/>
                <a:stCxn id="172" idx="2"/>
                <a:endCxn id="175" idx="0"/>
              </p:cNvCxnSpPr>
              <p:nvPr/>
            </p:nvCxnSpPr>
            <p:spPr bwMode="auto">
              <a:xfrm>
                <a:off x="5084763" y="3015893"/>
                <a:ext cx="1489075" cy="627062"/>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181" name="AutoShape 19">
                <a:extLst>
                  <a:ext uri="{FF2B5EF4-FFF2-40B4-BE49-F238E27FC236}">
                    <a16:creationId xmlns:a16="http://schemas.microsoft.com/office/drawing/2014/main" id="{A22D62B0-EDC6-4A30-9420-7637E8440A3C}"/>
                  </a:ext>
                </a:extLst>
              </p:cNvPr>
              <p:cNvSpPr>
                <a:spLocks noChangeArrowheads="1"/>
              </p:cNvSpPr>
              <p:nvPr/>
            </p:nvSpPr>
            <p:spPr bwMode="auto">
              <a:xfrm>
                <a:off x="6080125" y="2492018"/>
                <a:ext cx="1593850" cy="698500"/>
              </a:xfrm>
              <a:prstGeom prst="diamond">
                <a:avLst/>
              </a:prstGeom>
              <a:solidFill>
                <a:sysClr val="window" lastClr="FFFFFF"/>
              </a:solidFill>
              <a:ln w="12700" cap="sq">
                <a:solidFill>
                  <a:sysClr val="windowText" lastClr="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组成</a:t>
                </a:r>
              </a:p>
            </p:txBody>
          </p:sp>
          <p:cxnSp>
            <p:nvCxnSpPr>
              <p:cNvPr id="182" name="AutoShape 20">
                <a:extLst>
                  <a:ext uri="{FF2B5EF4-FFF2-40B4-BE49-F238E27FC236}">
                    <a16:creationId xmlns:a16="http://schemas.microsoft.com/office/drawing/2014/main" id="{8BC1709E-9F37-41FC-BA21-639E0C409D07}"/>
                  </a:ext>
                </a:extLst>
              </p:cNvPr>
              <p:cNvCxnSpPr>
                <a:cxnSpLocks noChangeShapeType="1"/>
                <a:stCxn id="172" idx="3"/>
                <a:endCxn id="181" idx="1"/>
              </p:cNvCxnSpPr>
              <p:nvPr/>
            </p:nvCxnSpPr>
            <p:spPr bwMode="auto">
              <a:xfrm>
                <a:off x="5581651" y="2841268"/>
                <a:ext cx="498475" cy="0"/>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183" name="AutoShape 21">
                <a:extLst>
                  <a:ext uri="{FF2B5EF4-FFF2-40B4-BE49-F238E27FC236}">
                    <a16:creationId xmlns:a16="http://schemas.microsoft.com/office/drawing/2014/main" id="{2AA41FA7-262F-45FF-977A-F912B4AD3813}"/>
                  </a:ext>
                </a:extLst>
              </p:cNvPr>
              <p:cNvCxnSpPr>
                <a:cxnSpLocks noChangeShapeType="1"/>
                <a:stCxn id="181" idx="3"/>
                <a:endCxn id="167" idx="1"/>
              </p:cNvCxnSpPr>
              <p:nvPr/>
            </p:nvCxnSpPr>
            <p:spPr bwMode="auto">
              <a:xfrm>
                <a:off x="7673975" y="2841268"/>
                <a:ext cx="398462" cy="0"/>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184" name="Rectangle 22">
                <a:extLst>
                  <a:ext uri="{FF2B5EF4-FFF2-40B4-BE49-F238E27FC236}">
                    <a16:creationId xmlns:a16="http://schemas.microsoft.com/office/drawing/2014/main" id="{716DE99C-DCB5-4F88-91DE-8DBDDC5407A1}"/>
                  </a:ext>
                </a:extLst>
              </p:cNvPr>
              <p:cNvSpPr>
                <a:spLocks noChangeArrowheads="1"/>
              </p:cNvSpPr>
              <p:nvPr/>
            </p:nvSpPr>
            <p:spPr bwMode="auto">
              <a:xfrm>
                <a:off x="7573962" y="2492018"/>
                <a:ext cx="596900" cy="349250"/>
              </a:xfrm>
              <a:prstGeom prst="rect">
                <a:avLst/>
              </a:prstGeom>
              <a:noFill/>
              <a:ln w="12700" cap="sq">
                <a:noFill/>
                <a:miter lim="800000"/>
                <a:headEnd/>
                <a:tailEnd/>
              </a:ln>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1</a:t>
                </a:r>
              </a:p>
            </p:txBody>
          </p:sp>
          <p:sp>
            <p:nvSpPr>
              <p:cNvPr id="185" name="Rectangle 23">
                <a:extLst>
                  <a:ext uri="{FF2B5EF4-FFF2-40B4-BE49-F238E27FC236}">
                    <a16:creationId xmlns:a16="http://schemas.microsoft.com/office/drawing/2014/main" id="{A0C006C1-75A2-486B-B655-CD6ECAADE8E7}"/>
                  </a:ext>
                </a:extLst>
              </p:cNvPr>
              <p:cNvSpPr>
                <a:spLocks noChangeArrowheads="1"/>
              </p:cNvSpPr>
              <p:nvPr/>
            </p:nvSpPr>
            <p:spPr bwMode="auto">
              <a:xfrm>
                <a:off x="5581651" y="2492018"/>
                <a:ext cx="598487" cy="349250"/>
              </a:xfrm>
              <a:prstGeom prst="rect">
                <a:avLst/>
              </a:prstGeom>
              <a:noFill/>
              <a:ln w="12700" cap="sq">
                <a:noFill/>
                <a:miter lim="800000"/>
                <a:headEnd/>
                <a:tailEnd/>
              </a:ln>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n</a:t>
                </a:r>
              </a:p>
            </p:txBody>
          </p:sp>
        </p:grpSp>
        <p:sp>
          <p:nvSpPr>
            <p:cNvPr id="126" name="Rectangle 7">
              <a:extLst>
                <a:ext uri="{FF2B5EF4-FFF2-40B4-BE49-F238E27FC236}">
                  <a16:creationId xmlns:a16="http://schemas.microsoft.com/office/drawing/2014/main" id="{8A551AC6-2EA2-40D4-8402-7328CCA26656}"/>
                </a:ext>
              </a:extLst>
            </p:cNvPr>
            <p:cNvSpPr>
              <a:spLocks noChangeArrowheads="1"/>
            </p:cNvSpPr>
            <p:nvPr/>
          </p:nvSpPr>
          <p:spPr bwMode="auto">
            <a:xfrm>
              <a:off x="4788024" y="1485553"/>
              <a:ext cx="4028341" cy="1254645"/>
            </a:xfrm>
            <a:prstGeom prst="rect">
              <a:avLst/>
            </a:prstGeom>
            <a:solidFill>
              <a:sysClr val="window" lastClr="FFFFFF"/>
            </a:solidFill>
            <a:ln w="9525" cap="sq">
              <a:solidFill>
                <a:sysClr val="windowText" lastClr="000000"/>
              </a:solidFill>
              <a:prstDash val="dash"/>
              <a:miter lim="800000"/>
              <a:headEnd/>
              <a:tailEnd/>
            </a:ln>
            <a:effectLst>
              <a:outerShdw dist="35921" dir="2700000" algn="ctr" rotWithShape="0">
                <a:srgbClr val="EEECE1"/>
              </a:outerShdw>
            </a:effectLst>
          </p:spPr>
          <p:txBody>
            <a:bodyPr wrap="none" lIns="0" tIns="0" rIns="0" bIns="0" anchor="ctr"/>
            <a:lstStyle/>
            <a:p>
              <a:pPr marL="0" marR="0" lvl="0" indent="0" defTabSz="914400" eaLnBrk="1" fontAlgn="auto" latinLnBrk="0" hangingPunct="1">
                <a:lnSpc>
                  <a:spcPct val="100000"/>
                </a:lnSpc>
                <a:spcBef>
                  <a:spcPts val="0"/>
                </a:spcBef>
                <a:spcAft>
                  <a:spcPct val="0"/>
                </a:spcAft>
                <a:buClrTx/>
                <a:buSzTx/>
                <a:buFontTx/>
                <a:buNone/>
                <a:tabLst/>
                <a:defRPr/>
              </a:pPr>
              <a:endParaRPr kumimoji="0" lang="zh-CN" altLang="en-US" sz="28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127" name="Rectangle 25">
              <a:extLst>
                <a:ext uri="{FF2B5EF4-FFF2-40B4-BE49-F238E27FC236}">
                  <a16:creationId xmlns:a16="http://schemas.microsoft.com/office/drawing/2014/main" id="{6DFCCB7C-2DDA-466F-9A5C-B7A3A6CE43F8}"/>
                </a:ext>
              </a:extLst>
            </p:cNvPr>
            <p:cNvSpPr>
              <a:spLocks noChangeArrowheads="1"/>
            </p:cNvSpPr>
            <p:nvPr/>
          </p:nvSpPr>
          <p:spPr bwMode="auto">
            <a:xfrm>
              <a:off x="7614730" y="1730390"/>
              <a:ext cx="576459" cy="228300"/>
            </a:xfrm>
            <a:prstGeom prst="rect">
              <a:avLst/>
            </a:prstGeom>
            <a:solidFill>
              <a:sysClr val="window" lastClr="FFFFFF"/>
            </a:solidFill>
            <a:ln w="12700" cap="sq">
              <a:solidFill>
                <a:sysClr val="windowText" lastClr="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班级</a:t>
              </a:r>
            </a:p>
          </p:txBody>
        </p:sp>
        <p:sp>
          <p:nvSpPr>
            <p:cNvPr id="128" name="AutoShape 26">
              <a:extLst>
                <a:ext uri="{FF2B5EF4-FFF2-40B4-BE49-F238E27FC236}">
                  <a16:creationId xmlns:a16="http://schemas.microsoft.com/office/drawing/2014/main" id="{35E1F8FF-1FEF-4520-A8BF-1E1FA7AAABCD}"/>
                </a:ext>
              </a:extLst>
            </p:cNvPr>
            <p:cNvSpPr>
              <a:spLocks noChangeArrowheads="1"/>
            </p:cNvSpPr>
            <p:nvPr/>
          </p:nvSpPr>
          <p:spPr bwMode="auto">
            <a:xfrm>
              <a:off x="7326500" y="2210771"/>
              <a:ext cx="571655" cy="261593"/>
            </a:xfrm>
            <a:prstGeom prst="roundRect">
              <a:avLst>
                <a:gd name="adj" fmla="val 50000"/>
              </a:avLst>
            </a:prstGeom>
            <a:solidFill>
              <a:srgbClr val="EEECE1"/>
            </a:solidFill>
            <a:ln w="12700" cap="sq">
              <a:solidFill>
                <a:sysClr val="windowText" lastClr="000000"/>
              </a:solidFill>
              <a:round/>
              <a:headEnd/>
              <a:tailEnd/>
            </a:ln>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sng"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班号</a:t>
              </a:r>
            </a:p>
          </p:txBody>
        </p:sp>
        <p:sp>
          <p:nvSpPr>
            <p:cNvPr id="129" name="AutoShape 27">
              <a:extLst>
                <a:ext uri="{FF2B5EF4-FFF2-40B4-BE49-F238E27FC236}">
                  <a16:creationId xmlns:a16="http://schemas.microsoft.com/office/drawing/2014/main" id="{15C7069C-D415-4072-9C00-130C5D0D359A}"/>
                </a:ext>
              </a:extLst>
            </p:cNvPr>
            <p:cNvSpPr>
              <a:spLocks noChangeArrowheads="1"/>
            </p:cNvSpPr>
            <p:nvPr/>
          </p:nvSpPr>
          <p:spPr bwMode="auto">
            <a:xfrm>
              <a:off x="8018251" y="2250406"/>
              <a:ext cx="571655" cy="221958"/>
            </a:xfrm>
            <a:prstGeom prst="roundRect">
              <a:avLst>
                <a:gd name="adj" fmla="val 50000"/>
              </a:avLst>
            </a:prstGeom>
            <a:solidFill>
              <a:sysClr val="window" lastClr="FFFFFF"/>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班名</a:t>
              </a:r>
            </a:p>
          </p:txBody>
        </p:sp>
        <p:cxnSp>
          <p:nvCxnSpPr>
            <p:cNvPr id="130" name="AutoShape 28">
              <a:extLst>
                <a:ext uri="{FF2B5EF4-FFF2-40B4-BE49-F238E27FC236}">
                  <a16:creationId xmlns:a16="http://schemas.microsoft.com/office/drawing/2014/main" id="{F3E4DB92-80D9-4739-933A-551E58CD6C9A}"/>
                </a:ext>
              </a:extLst>
            </p:cNvPr>
            <p:cNvCxnSpPr>
              <a:cxnSpLocks noChangeShapeType="1"/>
              <a:stCxn id="127" idx="2"/>
              <a:endCxn id="128" idx="0"/>
            </p:cNvCxnSpPr>
            <p:nvPr/>
          </p:nvCxnSpPr>
          <p:spPr bwMode="auto">
            <a:xfrm flipH="1">
              <a:off x="7612328" y="1958690"/>
              <a:ext cx="290631" cy="252081"/>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131" name="AutoShape 29">
              <a:extLst>
                <a:ext uri="{FF2B5EF4-FFF2-40B4-BE49-F238E27FC236}">
                  <a16:creationId xmlns:a16="http://schemas.microsoft.com/office/drawing/2014/main" id="{DD96E1F7-17E2-4527-9537-2A925A2931C6}"/>
                </a:ext>
              </a:extLst>
            </p:cNvPr>
            <p:cNvCxnSpPr>
              <a:cxnSpLocks noChangeShapeType="1"/>
              <a:stCxn id="127" idx="2"/>
              <a:endCxn id="129" idx="0"/>
            </p:cNvCxnSpPr>
            <p:nvPr/>
          </p:nvCxnSpPr>
          <p:spPr bwMode="auto">
            <a:xfrm>
              <a:off x="7902959" y="1958690"/>
              <a:ext cx="401119" cy="291716"/>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132" name="Rectangle 30">
              <a:extLst>
                <a:ext uri="{FF2B5EF4-FFF2-40B4-BE49-F238E27FC236}">
                  <a16:creationId xmlns:a16="http://schemas.microsoft.com/office/drawing/2014/main" id="{1E27A1C5-A465-449C-97BD-D5B7AF531E08}"/>
                </a:ext>
              </a:extLst>
            </p:cNvPr>
            <p:cNvSpPr>
              <a:spLocks noChangeArrowheads="1"/>
            </p:cNvSpPr>
            <p:nvPr/>
          </p:nvSpPr>
          <p:spPr bwMode="auto">
            <a:xfrm>
              <a:off x="5698004" y="1730390"/>
              <a:ext cx="576459" cy="228300"/>
            </a:xfrm>
            <a:prstGeom prst="rect">
              <a:avLst/>
            </a:prstGeom>
            <a:solidFill>
              <a:sysClr val="window" lastClr="FFFFFF"/>
            </a:solidFill>
            <a:ln w="12700" cap="sq">
              <a:solidFill>
                <a:sysClr val="windowText" lastClr="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班长</a:t>
              </a:r>
            </a:p>
          </p:txBody>
        </p:sp>
        <p:sp>
          <p:nvSpPr>
            <p:cNvPr id="133" name="AutoShape 31">
              <a:extLst>
                <a:ext uri="{FF2B5EF4-FFF2-40B4-BE49-F238E27FC236}">
                  <a16:creationId xmlns:a16="http://schemas.microsoft.com/office/drawing/2014/main" id="{BD8FB7FE-32AD-47E4-AE36-9CD6E8BF08F3}"/>
                </a:ext>
              </a:extLst>
            </p:cNvPr>
            <p:cNvSpPr>
              <a:spLocks noChangeArrowheads="1"/>
            </p:cNvSpPr>
            <p:nvPr/>
          </p:nvSpPr>
          <p:spPr bwMode="auto">
            <a:xfrm>
              <a:off x="5317301" y="2210771"/>
              <a:ext cx="577660" cy="299643"/>
            </a:xfrm>
            <a:prstGeom prst="roundRect">
              <a:avLst>
                <a:gd name="adj" fmla="val 50000"/>
              </a:avLst>
            </a:prstGeom>
            <a:solidFill>
              <a:srgbClr val="EEECE1"/>
            </a:solidFill>
            <a:ln w="12700" cap="sq">
              <a:solidFill>
                <a:sysClr val="windowText" lastClr="000000"/>
              </a:solidFill>
              <a:round/>
              <a:headEnd/>
              <a:tailEnd/>
            </a:ln>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sng"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学号</a:t>
              </a:r>
            </a:p>
          </p:txBody>
        </p:sp>
        <p:sp>
          <p:nvSpPr>
            <p:cNvPr id="134" name="AutoShape 32">
              <a:extLst>
                <a:ext uri="{FF2B5EF4-FFF2-40B4-BE49-F238E27FC236}">
                  <a16:creationId xmlns:a16="http://schemas.microsoft.com/office/drawing/2014/main" id="{76B3D14F-1610-44B0-9FB0-2B6135B6F6B1}"/>
                </a:ext>
              </a:extLst>
            </p:cNvPr>
            <p:cNvSpPr>
              <a:spLocks noChangeArrowheads="1"/>
            </p:cNvSpPr>
            <p:nvPr/>
          </p:nvSpPr>
          <p:spPr bwMode="auto">
            <a:xfrm>
              <a:off x="5981430" y="2258333"/>
              <a:ext cx="462368" cy="252081"/>
            </a:xfrm>
            <a:prstGeom prst="roundRect">
              <a:avLst>
                <a:gd name="adj" fmla="val 50000"/>
              </a:avLst>
            </a:prstGeom>
            <a:solidFill>
              <a:sysClr val="window" lastClr="FFFFFF"/>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姓名</a:t>
              </a:r>
            </a:p>
          </p:txBody>
        </p:sp>
        <p:cxnSp>
          <p:nvCxnSpPr>
            <p:cNvPr id="135" name="AutoShape 33">
              <a:extLst>
                <a:ext uri="{FF2B5EF4-FFF2-40B4-BE49-F238E27FC236}">
                  <a16:creationId xmlns:a16="http://schemas.microsoft.com/office/drawing/2014/main" id="{49C0E9DA-D647-4872-913B-53F299C0D32A}"/>
                </a:ext>
              </a:extLst>
            </p:cNvPr>
            <p:cNvCxnSpPr>
              <a:cxnSpLocks noChangeShapeType="1"/>
              <a:stCxn id="132" idx="2"/>
              <a:endCxn id="133" idx="0"/>
            </p:cNvCxnSpPr>
            <p:nvPr/>
          </p:nvCxnSpPr>
          <p:spPr bwMode="auto">
            <a:xfrm flipH="1">
              <a:off x="5606731" y="1958690"/>
              <a:ext cx="380703" cy="252081"/>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136" name="AutoShape 34">
              <a:extLst>
                <a:ext uri="{FF2B5EF4-FFF2-40B4-BE49-F238E27FC236}">
                  <a16:creationId xmlns:a16="http://schemas.microsoft.com/office/drawing/2014/main" id="{8E63EE12-C1CE-4A73-943C-796461A09D12}"/>
                </a:ext>
              </a:extLst>
            </p:cNvPr>
            <p:cNvCxnSpPr>
              <a:cxnSpLocks noChangeShapeType="1"/>
              <a:stCxn id="132" idx="2"/>
              <a:endCxn id="134" idx="0"/>
            </p:cNvCxnSpPr>
            <p:nvPr/>
          </p:nvCxnSpPr>
          <p:spPr bwMode="auto">
            <a:xfrm>
              <a:off x="5986233" y="1958690"/>
              <a:ext cx="226981" cy="299643"/>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137" name="AutoShape 35">
              <a:extLst>
                <a:ext uri="{FF2B5EF4-FFF2-40B4-BE49-F238E27FC236}">
                  <a16:creationId xmlns:a16="http://schemas.microsoft.com/office/drawing/2014/main" id="{3377DB8C-89AA-44CB-B63F-57E0922D33DC}"/>
                </a:ext>
              </a:extLst>
            </p:cNvPr>
            <p:cNvSpPr>
              <a:spLocks noChangeArrowheads="1"/>
            </p:cNvSpPr>
            <p:nvPr/>
          </p:nvSpPr>
          <p:spPr bwMode="auto">
            <a:xfrm>
              <a:off x="6461812" y="1616240"/>
              <a:ext cx="922334" cy="456599"/>
            </a:xfrm>
            <a:prstGeom prst="diamond">
              <a:avLst/>
            </a:prstGeom>
            <a:solidFill>
              <a:sysClr val="window" lastClr="FFFFFF"/>
            </a:solidFill>
            <a:ln w="12700" cap="sq">
              <a:solidFill>
                <a:sysClr val="windowText" lastClr="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管理</a:t>
              </a:r>
            </a:p>
          </p:txBody>
        </p:sp>
        <p:cxnSp>
          <p:nvCxnSpPr>
            <p:cNvPr id="138" name="AutoShape 36">
              <a:extLst>
                <a:ext uri="{FF2B5EF4-FFF2-40B4-BE49-F238E27FC236}">
                  <a16:creationId xmlns:a16="http://schemas.microsoft.com/office/drawing/2014/main" id="{F4982E2A-4546-42CD-898F-982DF05127D2}"/>
                </a:ext>
              </a:extLst>
            </p:cNvPr>
            <p:cNvCxnSpPr>
              <a:cxnSpLocks noChangeShapeType="1"/>
              <a:stCxn id="132" idx="3"/>
              <a:endCxn id="137" idx="1"/>
            </p:cNvCxnSpPr>
            <p:nvPr/>
          </p:nvCxnSpPr>
          <p:spPr bwMode="auto">
            <a:xfrm>
              <a:off x="6274463" y="1844540"/>
              <a:ext cx="187349" cy="0"/>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139" name="AutoShape 37">
              <a:extLst>
                <a:ext uri="{FF2B5EF4-FFF2-40B4-BE49-F238E27FC236}">
                  <a16:creationId xmlns:a16="http://schemas.microsoft.com/office/drawing/2014/main" id="{C6248EA5-1396-4434-9D2F-B9EC36FD2E4A}"/>
                </a:ext>
              </a:extLst>
            </p:cNvPr>
            <p:cNvCxnSpPr>
              <a:cxnSpLocks noChangeShapeType="1"/>
              <a:stCxn id="137" idx="3"/>
              <a:endCxn id="127" idx="1"/>
            </p:cNvCxnSpPr>
            <p:nvPr/>
          </p:nvCxnSpPr>
          <p:spPr bwMode="auto">
            <a:xfrm>
              <a:off x="7384146" y="1844540"/>
              <a:ext cx="230584" cy="0"/>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140" name="Rectangle 38">
              <a:extLst>
                <a:ext uri="{FF2B5EF4-FFF2-40B4-BE49-F238E27FC236}">
                  <a16:creationId xmlns:a16="http://schemas.microsoft.com/office/drawing/2014/main" id="{61102026-E668-4BA8-8151-021C3618C8DC}"/>
                </a:ext>
              </a:extLst>
            </p:cNvPr>
            <p:cNvSpPr>
              <a:spLocks noChangeArrowheads="1"/>
            </p:cNvSpPr>
            <p:nvPr/>
          </p:nvSpPr>
          <p:spPr bwMode="auto">
            <a:xfrm>
              <a:off x="7326500" y="1616240"/>
              <a:ext cx="348277" cy="228300"/>
            </a:xfrm>
            <a:prstGeom prst="rect">
              <a:avLst/>
            </a:prstGeom>
            <a:noFill/>
            <a:ln w="12700" cap="sq">
              <a:noFill/>
              <a:miter lim="800000"/>
              <a:headEnd/>
              <a:tailEnd/>
            </a:ln>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1</a:t>
              </a:r>
            </a:p>
          </p:txBody>
        </p:sp>
        <p:sp>
          <p:nvSpPr>
            <p:cNvPr id="141" name="Rectangle 39">
              <a:extLst>
                <a:ext uri="{FF2B5EF4-FFF2-40B4-BE49-F238E27FC236}">
                  <a16:creationId xmlns:a16="http://schemas.microsoft.com/office/drawing/2014/main" id="{1D8E8E3A-2EB5-43BF-A6BC-017DEB1FFB8D}"/>
                </a:ext>
              </a:extLst>
            </p:cNvPr>
            <p:cNvSpPr>
              <a:spLocks noChangeArrowheads="1"/>
            </p:cNvSpPr>
            <p:nvPr/>
          </p:nvSpPr>
          <p:spPr bwMode="auto">
            <a:xfrm>
              <a:off x="6202406" y="1616240"/>
              <a:ext cx="345875" cy="228300"/>
            </a:xfrm>
            <a:prstGeom prst="rect">
              <a:avLst/>
            </a:prstGeom>
            <a:noFill/>
            <a:ln w="12700" cap="sq">
              <a:noFill/>
              <a:miter lim="800000"/>
              <a:headEnd/>
              <a:tailEnd/>
            </a:ln>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1</a:t>
              </a:r>
            </a:p>
          </p:txBody>
        </p:sp>
        <p:sp>
          <p:nvSpPr>
            <p:cNvPr id="142" name="Rectangle 8">
              <a:extLst>
                <a:ext uri="{FF2B5EF4-FFF2-40B4-BE49-F238E27FC236}">
                  <a16:creationId xmlns:a16="http://schemas.microsoft.com/office/drawing/2014/main" id="{6118A614-1CE5-4E02-B6CF-D56668B30059}"/>
                </a:ext>
              </a:extLst>
            </p:cNvPr>
            <p:cNvSpPr>
              <a:spLocks noChangeArrowheads="1"/>
            </p:cNvSpPr>
            <p:nvPr/>
          </p:nvSpPr>
          <p:spPr bwMode="auto">
            <a:xfrm>
              <a:off x="327635" y="1530419"/>
              <a:ext cx="919185" cy="274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400" b="1" i="0" u="none" strike="noStrike" kern="0" cap="none" spc="0" normalizeH="0" baseline="0" noProof="0" dirty="0">
                  <a:ln>
                    <a:noFill/>
                  </a:ln>
                  <a:solidFill>
                    <a:srgbClr val="FF0000"/>
                  </a:solidFill>
                  <a:effectLst/>
                  <a:uLnTx/>
                  <a:uFillTx/>
                  <a:latin typeface="微软雅黑" pitchFamily="34" charset="-122"/>
                  <a:ea typeface="微软雅黑" pitchFamily="34" charset="-122"/>
                </a:rPr>
                <a:t>分图</a:t>
              </a:r>
              <a:r>
                <a:rPr kumimoji="0" lang="en-US" altLang="zh-CN" sz="2400" b="1" i="0" u="none" strike="noStrike" kern="0" cap="none" spc="0" normalizeH="0" baseline="0" noProof="0" dirty="0">
                  <a:ln>
                    <a:noFill/>
                  </a:ln>
                  <a:solidFill>
                    <a:srgbClr val="FF0000"/>
                  </a:solidFill>
                  <a:effectLst/>
                  <a:uLnTx/>
                  <a:uFillTx/>
                  <a:latin typeface="微软雅黑" pitchFamily="34" charset="-122"/>
                  <a:ea typeface="微软雅黑" pitchFamily="34" charset="-122"/>
                </a:rPr>
                <a:t>1</a:t>
              </a:r>
              <a:endParaRPr kumimoji="0" lang="zh-CN" altLang="en-US" sz="2400" b="1" i="0" u="none" strike="noStrike" kern="0" cap="none" spc="0" normalizeH="0" baseline="0" noProof="0" dirty="0">
                <a:ln>
                  <a:noFill/>
                </a:ln>
                <a:solidFill>
                  <a:srgbClr val="FF0000"/>
                </a:solidFill>
                <a:effectLst/>
                <a:uLnTx/>
                <a:uFillTx/>
                <a:latin typeface="微软雅黑" pitchFamily="34" charset="-122"/>
                <a:ea typeface="微软雅黑" pitchFamily="34" charset="-122"/>
              </a:endParaRPr>
            </a:p>
          </p:txBody>
        </p:sp>
        <p:sp>
          <p:nvSpPr>
            <p:cNvPr id="143" name="Rectangle 8">
              <a:extLst>
                <a:ext uri="{FF2B5EF4-FFF2-40B4-BE49-F238E27FC236}">
                  <a16:creationId xmlns:a16="http://schemas.microsoft.com/office/drawing/2014/main" id="{80E1856C-200A-4816-BBB8-2122C4935F9C}"/>
                </a:ext>
              </a:extLst>
            </p:cNvPr>
            <p:cNvSpPr>
              <a:spLocks noChangeArrowheads="1"/>
            </p:cNvSpPr>
            <p:nvPr/>
          </p:nvSpPr>
          <p:spPr bwMode="auto">
            <a:xfrm>
              <a:off x="4699000" y="1530419"/>
              <a:ext cx="919185" cy="274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400" b="1" i="0" u="none" strike="noStrike" kern="0" cap="none" spc="0" normalizeH="0" baseline="0" noProof="0" dirty="0">
                  <a:ln>
                    <a:noFill/>
                  </a:ln>
                  <a:solidFill>
                    <a:srgbClr val="FF0000"/>
                  </a:solidFill>
                  <a:effectLst/>
                  <a:uLnTx/>
                  <a:uFillTx/>
                  <a:latin typeface="微软雅黑" pitchFamily="34" charset="-122"/>
                  <a:ea typeface="微软雅黑" pitchFamily="34" charset="-122"/>
                </a:rPr>
                <a:t>分图</a:t>
              </a:r>
              <a:r>
                <a:rPr kumimoji="0" lang="en-US" altLang="zh-CN" sz="2400" b="1" i="0" u="none" strike="noStrike" kern="0" cap="none" spc="0" normalizeH="0" baseline="0" noProof="0" dirty="0">
                  <a:ln>
                    <a:noFill/>
                  </a:ln>
                  <a:solidFill>
                    <a:srgbClr val="FF0000"/>
                  </a:solidFill>
                  <a:effectLst/>
                  <a:uLnTx/>
                  <a:uFillTx/>
                  <a:latin typeface="微软雅黑" pitchFamily="34" charset="-122"/>
                  <a:ea typeface="微软雅黑" pitchFamily="34" charset="-122"/>
                </a:rPr>
                <a:t>2</a:t>
              </a:r>
              <a:endParaRPr kumimoji="0" lang="zh-CN" altLang="en-US" sz="2400" b="1" i="0" u="none" strike="noStrike" kern="0" cap="none" spc="0" normalizeH="0" baseline="0" noProof="0" dirty="0">
                <a:ln>
                  <a:noFill/>
                </a:ln>
                <a:solidFill>
                  <a:srgbClr val="FF0000"/>
                </a:solidFill>
                <a:effectLst/>
                <a:uLnTx/>
                <a:uFillTx/>
                <a:latin typeface="微软雅黑" pitchFamily="34" charset="-122"/>
                <a:ea typeface="微软雅黑" pitchFamily="34" charset="-122"/>
              </a:endParaRPr>
            </a:p>
          </p:txBody>
        </p:sp>
        <p:sp>
          <p:nvSpPr>
            <p:cNvPr id="144" name="Rectangle 7">
              <a:extLst>
                <a:ext uri="{FF2B5EF4-FFF2-40B4-BE49-F238E27FC236}">
                  <a16:creationId xmlns:a16="http://schemas.microsoft.com/office/drawing/2014/main" id="{A8CCC58F-88F3-4F5F-8B1C-31A71E3DD94B}"/>
                </a:ext>
              </a:extLst>
            </p:cNvPr>
            <p:cNvSpPr>
              <a:spLocks noChangeArrowheads="1"/>
            </p:cNvSpPr>
            <p:nvPr/>
          </p:nvSpPr>
          <p:spPr bwMode="auto">
            <a:xfrm>
              <a:off x="440524" y="3076111"/>
              <a:ext cx="8372745" cy="1295839"/>
            </a:xfrm>
            <a:prstGeom prst="rect">
              <a:avLst/>
            </a:prstGeom>
            <a:solidFill>
              <a:sysClr val="window" lastClr="FFFFFF"/>
            </a:solidFill>
            <a:ln w="9525" cap="sq">
              <a:solidFill>
                <a:sysClr val="windowText" lastClr="000000"/>
              </a:solidFill>
              <a:prstDash val="dash"/>
              <a:miter lim="800000"/>
              <a:headEnd/>
              <a:tailEnd/>
            </a:ln>
            <a:effectLst>
              <a:outerShdw dist="35921" dir="2700000" algn="ctr" rotWithShape="0">
                <a:srgbClr val="EEECE1"/>
              </a:outerShdw>
            </a:effectLst>
          </p:spPr>
          <p:txBody>
            <a:bodyPr wrap="none" lIns="0" tIns="0" rIns="0" bIns="0" anchor="ctr"/>
            <a:lstStyle/>
            <a:p>
              <a:pPr marL="0" marR="0" lvl="0" indent="0" defTabSz="914400" eaLnBrk="1" fontAlgn="auto" latinLnBrk="0" hangingPunct="1">
                <a:lnSpc>
                  <a:spcPct val="100000"/>
                </a:lnSpc>
                <a:spcBef>
                  <a:spcPts val="0"/>
                </a:spcBef>
                <a:spcAft>
                  <a:spcPct val="0"/>
                </a:spcAft>
                <a:buClrTx/>
                <a:buSzTx/>
                <a:buFontTx/>
                <a:buNone/>
                <a:tabLst/>
                <a:defRPr/>
              </a:pPr>
              <a:endParaRPr kumimoji="0" lang="zh-CN" altLang="en-US" sz="28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145" name="Rectangle 5">
              <a:extLst>
                <a:ext uri="{FF2B5EF4-FFF2-40B4-BE49-F238E27FC236}">
                  <a16:creationId xmlns:a16="http://schemas.microsoft.com/office/drawing/2014/main" id="{13BBE7B7-F003-4F4A-BA6D-9BCF02E791B8}"/>
                </a:ext>
              </a:extLst>
            </p:cNvPr>
            <p:cNvSpPr>
              <a:spLocks noChangeArrowheads="1"/>
            </p:cNvSpPr>
            <p:nvPr/>
          </p:nvSpPr>
          <p:spPr bwMode="auto">
            <a:xfrm>
              <a:off x="6471110" y="3359997"/>
              <a:ext cx="600615" cy="210742"/>
            </a:xfrm>
            <a:prstGeom prst="rect">
              <a:avLst/>
            </a:prstGeom>
            <a:solidFill>
              <a:sysClr val="window" lastClr="FFFFFF"/>
            </a:solidFill>
            <a:ln w="12700" cap="sq">
              <a:solidFill>
                <a:sysClr val="windowText" lastClr="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班级</a:t>
              </a:r>
            </a:p>
          </p:txBody>
        </p:sp>
        <p:sp>
          <p:nvSpPr>
            <p:cNvPr id="146" name="AutoShape 6">
              <a:extLst>
                <a:ext uri="{FF2B5EF4-FFF2-40B4-BE49-F238E27FC236}">
                  <a16:creationId xmlns:a16="http://schemas.microsoft.com/office/drawing/2014/main" id="{39AF91A7-F3EB-45C2-A57D-ABDCBE019E77}"/>
                </a:ext>
              </a:extLst>
            </p:cNvPr>
            <p:cNvSpPr>
              <a:spLocks noChangeArrowheads="1"/>
            </p:cNvSpPr>
            <p:nvPr/>
          </p:nvSpPr>
          <p:spPr bwMode="auto">
            <a:xfrm>
              <a:off x="5825368" y="3859233"/>
              <a:ext cx="595826" cy="261299"/>
            </a:xfrm>
            <a:prstGeom prst="roundRect">
              <a:avLst>
                <a:gd name="adj" fmla="val 50000"/>
              </a:avLst>
            </a:prstGeom>
            <a:solidFill>
              <a:srgbClr val="EEECE1"/>
            </a:solidFill>
            <a:ln w="12700" cap="sq">
              <a:solidFill>
                <a:sysClr val="windowText" lastClr="000000"/>
              </a:solidFill>
              <a:round/>
              <a:headEnd/>
              <a:tailEnd/>
            </a:ln>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sng"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班号</a:t>
              </a:r>
            </a:p>
          </p:txBody>
        </p:sp>
        <p:sp>
          <p:nvSpPr>
            <p:cNvPr id="147" name="AutoShape 7">
              <a:extLst>
                <a:ext uri="{FF2B5EF4-FFF2-40B4-BE49-F238E27FC236}">
                  <a16:creationId xmlns:a16="http://schemas.microsoft.com/office/drawing/2014/main" id="{5A097889-B551-4555-A670-2264209C969C}"/>
                </a:ext>
              </a:extLst>
            </p:cNvPr>
            <p:cNvSpPr>
              <a:spLocks noChangeArrowheads="1"/>
            </p:cNvSpPr>
            <p:nvPr/>
          </p:nvSpPr>
          <p:spPr bwMode="auto">
            <a:xfrm>
              <a:off x="6546681" y="3915537"/>
              <a:ext cx="595826" cy="204995"/>
            </a:xfrm>
            <a:prstGeom prst="roundRect">
              <a:avLst>
                <a:gd name="adj" fmla="val 50000"/>
              </a:avLst>
            </a:prstGeom>
            <a:solidFill>
              <a:sysClr val="window" lastClr="FFFFFF"/>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班名</a:t>
              </a:r>
            </a:p>
          </p:txBody>
        </p:sp>
        <p:cxnSp>
          <p:nvCxnSpPr>
            <p:cNvPr id="148" name="AutoShape 8">
              <a:extLst>
                <a:ext uri="{FF2B5EF4-FFF2-40B4-BE49-F238E27FC236}">
                  <a16:creationId xmlns:a16="http://schemas.microsoft.com/office/drawing/2014/main" id="{3C41F9E4-90BD-4B26-8A0C-89DDE2A4C985}"/>
                </a:ext>
              </a:extLst>
            </p:cNvPr>
            <p:cNvCxnSpPr>
              <a:cxnSpLocks noChangeShapeType="1"/>
              <a:stCxn id="145" idx="2"/>
              <a:endCxn id="146" idx="0"/>
            </p:cNvCxnSpPr>
            <p:nvPr/>
          </p:nvCxnSpPr>
          <p:spPr bwMode="auto">
            <a:xfrm flipH="1">
              <a:off x="6123281" y="3570739"/>
              <a:ext cx="648137" cy="288494"/>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149" name="AutoShape 9">
              <a:extLst>
                <a:ext uri="{FF2B5EF4-FFF2-40B4-BE49-F238E27FC236}">
                  <a16:creationId xmlns:a16="http://schemas.microsoft.com/office/drawing/2014/main" id="{0FD98C66-861F-4BF3-BE68-B649296D5F5E}"/>
                </a:ext>
              </a:extLst>
            </p:cNvPr>
            <p:cNvCxnSpPr>
              <a:cxnSpLocks noChangeShapeType="1"/>
              <a:stCxn id="145" idx="2"/>
              <a:endCxn id="147" idx="0"/>
            </p:cNvCxnSpPr>
            <p:nvPr/>
          </p:nvCxnSpPr>
          <p:spPr bwMode="auto">
            <a:xfrm>
              <a:off x="6771418" y="3570739"/>
              <a:ext cx="73176" cy="344798"/>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150" name="Rectangle 10">
              <a:extLst>
                <a:ext uri="{FF2B5EF4-FFF2-40B4-BE49-F238E27FC236}">
                  <a16:creationId xmlns:a16="http://schemas.microsoft.com/office/drawing/2014/main" id="{5213D7C6-F905-40DF-995B-11B39F9C48E0}"/>
                </a:ext>
              </a:extLst>
            </p:cNvPr>
            <p:cNvSpPr>
              <a:spLocks noChangeArrowheads="1"/>
            </p:cNvSpPr>
            <p:nvPr/>
          </p:nvSpPr>
          <p:spPr bwMode="auto">
            <a:xfrm>
              <a:off x="3150038" y="3359997"/>
              <a:ext cx="600615" cy="210742"/>
            </a:xfrm>
            <a:prstGeom prst="rect">
              <a:avLst/>
            </a:prstGeom>
            <a:solidFill>
              <a:sysClr val="window" lastClr="FFFFFF"/>
            </a:solidFill>
            <a:ln w="12700" cap="sq">
              <a:solidFill>
                <a:sysClr val="windowText" lastClr="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学生</a:t>
              </a:r>
            </a:p>
          </p:txBody>
        </p:sp>
        <p:sp>
          <p:nvSpPr>
            <p:cNvPr id="151" name="AutoShape 11">
              <a:extLst>
                <a:ext uri="{FF2B5EF4-FFF2-40B4-BE49-F238E27FC236}">
                  <a16:creationId xmlns:a16="http://schemas.microsoft.com/office/drawing/2014/main" id="{AAE91A43-A049-49EA-A721-CF59B8B65D5E}"/>
                </a:ext>
              </a:extLst>
            </p:cNvPr>
            <p:cNvSpPr>
              <a:spLocks noChangeArrowheads="1"/>
            </p:cNvSpPr>
            <p:nvPr/>
          </p:nvSpPr>
          <p:spPr bwMode="auto">
            <a:xfrm>
              <a:off x="2450758" y="3834961"/>
              <a:ext cx="532602" cy="305824"/>
            </a:xfrm>
            <a:prstGeom prst="roundRect">
              <a:avLst>
                <a:gd name="adj" fmla="val 50000"/>
              </a:avLst>
            </a:prstGeom>
            <a:solidFill>
              <a:srgbClr val="EEECE1"/>
            </a:solidFill>
            <a:ln w="12700" cap="sq">
              <a:solidFill>
                <a:sysClr val="windowText" lastClr="000000"/>
              </a:solidFill>
              <a:round/>
              <a:headEnd/>
              <a:tailEnd/>
            </a:ln>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sng"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学号</a:t>
              </a:r>
            </a:p>
          </p:txBody>
        </p:sp>
        <p:sp>
          <p:nvSpPr>
            <p:cNvPr id="152" name="AutoShape 12">
              <a:extLst>
                <a:ext uri="{FF2B5EF4-FFF2-40B4-BE49-F238E27FC236}">
                  <a16:creationId xmlns:a16="http://schemas.microsoft.com/office/drawing/2014/main" id="{428601CD-C9D0-4797-8D31-25D07D35A226}"/>
                </a:ext>
              </a:extLst>
            </p:cNvPr>
            <p:cNvSpPr>
              <a:spLocks noChangeArrowheads="1"/>
            </p:cNvSpPr>
            <p:nvPr/>
          </p:nvSpPr>
          <p:spPr bwMode="auto">
            <a:xfrm>
              <a:off x="3052330" y="3923200"/>
              <a:ext cx="481834" cy="232775"/>
            </a:xfrm>
            <a:prstGeom prst="roundRect">
              <a:avLst>
                <a:gd name="adj" fmla="val 50000"/>
              </a:avLst>
            </a:prstGeom>
            <a:solidFill>
              <a:sysClr val="window" lastClr="FFFFFF"/>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姓名</a:t>
              </a:r>
            </a:p>
          </p:txBody>
        </p:sp>
        <p:sp>
          <p:nvSpPr>
            <p:cNvPr id="153" name="AutoShape 13">
              <a:extLst>
                <a:ext uri="{FF2B5EF4-FFF2-40B4-BE49-F238E27FC236}">
                  <a16:creationId xmlns:a16="http://schemas.microsoft.com/office/drawing/2014/main" id="{21B0FD66-B802-42BB-A5E7-F9E589C1DA5A}"/>
                </a:ext>
              </a:extLst>
            </p:cNvPr>
            <p:cNvSpPr>
              <a:spLocks noChangeArrowheads="1"/>
            </p:cNvSpPr>
            <p:nvPr/>
          </p:nvSpPr>
          <p:spPr bwMode="auto">
            <a:xfrm>
              <a:off x="4107957" y="3923200"/>
              <a:ext cx="481834" cy="232775"/>
            </a:xfrm>
            <a:prstGeom prst="roundRect">
              <a:avLst>
                <a:gd name="adj" fmla="val 50000"/>
              </a:avLst>
            </a:prstGeom>
            <a:solidFill>
              <a:sysClr val="window" lastClr="FFFFFF"/>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性别</a:t>
              </a:r>
            </a:p>
          </p:txBody>
        </p:sp>
        <p:sp>
          <p:nvSpPr>
            <p:cNvPr id="154" name="AutoShape 14">
              <a:extLst>
                <a:ext uri="{FF2B5EF4-FFF2-40B4-BE49-F238E27FC236}">
                  <a16:creationId xmlns:a16="http://schemas.microsoft.com/office/drawing/2014/main" id="{443FDF75-41E9-438A-90CB-742FEA1CA140}"/>
                </a:ext>
              </a:extLst>
            </p:cNvPr>
            <p:cNvSpPr>
              <a:spLocks noChangeArrowheads="1"/>
            </p:cNvSpPr>
            <p:nvPr/>
          </p:nvSpPr>
          <p:spPr bwMode="auto">
            <a:xfrm>
              <a:off x="3583016" y="3923200"/>
              <a:ext cx="482791" cy="232775"/>
            </a:xfrm>
            <a:prstGeom prst="roundRect">
              <a:avLst>
                <a:gd name="adj" fmla="val 50000"/>
              </a:avLst>
            </a:prstGeom>
            <a:solidFill>
              <a:sysClr val="window" lastClr="FFFFFF"/>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生日</a:t>
              </a:r>
            </a:p>
          </p:txBody>
        </p:sp>
        <p:cxnSp>
          <p:nvCxnSpPr>
            <p:cNvPr id="155" name="AutoShape 15">
              <a:extLst>
                <a:ext uri="{FF2B5EF4-FFF2-40B4-BE49-F238E27FC236}">
                  <a16:creationId xmlns:a16="http://schemas.microsoft.com/office/drawing/2014/main" id="{6DB77D87-3AA4-45EB-84DA-837238897F54}"/>
                </a:ext>
              </a:extLst>
            </p:cNvPr>
            <p:cNvCxnSpPr>
              <a:cxnSpLocks noChangeShapeType="1"/>
              <a:stCxn id="150" idx="2"/>
              <a:endCxn id="151" idx="0"/>
            </p:cNvCxnSpPr>
            <p:nvPr/>
          </p:nvCxnSpPr>
          <p:spPr bwMode="auto">
            <a:xfrm flipH="1">
              <a:off x="2717059" y="3570739"/>
              <a:ext cx="733287" cy="264222"/>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156" name="AutoShape 16">
              <a:extLst>
                <a:ext uri="{FF2B5EF4-FFF2-40B4-BE49-F238E27FC236}">
                  <a16:creationId xmlns:a16="http://schemas.microsoft.com/office/drawing/2014/main" id="{8A8F28D1-EB6B-4A91-89B8-84614AE1D1F3}"/>
                </a:ext>
              </a:extLst>
            </p:cNvPr>
            <p:cNvCxnSpPr>
              <a:cxnSpLocks noChangeShapeType="1"/>
              <a:stCxn id="150" idx="2"/>
              <a:endCxn id="152" idx="0"/>
            </p:cNvCxnSpPr>
            <p:nvPr/>
          </p:nvCxnSpPr>
          <p:spPr bwMode="auto">
            <a:xfrm flipH="1">
              <a:off x="3293247" y="3570739"/>
              <a:ext cx="157099" cy="352461"/>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157" name="AutoShape 17">
              <a:extLst>
                <a:ext uri="{FF2B5EF4-FFF2-40B4-BE49-F238E27FC236}">
                  <a16:creationId xmlns:a16="http://schemas.microsoft.com/office/drawing/2014/main" id="{65BDAC21-8D68-4192-AC66-0AD520B9F740}"/>
                </a:ext>
              </a:extLst>
            </p:cNvPr>
            <p:cNvCxnSpPr>
              <a:cxnSpLocks noChangeShapeType="1"/>
              <a:stCxn id="150" idx="2"/>
              <a:endCxn id="154" idx="0"/>
            </p:cNvCxnSpPr>
            <p:nvPr/>
          </p:nvCxnSpPr>
          <p:spPr bwMode="auto">
            <a:xfrm>
              <a:off x="3450346" y="3570739"/>
              <a:ext cx="374066" cy="352461"/>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158" name="AutoShape 18">
              <a:extLst>
                <a:ext uri="{FF2B5EF4-FFF2-40B4-BE49-F238E27FC236}">
                  <a16:creationId xmlns:a16="http://schemas.microsoft.com/office/drawing/2014/main" id="{5B7C9D11-0DEE-4ADF-84C5-DA8312CB6C3E}"/>
                </a:ext>
              </a:extLst>
            </p:cNvPr>
            <p:cNvCxnSpPr>
              <a:cxnSpLocks noChangeShapeType="1"/>
              <a:stCxn id="150" idx="2"/>
              <a:endCxn id="153" idx="0"/>
            </p:cNvCxnSpPr>
            <p:nvPr/>
          </p:nvCxnSpPr>
          <p:spPr bwMode="auto">
            <a:xfrm>
              <a:off x="3450346" y="3570739"/>
              <a:ext cx="898528" cy="352461"/>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159" name="AutoShape 19">
              <a:extLst>
                <a:ext uri="{FF2B5EF4-FFF2-40B4-BE49-F238E27FC236}">
                  <a16:creationId xmlns:a16="http://schemas.microsoft.com/office/drawing/2014/main" id="{B14DCA48-642E-4822-9241-6E0F2ABBFF28}"/>
                </a:ext>
              </a:extLst>
            </p:cNvPr>
            <p:cNvSpPr>
              <a:spLocks noChangeArrowheads="1"/>
            </p:cNvSpPr>
            <p:nvPr/>
          </p:nvSpPr>
          <p:spPr bwMode="auto">
            <a:xfrm>
              <a:off x="4489815" y="3254626"/>
              <a:ext cx="961751" cy="421484"/>
            </a:xfrm>
            <a:prstGeom prst="diamond">
              <a:avLst/>
            </a:prstGeom>
            <a:solidFill>
              <a:sysClr val="window" lastClr="FFFFFF"/>
            </a:solidFill>
            <a:ln w="12700" cap="sq">
              <a:solidFill>
                <a:sysClr val="windowText" lastClr="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组成</a:t>
              </a:r>
            </a:p>
          </p:txBody>
        </p:sp>
        <p:cxnSp>
          <p:nvCxnSpPr>
            <p:cNvPr id="160" name="AutoShape 20">
              <a:extLst>
                <a:ext uri="{FF2B5EF4-FFF2-40B4-BE49-F238E27FC236}">
                  <a16:creationId xmlns:a16="http://schemas.microsoft.com/office/drawing/2014/main" id="{0850BF22-4BF6-4320-BBF8-2FDCDD2FFC1F}"/>
                </a:ext>
              </a:extLst>
            </p:cNvPr>
            <p:cNvCxnSpPr>
              <a:cxnSpLocks noChangeShapeType="1"/>
              <a:stCxn id="150" idx="3"/>
              <a:endCxn id="159" idx="1"/>
            </p:cNvCxnSpPr>
            <p:nvPr/>
          </p:nvCxnSpPr>
          <p:spPr bwMode="auto">
            <a:xfrm>
              <a:off x="3750653" y="3465368"/>
              <a:ext cx="739162" cy="0"/>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161" name="AutoShape 21">
              <a:extLst>
                <a:ext uri="{FF2B5EF4-FFF2-40B4-BE49-F238E27FC236}">
                  <a16:creationId xmlns:a16="http://schemas.microsoft.com/office/drawing/2014/main" id="{23C70BF3-AFFD-4DC5-A9AA-C762B8D59178}"/>
                </a:ext>
              </a:extLst>
            </p:cNvPr>
            <p:cNvCxnSpPr>
              <a:cxnSpLocks noChangeShapeType="1"/>
              <a:stCxn id="159" idx="3"/>
              <a:endCxn id="145" idx="1"/>
            </p:cNvCxnSpPr>
            <p:nvPr/>
          </p:nvCxnSpPr>
          <p:spPr bwMode="auto">
            <a:xfrm>
              <a:off x="5451566" y="3465368"/>
              <a:ext cx="1019544" cy="0"/>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162" name="Rectangle 23">
              <a:extLst>
                <a:ext uri="{FF2B5EF4-FFF2-40B4-BE49-F238E27FC236}">
                  <a16:creationId xmlns:a16="http://schemas.microsoft.com/office/drawing/2014/main" id="{12AEFCF0-4CCE-4645-88A5-0F7CF9AB2574}"/>
                </a:ext>
              </a:extLst>
            </p:cNvPr>
            <p:cNvSpPr>
              <a:spLocks noChangeArrowheads="1"/>
            </p:cNvSpPr>
            <p:nvPr/>
          </p:nvSpPr>
          <p:spPr bwMode="auto">
            <a:xfrm>
              <a:off x="3750653" y="3228709"/>
              <a:ext cx="361135" cy="210742"/>
            </a:xfrm>
            <a:prstGeom prst="rect">
              <a:avLst/>
            </a:prstGeom>
            <a:noFill/>
            <a:ln w="12700" cap="sq">
              <a:noFill/>
              <a:miter lim="800000"/>
              <a:headEnd/>
              <a:tailEnd/>
            </a:ln>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n</a:t>
              </a:r>
            </a:p>
          </p:txBody>
        </p:sp>
        <p:cxnSp>
          <p:nvCxnSpPr>
            <p:cNvPr id="163" name="AutoShape 33">
              <a:extLst>
                <a:ext uri="{FF2B5EF4-FFF2-40B4-BE49-F238E27FC236}">
                  <a16:creationId xmlns:a16="http://schemas.microsoft.com/office/drawing/2014/main" id="{0CC871B0-1070-43F6-B62B-CFA48AA709C1}"/>
                </a:ext>
              </a:extLst>
            </p:cNvPr>
            <p:cNvCxnSpPr>
              <a:cxnSpLocks noChangeShapeType="1"/>
              <a:stCxn id="145" idx="2"/>
              <a:endCxn id="166" idx="0"/>
            </p:cNvCxnSpPr>
            <p:nvPr/>
          </p:nvCxnSpPr>
          <p:spPr bwMode="auto">
            <a:xfrm>
              <a:off x="6771418" y="3570739"/>
              <a:ext cx="976192" cy="324545"/>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164" name="Rectangle 39">
              <a:extLst>
                <a:ext uri="{FF2B5EF4-FFF2-40B4-BE49-F238E27FC236}">
                  <a16:creationId xmlns:a16="http://schemas.microsoft.com/office/drawing/2014/main" id="{65F5CCCD-252C-4D79-B82F-9E2AD8AB103D}"/>
                </a:ext>
              </a:extLst>
            </p:cNvPr>
            <p:cNvSpPr>
              <a:spLocks noChangeArrowheads="1"/>
            </p:cNvSpPr>
            <p:nvPr/>
          </p:nvSpPr>
          <p:spPr bwMode="auto">
            <a:xfrm>
              <a:off x="5825368" y="3254626"/>
              <a:ext cx="345875" cy="228300"/>
            </a:xfrm>
            <a:prstGeom prst="rect">
              <a:avLst/>
            </a:prstGeom>
            <a:noFill/>
            <a:ln w="12700" cap="sq">
              <a:noFill/>
              <a:miter lim="800000"/>
              <a:headEnd/>
              <a:tailEnd/>
            </a:ln>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1</a:t>
              </a:r>
            </a:p>
          </p:txBody>
        </p:sp>
        <p:sp>
          <p:nvSpPr>
            <p:cNvPr id="165" name="Rectangle 8">
              <a:extLst>
                <a:ext uri="{FF2B5EF4-FFF2-40B4-BE49-F238E27FC236}">
                  <a16:creationId xmlns:a16="http://schemas.microsoft.com/office/drawing/2014/main" id="{DA65CD58-C92F-4C0C-B4F5-0885BCFA534C}"/>
                </a:ext>
              </a:extLst>
            </p:cNvPr>
            <p:cNvSpPr>
              <a:spLocks noChangeArrowheads="1"/>
            </p:cNvSpPr>
            <p:nvPr/>
          </p:nvSpPr>
          <p:spPr bwMode="auto">
            <a:xfrm>
              <a:off x="490091" y="3105599"/>
              <a:ext cx="2127271" cy="274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400" b="1" kern="0" dirty="0">
                  <a:solidFill>
                    <a:srgbClr val="FF0000"/>
                  </a:solidFill>
                  <a:effectLst/>
                  <a:latin typeface="微软雅黑" pitchFamily="34" charset="-122"/>
                  <a:ea typeface="微软雅黑" pitchFamily="34" charset="-122"/>
                </a:rPr>
                <a:t>可能的一种集成结果</a:t>
              </a:r>
              <a:endParaRPr kumimoji="0" lang="zh-CN" altLang="en-US" sz="2400" b="1" i="0" u="none" strike="noStrike" kern="0" cap="none" spc="0" normalizeH="0" baseline="0" noProof="0" dirty="0">
                <a:ln>
                  <a:noFill/>
                </a:ln>
                <a:solidFill>
                  <a:srgbClr val="FF0000"/>
                </a:solidFill>
                <a:effectLst/>
                <a:uLnTx/>
                <a:uFillTx/>
                <a:latin typeface="微软雅黑" pitchFamily="34" charset="-122"/>
                <a:ea typeface="微软雅黑" pitchFamily="34" charset="-122"/>
              </a:endParaRPr>
            </a:p>
          </p:txBody>
        </p:sp>
        <p:sp>
          <p:nvSpPr>
            <p:cNvPr id="166" name="AutoShape 7">
              <a:extLst>
                <a:ext uri="{FF2B5EF4-FFF2-40B4-BE49-F238E27FC236}">
                  <a16:creationId xmlns:a16="http://schemas.microsoft.com/office/drawing/2014/main" id="{AE13D70E-426D-4C65-A0B6-73CF98064F05}"/>
                </a:ext>
              </a:extLst>
            </p:cNvPr>
            <p:cNvSpPr>
              <a:spLocks noChangeArrowheads="1"/>
            </p:cNvSpPr>
            <p:nvPr/>
          </p:nvSpPr>
          <p:spPr bwMode="auto">
            <a:xfrm>
              <a:off x="7296249" y="3895284"/>
              <a:ext cx="902722" cy="225248"/>
            </a:xfrm>
            <a:prstGeom prst="roundRect">
              <a:avLst>
                <a:gd name="adj" fmla="val 50000"/>
              </a:avLst>
            </a:prstGeom>
            <a:solidFill>
              <a:srgbClr val="FFC000"/>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班长学号</a:t>
              </a:r>
            </a:p>
          </p:txBody>
        </p:sp>
      </p:grpSp>
      <p:sp>
        <p:nvSpPr>
          <p:cNvPr id="186" name="Rectangle 3">
            <a:extLst>
              <a:ext uri="{FF2B5EF4-FFF2-40B4-BE49-F238E27FC236}">
                <a16:creationId xmlns:a16="http://schemas.microsoft.com/office/drawing/2014/main" id="{214E527C-A7FD-4C1C-8039-5F77F58E456F}"/>
              </a:ext>
            </a:extLst>
          </p:cNvPr>
          <p:cNvSpPr>
            <a:spLocks noGrp="1" noChangeArrowheads="1"/>
          </p:cNvSpPr>
          <p:nvPr>
            <p:ph type="title"/>
          </p:nvPr>
        </p:nvSpPr>
        <p:spPr>
          <a:xfrm>
            <a:off x="752900" y="959216"/>
            <a:ext cx="8964612" cy="584775"/>
          </a:xfrm>
        </p:spPr>
        <p:txBody>
          <a:bodyPr wrap="square"/>
          <a:lstStyle/>
          <a:p>
            <a:pPr eaLnBrk="1" hangingPunct="1">
              <a:buFont typeface="Wingdings" pitchFamily="2" charset="2"/>
              <a:buNone/>
            </a:pPr>
            <a:r>
              <a:rPr lang="zh-CN" altLang="en-US" dirty="0"/>
              <a:t>设计步骤</a:t>
            </a:r>
            <a:r>
              <a:rPr lang="en-US" altLang="zh-CN" dirty="0"/>
              <a:t>2</a:t>
            </a:r>
            <a:r>
              <a:rPr lang="zh-CN" altLang="en-US" dirty="0"/>
              <a:t>：</a:t>
            </a:r>
            <a:r>
              <a:rPr lang="zh-CN" altLang="zh-CN" dirty="0"/>
              <a:t>视图的集成</a:t>
            </a:r>
            <a:endParaRPr lang="en-US" altLang="zh-CN" dirty="0"/>
          </a:p>
        </p:txBody>
      </p:sp>
      <p:sp>
        <p:nvSpPr>
          <p:cNvPr id="187" name="Text Box 37">
            <a:extLst>
              <a:ext uri="{FF2B5EF4-FFF2-40B4-BE49-F238E27FC236}">
                <a16:creationId xmlns:a16="http://schemas.microsoft.com/office/drawing/2014/main" id="{AC89F221-8CF9-4390-822D-5C5A7F39CF88}"/>
              </a:ext>
            </a:extLst>
          </p:cNvPr>
          <p:cNvSpPr txBox="1">
            <a:spLocks noChangeArrowheads="1"/>
          </p:cNvSpPr>
          <p:nvPr/>
        </p:nvSpPr>
        <p:spPr bwMode="auto">
          <a:xfrm>
            <a:off x="512566" y="6064836"/>
            <a:ext cx="11279408" cy="574675"/>
          </a:xfrm>
          <a:prstGeom prst="rect">
            <a:avLst/>
          </a:prstGeom>
          <a:noFill/>
          <a:ln w="12700" cap="sq">
            <a:noFill/>
            <a:miter lim="800000"/>
            <a:headEnd type="none" w="sm" len="sm"/>
            <a:tailEnd type="none" w="sm" len="sm"/>
          </a:ln>
          <a:effectLst/>
        </p:spPr>
        <p:txBody>
          <a:bodyPr/>
          <a:lstStyle/>
          <a:p>
            <a:pPr marL="377825" indent="-377825">
              <a:spcBef>
                <a:spcPct val="50000"/>
              </a:spcBef>
              <a:spcAft>
                <a:spcPct val="0"/>
              </a:spcAft>
              <a:defRPr/>
            </a:pPr>
            <a:r>
              <a:rPr lang="zh-CN" altLang="en-US" sz="2800" dirty="0">
                <a:solidFill>
                  <a:srgbClr val="FFFF00"/>
                </a:solidFill>
                <a:effectLst>
                  <a:outerShdw blurRad="38100" dist="38100" dir="2700000" algn="tl">
                    <a:srgbClr val="000000"/>
                  </a:outerShdw>
                </a:effectLst>
                <a:latin typeface="微软雅黑" pitchFamily="34" charset="-122"/>
                <a:ea typeface="微软雅黑" pitchFamily="34" charset="-122"/>
              </a:rPr>
              <a:t>必须确保合并后概念（数据的语义和定义）不变，即合并前后一致 ！</a:t>
            </a:r>
          </a:p>
        </p:txBody>
      </p:sp>
    </p:spTree>
    <p:extLst>
      <p:ext uri="{BB962C8B-B14F-4D97-AF65-F5344CB8AC3E}">
        <p14:creationId xmlns:p14="http://schemas.microsoft.com/office/powerpoint/2010/main" val="3526008181"/>
      </p:ext>
    </p:extLst>
  </p:cSld>
  <p:clrMapOvr>
    <a:masterClrMapping/>
  </p:clrMapOvr>
  <p:transition spd="med">
    <p:random/>
    <p:sndAc>
      <p:stSnd>
        <p:snd r:embed="rId2" name="arrow.wav"/>
      </p:stSnd>
    </p:sndAc>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Box 2">
            <a:extLst>
              <a:ext uri="{FF2B5EF4-FFF2-40B4-BE49-F238E27FC236}">
                <a16:creationId xmlns:a16="http://schemas.microsoft.com/office/drawing/2014/main" id="{497D6F86-4142-4F9A-8A91-AC44BB7E6750}"/>
              </a:ext>
            </a:extLst>
          </p:cNvPr>
          <p:cNvSpPr txBox="1">
            <a:spLocks noChangeArrowheads="1"/>
          </p:cNvSpPr>
          <p:nvPr/>
        </p:nvSpPr>
        <p:spPr bwMode="auto">
          <a:xfrm>
            <a:off x="752900" y="30060"/>
            <a:ext cx="4762055"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defPPr>
              <a:defRPr lang="en-US"/>
            </a:defPPr>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a:t>概念结构设计的流程</a:t>
            </a:r>
          </a:p>
        </p:txBody>
      </p:sp>
      <p:sp>
        <p:nvSpPr>
          <p:cNvPr id="70" name="Rectangle 3">
            <a:extLst>
              <a:ext uri="{FF2B5EF4-FFF2-40B4-BE49-F238E27FC236}">
                <a16:creationId xmlns:a16="http://schemas.microsoft.com/office/drawing/2014/main" id="{14B78225-D64A-4DAC-B4E5-30B47AB8EB7E}"/>
              </a:ext>
            </a:extLst>
          </p:cNvPr>
          <p:cNvSpPr>
            <a:spLocks noGrp="1" noChangeArrowheads="1"/>
          </p:cNvSpPr>
          <p:nvPr>
            <p:ph type="title"/>
          </p:nvPr>
        </p:nvSpPr>
        <p:spPr>
          <a:xfrm>
            <a:off x="751272" y="906427"/>
            <a:ext cx="8964612" cy="584775"/>
          </a:xfrm>
        </p:spPr>
        <p:txBody>
          <a:bodyPr wrap="square"/>
          <a:lstStyle/>
          <a:p>
            <a:pPr eaLnBrk="1" hangingPunct="1">
              <a:buFont typeface="Wingdings" pitchFamily="2" charset="2"/>
              <a:buNone/>
            </a:pPr>
            <a:r>
              <a:rPr lang="zh-CN" altLang="en-US" dirty="0"/>
              <a:t>集成分</a:t>
            </a:r>
            <a:r>
              <a:rPr lang="en-US" altLang="zh-CN" dirty="0"/>
              <a:t>E-R</a:t>
            </a:r>
            <a:r>
              <a:rPr lang="zh-CN" altLang="en-US" dirty="0"/>
              <a:t>图的冲突</a:t>
            </a:r>
            <a:endParaRPr lang="en-US" altLang="zh-CN" dirty="0"/>
          </a:p>
        </p:txBody>
      </p:sp>
      <p:sp>
        <p:nvSpPr>
          <p:cNvPr id="71" name="Text Box 4">
            <a:extLst>
              <a:ext uri="{FF2B5EF4-FFF2-40B4-BE49-F238E27FC236}">
                <a16:creationId xmlns:a16="http://schemas.microsoft.com/office/drawing/2014/main" id="{D244B558-7BB4-47F1-B591-AD33C5F38DA4}"/>
              </a:ext>
            </a:extLst>
          </p:cNvPr>
          <p:cNvSpPr txBox="1">
            <a:spLocks noChangeArrowheads="1"/>
          </p:cNvSpPr>
          <p:nvPr/>
        </p:nvSpPr>
        <p:spPr bwMode="auto">
          <a:xfrm>
            <a:off x="776672" y="1628591"/>
            <a:ext cx="8382000" cy="574675"/>
          </a:xfrm>
          <a:prstGeom prst="rect">
            <a:avLst/>
          </a:prstGeom>
          <a:noFill/>
          <a:ln w="12700" cap="sq">
            <a:noFill/>
            <a:miter lim="800000"/>
            <a:headEnd type="none" w="sm" len="sm"/>
            <a:tailEnd type="none" w="sm" len="sm"/>
          </a:ln>
          <a:effectLst/>
        </p:spPr>
        <p:txBody>
          <a:bodyPr/>
          <a:lstStyle/>
          <a:p>
            <a:pPr marL="377825" indent="-377825">
              <a:spcBef>
                <a:spcPct val="50000"/>
              </a:spcBef>
              <a:spcAft>
                <a:spcPct val="0"/>
              </a:spcAft>
              <a:defRPr/>
            </a:pPr>
            <a:r>
              <a:rPr lang="zh-CN" altLang="en-US" dirty="0">
                <a:solidFill>
                  <a:srgbClr val="FFFF00"/>
                </a:solidFill>
                <a:effectLst>
                  <a:outerShdw blurRad="38100" dist="38100" dir="2700000" algn="tl">
                    <a:srgbClr val="000000"/>
                  </a:outerShdw>
                </a:effectLst>
                <a:latin typeface="微软雅黑" pitchFamily="34" charset="-122"/>
                <a:ea typeface="微软雅黑" pitchFamily="34" charset="-122"/>
              </a:rPr>
              <a:t>① 属性冲突</a:t>
            </a:r>
          </a:p>
        </p:txBody>
      </p:sp>
      <p:sp>
        <p:nvSpPr>
          <p:cNvPr id="72" name="Text Box 5">
            <a:extLst>
              <a:ext uri="{FF2B5EF4-FFF2-40B4-BE49-F238E27FC236}">
                <a16:creationId xmlns:a16="http://schemas.microsoft.com/office/drawing/2014/main" id="{72DD452A-2EA4-4334-954F-9D11D7BD9436}"/>
              </a:ext>
            </a:extLst>
          </p:cNvPr>
          <p:cNvSpPr txBox="1">
            <a:spLocks noChangeArrowheads="1"/>
          </p:cNvSpPr>
          <p:nvPr/>
        </p:nvSpPr>
        <p:spPr bwMode="auto">
          <a:xfrm>
            <a:off x="8198459" y="1123840"/>
            <a:ext cx="2819400" cy="574675"/>
          </a:xfrm>
          <a:prstGeom prst="rect">
            <a:avLst/>
          </a:prstGeom>
          <a:solidFill>
            <a:srgbClr val="CCFFCC"/>
          </a:solidFill>
          <a:ln w="12700" cap="sq">
            <a:solidFill>
              <a:srgbClr val="FF0000"/>
            </a:solidFill>
            <a:miter lim="800000"/>
            <a:headEnd type="none" w="sm" len="sm"/>
            <a:tailEnd type="none" w="sm" len="sm"/>
          </a:ln>
          <a:effectLst>
            <a:outerShdw dist="107763" dir="2700000" algn="ctr" rotWithShape="0">
              <a:schemeClr val="bg2">
                <a:alpha val="50000"/>
              </a:schemeClr>
            </a:outerShdw>
          </a:effectLst>
        </p:spPr>
        <p:txBody>
          <a:bodyPr/>
          <a:lstStyle>
            <a:lvl1pPr marL="377825" indent="-377825"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spcBef>
                <a:spcPct val="50000"/>
              </a:spcBef>
              <a:spcAft>
                <a:spcPct val="0"/>
              </a:spcAft>
            </a:pPr>
            <a:r>
              <a:rPr lang="zh-CN" altLang="en-US" dirty="0">
                <a:solidFill>
                  <a:srgbClr val="000000"/>
                </a:solidFill>
                <a:effectLst/>
                <a:latin typeface="微软雅黑" pitchFamily="34" charset="-122"/>
                <a:ea typeface="微软雅黑" pitchFamily="34" charset="-122"/>
              </a:rPr>
              <a:t>协商统一解决</a:t>
            </a:r>
          </a:p>
        </p:txBody>
      </p:sp>
      <p:sp>
        <p:nvSpPr>
          <p:cNvPr id="73" name="Rectangle 6">
            <a:extLst>
              <a:ext uri="{FF2B5EF4-FFF2-40B4-BE49-F238E27FC236}">
                <a16:creationId xmlns:a16="http://schemas.microsoft.com/office/drawing/2014/main" id="{61900EC7-6958-4477-8D17-411157620010}"/>
              </a:ext>
            </a:extLst>
          </p:cNvPr>
          <p:cNvSpPr>
            <a:spLocks noChangeArrowheads="1"/>
          </p:cNvSpPr>
          <p:nvPr/>
        </p:nvSpPr>
        <p:spPr bwMode="auto">
          <a:xfrm>
            <a:off x="1357176" y="4562216"/>
            <a:ext cx="9721080" cy="1846263"/>
          </a:xfrm>
          <a:prstGeom prst="rect">
            <a:avLst/>
          </a:prstGeom>
          <a:solidFill>
            <a:srgbClr val="F5F5FF"/>
          </a:solidFill>
          <a:ln w="12700" cap="sq">
            <a:no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74" name="Rectangle 7">
            <a:extLst>
              <a:ext uri="{FF2B5EF4-FFF2-40B4-BE49-F238E27FC236}">
                <a16:creationId xmlns:a16="http://schemas.microsoft.com/office/drawing/2014/main" id="{00372936-4F9C-48DD-8D69-5B56A3D2A01C}"/>
              </a:ext>
            </a:extLst>
          </p:cNvPr>
          <p:cNvSpPr>
            <a:spLocks noChangeArrowheads="1"/>
          </p:cNvSpPr>
          <p:nvPr/>
        </p:nvSpPr>
        <p:spPr bwMode="auto">
          <a:xfrm>
            <a:off x="1357176" y="2420679"/>
            <a:ext cx="9721080" cy="1806575"/>
          </a:xfrm>
          <a:prstGeom prst="rect">
            <a:avLst/>
          </a:prstGeom>
          <a:solidFill>
            <a:srgbClr val="F5F5FF"/>
          </a:solidFill>
          <a:ln w="12700" cap="sq">
            <a:no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graphicFrame>
        <p:nvGraphicFramePr>
          <p:cNvPr id="75" name="Group 8">
            <a:extLst>
              <a:ext uri="{FF2B5EF4-FFF2-40B4-BE49-F238E27FC236}">
                <a16:creationId xmlns:a16="http://schemas.microsoft.com/office/drawing/2014/main" id="{714A714A-CF33-4F12-A42E-E86563955A77}"/>
              </a:ext>
            </a:extLst>
          </p:cNvPr>
          <p:cNvGraphicFramePr>
            <a:graphicFrameLocks noGrp="1"/>
          </p:cNvGraphicFramePr>
          <p:nvPr>
            <p:extLst>
              <p:ext uri="{D42A27DB-BD31-4B8C-83A1-F6EECF244321}">
                <p14:modId xmlns:p14="http://schemas.microsoft.com/office/powerpoint/2010/main" val="1125934636"/>
              </p:ext>
            </p:extLst>
          </p:nvPr>
        </p:nvGraphicFramePr>
        <p:xfrm>
          <a:off x="1509576" y="2561965"/>
          <a:ext cx="3026374" cy="1524000"/>
        </p:xfrm>
        <a:graphic>
          <a:graphicData uri="http://schemas.openxmlformats.org/drawingml/2006/table">
            <a:tbl>
              <a:tblPr/>
              <a:tblGrid>
                <a:gridCol w="1192208">
                  <a:extLst>
                    <a:ext uri="{9D8B030D-6E8A-4147-A177-3AD203B41FA5}">
                      <a16:colId xmlns:a16="http://schemas.microsoft.com/office/drawing/2014/main" val="20000"/>
                    </a:ext>
                  </a:extLst>
                </a:gridCol>
                <a:gridCol w="1834166">
                  <a:extLst>
                    <a:ext uri="{9D8B030D-6E8A-4147-A177-3AD203B41FA5}">
                      <a16:colId xmlns:a16="http://schemas.microsoft.com/office/drawing/2014/main" val="20001"/>
                    </a:ext>
                  </a:extLst>
                </a:gridCol>
              </a:tblGrid>
              <a:tr h="139700">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类别</a:t>
                      </a:r>
                    </a:p>
                  </a:txBody>
                  <a:tcPr marL="5715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数据项</a:t>
                      </a:r>
                    </a:p>
                  </a:txBody>
                  <a:tcPr marL="5715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9700">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名称</a:t>
                      </a:r>
                    </a:p>
                  </a:txBody>
                  <a:tcPr marL="5715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性别</a:t>
                      </a:r>
                    </a:p>
                  </a:txBody>
                  <a:tcPr marL="5715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39700">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别名</a:t>
                      </a:r>
                    </a:p>
                  </a:txBody>
                  <a:tcPr marL="5715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000" b="0" i="0" u="none" strike="noStrike" cap="none" normalizeH="0" baseline="0">
                        <a:ln>
                          <a:noFill/>
                        </a:ln>
                        <a:solidFill>
                          <a:schemeClr val="bg2"/>
                        </a:solidFill>
                        <a:effectLst/>
                        <a:latin typeface="Times New Roman" pitchFamily="18" charset="0"/>
                        <a:ea typeface="楷体_GB2312" pitchFamily="49" charset="-122"/>
                      </a:endParaRPr>
                    </a:p>
                  </a:txBody>
                  <a:tcPr marL="5715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39700">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取值</a:t>
                      </a:r>
                    </a:p>
                  </a:txBody>
                  <a:tcPr marL="5715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"男" 或"女"</a:t>
                      </a:r>
                    </a:p>
                  </a:txBody>
                  <a:tcPr marL="5715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39700">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备注</a:t>
                      </a:r>
                    </a:p>
                  </a:txBody>
                  <a:tcPr marL="5715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000" b="0" i="0" u="none" strike="noStrike" cap="none" normalizeH="0" baseline="0">
                        <a:ln>
                          <a:noFill/>
                        </a:ln>
                        <a:solidFill>
                          <a:schemeClr val="bg2"/>
                        </a:solidFill>
                        <a:effectLst/>
                        <a:latin typeface="Times New Roman" pitchFamily="18" charset="0"/>
                        <a:ea typeface="楷体_GB2312" pitchFamily="49" charset="-122"/>
                      </a:endParaRPr>
                    </a:p>
                  </a:txBody>
                  <a:tcPr marL="5715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76" name="Group 28">
            <a:extLst>
              <a:ext uri="{FF2B5EF4-FFF2-40B4-BE49-F238E27FC236}">
                <a16:creationId xmlns:a16="http://schemas.microsoft.com/office/drawing/2014/main" id="{CB15B712-7783-4D3A-AC43-A0A512D62ED6}"/>
              </a:ext>
            </a:extLst>
          </p:cNvPr>
          <p:cNvGraphicFramePr>
            <a:graphicFrameLocks noGrp="1"/>
          </p:cNvGraphicFramePr>
          <p:nvPr>
            <p:extLst>
              <p:ext uri="{D42A27DB-BD31-4B8C-83A1-F6EECF244321}">
                <p14:modId xmlns:p14="http://schemas.microsoft.com/office/powerpoint/2010/main" val="2675849815"/>
              </p:ext>
            </p:extLst>
          </p:nvPr>
        </p:nvGraphicFramePr>
        <p:xfrm>
          <a:off x="7843257" y="2597209"/>
          <a:ext cx="3026374" cy="1524000"/>
        </p:xfrm>
        <a:graphic>
          <a:graphicData uri="http://schemas.openxmlformats.org/drawingml/2006/table">
            <a:tbl>
              <a:tblPr/>
              <a:tblGrid>
                <a:gridCol w="1192208">
                  <a:extLst>
                    <a:ext uri="{9D8B030D-6E8A-4147-A177-3AD203B41FA5}">
                      <a16:colId xmlns:a16="http://schemas.microsoft.com/office/drawing/2014/main" val="20000"/>
                    </a:ext>
                  </a:extLst>
                </a:gridCol>
                <a:gridCol w="1834166">
                  <a:extLst>
                    <a:ext uri="{9D8B030D-6E8A-4147-A177-3AD203B41FA5}">
                      <a16:colId xmlns:a16="http://schemas.microsoft.com/office/drawing/2014/main" val="20001"/>
                    </a:ext>
                  </a:extLst>
                </a:gridCol>
              </a:tblGrid>
              <a:tr h="139700">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类别</a:t>
                      </a:r>
                    </a:p>
                  </a:txBody>
                  <a:tcPr marL="5715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数据项</a:t>
                      </a:r>
                    </a:p>
                  </a:txBody>
                  <a:tcPr marL="5715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8600">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名称</a:t>
                      </a:r>
                    </a:p>
                  </a:txBody>
                  <a:tcPr marL="5715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chemeClr val="bg2"/>
                          </a:solidFill>
                          <a:effectLst/>
                          <a:latin typeface="Times New Roman" pitchFamily="18" charset="0"/>
                          <a:ea typeface="楷体_GB2312" pitchFamily="49" charset="-122"/>
                        </a:rPr>
                        <a:t>性别</a:t>
                      </a:r>
                    </a:p>
                  </a:txBody>
                  <a:tcPr marL="5715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39700">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别名</a:t>
                      </a:r>
                    </a:p>
                  </a:txBody>
                  <a:tcPr marL="5715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000" b="0" i="0" u="none" strike="noStrike" cap="none" normalizeH="0" baseline="0" dirty="0">
                        <a:ln>
                          <a:noFill/>
                        </a:ln>
                        <a:solidFill>
                          <a:schemeClr val="bg2"/>
                        </a:solidFill>
                        <a:effectLst/>
                        <a:latin typeface="Times New Roman" pitchFamily="18" charset="0"/>
                        <a:ea typeface="楷体_GB2312" pitchFamily="49" charset="-122"/>
                      </a:endParaRPr>
                    </a:p>
                  </a:txBody>
                  <a:tcPr marL="5715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39700">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取值</a:t>
                      </a:r>
                    </a:p>
                  </a:txBody>
                  <a:tcPr marL="5715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a:t>
                      </a:r>
                      <a:r>
                        <a:rPr kumimoji="0" lang="en-US" altLang="zh-CN" sz="2000" b="0" i="0" u="none" strike="noStrike" cap="none" normalizeH="0" baseline="0">
                          <a:ln>
                            <a:noFill/>
                          </a:ln>
                          <a:solidFill>
                            <a:schemeClr val="bg2"/>
                          </a:solidFill>
                          <a:effectLst/>
                          <a:latin typeface="Times New Roman" pitchFamily="18" charset="0"/>
                          <a:ea typeface="楷体_GB2312" pitchFamily="49" charset="-122"/>
                        </a:rPr>
                        <a:t>M" </a:t>
                      </a: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或 "</a:t>
                      </a:r>
                      <a:r>
                        <a:rPr kumimoji="0" lang="en-US" altLang="zh-CN" sz="2000" b="0" i="0" u="none" strike="noStrike" cap="none" normalizeH="0" baseline="0">
                          <a:ln>
                            <a:noFill/>
                          </a:ln>
                          <a:solidFill>
                            <a:schemeClr val="bg2"/>
                          </a:solidFill>
                          <a:effectLst/>
                          <a:latin typeface="Times New Roman" pitchFamily="18" charset="0"/>
                          <a:ea typeface="楷体_GB2312" pitchFamily="49" charset="-122"/>
                        </a:rPr>
                        <a:t>F"</a:t>
                      </a:r>
                    </a:p>
                  </a:txBody>
                  <a:tcPr marL="5715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39700">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备注</a:t>
                      </a:r>
                    </a:p>
                  </a:txBody>
                  <a:tcPr marL="5715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000" b="0" i="0" u="none" strike="noStrike" cap="none" normalizeH="0" baseline="0" dirty="0">
                        <a:ln>
                          <a:noFill/>
                        </a:ln>
                        <a:solidFill>
                          <a:schemeClr val="bg2"/>
                        </a:solidFill>
                        <a:effectLst/>
                        <a:latin typeface="Times New Roman" pitchFamily="18" charset="0"/>
                        <a:ea typeface="楷体_GB2312" pitchFamily="49" charset="-122"/>
                      </a:endParaRPr>
                    </a:p>
                  </a:txBody>
                  <a:tcPr marL="5715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7" name="Rectangle 48">
            <a:extLst>
              <a:ext uri="{FF2B5EF4-FFF2-40B4-BE49-F238E27FC236}">
                <a16:creationId xmlns:a16="http://schemas.microsoft.com/office/drawing/2014/main" id="{67CBD91C-B116-4B1D-B464-45BA79E03682}"/>
              </a:ext>
            </a:extLst>
          </p:cNvPr>
          <p:cNvSpPr>
            <a:spLocks noChangeArrowheads="1"/>
          </p:cNvSpPr>
          <p:nvPr/>
        </p:nvSpPr>
        <p:spPr bwMode="auto">
          <a:xfrm>
            <a:off x="5355169" y="2866766"/>
            <a:ext cx="148166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lIns="0" tIns="0" rIns="0" bIns="0">
            <a:spAutoFit/>
          </a:bodyPr>
          <a:lstStyle/>
          <a:p>
            <a:pPr algn="ctr">
              <a:spcAft>
                <a:spcPct val="0"/>
              </a:spcAft>
              <a:buSzTx/>
              <a:buFontTx/>
              <a:buNone/>
            </a:pPr>
            <a:r>
              <a:rPr lang="zh-CN" altLang="en-US" dirty="0">
                <a:solidFill>
                  <a:srgbClr val="FF0000"/>
                </a:solidFill>
                <a:effectLst/>
                <a:latin typeface="Times New Roman" pitchFamily="18" charset="0"/>
              </a:rPr>
              <a:t>域冲突</a:t>
            </a:r>
          </a:p>
        </p:txBody>
      </p:sp>
      <p:graphicFrame>
        <p:nvGraphicFramePr>
          <p:cNvPr id="78" name="Group 49">
            <a:extLst>
              <a:ext uri="{FF2B5EF4-FFF2-40B4-BE49-F238E27FC236}">
                <a16:creationId xmlns:a16="http://schemas.microsoft.com/office/drawing/2014/main" id="{2A90482F-765D-43DF-AAD6-AD13ED65E746}"/>
              </a:ext>
            </a:extLst>
          </p:cNvPr>
          <p:cNvGraphicFramePr>
            <a:graphicFrameLocks noGrp="1"/>
          </p:cNvGraphicFramePr>
          <p:nvPr>
            <p:extLst>
              <p:ext uri="{D42A27DB-BD31-4B8C-83A1-F6EECF244321}">
                <p14:modId xmlns:p14="http://schemas.microsoft.com/office/powerpoint/2010/main" val="1298483637"/>
              </p:ext>
            </p:extLst>
          </p:nvPr>
        </p:nvGraphicFramePr>
        <p:xfrm>
          <a:off x="1509576" y="4714615"/>
          <a:ext cx="3026374" cy="1524000"/>
        </p:xfrm>
        <a:graphic>
          <a:graphicData uri="http://schemas.openxmlformats.org/drawingml/2006/table">
            <a:tbl>
              <a:tblPr/>
              <a:tblGrid>
                <a:gridCol w="1192208">
                  <a:extLst>
                    <a:ext uri="{9D8B030D-6E8A-4147-A177-3AD203B41FA5}">
                      <a16:colId xmlns:a16="http://schemas.microsoft.com/office/drawing/2014/main" val="20000"/>
                    </a:ext>
                  </a:extLst>
                </a:gridCol>
                <a:gridCol w="1834166">
                  <a:extLst>
                    <a:ext uri="{9D8B030D-6E8A-4147-A177-3AD203B41FA5}">
                      <a16:colId xmlns:a16="http://schemas.microsoft.com/office/drawing/2014/main" val="20001"/>
                    </a:ext>
                  </a:extLst>
                </a:gridCol>
              </a:tblGrid>
              <a:tr h="139700">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类别</a:t>
                      </a:r>
                    </a:p>
                  </a:txBody>
                  <a:tcPr marL="5715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数据项</a:t>
                      </a:r>
                    </a:p>
                  </a:txBody>
                  <a:tcPr marL="5715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9700">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名称</a:t>
                      </a:r>
                    </a:p>
                  </a:txBody>
                  <a:tcPr marL="5715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身高</a:t>
                      </a:r>
                    </a:p>
                  </a:txBody>
                  <a:tcPr marL="5715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39700">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别名</a:t>
                      </a:r>
                    </a:p>
                  </a:txBody>
                  <a:tcPr marL="5715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000" b="0" i="0" u="none" strike="noStrike" cap="none" normalizeH="0" baseline="0">
                        <a:ln>
                          <a:noFill/>
                        </a:ln>
                        <a:solidFill>
                          <a:schemeClr val="bg2"/>
                        </a:solidFill>
                        <a:effectLst/>
                        <a:latin typeface="Times New Roman" pitchFamily="18" charset="0"/>
                        <a:ea typeface="楷体_GB2312" pitchFamily="49" charset="-122"/>
                      </a:endParaRPr>
                    </a:p>
                  </a:txBody>
                  <a:tcPr marL="5715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39700">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取值</a:t>
                      </a:r>
                    </a:p>
                  </a:txBody>
                  <a:tcPr marL="5715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3位正整数</a:t>
                      </a:r>
                      <a:endParaRPr kumimoji="0" lang="en-US" altLang="zh-CN" sz="2000" b="0" i="0" u="none" strike="noStrike" cap="none" normalizeH="0" baseline="0">
                        <a:ln>
                          <a:noFill/>
                        </a:ln>
                        <a:solidFill>
                          <a:schemeClr val="bg2"/>
                        </a:solidFill>
                        <a:effectLst/>
                        <a:latin typeface="Times New Roman" pitchFamily="18" charset="0"/>
                        <a:ea typeface="楷体_GB2312" pitchFamily="49" charset="-122"/>
                      </a:endParaRPr>
                    </a:p>
                  </a:txBody>
                  <a:tcPr marL="5715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39700">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备注</a:t>
                      </a:r>
                    </a:p>
                  </a:txBody>
                  <a:tcPr marL="5715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单位为</a:t>
                      </a:r>
                      <a:r>
                        <a:rPr kumimoji="0" lang="en-US" altLang="zh-CN" sz="2000" b="0" i="0" u="none" strike="noStrike" cap="none" normalizeH="0" baseline="0">
                          <a:ln>
                            <a:noFill/>
                          </a:ln>
                          <a:solidFill>
                            <a:schemeClr val="bg2"/>
                          </a:solidFill>
                          <a:effectLst/>
                          <a:latin typeface="Times New Roman" pitchFamily="18" charset="0"/>
                          <a:ea typeface="楷体_GB2312" pitchFamily="49" charset="-122"/>
                        </a:rPr>
                        <a:t>cm</a:t>
                      </a:r>
                    </a:p>
                  </a:txBody>
                  <a:tcPr marL="5715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79" name="Group 69">
            <a:extLst>
              <a:ext uri="{FF2B5EF4-FFF2-40B4-BE49-F238E27FC236}">
                <a16:creationId xmlns:a16="http://schemas.microsoft.com/office/drawing/2014/main" id="{D4120511-A166-448A-B26D-112CC2D4540E}"/>
              </a:ext>
            </a:extLst>
          </p:cNvPr>
          <p:cNvGraphicFramePr>
            <a:graphicFrameLocks noGrp="1"/>
          </p:cNvGraphicFramePr>
          <p:nvPr>
            <p:extLst>
              <p:ext uri="{D42A27DB-BD31-4B8C-83A1-F6EECF244321}">
                <p14:modId xmlns:p14="http://schemas.microsoft.com/office/powerpoint/2010/main" val="3820771499"/>
              </p:ext>
            </p:extLst>
          </p:nvPr>
        </p:nvGraphicFramePr>
        <p:xfrm>
          <a:off x="7843257" y="4749859"/>
          <a:ext cx="3026374" cy="1524000"/>
        </p:xfrm>
        <a:graphic>
          <a:graphicData uri="http://schemas.openxmlformats.org/drawingml/2006/table">
            <a:tbl>
              <a:tblPr/>
              <a:tblGrid>
                <a:gridCol w="1192208">
                  <a:extLst>
                    <a:ext uri="{9D8B030D-6E8A-4147-A177-3AD203B41FA5}">
                      <a16:colId xmlns:a16="http://schemas.microsoft.com/office/drawing/2014/main" val="20000"/>
                    </a:ext>
                  </a:extLst>
                </a:gridCol>
                <a:gridCol w="1834166">
                  <a:extLst>
                    <a:ext uri="{9D8B030D-6E8A-4147-A177-3AD203B41FA5}">
                      <a16:colId xmlns:a16="http://schemas.microsoft.com/office/drawing/2014/main" val="20001"/>
                    </a:ext>
                  </a:extLst>
                </a:gridCol>
              </a:tblGrid>
              <a:tr h="139700">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类别</a:t>
                      </a:r>
                    </a:p>
                  </a:txBody>
                  <a:tcPr marL="5715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数据项</a:t>
                      </a:r>
                    </a:p>
                  </a:txBody>
                  <a:tcPr marL="5715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9700">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名称</a:t>
                      </a:r>
                    </a:p>
                  </a:txBody>
                  <a:tcPr marL="5715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身高</a:t>
                      </a:r>
                    </a:p>
                  </a:txBody>
                  <a:tcPr marL="5715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39700">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别名</a:t>
                      </a:r>
                    </a:p>
                  </a:txBody>
                  <a:tcPr marL="5715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000" b="0" i="0" u="none" strike="noStrike" cap="none" normalizeH="0" baseline="0">
                        <a:ln>
                          <a:noFill/>
                        </a:ln>
                        <a:solidFill>
                          <a:schemeClr val="bg2"/>
                        </a:solidFill>
                        <a:effectLst/>
                        <a:latin typeface="Times New Roman" pitchFamily="18" charset="0"/>
                        <a:ea typeface="楷体_GB2312" pitchFamily="49" charset="-122"/>
                      </a:endParaRPr>
                    </a:p>
                  </a:txBody>
                  <a:tcPr marL="5715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39700">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取值</a:t>
                      </a:r>
                    </a:p>
                  </a:txBody>
                  <a:tcPr marL="5715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chemeClr val="bg2"/>
                          </a:solidFill>
                          <a:effectLst/>
                          <a:latin typeface="Times New Roman" pitchFamily="18" charset="0"/>
                          <a:ea typeface="楷体_GB2312" pitchFamily="49" charset="-122"/>
                        </a:rPr>
                        <a:t>0.00~3.00</a:t>
                      </a:r>
                    </a:p>
                  </a:txBody>
                  <a:tcPr marL="5715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39700">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chemeClr val="bg2"/>
                          </a:solidFill>
                          <a:effectLst/>
                          <a:latin typeface="Times New Roman" pitchFamily="18" charset="0"/>
                          <a:ea typeface="楷体_GB2312" pitchFamily="49" charset="-122"/>
                        </a:rPr>
                        <a:t>备注</a:t>
                      </a:r>
                    </a:p>
                  </a:txBody>
                  <a:tcPr marL="5715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chemeClr val="bg2"/>
                          </a:solidFill>
                          <a:effectLst/>
                          <a:latin typeface="Times New Roman" pitchFamily="18" charset="0"/>
                          <a:ea typeface="楷体_GB2312" pitchFamily="49" charset="-122"/>
                        </a:rPr>
                        <a:t>单位为</a:t>
                      </a:r>
                      <a:r>
                        <a:rPr kumimoji="0" lang="en-US" altLang="zh-CN" sz="2000" b="0" i="0" u="none" strike="noStrike" cap="none" normalizeH="0" baseline="0" dirty="0">
                          <a:ln>
                            <a:noFill/>
                          </a:ln>
                          <a:solidFill>
                            <a:schemeClr val="bg2"/>
                          </a:solidFill>
                          <a:effectLst/>
                          <a:latin typeface="Times New Roman" pitchFamily="18" charset="0"/>
                          <a:ea typeface="楷体_GB2312" pitchFamily="49" charset="-122"/>
                        </a:rPr>
                        <a:t>m</a:t>
                      </a:r>
                    </a:p>
                  </a:txBody>
                  <a:tcPr marL="5715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0" name="Rectangle 89">
            <a:extLst>
              <a:ext uri="{FF2B5EF4-FFF2-40B4-BE49-F238E27FC236}">
                <a16:creationId xmlns:a16="http://schemas.microsoft.com/office/drawing/2014/main" id="{5E03A22A-D9C7-4826-AD55-A563B374A64A}"/>
              </a:ext>
            </a:extLst>
          </p:cNvPr>
          <p:cNvSpPr>
            <a:spLocks noChangeArrowheads="1"/>
          </p:cNvSpPr>
          <p:nvPr/>
        </p:nvSpPr>
        <p:spPr bwMode="auto">
          <a:xfrm>
            <a:off x="4853121" y="4867016"/>
            <a:ext cx="2508605"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lIns="0" tIns="0" rIns="0" bIns="0"/>
          <a:lstStyle/>
          <a:p>
            <a:pPr algn="ctr">
              <a:spcAft>
                <a:spcPct val="0"/>
              </a:spcAft>
              <a:buSzTx/>
              <a:buFontTx/>
              <a:buNone/>
            </a:pPr>
            <a:r>
              <a:rPr lang="zh-CN" altLang="en-US" dirty="0">
                <a:solidFill>
                  <a:srgbClr val="FF0000"/>
                </a:solidFill>
                <a:effectLst/>
                <a:latin typeface="Times New Roman" pitchFamily="18" charset="0"/>
              </a:rPr>
              <a:t>不同计量单位引起的域冲突</a:t>
            </a:r>
          </a:p>
        </p:txBody>
      </p:sp>
    </p:spTree>
    <p:extLst>
      <p:ext uri="{BB962C8B-B14F-4D97-AF65-F5344CB8AC3E}">
        <p14:creationId xmlns:p14="http://schemas.microsoft.com/office/powerpoint/2010/main" val="1447582976"/>
      </p:ext>
    </p:extLst>
  </p:cSld>
  <p:clrMapOvr>
    <a:masterClrMapping/>
  </p:clrMapOvr>
  <p:transition spd="med">
    <p:random/>
    <p:sndAc>
      <p:stSnd>
        <p:snd r:embed="rId2" name="arrow.wav"/>
      </p:stSnd>
    </p:sndAc>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Box 2">
            <a:extLst>
              <a:ext uri="{FF2B5EF4-FFF2-40B4-BE49-F238E27FC236}">
                <a16:creationId xmlns:a16="http://schemas.microsoft.com/office/drawing/2014/main" id="{497D6F86-4142-4F9A-8A91-AC44BB7E6750}"/>
              </a:ext>
            </a:extLst>
          </p:cNvPr>
          <p:cNvSpPr txBox="1">
            <a:spLocks noChangeArrowheads="1"/>
          </p:cNvSpPr>
          <p:nvPr/>
        </p:nvSpPr>
        <p:spPr bwMode="auto">
          <a:xfrm>
            <a:off x="752900" y="30060"/>
            <a:ext cx="4762055"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defPPr>
              <a:defRPr lang="en-US"/>
            </a:defPPr>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a:t>概念结构设计的流程</a:t>
            </a:r>
          </a:p>
        </p:txBody>
      </p:sp>
      <p:sp>
        <p:nvSpPr>
          <p:cNvPr id="70" name="Rectangle 3">
            <a:extLst>
              <a:ext uri="{FF2B5EF4-FFF2-40B4-BE49-F238E27FC236}">
                <a16:creationId xmlns:a16="http://schemas.microsoft.com/office/drawing/2014/main" id="{14B78225-D64A-4DAC-B4E5-30B47AB8EB7E}"/>
              </a:ext>
            </a:extLst>
          </p:cNvPr>
          <p:cNvSpPr>
            <a:spLocks noGrp="1" noChangeArrowheads="1"/>
          </p:cNvSpPr>
          <p:nvPr>
            <p:ph type="title"/>
          </p:nvPr>
        </p:nvSpPr>
        <p:spPr>
          <a:xfrm>
            <a:off x="751272" y="906427"/>
            <a:ext cx="8964612" cy="584775"/>
          </a:xfrm>
        </p:spPr>
        <p:txBody>
          <a:bodyPr wrap="square"/>
          <a:lstStyle/>
          <a:p>
            <a:pPr eaLnBrk="1" hangingPunct="1">
              <a:buFont typeface="Wingdings" pitchFamily="2" charset="2"/>
              <a:buNone/>
            </a:pPr>
            <a:r>
              <a:rPr lang="zh-CN" altLang="en-US" dirty="0"/>
              <a:t>分</a:t>
            </a:r>
            <a:r>
              <a:rPr lang="en-US" altLang="zh-CN" dirty="0"/>
              <a:t>E-R</a:t>
            </a:r>
            <a:r>
              <a:rPr lang="zh-CN" altLang="en-US" dirty="0"/>
              <a:t>图之间的冲突</a:t>
            </a:r>
            <a:endParaRPr lang="en-US" altLang="zh-CN" dirty="0"/>
          </a:p>
        </p:txBody>
      </p:sp>
      <p:sp>
        <p:nvSpPr>
          <p:cNvPr id="14" name="Text Box 5">
            <a:extLst>
              <a:ext uri="{FF2B5EF4-FFF2-40B4-BE49-F238E27FC236}">
                <a16:creationId xmlns:a16="http://schemas.microsoft.com/office/drawing/2014/main" id="{D40932DC-98B6-49E4-BE92-0FEE0F5495DC}"/>
              </a:ext>
            </a:extLst>
          </p:cNvPr>
          <p:cNvSpPr txBox="1">
            <a:spLocks noChangeArrowheads="1"/>
          </p:cNvSpPr>
          <p:nvPr/>
        </p:nvSpPr>
        <p:spPr bwMode="auto">
          <a:xfrm>
            <a:off x="8132962" y="1031935"/>
            <a:ext cx="2819400" cy="574675"/>
          </a:xfrm>
          <a:prstGeom prst="rect">
            <a:avLst/>
          </a:prstGeom>
          <a:solidFill>
            <a:srgbClr val="CCFFCC"/>
          </a:solidFill>
          <a:ln w="12700" cap="sq">
            <a:solidFill>
              <a:srgbClr val="FF0000"/>
            </a:solidFill>
            <a:miter lim="800000"/>
            <a:headEnd type="none" w="sm" len="sm"/>
            <a:tailEnd type="none" w="sm" len="sm"/>
          </a:ln>
          <a:effectLst>
            <a:outerShdw dist="107763" dir="2700000" algn="ctr" rotWithShape="0">
              <a:schemeClr val="bg2">
                <a:alpha val="50000"/>
              </a:schemeClr>
            </a:outerShdw>
          </a:effectLst>
        </p:spPr>
        <p:txBody>
          <a:bodyPr/>
          <a:lstStyle>
            <a:lvl1pPr marL="377825" indent="-377825"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algn="ctr" eaLnBrk="1" hangingPunct="1">
              <a:spcBef>
                <a:spcPct val="50000"/>
              </a:spcBef>
              <a:spcAft>
                <a:spcPct val="0"/>
              </a:spcAft>
            </a:pPr>
            <a:r>
              <a:rPr lang="zh-CN" altLang="en-US" dirty="0">
                <a:solidFill>
                  <a:srgbClr val="000000"/>
                </a:solidFill>
                <a:effectLst/>
                <a:latin typeface="微软雅黑" pitchFamily="34" charset="-122"/>
                <a:ea typeface="微软雅黑" pitchFamily="34" charset="-122"/>
              </a:rPr>
              <a:t>协商统一解决</a:t>
            </a:r>
          </a:p>
        </p:txBody>
      </p:sp>
      <p:sp>
        <p:nvSpPr>
          <p:cNvPr id="15" name="Text Box 4">
            <a:extLst>
              <a:ext uri="{FF2B5EF4-FFF2-40B4-BE49-F238E27FC236}">
                <a16:creationId xmlns:a16="http://schemas.microsoft.com/office/drawing/2014/main" id="{F3DA3422-A9F2-4C0A-9978-B0E52D3BA9BA}"/>
              </a:ext>
            </a:extLst>
          </p:cNvPr>
          <p:cNvSpPr txBox="1">
            <a:spLocks noChangeArrowheads="1"/>
          </p:cNvSpPr>
          <p:nvPr/>
        </p:nvSpPr>
        <p:spPr bwMode="auto">
          <a:xfrm>
            <a:off x="713016" y="1682545"/>
            <a:ext cx="838200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marL="377825" indent="-377825"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eaLnBrk="1" hangingPunct="1">
              <a:spcBef>
                <a:spcPct val="50000"/>
              </a:spcBef>
              <a:spcAft>
                <a:spcPct val="0"/>
              </a:spcAft>
            </a:pPr>
            <a:r>
              <a:rPr lang="zh-CN" altLang="en-US" dirty="0">
                <a:solidFill>
                  <a:srgbClr val="FFFF00"/>
                </a:solidFill>
                <a:effectLst/>
                <a:latin typeface="微软雅黑" pitchFamily="34" charset="-122"/>
                <a:ea typeface="微软雅黑" pitchFamily="34" charset="-122"/>
              </a:rPr>
              <a:t>② 命名冲突</a:t>
            </a:r>
          </a:p>
        </p:txBody>
      </p:sp>
      <p:grpSp>
        <p:nvGrpSpPr>
          <p:cNvPr id="9" name="组合 8">
            <a:extLst>
              <a:ext uri="{FF2B5EF4-FFF2-40B4-BE49-F238E27FC236}">
                <a16:creationId xmlns:a16="http://schemas.microsoft.com/office/drawing/2014/main" id="{EDC6EFA3-63F0-40F4-903D-99C289A608E5}"/>
              </a:ext>
            </a:extLst>
          </p:cNvPr>
          <p:cNvGrpSpPr/>
          <p:nvPr/>
        </p:nvGrpSpPr>
        <p:grpSpPr>
          <a:xfrm>
            <a:off x="871691" y="2448563"/>
            <a:ext cx="10705438" cy="4004773"/>
            <a:chOff x="871691" y="2708920"/>
            <a:chExt cx="10705438" cy="3744416"/>
          </a:xfrm>
        </p:grpSpPr>
        <p:sp>
          <p:nvSpPr>
            <p:cNvPr id="123" name="Rectangle 7">
              <a:extLst>
                <a:ext uri="{FF2B5EF4-FFF2-40B4-BE49-F238E27FC236}">
                  <a16:creationId xmlns:a16="http://schemas.microsoft.com/office/drawing/2014/main" id="{1A8EB923-B1CC-4203-AF0D-BD780BE48BF0}"/>
                </a:ext>
              </a:extLst>
            </p:cNvPr>
            <p:cNvSpPr>
              <a:spLocks noChangeArrowheads="1"/>
            </p:cNvSpPr>
            <p:nvPr/>
          </p:nvSpPr>
          <p:spPr bwMode="auto">
            <a:xfrm>
              <a:off x="948465" y="2708920"/>
              <a:ext cx="10551217" cy="1741947"/>
            </a:xfrm>
            <a:prstGeom prst="rect">
              <a:avLst/>
            </a:prstGeom>
            <a:solidFill>
              <a:sysClr val="window" lastClr="FFFFFF"/>
            </a:solidFill>
            <a:ln w="9525" cap="sq">
              <a:solidFill>
                <a:sysClr val="windowText" lastClr="000000"/>
              </a:solidFill>
              <a:prstDash val="dash"/>
              <a:miter lim="800000"/>
              <a:headEnd/>
              <a:tailEnd/>
            </a:ln>
            <a:effectLst>
              <a:outerShdw dist="35921" dir="2700000" algn="ctr" rotWithShape="0">
                <a:srgbClr val="EEECE1"/>
              </a:outerShdw>
            </a:effectLst>
          </p:spPr>
          <p:txBody>
            <a:bodyPr wrap="none" lIns="0" tIns="0" rIns="0" bIns="0" anchor="ctr"/>
            <a:lstStyle/>
            <a:p>
              <a:pPr marL="0" marR="0" lvl="0" indent="0" defTabSz="914400" eaLnBrk="1" fontAlgn="auto" latinLnBrk="0" hangingPunct="1">
                <a:lnSpc>
                  <a:spcPct val="100000"/>
                </a:lnSpc>
                <a:spcBef>
                  <a:spcPts val="0"/>
                </a:spcBef>
                <a:spcAft>
                  <a:spcPct val="0"/>
                </a:spcAft>
                <a:buClrTx/>
                <a:buSzTx/>
                <a:buFontTx/>
                <a:buNone/>
                <a:tabLst/>
                <a:defRPr/>
              </a:pPr>
              <a:endParaRPr kumimoji="0" lang="zh-CN" altLang="en-US" sz="28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grpSp>
          <p:nvGrpSpPr>
            <p:cNvPr id="4" name="组合 3">
              <a:extLst>
                <a:ext uri="{FF2B5EF4-FFF2-40B4-BE49-F238E27FC236}">
                  <a16:creationId xmlns:a16="http://schemas.microsoft.com/office/drawing/2014/main" id="{B77B9A5C-9445-4758-845C-A264D2E44EA1}"/>
                </a:ext>
              </a:extLst>
            </p:cNvPr>
            <p:cNvGrpSpPr/>
            <p:nvPr/>
          </p:nvGrpSpPr>
          <p:grpSpPr>
            <a:xfrm>
              <a:off x="1758322" y="3200876"/>
              <a:ext cx="3070969" cy="903718"/>
              <a:chOff x="2039878" y="3200876"/>
              <a:chExt cx="3070969" cy="903718"/>
            </a:xfrm>
          </p:grpSpPr>
          <p:sp>
            <p:nvSpPr>
              <p:cNvPr id="153" name="Rectangle 9">
                <a:extLst>
                  <a:ext uri="{FF2B5EF4-FFF2-40B4-BE49-F238E27FC236}">
                    <a16:creationId xmlns:a16="http://schemas.microsoft.com/office/drawing/2014/main" id="{C46E2085-67FF-496C-9F46-0410C8AF7080}"/>
                  </a:ext>
                </a:extLst>
              </p:cNvPr>
              <p:cNvSpPr>
                <a:spLocks noChangeArrowheads="1"/>
              </p:cNvSpPr>
              <p:nvPr/>
            </p:nvSpPr>
            <p:spPr bwMode="auto">
              <a:xfrm>
                <a:off x="3191491" y="3200876"/>
                <a:ext cx="690968" cy="295215"/>
              </a:xfrm>
              <a:prstGeom prst="rect">
                <a:avLst/>
              </a:prstGeom>
              <a:solidFill>
                <a:srgbClr val="FFFFFF"/>
              </a:solidFill>
              <a:ln w="12700" cap="sq">
                <a:solidFill>
                  <a:srgbClr val="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400" b="0" i="0" u="none" strike="noStrike" kern="0" cap="none" spc="0" normalizeH="0" baseline="0" noProof="0" dirty="0">
                    <a:ln>
                      <a:noFill/>
                    </a:ln>
                    <a:solidFill>
                      <a:srgbClr val="000000"/>
                    </a:solidFill>
                    <a:effectLst/>
                    <a:uLnTx/>
                    <a:uFillTx/>
                    <a:latin typeface="Times New Roman" pitchFamily="18" charset="0"/>
                    <a:ea typeface="宋体" panose="02010600030101010101" pitchFamily="2" charset="-122"/>
                  </a:rPr>
                  <a:t>职工</a:t>
                </a:r>
              </a:p>
            </p:txBody>
          </p:sp>
          <p:sp>
            <p:nvSpPr>
              <p:cNvPr id="154" name="AutoShape 10">
                <a:extLst>
                  <a:ext uri="{FF2B5EF4-FFF2-40B4-BE49-F238E27FC236}">
                    <a16:creationId xmlns:a16="http://schemas.microsoft.com/office/drawing/2014/main" id="{FB117E81-EEB9-4D4F-882A-FF6D0D3E3050}"/>
                  </a:ext>
                </a:extLst>
              </p:cNvPr>
              <p:cNvSpPr>
                <a:spLocks noChangeArrowheads="1"/>
              </p:cNvSpPr>
              <p:nvPr/>
            </p:nvSpPr>
            <p:spPr bwMode="auto">
              <a:xfrm>
                <a:off x="2039878" y="3809379"/>
                <a:ext cx="767742" cy="295215"/>
              </a:xfrm>
              <a:prstGeom prst="roundRect">
                <a:avLst>
                  <a:gd name="adj" fmla="val 50000"/>
                </a:avLst>
              </a:prstGeom>
              <a:solidFill>
                <a:srgbClr val="FFFFFF"/>
              </a:solidFill>
              <a:ln w="12700" cap="sq">
                <a:solidFill>
                  <a:srgbClr val="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400" b="0" i="0" u="none" strike="noStrike" kern="0" cap="none" spc="0" normalizeH="0" baseline="0" noProof="0" dirty="0">
                    <a:ln>
                      <a:noFill/>
                    </a:ln>
                    <a:solidFill>
                      <a:srgbClr val="000000"/>
                    </a:solidFill>
                    <a:effectLst/>
                    <a:uLnTx/>
                    <a:uFillTx/>
                    <a:latin typeface="Times New Roman" pitchFamily="18" charset="0"/>
                    <a:ea typeface="宋体" panose="02010600030101010101" pitchFamily="2" charset="-122"/>
                  </a:rPr>
                  <a:t>工号</a:t>
                </a:r>
              </a:p>
            </p:txBody>
          </p:sp>
          <p:sp>
            <p:nvSpPr>
              <p:cNvPr id="155" name="AutoShape 11">
                <a:extLst>
                  <a:ext uri="{FF2B5EF4-FFF2-40B4-BE49-F238E27FC236}">
                    <a16:creationId xmlns:a16="http://schemas.microsoft.com/office/drawing/2014/main" id="{F3294444-6C30-4048-87F5-F6E99E42106D}"/>
                  </a:ext>
                </a:extLst>
              </p:cNvPr>
              <p:cNvSpPr>
                <a:spLocks noChangeArrowheads="1"/>
              </p:cNvSpPr>
              <p:nvPr/>
            </p:nvSpPr>
            <p:spPr bwMode="auto">
              <a:xfrm>
                <a:off x="2884394" y="3809379"/>
                <a:ext cx="690968" cy="295215"/>
              </a:xfrm>
              <a:prstGeom prst="roundRect">
                <a:avLst>
                  <a:gd name="adj" fmla="val 50000"/>
                </a:avLst>
              </a:prstGeom>
              <a:solidFill>
                <a:srgbClr val="FFFFFF"/>
              </a:solidFill>
              <a:ln w="12700" cap="sq">
                <a:solidFill>
                  <a:srgbClr val="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400" b="0" i="0" u="none" strike="noStrike" kern="0" cap="none" spc="0" normalizeH="0" baseline="0" noProof="0" dirty="0">
                    <a:ln>
                      <a:noFill/>
                    </a:ln>
                    <a:solidFill>
                      <a:srgbClr val="000000"/>
                    </a:solidFill>
                    <a:effectLst/>
                    <a:uLnTx/>
                    <a:uFillTx/>
                    <a:latin typeface="Times New Roman" pitchFamily="18" charset="0"/>
                    <a:ea typeface="宋体" panose="02010600030101010101" pitchFamily="2" charset="-122"/>
                  </a:rPr>
                  <a:t>姓名</a:t>
                </a:r>
              </a:p>
            </p:txBody>
          </p:sp>
          <p:sp>
            <p:nvSpPr>
              <p:cNvPr id="156" name="AutoShape 12">
                <a:extLst>
                  <a:ext uri="{FF2B5EF4-FFF2-40B4-BE49-F238E27FC236}">
                    <a16:creationId xmlns:a16="http://schemas.microsoft.com/office/drawing/2014/main" id="{56B7B7D0-C214-4EA9-BAA0-F0AA6F9C3DBC}"/>
                  </a:ext>
                </a:extLst>
              </p:cNvPr>
              <p:cNvSpPr>
                <a:spLocks noChangeArrowheads="1"/>
              </p:cNvSpPr>
              <p:nvPr/>
            </p:nvSpPr>
            <p:spPr bwMode="auto">
              <a:xfrm>
                <a:off x="3653737" y="3809379"/>
                <a:ext cx="690968" cy="295215"/>
              </a:xfrm>
              <a:prstGeom prst="roundRect">
                <a:avLst>
                  <a:gd name="adj" fmla="val 50000"/>
                </a:avLst>
              </a:prstGeom>
              <a:solidFill>
                <a:srgbClr val="FFFFFF"/>
              </a:solidFill>
              <a:ln w="12700" cap="sq">
                <a:solidFill>
                  <a:srgbClr val="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400" b="0" i="0" u="none" strike="noStrike" kern="0" cap="none" spc="0" normalizeH="0" baseline="0" noProof="0" dirty="0">
                    <a:ln>
                      <a:noFill/>
                    </a:ln>
                    <a:solidFill>
                      <a:srgbClr val="000000"/>
                    </a:solidFill>
                    <a:effectLst/>
                    <a:uLnTx/>
                    <a:uFillTx/>
                    <a:latin typeface="Times New Roman" pitchFamily="18" charset="0"/>
                    <a:ea typeface="宋体" panose="02010600030101010101" pitchFamily="2" charset="-122"/>
                  </a:rPr>
                  <a:t>性别</a:t>
                </a:r>
              </a:p>
            </p:txBody>
          </p:sp>
          <p:sp>
            <p:nvSpPr>
              <p:cNvPr id="157" name="AutoShape 13">
                <a:extLst>
                  <a:ext uri="{FF2B5EF4-FFF2-40B4-BE49-F238E27FC236}">
                    <a16:creationId xmlns:a16="http://schemas.microsoft.com/office/drawing/2014/main" id="{FC34E1AE-8D70-4B35-91BF-EB0B55E84437}"/>
                  </a:ext>
                </a:extLst>
              </p:cNvPr>
              <p:cNvSpPr>
                <a:spLocks noChangeArrowheads="1"/>
              </p:cNvSpPr>
              <p:nvPr/>
            </p:nvSpPr>
            <p:spPr bwMode="auto">
              <a:xfrm>
                <a:off x="4419879" y="3809379"/>
                <a:ext cx="690968" cy="295215"/>
              </a:xfrm>
              <a:prstGeom prst="roundRect">
                <a:avLst>
                  <a:gd name="adj" fmla="val 50000"/>
                </a:avLst>
              </a:prstGeom>
              <a:solidFill>
                <a:srgbClr val="CCCCFF"/>
              </a:solidFill>
              <a:ln w="12700" cap="sq">
                <a:solidFill>
                  <a:srgbClr val="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400" b="0" i="0" u="none" strike="noStrike" kern="0" cap="none" spc="0" normalizeH="0" baseline="0" noProof="0">
                    <a:ln>
                      <a:noFill/>
                    </a:ln>
                    <a:solidFill>
                      <a:srgbClr val="000000"/>
                    </a:solidFill>
                    <a:effectLst/>
                    <a:uLnTx/>
                    <a:uFillTx/>
                    <a:latin typeface="Times New Roman" pitchFamily="18" charset="0"/>
                    <a:ea typeface="宋体" panose="02010600030101010101" pitchFamily="2" charset="-122"/>
                  </a:rPr>
                  <a:t>单位</a:t>
                </a:r>
              </a:p>
            </p:txBody>
          </p:sp>
          <p:cxnSp>
            <p:nvCxnSpPr>
              <p:cNvPr id="158" name="AutoShape 14">
                <a:extLst>
                  <a:ext uri="{FF2B5EF4-FFF2-40B4-BE49-F238E27FC236}">
                    <a16:creationId xmlns:a16="http://schemas.microsoft.com/office/drawing/2014/main" id="{65895C8F-B9F7-4DFF-9789-0A868FDA0163}"/>
                  </a:ext>
                </a:extLst>
              </p:cNvPr>
              <p:cNvCxnSpPr>
                <a:cxnSpLocks noChangeShapeType="1"/>
                <a:stCxn id="153" idx="2"/>
                <a:endCxn id="154" idx="0"/>
              </p:cNvCxnSpPr>
              <p:nvPr/>
            </p:nvCxnSpPr>
            <p:spPr bwMode="auto">
              <a:xfrm flipH="1">
                <a:off x="2423749" y="3496091"/>
                <a:ext cx="1113226" cy="313289"/>
              </a:xfrm>
              <a:prstGeom prst="straightConnector1">
                <a:avLst/>
              </a:prstGeom>
              <a:noFill/>
              <a:ln w="12700" cap="sq">
                <a:solidFill>
                  <a:srgbClr val="000000"/>
                </a:solidFill>
                <a:round/>
                <a:headEnd/>
                <a:tailEnd/>
              </a:ln>
              <a:extLst>
                <a:ext uri="{909E8E84-426E-40DD-AFC4-6F175D3DCCD1}">
                  <a14:hiddenFill xmlns:a14="http://schemas.microsoft.com/office/drawing/2010/main">
                    <a:noFill/>
                  </a14:hiddenFill>
                </a:ext>
              </a:extLst>
            </p:spPr>
          </p:cxnSp>
          <p:cxnSp>
            <p:nvCxnSpPr>
              <p:cNvPr id="159" name="AutoShape 15">
                <a:extLst>
                  <a:ext uri="{FF2B5EF4-FFF2-40B4-BE49-F238E27FC236}">
                    <a16:creationId xmlns:a16="http://schemas.microsoft.com/office/drawing/2014/main" id="{572A89B6-9301-4A3B-AC2F-5A014CA1F62F}"/>
                  </a:ext>
                </a:extLst>
              </p:cNvPr>
              <p:cNvCxnSpPr>
                <a:cxnSpLocks noChangeShapeType="1"/>
                <a:stCxn id="153" idx="2"/>
                <a:endCxn id="155" idx="0"/>
              </p:cNvCxnSpPr>
              <p:nvPr/>
            </p:nvCxnSpPr>
            <p:spPr bwMode="auto">
              <a:xfrm flipH="1">
                <a:off x="3229878" y="3496091"/>
                <a:ext cx="307097" cy="313289"/>
              </a:xfrm>
              <a:prstGeom prst="straightConnector1">
                <a:avLst/>
              </a:prstGeom>
              <a:noFill/>
              <a:ln w="12700" cap="sq">
                <a:solidFill>
                  <a:srgbClr val="000000"/>
                </a:solidFill>
                <a:round/>
                <a:headEnd/>
                <a:tailEnd/>
              </a:ln>
              <a:extLst>
                <a:ext uri="{909E8E84-426E-40DD-AFC4-6F175D3DCCD1}">
                  <a14:hiddenFill xmlns:a14="http://schemas.microsoft.com/office/drawing/2010/main">
                    <a:noFill/>
                  </a14:hiddenFill>
                </a:ext>
              </a:extLst>
            </p:spPr>
          </p:cxnSp>
          <p:cxnSp>
            <p:nvCxnSpPr>
              <p:cNvPr id="160" name="AutoShape 16">
                <a:extLst>
                  <a:ext uri="{FF2B5EF4-FFF2-40B4-BE49-F238E27FC236}">
                    <a16:creationId xmlns:a16="http://schemas.microsoft.com/office/drawing/2014/main" id="{A487ED5A-2A76-485A-AE52-C828AD3A9823}"/>
                  </a:ext>
                </a:extLst>
              </p:cNvPr>
              <p:cNvCxnSpPr>
                <a:cxnSpLocks noChangeShapeType="1"/>
                <a:stCxn id="153" idx="2"/>
                <a:endCxn id="156" idx="0"/>
              </p:cNvCxnSpPr>
              <p:nvPr/>
            </p:nvCxnSpPr>
            <p:spPr bwMode="auto">
              <a:xfrm>
                <a:off x="3536975" y="3496091"/>
                <a:ext cx="462245" cy="313289"/>
              </a:xfrm>
              <a:prstGeom prst="straightConnector1">
                <a:avLst/>
              </a:prstGeom>
              <a:noFill/>
              <a:ln w="12700" cap="sq">
                <a:solidFill>
                  <a:srgbClr val="000000"/>
                </a:solidFill>
                <a:round/>
                <a:headEnd/>
                <a:tailEnd/>
              </a:ln>
              <a:extLst>
                <a:ext uri="{909E8E84-426E-40DD-AFC4-6F175D3DCCD1}">
                  <a14:hiddenFill xmlns:a14="http://schemas.microsoft.com/office/drawing/2010/main">
                    <a:noFill/>
                  </a14:hiddenFill>
                </a:ext>
              </a:extLst>
            </p:spPr>
          </p:cxnSp>
          <p:cxnSp>
            <p:nvCxnSpPr>
              <p:cNvPr id="161" name="AutoShape 17">
                <a:extLst>
                  <a:ext uri="{FF2B5EF4-FFF2-40B4-BE49-F238E27FC236}">
                    <a16:creationId xmlns:a16="http://schemas.microsoft.com/office/drawing/2014/main" id="{6BA2A94F-99C7-4B67-845F-9800D7F0925E}"/>
                  </a:ext>
                </a:extLst>
              </p:cNvPr>
              <p:cNvCxnSpPr>
                <a:cxnSpLocks noChangeShapeType="1"/>
                <a:stCxn id="153" idx="2"/>
                <a:endCxn id="157" idx="0"/>
              </p:cNvCxnSpPr>
              <p:nvPr/>
            </p:nvCxnSpPr>
            <p:spPr bwMode="auto">
              <a:xfrm>
                <a:off x="3536975" y="3496091"/>
                <a:ext cx="1228388" cy="313289"/>
              </a:xfrm>
              <a:prstGeom prst="straightConnector1">
                <a:avLst/>
              </a:prstGeom>
              <a:noFill/>
              <a:ln w="12700" cap="sq">
                <a:solidFill>
                  <a:srgbClr val="000000"/>
                </a:solidFill>
                <a:round/>
                <a:headEnd/>
                <a:tailEnd/>
              </a:ln>
              <a:extLst>
                <a:ext uri="{909E8E84-426E-40DD-AFC4-6F175D3DCCD1}">
                  <a14:hiddenFill xmlns:a14="http://schemas.microsoft.com/office/drawing/2010/main">
                    <a:noFill/>
                  </a14:hiddenFill>
                </a:ext>
              </a:extLst>
            </p:spPr>
          </p:cxnSp>
        </p:grpSp>
        <p:grpSp>
          <p:nvGrpSpPr>
            <p:cNvPr id="5" name="组合 4">
              <a:extLst>
                <a:ext uri="{FF2B5EF4-FFF2-40B4-BE49-F238E27FC236}">
                  <a16:creationId xmlns:a16="http://schemas.microsoft.com/office/drawing/2014/main" id="{4E5ABF27-926B-491C-82EA-F41011BF1AF4}"/>
                </a:ext>
              </a:extLst>
            </p:cNvPr>
            <p:cNvGrpSpPr/>
            <p:nvPr/>
          </p:nvGrpSpPr>
          <p:grpSpPr>
            <a:xfrm>
              <a:off x="7531537" y="3200876"/>
              <a:ext cx="3070969" cy="903718"/>
              <a:chOff x="7337299" y="3200876"/>
              <a:chExt cx="3070969" cy="903718"/>
            </a:xfrm>
          </p:grpSpPr>
          <p:sp>
            <p:nvSpPr>
              <p:cNvPr id="162" name="Rectangle 18">
                <a:extLst>
                  <a:ext uri="{FF2B5EF4-FFF2-40B4-BE49-F238E27FC236}">
                    <a16:creationId xmlns:a16="http://schemas.microsoft.com/office/drawing/2014/main" id="{5F811DFA-6B11-4E03-83C0-6909619A11D9}"/>
                  </a:ext>
                </a:extLst>
              </p:cNvPr>
              <p:cNvSpPr>
                <a:spLocks noChangeArrowheads="1"/>
              </p:cNvSpPr>
              <p:nvPr/>
            </p:nvSpPr>
            <p:spPr bwMode="auto">
              <a:xfrm>
                <a:off x="8488912" y="3200876"/>
                <a:ext cx="690968" cy="295215"/>
              </a:xfrm>
              <a:prstGeom prst="rect">
                <a:avLst/>
              </a:prstGeom>
              <a:solidFill>
                <a:srgbClr val="FFFFFF"/>
              </a:solidFill>
              <a:ln w="12700" cap="sq">
                <a:solidFill>
                  <a:srgbClr val="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400" b="0" i="0" u="none" strike="noStrike" kern="0" cap="none" spc="0" normalizeH="0" baseline="0" noProof="0" dirty="0">
                    <a:ln>
                      <a:noFill/>
                    </a:ln>
                    <a:solidFill>
                      <a:srgbClr val="000000"/>
                    </a:solidFill>
                    <a:effectLst/>
                    <a:uLnTx/>
                    <a:uFillTx/>
                    <a:latin typeface="Times New Roman" pitchFamily="18" charset="0"/>
                    <a:ea typeface="宋体" panose="02010600030101010101" pitchFamily="2" charset="-122"/>
                  </a:rPr>
                  <a:t>产品</a:t>
                </a:r>
              </a:p>
            </p:txBody>
          </p:sp>
          <p:sp>
            <p:nvSpPr>
              <p:cNvPr id="163" name="AutoShape 19">
                <a:extLst>
                  <a:ext uri="{FF2B5EF4-FFF2-40B4-BE49-F238E27FC236}">
                    <a16:creationId xmlns:a16="http://schemas.microsoft.com/office/drawing/2014/main" id="{F02A7B0B-4775-492A-8C36-49D773F336FE}"/>
                  </a:ext>
                </a:extLst>
              </p:cNvPr>
              <p:cNvSpPr>
                <a:spLocks noChangeArrowheads="1"/>
              </p:cNvSpPr>
              <p:nvPr/>
            </p:nvSpPr>
            <p:spPr bwMode="auto">
              <a:xfrm>
                <a:off x="7337299" y="3809379"/>
                <a:ext cx="767742" cy="295215"/>
              </a:xfrm>
              <a:prstGeom prst="roundRect">
                <a:avLst>
                  <a:gd name="adj" fmla="val 50000"/>
                </a:avLst>
              </a:prstGeom>
              <a:solidFill>
                <a:srgbClr val="FFFFFF"/>
              </a:solidFill>
              <a:ln w="12700" cap="sq">
                <a:solidFill>
                  <a:srgbClr val="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400" b="0" i="0" u="none" strike="noStrike" kern="0" cap="none" spc="0" normalizeH="0" baseline="0" noProof="0">
                    <a:ln>
                      <a:noFill/>
                    </a:ln>
                    <a:solidFill>
                      <a:srgbClr val="000000"/>
                    </a:solidFill>
                    <a:effectLst/>
                    <a:uLnTx/>
                    <a:uFillTx/>
                    <a:latin typeface="Times New Roman" pitchFamily="18" charset="0"/>
                    <a:ea typeface="宋体" panose="02010600030101010101" pitchFamily="2" charset="-122"/>
                  </a:rPr>
                  <a:t>编号</a:t>
                </a:r>
              </a:p>
            </p:txBody>
          </p:sp>
          <p:sp>
            <p:nvSpPr>
              <p:cNvPr id="164" name="AutoShape 20">
                <a:extLst>
                  <a:ext uri="{FF2B5EF4-FFF2-40B4-BE49-F238E27FC236}">
                    <a16:creationId xmlns:a16="http://schemas.microsoft.com/office/drawing/2014/main" id="{581C2C9A-5346-4C36-9682-FDC6A160D01A}"/>
                  </a:ext>
                </a:extLst>
              </p:cNvPr>
              <p:cNvSpPr>
                <a:spLocks noChangeArrowheads="1"/>
              </p:cNvSpPr>
              <p:nvPr/>
            </p:nvSpPr>
            <p:spPr bwMode="auto">
              <a:xfrm>
                <a:off x="8181816" y="3809379"/>
                <a:ext cx="690968" cy="295215"/>
              </a:xfrm>
              <a:prstGeom prst="roundRect">
                <a:avLst>
                  <a:gd name="adj" fmla="val 50000"/>
                </a:avLst>
              </a:prstGeom>
              <a:solidFill>
                <a:srgbClr val="FFFFFF"/>
              </a:solidFill>
              <a:ln w="12700" cap="sq">
                <a:solidFill>
                  <a:srgbClr val="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400" b="0" i="0" u="none" strike="noStrike" kern="0" cap="none" spc="0" normalizeH="0" baseline="0" noProof="0">
                    <a:ln>
                      <a:noFill/>
                    </a:ln>
                    <a:solidFill>
                      <a:srgbClr val="000000"/>
                    </a:solidFill>
                    <a:effectLst/>
                    <a:uLnTx/>
                    <a:uFillTx/>
                    <a:latin typeface="Times New Roman" pitchFamily="18" charset="0"/>
                    <a:ea typeface="宋体" panose="02010600030101010101" pitchFamily="2" charset="-122"/>
                  </a:rPr>
                  <a:t>品名</a:t>
                </a:r>
              </a:p>
            </p:txBody>
          </p:sp>
          <p:sp>
            <p:nvSpPr>
              <p:cNvPr id="165" name="AutoShape 21">
                <a:extLst>
                  <a:ext uri="{FF2B5EF4-FFF2-40B4-BE49-F238E27FC236}">
                    <a16:creationId xmlns:a16="http://schemas.microsoft.com/office/drawing/2014/main" id="{ADEF8C1D-D7F1-43CB-8108-D8930BAC919D}"/>
                  </a:ext>
                </a:extLst>
              </p:cNvPr>
              <p:cNvSpPr>
                <a:spLocks noChangeArrowheads="1"/>
              </p:cNvSpPr>
              <p:nvPr/>
            </p:nvSpPr>
            <p:spPr bwMode="auto">
              <a:xfrm>
                <a:off x="8951158" y="3809379"/>
                <a:ext cx="690968" cy="295215"/>
              </a:xfrm>
              <a:prstGeom prst="roundRect">
                <a:avLst>
                  <a:gd name="adj" fmla="val 50000"/>
                </a:avLst>
              </a:prstGeom>
              <a:solidFill>
                <a:srgbClr val="FFFFFF"/>
              </a:solidFill>
              <a:ln w="12700" cap="sq">
                <a:solidFill>
                  <a:srgbClr val="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400" b="0" i="0" u="none" strike="noStrike" kern="0" cap="none" spc="0" normalizeH="0" baseline="0" noProof="0">
                    <a:ln>
                      <a:noFill/>
                    </a:ln>
                    <a:solidFill>
                      <a:srgbClr val="000000"/>
                    </a:solidFill>
                    <a:effectLst/>
                    <a:uLnTx/>
                    <a:uFillTx/>
                    <a:latin typeface="Times New Roman" pitchFamily="18" charset="0"/>
                    <a:ea typeface="宋体" panose="02010600030101010101" pitchFamily="2" charset="-122"/>
                  </a:rPr>
                  <a:t>数量</a:t>
                </a:r>
              </a:p>
            </p:txBody>
          </p:sp>
          <p:sp>
            <p:nvSpPr>
              <p:cNvPr id="166" name="AutoShape 22">
                <a:extLst>
                  <a:ext uri="{FF2B5EF4-FFF2-40B4-BE49-F238E27FC236}">
                    <a16:creationId xmlns:a16="http://schemas.microsoft.com/office/drawing/2014/main" id="{2855649B-D957-40E6-9648-32742A83756F}"/>
                  </a:ext>
                </a:extLst>
              </p:cNvPr>
              <p:cNvSpPr>
                <a:spLocks noChangeArrowheads="1"/>
              </p:cNvSpPr>
              <p:nvPr/>
            </p:nvSpPr>
            <p:spPr bwMode="auto">
              <a:xfrm>
                <a:off x="9717300" y="3809379"/>
                <a:ext cx="690968" cy="295215"/>
              </a:xfrm>
              <a:prstGeom prst="roundRect">
                <a:avLst>
                  <a:gd name="adj" fmla="val 50000"/>
                </a:avLst>
              </a:prstGeom>
              <a:solidFill>
                <a:srgbClr val="CCCCFF"/>
              </a:solidFill>
              <a:ln w="12700" cap="sq">
                <a:solidFill>
                  <a:srgbClr val="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400" b="0" i="0" u="none" strike="noStrike" kern="0" cap="none" spc="0" normalizeH="0" baseline="0" noProof="0">
                    <a:ln>
                      <a:noFill/>
                    </a:ln>
                    <a:solidFill>
                      <a:srgbClr val="000000"/>
                    </a:solidFill>
                    <a:effectLst/>
                    <a:uLnTx/>
                    <a:uFillTx/>
                    <a:latin typeface="Times New Roman" pitchFamily="18" charset="0"/>
                    <a:ea typeface="宋体" panose="02010600030101010101" pitchFamily="2" charset="-122"/>
                  </a:rPr>
                  <a:t>单位</a:t>
                </a:r>
              </a:p>
            </p:txBody>
          </p:sp>
          <p:cxnSp>
            <p:nvCxnSpPr>
              <p:cNvPr id="167" name="AutoShape 23">
                <a:extLst>
                  <a:ext uri="{FF2B5EF4-FFF2-40B4-BE49-F238E27FC236}">
                    <a16:creationId xmlns:a16="http://schemas.microsoft.com/office/drawing/2014/main" id="{8C0917A2-518D-421A-B336-6F1F0959A712}"/>
                  </a:ext>
                </a:extLst>
              </p:cNvPr>
              <p:cNvCxnSpPr>
                <a:cxnSpLocks noChangeShapeType="1"/>
                <a:stCxn id="162" idx="2"/>
                <a:endCxn id="163" idx="0"/>
              </p:cNvCxnSpPr>
              <p:nvPr/>
            </p:nvCxnSpPr>
            <p:spPr bwMode="auto">
              <a:xfrm flipH="1">
                <a:off x="7721170" y="3496091"/>
                <a:ext cx="1113226" cy="313289"/>
              </a:xfrm>
              <a:prstGeom prst="straightConnector1">
                <a:avLst/>
              </a:prstGeom>
              <a:noFill/>
              <a:ln w="12700" cap="sq">
                <a:solidFill>
                  <a:srgbClr val="000000"/>
                </a:solidFill>
                <a:round/>
                <a:headEnd/>
                <a:tailEnd/>
              </a:ln>
              <a:extLst>
                <a:ext uri="{909E8E84-426E-40DD-AFC4-6F175D3DCCD1}">
                  <a14:hiddenFill xmlns:a14="http://schemas.microsoft.com/office/drawing/2010/main">
                    <a:noFill/>
                  </a14:hiddenFill>
                </a:ext>
              </a:extLst>
            </p:spPr>
          </p:cxnSp>
          <p:cxnSp>
            <p:nvCxnSpPr>
              <p:cNvPr id="168" name="AutoShape 24">
                <a:extLst>
                  <a:ext uri="{FF2B5EF4-FFF2-40B4-BE49-F238E27FC236}">
                    <a16:creationId xmlns:a16="http://schemas.microsoft.com/office/drawing/2014/main" id="{E50E2B86-96EE-4DAB-B2D1-39A7F8428A57}"/>
                  </a:ext>
                </a:extLst>
              </p:cNvPr>
              <p:cNvCxnSpPr>
                <a:cxnSpLocks noChangeShapeType="1"/>
                <a:stCxn id="162" idx="2"/>
                <a:endCxn id="164" idx="0"/>
              </p:cNvCxnSpPr>
              <p:nvPr/>
            </p:nvCxnSpPr>
            <p:spPr bwMode="auto">
              <a:xfrm flipH="1">
                <a:off x="8527300" y="3496091"/>
                <a:ext cx="307097" cy="313289"/>
              </a:xfrm>
              <a:prstGeom prst="straightConnector1">
                <a:avLst/>
              </a:prstGeom>
              <a:noFill/>
              <a:ln w="12700" cap="sq">
                <a:solidFill>
                  <a:srgbClr val="000000"/>
                </a:solidFill>
                <a:round/>
                <a:headEnd/>
                <a:tailEnd/>
              </a:ln>
              <a:extLst>
                <a:ext uri="{909E8E84-426E-40DD-AFC4-6F175D3DCCD1}">
                  <a14:hiddenFill xmlns:a14="http://schemas.microsoft.com/office/drawing/2010/main">
                    <a:noFill/>
                  </a14:hiddenFill>
                </a:ext>
              </a:extLst>
            </p:spPr>
          </p:cxnSp>
          <p:cxnSp>
            <p:nvCxnSpPr>
              <p:cNvPr id="169" name="AutoShape 25">
                <a:extLst>
                  <a:ext uri="{FF2B5EF4-FFF2-40B4-BE49-F238E27FC236}">
                    <a16:creationId xmlns:a16="http://schemas.microsoft.com/office/drawing/2014/main" id="{05869A2B-A5C0-47B0-A42B-685E539F6BFD}"/>
                  </a:ext>
                </a:extLst>
              </p:cNvPr>
              <p:cNvCxnSpPr>
                <a:cxnSpLocks noChangeShapeType="1"/>
                <a:stCxn id="162" idx="2"/>
                <a:endCxn id="165" idx="0"/>
              </p:cNvCxnSpPr>
              <p:nvPr/>
            </p:nvCxnSpPr>
            <p:spPr bwMode="auto">
              <a:xfrm>
                <a:off x="8834396" y="3496091"/>
                <a:ext cx="462245" cy="313289"/>
              </a:xfrm>
              <a:prstGeom prst="straightConnector1">
                <a:avLst/>
              </a:prstGeom>
              <a:noFill/>
              <a:ln w="12700" cap="sq">
                <a:solidFill>
                  <a:srgbClr val="000000"/>
                </a:solidFill>
                <a:round/>
                <a:headEnd/>
                <a:tailEnd/>
              </a:ln>
              <a:extLst>
                <a:ext uri="{909E8E84-426E-40DD-AFC4-6F175D3DCCD1}">
                  <a14:hiddenFill xmlns:a14="http://schemas.microsoft.com/office/drawing/2010/main">
                    <a:noFill/>
                  </a14:hiddenFill>
                </a:ext>
              </a:extLst>
            </p:spPr>
          </p:cxnSp>
          <p:cxnSp>
            <p:nvCxnSpPr>
              <p:cNvPr id="170" name="AutoShape 26">
                <a:extLst>
                  <a:ext uri="{FF2B5EF4-FFF2-40B4-BE49-F238E27FC236}">
                    <a16:creationId xmlns:a16="http://schemas.microsoft.com/office/drawing/2014/main" id="{FA5E3E94-3D1F-48B8-849B-1DF933639C53}"/>
                  </a:ext>
                </a:extLst>
              </p:cNvPr>
              <p:cNvCxnSpPr>
                <a:cxnSpLocks noChangeShapeType="1"/>
                <a:stCxn id="162" idx="2"/>
                <a:endCxn id="166" idx="0"/>
              </p:cNvCxnSpPr>
              <p:nvPr/>
            </p:nvCxnSpPr>
            <p:spPr bwMode="auto">
              <a:xfrm>
                <a:off x="8834396" y="3496091"/>
                <a:ext cx="1228388" cy="313289"/>
              </a:xfrm>
              <a:prstGeom prst="straightConnector1">
                <a:avLst/>
              </a:prstGeom>
              <a:noFill/>
              <a:ln w="12700" cap="sq">
                <a:solidFill>
                  <a:srgbClr val="000000"/>
                </a:solidFill>
                <a:round/>
                <a:headEnd/>
                <a:tailEnd/>
              </a:ln>
              <a:extLst>
                <a:ext uri="{909E8E84-426E-40DD-AFC4-6F175D3DCCD1}">
                  <a14:hiddenFill xmlns:a14="http://schemas.microsoft.com/office/drawing/2010/main">
                    <a:noFill/>
                  </a14:hiddenFill>
                </a:ext>
              </a:extLst>
            </p:spPr>
          </p:cxnSp>
        </p:grpSp>
        <p:sp>
          <p:nvSpPr>
            <p:cNvPr id="125" name="Rectangle 7">
              <a:extLst>
                <a:ext uri="{FF2B5EF4-FFF2-40B4-BE49-F238E27FC236}">
                  <a16:creationId xmlns:a16="http://schemas.microsoft.com/office/drawing/2014/main" id="{B1C1C7E7-CAAB-416A-898E-6DCE0DECDB52}"/>
                </a:ext>
              </a:extLst>
            </p:cNvPr>
            <p:cNvSpPr>
              <a:spLocks noChangeArrowheads="1"/>
            </p:cNvSpPr>
            <p:nvPr/>
          </p:nvSpPr>
          <p:spPr bwMode="auto">
            <a:xfrm>
              <a:off x="948465" y="4647500"/>
              <a:ext cx="10551217" cy="1741947"/>
            </a:xfrm>
            <a:prstGeom prst="rect">
              <a:avLst/>
            </a:prstGeom>
            <a:solidFill>
              <a:sysClr val="window" lastClr="FFFFFF"/>
            </a:solidFill>
            <a:ln w="9525" cap="sq">
              <a:solidFill>
                <a:sysClr val="windowText" lastClr="000000"/>
              </a:solidFill>
              <a:prstDash val="dash"/>
              <a:miter lim="800000"/>
              <a:headEnd/>
              <a:tailEnd/>
            </a:ln>
            <a:effectLst>
              <a:outerShdw dist="35921" dir="2700000" algn="ctr" rotWithShape="0">
                <a:srgbClr val="EEECE1"/>
              </a:outerShdw>
            </a:effectLst>
          </p:spPr>
          <p:txBody>
            <a:bodyPr wrap="none" lIns="0" tIns="0" rIns="0" bIns="0" anchor="ctr"/>
            <a:lstStyle/>
            <a:p>
              <a:pPr marL="0" marR="0" lvl="0" indent="0" defTabSz="914400" eaLnBrk="1" fontAlgn="auto" latinLnBrk="0" hangingPunct="1">
                <a:lnSpc>
                  <a:spcPct val="100000"/>
                </a:lnSpc>
                <a:spcBef>
                  <a:spcPts val="0"/>
                </a:spcBef>
                <a:spcAft>
                  <a:spcPct val="0"/>
                </a:spcAft>
                <a:buClrTx/>
                <a:buSzTx/>
                <a:buFontTx/>
                <a:buNone/>
                <a:tabLst/>
                <a:defRPr/>
              </a:pPr>
              <a:endParaRPr kumimoji="0" lang="zh-CN" altLang="en-US" sz="28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126" name="Rectangle 8">
              <a:extLst>
                <a:ext uri="{FF2B5EF4-FFF2-40B4-BE49-F238E27FC236}">
                  <a16:creationId xmlns:a16="http://schemas.microsoft.com/office/drawing/2014/main" id="{BB77BD00-95A6-4E2A-B834-94075000306E}"/>
                </a:ext>
              </a:extLst>
            </p:cNvPr>
            <p:cNvSpPr>
              <a:spLocks noChangeArrowheads="1"/>
            </p:cNvSpPr>
            <p:nvPr/>
          </p:nvSpPr>
          <p:spPr bwMode="auto">
            <a:xfrm>
              <a:off x="871691" y="2731954"/>
              <a:ext cx="10542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400" b="0" i="0" u="none" strike="noStrike" kern="0" cap="none" spc="0" normalizeH="0" baseline="0" noProof="0" dirty="0">
                  <a:ln>
                    <a:noFill/>
                  </a:ln>
                  <a:solidFill>
                    <a:srgbClr val="009900"/>
                  </a:solidFill>
                  <a:effectLst/>
                  <a:uLnTx/>
                  <a:uFillTx/>
                  <a:latin typeface="微软雅黑" pitchFamily="34" charset="-122"/>
                  <a:ea typeface="微软雅黑" pitchFamily="34" charset="-122"/>
                </a:rPr>
                <a:t>分图</a:t>
              </a:r>
              <a:r>
                <a:rPr kumimoji="0" lang="en-US" altLang="zh-CN" sz="2400" b="0" i="0" u="none" strike="noStrike" kern="0" cap="none" spc="0" normalizeH="0" baseline="0" noProof="0" dirty="0">
                  <a:ln>
                    <a:noFill/>
                  </a:ln>
                  <a:solidFill>
                    <a:srgbClr val="009900"/>
                  </a:solidFill>
                  <a:effectLst/>
                  <a:uLnTx/>
                  <a:uFillTx/>
                  <a:latin typeface="微软雅黑" pitchFamily="34" charset="-122"/>
                  <a:ea typeface="微软雅黑" pitchFamily="34" charset="-122"/>
                </a:rPr>
                <a:t>1</a:t>
              </a:r>
              <a:endParaRPr kumimoji="0" lang="zh-CN" altLang="en-US" sz="2400" b="0" i="0" u="none" strike="noStrike" kern="0" cap="none" spc="0" normalizeH="0" baseline="0" noProof="0" dirty="0">
                <a:ln>
                  <a:noFill/>
                </a:ln>
                <a:solidFill>
                  <a:srgbClr val="009900"/>
                </a:solidFill>
                <a:effectLst/>
                <a:uLnTx/>
                <a:uFillTx/>
                <a:latin typeface="微软雅黑" pitchFamily="34" charset="-122"/>
                <a:ea typeface="微软雅黑" pitchFamily="34" charset="-122"/>
              </a:endParaRPr>
            </a:p>
          </p:txBody>
        </p:sp>
        <p:sp>
          <p:nvSpPr>
            <p:cNvPr id="127" name="Rectangle 50">
              <a:extLst>
                <a:ext uri="{FF2B5EF4-FFF2-40B4-BE49-F238E27FC236}">
                  <a16:creationId xmlns:a16="http://schemas.microsoft.com/office/drawing/2014/main" id="{BE9FF56E-D24C-4C2C-B742-DCD1381BE72E}"/>
                </a:ext>
              </a:extLst>
            </p:cNvPr>
            <p:cNvSpPr>
              <a:spLocks noChangeArrowheads="1"/>
            </p:cNvSpPr>
            <p:nvPr/>
          </p:nvSpPr>
          <p:spPr bwMode="auto">
            <a:xfrm>
              <a:off x="5133121" y="5867377"/>
              <a:ext cx="218987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800" b="1" i="0" u="none" strike="noStrike" kern="0" cap="none" spc="0" normalizeH="0" baseline="0" noProof="0" dirty="0">
                  <a:ln>
                    <a:noFill/>
                  </a:ln>
                  <a:solidFill>
                    <a:srgbClr val="FF0000"/>
                  </a:solidFill>
                  <a:effectLst/>
                  <a:uLnTx/>
                  <a:uFillTx/>
                  <a:latin typeface="微软雅黑" pitchFamily="34" charset="-122"/>
                  <a:ea typeface="微软雅黑" pitchFamily="34" charset="-122"/>
                </a:rPr>
                <a:t>异名同义</a:t>
              </a:r>
            </a:p>
          </p:txBody>
        </p:sp>
        <p:grpSp>
          <p:nvGrpSpPr>
            <p:cNvPr id="6" name="组合 5">
              <a:extLst>
                <a:ext uri="{FF2B5EF4-FFF2-40B4-BE49-F238E27FC236}">
                  <a16:creationId xmlns:a16="http://schemas.microsoft.com/office/drawing/2014/main" id="{BA4401B4-5F09-4D5C-8535-072AAA398BFA}"/>
                </a:ext>
              </a:extLst>
            </p:cNvPr>
            <p:cNvGrpSpPr/>
            <p:nvPr/>
          </p:nvGrpSpPr>
          <p:grpSpPr>
            <a:xfrm>
              <a:off x="1503641" y="4888380"/>
              <a:ext cx="3459600" cy="1127974"/>
              <a:chOff x="1785197" y="4888380"/>
              <a:chExt cx="3459600" cy="1127974"/>
            </a:xfrm>
          </p:grpSpPr>
          <p:sp>
            <p:nvSpPr>
              <p:cNvPr id="135" name="Rectangle 32">
                <a:extLst>
                  <a:ext uri="{FF2B5EF4-FFF2-40B4-BE49-F238E27FC236}">
                    <a16:creationId xmlns:a16="http://schemas.microsoft.com/office/drawing/2014/main" id="{E9A0777D-ACEE-400B-A768-31C9E2201937}"/>
                  </a:ext>
                </a:extLst>
              </p:cNvPr>
              <p:cNvSpPr>
                <a:spLocks noChangeArrowheads="1"/>
              </p:cNvSpPr>
              <p:nvPr/>
            </p:nvSpPr>
            <p:spPr bwMode="auto">
              <a:xfrm>
                <a:off x="3082547" y="4888380"/>
                <a:ext cx="778410" cy="353168"/>
              </a:xfrm>
              <a:prstGeom prst="rect">
                <a:avLst/>
              </a:prstGeom>
              <a:solidFill>
                <a:srgbClr val="FFFFFF"/>
              </a:solidFill>
              <a:ln w="12700" cap="sq">
                <a:solidFill>
                  <a:srgbClr val="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400" b="0" i="0" u="none" strike="noStrike" kern="0" cap="none" spc="0" normalizeH="0" baseline="0" noProof="0" dirty="0">
                    <a:ln>
                      <a:noFill/>
                    </a:ln>
                    <a:solidFill>
                      <a:srgbClr val="000000"/>
                    </a:solidFill>
                    <a:effectLst/>
                    <a:uLnTx/>
                    <a:uFillTx/>
                    <a:latin typeface="Times New Roman" pitchFamily="18" charset="0"/>
                    <a:ea typeface="宋体" panose="02010600030101010101" pitchFamily="2" charset="-122"/>
                  </a:rPr>
                  <a:t>职工</a:t>
                </a:r>
              </a:p>
            </p:txBody>
          </p:sp>
          <p:sp>
            <p:nvSpPr>
              <p:cNvPr id="136" name="AutoShape 33">
                <a:extLst>
                  <a:ext uri="{FF2B5EF4-FFF2-40B4-BE49-F238E27FC236}">
                    <a16:creationId xmlns:a16="http://schemas.microsoft.com/office/drawing/2014/main" id="{B236FD49-0DC3-44B4-95DF-2B25A2E480B9}"/>
                  </a:ext>
                </a:extLst>
              </p:cNvPr>
              <p:cNvSpPr>
                <a:spLocks noChangeArrowheads="1"/>
              </p:cNvSpPr>
              <p:nvPr/>
            </p:nvSpPr>
            <p:spPr bwMode="auto">
              <a:xfrm>
                <a:off x="1785197" y="5663186"/>
                <a:ext cx="864900" cy="353168"/>
              </a:xfrm>
              <a:prstGeom prst="roundRect">
                <a:avLst>
                  <a:gd name="adj" fmla="val 50000"/>
                </a:avLst>
              </a:prstGeom>
              <a:solidFill>
                <a:srgbClr val="FFFFFF"/>
              </a:solidFill>
              <a:ln w="12700" cap="sq">
                <a:solidFill>
                  <a:srgbClr val="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400" b="0" i="0" u="none" strike="noStrike" kern="0" cap="none" spc="0" normalizeH="0" baseline="0" noProof="0" dirty="0">
                    <a:ln>
                      <a:noFill/>
                    </a:ln>
                    <a:solidFill>
                      <a:srgbClr val="000000"/>
                    </a:solidFill>
                    <a:effectLst/>
                    <a:uLnTx/>
                    <a:uFillTx/>
                    <a:latin typeface="Times New Roman" pitchFamily="18" charset="0"/>
                    <a:ea typeface="宋体" panose="02010600030101010101" pitchFamily="2" charset="-122"/>
                  </a:rPr>
                  <a:t>工号</a:t>
                </a:r>
              </a:p>
            </p:txBody>
          </p:sp>
          <p:sp>
            <p:nvSpPr>
              <p:cNvPr id="137" name="AutoShape 34">
                <a:extLst>
                  <a:ext uri="{FF2B5EF4-FFF2-40B4-BE49-F238E27FC236}">
                    <a16:creationId xmlns:a16="http://schemas.microsoft.com/office/drawing/2014/main" id="{433A32FA-E23A-4DB9-BEF3-655CA04927FE}"/>
                  </a:ext>
                </a:extLst>
              </p:cNvPr>
              <p:cNvSpPr>
                <a:spLocks noChangeArrowheads="1"/>
              </p:cNvSpPr>
              <p:nvPr/>
            </p:nvSpPr>
            <p:spPr bwMode="auto">
              <a:xfrm>
                <a:off x="2736587" y="5663186"/>
                <a:ext cx="778410" cy="353168"/>
              </a:xfrm>
              <a:prstGeom prst="roundRect">
                <a:avLst>
                  <a:gd name="adj" fmla="val 50000"/>
                </a:avLst>
              </a:prstGeom>
              <a:solidFill>
                <a:srgbClr val="FFFFFF"/>
              </a:solidFill>
              <a:ln w="12700" cap="sq">
                <a:solidFill>
                  <a:srgbClr val="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400" b="0" i="0" u="none" strike="noStrike" kern="0" cap="none" spc="0" normalizeH="0" baseline="0" noProof="0" dirty="0">
                    <a:ln>
                      <a:noFill/>
                    </a:ln>
                    <a:solidFill>
                      <a:srgbClr val="000000"/>
                    </a:solidFill>
                    <a:effectLst/>
                    <a:uLnTx/>
                    <a:uFillTx/>
                    <a:latin typeface="Times New Roman" pitchFamily="18" charset="0"/>
                    <a:ea typeface="宋体" panose="02010600030101010101" pitchFamily="2" charset="-122"/>
                  </a:rPr>
                  <a:t>姓名</a:t>
                </a:r>
              </a:p>
            </p:txBody>
          </p:sp>
          <p:sp>
            <p:nvSpPr>
              <p:cNvPr id="138" name="AutoShape 35">
                <a:extLst>
                  <a:ext uri="{FF2B5EF4-FFF2-40B4-BE49-F238E27FC236}">
                    <a16:creationId xmlns:a16="http://schemas.microsoft.com/office/drawing/2014/main" id="{25D8F8CF-01E1-45B9-9233-9D3B091DA6EA}"/>
                  </a:ext>
                </a:extLst>
              </p:cNvPr>
              <p:cNvSpPr>
                <a:spLocks noChangeArrowheads="1"/>
              </p:cNvSpPr>
              <p:nvPr/>
            </p:nvSpPr>
            <p:spPr bwMode="auto">
              <a:xfrm>
                <a:off x="3603290" y="5663186"/>
                <a:ext cx="778410" cy="353168"/>
              </a:xfrm>
              <a:prstGeom prst="roundRect">
                <a:avLst>
                  <a:gd name="adj" fmla="val 50000"/>
                </a:avLst>
              </a:prstGeom>
              <a:solidFill>
                <a:srgbClr val="FFFFFF"/>
              </a:solidFill>
              <a:ln w="12700" cap="sq">
                <a:solidFill>
                  <a:srgbClr val="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400" b="0" i="0" u="none" strike="noStrike" kern="0" cap="none" spc="0" normalizeH="0" baseline="0" noProof="0">
                    <a:ln>
                      <a:noFill/>
                    </a:ln>
                    <a:solidFill>
                      <a:srgbClr val="000000"/>
                    </a:solidFill>
                    <a:effectLst/>
                    <a:uLnTx/>
                    <a:uFillTx/>
                    <a:latin typeface="Times New Roman" pitchFamily="18" charset="0"/>
                    <a:ea typeface="宋体" panose="02010600030101010101" pitchFamily="2" charset="-122"/>
                  </a:rPr>
                  <a:t>性别</a:t>
                </a:r>
              </a:p>
            </p:txBody>
          </p:sp>
          <p:sp>
            <p:nvSpPr>
              <p:cNvPr id="139" name="AutoShape 36">
                <a:extLst>
                  <a:ext uri="{FF2B5EF4-FFF2-40B4-BE49-F238E27FC236}">
                    <a16:creationId xmlns:a16="http://schemas.microsoft.com/office/drawing/2014/main" id="{D9ABEF2C-C445-4510-8955-50FB72349FDB}"/>
                  </a:ext>
                </a:extLst>
              </p:cNvPr>
              <p:cNvSpPr>
                <a:spLocks noChangeArrowheads="1"/>
              </p:cNvSpPr>
              <p:nvPr/>
            </p:nvSpPr>
            <p:spPr bwMode="auto">
              <a:xfrm>
                <a:off x="4466387" y="5663186"/>
                <a:ext cx="778410" cy="353168"/>
              </a:xfrm>
              <a:prstGeom prst="roundRect">
                <a:avLst>
                  <a:gd name="adj" fmla="val 50000"/>
                </a:avLst>
              </a:prstGeom>
              <a:solidFill>
                <a:srgbClr val="CCCCFF"/>
              </a:solidFill>
              <a:ln w="12700" cap="sq">
                <a:solidFill>
                  <a:srgbClr val="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400" b="0" i="0" u="none" strike="noStrike" kern="0" cap="none" spc="0" normalizeH="0" baseline="0" noProof="0">
                    <a:ln>
                      <a:noFill/>
                    </a:ln>
                    <a:solidFill>
                      <a:srgbClr val="000000"/>
                    </a:solidFill>
                    <a:effectLst/>
                    <a:uLnTx/>
                    <a:uFillTx/>
                    <a:latin typeface="Times New Roman" pitchFamily="18" charset="0"/>
                    <a:ea typeface="宋体" panose="02010600030101010101" pitchFamily="2" charset="-122"/>
                  </a:rPr>
                  <a:t>单位</a:t>
                </a:r>
              </a:p>
            </p:txBody>
          </p:sp>
          <p:cxnSp>
            <p:nvCxnSpPr>
              <p:cNvPr id="140" name="AutoShape 37">
                <a:extLst>
                  <a:ext uri="{FF2B5EF4-FFF2-40B4-BE49-F238E27FC236}">
                    <a16:creationId xmlns:a16="http://schemas.microsoft.com/office/drawing/2014/main" id="{072CD997-A8FA-4B55-B00C-07A5463FD5C5}"/>
                  </a:ext>
                </a:extLst>
              </p:cNvPr>
              <p:cNvCxnSpPr>
                <a:cxnSpLocks noChangeShapeType="1"/>
                <a:stCxn id="135" idx="2"/>
                <a:endCxn id="136" idx="0"/>
              </p:cNvCxnSpPr>
              <p:nvPr/>
            </p:nvCxnSpPr>
            <p:spPr bwMode="auto">
              <a:xfrm flipH="1">
                <a:off x="2217647" y="5241549"/>
                <a:ext cx="1254105" cy="421639"/>
              </a:xfrm>
              <a:prstGeom prst="straightConnector1">
                <a:avLst/>
              </a:prstGeom>
              <a:noFill/>
              <a:ln w="12700" cap="sq">
                <a:solidFill>
                  <a:srgbClr val="000000"/>
                </a:solidFill>
                <a:round/>
                <a:headEnd/>
                <a:tailEnd/>
              </a:ln>
              <a:extLst>
                <a:ext uri="{909E8E84-426E-40DD-AFC4-6F175D3DCCD1}">
                  <a14:hiddenFill xmlns:a14="http://schemas.microsoft.com/office/drawing/2010/main">
                    <a:noFill/>
                  </a14:hiddenFill>
                </a:ext>
              </a:extLst>
            </p:spPr>
          </p:cxnSp>
          <p:cxnSp>
            <p:nvCxnSpPr>
              <p:cNvPr id="141" name="AutoShape 38">
                <a:extLst>
                  <a:ext uri="{FF2B5EF4-FFF2-40B4-BE49-F238E27FC236}">
                    <a16:creationId xmlns:a16="http://schemas.microsoft.com/office/drawing/2014/main" id="{6BA90841-7F60-43C7-91D7-50E03E990562}"/>
                  </a:ext>
                </a:extLst>
              </p:cNvPr>
              <p:cNvCxnSpPr>
                <a:cxnSpLocks noChangeShapeType="1"/>
                <a:stCxn id="135" idx="2"/>
                <a:endCxn id="137" idx="0"/>
              </p:cNvCxnSpPr>
              <p:nvPr/>
            </p:nvCxnSpPr>
            <p:spPr bwMode="auto">
              <a:xfrm flipH="1">
                <a:off x="3125792" y="5241549"/>
                <a:ext cx="345960" cy="421639"/>
              </a:xfrm>
              <a:prstGeom prst="straightConnector1">
                <a:avLst/>
              </a:prstGeom>
              <a:noFill/>
              <a:ln w="12700" cap="sq">
                <a:solidFill>
                  <a:srgbClr val="000000"/>
                </a:solidFill>
                <a:round/>
                <a:headEnd/>
                <a:tailEnd/>
              </a:ln>
              <a:extLst>
                <a:ext uri="{909E8E84-426E-40DD-AFC4-6F175D3DCCD1}">
                  <a14:hiddenFill xmlns:a14="http://schemas.microsoft.com/office/drawing/2010/main">
                    <a:noFill/>
                  </a14:hiddenFill>
                </a:ext>
              </a:extLst>
            </p:spPr>
          </p:cxnSp>
          <p:cxnSp>
            <p:nvCxnSpPr>
              <p:cNvPr id="142" name="AutoShape 39">
                <a:extLst>
                  <a:ext uri="{FF2B5EF4-FFF2-40B4-BE49-F238E27FC236}">
                    <a16:creationId xmlns:a16="http://schemas.microsoft.com/office/drawing/2014/main" id="{CC5396F0-586D-463D-B34B-9F34CA659763}"/>
                  </a:ext>
                </a:extLst>
              </p:cNvPr>
              <p:cNvCxnSpPr>
                <a:cxnSpLocks noChangeShapeType="1"/>
                <a:stCxn id="135" idx="2"/>
                <a:endCxn id="138" idx="0"/>
              </p:cNvCxnSpPr>
              <p:nvPr/>
            </p:nvCxnSpPr>
            <p:spPr bwMode="auto">
              <a:xfrm>
                <a:off x="3471752" y="5241549"/>
                <a:ext cx="520742" cy="421639"/>
              </a:xfrm>
              <a:prstGeom prst="straightConnector1">
                <a:avLst/>
              </a:prstGeom>
              <a:noFill/>
              <a:ln w="12700" cap="sq">
                <a:solidFill>
                  <a:srgbClr val="000000"/>
                </a:solidFill>
                <a:round/>
                <a:headEnd/>
                <a:tailEnd/>
              </a:ln>
              <a:extLst>
                <a:ext uri="{909E8E84-426E-40DD-AFC4-6F175D3DCCD1}">
                  <a14:hiddenFill xmlns:a14="http://schemas.microsoft.com/office/drawing/2010/main">
                    <a:noFill/>
                  </a14:hiddenFill>
                </a:ext>
              </a:extLst>
            </p:spPr>
          </p:cxnSp>
          <p:cxnSp>
            <p:nvCxnSpPr>
              <p:cNvPr id="143" name="AutoShape 40">
                <a:extLst>
                  <a:ext uri="{FF2B5EF4-FFF2-40B4-BE49-F238E27FC236}">
                    <a16:creationId xmlns:a16="http://schemas.microsoft.com/office/drawing/2014/main" id="{76E45B7F-8AEC-432F-B979-84A8F2C49F54}"/>
                  </a:ext>
                </a:extLst>
              </p:cNvPr>
              <p:cNvCxnSpPr>
                <a:cxnSpLocks noChangeShapeType="1"/>
                <a:stCxn id="135" idx="2"/>
                <a:endCxn id="139" idx="0"/>
              </p:cNvCxnSpPr>
              <p:nvPr/>
            </p:nvCxnSpPr>
            <p:spPr bwMode="auto">
              <a:xfrm>
                <a:off x="3471752" y="5241549"/>
                <a:ext cx="1383840" cy="421639"/>
              </a:xfrm>
              <a:prstGeom prst="straightConnector1">
                <a:avLst/>
              </a:prstGeom>
              <a:noFill/>
              <a:ln w="12700" cap="sq">
                <a:solidFill>
                  <a:srgbClr val="000000"/>
                </a:solidFill>
                <a:round/>
                <a:headEnd/>
                <a:tailEnd/>
              </a:ln>
              <a:extLst>
                <a:ext uri="{909E8E84-426E-40DD-AFC4-6F175D3DCCD1}">
                  <a14:hiddenFill xmlns:a14="http://schemas.microsoft.com/office/drawing/2010/main">
                    <a:noFill/>
                  </a14:hiddenFill>
                </a:ext>
              </a:extLst>
            </p:spPr>
          </p:cxnSp>
        </p:grpSp>
        <p:grpSp>
          <p:nvGrpSpPr>
            <p:cNvPr id="7" name="组合 6">
              <a:extLst>
                <a:ext uri="{FF2B5EF4-FFF2-40B4-BE49-F238E27FC236}">
                  <a16:creationId xmlns:a16="http://schemas.microsoft.com/office/drawing/2014/main" id="{D545203C-6C32-4338-A2FC-7AA42D47D944}"/>
                </a:ext>
              </a:extLst>
            </p:cNvPr>
            <p:cNvGrpSpPr/>
            <p:nvPr/>
          </p:nvGrpSpPr>
          <p:grpSpPr>
            <a:xfrm>
              <a:off x="7666153" y="4888380"/>
              <a:ext cx="3459600" cy="1127974"/>
              <a:chOff x="7471915" y="4888380"/>
              <a:chExt cx="3459600" cy="1127974"/>
            </a:xfrm>
          </p:grpSpPr>
          <p:sp>
            <p:nvSpPr>
              <p:cNvPr id="144" name="Rectangle 41">
                <a:extLst>
                  <a:ext uri="{FF2B5EF4-FFF2-40B4-BE49-F238E27FC236}">
                    <a16:creationId xmlns:a16="http://schemas.microsoft.com/office/drawing/2014/main" id="{B5EFDD07-70B7-4DA3-8288-FFE034DD682E}"/>
                  </a:ext>
                </a:extLst>
              </p:cNvPr>
              <p:cNvSpPr>
                <a:spLocks noChangeArrowheads="1"/>
              </p:cNvSpPr>
              <p:nvPr/>
            </p:nvSpPr>
            <p:spPr bwMode="auto">
              <a:xfrm>
                <a:off x="8769265" y="4888380"/>
                <a:ext cx="778410" cy="353168"/>
              </a:xfrm>
              <a:prstGeom prst="rect">
                <a:avLst/>
              </a:prstGeom>
              <a:solidFill>
                <a:srgbClr val="FFFFFF"/>
              </a:solidFill>
              <a:ln w="12700" cap="sq">
                <a:solidFill>
                  <a:srgbClr val="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400" b="0" i="0" u="none" strike="noStrike" kern="0" cap="none" spc="0" normalizeH="0" baseline="0" noProof="0">
                    <a:ln>
                      <a:noFill/>
                    </a:ln>
                    <a:solidFill>
                      <a:srgbClr val="000000"/>
                    </a:solidFill>
                    <a:effectLst/>
                    <a:uLnTx/>
                    <a:uFillTx/>
                    <a:latin typeface="Times New Roman" pitchFamily="18" charset="0"/>
                    <a:ea typeface="宋体" panose="02010600030101010101" pitchFamily="2" charset="-122"/>
                  </a:rPr>
                  <a:t>职工</a:t>
                </a:r>
              </a:p>
            </p:txBody>
          </p:sp>
          <p:sp>
            <p:nvSpPr>
              <p:cNvPr id="145" name="AutoShape 42">
                <a:extLst>
                  <a:ext uri="{FF2B5EF4-FFF2-40B4-BE49-F238E27FC236}">
                    <a16:creationId xmlns:a16="http://schemas.microsoft.com/office/drawing/2014/main" id="{39B97E4D-D3C5-4E0E-B43D-3B3F38434D66}"/>
                  </a:ext>
                </a:extLst>
              </p:cNvPr>
              <p:cNvSpPr>
                <a:spLocks noChangeArrowheads="1"/>
              </p:cNvSpPr>
              <p:nvPr/>
            </p:nvSpPr>
            <p:spPr bwMode="auto">
              <a:xfrm>
                <a:off x="7471915" y="5663186"/>
                <a:ext cx="864900" cy="353168"/>
              </a:xfrm>
              <a:prstGeom prst="roundRect">
                <a:avLst>
                  <a:gd name="adj" fmla="val 50000"/>
                </a:avLst>
              </a:prstGeom>
              <a:solidFill>
                <a:srgbClr val="FFFFFF"/>
              </a:solidFill>
              <a:ln w="12700" cap="sq">
                <a:solidFill>
                  <a:srgbClr val="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400" b="0" i="0" u="none" strike="noStrike" kern="0" cap="none" spc="0" normalizeH="0" baseline="0" noProof="0">
                    <a:ln>
                      <a:noFill/>
                    </a:ln>
                    <a:solidFill>
                      <a:srgbClr val="000000"/>
                    </a:solidFill>
                    <a:effectLst/>
                    <a:uLnTx/>
                    <a:uFillTx/>
                    <a:latin typeface="Times New Roman" pitchFamily="18" charset="0"/>
                    <a:ea typeface="宋体" panose="02010600030101010101" pitchFamily="2" charset="-122"/>
                  </a:rPr>
                  <a:t>工号</a:t>
                </a:r>
              </a:p>
            </p:txBody>
          </p:sp>
          <p:sp>
            <p:nvSpPr>
              <p:cNvPr id="146" name="AutoShape 43">
                <a:extLst>
                  <a:ext uri="{FF2B5EF4-FFF2-40B4-BE49-F238E27FC236}">
                    <a16:creationId xmlns:a16="http://schemas.microsoft.com/office/drawing/2014/main" id="{A23A7FF4-1785-4756-BB16-6EF78AD7670C}"/>
                  </a:ext>
                </a:extLst>
              </p:cNvPr>
              <p:cNvSpPr>
                <a:spLocks noChangeArrowheads="1"/>
              </p:cNvSpPr>
              <p:nvPr/>
            </p:nvSpPr>
            <p:spPr bwMode="auto">
              <a:xfrm>
                <a:off x="8423305" y="5663186"/>
                <a:ext cx="778410" cy="353168"/>
              </a:xfrm>
              <a:prstGeom prst="roundRect">
                <a:avLst>
                  <a:gd name="adj" fmla="val 50000"/>
                </a:avLst>
              </a:prstGeom>
              <a:solidFill>
                <a:srgbClr val="FFFFFF"/>
              </a:solidFill>
              <a:ln w="12700" cap="sq">
                <a:solidFill>
                  <a:srgbClr val="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400" b="0" i="0" u="none" strike="noStrike" kern="0" cap="none" spc="0" normalizeH="0" baseline="0" noProof="0">
                    <a:ln>
                      <a:noFill/>
                    </a:ln>
                    <a:solidFill>
                      <a:srgbClr val="000000"/>
                    </a:solidFill>
                    <a:effectLst/>
                    <a:uLnTx/>
                    <a:uFillTx/>
                    <a:latin typeface="Times New Roman" pitchFamily="18" charset="0"/>
                    <a:ea typeface="宋体" panose="02010600030101010101" pitchFamily="2" charset="-122"/>
                  </a:rPr>
                  <a:t>姓名</a:t>
                </a:r>
              </a:p>
            </p:txBody>
          </p:sp>
          <p:sp>
            <p:nvSpPr>
              <p:cNvPr id="147" name="AutoShape 44">
                <a:extLst>
                  <a:ext uri="{FF2B5EF4-FFF2-40B4-BE49-F238E27FC236}">
                    <a16:creationId xmlns:a16="http://schemas.microsoft.com/office/drawing/2014/main" id="{CAFD118B-A86F-465F-8AE8-9D18F07FD200}"/>
                  </a:ext>
                </a:extLst>
              </p:cNvPr>
              <p:cNvSpPr>
                <a:spLocks noChangeArrowheads="1"/>
              </p:cNvSpPr>
              <p:nvPr/>
            </p:nvSpPr>
            <p:spPr bwMode="auto">
              <a:xfrm>
                <a:off x="9290007" y="5663186"/>
                <a:ext cx="778410" cy="353168"/>
              </a:xfrm>
              <a:prstGeom prst="roundRect">
                <a:avLst>
                  <a:gd name="adj" fmla="val 50000"/>
                </a:avLst>
              </a:prstGeom>
              <a:solidFill>
                <a:srgbClr val="FFFFFF"/>
              </a:solidFill>
              <a:ln w="12700" cap="sq">
                <a:solidFill>
                  <a:srgbClr val="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400" b="0" i="0" u="none" strike="noStrike" kern="0" cap="none" spc="0" normalizeH="0" baseline="0" noProof="0">
                    <a:ln>
                      <a:noFill/>
                    </a:ln>
                    <a:solidFill>
                      <a:srgbClr val="000000"/>
                    </a:solidFill>
                    <a:effectLst/>
                    <a:uLnTx/>
                    <a:uFillTx/>
                    <a:latin typeface="Times New Roman" pitchFamily="18" charset="0"/>
                    <a:ea typeface="宋体" panose="02010600030101010101" pitchFamily="2" charset="-122"/>
                  </a:rPr>
                  <a:t>性别</a:t>
                </a:r>
              </a:p>
            </p:txBody>
          </p:sp>
          <p:sp>
            <p:nvSpPr>
              <p:cNvPr id="148" name="AutoShape 45">
                <a:extLst>
                  <a:ext uri="{FF2B5EF4-FFF2-40B4-BE49-F238E27FC236}">
                    <a16:creationId xmlns:a16="http://schemas.microsoft.com/office/drawing/2014/main" id="{785C483E-A65E-411C-AFF0-D75C83A1F501}"/>
                  </a:ext>
                </a:extLst>
              </p:cNvPr>
              <p:cNvSpPr>
                <a:spLocks noChangeArrowheads="1"/>
              </p:cNvSpPr>
              <p:nvPr/>
            </p:nvSpPr>
            <p:spPr bwMode="auto">
              <a:xfrm>
                <a:off x="10153105" y="5663186"/>
                <a:ext cx="778410" cy="353168"/>
              </a:xfrm>
              <a:prstGeom prst="roundRect">
                <a:avLst>
                  <a:gd name="adj" fmla="val 50000"/>
                </a:avLst>
              </a:prstGeom>
              <a:solidFill>
                <a:srgbClr val="CCCCFF"/>
              </a:solidFill>
              <a:ln w="12700" cap="sq">
                <a:solidFill>
                  <a:srgbClr val="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400" b="0" i="0" u="none" strike="noStrike" kern="0" cap="none" spc="0" normalizeH="0" baseline="0" noProof="0">
                    <a:ln>
                      <a:noFill/>
                    </a:ln>
                    <a:solidFill>
                      <a:srgbClr val="000000"/>
                    </a:solidFill>
                    <a:effectLst/>
                    <a:uLnTx/>
                    <a:uFillTx/>
                    <a:latin typeface="Times New Roman" pitchFamily="18" charset="0"/>
                    <a:ea typeface="宋体" panose="02010600030101010101" pitchFamily="2" charset="-122"/>
                  </a:rPr>
                  <a:t>部门</a:t>
                </a:r>
              </a:p>
            </p:txBody>
          </p:sp>
          <p:cxnSp>
            <p:nvCxnSpPr>
              <p:cNvPr id="149" name="AutoShape 46">
                <a:extLst>
                  <a:ext uri="{FF2B5EF4-FFF2-40B4-BE49-F238E27FC236}">
                    <a16:creationId xmlns:a16="http://schemas.microsoft.com/office/drawing/2014/main" id="{B7DC46CF-D906-4A92-8C17-8812F2481E6C}"/>
                  </a:ext>
                </a:extLst>
              </p:cNvPr>
              <p:cNvCxnSpPr>
                <a:cxnSpLocks noChangeShapeType="1"/>
                <a:stCxn id="144" idx="2"/>
                <a:endCxn id="145" idx="0"/>
              </p:cNvCxnSpPr>
              <p:nvPr/>
            </p:nvCxnSpPr>
            <p:spPr bwMode="auto">
              <a:xfrm flipH="1">
                <a:off x="7904365" y="5241549"/>
                <a:ext cx="1254105" cy="421639"/>
              </a:xfrm>
              <a:prstGeom prst="straightConnector1">
                <a:avLst/>
              </a:prstGeom>
              <a:noFill/>
              <a:ln w="12700" cap="sq">
                <a:solidFill>
                  <a:srgbClr val="000000"/>
                </a:solidFill>
                <a:round/>
                <a:headEnd/>
                <a:tailEnd/>
              </a:ln>
              <a:extLst>
                <a:ext uri="{909E8E84-426E-40DD-AFC4-6F175D3DCCD1}">
                  <a14:hiddenFill xmlns:a14="http://schemas.microsoft.com/office/drawing/2010/main">
                    <a:noFill/>
                  </a14:hiddenFill>
                </a:ext>
              </a:extLst>
            </p:spPr>
          </p:cxnSp>
          <p:cxnSp>
            <p:nvCxnSpPr>
              <p:cNvPr id="150" name="AutoShape 47">
                <a:extLst>
                  <a:ext uri="{FF2B5EF4-FFF2-40B4-BE49-F238E27FC236}">
                    <a16:creationId xmlns:a16="http://schemas.microsoft.com/office/drawing/2014/main" id="{7156B3EB-E022-4F32-8E46-6A814211DA31}"/>
                  </a:ext>
                </a:extLst>
              </p:cNvPr>
              <p:cNvCxnSpPr>
                <a:cxnSpLocks noChangeShapeType="1"/>
                <a:stCxn id="144" idx="2"/>
                <a:endCxn id="146" idx="0"/>
              </p:cNvCxnSpPr>
              <p:nvPr/>
            </p:nvCxnSpPr>
            <p:spPr bwMode="auto">
              <a:xfrm flipH="1">
                <a:off x="8812510" y="5241549"/>
                <a:ext cx="345960" cy="421639"/>
              </a:xfrm>
              <a:prstGeom prst="straightConnector1">
                <a:avLst/>
              </a:prstGeom>
              <a:noFill/>
              <a:ln w="12700" cap="sq">
                <a:solidFill>
                  <a:srgbClr val="000000"/>
                </a:solidFill>
                <a:round/>
                <a:headEnd/>
                <a:tailEnd/>
              </a:ln>
              <a:extLst>
                <a:ext uri="{909E8E84-426E-40DD-AFC4-6F175D3DCCD1}">
                  <a14:hiddenFill xmlns:a14="http://schemas.microsoft.com/office/drawing/2010/main">
                    <a:noFill/>
                  </a14:hiddenFill>
                </a:ext>
              </a:extLst>
            </p:spPr>
          </p:cxnSp>
          <p:cxnSp>
            <p:nvCxnSpPr>
              <p:cNvPr id="151" name="AutoShape 48">
                <a:extLst>
                  <a:ext uri="{FF2B5EF4-FFF2-40B4-BE49-F238E27FC236}">
                    <a16:creationId xmlns:a16="http://schemas.microsoft.com/office/drawing/2014/main" id="{B0FE47FA-0DE4-41B6-9F4F-EEC54D628D68}"/>
                  </a:ext>
                </a:extLst>
              </p:cNvPr>
              <p:cNvCxnSpPr>
                <a:cxnSpLocks noChangeShapeType="1"/>
                <a:stCxn id="144" idx="2"/>
                <a:endCxn id="147" idx="0"/>
              </p:cNvCxnSpPr>
              <p:nvPr/>
            </p:nvCxnSpPr>
            <p:spPr bwMode="auto">
              <a:xfrm>
                <a:off x="9158470" y="5241549"/>
                <a:ext cx="520742" cy="421639"/>
              </a:xfrm>
              <a:prstGeom prst="straightConnector1">
                <a:avLst/>
              </a:prstGeom>
              <a:noFill/>
              <a:ln w="12700" cap="sq">
                <a:solidFill>
                  <a:srgbClr val="000000"/>
                </a:solidFill>
                <a:round/>
                <a:headEnd/>
                <a:tailEnd/>
              </a:ln>
              <a:extLst>
                <a:ext uri="{909E8E84-426E-40DD-AFC4-6F175D3DCCD1}">
                  <a14:hiddenFill xmlns:a14="http://schemas.microsoft.com/office/drawing/2010/main">
                    <a:noFill/>
                  </a14:hiddenFill>
                </a:ext>
              </a:extLst>
            </p:spPr>
          </p:cxnSp>
          <p:cxnSp>
            <p:nvCxnSpPr>
              <p:cNvPr id="152" name="AutoShape 49">
                <a:extLst>
                  <a:ext uri="{FF2B5EF4-FFF2-40B4-BE49-F238E27FC236}">
                    <a16:creationId xmlns:a16="http://schemas.microsoft.com/office/drawing/2014/main" id="{56E519C3-273E-4623-824B-4971C55DFDCC}"/>
                  </a:ext>
                </a:extLst>
              </p:cNvPr>
              <p:cNvCxnSpPr>
                <a:cxnSpLocks noChangeShapeType="1"/>
                <a:stCxn id="144" idx="2"/>
                <a:endCxn id="148" idx="0"/>
              </p:cNvCxnSpPr>
              <p:nvPr/>
            </p:nvCxnSpPr>
            <p:spPr bwMode="auto">
              <a:xfrm>
                <a:off x="9158470" y="5241549"/>
                <a:ext cx="1383840" cy="421639"/>
              </a:xfrm>
              <a:prstGeom prst="straightConnector1">
                <a:avLst/>
              </a:prstGeom>
              <a:noFill/>
              <a:ln w="12700" cap="sq">
                <a:solidFill>
                  <a:srgbClr val="000000"/>
                </a:solidFill>
                <a:round/>
                <a:headEnd/>
                <a:tailEnd/>
              </a:ln>
              <a:extLst>
                <a:ext uri="{909E8E84-426E-40DD-AFC4-6F175D3DCCD1}">
                  <a14:hiddenFill xmlns:a14="http://schemas.microsoft.com/office/drawing/2010/main">
                    <a:noFill/>
                  </a14:hiddenFill>
                </a:ext>
              </a:extLst>
            </p:spPr>
          </p:cxnSp>
        </p:grpSp>
        <p:cxnSp>
          <p:nvCxnSpPr>
            <p:cNvPr id="129" name="直接连接符 128">
              <a:extLst>
                <a:ext uri="{FF2B5EF4-FFF2-40B4-BE49-F238E27FC236}">
                  <a16:creationId xmlns:a16="http://schemas.microsoft.com/office/drawing/2014/main" id="{2D05BDEF-564C-4E91-A12D-AAA7B1186645}"/>
                </a:ext>
              </a:extLst>
            </p:cNvPr>
            <p:cNvCxnSpPr>
              <a:cxnSpLocks/>
              <a:stCxn id="123" idx="0"/>
              <a:endCxn id="123" idx="2"/>
            </p:cNvCxnSpPr>
            <p:nvPr/>
          </p:nvCxnSpPr>
          <p:spPr>
            <a:xfrm>
              <a:off x="6224073" y="2708920"/>
              <a:ext cx="0" cy="1741947"/>
            </a:xfrm>
            <a:prstGeom prst="line">
              <a:avLst/>
            </a:prstGeom>
            <a:noFill/>
            <a:ln w="19050" cap="flat" cmpd="sng" algn="ctr">
              <a:solidFill>
                <a:srgbClr val="7F7F7F">
                  <a:lumMod val="60000"/>
                  <a:lumOff val="40000"/>
                </a:srgbClr>
              </a:solidFill>
              <a:prstDash val="sysDash"/>
            </a:ln>
            <a:effectLst/>
          </p:spPr>
        </p:cxnSp>
        <p:cxnSp>
          <p:nvCxnSpPr>
            <p:cNvPr id="130" name="直接连接符 129">
              <a:extLst>
                <a:ext uri="{FF2B5EF4-FFF2-40B4-BE49-F238E27FC236}">
                  <a16:creationId xmlns:a16="http://schemas.microsoft.com/office/drawing/2014/main" id="{2BE03069-5BEC-4E35-A3A5-4F77B70152BE}"/>
                </a:ext>
              </a:extLst>
            </p:cNvPr>
            <p:cNvCxnSpPr>
              <a:cxnSpLocks/>
            </p:cNvCxnSpPr>
            <p:nvPr/>
          </p:nvCxnSpPr>
          <p:spPr>
            <a:xfrm>
              <a:off x="6224073" y="4711389"/>
              <a:ext cx="0" cy="1741947"/>
            </a:xfrm>
            <a:prstGeom prst="line">
              <a:avLst/>
            </a:prstGeom>
            <a:noFill/>
            <a:ln w="19050" cap="flat" cmpd="sng" algn="ctr">
              <a:solidFill>
                <a:srgbClr val="7F7F7F">
                  <a:lumMod val="60000"/>
                  <a:lumOff val="40000"/>
                </a:srgbClr>
              </a:solidFill>
              <a:prstDash val="sysDash"/>
            </a:ln>
            <a:effectLst/>
          </p:spPr>
        </p:cxnSp>
        <p:sp>
          <p:nvSpPr>
            <p:cNvPr id="131" name="Rectangle 8">
              <a:extLst>
                <a:ext uri="{FF2B5EF4-FFF2-40B4-BE49-F238E27FC236}">
                  <a16:creationId xmlns:a16="http://schemas.microsoft.com/office/drawing/2014/main" id="{C408B53C-DB76-4FBE-BBB1-50C6F9C8BE61}"/>
                </a:ext>
              </a:extLst>
            </p:cNvPr>
            <p:cNvSpPr>
              <a:spLocks noChangeArrowheads="1"/>
            </p:cNvSpPr>
            <p:nvPr/>
          </p:nvSpPr>
          <p:spPr bwMode="auto">
            <a:xfrm>
              <a:off x="5079364" y="2771512"/>
              <a:ext cx="228941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800" b="1" i="0" u="none" strike="noStrike" kern="0" cap="none" spc="0" normalizeH="0" baseline="0" noProof="0" dirty="0">
                  <a:ln>
                    <a:noFill/>
                  </a:ln>
                  <a:solidFill>
                    <a:srgbClr val="FF0000"/>
                  </a:solidFill>
                  <a:effectLst/>
                  <a:uLnTx/>
                  <a:uFillTx/>
                  <a:latin typeface="微软雅黑" pitchFamily="34" charset="-122"/>
                  <a:ea typeface="微软雅黑" pitchFamily="34" charset="-122"/>
                </a:rPr>
                <a:t>同名异义</a:t>
              </a:r>
            </a:p>
          </p:txBody>
        </p:sp>
        <p:sp>
          <p:nvSpPr>
            <p:cNvPr id="132" name="Rectangle 8">
              <a:extLst>
                <a:ext uri="{FF2B5EF4-FFF2-40B4-BE49-F238E27FC236}">
                  <a16:creationId xmlns:a16="http://schemas.microsoft.com/office/drawing/2014/main" id="{E95E7B34-56CD-4EA7-A361-C88F4C52E382}"/>
                </a:ext>
              </a:extLst>
            </p:cNvPr>
            <p:cNvSpPr>
              <a:spLocks noChangeArrowheads="1"/>
            </p:cNvSpPr>
            <p:nvPr/>
          </p:nvSpPr>
          <p:spPr bwMode="auto">
            <a:xfrm>
              <a:off x="10519226" y="2802290"/>
              <a:ext cx="10542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400" b="0" i="0" u="none" strike="noStrike" kern="0" cap="none" spc="0" normalizeH="0" baseline="0" noProof="0" dirty="0">
                  <a:ln>
                    <a:noFill/>
                  </a:ln>
                  <a:solidFill>
                    <a:srgbClr val="009900"/>
                  </a:solidFill>
                  <a:effectLst/>
                  <a:uLnTx/>
                  <a:uFillTx/>
                  <a:latin typeface="微软雅黑" pitchFamily="34" charset="-122"/>
                  <a:ea typeface="微软雅黑" pitchFamily="34" charset="-122"/>
                </a:rPr>
                <a:t>分图</a:t>
              </a:r>
              <a:r>
                <a:rPr kumimoji="0" lang="en-US" altLang="zh-CN" sz="2400" b="0" i="0" u="none" strike="noStrike" kern="0" cap="none" spc="0" normalizeH="0" baseline="0" noProof="0" dirty="0">
                  <a:ln>
                    <a:noFill/>
                  </a:ln>
                  <a:solidFill>
                    <a:srgbClr val="009900"/>
                  </a:solidFill>
                  <a:effectLst/>
                  <a:uLnTx/>
                  <a:uFillTx/>
                  <a:latin typeface="微软雅黑" pitchFamily="34" charset="-122"/>
                  <a:ea typeface="微软雅黑" pitchFamily="34" charset="-122"/>
                </a:rPr>
                <a:t>2</a:t>
              </a:r>
              <a:endParaRPr kumimoji="0" lang="zh-CN" altLang="en-US" sz="2400" b="0" i="0" u="none" strike="noStrike" kern="0" cap="none" spc="0" normalizeH="0" baseline="0" noProof="0" dirty="0">
                <a:ln>
                  <a:noFill/>
                </a:ln>
                <a:solidFill>
                  <a:srgbClr val="009900"/>
                </a:solidFill>
                <a:effectLst/>
                <a:uLnTx/>
                <a:uFillTx/>
                <a:latin typeface="微软雅黑" pitchFamily="34" charset="-122"/>
                <a:ea typeface="微软雅黑" pitchFamily="34" charset="-122"/>
              </a:endParaRPr>
            </a:p>
          </p:txBody>
        </p:sp>
        <p:sp>
          <p:nvSpPr>
            <p:cNvPr id="133" name="Rectangle 8">
              <a:extLst>
                <a:ext uri="{FF2B5EF4-FFF2-40B4-BE49-F238E27FC236}">
                  <a16:creationId xmlns:a16="http://schemas.microsoft.com/office/drawing/2014/main" id="{25EC636B-5DC6-4181-92F1-6DDE0F686EB3}"/>
                </a:ext>
              </a:extLst>
            </p:cNvPr>
            <p:cNvSpPr>
              <a:spLocks noChangeArrowheads="1"/>
            </p:cNvSpPr>
            <p:nvPr/>
          </p:nvSpPr>
          <p:spPr bwMode="auto">
            <a:xfrm>
              <a:off x="871691" y="4751126"/>
              <a:ext cx="10542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400" b="0" i="0" u="none" strike="noStrike" kern="0" cap="none" spc="0" normalizeH="0" baseline="0" noProof="0" dirty="0">
                  <a:ln>
                    <a:noFill/>
                  </a:ln>
                  <a:solidFill>
                    <a:srgbClr val="009900"/>
                  </a:solidFill>
                  <a:effectLst/>
                  <a:uLnTx/>
                  <a:uFillTx/>
                  <a:latin typeface="微软雅黑" pitchFamily="34" charset="-122"/>
                  <a:ea typeface="微软雅黑" pitchFamily="34" charset="-122"/>
                </a:rPr>
                <a:t>分图</a:t>
              </a:r>
              <a:r>
                <a:rPr kumimoji="0" lang="en-US" altLang="zh-CN" sz="2400" b="0" i="0" u="none" strike="noStrike" kern="0" cap="none" spc="0" normalizeH="0" baseline="0" noProof="0" dirty="0">
                  <a:ln>
                    <a:noFill/>
                  </a:ln>
                  <a:solidFill>
                    <a:srgbClr val="009900"/>
                  </a:solidFill>
                  <a:effectLst/>
                  <a:uLnTx/>
                  <a:uFillTx/>
                  <a:latin typeface="微软雅黑" pitchFamily="34" charset="-122"/>
                  <a:ea typeface="微软雅黑" pitchFamily="34" charset="-122"/>
                </a:rPr>
                <a:t>1</a:t>
              </a:r>
              <a:endParaRPr kumimoji="0" lang="zh-CN" altLang="en-US" sz="2400" b="0" i="0" u="none" strike="noStrike" kern="0" cap="none" spc="0" normalizeH="0" baseline="0" noProof="0" dirty="0">
                <a:ln>
                  <a:noFill/>
                </a:ln>
                <a:solidFill>
                  <a:srgbClr val="009900"/>
                </a:solidFill>
                <a:effectLst/>
                <a:uLnTx/>
                <a:uFillTx/>
                <a:latin typeface="微软雅黑" pitchFamily="34" charset="-122"/>
                <a:ea typeface="微软雅黑" pitchFamily="34" charset="-122"/>
              </a:endParaRPr>
            </a:p>
          </p:txBody>
        </p:sp>
        <p:sp>
          <p:nvSpPr>
            <p:cNvPr id="134" name="Rectangle 8">
              <a:extLst>
                <a:ext uri="{FF2B5EF4-FFF2-40B4-BE49-F238E27FC236}">
                  <a16:creationId xmlns:a16="http://schemas.microsoft.com/office/drawing/2014/main" id="{5C1C45D9-C658-4018-8465-F0ECD7977D40}"/>
                </a:ext>
              </a:extLst>
            </p:cNvPr>
            <p:cNvSpPr>
              <a:spLocks noChangeArrowheads="1"/>
            </p:cNvSpPr>
            <p:nvPr/>
          </p:nvSpPr>
          <p:spPr bwMode="auto">
            <a:xfrm>
              <a:off x="10522843" y="4720577"/>
              <a:ext cx="10542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400" b="0" i="0" u="none" strike="noStrike" kern="0" cap="none" spc="0" normalizeH="0" baseline="0" noProof="0" dirty="0">
                  <a:ln>
                    <a:noFill/>
                  </a:ln>
                  <a:solidFill>
                    <a:srgbClr val="009900"/>
                  </a:solidFill>
                  <a:effectLst/>
                  <a:uLnTx/>
                  <a:uFillTx/>
                  <a:latin typeface="微软雅黑" pitchFamily="34" charset="-122"/>
                  <a:ea typeface="微软雅黑" pitchFamily="34" charset="-122"/>
                </a:rPr>
                <a:t>分图</a:t>
              </a:r>
              <a:r>
                <a:rPr kumimoji="0" lang="en-US" altLang="zh-CN" sz="2400" b="0" i="0" u="none" strike="noStrike" kern="0" cap="none" spc="0" normalizeH="0" baseline="0" noProof="0" dirty="0">
                  <a:ln>
                    <a:noFill/>
                  </a:ln>
                  <a:solidFill>
                    <a:srgbClr val="009900"/>
                  </a:solidFill>
                  <a:effectLst/>
                  <a:uLnTx/>
                  <a:uFillTx/>
                  <a:latin typeface="微软雅黑" pitchFamily="34" charset="-122"/>
                  <a:ea typeface="微软雅黑" pitchFamily="34" charset="-122"/>
                </a:rPr>
                <a:t>2</a:t>
              </a:r>
              <a:endParaRPr kumimoji="0" lang="zh-CN" altLang="en-US" sz="2400" b="0" i="0" u="none" strike="noStrike" kern="0" cap="none" spc="0" normalizeH="0" baseline="0" noProof="0" dirty="0">
                <a:ln>
                  <a:noFill/>
                </a:ln>
                <a:solidFill>
                  <a:srgbClr val="009900"/>
                </a:solidFill>
                <a:effectLst/>
                <a:uLnTx/>
                <a:uFillTx/>
                <a:latin typeface="微软雅黑" pitchFamily="34" charset="-122"/>
                <a:ea typeface="微软雅黑" pitchFamily="34" charset="-122"/>
              </a:endParaRPr>
            </a:p>
          </p:txBody>
        </p:sp>
      </p:grpSp>
    </p:spTree>
    <p:extLst>
      <p:ext uri="{BB962C8B-B14F-4D97-AF65-F5344CB8AC3E}">
        <p14:creationId xmlns:p14="http://schemas.microsoft.com/office/powerpoint/2010/main" val="1905323122"/>
      </p:ext>
    </p:extLst>
  </p:cSld>
  <p:clrMapOvr>
    <a:masterClrMapping/>
  </p:clrMapOvr>
  <p:transition spd="med">
    <p:random/>
    <p:sndAc>
      <p:stSnd>
        <p:snd r:embed="rId2" name="arrow.wav"/>
      </p:stSnd>
    </p:sndAc>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Box 2">
            <a:extLst>
              <a:ext uri="{FF2B5EF4-FFF2-40B4-BE49-F238E27FC236}">
                <a16:creationId xmlns:a16="http://schemas.microsoft.com/office/drawing/2014/main" id="{497D6F86-4142-4F9A-8A91-AC44BB7E6750}"/>
              </a:ext>
            </a:extLst>
          </p:cNvPr>
          <p:cNvSpPr txBox="1">
            <a:spLocks noChangeArrowheads="1"/>
          </p:cNvSpPr>
          <p:nvPr/>
        </p:nvSpPr>
        <p:spPr bwMode="auto">
          <a:xfrm>
            <a:off x="752900" y="30060"/>
            <a:ext cx="4762055"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defPPr>
              <a:defRPr lang="en-US"/>
            </a:defPPr>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a:t>概念结构设计的流程</a:t>
            </a:r>
          </a:p>
        </p:txBody>
      </p:sp>
      <p:sp>
        <p:nvSpPr>
          <p:cNvPr id="70" name="Rectangle 3">
            <a:extLst>
              <a:ext uri="{FF2B5EF4-FFF2-40B4-BE49-F238E27FC236}">
                <a16:creationId xmlns:a16="http://schemas.microsoft.com/office/drawing/2014/main" id="{14B78225-D64A-4DAC-B4E5-30B47AB8EB7E}"/>
              </a:ext>
            </a:extLst>
          </p:cNvPr>
          <p:cNvSpPr>
            <a:spLocks noGrp="1" noChangeArrowheads="1"/>
          </p:cNvSpPr>
          <p:nvPr>
            <p:ph type="title"/>
          </p:nvPr>
        </p:nvSpPr>
        <p:spPr>
          <a:xfrm>
            <a:off x="751272" y="906427"/>
            <a:ext cx="8964612" cy="584775"/>
          </a:xfrm>
        </p:spPr>
        <p:txBody>
          <a:bodyPr wrap="square"/>
          <a:lstStyle/>
          <a:p>
            <a:pPr eaLnBrk="1" hangingPunct="1">
              <a:buFont typeface="Wingdings" pitchFamily="2" charset="2"/>
              <a:buNone/>
            </a:pPr>
            <a:r>
              <a:rPr lang="zh-CN" altLang="en-US" dirty="0"/>
              <a:t>分</a:t>
            </a:r>
            <a:r>
              <a:rPr lang="en-US" altLang="zh-CN" dirty="0"/>
              <a:t>E-R</a:t>
            </a:r>
            <a:r>
              <a:rPr lang="zh-CN" altLang="en-US" dirty="0"/>
              <a:t>图之间的冲突</a:t>
            </a:r>
            <a:endParaRPr lang="en-US" altLang="zh-CN" dirty="0"/>
          </a:p>
        </p:txBody>
      </p:sp>
      <p:sp>
        <p:nvSpPr>
          <p:cNvPr id="4" name="Text Box 4">
            <a:extLst>
              <a:ext uri="{FF2B5EF4-FFF2-40B4-BE49-F238E27FC236}">
                <a16:creationId xmlns:a16="http://schemas.microsoft.com/office/drawing/2014/main" id="{FB510C9F-2AFC-44E3-98AB-4C54BFD94BE6}"/>
              </a:ext>
            </a:extLst>
          </p:cNvPr>
          <p:cNvSpPr txBox="1">
            <a:spLocks noChangeArrowheads="1"/>
          </p:cNvSpPr>
          <p:nvPr/>
        </p:nvSpPr>
        <p:spPr bwMode="auto">
          <a:xfrm>
            <a:off x="751272" y="1606610"/>
            <a:ext cx="838200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marL="377825" indent="-377825"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eaLnBrk="1" hangingPunct="1">
              <a:spcBef>
                <a:spcPct val="50000"/>
              </a:spcBef>
              <a:spcAft>
                <a:spcPct val="0"/>
              </a:spcAft>
            </a:pPr>
            <a:r>
              <a:rPr lang="zh-CN" altLang="en-US" dirty="0">
                <a:solidFill>
                  <a:srgbClr val="FFFF00"/>
                </a:solidFill>
                <a:effectLst/>
                <a:latin typeface="微软雅黑" pitchFamily="34" charset="-122"/>
                <a:ea typeface="微软雅黑" pitchFamily="34" charset="-122"/>
              </a:rPr>
              <a:t>③ 结构冲突</a:t>
            </a:r>
          </a:p>
        </p:txBody>
      </p:sp>
      <p:sp>
        <p:nvSpPr>
          <p:cNvPr id="5" name="Text Box 5">
            <a:extLst>
              <a:ext uri="{FF2B5EF4-FFF2-40B4-BE49-F238E27FC236}">
                <a16:creationId xmlns:a16="http://schemas.microsoft.com/office/drawing/2014/main" id="{5B9F7142-397A-482B-9B97-B01E7B11639C}"/>
              </a:ext>
            </a:extLst>
          </p:cNvPr>
          <p:cNvSpPr txBox="1">
            <a:spLocks noChangeArrowheads="1"/>
          </p:cNvSpPr>
          <p:nvPr/>
        </p:nvSpPr>
        <p:spPr bwMode="auto">
          <a:xfrm>
            <a:off x="983432" y="2271828"/>
            <a:ext cx="10513168" cy="574675"/>
          </a:xfrm>
          <a:prstGeom prst="rect">
            <a:avLst/>
          </a:prstGeom>
          <a:noFill/>
          <a:ln w="12700" cap="sq">
            <a:noFill/>
            <a:miter lim="800000"/>
            <a:headEnd type="none" w="sm" len="sm"/>
            <a:tailEnd type="none" w="sm" len="sm"/>
          </a:ln>
          <a:effectLst/>
        </p:spPr>
        <p:txBody>
          <a:bodyPr/>
          <a:lstStyle/>
          <a:p>
            <a:pPr marL="266700" indent="-266700" algn="just">
              <a:spcBef>
                <a:spcPct val="50000"/>
              </a:spcBef>
              <a:spcAft>
                <a:spcPct val="0"/>
              </a:spcAft>
              <a:buFont typeface="Wingdings" pitchFamily="2" charset="2"/>
              <a:buChar char="§"/>
              <a:defRPr/>
            </a:pPr>
            <a:r>
              <a:rPr lang="zh-CN" altLang="en-US" sz="3000" dirty="0">
                <a:effectLst>
                  <a:outerShdw blurRad="38100" dist="38100" dir="2700000" algn="tl">
                    <a:srgbClr val="000000"/>
                  </a:outerShdw>
                </a:effectLst>
                <a:latin typeface="微软雅黑" pitchFamily="34" charset="-122"/>
                <a:ea typeface="微软雅黑" pitchFamily="34" charset="-122"/>
              </a:rPr>
              <a:t>同一对象在不同应用中有不同的抽象。即一处抽象为实体，另一处抽象为属性。</a:t>
            </a:r>
          </a:p>
          <a:p>
            <a:pPr marL="266700" indent="-266700" algn="just">
              <a:spcBef>
                <a:spcPct val="10000"/>
              </a:spcBef>
              <a:spcAft>
                <a:spcPct val="0"/>
              </a:spcAft>
              <a:defRPr/>
            </a:pPr>
            <a:r>
              <a:rPr lang="zh-CN" altLang="en-US" sz="3000" dirty="0">
                <a:effectLst>
                  <a:outerShdw blurRad="38100" dist="38100" dir="2700000" algn="tl">
                    <a:srgbClr val="000000"/>
                  </a:outerShdw>
                </a:effectLst>
                <a:latin typeface="微软雅黑" pitchFamily="34" charset="-122"/>
                <a:ea typeface="微软雅黑" pitchFamily="34" charset="-122"/>
              </a:rPr>
              <a:t>	</a:t>
            </a:r>
            <a:r>
              <a:rPr lang="zh-CN" altLang="en-US" sz="3000" dirty="0">
                <a:solidFill>
                  <a:srgbClr val="00FF99"/>
                </a:solidFill>
                <a:effectLst>
                  <a:outerShdw blurRad="38100" dist="38100" dir="2700000" algn="tl">
                    <a:srgbClr val="000000"/>
                  </a:outerShdw>
                </a:effectLst>
                <a:latin typeface="微软雅黑" pitchFamily="34" charset="-122"/>
                <a:ea typeface="微软雅黑" pitchFamily="34" charset="-122"/>
              </a:rPr>
              <a:t>解决：统一成相同的抽象。</a:t>
            </a:r>
          </a:p>
          <a:p>
            <a:pPr marL="266700" indent="-266700" algn="just">
              <a:spcBef>
                <a:spcPct val="50000"/>
              </a:spcBef>
              <a:spcAft>
                <a:spcPct val="0"/>
              </a:spcAft>
              <a:buFont typeface="Wingdings" pitchFamily="2" charset="2"/>
              <a:buChar char="§"/>
              <a:defRPr/>
            </a:pPr>
            <a:r>
              <a:rPr lang="zh-CN" altLang="en-US" sz="3000" dirty="0">
                <a:effectLst>
                  <a:outerShdw blurRad="38100" dist="38100" dir="2700000" algn="tl">
                    <a:srgbClr val="000000"/>
                  </a:outerShdw>
                </a:effectLst>
                <a:latin typeface="微软雅黑" pitchFamily="34" charset="-122"/>
                <a:ea typeface="微软雅黑" pitchFamily="34" charset="-122"/>
              </a:rPr>
              <a:t>同一实体在不同应用中属性组成不同。</a:t>
            </a:r>
          </a:p>
          <a:p>
            <a:pPr marL="266700" indent="-266700" algn="just">
              <a:spcBef>
                <a:spcPct val="10000"/>
              </a:spcBef>
              <a:spcAft>
                <a:spcPct val="0"/>
              </a:spcAft>
              <a:defRPr/>
            </a:pPr>
            <a:r>
              <a:rPr lang="zh-CN" altLang="en-US" sz="3000" dirty="0">
                <a:effectLst>
                  <a:outerShdw blurRad="38100" dist="38100" dir="2700000" algn="tl">
                    <a:srgbClr val="000000"/>
                  </a:outerShdw>
                </a:effectLst>
                <a:latin typeface="微软雅黑" pitchFamily="34" charset="-122"/>
                <a:ea typeface="微软雅黑" pitchFamily="34" charset="-122"/>
              </a:rPr>
              <a:t>	</a:t>
            </a:r>
            <a:r>
              <a:rPr lang="zh-CN" altLang="en-US" sz="3000" dirty="0">
                <a:solidFill>
                  <a:srgbClr val="00FF99"/>
                </a:solidFill>
                <a:effectLst>
                  <a:outerShdw blurRad="38100" dist="38100" dir="2700000" algn="tl">
                    <a:srgbClr val="000000"/>
                  </a:outerShdw>
                </a:effectLst>
                <a:latin typeface="微软雅黑" pitchFamily="34" charset="-122"/>
                <a:ea typeface="微软雅黑" pitchFamily="34" charset="-122"/>
              </a:rPr>
              <a:t>解决：统一取属性的并集。</a:t>
            </a:r>
          </a:p>
          <a:p>
            <a:pPr marL="266700" indent="-266700" algn="just">
              <a:spcBef>
                <a:spcPct val="50000"/>
              </a:spcBef>
              <a:spcAft>
                <a:spcPct val="0"/>
              </a:spcAft>
              <a:buFont typeface="Wingdings" pitchFamily="2" charset="2"/>
              <a:buChar char="§"/>
              <a:defRPr/>
            </a:pPr>
            <a:r>
              <a:rPr lang="zh-CN" altLang="en-US" sz="3000" dirty="0">
                <a:effectLst>
                  <a:outerShdw blurRad="38100" dist="38100" dir="2700000" algn="tl">
                    <a:srgbClr val="000000"/>
                  </a:outerShdw>
                </a:effectLst>
                <a:latin typeface="微软雅黑" pitchFamily="34" charset="-122"/>
                <a:ea typeface="微软雅黑" pitchFamily="34" charset="-122"/>
              </a:rPr>
              <a:t>相同的多个实体在不同应用中呈现不同的联系。即一处为1:</a:t>
            </a:r>
            <a:r>
              <a:rPr lang="en-US" altLang="zh-CN" sz="3000" dirty="0">
                <a:effectLst>
                  <a:outerShdw blurRad="38100" dist="38100" dir="2700000" algn="tl">
                    <a:srgbClr val="000000"/>
                  </a:outerShdw>
                </a:effectLst>
                <a:latin typeface="微软雅黑" pitchFamily="34" charset="-122"/>
                <a:ea typeface="微软雅黑" pitchFamily="34" charset="-122"/>
              </a:rPr>
              <a:t>n，</a:t>
            </a:r>
            <a:r>
              <a:rPr lang="zh-CN" altLang="en-US" sz="3000" dirty="0">
                <a:effectLst>
                  <a:outerShdw blurRad="38100" dist="38100" dir="2700000" algn="tl">
                    <a:srgbClr val="000000"/>
                  </a:outerShdw>
                </a:effectLst>
                <a:latin typeface="微软雅黑" pitchFamily="34" charset="-122"/>
                <a:ea typeface="微软雅黑" pitchFamily="34" charset="-122"/>
              </a:rPr>
              <a:t>而另一处为</a:t>
            </a:r>
            <a:r>
              <a:rPr lang="en-US" altLang="zh-CN" sz="3000" dirty="0">
                <a:effectLst>
                  <a:outerShdw blurRad="38100" dist="38100" dir="2700000" algn="tl">
                    <a:srgbClr val="000000"/>
                  </a:outerShdw>
                </a:effectLst>
                <a:latin typeface="微软雅黑" pitchFamily="34" charset="-122"/>
                <a:ea typeface="微软雅黑" pitchFamily="34" charset="-122"/>
              </a:rPr>
              <a:t>m:n。</a:t>
            </a:r>
          </a:p>
          <a:p>
            <a:pPr marL="266700" indent="-266700" algn="just">
              <a:spcBef>
                <a:spcPct val="10000"/>
              </a:spcBef>
              <a:spcAft>
                <a:spcPct val="0"/>
              </a:spcAft>
              <a:defRPr/>
            </a:pPr>
            <a:r>
              <a:rPr lang="zh-CN" altLang="en-US" sz="3000" dirty="0">
                <a:effectLst>
                  <a:outerShdw blurRad="38100" dist="38100" dir="2700000" algn="tl">
                    <a:srgbClr val="000000"/>
                  </a:outerShdw>
                </a:effectLst>
                <a:latin typeface="微软雅黑" pitchFamily="34" charset="-122"/>
                <a:ea typeface="微软雅黑" pitchFamily="34" charset="-122"/>
              </a:rPr>
              <a:t>	</a:t>
            </a:r>
            <a:r>
              <a:rPr lang="zh-CN" altLang="en-US" sz="3000" dirty="0">
                <a:solidFill>
                  <a:srgbClr val="00FF99"/>
                </a:solidFill>
                <a:effectLst>
                  <a:outerShdw blurRad="38100" dist="38100" dir="2700000" algn="tl">
                    <a:srgbClr val="000000"/>
                  </a:outerShdw>
                </a:effectLst>
                <a:latin typeface="微软雅黑" pitchFamily="34" charset="-122"/>
                <a:ea typeface="微软雅黑" pitchFamily="34" charset="-122"/>
              </a:rPr>
              <a:t>解决：按语义进行实体联系类型的综合或调整。</a:t>
            </a:r>
            <a:endParaRPr lang="en-US" altLang="zh-CN" sz="3000" dirty="0">
              <a:solidFill>
                <a:srgbClr val="00FF99"/>
              </a:solidFill>
              <a:effectLst>
                <a:outerShdw blurRad="38100" dist="38100" dir="2700000" algn="tl">
                  <a:srgbClr val="000000"/>
                </a:outerShdw>
              </a:effectLst>
              <a:latin typeface="微软雅黑" pitchFamily="34" charset="-122"/>
              <a:ea typeface="微软雅黑" pitchFamily="34" charset="-122"/>
            </a:endParaRPr>
          </a:p>
        </p:txBody>
      </p:sp>
    </p:spTree>
    <p:extLst>
      <p:ext uri="{BB962C8B-B14F-4D97-AF65-F5344CB8AC3E}">
        <p14:creationId xmlns:p14="http://schemas.microsoft.com/office/powerpoint/2010/main" val="4205983"/>
      </p:ext>
    </p:extLst>
  </p:cSld>
  <p:clrMapOvr>
    <a:masterClrMapping/>
  </p:clrMapOvr>
  <p:transition spd="med">
    <p:random/>
    <p:sndAc>
      <p:stSnd>
        <p:snd r:embed="rId2" name="arrow.wav"/>
      </p:stSnd>
    </p:sndAc>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Box 2">
            <a:extLst>
              <a:ext uri="{FF2B5EF4-FFF2-40B4-BE49-F238E27FC236}">
                <a16:creationId xmlns:a16="http://schemas.microsoft.com/office/drawing/2014/main" id="{497D6F86-4142-4F9A-8A91-AC44BB7E6750}"/>
              </a:ext>
            </a:extLst>
          </p:cNvPr>
          <p:cNvSpPr txBox="1">
            <a:spLocks noChangeArrowheads="1"/>
          </p:cNvSpPr>
          <p:nvPr/>
        </p:nvSpPr>
        <p:spPr bwMode="auto">
          <a:xfrm>
            <a:off x="752900" y="30060"/>
            <a:ext cx="4762055"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defPPr>
              <a:defRPr lang="en-US"/>
            </a:defPPr>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a:t>概念结构设计的流程</a:t>
            </a:r>
          </a:p>
        </p:txBody>
      </p:sp>
      <p:sp>
        <p:nvSpPr>
          <p:cNvPr id="70" name="Rectangle 3">
            <a:extLst>
              <a:ext uri="{FF2B5EF4-FFF2-40B4-BE49-F238E27FC236}">
                <a16:creationId xmlns:a16="http://schemas.microsoft.com/office/drawing/2014/main" id="{14B78225-D64A-4DAC-B4E5-30B47AB8EB7E}"/>
              </a:ext>
            </a:extLst>
          </p:cNvPr>
          <p:cNvSpPr>
            <a:spLocks noGrp="1" noChangeArrowheads="1"/>
          </p:cNvSpPr>
          <p:nvPr>
            <p:ph type="title"/>
          </p:nvPr>
        </p:nvSpPr>
        <p:spPr>
          <a:xfrm>
            <a:off x="751272" y="906427"/>
            <a:ext cx="8964612" cy="584775"/>
          </a:xfrm>
        </p:spPr>
        <p:txBody>
          <a:bodyPr wrap="square"/>
          <a:lstStyle/>
          <a:p>
            <a:pPr eaLnBrk="1" hangingPunct="1">
              <a:buFont typeface="Wingdings" pitchFamily="2" charset="2"/>
              <a:buNone/>
            </a:pPr>
            <a:r>
              <a:rPr lang="zh-CN" altLang="en-US" dirty="0"/>
              <a:t>分</a:t>
            </a:r>
            <a:r>
              <a:rPr lang="en-US" altLang="zh-CN" dirty="0"/>
              <a:t>E-R</a:t>
            </a:r>
            <a:r>
              <a:rPr lang="zh-CN" altLang="en-US" dirty="0"/>
              <a:t>图之间的冲突</a:t>
            </a:r>
            <a:endParaRPr lang="en-US" altLang="zh-CN" dirty="0"/>
          </a:p>
        </p:txBody>
      </p:sp>
      <p:sp>
        <p:nvSpPr>
          <p:cNvPr id="4" name="Text Box 4">
            <a:extLst>
              <a:ext uri="{FF2B5EF4-FFF2-40B4-BE49-F238E27FC236}">
                <a16:creationId xmlns:a16="http://schemas.microsoft.com/office/drawing/2014/main" id="{FB510C9F-2AFC-44E3-98AB-4C54BFD94BE6}"/>
              </a:ext>
            </a:extLst>
          </p:cNvPr>
          <p:cNvSpPr txBox="1">
            <a:spLocks noChangeArrowheads="1"/>
          </p:cNvSpPr>
          <p:nvPr/>
        </p:nvSpPr>
        <p:spPr bwMode="auto">
          <a:xfrm>
            <a:off x="751272" y="1606610"/>
            <a:ext cx="838200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marL="377825" indent="-377825"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eaLnBrk="1" hangingPunct="1">
              <a:spcBef>
                <a:spcPct val="50000"/>
              </a:spcBef>
              <a:spcAft>
                <a:spcPct val="0"/>
              </a:spcAft>
            </a:pPr>
            <a:r>
              <a:rPr lang="zh-CN" altLang="en-US" dirty="0">
                <a:solidFill>
                  <a:srgbClr val="FFFF00"/>
                </a:solidFill>
                <a:effectLst/>
                <a:latin typeface="微软雅黑" pitchFamily="34" charset="-122"/>
                <a:ea typeface="微软雅黑" pitchFamily="34" charset="-122"/>
              </a:rPr>
              <a:t>③ 结构冲突</a:t>
            </a:r>
          </a:p>
        </p:txBody>
      </p:sp>
      <p:grpSp>
        <p:nvGrpSpPr>
          <p:cNvPr id="2" name="组合 1">
            <a:extLst>
              <a:ext uri="{FF2B5EF4-FFF2-40B4-BE49-F238E27FC236}">
                <a16:creationId xmlns:a16="http://schemas.microsoft.com/office/drawing/2014/main" id="{6A076B7E-76F5-4C4B-811F-4A683C14738B}"/>
              </a:ext>
            </a:extLst>
          </p:cNvPr>
          <p:cNvGrpSpPr/>
          <p:nvPr/>
        </p:nvGrpSpPr>
        <p:grpSpPr>
          <a:xfrm>
            <a:off x="383541" y="1613041"/>
            <a:ext cx="11424918" cy="4751584"/>
            <a:chOff x="327635" y="773343"/>
            <a:chExt cx="8652649" cy="3598607"/>
          </a:xfrm>
        </p:grpSpPr>
        <p:sp>
          <p:nvSpPr>
            <p:cNvPr id="80" name="Rectangle 7">
              <a:extLst>
                <a:ext uri="{FF2B5EF4-FFF2-40B4-BE49-F238E27FC236}">
                  <a16:creationId xmlns:a16="http://schemas.microsoft.com/office/drawing/2014/main" id="{D74E01E7-21C4-45A7-AA45-CF0B29C270C1}"/>
                </a:ext>
              </a:extLst>
            </p:cNvPr>
            <p:cNvSpPr>
              <a:spLocks noChangeArrowheads="1"/>
            </p:cNvSpPr>
            <p:nvPr/>
          </p:nvSpPr>
          <p:spPr bwMode="auto">
            <a:xfrm>
              <a:off x="440524" y="1485553"/>
              <a:ext cx="4147578" cy="1254645"/>
            </a:xfrm>
            <a:prstGeom prst="rect">
              <a:avLst/>
            </a:prstGeom>
            <a:solidFill>
              <a:sysClr val="window" lastClr="FFFFFF"/>
            </a:solidFill>
            <a:ln w="9525" cap="sq">
              <a:solidFill>
                <a:sysClr val="windowText" lastClr="000000"/>
              </a:solidFill>
              <a:prstDash val="dash"/>
              <a:miter lim="800000"/>
              <a:headEnd/>
              <a:tailEnd/>
            </a:ln>
            <a:effectLst>
              <a:outerShdw dist="35921" dir="2700000" algn="ctr" rotWithShape="0">
                <a:srgbClr val="EEECE1"/>
              </a:outerShdw>
            </a:effectLst>
          </p:spPr>
          <p:txBody>
            <a:bodyPr wrap="none" lIns="0" tIns="0" rIns="0" bIns="0" anchor="ctr"/>
            <a:lstStyle/>
            <a:p>
              <a:pPr marL="0" marR="0" lvl="0" indent="0" defTabSz="914400" eaLnBrk="1" fontAlgn="auto" latinLnBrk="0" hangingPunct="1">
                <a:lnSpc>
                  <a:spcPct val="100000"/>
                </a:lnSpc>
                <a:spcBef>
                  <a:spcPts val="0"/>
                </a:spcBef>
                <a:spcAft>
                  <a:spcPct val="0"/>
                </a:spcAft>
                <a:buClrTx/>
                <a:buSzTx/>
                <a:buFontTx/>
                <a:buNone/>
                <a:tabLst/>
                <a:defRPr/>
              </a:pPr>
              <a:endParaRPr kumimoji="0" lang="zh-CN" altLang="en-US" sz="28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81" name="Text Box 5">
              <a:extLst>
                <a:ext uri="{FF2B5EF4-FFF2-40B4-BE49-F238E27FC236}">
                  <a16:creationId xmlns:a16="http://schemas.microsoft.com/office/drawing/2014/main" id="{E9631AED-20CF-4AE1-AB78-5AC109EB92D6}"/>
                </a:ext>
              </a:extLst>
            </p:cNvPr>
            <p:cNvSpPr txBox="1">
              <a:spLocks noChangeArrowheads="1"/>
            </p:cNvSpPr>
            <p:nvPr/>
          </p:nvSpPr>
          <p:spPr bwMode="auto">
            <a:xfrm>
              <a:off x="4458042" y="773343"/>
              <a:ext cx="4522242" cy="408125"/>
            </a:xfrm>
            <a:prstGeom prst="rect">
              <a:avLst/>
            </a:prstGeom>
            <a:noFill/>
            <a:ln w="12700" cap="sq">
              <a:noFill/>
              <a:miter lim="800000"/>
              <a:headEnd type="none" w="sm" len="sm"/>
              <a:tailEnd type="none" w="sm" len="sm"/>
            </a:ln>
            <a:effectLst/>
          </p:spPr>
          <p:txBody>
            <a:bodyPr/>
            <a:lstStyle>
              <a:lvl1pPr marL="377825" indent="-377825"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marL="377825" marR="0" lvl="0" indent="-377825" algn="ctr" defTabSz="914400" eaLnBrk="1" fontAlgn="auto" latinLnBrk="0" hangingPunct="1">
                <a:lnSpc>
                  <a:spcPct val="100000"/>
                </a:lnSpc>
                <a:spcBef>
                  <a:spcPct val="50000"/>
                </a:spcBef>
                <a:spcAft>
                  <a:spcPct val="0"/>
                </a:spcAft>
                <a:buClrTx/>
                <a:buSzTx/>
                <a:buFontTx/>
                <a:buNone/>
                <a:tabLst/>
                <a:defRPr/>
              </a:pPr>
              <a:r>
                <a:rPr kumimoji="1" lang="zh-CN" altLang="en-US" sz="2800" b="0" i="0" u="none" strike="noStrike" kern="0" cap="none" spc="0" normalizeH="0" baseline="0" noProof="0" dirty="0">
                  <a:ln>
                    <a:noFill/>
                  </a:ln>
                  <a:solidFill>
                    <a:srgbClr val="99FF33"/>
                  </a:solidFill>
                  <a:effectLst/>
                  <a:uLnTx/>
                  <a:uFillTx/>
                  <a:latin typeface="宋体" panose="02010600030101010101" pitchFamily="2" charset="-122"/>
                  <a:ea typeface="宋体" panose="02010600030101010101" pitchFamily="2" charset="-122"/>
                </a:rPr>
                <a:t>班长不是学生？ 班长是另类的学生？</a:t>
              </a:r>
            </a:p>
          </p:txBody>
        </p:sp>
        <p:grpSp>
          <p:nvGrpSpPr>
            <p:cNvPr id="82" name="组合 81">
              <a:extLst>
                <a:ext uri="{FF2B5EF4-FFF2-40B4-BE49-F238E27FC236}">
                  <a16:creationId xmlns:a16="http://schemas.microsoft.com/office/drawing/2014/main" id="{2883A05B-5BB5-4A73-8E96-18613E3EEC27}"/>
                </a:ext>
              </a:extLst>
            </p:cNvPr>
            <p:cNvGrpSpPr/>
            <p:nvPr/>
          </p:nvGrpSpPr>
          <p:grpSpPr>
            <a:xfrm>
              <a:off x="590924" y="1613127"/>
              <a:ext cx="3867118" cy="927266"/>
              <a:chOff x="3427415" y="2492018"/>
              <a:chExt cx="6408736" cy="1536701"/>
            </a:xfrm>
          </p:grpSpPr>
          <p:sp>
            <p:nvSpPr>
              <p:cNvPr id="83" name="Rectangle 5">
                <a:extLst>
                  <a:ext uri="{FF2B5EF4-FFF2-40B4-BE49-F238E27FC236}">
                    <a16:creationId xmlns:a16="http://schemas.microsoft.com/office/drawing/2014/main" id="{4E10AC69-6C0F-4760-8ADF-5A587A48DF09}"/>
                  </a:ext>
                </a:extLst>
              </p:cNvPr>
              <p:cNvSpPr>
                <a:spLocks noChangeArrowheads="1"/>
              </p:cNvSpPr>
              <p:nvPr/>
            </p:nvSpPr>
            <p:spPr bwMode="auto">
              <a:xfrm>
                <a:off x="8072438" y="2666643"/>
                <a:ext cx="995363" cy="349250"/>
              </a:xfrm>
              <a:prstGeom prst="rect">
                <a:avLst/>
              </a:prstGeom>
              <a:solidFill>
                <a:sysClr val="window" lastClr="FFFFFF"/>
              </a:solidFill>
              <a:ln w="12700" cap="sq">
                <a:solidFill>
                  <a:sysClr val="windowText" lastClr="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班级</a:t>
                </a:r>
              </a:p>
            </p:txBody>
          </p:sp>
          <p:sp>
            <p:nvSpPr>
              <p:cNvPr id="84" name="AutoShape 6">
                <a:extLst>
                  <a:ext uri="{FF2B5EF4-FFF2-40B4-BE49-F238E27FC236}">
                    <a16:creationId xmlns:a16="http://schemas.microsoft.com/office/drawing/2014/main" id="{D497D88A-BDD4-4311-8197-C4BA03BA6E2C}"/>
                  </a:ext>
                </a:extLst>
              </p:cNvPr>
              <p:cNvSpPr>
                <a:spLocks noChangeArrowheads="1"/>
              </p:cNvSpPr>
              <p:nvPr/>
            </p:nvSpPr>
            <p:spPr bwMode="auto">
              <a:xfrm>
                <a:off x="7653338" y="3536947"/>
                <a:ext cx="987426" cy="433035"/>
              </a:xfrm>
              <a:prstGeom prst="roundRect">
                <a:avLst>
                  <a:gd name="adj" fmla="val 50000"/>
                </a:avLst>
              </a:prstGeom>
              <a:solidFill>
                <a:srgbClr val="EEECE1"/>
              </a:solidFill>
              <a:ln w="12700" cap="sq">
                <a:solidFill>
                  <a:sysClr val="windowText" lastClr="000000"/>
                </a:solidFill>
                <a:round/>
                <a:headEnd/>
                <a:tailEnd/>
              </a:ln>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sng"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班号</a:t>
                </a:r>
              </a:p>
            </p:txBody>
          </p:sp>
          <p:sp>
            <p:nvSpPr>
              <p:cNvPr id="85" name="AutoShape 7">
                <a:extLst>
                  <a:ext uri="{FF2B5EF4-FFF2-40B4-BE49-F238E27FC236}">
                    <a16:creationId xmlns:a16="http://schemas.microsoft.com/office/drawing/2014/main" id="{6A0FEBBD-B9A8-4CE6-869E-49D370712DF0}"/>
                  </a:ext>
                </a:extLst>
              </p:cNvPr>
              <p:cNvSpPr>
                <a:spLocks noChangeArrowheads="1"/>
              </p:cNvSpPr>
              <p:nvPr/>
            </p:nvSpPr>
            <p:spPr bwMode="auto">
              <a:xfrm>
                <a:off x="8848726" y="3630256"/>
                <a:ext cx="987425" cy="339725"/>
              </a:xfrm>
              <a:prstGeom prst="roundRect">
                <a:avLst>
                  <a:gd name="adj" fmla="val 50000"/>
                </a:avLst>
              </a:prstGeom>
              <a:solidFill>
                <a:sysClr val="window" lastClr="FFFFFF"/>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班名</a:t>
                </a:r>
              </a:p>
            </p:txBody>
          </p:sp>
          <p:cxnSp>
            <p:nvCxnSpPr>
              <p:cNvPr id="86" name="AutoShape 8">
                <a:extLst>
                  <a:ext uri="{FF2B5EF4-FFF2-40B4-BE49-F238E27FC236}">
                    <a16:creationId xmlns:a16="http://schemas.microsoft.com/office/drawing/2014/main" id="{616252C8-41D0-4445-A38D-CD0BCFE1CBD9}"/>
                  </a:ext>
                </a:extLst>
              </p:cNvPr>
              <p:cNvCxnSpPr>
                <a:cxnSpLocks noChangeShapeType="1"/>
                <a:stCxn id="83" idx="2"/>
                <a:endCxn id="84" idx="0"/>
              </p:cNvCxnSpPr>
              <p:nvPr/>
            </p:nvCxnSpPr>
            <p:spPr bwMode="auto">
              <a:xfrm flipH="1">
                <a:off x="8147051" y="3015893"/>
                <a:ext cx="423070" cy="521054"/>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87" name="AutoShape 9">
                <a:extLst>
                  <a:ext uri="{FF2B5EF4-FFF2-40B4-BE49-F238E27FC236}">
                    <a16:creationId xmlns:a16="http://schemas.microsoft.com/office/drawing/2014/main" id="{C34675D1-18A4-495C-9CA3-A8B4FAFA4433}"/>
                  </a:ext>
                </a:extLst>
              </p:cNvPr>
              <p:cNvCxnSpPr>
                <a:cxnSpLocks noChangeShapeType="1"/>
                <a:stCxn id="83" idx="2"/>
                <a:endCxn id="85" idx="0"/>
              </p:cNvCxnSpPr>
              <p:nvPr/>
            </p:nvCxnSpPr>
            <p:spPr bwMode="auto">
              <a:xfrm>
                <a:off x="8570913" y="3015893"/>
                <a:ext cx="771525" cy="614362"/>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88" name="Rectangle 10">
                <a:extLst>
                  <a:ext uri="{FF2B5EF4-FFF2-40B4-BE49-F238E27FC236}">
                    <a16:creationId xmlns:a16="http://schemas.microsoft.com/office/drawing/2014/main" id="{C05D9434-3E0E-4FA2-9472-484E7C101DD3}"/>
                  </a:ext>
                </a:extLst>
              </p:cNvPr>
              <p:cNvSpPr>
                <a:spLocks noChangeArrowheads="1"/>
              </p:cNvSpPr>
              <p:nvPr/>
            </p:nvSpPr>
            <p:spPr bwMode="auto">
              <a:xfrm>
                <a:off x="4586288" y="2666643"/>
                <a:ext cx="995363" cy="349250"/>
              </a:xfrm>
              <a:prstGeom prst="rect">
                <a:avLst/>
              </a:prstGeom>
              <a:solidFill>
                <a:sysClr val="window" lastClr="FFFFFF"/>
              </a:solidFill>
              <a:ln w="12700" cap="sq">
                <a:solidFill>
                  <a:sysClr val="windowText" lastClr="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学生</a:t>
                </a:r>
              </a:p>
            </p:txBody>
          </p:sp>
          <p:sp>
            <p:nvSpPr>
              <p:cNvPr id="89" name="AutoShape 11">
                <a:extLst>
                  <a:ext uri="{FF2B5EF4-FFF2-40B4-BE49-F238E27FC236}">
                    <a16:creationId xmlns:a16="http://schemas.microsoft.com/office/drawing/2014/main" id="{6E366F16-005C-4F87-8E02-28B3FFE35316}"/>
                  </a:ext>
                </a:extLst>
              </p:cNvPr>
              <p:cNvSpPr>
                <a:spLocks noChangeArrowheads="1"/>
              </p:cNvSpPr>
              <p:nvPr/>
            </p:nvSpPr>
            <p:spPr bwMode="auto">
              <a:xfrm>
                <a:off x="3427415" y="3496722"/>
                <a:ext cx="882648" cy="506823"/>
              </a:xfrm>
              <a:prstGeom prst="roundRect">
                <a:avLst>
                  <a:gd name="adj" fmla="val 50000"/>
                </a:avLst>
              </a:prstGeom>
              <a:solidFill>
                <a:srgbClr val="EEECE1"/>
              </a:solidFill>
              <a:ln w="12700" cap="sq">
                <a:solidFill>
                  <a:sysClr val="windowText" lastClr="000000"/>
                </a:solidFill>
                <a:round/>
                <a:headEnd/>
                <a:tailEnd/>
              </a:ln>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sng"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学号</a:t>
                </a:r>
              </a:p>
            </p:txBody>
          </p:sp>
          <p:sp>
            <p:nvSpPr>
              <p:cNvPr id="90" name="AutoShape 12">
                <a:extLst>
                  <a:ext uri="{FF2B5EF4-FFF2-40B4-BE49-F238E27FC236}">
                    <a16:creationId xmlns:a16="http://schemas.microsoft.com/office/drawing/2014/main" id="{EF9AE0E7-22DE-4DEB-A181-4973B550AED8}"/>
                  </a:ext>
                </a:extLst>
              </p:cNvPr>
              <p:cNvSpPr>
                <a:spLocks noChangeArrowheads="1"/>
              </p:cNvSpPr>
              <p:nvPr/>
            </p:nvSpPr>
            <p:spPr bwMode="auto">
              <a:xfrm>
                <a:off x="4424363" y="3642956"/>
                <a:ext cx="798513" cy="385763"/>
              </a:xfrm>
              <a:prstGeom prst="roundRect">
                <a:avLst>
                  <a:gd name="adj" fmla="val 50000"/>
                </a:avLst>
              </a:prstGeom>
              <a:solidFill>
                <a:sysClr val="window" lastClr="FFFFFF"/>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姓名</a:t>
                </a:r>
              </a:p>
            </p:txBody>
          </p:sp>
          <p:sp>
            <p:nvSpPr>
              <p:cNvPr id="91" name="AutoShape 13">
                <a:extLst>
                  <a:ext uri="{FF2B5EF4-FFF2-40B4-BE49-F238E27FC236}">
                    <a16:creationId xmlns:a16="http://schemas.microsoft.com/office/drawing/2014/main" id="{9ED2FBFF-9BFD-48E7-84B8-4B156BFA9C77}"/>
                  </a:ext>
                </a:extLst>
              </p:cNvPr>
              <p:cNvSpPr>
                <a:spLocks noChangeArrowheads="1"/>
              </p:cNvSpPr>
              <p:nvPr/>
            </p:nvSpPr>
            <p:spPr bwMode="auto">
              <a:xfrm>
                <a:off x="6173788" y="3642956"/>
                <a:ext cx="798513" cy="385763"/>
              </a:xfrm>
              <a:prstGeom prst="roundRect">
                <a:avLst>
                  <a:gd name="adj" fmla="val 50000"/>
                </a:avLst>
              </a:prstGeom>
              <a:solidFill>
                <a:sysClr val="window" lastClr="FFFFFF"/>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性别</a:t>
                </a:r>
              </a:p>
            </p:txBody>
          </p:sp>
          <p:sp>
            <p:nvSpPr>
              <p:cNvPr id="92" name="AutoShape 14">
                <a:extLst>
                  <a:ext uri="{FF2B5EF4-FFF2-40B4-BE49-F238E27FC236}">
                    <a16:creationId xmlns:a16="http://schemas.microsoft.com/office/drawing/2014/main" id="{BBCA909E-08D5-4A98-A30C-CB64DDC7ACA4}"/>
                  </a:ext>
                </a:extLst>
              </p:cNvPr>
              <p:cNvSpPr>
                <a:spLocks noChangeArrowheads="1"/>
              </p:cNvSpPr>
              <p:nvPr/>
            </p:nvSpPr>
            <p:spPr bwMode="auto">
              <a:xfrm>
                <a:off x="5303837" y="3642956"/>
                <a:ext cx="800100" cy="385763"/>
              </a:xfrm>
              <a:prstGeom prst="roundRect">
                <a:avLst>
                  <a:gd name="adj" fmla="val 50000"/>
                </a:avLst>
              </a:prstGeom>
              <a:solidFill>
                <a:sysClr val="window" lastClr="FFFFFF"/>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生日</a:t>
                </a:r>
              </a:p>
            </p:txBody>
          </p:sp>
          <p:cxnSp>
            <p:nvCxnSpPr>
              <p:cNvPr id="93" name="AutoShape 15">
                <a:extLst>
                  <a:ext uri="{FF2B5EF4-FFF2-40B4-BE49-F238E27FC236}">
                    <a16:creationId xmlns:a16="http://schemas.microsoft.com/office/drawing/2014/main" id="{C5498A4A-6FD6-49FC-AC48-5F3AE98A44F9}"/>
                  </a:ext>
                </a:extLst>
              </p:cNvPr>
              <p:cNvCxnSpPr>
                <a:cxnSpLocks noChangeShapeType="1"/>
                <a:stCxn id="88" idx="2"/>
                <a:endCxn id="89" idx="0"/>
              </p:cNvCxnSpPr>
              <p:nvPr/>
            </p:nvCxnSpPr>
            <p:spPr bwMode="auto">
              <a:xfrm flipH="1">
                <a:off x="3868739" y="3015893"/>
                <a:ext cx="1215231" cy="480830"/>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94" name="AutoShape 16">
                <a:extLst>
                  <a:ext uri="{FF2B5EF4-FFF2-40B4-BE49-F238E27FC236}">
                    <a16:creationId xmlns:a16="http://schemas.microsoft.com/office/drawing/2014/main" id="{631204BF-E144-435D-B94F-200FA7FF2F28}"/>
                  </a:ext>
                </a:extLst>
              </p:cNvPr>
              <p:cNvCxnSpPr>
                <a:cxnSpLocks noChangeShapeType="1"/>
                <a:stCxn id="88" idx="2"/>
                <a:endCxn id="90" idx="0"/>
              </p:cNvCxnSpPr>
              <p:nvPr/>
            </p:nvCxnSpPr>
            <p:spPr bwMode="auto">
              <a:xfrm flipH="1">
                <a:off x="4824412" y="3015893"/>
                <a:ext cx="260350" cy="627062"/>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95" name="AutoShape 17">
                <a:extLst>
                  <a:ext uri="{FF2B5EF4-FFF2-40B4-BE49-F238E27FC236}">
                    <a16:creationId xmlns:a16="http://schemas.microsoft.com/office/drawing/2014/main" id="{8EC60DE0-97AD-44AC-92B4-2C3AAC9D23FD}"/>
                  </a:ext>
                </a:extLst>
              </p:cNvPr>
              <p:cNvCxnSpPr>
                <a:cxnSpLocks noChangeShapeType="1"/>
                <a:stCxn id="88" idx="2"/>
                <a:endCxn id="92" idx="0"/>
              </p:cNvCxnSpPr>
              <p:nvPr/>
            </p:nvCxnSpPr>
            <p:spPr bwMode="auto">
              <a:xfrm>
                <a:off x="5084763" y="3015893"/>
                <a:ext cx="619125" cy="627062"/>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96" name="AutoShape 18">
                <a:extLst>
                  <a:ext uri="{FF2B5EF4-FFF2-40B4-BE49-F238E27FC236}">
                    <a16:creationId xmlns:a16="http://schemas.microsoft.com/office/drawing/2014/main" id="{BBFD42FE-CB73-491D-AA3F-224B0DEA0F8C}"/>
                  </a:ext>
                </a:extLst>
              </p:cNvPr>
              <p:cNvCxnSpPr>
                <a:cxnSpLocks noChangeShapeType="1"/>
                <a:stCxn id="88" idx="2"/>
                <a:endCxn id="91" idx="0"/>
              </p:cNvCxnSpPr>
              <p:nvPr/>
            </p:nvCxnSpPr>
            <p:spPr bwMode="auto">
              <a:xfrm>
                <a:off x="5084763" y="3015893"/>
                <a:ext cx="1489075" cy="627062"/>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97" name="AutoShape 19">
                <a:extLst>
                  <a:ext uri="{FF2B5EF4-FFF2-40B4-BE49-F238E27FC236}">
                    <a16:creationId xmlns:a16="http://schemas.microsoft.com/office/drawing/2014/main" id="{0BFDEDAE-D48C-4141-B5B1-87281E2D0DFE}"/>
                  </a:ext>
                </a:extLst>
              </p:cNvPr>
              <p:cNvSpPr>
                <a:spLocks noChangeArrowheads="1"/>
              </p:cNvSpPr>
              <p:nvPr/>
            </p:nvSpPr>
            <p:spPr bwMode="auto">
              <a:xfrm>
                <a:off x="6080125" y="2492018"/>
                <a:ext cx="1593850" cy="698500"/>
              </a:xfrm>
              <a:prstGeom prst="diamond">
                <a:avLst/>
              </a:prstGeom>
              <a:solidFill>
                <a:sysClr val="window" lastClr="FFFFFF"/>
              </a:solidFill>
              <a:ln w="12700" cap="sq">
                <a:solidFill>
                  <a:sysClr val="windowText" lastClr="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组成</a:t>
                </a:r>
              </a:p>
            </p:txBody>
          </p:sp>
          <p:cxnSp>
            <p:nvCxnSpPr>
              <p:cNvPr id="98" name="AutoShape 20">
                <a:extLst>
                  <a:ext uri="{FF2B5EF4-FFF2-40B4-BE49-F238E27FC236}">
                    <a16:creationId xmlns:a16="http://schemas.microsoft.com/office/drawing/2014/main" id="{F85C3D13-A94D-44EB-AA98-720B477B4C5A}"/>
                  </a:ext>
                </a:extLst>
              </p:cNvPr>
              <p:cNvCxnSpPr>
                <a:cxnSpLocks noChangeShapeType="1"/>
                <a:stCxn id="88" idx="3"/>
                <a:endCxn id="97" idx="1"/>
              </p:cNvCxnSpPr>
              <p:nvPr/>
            </p:nvCxnSpPr>
            <p:spPr bwMode="auto">
              <a:xfrm>
                <a:off x="5581651" y="2841268"/>
                <a:ext cx="498475" cy="0"/>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99" name="AutoShape 21">
                <a:extLst>
                  <a:ext uri="{FF2B5EF4-FFF2-40B4-BE49-F238E27FC236}">
                    <a16:creationId xmlns:a16="http://schemas.microsoft.com/office/drawing/2014/main" id="{C0B1F34C-89DE-4FEB-8409-CDF45B99C16E}"/>
                  </a:ext>
                </a:extLst>
              </p:cNvPr>
              <p:cNvCxnSpPr>
                <a:cxnSpLocks noChangeShapeType="1"/>
                <a:stCxn id="97" idx="3"/>
                <a:endCxn id="83" idx="1"/>
              </p:cNvCxnSpPr>
              <p:nvPr/>
            </p:nvCxnSpPr>
            <p:spPr bwMode="auto">
              <a:xfrm>
                <a:off x="7673975" y="2841268"/>
                <a:ext cx="398462" cy="0"/>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100" name="Rectangle 22">
                <a:extLst>
                  <a:ext uri="{FF2B5EF4-FFF2-40B4-BE49-F238E27FC236}">
                    <a16:creationId xmlns:a16="http://schemas.microsoft.com/office/drawing/2014/main" id="{72AAC6FD-F50D-4D63-95B9-884B379440B2}"/>
                  </a:ext>
                </a:extLst>
              </p:cNvPr>
              <p:cNvSpPr>
                <a:spLocks noChangeArrowheads="1"/>
              </p:cNvSpPr>
              <p:nvPr/>
            </p:nvSpPr>
            <p:spPr bwMode="auto">
              <a:xfrm>
                <a:off x="7573962" y="2492018"/>
                <a:ext cx="596900" cy="349250"/>
              </a:xfrm>
              <a:prstGeom prst="rect">
                <a:avLst/>
              </a:prstGeom>
              <a:noFill/>
              <a:ln w="12700" cap="sq">
                <a:noFill/>
                <a:miter lim="800000"/>
                <a:headEnd/>
                <a:tailEnd/>
              </a:ln>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1</a:t>
                </a:r>
              </a:p>
            </p:txBody>
          </p:sp>
          <p:sp>
            <p:nvSpPr>
              <p:cNvPr id="101" name="Rectangle 23">
                <a:extLst>
                  <a:ext uri="{FF2B5EF4-FFF2-40B4-BE49-F238E27FC236}">
                    <a16:creationId xmlns:a16="http://schemas.microsoft.com/office/drawing/2014/main" id="{85AB19C4-F1D1-4CF4-BA8F-0D3F4E4CAB1C}"/>
                  </a:ext>
                </a:extLst>
              </p:cNvPr>
              <p:cNvSpPr>
                <a:spLocks noChangeArrowheads="1"/>
              </p:cNvSpPr>
              <p:nvPr/>
            </p:nvSpPr>
            <p:spPr bwMode="auto">
              <a:xfrm>
                <a:off x="5581651" y="2492018"/>
                <a:ext cx="598487" cy="349250"/>
              </a:xfrm>
              <a:prstGeom prst="rect">
                <a:avLst/>
              </a:prstGeom>
              <a:noFill/>
              <a:ln w="12700" cap="sq">
                <a:noFill/>
                <a:miter lim="800000"/>
                <a:headEnd/>
                <a:tailEnd/>
              </a:ln>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n</a:t>
                </a:r>
              </a:p>
            </p:txBody>
          </p:sp>
        </p:grpSp>
        <p:sp>
          <p:nvSpPr>
            <p:cNvPr id="102" name="Rectangle 7">
              <a:extLst>
                <a:ext uri="{FF2B5EF4-FFF2-40B4-BE49-F238E27FC236}">
                  <a16:creationId xmlns:a16="http://schemas.microsoft.com/office/drawing/2014/main" id="{15D842CF-7BFF-4B52-8FC4-55A82FB41CA1}"/>
                </a:ext>
              </a:extLst>
            </p:cNvPr>
            <p:cNvSpPr>
              <a:spLocks noChangeArrowheads="1"/>
            </p:cNvSpPr>
            <p:nvPr/>
          </p:nvSpPr>
          <p:spPr bwMode="auto">
            <a:xfrm>
              <a:off x="4788024" y="1485553"/>
              <a:ext cx="4028341" cy="1254645"/>
            </a:xfrm>
            <a:prstGeom prst="rect">
              <a:avLst/>
            </a:prstGeom>
            <a:solidFill>
              <a:sysClr val="window" lastClr="FFFFFF"/>
            </a:solidFill>
            <a:ln w="9525" cap="sq">
              <a:solidFill>
                <a:sysClr val="windowText" lastClr="000000"/>
              </a:solidFill>
              <a:prstDash val="dash"/>
              <a:miter lim="800000"/>
              <a:headEnd/>
              <a:tailEnd/>
            </a:ln>
            <a:effectLst>
              <a:outerShdw dist="35921" dir="2700000" algn="ctr" rotWithShape="0">
                <a:srgbClr val="EEECE1"/>
              </a:outerShdw>
            </a:effectLst>
          </p:spPr>
          <p:txBody>
            <a:bodyPr wrap="none" lIns="0" tIns="0" rIns="0" bIns="0" anchor="ctr"/>
            <a:lstStyle/>
            <a:p>
              <a:pPr marL="0" marR="0" lvl="0" indent="0" defTabSz="914400" eaLnBrk="1" fontAlgn="auto" latinLnBrk="0" hangingPunct="1">
                <a:lnSpc>
                  <a:spcPct val="100000"/>
                </a:lnSpc>
                <a:spcBef>
                  <a:spcPts val="0"/>
                </a:spcBef>
                <a:spcAft>
                  <a:spcPct val="0"/>
                </a:spcAft>
                <a:buClrTx/>
                <a:buSzTx/>
                <a:buFontTx/>
                <a:buNone/>
                <a:tabLst/>
                <a:defRPr/>
              </a:pPr>
              <a:endParaRPr kumimoji="0" lang="zh-CN" altLang="en-US" sz="28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103" name="Rectangle 25">
              <a:extLst>
                <a:ext uri="{FF2B5EF4-FFF2-40B4-BE49-F238E27FC236}">
                  <a16:creationId xmlns:a16="http://schemas.microsoft.com/office/drawing/2014/main" id="{824F45A5-2CCF-4BCF-8B69-47BE16E482B7}"/>
                </a:ext>
              </a:extLst>
            </p:cNvPr>
            <p:cNvSpPr>
              <a:spLocks noChangeArrowheads="1"/>
            </p:cNvSpPr>
            <p:nvPr/>
          </p:nvSpPr>
          <p:spPr bwMode="auto">
            <a:xfrm>
              <a:off x="7614730" y="1730390"/>
              <a:ext cx="576459" cy="228300"/>
            </a:xfrm>
            <a:prstGeom prst="rect">
              <a:avLst/>
            </a:prstGeom>
            <a:solidFill>
              <a:sysClr val="window" lastClr="FFFFFF"/>
            </a:solidFill>
            <a:ln w="12700" cap="sq">
              <a:solidFill>
                <a:sysClr val="windowText" lastClr="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班级</a:t>
              </a:r>
            </a:p>
          </p:txBody>
        </p:sp>
        <p:sp>
          <p:nvSpPr>
            <p:cNvPr id="104" name="AutoShape 26">
              <a:extLst>
                <a:ext uri="{FF2B5EF4-FFF2-40B4-BE49-F238E27FC236}">
                  <a16:creationId xmlns:a16="http://schemas.microsoft.com/office/drawing/2014/main" id="{BF85FF9A-8E53-4804-8F99-28B0D25B38D9}"/>
                </a:ext>
              </a:extLst>
            </p:cNvPr>
            <p:cNvSpPr>
              <a:spLocks noChangeArrowheads="1"/>
            </p:cNvSpPr>
            <p:nvPr/>
          </p:nvSpPr>
          <p:spPr bwMode="auto">
            <a:xfrm>
              <a:off x="7326500" y="2210771"/>
              <a:ext cx="571655" cy="261593"/>
            </a:xfrm>
            <a:prstGeom prst="roundRect">
              <a:avLst>
                <a:gd name="adj" fmla="val 50000"/>
              </a:avLst>
            </a:prstGeom>
            <a:solidFill>
              <a:srgbClr val="EEECE1"/>
            </a:solidFill>
            <a:ln w="12700" cap="sq">
              <a:solidFill>
                <a:sysClr val="windowText" lastClr="000000"/>
              </a:solidFill>
              <a:round/>
              <a:headEnd/>
              <a:tailEnd/>
            </a:ln>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sng"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班号</a:t>
              </a:r>
            </a:p>
          </p:txBody>
        </p:sp>
        <p:sp>
          <p:nvSpPr>
            <p:cNvPr id="105" name="AutoShape 27">
              <a:extLst>
                <a:ext uri="{FF2B5EF4-FFF2-40B4-BE49-F238E27FC236}">
                  <a16:creationId xmlns:a16="http://schemas.microsoft.com/office/drawing/2014/main" id="{4D3F7BEE-CFDC-4229-9715-C8CB430D7052}"/>
                </a:ext>
              </a:extLst>
            </p:cNvPr>
            <p:cNvSpPr>
              <a:spLocks noChangeArrowheads="1"/>
            </p:cNvSpPr>
            <p:nvPr/>
          </p:nvSpPr>
          <p:spPr bwMode="auto">
            <a:xfrm>
              <a:off x="8018251" y="2250406"/>
              <a:ext cx="571655" cy="221958"/>
            </a:xfrm>
            <a:prstGeom prst="roundRect">
              <a:avLst>
                <a:gd name="adj" fmla="val 50000"/>
              </a:avLst>
            </a:prstGeom>
            <a:solidFill>
              <a:sysClr val="window" lastClr="FFFFFF"/>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班名</a:t>
              </a:r>
            </a:p>
          </p:txBody>
        </p:sp>
        <p:cxnSp>
          <p:nvCxnSpPr>
            <p:cNvPr id="106" name="AutoShape 28">
              <a:extLst>
                <a:ext uri="{FF2B5EF4-FFF2-40B4-BE49-F238E27FC236}">
                  <a16:creationId xmlns:a16="http://schemas.microsoft.com/office/drawing/2014/main" id="{B534FE3C-9ED3-4F6B-A7F9-96790B2C1648}"/>
                </a:ext>
              </a:extLst>
            </p:cNvPr>
            <p:cNvCxnSpPr>
              <a:cxnSpLocks noChangeShapeType="1"/>
              <a:stCxn id="103" idx="2"/>
              <a:endCxn id="104" idx="0"/>
            </p:cNvCxnSpPr>
            <p:nvPr/>
          </p:nvCxnSpPr>
          <p:spPr bwMode="auto">
            <a:xfrm flipH="1">
              <a:off x="7612328" y="1958690"/>
              <a:ext cx="290631" cy="252081"/>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107" name="AutoShape 29">
              <a:extLst>
                <a:ext uri="{FF2B5EF4-FFF2-40B4-BE49-F238E27FC236}">
                  <a16:creationId xmlns:a16="http://schemas.microsoft.com/office/drawing/2014/main" id="{3E4BA083-D9EF-417E-92A3-8E7BC2308C3E}"/>
                </a:ext>
              </a:extLst>
            </p:cNvPr>
            <p:cNvCxnSpPr>
              <a:cxnSpLocks noChangeShapeType="1"/>
              <a:stCxn id="103" idx="2"/>
              <a:endCxn id="105" idx="0"/>
            </p:cNvCxnSpPr>
            <p:nvPr/>
          </p:nvCxnSpPr>
          <p:spPr bwMode="auto">
            <a:xfrm>
              <a:off x="7902959" y="1958690"/>
              <a:ext cx="401119" cy="291716"/>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108" name="Rectangle 30">
              <a:extLst>
                <a:ext uri="{FF2B5EF4-FFF2-40B4-BE49-F238E27FC236}">
                  <a16:creationId xmlns:a16="http://schemas.microsoft.com/office/drawing/2014/main" id="{2087DAC1-399C-4967-A510-5C3C01614079}"/>
                </a:ext>
              </a:extLst>
            </p:cNvPr>
            <p:cNvSpPr>
              <a:spLocks noChangeArrowheads="1"/>
            </p:cNvSpPr>
            <p:nvPr/>
          </p:nvSpPr>
          <p:spPr bwMode="auto">
            <a:xfrm>
              <a:off x="5698004" y="1730390"/>
              <a:ext cx="576459" cy="228300"/>
            </a:xfrm>
            <a:prstGeom prst="rect">
              <a:avLst/>
            </a:prstGeom>
            <a:solidFill>
              <a:sysClr val="window" lastClr="FFFFFF"/>
            </a:solidFill>
            <a:ln w="12700" cap="sq">
              <a:solidFill>
                <a:sysClr val="windowText" lastClr="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班长</a:t>
              </a:r>
            </a:p>
          </p:txBody>
        </p:sp>
        <p:sp>
          <p:nvSpPr>
            <p:cNvPr id="109" name="AutoShape 31">
              <a:extLst>
                <a:ext uri="{FF2B5EF4-FFF2-40B4-BE49-F238E27FC236}">
                  <a16:creationId xmlns:a16="http://schemas.microsoft.com/office/drawing/2014/main" id="{42C40A45-3B15-42E2-8F27-7620E58831AD}"/>
                </a:ext>
              </a:extLst>
            </p:cNvPr>
            <p:cNvSpPr>
              <a:spLocks noChangeArrowheads="1"/>
            </p:cNvSpPr>
            <p:nvPr/>
          </p:nvSpPr>
          <p:spPr bwMode="auto">
            <a:xfrm>
              <a:off x="5317301" y="2210771"/>
              <a:ext cx="577660" cy="299643"/>
            </a:xfrm>
            <a:prstGeom prst="roundRect">
              <a:avLst>
                <a:gd name="adj" fmla="val 50000"/>
              </a:avLst>
            </a:prstGeom>
            <a:solidFill>
              <a:srgbClr val="EEECE1"/>
            </a:solidFill>
            <a:ln w="12700" cap="sq">
              <a:solidFill>
                <a:sysClr val="windowText" lastClr="000000"/>
              </a:solidFill>
              <a:round/>
              <a:headEnd/>
              <a:tailEnd/>
            </a:ln>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sng"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学号</a:t>
              </a:r>
            </a:p>
          </p:txBody>
        </p:sp>
        <p:sp>
          <p:nvSpPr>
            <p:cNvPr id="110" name="AutoShape 32">
              <a:extLst>
                <a:ext uri="{FF2B5EF4-FFF2-40B4-BE49-F238E27FC236}">
                  <a16:creationId xmlns:a16="http://schemas.microsoft.com/office/drawing/2014/main" id="{16609783-8DC5-42CB-B244-733F626048EC}"/>
                </a:ext>
              </a:extLst>
            </p:cNvPr>
            <p:cNvSpPr>
              <a:spLocks noChangeArrowheads="1"/>
            </p:cNvSpPr>
            <p:nvPr/>
          </p:nvSpPr>
          <p:spPr bwMode="auto">
            <a:xfrm>
              <a:off x="5981430" y="2258333"/>
              <a:ext cx="462368" cy="252081"/>
            </a:xfrm>
            <a:prstGeom prst="roundRect">
              <a:avLst>
                <a:gd name="adj" fmla="val 50000"/>
              </a:avLst>
            </a:prstGeom>
            <a:solidFill>
              <a:sysClr val="window" lastClr="FFFFFF"/>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姓名</a:t>
              </a:r>
            </a:p>
          </p:txBody>
        </p:sp>
        <p:cxnSp>
          <p:nvCxnSpPr>
            <p:cNvPr id="111" name="AutoShape 33">
              <a:extLst>
                <a:ext uri="{FF2B5EF4-FFF2-40B4-BE49-F238E27FC236}">
                  <a16:creationId xmlns:a16="http://schemas.microsoft.com/office/drawing/2014/main" id="{E8D43E06-157F-4654-8D9F-D3090D0828A2}"/>
                </a:ext>
              </a:extLst>
            </p:cNvPr>
            <p:cNvCxnSpPr>
              <a:cxnSpLocks noChangeShapeType="1"/>
              <a:stCxn id="108" idx="2"/>
              <a:endCxn id="109" idx="0"/>
            </p:cNvCxnSpPr>
            <p:nvPr/>
          </p:nvCxnSpPr>
          <p:spPr bwMode="auto">
            <a:xfrm flipH="1">
              <a:off x="5606731" y="1958690"/>
              <a:ext cx="380703" cy="252081"/>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112" name="AutoShape 34">
              <a:extLst>
                <a:ext uri="{FF2B5EF4-FFF2-40B4-BE49-F238E27FC236}">
                  <a16:creationId xmlns:a16="http://schemas.microsoft.com/office/drawing/2014/main" id="{8EE683E1-98EF-4AE1-9A40-3506A1A9813F}"/>
                </a:ext>
              </a:extLst>
            </p:cNvPr>
            <p:cNvCxnSpPr>
              <a:cxnSpLocks noChangeShapeType="1"/>
              <a:stCxn id="108" idx="2"/>
              <a:endCxn id="110" idx="0"/>
            </p:cNvCxnSpPr>
            <p:nvPr/>
          </p:nvCxnSpPr>
          <p:spPr bwMode="auto">
            <a:xfrm>
              <a:off x="5986233" y="1958690"/>
              <a:ext cx="226981" cy="299643"/>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113" name="AutoShape 35">
              <a:extLst>
                <a:ext uri="{FF2B5EF4-FFF2-40B4-BE49-F238E27FC236}">
                  <a16:creationId xmlns:a16="http://schemas.microsoft.com/office/drawing/2014/main" id="{D2E42664-1E13-49B0-B7B8-CAFE64E1968C}"/>
                </a:ext>
              </a:extLst>
            </p:cNvPr>
            <p:cNvSpPr>
              <a:spLocks noChangeArrowheads="1"/>
            </p:cNvSpPr>
            <p:nvPr/>
          </p:nvSpPr>
          <p:spPr bwMode="auto">
            <a:xfrm>
              <a:off x="6461812" y="1616240"/>
              <a:ext cx="922334" cy="456599"/>
            </a:xfrm>
            <a:prstGeom prst="diamond">
              <a:avLst/>
            </a:prstGeom>
            <a:solidFill>
              <a:sysClr val="window" lastClr="FFFFFF"/>
            </a:solidFill>
            <a:ln w="12700" cap="sq">
              <a:solidFill>
                <a:sysClr val="windowText" lastClr="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管理</a:t>
              </a:r>
            </a:p>
          </p:txBody>
        </p:sp>
        <p:cxnSp>
          <p:nvCxnSpPr>
            <p:cNvPr id="114" name="AutoShape 36">
              <a:extLst>
                <a:ext uri="{FF2B5EF4-FFF2-40B4-BE49-F238E27FC236}">
                  <a16:creationId xmlns:a16="http://schemas.microsoft.com/office/drawing/2014/main" id="{43340140-8FEB-47CC-A7A2-268F13966969}"/>
                </a:ext>
              </a:extLst>
            </p:cNvPr>
            <p:cNvCxnSpPr>
              <a:cxnSpLocks noChangeShapeType="1"/>
              <a:stCxn id="108" idx="3"/>
              <a:endCxn id="113" idx="1"/>
            </p:cNvCxnSpPr>
            <p:nvPr/>
          </p:nvCxnSpPr>
          <p:spPr bwMode="auto">
            <a:xfrm>
              <a:off x="6274463" y="1844540"/>
              <a:ext cx="187349" cy="0"/>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115" name="AutoShape 37">
              <a:extLst>
                <a:ext uri="{FF2B5EF4-FFF2-40B4-BE49-F238E27FC236}">
                  <a16:creationId xmlns:a16="http://schemas.microsoft.com/office/drawing/2014/main" id="{BB1EA96D-42AC-49F0-9B25-7DAE74E0A736}"/>
                </a:ext>
              </a:extLst>
            </p:cNvPr>
            <p:cNvCxnSpPr>
              <a:cxnSpLocks noChangeShapeType="1"/>
              <a:stCxn id="113" idx="3"/>
              <a:endCxn id="103" idx="1"/>
            </p:cNvCxnSpPr>
            <p:nvPr/>
          </p:nvCxnSpPr>
          <p:spPr bwMode="auto">
            <a:xfrm>
              <a:off x="7384146" y="1844540"/>
              <a:ext cx="230584" cy="0"/>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116" name="Rectangle 38">
              <a:extLst>
                <a:ext uri="{FF2B5EF4-FFF2-40B4-BE49-F238E27FC236}">
                  <a16:creationId xmlns:a16="http://schemas.microsoft.com/office/drawing/2014/main" id="{B27208C0-77E6-41A3-A533-6896597F702A}"/>
                </a:ext>
              </a:extLst>
            </p:cNvPr>
            <p:cNvSpPr>
              <a:spLocks noChangeArrowheads="1"/>
            </p:cNvSpPr>
            <p:nvPr/>
          </p:nvSpPr>
          <p:spPr bwMode="auto">
            <a:xfrm>
              <a:off x="7326500" y="1616240"/>
              <a:ext cx="348277" cy="228300"/>
            </a:xfrm>
            <a:prstGeom prst="rect">
              <a:avLst/>
            </a:prstGeom>
            <a:noFill/>
            <a:ln w="12700" cap="sq">
              <a:noFill/>
              <a:miter lim="800000"/>
              <a:headEnd/>
              <a:tailEnd/>
            </a:ln>
            <a:effectLst/>
          </p:spPr>
          <p:txBody>
            <a:bodyPr wrap="none" lIns="0" tIns="0" rIns="0" bIns="0" anchor="ctr"/>
            <a:lstStyle/>
            <a:p>
              <a:pPr algn="ctr">
                <a:spcAft>
                  <a:spcPct val="0"/>
                </a:spcAft>
                <a:buSzTx/>
                <a:buFontTx/>
                <a:buNone/>
                <a:defRPr/>
              </a:pPr>
              <a:r>
                <a:rPr kumimoji="0" lang="en-US" altLang="zh-CN" sz="2000">
                  <a:solidFill>
                    <a:prstClr val="black"/>
                  </a:solidFill>
                  <a:effectLst/>
                  <a:latin typeface="Times New Roman" pitchFamily="18" charset="0"/>
                  <a:ea typeface="宋体" panose="02010600030101010101" pitchFamily="2" charset="-122"/>
                </a:rPr>
                <a:t>1</a:t>
              </a:r>
            </a:p>
          </p:txBody>
        </p:sp>
        <p:sp>
          <p:nvSpPr>
            <p:cNvPr id="117" name="Rectangle 39">
              <a:extLst>
                <a:ext uri="{FF2B5EF4-FFF2-40B4-BE49-F238E27FC236}">
                  <a16:creationId xmlns:a16="http://schemas.microsoft.com/office/drawing/2014/main" id="{09F87703-4BFE-4938-BA4C-4C0EF333B15C}"/>
                </a:ext>
              </a:extLst>
            </p:cNvPr>
            <p:cNvSpPr>
              <a:spLocks noChangeArrowheads="1"/>
            </p:cNvSpPr>
            <p:nvPr/>
          </p:nvSpPr>
          <p:spPr bwMode="auto">
            <a:xfrm>
              <a:off x="6202406" y="1616240"/>
              <a:ext cx="345875" cy="228300"/>
            </a:xfrm>
            <a:prstGeom prst="rect">
              <a:avLst/>
            </a:prstGeom>
            <a:noFill/>
            <a:ln w="12700" cap="sq">
              <a:noFill/>
              <a:miter lim="800000"/>
              <a:headEnd/>
              <a:tailEnd/>
            </a:ln>
            <a:effectLst/>
          </p:spPr>
          <p:txBody>
            <a:bodyPr wrap="none" lIns="0" tIns="0" rIns="0" bIns="0" anchor="ctr"/>
            <a:lstStyle/>
            <a:p>
              <a:pPr algn="ctr">
                <a:spcAft>
                  <a:spcPct val="0"/>
                </a:spcAft>
                <a:buSzTx/>
                <a:buFontTx/>
                <a:buNone/>
                <a:defRPr/>
              </a:pPr>
              <a:r>
                <a:rPr kumimoji="0" lang="en-US" altLang="zh-CN" sz="2000" dirty="0">
                  <a:solidFill>
                    <a:prstClr val="black"/>
                  </a:solidFill>
                  <a:effectLst/>
                  <a:latin typeface="Times New Roman" pitchFamily="18" charset="0"/>
                  <a:ea typeface="宋体" panose="02010600030101010101" pitchFamily="2" charset="-122"/>
                </a:rPr>
                <a:t>1</a:t>
              </a:r>
            </a:p>
          </p:txBody>
        </p:sp>
        <p:sp>
          <p:nvSpPr>
            <p:cNvPr id="118" name="Rectangle 8">
              <a:extLst>
                <a:ext uri="{FF2B5EF4-FFF2-40B4-BE49-F238E27FC236}">
                  <a16:creationId xmlns:a16="http://schemas.microsoft.com/office/drawing/2014/main" id="{9F22CBE4-48C2-4B1D-BF9F-88849D6AD061}"/>
                </a:ext>
              </a:extLst>
            </p:cNvPr>
            <p:cNvSpPr>
              <a:spLocks noChangeArrowheads="1"/>
            </p:cNvSpPr>
            <p:nvPr/>
          </p:nvSpPr>
          <p:spPr bwMode="auto">
            <a:xfrm>
              <a:off x="327635" y="1530419"/>
              <a:ext cx="919185" cy="27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lIns="0" tIns="0" rIns="0" bIns="0">
              <a:spAutoFit/>
            </a:bodyPr>
            <a:lstStyle/>
            <a:p>
              <a:pPr algn="ctr">
                <a:spcAft>
                  <a:spcPct val="0"/>
                </a:spcAft>
                <a:buSzTx/>
                <a:buFontTx/>
                <a:buNone/>
              </a:pPr>
              <a:r>
                <a:rPr kumimoji="0" lang="zh-CN" altLang="en-US" sz="2400" b="1" dirty="0">
                  <a:solidFill>
                    <a:srgbClr val="FF0000"/>
                  </a:solidFill>
                  <a:effectLst/>
                  <a:latin typeface="微软雅黑" pitchFamily="34" charset="-122"/>
                  <a:ea typeface="微软雅黑" pitchFamily="34" charset="-122"/>
                </a:rPr>
                <a:t>分图</a:t>
              </a:r>
              <a:r>
                <a:rPr kumimoji="0" lang="en-US" altLang="zh-CN" sz="2400" b="1" dirty="0">
                  <a:solidFill>
                    <a:srgbClr val="FF0000"/>
                  </a:solidFill>
                  <a:effectLst/>
                  <a:latin typeface="微软雅黑" pitchFamily="34" charset="-122"/>
                  <a:ea typeface="微软雅黑" pitchFamily="34" charset="-122"/>
                </a:rPr>
                <a:t>1</a:t>
              </a:r>
              <a:endParaRPr kumimoji="0" lang="zh-CN" altLang="en-US" sz="2400" b="1" dirty="0">
                <a:solidFill>
                  <a:srgbClr val="FF0000"/>
                </a:solidFill>
                <a:effectLst/>
                <a:latin typeface="微软雅黑" pitchFamily="34" charset="-122"/>
                <a:ea typeface="微软雅黑" pitchFamily="34" charset="-122"/>
              </a:endParaRPr>
            </a:p>
          </p:txBody>
        </p:sp>
        <p:sp>
          <p:nvSpPr>
            <p:cNvPr id="119" name="Rectangle 8">
              <a:extLst>
                <a:ext uri="{FF2B5EF4-FFF2-40B4-BE49-F238E27FC236}">
                  <a16:creationId xmlns:a16="http://schemas.microsoft.com/office/drawing/2014/main" id="{B5A0F4BB-DFC1-43BA-93B1-6204AD59B6A7}"/>
                </a:ext>
              </a:extLst>
            </p:cNvPr>
            <p:cNvSpPr>
              <a:spLocks noChangeArrowheads="1"/>
            </p:cNvSpPr>
            <p:nvPr/>
          </p:nvSpPr>
          <p:spPr bwMode="auto">
            <a:xfrm>
              <a:off x="4699000" y="1530419"/>
              <a:ext cx="919185" cy="27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lIns="0" tIns="0" rIns="0" bIns="0">
              <a:spAutoFit/>
            </a:bodyPr>
            <a:lstStyle/>
            <a:p>
              <a:pPr algn="ctr">
                <a:spcAft>
                  <a:spcPct val="0"/>
                </a:spcAft>
                <a:buSzTx/>
                <a:buFontTx/>
                <a:buNone/>
              </a:pPr>
              <a:r>
                <a:rPr kumimoji="0" lang="zh-CN" altLang="en-US" sz="2400" b="1" dirty="0">
                  <a:solidFill>
                    <a:srgbClr val="FF0000"/>
                  </a:solidFill>
                  <a:effectLst/>
                  <a:latin typeface="微软雅黑" pitchFamily="34" charset="-122"/>
                  <a:ea typeface="微软雅黑" pitchFamily="34" charset="-122"/>
                </a:rPr>
                <a:t>分图</a:t>
              </a:r>
              <a:r>
                <a:rPr kumimoji="0" lang="en-US" altLang="zh-CN" sz="2400" b="1" dirty="0">
                  <a:solidFill>
                    <a:srgbClr val="FF0000"/>
                  </a:solidFill>
                  <a:effectLst/>
                  <a:latin typeface="微软雅黑" pitchFamily="34" charset="-122"/>
                  <a:ea typeface="微软雅黑" pitchFamily="34" charset="-122"/>
                </a:rPr>
                <a:t>2</a:t>
              </a:r>
              <a:endParaRPr kumimoji="0" lang="zh-CN" altLang="en-US" sz="2400" b="1" dirty="0">
                <a:solidFill>
                  <a:srgbClr val="FF0000"/>
                </a:solidFill>
                <a:effectLst/>
                <a:latin typeface="微软雅黑" pitchFamily="34" charset="-122"/>
                <a:ea typeface="微软雅黑" pitchFamily="34" charset="-122"/>
              </a:endParaRPr>
            </a:p>
          </p:txBody>
        </p:sp>
        <p:sp>
          <p:nvSpPr>
            <p:cNvPr id="120" name="Rectangle 7">
              <a:extLst>
                <a:ext uri="{FF2B5EF4-FFF2-40B4-BE49-F238E27FC236}">
                  <a16:creationId xmlns:a16="http://schemas.microsoft.com/office/drawing/2014/main" id="{2B64DD0E-1BA5-4A80-9F9A-CD7CE9F37A5D}"/>
                </a:ext>
              </a:extLst>
            </p:cNvPr>
            <p:cNvSpPr>
              <a:spLocks noChangeArrowheads="1"/>
            </p:cNvSpPr>
            <p:nvPr/>
          </p:nvSpPr>
          <p:spPr bwMode="auto">
            <a:xfrm>
              <a:off x="440524" y="3076111"/>
              <a:ext cx="8372745" cy="1295839"/>
            </a:xfrm>
            <a:prstGeom prst="rect">
              <a:avLst/>
            </a:prstGeom>
            <a:solidFill>
              <a:sysClr val="window" lastClr="FFFFFF"/>
            </a:solidFill>
            <a:ln w="9525" cap="sq">
              <a:solidFill>
                <a:sysClr val="windowText" lastClr="000000"/>
              </a:solidFill>
              <a:prstDash val="dash"/>
              <a:miter lim="800000"/>
              <a:headEnd/>
              <a:tailEnd/>
            </a:ln>
            <a:effectLst>
              <a:outerShdw dist="35921" dir="2700000" algn="ctr" rotWithShape="0">
                <a:srgbClr val="EEECE1"/>
              </a:outerShdw>
            </a:effectLst>
          </p:spPr>
          <p:txBody>
            <a:bodyPr wrap="none" lIns="0" tIns="0" rIns="0" bIns="0" anchor="ctr"/>
            <a:lstStyle/>
            <a:p>
              <a:pPr marL="0" marR="0" lvl="0" indent="0" defTabSz="914400" eaLnBrk="1" fontAlgn="auto" latinLnBrk="0" hangingPunct="1">
                <a:lnSpc>
                  <a:spcPct val="100000"/>
                </a:lnSpc>
                <a:spcBef>
                  <a:spcPts val="0"/>
                </a:spcBef>
                <a:spcAft>
                  <a:spcPct val="0"/>
                </a:spcAft>
                <a:buClrTx/>
                <a:buSzTx/>
                <a:buFontTx/>
                <a:buNone/>
                <a:tabLst/>
                <a:defRPr/>
              </a:pPr>
              <a:endParaRPr kumimoji="0" lang="zh-CN" altLang="en-US" sz="28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grpSp>
          <p:nvGrpSpPr>
            <p:cNvPr id="121" name="组合 120">
              <a:extLst>
                <a:ext uri="{FF2B5EF4-FFF2-40B4-BE49-F238E27FC236}">
                  <a16:creationId xmlns:a16="http://schemas.microsoft.com/office/drawing/2014/main" id="{DBD4A8B6-DD13-412E-9379-F01D7139C688}"/>
                </a:ext>
              </a:extLst>
            </p:cNvPr>
            <p:cNvGrpSpPr/>
            <p:nvPr/>
          </p:nvGrpSpPr>
          <p:grpSpPr>
            <a:xfrm>
              <a:off x="1784395" y="3206475"/>
              <a:ext cx="5626066" cy="927266"/>
              <a:chOff x="1548843" y="3306463"/>
              <a:chExt cx="5626066" cy="927266"/>
            </a:xfrm>
          </p:grpSpPr>
          <p:sp>
            <p:nvSpPr>
              <p:cNvPr id="122" name="Rectangle 5">
                <a:extLst>
                  <a:ext uri="{FF2B5EF4-FFF2-40B4-BE49-F238E27FC236}">
                    <a16:creationId xmlns:a16="http://schemas.microsoft.com/office/drawing/2014/main" id="{06C8C216-BC7F-49F1-869B-8BDA62BA9E63}"/>
                  </a:ext>
                </a:extLst>
              </p:cNvPr>
              <p:cNvSpPr>
                <a:spLocks noChangeArrowheads="1"/>
              </p:cNvSpPr>
              <p:nvPr/>
            </p:nvSpPr>
            <p:spPr bwMode="auto">
              <a:xfrm>
                <a:off x="4351713" y="3437751"/>
                <a:ext cx="600615" cy="210742"/>
              </a:xfrm>
              <a:prstGeom prst="rect">
                <a:avLst/>
              </a:prstGeom>
              <a:solidFill>
                <a:sysClr val="window" lastClr="FFFFFF"/>
              </a:solidFill>
              <a:ln w="12700" cap="sq">
                <a:solidFill>
                  <a:sysClr val="windowText" lastClr="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班级</a:t>
                </a:r>
              </a:p>
            </p:txBody>
          </p:sp>
          <p:sp>
            <p:nvSpPr>
              <p:cNvPr id="123" name="AutoShape 6">
                <a:extLst>
                  <a:ext uri="{FF2B5EF4-FFF2-40B4-BE49-F238E27FC236}">
                    <a16:creationId xmlns:a16="http://schemas.microsoft.com/office/drawing/2014/main" id="{F7830734-AF8E-4206-8906-769E2FF68A6D}"/>
                  </a:ext>
                </a:extLst>
              </p:cNvPr>
              <p:cNvSpPr>
                <a:spLocks noChangeArrowheads="1"/>
              </p:cNvSpPr>
              <p:nvPr/>
            </p:nvSpPr>
            <p:spPr bwMode="auto">
              <a:xfrm>
                <a:off x="4098822" y="3936987"/>
                <a:ext cx="595826" cy="261299"/>
              </a:xfrm>
              <a:prstGeom prst="roundRect">
                <a:avLst>
                  <a:gd name="adj" fmla="val 50000"/>
                </a:avLst>
              </a:prstGeom>
              <a:solidFill>
                <a:srgbClr val="EEECE1"/>
              </a:solidFill>
              <a:ln w="12700" cap="sq">
                <a:solidFill>
                  <a:sysClr val="windowText" lastClr="000000"/>
                </a:solidFill>
                <a:round/>
                <a:headEnd/>
                <a:tailEnd/>
              </a:ln>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sng"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班号</a:t>
                </a:r>
              </a:p>
            </p:txBody>
          </p:sp>
          <p:sp>
            <p:nvSpPr>
              <p:cNvPr id="124" name="AutoShape 7">
                <a:extLst>
                  <a:ext uri="{FF2B5EF4-FFF2-40B4-BE49-F238E27FC236}">
                    <a16:creationId xmlns:a16="http://schemas.microsoft.com/office/drawing/2014/main" id="{39D5C65F-7ABE-4CB8-BD6A-36A066EF06E8}"/>
                  </a:ext>
                </a:extLst>
              </p:cNvPr>
              <p:cNvSpPr>
                <a:spLocks noChangeArrowheads="1"/>
              </p:cNvSpPr>
              <p:nvPr/>
            </p:nvSpPr>
            <p:spPr bwMode="auto">
              <a:xfrm>
                <a:off x="4820135" y="3993291"/>
                <a:ext cx="595826" cy="204995"/>
              </a:xfrm>
              <a:prstGeom prst="roundRect">
                <a:avLst>
                  <a:gd name="adj" fmla="val 50000"/>
                </a:avLst>
              </a:prstGeom>
              <a:solidFill>
                <a:sysClr val="window" lastClr="FFFFFF"/>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班名</a:t>
                </a:r>
              </a:p>
            </p:txBody>
          </p:sp>
          <p:cxnSp>
            <p:nvCxnSpPr>
              <p:cNvPr id="125" name="AutoShape 8">
                <a:extLst>
                  <a:ext uri="{FF2B5EF4-FFF2-40B4-BE49-F238E27FC236}">
                    <a16:creationId xmlns:a16="http://schemas.microsoft.com/office/drawing/2014/main" id="{527E85D5-A409-40B7-92A4-E9E55CB14FA5}"/>
                  </a:ext>
                </a:extLst>
              </p:cNvPr>
              <p:cNvCxnSpPr>
                <a:cxnSpLocks noChangeShapeType="1"/>
                <a:stCxn id="122" idx="2"/>
                <a:endCxn id="123" idx="0"/>
              </p:cNvCxnSpPr>
              <p:nvPr/>
            </p:nvCxnSpPr>
            <p:spPr bwMode="auto">
              <a:xfrm flipH="1">
                <a:off x="4396735" y="3648493"/>
                <a:ext cx="255286" cy="288494"/>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126" name="AutoShape 9">
                <a:extLst>
                  <a:ext uri="{FF2B5EF4-FFF2-40B4-BE49-F238E27FC236}">
                    <a16:creationId xmlns:a16="http://schemas.microsoft.com/office/drawing/2014/main" id="{7C85F172-FD01-42F3-9A39-EED7385E0AC0}"/>
                  </a:ext>
                </a:extLst>
              </p:cNvPr>
              <p:cNvCxnSpPr>
                <a:cxnSpLocks noChangeShapeType="1"/>
                <a:stCxn id="122" idx="2"/>
                <a:endCxn id="124" idx="0"/>
              </p:cNvCxnSpPr>
              <p:nvPr/>
            </p:nvCxnSpPr>
            <p:spPr bwMode="auto">
              <a:xfrm>
                <a:off x="4652021" y="3648493"/>
                <a:ext cx="466027" cy="344798"/>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127" name="Rectangle 10">
                <a:extLst>
                  <a:ext uri="{FF2B5EF4-FFF2-40B4-BE49-F238E27FC236}">
                    <a16:creationId xmlns:a16="http://schemas.microsoft.com/office/drawing/2014/main" id="{01EB5369-3C52-4E1A-A04B-DEDF16E07364}"/>
                  </a:ext>
                </a:extLst>
              </p:cNvPr>
              <p:cNvSpPr>
                <a:spLocks noChangeArrowheads="1"/>
              </p:cNvSpPr>
              <p:nvPr/>
            </p:nvSpPr>
            <p:spPr bwMode="auto">
              <a:xfrm>
                <a:off x="2248123" y="3437751"/>
                <a:ext cx="600615" cy="210742"/>
              </a:xfrm>
              <a:prstGeom prst="rect">
                <a:avLst/>
              </a:prstGeom>
              <a:solidFill>
                <a:sysClr val="window" lastClr="FFFFFF"/>
              </a:solidFill>
              <a:ln w="12700" cap="sq">
                <a:solidFill>
                  <a:sysClr val="windowText" lastClr="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学生</a:t>
                </a:r>
              </a:p>
            </p:txBody>
          </p:sp>
          <p:sp>
            <p:nvSpPr>
              <p:cNvPr id="128" name="AutoShape 11">
                <a:extLst>
                  <a:ext uri="{FF2B5EF4-FFF2-40B4-BE49-F238E27FC236}">
                    <a16:creationId xmlns:a16="http://schemas.microsoft.com/office/drawing/2014/main" id="{19AB1CA4-CFA6-46DD-8C84-4B7C879CC03A}"/>
                  </a:ext>
                </a:extLst>
              </p:cNvPr>
              <p:cNvSpPr>
                <a:spLocks noChangeArrowheads="1"/>
              </p:cNvSpPr>
              <p:nvPr/>
            </p:nvSpPr>
            <p:spPr bwMode="auto">
              <a:xfrm>
                <a:off x="1548843" y="3912715"/>
                <a:ext cx="532602" cy="305824"/>
              </a:xfrm>
              <a:prstGeom prst="roundRect">
                <a:avLst>
                  <a:gd name="adj" fmla="val 50000"/>
                </a:avLst>
              </a:prstGeom>
              <a:solidFill>
                <a:srgbClr val="EEECE1"/>
              </a:solidFill>
              <a:ln w="12700" cap="sq">
                <a:solidFill>
                  <a:sysClr val="windowText" lastClr="000000"/>
                </a:solidFill>
                <a:round/>
                <a:headEnd/>
                <a:tailEnd/>
              </a:ln>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sng"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学号</a:t>
                </a:r>
              </a:p>
            </p:txBody>
          </p:sp>
          <p:sp>
            <p:nvSpPr>
              <p:cNvPr id="129" name="AutoShape 12">
                <a:extLst>
                  <a:ext uri="{FF2B5EF4-FFF2-40B4-BE49-F238E27FC236}">
                    <a16:creationId xmlns:a16="http://schemas.microsoft.com/office/drawing/2014/main" id="{85C3DC75-0554-4339-BE94-EB1008D6A92F}"/>
                  </a:ext>
                </a:extLst>
              </p:cNvPr>
              <p:cNvSpPr>
                <a:spLocks noChangeArrowheads="1"/>
              </p:cNvSpPr>
              <p:nvPr/>
            </p:nvSpPr>
            <p:spPr bwMode="auto">
              <a:xfrm>
                <a:off x="2150415" y="4000954"/>
                <a:ext cx="481834" cy="232775"/>
              </a:xfrm>
              <a:prstGeom prst="roundRect">
                <a:avLst>
                  <a:gd name="adj" fmla="val 50000"/>
                </a:avLst>
              </a:prstGeom>
              <a:solidFill>
                <a:sysClr val="window" lastClr="FFFFFF"/>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姓名</a:t>
                </a:r>
              </a:p>
            </p:txBody>
          </p:sp>
          <p:sp>
            <p:nvSpPr>
              <p:cNvPr id="130" name="AutoShape 13">
                <a:extLst>
                  <a:ext uri="{FF2B5EF4-FFF2-40B4-BE49-F238E27FC236}">
                    <a16:creationId xmlns:a16="http://schemas.microsoft.com/office/drawing/2014/main" id="{E920F5D0-6D30-47B3-9C97-09537F52494E}"/>
                  </a:ext>
                </a:extLst>
              </p:cNvPr>
              <p:cNvSpPr>
                <a:spLocks noChangeArrowheads="1"/>
              </p:cNvSpPr>
              <p:nvPr/>
            </p:nvSpPr>
            <p:spPr bwMode="auto">
              <a:xfrm>
                <a:off x="3206042" y="4000954"/>
                <a:ext cx="481834" cy="232775"/>
              </a:xfrm>
              <a:prstGeom prst="roundRect">
                <a:avLst>
                  <a:gd name="adj" fmla="val 50000"/>
                </a:avLst>
              </a:prstGeom>
              <a:solidFill>
                <a:sysClr val="window" lastClr="FFFFFF"/>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性别</a:t>
                </a:r>
              </a:p>
            </p:txBody>
          </p:sp>
          <p:sp>
            <p:nvSpPr>
              <p:cNvPr id="131" name="AutoShape 14">
                <a:extLst>
                  <a:ext uri="{FF2B5EF4-FFF2-40B4-BE49-F238E27FC236}">
                    <a16:creationId xmlns:a16="http://schemas.microsoft.com/office/drawing/2014/main" id="{4E2D9478-7226-4D30-BE25-D5ADEB79BE07}"/>
                  </a:ext>
                </a:extLst>
              </p:cNvPr>
              <p:cNvSpPr>
                <a:spLocks noChangeArrowheads="1"/>
              </p:cNvSpPr>
              <p:nvPr/>
            </p:nvSpPr>
            <p:spPr bwMode="auto">
              <a:xfrm>
                <a:off x="2681101" y="4000954"/>
                <a:ext cx="482791" cy="232775"/>
              </a:xfrm>
              <a:prstGeom prst="roundRect">
                <a:avLst>
                  <a:gd name="adj" fmla="val 50000"/>
                </a:avLst>
              </a:prstGeom>
              <a:solidFill>
                <a:sysClr val="window" lastClr="FFFFFF"/>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生日</a:t>
                </a:r>
              </a:p>
            </p:txBody>
          </p:sp>
          <p:cxnSp>
            <p:nvCxnSpPr>
              <p:cNvPr id="132" name="AutoShape 15">
                <a:extLst>
                  <a:ext uri="{FF2B5EF4-FFF2-40B4-BE49-F238E27FC236}">
                    <a16:creationId xmlns:a16="http://schemas.microsoft.com/office/drawing/2014/main" id="{2305D04A-6F28-4296-B7F8-8309B4FBE900}"/>
                  </a:ext>
                </a:extLst>
              </p:cNvPr>
              <p:cNvCxnSpPr>
                <a:cxnSpLocks noChangeShapeType="1"/>
                <a:stCxn id="127" idx="2"/>
                <a:endCxn id="128" idx="0"/>
              </p:cNvCxnSpPr>
              <p:nvPr/>
            </p:nvCxnSpPr>
            <p:spPr bwMode="auto">
              <a:xfrm flipH="1">
                <a:off x="1815144" y="3648493"/>
                <a:ext cx="733287" cy="264222"/>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133" name="AutoShape 16">
                <a:extLst>
                  <a:ext uri="{FF2B5EF4-FFF2-40B4-BE49-F238E27FC236}">
                    <a16:creationId xmlns:a16="http://schemas.microsoft.com/office/drawing/2014/main" id="{4E18C115-6175-41CB-938C-940D469584B6}"/>
                  </a:ext>
                </a:extLst>
              </p:cNvPr>
              <p:cNvCxnSpPr>
                <a:cxnSpLocks noChangeShapeType="1"/>
                <a:stCxn id="127" idx="2"/>
                <a:endCxn id="129" idx="0"/>
              </p:cNvCxnSpPr>
              <p:nvPr/>
            </p:nvCxnSpPr>
            <p:spPr bwMode="auto">
              <a:xfrm flipH="1">
                <a:off x="2391332" y="3648493"/>
                <a:ext cx="157099" cy="352461"/>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134" name="AutoShape 17">
                <a:extLst>
                  <a:ext uri="{FF2B5EF4-FFF2-40B4-BE49-F238E27FC236}">
                    <a16:creationId xmlns:a16="http://schemas.microsoft.com/office/drawing/2014/main" id="{382F2089-A6C0-4C53-A99D-89BB158FB4D1}"/>
                  </a:ext>
                </a:extLst>
              </p:cNvPr>
              <p:cNvCxnSpPr>
                <a:cxnSpLocks noChangeShapeType="1"/>
                <a:stCxn id="127" idx="2"/>
                <a:endCxn id="131" idx="0"/>
              </p:cNvCxnSpPr>
              <p:nvPr/>
            </p:nvCxnSpPr>
            <p:spPr bwMode="auto">
              <a:xfrm>
                <a:off x="2548431" y="3648493"/>
                <a:ext cx="374066" cy="352461"/>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135" name="AutoShape 18">
                <a:extLst>
                  <a:ext uri="{FF2B5EF4-FFF2-40B4-BE49-F238E27FC236}">
                    <a16:creationId xmlns:a16="http://schemas.microsoft.com/office/drawing/2014/main" id="{4D29B9D8-743E-4B6E-87DB-12A8AC43E3EC}"/>
                  </a:ext>
                </a:extLst>
              </p:cNvPr>
              <p:cNvCxnSpPr>
                <a:cxnSpLocks noChangeShapeType="1"/>
                <a:stCxn id="127" idx="2"/>
                <a:endCxn id="130" idx="0"/>
              </p:cNvCxnSpPr>
              <p:nvPr/>
            </p:nvCxnSpPr>
            <p:spPr bwMode="auto">
              <a:xfrm>
                <a:off x="2548431" y="3648493"/>
                <a:ext cx="898528" cy="352461"/>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136" name="AutoShape 19">
                <a:extLst>
                  <a:ext uri="{FF2B5EF4-FFF2-40B4-BE49-F238E27FC236}">
                    <a16:creationId xmlns:a16="http://schemas.microsoft.com/office/drawing/2014/main" id="{552A121F-4B2B-4316-9A02-8A55B052AA7B}"/>
                  </a:ext>
                </a:extLst>
              </p:cNvPr>
              <p:cNvSpPr>
                <a:spLocks noChangeArrowheads="1"/>
              </p:cNvSpPr>
              <p:nvPr/>
            </p:nvSpPr>
            <p:spPr bwMode="auto">
              <a:xfrm>
                <a:off x="3149524" y="3332380"/>
                <a:ext cx="961751" cy="421484"/>
              </a:xfrm>
              <a:prstGeom prst="diamond">
                <a:avLst/>
              </a:prstGeom>
              <a:solidFill>
                <a:sysClr val="window" lastClr="FFFFFF"/>
              </a:solidFill>
              <a:ln w="12700" cap="sq">
                <a:solidFill>
                  <a:sysClr val="windowText" lastClr="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组成</a:t>
                </a:r>
              </a:p>
            </p:txBody>
          </p:sp>
          <p:cxnSp>
            <p:nvCxnSpPr>
              <p:cNvPr id="137" name="AutoShape 20">
                <a:extLst>
                  <a:ext uri="{FF2B5EF4-FFF2-40B4-BE49-F238E27FC236}">
                    <a16:creationId xmlns:a16="http://schemas.microsoft.com/office/drawing/2014/main" id="{D67AD450-43C9-4164-8DCD-C5A02B875BA5}"/>
                  </a:ext>
                </a:extLst>
              </p:cNvPr>
              <p:cNvCxnSpPr>
                <a:cxnSpLocks noChangeShapeType="1"/>
                <a:stCxn id="127" idx="3"/>
                <a:endCxn id="136" idx="1"/>
              </p:cNvCxnSpPr>
              <p:nvPr/>
            </p:nvCxnSpPr>
            <p:spPr bwMode="auto">
              <a:xfrm>
                <a:off x="2848738" y="3543122"/>
                <a:ext cx="300786" cy="0"/>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138" name="AutoShape 21">
                <a:extLst>
                  <a:ext uri="{FF2B5EF4-FFF2-40B4-BE49-F238E27FC236}">
                    <a16:creationId xmlns:a16="http://schemas.microsoft.com/office/drawing/2014/main" id="{D1BFE92C-965C-4886-9072-9817B3832A79}"/>
                  </a:ext>
                </a:extLst>
              </p:cNvPr>
              <p:cNvCxnSpPr>
                <a:cxnSpLocks noChangeShapeType="1"/>
                <a:stCxn id="136" idx="3"/>
                <a:endCxn id="122" idx="1"/>
              </p:cNvCxnSpPr>
              <p:nvPr/>
            </p:nvCxnSpPr>
            <p:spPr bwMode="auto">
              <a:xfrm>
                <a:off x="4111275" y="3543122"/>
                <a:ext cx="240438" cy="0"/>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139" name="Rectangle 22">
                <a:extLst>
                  <a:ext uri="{FF2B5EF4-FFF2-40B4-BE49-F238E27FC236}">
                    <a16:creationId xmlns:a16="http://schemas.microsoft.com/office/drawing/2014/main" id="{263E3F48-65D4-44ED-8520-71801C594FD0}"/>
                  </a:ext>
                </a:extLst>
              </p:cNvPr>
              <p:cNvSpPr>
                <a:spLocks noChangeArrowheads="1"/>
              </p:cNvSpPr>
              <p:nvPr/>
            </p:nvSpPr>
            <p:spPr bwMode="auto">
              <a:xfrm>
                <a:off x="4050926" y="3306463"/>
                <a:ext cx="360178" cy="210742"/>
              </a:xfrm>
              <a:prstGeom prst="rect">
                <a:avLst/>
              </a:prstGeom>
              <a:noFill/>
              <a:ln w="12700" cap="sq">
                <a:noFill/>
                <a:miter lim="800000"/>
                <a:headEnd/>
                <a:tailEnd/>
              </a:ln>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1</a:t>
                </a:r>
              </a:p>
            </p:txBody>
          </p:sp>
          <p:sp>
            <p:nvSpPr>
              <p:cNvPr id="140" name="Rectangle 23">
                <a:extLst>
                  <a:ext uri="{FF2B5EF4-FFF2-40B4-BE49-F238E27FC236}">
                    <a16:creationId xmlns:a16="http://schemas.microsoft.com/office/drawing/2014/main" id="{3013F5A9-EAA7-4A89-91AE-8BEA774FF0BD}"/>
                  </a:ext>
                </a:extLst>
              </p:cNvPr>
              <p:cNvSpPr>
                <a:spLocks noChangeArrowheads="1"/>
              </p:cNvSpPr>
              <p:nvPr/>
            </p:nvSpPr>
            <p:spPr bwMode="auto">
              <a:xfrm>
                <a:off x="2848738" y="3306463"/>
                <a:ext cx="361135" cy="210742"/>
              </a:xfrm>
              <a:prstGeom prst="rect">
                <a:avLst/>
              </a:prstGeom>
              <a:noFill/>
              <a:ln w="12700" cap="sq">
                <a:noFill/>
                <a:miter lim="800000"/>
                <a:headEnd/>
                <a:tailEnd/>
              </a:ln>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n</a:t>
                </a:r>
              </a:p>
            </p:txBody>
          </p:sp>
          <p:sp>
            <p:nvSpPr>
              <p:cNvPr id="141" name="Rectangle 30">
                <a:extLst>
                  <a:ext uri="{FF2B5EF4-FFF2-40B4-BE49-F238E27FC236}">
                    <a16:creationId xmlns:a16="http://schemas.microsoft.com/office/drawing/2014/main" id="{A6FA0AFA-F97D-4A29-A818-77A3F4B9895D}"/>
                  </a:ext>
                </a:extLst>
              </p:cNvPr>
              <p:cNvSpPr>
                <a:spLocks noChangeArrowheads="1"/>
              </p:cNvSpPr>
              <p:nvPr/>
            </p:nvSpPr>
            <p:spPr bwMode="auto">
              <a:xfrm>
                <a:off x="6429115" y="3428972"/>
                <a:ext cx="576459" cy="228300"/>
              </a:xfrm>
              <a:prstGeom prst="rect">
                <a:avLst/>
              </a:prstGeom>
              <a:solidFill>
                <a:sysClr val="window" lastClr="FFFFFF"/>
              </a:solidFill>
              <a:ln w="12700" cap="sq">
                <a:solidFill>
                  <a:sysClr val="windowText" lastClr="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班长</a:t>
                </a:r>
              </a:p>
            </p:txBody>
          </p:sp>
          <p:sp>
            <p:nvSpPr>
              <p:cNvPr id="142" name="AutoShape 31">
                <a:extLst>
                  <a:ext uri="{FF2B5EF4-FFF2-40B4-BE49-F238E27FC236}">
                    <a16:creationId xmlns:a16="http://schemas.microsoft.com/office/drawing/2014/main" id="{52099C40-F68B-4EBF-A043-381D8169B72C}"/>
                  </a:ext>
                </a:extLst>
              </p:cNvPr>
              <p:cNvSpPr>
                <a:spLocks noChangeArrowheads="1"/>
              </p:cNvSpPr>
              <p:nvPr/>
            </p:nvSpPr>
            <p:spPr bwMode="auto">
              <a:xfrm>
                <a:off x="6048412" y="3892215"/>
                <a:ext cx="577660" cy="299643"/>
              </a:xfrm>
              <a:prstGeom prst="roundRect">
                <a:avLst>
                  <a:gd name="adj" fmla="val 50000"/>
                </a:avLst>
              </a:prstGeom>
              <a:solidFill>
                <a:srgbClr val="EEECE1"/>
              </a:solidFill>
              <a:ln w="12700" cap="sq">
                <a:solidFill>
                  <a:sysClr val="windowText" lastClr="000000"/>
                </a:solidFill>
                <a:round/>
                <a:headEnd/>
                <a:tailEnd/>
              </a:ln>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sng"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学号</a:t>
                </a:r>
              </a:p>
            </p:txBody>
          </p:sp>
          <p:sp>
            <p:nvSpPr>
              <p:cNvPr id="143" name="AutoShape 32">
                <a:extLst>
                  <a:ext uri="{FF2B5EF4-FFF2-40B4-BE49-F238E27FC236}">
                    <a16:creationId xmlns:a16="http://schemas.microsoft.com/office/drawing/2014/main" id="{9A4C2328-F507-4EA1-82F4-8013FFE9D5FF}"/>
                  </a:ext>
                </a:extLst>
              </p:cNvPr>
              <p:cNvSpPr>
                <a:spLocks noChangeArrowheads="1"/>
              </p:cNvSpPr>
              <p:nvPr/>
            </p:nvSpPr>
            <p:spPr bwMode="auto">
              <a:xfrm>
                <a:off x="6712541" y="3939777"/>
                <a:ext cx="462368" cy="252081"/>
              </a:xfrm>
              <a:prstGeom prst="roundRect">
                <a:avLst>
                  <a:gd name="adj" fmla="val 50000"/>
                </a:avLst>
              </a:prstGeom>
              <a:solidFill>
                <a:sysClr val="window" lastClr="FFFFFF"/>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姓名</a:t>
                </a:r>
              </a:p>
            </p:txBody>
          </p:sp>
          <p:cxnSp>
            <p:nvCxnSpPr>
              <p:cNvPr id="144" name="AutoShape 33">
                <a:extLst>
                  <a:ext uri="{FF2B5EF4-FFF2-40B4-BE49-F238E27FC236}">
                    <a16:creationId xmlns:a16="http://schemas.microsoft.com/office/drawing/2014/main" id="{DB27FDCD-468E-4F82-B66F-08E99647ABE3}"/>
                  </a:ext>
                </a:extLst>
              </p:cNvPr>
              <p:cNvCxnSpPr>
                <a:cxnSpLocks noChangeShapeType="1"/>
                <a:stCxn id="141" idx="2"/>
                <a:endCxn id="142" idx="0"/>
              </p:cNvCxnSpPr>
              <p:nvPr/>
            </p:nvCxnSpPr>
            <p:spPr bwMode="auto">
              <a:xfrm flipH="1">
                <a:off x="6337242" y="3657272"/>
                <a:ext cx="380103" cy="234943"/>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145" name="AutoShape 35">
                <a:extLst>
                  <a:ext uri="{FF2B5EF4-FFF2-40B4-BE49-F238E27FC236}">
                    <a16:creationId xmlns:a16="http://schemas.microsoft.com/office/drawing/2014/main" id="{40587651-26E7-448F-B677-79ECA34B6673}"/>
                  </a:ext>
                </a:extLst>
              </p:cNvPr>
              <p:cNvSpPr>
                <a:spLocks noChangeArrowheads="1"/>
              </p:cNvSpPr>
              <p:nvPr/>
            </p:nvSpPr>
            <p:spPr bwMode="auto">
              <a:xfrm>
                <a:off x="5211485" y="3314823"/>
                <a:ext cx="922334" cy="456599"/>
              </a:xfrm>
              <a:prstGeom prst="diamond">
                <a:avLst/>
              </a:prstGeom>
              <a:solidFill>
                <a:sysClr val="window" lastClr="FFFFFF"/>
              </a:solidFill>
              <a:ln w="12700" cap="sq">
                <a:solidFill>
                  <a:sysClr val="windowText" lastClr="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管理</a:t>
                </a:r>
              </a:p>
            </p:txBody>
          </p:sp>
          <p:cxnSp>
            <p:nvCxnSpPr>
              <p:cNvPr id="146" name="AutoShape 37">
                <a:extLst>
                  <a:ext uri="{FF2B5EF4-FFF2-40B4-BE49-F238E27FC236}">
                    <a16:creationId xmlns:a16="http://schemas.microsoft.com/office/drawing/2014/main" id="{D5C90B99-A956-4677-9C66-38DFA0FB2267}"/>
                  </a:ext>
                </a:extLst>
              </p:cNvPr>
              <p:cNvCxnSpPr>
                <a:cxnSpLocks noChangeShapeType="1"/>
                <a:stCxn id="145" idx="3"/>
              </p:cNvCxnSpPr>
              <p:nvPr/>
            </p:nvCxnSpPr>
            <p:spPr bwMode="auto">
              <a:xfrm>
                <a:off x="6133819" y="3543123"/>
                <a:ext cx="277147" cy="8359"/>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147" name="Rectangle 38">
                <a:extLst>
                  <a:ext uri="{FF2B5EF4-FFF2-40B4-BE49-F238E27FC236}">
                    <a16:creationId xmlns:a16="http://schemas.microsoft.com/office/drawing/2014/main" id="{67CC9A6C-1F7B-4BD9-AB07-16D9336570B4}"/>
                  </a:ext>
                </a:extLst>
              </p:cNvPr>
              <p:cNvSpPr>
                <a:spLocks noChangeArrowheads="1"/>
              </p:cNvSpPr>
              <p:nvPr/>
            </p:nvSpPr>
            <p:spPr bwMode="auto">
              <a:xfrm>
                <a:off x="6131307" y="3322928"/>
                <a:ext cx="348277" cy="228300"/>
              </a:xfrm>
              <a:prstGeom prst="rect">
                <a:avLst/>
              </a:prstGeom>
              <a:noFill/>
              <a:ln w="12700" cap="sq">
                <a:noFill/>
                <a:miter lim="800000"/>
                <a:headEnd/>
                <a:tailEnd/>
              </a:ln>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1</a:t>
                </a:r>
              </a:p>
            </p:txBody>
          </p:sp>
          <p:cxnSp>
            <p:nvCxnSpPr>
              <p:cNvPr id="148" name="AutoShape 36">
                <a:extLst>
                  <a:ext uri="{FF2B5EF4-FFF2-40B4-BE49-F238E27FC236}">
                    <a16:creationId xmlns:a16="http://schemas.microsoft.com/office/drawing/2014/main" id="{9420C12A-BCED-4B7F-BE82-EC6FC4AD725E}"/>
                  </a:ext>
                </a:extLst>
              </p:cNvPr>
              <p:cNvCxnSpPr>
                <a:cxnSpLocks noChangeShapeType="1"/>
                <a:stCxn id="122" idx="3"/>
                <a:endCxn id="145" idx="1"/>
              </p:cNvCxnSpPr>
              <p:nvPr/>
            </p:nvCxnSpPr>
            <p:spPr bwMode="auto">
              <a:xfrm>
                <a:off x="4952328" y="3543122"/>
                <a:ext cx="259157" cy="1"/>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149" name="Rectangle 39">
                <a:extLst>
                  <a:ext uri="{FF2B5EF4-FFF2-40B4-BE49-F238E27FC236}">
                    <a16:creationId xmlns:a16="http://schemas.microsoft.com/office/drawing/2014/main" id="{7426D644-10D7-4A98-90DF-89DE5FABA0ED}"/>
                  </a:ext>
                </a:extLst>
              </p:cNvPr>
              <p:cNvSpPr>
                <a:spLocks noChangeArrowheads="1"/>
              </p:cNvSpPr>
              <p:nvPr/>
            </p:nvSpPr>
            <p:spPr bwMode="auto">
              <a:xfrm>
                <a:off x="4923453" y="3332380"/>
                <a:ext cx="345875" cy="228300"/>
              </a:xfrm>
              <a:prstGeom prst="rect">
                <a:avLst/>
              </a:prstGeom>
              <a:noFill/>
              <a:ln w="12700" cap="sq">
                <a:noFill/>
                <a:miter lim="800000"/>
                <a:headEnd/>
                <a:tailEnd/>
              </a:ln>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1</a:t>
                </a:r>
              </a:p>
            </p:txBody>
          </p:sp>
          <p:cxnSp>
            <p:nvCxnSpPr>
              <p:cNvPr id="150" name="AutoShape 29">
                <a:extLst>
                  <a:ext uri="{FF2B5EF4-FFF2-40B4-BE49-F238E27FC236}">
                    <a16:creationId xmlns:a16="http://schemas.microsoft.com/office/drawing/2014/main" id="{AC37A6CB-3C17-4EB2-9290-84CC39F4A813}"/>
                  </a:ext>
                </a:extLst>
              </p:cNvPr>
              <p:cNvCxnSpPr>
                <a:cxnSpLocks noChangeShapeType="1"/>
                <a:stCxn id="141" idx="2"/>
                <a:endCxn id="143" idx="0"/>
              </p:cNvCxnSpPr>
              <p:nvPr/>
            </p:nvCxnSpPr>
            <p:spPr bwMode="auto">
              <a:xfrm>
                <a:off x="6717345" y="3657272"/>
                <a:ext cx="226380" cy="282505"/>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grpSp>
        <p:sp>
          <p:nvSpPr>
            <p:cNvPr id="151" name="Rectangle 8">
              <a:extLst>
                <a:ext uri="{FF2B5EF4-FFF2-40B4-BE49-F238E27FC236}">
                  <a16:creationId xmlns:a16="http://schemas.microsoft.com/office/drawing/2014/main" id="{854A4EF9-3D3F-43B3-B69C-85DDFA2D6323}"/>
                </a:ext>
              </a:extLst>
            </p:cNvPr>
            <p:cNvSpPr>
              <a:spLocks noChangeArrowheads="1"/>
            </p:cNvSpPr>
            <p:nvPr/>
          </p:nvSpPr>
          <p:spPr bwMode="auto">
            <a:xfrm>
              <a:off x="366748" y="3105599"/>
              <a:ext cx="1338184" cy="27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lIns="0" tIns="0" rIns="0" bIns="0">
              <a:spAutoFit/>
            </a:bodyPr>
            <a:lstStyle/>
            <a:p>
              <a:pPr algn="ctr">
                <a:spcAft>
                  <a:spcPct val="0"/>
                </a:spcAft>
                <a:buSzTx/>
                <a:buFontTx/>
                <a:buNone/>
              </a:pPr>
              <a:r>
                <a:rPr kumimoji="0" lang="zh-CN" altLang="en-US" sz="2400" b="1" dirty="0">
                  <a:solidFill>
                    <a:srgbClr val="FF0000"/>
                  </a:solidFill>
                  <a:effectLst/>
                  <a:latin typeface="微软雅黑" pitchFamily="34" charset="-122"/>
                  <a:ea typeface="微软雅黑" pitchFamily="34" charset="-122"/>
                </a:rPr>
                <a:t>简单合并后</a:t>
              </a:r>
            </a:p>
          </p:txBody>
        </p:sp>
      </p:grpSp>
    </p:spTree>
    <p:extLst>
      <p:ext uri="{BB962C8B-B14F-4D97-AF65-F5344CB8AC3E}">
        <p14:creationId xmlns:p14="http://schemas.microsoft.com/office/powerpoint/2010/main" val="771100408"/>
      </p:ext>
    </p:extLst>
  </p:cSld>
  <p:clrMapOvr>
    <a:masterClrMapping/>
  </p:clrMapOvr>
  <p:transition spd="med">
    <p:random/>
    <p:sndAc>
      <p:stSnd>
        <p:snd r:embed="rId2" name="arrow.wav"/>
      </p:stSnd>
    </p:sndAc>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Box 2">
            <a:extLst>
              <a:ext uri="{FF2B5EF4-FFF2-40B4-BE49-F238E27FC236}">
                <a16:creationId xmlns:a16="http://schemas.microsoft.com/office/drawing/2014/main" id="{497D6F86-4142-4F9A-8A91-AC44BB7E6750}"/>
              </a:ext>
            </a:extLst>
          </p:cNvPr>
          <p:cNvSpPr txBox="1">
            <a:spLocks noChangeArrowheads="1"/>
          </p:cNvSpPr>
          <p:nvPr/>
        </p:nvSpPr>
        <p:spPr bwMode="auto">
          <a:xfrm>
            <a:off x="752900" y="30060"/>
            <a:ext cx="4762055"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defPPr>
              <a:defRPr lang="en-US"/>
            </a:defPPr>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a:t>概念结构设计的流程</a:t>
            </a:r>
          </a:p>
        </p:txBody>
      </p:sp>
      <p:sp>
        <p:nvSpPr>
          <p:cNvPr id="70" name="Rectangle 3">
            <a:extLst>
              <a:ext uri="{FF2B5EF4-FFF2-40B4-BE49-F238E27FC236}">
                <a16:creationId xmlns:a16="http://schemas.microsoft.com/office/drawing/2014/main" id="{14B78225-D64A-4DAC-B4E5-30B47AB8EB7E}"/>
              </a:ext>
            </a:extLst>
          </p:cNvPr>
          <p:cNvSpPr>
            <a:spLocks noGrp="1" noChangeArrowheads="1"/>
          </p:cNvSpPr>
          <p:nvPr>
            <p:ph type="title"/>
          </p:nvPr>
        </p:nvSpPr>
        <p:spPr>
          <a:xfrm>
            <a:off x="751272" y="906427"/>
            <a:ext cx="8964612" cy="584775"/>
          </a:xfrm>
        </p:spPr>
        <p:txBody>
          <a:bodyPr wrap="square"/>
          <a:lstStyle/>
          <a:p>
            <a:pPr eaLnBrk="1" hangingPunct="1">
              <a:buFont typeface="Wingdings" pitchFamily="2" charset="2"/>
              <a:buNone/>
            </a:pPr>
            <a:r>
              <a:rPr lang="zh-CN" altLang="en-US" dirty="0"/>
              <a:t>分</a:t>
            </a:r>
            <a:r>
              <a:rPr lang="en-US" altLang="zh-CN" dirty="0"/>
              <a:t>E-R</a:t>
            </a:r>
            <a:r>
              <a:rPr lang="zh-CN" altLang="en-US" dirty="0"/>
              <a:t>图之间的冲突</a:t>
            </a:r>
            <a:endParaRPr lang="en-US" altLang="zh-CN" dirty="0"/>
          </a:p>
        </p:txBody>
      </p:sp>
      <p:sp>
        <p:nvSpPr>
          <p:cNvPr id="4" name="Text Box 4">
            <a:extLst>
              <a:ext uri="{FF2B5EF4-FFF2-40B4-BE49-F238E27FC236}">
                <a16:creationId xmlns:a16="http://schemas.microsoft.com/office/drawing/2014/main" id="{FB510C9F-2AFC-44E3-98AB-4C54BFD94BE6}"/>
              </a:ext>
            </a:extLst>
          </p:cNvPr>
          <p:cNvSpPr txBox="1">
            <a:spLocks noChangeArrowheads="1"/>
          </p:cNvSpPr>
          <p:nvPr/>
        </p:nvSpPr>
        <p:spPr bwMode="auto">
          <a:xfrm>
            <a:off x="751272" y="1606610"/>
            <a:ext cx="838200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marL="377825" indent="-377825" eaLnBrk="0" hangingPunct="0">
              <a:defRPr kumimoji="1" sz="3200">
                <a:solidFill>
                  <a:schemeClr val="tx1"/>
                </a:solidFill>
                <a:latin typeface="楷体_GB2312" pitchFamily="49" charset="-122"/>
                <a:ea typeface="楷体_GB2312" pitchFamily="49" charset="-122"/>
              </a:defRPr>
            </a:lvl1pPr>
            <a:lvl2pPr marL="742950" indent="-285750" eaLnBrk="0" hangingPunct="0">
              <a:defRPr kumimoji="1" sz="3200">
                <a:solidFill>
                  <a:schemeClr val="tx1"/>
                </a:solidFill>
                <a:latin typeface="楷体_GB2312" pitchFamily="49" charset="-122"/>
                <a:ea typeface="楷体_GB2312" pitchFamily="49" charset="-122"/>
              </a:defRPr>
            </a:lvl2pPr>
            <a:lvl3pPr marL="1143000" indent="-228600" eaLnBrk="0" hangingPunct="0">
              <a:defRPr kumimoji="1" sz="3200">
                <a:solidFill>
                  <a:schemeClr val="tx1"/>
                </a:solidFill>
                <a:latin typeface="楷体_GB2312" pitchFamily="49" charset="-122"/>
                <a:ea typeface="楷体_GB2312" pitchFamily="49" charset="-122"/>
              </a:defRPr>
            </a:lvl3pPr>
            <a:lvl4pPr marL="1600200" indent="-228600" eaLnBrk="0" hangingPunct="0">
              <a:defRPr kumimoji="1" sz="3200">
                <a:solidFill>
                  <a:schemeClr val="tx1"/>
                </a:solidFill>
                <a:latin typeface="楷体_GB2312" pitchFamily="49" charset="-122"/>
                <a:ea typeface="楷体_GB2312" pitchFamily="49" charset="-122"/>
              </a:defRPr>
            </a:lvl4pPr>
            <a:lvl5pPr marL="2057400" indent="-228600" eaLnBrk="0" hangingPunct="0">
              <a:defRPr kumimoji="1" sz="32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3200">
                <a:solidFill>
                  <a:schemeClr val="tx1"/>
                </a:solidFill>
                <a:latin typeface="楷体_GB2312" pitchFamily="49" charset="-122"/>
                <a:ea typeface="楷体_GB2312" pitchFamily="49" charset="-122"/>
              </a:defRPr>
            </a:lvl9pPr>
          </a:lstStyle>
          <a:p>
            <a:pPr eaLnBrk="1" hangingPunct="1">
              <a:spcBef>
                <a:spcPct val="50000"/>
              </a:spcBef>
              <a:spcAft>
                <a:spcPct val="0"/>
              </a:spcAft>
            </a:pPr>
            <a:r>
              <a:rPr lang="zh-CN" altLang="en-US" dirty="0">
                <a:solidFill>
                  <a:srgbClr val="FFFF00"/>
                </a:solidFill>
                <a:effectLst/>
                <a:latin typeface="微软雅黑" pitchFamily="34" charset="-122"/>
                <a:ea typeface="微软雅黑" pitchFamily="34" charset="-122"/>
              </a:rPr>
              <a:t>③ 结构冲突</a:t>
            </a:r>
          </a:p>
        </p:txBody>
      </p:sp>
      <p:grpSp>
        <p:nvGrpSpPr>
          <p:cNvPr id="5" name="组合 4">
            <a:extLst>
              <a:ext uri="{FF2B5EF4-FFF2-40B4-BE49-F238E27FC236}">
                <a16:creationId xmlns:a16="http://schemas.microsoft.com/office/drawing/2014/main" id="{22DD547B-246D-42E1-8CD0-31147215405C}"/>
              </a:ext>
            </a:extLst>
          </p:cNvPr>
          <p:cNvGrpSpPr/>
          <p:nvPr/>
        </p:nvGrpSpPr>
        <p:grpSpPr>
          <a:xfrm>
            <a:off x="263352" y="2564904"/>
            <a:ext cx="11435658" cy="3888432"/>
            <a:chOff x="327635" y="1485553"/>
            <a:chExt cx="8488730" cy="2886397"/>
          </a:xfrm>
        </p:grpSpPr>
        <p:sp>
          <p:nvSpPr>
            <p:cNvPr id="6" name="Rectangle 7">
              <a:extLst>
                <a:ext uri="{FF2B5EF4-FFF2-40B4-BE49-F238E27FC236}">
                  <a16:creationId xmlns:a16="http://schemas.microsoft.com/office/drawing/2014/main" id="{9EB585AB-B665-4F6D-A672-D8A936E4FB64}"/>
                </a:ext>
              </a:extLst>
            </p:cNvPr>
            <p:cNvSpPr>
              <a:spLocks noChangeArrowheads="1"/>
            </p:cNvSpPr>
            <p:nvPr/>
          </p:nvSpPr>
          <p:spPr bwMode="auto">
            <a:xfrm>
              <a:off x="440524" y="1485553"/>
              <a:ext cx="4147578" cy="1254645"/>
            </a:xfrm>
            <a:prstGeom prst="rect">
              <a:avLst/>
            </a:prstGeom>
            <a:solidFill>
              <a:sysClr val="window" lastClr="FFFFFF"/>
            </a:solidFill>
            <a:ln w="9525" cap="sq">
              <a:solidFill>
                <a:sysClr val="windowText" lastClr="000000"/>
              </a:solidFill>
              <a:prstDash val="dash"/>
              <a:miter lim="800000"/>
              <a:headEnd/>
              <a:tailEnd/>
            </a:ln>
            <a:effectLst>
              <a:outerShdw dist="35921" dir="2700000" algn="ctr" rotWithShape="0">
                <a:srgbClr val="EEECE1"/>
              </a:outerShdw>
            </a:effectLst>
          </p:spPr>
          <p:txBody>
            <a:bodyPr wrap="none" lIns="0" tIns="0" rIns="0" bIns="0" anchor="ctr"/>
            <a:lstStyle/>
            <a:p>
              <a:pPr marL="0" marR="0" lvl="0" indent="0" defTabSz="914400" eaLnBrk="1" fontAlgn="auto" latinLnBrk="0" hangingPunct="1">
                <a:lnSpc>
                  <a:spcPct val="100000"/>
                </a:lnSpc>
                <a:spcBef>
                  <a:spcPts val="0"/>
                </a:spcBef>
                <a:spcAft>
                  <a:spcPct val="0"/>
                </a:spcAft>
                <a:buClrTx/>
                <a:buSzTx/>
                <a:buFontTx/>
                <a:buNone/>
                <a:tabLst/>
                <a:defRPr/>
              </a:pPr>
              <a:endParaRPr kumimoji="0" lang="zh-CN" altLang="en-US" sz="28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grpSp>
          <p:nvGrpSpPr>
            <p:cNvPr id="7" name="组合 6">
              <a:extLst>
                <a:ext uri="{FF2B5EF4-FFF2-40B4-BE49-F238E27FC236}">
                  <a16:creationId xmlns:a16="http://schemas.microsoft.com/office/drawing/2014/main" id="{FE5B36D5-6BF1-41B3-AE02-3C3F2D74BAF0}"/>
                </a:ext>
              </a:extLst>
            </p:cNvPr>
            <p:cNvGrpSpPr/>
            <p:nvPr/>
          </p:nvGrpSpPr>
          <p:grpSpPr>
            <a:xfrm>
              <a:off x="590924" y="1613127"/>
              <a:ext cx="3867118" cy="927266"/>
              <a:chOff x="3427415" y="2492018"/>
              <a:chExt cx="6408736" cy="1536701"/>
            </a:xfrm>
          </p:grpSpPr>
          <p:sp>
            <p:nvSpPr>
              <p:cNvPr id="50" name="Rectangle 5">
                <a:extLst>
                  <a:ext uri="{FF2B5EF4-FFF2-40B4-BE49-F238E27FC236}">
                    <a16:creationId xmlns:a16="http://schemas.microsoft.com/office/drawing/2014/main" id="{2D120548-229A-4EBA-B0ED-3F02095C149E}"/>
                  </a:ext>
                </a:extLst>
              </p:cNvPr>
              <p:cNvSpPr>
                <a:spLocks noChangeArrowheads="1"/>
              </p:cNvSpPr>
              <p:nvPr/>
            </p:nvSpPr>
            <p:spPr bwMode="auto">
              <a:xfrm>
                <a:off x="8072438" y="2666643"/>
                <a:ext cx="995363" cy="349250"/>
              </a:xfrm>
              <a:prstGeom prst="rect">
                <a:avLst/>
              </a:prstGeom>
              <a:solidFill>
                <a:sysClr val="window" lastClr="FFFFFF"/>
              </a:solidFill>
              <a:ln w="12700" cap="sq">
                <a:solidFill>
                  <a:sysClr val="windowText" lastClr="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班级</a:t>
                </a:r>
              </a:p>
            </p:txBody>
          </p:sp>
          <p:sp>
            <p:nvSpPr>
              <p:cNvPr id="51" name="AutoShape 6">
                <a:extLst>
                  <a:ext uri="{FF2B5EF4-FFF2-40B4-BE49-F238E27FC236}">
                    <a16:creationId xmlns:a16="http://schemas.microsoft.com/office/drawing/2014/main" id="{B25D7C6E-1888-4537-984D-CD679175430F}"/>
                  </a:ext>
                </a:extLst>
              </p:cNvPr>
              <p:cNvSpPr>
                <a:spLocks noChangeArrowheads="1"/>
              </p:cNvSpPr>
              <p:nvPr/>
            </p:nvSpPr>
            <p:spPr bwMode="auto">
              <a:xfrm>
                <a:off x="7653338" y="3536947"/>
                <a:ext cx="987426" cy="433035"/>
              </a:xfrm>
              <a:prstGeom prst="roundRect">
                <a:avLst>
                  <a:gd name="adj" fmla="val 50000"/>
                </a:avLst>
              </a:prstGeom>
              <a:solidFill>
                <a:srgbClr val="EEECE1"/>
              </a:solidFill>
              <a:ln w="12700" cap="sq">
                <a:solidFill>
                  <a:sysClr val="windowText" lastClr="000000"/>
                </a:solidFill>
                <a:round/>
                <a:headEnd/>
                <a:tailEnd/>
              </a:ln>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sng"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班号</a:t>
                </a:r>
              </a:p>
            </p:txBody>
          </p:sp>
          <p:sp>
            <p:nvSpPr>
              <p:cNvPr id="52" name="AutoShape 7">
                <a:extLst>
                  <a:ext uri="{FF2B5EF4-FFF2-40B4-BE49-F238E27FC236}">
                    <a16:creationId xmlns:a16="http://schemas.microsoft.com/office/drawing/2014/main" id="{F3BE80DF-AD75-4CAC-9E00-062405794439}"/>
                  </a:ext>
                </a:extLst>
              </p:cNvPr>
              <p:cNvSpPr>
                <a:spLocks noChangeArrowheads="1"/>
              </p:cNvSpPr>
              <p:nvPr/>
            </p:nvSpPr>
            <p:spPr bwMode="auto">
              <a:xfrm>
                <a:off x="8848726" y="3630256"/>
                <a:ext cx="987425" cy="339725"/>
              </a:xfrm>
              <a:prstGeom prst="roundRect">
                <a:avLst>
                  <a:gd name="adj" fmla="val 50000"/>
                </a:avLst>
              </a:prstGeom>
              <a:solidFill>
                <a:sysClr val="window" lastClr="FFFFFF"/>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班名</a:t>
                </a:r>
              </a:p>
            </p:txBody>
          </p:sp>
          <p:cxnSp>
            <p:nvCxnSpPr>
              <p:cNvPr id="53" name="AutoShape 8">
                <a:extLst>
                  <a:ext uri="{FF2B5EF4-FFF2-40B4-BE49-F238E27FC236}">
                    <a16:creationId xmlns:a16="http://schemas.microsoft.com/office/drawing/2014/main" id="{DDB48A7F-BD2B-4512-9431-12C034D98384}"/>
                  </a:ext>
                </a:extLst>
              </p:cNvPr>
              <p:cNvCxnSpPr>
                <a:cxnSpLocks noChangeShapeType="1"/>
                <a:stCxn id="50" idx="2"/>
                <a:endCxn id="51" idx="0"/>
              </p:cNvCxnSpPr>
              <p:nvPr/>
            </p:nvCxnSpPr>
            <p:spPr bwMode="auto">
              <a:xfrm flipH="1">
                <a:off x="8147051" y="3015893"/>
                <a:ext cx="423070" cy="521054"/>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54" name="AutoShape 9">
                <a:extLst>
                  <a:ext uri="{FF2B5EF4-FFF2-40B4-BE49-F238E27FC236}">
                    <a16:creationId xmlns:a16="http://schemas.microsoft.com/office/drawing/2014/main" id="{F082F997-B041-43C8-98CE-E6869032C2C7}"/>
                  </a:ext>
                </a:extLst>
              </p:cNvPr>
              <p:cNvCxnSpPr>
                <a:cxnSpLocks noChangeShapeType="1"/>
                <a:stCxn id="50" idx="2"/>
                <a:endCxn id="52" idx="0"/>
              </p:cNvCxnSpPr>
              <p:nvPr/>
            </p:nvCxnSpPr>
            <p:spPr bwMode="auto">
              <a:xfrm>
                <a:off x="8570913" y="3015893"/>
                <a:ext cx="771525" cy="614362"/>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55" name="Rectangle 10">
                <a:extLst>
                  <a:ext uri="{FF2B5EF4-FFF2-40B4-BE49-F238E27FC236}">
                    <a16:creationId xmlns:a16="http://schemas.microsoft.com/office/drawing/2014/main" id="{AC8E0154-649F-4D02-AD7E-EA3B1126CC31}"/>
                  </a:ext>
                </a:extLst>
              </p:cNvPr>
              <p:cNvSpPr>
                <a:spLocks noChangeArrowheads="1"/>
              </p:cNvSpPr>
              <p:nvPr/>
            </p:nvSpPr>
            <p:spPr bwMode="auto">
              <a:xfrm>
                <a:off x="4586288" y="2666643"/>
                <a:ext cx="995363" cy="349250"/>
              </a:xfrm>
              <a:prstGeom prst="rect">
                <a:avLst/>
              </a:prstGeom>
              <a:solidFill>
                <a:sysClr val="window" lastClr="FFFFFF"/>
              </a:solidFill>
              <a:ln w="12700" cap="sq">
                <a:solidFill>
                  <a:sysClr val="windowText" lastClr="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学生</a:t>
                </a:r>
              </a:p>
            </p:txBody>
          </p:sp>
          <p:sp>
            <p:nvSpPr>
              <p:cNvPr id="56" name="AutoShape 11">
                <a:extLst>
                  <a:ext uri="{FF2B5EF4-FFF2-40B4-BE49-F238E27FC236}">
                    <a16:creationId xmlns:a16="http://schemas.microsoft.com/office/drawing/2014/main" id="{8CCAEBD2-71AB-4C6B-AF18-7166667861BC}"/>
                  </a:ext>
                </a:extLst>
              </p:cNvPr>
              <p:cNvSpPr>
                <a:spLocks noChangeArrowheads="1"/>
              </p:cNvSpPr>
              <p:nvPr/>
            </p:nvSpPr>
            <p:spPr bwMode="auto">
              <a:xfrm>
                <a:off x="3427415" y="3496722"/>
                <a:ext cx="882648" cy="506823"/>
              </a:xfrm>
              <a:prstGeom prst="roundRect">
                <a:avLst>
                  <a:gd name="adj" fmla="val 50000"/>
                </a:avLst>
              </a:prstGeom>
              <a:solidFill>
                <a:srgbClr val="EEECE1"/>
              </a:solidFill>
              <a:ln w="12700" cap="sq">
                <a:solidFill>
                  <a:sysClr val="windowText" lastClr="000000"/>
                </a:solidFill>
                <a:round/>
                <a:headEnd/>
                <a:tailEnd/>
              </a:ln>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sng"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学号</a:t>
                </a:r>
              </a:p>
            </p:txBody>
          </p:sp>
          <p:sp>
            <p:nvSpPr>
              <p:cNvPr id="57" name="AutoShape 12">
                <a:extLst>
                  <a:ext uri="{FF2B5EF4-FFF2-40B4-BE49-F238E27FC236}">
                    <a16:creationId xmlns:a16="http://schemas.microsoft.com/office/drawing/2014/main" id="{10E70C3A-2920-4756-B67D-CD9669B49050}"/>
                  </a:ext>
                </a:extLst>
              </p:cNvPr>
              <p:cNvSpPr>
                <a:spLocks noChangeArrowheads="1"/>
              </p:cNvSpPr>
              <p:nvPr/>
            </p:nvSpPr>
            <p:spPr bwMode="auto">
              <a:xfrm>
                <a:off x="4424363" y="3642956"/>
                <a:ext cx="798513" cy="385763"/>
              </a:xfrm>
              <a:prstGeom prst="roundRect">
                <a:avLst>
                  <a:gd name="adj" fmla="val 50000"/>
                </a:avLst>
              </a:prstGeom>
              <a:solidFill>
                <a:sysClr val="window" lastClr="FFFFFF"/>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姓名</a:t>
                </a:r>
              </a:p>
            </p:txBody>
          </p:sp>
          <p:sp>
            <p:nvSpPr>
              <p:cNvPr id="58" name="AutoShape 13">
                <a:extLst>
                  <a:ext uri="{FF2B5EF4-FFF2-40B4-BE49-F238E27FC236}">
                    <a16:creationId xmlns:a16="http://schemas.microsoft.com/office/drawing/2014/main" id="{19247515-3E85-41B0-B05B-23719420C5F2}"/>
                  </a:ext>
                </a:extLst>
              </p:cNvPr>
              <p:cNvSpPr>
                <a:spLocks noChangeArrowheads="1"/>
              </p:cNvSpPr>
              <p:nvPr/>
            </p:nvSpPr>
            <p:spPr bwMode="auto">
              <a:xfrm>
                <a:off x="6173788" y="3642956"/>
                <a:ext cx="798513" cy="385763"/>
              </a:xfrm>
              <a:prstGeom prst="roundRect">
                <a:avLst>
                  <a:gd name="adj" fmla="val 50000"/>
                </a:avLst>
              </a:prstGeom>
              <a:solidFill>
                <a:sysClr val="window" lastClr="FFFFFF"/>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性别</a:t>
                </a:r>
              </a:p>
            </p:txBody>
          </p:sp>
          <p:sp>
            <p:nvSpPr>
              <p:cNvPr id="59" name="AutoShape 14">
                <a:extLst>
                  <a:ext uri="{FF2B5EF4-FFF2-40B4-BE49-F238E27FC236}">
                    <a16:creationId xmlns:a16="http://schemas.microsoft.com/office/drawing/2014/main" id="{ADCDBECC-DE14-4DFC-81D0-FDE2C06747EB}"/>
                  </a:ext>
                </a:extLst>
              </p:cNvPr>
              <p:cNvSpPr>
                <a:spLocks noChangeArrowheads="1"/>
              </p:cNvSpPr>
              <p:nvPr/>
            </p:nvSpPr>
            <p:spPr bwMode="auto">
              <a:xfrm>
                <a:off x="5303837" y="3642956"/>
                <a:ext cx="800100" cy="385763"/>
              </a:xfrm>
              <a:prstGeom prst="roundRect">
                <a:avLst>
                  <a:gd name="adj" fmla="val 50000"/>
                </a:avLst>
              </a:prstGeom>
              <a:solidFill>
                <a:sysClr val="window" lastClr="FFFFFF"/>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生日</a:t>
                </a:r>
              </a:p>
            </p:txBody>
          </p:sp>
          <p:cxnSp>
            <p:nvCxnSpPr>
              <p:cNvPr id="60" name="AutoShape 15">
                <a:extLst>
                  <a:ext uri="{FF2B5EF4-FFF2-40B4-BE49-F238E27FC236}">
                    <a16:creationId xmlns:a16="http://schemas.microsoft.com/office/drawing/2014/main" id="{4CEE9217-1424-4A47-9B0B-5412035A0C37}"/>
                  </a:ext>
                </a:extLst>
              </p:cNvPr>
              <p:cNvCxnSpPr>
                <a:cxnSpLocks noChangeShapeType="1"/>
                <a:stCxn id="55" idx="2"/>
                <a:endCxn id="56" idx="0"/>
              </p:cNvCxnSpPr>
              <p:nvPr/>
            </p:nvCxnSpPr>
            <p:spPr bwMode="auto">
              <a:xfrm flipH="1">
                <a:off x="3868739" y="3015893"/>
                <a:ext cx="1215231" cy="480830"/>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61" name="AutoShape 16">
                <a:extLst>
                  <a:ext uri="{FF2B5EF4-FFF2-40B4-BE49-F238E27FC236}">
                    <a16:creationId xmlns:a16="http://schemas.microsoft.com/office/drawing/2014/main" id="{C54935A5-4A80-40E7-8DF9-2EEC5931A686}"/>
                  </a:ext>
                </a:extLst>
              </p:cNvPr>
              <p:cNvCxnSpPr>
                <a:cxnSpLocks noChangeShapeType="1"/>
                <a:stCxn id="55" idx="2"/>
                <a:endCxn id="57" idx="0"/>
              </p:cNvCxnSpPr>
              <p:nvPr/>
            </p:nvCxnSpPr>
            <p:spPr bwMode="auto">
              <a:xfrm flipH="1">
                <a:off x="4824412" y="3015893"/>
                <a:ext cx="260350" cy="627062"/>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62" name="AutoShape 17">
                <a:extLst>
                  <a:ext uri="{FF2B5EF4-FFF2-40B4-BE49-F238E27FC236}">
                    <a16:creationId xmlns:a16="http://schemas.microsoft.com/office/drawing/2014/main" id="{068000D9-9149-4FD7-AC2F-A9FB022D52A3}"/>
                  </a:ext>
                </a:extLst>
              </p:cNvPr>
              <p:cNvCxnSpPr>
                <a:cxnSpLocks noChangeShapeType="1"/>
                <a:stCxn id="55" idx="2"/>
                <a:endCxn id="59" idx="0"/>
              </p:cNvCxnSpPr>
              <p:nvPr/>
            </p:nvCxnSpPr>
            <p:spPr bwMode="auto">
              <a:xfrm>
                <a:off x="5084763" y="3015893"/>
                <a:ext cx="619125" cy="627062"/>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63" name="AutoShape 18">
                <a:extLst>
                  <a:ext uri="{FF2B5EF4-FFF2-40B4-BE49-F238E27FC236}">
                    <a16:creationId xmlns:a16="http://schemas.microsoft.com/office/drawing/2014/main" id="{287F0568-D8E0-4CAB-B3F1-61C99181C629}"/>
                  </a:ext>
                </a:extLst>
              </p:cNvPr>
              <p:cNvCxnSpPr>
                <a:cxnSpLocks noChangeShapeType="1"/>
                <a:stCxn id="55" idx="2"/>
                <a:endCxn id="58" idx="0"/>
              </p:cNvCxnSpPr>
              <p:nvPr/>
            </p:nvCxnSpPr>
            <p:spPr bwMode="auto">
              <a:xfrm>
                <a:off x="5084763" y="3015893"/>
                <a:ext cx="1489075" cy="627062"/>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64" name="AutoShape 19">
                <a:extLst>
                  <a:ext uri="{FF2B5EF4-FFF2-40B4-BE49-F238E27FC236}">
                    <a16:creationId xmlns:a16="http://schemas.microsoft.com/office/drawing/2014/main" id="{A6594A49-53F0-4254-82A7-D1DF472A25CA}"/>
                  </a:ext>
                </a:extLst>
              </p:cNvPr>
              <p:cNvSpPr>
                <a:spLocks noChangeArrowheads="1"/>
              </p:cNvSpPr>
              <p:nvPr/>
            </p:nvSpPr>
            <p:spPr bwMode="auto">
              <a:xfrm>
                <a:off x="6080125" y="2492018"/>
                <a:ext cx="1593850" cy="698500"/>
              </a:xfrm>
              <a:prstGeom prst="diamond">
                <a:avLst/>
              </a:prstGeom>
              <a:solidFill>
                <a:sysClr val="window" lastClr="FFFFFF"/>
              </a:solidFill>
              <a:ln w="12700" cap="sq">
                <a:solidFill>
                  <a:sysClr val="windowText" lastClr="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组成</a:t>
                </a:r>
              </a:p>
            </p:txBody>
          </p:sp>
          <p:cxnSp>
            <p:nvCxnSpPr>
              <p:cNvPr id="65" name="AutoShape 20">
                <a:extLst>
                  <a:ext uri="{FF2B5EF4-FFF2-40B4-BE49-F238E27FC236}">
                    <a16:creationId xmlns:a16="http://schemas.microsoft.com/office/drawing/2014/main" id="{8FDB7252-D50A-4C15-836A-0E5696365D41}"/>
                  </a:ext>
                </a:extLst>
              </p:cNvPr>
              <p:cNvCxnSpPr>
                <a:cxnSpLocks noChangeShapeType="1"/>
                <a:stCxn id="55" idx="3"/>
                <a:endCxn id="64" idx="1"/>
              </p:cNvCxnSpPr>
              <p:nvPr/>
            </p:nvCxnSpPr>
            <p:spPr bwMode="auto">
              <a:xfrm>
                <a:off x="5581651" y="2841268"/>
                <a:ext cx="498475" cy="0"/>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66" name="AutoShape 21">
                <a:extLst>
                  <a:ext uri="{FF2B5EF4-FFF2-40B4-BE49-F238E27FC236}">
                    <a16:creationId xmlns:a16="http://schemas.microsoft.com/office/drawing/2014/main" id="{A010F08B-91E5-4832-B240-110F75016A54}"/>
                  </a:ext>
                </a:extLst>
              </p:cNvPr>
              <p:cNvCxnSpPr>
                <a:cxnSpLocks noChangeShapeType="1"/>
                <a:stCxn id="64" idx="3"/>
                <a:endCxn id="50" idx="1"/>
              </p:cNvCxnSpPr>
              <p:nvPr/>
            </p:nvCxnSpPr>
            <p:spPr bwMode="auto">
              <a:xfrm>
                <a:off x="7673975" y="2841268"/>
                <a:ext cx="398462" cy="0"/>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67" name="Rectangle 22">
                <a:extLst>
                  <a:ext uri="{FF2B5EF4-FFF2-40B4-BE49-F238E27FC236}">
                    <a16:creationId xmlns:a16="http://schemas.microsoft.com/office/drawing/2014/main" id="{DD6F0D7D-61AE-4108-9524-0A7AACCD99D8}"/>
                  </a:ext>
                </a:extLst>
              </p:cNvPr>
              <p:cNvSpPr>
                <a:spLocks noChangeArrowheads="1"/>
              </p:cNvSpPr>
              <p:nvPr/>
            </p:nvSpPr>
            <p:spPr bwMode="auto">
              <a:xfrm>
                <a:off x="7573962" y="2492018"/>
                <a:ext cx="596900" cy="349250"/>
              </a:xfrm>
              <a:prstGeom prst="rect">
                <a:avLst/>
              </a:prstGeom>
              <a:noFill/>
              <a:ln w="12700" cap="sq">
                <a:noFill/>
                <a:miter lim="800000"/>
                <a:headEnd/>
                <a:tailEnd/>
              </a:ln>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1</a:t>
                </a:r>
              </a:p>
            </p:txBody>
          </p:sp>
          <p:sp>
            <p:nvSpPr>
              <p:cNvPr id="68" name="Rectangle 23">
                <a:extLst>
                  <a:ext uri="{FF2B5EF4-FFF2-40B4-BE49-F238E27FC236}">
                    <a16:creationId xmlns:a16="http://schemas.microsoft.com/office/drawing/2014/main" id="{A2B86CB3-7B31-40CE-BF01-A8823879DB06}"/>
                  </a:ext>
                </a:extLst>
              </p:cNvPr>
              <p:cNvSpPr>
                <a:spLocks noChangeArrowheads="1"/>
              </p:cNvSpPr>
              <p:nvPr/>
            </p:nvSpPr>
            <p:spPr bwMode="auto">
              <a:xfrm>
                <a:off x="5581651" y="2492018"/>
                <a:ext cx="598487" cy="349250"/>
              </a:xfrm>
              <a:prstGeom prst="rect">
                <a:avLst/>
              </a:prstGeom>
              <a:noFill/>
              <a:ln w="12700" cap="sq">
                <a:noFill/>
                <a:miter lim="800000"/>
                <a:headEnd/>
                <a:tailEnd/>
              </a:ln>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n</a:t>
                </a:r>
              </a:p>
            </p:txBody>
          </p:sp>
        </p:grpSp>
        <p:sp>
          <p:nvSpPr>
            <p:cNvPr id="8" name="Rectangle 7">
              <a:extLst>
                <a:ext uri="{FF2B5EF4-FFF2-40B4-BE49-F238E27FC236}">
                  <a16:creationId xmlns:a16="http://schemas.microsoft.com/office/drawing/2014/main" id="{8BC983CC-3C92-47FB-90C4-51245077BA33}"/>
                </a:ext>
              </a:extLst>
            </p:cNvPr>
            <p:cNvSpPr>
              <a:spLocks noChangeArrowheads="1"/>
            </p:cNvSpPr>
            <p:nvPr/>
          </p:nvSpPr>
          <p:spPr bwMode="auto">
            <a:xfrm>
              <a:off x="4788024" y="1485553"/>
              <a:ext cx="4028341" cy="1254645"/>
            </a:xfrm>
            <a:prstGeom prst="rect">
              <a:avLst/>
            </a:prstGeom>
            <a:solidFill>
              <a:sysClr val="window" lastClr="FFFFFF"/>
            </a:solidFill>
            <a:ln w="9525" cap="sq">
              <a:solidFill>
                <a:sysClr val="windowText" lastClr="000000"/>
              </a:solidFill>
              <a:prstDash val="dash"/>
              <a:miter lim="800000"/>
              <a:headEnd/>
              <a:tailEnd/>
            </a:ln>
            <a:effectLst>
              <a:outerShdw dist="35921" dir="2700000" algn="ctr" rotWithShape="0">
                <a:srgbClr val="EEECE1"/>
              </a:outerShdw>
            </a:effectLst>
          </p:spPr>
          <p:txBody>
            <a:bodyPr wrap="none" lIns="0" tIns="0" rIns="0" bIns="0" anchor="ctr"/>
            <a:lstStyle/>
            <a:p>
              <a:pPr marL="0" marR="0" lvl="0" indent="0" defTabSz="914400" eaLnBrk="1" fontAlgn="auto" latinLnBrk="0" hangingPunct="1">
                <a:lnSpc>
                  <a:spcPct val="100000"/>
                </a:lnSpc>
                <a:spcBef>
                  <a:spcPts val="0"/>
                </a:spcBef>
                <a:spcAft>
                  <a:spcPct val="0"/>
                </a:spcAft>
                <a:buClrTx/>
                <a:buSzTx/>
                <a:buFontTx/>
                <a:buNone/>
                <a:tabLst/>
                <a:defRPr/>
              </a:pPr>
              <a:endParaRPr kumimoji="0" lang="zh-CN" altLang="en-US" sz="28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9" name="Rectangle 25">
              <a:extLst>
                <a:ext uri="{FF2B5EF4-FFF2-40B4-BE49-F238E27FC236}">
                  <a16:creationId xmlns:a16="http://schemas.microsoft.com/office/drawing/2014/main" id="{27086362-0163-4DD8-BEC8-A7BE0E321640}"/>
                </a:ext>
              </a:extLst>
            </p:cNvPr>
            <p:cNvSpPr>
              <a:spLocks noChangeArrowheads="1"/>
            </p:cNvSpPr>
            <p:nvPr/>
          </p:nvSpPr>
          <p:spPr bwMode="auto">
            <a:xfrm>
              <a:off x="7614730" y="1730390"/>
              <a:ext cx="576459" cy="228300"/>
            </a:xfrm>
            <a:prstGeom prst="rect">
              <a:avLst/>
            </a:prstGeom>
            <a:solidFill>
              <a:sysClr val="window" lastClr="FFFFFF"/>
            </a:solidFill>
            <a:ln w="12700" cap="sq">
              <a:solidFill>
                <a:sysClr val="windowText" lastClr="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班级</a:t>
              </a:r>
            </a:p>
          </p:txBody>
        </p:sp>
        <p:sp>
          <p:nvSpPr>
            <p:cNvPr id="10" name="AutoShape 26">
              <a:extLst>
                <a:ext uri="{FF2B5EF4-FFF2-40B4-BE49-F238E27FC236}">
                  <a16:creationId xmlns:a16="http://schemas.microsoft.com/office/drawing/2014/main" id="{8430010A-38DC-49CB-BA05-DE5579688627}"/>
                </a:ext>
              </a:extLst>
            </p:cNvPr>
            <p:cNvSpPr>
              <a:spLocks noChangeArrowheads="1"/>
            </p:cNvSpPr>
            <p:nvPr/>
          </p:nvSpPr>
          <p:spPr bwMode="auto">
            <a:xfrm>
              <a:off x="7326500" y="2210771"/>
              <a:ext cx="571655" cy="261593"/>
            </a:xfrm>
            <a:prstGeom prst="roundRect">
              <a:avLst>
                <a:gd name="adj" fmla="val 50000"/>
              </a:avLst>
            </a:prstGeom>
            <a:solidFill>
              <a:srgbClr val="EEECE1"/>
            </a:solidFill>
            <a:ln w="12700" cap="sq">
              <a:solidFill>
                <a:sysClr val="windowText" lastClr="000000"/>
              </a:solidFill>
              <a:round/>
              <a:headEnd/>
              <a:tailEnd/>
            </a:ln>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sng"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班号</a:t>
              </a:r>
            </a:p>
          </p:txBody>
        </p:sp>
        <p:sp>
          <p:nvSpPr>
            <p:cNvPr id="11" name="AutoShape 27">
              <a:extLst>
                <a:ext uri="{FF2B5EF4-FFF2-40B4-BE49-F238E27FC236}">
                  <a16:creationId xmlns:a16="http://schemas.microsoft.com/office/drawing/2014/main" id="{2834422C-1538-454C-B1C2-64E53C194563}"/>
                </a:ext>
              </a:extLst>
            </p:cNvPr>
            <p:cNvSpPr>
              <a:spLocks noChangeArrowheads="1"/>
            </p:cNvSpPr>
            <p:nvPr/>
          </p:nvSpPr>
          <p:spPr bwMode="auto">
            <a:xfrm>
              <a:off x="8018251" y="2250406"/>
              <a:ext cx="571655" cy="221958"/>
            </a:xfrm>
            <a:prstGeom prst="roundRect">
              <a:avLst>
                <a:gd name="adj" fmla="val 50000"/>
              </a:avLst>
            </a:prstGeom>
            <a:solidFill>
              <a:sysClr val="window" lastClr="FFFFFF"/>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班名</a:t>
              </a:r>
            </a:p>
          </p:txBody>
        </p:sp>
        <p:cxnSp>
          <p:nvCxnSpPr>
            <p:cNvPr id="12" name="AutoShape 28">
              <a:extLst>
                <a:ext uri="{FF2B5EF4-FFF2-40B4-BE49-F238E27FC236}">
                  <a16:creationId xmlns:a16="http://schemas.microsoft.com/office/drawing/2014/main" id="{91F54162-E295-42C2-8876-5FA5E3A69AD0}"/>
                </a:ext>
              </a:extLst>
            </p:cNvPr>
            <p:cNvCxnSpPr>
              <a:cxnSpLocks noChangeShapeType="1"/>
              <a:stCxn id="9" idx="2"/>
              <a:endCxn id="10" idx="0"/>
            </p:cNvCxnSpPr>
            <p:nvPr/>
          </p:nvCxnSpPr>
          <p:spPr bwMode="auto">
            <a:xfrm flipH="1">
              <a:off x="7612328" y="1958690"/>
              <a:ext cx="290631" cy="252081"/>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13" name="AutoShape 29">
              <a:extLst>
                <a:ext uri="{FF2B5EF4-FFF2-40B4-BE49-F238E27FC236}">
                  <a16:creationId xmlns:a16="http://schemas.microsoft.com/office/drawing/2014/main" id="{A0DD568C-DDCB-4438-BC43-DF555E05E034}"/>
                </a:ext>
              </a:extLst>
            </p:cNvPr>
            <p:cNvCxnSpPr>
              <a:cxnSpLocks noChangeShapeType="1"/>
              <a:stCxn id="9" idx="2"/>
              <a:endCxn id="11" idx="0"/>
            </p:cNvCxnSpPr>
            <p:nvPr/>
          </p:nvCxnSpPr>
          <p:spPr bwMode="auto">
            <a:xfrm>
              <a:off x="7902959" y="1958690"/>
              <a:ext cx="401119" cy="291716"/>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14" name="Rectangle 30">
              <a:extLst>
                <a:ext uri="{FF2B5EF4-FFF2-40B4-BE49-F238E27FC236}">
                  <a16:creationId xmlns:a16="http://schemas.microsoft.com/office/drawing/2014/main" id="{7C48945B-FBB4-4BC1-B700-ADE4CDE5CAFF}"/>
                </a:ext>
              </a:extLst>
            </p:cNvPr>
            <p:cNvSpPr>
              <a:spLocks noChangeArrowheads="1"/>
            </p:cNvSpPr>
            <p:nvPr/>
          </p:nvSpPr>
          <p:spPr bwMode="auto">
            <a:xfrm>
              <a:off x="5698004" y="1730390"/>
              <a:ext cx="576459" cy="228300"/>
            </a:xfrm>
            <a:prstGeom prst="rect">
              <a:avLst/>
            </a:prstGeom>
            <a:solidFill>
              <a:sysClr val="window" lastClr="FFFFFF"/>
            </a:solidFill>
            <a:ln w="12700" cap="sq">
              <a:solidFill>
                <a:sysClr val="windowText" lastClr="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班长</a:t>
              </a:r>
            </a:p>
          </p:txBody>
        </p:sp>
        <p:sp>
          <p:nvSpPr>
            <p:cNvPr id="15" name="AutoShape 31">
              <a:extLst>
                <a:ext uri="{FF2B5EF4-FFF2-40B4-BE49-F238E27FC236}">
                  <a16:creationId xmlns:a16="http://schemas.microsoft.com/office/drawing/2014/main" id="{E3446083-DCD1-4773-807E-385FCD42259A}"/>
                </a:ext>
              </a:extLst>
            </p:cNvPr>
            <p:cNvSpPr>
              <a:spLocks noChangeArrowheads="1"/>
            </p:cNvSpPr>
            <p:nvPr/>
          </p:nvSpPr>
          <p:spPr bwMode="auto">
            <a:xfrm>
              <a:off x="5317301" y="2210771"/>
              <a:ext cx="577660" cy="299643"/>
            </a:xfrm>
            <a:prstGeom prst="roundRect">
              <a:avLst>
                <a:gd name="adj" fmla="val 50000"/>
              </a:avLst>
            </a:prstGeom>
            <a:solidFill>
              <a:srgbClr val="EEECE1"/>
            </a:solidFill>
            <a:ln w="12700" cap="sq">
              <a:solidFill>
                <a:sysClr val="windowText" lastClr="000000"/>
              </a:solidFill>
              <a:round/>
              <a:headEnd/>
              <a:tailEnd/>
            </a:ln>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sng"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学号</a:t>
              </a:r>
            </a:p>
          </p:txBody>
        </p:sp>
        <p:sp>
          <p:nvSpPr>
            <p:cNvPr id="16" name="AutoShape 32">
              <a:extLst>
                <a:ext uri="{FF2B5EF4-FFF2-40B4-BE49-F238E27FC236}">
                  <a16:creationId xmlns:a16="http://schemas.microsoft.com/office/drawing/2014/main" id="{BBD8A79E-BC67-4AFF-A580-EE5F6328BE56}"/>
                </a:ext>
              </a:extLst>
            </p:cNvPr>
            <p:cNvSpPr>
              <a:spLocks noChangeArrowheads="1"/>
            </p:cNvSpPr>
            <p:nvPr/>
          </p:nvSpPr>
          <p:spPr bwMode="auto">
            <a:xfrm>
              <a:off x="5981430" y="2258333"/>
              <a:ext cx="462368" cy="252081"/>
            </a:xfrm>
            <a:prstGeom prst="roundRect">
              <a:avLst>
                <a:gd name="adj" fmla="val 50000"/>
              </a:avLst>
            </a:prstGeom>
            <a:solidFill>
              <a:sysClr val="window" lastClr="FFFFFF"/>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姓名</a:t>
              </a:r>
            </a:p>
          </p:txBody>
        </p:sp>
        <p:cxnSp>
          <p:nvCxnSpPr>
            <p:cNvPr id="17" name="AutoShape 33">
              <a:extLst>
                <a:ext uri="{FF2B5EF4-FFF2-40B4-BE49-F238E27FC236}">
                  <a16:creationId xmlns:a16="http://schemas.microsoft.com/office/drawing/2014/main" id="{22F3CCBD-D052-4601-B18E-8B3D351288C9}"/>
                </a:ext>
              </a:extLst>
            </p:cNvPr>
            <p:cNvCxnSpPr>
              <a:cxnSpLocks noChangeShapeType="1"/>
              <a:stCxn id="14" idx="2"/>
              <a:endCxn id="15" idx="0"/>
            </p:cNvCxnSpPr>
            <p:nvPr/>
          </p:nvCxnSpPr>
          <p:spPr bwMode="auto">
            <a:xfrm flipH="1">
              <a:off x="5606731" y="1958690"/>
              <a:ext cx="380703" cy="252081"/>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19" name="AutoShape 34">
              <a:extLst>
                <a:ext uri="{FF2B5EF4-FFF2-40B4-BE49-F238E27FC236}">
                  <a16:creationId xmlns:a16="http://schemas.microsoft.com/office/drawing/2014/main" id="{A9B17727-BD26-4009-9248-B40A1B2B5D3B}"/>
                </a:ext>
              </a:extLst>
            </p:cNvPr>
            <p:cNvCxnSpPr>
              <a:cxnSpLocks noChangeShapeType="1"/>
              <a:stCxn id="14" idx="2"/>
              <a:endCxn id="16" idx="0"/>
            </p:cNvCxnSpPr>
            <p:nvPr/>
          </p:nvCxnSpPr>
          <p:spPr bwMode="auto">
            <a:xfrm>
              <a:off x="5986233" y="1958690"/>
              <a:ext cx="226981" cy="299643"/>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20" name="AutoShape 35">
              <a:extLst>
                <a:ext uri="{FF2B5EF4-FFF2-40B4-BE49-F238E27FC236}">
                  <a16:creationId xmlns:a16="http://schemas.microsoft.com/office/drawing/2014/main" id="{EF8D60B5-A1AE-43E8-8A62-AA28AAA31C4D}"/>
                </a:ext>
              </a:extLst>
            </p:cNvPr>
            <p:cNvSpPr>
              <a:spLocks noChangeArrowheads="1"/>
            </p:cNvSpPr>
            <p:nvPr/>
          </p:nvSpPr>
          <p:spPr bwMode="auto">
            <a:xfrm>
              <a:off x="6461812" y="1616240"/>
              <a:ext cx="922334" cy="456599"/>
            </a:xfrm>
            <a:prstGeom prst="diamond">
              <a:avLst/>
            </a:prstGeom>
            <a:solidFill>
              <a:sysClr val="window" lastClr="FFFFFF"/>
            </a:solidFill>
            <a:ln w="12700" cap="sq">
              <a:solidFill>
                <a:sysClr val="windowText" lastClr="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管理</a:t>
              </a:r>
            </a:p>
          </p:txBody>
        </p:sp>
        <p:cxnSp>
          <p:nvCxnSpPr>
            <p:cNvPr id="21" name="AutoShape 36">
              <a:extLst>
                <a:ext uri="{FF2B5EF4-FFF2-40B4-BE49-F238E27FC236}">
                  <a16:creationId xmlns:a16="http://schemas.microsoft.com/office/drawing/2014/main" id="{87BDBE3E-82A0-4200-AE47-C4AB8736C023}"/>
                </a:ext>
              </a:extLst>
            </p:cNvPr>
            <p:cNvCxnSpPr>
              <a:cxnSpLocks noChangeShapeType="1"/>
              <a:stCxn id="14" idx="3"/>
              <a:endCxn id="20" idx="1"/>
            </p:cNvCxnSpPr>
            <p:nvPr/>
          </p:nvCxnSpPr>
          <p:spPr bwMode="auto">
            <a:xfrm>
              <a:off x="6274463" y="1844540"/>
              <a:ext cx="187349" cy="0"/>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22" name="AutoShape 37">
              <a:extLst>
                <a:ext uri="{FF2B5EF4-FFF2-40B4-BE49-F238E27FC236}">
                  <a16:creationId xmlns:a16="http://schemas.microsoft.com/office/drawing/2014/main" id="{842729D7-AF13-4822-A8F3-E6B0BB2AC938}"/>
                </a:ext>
              </a:extLst>
            </p:cNvPr>
            <p:cNvCxnSpPr>
              <a:cxnSpLocks noChangeShapeType="1"/>
              <a:stCxn id="20" idx="3"/>
              <a:endCxn id="9" idx="1"/>
            </p:cNvCxnSpPr>
            <p:nvPr/>
          </p:nvCxnSpPr>
          <p:spPr bwMode="auto">
            <a:xfrm>
              <a:off x="7384146" y="1844540"/>
              <a:ext cx="230584" cy="0"/>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23" name="Rectangle 38">
              <a:extLst>
                <a:ext uri="{FF2B5EF4-FFF2-40B4-BE49-F238E27FC236}">
                  <a16:creationId xmlns:a16="http://schemas.microsoft.com/office/drawing/2014/main" id="{3206EC9F-885E-4CDB-9DE4-046EA7A4F9A5}"/>
                </a:ext>
              </a:extLst>
            </p:cNvPr>
            <p:cNvSpPr>
              <a:spLocks noChangeArrowheads="1"/>
            </p:cNvSpPr>
            <p:nvPr/>
          </p:nvSpPr>
          <p:spPr bwMode="auto">
            <a:xfrm>
              <a:off x="7326500" y="1616240"/>
              <a:ext cx="348277" cy="228300"/>
            </a:xfrm>
            <a:prstGeom prst="rect">
              <a:avLst/>
            </a:prstGeom>
            <a:noFill/>
            <a:ln w="12700" cap="sq">
              <a:noFill/>
              <a:miter lim="800000"/>
              <a:headEnd/>
              <a:tailEnd/>
            </a:ln>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1</a:t>
              </a:r>
            </a:p>
          </p:txBody>
        </p:sp>
        <p:sp>
          <p:nvSpPr>
            <p:cNvPr id="24" name="Rectangle 39">
              <a:extLst>
                <a:ext uri="{FF2B5EF4-FFF2-40B4-BE49-F238E27FC236}">
                  <a16:creationId xmlns:a16="http://schemas.microsoft.com/office/drawing/2014/main" id="{5ADBEA68-8AD0-49DC-9715-DC833EE94A53}"/>
                </a:ext>
              </a:extLst>
            </p:cNvPr>
            <p:cNvSpPr>
              <a:spLocks noChangeArrowheads="1"/>
            </p:cNvSpPr>
            <p:nvPr/>
          </p:nvSpPr>
          <p:spPr bwMode="auto">
            <a:xfrm>
              <a:off x="6202406" y="1616240"/>
              <a:ext cx="345875" cy="228300"/>
            </a:xfrm>
            <a:prstGeom prst="rect">
              <a:avLst/>
            </a:prstGeom>
            <a:noFill/>
            <a:ln w="12700" cap="sq">
              <a:noFill/>
              <a:miter lim="800000"/>
              <a:headEnd/>
              <a:tailEnd/>
            </a:ln>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1</a:t>
              </a:r>
            </a:p>
          </p:txBody>
        </p:sp>
        <p:sp>
          <p:nvSpPr>
            <p:cNvPr id="25" name="Rectangle 8">
              <a:extLst>
                <a:ext uri="{FF2B5EF4-FFF2-40B4-BE49-F238E27FC236}">
                  <a16:creationId xmlns:a16="http://schemas.microsoft.com/office/drawing/2014/main" id="{BAD04C7D-A47B-414E-B730-820255EC36DD}"/>
                </a:ext>
              </a:extLst>
            </p:cNvPr>
            <p:cNvSpPr>
              <a:spLocks noChangeArrowheads="1"/>
            </p:cNvSpPr>
            <p:nvPr/>
          </p:nvSpPr>
          <p:spPr bwMode="auto">
            <a:xfrm>
              <a:off x="327635" y="1530419"/>
              <a:ext cx="919185" cy="274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400" b="1" i="0" u="none" strike="noStrike" kern="0" cap="none" spc="0" normalizeH="0" baseline="0" noProof="0" dirty="0">
                  <a:ln>
                    <a:noFill/>
                  </a:ln>
                  <a:solidFill>
                    <a:srgbClr val="FF0000"/>
                  </a:solidFill>
                  <a:effectLst/>
                  <a:uLnTx/>
                  <a:uFillTx/>
                  <a:latin typeface="微软雅黑" pitchFamily="34" charset="-122"/>
                  <a:ea typeface="微软雅黑" pitchFamily="34" charset="-122"/>
                </a:rPr>
                <a:t>分图</a:t>
              </a:r>
              <a:r>
                <a:rPr kumimoji="0" lang="en-US" altLang="zh-CN" sz="2400" b="1" i="0" u="none" strike="noStrike" kern="0" cap="none" spc="0" normalizeH="0" baseline="0" noProof="0" dirty="0">
                  <a:ln>
                    <a:noFill/>
                  </a:ln>
                  <a:solidFill>
                    <a:srgbClr val="FF0000"/>
                  </a:solidFill>
                  <a:effectLst/>
                  <a:uLnTx/>
                  <a:uFillTx/>
                  <a:latin typeface="微软雅黑" pitchFamily="34" charset="-122"/>
                  <a:ea typeface="微软雅黑" pitchFamily="34" charset="-122"/>
                </a:rPr>
                <a:t>1</a:t>
              </a:r>
              <a:endParaRPr kumimoji="0" lang="zh-CN" altLang="en-US" sz="2400" b="1" i="0" u="none" strike="noStrike" kern="0" cap="none" spc="0" normalizeH="0" baseline="0" noProof="0" dirty="0">
                <a:ln>
                  <a:noFill/>
                </a:ln>
                <a:solidFill>
                  <a:srgbClr val="FF0000"/>
                </a:solidFill>
                <a:effectLst/>
                <a:uLnTx/>
                <a:uFillTx/>
                <a:latin typeface="微软雅黑" pitchFamily="34" charset="-122"/>
                <a:ea typeface="微软雅黑" pitchFamily="34" charset="-122"/>
              </a:endParaRPr>
            </a:p>
          </p:txBody>
        </p:sp>
        <p:sp>
          <p:nvSpPr>
            <p:cNvPr id="26" name="Rectangle 8">
              <a:extLst>
                <a:ext uri="{FF2B5EF4-FFF2-40B4-BE49-F238E27FC236}">
                  <a16:creationId xmlns:a16="http://schemas.microsoft.com/office/drawing/2014/main" id="{5702DE68-0E74-4D8A-8565-7F469D95A4CD}"/>
                </a:ext>
              </a:extLst>
            </p:cNvPr>
            <p:cNvSpPr>
              <a:spLocks noChangeArrowheads="1"/>
            </p:cNvSpPr>
            <p:nvPr/>
          </p:nvSpPr>
          <p:spPr bwMode="auto">
            <a:xfrm>
              <a:off x="4699000" y="1530419"/>
              <a:ext cx="919185" cy="274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lIns="0" tIns="0" rIns="0" bIns="0">
              <a:spAutoFit/>
            </a:bodyP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400" b="1" i="0" u="none" strike="noStrike" kern="0" cap="none" spc="0" normalizeH="0" baseline="0" noProof="0" dirty="0">
                  <a:ln>
                    <a:noFill/>
                  </a:ln>
                  <a:solidFill>
                    <a:srgbClr val="FF0000"/>
                  </a:solidFill>
                  <a:effectLst/>
                  <a:uLnTx/>
                  <a:uFillTx/>
                  <a:latin typeface="微软雅黑" pitchFamily="34" charset="-122"/>
                  <a:ea typeface="微软雅黑" pitchFamily="34" charset="-122"/>
                </a:rPr>
                <a:t>分图</a:t>
              </a:r>
              <a:r>
                <a:rPr kumimoji="0" lang="en-US" altLang="zh-CN" sz="2400" b="1" i="0" u="none" strike="noStrike" kern="0" cap="none" spc="0" normalizeH="0" baseline="0" noProof="0" dirty="0">
                  <a:ln>
                    <a:noFill/>
                  </a:ln>
                  <a:solidFill>
                    <a:srgbClr val="FF0000"/>
                  </a:solidFill>
                  <a:effectLst/>
                  <a:uLnTx/>
                  <a:uFillTx/>
                  <a:latin typeface="微软雅黑" pitchFamily="34" charset="-122"/>
                  <a:ea typeface="微软雅黑" pitchFamily="34" charset="-122"/>
                </a:rPr>
                <a:t>2</a:t>
              </a:r>
              <a:endParaRPr kumimoji="0" lang="zh-CN" altLang="en-US" sz="2400" b="1" i="0" u="none" strike="noStrike" kern="0" cap="none" spc="0" normalizeH="0" baseline="0" noProof="0" dirty="0">
                <a:ln>
                  <a:noFill/>
                </a:ln>
                <a:solidFill>
                  <a:srgbClr val="FF0000"/>
                </a:solidFill>
                <a:effectLst/>
                <a:uLnTx/>
                <a:uFillTx/>
                <a:latin typeface="微软雅黑" pitchFamily="34" charset="-122"/>
                <a:ea typeface="微软雅黑" pitchFamily="34" charset="-122"/>
              </a:endParaRPr>
            </a:p>
          </p:txBody>
        </p:sp>
        <p:sp>
          <p:nvSpPr>
            <p:cNvPr id="27" name="Rectangle 7">
              <a:extLst>
                <a:ext uri="{FF2B5EF4-FFF2-40B4-BE49-F238E27FC236}">
                  <a16:creationId xmlns:a16="http://schemas.microsoft.com/office/drawing/2014/main" id="{CE8C2E30-5F57-4DED-A289-B70750E62A59}"/>
                </a:ext>
              </a:extLst>
            </p:cNvPr>
            <p:cNvSpPr>
              <a:spLocks noChangeArrowheads="1"/>
            </p:cNvSpPr>
            <p:nvPr/>
          </p:nvSpPr>
          <p:spPr bwMode="auto">
            <a:xfrm>
              <a:off x="440524" y="3076111"/>
              <a:ext cx="8372745" cy="1295839"/>
            </a:xfrm>
            <a:prstGeom prst="rect">
              <a:avLst/>
            </a:prstGeom>
            <a:solidFill>
              <a:sysClr val="window" lastClr="FFFFFF"/>
            </a:solidFill>
            <a:ln w="9525" cap="sq">
              <a:solidFill>
                <a:sysClr val="windowText" lastClr="000000"/>
              </a:solidFill>
              <a:prstDash val="dash"/>
              <a:miter lim="800000"/>
              <a:headEnd/>
              <a:tailEnd/>
            </a:ln>
            <a:effectLst>
              <a:outerShdw dist="35921" dir="2700000" algn="ctr" rotWithShape="0">
                <a:srgbClr val="EEECE1"/>
              </a:outerShdw>
            </a:effectLst>
          </p:spPr>
          <p:txBody>
            <a:bodyPr wrap="none" lIns="0" tIns="0" rIns="0" bIns="0" anchor="ctr"/>
            <a:lstStyle/>
            <a:p>
              <a:pPr marL="0" marR="0" lvl="0" indent="0" defTabSz="914400" eaLnBrk="1" fontAlgn="auto" latinLnBrk="0" hangingPunct="1">
                <a:lnSpc>
                  <a:spcPct val="100000"/>
                </a:lnSpc>
                <a:spcBef>
                  <a:spcPts val="0"/>
                </a:spcBef>
                <a:spcAft>
                  <a:spcPct val="0"/>
                </a:spcAft>
                <a:buClrTx/>
                <a:buSzTx/>
                <a:buFontTx/>
                <a:buNone/>
                <a:tabLst/>
                <a:defRPr/>
              </a:pPr>
              <a:endParaRPr kumimoji="0" lang="zh-CN" altLang="en-US" sz="28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endParaRPr>
            </a:p>
          </p:txBody>
        </p:sp>
        <p:sp>
          <p:nvSpPr>
            <p:cNvPr id="28" name="Rectangle 5">
              <a:extLst>
                <a:ext uri="{FF2B5EF4-FFF2-40B4-BE49-F238E27FC236}">
                  <a16:creationId xmlns:a16="http://schemas.microsoft.com/office/drawing/2014/main" id="{5F20AD9E-C199-47D1-8AF7-5744BEA7438C}"/>
                </a:ext>
              </a:extLst>
            </p:cNvPr>
            <p:cNvSpPr>
              <a:spLocks noChangeArrowheads="1"/>
            </p:cNvSpPr>
            <p:nvPr/>
          </p:nvSpPr>
          <p:spPr bwMode="auto">
            <a:xfrm>
              <a:off x="6471110" y="3359997"/>
              <a:ext cx="600615" cy="210742"/>
            </a:xfrm>
            <a:prstGeom prst="rect">
              <a:avLst/>
            </a:prstGeom>
            <a:solidFill>
              <a:sysClr val="window" lastClr="FFFFFF"/>
            </a:solidFill>
            <a:ln w="12700" cap="sq">
              <a:solidFill>
                <a:sysClr val="windowText" lastClr="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班级</a:t>
              </a:r>
            </a:p>
          </p:txBody>
        </p:sp>
        <p:sp>
          <p:nvSpPr>
            <p:cNvPr id="29" name="AutoShape 6">
              <a:extLst>
                <a:ext uri="{FF2B5EF4-FFF2-40B4-BE49-F238E27FC236}">
                  <a16:creationId xmlns:a16="http://schemas.microsoft.com/office/drawing/2014/main" id="{52ACE0B4-C484-4F18-B1E2-40ED4B28874D}"/>
                </a:ext>
              </a:extLst>
            </p:cNvPr>
            <p:cNvSpPr>
              <a:spLocks noChangeArrowheads="1"/>
            </p:cNvSpPr>
            <p:nvPr/>
          </p:nvSpPr>
          <p:spPr bwMode="auto">
            <a:xfrm>
              <a:off x="5825368" y="3859233"/>
              <a:ext cx="595826" cy="261299"/>
            </a:xfrm>
            <a:prstGeom prst="roundRect">
              <a:avLst>
                <a:gd name="adj" fmla="val 50000"/>
              </a:avLst>
            </a:prstGeom>
            <a:solidFill>
              <a:srgbClr val="EEECE1"/>
            </a:solidFill>
            <a:ln w="12700" cap="sq">
              <a:solidFill>
                <a:sysClr val="windowText" lastClr="000000"/>
              </a:solidFill>
              <a:round/>
              <a:headEnd/>
              <a:tailEnd/>
            </a:ln>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sng"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班号</a:t>
              </a:r>
            </a:p>
          </p:txBody>
        </p:sp>
        <p:sp>
          <p:nvSpPr>
            <p:cNvPr id="30" name="AutoShape 7">
              <a:extLst>
                <a:ext uri="{FF2B5EF4-FFF2-40B4-BE49-F238E27FC236}">
                  <a16:creationId xmlns:a16="http://schemas.microsoft.com/office/drawing/2014/main" id="{3BBA08C3-B8D8-45F7-81E2-51AE9829323C}"/>
                </a:ext>
              </a:extLst>
            </p:cNvPr>
            <p:cNvSpPr>
              <a:spLocks noChangeArrowheads="1"/>
            </p:cNvSpPr>
            <p:nvPr/>
          </p:nvSpPr>
          <p:spPr bwMode="auto">
            <a:xfrm>
              <a:off x="6546681" y="3915537"/>
              <a:ext cx="595826" cy="204995"/>
            </a:xfrm>
            <a:prstGeom prst="roundRect">
              <a:avLst>
                <a:gd name="adj" fmla="val 50000"/>
              </a:avLst>
            </a:prstGeom>
            <a:solidFill>
              <a:sysClr val="window" lastClr="FFFFFF"/>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班名</a:t>
              </a:r>
            </a:p>
          </p:txBody>
        </p:sp>
        <p:cxnSp>
          <p:nvCxnSpPr>
            <p:cNvPr id="31" name="AutoShape 8">
              <a:extLst>
                <a:ext uri="{FF2B5EF4-FFF2-40B4-BE49-F238E27FC236}">
                  <a16:creationId xmlns:a16="http://schemas.microsoft.com/office/drawing/2014/main" id="{D3FE0B11-DB3F-4458-8ED2-922E35239724}"/>
                </a:ext>
              </a:extLst>
            </p:cNvPr>
            <p:cNvCxnSpPr>
              <a:cxnSpLocks noChangeShapeType="1"/>
              <a:stCxn id="28" idx="2"/>
              <a:endCxn id="29" idx="0"/>
            </p:cNvCxnSpPr>
            <p:nvPr/>
          </p:nvCxnSpPr>
          <p:spPr bwMode="auto">
            <a:xfrm flipH="1">
              <a:off x="6123281" y="3570739"/>
              <a:ext cx="648137" cy="288494"/>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32" name="AutoShape 9">
              <a:extLst>
                <a:ext uri="{FF2B5EF4-FFF2-40B4-BE49-F238E27FC236}">
                  <a16:creationId xmlns:a16="http://schemas.microsoft.com/office/drawing/2014/main" id="{4C473CA8-46C6-4986-8FC7-8C07E21AF319}"/>
                </a:ext>
              </a:extLst>
            </p:cNvPr>
            <p:cNvCxnSpPr>
              <a:cxnSpLocks noChangeShapeType="1"/>
              <a:stCxn id="28" idx="2"/>
              <a:endCxn id="30" idx="0"/>
            </p:cNvCxnSpPr>
            <p:nvPr/>
          </p:nvCxnSpPr>
          <p:spPr bwMode="auto">
            <a:xfrm>
              <a:off x="6771418" y="3570739"/>
              <a:ext cx="73176" cy="344798"/>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33" name="Rectangle 10">
              <a:extLst>
                <a:ext uri="{FF2B5EF4-FFF2-40B4-BE49-F238E27FC236}">
                  <a16:creationId xmlns:a16="http://schemas.microsoft.com/office/drawing/2014/main" id="{ACCD0BF0-A92E-4979-9977-AB6071279DCE}"/>
                </a:ext>
              </a:extLst>
            </p:cNvPr>
            <p:cNvSpPr>
              <a:spLocks noChangeArrowheads="1"/>
            </p:cNvSpPr>
            <p:nvPr/>
          </p:nvSpPr>
          <p:spPr bwMode="auto">
            <a:xfrm>
              <a:off x="3150038" y="3359997"/>
              <a:ext cx="600615" cy="210742"/>
            </a:xfrm>
            <a:prstGeom prst="rect">
              <a:avLst/>
            </a:prstGeom>
            <a:solidFill>
              <a:sysClr val="window" lastClr="FFFFFF"/>
            </a:solidFill>
            <a:ln w="12700" cap="sq">
              <a:solidFill>
                <a:sysClr val="windowText" lastClr="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学生</a:t>
              </a:r>
            </a:p>
          </p:txBody>
        </p:sp>
        <p:sp>
          <p:nvSpPr>
            <p:cNvPr id="34" name="AutoShape 11">
              <a:extLst>
                <a:ext uri="{FF2B5EF4-FFF2-40B4-BE49-F238E27FC236}">
                  <a16:creationId xmlns:a16="http://schemas.microsoft.com/office/drawing/2014/main" id="{5A009605-D748-4AEE-B942-B47863A482F8}"/>
                </a:ext>
              </a:extLst>
            </p:cNvPr>
            <p:cNvSpPr>
              <a:spLocks noChangeArrowheads="1"/>
            </p:cNvSpPr>
            <p:nvPr/>
          </p:nvSpPr>
          <p:spPr bwMode="auto">
            <a:xfrm>
              <a:off x="2450758" y="3834961"/>
              <a:ext cx="532602" cy="305824"/>
            </a:xfrm>
            <a:prstGeom prst="roundRect">
              <a:avLst>
                <a:gd name="adj" fmla="val 50000"/>
              </a:avLst>
            </a:prstGeom>
            <a:solidFill>
              <a:srgbClr val="EEECE1"/>
            </a:solidFill>
            <a:ln w="12700" cap="sq">
              <a:solidFill>
                <a:sysClr val="windowText" lastClr="000000"/>
              </a:solidFill>
              <a:round/>
              <a:headEnd/>
              <a:tailEnd/>
            </a:ln>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sng"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学号</a:t>
              </a:r>
            </a:p>
          </p:txBody>
        </p:sp>
        <p:sp>
          <p:nvSpPr>
            <p:cNvPr id="35" name="AutoShape 12">
              <a:extLst>
                <a:ext uri="{FF2B5EF4-FFF2-40B4-BE49-F238E27FC236}">
                  <a16:creationId xmlns:a16="http://schemas.microsoft.com/office/drawing/2014/main" id="{82D4DE4F-A423-4891-87E6-402F3213925E}"/>
                </a:ext>
              </a:extLst>
            </p:cNvPr>
            <p:cNvSpPr>
              <a:spLocks noChangeArrowheads="1"/>
            </p:cNvSpPr>
            <p:nvPr/>
          </p:nvSpPr>
          <p:spPr bwMode="auto">
            <a:xfrm>
              <a:off x="3052330" y="3923200"/>
              <a:ext cx="481834" cy="232775"/>
            </a:xfrm>
            <a:prstGeom prst="roundRect">
              <a:avLst>
                <a:gd name="adj" fmla="val 50000"/>
              </a:avLst>
            </a:prstGeom>
            <a:solidFill>
              <a:sysClr val="window" lastClr="FFFFFF"/>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姓名</a:t>
              </a:r>
            </a:p>
          </p:txBody>
        </p:sp>
        <p:sp>
          <p:nvSpPr>
            <p:cNvPr id="36" name="AutoShape 13">
              <a:extLst>
                <a:ext uri="{FF2B5EF4-FFF2-40B4-BE49-F238E27FC236}">
                  <a16:creationId xmlns:a16="http://schemas.microsoft.com/office/drawing/2014/main" id="{5D423110-DCDE-49D1-A168-9CF04A7C913B}"/>
                </a:ext>
              </a:extLst>
            </p:cNvPr>
            <p:cNvSpPr>
              <a:spLocks noChangeArrowheads="1"/>
            </p:cNvSpPr>
            <p:nvPr/>
          </p:nvSpPr>
          <p:spPr bwMode="auto">
            <a:xfrm>
              <a:off x="4107957" y="3923200"/>
              <a:ext cx="481834" cy="232775"/>
            </a:xfrm>
            <a:prstGeom prst="roundRect">
              <a:avLst>
                <a:gd name="adj" fmla="val 50000"/>
              </a:avLst>
            </a:prstGeom>
            <a:solidFill>
              <a:sysClr val="window" lastClr="FFFFFF"/>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性别</a:t>
              </a:r>
            </a:p>
          </p:txBody>
        </p:sp>
        <p:sp>
          <p:nvSpPr>
            <p:cNvPr id="37" name="AutoShape 14">
              <a:extLst>
                <a:ext uri="{FF2B5EF4-FFF2-40B4-BE49-F238E27FC236}">
                  <a16:creationId xmlns:a16="http://schemas.microsoft.com/office/drawing/2014/main" id="{74353E30-9E4D-4129-959C-28906B5DD904}"/>
                </a:ext>
              </a:extLst>
            </p:cNvPr>
            <p:cNvSpPr>
              <a:spLocks noChangeArrowheads="1"/>
            </p:cNvSpPr>
            <p:nvPr/>
          </p:nvSpPr>
          <p:spPr bwMode="auto">
            <a:xfrm>
              <a:off x="3583016" y="3923200"/>
              <a:ext cx="482791" cy="232775"/>
            </a:xfrm>
            <a:prstGeom prst="roundRect">
              <a:avLst>
                <a:gd name="adj" fmla="val 50000"/>
              </a:avLst>
            </a:prstGeom>
            <a:solidFill>
              <a:sysClr val="window" lastClr="FFFFFF"/>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生日</a:t>
              </a:r>
            </a:p>
          </p:txBody>
        </p:sp>
        <p:cxnSp>
          <p:nvCxnSpPr>
            <p:cNvPr id="38" name="AutoShape 15">
              <a:extLst>
                <a:ext uri="{FF2B5EF4-FFF2-40B4-BE49-F238E27FC236}">
                  <a16:creationId xmlns:a16="http://schemas.microsoft.com/office/drawing/2014/main" id="{C63778F6-DA11-4359-8882-DA79510A0C24}"/>
                </a:ext>
              </a:extLst>
            </p:cNvPr>
            <p:cNvCxnSpPr>
              <a:cxnSpLocks noChangeShapeType="1"/>
              <a:stCxn id="33" idx="2"/>
              <a:endCxn id="34" idx="0"/>
            </p:cNvCxnSpPr>
            <p:nvPr/>
          </p:nvCxnSpPr>
          <p:spPr bwMode="auto">
            <a:xfrm flipH="1">
              <a:off x="2717059" y="3570739"/>
              <a:ext cx="733287" cy="264222"/>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39" name="AutoShape 16">
              <a:extLst>
                <a:ext uri="{FF2B5EF4-FFF2-40B4-BE49-F238E27FC236}">
                  <a16:creationId xmlns:a16="http://schemas.microsoft.com/office/drawing/2014/main" id="{C23CB7CB-C576-4BCC-AE89-A70ED874F243}"/>
                </a:ext>
              </a:extLst>
            </p:cNvPr>
            <p:cNvCxnSpPr>
              <a:cxnSpLocks noChangeShapeType="1"/>
              <a:stCxn id="33" idx="2"/>
              <a:endCxn id="35" idx="0"/>
            </p:cNvCxnSpPr>
            <p:nvPr/>
          </p:nvCxnSpPr>
          <p:spPr bwMode="auto">
            <a:xfrm flipH="1">
              <a:off x="3293247" y="3570739"/>
              <a:ext cx="157099" cy="352461"/>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40" name="AutoShape 17">
              <a:extLst>
                <a:ext uri="{FF2B5EF4-FFF2-40B4-BE49-F238E27FC236}">
                  <a16:creationId xmlns:a16="http://schemas.microsoft.com/office/drawing/2014/main" id="{F7DDCE0F-1A0A-426E-AACD-F97D93F39414}"/>
                </a:ext>
              </a:extLst>
            </p:cNvPr>
            <p:cNvCxnSpPr>
              <a:cxnSpLocks noChangeShapeType="1"/>
              <a:stCxn id="33" idx="2"/>
              <a:endCxn id="37" idx="0"/>
            </p:cNvCxnSpPr>
            <p:nvPr/>
          </p:nvCxnSpPr>
          <p:spPr bwMode="auto">
            <a:xfrm>
              <a:off x="3450346" y="3570739"/>
              <a:ext cx="374066" cy="352461"/>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41" name="AutoShape 18">
              <a:extLst>
                <a:ext uri="{FF2B5EF4-FFF2-40B4-BE49-F238E27FC236}">
                  <a16:creationId xmlns:a16="http://schemas.microsoft.com/office/drawing/2014/main" id="{327F54E3-04BF-4957-BF35-885E2F422044}"/>
                </a:ext>
              </a:extLst>
            </p:cNvPr>
            <p:cNvCxnSpPr>
              <a:cxnSpLocks noChangeShapeType="1"/>
              <a:stCxn id="33" idx="2"/>
              <a:endCxn id="36" idx="0"/>
            </p:cNvCxnSpPr>
            <p:nvPr/>
          </p:nvCxnSpPr>
          <p:spPr bwMode="auto">
            <a:xfrm>
              <a:off x="3450346" y="3570739"/>
              <a:ext cx="898528" cy="352461"/>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42" name="AutoShape 19">
              <a:extLst>
                <a:ext uri="{FF2B5EF4-FFF2-40B4-BE49-F238E27FC236}">
                  <a16:creationId xmlns:a16="http://schemas.microsoft.com/office/drawing/2014/main" id="{4CAC4C79-47D8-4373-A813-8F942F02C880}"/>
                </a:ext>
              </a:extLst>
            </p:cNvPr>
            <p:cNvSpPr>
              <a:spLocks noChangeArrowheads="1"/>
            </p:cNvSpPr>
            <p:nvPr/>
          </p:nvSpPr>
          <p:spPr bwMode="auto">
            <a:xfrm>
              <a:off x="4489815" y="3254626"/>
              <a:ext cx="961751" cy="421484"/>
            </a:xfrm>
            <a:prstGeom prst="diamond">
              <a:avLst/>
            </a:prstGeom>
            <a:solidFill>
              <a:sysClr val="window" lastClr="FFFFFF"/>
            </a:solidFill>
            <a:ln w="12700" cap="sq">
              <a:solidFill>
                <a:sysClr val="windowText" lastClr="000000"/>
              </a:solidFill>
              <a:miter lim="800000"/>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组成</a:t>
              </a:r>
            </a:p>
          </p:txBody>
        </p:sp>
        <p:cxnSp>
          <p:nvCxnSpPr>
            <p:cNvPr id="43" name="AutoShape 20">
              <a:extLst>
                <a:ext uri="{FF2B5EF4-FFF2-40B4-BE49-F238E27FC236}">
                  <a16:creationId xmlns:a16="http://schemas.microsoft.com/office/drawing/2014/main" id="{F40B4753-C234-47AB-BB85-6EE9268C7159}"/>
                </a:ext>
              </a:extLst>
            </p:cNvPr>
            <p:cNvCxnSpPr>
              <a:cxnSpLocks noChangeShapeType="1"/>
              <a:stCxn id="33" idx="3"/>
              <a:endCxn id="42" idx="1"/>
            </p:cNvCxnSpPr>
            <p:nvPr/>
          </p:nvCxnSpPr>
          <p:spPr bwMode="auto">
            <a:xfrm>
              <a:off x="3750653" y="3465368"/>
              <a:ext cx="739162" cy="0"/>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cxnSp>
          <p:nvCxnSpPr>
            <p:cNvPr id="44" name="AutoShape 21">
              <a:extLst>
                <a:ext uri="{FF2B5EF4-FFF2-40B4-BE49-F238E27FC236}">
                  <a16:creationId xmlns:a16="http://schemas.microsoft.com/office/drawing/2014/main" id="{6B9B3A78-E0BC-442D-8543-5BCFB9A67EE1}"/>
                </a:ext>
              </a:extLst>
            </p:cNvPr>
            <p:cNvCxnSpPr>
              <a:cxnSpLocks noChangeShapeType="1"/>
              <a:stCxn id="42" idx="3"/>
              <a:endCxn id="28" idx="1"/>
            </p:cNvCxnSpPr>
            <p:nvPr/>
          </p:nvCxnSpPr>
          <p:spPr bwMode="auto">
            <a:xfrm>
              <a:off x="5451566" y="3465368"/>
              <a:ext cx="1019544" cy="0"/>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45" name="Rectangle 23">
              <a:extLst>
                <a:ext uri="{FF2B5EF4-FFF2-40B4-BE49-F238E27FC236}">
                  <a16:creationId xmlns:a16="http://schemas.microsoft.com/office/drawing/2014/main" id="{51DD2C1E-0909-4D22-A6FA-6DC1C3C369D1}"/>
                </a:ext>
              </a:extLst>
            </p:cNvPr>
            <p:cNvSpPr>
              <a:spLocks noChangeArrowheads="1"/>
            </p:cNvSpPr>
            <p:nvPr/>
          </p:nvSpPr>
          <p:spPr bwMode="auto">
            <a:xfrm>
              <a:off x="3750653" y="3228709"/>
              <a:ext cx="361135" cy="210742"/>
            </a:xfrm>
            <a:prstGeom prst="rect">
              <a:avLst/>
            </a:prstGeom>
            <a:noFill/>
            <a:ln w="12700" cap="sq">
              <a:noFill/>
              <a:miter lim="800000"/>
              <a:headEnd/>
              <a:tailEnd/>
            </a:ln>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000" b="0" i="0" u="none" strike="noStrike" kern="0" cap="none" spc="0" normalizeH="0" baseline="0" noProof="0">
                  <a:ln>
                    <a:noFill/>
                  </a:ln>
                  <a:solidFill>
                    <a:prstClr val="black"/>
                  </a:solidFill>
                  <a:effectLst/>
                  <a:uLnTx/>
                  <a:uFillTx/>
                  <a:latin typeface="Times New Roman" pitchFamily="18" charset="0"/>
                  <a:ea typeface="宋体" panose="02010600030101010101" pitchFamily="2" charset="-122"/>
                </a:rPr>
                <a:t>n</a:t>
              </a:r>
            </a:p>
          </p:txBody>
        </p:sp>
        <p:cxnSp>
          <p:nvCxnSpPr>
            <p:cNvPr id="46" name="AutoShape 33">
              <a:extLst>
                <a:ext uri="{FF2B5EF4-FFF2-40B4-BE49-F238E27FC236}">
                  <a16:creationId xmlns:a16="http://schemas.microsoft.com/office/drawing/2014/main" id="{DC128147-2359-45F2-BC83-D1AEC6F8F6A4}"/>
                </a:ext>
              </a:extLst>
            </p:cNvPr>
            <p:cNvCxnSpPr>
              <a:cxnSpLocks noChangeShapeType="1"/>
              <a:stCxn id="28" idx="2"/>
              <a:endCxn id="49" idx="0"/>
            </p:cNvCxnSpPr>
            <p:nvPr/>
          </p:nvCxnSpPr>
          <p:spPr bwMode="auto">
            <a:xfrm>
              <a:off x="6771418" y="3570739"/>
              <a:ext cx="976192" cy="324545"/>
            </a:xfrm>
            <a:prstGeom prst="straightConnector1">
              <a:avLst/>
            </a:prstGeom>
            <a:noFill/>
            <a:ln w="12700" cap="sq">
              <a:solidFill>
                <a:sysClr val="windowText" lastClr="000000"/>
              </a:solidFill>
              <a:round/>
              <a:headEnd/>
              <a:tailEnd/>
            </a:ln>
            <a:extLst>
              <a:ext uri="{909E8E84-426E-40DD-AFC4-6F175D3DCCD1}">
                <a14:hiddenFill xmlns:a14="http://schemas.microsoft.com/office/drawing/2010/main">
                  <a:noFill/>
                </a14:hiddenFill>
              </a:ext>
            </a:extLst>
          </p:spPr>
        </p:cxnSp>
        <p:sp>
          <p:nvSpPr>
            <p:cNvPr id="47" name="Rectangle 39">
              <a:extLst>
                <a:ext uri="{FF2B5EF4-FFF2-40B4-BE49-F238E27FC236}">
                  <a16:creationId xmlns:a16="http://schemas.microsoft.com/office/drawing/2014/main" id="{4472A3F0-C9C8-41D5-A3D8-70B10C1C51FD}"/>
                </a:ext>
              </a:extLst>
            </p:cNvPr>
            <p:cNvSpPr>
              <a:spLocks noChangeArrowheads="1"/>
            </p:cNvSpPr>
            <p:nvPr/>
          </p:nvSpPr>
          <p:spPr bwMode="auto">
            <a:xfrm>
              <a:off x="5825368" y="3254626"/>
              <a:ext cx="345875" cy="228300"/>
            </a:xfrm>
            <a:prstGeom prst="rect">
              <a:avLst/>
            </a:prstGeom>
            <a:noFill/>
            <a:ln w="12700" cap="sq">
              <a:noFill/>
              <a:miter lim="800000"/>
              <a:headEnd/>
              <a:tailEnd/>
            </a:ln>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1</a:t>
              </a:r>
            </a:p>
          </p:txBody>
        </p:sp>
        <p:sp>
          <p:nvSpPr>
            <p:cNvPr id="48" name="Rectangle 8">
              <a:extLst>
                <a:ext uri="{FF2B5EF4-FFF2-40B4-BE49-F238E27FC236}">
                  <a16:creationId xmlns:a16="http://schemas.microsoft.com/office/drawing/2014/main" id="{EC5A2DBE-98D4-43DD-A5A1-7D408192D916}"/>
                </a:ext>
              </a:extLst>
            </p:cNvPr>
            <p:cNvSpPr>
              <a:spLocks noChangeArrowheads="1"/>
            </p:cNvSpPr>
            <p:nvPr/>
          </p:nvSpPr>
          <p:spPr bwMode="auto">
            <a:xfrm>
              <a:off x="490091" y="3105599"/>
              <a:ext cx="2127271" cy="274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lIns="0" tIns="0" rIns="0" bIns="0">
              <a:spAutoFit/>
            </a:bodyPr>
            <a:lstStyle/>
            <a:p>
              <a:pPr algn="ctr">
                <a:spcAft>
                  <a:spcPct val="0"/>
                </a:spcAft>
                <a:buSzTx/>
                <a:buFontTx/>
                <a:buNone/>
              </a:pPr>
              <a:r>
                <a:rPr lang="zh-CN" altLang="en-US" sz="2400" b="1" dirty="0">
                  <a:solidFill>
                    <a:srgbClr val="FF0000"/>
                  </a:solidFill>
                  <a:effectLst/>
                  <a:latin typeface="微软雅黑" pitchFamily="34" charset="-122"/>
                  <a:ea typeface="微软雅黑" pitchFamily="34" charset="-122"/>
                </a:rPr>
                <a:t>正确集成的一种方案</a:t>
              </a:r>
            </a:p>
          </p:txBody>
        </p:sp>
        <p:sp>
          <p:nvSpPr>
            <p:cNvPr id="49" name="AutoShape 7">
              <a:extLst>
                <a:ext uri="{FF2B5EF4-FFF2-40B4-BE49-F238E27FC236}">
                  <a16:creationId xmlns:a16="http://schemas.microsoft.com/office/drawing/2014/main" id="{0186E917-D8B2-45B0-9EE3-1AE99F3360C5}"/>
                </a:ext>
              </a:extLst>
            </p:cNvPr>
            <p:cNvSpPr>
              <a:spLocks noChangeArrowheads="1"/>
            </p:cNvSpPr>
            <p:nvPr/>
          </p:nvSpPr>
          <p:spPr bwMode="auto">
            <a:xfrm>
              <a:off x="7296249" y="3895284"/>
              <a:ext cx="902722" cy="225248"/>
            </a:xfrm>
            <a:prstGeom prst="roundRect">
              <a:avLst>
                <a:gd name="adj" fmla="val 50000"/>
              </a:avLst>
            </a:prstGeom>
            <a:solidFill>
              <a:srgbClr val="FFC000"/>
            </a:solidFill>
            <a:ln w="12700" cap="sq">
              <a:solidFill>
                <a:sysClr val="windowText" lastClr="000000"/>
              </a:solidFill>
              <a:round/>
              <a:headEnd/>
              <a:tailEnd/>
            </a:ln>
            <a:effectLst>
              <a:outerShdw dist="35921" dir="2700000" algn="ctr" rotWithShape="0">
                <a:srgbClr val="EEECE1"/>
              </a:outerShdw>
            </a:effectLst>
          </p:spPr>
          <p:txBody>
            <a:bodyPr wrap="none" lIns="0" tIns="0" rIns="0" bIns="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Times New Roman" pitchFamily="18" charset="0"/>
                  <a:ea typeface="宋体" panose="02010600030101010101" pitchFamily="2" charset="-122"/>
                </a:rPr>
                <a:t>班长学号</a:t>
              </a:r>
            </a:p>
          </p:txBody>
        </p:sp>
      </p:grpSp>
      <p:sp>
        <p:nvSpPr>
          <p:cNvPr id="69" name="Text Box 37">
            <a:extLst>
              <a:ext uri="{FF2B5EF4-FFF2-40B4-BE49-F238E27FC236}">
                <a16:creationId xmlns:a16="http://schemas.microsoft.com/office/drawing/2014/main" id="{6147D9AA-76BA-434F-B0F7-57D48F8E9247}"/>
              </a:ext>
            </a:extLst>
          </p:cNvPr>
          <p:cNvSpPr txBox="1">
            <a:spLocks noChangeArrowheads="1"/>
          </p:cNvSpPr>
          <p:nvPr/>
        </p:nvSpPr>
        <p:spPr bwMode="auto">
          <a:xfrm>
            <a:off x="7390557" y="1142790"/>
            <a:ext cx="4003377" cy="762286"/>
          </a:xfrm>
          <a:prstGeom prst="roundRect">
            <a:avLst/>
          </a:prstGeom>
          <a:solidFill>
            <a:srgbClr val="FF0000"/>
          </a:solidFill>
          <a:ln>
            <a:solidFill>
              <a:srgbClr val="FFFF00"/>
            </a:solidFill>
            <a:headEnd type="none" w="sm" len="sm"/>
            <a:tailEnd type="none" w="sm" len="sm"/>
          </a:ln>
        </p:spPr>
        <p:style>
          <a:lnRef idx="2">
            <a:schemeClr val="accent6"/>
          </a:lnRef>
          <a:fillRef idx="1">
            <a:schemeClr val="lt1"/>
          </a:fillRef>
          <a:effectRef idx="0">
            <a:schemeClr val="accent6"/>
          </a:effectRef>
          <a:fontRef idx="minor">
            <a:schemeClr val="dk1"/>
          </a:fontRef>
        </p:style>
        <p:txBody>
          <a:bodyPr anchor="ctr" anchorCtr="0"/>
          <a:lstStyle/>
          <a:p>
            <a:pPr marL="377825" indent="-377825" algn="just">
              <a:spcBef>
                <a:spcPct val="50000"/>
              </a:spcBef>
              <a:spcAft>
                <a:spcPct val="0"/>
              </a:spcAft>
              <a:defRPr/>
            </a:pPr>
            <a:r>
              <a:rPr lang="zh-CN" altLang="en-US" sz="2800" dirty="0">
                <a:solidFill>
                  <a:srgbClr val="FFFF00"/>
                </a:solidFill>
                <a:effectLst>
                  <a:outerShdw blurRad="38100" dist="38100" dir="2700000" algn="tl">
                    <a:srgbClr val="000000"/>
                  </a:outerShdw>
                </a:effectLst>
                <a:latin typeface="微软雅黑" pitchFamily="34" charset="-122"/>
                <a:ea typeface="微软雅黑" pitchFamily="34" charset="-122"/>
              </a:rPr>
              <a:t>确保集成后概念不变！</a:t>
            </a:r>
          </a:p>
        </p:txBody>
      </p:sp>
    </p:spTree>
    <p:extLst>
      <p:ext uri="{BB962C8B-B14F-4D97-AF65-F5344CB8AC3E}">
        <p14:creationId xmlns:p14="http://schemas.microsoft.com/office/powerpoint/2010/main" val="2005891990"/>
      </p:ext>
    </p:extLst>
  </p:cSld>
  <p:clrMapOvr>
    <a:masterClrMapping/>
  </p:clrMapOvr>
  <p:transition spd="med">
    <p:random/>
    <p:sndAc>
      <p:stSnd>
        <p:snd r:embed="rId2" name="arrow.wav"/>
      </p:stSnd>
    </p:sndAc>
  </p:transition>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55043" name="Rectangle 3"/>
          <p:cNvSpPr>
            <a:spLocks noGrp="1" noChangeArrowheads="1"/>
          </p:cNvSpPr>
          <p:nvPr>
            <p:ph type="subTitle" idx="1"/>
          </p:nvPr>
        </p:nvSpPr>
        <p:spPr>
          <a:xfrm>
            <a:off x="839416" y="116632"/>
            <a:ext cx="11161240" cy="5400600"/>
          </a:xfrm>
        </p:spPr>
        <p:txBody>
          <a:bodyPr/>
          <a:lstStyle/>
          <a:p>
            <a:pPr algn="l">
              <a:lnSpc>
                <a:spcPct val="150000"/>
              </a:lnSpc>
            </a:pPr>
            <a:r>
              <a:rPr lang="zh-CN" altLang="en-US" sz="2400" dirty="0"/>
              <a:t>全局</a:t>
            </a:r>
            <a:r>
              <a:rPr lang="en-US" altLang="zh-CN" sz="2400" dirty="0"/>
              <a:t>E-R</a:t>
            </a:r>
            <a:r>
              <a:rPr lang="zh-CN" altLang="en-US" sz="2400" dirty="0"/>
              <a:t>模型的优化原则。</a:t>
            </a:r>
          </a:p>
          <a:p>
            <a:pPr lvl="1" algn="l">
              <a:lnSpc>
                <a:spcPct val="150000"/>
              </a:lnSpc>
              <a:buFontTx/>
              <a:buNone/>
            </a:pPr>
            <a:r>
              <a:rPr lang="zh-CN" altLang="en-US" sz="2000" dirty="0"/>
              <a:t>（</a:t>
            </a:r>
            <a:r>
              <a:rPr lang="en-US" altLang="zh-CN" sz="2000" dirty="0"/>
              <a:t>1</a:t>
            </a:r>
            <a:r>
              <a:rPr lang="zh-CN" altLang="en-US" sz="2000" dirty="0"/>
              <a:t>）实体类型的合并</a:t>
            </a:r>
          </a:p>
          <a:p>
            <a:pPr lvl="1" algn="l">
              <a:lnSpc>
                <a:spcPct val="150000"/>
              </a:lnSpc>
            </a:pPr>
            <a:r>
              <a:rPr lang="zh-CN" altLang="en-US" sz="2000" dirty="0"/>
              <a:t>合并，是相关实体类型的合并。减少实体类型个数，可减少连接的开销，提高处理效率。</a:t>
            </a:r>
          </a:p>
          <a:p>
            <a:pPr lvl="1" algn="l">
              <a:lnSpc>
                <a:spcPct val="150000"/>
              </a:lnSpc>
              <a:buFontTx/>
              <a:buNone/>
            </a:pPr>
            <a:r>
              <a:rPr lang="zh-CN" altLang="en-US" sz="2000" dirty="0"/>
              <a:t>（</a:t>
            </a:r>
            <a:r>
              <a:rPr lang="en-US" altLang="zh-CN" sz="2000" dirty="0"/>
              <a:t>2</a:t>
            </a:r>
            <a:r>
              <a:rPr lang="zh-CN" altLang="en-US" sz="2000" dirty="0"/>
              <a:t>）冗余属性的消除</a:t>
            </a:r>
          </a:p>
          <a:p>
            <a:pPr lvl="1" algn="l">
              <a:lnSpc>
                <a:spcPct val="150000"/>
              </a:lnSpc>
            </a:pPr>
            <a:r>
              <a:rPr lang="zh-CN" altLang="en-US" sz="2000" dirty="0"/>
              <a:t>通常在各个局部结构中不允许存在冗余属性。但在综合成全局</a:t>
            </a:r>
            <a:r>
              <a:rPr lang="en-US" altLang="zh-CN" sz="2000" dirty="0"/>
              <a:t>E-R</a:t>
            </a:r>
            <a:r>
              <a:rPr lang="zh-CN" altLang="en-US" sz="2000" dirty="0"/>
              <a:t>模型后，可能产生全局范围内的冗余属性。</a:t>
            </a:r>
          </a:p>
          <a:p>
            <a:pPr lvl="1" algn="l">
              <a:lnSpc>
                <a:spcPct val="150000"/>
              </a:lnSpc>
            </a:pPr>
            <a:r>
              <a:rPr lang="zh-CN" altLang="en-US" sz="2000" dirty="0"/>
              <a:t>冗余属性消除与否，也取决于它对存储空间、访问效率和维护代价的影响。</a:t>
            </a:r>
          </a:p>
          <a:p>
            <a:pPr lvl="1" algn="l">
              <a:lnSpc>
                <a:spcPct val="150000"/>
              </a:lnSpc>
              <a:buFontTx/>
              <a:buNone/>
            </a:pPr>
            <a:r>
              <a:rPr lang="zh-CN" altLang="en-US" sz="2000" dirty="0"/>
              <a:t>（</a:t>
            </a:r>
            <a:r>
              <a:rPr lang="en-US" altLang="zh-CN" sz="2000" dirty="0"/>
              <a:t>3</a:t>
            </a:r>
            <a:r>
              <a:rPr lang="zh-CN" altLang="en-US" sz="2000" dirty="0"/>
              <a:t>）冗余联系的消除</a:t>
            </a:r>
          </a:p>
          <a:p>
            <a:pPr lvl="1" algn="l">
              <a:lnSpc>
                <a:spcPct val="150000"/>
              </a:lnSpc>
            </a:pPr>
            <a:r>
              <a:rPr lang="zh-CN" altLang="en-US" sz="2000" dirty="0"/>
              <a:t>在全局模式中可能存在有冗余的联系，通常利用规范化理论中函数依赖的概念消除冗余联系。</a:t>
            </a:r>
          </a:p>
          <a:p>
            <a:pPr algn="l">
              <a:lnSpc>
                <a:spcPct val="150000"/>
              </a:lnSpc>
            </a:pPr>
            <a:r>
              <a:rPr lang="zh-CN" altLang="en-US" sz="2400" dirty="0"/>
              <a:t>把消除了冗余的初步</a:t>
            </a:r>
            <a:r>
              <a:rPr lang="en-US" altLang="zh-CN" sz="2400" dirty="0"/>
              <a:t>E-R</a:t>
            </a:r>
            <a:r>
              <a:rPr lang="zh-CN" altLang="en-US" sz="2400" dirty="0"/>
              <a:t>图称为基本</a:t>
            </a:r>
            <a:r>
              <a:rPr lang="en-US" altLang="zh-CN" sz="2400" dirty="0"/>
              <a:t>E-R</a:t>
            </a:r>
            <a:r>
              <a:rPr lang="zh-CN" altLang="en-US" sz="2400" dirty="0"/>
              <a:t>图。</a:t>
            </a:r>
          </a:p>
        </p:txBody>
      </p:sp>
    </p:spTree>
    <p:extLst>
      <p:ext uri="{BB962C8B-B14F-4D97-AF65-F5344CB8AC3E}">
        <p14:creationId xmlns:p14="http://schemas.microsoft.com/office/powerpoint/2010/main" val="1664759686"/>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58115" name="Rectangle 3"/>
          <p:cNvSpPr>
            <a:spLocks noGrp="1" noChangeArrowheads="1"/>
          </p:cNvSpPr>
          <p:nvPr>
            <p:ph type="subTitle" idx="1"/>
          </p:nvPr>
        </p:nvSpPr>
        <p:spPr>
          <a:xfrm>
            <a:off x="839416" y="836712"/>
            <a:ext cx="11017224" cy="4680520"/>
          </a:xfrm>
        </p:spPr>
        <p:txBody>
          <a:bodyPr/>
          <a:lstStyle/>
          <a:p>
            <a:pPr algn="l">
              <a:lnSpc>
                <a:spcPct val="150000"/>
              </a:lnSpc>
            </a:pPr>
            <a:r>
              <a:rPr lang="zh-CN" altLang="en-US" dirty="0"/>
              <a:t>最终得到的基本</a:t>
            </a:r>
            <a:r>
              <a:rPr lang="en-US" altLang="zh-CN" dirty="0"/>
              <a:t>E-R</a:t>
            </a:r>
            <a:r>
              <a:rPr lang="zh-CN" altLang="en-US" dirty="0"/>
              <a:t>模型是一个组织的概念模型，它代表了用户的数据要求，是沟通“要求”和“设计”的桥梁。它决定数据库的总体逻辑结构，是成功建立数据库的关键。</a:t>
            </a:r>
          </a:p>
        </p:txBody>
      </p:sp>
    </p:spTree>
    <p:extLst>
      <p:ext uri="{BB962C8B-B14F-4D97-AF65-F5344CB8AC3E}">
        <p14:creationId xmlns:p14="http://schemas.microsoft.com/office/powerpoint/2010/main" val="3594952256"/>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bwMode="auto">
          <a:xfrm>
            <a:off x="4583832" y="1988840"/>
            <a:ext cx="2448272" cy="854968"/>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60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第四节</a:t>
            </a:r>
          </a:p>
        </p:txBody>
      </p:sp>
      <p:sp>
        <p:nvSpPr>
          <p:cNvPr id="2" name="标题 1"/>
          <p:cNvSpPr>
            <a:spLocks noGrp="1"/>
          </p:cNvSpPr>
          <p:nvPr>
            <p:ph type="title"/>
          </p:nvPr>
        </p:nvSpPr>
        <p:spPr>
          <a:xfrm>
            <a:off x="1559496" y="3356992"/>
            <a:ext cx="9073008" cy="1256758"/>
          </a:xfrm>
          <a:effectLst>
            <a:outerShdw blurRad="63500" sx="102000" sy="102000" algn="ctr" rotWithShape="0">
              <a:prstClr val="black">
                <a:alpha val="40000"/>
              </a:prstClr>
            </a:outerShdw>
          </a:effectLst>
        </p:spPr>
        <p:txBody>
          <a:bodyPr wrap="none" numCol="1" fromWordArt="1">
            <a:prstTxWarp prst="textPlain">
              <a:avLst>
                <a:gd name="adj" fmla="val 50000"/>
              </a:avLst>
            </a:prstTxWarp>
          </a:bodyPr>
          <a:lstStyle/>
          <a:p>
            <a:pPr fontAlgn="base">
              <a:spcAft>
                <a:spcPct val="0"/>
              </a:spcAft>
            </a:pPr>
            <a:r>
              <a:rPr lang="zh-CN" altLang="en-US" sz="6000" b="1" kern="10" spc="600" baseline="-25000" dirty="0">
                <a:ln w="9525">
                  <a:solidFill>
                    <a:srgbClr val="003399"/>
                  </a:solidFill>
                  <a:prstDash val="solid"/>
                </a:ln>
                <a:solidFill>
                  <a:srgbClr val="FFFFFF"/>
                </a:solidFill>
                <a:cs typeface="+mn-cs"/>
              </a:rPr>
              <a:t>逻辑结构设计</a:t>
            </a:r>
          </a:p>
        </p:txBody>
      </p:sp>
      <p:sp>
        <p:nvSpPr>
          <p:cNvPr id="4" name="标题 1">
            <a:extLst>
              <a:ext uri="{FF2B5EF4-FFF2-40B4-BE49-F238E27FC236}">
                <a16:creationId xmlns:a16="http://schemas.microsoft.com/office/drawing/2014/main" id="{1DECDF0B-FDC0-4C58-9326-80561E26595A}"/>
              </a:ext>
            </a:extLst>
          </p:cNvPr>
          <p:cNvSpPr txBox="1">
            <a:spLocks/>
          </p:cNvSpPr>
          <p:nvPr/>
        </p:nvSpPr>
        <p:spPr bwMode="auto">
          <a:xfrm>
            <a:off x="839416" y="260648"/>
            <a:ext cx="3960440" cy="367122"/>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a:t>
            </a:r>
            <a:r>
              <a:rPr kumimoji="0" lang="en-US" altLang="zh-CN"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10</a:t>
            </a: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章  数据库设计</a:t>
            </a:r>
          </a:p>
        </p:txBody>
      </p:sp>
    </p:spTree>
    <p:extLst>
      <p:ext uri="{BB962C8B-B14F-4D97-AF65-F5344CB8AC3E}">
        <p14:creationId xmlns:p14="http://schemas.microsoft.com/office/powerpoint/2010/main" val="2207145027"/>
      </p:ext>
    </p:extLst>
  </p:cSld>
  <p:clrMapOvr>
    <a:masterClrMapping/>
  </p:clrMapOvr>
  <p:transition spd="med">
    <p:random/>
    <p:sndAc>
      <p:stSnd>
        <p:snd r:embed="rId2" name="arrow.wav"/>
      </p:stSnd>
    </p:sndAc>
  </p:transition>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59138" name="Rectangle 2"/>
          <p:cNvSpPr>
            <a:spLocks noGrp="1" noChangeArrowheads="1"/>
          </p:cNvSpPr>
          <p:nvPr>
            <p:ph type="ctrTitle"/>
          </p:nvPr>
        </p:nvSpPr>
        <p:spPr>
          <a:xfrm>
            <a:off x="695400" y="188640"/>
            <a:ext cx="5109091" cy="584775"/>
          </a:xfrm>
        </p:spPr>
        <p:txBody>
          <a:bodyPr/>
          <a:lstStyle/>
          <a:p>
            <a:r>
              <a:rPr lang="zh-CN" altLang="en-US" dirty="0"/>
              <a:t>逻辑结构设计 </a:t>
            </a:r>
          </a:p>
        </p:txBody>
      </p:sp>
      <p:sp>
        <p:nvSpPr>
          <p:cNvPr id="859139" name="Rectangle 3"/>
          <p:cNvSpPr>
            <a:spLocks noGrp="1" noChangeArrowheads="1"/>
          </p:cNvSpPr>
          <p:nvPr>
            <p:ph type="subTitle" idx="1"/>
          </p:nvPr>
        </p:nvSpPr>
        <p:spPr>
          <a:xfrm>
            <a:off x="695400" y="1052736"/>
            <a:ext cx="11305256" cy="4248472"/>
          </a:xfrm>
        </p:spPr>
        <p:txBody>
          <a:bodyPr/>
          <a:lstStyle/>
          <a:p>
            <a:pPr algn="l">
              <a:lnSpc>
                <a:spcPct val="150000"/>
              </a:lnSpc>
            </a:pPr>
            <a:r>
              <a:rPr lang="zh-CN" altLang="en-US" sz="3200" dirty="0"/>
              <a:t>概念结构设计阶段得到的</a:t>
            </a:r>
            <a:r>
              <a:rPr lang="en-US" altLang="zh-CN" sz="3200" dirty="0"/>
              <a:t>E-R</a:t>
            </a:r>
            <a:r>
              <a:rPr lang="zh-CN" altLang="en-US" sz="3200" dirty="0"/>
              <a:t>模型是用户的模型，反映的是用户需求中的现实概念，它独立于任何一种数据模型，独立于任何一个具体的</a:t>
            </a:r>
            <a:r>
              <a:rPr lang="en-US" altLang="zh-CN" sz="3200" dirty="0"/>
              <a:t>DBMS</a:t>
            </a:r>
            <a:r>
              <a:rPr lang="zh-CN" altLang="en-US" sz="3200" dirty="0"/>
              <a:t>。</a:t>
            </a:r>
          </a:p>
          <a:p>
            <a:pPr algn="l">
              <a:lnSpc>
                <a:spcPct val="150000"/>
              </a:lnSpc>
            </a:pPr>
            <a:r>
              <a:rPr lang="zh-CN" altLang="en-US" sz="3200" dirty="0"/>
              <a:t>为了建立用户所要求的数据库，需要把上述概念模型转换为某个具体的</a:t>
            </a:r>
            <a:r>
              <a:rPr lang="en-US" altLang="zh-CN" sz="3200" dirty="0"/>
              <a:t>DBMS</a:t>
            </a:r>
            <a:r>
              <a:rPr lang="zh-CN" altLang="en-US" sz="3200" dirty="0"/>
              <a:t>所支持的数据模型。</a:t>
            </a:r>
          </a:p>
        </p:txBody>
      </p:sp>
    </p:spTree>
    <p:extLst>
      <p:ext uri="{BB962C8B-B14F-4D97-AF65-F5344CB8AC3E}">
        <p14:creationId xmlns:p14="http://schemas.microsoft.com/office/powerpoint/2010/main" val="3103203211"/>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60163" name="Rectangle 3"/>
          <p:cNvSpPr>
            <a:spLocks noGrp="1" noChangeArrowheads="1"/>
          </p:cNvSpPr>
          <p:nvPr>
            <p:ph type="subTitle" idx="1"/>
          </p:nvPr>
        </p:nvSpPr>
        <p:spPr>
          <a:xfrm>
            <a:off x="911424" y="908720"/>
            <a:ext cx="10945216" cy="4176464"/>
          </a:xfrm>
        </p:spPr>
        <p:txBody>
          <a:bodyPr/>
          <a:lstStyle/>
          <a:p>
            <a:pPr algn="l">
              <a:lnSpc>
                <a:spcPct val="150000"/>
              </a:lnSpc>
            </a:pPr>
            <a:r>
              <a:rPr lang="zh-CN" altLang="en-US" dirty="0"/>
              <a:t>数据库逻辑设计的任务是：将概念结构转换成特定</a:t>
            </a:r>
            <a:r>
              <a:rPr lang="en-US" altLang="zh-CN" dirty="0"/>
              <a:t>DBMS</a:t>
            </a:r>
            <a:r>
              <a:rPr lang="zh-CN" altLang="en-US" dirty="0"/>
              <a:t>所支持的数据模型的过程。</a:t>
            </a:r>
          </a:p>
          <a:p>
            <a:pPr algn="l">
              <a:lnSpc>
                <a:spcPct val="150000"/>
              </a:lnSpc>
            </a:pPr>
            <a:r>
              <a:rPr lang="zh-CN" altLang="en-US" dirty="0"/>
              <a:t>从此开始便进入了“实现设计”阶段，需要考虑到具体的</a:t>
            </a:r>
            <a:r>
              <a:rPr lang="en-US" altLang="zh-CN" dirty="0"/>
              <a:t>DBMS</a:t>
            </a:r>
            <a:r>
              <a:rPr lang="zh-CN" altLang="en-US" dirty="0"/>
              <a:t>的性能、具体的数据模型特点。</a:t>
            </a:r>
          </a:p>
        </p:txBody>
      </p:sp>
    </p:spTree>
    <p:extLst>
      <p:ext uri="{BB962C8B-B14F-4D97-AF65-F5344CB8AC3E}">
        <p14:creationId xmlns:p14="http://schemas.microsoft.com/office/powerpoint/2010/main" val="3937582610"/>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740001" y="10592"/>
            <a:ext cx="3223172" cy="760959"/>
          </a:xfrm>
          <a:prstGeom prst="rect">
            <a:avLst/>
          </a:prstGeom>
          <a:noFill/>
          <a:ln w="12700" cap="sq">
            <a:noFill/>
            <a:miter lim="800000"/>
            <a:headEnd/>
            <a:tailEnd/>
          </a:ln>
          <a:effectLst>
            <a:outerShdw dist="35921" dir="2700000" algn="ctr" rotWithShape="0">
              <a:srgbClr val="000514"/>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vert="horz" wrap="none" lIns="72000" tIns="72000" rIns="72000" bIns="72000" numCol="1" rtlCol="0" anchor="ctr" anchorCtr="0" compatLnSpc="1">
            <a:prstTxWarp prst="textNoShape">
              <a:avLst/>
            </a:prstTxWarp>
            <a:spAutoFit/>
          </a:bodyPr>
          <a:lstStyle>
            <a:defPPr>
              <a:defRPr lang="en-US"/>
            </a:defPPr>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a:t>逻辑结构设计</a:t>
            </a:r>
          </a:p>
        </p:txBody>
      </p:sp>
      <p:grpSp>
        <p:nvGrpSpPr>
          <p:cNvPr id="19" name="组合 18">
            <a:extLst>
              <a:ext uri="{FF2B5EF4-FFF2-40B4-BE49-F238E27FC236}">
                <a16:creationId xmlns:a16="http://schemas.microsoft.com/office/drawing/2014/main" id="{2EF4B57A-F55E-4E98-B391-558480DF7F05}"/>
              </a:ext>
            </a:extLst>
          </p:cNvPr>
          <p:cNvGrpSpPr/>
          <p:nvPr/>
        </p:nvGrpSpPr>
        <p:grpSpPr>
          <a:xfrm flipH="1">
            <a:off x="740001" y="2464704"/>
            <a:ext cx="5000384" cy="4085547"/>
            <a:chOff x="6673830" y="1684578"/>
            <a:chExt cx="4226272" cy="4048678"/>
          </a:xfrm>
        </p:grpSpPr>
        <p:pic>
          <p:nvPicPr>
            <p:cNvPr id="20" name="图形 19" descr="头上的大脑">
              <a:extLst>
                <a:ext uri="{FF2B5EF4-FFF2-40B4-BE49-F238E27FC236}">
                  <a16:creationId xmlns:a16="http://schemas.microsoft.com/office/drawing/2014/main" id="{0063C2CB-2714-41AD-869E-A0C8D43E48B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flipH="1">
              <a:off x="6673830" y="2800503"/>
              <a:ext cx="1947993" cy="1691533"/>
            </a:xfrm>
            <a:prstGeom prst="rect">
              <a:avLst/>
            </a:prstGeom>
          </p:spPr>
        </p:pic>
        <p:sp>
          <p:nvSpPr>
            <p:cNvPr id="21" name="Rectangle 12">
              <a:extLst>
                <a:ext uri="{FF2B5EF4-FFF2-40B4-BE49-F238E27FC236}">
                  <a16:creationId xmlns:a16="http://schemas.microsoft.com/office/drawing/2014/main" id="{B4ED039F-4FEA-4FF3-A09C-07BB05755718}"/>
                </a:ext>
              </a:extLst>
            </p:cNvPr>
            <p:cNvSpPr>
              <a:spLocks noChangeArrowheads="1"/>
            </p:cNvSpPr>
            <p:nvPr/>
          </p:nvSpPr>
          <p:spPr bwMode="auto">
            <a:xfrm>
              <a:off x="7356800" y="4562419"/>
              <a:ext cx="735614" cy="344825"/>
            </a:xfrm>
            <a:prstGeom prst="rect">
              <a:avLst/>
            </a:prstGeom>
            <a:solidFill>
              <a:srgbClr val="0070C0"/>
            </a:solidFill>
            <a:ln w="12700" cap="sq">
              <a:solidFill>
                <a:schemeClr val="tx1"/>
              </a:solidFill>
              <a:miter lim="800000"/>
              <a:headEnd/>
              <a:tailEnd/>
            </a:ln>
          </p:spPr>
          <p:txBody>
            <a:bodyPr wrap="none" lIns="0" tIns="0" rIns="0" bIns="0" anchor="ctr"/>
            <a:lstStyle/>
            <a:p>
              <a:pPr algn="ctr"/>
              <a:r>
                <a:rPr kumimoji="1" lang="zh-CN" altLang="en-US" sz="2000" baseline="0" dirty="0">
                  <a:latin typeface="宋体" panose="02010600030101010101" pitchFamily="2" charset="-122"/>
                  <a:ea typeface="宋体" panose="02010600030101010101" pitchFamily="2" charset="-122"/>
                </a:rPr>
                <a:t>教师</a:t>
              </a:r>
            </a:p>
          </p:txBody>
        </p:sp>
        <p:sp>
          <p:nvSpPr>
            <p:cNvPr id="22" name="AutoShape 13">
              <a:extLst>
                <a:ext uri="{FF2B5EF4-FFF2-40B4-BE49-F238E27FC236}">
                  <a16:creationId xmlns:a16="http://schemas.microsoft.com/office/drawing/2014/main" id="{C0946854-B42D-4154-9FA8-B0E1F7FEA022}"/>
                </a:ext>
              </a:extLst>
            </p:cNvPr>
            <p:cNvSpPr>
              <a:spLocks noChangeArrowheads="1"/>
            </p:cNvSpPr>
            <p:nvPr/>
          </p:nvSpPr>
          <p:spPr bwMode="auto">
            <a:xfrm>
              <a:off x="6818632" y="5060545"/>
              <a:ext cx="817350" cy="344826"/>
            </a:xfrm>
            <a:prstGeom prst="roundRect">
              <a:avLst>
                <a:gd name="adj" fmla="val 50000"/>
              </a:avLst>
            </a:prstGeom>
            <a:solidFill>
              <a:schemeClr val="bg1">
                <a:lumMod val="75000"/>
              </a:schemeClr>
            </a:solidFill>
            <a:ln w="12700" cap="sq">
              <a:solidFill>
                <a:schemeClr val="tx1"/>
              </a:solidFill>
              <a:round/>
              <a:headEnd/>
              <a:tailEnd/>
            </a:ln>
          </p:spPr>
          <p:txBody>
            <a:bodyPr wrap="none" lIns="0" tIns="0" rIns="0" bIns="0" anchor="ctr"/>
            <a:lstStyle/>
            <a:p>
              <a:pPr algn="ctr"/>
              <a:r>
                <a:rPr kumimoji="1" lang="zh-CN" altLang="en-US" sz="2000" u="sng" baseline="0" dirty="0">
                  <a:latin typeface="宋体" panose="02010600030101010101" pitchFamily="2" charset="-122"/>
                  <a:ea typeface="宋体" panose="02010600030101010101" pitchFamily="2" charset="-122"/>
                </a:rPr>
                <a:t>教工号</a:t>
              </a:r>
            </a:p>
          </p:txBody>
        </p:sp>
        <p:sp>
          <p:nvSpPr>
            <p:cNvPr id="23" name="AutoShape 14">
              <a:extLst>
                <a:ext uri="{FF2B5EF4-FFF2-40B4-BE49-F238E27FC236}">
                  <a16:creationId xmlns:a16="http://schemas.microsoft.com/office/drawing/2014/main" id="{9DE6100B-363E-4BA2-B47C-D67C8FDE5449}"/>
                </a:ext>
              </a:extLst>
            </p:cNvPr>
            <p:cNvSpPr>
              <a:spLocks noChangeArrowheads="1"/>
            </p:cNvSpPr>
            <p:nvPr/>
          </p:nvSpPr>
          <p:spPr bwMode="auto">
            <a:xfrm>
              <a:off x="7534219" y="5410443"/>
              <a:ext cx="735614" cy="322813"/>
            </a:xfrm>
            <a:prstGeom prst="roundRect">
              <a:avLst>
                <a:gd name="adj" fmla="val 50000"/>
              </a:avLst>
            </a:prstGeom>
            <a:noFill/>
            <a:ln w="12700" cap="sq">
              <a:solidFill>
                <a:schemeClr val="tx1"/>
              </a:solidFill>
              <a:round/>
              <a:headEnd/>
              <a:tailEnd/>
            </a:ln>
          </p:spPr>
          <p:txBody>
            <a:bodyPr wrap="none" lIns="0" tIns="0" rIns="0" bIns="0" anchor="ctr"/>
            <a:lstStyle/>
            <a:p>
              <a:pPr algn="ctr"/>
              <a:r>
                <a:rPr kumimoji="1" lang="zh-CN" altLang="en-US" sz="2000" baseline="0">
                  <a:latin typeface="宋体" panose="02010600030101010101" pitchFamily="2" charset="-122"/>
                  <a:ea typeface="宋体" panose="02010600030101010101" pitchFamily="2" charset="-122"/>
                </a:rPr>
                <a:t>姓名</a:t>
              </a:r>
            </a:p>
          </p:txBody>
        </p:sp>
        <p:sp>
          <p:nvSpPr>
            <p:cNvPr id="24" name="AutoShape 15">
              <a:extLst>
                <a:ext uri="{FF2B5EF4-FFF2-40B4-BE49-F238E27FC236}">
                  <a16:creationId xmlns:a16="http://schemas.microsoft.com/office/drawing/2014/main" id="{18342AE8-9F8F-44C1-AB7F-5E2E126A7BE7}"/>
                </a:ext>
              </a:extLst>
            </p:cNvPr>
            <p:cNvSpPr>
              <a:spLocks noChangeArrowheads="1"/>
            </p:cNvSpPr>
            <p:nvPr/>
          </p:nvSpPr>
          <p:spPr bwMode="auto">
            <a:xfrm>
              <a:off x="8070414" y="5109189"/>
              <a:ext cx="735614" cy="322813"/>
            </a:xfrm>
            <a:prstGeom prst="roundRect">
              <a:avLst>
                <a:gd name="adj" fmla="val 50000"/>
              </a:avLst>
            </a:prstGeom>
            <a:noFill/>
            <a:ln w="12700" cap="sq">
              <a:solidFill>
                <a:schemeClr val="tx1"/>
              </a:solidFill>
              <a:round/>
              <a:headEnd/>
              <a:tailEnd/>
            </a:ln>
          </p:spPr>
          <p:txBody>
            <a:bodyPr wrap="none" lIns="0" tIns="0" rIns="0" bIns="0" anchor="ctr"/>
            <a:lstStyle/>
            <a:p>
              <a:pPr algn="ctr"/>
              <a:r>
                <a:rPr kumimoji="1" lang="zh-CN" altLang="en-US" sz="2000" baseline="0" dirty="0">
                  <a:latin typeface="宋体" panose="02010600030101010101" pitchFamily="2" charset="-122"/>
                  <a:ea typeface="宋体" panose="02010600030101010101" pitchFamily="2" charset="-122"/>
                </a:rPr>
                <a:t>性别</a:t>
              </a:r>
            </a:p>
          </p:txBody>
        </p:sp>
        <p:sp>
          <p:nvSpPr>
            <p:cNvPr id="25" name="AutoShape 16">
              <a:extLst>
                <a:ext uri="{FF2B5EF4-FFF2-40B4-BE49-F238E27FC236}">
                  <a16:creationId xmlns:a16="http://schemas.microsoft.com/office/drawing/2014/main" id="{C70E5A43-E080-4C36-AF1C-8303908F9E8C}"/>
                </a:ext>
              </a:extLst>
            </p:cNvPr>
            <p:cNvSpPr>
              <a:spLocks noChangeArrowheads="1"/>
            </p:cNvSpPr>
            <p:nvPr/>
          </p:nvSpPr>
          <p:spPr bwMode="auto">
            <a:xfrm>
              <a:off x="9054097" y="5109189"/>
              <a:ext cx="735614" cy="322813"/>
            </a:xfrm>
            <a:prstGeom prst="roundRect">
              <a:avLst>
                <a:gd name="adj" fmla="val 50000"/>
              </a:avLst>
            </a:prstGeom>
            <a:noFill/>
            <a:ln w="12700" cap="sq">
              <a:solidFill>
                <a:schemeClr val="tx1"/>
              </a:solidFill>
              <a:round/>
              <a:headEnd/>
              <a:tailEnd/>
            </a:ln>
          </p:spPr>
          <p:txBody>
            <a:bodyPr wrap="none" lIns="0" tIns="0" rIns="0" bIns="0" anchor="ctr"/>
            <a:lstStyle/>
            <a:p>
              <a:pPr algn="ctr"/>
              <a:r>
                <a:rPr kumimoji="1" lang="zh-CN" altLang="en-US" sz="2000" baseline="0">
                  <a:latin typeface="宋体" panose="02010600030101010101" pitchFamily="2" charset="-122"/>
                  <a:ea typeface="宋体" panose="02010600030101010101" pitchFamily="2" charset="-122"/>
                </a:rPr>
                <a:t>职称</a:t>
              </a:r>
            </a:p>
          </p:txBody>
        </p:sp>
        <p:cxnSp>
          <p:nvCxnSpPr>
            <p:cNvPr id="26" name="AutoShape 33">
              <a:extLst>
                <a:ext uri="{FF2B5EF4-FFF2-40B4-BE49-F238E27FC236}">
                  <a16:creationId xmlns:a16="http://schemas.microsoft.com/office/drawing/2014/main" id="{67E84AA3-27D8-4553-89AA-D4A2222AEF52}"/>
                </a:ext>
              </a:extLst>
            </p:cNvPr>
            <p:cNvCxnSpPr>
              <a:cxnSpLocks noChangeShapeType="1"/>
              <a:stCxn id="21" idx="2"/>
              <a:endCxn id="22" idx="0"/>
            </p:cNvCxnSpPr>
            <p:nvPr/>
          </p:nvCxnSpPr>
          <p:spPr bwMode="auto">
            <a:xfrm flipH="1">
              <a:off x="7227307" y="4907244"/>
              <a:ext cx="497300" cy="153301"/>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27" name="AutoShape 34">
              <a:extLst>
                <a:ext uri="{FF2B5EF4-FFF2-40B4-BE49-F238E27FC236}">
                  <a16:creationId xmlns:a16="http://schemas.microsoft.com/office/drawing/2014/main" id="{E5F656D4-B258-4B18-8954-069C1548E778}"/>
                </a:ext>
              </a:extLst>
            </p:cNvPr>
            <p:cNvCxnSpPr>
              <a:cxnSpLocks noChangeShapeType="1"/>
              <a:stCxn id="21" idx="2"/>
              <a:endCxn id="23" idx="0"/>
            </p:cNvCxnSpPr>
            <p:nvPr/>
          </p:nvCxnSpPr>
          <p:spPr bwMode="auto">
            <a:xfrm>
              <a:off x="7724608" y="4907244"/>
              <a:ext cx="177419" cy="503199"/>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28" name="AutoShape 35">
              <a:extLst>
                <a:ext uri="{FF2B5EF4-FFF2-40B4-BE49-F238E27FC236}">
                  <a16:creationId xmlns:a16="http://schemas.microsoft.com/office/drawing/2014/main" id="{F0E327A2-6812-4B63-88DA-0B5DCB58A798}"/>
                </a:ext>
              </a:extLst>
            </p:cNvPr>
            <p:cNvCxnSpPr>
              <a:cxnSpLocks noChangeShapeType="1"/>
              <a:stCxn id="21" idx="2"/>
              <a:endCxn id="24" idx="0"/>
            </p:cNvCxnSpPr>
            <p:nvPr/>
          </p:nvCxnSpPr>
          <p:spPr bwMode="auto">
            <a:xfrm>
              <a:off x="7724608" y="4907244"/>
              <a:ext cx="713614" cy="20194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29" name="AutoShape 36">
              <a:extLst>
                <a:ext uri="{FF2B5EF4-FFF2-40B4-BE49-F238E27FC236}">
                  <a16:creationId xmlns:a16="http://schemas.microsoft.com/office/drawing/2014/main" id="{F365C620-9E9F-49BA-B386-72746D6121F7}"/>
                </a:ext>
              </a:extLst>
            </p:cNvPr>
            <p:cNvCxnSpPr>
              <a:cxnSpLocks noChangeShapeType="1"/>
              <a:stCxn id="21" idx="2"/>
              <a:endCxn id="25" idx="0"/>
            </p:cNvCxnSpPr>
            <p:nvPr/>
          </p:nvCxnSpPr>
          <p:spPr bwMode="auto">
            <a:xfrm>
              <a:off x="7724608" y="4907244"/>
              <a:ext cx="1697297" cy="20194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30" name="Rectangle 8">
              <a:extLst>
                <a:ext uri="{FF2B5EF4-FFF2-40B4-BE49-F238E27FC236}">
                  <a16:creationId xmlns:a16="http://schemas.microsoft.com/office/drawing/2014/main" id="{8D38EE99-E53D-40A6-B04B-207E38EB7BB7}"/>
                </a:ext>
              </a:extLst>
            </p:cNvPr>
            <p:cNvSpPr>
              <a:spLocks noChangeArrowheads="1"/>
            </p:cNvSpPr>
            <p:nvPr/>
          </p:nvSpPr>
          <p:spPr bwMode="auto">
            <a:xfrm>
              <a:off x="8865777" y="3493979"/>
              <a:ext cx="851605" cy="268076"/>
            </a:xfrm>
            <a:prstGeom prst="rect">
              <a:avLst/>
            </a:prstGeom>
            <a:solidFill>
              <a:srgbClr val="0070C0"/>
            </a:solidFill>
            <a:ln w="12700" cap="sq">
              <a:solidFill>
                <a:schemeClr val="tx1"/>
              </a:solidFill>
              <a:miter lim="800000"/>
              <a:headEnd/>
              <a:tailEnd/>
            </a:ln>
          </p:spPr>
          <p:txBody>
            <a:bodyPr wrap="none" lIns="0" tIns="0" rIns="0" bIns="0" anchor="ctr"/>
            <a:lstStyle/>
            <a:p>
              <a:pPr algn="ctr"/>
              <a:r>
                <a:rPr kumimoji="1" lang="zh-CN" altLang="en-US" sz="2000" baseline="0" dirty="0">
                  <a:latin typeface="宋体" panose="02010600030101010101" pitchFamily="2" charset="-122"/>
                  <a:ea typeface="宋体" panose="02010600030101010101" pitchFamily="2" charset="-122"/>
                </a:rPr>
                <a:t>课程</a:t>
              </a:r>
            </a:p>
          </p:txBody>
        </p:sp>
        <p:sp>
          <p:nvSpPr>
            <p:cNvPr id="31" name="AutoShape 9">
              <a:extLst>
                <a:ext uri="{FF2B5EF4-FFF2-40B4-BE49-F238E27FC236}">
                  <a16:creationId xmlns:a16="http://schemas.microsoft.com/office/drawing/2014/main" id="{1E174784-4430-42E6-BEE9-6B2301B0FEC5}"/>
                </a:ext>
              </a:extLst>
            </p:cNvPr>
            <p:cNvSpPr>
              <a:spLocks noChangeArrowheads="1"/>
            </p:cNvSpPr>
            <p:nvPr/>
          </p:nvSpPr>
          <p:spPr bwMode="auto">
            <a:xfrm>
              <a:off x="9912541" y="2997492"/>
              <a:ext cx="946228" cy="329272"/>
            </a:xfrm>
            <a:prstGeom prst="roundRect">
              <a:avLst>
                <a:gd name="adj" fmla="val 50000"/>
              </a:avLst>
            </a:prstGeom>
            <a:solidFill>
              <a:schemeClr val="bg1">
                <a:lumMod val="75000"/>
              </a:schemeClr>
            </a:solidFill>
            <a:ln w="12700" cap="sq">
              <a:solidFill>
                <a:schemeClr val="tx1"/>
              </a:solidFill>
              <a:round/>
              <a:headEnd/>
              <a:tailEnd/>
            </a:ln>
          </p:spPr>
          <p:txBody>
            <a:bodyPr wrap="none" lIns="0" tIns="0" rIns="0" bIns="0" anchor="ctr"/>
            <a:lstStyle/>
            <a:p>
              <a:pPr algn="ctr"/>
              <a:r>
                <a:rPr kumimoji="1" lang="zh-CN" altLang="en-US" sz="2000" u="sng" baseline="0" dirty="0">
                  <a:latin typeface="宋体" panose="02010600030101010101" pitchFamily="2" charset="-122"/>
                  <a:ea typeface="宋体" panose="02010600030101010101" pitchFamily="2" charset="-122"/>
                </a:rPr>
                <a:t>课程号</a:t>
              </a:r>
            </a:p>
          </p:txBody>
        </p:sp>
        <p:sp>
          <p:nvSpPr>
            <p:cNvPr id="32" name="AutoShape 10">
              <a:extLst>
                <a:ext uri="{FF2B5EF4-FFF2-40B4-BE49-F238E27FC236}">
                  <a16:creationId xmlns:a16="http://schemas.microsoft.com/office/drawing/2014/main" id="{D269F51E-3722-4FD3-B5ED-4FC395D38925}"/>
                </a:ext>
              </a:extLst>
            </p:cNvPr>
            <p:cNvSpPr>
              <a:spLocks noChangeArrowheads="1"/>
            </p:cNvSpPr>
            <p:nvPr/>
          </p:nvSpPr>
          <p:spPr bwMode="auto">
            <a:xfrm>
              <a:off x="9953874" y="3489086"/>
              <a:ext cx="946228" cy="240208"/>
            </a:xfrm>
            <a:prstGeom prst="roundRect">
              <a:avLst>
                <a:gd name="adj" fmla="val 50000"/>
              </a:avLst>
            </a:prstGeom>
            <a:noFill/>
            <a:ln w="12700" cap="sq">
              <a:solidFill>
                <a:schemeClr val="tx1"/>
              </a:solidFill>
              <a:round/>
              <a:headEnd/>
              <a:tailEnd/>
            </a:ln>
          </p:spPr>
          <p:txBody>
            <a:bodyPr wrap="none" lIns="0" tIns="0" rIns="0" bIns="0" anchor="ctr"/>
            <a:lstStyle/>
            <a:p>
              <a:pPr algn="ctr"/>
              <a:r>
                <a:rPr kumimoji="1" lang="zh-CN" altLang="en-US" sz="2000" baseline="0" dirty="0">
                  <a:latin typeface="宋体" panose="02010600030101010101" pitchFamily="2" charset="-122"/>
                  <a:ea typeface="宋体" panose="02010600030101010101" pitchFamily="2" charset="-122"/>
                </a:rPr>
                <a:t>课程名</a:t>
              </a:r>
            </a:p>
          </p:txBody>
        </p:sp>
        <p:sp>
          <p:nvSpPr>
            <p:cNvPr id="33" name="AutoShape 11">
              <a:extLst>
                <a:ext uri="{FF2B5EF4-FFF2-40B4-BE49-F238E27FC236}">
                  <a16:creationId xmlns:a16="http://schemas.microsoft.com/office/drawing/2014/main" id="{526EEA80-406D-4620-9802-821C81ADF787}"/>
                </a:ext>
              </a:extLst>
            </p:cNvPr>
            <p:cNvSpPr>
              <a:spLocks noChangeArrowheads="1"/>
            </p:cNvSpPr>
            <p:nvPr/>
          </p:nvSpPr>
          <p:spPr bwMode="auto">
            <a:xfrm>
              <a:off x="9959853" y="3920162"/>
              <a:ext cx="851605" cy="240208"/>
            </a:xfrm>
            <a:prstGeom prst="roundRect">
              <a:avLst>
                <a:gd name="adj" fmla="val 50000"/>
              </a:avLst>
            </a:prstGeom>
            <a:noFill/>
            <a:ln w="12700" cap="sq">
              <a:solidFill>
                <a:schemeClr val="tx1"/>
              </a:solidFill>
              <a:round/>
              <a:headEnd/>
              <a:tailEnd/>
            </a:ln>
          </p:spPr>
          <p:txBody>
            <a:bodyPr wrap="none" lIns="0" tIns="0" rIns="0" bIns="0" anchor="ctr"/>
            <a:lstStyle/>
            <a:p>
              <a:pPr algn="ctr"/>
              <a:r>
                <a:rPr kumimoji="1" lang="zh-CN" altLang="en-US" sz="2000" baseline="0" dirty="0">
                  <a:latin typeface="宋体" panose="02010600030101010101" pitchFamily="2" charset="-122"/>
                  <a:ea typeface="宋体" panose="02010600030101010101" pitchFamily="2" charset="-122"/>
                </a:rPr>
                <a:t>学分</a:t>
              </a:r>
            </a:p>
          </p:txBody>
        </p:sp>
        <p:cxnSp>
          <p:nvCxnSpPr>
            <p:cNvPr id="34" name="AutoShape 30">
              <a:extLst>
                <a:ext uri="{FF2B5EF4-FFF2-40B4-BE49-F238E27FC236}">
                  <a16:creationId xmlns:a16="http://schemas.microsoft.com/office/drawing/2014/main" id="{B3311516-89CE-4355-A0CB-174075E16AB1}"/>
                </a:ext>
              </a:extLst>
            </p:cNvPr>
            <p:cNvCxnSpPr>
              <a:cxnSpLocks noChangeShapeType="1"/>
              <a:stCxn id="31" idx="1"/>
              <a:endCxn id="30" idx="3"/>
            </p:cNvCxnSpPr>
            <p:nvPr/>
          </p:nvCxnSpPr>
          <p:spPr bwMode="auto">
            <a:xfrm flipH="1">
              <a:off x="9717382" y="3162128"/>
              <a:ext cx="195159" cy="46589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35" name="AutoShape 31">
              <a:extLst>
                <a:ext uri="{FF2B5EF4-FFF2-40B4-BE49-F238E27FC236}">
                  <a16:creationId xmlns:a16="http://schemas.microsoft.com/office/drawing/2014/main" id="{0FBE24ED-28FA-4AB7-9B36-D9A7BB106411}"/>
                </a:ext>
              </a:extLst>
            </p:cNvPr>
            <p:cNvCxnSpPr>
              <a:cxnSpLocks noChangeShapeType="1"/>
              <a:stCxn id="32" idx="1"/>
              <a:endCxn id="30" idx="3"/>
            </p:cNvCxnSpPr>
            <p:nvPr/>
          </p:nvCxnSpPr>
          <p:spPr bwMode="auto">
            <a:xfrm flipH="1">
              <a:off x="9717382" y="3609190"/>
              <a:ext cx="236493" cy="18827"/>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36" name="AutoShape 32">
              <a:extLst>
                <a:ext uri="{FF2B5EF4-FFF2-40B4-BE49-F238E27FC236}">
                  <a16:creationId xmlns:a16="http://schemas.microsoft.com/office/drawing/2014/main" id="{3F4D0400-3927-468D-A26A-31528625A143}"/>
                </a:ext>
              </a:extLst>
            </p:cNvPr>
            <p:cNvCxnSpPr>
              <a:cxnSpLocks noChangeShapeType="1"/>
              <a:stCxn id="33" idx="1"/>
              <a:endCxn id="30" idx="3"/>
            </p:cNvCxnSpPr>
            <p:nvPr/>
          </p:nvCxnSpPr>
          <p:spPr bwMode="auto">
            <a:xfrm flipH="1" flipV="1">
              <a:off x="9717382" y="3628017"/>
              <a:ext cx="242471" cy="412248"/>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37" name="Rectangle 22">
              <a:extLst>
                <a:ext uri="{FF2B5EF4-FFF2-40B4-BE49-F238E27FC236}">
                  <a16:creationId xmlns:a16="http://schemas.microsoft.com/office/drawing/2014/main" id="{6813BA72-60F9-453B-B881-A2A321518D77}"/>
                </a:ext>
              </a:extLst>
            </p:cNvPr>
            <p:cNvSpPr>
              <a:spLocks noChangeArrowheads="1"/>
            </p:cNvSpPr>
            <p:nvPr/>
          </p:nvSpPr>
          <p:spPr bwMode="auto">
            <a:xfrm>
              <a:off x="7274148" y="2421715"/>
              <a:ext cx="755056" cy="310261"/>
            </a:xfrm>
            <a:prstGeom prst="rect">
              <a:avLst/>
            </a:prstGeom>
            <a:solidFill>
              <a:srgbClr val="0070C0"/>
            </a:solidFill>
            <a:ln w="12700" cap="sq">
              <a:solidFill>
                <a:schemeClr val="tx1"/>
              </a:solidFill>
              <a:miter lim="800000"/>
              <a:headEnd/>
              <a:tailEnd/>
            </a:ln>
          </p:spPr>
          <p:txBody>
            <a:bodyPr wrap="none" lIns="0" tIns="0" rIns="0" bIns="0" anchor="ctr"/>
            <a:lstStyle/>
            <a:p>
              <a:pPr algn="ctr"/>
              <a:r>
                <a:rPr kumimoji="1" lang="zh-CN" altLang="en-US" sz="2000" baseline="0" dirty="0">
                  <a:latin typeface="宋体" panose="02010600030101010101" pitchFamily="2" charset="-122"/>
                  <a:ea typeface="宋体" panose="02010600030101010101" pitchFamily="2" charset="-122"/>
                </a:rPr>
                <a:t>学生</a:t>
              </a:r>
            </a:p>
          </p:txBody>
        </p:sp>
        <p:sp>
          <p:nvSpPr>
            <p:cNvPr id="38" name="AutoShape 23">
              <a:extLst>
                <a:ext uri="{FF2B5EF4-FFF2-40B4-BE49-F238E27FC236}">
                  <a16:creationId xmlns:a16="http://schemas.microsoft.com/office/drawing/2014/main" id="{C786BD7C-01DD-4E83-9DE5-55861CDA80FD}"/>
                </a:ext>
              </a:extLst>
            </p:cNvPr>
            <p:cNvSpPr>
              <a:spLocks noChangeArrowheads="1"/>
            </p:cNvSpPr>
            <p:nvPr/>
          </p:nvSpPr>
          <p:spPr bwMode="auto">
            <a:xfrm>
              <a:off x="6698219" y="2030476"/>
              <a:ext cx="540284" cy="326344"/>
            </a:xfrm>
            <a:prstGeom prst="roundRect">
              <a:avLst>
                <a:gd name="adj" fmla="val 50000"/>
              </a:avLst>
            </a:prstGeom>
            <a:solidFill>
              <a:schemeClr val="bg1">
                <a:lumMod val="75000"/>
              </a:schemeClr>
            </a:solidFill>
            <a:ln w="12700" cap="sq">
              <a:solidFill>
                <a:schemeClr val="tx1"/>
              </a:solidFill>
              <a:round/>
              <a:headEnd/>
              <a:tailEnd/>
            </a:ln>
          </p:spPr>
          <p:txBody>
            <a:bodyPr wrap="none" lIns="0" tIns="0" rIns="0" bIns="0" anchor="ctr"/>
            <a:lstStyle/>
            <a:p>
              <a:pPr algn="ctr"/>
              <a:r>
                <a:rPr kumimoji="1" lang="zh-CN" altLang="en-US" sz="2000" u="sng" baseline="0" dirty="0">
                  <a:latin typeface="宋体" panose="02010600030101010101" pitchFamily="2" charset="-122"/>
                  <a:ea typeface="宋体" panose="02010600030101010101" pitchFamily="2" charset="-122"/>
                </a:rPr>
                <a:t>学号</a:t>
              </a:r>
            </a:p>
          </p:txBody>
        </p:sp>
        <p:sp>
          <p:nvSpPr>
            <p:cNvPr id="39" name="AutoShape 24">
              <a:extLst>
                <a:ext uri="{FF2B5EF4-FFF2-40B4-BE49-F238E27FC236}">
                  <a16:creationId xmlns:a16="http://schemas.microsoft.com/office/drawing/2014/main" id="{96FBC702-C3A6-4267-BBE0-6B4FBFB1A9F2}"/>
                </a:ext>
              </a:extLst>
            </p:cNvPr>
            <p:cNvSpPr>
              <a:spLocks noChangeArrowheads="1"/>
            </p:cNvSpPr>
            <p:nvPr/>
          </p:nvSpPr>
          <p:spPr bwMode="auto">
            <a:xfrm>
              <a:off x="7137164" y="1684578"/>
              <a:ext cx="612250" cy="244215"/>
            </a:xfrm>
            <a:prstGeom prst="roundRect">
              <a:avLst>
                <a:gd name="adj" fmla="val 50000"/>
              </a:avLst>
            </a:prstGeom>
            <a:noFill/>
            <a:ln w="12700" cap="sq">
              <a:solidFill>
                <a:schemeClr val="tx1"/>
              </a:solidFill>
              <a:round/>
              <a:headEnd/>
              <a:tailEnd/>
            </a:ln>
          </p:spPr>
          <p:txBody>
            <a:bodyPr wrap="none" lIns="0" tIns="0" rIns="0" bIns="0" anchor="ctr"/>
            <a:lstStyle/>
            <a:p>
              <a:pPr algn="ctr"/>
              <a:r>
                <a:rPr kumimoji="1" lang="zh-CN" altLang="en-US" sz="2000" baseline="0" dirty="0">
                  <a:latin typeface="宋体" panose="02010600030101010101" pitchFamily="2" charset="-122"/>
                  <a:ea typeface="宋体" panose="02010600030101010101" pitchFamily="2" charset="-122"/>
                </a:rPr>
                <a:t>姓名</a:t>
              </a:r>
            </a:p>
          </p:txBody>
        </p:sp>
        <p:sp>
          <p:nvSpPr>
            <p:cNvPr id="40" name="AutoShape 25">
              <a:extLst>
                <a:ext uri="{FF2B5EF4-FFF2-40B4-BE49-F238E27FC236}">
                  <a16:creationId xmlns:a16="http://schemas.microsoft.com/office/drawing/2014/main" id="{37BF41FF-EC5E-479C-A611-DFE5A72C93A8}"/>
                </a:ext>
              </a:extLst>
            </p:cNvPr>
            <p:cNvSpPr>
              <a:spLocks noChangeArrowheads="1"/>
            </p:cNvSpPr>
            <p:nvPr/>
          </p:nvSpPr>
          <p:spPr bwMode="auto">
            <a:xfrm>
              <a:off x="8276582" y="2044967"/>
              <a:ext cx="599539" cy="244215"/>
            </a:xfrm>
            <a:prstGeom prst="roundRect">
              <a:avLst>
                <a:gd name="adj" fmla="val 50000"/>
              </a:avLst>
            </a:prstGeom>
            <a:noFill/>
            <a:ln w="12700" cap="sq">
              <a:solidFill>
                <a:schemeClr val="tx1"/>
              </a:solidFill>
              <a:round/>
              <a:headEnd/>
              <a:tailEnd/>
            </a:ln>
          </p:spPr>
          <p:txBody>
            <a:bodyPr wrap="none" lIns="0" tIns="0" rIns="0" bIns="0" anchor="ctr"/>
            <a:lstStyle/>
            <a:p>
              <a:pPr algn="ctr"/>
              <a:r>
                <a:rPr kumimoji="1" lang="zh-CN" altLang="en-US" sz="2000" baseline="0" dirty="0">
                  <a:latin typeface="宋体" panose="02010600030101010101" pitchFamily="2" charset="-122"/>
                  <a:ea typeface="宋体" panose="02010600030101010101" pitchFamily="2" charset="-122"/>
                </a:rPr>
                <a:t>性别</a:t>
              </a:r>
            </a:p>
          </p:txBody>
        </p:sp>
        <p:sp>
          <p:nvSpPr>
            <p:cNvPr id="41" name="AutoShape 26">
              <a:extLst>
                <a:ext uri="{FF2B5EF4-FFF2-40B4-BE49-F238E27FC236}">
                  <a16:creationId xmlns:a16="http://schemas.microsoft.com/office/drawing/2014/main" id="{314FBFEA-968F-4D36-B5E0-1163597348E9}"/>
                </a:ext>
              </a:extLst>
            </p:cNvPr>
            <p:cNvSpPr>
              <a:spLocks noChangeArrowheads="1"/>
            </p:cNvSpPr>
            <p:nvPr/>
          </p:nvSpPr>
          <p:spPr bwMode="auto">
            <a:xfrm>
              <a:off x="7800394" y="1703391"/>
              <a:ext cx="584038" cy="244215"/>
            </a:xfrm>
            <a:prstGeom prst="roundRect">
              <a:avLst>
                <a:gd name="adj" fmla="val 50000"/>
              </a:avLst>
            </a:prstGeom>
            <a:noFill/>
            <a:ln w="12700" cap="sq">
              <a:solidFill>
                <a:schemeClr val="tx1"/>
              </a:solidFill>
              <a:round/>
              <a:headEnd/>
              <a:tailEnd/>
            </a:ln>
          </p:spPr>
          <p:txBody>
            <a:bodyPr wrap="none" lIns="0" tIns="0" rIns="0" bIns="0" anchor="ctr"/>
            <a:lstStyle/>
            <a:p>
              <a:pPr algn="ctr"/>
              <a:r>
                <a:rPr kumimoji="1" lang="zh-CN" altLang="en-US" sz="2000" baseline="0" dirty="0">
                  <a:latin typeface="宋体" panose="02010600030101010101" pitchFamily="2" charset="-122"/>
                  <a:ea typeface="宋体" panose="02010600030101010101" pitchFamily="2" charset="-122"/>
                </a:rPr>
                <a:t>生日</a:t>
              </a:r>
            </a:p>
          </p:txBody>
        </p:sp>
        <p:cxnSp>
          <p:nvCxnSpPr>
            <p:cNvPr id="42" name="AutoShape 41">
              <a:extLst>
                <a:ext uri="{FF2B5EF4-FFF2-40B4-BE49-F238E27FC236}">
                  <a16:creationId xmlns:a16="http://schemas.microsoft.com/office/drawing/2014/main" id="{2214E42D-D577-42EC-8787-1E6E3A557C46}"/>
                </a:ext>
              </a:extLst>
            </p:cNvPr>
            <p:cNvCxnSpPr>
              <a:cxnSpLocks noChangeShapeType="1"/>
              <a:stCxn id="37" idx="0"/>
              <a:endCxn id="38" idx="3"/>
            </p:cNvCxnSpPr>
            <p:nvPr/>
          </p:nvCxnSpPr>
          <p:spPr bwMode="auto">
            <a:xfrm flipH="1" flipV="1">
              <a:off x="7238503" y="2193647"/>
              <a:ext cx="413173" cy="228066"/>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3" name="AutoShape 42">
              <a:extLst>
                <a:ext uri="{FF2B5EF4-FFF2-40B4-BE49-F238E27FC236}">
                  <a16:creationId xmlns:a16="http://schemas.microsoft.com/office/drawing/2014/main" id="{B3182B63-E447-4DE0-8C53-F6664D53F2B0}"/>
                </a:ext>
              </a:extLst>
            </p:cNvPr>
            <p:cNvCxnSpPr>
              <a:cxnSpLocks noChangeShapeType="1"/>
              <a:stCxn id="37" idx="0"/>
              <a:endCxn id="39" idx="2"/>
            </p:cNvCxnSpPr>
            <p:nvPr/>
          </p:nvCxnSpPr>
          <p:spPr bwMode="auto">
            <a:xfrm flipH="1" flipV="1">
              <a:off x="7443289" y="1928793"/>
              <a:ext cx="208388" cy="49292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4" name="AutoShape 43">
              <a:extLst>
                <a:ext uri="{FF2B5EF4-FFF2-40B4-BE49-F238E27FC236}">
                  <a16:creationId xmlns:a16="http://schemas.microsoft.com/office/drawing/2014/main" id="{CA784B50-967F-42C9-8502-0FE16368FB68}"/>
                </a:ext>
              </a:extLst>
            </p:cNvPr>
            <p:cNvCxnSpPr>
              <a:cxnSpLocks noChangeShapeType="1"/>
              <a:stCxn id="37" idx="0"/>
              <a:endCxn id="41" idx="2"/>
            </p:cNvCxnSpPr>
            <p:nvPr/>
          </p:nvCxnSpPr>
          <p:spPr bwMode="auto">
            <a:xfrm flipV="1">
              <a:off x="7651678" y="1947606"/>
              <a:ext cx="440736" cy="474107"/>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5" name="AutoShape 44">
              <a:extLst>
                <a:ext uri="{FF2B5EF4-FFF2-40B4-BE49-F238E27FC236}">
                  <a16:creationId xmlns:a16="http://schemas.microsoft.com/office/drawing/2014/main" id="{EC568BF1-4EC4-4C82-8327-107E032C2FA1}"/>
                </a:ext>
              </a:extLst>
            </p:cNvPr>
            <p:cNvCxnSpPr>
              <a:cxnSpLocks noChangeShapeType="1"/>
              <a:stCxn id="37" idx="0"/>
              <a:endCxn id="40" idx="1"/>
            </p:cNvCxnSpPr>
            <p:nvPr/>
          </p:nvCxnSpPr>
          <p:spPr bwMode="auto">
            <a:xfrm flipV="1">
              <a:off x="7651677" y="2167075"/>
              <a:ext cx="624905" cy="254638"/>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46" name="AutoShape 47">
              <a:extLst>
                <a:ext uri="{FF2B5EF4-FFF2-40B4-BE49-F238E27FC236}">
                  <a16:creationId xmlns:a16="http://schemas.microsoft.com/office/drawing/2014/main" id="{CDCADCB1-1D51-448A-8564-98E7B7F4DE8D}"/>
                </a:ext>
              </a:extLst>
            </p:cNvPr>
            <p:cNvSpPr>
              <a:spLocks noChangeArrowheads="1"/>
            </p:cNvSpPr>
            <p:nvPr/>
          </p:nvSpPr>
          <p:spPr bwMode="auto">
            <a:xfrm>
              <a:off x="8859432" y="2648614"/>
              <a:ext cx="857949" cy="382207"/>
            </a:xfrm>
            <a:prstGeom prst="diamond">
              <a:avLst/>
            </a:prstGeom>
            <a:solidFill>
              <a:schemeClr val="tx2">
                <a:lumMod val="75000"/>
              </a:schemeClr>
            </a:solidFill>
            <a:ln w="12700" cap="sq">
              <a:solidFill>
                <a:schemeClr val="tx1"/>
              </a:solidFill>
              <a:miter lim="800000"/>
              <a:headEnd/>
              <a:tailEnd/>
            </a:ln>
          </p:spPr>
          <p:txBody>
            <a:bodyPr wrap="none" lIns="0" tIns="0" rIns="0" bIns="0" anchor="ctr"/>
            <a:lstStyle/>
            <a:p>
              <a:pPr algn="ctr"/>
              <a:r>
                <a:rPr kumimoji="1" lang="zh-CN" altLang="en-US" sz="2000" dirty="0">
                  <a:latin typeface="宋体" panose="02010600030101010101" pitchFamily="2" charset="-122"/>
                  <a:ea typeface="宋体" panose="02010600030101010101" pitchFamily="2" charset="-122"/>
                </a:rPr>
                <a:t>学习</a:t>
              </a:r>
              <a:endParaRPr kumimoji="1" lang="zh-CN" altLang="en-US" sz="2000" baseline="0" dirty="0">
                <a:latin typeface="宋体" panose="02010600030101010101" pitchFamily="2" charset="-122"/>
                <a:ea typeface="宋体" panose="02010600030101010101" pitchFamily="2" charset="-122"/>
              </a:endParaRPr>
            </a:p>
          </p:txBody>
        </p:sp>
        <p:cxnSp>
          <p:nvCxnSpPr>
            <p:cNvPr id="47" name="AutoShape 54">
              <a:extLst>
                <a:ext uri="{FF2B5EF4-FFF2-40B4-BE49-F238E27FC236}">
                  <a16:creationId xmlns:a16="http://schemas.microsoft.com/office/drawing/2014/main" id="{BDA502E8-A31C-4113-91B7-87F62045DE3D}"/>
                </a:ext>
              </a:extLst>
            </p:cNvPr>
            <p:cNvCxnSpPr>
              <a:cxnSpLocks noChangeShapeType="1"/>
              <a:stCxn id="37" idx="3"/>
              <a:endCxn id="46" idx="1"/>
            </p:cNvCxnSpPr>
            <p:nvPr/>
          </p:nvCxnSpPr>
          <p:spPr bwMode="auto">
            <a:xfrm>
              <a:off x="8029204" y="2576845"/>
              <a:ext cx="830228" cy="262873"/>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8" name="AutoShape 54">
              <a:extLst>
                <a:ext uri="{FF2B5EF4-FFF2-40B4-BE49-F238E27FC236}">
                  <a16:creationId xmlns:a16="http://schemas.microsoft.com/office/drawing/2014/main" id="{67E85C79-01EC-4995-8140-31581F680D53}"/>
                </a:ext>
              </a:extLst>
            </p:cNvPr>
            <p:cNvCxnSpPr>
              <a:cxnSpLocks noChangeShapeType="1"/>
              <a:stCxn id="46" idx="2"/>
              <a:endCxn id="30" idx="0"/>
            </p:cNvCxnSpPr>
            <p:nvPr/>
          </p:nvCxnSpPr>
          <p:spPr bwMode="auto">
            <a:xfrm>
              <a:off x="9288407" y="3030821"/>
              <a:ext cx="3173" cy="463157"/>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9" name="AutoShape 54">
              <a:extLst>
                <a:ext uri="{FF2B5EF4-FFF2-40B4-BE49-F238E27FC236}">
                  <a16:creationId xmlns:a16="http://schemas.microsoft.com/office/drawing/2014/main" id="{CBF2762B-4F37-46B7-9432-D59FC97C19F8}"/>
                </a:ext>
              </a:extLst>
            </p:cNvPr>
            <p:cNvCxnSpPr>
              <a:cxnSpLocks noChangeShapeType="1"/>
              <a:stCxn id="30" idx="2"/>
              <a:endCxn id="50" idx="0"/>
            </p:cNvCxnSpPr>
            <p:nvPr/>
          </p:nvCxnSpPr>
          <p:spPr bwMode="auto">
            <a:xfrm>
              <a:off x="9291580" y="3762054"/>
              <a:ext cx="8046" cy="394827"/>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50" name="AutoShape 57">
              <a:extLst>
                <a:ext uri="{FF2B5EF4-FFF2-40B4-BE49-F238E27FC236}">
                  <a16:creationId xmlns:a16="http://schemas.microsoft.com/office/drawing/2014/main" id="{5D11FD3B-7BDA-4D33-9032-2FEF4E74635D}"/>
                </a:ext>
              </a:extLst>
            </p:cNvPr>
            <p:cNvSpPr>
              <a:spLocks noChangeArrowheads="1"/>
            </p:cNvSpPr>
            <p:nvPr/>
          </p:nvSpPr>
          <p:spPr bwMode="auto">
            <a:xfrm>
              <a:off x="8828339" y="4156881"/>
              <a:ext cx="942575" cy="382207"/>
            </a:xfrm>
            <a:prstGeom prst="diamond">
              <a:avLst/>
            </a:prstGeom>
            <a:solidFill>
              <a:schemeClr val="tx2">
                <a:lumMod val="75000"/>
              </a:schemeClr>
            </a:solidFill>
            <a:ln w="12700" cap="sq">
              <a:solidFill>
                <a:schemeClr val="tx1"/>
              </a:solidFill>
              <a:miter lim="800000"/>
              <a:headEnd/>
              <a:tailEnd/>
            </a:ln>
          </p:spPr>
          <p:txBody>
            <a:bodyPr wrap="none" lIns="0" tIns="0" rIns="0" bIns="0" anchor="ctr"/>
            <a:lstStyle/>
            <a:p>
              <a:pPr algn="ctr"/>
              <a:r>
                <a:rPr kumimoji="1" lang="zh-CN" altLang="en-US" sz="2000" baseline="0" dirty="0">
                  <a:latin typeface="宋体" panose="02010600030101010101" pitchFamily="2" charset="-122"/>
                  <a:ea typeface="宋体" panose="02010600030101010101" pitchFamily="2" charset="-122"/>
                </a:rPr>
                <a:t>讲授</a:t>
              </a:r>
            </a:p>
          </p:txBody>
        </p:sp>
        <p:cxnSp>
          <p:nvCxnSpPr>
            <p:cNvPr id="51" name="AutoShape 54">
              <a:extLst>
                <a:ext uri="{FF2B5EF4-FFF2-40B4-BE49-F238E27FC236}">
                  <a16:creationId xmlns:a16="http://schemas.microsoft.com/office/drawing/2014/main" id="{96EC4A90-0467-4501-9837-559B6F2432A8}"/>
                </a:ext>
              </a:extLst>
            </p:cNvPr>
            <p:cNvCxnSpPr>
              <a:cxnSpLocks noChangeShapeType="1"/>
              <a:stCxn id="50" idx="1"/>
              <a:endCxn id="21" idx="3"/>
            </p:cNvCxnSpPr>
            <p:nvPr/>
          </p:nvCxnSpPr>
          <p:spPr bwMode="auto">
            <a:xfrm flipH="1">
              <a:off x="8092414" y="4347985"/>
              <a:ext cx="735925" cy="386848"/>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52" name="矩形 51">
              <a:extLst>
                <a:ext uri="{FF2B5EF4-FFF2-40B4-BE49-F238E27FC236}">
                  <a16:creationId xmlns:a16="http://schemas.microsoft.com/office/drawing/2014/main" id="{0C2AF331-3347-44E9-A9AC-6963AE1DF3BF}"/>
                </a:ext>
              </a:extLst>
            </p:cNvPr>
            <p:cNvSpPr/>
            <p:nvPr/>
          </p:nvSpPr>
          <p:spPr>
            <a:xfrm>
              <a:off x="9226744" y="3081126"/>
              <a:ext cx="195159" cy="457499"/>
            </a:xfrm>
            <a:prstGeom prst="rect">
              <a:avLst/>
            </a:prstGeom>
          </p:spPr>
          <p:txBody>
            <a:bodyPr wrap="square">
              <a:spAutoFit/>
            </a:bodyPr>
            <a:lstStyle/>
            <a:p>
              <a:r>
                <a:rPr kumimoji="1" lang="en-US" altLang="zh-CN" sz="2400" dirty="0">
                  <a:latin typeface="宋体" panose="02010600030101010101" pitchFamily="2" charset="-122"/>
                  <a:ea typeface="宋体" panose="02010600030101010101" pitchFamily="2" charset="-122"/>
                </a:rPr>
                <a:t>n</a:t>
              </a:r>
              <a:endParaRPr lang="zh-CN" altLang="en-US" sz="2400" dirty="0">
                <a:latin typeface="宋体" panose="02010600030101010101" pitchFamily="2" charset="-122"/>
                <a:ea typeface="宋体" panose="02010600030101010101" pitchFamily="2" charset="-122"/>
              </a:endParaRPr>
            </a:p>
          </p:txBody>
        </p:sp>
        <p:sp>
          <p:nvSpPr>
            <p:cNvPr id="53" name="矩形 52">
              <a:extLst>
                <a:ext uri="{FF2B5EF4-FFF2-40B4-BE49-F238E27FC236}">
                  <a16:creationId xmlns:a16="http://schemas.microsoft.com/office/drawing/2014/main" id="{DCCCD7B0-FC2F-4B1C-AB55-968A15E03FD0}"/>
                </a:ext>
              </a:extLst>
            </p:cNvPr>
            <p:cNvSpPr/>
            <p:nvPr/>
          </p:nvSpPr>
          <p:spPr>
            <a:xfrm>
              <a:off x="8167638" y="4272583"/>
              <a:ext cx="195159" cy="457499"/>
            </a:xfrm>
            <a:prstGeom prst="rect">
              <a:avLst/>
            </a:prstGeom>
          </p:spPr>
          <p:txBody>
            <a:bodyPr wrap="square">
              <a:spAutoFit/>
            </a:bodyPr>
            <a:lstStyle/>
            <a:p>
              <a:r>
                <a:rPr kumimoji="1" lang="en-US" altLang="zh-CN" sz="2400" dirty="0">
                  <a:latin typeface="宋体" panose="02010600030101010101" pitchFamily="2" charset="-122"/>
                  <a:ea typeface="宋体" panose="02010600030101010101" pitchFamily="2" charset="-122"/>
                </a:rPr>
                <a:t>n</a:t>
              </a:r>
              <a:endParaRPr lang="zh-CN" altLang="en-US" sz="2400" dirty="0">
                <a:latin typeface="宋体" panose="02010600030101010101" pitchFamily="2" charset="-122"/>
                <a:ea typeface="宋体" panose="02010600030101010101" pitchFamily="2" charset="-122"/>
              </a:endParaRPr>
            </a:p>
          </p:txBody>
        </p:sp>
        <p:sp>
          <p:nvSpPr>
            <p:cNvPr id="54" name="矩形 53">
              <a:extLst>
                <a:ext uri="{FF2B5EF4-FFF2-40B4-BE49-F238E27FC236}">
                  <a16:creationId xmlns:a16="http://schemas.microsoft.com/office/drawing/2014/main" id="{A6F2DE03-3B40-420D-87CE-E1F2E43FFAFA}"/>
                </a:ext>
              </a:extLst>
            </p:cNvPr>
            <p:cNvSpPr/>
            <p:nvPr/>
          </p:nvSpPr>
          <p:spPr>
            <a:xfrm>
              <a:off x="8410762" y="2301039"/>
              <a:ext cx="195159" cy="457499"/>
            </a:xfrm>
            <a:prstGeom prst="rect">
              <a:avLst/>
            </a:prstGeom>
          </p:spPr>
          <p:txBody>
            <a:bodyPr wrap="square">
              <a:spAutoFit/>
            </a:bodyPr>
            <a:lstStyle/>
            <a:p>
              <a:r>
                <a:rPr kumimoji="1" lang="en-US" altLang="zh-CN" sz="2400" dirty="0">
                  <a:latin typeface="宋体" panose="02010600030101010101" pitchFamily="2" charset="-122"/>
                  <a:ea typeface="宋体" panose="02010600030101010101" pitchFamily="2" charset="-122"/>
                </a:rPr>
                <a:t>m</a:t>
              </a:r>
              <a:endParaRPr lang="zh-CN" altLang="en-US" sz="2400" dirty="0">
                <a:latin typeface="宋体" panose="02010600030101010101" pitchFamily="2" charset="-122"/>
                <a:ea typeface="宋体" panose="02010600030101010101" pitchFamily="2" charset="-122"/>
              </a:endParaRPr>
            </a:p>
          </p:txBody>
        </p:sp>
        <p:sp>
          <p:nvSpPr>
            <p:cNvPr id="55" name="矩形 54">
              <a:extLst>
                <a:ext uri="{FF2B5EF4-FFF2-40B4-BE49-F238E27FC236}">
                  <a16:creationId xmlns:a16="http://schemas.microsoft.com/office/drawing/2014/main" id="{DDC0BF9E-97F1-4EA3-A963-7A656B7AE75D}"/>
                </a:ext>
              </a:extLst>
            </p:cNvPr>
            <p:cNvSpPr/>
            <p:nvPr/>
          </p:nvSpPr>
          <p:spPr>
            <a:xfrm>
              <a:off x="9226744" y="3690564"/>
              <a:ext cx="195159" cy="457499"/>
            </a:xfrm>
            <a:prstGeom prst="rect">
              <a:avLst/>
            </a:prstGeom>
          </p:spPr>
          <p:txBody>
            <a:bodyPr wrap="square">
              <a:spAutoFit/>
            </a:bodyPr>
            <a:lstStyle/>
            <a:p>
              <a:r>
                <a:rPr kumimoji="1" lang="en-US" altLang="zh-CN" sz="2400" dirty="0">
                  <a:latin typeface="宋体" panose="02010600030101010101" pitchFamily="2" charset="-122"/>
                  <a:ea typeface="宋体" panose="02010600030101010101" pitchFamily="2" charset="-122"/>
                </a:rPr>
                <a:t>m</a:t>
              </a:r>
              <a:endParaRPr lang="zh-CN" altLang="en-US" sz="2400" dirty="0">
                <a:latin typeface="宋体" panose="02010600030101010101" pitchFamily="2" charset="-122"/>
                <a:ea typeface="宋体" panose="02010600030101010101" pitchFamily="2" charset="-122"/>
              </a:endParaRPr>
            </a:p>
          </p:txBody>
        </p:sp>
      </p:grpSp>
      <p:sp>
        <p:nvSpPr>
          <p:cNvPr id="61" name="箭头: 虚尾 60">
            <a:extLst>
              <a:ext uri="{FF2B5EF4-FFF2-40B4-BE49-F238E27FC236}">
                <a16:creationId xmlns:a16="http://schemas.microsoft.com/office/drawing/2014/main" id="{154BFE89-73D7-4012-8FAE-4A39CF03F3C3}"/>
              </a:ext>
            </a:extLst>
          </p:cNvPr>
          <p:cNvSpPr/>
          <p:nvPr/>
        </p:nvSpPr>
        <p:spPr>
          <a:xfrm>
            <a:off x="6194841" y="3955709"/>
            <a:ext cx="668448" cy="590640"/>
          </a:xfrm>
          <a:prstGeom prst="stripedRightArrow">
            <a:avLst/>
          </a:prstGeom>
          <a:noFill/>
          <a:ln w="28575" cap="flat" cmpd="sng" algn="ctr">
            <a:solidFill>
              <a:srgbClr val="FF0000"/>
            </a:solidFill>
            <a:prstDash val="solid"/>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ct val="0"/>
              </a:spcAft>
              <a:buClrTx/>
              <a:buSzTx/>
              <a:buFontTx/>
              <a:buNone/>
              <a:tabLst/>
              <a:defRPr/>
            </a:pPr>
            <a:endParaRPr kumimoji="0" lang="zh-CN" altLang="en-US" sz="1800" b="0" i="0" u="none" strike="noStrike" kern="0" cap="none" spc="0" normalizeH="0" baseline="0" noProof="0">
              <a:ln>
                <a:noFill/>
              </a:ln>
              <a:solidFill>
                <a:srgbClr val="005DA2"/>
              </a:solidFill>
              <a:effectLst/>
              <a:uLnTx/>
              <a:uFillTx/>
              <a:latin typeface="Calibri"/>
              <a:ea typeface="宋体" panose="02010600030101010101" pitchFamily="2" charset="-122"/>
              <a:cs typeface="+mn-cs"/>
            </a:endParaRPr>
          </a:p>
        </p:txBody>
      </p:sp>
      <p:sp>
        <p:nvSpPr>
          <p:cNvPr id="62" name="对话气泡: 椭圆形 61">
            <a:extLst>
              <a:ext uri="{FF2B5EF4-FFF2-40B4-BE49-F238E27FC236}">
                <a16:creationId xmlns:a16="http://schemas.microsoft.com/office/drawing/2014/main" id="{DEF659E2-7ABD-4B85-A1EB-57490904C1D9}"/>
              </a:ext>
            </a:extLst>
          </p:cNvPr>
          <p:cNvSpPr/>
          <p:nvPr/>
        </p:nvSpPr>
        <p:spPr>
          <a:xfrm>
            <a:off x="8392918" y="2020677"/>
            <a:ext cx="2457341" cy="786129"/>
          </a:xfrm>
          <a:prstGeom prst="wedgeEllipseCallout">
            <a:avLst>
              <a:gd name="adj1" fmla="val -17615"/>
              <a:gd name="adj2" fmla="val 75722"/>
            </a:avLst>
          </a:prstGeom>
          <a:solidFill>
            <a:sysClr val="window" lastClr="FFFFFF"/>
          </a:solidFill>
          <a:ln w="25400" cap="flat" cmpd="sng" algn="ctr">
            <a:solidFill>
              <a:srgbClr val="FF0000"/>
            </a:solidFill>
            <a:prstDash val="solid"/>
            <a:headEnd type="none" w="med" len="med"/>
            <a:tailEnd type="none" w="med" len="med"/>
          </a:ln>
          <a:effectLst>
            <a:outerShdw blurRad="63500" sx="102000" sy="102000" algn="c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8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机器世界</a:t>
            </a:r>
            <a:endParaRPr kumimoji="0" lang="zh-CN" altLang="en-US" sz="2800" b="1" i="0" u="none" strike="noStrike" kern="0" cap="none" spc="0" normalizeH="0" baseline="0" noProof="0" dirty="0">
              <a:ln>
                <a:noFill/>
              </a:ln>
              <a:solidFill>
                <a:srgbClr val="FF0000"/>
              </a:solidFill>
              <a:effectLst/>
              <a:uLnTx/>
              <a:uFillTx/>
              <a:latin typeface="Calibri"/>
              <a:ea typeface="宋体" panose="02010600030101010101" pitchFamily="2" charset="-122"/>
              <a:cs typeface="+mn-cs"/>
            </a:endParaRPr>
          </a:p>
        </p:txBody>
      </p:sp>
      <p:sp>
        <p:nvSpPr>
          <p:cNvPr id="63" name="对话气泡: 椭圆形 62">
            <a:extLst>
              <a:ext uri="{FF2B5EF4-FFF2-40B4-BE49-F238E27FC236}">
                <a16:creationId xmlns:a16="http://schemas.microsoft.com/office/drawing/2014/main" id="{9912AFCE-6033-4305-A071-50B508E35461}"/>
              </a:ext>
            </a:extLst>
          </p:cNvPr>
          <p:cNvSpPr/>
          <p:nvPr/>
        </p:nvSpPr>
        <p:spPr>
          <a:xfrm>
            <a:off x="494848" y="2282836"/>
            <a:ext cx="2323599" cy="765160"/>
          </a:xfrm>
          <a:prstGeom prst="wedgeEllipseCallout">
            <a:avLst>
              <a:gd name="adj1" fmla="val 15575"/>
              <a:gd name="adj2" fmla="val 80301"/>
            </a:avLst>
          </a:prstGeom>
          <a:solidFill>
            <a:sysClr val="window" lastClr="FFFFFF"/>
          </a:solidFill>
          <a:ln w="25400" cap="flat" cmpd="sng" algn="ctr">
            <a:solidFill>
              <a:srgbClr val="FF0000"/>
            </a:solidFill>
            <a:prstDash val="solid"/>
            <a:headEnd type="none" w="med" len="med"/>
            <a:tailEnd type="none" w="med" len="med"/>
          </a:ln>
          <a:effectLst>
            <a:outerShdw blurRad="63500" sx="102000" sy="102000" algn="c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ct val="0"/>
              </a:spcAft>
              <a:buClrTx/>
              <a:buSzTx/>
              <a:buFontTx/>
              <a:buNone/>
              <a:tabLst/>
              <a:defRPr/>
            </a:pPr>
            <a:r>
              <a:rPr kumimoji="0" lang="zh-CN" altLang="en-US" sz="28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信息世界</a:t>
            </a:r>
            <a:endParaRPr kumimoji="0" lang="zh-CN" altLang="en-US" sz="2800" b="1" i="0" u="none" strike="noStrike" kern="0" cap="none" spc="0" normalizeH="0" baseline="0" noProof="0" dirty="0">
              <a:ln>
                <a:noFill/>
              </a:ln>
              <a:solidFill>
                <a:srgbClr val="FF0000"/>
              </a:solidFill>
              <a:effectLst/>
              <a:uLnTx/>
              <a:uFillTx/>
              <a:latin typeface="Calibri"/>
              <a:ea typeface="宋体" panose="02010600030101010101" pitchFamily="2" charset="-122"/>
              <a:cs typeface="+mn-cs"/>
            </a:endParaRPr>
          </a:p>
        </p:txBody>
      </p:sp>
      <p:sp>
        <p:nvSpPr>
          <p:cNvPr id="64" name="Rectangle 20">
            <a:extLst>
              <a:ext uri="{FF2B5EF4-FFF2-40B4-BE49-F238E27FC236}">
                <a16:creationId xmlns:a16="http://schemas.microsoft.com/office/drawing/2014/main" id="{22F1D1A0-53AA-4B0B-A398-603E40C017B1}"/>
              </a:ext>
            </a:extLst>
          </p:cNvPr>
          <p:cNvSpPr>
            <a:spLocks noChangeArrowheads="1"/>
          </p:cNvSpPr>
          <p:nvPr/>
        </p:nvSpPr>
        <p:spPr bwMode="auto">
          <a:xfrm>
            <a:off x="7736091" y="3314842"/>
            <a:ext cx="3770997" cy="2041585"/>
          </a:xfrm>
          <a:prstGeom prst="rect">
            <a:avLst/>
          </a:prstGeom>
          <a:solidFill>
            <a:sysClr val="window" lastClr="FFFFFF"/>
          </a:solidFill>
          <a:ln w="38100" cap="flat" cmpd="sng" algn="ctr">
            <a:solidFill>
              <a:srgbClr val="00B050"/>
            </a:solidFill>
            <a:prstDash val="solid"/>
          </a:ln>
          <a:effectLst/>
        </p:spPr>
        <p:txBody>
          <a:bodyPr wrap="square" rtlCol="0">
            <a:spAutoFit/>
          </a:bodyPr>
          <a:lstStyle/>
          <a:p>
            <a:pPr marL="0" marR="0" lvl="0" indent="0" defTabSz="914400" eaLnBrk="1" fontAlgn="auto" latinLnBrk="0" hangingPunct="1">
              <a:lnSpc>
                <a:spcPct val="100000"/>
              </a:lnSpc>
              <a:spcBef>
                <a:spcPts val="0"/>
              </a:spcBef>
              <a:spcAft>
                <a:spcPts val="800"/>
              </a:spcAft>
              <a:buClrTx/>
              <a:buSzTx/>
              <a:buFontTx/>
              <a:buNone/>
              <a:tabLst/>
              <a:defRPr/>
            </a:pPr>
            <a:r>
              <a:rPr kumimoji="0" lang="zh-CN" altLang="en-US"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学生</a:t>
            </a:r>
            <a:r>
              <a:rPr kumimoji="0" lang="en-US" altLang="zh-CN"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2000" b="1" i="0" u="sng"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学号</a:t>
            </a:r>
            <a:r>
              <a:rPr kumimoji="0" lang="en-US" altLang="zh-CN"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姓名</a:t>
            </a:r>
            <a:r>
              <a:rPr kumimoji="0" lang="en-US" altLang="zh-CN"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生日</a:t>
            </a:r>
            <a:r>
              <a:rPr kumimoji="0" lang="en-US" altLang="zh-CN"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性别</a:t>
            </a:r>
            <a:r>
              <a:rPr kumimoji="0" lang="en-US" altLang="zh-CN"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p>
          <a:p>
            <a:pPr marL="0" marR="0" lvl="0" indent="0" defTabSz="914400" eaLnBrk="1" fontAlgn="auto" latinLnBrk="0" hangingPunct="1">
              <a:lnSpc>
                <a:spcPct val="100000"/>
              </a:lnSpc>
              <a:spcBef>
                <a:spcPts val="0"/>
              </a:spcBef>
              <a:spcAft>
                <a:spcPts val="800"/>
              </a:spcAft>
              <a:buClrTx/>
              <a:buSzTx/>
              <a:buFontTx/>
              <a:buNone/>
              <a:tabLst/>
              <a:defRPr/>
            </a:pPr>
            <a:r>
              <a:rPr kumimoji="0" lang="zh-CN" altLang="en-US"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教师</a:t>
            </a:r>
            <a:r>
              <a:rPr kumimoji="0" lang="en-US" altLang="zh-CN"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2000" b="1" i="0" u="sng"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教工号</a:t>
            </a:r>
            <a:r>
              <a:rPr kumimoji="0" lang="en-US" altLang="zh-CN"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姓名</a:t>
            </a:r>
            <a:r>
              <a:rPr kumimoji="0" lang="en-US" altLang="zh-CN"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性别</a:t>
            </a:r>
            <a:r>
              <a:rPr kumimoji="0" lang="en-US" altLang="zh-CN"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职称</a:t>
            </a:r>
            <a:r>
              <a:rPr kumimoji="0" lang="en-US" altLang="zh-CN"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p>
          <a:p>
            <a:pPr marL="0" marR="0" lvl="0" indent="0" defTabSz="914400" eaLnBrk="1" fontAlgn="auto" latinLnBrk="0" hangingPunct="1">
              <a:lnSpc>
                <a:spcPct val="100000"/>
              </a:lnSpc>
              <a:spcBef>
                <a:spcPts val="0"/>
              </a:spcBef>
              <a:spcAft>
                <a:spcPts val="800"/>
              </a:spcAft>
              <a:buClrTx/>
              <a:buSzTx/>
              <a:buFontTx/>
              <a:buNone/>
              <a:tabLst/>
              <a:defRPr/>
            </a:pPr>
            <a:r>
              <a:rPr kumimoji="0" lang="zh-CN" altLang="en-US"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课程</a:t>
            </a:r>
            <a:r>
              <a:rPr kumimoji="0" lang="en-US" altLang="zh-CN"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2000" b="1" i="0" u="sng"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课程号</a:t>
            </a:r>
            <a:r>
              <a:rPr kumimoji="0" lang="en-US" altLang="zh-CN"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课程名</a:t>
            </a:r>
            <a:r>
              <a:rPr kumimoji="0" lang="en-US" altLang="zh-CN"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学分</a:t>
            </a:r>
            <a:r>
              <a:rPr kumimoji="0" lang="en-US" altLang="zh-CN"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p>
          <a:p>
            <a:pPr marL="0" marR="0" lvl="0" indent="0" defTabSz="914400" eaLnBrk="1" fontAlgn="auto" latinLnBrk="0" hangingPunct="1">
              <a:lnSpc>
                <a:spcPct val="100000"/>
              </a:lnSpc>
              <a:spcBef>
                <a:spcPts val="0"/>
              </a:spcBef>
              <a:spcAft>
                <a:spcPts val="800"/>
              </a:spcAft>
              <a:buClrTx/>
              <a:buSzTx/>
              <a:buFontTx/>
              <a:buNone/>
              <a:tabLst/>
              <a:defRPr/>
            </a:pPr>
            <a:r>
              <a:rPr kumimoji="0" lang="zh-CN" altLang="en-US"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学习</a:t>
            </a:r>
            <a:r>
              <a:rPr kumimoji="0" lang="en-US" altLang="zh-CN"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2000" b="1" i="0" u="sng"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学号</a:t>
            </a:r>
            <a:r>
              <a:rPr kumimoji="0" lang="en-US" altLang="zh-CN" sz="2000" b="1" i="0" u="sng"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2000" b="1" i="0" u="sng"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课程号</a:t>
            </a:r>
            <a:r>
              <a:rPr kumimoji="0" lang="en-US" altLang="zh-CN"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p>
          <a:p>
            <a:pPr marL="0" marR="0" lvl="0" indent="0" defTabSz="914400" eaLnBrk="1" fontAlgn="auto" latinLnBrk="0" hangingPunct="1">
              <a:lnSpc>
                <a:spcPct val="100000"/>
              </a:lnSpc>
              <a:spcBef>
                <a:spcPts val="0"/>
              </a:spcBef>
              <a:spcAft>
                <a:spcPts val="800"/>
              </a:spcAft>
              <a:buClrTx/>
              <a:buSzTx/>
              <a:buFontTx/>
              <a:buNone/>
              <a:tabLst/>
              <a:defRPr/>
            </a:pPr>
            <a:r>
              <a:rPr kumimoji="0" lang="zh-CN" altLang="en-US"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讲授</a:t>
            </a:r>
            <a:r>
              <a:rPr kumimoji="0" lang="en-US" altLang="zh-CN"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2000" b="1" i="0" u="sng"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教工号</a:t>
            </a:r>
            <a:r>
              <a:rPr kumimoji="0" lang="en-US" altLang="zh-CN" sz="2000" b="1" i="0" u="sng"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2000" b="1" i="0" u="sng"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课程号</a:t>
            </a:r>
            <a:r>
              <a:rPr kumimoji="0" lang="en-US" altLang="zh-CN"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a:t>
            </a:r>
            <a:endParaRPr kumimoji="0" lang="zh-CN" altLang="en-US" sz="20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65" name="对话气泡: 圆角矩形 64">
            <a:extLst>
              <a:ext uri="{FF2B5EF4-FFF2-40B4-BE49-F238E27FC236}">
                <a16:creationId xmlns:a16="http://schemas.microsoft.com/office/drawing/2014/main" id="{0F750235-9B6B-4A4D-B9B9-9D00A8272F9C}"/>
              </a:ext>
            </a:extLst>
          </p:cNvPr>
          <p:cNvSpPr/>
          <p:nvPr/>
        </p:nvSpPr>
        <p:spPr>
          <a:xfrm>
            <a:off x="7610874" y="5827545"/>
            <a:ext cx="4184343" cy="584859"/>
          </a:xfrm>
          <a:prstGeom prst="wedgeRoundRectCallout">
            <a:avLst>
              <a:gd name="adj1" fmla="val -22609"/>
              <a:gd name="adj2" fmla="val -28200"/>
              <a:gd name="adj3" fmla="val 16667"/>
            </a:avLst>
          </a:prstGeom>
          <a:noFill/>
          <a:ln w="25400" cap="flat" cmpd="sng" algn="ctr">
            <a:noFill/>
            <a:prstDash val="solid"/>
            <a:headEnd type="none" w="med" len="med"/>
            <a:tailEnd type="none" w="med" len="med"/>
          </a:ln>
          <a:effectLst/>
        </p:spPr>
        <p:txBody>
          <a:bodyPr rtlCol="0" anchor="ctr"/>
          <a:lstStyle/>
          <a:p>
            <a:pPr marL="0" marR="0" lvl="0" indent="0" defTabSz="914400" eaLnBrk="1" fontAlgn="auto" latinLnBrk="0" hangingPunct="1">
              <a:lnSpc>
                <a:spcPct val="100000"/>
              </a:lnSpc>
              <a:spcBef>
                <a:spcPts val="0"/>
              </a:spcBef>
              <a:spcAft>
                <a:spcPct val="0"/>
              </a:spcAft>
              <a:buClrTx/>
              <a:buSzTx/>
              <a:buFontTx/>
              <a:buNone/>
              <a:tabLst>
                <a:tab pos="628650" algn="l"/>
              </a:tabLst>
              <a:defRPr/>
            </a:pPr>
            <a:r>
              <a:rPr kumimoji="0" lang="zh-CN" altLang="en-US" sz="2400" b="0" i="0" u="none" strike="noStrike" kern="0" cap="none" spc="0" normalizeH="0" baseline="0" noProof="0" dirty="0">
                <a:ln>
                  <a:noFill/>
                </a:ln>
                <a:solidFill>
                  <a:srgbClr val="FFFF00"/>
                </a:solidFill>
                <a:effectLst/>
                <a:uLnTx/>
                <a:uFillTx/>
                <a:latin typeface="宋体" panose="02010600030101010101" pitchFamily="2" charset="-122"/>
                <a:ea typeface="宋体" panose="02010600030101010101" pitchFamily="2" charset="-122"/>
                <a:cs typeface="+mn-cs"/>
              </a:rPr>
              <a:t>注：这里示范的是关系模型，  </a:t>
            </a:r>
            <a:r>
              <a:rPr kumimoji="0" lang="en-US" altLang="zh-CN" sz="2400" b="0" i="0" u="none" strike="noStrike" kern="0" cap="none" spc="0" normalizeH="0" baseline="0" noProof="0" dirty="0">
                <a:ln>
                  <a:noFill/>
                </a:ln>
                <a:solidFill>
                  <a:srgbClr val="FFFF00"/>
                </a:solidFill>
                <a:effectLst/>
                <a:uLnTx/>
                <a:uFillTx/>
                <a:latin typeface="宋体" panose="02010600030101010101" pitchFamily="2" charset="-122"/>
                <a:ea typeface="宋体" panose="02010600030101010101" pitchFamily="2" charset="-122"/>
                <a:cs typeface="+mn-cs"/>
              </a:rPr>
              <a:t>	</a:t>
            </a:r>
            <a:r>
              <a:rPr kumimoji="0" lang="zh-CN" altLang="en-US" sz="2400" b="0" i="0" u="none" strike="noStrike" kern="0" cap="none" spc="0" normalizeH="0" baseline="0" noProof="0" dirty="0">
                <a:ln>
                  <a:noFill/>
                </a:ln>
                <a:solidFill>
                  <a:srgbClr val="FFFF00"/>
                </a:solidFill>
                <a:effectLst/>
                <a:uLnTx/>
                <a:uFillTx/>
                <a:latin typeface="宋体" panose="02010600030101010101" pitchFamily="2" charset="-122"/>
                <a:ea typeface="宋体" panose="02010600030101010101" pitchFamily="2" charset="-122"/>
                <a:cs typeface="+mn-cs"/>
              </a:rPr>
              <a:t>当然也可以是其它模型</a:t>
            </a:r>
            <a:endParaRPr kumimoji="0" lang="zh-CN" altLang="en-US" sz="2400" b="1" i="0" u="none" strike="noStrike" kern="0" cap="none" spc="0" normalizeH="0" baseline="0" noProof="0" dirty="0">
              <a:ln>
                <a:noFill/>
              </a:ln>
              <a:solidFill>
                <a:srgbClr val="FFFF00"/>
              </a:solidFill>
              <a:effectLst/>
              <a:uLnTx/>
              <a:uFillTx/>
              <a:latin typeface="宋体" panose="02010600030101010101" pitchFamily="2" charset="-122"/>
              <a:ea typeface="宋体" panose="02010600030101010101" pitchFamily="2" charset="-122"/>
              <a:cs typeface="+mn-cs"/>
            </a:endParaRPr>
          </a:p>
        </p:txBody>
      </p:sp>
      <p:sp>
        <p:nvSpPr>
          <p:cNvPr id="66" name="Rectangle 20">
            <a:extLst>
              <a:ext uri="{FF2B5EF4-FFF2-40B4-BE49-F238E27FC236}">
                <a16:creationId xmlns:a16="http://schemas.microsoft.com/office/drawing/2014/main" id="{D476F3DA-EA0D-42EE-8E37-DA848622FB85}"/>
              </a:ext>
            </a:extLst>
          </p:cNvPr>
          <p:cNvSpPr>
            <a:spLocks noChangeArrowheads="1"/>
          </p:cNvSpPr>
          <p:nvPr/>
        </p:nvSpPr>
        <p:spPr bwMode="auto">
          <a:xfrm>
            <a:off x="685655" y="857505"/>
            <a:ext cx="10821433" cy="1077218"/>
          </a:xfrm>
          <a:prstGeom prst="rect">
            <a:avLst/>
          </a:prstGeom>
          <a:noFill/>
        </p:spPr>
        <p:txBody>
          <a:bodyPr wrap="square" rtlCol="0">
            <a:spAutoFit/>
          </a:bodyPr>
          <a:lstStyle/>
          <a:p>
            <a:pPr>
              <a:spcAft>
                <a:spcPct val="20000"/>
              </a:spcAft>
            </a:pPr>
            <a:r>
              <a:rPr lang="zh-CN" altLang="en-US" kern="0" dirty="0">
                <a:latin typeface="微软雅黑" panose="020B0503020204020204" pitchFamily="34" charset="-122"/>
                <a:ea typeface="微软雅黑" panose="020B0503020204020204" pitchFamily="34" charset="-122"/>
              </a:rPr>
              <a:t>逻辑结构设计就是依据概念模型建立基于某种</a:t>
            </a:r>
            <a:r>
              <a:rPr lang="en-US" altLang="zh-CN" kern="0" dirty="0">
                <a:latin typeface="微软雅黑" panose="020B0503020204020204" pitchFamily="34" charset="-122"/>
                <a:ea typeface="微软雅黑" panose="020B0503020204020204" pitchFamily="34" charset="-122"/>
              </a:rPr>
              <a:t>DBMS</a:t>
            </a:r>
            <a:r>
              <a:rPr lang="zh-CN" altLang="en-US" kern="0" dirty="0">
                <a:latin typeface="微软雅黑" panose="020B0503020204020204" pitchFamily="34" charset="-122"/>
                <a:ea typeface="微软雅黑" panose="020B0503020204020204" pitchFamily="34" charset="-122"/>
              </a:rPr>
              <a:t>的全局数据逻辑结构</a:t>
            </a:r>
            <a:r>
              <a:rPr lang="en-US" altLang="zh-CN" kern="0"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391048784"/>
      </p:ext>
    </p:extLst>
  </p:cSld>
  <p:clrMapOvr>
    <a:masterClrMapping/>
  </p:clrMapOvr>
  <p:transition spd="med">
    <p:random/>
    <p:sndAc>
      <p:stSnd>
        <p:snd r:embed="rId2" name="arrow.wav"/>
      </p:stSnd>
    </p:sndAc>
  </p:transition>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61187" name="Rectangle 3"/>
          <p:cNvSpPr>
            <a:spLocks noGrp="1" noChangeArrowheads="1"/>
          </p:cNvSpPr>
          <p:nvPr>
            <p:ph type="subTitle" idx="1"/>
          </p:nvPr>
        </p:nvSpPr>
        <p:spPr>
          <a:xfrm>
            <a:off x="999334" y="892175"/>
            <a:ext cx="2662238" cy="4114800"/>
          </a:xfrm>
        </p:spPr>
        <p:txBody>
          <a:bodyPr/>
          <a:lstStyle/>
          <a:p>
            <a:pPr algn="l">
              <a:lnSpc>
                <a:spcPct val="150000"/>
              </a:lnSpc>
            </a:pPr>
            <a:r>
              <a:rPr lang="zh-CN" altLang="en-US" dirty="0"/>
              <a:t>一般的逻辑设计分为以下四步（如图所示）：</a:t>
            </a:r>
          </a:p>
        </p:txBody>
      </p:sp>
      <p:sp>
        <p:nvSpPr>
          <p:cNvPr id="861188" name="Rectangle 4"/>
          <p:cNvSpPr>
            <a:spLocks noChangeArrowheads="1"/>
          </p:cNvSpPr>
          <p:nvPr/>
        </p:nvSpPr>
        <p:spPr bwMode="auto">
          <a:xfrm>
            <a:off x="1524001" y="70750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Aft>
                <a:spcPct val="0"/>
              </a:spcAft>
              <a:buSzTx/>
            </a:pPr>
            <a:endParaRPr lang="zh-CN" altLang="en-US" sz="1800">
              <a:solidFill>
                <a:srgbClr val="000000"/>
              </a:solidFill>
              <a:effectLst/>
              <a:latin typeface="Tahoma" panose="020B0604030504040204" pitchFamily="34" charset="0"/>
              <a:ea typeface="宋体" panose="02010600030101010101" pitchFamily="2" charset="-122"/>
            </a:endParaRPr>
          </a:p>
        </p:txBody>
      </p:sp>
      <p:pic>
        <p:nvPicPr>
          <p:cNvPr id="861192" name="Picture 8" descr="wps9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3114" y="0"/>
            <a:ext cx="535622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480426"/>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740001" y="10592"/>
            <a:ext cx="4762055" cy="760959"/>
          </a:xfrm>
          <a:prstGeom prst="rect">
            <a:avLst/>
          </a:prstGeom>
          <a:noFill/>
          <a:ln w="12700" cap="sq">
            <a:noFill/>
            <a:miter lim="800000"/>
            <a:headEnd/>
            <a:tailEnd/>
          </a:ln>
          <a:effectLst>
            <a:outerShdw dist="35921" dir="2700000" algn="ctr" rotWithShape="0">
              <a:srgbClr val="000514"/>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vert="horz" wrap="none" lIns="72000" tIns="72000" rIns="72000" bIns="72000" numCol="1" rtlCol="0" anchor="ctr" anchorCtr="0" compatLnSpc="1">
            <a:prstTxWarp prst="textNoShape">
              <a:avLst/>
            </a:prstTxWarp>
            <a:spAutoFit/>
          </a:bodyPr>
          <a:lstStyle>
            <a:defPPr>
              <a:defRPr lang="en-US"/>
            </a:defPPr>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a:t>逻辑结构设计的流程</a:t>
            </a:r>
          </a:p>
        </p:txBody>
      </p:sp>
      <p:grpSp>
        <p:nvGrpSpPr>
          <p:cNvPr id="56" name="组合 55">
            <a:extLst>
              <a:ext uri="{FF2B5EF4-FFF2-40B4-BE49-F238E27FC236}">
                <a16:creationId xmlns:a16="http://schemas.microsoft.com/office/drawing/2014/main" id="{25377BEB-B59B-4FAA-930B-E0D596ED784C}"/>
              </a:ext>
            </a:extLst>
          </p:cNvPr>
          <p:cNvGrpSpPr/>
          <p:nvPr/>
        </p:nvGrpSpPr>
        <p:grpSpPr>
          <a:xfrm>
            <a:off x="960517" y="1412776"/>
            <a:ext cx="10510399" cy="4851948"/>
            <a:chOff x="1536577" y="2924944"/>
            <a:chExt cx="8382000" cy="3594672"/>
          </a:xfrm>
        </p:grpSpPr>
        <p:sp>
          <p:nvSpPr>
            <p:cNvPr id="57" name="Oval 4">
              <a:extLst>
                <a:ext uri="{FF2B5EF4-FFF2-40B4-BE49-F238E27FC236}">
                  <a16:creationId xmlns:a16="http://schemas.microsoft.com/office/drawing/2014/main" id="{B642B5CB-4031-4360-96DA-F718A18E14E1}"/>
                </a:ext>
              </a:extLst>
            </p:cNvPr>
            <p:cNvSpPr>
              <a:spLocks noChangeArrowheads="1"/>
            </p:cNvSpPr>
            <p:nvPr/>
          </p:nvSpPr>
          <p:spPr bwMode="auto">
            <a:xfrm>
              <a:off x="2670112" y="2924944"/>
              <a:ext cx="1938129" cy="1752600"/>
            </a:xfrm>
            <a:prstGeom prst="ellipse">
              <a:avLst/>
            </a:prstGeom>
            <a:solidFill>
              <a:srgbClr val="CCFFCC"/>
            </a:solidFill>
            <a:ln w="12700" cap="sq">
              <a:solidFill>
                <a:srgbClr val="000000"/>
              </a:solidFill>
              <a:round/>
              <a:headEnd/>
              <a:tailEnd/>
            </a:ln>
            <a:effectLst>
              <a:outerShdw dist="35921" dir="2700000" algn="ctr" rotWithShape="0">
                <a:schemeClr val="bg2"/>
              </a:outerShdw>
            </a:effectLst>
          </p:spPr>
          <p:txBody>
            <a:bodyPr lIns="0" tIns="0" rIns="0" bIns="0" anchor="ctr" anchorCtr="1"/>
            <a:lstStyle/>
            <a:p>
              <a:pPr algn="ctr">
                <a:spcAft>
                  <a:spcPct val="0"/>
                </a:spcAft>
                <a:buSzTx/>
                <a:tabLst>
                  <a:tab pos="292100" algn="l"/>
                  <a:tab pos="485775" algn="l"/>
                </a:tabLst>
                <a:defRPr/>
              </a:pPr>
              <a:r>
                <a:rPr lang="zh-CN" altLang="en-US">
                  <a:solidFill>
                    <a:srgbClr val="000000"/>
                  </a:solidFill>
                  <a:effectLst>
                    <a:outerShdw blurRad="38100" dist="38100" dir="2700000" algn="tl">
                      <a:srgbClr val="FFFFFF"/>
                    </a:outerShdw>
                  </a:effectLst>
                  <a:latin typeface="宋体" panose="02010600030101010101" pitchFamily="2" charset="-122"/>
                  <a:ea typeface="宋体" panose="02010600030101010101" pitchFamily="2" charset="-122"/>
                </a:rPr>
                <a:t>转化为</a:t>
              </a:r>
            </a:p>
            <a:p>
              <a:pPr algn="ctr">
                <a:spcAft>
                  <a:spcPct val="0"/>
                </a:spcAft>
                <a:buSzTx/>
                <a:tabLst>
                  <a:tab pos="292100" algn="l"/>
                  <a:tab pos="485775" algn="l"/>
                </a:tabLst>
                <a:defRPr/>
              </a:pPr>
              <a:r>
                <a:rPr lang="zh-CN" altLang="en-US">
                  <a:solidFill>
                    <a:srgbClr val="000000"/>
                  </a:solidFill>
                  <a:effectLst>
                    <a:outerShdw blurRad="38100" dist="38100" dir="2700000" algn="tl">
                      <a:srgbClr val="FFFFFF"/>
                    </a:outerShdw>
                  </a:effectLst>
                  <a:latin typeface="宋体" panose="02010600030101010101" pitchFamily="2" charset="-122"/>
                  <a:ea typeface="宋体" panose="02010600030101010101" pitchFamily="2" charset="-122"/>
                </a:rPr>
                <a:t>数据模型</a:t>
              </a:r>
            </a:p>
          </p:txBody>
        </p:sp>
        <p:cxnSp>
          <p:nvCxnSpPr>
            <p:cNvPr id="58" name="AutoShape 5">
              <a:extLst>
                <a:ext uri="{FF2B5EF4-FFF2-40B4-BE49-F238E27FC236}">
                  <a16:creationId xmlns:a16="http://schemas.microsoft.com/office/drawing/2014/main" id="{3F010E87-9FF2-4D3A-9033-465D17FA11C0}"/>
                </a:ext>
              </a:extLst>
            </p:cNvPr>
            <p:cNvCxnSpPr>
              <a:cxnSpLocks noChangeShapeType="1"/>
              <a:stCxn id="57" idx="6"/>
              <a:endCxn id="69" idx="2"/>
            </p:cNvCxnSpPr>
            <p:nvPr/>
          </p:nvCxnSpPr>
          <p:spPr bwMode="auto">
            <a:xfrm>
              <a:off x="4608241" y="3801245"/>
              <a:ext cx="1371599" cy="0"/>
            </a:xfrm>
            <a:prstGeom prst="straightConnector1">
              <a:avLst/>
            </a:prstGeom>
            <a:noFill/>
            <a:ln w="762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9" name="AutoShape 6">
              <a:extLst>
                <a:ext uri="{FF2B5EF4-FFF2-40B4-BE49-F238E27FC236}">
                  <a16:creationId xmlns:a16="http://schemas.microsoft.com/office/drawing/2014/main" id="{5F8D2EE6-A5C4-4D1D-BDC8-579D6D052521}"/>
                </a:ext>
              </a:extLst>
            </p:cNvPr>
            <p:cNvSpPr>
              <a:spLocks noChangeArrowheads="1"/>
            </p:cNvSpPr>
            <p:nvPr/>
          </p:nvSpPr>
          <p:spPr bwMode="auto">
            <a:xfrm>
              <a:off x="1536577" y="5287143"/>
              <a:ext cx="1547663" cy="1066800"/>
            </a:xfrm>
            <a:prstGeom prst="verticalScroll">
              <a:avLst>
                <a:gd name="adj" fmla="val 12500"/>
              </a:avLst>
            </a:prstGeom>
            <a:solidFill>
              <a:srgbClr val="D9F9FF"/>
            </a:solidFill>
            <a:ln w="12700" cap="sq">
              <a:solidFill>
                <a:srgbClr val="000000"/>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en-US" altLang="zh-CN" dirty="0">
                  <a:solidFill>
                    <a:srgbClr val="000000"/>
                  </a:solidFill>
                  <a:effectLst>
                    <a:outerShdw blurRad="38100" dist="38100" dir="2700000" algn="tl">
                      <a:srgbClr val="FFFFFF"/>
                    </a:outerShdw>
                  </a:effectLst>
                  <a:latin typeface="宋体" panose="02010600030101010101" pitchFamily="2" charset="-122"/>
                  <a:ea typeface="宋体" panose="02010600030101010101" pitchFamily="2" charset="-122"/>
                </a:rPr>
                <a:t>E-R</a:t>
              </a:r>
              <a:r>
                <a:rPr lang="zh-CN" altLang="en-US" dirty="0">
                  <a:solidFill>
                    <a:srgbClr val="000000"/>
                  </a:solidFill>
                  <a:effectLst>
                    <a:outerShdw blurRad="38100" dist="38100" dir="2700000" algn="tl">
                      <a:srgbClr val="FFFFFF"/>
                    </a:outerShdw>
                  </a:effectLst>
                  <a:latin typeface="宋体" panose="02010600030101010101" pitchFamily="2" charset="-122"/>
                  <a:ea typeface="宋体" panose="02010600030101010101" pitchFamily="2" charset="-122"/>
                </a:rPr>
                <a:t>图</a:t>
              </a:r>
            </a:p>
          </p:txBody>
        </p:sp>
        <p:sp>
          <p:nvSpPr>
            <p:cNvPr id="60" name="AutoShape 7">
              <a:extLst>
                <a:ext uri="{FF2B5EF4-FFF2-40B4-BE49-F238E27FC236}">
                  <a16:creationId xmlns:a16="http://schemas.microsoft.com/office/drawing/2014/main" id="{FCF3FE2A-89F4-4FE0-8225-00FBA50EB4E0}"/>
                </a:ext>
              </a:extLst>
            </p:cNvPr>
            <p:cNvSpPr>
              <a:spLocks noChangeArrowheads="1"/>
            </p:cNvSpPr>
            <p:nvPr/>
          </p:nvSpPr>
          <p:spPr bwMode="auto">
            <a:xfrm>
              <a:off x="8009440" y="5001476"/>
              <a:ext cx="1909137" cy="1121531"/>
            </a:xfrm>
            <a:prstGeom prst="verticalScroll">
              <a:avLst>
                <a:gd name="adj" fmla="val 12500"/>
              </a:avLst>
            </a:prstGeom>
            <a:solidFill>
              <a:srgbClr val="D9F9FF"/>
            </a:solidFill>
            <a:ln w="12700" cap="sq">
              <a:solidFill>
                <a:srgbClr val="000000"/>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dirty="0">
                  <a:solidFill>
                    <a:srgbClr val="000000"/>
                  </a:solidFill>
                  <a:effectLst>
                    <a:outerShdw blurRad="38100" dist="38100" dir="2700000" algn="tl">
                      <a:srgbClr val="FFFFFF"/>
                    </a:outerShdw>
                  </a:effectLst>
                  <a:latin typeface="宋体" panose="02010600030101010101" pitchFamily="2" charset="-122"/>
                  <a:ea typeface="宋体" panose="02010600030101010101" pitchFamily="2" charset="-122"/>
                </a:rPr>
                <a:t>逻辑模型</a:t>
              </a:r>
            </a:p>
          </p:txBody>
        </p:sp>
        <p:sp>
          <p:nvSpPr>
            <p:cNvPr id="67" name="AutoShape 8">
              <a:extLst>
                <a:ext uri="{FF2B5EF4-FFF2-40B4-BE49-F238E27FC236}">
                  <a16:creationId xmlns:a16="http://schemas.microsoft.com/office/drawing/2014/main" id="{9E9E0A97-01BF-4331-BF97-52C8B43D93FD}"/>
                </a:ext>
              </a:extLst>
            </p:cNvPr>
            <p:cNvSpPr>
              <a:spLocks noChangeArrowheads="1"/>
            </p:cNvSpPr>
            <p:nvPr/>
          </p:nvSpPr>
          <p:spPr bwMode="auto">
            <a:xfrm rot="2700000">
              <a:off x="2779440" y="4474344"/>
              <a:ext cx="228600" cy="838200"/>
            </a:xfrm>
            <a:prstGeom prst="upArrow">
              <a:avLst>
                <a:gd name="adj1" fmla="val 50000"/>
                <a:gd name="adj2" fmla="val 91667"/>
              </a:avLst>
            </a:prstGeom>
            <a:solidFill>
              <a:srgbClr val="CCFFCC"/>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sz="4000">
                <a:latin typeface="宋体" panose="02010600030101010101" pitchFamily="2" charset="-122"/>
                <a:ea typeface="宋体" panose="02010600030101010101" pitchFamily="2" charset="-122"/>
              </a:endParaRPr>
            </a:p>
          </p:txBody>
        </p:sp>
        <p:sp>
          <p:nvSpPr>
            <p:cNvPr id="68" name="AutoShape 9">
              <a:extLst>
                <a:ext uri="{FF2B5EF4-FFF2-40B4-BE49-F238E27FC236}">
                  <a16:creationId xmlns:a16="http://schemas.microsoft.com/office/drawing/2014/main" id="{0C3CBE65-0D5F-46C7-BB17-53560F9D0C0E}"/>
                </a:ext>
              </a:extLst>
            </p:cNvPr>
            <p:cNvSpPr>
              <a:spLocks noChangeArrowheads="1"/>
            </p:cNvSpPr>
            <p:nvPr/>
          </p:nvSpPr>
          <p:spPr bwMode="auto">
            <a:xfrm rot="8100000">
              <a:off x="7961040" y="4169544"/>
              <a:ext cx="228600" cy="838200"/>
            </a:xfrm>
            <a:prstGeom prst="upArrow">
              <a:avLst>
                <a:gd name="adj1" fmla="val 50000"/>
                <a:gd name="adj2" fmla="val 91667"/>
              </a:avLst>
            </a:prstGeom>
            <a:solidFill>
              <a:srgbClr val="CCFFCC"/>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sz="4000">
                <a:latin typeface="宋体" panose="02010600030101010101" pitchFamily="2" charset="-122"/>
                <a:ea typeface="宋体" panose="02010600030101010101" pitchFamily="2" charset="-122"/>
              </a:endParaRPr>
            </a:p>
          </p:txBody>
        </p:sp>
        <p:sp>
          <p:nvSpPr>
            <p:cNvPr id="69" name="Oval 10">
              <a:extLst>
                <a:ext uri="{FF2B5EF4-FFF2-40B4-BE49-F238E27FC236}">
                  <a16:creationId xmlns:a16="http://schemas.microsoft.com/office/drawing/2014/main" id="{DB014EC9-86F4-40B8-814B-2B11B87EF82E}"/>
                </a:ext>
              </a:extLst>
            </p:cNvPr>
            <p:cNvSpPr>
              <a:spLocks noChangeArrowheads="1"/>
            </p:cNvSpPr>
            <p:nvPr/>
          </p:nvSpPr>
          <p:spPr bwMode="auto">
            <a:xfrm>
              <a:off x="5979840" y="2924944"/>
              <a:ext cx="1938129" cy="1752600"/>
            </a:xfrm>
            <a:prstGeom prst="ellipse">
              <a:avLst/>
            </a:prstGeom>
            <a:solidFill>
              <a:srgbClr val="CCFFCC"/>
            </a:solidFill>
            <a:ln w="12700" cap="sq">
              <a:solidFill>
                <a:srgbClr val="000000"/>
              </a:solidFill>
              <a:round/>
              <a:headEnd/>
              <a:tailEnd/>
            </a:ln>
            <a:effectLst>
              <a:outerShdw dist="35921" dir="2700000" algn="ctr" rotWithShape="0">
                <a:schemeClr val="bg2"/>
              </a:outerShdw>
            </a:effectLst>
          </p:spPr>
          <p:txBody>
            <a:bodyPr lIns="0" tIns="0" rIns="0" bIns="0" anchor="ctr" anchorCtr="1"/>
            <a:lstStyle/>
            <a:p>
              <a:pPr algn="ctr">
                <a:spcAft>
                  <a:spcPct val="0"/>
                </a:spcAft>
                <a:buSzTx/>
                <a:tabLst>
                  <a:tab pos="292100" algn="l"/>
                  <a:tab pos="485775" algn="l"/>
                </a:tabLst>
                <a:defRPr/>
              </a:pPr>
              <a:r>
                <a:rPr lang="zh-CN" altLang="en-US">
                  <a:solidFill>
                    <a:srgbClr val="000000"/>
                  </a:solidFill>
                  <a:effectLst>
                    <a:outerShdw blurRad="38100" dist="38100" dir="2700000" algn="tl">
                      <a:srgbClr val="FFFFFF"/>
                    </a:outerShdw>
                  </a:effectLst>
                  <a:latin typeface="宋体" panose="02010600030101010101" pitchFamily="2" charset="-122"/>
                  <a:ea typeface="宋体" panose="02010600030101010101" pitchFamily="2" charset="-122"/>
                </a:rPr>
                <a:t>优化</a:t>
              </a:r>
            </a:p>
            <a:p>
              <a:pPr algn="ctr">
                <a:spcAft>
                  <a:spcPct val="0"/>
                </a:spcAft>
                <a:buSzTx/>
                <a:tabLst>
                  <a:tab pos="292100" algn="l"/>
                  <a:tab pos="485775" algn="l"/>
                </a:tabLst>
                <a:defRPr/>
              </a:pPr>
              <a:r>
                <a:rPr lang="zh-CN" altLang="en-US">
                  <a:solidFill>
                    <a:srgbClr val="000000"/>
                  </a:solidFill>
                  <a:effectLst>
                    <a:outerShdw blurRad="38100" dist="38100" dir="2700000" algn="tl">
                      <a:srgbClr val="FFFFFF"/>
                    </a:outerShdw>
                  </a:effectLst>
                  <a:latin typeface="宋体" panose="02010600030101010101" pitchFamily="2" charset="-122"/>
                  <a:ea typeface="宋体" panose="02010600030101010101" pitchFamily="2" charset="-122"/>
                </a:rPr>
                <a:t>数据模型</a:t>
              </a:r>
            </a:p>
          </p:txBody>
        </p:sp>
        <p:sp>
          <p:nvSpPr>
            <p:cNvPr id="70" name="AutoShape 11">
              <a:extLst>
                <a:ext uri="{FF2B5EF4-FFF2-40B4-BE49-F238E27FC236}">
                  <a16:creationId xmlns:a16="http://schemas.microsoft.com/office/drawing/2014/main" id="{74A7E7A5-4B98-456F-A6B5-70F1DA8C2395}"/>
                </a:ext>
              </a:extLst>
            </p:cNvPr>
            <p:cNvSpPr>
              <a:spLocks noChangeArrowheads="1"/>
            </p:cNvSpPr>
            <p:nvPr/>
          </p:nvSpPr>
          <p:spPr bwMode="auto">
            <a:xfrm>
              <a:off x="3160439" y="5388744"/>
              <a:ext cx="1635553" cy="1130868"/>
            </a:xfrm>
            <a:prstGeom prst="star16">
              <a:avLst>
                <a:gd name="adj" fmla="val 43505"/>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转换</a:t>
              </a:r>
            </a:p>
            <a:p>
              <a:pPr algn="ctr">
                <a:spcAft>
                  <a:spcPct val="0"/>
                </a:spcAft>
                <a:buSzTx/>
                <a:buFontTx/>
                <a:buNone/>
                <a:defRPr/>
              </a:pPr>
              <a:r>
                <a:rPr lang="zh-CN" altLang="en-US"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规则</a:t>
              </a:r>
            </a:p>
          </p:txBody>
        </p:sp>
        <p:sp>
          <p:nvSpPr>
            <p:cNvPr id="71" name="Line 12">
              <a:extLst>
                <a:ext uri="{FF2B5EF4-FFF2-40B4-BE49-F238E27FC236}">
                  <a16:creationId xmlns:a16="http://schemas.microsoft.com/office/drawing/2014/main" id="{9D32A172-4FFC-4F92-8ADF-04362004F5B9}"/>
                </a:ext>
              </a:extLst>
            </p:cNvPr>
            <p:cNvSpPr>
              <a:spLocks noChangeShapeType="1"/>
            </p:cNvSpPr>
            <p:nvPr/>
          </p:nvSpPr>
          <p:spPr bwMode="auto">
            <a:xfrm flipH="1" flipV="1">
              <a:off x="3770040" y="4779144"/>
              <a:ext cx="0" cy="685800"/>
            </a:xfrm>
            <a:prstGeom prst="line">
              <a:avLst/>
            </a:prstGeom>
            <a:noFill/>
            <a:ln w="28575" cap="sq">
              <a:solidFill>
                <a:schemeClr val="tx1"/>
              </a:solidFill>
              <a:round/>
              <a:headEnd/>
              <a:tailEnd type="triangle" w="med" len="med"/>
            </a:ln>
            <a:effectLst/>
          </p:spPr>
          <p:txBody>
            <a:bodyPr wrap="none" lIns="0" tIns="0" rIns="0" bIns="0" anchor="ctr"/>
            <a:lstStyle/>
            <a:p>
              <a:pPr>
                <a:defRPr/>
              </a:pPr>
              <a:endParaRPr lang="zh-CN" altLang="en-US" sz="4000">
                <a:latin typeface="宋体" panose="02010600030101010101" pitchFamily="2" charset="-122"/>
                <a:ea typeface="宋体" panose="02010600030101010101" pitchFamily="2" charset="-122"/>
              </a:endParaRPr>
            </a:p>
          </p:txBody>
        </p:sp>
        <p:sp>
          <p:nvSpPr>
            <p:cNvPr id="72" name="AutoShape 13">
              <a:extLst>
                <a:ext uri="{FF2B5EF4-FFF2-40B4-BE49-F238E27FC236}">
                  <a16:creationId xmlns:a16="http://schemas.microsoft.com/office/drawing/2014/main" id="{F66C8E3E-FB5B-4722-8147-E3DAC917F4DC}"/>
                </a:ext>
              </a:extLst>
            </p:cNvPr>
            <p:cNvSpPr>
              <a:spLocks noChangeArrowheads="1"/>
            </p:cNvSpPr>
            <p:nvPr/>
          </p:nvSpPr>
          <p:spPr bwMode="auto">
            <a:xfrm>
              <a:off x="5024595" y="5131481"/>
              <a:ext cx="2555445" cy="1388135"/>
            </a:xfrm>
            <a:prstGeom prst="star16">
              <a:avLst>
                <a:gd name="adj" fmla="val 43505"/>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规范化理论</a:t>
              </a:r>
            </a:p>
            <a:p>
              <a:pPr algn="ctr">
                <a:spcAft>
                  <a:spcPct val="0"/>
                </a:spcAft>
                <a:buSzTx/>
                <a:buFontTx/>
                <a:buNone/>
                <a:defRPr/>
              </a:pPr>
              <a:r>
                <a:rPr lang="zh-CN" altLang="en-US" dirty="0">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其它优化原则</a:t>
              </a:r>
            </a:p>
          </p:txBody>
        </p:sp>
        <p:sp>
          <p:nvSpPr>
            <p:cNvPr id="73" name="Line 14">
              <a:extLst>
                <a:ext uri="{FF2B5EF4-FFF2-40B4-BE49-F238E27FC236}">
                  <a16:creationId xmlns:a16="http://schemas.microsoft.com/office/drawing/2014/main" id="{45E67FFD-CDC1-4361-8C5E-C76C9DCE99D2}"/>
                </a:ext>
              </a:extLst>
            </p:cNvPr>
            <p:cNvSpPr>
              <a:spLocks noChangeShapeType="1"/>
            </p:cNvSpPr>
            <p:nvPr/>
          </p:nvSpPr>
          <p:spPr bwMode="auto">
            <a:xfrm flipV="1">
              <a:off x="6360840" y="4702944"/>
              <a:ext cx="457200" cy="685800"/>
            </a:xfrm>
            <a:prstGeom prst="line">
              <a:avLst/>
            </a:prstGeom>
            <a:noFill/>
            <a:ln w="28575" cap="sq">
              <a:solidFill>
                <a:schemeClr val="tx1"/>
              </a:solidFill>
              <a:round/>
              <a:headEnd/>
              <a:tailEnd type="triangle" w="med" len="med"/>
            </a:ln>
            <a:effectLst/>
          </p:spPr>
          <p:txBody>
            <a:bodyPr wrap="none" lIns="0" tIns="0" rIns="0" bIns="0" anchor="ctr"/>
            <a:lstStyle/>
            <a:p>
              <a:pPr>
                <a:defRPr/>
              </a:pPr>
              <a:endParaRPr lang="zh-CN" altLang="en-US" sz="4000">
                <a:latin typeface="宋体" panose="02010600030101010101" pitchFamily="2" charset="-122"/>
                <a:ea typeface="宋体" panose="02010600030101010101" pitchFamily="2" charset="-122"/>
              </a:endParaRPr>
            </a:p>
          </p:txBody>
        </p:sp>
      </p:grpSp>
    </p:spTree>
    <p:extLst>
      <p:ext uri="{BB962C8B-B14F-4D97-AF65-F5344CB8AC3E}">
        <p14:creationId xmlns:p14="http://schemas.microsoft.com/office/powerpoint/2010/main" val="162286360"/>
      </p:ext>
    </p:extLst>
  </p:cSld>
  <p:clrMapOvr>
    <a:masterClrMapping/>
  </p:clrMapOvr>
  <p:transition spd="med">
    <p:random/>
    <p:sndAc>
      <p:stSnd>
        <p:snd r:embed="rId2" name="arrow.wav"/>
      </p:stSnd>
    </p:sndAc>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3">
            <a:extLst>
              <a:ext uri="{FF2B5EF4-FFF2-40B4-BE49-F238E27FC236}">
                <a16:creationId xmlns:a16="http://schemas.microsoft.com/office/drawing/2014/main" id="{9A76F491-8628-4359-B18A-014644E8BFB4}"/>
              </a:ext>
            </a:extLst>
          </p:cNvPr>
          <p:cNvSpPr>
            <a:spLocks noGrp="1" noChangeArrowheads="1"/>
          </p:cNvSpPr>
          <p:nvPr>
            <p:ph type="title"/>
          </p:nvPr>
        </p:nvSpPr>
        <p:spPr>
          <a:xfrm>
            <a:off x="743410" y="823363"/>
            <a:ext cx="8964612" cy="584775"/>
          </a:xfrm>
        </p:spPr>
        <p:txBody>
          <a:bodyPr wrap="square"/>
          <a:lstStyle/>
          <a:p>
            <a:pPr eaLnBrk="1" hangingPunct="1">
              <a:buFont typeface="Wingdings" pitchFamily="2" charset="2"/>
              <a:buNone/>
            </a:pPr>
            <a:r>
              <a:rPr lang="zh-CN" altLang="zh-CN" dirty="0"/>
              <a:t>第一步：E-R图转换成数据模型</a:t>
            </a:r>
            <a:endParaRPr lang="en-US" altLang="zh-CN" dirty="0"/>
          </a:p>
        </p:txBody>
      </p:sp>
      <p:sp>
        <p:nvSpPr>
          <p:cNvPr id="19" name="Rectangle 4">
            <a:extLst>
              <a:ext uri="{FF2B5EF4-FFF2-40B4-BE49-F238E27FC236}">
                <a16:creationId xmlns:a16="http://schemas.microsoft.com/office/drawing/2014/main" id="{788BC4F9-7B08-448E-B2B0-12707E14B16C}"/>
              </a:ext>
            </a:extLst>
          </p:cNvPr>
          <p:cNvSpPr txBox="1">
            <a:spLocks noChangeArrowheads="1"/>
          </p:cNvSpPr>
          <p:nvPr/>
        </p:nvSpPr>
        <p:spPr>
          <a:xfrm>
            <a:off x="407368" y="1576414"/>
            <a:ext cx="10647459" cy="4054475"/>
          </a:xfrm>
          <a:prstGeom prst="rect">
            <a:avLst/>
          </a:prstGeom>
        </p:spPr>
        <p:txBody>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algn="just" eaLnBrk="1" hangingPunct="1">
              <a:defRPr/>
            </a:pPr>
            <a:r>
              <a:rPr kumimoji="0" lang="zh-CN" altLang="en-US" kern="0" dirty="0"/>
              <a:t>每一个实体都转换成一个关系模式。实体的属性就是关系模式的属性；实体的主码就是关系模式的主码</a:t>
            </a:r>
            <a:r>
              <a:rPr kumimoji="0" lang="en-US" altLang="zh-CN" kern="0" dirty="0"/>
              <a:t>(</a:t>
            </a:r>
            <a:r>
              <a:rPr kumimoji="0" lang="zh-CN" altLang="en-US" kern="0" dirty="0"/>
              <a:t>加下划线表示</a:t>
            </a:r>
            <a:r>
              <a:rPr kumimoji="0" lang="en-US" altLang="zh-CN" kern="0" dirty="0"/>
              <a:t>)</a:t>
            </a:r>
            <a:r>
              <a:rPr kumimoji="0" lang="zh-CN" altLang="en-US" kern="0" dirty="0"/>
              <a:t>。</a:t>
            </a:r>
          </a:p>
        </p:txBody>
      </p:sp>
      <p:grpSp>
        <p:nvGrpSpPr>
          <p:cNvPr id="2" name="组合 1">
            <a:extLst>
              <a:ext uri="{FF2B5EF4-FFF2-40B4-BE49-F238E27FC236}">
                <a16:creationId xmlns:a16="http://schemas.microsoft.com/office/drawing/2014/main" id="{B0C81F7E-B788-4912-8CA9-FEDDF10084C2}"/>
              </a:ext>
            </a:extLst>
          </p:cNvPr>
          <p:cNvGrpSpPr/>
          <p:nvPr/>
        </p:nvGrpSpPr>
        <p:grpSpPr>
          <a:xfrm>
            <a:off x="1559496" y="3501008"/>
            <a:ext cx="8574684" cy="3014663"/>
            <a:chOff x="2127549" y="3542407"/>
            <a:chExt cx="7294563" cy="3014663"/>
          </a:xfrm>
        </p:grpSpPr>
        <p:sp>
          <p:nvSpPr>
            <p:cNvPr id="20" name="Rectangle 5">
              <a:extLst>
                <a:ext uri="{FF2B5EF4-FFF2-40B4-BE49-F238E27FC236}">
                  <a16:creationId xmlns:a16="http://schemas.microsoft.com/office/drawing/2014/main" id="{AC93D1D7-0B48-4C6A-8249-6EABD7049858}"/>
                </a:ext>
              </a:extLst>
            </p:cNvPr>
            <p:cNvSpPr>
              <a:spLocks noChangeArrowheads="1"/>
            </p:cNvSpPr>
            <p:nvPr/>
          </p:nvSpPr>
          <p:spPr bwMode="auto">
            <a:xfrm>
              <a:off x="7667924" y="3717032"/>
              <a:ext cx="995363" cy="349250"/>
            </a:xfrm>
            <a:prstGeom prst="rect">
              <a:avLst/>
            </a:prstGeom>
            <a:solidFill>
              <a:schemeClr val="bg1"/>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班级</a:t>
              </a:r>
            </a:p>
          </p:txBody>
        </p:sp>
        <p:sp>
          <p:nvSpPr>
            <p:cNvPr id="21" name="AutoShape 6">
              <a:extLst>
                <a:ext uri="{FF2B5EF4-FFF2-40B4-BE49-F238E27FC236}">
                  <a16:creationId xmlns:a16="http://schemas.microsoft.com/office/drawing/2014/main" id="{5189CF91-146A-40DC-99C2-49C66153F95A}"/>
                </a:ext>
              </a:extLst>
            </p:cNvPr>
            <p:cNvSpPr>
              <a:spLocks noChangeArrowheads="1"/>
            </p:cNvSpPr>
            <p:nvPr/>
          </p:nvSpPr>
          <p:spPr bwMode="auto">
            <a:xfrm>
              <a:off x="6224887" y="4533008"/>
              <a:ext cx="987425" cy="339725"/>
            </a:xfrm>
            <a:prstGeom prst="roundRect">
              <a:avLst>
                <a:gd name="adj" fmla="val 50000"/>
              </a:avLst>
            </a:prstGeom>
            <a:solidFill>
              <a:srgbClr val="6600FF"/>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u="sng">
                  <a:effectLst>
                    <a:outerShdw blurRad="38100" dist="38100" dir="2700000" algn="tl">
                      <a:srgbClr val="000000"/>
                    </a:outerShdw>
                  </a:effectLst>
                  <a:latin typeface="Times New Roman" pitchFamily="18" charset="0"/>
                </a:rPr>
                <a:t>班号</a:t>
              </a:r>
            </a:p>
          </p:txBody>
        </p:sp>
        <p:sp>
          <p:nvSpPr>
            <p:cNvPr id="22" name="AutoShape 7">
              <a:extLst>
                <a:ext uri="{FF2B5EF4-FFF2-40B4-BE49-F238E27FC236}">
                  <a16:creationId xmlns:a16="http://schemas.microsoft.com/office/drawing/2014/main" id="{2222FE2C-DF33-4697-A3BE-60D73DEECB71}"/>
                </a:ext>
              </a:extLst>
            </p:cNvPr>
            <p:cNvSpPr>
              <a:spLocks noChangeArrowheads="1"/>
            </p:cNvSpPr>
            <p:nvPr/>
          </p:nvSpPr>
          <p:spPr bwMode="auto">
            <a:xfrm>
              <a:off x="7291687" y="4533008"/>
              <a:ext cx="987425" cy="339725"/>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班名</a:t>
              </a:r>
            </a:p>
          </p:txBody>
        </p:sp>
        <p:cxnSp>
          <p:nvCxnSpPr>
            <p:cNvPr id="23" name="AutoShape 8">
              <a:extLst>
                <a:ext uri="{FF2B5EF4-FFF2-40B4-BE49-F238E27FC236}">
                  <a16:creationId xmlns:a16="http://schemas.microsoft.com/office/drawing/2014/main" id="{E8FC5C92-3200-4992-9950-2687F8B1A1DF}"/>
                </a:ext>
              </a:extLst>
            </p:cNvPr>
            <p:cNvCxnSpPr>
              <a:cxnSpLocks noChangeShapeType="1"/>
              <a:stCxn id="20" idx="2"/>
              <a:endCxn id="21" idx="0"/>
            </p:cNvCxnSpPr>
            <p:nvPr/>
          </p:nvCxnSpPr>
          <p:spPr bwMode="auto">
            <a:xfrm flipH="1">
              <a:off x="6718598" y="4066283"/>
              <a:ext cx="1447800" cy="46672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24" name="AutoShape 9">
              <a:extLst>
                <a:ext uri="{FF2B5EF4-FFF2-40B4-BE49-F238E27FC236}">
                  <a16:creationId xmlns:a16="http://schemas.microsoft.com/office/drawing/2014/main" id="{94C2333D-9DF2-4216-86E1-4F19779FECD4}"/>
                </a:ext>
              </a:extLst>
            </p:cNvPr>
            <p:cNvCxnSpPr>
              <a:cxnSpLocks noChangeShapeType="1"/>
              <a:stCxn id="20" idx="2"/>
              <a:endCxn id="22" idx="0"/>
            </p:cNvCxnSpPr>
            <p:nvPr/>
          </p:nvCxnSpPr>
          <p:spPr bwMode="auto">
            <a:xfrm flipH="1">
              <a:off x="7785398" y="4066283"/>
              <a:ext cx="381000" cy="46672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25" name="Rectangle 10">
              <a:extLst>
                <a:ext uri="{FF2B5EF4-FFF2-40B4-BE49-F238E27FC236}">
                  <a16:creationId xmlns:a16="http://schemas.microsoft.com/office/drawing/2014/main" id="{2C6F7D44-AA81-48CE-BA57-1250C1305A68}"/>
                </a:ext>
              </a:extLst>
            </p:cNvPr>
            <p:cNvSpPr>
              <a:spLocks noChangeArrowheads="1"/>
            </p:cNvSpPr>
            <p:nvPr/>
          </p:nvSpPr>
          <p:spPr bwMode="auto">
            <a:xfrm>
              <a:off x="3283249" y="3717032"/>
              <a:ext cx="995363" cy="349250"/>
            </a:xfrm>
            <a:prstGeom prst="rect">
              <a:avLst/>
            </a:prstGeom>
            <a:solidFill>
              <a:schemeClr val="bg1"/>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学生</a:t>
              </a:r>
            </a:p>
          </p:txBody>
        </p:sp>
        <p:sp>
          <p:nvSpPr>
            <p:cNvPr id="26" name="AutoShape 11">
              <a:extLst>
                <a:ext uri="{FF2B5EF4-FFF2-40B4-BE49-F238E27FC236}">
                  <a16:creationId xmlns:a16="http://schemas.microsoft.com/office/drawing/2014/main" id="{DB2D5AE6-682F-4D0B-8702-46A9ABFFD41A}"/>
                </a:ext>
              </a:extLst>
            </p:cNvPr>
            <p:cNvSpPr>
              <a:spLocks noChangeArrowheads="1"/>
            </p:cNvSpPr>
            <p:nvPr/>
          </p:nvSpPr>
          <p:spPr bwMode="auto">
            <a:xfrm>
              <a:off x="2129136" y="4528245"/>
              <a:ext cx="798512" cy="385762"/>
            </a:xfrm>
            <a:prstGeom prst="roundRect">
              <a:avLst>
                <a:gd name="adj" fmla="val 50000"/>
              </a:avLst>
            </a:prstGeom>
            <a:solidFill>
              <a:srgbClr val="6600FF"/>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u="sng" dirty="0">
                  <a:effectLst>
                    <a:outerShdw blurRad="38100" dist="38100" dir="2700000" algn="tl">
                      <a:srgbClr val="000000"/>
                    </a:outerShdw>
                  </a:effectLst>
                  <a:latin typeface="Times New Roman" pitchFamily="18" charset="0"/>
                </a:rPr>
                <a:t>学号</a:t>
              </a:r>
            </a:p>
          </p:txBody>
        </p:sp>
        <p:sp>
          <p:nvSpPr>
            <p:cNvPr id="27" name="AutoShape 12">
              <a:extLst>
                <a:ext uri="{FF2B5EF4-FFF2-40B4-BE49-F238E27FC236}">
                  <a16:creationId xmlns:a16="http://schemas.microsoft.com/office/drawing/2014/main" id="{69B6294D-3D60-4369-8D99-26D43DED2AED}"/>
                </a:ext>
              </a:extLst>
            </p:cNvPr>
            <p:cNvSpPr>
              <a:spLocks noChangeArrowheads="1"/>
            </p:cNvSpPr>
            <p:nvPr/>
          </p:nvSpPr>
          <p:spPr bwMode="auto">
            <a:xfrm>
              <a:off x="3041949" y="4528245"/>
              <a:ext cx="798513" cy="385762"/>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姓名</a:t>
              </a:r>
            </a:p>
          </p:txBody>
        </p:sp>
        <p:sp>
          <p:nvSpPr>
            <p:cNvPr id="28" name="AutoShape 13">
              <a:extLst>
                <a:ext uri="{FF2B5EF4-FFF2-40B4-BE49-F238E27FC236}">
                  <a16:creationId xmlns:a16="http://schemas.microsoft.com/office/drawing/2014/main" id="{4A07BC54-E58D-4DBA-BC26-80A3750359B5}"/>
                </a:ext>
              </a:extLst>
            </p:cNvPr>
            <p:cNvSpPr>
              <a:spLocks noChangeArrowheads="1"/>
            </p:cNvSpPr>
            <p:nvPr/>
          </p:nvSpPr>
          <p:spPr bwMode="auto">
            <a:xfrm>
              <a:off x="4791374" y="4528245"/>
              <a:ext cx="798513" cy="385762"/>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性别</a:t>
              </a:r>
            </a:p>
          </p:txBody>
        </p:sp>
        <p:sp>
          <p:nvSpPr>
            <p:cNvPr id="29" name="AutoShape 14">
              <a:extLst>
                <a:ext uri="{FF2B5EF4-FFF2-40B4-BE49-F238E27FC236}">
                  <a16:creationId xmlns:a16="http://schemas.microsoft.com/office/drawing/2014/main" id="{6B42E38D-605E-4BE1-BC35-8209DEE960C1}"/>
                </a:ext>
              </a:extLst>
            </p:cNvPr>
            <p:cNvSpPr>
              <a:spLocks noChangeArrowheads="1"/>
            </p:cNvSpPr>
            <p:nvPr/>
          </p:nvSpPr>
          <p:spPr bwMode="auto">
            <a:xfrm>
              <a:off x="3921423" y="4528245"/>
              <a:ext cx="800100" cy="385762"/>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年龄</a:t>
              </a:r>
            </a:p>
          </p:txBody>
        </p:sp>
        <p:cxnSp>
          <p:nvCxnSpPr>
            <p:cNvPr id="30" name="AutoShape 15">
              <a:extLst>
                <a:ext uri="{FF2B5EF4-FFF2-40B4-BE49-F238E27FC236}">
                  <a16:creationId xmlns:a16="http://schemas.microsoft.com/office/drawing/2014/main" id="{79147889-166A-4D27-AAAB-91AD83206856}"/>
                </a:ext>
              </a:extLst>
            </p:cNvPr>
            <p:cNvCxnSpPr>
              <a:cxnSpLocks noChangeShapeType="1"/>
              <a:stCxn id="25" idx="2"/>
              <a:endCxn id="26" idx="0"/>
            </p:cNvCxnSpPr>
            <p:nvPr/>
          </p:nvCxnSpPr>
          <p:spPr bwMode="auto">
            <a:xfrm flipH="1">
              <a:off x="2529187" y="4066283"/>
              <a:ext cx="1252537" cy="461963"/>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31" name="AutoShape 16">
              <a:extLst>
                <a:ext uri="{FF2B5EF4-FFF2-40B4-BE49-F238E27FC236}">
                  <a16:creationId xmlns:a16="http://schemas.microsoft.com/office/drawing/2014/main" id="{78EB3588-8682-4178-96DB-9B989B1EBD5F}"/>
                </a:ext>
              </a:extLst>
            </p:cNvPr>
            <p:cNvCxnSpPr>
              <a:cxnSpLocks noChangeShapeType="1"/>
              <a:stCxn id="25" idx="2"/>
              <a:endCxn id="27" idx="0"/>
            </p:cNvCxnSpPr>
            <p:nvPr/>
          </p:nvCxnSpPr>
          <p:spPr bwMode="auto">
            <a:xfrm flipH="1">
              <a:off x="3441999" y="4066283"/>
              <a:ext cx="339725" cy="461963"/>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32" name="AutoShape 17">
              <a:extLst>
                <a:ext uri="{FF2B5EF4-FFF2-40B4-BE49-F238E27FC236}">
                  <a16:creationId xmlns:a16="http://schemas.microsoft.com/office/drawing/2014/main" id="{2722046E-78DB-4047-8A08-CA9FA582B019}"/>
                </a:ext>
              </a:extLst>
            </p:cNvPr>
            <p:cNvCxnSpPr>
              <a:cxnSpLocks noChangeShapeType="1"/>
              <a:stCxn id="25" idx="2"/>
              <a:endCxn id="29" idx="0"/>
            </p:cNvCxnSpPr>
            <p:nvPr/>
          </p:nvCxnSpPr>
          <p:spPr bwMode="auto">
            <a:xfrm>
              <a:off x="3781723" y="4066283"/>
              <a:ext cx="539750" cy="461963"/>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33" name="AutoShape 18">
              <a:extLst>
                <a:ext uri="{FF2B5EF4-FFF2-40B4-BE49-F238E27FC236}">
                  <a16:creationId xmlns:a16="http://schemas.microsoft.com/office/drawing/2014/main" id="{26DC454A-DD25-48CA-BAD1-BCA5173462A3}"/>
                </a:ext>
              </a:extLst>
            </p:cNvPr>
            <p:cNvCxnSpPr>
              <a:cxnSpLocks noChangeShapeType="1"/>
              <a:stCxn id="25" idx="2"/>
              <a:endCxn id="28" idx="0"/>
            </p:cNvCxnSpPr>
            <p:nvPr/>
          </p:nvCxnSpPr>
          <p:spPr bwMode="auto">
            <a:xfrm>
              <a:off x="3781723" y="4066283"/>
              <a:ext cx="1409700" cy="461963"/>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34" name="AutoShape 19">
              <a:extLst>
                <a:ext uri="{FF2B5EF4-FFF2-40B4-BE49-F238E27FC236}">
                  <a16:creationId xmlns:a16="http://schemas.microsoft.com/office/drawing/2014/main" id="{58893A14-66CD-4488-A1B6-637B50E4EFA2}"/>
                </a:ext>
              </a:extLst>
            </p:cNvPr>
            <p:cNvSpPr>
              <a:spLocks noChangeArrowheads="1"/>
            </p:cNvSpPr>
            <p:nvPr/>
          </p:nvSpPr>
          <p:spPr bwMode="auto">
            <a:xfrm>
              <a:off x="5234286" y="3542407"/>
              <a:ext cx="1593850" cy="698500"/>
            </a:xfrm>
            <a:prstGeom prst="diamond">
              <a:avLst/>
            </a:prstGeom>
            <a:solidFill>
              <a:schemeClr val="bg1"/>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组成</a:t>
              </a:r>
            </a:p>
          </p:txBody>
        </p:sp>
        <p:cxnSp>
          <p:nvCxnSpPr>
            <p:cNvPr id="35" name="AutoShape 20">
              <a:extLst>
                <a:ext uri="{FF2B5EF4-FFF2-40B4-BE49-F238E27FC236}">
                  <a16:creationId xmlns:a16="http://schemas.microsoft.com/office/drawing/2014/main" id="{F8C0230B-23E6-4F79-9011-A21A32821160}"/>
                </a:ext>
              </a:extLst>
            </p:cNvPr>
            <p:cNvCxnSpPr>
              <a:cxnSpLocks noChangeShapeType="1"/>
              <a:stCxn id="25" idx="3"/>
              <a:endCxn id="34" idx="1"/>
            </p:cNvCxnSpPr>
            <p:nvPr/>
          </p:nvCxnSpPr>
          <p:spPr bwMode="auto">
            <a:xfrm>
              <a:off x="4278612" y="3891657"/>
              <a:ext cx="955675"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36" name="AutoShape 21">
              <a:extLst>
                <a:ext uri="{FF2B5EF4-FFF2-40B4-BE49-F238E27FC236}">
                  <a16:creationId xmlns:a16="http://schemas.microsoft.com/office/drawing/2014/main" id="{27041448-16EB-4160-BE82-3304635C80DA}"/>
                </a:ext>
              </a:extLst>
            </p:cNvPr>
            <p:cNvCxnSpPr>
              <a:cxnSpLocks noChangeShapeType="1"/>
              <a:stCxn id="34" idx="3"/>
              <a:endCxn id="20" idx="1"/>
            </p:cNvCxnSpPr>
            <p:nvPr/>
          </p:nvCxnSpPr>
          <p:spPr bwMode="auto">
            <a:xfrm>
              <a:off x="6828137" y="3891657"/>
              <a:ext cx="839787"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37" name="Rectangle 22">
              <a:extLst>
                <a:ext uri="{FF2B5EF4-FFF2-40B4-BE49-F238E27FC236}">
                  <a16:creationId xmlns:a16="http://schemas.microsoft.com/office/drawing/2014/main" id="{B16B5A2F-5EDE-4E88-8328-BE194B1A8319}"/>
                </a:ext>
              </a:extLst>
            </p:cNvPr>
            <p:cNvSpPr>
              <a:spLocks noChangeArrowheads="1"/>
            </p:cNvSpPr>
            <p:nvPr/>
          </p:nvSpPr>
          <p:spPr bwMode="auto">
            <a:xfrm>
              <a:off x="6728123" y="3542407"/>
              <a:ext cx="596900" cy="349250"/>
            </a:xfrm>
            <a:prstGeom prst="rect">
              <a:avLst/>
            </a:prstGeom>
            <a:noFill/>
            <a:ln w="12700" cap="sq">
              <a:noFill/>
              <a:miter lim="800000"/>
              <a:headEnd/>
              <a:tailEnd/>
            </a:ln>
            <a:effectLst/>
          </p:spPr>
          <p:txBody>
            <a:bodyPr wrap="none" lIns="0" tIns="0" rIns="0" bIns="0" anchor="ct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1</a:t>
              </a:r>
            </a:p>
          </p:txBody>
        </p:sp>
        <p:sp>
          <p:nvSpPr>
            <p:cNvPr id="38" name="Rectangle 23">
              <a:extLst>
                <a:ext uri="{FF2B5EF4-FFF2-40B4-BE49-F238E27FC236}">
                  <a16:creationId xmlns:a16="http://schemas.microsoft.com/office/drawing/2014/main" id="{DF019200-DE8C-4AA2-B467-08E58FB380D2}"/>
                </a:ext>
              </a:extLst>
            </p:cNvPr>
            <p:cNvSpPr>
              <a:spLocks noChangeArrowheads="1"/>
            </p:cNvSpPr>
            <p:nvPr/>
          </p:nvSpPr>
          <p:spPr bwMode="auto">
            <a:xfrm>
              <a:off x="4278612" y="3542407"/>
              <a:ext cx="598487" cy="349250"/>
            </a:xfrm>
            <a:prstGeom prst="rect">
              <a:avLst/>
            </a:prstGeom>
            <a:noFill/>
            <a:ln w="12700" cap="sq">
              <a:noFill/>
              <a:miter lim="800000"/>
              <a:headEnd/>
              <a:tailEnd/>
            </a:ln>
            <a:effectLst/>
          </p:spPr>
          <p:txBody>
            <a:bodyPr wrap="none" lIns="0" tIns="0" rIns="0" bIns="0" anchor="ct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n</a:t>
              </a:r>
            </a:p>
          </p:txBody>
        </p:sp>
        <p:sp>
          <p:nvSpPr>
            <p:cNvPr id="39" name="AutoShape 24">
              <a:extLst>
                <a:ext uri="{FF2B5EF4-FFF2-40B4-BE49-F238E27FC236}">
                  <a16:creationId xmlns:a16="http://schemas.microsoft.com/office/drawing/2014/main" id="{14821ACE-BFB0-48FB-B1A0-F898154817E9}"/>
                </a:ext>
              </a:extLst>
            </p:cNvPr>
            <p:cNvSpPr>
              <a:spLocks noChangeArrowheads="1"/>
            </p:cNvSpPr>
            <p:nvPr/>
          </p:nvSpPr>
          <p:spPr bwMode="auto">
            <a:xfrm>
              <a:off x="8434687" y="4533008"/>
              <a:ext cx="987425" cy="339725"/>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班长</a:t>
              </a:r>
            </a:p>
          </p:txBody>
        </p:sp>
        <p:cxnSp>
          <p:nvCxnSpPr>
            <p:cNvPr id="40" name="AutoShape 25">
              <a:extLst>
                <a:ext uri="{FF2B5EF4-FFF2-40B4-BE49-F238E27FC236}">
                  <a16:creationId xmlns:a16="http://schemas.microsoft.com/office/drawing/2014/main" id="{018003B5-F831-4C7E-BE0B-1B2711CF503F}"/>
                </a:ext>
              </a:extLst>
            </p:cNvPr>
            <p:cNvCxnSpPr>
              <a:cxnSpLocks noChangeShapeType="1"/>
              <a:stCxn id="20" idx="2"/>
              <a:endCxn id="39" idx="0"/>
            </p:cNvCxnSpPr>
            <p:nvPr/>
          </p:nvCxnSpPr>
          <p:spPr bwMode="auto">
            <a:xfrm>
              <a:off x="8166398" y="4066283"/>
              <a:ext cx="762000" cy="46672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41" name="Rectangle 26">
              <a:extLst>
                <a:ext uri="{FF2B5EF4-FFF2-40B4-BE49-F238E27FC236}">
                  <a16:creationId xmlns:a16="http://schemas.microsoft.com/office/drawing/2014/main" id="{4E85AA66-6F72-4179-9B8E-98BDEC89577F}"/>
                </a:ext>
              </a:extLst>
            </p:cNvPr>
            <p:cNvSpPr>
              <a:spLocks noChangeArrowheads="1"/>
            </p:cNvSpPr>
            <p:nvPr/>
          </p:nvSpPr>
          <p:spPr bwMode="auto">
            <a:xfrm>
              <a:off x="2273598" y="5337871"/>
              <a:ext cx="5791200" cy="427037"/>
            </a:xfrm>
            <a:prstGeom prst="rect">
              <a:avLst/>
            </a:prstGeom>
            <a:noFill/>
            <a:ln w="12700" cap="sq">
              <a:noFill/>
              <a:miter lim="800000"/>
              <a:headEnd/>
              <a:tailEnd/>
            </a:ln>
            <a:effectLst/>
          </p:spPr>
          <p:txBody>
            <a:bodyPr lIns="0" tIns="0" rIns="0" bIns="0"/>
            <a:lstStyle/>
            <a:p>
              <a:pPr>
                <a:spcAft>
                  <a:spcPct val="0"/>
                </a:spcAft>
                <a:buSzTx/>
                <a:buFontTx/>
                <a:buNone/>
                <a:defRPr/>
              </a:pPr>
              <a:r>
                <a:rPr lang="zh-CN" altLang="en-US" sz="2800" dirty="0">
                  <a:solidFill>
                    <a:srgbClr val="00FF99"/>
                  </a:solidFill>
                  <a:effectLst>
                    <a:outerShdw blurRad="38100" dist="38100" dir="2700000" algn="tl">
                      <a:srgbClr val="000000"/>
                    </a:outerShdw>
                  </a:effectLst>
                  <a:latin typeface="Times New Roman" pitchFamily="18" charset="0"/>
                </a:rPr>
                <a:t>学生(</a:t>
              </a:r>
              <a:r>
                <a:rPr lang="zh-CN" altLang="en-US" sz="2800" u="sng" dirty="0">
                  <a:solidFill>
                    <a:srgbClr val="00FF99"/>
                  </a:solidFill>
                  <a:effectLst>
                    <a:outerShdw blurRad="38100" dist="38100" dir="2700000" algn="tl">
                      <a:srgbClr val="000000"/>
                    </a:outerShdw>
                  </a:effectLst>
                  <a:latin typeface="Times New Roman" pitchFamily="18" charset="0"/>
                </a:rPr>
                <a:t>学号</a:t>
              </a:r>
              <a:r>
                <a:rPr lang="zh-CN" altLang="en-US" sz="2800" dirty="0">
                  <a:solidFill>
                    <a:srgbClr val="00FF99"/>
                  </a:solidFill>
                  <a:effectLst>
                    <a:outerShdw blurRad="38100" dist="38100" dir="2700000" algn="tl">
                      <a:srgbClr val="000000"/>
                    </a:outerShdw>
                  </a:effectLst>
                  <a:latin typeface="Times New Roman" pitchFamily="18" charset="0"/>
                </a:rPr>
                <a:t>，姓名，年龄，性别)</a:t>
              </a:r>
            </a:p>
          </p:txBody>
        </p:sp>
        <p:cxnSp>
          <p:nvCxnSpPr>
            <p:cNvPr id="42" name="AutoShape 27">
              <a:extLst>
                <a:ext uri="{FF2B5EF4-FFF2-40B4-BE49-F238E27FC236}">
                  <a16:creationId xmlns:a16="http://schemas.microsoft.com/office/drawing/2014/main" id="{ADE77DDA-ACD4-46C2-8E37-70FF21C5551A}"/>
                </a:ext>
              </a:extLst>
            </p:cNvPr>
            <p:cNvCxnSpPr>
              <a:cxnSpLocks noChangeShapeType="1"/>
            </p:cNvCxnSpPr>
            <p:nvPr/>
          </p:nvCxnSpPr>
          <p:spPr bwMode="auto">
            <a:xfrm rot="10800000" flipV="1">
              <a:off x="2127549" y="3891658"/>
              <a:ext cx="1154113" cy="1660525"/>
            </a:xfrm>
            <a:prstGeom prst="bentConnector3">
              <a:avLst>
                <a:gd name="adj1" fmla="val 143602"/>
              </a:avLst>
            </a:prstGeom>
            <a:noFill/>
            <a:ln w="38100">
              <a:solidFill>
                <a:schemeClr val="hlink"/>
              </a:solidFill>
              <a:prstDash val="dash"/>
              <a:miter lim="800000"/>
              <a:headEnd type="oval" w="med" len="med"/>
              <a:tailEnd type="triangle" w="med" len="med"/>
            </a:ln>
            <a:extLst>
              <a:ext uri="{909E8E84-426E-40DD-AFC4-6F175D3DCCD1}">
                <a14:hiddenFill xmlns:a14="http://schemas.microsoft.com/office/drawing/2010/main">
                  <a:noFill/>
                </a14:hiddenFill>
              </a:ext>
            </a:extLst>
          </p:spPr>
        </p:cxnSp>
        <p:sp>
          <p:nvSpPr>
            <p:cNvPr id="43" name="Rectangle 28">
              <a:extLst>
                <a:ext uri="{FF2B5EF4-FFF2-40B4-BE49-F238E27FC236}">
                  <a16:creationId xmlns:a16="http://schemas.microsoft.com/office/drawing/2014/main" id="{40EBDBBB-7246-41FB-8D97-D6333ED81810}"/>
                </a:ext>
              </a:extLst>
            </p:cNvPr>
            <p:cNvSpPr>
              <a:spLocks noChangeArrowheads="1"/>
            </p:cNvSpPr>
            <p:nvPr/>
          </p:nvSpPr>
          <p:spPr bwMode="auto">
            <a:xfrm>
              <a:off x="4794548" y="6130032"/>
              <a:ext cx="3887788" cy="427038"/>
            </a:xfrm>
            <a:prstGeom prst="rect">
              <a:avLst/>
            </a:prstGeom>
            <a:noFill/>
            <a:ln w="12700" cap="sq">
              <a:noFill/>
              <a:miter lim="800000"/>
              <a:headEnd/>
              <a:tailEnd/>
            </a:ln>
            <a:effectLst/>
          </p:spPr>
          <p:txBody>
            <a:bodyPr lIns="0" tIns="0" rIns="0" bIns="0"/>
            <a:lstStyle/>
            <a:p>
              <a:pPr>
                <a:spcBef>
                  <a:spcPct val="35000"/>
                </a:spcBef>
                <a:spcAft>
                  <a:spcPct val="0"/>
                </a:spcAft>
                <a:buSzTx/>
                <a:buFontTx/>
                <a:buNone/>
                <a:defRPr/>
              </a:pPr>
              <a:r>
                <a:rPr lang="zh-CN" altLang="en-US" sz="2800">
                  <a:solidFill>
                    <a:srgbClr val="00FF99"/>
                  </a:solidFill>
                  <a:effectLst>
                    <a:outerShdw blurRad="38100" dist="38100" dir="2700000" algn="tl">
                      <a:srgbClr val="000000"/>
                    </a:outerShdw>
                  </a:effectLst>
                  <a:latin typeface="Times New Roman" pitchFamily="18" charset="0"/>
                </a:rPr>
                <a:t>班级(</a:t>
              </a:r>
              <a:r>
                <a:rPr lang="zh-CN" altLang="en-US" sz="2800" u="sng">
                  <a:solidFill>
                    <a:srgbClr val="00FF99"/>
                  </a:solidFill>
                  <a:effectLst>
                    <a:outerShdw blurRad="38100" dist="38100" dir="2700000" algn="tl">
                      <a:srgbClr val="000000"/>
                    </a:outerShdw>
                  </a:effectLst>
                  <a:latin typeface="Times New Roman" pitchFamily="18" charset="0"/>
                </a:rPr>
                <a:t>班号</a:t>
              </a:r>
              <a:r>
                <a:rPr lang="zh-CN" altLang="en-US" sz="2800">
                  <a:solidFill>
                    <a:srgbClr val="00FF99"/>
                  </a:solidFill>
                  <a:effectLst>
                    <a:outerShdw blurRad="38100" dist="38100" dir="2700000" algn="tl">
                      <a:srgbClr val="000000"/>
                    </a:outerShdw>
                  </a:effectLst>
                  <a:latin typeface="Times New Roman" pitchFamily="18" charset="0"/>
                </a:rPr>
                <a:t>，班名，班长)</a:t>
              </a:r>
            </a:p>
          </p:txBody>
        </p:sp>
        <p:cxnSp>
          <p:nvCxnSpPr>
            <p:cNvPr id="44" name="AutoShape 29">
              <a:extLst>
                <a:ext uri="{FF2B5EF4-FFF2-40B4-BE49-F238E27FC236}">
                  <a16:creationId xmlns:a16="http://schemas.microsoft.com/office/drawing/2014/main" id="{16C74CF9-2E10-4FEA-AA86-84E8D764F51C}"/>
                </a:ext>
              </a:extLst>
            </p:cNvPr>
            <p:cNvCxnSpPr>
              <a:cxnSpLocks noChangeShapeType="1"/>
            </p:cNvCxnSpPr>
            <p:nvPr/>
          </p:nvCxnSpPr>
          <p:spPr bwMode="auto">
            <a:xfrm>
              <a:off x="8682337" y="3891657"/>
              <a:ext cx="90487" cy="2452688"/>
            </a:xfrm>
            <a:prstGeom prst="bentConnector3">
              <a:avLst>
                <a:gd name="adj1" fmla="val 1403509"/>
              </a:avLst>
            </a:prstGeom>
            <a:noFill/>
            <a:ln w="38100">
              <a:solidFill>
                <a:schemeClr val="hlink"/>
              </a:solidFill>
              <a:prstDash val="dash"/>
              <a:miter lim="800000"/>
              <a:headEnd type="oval" w="med" len="med"/>
              <a:tailEnd type="triangle" w="med" len="med"/>
            </a:ln>
            <a:extLst>
              <a:ext uri="{909E8E84-426E-40DD-AFC4-6F175D3DCCD1}">
                <a14:hiddenFill xmlns:a14="http://schemas.microsoft.com/office/drawing/2010/main">
                  <a:noFill/>
                </a14:hiddenFill>
              </a:ext>
            </a:extLst>
          </p:spPr>
        </p:cxnSp>
      </p:grpSp>
      <p:sp>
        <p:nvSpPr>
          <p:cNvPr id="45" name="Text Box 2">
            <a:extLst>
              <a:ext uri="{FF2B5EF4-FFF2-40B4-BE49-F238E27FC236}">
                <a16:creationId xmlns:a16="http://schemas.microsoft.com/office/drawing/2014/main" id="{C4220166-F58C-43EC-BD52-C9475C797C0E}"/>
              </a:ext>
            </a:extLst>
          </p:cNvPr>
          <p:cNvSpPr txBox="1">
            <a:spLocks noChangeArrowheads="1"/>
          </p:cNvSpPr>
          <p:nvPr/>
        </p:nvSpPr>
        <p:spPr bwMode="auto">
          <a:xfrm>
            <a:off x="740001" y="10592"/>
            <a:ext cx="4762055" cy="760959"/>
          </a:xfrm>
          <a:prstGeom prst="rect">
            <a:avLst/>
          </a:prstGeom>
          <a:noFill/>
          <a:ln w="12700" cap="sq">
            <a:noFill/>
            <a:miter lim="800000"/>
            <a:headEnd/>
            <a:tailEnd/>
          </a:ln>
          <a:effectLst>
            <a:outerShdw dist="35921" dir="2700000" algn="ctr" rotWithShape="0">
              <a:srgbClr val="000514"/>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vert="horz" wrap="none" lIns="72000" tIns="72000" rIns="72000" bIns="72000" numCol="1" rtlCol="0" anchor="ctr" anchorCtr="0" compatLnSpc="1">
            <a:prstTxWarp prst="textNoShape">
              <a:avLst/>
            </a:prstTxWarp>
            <a:spAutoFit/>
          </a:bodyPr>
          <a:lstStyle>
            <a:defPPr>
              <a:defRPr lang="en-US"/>
            </a:defPPr>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a:t>逻辑结构设计的流程</a:t>
            </a:r>
          </a:p>
        </p:txBody>
      </p:sp>
    </p:spTree>
  </p:cSld>
  <p:clrMapOvr>
    <a:masterClrMapping/>
  </p:clrMapOvr>
  <p:transition spd="med">
    <p:random/>
    <p:sndAc>
      <p:stSnd>
        <p:snd r:embed="rId2" name="arrow.wav"/>
      </p:stSnd>
    </p:sndAc>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 Box 2">
            <a:extLst>
              <a:ext uri="{FF2B5EF4-FFF2-40B4-BE49-F238E27FC236}">
                <a16:creationId xmlns:a16="http://schemas.microsoft.com/office/drawing/2014/main" id="{F01E9C00-DA68-4E67-8B2B-22668369BFC1}"/>
              </a:ext>
            </a:extLst>
          </p:cNvPr>
          <p:cNvSpPr txBox="1">
            <a:spLocks noChangeArrowheads="1"/>
          </p:cNvSpPr>
          <p:nvPr/>
        </p:nvSpPr>
        <p:spPr bwMode="auto">
          <a:xfrm>
            <a:off x="740001" y="10592"/>
            <a:ext cx="4762055" cy="760959"/>
          </a:xfrm>
          <a:prstGeom prst="rect">
            <a:avLst/>
          </a:prstGeom>
          <a:noFill/>
          <a:ln w="12700" cap="sq">
            <a:noFill/>
            <a:miter lim="800000"/>
            <a:headEnd/>
            <a:tailEnd/>
          </a:ln>
          <a:effectLst>
            <a:outerShdw dist="35921" dir="2700000" algn="ctr" rotWithShape="0">
              <a:srgbClr val="000514"/>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vert="horz" wrap="none" lIns="72000" tIns="72000" rIns="72000" bIns="72000" numCol="1" rtlCol="0" anchor="ctr" anchorCtr="0" compatLnSpc="1">
            <a:prstTxWarp prst="textNoShape">
              <a:avLst/>
            </a:prstTxWarp>
            <a:spAutoFit/>
          </a:bodyPr>
          <a:lstStyle>
            <a:defPPr>
              <a:defRPr lang="en-US"/>
            </a:defPPr>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a:t>逻辑结构设计的流程</a:t>
            </a:r>
          </a:p>
        </p:txBody>
      </p:sp>
      <p:sp>
        <p:nvSpPr>
          <p:cNvPr id="60" name="Rectangle 3">
            <a:extLst>
              <a:ext uri="{FF2B5EF4-FFF2-40B4-BE49-F238E27FC236}">
                <a16:creationId xmlns:a16="http://schemas.microsoft.com/office/drawing/2014/main" id="{13BDD371-3BCE-4E17-A338-05E271EFD47C}"/>
              </a:ext>
            </a:extLst>
          </p:cNvPr>
          <p:cNvSpPr>
            <a:spLocks noGrp="1" noChangeArrowheads="1"/>
          </p:cNvSpPr>
          <p:nvPr>
            <p:ph type="title"/>
          </p:nvPr>
        </p:nvSpPr>
        <p:spPr>
          <a:xfrm>
            <a:off x="743410" y="823363"/>
            <a:ext cx="8964612" cy="584775"/>
          </a:xfrm>
        </p:spPr>
        <p:txBody>
          <a:bodyPr wrap="square"/>
          <a:lstStyle/>
          <a:p>
            <a:pPr eaLnBrk="1" hangingPunct="1">
              <a:buFont typeface="Wingdings" pitchFamily="2" charset="2"/>
              <a:buNone/>
            </a:pPr>
            <a:r>
              <a:rPr lang="zh-CN" altLang="zh-CN" dirty="0"/>
              <a:t>第一步：E-R图转换成数据模型</a:t>
            </a:r>
            <a:endParaRPr lang="en-US" altLang="zh-CN" dirty="0"/>
          </a:p>
        </p:txBody>
      </p:sp>
      <p:sp>
        <p:nvSpPr>
          <p:cNvPr id="55" name="Rectangle 4">
            <a:extLst>
              <a:ext uri="{FF2B5EF4-FFF2-40B4-BE49-F238E27FC236}">
                <a16:creationId xmlns:a16="http://schemas.microsoft.com/office/drawing/2014/main" id="{27014BC0-90AF-4A64-9CFF-73A2F1622706}"/>
              </a:ext>
            </a:extLst>
          </p:cNvPr>
          <p:cNvSpPr txBox="1">
            <a:spLocks noChangeArrowheads="1"/>
          </p:cNvSpPr>
          <p:nvPr/>
        </p:nvSpPr>
        <p:spPr>
          <a:xfrm>
            <a:off x="407368" y="1562417"/>
            <a:ext cx="11233248" cy="1152525"/>
          </a:xfrm>
          <a:prstGeom prst="rect">
            <a:avLst/>
          </a:prstGeom>
        </p:spPr>
        <p:txBody>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algn="just" eaLnBrk="1" hangingPunct="1">
              <a:defRPr/>
            </a:pPr>
            <a:r>
              <a:rPr kumimoji="0" lang="zh-CN" altLang="en-US" kern="0" dirty="0"/>
              <a:t>一个 </a:t>
            </a:r>
            <a:r>
              <a:rPr kumimoji="0" lang="en-US" altLang="zh-CN" kern="0" dirty="0">
                <a:solidFill>
                  <a:srgbClr val="FFFF00"/>
                </a:solidFill>
              </a:rPr>
              <a:t>1:n</a:t>
            </a:r>
            <a:r>
              <a:rPr kumimoji="0" lang="zh-CN" altLang="en-US" kern="0" dirty="0">
                <a:solidFill>
                  <a:srgbClr val="FFFF00"/>
                </a:solidFill>
              </a:rPr>
              <a:t>联系 </a:t>
            </a:r>
            <a:r>
              <a:rPr kumimoji="0" lang="zh-CN" altLang="en-US" kern="0" dirty="0"/>
              <a:t>可以和</a:t>
            </a:r>
            <a:r>
              <a:rPr kumimoji="0" lang="en-US" altLang="zh-CN" kern="0" dirty="0"/>
              <a:t>n</a:t>
            </a:r>
            <a:r>
              <a:rPr kumimoji="0" lang="zh-CN" altLang="en-US" kern="0" dirty="0"/>
              <a:t>端实体合并成一个关系模式，并且加入</a:t>
            </a:r>
            <a:r>
              <a:rPr kumimoji="0" lang="en-US" altLang="zh-CN" kern="0" dirty="0"/>
              <a:t>1</a:t>
            </a:r>
            <a:r>
              <a:rPr kumimoji="0" lang="zh-CN" altLang="en-US" kern="0" dirty="0"/>
              <a:t>端实体的主码和联系本身的属性。</a:t>
            </a:r>
          </a:p>
        </p:txBody>
      </p:sp>
      <p:sp>
        <p:nvSpPr>
          <p:cNvPr id="56" name="Rectangle 5">
            <a:extLst>
              <a:ext uri="{FF2B5EF4-FFF2-40B4-BE49-F238E27FC236}">
                <a16:creationId xmlns:a16="http://schemas.microsoft.com/office/drawing/2014/main" id="{E793B1A2-657C-4D36-961D-C1E56842EEF3}"/>
              </a:ext>
            </a:extLst>
          </p:cNvPr>
          <p:cNvSpPr>
            <a:spLocks noChangeArrowheads="1"/>
          </p:cNvSpPr>
          <p:nvPr/>
        </p:nvSpPr>
        <p:spPr bwMode="auto">
          <a:xfrm>
            <a:off x="2567930" y="5517455"/>
            <a:ext cx="6934200" cy="427038"/>
          </a:xfrm>
          <a:prstGeom prst="rect">
            <a:avLst/>
          </a:prstGeom>
          <a:noFill/>
          <a:ln w="12700" cap="sq">
            <a:noFill/>
            <a:miter lim="800000"/>
            <a:headEnd/>
            <a:tailEnd/>
          </a:ln>
          <a:effectLst/>
        </p:spPr>
        <p:txBody>
          <a:bodyPr lIns="0" tIns="0" rIns="0" bIns="0"/>
          <a:lstStyle/>
          <a:p>
            <a:pPr>
              <a:spcAft>
                <a:spcPct val="40000"/>
              </a:spcAft>
              <a:buSzTx/>
              <a:buFontTx/>
              <a:buNone/>
              <a:defRPr/>
            </a:pPr>
            <a:r>
              <a:rPr lang="zh-CN" altLang="en-US" sz="2800">
                <a:solidFill>
                  <a:srgbClr val="00FF99"/>
                </a:solidFill>
                <a:effectLst>
                  <a:outerShdw blurRad="38100" dist="38100" dir="2700000" algn="tl">
                    <a:srgbClr val="000000"/>
                  </a:outerShdw>
                </a:effectLst>
                <a:latin typeface="Times New Roman" pitchFamily="18" charset="0"/>
              </a:rPr>
              <a:t>学校(</a:t>
            </a:r>
            <a:r>
              <a:rPr lang="zh-CN" altLang="en-US" sz="2800" u="sng">
                <a:solidFill>
                  <a:srgbClr val="00FF99"/>
                </a:solidFill>
                <a:effectLst>
                  <a:outerShdw blurRad="38100" dist="38100" dir="2700000" algn="tl">
                    <a:srgbClr val="000000"/>
                  </a:outerShdw>
                </a:effectLst>
                <a:latin typeface="Times New Roman" pitchFamily="18" charset="0"/>
              </a:rPr>
              <a:t>名称</a:t>
            </a:r>
            <a:r>
              <a:rPr lang="zh-CN" altLang="en-US" sz="2800">
                <a:solidFill>
                  <a:srgbClr val="00FF99"/>
                </a:solidFill>
                <a:effectLst>
                  <a:outerShdw blurRad="38100" dist="38100" dir="2700000" algn="tl">
                    <a:srgbClr val="000000"/>
                  </a:outerShdw>
                </a:effectLst>
                <a:latin typeface="Times New Roman" pitchFamily="18" charset="0"/>
              </a:rPr>
              <a:t>，地址)</a:t>
            </a:r>
          </a:p>
          <a:p>
            <a:pPr>
              <a:spcAft>
                <a:spcPct val="40000"/>
              </a:spcAft>
              <a:buSzTx/>
              <a:buFontTx/>
              <a:buNone/>
              <a:defRPr/>
            </a:pPr>
            <a:r>
              <a:rPr lang="zh-CN" altLang="en-US" sz="2800">
                <a:solidFill>
                  <a:srgbClr val="00FF99"/>
                </a:solidFill>
                <a:effectLst>
                  <a:outerShdw blurRad="38100" dist="38100" dir="2700000" algn="tl">
                    <a:srgbClr val="000000"/>
                  </a:outerShdw>
                </a:effectLst>
                <a:latin typeface="Times New Roman" pitchFamily="18" charset="0"/>
              </a:rPr>
              <a:t>教师(</a:t>
            </a:r>
            <a:r>
              <a:rPr lang="zh-CN" altLang="en-US" sz="2800" u="sng">
                <a:solidFill>
                  <a:srgbClr val="00FF99"/>
                </a:solidFill>
                <a:effectLst>
                  <a:outerShdw blurRad="38100" dist="38100" dir="2700000" algn="tl">
                    <a:srgbClr val="000000"/>
                  </a:outerShdw>
                </a:effectLst>
                <a:latin typeface="Times New Roman" pitchFamily="18" charset="0"/>
              </a:rPr>
              <a:t>姓名</a:t>
            </a:r>
            <a:r>
              <a:rPr lang="zh-CN" altLang="en-US" sz="2800">
                <a:solidFill>
                  <a:srgbClr val="00FF99"/>
                </a:solidFill>
                <a:effectLst>
                  <a:outerShdw blurRad="38100" dist="38100" dir="2700000" algn="tl">
                    <a:srgbClr val="000000"/>
                  </a:outerShdw>
                </a:effectLst>
                <a:latin typeface="Times New Roman" pitchFamily="18" charset="0"/>
              </a:rPr>
              <a:t>，性别，年龄，</a:t>
            </a:r>
            <a:r>
              <a:rPr lang="zh-CN" altLang="en-US" sz="2800">
                <a:solidFill>
                  <a:srgbClr val="FFFF00"/>
                </a:solidFill>
                <a:effectLst>
                  <a:outerShdw blurRad="38100" dist="38100" dir="2700000" algn="tl">
                    <a:srgbClr val="000000"/>
                  </a:outerShdw>
                </a:effectLst>
                <a:latin typeface="Times New Roman" pitchFamily="18" charset="0"/>
              </a:rPr>
              <a:t>学校名称，聘期</a:t>
            </a:r>
            <a:r>
              <a:rPr lang="zh-CN" altLang="en-US" sz="2800">
                <a:solidFill>
                  <a:srgbClr val="00FF99"/>
                </a:solidFill>
                <a:effectLst>
                  <a:outerShdw blurRad="38100" dist="38100" dir="2700000" algn="tl">
                    <a:srgbClr val="000000"/>
                  </a:outerShdw>
                </a:effectLst>
                <a:latin typeface="Times New Roman" pitchFamily="18" charset="0"/>
              </a:rPr>
              <a:t>)</a:t>
            </a:r>
          </a:p>
        </p:txBody>
      </p:sp>
      <p:grpSp>
        <p:nvGrpSpPr>
          <p:cNvPr id="58" name="Group 6">
            <a:extLst>
              <a:ext uri="{FF2B5EF4-FFF2-40B4-BE49-F238E27FC236}">
                <a16:creationId xmlns:a16="http://schemas.microsoft.com/office/drawing/2014/main" id="{8E62F78D-BC63-4C12-A89A-7E484E7AD1DA}"/>
              </a:ext>
            </a:extLst>
          </p:cNvPr>
          <p:cNvGrpSpPr>
            <a:grpSpLocks/>
          </p:cNvGrpSpPr>
          <p:nvPr/>
        </p:nvGrpSpPr>
        <p:grpSpPr bwMode="auto">
          <a:xfrm>
            <a:off x="2207568" y="3140968"/>
            <a:ext cx="7321550" cy="1841500"/>
            <a:chOff x="1200" y="1824"/>
            <a:chExt cx="3264" cy="628"/>
          </a:xfrm>
        </p:grpSpPr>
        <p:sp>
          <p:nvSpPr>
            <p:cNvPr id="61" name="Rectangle 7">
              <a:extLst>
                <a:ext uri="{FF2B5EF4-FFF2-40B4-BE49-F238E27FC236}">
                  <a16:creationId xmlns:a16="http://schemas.microsoft.com/office/drawing/2014/main" id="{D504B894-0C27-44F2-88F7-9521AE0D1CF4}"/>
                </a:ext>
              </a:extLst>
            </p:cNvPr>
            <p:cNvSpPr>
              <a:spLocks noChangeArrowheads="1"/>
            </p:cNvSpPr>
            <p:nvPr/>
          </p:nvSpPr>
          <p:spPr bwMode="auto">
            <a:xfrm flipH="1">
              <a:off x="1440" y="1896"/>
              <a:ext cx="432" cy="144"/>
            </a:xfrm>
            <a:prstGeom prst="rect">
              <a:avLst/>
            </a:prstGeom>
            <a:solidFill>
              <a:schemeClr val="bg1"/>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400">
                  <a:effectLst/>
                  <a:latin typeface="Times New Roman" pitchFamily="18" charset="0"/>
                </a:rPr>
                <a:t>学校</a:t>
              </a:r>
            </a:p>
          </p:txBody>
        </p:sp>
        <p:sp>
          <p:nvSpPr>
            <p:cNvPr id="62" name="AutoShape 8">
              <a:extLst>
                <a:ext uri="{FF2B5EF4-FFF2-40B4-BE49-F238E27FC236}">
                  <a16:creationId xmlns:a16="http://schemas.microsoft.com/office/drawing/2014/main" id="{63A737F1-BB66-474D-8D9D-E26226A5BF72}"/>
                </a:ext>
              </a:extLst>
            </p:cNvPr>
            <p:cNvSpPr>
              <a:spLocks noChangeArrowheads="1"/>
            </p:cNvSpPr>
            <p:nvPr/>
          </p:nvSpPr>
          <p:spPr bwMode="auto">
            <a:xfrm flipH="1">
              <a:off x="1200" y="2256"/>
              <a:ext cx="480" cy="144"/>
            </a:xfrm>
            <a:prstGeom prst="roundRect">
              <a:avLst>
                <a:gd name="adj" fmla="val 50000"/>
              </a:avLst>
            </a:prstGeom>
            <a:solidFill>
              <a:srgbClr val="6600FF"/>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400" u="sng" dirty="0">
                  <a:effectLst/>
                  <a:latin typeface="Times New Roman" pitchFamily="18" charset="0"/>
                </a:rPr>
                <a:t>名称</a:t>
              </a:r>
            </a:p>
          </p:txBody>
        </p:sp>
        <p:sp>
          <p:nvSpPr>
            <p:cNvPr id="63" name="AutoShape 9">
              <a:extLst>
                <a:ext uri="{FF2B5EF4-FFF2-40B4-BE49-F238E27FC236}">
                  <a16:creationId xmlns:a16="http://schemas.microsoft.com/office/drawing/2014/main" id="{A6A1E481-03AF-4D7C-A5FD-B219AC7EE4E9}"/>
                </a:ext>
              </a:extLst>
            </p:cNvPr>
            <p:cNvSpPr>
              <a:spLocks noChangeArrowheads="1"/>
            </p:cNvSpPr>
            <p:nvPr/>
          </p:nvSpPr>
          <p:spPr bwMode="auto">
            <a:xfrm flipH="1">
              <a:off x="1776" y="2256"/>
              <a:ext cx="480" cy="144"/>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400">
                  <a:effectLst/>
                  <a:latin typeface="Times New Roman" pitchFamily="18" charset="0"/>
                </a:rPr>
                <a:t>地址</a:t>
              </a:r>
            </a:p>
          </p:txBody>
        </p:sp>
        <p:cxnSp>
          <p:nvCxnSpPr>
            <p:cNvPr id="64" name="AutoShape 10">
              <a:extLst>
                <a:ext uri="{FF2B5EF4-FFF2-40B4-BE49-F238E27FC236}">
                  <a16:creationId xmlns:a16="http://schemas.microsoft.com/office/drawing/2014/main" id="{C20038ED-AFF5-4CCB-A15B-93EF9CF0429C}"/>
                </a:ext>
              </a:extLst>
            </p:cNvPr>
            <p:cNvCxnSpPr>
              <a:cxnSpLocks noChangeShapeType="1"/>
              <a:stCxn id="62" idx="0"/>
              <a:endCxn id="61" idx="2"/>
            </p:cNvCxnSpPr>
            <p:nvPr/>
          </p:nvCxnSpPr>
          <p:spPr bwMode="auto">
            <a:xfrm flipV="1">
              <a:off x="1440" y="2039"/>
              <a:ext cx="216" cy="217"/>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65" name="AutoShape 11">
              <a:extLst>
                <a:ext uri="{FF2B5EF4-FFF2-40B4-BE49-F238E27FC236}">
                  <a16:creationId xmlns:a16="http://schemas.microsoft.com/office/drawing/2014/main" id="{F9027B35-F5A4-4F71-8A74-43EA5E7E290C}"/>
                </a:ext>
              </a:extLst>
            </p:cNvPr>
            <p:cNvCxnSpPr>
              <a:cxnSpLocks noChangeShapeType="1"/>
              <a:stCxn id="63" idx="0"/>
              <a:endCxn id="61" idx="2"/>
            </p:cNvCxnSpPr>
            <p:nvPr/>
          </p:nvCxnSpPr>
          <p:spPr bwMode="auto">
            <a:xfrm flipH="1" flipV="1">
              <a:off x="1656" y="2039"/>
              <a:ext cx="360" cy="217"/>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66" name="Rectangle 12">
              <a:extLst>
                <a:ext uri="{FF2B5EF4-FFF2-40B4-BE49-F238E27FC236}">
                  <a16:creationId xmlns:a16="http://schemas.microsoft.com/office/drawing/2014/main" id="{0C62B353-216A-4D2E-80DD-B07E2F14278D}"/>
                </a:ext>
              </a:extLst>
            </p:cNvPr>
            <p:cNvSpPr>
              <a:spLocks noChangeArrowheads="1"/>
            </p:cNvSpPr>
            <p:nvPr/>
          </p:nvSpPr>
          <p:spPr bwMode="auto">
            <a:xfrm>
              <a:off x="3552" y="1896"/>
              <a:ext cx="432" cy="144"/>
            </a:xfrm>
            <a:prstGeom prst="rect">
              <a:avLst/>
            </a:prstGeom>
            <a:solidFill>
              <a:schemeClr val="bg1"/>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400">
                  <a:effectLst/>
                  <a:latin typeface="Times New Roman" pitchFamily="18" charset="0"/>
                </a:rPr>
                <a:t>教师</a:t>
              </a:r>
            </a:p>
          </p:txBody>
        </p:sp>
        <p:sp>
          <p:nvSpPr>
            <p:cNvPr id="67" name="AutoShape 13">
              <a:extLst>
                <a:ext uri="{FF2B5EF4-FFF2-40B4-BE49-F238E27FC236}">
                  <a16:creationId xmlns:a16="http://schemas.microsoft.com/office/drawing/2014/main" id="{B45ED4FF-0382-4015-B5AF-5A5352262FD6}"/>
                </a:ext>
              </a:extLst>
            </p:cNvPr>
            <p:cNvSpPr>
              <a:spLocks noChangeArrowheads="1"/>
            </p:cNvSpPr>
            <p:nvPr/>
          </p:nvSpPr>
          <p:spPr bwMode="auto">
            <a:xfrm>
              <a:off x="3072" y="2256"/>
              <a:ext cx="432" cy="144"/>
            </a:xfrm>
            <a:prstGeom prst="roundRect">
              <a:avLst>
                <a:gd name="adj" fmla="val 50000"/>
              </a:avLst>
            </a:prstGeom>
            <a:solidFill>
              <a:srgbClr val="6600FF"/>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400" u="sng">
                  <a:effectLst/>
                  <a:latin typeface="Times New Roman" pitchFamily="18" charset="0"/>
                </a:rPr>
                <a:t>姓名</a:t>
              </a:r>
            </a:p>
          </p:txBody>
        </p:sp>
        <p:sp>
          <p:nvSpPr>
            <p:cNvPr id="68" name="AutoShape 14">
              <a:extLst>
                <a:ext uri="{FF2B5EF4-FFF2-40B4-BE49-F238E27FC236}">
                  <a16:creationId xmlns:a16="http://schemas.microsoft.com/office/drawing/2014/main" id="{1DF5F400-0226-4453-9060-587E77330C33}"/>
                </a:ext>
              </a:extLst>
            </p:cNvPr>
            <p:cNvSpPr>
              <a:spLocks noChangeArrowheads="1"/>
            </p:cNvSpPr>
            <p:nvPr/>
          </p:nvSpPr>
          <p:spPr bwMode="auto">
            <a:xfrm>
              <a:off x="3553" y="2256"/>
              <a:ext cx="432" cy="144"/>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400">
                  <a:effectLst/>
                  <a:latin typeface="Times New Roman" pitchFamily="18" charset="0"/>
                </a:rPr>
                <a:t>性别</a:t>
              </a:r>
            </a:p>
          </p:txBody>
        </p:sp>
        <p:sp>
          <p:nvSpPr>
            <p:cNvPr id="69" name="AutoShape 15">
              <a:extLst>
                <a:ext uri="{FF2B5EF4-FFF2-40B4-BE49-F238E27FC236}">
                  <a16:creationId xmlns:a16="http://schemas.microsoft.com/office/drawing/2014/main" id="{8A1B7CB9-B25D-4BA6-97D0-B264A6E701B2}"/>
                </a:ext>
              </a:extLst>
            </p:cNvPr>
            <p:cNvSpPr>
              <a:spLocks noChangeArrowheads="1"/>
            </p:cNvSpPr>
            <p:nvPr/>
          </p:nvSpPr>
          <p:spPr bwMode="auto">
            <a:xfrm>
              <a:off x="4032" y="2256"/>
              <a:ext cx="432" cy="144"/>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400">
                  <a:effectLst/>
                  <a:latin typeface="Times New Roman" pitchFamily="18" charset="0"/>
                </a:rPr>
                <a:t>年龄</a:t>
              </a:r>
            </a:p>
          </p:txBody>
        </p:sp>
        <p:cxnSp>
          <p:nvCxnSpPr>
            <p:cNvPr id="70" name="AutoShape 16">
              <a:extLst>
                <a:ext uri="{FF2B5EF4-FFF2-40B4-BE49-F238E27FC236}">
                  <a16:creationId xmlns:a16="http://schemas.microsoft.com/office/drawing/2014/main" id="{6D0DEEB2-93B1-4942-868C-FAC0615AFC45}"/>
                </a:ext>
              </a:extLst>
            </p:cNvPr>
            <p:cNvCxnSpPr>
              <a:cxnSpLocks noChangeShapeType="1"/>
              <a:stCxn id="66" idx="2"/>
              <a:endCxn id="67" idx="0"/>
            </p:cNvCxnSpPr>
            <p:nvPr/>
          </p:nvCxnSpPr>
          <p:spPr bwMode="auto">
            <a:xfrm flipH="1">
              <a:off x="3288" y="2040"/>
              <a:ext cx="480" cy="216"/>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71" name="AutoShape 17">
              <a:extLst>
                <a:ext uri="{FF2B5EF4-FFF2-40B4-BE49-F238E27FC236}">
                  <a16:creationId xmlns:a16="http://schemas.microsoft.com/office/drawing/2014/main" id="{16E7AB6A-5C77-4C44-BB1D-C3C2D50DC8F6}"/>
                </a:ext>
              </a:extLst>
            </p:cNvPr>
            <p:cNvCxnSpPr>
              <a:cxnSpLocks noChangeShapeType="1"/>
              <a:stCxn id="66" idx="2"/>
              <a:endCxn id="68" idx="0"/>
            </p:cNvCxnSpPr>
            <p:nvPr/>
          </p:nvCxnSpPr>
          <p:spPr bwMode="auto">
            <a:xfrm>
              <a:off x="3768" y="2040"/>
              <a:ext cx="1" cy="216"/>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72" name="AutoShape 18">
              <a:extLst>
                <a:ext uri="{FF2B5EF4-FFF2-40B4-BE49-F238E27FC236}">
                  <a16:creationId xmlns:a16="http://schemas.microsoft.com/office/drawing/2014/main" id="{3D88A408-8BA4-4DB0-A45B-3447818D433E}"/>
                </a:ext>
              </a:extLst>
            </p:cNvPr>
            <p:cNvCxnSpPr>
              <a:cxnSpLocks noChangeShapeType="1"/>
              <a:stCxn id="66" idx="2"/>
              <a:endCxn id="69" idx="0"/>
            </p:cNvCxnSpPr>
            <p:nvPr/>
          </p:nvCxnSpPr>
          <p:spPr bwMode="auto">
            <a:xfrm>
              <a:off x="3768" y="2040"/>
              <a:ext cx="480" cy="216"/>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73" name="AutoShape 19">
              <a:extLst>
                <a:ext uri="{FF2B5EF4-FFF2-40B4-BE49-F238E27FC236}">
                  <a16:creationId xmlns:a16="http://schemas.microsoft.com/office/drawing/2014/main" id="{F0965AD6-832A-4D9B-95E5-2A51B92989FE}"/>
                </a:ext>
              </a:extLst>
            </p:cNvPr>
            <p:cNvSpPr>
              <a:spLocks noChangeArrowheads="1"/>
            </p:cNvSpPr>
            <p:nvPr/>
          </p:nvSpPr>
          <p:spPr bwMode="auto">
            <a:xfrm>
              <a:off x="2268" y="1824"/>
              <a:ext cx="768" cy="288"/>
            </a:xfrm>
            <a:prstGeom prst="diamond">
              <a:avLst/>
            </a:prstGeom>
            <a:solidFill>
              <a:schemeClr val="bg1"/>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400">
                  <a:effectLst/>
                  <a:latin typeface="Times New Roman" pitchFamily="18" charset="0"/>
                </a:rPr>
                <a:t>聘用</a:t>
              </a:r>
            </a:p>
          </p:txBody>
        </p:sp>
        <p:cxnSp>
          <p:nvCxnSpPr>
            <p:cNvPr id="74" name="AutoShape 20">
              <a:extLst>
                <a:ext uri="{FF2B5EF4-FFF2-40B4-BE49-F238E27FC236}">
                  <a16:creationId xmlns:a16="http://schemas.microsoft.com/office/drawing/2014/main" id="{05861FC8-3D26-4409-8A87-FC29D59090E8}"/>
                </a:ext>
              </a:extLst>
            </p:cNvPr>
            <p:cNvCxnSpPr>
              <a:cxnSpLocks noChangeShapeType="1"/>
              <a:stCxn id="61" idx="1"/>
              <a:endCxn id="73" idx="1"/>
            </p:cNvCxnSpPr>
            <p:nvPr/>
          </p:nvCxnSpPr>
          <p:spPr bwMode="auto">
            <a:xfrm>
              <a:off x="1872" y="1967"/>
              <a:ext cx="396" cy="1"/>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75" name="AutoShape 21">
              <a:extLst>
                <a:ext uri="{FF2B5EF4-FFF2-40B4-BE49-F238E27FC236}">
                  <a16:creationId xmlns:a16="http://schemas.microsoft.com/office/drawing/2014/main" id="{E8FBA582-C63B-496B-A752-4AD74EC45A84}"/>
                </a:ext>
              </a:extLst>
            </p:cNvPr>
            <p:cNvCxnSpPr>
              <a:cxnSpLocks noChangeShapeType="1"/>
              <a:stCxn id="73" idx="3"/>
              <a:endCxn id="66" idx="1"/>
            </p:cNvCxnSpPr>
            <p:nvPr/>
          </p:nvCxnSpPr>
          <p:spPr bwMode="auto">
            <a:xfrm>
              <a:off x="3036" y="1968"/>
              <a:ext cx="516"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76" name="Rectangle 22">
              <a:extLst>
                <a:ext uri="{FF2B5EF4-FFF2-40B4-BE49-F238E27FC236}">
                  <a16:creationId xmlns:a16="http://schemas.microsoft.com/office/drawing/2014/main" id="{866F149B-E874-4F8D-94BB-70C357E410A0}"/>
                </a:ext>
              </a:extLst>
            </p:cNvPr>
            <p:cNvSpPr>
              <a:spLocks noChangeArrowheads="1"/>
            </p:cNvSpPr>
            <p:nvPr/>
          </p:nvSpPr>
          <p:spPr bwMode="auto">
            <a:xfrm>
              <a:off x="1824" y="1824"/>
              <a:ext cx="4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spcAft>
                  <a:spcPct val="0"/>
                </a:spcAft>
                <a:buSzTx/>
                <a:buFontTx/>
                <a:buNone/>
              </a:pPr>
              <a:r>
                <a:rPr lang="en-US" altLang="zh-CN" sz="2400">
                  <a:effectLst/>
                  <a:latin typeface="Times New Roman" pitchFamily="18" charset="0"/>
                </a:rPr>
                <a:t>1</a:t>
              </a:r>
            </a:p>
          </p:txBody>
        </p:sp>
        <p:sp>
          <p:nvSpPr>
            <p:cNvPr id="77" name="Rectangle 23">
              <a:extLst>
                <a:ext uri="{FF2B5EF4-FFF2-40B4-BE49-F238E27FC236}">
                  <a16:creationId xmlns:a16="http://schemas.microsoft.com/office/drawing/2014/main" id="{04FF44DD-5A7D-4871-A9FF-A25D9C740E2D}"/>
                </a:ext>
              </a:extLst>
            </p:cNvPr>
            <p:cNvSpPr>
              <a:spLocks noChangeArrowheads="1"/>
            </p:cNvSpPr>
            <p:nvPr/>
          </p:nvSpPr>
          <p:spPr bwMode="auto">
            <a:xfrm>
              <a:off x="2976" y="1824"/>
              <a:ext cx="4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spcAft>
                  <a:spcPct val="0"/>
                </a:spcAft>
                <a:buSzTx/>
                <a:buFontTx/>
                <a:buNone/>
              </a:pPr>
              <a:r>
                <a:rPr lang="en-US" altLang="zh-CN" sz="2400">
                  <a:effectLst/>
                  <a:latin typeface="Times New Roman" pitchFamily="18" charset="0"/>
                </a:rPr>
                <a:t>n</a:t>
              </a:r>
            </a:p>
          </p:txBody>
        </p:sp>
        <p:sp>
          <p:nvSpPr>
            <p:cNvPr id="78" name="AutoShape 24">
              <a:extLst>
                <a:ext uri="{FF2B5EF4-FFF2-40B4-BE49-F238E27FC236}">
                  <a16:creationId xmlns:a16="http://schemas.microsoft.com/office/drawing/2014/main" id="{AD8B25E7-DF7C-403D-AA74-35B85A171B2B}"/>
                </a:ext>
              </a:extLst>
            </p:cNvPr>
            <p:cNvSpPr>
              <a:spLocks noChangeArrowheads="1"/>
            </p:cNvSpPr>
            <p:nvPr/>
          </p:nvSpPr>
          <p:spPr bwMode="auto">
            <a:xfrm flipH="1">
              <a:off x="2425" y="2256"/>
              <a:ext cx="453" cy="196"/>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400">
                  <a:effectLst/>
                  <a:latin typeface="Times New Roman" pitchFamily="18" charset="0"/>
                </a:rPr>
                <a:t>聘期</a:t>
              </a:r>
            </a:p>
          </p:txBody>
        </p:sp>
        <p:cxnSp>
          <p:nvCxnSpPr>
            <p:cNvPr id="79" name="AutoShape 25">
              <a:extLst>
                <a:ext uri="{FF2B5EF4-FFF2-40B4-BE49-F238E27FC236}">
                  <a16:creationId xmlns:a16="http://schemas.microsoft.com/office/drawing/2014/main" id="{AC66E584-FA3B-4D10-9515-531CEA7CE215}"/>
                </a:ext>
              </a:extLst>
            </p:cNvPr>
            <p:cNvCxnSpPr>
              <a:cxnSpLocks noChangeShapeType="1"/>
              <a:stCxn id="73" idx="2"/>
              <a:endCxn id="78" idx="0"/>
            </p:cNvCxnSpPr>
            <p:nvPr/>
          </p:nvCxnSpPr>
          <p:spPr bwMode="auto">
            <a:xfrm>
              <a:off x="2652" y="2112"/>
              <a:ext cx="0" cy="144"/>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3721805629"/>
      </p:ext>
    </p:extLst>
  </p:cSld>
  <p:clrMapOvr>
    <a:masterClrMapping/>
  </p:clrMapOvr>
  <p:transition spd="med">
    <p:random/>
    <p:sndAc>
      <p:stSnd>
        <p:snd r:embed="rId2" name="arrow.wav"/>
      </p:stSnd>
    </p:sndAc>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 Box 2">
            <a:extLst>
              <a:ext uri="{FF2B5EF4-FFF2-40B4-BE49-F238E27FC236}">
                <a16:creationId xmlns:a16="http://schemas.microsoft.com/office/drawing/2014/main" id="{F01E9C00-DA68-4E67-8B2B-22668369BFC1}"/>
              </a:ext>
            </a:extLst>
          </p:cNvPr>
          <p:cNvSpPr txBox="1">
            <a:spLocks noChangeArrowheads="1"/>
          </p:cNvSpPr>
          <p:nvPr/>
        </p:nvSpPr>
        <p:spPr bwMode="auto">
          <a:xfrm>
            <a:off x="740001" y="10592"/>
            <a:ext cx="4762055" cy="760959"/>
          </a:xfrm>
          <a:prstGeom prst="rect">
            <a:avLst/>
          </a:prstGeom>
          <a:noFill/>
          <a:ln w="12700" cap="sq">
            <a:noFill/>
            <a:miter lim="800000"/>
            <a:headEnd/>
            <a:tailEnd/>
          </a:ln>
          <a:effectLst>
            <a:outerShdw dist="35921" dir="2700000" algn="ctr" rotWithShape="0">
              <a:srgbClr val="000514"/>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vert="horz" wrap="none" lIns="72000" tIns="72000" rIns="72000" bIns="72000" numCol="1" rtlCol="0" anchor="ctr" anchorCtr="0" compatLnSpc="1">
            <a:prstTxWarp prst="textNoShape">
              <a:avLst/>
            </a:prstTxWarp>
            <a:spAutoFit/>
          </a:bodyPr>
          <a:lstStyle>
            <a:defPPr>
              <a:defRPr lang="en-US"/>
            </a:defPPr>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a:t>逻辑结构设计的流程</a:t>
            </a:r>
          </a:p>
        </p:txBody>
      </p:sp>
      <p:sp>
        <p:nvSpPr>
          <p:cNvPr id="60" name="Rectangle 3">
            <a:extLst>
              <a:ext uri="{FF2B5EF4-FFF2-40B4-BE49-F238E27FC236}">
                <a16:creationId xmlns:a16="http://schemas.microsoft.com/office/drawing/2014/main" id="{13BDD371-3BCE-4E17-A338-05E271EFD47C}"/>
              </a:ext>
            </a:extLst>
          </p:cNvPr>
          <p:cNvSpPr>
            <a:spLocks noGrp="1" noChangeArrowheads="1"/>
          </p:cNvSpPr>
          <p:nvPr>
            <p:ph type="title"/>
          </p:nvPr>
        </p:nvSpPr>
        <p:spPr>
          <a:xfrm>
            <a:off x="743410" y="823363"/>
            <a:ext cx="8964612" cy="584775"/>
          </a:xfrm>
        </p:spPr>
        <p:txBody>
          <a:bodyPr wrap="square"/>
          <a:lstStyle/>
          <a:p>
            <a:pPr eaLnBrk="1" hangingPunct="1">
              <a:buFont typeface="Wingdings" pitchFamily="2" charset="2"/>
              <a:buNone/>
            </a:pPr>
            <a:r>
              <a:rPr lang="zh-CN" altLang="zh-CN" dirty="0"/>
              <a:t>第一步：E-R图转换成数据模型</a:t>
            </a:r>
            <a:endParaRPr lang="en-US" altLang="zh-CN" dirty="0"/>
          </a:p>
        </p:txBody>
      </p:sp>
      <p:sp>
        <p:nvSpPr>
          <p:cNvPr id="4" name="Rectangle 4">
            <a:extLst>
              <a:ext uri="{FF2B5EF4-FFF2-40B4-BE49-F238E27FC236}">
                <a16:creationId xmlns:a16="http://schemas.microsoft.com/office/drawing/2014/main" id="{5BC5CBBD-E3A8-47AF-A0F6-930A147B2644}"/>
              </a:ext>
            </a:extLst>
          </p:cNvPr>
          <p:cNvSpPr txBox="1">
            <a:spLocks noChangeArrowheads="1"/>
          </p:cNvSpPr>
          <p:nvPr/>
        </p:nvSpPr>
        <p:spPr>
          <a:xfrm>
            <a:off x="436078" y="1562392"/>
            <a:ext cx="11204537" cy="1152525"/>
          </a:xfrm>
          <a:prstGeom prst="rect">
            <a:avLst/>
          </a:prstGeom>
        </p:spPr>
        <p:txBody>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algn="just" eaLnBrk="1" hangingPunct="1">
              <a:defRPr/>
            </a:pPr>
            <a:r>
              <a:rPr kumimoji="0" lang="zh-CN" altLang="en-US" kern="0" dirty="0"/>
              <a:t>一个</a:t>
            </a:r>
            <a:r>
              <a:rPr kumimoji="0" lang="en-US" altLang="zh-CN" kern="0" dirty="0"/>
              <a:t>m:n</a:t>
            </a:r>
            <a:r>
              <a:rPr kumimoji="0" lang="zh-CN" altLang="en-US" kern="0" dirty="0"/>
              <a:t>联系转换成一个关系模式，属性包括联系两端的实体的主码以及联系本身的属性，主码为联系两端的实体的主码的组合。</a:t>
            </a:r>
          </a:p>
        </p:txBody>
      </p:sp>
      <p:sp>
        <p:nvSpPr>
          <p:cNvPr id="5" name="Rectangle 5">
            <a:extLst>
              <a:ext uri="{FF2B5EF4-FFF2-40B4-BE49-F238E27FC236}">
                <a16:creationId xmlns:a16="http://schemas.microsoft.com/office/drawing/2014/main" id="{4B3AD6CB-CDF8-429C-B476-E3386021815F}"/>
              </a:ext>
            </a:extLst>
          </p:cNvPr>
          <p:cNvSpPr>
            <a:spLocks noChangeArrowheads="1"/>
          </p:cNvSpPr>
          <p:nvPr/>
        </p:nvSpPr>
        <p:spPr bwMode="auto">
          <a:xfrm flipH="1">
            <a:off x="2859038" y="4028044"/>
            <a:ext cx="801687" cy="403225"/>
          </a:xfrm>
          <a:prstGeom prst="rect">
            <a:avLst/>
          </a:prstGeom>
          <a:solidFill>
            <a:schemeClr val="bg1"/>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课程</a:t>
            </a:r>
          </a:p>
        </p:txBody>
      </p:sp>
      <p:sp>
        <p:nvSpPr>
          <p:cNvPr id="6" name="AutoShape 6">
            <a:extLst>
              <a:ext uri="{FF2B5EF4-FFF2-40B4-BE49-F238E27FC236}">
                <a16:creationId xmlns:a16="http://schemas.microsoft.com/office/drawing/2014/main" id="{69C39043-7A05-470F-ADC0-3C4F2F43D8E8}"/>
              </a:ext>
            </a:extLst>
          </p:cNvPr>
          <p:cNvSpPr>
            <a:spLocks noChangeArrowheads="1"/>
          </p:cNvSpPr>
          <p:nvPr/>
        </p:nvSpPr>
        <p:spPr bwMode="auto">
          <a:xfrm flipH="1">
            <a:off x="1600149" y="5036107"/>
            <a:ext cx="1036638" cy="403225"/>
          </a:xfrm>
          <a:prstGeom prst="roundRect">
            <a:avLst>
              <a:gd name="adj" fmla="val 50000"/>
            </a:avLst>
          </a:prstGeom>
          <a:solidFill>
            <a:srgbClr val="6600FF"/>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u="sng" dirty="0">
                <a:effectLst>
                  <a:outerShdw blurRad="38100" dist="38100" dir="2700000" algn="tl">
                    <a:srgbClr val="000000"/>
                  </a:outerShdw>
                </a:effectLst>
                <a:latin typeface="Times New Roman" pitchFamily="18" charset="0"/>
              </a:rPr>
              <a:t>课程号</a:t>
            </a:r>
          </a:p>
        </p:txBody>
      </p:sp>
      <p:sp>
        <p:nvSpPr>
          <p:cNvPr id="7" name="AutoShape 7">
            <a:extLst>
              <a:ext uri="{FF2B5EF4-FFF2-40B4-BE49-F238E27FC236}">
                <a16:creationId xmlns:a16="http://schemas.microsoft.com/office/drawing/2014/main" id="{AA4B6C63-7BB5-4D83-8C0E-21934B691E73}"/>
              </a:ext>
            </a:extLst>
          </p:cNvPr>
          <p:cNvSpPr>
            <a:spLocks noChangeArrowheads="1"/>
          </p:cNvSpPr>
          <p:nvPr/>
        </p:nvSpPr>
        <p:spPr bwMode="auto">
          <a:xfrm flipH="1">
            <a:off x="2824112" y="5007532"/>
            <a:ext cx="1035050" cy="403225"/>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课程名</a:t>
            </a:r>
          </a:p>
        </p:txBody>
      </p:sp>
      <p:sp>
        <p:nvSpPr>
          <p:cNvPr id="8" name="AutoShape 8">
            <a:extLst>
              <a:ext uri="{FF2B5EF4-FFF2-40B4-BE49-F238E27FC236}">
                <a16:creationId xmlns:a16="http://schemas.microsoft.com/office/drawing/2014/main" id="{F954A18B-1737-419A-9118-F278ED3A0C22}"/>
              </a:ext>
            </a:extLst>
          </p:cNvPr>
          <p:cNvSpPr>
            <a:spLocks noChangeArrowheads="1"/>
          </p:cNvSpPr>
          <p:nvPr/>
        </p:nvSpPr>
        <p:spPr bwMode="auto">
          <a:xfrm flipH="1">
            <a:off x="4048074" y="5007532"/>
            <a:ext cx="801688" cy="403225"/>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学分</a:t>
            </a:r>
          </a:p>
        </p:txBody>
      </p:sp>
      <p:cxnSp>
        <p:nvCxnSpPr>
          <p:cNvPr id="9" name="AutoShape 9">
            <a:extLst>
              <a:ext uri="{FF2B5EF4-FFF2-40B4-BE49-F238E27FC236}">
                <a16:creationId xmlns:a16="http://schemas.microsoft.com/office/drawing/2014/main" id="{CD0BC924-CB92-4C2A-A034-C2D05BA061D0}"/>
              </a:ext>
            </a:extLst>
          </p:cNvPr>
          <p:cNvCxnSpPr>
            <a:cxnSpLocks noChangeShapeType="1"/>
            <a:stCxn id="6" idx="0"/>
            <a:endCxn id="5" idx="2"/>
          </p:cNvCxnSpPr>
          <p:nvPr/>
        </p:nvCxnSpPr>
        <p:spPr bwMode="auto">
          <a:xfrm flipV="1">
            <a:off x="2119262" y="4431268"/>
            <a:ext cx="1141412" cy="604838"/>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0" name="AutoShape 10">
            <a:extLst>
              <a:ext uri="{FF2B5EF4-FFF2-40B4-BE49-F238E27FC236}">
                <a16:creationId xmlns:a16="http://schemas.microsoft.com/office/drawing/2014/main" id="{4538E88C-AD3D-42AB-9C27-B39BE7E890D9}"/>
              </a:ext>
            </a:extLst>
          </p:cNvPr>
          <p:cNvCxnSpPr>
            <a:cxnSpLocks noChangeShapeType="1"/>
            <a:stCxn id="7" idx="0"/>
            <a:endCxn id="5" idx="2"/>
          </p:cNvCxnSpPr>
          <p:nvPr/>
        </p:nvCxnSpPr>
        <p:spPr bwMode="auto">
          <a:xfrm flipH="1" flipV="1">
            <a:off x="3260675" y="4431269"/>
            <a:ext cx="80963" cy="576263"/>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1" name="AutoShape 11">
            <a:extLst>
              <a:ext uri="{FF2B5EF4-FFF2-40B4-BE49-F238E27FC236}">
                <a16:creationId xmlns:a16="http://schemas.microsoft.com/office/drawing/2014/main" id="{043222D4-5CC6-4479-8DB1-209D30769A7C}"/>
              </a:ext>
            </a:extLst>
          </p:cNvPr>
          <p:cNvCxnSpPr>
            <a:cxnSpLocks noChangeShapeType="1"/>
            <a:stCxn id="8" idx="0"/>
            <a:endCxn id="5" idx="2"/>
          </p:cNvCxnSpPr>
          <p:nvPr/>
        </p:nvCxnSpPr>
        <p:spPr bwMode="auto">
          <a:xfrm flipH="1" flipV="1">
            <a:off x="3260674" y="4431269"/>
            <a:ext cx="1189038" cy="576263"/>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12" name="Rectangle 12">
            <a:extLst>
              <a:ext uri="{FF2B5EF4-FFF2-40B4-BE49-F238E27FC236}">
                <a16:creationId xmlns:a16="http://schemas.microsoft.com/office/drawing/2014/main" id="{92B2470A-0B4C-4F48-A516-259357FAC6C7}"/>
              </a:ext>
            </a:extLst>
          </p:cNvPr>
          <p:cNvSpPr>
            <a:spLocks noChangeArrowheads="1"/>
          </p:cNvSpPr>
          <p:nvPr/>
        </p:nvSpPr>
        <p:spPr bwMode="auto">
          <a:xfrm>
            <a:off x="7940624" y="4028044"/>
            <a:ext cx="801688" cy="403225"/>
          </a:xfrm>
          <a:prstGeom prst="rect">
            <a:avLst/>
          </a:prstGeom>
          <a:solidFill>
            <a:schemeClr val="bg1"/>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教师</a:t>
            </a:r>
          </a:p>
        </p:txBody>
      </p:sp>
      <p:sp>
        <p:nvSpPr>
          <p:cNvPr id="13" name="AutoShape 13">
            <a:extLst>
              <a:ext uri="{FF2B5EF4-FFF2-40B4-BE49-F238E27FC236}">
                <a16:creationId xmlns:a16="http://schemas.microsoft.com/office/drawing/2014/main" id="{3211C38D-85E4-4FCA-817E-5C471D987E31}"/>
              </a:ext>
            </a:extLst>
          </p:cNvPr>
          <p:cNvSpPr>
            <a:spLocks noChangeArrowheads="1"/>
          </p:cNvSpPr>
          <p:nvPr/>
        </p:nvSpPr>
        <p:spPr bwMode="auto">
          <a:xfrm>
            <a:off x="6353125" y="5036107"/>
            <a:ext cx="1141413" cy="403225"/>
          </a:xfrm>
          <a:prstGeom prst="roundRect">
            <a:avLst>
              <a:gd name="adj" fmla="val 50000"/>
            </a:avLst>
          </a:prstGeom>
          <a:solidFill>
            <a:srgbClr val="6600FF"/>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u="sng">
                <a:effectLst>
                  <a:outerShdw blurRad="38100" dist="38100" dir="2700000" algn="tl">
                    <a:srgbClr val="000000"/>
                  </a:outerShdw>
                </a:effectLst>
                <a:latin typeface="Times New Roman" pitchFamily="18" charset="0"/>
              </a:rPr>
              <a:t>教工号</a:t>
            </a:r>
          </a:p>
        </p:txBody>
      </p:sp>
      <p:sp>
        <p:nvSpPr>
          <p:cNvPr id="14" name="AutoShape 14">
            <a:extLst>
              <a:ext uri="{FF2B5EF4-FFF2-40B4-BE49-F238E27FC236}">
                <a16:creationId xmlns:a16="http://schemas.microsoft.com/office/drawing/2014/main" id="{45B1EEC0-15C4-4093-ABF4-A909ADCECE68}"/>
              </a:ext>
            </a:extLst>
          </p:cNvPr>
          <p:cNvSpPr>
            <a:spLocks noChangeArrowheads="1"/>
          </p:cNvSpPr>
          <p:nvPr/>
        </p:nvSpPr>
        <p:spPr bwMode="auto">
          <a:xfrm>
            <a:off x="7583438" y="5036107"/>
            <a:ext cx="803275" cy="403225"/>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姓名</a:t>
            </a:r>
          </a:p>
        </p:txBody>
      </p:sp>
      <p:sp>
        <p:nvSpPr>
          <p:cNvPr id="15" name="AutoShape 15">
            <a:extLst>
              <a:ext uri="{FF2B5EF4-FFF2-40B4-BE49-F238E27FC236}">
                <a16:creationId xmlns:a16="http://schemas.microsoft.com/office/drawing/2014/main" id="{58001698-D56A-419A-8D3E-87348A590A29}"/>
              </a:ext>
            </a:extLst>
          </p:cNvPr>
          <p:cNvSpPr>
            <a:spLocks noChangeArrowheads="1"/>
          </p:cNvSpPr>
          <p:nvPr/>
        </p:nvSpPr>
        <p:spPr bwMode="auto">
          <a:xfrm>
            <a:off x="8477200" y="5036107"/>
            <a:ext cx="803275" cy="403225"/>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性别</a:t>
            </a:r>
          </a:p>
        </p:txBody>
      </p:sp>
      <p:sp>
        <p:nvSpPr>
          <p:cNvPr id="16" name="AutoShape 16">
            <a:extLst>
              <a:ext uri="{FF2B5EF4-FFF2-40B4-BE49-F238E27FC236}">
                <a16:creationId xmlns:a16="http://schemas.microsoft.com/office/drawing/2014/main" id="{9A7FAB23-805E-4C2E-8BB4-60331B826B2C}"/>
              </a:ext>
            </a:extLst>
          </p:cNvPr>
          <p:cNvSpPr>
            <a:spLocks noChangeArrowheads="1"/>
          </p:cNvSpPr>
          <p:nvPr/>
        </p:nvSpPr>
        <p:spPr bwMode="auto">
          <a:xfrm>
            <a:off x="9367788" y="5036107"/>
            <a:ext cx="801687" cy="403225"/>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职称</a:t>
            </a:r>
          </a:p>
        </p:txBody>
      </p:sp>
      <p:cxnSp>
        <p:nvCxnSpPr>
          <p:cNvPr id="17" name="AutoShape 17">
            <a:extLst>
              <a:ext uri="{FF2B5EF4-FFF2-40B4-BE49-F238E27FC236}">
                <a16:creationId xmlns:a16="http://schemas.microsoft.com/office/drawing/2014/main" id="{2CB0DCB2-C6FA-48D8-951E-B61123FFDBBB}"/>
              </a:ext>
            </a:extLst>
          </p:cNvPr>
          <p:cNvCxnSpPr>
            <a:cxnSpLocks noChangeShapeType="1"/>
            <a:stCxn id="12" idx="2"/>
            <a:endCxn id="13" idx="0"/>
          </p:cNvCxnSpPr>
          <p:nvPr/>
        </p:nvCxnSpPr>
        <p:spPr bwMode="auto">
          <a:xfrm flipH="1">
            <a:off x="6924624" y="4431268"/>
            <a:ext cx="1417638" cy="604838"/>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8" name="AutoShape 18">
            <a:extLst>
              <a:ext uri="{FF2B5EF4-FFF2-40B4-BE49-F238E27FC236}">
                <a16:creationId xmlns:a16="http://schemas.microsoft.com/office/drawing/2014/main" id="{FFBE7247-9E94-4C82-BCE8-E5FD1F72BE7F}"/>
              </a:ext>
            </a:extLst>
          </p:cNvPr>
          <p:cNvCxnSpPr>
            <a:cxnSpLocks noChangeShapeType="1"/>
            <a:stCxn id="12" idx="2"/>
            <a:endCxn id="14" idx="0"/>
          </p:cNvCxnSpPr>
          <p:nvPr/>
        </p:nvCxnSpPr>
        <p:spPr bwMode="auto">
          <a:xfrm flipH="1">
            <a:off x="7985074" y="4431268"/>
            <a:ext cx="357188" cy="604838"/>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9" name="AutoShape 19">
            <a:extLst>
              <a:ext uri="{FF2B5EF4-FFF2-40B4-BE49-F238E27FC236}">
                <a16:creationId xmlns:a16="http://schemas.microsoft.com/office/drawing/2014/main" id="{89EA07AA-4434-4CF2-9790-81151706B9C3}"/>
              </a:ext>
            </a:extLst>
          </p:cNvPr>
          <p:cNvCxnSpPr>
            <a:cxnSpLocks noChangeShapeType="1"/>
            <a:stCxn id="12" idx="2"/>
            <a:endCxn id="15" idx="0"/>
          </p:cNvCxnSpPr>
          <p:nvPr/>
        </p:nvCxnSpPr>
        <p:spPr bwMode="auto">
          <a:xfrm>
            <a:off x="8342263" y="4431268"/>
            <a:ext cx="536575" cy="604838"/>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20" name="AutoShape 20">
            <a:extLst>
              <a:ext uri="{FF2B5EF4-FFF2-40B4-BE49-F238E27FC236}">
                <a16:creationId xmlns:a16="http://schemas.microsoft.com/office/drawing/2014/main" id="{A51407D1-4A75-4796-B102-F11321D111AF}"/>
              </a:ext>
            </a:extLst>
          </p:cNvPr>
          <p:cNvCxnSpPr>
            <a:cxnSpLocks noChangeShapeType="1"/>
            <a:stCxn id="12" idx="2"/>
            <a:endCxn id="16" idx="0"/>
          </p:cNvCxnSpPr>
          <p:nvPr/>
        </p:nvCxnSpPr>
        <p:spPr bwMode="auto">
          <a:xfrm>
            <a:off x="8342263" y="4431268"/>
            <a:ext cx="1425575" cy="604838"/>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21" name="AutoShape 21">
            <a:extLst>
              <a:ext uri="{FF2B5EF4-FFF2-40B4-BE49-F238E27FC236}">
                <a16:creationId xmlns:a16="http://schemas.microsoft.com/office/drawing/2014/main" id="{C775F849-8262-446B-9B1D-DB033B0D6D4B}"/>
              </a:ext>
            </a:extLst>
          </p:cNvPr>
          <p:cNvSpPr>
            <a:spLocks noChangeArrowheads="1"/>
          </p:cNvSpPr>
          <p:nvPr/>
        </p:nvSpPr>
        <p:spPr bwMode="auto">
          <a:xfrm>
            <a:off x="5087888" y="3826431"/>
            <a:ext cx="1425575" cy="806450"/>
          </a:xfrm>
          <a:prstGeom prst="diamond">
            <a:avLst/>
          </a:prstGeom>
          <a:solidFill>
            <a:schemeClr val="bg1"/>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讲授</a:t>
            </a:r>
          </a:p>
        </p:txBody>
      </p:sp>
      <p:cxnSp>
        <p:nvCxnSpPr>
          <p:cNvPr id="22" name="AutoShape 22">
            <a:extLst>
              <a:ext uri="{FF2B5EF4-FFF2-40B4-BE49-F238E27FC236}">
                <a16:creationId xmlns:a16="http://schemas.microsoft.com/office/drawing/2014/main" id="{3531BAAA-CE60-4042-94C5-568ACCC560CE}"/>
              </a:ext>
            </a:extLst>
          </p:cNvPr>
          <p:cNvCxnSpPr>
            <a:cxnSpLocks noChangeShapeType="1"/>
            <a:stCxn id="5" idx="1"/>
            <a:endCxn id="21" idx="1"/>
          </p:cNvCxnSpPr>
          <p:nvPr/>
        </p:nvCxnSpPr>
        <p:spPr bwMode="auto">
          <a:xfrm>
            <a:off x="3660725" y="4226482"/>
            <a:ext cx="1427163" cy="317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23" name="AutoShape 23">
            <a:extLst>
              <a:ext uri="{FF2B5EF4-FFF2-40B4-BE49-F238E27FC236}">
                <a16:creationId xmlns:a16="http://schemas.microsoft.com/office/drawing/2014/main" id="{8C1F635D-9525-442A-A607-86896099E480}"/>
              </a:ext>
            </a:extLst>
          </p:cNvPr>
          <p:cNvCxnSpPr>
            <a:cxnSpLocks noChangeShapeType="1"/>
            <a:stCxn id="21" idx="3"/>
            <a:endCxn id="12" idx="1"/>
          </p:cNvCxnSpPr>
          <p:nvPr/>
        </p:nvCxnSpPr>
        <p:spPr bwMode="auto">
          <a:xfrm>
            <a:off x="6513462" y="4229656"/>
            <a:ext cx="1427162"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24" name="Rectangle 24">
            <a:extLst>
              <a:ext uri="{FF2B5EF4-FFF2-40B4-BE49-F238E27FC236}">
                <a16:creationId xmlns:a16="http://schemas.microsoft.com/office/drawing/2014/main" id="{D3B3E7A5-7B3A-4256-87EF-8E1690C422D2}"/>
              </a:ext>
            </a:extLst>
          </p:cNvPr>
          <p:cNvSpPr>
            <a:spLocks noChangeArrowheads="1"/>
          </p:cNvSpPr>
          <p:nvPr/>
        </p:nvSpPr>
        <p:spPr bwMode="auto">
          <a:xfrm>
            <a:off x="4017913" y="3826432"/>
            <a:ext cx="892175" cy="403225"/>
          </a:xfrm>
          <a:prstGeom prst="rect">
            <a:avLst/>
          </a:prstGeom>
          <a:noFill/>
          <a:ln w="12700" cap="sq">
            <a:noFill/>
            <a:miter lim="800000"/>
            <a:headEnd/>
            <a:tailEnd/>
          </a:ln>
          <a:effectLst/>
        </p:spPr>
        <p:txBody>
          <a:bodyPr wrap="none" lIns="0" tIns="0" rIns="0" bIns="0" anchor="ct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m</a:t>
            </a:r>
          </a:p>
        </p:txBody>
      </p:sp>
      <p:sp>
        <p:nvSpPr>
          <p:cNvPr id="25" name="Rectangle 25">
            <a:extLst>
              <a:ext uri="{FF2B5EF4-FFF2-40B4-BE49-F238E27FC236}">
                <a16:creationId xmlns:a16="http://schemas.microsoft.com/office/drawing/2014/main" id="{AEE4FD39-EA18-47F2-9FB1-BB55B19CA9F1}"/>
              </a:ext>
            </a:extLst>
          </p:cNvPr>
          <p:cNvSpPr>
            <a:spLocks noChangeArrowheads="1"/>
          </p:cNvSpPr>
          <p:nvPr/>
        </p:nvSpPr>
        <p:spPr bwMode="auto">
          <a:xfrm>
            <a:off x="6870650" y="3826432"/>
            <a:ext cx="892175" cy="403225"/>
          </a:xfrm>
          <a:prstGeom prst="rect">
            <a:avLst/>
          </a:prstGeom>
          <a:noFill/>
          <a:ln w="12700" cap="sq">
            <a:noFill/>
            <a:miter lim="800000"/>
            <a:headEnd/>
            <a:tailEnd/>
          </a:ln>
          <a:effectLst/>
        </p:spPr>
        <p:txBody>
          <a:bodyPr wrap="none" lIns="0" tIns="0" rIns="0" bIns="0" anchor="ct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n</a:t>
            </a:r>
          </a:p>
        </p:txBody>
      </p:sp>
      <p:sp>
        <p:nvSpPr>
          <p:cNvPr id="26" name="Rectangle 26">
            <a:extLst>
              <a:ext uri="{FF2B5EF4-FFF2-40B4-BE49-F238E27FC236}">
                <a16:creationId xmlns:a16="http://schemas.microsoft.com/office/drawing/2014/main" id="{0613A161-19A5-4A23-A168-FFC9B2F2C3F8}"/>
              </a:ext>
            </a:extLst>
          </p:cNvPr>
          <p:cNvSpPr>
            <a:spLocks noChangeArrowheads="1"/>
          </p:cNvSpPr>
          <p:nvPr/>
        </p:nvSpPr>
        <p:spPr bwMode="auto">
          <a:xfrm>
            <a:off x="3832174" y="6058457"/>
            <a:ext cx="3657600" cy="427037"/>
          </a:xfrm>
          <a:prstGeom prst="rect">
            <a:avLst/>
          </a:prstGeom>
          <a:noFill/>
          <a:ln w="12700" cap="sq">
            <a:noFill/>
            <a:miter lim="800000"/>
            <a:headEnd/>
            <a:tailEnd/>
          </a:ln>
          <a:effectLst/>
        </p:spPr>
        <p:txBody>
          <a:bodyPr lIns="0" tIns="0" rIns="0" bIns="0"/>
          <a:lstStyle/>
          <a:p>
            <a:pPr>
              <a:spcAft>
                <a:spcPct val="0"/>
              </a:spcAft>
              <a:buSzTx/>
              <a:buFontTx/>
              <a:buNone/>
              <a:defRPr/>
            </a:pPr>
            <a:r>
              <a:rPr lang="zh-CN" altLang="en-US" sz="2800">
                <a:solidFill>
                  <a:srgbClr val="00FF99"/>
                </a:solidFill>
                <a:effectLst>
                  <a:outerShdw blurRad="38100" dist="38100" dir="2700000" algn="tl">
                    <a:srgbClr val="000000"/>
                  </a:outerShdw>
                </a:effectLst>
                <a:latin typeface="Times New Roman" pitchFamily="18" charset="0"/>
              </a:rPr>
              <a:t>讲授(</a:t>
            </a:r>
            <a:r>
              <a:rPr lang="zh-CN" altLang="en-US" sz="2800" u="sng">
                <a:solidFill>
                  <a:srgbClr val="00FF99"/>
                </a:solidFill>
                <a:effectLst>
                  <a:outerShdw blurRad="38100" dist="38100" dir="2700000" algn="tl">
                    <a:srgbClr val="000000"/>
                  </a:outerShdw>
                </a:effectLst>
                <a:latin typeface="Times New Roman" pitchFamily="18" charset="0"/>
              </a:rPr>
              <a:t>课程号，教工号</a:t>
            </a:r>
            <a:r>
              <a:rPr lang="zh-CN" altLang="en-US" sz="2800">
                <a:solidFill>
                  <a:srgbClr val="00FF99"/>
                </a:solidFill>
                <a:effectLst>
                  <a:outerShdw blurRad="38100" dist="38100" dir="2700000" algn="tl">
                    <a:srgbClr val="000000"/>
                  </a:outerShdw>
                </a:effectLst>
                <a:latin typeface="Times New Roman" pitchFamily="18" charset="0"/>
              </a:rPr>
              <a:t>)</a:t>
            </a:r>
          </a:p>
        </p:txBody>
      </p:sp>
    </p:spTree>
    <p:extLst>
      <p:ext uri="{BB962C8B-B14F-4D97-AF65-F5344CB8AC3E}">
        <p14:creationId xmlns:p14="http://schemas.microsoft.com/office/powerpoint/2010/main" val="4172799223"/>
      </p:ext>
    </p:extLst>
  </p:cSld>
  <p:clrMapOvr>
    <a:masterClrMapping/>
  </p:clrMapOvr>
  <p:transition spd="med">
    <p:random/>
    <p:sndAc>
      <p:stSnd>
        <p:snd r:embed="rId2" name="arrow.wav"/>
      </p:stSnd>
    </p:sndAc>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 Box 2">
            <a:extLst>
              <a:ext uri="{FF2B5EF4-FFF2-40B4-BE49-F238E27FC236}">
                <a16:creationId xmlns:a16="http://schemas.microsoft.com/office/drawing/2014/main" id="{F01E9C00-DA68-4E67-8B2B-22668369BFC1}"/>
              </a:ext>
            </a:extLst>
          </p:cNvPr>
          <p:cNvSpPr txBox="1">
            <a:spLocks noChangeArrowheads="1"/>
          </p:cNvSpPr>
          <p:nvPr/>
        </p:nvSpPr>
        <p:spPr bwMode="auto">
          <a:xfrm>
            <a:off x="740001" y="10592"/>
            <a:ext cx="4762055" cy="760959"/>
          </a:xfrm>
          <a:prstGeom prst="rect">
            <a:avLst/>
          </a:prstGeom>
          <a:noFill/>
          <a:ln w="12700" cap="sq">
            <a:noFill/>
            <a:miter lim="800000"/>
            <a:headEnd/>
            <a:tailEnd/>
          </a:ln>
          <a:effectLst>
            <a:outerShdw dist="35921" dir="2700000" algn="ctr" rotWithShape="0">
              <a:srgbClr val="000514"/>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vert="horz" wrap="none" lIns="72000" tIns="72000" rIns="72000" bIns="72000" numCol="1" rtlCol="0" anchor="ctr" anchorCtr="0" compatLnSpc="1">
            <a:prstTxWarp prst="textNoShape">
              <a:avLst/>
            </a:prstTxWarp>
            <a:spAutoFit/>
          </a:bodyPr>
          <a:lstStyle>
            <a:defPPr>
              <a:defRPr lang="en-US"/>
            </a:defPPr>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a:t>逻辑结构设计的流程</a:t>
            </a:r>
          </a:p>
        </p:txBody>
      </p:sp>
      <p:sp>
        <p:nvSpPr>
          <p:cNvPr id="60" name="Rectangle 3">
            <a:extLst>
              <a:ext uri="{FF2B5EF4-FFF2-40B4-BE49-F238E27FC236}">
                <a16:creationId xmlns:a16="http://schemas.microsoft.com/office/drawing/2014/main" id="{13BDD371-3BCE-4E17-A338-05E271EFD47C}"/>
              </a:ext>
            </a:extLst>
          </p:cNvPr>
          <p:cNvSpPr>
            <a:spLocks noGrp="1" noChangeArrowheads="1"/>
          </p:cNvSpPr>
          <p:nvPr>
            <p:ph type="title"/>
          </p:nvPr>
        </p:nvSpPr>
        <p:spPr>
          <a:xfrm>
            <a:off x="743410" y="823363"/>
            <a:ext cx="8964612" cy="584775"/>
          </a:xfrm>
        </p:spPr>
        <p:txBody>
          <a:bodyPr wrap="square"/>
          <a:lstStyle/>
          <a:p>
            <a:pPr eaLnBrk="1" hangingPunct="1">
              <a:buFont typeface="Wingdings" pitchFamily="2" charset="2"/>
              <a:buNone/>
            </a:pPr>
            <a:r>
              <a:rPr lang="zh-CN" altLang="zh-CN" dirty="0"/>
              <a:t>第一步：E-R图转换成数据模型</a:t>
            </a:r>
            <a:endParaRPr lang="en-US" altLang="zh-CN" dirty="0"/>
          </a:p>
        </p:txBody>
      </p:sp>
      <p:sp>
        <p:nvSpPr>
          <p:cNvPr id="4" name="Rectangle 4">
            <a:extLst>
              <a:ext uri="{FF2B5EF4-FFF2-40B4-BE49-F238E27FC236}">
                <a16:creationId xmlns:a16="http://schemas.microsoft.com/office/drawing/2014/main" id="{5BC5CBBD-E3A8-47AF-A0F6-930A147B2644}"/>
              </a:ext>
            </a:extLst>
          </p:cNvPr>
          <p:cNvSpPr txBox="1">
            <a:spLocks noChangeArrowheads="1"/>
          </p:cNvSpPr>
          <p:nvPr/>
        </p:nvSpPr>
        <p:spPr>
          <a:xfrm>
            <a:off x="436078" y="1562392"/>
            <a:ext cx="11204537" cy="1152525"/>
          </a:xfrm>
          <a:prstGeom prst="rect">
            <a:avLst/>
          </a:prstGeom>
        </p:spPr>
        <p:txBody>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algn="just" eaLnBrk="1" hangingPunct="1">
              <a:defRPr/>
            </a:pPr>
            <a:r>
              <a:rPr kumimoji="0" lang="zh-CN" altLang="en-US" kern="0" dirty="0"/>
              <a:t>一个</a:t>
            </a:r>
            <a:r>
              <a:rPr kumimoji="0" lang="en-US" altLang="zh-CN" kern="0" dirty="0"/>
              <a:t>m:n</a:t>
            </a:r>
            <a:r>
              <a:rPr kumimoji="0" lang="zh-CN" altLang="en-US" kern="0" dirty="0"/>
              <a:t>联系转换成一个关系模式，属性包括联系两端的实体的主码以及联系本身的属性，主码为联系两端的实体的主码的组合。</a:t>
            </a:r>
          </a:p>
        </p:txBody>
      </p:sp>
      <p:sp>
        <p:nvSpPr>
          <p:cNvPr id="27" name="Rectangle 5">
            <a:extLst>
              <a:ext uri="{FF2B5EF4-FFF2-40B4-BE49-F238E27FC236}">
                <a16:creationId xmlns:a16="http://schemas.microsoft.com/office/drawing/2014/main" id="{101DC435-A659-41CA-B39C-1CEA637D2A2E}"/>
              </a:ext>
            </a:extLst>
          </p:cNvPr>
          <p:cNvSpPr>
            <a:spLocks noChangeArrowheads="1"/>
          </p:cNvSpPr>
          <p:nvPr/>
        </p:nvSpPr>
        <p:spPr bwMode="auto">
          <a:xfrm flipH="1">
            <a:off x="3071502" y="4086975"/>
            <a:ext cx="766763" cy="395287"/>
          </a:xfrm>
          <a:prstGeom prst="rect">
            <a:avLst/>
          </a:prstGeom>
          <a:solidFill>
            <a:schemeClr val="bg1"/>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400">
                <a:effectLst/>
                <a:latin typeface="Times New Roman" pitchFamily="18" charset="0"/>
              </a:rPr>
              <a:t>课程</a:t>
            </a:r>
          </a:p>
        </p:txBody>
      </p:sp>
      <p:sp>
        <p:nvSpPr>
          <p:cNvPr id="28" name="AutoShape 6">
            <a:extLst>
              <a:ext uri="{FF2B5EF4-FFF2-40B4-BE49-F238E27FC236}">
                <a16:creationId xmlns:a16="http://schemas.microsoft.com/office/drawing/2014/main" id="{C65500E3-7BAE-4FC9-BD3D-F88BB30B29E0}"/>
              </a:ext>
            </a:extLst>
          </p:cNvPr>
          <p:cNvSpPr>
            <a:spLocks noChangeArrowheads="1"/>
          </p:cNvSpPr>
          <p:nvPr/>
        </p:nvSpPr>
        <p:spPr bwMode="auto">
          <a:xfrm flipH="1">
            <a:off x="1718952" y="5007724"/>
            <a:ext cx="995363" cy="393700"/>
          </a:xfrm>
          <a:prstGeom prst="roundRect">
            <a:avLst>
              <a:gd name="adj" fmla="val 50000"/>
            </a:avLst>
          </a:prstGeom>
          <a:solidFill>
            <a:srgbClr val="6600FF"/>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400" u="sng" dirty="0">
                <a:effectLst/>
                <a:latin typeface="Times New Roman" pitchFamily="18" charset="0"/>
              </a:rPr>
              <a:t>课程号</a:t>
            </a:r>
          </a:p>
        </p:txBody>
      </p:sp>
      <p:sp>
        <p:nvSpPr>
          <p:cNvPr id="29" name="AutoShape 7">
            <a:extLst>
              <a:ext uri="{FF2B5EF4-FFF2-40B4-BE49-F238E27FC236}">
                <a16:creationId xmlns:a16="http://schemas.microsoft.com/office/drawing/2014/main" id="{7EDB6F18-6860-4FE9-8767-B535678AAFAB}"/>
              </a:ext>
            </a:extLst>
          </p:cNvPr>
          <p:cNvSpPr>
            <a:spLocks noChangeArrowheads="1"/>
          </p:cNvSpPr>
          <p:nvPr/>
        </p:nvSpPr>
        <p:spPr bwMode="auto">
          <a:xfrm flipH="1">
            <a:off x="2942914" y="5007724"/>
            <a:ext cx="938212" cy="393700"/>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400">
                <a:effectLst/>
                <a:latin typeface="Times New Roman" pitchFamily="18" charset="0"/>
              </a:rPr>
              <a:t>课程名</a:t>
            </a:r>
          </a:p>
        </p:txBody>
      </p:sp>
      <p:sp>
        <p:nvSpPr>
          <p:cNvPr id="30" name="AutoShape 8">
            <a:extLst>
              <a:ext uri="{FF2B5EF4-FFF2-40B4-BE49-F238E27FC236}">
                <a16:creationId xmlns:a16="http://schemas.microsoft.com/office/drawing/2014/main" id="{E96081FA-7C1A-4425-A187-58525E4CFF0D}"/>
              </a:ext>
            </a:extLst>
          </p:cNvPr>
          <p:cNvSpPr>
            <a:spLocks noChangeArrowheads="1"/>
          </p:cNvSpPr>
          <p:nvPr/>
        </p:nvSpPr>
        <p:spPr bwMode="auto">
          <a:xfrm flipH="1">
            <a:off x="4050989" y="5007724"/>
            <a:ext cx="766762" cy="393700"/>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400">
                <a:effectLst/>
                <a:latin typeface="Times New Roman" pitchFamily="18" charset="0"/>
              </a:rPr>
              <a:t>学分</a:t>
            </a:r>
          </a:p>
        </p:txBody>
      </p:sp>
      <p:cxnSp>
        <p:nvCxnSpPr>
          <p:cNvPr id="31" name="AutoShape 9">
            <a:extLst>
              <a:ext uri="{FF2B5EF4-FFF2-40B4-BE49-F238E27FC236}">
                <a16:creationId xmlns:a16="http://schemas.microsoft.com/office/drawing/2014/main" id="{EFD221FE-92E8-4FF7-BE36-5F84DD8B582D}"/>
              </a:ext>
            </a:extLst>
          </p:cNvPr>
          <p:cNvCxnSpPr>
            <a:cxnSpLocks noChangeShapeType="1"/>
            <a:stCxn id="28" idx="0"/>
            <a:endCxn id="27" idx="2"/>
          </p:cNvCxnSpPr>
          <p:nvPr/>
        </p:nvCxnSpPr>
        <p:spPr bwMode="auto">
          <a:xfrm flipV="1">
            <a:off x="2217426" y="4482262"/>
            <a:ext cx="1238250" cy="525463"/>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32" name="AutoShape 10">
            <a:extLst>
              <a:ext uri="{FF2B5EF4-FFF2-40B4-BE49-F238E27FC236}">
                <a16:creationId xmlns:a16="http://schemas.microsoft.com/office/drawing/2014/main" id="{2A892FAC-BBCB-4852-9712-2B69CEE982E2}"/>
              </a:ext>
            </a:extLst>
          </p:cNvPr>
          <p:cNvCxnSpPr>
            <a:cxnSpLocks noChangeShapeType="1"/>
            <a:stCxn id="29" idx="0"/>
            <a:endCxn id="27" idx="2"/>
          </p:cNvCxnSpPr>
          <p:nvPr/>
        </p:nvCxnSpPr>
        <p:spPr bwMode="auto">
          <a:xfrm flipV="1">
            <a:off x="3412814" y="4482262"/>
            <a:ext cx="42862" cy="525463"/>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33" name="AutoShape 11">
            <a:extLst>
              <a:ext uri="{FF2B5EF4-FFF2-40B4-BE49-F238E27FC236}">
                <a16:creationId xmlns:a16="http://schemas.microsoft.com/office/drawing/2014/main" id="{09B71A42-4748-45B1-9C17-5C9265321D3F}"/>
              </a:ext>
            </a:extLst>
          </p:cNvPr>
          <p:cNvCxnSpPr>
            <a:cxnSpLocks noChangeShapeType="1"/>
            <a:stCxn id="30" idx="0"/>
            <a:endCxn id="27" idx="2"/>
          </p:cNvCxnSpPr>
          <p:nvPr/>
        </p:nvCxnSpPr>
        <p:spPr bwMode="auto">
          <a:xfrm flipH="1" flipV="1">
            <a:off x="3454090" y="4479086"/>
            <a:ext cx="979487" cy="528638"/>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34" name="Rectangle 12">
            <a:extLst>
              <a:ext uri="{FF2B5EF4-FFF2-40B4-BE49-F238E27FC236}">
                <a16:creationId xmlns:a16="http://schemas.microsoft.com/office/drawing/2014/main" id="{377528C9-C051-4FBC-911B-5706BC4685C5}"/>
              </a:ext>
            </a:extLst>
          </p:cNvPr>
          <p:cNvSpPr>
            <a:spLocks noChangeArrowheads="1"/>
          </p:cNvSpPr>
          <p:nvPr/>
        </p:nvSpPr>
        <p:spPr bwMode="auto">
          <a:xfrm>
            <a:off x="8097526" y="4086975"/>
            <a:ext cx="850900" cy="395287"/>
          </a:xfrm>
          <a:prstGeom prst="rect">
            <a:avLst/>
          </a:prstGeom>
          <a:solidFill>
            <a:schemeClr val="bg1"/>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400">
                <a:effectLst/>
                <a:latin typeface="Times New Roman" pitchFamily="18" charset="0"/>
              </a:rPr>
              <a:t>学生</a:t>
            </a:r>
          </a:p>
        </p:txBody>
      </p:sp>
      <p:sp>
        <p:nvSpPr>
          <p:cNvPr id="35" name="AutoShape 13">
            <a:extLst>
              <a:ext uri="{FF2B5EF4-FFF2-40B4-BE49-F238E27FC236}">
                <a16:creationId xmlns:a16="http://schemas.microsoft.com/office/drawing/2014/main" id="{4690902D-55DF-4B39-A313-B17F6AD58A4F}"/>
              </a:ext>
            </a:extLst>
          </p:cNvPr>
          <p:cNvSpPr>
            <a:spLocks noChangeArrowheads="1"/>
          </p:cNvSpPr>
          <p:nvPr/>
        </p:nvSpPr>
        <p:spPr bwMode="auto">
          <a:xfrm>
            <a:off x="7138677" y="4966450"/>
            <a:ext cx="684213" cy="434975"/>
          </a:xfrm>
          <a:prstGeom prst="roundRect">
            <a:avLst>
              <a:gd name="adj" fmla="val 50000"/>
            </a:avLst>
          </a:prstGeom>
          <a:solidFill>
            <a:srgbClr val="6600FF"/>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400" u="sng">
                <a:effectLst/>
                <a:latin typeface="Times New Roman" pitchFamily="18" charset="0"/>
              </a:rPr>
              <a:t>学号</a:t>
            </a:r>
          </a:p>
        </p:txBody>
      </p:sp>
      <p:sp>
        <p:nvSpPr>
          <p:cNvPr id="36" name="AutoShape 14">
            <a:extLst>
              <a:ext uri="{FF2B5EF4-FFF2-40B4-BE49-F238E27FC236}">
                <a16:creationId xmlns:a16="http://schemas.microsoft.com/office/drawing/2014/main" id="{1984E6C1-2BF8-4B7D-93BB-2510B7D74F65}"/>
              </a:ext>
            </a:extLst>
          </p:cNvPr>
          <p:cNvSpPr>
            <a:spLocks noChangeArrowheads="1"/>
          </p:cNvSpPr>
          <p:nvPr/>
        </p:nvSpPr>
        <p:spPr bwMode="auto">
          <a:xfrm>
            <a:off x="7891152" y="4966450"/>
            <a:ext cx="684213" cy="434975"/>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400">
                <a:effectLst/>
                <a:latin typeface="Times New Roman" pitchFamily="18" charset="0"/>
              </a:rPr>
              <a:t>姓名</a:t>
            </a:r>
          </a:p>
        </p:txBody>
      </p:sp>
      <p:sp>
        <p:nvSpPr>
          <p:cNvPr id="37" name="AutoShape 15">
            <a:extLst>
              <a:ext uri="{FF2B5EF4-FFF2-40B4-BE49-F238E27FC236}">
                <a16:creationId xmlns:a16="http://schemas.microsoft.com/office/drawing/2014/main" id="{D0233789-2D2C-4367-A6F1-8BE6B0384E09}"/>
              </a:ext>
            </a:extLst>
          </p:cNvPr>
          <p:cNvSpPr>
            <a:spLocks noChangeArrowheads="1"/>
          </p:cNvSpPr>
          <p:nvPr/>
        </p:nvSpPr>
        <p:spPr bwMode="auto">
          <a:xfrm>
            <a:off x="9388165" y="4966450"/>
            <a:ext cx="682625" cy="434975"/>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400">
                <a:effectLst/>
                <a:latin typeface="Times New Roman" pitchFamily="18" charset="0"/>
              </a:rPr>
              <a:t>性别</a:t>
            </a:r>
          </a:p>
        </p:txBody>
      </p:sp>
      <p:sp>
        <p:nvSpPr>
          <p:cNvPr id="38" name="AutoShape 16">
            <a:extLst>
              <a:ext uri="{FF2B5EF4-FFF2-40B4-BE49-F238E27FC236}">
                <a16:creationId xmlns:a16="http://schemas.microsoft.com/office/drawing/2014/main" id="{4E291D13-1058-4678-B49C-12FF5DE64C53}"/>
              </a:ext>
            </a:extLst>
          </p:cNvPr>
          <p:cNvSpPr>
            <a:spLocks noChangeArrowheads="1"/>
          </p:cNvSpPr>
          <p:nvPr/>
        </p:nvSpPr>
        <p:spPr bwMode="auto">
          <a:xfrm>
            <a:off x="8643627" y="4966450"/>
            <a:ext cx="684213" cy="434975"/>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400">
                <a:effectLst/>
                <a:latin typeface="Times New Roman" pitchFamily="18" charset="0"/>
              </a:rPr>
              <a:t>年龄</a:t>
            </a:r>
          </a:p>
        </p:txBody>
      </p:sp>
      <p:cxnSp>
        <p:nvCxnSpPr>
          <p:cNvPr id="39" name="AutoShape 17">
            <a:extLst>
              <a:ext uri="{FF2B5EF4-FFF2-40B4-BE49-F238E27FC236}">
                <a16:creationId xmlns:a16="http://schemas.microsoft.com/office/drawing/2014/main" id="{1664DEBB-4559-4FBE-AF24-A9B252024171}"/>
              </a:ext>
            </a:extLst>
          </p:cNvPr>
          <p:cNvCxnSpPr>
            <a:cxnSpLocks noChangeShapeType="1"/>
            <a:stCxn id="34" idx="2"/>
            <a:endCxn id="35" idx="0"/>
          </p:cNvCxnSpPr>
          <p:nvPr/>
        </p:nvCxnSpPr>
        <p:spPr bwMode="auto">
          <a:xfrm flipH="1">
            <a:off x="7481576" y="4482261"/>
            <a:ext cx="1041400" cy="484188"/>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0" name="AutoShape 18">
            <a:extLst>
              <a:ext uri="{FF2B5EF4-FFF2-40B4-BE49-F238E27FC236}">
                <a16:creationId xmlns:a16="http://schemas.microsoft.com/office/drawing/2014/main" id="{18CBA188-8071-47D4-8CA8-5F9A1F44CEBB}"/>
              </a:ext>
            </a:extLst>
          </p:cNvPr>
          <p:cNvCxnSpPr>
            <a:cxnSpLocks noChangeShapeType="1"/>
            <a:stCxn id="34" idx="2"/>
            <a:endCxn id="36" idx="0"/>
          </p:cNvCxnSpPr>
          <p:nvPr/>
        </p:nvCxnSpPr>
        <p:spPr bwMode="auto">
          <a:xfrm flipH="1">
            <a:off x="8234052" y="4482261"/>
            <a:ext cx="288925" cy="484188"/>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1" name="AutoShape 19">
            <a:extLst>
              <a:ext uri="{FF2B5EF4-FFF2-40B4-BE49-F238E27FC236}">
                <a16:creationId xmlns:a16="http://schemas.microsoft.com/office/drawing/2014/main" id="{65198390-6BF4-435A-AABB-663A2F8773E6}"/>
              </a:ext>
            </a:extLst>
          </p:cNvPr>
          <p:cNvCxnSpPr>
            <a:cxnSpLocks noChangeShapeType="1"/>
            <a:stCxn id="34" idx="2"/>
            <a:endCxn id="38" idx="0"/>
          </p:cNvCxnSpPr>
          <p:nvPr/>
        </p:nvCxnSpPr>
        <p:spPr bwMode="auto">
          <a:xfrm>
            <a:off x="8522976" y="4482261"/>
            <a:ext cx="463550" cy="484188"/>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2" name="AutoShape 20">
            <a:extLst>
              <a:ext uri="{FF2B5EF4-FFF2-40B4-BE49-F238E27FC236}">
                <a16:creationId xmlns:a16="http://schemas.microsoft.com/office/drawing/2014/main" id="{94D3CD4C-CB24-45C3-9C0A-6D5156B600B4}"/>
              </a:ext>
            </a:extLst>
          </p:cNvPr>
          <p:cNvCxnSpPr>
            <a:cxnSpLocks noChangeShapeType="1"/>
            <a:stCxn id="34" idx="2"/>
            <a:endCxn id="37" idx="0"/>
          </p:cNvCxnSpPr>
          <p:nvPr/>
        </p:nvCxnSpPr>
        <p:spPr bwMode="auto">
          <a:xfrm>
            <a:off x="8522976" y="4482261"/>
            <a:ext cx="1206500" cy="484188"/>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43" name="AutoShape 21">
            <a:extLst>
              <a:ext uri="{FF2B5EF4-FFF2-40B4-BE49-F238E27FC236}">
                <a16:creationId xmlns:a16="http://schemas.microsoft.com/office/drawing/2014/main" id="{9751E1A8-0CE6-4175-A310-EC8DE9905ADC}"/>
              </a:ext>
            </a:extLst>
          </p:cNvPr>
          <p:cNvSpPr>
            <a:spLocks noChangeArrowheads="1"/>
          </p:cNvSpPr>
          <p:nvPr/>
        </p:nvSpPr>
        <p:spPr bwMode="auto">
          <a:xfrm>
            <a:off x="5200339" y="3890125"/>
            <a:ext cx="1363662" cy="788987"/>
          </a:xfrm>
          <a:prstGeom prst="diamond">
            <a:avLst/>
          </a:prstGeom>
          <a:solidFill>
            <a:schemeClr val="bg1"/>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400">
                <a:effectLst/>
                <a:latin typeface="Times New Roman" pitchFamily="18" charset="0"/>
              </a:rPr>
              <a:t>选修</a:t>
            </a:r>
          </a:p>
        </p:txBody>
      </p:sp>
      <p:cxnSp>
        <p:nvCxnSpPr>
          <p:cNvPr id="44" name="AutoShape 22">
            <a:extLst>
              <a:ext uri="{FF2B5EF4-FFF2-40B4-BE49-F238E27FC236}">
                <a16:creationId xmlns:a16="http://schemas.microsoft.com/office/drawing/2014/main" id="{65AC4539-E6EC-4A92-BD14-AD244437311C}"/>
              </a:ext>
            </a:extLst>
          </p:cNvPr>
          <p:cNvCxnSpPr>
            <a:cxnSpLocks noChangeShapeType="1"/>
            <a:stCxn id="27" idx="1"/>
            <a:endCxn id="43" idx="1"/>
          </p:cNvCxnSpPr>
          <p:nvPr/>
        </p:nvCxnSpPr>
        <p:spPr bwMode="auto">
          <a:xfrm>
            <a:off x="3838265" y="4282236"/>
            <a:ext cx="1362075" cy="1588"/>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5" name="AutoShape 23">
            <a:extLst>
              <a:ext uri="{FF2B5EF4-FFF2-40B4-BE49-F238E27FC236}">
                <a16:creationId xmlns:a16="http://schemas.microsoft.com/office/drawing/2014/main" id="{9788F7D0-EE48-4E17-9CD1-0013FF258F12}"/>
              </a:ext>
            </a:extLst>
          </p:cNvPr>
          <p:cNvCxnSpPr>
            <a:cxnSpLocks noChangeShapeType="1"/>
            <a:stCxn id="43" idx="3"/>
            <a:endCxn id="34" idx="1"/>
          </p:cNvCxnSpPr>
          <p:nvPr/>
        </p:nvCxnSpPr>
        <p:spPr bwMode="auto">
          <a:xfrm>
            <a:off x="6564002" y="4283824"/>
            <a:ext cx="1533525"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46" name="Rectangle 24">
            <a:extLst>
              <a:ext uri="{FF2B5EF4-FFF2-40B4-BE49-F238E27FC236}">
                <a16:creationId xmlns:a16="http://schemas.microsoft.com/office/drawing/2014/main" id="{5E824952-C7CA-44B4-AD27-A3B8EE4847A3}"/>
              </a:ext>
            </a:extLst>
          </p:cNvPr>
          <p:cNvSpPr>
            <a:spLocks noChangeArrowheads="1"/>
          </p:cNvSpPr>
          <p:nvPr/>
        </p:nvSpPr>
        <p:spPr bwMode="auto">
          <a:xfrm>
            <a:off x="4177990" y="3890124"/>
            <a:ext cx="85248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spcAft>
                <a:spcPct val="0"/>
              </a:spcAft>
              <a:buSzTx/>
              <a:buFontTx/>
              <a:buNone/>
            </a:pPr>
            <a:r>
              <a:rPr lang="en-US" altLang="zh-CN" sz="2400">
                <a:effectLst/>
                <a:latin typeface="Times New Roman" pitchFamily="18" charset="0"/>
              </a:rPr>
              <a:t>m</a:t>
            </a:r>
          </a:p>
        </p:txBody>
      </p:sp>
      <p:sp>
        <p:nvSpPr>
          <p:cNvPr id="47" name="Rectangle 25">
            <a:extLst>
              <a:ext uri="{FF2B5EF4-FFF2-40B4-BE49-F238E27FC236}">
                <a16:creationId xmlns:a16="http://schemas.microsoft.com/office/drawing/2014/main" id="{7C098E86-4EDE-4EBD-B994-42AFA1B32A5C}"/>
              </a:ext>
            </a:extLst>
          </p:cNvPr>
          <p:cNvSpPr>
            <a:spLocks noChangeArrowheads="1"/>
          </p:cNvSpPr>
          <p:nvPr/>
        </p:nvSpPr>
        <p:spPr bwMode="auto">
          <a:xfrm>
            <a:off x="6905314" y="3890124"/>
            <a:ext cx="8509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nchor="ctr"/>
          <a:lstStyle/>
          <a:p>
            <a:pPr algn="ctr">
              <a:spcAft>
                <a:spcPct val="0"/>
              </a:spcAft>
              <a:buSzTx/>
              <a:buFontTx/>
              <a:buNone/>
            </a:pPr>
            <a:r>
              <a:rPr lang="en-US" altLang="zh-CN" sz="2400">
                <a:effectLst/>
                <a:latin typeface="Times New Roman" pitchFamily="18" charset="0"/>
              </a:rPr>
              <a:t>n</a:t>
            </a:r>
          </a:p>
        </p:txBody>
      </p:sp>
      <p:sp>
        <p:nvSpPr>
          <p:cNvPr id="48" name="AutoShape 26">
            <a:extLst>
              <a:ext uri="{FF2B5EF4-FFF2-40B4-BE49-F238E27FC236}">
                <a16:creationId xmlns:a16="http://schemas.microsoft.com/office/drawing/2014/main" id="{6D0030B1-15AC-4A18-9B2D-60B80D0B3237}"/>
              </a:ext>
            </a:extLst>
          </p:cNvPr>
          <p:cNvSpPr>
            <a:spLocks noChangeArrowheads="1"/>
          </p:cNvSpPr>
          <p:nvPr/>
        </p:nvSpPr>
        <p:spPr bwMode="auto">
          <a:xfrm flipH="1">
            <a:off x="5498789" y="5007724"/>
            <a:ext cx="766762" cy="393700"/>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sz="2400">
                <a:effectLst/>
                <a:latin typeface="Times New Roman" pitchFamily="18" charset="0"/>
              </a:rPr>
              <a:t>成绩</a:t>
            </a:r>
          </a:p>
        </p:txBody>
      </p:sp>
      <p:cxnSp>
        <p:nvCxnSpPr>
          <p:cNvPr id="49" name="AutoShape 27">
            <a:extLst>
              <a:ext uri="{FF2B5EF4-FFF2-40B4-BE49-F238E27FC236}">
                <a16:creationId xmlns:a16="http://schemas.microsoft.com/office/drawing/2014/main" id="{536B486B-A0C3-43BD-AFCC-9E00892232D8}"/>
              </a:ext>
            </a:extLst>
          </p:cNvPr>
          <p:cNvCxnSpPr>
            <a:cxnSpLocks noChangeShapeType="1"/>
            <a:stCxn id="43" idx="2"/>
            <a:endCxn id="48" idx="0"/>
          </p:cNvCxnSpPr>
          <p:nvPr/>
        </p:nvCxnSpPr>
        <p:spPr bwMode="auto">
          <a:xfrm>
            <a:off x="5882964" y="4679112"/>
            <a:ext cx="0" cy="328613"/>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50" name="Rectangle 28">
            <a:extLst>
              <a:ext uri="{FF2B5EF4-FFF2-40B4-BE49-F238E27FC236}">
                <a16:creationId xmlns:a16="http://schemas.microsoft.com/office/drawing/2014/main" id="{A6B72032-8021-4E4B-A006-A3E130F4F19B}"/>
              </a:ext>
            </a:extLst>
          </p:cNvPr>
          <p:cNvSpPr>
            <a:spLocks noChangeArrowheads="1"/>
          </p:cNvSpPr>
          <p:nvPr/>
        </p:nvSpPr>
        <p:spPr bwMode="auto">
          <a:xfrm>
            <a:off x="3546773" y="6035531"/>
            <a:ext cx="4419600" cy="427037"/>
          </a:xfrm>
          <a:prstGeom prst="rect">
            <a:avLst/>
          </a:prstGeom>
          <a:noFill/>
          <a:ln w="12700" cap="sq">
            <a:noFill/>
            <a:miter lim="800000"/>
            <a:headEnd/>
            <a:tailEnd/>
          </a:ln>
          <a:effectLst/>
        </p:spPr>
        <p:txBody>
          <a:bodyPr lIns="0" tIns="0" rIns="0" bIns="0"/>
          <a:lstStyle/>
          <a:p>
            <a:pPr>
              <a:spcAft>
                <a:spcPct val="0"/>
              </a:spcAft>
              <a:buSzTx/>
              <a:buFontTx/>
              <a:buNone/>
              <a:defRPr/>
            </a:pPr>
            <a:r>
              <a:rPr lang="zh-CN" altLang="en-US" sz="2800">
                <a:solidFill>
                  <a:srgbClr val="00FF99"/>
                </a:solidFill>
                <a:effectLst>
                  <a:outerShdw blurRad="38100" dist="38100" dir="2700000" algn="tl">
                    <a:srgbClr val="000000"/>
                  </a:outerShdw>
                </a:effectLst>
                <a:latin typeface="Times New Roman" pitchFamily="18" charset="0"/>
              </a:rPr>
              <a:t>选修(</a:t>
            </a:r>
            <a:r>
              <a:rPr lang="zh-CN" altLang="en-US" sz="2800" u="sng">
                <a:solidFill>
                  <a:srgbClr val="00FF99"/>
                </a:solidFill>
                <a:effectLst>
                  <a:outerShdw blurRad="38100" dist="38100" dir="2700000" algn="tl">
                    <a:srgbClr val="000000"/>
                  </a:outerShdw>
                </a:effectLst>
                <a:latin typeface="Times New Roman" pitchFamily="18" charset="0"/>
              </a:rPr>
              <a:t>学号，课程号</a:t>
            </a:r>
            <a:r>
              <a:rPr lang="zh-CN" altLang="en-US" sz="2800">
                <a:solidFill>
                  <a:srgbClr val="00FF99"/>
                </a:solidFill>
                <a:effectLst>
                  <a:outerShdw blurRad="38100" dist="38100" dir="2700000" algn="tl">
                    <a:srgbClr val="000000"/>
                  </a:outerShdw>
                </a:effectLst>
                <a:latin typeface="Times New Roman" pitchFamily="18" charset="0"/>
              </a:rPr>
              <a:t>，成绩)</a:t>
            </a:r>
          </a:p>
        </p:txBody>
      </p:sp>
    </p:spTree>
    <p:extLst>
      <p:ext uri="{BB962C8B-B14F-4D97-AF65-F5344CB8AC3E}">
        <p14:creationId xmlns:p14="http://schemas.microsoft.com/office/powerpoint/2010/main" val="3230641660"/>
      </p:ext>
    </p:extLst>
  </p:cSld>
  <p:clrMapOvr>
    <a:masterClrMapping/>
  </p:clrMapOvr>
  <p:transition spd="med">
    <p:random/>
    <p:sndAc>
      <p:stSnd>
        <p:snd r:embed="rId2" name="arrow.wav"/>
      </p:stSnd>
    </p:sndAc>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 Box 2">
            <a:extLst>
              <a:ext uri="{FF2B5EF4-FFF2-40B4-BE49-F238E27FC236}">
                <a16:creationId xmlns:a16="http://schemas.microsoft.com/office/drawing/2014/main" id="{F01E9C00-DA68-4E67-8B2B-22668369BFC1}"/>
              </a:ext>
            </a:extLst>
          </p:cNvPr>
          <p:cNvSpPr txBox="1">
            <a:spLocks noChangeArrowheads="1"/>
          </p:cNvSpPr>
          <p:nvPr/>
        </p:nvSpPr>
        <p:spPr bwMode="auto">
          <a:xfrm>
            <a:off x="740001" y="10592"/>
            <a:ext cx="4762055" cy="760959"/>
          </a:xfrm>
          <a:prstGeom prst="rect">
            <a:avLst/>
          </a:prstGeom>
          <a:noFill/>
          <a:ln w="12700" cap="sq">
            <a:noFill/>
            <a:miter lim="800000"/>
            <a:headEnd/>
            <a:tailEnd/>
          </a:ln>
          <a:effectLst>
            <a:outerShdw dist="35921" dir="2700000" algn="ctr" rotWithShape="0">
              <a:srgbClr val="000514"/>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vert="horz" wrap="none" lIns="72000" tIns="72000" rIns="72000" bIns="72000" numCol="1" rtlCol="0" anchor="ctr" anchorCtr="0" compatLnSpc="1">
            <a:prstTxWarp prst="textNoShape">
              <a:avLst/>
            </a:prstTxWarp>
            <a:spAutoFit/>
          </a:bodyPr>
          <a:lstStyle>
            <a:defPPr>
              <a:defRPr lang="en-US"/>
            </a:defPPr>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a:t>逻辑结构设计的流程</a:t>
            </a:r>
          </a:p>
        </p:txBody>
      </p:sp>
      <p:sp>
        <p:nvSpPr>
          <p:cNvPr id="60" name="Rectangle 3">
            <a:extLst>
              <a:ext uri="{FF2B5EF4-FFF2-40B4-BE49-F238E27FC236}">
                <a16:creationId xmlns:a16="http://schemas.microsoft.com/office/drawing/2014/main" id="{13BDD371-3BCE-4E17-A338-05E271EFD47C}"/>
              </a:ext>
            </a:extLst>
          </p:cNvPr>
          <p:cNvSpPr>
            <a:spLocks noGrp="1" noChangeArrowheads="1"/>
          </p:cNvSpPr>
          <p:nvPr>
            <p:ph type="title"/>
          </p:nvPr>
        </p:nvSpPr>
        <p:spPr>
          <a:xfrm>
            <a:off x="743410" y="823363"/>
            <a:ext cx="8964612" cy="584775"/>
          </a:xfrm>
        </p:spPr>
        <p:txBody>
          <a:bodyPr wrap="square"/>
          <a:lstStyle/>
          <a:p>
            <a:pPr eaLnBrk="1" hangingPunct="1">
              <a:buFont typeface="Wingdings" pitchFamily="2" charset="2"/>
              <a:buNone/>
            </a:pPr>
            <a:r>
              <a:rPr lang="zh-CN" altLang="zh-CN" dirty="0"/>
              <a:t>第一步：E-R图转换成数据模型</a:t>
            </a:r>
            <a:endParaRPr lang="en-US" altLang="zh-CN" dirty="0"/>
          </a:p>
        </p:txBody>
      </p:sp>
      <p:sp>
        <p:nvSpPr>
          <p:cNvPr id="4" name="Rectangle 4">
            <a:extLst>
              <a:ext uri="{FF2B5EF4-FFF2-40B4-BE49-F238E27FC236}">
                <a16:creationId xmlns:a16="http://schemas.microsoft.com/office/drawing/2014/main" id="{5BC5CBBD-E3A8-47AF-A0F6-930A147B2644}"/>
              </a:ext>
            </a:extLst>
          </p:cNvPr>
          <p:cNvSpPr txBox="1">
            <a:spLocks noChangeArrowheads="1"/>
          </p:cNvSpPr>
          <p:nvPr/>
        </p:nvSpPr>
        <p:spPr>
          <a:xfrm>
            <a:off x="436078" y="1562392"/>
            <a:ext cx="11204537" cy="1152525"/>
          </a:xfrm>
          <a:prstGeom prst="rect">
            <a:avLst/>
          </a:prstGeom>
        </p:spPr>
        <p:txBody>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algn="just" eaLnBrk="1" hangingPunct="1">
              <a:defRPr/>
            </a:pPr>
            <a:r>
              <a:rPr kumimoji="0" lang="zh-CN" altLang="en-US" kern="0" dirty="0"/>
              <a:t>一个</a:t>
            </a:r>
            <a:r>
              <a:rPr kumimoji="0" lang="en-US" altLang="zh-CN" kern="0" dirty="0"/>
              <a:t>m:n</a:t>
            </a:r>
            <a:r>
              <a:rPr kumimoji="0" lang="zh-CN" altLang="en-US" kern="0" dirty="0"/>
              <a:t>联系转换成一个关系模式，属性包括联系两端的实体的主码以及联系本身的属性，主码为联系两端的实体的主码的组合。</a:t>
            </a:r>
          </a:p>
        </p:txBody>
      </p:sp>
      <p:cxnSp>
        <p:nvCxnSpPr>
          <p:cNvPr id="51" name="AutoShape 2">
            <a:extLst>
              <a:ext uri="{FF2B5EF4-FFF2-40B4-BE49-F238E27FC236}">
                <a16:creationId xmlns:a16="http://schemas.microsoft.com/office/drawing/2014/main" id="{346757FF-6403-4289-A5CB-5F70C11C40BB}"/>
              </a:ext>
            </a:extLst>
          </p:cNvPr>
          <p:cNvCxnSpPr>
            <a:cxnSpLocks noChangeShapeType="1"/>
            <a:stCxn id="58" idx="2"/>
            <a:endCxn id="55" idx="0"/>
          </p:cNvCxnSpPr>
          <p:nvPr/>
        </p:nvCxnSpPr>
        <p:spPr bwMode="auto">
          <a:xfrm>
            <a:off x="5913635" y="3596844"/>
            <a:ext cx="100012" cy="21590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52" name="Line 3">
            <a:extLst>
              <a:ext uri="{FF2B5EF4-FFF2-40B4-BE49-F238E27FC236}">
                <a16:creationId xmlns:a16="http://schemas.microsoft.com/office/drawing/2014/main" id="{CD89C50F-033C-4EE7-BF72-C75948A8DC26}"/>
              </a:ext>
            </a:extLst>
          </p:cNvPr>
          <p:cNvSpPr>
            <a:spLocks noChangeShapeType="1"/>
          </p:cNvSpPr>
          <p:nvPr/>
        </p:nvSpPr>
        <p:spPr bwMode="auto">
          <a:xfrm>
            <a:off x="5088135" y="3741306"/>
            <a:ext cx="431800" cy="215900"/>
          </a:xfrm>
          <a:prstGeom prst="line">
            <a:avLst/>
          </a:prstGeom>
          <a:noFill/>
          <a:ln w="12700" cap="sq">
            <a:solidFill>
              <a:schemeClr val="tx1"/>
            </a:solidFill>
            <a:round/>
            <a:headEnd/>
            <a:tailEnd/>
          </a:ln>
          <a:effectLst/>
        </p:spPr>
        <p:txBody>
          <a:bodyPr wrap="none" lIns="0" tIns="0" rIns="0" bIns="0" anchor="ctr"/>
          <a:lstStyle/>
          <a:p>
            <a:pPr>
              <a:defRPr/>
            </a:pPr>
            <a:endParaRPr lang="zh-CN" altLang="en-US"/>
          </a:p>
        </p:txBody>
      </p:sp>
      <p:sp>
        <p:nvSpPr>
          <p:cNvPr id="53" name="Line 4">
            <a:extLst>
              <a:ext uri="{FF2B5EF4-FFF2-40B4-BE49-F238E27FC236}">
                <a16:creationId xmlns:a16="http://schemas.microsoft.com/office/drawing/2014/main" id="{B93C2A48-D15B-4264-BE95-9ADF26C6F7A4}"/>
              </a:ext>
            </a:extLst>
          </p:cNvPr>
          <p:cNvSpPr>
            <a:spLocks noChangeShapeType="1"/>
          </p:cNvSpPr>
          <p:nvPr/>
        </p:nvSpPr>
        <p:spPr bwMode="auto">
          <a:xfrm flipV="1">
            <a:off x="6527997" y="3812744"/>
            <a:ext cx="215900" cy="144462"/>
          </a:xfrm>
          <a:prstGeom prst="line">
            <a:avLst/>
          </a:prstGeom>
          <a:noFill/>
          <a:ln w="12700" cap="sq">
            <a:solidFill>
              <a:schemeClr val="tx1"/>
            </a:solidFill>
            <a:round/>
            <a:headEnd/>
            <a:tailEnd/>
          </a:ln>
          <a:effectLst/>
        </p:spPr>
        <p:txBody>
          <a:bodyPr wrap="none" lIns="0" tIns="0" rIns="0" bIns="0" anchor="ctr"/>
          <a:lstStyle/>
          <a:p>
            <a:pPr>
              <a:defRPr/>
            </a:pPr>
            <a:endParaRPr lang="zh-CN" altLang="en-US"/>
          </a:p>
        </p:txBody>
      </p:sp>
      <p:sp>
        <p:nvSpPr>
          <p:cNvPr id="54" name="Rectangle 8">
            <a:extLst>
              <a:ext uri="{FF2B5EF4-FFF2-40B4-BE49-F238E27FC236}">
                <a16:creationId xmlns:a16="http://schemas.microsoft.com/office/drawing/2014/main" id="{5350B873-E178-4FBA-8FDA-F681A0333E5D}"/>
              </a:ext>
            </a:extLst>
          </p:cNvPr>
          <p:cNvSpPr>
            <a:spLocks noChangeArrowheads="1"/>
          </p:cNvSpPr>
          <p:nvPr/>
        </p:nvSpPr>
        <p:spPr bwMode="auto">
          <a:xfrm>
            <a:off x="3575247" y="6189231"/>
            <a:ext cx="6096000" cy="427038"/>
          </a:xfrm>
          <a:prstGeom prst="rect">
            <a:avLst/>
          </a:prstGeom>
          <a:noFill/>
          <a:ln w="12700" cap="sq">
            <a:noFill/>
            <a:miter lim="800000"/>
            <a:headEnd/>
            <a:tailEnd/>
          </a:ln>
          <a:effectLst/>
        </p:spPr>
        <p:txBody>
          <a:bodyPr lIns="0" tIns="0" rIns="0" bIns="0"/>
          <a:lstStyle/>
          <a:p>
            <a:pPr>
              <a:spcAft>
                <a:spcPct val="0"/>
              </a:spcAft>
              <a:buSzTx/>
              <a:buFontTx/>
              <a:buNone/>
              <a:defRPr/>
            </a:pPr>
            <a:r>
              <a:rPr lang="zh-CN" altLang="en-US" sz="2800">
                <a:solidFill>
                  <a:srgbClr val="00FF99"/>
                </a:solidFill>
                <a:effectLst>
                  <a:outerShdw blurRad="38100" dist="38100" dir="2700000" algn="tl">
                    <a:srgbClr val="000000"/>
                  </a:outerShdw>
                </a:effectLst>
                <a:latin typeface="Times New Roman" pitchFamily="18" charset="0"/>
              </a:rPr>
              <a:t>讲授(</a:t>
            </a:r>
            <a:r>
              <a:rPr lang="zh-CN" altLang="en-US" sz="2800" u="sng">
                <a:solidFill>
                  <a:srgbClr val="00FF99"/>
                </a:solidFill>
                <a:effectLst>
                  <a:outerShdw blurRad="38100" dist="38100" dir="2700000" algn="tl">
                    <a:srgbClr val="000000"/>
                  </a:outerShdw>
                </a:effectLst>
                <a:latin typeface="Times New Roman" pitchFamily="18" charset="0"/>
              </a:rPr>
              <a:t>课程号，教工号，书号</a:t>
            </a:r>
            <a:r>
              <a:rPr lang="zh-CN" altLang="en-US" sz="2800">
                <a:solidFill>
                  <a:srgbClr val="00FF99"/>
                </a:solidFill>
                <a:effectLst>
                  <a:outerShdw blurRad="38100" dist="38100" dir="2700000" algn="tl">
                    <a:srgbClr val="000000"/>
                  </a:outerShdw>
                </a:effectLst>
                <a:latin typeface="Times New Roman" pitchFamily="18" charset="0"/>
              </a:rPr>
              <a:t>，课时)</a:t>
            </a:r>
          </a:p>
        </p:txBody>
      </p:sp>
      <p:sp>
        <p:nvSpPr>
          <p:cNvPr id="55" name="Rectangle 9">
            <a:extLst>
              <a:ext uri="{FF2B5EF4-FFF2-40B4-BE49-F238E27FC236}">
                <a16:creationId xmlns:a16="http://schemas.microsoft.com/office/drawing/2014/main" id="{6BAF0F95-838D-4475-B2C2-843E08264F8E}"/>
              </a:ext>
            </a:extLst>
          </p:cNvPr>
          <p:cNvSpPr>
            <a:spLocks noChangeArrowheads="1"/>
          </p:cNvSpPr>
          <p:nvPr/>
        </p:nvSpPr>
        <p:spPr bwMode="auto">
          <a:xfrm>
            <a:off x="5519936" y="3812744"/>
            <a:ext cx="987425" cy="385762"/>
          </a:xfrm>
          <a:prstGeom prst="rect">
            <a:avLst/>
          </a:prstGeom>
          <a:solidFill>
            <a:schemeClr val="bg1"/>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课程</a:t>
            </a:r>
          </a:p>
        </p:txBody>
      </p:sp>
      <p:sp>
        <p:nvSpPr>
          <p:cNvPr id="56" name="AutoShape 10">
            <a:extLst>
              <a:ext uri="{FF2B5EF4-FFF2-40B4-BE49-F238E27FC236}">
                <a16:creationId xmlns:a16="http://schemas.microsoft.com/office/drawing/2014/main" id="{FAD8902B-8F65-4659-90D5-BEF61048B274}"/>
              </a:ext>
            </a:extLst>
          </p:cNvPr>
          <p:cNvSpPr>
            <a:spLocks noChangeArrowheads="1"/>
          </p:cNvSpPr>
          <p:nvPr/>
        </p:nvSpPr>
        <p:spPr bwMode="auto">
          <a:xfrm>
            <a:off x="4151511" y="3309506"/>
            <a:ext cx="1076325" cy="431800"/>
          </a:xfrm>
          <a:prstGeom prst="roundRect">
            <a:avLst>
              <a:gd name="adj" fmla="val 50000"/>
            </a:avLst>
          </a:prstGeom>
          <a:solidFill>
            <a:srgbClr val="6600FF"/>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u="sng" dirty="0">
                <a:effectLst>
                  <a:outerShdw blurRad="38100" dist="38100" dir="2700000" algn="tl">
                    <a:srgbClr val="000000"/>
                  </a:outerShdw>
                </a:effectLst>
                <a:latin typeface="Times New Roman" pitchFamily="18" charset="0"/>
              </a:rPr>
              <a:t>课程号</a:t>
            </a:r>
          </a:p>
        </p:txBody>
      </p:sp>
      <p:sp>
        <p:nvSpPr>
          <p:cNvPr id="58" name="AutoShape 11">
            <a:extLst>
              <a:ext uri="{FF2B5EF4-FFF2-40B4-BE49-F238E27FC236}">
                <a16:creationId xmlns:a16="http://schemas.microsoft.com/office/drawing/2014/main" id="{24B804DC-40F3-4179-9AF8-C6472EF80F6B}"/>
              </a:ext>
            </a:extLst>
          </p:cNvPr>
          <p:cNvSpPr>
            <a:spLocks noChangeArrowheads="1"/>
          </p:cNvSpPr>
          <p:nvPr/>
        </p:nvSpPr>
        <p:spPr bwMode="auto">
          <a:xfrm>
            <a:off x="5375473" y="3165044"/>
            <a:ext cx="1076325" cy="431800"/>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课程名</a:t>
            </a:r>
          </a:p>
        </p:txBody>
      </p:sp>
      <p:sp>
        <p:nvSpPr>
          <p:cNvPr id="59" name="AutoShape 12">
            <a:extLst>
              <a:ext uri="{FF2B5EF4-FFF2-40B4-BE49-F238E27FC236}">
                <a16:creationId xmlns:a16="http://schemas.microsoft.com/office/drawing/2014/main" id="{FC19F054-6A6F-4F8D-9B47-F57257FF9DB1}"/>
              </a:ext>
            </a:extLst>
          </p:cNvPr>
          <p:cNvSpPr>
            <a:spLocks noChangeArrowheads="1"/>
          </p:cNvSpPr>
          <p:nvPr/>
        </p:nvSpPr>
        <p:spPr bwMode="auto">
          <a:xfrm>
            <a:off x="6672461" y="3453969"/>
            <a:ext cx="968375" cy="431800"/>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学分</a:t>
            </a:r>
          </a:p>
        </p:txBody>
      </p:sp>
      <p:sp>
        <p:nvSpPr>
          <p:cNvPr id="61" name="Rectangle 13">
            <a:extLst>
              <a:ext uri="{FF2B5EF4-FFF2-40B4-BE49-F238E27FC236}">
                <a16:creationId xmlns:a16="http://schemas.microsoft.com/office/drawing/2014/main" id="{4E122962-E8BE-43A6-A876-48F713828979}"/>
              </a:ext>
            </a:extLst>
          </p:cNvPr>
          <p:cNvSpPr>
            <a:spLocks noChangeArrowheads="1"/>
          </p:cNvSpPr>
          <p:nvPr/>
        </p:nvSpPr>
        <p:spPr bwMode="auto">
          <a:xfrm>
            <a:off x="3276798" y="4569982"/>
            <a:ext cx="684213" cy="466725"/>
          </a:xfrm>
          <a:prstGeom prst="rect">
            <a:avLst/>
          </a:prstGeom>
          <a:solidFill>
            <a:schemeClr val="bg1"/>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教师</a:t>
            </a:r>
          </a:p>
        </p:txBody>
      </p:sp>
      <p:sp>
        <p:nvSpPr>
          <p:cNvPr id="62" name="AutoShape 14">
            <a:extLst>
              <a:ext uri="{FF2B5EF4-FFF2-40B4-BE49-F238E27FC236}">
                <a16:creationId xmlns:a16="http://schemas.microsoft.com/office/drawing/2014/main" id="{FD4EBC97-FC75-4037-BD4A-FFE8AF90EEC3}"/>
              </a:ext>
            </a:extLst>
          </p:cNvPr>
          <p:cNvSpPr>
            <a:spLocks noChangeArrowheads="1"/>
          </p:cNvSpPr>
          <p:nvPr/>
        </p:nvSpPr>
        <p:spPr bwMode="auto">
          <a:xfrm>
            <a:off x="1990923" y="5465332"/>
            <a:ext cx="904875" cy="436563"/>
          </a:xfrm>
          <a:prstGeom prst="roundRect">
            <a:avLst>
              <a:gd name="adj" fmla="val 50000"/>
            </a:avLst>
          </a:prstGeom>
          <a:solidFill>
            <a:srgbClr val="6600FF"/>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u="sng">
                <a:effectLst>
                  <a:outerShdw blurRad="38100" dist="38100" dir="2700000" algn="tl">
                    <a:srgbClr val="000000"/>
                  </a:outerShdw>
                </a:effectLst>
                <a:latin typeface="Times New Roman" pitchFamily="18" charset="0"/>
              </a:rPr>
              <a:t>教工号</a:t>
            </a:r>
          </a:p>
        </p:txBody>
      </p:sp>
      <p:sp>
        <p:nvSpPr>
          <p:cNvPr id="63" name="AutoShape 15">
            <a:extLst>
              <a:ext uri="{FF2B5EF4-FFF2-40B4-BE49-F238E27FC236}">
                <a16:creationId xmlns:a16="http://schemas.microsoft.com/office/drawing/2014/main" id="{1B86DBC7-F8B8-4B75-8081-067A7F424136}"/>
              </a:ext>
            </a:extLst>
          </p:cNvPr>
          <p:cNvSpPr>
            <a:spLocks noChangeArrowheads="1"/>
          </p:cNvSpPr>
          <p:nvPr/>
        </p:nvSpPr>
        <p:spPr bwMode="auto">
          <a:xfrm>
            <a:off x="2971998" y="5465332"/>
            <a:ext cx="684213" cy="436563"/>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姓名</a:t>
            </a:r>
          </a:p>
        </p:txBody>
      </p:sp>
      <p:sp>
        <p:nvSpPr>
          <p:cNvPr id="64" name="AutoShape 16">
            <a:extLst>
              <a:ext uri="{FF2B5EF4-FFF2-40B4-BE49-F238E27FC236}">
                <a16:creationId xmlns:a16="http://schemas.microsoft.com/office/drawing/2014/main" id="{9D2AA55E-F77E-455A-B38E-0D26E52906BD}"/>
              </a:ext>
            </a:extLst>
          </p:cNvPr>
          <p:cNvSpPr>
            <a:spLocks noChangeArrowheads="1"/>
          </p:cNvSpPr>
          <p:nvPr/>
        </p:nvSpPr>
        <p:spPr bwMode="auto">
          <a:xfrm>
            <a:off x="3733998" y="5465332"/>
            <a:ext cx="684213" cy="436563"/>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性别</a:t>
            </a:r>
          </a:p>
        </p:txBody>
      </p:sp>
      <p:sp>
        <p:nvSpPr>
          <p:cNvPr id="65" name="AutoShape 17">
            <a:extLst>
              <a:ext uri="{FF2B5EF4-FFF2-40B4-BE49-F238E27FC236}">
                <a16:creationId xmlns:a16="http://schemas.microsoft.com/office/drawing/2014/main" id="{4CFA3A4A-7D1D-4F20-9B88-2B09CBB5D5E8}"/>
              </a:ext>
            </a:extLst>
          </p:cNvPr>
          <p:cNvSpPr>
            <a:spLocks noChangeArrowheads="1"/>
          </p:cNvSpPr>
          <p:nvPr/>
        </p:nvSpPr>
        <p:spPr bwMode="auto">
          <a:xfrm>
            <a:off x="4492822" y="5465332"/>
            <a:ext cx="685800" cy="436563"/>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职称</a:t>
            </a:r>
          </a:p>
        </p:txBody>
      </p:sp>
      <p:sp>
        <p:nvSpPr>
          <p:cNvPr id="66" name="Rectangle 18">
            <a:extLst>
              <a:ext uri="{FF2B5EF4-FFF2-40B4-BE49-F238E27FC236}">
                <a16:creationId xmlns:a16="http://schemas.microsoft.com/office/drawing/2014/main" id="{D7A8A597-A6F4-4E80-B589-DD712AB40AAA}"/>
              </a:ext>
            </a:extLst>
          </p:cNvPr>
          <p:cNvSpPr>
            <a:spLocks noChangeArrowheads="1"/>
          </p:cNvSpPr>
          <p:nvPr/>
        </p:nvSpPr>
        <p:spPr bwMode="auto">
          <a:xfrm>
            <a:off x="8372673" y="4569982"/>
            <a:ext cx="1065213" cy="466725"/>
          </a:xfrm>
          <a:prstGeom prst="rect">
            <a:avLst/>
          </a:prstGeom>
          <a:solidFill>
            <a:schemeClr val="bg1"/>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参考书</a:t>
            </a:r>
          </a:p>
        </p:txBody>
      </p:sp>
      <p:sp>
        <p:nvSpPr>
          <p:cNvPr id="67" name="AutoShape 19">
            <a:extLst>
              <a:ext uri="{FF2B5EF4-FFF2-40B4-BE49-F238E27FC236}">
                <a16:creationId xmlns:a16="http://schemas.microsoft.com/office/drawing/2014/main" id="{A3A09D1A-B916-4001-804C-5E895079C5FC}"/>
              </a:ext>
            </a:extLst>
          </p:cNvPr>
          <p:cNvSpPr>
            <a:spLocks noChangeArrowheads="1"/>
          </p:cNvSpPr>
          <p:nvPr/>
        </p:nvSpPr>
        <p:spPr bwMode="auto">
          <a:xfrm>
            <a:off x="7383660" y="5493906"/>
            <a:ext cx="609600" cy="425450"/>
          </a:xfrm>
          <a:prstGeom prst="roundRect">
            <a:avLst>
              <a:gd name="adj" fmla="val 50000"/>
            </a:avLst>
          </a:prstGeom>
          <a:solidFill>
            <a:srgbClr val="6600FF"/>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u="sng">
                <a:effectLst>
                  <a:outerShdw blurRad="38100" dist="38100" dir="2700000" algn="tl">
                    <a:srgbClr val="000000"/>
                  </a:outerShdw>
                </a:effectLst>
                <a:latin typeface="Times New Roman" pitchFamily="18" charset="0"/>
              </a:rPr>
              <a:t>书号</a:t>
            </a:r>
          </a:p>
        </p:txBody>
      </p:sp>
      <p:sp>
        <p:nvSpPr>
          <p:cNvPr id="68" name="AutoShape 20">
            <a:extLst>
              <a:ext uri="{FF2B5EF4-FFF2-40B4-BE49-F238E27FC236}">
                <a16:creationId xmlns:a16="http://schemas.microsoft.com/office/drawing/2014/main" id="{8818B7EB-FD8D-4C71-9E51-1F10C3A1F511}"/>
              </a:ext>
            </a:extLst>
          </p:cNvPr>
          <p:cNvSpPr>
            <a:spLocks noChangeArrowheads="1"/>
          </p:cNvSpPr>
          <p:nvPr/>
        </p:nvSpPr>
        <p:spPr bwMode="auto">
          <a:xfrm>
            <a:off x="8067872" y="5466919"/>
            <a:ext cx="685800" cy="436562"/>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书名</a:t>
            </a:r>
          </a:p>
        </p:txBody>
      </p:sp>
      <p:sp>
        <p:nvSpPr>
          <p:cNvPr id="69" name="AutoShape 21">
            <a:extLst>
              <a:ext uri="{FF2B5EF4-FFF2-40B4-BE49-F238E27FC236}">
                <a16:creationId xmlns:a16="http://schemas.microsoft.com/office/drawing/2014/main" id="{550CAA02-66C6-4DAA-AE6F-B99675B1C6B1}"/>
              </a:ext>
            </a:extLst>
          </p:cNvPr>
          <p:cNvSpPr>
            <a:spLocks noChangeArrowheads="1"/>
          </p:cNvSpPr>
          <p:nvPr/>
        </p:nvSpPr>
        <p:spPr bwMode="auto">
          <a:xfrm>
            <a:off x="8831461" y="5466919"/>
            <a:ext cx="936625" cy="436562"/>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出版社</a:t>
            </a:r>
          </a:p>
        </p:txBody>
      </p:sp>
      <p:sp>
        <p:nvSpPr>
          <p:cNvPr id="70" name="AutoShape 22">
            <a:extLst>
              <a:ext uri="{FF2B5EF4-FFF2-40B4-BE49-F238E27FC236}">
                <a16:creationId xmlns:a16="http://schemas.microsoft.com/office/drawing/2014/main" id="{2736F519-4137-46CF-A830-716016F0E5F8}"/>
              </a:ext>
            </a:extLst>
          </p:cNvPr>
          <p:cNvSpPr>
            <a:spLocks noChangeArrowheads="1"/>
          </p:cNvSpPr>
          <p:nvPr/>
        </p:nvSpPr>
        <p:spPr bwMode="auto">
          <a:xfrm>
            <a:off x="9841110" y="5466919"/>
            <a:ext cx="684212" cy="436562"/>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主编</a:t>
            </a:r>
          </a:p>
        </p:txBody>
      </p:sp>
      <p:cxnSp>
        <p:nvCxnSpPr>
          <p:cNvPr id="71" name="AutoShape 23">
            <a:extLst>
              <a:ext uri="{FF2B5EF4-FFF2-40B4-BE49-F238E27FC236}">
                <a16:creationId xmlns:a16="http://schemas.microsoft.com/office/drawing/2014/main" id="{8E386381-D6A5-446C-B35B-8AB514EC8CE1}"/>
              </a:ext>
            </a:extLst>
          </p:cNvPr>
          <p:cNvCxnSpPr>
            <a:cxnSpLocks noChangeShapeType="1"/>
            <a:stCxn id="61" idx="2"/>
            <a:endCxn id="62" idx="0"/>
          </p:cNvCxnSpPr>
          <p:nvPr/>
        </p:nvCxnSpPr>
        <p:spPr bwMode="auto">
          <a:xfrm flipH="1">
            <a:off x="2443361" y="5036707"/>
            <a:ext cx="1176337" cy="42862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72" name="AutoShape 24">
            <a:extLst>
              <a:ext uri="{FF2B5EF4-FFF2-40B4-BE49-F238E27FC236}">
                <a16:creationId xmlns:a16="http://schemas.microsoft.com/office/drawing/2014/main" id="{5C869062-78C6-4EE1-A35A-2569B4601250}"/>
              </a:ext>
            </a:extLst>
          </p:cNvPr>
          <p:cNvCxnSpPr>
            <a:cxnSpLocks noChangeShapeType="1"/>
            <a:stCxn id="61" idx="2"/>
            <a:endCxn id="63" idx="0"/>
          </p:cNvCxnSpPr>
          <p:nvPr/>
        </p:nvCxnSpPr>
        <p:spPr bwMode="auto">
          <a:xfrm flipH="1">
            <a:off x="3314897" y="5036707"/>
            <a:ext cx="304800" cy="42862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73" name="AutoShape 25">
            <a:extLst>
              <a:ext uri="{FF2B5EF4-FFF2-40B4-BE49-F238E27FC236}">
                <a16:creationId xmlns:a16="http://schemas.microsoft.com/office/drawing/2014/main" id="{53A19E27-F7F3-46C4-8D88-514F4CB1FABC}"/>
              </a:ext>
            </a:extLst>
          </p:cNvPr>
          <p:cNvCxnSpPr>
            <a:cxnSpLocks noChangeShapeType="1"/>
            <a:stCxn id="61" idx="2"/>
            <a:endCxn id="64" idx="0"/>
          </p:cNvCxnSpPr>
          <p:nvPr/>
        </p:nvCxnSpPr>
        <p:spPr bwMode="auto">
          <a:xfrm>
            <a:off x="3619697" y="5036707"/>
            <a:ext cx="457200" cy="42862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74" name="AutoShape 26">
            <a:extLst>
              <a:ext uri="{FF2B5EF4-FFF2-40B4-BE49-F238E27FC236}">
                <a16:creationId xmlns:a16="http://schemas.microsoft.com/office/drawing/2014/main" id="{8951FB11-14CA-49C0-8253-942DF26E1F1F}"/>
              </a:ext>
            </a:extLst>
          </p:cNvPr>
          <p:cNvCxnSpPr>
            <a:cxnSpLocks noChangeShapeType="1"/>
            <a:stCxn id="61" idx="2"/>
            <a:endCxn id="65" idx="0"/>
          </p:cNvCxnSpPr>
          <p:nvPr/>
        </p:nvCxnSpPr>
        <p:spPr bwMode="auto">
          <a:xfrm>
            <a:off x="3619698" y="5036707"/>
            <a:ext cx="1216025" cy="42862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75" name="AutoShape 27">
            <a:extLst>
              <a:ext uri="{FF2B5EF4-FFF2-40B4-BE49-F238E27FC236}">
                <a16:creationId xmlns:a16="http://schemas.microsoft.com/office/drawing/2014/main" id="{ECCC5E5B-BB89-458A-B5B3-A3923DC94CB9}"/>
              </a:ext>
            </a:extLst>
          </p:cNvPr>
          <p:cNvCxnSpPr>
            <a:cxnSpLocks noChangeShapeType="1"/>
            <a:stCxn id="66" idx="2"/>
            <a:endCxn id="67" idx="0"/>
          </p:cNvCxnSpPr>
          <p:nvPr/>
        </p:nvCxnSpPr>
        <p:spPr bwMode="auto">
          <a:xfrm flipH="1">
            <a:off x="7688460" y="5036706"/>
            <a:ext cx="1217612" cy="45720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76" name="AutoShape 28">
            <a:extLst>
              <a:ext uri="{FF2B5EF4-FFF2-40B4-BE49-F238E27FC236}">
                <a16:creationId xmlns:a16="http://schemas.microsoft.com/office/drawing/2014/main" id="{C63C98C5-C5DB-4F49-8EED-7042EAC2D2E3}"/>
              </a:ext>
            </a:extLst>
          </p:cNvPr>
          <p:cNvCxnSpPr>
            <a:cxnSpLocks noChangeShapeType="1"/>
            <a:stCxn id="66" idx="2"/>
            <a:endCxn id="68" idx="0"/>
          </p:cNvCxnSpPr>
          <p:nvPr/>
        </p:nvCxnSpPr>
        <p:spPr bwMode="auto">
          <a:xfrm flipH="1">
            <a:off x="8410772" y="5036707"/>
            <a:ext cx="495300" cy="430213"/>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77" name="AutoShape 29">
            <a:extLst>
              <a:ext uri="{FF2B5EF4-FFF2-40B4-BE49-F238E27FC236}">
                <a16:creationId xmlns:a16="http://schemas.microsoft.com/office/drawing/2014/main" id="{82C904D9-D77F-4077-806D-D50F75DCE187}"/>
              </a:ext>
            </a:extLst>
          </p:cNvPr>
          <p:cNvCxnSpPr>
            <a:cxnSpLocks noChangeShapeType="1"/>
            <a:stCxn id="66" idx="2"/>
            <a:endCxn id="69" idx="0"/>
          </p:cNvCxnSpPr>
          <p:nvPr/>
        </p:nvCxnSpPr>
        <p:spPr bwMode="auto">
          <a:xfrm>
            <a:off x="8906072" y="5036707"/>
            <a:ext cx="393700" cy="430213"/>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78" name="AutoShape 30">
            <a:extLst>
              <a:ext uri="{FF2B5EF4-FFF2-40B4-BE49-F238E27FC236}">
                <a16:creationId xmlns:a16="http://schemas.microsoft.com/office/drawing/2014/main" id="{29EB805F-D12A-4F15-8D95-B1D923AF5591}"/>
              </a:ext>
            </a:extLst>
          </p:cNvPr>
          <p:cNvCxnSpPr>
            <a:cxnSpLocks noChangeShapeType="1"/>
            <a:stCxn id="66" idx="2"/>
            <a:endCxn id="70" idx="0"/>
          </p:cNvCxnSpPr>
          <p:nvPr/>
        </p:nvCxnSpPr>
        <p:spPr bwMode="auto">
          <a:xfrm>
            <a:off x="8906072" y="5036707"/>
            <a:ext cx="1277938" cy="430213"/>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79" name="AutoShape 31">
            <a:extLst>
              <a:ext uri="{FF2B5EF4-FFF2-40B4-BE49-F238E27FC236}">
                <a16:creationId xmlns:a16="http://schemas.microsoft.com/office/drawing/2014/main" id="{10624777-3F39-4124-9602-706D46C47859}"/>
              </a:ext>
            </a:extLst>
          </p:cNvPr>
          <p:cNvSpPr>
            <a:spLocks noChangeArrowheads="1"/>
          </p:cNvSpPr>
          <p:nvPr/>
        </p:nvSpPr>
        <p:spPr bwMode="auto">
          <a:xfrm>
            <a:off x="5405635" y="4498545"/>
            <a:ext cx="1217612" cy="612775"/>
          </a:xfrm>
          <a:prstGeom prst="diamond">
            <a:avLst/>
          </a:prstGeom>
          <a:solidFill>
            <a:schemeClr val="bg1"/>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讲授</a:t>
            </a:r>
          </a:p>
        </p:txBody>
      </p:sp>
      <p:cxnSp>
        <p:nvCxnSpPr>
          <p:cNvPr id="80" name="AutoShape 32">
            <a:extLst>
              <a:ext uri="{FF2B5EF4-FFF2-40B4-BE49-F238E27FC236}">
                <a16:creationId xmlns:a16="http://schemas.microsoft.com/office/drawing/2014/main" id="{37987234-A6F2-4D80-AC12-FC76ADE0B3EC}"/>
              </a:ext>
            </a:extLst>
          </p:cNvPr>
          <p:cNvCxnSpPr>
            <a:cxnSpLocks noChangeShapeType="1"/>
            <a:stCxn id="55" idx="2"/>
            <a:endCxn id="79" idx="0"/>
          </p:cNvCxnSpPr>
          <p:nvPr/>
        </p:nvCxnSpPr>
        <p:spPr bwMode="auto">
          <a:xfrm>
            <a:off x="6013647" y="4198506"/>
            <a:ext cx="1588" cy="300038"/>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81" name="AutoShape 33">
            <a:extLst>
              <a:ext uri="{FF2B5EF4-FFF2-40B4-BE49-F238E27FC236}">
                <a16:creationId xmlns:a16="http://schemas.microsoft.com/office/drawing/2014/main" id="{F36A840B-8C4E-4879-B5B9-DBCDB417F8FD}"/>
              </a:ext>
            </a:extLst>
          </p:cNvPr>
          <p:cNvCxnSpPr>
            <a:cxnSpLocks noChangeShapeType="1"/>
            <a:stCxn id="79" idx="1"/>
            <a:endCxn id="61" idx="3"/>
          </p:cNvCxnSpPr>
          <p:nvPr/>
        </p:nvCxnSpPr>
        <p:spPr bwMode="auto">
          <a:xfrm flipH="1" flipV="1">
            <a:off x="3961011" y="4803345"/>
            <a:ext cx="1444625" cy="1587"/>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82" name="AutoShape 34">
            <a:extLst>
              <a:ext uri="{FF2B5EF4-FFF2-40B4-BE49-F238E27FC236}">
                <a16:creationId xmlns:a16="http://schemas.microsoft.com/office/drawing/2014/main" id="{309E5B4A-31A2-4038-B4A2-276FD26F2538}"/>
              </a:ext>
            </a:extLst>
          </p:cNvPr>
          <p:cNvCxnSpPr>
            <a:cxnSpLocks noChangeShapeType="1"/>
            <a:stCxn id="79" idx="3"/>
            <a:endCxn id="66" idx="1"/>
          </p:cNvCxnSpPr>
          <p:nvPr/>
        </p:nvCxnSpPr>
        <p:spPr bwMode="auto">
          <a:xfrm flipV="1">
            <a:off x="6623248" y="4803345"/>
            <a:ext cx="1749425" cy="1587"/>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83" name="Rectangle 35">
            <a:extLst>
              <a:ext uri="{FF2B5EF4-FFF2-40B4-BE49-F238E27FC236}">
                <a16:creationId xmlns:a16="http://schemas.microsoft.com/office/drawing/2014/main" id="{FCF61377-6047-480C-AAF4-A15D28EA27B8}"/>
              </a:ext>
            </a:extLst>
          </p:cNvPr>
          <p:cNvSpPr>
            <a:spLocks noChangeArrowheads="1"/>
          </p:cNvSpPr>
          <p:nvPr/>
        </p:nvSpPr>
        <p:spPr bwMode="auto">
          <a:xfrm>
            <a:off x="5715197" y="4135007"/>
            <a:ext cx="236538" cy="366713"/>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m</a:t>
            </a:r>
            <a:endParaRPr lang="zh-CN" altLang="en-US" sz="2400">
              <a:effectLst>
                <a:outerShdw blurRad="38100" dist="38100" dir="2700000" algn="tl">
                  <a:srgbClr val="000000"/>
                </a:outerShdw>
              </a:effectLst>
              <a:latin typeface="Times New Roman" pitchFamily="18" charset="0"/>
            </a:endParaRPr>
          </a:p>
        </p:txBody>
      </p:sp>
      <p:sp>
        <p:nvSpPr>
          <p:cNvPr id="84" name="Rectangle 36">
            <a:extLst>
              <a:ext uri="{FF2B5EF4-FFF2-40B4-BE49-F238E27FC236}">
                <a16:creationId xmlns:a16="http://schemas.microsoft.com/office/drawing/2014/main" id="{16BA966B-42E4-462E-863E-53A3380A7FAA}"/>
              </a:ext>
            </a:extLst>
          </p:cNvPr>
          <p:cNvSpPr>
            <a:spLocks noChangeArrowheads="1"/>
          </p:cNvSpPr>
          <p:nvPr/>
        </p:nvSpPr>
        <p:spPr bwMode="auto">
          <a:xfrm>
            <a:off x="4582566" y="4389006"/>
            <a:ext cx="153888" cy="369332"/>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n</a:t>
            </a:r>
            <a:endParaRPr lang="zh-CN" altLang="en-US" sz="2400">
              <a:effectLst>
                <a:outerShdw blurRad="38100" dist="38100" dir="2700000" algn="tl">
                  <a:srgbClr val="000000"/>
                </a:outerShdw>
              </a:effectLst>
              <a:latin typeface="Times New Roman" pitchFamily="18" charset="0"/>
            </a:endParaRPr>
          </a:p>
        </p:txBody>
      </p:sp>
      <p:sp>
        <p:nvSpPr>
          <p:cNvPr id="85" name="Rectangle 37">
            <a:extLst>
              <a:ext uri="{FF2B5EF4-FFF2-40B4-BE49-F238E27FC236}">
                <a16:creationId xmlns:a16="http://schemas.microsoft.com/office/drawing/2014/main" id="{C96E4C7B-B790-4FE9-994C-F1B740A5C82E}"/>
              </a:ext>
            </a:extLst>
          </p:cNvPr>
          <p:cNvSpPr>
            <a:spLocks noChangeArrowheads="1"/>
          </p:cNvSpPr>
          <p:nvPr/>
        </p:nvSpPr>
        <p:spPr bwMode="auto">
          <a:xfrm>
            <a:off x="7679778" y="4389006"/>
            <a:ext cx="153888" cy="369332"/>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Times New Roman" pitchFamily="18" charset="0"/>
              </a:rPr>
              <a:t>p</a:t>
            </a:r>
            <a:endParaRPr lang="zh-CN" altLang="en-US" sz="2400">
              <a:effectLst>
                <a:outerShdw blurRad="38100" dist="38100" dir="2700000" algn="tl">
                  <a:srgbClr val="000000"/>
                </a:outerShdw>
              </a:effectLst>
              <a:latin typeface="Times New Roman" pitchFamily="18" charset="0"/>
            </a:endParaRPr>
          </a:p>
        </p:txBody>
      </p:sp>
      <p:sp>
        <p:nvSpPr>
          <p:cNvPr id="86" name="AutoShape 38">
            <a:extLst>
              <a:ext uri="{FF2B5EF4-FFF2-40B4-BE49-F238E27FC236}">
                <a16:creationId xmlns:a16="http://schemas.microsoft.com/office/drawing/2014/main" id="{10814D5E-4773-4B1A-A0C0-0458124F8B74}"/>
              </a:ext>
            </a:extLst>
          </p:cNvPr>
          <p:cNvSpPr>
            <a:spLocks noChangeArrowheads="1"/>
          </p:cNvSpPr>
          <p:nvPr/>
        </p:nvSpPr>
        <p:spPr bwMode="auto">
          <a:xfrm>
            <a:off x="5672335" y="5465332"/>
            <a:ext cx="684212" cy="436563"/>
          </a:xfrm>
          <a:prstGeom prst="roundRect">
            <a:avLst>
              <a:gd name="adj" fmla="val 50000"/>
            </a:avLst>
          </a:prstGeom>
          <a:solidFill>
            <a:schemeClr val="bg1"/>
          </a:solidFill>
          <a:ln w="1270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课时</a:t>
            </a:r>
          </a:p>
        </p:txBody>
      </p:sp>
      <p:cxnSp>
        <p:nvCxnSpPr>
          <p:cNvPr id="87" name="AutoShape 39">
            <a:extLst>
              <a:ext uri="{FF2B5EF4-FFF2-40B4-BE49-F238E27FC236}">
                <a16:creationId xmlns:a16="http://schemas.microsoft.com/office/drawing/2014/main" id="{784E7715-5597-431B-A656-69D69C36E82A}"/>
              </a:ext>
            </a:extLst>
          </p:cNvPr>
          <p:cNvCxnSpPr>
            <a:cxnSpLocks noChangeShapeType="1"/>
            <a:stCxn id="79" idx="2"/>
            <a:endCxn id="86" idx="0"/>
          </p:cNvCxnSpPr>
          <p:nvPr/>
        </p:nvCxnSpPr>
        <p:spPr bwMode="auto">
          <a:xfrm>
            <a:off x="6015235" y="5111319"/>
            <a:ext cx="0" cy="354012"/>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875339895"/>
      </p:ext>
    </p:extLst>
  </p:cSld>
  <p:clrMapOvr>
    <a:masterClrMapping/>
  </p:clrMapOvr>
  <p:transition spd="med">
    <p:random/>
    <p:sndAc>
      <p:stSnd>
        <p:snd r:embed="rId2" name="arrow.wav"/>
      </p:stSnd>
    </p:sndAc>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CD6CA36-D8F3-4DB5-8823-CD342F9981BE}"/>
              </a:ext>
            </a:extLst>
          </p:cNvPr>
          <p:cNvSpPr txBox="1">
            <a:spLocks noChangeArrowheads="1"/>
          </p:cNvSpPr>
          <p:nvPr/>
        </p:nvSpPr>
        <p:spPr>
          <a:xfrm>
            <a:off x="741961" y="883552"/>
            <a:ext cx="8964612" cy="584775"/>
          </a:xfrm>
          <a:prstGeom prst="rect">
            <a:avLst/>
          </a:prstGeom>
        </p:spPr>
        <p:txBody>
          <a:bodyPr wrap="square"/>
          <a:lstStyle>
            <a:lvl1pPr algn="l" rtl="0" eaLnBrk="0" fontAlgn="base" hangingPunct="0">
              <a:spcBef>
                <a:spcPct val="0"/>
              </a:spcBef>
              <a:spcAft>
                <a:spcPct val="0"/>
              </a:spcAft>
              <a:defRPr sz="3200">
                <a:solidFill>
                  <a:srgbClr val="FF9900"/>
                </a:solidFill>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eaLnBrk="1" hangingPunct="1">
              <a:buSzTx/>
              <a:buFont typeface="Wingdings" pitchFamily="2" charset="2"/>
              <a:buNone/>
            </a:pPr>
            <a:r>
              <a:rPr kumimoji="0" lang="zh-CN" altLang="zh-CN" kern="0" dirty="0">
                <a:effectLst/>
              </a:rPr>
              <a:t>第二步：数据模型的优化</a:t>
            </a:r>
            <a:endParaRPr kumimoji="0" lang="en-US" altLang="zh-CN" kern="0" dirty="0">
              <a:effectLst/>
            </a:endParaRPr>
          </a:p>
        </p:txBody>
      </p:sp>
      <p:sp>
        <p:nvSpPr>
          <p:cNvPr id="5" name="Rectangle 4">
            <a:extLst>
              <a:ext uri="{FF2B5EF4-FFF2-40B4-BE49-F238E27FC236}">
                <a16:creationId xmlns:a16="http://schemas.microsoft.com/office/drawing/2014/main" id="{E8257CC9-BEB9-4661-90AD-CFFDFF2D3E45}"/>
              </a:ext>
            </a:extLst>
          </p:cNvPr>
          <p:cNvSpPr txBox="1">
            <a:spLocks noChangeArrowheads="1"/>
          </p:cNvSpPr>
          <p:nvPr/>
        </p:nvSpPr>
        <p:spPr>
          <a:xfrm>
            <a:off x="371029" y="1678276"/>
            <a:ext cx="8713787" cy="1152525"/>
          </a:xfrm>
          <a:prstGeom prst="rect">
            <a:avLst/>
          </a:prstGeom>
        </p:spPr>
        <p:txBody>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defRPr/>
            </a:pPr>
            <a:r>
              <a:rPr kumimoji="0" lang="zh-CN" altLang="en-US" sz="2800" kern="0" dirty="0"/>
              <a:t>规范化处理 </a:t>
            </a:r>
            <a:r>
              <a:rPr kumimoji="0" lang="en-US" altLang="zh-CN" sz="2800" kern="0" dirty="0"/>
              <a:t>—— </a:t>
            </a:r>
            <a:r>
              <a:rPr kumimoji="0" lang="zh-CN" altLang="en-US" sz="2800" kern="0" dirty="0"/>
              <a:t>并非规范化程度越高越好！</a:t>
            </a:r>
            <a:endParaRPr kumimoji="0" lang="en-US" altLang="zh-CN" sz="2800" kern="0" dirty="0"/>
          </a:p>
          <a:p>
            <a:pPr eaLnBrk="1" hangingPunct="1">
              <a:defRPr/>
            </a:pPr>
            <a:r>
              <a:rPr kumimoji="0" lang="zh-CN" altLang="en-US" sz="2800" kern="0" dirty="0"/>
              <a:t>模式评价 </a:t>
            </a:r>
            <a:r>
              <a:rPr kumimoji="0" lang="en-US" altLang="zh-CN" sz="2800" kern="0" dirty="0"/>
              <a:t>—— </a:t>
            </a:r>
            <a:r>
              <a:rPr kumimoji="0" lang="zh-CN" altLang="en-US" sz="2800" kern="0" dirty="0"/>
              <a:t>功能、性能</a:t>
            </a:r>
            <a:endParaRPr kumimoji="0" lang="en-US" altLang="zh-CN" sz="2800" kern="0" dirty="0"/>
          </a:p>
          <a:p>
            <a:pPr eaLnBrk="1" hangingPunct="1">
              <a:defRPr/>
            </a:pPr>
            <a:r>
              <a:rPr kumimoji="0" lang="zh-CN" altLang="en-US" sz="2800" kern="0" dirty="0"/>
              <a:t>充分利用视图 </a:t>
            </a:r>
            <a:r>
              <a:rPr kumimoji="0" lang="en-US" altLang="zh-CN" sz="2800" kern="0" dirty="0"/>
              <a:t>—— </a:t>
            </a:r>
            <a:r>
              <a:rPr kumimoji="0" lang="zh-CN" altLang="en-US" sz="2800" kern="0" dirty="0"/>
              <a:t>外模式设计</a:t>
            </a:r>
          </a:p>
          <a:p>
            <a:pPr eaLnBrk="1" hangingPunct="1">
              <a:defRPr/>
            </a:pPr>
            <a:r>
              <a:rPr kumimoji="0" lang="zh-CN" altLang="en-US" sz="2800" kern="0" dirty="0"/>
              <a:t>快照技术等其它优化技术。</a:t>
            </a:r>
          </a:p>
        </p:txBody>
      </p:sp>
      <p:sp>
        <p:nvSpPr>
          <p:cNvPr id="6" name="Rectangle 5">
            <a:extLst>
              <a:ext uri="{FF2B5EF4-FFF2-40B4-BE49-F238E27FC236}">
                <a16:creationId xmlns:a16="http://schemas.microsoft.com/office/drawing/2014/main" id="{5CA44D23-CF54-4AB3-B7D9-EF169FF487EC}"/>
              </a:ext>
            </a:extLst>
          </p:cNvPr>
          <p:cNvSpPr>
            <a:spLocks noChangeArrowheads="1"/>
          </p:cNvSpPr>
          <p:nvPr/>
        </p:nvSpPr>
        <p:spPr bwMode="auto">
          <a:xfrm>
            <a:off x="5951984" y="4401915"/>
            <a:ext cx="6048672" cy="182880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lIns="72000" tIns="72000" rIns="0" bIns="0"/>
          <a:lstStyle/>
          <a:p>
            <a:pPr algn="just">
              <a:spcAft>
                <a:spcPts val="600"/>
              </a:spcAft>
              <a:buSzTx/>
              <a:buFontTx/>
              <a:buChar char="•"/>
            </a:pPr>
            <a:r>
              <a:rPr lang="zh-CN" altLang="en-US" sz="2800" dirty="0">
                <a:solidFill>
                  <a:schemeClr val="folHlink"/>
                </a:solidFill>
                <a:effectLst/>
                <a:latin typeface="微软雅黑" pitchFamily="34" charset="-122"/>
                <a:ea typeface="微软雅黑" pitchFamily="34" charset="-122"/>
              </a:rPr>
              <a:t> 数据的正确与完整，符合客观实际；</a:t>
            </a:r>
          </a:p>
          <a:p>
            <a:pPr algn="just">
              <a:spcAft>
                <a:spcPts val="600"/>
              </a:spcAft>
              <a:buSzTx/>
              <a:buFontTx/>
              <a:buChar char="•"/>
            </a:pPr>
            <a:r>
              <a:rPr lang="zh-CN" altLang="en-US" sz="2800" dirty="0">
                <a:solidFill>
                  <a:schemeClr val="folHlink"/>
                </a:solidFill>
                <a:effectLst/>
                <a:latin typeface="微软雅黑" pitchFamily="34" charset="-122"/>
                <a:ea typeface="微软雅黑" pitchFamily="34" charset="-122"/>
              </a:rPr>
              <a:t> 尽可能小的数据冗余；</a:t>
            </a:r>
          </a:p>
          <a:p>
            <a:pPr algn="just">
              <a:spcAft>
                <a:spcPts val="600"/>
              </a:spcAft>
              <a:buSzTx/>
              <a:buFontTx/>
              <a:buChar char="•"/>
            </a:pPr>
            <a:r>
              <a:rPr lang="zh-CN" altLang="en-US" sz="2800" dirty="0">
                <a:solidFill>
                  <a:schemeClr val="folHlink"/>
                </a:solidFill>
                <a:effectLst/>
                <a:latin typeface="微软雅黑" pitchFamily="34" charset="-122"/>
                <a:ea typeface="微软雅黑" pitchFamily="34" charset="-122"/>
              </a:rPr>
              <a:t> 操作方便；</a:t>
            </a:r>
          </a:p>
          <a:p>
            <a:pPr algn="just">
              <a:spcAft>
                <a:spcPts val="600"/>
              </a:spcAft>
              <a:buSzTx/>
              <a:buFontTx/>
              <a:buChar char="•"/>
            </a:pPr>
            <a:r>
              <a:rPr lang="zh-CN" altLang="en-US" sz="2800" dirty="0">
                <a:solidFill>
                  <a:schemeClr val="folHlink"/>
                </a:solidFill>
                <a:effectLst/>
                <a:latin typeface="微软雅黑" pitchFamily="34" charset="-122"/>
                <a:ea typeface="微软雅黑" pitchFamily="34" charset="-122"/>
              </a:rPr>
              <a:t> 尽可能高的效率。</a:t>
            </a:r>
          </a:p>
        </p:txBody>
      </p:sp>
      <p:sp>
        <p:nvSpPr>
          <p:cNvPr id="7" name="Rectangle 6">
            <a:extLst>
              <a:ext uri="{FF2B5EF4-FFF2-40B4-BE49-F238E27FC236}">
                <a16:creationId xmlns:a16="http://schemas.microsoft.com/office/drawing/2014/main" id="{D829070F-9CD0-4C45-BE6D-F7C74197A7B1}"/>
              </a:ext>
            </a:extLst>
          </p:cNvPr>
          <p:cNvSpPr>
            <a:spLocks noChangeArrowheads="1"/>
          </p:cNvSpPr>
          <p:nvPr/>
        </p:nvSpPr>
        <p:spPr bwMode="auto">
          <a:xfrm>
            <a:off x="6240016" y="3860614"/>
            <a:ext cx="2844800" cy="492443"/>
          </a:xfrm>
          <a:prstGeom prst="rect">
            <a:avLst/>
          </a:prstGeom>
          <a:noFill/>
          <a:ln w="12700" cap="sq">
            <a:noFill/>
            <a:miter lim="800000"/>
            <a:headEnd/>
            <a:tailEnd/>
          </a:ln>
          <a:effectLst/>
        </p:spPr>
        <p:txBody>
          <a:bodyPr wrap="square" lIns="0" tIns="0" rIns="0" bIns="0">
            <a:spAutoFit/>
          </a:bodyPr>
          <a:lstStyle/>
          <a:p>
            <a:pPr>
              <a:spcAft>
                <a:spcPct val="0"/>
              </a:spcAft>
              <a:buSzTx/>
              <a:buFontTx/>
              <a:buNone/>
              <a:defRPr/>
            </a:pPr>
            <a:r>
              <a:rPr lang="zh-CN" altLang="en-US" dirty="0">
                <a:solidFill>
                  <a:srgbClr val="FFFF00"/>
                </a:solidFill>
                <a:effectLst>
                  <a:outerShdw blurRad="38100" dist="38100" dir="2700000" algn="tl">
                    <a:srgbClr val="000000"/>
                  </a:outerShdw>
                </a:effectLst>
                <a:latin typeface="微软雅黑" pitchFamily="34" charset="-122"/>
                <a:ea typeface="微软雅黑" pitchFamily="34" charset="-122"/>
              </a:rPr>
              <a:t>优化的主要原则：</a:t>
            </a:r>
          </a:p>
        </p:txBody>
      </p:sp>
      <p:pic>
        <p:nvPicPr>
          <p:cNvPr id="1032" name="Picture 8" descr="查看源图像">
            <a:extLst>
              <a:ext uri="{FF2B5EF4-FFF2-40B4-BE49-F238E27FC236}">
                <a16:creationId xmlns:a16="http://schemas.microsoft.com/office/drawing/2014/main" id="{09DBA398-486E-4104-94D8-4F6EEC6EA66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76320" y="1457417"/>
            <a:ext cx="1828801" cy="182880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查看源图像">
            <a:extLst>
              <a:ext uri="{FF2B5EF4-FFF2-40B4-BE49-F238E27FC236}">
                <a16:creationId xmlns:a16="http://schemas.microsoft.com/office/drawing/2014/main" id="{BEBBA4C0-3671-4C85-B3B7-850B294E3D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7448" y="4509120"/>
            <a:ext cx="3576320" cy="1828800"/>
          </a:xfrm>
          <a:prstGeom prst="rect">
            <a:avLst/>
          </a:prstGeom>
          <a:noFill/>
          <a:extLst>
            <a:ext uri="{909E8E84-426E-40DD-AFC4-6F175D3DCCD1}">
              <a14:hiddenFill xmlns:a14="http://schemas.microsoft.com/office/drawing/2010/main">
                <a:solidFill>
                  <a:srgbClr val="FFFFFF"/>
                </a:solidFill>
              </a14:hiddenFill>
            </a:ext>
          </a:extLst>
        </p:spPr>
      </p:pic>
      <p:sp>
        <p:nvSpPr>
          <p:cNvPr id="9" name="Text Box 2">
            <a:extLst>
              <a:ext uri="{FF2B5EF4-FFF2-40B4-BE49-F238E27FC236}">
                <a16:creationId xmlns:a16="http://schemas.microsoft.com/office/drawing/2014/main" id="{E0F87F5C-1030-4E84-8DA9-B1039B8CD22F}"/>
              </a:ext>
            </a:extLst>
          </p:cNvPr>
          <p:cNvSpPr txBox="1">
            <a:spLocks noChangeArrowheads="1"/>
          </p:cNvSpPr>
          <p:nvPr/>
        </p:nvSpPr>
        <p:spPr bwMode="auto">
          <a:xfrm>
            <a:off x="740001" y="10592"/>
            <a:ext cx="4762055" cy="760959"/>
          </a:xfrm>
          <a:prstGeom prst="rect">
            <a:avLst/>
          </a:prstGeom>
          <a:noFill/>
          <a:ln w="12700" cap="sq">
            <a:noFill/>
            <a:miter lim="800000"/>
            <a:headEnd/>
            <a:tailEnd/>
          </a:ln>
          <a:effectLst>
            <a:outerShdw dist="35921" dir="2700000" algn="ctr" rotWithShape="0">
              <a:srgbClr val="000514"/>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vert="horz" wrap="none" lIns="72000" tIns="72000" rIns="72000" bIns="72000" numCol="1" rtlCol="0" anchor="ctr" anchorCtr="0" compatLnSpc="1">
            <a:prstTxWarp prst="textNoShape">
              <a:avLst/>
            </a:prstTxWarp>
            <a:spAutoFit/>
          </a:bodyPr>
          <a:lstStyle>
            <a:defPPr>
              <a:defRPr lang="en-US"/>
            </a:defPPr>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a:t>逻辑结构设计的流程</a:t>
            </a:r>
          </a:p>
        </p:txBody>
      </p:sp>
    </p:spTree>
    <p:extLst>
      <p:ext uri="{BB962C8B-B14F-4D97-AF65-F5344CB8AC3E}">
        <p14:creationId xmlns:p14="http://schemas.microsoft.com/office/powerpoint/2010/main" val="1222641048"/>
      </p:ext>
    </p:extLst>
  </p:cSld>
  <p:clrMapOvr>
    <a:masterClrMapping/>
  </p:clrMapOvr>
  <p:transition spd="med">
    <p:random/>
    <p:sndAc>
      <p:stSnd>
        <p:snd r:embed="rId2" name="arrow.wav"/>
      </p:stSnd>
    </p:sndAc>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6">
            <a:extLst>
              <a:ext uri="{FF2B5EF4-FFF2-40B4-BE49-F238E27FC236}">
                <a16:creationId xmlns:a16="http://schemas.microsoft.com/office/drawing/2014/main" id="{0C86FFD6-D07A-4A74-B575-9BF284AED435}"/>
              </a:ext>
            </a:extLst>
          </p:cNvPr>
          <p:cNvSpPr>
            <a:spLocks noChangeArrowheads="1"/>
          </p:cNvSpPr>
          <p:nvPr/>
        </p:nvSpPr>
        <p:spPr bwMode="auto">
          <a:xfrm>
            <a:off x="783189" y="1941910"/>
            <a:ext cx="10585176" cy="3071265"/>
          </a:xfrm>
          <a:prstGeom prst="roundRect">
            <a:avLst/>
          </a:prstGeom>
          <a:noFill/>
          <a:ln>
            <a:headEnd/>
            <a:tailEnd/>
          </a:ln>
        </p:spPr>
        <p:style>
          <a:lnRef idx="2">
            <a:schemeClr val="accent5"/>
          </a:lnRef>
          <a:fillRef idx="1">
            <a:schemeClr val="lt1"/>
          </a:fillRef>
          <a:effectRef idx="0">
            <a:schemeClr val="accent5"/>
          </a:effectRef>
          <a:fontRef idx="minor">
            <a:schemeClr val="dk1"/>
          </a:fontRef>
        </p:style>
        <p:txBody>
          <a:bodyPr lIns="72000" tIns="72000" rIns="72000" bIns="0"/>
          <a:lstStyle/>
          <a:p>
            <a:pPr>
              <a:spcAft>
                <a:spcPct val="0"/>
              </a:spcAft>
              <a:buSzTx/>
              <a:buFontTx/>
              <a:buNone/>
              <a:defRPr/>
            </a:pPr>
            <a:endParaRPr lang="zh-CN" altLang="en-US" sz="2800" dirty="0">
              <a:solidFill>
                <a:schemeClr val="bg2"/>
              </a:solidFill>
              <a:effectLst>
                <a:outerShdw blurRad="38100" dist="38100" dir="2700000" algn="tl">
                  <a:srgbClr val="C0C0C0"/>
                </a:outerShdw>
              </a:effectLst>
              <a:latin typeface="Times New Roman" pitchFamily="18" charset="0"/>
            </a:endParaRPr>
          </a:p>
        </p:txBody>
      </p:sp>
      <p:sp>
        <p:nvSpPr>
          <p:cNvPr id="9" name="Text Box 2">
            <a:extLst>
              <a:ext uri="{FF2B5EF4-FFF2-40B4-BE49-F238E27FC236}">
                <a16:creationId xmlns:a16="http://schemas.microsoft.com/office/drawing/2014/main" id="{E0F87F5C-1030-4E84-8DA9-B1039B8CD22F}"/>
              </a:ext>
            </a:extLst>
          </p:cNvPr>
          <p:cNvSpPr txBox="1">
            <a:spLocks noChangeArrowheads="1"/>
          </p:cNvSpPr>
          <p:nvPr/>
        </p:nvSpPr>
        <p:spPr bwMode="auto">
          <a:xfrm>
            <a:off x="740001" y="10592"/>
            <a:ext cx="4762055" cy="760959"/>
          </a:xfrm>
          <a:prstGeom prst="rect">
            <a:avLst/>
          </a:prstGeom>
          <a:noFill/>
          <a:ln w="12700" cap="sq">
            <a:noFill/>
            <a:miter lim="800000"/>
            <a:headEnd/>
            <a:tailEnd/>
          </a:ln>
          <a:effectLst>
            <a:outerShdw dist="35921" dir="2700000" algn="ctr" rotWithShape="0">
              <a:srgbClr val="000514"/>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vert="horz" wrap="none" lIns="72000" tIns="72000" rIns="72000" bIns="72000" numCol="1" rtlCol="0" anchor="ctr" anchorCtr="0" compatLnSpc="1">
            <a:prstTxWarp prst="textNoShape">
              <a:avLst/>
            </a:prstTxWarp>
            <a:spAutoFit/>
          </a:bodyPr>
          <a:lstStyle>
            <a:defPPr>
              <a:defRPr lang="en-US"/>
            </a:defPPr>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a:t>逻辑结构设计的流程</a:t>
            </a:r>
          </a:p>
        </p:txBody>
      </p:sp>
      <p:sp>
        <p:nvSpPr>
          <p:cNvPr id="11" name="Rectangle 4">
            <a:extLst>
              <a:ext uri="{FF2B5EF4-FFF2-40B4-BE49-F238E27FC236}">
                <a16:creationId xmlns:a16="http://schemas.microsoft.com/office/drawing/2014/main" id="{5497ACE6-4AF0-41CA-A77F-A942CB7F85BA}"/>
              </a:ext>
            </a:extLst>
          </p:cNvPr>
          <p:cNvSpPr>
            <a:spLocks noChangeArrowheads="1"/>
          </p:cNvSpPr>
          <p:nvPr/>
        </p:nvSpPr>
        <p:spPr bwMode="auto">
          <a:xfrm>
            <a:off x="2639616" y="2276872"/>
            <a:ext cx="7772400" cy="614363"/>
          </a:xfrm>
          <a:prstGeom prst="rect">
            <a:avLst/>
          </a:prstGeom>
          <a:noFill/>
          <a:ln w="12700" cap="sq" algn="ctr">
            <a:noFill/>
            <a:miter lim="800000"/>
            <a:headEnd/>
            <a:tailEnd/>
          </a:ln>
          <a:effectLst/>
        </p:spPr>
        <p:txBody>
          <a:bodyPr lIns="0" tIns="0" rIns="0" bIns="0"/>
          <a:lstStyle/>
          <a:p>
            <a:pPr>
              <a:spcAft>
                <a:spcPct val="0"/>
              </a:spcAft>
              <a:buSzTx/>
              <a:buFontTx/>
              <a:buNone/>
              <a:defRPr/>
            </a:pPr>
            <a:r>
              <a:rPr lang="zh-CN" altLang="en-US" sz="2800">
                <a:solidFill>
                  <a:srgbClr val="CCFFCC"/>
                </a:solidFill>
                <a:effectLst>
                  <a:outerShdw blurRad="38100" dist="38100" dir="2700000" algn="tl">
                    <a:srgbClr val="000000"/>
                  </a:outerShdw>
                </a:effectLst>
                <a:latin typeface="微软雅黑" pitchFamily="34" charset="-122"/>
                <a:ea typeface="微软雅黑" pitchFamily="34" charset="-122"/>
              </a:rPr>
              <a:t>销售记录(</a:t>
            </a:r>
            <a:r>
              <a:rPr lang="zh-CN" altLang="en-US" sz="2800" u="sng">
                <a:solidFill>
                  <a:srgbClr val="CCFFCC"/>
                </a:solidFill>
                <a:effectLst>
                  <a:outerShdw blurRad="38100" dist="38100" dir="2700000" algn="tl">
                    <a:srgbClr val="000000"/>
                  </a:outerShdw>
                </a:effectLst>
                <a:latin typeface="微软雅黑" pitchFamily="34" charset="-122"/>
                <a:ea typeface="微软雅黑" pitchFamily="34" charset="-122"/>
              </a:rPr>
              <a:t>发票号</a:t>
            </a:r>
            <a:r>
              <a:rPr lang="zh-CN" altLang="en-US" sz="2800">
                <a:solidFill>
                  <a:srgbClr val="CCFFCC"/>
                </a:solidFill>
                <a:effectLst>
                  <a:outerShdw blurRad="38100" dist="38100" dir="2700000" algn="tl">
                    <a:srgbClr val="000000"/>
                  </a:outerShdw>
                </a:effectLst>
                <a:latin typeface="微软雅黑" pitchFamily="34" charset="-122"/>
                <a:ea typeface="微软雅黑" pitchFamily="34" charset="-122"/>
              </a:rPr>
              <a:t>，品名，数量，单价，</a:t>
            </a:r>
            <a:r>
              <a:rPr lang="zh-CN" altLang="en-US" sz="2800">
                <a:solidFill>
                  <a:srgbClr val="00FF99"/>
                </a:solidFill>
                <a:effectLst>
                  <a:outerShdw blurRad="38100" dist="38100" dir="2700000" algn="tl">
                    <a:srgbClr val="000000"/>
                  </a:outerShdw>
                </a:effectLst>
                <a:latin typeface="微软雅黑" pitchFamily="34" charset="-122"/>
                <a:ea typeface="微软雅黑" pitchFamily="34" charset="-122"/>
              </a:rPr>
              <a:t>金额</a:t>
            </a:r>
            <a:r>
              <a:rPr lang="zh-CN" altLang="en-US" sz="2800">
                <a:solidFill>
                  <a:srgbClr val="CCFFCC"/>
                </a:solidFill>
                <a:effectLst>
                  <a:outerShdw blurRad="38100" dist="38100" dir="2700000" algn="tl">
                    <a:srgbClr val="000000"/>
                  </a:outerShdw>
                </a:effectLst>
                <a:latin typeface="微软雅黑" pitchFamily="34" charset="-122"/>
                <a:ea typeface="微软雅黑" pitchFamily="34" charset="-122"/>
              </a:rPr>
              <a:t>)</a:t>
            </a:r>
          </a:p>
        </p:txBody>
      </p:sp>
      <p:sp>
        <p:nvSpPr>
          <p:cNvPr id="12" name="Rectangle 5">
            <a:extLst>
              <a:ext uri="{FF2B5EF4-FFF2-40B4-BE49-F238E27FC236}">
                <a16:creationId xmlns:a16="http://schemas.microsoft.com/office/drawing/2014/main" id="{D3CF6658-E56F-421D-BC70-9F626817BA35}"/>
              </a:ext>
            </a:extLst>
          </p:cNvPr>
          <p:cNvSpPr>
            <a:spLocks noChangeArrowheads="1"/>
          </p:cNvSpPr>
          <p:nvPr/>
        </p:nvSpPr>
        <p:spPr bwMode="auto">
          <a:xfrm>
            <a:off x="2639616" y="4209653"/>
            <a:ext cx="7772400" cy="614363"/>
          </a:xfrm>
          <a:prstGeom prst="rect">
            <a:avLst/>
          </a:prstGeom>
          <a:noFill/>
          <a:ln w="12700" cap="sq">
            <a:noFill/>
            <a:miter lim="800000"/>
            <a:headEnd/>
            <a:tailEnd/>
          </a:ln>
          <a:effectLst/>
        </p:spPr>
        <p:txBody>
          <a:bodyPr lIns="0" tIns="0" rIns="0" bIns="0"/>
          <a:lstStyle/>
          <a:p>
            <a:pPr>
              <a:spcAft>
                <a:spcPct val="0"/>
              </a:spcAft>
              <a:buSzTx/>
              <a:buFontTx/>
              <a:buNone/>
              <a:defRPr/>
            </a:pPr>
            <a:r>
              <a:rPr lang="zh-CN" altLang="en-US" sz="2800">
                <a:solidFill>
                  <a:srgbClr val="CCFFCC"/>
                </a:solidFill>
                <a:effectLst>
                  <a:outerShdw blurRad="38100" dist="38100" dir="2700000" algn="tl">
                    <a:srgbClr val="000000"/>
                  </a:outerShdw>
                </a:effectLst>
                <a:latin typeface="微软雅黑" pitchFamily="34" charset="-122"/>
                <a:ea typeface="微软雅黑" pitchFamily="34" charset="-122"/>
              </a:rPr>
              <a:t>销售记录(</a:t>
            </a:r>
            <a:r>
              <a:rPr lang="zh-CN" altLang="en-US" sz="2800" u="sng">
                <a:solidFill>
                  <a:srgbClr val="CCFFCC"/>
                </a:solidFill>
                <a:effectLst>
                  <a:outerShdw blurRad="38100" dist="38100" dir="2700000" algn="tl">
                    <a:srgbClr val="000000"/>
                  </a:outerShdw>
                </a:effectLst>
                <a:latin typeface="微软雅黑" pitchFamily="34" charset="-122"/>
                <a:ea typeface="微软雅黑" pitchFamily="34" charset="-122"/>
              </a:rPr>
              <a:t>发票号</a:t>
            </a:r>
            <a:r>
              <a:rPr lang="zh-CN" altLang="en-US" sz="2800">
                <a:solidFill>
                  <a:srgbClr val="CCFFCC"/>
                </a:solidFill>
                <a:effectLst>
                  <a:outerShdw blurRad="38100" dist="38100" dir="2700000" algn="tl">
                    <a:srgbClr val="000000"/>
                  </a:outerShdw>
                </a:effectLst>
                <a:latin typeface="微软雅黑" pitchFamily="34" charset="-122"/>
                <a:ea typeface="微软雅黑" pitchFamily="34" charset="-122"/>
              </a:rPr>
              <a:t>，品名，数量，单价)</a:t>
            </a:r>
          </a:p>
        </p:txBody>
      </p:sp>
      <p:sp>
        <p:nvSpPr>
          <p:cNvPr id="13" name="Rectangle 6">
            <a:extLst>
              <a:ext uri="{FF2B5EF4-FFF2-40B4-BE49-F238E27FC236}">
                <a16:creationId xmlns:a16="http://schemas.microsoft.com/office/drawing/2014/main" id="{DA368168-78E5-44DD-8F81-4DF67B51F5E6}"/>
              </a:ext>
            </a:extLst>
          </p:cNvPr>
          <p:cNvSpPr>
            <a:spLocks noChangeArrowheads="1"/>
          </p:cNvSpPr>
          <p:nvPr/>
        </p:nvSpPr>
        <p:spPr bwMode="auto">
          <a:xfrm>
            <a:off x="3222229" y="5699768"/>
            <a:ext cx="5035550" cy="631825"/>
          </a:xfrm>
          <a:prstGeom prst="rect">
            <a:avLst/>
          </a:prstGeom>
          <a:solidFill>
            <a:srgbClr val="F5F5FF"/>
          </a:solidFill>
          <a:ln w="28575" cap="sq" algn="ctr">
            <a:solidFill>
              <a:schemeClr val="hlink"/>
            </a:solidFill>
            <a:miter lim="800000"/>
            <a:headEnd/>
            <a:tailEnd/>
          </a:ln>
          <a:effectLst>
            <a:outerShdw dist="35921" dir="2700000" algn="ctr" rotWithShape="0">
              <a:schemeClr val="bg2"/>
            </a:outerShdw>
          </a:effectLst>
        </p:spPr>
        <p:txBody>
          <a:bodyPr lIns="0" tIns="0" rIns="0" bIns="0" anchor="ctr" anchorCtr="1"/>
          <a:lstStyle/>
          <a:p>
            <a:pPr algn="ctr">
              <a:spcAft>
                <a:spcPct val="0"/>
              </a:spcAft>
              <a:buSzTx/>
              <a:buFontTx/>
              <a:buNone/>
              <a:defRPr/>
            </a:pPr>
            <a:r>
              <a:rPr lang="zh-CN" altLang="en-US" sz="2800">
                <a:solidFill>
                  <a:schemeClr val="bg1"/>
                </a:solidFill>
                <a:effectLst>
                  <a:outerShdw blurRad="38100" dist="38100" dir="2700000" algn="tl">
                    <a:srgbClr val="C0C0C0"/>
                  </a:outerShdw>
                </a:effectLst>
                <a:latin typeface="微软雅黑" pitchFamily="34" charset="-122"/>
                <a:ea typeface="微软雅黑" pitchFamily="34" charset="-122"/>
              </a:rPr>
              <a:t>(数量，单价)  → 金额</a:t>
            </a:r>
          </a:p>
        </p:txBody>
      </p:sp>
      <p:sp>
        <p:nvSpPr>
          <p:cNvPr id="14" name="AutoShape 7">
            <a:extLst>
              <a:ext uri="{FF2B5EF4-FFF2-40B4-BE49-F238E27FC236}">
                <a16:creationId xmlns:a16="http://schemas.microsoft.com/office/drawing/2014/main" id="{B0382F91-B2A2-4EF7-81FE-0DFA4C527FB0}"/>
              </a:ext>
            </a:extLst>
          </p:cNvPr>
          <p:cNvSpPr>
            <a:spLocks noChangeArrowheads="1"/>
          </p:cNvSpPr>
          <p:nvPr/>
        </p:nvSpPr>
        <p:spPr bwMode="auto">
          <a:xfrm>
            <a:off x="6390879" y="3010297"/>
            <a:ext cx="228600" cy="785813"/>
          </a:xfrm>
          <a:prstGeom prst="downArrow">
            <a:avLst>
              <a:gd name="adj1" fmla="val 50000"/>
              <a:gd name="adj2" fmla="val 85938"/>
            </a:avLst>
          </a:prstGeom>
          <a:solidFill>
            <a:schemeClr val="hlink"/>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latin typeface="微软雅黑" pitchFamily="34" charset="-122"/>
              <a:ea typeface="微软雅黑" pitchFamily="34" charset="-122"/>
            </a:endParaRPr>
          </a:p>
        </p:txBody>
      </p:sp>
      <p:sp>
        <p:nvSpPr>
          <p:cNvPr id="15" name="Rectangle 8">
            <a:extLst>
              <a:ext uri="{FF2B5EF4-FFF2-40B4-BE49-F238E27FC236}">
                <a16:creationId xmlns:a16="http://schemas.microsoft.com/office/drawing/2014/main" id="{689A107F-60DD-44AC-8480-D8A1D0A9C688}"/>
              </a:ext>
            </a:extLst>
          </p:cNvPr>
          <p:cNvSpPr>
            <a:spLocks noChangeArrowheads="1"/>
          </p:cNvSpPr>
          <p:nvPr/>
        </p:nvSpPr>
        <p:spPr bwMode="auto">
          <a:xfrm>
            <a:off x="6822679" y="3226196"/>
            <a:ext cx="1422400" cy="427038"/>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800">
                <a:solidFill>
                  <a:srgbClr val="FFFF00"/>
                </a:solidFill>
                <a:effectLst>
                  <a:outerShdw blurRad="38100" dist="38100" dir="2700000" algn="tl">
                    <a:srgbClr val="000000"/>
                  </a:outerShdw>
                </a:effectLst>
                <a:latin typeface="微软雅黑" pitchFamily="34" charset="-122"/>
                <a:ea typeface="微软雅黑" pitchFamily="34" charset="-122"/>
              </a:rPr>
              <a:t>数据冗余</a:t>
            </a:r>
          </a:p>
        </p:txBody>
      </p:sp>
      <p:sp>
        <p:nvSpPr>
          <p:cNvPr id="16" name="AutoShape 9">
            <a:extLst>
              <a:ext uri="{FF2B5EF4-FFF2-40B4-BE49-F238E27FC236}">
                <a16:creationId xmlns:a16="http://schemas.microsoft.com/office/drawing/2014/main" id="{EDD66A7B-813F-4665-A924-33AEE5BC33C1}"/>
              </a:ext>
            </a:extLst>
          </p:cNvPr>
          <p:cNvSpPr>
            <a:spLocks noChangeArrowheads="1"/>
          </p:cNvSpPr>
          <p:nvPr/>
        </p:nvSpPr>
        <p:spPr bwMode="auto">
          <a:xfrm flipV="1">
            <a:off x="4806554" y="3010297"/>
            <a:ext cx="228600" cy="785813"/>
          </a:xfrm>
          <a:prstGeom prst="downArrow">
            <a:avLst>
              <a:gd name="adj1" fmla="val 50000"/>
              <a:gd name="adj2" fmla="val 85938"/>
            </a:avLst>
          </a:prstGeom>
          <a:solidFill>
            <a:schemeClr val="hlink"/>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latin typeface="微软雅黑" pitchFamily="34" charset="-122"/>
              <a:ea typeface="微软雅黑" pitchFamily="34" charset="-122"/>
            </a:endParaRPr>
          </a:p>
        </p:txBody>
      </p:sp>
      <p:sp>
        <p:nvSpPr>
          <p:cNvPr id="17" name="Rectangle 10">
            <a:extLst>
              <a:ext uri="{FF2B5EF4-FFF2-40B4-BE49-F238E27FC236}">
                <a16:creationId xmlns:a16="http://schemas.microsoft.com/office/drawing/2014/main" id="{A0F0FDAF-88F1-4819-91CD-E76A884AC277}"/>
              </a:ext>
            </a:extLst>
          </p:cNvPr>
          <p:cNvSpPr>
            <a:spLocks noChangeArrowheads="1"/>
          </p:cNvSpPr>
          <p:nvPr/>
        </p:nvSpPr>
        <p:spPr bwMode="auto">
          <a:xfrm>
            <a:off x="3222229" y="3226196"/>
            <a:ext cx="1422400" cy="427038"/>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800">
                <a:solidFill>
                  <a:srgbClr val="FFFF00"/>
                </a:solidFill>
                <a:effectLst>
                  <a:outerShdw blurRad="38100" dist="38100" dir="2700000" algn="tl">
                    <a:srgbClr val="000000"/>
                  </a:outerShdw>
                </a:effectLst>
                <a:latin typeface="微软雅黑" pitchFamily="34" charset="-122"/>
                <a:ea typeface="微软雅黑" pitchFamily="34" charset="-122"/>
              </a:rPr>
              <a:t>查询效率</a:t>
            </a:r>
          </a:p>
        </p:txBody>
      </p:sp>
      <p:sp>
        <p:nvSpPr>
          <p:cNvPr id="20" name="Rectangle 3">
            <a:extLst>
              <a:ext uri="{FF2B5EF4-FFF2-40B4-BE49-F238E27FC236}">
                <a16:creationId xmlns:a16="http://schemas.microsoft.com/office/drawing/2014/main" id="{DDCFBDDF-11F3-49CA-8168-EDC6386051E2}"/>
              </a:ext>
            </a:extLst>
          </p:cNvPr>
          <p:cNvSpPr>
            <a:spLocks noGrp="1" noChangeArrowheads="1"/>
          </p:cNvSpPr>
          <p:nvPr>
            <p:ph type="title"/>
          </p:nvPr>
        </p:nvSpPr>
        <p:spPr>
          <a:xfrm>
            <a:off x="783189" y="968092"/>
            <a:ext cx="5110162" cy="584200"/>
          </a:xfrm>
        </p:spPr>
        <p:txBody>
          <a:bodyPr wrap="square"/>
          <a:lstStyle/>
          <a:p>
            <a:pPr eaLnBrk="1" hangingPunct="1">
              <a:buFont typeface="Wingdings" pitchFamily="2" charset="2"/>
              <a:buNone/>
            </a:pPr>
            <a:r>
              <a:rPr lang="zh-CN" altLang="zh-CN" dirty="0"/>
              <a:t>优化</a:t>
            </a:r>
            <a:r>
              <a:rPr lang="zh-CN" altLang="en-US" dirty="0"/>
              <a:t>的几个例子</a:t>
            </a:r>
            <a:endParaRPr lang="en-US" altLang="zh-CN" dirty="0"/>
          </a:p>
        </p:txBody>
      </p:sp>
    </p:spTree>
    <p:extLst>
      <p:ext uri="{BB962C8B-B14F-4D97-AF65-F5344CB8AC3E}">
        <p14:creationId xmlns:p14="http://schemas.microsoft.com/office/powerpoint/2010/main" val="1690130646"/>
      </p:ext>
    </p:extLst>
  </p:cSld>
  <p:clrMapOvr>
    <a:masterClrMapping/>
  </p:clrMapOvr>
  <p:transition spd="med">
    <p:random/>
    <p:sndAc>
      <p:stSnd>
        <p:snd r:embed="rId2" name="arrow.wav"/>
      </p:stSnd>
    </p:sndAc>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2">
            <a:extLst>
              <a:ext uri="{FF2B5EF4-FFF2-40B4-BE49-F238E27FC236}">
                <a16:creationId xmlns:a16="http://schemas.microsoft.com/office/drawing/2014/main" id="{E0F87F5C-1030-4E84-8DA9-B1039B8CD22F}"/>
              </a:ext>
            </a:extLst>
          </p:cNvPr>
          <p:cNvSpPr txBox="1">
            <a:spLocks noChangeArrowheads="1"/>
          </p:cNvSpPr>
          <p:nvPr/>
        </p:nvSpPr>
        <p:spPr bwMode="auto">
          <a:xfrm>
            <a:off x="740001" y="10592"/>
            <a:ext cx="4762055" cy="760959"/>
          </a:xfrm>
          <a:prstGeom prst="rect">
            <a:avLst/>
          </a:prstGeom>
          <a:noFill/>
          <a:ln w="12700" cap="sq">
            <a:noFill/>
            <a:miter lim="800000"/>
            <a:headEnd/>
            <a:tailEnd/>
          </a:ln>
          <a:effectLst>
            <a:outerShdw dist="35921" dir="2700000" algn="ctr" rotWithShape="0">
              <a:srgbClr val="000514"/>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vert="horz" wrap="none" lIns="72000" tIns="72000" rIns="72000" bIns="72000" numCol="1" rtlCol="0" anchor="ctr" anchorCtr="0" compatLnSpc="1">
            <a:prstTxWarp prst="textNoShape">
              <a:avLst/>
            </a:prstTxWarp>
            <a:spAutoFit/>
          </a:bodyPr>
          <a:lstStyle>
            <a:defPPr>
              <a:defRPr lang="en-US"/>
            </a:defPPr>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a:t>逻辑结构设计的流程</a:t>
            </a:r>
          </a:p>
        </p:txBody>
      </p:sp>
      <p:sp>
        <p:nvSpPr>
          <p:cNvPr id="3" name="Rectangle 4">
            <a:extLst>
              <a:ext uri="{FF2B5EF4-FFF2-40B4-BE49-F238E27FC236}">
                <a16:creationId xmlns:a16="http://schemas.microsoft.com/office/drawing/2014/main" id="{DF893D5D-49AF-44FD-B7AE-17C465A2F83A}"/>
              </a:ext>
            </a:extLst>
          </p:cNvPr>
          <p:cNvSpPr>
            <a:spLocks noChangeArrowheads="1"/>
          </p:cNvSpPr>
          <p:nvPr/>
        </p:nvSpPr>
        <p:spPr bwMode="auto">
          <a:xfrm>
            <a:off x="2351584" y="2205039"/>
            <a:ext cx="7772400" cy="488950"/>
          </a:xfrm>
          <a:prstGeom prst="rect">
            <a:avLst/>
          </a:prstGeom>
          <a:noFill/>
          <a:ln w="12700" cap="sq">
            <a:noFill/>
            <a:miter lim="800000"/>
            <a:headEnd/>
            <a:tailEnd/>
          </a:ln>
          <a:effectLst/>
        </p:spPr>
        <p:txBody>
          <a:bodyPr lIns="0" tIns="0" rIns="0" bIns="0"/>
          <a:lstStyle/>
          <a:p>
            <a:pPr>
              <a:spcAft>
                <a:spcPct val="0"/>
              </a:spcAft>
              <a:buSzTx/>
              <a:buFontTx/>
              <a:buNone/>
              <a:defRPr/>
            </a:pPr>
            <a:r>
              <a:rPr lang="zh-CN" altLang="en-US" sz="2800">
                <a:solidFill>
                  <a:srgbClr val="CCFFCC"/>
                </a:solidFill>
                <a:effectLst>
                  <a:outerShdw blurRad="38100" dist="38100" dir="2700000" algn="tl">
                    <a:srgbClr val="000000"/>
                  </a:outerShdw>
                </a:effectLst>
                <a:latin typeface="微软雅黑" pitchFamily="34" charset="-122"/>
                <a:ea typeface="微软雅黑" pitchFamily="34" charset="-122"/>
              </a:rPr>
              <a:t>教师(</a:t>
            </a:r>
            <a:r>
              <a:rPr lang="zh-CN" altLang="en-US" sz="2800" u="sng">
                <a:solidFill>
                  <a:srgbClr val="CCFFCC"/>
                </a:solidFill>
                <a:effectLst>
                  <a:outerShdw blurRad="38100" dist="38100" dir="2700000" algn="tl">
                    <a:srgbClr val="000000"/>
                  </a:outerShdw>
                </a:effectLst>
                <a:latin typeface="微软雅黑" pitchFamily="34" charset="-122"/>
                <a:ea typeface="微软雅黑" pitchFamily="34" charset="-122"/>
              </a:rPr>
              <a:t>工号</a:t>
            </a:r>
            <a:r>
              <a:rPr lang="zh-CN" altLang="en-US" sz="2800">
                <a:solidFill>
                  <a:srgbClr val="CCFFCC"/>
                </a:solidFill>
                <a:effectLst>
                  <a:outerShdw blurRad="38100" dist="38100" dir="2700000" algn="tl">
                    <a:srgbClr val="000000"/>
                  </a:outerShdw>
                </a:effectLst>
                <a:latin typeface="微软雅黑" pitchFamily="34" charset="-122"/>
                <a:ea typeface="微软雅黑" pitchFamily="34" charset="-122"/>
              </a:rPr>
              <a:t>，姓名，性别，年龄，</a:t>
            </a:r>
            <a:r>
              <a:rPr lang="zh-CN" altLang="en-US" sz="2800">
                <a:solidFill>
                  <a:srgbClr val="00FF99"/>
                </a:solidFill>
                <a:effectLst>
                  <a:outerShdw blurRad="38100" dist="38100" dir="2700000" algn="tl">
                    <a:srgbClr val="000000"/>
                  </a:outerShdw>
                </a:effectLst>
                <a:latin typeface="微软雅黑" pitchFamily="34" charset="-122"/>
                <a:ea typeface="微软雅黑" pitchFamily="34" charset="-122"/>
              </a:rPr>
              <a:t>职称，类别</a:t>
            </a:r>
            <a:r>
              <a:rPr lang="zh-CN" altLang="en-US" sz="2800">
                <a:solidFill>
                  <a:srgbClr val="CCFFCC"/>
                </a:solidFill>
                <a:effectLst>
                  <a:outerShdw blurRad="38100" dist="38100" dir="2700000" algn="tl">
                    <a:srgbClr val="000000"/>
                  </a:outerShdw>
                </a:effectLst>
                <a:latin typeface="微软雅黑" pitchFamily="34" charset="-122"/>
                <a:ea typeface="微软雅黑" pitchFamily="34" charset="-122"/>
              </a:rPr>
              <a:t>)</a:t>
            </a:r>
          </a:p>
        </p:txBody>
      </p:sp>
      <p:sp>
        <p:nvSpPr>
          <p:cNvPr id="4" name="Rectangle 5">
            <a:extLst>
              <a:ext uri="{FF2B5EF4-FFF2-40B4-BE49-F238E27FC236}">
                <a16:creationId xmlns:a16="http://schemas.microsoft.com/office/drawing/2014/main" id="{791B89C5-0F90-4FD1-92F0-EB167CEDA8AC}"/>
              </a:ext>
            </a:extLst>
          </p:cNvPr>
          <p:cNvSpPr>
            <a:spLocks noChangeArrowheads="1"/>
          </p:cNvSpPr>
          <p:nvPr/>
        </p:nvSpPr>
        <p:spPr bwMode="auto">
          <a:xfrm>
            <a:off x="2351584" y="4005264"/>
            <a:ext cx="7772400" cy="488950"/>
          </a:xfrm>
          <a:prstGeom prst="rect">
            <a:avLst/>
          </a:prstGeom>
          <a:noFill/>
          <a:ln w="12700" cap="sq">
            <a:noFill/>
            <a:miter lim="800000"/>
            <a:headEnd/>
            <a:tailEnd/>
          </a:ln>
          <a:effectLst/>
        </p:spPr>
        <p:txBody>
          <a:bodyPr lIns="0" tIns="0" rIns="0" bIns="0"/>
          <a:lstStyle/>
          <a:p>
            <a:pPr>
              <a:spcAft>
                <a:spcPct val="35000"/>
              </a:spcAft>
              <a:buSzTx/>
              <a:buFontTx/>
              <a:buNone/>
              <a:defRPr/>
            </a:pPr>
            <a:r>
              <a:rPr lang="zh-CN" altLang="en-US" sz="2800">
                <a:solidFill>
                  <a:srgbClr val="CCFFCC"/>
                </a:solidFill>
                <a:effectLst>
                  <a:outerShdw blurRad="38100" dist="38100" dir="2700000" algn="tl">
                    <a:srgbClr val="000000"/>
                  </a:outerShdw>
                </a:effectLst>
                <a:latin typeface="微软雅黑" pitchFamily="34" charset="-122"/>
                <a:ea typeface="微软雅黑" pitchFamily="34" charset="-122"/>
              </a:rPr>
              <a:t>正式教师(</a:t>
            </a:r>
            <a:r>
              <a:rPr lang="zh-CN" altLang="en-US" sz="2800" u="sng">
                <a:solidFill>
                  <a:srgbClr val="CCFFCC"/>
                </a:solidFill>
                <a:effectLst>
                  <a:outerShdw blurRad="38100" dist="38100" dir="2700000" algn="tl">
                    <a:srgbClr val="000000"/>
                  </a:outerShdw>
                </a:effectLst>
                <a:latin typeface="微软雅黑" pitchFamily="34" charset="-122"/>
                <a:ea typeface="微软雅黑" pitchFamily="34" charset="-122"/>
              </a:rPr>
              <a:t>工号</a:t>
            </a:r>
            <a:r>
              <a:rPr lang="zh-CN" altLang="en-US" sz="2800">
                <a:solidFill>
                  <a:srgbClr val="CCFFCC"/>
                </a:solidFill>
                <a:effectLst>
                  <a:outerShdw blurRad="38100" dist="38100" dir="2700000" algn="tl">
                    <a:srgbClr val="000000"/>
                  </a:outerShdw>
                </a:effectLst>
                <a:latin typeface="微软雅黑" pitchFamily="34" charset="-122"/>
                <a:ea typeface="微软雅黑" pitchFamily="34" charset="-122"/>
              </a:rPr>
              <a:t>，姓名，性别，年龄，职称)</a:t>
            </a:r>
          </a:p>
          <a:p>
            <a:pPr>
              <a:spcAft>
                <a:spcPct val="35000"/>
              </a:spcAft>
              <a:buSzTx/>
              <a:buFontTx/>
              <a:buNone/>
              <a:defRPr/>
            </a:pPr>
            <a:r>
              <a:rPr lang="zh-CN" altLang="en-US" sz="2800">
                <a:solidFill>
                  <a:srgbClr val="CCFFCC"/>
                </a:solidFill>
                <a:effectLst>
                  <a:outerShdw blurRad="38100" dist="38100" dir="2700000" algn="tl">
                    <a:srgbClr val="000000"/>
                  </a:outerShdw>
                </a:effectLst>
                <a:latin typeface="微软雅黑" pitchFamily="34" charset="-122"/>
                <a:ea typeface="微软雅黑" pitchFamily="34" charset="-122"/>
              </a:rPr>
              <a:t>外聘教师(</a:t>
            </a:r>
            <a:r>
              <a:rPr lang="zh-CN" altLang="en-US" sz="2800" u="sng">
                <a:solidFill>
                  <a:srgbClr val="CCFFCC"/>
                </a:solidFill>
                <a:effectLst>
                  <a:outerShdw blurRad="38100" dist="38100" dir="2700000" algn="tl">
                    <a:srgbClr val="000000"/>
                  </a:outerShdw>
                </a:effectLst>
                <a:latin typeface="微软雅黑" pitchFamily="34" charset="-122"/>
                <a:ea typeface="微软雅黑" pitchFamily="34" charset="-122"/>
              </a:rPr>
              <a:t>工号</a:t>
            </a:r>
            <a:r>
              <a:rPr lang="zh-CN" altLang="en-US" sz="2800">
                <a:solidFill>
                  <a:srgbClr val="CCFFCC"/>
                </a:solidFill>
                <a:effectLst>
                  <a:outerShdw blurRad="38100" dist="38100" dir="2700000" algn="tl">
                    <a:srgbClr val="000000"/>
                  </a:outerShdw>
                </a:effectLst>
                <a:latin typeface="微软雅黑" pitchFamily="34" charset="-122"/>
                <a:ea typeface="微软雅黑" pitchFamily="34" charset="-122"/>
              </a:rPr>
              <a:t>，姓名，性别，年龄)</a:t>
            </a:r>
          </a:p>
        </p:txBody>
      </p:sp>
      <p:sp>
        <p:nvSpPr>
          <p:cNvPr id="5" name="AutoShape 6">
            <a:extLst>
              <a:ext uri="{FF2B5EF4-FFF2-40B4-BE49-F238E27FC236}">
                <a16:creationId xmlns:a16="http://schemas.microsoft.com/office/drawing/2014/main" id="{CD130DC9-D29A-48B9-B020-12C7CC21A185}"/>
              </a:ext>
            </a:extLst>
          </p:cNvPr>
          <p:cNvSpPr>
            <a:spLocks noChangeArrowheads="1"/>
          </p:cNvSpPr>
          <p:nvPr/>
        </p:nvSpPr>
        <p:spPr bwMode="auto">
          <a:xfrm>
            <a:off x="5801222" y="2924177"/>
            <a:ext cx="228600" cy="785813"/>
          </a:xfrm>
          <a:prstGeom prst="downArrow">
            <a:avLst>
              <a:gd name="adj1" fmla="val 50000"/>
              <a:gd name="adj2" fmla="val 85938"/>
            </a:avLst>
          </a:prstGeom>
          <a:solidFill>
            <a:schemeClr val="hlink"/>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latin typeface="微软雅黑" pitchFamily="34" charset="-122"/>
              <a:ea typeface="微软雅黑" pitchFamily="34" charset="-122"/>
            </a:endParaRPr>
          </a:p>
        </p:txBody>
      </p:sp>
      <p:sp>
        <p:nvSpPr>
          <p:cNvPr id="6" name="Rectangle 7">
            <a:extLst>
              <a:ext uri="{FF2B5EF4-FFF2-40B4-BE49-F238E27FC236}">
                <a16:creationId xmlns:a16="http://schemas.microsoft.com/office/drawing/2014/main" id="{4F428A1D-EC59-48DC-ABFC-C57E90218BD0}"/>
              </a:ext>
            </a:extLst>
          </p:cNvPr>
          <p:cNvSpPr>
            <a:spLocks noChangeArrowheads="1"/>
          </p:cNvSpPr>
          <p:nvPr/>
        </p:nvSpPr>
        <p:spPr bwMode="auto">
          <a:xfrm>
            <a:off x="6233022" y="3140076"/>
            <a:ext cx="1422400" cy="427038"/>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800">
                <a:solidFill>
                  <a:srgbClr val="FFFF00"/>
                </a:solidFill>
                <a:effectLst>
                  <a:outerShdw blurRad="38100" dist="38100" dir="2700000" algn="tl">
                    <a:srgbClr val="000000"/>
                  </a:outerShdw>
                </a:effectLst>
                <a:latin typeface="微软雅黑" pitchFamily="34" charset="-122"/>
                <a:ea typeface="微软雅黑" pitchFamily="34" charset="-122"/>
              </a:rPr>
              <a:t>数据冗余</a:t>
            </a:r>
          </a:p>
        </p:txBody>
      </p:sp>
      <p:sp>
        <p:nvSpPr>
          <p:cNvPr id="7" name="AutoShape 8">
            <a:extLst>
              <a:ext uri="{FF2B5EF4-FFF2-40B4-BE49-F238E27FC236}">
                <a16:creationId xmlns:a16="http://schemas.microsoft.com/office/drawing/2014/main" id="{A6C3EFAE-BE3F-4239-89D5-2910FD446CC7}"/>
              </a:ext>
            </a:extLst>
          </p:cNvPr>
          <p:cNvSpPr>
            <a:spLocks noChangeArrowheads="1"/>
          </p:cNvSpPr>
          <p:nvPr/>
        </p:nvSpPr>
        <p:spPr bwMode="auto">
          <a:xfrm flipV="1">
            <a:off x="4216897" y="2924177"/>
            <a:ext cx="228600" cy="785813"/>
          </a:xfrm>
          <a:prstGeom prst="downArrow">
            <a:avLst>
              <a:gd name="adj1" fmla="val 50000"/>
              <a:gd name="adj2" fmla="val 85938"/>
            </a:avLst>
          </a:prstGeom>
          <a:solidFill>
            <a:schemeClr val="hlink"/>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latin typeface="微软雅黑" pitchFamily="34" charset="-122"/>
              <a:ea typeface="微软雅黑" pitchFamily="34" charset="-122"/>
            </a:endParaRPr>
          </a:p>
        </p:txBody>
      </p:sp>
      <p:sp>
        <p:nvSpPr>
          <p:cNvPr id="8" name="Rectangle 9">
            <a:extLst>
              <a:ext uri="{FF2B5EF4-FFF2-40B4-BE49-F238E27FC236}">
                <a16:creationId xmlns:a16="http://schemas.microsoft.com/office/drawing/2014/main" id="{ABB68857-3F82-4F4D-B045-0001CDA9DF7C}"/>
              </a:ext>
            </a:extLst>
          </p:cNvPr>
          <p:cNvSpPr>
            <a:spLocks noChangeArrowheads="1"/>
          </p:cNvSpPr>
          <p:nvPr/>
        </p:nvSpPr>
        <p:spPr bwMode="auto">
          <a:xfrm>
            <a:off x="2632572" y="3140076"/>
            <a:ext cx="1422400" cy="427038"/>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800">
                <a:solidFill>
                  <a:srgbClr val="FFFF00"/>
                </a:solidFill>
                <a:effectLst>
                  <a:outerShdw blurRad="38100" dist="38100" dir="2700000" algn="tl">
                    <a:srgbClr val="000000"/>
                  </a:outerShdw>
                </a:effectLst>
                <a:latin typeface="微软雅黑" pitchFamily="34" charset="-122"/>
                <a:ea typeface="微软雅黑" pitchFamily="34" charset="-122"/>
              </a:rPr>
              <a:t>关系数量</a:t>
            </a:r>
          </a:p>
        </p:txBody>
      </p:sp>
      <p:sp>
        <p:nvSpPr>
          <p:cNvPr id="10" name="Rectangle 10">
            <a:extLst>
              <a:ext uri="{FF2B5EF4-FFF2-40B4-BE49-F238E27FC236}">
                <a16:creationId xmlns:a16="http://schemas.microsoft.com/office/drawing/2014/main" id="{23B610A9-F366-4212-BDED-8451BE71C4CF}"/>
              </a:ext>
            </a:extLst>
          </p:cNvPr>
          <p:cNvSpPr>
            <a:spLocks noChangeArrowheads="1"/>
          </p:cNvSpPr>
          <p:nvPr/>
        </p:nvSpPr>
        <p:spPr bwMode="auto">
          <a:xfrm>
            <a:off x="1556991" y="5855395"/>
            <a:ext cx="9078018" cy="430887"/>
          </a:xfrm>
          <a:prstGeom prst="rect">
            <a:avLst/>
          </a:prstGeom>
          <a:solidFill>
            <a:srgbClr val="F5F5FF"/>
          </a:solidFill>
          <a:ln w="28575" cap="sq">
            <a:solidFill>
              <a:schemeClr val="hlink"/>
            </a:solidFill>
            <a:miter lim="800000"/>
            <a:headEnd/>
            <a:tailEnd/>
          </a:ln>
          <a:effectLst>
            <a:outerShdw dist="35921" dir="2700000" algn="ctr" rotWithShape="0">
              <a:schemeClr val="bg2"/>
            </a:outerShdw>
          </a:effectLst>
        </p:spPr>
        <p:txBody>
          <a:bodyPr wrap="square" lIns="0" tIns="0" rIns="0" bIns="0">
            <a:spAutoFit/>
          </a:bodyPr>
          <a:lstStyle/>
          <a:p>
            <a:pPr algn="ctr">
              <a:spcAft>
                <a:spcPct val="0"/>
              </a:spcAft>
              <a:buSzTx/>
              <a:buFontTx/>
              <a:buNone/>
              <a:defRPr/>
            </a:pPr>
            <a:r>
              <a:rPr lang="zh-CN" altLang="en-US" sz="2800" dirty="0">
                <a:solidFill>
                  <a:schemeClr val="bg1"/>
                </a:solidFill>
                <a:effectLst>
                  <a:outerShdw blurRad="38100" dist="38100" dir="2700000" algn="tl">
                    <a:srgbClr val="C0C0C0"/>
                  </a:outerShdw>
                </a:effectLst>
                <a:latin typeface="微软雅黑" pitchFamily="34" charset="-122"/>
                <a:ea typeface="微软雅黑" pitchFamily="34" charset="-122"/>
              </a:rPr>
              <a:t>类别={正式，外聘}  </a:t>
            </a:r>
            <a:r>
              <a:rPr lang="en-US" altLang="zh-CN" sz="2800" dirty="0">
                <a:solidFill>
                  <a:schemeClr val="bg1"/>
                </a:solidFill>
                <a:effectLst>
                  <a:outerShdw blurRad="38100" dist="38100" dir="2700000" algn="tl">
                    <a:srgbClr val="C0C0C0"/>
                  </a:outerShdw>
                </a:effectLst>
                <a:latin typeface="微软雅黑" pitchFamily="34" charset="-122"/>
                <a:ea typeface="微软雅黑" pitchFamily="34" charset="-122"/>
              </a:rPr>
              <a:t>        </a:t>
            </a:r>
            <a:r>
              <a:rPr lang="zh-CN" altLang="en-US" sz="2800" dirty="0">
                <a:solidFill>
                  <a:schemeClr val="bg1"/>
                </a:solidFill>
                <a:effectLst>
                  <a:outerShdw blurRad="38100" dist="38100" dir="2700000" algn="tl">
                    <a:srgbClr val="C0C0C0"/>
                  </a:outerShdw>
                </a:effectLst>
                <a:latin typeface="微软雅黑" pitchFamily="34" charset="-122"/>
                <a:ea typeface="微软雅黑" pitchFamily="34" charset="-122"/>
              </a:rPr>
              <a:t>      外聘教师无职称</a:t>
            </a:r>
          </a:p>
        </p:txBody>
      </p:sp>
      <p:sp>
        <p:nvSpPr>
          <p:cNvPr id="11" name="AutoShape 11">
            <a:extLst>
              <a:ext uri="{FF2B5EF4-FFF2-40B4-BE49-F238E27FC236}">
                <a16:creationId xmlns:a16="http://schemas.microsoft.com/office/drawing/2014/main" id="{54AFDEED-175D-4053-AF13-91CD97FD5F7F}"/>
              </a:ext>
            </a:extLst>
          </p:cNvPr>
          <p:cNvSpPr>
            <a:spLocks/>
          </p:cNvSpPr>
          <p:nvPr/>
        </p:nvSpPr>
        <p:spPr bwMode="auto">
          <a:xfrm>
            <a:off x="2129334" y="4183065"/>
            <a:ext cx="71438" cy="720725"/>
          </a:xfrm>
          <a:prstGeom prst="leftBrace">
            <a:avLst>
              <a:gd name="adj1" fmla="val 84073"/>
              <a:gd name="adj2" fmla="val 50000"/>
            </a:avLst>
          </a:prstGeom>
          <a:noFill/>
          <a:ln w="28575" cap="sq">
            <a:solidFill>
              <a:srgbClr val="CCFFCC"/>
            </a:solidFill>
            <a:round/>
            <a:headEnd/>
            <a:tailEnd/>
          </a:ln>
          <a:effectLst/>
        </p:spPr>
        <p:txBody>
          <a:bodyPr wrap="none" lIns="0" tIns="0" rIns="0" bIns="0" anchor="ctr"/>
          <a:lstStyle/>
          <a:p>
            <a:pPr>
              <a:defRPr/>
            </a:pPr>
            <a:endParaRPr lang="zh-CN" altLang="en-US">
              <a:latin typeface="微软雅黑" pitchFamily="34" charset="-122"/>
              <a:ea typeface="微软雅黑" pitchFamily="34" charset="-122"/>
            </a:endParaRPr>
          </a:p>
        </p:txBody>
      </p:sp>
      <p:sp>
        <p:nvSpPr>
          <p:cNvPr id="12" name="Rectangle 6">
            <a:extLst>
              <a:ext uri="{FF2B5EF4-FFF2-40B4-BE49-F238E27FC236}">
                <a16:creationId xmlns:a16="http://schemas.microsoft.com/office/drawing/2014/main" id="{0718600C-57AC-4A21-B9CD-3F1E802733EA}"/>
              </a:ext>
            </a:extLst>
          </p:cNvPr>
          <p:cNvSpPr>
            <a:spLocks noChangeArrowheads="1"/>
          </p:cNvSpPr>
          <p:nvPr/>
        </p:nvSpPr>
        <p:spPr bwMode="auto">
          <a:xfrm>
            <a:off x="783189" y="1917007"/>
            <a:ext cx="10585176" cy="3384375"/>
          </a:xfrm>
          <a:prstGeom prst="roundRect">
            <a:avLst/>
          </a:prstGeom>
          <a:noFill/>
          <a:ln>
            <a:headEnd/>
            <a:tailEnd/>
          </a:ln>
        </p:spPr>
        <p:style>
          <a:lnRef idx="2">
            <a:schemeClr val="accent5"/>
          </a:lnRef>
          <a:fillRef idx="1">
            <a:schemeClr val="lt1"/>
          </a:fillRef>
          <a:effectRef idx="0">
            <a:schemeClr val="accent5"/>
          </a:effectRef>
          <a:fontRef idx="minor">
            <a:schemeClr val="dk1"/>
          </a:fontRef>
        </p:style>
        <p:txBody>
          <a:bodyPr lIns="72000" tIns="72000" rIns="72000" bIns="0"/>
          <a:lstStyle/>
          <a:p>
            <a:pPr>
              <a:spcAft>
                <a:spcPct val="0"/>
              </a:spcAft>
              <a:buSzTx/>
              <a:buFontTx/>
              <a:buNone/>
              <a:defRPr/>
            </a:pPr>
            <a:endParaRPr lang="zh-CN" altLang="en-US" sz="2800" dirty="0">
              <a:solidFill>
                <a:schemeClr val="bg2"/>
              </a:solidFill>
              <a:effectLst>
                <a:outerShdw blurRad="38100" dist="38100" dir="2700000" algn="tl">
                  <a:srgbClr val="C0C0C0"/>
                </a:outerShdw>
              </a:effectLst>
              <a:latin typeface="Times New Roman" pitchFamily="18" charset="0"/>
            </a:endParaRPr>
          </a:p>
        </p:txBody>
      </p:sp>
      <p:sp>
        <p:nvSpPr>
          <p:cNvPr id="15" name="Rectangle 3">
            <a:extLst>
              <a:ext uri="{FF2B5EF4-FFF2-40B4-BE49-F238E27FC236}">
                <a16:creationId xmlns:a16="http://schemas.microsoft.com/office/drawing/2014/main" id="{C3B0CC66-2961-465E-966D-86C9B9BB42FC}"/>
              </a:ext>
            </a:extLst>
          </p:cNvPr>
          <p:cNvSpPr>
            <a:spLocks noGrp="1" noChangeArrowheads="1"/>
          </p:cNvSpPr>
          <p:nvPr>
            <p:ph type="title"/>
          </p:nvPr>
        </p:nvSpPr>
        <p:spPr>
          <a:xfrm>
            <a:off x="783189" y="968092"/>
            <a:ext cx="5110162" cy="584200"/>
          </a:xfrm>
        </p:spPr>
        <p:txBody>
          <a:bodyPr wrap="square"/>
          <a:lstStyle/>
          <a:p>
            <a:pPr eaLnBrk="1" hangingPunct="1">
              <a:buFont typeface="Wingdings" pitchFamily="2" charset="2"/>
              <a:buNone/>
            </a:pPr>
            <a:r>
              <a:rPr lang="zh-CN" altLang="zh-CN" dirty="0"/>
              <a:t>优化</a:t>
            </a:r>
            <a:r>
              <a:rPr lang="zh-CN" altLang="en-US" dirty="0"/>
              <a:t>的几个例子</a:t>
            </a:r>
            <a:endParaRPr lang="en-US" altLang="zh-CN" dirty="0"/>
          </a:p>
        </p:txBody>
      </p:sp>
    </p:spTree>
    <p:extLst>
      <p:ext uri="{BB962C8B-B14F-4D97-AF65-F5344CB8AC3E}">
        <p14:creationId xmlns:p14="http://schemas.microsoft.com/office/powerpoint/2010/main" val="804413346"/>
      </p:ext>
    </p:extLst>
  </p:cSld>
  <p:clrMapOvr>
    <a:masterClrMapping/>
  </p:clrMapOvr>
  <p:transition spd="med">
    <p:random/>
    <p:sndAc>
      <p:stSnd>
        <p:snd r:embed="rId2" name="arrow.wav"/>
      </p:stSnd>
    </p:sndAc>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2">
            <a:extLst>
              <a:ext uri="{FF2B5EF4-FFF2-40B4-BE49-F238E27FC236}">
                <a16:creationId xmlns:a16="http://schemas.microsoft.com/office/drawing/2014/main" id="{E0F87F5C-1030-4E84-8DA9-B1039B8CD22F}"/>
              </a:ext>
            </a:extLst>
          </p:cNvPr>
          <p:cNvSpPr txBox="1">
            <a:spLocks noChangeArrowheads="1"/>
          </p:cNvSpPr>
          <p:nvPr/>
        </p:nvSpPr>
        <p:spPr bwMode="auto">
          <a:xfrm>
            <a:off x="740001" y="10592"/>
            <a:ext cx="4762055" cy="760959"/>
          </a:xfrm>
          <a:prstGeom prst="rect">
            <a:avLst/>
          </a:prstGeom>
          <a:noFill/>
          <a:ln w="12700" cap="sq">
            <a:noFill/>
            <a:miter lim="800000"/>
            <a:headEnd/>
            <a:tailEnd/>
          </a:ln>
          <a:effectLst>
            <a:outerShdw dist="35921" dir="2700000" algn="ctr" rotWithShape="0">
              <a:srgbClr val="000514"/>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vert="horz" wrap="none" lIns="72000" tIns="72000" rIns="72000" bIns="72000" numCol="1" rtlCol="0" anchor="ctr" anchorCtr="0" compatLnSpc="1">
            <a:prstTxWarp prst="textNoShape">
              <a:avLst/>
            </a:prstTxWarp>
            <a:spAutoFit/>
          </a:bodyPr>
          <a:lstStyle>
            <a:defPPr>
              <a:defRPr lang="en-US"/>
            </a:defPPr>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a:t>逻辑结构设计的流程</a:t>
            </a:r>
          </a:p>
        </p:txBody>
      </p:sp>
      <p:sp>
        <p:nvSpPr>
          <p:cNvPr id="4" name="Rectangle 4">
            <a:extLst>
              <a:ext uri="{FF2B5EF4-FFF2-40B4-BE49-F238E27FC236}">
                <a16:creationId xmlns:a16="http://schemas.microsoft.com/office/drawing/2014/main" id="{4A1AFA85-1049-476D-AC7E-6EEC8EA15F18}"/>
              </a:ext>
            </a:extLst>
          </p:cNvPr>
          <p:cNvSpPr>
            <a:spLocks noChangeArrowheads="1"/>
          </p:cNvSpPr>
          <p:nvPr/>
        </p:nvSpPr>
        <p:spPr bwMode="auto">
          <a:xfrm>
            <a:off x="1683885" y="1998379"/>
            <a:ext cx="7772400" cy="488950"/>
          </a:xfrm>
          <a:prstGeom prst="rect">
            <a:avLst/>
          </a:prstGeom>
          <a:noFill/>
          <a:ln w="12700" cap="sq">
            <a:noFill/>
            <a:miter lim="800000"/>
            <a:headEnd/>
            <a:tailEnd/>
          </a:ln>
          <a:effectLst/>
        </p:spPr>
        <p:txBody>
          <a:bodyPr lIns="0" tIns="0" rIns="0" bIns="0"/>
          <a:lstStyle/>
          <a:p>
            <a:pPr>
              <a:spcAft>
                <a:spcPct val="0"/>
              </a:spcAft>
              <a:buSzTx/>
              <a:buFontTx/>
              <a:buNone/>
              <a:defRPr/>
            </a:pPr>
            <a:r>
              <a:rPr lang="zh-CN" altLang="en-US" sz="2800">
                <a:solidFill>
                  <a:srgbClr val="CCFFCC"/>
                </a:solidFill>
                <a:effectLst>
                  <a:outerShdw blurRad="38100" dist="38100" dir="2700000" algn="tl">
                    <a:srgbClr val="000000"/>
                  </a:outerShdw>
                </a:effectLst>
                <a:latin typeface="微软雅黑" pitchFamily="34" charset="-122"/>
                <a:ea typeface="微软雅黑" pitchFamily="34" charset="-122"/>
              </a:rPr>
              <a:t>教师</a:t>
            </a:r>
            <a:r>
              <a:rPr lang="en-US" altLang="zh-CN" sz="2800">
                <a:solidFill>
                  <a:srgbClr val="CCFFCC"/>
                </a:solidFill>
                <a:effectLst>
                  <a:outerShdw blurRad="38100" dist="38100" dir="2700000" algn="tl">
                    <a:srgbClr val="000000"/>
                  </a:outerShdw>
                </a:effectLst>
                <a:latin typeface="微软雅黑" pitchFamily="34" charset="-122"/>
                <a:ea typeface="微软雅黑" pitchFamily="34" charset="-122"/>
              </a:rPr>
              <a:t>(</a:t>
            </a:r>
            <a:r>
              <a:rPr lang="zh-CN" altLang="en-US" sz="2800" u="sng">
                <a:solidFill>
                  <a:srgbClr val="CCFFCC"/>
                </a:solidFill>
                <a:effectLst>
                  <a:outerShdw blurRad="38100" dist="38100" dir="2700000" algn="tl">
                    <a:srgbClr val="000000"/>
                  </a:outerShdw>
                </a:effectLst>
                <a:latin typeface="微软雅黑" pitchFamily="34" charset="-122"/>
                <a:ea typeface="微软雅黑" pitchFamily="34" charset="-122"/>
              </a:rPr>
              <a:t>工号</a:t>
            </a:r>
            <a:r>
              <a:rPr lang="en-US" altLang="zh-CN" sz="2800">
                <a:solidFill>
                  <a:srgbClr val="CCFFCC"/>
                </a:solidFill>
                <a:effectLst>
                  <a:outerShdw blurRad="38100" dist="38100" dir="2700000" algn="tl">
                    <a:srgbClr val="000000"/>
                  </a:outerShdw>
                </a:effectLst>
                <a:latin typeface="微软雅黑" pitchFamily="34" charset="-122"/>
                <a:ea typeface="微软雅黑" pitchFamily="34" charset="-122"/>
              </a:rPr>
              <a:t>, </a:t>
            </a:r>
            <a:r>
              <a:rPr lang="zh-CN" altLang="en-US" sz="2800">
                <a:solidFill>
                  <a:srgbClr val="CCFFCC"/>
                </a:solidFill>
                <a:effectLst>
                  <a:outerShdw blurRad="38100" dist="38100" dir="2700000" algn="tl">
                    <a:srgbClr val="000000"/>
                  </a:outerShdw>
                </a:effectLst>
                <a:latin typeface="微软雅黑" pitchFamily="34" charset="-122"/>
                <a:ea typeface="微软雅黑" pitchFamily="34" charset="-122"/>
              </a:rPr>
              <a:t>姓名</a:t>
            </a:r>
            <a:r>
              <a:rPr lang="en-US" altLang="zh-CN" sz="2800">
                <a:solidFill>
                  <a:srgbClr val="CCFFCC"/>
                </a:solidFill>
                <a:effectLst>
                  <a:outerShdw blurRad="38100" dist="38100" dir="2700000" algn="tl">
                    <a:srgbClr val="000000"/>
                  </a:outerShdw>
                </a:effectLst>
                <a:latin typeface="微软雅黑" pitchFamily="34" charset="-122"/>
                <a:ea typeface="微软雅黑" pitchFamily="34" charset="-122"/>
              </a:rPr>
              <a:t>, </a:t>
            </a:r>
            <a:r>
              <a:rPr lang="zh-CN" altLang="en-US" sz="2800">
                <a:solidFill>
                  <a:srgbClr val="CCFFCC"/>
                </a:solidFill>
                <a:effectLst>
                  <a:outerShdw blurRad="38100" dist="38100" dir="2700000" algn="tl">
                    <a:srgbClr val="000000"/>
                  </a:outerShdw>
                </a:effectLst>
                <a:latin typeface="微软雅黑" pitchFamily="34" charset="-122"/>
                <a:ea typeface="微软雅黑" pitchFamily="34" charset="-122"/>
              </a:rPr>
              <a:t>性别</a:t>
            </a:r>
            <a:r>
              <a:rPr lang="en-US" altLang="zh-CN" sz="2800">
                <a:solidFill>
                  <a:srgbClr val="CCFFCC"/>
                </a:solidFill>
                <a:effectLst>
                  <a:outerShdw blurRad="38100" dist="38100" dir="2700000" algn="tl">
                    <a:srgbClr val="000000"/>
                  </a:outerShdw>
                </a:effectLst>
                <a:latin typeface="微软雅黑" pitchFamily="34" charset="-122"/>
                <a:ea typeface="微软雅黑" pitchFamily="34" charset="-122"/>
              </a:rPr>
              <a:t>, </a:t>
            </a:r>
            <a:r>
              <a:rPr lang="zh-CN" altLang="en-US" sz="2800">
                <a:solidFill>
                  <a:srgbClr val="CCFFCC"/>
                </a:solidFill>
                <a:effectLst>
                  <a:outerShdw blurRad="38100" dist="38100" dir="2700000" algn="tl">
                    <a:srgbClr val="000000"/>
                  </a:outerShdw>
                </a:effectLst>
                <a:latin typeface="微软雅黑" pitchFamily="34" charset="-122"/>
                <a:ea typeface="微软雅黑" pitchFamily="34" charset="-122"/>
              </a:rPr>
              <a:t>年龄</a:t>
            </a:r>
            <a:r>
              <a:rPr lang="en-US" altLang="zh-CN" sz="2800">
                <a:solidFill>
                  <a:srgbClr val="CCFFCC"/>
                </a:solidFill>
                <a:effectLst>
                  <a:outerShdw blurRad="38100" dist="38100" dir="2700000" algn="tl">
                    <a:srgbClr val="000000"/>
                  </a:outerShdw>
                </a:effectLst>
                <a:latin typeface="微软雅黑" pitchFamily="34" charset="-122"/>
                <a:ea typeface="微软雅黑" pitchFamily="34" charset="-122"/>
              </a:rPr>
              <a:t>, </a:t>
            </a:r>
            <a:r>
              <a:rPr lang="zh-CN" altLang="en-US" sz="2800">
                <a:solidFill>
                  <a:srgbClr val="CCFFCC"/>
                </a:solidFill>
                <a:effectLst>
                  <a:outerShdw blurRad="38100" dist="38100" dir="2700000" algn="tl">
                    <a:srgbClr val="000000"/>
                  </a:outerShdw>
                </a:effectLst>
                <a:latin typeface="微软雅黑" pitchFamily="34" charset="-122"/>
                <a:ea typeface="微软雅黑" pitchFamily="34" charset="-122"/>
              </a:rPr>
              <a:t>职称</a:t>
            </a:r>
            <a:r>
              <a:rPr lang="en-US" altLang="zh-CN" sz="2800">
                <a:solidFill>
                  <a:srgbClr val="CCFFCC"/>
                </a:solidFill>
                <a:effectLst>
                  <a:outerShdw blurRad="38100" dist="38100" dir="2700000" algn="tl">
                    <a:srgbClr val="000000"/>
                  </a:outerShdw>
                </a:effectLst>
                <a:latin typeface="微软雅黑" pitchFamily="34" charset="-122"/>
                <a:ea typeface="微软雅黑" pitchFamily="34" charset="-122"/>
              </a:rPr>
              <a:t>, </a:t>
            </a:r>
            <a:r>
              <a:rPr lang="zh-CN" altLang="en-US" sz="2800">
                <a:solidFill>
                  <a:srgbClr val="00FF99"/>
                </a:solidFill>
                <a:effectLst>
                  <a:outerShdw blurRad="38100" dist="38100" dir="2700000" algn="tl">
                    <a:srgbClr val="000000"/>
                  </a:outerShdw>
                </a:effectLst>
                <a:latin typeface="微软雅黑" pitchFamily="34" charset="-122"/>
                <a:ea typeface="微软雅黑" pitchFamily="34" charset="-122"/>
              </a:rPr>
              <a:t>家庭住址</a:t>
            </a:r>
            <a:r>
              <a:rPr lang="en-US" altLang="zh-CN" sz="2800">
                <a:solidFill>
                  <a:srgbClr val="00FF99"/>
                </a:solidFill>
                <a:effectLst>
                  <a:outerShdw blurRad="38100" dist="38100" dir="2700000" algn="tl">
                    <a:srgbClr val="000000"/>
                  </a:outerShdw>
                </a:effectLst>
                <a:latin typeface="微软雅黑" pitchFamily="34" charset="-122"/>
                <a:ea typeface="微软雅黑" pitchFamily="34" charset="-122"/>
              </a:rPr>
              <a:t>, </a:t>
            </a:r>
            <a:r>
              <a:rPr lang="zh-CN" altLang="en-US" sz="2800">
                <a:solidFill>
                  <a:srgbClr val="00FF99"/>
                </a:solidFill>
                <a:effectLst>
                  <a:outerShdw blurRad="38100" dist="38100" dir="2700000" algn="tl">
                    <a:srgbClr val="000000"/>
                  </a:outerShdw>
                </a:effectLst>
                <a:latin typeface="微软雅黑" pitchFamily="34" charset="-122"/>
                <a:ea typeface="微软雅黑" pitchFamily="34" charset="-122"/>
              </a:rPr>
              <a:t>电话</a:t>
            </a:r>
            <a:r>
              <a:rPr lang="en-US" altLang="zh-CN" sz="2800">
                <a:solidFill>
                  <a:srgbClr val="CCFFCC"/>
                </a:solidFill>
                <a:effectLst>
                  <a:outerShdw blurRad="38100" dist="38100" dir="2700000" algn="tl">
                    <a:srgbClr val="000000"/>
                  </a:outerShdw>
                </a:effectLst>
                <a:latin typeface="微软雅黑" pitchFamily="34" charset="-122"/>
                <a:ea typeface="微软雅黑" pitchFamily="34" charset="-122"/>
              </a:rPr>
              <a:t>)</a:t>
            </a:r>
          </a:p>
        </p:txBody>
      </p:sp>
      <p:sp>
        <p:nvSpPr>
          <p:cNvPr id="5" name="Rectangle 5">
            <a:extLst>
              <a:ext uri="{FF2B5EF4-FFF2-40B4-BE49-F238E27FC236}">
                <a16:creationId xmlns:a16="http://schemas.microsoft.com/office/drawing/2014/main" id="{82934E1C-8164-4349-A390-FABBC5A947AE}"/>
              </a:ext>
            </a:extLst>
          </p:cNvPr>
          <p:cNvSpPr>
            <a:spLocks noChangeArrowheads="1"/>
          </p:cNvSpPr>
          <p:nvPr/>
        </p:nvSpPr>
        <p:spPr bwMode="auto">
          <a:xfrm>
            <a:off x="1683885" y="3798604"/>
            <a:ext cx="7772400" cy="488950"/>
          </a:xfrm>
          <a:prstGeom prst="rect">
            <a:avLst/>
          </a:prstGeom>
          <a:noFill/>
          <a:ln w="12700" cap="sq">
            <a:noFill/>
            <a:miter lim="800000"/>
            <a:headEnd/>
            <a:tailEnd/>
          </a:ln>
          <a:effectLst/>
        </p:spPr>
        <p:txBody>
          <a:bodyPr lIns="0" tIns="0" rIns="0" bIns="0"/>
          <a:lstStyle/>
          <a:p>
            <a:pPr>
              <a:spcAft>
                <a:spcPct val="35000"/>
              </a:spcAft>
              <a:buSzTx/>
              <a:buFontTx/>
              <a:buNone/>
              <a:defRPr/>
            </a:pPr>
            <a:r>
              <a:rPr lang="zh-CN" altLang="en-US" sz="2800">
                <a:solidFill>
                  <a:srgbClr val="CCFFCC"/>
                </a:solidFill>
                <a:effectLst>
                  <a:outerShdw blurRad="38100" dist="38100" dir="2700000" algn="tl">
                    <a:srgbClr val="000000"/>
                  </a:outerShdw>
                </a:effectLst>
                <a:latin typeface="微软雅黑" pitchFamily="34" charset="-122"/>
                <a:ea typeface="微软雅黑" pitchFamily="34" charset="-122"/>
              </a:rPr>
              <a:t>教师基本</a:t>
            </a:r>
            <a:r>
              <a:rPr lang="en-US" altLang="zh-CN" sz="2800">
                <a:solidFill>
                  <a:srgbClr val="CCFFCC"/>
                </a:solidFill>
                <a:effectLst>
                  <a:outerShdw blurRad="38100" dist="38100" dir="2700000" algn="tl">
                    <a:srgbClr val="000000"/>
                  </a:outerShdw>
                </a:effectLst>
                <a:latin typeface="微软雅黑" pitchFamily="34" charset="-122"/>
                <a:ea typeface="微软雅黑" pitchFamily="34" charset="-122"/>
              </a:rPr>
              <a:t>(</a:t>
            </a:r>
            <a:r>
              <a:rPr lang="zh-CN" altLang="en-US" sz="2800" u="sng">
                <a:solidFill>
                  <a:srgbClr val="CCFFCC"/>
                </a:solidFill>
                <a:effectLst>
                  <a:outerShdw blurRad="38100" dist="38100" dir="2700000" algn="tl">
                    <a:srgbClr val="000000"/>
                  </a:outerShdw>
                </a:effectLst>
                <a:latin typeface="微软雅黑" pitchFamily="34" charset="-122"/>
                <a:ea typeface="微软雅黑" pitchFamily="34" charset="-122"/>
              </a:rPr>
              <a:t>工号</a:t>
            </a:r>
            <a:r>
              <a:rPr lang="en-US" altLang="zh-CN" sz="2800">
                <a:solidFill>
                  <a:srgbClr val="CCFFCC"/>
                </a:solidFill>
                <a:effectLst>
                  <a:outerShdw blurRad="38100" dist="38100" dir="2700000" algn="tl">
                    <a:srgbClr val="000000"/>
                  </a:outerShdw>
                </a:effectLst>
                <a:latin typeface="微软雅黑" pitchFamily="34" charset="-122"/>
                <a:ea typeface="微软雅黑" pitchFamily="34" charset="-122"/>
              </a:rPr>
              <a:t>, </a:t>
            </a:r>
            <a:r>
              <a:rPr lang="zh-CN" altLang="en-US" sz="2800">
                <a:solidFill>
                  <a:srgbClr val="CCFFCC"/>
                </a:solidFill>
                <a:effectLst>
                  <a:outerShdw blurRad="38100" dist="38100" dir="2700000" algn="tl">
                    <a:srgbClr val="000000"/>
                  </a:outerShdw>
                </a:effectLst>
                <a:latin typeface="微软雅黑" pitchFamily="34" charset="-122"/>
                <a:ea typeface="微软雅黑" pitchFamily="34" charset="-122"/>
              </a:rPr>
              <a:t>姓名</a:t>
            </a:r>
            <a:r>
              <a:rPr lang="en-US" altLang="zh-CN" sz="2800">
                <a:solidFill>
                  <a:srgbClr val="CCFFCC"/>
                </a:solidFill>
                <a:effectLst>
                  <a:outerShdw blurRad="38100" dist="38100" dir="2700000" algn="tl">
                    <a:srgbClr val="000000"/>
                  </a:outerShdw>
                </a:effectLst>
                <a:latin typeface="微软雅黑" pitchFamily="34" charset="-122"/>
                <a:ea typeface="微软雅黑" pitchFamily="34" charset="-122"/>
              </a:rPr>
              <a:t>, </a:t>
            </a:r>
            <a:r>
              <a:rPr lang="zh-CN" altLang="en-US" sz="2800">
                <a:solidFill>
                  <a:srgbClr val="CCFFCC"/>
                </a:solidFill>
                <a:effectLst>
                  <a:outerShdw blurRad="38100" dist="38100" dir="2700000" algn="tl">
                    <a:srgbClr val="000000"/>
                  </a:outerShdw>
                </a:effectLst>
                <a:latin typeface="微软雅黑" pitchFamily="34" charset="-122"/>
                <a:ea typeface="微软雅黑" pitchFamily="34" charset="-122"/>
              </a:rPr>
              <a:t>性别</a:t>
            </a:r>
            <a:r>
              <a:rPr lang="en-US" altLang="zh-CN" sz="2800">
                <a:solidFill>
                  <a:srgbClr val="CCFFCC"/>
                </a:solidFill>
                <a:effectLst>
                  <a:outerShdw blurRad="38100" dist="38100" dir="2700000" algn="tl">
                    <a:srgbClr val="000000"/>
                  </a:outerShdw>
                </a:effectLst>
                <a:latin typeface="微软雅黑" pitchFamily="34" charset="-122"/>
                <a:ea typeface="微软雅黑" pitchFamily="34" charset="-122"/>
              </a:rPr>
              <a:t>, </a:t>
            </a:r>
            <a:r>
              <a:rPr lang="zh-CN" altLang="en-US" sz="2800">
                <a:solidFill>
                  <a:srgbClr val="CCFFCC"/>
                </a:solidFill>
                <a:effectLst>
                  <a:outerShdw blurRad="38100" dist="38100" dir="2700000" algn="tl">
                    <a:srgbClr val="000000"/>
                  </a:outerShdw>
                </a:effectLst>
                <a:latin typeface="微软雅黑" pitchFamily="34" charset="-122"/>
                <a:ea typeface="微软雅黑" pitchFamily="34" charset="-122"/>
              </a:rPr>
              <a:t>年龄</a:t>
            </a:r>
            <a:r>
              <a:rPr lang="en-US" altLang="zh-CN" sz="2800">
                <a:solidFill>
                  <a:srgbClr val="CCFFCC"/>
                </a:solidFill>
                <a:effectLst>
                  <a:outerShdw blurRad="38100" dist="38100" dir="2700000" algn="tl">
                    <a:srgbClr val="000000"/>
                  </a:outerShdw>
                </a:effectLst>
                <a:latin typeface="微软雅黑" pitchFamily="34" charset="-122"/>
                <a:ea typeface="微软雅黑" pitchFamily="34" charset="-122"/>
              </a:rPr>
              <a:t>, </a:t>
            </a:r>
            <a:r>
              <a:rPr lang="zh-CN" altLang="en-US" sz="2800">
                <a:solidFill>
                  <a:srgbClr val="CCFFCC"/>
                </a:solidFill>
                <a:effectLst>
                  <a:outerShdw blurRad="38100" dist="38100" dir="2700000" algn="tl">
                    <a:srgbClr val="000000"/>
                  </a:outerShdw>
                </a:effectLst>
                <a:latin typeface="微软雅黑" pitchFamily="34" charset="-122"/>
                <a:ea typeface="微软雅黑" pitchFamily="34" charset="-122"/>
              </a:rPr>
              <a:t>职称</a:t>
            </a:r>
            <a:r>
              <a:rPr lang="en-US" altLang="zh-CN" sz="2800">
                <a:solidFill>
                  <a:srgbClr val="CCFFCC"/>
                </a:solidFill>
                <a:effectLst>
                  <a:outerShdw blurRad="38100" dist="38100" dir="2700000" algn="tl">
                    <a:srgbClr val="000000"/>
                  </a:outerShdw>
                </a:effectLst>
                <a:latin typeface="微软雅黑" pitchFamily="34" charset="-122"/>
                <a:ea typeface="微软雅黑" pitchFamily="34" charset="-122"/>
              </a:rPr>
              <a:t>)</a:t>
            </a:r>
          </a:p>
          <a:p>
            <a:pPr>
              <a:spcAft>
                <a:spcPct val="35000"/>
              </a:spcAft>
              <a:buSzTx/>
              <a:buFontTx/>
              <a:buNone/>
              <a:defRPr/>
            </a:pPr>
            <a:r>
              <a:rPr lang="zh-CN" altLang="en-US" sz="2800">
                <a:solidFill>
                  <a:srgbClr val="CCFFCC"/>
                </a:solidFill>
                <a:effectLst>
                  <a:outerShdw blurRad="38100" dist="38100" dir="2700000" algn="tl">
                    <a:srgbClr val="000000"/>
                  </a:outerShdw>
                </a:effectLst>
                <a:latin typeface="微软雅黑" pitchFamily="34" charset="-122"/>
                <a:ea typeface="微软雅黑" pitchFamily="34" charset="-122"/>
              </a:rPr>
              <a:t>教师其它</a:t>
            </a:r>
            <a:r>
              <a:rPr lang="en-US" altLang="zh-CN" sz="2800">
                <a:solidFill>
                  <a:srgbClr val="CCFFCC"/>
                </a:solidFill>
                <a:effectLst>
                  <a:outerShdw blurRad="38100" dist="38100" dir="2700000" algn="tl">
                    <a:srgbClr val="000000"/>
                  </a:outerShdw>
                </a:effectLst>
                <a:latin typeface="微软雅黑" pitchFamily="34" charset="-122"/>
                <a:ea typeface="微软雅黑" pitchFamily="34" charset="-122"/>
              </a:rPr>
              <a:t>(</a:t>
            </a:r>
            <a:r>
              <a:rPr lang="zh-CN" altLang="en-US" sz="2800" u="sng">
                <a:solidFill>
                  <a:srgbClr val="CCFFCC"/>
                </a:solidFill>
                <a:effectLst>
                  <a:outerShdw blurRad="38100" dist="38100" dir="2700000" algn="tl">
                    <a:srgbClr val="000000"/>
                  </a:outerShdw>
                </a:effectLst>
                <a:latin typeface="微软雅黑" pitchFamily="34" charset="-122"/>
                <a:ea typeface="微软雅黑" pitchFamily="34" charset="-122"/>
              </a:rPr>
              <a:t>工号</a:t>
            </a:r>
            <a:r>
              <a:rPr lang="en-US" altLang="zh-CN" sz="2800">
                <a:solidFill>
                  <a:srgbClr val="CCFFCC"/>
                </a:solidFill>
                <a:effectLst>
                  <a:outerShdw blurRad="38100" dist="38100" dir="2700000" algn="tl">
                    <a:srgbClr val="000000"/>
                  </a:outerShdw>
                </a:effectLst>
                <a:latin typeface="微软雅黑" pitchFamily="34" charset="-122"/>
                <a:ea typeface="微软雅黑" pitchFamily="34" charset="-122"/>
              </a:rPr>
              <a:t>, </a:t>
            </a:r>
            <a:r>
              <a:rPr lang="zh-CN" altLang="en-US" sz="2800">
                <a:solidFill>
                  <a:srgbClr val="CCFFCC"/>
                </a:solidFill>
                <a:effectLst>
                  <a:outerShdw blurRad="38100" dist="38100" dir="2700000" algn="tl">
                    <a:srgbClr val="000000"/>
                  </a:outerShdw>
                </a:effectLst>
                <a:latin typeface="微软雅黑" pitchFamily="34" charset="-122"/>
                <a:ea typeface="微软雅黑" pitchFamily="34" charset="-122"/>
              </a:rPr>
              <a:t>家庭住址</a:t>
            </a:r>
            <a:r>
              <a:rPr lang="en-US" altLang="zh-CN" sz="2800">
                <a:solidFill>
                  <a:srgbClr val="CCFFCC"/>
                </a:solidFill>
                <a:effectLst>
                  <a:outerShdw blurRad="38100" dist="38100" dir="2700000" algn="tl">
                    <a:srgbClr val="000000"/>
                  </a:outerShdw>
                </a:effectLst>
                <a:latin typeface="微软雅黑" pitchFamily="34" charset="-122"/>
                <a:ea typeface="微软雅黑" pitchFamily="34" charset="-122"/>
              </a:rPr>
              <a:t>, </a:t>
            </a:r>
            <a:r>
              <a:rPr lang="zh-CN" altLang="en-US" sz="2800">
                <a:solidFill>
                  <a:srgbClr val="CCFFCC"/>
                </a:solidFill>
                <a:effectLst>
                  <a:outerShdw blurRad="38100" dist="38100" dir="2700000" algn="tl">
                    <a:srgbClr val="000000"/>
                  </a:outerShdw>
                </a:effectLst>
                <a:latin typeface="微软雅黑" pitchFamily="34" charset="-122"/>
                <a:ea typeface="微软雅黑" pitchFamily="34" charset="-122"/>
              </a:rPr>
              <a:t>电话</a:t>
            </a:r>
            <a:r>
              <a:rPr lang="en-US" altLang="zh-CN" sz="2800">
                <a:solidFill>
                  <a:srgbClr val="CCFFCC"/>
                </a:solidFill>
                <a:effectLst>
                  <a:outerShdw blurRad="38100" dist="38100" dir="2700000" algn="tl">
                    <a:srgbClr val="000000"/>
                  </a:outerShdw>
                </a:effectLst>
                <a:latin typeface="微软雅黑" pitchFamily="34" charset="-122"/>
                <a:ea typeface="微软雅黑" pitchFamily="34" charset="-122"/>
              </a:rPr>
              <a:t>)</a:t>
            </a:r>
          </a:p>
        </p:txBody>
      </p:sp>
      <p:sp>
        <p:nvSpPr>
          <p:cNvPr id="6" name="AutoShape 6">
            <a:extLst>
              <a:ext uri="{FF2B5EF4-FFF2-40B4-BE49-F238E27FC236}">
                <a16:creationId xmlns:a16="http://schemas.microsoft.com/office/drawing/2014/main" id="{A5172440-6632-431A-87E1-96BD51CC29B6}"/>
              </a:ext>
            </a:extLst>
          </p:cNvPr>
          <p:cNvSpPr>
            <a:spLocks noChangeArrowheads="1"/>
          </p:cNvSpPr>
          <p:nvPr/>
        </p:nvSpPr>
        <p:spPr bwMode="auto">
          <a:xfrm>
            <a:off x="5133523" y="2717517"/>
            <a:ext cx="228600" cy="785813"/>
          </a:xfrm>
          <a:prstGeom prst="downArrow">
            <a:avLst>
              <a:gd name="adj1" fmla="val 50000"/>
              <a:gd name="adj2" fmla="val 85938"/>
            </a:avLst>
          </a:prstGeom>
          <a:solidFill>
            <a:schemeClr val="hlink"/>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latin typeface="微软雅黑" pitchFamily="34" charset="-122"/>
              <a:ea typeface="微软雅黑" pitchFamily="34" charset="-122"/>
            </a:endParaRPr>
          </a:p>
        </p:txBody>
      </p:sp>
      <p:sp>
        <p:nvSpPr>
          <p:cNvPr id="7" name="Rectangle 7">
            <a:extLst>
              <a:ext uri="{FF2B5EF4-FFF2-40B4-BE49-F238E27FC236}">
                <a16:creationId xmlns:a16="http://schemas.microsoft.com/office/drawing/2014/main" id="{BDFB114F-0210-40DE-806C-440765DD4638}"/>
              </a:ext>
            </a:extLst>
          </p:cNvPr>
          <p:cNvSpPr>
            <a:spLocks noChangeArrowheads="1"/>
          </p:cNvSpPr>
          <p:nvPr/>
        </p:nvSpPr>
        <p:spPr bwMode="auto">
          <a:xfrm>
            <a:off x="5541510" y="2933416"/>
            <a:ext cx="2133600" cy="427038"/>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800">
                <a:solidFill>
                  <a:srgbClr val="FFFF00"/>
                </a:solidFill>
                <a:effectLst>
                  <a:outerShdw blurRad="38100" dist="38100" dir="2700000" algn="tl">
                    <a:srgbClr val="000000"/>
                  </a:outerShdw>
                </a:effectLst>
                <a:latin typeface="微软雅黑" pitchFamily="34" charset="-122"/>
                <a:ea typeface="微软雅黑" pitchFamily="34" charset="-122"/>
              </a:rPr>
              <a:t>数据使用频度</a:t>
            </a:r>
          </a:p>
        </p:txBody>
      </p:sp>
      <p:sp>
        <p:nvSpPr>
          <p:cNvPr id="8" name="AutoShape 8">
            <a:extLst>
              <a:ext uri="{FF2B5EF4-FFF2-40B4-BE49-F238E27FC236}">
                <a16:creationId xmlns:a16="http://schemas.microsoft.com/office/drawing/2014/main" id="{63F43531-EB48-4301-97D9-E6736EB115F1}"/>
              </a:ext>
            </a:extLst>
          </p:cNvPr>
          <p:cNvSpPr>
            <a:spLocks noChangeArrowheads="1"/>
          </p:cNvSpPr>
          <p:nvPr/>
        </p:nvSpPr>
        <p:spPr bwMode="auto">
          <a:xfrm flipV="1">
            <a:off x="3549198" y="2717517"/>
            <a:ext cx="228600" cy="785813"/>
          </a:xfrm>
          <a:prstGeom prst="downArrow">
            <a:avLst>
              <a:gd name="adj1" fmla="val 50000"/>
              <a:gd name="adj2" fmla="val 85938"/>
            </a:avLst>
          </a:prstGeom>
          <a:solidFill>
            <a:schemeClr val="hlink"/>
          </a:solidFill>
          <a:ln w="12700" cap="sq">
            <a:solidFill>
              <a:schemeClr val="tx1"/>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latin typeface="微软雅黑" pitchFamily="34" charset="-122"/>
              <a:ea typeface="微软雅黑" pitchFamily="34" charset="-122"/>
            </a:endParaRPr>
          </a:p>
        </p:txBody>
      </p:sp>
      <p:sp>
        <p:nvSpPr>
          <p:cNvPr id="10" name="Rectangle 9">
            <a:extLst>
              <a:ext uri="{FF2B5EF4-FFF2-40B4-BE49-F238E27FC236}">
                <a16:creationId xmlns:a16="http://schemas.microsoft.com/office/drawing/2014/main" id="{9BC0381E-8A26-46FA-B627-CBBB4E7E6E78}"/>
              </a:ext>
            </a:extLst>
          </p:cNvPr>
          <p:cNvSpPr>
            <a:spLocks noChangeArrowheads="1"/>
          </p:cNvSpPr>
          <p:nvPr/>
        </p:nvSpPr>
        <p:spPr bwMode="auto">
          <a:xfrm>
            <a:off x="1964873" y="2933416"/>
            <a:ext cx="1422400" cy="427038"/>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800">
                <a:solidFill>
                  <a:srgbClr val="FFFF00"/>
                </a:solidFill>
                <a:effectLst>
                  <a:outerShdw blurRad="38100" dist="38100" dir="2700000" algn="tl">
                    <a:srgbClr val="000000"/>
                  </a:outerShdw>
                </a:effectLst>
                <a:latin typeface="微软雅黑" pitchFamily="34" charset="-122"/>
                <a:ea typeface="微软雅黑" pitchFamily="34" charset="-122"/>
              </a:rPr>
              <a:t>连接代价</a:t>
            </a:r>
          </a:p>
        </p:txBody>
      </p:sp>
      <p:sp>
        <p:nvSpPr>
          <p:cNvPr id="11" name="Rectangle 10">
            <a:extLst>
              <a:ext uri="{FF2B5EF4-FFF2-40B4-BE49-F238E27FC236}">
                <a16:creationId xmlns:a16="http://schemas.microsoft.com/office/drawing/2014/main" id="{D555E7FA-7894-4448-AEF6-0C509037A1D7}"/>
              </a:ext>
            </a:extLst>
          </p:cNvPr>
          <p:cNvSpPr>
            <a:spLocks noChangeArrowheads="1"/>
          </p:cNvSpPr>
          <p:nvPr/>
        </p:nvSpPr>
        <p:spPr bwMode="auto">
          <a:xfrm>
            <a:off x="1511170" y="5387255"/>
            <a:ext cx="8977318" cy="1079500"/>
          </a:xfrm>
          <a:prstGeom prst="rect">
            <a:avLst/>
          </a:prstGeom>
          <a:solidFill>
            <a:srgbClr val="F5F5FF"/>
          </a:solidFill>
          <a:ln w="28575" cap="sq" algn="ctr">
            <a:solidFill>
              <a:schemeClr val="hlink"/>
            </a:solidFill>
            <a:miter lim="800000"/>
            <a:headEnd/>
            <a:tailEnd/>
          </a:ln>
          <a:effectLst>
            <a:outerShdw dist="35921" dir="2700000" algn="ctr" rotWithShape="0">
              <a:schemeClr val="bg2"/>
            </a:outerShdw>
          </a:effectLst>
        </p:spPr>
        <p:txBody>
          <a:bodyPr lIns="0" tIns="0" rIns="0" bIns="0" anchor="ctr" anchorCtr="1"/>
          <a:lstStyle/>
          <a:p>
            <a:pPr>
              <a:spcAft>
                <a:spcPct val="0"/>
              </a:spcAft>
              <a:buSzTx/>
              <a:buFontTx/>
              <a:buNone/>
              <a:defRPr/>
            </a:pPr>
            <a:r>
              <a:rPr lang="zh-CN" altLang="en-US" sz="2800" dirty="0">
                <a:solidFill>
                  <a:schemeClr val="bg1"/>
                </a:solidFill>
                <a:effectLst>
                  <a:outerShdw blurRad="38100" dist="38100" dir="2700000" algn="tl">
                    <a:srgbClr val="C0C0C0"/>
                  </a:outerShdw>
                </a:effectLst>
                <a:latin typeface="微软雅黑" pitchFamily="34" charset="-122"/>
                <a:ea typeface="微软雅黑" pitchFamily="34" charset="-122"/>
              </a:rPr>
              <a:t>一般只操作教师的工号、姓名、性别、年龄和职称，</a:t>
            </a:r>
            <a:endParaRPr lang="en-US" altLang="zh-CN" sz="2800" dirty="0">
              <a:solidFill>
                <a:schemeClr val="bg1"/>
              </a:solidFill>
              <a:effectLst>
                <a:outerShdw blurRad="38100" dist="38100" dir="2700000" algn="tl">
                  <a:srgbClr val="C0C0C0"/>
                </a:outerShdw>
              </a:effectLst>
              <a:latin typeface="微软雅黑" pitchFamily="34" charset="-122"/>
              <a:ea typeface="微软雅黑" pitchFamily="34" charset="-122"/>
            </a:endParaRPr>
          </a:p>
          <a:p>
            <a:pPr>
              <a:spcAft>
                <a:spcPct val="0"/>
              </a:spcAft>
              <a:buSzTx/>
              <a:buFontTx/>
              <a:buNone/>
              <a:defRPr/>
            </a:pPr>
            <a:r>
              <a:rPr lang="zh-CN" altLang="en-US" sz="2800" dirty="0">
                <a:solidFill>
                  <a:schemeClr val="bg1"/>
                </a:solidFill>
                <a:effectLst>
                  <a:outerShdw blurRad="38100" dist="38100" dir="2700000" algn="tl">
                    <a:srgbClr val="C0C0C0"/>
                  </a:outerShdw>
                </a:effectLst>
                <a:latin typeface="微软雅黑" pitchFamily="34" charset="-122"/>
                <a:ea typeface="微软雅黑" pitchFamily="34" charset="-122"/>
              </a:rPr>
              <a:t>家庭住址和电话很少用到。</a:t>
            </a:r>
          </a:p>
        </p:txBody>
      </p:sp>
      <p:sp>
        <p:nvSpPr>
          <p:cNvPr id="12" name="AutoShape 11">
            <a:extLst>
              <a:ext uri="{FF2B5EF4-FFF2-40B4-BE49-F238E27FC236}">
                <a16:creationId xmlns:a16="http://schemas.microsoft.com/office/drawing/2014/main" id="{D8C823D9-9821-43A6-9C69-244C32F380C5}"/>
              </a:ext>
            </a:extLst>
          </p:cNvPr>
          <p:cNvSpPr>
            <a:spLocks/>
          </p:cNvSpPr>
          <p:nvPr/>
        </p:nvSpPr>
        <p:spPr bwMode="auto">
          <a:xfrm>
            <a:off x="1461635" y="3976405"/>
            <a:ext cx="71438" cy="720725"/>
          </a:xfrm>
          <a:prstGeom prst="leftBrace">
            <a:avLst>
              <a:gd name="adj1" fmla="val 84073"/>
              <a:gd name="adj2" fmla="val 50000"/>
            </a:avLst>
          </a:prstGeom>
          <a:noFill/>
          <a:ln w="28575" cap="sq">
            <a:solidFill>
              <a:srgbClr val="CCFFCC"/>
            </a:solidFill>
            <a:round/>
            <a:headEnd/>
            <a:tailEnd/>
          </a:ln>
          <a:effectLst/>
        </p:spPr>
        <p:txBody>
          <a:bodyPr wrap="none" lIns="0" tIns="0" rIns="0" bIns="0" anchor="ctr"/>
          <a:lstStyle/>
          <a:p>
            <a:pPr>
              <a:defRPr/>
            </a:pPr>
            <a:endParaRPr lang="zh-CN" altLang="en-US">
              <a:latin typeface="微软雅黑" pitchFamily="34" charset="-122"/>
              <a:ea typeface="微软雅黑" pitchFamily="34" charset="-122"/>
            </a:endParaRPr>
          </a:p>
        </p:txBody>
      </p:sp>
      <p:sp>
        <p:nvSpPr>
          <p:cNvPr id="13" name="Rectangle 6">
            <a:extLst>
              <a:ext uri="{FF2B5EF4-FFF2-40B4-BE49-F238E27FC236}">
                <a16:creationId xmlns:a16="http://schemas.microsoft.com/office/drawing/2014/main" id="{CA77C433-8B4C-42B0-BD05-12360A1E4212}"/>
              </a:ext>
            </a:extLst>
          </p:cNvPr>
          <p:cNvSpPr>
            <a:spLocks noChangeArrowheads="1"/>
          </p:cNvSpPr>
          <p:nvPr/>
        </p:nvSpPr>
        <p:spPr bwMode="auto">
          <a:xfrm>
            <a:off x="783189" y="1854091"/>
            <a:ext cx="10585176" cy="3087077"/>
          </a:xfrm>
          <a:prstGeom prst="roundRect">
            <a:avLst/>
          </a:prstGeom>
          <a:noFill/>
          <a:ln>
            <a:headEnd/>
            <a:tailEnd/>
          </a:ln>
        </p:spPr>
        <p:style>
          <a:lnRef idx="2">
            <a:schemeClr val="accent5"/>
          </a:lnRef>
          <a:fillRef idx="1">
            <a:schemeClr val="lt1"/>
          </a:fillRef>
          <a:effectRef idx="0">
            <a:schemeClr val="accent5"/>
          </a:effectRef>
          <a:fontRef idx="minor">
            <a:schemeClr val="dk1"/>
          </a:fontRef>
        </p:style>
        <p:txBody>
          <a:bodyPr lIns="72000" tIns="72000" rIns="72000" bIns="0"/>
          <a:lstStyle/>
          <a:p>
            <a:pPr>
              <a:spcAft>
                <a:spcPct val="0"/>
              </a:spcAft>
              <a:buSzTx/>
              <a:buFontTx/>
              <a:buNone/>
              <a:defRPr/>
            </a:pPr>
            <a:endParaRPr lang="zh-CN" altLang="en-US" sz="2800" dirty="0">
              <a:solidFill>
                <a:schemeClr val="bg2"/>
              </a:solidFill>
              <a:effectLst>
                <a:outerShdw blurRad="38100" dist="38100" dir="2700000" algn="tl">
                  <a:srgbClr val="C0C0C0"/>
                </a:outerShdw>
              </a:effectLst>
              <a:latin typeface="Times New Roman" pitchFamily="18" charset="0"/>
            </a:endParaRPr>
          </a:p>
        </p:txBody>
      </p:sp>
      <p:sp>
        <p:nvSpPr>
          <p:cNvPr id="15" name="Rectangle 3">
            <a:extLst>
              <a:ext uri="{FF2B5EF4-FFF2-40B4-BE49-F238E27FC236}">
                <a16:creationId xmlns:a16="http://schemas.microsoft.com/office/drawing/2014/main" id="{EF847765-763A-4CB6-85BF-7D97E0B68557}"/>
              </a:ext>
            </a:extLst>
          </p:cNvPr>
          <p:cNvSpPr>
            <a:spLocks noGrp="1" noChangeArrowheads="1"/>
          </p:cNvSpPr>
          <p:nvPr>
            <p:ph type="title"/>
          </p:nvPr>
        </p:nvSpPr>
        <p:spPr>
          <a:xfrm>
            <a:off x="783189" y="968092"/>
            <a:ext cx="5110162" cy="584200"/>
          </a:xfrm>
        </p:spPr>
        <p:txBody>
          <a:bodyPr wrap="square"/>
          <a:lstStyle/>
          <a:p>
            <a:pPr eaLnBrk="1" hangingPunct="1">
              <a:buFont typeface="Wingdings" pitchFamily="2" charset="2"/>
              <a:buNone/>
            </a:pPr>
            <a:r>
              <a:rPr lang="zh-CN" altLang="zh-CN" dirty="0"/>
              <a:t>优化</a:t>
            </a:r>
            <a:r>
              <a:rPr lang="zh-CN" altLang="en-US" dirty="0"/>
              <a:t>的几个例子</a:t>
            </a:r>
            <a:endParaRPr lang="en-US" altLang="zh-CN" dirty="0"/>
          </a:p>
        </p:txBody>
      </p:sp>
    </p:spTree>
    <p:extLst>
      <p:ext uri="{BB962C8B-B14F-4D97-AF65-F5344CB8AC3E}">
        <p14:creationId xmlns:p14="http://schemas.microsoft.com/office/powerpoint/2010/main" val="3869656686"/>
      </p:ext>
    </p:extLst>
  </p:cSld>
  <p:clrMapOvr>
    <a:masterClrMapping/>
  </p:clrMapOvr>
  <p:transition spd="med">
    <p:random/>
    <p:sndAc>
      <p:stSnd>
        <p:snd r:embed="rId2" name="arrow.wav"/>
      </p:stSnd>
    </p:sndAc>
  </p:transition>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68354" name="Rectangle 2"/>
          <p:cNvSpPr>
            <a:spLocks noGrp="1" noChangeArrowheads="1"/>
          </p:cNvSpPr>
          <p:nvPr>
            <p:ph type="ctrTitle"/>
          </p:nvPr>
        </p:nvSpPr>
        <p:spPr>
          <a:xfrm>
            <a:off x="839416" y="188640"/>
            <a:ext cx="5109091" cy="584775"/>
          </a:xfrm>
        </p:spPr>
        <p:txBody>
          <a:bodyPr/>
          <a:lstStyle/>
          <a:p>
            <a:r>
              <a:rPr lang="zh-CN" altLang="en-US" dirty="0"/>
              <a:t>关系模式规范化</a:t>
            </a:r>
          </a:p>
        </p:txBody>
      </p:sp>
      <p:sp>
        <p:nvSpPr>
          <p:cNvPr id="868355" name="Rectangle 3"/>
          <p:cNvSpPr>
            <a:spLocks noGrp="1" noChangeArrowheads="1"/>
          </p:cNvSpPr>
          <p:nvPr>
            <p:ph type="subTitle" idx="1"/>
          </p:nvPr>
        </p:nvSpPr>
        <p:spPr>
          <a:xfrm>
            <a:off x="623392" y="1196752"/>
            <a:ext cx="11449272" cy="4392488"/>
          </a:xfrm>
        </p:spPr>
        <p:txBody>
          <a:bodyPr/>
          <a:lstStyle/>
          <a:p>
            <a:pPr algn="l">
              <a:lnSpc>
                <a:spcPct val="150000"/>
              </a:lnSpc>
            </a:pPr>
            <a:r>
              <a:rPr lang="zh-CN" altLang="en-US" dirty="0"/>
              <a:t>应用规范化理论对上述产生的关系的逻辑模式进行初步优化，以减少乃至消除关系模式中存在的各种异常，改善完整性、一致性和存储效率。</a:t>
            </a:r>
          </a:p>
        </p:txBody>
      </p:sp>
    </p:spTree>
    <p:extLst>
      <p:ext uri="{BB962C8B-B14F-4D97-AF65-F5344CB8AC3E}">
        <p14:creationId xmlns:p14="http://schemas.microsoft.com/office/powerpoint/2010/main" val="1718383700"/>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69379" name="Rectangle 3"/>
          <p:cNvSpPr>
            <a:spLocks noGrp="1" noChangeArrowheads="1"/>
          </p:cNvSpPr>
          <p:nvPr>
            <p:ph type="subTitle" idx="1"/>
          </p:nvPr>
        </p:nvSpPr>
        <p:spPr>
          <a:xfrm>
            <a:off x="623392" y="548680"/>
            <a:ext cx="11521280" cy="3168352"/>
          </a:xfrm>
        </p:spPr>
        <p:txBody>
          <a:bodyPr/>
          <a:lstStyle/>
          <a:p>
            <a:pPr algn="l">
              <a:lnSpc>
                <a:spcPct val="150000"/>
              </a:lnSpc>
            </a:pPr>
            <a:r>
              <a:rPr lang="zh-CN" altLang="en-US" sz="2800" dirty="0"/>
              <a:t>规范化理论是数据库逻辑设计的指南和工具，规范化过程可分为两个步骤：</a:t>
            </a:r>
          </a:p>
          <a:p>
            <a:pPr lvl="1" algn="l">
              <a:lnSpc>
                <a:spcPct val="150000"/>
              </a:lnSpc>
              <a:buFontTx/>
              <a:buNone/>
            </a:pPr>
            <a:r>
              <a:rPr lang="en-US" altLang="zh-CN" sz="2400" dirty="0"/>
              <a:t>1</a:t>
            </a:r>
            <a:r>
              <a:rPr lang="zh-CN" altLang="en-US" sz="2400" dirty="0"/>
              <a:t>、确定规范式级别；</a:t>
            </a:r>
          </a:p>
          <a:p>
            <a:pPr lvl="1" algn="l">
              <a:lnSpc>
                <a:spcPct val="150000"/>
              </a:lnSpc>
            </a:pPr>
            <a:r>
              <a:rPr lang="zh-CN" altLang="en-US" sz="2400" dirty="0"/>
              <a:t>考查关系模式的函数依赖关系，确定范式等级（确定它们分别属于第几范式）。</a:t>
            </a:r>
          </a:p>
          <a:p>
            <a:pPr lvl="1" algn="l">
              <a:lnSpc>
                <a:spcPct val="150000"/>
              </a:lnSpc>
              <a:buFontTx/>
              <a:buNone/>
            </a:pPr>
            <a:r>
              <a:rPr lang="en-US" altLang="zh-CN" sz="2400" dirty="0"/>
              <a:t>2</a:t>
            </a:r>
            <a:r>
              <a:rPr lang="zh-CN" altLang="en-US" sz="2400" dirty="0"/>
              <a:t>、实施规范化处理。</a:t>
            </a:r>
          </a:p>
          <a:p>
            <a:pPr lvl="1" algn="l">
              <a:lnSpc>
                <a:spcPct val="150000"/>
              </a:lnSpc>
            </a:pPr>
            <a:r>
              <a:rPr lang="zh-CN" altLang="en-US" sz="2400" dirty="0"/>
              <a:t>确定范式级别后，利用规范化理论，逐一考察各个关系模式，在规范化综合或分解过程中，要特别注意保持依赖和无损分解要求。</a:t>
            </a:r>
          </a:p>
        </p:txBody>
      </p:sp>
    </p:spTree>
    <p:extLst>
      <p:ext uri="{BB962C8B-B14F-4D97-AF65-F5344CB8AC3E}">
        <p14:creationId xmlns:p14="http://schemas.microsoft.com/office/powerpoint/2010/main" val="4013574805"/>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70402" name="Rectangle 2"/>
          <p:cNvSpPr>
            <a:spLocks noGrp="1" noChangeArrowheads="1"/>
          </p:cNvSpPr>
          <p:nvPr>
            <p:ph type="ctrTitle"/>
          </p:nvPr>
        </p:nvSpPr>
        <p:spPr>
          <a:xfrm>
            <a:off x="767408" y="188640"/>
            <a:ext cx="5109091" cy="584775"/>
          </a:xfrm>
        </p:spPr>
        <p:txBody>
          <a:bodyPr/>
          <a:lstStyle/>
          <a:p>
            <a:r>
              <a:rPr lang="zh-CN" altLang="en-US" dirty="0"/>
              <a:t>模式评价与改进</a:t>
            </a:r>
          </a:p>
        </p:txBody>
      </p:sp>
      <p:sp>
        <p:nvSpPr>
          <p:cNvPr id="870403" name="Rectangle 3"/>
          <p:cNvSpPr>
            <a:spLocks noGrp="1" noChangeArrowheads="1"/>
          </p:cNvSpPr>
          <p:nvPr>
            <p:ph type="subTitle" idx="1"/>
          </p:nvPr>
        </p:nvSpPr>
        <p:spPr>
          <a:xfrm>
            <a:off x="695400" y="1196752"/>
            <a:ext cx="11161240" cy="4392488"/>
          </a:xfrm>
        </p:spPr>
        <p:txBody>
          <a:bodyPr/>
          <a:lstStyle/>
          <a:p>
            <a:pPr algn="l">
              <a:lnSpc>
                <a:spcPct val="150000"/>
              </a:lnSpc>
              <a:buFontTx/>
              <a:buNone/>
            </a:pPr>
            <a:r>
              <a:rPr lang="zh-CN" altLang="en-US" sz="2800" dirty="0"/>
              <a:t>一、模式评价</a:t>
            </a:r>
          </a:p>
          <a:p>
            <a:pPr algn="l">
              <a:lnSpc>
                <a:spcPct val="150000"/>
              </a:lnSpc>
            </a:pPr>
            <a:r>
              <a:rPr lang="zh-CN" altLang="en-US" sz="2800" dirty="0"/>
              <a:t>关系模式的规范化不是目的而是手段，数据库设计的目的是最终满足应用需求。因此，为了进一步提高数据库应用系统的性能，还应该对规范化后产生的关系模式进行评价、改进，经过反复多次的尝试和比较，最后得到优化的关系模式。</a:t>
            </a:r>
          </a:p>
          <a:p>
            <a:pPr algn="l">
              <a:lnSpc>
                <a:spcPct val="150000"/>
              </a:lnSpc>
            </a:pPr>
            <a:r>
              <a:rPr lang="zh-CN" altLang="en-US" sz="2800" dirty="0"/>
              <a:t>模式评价的目的：是检查所设计的数据库模式是否满足用户的功能要求、效率，确定加以改进的部分。</a:t>
            </a:r>
          </a:p>
        </p:txBody>
      </p:sp>
    </p:spTree>
    <p:extLst>
      <p:ext uri="{BB962C8B-B14F-4D97-AF65-F5344CB8AC3E}">
        <p14:creationId xmlns:p14="http://schemas.microsoft.com/office/powerpoint/2010/main" val="3348699302"/>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71427" name="Rectangle 3"/>
          <p:cNvSpPr>
            <a:spLocks noGrp="1" noChangeArrowheads="1"/>
          </p:cNvSpPr>
          <p:nvPr>
            <p:ph type="subTitle" idx="1"/>
          </p:nvPr>
        </p:nvSpPr>
        <p:spPr>
          <a:xfrm>
            <a:off x="839416" y="332656"/>
            <a:ext cx="11017224" cy="3672408"/>
          </a:xfrm>
        </p:spPr>
        <p:txBody>
          <a:bodyPr/>
          <a:lstStyle/>
          <a:p>
            <a:pPr algn="l">
              <a:lnSpc>
                <a:spcPct val="150000"/>
              </a:lnSpc>
              <a:buFontTx/>
              <a:buNone/>
            </a:pPr>
            <a:r>
              <a:rPr lang="en-US" altLang="zh-CN" sz="2400" dirty="0"/>
              <a:t>1</a:t>
            </a:r>
            <a:r>
              <a:rPr lang="zh-CN" altLang="en-US" sz="2400" dirty="0"/>
              <a:t>、功能评价：</a:t>
            </a:r>
          </a:p>
          <a:p>
            <a:pPr algn="l">
              <a:lnSpc>
                <a:spcPct val="150000"/>
              </a:lnSpc>
            </a:pPr>
            <a:r>
              <a:rPr lang="zh-CN" altLang="en-US" sz="2400" dirty="0"/>
              <a:t>指对照需求分析的结果，检查规范化后的关系模式集合是否支持用户所有的应用要求。关系模式必须包括用户可能访问的所有属性。在涉及多个关系模式的应用中，应确保联接后不丢失信息。</a:t>
            </a:r>
          </a:p>
          <a:p>
            <a:pPr algn="l">
              <a:lnSpc>
                <a:spcPct val="150000"/>
              </a:lnSpc>
            </a:pPr>
            <a:r>
              <a:rPr lang="zh-CN" altLang="en-US" sz="2400" dirty="0"/>
              <a:t>在功能评价的过程中，可能会发现冗余的关系模式或属性，这时应对它们加以区分：</a:t>
            </a:r>
          </a:p>
          <a:p>
            <a:pPr lvl="1" algn="l">
              <a:lnSpc>
                <a:spcPct val="150000"/>
              </a:lnSpc>
            </a:pPr>
            <a:r>
              <a:rPr lang="zh-CN" altLang="en-US" sz="2000" dirty="0"/>
              <a:t>冗余的数据是为未来发展预留的；</a:t>
            </a:r>
          </a:p>
          <a:p>
            <a:pPr lvl="1" algn="l">
              <a:lnSpc>
                <a:spcPct val="150000"/>
              </a:lnSpc>
            </a:pPr>
            <a:r>
              <a:rPr lang="zh-CN" altLang="en-US" sz="2000" dirty="0"/>
              <a:t>或者是某种错误造成的，比如名字混淆。</a:t>
            </a:r>
          </a:p>
          <a:p>
            <a:pPr lvl="1" algn="l">
              <a:lnSpc>
                <a:spcPct val="150000"/>
              </a:lnSpc>
            </a:pPr>
            <a:r>
              <a:rPr lang="zh-CN" altLang="en-US" sz="2000" dirty="0"/>
              <a:t>如果属于错误处置，进行改正即可，而如果这种冗余来源于前两个设计阶段，则也要返回重新进行评审。</a:t>
            </a:r>
          </a:p>
        </p:txBody>
      </p:sp>
    </p:spTree>
    <p:extLst>
      <p:ext uri="{BB962C8B-B14F-4D97-AF65-F5344CB8AC3E}">
        <p14:creationId xmlns:p14="http://schemas.microsoft.com/office/powerpoint/2010/main" val="2226760757"/>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72451" name="Rectangle 3"/>
          <p:cNvSpPr>
            <a:spLocks noGrp="1" noChangeArrowheads="1"/>
          </p:cNvSpPr>
          <p:nvPr>
            <p:ph type="subTitle" idx="1"/>
          </p:nvPr>
        </p:nvSpPr>
        <p:spPr>
          <a:xfrm>
            <a:off x="911424" y="332656"/>
            <a:ext cx="10801200" cy="5040560"/>
          </a:xfrm>
        </p:spPr>
        <p:txBody>
          <a:bodyPr/>
          <a:lstStyle/>
          <a:p>
            <a:pPr algn="l">
              <a:lnSpc>
                <a:spcPct val="150000"/>
              </a:lnSpc>
              <a:buFontTx/>
              <a:buNone/>
            </a:pPr>
            <a:r>
              <a:rPr lang="en-US" altLang="zh-CN" sz="3200" dirty="0"/>
              <a:t>2</a:t>
            </a:r>
            <a:r>
              <a:rPr lang="zh-CN" altLang="en-US" sz="3200" dirty="0"/>
              <a:t>、性能评价：</a:t>
            </a:r>
          </a:p>
          <a:p>
            <a:pPr algn="l">
              <a:lnSpc>
                <a:spcPct val="150000"/>
              </a:lnSpc>
            </a:pPr>
            <a:r>
              <a:rPr lang="zh-CN" altLang="en-US" sz="3200" dirty="0"/>
              <a:t>对于目前得到的数据库模式，由于缺乏物理设计所提供的数量测量标准和相应的评价手段，所以性能评价是比较困难的。只能对实际性能进行估计，包括逻辑记录的存取数、传送量以及物理设计算法的模型等。</a:t>
            </a:r>
          </a:p>
        </p:txBody>
      </p:sp>
    </p:spTree>
    <p:extLst>
      <p:ext uri="{BB962C8B-B14F-4D97-AF65-F5344CB8AC3E}">
        <p14:creationId xmlns:p14="http://schemas.microsoft.com/office/powerpoint/2010/main" val="261330848"/>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73475" name="Rectangle 3"/>
          <p:cNvSpPr>
            <a:spLocks noGrp="1" noChangeArrowheads="1"/>
          </p:cNvSpPr>
          <p:nvPr>
            <p:ph type="subTitle" idx="1"/>
          </p:nvPr>
        </p:nvSpPr>
        <p:spPr>
          <a:xfrm>
            <a:off x="839416" y="404664"/>
            <a:ext cx="11017224" cy="5184576"/>
          </a:xfrm>
        </p:spPr>
        <p:txBody>
          <a:bodyPr/>
          <a:lstStyle/>
          <a:p>
            <a:pPr algn="l">
              <a:lnSpc>
                <a:spcPct val="150000"/>
              </a:lnSpc>
              <a:buFontTx/>
              <a:buNone/>
            </a:pPr>
            <a:r>
              <a:rPr lang="zh-CN" altLang="en-US" sz="2800" dirty="0"/>
              <a:t>二、模式改进</a:t>
            </a:r>
          </a:p>
          <a:p>
            <a:pPr algn="l">
              <a:lnSpc>
                <a:spcPct val="150000"/>
              </a:lnSpc>
            </a:pPr>
            <a:r>
              <a:rPr lang="zh-CN" altLang="en-US" sz="2800" dirty="0"/>
              <a:t>根据模式评价的结果，对已生成的模式进行改进。</a:t>
            </a:r>
          </a:p>
          <a:p>
            <a:pPr algn="l">
              <a:lnSpc>
                <a:spcPct val="150000"/>
              </a:lnSpc>
              <a:buFontTx/>
              <a:buNone/>
            </a:pPr>
            <a:r>
              <a:rPr lang="en-US" altLang="zh-CN" sz="2800" dirty="0"/>
              <a:t>1</a:t>
            </a:r>
            <a:r>
              <a:rPr lang="zh-CN" altLang="en-US" sz="2800" dirty="0"/>
              <a:t>、合并</a:t>
            </a:r>
          </a:p>
          <a:p>
            <a:pPr algn="l">
              <a:lnSpc>
                <a:spcPct val="150000"/>
              </a:lnSpc>
            </a:pPr>
            <a:r>
              <a:rPr lang="zh-CN" altLang="en-US" sz="2800" dirty="0"/>
              <a:t>如果有若干个关系模式具有相同的主键，并且对这些关系模式的处理主要是查询操作，而且经常是多关系的查询，那么可对这些关系模式按照组合使用频率进行合并。这样便可以减少联接操作而提高查询效率。</a:t>
            </a:r>
          </a:p>
        </p:txBody>
      </p:sp>
    </p:spTree>
    <p:extLst>
      <p:ext uri="{BB962C8B-B14F-4D97-AF65-F5344CB8AC3E}">
        <p14:creationId xmlns:p14="http://schemas.microsoft.com/office/powerpoint/2010/main" val="3807044055"/>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74499" name="Rectangle 3"/>
          <p:cNvSpPr>
            <a:spLocks noGrp="1" noChangeArrowheads="1"/>
          </p:cNvSpPr>
          <p:nvPr>
            <p:ph type="subTitle" idx="1"/>
          </p:nvPr>
        </p:nvSpPr>
        <p:spPr>
          <a:xfrm>
            <a:off x="767408" y="692696"/>
            <a:ext cx="10729192" cy="3384376"/>
          </a:xfrm>
        </p:spPr>
        <p:txBody>
          <a:bodyPr/>
          <a:lstStyle/>
          <a:p>
            <a:pPr algn="l">
              <a:lnSpc>
                <a:spcPct val="150000"/>
              </a:lnSpc>
              <a:buFontTx/>
              <a:buNone/>
            </a:pPr>
            <a:r>
              <a:rPr lang="en-US" altLang="zh-CN" sz="2400" dirty="0"/>
              <a:t>2</a:t>
            </a:r>
            <a:r>
              <a:rPr lang="zh-CN" altLang="en-US" sz="2400" dirty="0"/>
              <a:t>、分解</a:t>
            </a:r>
          </a:p>
          <a:p>
            <a:pPr algn="l">
              <a:lnSpc>
                <a:spcPct val="150000"/>
              </a:lnSpc>
            </a:pPr>
            <a:r>
              <a:rPr lang="zh-CN" altLang="en-US" sz="2400" dirty="0"/>
              <a:t>为了提高数据操作的效率和存储空间的利用率，最常用和最重要的模式优化方法就是分解。</a:t>
            </a:r>
          </a:p>
          <a:p>
            <a:pPr algn="l">
              <a:lnSpc>
                <a:spcPct val="150000"/>
              </a:lnSpc>
            </a:pPr>
            <a:r>
              <a:rPr lang="zh-CN" altLang="en-US" sz="2400" dirty="0"/>
              <a:t>根据应用的不同要求，可以对关系模式进行垂直分解和水平分解。</a:t>
            </a:r>
          </a:p>
          <a:p>
            <a:pPr lvl="1" algn="l">
              <a:lnSpc>
                <a:spcPct val="150000"/>
              </a:lnSpc>
            </a:pPr>
            <a:r>
              <a:rPr lang="zh-CN" altLang="en-US" sz="2000" dirty="0"/>
              <a:t>（</a:t>
            </a:r>
            <a:r>
              <a:rPr lang="en-US" altLang="zh-CN" sz="2000" dirty="0"/>
              <a:t>1</a:t>
            </a:r>
            <a:r>
              <a:rPr lang="zh-CN" altLang="en-US" sz="2000" dirty="0"/>
              <a:t>）水平分解：是把关系的元组分为若干子集合，定义每个子集合为一个子关系。对于经常进行大量数据的分类条件查询的关系，可进行水平分解。</a:t>
            </a:r>
          </a:p>
          <a:p>
            <a:pPr lvl="1" algn="l">
              <a:lnSpc>
                <a:spcPct val="150000"/>
              </a:lnSpc>
            </a:pPr>
            <a:r>
              <a:rPr lang="zh-CN" altLang="en-US" sz="2000" dirty="0"/>
              <a:t>（</a:t>
            </a:r>
            <a:r>
              <a:rPr lang="en-US" altLang="zh-CN" sz="2000" dirty="0"/>
              <a:t>2</a:t>
            </a:r>
            <a:r>
              <a:rPr lang="zh-CN" altLang="en-US" sz="2000" dirty="0"/>
              <a:t>）垂直分解：是把关系模式的属性分解为若干子集合，形成若干子关系模式。垂直分解的原则：是把经常一起使用的属性分解出来，形成一个子关系模式。</a:t>
            </a:r>
          </a:p>
        </p:txBody>
      </p:sp>
    </p:spTree>
    <p:extLst>
      <p:ext uri="{BB962C8B-B14F-4D97-AF65-F5344CB8AC3E}">
        <p14:creationId xmlns:p14="http://schemas.microsoft.com/office/powerpoint/2010/main" val="1428273996"/>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75523" name="Rectangle 3"/>
          <p:cNvSpPr>
            <a:spLocks noGrp="1" noChangeArrowheads="1"/>
          </p:cNvSpPr>
          <p:nvPr>
            <p:ph type="subTitle" idx="1"/>
          </p:nvPr>
        </p:nvSpPr>
        <p:spPr>
          <a:xfrm>
            <a:off x="839416" y="980728"/>
            <a:ext cx="10657184" cy="5040560"/>
          </a:xfrm>
        </p:spPr>
        <p:txBody>
          <a:bodyPr/>
          <a:lstStyle/>
          <a:p>
            <a:pPr algn="l">
              <a:lnSpc>
                <a:spcPct val="150000"/>
              </a:lnSpc>
            </a:pPr>
            <a:r>
              <a:rPr lang="zh-CN" altLang="en-US" dirty="0"/>
              <a:t>逻辑设计阶段的结果是全局逻辑数据库结构。对于一个基于关系数据库应用系统来说，就是一组符合一定规范的关系模式组成的关系数据库模型。</a:t>
            </a:r>
          </a:p>
        </p:txBody>
      </p:sp>
    </p:spTree>
    <p:extLst>
      <p:ext uri="{BB962C8B-B14F-4D97-AF65-F5344CB8AC3E}">
        <p14:creationId xmlns:p14="http://schemas.microsoft.com/office/powerpoint/2010/main" val="1775709323"/>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bwMode="auto">
          <a:xfrm>
            <a:off x="4583832" y="1988840"/>
            <a:ext cx="2448272" cy="854968"/>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60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第五节</a:t>
            </a:r>
          </a:p>
        </p:txBody>
      </p:sp>
      <p:sp>
        <p:nvSpPr>
          <p:cNvPr id="2" name="标题 1"/>
          <p:cNvSpPr>
            <a:spLocks noGrp="1"/>
          </p:cNvSpPr>
          <p:nvPr>
            <p:ph type="title"/>
          </p:nvPr>
        </p:nvSpPr>
        <p:spPr>
          <a:xfrm>
            <a:off x="1559496" y="3356992"/>
            <a:ext cx="9073008" cy="1256758"/>
          </a:xfrm>
          <a:effectLst>
            <a:outerShdw blurRad="63500" sx="102000" sy="102000" algn="ctr" rotWithShape="0">
              <a:prstClr val="black">
                <a:alpha val="40000"/>
              </a:prstClr>
            </a:outerShdw>
          </a:effectLst>
        </p:spPr>
        <p:txBody>
          <a:bodyPr wrap="none" numCol="1" fromWordArt="1">
            <a:prstTxWarp prst="textPlain">
              <a:avLst>
                <a:gd name="adj" fmla="val 50000"/>
              </a:avLst>
            </a:prstTxWarp>
          </a:bodyPr>
          <a:lstStyle/>
          <a:p>
            <a:pPr fontAlgn="base">
              <a:spcAft>
                <a:spcPct val="0"/>
              </a:spcAft>
            </a:pPr>
            <a:r>
              <a:rPr lang="zh-CN" altLang="en-US" sz="6000" b="1" kern="10" spc="600" baseline="-25000" dirty="0">
                <a:ln w="9525">
                  <a:solidFill>
                    <a:srgbClr val="003399"/>
                  </a:solidFill>
                  <a:prstDash val="solid"/>
                </a:ln>
                <a:solidFill>
                  <a:srgbClr val="FFFFFF"/>
                </a:solidFill>
                <a:cs typeface="+mn-cs"/>
              </a:rPr>
              <a:t>物理结构设计</a:t>
            </a:r>
          </a:p>
        </p:txBody>
      </p:sp>
      <p:sp>
        <p:nvSpPr>
          <p:cNvPr id="4" name="标题 1">
            <a:extLst>
              <a:ext uri="{FF2B5EF4-FFF2-40B4-BE49-F238E27FC236}">
                <a16:creationId xmlns:a16="http://schemas.microsoft.com/office/drawing/2014/main" id="{1DECDF0B-FDC0-4C58-9326-80561E26595A}"/>
              </a:ext>
            </a:extLst>
          </p:cNvPr>
          <p:cNvSpPr txBox="1">
            <a:spLocks/>
          </p:cNvSpPr>
          <p:nvPr/>
        </p:nvSpPr>
        <p:spPr bwMode="auto">
          <a:xfrm>
            <a:off x="1127448" y="260648"/>
            <a:ext cx="3960440" cy="367122"/>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a:t>
            </a:r>
            <a:r>
              <a:rPr kumimoji="0" lang="en-US" altLang="zh-CN"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10</a:t>
            </a: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章  数据库设计</a:t>
            </a:r>
          </a:p>
        </p:txBody>
      </p:sp>
    </p:spTree>
    <p:extLst>
      <p:ext uri="{BB962C8B-B14F-4D97-AF65-F5344CB8AC3E}">
        <p14:creationId xmlns:p14="http://schemas.microsoft.com/office/powerpoint/2010/main" val="4086196433"/>
      </p:ext>
    </p:extLst>
  </p:cSld>
  <p:clrMapOvr>
    <a:masterClrMapping/>
  </p:clrMapOvr>
  <p:transition spd="med">
    <p:random/>
    <p:sndAc>
      <p:stSnd>
        <p:snd r:embed="rId2" name="arrow.wav"/>
      </p:stSnd>
    </p:sndAc>
  </p:transition>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76546" name="Rectangle 2"/>
          <p:cNvSpPr>
            <a:spLocks noGrp="1" noChangeArrowheads="1"/>
          </p:cNvSpPr>
          <p:nvPr>
            <p:ph type="ctrTitle"/>
          </p:nvPr>
        </p:nvSpPr>
        <p:spPr>
          <a:xfrm>
            <a:off x="695400" y="404664"/>
            <a:ext cx="5109091" cy="584775"/>
          </a:xfrm>
        </p:spPr>
        <p:txBody>
          <a:bodyPr/>
          <a:lstStyle/>
          <a:p>
            <a:r>
              <a:rPr lang="zh-CN" altLang="en-US" dirty="0"/>
              <a:t>物理设计</a:t>
            </a:r>
          </a:p>
        </p:txBody>
      </p:sp>
      <p:sp>
        <p:nvSpPr>
          <p:cNvPr id="876547" name="Rectangle 3"/>
          <p:cNvSpPr>
            <a:spLocks noGrp="1" noChangeArrowheads="1"/>
          </p:cNvSpPr>
          <p:nvPr>
            <p:ph type="subTitle" idx="1"/>
          </p:nvPr>
        </p:nvSpPr>
        <p:spPr>
          <a:xfrm>
            <a:off x="479376" y="1484784"/>
            <a:ext cx="11377264" cy="3888432"/>
          </a:xfrm>
        </p:spPr>
        <p:txBody>
          <a:bodyPr/>
          <a:lstStyle/>
          <a:p>
            <a:pPr algn="l">
              <a:lnSpc>
                <a:spcPct val="150000"/>
              </a:lnSpc>
            </a:pPr>
            <a:r>
              <a:rPr lang="zh-CN" altLang="en-US" dirty="0"/>
              <a:t>任何的数据库最终要存储在物理存储设备上。对于给定的逻辑数据模型，选取一个最适合应用环境的物理结构的过程，称为数据库物理设计。</a:t>
            </a:r>
          </a:p>
        </p:txBody>
      </p:sp>
    </p:spTree>
    <p:extLst>
      <p:ext uri="{BB962C8B-B14F-4D97-AF65-F5344CB8AC3E}">
        <p14:creationId xmlns:p14="http://schemas.microsoft.com/office/powerpoint/2010/main" val="3540204106"/>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77571" name="Rectangle 3"/>
          <p:cNvSpPr>
            <a:spLocks noGrp="1" noChangeArrowheads="1"/>
          </p:cNvSpPr>
          <p:nvPr>
            <p:ph type="subTitle" idx="1"/>
          </p:nvPr>
        </p:nvSpPr>
        <p:spPr>
          <a:xfrm>
            <a:off x="623392" y="764704"/>
            <a:ext cx="11017224" cy="4608512"/>
          </a:xfrm>
        </p:spPr>
        <p:txBody>
          <a:bodyPr/>
          <a:lstStyle/>
          <a:p>
            <a:pPr algn="l">
              <a:lnSpc>
                <a:spcPct val="150000"/>
              </a:lnSpc>
            </a:pPr>
            <a:r>
              <a:rPr lang="zh-CN" altLang="en-US" sz="2800" dirty="0"/>
              <a:t>物理设计的任务是：为了有效地实现逻辑模式，确定所采取的存储策略。此阶段是以逻辑设计的结果作为输入，结合具体</a:t>
            </a:r>
            <a:r>
              <a:rPr lang="en-US" altLang="zh-CN" sz="2800" dirty="0"/>
              <a:t>DBMS</a:t>
            </a:r>
            <a:r>
              <a:rPr lang="zh-CN" altLang="en-US" sz="2800" dirty="0"/>
              <a:t>的特点与存储设备特性进行设计，选定数据库在物理设备上的存储结构和存取方法。</a:t>
            </a:r>
          </a:p>
          <a:p>
            <a:pPr algn="l">
              <a:lnSpc>
                <a:spcPct val="150000"/>
              </a:lnSpc>
            </a:pPr>
            <a:r>
              <a:rPr lang="zh-CN" altLang="en-US" sz="2800" dirty="0"/>
              <a:t>数据库的物理设计可分为两步：</a:t>
            </a:r>
          </a:p>
          <a:p>
            <a:pPr lvl="1" algn="l">
              <a:lnSpc>
                <a:spcPct val="150000"/>
              </a:lnSpc>
            </a:pPr>
            <a:r>
              <a:rPr lang="zh-CN" altLang="en-US" sz="2400" dirty="0"/>
              <a:t>确定物理结构，在关系数据库中主要指存取方法和存储结构；</a:t>
            </a:r>
          </a:p>
          <a:p>
            <a:pPr lvl="1" algn="l">
              <a:lnSpc>
                <a:spcPct val="150000"/>
              </a:lnSpc>
            </a:pPr>
            <a:r>
              <a:rPr lang="zh-CN" altLang="en-US" sz="2400" dirty="0"/>
              <a:t>评价物理结构，评价的重点是时间和空间效率。</a:t>
            </a:r>
          </a:p>
        </p:txBody>
      </p:sp>
    </p:spTree>
    <p:extLst>
      <p:ext uri="{BB962C8B-B14F-4D97-AF65-F5344CB8AC3E}">
        <p14:creationId xmlns:p14="http://schemas.microsoft.com/office/powerpoint/2010/main" val="3335630770"/>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2"/>
          <p:cNvSpPr txBox="1">
            <a:spLocks noChangeArrowheads="1"/>
          </p:cNvSpPr>
          <p:nvPr/>
        </p:nvSpPr>
        <p:spPr bwMode="auto">
          <a:xfrm>
            <a:off x="825798" y="24268"/>
            <a:ext cx="3223172" cy="760959"/>
          </a:xfrm>
          <a:prstGeom prst="rect">
            <a:avLst/>
          </a:prstGeom>
          <a:noFill/>
          <a:ln w="12700" cap="sq">
            <a:noFill/>
            <a:miter lim="800000"/>
            <a:headEnd/>
            <a:tailEnd/>
          </a:ln>
          <a:effectLst>
            <a:outerShdw dist="35921" dir="2700000" algn="ctr" rotWithShape="0">
              <a:srgbClr val="000514"/>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vert="horz" wrap="none" lIns="72000" tIns="72000" rIns="72000" bIns="72000" numCol="1" rtlCol="0" anchor="ctr" anchorCtr="0" compatLnSpc="1">
            <a:prstTxWarp prst="textNoShape">
              <a:avLst/>
            </a:prstTxWarp>
            <a:spAutoFit/>
          </a:bodyPr>
          <a:lstStyle>
            <a:defPPr>
              <a:defRPr lang="en-US"/>
            </a:defPPr>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a:t>物理结构设计</a:t>
            </a:r>
          </a:p>
        </p:txBody>
      </p:sp>
      <p:grpSp>
        <p:nvGrpSpPr>
          <p:cNvPr id="106" name="Group 5">
            <a:extLst>
              <a:ext uri="{FF2B5EF4-FFF2-40B4-BE49-F238E27FC236}">
                <a16:creationId xmlns:a16="http://schemas.microsoft.com/office/drawing/2014/main" id="{D3F0F7E0-8014-41FD-8CA5-62C4498EA357}"/>
              </a:ext>
            </a:extLst>
          </p:cNvPr>
          <p:cNvGrpSpPr>
            <a:grpSpLocks/>
          </p:cNvGrpSpPr>
          <p:nvPr/>
        </p:nvGrpSpPr>
        <p:grpSpPr bwMode="auto">
          <a:xfrm>
            <a:off x="619392" y="2771057"/>
            <a:ext cx="3467726" cy="2630662"/>
            <a:chOff x="1834" y="2037"/>
            <a:chExt cx="1958" cy="1307"/>
          </a:xfrm>
        </p:grpSpPr>
        <p:sp>
          <p:nvSpPr>
            <p:cNvPr id="107" name="Oval 6">
              <a:extLst>
                <a:ext uri="{FF2B5EF4-FFF2-40B4-BE49-F238E27FC236}">
                  <a16:creationId xmlns:a16="http://schemas.microsoft.com/office/drawing/2014/main" id="{C35A8275-0529-49EE-894F-ACD3B13707E5}"/>
                </a:ext>
              </a:extLst>
            </p:cNvPr>
            <p:cNvSpPr>
              <a:spLocks noChangeArrowheads="1"/>
            </p:cNvSpPr>
            <p:nvPr/>
          </p:nvSpPr>
          <p:spPr bwMode="auto">
            <a:xfrm>
              <a:off x="2586" y="2037"/>
              <a:ext cx="273" cy="237"/>
            </a:xfrm>
            <a:prstGeom prst="ellipse">
              <a:avLst/>
            </a:prstGeom>
            <a:noFill/>
            <a:ln w="38100">
              <a:solidFill>
                <a:schemeClr val="folHlink"/>
              </a:solidFill>
              <a:round/>
              <a:headEnd/>
              <a:tailEnd/>
            </a:ln>
          </p:spPr>
          <p:txBody>
            <a:bodyPr wrap="none" anchor="ctr" anchorCtr="1"/>
            <a:lstStyle/>
            <a:p>
              <a:pPr algn="ctr"/>
              <a:r>
                <a:rPr kumimoji="1" lang="en-US" altLang="zh-CN" sz="1600" baseline="0" dirty="0">
                  <a:latin typeface="Times New Roman" pitchFamily="18" charset="0"/>
                </a:rPr>
                <a:t>A</a:t>
              </a:r>
            </a:p>
          </p:txBody>
        </p:sp>
        <p:sp>
          <p:nvSpPr>
            <p:cNvPr id="108" name="Oval 7">
              <a:extLst>
                <a:ext uri="{FF2B5EF4-FFF2-40B4-BE49-F238E27FC236}">
                  <a16:creationId xmlns:a16="http://schemas.microsoft.com/office/drawing/2014/main" id="{4D5CC5B3-BE4D-4A1C-9F1F-B520D8E40E86}"/>
                </a:ext>
              </a:extLst>
            </p:cNvPr>
            <p:cNvSpPr>
              <a:spLocks noChangeArrowheads="1"/>
            </p:cNvSpPr>
            <p:nvPr/>
          </p:nvSpPr>
          <p:spPr bwMode="auto">
            <a:xfrm>
              <a:off x="1834" y="2371"/>
              <a:ext cx="273" cy="237"/>
            </a:xfrm>
            <a:prstGeom prst="ellipse">
              <a:avLst/>
            </a:prstGeom>
            <a:noFill/>
            <a:ln w="38100">
              <a:solidFill>
                <a:schemeClr val="folHlink"/>
              </a:solidFill>
              <a:round/>
              <a:headEnd/>
              <a:tailEnd/>
            </a:ln>
          </p:spPr>
          <p:txBody>
            <a:bodyPr wrap="none" anchor="ctr" anchorCtr="1"/>
            <a:lstStyle/>
            <a:p>
              <a:pPr algn="ctr"/>
              <a:r>
                <a:rPr kumimoji="1" lang="en-US" altLang="zh-CN" sz="1600" baseline="0">
                  <a:latin typeface="Times New Roman" pitchFamily="18" charset="0"/>
                </a:rPr>
                <a:t>B</a:t>
              </a:r>
            </a:p>
          </p:txBody>
        </p:sp>
        <p:sp>
          <p:nvSpPr>
            <p:cNvPr id="109" name="Oval 8">
              <a:extLst>
                <a:ext uri="{FF2B5EF4-FFF2-40B4-BE49-F238E27FC236}">
                  <a16:creationId xmlns:a16="http://schemas.microsoft.com/office/drawing/2014/main" id="{73BF6594-0577-4A55-A86E-946ED02410B1}"/>
                </a:ext>
              </a:extLst>
            </p:cNvPr>
            <p:cNvSpPr>
              <a:spLocks noChangeArrowheads="1"/>
            </p:cNvSpPr>
            <p:nvPr/>
          </p:nvSpPr>
          <p:spPr bwMode="auto">
            <a:xfrm>
              <a:off x="3129" y="2371"/>
              <a:ext cx="271" cy="237"/>
            </a:xfrm>
            <a:prstGeom prst="ellipse">
              <a:avLst/>
            </a:prstGeom>
            <a:noFill/>
            <a:ln w="38100">
              <a:solidFill>
                <a:schemeClr val="folHlink"/>
              </a:solidFill>
              <a:round/>
              <a:headEnd/>
              <a:tailEnd/>
            </a:ln>
          </p:spPr>
          <p:txBody>
            <a:bodyPr wrap="none" anchor="ctr" anchorCtr="1"/>
            <a:lstStyle/>
            <a:p>
              <a:pPr algn="ctr"/>
              <a:r>
                <a:rPr kumimoji="1" lang="en-US" altLang="zh-CN" sz="1600" baseline="0">
                  <a:latin typeface="Times New Roman" pitchFamily="18" charset="0"/>
                </a:rPr>
                <a:t>C</a:t>
              </a:r>
            </a:p>
          </p:txBody>
        </p:sp>
        <p:sp>
          <p:nvSpPr>
            <p:cNvPr id="110" name="Oval 9">
              <a:extLst>
                <a:ext uri="{FF2B5EF4-FFF2-40B4-BE49-F238E27FC236}">
                  <a16:creationId xmlns:a16="http://schemas.microsoft.com/office/drawing/2014/main" id="{0D1620FB-712A-4CEC-9FE7-53E1C3100F93}"/>
                </a:ext>
              </a:extLst>
            </p:cNvPr>
            <p:cNvSpPr>
              <a:spLocks noChangeArrowheads="1"/>
            </p:cNvSpPr>
            <p:nvPr/>
          </p:nvSpPr>
          <p:spPr bwMode="auto">
            <a:xfrm>
              <a:off x="2185" y="2728"/>
              <a:ext cx="273" cy="238"/>
            </a:xfrm>
            <a:prstGeom prst="ellipse">
              <a:avLst/>
            </a:prstGeom>
            <a:noFill/>
            <a:ln w="38100">
              <a:solidFill>
                <a:schemeClr val="folHlink"/>
              </a:solidFill>
              <a:round/>
              <a:headEnd/>
              <a:tailEnd/>
            </a:ln>
          </p:spPr>
          <p:txBody>
            <a:bodyPr wrap="none" anchor="ctr" anchorCtr="1"/>
            <a:lstStyle/>
            <a:p>
              <a:pPr algn="ctr"/>
              <a:r>
                <a:rPr kumimoji="1" lang="en-US" altLang="zh-CN" sz="1600" baseline="0">
                  <a:latin typeface="Times New Roman" pitchFamily="18" charset="0"/>
                </a:rPr>
                <a:t>D</a:t>
              </a:r>
            </a:p>
          </p:txBody>
        </p:sp>
        <p:sp>
          <p:nvSpPr>
            <p:cNvPr id="111" name="Oval 10">
              <a:extLst>
                <a:ext uri="{FF2B5EF4-FFF2-40B4-BE49-F238E27FC236}">
                  <a16:creationId xmlns:a16="http://schemas.microsoft.com/office/drawing/2014/main" id="{B200C6DD-A096-4DF7-B0E2-A2248782A91B}"/>
                </a:ext>
              </a:extLst>
            </p:cNvPr>
            <p:cNvSpPr>
              <a:spLocks noChangeArrowheads="1"/>
            </p:cNvSpPr>
            <p:nvPr/>
          </p:nvSpPr>
          <p:spPr bwMode="auto">
            <a:xfrm>
              <a:off x="3519" y="2728"/>
              <a:ext cx="273" cy="238"/>
            </a:xfrm>
            <a:prstGeom prst="ellipse">
              <a:avLst/>
            </a:prstGeom>
            <a:noFill/>
            <a:ln w="38100">
              <a:solidFill>
                <a:schemeClr val="folHlink"/>
              </a:solidFill>
              <a:round/>
              <a:headEnd/>
              <a:tailEnd/>
            </a:ln>
          </p:spPr>
          <p:txBody>
            <a:bodyPr wrap="none" anchor="ctr" anchorCtr="1"/>
            <a:lstStyle/>
            <a:p>
              <a:pPr algn="ctr"/>
              <a:r>
                <a:rPr kumimoji="1" lang="en-US" altLang="zh-CN" sz="1600" baseline="0">
                  <a:latin typeface="Times New Roman" pitchFamily="18" charset="0"/>
                </a:rPr>
                <a:t>E</a:t>
              </a:r>
            </a:p>
          </p:txBody>
        </p:sp>
        <p:sp>
          <p:nvSpPr>
            <p:cNvPr id="112" name="Oval 11">
              <a:extLst>
                <a:ext uri="{FF2B5EF4-FFF2-40B4-BE49-F238E27FC236}">
                  <a16:creationId xmlns:a16="http://schemas.microsoft.com/office/drawing/2014/main" id="{F33026BB-0878-495B-88AE-552C83EA0694}"/>
                </a:ext>
              </a:extLst>
            </p:cNvPr>
            <p:cNvSpPr>
              <a:spLocks noChangeArrowheads="1"/>
            </p:cNvSpPr>
            <p:nvPr/>
          </p:nvSpPr>
          <p:spPr bwMode="auto">
            <a:xfrm>
              <a:off x="1983" y="3106"/>
              <a:ext cx="272" cy="238"/>
            </a:xfrm>
            <a:prstGeom prst="ellipse">
              <a:avLst/>
            </a:prstGeom>
            <a:noFill/>
            <a:ln w="38100">
              <a:solidFill>
                <a:schemeClr val="folHlink"/>
              </a:solidFill>
              <a:round/>
              <a:headEnd/>
              <a:tailEnd/>
            </a:ln>
          </p:spPr>
          <p:txBody>
            <a:bodyPr wrap="none" anchor="ctr" anchorCtr="1"/>
            <a:lstStyle/>
            <a:p>
              <a:pPr algn="ctr"/>
              <a:r>
                <a:rPr kumimoji="1" lang="en-US" altLang="zh-CN" sz="1600" baseline="0">
                  <a:latin typeface="Times New Roman" pitchFamily="18" charset="0"/>
                </a:rPr>
                <a:t>F</a:t>
              </a:r>
            </a:p>
          </p:txBody>
        </p:sp>
        <p:sp>
          <p:nvSpPr>
            <p:cNvPr id="113" name="Line 12">
              <a:extLst>
                <a:ext uri="{FF2B5EF4-FFF2-40B4-BE49-F238E27FC236}">
                  <a16:creationId xmlns:a16="http://schemas.microsoft.com/office/drawing/2014/main" id="{A32F07FB-A864-4D18-8C7C-F07172018781}"/>
                </a:ext>
              </a:extLst>
            </p:cNvPr>
            <p:cNvSpPr>
              <a:spLocks noChangeShapeType="1"/>
            </p:cNvSpPr>
            <p:nvPr/>
          </p:nvSpPr>
          <p:spPr bwMode="auto">
            <a:xfrm flipH="1">
              <a:off x="2071" y="2216"/>
              <a:ext cx="531" cy="226"/>
            </a:xfrm>
            <a:prstGeom prst="line">
              <a:avLst/>
            </a:prstGeom>
            <a:noFill/>
            <a:ln w="38100">
              <a:solidFill>
                <a:schemeClr val="folHlink"/>
              </a:solidFill>
              <a:round/>
              <a:headEnd/>
              <a:tailEnd/>
            </a:ln>
            <a:effectLst/>
          </p:spPr>
          <p:txBody>
            <a:bodyPr wrap="none" anchor="ctr" anchorCtr="1">
              <a:spAutoFit/>
            </a:bodyPr>
            <a:lstStyle/>
            <a:p>
              <a:pPr>
                <a:defRPr/>
              </a:pPr>
              <a:endParaRPr lang="zh-CN" altLang="en-US" sz="3200" baseline="0"/>
            </a:p>
          </p:txBody>
        </p:sp>
        <p:sp>
          <p:nvSpPr>
            <p:cNvPr id="114" name="Line 13">
              <a:extLst>
                <a:ext uri="{FF2B5EF4-FFF2-40B4-BE49-F238E27FC236}">
                  <a16:creationId xmlns:a16="http://schemas.microsoft.com/office/drawing/2014/main" id="{8AF8C91B-832B-4E75-A61C-4C3D595DC50B}"/>
                </a:ext>
              </a:extLst>
            </p:cNvPr>
            <p:cNvSpPr>
              <a:spLocks noChangeShapeType="1"/>
            </p:cNvSpPr>
            <p:nvPr/>
          </p:nvSpPr>
          <p:spPr bwMode="auto">
            <a:xfrm>
              <a:off x="2822" y="2225"/>
              <a:ext cx="363" cy="168"/>
            </a:xfrm>
            <a:prstGeom prst="line">
              <a:avLst/>
            </a:prstGeom>
            <a:noFill/>
            <a:ln w="38100">
              <a:solidFill>
                <a:schemeClr val="folHlink"/>
              </a:solidFill>
              <a:round/>
              <a:headEnd/>
              <a:tailEnd/>
            </a:ln>
            <a:effectLst/>
          </p:spPr>
          <p:txBody>
            <a:bodyPr anchor="ctr" anchorCtr="1">
              <a:spAutoFit/>
            </a:bodyPr>
            <a:lstStyle/>
            <a:p>
              <a:pPr>
                <a:defRPr/>
              </a:pPr>
              <a:endParaRPr lang="zh-CN" altLang="en-US" sz="3200" baseline="0"/>
            </a:p>
          </p:txBody>
        </p:sp>
        <p:sp>
          <p:nvSpPr>
            <p:cNvPr id="115" name="Line 14">
              <a:extLst>
                <a:ext uri="{FF2B5EF4-FFF2-40B4-BE49-F238E27FC236}">
                  <a16:creationId xmlns:a16="http://schemas.microsoft.com/office/drawing/2014/main" id="{1203FA88-04FD-4206-953A-20677C4CA505}"/>
                </a:ext>
              </a:extLst>
            </p:cNvPr>
            <p:cNvSpPr>
              <a:spLocks noChangeShapeType="1"/>
            </p:cNvSpPr>
            <p:nvPr/>
          </p:nvSpPr>
          <p:spPr bwMode="auto">
            <a:xfrm>
              <a:off x="2052" y="2576"/>
              <a:ext cx="197" cy="172"/>
            </a:xfrm>
            <a:prstGeom prst="line">
              <a:avLst/>
            </a:prstGeom>
            <a:noFill/>
            <a:ln w="38100">
              <a:solidFill>
                <a:schemeClr val="folHlink"/>
              </a:solidFill>
              <a:round/>
              <a:headEnd/>
              <a:tailEnd/>
            </a:ln>
            <a:effectLst/>
          </p:spPr>
          <p:txBody>
            <a:bodyPr wrap="none" anchor="ctr" anchorCtr="1">
              <a:spAutoFit/>
            </a:bodyPr>
            <a:lstStyle/>
            <a:p>
              <a:pPr>
                <a:defRPr/>
              </a:pPr>
              <a:endParaRPr lang="zh-CN" altLang="en-US" sz="3200" baseline="0"/>
            </a:p>
          </p:txBody>
        </p:sp>
        <p:sp>
          <p:nvSpPr>
            <p:cNvPr id="116" name="Line 15">
              <a:extLst>
                <a:ext uri="{FF2B5EF4-FFF2-40B4-BE49-F238E27FC236}">
                  <a16:creationId xmlns:a16="http://schemas.microsoft.com/office/drawing/2014/main" id="{4FF14036-ADFC-46D9-8C6F-4143E157631F}"/>
                </a:ext>
              </a:extLst>
            </p:cNvPr>
            <p:cNvSpPr>
              <a:spLocks noChangeShapeType="1"/>
            </p:cNvSpPr>
            <p:nvPr/>
          </p:nvSpPr>
          <p:spPr bwMode="auto">
            <a:xfrm>
              <a:off x="3354" y="2576"/>
              <a:ext cx="208" cy="181"/>
            </a:xfrm>
            <a:prstGeom prst="line">
              <a:avLst/>
            </a:prstGeom>
            <a:noFill/>
            <a:ln w="38100">
              <a:solidFill>
                <a:schemeClr val="folHlink"/>
              </a:solidFill>
              <a:round/>
              <a:headEnd/>
              <a:tailEnd/>
            </a:ln>
            <a:effectLst/>
          </p:spPr>
          <p:txBody>
            <a:bodyPr wrap="none" anchor="ctr" anchorCtr="1">
              <a:spAutoFit/>
            </a:bodyPr>
            <a:lstStyle/>
            <a:p>
              <a:pPr>
                <a:defRPr/>
              </a:pPr>
              <a:endParaRPr lang="zh-CN" altLang="en-US" sz="3200" baseline="0"/>
            </a:p>
          </p:txBody>
        </p:sp>
        <p:sp>
          <p:nvSpPr>
            <p:cNvPr id="117" name="Line 16">
              <a:extLst>
                <a:ext uri="{FF2B5EF4-FFF2-40B4-BE49-F238E27FC236}">
                  <a16:creationId xmlns:a16="http://schemas.microsoft.com/office/drawing/2014/main" id="{B62FD403-9C24-4420-A681-E732967F8899}"/>
                </a:ext>
              </a:extLst>
            </p:cNvPr>
            <p:cNvSpPr>
              <a:spLocks noChangeShapeType="1"/>
            </p:cNvSpPr>
            <p:nvPr/>
          </p:nvSpPr>
          <p:spPr bwMode="auto">
            <a:xfrm flipH="1">
              <a:off x="2177" y="2965"/>
              <a:ext cx="84" cy="143"/>
            </a:xfrm>
            <a:prstGeom prst="line">
              <a:avLst/>
            </a:prstGeom>
            <a:noFill/>
            <a:ln w="38100">
              <a:solidFill>
                <a:schemeClr val="folHlink"/>
              </a:solidFill>
              <a:round/>
              <a:headEnd/>
              <a:tailEnd/>
            </a:ln>
            <a:effectLst/>
          </p:spPr>
          <p:txBody>
            <a:bodyPr wrap="none" anchor="ctr" anchorCtr="1">
              <a:spAutoFit/>
            </a:bodyPr>
            <a:lstStyle/>
            <a:p>
              <a:pPr>
                <a:defRPr/>
              </a:pPr>
              <a:endParaRPr lang="zh-CN" altLang="en-US" sz="3200" baseline="0"/>
            </a:p>
          </p:txBody>
        </p:sp>
      </p:grpSp>
      <p:graphicFrame>
        <p:nvGraphicFramePr>
          <p:cNvPr id="118" name="表格 117">
            <a:extLst>
              <a:ext uri="{FF2B5EF4-FFF2-40B4-BE49-F238E27FC236}">
                <a16:creationId xmlns:a16="http://schemas.microsoft.com/office/drawing/2014/main" id="{71692410-8CE6-458F-A052-9BD809EB07C7}"/>
              </a:ext>
            </a:extLst>
          </p:cNvPr>
          <p:cNvGraphicFramePr>
            <a:graphicFrameLocks noGrp="1"/>
          </p:cNvGraphicFramePr>
          <p:nvPr>
            <p:extLst>
              <p:ext uri="{D42A27DB-BD31-4B8C-83A1-F6EECF244321}">
                <p14:modId xmlns:p14="http://schemas.microsoft.com/office/powerpoint/2010/main" val="35390841"/>
              </p:ext>
            </p:extLst>
          </p:nvPr>
        </p:nvGraphicFramePr>
        <p:xfrm>
          <a:off x="4882012" y="1757526"/>
          <a:ext cx="6614589" cy="989046"/>
        </p:xfrm>
        <a:graphic>
          <a:graphicData uri="http://schemas.openxmlformats.org/drawingml/2006/table">
            <a:tbl>
              <a:tblPr firstRow="1" bandRow="1">
                <a:tableStyleId>{E8B1032C-EA38-4F05-BA0D-38AFFFC7BED3}</a:tableStyleId>
              </a:tblPr>
              <a:tblGrid>
                <a:gridCol w="294247">
                  <a:extLst>
                    <a:ext uri="{9D8B030D-6E8A-4147-A177-3AD203B41FA5}">
                      <a16:colId xmlns:a16="http://schemas.microsoft.com/office/drawing/2014/main" val="2124407836"/>
                    </a:ext>
                  </a:extLst>
                </a:gridCol>
                <a:gridCol w="451453">
                  <a:extLst>
                    <a:ext uri="{9D8B030D-6E8A-4147-A177-3AD203B41FA5}">
                      <a16:colId xmlns:a16="http://schemas.microsoft.com/office/drawing/2014/main" val="1302754023"/>
                    </a:ext>
                  </a:extLst>
                </a:gridCol>
                <a:gridCol w="451453">
                  <a:extLst>
                    <a:ext uri="{9D8B030D-6E8A-4147-A177-3AD203B41FA5}">
                      <a16:colId xmlns:a16="http://schemas.microsoft.com/office/drawing/2014/main" val="410195766"/>
                    </a:ext>
                  </a:extLst>
                </a:gridCol>
                <a:gridCol w="451453">
                  <a:extLst>
                    <a:ext uri="{9D8B030D-6E8A-4147-A177-3AD203B41FA5}">
                      <a16:colId xmlns:a16="http://schemas.microsoft.com/office/drawing/2014/main" val="3996965436"/>
                    </a:ext>
                  </a:extLst>
                </a:gridCol>
                <a:gridCol w="451453">
                  <a:extLst>
                    <a:ext uri="{9D8B030D-6E8A-4147-A177-3AD203B41FA5}">
                      <a16:colId xmlns:a16="http://schemas.microsoft.com/office/drawing/2014/main" val="2622215488"/>
                    </a:ext>
                  </a:extLst>
                </a:gridCol>
                <a:gridCol w="451453">
                  <a:extLst>
                    <a:ext uri="{9D8B030D-6E8A-4147-A177-3AD203B41FA5}">
                      <a16:colId xmlns:a16="http://schemas.microsoft.com/office/drawing/2014/main" val="1890001760"/>
                    </a:ext>
                  </a:extLst>
                </a:gridCol>
                <a:gridCol w="451453">
                  <a:extLst>
                    <a:ext uri="{9D8B030D-6E8A-4147-A177-3AD203B41FA5}">
                      <a16:colId xmlns:a16="http://schemas.microsoft.com/office/drawing/2014/main" val="825407422"/>
                    </a:ext>
                  </a:extLst>
                </a:gridCol>
                <a:gridCol w="451453">
                  <a:extLst>
                    <a:ext uri="{9D8B030D-6E8A-4147-A177-3AD203B41FA5}">
                      <a16:colId xmlns:a16="http://schemas.microsoft.com/office/drawing/2014/main" val="2642364557"/>
                    </a:ext>
                  </a:extLst>
                </a:gridCol>
                <a:gridCol w="451453">
                  <a:extLst>
                    <a:ext uri="{9D8B030D-6E8A-4147-A177-3AD203B41FA5}">
                      <a16:colId xmlns:a16="http://schemas.microsoft.com/office/drawing/2014/main" val="493692101"/>
                    </a:ext>
                  </a:extLst>
                </a:gridCol>
                <a:gridCol w="451453">
                  <a:extLst>
                    <a:ext uri="{9D8B030D-6E8A-4147-A177-3AD203B41FA5}">
                      <a16:colId xmlns:a16="http://schemas.microsoft.com/office/drawing/2014/main" val="1632378329"/>
                    </a:ext>
                  </a:extLst>
                </a:gridCol>
                <a:gridCol w="451453">
                  <a:extLst>
                    <a:ext uri="{9D8B030D-6E8A-4147-A177-3AD203B41FA5}">
                      <a16:colId xmlns:a16="http://schemas.microsoft.com/office/drawing/2014/main" val="2151100031"/>
                    </a:ext>
                  </a:extLst>
                </a:gridCol>
                <a:gridCol w="451453">
                  <a:extLst>
                    <a:ext uri="{9D8B030D-6E8A-4147-A177-3AD203B41FA5}">
                      <a16:colId xmlns:a16="http://schemas.microsoft.com/office/drawing/2014/main" val="229094352"/>
                    </a:ext>
                  </a:extLst>
                </a:gridCol>
                <a:gridCol w="451453">
                  <a:extLst>
                    <a:ext uri="{9D8B030D-6E8A-4147-A177-3AD203B41FA5}">
                      <a16:colId xmlns:a16="http://schemas.microsoft.com/office/drawing/2014/main" val="2321942972"/>
                    </a:ext>
                  </a:extLst>
                </a:gridCol>
                <a:gridCol w="451453">
                  <a:extLst>
                    <a:ext uri="{9D8B030D-6E8A-4147-A177-3AD203B41FA5}">
                      <a16:colId xmlns:a16="http://schemas.microsoft.com/office/drawing/2014/main" val="2739756281"/>
                    </a:ext>
                  </a:extLst>
                </a:gridCol>
                <a:gridCol w="451453">
                  <a:extLst>
                    <a:ext uri="{9D8B030D-6E8A-4147-A177-3AD203B41FA5}">
                      <a16:colId xmlns:a16="http://schemas.microsoft.com/office/drawing/2014/main" val="828430766"/>
                    </a:ext>
                  </a:extLst>
                </a:gridCol>
              </a:tblGrid>
              <a:tr h="446186">
                <a:tc>
                  <a:txBody>
                    <a:bodyPr/>
                    <a:lstStyle/>
                    <a:p>
                      <a:pPr algn="ctr"/>
                      <a:r>
                        <a:rPr lang="en-US" altLang="zh-CN" sz="1500" dirty="0">
                          <a:latin typeface="Times New Roman" panose="02020603050405020304" pitchFamily="18" charset="0"/>
                          <a:cs typeface="Times New Roman" panose="02020603050405020304" pitchFamily="18" charset="0"/>
                        </a:rPr>
                        <a:t>1</a:t>
                      </a:r>
                      <a:endParaRPr lang="zh-CN" altLang="en-US" sz="1500" dirty="0">
                        <a:latin typeface="Times New Roman" panose="02020603050405020304" pitchFamily="18" charset="0"/>
                        <a:cs typeface="Times New Roman" panose="02020603050405020304" pitchFamily="18" charset="0"/>
                      </a:endParaRPr>
                    </a:p>
                  </a:txBody>
                  <a:tcPr marL="129182" marR="129182" marT="64591" marB="6459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500" b="1" kern="1200" dirty="0">
                          <a:solidFill>
                            <a:schemeClr val="tx1"/>
                          </a:solidFill>
                          <a:latin typeface="Times New Roman" panose="02020603050405020304" pitchFamily="18" charset="0"/>
                          <a:ea typeface="+mn-ea"/>
                          <a:cs typeface="Times New Roman" panose="02020603050405020304" pitchFamily="18" charset="0"/>
                        </a:rPr>
                        <a:t>2</a:t>
                      </a:r>
                      <a:endParaRPr lang="zh-CN" altLang="en-US" sz="1500" b="1" kern="1200" dirty="0">
                        <a:solidFill>
                          <a:schemeClr val="tx1"/>
                        </a:solidFill>
                        <a:latin typeface="Times New Roman" panose="02020603050405020304" pitchFamily="18" charset="0"/>
                        <a:ea typeface="+mn-ea"/>
                        <a:cs typeface="Times New Roman" panose="02020603050405020304" pitchFamily="18" charset="0"/>
                      </a:endParaRPr>
                    </a:p>
                  </a:txBody>
                  <a:tcPr marL="129182" marR="129182" marT="64591" marB="6459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500" dirty="0">
                          <a:latin typeface="Times New Roman" panose="02020603050405020304" pitchFamily="18" charset="0"/>
                          <a:cs typeface="Times New Roman" panose="02020603050405020304" pitchFamily="18" charset="0"/>
                        </a:rPr>
                        <a:t>3</a:t>
                      </a:r>
                      <a:endParaRPr lang="zh-CN" altLang="en-US" sz="1500" dirty="0">
                        <a:latin typeface="Times New Roman" panose="02020603050405020304" pitchFamily="18" charset="0"/>
                        <a:cs typeface="Times New Roman" panose="02020603050405020304" pitchFamily="18" charset="0"/>
                      </a:endParaRPr>
                    </a:p>
                  </a:txBody>
                  <a:tcPr marL="129182" marR="129182" marT="64591" marB="6459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500" dirty="0">
                          <a:latin typeface="Times New Roman" panose="02020603050405020304" pitchFamily="18" charset="0"/>
                          <a:cs typeface="Times New Roman" panose="02020603050405020304" pitchFamily="18" charset="0"/>
                        </a:rPr>
                        <a:t>4</a:t>
                      </a:r>
                      <a:endParaRPr lang="zh-CN" altLang="en-US" sz="1500" dirty="0">
                        <a:latin typeface="Times New Roman" panose="02020603050405020304" pitchFamily="18" charset="0"/>
                        <a:cs typeface="Times New Roman" panose="02020603050405020304" pitchFamily="18" charset="0"/>
                      </a:endParaRPr>
                    </a:p>
                  </a:txBody>
                  <a:tcPr marL="129182" marR="129182" marT="64591" marB="6459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500" dirty="0">
                          <a:latin typeface="Times New Roman" panose="02020603050405020304" pitchFamily="18" charset="0"/>
                          <a:cs typeface="Times New Roman" panose="02020603050405020304" pitchFamily="18" charset="0"/>
                        </a:rPr>
                        <a:t>5</a:t>
                      </a:r>
                      <a:endParaRPr lang="zh-CN" altLang="en-US" sz="1500" dirty="0">
                        <a:latin typeface="Times New Roman" panose="02020603050405020304" pitchFamily="18" charset="0"/>
                        <a:cs typeface="Times New Roman" panose="02020603050405020304" pitchFamily="18" charset="0"/>
                      </a:endParaRPr>
                    </a:p>
                  </a:txBody>
                  <a:tcPr marL="129182" marR="129182" marT="64591" marB="6459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500" dirty="0">
                          <a:latin typeface="Times New Roman" panose="02020603050405020304" pitchFamily="18" charset="0"/>
                          <a:cs typeface="Times New Roman" panose="02020603050405020304" pitchFamily="18" charset="0"/>
                        </a:rPr>
                        <a:t>6</a:t>
                      </a:r>
                      <a:endParaRPr lang="zh-CN" altLang="en-US" sz="1500" dirty="0">
                        <a:latin typeface="Times New Roman" panose="02020603050405020304" pitchFamily="18" charset="0"/>
                        <a:cs typeface="Times New Roman" panose="02020603050405020304" pitchFamily="18" charset="0"/>
                      </a:endParaRPr>
                    </a:p>
                  </a:txBody>
                  <a:tcPr marL="129182" marR="129182" marT="64591" marB="6459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500" dirty="0">
                          <a:latin typeface="Times New Roman" panose="02020603050405020304" pitchFamily="18" charset="0"/>
                          <a:cs typeface="Times New Roman" panose="02020603050405020304" pitchFamily="18" charset="0"/>
                        </a:rPr>
                        <a:t>7</a:t>
                      </a:r>
                      <a:endParaRPr lang="zh-CN" altLang="en-US" sz="1500" dirty="0">
                        <a:latin typeface="Times New Roman" panose="02020603050405020304" pitchFamily="18" charset="0"/>
                        <a:cs typeface="Times New Roman" panose="02020603050405020304" pitchFamily="18" charset="0"/>
                      </a:endParaRPr>
                    </a:p>
                  </a:txBody>
                  <a:tcPr marL="129182" marR="129182" marT="64591" marB="6459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500" dirty="0">
                          <a:latin typeface="Times New Roman" panose="02020603050405020304" pitchFamily="18" charset="0"/>
                          <a:cs typeface="Times New Roman" panose="02020603050405020304" pitchFamily="18" charset="0"/>
                        </a:rPr>
                        <a:t>8</a:t>
                      </a:r>
                      <a:endParaRPr lang="zh-CN" altLang="en-US" sz="1500" dirty="0">
                        <a:latin typeface="Times New Roman" panose="02020603050405020304" pitchFamily="18" charset="0"/>
                        <a:cs typeface="Times New Roman" panose="02020603050405020304" pitchFamily="18" charset="0"/>
                      </a:endParaRPr>
                    </a:p>
                  </a:txBody>
                  <a:tcPr marL="129182" marR="129182" marT="64591" marB="6459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500" dirty="0">
                          <a:latin typeface="Times New Roman" panose="02020603050405020304" pitchFamily="18" charset="0"/>
                          <a:cs typeface="Times New Roman" panose="02020603050405020304" pitchFamily="18" charset="0"/>
                        </a:rPr>
                        <a:t>9</a:t>
                      </a:r>
                      <a:endParaRPr lang="zh-CN" altLang="en-US" sz="1500" dirty="0">
                        <a:latin typeface="Times New Roman" panose="02020603050405020304" pitchFamily="18" charset="0"/>
                        <a:cs typeface="Times New Roman" panose="02020603050405020304" pitchFamily="18" charset="0"/>
                      </a:endParaRPr>
                    </a:p>
                  </a:txBody>
                  <a:tcPr marL="129182" marR="129182" marT="64591" marB="6459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500" dirty="0">
                          <a:latin typeface="Times New Roman" panose="02020603050405020304" pitchFamily="18" charset="0"/>
                          <a:cs typeface="Times New Roman" panose="02020603050405020304" pitchFamily="18" charset="0"/>
                        </a:rPr>
                        <a:t>10</a:t>
                      </a:r>
                      <a:endParaRPr lang="zh-CN" altLang="en-US" sz="1500" dirty="0">
                        <a:latin typeface="Times New Roman" panose="02020603050405020304" pitchFamily="18" charset="0"/>
                        <a:cs typeface="Times New Roman" panose="02020603050405020304" pitchFamily="18" charset="0"/>
                      </a:endParaRPr>
                    </a:p>
                  </a:txBody>
                  <a:tcPr marL="129182" marR="129182" marT="64591" marB="6459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500" dirty="0">
                          <a:latin typeface="Times New Roman" panose="02020603050405020304" pitchFamily="18" charset="0"/>
                          <a:cs typeface="Times New Roman" panose="02020603050405020304" pitchFamily="18" charset="0"/>
                        </a:rPr>
                        <a:t>11</a:t>
                      </a:r>
                      <a:endParaRPr lang="zh-CN" altLang="en-US" sz="1500" dirty="0">
                        <a:latin typeface="Times New Roman" panose="02020603050405020304" pitchFamily="18" charset="0"/>
                        <a:cs typeface="Times New Roman" panose="02020603050405020304" pitchFamily="18" charset="0"/>
                      </a:endParaRPr>
                    </a:p>
                  </a:txBody>
                  <a:tcPr marL="129182" marR="129182" marT="64591" marB="6459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500" dirty="0">
                          <a:latin typeface="Times New Roman" panose="02020603050405020304" pitchFamily="18" charset="0"/>
                          <a:cs typeface="Times New Roman" panose="02020603050405020304" pitchFamily="18" charset="0"/>
                        </a:rPr>
                        <a:t>12</a:t>
                      </a:r>
                      <a:endParaRPr lang="zh-CN" altLang="en-US" sz="1500" dirty="0">
                        <a:latin typeface="Times New Roman" panose="02020603050405020304" pitchFamily="18" charset="0"/>
                        <a:cs typeface="Times New Roman" panose="02020603050405020304" pitchFamily="18" charset="0"/>
                      </a:endParaRPr>
                    </a:p>
                  </a:txBody>
                  <a:tcPr marL="129182" marR="129182" marT="64591" marB="6459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500" dirty="0">
                          <a:latin typeface="Times New Roman" panose="02020603050405020304" pitchFamily="18" charset="0"/>
                          <a:cs typeface="Times New Roman" panose="02020603050405020304" pitchFamily="18" charset="0"/>
                        </a:rPr>
                        <a:t>13</a:t>
                      </a:r>
                      <a:endParaRPr lang="zh-CN" altLang="en-US" sz="1500" dirty="0">
                        <a:latin typeface="Times New Roman" panose="02020603050405020304" pitchFamily="18" charset="0"/>
                        <a:cs typeface="Times New Roman" panose="02020603050405020304" pitchFamily="18" charset="0"/>
                      </a:endParaRPr>
                    </a:p>
                  </a:txBody>
                  <a:tcPr marL="129182" marR="129182" marT="64591" marB="6459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500" dirty="0">
                          <a:latin typeface="Times New Roman" panose="02020603050405020304" pitchFamily="18" charset="0"/>
                          <a:cs typeface="Times New Roman" panose="02020603050405020304" pitchFamily="18" charset="0"/>
                        </a:rPr>
                        <a:t>14</a:t>
                      </a:r>
                      <a:endParaRPr lang="zh-CN" altLang="en-US" sz="1500" dirty="0">
                        <a:latin typeface="Times New Roman" panose="02020603050405020304" pitchFamily="18" charset="0"/>
                        <a:cs typeface="Times New Roman" panose="02020603050405020304" pitchFamily="18" charset="0"/>
                      </a:endParaRPr>
                    </a:p>
                  </a:txBody>
                  <a:tcPr marL="129182" marR="129182" marT="64591" marB="6459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500" dirty="0">
                          <a:latin typeface="Times New Roman" panose="02020603050405020304" pitchFamily="18" charset="0"/>
                          <a:cs typeface="Times New Roman" panose="02020603050405020304" pitchFamily="18" charset="0"/>
                        </a:rPr>
                        <a:t>15</a:t>
                      </a:r>
                      <a:endParaRPr lang="zh-CN" altLang="en-US" sz="1500" dirty="0">
                        <a:latin typeface="Times New Roman" panose="02020603050405020304" pitchFamily="18" charset="0"/>
                        <a:cs typeface="Times New Roman" panose="02020603050405020304" pitchFamily="18" charset="0"/>
                      </a:endParaRPr>
                    </a:p>
                  </a:txBody>
                  <a:tcPr marL="129182" marR="129182" marT="64591" marB="6459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84459158"/>
                  </a:ext>
                </a:extLst>
              </a:tr>
              <a:tr h="542860">
                <a:tc>
                  <a:txBody>
                    <a:bodyPr/>
                    <a:lstStyle/>
                    <a:p>
                      <a:pPr algn="ctr"/>
                      <a:r>
                        <a:rPr lang="en-US" altLang="zh-CN" sz="2300" dirty="0"/>
                        <a:t>A</a:t>
                      </a:r>
                      <a:endParaRPr lang="zh-CN" altLang="en-US" sz="2300" dirty="0"/>
                    </a:p>
                  </a:txBody>
                  <a:tcPr marL="129182" marR="129182" marT="64591" marB="64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algn="ctr"/>
                      <a:r>
                        <a:rPr lang="en-US" altLang="zh-CN" sz="2300" dirty="0"/>
                        <a:t>B</a:t>
                      </a:r>
                      <a:endParaRPr lang="zh-CN" altLang="en-US" sz="2300" dirty="0"/>
                    </a:p>
                  </a:txBody>
                  <a:tcPr marL="129182" marR="129182" marT="64591" marB="64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algn="ctr"/>
                      <a:r>
                        <a:rPr lang="en-US" altLang="zh-CN" sz="2300" dirty="0"/>
                        <a:t>C</a:t>
                      </a:r>
                      <a:endParaRPr lang="zh-CN" altLang="en-US" sz="2300" dirty="0"/>
                    </a:p>
                  </a:txBody>
                  <a:tcPr marL="129182" marR="129182" marT="64591" marB="64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algn="ctr"/>
                      <a:endParaRPr lang="zh-CN" altLang="en-US" sz="2300" dirty="0"/>
                    </a:p>
                  </a:txBody>
                  <a:tcPr marL="129182" marR="129182" marT="64591" marB="64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300" dirty="0"/>
                        <a:t>D</a:t>
                      </a:r>
                      <a:endParaRPr lang="zh-CN" altLang="en-US" sz="2300" dirty="0"/>
                    </a:p>
                  </a:txBody>
                  <a:tcPr marL="129182" marR="129182" marT="64591" marB="64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algn="ctr"/>
                      <a:endParaRPr lang="zh-CN" altLang="en-US" sz="2300" dirty="0"/>
                    </a:p>
                  </a:txBody>
                  <a:tcPr marL="129182" marR="129182" marT="64591" marB="64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300" dirty="0"/>
                        <a:t>E</a:t>
                      </a:r>
                      <a:endParaRPr lang="zh-CN" altLang="en-US" sz="2300" dirty="0"/>
                    </a:p>
                  </a:txBody>
                  <a:tcPr marL="129182" marR="129182" marT="64591" marB="64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algn="ctr"/>
                      <a:endParaRPr lang="zh-CN" altLang="en-US" sz="2300" dirty="0"/>
                    </a:p>
                  </a:txBody>
                  <a:tcPr marL="129182" marR="129182" marT="64591" marB="64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300" dirty="0"/>
                    </a:p>
                  </a:txBody>
                  <a:tcPr marL="129182" marR="129182" marT="64591" marB="64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300" dirty="0"/>
                        <a:t>F</a:t>
                      </a:r>
                      <a:endParaRPr lang="zh-CN" altLang="en-US" sz="2300" dirty="0"/>
                    </a:p>
                  </a:txBody>
                  <a:tcPr marL="129182" marR="129182" marT="64591" marB="64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algn="ctr"/>
                      <a:endParaRPr lang="zh-CN" altLang="en-US" sz="2300" dirty="0"/>
                    </a:p>
                  </a:txBody>
                  <a:tcPr marL="129182" marR="129182" marT="64591" marB="64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300" dirty="0"/>
                    </a:p>
                  </a:txBody>
                  <a:tcPr marL="129182" marR="129182" marT="64591" marB="64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300" dirty="0"/>
                    </a:p>
                  </a:txBody>
                  <a:tcPr marL="129182" marR="129182" marT="64591" marB="64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300" dirty="0"/>
                    </a:p>
                  </a:txBody>
                  <a:tcPr marL="129182" marR="129182" marT="64591" marB="64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300" dirty="0"/>
                    </a:p>
                  </a:txBody>
                  <a:tcPr marL="129182" marR="129182" marT="64591" marB="6459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3934126"/>
                  </a:ext>
                </a:extLst>
              </a:tr>
            </a:tbl>
          </a:graphicData>
        </a:graphic>
      </p:graphicFrame>
      <p:grpSp>
        <p:nvGrpSpPr>
          <p:cNvPr id="119" name="Group 26">
            <a:extLst>
              <a:ext uri="{FF2B5EF4-FFF2-40B4-BE49-F238E27FC236}">
                <a16:creationId xmlns:a16="http://schemas.microsoft.com/office/drawing/2014/main" id="{C3138C35-63D9-4B68-9789-700F83ADFC04}"/>
              </a:ext>
            </a:extLst>
          </p:cNvPr>
          <p:cNvGrpSpPr>
            <a:grpSpLocks/>
          </p:cNvGrpSpPr>
          <p:nvPr/>
        </p:nvGrpSpPr>
        <p:grpSpPr bwMode="auto">
          <a:xfrm>
            <a:off x="5295942" y="3307288"/>
            <a:ext cx="5552585" cy="2676210"/>
            <a:chOff x="2488" y="2060"/>
            <a:chExt cx="2818" cy="1865"/>
          </a:xfrm>
        </p:grpSpPr>
        <p:sp>
          <p:nvSpPr>
            <p:cNvPr id="120" name="Rectangle 27">
              <a:extLst>
                <a:ext uri="{FF2B5EF4-FFF2-40B4-BE49-F238E27FC236}">
                  <a16:creationId xmlns:a16="http://schemas.microsoft.com/office/drawing/2014/main" id="{760ECB8B-79EC-4C40-9154-66056B77C6E5}"/>
                </a:ext>
              </a:extLst>
            </p:cNvPr>
            <p:cNvSpPr>
              <a:spLocks noChangeArrowheads="1"/>
            </p:cNvSpPr>
            <p:nvPr/>
          </p:nvSpPr>
          <p:spPr bwMode="auto">
            <a:xfrm>
              <a:off x="3735" y="2475"/>
              <a:ext cx="175" cy="237"/>
            </a:xfrm>
            <a:prstGeom prst="rect">
              <a:avLst/>
            </a:prstGeom>
            <a:noFill/>
            <a:ln w="12700">
              <a:solidFill>
                <a:schemeClr val="tx1"/>
              </a:solidFill>
              <a:miter lim="800000"/>
              <a:headEnd/>
              <a:tailEnd/>
            </a:ln>
            <a:effectLst/>
          </p:spPr>
          <p:txBody>
            <a:bodyPr wrap="none" anchor="ctr"/>
            <a:lstStyle/>
            <a:p>
              <a:pPr algn="ctr">
                <a:spcBef>
                  <a:spcPct val="20000"/>
                </a:spcBef>
                <a:buClr>
                  <a:srgbClr val="FF3300"/>
                </a:buClr>
                <a:buFont typeface="Wingdings" pitchFamily="2" charset="2"/>
                <a:buNone/>
              </a:pPr>
              <a:r>
                <a:rPr kumimoji="1" lang="en-US" altLang="zh-CN" sz="2400" baseline="0" dirty="0">
                  <a:latin typeface="Times New Roman" pitchFamily="18" charset="0"/>
                </a:rPr>
                <a:t>A</a:t>
              </a:r>
            </a:p>
          </p:txBody>
        </p:sp>
        <p:sp>
          <p:nvSpPr>
            <p:cNvPr id="121" name="Rectangle 28">
              <a:extLst>
                <a:ext uri="{FF2B5EF4-FFF2-40B4-BE49-F238E27FC236}">
                  <a16:creationId xmlns:a16="http://schemas.microsoft.com/office/drawing/2014/main" id="{A792547D-1091-4A30-AB89-866B87B59747}"/>
                </a:ext>
              </a:extLst>
            </p:cNvPr>
            <p:cNvSpPr>
              <a:spLocks noChangeArrowheads="1"/>
            </p:cNvSpPr>
            <p:nvPr/>
          </p:nvSpPr>
          <p:spPr bwMode="auto">
            <a:xfrm>
              <a:off x="3910" y="2475"/>
              <a:ext cx="117" cy="237"/>
            </a:xfrm>
            <a:prstGeom prst="rect">
              <a:avLst/>
            </a:prstGeom>
            <a:noFill/>
            <a:ln w="12700">
              <a:solidFill>
                <a:schemeClr val="tx1"/>
              </a:solidFill>
              <a:miter lim="800000"/>
              <a:headEnd/>
              <a:tailEnd/>
            </a:ln>
            <a:effectLst/>
          </p:spPr>
          <p:txBody>
            <a:bodyPr wrap="none" anchor="ctr"/>
            <a:lstStyle/>
            <a:p>
              <a:pPr algn="ctr">
                <a:spcBef>
                  <a:spcPct val="20000"/>
                </a:spcBef>
                <a:buClr>
                  <a:srgbClr val="FF3300"/>
                </a:buClr>
                <a:buFont typeface="Wingdings" pitchFamily="2" charset="2"/>
                <a:buNone/>
                <a:defRPr/>
              </a:pPr>
              <a:endParaRPr kumimoji="1" lang="zh-CN" altLang="en-US" sz="1100" baseline="0">
                <a:latin typeface="Times New Roman" pitchFamily="18" charset="0"/>
              </a:endParaRPr>
            </a:p>
          </p:txBody>
        </p:sp>
        <p:sp>
          <p:nvSpPr>
            <p:cNvPr id="122" name="Rectangle 29">
              <a:extLst>
                <a:ext uri="{FF2B5EF4-FFF2-40B4-BE49-F238E27FC236}">
                  <a16:creationId xmlns:a16="http://schemas.microsoft.com/office/drawing/2014/main" id="{63A02CE0-81EE-4E5B-939D-31CF78D6586F}"/>
                </a:ext>
              </a:extLst>
            </p:cNvPr>
            <p:cNvSpPr>
              <a:spLocks noChangeArrowheads="1"/>
            </p:cNvSpPr>
            <p:nvPr/>
          </p:nvSpPr>
          <p:spPr bwMode="auto">
            <a:xfrm>
              <a:off x="3618" y="2475"/>
              <a:ext cx="117" cy="237"/>
            </a:xfrm>
            <a:prstGeom prst="rect">
              <a:avLst/>
            </a:prstGeom>
            <a:noFill/>
            <a:ln w="12700">
              <a:solidFill>
                <a:schemeClr val="tx1"/>
              </a:solidFill>
              <a:miter lim="800000"/>
              <a:headEnd/>
              <a:tailEnd/>
            </a:ln>
            <a:effectLst/>
          </p:spPr>
          <p:txBody>
            <a:bodyPr wrap="none" anchor="ctr"/>
            <a:lstStyle/>
            <a:p>
              <a:pPr algn="ctr">
                <a:spcBef>
                  <a:spcPct val="20000"/>
                </a:spcBef>
                <a:buClr>
                  <a:srgbClr val="FF3300"/>
                </a:buClr>
                <a:buFont typeface="Wingdings" pitchFamily="2" charset="2"/>
                <a:buNone/>
                <a:defRPr/>
              </a:pPr>
              <a:endParaRPr kumimoji="1" lang="zh-CN" altLang="en-US" sz="2400" baseline="0">
                <a:latin typeface="Times New Roman" pitchFamily="18" charset="0"/>
              </a:endParaRPr>
            </a:p>
          </p:txBody>
        </p:sp>
        <p:sp>
          <p:nvSpPr>
            <p:cNvPr id="123" name="Rectangle 30">
              <a:extLst>
                <a:ext uri="{FF2B5EF4-FFF2-40B4-BE49-F238E27FC236}">
                  <a16:creationId xmlns:a16="http://schemas.microsoft.com/office/drawing/2014/main" id="{972B6D19-B801-4CE5-BD03-16CB516A6D9C}"/>
                </a:ext>
              </a:extLst>
            </p:cNvPr>
            <p:cNvSpPr>
              <a:spLocks noChangeArrowheads="1"/>
            </p:cNvSpPr>
            <p:nvPr/>
          </p:nvSpPr>
          <p:spPr bwMode="auto">
            <a:xfrm>
              <a:off x="3036" y="2887"/>
              <a:ext cx="174" cy="238"/>
            </a:xfrm>
            <a:prstGeom prst="rect">
              <a:avLst/>
            </a:prstGeom>
            <a:noFill/>
            <a:ln w="12700">
              <a:solidFill>
                <a:schemeClr val="tx1"/>
              </a:solidFill>
              <a:miter lim="800000"/>
              <a:headEnd/>
              <a:tailEnd/>
            </a:ln>
            <a:effectLst/>
          </p:spPr>
          <p:txBody>
            <a:bodyPr wrap="none" anchor="ctr"/>
            <a:lstStyle/>
            <a:p>
              <a:pPr algn="ctr">
                <a:spcBef>
                  <a:spcPct val="20000"/>
                </a:spcBef>
                <a:buClr>
                  <a:srgbClr val="FF3300"/>
                </a:buClr>
                <a:buFont typeface="Wingdings" pitchFamily="2" charset="2"/>
                <a:buNone/>
              </a:pPr>
              <a:r>
                <a:rPr kumimoji="1" lang="en-US" altLang="zh-CN" sz="2400" baseline="0">
                  <a:latin typeface="Times New Roman" pitchFamily="18" charset="0"/>
                </a:rPr>
                <a:t>B</a:t>
              </a:r>
            </a:p>
          </p:txBody>
        </p:sp>
        <p:sp>
          <p:nvSpPr>
            <p:cNvPr id="124" name="Rectangle 31">
              <a:extLst>
                <a:ext uri="{FF2B5EF4-FFF2-40B4-BE49-F238E27FC236}">
                  <a16:creationId xmlns:a16="http://schemas.microsoft.com/office/drawing/2014/main" id="{DBC4E1C6-543B-43FF-93FB-5EAB12F72CD5}"/>
                </a:ext>
              </a:extLst>
            </p:cNvPr>
            <p:cNvSpPr>
              <a:spLocks noChangeArrowheads="1"/>
            </p:cNvSpPr>
            <p:nvPr/>
          </p:nvSpPr>
          <p:spPr bwMode="auto">
            <a:xfrm>
              <a:off x="3210" y="2887"/>
              <a:ext cx="117" cy="238"/>
            </a:xfrm>
            <a:prstGeom prst="rect">
              <a:avLst/>
            </a:prstGeom>
            <a:noFill/>
            <a:ln w="12700">
              <a:solidFill>
                <a:schemeClr val="tx1"/>
              </a:solidFill>
              <a:miter lim="800000"/>
              <a:headEnd/>
              <a:tailEnd/>
            </a:ln>
            <a:effectLst/>
          </p:spPr>
          <p:txBody>
            <a:bodyPr wrap="none" anchor="ctr"/>
            <a:lstStyle/>
            <a:p>
              <a:pPr algn="ctr">
                <a:spcBef>
                  <a:spcPct val="20000"/>
                </a:spcBef>
                <a:buClr>
                  <a:srgbClr val="FF3300"/>
                </a:buClr>
                <a:buFont typeface="Wingdings" pitchFamily="2" charset="2"/>
                <a:buNone/>
                <a:defRPr/>
              </a:pPr>
              <a:endParaRPr kumimoji="1" lang="zh-CN" altLang="en-US" sz="2400" baseline="0">
                <a:latin typeface="Times New Roman" pitchFamily="18" charset="0"/>
              </a:endParaRPr>
            </a:p>
          </p:txBody>
        </p:sp>
        <p:sp>
          <p:nvSpPr>
            <p:cNvPr id="125" name="Rectangle 32">
              <a:extLst>
                <a:ext uri="{FF2B5EF4-FFF2-40B4-BE49-F238E27FC236}">
                  <a16:creationId xmlns:a16="http://schemas.microsoft.com/office/drawing/2014/main" id="{AF9CF69D-B066-421C-9C14-11CB677E69EF}"/>
                </a:ext>
              </a:extLst>
            </p:cNvPr>
            <p:cNvSpPr>
              <a:spLocks noChangeArrowheads="1"/>
            </p:cNvSpPr>
            <p:nvPr/>
          </p:nvSpPr>
          <p:spPr bwMode="auto">
            <a:xfrm>
              <a:off x="2918" y="2887"/>
              <a:ext cx="118" cy="238"/>
            </a:xfrm>
            <a:prstGeom prst="rect">
              <a:avLst/>
            </a:prstGeom>
            <a:noFill/>
            <a:ln w="12700">
              <a:solidFill>
                <a:schemeClr val="tx1"/>
              </a:solidFill>
              <a:miter lim="800000"/>
              <a:headEnd/>
              <a:tailEnd/>
            </a:ln>
            <a:effectLst/>
          </p:spPr>
          <p:txBody>
            <a:bodyPr wrap="none" anchor="ctr"/>
            <a:lstStyle/>
            <a:p>
              <a:pPr algn="ctr">
                <a:spcBef>
                  <a:spcPct val="20000"/>
                </a:spcBef>
                <a:buClr>
                  <a:srgbClr val="FF3300"/>
                </a:buClr>
                <a:buFont typeface="Wingdings" pitchFamily="2" charset="2"/>
                <a:buNone/>
                <a:defRPr/>
              </a:pPr>
              <a:r>
                <a:rPr kumimoji="1" lang="zh-CN" altLang="en-US" sz="1100" baseline="0">
                  <a:latin typeface="Times New Roman" pitchFamily="18" charset="0"/>
                </a:rPr>
                <a:t>∧</a:t>
              </a:r>
            </a:p>
          </p:txBody>
        </p:sp>
        <p:sp>
          <p:nvSpPr>
            <p:cNvPr id="126" name="Rectangle 33">
              <a:extLst>
                <a:ext uri="{FF2B5EF4-FFF2-40B4-BE49-F238E27FC236}">
                  <a16:creationId xmlns:a16="http://schemas.microsoft.com/office/drawing/2014/main" id="{12C15D7E-1923-4B36-BF23-17CFA15B85B8}"/>
                </a:ext>
              </a:extLst>
            </p:cNvPr>
            <p:cNvSpPr>
              <a:spLocks noChangeArrowheads="1"/>
            </p:cNvSpPr>
            <p:nvPr/>
          </p:nvSpPr>
          <p:spPr bwMode="auto">
            <a:xfrm>
              <a:off x="2987" y="3687"/>
              <a:ext cx="175" cy="238"/>
            </a:xfrm>
            <a:prstGeom prst="rect">
              <a:avLst/>
            </a:prstGeom>
            <a:noFill/>
            <a:ln w="12700">
              <a:solidFill>
                <a:schemeClr val="tx1"/>
              </a:solidFill>
              <a:miter lim="800000"/>
              <a:headEnd/>
              <a:tailEnd/>
            </a:ln>
            <a:effectLst/>
          </p:spPr>
          <p:txBody>
            <a:bodyPr wrap="none" anchor="ctr"/>
            <a:lstStyle/>
            <a:p>
              <a:pPr algn="ctr">
                <a:spcBef>
                  <a:spcPct val="20000"/>
                </a:spcBef>
                <a:buClr>
                  <a:srgbClr val="FF3300"/>
                </a:buClr>
                <a:buFont typeface="Wingdings" pitchFamily="2" charset="2"/>
                <a:buNone/>
              </a:pPr>
              <a:r>
                <a:rPr kumimoji="1" lang="en-US" altLang="zh-CN" sz="2400" baseline="0">
                  <a:latin typeface="Times New Roman" pitchFamily="18" charset="0"/>
                </a:rPr>
                <a:t>F</a:t>
              </a:r>
            </a:p>
          </p:txBody>
        </p:sp>
        <p:sp>
          <p:nvSpPr>
            <p:cNvPr id="127" name="Rectangle 34">
              <a:extLst>
                <a:ext uri="{FF2B5EF4-FFF2-40B4-BE49-F238E27FC236}">
                  <a16:creationId xmlns:a16="http://schemas.microsoft.com/office/drawing/2014/main" id="{A7B91B3D-1B28-452E-B6FB-068D274FD8A3}"/>
                </a:ext>
              </a:extLst>
            </p:cNvPr>
            <p:cNvSpPr>
              <a:spLocks noChangeArrowheads="1"/>
            </p:cNvSpPr>
            <p:nvPr/>
          </p:nvSpPr>
          <p:spPr bwMode="auto">
            <a:xfrm>
              <a:off x="3162" y="3687"/>
              <a:ext cx="117" cy="238"/>
            </a:xfrm>
            <a:prstGeom prst="rect">
              <a:avLst/>
            </a:prstGeom>
            <a:noFill/>
            <a:ln w="12700">
              <a:solidFill>
                <a:schemeClr val="tx1"/>
              </a:solidFill>
              <a:miter lim="800000"/>
              <a:headEnd/>
              <a:tailEnd/>
            </a:ln>
            <a:effectLst/>
          </p:spPr>
          <p:txBody>
            <a:bodyPr wrap="none" anchor="ctr"/>
            <a:lstStyle/>
            <a:p>
              <a:pPr algn="ctr">
                <a:spcBef>
                  <a:spcPct val="20000"/>
                </a:spcBef>
                <a:buClr>
                  <a:srgbClr val="FF3300"/>
                </a:buClr>
                <a:buFont typeface="Wingdings" pitchFamily="2" charset="2"/>
                <a:buNone/>
                <a:defRPr/>
              </a:pPr>
              <a:r>
                <a:rPr kumimoji="1" lang="zh-CN" altLang="en-US" sz="1100" baseline="0">
                  <a:latin typeface="Times New Roman" pitchFamily="18" charset="0"/>
                </a:rPr>
                <a:t>∧</a:t>
              </a:r>
            </a:p>
          </p:txBody>
        </p:sp>
        <p:sp>
          <p:nvSpPr>
            <p:cNvPr id="128" name="Rectangle 35">
              <a:extLst>
                <a:ext uri="{FF2B5EF4-FFF2-40B4-BE49-F238E27FC236}">
                  <a16:creationId xmlns:a16="http://schemas.microsoft.com/office/drawing/2014/main" id="{136046CB-CD90-4ABC-A0F4-A3FA67717D6C}"/>
                </a:ext>
              </a:extLst>
            </p:cNvPr>
            <p:cNvSpPr>
              <a:spLocks noChangeArrowheads="1"/>
            </p:cNvSpPr>
            <p:nvPr/>
          </p:nvSpPr>
          <p:spPr bwMode="auto">
            <a:xfrm>
              <a:off x="2871" y="3687"/>
              <a:ext cx="117" cy="238"/>
            </a:xfrm>
            <a:prstGeom prst="rect">
              <a:avLst/>
            </a:prstGeom>
            <a:noFill/>
            <a:ln w="12700">
              <a:solidFill>
                <a:schemeClr val="tx1"/>
              </a:solidFill>
              <a:miter lim="800000"/>
              <a:headEnd/>
              <a:tailEnd/>
            </a:ln>
            <a:effectLst/>
          </p:spPr>
          <p:txBody>
            <a:bodyPr wrap="none" anchor="ctr"/>
            <a:lstStyle/>
            <a:p>
              <a:pPr algn="ctr">
                <a:spcBef>
                  <a:spcPct val="20000"/>
                </a:spcBef>
                <a:buClr>
                  <a:srgbClr val="FF3300"/>
                </a:buClr>
                <a:buFont typeface="Wingdings" pitchFamily="2" charset="2"/>
                <a:buNone/>
                <a:defRPr/>
              </a:pPr>
              <a:r>
                <a:rPr kumimoji="1" lang="zh-CN" altLang="en-US" sz="1100" baseline="0">
                  <a:latin typeface="Times New Roman" pitchFamily="18" charset="0"/>
                </a:rPr>
                <a:t>∧</a:t>
              </a:r>
            </a:p>
          </p:txBody>
        </p:sp>
        <p:sp>
          <p:nvSpPr>
            <p:cNvPr id="129" name="Rectangle 36">
              <a:extLst>
                <a:ext uri="{FF2B5EF4-FFF2-40B4-BE49-F238E27FC236}">
                  <a16:creationId xmlns:a16="http://schemas.microsoft.com/office/drawing/2014/main" id="{A6057112-1902-45C4-A759-AD42BED17EDE}"/>
                </a:ext>
              </a:extLst>
            </p:cNvPr>
            <p:cNvSpPr>
              <a:spLocks noChangeArrowheads="1"/>
            </p:cNvSpPr>
            <p:nvPr/>
          </p:nvSpPr>
          <p:spPr bwMode="auto">
            <a:xfrm>
              <a:off x="4435" y="2887"/>
              <a:ext cx="175" cy="238"/>
            </a:xfrm>
            <a:prstGeom prst="rect">
              <a:avLst/>
            </a:prstGeom>
            <a:noFill/>
            <a:ln w="12700">
              <a:solidFill>
                <a:schemeClr val="tx1"/>
              </a:solidFill>
              <a:miter lim="800000"/>
              <a:headEnd/>
              <a:tailEnd/>
            </a:ln>
            <a:effectLst/>
          </p:spPr>
          <p:txBody>
            <a:bodyPr wrap="none" anchor="ctr"/>
            <a:lstStyle/>
            <a:p>
              <a:pPr algn="ctr">
                <a:spcBef>
                  <a:spcPct val="20000"/>
                </a:spcBef>
                <a:buClr>
                  <a:srgbClr val="FF3300"/>
                </a:buClr>
                <a:buFont typeface="Wingdings" pitchFamily="2" charset="2"/>
                <a:buNone/>
              </a:pPr>
              <a:r>
                <a:rPr kumimoji="1" lang="en-US" altLang="zh-CN" sz="2400" baseline="0">
                  <a:latin typeface="Times New Roman" pitchFamily="18" charset="0"/>
                </a:rPr>
                <a:t>C</a:t>
              </a:r>
            </a:p>
          </p:txBody>
        </p:sp>
        <p:sp>
          <p:nvSpPr>
            <p:cNvPr id="130" name="Rectangle 37">
              <a:extLst>
                <a:ext uri="{FF2B5EF4-FFF2-40B4-BE49-F238E27FC236}">
                  <a16:creationId xmlns:a16="http://schemas.microsoft.com/office/drawing/2014/main" id="{C044F37E-B79A-49A4-B254-ED644F316B1B}"/>
                </a:ext>
              </a:extLst>
            </p:cNvPr>
            <p:cNvSpPr>
              <a:spLocks noChangeArrowheads="1"/>
            </p:cNvSpPr>
            <p:nvPr/>
          </p:nvSpPr>
          <p:spPr bwMode="auto">
            <a:xfrm>
              <a:off x="4610" y="2887"/>
              <a:ext cx="117" cy="238"/>
            </a:xfrm>
            <a:prstGeom prst="rect">
              <a:avLst/>
            </a:prstGeom>
            <a:noFill/>
            <a:ln w="12700">
              <a:solidFill>
                <a:schemeClr val="tx1"/>
              </a:solidFill>
              <a:miter lim="800000"/>
              <a:headEnd/>
              <a:tailEnd/>
            </a:ln>
            <a:effectLst/>
          </p:spPr>
          <p:txBody>
            <a:bodyPr wrap="none" anchor="ctr"/>
            <a:lstStyle/>
            <a:p>
              <a:pPr algn="ctr">
                <a:spcBef>
                  <a:spcPct val="20000"/>
                </a:spcBef>
                <a:buClr>
                  <a:srgbClr val="FF3300"/>
                </a:buClr>
                <a:buFont typeface="Wingdings" pitchFamily="2" charset="2"/>
                <a:buNone/>
                <a:defRPr/>
              </a:pPr>
              <a:endParaRPr kumimoji="1" lang="zh-CN" altLang="en-US" sz="1100" baseline="0">
                <a:latin typeface="Times New Roman" pitchFamily="18" charset="0"/>
              </a:endParaRPr>
            </a:p>
          </p:txBody>
        </p:sp>
        <p:sp>
          <p:nvSpPr>
            <p:cNvPr id="131" name="Rectangle 38">
              <a:extLst>
                <a:ext uri="{FF2B5EF4-FFF2-40B4-BE49-F238E27FC236}">
                  <a16:creationId xmlns:a16="http://schemas.microsoft.com/office/drawing/2014/main" id="{22B90B6F-78C7-489C-89E5-02852F6751AF}"/>
                </a:ext>
              </a:extLst>
            </p:cNvPr>
            <p:cNvSpPr>
              <a:spLocks noChangeArrowheads="1"/>
            </p:cNvSpPr>
            <p:nvPr/>
          </p:nvSpPr>
          <p:spPr bwMode="auto">
            <a:xfrm>
              <a:off x="4318" y="2887"/>
              <a:ext cx="117" cy="238"/>
            </a:xfrm>
            <a:prstGeom prst="rect">
              <a:avLst/>
            </a:prstGeom>
            <a:noFill/>
            <a:ln w="12700">
              <a:solidFill>
                <a:schemeClr val="tx1"/>
              </a:solidFill>
              <a:miter lim="800000"/>
              <a:headEnd/>
              <a:tailEnd/>
            </a:ln>
            <a:effectLst/>
          </p:spPr>
          <p:txBody>
            <a:bodyPr wrap="none" anchor="ctr"/>
            <a:lstStyle/>
            <a:p>
              <a:pPr algn="ctr">
                <a:spcBef>
                  <a:spcPct val="20000"/>
                </a:spcBef>
                <a:buClr>
                  <a:srgbClr val="FF3300"/>
                </a:buClr>
                <a:buFont typeface="Wingdings" pitchFamily="2" charset="2"/>
                <a:buNone/>
                <a:defRPr/>
              </a:pPr>
              <a:r>
                <a:rPr kumimoji="1" lang="zh-CN" altLang="en-US" sz="1100" baseline="0">
                  <a:latin typeface="Times New Roman" pitchFamily="18" charset="0"/>
                </a:rPr>
                <a:t>∧</a:t>
              </a:r>
            </a:p>
          </p:txBody>
        </p:sp>
        <p:sp>
          <p:nvSpPr>
            <p:cNvPr id="132" name="Rectangle 39">
              <a:extLst>
                <a:ext uri="{FF2B5EF4-FFF2-40B4-BE49-F238E27FC236}">
                  <a16:creationId xmlns:a16="http://schemas.microsoft.com/office/drawing/2014/main" id="{F16F2B1F-AAC0-4027-854E-476B05D6310E}"/>
                </a:ext>
              </a:extLst>
            </p:cNvPr>
            <p:cNvSpPr>
              <a:spLocks noChangeArrowheads="1"/>
            </p:cNvSpPr>
            <p:nvPr/>
          </p:nvSpPr>
          <p:spPr bwMode="auto">
            <a:xfrm>
              <a:off x="3550" y="3270"/>
              <a:ext cx="175" cy="237"/>
            </a:xfrm>
            <a:prstGeom prst="rect">
              <a:avLst/>
            </a:prstGeom>
            <a:noFill/>
            <a:ln w="12700">
              <a:solidFill>
                <a:schemeClr val="tx1"/>
              </a:solidFill>
              <a:miter lim="800000"/>
              <a:headEnd/>
              <a:tailEnd/>
            </a:ln>
            <a:effectLst/>
          </p:spPr>
          <p:txBody>
            <a:bodyPr wrap="none" anchor="ctr"/>
            <a:lstStyle/>
            <a:p>
              <a:pPr algn="ctr">
                <a:spcBef>
                  <a:spcPct val="20000"/>
                </a:spcBef>
                <a:buClr>
                  <a:srgbClr val="FF3300"/>
                </a:buClr>
                <a:buFont typeface="Wingdings" pitchFamily="2" charset="2"/>
                <a:buNone/>
              </a:pPr>
              <a:r>
                <a:rPr kumimoji="1" lang="en-US" altLang="zh-CN" sz="2400" baseline="0">
                  <a:latin typeface="Times New Roman" pitchFamily="18" charset="0"/>
                </a:rPr>
                <a:t>D</a:t>
              </a:r>
            </a:p>
          </p:txBody>
        </p:sp>
        <p:sp>
          <p:nvSpPr>
            <p:cNvPr id="133" name="Rectangle 40">
              <a:extLst>
                <a:ext uri="{FF2B5EF4-FFF2-40B4-BE49-F238E27FC236}">
                  <a16:creationId xmlns:a16="http://schemas.microsoft.com/office/drawing/2014/main" id="{76E4E031-47B9-47DB-BF9E-490E1B0BC575}"/>
                </a:ext>
              </a:extLst>
            </p:cNvPr>
            <p:cNvSpPr>
              <a:spLocks noChangeArrowheads="1"/>
            </p:cNvSpPr>
            <p:nvPr/>
          </p:nvSpPr>
          <p:spPr bwMode="auto">
            <a:xfrm>
              <a:off x="3725" y="3270"/>
              <a:ext cx="117" cy="237"/>
            </a:xfrm>
            <a:prstGeom prst="rect">
              <a:avLst/>
            </a:prstGeom>
            <a:noFill/>
            <a:ln w="12700">
              <a:solidFill>
                <a:schemeClr val="tx1"/>
              </a:solidFill>
              <a:miter lim="800000"/>
              <a:headEnd/>
              <a:tailEnd/>
            </a:ln>
            <a:effectLst/>
          </p:spPr>
          <p:txBody>
            <a:bodyPr wrap="none" anchor="ctr"/>
            <a:lstStyle/>
            <a:p>
              <a:pPr algn="ctr">
                <a:spcBef>
                  <a:spcPct val="20000"/>
                </a:spcBef>
                <a:buClr>
                  <a:srgbClr val="FF3300"/>
                </a:buClr>
                <a:buFont typeface="Wingdings" pitchFamily="2" charset="2"/>
                <a:buNone/>
                <a:defRPr/>
              </a:pPr>
              <a:r>
                <a:rPr kumimoji="1" lang="zh-CN" altLang="en-US" sz="1100" baseline="0">
                  <a:latin typeface="Times New Roman" pitchFamily="18" charset="0"/>
                </a:rPr>
                <a:t>∧</a:t>
              </a:r>
            </a:p>
          </p:txBody>
        </p:sp>
        <p:sp>
          <p:nvSpPr>
            <p:cNvPr id="134" name="Rectangle 41">
              <a:extLst>
                <a:ext uri="{FF2B5EF4-FFF2-40B4-BE49-F238E27FC236}">
                  <a16:creationId xmlns:a16="http://schemas.microsoft.com/office/drawing/2014/main" id="{0D21F665-66E8-4884-B5CC-E683C16923EE}"/>
                </a:ext>
              </a:extLst>
            </p:cNvPr>
            <p:cNvSpPr>
              <a:spLocks noChangeArrowheads="1"/>
            </p:cNvSpPr>
            <p:nvPr/>
          </p:nvSpPr>
          <p:spPr bwMode="auto">
            <a:xfrm>
              <a:off x="3433" y="3270"/>
              <a:ext cx="117" cy="237"/>
            </a:xfrm>
            <a:prstGeom prst="rect">
              <a:avLst/>
            </a:prstGeom>
            <a:noFill/>
            <a:ln w="12700">
              <a:solidFill>
                <a:schemeClr val="tx1"/>
              </a:solidFill>
              <a:miter lim="800000"/>
              <a:headEnd/>
              <a:tailEnd/>
            </a:ln>
            <a:effectLst/>
          </p:spPr>
          <p:txBody>
            <a:bodyPr wrap="none" anchor="ctr"/>
            <a:lstStyle/>
            <a:p>
              <a:pPr algn="ctr">
                <a:spcBef>
                  <a:spcPct val="20000"/>
                </a:spcBef>
                <a:buClr>
                  <a:srgbClr val="FF3300"/>
                </a:buClr>
                <a:buFont typeface="Wingdings" pitchFamily="2" charset="2"/>
                <a:buNone/>
                <a:defRPr/>
              </a:pPr>
              <a:endParaRPr kumimoji="1" lang="zh-CN" altLang="en-US" sz="1100" baseline="0">
                <a:latin typeface="Times New Roman" pitchFamily="18" charset="0"/>
              </a:endParaRPr>
            </a:p>
          </p:txBody>
        </p:sp>
        <p:sp>
          <p:nvSpPr>
            <p:cNvPr id="135" name="Rectangle 42">
              <a:extLst>
                <a:ext uri="{FF2B5EF4-FFF2-40B4-BE49-F238E27FC236}">
                  <a16:creationId xmlns:a16="http://schemas.microsoft.com/office/drawing/2014/main" id="{2188DC40-3F16-4BE8-BB1C-1084C8394A18}"/>
                </a:ext>
              </a:extLst>
            </p:cNvPr>
            <p:cNvSpPr>
              <a:spLocks noChangeArrowheads="1"/>
            </p:cNvSpPr>
            <p:nvPr/>
          </p:nvSpPr>
          <p:spPr bwMode="auto">
            <a:xfrm>
              <a:off x="5014" y="3270"/>
              <a:ext cx="175" cy="237"/>
            </a:xfrm>
            <a:prstGeom prst="rect">
              <a:avLst/>
            </a:prstGeom>
            <a:noFill/>
            <a:ln w="12700">
              <a:solidFill>
                <a:schemeClr val="tx1"/>
              </a:solidFill>
              <a:miter lim="800000"/>
              <a:headEnd/>
              <a:tailEnd/>
            </a:ln>
            <a:effectLst/>
          </p:spPr>
          <p:txBody>
            <a:bodyPr wrap="none" anchor="ctr"/>
            <a:lstStyle/>
            <a:p>
              <a:pPr algn="ctr">
                <a:spcBef>
                  <a:spcPct val="20000"/>
                </a:spcBef>
                <a:buClr>
                  <a:srgbClr val="FF3300"/>
                </a:buClr>
                <a:buFont typeface="Wingdings" pitchFamily="2" charset="2"/>
                <a:buNone/>
              </a:pPr>
              <a:r>
                <a:rPr kumimoji="1" lang="en-US" altLang="zh-CN" sz="2400" baseline="0">
                  <a:latin typeface="Times New Roman" pitchFamily="18" charset="0"/>
                </a:rPr>
                <a:t>E</a:t>
              </a:r>
            </a:p>
          </p:txBody>
        </p:sp>
        <p:sp>
          <p:nvSpPr>
            <p:cNvPr id="136" name="Rectangle 43">
              <a:extLst>
                <a:ext uri="{FF2B5EF4-FFF2-40B4-BE49-F238E27FC236}">
                  <a16:creationId xmlns:a16="http://schemas.microsoft.com/office/drawing/2014/main" id="{F727303F-AA01-48CB-A0A9-90AEB273E0B5}"/>
                </a:ext>
              </a:extLst>
            </p:cNvPr>
            <p:cNvSpPr>
              <a:spLocks noChangeArrowheads="1"/>
            </p:cNvSpPr>
            <p:nvPr/>
          </p:nvSpPr>
          <p:spPr bwMode="auto">
            <a:xfrm>
              <a:off x="5189" y="3270"/>
              <a:ext cx="117" cy="237"/>
            </a:xfrm>
            <a:prstGeom prst="rect">
              <a:avLst/>
            </a:prstGeom>
            <a:noFill/>
            <a:ln w="12700">
              <a:solidFill>
                <a:schemeClr val="tx1"/>
              </a:solidFill>
              <a:miter lim="800000"/>
              <a:headEnd/>
              <a:tailEnd/>
            </a:ln>
            <a:effectLst/>
          </p:spPr>
          <p:txBody>
            <a:bodyPr wrap="none" anchor="ctr"/>
            <a:lstStyle/>
            <a:p>
              <a:pPr algn="ctr">
                <a:spcBef>
                  <a:spcPct val="20000"/>
                </a:spcBef>
                <a:buClr>
                  <a:srgbClr val="FF3300"/>
                </a:buClr>
                <a:buFont typeface="Wingdings" pitchFamily="2" charset="2"/>
                <a:buNone/>
                <a:defRPr/>
              </a:pPr>
              <a:r>
                <a:rPr kumimoji="1" lang="zh-CN" altLang="en-US" sz="1100" baseline="0">
                  <a:latin typeface="Times New Roman" pitchFamily="18" charset="0"/>
                </a:rPr>
                <a:t>∧</a:t>
              </a:r>
            </a:p>
          </p:txBody>
        </p:sp>
        <p:sp>
          <p:nvSpPr>
            <p:cNvPr id="137" name="Rectangle 44">
              <a:extLst>
                <a:ext uri="{FF2B5EF4-FFF2-40B4-BE49-F238E27FC236}">
                  <a16:creationId xmlns:a16="http://schemas.microsoft.com/office/drawing/2014/main" id="{A86CBE7A-4B3E-4743-927B-1442B200F37E}"/>
                </a:ext>
              </a:extLst>
            </p:cNvPr>
            <p:cNvSpPr>
              <a:spLocks noChangeArrowheads="1"/>
            </p:cNvSpPr>
            <p:nvPr/>
          </p:nvSpPr>
          <p:spPr bwMode="auto">
            <a:xfrm>
              <a:off x="4897" y="3270"/>
              <a:ext cx="117" cy="237"/>
            </a:xfrm>
            <a:prstGeom prst="rect">
              <a:avLst/>
            </a:prstGeom>
            <a:noFill/>
            <a:ln w="12700">
              <a:solidFill>
                <a:schemeClr val="tx1"/>
              </a:solidFill>
              <a:miter lim="800000"/>
              <a:headEnd/>
              <a:tailEnd/>
            </a:ln>
            <a:effectLst/>
          </p:spPr>
          <p:txBody>
            <a:bodyPr wrap="none" anchor="ctr"/>
            <a:lstStyle/>
            <a:p>
              <a:pPr algn="ctr">
                <a:spcBef>
                  <a:spcPct val="20000"/>
                </a:spcBef>
                <a:buClr>
                  <a:srgbClr val="FF3300"/>
                </a:buClr>
                <a:buFont typeface="Wingdings" pitchFamily="2" charset="2"/>
                <a:buNone/>
                <a:defRPr/>
              </a:pPr>
              <a:r>
                <a:rPr kumimoji="1" lang="zh-CN" altLang="en-US" sz="1100" baseline="0">
                  <a:latin typeface="Times New Roman" pitchFamily="18" charset="0"/>
                </a:rPr>
                <a:t>∧</a:t>
              </a:r>
            </a:p>
          </p:txBody>
        </p:sp>
        <p:sp>
          <p:nvSpPr>
            <p:cNvPr id="138" name="Line 45">
              <a:extLst>
                <a:ext uri="{FF2B5EF4-FFF2-40B4-BE49-F238E27FC236}">
                  <a16:creationId xmlns:a16="http://schemas.microsoft.com/office/drawing/2014/main" id="{D45E0744-F176-477D-AB89-0C6892BD9CC2}"/>
                </a:ext>
              </a:extLst>
            </p:cNvPr>
            <p:cNvSpPr>
              <a:spLocks noChangeShapeType="1"/>
            </p:cNvSpPr>
            <p:nvPr/>
          </p:nvSpPr>
          <p:spPr bwMode="auto">
            <a:xfrm flipH="1">
              <a:off x="3158" y="2595"/>
              <a:ext cx="529" cy="264"/>
            </a:xfrm>
            <a:prstGeom prst="line">
              <a:avLst/>
            </a:prstGeom>
            <a:noFill/>
            <a:ln w="28575">
              <a:solidFill>
                <a:schemeClr val="accent4">
                  <a:lumMod val="60000"/>
                  <a:lumOff val="40000"/>
                </a:schemeClr>
              </a:solidFill>
              <a:round/>
              <a:headEnd type="oval" w="sm" len="sm"/>
              <a:tailEnd type="triangle" w="med" len="med"/>
            </a:ln>
            <a:effectLst/>
          </p:spPr>
          <p:txBody>
            <a:bodyPr/>
            <a:lstStyle/>
            <a:p>
              <a:pPr>
                <a:defRPr/>
              </a:pPr>
              <a:endParaRPr lang="zh-CN" altLang="en-US" sz="2400" baseline="0"/>
            </a:p>
          </p:txBody>
        </p:sp>
        <p:sp>
          <p:nvSpPr>
            <p:cNvPr id="139" name="Line 46">
              <a:extLst>
                <a:ext uri="{FF2B5EF4-FFF2-40B4-BE49-F238E27FC236}">
                  <a16:creationId xmlns:a16="http://schemas.microsoft.com/office/drawing/2014/main" id="{461AA2C0-F1E5-463E-82CA-6C420A14348F}"/>
                </a:ext>
              </a:extLst>
            </p:cNvPr>
            <p:cNvSpPr>
              <a:spLocks noChangeShapeType="1"/>
            </p:cNvSpPr>
            <p:nvPr/>
          </p:nvSpPr>
          <p:spPr bwMode="auto">
            <a:xfrm>
              <a:off x="3961" y="2595"/>
              <a:ext cx="541" cy="264"/>
            </a:xfrm>
            <a:prstGeom prst="line">
              <a:avLst/>
            </a:prstGeom>
            <a:noFill/>
            <a:ln w="28575">
              <a:solidFill>
                <a:schemeClr val="accent4">
                  <a:lumMod val="60000"/>
                  <a:lumOff val="40000"/>
                </a:schemeClr>
              </a:solidFill>
              <a:round/>
              <a:headEnd type="oval" w="sm" len="sm"/>
              <a:tailEnd type="triangle" w="med" len="med"/>
            </a:ln>
            <a:effectLst/>
          </p:spPr>
          <p:txBody>
            <a:bodyPr/>
            <a:lstStyle/>
            <a:p>
              <a:pPr>
                <a:defRPr/>
              </a:pPr>
              <a:endParaRPr lang="zh-CN" altLang="en-US" sz="2400" baseline="0"/>
            </a:p>
          </p:txBody>
        </p:sp>
        <p:sp>
          <p:nvSpPr>
            <p:cNvPr id="140" name="Line 47">
              <a:extLst>
                <a:ext uri="{FF2B5EF4-FFF2-40B4-BE49-F238E27FC236}">
                  <a16:creationId xmlns:a16="http://schemas.microsoft.com/office/drawing/2014/main" id="{7B2DCD1D-0694-4CCF-BD26-7C6D3EF94BEE}"/>
                </a:ext>
              </a:extLst>
            </p:cNvPr>
            <p:cNvSpPr>
              <a:spLocks noChangeShapeType="1"/>
            </p:cNvSpPr>
            <p:nvPr/>
          </p:nvSpPr>
          <p:spPr bwMode="auto">
            <a:xfrm>
              <a:off x="3266" y="3003"/>
              <a:ext cx="324" cy="240"/>
            </a:xfrm>
            <a:prstGeom prst="line">
              <a:avLst/>
            </a:prstGeom>
            <a:noFill/>
            <a:ln w="28575">
              <a:solidFill>
                <a:schemeClr val="accent4">
                  <a:lumMod val="60000"/>
                  <a:lumOff val="40000"/>
                </a:schemeClr>
              </a:solidFill>
              <a:round/>
              <a:headEnd type="oval" w="sm" len="sm"/>
              <a:tailEnd type="triangle" w="med" len="med"/>
            </a:ln>
            <a:effectLst/>
          </p:spPr>
          <p:txBody>
            <a:bodyPr/>
            <a:lstStyle/>
            <a:p>
              <a:pPr>
                <a:defRPr/>
              </a:pPr>
              <a:endParaRPr lang="zh-CN" altLang="en-US" sz="2400" baseline="0"/>
            </a:p>
          </p:txBody>
        </p:sp>
        <p:sp>
          <p:nvSpPr>
            <p:cNvPr id="141" name="Line 48">
              <a:extLst>
                <a:ext uri="{FF2B5EF4-FFF2-40B4-BE49-F238E27FC236}">
                  <a16:creationId xmlns:a16="http://schemas.microsoft.com/office/drawing/2014/main" id="{681E998C-B8CC-4656-B5F5-207B2575DD0D}"/>
                </a:ext>
              </a:extLst>
            </p:cNvPr>
            <p:cNvSpPr>
              <a:spLocks noChangeShapeType="1"/>
            </p:cNvSpPr>
            <p:nvPr/>
          </p:nvSpPr>
          <p:spPr bwMode="auto">
            <a:xfrm flipH="1">
              <a:off x="3110" y="3375"/>
              <a:ext cx="384" cy="288"/>
            </a:xfrm>
            <a:prstGeom prst="line">
              <a:avLst/>
            </a:prstGeom>
            <a:noFill/>
            <a:ln w="28575">
              <a:solidFill>
                <a:schemeClr val="accent4">
                  <a:lumMod val="60000"/>
                  <a:lumOff val="40000"/>
                </a:schemeClr>
              </a:solidFill>
              <a:round/>
              <a:headEnd type="oval" w="sm" len="sm"/>
              <a:tailEnd type="triangle" w="med" len="med"/>
            </a:ln>
            <a:effectLst/>
          </p:spPr>
          <p:txBody>
            <a:bodyPr/>
            <a:lstStyle/>
            <a:p>
              <a:pPr>
                <a:defRPr/>
              </a:pPr>
              <a:endParaRPr lang="zh-CN" altLang="en-US" sz="2400" baseline="0"/>
            </a:p>
          </p:txBody>
        </p:sp>
        <p:sp>
          <p:nvSpPr>
            <p:cNvPr id="142" name="Line 49">
              <a:extLst>
                <a:ext uri="{FF2B5EF4-FFF2-40B4-BE49-F238E27FC236}">
                  <a16:creationId xmlns:a16="http://schemas.microsoft.com/office/drawing/2014/main" id="{465FFAAF-A66D-4030-913A-C97E43E6E50E}"/>
                </a:ext>
              </a:extLst>
            </p:cNvPr>
            <p:cNvSpPr>
              <a:spLocks noChangeShapeType="1"/>
            </p:cNvSpPr>
            <p:nvPr/>
          </p:nvSpPr>
          <p:spPr bwMode="auto">
            <a:xfrm>
              <a:off x="4670" y="3003"/>
              <a:ext cx="360" cy="240"/>
            </a:xfrm>
            <a:prstGeom prst="line">
              <a:avLst/>
            </a:prstGeom>
            <a:noFill/>
            <a:ln w="28575">
              <a:solidFill>
                <a:schemeClr val="accent4">
                  <a:lumMod val="60000"/>
                  <a:lumOff val="40000"/>
                </a:schemeClr>
              </a:solidFill>
              <a:round/>
              <a:headEnd type="oval" w="sm" len="sm"/>
              <a:tailEnd type="triangle" w="med" len="med"/>
            </a:ln>
            <a:effectLst/>
          </p:spPr>
          <p:txBody>
            <a:bodyPr/>
            <a:lstStyle/>
            <a:p>
              <a:pPr>
                <a:defRPr/>
              </a:pPr>
              <a:endParaRPr lang="zh-CN" altLang="en-US" sz="2400" baseline="0"/>
            </a:p>
          </p:txBody>
        </p:sp>
        <p:sp>
          <p:nvSpPr>
            <p:cNvPr id="143" name="Rectangle 50">
              <a:extLst>
                <a:ext uri="{FF2B5EF4-FFF2-40B4-BE49-F238E27FC236}">
                  <a16:creationId xmlns:a16="http://schemas.microsoft.com/office/drawing/2014/main" id="{FF2F72EA-A05E-42DD-B0D3-421896EFF420}"/>
                </a:ext>
              </a:extLst>
            </p:cNvPr>
            <p:cNvSpPr>
              <a:spLocks noChangeArrowheads="1"/>
            </p:cNvSpPr>
            <p:nvPr/>
          </p:nvSpPr>
          <p:spPr bwMode="auto">
            <a:xfrm>
              <a:off x="2488" y="2060"/>
              <a:ext cx="448" cy="322"/>
            </a:xfrm>
            <a:prstGeom prst="rect">
              <a:avLst/>
            </a:prstGeom>
            <a:noFill/>
            <a:ln w="19050">
              <a:noFill/>
              <a:miter lim="800000"/>
              <a:headEnd type="none" w="sm" len="sm"/>
              <a:tailEnd/>
            </a:ln>
            <a:effectLst/>
          </p:spPr>
          <p:txBody>
            <a:bodyPr wrap="none">
              <a:spAutoFit/>
            </a:bodyPr>
            <a:lstStyle/>
            <a:p>
              <a:pPr algn="ctr">
                <a:spcBef>
                  <a:spcPct val="20000"/>
                </a:spcBef>
                <a:buClr>
                  <a:srgbClr val="FF3300"/>
                </a:buClr>
                <a:buFont typeface="Wingdings" pitchFamily="2" charset="2"/>
                <a:buNone/>
                <a:defRPr/>
              </a:pPr>
              <a:r>
                <a:rPr kumimoji="1" lang="en-US" altLang="zh-CN" sz="2400" baseline="0" dirty="0"/>
                <a:t>Root</a:t>
              </a:r>
            </a:p>
          </p:txBody>
        </p:sp>
        <p:sp>
          <p:nvSpPr>
            <p:cNvPr id="144" name="Rectangle 51">
              <a:extLst>
                <a:ext uri="{FF2B5EF4-FFF2-40B4-BE49-F238E27FC236}">
                  <a16:creationId xmlns:a16="http://schemas.microsoft.com/office/drawing/2014/main" id="{736C290B-9460-4A35-9E9F-E8CBEF7BF9E6}"/>
                </a:ext>
              </a:extLst>
            </p:cNvPr>
            <p:cNvSpPr>
              <a:spLocks noChangeArrowheads="1"/>
            </p:cNvSpPr>
            <p:nvPr/>
          </p:nvSpPr>
          <p:spPr bwMode="auto">
            <a:xfrm>
              <a:off x="3062" y="2151"/>
              <a:ext cx="239" cy="192"/>
            </a:xfrm>
            <a:prstGeom prst="rect">
              <a:avLst/>
            </a:prstGeom>
            <a:noFill/>
            <a:ln w="19050">
              <a:solidFill>
                <a:schemeClr val="tx1"/>
              </a:solidFill>
              <a:miter lim="800000"/>
              <a:headEnd type="none" w="sm" len="sm"/>
              <a:tailEnd/>
            </a:ln>
            <a:effectLst/>
          </p:spPr>
          <p:txBody>
            <a:bodyPr wrap="none" anchor="ctr"/>
            <a:lstStyle/>
            <a:p>
              <a:pPr>
                <a:defRPr/>
              </a:pPr>
              <a:endParaRPr lang="zh-CN" altLang="en-US" sz="2400" baseline="0"/>
            </a:p>
          </p:txBody>
        </p:sp>
        <p:sp>
          <p:nvSpPr>
            <p:cNvPr id="145" name="Line 52">
              <a:extLst>
                <a:ext uri="{FF2B5EF4-FFF2-40B4-BE49-F238E27FC236}">
                  <a16:creationId xmlns:a16="http://schemas.microsoft.com/office/drawing/2014/main" id="{41418F59-81E5-4C34-B20D-E42E84B54325}"/>
                </a:ext>
              </a:extLst>
            </p:cNvPr>
            <p:cNvSpPr>
              <a:spLocks noChangeShapeType="1"/>
            </p:cNvSpPr>
            <p:nvPr/>
          </p:nvSpPr>
          <p:spPr bwMode="auto">
            <a:xfrm>
              <a:off x="3181" y="2247"/>
              <a:ext cx="624" cy="0"/>
            </a:xfrm>
            <a:prstGeom prst="line">
              <a:avLst/>
            </a:prstGeom>
            <a:noFill/>
            <a:ln w="28575">
              <a:solidFill>
                <a:schemeClr val="accent4">
                  <a:lumMod val="60000"/>
                  <a:lumOff val="40000"/>
                </a:schemeClr>
              </a:solidFill>
              <a:round/>
              <a:headEnd type="oval" w="sm" len="sm"/>
              <a:tailEnd/>
            </a:ln>
            <a:effectLst/>
          </p:spPr>
          <p:txBody>
            <a:bodyPr/>
            <a:lstStyle/>
            <a:p>
              <a:pPr>
                <a:defRPr/>
              </a:pPr>
              <a:endParaRPr lang="zh-CN" altLang="en-US" sz="2400" baseline="0"/>
            </a:p>
          </p:txBody>
        </p:sp>
        <p:sp>
          <p:nvSpPr>
            <p:cNvPr id="146" name="Line 53">
              <a:extLst>
                <a:ext uri="{FF2B5EF4-FFF2-40B4-BE49-F238E27FC236}">
                  <a16:creationId xmlns:a16="http://schemas.microsoft.com/office/drawing/2014/main" id="{A48A1F72-CE0D-47CA-B2A8-4580E5380917}"/>
                </a:ext>
              </a:extLst>
            </p:cNvPr>
            <p:cNvSpPr>
              <a:spLocks noChangeShapeType="1"/>
            </p:cNvSpPr>
            <p:nvPr/>
          </p:nvSpPr>
          <p:spPr bwMode="auto">
            <a:xfrm>
              <a:off x="3794" y="2247"/>
              <a:ext cx="0" cy="192"/>
            </a:xfrm>
            <a:prstGeom prst="line">
              <a:avLst/>
            </a:prstGeom>
            <a:noFill/>
            <a:ln w="28575">
              <a:solidFill>
                <a:schemeClr val="accent4">
                  <a:lumMod val="60000"/>
                  <a:lumOff val="40000"/>
                </a:schemeClr>
              </a:solidFill>
              <a:round/>
              <a:headEnd type="none" w="sm" len="sm"/>
              <a:tailEnd type="triangle" w="med" len="med"/>
            </a:ln>
            <a:effectLst/>
          </p:spPr>
          <p:txBody>
            <a:bodyPr/>
            <a:lstStyle/>
            <a:p>
              <a:pPr>
                <a:defRPr/>
              </a:pPr>
              <a:endParaRPr lang="zh-CN" altLang="en-US" sz="2400" baseline="0"/>
            </a:p>
          </p:txBody>
        </p:sp>
      </p:grpSp>
      <p:sp>
        <p:nvSpPr>
          <p:cNvPr id="147" name="文本框 146">
            <a:extLst>
              <a:ext uri="{FF2B5EF4-FFF2-40B4-BE49-F238E27FC236}">
                <a16:creationId xmlns:a16="http://schemas.microsoft.com/office/drawing/2014/main" id="{AE29C9AF-89DE-499B-851C-4678AD267B33}"/>
              </a:ext>
            </a:extLst>
          </p:cNvPr>
          <p:cNvSpPr txBox="1"/>
          <p:nvPr/>
        </p:nvSpPr>
        <p:spPr>
          <a:xfrm>
            <a:off x="825798" y="874502"/>
            <a:ext cx="8280920" cy="584775"/>
          </a:xfrm>
          <a:prstGeom prst="rect">
            <a:avLst/>
          </a:prstGeom>
        </p:spPr>
        <p:txBody>
          <a:bodyPr wrap="square"/>
          <a:lstStyle>
            <a:lvl1pPr eaLnBrk="1" hangingPunct="1">
              <a:spcAft>
                <a:spcPct val="0"/>
              </a:spcAft>
              <a:buNone/>
              <a:defRPr>
                <a:solidFill>
                  <a:srgbClr val="FF9900"/>
                </a:solidFill>
                <a:latin typeface="微软雅黑" pitchFamily="34" charset="-122"/>
                <a:ea typeface="微软雅黑" pitchFamily="34" charset="-122"/>
                <a:cs typeface="+mj-cs"/>
              </a:defRPr>
            </a:lvl1pPr>
            <a:lvl2pPr eaLnBrk="0" hangingPunct="0">
              <a:spcAft>
                <a:spcPct val="0"/>
              </a:spcAft>
              <a:defRPr sz="3000">
                <a:solidFill>
                  <a:srgbClr val="FF9900"/>
                </a:solidFill>
                <a:latin typeface="方正姚体" pitchFamily="2" charset="-122"/>
                <a:ea typeface="方正姚体" pitchFamily="2" charset="-122"/>
              </a:defRPr>
            </a:lvl2pPr>
            <a:lvl3pPr eaLnBrk="0" hangingPunct="0">
              <a:spcAft>
                <a:spcPct val="0"/>
              </a:spcAft>
              <a:defRPr sz="3000">
                <a:solidFill>
                  <a:srgbClr val="FF9900"/>
                </a:solidFill>
                <a:latin typeface="方正姚体" pitchFamily="2" charset="-122"/>
                <a:ea typeface="方正姚体" pitchFamily="2" charset="-122"/>
              </a:defRPr>
            </a:lvl3pPr>
            <a:lvl4pPr eaLnBrk="0" hangingPunct="0">
              <a:spcAft>
                <a:spcPct val="0"/>
              </a:spcAft>
              <a:defRPr sz="3000">
                <a:solidFill>
                  <a:srgbClr val="FF9900"/>
                </a:solidFill>
                <a:latin typeface="方正姚体" pitchFamily="2" charset="-122"/>
                <a:ea typeface="方正姚体" pitchFamily="2" charset="-122"/>
              </a:defRPr>
            </a:lvl4pPr>
            <a:lvl5pPr eaLnBrk="0" hangingPunct="0">
              <a:spcAft>
                <a:spcPct val="0"/>
              </a:spcAft>
              <a:defRPr sz="3000">
                <a:solidFill>
                  <a:srgbClr val="FF9900"/>
                </a:solidFill>
                <a:latin typeface="方正姚体" pitchFamily="2" charset="-122"/>
                <a:ea typeface="方正姚体" pitchFamily="2" charset="-122"/>
              </a:defRPr>
            </a:lvl5pPr>
            <a:lvl6pPr marL="457200" fontAlgn="base">
              <a:spcBef>
                <a:spcPct val="0"/>
              </a:spcBef>
              <a:spcAft>
                <a:spcPct val="0"/>
              </a:spcAft>
              <a:defRPr sz="3000">
                <a:solidFill>
                  <a:srgbClr val="FF9900"/>
                </a:solidFill>
                <a:latin typeface="方正姚体" pitchFamily="2" charset="-122"/>
                <a:ea typeface="方正姚体" pitchFamily="2" charset="-122"/>
              </a:defRPr>
            </a:lvl6pPr>
            <a:lvl7pPr marL="914400" fontAlgn="base">
              <a:spcBef>
                <a:spcPct val="0"/>
              </a:spcBef>
              <a:spcAft>
                <a:spcPct val="0"/>
              </a:spcAft>
              <a:defRPr sz="3000">
                <a:solidFill>
                  <a:srgbClr val="FF9900"/>
                </a:solidFill>
                <a:latin typeface="方正姚体" pitchFamily="2" charset="-122"/>
                <a:ea typeface="方正姚体" pitchFamily="2" charset="-122"/>
              </a:defRPr>
            </a:lvl7pPr>
            <a:lvl8pPr marL="1371600" fontAlgn="base">
              <a:spcBef>
                <a:spcPct val="0"/>
              </a:spcBef>
              <a:spcAft>
                <a:spcPct val="0"/>
              </a:spcAft>
              <a:defRPr sz="3000">
                <a:solidFill>
                  <a:srgbClr val="FF9900"/>
                </a:solidFill>
                <a:latin typeface="方正姚体" pitchFamily="2" charset="-122"/>
                <a:ea typeface="方正姚体" pitchFamily="2" charset="-122"/>
              </a:defRPr>
            </a:lvl8pPr>
            <a:lvl9pPr marL="1828800" fontAlgn="base">
              <a:spcBef>
                <a:spcPct val="0"/>
              </a:spcBef>
              <a:spcAft>
                <a:spcPct val="0"/>
              </a:spcAft>
              <a:defRPr sz="3000">
                <a:solidFill>
                  <a:srgbClr val="FF9900"/>
                </a:solidFill>
                <a:latin typeface="方正姚体" pitchFamily="2" charset="-122"/>
                <a:ea typeface="方正姚体" pitchFamily="2" charset="-122"/>
              </a:defRPr>
            </a:lvl9pPr>
          </a:lstStyle>
          <a:p>
            <a:r>
              <a:rPr lang="zh-CN" altLang="en-US" dirty="0"/>
              <a:t>逻辑结构与物理结构示例</a:t>
            </a:r>
            <a:endParaRPr lang="en-US" altLang="zh-CN" dirty="0"/>
          </a:p>
        </p:txBody>
      </p:sp>
      <p:sp>
        <p:nvSpPr>
          <p:cNvPr id="148" name="对话气泡: 圆角矩形 147">
            <a:extLst>
              <a:ext uri="{FF2B5EF4-FFF2-40B4-BE49-F238E27FC236}">
                <a16:creationId xmlns:a16="http://schemas.microsoft.com/office/drawing/2014/main" id="{BC0191F7-1512-485A-BA7C-39D83DA0CFD7}"/>
              </a:ext>
            </a:extLst>
          </p:cNvPr>
          <p:cNvSpPr/>
          <p:nvPr/>
        </p:nvSpPr>
        <p:spPr>
          <a:xfrm>
            <a:off x="7665421" y="1172729"/>
            <a:ext cx="4147434" cy="425424"/>
          </a:xfrm>
          <a:prstGeom prst="wedgeRoundRectCallout">
            <a:avLst>
              <a:gd name="adj1" fmla="val -22609"/>
              <a:gd name="adj2" fmla="val -28200"/>
              <a:gd name="adj3" fmla="val 16667"/>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tabLst>
                <a:tab pos="361950" algn="l"/>
              </a:tabLst>
            </a:pPr>
            <a:r>
              <a:rPr lang="zh-CN" altLang="en-US" sz="2400" b="1" kern="0" dirty="0">
                <a:solidFill>
                  <a:srgbClr val="92D050"/>
                </a:solidFill>
                <a:latin typeface="宋体" panose="02010600030101010101" pitchFamily="2" charset="-122"/>
                <a:ea typeface="宋体" panose="02010600030101010101" pitchFamily="2" charset="-122"/>
              </a:rPr>
              <a:t>二叉树的顺序存储物理结构</a:t>
            </a:r>
            <a:endParaRPr lang="zh-CN" altLang="en-US" sz="2400" b="1" dirty="0">
              <a:solidFill>
                <a:srgbClr val="92D050"/>
              </a:solidFill>
              <a:latin typeface="宋体" panose="02010600030101010101" pitchFamily="2" charset="-122"/>
              <a:ea typeface="宋体" panose="02010600030101010101" pitchFamily="2" charset="-122"/>
            </a:endParaRPr>
          </a:p>
        </p:txBody>
      </p:sp>
      <p:sp>
        <p:nvSpPr>
          <p:cNvPr id="149" name="对话气泡: 圆角矩形 148">
            <a:extLst>
              <a:ext uri="{FF2B5EF4-FFF2-40B4-BE49-F238E27FC236}">
                <a16:creationId xmlns:a16="http://schemas.microsoft.com/office/drawing/2014/main" id="{7A9F9BB8-FAF9-4A87-A890-6E101B3B1D1E}"/>
              </a:ext>
            </a:extLst>
          </p:cNvPr>
          <p:cNvSpPr/>
          <p:nvPr/>
        </p:nvSpPr>
        <p:spPr>
          <a:xfrm>
            <a:off x="883279" y="5671535"/>
            <a:ext cx="3037293" cy="425424"/>
          </a:xfrm>
          <a:prstGeom prst="wedgeRoundRectCallout">
            <a:avLst>
              <a:gd name="adj1" fmla="val -22609"/>
              <a:gd name="adj2" fmla="val -28200"/>
              <a:gd name="adj3" fmla="val 16667"/>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tabLst>
                <a:tab pos="361950" algn="l"/>
              </a:tabLst>
            </a:pPr>
            <a:r>
              <a:rPr lang="zh-CN" altLang="en-US" sz="2400" b="1" kern="0" dirty="0">
                <a:solidFill>
                  <a:srgbClr val="92D050"/>
                </a:solidFill>
                <a:latin typeface="宋体" panose="02010600030101010101" pitchFamily="2" charset="-122"/>
                <a:ea typeface="宋体" panose="02010600030101010101" pitchFamily="2" charset="-122"/>
              </a:rPr>
              <a:t>二叉树的逻辑结构</a:t>
            </a:r>
          </a:p>
        </p:txBody>
      </p:sp>
      <p:sp>
        <p:nvSpPr>
          <p:cNvPr id="150" name="对话气泡: 圆角矩形 149">
            <a:extLst>
              <a:ext uri="{FF2B5EF4-FFF2-40B4-BE49-F238E27FC236}">
                <a16:creationId xmlns:a16="http://schemas.microsoft.com/office/drawing/2014/main" id="{907FD421-C760-4E1D-9CFD-61C067F8A7E3}"/>
              </a:ext>
            </a:extLst>
          </p:cNvPr>
          <p:cNvSpPr/>
          <p:nvPr/>
        </p:nvSpPr>
        <p:spPr>
          <a:xfrm>
            <a:off x="6051557" y="6184393"/>
            <a:ext cx="4605840" cy="425424"/>
          </a:xfrm>
          <a:prstGeom prst="wedgeRoundRectCallout">
            <a:avLst>
              <a:gd name="adj1" fmla="val -22609"/>
              <a:gd name="adj2" fmla="val -28200"/>
              <a:gd name="adj3" fmla="val 16667"/>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tabLst>
                <a:tab pos="361950" algn="l"/>
              </a:tabLst>
            </a:pPr>
            <a:r>
              <a:rPr lang="zh-CN" altLang="en-US" sz="2400" b="1" kern="0" dirty="0">
                <a:solidFill>
                  <a:srgbClr val="92D050"/>
                </a:solidFill>
                <a:latin typeface="宋体" panose="02010600030101010101" pitchFamily="2" charset="-122"/>
                <a:ea typeface="宋体" panose="02010600030101010101" pitchFamily="2" charset="-122"/>
              </a:rPr>
              <a:t>二叉树的链式存储物理结构</a:t>
            </a:r>
          </a:p>
        </p:txBody>
      </p:sp>
    </p:spTree>
  </p:cSld>
  <p:clrMapOvr>
    <a:masterClrMapping/>
  </p:clrMapOvr>
  <p:transition spd="med">
    <p:random/>
    <p:sndAc>
      <p:stSnd>
        <p:snd r:embed="rId2" name="arrow.wav"/>
      </p:stSnd>
    </p:sndAc>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2"/>
          <p:cNvSpPr txBox="1">
            <a:spLocks noChangeArrowheads="1"/>
          </p:cNvSpPr>
          <p:nvPr/>
        </p:nvSpPr>
        <p:spPr bwMode="auto">
          <a:xfrm>
            <a:off x="825798" y="24268"/>
            <a:ext cx="3223172" cy="760959"/>
          </a:xfrm>
          <a:prstGeom prst="rect">
            <a:avLst/>
          </a:prstGeom>
          <a:noFill/>
          <a:ln w="12700" cap="sq">
            <a:noFill/>
            <a:miter lim="800000"/>
            <a:headEnd/>
            <a:tailEnd/>
          </a:ln>
          <a:effectLst>
            <a:outerShdw dist="35921" dir="2700000" algn="ctr" rotWithShape="0">
              <a:srgbClr val="000514"/>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vert="horz" wrap="none" lIns="72000" tIns="72000" rIns="72000" bIns="72000" numCol="1" rtlCol="0" anchor="ctr" anchorCtr="0" compatLnSpc="1">
            <a:prstTxWarp prst="textNoShape">
              <a:avLst/>
            </a:prstTxWarp>
            <a:spAutoFit/>
          </a:bodyPr>
          <a:lstStyle>
            <a:defPPr>
              <a:defRPr lang="en-US"/>
            </a:defPPr>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a:t>物理结构设计</a:t>
            </a:r>
          </a:p>
        </p:txBody>
      </p:sp>
      <p:sp>
        <p:nvSpPr>
          <p:cNvPr id="3" name="文本框 2">
            <a:extLst>
              <a:ext uri="{FF2B5EF4-FFF2-40B4-BE49-F238E27FC236}">
                <a16:creationId xmlns:a16="http://schemas.microsoft.com/office/drawing/2014/main" id="{74965EC6-5342-4B82-9BD4-3DBEC4D79362}"/>
              </a:ext>
            </a:extLst>
          </p:cNvPr>
          <p:cNvSpPr txBox="1"/>
          <p:nvPr/>
        </p:nvSpPr>
        <p:spPr>
          <a:xfrm>
            <a:off x="825798" y="874502"/>
            <a:ext cx="8280920" cy="584775"/>
          </a:xfrm>
          <a:prstGeom prst="rect">
            <a:avLst/>
          </a:prstGeom>
        </p:spPr>
        <p:txBody>
          <a:bodyPr wrap="square"/>
          <a:lstStyle>
            <a:lvl1pPr eaLnBrk="1" hangingPunct="1">
              <a:spcAft>
                <a:spcPct val="0"/>
              </a:spcAft>
              <a:buNone/>
              <a:defRPr>
                <a:solidFill>
                  <a:srgbClr val="FF9900"/>
                </a:solidFill>
                <a:latin typeface="微软雅黑" pitchFamily="34" charset="-122"/>
                <a:ea typeface="微软雅黑" pitchFamily="34" charset="-122"/>
                <a:cs typeface="+mj-cs"/>
              </a:defRPr>
            </a:lvl1pPr>
            <a:lvl2pPr eaLnBrk="0" hangingPunct="0">
              <a:spcAft>
                <a:spcPct val="0"/>
              </a:spcAft>
              <a:defRPr sz="3000">
                <a:solidFill>
                  <a:srgbClr val="FF9900"/>
                </a:solidFill>
                <a:latin typeface="方正姚体" pitchFamily="2" charset="-122"/>
                <a:ea typeface="方正姚体" pitchFamily="2" charset="-122"/>
              </a:defRPr>
            </a:lvl2pPr>
            <a:lvl3pPr eaLnBrk="0" hangingPunct="0">
              <a:spcAft>
                <a:spcPct val="0"/>
              </a:spcAft>
              <a:defRPr sz="3000">
                <a:solidFill>
                  <a:srgbClr val="FF9900"/>
                </a:solidFill>
                <a:latin typeface="方正姚体" pitchFamily="2" charset="-122"/>
                <a:ea typeface="方正姚体" pitchFamily="2" charset="-122"/>
              </a:defRPr>
            </a:lvl3pPr>
            <a:lvl4pPr eaLnBrk="0" hangingPunct="0">
              <a:spcAft>
                <a:spcPct val="0"/>
              </a:spcAft>
              <a:defRPr sz="3000">
                <a:solidFill>
                  <a:srgbClr val="FF9900"/>
                </a:solidFill>
                <a:latin typeface="方正姚体" pitchFamily="2" charset="-122"/>
                <a:ea typeface="方正姚体" pitchFamily="2" charset="-122"/>
              </a:defRPr>
            </a:lvl4pPr>
            <a:lvl5pPr eaLnBrk="0" hangingPunct="0">
              <a:spcAft>
                <a:spcPct val="0"/>
              </a:spcAft>
              <a:defRPr sz="3000">
                <a:solidFill>
                  <a:srgbClr val="FF9900"/>
                </a:solidFill>
                <a:latin typeface="方正姚体" pitchFamily="2" charset="-122"/>
                <a:ea typeface="方正姚体" pitchFamily="2" charset="-122"/>
              </a:defRPr>
            </a:lvl5pPr>
            <a:lvl6pPr marL="457200" fontAlgn="base">
              <a:spcBef>
                <a:spcPct val="0"/>
              </a:spcBef>
              <a:spcAft>
                <a:spcPct val="0"/>
              </a:spcAft>
              <a:defRPr sz="3000">
                <a:solidFill>
                  <a:srgbClr val="FF9900"/>
                </a:solidFill>
                <a:latin typeface="方正姚体" pitchFamily="2" charset="-122"/>
                <a:ea typeface="方正姚体" pitchFamily="2" charset="-122"/>
              </a:defRPr>
            </a:lvl6pPr>
            <a:lvl7pPr marL="914400" fontAlgn="base">
              <a:spcBef>
                <a:spcPct val="0"/>
              </a:spcBef>
              <a:spcAft>
                <a:spcPct val="0"/>
              </a:spcAft>
              <a:defRPr sz="3000">
                <a:solidFill>
                  <a:srgbClr val="FF9900"/>
                </a:solidFill>
                <a:latin typeface="方正姚体" pitchFamily="2" charset="-122"/>
                <a:ea typeface="方正姚体" pitchFamily="2" charset="-122"/>
              </a:defRPr>
            </a:lvl7pPr>
            <a:lvl8pPr marL="1371600" fontAlgn="base">
              <a:spcBef>
                <a:spcPct val="0"/>
              </a:spcBef>
              <a:spcAft>
                <a:spcPct val="0"/>
              </a:spcAft>
              <a:defRPr sz="3000">
                <a:solidFill>
                  <a:srgbClr val="FF9900"/>
                </a:solidFill>
                <a:latin typeface="方正姚体" pitchFamily="2" charset="-122"/>
                <a:ea typeface="方正姚体" pitchFamily="2" charset="-122"/>
              </a:defRPr>
            </a:lvl8pPr>
            <a:lvl9pPr marL="1828800" fontAlgn="base">
              <a:spcBef>
                <a:spcPct val="0"/>
              </a:spcBef>
              <a:spcAft>
                <a:spcPct val="0"/>
              </a:spcAft>
              <a:defRPr sz="3000">
                <a:solidFill>
                  <a:srgbClr val="FF9900"/>
                </a:solidFill>
                <a:latin typeface="方正姚体" pitchFamily="2" charset="-122"/>
                <a:ea typeface="方正姚体" pitchFamily="2" charset="-122"/>
              </a:defRPr>
            </a:lvl9pPr>
          </a:lstStyle>
          <a:p>
            <a:r>
              <a:rPr lang="zh-CN" altLang="en-US" dirty="0"/>
              <a:t>逻辑结构与物理结构示例</a:t>
            </a:r>
            <a:endParaRPr lang="en-US" altLang="zh-CN" dirty="0"/>
          </a:p>
        </p:txBody>
      </p:sp>
      <p:sp>
        <p:nvSpPr>
          <p:cNvPr id="137" name="Rectangle 49">
            <a:extLst>
              <a:ext uri="{FF2B5EF4-FFF2-40B4-BE49-F238E27FC236}">
                <a16:creationId xmlns:a16="http://schemas.microsoft.com/office/drawing/2014/main" id="{0B6D257E-8731-45D7-8A11-BD1CD74CD30A}"/>
              </a:ext>
            </a:extLst>
          </p:cNvPr>
          <p:cNvSpPr>
            <a:spLocks noChangeArrowheads="1"/>
          </p:cNvSpPr>
          <p:nvPr/>
        </p:nvSpPr>
        <p:spPr bwMode="auto">
          <a:xfrm>
            <a:off x="876866" y="1690530"/>
            <a:ext cx="5075118" cy="36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Aft>
                <a:spcPct val="40000"/>
              </a:spcAft>
              <a:buClr>
                <a:srgbClr val="66FF33"/>
              </a:buClr>
              <a:buSzPct val="85000"/>
              <a:buFont typeface="Wingdings" pitchFamily="2" charset="2"/>
              <a:buNone/>
              <a:defRPr/>
            </a:pPr>
            <a:r>
              <a:rPr lang="en-US" altLang="zh-CN" sz="2400" dirty="0"/>
              <a:t>int  num=10,</a:t>
            </a:r>
            <a:r>
              <a:rPr lang="zh-CN" altLang="en-US" sz="2400" dirty="0"/>
              <a:t> </a:t>
            </a:r>
            <a:r>
              <a:rPr lang="zh-CN" altLang="en-US" sz="2400" dirty="0">
                <a:latin typeface="楷体_GB2312" pitchFamily="49" charset="-122"/>
              </a:rPr>
              <a:t>*</a:t>
            </a:r>
            <a:r>
              <a:rPr lang="en-US" altLang="zh-CN" sz="2400" dirty="0" err="1"/>
              <a:t>pnt</a:t>
            </a:r>
            <a:r>
              <a:rPr lang="en-US" altLang="zh-CN" sz="2400" dirty="0"/>
              <a:t>=&amp;num; </a:t>
            </a:r>
          </a:p>
        </p:txBody>
      </p:sp>
      <p:cxnSp>
        <p:nvCxnSpPr>
          <p:cNvPr id="139" name="直接连接符 138">
            <a:extLst>
              <a:ext uri="{FF2B5EF4-FFF2-40B4-BE49-F238E27FC236}">
                <a16:creationId xmlns:a16="http://schemas.microsoft.com/office/drawing/2014/main" id="{ED252E47-14F8-42B9-8D76-885DAE2DFC01}"/>
              </a:ext>
            </a:extLst>
          </p:cNvPr>
          <p:cNvCxnSpPr>
            <a:cxnSpLocks/>
          </p:cNvCxnSpPr>
          <p:nvPr/>
        </p:nvCxnSpPr>
        <p:spPr bwMode="auto">
          <a:xfrm>
            <a:off x="3034916" y="3913260"/>
            <a:ext cx="5083197" cy="0"/>
          </a:xfrm>
          <a:prstGeom prst="line">
            <a:avLst/>
          </a:prstGeom>
          <a:solidFill>
            <a:schemeClr val="accent1"/>
          </a:solidFill>
          <a:ln w="19050" cap="sq" cmpd="sng" algn="ctr">
            <a:solidFill>
              <a:schemeClr val="accent5">
                <a:lumMod val="60000"/>
                <a:lumOff val="40000"/>
              </a:schemeClr>
            </a:solidFill>
            <a:prstDash val="lgDashDot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 name="直接连接符 139">
            <a:extLst>
              <a:ext uri="{FF2B5EF4-FFF2-40B4-BE49-F238E27FC236}">
                <a16:creationId xmlns:a16="http://schemas.microsoft.com/office/drawing/2014/main" id="{7B0168C8-7ABC-47D4-ADC7-F9052DA6D59D}"/>
              </a:ext>
            </a:extLst>
          </p:cNvPr>
          <p:cNvCxnSpPr>
            <a:cxnSpLocks/>
          </p:cNvCxnSpPr>
          <p:nvPr/>
        </p:nvCxnSpPr>
        <p:spPr bwMode="auto">
          <a:xfrm>
            <a:off x="3078550" y="4421720"/>
            <a:ext cx="5039563" cy="0"/>
          </a:xfrm>
          <a:prstGeom prst="line">
            <a:avLst/>
          </a:prstGeom>
          <a:solidFill>
            <a:schemeClr val="accent1"/>
          </a:solidFill>
          <a:ln w="19050" cap="sq" cmpd="sng" algn="ctr">
            <a:solidFill>
              <a:schemeClr val="accent5">
                <a:lumMod val="60000"/>
                <a:lumOff val="40000"/>
              </a:schemeClr>
            </a:solidFill>
            <a:prstDash val="lgDashDot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 name="直接连接符 140">
            <a:extLst>
              <a:ext uri="{FF2B5EF4-FFF2-40B4-BE49-F238E27FC236}">
                <a16:creationId xmlns:a16="http://schemas.microsoft.com/office/drawing/2014/main" id="{F666D5A3-C973-4F82-A441-E1F1BAB5E51C}"/>
              </a:ext>
            </a:extLst>
          </p:cNvPr>
          <p:cNvCxnSpPr>
            <a:cxnSpLocks/>
          </p:cNvCxnSpPr>
          <p:nvPr/>
        </p:nvCxnSpPr>
        <p:spPr bwMode="auto">
          <a:xfrm>
            <a:off x="3034916" y="5099739"/>
            <a:ext cx="5083197" cy="0"/>
          </a:xfrm>
          <a:prstGeom prst="line">
            <a:avLst/>
          </a:prstGeom>
          <a:solidFill>
            <a:schemeClr val="accent1"/>
          </a:solidFill>
          <a:ln w="19050" cap="sq" cmpd="sng" algn="ctr">
            <a:solidFill>
              <a:schemeClr val="accent5">
                <a:lumMod val="60000"/>
                <a:lumOff val="40000"/>
              </a:schemeClr>
            </a:solidFill>
            <a:prstDash val="lgDashDot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2" name="直接连接符 141">
            <a:extLst>
              <a:ext uri="{FF2B5EF4-FFF2-40B4-BE49-F238E27FC236}">
                <a16:creationId xmlns:a16="http://schemas.microsoft.com/office/drawing/2014/main" id="{8E89F1A2-4AC1-4343-82F3-5D356902D662}"/>
              </a:ext>
            </a:extLst>
          </p:cNvPr>
          <p:cNvCxnSpPr/>
          <p:nvPr/>
        </p:nvCxnSpPr>
        <p:spPr bwMode="auto">
          <a:xfrm>
            <a:off x="3078550" y="5622300"/>
            <a:ext cx="5240922" cy="0"/>
          </a:xfrm>
          <a:prstGeom prst="line">
            <a:avLst/>
          </a:prstGeom>
          <a:solidFill>
            <a:schemeClr val="accent1"/>
          </a:solidFill>
          <a:ln w="19050" cap="sq" cmpd="sng" algn="ctr">
            <a:solidFill>
              <a:schemeClr val="accent5">
                <a:lumMod val="60000"/>
                <a:lumOff val="40000"/>
              </a:schemeClr>
            </a:solidFill>
            <a:prstDash val="lgDashDot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 name="Text Box 52">
            <a:extLst>
              <a:ext uri="{FF2B5EF4-FFF2-40B4-BE49-F238E27FC236}">
                <a16:creationId xmlns:a16="http://schemas.microsoft.com/office/drawing/2014/main" id="{D9475336-63EB-4048-953F-17B9BB498EC9}"/>
              </a:ext>
            </a:extLst>
          </p:cNvPr>
          <p:cNvSpPr txBox="1">
            <a:spLocks noChangeArrowheads="1"/>
          </p:cNvSpPr>
          <p:nvPr/>
        </p:nvSpPr>
        <p:spPr bwMode="auto">
          <a:xfrm>
            <a:off x="5430077" y="3980457"/>
            <a:ext cx="752426" cy="402291"/>
          </a:xfrm>
          <a:prstGeom prst="rect">
            <a:avLst/>
          </a:prstGeom>
          <a:noFill/>
          <a:ln>
            <a:noFill/>
          </a:ln>
          <a:effectLst/>
        </p:spPr>
        <p:txBody>
          <a:bodyPr wrap="none" lIns="90000" tIns="46800" rIns="90000" bIns="46800" anchor="ctr">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eaLnBrk="0" fontAlgn="base" hangingPunct="0">
              <a:spcBef>
                <a:spcPct val="0"/>
              </a:spcBef>
              <a:spcAft>
                <a:spcPct val="0"/>
              </a:spcAft>
              <a:defRPr sz="2800">
                <a:solidFill>
                  <a:schemeClr val="tx1"/>
                </a:solidFill>
                <a:latin typeface="Arial" charset="0"/>
                <a:ea typeface="宋体" pitchFamily="2" charset="-122"/>
              </a:defRPr>
            </a:lvl6pPr>
            <a:lvl7pPr marL="2971800" indent="-228600" eaLnBrk="0" fontAlgn="base" hangingPunct="0">
              <a:spcBef>
                <a:spcPct val="0"/>
              </a:spcBef>
              <a:spcAft>
                <a:spcPct val="0"/>
              </a:spcAft>
              <a:defRPr sz="2800">
                <a:solidFill>
                  <a:schemeClr val="tx1"/>
                </a:solidFill>
                <a:latin typeface="Arial" charset="0"/>
                <a:ea typeface="宋体" pitchFamily="2" charset="-122"/>
              </a:defRPr>
            </a:lvl7pPr>
            <a:lvl8pPr marL="3429000" indent="-228600" eaLnBrk="0" fontAlgn="base" hangingPunct="0">
              <a:spcBef>
                <a:spcPct val="0"/>
              </a:spcBef>
              <a:spcAft>
                <a:spcPct val="0"/>
              </a:spcAft>
              <a:defRPr sz="2800">
                <a:solidFill>
                  <a:schemeClr val="tx1"/>
                </a:solidFill>
                <a:latin typeface="Arial" charset="0"/>
                <a:ea typeface="宋体" pitchFamily="2" charset="-122"/>
              </a:defRPr>
            </a:lvl8pPr>
            <a:lvl9pPr marL="3886200" indent="-228600" eaLnBrk="0" fontAlgn="base" hangingPunct="0">
              <a:spcBef>
                <a:spcPct val="0"/>
              </a:spcBef>
              <a:spcAft>
                <a:spcPct val="0"/>
              </a:spcAft>
              <a:defRPr sz="2800">
                <a:solidFill>
                  <a:schemeClr val="tx1"/>
                </a:solidFill>
                <a:latin typeface="Arial" charset="0"/>
                <a:ea typeface="宋体" pitchFamily="2" charset="-122"/>
              </a:defRPr>
            </a:lvl9pPr>
          </a:lstStyle>
          <a:p>
            <a:pPr algn="ctr" eaLnBrk="1" hangingPunct="1">
              <a:spcBef>
                <a:spcPct val="50000"/>
              </a:spcBef>
            </a:pPr>
            <a:r>
              <a:rPr kumimoji="1" lang="en-US" altLang="zh-CN" sz="2000">
                <a:ea typeface="楷体_GB2312" pitchFamily="49" charset="-122"/>
              </a:rPr>
              <a:t>102#</a:t>
            </a:r>
            <a:endParaRPr kumimoji="1" lang="en-US" altLang="zh-CN" sz="2000" dirty="0">
              <a:ea typeface="楷体_GB2312" pitchFamily="49" charset="-122"/>
            </a:endParaRPr>
          </a:p>
        </p:txBody>
      </p:sp>
      <p:sp>
        <p:nvSpPr>
          <p:cNvPr id="144" name="Text Box 53">
            <a:extLst>
              <a:ext uri="{FF2B5EF4-FFF2-40B4-BE49-F238E27FC236}">
                <a16:creationId xmlns:a16="http://schemas.microsoft.com/office/drawing/2014/main" id="{013DFCA2-83E5-498D-83AD-560155486B09}"/>
              </a:ext>
            </a:extLst>
          </p:cNvPr>
          <p:cNvSpPr txBox="1">
            <a:spLocks noChangeArrowheads="1"/>
          </p:cNvSpPr>
          <p:nvPr/>
        </p:nvSpPr>
        <p:spPr bwMode="auto">
          <a:xfrm>
            <a:off x="3952484" y="3919520"/>
            <a:ext cx="537624" cy="402291"/>
          </a:xfrm>
          <a:prstGeom prst="rect">
            <a:avLst/>
          </a:prstGeom>
          <a:noFill/>
          <a:ln>
            <a:noFill/>
          </a:ln>
          <a:effectLst/>
        </p:spPr>
        <p:txBody>
          <a:bodyPr wrap="none" lIns="90000" tIns="46800" rIns="90000" bIns="46800" anchor="ctr">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eaLnBrk="0" fontAlgn="base" hangingPunct="0">
              <a:spcBef>
                <a:spcPct val="0"/>
              </a:spcBef>
              <a:spcAft>
                <a:spcPct val="0"/>
              </a:spcAft>
              <a:defRPr sz="2800">
                <a:solidFill>
                  <a:schemeClr val="tx1"/>
                </a:solidFill>
                <a:latin typeface="Arial" charset="0"/>
                <a:ea typeface="宋体" pitchFamily="2" charset="-122"/>
              </a:defRPr>
            </a:lvl6pPr>
            <a:lvl7pPr marL="2971800" indent="-228600" eaLnBrk="0" fontAlgn="base" hangingPunct="0">
              <a:spcBef>
                <a:spcPct val="0"/>
              </a:spcBef>
              <a:spcAft>
                <a:spcPct val="0"/>
              </a:spcAft>
              <a:defRPr sz="2800">
                <a:solidFill>
                  <a:schemeClr val="tx1"/>
                </a:solidFill>
                <a:latin typeface="Arial" charset="0"/>
                <a:ea typeface="宋体" pitchFamily="2" charset="-122"/>
              </a:defRPr>
            </a:lvl7pPr>
            <a:lvl8pPr marL="3429000" indent="-228600" eaLnBrk="0" fontAlgn="base" hangingPunct="0">
              <a:spcBef>
                <a:spcPct val="0"/>
              </a:spcBef>
              <a:spcAft>
                <a:spcPct val="0"/>
              </a:spcAft>
              <a:defRPr sz="2800">
                <a:solidFill>
                  <a:schemeClr val="tx1"/>
                </a:solidFill>
                <a:latin typeface="Arial" charset="0"/>
                <a:ea typeface="宋体" pitchFamily="2" charset="-122"/>
              </a:defRPr>
            </a:lvl8pPr>
            <a:lvl9pPr marL="3886200" indent="-228600" eaLnBrk="0" fontAlgn="base" hangingPunct="0">
              <a:spcBef>
                <a:spcPct val="0"/>
              </a:spcBef>
              <a:spcAft>
                <a:spcPct val="0"/>
              </a:spcAft>
              <a:defRPr sz="2800">
                <a:solidFill>
                  <a:schemeClr val="tx1"/>
                </a:solidFill>
                <a:latin typeface="Arial" charset="0"/>
                <a:ea typeface="宋体" pitchFamily="2" charset="-122"/>
              </a:defRPr>
            </a:lvl9pPr>
          </a:lstStyle>
          <a:p>
            <a:pPr algn="ctr" eaLnBrk="1" hangingPunct="1">
              <a:spcBef>
                <a:spcPct val="50000"/>
              </a:spcBef>
            </a:pPr>
            <a:r>
              <a:rPr kumimoji="1" lang="en-US" altLang="zh-CN" sz="2000" dirty="0" err="1">
                <a:ea typeface="楷体_GB2312" pitchFamily="49" charset="-122"/>
              </a:rPr>
              <a:t>pnt</a:t>
            </a:r>
            <a:endParaRPr kumimoji="1" lang="en-US" altLang="zh-CN" sz="2000" dirty="0">
              <a:ea typeface="楷体_GB2312" pitchFamily="49" charset="-122"/>
            </a:endParaRPr>
          </a:p>
        </p:txBody>
      </p:sp>
      <p:sp>
        <p:nvSpPr>
          <p:cNvPr id="145" name="AutoShape 56">
            <a:extLst>
              <a:ext uri="{FF2B5EF4-FFF2-40B4-BE49-F238E27FC236}">
                <a16:creationId xmlns:a16="http://schemas.microsoft.com/office/drawing/2014/main" id="{B0E5F3BE-10DD-40B9-8E0E-5EE47818F717}"/>
              </a:ext>
            </a:extLst>
          </p:cNvPr>
          <p:cNvSpPr>
            <a:spLocks noChangeArrowheads="1"/>
          </p:cNvSpPr>
          <p:nvPr/>
        </p:nvSpPr>
        <p:spPr bwMode="auto">
          <a:xfrm>
            <a:off x="1773946" y="2886557"/>
            <a:ext cx="2056479" cy="902069"/>
          </a:xfrm>
          <a:prstGeom prst="wedgeEllipseCallout">
            <a:avLst>
              <a:gd name="adj1" fmla="val 55767"/>
              <a:gd name="adj2" fmla="val 74361"/>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2800" dirty="0">
                <a:solidFill>
                  <a:schemeClr val="lt1"/>
                </a:solidFill>
                <a:latin typeface="宋体" panose="02010600030101010101" pitchFamily="2" charset="-122"/>
                <a:ea typeface="宋体" panose="02010600030101010101" pitchFamily="2" charset="-122"/>
              </a:rPr>
              <a:t>指针名</a:t>
            </a:r>
          </a:p>
        </p:txBody>
      </p:sp>
      <p:sp>
        <p:nvSpPr>
          <p:cNvPr id="146" name="Text Box 64">
            <a:extLst>
              <a:ext uri="{FF2B5EF4-FFF2-40B4-BE49-F238E27FC236}">
                <a16:creationId xmlns:a16="http://schemas.microsoft.com/office/drawing/2014/main" id="{66667E2F-76F0-4D4A-ADC8-FDE708E977B4}"/>
              </a:ext>
            </a:extLst>
          </p:cNvPr>
          <p:cNvSpPr txBox="1">
            <a:spLocks noChangeArrowheads="1"/>
          </p:cNvSpPr>
          <p:nvPr/>
        </p:nvSpPr>
        <p:spPr bwMode="auto">
          <a:xfrm>
            <a:off x="5430077" y="5152950"/>
            <a:ext cx="752426" cy="402291"/>
          </a:xfrm>
          <a:prstGeom prst="rect">
            <a:avLst/>
          </a:prstGeom>
          <a:noFill/>
          <a:ln>
            <a:noFill/>
          </a:ln>
          <a:effectLst/>
        </p:spPr>
        <p:txBody>
          <a:bodyPr wrap="none" lIns="90000" tIns="46800" rIns="90000" bIns="46800" anchor="ctr">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eaLnBrk="0" fontAlgn="base" hangingPunct="0">
              <a:spcBef>
                <a:spcPct val="0"/>
              </a:spcBef>
              <a:spcAft>
                <a:spcPct val="0"/>
              </a:spcAft>
              <a:defRPr sz="2800">
                <a:solidFill>
                  <a:schemeClr val="tx1"/>
                </a:solidFill>
                <a:latin typeface="Arial" charset="0"/>
                <a:ea typeface="宋体" pitchFamily="2" charset="-122"/>
              </a:defRPr>
            </a:lvl6pPr>
            <a:lvl7pPr marL="2971800" indent="-228600" eaLnBrk="0" fontAlgn="base" hangingPunct="0">
              <a:spcBef>
                <a:spcPct val="0"/>
              </a:spcBef>
              <a:spcAft>
                <a:spcPct val="0"/>
              </a:spcAft>
              <a:defRPr sz="2800">
                <a:solidFill>
                  <a:schemeClr val="tx1"/>
                </a:solidFill>
                <a:latin typeface="Arial" charset="0"/>
                <a:ea typeface="宋体" pitchFamily="2" charset="-122"/>
              </a:defRPr>
            </a:lvl7pPr>
            <a:lvl8pPr marL="3429000" indent="-228600" eaLnBrk="0" fontAlgn="base" hangingPunct="0">
              <a:spcBef>
                <a:spcPct val="0"/>
              </a:spcBef>
              <a:spcAft>
                <a:spcPct val="0"/>
              </a:spcAft>
              <a:defRPr sz="2800">
                <a:solidFill>
                  <a:schemeClr val="tx1"/>
                </a:solidFill>
                <a:latin typeface="Arial" charset="0"/>
                <a:ea typeface="宋体" pitchFamily="2" charset="-122"/>
              </a:defRPr>
            </a:lvl8pPr>
            <a:lvl9pPr marL="3886200" indent="-228600" eaLnBrk="0" fontAlgn="base" hangingPunct="0">
              <a:spcBef>
                <a:spcPct val="0"/>
              </a:spcBef>
              <a:spcAft>
                <a:spcPct val="0"/>
              </a:spcAft>
              <a:defRPr sz="2800">
                <a:solidFill>
                  <a:schemeClr val="tx1"/>
                </a:solidFill>
                <a:latin typeface="Arial" charset="0"/>
                <a:ea typeface="宋体" pitchFamily="2" charset="-122"/>
              </a:defRPr>
            </a:lvl9pPr>
          </a:lstStyle>
          <a:p>
            <a:pPr algn="ctr" eaLnBrk="1" hangingPunct="1">
              <a:spcBef>
                <a:spcPct val="50000"/>
              </a:spcBef>
            </a:pPr>
            <a:r>
              <a:rPr kumimoji="1" lang="en-US" altLang="zh-CN" sz="2000">
                <a:ea typeface="楷体_GB2312" pitchFamily="49" charset="-122"/>
              </a:rPr>
              <a:t>200#</a:t>
            </a:r>
          </a:p>
        </p:txBody>
      </p:sp>
      <p:cxnSp>
        <p:nvCxnSpPr>
          <p:cNvPr id="147" name="AutoShape 65">
            <a:extLst>
              <a:ext uri="{FF2B5EF4-FFF2-40B4-BE49-F238E27FC236}">
                <a16:creationId xmlns:a16="http://schemas.microsoft.com/office/drawing/2014/main" id="{9DE3B63C-75B9-4CE9-84C7-8B89782C9C8E}"/>
              </a:ext>
            </a:extLst>
          </p:cNvPr>
          <p:cNvCxnSpPr>
            <a:cxnSpLocks noChangeShapeType="1"/>
            <a:stCxn id="154" idx="3"/>
            <a:endCxn id="157" idx="3"/>
          </p:cNvCxnSpPr>
          <p:nvPr/>
        </p:nvCxnSpPr>
        <p:spPr bwMode="auto">
          <a:xfrm>
            <a:off x="8118112" y="4161178"/>
            <a:ext cx="16233" cy="1199047"/>
          </a:xfrm>
          <a:prstGeom prst="bentConnector3">
            <a:avLst>
              <a:gd name="adj1" fmla="val 1800000"/>
            </a:avLst>
          </a:prstGeom>
          <a:noFill/>
          <a:ln w="38100">
            <a:solidFill>
              <a:srgbClr val="FF0000"/>
            </a:solidFill>
            <a:miter lim="800000"/>
            <a:headE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cxnSp>
      <p:sp>
        <p:nvSpPr>
          <p:cNvPr id="153" name="Rectangle 57">
            <a:extLst>
              <a:ext uri="{FF2B5EF4-FFF2-40B4-BE49-F238E27FC236}">
                <a16:creationId xmlns:a16="http://schemas.microsoft.com/office/drawing/2014/main" id="{EA46EE63-521A-45C6-A5F4-EFEBE15C6DB2}"/>
              </a:ext>
            </a:extLst>
          </p:cNvPr>
          <p:cNvSpPr>
            <a:spLocks noChangeArrowheads="1"/>
          </p:cNvSpPr>
          <p:nvPr/>
        </p:nvSpPr>
        <p:spPr bwMode="auto">
          <a:xfrm>
            <a:off x="6396917" y="3395182"/>
            <a:ext cx="1721196" cy="510667"/>
          </a:xfrm>
          <a:prstGeom prst="rect">
            <a:avLst/>
          </a:prstGeom>
          <a:no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endParaRPr kumimoji="1" lang="zh-CN" altLang="en-US" sz="3600">
              <a:ea typeface="楷体_GB2312" pitchFamily="49" charset="-122"/>
            </a:endParaRPr>
          </a:p>
        </p:txBody>
      </p:sp>
      <p:sp>
        <p:nvSpPr>
          <p:cNvPr id="154" name="Rectangle 58">
            <a:extLst>
              <a:ext uri="{FF2B5EF4-FFF2-40B4-BE49-F238E27FC236}">
                <a16:creationId xmlns:a16="http://schemas.microsoft.com/office/drawing/2014/main" id="{658B2F5A-FBD3-413F-9586-5C6FF37F1689}"/>
              </a:ext>
            </a:extLst>
          </p:cNvPr>
          <p:cNvSpPr>
            <a:spLocks noChangeArrowheads="1"/>
          </p:cNvSpPr>
          <p:nvPr/>
        </p:nvSpPr>
        <p:spPr bwMode="auto">
          <a:xfrm>
            <a:off x="6396917" y="3905849"/>
            <a:ext cx="1721196" cy="510667"/>
          </a:xfrm>
          <a:prstGeom prst="rect">
            <a:avLst/>
          </a:prstGeom>
          <a:no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400" dirty="0">
                <a:ea typeface="楷体_GB2312" pitchFamily="49" charset="-122"/>
              </a:rPr>
              <a:t>200</a:t>
            </a:r>
          </a:p>
        </p:txBody>
      </p:sp>
      <p:sp>
        <p:nvSpPr>
          <p:cNvPr id="155" name="Rectangle 61">
            <a:extLst>
              <a:ext uri="{FF2B5EF4-FFF2-40B4-BE49-F238E27FC236}">
                <a16:creationId xmlns:a16="http://schemas.microsoft.com/office/drawing/2014/main" id="{F3C2B69D-CDC1-41E1-8CCB-6B8D42285ED6}"/>
              </a:ext>
            </a:extLst>
          </p:cNvPr>
          <p:cNvSpPr>
            <a:spLocks noChangeArrowheads="1"/>
          </p:cNvSpPr>
          <p:nvPr/>
        </p:nvSpPr>
        <p:spPr bwMode="auto">
          <a:xfrm>
            <a:off x="6396917" y="4414473"/>
            <a:ext cx="1721196" cy="1668861"/>
          </a:xfrm>
          <a:prstGeom prst="rect">
            <a:avLst/>
          </a:prstGeom>
          <a:no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endParaRPr kumimoji="1" lang="zh-CN" altLang="en-US" sz="3600">
              <a:ea typeface="楷体_GB2312" pitchFamily="49" charset="-122"/>
            </a:endParaRPr>
          </a:p>
        </p:txBody>
      </p:sp>
      <p:sp>
        <p:nvSpPr>
          <p:cNvPr id="156" name="Text Box 62">
            <a:extLst>
              <a:ext uri="{FF2B5EF4-FFF2-40B4-BE49-F238E27FC236}">
                <a16:creationId xmlns:a16="http://schemas.microsoft.com/office/drawing/2014/main" id="{4B821AC7-DCDA-435D-9629-C8CB102E2EDA}"/>
              </a:ext>
            </a:extLst>
          </p:cNvPr>
          <p:cNvSpPr txBox="1">
            <a:spLocks noChangeArrowheads="1"/>
          </p:cNvSpPr>
          <p:nvPr/>
        </p:nvSpPr>
        <p:spPr bwMode="auto">
          <a:xfrm>
            <a:off x="6880342" y="2886557"/>
            <a:ext cx="694924" cy="402406"/>
          </a:xfrm>
          <a:prstGeom prst="rect">
            <a:avLst/>
          </a:prstGeom>
          <a:no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eaLnBrk="0" fontAlgn="base" hangingPunct="0">
              <a:spcBef>
                <a:spcPct val="0"/>
              </a:spcBef>
              <a:spcAft>
                <a:spcPct val="0"/>
              </a:spcAft>
              <a:defRPr sz="2800">
                <a:solidFill>
                  <a:schemeClr val="tx1"/>
                </a:solidFill>
                <a:latin typeface="Arial" charset="0"/>
                <a:ea typeface="宋体" pitchFamily="2" charset="-122"/>
              </a:defRPr>
            </a:lvl6pPr>
            <a:lvl7pPr marL="2971800" indent="-228600" eaLnBrk="0" fontAlgn="base" hangingPunct="0">
              <a:spcBef>
                <a:spcPct val="0"/>
              </a:spcBef>
              <a:spcAft>
                <a:spcPct val="0"/>
              </a:spcAft>
              <a:defRPr sz="2800">
                <a:solidFill>
                  <a:schemeClr val="tx1"/>
                </a:solidFill>
                <a:latin typeface="Arial" charset="0"/>
                <a:ea typeface="宋体" pitchFamily="2" charset="-122"/>
              </a:defRPr>
            </a:lvl7pPr>
            <a:lvl8pPr marL="3429000" indent="-228600" eaLnBrk="0" fontAlgn="base" hangingPunct="0">
              <a:spcBef>
                <a:spcPct val="0"/>
              </a:spcBef>
              <a:spcAft>
                <a:spcPct val="0"/>
              </a:spcAft>
              <a:defRPr sz="2800">
                <a:solidFill>
                  <a:schemeClr val="tx1"/>
                </a:solidFill>
                <a:latin typeface="Arial" charset="0"/>
                <a:ea typeface="宋体" pitchFamily="2" charset="-122"/>
              </a:defRPr>
            </a:lvl8pPr>
            <a:lvl9pPr marL="3886200" indent="-228600" eaLnBrk="0" fontAlgn="base" hangingPunct="0">
              <a:spcBef>
                <a:spcPct val="0"/>
              </a:spcBef>
              <a:spcAft>
                <a:spcPct val="0"/>
              </a:spcAft>
              <a:defRPr sz="2800">
                <a:solidFill>
                  <a:schemeClr val="tx1"/>
                </a:solidFill>
                <a:latin typeface="Arial" charset="0"/>
                <a:ea typeface="宋体" pitchFamily="2" charset="-122"/>
              </a:defRPr>
            </a:lvl9pPr>
          </a:lstStyle>
          <a:p>
            <a:pPr algn="ctr" eaLnBrk="1" hangingPunct="1">
              <a:spcBef>
                <a:spcPct val="50000"/>
              </a:spcBef>
            </a:pPr>
            <a:r>
              <a:rPr kumimoji="1" lang="zh-CN" altLang="en-US" sz="2000" dirty="0">
                <a:ea typeface="楷体_GB2312" pitchFamily="49" charset="-122"/>
              </a:rPr>
              <a:t>内存</a:t>
            </a:r>
          </a:p>
        </p:txBody>
      </p:sp>
      <p:sp>
        <p:nvSpPr>
          <p:cNvPr id="157" name="Rectangle 60">
            <a:extLst>
              <a:ext uri="{FF2B5EF4-FFF2-40B4-BE49-F238E27FC236}">
                <a16:creationId xmlns:a16="http://schemas.microsoft.com/office/drawing/2014/main" id="{D8E5027D-FA71-4A04-A71E-5A6CCA42D2B5}"/>
              </a:ext>
            </a:extLst>
          </p:cNvPr>
          <p:cNvSpPr>
            <a:spLocks noChangeArrowheads="1"/>
          </p:cNvSpPr>
          <p:nvPr/>
        </p:nvSpPr>
        <p:spPr bwMode="auto">
          <a:xfrm>
            <a:off x="6396917" y="5104896"/>
            <a:ext cx="1721196" cy="510667"/>
          </a:xfrm>
          <a:prstGeom prst="rect">
            <a:avLst/>
          </a:prstGeom>
          <a:no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kumimoji="1" lang="en-US" altLang="zh-CN" sz="2400" dirty="0">
                <a:ea typeface="楷体_GB2312" pitchFamily="49" charset="-122"/>
              </a:rPr>
              <a:t>10</a:t>
            </a:r>
          </a:p>
        </p:txBody>
      </p:sp>
      <p:sp>
        <p:nvSpPr>
          <p:cNvPr id="149" name="Text Box 66">
            <a:extLst>
              <a:ext uri="{FF2B5EF4-FFF2-40B4-BE49-F238E27FC236}">
                <a16:creationId xmlns:a16="http://schemas.microsoft.com/office/drawing/2014/main" id="{2A3CA1AB-70EE-461E-9EF7-840372F2DD0F}"/>
              </a:ext>
            </a:extLst>
          </p:cNvPr>
          <p:cNvSpPr txBox="1">
            <a:spLocks noChangeArrowheads="1"/>
          </p:cNvSpPr>
          <p:nvPr/>
        </p:nvSpPr>
        <p:spPr bwMode="auto">
          <a:xfrm>
            <a:off x="3915779" y="5113366"/>
            <a:ext cx="680290" cy="402291"/>
          </a:xfrm>
          <a:prstGeom prst="rect">
            <a:avLst/>
          </a:prstGeom>
          <a:noFill/>
          <a:ln>
            <a:noFill/>
          </a:ln>
          <a:effectLst/>
        </p:spPr>
        <p:txBody>
          <a:bodyPr wrap="none" lIns="90000" tIns="46800" rIns="90000" bIns="46800" anchor="ctr">
            <a:spAutoFit/>
          </a:bodyPr>
          <a:lstStyle>
            <a:lvl1pPr eaLnBrk="0" hangingPunct="0">
              <a:defRPr sz="2800">
                <a:solidFill>
                  <a:schemeClr val="tx1"/>
                </a:solidFill>
                <a:latin typeface="Arial" charset="0"/>
                <a:ea typeface="宋体" pitchFamily="2" charset="-122"/>
              </a:defRPr>
            </a:lvl1pPr>
            <a:lvl2pPr marL="742950" indent="-285750" eaLnBrk="0" hangingPunct="0">
              <a:defRPr sz="2800">
                <a:solidFill>
                  <a:schemeClr val="tx1"/>
                </a:solidFill>
                <a:latin typeface="Arial" charset="0"/>
                <a:ea typeface="宋体" pitchFamily="2" charset="-122"/>
              </a:defRPr>
            </a:lvl2pPr>
            <a:lvl3pPr marL="1143000" indent="-228600" eaLnBrk="0" hangingPunct="0">
              <a:defRPr sz="2800">
                <a:solidFill>
                  <a:schemeClr val="tx1"/>
                </a:solidFill>
                <a:latin typeface="Arial" charset="0"/>
                <a:ea typeface="宋体" pitchFamily="2" charset="-122"/>
              </a:defRPr>
            </a:lvl3pPr>
            <a:lvl4pPr marL="1600200" indent="-228600" eaLnBrk="0" hangingPunct="0">
              <a:defRPr sz="2800">
                <a:solidFill>
                  <a:schemeClr val="tx1"/>
                </a:solidFill>
                <a:latin typeface="Arial" charset="0"/>
                <a:ea typeface="宋体" pitchFamily="2" charset="-122"/>
              </a:defRPr>
            </a:lvl4pPr>
            <a:lvl5pPr marL="2057400" indent="-228600" eaLnBrk="0" hangingPunct="0">
              <a:defRPr sz="2800">
                <a:solidFill>
                  <a:schemeClr val="tx1"/>
                </a:solidFill>
                <a:latin typeface="Arial" charset="0"/>
                <a:ea typeface="宋体" pitchFamily="2" charset="-122"/>
              </a:defRPr>
            </a:lvl5pPr>
            <a:lvl6pPr marL="2514600" indent="-228600" eaLnBrk="0" fontAlgn="base" hangingPunct="0">
              <a:spcBef>
                <a:spcPct val="0"/>
              </a:spcBef>
              <a:spcAft>
                <a:spcPct val="0"/>
              </a:spcAft>
              <a:defRPr sz="2800">
                <a:solidFill>
                  <a:schemeClr val="tx1"/>
                </a:solidFill>
                <a:latin typeface="Arial" charset="0"/>
                <a:ea typeface="宋体" pitchFamily="2" charset="-122"/>
              </a:defRPr>
            </a:lvl6pPr>
            <a:lvl7pPr marL="2971800" indent="-228600" eaLnBrk="0" fontAlgn="base" hangingPunct="0">
              <a:spcBef>
                <a:spcPct val="0"/>
              </a:spcBef>
              <a:spcAft>
                <a:spcPct val="0"/>
              </a:spcAft>
              <a:defRPr sz="2800">
                <a:solidFill>
                  <a:schemeClr val="tx1"/>
                </a:solidFill>
                <a:latin typeface="Arial" charset="0"/>
                <a:ea typeface="宋体" pitchFamily="2" charset="-122"/>
              </a:defRPr>
            </a:lvl7pPr>
            <a:lvl8pPr marL="3429000" indent="-228600" eaLnBrk="0" fontAlgn="base" hangingPunct="0">
              <a:spcBef>
                <a:spcPct val="0"/>
              </a:spcBef>
              <a:spcAft>
                <a:spcPct val="0"/>
              </a:spcAft>
              <a:defRPr sz="2800">
                <a:solidFill>
                  <a:schemeClr val="tx1"/>
                </a:solidFill>
                <a:latin typeface="Arial" charset="0"/>
                <a:ea typeface="宋体" pitchFamily="2" charset="-122"/>
              </a:defRPr>
            </a:lvl8pPr>
            <a:lvl9pPr marL="3886200" indent="-228600" eaLnBrk="0" fontAlgn="base" hangingPunct="0">
              <a:spcBef>
                <a:spcPct val="0"/>
              </a:spcBef>
              <a:spcAft>
                <a:spcPct val="0"/>
              </a:spcAft>
              <a:defRPr sz="2800">
                <a:solidFill>
                  <a:schemeClr val="tx1"/>
                </a:solidFill>
                <a:latin typeface="Arial" charset="0"/>
                <a:ea typeface="宋体" pitchFamily="2" charset="-122"/>
              </a:defRPr>
            </a:lvl9pPr>
          </a:lstStyle>
          <a:p>
            <a:pPr algn="ctr" eaLnBrk="1" hangingPunct="1">
              <a:spcBef>
                <a:spcPct val="50000"/>
              </a:spcBef>
            </a:pPr>
            <a:r>
              <a:rPr kumimoji="1" lang="en-US" altLang="zh-CN" sz="2000">
                <a:ea typeface="楷体_GB2312" pitchFamily="49" charset="-122"/>
              </a:rPr>
              <a:t>num</a:t>
            </a:r>
            <a:endParaRPr kumimoji="1" lang="en-US" altLang="zh-CN" sz="2000" dirty="0">
              <a:ea typeface="楷体_GB2312" pitchFamily="49" charset="-122"/>
            </a:endParaRPr>
          </a:p>
        </p:txBody>
      </p:sp>
      <p:sp>
        <p:nvSpPr>
          <p:cNvPr id="150" name="AutoShape 63">
            <a:extLst>
              <a:ext uri="{FF2B5EF4-FFF2-40B4-BE49-F238E27FC236}">
                <a16:creationId xmlns:a16="http://schemas.microsoft.com/office/drawing/2014/main" id="{3FE67612-C8B8-4554-B835-CAAACC71392E}"/>
              </a:ext>
            </a:extLst>
          </p:cNvPr>
          <p:cNvSpPr>
            <a:spLocks noChangeArrowheads="1"/>
          </p:cNvSpPr>
          <p:nvPr/>
        </p:nvSpPr>
        <p:spPr bwMode="auto">
          <a:xfrm>
            <a:off x="8343965" y="2636912"/>
            <a:ext cx="2056480" cy="1013599"/>
          </a:xfrm>
          <a:prstGeom prst="wedgeEllipseCallout">
            <a:avLst>
              <a:gd name="adj1" fmla="val -82279"/>
              <a:gd name="adj2" fmla="val 91299"/>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2800" dirty="0">
                <a:solidFill>
                  <a:schemeClr val="lt1"/>
                </a:solidFill>
                <a:latin typeface="宋体" panose="02010600030101010101" pitchFamily="2" charset="-122"/>
                <a:ea typeface="宋体" panose="02010600030101010101" pitchFamily="2" charset="-122"/>
              </a:rPr>
              <a:t>指针值</a:t>
            </a:r>
          </a:p>
        </p:txBody>
      </p:sp>
      <p:sp>
        <p:nvSpPr>
          <p:cNvPr id="151" name="AutoShape 67">
            <a:extLst>
              <a:ext uri="{FF2B5EF4-FFF2-40B4-BE49-F238E27FC236}">
                <a16:creationId xmlns:a16="http://schemas.microsoft.com/office/drawing/2014/main" id="{B7FC2E24-F08E-46DA-94D3-5EA21B250714}"/>
              </a:ext>
            </a:extLst>
          </p:cNvPr>
          <p:cNvSpPr>
            <a:spLocks noChangeArrowheads="1"/>
          </p:cNvSpPr>
          <p:nvPr/>
        </p:nvSpPr>
        <p:spPr bwMode="auto">
          <a:xfrm>
            <a:off x="1455238" y="5444606"/>
            <a:ext cx="2056479" cy="902067"/>
          </a:xfrm>
          <a:prstGeom prst="wedgeEllipseCallout">
            <a:avLst>
              <a:gd name="adj1" fmla="val 67408"/>
              <a:gd name="adj2" fmla="val -39365"/>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2800" dirty="0">
                <a:solidFill>
                  <a:schemeClr val="lt1"/>
                </a:solidFill>
                <a:latin typeface="宋体" panose="02010600030101010101" pitchFamily="2" charset="-122"/>
                <a:ea typeface="宋体" panose="02010600030101010101" pitchFamily="2" charset="-122"/>
              </a:rPr>
              <a:t>变量名</a:t>
            </a:r>
          </a:p>
        </p:txBody>
      </p:sp>
      <p:sp>
        <p:nvSpPr>
          <p:cNvPr id="152" name="AutoShape 63">
            <a:extLst>
              <a:ext uri="{FF2B5EF4-FFF2-40B4-BE49-F238E27FC236}">
                <a16:creationId xmlns:a16="http://schemas.microsoft.com/office/drawing/2014/main" id="{02813266-D493-4239-BAC8-E707523B7ADC}"/>
              </a:ext>
            </a:extLst>
          </p:cNvPr>
          <p:cNvSpPr>
            <a:spLocks noChangeArrowheads="1"/>
          </p:cNvSpPr>
          <p:nvPr/>
        </p:nvSpPr>
        <p:spPr bwMode="auto">
          <a:xfrm>
            <a:off x="8432010" y="5694768"/>
            <a:ext cx="2056478" cy="861774"/>
          </a:xfrm>
          <a:prstGeom prst="wedgeEllipseCallout">
            <a:avLst>
              <a:gd name="adj1" fmla="val -88298"/>
              <a:gd name="adj2" fmla="val -67819"/>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2800" dirty="0">
                <a:solidFill>
                  <a:schemeClr val="lt1"/>
                </a:solidFill>
                <a:latin typeface="宋体" panose="02010600030101010101" pitchFamily="2" charset="-122"/>
                <a:ea typeface="宋体" panose="02010600030101010101" pitchFamily="2" charset="-122"/>
              </a:rPr>
              <a:t>变量值</a:t>
            </a:r>
          </a:p>
        </p:txBody>
      </p:sp>
      <p:sp>
        <p:nvSpPr>
          <p:cNvPr id="158" name="矩形 157">
            <a:extLst>
              <a:ext uri="{FF2B5EF4-FFF2-40B4-BE49-F238E27FC236}">
                <a16:creationId xmlns:a16="http://schemas.microsoft.com/office/drawing/2014/main" id="{83221F88-51D0-40B3-93AC-F1D9A847EAAD}"/>
              </a:ext>
            </a:extLst>
          </p:cNvPr>
          <p:cNvSpPr/>
          <p:nvPr/>
        </p:nvSpPr>
        <p:spPr>
          <a:xfrm>
            <a:off x="6632600" y="1192003"/>
            <a:ext cx="5022547" cy="861774"/>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just">
              <a:tabLst>
                <a:tab pos="361950" algn="l"/>
              </a:tabLst>
            </a:pPr>
            <a:r>
              <a:rPr lang="zh-CN" altLang="en-US" sz="2400" kern="0" dirty="0">
                <a:solidFill>
                  <a:srgbClr val="92D050"/>
                </a:solidFill>
                <a:latin typeface="宋体" panose="02010600030101010101" pitchFamily="2" charset="-122"/>
              </a:rPr>
              <a:t>定义了一个名叫</a:t>
            </a:r>
            <a:r>
              <a:rPr lang="en-US" altLang="zh-CN" sz="2400" kern="0" dirty="0" err="1">
                <a:solidFill>
                  <a:srgbClr val="92D050"/>
                </a:solidFill>
                <a:latin typeface="宋体" panose="02010600030101010101" pitchFamily="2" charset="-122"/>
              </a:rPr>
              <a:t>pnt</a:t>
            </a:r>
            <a:r>
              <a:rPr lang="zh-CN" altLang="en-US" sz="2400" kern="0" dirty="0">
                <a:solidFill>
                  <a:srgbClr val="92D050"/>
                </a:solidFill>
                <a:latin typeface="宋体" panose="02010600030101010101" pitchFamily="2" charset="-122"/>
              </a:rPr>
              <a:t>的整型指针，它的值为</a:t>
            </a:r>
            <a:r>
              <a:rPr lang="en-US" altLang="zh-CN" sz="2400" kern="0" dirty="0">
                <a:solidFill>
                  <a:srgbClr val="92D050"/>
                </a:solidFill>
                <a:latin typeface="宋体" panose="02010600030101010101" pitchFamily="2" charset="-122"/>
              </a:rPr>
              <a:t>num</a:t>
            </a:r>
            <a:r>
              <a:rPr lang="zh-CN" altLang="en-US" sz="2400" kern="0" dirty="0">
                <a:solidFill>
                  <a:srgbClr val="92D050"/>
                </a:solidFill>
                <a:latin typeface="宋体" panose="02010600030101010101" pitchFamily="2" charset="-122"/>
              </a:rPr>
              <a:t>的地址，或者说指针</a:t>
            </a:r>
            <a:r>
              <a:rPr lang="en-US" altLang="zh-CN" sz="2400" kern="0" dirty="0" err="1">
                <a:solidFill>
                  <a:srgbClr val="92D050"/>
                </a:solidFill>
                <a:latin typeface="宋体" panose="02010600030101010101" pitchFamily="2" charset="-122"/>
              </a:rPr>
              <a:t>pnt</a:t>
            </a:r>
            <a:r>
              <a:rPr lang="zh-CN" altLang="en-US" sz="2400" kern="0" dirty="0">
                <a:solidFill>
                  <a:srgbClr val="92D050"/>
                </a:solidFill>
                <a:latin typeface="宋体" panose="02010600030101010101" pitchFamily="2" charset="-122"/>
              </a:rPr>
              <a:t>指向了</a:t>
            </a:r>
            <a:r>
              <a:rPr lang="en-US" altLang="zh-CN" sz="2400" kern="0" dirty="0">
                <a:solidFill>
                  <a:srgbClr val="92D050"/>
                </a:solidFill>
                <a:latin typeface="宋体" panose="02010600030101010101" pitchFamily="2" charset="-122"/>
              </a:rPr>
              <a:t>num</a:t>
            </a:r>
            <a:r>
              <a:rPr lang="zh-CN" altLang="en-US" sz="2400" kern="0" dirty="0">
                <a:solidFill>
                  <a:srgbClr val="92D050"/>
                </a:solidFill>
                <a:latin typeface="宋体" panose="02010600030101010101" pitchFamily="2" charset="-122"/>
              </a:rPr>
              <a:t>，从而可以用</a:t>
            </a:r>
            <a:r>
              <a:rPr lang="en-US" altLang="zh-CN" sz="2400" kern="0" dirty="0" err="1">
                <a:solidFill>
                  <a:srgbClr val="92D050"/>
                </a:solidFill>
                <a:latin typeface="宋体" panose="02010600030101010101" pitchFamily="2" charset="-122"/>
              </a:rPr>
              <a:t>pnt</a:t>
            </a:r>
            <a:r>
              <a:rPr lang="zh-CN" altLang="en-US" sz="2400" kern="0" dirty="0">
                <a:solidFill>
                  <a:srgbClr val="92D050"/>
                </a:solidFill>
                <a:latin typeface="宋体" panose="02010600030101010101" pitchFamily="2" charset="-122"/>
              </a:rPr>
              <a:t>间接地操纵</a:t>
            </a:r>
            <a:r>
              <a:rPr lang="en-US" altLang="zh-CN" sz="2400" kern="0" dirty="0">
                <a:solidFill>
                  <a:srgbClr val="92D050"/>
                </a:solidFill>
                <a:latin typeface="宋体" panose="02010600030101010101" pitchFamily="2" charset="-122"/>
              </a:rPr>
              <a:t>num</a:t>
            </a:r>
            <a:r>
              <a:rPr lang="zh-CN" altLang="en-US" sz="2400" kern="0" dirty="0">
                <a:solidFill>
                  <a:srgbClr val="92D050"/>
                </a:solidFill>
                <a:latin typeface="宋体" panose="02010600030101010101" pitchFamily="2" charset="-122"/>
              </a:rPr>
              <a:t>。</a:t>
            </a:r>
          </a:p>
        </p:txBody>
      </p:sp>
    </p:spTree>
    <p:extLst>
      <p:ext uri="{BB962C8B-B14F-4D97-AF65-F5344CB8AC3E}">
        <p14:creationId xmlns:p14="http://schemas.microsoft.com/office/powerpoint/2010/main" val="1960760992"/>
      </p:ext>
    </p:extLst>
  </p:cSld>
  <p:clrMapOvr>
    <a:masterClrMapping/>
  </p:clrMapOvr>
  <p:transition spd="med">
    <p:random/>
    <p:sndAc>
      <p:stSnd>
        <p:snd r:embed="rId2" name="arrow.wav"/>
      </p:stSnd>
    </p:sndAc>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2"/>
          <p:cNvSpPr txBox="1">
            <a:spLocks noChangeArrowheads="1"/>
          </p:cNvSpPr>
          <p:nvPr/>
        </p:nvSpPr>
        <p:spPr bwMode="auto">
          <a:xfrm>
            <a:off x="825798" y="24268"/>
            <a:ext cx="3223172" cy="760959"/>
          </a:xfrm>
          <a:prstGeom prst="rect">
            <a:avLst/>
          </a:prstGeom>
          <a:noFill/>
          <a:ln w="12700" cap="sq">
            <a:noFill/>
            <a:miter lim="800000"/>
            <a:headEnd/>
            <a:tailEnd/>
          </a:ln>
          <a:effectLst>
            <a:outerShdw dist="35921" dir="2700000" algn="ctr" rotWithShape="0">
              <a:srgbClr val="000514"/>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vert="horz" wrap="none" lIns="72000" tIns="72000" rIns="72000" bIns="72000" numCol="1" rtlCol="0" anchor="ctr" anchorCtr="0" compatLnSpc="1">
            <a:prstTxWarp prst="textNoShape">
              <a:avLst/>
            </a:prstTxWarp>
            <a:spAutoFit/>
          </a:bodyPr>
          <a:lstStyle>
            <a:defPPr>
              <a:defRPr lang="en-US"/>
            </a:defPPr>
            <a:lvl1pPr lvl="0" defTabSz="914400" eaLnBrk="1" latinLnBrk="0" hangingPunct="1">
              <a:spcBef>
                <a:spcPts val="0"/>
              </a:spcBef>
              <a:buNone/>
              <a:defRPr sz="4000" b="1" baseline="0">
                <a:solidFill>
                  <a:srgbClr val="FFFFCC"/>
                </a:solidFill>
                <a:effectLst>
                  <a:outerShdw blurRad="38100" dist="38100" dir="2700000" algn="tl">
                    <a:srgbClr val="000000"/>
                  </a:outerShdw>
                </a:effectLst>
                <a:latin typeface="Arial" pitchFamily="34" charset="0"/>
                <a:ea typeface="微软雅黑" pitchFamily="34" charset="-122"/>
                <a:cs typeface="+mj-cs"/>
              </a:defRPr>
            </a:lvl1pPr>
          </a:lstStyle>
          <a:p>
            <a:r>
              <a:rPr lang="zh-CN" altLang="en-US" dirty="0"/>
              <a:t>物理结构设计</a:t>
            </a:r>
          </a:p>
        </p:txBody>
      </p:sp>
      <p:sp>
        <p:nvSpPr>
          <p:cNvPr id="3" name="Rectangle 3">
            <a:extLst>
              <a:ext uri="{FF2B5EF4-FFF2-40B4-BE49-F238E27FC236}">
                <a16:creationId xmlns:a16="http://schemas.microsoft.com/office/drawing/2014/main" id="{44EC02DB-A1AF-4A51-8628-C56CD9EB09E0}"/>
              </a:ext>
            </a:extLst>
          </p:cNvPr>
          <p:cNvSpPr>
            <a:spLocks noGrp="1" noChangeArrowheads="1"/>
          </p:cNvSpPr>
          <p:nvPr>
            <p:ph type="title"/>
          </p:nvPr>
        </p:nvSpPr>
        <p:spPr>
          <a:xfrm>
            <a:off x="825798" y="980728"/>
            <a:ext cx="10958834" cy="584775"/>
          </a:xfrm>
        </p:spPr>
        <p:txBody>
          <a:bodyPr wrap="square"/>
          <a:lstStyle/>
          <a:p>
            <a:pPr>
              <a:spcAft>
                <a:spcPct val="20000"/>
              </a:spcAft>
            </a:pPr>
            <a:r>
              <a:rPr lang="zh-CN" altLang="en-US" dirty="0">
                <a:solidFill>
                  <a:schemeClr val="tx1"/>
                </a:solidFill>
              </a:rPr>
              <a:t>物理结构设计就是为逻辑模型选取一个最适合应用要求的物理结构的过程。</a:t>
            </a:r>
          </a:p>
        </p:txBody>
      </p:sp>
      <p:grpSp>
        <p:nvGrpSpPr>
          <p:cNvPr id="4" name="组合 3">
            <a:extLst>
              <a:ext uri="{FF2B5EF4-FFF2-40B4-BE49-F238E27FC236}">
                <a16:creationId xmlns:a16="http://schemas.microsoft.com/office/drawing/2014/main" id="{BD1F1DB7-0BE1-4E44-BC5A-706E9BFEFB33}"/>
              </a:ext>
            </a:extLst>
          </p:cNvPr>
          <p:cNvGrpSpPr/>
          <p:nvPr/>
        </p:nvGrpSpPr>
        <p:grpSpPr>
          <a:xfrm>
            <a:off x="1055440" y="1904322"/>
            <a:ext cx="10099346" cy="3617474"/>
            <a:chOff x="2208213" y="1669943"/>
            <a:chExt cx="7686887" cy="4408660"/>
          </a:xfrm>
        </p:grpSpPr>
        <p:sp>
          <p:nvSpPr>
            <p:cNvPr id="5" name="Oval 4">
              <a:extLst>
                <a:ext uri="{FF2B5EF4-FFF2-40B4-BE49-F238E27FC236}">
                  <a16:creationId xmlns:a16="http://schemas.microsoft.com/office/drawing/2014/main" id="{917DAD86-30E9-4FF3-86A4-5F6E11B14624}"/>
                </a:ext>
              </a:extLst>
            </p:cNvPr>
            <p:cNvSpPr>
              <a:spLocks noChangeArrowheads="1"/>
            </p:cNvSpPr>
            <p:nvPr/>
          </p:nvSpPr>
          <p:spPr bwMode="auto">
            <a:xfrm>
              <a:off x="3198813" y="2231479"/>
              <a:ext cx="1752600" cy="1752600"/>
            </a:xfrm>
            <a:prstGeom prst="ellipse">
              <a:avLst/>
            </a:prstGeom>
            <a:solidFill>
              <a:srgbClr val="CCFFCC"/>
            </a:solidFill>
            <a:ln w="12700" cap="sq">
              <a:solidFill>
                <a:srgbClr val="000000"/>
              </a:solidFill>
              <a:round/>
              <a:headEnd/>
              <a:tailEnd/>
            </a:ln>
            <a:effectLst>
              <a:outerShdw dist="35921" dir="2700000" algn="ctr" rotWithShape="0">
                <a:schemeClr val="bg2"/>
              </a:outerShdw>
            </a:effectLst>
          </p:spPr>
          <p:txBody>
            <a:bodyPr lIns="0" tIns="0" rIns="0" bIns="0" anchor="ctr" anchorCtr="1"/>
            <a:lstStyle/>
            <a:p>
              <a:pPr algn="ctr">
                <a:spcAft>
                  <a:spcPct val="0"/>
                </a:spcAft>
                <a:buSzTx/>
                <a:tabLst>
                  <a:tab pos="292100" algn="l"/>
                  <a:tab pos="485775" algn="l"/>
                </a:tabLst>
                <a:defRPr/>
              </a:pPr>
              <a:r>
                <a:rPr lang="zh-CN" altLang="en-US" sz="2400" dirty="0">
                  <a:solidFill>
                    <a:srgbClr val="000000"/>
                  </a:solidFill>
                  <a:effectLst>
                    <a:outerShdw blurRad="38100" dist="38100" dir="2700000" algn="tl">
                      <a:srgbClr val="FFFFFF"/>
                    </a:outerShdw>
                  </a:effectLst>
                  <a:latin typeface="微软雅黑" pitchFamily="34" charset="-122"/>
                  <a:ea typeface="微软雅黑" pitchFamily="34" charset="-122"/>
                </a:rPr>
                <a:t>确定数据库的物理结构 </a:t>
              </a:r>
            </a:p>
          </p:txBody>
        </p:sp>
        <p:cxnSp>
          <p:nvCxnSpPr>
            <p:cNvPr id="6" name="AutoShape 5">
              <a:extLst>
                <a:ext uri="{FF2B5EF4-FFF2-40B4-BE49-F238E27FC236}">
                  <a16:creationId xmlns:a16="http://schemas.microsoft.com/office/drawing/2014/main" id="{084CF3A5-C5B1-46EF-B279-EE0892973A24}"/>
                </a:ext>
              </a:extLst>
            </p:cNvPr>
            <p:cNvCxnSpPr>
              <a:cxnSpLocks noChangeShapeType="1"/>
              <a:stCxn id="5" idx="6"/>
              <a:endCxn id="11" idx="2"/>
            </p:cNvCxnSpPr>
            <p:nvPr/>
          </p:nvCxnSpPr>
          <p:spPr bwMode="auto">
            <a:xfrm>
              <a:off x="4951413" y="3107779"/>
              <a:ext cx="1371600" cy="0"/>
            </a:xfrm>
            <a:prstGeom prst="straightConnector1">
              <a:avLst/>
            </a:prstGeom>
            <a:noFill/>
            <a:ln w="5715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 name="AutoShape 6">
              <a:extLst>
                <a:ext uri="{FF2B5EF4-FFF2-40B4-BE49-F238E27FC236}">
                  <a16:creationId xmlns:a16="http://schemas.microsoft.com/office/drawing/2014/main" id="{2BB6525D-5D1D-4B10-BFE1-8890D632105E}"/>
                </a:ext>
              </a:extLst>
            </p:cNvPr>
            <p:cNvSpPr>
              <a:spLocks noChangeArrowheads="1"/>
            </p:cNvSpPr>
            <p:nvPr/>
          </p:nvSpPr>
          <p:spPr bwMode="auto">
            <a:xfrm>
              <a:off x="2208213" y="4746079"/>
              <a:ext cx="1600200" cy="939800"/>
            </a:xfrm>
            <a:prstGeom prst="verticalScroll">
              <a:avLst>
                <a:gd name="adj" fmla="val 12500"/>
              </a:avLst>
            </a:prstGeom>
            <a:solidFill>
              <a:srgbClr val="D9F9FF"/>
            </a:solidFill>
            <a:ln w="12700" cap="sq">
              <a:solidFill>
                <a:srgbClr val="000000"/>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solidFill>
                    <a:srgbClr val="000000"/>
                  </a:solidFill>
                  <a:effectLst>
                    <a:outerShdw blurRad="38100" dist="38100" dir="2700000" algn="tl">
                      <a:srgbClr val="FFFFFF"/>
                    </a:outerShdw>
                  </a:effectLst>
                  <a:latin typeface="微软雅黑" pitchFamily="34" charset="-122"/>
                  <a:ea typeface="微软雅黑" pitchFamily="34" charset="-122"/>
                </a:rPr>
                <a:t>逻辑模型</a:t>
              </a:r>
            </a:p>
          </p:txBody>
        </p:sp>
        <p:sp>
          <p:nvSpPr>
            <p:cNvPr id="8" name="AutoShape 7">
              <a:extLst>
                <a:ext uri="{FF2B5EF4-FFF2-40B4-BE49-F238E27FC236}">
                  <a16:creationId xmlns:a16="http://schemas.microsoft.com/office/drawing/2014/main" id="{B5EBF05A-A336-4912-90FF-B95A738641BD}"/>
                </a:ext>
              </a:extLst>
            </p:cNvPr>
            <p:cNvSpPr>
              <a:spLocks noChangeArrowheads="1"/>
            </p:cNvSpPr>
            <p:nvPr/>
          </p:nvSpPr>
          <p:spPr bwMode="auto">
            <a:xfrm>
              <a:off x="7237413" y="4746079"/>
              <a:ext cx="1752600" cy="990600"/>
            </a:xfrm>
            <a:prstGeom prst="verticalScroll">
              <a:avLst>
                <a:gd name="adj" fmla="val 12500"/>
              </a:avLst>
            </a:prstGeom>
            <a:solidFill>
              <a:srgbClr val="D9F9FF"/>
            </a:solidFill>
            <a:ln w="12700" cap="sq">
              <a:solidFill>
                <a:srgbClr val="000000"/>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dirty="0">
                  <a:solidFill>
                    <a:srgbClr val="000000"/>
                  </a:solidFill>
                  <a:effectLst>
                    <a:outerShdw blurRad="38100" dist="38100" dir="2700000" algn="tl">
                      <a:srgbClr val="FFFFFF"/>
                    </a:outerShdw>
                  </a:effectLst>
                  <a:latin typeface="微软雅黑" pitchFamily="34" charset="-122"/>
                  <a:ea typeface="微软雅黑" pitchFamily="34" charset="-122"/>
                </a:rPr>
                <a:t>物理模型</a:t>
              </a:r>
            </a:p>
          </p:txBody>
        </p:sp>
        <p:sp>
          <p:nvSpPr>
            <p:cNvPr id="9" name="AutoShape 8">
              <a:extLst>
                <a:ext uri="{FF2B5EF4-FFF2-40B4-BE49-F238E27FC236}">
                  <a16:creationId xmlns:a16="http://schemas.microsoft.com/office/drawing/2014/main" id="{8FF567BF-AE4B-41B9-B67B-35BEA5168202}"/>
                </a:ext>
              </a:extLst>
            </p:cNvPr>
            <p:cNvSpPr>
              <a:spLocks noChangeArrowheads="1"/>
            </p:cNvSpPr>
            <p:nvPr/>
          </p:nvSpPr>
          <p:spPr bwMode="auto">
            <a:xfrm rot="2700000" flipH="1">
              <a:off x="3266230" y="3825240"/>
              <a:ext cx="243069" cy="917605"/>
            </a:xfrm>
            <a:prstGeom prst="upArrow">
              <a:avLst>
                <a:gd name="adj1" fmla="val 50000"/>
                <a:gd name="adj2" fmla="val 91667"/>
              </a:avLst>
            </a:prstGeom>
            <a:solidFill>
              <a:srgbClr val="CCFFCC"/>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sz="2400"/>
            </a:p>
          </p:txBody>
        </p:sp>
        <p:sp>
          <p:nvSpPr>
            <p:cNvPr id="10" name="AutoShape 9">
              <a:extLst>
                <a:ext uri="{FF2B5EF4-FFF2-40B4-BE49-F238E27FC236}">
                  <a16:creationId xmlns:a16="http://schemas.microsoft.com/office/drawing/2014/main" id="{84687A68-A012-4782-BBD4-766533E86FA9}"/>
                </a:ext>
              </a:extLst>
            </p:cNvPr>
            <p:cNvSpPr>
              <a:spLocks noChangeArrowheads="1"/>
            </p:cNvSpPr>
            <p:nvPr/>
          </p:nvSpPr>
          <p:spPr bwMode="auto">
            <a:xfrm rot="8100000">
              <a:off x="7847013" y="3907879"/>
              <a:ext cx="228600" cy="838200"/>
            </a:xfrm>
            <a:prstGeom prst="upArrow">
              <a:avLst>
                <a:gd name="adj1" fmla="val 50000"/>
                <a:gd name="adj2" fmla="val 91667"/>
              </a:avLst>
            </a:prstGeom>
            <a:solidFill>
              <a:srgbClr val="CCFFCC"/>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sz="2400"/>
            </a:p>
          </p:txBody>
        </p:sp>
        <p:sp>
          <p:nvSpPr>
            <p:cNvPr id="11" name="Oval 10">
              <a:extLst>
                <a:ext uri="{FF2B5EF4-FFF2-40B4-BE49-F238E27FC236}">
                  <a16:creationId xmlns:a16="http://schemas.microsoft.com/office/drawing/2014/main" id="{3C5D9F9A-350A-412A-99AF-E7E166209378}"/>
                </a:ext>
              </a:extLst>
            </p:cNvPr>
            <p:cNvSpPr>
              <a:spLocks noChangeArrowheads="1"/>
            </p:cNvSpPr>
            <p:nvPr/>
          </p:nvSpPr>
          <p:spPr bwMode="auto">
            <a:xfrm>
              <a:off x="6323013" y="2231479"/>
              <a:ext cx="1752600" cy="1752600"/>
            </a:xfrm>
            <a:prstGeom prst="ellipse">
              <a:avLst/>
            </a:prstGeom>
            <a:solidFill>
              <a:srgbClr val="CCFFCC"/>
            </a:solidFill>
            <a:ln w="12700" cap="sq">
              <a:solidFill>
                <a:srgbClr val="000000"/>
              </a:solidFill>
              <a:round/>
              <a:headEnd/>
              <a:tailEnd/>
            </a:ln>
            <a:effectLst>
              <a:outerShdw dist="35921" dir="2700000" algn="ctr" rotWithShape="0">
                <a:schemeClr val="bg2"/>
              </a:outerShdw>
            </a:effectLst>
          </p:spPr>
          <p:txBody>
            <a:bodyPr lIns="0" tIns="0" rIns="0" bIns="0" anchor="ctr" anchorCtr="1"/>
            <a:lstStyle/>
            <a:p>
              <a:pPr algn="ctr">
                <a:spcAft>
                  <a:spcPct val="0"/>
                </a:spcAft>
                <a:buSzTx/>
                <a:tabLst>
                  <a:tab pos="292100" algn="l"/>
                  <a:tab pos="485775" algn="l"/>
                </a:tabLst>
                <a:defRPr/>
              </a:pPr>
              <a:r>
                <a:rPr lang="zh-CN" altLang="en-US" sz="2400" dirty="0">
                  <a:solidFill>
                    <a:srgbClr val="000000"/>
                  </a:solidFill>
                  <a:effectLst>
                    <a:outerShdw blurRad="38100" dist="38100" dir="2700000" algn="tl">
                      <a:srgbClr val="FFFFFF"/>
                    </a:outerShdw>
                  </a:effectLst>
                  <a:latin typeface="微软雅黑" pitchFamily="34" charset="-122"/>
                  <a:ea typeface="微软雅黑" pitchFamily="34" charset="-122"/>
                </a:rPr>
                <a:t>评价数据库的物理结构</a:t>
              </a:r>
            </a:p>
          </p:txBody>
        </p:sp>
        <p:sp>
          <p:nvSpPr>
            <p:cNvPr id="12" name="AutoShape 11">
              <a:extLst>
                <a:ext uri="{FF2B5EF4-FFF2-40B4-BE49-F238E27FC236}">
                  <a16:creationId xmlns:a16="http://schemas.microsoft.com/office/drawing/2014/main" id="{02752E16-6D78-454E-AABE-2FCD8A940E04}"/>
                </a:ext>
              </a:extLst>
            </p:cNvPr>
            <p:cNvSpPr>
              <a:spLocks noChangeArrowheads="1"/>
            </p:cNvSpPr>
            <p:nvPr/>
          </p:nvSpPr>
          <p:spPr bwMode="auto">
            <a:xfrm>
              <a:off x="8327611" y="1669943"/>
              <a:ext cx="1567489" cy="1203483"/>
            </a:xfrm>
            <a:prstGeom prst="wedgeRoundRectCallout">
              <a:avLst>
                <a:gd name="adj1" fmla="val -64336"/>
                <a:gd name="adj2" fmla="val 38182"/>
                <a:gd name="adj3" fmla="val 16667"/>
              </a:avLst>
            </a:prstGeom>
            <a:solidFill>
              <a:srgbClr val="3333FF"/>
            </a:solidFill>
            <a:ln w="12700" cap="sq" algn="ctr">
              <a:solidFill>
                <a:schemeClr val="tx1"/>
              </a:solidFill>
              <a:miter lim="800000"/>
              <a:headEnd/>
              <a:tailEnd/>
            </a:ln>
            <a:effectLst>
              <a:outerShdw dist="107763" dir="2700000" algn="ctr" rotWithShape="0">
                <a:schemeClr val="bg2">
                  <a:alpha val="50000"/>
                </a:schemeClr>
              </a:outerShdw>
            </a:effectLst>
          </p:spPr>
          <p:txBody>
            <a:bodyPr wrap="square" lIns="0" tIns="0" rIns="0" bIns="0">
              <a:spAutoFit/>
            </a:bodyPr>
            <a:lstStyle/>
            <a:p>
              <a:pPr algn="ctr">
                <a:spcBef>
                  <a:spcPts val="0"/>
                </a:spcBef>
                <a:spcAft>
                  <a:spcPts val="1200"/>
                </a:spcAft>
                <a:buSzTx/>
                <a:buFontTx/>
                <a:buNone/>
                <a:defRPr/>
              </a:pPr>
              <a:r>
                <a:rPr lang="zh-CN" altLang="en-US" sz="2400" dirty="0">
                  <a:solidFill>
                    <a:srgbClr val="FFFF00"/>
                  </a:solidFill>
                  <a:effectLst>
                    <a:outerShdw blurRad="38100" dist="38100" dir="2700000" algn="tl">
                      <a:srgbClr val="000000"/>
                    </a:outerShdw>
                  </a:effectLst>
                  <a:latin typeface="微软雅黑" pitchFamily="34" charset="-122"/>
                  <a:ea typeface="微软雅黑" pitchFamily="34" charset="-122"/>
                </a:rPr>
                <a:t>时空效率</a:t>
              </a:r>
              <a:endParaRPr lang="en-US" altLang="zh-CN" sz="2400" dirty="0">
                <a:solidFill>
                  <a:srgbClr val="FFFF00"/>
                </a:solidFill>
                <a:effectLst>
                  <a:outerShdw blurRad="38100" dist="38100" dir="2700000" algn="tl">
                    <a:srgbClr val="000000"/>
                  </a:outerShdw>
                </a:effectLst>
                <a:latin typeface="微软雅黑" pitchFamily="34" charset="-122"/>
                <a:ea typeface="微软雅黑" pitchFamily="34" charset="-122"/>
              </a:endParaRPr>
            </a:p>
            <a:p>
              <a:pPr algn="ctr">
                <a:spcBef>
                  <a:spcPts val="0"/>
                </a:spcBef>
                <a:spcAft>
                  <a:spcPts val="1200"/>
                </a:spcAft>
                <a:buSzTx/>
                <a:buFontTx/>
                <a:buNone/>
                <a:defRPr/>
              </a:pPr>
              <a:r>
                <a:rPr lang="zh-CN" altLang="en-US" sz="2400" dirty="0">
                  <a:solidFill>
                    <a:srgbClr val="FFFF00"/>
                  </a:solidFill>
                  <a:effectLst>
                    <a:outerShdw blurRad="38100" dist="38100" dir="2700000" algn="tl">
                      <a:srgbClr val="000000"/>
                    </a:outerShdw>
                  </a:effectLst>
                  <a:latin typeface="微软雅黑" pitchFamily="34" charset="-122"/>
                  <a:ea typeface="微软雅黑" pitchFamily="34" charset="-122"/>
                </a:rPr>
                <a:t>可维护性</a:t>
              </a:r>
            </a:p>
          </p:txBody>
        </p:sp>
        <p:sp>
          <p:nvSpPr>
            <p:cNvPr id="14" name="AutoShape 12">
              <a:extLst>
                <a:ext uri="{FF2B5EF4-FFF2-40B4-BE49-F238E27FC236}">
                  <a16:creationId xmlns:a16="http://schemas.microsoft.com/office/drawing/2014/main" id="{5B9ADBA0-0071-4EF5-8B30-BB07EF59ABC6}"/>
                </a:ext>
              </a:extLst>
            </p:cNvPr>
            <p:cNvSpPr>
              <a:spLocks noChangeArrowheads="1"/>
            </p:cNvSpPr>
            <p:nvPr/>
          </p:nvSpPr>
          <p:spPr bwMode="auto">
            <a:xfrm>
              <a:off x="4699414" y="3775384"/>
              <a:ext cx="1371601" cy="2303219"/>
            </a:xfrm>
            <a:prstGeom prst="wedgeRoundRectCallout">
              <a:avLst>
                <a:gd name="adj1" fmla="val -34052"/>
                <a:gd name="adj2" fmla="val -61148"/>
                <a:gd name="adj3" fmla="val 16667"/>
              </a:avLst>
            </a:prstGeom>
            <a:solidFill>
              <a:srgbClr val="3333FF"/>
            </a:solidFill>
            <a:ln w="12700" cap="sq" algn="ctr">
              <a:solidFill>
                <a:schemeClr val="tx1"/>
              </a:solidFill>
              <a:miter lim="800000"/>
              <a:headEnd/>
              <a:tailEnd/>
            </a:ln>
            <a:effectLst>
              <a:outerShdw dist="107763" dir="2700000" algn="ctr" rotWithShape="0">
                <a:schemeClr val="bg2">
                  <a:alpha val="50000"/>
                </a:schemeClr>
              </a:outerShdw>
            </a:effectLst>
          </p:spPr>
          <p:txBody>
            <a:bodyPr wrap="square" lIns="0" tIns="0" rIns="0" bIns="0">
              <a:spAutoFit/>
            </a:bodyPr>
            <a:lstStyle/>
            <a:p>
              <a:pPr algn="ctr">
                <a:spcAft>
                  <a:spcPts val="600"/>
                </a:spcAft>
                <a:buSzTx/>
                <a:buFontTx/>
                <a:buNone/>
                <a:defRPr/>
              </a:pPr>
              <a:r>
                <a:rPr lang="zh-CN" altLang="en-US" sz="2400" dirty="0">
                  <a:solidFill>
                    <a:srgbClr val="FFFF00"/>
                  </a:solidFill>
                  <a:effectLst>
                    <a:outerShdw blurRad="38100" dist="38100" dir="2700000" algn="tl">
                      <a:srgbClr val="000000"/>
                    </a:outerShdw>
                  </a:effectLst>
                  <a:latin typeface="微软雅黑" pitchFamily="34" charset="-122"/>
                  <a:ea typeface="微软雅黑" pitchFamily="34" charset="-122"/>
                </a:rPr>
                <a:t>存储结构</a:t>
              </a:r>
            </a:p>
            <a:p>
              <a:pPr algn="ctr">
                <a:spcAft>
                  <a:spcPts val="600"/>
                </a:spcAft>
                <a:buSzTx/>
                <a:buFontTx/>
                <a:buNone/>
                <a:defRPr/>
              </a:pPr>
              <a:r>
                <a:rPr lang="zh-CN" altLang="en-US" sz="2400" dirty="0">
                  <a:solidFill>
                    <a:srgbClr val="FFFF00"/>
                  </a:solidFill>
                  <a:effectLst>
                    <a:outerShdw blurRad="38100" dist="38100" dir="2700000" algn="tl">
                      <a:srgbClr val="000000"/>
                    </a:outerShdw>
                  </a:effectLst>
                  <a:latin typeface="微软雅黑" pitchFamily="34" charset="-122"/>
                  <a:ea typeface="微软雅黑" pitchFamily="34" charset="-122"/>
                </a:rPr>
                <a:t>记录格式</a:t>
              </a:r>
            </a:p>
            <a:p>
              <a:pPr algn="ctr">
                <a:spcAft>
                  <a:spcPts val="600"/>
                </a:spcAft>
                <a:buSzTx/>
                <a:buFontTx/>
                <a:buNone/>
                <a:defRPr/>
              </a:pPr>
              <a:r>
                <a:rPr lang="zh-CN" altLang="en-US" sz="2400" dirty="0">
                  <a:solidFill>
                    <a:srgbClr val="FFFF00"/>
                  </a:solidFill>
                  <a:effectLst>
                    <a:outerShdw blurRad="38100" dist="38100" dir="2700000" algn="tl">
                      <a:srgbClr val="000000"/>
                    </a:outerShdw>
                  </a:effectLst>
                  <a:latin typeface="微软雅黑" pitchFamily="34" charset="-122"/>
                  <a:ea typeface="微软雅黑" pitchFamily="34" charset="-122"/>
                </a:rPr>
                <a:t>记录组织</a:t>
              </a:r>
            </a:p>
            <a:p>
              <a:pPr algn="ctr">
                <a:spcAft>
                  <a:spcPts val="600"/>
                </a:spcAft>
                <a:buSzTx/>
                <a:buFontTx/>
                <a:buNone/>
                <a:defRPr/>
              </a:pPr>
              <a:r>
                <a:rPr lang="zh-CN" altLang="en-US" sz="2400" dirty="0">
                  <a:solidFill>
                    <a:srgbClr val="FFFF00"/>
                  </a:solidFill>
                  <a:effectLst>
                    <a:outerShdw blurRad="38100" dist="38100" dir="2700000" algn="tl">
                      <a:srgbClr val="000000"/>
                    </a:outerShdw>
                  </a:effectLst>
                  <a:latin typeface="微软雅黑" pitchFamily="34" charset="-122"/>
                  <a:ea typeface="微软雅黑" pitchFamily="34" charset="-122"/>
                </a:rPr>
                <a:t>访问方法</a:t>
              </a:r>
            </a:p>
          </p:txBody>
        </p:sp>
      </p:grpSp>
      <p:sp>
        <p:nvSpPr>
          <p:cNvPr id="17" name="对话气泡: 圆角矩形 16">
            <a:extLst>
              <a:ext uri="{FF2B5EF4-FFF2-40B4-BE49-F238E27FC236}">
                <a16:creationId xmlns:a16="http://schemas.microsoft.com/office/drawing/2014/main" id="{8F20EBB7-B900-4802-ABD3-EF891F43C30F}"/>
              </a:ext>
            </a:extLst>
          </p:cNvPr>
          <p:cNvSpPr/>
          <p:nvPr/>
        </p:nvSpPr>
        <p:spPr>
          <a:xfrm>
            <a:off x="1487488" y="5860615"/>
            <a:ext cx="9505056" cy="671096"/>
          </a:xfrm>
          <a:prstGeom prst="wedgeRoundRectCallout">
            <a:avLst>
              <a:gd name="adj1" fmla="val -22609"/>
              <a:gd name="adj2" fmla="val -28200"/>
              <a:gd name="adj3" fmla="val 16667"/>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tabLst>
                <a:tab pos="361950" algn="l"/>
              </a:tabLst>
            </a:pPr>
            <a:r>
              <a:rPr lang="en-US" altLang="zh-CN" sz="2800" kern="0" dirty="0">
                <a:solidFill>
                  <a:srgbClr val="FFFF00"/>
                </a:solidFill>
                <a:latin typeface="宋体" panose="02010600030101010101" pitchFamily="2" charset="-122"/>
                <a:ea typeface="宋体" panose="02010600030101010101" pitchFamily="2" charset="-122"/>
              </a:rPr>
              <a:t> B+</a:t>
            </a:r>
            <a:r>
              <a:rPr lang="zh-CN" altLang="en-US" sz="2800" kern="0" dirty="0">
                <a:solidFill>
                  <a:srgbClr val="FFFF00"/>
                </a:solidFill>
                <a:latin typeface="宋体" panose="02010600030101010101" pitchFamily="2" charset="-122"/>
                <a:ea typeface="宋体" panose="02010600030101010101" pitchFamily="2" charset="-122"/>
              </a:rPr>
              <a:t>树，</a:t>
            </a:r>
            <a:r>
              <a:rPr lang="en-US" altLang="zh-CN" sz="2800" kern="0" dirty="0">
                <a:solidFill>
                  <a:srgbClr val="FFFF00"/>
                </a:solidFill>
                <a:latin typeface="宋体" panose="02010600030101010101" pitchFamily="2" charset="-122"/>
                <a:ea typeface="宋体" panose="02010600030101010101" pitchFamily="2" charset="-122"/>
              </a:rPr>
              <a:t>Hash</a:t>
            </a:r>
            <a:r>
              <a:rPr lang="zh-CN" altLang="en-US" sz="2800" kern="0" dirty="0">
                <a:solidFill>
                  <a:srgbClr val="FFFF00"/>
                </a:solidFill>
                <a:latin typeface="宋体" panose="02010600030101010101" pitchFamily="2" charset="-122"/>
                <a:ea typeface="宋体" panose="02010600030101010101" pitchFamily="2" charset="-122"/>
              </a:rPr>
              <a:t>，聚簇，</a:t>
            </a:r>
            <a:r>
              <a:rPr lang="zh-CN" altLang="en-US" sz="2800" kern="0" dirty="0">
                <a:solidFill>
                  <a:srgbClr val="FFFF00"/>
                </a:solidFill>
                <a:latin typeface="宋体" panose="02010600030101010101" pitchFamily="2" charset="-122"/>
              </a:rPr>
              <a:t>页，</a:t>
            </a:r>
            <a:r>
              <a:rPr lang="zh-CN" altLang="en-US" sz="2800" kern="0" dirty="0">
                <a:solidFill>
                  <a:srgbClr val="FFFF00"/>
                </a:solidFill>
                <a:latin typeface="宋体" panose="02010600030101010101" pitchFamily="2" charset="-122"/>
                <a:ea typeface="宋体" panose="02010600030101010101" pitchFamily="2" charset="-122"/>
              </a:rPr>
              <a:t>分区，分表 </a:t>
            </a:r>
            <a:r>
              <a:rPr lang="en-US" altLang="zh-CN" sz="2800" kern="0" dirty="0">
                <a:solidFill>
                  <a:srgbClr val="FFFF00"/>
                </a:solidFill>
                <a:latin typeface="宋体" panose="02010600030101010101" pitchFamily="2" charset="-122"/>
                <a:ea typeface="宋体" panose="02010600030101010101" pitchFamily="2" charset="-122"/>
              </a:rPr>
              <a:t>……</a:t>
            </a:r>
            <a:endParaRPr lang="zh-CN" altLang="en-US" sz="2800" b="1" dirty="0">
              <a:solidFill>
                <a:srgbClr val="FFFF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006889861"/>
      </p:ext>
    </p:extLst>
  </p:cSld>
  <p:clrMapOvr>
    <a:masterClrMapping/>
  </p:clrMapOvr>
  <p:transition spd="med">
    <p:random/>
    <p:sndAc>
      <p:stSnd>
        <p:snd r:embed="rId2" name="arrow.wav"/>
      </p:stSnd>
    </p:sndAc>
  </p:transition>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78594" name="Rectangle 2"/>
          <p:cNvSpPr>
            <a:spLocks noGrp="1" noChangeArrowheads="1"/>
          </p:cNvSpPr>
          <p:nvPr>
            <p:ph type="ctrTitle"/>
          </p:nvPr>
        </p:nvSpPr>
        <p:spPr>
          <a:xfrm>
            <a:off x="839416" y="260648"/>
            <a:ext cx="5109091" cy="584775"/>
          </a:xfrm>
        </p:spPr>
        <p:txBody>
          <a:bodyPr/>
          <a:lstStyle/>
          <a:p>
            <a:r>
              <a:rPr lang="zh-CN" altLang="en-US" dirty="0"/>
              <a:t>确定物理结构</a:t>
            </a:r>
          </a:p>
        </p:txBody>
      </p:sp>
      <p:sp>
        <p:nvSpPr>
          <p:cNvPr id="878595" name="Rectangle 3"/>
          <p:cNvSpPr>
            <a:spLocks noGrp="1" noChangeArrowheads="1"/>
          </p:cNvSpPr>
          <p:nvPr>
            <p:ph type="subTitle" idx="1"/>
          </p:nvPr>
        </p:nvSpPr>
        <p:spPr>
          <a:xfrm>
            <a:off x="479376" y="980728"/>
            <a:ext cx="11377264" cy="3456384"/>
          </a:xfrm>
        </p:spPr>
        <p:txBody>
          <a:bodyPr/>
          <a:lstStyle/>
          <a:p>
            <a:pPr algn="l">
              <a:lnSpc>
                <a:spcPct val="150000"/>
              </a:lnSpc>
              <a:buFontTx/>
              <a:buNone/>
            </a:pPr>
            <a:r>
              <a:rPr lang="zh-CN" altLang="en-US" sz="2800" dirty="0"/>
              <a:t>一、存储记录结构的设计</a:t>
            </a:r>
          </a:p>
          <a:p>
            <a:pPr algn="l">
              <a:lnSpc>
                <a:spcPct val="150000"/>
              </a:lnSpc>
            </a:pPr>
            <a:r>
              <a:rPr lang="zh-CN" altLang="en-US" sz="2800" dirty="0"/>
              <a:t>在物理结构中，数据的基本存取单位是</a:t>
            </a:r>
            <a:r>
              <a:rPr lang="zh-CN" altLang="en-US" sz="2800" dirty="0">
                <a:solidFill>
                  <a:srgbClr val="FF0000"/>
                </a:solidFill>
              </a:rPr>
              <a:t>存储记录</a:t>
            </a:r>
            <a:r>
              <a:rPr lang="zh-CN" altLang="en-US" sz="2800" dirty="0"/>
              <a:t>。有了逻辑记录结构以后，就可以根据具体的</a:t>
            </a:r>
            <a:r>
              <a:rPr lang="en-US" altLang="zh-CN" sz="2800" dirty="0"/>
              <a:t>DBMS</a:t>
            </a:r>
            <a:r>
              <a:rPr lang="zh-CN" altLang="en-US" sz="2800" dirty="0"/>
              <a:t>设计数据的存储记录结构，一个存储记录可以和一个或多个逻辑记录相对应。</a:t>
            </a:r>
          </a:p>
          <a:p>
            <a:pPr algn="l">
              <a:lnSpc>
                <a:spcPct val="150000"/>
              </a:lnSpc>
            </a:pPr>
            <a:r>
              <a:rPr lang="zh-CN" altLang="en-US" sz="2800" dirty="0"/>
              <a:t>存储记录结构包括记录的组成、数据项的类型和长度，以及逻辑记录到存储记录的映射。</a:t>
            </a:r>
          </a:p>
          <a:p>
            <a:pPr algn="l">
              <a:lnSpc>
                <a:spcPct val="150000"/>
              </a:lnSpc>
            </a:pPr>
            <a:r>
              <a:rPr lang="zh-CN" altLang="en-US" sz="2800" dirty="0"/>
              <a:t>对于物理数据库，就是指数据库中实际</a:t>
            </a:r>
            <a:r>
              <a:rPr lang="zh-CN" altLang="en-US" sz="2800" dirty="0">
                <a:solidFill>
                  <a:srgbClr val="FF0000"/>
                </a:solidFill>
              </a:rPr>
              <a:t>存储记录的格式、逻辑次序和物理次序、访问路径、物理设备的分配</a:t>
            </a:r>
            <a:r>
              <a:rPr lang="zh-CN" altLang="en-US" sz="2800" dirty="0"/>
              <a:t>。</a:t>
            </a:r>
          </a:p>
        </p:txBody>
      </p:sp>
    </p:spTree>
    <p:extLst>
      <p:ext uri="{BB962C8B-B14F-4D97-AF65-F5344CB8AC3E}">
        <p14:creationId xmlns:p14="http://schemas.microsoft.com/office/powerpoint/2010/main" val="68430792"/>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79619" name="Rectangle 3"/>
          <p:cNvSpPr>
            <a:spLocks noGrp="1" noChangeArrowheads="1"/>
          </p:cNvSpPr>
          <p:nvPr>
            <p:ph type="subTitle" idx="1"/>
          </p:nvPr>
        </p:nvSpPr>
        <p:spPr>
          <a:xfrm>
            <a:off x="695400" y="548680"/>
            <a:ext cx="11233248" cy="4680520"/>
          </a:xfrm>
        </p:spPr>
        <p:txBody>
          <a:bodyPr/>
          <a:lstStyle/>
          <a:p>
            <a:pPr algn="l">
              <a:lnSpc>
                <a:spcPct val="150000"/>
              </a:lnSpc>
            </a:pPr>
            <a:r>
              <a:rPr lang="zh-CN" altLang="en-US" sz="2000" dirty="0"/>
              <a:t>决定存储结构的主要因素包括：</a:t>
            </a:r>
            <a:r>
              <a:rPr lang="zh-CN" altLang="en-US" sz="2000" dirty="0">
                <a:solidFill>
                  <a:srgbClr val="FF0000"/>
                </a:solidFill>
              </a:rPr>
              <a:t>存取时间、存储空间、维护代价</a:t>
            </a:r>
            <a:r>
              <a:rPr lang="zh-CN" altLang="en-US" sz="2000" dirty="0"/>
              <a:t>三个方面。设计时，应当根据实际情况对这三个方面进行综合权衡。一般</a:t>
            </a:r>
            <a:r>
              <a:rPr lang="en-US" altLang="zh-CN" sz="2000" dirty="0"/>
              <a:t>DBMS</a:t>
            </a:r>
            <a:r>
              <a:rPr lang="zh-CN" altLang="en-US" sz="2000" dirty="0"/>
              <a:t>也提供一定的灵活性可供选择，包括聚簇和索引。</a:t>
            </a:r>
          </a:p>
          <a:p>
            <a:pPr algn="l">
              <a:lnSpc>
                <a:spcPct val="150000"/>
              </a:lnSpc>
              <a:buFontTx/>
              <a:buNone/>
            </a:pPr>
            <a:r>
              <a:rPr lang="en-US" altLang="zh-CN" sz="2000" dirty="0"/>
              <a:t>1</a:t>
            </a:r>
            <a:r>
              <a:rPr lang="zh-CN" altLang="en-US" sz="2000" dirty="0"/>
              <a:t>、聚簇（</a:t>
            </a:r>
            <a:r>
              <a:rPr lang="en-US" altLang="zh-CN" sz="2000" dirty="0"/>
              <a:t>Cluster</a:t>
            </a:r>
            <a:r>
              <a:rPr lang="zh-CN" altLang="en-US" sz="2000" dirty="0"/>
              <a:t>）</a:t>
            </a:r>
          </a:p>
          <a:p>
            <a:pPr algn="l">
              <a:lnSpc>
                <a:spcPct val="150000"/>
              </a:lnSpc>
            </a:pPr>
            <a:r>
              <a:rPr lang="zh-CN" altLang="en-US" sz="2000" dirty="0"/>
              <a:t>聚簇就是为了提高查询速度，把在一个（或一组）属性上具有相同值的元组集中地存放在一个物理块中。如果存放不下，可以存放在相邻的物理块中。其中，这个（或这组）属性称为聚簇码。</a:t>
            </a:r>
          </a:p>
          <a:p>
            <a:pPr algn="l">
              <a:lnSpc>
                <a:spcPct val="150000"/>
              </a:lnSpc>
            </a:pPr>
            <a:r>
              <a:rPr lang="zh-CN" altLang="en-US" sz="2000" dirty="0"/>
              <a:t>聚簇有两个作用：</a:t>
            </a:r>
          </a:p>
          <a:p>
            <a:pPr lvl="1" algn="l">
              <a:lnSpc>
                <a:spcPct val="150000"/>
              </a:lnSpc>
            </a:pPr>
            <a:r>
              <a:rPr lang="zh-CN" altLang="en-US" sz="1800" dirty="0"/>
              <a:t>使用聚簇以后，聚簇码相同的元组集中在一起了，因而聚簇值不必在每个元组中重复存储，只要在一组中存储一次即可，因此可以节省存储空间。</a:t>
            </a:r>
          </a:p>
          <a:p>
            <a:pPr lvl="1" algn="l">
              <a:lnSpc>
                <a:spcPct val="150000"/>
              </a:lnSpc>
            </a:pPr>
            <a:r>
              <a:rPr lang="zh-CN" altLang="en-US" sz="1800" dirty="0"/>
              <a:t>聚簇功能可以大大提高按聚簇码进行查询的效率。</a:t>
            </a:r>
          </a:p>
        </p:txBody>
      </p:sp>
    </p:spTree>
    <p:extLst>
      <p:ext uri="{BB962C8B-B14F-4D97-AF65-F5344CB8AC3E}">
        <p14:creationId xmlns:p14="http://schemas.microsoft.com/office/powerpoint/2010/main" val="1961155861"/>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80643" name="Rectangle 3"/>
          <p:cNvSpPr>
            <a:spLocks noGrp="1" noChangeArrowheads="1"/>
          </p:cNvSpPr>
          <p:nvPr>
            <p:ph type="subTitle" idx="1"/>
          </p:nvPr>
        </p:nvSpPr>
        <p:spPr>
          <a:xfrm>
            <a:off x="767408" y="620688"/>
            <a:ext cx="11305256" cy="4248472"/>
          </a:xfrm>
        </p:spPr>
        <p:txBody>
          <a:bodyPr/>
          <a:lstStyle/>
          <a:p>
            <a:pPr algn="l">
              <a:lnSpc>
                <a:spcPct val="150000"/>
              </a:lnSpc>
              <a:buFontTx/>
              <a:buNone/>
            </a:pPr>
            <a:r>
              <a:rPr lang="en-US" altLang="zh-CN" sz="2800" dirty="0"/>
              <a:t>2</a:t>
            </a:r>
            <a:r>
              <a:rPr lang="zh-CN" altLang="en-US" sz="2800" dirty="0"/>
              <a:t>、索引（</a:t>
            </a:r>
            <a:r>
              <a:rPr lang="en-US" altLang="zh-CN" sz="2800" dirty="0"/>
              <a:t>Index</a:t>
            </a:r>
            <a:r>
              <a:rPr lang="zh-CN" altLang="en-US" sz="2800" dirty="0"/>
              <a:t>）</a:t>
            </a:r>
          </a:p>
          <a:p>
            <a:pPr algn="l">
              <a:lnSpc>
                <a:spcPct val="150000"/>
              </a:lnSpc>
            </a:pPr>
            <a:r>
              <a:rPr lang="zh-CN" altLang="en-US" sz="2800" dirty="0"/>
              <a:t>在数据库中，用户访问的最小单位是属性。如果对某些非主属性的检索很频繁，可以考虑建立这些属性的索引文件。</a:t>
            </a:r>
          </a:p>
          <a:p>
            <a:pPr algn="l">
              <a:lnSpc>
                <a:spcPct val="150000"/>
              </a:lnSpc>
            </a:pPr>
            <a:r>
              <a:rPr lang="zh-CN" altLang="en-US" sz="2800" dirty="0"/>
              <a:t>索引文件对存储记录重新进行内部链接，从逻辑上改变了记录的存储位置，从而改变了访问数据的入口点。关系中数据越多，索引的优越性也就越明显。虽然建立多个索引文件可以缩短存取时间，但是增加了索引文件所占用的存储空间以及维护的开销。因此，应该根据实际需要综合考虑。</a:t>
            </a:r>
          </a:p>
        </p:txBody>
      </p:sp>
    </p:spTree>
    <p:extLst>
      <p:ext uri="{BB962C8B-B14F-4D97-AF65-F5344CB8AC3E}">
        <p14:creationId xmlns:p14="http://schemas.microsoft.com/office/powerpoint/2010/main" val="1206233098"/>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81667" name="Rectangle 3"/>
          <p:cNvSpPr>
            <a:spLocks noGrp="1" noChangeArrowheads="1"/>
          </p:cNvSpPr>
          <p:nvPr>
            <p:ph type="subTitle" idx="1"/>
          </p:nvPr>
        </p:nvSpPr>
        <p:spPr>
          <a:xfrm>
            <a:off x="479376" y="692696"/>
            <a:ext cx="11449272" cy="4968552"/>
          </a:xfrm>
        </p:spPr>
        <p:txBody>
          <a:bodyPr/>
          <a:lstStyle/>
          <a:p>
            <a:pPr algn="l">
              <a:lnSpc>
                <a:spcPct val="150000"/>
              </a:lnSpc>
              <a:buFontTx/>
              <a:buNone/>
            </a:pPr>
            <a:r>
              <a:rPr lang="zh-CN" altLang="en-US" sz="3200" dirty="0"/>
              <a:t>二、访问方法的设计</a:t>
            </a:r>
          </a:p>
          <a:p>
            <a:pPr algn="l">
              <a:lnSpc>
                <a:spcPct val="150000"/>
              </a:lnSpc>
            </a:pPr>
            <a:r>
              <a:rPr lang="zh-CN" altLang="en-US" sz="3200" dirty="0"/>
              <a:t>访问方法是为存储在物理设备（通常指辅存）上的数据提供存储和检索能力的方法。一个访问方法包括存储结构和检索机构两个部分。</a:t>
            </a:r>
          </a:p>
          <a:p>
            <a:pPr lvl="1" algn="l">
              <a:lnSpc>
                <a:spcPct val="150000"/>
              </a:lnSpc>
            </a:pPr>
            <a:r>
              <a:rPr lang="zh-CN" altLang="en-US" sz="2800" dirty="0"/>
              <a:t>存储结构限定了可能访问的路径和存储记录；</a:t>
            </a:r>
          </a:p>
          <a:p>
            <a:pPr lvl="1" algn="l">
              <a:lnSpc>
                <a:spcPct val="150000"/>
              </a:lnSpc>
            </a:pPr>
            <a:r>
              <a:rPr lang="zh-CN" altLang="en-US" sz="2800" dirty="0"/>
              <a:t>检索机构定义了每个应用的访问路径。</a:t>
            </a:r>
          </a:p>
        </p:txBody>
      </p:sp>
    </p:spTree>
    <p:extLst>
      <p:ext uri="{BB962C8B-B14F-4D97-AF65-F5344CB8AC3E}">
        <p14:creationId xmlns:p14="http://schemas.microsoft.com/office/powerpoint/2010/main" val="2058818956"/>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82691" name="Rectangle 3"/>
          <p:cNvSpPr>
            <a:spLocks noGrp="1" noChangeArrowheads="1"/>
          </p:cNvSpPr>
          <p:nvPr>
            <p:ph type="subTitle" idx="1"/>
          </p:nvPr>
        </p:nvSpPr>
        <p:spPr>
          <a:xfrm>
            <a:off x="767408" y="620688"/>
            <a:ext cx="11017224" cy="3528392"/>
          </a:xfrm>
        </p:spPr>
        <p:txBody>
          <a:bodyPr/>
          <a:lstStyle/>
          <a:p>
            <a:pPr algn="l">
              <a:lnSpc>
                <a:spcPct val="150000"/>
              </a:lnSpc>
              <a:buFontTx/>
              <a:buNone/>
            </a:pPr>
            <a:r>
              <a:rPr lang="zh-CN" altLang="en-US" sz="2400" dirty="0"/>
              <a:t>三、数据存放位置的设计</a:t>
            </a:r>
          </a:p>
          <a:p>
            <a:pPr algn="l">
              <a:lnSpc>
                <a:spcPct val="150000"/>
              </a:lnSpc>
            </a:pPr>
            <a:r>
              <a:rPr lang="zh-CN" altLang="en-US" sz="2400" dirty="0"/>
              <a:t>为了提高系统性能，应该根据应用情况将数据的易变部分、稳定部分、经常存取部分和存取频率较低部分分开存放。</a:t>
            </a:r>
          </a:p>
          <a:p>
            <a:pPr lvl="1" algn="l">
              <a:lnSpc>
                <a:spcPct val="150000"/>
              </a:lnSpc>
            </a:pPr>
            <a:r>
              <a:rPr lang="zh-CN" altLang="en-US" sz="2000" dirty="0"/>
              <a:t>可以将表和索引分别存放在不同的磁盘上，在查询时，由于两个磁盘驱动器并行工作，可以提高物理读写的速度。</a:t>
            </a:r>
          </a:p>
          <a:p>
            <a:pPr lvl="1" algn="l">
              <a:lnSpc>
                <a:spcPct val="150000"/>
              </a:lnSpc>
            </a:pPr>
            <a:r>
              <a:rPr lang="zh-CN" altLang="en-US" sz="2000" dirty="0"/>
              <a:t>在多用户环境下，可能将日志文件和数据库对象（表、索引等）放在不同的磁盘上，以加快存取速度。</a:t>
            </a:r>
          </a:p>
          <a:p>
            <a:pPr lvl="1" algn="l">
              <a:lnSpc>
                <a:spcPct val="150000"/>
              </a:lnSpc>
            </a:pPr>
            <a:r>
              <a:rPr lang="zh-CN" altLang="en-US" sz="2000" dirty="0"/>
              <a:t>另外，数据库的</a:t>
            </a:r>
            <a:r>
              <a:rPr lang="zh-CN" altLang="en-US" sz="2000" dirty="0">
                <a:solidFill>
                  <a:srgbClr val="FFFF00"/>
                </a:solidFill>
              </a:rPr>
              <a:t>数据备份、日志文件备份</a:t>
            </a:r>
            <a:r>
              <a:rPr lang="zh-CN" altLang="en-US" sz="2000" dirty="0"/>
              <a:t>等，只在数据库发生故障进行恢复时才使用，而且数据量很大，可以存放在磁带上，以改进整个系统的性能。</a:t>
            </a:r>
          </a:p>
        </p:txBody>
      </p:sp>
    </p:spTree>
    <p:extLst>
      <p:ext uri="{BB962C8B-B14F-4D97-AF65-F5344CB8AC3E}">
        <p14:creationId xmlns:p14="http://schemas.microsoft.com/office/powerpoint/2010/main" val="1215532527"/>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83715" name="Rectangle 3"/>
          <p:cNvSpPr>
            <a:spLocks noGrp="1" noChangeArrowheads="1"/>
          </p:cNvSpPr>
          <p:nvPr>
            <p:ph type="subTitle" idx="1"/>
          </p:nvPr>
        </p:nvSpPr>
        <p:spPr>
          <a:xfrm>
            <a:off x="767408" y="620688"/>
            <a:ext cx="11377264" cy="4536504"/>
          </a:xfrm>
        </p:spPr>
        <p:txBody>
          <a:bodyPr/>
          <a:lstStyle/>
          <a:p>
            <a:pPr algn="l">
              <a:lnSpc>
                <a:spcPct val="150000"/>
              </a:lnSpc>
              <a:buFontTx/>
              <a:buNone/>
            </a:pPr>
            <a:r>
              <a:rPr lang="zh-CN" altLang="en-US" sz="3200" dirty="0"/>
              <a:t>四、系统配置的设计</a:t>
            </a:r>
          </a:p>
          <a:p>
            <a:pPr algn="l">
              <a:lnSpc>
                <a:spcPct val="150000"/>
              </a:lnSpc>
            </a:pPr>
            <a:r>
              <a:rPr lang="en-US" altLang="zh-CN" sz="3200" dirty="0"/>
              <a:t>DBMS</a:t>
            </a:r>
            <a:r>
              <a:rPr lang="zh-CN" altLang="en-US" sz="3200" dirty="0"/>
              <a:t>产品一般都提供了一些系统配置变量、存储分配参数，供设计人员和</a:t>
            </a:r>
            <a:r>
              <a:rPr lang="en-US" altLang="zh-CN" sz="3200" dirty="0"/>
              <a:t>DBA</a:t>
            </a:r>
            <a:r>
              <a:rPr lang="zh-CN" altLang="en-US" sz="3200" dirty="0"/>
              <a:t>对数据库进行物理优化。</a:t>
            </a:r>
          </a:p>
          <a:p>
            <a:pPr algn="l">
              <a:lnSpc>
                <a:spcPct val="150000"/>
              </a:lnSpc>
            </a:pPr>
            <a:r>
              <a:rPr lang="zh-CN" altLang="en-US" sz="3200" dirty="0"/>
              <a:t>系统为这些变量设定了初始值，但是这些值不一定适合每一种应用环境，在物理设计阶段，要根据实际情况重新对这些变量赋值，以满足新的要求。</a:t>
            </a:r>
          </a:p>
        </p:txBody>
      </p:sp>
    </p:spTree>
    <p:extLst>
      <p:ext uri="{BB962C8B-B14F-4D97-AF65-F5344CB8AC3E}">
        <p14:creationId xmlns:p14="http://schemas.microsoft.com/office/powerpoint/2010/main" val="2697071907"/>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84738" name="Rectangle 2"/>
          <p:cNvSpPr>
            <a:spLocks noGrp="1" noChangeArrowheads="1"/>
          </p:cNvSpPr>
          <p:nvPr>
            <p:ph type="ctrTitle"/>
          </p:nvPr>
        </p:nvSpPr>
        <p:spPr>
          <a:xfrm>
            <a:off x="767408" y="188640"/>
            <a:ext cx="5109091" cy="584775"/>
          </a:xfrm>
        </p:spPr>
        <p:txBody>
          <a:bodyPr/>
          <a:lstStyle/>
          <a:p>
            <a:r>
              <a:rPr lang="zh-CN" altLang="en-US" dirty="0"/>
              <a:t>评价物理结构</a:t>
            </a:r>
          </a:p>
        </p:txBody>
      </p:sp>
      <p:sp>
        <p:nvSpPr>
          <p:cNvPr id="884739" name="Rectangle 3"/>
          <p:cNvSpPr>
            <a:spLocks noGrp="1" noChangeArrowheads="1"/>
          </p:cNvSpPr>
          <p:nvPr>
            <p:ph type="subTitle" idx="1"/>
          </p:nvPr>
        </p:nvSpPr>
        <p:spPr>
          <a:xfrm>
            <a:off x="623392" y="1052736"/>
            <a:ext cx="11305256" cy="4104456"/>
          </a:xfrm>
        </p:spPr>
        <p:txBody>
          <a:bodyPr/>
          <a:lstStyle/>
          <a:p>
            <a:pPr algn="l">
              <a:lnSpc>
                <a:spcPct val="150000"/>
              </a:lnSpc>
            </a:pPr>
            <a:r>
              <a:rPr lang="zh-CN" altLang="en-US" dirty="0"/>
              <a:t>和前面几个设计阶段一样，在确定了数据库的物理结构之后，要进行评价，重点是</a:t>
            </a:r>
            <a:r>
              <a:rPr lang="zh-CN" altLang="en-US" dirty="0">
                <a:solidFill>
                  <a:srgbClr val="FFFF00"/>
                </a:solidFill>
              </a:rPr>
              <a:t>时间和空间的效率</a:t>
            </a:r>
            <a:r>
              <a:rPr lang="zh-CN" altLang="en-US" dirty="0"/>
              <a:t>。</a:t>
            </a:r>
          </a:p>
          <a:p>
            <a:pPr algn="l">
              <a:lnSpc>
                <a:spcPct val="150000"/>
              </a:lnSpc>
            </a:pPr>
            <a:r>
              <a:rPr lang="zh-CN" altLang="en-US" dirty="0"/>
              <a:t>如果评价结果满足设计要求，则可进行数据库实施。实际上，往往需要经过反复测试才能优化物理设计。</a:t>
            </a:r>
          </a:p>
        </p:txBody>
      </p:sp>
    </p:spTree>
    <p:extLst>
      <p:ext uri="{BB962C8B-B14F-4D97-AF65-F5344CB8AC3E}">
        <p14:creationId xmlns:p14="http://schemas.microsoft.com/office/powerpoint/2010/main" val="638544256"/>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bwMode="auto">
          <a:xfrm>
            <a:off x="4583832" y="1988840"/>
            <a:ext cx="2448272" cy="854968"/>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60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第六节</a:t>
            </a:r>
          </a:p>
        </p:txBody>
      </p:sp>
      <p:sp>
        <p:nvSpPr>
          <p:cNvPr id="2" name="标题 1"/>
          <p:cNvSpPr>
            <a:spLocks noGrp="1"/>
          </p:cNvSpPr>
          <p:nvPr>
            <p:ph type="title"/>
          </p:nvPr>
        </p:nvSpPr>
        <p:spPr>
          <a:xfrm>
            <a:off x="1127448" y="3356992"/>
            <a:ext cx="9937104" cy="1256758"/>
          </a:xfrm>
          <a:effectLst>
            <a:outerShdw blurRad="63500" sx="102000" sy="102000" algn="ctr" rotWithShape="0">
              <a:prstClr val="black">
                <a:alpha val="40000"/>
              </a:prstClr>
            </a:outerShdw>
          </a:effectLst>
        </p:spPr>
        <p:txBody>
          <a:bodyPr wrap="none" numCol="1" fromWordArt="1">
            <a:prstTxWarp prst="textPlain">
              <a:avLst>
                <a:gd name="adj" fmla="val 50000"/>
              </a:avLst>
            </a:prstTxWarp>
          </a:bodyPr>
          <a:lstStyle/>
          <a:p>
            <a:pPr fontAlgn="base">
              <a:spcAft>
                <a:spcPct val="0"/>
              </a:spcAft>
            </a:pPr>
            <a:r>
              <a:rPr lang="zh-CN" altLang="en-US" sz="6000" b="1" kern="10" spc="600" baseline="-25000" dirty="0">
                <a:ln w="9525">
                  <a:solidFill>
                    <a:srgbClr val="003399"/>
                  </a:solidFill>
                  <a:prstDash val="solid"/>
                </a:ln>
                <a:solidFill>
                  <a:srgbClr val="FFFFFF"/>
                </a:solidFill>
                <a:cs typeface="+mn-cs"/>
              </a:rPr>
              <a:t>数据库实施与维护</a:t>
            </a:r>
          </a:p>
        </p:txBody>
      </p:sp>
      <p:sp>
        <p:nvSpPr>
          <p:cNvPr id="4" name="标题 1">
            <a:extLst>
              <a:ext uri="{FF2B5EF4-FFF2-40B4-BE49-F238E27FC236}">
                <a16:creationId xmlns:a16="http://schemas.microsoft.com/office/drawing/2014/main" id="{1DECDF0B-FDC0-4C58-9326-80561E26595A}"/>
              </a:ext>
            </a:extLst>
          </p:cNvPr>
          <p:cNvSpPr txBox="1">
            <a:spLocks/>
          </p:cNvSpPr>
          <p:nvPr/>
        </p:nvSpPr>
        <p:spPr bwMode="auto">
          <a:xfrm>
            <a:off x="983432" y="260648"/>
            <a:ext cx="3960440" cy="367122"/>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a:t>
            </a:r>
            <a:r>
              <a:rPr kumimoji="0" lang="en-US" altLang="zh-CN"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10</a:t>
            </a: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章  数据库设计</a:t>
            </a:r>
          </a:p>
        </p:txBody>
      </p:sp>
    </p:spTree>
    <p:extLst>
      <p:ext uri="{BB962C8B-B14F-4D97-AF65-F5344CB8AC3E}">
        <p14:creationId xmlns:p14="http://schemas.microsoft.com/office/powerpoint/2010/main" val="3066956639"/>
      </p:ext>
    </p:extLst>
  </p:cSld>
  <p:clrMapOvr>
    <a:masterClrMapping/>
  </p:clrMapOvr>
  <p:transition spd="med">
    <p:random/>
    <p:sndAc>
      <p:stSnd>
        <p:snd r:embed="rId2" name="arrow.wav"/>
      </p:stSnd>
    </p:sndAc>
  </p:transition>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85762" name="Rectangle 2"/>
          <p:cNvSpPr>
            <a:spLocks noGrp="1" noChangeArrowheads="1"/>
          </p:cNvSpPr>
          <p:nvPr>
            <p:ph type="ctrTitle"/>
          </p:nvPr>
        </p:nvSpPr>
        <p:spPr>
          <a:xfrm>
            <a:off x="767408" y="188640"/>
            <a:ext cx="5109091" cy="584775"/>
          </a:xfrm>
        </p:spPr>
        <p:txBody>
          <a:bodyPr/>
          <a:lstStyle/>
          <a:p>
            <a:r>
              <a:rPr lang="zh-CN" altLang="en-US" dirty="0"/>
              <a:t>数据库的实施</a:t>
            </a:r>
          </a:p>
        </p:txBody>
      </p:sp>
      <p:sp>
        <p:nvSpPr>
          <p:cNvPr id="885763" name="Rectangle 3"/>
          <p:cNvSpPr>
            <a:spLocks noGrp="1" noChangeArrowheads="1"/>
          </p:cNvSpPr>
          <p:nvPr>
            <p:ph type="subTitle" idx="1"/>
          </p:nvPr>
        </p:nvSpPr>
        <p:spPr>
          <a:xfrm>
            <a:off x="551384" y="1124744"/>
            <a:ext cx="11377264" cy="2880320"/>
          </a:xfrm>
        </p:spPr>
        <p:txBody>
          <a:bodyPr/>
          <a:lstStyle/>
          <a:p>
            <a:pPr algn="l">
              <a:lnSpc>
                <a:spcPct val="150000"/>
              </a:lnSpc>
            </a:pPr>
            <a:r>
              <a:rPr lang="zh-CN" altLang="en-US" sz="2800" dirty="0"/>
              <a:t>数据库实施：是指根据逻辑设计和物理设计的结果，在计算机上建立起实际的数据库结构、装入数据、进行测试和试运行的过程。</a:t>
            </a:r>
          </a:p>
          <a:p>
            <a:pPr algn="l">
              <a:lnSpc>
                <a:spcPct val="150000"/>
              </a:lnSpc>
            </a:pPr>
            <a:r>
              <a:rPr lang="zh-CN" altLang="en-US" sz="2800" dirty="0"/>
              <a:t>数据库实施主要包括以下工作：</a:t>
            </a:r>
          </a:p>
          <a:p>
            <a:pPr algn="l">
              <a:lnSpc>
                <a:spcPct val="150000"/>
              </a:lnSpc>
              <a:buFontTx/>
              <a:buNone/>
            </a:pPr>
            <a:r>
              <a:rPr lang="zh-CN" altLang="en-US" sz="2800" dirty="0"/>
              <a:t>一、建立实际数据库结构</a:t>
            </a:r>
          </a:p>
          <a:p>
            <a:pPr algn="l">
              <a:lnSpc>
                <a:spcPct val="150000"/>
              </a:lnSpc>
            </a:pPr>
            <a:r>
              <a:rPr lang="en-US" altLang="zh-CN" sz="2800" dirty="0"/>
              <a:t>DBA</a:t>
            </a:r>
            <a:r>
              <a:rPr lang="zh-CN" altLang="en-US" sz="2800" dirty="0"/>
              <a:t>通过</a:t>
            </a:r>
            <a:r>
              <a:rPr lang="en-US" altLang="zh-CN" sz="2800" dirty="0"/>
              <a:t>DBMS</a:t>
            </a:r>
            <a:r>
              <a:rPr lang="zh-CN" altLang="en-US" sz="2800" dirty="0"/>
              <a:t>提供的数据定义语言（</a:t>
            </a:r>
            <a:r>
              <a:rPr lang="en-US" altLang="zh-CN" sz="2800" dirty="0"/>
              <a:t>DDL</a:t>
            </a:r>
            <a:r>
              <a:rPr lang="zh-CN" altLang="en-US" sz="2800" dirty="0"/>
              <a:t>）可以定义数据库结构。可使用</a:t>
            </a:r>
            <a:r>
              <a:rPr lang="en-US" altLang="zh-CN" sz="2800" dirty="0"/>
              <a:t>SQL</a:t>
            </a:r>
            <a:r>
              <a:rPr lang="zh-CN" altLang="en-US" sz="2800" dirty="0"/>
              <a:t>定义语句中的</a:t>
            </a:r>
            <a:r>
              <a:rPr lang="en-US" altLang="zh-CN" sz="2800" dirty="0"/>
              <a:t>CREATE</a:t>
            </a:r>
            <a:r>
              <a:rPr lang="zh-CN" altLang="en-US" sz="2800" dirty="0"/>
              <a:t>　</a:t>
            </a:r>
            <a:r>
              <a:rPr lang="en-US" altLang="zh-CN" sz="2800" dirty="0"/>
              <a:t>TABLE</a:t>
            </a:r>
            <a:r>
              <a:rPr lang="zh-CN" altLang="en-US" sz="2800" dirty="0"/>
              <a:t>等语句，定义数据库系统中所需的基本表、索引等。</a:t>
            </a:r>
          </a:p>
        </p:txBody>
      </p:sp>
    </p:spTree>
    <p:extLst>
      <p:ext uri="{BB962C8B-B14F-4D97-AF65-F5344CB8AC3E}">
        <p14:creationId xmlns:p14="http://schemas.microsoft.com/office/powerpoint/2010/main" val="3626454471"/>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86787" name="Rectangle 3"/>
          <p:cNvSpPr>
            <a:spLocks noGrp="1" noChangeArrowheads="1"/>
          </p:cNvSpPr>
          <p:nvPr>
            <p:ph type="subTitle" idx="1"/>
          </p:nvPr>
        </p:nvSpPr>
        <p:spPr>
          <a:xfrm>
            <a:off x="479376" y="692696"/>
            <a:ext cx="11377264" cy="3312368"/>
          </a:xfrm>
        </p:spPr>
        <p:txBody>
          <a:bodyPr/>
          <a:lstStyle/>
          <a:p>
            <a:pPr algn="l">
              <a:lnSpc>
                <a:spcPct val="150000"/>
              </a:lnSpc>
              <a:buFontTx/>
              <a:buNone/>
            </a:pPr>
            <a:r>
              <a:rPr lang="zh-CN" altLang="en-US" sz="3200" dirty="0"/>
              <a:t>二、装入数据</a:t>
            </a:r>
          </a:p>
          <a:p>
            <a:pPr algn="l">
              <a:lnSpc>
                <a:spcPct val="150000"/>
              </a:lnSpc>
            </a:pPr>
            <a:r>
              <a:rPr lang="zh-CN" altLang="en-US" sz="3200" dirty="0"/>
              <a:t>装入数据又称为数据库加载（</a:t>
            </a:r>
            <a:r>
              <a:rPr lang="en-US" altLang="zh-CN" sz="3200" dirty="0"/>
              <a:t>Loading</a:t>
            </a:r>
            <a:r>
              <a:rPr lang="zh-CN" altLang="en-US" sz="3200" dirty="0"/>
              <a:t>），是数据库实施阶段的主要工作。在数据库结构建立好之后，就可以向数据库中加载数据了。</a:t>
            </a:r>
          </a:p>
          <a:p>
            <a:pPr algn="l">
              <a:lnSpc>
                <a:spcPct val="150000"/>
              </a:lnSpc>
            </a:pPr>
            <a:r>
              <a:rPr lang="zh-CN" altLang="en-US" sz="3200" dirty="0"/>
              <a:t>数据的载入，需要耗费大量的人力、物力，是一种非常单调乏味而又意义重大的工作。</a:t>
            </a:r>
          </a:p>
        </p:txBody>
      </p:sp>
    </p:spTree>
    <p:extLst>
      <p:ext uri="{BB962C8B-B14F-4D97-AF65-F5344CB8AC3E}">
        <p14:creationId xmlns:p14="http://schemas.microsoft.com/office/powerpoint/2010/main" val="1585154132"/>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87811" name="Rectangle 3"/>
          <p:cNvSpPr>
            <a:spLocks noGrp="1" noChangeArrowheads="1"/>
          </p:cNvSpPr>
          <p:nvPr>
            <p:ph type="subTitle" idx="1"/>
          </p:nvPr>
        </p:nvSpPr>
        <p:spPr>
          <a:xfrm>
            <a:off x="479376" y="764704"/>
            <a:ext cx="11305256" cy="4464496"/>
          </a:xfrm>
        </p:spPr>
        <p:txBody>
          <a:bodyPr/>
          <a:lstStyle/>
          <a:p>
            <a:pPr algn="l">
              <a:lnSpc>
                <a:spcPct val="150000"/>
              </a:lnSpc>
            </a:pPr>
            <a:r>
              <a:rPr lang="zh-CN" altLang="en-US" dirty="0"/>
              <a:t>通常是设计一个数据输入子系统，其主要功能是：从大量的原始数据文件中筛选、分类、综合和转换数据库所需的数据。把它们加工成数据库所要求的结构形式，最后装入数据库中，同时，为了保证装入数据库中数据的正确无误，必须高度重视数据的校验工作。</a:t>
            </a:r>
          </a:p>
        </p:txBody>
      </p:sp>
    </p:spTree>
    <p:extLst>
      <p:ext uri="{BB962C8B-B14F-4D97-AF65-F5344CB8AC3E}">
        <p14:creationId xmlns:p14="http://schemas.microsoft.com/office/powerpoint/2010/main" val="1171266987"/>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88835" name="Rectangle 3"/>
          <p:cNvSpPr>
            <a:spLocks noGrp="1" noChangeArrowheads="1"/>
          </p:cNvSpPr>
          <p:nvPr>
            <p:ph type="subTitle" idx="1"/>
          </p:nvPr>
        </p:nvSpPr>
        <p:spPr>
          <a:xfrm>
            <a:off x="695400" y="620688"/>
            <a:ext cx="11017224" cy="4752528"/>
          </a:xfrm>
        </p:spPr>
        <p:txBody>
          <a:bodyPr/>
          <a:lstStyle/>
          <a:p>
            <a:pPr algn="l">
              <a:lnSpc>
                <a:spcPct val="150000"/>
              </a:lnSpc>
              <a:buFontTx/>
              <a:buNone/>
            </a:pPr>
            <a:r>
              <a:rPr lang="zh-CN" altLang="en-US" sz="2800" dirty="0"/>
              <a:t>三、应用程序编码与调试</a:t>
            </a:r>
          </a:p>
          <a:p>
            <a:pPr algn="l">
              <a:lnSpc>
                <a:spcPct val="150000"/>
              </a:lnSpc>
            </a:pPr>
            <a:r>
              <a:rPr lang="zh-CN" altLang="en-US" sz="2800" dirty="0"/>
              <a:t>数据库应用程序的设计属于一般的程序设计范畴，但数据库应用程序有自己的一些特点。例如，大量使用屏幕显示控制语句、形式多样的输出报表、重视数据的有效性和完整性检查、有灵活的交互功能。</a:t>
            </a:r>
          </a:p>
          <a:p>
            <a:pPr algn="l">
              <a:lnSpc>
                <a:spcPct val="150000"/>
              </a:lnSpc>
            </a:pPr>
            <a:r>
              <a:rPr lang="zh-CN" altLang="en-US" sz="2800" dirty="0"/>
              <a:t>数据库结构建立好之后，就可以开始编制与调试数据库的应用程序，这时由于数据入库尚未完成，调试程序时可以先使用模拟数据。</a:t>
            </a:r>
          </a:p>
        </p:txBody>
      </p:sp>
    </p:spTree>
    <p:extLst>
      <p:ext uri="{BB962C8B-B14F-4D97-AF65-F5344CB8AC3E}">
        <p14:creationId xmlns:p14="http://schemas.microsoft.com/office/powerpoint/2010/main" val="3420195270"/>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89859" name="Rectangle 3"/>
          <p:cNvSpPr>
            <a:spLocks noGrp="1" noChangeArrowheads="1"/>
          </p:cNvSpPr>
          <p:nvPr>
            <p:ph type="subTitle" idx="1"/>
          </p:nvPr>
        </p:nvSpPr>
        <p:spPr>
          <a:xfrm>
            <a:off x="551384" y="692696"/>
            <a:ext cx="10945216" cy="3744416"/>
          </a:xfrm>
        </p:spPr>
        <p:txBody>
          <a:bodyPr/>
          <a:lstStyle/>
          <a:p>
            <a:pPr algn="l">
              <a:lnSpc>
                <a:spcPct val="150000"/>
              </a:lnSpc>
            </a:pPr>
            <a:r>
              <a:rPr lang="zh-CN" altLang="en-US" sz="2800" dirty="0"/>
              <a:t>四、数据库试运行</a:t>
            </a:r>
          </a:p>
          <a:p>
            <a:pPr algn="l">
              <a:lnSpc>
                <a:spcPct val="150000"/>
              </a:lnSpc>
            </a:pPr>
            <a:r>
              <a:rPr lang="zh-CN" altLang="en-US" sz="2800" dirty="0"/>
              <a:t>应用程序编写完成，并有了一小部分数据装入后，应该按照系统支持的各种应用分别试验应用程序在数据库上的操作情况，这就是数据库的试运行阶段，或者称为联合调试阶段。在这一阶段要完成两方面的工作。</a:t>
            </a:r>
          </a:p>
          <a:p>
            <a:pPr lvl="1" algn="l">
              <a:lnSpc>
                <a:spcPct val="150000"/>
              </a:lnSpc>
            </a:pPr>
            <a:r>
              <a:rPr lang="zh-CN" altLang="en-US" sz="2400" dirty="0"/>
              <a:t>功能测试。实际运行应用程序，测试它们能否完成各种预定的功能。</a:t>
            </a:r>
          </a:p>
          <a:p>
            <a:pPr lvl="1" algn="l">
              <a:lnSpc>
                <a:spcPct val="150000"/>
              </a:lnSpc>
            </a:pPr>
            <a:r>
              <a:rPr lang="zh-CN" altLang="en-US" sz="2400" dirty="0"/>
              <a:t>性能测试。测量系统的性能指标，分析系统是否符合设计目标。</a:t>
            </a:r>
          </a:p>
        </p:txBody>
      </p:sp>
    </p:spTree>
    <p:extLst>
      <p:ext uri="{BB962C8B-B14F-4D97-AF65-F5344CB8AC3E}">
        <p14:creationId xmlns:p14="http://schemas.microsoft.com/office/powerpoint/2010/main" val="44860147"/>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90883" name="Rectangle 3"/>
          <p:cNvSpPr>
            <a:spLocks noGrp="1" noChangeArrowheads="1"/>
          </p:cNvSpPr>
          <p:nvPr>
            <p:ph type="subTitle" idx="1"/>
          </p:nvPr>
        </p:nvSpPr>
        <p:spPr>
          <a:xfrm>
            <a:off x="551384" y="620688"/>
            <a:ext cx="11377264" cy="3744416"/>
          </a:xfrm>
        </p:spPr>
        <p:txBody>
          <a:bodyPr/>
          <a:lstStyle/>
          <a:p>
            <a:pPr algn="l">
              <a:lnSpc>
                <a:spcPct val="150000"/>
              </a:lnSpc>
              <a:buFontTx/>
              <a:buNone/>
            </a:pPr>
            <a:r>
              <a:rPr lang="zh-CN" altLang="en-US" sz="2800" dirty="0"/>
              <a:t>五、整理文档</a:t>
            </a:r>
          </a:p>
          <a:p>
            <a:pPr algn="l">
              <a:lnSpc>
                <a:spcPct val="150000"/>
              </a:lnSpc>
            </a:pPr>
            <a:r>
              <a:rPr lang="zh-CN" altLang="en-US" sz="2800" dirty="0"/>
              <a:t>在程序的编码调试和试运行中，应该将发现的问题和解决方法记录下来，将它们整理存档作为资料，供以后正式运行和改进时参考。</a:t>
            </a:r>
          </a:p>
          <a:p>
            <a:pPr algn="l">
              <a:lnSpc>
                <a:spcPct val="150000"/>
              </a:lnSpc>
            </a:pPr>
            <a:r>
              <a:rPr lang="zh-CN" altLang="en-US" sz="2800" dirty="0"/>
              <a:t>全部的调试工作完成之后，应该编写应用系统的技术说明书和使用说明书，在正式运行时随系统一起交给用户。</a:t>
            </a:r>
          </a:p>
          <a:p>
            <a:pPr algn="l">
              <a:lnSpc>
                <a:spcPct val="150000"/>
              </a:lnSpc>
            </a:pPr>
            <a:r>
              <a:rPr lang="zh-CN" altLang="en-US" sz="2800" dirty="0"/>
              <a:t>完整的文件资料是应用系统的重要组成部分，但这一点常被忽视。必须强调这一工作的重要性，引起用户与设计人员的充分注意。</a:t>
            </a:r>
          </a:p>
        </p:txBody>
      </p:sp>
    </p:spTree>
    <p:extLst>
      <p:ext uri="{BB962C8B-B14F-4D97-AF65-F5344CB8AC3E}">
        <p14:creationId xmlns:p14="http://schemas.microsoft.com/office/powerpoint/2010/main" val="384756334"/>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type="title"/>
          </p:nvPr>
        </p:nvSpPr>
        <p:spPr>
          <a:xfrm>
            <a:off x="767408" y="41299"/>
            <a:ext cx="3223172"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pPr>
            <a:r>
              <a:rPr kumimoji="1" lang="zh-CN" altLang="zh-CN" sz="4000" b="1" kern="1200" dirty="0">
                <a:solidFill>
                  <a:srgbClr val="FFFFCC"/>
                </a:solidFill>
                <a:effectLst>
                  <a:outerShdw blurRad="38100" dist="38100" dir="2700000" algn="tl">
                    <a:srgbClr val="000000"/>
                  </a:outerShdw>
                </a:effectLst>
                <a:latin typeface="Arial" pitchFamily="34" charset="0"/>
              </a:rPr>
              <a:t>数据库</a:t>
            </a:r>
            <a:r>
              <a:rPr kumimoji="1" lang="zh-CN" altLang="en-US" sz="4000" b="1" kern="1200" dirty="0">
                <a:solidFill>
                  <a:srgbClr val="FFFFCC"/>
                </a:solidFill>
                <a:effectLst>
                  <a:outerShdw blurRad="38100" dist="38100" dir="2700000" algn="tl">
                    <a:srgbClr val="000000"/>
                  </a:outerShdw>
                </a:effectLst>
                <a:latin typeface="Arial" pitchFamily="34" charset="0"/>
              </a:rPr>
              <a:t>的实施</a:t>
            </a:r>
            <a:endParaRPr kumimoji="1" lang="en-US" altLang="zh-CN" sz="4000" b="1" kern="1200" dirty="0">
              <a:solidFill>
                <a:srgbClr val="FFFFCC"/>
              </a:solidFill>
              <a:effectLst>
                <a:outerShdw blurRad="38100" dist="38100" dir="2700000" algn="tl">
                  <a:srgbClr val="000000"/>
                </a:outerShdw>
              </a:effectLst>
              <a:latin typeface="Arial" pitchFamily="34" charset="0"/>
            </a:endParaRPr>
          </a:p>
        </p:txBody>
      </p:sp>
      <p:grpSp>
        <p:nvGrpSpPr>
          <p:cNvPr id="20" name="组合 19">
            <a:extLst>
              <a:ext uri="{FF2B5EF4-FFF2-40B4-BE49-F238E27FC236}">
                <a16:creationId xmlns:a16="http://schemas.microsoft.com/office/drawing/2014/main" id="{5B1BA22E-D944-4DCD-AB9D-1B4B19F943FB}"/>
              </a:ext>
            </a:extLst>
          </p:cNvPr>
          <p:cNvGrpSpPr/>
          <p:nvPr/>
        </p:nvGrpSpPr>
        <p:grpSpPr>
          <a:xfrm>
            <a:off x="767408" y="1052736"/>
            <a:ext cx="10776320" cy="5373781"/>
            <a:chOff x="1919288" y="1176933"/>
            <a:chExt cx="8305800" cy="5369437"/>
          </a:xfrm>
        </p:grpSpPr>
        <p:sp>
          <p:nvSpPr>
            <p:cNvPr id="21" name="Oval 4">
              <a:extLst>
                <a:ext uri="{FF2B5EF4-FFF2-40B4-BE49-F238E27FC236}">
                  <a16:creationId xmlns:a16="http://schemas.microsoft.com/office/drawing/2014/main" id="{DF370E29-B8C0-4DD3-B2D9-CC444896A8A9}"/>
                </a:ext>
              </a:extLst>
            </p:cNvPr>
            <p:cNvSpPr>
              <a:spLocks noChangeArrowheads="1"/>
            </p:cNvSpPr>
            <p:nvPr/>
          </p:nvSpPr>
          <p:spPr bwMode="auto">
            <a:xfrm>
              <a:off x="3200403" y="3337520"/>
              <a:ext cx="1704974" cy="1371600"/>
            </a:xfrm>
            <a:prstGeom prst="ellipse">
              <a:avLst/>
            </a:prstGeom>
            <a:solidFill>
              <a:srgbClr val="CCFFCC"/>
            </a:solidFill>
            <a:ln w="12700" cap="sq">
              <a:solidFill>
                <a:srgbClr val="000000"/>
              </a:solidFill>
              <a:round/>
              <a:headEnd/>
              <a:tailEnd/>
            </a:ln>
            <a:effectLst>
              <a:outerShdw dist="35921" dir="2700000" algn="ctr" rotWithShape="0">
                <a:schemeClr val="bg2"/>
              </a:outerShdw>
            </a:effectLst>
          </p:spPr>
          <p:txBody>
            <a:bodyPr lIns="0" tIns="0" rIns="0" bIns="0" anchor="ctr" anchorCtr="1"/>
            <a:lstStyle/>
            <a:p>
              <a:pPr algn="ctr">
                <a:spcAft>
                  <a:spcPct val="0"/>
                </a:spcAft>
                <a:buSzTx/>
                <a:tabLst>
                  <a:tab pos="292100" algn="l"/>
                  <a:tab pos="485775" algn="l"/>
                </a:tabLst>
                <a:defRPr/>
              </a:pPr>
              <a:r>
                <a:rPr lang="zh-CN" altLang="en-US" sz="2400" dirty="0">
                  <a:solidFill>
                    <a:srgbClr val="000000"/>
                  </a:solidFill>
                  <a:effectLst/>
                  <a:latin typeface="微软雅黑" pitchFamily="34" charset="-122"/>
                  <a:ea typeface="微软雅黑" pitchFamily="34" charset="-122"/>
                </a:rPr>
                <a:t>定义</a:t>
              </a:r>
            </a:p>
            <a:p>
              <a:pPr algn="ctr">
                <a:spcAft>
                  <a:spcPct val="0"/>
                </a:spcAft>
                <a:buSzTx/>
                <a:tabLst>
                  <a:tab pos="292100" algn="l"/>
                  <a:tab pos="485775" algn="l"/>
                </a:tabLst>
                <a:defRPr/>
              </a:pPr>
              <a:r>
                <a:rPr lang="zh-CN" altLang="en-US" sz="2400" dirty="0">
                  <a:solidFill>
                    <a:srgbClr val="000000"/>
                  </a:solidFill>
                  <a:effectLst/>
                  <a:latin typeface="微软雅黑" pitchFamily="34" charset="-122"/>
                  <a:ea typeface="微软雅黑" pitchFamily="34" charset="-122"/>
                </a:rPr>
                <a:t>数据库结构</a:t>
              </a:r>
            </a:p>
          </p:txBody>
        </p:sp>
        <p:sp>
          <p:nvSpPr>
            <p:cNvPr id="22" name="AutoShape 5">
              <a:extLst>
                <a:ext uri="{FF2B5EF4-FFF2-40B4-BE49-F238E27FC236}">
                  <a16:creationId xmlns:a16="http://schemas.microsoft.com/office/drawing/2014/main" id="{F4BA000F-5E3C-4466-892E-F9DAEA1C855C}"/>
                </a:ext>
              </a:extLst>
            </p:cNvPr>
            <p:cNvSpPr>
              <a:spLocks noChangeArrowheads="1"/>
            </p:cNvSpPr>
            <p:nvPr/>
          </p:nvSpPr>
          <p:spPr bwMode="auto">
            <a:xfrm>
              <a:off x="1919288" y="2042120"/>
              <a:ext cx="1600200" cy="939800"/>
            </a:xfrm>
            <a:prstGeom prst="verticalScroll">
              <a:avLst>
                <a:gd name="adj" fmla="val 12500"/>
              </a:avLst>
            </a:prstGeom>
            <a:solidFill>
              <a:srgbClr val="D9F9FF"/>
            </a:solidFill>
            <a:ln w="12700" cap="sq">
              <a:solidFill>
                <a:srgbClr val="000000"/>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solidFill>
                    <a:srgbClr val="000000"/>
                  </a:solidFill>
                  <a:effectLst/>
                  <a:latin typeface="微软雅黑" pitchFamily="34" charset="-122"/>
                  <a:ea typeface="微软雅黑" pitchFamily="34" charset="-122"/>
                </a:rPr>
                <a:t>逻辑模型</a:t>
              </a:r>
            </a:p>
          </p:txBody>
        </p:sp>
        <p:sp>
          <p:nvSpPr>
            <p:cNvPr id="23" name="AutoShape 6">
              <a:extLst>
                <a:ext uri="{FF2B5EF4-FFF2-40B4-BE49-F238E27FC236}">
                  <a16:creationId xmlns:a16="http://schemas.microsoft.com/office/drawing/2014/main" id="{D8486E17-9219-42B4-9DC4-E39616F46D6D}"/>
                </a:ext>
              </a:extLst>
            </p:cNvPr>
            <p:cNvSpPr>
              <a:spLocks noChangeArrowheads="1"/>
            </p:cNvSpPr>
            <p:nvPr/>
          </p:nvSpPr>
          <p:spPr bwMode="auto">
            <a:xfrm>
              <a:off x="1919288" y="5090120"/>
              <a:ext cx="1752600" cy="990600"/>
            </a:xfrm>
            <a:prstGeom prst="verticalScroll">
              <a:avLst>
                <a:gd name="adj" fmla="val 12500"/>
              </a:avLst>
            </a:prstGeom>
            <a:solidFill>
              <a:srgbClr val="D9F9FF"/>
            </a:solidFill>
            <a:ln w="12700" cap="sq">
              <a:solidFill>
                <a:srgbClr val="000000"/>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a:solidFill>
                    <a:srgbClr val="000000"/>
                  </a:solidFill>
                  <a:effectLst/>
                  <a:latin typeface="微软雅黑" pitchFamily="34" charset="-122"/>
                  <a:ea typeface="微软雅黑" pitchFamily="34" charset="-122"/>
                </a:rPr>
                <a:t>物理模型</a:t>
              </a:r>
            </a:p>
          </p:txBody>
        </p:sp>
        <p:sp>
          <p:nvSpPr>
            <p:cNvPr id="24" name="Oval 7">
              <a:extLst>
                <a:ext uri="{FF2B5EF4-FFF2-40B4-BE49-F238E27FC236}">
                  <a16:creationId xmlns:a16="http://schemas.microsoft.com/office/drawing/2014/main" id="{B8AF6E93-3F04-425D-93D0-1376A76A384D}"/>
                </a:ext>
              </a:extLst>
            </p:cNvPr>
            <p:cNvSpPr>
              <a:spLocks noChangeArrowheads="1"/>
            </p:cNvSpPr>
            <p:nvPr/>
          </p:nvSpPr>
          <p:spPr bwMode="auto">
            <a:xfrm>
              <a:off x="5500688" y="1965920"/>
              <a:ext cx="1371600" cy="1371600"/>
            </a:xfrm>
            <a:prstGeom prst="ellipse">
              <a:avLst/>
            </a:prstGeom>
            <a:solidFill>
              <a:srgbClr val="CCFFCC"/>
            </a:solidFill>
            <a:ln w="12700" cap="sq">
              <a:solidFill>
                <a:srgbClr val="000000"/>
              </a:solidFill>
              <a:round/>
              <a:headEnd/>
              <a:tailEnd/>
            </a:ln>
            <a:effectLst>
              <a:outerShdw dist="35921" dir="2700000" algn="ctr" rotWithShape="0">
                <a:schemeClr val="bg2"/>
              </a:outerShdw>
            </a:effectLst>
          </p:spPr>
          <p:txBody>
            <a:bodyPr lIns="0" tIns="0" rIns="0" bIns="0" anchor="ctr" anchorCtr="1"/>
            <a:lstStyle/>
            <a:p>
              <a:pPr algn="ctr">
                <a:spcAft>
                  <a:spcPct val="0"/>
                </a:spcAft>
                <a:buSzTx/>
                <a:tabLst>
                  <a:tab pos="292100" algn="l"/>
                  <a:tab pos="485775" algn="l"/>
                </a:tabLst>
                <a:defRPr/>
              </a:pPr>
              <a:r>
                <a:rPr lang="zh-CN" altLang="en-US" sz="2400">
                  <a:solidFill>
                    <a:srgbClr val="000000"/>
                  </a:solidFill>
                  <a:effectLst/>
                  <a:latin typeface="微软雅黑" pitchFamily="34" charset="-122"/>
                  <a:ea typeface="微软雅黑" pitchFamily="34" charset="-122"/>
                </a:rPr>
                <a:t>数据</a:t>
              </a:r>
            </a:p>
            <a:p>
              <a:pPr algn="ctr">
                <a:spcAft>
                  <a:spcPct val="0"/>
                </a:spcAft>
                <a:buSzTx/>
                <a:tabLst>
                  <a:tab pos="292100" algn="l"/>
                  <a:tab pos="485775" algn="l"/>
                </a:tabLst>
                <a:defRPr/>
              </a:pPr>
              <a:r>
                <a:rPr lang="zh-CN" altLang="en-US" sz="2400">
                  <a:solidFill>
                    <a:srgbClr val="000000"/>
                  </a:solidFill>
                  <a:effectLst/>
                  <a:latin typeface="微软雅黑" pitchFamily="34" charset="-122"/>
                  <a:ea typeface="微软雅黑" pitchFamily="34" charset="-122"/>
                </a:rPr>
                <a:t>装入</a:t>
              </a:r>
            </a:p>
          </p:txBody>
        </p:sp>
        <p:sp>
          <p:nvSpPr>
            <p:cNvPr id="25" name="Oval 8">
              <a:extLst>
                <a:ext uri="{FF2B5EF4-FFF2-40B4-BE49-F238E27FC236}">
                  <a16:creationId xmlns:a16="http://schemas.microsoft.com/office/drawing/2014/main" id="{A1B63C4F-3EE6-43D3-9C95-197CA58D29B3}"/>
                </a:ext>
              </a:extLst>
            </p:cNvPr>
            <p:cNvSpPr>
              <a:spLocks noChangeArrowheads="1"/>
            </p:cNvSpPr>
            <p:nvPr/>
          </p:nvSpPr>
          <p:spPr bwMode="auto">
            <a:xfrm>
              <a:off x="5424488" y="4617046"/>
              <a:ext cx="1676400" cy="1463675"/>
            </a:xfrm>
            <a:prstGeom prst="ellipse">
              <a:avLst/>
            </a:prstGeom>
            <a:solidFill>
              <a:srgbClr val="CCFFCC"/>
            </a:solidFill>
            <a:ln w="12700" cap="sq">
              <a:solidFill>
                <a:srgbClr val="000000"/>
              </a:solidFill>
              <a:round/>
              <a:headEnd/>
              <a:tailEnd/>
            </a:ln>
            <a:effectLst>
              <a:outerShdw dist="35921" dir="2700000" algn="ctr" rotWithShape="0">
                <a:schemeClr val="bg2"/>
              </a:outerShdw>
            </a:effectLst>
          </p:spPr>
          <p:txBody>
            <a:bodyPr lIns="0" tIns="0" rIns="0" bIns="0" anchor="ctr" anchorCtr="1"/>
            <a:lstStyle/>
            <a:p>
              <a:pPr algn="ctr">
                <a:spcAft>
                  <a:spcPct val="0"/>
                </a:spcAft>
                <a:buSzTx/>
                <a:tabLst>
                  <a:tab pos="292100" algn="l"/>
                  <a:tab pos="485775" algn="l"/>
                </a:tabLst>
                <a:defRPr/>
              </a:pPr>
              <a:r>
                <a:rPr lang="zh-CN" altLang="en-US" sz="2400" dirty="0">
                  <a:solidFill>
                    <a:srgbClr val="000000"/>
                  </a:solidFill>
                  <a:effectLst/>
                  <a:latin typeface="微软雅黑" pitchFamily="34" charset="-122"/>
                  <a:ea typeface="微软雅黑" pitchFamily="34" charset="-122"/>
                </a:rPr>
                <a:t>编制与调试应用程序</a:t>
              </a:r>
            </a:p>
          </p:txBody>
        </p:sp>
        <p:sp>
          <p:nvSpPr>
            <p:cNvPr id="26" name="Oval 9">
              <a:extLst>
                <a:ext uri="{FF2B5EF4-FFF2-40B4-BE49-F238E27FC236}">
                  <a16:creationId xmlns:a16="http://schemas.microsoft.com/office/drawing/2014/main" id="{F864559E-99DB-472D-9543-FE3ED6D9CA88}"/>
                </a:ext>
              </a:extLst>
            </p:cNvPr>
            <p:cNvSpPr>
              <a:spLocks noChangeArrowheads="1"/>
            </p:cNvSpPr>
            <p:nvPr/>
          </p:nvSpPr>
          <p:spPr bwMode="auto">
            <a:xfrm>
              <a:off x="7824845" y="3337521"/>
              <a:ext cx="1295288" cy="1463675"/>
            </a:xfrm>
            <a:prstGeom prst="ellipse">
              <a:avLst/>
            </a:prstGeom>
            <a:solidFill>
              <a:srgbClr val="CCFFCC"/>
            </a:solidFill>
            <a:ln w="12700" cap="sq">
              <a:solidFill>
                <a:srgbClr val="000000"/>
              </a:solidFill>
              <a:round/>
              <a:headEnd/>
              <a:tailEnd/>
            </a:ln>
            <a:effectLst>
              <a:outerShdw dist="35921" dir="2700000" algn="ctr" rotWithShape="0">
                <a:schemeClr val="bg2"/>
              </a:outerShdw>
            </a:effectLst>
          </p:spPr>
          <p:txBody>
            <a:bodyPr lIns="0" tIns="0" rIns="0" bIns="0" anchor="ctr" anchorCtr="1"/>
            <a:lstStyle/>
            <a:p>
              <a:pPr algn="ctr">
                <a:spcAft>
                  <a:spcPct val="0"/>
                </a:spcAft>
                <a:buSzTx/>
                <a:tabLst>
                  <a:tab pos="292100" algn="l"/>
                  <a:tab pos="485775" algn="l"/>
                </a:tabLst>
                <a:defRPr/>
              </a:pPr>
              <a:r>
                <a:rPr lang="zh-CN" altLang="en-US" sz="2400" dirty="0">
                  <a:solidFill>
                    <a:srgbClr val="000000"/>
                  </a:solidFill>
                  <a:effectLst/>
                  <a:latin typeface="微软雅黑" pitchFamily="34" charset="-122"/>
                  <a:ea typeface="微软雅黑" pitchFamily="34" charset="-122"/>
                </a:rPr>
                <a:t>数据库试运行</a:t>
              </a:r>
            </a:p>
          </p:txBody>
        </p:sp>
        <p:sp>
          <p:nvSpPr>
            <p:cNvPr id="27" name="Line 10">
              <a:extLst>
                <a:ext uri="{FF2B5EF4-FFF2-40B4-BE49-F238E27FC236}">
                  <a16:creationId xmlns:a16="http://schemas.microsoft.com/office/drawing/2014/main" id="{FE3E77B9-4127-4EED-BB3E-76C6A07CF566}"/>
                </a:ext>
              </a:extLst>
            </p:cNvPr>
            <p:cNvSpPr>
              <a:spLocks noChangeShapeType="1"/>
            </p:cNvSpPr>
            <p:nvPr/>
          </p:nvSpPr>
          <p:spPr bwMode="auto">
            <a:xfrm flipV="1">
              <a:off x="4586288" y="3032720"/>
              <a:ext cx="990600" cy="609600"/>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a:effectLst/>
                <a:latin typeface="微软雅黑" pitchFamily="34" charset="-122"/>
                <a:ea typeface="微软雅黑" pitchFamily="34" charset="-122"/>
              </a:endParaRPr>
            </a:p>
          </p:txBody>
        </p:sp>
        <p:sp>
          <p:nvSpPr>
            <p:cNvPr id="28" name="Line 11">
              <a:extLst>
                <a:ext uri="{FF2B5EF4-FFF2-40B4-BE49-F238E27FC236}">
                  <a16:creationId xmlns:a16="http://schemas.microsoft.com/office/drawing/2014/main" id="{3505EF77-484B-4FFD-88FF-224C647D0E95}"/>
                </a:ext>
              </a:extLst>
            </p:cNvPr>
            <p:cNvSpPr>
              <a:spLocks noChangeShapeType="1"/>
            </p:cNvSpPr>
            <p:nvPr/>
          </p:nvSpPr>
          <p:spPr bwMode="auto">
            <a:xfrm>
              <a:off x="4586288" y="4480520"/>
              <a:ext cx="990600" cy="609600"/>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a:effectLst/>
                <a:latin typeface="微软雅黑" pitchFamily="34" charset="-122"/>
                <a:ea typeface="微软雅黑" pitchFamily="34" charset="-122"/>
              </a:endParaRPr>
            </a:p>
          </p:txBody>
        </p:sp>
        <p:sp>
          <p:nvSpPr>
            <p:cNvPr id="29" name="Line 12">
              <a:extLst>
                <a:ext uri="{FF2B5EF4-FFF2-40B4-BE49-F238E27FC236}">
                  <a16:creationId xmlns:a16="http://schemas.microsoft.com/office/drawing/2014/main" id="{FF45D851-6356-4C6A-9613-3769E4B9037C}"/>
                </a:ext>
              </a:extLst>
            </p:cNvPr>
            <p:cNvSpPr>
              <a:spLocks noChangeShapeType="1"/>
            </p:cNvSpPr>
            <p:nvPr/>
          </p:nvSpPr>
          <p:spPr bwMode="auto">
            <a:xfrm>
              <a:off x="6872288" y="2804120"/>
              <a:ext cx="1143000" cy="609600"/>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a:effectLst/>
                <a:latin typeface="微软雅黑" pitchFamily="34" charset="-122"/>
                <a:ea typeface="微软雅黑" pitchFamily="34" charset="-122"/>
              </a:endParaRPr>
            </a:p>
          </p:txBody>
        </p:sp>
        <p:sp>
          <p:nvSpPr>
            <p:cNvPr id="30" name="Line 13">
              <a:extLst>
                <a:ext uri="{FF2B5EF4-FFF2-40B4-BE49-F238E27FC236}">
                  <a16:creationId xmlns:a16="http://schemas.microsoft.com/office/drawing/2014/main" id="{1F8A6C1F-A416-4470-9369-08AD4BF658DC}"/>
                </a:ext>
              </a:extLst>
            </p:cNvPr>
            <p:cNvSpPr>
              <a:spLocks noChangeShapeType="1"/>
            </p:cNvSpPr>
            <p:nvPr/>
          </p:nvSpPr>
          <p:spPr bwMode="auto">
            <a:xfrm flipV="1">
              <a:off x="7024688" y="4632920"/>
              <a:ext cx="838200" cy="609600"/>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a:effectLst/>
                <a:latin typeface="微软雅黑" pitchFamily="34" charset="-122"/>
                <a:ea typeface="微软雅黑" pitchFamily="34" charset="-122"/>
              </a:endParaRPr>
            </a:p>
          </p:txBody>
        </p:sp>
        <p:sp>
          <p:nvSpPr>
            <p:cNvPr id="31" name="AutoShape 14">
              <a:extLst>
                <a:ext uri="{FF2B5EF4-FFF2-40B4-BE49-F238E27FC236}">
                  <a16:creationId xmlns:a16="http://schemas.microsoft.com/office/drawing/2014/main" id="{175F2022-0BD3-4631-B584-64C43D1535B3}"/>
                </a:ext>
              </a:extLst>
            </p:cNvPr>
            <p:cNvSpPr>
              <a:spLocks noChangeArrowheads="1"/>
            </p:cNvSpPr>
            <p:nvPr/>
          </p:nvSpPr>
          <p:spPr bwMode="auto">
            <a:xfrm rot="2700000">
              <a:off x="2805772" y="4236095"/>
              <a:ext cx="228600" cy="838200"/>
            </a:xfrm>
            <a:prstGeom prst="upArrow">
              <a:avLst>
                <a:gd name="adj1" fmla="val 50000"/>
                <a:gd name="adj2" fmla="val 91667"/>
              </a:avLst>
            </a:prstGeom>
            <a:solidFill>
              <a:srgbClr val="CCFFCC"/>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effectLst/>
                <a:latin typeface="微软雅黑" pitchFamily="34" charset="-122"/>
                <a:ea typeface="微软雅黑" pitchFamily="34" charset="-122"/>
              </a:endParaRPr>
            </a:p>
          </p:txBody>
        </p:sp>
        <p:sp>
          <p:nvSpPr>
            <p:cNvPr id="32" name="AutoShape 15">
              <a:extLst>
                <a:ext uri="{FF2B5EF4-FFF2-40B4-BE49-F238E27FC236}">
                  <a16:creationId xmlns:a16="http://schemas.microsoft.com/office/drawing/2014/main" id="{682F0A16-0C59-4638-B333-843150C4E9E7}"/>
                </a:ext>
              </a:extLst>
            </p:cNvPr>
            <p:cNvSpPr>
              <a:spLocks noChangeArrowheads="1"/>
            </p:cNvSpPr>
            <p:nvPr/>
          </p:nvSpPr>
          <p:spPr bwMode="auto">
            <a:xfrm rot="8100000">
              <a:off x="9005888" y="4709120"/>
              <a:ext cx="228600" cy="838200"/>
            </a:xfrm>
            <a:prstGeom prst="upArrow">
              <a:avLst>
                <a:gd name="adj1" fmla="val 50000"/>
                <a:gd name="adj2" fmla="val 91667"/>
              </a:avLst>
            </a:prstGeom>
            <a:solidFill>
              <a:srgbClr val="CCFFCC"/>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effectLst/>
                <a:latin typeface="微软雅黑" pitchFamily="34" charset="-122"/>
                <a:ea typeface="微软雅黑" pitchFamily="34" charset="-122"/>
              </a:endParaRPr>
            </a:p>
          </p:txBody>
        </p:sp>
        <p:sp>
          <p:nvSpPr>
            <p:cNvPr id="33" name="AutoShape 16">
              <a:extLst>
                <a:ext uri="{FF2B5EF4-FFF2-40B4-BE49-F238E27FC236}">
                  <a16:creationId xmlns:a16="http://schemas.microsoft.com/office/drawing/2014/main" id="{56B3DCA1-A58B-4F43-855F-9DC224E1D958}"/>
                </a:ext>
              </a:extLst>
            </p:cNvPr>
            <p:cNvSpPr>
              <a:spLocks noChangeArrowheads="1"/>
            </p:cNvSpPr>
            <p:nvPr/>
          </p:nvSpPr>
          <p:spPr bwMode="auto">
            <a:xfrm>
              <a:off x="8320088" y="5471119"/>
              <a:ext cx="1905000" cy="1075251"/>
            </a:xfrm>
            <a:prstGeom prst="can">
              <a:avLst>
                <a:gd name="adj" fmla="val 32009"/>
              </a:avLst>
            </a:prstGeom>
            <a:solidFill>
              <a:srgbClr val="FFC000"/>
            </a:solidFill>
            <a:ln w="12700" cap="sq">
              <a:solidFill>
                <a:srgbClr val="000000"/>
              </a:solidFill>
              <a:round/>
              <a:headEnd/>
              <a:tailEnd/>
            </a:ln>
            <a:effectLst/>
          </p:spPr>
          <p:txBody>
            <a:bodyPr wrap="none" lIns="0" tIns="144000" rIns="0" bIns="0" anchor="ctr"/>
            <a:lstStyle/>
            <a:p>
              <a:pPr algn="ctr">
                <a:spcAft>
                  <a:spcPct val="0"/>
                </a:spcAft>
                <a:buSzTx/>
                <a:buFontTx/>
                <a:buNone/>
                <a:defRPr/>
              </a:pPr>
              <a:r>
                <a:rPr lang="zh-CN" altLang="en-US" sz="2400" dirty="0">
                  <a:solidFill>
                    <a:srgbClr val="000000"/>
                  </a:solidFill>
                  <a:effectLst/>
                  <a:latin typeface="微软雅黑" pitchFamily="34" charset="-122"/>
                  <a:ea typeface="微软雅黑" pitchFamily="34" charset="-122"/>
                </a:rPr>
                <a:t>数据库系统</a:t>
              </a:r>
            </a:p>
          </p:txBody>
        </p:sp>
        <p:sp>
          <p:nvSpPr>
            <p:cNvPr id="34" name="AutoShape 17">
              <a:extLst>
                <a:ext uri="{FF2B5EF4-FFF2-40B4-BE49-F238E27FC236}">
                  <a16:creationId xmlns:a16="http://schemas.microsoft.com/office/drawing/2014/main" id="{67601E1E-1852-415F-8EED-857B724703EE}"/>
                </a:ext>
              </a:extLst>
            </p:cNvPr>
            <p:cNvSpPr>
              <a:spLocks noChangeArrowheads="1"/>
            </p:cNvSpPr>
            <p:nvPr/>
          </p:nvSpPr>
          <p:spPr bwMode="auto">
            <a:xfrm rot="8100000">
              <a:off x="2850991" y="2966133"/>
              <a:ext cx="228600" cy="838200"/>
            </a:xfrm>
            <a:prstGeom prst="upArrow">
              <a:avLst>
                <a:gd name="adj1" fmla="val 50000"/>
                <a:gd name="adj2" fmla="val 91667"/>
              </a:avLst>
            </a:prstGeom>
            <a:solidFill>
              <a:srgbClr val="CCFFCC"/>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effectLst/>
                <a:latin typeface="微软雅黑" pitchFamily="34" charset="-122"/>
                <a:ea typeface="微软雅黑" pitchFamily="34" charset="-122"/>
              </a:endParaRPr>
            </a:p>
          </p:txBody>
        </p:sp>
        <p:sp>
          <p:nvSpPr>
            <p:cNvPr id="35" name="AutoShape 18">
              <a:extLst>
                <a:ext uri="{FF2B5EF4-FFF2-40B4-BE49-F238E27FC236}">
                  <a16:creationId xmlns:a16="http://schemas.microsoft.com/office/drawing/2014/main" id="{CA1B2DFF-AAB2-4473-88AC-02E2BED83685}"/>
                </a:ext>
              </a:extLst>
            </p:cNvPr>
            <p:cNvSpPr>
              <a:spLocks noChangeArrowheads="1"/>
            </p:cNvSpPr>
            <p:nvPr/>
          </p:nvSpPr>
          <p:spPr bwMode="auto">
            <a:xfrm>
              <a:off x="8084775" y="1690144"/>
              <a:ext cx="2014537" cy="1291776"/>
            </a:xfrm>
            <a:prstGeom prst="wedgeRoundRectCallout">
              <a:avLst>
                <a:gd name="adj1" fmla="val -28254"/>
                <a:gd name="adj2" fmla="val 66673"/>
                <a:gd name="adj3" fmla="val 16667"/>
              </a:avLst>
            </a:prstGeom>
            <a:solidFill>
              <a:srgbClr val="3333FF"/>
            </a:solidFill>
            <a:ln w="12700" cap="sq" algn="ctr">
              <a:solidFill>
                <a:schemeClr val="tx1"/>
              </a:solidFill>
              <a:miter lim="800000"/>
              <a:headEnd/>
              <a:tailEnd/>
            </a:ln>
            <a:effectLst>
              <a:outerShdw dist="107763" dir="2700000" algn="ctr" rotWithShape="0">
                <a:schemeClr val="bg2">
                  <a:alpha val="50000"/>
                </a:schemeClr>
              </a:outerShdw>
            </a:effectLst>
          </p:spPr>
          <p:txBody>
            <a:bodyPr lIns="0" tIns="0" rIns="0" bIns="0">
              <a:spAutoFit/>
            </a:bodyPr>
            <a:lstStyle/>
            <a:p>
              <a:pPr algn="ctr">
                <a:spcAft>
                  <a:spcPct val="0"/>
                </a:spcAft>
                <a:buSzTx/>
                <a:buFontTx/>
                <a:buNone/>
                <a:defRPr/>
              </a:pPr>
              <a:r>
                <a:rPr lang="zh-CN" altLang="en-US" sz="2600" dirty="0">
                  <a:solidFill>
                    <a:srgbClr val="FFFF00"/>
                  </a:solidFill>
                  <a:effectLst/>
                  <a:latin typeface="微软雅黑" pitchFamily="34" charset="-122"/>
                  <a:ea typeface="微软雅黑" pitchFamily="34" charset="-122"/>
                </a:rPr>
                <a:t>功能测试</a:t>
              </a:r>
            </a:p>
            <a:p>
              <a:pPr algn="ctr">
                <a:spcAft>
                  <a:spcPct val="0"/>
                </a:spcAft>
                <a:buSzTx/>
                <a:buFontTx/>
                <a:buNone/>
                <a:defRPr/>
              </a:pPr>
              <a:r>
                <a:rPr lang="zh-CN" altLang="en-US" sz="2600" dirty="0">
                  <a:solidFill>
                    <a:srgbClr val="FFFF00"/>
                  </a:solidFill>
                  <a:effectLst/>
                  <a:latin typeface="微软雅黑" pitchFamily="34" charset="-122"/>
                  <a:ea typeface="微软雅黑" pitchFamily="34" charset="-122"/>
                </a:rPr>
                <a:t>性能测试</a:t>
              </a:r>
            </a:p>
            <a:p>
              <a:pPr algn="ctr">
                <a:spcAft>
                  <a:spcPct val="0"/>
                </a:spcAft>
                <a:buSzTx/>
                <a:buFontTx/>
                <a:buNone/>
                <a:defRPr/>
              </a:pPr>
              <a:r>
                <a:rPr lang="zh-CN" altLang="en-US" sz="2600" dirty="0">
                  <a:solidFill>
                    <a:srgbClr val="FFFF00"/>
                  </a:solidFill>
                  <a:effectLst/>
                  <a:latin typeface="微软雅黑" pitchFamily="34" charset="-122"/>
                  <a:ea typeface="微软雅黑" pitchFamily="34" charset="-122"/>
                </a:rPr>
                <a:t>其它测试</a:t>
              </a:r>
            </a:p>
          </p:txBody>
        </p:sp>
        <p:sp>
          <p:nvSpPr>
            <p:cNvPr id="36" name="AutoShape 19">
              <a:extLst>
                <a:ext uri="{FF2B5EF4-FFF2-40B4-BE49-F238E27FC236}">
                  <a16:creationId xmlns:a16="http://schemas.microsoft.com/office/drawing/2014/main" id="{B2429066-80AC-4894-AA91-80321024065B}"/>
                </a:ext>
              </a:extLst>
            </p:cNvPr>
            <p:cNvSpPr>
              <a:spLocks noChangeArrowheads="1"/>
            </p:cNvSpPr>
            <p:nvPr/>
          </p:nvSpPr>
          <p:spPr bwMode="auto">
            <a:xfrm>
              <a:off x="4614863" y="1176933"/>
              <a:ext cx="976312" cy="861184"/>
            </a:xfrm>
            <a:prstGeom prst="wedgeRoundRectCallout">
              <a:avLst>
                <a:gd name="adj1" fmla="val 42604"/>
                <a:gd name="adj2" fmla="val 66673"/>
                <a:gd name="adj3" fmla="val 16667"/>
              </a:avLst>
            </a:prstGeom>
            <a:solidFill>
              <a:srgbClr val="3333FF"/>
            </a:solidFill>
            <a:ln w="12700" cap="sq" algn="ctr">
              <a:solidFill>
                <a:schemeClr val="tx1"/>
              </a:solidFill>
              <a:miter lim="800000"/>
              <a:headEnd/>
              <a:tailEnd/>
            </a:ln>
            <a:effectLst>
              <a:outerShdw dist="107763" dir="2700000" algn="ctr" rotWithShape="0">
                <a:schemeClr val="bg2">
                  <a:alpha val="50000"/>
                </a:schemeClr>
              </a:outerShdw>
            </a:effectLst>
          </p:spPr>
          <p:txBody>
            <a:bodyPr wrap="square" lIns="0" tIns="0" rIns="0" bIns="0">
              <a:spAutoFit/>
            </a:bodyPr>
            <a:lstStyle/>
            <a:p>
              <a:pPr algn="ctr">
                <a:spcAft>
                  <a:spcPct val="0"/>
                </a:spcAft>
                <a:buSzTx/>
                <a:buFontTx/>
                <a:buNone/>
                <a:defRPr/>
              </a:pPr>
              <a:r>
                <a:rPr lang="zh-CN" altLang="en-US" sz="2600" dirty="0">
                  <a:solidFill>
                    <a:srgbClr val="FFFF00"/>
                  </a:solidFill>
                  <a:effectLst/>
                  <a:latin typeface="微软雅黑" pitchFamily="34" charset="-122"/>
                  <a:ea typeface="微软雅黑" pitchFamily="34" charset="-122"/>
                </a:rPr>
                <a:t>输入</a:t>
              </a:r>
              <a:endParaRPr lang="en-US" altLang="zh-CN" sz="2600" dirty="0">
                <a:solidFill>
                  <a:srgbClr val="FFFF00"/>
                </a:solidFill>
                <a:effectLst/>
                <a:latin typeface="微软雅黑" pitchFamily="34" charset="-122"/>
                <a:ea typeface="微软雅黑" pitchFamily="34" charset="-122"/>
              </a:endParaRPr>
            </a:p>
            <a:p>
              <a:pPr algn="ctr">
                <a:spcAft>
                  <a:spcPct val="0"/>
                </a:spcAft>
                <a:buSzTx/>
                <a:buFontTx/>
                <a:buNone/>
                <a:defRPr/>
              </a:pPr>
              <a:r>
                <a:rPr lang="zh-CN" altLang="en-US" sz="2600" dirty="0">
                  <a:solidFill>
                    <a:srgbClr val="FFFF00"/>
                  </a:solidFill>
                  <a:effectLst/>
                  <a:latin typeface="微软雅黑" pitchFamily="34" charset="-122"/>
                  <a:ea typeface="微软雅黑" pitchFamily="34" charset="-122"/>
                </a:rPr>
                <a:t>校验</a:t>
              </a:r>
            </a:p>
          </p:txBody>
        </p:sp>
      </p:grpSp>
    </p:spTree>
  </p:cSld>
  <p:clrMapOvr>
    <a:masterClrMapping/>
  </p:clrMapOvr>
  <p:transition spd="med">
    <p:random/>
    <p:sndAc>
      <p:stSnd>
        <p:snd r:embed="rId2" name="arrow.wav"/>
      </p:stSnd>
    </p:sndAc>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type="title"/>
          </p:nvPr>
        </p:nvSpPr>
        <p:spPr>
          <a:xfrm>
            <a:off x="767408" y="41299"/>
            <a:ext cx="3223172"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pPr>
            <a:r>
              <a:rPr kumimoji="1" lang="zh-CN" altLang="zh-CN" sz="4000" b="1" kern="1200" dirty="0">
                <a:solidFill>
                  <a:srgbClr val="FFFFCC"/>
                </a:solidFill>
                <a:effectLst>
                  <a:outerShdw blurRad="38100" dist="38100" dir="2700000" algn="tl">
                    <a:srgbClr val="000000"/>
                  </a:outerShdw>
                </a:effectLst>
                <a:latin typeface="Arial" pitchFamily="34" charset="0"/>
              </a:rPr>
              <a:t>数据库</a:t>
            </a:r>
            <a:r>
              <a:rPr kumimoji="1" lang="zh-CN" altLang="en-US" sz="4000" b="1" kern="1200" dirty="0">
                <a:solidFill>
                  <a:srgbClr val="FFFFCC"/>
                </a:solidFill>
                <a:effectLst>
                  <a:outerShdw blurRad="38100" dist="38100" dir="2700000" algn="tl">
                    <a:srgbClr val="000000"/>
                  </a:outerShdw>
                </a:effectLst>
                <a:latin typeface="Arial" pitchFamily="34" charset="0"/>
              </a:rPr>
              <a:t>的实施</a:t>
            </a:r>
            <a:endParaRPr kumimoji="1" lang="en-US" altLang="zh-CN" sz="4000" b="1" kern="1200" dirty="0">
              <a:solidFill>
                <a:srgbClr val="FFFFCC"/>
              </a:solidFill>
              <a:effectLst>
                <a:outerShdw blurRad="38100" dist="38100" dir="2700000" algn="tl">
                  <a:srgbClr val="000000"/>
                </a:outerShdw>
              </a:effectLst>
              <a:latin typeface="Arial" pitchFamily="34" charset="0"/>
            </a:endParaRPr>
          </a:p>
        </p:txBody>
      </p:sp>
      <p:sp>
        <p:nvSpPr>
          <p:cNvPr id="37" name="文本框 36">
            <a:extLst>
              <a:ext uri="{FF2B5EF4-FFF2-40B4-BE49-F238E27FC236}">
                <a16:creationId xmlns:a16="http://schemas.microsoft.com/office/drawing/2014/main" id="{29B303CC-77C2-4E2B-8A24-17778867A6A1}"/>
              </a:ext>
            </a:extLst>
          </p:cNvPr>
          <p:cNvSpPr txBox="1"/>
          <p:nvPr/>
        </p:nvSpPr>
        <p:spPr>
          <a:xfrm>
            <a:off x="767408" y="837289"/>
            <a:ext cx="8280920" cy="760959"/>
          </a:xfrm>
          <a:prstGeom prst="rect">
            <a:avLst/>
          </a:prstGeom>
        </p:spPr>
        <p:txBody>
          <a:bodyPr wrap="square"/>
          <a:lstStyle>
            <a:defPPr>
              <a:defRPr lang="en-US"/>
            </a:defPPr>
            <a:lvl1pPr eaLnBrk="1" hangingPunct="1">
              <a:spcAft>
                <a:spcPct val="0"/>
              </a:spcAft>
              <a:buNone/>
              <a:defRPr>
                <a:solidFill>
                  <a:srgbClr val="FF9900"/>
                </a:solidFill>
                <a:latin typeface="微软雅黑" pitchFamily="34" charset="-122"/>
                <a:ea typeface="微软雅黑" pitchFamily="34" charset="-122"/>
                <a:cs typeface="+mj-cs"/>
              </a:defRPr>
            </a:lvl1pPr>
            <a:lvl2pPr eaLnBrk="0" hangingPunct="0">
              <a:spcAft>
                <a:spcPct val="0"/>
              </a:spcAft>
              <a:defRPr sz="3000">
                <a:solidFill>
                  <a:srgbClr val="FF9900"/>
                </a:solidFill>
                <a:latin typeface="方正姚体" pitchFamily="2" charset="-122"/>
                <a:ea typeface="方正姚体" pitchFamily="2" charset="-122"/>
              </a:defRPr>
            </a:lvl2pPr>
            <a:lvl3pPr eaLnBrk="0" hangingPunct="0">
              <a:spcAft>
                <a:spcPct val="0"/>
              </a:spcAft>
              <a:defRPr sz="3000">
                <a:solidFill>
                  <a:srgbClr val="FF9900"/>
                </a:solidFill>
                <a:latin typeface="方正姚体" pitchFamily="2" charset="-122"/>
                <a:ea typeface="方正姚体" pitchFamily="2" charset="-122"/>
              </a:defRPr>
            </a:lvl3pPr>
            <a:lvl4pPr eaLnBrk="0" hangingPunct="0">
              <a:spcAft>
                <a:spcPct val="0"/>
              </a:spcAft>
              <a:defRPr sz="3000">
                <a:solidFill>
                  <a:srgbClr val="FF9900"/>
                </a:solidFill>
                <a:latin typeface="方正姚体" pitchFamily="2" charset="-122"/>
                <a:ea typeface="方正姚体" pitchFamily="2" charset="-122"/>
              </a:defRPr>
            </a:lvl4pPr>
            <a:lvl5pPr eaLnBrk="0" hangingPunct="0">
              <a:spcAft>
                <a:spcPct val="0"/>
              </a:spcAft>
              <a:defRPr sz="3000">
                <a:solidFill>
                  <a:srgbClr val="FF9900"/>
                </a:solidFill>
                <a:latin typeface="方正姚体" pitchFamily="2" charset="-122"/>
                <a:ea typeface="方正姚体" pitchFamily="2" charset="-122"/>
              </a:defRPr>
            </a:lvl5pPr>
            <a:lvl6pPr marL="457200" fontAlgn="base">
              <a:spcBef>
                <a:spcPct val="0"/>
              </a:spcBef>
              <a:spcAft>
                <a:spcPct val="0"/>
              </a:spcAft>
              <a:defRPr sz="3000">
                <a:solidFill>
                  <a:srgbClr val="FF9900"/>
                </a:solidFill>
                <a:latin typeface="方正姚体" pitchFamily="2" charset="-122"/>
                <a:ea typeface="方正姚体" pitchFamily="2" charset="-122"/>
              </a:defRPr>
            </a:lvl6pPr>
            <a:lvl7pPr marL="914400" fontAlgn="base">
              <a:spcBef>
                <a:spcPct val="0"/>
              </a:spcBef>
              <a:spcAft>
                <a:spcPct val="0"/>
              </a:spcAft>
              <a:defRPr sz="3000">
                <a:solidFill>
                  <a:srgbClr val="FF9900"/>
                </a:solidFill>
                <a:latin typeface="方正姚体" pitchFamily="2" charset="-122"/>
                <a:ea typeface="方正姚体" pitchFamily="2" charset="-122"/>
              </a:defRPr>
            </a:lvl7pPr>
            <a:lvl8pPr marL="1371600" fontAlgn="base">
              <a:spcBef>
                <a:spcPct val="0"/>
              </a:spcBef>
              <a:spcAft>
                <a:spcPct val="0"/>
              </a:spcAft>
              <a:defRPr sz="3000">
                <a:solidFill>
                  <a:srgbClr val="FF9900"/>
                </a:solidFill>
                <a:latin typeface="方正姚体" pitchFamily="2" charset="-122"/>
                <a:ea typeface="方正姚体" pitchFamily="2" charset="-122"/>
              </a:defRPr>
            </a:lvl8pPr>
            <a:lvl9pPr marL="1828800" fontAlgn="base">
              <a:spcBef>
                <a:spcPct val="0"/>
              </a:spcBef>
              <a:spcAft>
                <a:spcPct val="0"/>
              </a:spcAft>
              <a:defRPr sz="3000">
                <a:solidFill>
                  <a:srgbClr val="FF9900"/>
                </a:solidFill>
                <a:latin typeface="方正姚体" pitchFamily="2" charset="-122"/>
                <a:ea typeface="方正姚体" pitchFamily="2" charset="-122"/>
              </a:defRPr>
            </a:lvl9pPr>
          </a:lstStyle>
          <a:p>
            <a:r>
              <a:rPr lang="zh-CN" altLang="en-US" dirty="0"/>
              <a:t>定义数据库的脚本示例</a:t>
            </a:r>
          </a:p>
          <a:p>
            <a:endParaRPr lang="en-US" altLang="zh-CN" dirty="0"/>
          </a:p>
        </p:txBody>
      </p:sp>
      <p:grpSp>
        <p:nvGrpSpPr>
          <p:cNvPr id="2" name="组合 1">
            <a:extLst>
              <a:ext uri="{FF2B5EF4-FFF2-40B4-BE49-F238E27FC236}">
                <a16:creationId xmlns:a16="http://schemas.microsoft.com/office/drawing/2014/main" id="{A40BAB34-BA54-4E60-AE22-AD41C9E3B548}"/>
              </a:ext>
            </a:extLst>
          </p:cNvPr>
          <p:cNvGrpSpPr/>
          <p:nvPr/>
        </p:nvGrpSpPr>
        <p:grpSpPr>
          <a:xfrm>
            <a:off x="623391" y="1700808"/>
            <a:ext cx="10950760" cy="4681878"/>
            <a:chOff x="705953" y="1700369"/>
            <a:chExt cx="7413849" cy="3169710"/>
          </a:xfrm>
        </p:grpSpPr>
        <p:pic>
          <p:nvPicPr>
            <p:cNvPr id="38" name="图片 37">
              <a:extLst>
                <a:ext uri="{FF2B5EF4-FFF2-40B4-BE49-F238E27FC236}">
                  <a16:creationId xmlns:a16="http://schemas.microsoft.com/office/drawing/2014/main" id="{FF4B1CDE-3487-4E4A-A575-C4A1FFBDC4F9}"/>
                </a:ext>
              </a:extLst>
            </p:cNvPr>
            <p:cNvPicPr>
              <a:picLocks noChangeAspect="1"/>
            </p:cNvPicPr>
            <p:nvPr/>
          </p:nvPicPr>
          <p:blipFill>
            <a:blip r:embed="rId3"/>
            <a:stretch>
              <a:fillRect/>
            </a:stretch>
          </p:blipFill>
          <p:spPr>
            <a:xfrm>
              <a:off x="705953" y="1700369"/>
              <a:ext cx="3622884" cy="3168352"/>
            </a:xfrm>
            <a:prstGeom prst="rect">
              <a:avLst/>
            </a:prstGeom>
            <a:ln w="57150" cap="sq">
              <a:solidFill>
                <a:srgbClr val="92D050"/>
              </a:solidFill>
              <a:prstDash val="solid"/>
              <a:miter lim="800000"/>
            </a:ln>
            <a:effectLst>
              <a:outerShdw blurRad="50800" dist="38100" dir="2700000" algn="tl" rotWithShape="0">
                <a:srgbClr val="000000">
                  <a:alpha val="43000"/>
                </a:srgbClr>
              </a:outerShdw>
            </a:effectLst>
          </p:spPr>
        </p:pic>
        <p:pic>
          <p:nvPicPr>
            <p:cNvPr id="39" name="图片 38">
              <a:extLst>
                <a:ext uri="{FF2B5EF4-FFF2-40B4-BE49-F238E27FC236}">
                  <a16:creationId xmlns:a16="http://schemas.microsoft.com/office/drawing/2014/main" id="{EF4460D5-2B6E-4F91-8F4D-C6CAC1F98CA8}"/>
                </a:ext>
              </a:extLst>
            </p:cNvPr>
            <p:cNvPicPr>
              <a:picLocks noChangeAspect="1"/>
            </p:cNvPicPr>
            <p:nvPr/>
          </p:nvPicPr>
          <p:blipFill>
            <a:blip r:embed="rId4"/>
            <a:stretch>
              <a:fillRect/>
            </a:stretch>
          </p:blipFill>
          <p:spPr>
            <a:xfrm>
              <a:off x="4626799" y="1701727"/>
              <a:ext cx="3493003" cy="3168352"/>
            </a:xfrm>
            <a:prstGeom prst="rect">
              <a:avLst/>
            </a:prstGeom>
            <a:ln w="57150" cap="sq">
              <a:solidFill>
                <a:srgbClr val="92D050"/>
              </a:solidFill>
              <a:prstDash val="solid"/>
              <a:miter lim="800000"/>
            </a:ln>
            <a:effectLst>
              <a:outerShdw blurRad="50800" dist="38100" dir="2700000" algn="tl" rotWithShape="0">
                <a:srgbClr val="000000">
                  <a:alpha val="43000"/>
                </a:srgbClr>
              </a:outerShdw>
            </a:effectLst>
          </p:spPr>
        </p:pic>
      </p:grpSp>
    </p:spTree>
    <p:extLst>
      <p:ext uri="{BB962C8B-B14F-4D97-AF65-F5344CB8AC3E}">
        <p14:creationId xmlns:p14="http://schemas.microsoft.com/office/powerpoint/2010/main" val="1915656998"/>
      </p:ext>
    </p:extLst>
  </p:cSld>
  <p:clrMapOvr>
    <a:masterClrMapping/>
  </p:clrMapOvr>
  <p:transition spd="med">
    <p:random/>
    <p:sndAc>
      <p:stSnd>
        <p:snd r:embed="rId2" name="arrow.wav"/>
      </p:stSnd>
    </p:sndAc>
  </p:transition>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91906" name="Rectangle 2"/>
          <p:cNvSpPr>
            <a:spLocks noGrp="1" noChangeArrowheads="1"/>
          </p:cNvSpPr>
          <p:nvPr>
            <p:ph type="ctrTitle"/>
          </p:nvPr>
        </p:nvSpPr>
        <p:spPr>
          <a:xfrm>
            <a:off x="767408" y="188640"/>
            <a:ext cx="5109091" cy="584775"/>
          </a:xfrm>
        </p:spPr>
        <p:txBody>
          <a:bodyPr/>
          <a:lstStyle/>
          <a:p>
            <a:r>
              <a:rPr lang="zh-CN" altLang="en-US" dirty="0"/>
              <a:t>数据库的运行和维护</a:t>
            </a:r>
          </a:p>
        </p:txBody>
      </p:sp>
      <p:sp>
        <p:nvSpPr>
          <p:cNvPr id="891907" name="Rectangle 3"/>
          <p:cNvSpPr>
            <a:spLocks noGrp="1" noChangeArrowheads="1"/>
          </p:cNvSpPr>
          <p:nvPr>
            <p:ph type="subTitle" idx="1"/>
          </p:nvPr>
        </p:nvSpPr>
        <p:spPr>
          <a:xfrm>
            <a:off x="407368" y="980728"/>
            <a:ext cx="11593288" cy="4176464"/>
          </a:xfrm>
        </p:spPr>
        <p:txBody>
          <a:bodyPr/>
          <a:lstStyle/>
          <a:p>
            <a:pPr algn="l">
              <a:lnSpc>
                <a:spcPct val="150000"/>
              </a:lnSpc>
            </a:pPr>
            <a:r>
              <a:rPr lang="zh-CN" altLang="en-US" sz="3200" dirty="0"/>
              <a:t>数据库试运行结果符合设计目标后，数据库就投入正式运行，进入运行和维护阶段。</a:t>
            </a:r>
          </a:p>
          <a:p>
            <a:pPr algn="l">
              <a:lnSpc>
                <a:spcPct val="150000"/>
              </a:lnSpc>
            </a:pPr>
            <a:r>
              <a:rPr lang="zh-CN" altLang="en-US" sz="3200" dirty="0"/>
              <a:t>数据库系统投入正式运行，标志着数据库应用开发工作的基本结束，但并不意味着设计过程己经结束。由于应用环境不断发生变化，用户的需求和处理方法不断发展，数据库在运行过程中的存储结构也会不断变化，从而必须修改和扩充相应的应用程序。</a:t>
            </a:r>
          </a:p>
        </p:txBody>
      </p:sp>
    </p:spTree>
    <p:extLst>
      <p:ext uri="{BB962C8B-B14F-4D97-AF65-F5344CB8AC3E}">
        <p14:creationId xmlns:p14="http://schemas.microsoft.com/office/powerpoint/2010/main" val="3652644520"/>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92931" name="Rectangle 3"/>
          <p:cNvSpPr>
            <a:spLocks noGrp="1" noChangeArrowheads="1"/>
          </p:cNvSpPr>
          <p:nvPr>
            <p:ph type="subTitle" idx="1"/>
          </p:nvPr>
        </p:nvSpPr>
        <p:spPr>
          <a:xfrm>
            <a:off x="551384" y="692696"/>
            <a:ext cx="11377264" cy="3528392"/>
          </a:xfrm>
        </p:spPr>
        <p:txBody>
          <a:bodyPr/>
          <a:lstStyle/>
          <a:p>
            <a:pPr algn="l">
              <a:lnSpc>
                <a:spcPct val="150000"/>
              </a:lnSpc>
            </a:pPr>
            <a:r>
              <a:rPr lang="zh-CN" altLang="en-US" sz="3200"/>
              <a:t>数据库运行和维护阶段的主要任务包括以下三项内容：</a:t>
            </a:r>
          </a:p>
          <a:p>
            <a:pPr algn="l">
              <a:lnSpc>
                <a:spcPct val="150000"/>
              </a:lnSpc>
              <a:buFontTx/>
              <a:buNone/>
            </a:pPr>
            <a:r>
              <a:rPr lang="zh-CN" altLang="en-US" sz="3200"/>
              <a:t>一、维护数据库的安全性与完整性</a:t>
            </a:r>
          </a:p>
          <a:p>
            <a:pPr algn="l">
              <a:lnSpc>
                <a:spcPct val="150000"/>
              </a:lnSpc>
            </a:pPr>
            <a:r>
              <a:rPr lang="zh-CN" altLang="en-US" sz="3200"/>
              <a:t>按照设计阶段提供的安全规范和故障恢复规范，</a:t>
            </a:r>
            <a:r>
              <a:rPr lang="en-US" altLang="zh-CN" sz="3200"/>
              <a:t>DBA</a:t>
            </a:r>
            <a:r>
              <a:rPr lang="zh-CN" altLang="en-US" sz="3200"/>
              <a:t>要经常检查系统的安全是否受到侵犯，根据用户的实际需要授予用户不同的操作权限。</a:t>
            </a:r>
          </a:p>
        </p:txBody>
      </p:sp>
    </p:spTree>
    <p:extLst>
      <p:ext uri="{BB962C8B-B14F-4D97-AF65-F5344CB8AC3E}">
        <p14:creationId xmlns:p14="http://schemas.microsoft.com/office/powerpoint/2010/main" val="2194476390"/>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93955" name="Rectangle 3"/>
          <p:cNvSpPr>
            <a:spLocks noGrp="1" noChangeArrowheads="1"/>
          </p:cNvSpPr>
          <p:nvPr>
            <p:ph type="subTitle" idx="1"/>
          </p:nvPr>
        </p:nvSpPr>
        <p:spPr>
          <a:xfrm>
            <a:off x="623392" y="620688"/>
            <a:ext cx="10945216" cy="3744416"/>
          </a:xfrm>
        </p:spPr>
        <p:txBody>
          <a:bodyPr/>
          <a:lstStyle/>
          <a:p>
            <a:pPr algn="l">
              <a:lnSpc>
                <a:spcPct val="150000"/>
              </a:lnSpc>
              <a:buFontTx/>
              <a:buNone/>
            </a:pPr>
            <a:r>
              <a:rPr lang="zh-CN" altLang="en-US" sz="3200" dirty="0"/>
              <a:t>二、监测并改善数据库性能</a:t>
            </a:r>
          </a:p>
          <a:p>
            <a:pPr algn="l">
              <a:lnSpc>
                <a:spcPct val="150000"/>
              </a:lnSpc>
            </a:pPr>
            <a:r>
              <a:rPr lang="zh-CN" altLang="en-US" sz="3200" dirty="0"/>
              <a:t>目前许多</a:t>
            </a:r>
            <a:r>
              <a:rPr lang="en-US" altLang="zh-CN" sz="3200" dirty="0"/>
              <a:t>DBMS</a:t>
            </a:r>
            <a:r>
              <a:rPr lang="zh-CN" altLang="en-US" sz="3200" dirty="0"/>
              <a:t>产品都提供了监测系统性能参数的工具，</a:t>
            </a:r>
            <a:r>
              <a:rPr lang="en-US" altLang="zh-CN" sz="3200" dirty="0"/>
              <a:t>DBA</a:t>
            </a:r>
            <a:r>
              <a:rPr lang="zh-CN" altLang="en-US" sz="3200" dirty="0"/>
              <a:t>可以利用系统提供的这些工具，经常对数据库的存储空间状况及响应时间进行分析评价，结合用户的反应情况确定改进措施；及时改正运行中发现的错误，按用户的要求对数据库的现有功能进行适当的扩充。但要注意在增加新功能时应保证原有功能和性能不受损害。</a:t>
            </a:r>
          </a:p>
        </p:txBody>
      </p:sp>
    </p:spTree>
    <p:extLst>
      <p:ext uri="{BB962C8B-B14F-4D97-AF65-F5344CB8AC3E}">
        <p14:creationId xmlns:p14="http://schemas.microsoft.com/office/powerpoint/2010/main" val="3819671679"/>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94979" name="Rectangle 3"/>
          <p:cNvSpPr>
            <a:spLocks noGrp="1" noChangeArrowheads="1"/>
          </p:cNvSpPr>
          <p:nvPr>
            <p:ph type="subTitle" idx="1"/>
          </p:nvPr>
        </p:nvSpPr>
        <p:spPr>
          <a:xfrm>
            <a:off x="551384" y="836712"/>
            <a:ext cx="11017224" cy="3816424"/>
          </a:xfrm>
        </p:spPr>
        <p:txBody>
          <a:bodyPr/>
          <a:lstStyle/>
          <a:p>
            <a:pPr algn="l">
              <a:lnSpc>
                <a:spcPct val="150000"/>
              </a:lnSpc>
              <a:buFontTx/>
              <a:buNone/>
            </a:pPr>
            <a:r>
              <a:rPr lang="zh-CN" altLang="en-US" sz="3200" dirty="0"/>
              <a:t>三、重新组织和构造数据库</a:t>
            </a:r>
          </a:p>
          <a:p>
            <a:pPr algn="l">
              <a:lnSpc>
                <a:spcPct val="150000"/>
              </a:lnSpc>
            </a:pPr>
            <a:r>
              <a:rPr lang="zh-CN" altLang="en-US" sz="3200" dirty="0"/>
              <a:t>数据库运行一段时间后，由于记录的不断增加、删除和修改，会改变数据库的物理存储结构，使数据库的物理特性受到破坏，从而降低数据库存储空间的利用率和数据的存取效率，使数据库的性能下降。因此，需要对数据库进行重新组织，即重新安排数据的存储位置，回收垃圾，减少指针链，改进数据库的响应时间和空间利用率，提高系统性能。</a:t>
            </a:r>
          </a:p>
        </p:txBody>
      </p:sp>
    </p:spTree>
    <p:extLst>
      <p:ext uri="{BB962C8B-B14F-4D97-AF65-F5344CB8AC3E}">
        <p14:creationId xmlns:p14="http://schemas.microsoft.com/office/powerpoint/2010/main" val="3118174594"/>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896003" name="Rectangle 3"/>
          <p:cNvSpPr>
            <a:spLocks noGrp="1" noChangeArrowheads="1"/>
          </p:cNvSpPr>
          <p:nvPr>
            <p:ph type="subTitle" idx="1"/>
          </p:nvPr>
        </p:nvSpPr>
        <p:spPr>
          <a:xfrm>
            <a:off x="335360" y="548680"/>
            <a:ext cx="11784632" cy="4032448"/>
          </a:xfrm>
        </p:spPr>
        <p:txBody>
          <a:bodyPr/>
          <a:lstStyle/>
          <a:p>
            <a:pPr lvl="1" algn="l">
              <a:lnSpc>
                <a:spcPct val="150000"/>
              </a:lnSpc>
              <a:buFontTx/>
              <a:buNone/>
            </a:pPr>
            <a:r>
              <a:rPr lang="en-US" altLang="zh-CN" sz="2400" dirty="0"/>
              <a:t>1</a:t>
            </a:r>
            <a:r>
              <a:rPr lang="zh-CN" altLang="en-US" sz="2400" dirty="0"/>
              <a:t>、数据库的重组</a:t>
            </a:r>
          </a:p>
          <a:p>
            <a:pPr lvl="1" algn="l">
              <a:lnSpc>
                <a:spcPct val="150000"/>
              </a:lnSpc>
            </a:pPr>
            <a:r>
              <a:rPr lang="zh-CN" altLang="en-US" sz="2400" dirty="0"/>
              <a:t>数据库的重组只是使数据库的物理存储结构发生变化，而数据库的逻辑结构不变，只是为了提高系统的性能。</a:t>
            </a:r>
          </a:p>
          <a:p>
            <a:pPr lvl="1" algn="l">
              <a:lnSpc>
                <a:spcPct val="150000"/>
              </a:lnSpc>
              <a:buFontTx/>
              <a:buNone/>
            </a:pPr>
            <a:r>
              <a:rPr lang="en-US" altLang="zh-CN" sz="2400" dirty="0"/>
              <a:t>2</a:t>
            </a:r>
            <a:r>
              <a:rPr lang="zh-CN" altLang="en-US" sz="2400" dirty="0"/>
              <a:t>、数据库的重构</a:t>
            </a:r>
          </a:p>
          <a:p>
            <a:pPr lvl="1" algn="l">
              <a:lnSpc>
                <a:spcPct val="150000"/>
              </a:lnSpc>
            </a:pPr>
            <a:r>
              <a:rPr lang="zh-CN" altLang="en-US" sz="2400" dirty="0"/>
              <a:t>数据库应用环境的变化可能导致数据库的逻辑结构发生变化，这样使原有的数据库设计不能满足新的要求，必须对原来的数据库重新构造，适当调整数据库的模式和内模式。</a:t>
            </a:r>
          </a:p>
          <a:p>
            <a:pPr lvl="1" algn="l">
              <a:lnSpc>
                <a:spcPct val="150000"/>
              </a:lnSpc>
            </a:pPr>
            <a:r>
              <a:rPr lang="en-US" altLang="zh-CN" sz="2400" dirty="0"/>
              <a:t>DBMS</a:t>
            </a:r>
            <a:r>
              <a:rPr lang="zh-CN" altLang="en-US" sz="2400" dirty="0"/>
              <a:t>一般都提供了重新组织和构造数据库的应用程序，以帮助</a:t>
            </a:r>
            <a:r>
              <a:rPr lang="en-US" altLang="zh-CN" sz="2400" dirty="0"/>
              <a:t>DBA</a:t>
            </a:r>
            <a:r>
              <a:rPr lang="zh-CN" altLang="en-US" sz="2400" dirty="0"/>
              <a:t>完成数据库的重组和重构工作。</a:t>
            </a:r>
          </a:p>
        </p:txBody>
      </p:sp>
    </p:spTree>
    <p:extLst>
      <p:ext uri="{BB962C8B-B14F-4D97-AF65-F5344CB8AC3E}">
        <p14:creationId xmlns:p14="http://schemas.microsoft.com/office/powerpoint/2010/main" val="1721638118"/>
      </p:ext>
    </p:extLst>
  </p:cSld>
  <p:clrMapOvr>
    <a:overrideClrMapping bg1="dk2" tx1="lt1" bg2="dk1" tx2="lt2" accent1="accent1" accent2="accent2" accent3="accent3" accent4="accent4" accent5="accent5" accent6="accent6" hlink="hlink" folHlink="folHlink"/>
  </p:clrMapOvr>
  <p:transition spd="med">
    <p:random/>
    <p:sndAc>
      <p:stSnd>
        <p:snd r:embed="rId3" name="arrow.wav"/>
      </p:stSnd>
    </p:sndAc>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5">
            <a:extLst>
              <a:ext uri="{FF2B5EF4-FFF2-40B4-BE49-F238E27FC236}">
                <a16:creationId xmlns:a16="http://schemas.microsoft.com/office/drawing/2014/main" id="{F5FD40B0-E098-4B3D-8385-B2F701788AA0}"/>
              </a:ext>
            </a:extLst>
          </p:cNvPr>
          <p:cNvSpPr>
            <a:spLocks noChangeArrowheads="1"/>
          </p:cNvSpPr>
          <p:nvPr/>
        </p:nvSpPr>
        <p:spPr bwMode="auto">
          <a:xfrm>
            <a:off x="7287352" y="1186003"/>
            <a:ext cx="2652473" cy="784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lIns="0" tIns="0" rIns="0" bIns="0">
            <a:spAutoFit/>
          </a:bodyPr>
          <a:lstStyle/>
          <a:p>
            <a:pPr algn="ctr">
              <a:spcAft>
                <a:spcPct val="0"/>
              </a:spcAft>
              <a:buSzTx/>
              <a:buFontTx/>
              <a:buNone/>
            </a:pPr>
            <a:r>
              <a:rPr lang="zh-CN" altLang="en-US" sz="2800" dirty="0">
                <a:effectLst/>
                <a:latin typeface="微软雅黑" panose="020B0503020204020204" pitchFamily="34" charset="-122"/>
                <a:ea typeface="微软雅黑" panose="020B0503020204020204" pitchFamily="34" charset="-122"/>
              </a:rPr>
              <a:t>数据库管理员</a:t>
            </a:r>
          </a:p>
          <a:p>
            <a:pPr algn="ctr">
              <a:spcAft>
                <a:spcPct val="0"/>
              </a:spcAft>
              <a:buSzTx/>
              <a:buFontTx/>
              <a:buNone/>
            </a:pPr>
            <a:r>
              <a:rPr lang="en-US" altLang="zh-CN" sz="2800" dirty="0">
                <a:effectLst/>
                <a:latin typeface="微软雅黑" panose="020B0503020204020204" pitchFamily="34" charset="-122"/>
                <a:ea typeface="微软雅黑" panose="020B0503020204020204" pitchFamily="34" charset="-122"/>
              </a:rPr>
              <a:t>DBA</a:t>
            </a:r>
          </a:p>
        </p:txBody>
      </p:sp>
      <p:sp>
        <p:nvSpPr>
          <p:cNvPr id="22" name="AutoShape 6">
            <a:extLst>
              <a:ext uri="{FF2B5EF4-FFF2-40B4-BE49-F238E27FC236}">
                <a16:creationId xmlns:a16="http://schemas.microsoft.com/office/drawing/2014/main" id="{6DF0F96A-C7CD-46CB-9CFF-269155155E34}"/>
              </a:ext>
            </a:extLst>
          </p:cNvPr>
          <p:cNvSpPr>
            <a:spLocks noChangeArrowheads="1"/>
          </p:cNvSpPr>
          <p:nvPr/>
        </p:nvSpPr>
        <p:spPr bwMode="auto">
          <a:xfrm>
            <a:off x="4885732" y="5283062"/>
            <a:ext cx="2368279" cy="936720"/>
          </a:xfrm>
          <a:prstGeom prst="can">
            <a:avLst>
              <a:gd name="adj" fmla="val 29736"/>
            </a:avLst>
          </a:prstGeom>
          <a:solidFill>
            <a:srgbClr val="FFC000"/>
          </a:solidFill>
          <a:ln w="12700" cap="sq">
            <a:solidFill>
              <a:srgbClr val="000000"/>
            </a:solidFill>
            <a:round/>
            <a:headEnd/>
            <a:tailEnd/>
          </a:ln>
          <a:effectLst/>
        </p:spPr>
        <p:txBody>
          <a:bodyPr wrap="none" lIns="0" tIns="144000" rIns="0" bIns="0" anchor="ctr"/>
          <a:lstStyle/>
          <a:p>
            <a:pPr algn="ctr">
              <a:spcAft>
                <a:spcPct val="0"/>
              </a:spcAft>
              <a:buSzTx/>
              <a:buFontTx/>
              <a:buNone/>
              <a:defRPr/>
            </a:pPr>
            <a:r>
              <a:rPr lang="zh-CN" altLang="en-US" sz="2800" dirty="0">
                <a:solidFill>
                  <a:srgbClr val="000000"/>
                </a:solidFill>
                <a:effectLst/>
                <a:latin typeface="微软雅黑" panose="020B0503020204020204" pitchFamily="34" charset="-122"/>
                <a:ea typeface="微软雅黑" panose="020B0503020204020204" pitchFamily="34" charset="-122"/>
              </a:rPr>
              <a:t>数据库</a:t>
            </a:r>
          </a:p>
        </p:txBody>
      </p:sp>
      <p:sp>
        <p:nvSpPr>
          <p:cNvPr id="23" name="Oval 7">
            <a:extLst>
              <a:ext uri="{FF2B5EF4-FFF2-40B4-BE49-F238E27FC236}">
                <a16:creationId xmlns:a16="http://schemas.microsoft.com/office/drawing/2014/main" id="{9E8FD569-9894-4E79-B56D-7D77736A66E6}"/>
              </a:ext>
            </a:extLst>
          </p:cNvPr>
          <p:cNvSpPr>
            <a:spLocks noChangeArrowheads="1"/>
          </p:cNvSpPr>
          <p:nvPr/>
        </p:nvSpPr>
        <p:spPr bwMode="auto">
          <a:xfrm>
            <a:off x="1001754" y="3182006"/>
            <a:ext cx="2084086" cy="1330669"/>
          </a:xfrm>
          <a:prstGeom prst="ellipse">
            <a:avLst/>
          </a:prstGeom>
          <a:solidFill>
            <a:srgbClr val="CCFFCC"/>
          </a:solidFill>
          <a:ln w="12700" cap="sq">
            <a:solidFill>
              <a:srgbClr val="000000"/>
            </a:solidFill>
            <a:round/>
            <a:headEnd/>
            <a:tailEnd/>
          </a:ln>
          <a:effectLst>
            <a:outerShdw dist="35921" dir="2700000" algn="ctr" rotWithShape="0">
              <a:schemeClr val="bg2"/>
            </a:outerShdw>
          </a:effectLst>
        </p:spPr>
        <p:txBody>
          <a:bodyPr lIns="0" tIns="0" rIns="0" bIns="0" anchor="ctr" anchorCtr="1"/>
          <a:lstStyle/>
          <a:p>
            <a:pPr algn="ctr">
              <a:spcAft>
                <a:spcPct val="0"/>
              </a:spcAft>
              <a:buSzTx/>
              <a:tabLst>
                <a:tab pos="292100" algn="l"/>
                <a:tab pos="485775" algn="l"/>
              </a:tabLst>
              <a:defRPr/>
            </a:pPr>
            <a:r>
              <a:rPr lang="zh-CN" altLang="en-US" sz="2400" dirty="0">
                <a:solidFill>
                  <a:srgbClr val="000000"/>
                </a:solidFill>
                <a:effectLst/>
                <a:latin typeface="微软雅黑" panose="020B0503020204020204" pitchFamily="34" charset="-122"/>
                <a:ea typeface="微软雅黑" panose="020B0503020204020204" pitchFamily="34" charset="-122"/>
              </a:rPr>
              <a:t>转储</a:t>
            </a:r>
          </a:p>
          <a:p>
            <a:pPr algn="ctr">
              <a:spcAft>
                <a:spcPct val="0"/>
              </a:spcAft>
              <a:buSzTx/>
              <a:tabLst>
                <a:tab pos="292100" algn="l"/>
                <a:tab pos="485775" algn="l"/>
              </a:tabLst>
              <a:defRPr/>
            </a:pPr>
            <a:r>
              <a:rPr lang="zh-CN" altLang="en-US" sz="2400" dirty="0">
                <a:solidFill>
                  <a:srgbClr val="000000"/>
                </a:solidFill>
                <a:effectLst/>
                <a:latin typeface="微软雅黑" panose="020B0503020204020204" pitchFamily="34" charset="-122"/>
                <a:ea typeface="微软雅黑" panose="020B0503020204020204" pitchFamily="34" charset="-122"/>
              </a:rPr>
              <a:t>恢复</a:t>
            </a:r>
          </a:p>
        </p:txBody>
      </p:sp>
      <p:sp>
        <p:nvSpPr>
          <p:cNvPr id="24" name="Oval 8">
            <a:extLst>
              <a:ext uri="{FF2B5EF4-FFF2-40B4-BE49-F238E27FC236}">
                <a16:creationId xmlns:a16="http://schemas.microsoft.com/office/drawing/2014/main" id="{C765B6C4-4018-4B01-8BCC-16D3A32A71DA}"/>
              </a:ext>
            </a:extLst>
          </p:cNvPr>
          <p:cNvSpPr>
            <a:spLocks noChangeArrowheads="1"/>
          </p:cNvSpPr>
          <p:nvPr/>
        </p:nvSpPr>
        <p:spPr bwMode="auto">
          <a:xfrm>
            <a:off x="3685804" y="3182006"/>
            <a:ext cx="2084086" cy="1330669"/>
          </a:xfrm>
          <a:prstGeom prst="ellipse">
            <a:avLst/>
          </a:prstGeom>
          <a:solidFill>
            <a:srgbClr val="CCFFCC"/>
          </a:solidFill>
          <a:ln w="12700" cap="sq">
            <a:solidFill>
              <a:srgbClr val="000000"/>
            </a:solidFill>
            <a:round/>
            <a:headEnd/>
            <a:tailEnd/>
          </a:ln>
          <a:effectLst>
            <a:outerShdw dist="35921" dir="2700000" algn="ctr" rotWithShape="0">
              <a:schemeClr val="bg2"/>
            </a:outerShdw>
          </a:effectLst>
        </p:spPr>
        <p:txBody>
          <a:bodyPr lIns="0" tIns="0" rIns="0" bIns="0" anchor="ctr" anchorCtr="1"/>
          <a:lstStyle/>
          <a:p>
            <a:pPr algn="ctr">
              <a:spcAft>
                <a:spcPct val="0"/>
              </a:spcAft>
              <a:buSzTx/>
              <a:tabLst>
                <a:tab pos="292100" algn="l"/>
                <a:tab pos="485775" algn="l"/>
              </a:tabLst>
              <a:defRPr/>
            </a:pPr>
            <a:r>
              <a:rPr lang="zh-CN" altLang="en-US" sz="2400">
                <a:solidFill>
                  <a:srgbClr val="000000"/>
                </a:solidFill>
                <a:effectLst/>
                <a:latin typeface="微软雅黑" panose="020B0503020204020204" pitchFamily="34" charset="-122"/>
                <a:ea typeface="微软雅黑" panose="020B0503020204020204" pitchFamily="34" charset="-122"/>
              </a:rPr>
              <a:t>安全性</a:t>
            </a:r>
          </a:p>
          <a:p>
            <a:pPr algn="ctr">
              <a:spcAft>
                <a:spcPct val="0"/>
              </a:spcAft>
              <a:buSzTx/>
              <a:tabLst>
                <a:tab pos="292100" algn="l"/>
                <a:tab pos="485775" algn="l"/>
              </a:tabLst>
              <a:defRPr/>
            </a:pPr>
            <a:r>
              <a:rPr lang="zh-CN" altLang="en-US" sz="2400">
                <a:solidFill>
                  <a:srgbClr val="000000"/>
                </a:solidFill>
                <a:effectLst/>
                <a:latin typeface="微软雅黑" panose="020B0503020204020204" pitchFamily="34" charset="-122"/>
                <a:ea typeface="微软雅黑" panose="020B0503020204020204" pitchFamily="34" charset="-122"/>
              </a:rPr>
              <a:t>完整性</a:t>
            </a:r>
          </a:p>
          <a:p>
            <a:pPr algn="ctr">
              <a:spcAft>
                <a:spcPct val="0"/>
              </a:spcAft>
              <a:buSzTx/>
              <a:tabLst>
                <a:tab pos="292100" algn="l"/>
                <a:tab pos="485775" algn="l"/>
              </a:tabLst>
              <a:defRPr/>
            </a:pPr>
            <a:r>
              <a:rPr lang="zh-CN" altLang="en-US" sz="2400">
                <a:solidFill>
                  <a:srgbClr val="000000"/>
                </a:solidFill>
                <a:effectLst/>
                <a:latin typeface="微软雅黑" panose="020B0503020204020204" pitchFamily="34" charset="-122"/>
                <a:ea typeface="微软雅黑" panose="020B0503020204020204" pitchFamily="34" charset="-122"/>
              </a:rPr>
              <a:t>控制</a:t>
            </a:r>
          </a:p>
        </p:txBody>
      </p:sp>
      <p:sp>
        <p:nvSpPr>
          <p:cNvPr id="25" name="Oval 9">
            <a:extLst>
              <a:ext uri="{FF2B5EF4-FFF2-40B4-BE49-F238E27FC236}">
                <a16:creationId xmlns:a16="http://schemas.microsoft.com/office/drawing/2014/main" id="{4C1B1A4D-FDD5-4B40-8533-1611462E4A2D}"/>
              </a:ext>
            </a:extLst>
          </p:cNvPr>
          <p:cNvSpPr>
            <a:spLocks noChangeArrowheads="1"/>
          </p:cNvSpPr>
          <p:nvPr/>
        </p:nvSpPr>
        <p:spPr bwMode="auto">
          <a:xfrm>
            <a:off x="6369854" y="3182006"/>
            <a:ext cx="2084086" cy="1330669"/>
          </a:xfrm>
          <a:prstGeom prst="ellipse">
            <a:avLst/>
          </a:prstGeom>
          <a:solidFill>
            <a:srgbClr val="CCFFCC"/>
          </a:solidFill>
          <a:ln w="12700" cap="sq">
            <a:solidFill>
              <a:srgbClr val="000000"/>
            </a:solidFill>
            <a:round/>
            <a:headEnd/>
            <a:tailEnd/>
          </a:ln>
          <a:effectLst>
            <a:outerShdw dist="35921" dir="2700000" algn="ctr" rotWithShape="0">
              <a:schemeClr val="bg2"/>
            </a:outerShdw>
          </a:effectLst>
        </p:spPr>
        <p:txBody>
          <a:bodyPr lIns="0" tIns="0" rIns="0" bIns="0" anchor="ctr" anchorCtr="1"/>
          <a:lstStyle/>
          <a:p>
            <a:pPr algn="ctr">
              <a:spcAft>
                <a:spcPct val="0"/>
              </a:spcAft>
              <a:buSzTx/>
              <a:tabLst>
                <a:tab pos="292100" algn="l"/>
                <a:tab pos="485775" algn="l"/>
              </a:tabLst>
              <a:defRPr/>
            </a:pPr>
            <a:r>
              <a:rPr lang="zh-CN" altLang="en-US" sz="2400">
                <a:solidFill>
                  <a:srgbClr val="000000"/>
                </a:solidFill>
                <a:effectLst/>
                <a:latin typeface="微软雅黑" panose="020B0503020204020204" pitchFamily="34" charset="-122"/>
                <a:ea typeface="微软雅黑" panose="020B0503020204020204" pitchFamily="34" charset="-122"/>
              </a:rPr>
              <a:t>性能的监督分析改进</a:t>
            </a:r>
          </a:p>
        </p:txBody>
      </p:sp>
      <p:sp>
        <p:nvSpPr>
          <p:cNvPr id="26" name="Oval 10">
            <a:extLst>
              <a:ext uri="{FF2B5EF4-FFF2-40B4-BE49-F238E27FC236}">
                <a16:creationId xmlns:a16="http://schemas.microsoft.com/office/drawing/2014/main" id="{70A184F2-C5F3-4DE8-AFEA-083A9770484C}"/>
              </a:ext>
            </a:extLst>
          </p:cNvPr>
          <p:cNvSpPr>
            <a:spLocks noChangeArrowheads="1"/>
          </p:cNvSpPr>
          <p:nvPr/>
        </p:nvSpPr>
        <p:spPr bwMode="auto">
          <a:xfrm>
            <a:off x="9053904" y="3182006"/>
            <a:ext cx="2084086" cy="1330669"/>
          </a:xfrm>
          <a:prstGeom prst="ellipse">
            <a:avLst/>
          </a:prstGeom>
          <a:solidFill>
            <a:srgbClr val="CCFFCC"/>
          </a:solidFill>
          <a:ln w="12700" cap="sq">
            <a:solidFill>
              <a:srgbClr val="000000"/>
            </a:solidFill>
            <a:round/>
            <a:headEnd/>
            <a:tailEnd/>
          </a:ln>
          <a:effectLst>
            <a:outerShdw dist="35921" dir="2700000" algn="ctr" rotWithShape="0">
              <a:schemeClr val="bg2"/>
            </a:outerShdw>
          </a:effectLst>
        </p:spPr>
        <p:txBody>
          <a:bodyPr lIns="0" tIns="0" rIns="0" bIns="0" anchor="ctr" anchorCtr="1"/>
          <a:lstStyle/>
          <a:p>
            <a:pPr algn="ctr">
              <a:spcAft>
                <a:spcPct val="0"/>
              </a:spcAft>
              <a:buSzTx/>
              <a:tabLst>
                <a:tab pos="292100" algn="l"/>
                <a:tab pos="485775" algn="l"/>
              </a:tabLst>
              <a:defRPr/>
            </a:pPr>
            <a:r>
              <a:rPr lang="zh-CN" altLang="en-US" sz="2400" dirty="0">
                <a:solidFill>
                  <a:srgbClr val="000000"/>
                </a:solidFill>
                <a:effectLst/>
                <a:latin typeface="微软雅黑" panose="020B0503020204020204" pitchFamily="34" charset="-122"/>
                <a:ea typeface="微软雅黑" panose="020B0503020204020204" pitchFamily="34" charset="-122"/>
              </a:rPr>
              <a:t>重组织</a:t>
            </a:r>
          </a:p>
          <a:p>
            <a:pPr algn="ctr">
              <a:spcAft>
                <a:spcPct val="0"/>
              </a:spcAft>
              <a:buSzTx/>
              <a:tabLst>
                <a:tab pos="292100" algn="l"/>
                <a:tab pos="485775" algn="l"/>
              </a:tabLst>
              <a:defRPr/>
            </a:pPr>
            <a:r>
              <a:rPr lang="zh-CN" altLang="en-US" sz="2400" dirty="0">
                <a:solidFill>
                  <a:srgbClr val="000000"/>
                </a:solidFill>
                <a:effectLst/>
                <a:latin typeface="微软雅黑" panose="020B0503020204020204" pitchFamily="34" charset="-122"/>
                <a:ea typeface="微软雅黑" panose="020B0503020204020204" pitchFamily="34" charset="-122"/>
              </a:rPr>
              <a:t>重构造</a:t>
            </a:r>
          </a:p>
        </p:txBody>
      </p:sp>
      <p:cxnSp>
        <p:nvCxnSpPr>
          <p:cNvPr id="27" name="AutoShape 11">
            <a:extLst>
              <a:ext uri="{FF2B5EF4-FFF2-40B4-BE49-F238E27FC236}">
                <a16:creationId xmlns:a16="http://schemas.microsoft.com/office/drawing/2014/main" id="{E29B4477-5A49-480F-958B-D042DB1B1550}"/>
              </a:ext>
            </a:extLst>
          </p:cNvPr>
          <p:cNvCxnSpPr>
            <a:cxnSpLocks noChangeShapeType="1"/>
            <a:endCxn id="23" idx="7"/>
          </p:cNvCxnSpPr>
          <p:nvPr/>
        </p:nvCxnSpPr>
        <p:spPr bwMode="auto">
          <a:xfrm flipH="1">
            <a:off x="2779939" y="2348881"/>
            <a:ext cx="3096525" cy="1028641"/>
          </a:xfrm>
          <a:prstGeom prst="straightConnector1">
            <a:avLst/>
          </a:prstGeom>
          <a:noFill/>
          <a:ln w="5715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8" name="AutoShape 12">
            <a:extLst>
              <a:ext uri="{FF2B5EF4-FFF2-40B4-BE49-F238E27FC236}">
                <a16:creationId xmlns:a16="http://schemas.microsoft.com/office/drawing/2014/main" id="{13179F47-111F-4FB9-92FB-250AE7C82D45}"/>
              </a:ext>
            </a:extLst>
          </p:cNvPr>
          <p:cNvCxnSpPr>
            <a:cxnSpLocks noChangeShapeType="1"/>
            <a:endCxn id="24" idx="0"/>
          </p:cNvCxnSpPr>
          <p:nvPr/>
        </p:nvCxnSpPr>
        <p:spPr bwMode="auto">
          <a:xfrm flipH="1">
            <a:off x="4727848" y="2348880"/>
            <a:ext cx="1148616" cy="833127"/>
          </a:xfrm>
          <a:prstGeom prst="straightConnector1">
            <a:avLst/>
          </a:prstGeom>
          <a:noFill/>
          <a:ln w="5715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9" name="AutoShape 13">
            <a:extLst>
              <a:ext uri="{FF2B5EF4-FFF2-40B4-BE49-F238E27FC236}">
                <a16:creationId xmlns:a16="http://schemas.microsoft.com/office/drawing/2014/main" id="{FA38CEE5-BD9D-43F5-97AE-CD85BB7C499B}"/>
              </a:ext>
            </a:extLst>
          </p:cNvPr>
          <p:cNvCxnSpPr>
            <a:cxnSpLocks noChangeShapeType="1"/>
            <a:endCxn id="25" idx="0"/>
          </p:cNvCxnSpPr>
          <p:nvPr/>
        </p:nvCxnSpPr>
        <p:spPr bwMode="auto">
          <a:xfrm>
            <a:off x="5876464" y="2348880"/>
            <a:ext cx="1535435" cy="833127"/>
          </a:xfrm>
          <a:prstGeom prst="straightConnector1">
            <a:avLst/>
          </a:prstGeom>
          <a:noFill/>
          <a:ln w="5715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0" name="AutoShape 14">
            <a:extLst>
              <a:ext uri="{FF2B5EF4-FFF2-40B4-BE49-F238E27FC236}">
                <a16:creationId xmlns:a16="http://schemas.microsoft.com/office/drawing/2014/main" id="{FBFD4725-DF82-4206-BA1C-FF8ADF60470E}"/>
              </a:ext>
            </a:extLst>
          </p:cNvPr>
          <p:cNvCxnSpPr>
            <a:cxnSpLocks noChangeShapeType="1"/>
            <a:endCxn id="26" idx="1"/>
          </p:cNvCxnSpPr>
          <p:nvPr/>
        </p:nvCxnSpPr>
        <p:spPr bwMode="auto">
          <a:xfrm>
            <a:off x="5876463" y="2348881"/>
            <a:ext cx="3483345" cy="1028641"/>
          </a:xfrm>
          <a:prstGeom prst="straightConnector1">
            <a:avLst/>
          </a:prstGeom>
          <a:noFill/>
          <a:ln w="5715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1" name="Line 15">
            <a:extLst>
              <a:ext uri="{FF2B5EF4-FFF2-40B4-BE49-F238E27FC236}">
                <a16:creationId xmlns:a16="http://schemas.microsoft.com/office/drawing/2014/main" id="{D19B7F41-1BE5-47FC-B9D4-2C5AC1BCB6CB}"/>
              </a:ext>
            </a:extLst>
          </p:cNvPr>
          <p:cNvSpPr>
            <a:spLocks noChangeShapeType="1"/>
          </p:cNvSpPr>
          <p:nvPr/>
        </p:nvSpPr>
        <p:spPr bwMode="auto">
          <a:xfrm>
            <a:off x="2888483" y="4381360"/>
            <a:ext cx="2091980" cy="971738"/>
          </a:xfrm>
          <a:prstGeom prst="line">
            <a:avLst/>
          </a:prstGeom>
          <a:noFill/>
          <a:ln w="57150" cap="sq">
            <a:solidFill>
              <a:schemeClr val="tx1"/>
            </a:solidFill>
            <a:round/>
            <a:headEnd/>
            <a:tailEnd type="triangle" w="med" len="med"/>
          </a:ln>
          <a:effectLst/>
        </p:spPr>
        <p:txBody>
          <a:bodyPr wrap="none" lIns="0" tIns="0" rIns="0" bIns="0" anchor="ctr"/>
          <a:lstStyle/>
          <a:p>
            <a:pPr>
              <a:defRPr/>
            </a:pPr>
            <a:endParaRPr lang="zh-CN" altLang="en-US"/>
          </a:p>
        </p:txBody>
      </p:sp>
      <p:sp>
        <p:nvSpPr>
          <p:cNvPr id="32" name="Line 16">
            <a:extLst>
              <a:ext uri="{FF2B5EF4-FFF2-40B4-BE49-F238E27FC236}">
                <a16:creationId xmlns:a16="http://schemas.microsoft.com/office/drawing/2014/main" id="{62155A8F-A57F-443C-B786-A4C791F18F7A}"/>
              </a:ext>
            </a:extLst>
          </p:cNvPr>
          <p:cNvSpPr>
            <a:spLocks noChangeShapeType="1"/>
          </p:cNvSpPr>
          <p:nvPr/>
        </p:nvSpPr>
        <p:spPr bwMode="auto">
          <a:xfrm>
            <a:off x="4885732" y="4512675"/>
            <a:ext cx="663118" cy="770387"/>
          </a:xfrm>
          <a:prstGeom prst="line">
            <a:avLst/>
          </a:prstGeom>
          <a:noFill/>
          <a:ln w="57150" cap="sq">
            <a:solidFill>
              <a:schemeClr val="tx1"/>
            </a:solidFill>
            <a:round/>
            <a:headEnd/>
            <a:tailEnd type="triangle" w="med" len="med"/>
          </a:ln>
          <a:effectLst/>
        </p:spPr>
        <p:txBody>
          <a:bodyPr wrap="none" lIns="0" tIns="0" rIns="0" bIns="0" anchor="ctr"/>
          <a:lstStyle/>
          <a:p>
            <a:pPr>
              <a:defRPr/>
            </a:pPr>
            <a:endParaRPr lang="zh-CN" altLang="en-US"/>
          </a:p>
        </p:txBody>
      </p:sp>
      <p:sp>
        <p:nvSpPr>
          <p:cNvPr id="33" name="Line 17">
            <a:extLst>
              <a:ext uri="{FF2B5EF4-FFF2-40B4-BE49-F238E27FC236}">
                <a16:creationId xmlns:a16="http://schemas.microsoft.com/office/drawing/2014/main" id="{18125D95-A64A-4380-BA95-1F94555DB311}"/>
              </a:ext>
            </a:extLst>
          </p:cNvPr>
          <p:cNvSpPr>
            <a:spLocks noChangeShapeType="1"/>
          </p:cNvSpPr>
          <p:nvPr/>
        </p:nvSpPr>
        <p:spPr bwMode="auto">
          <a:xfrm flipH="1">
            <a:off x="6496162" y="4512675"/>
            <a:ext cx="568387" cy="770387"/>
          </a:xfrm>
          <a:prstGeom prst="line">
            <a:avLst/>
          </a:prstGeom>
          <a:noFill/>
          <a:ln w="57150" cap="sq">
            <a:solidFill>
              <a:schemeClr val="tx1"/>
            </a:solidFill>
            <a:round/>
            <a:headEnd/>
            <a:tailEnd type="triangle" w="med" len="med"/>
          </a:ln>
          <a:effectLst/>
        </p:spPr>
        <p:txBody>
          <a:bodyPr wrap="none" lIns="0" tIns="0" rIns="0" bIns="0" anchor="ctr"/>
          <a:lstStyle/>
          <a:p>
            <a:pPr>
              <a:defRPr/>
            </a:pPr>
            <a:endParaRPr lang="zh-CN" altLang="en-US"/>
          </a:p>
        </p:txBody>
      </p:sp>
      <p:sp>
        <p:nvSpPr>
          <p:cNvPr id="34" name="Line 18">
            <a:extLst>
              <a:ext uri="{FF2B5EF4-FFF2-40B4-BE49-F238E27FC236}">
                <a16:creationId xmlns:a16="http://schemas.microsoft.com/office/drawing/2014/main" id="{079635B2-F687-44F2-B392-831F370302F9}"/>
              </a:ext>
            </a:extLst>
          </p:cNvPr>
          <p:cNvSpPr>
            <a:spLocks noChangeShapeType="1"/>
          </p:cNvSpPr>
          <p:nvPr/>
        </p:nvSpPr>
        <p:spPr bwMode="auto">
          <a:xfrm flipH="1">
            <a:off x="7159282" y="4314242"/>
            <a:ext cx="2174870" cy="968820"/>
          </a:xfrm>
          <a:prstGeom prst="line">
            <a:avLst/>
          </a:prstGeom>
          <a:noFill/>
          <a:ln w="57150" cap="sq">
            <a:solidFill>
              <a:schemeClr val="tx1"/>
            </a:solidFill>
            <a:round/>
            <a:headEnd/>
            <a:tailEnd type="triangle" w="med" len="med"/>
          </a:ln>
          <a:effectLst/>
        </p:spPr>
        <p:txBody>
          <a:bodyPr wrap="none" lIns="0" tIns="0" rIns="0" bIns="0" anchor="ctr"/>
          <a:lstStyle/>
          <a:p>
            <a:pPr>
              <a:defRPr/>
            </a:pPr>
            <a:endParaRPr lang="zh-CN" altLang="en-US"/>
          </a:p>
        </p:txBody>
      </p:sp>
      <p:pic>
        <p:nvPicPr>
          <p:cNvPr id="2050" name="Picture 2" descr="查看源图像">
            <a:extLst>
              <a:ext uri="{FF2B5EF4-FFF2-40B4-BE49-F238E27FC236}">
                <a16:creationId xmlns:a16="http://schemas.microsoft.com/office/drawing/2014/main" id="{2033DE0B-2F4E-4212-A9FB-CF21D048450E}"/>
              </a:ext>
            </a:extLst>
          </p:cNvPr>
          <p:cNvPicPr>
            <a:picLocks noChangeAspect="1" noChangeArrowheads="1"/>
          </p:cNvPicPr>
          <p:nvPr/>
        </p:nvPicPr>
        <p:blipFill>
          <a:blip r:embed="rId3" cstate="print">
            <a:lum bright="70000" contrast="-70000"/>
            <a:extLst>
              <a:ext uri="{28A0092B-C50C-407E-A947-70E740481C1C}">
                <a14:useLocalDpi xmlns:a14="http://schemas.microsoft.com/office/drawing/2010/main" val="0"/>
              </a:ext>
            </a:extLst>
          </a:blip>
          <a:srcRect/>
          <a:stretch>
            <a:fillRect/>
          </a:stretch>
        </p:blipFill>
        <p:spPr bwMode="auto">
          <a:xfrm>
            <a:off x="5152926" y="940881"/>
            <a:ext cx="1627429" cy="1330669"/>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3">
            <a:extLst>
              <a:ext uri="{FF2B5EF4-FFF2-40B4-BE49-F238E27FC236}">
                <a16:creationId xmlns:a16="http://schemas.microsoft.com/office/drawing/2014/main" id="{D55B8FB6-5100-428F-90EC-0026F5A24A60}"/>
              </a:ext>
            </a:extLst>
          </p:cNvPr>
          <p:cNvSpPr>
            <a:spLocks noGrp="1" noChangeArrowheads="1"/>
          </p:cNvSpPr>
          <p:nvPr>
            <p:ph type="title"/>
          </p:nvPr>
        </p:nvSpPr>
        <p:spPr>
          <a:xfrm>
            <a:off x="767408" y="41299"/>
            <a:ext cx="3223172"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pPr>
            <a:r>
              <a:rPr kumimoji="1" lang="zh-CN" altLang="zh-CN" sz="4000" b="1" kern="1200" dirty="0">
                <a:solidFill>
                  <a:srgbClr val="FFFFCC"/>
                </a:solidFill>
                <a:effectLst>
                  <a:outerShdw blurRad="38100" dist="38100" dir="2700000" algn="tl">
                    <a:srgbClr val="000000"/>
                  </a:outerShdw>
                </a:effectLst>
                <a:latin typeface="Arial" pitchFamily="34" charset="0"/>
              </a:rPr>
              <a:t>数据库</a:t>
            </a:r>
            <a:r>
              <a:rPr kumimoji="1" lang="zh-CN" altLang="en-US" sz="4000" b="1" kern="1200" dirty="0">
                <a:solidFill>
                  <a:srgbClr val="FFFFCC"/>
                </a:solidFill>
                <a:effectLst>
                  <a:outerShdw blurRad="38100" dist="38100" dir="2700000" algn="tl">
                    <a:srgbClr val="000000"/>
                  </a:outerShdw>
                </a:effectLst>
                <a:latin typeface="Arial" pitchFamily="34" charset="0"/>
              </a:rPr>
              <a:t>的维护</a:t>
            </a:r>
            <a:endParaRPr kumimoji="1" lang="en-US" altLang="zh-CN" sz="4000" b="1" kern="1200" dirty="0">
              <a:solidFill>
                <a:srgbClr val="FFFFCC"/>
              </a:solidFill>
              <a:effectLst>
                <a:outerShdw blurRad="38100" dist="38100" dir="2700000" algn="tl">
                  <a:srgbClr val="000000"/>
                </a:outerShdw>
              </a:effectLst>
              <a:latin typeface="Arial" pitchFamily="34" charset="0"/>
            </a:endParaRPr>
          </a:p>
        </p:txBody>
      </p:sp>
    </p:spTree>
    <p:extLst>
      <p:ext uri="{BB962C8B-B14F-4D97-AF65-F5344CB8AC3E}">
        <p14:creationId xmlns:p14="http://schemas.microsoft.com/office/powerpoint/2010/main" val="336572571"/>
      </p:ext>
    </p:extLst>
  </p:cSld>
  <p:clrMapOvr>
    <a:masterClrMapping/>
  </p:clrMapOvr>
  <p:transition spd="med">
    <p:random/>
    <p:sndAc>
      <p:stSnd>
        <p:snd r:embed="rId2" name="arrow.wav"/>
      </p:stSnd>
    </p:sndAc>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551384" y="2708920"/>
            <a:ext cx="10372864" cy="2143125"/>
          </a:xfrm>
          <a:prstGeom prst="rect">
            <a:avLst/>
          </a:prstGeom>
          <a:noFill/>
        </p:spPr>
        <p:txBody>
          <a:bodyPr vert="horz" wrap="square" rtlCol="0" anchor="ctr" anchorCtr="0">
            <a:noAutofit/>
          </a:bodyPr>
          <a:lstStyle/>
          <a:p>
            <a:r>
              <a:rPr lang="zh-CN" altLang="en-US" sz="2000" dirty="0">
                <a:latin typeface="Microsoft Yahei" panose="020B0503020204020204" pitchFamily="34" charset="-122"/>
                <a:ea typeface="Microsoft Yahei" panose="020B0503020204020204" pitchFamily="34" charset="-122"/>
                <a:sym typeface="Microsoft Yahei" panose="020B0503020204020204" pitchFamily="34" charset="-122"/>
              </a:rPr>
              <a:t>假如你现在是一名数据库设计人员，现有一需求分析文档：构建社交网络数据分析系统，要求实现</a:t>
            </a:r>
            <a:r>
              <a:rPr lang="en-US" altLang="zh-CN" sz="2000" dirty="0">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sz="2000" dirty="0">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dirty="0">
                <a:latin typeface="Microsoft Yahei" panose="020B0503020204020204" pitchFamily="34" charset="-122"/>
                <a:ea typeface="Microsoft Yahei" panose="020B0503020204020204" pitchFamily="34" charset="-122"/>
                <a:sym typeface="Microsoft Yahei" panose="020B0503020204020204" pitchFamily="34" charset="-122"/>
              </a:rPr>
              <a:t>用户关系图谱构建</a:t>
            </a:r>
            <a:endParaRPr lang="en-US" altLang="zh-CN" sz="2000" dirty="0">
              <a:latin typeface="Microsoft Yahei" panose="020B0503020204020204" pitchFamily="34" charset="-122"/>
              <a:ea typeface="Microsoft Yahei" panose="020B0503020204020204" pitchFamily="34" charset="-122"/>
              <a:sym typeface="Microsoft Yahei" panose="020B0503020204020204" pitchFamily="34" charset="-122"/>
            </a:endParaRPr>
          </a:p>
          <a:p>
            <a:pPr marL="457200" indent="-457200">
              <a:buFont typeface="Wingdings" panose="05000000000000000000" pitchFamily="2" charset="2"/>
              <a:buChar char="Ø"/>
            </a:pPr>
            <a:r>
              <a:rPr lang="zh-CN" altLang="en-US" sz="2000" dirty="0">
                <a:latin typeface="Microsoft Yahei" panose="020B0503020204020204" pitchFamily="34" charset="-122"/>
                <a:ea typeface="Microsoft Yahei" panose="020B0503020204020204" pitchFamily="34" charset="-122"/>
                <a:sym typeface="Microsoft Yahei" panose="020B0503020204020204" pitchFamily="34" charset="-122"/>
              </a:rPr>
              <a:t>用户</a:t>
            </a:r>
            <a:r>
              <a:rPr lang="en-US" altLang="zh-CN" sz="2000" dirty="0">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sym typeface="Microsoft Yahei" panose="020B0503020204020204" pitchFamily="34" charset="-122"/>
              </a:rPr>
              <a:t>好友</a:t>
            </a:r>
            <a:r>
              <a:rPr lang="en-US" altLang="zh-CN" sz="2000" dirty="0">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sym typeface="Microsoft Yahei" panose="020B0503020204020204" pitchFamily="34" charset="-122"/>
              </a:rPr>
              <a:t>群组的多层关系建模</a:t>
            </a:r>
          </a:p>
          <a:p>
            <a:pPr marL="457200" indent="-457200">
              <a:buFont typeface="Wingdings" panose="05000000000000000000" pitchFamily="2" charset="2"/>
              <a:buChar char="Ø"/>
            </a:pPr>
            <a:r>
              <a:rPr lang="zh-CN" altLang="en-US" sz="2000" dirty="0">
                <a:latin typeface="Microsoft Yahei" panose="020B0503020204020204" pitchFamily="34" charset="-122"/>
                <a:ea typeface="Microsoft Yahei" panose="020B0503020204020204" pitchFamily="34" charset="-122"/>
                <a:sym typeface="Microsoft Yahei" panose="020B0503020204020204" pitchFamily="34" charset="-122"/>
              </a:rPr>
              <a:t>支持关系强度计算（互动频率</a:t>
            </a:r>
            <a:r>
              <a:rPr lang="en-US" altLang="zh-CN" sz="2000" dirty="0">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sym typeface="Microsoft Yahei" panose="020B0503020204020204" pitchFamily="34" charset="-122"/>
              </a:rPr>
              <a:t>亲密度）</a:t>
            </a:r>
          </a:p>
          <a:p>
            <a:pPr marL="457200" indent="-457200">
              <a:buFont typeface="Wingdings" panose="05000000000000000000" pitchFamily="2" charset="2"/>
              <a:buChar char="Ø"/>
            </a:pPr>
            <a:r>
              <a:rPr lang="zh-CN" altLang="en-US" sz="2000" dirty="0">
                <a:latin typeface="Microsoft Yahei" panose="020B0503020204020204" pitchFamily="34" charset="-122"/>
                <a:ea typeface="Microsoft Yahei" panose="020B0503020204020204" pitchFamily="34" charset="-122"/>
                <a:sym typeface="Microsoft Yahei" panose="020B0503020204020204" pitchFamily="34" charset="-122"/>
              </a:rPr>
              <a:t>可视化展示社交网络拓扑结构</a:t>
            </a:r>
            <a:endParaRPr lang="en-US" altLang="zh-CN" sz="2000" dirty="0">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2000" dirty="0">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dirty="0">
                <a:latin typeface="Microsoft Yahei" panose="020B0503020204020204" pitchFamily="34" charset="-122"/>
                <a:ea typeface="Microsoft Yahei" panose="020B0503020204020204" pitchFamily="34" charset="-122"/>
                <a:sym typeface="Microsoft Yahei" panose="020B0503020204020204" pitchFamily="34" charset="-122"/>
              </a:rPr>
              <a:t>行为数据分析</a:t>
            </a:r>
            <a:endParaRPr lang="en-US" altLang="zh-CN" sz="2000" dirty="0">
              <a:latin typeface="Microsoft Yahei" panose="020B0503020204020204" pitchFamily="34" charset="-122"/>
              <a:ea typeface="Microsoft Yahei" panose="020B0503020204020204" pitchFamily="34" charset="-122"/>
              <a:sym typeface="Microsoft Yahei" panose="020B0503020204020204" pitchFamily="34" charset="-122"/>
            </a:endParaRPr>
          </a:p>
          <a:p>
            <a:pPr marL="342900" indent="-342900">
              <a:buFont typeface="Wingdings" panose="05000000000000000000" pitchFamily="2" charset="2"/>
              <a:buChar char="Ø"/>
            </a:pPr>
            <a:r>
              <a:rPr lang="zh-CN" altLang="en-US" sz="2000" dirty="0">
                <a:latin typeface="Microsoft Yahei" panose="020B0503020204020204" pitchFamily="34" charset="-122"/>
                <a:ea typeface="Microsoft Yahei" panose="020B0503020204020204" pitchFamily="34" charset="-122"/>
                <a:sym typeface="Microsoft Yahei" panose="020B0503020204020204" pitchFamily="34" charset="-122"/>
              </a:rPr>
              <a:t>用户活跃时段分析（按日</a:t>
            </a:r>
            <a:r>
              <a:rPr lang="en-US" altLang="zh-CN" sz="2000" dirty="0">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sym typeface="Microsoft Yahei" panose="020B0503020204020204" pitchFamily="34" charset="-122"/>
              </a:rPr>
              <a:t>周</a:t>
            </a:r>
            <a:r>
              <a:rPr lang="en-US" altLang="zh-CN" sz="2000" dirty="0">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sym typeface="Microsoft Yahei" panose="020B0503020204020204" pitchFamily="34" charset="-122"/>
              </a:rPr>
              <a:t>月）</a:t>
            </a:r>
          </a:p>
          <a:p>
            <a:pPr marL="342900" indent="-342900">
              <a:buFont typeface="Wingdings" panose="05000000000000000000" pitchFamily="2" charset="2"/>
              <a:buChar char="Ø"/>
            </a:pPr>
            <a:r>
              <a:rPr lang="zh-CN" altLang="en-US" sz="2000" dirty="0">
                <a:latin typeface="Microsoft Yahei" panose="020B0503020204020204" pitchFamily="34" charset="-122"/>
                <a:ea typeface="Microsoft Yahei" panose="020B0503020204020204" pitchFamily="34" charset="-122"/>
                <a:sym typeface="Microsoft Yahei" panose="020B0503020204020204" pitchFamily="34" charset="-122"/>
              </a:rPr>
              <a:t>内容传播路径追踪（转发</a:t>
            </a:r>
            <a:r>
              <a:rPr lang="en-US" altLang="zh-CN" sz="2000" dirty="0">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sym typeface="Microsoft Yahei" panose="020B0503020204020204" pitchFamily="34" charset="-122"/>
              </a:rPr>
              <a:t>评论链）</a:t>
            </a:r>
          </a:p>
          <a:p>
            <a:pPr marL="342900" indent="-342900">
              <a:buFont typeface="Wingdings" panose="05000000000000000000" pitchFamily="2" charset="2"/>
              <a:buChar char="Ø"/>
            </a:pPr>
            <a:r>
              <a:rPr lang="zh-CN" altLang="en-US" sz="2000" dirty="0">
                <a:latin typeface="Microsoft Yahei" panose="020B0503020204020204" pitchFamily="34" charset="-122"/>
                <a:ea typeface="Microsoft Yahei" panose="020B0503020204020204" pitchFamily="34" charset="-122"/>
                <a:sym typeface="Microsoft Yahei" panose="020B0503020204020204" pitchFamily="34" charset="-122"/>
              </a:rPr>
              <a:t>兴趣标签聚类分析</a:t>
            </a:r>
            <a:endParaRPr lang="en-US" altLang="zh-CN" sz="2000" dirty="0">
              <a:latin typeface="Microsoft Yahei" panose="020B0503020204020204" pitchFamily="34" charset="-122"/>
              <a:ea typeface="Microsoft Yahei" panose="020B0503020204020204" pitchFamily="34" charset="-122"/>
              <a:sym typeface="Microsoft Yahei" panose="020B0503020204020204" pitchFamily="34" charset="-122"/>
            </a:endParaRPr>
          </a:p>
          <a:p>
            <a:pPr indent="457200"/>
            <a:r>
              <a:rPr lang="zh-CN" altLang="en-US" sz="2000" dirty="0">
                <a:latin typeface="Microsoft Yahei" panose="020B0503020204020204" pitchFamily="34" charset="-122"/>
                <a:ea typeface="Microsoft Yahei" panose="020B0503020204020204" pitchFamily="34" charset="-122"/>
                <a:sym typeface="Microsoft Yahei" panose="020B0503020204020204" pitchFamily="34" charset="-122"/>
              </a:rPr>
              <a:t>结合本章所学知识，给出你的核心数据表设计，即简要描述哪些表（用户档案、好友关系、点赞</a:t>
            </a:r>
            <a:r>
              <a:rPr lang="en-US" altLang="zh-CN" sz="2000" dirty="0">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sym typeface="Microsoft Yahei" panose="020B0503020204020204" pitchFamily="34" charset="-122"/>
              </a:rPr>
              <a:t>评论记录等），每张表有哪些重要属性，并简要描述完整性约束，存储过程、触发器、视图等高级功能的实现‌，索引建立与性能优化措施‌。</a:t>
            </a:r>
          </a:p>
          <a:p>
            <a:endParaRPr lang="zh-CN" altLang="en-US" sz="2000" dirty="0">
              <a:latin typeface="Microsoft Yahei" panose="020B0503020204020204" pitchFamily="34" charset="-122"/>
              <a:ea typeface="Microsoft Yahei" panose="020B0503020204020204" pitchFamily="34" charset="-122"/>
              <a:sym typeface="Microsoft Yahei" panose="020B0503020204020204" pitchFamily="34" charset="-122"/>
            </a:endParaRPr>
          </a:p>
          <a:p>
            <a:endParaRPr lang="en-US" altLang="zh-CN" sz="2000" dirty="0">
              <a:latin typeface="Microsoft Yahei" panose="020B0503020204020204" pitchFamily="34" charset="-122"/>
              <a:ea typeface="Microsoft Yahei" panose="020B0503020204020204" pitchFamily="34" charset="-122"/>
              <a:sym typeface="Microsoft Yahei" panose="020B0503020204020204" pitchFamily="34" charset="-122"/>
            </a:endParaRPr>
          </a:p>
          <a:p>
            <a:endParaRPr lang="zh-CN" altLang="en-US" sz="2000" dirty="0">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圆角矩形 5"/>
          <p:cNvSpPr/>
          <p:nvPr>
            <p:custDataLst>
              <p:tags r:id="rId3"/>
            </p:custDataLst>
          </p:nvPr>
        </p:nvSpPr>
        <p:spPr bwMode="auto">
          <a:xfrm>
            <a:off x="8915400" y="6215063"/>
            <a:ext cx="1543050" cy="411480"/>
          </a:xfrm>
          <a:prstGeom prst="roundRect">
            <a:avLst/>
          </a:prstGeom>
          <a:solidFill>
            <a:srgbClr val="808080"/>
          </a:solidFill>
          <a:ln w="38100" cap="sq"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r>
              <a:rPr kumimoji="1" lang="zh-CN" altLang="en-US" sz="1600" b="0" i="0" u="none" strike="noStrike" cap="none" normalizeH="0" baseline="0">
                <a:ln>
                  <a:noFill/>
                </a:ln>
                <a:solidFill>
                  <a:srgbClr val="FFFFFF"/>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1" name="组合 10"/>
          <p:cNvGrpSpPr/>
          <p:nvPr>
            <p:custDataLst>
              <p:tags r:id="rId4"/>
            </p:custDataLst>
          </p:nvPr>
        </p:nvGrpSpPr>
        <p:grpSpPr>
          <a:xfrm>
            <a:off x="0" y="0"/>
            <a:ext cx="12192000" cy="635000"/>
            <a:chOff x="0" y="0"/>
            <a:chExt cx="12192000" cy="635000"/>
          </a:xfrm>
        </p:grpSpPr>
        <p:sp>
          <p:nvSpPr>
            <p:cNvPr id="7" name="TitleBackground"/>
            <p:cNvSpPr/>
            <p:nvPr>
              <p:custDataLst>
                <p:tags r:id="rId6"/>
              </p:custDataLst>
            </p:nvPr>
          </p:nvSpPr>
          <p:spPr bwMode="auto">
            <a:xfrm>
              <a:off x="0" y="0"/>
              <a:ext cx="12192000" cy="635000"/>
            </a:xfrm>
            <a:prstGeom prst="rect">
              <a:avLst/>
            </a:prstGeom>
            <a:solidFill>
              <a:srgbClr val="F6F7F8"/>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8" name="ColorBlock"/>
            <p:cNvSpPr/>
            <p:nvPr>
              <p:custDataLst>
                <p:tags r:id="rId7"/>
              </p:custDataLst>
            </p:nvPr>
          </p:nvSpPr>
          <p:spPr bwMode="auto">
            <a:xfrm>
              <a:off x="0" y="0"/>
              <a:ext cx="190500" cy="635000"/>
            </a:xfrm>
            <a:prstGeom prst="rect">
              <a:avLst/>
            </a:prstGeom>
            <a:solidFill>
              <a:srgbClr val="639EF4"/>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9"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0" name="TipText"/>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80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p:cNvPicPr>
            <a:picLocks/>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853800679"/>
      </p:ext>
    </p:extLst>
  </p:cSld>
  <p:clrMapOvr>
    <a:masterClrMapping/>
  </p:clrMapOvr>
  <p:transition spd="med">
    <p:random/>
    <p:sndAc>
      <p:stSnd>
        <p:snd r:embed="rId11" name="arrow.wav"/>
      </p:stSnd>
    </p:sndAc>
  </p:transition>
</p:sld>
</file>

<file path=ppt/tags/tag1.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 val="ShortAnswer"/>
  <p:tag name="PROBLEMSCORE" val="80.0"/>
  <p:tag name="PROBLEMVOICEALLOWED" val="False"/>
</p:tagLst>
</file>

<file path=ppt/tags/tag2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带有标题的">
  <a:themeElements>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带有标题的">
      <a:majorFont>
        <a:latin typeface="方正姚体"/>
        <a:ea typeface="方正姚体"/>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sq"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kumimoji="1" 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12700" cap="sq"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kumimoji="1" 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defRPr>
        </a:defPPr>
      </a:lstStyle>
    </a:lnDef>
  </a:objectDefaults>
  <a:extraClrSchemeLst>
    <a:extraClrScheme>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带有标题的 2">
        <a:dk1>
          <a:srgbClr val="3E3E5C"/>
        </a:dk1>
        <a:lt1>
          <a:srgbClr val="FFFFFF"/>
        </a:lt1>
        <a:dk2>
          <a:srgbClr val="666699"/>
        </a:dk2>
        <a:lt2>
          <a:srgbClr val="DFDFE9"/>
        </a:lt2>
        <a:accent1>
          <a:srgbClr val="CC66FF"/>
        </a:accent1>
        <a:accent2>
          <a:srgbClr val="679ACD"/>
        </a:accent2>
        <a:accent3>
          <a:srgbClr val="B8B8CA"/>
        </a:accent3>
        <a:accent4>
          <a:srgbClr val="DADADA"/>
        </a:accent4>
        <a:accent5>
          <a:srgbClr val="E2B8FF"/>
        </a:accent5>
        <a:accent6>
          <a:srgbClr val="5D8BBA"/>
        </a:accent6>
        <a:hlink>
          <a:srgbClr val="CCECFF"/>
        </a:hlink>
        <a:folHlink>
          <a:srgbClr val="CCCCFF"/>
        </a:folHlink>
      </a:clrScheme>
      <a:clrMap bg1="dk2" tx1="lt1" bg2="dk1" tx2="lt2" accent1="accent1" accent2="accent2" accent3="accent3" accent4="accent4" accent5="accent5" accent6="accent6" hlink="hlink" folHlink="folHlink"/>
    </a:extraClrScheme>
    <a:extraClrScheme>
      <a:clrScheme name="带有标题的 3">
        <a:dk1>
          <a:srgbClr val="2A5400"/>
        </a:dk1>
        <a:lt1>
          <a:srgbClr val="FFFFFF"/>
        </a:lt1>
        <a:dk2>
          <a:srgbClr val="4A9400"/>
        </a:dk2>
        <a:lt2>
          <a:srgbClr val="BAE8BA"/>
        </a:lt2>
        <a:accent1>
          <a:srgbClr val="33CC33"/>
        </a:accent1>
        <a:accent2>
          <a:srgbClr val="99CC00"/>
        </a:accent2>
        <a:accent3>
          <a:srgbClr val="B1C8AA"/>
        </a:accent3>
        <a:accent4>
          <a:srgbClr val="DADADA"/>
        </a:accent4>
        <a:accent5>
          <a:srgbClr val="ADE2AD"/>
        </a:accent5>
        <a:accent6>
          <a:srgbClr val="8AB900"/>
        </a:accent6>
        <a:hlink>
          <a:srgbClr val="99FF33"/>
        </a:hlink>
        <a:folHlink>
          <a:srgbClr val="FFFF99"/>
        </a:folHlink>
      </a:clrScheme>
      <a:clrMap bg1="dk2" tx1="lt1" bg2="dk1" tx2="lt2" accent1="accent1" accent2="accent2" accent3="accent3" accent4="accent4" accent5="accent5" accent6="accent6" hlink="hlink" folHlink="folHlink"/>
    </a:extraClrScheme>
    <a:extraClrScheme>
      <a:clrScheme name="带有标题的 4">
        <a:dk1>
          <a:srgbClr val="000000"/>
        </a:dk1>
        <a:lt1>
          <a:srgbClr val="FFFFFF"/>
        </a:lt1>
        <a:dk2>
          <a:srgbClr val="51596D"/>
        </a:dk2>
        <a:lt2>
          <a:srgbClr val="DDDDDD"/>
        </a:lt2>
        <a:accent1>
          <a:srgbClr val="787E8A"/>
        </a:accent1>
        <a:accent2>
          <a:srgbClr val="339966"/>
        </a:accent2>
        <a:accent3>
          <a:srgbClr val="B3B5BA"/>
        </a:accent3>
        <a:accent4>
          <a:srgbClr val="DADADA"/>
        </a:accent4>
        <a:accent5>
          <a:srgbClr val="BEC0C4"/>
        </a:accent5>
        <a:accent6>
          <a:srgbClr val="2D8A5C"/>
        </a:accent6>
        <a:hlink>
          <a:srgbClr val="00FFFF"/>
        </a:hlink>
        <a:folHlink>
          <a:srgbClr val="74B6D0"/>
        </a:folHlink>
      </a:clrScheme>
      <a:clrMap bg1="dk2" tx1="lt1" bg2="dk1" tx2="lt2" accent1="accent1" accent2="accent2" accent3="accent3" accent4="accent4" accent5="accent5" accent6="accent6" hlink="hlink" folHlink="folHlink"/>
    </a:extraClrScheme>
    <a:extraClrScheme>
      <a:clrScheme name="带有标题的 5">
        <a:dk1>
          <a:srgbClr val="5C1F00"/>
        </a:dk1>
        <a:lt1>
          <a:srgbClr val="FFFFFF"/>
        </a:lt1>
        <a:dk2>
          <a:srgbClr val="8C0000"/>
        </a:dk2>
        <a:lt2>
          <a:srgbClr val="DFD293"/>
        </a:lt2>
        <a:accent1>
          <a:srgbClr val="FF6845"/>
        </a:accent1>
        <a:accent2>
          <a:srgbClr val="BE7960"/>
        </a:accent2>
        <a:accent3>
          <a:srgbClr val="C5AAAA"/>
        </a:accent3>
        <a:accent4>
          <a:srgbClr val="DADADA"/>
        </a:accent4>
        <a:accent5>
          <a:srgbClr val="FFB9B0"/>
        </a:accent5>
        <a:accent6>
          <a:srgbClr val="AC6D56"/>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带有标题的 6">
        <a:dk1>
          <a:srgbClr val="5E4444"/>
        </a:dk1>
        <a:lt1>
          <a:srgbClr val="F7F3F3"/>
        </a:lt1>
        <a:dk2>
          <a:srgbClr val="8A6362"/>
        </a:dk2>
        <a:lt2>
          <a:srgbClr val="D8C1BA"/>
        </a:lt2>
        <a:accent1>
          <a:srgbClr val="CC6600"/>
        </a:accent1>
        <a:accent2>
          <a:srgbClr val="C16059"/>
        </a:accent2>
        <a:accent3>
          <a:srgbClr val="C4B7B7"/>
        </a:accent3>
        <a:accent4>
          <a:srgbClr val="D3D0D0"/>
        </a:accent4>
        <a:accent5>
          <a:srgbClr val="E2B8AA"/>
        </a:accent5>
        <a:accent6>
          <a:srgbClr val="AF5650"/>
        </a:accent6>
        <a:hlink>
          <a:srgbClr val="FFCC00"/>
        </a:hlink>
        <a:folHlink>
          <a:srgbClr val="CBB557"/>
        </a:folHlink>
      </a:clrScheme>
      <a:clrMap bg1="dk2" tx1="lt1" bg2="dk1" tx2="lt2" accent1="accent1" accent2="accent2" accent3="accent3" accent4="accent4" accent5="accent5" accent6="accent6" hlink="hlink" folHlink="folHlink"/>
    </a:extraClrScheme>
    <a:extraClrScheme>
      <a:clrScheme name="带有标题的 7">
        <a:dk1>
          <a:srgbClr val="7F6737"/>
        </a:dk1>
        <a:lt1>
          <a:srgbClr val="FFFFFF"/>
        </a:lt1>
        <a:dk2>
          <a:srgbClr val="BFA673"/>
        </a:dk2>
        <a:lt2>
          <a:srgbClr val="E6E3AA"/>
        </a:lt2>
        <a:accent1>
          <a:srgbClr val="FFCC00"/>
        </a:accent1>
        <a:accent2>
          <a:srgbClr val="808000"/>
        </a:accent2>
        <a:accent3>
          <a:srgbClr val="DCD0BC"/>
        </a:accent3>
        <a:accent4>
          <a:srgbClr val="DADADA"/>
        </a:accent4>
        <a:accent5>
          <a:srgbClr val="FFE2AA"/>
        </a:accent5>
        <a:accent6>
          <a:srgbClr val="737300"/>
        </a:accent6>
        <a:hlink>
          <a:srgbClr val="784700"/>
        </a:hlink>
        <a:folHlink>
          <a:srgbClr val="9A7200"/>
        </a:folHlink>
      </a:clrScheme>
      <a:clrMap bg1="dk2" tx1="lt1" bg2="dk1" tx2="lt2" accent1="accent1" accent2="accent2" accent3="accent3" accent4="accent4" accent5="accent5" accent6="accent6" hlink="hlink" folHlink="folHlink"/>
    </a:extraClrScheme>
    <a:extraClrScheme>
      <a:clrScheme name="带有标题的 8">
        <a:dk1>
          <a:srgbClr val="4B2500"/>
        </a:dk1>
        <a:lt1>
          <a:srgbClr val="F9F0D3"/>
        </a:lt1>
        <a:dk2>
          <a:srgbClr val="A69564"/>
        </a:dk2>
        <a:lt2>
          <a:srgbClr val="EFDEAF"/>
        </a:lt2>
        <a:accent1>
          <a:srgbClr val="FFFFE3"/>
        </a:accent1>
        <a:accent2>
          <a:srgbClr val="BFBFA7"/>
        </a:accent2>
        <a:accent3>
          <a:srgbClr val="FBF6E6"/>
        </a:accent3>
        <a:accent4>
          <a:srgbClr val="3F1E00"/>
        </a:accent4>
        <a:accent5>
          <a:srgbClr val="FFFFEF"/>
        </a:accent5>
        <a:accent6>
          <a:srgbClr val="ADAD97"/>
        </a:accent6>
        <a:hlink>
          <a:srgbClr val="7B6D47"/>
        </a:hlink>
        <a:folHlink>
          <a:srgbClr val="A99D2F"/>
        </a:folHlink>
      </a:clrScheme>
      <a:clrMap bg1="lt1" tx1="dk1" bg2="lt2" tx2="dk2" accent1="accent1" accent2="accent2" accent3="accent3" accent4="accent4" accent5="accent5" accent6="accent6" hlink="hlink" folHlink="folHlink"/>
    </a:extraClrScheme>
    <a:extraClrScheme>
      <a:clrScheme name="带有标题的 9">
        <a:dk1>
          <a:srgbClr val="000000"/>
        </a:dk1>
        <a:lt1>
          <a:srgbClr val="FFFFFF"/>
        </a:lt1>
        <a:dk2>
          <a:srgbClr val="000000"/>
        </a:dk2>
        <a:lt2>
          <a:srgbClr val="808080"/>
        </a:lt2>
        <a:accent1>
          <a:srgbClr val="CCECFF"/>
        </a:accent1>
        <a:accent2>
          <a:srgbClr val="333399"/>
        </a:accent2>
        <a:accent3>
          <a:srgbClr val="FFFFFF"/>
        </a:accent3>
        <a:accent4>
          <a:srgbClr val="000000"/>
        </a:accent4>
        <a:accent5>
          <a:srgbClr val="E2F4FF"/>
        </a:accent5>
        <a:accent6>
          <a:srgbClr val="2D2D8A"/>
        </a:accent6>
        <a:hlink>
          <a:srgbClr val="6600FF"/>
        </a:hlink>
        <a:folHlink>
          <a:srgbClr val="00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2.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3.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4.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5.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6.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7.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8.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9.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10.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11.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12.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13.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14.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15.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16.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17.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18.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19.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20.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21.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22.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23.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24.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25.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26.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27.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28.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29.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30.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31.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32.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33.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34.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35.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36.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37.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38.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39.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40.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41.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42.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43.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44.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45.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46.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47.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48.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49.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50.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51.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52.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53.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ppt/theme/themeOverride54.xml><?xml version="1.0" encoding="utf-8"?>
<a:themeOverride xmlns:a="http://schemas.openxmlformats.org/drawingml/2006/main">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themeOverride>
</file>

<file path=docProps/app.xml><?xml version="1.0" encoding="utf-8"?>
<Properties xmlns="http://schemas.openxmlformats.org/officeDocument/2006/extended-properties" xmlns:vt="http://schemas.openxmlformats.org/officeDocument/2006/docPropsVTypes">
  <Template/>
  <TotalTime>15450</TotalTime>
  <Words>7118</Words>
  <Application>Microsoft Office PowerPoint</Application>
  <PresentationFormat>宽屏</PresentationFormat>
  <Paragraphs>1024</Paragraphs>
  <Slides>101</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101</vt:i4>
      </vt:variant>
    </vt:vector>
  </HeadingPairs>
  <TitlesOfParts>
    <vt:vector size="114" baseType="lpstr">
      <vt:lpstr>方正姚体</vt:lpstr>
      <vt:lpstr>华文新魏</vt:lpstr>
      <vt:lpstr>楷体_GB2312</vt:lpstr>
      <vt:lpstr>隶书</vt:lpstr>
      <vt:lpstr>宋体</vt:lpstr>
      <vt:lpstr>微软雅黑</vt:lpstr>
      <vt:lpstr>微软雅黑</vt:lpstr>
      <vt:lpstr>Arial</vt:lpstr>
      <vt:lpstr>Calibri</vt:lpstr>
      <vt:lpstr>Tahoma</vt:lpstr>
      <vt:lpstr>Times New Roman</vt:lpstr>
      <vt:lpstr>Wingdings</vt:lpstr>
      <vt:lpstr>带有标题的</vt:lpstr>
      <vt:lpstr>PowerPoint 演示文稿</vt:lpstr>
      <vt:lpstr>PowerPoint 演示文稿</vt:lpstr>
      <vt:lpstr>数据库设计概述</vt:lpstr>
      <vt:lpstr>PowerPoint 演示文稿</vt:lpstr>
      <vt:lpstr>PowerPoint 演示文稿</vt:lpstr>
      <vt:lpstr>10.1.1数据库设计的任务与内容</vt:lpstr>
      <vt:lpstr>PowerPoint 演示文稿</vt:lpstr>
      <vt:lpstr>PowerPoint 演示文稿</vt:lpstr>
      <vt:lpstr>PowerPoint 演示文稿</vt:lpstr>
      <vt:lpstr>数据库系统的生存期</vt:lpstr>
      <vt:lpstr>10.1.2数据库设计的方法</vt:lpstr>
      <vt:lpstr>PowerPoint 演示文稿</vt:lpstr>
      <vt:lpstr>PowerPoint 演示文稿</vt:lpstr>
      <vt:lpstr>PowerPoint 演示文稿</vt:lpstr>
      <vt:lpstr>10.1.3数据库设计的步骤</vt:lpstr>
      <vt:lpstr>PowerPoint 演示文稿</vt:lpstr>
      <vt:lpstr>PowerPoint 演示文稿</vt:lpstr>
      <vt:lpstr>PowerPoint 演示文稿</vt:lpstr>
      <vt:lpstr>PowerPoint 演示文稿</vt:lpstr>
      <vt:lpstr>需求分析</vt:lpstr>
      <vt:lpstr>PowerPoint 演示文稿</vt:lpstr>
      <vt:lpstr>PowerPoint 演示文稿</vt:lpstr>
      <vt:lpstr>需求分析就是弄清用户对目标系统在数据、功能和非功能（性能、约束等）方面的全部确切要求，是整个设计的基础和起点！</vt:lpstr>
      <vt:lpstr>PowerPoint 演示文稿</vt:lpstr>
      <vt:lpstr>PowerPoint 演示文稿</vt:lpstr>
      <vt:lpstr>PowerPoint 演示文稿</vt:lpstr>
      <vt:lpstr>需求分析就是弄清用户对目标系统在数据、功能和非功能（性能、约束等）方面的全部确切要求，是整个设计的基础和起点！</vt:lpstr>
      <vt:lpstr>PowerPoint 演示文稿</vt:lpstr>
      <vt:lpstr>概念结构设计</vt:lpstr>
      <vt:lpstr>10.3.1概念结构设计概述</vt:lpstr>
      <vt:lpstr>PowerPoint 演示文稿</vt:lpstr>
      <vt:lpstr>PowerPoint 演示文稿</vt:lpstr>
      <vt:lpstr>PowerPoint 演示文稿</vt:lpstr>
      <vt:lpstr>E-R模型示例</vt:lpstr>
      <vt:lpstr>E-R模型中的基本概念</vt:lpstr>
      <vt:lpstr>E-R模型中的基本概念</vt:lpstr>
      <vt:lpstr>E-R模型的绘制</vt:lpstr>
      <vt:lpstr>E-R模型绘制工具</vt:lpstr>
      <vt:lpstr>PowerPoint 演示文稿</vt:lpstr>
      <vt:lpstr>PowerPoint 演示文稿</vt:lpstr>
      <vt:lpstr>设计步骤1：选择局部应用，逐一设计分E-R图</vt:lpstr>
      <vt:lpstr>设计步骤2：视图的集成</vt:lpstr>
      <vt:lpstr>集成分E-R图的冲突</vt:lpstr>
      <vt:lpstr>分E-R图之间的冲突</vt:lpstr>
      <vt:lpstr>分E-R图之间的冲突</vt:lpstr>
      <vt:lpstr>分E-R图之间的冲突</vt:lpstr>
      <vt:lpstr>分E-R图之间的冲突</vt:lpstr>
      <vt:lpstr>PowerPoint 演示文稿</vt:lpstr>
      <vt:lpstr>PowerPoint 演示文稿</vt:lpstr>
      <vt:lpstr>逻辑结构设计</vt:lpstr>
      <vt:lpstr>逻辑结构设计 </vt:lpstr>
      <vt:lpstr>PowerPoint 演示文稿</vt:lpstr>
      <vt:lpstr>PowerPoint 演示文稿</vt:lpstr>
      <vt:lpstr>PowerPoint 演示文稿</vt:lpstr>
      <vt:lpstr>PowerPoint 演示文稿</vt:lpstr>
      <vt:lpstr>第一步：E-R图转换成数据模型</vt:lpstr>
      <vt:lpstr>第一步：E-R图转换成数据模型</vt:lpstr>
      <vt:lpstr>第一步：E-R图转换成数据模型</vt:lpstr>
      <vt:lpstr>第一步：E-R图转换成数据模型</vt:lpstr>
      <vt:lpstr>第一步：E-R图转换成数据模型</vt:lpstr>
      <vt:lpstr>PowerPoint 演示文稿</vt:lpstr>
      <vt:lpstr>优化的几个例子</vt:lpstr>
      <vt:lpstr>优化的几个例子</vt:lpstr>
      <vt:lpstr>优化的几个例子</vt:lpstr>
      <vt:lpstr>关系模式规范化</vt:lpstr>
      <vt:lpstr>PowerPoint 演示文稿</vt:lpstr>
      <vt:lpstr>模式评价与改进</vt:lpstr>
      <vt:lpstr>PowerPoint 演示文稿</vt:lpstr>
      <vt:lpstr>PowerPoint 演示文稿</vt:lpstr>
      <vt:lpstr>PowerPoint 演示文稿</vt:lpstr>
      <vt:lpstr>PowerPoint 演示文稿</vt:lpstr>
      <vt:lpstr>PowerPoint 演示文稿</vt:lpstr>
      <vt:lpstr>物理结构设计</vt:lpstr>
      <vt:lpstr>物理设计</vt:lpstr>
      <vt:lpstr>PowerPoint 演示文稿</vt:lpstr>
      <vt:lpstr>PowerPoint 演示文稿</vt:lpstr>
      <vt:lpstr>PowerPoint 演示文稿</vt:lpstr>
      <vt:lpstr>物理结构设计就是为逻辑模型选取一个最适合应用要求的物理结构的过程。</vt:lpstr>
      <vt:lpstr>确定物理结构</vt:lpstr>
      <vt:lpstr>PowerPoint 演示文稿</vt:lpstr>
      <vt:lpstr>PowerPoint 演示文稿</vt:lpstr>
      <vt:lpstr>PowerPoint 演示文稿</vt:lpstr>
      <vt:lpstr>PowerPoint 演示文稿</vt:lpstr>
      <vt:lpstr>PowerPoint 演示文稿</vt:lpstr>
      <vt:lpstr>评价物理结构</vt:lpstr>
      <vt:lpstr>数据库实施与维护</vt:lpstr>
      <vt:lpstr>数据库的实施</vt:lpstr>
      <vt:lpstr>PowerPoint 演示文稿</vt:lpstr>
      <vt:lpstr>PowerPoint 演示文稿</vt:lpstr>
      <vt:lpstr>PowerPoint 演示文稿</vt:lpstr>
      <vt:lpstr>PowerPoint 演示文稿</vt:lpstr>
      <vt:lpstr>PowerPoint 演示文稿</vt:lpstr>
      <vt:lpstr>数据库的实施</vt:lpstr>
      <vt:lpstr>数据库的实施</vt:lpstr>
      <vt:lpstr>数据库的运行和维护</vt:lpstr>
      <vt:lpstr>PowerPoint 演示文稿</vt:lpstr>
      <vt:lpstr>PowerPoint 演示文稿</vt:lpstr>
      <vt:lpstr>PowerPoint 演示文稿</vt:lpstr>
      <vt:lpstr>PowerPoint 演示文稿</vt:lpstr>
      <vt:lpstr>数据库的维护</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Administrator</cp:lastModifiedBy>
  <cp:revision>1822</cp:revision>
  <dcterms:created xsi:type="dcterms:W3CDTF">1601-01-01T00:00:00Z</dcterms:created>
  <dcterms:modified xsi:type="dcterms:W3CDTF">2025-12-10T09:28:37Z</dcterms:modified>
</cp:coreProperties>
</file>