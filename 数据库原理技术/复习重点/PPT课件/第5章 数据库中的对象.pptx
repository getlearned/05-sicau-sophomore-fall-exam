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9"/>
  </p:notesMasterIdLst>
  <p:sldIdLst>
    <p:sldId id="256" r:id="rId2"/>
    <p:sldId id="659" r:id="rId3"/>
    <p:sldId id="257" r:id="rId4"/>
    <p:sldId id="660" r:id="rId5"/>
    <p:sldId id="661" r:id="rId6"/>
    <p:sldId id="662" r:id="rId7"/>
    <p:sldId id="285" r:id="rId8"/>
    <p:sldId id="655" r:id="rId9"/>
    <p:sldId id="664" r:id="rId10"/>
    <p:sldId id="665" r:id="rId11"/>
    <p:sldId id="666" r:id="rId12"/>
    <p:sldId id="667" r:id="rId13"/>
    <p:sldId id="668" r:id="rId14"/>
    <p:sldId id="669" r:id="rId15"/>
    <p:sldId id="670" r:id="rId16"/>
    <p:sldId id="671" r:id="rId17"/>
    <p:sldId id="672" r:id="rId18"/>
    <p:sldId id="673" r:id="rId19"/>
    <p:sldId id="674" r:id="rId20"/>
    <p:sldId id="676" r:id="rId21"/>
    <p:sldId id="675" r:id="rId22"/>
    <p:sldId id="677" r:id="rId23"/>
    <p:sldId id="258" r:id="rId24"/>
    <p:sldId id="259" r:id="rId25"/>
    <p:sldId id="678" r:id="rId26"/>
    <p:sldId id="260" r:id="rId27"/>
    <p:sldId id="679" r:id="rId28"/>
    <p:sldId id="680" r:id="rId29"/>
    <p:sldId id="663" r:id="rId30"/>
    <p:sldId id="656" r:id="rId31"/>
    <p:sldId id="286" r:id="rId32"/>
    <p:sldId id="263" r:id="rId33"/>
    <p:sldId id="657" r:id="rId34"/>
    <p:sldId id="682" r:id="rId35"/>
    <p:sldId id="683" r:id="rId36"/>
    <p:sldId id="684" r:id="rId37"/>
    <p:sldId id="685" r:id="rId38"/>
    <p:sldId id="264" r:id="rId39"/>
    <p:sldId id="686" r:id="rId40"/>
    <p:sldId id="687" r:id="rId41"/>
    <p:sldId id="688" r:id="rId42"/>
    <p:sldId id="265" r:id="rId43"/>
    <p:sldId id="266" r:id="rId44"/>
    <p:sldId id="267" r:id="rId45"/>
    <p:sldId id="268" r:id="rId46"/>
    <p:sldId id="689" r:id="rId47"/>
    <p:sldId id="269" r:id="rId48"/>
    <p:sldId id="270" r:id="rId49"/>
    <p:sldId id="271" r:id="rId50"/>
    <p:sldId id="272" r:id="rId51"/>
    <p:sldId id="690" r:id="rId52"/>
    <p:sldId id="691" r:id="rId53"/>
    <p:sldId id="692" r:id="rId54"/>
    <p:sldId id="693" r:id="rId55"/>
    <p:sldId id="273" r:id="rId56"/>
    <p:sldId id="287" r:id="rId57"/>
    <p:sldId id="694" r:id="rId58"/>
    <p:sldId id="274" r:id="rId59"/>
    <p:sldId id="695" r:id="rId60"/>
    <p:sldId id="696" r:id="rId61"/>
    <p:sldId id="275" r:id="rId62"/>
    <p:sldId id="697" r:id="rId63"/>
    <p:sldId id="698" r:id="rId64"/>
    <p:sldId id="699" r:id="rId65"/>
    <p:sldId id="700" r:id="rId66"/>
    <p:sldId id="701" r:id="rId67"/>
    <p:sldId id="702" r:id="rId68"/>
    <p:sldId id="703" r:id="rId69"/>
    <p:sldId id="704" r:id="rId70"/>
    <p:sldId id="705" r:id="rId71"/>
    <p:sldId id="706" r:id="rId72"/>
    <p:sldId id="277" r:id="rId73"/>
    <p:sldId id="278" r:id="rId74"/>
    <p:sldId id="288" r:id="rId75"/>
    <p:sldId id="279" r:id="rId76"/>
    <p:sldId id="707" r:id="rId77"/>
    <p:sldId id="280" r:id="rId78"/>
    <p:sldId id="710" r:id="rId79"/>
    <p:sldId id="708" r:id="rId80"/>
    <p:sldId id="289" r:id="rId81"/>
    <p:sldId id="711" r:id="rId82"/>
    <p:sldId id="712" r:id="rId83"/>
    <p:sldId id="713" r:id="rId84"/>
    <p:sldId id="714" r:id="rId85"/>
    <p:sldId id="715" r:id="rId86"/>
    <p:sldId id="716" r:id="rId87"/>
    <p:sldId id="717" r:id="rId88"/>
    <p:sldId id="718" r:id="rId89"/>
    <p:sldId id="719" r:id="rId90"/>
    <p:sldId id="283" r:id="rId91"/>
    <p:sldId id="652" r:id="rId92"/>
    <p:sldId id="653" r:id="rId93"/>
    <p:sldId id="654" r:id="rId94"/>
    <p:sldId id="720" r:id="rId95"/>
    <p:sldId id="721" r:id="rId96"/>
    <p:sldId id="722" r:id="rId97"/>
    <p:sldId id="723" r:id="rId9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E8A5106-687A-450D-BB27-DB4A53806402}">
          <p14:sldIdLst>
            <p14:sldId id="256"/>
            <p14:sldId id="659"/>
          </p14:sldIdLst>
        </p14:section>
        <p14:section name="无标题节" id="{5D17D565-BF3E-4E1C-8E50-BC818473CB61}">
          <p14:sldIdLst>
            <p14:sldId id="257"/>
            <p14:sldId id="660"/>
            <p14:sldId id="661"/>
            <p14:sldId id="662"/>
            <p14:sldId id="285"/>
            <p14:sldId id="655"/>
            <p14:sldId id="664"/>
            <p14:sldId id="665"/>
            <p14:sldId id="666"/>
            <p14:sldId id="667"/>
            <p14:sldId id="668"/>
            <p14:sldId id="669"/>
            <p14:sldId id="670"/>
            <p14:sldId id="671"/>
            <p14:sldId id="672"/>
            <p14:sldId id="673"/>
            <p14:sldId id="674"/>
            <p14:sldId id="676"/>
            <p14:sldId id="675"/>
            <p14:sldId id="677"/>
            <p14:sldId id="258"/>
            <p14:sldId id="259"/>
            <p14:sldId id="678"/>
            <p14:sldId id="260"/>
            <p14:sldId id="679"/>
            <p14:sldId id="680"/>
            <p14:sldId id="663"/>
            <p14:sldId id="656"/>
            <p14:sldId id="286"/>
            <p14:sldId id="263"/>
            <p14:sldId id="657"/>
            <p14:sldId id="682"/>
            <p14:sldId id="683"/>
            <p14:sldId id="684"/>
            <p14:sldId id="685"/>
            <p14:sldId id="264"/>
            <p14:sldId id="686"/>
            <p14:sldId id="687"/>
            <p14:sldId id="688"/>
            <p14:sldId id="265"/>
            <p14:sldId id="266"/>
            <p14:sldId id="267"/>
            <p14:sldId id="268"/>
            <p14:sldId id="689"/>
            <p14:sldId id="269"/>
            <p14:sldId id="270"/>
            <p14:sldId id="271"/>
            <p14:sldId id="272"/>
            <p14:sldId id="690"/>
            <p14:sldId id="691"/>
            <p14:sldId id="692"/>
            <p14:sldId id="693"/>
            <p14:sldId id="273"/>
            <p14:sldId id="287"/>
            <p14:sldId id="694"/>
            <p14:sldId id="274"/>
            <p14:sldId id="695"/>
            <p14:sldId id="696"/>
            <p14:sldId id="275"/>
            <p14:sldId id="697"/>
            <p14:sldId id="698"/>
            <p14:sldId id="699"/>
            <p14:sldId id="700"/>
            <p14:sldId id="701"/>
            <p14:sldId id="702"/>
            <p14:sldId id="703"/>
            <p14:sldId id="704"/>
            <p14:sldId id="705"/>
            <p14:sldId id="706"/>
            <p14:sldId id="277"/>
            <p14:sldId id="278"/>
            <p14:sldId id="288"/>
            <p14:sldId id="279"/>
            <p14:sldId id="707"/>
            <p14:sldId id="280"/>
            <p14:sldId id="710"/>
            <p14:sldId id="708"/>
            <p14:sldId id="289"/>
            <p14:sldId id="711"/>
            <p14:sldId id="712"/>
            <p14:sldId id="713"/>
            <p14:sldId id="714"/>
            <p14:sldId id="715"/>
            <p14:sldId id="716"/>
            <p14:sldId id="717"/>
            <p14:sldId id="718"/>
            <p14:sldId id="719"/>
            <p14:sldId id="283"/>
          </p14:sldIdLst>
        </p14:section>
        <p14:section name="默认节" id="{1BEE69AB-DD72-49C7-9D27-3DE7967C4B5C}">
          <p14:sldIdLst>
            <p14:sldId id="652"/>
            <p14:sldId id="653"/>
            <p14:sldId id="654"/>
            <p14:sldId id="720"/>
            <p14:sldId id="721"/>
            <p14:sldId id="722"/>
            <p14:sldId id="723"/>
          </p14:sldIdLst>
        </p14:section>
        <p14:section name="无标题节" id="{F40BDE25-56A0-4F42-A755-85D9FEE9BB27}">
          <p14:sldIdLst/>
        </p14:section>
        <p14:section name="默认节" id="{CA90CE24-3E7E-4FBD-BBF7-A248EB3B364A}">
          <p14:sldIdLst/>
        </p14:section>
        <p14:section name="无标题节" id="{E92612EF-14D6-4880-8E6B-BB4AE3A6D28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nsir" initials="p" lastIdx="1" clrIdx="0">
    <p:extLst>
      <p:ext uri="{19B8F6BF-5375-455C-9EA6-DF929625EA0E}">
        <p15:presenceInfo xmlns:p15="http://schemas.microsoft.com/office/powerpoint/2012/main" userId="pansi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1B37"/>
    <a:srgbClr val="00194D"/>
    <a:srgbClr val="66FF33"/>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88" autoAdjust="0"/>
    <p:restoredTop sz="86372" autoAdjust="0"/>
  </p:normalViewPr>
  <p:slideViewPr>
    <p:cSldViewPr>
      <p:cViewPr varScale="1">
        <p:scale>
          <a:sx n="115" d="100"/>
          <a:sy n="115" d="100"/>
        </p:scale>
        <p:origin x="396" y="102"/>
      </p:cViewPr>
      <p:guideLst>
        <p:guide orient="horz" pos="2160"/>
        <p:guide pos="3840"/>
      </p:guideLst>
    </p:cSldViewPr>
  </p:slideViewPr>
  <p:outlineViewPr>
    <p:cViewPr>
      <p:scale>
        <a:sx n="33" d="100"/>
        <a:sy n="33" d="100"/>
      </p:scale>
      <p:origin x="0" y="9150"/>
    </p:cViewPr>
  </p:outlineViewPr>
  <p:notesTextViewPr>
    <p:cViewPr>
      <p:scale>
        <a:sx n="1" d="1"/>
        <a:sy n="1" d="1"/>
      </p:scale>
      <p:origin x="0" y="0"/>
    </p:cViewPr>
  </p:notesTextViewPr>
  <p:notesViewPr>
    <p:cSldViewPr>
      <p:cViewPr varScale="1">
        <p:scale>
          <a:sx n="48" d="100"/>
          <a:sy n="48" d="100"/>
        </p:scale>
        <p:origin x="-2982"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9BBECC-95BD-44F0-9A5B-3A77644942D4}" type="datetimeFigureOut">
              <a:rPr lang="zh-CN" altLang="en-US" smtClean="0"/>
              <a:t>2025/11/13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A304DF-C1BA-40AE-A248-EE1FD47657DE}" type="slidenum">
              <a:rPr lang="zh-CN" altLang="en-US" smtClean="0"/>
              <a:t>‹#›</a:t>
            </a:fld>
            <a:endParaRPr lang="zh-CN" altLang="en-US"/>
          </a:p>
        </p:txBody>
      </p:sp>
    </p:spTree>
    <p:extLst>
      <p:ext uri="{BB962C8B-B14F-4D97-AF65-F5344CB8AC3E}">
        <p14:creationId xmlns:p14="http://schemas.microsoft.com/office/powerpoint/2010/main" val="1123407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idx="4294967295"/>
          </p:nvPr>
        </p:nvSpPr>
        <p:spPr>
          <a:ln/>
        </p:spPr>
      </p:sp>
      <p:sp>
        <p:nvSpPr>
          <p:cNvPr id="6147" name="Rectangle 3"/>
          <p:cNvSpPr>
            <a:spLocks noGrp="1" noChangeArrowheads="1"/>
          </p:cNvSpPr>
          <p:nvPr>
            <p:ph type="body" idx="4294967295"/>
          </p:nvPr>
        </p:nvSpPr>
        <p:spPr/>
        <p:txBody>
          <a:bodyPr>
            <a:prstTxWarp prst="textNoShape">
              <a:avLst/>
            </a:prstTxWarp>
          </a:bodyPr>
          <a:lstStyle/>
          <a:p>
            <a:endParaRPr lang="zh-CN" altLang="en-US" smtClean="0"/>
          </a:p>
        </p:txBody>
      </p:sp>
    </p:spTree>
    <p:extLst>
      <p:ext uri="{BB962C8B-B14F-4D97-AF65-F5344CB8AC3E}">
        <p14:creationId xmlns:p14="http://schemas.microsoft.com/office/powerpoint/2010/main" val="3973764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ChangeArrowheads="1" noTextEdit="1"/>
          </p:cNvSpPr>
          <p:nvPr>
            <p:ph type="sldImg" idx="4294967295"/>
          </p:nvPr>
        </p:nvSpPr>
        <p:spPr>
          <a:ln/>
        </p:spPr>
      </p:sp>
      <p:sp>
        <p:nvSpPr>
          <p:cNvPr id="43011" name="备注占位符 2"/>
          <p:cNvSpPr>
            <a:spLocks noGrp="1" noChangeArrowheads="1"/>
          </p:cNvSpPr>
          <p:nvPr>
            <p:ph type="body" idx="4294967295"/>
          </p:nvPr>
        </p:nvSpPr>
        <p:spPr/>
        <p:txBody>
          <a:bodyPr>
            <a:prstTxWarp prst="textNoShape">
              <a:avLst/>
            </a:prstTxWarp>
          </a:bodyPr>
          <a:lstStyle/>
          <a:p>
            <a:endParaRPr lang="zh-CN" altLang="en-US" smtClean="0"/>
          </a:p>
        </p:txBody>
      </p:sp>
      <p:sp>
        <p:nvSpPr>
          <p:cNvPr id="430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BD9764C3-1B3D-4482-82DA-EEA762A50C21}" type="slidenum">
              <a:rPr lang="en-US" altLang="zh-CN" smtClean="0"/>
              <a:pPr/>
              <a:t>36</a:t>
            </a:fld>
            <a:endParaRPr lang="en-US" altLang="zh-CN" smtClean="0"/>
          </a:p>
        </p:txBody>
      </p:sp>
    </p:spTree>
    <p:extLst>
      <p:ext uri="{BB962C8B-B14F-4D97-AF65-F5344CB8AC3E}">
        <p14:creationId xmlns:p14="http://schemas.microsoft.com/office/powerpoint/2010/main" val="16865115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D1B5A025-E70E-4C35-8A2F-895130CE725C}" type="datetime1">
              <a:rPr lang="zh-CN" altLang="en-US" smtClean="0"/>
              <a:t>2025/11/13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528494217"/>
      </p:ext>
    </p:extLst>
  </p:cSld>
  <p:clrMapOvr>
    <a:masterClrMapping/>
  </p:clrMapOvr>
  <p:transition spd="slow">
    <p:wipe dir="r"/>
    <p:sndAc>
      <p:stSnd>
        <p:snd r:embed="rId1" name="arrow.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107BBC75-E380-434B-AD0B-5F53DE279C70}" type="datetime1">
              <a:rPr lang="zh-CN" altLang="en-US" smtClean="0"/>
              <a:t>2025/11/13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3480636031"/>
      </p:ext>
    </p:extLst>
  </p:cSld>
  <p:clrMapOvr>
    <a:masterClrMapping/>
  </p:clrMapOvr>
  <p:transition spd="slow">
    <p:wipe dir="r"/>
    <p:sndAc>
      <p:stSnd>
        <p:snd r:embed="rId1" name="arrow.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3F7B9028-EFD2-4CE3-89F1-610E68FDCB6D}" type="datetime1">
              <a:rPr lang="zh-CN" altLang="en-US" smtClean="0"/>
              <a:t>2025/11/13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3955692531"/>
      </p:ext>
    </p:extLst>
  </p:cSld>
  <p:clrMapOvr>
    <a:masterClrMapping/>
  </p:clrMapOvr>
  <p:transition spd="slow">
    <p:wipe dir="r"/>
    <p:sndAc>
      <p:stSnd>
        <p:snd r:embed="rId1" name="arrow.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09600" y="6356351"/>
            <a:ext cx="2844800" cy="365125"/>
          </a:xfrm>
          <a:prstGeom prst="rect">
            <a:avLst/>
          </a:prstGeom>
        </p:spPr>
        <p:txBody>
          <a:bodyPr/>
          <a:lstStyle/>
          <a:p>
            <a:fld id="{2BCED292-1EC3-4AE4-81E2-E741366697CF}" type="datetime1">
              <a:rPr lang="zh-CN" altLang="en-US" smtClean="0"/>
              <a:t>2025/11/13</a:t>
            </a:fld>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527613974"/>
      </p:ext>
    </p:extLst>
  </p:cSld>
  <p:clrMapOvr>
    <a:masterClrMapping/>
  </p:clrMapOvr>
  <p:transition spd="slow">
    <p:wipe dir="r"/>
    <p:sndAc>
      <p:stSnd>
        <p:snd r:embed="rId1" name="arrow.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09600" y="6356351"/>
            <a:ext cx="2844800" cy="365125"/>
          </a:xfrm>
          <a:prstGeom prst="rect">
            <a:avLst/>
          </a:prstGeom>
        </p:spPr>
        <p:txBody>
          <a:bodyPr/>
          <a:lstStyle/>
          <a:p>
            <a:fld id="{3E64732C-ECE4-4EC6-BE20-E57D657D8BBE}" type="datetime1">
              <a:rPr lang="zh-CN" altLang="en-US" smtClean="0"/>
              <a:t>2025/11/13</a:t>
            </a:fld>
            <a:endParaRPr lang="zh-CN" altLang="en-US"/>
          </a:p>
        </p:txBody>
      </p:sp>
      <p:sp>
        <p:nvSpPr>
          <p:cNvPr id="8" name="页脚占位符 7"/>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375138244"/>
      </p:ext>
    </p:extLst>
  </p:cSld>
  <p:clrMapOvr>
    <a:masterClrMapping/>
  </p:clrMapOvr>
  <p:transition spd="slow">
    <p:wipe dir="r"/>
    <p:sndAc>
      <p:stSnd>
        <p:snd r:embed="rId1" name="arrow.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a:xfrm>
            <a:off x="609600" y="6356351"/>
            <a:ext cx="2844800" cy="365125"/>
          </a:xfrm>
          <a:prstGeom prst="rect">
            <a:avLst/>
          </a:prstGeom>
        </p:spPr>
        <p:txBody>
          <a:bodyPr/>
          <a:lstStyle/>
          <a:p>
            <a:fld id="{D14640B5-3556-41B8-8FB0-3E9DAAC194B3}" type="datetime1">
              <a:rPr lang="zh-CN" altLang="en-US" smtClean="0"/>
              <a:t>2025/11/13</a:t>
            </a:fld>
            <a:endParaRPr lang="zh-CN" altLang="en-US"/>
          </a:p>
        </p:txBody>
      </p:sp>
      <p:sp>
        <p:nvSpPr>
          <p:cNvPr id="4" name="页脚占位符 3"/>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204638713"/>
      </p:ext>
    </p:extLst>
  </p:cSld>
  <p:clrMapOvr>
    <a:masterClrMapping/>
  </p:clrMapOvr>
  <p:transition spd="slow">
    <p:wipe dir="r"/>
    <p:sndAc>
      <p:stSnd>
        <p:snd r:embed="rId1" name="arrow.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lstStyle/>
          <a:p>
            <a:fld id="{DFB7B6A1-A41E-496D-935D-4968D9CBD32F}" type="datetime1">
              <a:rPr lang="zh-CN" altLang="en-US" smtClean="0"/>
              <a:t>2025/11/13</a:t>
            </a:fld>
            <a:endParaRPr lang="zh-CN" altLang="en-US"/>
          </a:p>
        </p:txBody>
      </p:sp>
      <p:sp>
        <p:nvSpPr>
          <p:cNvPr id="3" name="页脚占位符 2"/>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3643391146"/>
      </p:ext>
    </p:extLst>
  </p:cSld>
  <p:clrMapOvr>
    <a:masterClrMapping/>
  </p:clrMapOvr>
  <p:transition spd="slow">
    <p:wipe dir="r"/>
    <p:sndAc>
      <p:stSnd>
        <p:snd r:embed="rId1" name="arrow.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00" y="6356351"/>
            <a:ext cx="2844800" cy="365125"/>
          </a:xfrm>
          <a:prstGeom prst="rect">
            <a:avLst/>
          </a:prstGeom>
        </p:spPr>
        <p:txBody>
          <a:bodyPr/>
          <a:lstStyle/>
          <a:p>
            <a:fld id="{3C2CDB7F-C2C0-4A9C-A497-2ECD2905FE50}" type="datetime1">
              <a:rPr lang="zh-CN" altLang="en-US" smtClean="0"/>
              <a:t>2025/11/13</a:t>
            </a:fld>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105957631"/>
      </p:ext>
    </p:extLst>
  </p:cSld>
  <p:clrMapOvr>
    <a:masterClrMapping/>
  </p:clrMapOvr>
  <p:transition spd="slow">
    <p:wipe dir="r"/>
    <p:sndAc>
      <p:stSnd>
        <p:snd r:embed="rId1" name="arrow.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00" y="6356351"/>
            <a:ext cx="2844800" cy="365125"/>
          </a:xfrm>
          <a:prstGeom prst="rect">
            <a:avLst/>
          </a:prstGeom>
        </p:spPr>
        <p:txBody>
          <a:bodyPr/>
          <a:lstStyle/>
          <a:p>
            <a:fld id="{5EB10102-4C6D-4331-8AB5-5C2A45714BF9}" type="datetime1">
              <a:rPr lang="zh-CN" altLang="en-US" smtClean="0"/>
              <a:t>2025/11/13</a:t>
            </a:fld>
            <a:endParaRPr lang="zh-CN" altLang="en-US"/>
          </a:p>
        </p:txBody>
      </p:sp>
      <p:sp>
        <p:nvSpPr>
          <p:cNvPr id="6" name="页脚占位符 5"/>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2784601604"/>
      </p:ext>
    </p:extLst>
  </p:cSld>
  <p:clrMapOvr>
    <a:masterClrMapping/>
  </p:clrMapOvr>
  <p:transition spd="slow">
    <p:wipe dir="r"/>
    <p:sndAc>
      <p:stSnd>
        <p:snd r:embed="rId1" name="arrow.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C8DE651A-EC67-4CCC-871C-57421DE01D63}" type="datetime1">
              <a:rPr lang="zh-CN" altLang="en-US" smtClean="0"/>
              <a:t>2025/11/13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207155770"/>
      </p:ext>
    </p:extLst>
  </p:cSld>
  <p:clrMapOvr>
    <a:masterClrMapping/>
  </p:clrMapOvr>
  <p:transition spd="slow">
    <p:wipe dir="r"/>
    <p:sndAc>
      <p:stSnd>
        <p:snd r:embed="rId1" name="arrow.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44B8941B-81F1-4C39-8858-45501A798EF4}" type="datetime1">
              <a:rPr lang="zh-CN" altLang="en-US" smtClean="0"/>
              <a:t>2025/11/13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DAC636D-AD7D-4FC6-A0F9-DD2B0358BE85}" type="slidenum">
              <a:rPr lang="zh-CN" altLang="en-US" smtClean="0"/>
              <a:t>‹#›</a:t>
            </a:fld>
            <a:endParaRPr lang="zh-CN" altLang="en-US"/>
          </a:p>
        </p:txBody>
      </p:sp>
    </p:spTree>
    <p:extLst>
      <p:ext uri="{BB962C8B-B14F-4D97-AF65-F5344CB8AC3E}">
        <p14:creationId xmlns:p14="http://schemas.microsoft.com/office/powerpoint/2010/main" val="1624791346"/>
      </p:ext>
    </p:extLst>
  </p:cSld>
  <p:clrMapOvr>
    <a:masterClrMapping/>
  </p:clrMapOvr>
  <p:transition spd="slow">
    <p:wipe dir="r"/>
    <p:sndAc>
      <p:stSnd>
        <p:snd r:embed="rId1" name="arrow.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B37"/>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710903" y="89440"/>
            <a:ext cx="6340197" cy="707886"/>
          </a:xfrm>
          <a:prstGeom prst="rect">
            <a:avLst/>
          </a:prstGeom>
          <a:noFill/>
          <a:ln w="9525">
            <a:noFill/>
            <a:miter lim="800000"/>
            <a:headEnd/>
            <a:tailEnd/>
          </a:ln>
          <a:effectLst>
            <a:outerShdw dist="17961" dir="2700000" algn="ctr" rotWithShape="0">
              <a:schemeClr val="bg2"/>
            </a:outerShdw>
          </a:effectLst>
        </p:spPr>
        <p:txBody>
          <a:bodyPr vert="horz" wrap="none" lIns="91440" tIns="45720" rIns="91440" bIns="45720" numCol="1" anchor="ctr" anchorCtr="0" compatLnSpc="1">
            <a:prstTxWarp prst="textNoShape">
              <a:avLst/>
            </a:prstTxWarp>
            <a:spAutoFit/>
          </a:bodyPr>
          <a:lstStyle/>
          <a:p>
            <a:pPr lvl="0" algn="l" eaLnBrk="0" fontAlgn="base" hangingPunct="0">
              <a:spcAft>
                <a:spcPct val="0"/>
              </a:spcAft>
            </a:pPr>
            <a:r>
              <a:rPr lang="zh-CN" altLang="en-US" dirty="0"/>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椭圆 9"/>
          <p:cNvSpPr/>
          <p:nvPr userDrawn="1"/>
        </p:nvSpPr>
        <p:spPr>
          <a:xfrm rot="16200000">
            <a:off x="222576" y="244210"/>
            <a:ext cx="398347" cy="398346"/>
          </a:xfrm>
          <a:prstGeom prst="ellipse">
            <a:avLst/>
          </a:prstGeom>
          <a:noFill/>
          <a:ln>
            <a:solidFill>
              <a:srgbClr val="FCF873">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cxnSp>
        <p:nvCxnSpPr>
          <p:cNvPr id="11" name="直接连接符 10"/>
          <p:cNvCxnSpPr/>
          <p:nvPr userDrawn="1"/>
        </p:nvCxnSpPr>
        <p:spPr>
          <a:xfrm>
            <a:off x="-183148" y="445961"/>
            <a:ext cx="495705" cy="0"/>
          </a:xfrm>
          <a:prstGeom prst="line">
            <a:avLst/>
          </a:prstGeom>
          <a:ln>
            <a:solidFill>
              <a:srgbClr val="FCF873">
                <a:alpha val="70000"/>
              </a:srgbClr>
            </a:solidFill>
          </a:ln>
        </p:spPr>
        <p:style>
          <a:lnRef idx="1">
            <a:schemeClr val="accent1"/>
          </a:lnRef>
          <a:fillRef idx="0">
            <a:schemeClr val="accent1"/>
          </a:fillRef>
          <a:effectRef idx="0">
            <a:schemeClr val="accent1"/>
          </a:effectRef>
          <a:fontRef idx="minor">
            <a:schemeClr val="tx1"/>
          </a:fontRef>
        </p:style>
      </p:cxnSp>
      <p:sp>
        <p:nvSpPr>
          <p:cNvPr id="12" name="椭圆 11"/>
          <p:cNvSpPr>
            <a:spLocks noChangeAspect="1"/>
          </p:cNvSpPr>
          <p:nvPr userDrawn="1"/>
        </p:nvSpPr>
        <p:spPr>
          <a:xfrm rot="16200000">
            <a:off x="312557" y="334925"/>
            <a:ext cx="221871" cy="221871"/>
          </a:xfrm>
          <a:prstGeom prst="ellipse">
            <a:avLst/>
          </a:prstGeom>
          <a:gradFill>
            <a:gsLst>
              <a:gs pos="68000">
                <a:srgbClr val="C69135"/>
              </a:gs>
              <a:gs pos="31000">
                <a:srgbClr val="E6D38F"/>
              </a:gs>
              <a:gs pos="0">
                <a:srgbClr val="FCD860"/>
              </a:gs>
              <a:gs pos="100000">
                <a:srgbClr val="F1DF97"/>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1DF97"/>
              </a:solidFill>
            </a:endParaRPr>
          </a:p>
        </p:txBody>
      </p:sp>
    </p:spTree>
    <p:extLst>
      <p:ext uri="{BB962C8B-B14F-4D97-AF65-F5344CB8AC3E}">
        <p14:creationId xmlns:p14="http://schemas.microsoft.com/office/powerpoint/2010/main" val="4241664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r"/>
    <p:sndAc>
      <p:stSnd>
        <p:snd r:embed="rId13" name="arrow.wav"/>
      </p:stSnd>
    </p:sndAc>
  </p:transition>
  <p:hf sldNum="0" hdr="0" ftr="0" dt="0"/>
  <p:txStyles>
    <p:titleStyle>
      <a:lvl1pPr algn="ctr" defTabSz="914400" rtl="0" eaLnBrk="1" latinLnBrk="0" hangingPunct="1">
        <a:spcBef>
          <a:spcPct val="0"/>
        </a:spcBef>
        <a:buNone/>
        <a:defRPr lang="zh-CN" altLang="en-US" sz="4000" b="1" kern="1200" baseline="0" dirty="0">
          <a:solidFill>
            <a:srgbClr val="FF9900"/>
          </a:solidFill>
          <a:effectLst/>
          <a:latin typeface="微软雅黑" pitchFamily="34" charset="-122"/>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bg1"/>
          </a:solidFill>
          <a:latin typeface="Arial" pitchFamily="34" charset="0"/>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800" kern="1200" baseline="0">
          <a:solidFill>
            <a:schemeClr val="bg1"/>
          </a:solidFill>
          <a:latin typeface="Arial" pitchFamily="34" charset="0"/>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bg1"/>
          </a:solidFill>
          <a:latin typeface="Arial" pitchFamily="34" charset="0"/>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7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9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WordArt 21"/>
          <p:cNvSpPr>
            <a:spLocks noChangeArrowheads="1" noChangeShapeType="1" noTextEdit="1"/>
          </p:cNvSpPr>
          <p:nvPr/>
        </p:nvSpPr>
        <p:spPr bwMode="auto">
          <a:xfrm>
            <a:off x="4439816" y="1700808"/>
            <a:ext cx="2802324" cy="860280"/>
          </a:xfrm>
          <a:prstGeom prst="rect">
            <a:avLst/>
          </a:prstGeom>
        </p:spPr>
        <p:txBody>
          <a:bodyPr wrap="none" fromWordArt="1">
            <a:prstTxWarp prst="textPlain">
              <a:avLst>
                <a:gd name="adj" fmla="val 50000"/>
              </a:avLst>
            </a:prstTxWarp>
          </a:bodyPr>
          <a:lstStyle/>
          <a:p>
            <a:pPr algn="dist">
              <a:defRPr/>
            </a:pPr>
            <a:r>
              <a:rPr lang="zh-CN" altLang="en-US" sz="2800" kern="1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latin typeface="隶书"/>
                <a:ea typeface="隶书"/>
              </a:rPr>
              <a:t>第</a:t>
            </a:r>
            <a:r>
              <a:rPr lang="en-US" altLang="zh-CN" sz="2800" kern="1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latin typeface="隶书"/>
                <a:ea typeface="隶书"/>
              </a:rPr>
              <a:t>5</a:t>
            </a:r>
            <a:r>
              <a:rPr lang="zh-CN" altLang="en-US" sz="2800" kern="10" dirty="0">
                <a:ln w="19050" cap="sq">
                  <a:solidFill>
                    <a:srgbClr val="FFCC00"/>
                  </a:solidFill>
                  <a:round/>
                  <a:headEnd/>
                  <a:tailEnd/>
                </a:ln>
                <a:gradFill rotWithShape="0">
                  <a:gsLst>
                    <a:gs pos="0">
                      <a:srgbClr val="50080D"/>
                    </a:gs>
                    <a:gs pos="100000">
                      <a:srgbClr val="FF0000"/>
                    </a:gs>
                  </a:gsLst>
                  <a:lin ang="2700000" scaled="1"/>
                </a:gradFill>
                <a:effectLst>
                  <a:outerShdw dist="35921" dir="2700000" algn="ctr" rotWithShape="0">
                    <a:srgbClr val="000514">
                      <a:alpha val="80000"/>
                    </a:srgbClr>
                  </a:outerShdw>
                </a:effectLst>
                <a:latin typeface="隶书"/>
                <a:ea typeface="隶书"/>
              </a:rPr>
              <a:t>章</a:t>
            </a:r>
          </a:p>
        </p:txBody>
      </p:sp>
      <p:sp>
        <p:nvSpPr>
          <p:cNvPr id="6" name="标题 1">
            <a:extLst>
              <a:ext uri="{FF2B5EF4-FFF2-40B4-BE49-F238E27FC236}">
                <a16:creationId xmlns:a16="http://schemas.microsoft.com/office/drawing/2014/main" id="{32884304-7B48-4472-9ACD-ADDBD2C672A1}"/>
              </a:ext>
            </a:extLst>
          </p:cNvPr>
          <p:cNvSpPr txBox="1">
            <a:spLocks/>
          </p:cNvSpPr>
          <p:nvPr/>
        </p:nvSpPr>
        <p:spPr bwMode="auto">
          <a:xfrm>
            <a:off x="1271464" y="3429000"/>
            <a:ext cx="9721080" cy="1475884"/>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spAutoFit/>
          </a:bodyPr>
          <a:lstStyle>
            <a:lvl1pPr algn="l" rtl="0" eaLnBrk="0" fontAlgn="base" hangingPunct="0">
              <a:spcBef>
                <a:spcPct val="0"/>
              </a:spcBef>
              <a:spcAft>
                <a:spcPct val="0"/>
              </a:spcAft>
              <a:defRPr sz="4000">
                <a:solidFill>
                  <a:srgbClr val="FF9900"/>
                </a:solidFill>
                <a:effectLst>
                  <a:outerShdw blurRad="38100" dist="38100" dir="2700000" algn="tl">
                    <a:srgbClr val="000000">
                      <a:alpha val="43137"/>
                    </a:srgbClr>
                  </a:outerShdw>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lvl="0" algn="dist">
              <a:defRPr/>
            </a:pPr>
            <a:r>
              <a:rPr lang="zh-CN" altLang="en-US" sz="2800" kern="10" spc="300" baseline="-25000" dirty="0">
                <a:ln w="19050" cap="sq">
                  <a:solidFill>
                    <a:srgbClr val="FFCC00"/>
                  </a:solidFill>
                  <a:round/>
                  <a:headEnd/>
                  <a:tailEnd/>
                </a:ln>
                <a:gradFill rotWithShape="1">
                  <a:gsLst>
                    <a:gs pos="0">
                      <a:srgbClr val="50080D"/>
                    </a:gs>
                    <a:gs pos="100000">
                      <a:srgbClr val="FF0000"/>
                    </a:gs>
                  </a:gsLst>
                  <a:lin ang="2700000" scaled="1"/>
                </a:gradFill>
                <a:effectLst>
                  <a:outerShdw dist="35921" dir="2700000" algn="ctr" rotWithShape="0">
                    <a:srgbClr val="000514">
                      <a:alpha val="79999"/>
                    </a:srgbClr>
                  </a:outerShdw>
                </a:effectLst>
                <a:latin typeface="隶书"/>
                <a:ea typeface="隶书"/>
              </a:rPr>
              <a:t>数据库中的对象</a:t>
            </a:r>
          </a:p>
        </p:txBody>
      </p:sp>
    </p:spTree>
    <p:extLst>
      <p:ext uri="{BB962C8B-B14F-4D97-AF65-F5344CB8AC3E}">
        <p14:creationId xmlns:p14="http://schemas.microsoft.com/office/powerpoint/2010/main" val="3511854362"/>
      </p:ext>
    </p:extLst>
  </p:cSld>
  <p:clrMapOvr>
    <a:masterClrMapping/>
  </p:clrMapOvr>
  <mc:AlternateContent xmlns:mc="http://schemas.openxmlformats.org/markup-compatibility/2006" xmlns:p14="http://schemas.microsoft.com/office/powerpoint/2010/main">
    <mc:Choice Requires="p14">
      <p:transition p14:dur="0">
        <p:sndAc>
          <p:stSnd>
            <p:snd r:embed="rId2" name="arrow.wav"/>
          </p:stSnd>
        </p:sndAc>
      </p:transition>
    </mc:Choice>
    <mc:Fallback xmlns="">
      <p:transition>
        <p:sndAc>
          <p:stSnd>
            <p:snd r:embed="rId3" name="arrow.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143672" y="1124744"/>
            <a:ext cx="5200462" cy="707886"/>
          </a:xfrm>
        </p:spPr>
        <p:txBody>
          <a:bodyPr/>
          <a:lstStyle/>
          <a:p>
            <a:pPr eaLnBrk="1" hangingPunct="1"/>
            <a:r>
              <a:rPr lang="zh-CN" altLang="en-US" dirty="0" smtClean="0">
                <a:latin typeface="Times New Roman" panose="02020603050405020304" pitchFamily="18" charset="0"/>
                <a:ea typeface="宋体" panose="02010600030101010101" pitchFamily="2" charset="-122"/>
              </a:rPr>
              <a:t>第</a:t>
            </a:r>
            <a:r>
              <a:rPr lang="en-US" altLang="zh-CN" dirty="0" smtClean="0">
                <a:latin typeface="Times New Roman" panose="02020603050405020304" pitchFamily="18" charset="0"/>
                <a:ea typeface="宋体" panose="02010600030101010101" pitchFamily="2" charset="-122"/>
              </a:rPr>
              <a:t>5</a:t>
            </a:r>
            <a:r>
              <a:rPr lang="zh-CN" altLang="en-US" dirty="0" smtClean="0">
                <a:latin typeface="Times New Roman" panose="02020603050405020304" pitchFamily="18" charset="0"/>
                <a:ea typeface="宋体" panose="02010600030101010101" pitchFamily="2" charset="-122"/>
              </a:rPr>
              <a:t>章 数据库中的对象</a:t>
            </a:r>
          </a:p>
        </p:txBody>
      </p:sp>
      <p:sp>
        <p:nvSpPr>
          <p:cNvPr id="3077" name="Rectangle 3"/>
          <p:cNvSpPr>
            <a:spLocks noGrp="1" noChangeArrowheads="1"/>
          </p:cNvSpPr>
          <p:nvPr>
            <p:ph type="subTitle" idx="1"/>
          </p:nvPr>
        </p:nvSpPr>
        <p:spPr>
          <a:xfrm>
            <a:off x="3276600" y="2492375"/>
            <a:ext cx="7010400" cy="3733800"/>
          </a:xfrm>
        </p:spPr>
        <p:txBody>
          <a:bodyPr/>
          <a:lstStyle/>
          <a:p>
            <a:pPr algn="l" eaLnBrk="1" hangingPunct="1">
              <a:defRPr/>
            </a:pPr>
            <a:r>
              <a:rPr kumimoji="1" lang="en-US" altLang="zh-CN">
                <a:solidFill>
                  <a:schemeClr val="bg1"/>
                </a:solidFill>
                <a:latin typeface="Tahoma" panose="020B0604030504040204" pitchFamily="34" charset="0"/>
                <a:ea typeface="宋体" panose="02010600030101010101" pitchFamily="2" charset="-122"/>
              </a:rPr>
              <a:t>5.1</a:t>
            </a:r>
            <a:r>
              <a:rPr kumimoji="1" lang="zh-CN" altLang="en-US">
                <a:solidFill>
                  <a:schemeClr val="bg1"/>
                </a:solidFill>
                <a:latin typeface="Tahoma" panose="020B0604030504040204" pitchFamily="34" charset="0"/>
                <a:ea typeface="宋体" panose="02010600030101010101" pitchFamily="2" charset="-122"/>
              </a:rPr>
              <a:t>、</a:t>
            </a:r>
            <a:r>
              <a:rPr kumimoji="1" lang="en-US" altLang="zh-CN">
                <a:solidFill>
                  <a:schemeClr val="bg1"/>
                </a:solidFill>
                <a:latin typeface="Tahoma" panose="020B0604030504040204" pitchFamily="34" charset="0"/>
                <a:ea typeface="宋体" panose="02010600030101010101" pitchFamily="2" charset="-122"/>
              </a:rPr>
              <a:t>索引</a:t>
            </a:r>
            <a:endParaRPr kumimoji="1" lang="zh-CN" altLang="en-US">
              <a:solidFill>
                <a:schemeClr val="bg1"/>
              </a:solidFill>
              <a:latin typeface="Tahoma" panose="020B0604030504040204" pitchFamily="34" charset="0"/>
              <a:ea typeface="宋体" panose="02010600030101010101" pitchFamily="2" charset="-122"/>
            </a:endParaRPr>
          </a:p>
          <a:p>
            <a:pPr algn="l" eaLnBrk="1" hangingPunct="1">
              <a:defRPr/>
            </a:pPr>
            <a:r>
              <a:rPr kumimoji="1" lang="en-US" altLang="zh-CN">
                <a:solidFill>
                  <a:schemeClr val="bg1"/>
                </a:solidFill>
                <a:latin typeface="Tahoma" panose="020B0604030504040204" pitchFamily="34" charset="0"/>
                <a:ea typeface="宋体" panose="02010600030101010101" pitchFamily="2" charset="-122"/>
              </a:rPr>
              <a:t>5.2</a:t>
            </a:r>
            <a:r>
              <a:rPr kumimoji="1" lang="zh-CN" altLang="en-US">
                <a:solidFill>
                  <a:schemeClr val="bg1"/>
                </a:solidFill>
                <a:latin typeface="Tahoma" panose="020B0604030504040204" pitchFamily="34" charset="0"/>
                <a:ea typeface="宋体" panose="02010600030101010101" pitchFamily="2" charset="-122"/>
              </a:rPr>
              <a:t>、</a:t>
            </a:r>
            <a:r>
              <a:rPr kumimoji="1" lang="en-US" altLang="zh-CN">
                <a:solidFill>
                  <a:schemeClr val="bg1"/>
                </a:solidFill>
                <a:latin typeface="Tahoma" panose="020B0604030504040204" pitchFamily="34" charset="0"/>
                <a:ea typeface="宋体" panose="02010600030101010101" pitchFamily="2" charset="-122"/>
              </a:rPr>
              <a:t>视图</a:t>
            </a:r>
            <a:endParaRPr kumimoji="1" lang="zh-CN" altLang="en-US">
              <a:solidFill>
                <a:schemeClr val="bg1"/>
              </a:solidFill>
              <a:latin typeface="Tahoma" panose="020B0604030504040204" pitchFamily="34" charset="0"/>
              <a:ea typeface="宋体" panose="02010600030101010101" pitchFamily="2" charset="-122"/>
            </a:endParaRPr>
          </a:p>
          <a:p>
            <a:pPr algn="l" eaLnBrk="1" hangingPunct="1">
              <a:defRPr/>
            </a:pPr>
            <a:r>
              <a:rPr kumimoji="1" lang="en-US" altLang="zh-CN">
                <a:solidFill>
                  <a:schemeClr val="bg1"/>
                </a:solidFill>
                <a:latin typeface="Tahoma" panose="020B0604030504040204" pitchFamily="34" charset="0"/>
                <a:ea typeface="宋体" panose="02010600030101010101" pitchFamily="2" charset="-122"/>
              </a:rPr>
              <a:t>5.3</a:t>
            </a:r>
            <a:r>
              <a:rPr kumimoji="1" lang="zh-CN" altLang="en-US">
                <a:solidFill>
                  <a:schemeClr val="bg1"/>
                </a:solidFill>
                <a:latin typeface="Tahoma" panose="020B0604030504040204" pitchFamily="34" charset="0"/>
                <a:ea typeface="宋体" panose="02010600030101010101" pitchFamily="2" charset="-122"/>
              </a:rPr>
              <a:t>、</a:t>
            </a:r>
            <a:r>
              <a:rPr kumimoji="1" lang="en-US" altLang="zh-CN">
                <a:solidFill>
                  <a:schemeClr val="bg1"/>
                </a:solidFill>
                <a:latin typeface="Tahoma" panose="020B0604030504040204" pitchFamily="34" charset="0"/>
                <a:ea typeface="宋体" panose="02010600030101010101" pitchFamily="2" charset="-122"/>
              </a:rPr>
              <a:t>存储过程</a:t>
            </a:r>
            <a:endParaRPr kumimoji="1" lang="zh-CN" altLang="en-US">
              <a:solidFill>
                <a:schemeClr val="bg1"/>
              </a:solidFill>
              <a:latin typeface="Tahoma" panose="020B0604030504040204" pitchFamily="34" charset="0"/>
              <a:ea typeface="宋体" panose="02010600030101010101" pitchFamily="2" charset="-122"/>
            </a:endParaRPr>
          </a:p>
          <a:p>
            <a:pPr algn="l" eaLnBrk="1" hangingPunct="1">
              <a:defRPr/>
            </a:pPr>
            <a:r>
              <a:rPr kumimoji="1" lang="en-US" altLang="zh-CN">
                <a:solidFill>
                  <a:schemeClr val="bg1"/>
                </a:solidFill>
                <a:latin typeface="Tahoma" panose="020B0604030504040204" pitchFamily="34" charset="0"/>
                <a:ea typeface="宋体" panose="02010600030101010101" pitchFamily="2" charset="-122"/>
              </a:rPr>
              <a:t>5.4</a:t>
            </a:r>
            <a:r>
              <a:rPr kumimoji="1" lang="zh-CN" altLang="en-US">
                <a:solidFill>
                  <a:schemeClr val="bg1"/>
                </a:solidFill>
                <a:latin typeface="Tahoma" panose="020B0604030504040204" pitchFamily="34" charset="0"/>
                <a:ea typeface="宋体" panose="02010600030101010101" pitchFamily="2" charset="-122"/>
              </a:rPr>
              <a:t>、</a:t>
            </a:r>
            <a:r>
              <a:rPr kumimoji="1" lang="en-US" altLang="zh-CN">
                <a:solidFill>
                  <a:schemeClr val="bg1"/>
                </a:solidFill>
                <a:latin typeface="Tahoma" panose="020B0604030504040204" pitchFamily="34" charset="0"/>
                <a:ea typeface="宋体" panose="02010600030101010101" pitchFamily="2" charset="-122"/>
              </a:rPr>
              <a:t>触发器</a:t>
            </a:r>
            <a:endParaRPr kumimoji="1" lang="zh-CN" altLang="en-US">
              <a:solidFill>
                <a:schemeClr val="bg1"/>
              </a:solidFill>
              <a:latin typeface="Tahoma" panose="020B0604030504040204" pitchFamily="34" charset="0"/>
              <a:ea typeface="宋体" panose="02010600030101010101" pitchFamily="2" charset="-122"/>
            </a:endParaRPr>
          </a:p>
          <a:p>
            <a:pPr algn="l" eaLnBrk="1" hangingPunct="1">
              <a:defRPr/>
            </a:pPr>
            <a:r>
              <a:rPr kumimoji="1" lang="en-US" altLang="zh-CN">
                <a:solidFill>
                  <a:schemeClr val="bg1"/>
                </a:solidFill>
                <a:latin typeface="Tahoma" panose="020B0604030504040204" pitchFamily="34" charset="0"/>
                <a:ea typeface="宋体" panose="02010600030101010101" pitchFamily="2" charset="-122"/>
              </a:rPr>
              <a:t>5.5</a:t>
            </a:r>
            <a:r>
              <a:rPr kumimoji="1" lang="zh-CN" altLang="en-US">
                <a:solidFill>
                  <a:schemeClr val="bg1"/>
                </a:solidFill>
                <a:latin typeface="Tahoma" panose="020B0604030504040204" pitchFamily="34" charset="0"/>
                <a:ea typeface="宋体" panose="02010600030101010101" pitchFamily="2" charset="-122"/>
              </a:rPr>
              <a:t>、</a:t>
            </a:r>
            <a:r>
              <a:rPr kumimoji="1" lang="en-US" altLang="zh-CN">
                <a:solidFill>
                  <a:schemeClr val="bg1"/>
                </a:solidFill>
                <a:latin typeface="Tahoma" panose="020B0604030504040204" pitchFamily="34" charset="0"/>
                <a:ea typeface="宋体" panose="02010600030101010101" pitchFamily="2" charset="-122"/>
              </a:rPr>
              <a:t>游标</a:t>
            </a:r>
          </a:p>
        </p:txBody>
      </p:sp>
    </p:spTree>
    <p:extLst>
      <p:ext uri="{BB962C8B-B14F-4D97-AF65-F5344CB8AC3E}">
        <p14:creationId xmlns:p14="http://schemas.microsoft.com/office/powerpoint/2010/main" val="3208090727"/>
      </p:ext>
    </p:extLst>
  </p:cSld>
  <p:clrMapOvr>
    <a:masterClrMapping/>
  </p:clrMapOvr>
  <p:transition spd="slow">
    <p:wipe dir="r"/>
    <p:sndAc>
      <p:stSnd>
        <p:snd r:embed="rId3" name="arrow.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E76535D-1204-408C-A944-91A900F33F4C}"/>
              </a:ext>
            </a:extLst>
          </p:cNvPr>
          <p:cNvSpPr>
            <a:spLocks noGrp="1"/>
          </p:cNvSpPr>
          <p:nvPr>
            <p:ph type="title"/>
          </p:nvPr>
        </p:nvSpPr>
        <p:spPr>
          <a:xfrm>
            <a:off x="3287688" y="3529830"/>
            <a:ext cx="5224835" cy="1256758"/>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eaLnBrk="0" fontAlgn="base" hangingPunct="0">
              <a:spcAft>
                <a:spcPct val="0"/>
              </a:spcAft>
            </a:pPr>
            <a:r>
              <a:rPr lang="zh-CN" altLang="en-US" sz="6000" kern="1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索 引</a:t>
            </a:r>
          </a:p>
        </p:txBody>
      </p:sp>
      <p:sp>
        <p:nvSpPr>
          <p:cNvPr id="49" name="标题 1">
            <a:extLst>
              <a:ext uri="{FF2B5EF4-FFF2-40B4-BE49-F238E27FC236}">
                <a16:creationId xmlns:a16="http://schemas.microsoft.com/office/drawing/2014/main" id="{F20317A5-217E-4B1F-AC7B-1AA7AAA89A22}"/>
              </a:ext>
            </a:extLst>
          </p:cNvPr>
          <p:cNvSpPr txBox="1">
            <a:spLocks/>
          </p:cNvSpPr>
          <p:nvPr/>
        </p:nvSpPr>
        <p:spPr bwMode="auto">
          <a:xfrm>
            <a:off x="4727848" y="1844824"/>
            <a:ext cx="2458530"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zh-CN" altLang="en-US" sz="6000" b="1" i="0" u="none" strike="noStrike" kern="10" cap="none" spc="0" normalizeH="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一</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节</a:t>
            </a:r>
          </a:p>
        </p:txBody>
      </p:sp>
    </p:spTree>
    <p:extLst>
      <p:ext uri="{BB962C8B-B14F-4D97-AF65-F5344CB8AC3E}">
        <p14:creationId xmlns:p14="http://schemas.microsoft.com/office/powerpoint/2010/main" val="3793064827"/>
      </p:ext>
    </p:extLst>
  </p:cSld>
  <p:clrMapOvr>
    <a:masterClrMapping/>
  </p:clrMapOvr>
  <mc:AlternateContent xmlns:mc="http://schemas.openxmlformats.org/markup-compatibility/2006" xmlns:p14="http://schemas.microsoft.com/office/powerpoint/2010/main">
    <mc:Choice Requires="p14">
      <p:transition spd="slow" p14:dur="1400">
        <p14:doors dir="vert"/>
        <p:sndAc>
          <p:stSnd>
            <p:snd r:embed="rId2" name="arrow.wav"/>
          </p:stSnd>
        </p:sndAc>
      </p:transition>
    </mc:Choice>
    <mc:Fallback xmlns="">
      <p:transition spd="slow">
        <p:fade/>
        <p:sndAc>
          <p:stSnd>
            <p:snd r:embed="rId3" name="arrow.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4294967295"/>
          </p:nvPr>
        </p:nvSpPr>
        <p:spPr>
          <a:xfrm>
            <a:off x="911424" y="1340768"/>
            <a:ext cx="10657184" cy="4114800"/>
          </a:xfrm>
        </p:spPr>
        <p:txBody>
          <a:bodyPr>
            <a:normAutofit/>
          </a:bodyPr>
          <a:lstStyle/>
          <a:p>
            <a:pPr>
              <a:lnSpc>
                <a:spcPct val="150000"/>
              </a:lnSpc>
            </a:pPr>
            <a:r>
              <a:rPr lang="en-US" altLang="zh-CN" smtClean="0">
                <a:latin typeface="微软雅黑" panose="020B0503020204020204" pitchFamily="34" charset="-122"/>
              </a:rPr>
              <a:t>在日常生活中我们会经常使用索引，例如图书的目录、词典的检索表等。借助索引，人们能够很快地找到需要的东西。</a:t>
            </a:r>
          </a:p>
          <a:p>
            <a:pPr>
              <a:lnSpc>
                <a:spcPct val="150000"/>
              </a:lnSpc>
            </a:pPr>
            <a:r>
              <a:rPr lang="en-US" altLang="zh-CN" smtClean="0">
                <a:latin typeface="微软雅黑" panose="020B0503020204020204" pitchFamily="34" charset="-122"/>
              </a:rPr>
              <a:t>如果把</a:t>
            </a:r>
            <a:r>
              <a:rPr lang="en-US" altLang="zh-CN" smtClean="0">
                <a:solidFill>
                  <a:srgbClr val="FF0000"/>
                </a:solidFill>
                <a:latin typeface="微软雅黑" panose="020B0503020204020204" pitchFamily="34" charset="-122"/>
              </a:rPr>
              <a:t>表</a:t>
            </a:r>
            <a:r>
              <a:rPr lang="en-US" altLang="zh-CN" smtClean="0">
                <a:latin typeface="微软雅黑" panose="020B0503020204020204" pitchFamily="34" charset="-122"/>
              </a:rPr>
              <a:t>比作一本书，则表的</a:t>
            </a:r>
            <a:r>
              <a:rPr lang="en-US" altLang="zh-CN" smtClean="0">
                <a:solidFill>
                  <a:srgbClr val="FF0000"/>
                </a:solidFill>
                <a:latin typeface="微软雅黑" panose="020B0503020204020204" pitchFamily="34" charset="-122"/>
              </a:rPr>
              <a:t>索引</a:t>
            </a:r>
            <a:r>
              <a:rPr lang="en-US" altLang="zh-CN" smtClean="0">
                <a:latin typeface="微软雅黑" panose="020B0503020204020204" pitchFamily="34" charset="-122"/>
              </a:rPr>
              <a:t>就如书的</a:t>
            </a:r>
            <a:r>
              <a:rPr lang="en-US" altLang="zh-CN" smtClean="0">
                <a:solidFill>
                  <a:srgbClr val="FF0000"/>
                </a:solidFill>
                <a:latin typeface="微软雅黑" panose="020B0503020204020204" pitchFamily="34" charset="-122"/>
              </a:rPr>
              <a:t>目录</a:t>
            </a:r>
            <a:r>
              <a:rPr lang="en-US" altLang="zh-CN" smtClean="0">
                <a:latin typeface="微软雅黑" panose="020B0503020204020204" pitchFamily="34" charset="-122"/>
              </a:rPr>
              <a:t>一样，通过索引可大大提高数据的查询速度。</a:t>
            </a:r>
            <a:endParaRPr lang="zh-CN" altLang="en-US" smtClean="0">
              <a:latin typeface="微软雅黑" panose="020B0503020204020204" pitchFamily="34" charset="-122"/>
            </a:endParaRPr>
          </a:p>
        </p:txBody>
      </p:sp>
    </p:spTree>
    <p:extLst>
      <p:ext uri="{BB962C8B-B14F-4D97-AF65-F5344CB8AC3E}">
        <p14:creationId xmlns:p14="http://schemas.microsoft.com/office/powerpoint/2010/main" val="1073000556"/>
      </p:ext>
    </p:extLst>
  </p:cSld>
  <p:clrMapOvr>
    <a:masterClrMapping/>
  </p:clrMapOvr>
  <p:transition spd="slow">
    <p:wipe dir="r"/>
    <p:sndAc>
      <p:stSnd>
        <p:snd r:embed="rId2" name="arrow.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4294967295"/>
          </p:nvPr>
        </p:nvSpPr>
        <p:spPr>
          <a:xfrm>
            <a:off x="983432" y="404664"/>
            <a:ext cx="10513168" cy="5544616"/>
          </a:xfrm>
        </p:spPr>
        <p:txBody>
          <a:bodyPr>
            <a:noAutofit/>
          </a:bodyPr>
          <a:lstStyle/>
          <a:p>
            <a:pPr>
              <a:lnSpc>
                <a:spcPct val="150000"/>
              </a:lnSpc>
            </a:pPr>
            <a:r>
              <a:rPr lang="zh-CN" altLang="en-US">
                <a:latin typeface="微软雅黑" panose="020B0503020204020204" pitchFamily="34" charset="-122"/>
              </a:rPr>
              <a:t>索引是数据库随机检索的常用手段，它实际上就是记录的</a:t>
            </a:r>
            <a:r>
              <a:rPr lang="zh-CN" altLang="en-US">
                <a:solidFill>
                  <a:srgbClr val="C00000"/>
                </a:solidFill>
                <a:latin typeface="微软雅黑" panose="020B0503020204020204" pitchFamily="34" charset="-122"/>
              </a:rPr>
              <a:t>关键字与其相应地</a:t>
            </a:r>
            <a:r>
              <a:rPr lang="zh-CN" altLang="en-US">
                <a:latin typeface="微软雅黑" panose="020B0503020204020204" pitchFamily="34" charset="-122"/>
              </a:rPr>
              <a:t>址的对应表。</a:t>
            </a:r>
          </a:p>
          <a:p>
            <a:pPr>
              <a:lnSpc>
                <a:spcPct val="150000"/>
              </a:lnSpc>
            </a:pPr>
            <a:r>
              <a:rPr lang="zh-CN" altLang="en-US">
                <a:latin typeface="微软雅黑" panose="020B0503020204020204" pitchFamily="34" charset="-122"/>
              </a:rPr>
              <a:t>索引之所以能加快查询速度，是因为索引文件只有</a:t>
            </a:r>
            <a:r>
              <a:rPr lang="zh-CN" altLang="en-US">
                <a:solidFill>
                  <a:srgbClr val="C00000"/>
                </a:solidFill>
                <a:latin typeface="微软雅黑" panose="020B0503020204020204" pitchFamily="34" charset="-122"/>
              </a:rPr>
              <a:t>两个字段</a:t>
            </a:r>
            <a:r>
              <a:rPr lang="zh-CN" altLang="en-US">
                <a:latin typeface="微软雅黑" panose="020B0503020204020204" pitchFamily="34" charset="-122"/>
              </a:rPr>
              <a:t>。一个是排序后的的索引字段，用于快速查找；另一个是该记录在数据表中的</a:t>
            </a:r>
            <a:r>
              <a:rPr lang="zh-CN" altLang="en-US">
                <a:solidFill>
                  <a:srgbClr val="C00000"/>
                </a:solidFill>
                <a:latin typeface="微软雅黑" panose="020B0503020204020204" pitchFamily="34" charset="-122"/>
              </a:rPr>
              <a:t>记录号</a:t>
            </a:r>
            <a:r>
              <a:rPr lang="zh-CN" altLang="en-US">
                <a:latin typeface="微软雅黑" panose="020B0503020204020204" pitchFamily="34" charset="-122"/>
              </a:rPr>
              <a:t>，用于定位读取。</a:t>
            </a:r>
          </a:p>
        </p:txBody>
      </p:sp>
    </p:spTree>
    <p:extLst>
      <p:ext uri="{BB962C8B-B14F-4D97-AF65-F5344CB8AC3E}">
        <p14:creationId xmlns:p14="http://schemas.microsoft.com/office/powerpoint/2010/main" val="2548542155"/>
      </p:ext>
    </p:extLst>
  </p:cSld>
  <p:clrMapOvr>
    <a:masterClrMapping/>
  </p:clrMapOvr>
  <p:transition spd="slow">
    <p:wipe dir="r"/>
    <p:sndAc>
      <p:stSnd>
        <p:snd r:embed="rId2" name="arrow.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4294967295"/>
          </p:nvPr>
        </p:nvSpPr>
        <p:spPr>
          <a:xfrm>
            <a:off x="983432" y="404664"/>
            <a:ext cx="10801200" cy="5328592"/>
          </a:xfrm>
        </p:spPr>
        <p:txBody>
          <a:bodyPr>
            <a:noAutofit/>
          </a:bodyPr>
          <a:lstStyle/>
          <a:p>
            <a:pPr>
              <a:lnSpc>
                <a:spcPct val="150000"/>
              </a:lnSpc>
            </a:pPr>
            <a:r>
              <a:rPr lang="zh-CN" altLang="en-US">
                <a:latin typeface="微软雅黑" panose="020B0503020204020204" pitchFamily="34" charset="-122"/>
              </a:rPr>
              <a:t>索引的作用可归纳为：</a:t>
            </a:r>
          </a:p>
          <a:p>
            <a:pPr>
              <a:lnSpc>
                <a:spcPct val="150000"/>
              </a:lnSpc>
            </a:pPr>
            <a:r>
              <a:rPr lang="en-US" altLang="zh-CN">
                <a:latin typeface="微软雅黑" panose="020B0503020204020204" pitchFamily="34" charset="-122"/>
              </a:rPr>
              <a:t>(1)</a:t>
            </a:r>
            <a:r>
              <a:rPr lang="zh-CN" altLang="en-US">
                <a:latin typeface="微软雅黑" panose="020B0503020204020204" pitchFamily="34" charset="-122"/>
              </a:rPr>
              <a:t>可以加快数据的</a:t>
            </a:r>
            <a:r>
              <a:rPr lang="zh-CN" altLang="en-US">
                <a:solidFill>
                  <a:srgbClr val="C00000"/>
                </a:solidFill>
                <a:latin typeface="微软雅黑" panose="020B0503020204020204" pitchFamily="34" charset="-122"/>
              </a:rPr>
              <a:t>检索速度</a:t>
            </a:r>
            <a:r>
              <a:rPr lang="zh-CN" altLang="en-US">
                <a:latin typeface="微软雅黑" panose="020B0503020204020204" pitchFamily="34" charset="-122"/>
              </a:rPr>
              <a:t>。</a:t>
            </a:r>
          </a:p>
          <a:p>
            <a:pPr>
              <a:lnSpc>
                <a:spcPct val="150000"/>
              </a:lnSpc>
            </a:pPr>
            <a:r>
              <a:rPr lang="en-US" altLang="zh-CN">
                <a:latin typeface="微软雅黑" panose="020B0503020204020204" pitchFamily="34" charset="-122"/>
              </a:rPr>
              <a:t>(2)</a:t>
            </a:r>
            <a:r>
              <a:rPr lang="zh-CN" altLang="en-US">
                <a:latin typeface="微软雅黑" panose="020B0503020204020204" pitchFamily="34" charset="-122"/>
              </a:rPr>
              <a:t>唯一索引可以保证数据记录的</a:t>
            </a:r>
            <a:r>
              <a:rPr lang="zh-CN" altLang="en-US">
                <a:solidFill>
                  <a:srgbClr val="C00000"/>
                </a:solidFill>
                <a:latin typeface="微软雅黑" panose="020B0503020204020204" pitchFamily="34" charset="-122"/>
              </a:rPr>
              <a:t>唯一</a:t>
            </a:r>
            <a:r>
              <a:rPr lang="zh-CN" altLang="en-US">
                <a:latin typeface="微软雅黑" panose="020B0503020204020204" pitchFamily="34" charset="-122"/>
              </a:rPr>
              <a:t>性。</a:t>
            </a:r>
          </a:p>
          <a:p>
            <a:pPr>
              <a:lnSpc>
                <a:spcPct val="150000"/>
              </a:lnSpc>
            </a:pPr>
            <a:r>
              <a:rPr lang="en-US" altLang="zh-CN">
                <a:latin typeface="微软雅黑" panose="020B0503020204020204" pitchFamily="34" charset="-122"/>
              </a:rPr>
              <a:t>(3)</a:t>
            </a:r>
            <a:r>
              <a:rPr lang="zh-CN" altLang="en-US">
                <a:latin typeface="微软雅黑" panose="020B0503020204020204" pitchFamily="34" charset="-122"/>
              </a:rPr>
              <a:t>在使用排序和分组进行数据查询时，可以显著减少查询中</a:t>
            </a:r>
            <a:r>
              <a:rPr lang="zh-CN" altLang="en-US">
                <a:solidFill>
                  <a:srgbClr val="C00000"/>
                </a:solidFill>
                <a:latin typeface="微软雅黑" panose="020B0503020204020204" pitchFamily="34" charset="-122"/>
              </a:rPr>
              <a:t>排序和分组的时间</a:t>
            </a:r>
            <a:r>
              <a:rPr lang="zh-CN" altLang="en-US">
                <a:latin typeface="微软雅黑" panose="020B0503020204020204" pitchFamily="34" charset="-122"/>
              </a:rPr>
              <a:t>。</a:t>
            </a:r>
          </a:p>
          <a:p>
            <a:pPr>
              <a:lnSpc>
                <a:spcPct val="150000"/>
              </a:lnSpc>
            </a:pPr>
            <a:r>
              <a:rPr lang="en-US" altLang="zh-CN">
                <a:latin typeface="微软雅黑" panose="020B0503020204020204" pitchFamily="34" charset="-122"/>
              </a:rPr>
              <a:t>(4)</a:t>
            </a:r>
            <a:r>
              <a:rPr lang="zh-CN" altLang="en-US">
                <a:latin typeface="微软雅黑" panose="020B0503020204020204" pitchFamily="34" charset="-122"/>
              </a:rPr>
              <a:t>在进行连接查询时可以加快</a:t>
            </a:r>
            <a:r>
              <a:rPr lang="zh-CN" altLang="en-US">
                <a:solidFill>
                  <a:srgbClr val="C00000"/>
                </a:solidFill>
                <a:latin typeface="微软雅黑" panose="020B0503020204020204" pitchFamily="34" charset="-122"/>
              </a:rPr>
              <a:t>表与表之间的连接</a:t>
            </a:r>
            <a:r>
              <a:rPr lang="zh-CN" altLang="en-US">
                <a:latin typeface="微软雅黑" panose="020B0503020204020204" pitchFamily="34" charset="-122"/>
              </a:rPr>
              <a:t>。这在实现数据的参照完整性方面有特别的意义。</a:t>
            </a:r>
          </a:p>
        </p:txBody>
      </p:sp>
    </p:spTree>
    <p:extLst>
      <p:ext uri="{BB962C8B-B14F-4D97-AF65-F5344CB8AC3E}">
        <p14:creationId xmlns:p14="http://schemas.microsoft.com/office/powerpoint/2010/main" val="4197584939"/>
      </p:ext>
    </p:extLst>
  </p:cSld>
  <p:clrMapOvr>
    <a:masterClrMapping/>
  </p:clrMapOvr>
  <p:transition spd="slow">
    <p:wipe dir="r"/>
    <p:sndAc>
      <p:stSnd>
        <p:snd r:embed="rId2" name="arrow.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索引的概念</a:t>
            </a:r>
            <a:endParaRPr lang="zh-CN" altLang="en-US" sz="4000" b="1" dirty="0">
              <a:solidFill>
                <a:srgbClr val="FFFFCC"/>
              </a:solidFill>
              <a:effectLst>
                <a:outerShdw blurRad="38100" dist="38100" dir="2700000" algn="tl">
                  <a:srgbClr val="000000"/>
                </a:outerShdw>
              </a:effectLst>
              <a:cs typeface="+mn-cs"/>
            </a:endParaRPr>
          </a:p>
        </p:txBody>
      </p:sp>
      <p:sp>
        <p:nvSpPr>
          <p:cNvPr id="21" name="Rectangle 20">
            <a:extLst>
              <a:ext uri="{FF2B5EF4-FFF2-40B4-BE49-F238E27FC236}">
                <a16:creationId xmlns:a16="http://schemas.microsoft.com/office/drawing/2014/main" id="{A0201BF5-B40D-40ED-9749-44E3C147C665}"/>
              </a:ext>
            </a:extLst>
          </p:cNvPr>
          <p:cNvSpPr>
            <a:spLocks noChangeArrowheads="1"/>
          </p:cNvSpPr>
          <p:nvPr/>
        </p:nvSpPr>
        <p:spPr bwMode="auto">
          <a:xfrm>
            <a:off x="3952305" y="6132511"/>
            <a:ext cx="5172423" cy="576293"/>
          </a:xfrm>
          <a:prstGeom prst="rect">
            <a:avLst/>
          </a:prstGeom>
          <a:noFill/>
          <a:ln w="12700" cap="sq" algn="ctr">
            <a:noFill/>
            <a:miter lim="800000"/>
            <a:headEnd/>
            <a:tailEnd/>
          </a:ln>
          <a:effectLst/>
        </p:spPr>
        <p:txBody>
          <a:bodyPr wrap="none" lIns="72000" tIns="72000" rIns="72000" bIns="72000">
            <a:spAutoFit/>
          </a:bodyPr>
          <a:lstStyle/>
          <a:p>
            <a:pPr algn="ctr" fontAlgn="auto">
              <a:spcBef>
                <a:spcPts val="0"/>
              </a:spcBef>
              <a:spcAft>
                <a:spcPct val="0"/>
              </a:spcAft>
              <a:buSzTx/>
              <a:defRPr/>
            </a:pPr>
            <a:r>
              <a:rPr kumimoji="0" lang="zh-CN" altLang="en-US" sz="2800" kern="0" dirty="0">
                <a:solidFill>
                  <a:srgbClr val="FFCC00"/>
                </a:solidFill>
                <a:effectLst>
                  <a:outerShdw blurRad="38100" dist="38100" dir="2700000" algn="tl">
                    <a:srgbClr val="000000"/>
                  </a:outerShdw>
                </a:effectLst>
                <a:latin typeface="Times New Roman" pitchFamily="18" charset="0"/>
                <a:ea typeface="黑体" panose="02010609060101010101" pitchFamily="49" charset="-122"/>
              </a:rPr>
              <a:t>数据页（数据记录不一定有序）</a:t>
            </a:r>
          </a:p>
        </p:txBody>
      </p:sp>
      <p:grpSp>
        <p:nvGrpSpPr>
          <p:cNvPr id="2" name="组合 1">
            <a:extLst>
              <a:ext uri="{FF2B5EF4-FFF2-40B4-BE49-F238E27FC236}">
                <a16:creationId xmlns:a16="http://schemas.microsoft.com/office/drawing/2014/main" id="{BF3E0AEC-89CF-4C6D-B69A-E9EAB0267E88}"/>
              </a:ext>
            </a:extLst>
          </p:cNvPr>
          <p:cNvGrpSpPr/>
          <p:nvPr/>
        </p:nvGrpSpPr>
        <p:grpSpPr>
          <a:xfrm>
            <a:off x="1775520" y="2085898"/>
            <a:ext cx="8232776" cy="3890962"/>
            <a:chOff x="1833165" y="2205037"/>
            <a:chExt cx="8232776" cy="3890962"/>
          </a:xfrm>
        </p:grpSpPr>
        <p:sp>
          <p:nvSpPr>
            <p:cNvPr id="4" name="Rectangle 4">
              <a:extLst>
                <a:ext uri="{FF2B5EF4-FFF2-40B4-BE49-F238E27FC236}">
                  <a16:creationId xmlns:a16="http://schemas.microsoft.com/office/drawing/2014/main" id="{D96FDCC6-33C8-4CF7-A720-427D4BA998F6}"/>
                </a:ext>
              </a:extLst>
            </p:cNvPr>
            <p:cNvSpPr>
              <a:spLocks noChangeArrowheads="1"/>
            </p:cNvSpPr>
            <p:nvPr/>
          </p:nvSpPr>
          <p:spPr bwMode="auto">
            <a:xfrm>
              <a:off x="3357166" y="5776911"/>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zh-CN" altLang="en-US" sz="2000" kern="0" dirty="0">
                  <a:solidFill>
                    <a:schemeClr val="bg1"/>
                  </a:solidFill>
                  <a:effectLst/>
                  <a:latin typeface="Arial" charset="0"/>
                  <a:ea typeface="黑体" panose="02010609060101010101" pitchFamily="49" charset="-122"/>
                </a:rPr>
                <a:t>┆</a:t>
              </a:r>
            </a:p>
          </p:txBody>
        </p:sp>
        <p:sp>
          <p:nvSpPr>
            <p:cNvPr id="5" name="Rectangle 5">
              <a:extLst>
                <a:ext uri="{FF2B5EF4-FFF2-40B4-BE49-F238E27FC236}">
                  <a16:creationId xmlns:a16="http://schemas.microsoft.com/office/drawing/2014/main" id="{0F652FBF-F357-4262-997B-6FF380F1DCA2}"/>
                </a:ext>
              </a:extLst>
            </p:cNvPr>
            <p:cNvSpPr>
              <a:spLocks noChangeArrowheads="1"/>
            </p:cNvSpPr>
            <p:nvPr/>
          </p:nvSpPr>
          <p:spPr bwMode="auto">
            <a:xfrm>
              <a:off x="5466954" y="5776911"/>
              <a:ext cx="2109787"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zh-CN" altLang="en-US" sz="2000" kern="0" dirty="0">
                  <a:solidFill>
                    <a:schemeClr val="bg1"/>
                  </a:solidFill>
                  <a:effectLst/>
                  <a:latin typeface="Arial" charset="0"/>
                  <a:ea typeface="黑体" panose="02010609060101010101" pitchFamily="49" charset="-122"/>
                </a:rPr>
                <a:t>┆</a:t>
              </a:r>
            </a:p>
          </p:txBody>
        </p:sp>
        <p:sp>
          <p:nvSpPr>
            <p:cNvPr id="6" name="Rectangle 6">
              <a:extLst>
                <a:ext uri="{FF2B5EF4-FFF2-40B4-BE49-F238E27FC236}">
                  <a16:creationId xmlns:a16="http://schemas.microsoft.com/office/drawing/2014/main" id="{C1ED47E5-B0F3-4702-BC10-B7B02800B3E6}"/>
                </a:ext>
              </a:extLst>
            </p:cNvPr>
            <p:cNvSpPr>
              <a:spLocks noChangeArrowheads="1"/>
            </p:cNvSpPr>
            <p:nvPr/>
          </p:nvSpPr>
          <p:spPr bwMode="auto">
            <a:xfrm>
              <a:off x="7552929" y="5776911"/>
              <a:ext cx="2141537"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zh-CN" altLang="en-US" sz="2000" kern="0" dirty="0">
                  <a:solidFill>
                    <a:schemeClr val="bg1"/>
                  </a:solidFill>
                  <a:effectLst/>
                  <a:latin typeface="Arial" charset="0"/>
                  <a:ea typeface="黑体" panose="02010609060101010101" pitchFamily="49" charset="-122"/>
                </a:rPr>
                <a:t>┆</a:t>
              </a:r>
            </a:p>
          </p:txBody>
        </p:sp>
        <p:sp>
          <p:nvSpPr>
            <p:cNvPr id="8" name="Rectangle 7">
              <a:extLst>
                <a:ext uri="{FF2B5EF4-FFF2-40B4-BE49-F238E27FC236}">
                  <a16:creationId xmlns:a16="http://schemas.microsoft.com/office/drawing/2014/main" id="{FDF08AF4-45E7-47DF-B969-5767AB30D8AA}"/>
                </a:ext>
              </a:extLst>
            </p:cNvPr>
            <p:cNvSpPr>
              <a:spLocks noChangeArrowheads="1"/>
            </p:cNvSpPr>
            <p:nvPr/>
          </p:nvSpPr>
          <p:spPr bwMode="auto">
            <a:xfrm>
              <a:off x="1833165" y="2381249"/>
              <a:ext cx="863600" cy="317500"/>
            </a:xfrm>
            <a:prstGeom prst="rect">
              <a:avLst/>
            </a:prstGeom>
            <a:solidFill>
              <a:srgbClr val="0000CC"/>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endParaRPr kumimoji="0" lang="zh-CN" altLang="en-US" kern="0" baseline="-25000">
                <a:solidFill>
                  <a:prstClr val="white"/>
                </a:solidFill>
                <a:effectLst/>
                <a:latin typeface="Garamond" pitchFamily="18" charset="0"/>
                <a:ea typeface="宋体" pitchFamily="2" charset="-122"/>
              </a:endParaRPr>
            </a:p>
          </p:txBody>
        </p:sp>
        <p:sp>
          <p:nvSpPr>
            <p:cNvPr id="9" name="Rectangle 8">
              <a:extLst>
                <a:ext uri="{FF2B5EF4-FFF2-40B4-BE49-F238E27FC236}">
                  <a16:creationId xmlns:a16="http://schemas.microsoft.com/office/drawing/2014/main" id="{5EF4E68B-71DA-4B5F-A1C3-55C35D5E689C}"/>
                </a:ext>
              </a:extLst>
            </p:cNvPr>
            <p:cNvSpPr>
              <a:spLocks noChangeArrowheads="1"/>
            </p:cNvSpPr>
            <p:nvPr/>
          </p:nvSpPr>
          <p:spPr bwMode="auto">
            <a:xfrm>
              <a:off x="1833165" y="2698750"/>
              <a:ext cx="863600" cy="319087"/>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11" name="Rectangle 9">
              <a:extLst>
                <a:ext uri="{FF2B5EF4-FFF2-40B4-BE49-F238E27FC236}">
                  <a16:creationId xmlns:a16="http://schemas.microsoft.com/office/drawing/2014/main" id="{1C6E4297-1033-4459-B6F1-A55F7F2301AE}"/>
                </a:ext>
              </a:extLst>
            </p:cNvPr>
            <p:cNvSpPr>
              <a:spLocks noChangeArrowheads="1"/>
            </p:cNvSpPr>
            <p:nvPr/>
          </p:nvSpPr>
          <p:spPr bwMode="auto">
            <a:xfrm>
              <a:off x="1833165" y="3017836"/>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12" name="Rectangle 10">
              <a:extLst>
                <a:ext uri="{FF2B5EF4-FFF2-40B4-BE49-F238E27FC236}">
                  <a16:creationId xmlns:a16="http://schemas.microsoft.com/office/drawing/2014/main" id="{565F8130-A174-455B-AF4C-849A3FE32C4A}"/>
                </a:ext>
              </a:extLst>
            </p:cNvPr>
            <p:cNvSpPr>
              <a:spLocks noChangeArrowheads="1"/>
            </p:cNvSpPr>
            <p:nvPr/>
          </p:nvSpPr>
          <p:spPr bwMode="auto">
            <a:xfrm>
              <a:off x="1833165" y="3335336"/>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13" name="Rectangle 11">
              <a:extLst>
                <a:ext uri="{FF2B5EF4-FFF2-40B4-BE49-F238E27FC236}">
                  <a16:creationId xmlns:a16="http://schemas.microsoft.com/office/drawing/2014/main" id="{1388E7D5-9450-4AAA-9BAA-7591118C21F3}"/>
                </a:ext>
              </a:extLst>
            </p:cNvPr>
            <p:cNvSpPr>
              <a:spLocks noChangeArrowheads="1"/>
            </p:cNvSpPr>
            <p:nvPr/>
          </p:nvSpPr>
          <p:spPr bwMode="auto">
            <a:xfrm>
              <a:off x="1833165" y="3973511"/>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14" name="Rectangle 12">
              <a:extLst>
                <a:ext uri="{FF2B5EF4-FFF2-40B4-BE49-F238E27FC236}">
                  <a16:creationId xmlns:a16="http://schemas.microsoft.com/office/drawing/2014/main" id="{9835EB4E-AC03-46D4-B7FA-D683334F4CDA}"/>
                </a:ext>
              </a:extLst>
            </p:cNvPr>
            <p:cNvSpPr>
              <a:spLocks noChangeArrowheads="1"/>
            </p:cNvSpPr>
            <p:nvPr/>
          </p:nvSpPr>
          <p:spPr bwMode="auto">
            <a:xfrm>
              <a:off x="1833165" y="4291011"/>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15" name="Rectangle 13">
              <a:extLst>
                <a:ext uri="{FF2B5EF4-FFF2-40B4-BE49-F238E27FC236}">
                  <a16:creationId xmlns:a16="http://schemas.microsoft.com/office/drawing/2014/main" id="{31B49315-063B-440A-90A1-8687BFE707C1}"/>
                </a:ext>
              </a:extLst>
            </p:cNvPr>
            <p:cNvSpPr>
              <a:spLocks noChangeArrowheads="1"/>
            </p:cNvSpPr>
            <p:nvPr/>
          </p:nvSpPr>
          <p:spPr bwMode="auto">
            <a:xfrm>
              <a:off x="1833165" y="4608511"/>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16" name="Rectangle 14">
              <a:extLst>
                <a:ext uri="{FF2B5EF4-FFF2-40B4-BE49-F238E27FC236}">
                  <a16:creationId xmlns:a16="http://schemas.microsoft.com/office/drawing/2014/main" id="{6DD02A04-40F3-4C8C-9A28-5BA88148281F}"/>
                </a:ext>
              </a:extLst>
            </p:cNvPr>
            <p:cNvSpPr>
              <a:spLocks noChangeArrowheads="1"/>
            </p:cNvSpPr>
            <p:nvPr/>
          </p:nvSpPr>
          <p:spPr bwMode="auto">
            <a:xfrm>
              <a:off x="1833165" y="4926011"/>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17" name="Rectangle 15">
              <a:extLst>
                <a:ext uri="{FF2B5EF4-FFF2-40B4-BE49-F238E27FC236}">
                  <a16:creationId xmlns:a16="http://schemas.microsoft.com/office/drawing/2014/main" id="{D2933DA1-D00D-41AC-BF89-BCF3339420A6}"/>
                </a:ext>
              </a:extLst>
            </p:cNvPr>
            <p:cNvSpPr>
              <a:spLocks noChangeArrowheads="1"/>
            </p:cNvSpPr>
            <p:nvPr/>
          </p:nvSpPr>
          <p:spPr bwMode="auto">
            <a:xfrm>
              <a:off x="1833165" y="5243511"/>
              <a:ext cx="863600" cy="31750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18" name="Rectangle 16">
              <a:extLst>
                <a:ext uri="{FF2B5EF4-FFF2-40B4-BE49-F238E27FC236}">
                  <a16:creationId xmlns:a16="http://schemas.microsoft.com/office/drawing/2014/main" id="{2EE6A5CF-E3EC-40FB-9F4C-00573E5CD6CA}"/>
                </a:ext>
              </a:extLst>
            </p:cNvPr>
            <p:cNvSpPr>
              <a:spLocks noChangeArrowheads="1"/>
            </p:cNvSpPr>
            <p:nvPr/>
          </p:nvSpPr>
          <p:spPr bwMode="auto">
            <a:xfrm>
              <a:off x="1833165" y="5564186"/>
              <a:ext cx="863600" cy="361950"/>
            </a:xfrm>
            <a:prstGeom prst="rect">
              <a:avLst/>
            </a:prstGeom>
            <a:solidFill>
              <a:srgbClr val="0000CC"/>
            </a:solidFill>
            <a:ln w="12700" cap="sq" algn="ctr">
              <a:solidFill>
                <a:srgbClr val="FFFFFF"/>
              </a:solidFill>
              <a:miter lim="800000"/>
              <a:headEnd/>
              <a:tailEnd/>
            </a:ln>
            <a:effectLst/>
          </p:spPr>
          <p:txBody>
            <a:bodyPr wrap="none" lIns="72000" tIns="72000" rIns="72000" bIns="72000" anchor="ct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19" name="Text Box 17">
              <a:extLst>
                <a:ext uri="{FF2B5EF4-FFF2-40B4-BE49-F238E27FC236}">
                  <a16:creationId xmlns:a16="http://schemas.microsoft.com/office/drawing/2014/main" id="{A3E37602-3993-4772-B55C-4FCB90EA34D9}"/>
                </a:ext>
              </a:extLst>
            </p:cNvPr>
            <p:cNvSpPr txBox="1">
              <a:spLocks noChangeArrowheads="1"/>
            </p:cNvSpPr>
            <p:nvPr/>
          </p:nvSpPr>
          <p:spPr bwMode="auto">
            <a:xfrm>
              <a:off x="1927845" y="2205037"/>
              <a:ext cx="658367" cy="3756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lgn="ctr">
                  <a:solidFill>
                    <a:srgbClr val="000000"/>
                  </a:solidFill>
                  <a:miter lim="800000"/>
                  <a:headEnd/>
                  <a:tailEnd/>
                </a14:hiddenLine>
              </a:ext>
            </a:extLst>
          </p:spPr>
          <p:txBody>
            <a:bodyPr wrap="none" lIns="72000" tIns="72000" rIns="72000" bIns="72000">
              <a:spAutoFit/>
            </a:bodyPr>
            <a:lstStyle>
              <a:lvl1pPr eaLnBrk="0" hangingPunct="0">
                <a:defRPr kumimoji="1" sz="2800">
                  <a:solidFill>
                    <a:schemeClr val="tx1"/>
                  </a:solidFill>
                  <a:latin typeface="楷体_GB2312" pitchFamily="49" charset="-122"/>
                  <a:ea typeface="楷体_GB2312" pitchFamily="49" charset="-122"/>
                </a:defRPr>
              </a:lvl1pPr>
              <a:lvl2pPr marL="742950" indent="-285750" eaLnBrk="0" hangingPunct="0">
                <a:defRPr kumimoji="1" sz="2800">
                  <a:solidFill>
                    <a:schemeClr val="tx1"/>
                  </a:solidFill>
                  <a:latin typeface="楷体_GB2312" pitchFamily="49" charset="-122"/>
                  <a:ea typeface="楷体_GB2312" pitchFamily="49" charset="-122"/>
                </a:defRPr>
              </a:lvl2pPr>
              <a:lvl3pPr marL="1143000" indent="-228600" eaLnBrk="0" hangingPunct="0">
                <a:defRPr kumimoji="1" sz="2800">
                  <a:solidFill>
                    <a:schemeClr val="tx1"/>
                  </a:solidFill>
                  <a:latin typeface="楷体_GB2312" pitchFamily="49" charset="-122"/>
                  <a:ea typeface="楷体_GB2312" pitchFamily="49" charset="-122"/>
                </a:defRPr>
              </a:lvl3pPr>
              <a:lvl4pPr marL="1600200" indent="-228600" eaLnBrk="0" hangingPunct="0">
                <a:defRPr kumimoji="1" sz="2800">
                  <a:solidFill>
                    <a:schemeClr val="tx1"/>
                  </a:solidFill>
                  <a:latin typeface="楷体_GB2312" pitchFamily="49" charset="-122"/>
                  <a:ea typeface="楷体_GB2312" pitchFamily="49" charset="-122"/>
                </a:defRPr>
              </a:lvl4pPr>
              <a:lvl5pPr marL="2057400" indent="-228600" eaLnBrk="0" hangingPunct="0">
                <a:defRPr kumimoji="1" sz="2800">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25000"/>
                </a:spcAft>
                <a:buSzPct val="80000"/>
                <a:buFont typeface="Wingdings" pitchFamily="2" charset="2"/>
                <a:defRPr kumimoji="1" sz="2800">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25000"/>
                </a:spcAft>
                <a:buSzPct val="80000"/>
                <a:buFont typeface="Wingdings" pitchFamily="2" charset="2"/>
                <a:defRPr kumimoji="1" sz="2800">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25000"/>
                </a:spcAft>
                <a:buSzPct val="80000"/>
                <a:buFont typeface="Wingdings" pitchFamily="2" charset="2"/>
                <a:defRPr kumimoji="1" sz="2800">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25000"/>
                </a:spcAft>
                <a:buSzPct val="80000"/>
                <a:buFont typeface="Wingdings" pitchFamily="2" charset="2"/>
                <a:defRPr kumimoji="1" sz="2800">
                  <a:solidFill>
                    <a:schemeClr val="tx1"/>
                  </a:solidFill>
                  <a:latin typeface="楷体_GB2312" pitchFamily="49" charset="-122"/>
                  <a:ea typeface="楷体_GB2312" pitchFamily="49" charset="-122"/>
                </a:defRPr>
              </a:lvl9pPr>
            </a:lstStyle>
            <a:p>
              <a:pPr algn="ctr" eaLnBrk="1" fontAlgn="auto" hangingPunct="1">
                <a:spcBef>
                  <a:spcPts val="0"/>
                </a:spcBef>
                <a:spcAft>
                  <a:spcPct val="0"/>
                </a:spcAft>
                <a:buSzTx/>
                <a:defRPr/>
              </a:pPr>
              <a:r>
                <a:rPr kumimoji="0" lang="en-US" altLang="zh-CN" sz="3200" baseline="-25000">
                  <a:solidFill>
                    <a:prstClr val="white"/>
                  </a:solidFill>
                  <a:effectLst/>
                  <a:latin typeface="Garamond" pitchFamily="18" charset="0"/>
                  <a:ea typeface="宋体" pitchFamily="2" charset="-122"/>
                </a:rPr>
                <a:t>1000</a:t>
              </a:r>
            </a:p>
            <a:p>
              <a:pPr algn="ctr" eaLnBrk="1" fontAlgn="auto" hangingPunct="1">
                <a:spcBef>
                  <a:spcPts val="0"/>
                </a:spcBef>
                <a:spcAft>
                  <a:spcPct val="0"/>
                </a:spcAft>
                <a:buSzTx/>
                <a:defRPr/>
              </a:pPr>
              <a:r>
                <a:rPr kumimoji="0" lang="en-US" altLang="zh-CN" sz="3200" baseline="-25000">
                  <a:solidFill>
                    <a:prstClr val="white"/>
                  </a:solidFill>
                  <a:effectLst/>
                  <a:latin typeface="Garamond" pitchFamily="18" charset="0"/>
                  <a:ea typeface="宋体" pitchFamily="2" charset="-122"/>
                </a:rPr>
                <a:t>1001</a:t>
              </a:r>
            </a:p>
            <a:p>
              <a:pPr algn="ctr" eaLnBrk="1" fontAlgn="auto" hangingPunct="1">
                <a:spcBef>
                  <a:spcPts val="0"/>
                </a:spcBef>
                <a:spcAft>
                  <a:spcPct val="0"/>
                </a:spcAft>
                <a:buSzTx/>
                <a:defRPr/>
              </a:pPr>
              <a:r>
                <a:rPr kumimoji="0" lang="en-US" altLang="zh-CN" sz="3200" baseline="-25000">
                  <a:solidFill>
                    <a:prstClr val="white"/>
                  </a:solidFill>
                  <a:effectLst/>
                  <a:latin typeface="Garamond" pitchFamily="18" charset="0"/>
                  <a:ea typeface="宋体" pitchFamily="2" charset="-122"/>
                </a:rPr>
                <a:t>1002</a:t>
              </a:r>
            </a:p>
            <a:p>
              <a:pPr algn="ctr" eaLnBrk="1" fontAlgn="auto" hangingPunct="1">
                <a:spcBef>
                  <a:spcPts val="0"/>
                </a:spcBef>
                <a:spcAft>
                  <a:spcPct val="0"/>
                </a:spcAft>
                <a:buSzTx/>
                <a:defRPr/>
              </a:pPr>
              <a:r>
                <a:rPr kumimoji="0" lang="en-US" altLang="zh-CN" sz="3200" baseline="-25000">
                  <a:solidFill>
                    <a:prstClr val="white"/>
                  </a:solidFill>
                  <a:effectLst/>
                  <a:latin typeface="Garamond" pitchFamily="18" charset="0"/>
                  <a:ea typeface="宋体" pitchFamily="2" charset="-122"/>
                </a:rPr>
                <a:t>1003</a:t>
              </a:r>
            </a:p>
            <a:p>
              <a:pPr algn="ctr" eaLnBrk="1" fontAlgn="auto" hangingPunct="1">
                <a:spcBef>
                  <a:spcPts val="0"/>
                </a:spcBef>
                <a:spcAft>
                  <a:spcPct val="0"/>
                </a:spcAft>
                <a:buSzTx/>
                <a:defRPr/>
              </a:pPr>
              <a:endParaRPr kumimoji="0" lang="en-US" altLang="zh-CN" sz="3200" baseline="-25000">
                <a:solidFill>
                  <a:prstClr val="white"/>
                </a:solidFill>
                <a:effectLst/>
                <a:latin typeface="Garamond" pitchFamily="18" charset="0"/>
                <a:ea typeface="宋体" pitchFamily="2" charset="-122"/>
              </a:endParaRPr>
            </a:p>
            <a:p>
              <a:pPr algn="ctr" eaLnBrk="1" fontAlgn="auto" hangingPunct="1">
                <a:spcBef>
                  <a:spcPts val="0"/>
                </a:spcBef>
                <a:spcAft>
                  <a:spcPct val="0"/>
                </a:spcAft>
                <a:buSzTx/>
                <a:defRPr/>
              </a:pPr>
              <a:endParaRPr kumimoji="0" lang="en-US" altLang="zh-CN" sz="3200" baseline="-25000">
                <a:solidFill>
                  <a:prstClr val="white"/>
                </a:solidFill>
                <a:effectLst/>
                <a:latin typeface="Garamond" pitchFamily="18" charset="0"/>
                <a:ea typeface="宋体" pitchFamily="2" charset="-122"/>
              </a:endParaRPr>
            </a:p>
            <a:p>
              <a:pPr algn="ctr" eaLnBrk="1" fontAlgn="auto" hangingPunct="1">
                <a:spcBef>
                  <a:spcPts val="0"/>
                </a:spcBef>
                <a:spcAft>
                  <a:spcPct val="0"/>
                </a:spcAft>
                <a:buSzTx/>
                <a:defRPr/>
              </a:pPr>
              <a:endParaRPr kumimoji="0" lang="en-US" altLang="zh-CN" sz="3200" baseline="-25000">
                <a:solidFill>
                  <a:prstClr val="white"/>
                </a:solidFill>
                <a:effectLst/>
                <a:latin typeface="Garamond" pitchFamily="18" charset="0"/>
                <a:ea typeface="宋体" pitchFamily="2" charset="-122"/>
              </a:endParaRPr>
            </a:p>
            <a:p>
              <a:pPr algn="ctr" eaLnBrk="1" fontAlgn="auto" hangingPunct="1">
                <a:spcBef>
                  <a:spcPts val="0"/>
                </a:spcBef>
                <a:spcAft>
                  <a:spcPct val="0"/>
                </a:spcAft>
                <a:buSzTx/>
                <a:defRPr/>
              </a:pPr>
              <a:r>
                <a:rPr kumimoji="0" lang="en-US" altLang="zh-CN" sz="3200" baseline="-25000">
                  <a:solidFill>
                    <a:prstClr val="white"/>
                  </a:solidFill>
                  <a:effectLst/>
                  <a:latin typeface="Garamond" pitchFamily="18" charset="0"/>
                  <a:ea typeface="宋体" pitchFamily="2" charset="-122"/>
                </a:rPr>
                <a:t>3100</a:t>
              </a:r>
            </a:p>
            <a:p>
              <a:pPr algn="ctr" eaLnBrk="1" fontAlgn="auto" hangingPunct="1">
                <a:spcBef>
                  <a:spcPts val="0"/>
                </a:spcBef>
                <a:spcAft>
                  <a:spcPct val="0"/>
                </a:spcAft>
                <a:buSzTx/>
                <a:defRPr/>
              </a:pPr>
              <a:r>
                <a:rPr kumimoji="0" lang="en-US" altLang="zh-CN" sz="3200" baseline="-25000">
                  <a:solidFill>
                    <a:prstClr val="white"/>
                  </a:solidFill>
                  <a:effectLst/>
                  <a:latin typeface="Garamond" pitchFamily="18" charset="0"/>
                  <a:ea typeface="宋体" pitchFamily="2" charset="-122"/>
                </a:rPr>
                <a:t>3103</a:t>
              </a:r>
            </a:p>
            <a:p>
              <a:pPr algn="ctr" eaLnBrk="1" fontAlgn="auto" hangingPunct="1">
                <a:spcBef>
                  <a:spcPts val="0"/>
                </a:spcBef>
                <a:spcAft>
                  <a:spcPct val="0"/>
                </a:spcAft>
                <a:buSzTx/>
                <a:defRPr/>
              </a:pPr>
              <a:r>
                <a:rPr kumimoji="0" lang="en-US" altLang="zh-CN" sz="3200" baseline="-25000">
                  <a:solidFill>
                    <a:prstClr val="white"/>
                  </a:solidFill>
                  <a:effectLst/>
                  <a:latin typeface="Garamond" pitchFamily="18" charset="0"/>
                  <a:ea typeface="宋体" pitchFamily="2" charset="-122"/>
                </a:rPr>
                <a:t>3104</a:t>
              </a:r>
            </a:p>
            <a:p>
              <a:pPr algn="ctr" eaLnBrk="1" fontAlgn="auto" hangingPunct="1">
                <a:spcBef>
                  <a:spcPts val="0"/>
                </a:spcBef>
                <a:spcAft>
                  <a:spcPct val="0"/>
                </a:spcAft>
                <a:buSzTx/>
                <a:defRPr/>
              </a:pPr>
              <a:r>
                <a:rPr kumimoji="0" lang="en-US" altLang="zh-CN" sz="3200" baseline="-25000">
                  <a:solidFill>
                    <a:prstClr val="white"/>
                  </a:solidFill>
                  <a:effectLst/>
                  <a:latin typeface="Garamond" pitchFamily="18" charset="0"/>
                  <a:ea typeface="宋体" pitchFamily="2" charset="-122"/>
                </a:rPr>
                <a:t>┆</a:t>
              </a:r>
            </a:p>
          </p:txBody>
        </p:sp>
        <p:sp>
          <p:nvSpPr>
            <p:cNvPr id="20" name="Freeform 18">
              <a:extLst>
                <a:ext uri="{FF2B5EF4-FFF2-40B4-BE49-F238E27FC236}">
                  <a16:creationId xmlns:a16="http://schemas.microsoft.com/office/drawing/2014/main" id="{1FA3828F-9EB3-46FF-94CB-4A8249572BA7}"/>
                </a:ext>
              </a:extLst>
            </p:cNvPr>
            <p:cNvSpPr>
              <a:spLocks/>
            </p:cNvSpPr>
            <p:nvPr/>
          </p:nvSpPr>
          <p:spPr bwMode="auto">
            <a:xfrm>
              <a:off x="2615804" y="4464049"/>
              <a:ext cx="7450137" cy="1452562"/>
            </a:xfrm>
            <a:custGeom>
              <a:avLst/>
              <a:gdLst/>
              <a:ahLst/>
              <a:cxnLst>
                <a:cxn ang="0">
                  <a:pos x="0" y="596"/>
                </a:cxn>
                <a:cxn ang="0">
                  <a:pos x="376" y="830"/>
                </a:cxn>
                <a:cxn ang="0">
                  <a:pos x="4693" y="826"/>
                </a:cxn>
                <a:cxn ang="0">
                  <a:pos x="4693" y="47"/>
                </a:cxn>
                <a:cxn ang="0">
                  <a:pos x="4507" y="0"/>
                </a:cxn>
              </a:cxnLst>
              <a:rect l="0" t="0" r="r" b="b"/>
              <a:pathLst>
                <a:path w="4693" h="830">
                  <a:moveTo>
                    <a:pt x="0" y="596"/>
                  </a:moveTo>
                  <a:lnTo>
                    <a:pt x="376" y="830"/>
                  </a:lnTo>
                  <a:lnTo>
                    <a:pt x="4693" y="826"/>
                  </a:lnTo>
                  <a:lnTo>
                    <a:pt x="4693" y="47"/>
                  </a:lnTo>
                  <a:lnTo>
                    <a:pt x="4507" y="0"/>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22" name="Rectangle 21">
              <a:extLst>
                <a:ext uri="{FF2B5EF4-FFF2-40B4-BE49-F238E27FC236}">
                  <a16:creationId xmlns:a16="http://schemas.microsoft.com/office/drawing/2014/main" id="{ACB485E8-1D47-47D2-B3B8-FD8848356F75}"/>
                </a:ext>
              </a:extLst>
            </p:cNvPr>
            <p:cNvSpPr>
              <a:spLocks noChangeArrowheads="1"/>
            </p:cNvSpPr>
            <p:nvPr/>
          </p:nvSpPr>
          <p:spPr bwMode="auto">
            <a:xfrm>
              <a:off x="3361929" y="2779711"/>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endParaRPr kumimoji="0" lang="zh-CN" altLang="en-US" kern="0" baseline="-25000">
                <a:solidFill>
                  <a:prstClr val="white"/>
                </a:solidFill>
                <a:effectLst/>
                <a:latin typeface="Garamond" pitchFamily="18" charset="0"/>
                <a:ea typeface="宋体" pitchFamily="2" charset="-122"/>
              </a:endParaRPr>
            </a:p>
          </p:txBody>
        </p:sp>
        <p:sp>
          <p:nvSpPr>
            <p:cNvPr id="23" name="Rectangle 22">
              <a:extLst>
                <a:ext uri="{FF2B5EF4-FFF2-40B4-BE49-F238E27FC236}">
                  <a16:creationId xmlns:a16="http://schemas.microsoft.com/office/drawing/2014/main" id="{57EBD109-AFCC-453F-8F37-A41DE4383A1A}"/>
                </a:ext>
              </a:extLst>
            </p:cNvPr>
            <p:cNvSpPr>
              <a:spLocks noChangeArrowheads="1"/>
            </p:cNvSpPr>
            <p:nvPr/>
          </p:nvSpPr>
          <p:spPr bwMode="auto">
            <a:xfrm>
              <a:off x="5471715" y="2779711"/>
              <a:ext cx="2109788" cy="319088"/>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en-US" altLang="zh-CN" sz="2000" kern="0">
                  <a:solidFill>
                    <a:prstClr val="white"/>
                  </a:solidFill>
                  <a:effectLst/>
                  <a:latin typeface="Garamond" pitchFamily="18" charset="0"/>
                  <a:ea typeface="黑体" panose="02010609060101010101" pitchFamily="49" charset="-122"/>
                </a:rPr>
                <a:t>1001#</a:t>
              </a:r>
              <a:r>
                <a:rPr kumimoji="0" lang="zh-CN" altLang="en-US" sz="2000" kern="0">
                  <a:solidFill>
                    <a:prstClr val="white"/>
                  </a:solidFill>
                  <a:effectLst/>
                  <a:latin typeface="Garamond" pitchFamily="18" charset="0"/>
                  <a:ea typeface="黑体" panose="02010609060101010101" pitchFamily="49" charset="-122"/>
                </a:rPr>
                <a:t>职工记录</a:t>
              </a:r>
            </a:p>
          </p:txBody>
        </p:sp>
        <p:sp>
          <p:nvSpPr>
            <p:cNvPr id="24" name="Rectangle 23">
              <a:extLst>
                <a:ext uri="{FF2B5EF4-FFF2-40B4-BE49-F238E27FC236}">
                  <a16:creationId xmlns:a16="http://schemas.microsoft.com/office/drawing/2014/main" id="{9CCF0D44-2B48-47C5-B8EE-4CB06716BA1B}"/>
                </a:ext>
              </a:extLst>
            </p:cNvPr>
            <p:cNvSpPr>
              <a:spLocks noChangeArrowheads="1"/>
            </p:cNvSpPr>
            <p:nvPr/>
          </p:nvSpPr>
          <p:spPr bwMode="auto">
            <a:xfrm>
              <a:off x="7594204" y="2779711"/>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endParaRPr kumimoji="0" lang="zh-CN" altLang="en-US" kern="0" baseline="-25000">
                <a:solidFill>
                  <a:prstClr val="white"/>
                </a:solidFill>
                <a:effectLst/>
                <a:latin typeface="Garamond" pitchFamily="18" charset="0"/>
                <a:ea typeface="宋体" pitchFamily="2" charset="-122"/>
              </a:endParaRPr>
            </a:p>
          </p:txBody>
        </p:sp>
        <p:sp>
          <p:nvSpPr>
            <p:cNvPr id="25" name="Rectangle 24">
              <a:extLst>
                <a:ext uri="{FF2B5EF4-FFF2-40B4-BE49-F238E27FC236}">
                  <a16:creationId xmlns:a16="http://schemas.microsoft.com/office/drawing/2014/main" id="{1E604EA7-16C5-44C7-BBA4-DA105FCF8021}"/>
                </a:ext>
              </a:extLst>
            </p:cNvPr>
            <p:cNvSpPr>
              <a:spLocks noChangeArrowheads="1"/>
            </p:cNvSpPr>
            <p:nvPr/>
          </p:nvSpPr>
          <p:spPr bwMode="auto">
            <a:xfrm>
              <a:off x="3361929" y="3284536"/>
              <a:ext cx="2105025" cy="319088"/>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en-US" altLang="zh-CN" sz="2000" kern="0">
                  <a:solidFill>
                    <a:prstClr val="white"/>
                  </a:solidFill>
                  <a:effectLst/>
                  <a:latin typeface="Garamond" pitchFamily="18" charset="0"/>
                  <a:ea typeface="黑体" panose="02010609060101010101" pitchFamily="49" charset="-122"/>
                </a:rPr>
                <a:t>1002#</a:t>
              </a:r>
              <a:r>
                <a:rPr kumimoji="0" lang="zh-CN" altLang="en-US" sz="2000" kern="0">
                  <a:solidFill>
                    <a:prstClr val="white"/>
                  </a:solidFill>
                  <a:effectLst/>
                  <a:latin typeface="Garamond" pitchFamily="18" charset="0"/>
                  <a:ea typeface="黑体" panose="02010609060101010101" pitchFamily="49" charset="-122"/>
                </a:rPr>
                <a:t>职工记录</a:t>
              </a:r>
            </a:p>
          </p:txBody>
        </p:sp>
        <p:sp>
          <p:nvSpPr>
            <p:cNvPr id="26" name="Rectangle 25">
              <a:extLst>
                <a:ext uri="{FF2B5EF4-FFF2-40B4-BE49-F238E27FC236}">
                  <a16:creationId xmlns:a16="http://schemas.microsoft.com/office/drawing/2014/main" id="{A9E425FD-FA16-4B9C-80DA-0504DE6DB951}"/>
                </a:ext>
              </a:extLst>
            </p:cNvPr>
            <p:cNvSpPr>
              <a:spLocks noChangeArrowheads="1"/>
            </p:cNvSpPr>
            <p:nvPr/>
          </p:nvSpPr>
          <p:spPr bwMode="auto">
            <a:xfrm>
              <a:off x="5471715" y="3284536"/>
              <a:ext cx="2109788"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endParaRPr kumimoji="0" lang="zh-CN" altLang="en-US" sz="2400" kern="0">
                <a:solidFill>
                  <a:prstClr val="white"/>
                </a:solidFill>
                <a:effectLst/>
                <a:latin typeface="Arial" charset="0"/>
                <a:ea typeface="黑体" panose="02010609060101010101" pitchFamily="49" charset="-122"/>
              </a:endParaRPr>
            </a:p>
          </p:txBody>
        </p:sp>
        <p:sp>
          <p:nvSpPr>
            <p:cNvPr id="27" name="Rectangle 26">
              <a:extLst>
                <a:ext uri="{FF2B5EF4-FFF2-40B4-BE49-F238E27FC236}">
                  <a16:creationId xmlns:a16="http://schemas.microsoft.com/office/drawing/2014/main" id="{BAE7F3B7-DDBC-4E67-9FA9-4F97467C2C76}"/>
                </a:ext>
              </a:extLst>
            </p:cNvPr>
            <p:cNvSpPr>
              <a:spLocks noChangeArrowheads="1"/>
            </p:cNvSpPr>
            <p:nvPr/>
          </p:nvSpPr>
          <p:spPr bwMode="auto">
            <a:xfrm>
              <a:off x="7594204" y="3284536"/>
              <a:ext cx="2105025" cy="319088"/>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en-US" altLang="zh-CN" sz="2000" kern="0">
                  <a:solidFill>
                    <a:prstClr val="white"/>
                  </a:solidFill>
                  <a:effectLst/>
                  <a:latin typeface="Garamond" pitchFamily="18" charset="0"/>
                  <a:ea typeface="黑体" panose="02010609060101010101" pitchFamily="49" charset="-122"/>
                </a:rPr>
                <a:t>1000#</a:t>
              </a:r>
              <a:r>
                <a:rPr kumimoji="0" lang="zh-CN" altLang="en-US" sz="2000" kern="0">
                  <a:solidFill>
                    <a:prstClr val="white"/>
                  </a:solidFill>
                  <a:effectLst/>
                  <a:latin typeface="Garamond" pitchFamily="18" charset="0"/>
                  <a:ea typeface="黑体" panose="02010609060101010101" pitchFamily="49" charset="-122"/>
                </a:rPr>
                <a:t>职工记录</a:t>
              </a:r>
            </a:p>
          </p:txBody>
        </p:sp>
        <p:sp>
          <p:nvSpPr>
            <p:cNvPr id="28" name="Rectangle 27">
              <a:extLst>
                <a:ext uri="{FF2B5EF4-FFF2-40B4-BE49-F238E27FC236}">
                  <a16:creationId xmlns:a16="http://schemas.microsoft.com/office/drawing/2014/main" id="{66D37B1B-30A7-4894-92C0-D0B66B6C4300}"/>
                </a:ext>
              </a:extLst>
            </p:cNvPr>
            <p:cNvSpPr>
              <a:spLocks noChangeArrowheads="1"/>
            </p:cNvSpPr>
            <p:nvPr/>
          </p:nvSpPr>
          <p:spPr bwMode="auto">
            <a:xfrm>
              <a:off x="3361929" y="3787775"/>
              <a:ext cx="2105025" cy="319087"/>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endParaRPr kumimoji="0" lang="zh-CN" altLang="en-US" kern="0" baseline="-25000">
                <a:solidFill>
                  <a:prstClr val="white"/>
                </a:solidFill>
                <a:effectLst/>
                <a:latin typeface="Garamond" pitchFamily="18" charset="0"/>
                <a:ea typeface="宋体" pitchFamily="2" charset="-122"/>
              </a:endParaRPr>
            </a:p>
          </p:txBody>
        </p:sp>
        <p:sp>
          <p:nvSpPr>
            <p:cNvPr id="29" name="Rectangle 28">
              <a:extLst>
                <a:ext uri="{FF2B5EF4-FFF2-40B4-BE49-F238E27FC236}">
                  <a16:creationId xmlns:a16="http://schemas.microsoft.com/office/drawing/2014/main" id="{1F2E2BB6-CF83-476E-833A-CCEAA86DD09C}"/>
                </a:ext>
              </a:extLst>
            </p:cNvPr>
            <p:cNvSpPr>
              <a:spLocks noChangeArrowheads="1"/>
            </p:cNvSpPr>
            <p:nvPr/>
          </p:nvSpPr>
          <p:spPr bwMode="auto">
            <a:xfrm>
              <a:off x="5471715" y="3787775"/>
              <a:ext cx="2109788" cy="319087"/>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en-US" altLang="zh-CN" sz="2000" kern="0">
                  <a:solidFill>
                    <a:prstClr val="white"/>
                  </a:solidFill>
                  <a:effectLst/>
                  <a:latin typeface="Garamond" pitchFamily="18" charset="0"/>
                  <a:ea typeface="黑体" panose="02010609060101010101" pitchFamily="49" charset="-122"/>
                </a:rPr>
                <a:t>3100#</a:t>
              </a:r>
              <a:r>
                <a:rPr kumimoji="0" lang="zh-CN" altLang="en-US" sz="2000" kern="0">
                  <a:solidFill>
                    <a:prstClr val="white"/>
                  </a:solidFill>
                  <a:effectLst/>
                  <a:latin typeface="Garamond" pitchFamily="18" charset="0"/>
                  <a:ea typeface="黑体" panose="02010609060101010101" pitchFamily="49" charset="-122"/>
                </a:rPr>
                <a:t>职工记录</a:t>
              </a:r>
            </a:p>
          </p:txBody>
        </p:sp>
        <p:sp>
          <p:nvSpPr>
            <p:cNvPr id="30" name="Rectangle 29">
              <a:extLst>
                <a:ext uri="{FF2B5EF4-FFF2-40B4-BE49-F238E27FC236}">
                  <a16:creationId xmlns:a16="http://schemas.microsoft.com/office/drawing/2014/main" id="{FAF722EE-C95A-4B3E-A042-CFAEE50E9FF9}"/>
                </a:ext>
              </a:extLst>
            </p:cNvPr>
            <p:cNvSpPr>
              <a:spLocks noChangeArrowheads="1"/>
            </p:cNvSpPr>
            <p:nvPr/>
          </p:nvSpPr>
          <p:spPr bwMode="auto">
            <a:xfrm>
              <a:off x="7594204" y="3787775"/>
              <a:ext cx="2105025" cy="319087"/>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endParaRPr kumimoji="0" lang="zh-CN" altLang="en-US" kern="0" baseline="-25000">
                <a:solidFill>
                  <a:prstClr val="white"/>
                </a:solidFill>
                <a:effectLst/>
                <a:latin typeface="Garamond" pitchFamily="18" charset="0"/>
                <a:ea typeface="宋体" pitchFamily="2" charset="-122"/>
              </a:endParaRPr>
            </a:p>
          </p:txBody>
        </p:sp>
        <p:sp>
          <p:nvSpPr>
            <p:cNvPr id="31" name="Rectangle 30">
              <a:extLst>
                <a:ext uri="{FF2B5EF4-FFF2-40B4-BE49-F238E27FC236}">
                  <a16:creationId xmlns:a16="http://schemas.microsoft.com/office/drawing/2014/main" id="{87170AF9-DC89-4C9F-A97D-ABF9B4DFC32D}"/>
                </a:ext>
              </a:extLst>
            </p:cNvPr>
            <p:cNvSpPr>
              <a:spLocks noChangeArrowheads="1"/>
            </p:cNvSpPr>
            <p:nvPr/>
          </p:nvSpPr>
          <p:spPr bwMode="auto">
            <a:xfrm>
              <a:off x="3361929" y="4292600"/>
              <a:ext cx="2105025" cy="319087"/>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en-US" altLang="zh-CN" sz="2000" kern="0">
                  <a:solidFill>
                    <a:prstClr val="white"/>
                  </a:solidFill>
                  <a:effectLst/>
                  <a:latin typeface="Garamond" pitchFamily="18" charset="0"/>
                  <a:ea typeface="黑体" panose="02010609060101010101" pitchFamily="49" charset="-122"/>
                </a:rPr>
                <a:t>1003#</a:t>
              </a:r>
              <a:r>
                <a:rPr kumimoji="0" lang="zh-CN" altLang="en-US" sz="2000" kern="0">
                  <a:solidFill>
                    <a:prstClr val="white"/>
                  </a:solidFill>
                  <a:effectLst/>
                  <a:latin typeface="Garamond" pitchFamily="18" charset="0"/>
                  <a:ea typeface="黑体" panose="02010609060101010101" pitchFamily="49" charset="-122"/>
                </a:rPr>
                <a:t>职工记录</a:t>
              </a:r>
            </a:p>
          </p:txBody>
        </p:sp>
        <p:sp>
          <p:nvSpPr>
            <p:cNvPr id="32" name="Rectangle 31">
              <a:extLst>
                <a:ext uri="{FF2B5EF4-FFF2-40B4-BE49-F238E27FC236}">
                  <a16:creationId xmlns:a16="http://schemas.microsoft.com/office/drawing/2014/main" id="{8B6EC087-6432-4C40-9FCA-C7135ED9B088}"/>
                </a:ext>
              </a:extLst>
            </p:cNvPr>
            <p:cNvSpPr>
              <a:spLocks noChangeArrowheads="1"/>
            </p:cNvSpPr>
            <p:nvPr/>
          </p:nvSpPr>
          <p:spPr bwMode="auto">
            <a:xfrm>
              <a:off x="5471715" y="4292600"/>
              <a:ext cx="2109788" cy="319087"/>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endParaRPr kumimoji="0" lang="zh-CN" altLang="en-US" sz="2400" kern="0">
                <a:solidFill>
                  <a:prstClr val="white"/>
                </a:solidFill>
                <a:effectLst/>
                <a:latin typeface="Arial" charset="0"/>
                <a:ea typeface="黑体" panose="02010609060101010101" pitchFamily="49" charset="-122"/>
              </a:endParaRPr>
            </a:p>
          </p:txBody>
        </p:sp>
        <p:sp>
          <p:nvSpPr>
            <p:cNvPr id="33" name="Rectangle 32">
              <a:extLst>
                <a:ext uri="{FF2B5EF4-FFF2-40B4-BE49-F238E27FC236}">
                  <a16:creationId xmlns:a16="http://schemas.microsoft.com/office/drawing/2014/main" id="{F059D506-81EA-44DA-BDAA-4D3E105934D2}"/>
                </a:ext>
              </a:extLst>
            </p:cNvPr>
            <p:cNvSpPr>
              <a:spLocks noChangeArrowheads="1"/>
            </p:cNvSpPr>
            <p:nvPr/>
          </p:nvSpPr>
          <p:spPr bwMode="auto">
            <a:xfrm>
              <a:off x="7594204" y="4292600"/>
              <a:ext cx="2105025" cy="319087"/>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en-US" altLang="zh-CN" sz="2000" kern="0">
                  <a:solidFill>
                    <a:prstClr val="white"/>
                  </a:solidFill>
                  <a:effectLst/>
                  <a:latin typeface="Garamond" pitchFamily="18" charset="0"/>
                  <a:ea typeface="黑体" panose="02010609060101010101" pitchFamily="49" charset="-122"/>
                </a:rPr>
                <a:t>3104#</a:t>
              </a:r>
              <a:r>
                <a:rPr kumimoji="0" lang="zh-CN" altLang="en-US" sz="2000" kern="0">
                  <a:solidFill>
                    <a:prstClr val="white"/>
                  </a:solidFill>
                  <a:effectLst/>
                  <a:latin typeface="Garamond" pitchFamily="18" charset="0"/>
                  <a:ea typeface="黑体" panose="02010609060101010101" pitchFamily="49" charset="-122"/>
                </a:rPr>
                <a:t>职工记录</a:t>
              </a:r>
            </a:p>
          </p:txBody>
        </p:sp>
        <p:sp>
          <p:nvSpPr>
            <p:cNvPr id="34" name="Rectangle 33">
              <a:extLst>
                <a:ext uri="{FF2B5EF4-FFF2-40B4-BE49-F238E27FC236}">
                  <a16:creationId xmlns:a16="http://schemas.microsoft.com/office/drawing/2014/main" id="{2EF94616-6D7B-46DC-BF98-3EC799B1F39D}"/>
                </a:ext>
              </a:extLst>
            </p:cNvPr>
            <p:cNvSpPr>
              <a:spLocks noChangeArrowheads="1"/>
            </p:cNvSpPr>
            <p:nvPr/>
          </p:nvSpPr>
          <p:spPr bwMode="auto">
            <a:xfrm>
              <a:off x="3361929" y="4795836"/>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zh-CN" altLang="en-US" sz="2000" kern="0" dirty="0">
                  <a:solidFill>
                    <a:prstClr val="white"/>
                  </a:solidFill>
                  <a:effectLst/>
                  <a:latin typeface="Arial" charset="0"/>
                  <a:ea typeface="黑体" panose="02010609060101010101" pitchFamily="49" charset="-122"/>
                </a:rPr>
                <a:t>┆</a:t>
              </a:r>
            </a:p>
          </p:txBody>
        </p:sp>
        <p:sp>
          <p:nvSpPr>
            <p:cNvPr id="35" name="Rectangle 34">
              <a:extLst>
                <a:ext uri="{FF2B5EF4-FFF2-40B4-BE49-F238E27FC236}">
                  <a16:creationId xmlns:a16="http://schemas.microsoft.com/office/drawing/2014/main" id="{0E820D4A-2504-4FBF-BACF-6586ED0892BB}"/>
                </a:ext>
              </a:extLst>
            </p:cNvPr>
            <p:cNvSpPr>
              <a:spLocks noChangeArrowheads="1"/>
            </p:cNvSpPr>
            <p:nvPr/>
          </p:nvSpPr>
          <p:spPr bwMode="auto">
            <a:xfrm>
              <a:off x="5471715" y="4795836"/>
              <a:ext cx="2109788"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zh-CN" altLang="en-US" sz="2000" kern="0">
                  <a:solidFill>
                    <a:prstClr val="white"/>
                  </a:solidFill>
                  <a:effectLst/>
                  <a:latin typeface="Arial" charset="0"/>
                  <a:ea typeface="黑体" panose="02010609060101010101" pitchFamily="49" charset="-122"/>
                </a:rPr>
                <a:t>┆</a:t>
              </a:r>
            </a:p>
          </p:txBody>
        </p:sp>
        <p:sp>
          <p:nvSpPr>
            <p:cNvPr id="36" name="Rectangle 35">
              <a:extLst>
                <a:ext uri="{FF2B5EF4-FFF2-40B4-BE49-F238E27FC236}">
                  <a16:creationId xmlns:a16="http://schemas.microsoft.com/office/drawing/2014/main" id="{6CCEE283-0635-438B-86FD-97783489CF3A}"/>
                </a:ext>
              </a:extLst>
            </p:cNvPr>
            <p:cNvSpPr>
              <a:spLocks noChangeArrowheads="1"/>
            </p:cNvSpPr>
            <p:nvPr/>
          </p:nvSpPr>
          <p:spPr bwMode="auto">
            <a:xfrm>
              <a:off x="7594204" y="4795836"/>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zh-CN" altLang="en-US" sz="2000" kern="0" dirty="0">
                  <a:solidFill>
                    <a:prstClr val="white"/>
                  </a:solidFill>
                  <a:effectLst/>
                  <a:latin typeface="Arial" charset="0"/>
                  <a:ea typeface="黑体" panose="02010609060101010101" pitchFamily="49" charset="-122"/>
                </a:rPr>
                <a:t>┆</a:t>
              </a:r>
            </a:p>
          </p:txBody>
        </p:sp>
        <p:sp>
          <p:nvSpPr>
            <p:cNvPr id="37" name="Rectangle 36">
              <a:extLst>
                <a:ext uri="{FF2B5EF4-FFF2-40B4-BE49-F238E27FC236}">
                  <a16:creationId xmlns:a16="http://schemas.microsoft.com/office/drawing/2014/main" id="{7DD4DDD8-C18C-4617-A508-EF7CA6BF0993}"/>
                </a:ext>
              </a:extLst>
            </p:cNvPr>
            <p:cNvSpPr>
              <a:spLocks noChangeArrowheads="1"/>
            </p:cNvSpPr>
            <p:nvPr/>
          </p:nvSpPr>
          <p:spPr bwMode="auto">
            <a:xfrm>
              <a:off x="3361929" y="5300661"/>
              <a:ext cx="2105025" cy="319088"/>
            </a:xfrm>
            <a:prstGeom prst="rect">
              <a:avLst/>
            </a:prstGeom>
            <a:solidFill>
              <a:srgbClr val="660066"/>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en-US" altLang="zh-CN" sz="2000" kern="0">
                  <a:solidFill>
                    <a:prstClr val="white"/>
                  </a:solidFill>
                  <a:effectLst/>
                  <a:latin typeface="Garamond" pitchFamily="18" charset="0"/>
                  <a:ea typeface="黑体" panose="02010609060101010101" pitchFamily="49" charset="-122"/>
                </a:rPr>
                <a:t>3103#</a:t>
              </a:r>
              <a:r>
                <a:rPr kumimoji="0" lang="zh-CN" altLang="en-US" sz="2000" kern="0">
                  <a:solidFill>
                    <a:prstClr val="white"/>
                  </a:solidFill>
                  <a:effectLst/>
                  <a:latin typeface="Garamond" pitchFamily="18" charset="0"/>
                  <a:ea typeface="黑体" panose="02010609060101010101" pitchFamily="49" charset="-122"/>
                </a:rPr>
                <a:t>职工记录</a:t>
              </a:r>
            </a:p>
          </p:txBody>
        </p:sp>
        <p:sp>
          <p:nvSpPr>
            <p:cNvPr id="38" name="Rectangle 37">
              <a:extLst>
                <a:ext uri="{FF2B5EF4-FFF2-40B4-BE49-F238E27FC236}">
                  <a16:creationId xmlns:a16="http://schemas.microsoft.com/office/drawing/2014/main" id="{F385DDBD-6428-4FA4-967C-65999D8CC1C9}"/>
                </a:ext>
              </a:extLst>
            </p:cNvPr>
            <p:cNvSpPr>
              <a:spLocks noChangeArrowheads="1"/>
            </p:cNvSpPr>
            <p:nvPr/>
          </p:nvSpPr>
          <p:spPr bwMode="auto">
            <a:xfrm>
              <a:off x="5471715" y="5300661"/>
              <a:ext cx="2109788"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endParaRPr kumimoji="0" lang="zh-CN" altLang="en-US" kern="0" baseline="-25000">
                <a:solidFill>
                  <a:prstClr val="white"/>
                </a:solidFill>
                <a:effectLst/>
                <a:latin typeface="Garamond" pitchFamily="18" charset="0"/>
                <a:ea typeface="宋体" pitchFamily="2" charset="-122"/>
              </a:endParaRPr>
            </a:p>
          </p:txBody>
        </p:sp>
        <p:sp>
          <p:nvSpPr>
            <p:cNvPr id="39" name="Rectangle 38">
              <a:extLst>
                <a:ext uri="{FF2B5EF4-FFF2-40B4-BE49-F238E27FC236}">
                  <a16:creationId xmlns:a16="http://schemas.microsoft.com/office/drawing/2014/main" id="{75EEC17A-4225-4AF1-9510-45295A3FB225}"/>
                </a:ext>
              </a:extLst>
            </p:cNvPr>
            <p:cNvSpPr>
              <a:spLocks noChangeArrowheads="1"/>
            </p:cNvSpPr>
            <p:nvPr/>
          </p:nvSpPr>
          <p:spPr bwMode="auto">
            <a:xfrm>
              <a:off x="7594204" y="5300661"/>
              <a:ext cx="2105025" cy="319088"/>
            </a:xfrm>
            <a:prstGeom prst="rect">
              <a:avLst/>
            </a:prstGeom>
            <a:solidFill>
              <a:srgbClr val="339933"/>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endParaRPr kumimoji="0" lang="zh-CN" altLang="en-US" kern="0" baseline="-25000">
                <a:solidFill>
                  <a:prstClr val="white"/>
                </a:solidFill>
                <a:effectLst/>
                <a:latin typeface="Garamond" pitchFamily="18" charset="0"/>
                <a:ea typeface="宋体" pitchFamily="2" charset="-122"/>
              </a:endParaRPr>
            </a:p>
          </p:txBody>
        </p:sp>
        <p:sp>
          <p:nvSpPr>
            <p:cNvPr id="40" name="Freeform 39">
              <a:extLst>
                <a:ext uri="{FF2B5EF4-FFF2-40B4-BE49-F238E27FC236}">
                  <a16:creationId xmlns:a16="http://schemas.microsoft.com/office/drawing/2014/main" id="{24158D15-F04D-4DA2-9094-A71B4C3B30BC}"/>
                </a:ext>
              </a:extLst>
            </p:cNvPr>
            <p:cNvSpPr>
              <a:spLocks/>
            </p:cNvSpPr>
            <p:nvPr/>
          </p:nvSpPr>
          <p:spPr bwMode="auto">
            <a:xfrm>
              <a:off x="2639616" y="2397125"/>
              <a:ext cx="7281863" cy="1031875"/>
            </a:xfrm>
            <a:custGeom>
              <a:avLst/>
              <a:gdLst/>
              <a:ahLst/>
              <a:cxnLst>
                <a:cxn ang="0">
                  <a:pos x="0" y="84"/>
                </a:cxn>
                <a:cxn ang="0">
                  <a:pos x="215" y="0"/>
                </a:cxn>
                <a:cxn ang="0">
                  <a:pos x="4417" y="13"/>
                </a:cxn>
                <a:cxn ang="0">
                  <a:pos x="4579" y="150"/>
                </a:cxn>
                <a:cxn ang="0">
                  <a:pos x="4587" y="559"/>
                </a:cxn>
                <a:cxn ang="0">
                  <a:pos x="4433" y="650"/>
                </a:cxn>
              </a:cxnLst>
              <a:rect l="0" t="0" r="r" b="b"/>
              <a:pathLst>
                <a:path w="4587" h="650">
                  <a:moveTo>
                    <a:pt x="0" y="84"/>
                  </a:moveTo>
                  <a:lnTo>
                    <a:pt x="215" y="0"/>
                  </a:lnTo>
                  <a:lnTo>
                    <a:pt x="4417" y="13"/>
                  </a:lnTo>
                  <a:lnTo>
                    <a:pt x="4579" y="150"/>
                  </a:lnTo>
                  <a:lnTo>
                    <a:pt x="4587" y="559"/>
                  </a:lnTo>
                  <a:lnTo>
                    <a:pt x="4433" y="650"/>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41" name="Freeform 40">
              <a:extLst>
                <a:ext uri="{FF2B5EF4-FFF2-40B4-BE49-F238E27FC236}">
                  <a16:creationId xmlns:a16="http://schemas.microsoft.com/office/drawing/2014/main" id="{021D7A76-5048-4788-B1E9-277EA2B36A83}"/>
                </a:ext>
              </a:extLst>
            </p:cNvPr>
            <p:cNvSpPr>
              <a:spLocks/>
            </p:cNvSpPr>
            <p:nvPr/>
          </p:nvSpPr>
          <p:spPr bwMode="auto">
            <a:xfrm>
              <a:off x="2625328" y="3171825"/>
              <a:ext cx="831850" cy="257175"/>
            </a:xfrm>
            <a:custGeom>
              <a:avLst/>
              <a:gdLst/>
              <a:ahLst/>
              <a:cxnLst>
                <a:cxn ang="0">
                  <a:pos x="0" y="0"/>
                </a:cxn>
                <a:cxn ang="0">
                  <a:pos x="289" y="162"/>
                </a:cxn>
                <a:cxn ang="0">
                  <a:pos x="524" y="154"/>
                </a:cxn>
              </a:cxnLst>
              <a:rect l="0" t="0" r="r" b="b"/>
              <a:pathLst>
                <a:path w="524" h="162">
                  <a:moveTo>
                    <a:pt x="0" y="0"/>
                  </a:moveTo>
                  <a:lnTo>
                    <a:pt x="289" y="162"/>
                  </a:lnTo>
                  <a:lnTo>
                    <a:pt x="524" y="154"/>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42" name="Freeform 41">
              <a:extLst>
                <a:ext uri="{FF2B5EF4-FFF2-40B4-BE49-F238E27FC236}">
                  <a16:creationId xmlns:a16="http://schemas.microsoft.com/office/drawing/2014/main" id="{90B196D9-BD58-490D-9645-4452E346AA70}"/>
                </a:ext>
              </a:extLst>
            </p:cNvPr>
            <p:cNvSpPr>
              <a:spLocks/>
            </p:cNvSpPr>
            <p:nvPr/>
          </p:nvSpPr>
          <p:spPr bwMode="auto">
            <a:xfrm>
              <a:off x="2625329" y="2613024"/>
              <a:ext cx="3201987" cy="239712"/>
            </a:xfrm>
            <a:custGeom>
              <a:avLst/>
              <a:gdLst/>
              <a:ahLst/>
              <a:cxnLst>
                <a:cxn ang="0">
                  <a:pos x="0" y="229"/>
                </a:cxn>
                <a:cxn ang="0">
                  <a:pos x="264" y="0"/>
                </a:cxn>
                <a:cxn ang="0">
                  <a:pos x="1952" y="0"/>
                </a:cxn>
                <a:cxn ang="0">
                  <a:pos x="2017" y="146"/>
                </a:cxn>
              </a:cxnLst>
              <a:rect l="0" t="0" r="r" b="b"/>
              <a:pathLst>
                <a:path w="2017" h="229">
                  <a:moveTo>
                    <a:pt x="0" y="229"/>
                  </a:moveTo>
                  <a:lnTo>
                    <a:pt x="264" y="0"/>
                  </a:lnTo>
                  <a:lnTo>
                    <a:pt x="1952" y="0"/>
                  </a:lnTo>
                  <a:lnTo>
                    <a:pt x="2017" y="146"/>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43" name="Freeform 42">
              <a:extLst>
                <a:ext uri="{FF2B5EF4-FFF2-40B4-BE49-F238E27FC236}">
                  <a16:creationId xmlns:a16="http://schemas.microsoft.com/office/drawing/2014/main" id="{8A6D2BDA-03A8-4070-ABC1-E959BED3AC24}"/>
                </a:ext>
              </a:extLst>
            </p:cNvPr>
            <p:cNvSpPr>
              <a:spLocks/>
            </p:cNvSpPr>
            <p:nvPr/>
          </p:nvSpPr>
          <p:spPr bwMode="auto">
            <a:xfrm>
              <a:off x="2625329" y="3500437"/>
              <a:ext cx="865187" cy="900113"/>
            </a:xfrm>
            <a:custGeom>
              <a:avLst/>
              <a:gdLst/>
              <a:ahLst/>
              <a:cxnLst>
                <a:cxn ang="0">
                  <a:pos x="0" y="0"/>
                </a:cxn>
                <a:cxn ang="0">
                  <a:pos x="289" y="158"/>
                </a:cxn>
                <a:cxn ang="0">
                  <a:pos x="281" y="467"/>
                </a:cxn>
                <a:cxn ang="0">
                  <a:pos x="545" y="567"/>
                </a:cxn>
              </a:cxnLst>
              <a:rect l="0" t="0" r="r" b="b"/>
              <a:pathLst>
                <a:path w="545" h="567">
                  <a:moveTo>
                    <a:pt x="0" y="0"/>
                  </a:moveTo>
                  <a:lnTo>
                    <a:pt x="289" y="158"/>
                  </a:lnTo>
                  <a:lnTo>
                    <a:pt x="281" y="467"/>
                  </a:lnTo>
                  <a:lnTo>
                    <a:pt x="545" y="567"/>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44" name="Freeform 43">
              <a:extLst>
                <a:ext uri="{FF2B5EF4-FFF2-40B4-BE49-F238E27FC236}">
                  <a16:creationId xmlns:a16="http://schemas.microsoft.com/office/drawing/2014/main" id="{1D39DEB2-53A8-4AAC-A0B8-AC859EB8B2E7}"/>
                </a:ext>
              </a:extLst>
            </p:cNvPr>
            <p:cNvSpPr>
              <a:spLocks/>
            </p:cNvSpPr>
            <p:nvPr/>
          </p:nvSpPr>
          <p:spPr bwMode="auto">
            <a:xfrm>
              <a:off x="2625328" y="5084761"/>
              <a:ext cx="755650" cy="374650"/>
            </a:xfrm>
            <a:custGeom>
              <a:avLst/>
              <a:gdLst/>
              <a:ahLst/>
              <a:cxnLst>
                <a:cxn ang="0">
                  <a:pos x="0" y="0"/>
                </a:cxn>
                <a:cxn ang="0">
                  <a:pos x="367" y="236"/>
                </a:cxn>
                <a:cxn ang="0">
                  <a:pos x="476" y="224"/>
                </a:cxn>
              </a:cxnLst>
              <a:rect l="0" t="0" r="r" b="b"/>
              <a:pathLst>
                <a:path w="476" h="236">
                  <a:moveTo>
                    <a:pt x="0" y="0"/>
                  </a:moveTo>
                  <a:lnTo>
                    <a:pt x="367" y="236"/>
                  </a:lnTo>
                  <a:lnTo>
                    <a:pt x="476" y="224"/>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45" name="Rectangle 44">
              <a:extLst>
                <a:ext uri="{FF2B5EF4-FFF2-40B4-BE49-F238E27FC236}">
                  <a16:creationId xmlns:a16="http://schemas.microsoft.com/office/drawing/2014/main" id="{BA19263E-1454-44EE-8615-0F85213A8629}"/>
                </a:ext>
              </a:extLst>
            </p:cNvPr>
            <p:cNvSpPr>
              <a:spLocks noChangeArrowheads="1"/>
            </p:cNvSpPr>
            <p:nvPr/>
          </p:nvSpPr>
          <p:spPr bwMode="auto">
            <a:xfrm>
              <a:off x="1833165" y="3660774"/>
              <a:ext cx="863600" cy="939800"/>
            </a:xfrm>
            <a:prstGeom prst="rect">
              <a:avLst/>
            </a:prstGeom>
            <a:solidFill>
              <a:srgbClr val="0000CC"/>
            </a:solidFill>
            <a:ln w="12700" cap="sq" algn="ctr">
              <a:solidFill>
                <a:srgbClr val="FFFFFF"/>
              </a:solidFill>
              <a:miter lim="800000"/>
              <a:headEnd/>
              <a:tailEnd/>
            </a:ln>
          </p:spPr>
          <p:txBody>
            <a:bodyPr wrap="none" lIns="72000" tIns="72000" rIns="72000" bIns="72000" anchor="ctr"/>
            <a:lstStyle/>
            <a:p>
              <a:pPr algn="ctr" fontAlgn="auto">
                <a:spcBef>
                  <a:spcPts val="0"/>
                </a:spcBef>
                <a:spcAft>
                  <a:spcPct val="0"/>
                </a:spcAft>
                <a:buSzTx/>
                <a:defRPr/>
              </a:pPr>
              <a:r>
                <a:rPr kumimoji="0" lang="zh-CN" altLang="en-US" sz="2400" kern="0">
                  <a:solidFill>
                    <a:prstClr val="white"/>
                  </a:solidFill>
                  <a:effectLst/>
                  <a:latin typeface="Arial" charset="0"/>
                  <a:ea typeface="黑体" panose="02010609060101010101" pitchFamily="49" charset="-122"/>
                </a:rPr>
                <a:t>┆</a:t>
              </a:r>
            </a:p>
          </p:txBody>
        </p:sp>
        <p:sp>
          <p:nvSpPr>
            <p:cNvPr id="46" name="Freeform 45">
              <a:extLst>
                <a:ext uri="{FF2B5EF4-FFF2-40B4-BE49-F238E27FC236}">
                  <a16:creationId xmlns:a16="http://schemas.microsoft.com/office/drawing/2014/main" id="{4E974E72-5D8D-450E-96EB-7570852768BE}"/>
                </a:ext>
              </a:extLst>
            </p:cNvPr>
            <p:cNvSpPr>
              <a:spLocks/>
            </p:cNvSpPr>
            <p:nvPr/>
          </p:nvSpPr>
          <p:spPr bwMode="auto">
            <a:xfrm>
              <a:off x="2631678" y="3952875"/>
              <a:ext cx="2900362" cy="809625"/>
            </a:xfrm>
            <a:custGeom>
              <a:avLst/>
              <a:gdLst/>
              <a:ahLst/>
              <a:cxnLst>
                <a:cxn ang="0">
                  <a:pos x="0" y="510"/>
                </a:cxn>
                <a:cxn ang="0">
                  <a:pos x="138" y="436"/>
                </a:cxn>
                <a:cxn ang="0">
                  <a:pos x="138" y="0"/>
                </a:cxn>
                <a:cxn ang="0">
                  <a:pos x="1827" y="0"/>
                </a:cxn>
              </a:cxnLst>
              <a:rect l="0" t="0" r="r" b="b"/>
              <a:pathLst>
                <a:path w="1827" h="510">
                  <a:moveTo>
                    <a:pt x="0" y="510"/>
                  </a:moveTo>
                  <a:lnTo>
                    <a:pt x="138" y="436"/>
                  </a:lnTo>
                  <a:lnTo>
                    <a:pt x="138" y="0"/>
                  </a:lnTo>
                  <a:lnTo>
                    <a:pt x="1827" y="0"/>
                  </a:lnTo>
                </a:path>
              </a:pathLst>
            </a:custGeom>
            <a:noFill/>
            <a:ln w="38100" cap="sq" cmpd="sng">
              <a:solidFill>
                <a:srgbClr val="FF0000"/>
              </a:solidFill>
              <a:prstDash val="solid"/>
              <a:round/>
              <a:headEnd type="oval" w="med" len="med"/>
              <a:tailEnd type="triangle" w="med" len="med"/>
            </a:ln>
            <a:effectLst/>
          </p:spPr>
          <p:txBody>
            <a:bodyPr lIns="72000" tIns="72000" rIns="72000" bIns="72000"/>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grpSp>
      <p:sp>
        <p:nvSpPr>
          <p:cNvPr id="47" name="Rectangle 46">
            <a:extLst>
              <a:ext uri="{FF2B5EF4-FFF2-40B4-BE49-F238E27FC236}">
                <a16:creationId xmlns:a16="http://schemas.microsoft.com/office/drawing/2014/main" id="{ABB30A26-CF90-453E-B55B-ED186BA6620E}"/>
              </a:ext>
            </a:extLst>
          </p:cNvPr>
          <p:cNvSpPr txBox="1">
            <a:spLocks noChangeArrowheads="1"/>
          </p:cNvSpPr>
          <p:nvPr/>
        </p:nvSpPr>
        <p:spPr bwMode="auto">
          <a:xfrm>
            <a:off x="479376" y="898674"/>
            <a:ext cx="11017224" cy="107721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5600" indent="-355600" eaLnBrk="1" hangingPunct="1">
              <a:defRPr/>
            </a:pPr>
            <a:r>
              <a:rPr kumimoji="0" lang="zh-CN" altLang="en-US" sz="3200" kern="0" dirty="0"/>
              <a:t>索引类似于书的目录，可实现按某些属性（索引关键字）值对数据记录进行快速定位，从而</a:t>
            </a:r>
            <a:r>
              <a:rPr kumimoji="0" lang="zh-CN" altLang="en-US" sz="3200" kern="0" dirty="0">
                <a:solidFill>
                  <a:schemeClr val="accent6">
                    <a:lumMod val="40000"/>
                    <a:lumOff val="60000"/>
                  </a:schemeClr>
                </a:solidFill>
              </a:rPr>
              <a:t>提高数据查询效率</a:t>
            </a:r>
            <a:r>
              <a:rPr kumimoji="0" lang="zh-CN" altLang="en-US" sz="3200" kern="0" dirty="0"/>
              <a:t>。</a:t>
            </a:r>
          </a:p>
        </p:txBody>
      </p:sp>
      <p:sp>
        <p:nvSpPr>
          <p:cNvPr id="48" name="Rectangle 20">
            <a:extLst>
              <a:ext uri="{FF2B5EF4-FFF2-40B4-BE49-F238E27FC236}">
                <a16:creationId xmlns:a16="http://schemas.microsoft.com/office/drawing/2014/main" id="{B6527501-5C6F-4C64-9039-533E9B623C08}"/>
              </a:ext>
            </a:extLst>
          </p:cNvPr>
          <p:cNvSpPr>
            <a:spLocks noChangeArrowheads="1"/>
          </p:cNvSpPr>
          <p:nvPr/>
        </p:nvSpPr>
        <p:spPr bwMode="auto">
          <a:xfrm>
            <a:off x="1456904" y="6132511"/>
            <a:ext cx="1581697" cy="576293"/>
          </a:xfrm>
          <a:prstGeom prst="rect">
            <a:avLst/>
          </a:prstGeom>
          <a:noFill/>
          <a:ln w="12700" cap="sq" algn="ctr">
            <a:noFill/>
            <a:miter lim="800000"/>
            <a:headEnd/>
            <a:tailEnd/>
          </a:ln>
          <a:effectLst/>
        </p:spPr>
        <p:txBody>
          <a:bodyPr wrap="none" lIns="72000" tIns="72000" rIns="72000" bIns="72000">
            <a:spAutoFit/>
          </a:bodyPr>
          <a:lstStyle/>
          <a:p>
            <a:pPr algn="ctr" fontAlgn="auto">
              <a:spcBef>
                <a:spcPts val="0"/>
              </a:spcBef>
              <a:spcAft>
                <a:spcPct val="0"/>
              </a:spcAft>
              <a:buSzTx/>
              <a:defRPr/>
            </a:pPr>
            <a:r>
              <a:rPr lang="zh-CN" altLang="en-US" sz="2800" kern="0" dirty="0">
                <a:solidFill>
                  <a:srgbClr val="FFCC00"/>
                </a:solidFill>
                <a:effectLst>
                  <a:outerShdw blurRad="38100" dist="38100" dir="2700000" algn="tl">
                    <a:srgbClr val="000000"/>
                  </a:outerShdw>
                </a:effectLst>
                <a:latin typeface="Times New Roman" pitchFamily="18" charset="0"/>
                <a:ea typeface="黑体" panose="02010609060101010101" pitchFamily="49" charset="-122"/>
              </a:rPr>
              <a:t>工号</a:t>
            </a:r>
            <a:r>
              <a:rPr kumimoji="0" lang="zh-CN" altLang="en-US" sz="2800" kern="0" dirty="0">
                <a:solidFill>
                  <a:srgbClr val="FFCC00"/>
                </a:solidFill>
                <a:effectLst>
                  <a:outerShdw blurRad="38100" dist="38100" dir="2700000" algn="tl">
                    <a:srgbClr val="000000"/>
                  </a:outerShdw>
                </a:effectLst>
                <a:latin typeface="Times New Roman" pitchFamily="18" charset="0"/>
                <a:ea typeface="黑体" panose="02010609060101010101" pitchFamily="49" charset="-122"/>
              </a:rPr>
              <a:t>索引</a:t>
            </a:r>
          </a:p>
        </p:txBody>
      </p:sp>
      <p:sp>
        <p:nvSpPr>
          <p:cNvPr id="52" name="WordArt 8">
            <a:extLst>
              <a:ext uri="{FF2B5EF4-FFF2-40B4-BE49-F238E27FC236}">
                <a16:creationId xmlns:a16="http://schemas.microsoft.com/office/drawing/2014/main" id="{C449A276-E0E9-4A52-ADF1-99C3F17977B6}"/>
              </a:ext>
            </a:extLst>
          </p:cNvPr>
          <p:cNvSpPr>
            <a:spLocks noChangeArrowheads="1" noChangeShapeType="1" noTextEdit="1"/>
          </p:cNvSpPr>
          <p:nvPr/>
        </p:nvSpPr>
        <p:spPr bwMode="auto">
          <a:xfrm rot="5400000">
            <a:off x="-197628" y="3421597"/>
            <a:ext cx="2145096" cy="775928"/>
          </a:xfrm>
          <a:prstGeom prst="rect">
            <a:avLst/>
          </a:prstGeom>
        </p:spPr>
        <p:txBody>
          <a:bodyPr vert="eaVert" wrap="none" fromWordArt="1">
            <a:prstTxWarp prst="textPlain">
              <a:avLst>
                <a:gd name="adj" fmla="val 50000"/>
              </a:avLst>
            </a:prstTxWarp>
          </a:bodyPr>
          <a:lstStyle/>
          <a:p>
            <a:pPr algn="ctr" fontAlgn="base">
              <a:spcBef>
                <a:spcPct val="0"/>
              </a:spcBef>
              <a:spcAft>
                <a:spcPct val="0"/>
              </a:spcAft>
              <a:defRPr/>
            </a:pPr>
            <a:r>
              <a:rPr lang="zh-CN" altLang="en-US" sz="6600" b="1" kern="10" spc="600" baseline="-25000" dirty="0">
                <a:ln w="38100">
                  <a:solidFill>
                    <a:srgbClr val="FFFFFF"/>
                  </a:solidFill>
                  <a:prstDash val="solid"/>
                </a:ln>
                <a:solidFill>
                  <a:srgbClr val="FF0000"/>
                </a:solidFill>
                <a:effectLst>
                  <a:outerShdw blurRad="12700" dist="38100" dir="2700000" algn="tl" rotWithShape="0">
                    <a:srgbClr val="003399">
                      <a:lumMod val="50000"/>
                    </a:srgbClr>
                  </a:outerShdw>
                </a:effectLst>
                <a:latin typeface="微软雅黑" panose="020B0503020204020204" pitchFamily="34" charset="-122"/>
                <a:ea typeface="微软雅黑" panose="020B0503020204020204" pitchFamily="34" charset="-122"/>
              </a:rPr>
              <a:t>有序</a:t>
            </a:r>
          </a:p>
        </p:txBody>
      </p:sp>
      <p:sp>
        <p:nvSpPr>
          <p:cNvPr id="55" name="WordArt 8">
            <a:extLst>
              <a:ext uri="{FF2B5EF4-FFF2-40B4-BE49-F238E27FC236}">
                <a16:creationId xmlns:a16="http://schemas.microsoft.com/office/drawing/2014/main" id="{8ED08291-F126-42E8-B62D-08A9DC9C8CC7}"/>
              </a:ext>
            </a:extLst>
          </p:cNvPr>
          <p:cNvSpPr>
            <a:spLocks noChangeArrowheads="1" noChangeShapeType="1" noTextEdit="1"/>
          </p:cNvSpPr>
          <p:nvPr/>
        </p:nvSpPr>
        <p:spPr bwMode="auto">
          <a:xfrm rot="5400000">
            <a:off x="9921934" y="3421597"/>
            <a:ext cx="2145096" cy="775928"/>
          </a:xfrm>
          <a:prstGeom prst="rect">
            <a:avLst/>
          </a:prstGeom>
        </p:spPr>
        <p:txBody>
          <a:bodyPr vert="eaVert" wrap="none" fromWordArt="1">
            <a:prstTxWarp prst="textPlain">
              <a:avLst>
                <a:gd name="adj" fmla="val 50000"/>
              </a:avLst>
            </a:prstTxWarp>
          </a:bodyPr>
          <a:lstStyle/>
          <a:p>
            <a:pPr algn="ctr" fontAlgn="base">
              <a:spcBef>
                <a:spcPct val="0"/>
              </a:spcBef>
              <a:spcAft>
                <a:spcPct val="0"/>
              </a:spcAft>
              <a:defRPr/>
            </a:pPr>
            <a:r>
              <a:rPr lang="zh-CN" altLang="en-US" sz="6600" b="1" kern="10" spc="600" baseline="-25000" dirty="0">
                <a:ln w="38100">
                  <a:solidFill>
                    <a:srgbClr val="FFFFFF"/>
                  </a:solidFill>
                  <a:prstDash val="solid"/>
                </a:ln>
                <a:solidFill>
                  <a:srgbClr val="FF0000"/>
                </a:solidFill>
                <a:effectLst>
                  <a:outerShdw blurRad="12700" dist="38100" dir="2700000" algn="tl" rotWithShape="0">
                    <a:srgbClr val="003399">
                      <a:lumMod val="50000"/>
                    </a:srgbClr>
                  </a:outerShdw>
                </a:effectLst>
                <a:latin typeface="微软雅黑" panose="020B0503020204020204" pitchFamily="34" charset="-122"/>
                <a:ea typeface="微软雅黑" panose="020B0503020204020204" pitchFamily="34" charset="-122"/>
              </a:rPr>
              <a:t>指向</a:t>
            </a:r>
          </a:p>
        </p:txBody>
      </p:sp>
    </p:spTree>
    <p:extLst>
      <p:ext uri="{BB962C8B-B14F-4D97-AF65-F5344CB8AC3E}">
        <p14:creationId xmlns:p14="http://schemas.microsoft.com/office/powerpoint/2010/main" val="3638527405"/>
      </p:ext>
    </p:extLst>
  </p:cSld>
  <p:clrMapOvr>
    <a:masterClrMapping/>
  </p:clrMapOvr>
  <mc:AlternateContent xmlns:mc="http://schemas.openxmlformats.org/markup-compatibility/2006" xmlns:p14="http://schemas.microsoft.com/office/powerpoint/2010/main">
    <mc:Choice Requires="p14">
      <p:transition spd="slow" p14:dur="1500">
        <p14:window dir="vert"/>
        <p:sndAc>
          <p:stSnd>
            <p:snd r:embed="rId2" name="arrow.wav"/>
          </p:stSnd>
        </p:sndAc>
      </p:transition>
    </mc:Choice>
    <mc:Fallback xmlns="">
      <p:transition spd="slow">
        <p:fade/>
        <p:sndAc>
          <p:stSnd>
            <p:snd r:embed="rId4"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0-#ppt_w/2"/>
                                          </p:val>
                                        </p:tav>
                                        <p:tav tm="100000">
                                          <p:val>
                                            <p:strVal val="#ppt_x"/>
                                          </p:val>
                                        </p:tav>
                                      </p:tavLst>
                                    </p:anim>
                                    <p:anim calcmode="lin" valueType="num">
                                      <p:cBhvr additive="base">
                                        <p:cTn id="8" dur="500" fill="hold"/>
                                        <p:tgtEl>
                                          <p:spTgt spid="5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additive="base">
                                        <p:cTn id="11" dur="500" fill="hold"/>
                                        <p:tgtEl>
                                          <p:spTgt spid="55"/>
                                        </p:tgtEl>
                                        <p:attrNameLst>
                                          <p:attrName>ppt_x</p:attrName>
                                        </p:attrNameLst>
                                      </p:cBhvr>
                                      <p:tavLst>
                                        <p:tav tm="0">
                                          <p:val>
                                            <p:strVal val="1+#ppt_w/2"/>
                                          </p:val>
                                        </p:tav>
                                        <p:tav tm="100000">
                                          <p:val>
                                            <p:strVal val="#ppt_x"/>
                                          </p:val>
                                        </p:tav>
                                      </p:tavLst>
                                    </p:anim>
                                    <p:anim calcmode="lin" valueType="num">
                                      <p:cBhvr additive="base">
                                        <p:cTn id="12" dur="500" fill="hold"/>
                                        <p:tgtEl>
                                          <p:spTgt spid="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3769604"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索引原理的示意</a:t>
            </a:r>
            <a:endParaRPr lang="zh-CN" altLang="en-US" sz="4000" b="1" dirty="0">
              <a:solidFill>
                <a:srgbClr val="FFFFCC"/>
              </a:solidFill>
              <a:effectLst>
                <a:outerShdw blurRad="38100" dist="38100" dir="2700000" algn="tl">
                  <a:srgbClr val="000000"/>
                </a:outerShdw>
              </a:effectLst>
              <a:cs typeface="+mn-cs"/>
            </a:endParaRPr>
          </a:p>
        </p:txBody>
      </p:sp>
      <p:pic>
        <p:nvPicPr>
          <p:cNvPr id="1026" name="Picture 2" descr="查看源图像">
            <a:extLst>
              <a:ext uri="{FF2B5EF4-FFF2-40B4-BE49-F238E27FC236}">
                <a16:creationId xmlns:a16="http://schemas.microsoft.com/office/drawing/2014/main" id="{C1D7D913-93E7-4144-A390-2F2FFF3EF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424" y="1124744"/>
            <a:ext cx="10153128" cy="5328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017223"/>
      </p:ext>
    </p:extLst>
  </p:cSld>
  <p:clrMapOvr>
    <a:masterClrMapping/>
  </p:clrMapOvr>
  <mc:AlternateContent xmlns:mc="http://schemas.openxmlformats.org/markup-compatibility/2006" xmlns:p14="http://schemas.microsoft.com/office/powerpoint/2010/main">
    <mc:Choice Requires="p14">
      <p:transition spd="slow" p14:dur="1500">
        <p14:window dir="vert"/>
        <p:sndAc>
          <p:stSnd>
            <p:snd r:embed="rId2" name="arrow.wav"/>
          </p:stSnd>
        </p:sndAc>
      </p:transition>
    </mc:Choice>
    <mc:Fallback xmlns="">
      <p:transition spd="slow">
        <p:fade/>
        <p:sndAc>
          <p:stSnd>
            <p:snd r:embed="rId4" name="arrow.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4294967295"/>
          </p:nvPr>
        </p:nvSpPr>
        <p:spPr>
          <a:xfrm>
            <a:off x="551384" y="332656"/>
            <a:ext cx="10801200" cy="6120680"/>
          </a:xfrm>
        </p:spPr>
        <p:txBody>
          <a:bodyPr>
            <a:noAutofit/>
          </a:bodyPr>
          <a:lstStyle/>
          <a:p>
            <a:pPr>
              <a:lnSpc>
                <a:spcPct val="150000"/>
              </a:lnSpc>
            </a:pPr>
            <a:r>
              <a:rPr lang="en-US" altLang="zh-CN" sz="2000">
                <a:latin typeface="微软雅黑" panose="020B0503020204020204" pitchFamily="34" charset="-122"/>
              </a:rPr>
              <a:t>MYSQL</a:t>
            </a:r>
            <a:r>
              <a:rPr lang="zh-CN" altLang="en-US" sz="2000">
                <a:latin typeface="微软雅黑" panose="020B0503020204020204" pitchFamily="34" charset="-122"/>
              </a:rPr>
              <a:t>中的索引种类比较多。按照索引字段的数量、类型和作用等方式划分，主要包括以下</a:t>
            </a:r>
            <a:r>
              <a:rPr lang="en-US" altLang="zh-CN" sz="2000">
                <a:latin typeface="微软雅黑" panose="020B0503020204020204" pitchFamily="34" charset="-122"/>
              </a:rPr>
              <a:t>6</a:t>
            </a:r>
            <a:r>
              <a:rPr lang="zh-CN" altLang="en-US" sz="2000">
                <a:latin typeface="微软雅黑" panose="020B0503020204020204" pitchFamily="34" charset="-122"/>
              </a:rPr>
              <a:t>种。</a:t>
            </a:r>
          </a:p>
          <a:p>
            <a:pPr>
              <a:lnSpc>
                <a:spcPct val="150000"/>
              </a:lnSpc>
              <a:buFontTx/>
              <a:buNone/>
            </a:pPr>
            <a:r>
              <a:rPr lang="zh-CN" altLang="en-US" sz="2000">
                <a:latin typeface="微软雅黑" panose="020B0503020204020204" pitchFamily="34" charset="-122"/>
              </a:rPr>
              <a:t>（</a:t>
            </a:r>
            <a:r>
              <a:rPr lang="en-US" altLang="zh-CN" sz="2000">
                <a:latin typeface="微软雅黑" panose="020B0503020204020204" pitchFamily="34" charset="-122"/>
              </a:rPr>
              <a:t>1</a:t>
            </a:r>
            <a:r>
              <a:rPr lang="zh-CN" altLang="en-US" sz="2000">
                <a:latin typeface="微软雅黑" panose="020B0503020204020204" pitchFamily="34" charset="-122"/>
              </a:rPr>
              <a:t>）普通索引</a:t>
            </a:r>
          </a:p>
          <a:p>
            <a:pPr lvl="1">
              <a:lnSpc>
                <a:spcPct val="150000"/>
              </a:lnSpc>
            </a:pPr>
            <a:r>
              <a:rPr lang="zh-CN" altLang="en-US" sz="2000">
                <a:latin typeface="微软雅黑" panose="020B0503020204020204" pitchFamily="34" charset="-122"/>
              </a:rPr>
              <a:t>普通索引是</a:t>
            </a:r>
            <a:r>
              <a:rPr lang="en-US" altLang="zh-CN" sz="2000">
                <a:latin typeface="微软雅黑" panose="020B0503020204020204" pitchFamily="34" charset="-122"/>
              </a:rPr>
              <a:t>MySQL</a:t>
            </a:r>
            <a:r>
              <a:rPr lang="zh-CN" altLang="en-US" sz="2000">
                <a:latin typeface="微软雅黑" panose="020B0503020204020204" pitchFamily="34" charset="-122"/>
              </a:rPr>
              <a:t>中的基本索引类型。它允许索引字段有</a:t>
            </a:r>
            <a:r>
              <a:rPr lang="zh-CN" altLang="en-US" sz="2000">
                <a:solidFill>
                  <a:srgbClr val="C00000"/>
                </a:solidFill>
                <a:latin typeface="微软雅黑" panose="020B0503020204020204" pitchFamily="34" charset="-122"/>
              </a:rPr>
              <a:t>重复值和空值</a:t>
            </a:r>
            <a:r>
              <a:rPr lang="zh-CN" altLang="en-US" sz="2000">
                <a:latin typeface="微软雅黑" panose="020B0503020204020204" pitchFamily="34" charset="-122"/>
              </a:rPr>
              <a:t>，由关键字</a:t>
            </a:r>
            <a:r>
              <a:rPr lang="en-US" altLang="zh-CN" sz="2000">
                <a:solidFill>
                  <a:srgbClr val="C00000"/>
                </a:solidFill>
                <a:latin typeface="微软雅黑" panose="020B0503020204020204" pitchFamily="34" charset="-122"/>
              </a:rPr>
              <a:t>KEY</a:t>
            </a:r>
            <a:r>
              <a:rPr lang="zh-CN" altLang="en-US" sz="2000">
                <a:solidFill>
                  <a:srgbClr val="C00000"/>
                </a:solidFill>
                <a:latin typeface="微软雅黑" panose="020B0503020204020204" pitchFamily="34" charset="-122"/>
              </a:rPr>
              <a:t>或</a:t>
            </a:r>
            <a:r>
              <a:rPr lang="en-US" altLang="zh-CN" sz="2000">
                <a:solidFill>
                  <a:srgbClr val="C00000"/>
                </a:solidFill>
                <a:latin typeface="微软雅黑" panose="020B0503020204020204" pitchFamily="34" charset="-122"/>
              </a:rPr>
              <a:t>INDEX</a:t>
            </a:r>
            <a:r>
              <a:rPr lang="zh-CN" altLang="en-US" sz="2000">
                <a:latin typeface="微软雅黑" panose="020B0503020204020204" pitchFamily="34" charset="-122"/>
              </a:rPr>
              <a:t>定义，可以创建在任何数据类型中。普通索引的唯一任务是加快对数据的访问速度。</a:t>
            </a:r>
          </a:p>
          <a:p>
            <a:pPr>
              <a:lnSpc>
                <a:spcPct val="150000"/>
              </a:lnSpc>
              <a:buFontTx/>
              <a:buNone/>
            </a:pPr>
            <a:r>
              <a:rPr lang="zh-CN" altLang="en-US" sz="2000">
                <a:latin typeface="微软雅黑" panose="020B0503020204020204" pitchFamily="34" charset="-122"/>
              </a:rPr>
              <a:t>（</a:t>
            </a:r>
            <a:r>
              <a:rPr lang="en-US" altLang="zh-CN" sz="2000">
                <a:latin typeface="微软雅黑" panose="020B0503020204020204" pitchFamily="34" charset="-122"/>
              </a:rPr>
              <a:t>2</a:t>
            </a:r>
            <a:r>
              <a:rPr lang="zh-CN" altLang="en-US" sz="2000">
                <a:latin typeface="微软雅黑" panose="020B0503020204020204" pitchFamily="34" charset="-122"/>
              </a:rPr>
              <a:t>）唯一索引</a:t>
            </a:r>
          </a:p>
          <a:p>
            <a:pPr lvl="1">
              <a:lnSpc>
                <a:spcPct val="150000"/>
              </a:lnSpc>
            </a:pPr>
            <a:r>
              <a:rPr lang="zh-CN" altLang="en-US" sz="2000">
                <a:latin typeface="微软雅黑" panose="020B0503020204020204" pitchFamily="34" charset="-122"/>
              </a:rPr>
              <a:t>唯一索引由关键字</a:t>
            </a:r>
            <a:r>
              <a:rPr lang="en-US" altLang="zh-CN" sz="2000">
                <a:solidFill>
                  <a:srgbClr val="C00000"/>
                </a:solidFill>
                <a:latin typeface="微软雅黑" panose="020B0503020204020204" pitchFamily="34" charset="-122"/>
              </a:rPr>
              <a:t>UNIQUE</a:t>
            </a:r>
            <a:r>
              <a:rPr lang="zh-CN" altLang="en-US" sz="2000">
                <a:latin typeface="微软雅黑" panose="020B0503020204020204" pitchFamily="34" charset="-122"/>
              </a:rPr>
              <a:t>定义，要求索引字段的值</a:t>
            </a:r>
            <a:r>
              <a:rPr lang="zh-CN" altLang="en-US" sz="2000">
                <a:solidFill>
                  <a:srgbClr val="C00000"/>
                </a:solidFill>
                <a:latin typeface="微软雅黑" panose="020B0503020204020204" pitchFamily="34" charset="-122"/>
              </a:rPr>
              <a:t>不能重复</a:t>
            </a:r>
            <a:r>
              <a:rPr lang="zh-CN" altLang="en-US" sz="2000">
                <a:latin typeface="微软雅黑" panose="020B0503020204020204" pitchFamily="34" charset="-122"/>
              </a:rPr>
              <a:t>，但允许为空值。创建唯一索引的目的往往不是为了提高访问速度，而只是为了避免数据出现重复。另外</a:t>
            </a:r>
            <a:r>
              <a:rPr lang="en-US" altLang="zh-CN" sz="2000">
                <a:latin typeface="微软雅黑" panose="020B0503020204020204" pitchFamily="34" charset="-122"/>
              </a:rPr>
              <a:t>MySQL</a:t>
            </a:r>
            <a:r>
              <a:rPr lang="zh-CN" altLang="en-US" sz="2000">
                <a:latin typeface="微软雅黑" panose="020B0503020204020204" pitchFamily="34" charset="-122"/>
              </a:rPr>
              <a:t>中的</a:t>
            </a:r>
            <a:r>
              <a:rPr lang="zh-CN" altLang="en-US" sz="2000">
                <a:solidFill>
                  <a:srgbClr val="C00000"/>
                </a:solidFill>
                <a:latin typeface="微软雅黑" panose="020B0503020204020204" pitchFamily="34" charset="-122"/>
              </a:rPr>
              <a:t>主键索引是一种特殊的唯一索引</a:t>
            </a:r>
            <a:r>
              <a:rPr lang="zh-CN" altLang="en-US" sz="2000">
                <a:latin typeface="微软雅黑" panose="020B0503020204020204" pitchFamily="34" charset="-122"/>
              </a:rPr>
              <a:t>，它不允许有空值。</a:t>
            </a:r>
          </a:p>
        </p:txBody>
      </p:sp>
    </p:spTree>
    <p:extLst>
      <p:ext uri="{BB962C8B-B14F-4D97-AF65-F5344CB8AC3E}">
        <p14:creationId xmlns:p14="http://schemas.microsoft.com/office/powerpoint/2010/main" val="872192433"/>
      </p:ext>
    </p:extLst>
  </p:cSld>
  <p:clrMapOvr>
    <a:masterClrMapping/>
  </p:clrMapOvr>
  <p:transition spd="slow">
    <p:wipe dir="r"/>
    <p:sndAc>
      <p:stSnd>
        <p:snd r:embed="rId2" name="arrow.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1343472" y="908720"/>
            <a:ext cx="9036050" cy="4679950"/>
          </a:xfrm>
        </p:spPr>
        <p:txBody>
          <a:bodyPr>
            <a:normAutofit/>
          </a:bodyPr>
          <a:lstStyle/>
          <a:p>
            <a:pPr marL="342900" indent="-342900" algn="l">
              <a:lnSpc>
                <a:spcPct val="150000"/>
              </a:lnSpc>
              <a:defRPr/>
            </a:pPr>
            <a:r>
              <a:rPr lang="zh-CN" altLang="en-US" sz="2800" dirty="0">
                <a:solidFill>
                  <a:schemeClr val="bg1"/>
                </a:solidFill>
                <a:latin typeface="微软雅黑" panose="020B0503020204020204" pitchFamily="34" charset="-122"/>
              </a:rPr>
              <a:t>（</a:t>
            </a:r>
            <a:r>
              <a:rPr lang="en-US" altLang="zh-CN" sz="2800" dirty="0">
                <a:solidFill>
                  <a:schemeClr val="bg1"/>
                </a:solidFill>
                <a:latin typeface="微软雅黑" panose="020B0503020204020204" pitchFamily="34" charset="-122"/>
              </a:rPr>
              <a:t>3</a:t>
            </a:r>
            <a:r>
              <a:rPr lang="zh-CN" altLang="en-US" sz="2800" dirty="0">
                <a:solidFill>
                  <a:schemeClr val="bg1"/>
                </a:solidFill>
                <a:latin typeface="微软雅黑" panose="020B0503020204020204" pitchFamily="34" charset="-122"/>
              </a:rPr>
              <a:t>）全文索引</a:t>
            </a:r>
          </a:p>
          <a:p>
            <a:pPr lvl="1" algn="l">
              <a:lnSpc>
                <a:spcPct val="150000"/>
              </a:lnSpc>
              <a:defRPr/>
            </a:pPr>
            <a:r>
              <a:rPr lang="zh-CN" altLang="en-US" dirty="0">
                <a:solidFill>
                  <a:schemeClr val="bg1"/>
                </a:solidFill>
                <a:latin typeface="微软雅黑" panose="020B0503020204020204" pitchFamily="34" charset="-122"/>
              </a:rPr>
              <a:t>全文索引是由 </a:t>
            </a:r>
            <a:r>
              <a:rPr lang="en-US" altLang="zh-CN" dirty="0">
                <a:solidFill>
                  <a:schemeClr val="bg1"/>
                </a:solidFill>
                <a:latin typeface="微软雅黑" panose="020B0503020204020204" pitchFamily="34" charset="-122"/>
              </a:rPr>
              <a:t>FULLTEXT</a:t>
            </a:r>
            <a:r>
              <a:rPr lang="zh-CN" altLang="en-US" dirty="0">
                <a:solidFill>
                  <a:schemeClr val="bg1"/>
                </a:solidFill>
                <a:latin typeface="微软雅黑" panose="020B0503020204020204" pitchFamily="34" charset="-122"/>
              </a:rPr>
              <a:t>定义的索引，是指在定义索引的字段上支持值的全文查找。该索引类型允许在索引字段上插入重复值和空值，它只能创建在</a:t>
            </a:r>
            <a:r>
              <a:rPr lang="en-US" altLang="zh-CN" dirty="0">
                <a:solidFill>
                  <a:srgbClr val="C00000"/>
                </a:solidFill>
                <a:latin typeface="微软雅黑" panose="020B0503020204020204" pitchFamily="34" charset="-122"/>
              </a:rPr>
              <a:t>CHAR</a:t>
            </a:r>
            <a:r>
              <a:rPr lang="zh-CN" altLang="en-US" dirty="0">
                <a:solidFill>
                  <a:srgbClr val="C00000"/>
                </a:solidFill>
                <a:latin typeface="微软雅黑" panose="020B0503020204020204" pitchFamily="34" charset="-122"/>
              </a:rPr>
              <a:t>、 </a:t>
            </a:r>
            <a:r>
              <a:rPr lang="en-US" altLang="zh-CN" dirty="0">
                <a:solidFill>
                  <a:srgbClr val="C00000"/>
                </a:solidFill>
                <a:latin typeface="微软雅黑" panose="020B0503020204020204" pitchFamily="34" charset="-122"/>
              </a:rPr>
              <a:t>VARCHAR</a:t>
            </a:r>
            <a:r>
              <a:rPr lang="zh-CN" altLang="en-US" dirty="0">
                <a:solidFill>
                  <a:srgbClr val="C00000"/>
                </a:solidFill>
                <a:latin typeface="微软雅黑" panose="020B0503020204020204" pitchFamily="34" charset="-122"/>
              </a:rPr>
              <a:t>或</a:t>
            </a:r>
            <a:r>
              <a:rPr lang="en-US" altLang="zh-CN" dirty="0">
                <a:solidFill>
                  <a:srgbClr val="C00000"/>
                </a:solidFill>
                <a:latin typeface="微软雅黑" panose="020B0503020204020204" pitchFamily="34" charset="-122"/>
              </a:rPr>
              <a:t>TEXT</a:t>
            </a:r>
            <a:r>
              <a:rPr lang="zh-CN" altLang="en-US" dirty="0">
                <a:solidFill>
                  <a:schemeClr val="bg1"/>
                </a:solidFill>
                <a:latin typeface="微软雅黑" panose="020B0503020204020204" pitchFamily="34" charset="-122"/>
              </a:rPr>
              <a:t>等字符类型的字段上。</a:t>
            </a:r>
            <a:endParaRPr lang="en-US" altLang="zh-CN" dirty="0">
              <a:solidFill>
                <a:schemeClr val="bg1"/>
              </a:solidFill>
              <a:latin typeface="微软雅黑" panose="020B0503020204020204" pitchFamily="34" charset="-122"/>
            </a:endParaRPr>
          </a:p>
          <a:p>
            <a:pPr lvl="1">
              <a:lnSpc>
                <a:spcPct val="150000"/>
              </a:lnSpc>
              <a:defRPr/>
            </a:pPr>
            <a:endParaRPr kumimoji="1" lang="en-US" altLang="zh-CN" sz="3600" dirty="0">
              <a:latin typeface="Tahoma" panose="020B0604030504040204" pitchFamily="34" charset="0"/>
              <a:ea typeface="宋体" panose="02010600030101010101" pitchFamily="2" charset="-122"/>
              <a:cs typeface="+mn-ea"/>
            </a:endParaRPr>
          </a:p>
          <a:p>
            <a:pPr lvl="1">
              <a:lnSpc>
                <a:spcPct val="150000"/>
              </a:lnSpc>
              <a:defRPr/>
            </a:pPr>
            <a:endParaRPr kumimoji="1" lang="zh-CN" altLang="en-US" dirty="0">
              <a:latin typeface="Tahoma" panose="020B0604030504040204" pitchFamily="34" charset="0"/>
              <a:ea typeface="宋体" panose="02010600030101010101" pitchFamily="2" charset="-122"/>
              <a:cs typeface="+mn-ea"/>
            </a:endParaRPr>
          </a:p>
        </p:txBody>
      </p:sp>
    </p:spTree>
    <p:extLst>
      <p:ext uri="{BB962C8B-B14F-4D97-AF65-F5344CB8AC3E}">
        <p14:creationId xmlns:p14="http://schemas.microsoft.com/office/powerpoint/2010/main" val="2823201240"/>
      </p:ext>
    </p:extLst>
  </p:cSld>
  <p:clrMapOvr>
    <a:masterClrMapping/>
  </p:clrMapOvr>
  <p:transition spd="slow">
    <p:wipe dir="r"/>
    <p:sndAc>
      <p:stSnd>
        <p:snd r:embed="rId2" name="arrow.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a:xfrm>
            <a:off x="335360" y="549274"/>
            <a:ext cx="11737304" cy="5327997"/>
          </a:xfrm>
        </p:spPr>
        <p:txBody>
          <a:bodyPr>
            <a:normAutofit fontScale="85000" lnSpcReduction="10000"/>
          </a:bodyPr>
          <a:lstStyle/>
          <a:p>
            <a:pPr lvl="1" algn="just">
              <a:lnSpc>
                <a:spcPct val="160000"/>
              </a:lnSpc>
              <a:buFont typeface="Wingdings" panose="05000000000000000000" pitchFamily="2" charset="2"/>
              <a:buChar char="p"/>
              <a:defRPr/>
            </a:pPr>
            <a:r>
              <a:rPr lang="zh-CN" altLang="en-US" dirty="0">
                <a:solidFill>
                  <a:schemeClr val="bg1"/>
                </a:solidFill>
                <a:latin typeface="微软雅黑" panose="020B0503020204020204" pitchFamily="34" charset="-122"/>
              </a:rPr>
              <a:t>如果希望通过关键字的匹配来进行查询过滤，那么就需要基于相似度的查询，而不是原来的精确数值比较。全文索引就是为这种场景设计的。</a:t>
            </a:r>
            <a:endParaRPr lang="en-US" altLang="zh-CN" dirty="0">
              <a:solidFill>
                <a:schemeClr val="bg1"/>
              </a:solidFill>
              <a:latin typeface="微软雅黑" panose="020B0503020204020204" pitchFamily="34" charset="-122"/>
            </a:endParaRPr>
          </a:p>
          <a:p>
            <a:pPr lvl="1" algn="just">
              <a:lnSpc>
                <a:spcPct val="160000"/>
              </a:lnSpc>
              <a:defRPr/>
            </a:pPr>
            <a:r>
              <a:rPr lang="zh-CN" altLang="en-US" dirty="0">
                <a:solidFill>
                  <a:schemeClr val="bg1"/>
                </a:solidFill>
                <a:latin typeface="微软雅黑" panose="020B0503020204020204" pitchFamily="34" charset="-122"/>
              </a:rPr>
              <a:t>全文索引在</a:t>
            </a:r>
            <a:r>
              <a:rPr lang="zh-CN" altLang="en-US" dirty="0">
                <a:solidFill>
                  <a:srgbClr val="C00000"/>
                </a:solidFill>
                <a:latin typeface="微软雅黑" panose="020B0503020204020204" pitchFamily="34" charset="-122"/>
              </a:rPr>
              <a:t>大量的数据</a:t>
            </a:r>
            <a:r>
              <a:rPr lang="zh-CN" altLang="en-US" dirty="0">
                <a:solidFill>
                  <a:schemeClr val="bg1"/>
                </a:solidFill>
                <a:latin typeface="微软雅黑" panose="020B0503020204020204" pitchFamily="34" charset="-122"/>
              </a:rPr>
              <a:t>面前，能比 </a:t>
            </a:r>
            <a:r>
              <a:rPr lang="en-US" altLang="zh-CN" dirty="0">
                <a:solidFill>
                  <a:schemeClr val="bg1"/>
                </a:solidFill>
                <a:latin typeface="微软雅黑" panose="020B0503020204020204" pitchFamily="34" charset="-122"/>
              </a:rPr>
              <a:t>like + % </a:t>
            </a:r>
            <a:r>
              <a:rPr lang="zh-CN" altLang="en-US" dirty="0">
                <a:solidFill>
                  <a:schemeClr val="bg1"/>
                </a:solidFill>
                <a:latin typeface="微软雅黑" panose="020B0503020204020204" pitchFamily="34" charset="-122"/>
              </a:rPr>
              <a:t>快 </a:t>
            </a:r>
            <a:r>
              <a:rPr lang="en-US" altLang="zh-CN" dirty="0">
                <a:solidFill>
                  <a:schemeClr val="bg1"/>
                </a:solidFill>
                <a:latin typeface="微软雅黑" panose="020B0503020204020204" pitchFamily="34" charset="-122"/>
              </a:rPr>
              <a:t>N </a:t>
            </a:r>
            <a:r>
              <a:rPr lang="zh-CN" altLang="en-US" dirty="0">
                <a:solidFill>
                  <a:schemeClr val="bg1"/>
                </a:solidFill>
                <a:latin typeface="微软雅黑" panose="020B0503020204020204" pitchFamily="34" charset="-122"/>
              </a:rPr>
              <a:t>倍，速度不是一个数量级。</a:t>
            </a:r>
            <a:endParaRPr lang="en-US" altLang="zh-CN" dirty="0">
              <a:solidFill>
                <a:schemeClr val="bg1"/>
              </a:solidFill>
              <a:latin typeface="微软雅黑" panose="020B0503020204020204" pitchFamily="34" charset="-122"/>
            </a:endParaRPr>
          </a:p>
          <a:p>
            <a:pPr lvl="1" algn="just">
              <a:lnSpc>
                <a:spcPct val="160000"/>
              </a:lnSpc>
              <a:defRPr/>
            </a:pPr>
            <a:r>
              <a:rPr lang="zh-CN" altLang="en-US" dirty="0">
                <a:solidFill>
                  <a:schemeClr val="bg1"/>
                </a:solidFill>
                <a:latin typeface="微软雅黑" panose="020B0503020204020204" pitchFamily="34" charset="-122"/>
              </a:rPr>
              <a:t>只有字段的数据类型为 </a:t>
            </a:r>
            <a:r>
              <a:rPr lang="en-US" altLang="zh-CN" dirty="0">
                <a:solidFill>
                  <a:schemeClr val="bg1"/>
                </a:solidFill>
                <a:latin typeface="微软雅黑" panose="020B0503020204020204" pitchFamily="34" charset="-122"/>
              </a:rPr>
              <a:t>char</a:t>
            </a:r>
            <a:r>
              <a:rPr lang="zh-CN" altLang="en-US" dirty="0">
                <a:solidFill>
                  <a:schemeClr val="bg1"/>
                </a:solidFill>
                <a:latin typeface="微软雅黑" panose="020B0503020204020204" pitchFamily="34" charset="-122"/>
              </a:rPr>
              <a:t>、</a:t>
            </a:r>
            <a:r>
              <a:rPr lang="en-US" altLang="zh-CN" dirty="0">
                <a:solidFill>
                  <a:schemeClr val="bg1"/>
                </a:solidFill>
                <a:latin typeface="微软雅黑" panose="020B0503020204020204" pitchFamily="34" charset="-122"/>
              </a:rPr>
              <a:t>varchar</a:t>
            </a:r>
            <a:r>
              <a:rPr lang="zh-CN" altLang="en-US" dirty="0">
                <a:solidFill>
                  <a:schemeClr val="bg1"/>
                </a:solidFill>
                <a:latin typeface="微软雅黑" panose="020B0503020204020204" pitchFamily="34" charset="-122"/>
              </a:rPr>
              <a:t>、</a:t>
            </a:r>
            <a:r>
              <a:rPr lang="en-US" altLang="zh-CN" dirty="0">
                <a:solidFill>
                  <a:schemeClr val="bg1"/>
                </a:solidFill>
                <a:latin typeface="微软雅黑" panose="020B0503020204020204" pitchFamily="34" charset="-122"/>
              </a:rPr>
              <a:t>text </a:t>
            </a:r>
            <a:r>
              <a:rPr lang="zh-CN" altLang="en-US" dirty="0">
                <a:solidFill>
                  <a:schemeClr val="bg1"/>
                </a:solidFill>
                <a:latin typeface="微软雅黑" panose="020B0503020204020204" pitchFamily="34" charset="-122"/>
              </a:rPr>
              <a:t>及其系列才可以建全文索引。</a:t>
            </a:r>
            <a:endParaRPr lang="en-US" altLang="zh-CN" dirty="0">
              <a:solidFill>
                <a:schemeClr val="bg1"/>
              </a:solidFill>
              <a:latin typeface="微软雅黑" panose="020B0503020204020204" pitchFamily="34" charset="-122"/>
            </a:endParaRPr>
          </a:p>
          <a:p>
            <a:pPr lvl="1" algn="just">
              <a:lnSpc>
                <a:spcPct val="160000"/>
              </a:lnSpc>
              <a:defRPr/>
            </a:pPr>
            <a:r>
              <a:rPr lang="zh-CN" altLang="en-US" dirty="0">
                <a:solidFill>
                  <a:schemeClr val="bg1"/>
                </a:solidFill>
                <a:latin typeface="微软雅黑" panose="020B0503020204020204" pitchFamily="34" charset="-122"/>
              </a:rPr>
              <a:t>使用全文索引时，测试表里至少要</a:t>
            </a:r>
            <a:r>
              <a:rPr lang="zh-CN" altLang="en-US" dirty="0">
                <a:solidFill>
                  <a:srgbClr val="C00000"/>
                </a:solidFill>
                <a:latin typeface="微软雅黑" panose="020B0503020204020204" pitchFamily="34" charset="-122"/>
              </a:rPr>
              <a:t>有 </a:t>
            </a:r>
            <a:r>
              <a:rPr lang="en-US" altLang="zh-CN" dirty="0">
                <a:solidFill>
                  <a:srgbClr val="C00000"/>
                </a:solidFill>
                <a:latin typeface="微软雅黑" panose="020B0503020204020204" pitchFamily="34" charset="-122"/>
              </a:rPr>
              <a:t>4 </a:t>
            </a:r>
            <a:r>
              <a:rPr lang="zh-CN" altLang="en-US" dirty="0">
                <a:solidFill>
                  <a:srgbClr val="C00000"/>
                </a:solidFill>
                <a:latin typeface="微软雅黑" panose="020B0503020204020204" pitchFamily="34" charset="-122"/>
              </a:rPr>
              <a:t>条以上的记录</a:t>
            </a:r>
            <a:r>
              <a:rPr lang="zh-CN" altLang="en-US" dirty="0">
                <a:solidFill>
                  <a:schemeClr val="bg1"/>
                </a:solidFill>
                <a:latin typeface="微软雅黑" panose="020B0503020204020204" pitchFamily="34" charset="-122"/>
              </a:rPr>
              <a:t>，否则，会出现意想不到的结果。</a:t>
            </a:r>
            <a:endParaRPr lang="en-US" altLang="zh-CN" dirty="0">
              <a:solidFill>
                <a:schemeClr val="bg1"/>
              </a:solidFill>
              <a:latin typeface="微软雅黑" panose="020B0503020204020204" pitchFamily="34" charset="-122"/>
            </a:endParaRPr>
          </a:p>
          <a:p>
            <a:pPr lvl="1" algn="just">
              <a:lnSpc>
                <a:spcPct val="160000"/>
              </a:lnSpc>
              <a:defRPr/>
            </a:pPr>
            <a:r>
              <a:rPr lang="en-US" altLang="zh-CN" dirty="0">
                <a:solidFill>
                  <a:schemeClr val="bg1"/>
                </a:solidFill>
                <a:latin typeface="微软雅黑" panose="020B0503020204020204" pitchFamily="34" charset="-122"/>
              </a:rPr>
              <a:t>MySQL </a:t>
            </a:r>
            <a:r>
              <a:rPr lang="zh-CN" altLang="en-US" dirty="0">
                <a:solidFill>
                  <a:schemeClr val="bg1"/>
                </a:solidFill>
                <a:latin typeface="微软雅黑" panose="020B0503020204020204" pitchFamily="34" charset="-122"/>
              </a:rPr>
              <a:t>中的全文索引，有两个变量，</a:t>
            </a:r>
            <a:r>
              <a:rPr lang="zh-CN" altLang="en-US" dirty="0">
                <a:solidFill>
                  <a:srgbClr val="C00000"/>
                </a:solidFill>
                <a:latin typeface="微软雅黑" panose="020B0503020204020204" pitchFamily="34" charset="-122"/>
              </a:rPr>
              <a:t>最小搜索长度和最大搜索长度</a:t>
            </a:r>
            <a:r>
              <a:rPr lang="zh-CN" altLang="en-US" dirty="0">
                <a:solidFill>
                  <a:schemeClr val="bg1"/>
                </a:solidFill>
                <a:latin typeface="微软雅黑" panose="020B0503020204020204" pitchFamily="34" charset="-122"/>
              </a:rPr>
              <a:t>，对于长度小于最小搜索长度和大于最大搜索长度的词语，都不会被索引。通俗点就是说，想对一个词语使用全文索引搜索，那么这个词语的长度必须在以上两个变量的区间内。</a:t>
            </a:r>
            <a:endParaRPr lang="en-US" altLang="zh-CN" dirty="0">
              <a:solidFill>
                <a:schemeClr val="bg1"/>
              </a:solidFill>
              <a:latin typeface="微软雅黑" panose="020B0503020204020204" pitchFamily="34" charset="-122"/>
            </a:endParaRPr>
          </a:p>
          <a:p>
            <a:pPr lvl="1">
              <a:lnSpc>
                <a:spcPct val="80000"/>
              </a:lnSpc>
              <a:defRPr/>
            </a:pPr>
            <a:endParaRPr kumimoji="1" lang="zh-CN" altLang="en-US" dirty="0">
              <a:latin typeface="Tahoma" panose="020B0604030504040204" pitchFamily="34" charset="0"/>
              <a:ea typeface="宋体" panose="02010600030101010101" pitchFamily="2" charset="-122"/>
              <a:cs typeface="+mn-ea"/>
            </a:endParaRPr>
          </a:p>
        </p:txBody>
      </p:sp>
    </p:spTree>
    <p:extLst>
      <p:ext uri="{BB962C8B-B14F-4D97-AF65-F5344CB8AC3E}">
        <p14:creationId xmlns:p14="http://schemas.microsoft.com/office/powerpoint/2010/main" val="1065682497"/>
      </p:ext>
    </p:extLst>
  </p:cSld>
  <p:clrMapOvr>
    <a:masterClrMapping/>
  </p:clrMapOvr>
  <p:transition spd="slow">
    <p:wipe dir="r"/>
    <p:sndAc>
      <p:stSnd>
        <p:snd r:embed="rId2" name="arrow.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7113" y="476251"/>
            <a:ext cx="5670550" cy="274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751" y="3573463"/>
            <a:ext cx="4930775"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7736976"/>
      </p:ext>
    </p:extLst>
  </p:cSld>
  <p:clrMapOvr>
    <a:masterClrMapping/>
  </p:clrMapOvr>
  <p:transition spd="slow">
    <p:wipe dir="r"/>
    <p:sndAc>
      <p:stSnd>
        <p:snd r:embed="rId2" name="arrow.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1" y="1625601"/>
            <a:ext cx="9001125" cy="240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1998299"/>
      </p:ext>
    </p:extLst>
  </p:cSld>
  <p:clrMapOvr>
    <a:masterClrMapping/>
  </p:clrMapOvr>
  <p:transition spd="slow">
    <p:wipe dir="r"/>
    <p:sndAc>
      <p:stSnd>
        <p:snd r:embed="rId2" name="arrow.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4294967295"/>
          </p:nvPr>
        </p:nvSpPr>
        <p:spPr>
          <a:xfrm>
            <a:off x="1415480" y="1052736"/>
            <a:ext cx="9036050" cy="4679950"/>
          </a:xfrm>
        </p:spPr>
        <p:txBody>
          <a:bodyPr>
            <a:normAutofit/>
          </a:bodyPr>
          <a:lstStyle/>
          <a:p>
            <a:pPr>
              <a:lnSpc>
                <a:spcPct val="150000"/>
              </a:lnSpc>
              <a:buFontTx/>
              <a:buNone/>
            </a:pPr>
            <a:r>
              <a:rPr lang="zh-CN" altLang="en-US" dirty="0">
                <a:latin typeface="微软雅黑" panose="020B0503020204020204" pitchFamily="34" charset="-122"/>
              </a:rPr>
              <a:t>（</a:t>
            </a:r>
            <a:r>
              <a:rPr lang="en-US" altLang="zh-CN" dirty="0">
                <a:latin typeface="微软雅黑" panose="020B0503020204020204" pitchFamily="34" charset="-122"/>
              </a:rPr>
              <a:t>4</a:t>
            </a:r>
            <a:r>
              <a:rPr lang="zh-CN" altLang="en-US" dirty="0">
                <a:latin typeface="微软雅黑" panose="020B0503020204020204" pitchFamily="34" charset="-122"/>
              </a:rPr>
              <a:t>）空间索引</a:t>
            </a:r>
          </a:p>
          <a:p>
            <a:pPr lvl="1">
              <a:lnSpc>
                <a:spcPct val="150000"/>
              </a:lnSpc>
            </a:pPr>
            <a:r>
              <a:rPr lang="zh-CN" altLang="en-US" sz="3200" dirty="0">
                <a:latin typeface="微软雅黑" panose="020B0503020204020204" pitchFamily="34" charset="-122"/>
              </a:rPr>
              <a:t>空间索引是由</a:t>
            </a:r>
            <a:r>
              <a:rPr lang="en-US" altLang="zh-CN" sz="3200" dirty="0">
                <a:latin typeface="微软雅黑" panose="020B0503020204020204" pitchFamily="34" charset="-122"/>
              </a:rPr>
              <a:t>SPATIAL</a:t>
            </a:r>
            <a:r>
              <a:rPr lang="zh-CN" altLang="en-US" sz="3200" dirty="0">
                <a:latin typeface="微软雅黑" panose="020B0503020204020204" pitchFamily="34" charset="-122"/>
              </a:rPr>
              <a:t>定义的索引，是只能在</a:t>
            </a:r>
            <a:r>
              <a:rPr lang="en-US" altLang="zh-CN" sz="3200" dirty="0">
                <a:latin typeface="微软雅黑" panose="020B0503020204020204" pitchFamily="34" charset="-122"/>
              </a:rPr>
              <a:t>GEOMETRY</a:t>
            </a:r>
            <a:r>
              <a:rPr lang="zh-CN" altLang="en-US" sz="3200" dirty="0">
                <a:latin typeface="微软雅黑" panose="020B0503020204020204" pitchFamily="34" charset="-122"/>
              </a:rPr>
              <a:t>、</a:t>
            </a:r>
            <a:r>
              <a:rPr lang="en-US" altLang="zh-CN" sz="3200" dirty="0">
                <a:latin typeface="微软雅黑" panose="020B0503020204020204" pitchFamily="34" charset="-122"/>
              </a:rPr>
              <a:t>POINT</a:t>
            </a:r>
            <a:r>
              <a:rPr lang="zh-CN" altLang="en-US" sz="3200" dirty="0">
                <a:latin typeface="微软雅黑" panose="020B0503020204020204" pitchFamily="34" charset="-122"/>
              </a:rPr>
              <a:t>、 </a:t>
            </a:r>
            <a:r>
              <a:rPr lang="en-US" altLang="zh-CN" sz="3200" dirty="0">
                <a:latin typeface="微软雅黑" panose="020B0503020204020204" pitchFamily="34" charset="-122"/>
              </a:rPr>
              <a:t>LINESTRING</a:t>
            </a:r>
            <a:r>
              <a:rPr lang="zh-CN" altLang="en-US" sz="3200" dirty="0">
                <a:latin typeface="微软雅黑" panose="020B0503020204020204" pitchFamily="34" charset="-122"/>
              </a:rPr>
              <a:t>和</a:t>
            </a:r>
            <a:r>
              <a:rPr lang="en-US" altLang="zh-CN" sz="3200" dirty="0">
                <a:latin typeface="微软雅黑" panose="020B0503020204020204" pitchFamily="34" charset="-122"/>
              </a:rPr>
              <a:t>POLYGON</a:t>
            </a:r>
            <a:r>
              <a:rPr lang="zh-CN" altLang="en-US" sz="3200" dirty="0">
                <a:latin typeface="微软雅黑" panose="020B0503020204020204" pitchFamily="34" charset="-122"/>
              </a:rPr>
              <a:t>等</a:t>
            </a:r>
            <a:r>
              <a:rPr lang="zh-CN" altLang="en-US" sz="3200" dirty="0">
                <a:solidFill>
                  <a:srgbClr val="C00000"/>
                </a:solidFill>
                <a:latin typeface="微软雅黑" panose="020B0503020204020204" pitchFamily="34" charset="-122"/>
              </a:rPr>
              <a:t>空间数据类型</a:t>
            </a:r>
            <a:r>
              <a:rPr lang="zh-CN" altLang="en-US" sz="3200" dirty="0">
                <a:latin typeface="微软雅黑" panose="020B0503020204020204" pitchFamily="34" charset="-122"/>
              </a:rPr>
              <a:t>的字段上建立的索引。需要注意的是，创建空间索引的字段，必须将其声明为</a:t>
            </a:r>
            <a:r>
              <a:rPr lang="en-US" altLang="zh-CN" sz="3200" dirty="0">
                <a:solidFill>
                  <a:srgbClr val="C00000"/>
                </a:solidFill>
                <a:latin typeface="微软雅黑" panose="020B0503020204020204" pitchFamily="34" charset="-122"/>
              </a:rPr>
              <a:t>NOT NULL</a:t>
            </a:r>
            <a:r>
              <a:rPr lang="zh-CN" altLang="en-US" sz="3200" dirty="0">
                <a:latin typeface="微软雅黑" panose="020B0503020204020204" pitchFamily="34" charset="-122"/>
              </a:rPr>
              <a:t>。</a:t>
            </a:r>
          </a:p>
        </p:txBody>
      </p:sp>
    </p:spTree>
    <p:extLst>
      <p:ext uri="{BB962C8B-B14F-4D97-AF65-F5344CB8AC3E}">
        <p14:creationId xmlns:p14="http://schemas.microsoft.com/office/powerpoint/2010/main" val="1644446941"/>
      </p:ext>
    </p:extLst>
  </p:cSld>
  <p:clrMapOvr>
    <a:masterClrMapping/>
  </p:clrMapOvr>
  <p:transition spd="slow">
    <p:wipe dir="r"/>
    <p:sndAc>
      <p:stSnd>
        <p:snd r:embed="rId2" name="arrow.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4294967295"/>
          </p:nvPr>
        </p:nvSpPr>
        <p:spPr>
          <a:xfrm>
            <a:off x="1055440" y="260648"/>
            <a:ext cx="10297144" cy="4824536"/>
          </a:xfrm>
        </p:spPr>
        <p:txBody>
          <a:bodyPr>
            <a:noAutofit/>
          </a:bodyPr>
          <a:lstStyle/>
          <a:p>
            <a:pPr>
              <a:lnSpc>
                <a:spcPct val="150000"/>
              </a:lnSpc>
              <a:buFontTx/>
              <a:buNone/>
            </a:pPr>
            <a:r>
              <a:rPr lang="zh-CN" altLang="en-US">
                <a:latin typeface="微软雅黑" panose="020B0503020204020204" pitchFamily="34" charset="-122"/>
              </a:rPr>
              <a:t>（</a:t>
            </a:r>
            <a:r>
              <a:rPr lang="en-US" altLang="zh-CN">
                <a:latin typeface="微软雅黑" panose="020B0503020204020204" pitchFamily="34" charset="-122"/>
              </a:rPr>
              <a:t>5</a:t>
            </a:r>
            <a:r>
              <a:rPr lang="zh-CN" altLang="en-US">
                <a:latin typeface="微软雅黑" panose="020B0503020204020204" pitchFamily="34" charset="-122"/>
              </a:rPr>
              <a:t>）单列索引</a:t>
            </a:r>
          </a:p>
          <a:p>
            <a:pPr lvl="1">
              <a:lnSpc>
                <a:spcPct val="150000"/>
              </a:lnSpc>
            </a:pPr>
            <a:r>
              <a:rPr lang="zh-CN" altLang="en-US" sz="3200">
                <a:latin typeface="微软雅黑" panose="020B0503020204020204" pitchFamily="34" charset="-122"/>
              </a:rPr>
              <a:t>单列索引指在表中单个字段上创建的索引。它可以是普通索引、唯一索引或者全文索引，只要保证该索引关键字为表中的一个字段即可。</a:t>
            </a:r>
          </a:p>
          <a:p>
            <a:pPr>
              <a:lnSpc>
                <a:spcPct val="150000"/>
              </a:lnSpc>
              <a:buFontTx/>
              <a:buNone/>
            </a:pPr>
            <a:r>
              <a:rPr lang="zh-CN" altLang="en-US">
                <a:latin typeface="微软雅黑" panose="020B0503020204020204" pitchFamily="34" charset="-122"/>
              </a:rPr>
              <a:t>（</a:t>
            </a:r>
            <a:r>
              <a:rPr lang="en-US" altLang="zh-CN">
                <a:latin typeface="微软雅黑" panose="020B0503020204020204" pitchFamily="34" charset="-122"/>
              </a:rPr>
              <a:t>6</a:t>
            </a:r>
            <a:r>
              <a:rPr lang="zh-CN" altLang="en-US">
                <a:latin typeface="微软雅黑" panose="020B0503020204020204" pitchFamily="34" charset="-122"/>
              </a:rPr>
              <a:t>）多列索引</a:t>
            </a:r>
          </a:p>
          <a:p>
            <a:pPr lvl="1">
              <a:lnSpc>
                <a:spcPct val="150000"/>
              </a:lnSpc>
            </a:pPr>
            <a:r>
              <a:rPr lang="zh-CN" altLang="en-US" sz="3200">
                <a:latin typeface="微软雅黑" panose="020B0503020204020204" pitchFamily="34" charset="-122"/>
              </a:rPr>
              <a:t>多列索引指在表中多个字段上创建的索引。只有在查询条件中使用了这些字段中的第一个字段时，该索引才会被使用。</a:t>
            </a:r>
          </a:p>
        </p:txBody>
      </p:sp>
    </p:spTree>
    <p:extLst>
      <p:ext uri="{BB962C8B-B14F-4D97-AF65-F5344CB8AC3E}">
        <p14:creationId xmlns:p14="http://schemas.microsoft.com/office/powerpoint/2010/main" val="4129564069"/>
      </p:ext>
    </p:extLst>
  </p:cSld>
  <p:clrMapOvr>
    <a:masterClrMapping/>
  </p:clrMapOvr>
  <p:transition spd="slow">
    <p:wipe dir="r"/>
    <p:sndAc>
      <p:stSnd>
        <p:snd r:embed="rId2" name="arrow.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063552" y="260648"/>
            <a:ext cx="4940776" cy="707886"/>
          </a:xfrm>
        </p:spPr>
        <p:txBody>
          <a:bodyPr/>
          <a:lstStyle/>
          <a:p>
            <a:r>
              <a:rPr lang="en-US" altLang="zh-CN" smtClean="0">
                <a:latin typeface="Times New Roman" panose="02020603050405020304" pitchFamily="18" charset="0"/>
                <a:ea typeface="宋体" panose="02010600030101010101" pitchFamily="2" charset="-122"/>
              </a:rPr>
              <a:t>5.1.3 </a:t>
            </a:r>
            <a:r>
              <a:rPr lang="zh-CN" altLang="en-US" smtClean="0">
                <a:latin typeface="Times New Roman" panose="02020603050405020304" pitchFamily="18" charset="0"/>
                <a:ea typeface="宋体" panose="02010600030101010101" pitchFamily="2" charset="-122"/>
              </a:rPr>
              <a:t>索引的设计原则</a:t>
            </a:r>
          </a:p>
        </p:txBody>
      </p:sp>
      <p:sp>
        <p:nvSpPr>
          <p:cNvPr id="22531" name="Rectangle 3"/>
          <p:cNvSpPr>
            <a:spLocks noGrp="1" noChangeArrowheads="1"/>
          </p:cNvSpPr>
          <p:nvPr>
            <p:ph type="body" idx="4294967295"/>
          </p:nvPr>
        </p:nvSpPr>
        <p:spPr>
          <a:xfrm>
            <a:off x="695400" y="1052736"/>
            <a:ext cx="11377264" cy="4824536"/>
          </a:xfrm>
        </p:spPr>
        <p:txBody>
          <a:bodyPr>
            <a:noAutofit/>
          </a:bodyPr>
          <a:lstStyle/>
          <a:p>
            <a:pPr lvl="1">
              <a:lnSpc>
                <a:spcPct val="150000"/>
              </a:lnSpc>
            </a:pPr>
            <a:r>
              <a:rPr lang="zh-CN" altLang="en-US" sz="2400">
                <a:latin typeface="微软雅黑" panose="020B0503020204020204" pitchFamily="34" charset="-122"/>
              </a:rPr>
              <a:t>设计索引时，应该考虑以下原则。</a:t>
            </a:r>
          </a:p>
          <a:p>
            <a:pPr lvl="1">
              <a:lnSpc>
                <a:spcPct val="150000"/>
              </a:lnSpc>
            </a:pPr>
            <a:r>
              <a:rPr lang="zh-CN" altLang="en-US" sz="2400">
                <a:latin typeface="微软雅黑" panose="020B0503020204020204" pitchFamily="34" charset="-122"/>
              </a:rPr>
              <a:t>（</a:t>
            </a:r>
            <a:r>
              <a:rPr lang="en-US" altLang="zh-CN" sz="2400">
                <a:latin typeface="微软雅黑" panose="020B0503020204020204" pitchFamily="34" charset="-122"/>
              </a:rPr>
              <a:t>1</a:t>
            </a:r>
            <a:r>
              <a:rPr lang="zh-CN" altLang="en-US" sz="2400">
                <a:latin typeface="微软雅黑" panose="020B0503020204020204" pitchFamily="34" charset="-122"/>
              </a:rPr>
              <a:t>）</a:t>
            </a:r>
            <a:r>
              <a:rPr lang="zh-CN" altLang="en-US" sz="2400">
                <a:solidFill>
                  <a:srgbClr val="C00000"/>
                </a:solidFill>
                <a:latin typeface="微软雅黑" panose="020B0503020204020204" pitchFamily="34" charset="-122"/>
              </a:rPr>
              <a:t>索引并非越多越好</a:t>
            </a:r>
          </a:p>
          <a:p>
            <a:pPr lvl="1">
              <a:lnSpc>
                <a:spcPct val="150000"/>
              </a:lnSpc>
            </a:pPr>
            <a:r>
              <a:rPr lang="zh-CN" altLang="en-US" sz="2400">
                <a:latin typeface="微软雅黑" panose="020B0503020204020204" pitchFamily="34" charset="-122"/>
              </a:rPr>
              <a:t>一个表中如有大量的索引，不仅占用磁盘空间，而且会影响 </a:t>
            </a:r>
            <a:r>
              <a:rPr lang="en-US" altLang="zh-CN" sz="2400">
                <a:latin typeface="微软雅黑" panose="020B0503020204020204" pitchFamily="34" charset="-122"/>
              </a:rPr>
              <a:t>INSERT</a:t>
            </a:r>
            <a:r>
              <a:rPr lang="zh-CN" altLang="en-US" sz="2400">
                <a:latin typeface="微软雅黑" panose="020B0503020204020204" pitchFamily="34" charset="-122"/>
              </a:rPr>
              <a:t>、 </a:t>
            </a:r>
            <a:r>
              <a:rPr lang="en-US" altLang="zh-CN" sz="2400">
                <a:latin typeface="微软雅黑" panose="020B0503020204020204" pitchFamily="34" charset="-122"/>
              </a:rPr>
              <a:t>UPDATE</a:t>
            </a:r>
            <a:r>
              <a:rPr lang="zh-CN" altLang="en-US" sz="2400">
                <a:latin typeface="微软雅黑" panose="020B0503020204020204" pitchFamily="34" charset="-122"/>
              </a:rPr>
              <a:t>、 </a:t>
            </a:r>
            <a:r>
              <a:rPr lang="en-US" altLang="zh-CN" sz="2400">
                <a:latin typeface="微软雅黑" panose="020B0503020204020204" pitchFamily="34" charset="-122"/>
              </a:rPr>
              <a:t>DELETE</a:t>
            </a:r>
            <a:r>
              <a:rPr lang="zh-CN" altLang="en-US" sz="2400">
                <a:latin typeface="微软雅黑" panose="020B0503020204020204" pitchFamily="34" charset="-122"/>
              </a:rPr>
              <a:t>等语句的性能。因为在更改表中的数据的同时，索引也会被</a:t>
            </a:r>
            <a:r>
              <a:rPr lang="en-US" altLang="zh-CN" sz="2400">
                <a:latin typeface="微软雅黑" panose="020B0503020204020204" pitchFamily="34" charset="-122"/>
              </a:rPr>
              <a:t>DBMS</a:t>
            </a:r>
            <a:r>
              <a:rPr lang="zh-CN" altLang="en-US" sz="2400">
                <a:latin typeface="微软雅黑" panose="020B0503020204020204" pitchFamily="34" charset="-122"/>
              </a:rPr>
              <a:t>自动地进行调整和更新。对经常查询的字段应该建立索引，但要避免对不必要的字段建立索引。</a:t>
            </a:r>
          </a:p>
          <a:p>
            <a:pPr lvl="1">
              <a:lnSpc>
                <a:spcPct val="150000"/>
              </a:lnSpc>
            </a:pPr>
            <a:r>
              <a:rPr lang="zh-CN" altLang="en-US" sz="2400">
                <a:latin typeface="微软雅黑" panose="020B0503020204020204" pitchFamily="34" charset="-122"/>
              </a:rPr>
              <a:t>（</a:t>
            </a:r>
            <a:r>
              <a:rPr lang="en-US" altLang="zh-CN" sz="2400">
                <a:latin typeface="微软雅黑" panose="020B0503020204020204" pitchFamily="34" charset="-122"/>
              </a:rPr>
              <a:t>2</a:t>
            </a:r>
            <a:r>
              <a:rPr lang="zh-CN" altLang="en-US" sz="2400">
                <a:latin typeface="微软雅黑" panose="020B0503020204020204" pitchFamily="34" charset="-122"/>
              </a:rPr>
              <a:t>）避免对经常</a:t>
            </a:r>
            <a:r>
              <a:rPr lang="zh-CN" altLang="en-US" sz="2400">
                <a:solidFill>
                  <a:srgbClr val="C00000"/>
                </a:solidFill>
                <a:latin typeface="微软雅黑" panose="020B0503020204020204" pitchFamily="34" charset="-122"/>
              </a:rPr>
              <a:t>更新</a:t>
            </a:r>
            <a:r>
              <a:rPr lang="zh-CN" altLang="en-US" sz="2400">
                <a:latin typeface="微软雅黑" panose="020B0503020204020204" pitchFamily="34" charset="-122"/>
              </a:rPr>
              <a:t>的表建立过多的索引</a:t>
            </a:r>
          </a:p>
          <a:p>
            <a:pPr lvl="1">
              <a:lnSpc>
                <a:spcPct val="150000"/>
              </a:lnSpc>
            </a:pPr>
            <a:r>
              <a:rPr lang="zh-CN" altLang="en-US" sz="2400">
                <a:latin typeface="微软雅黑" panose="020B0503020204020204" pitchFamily="34" charset="-122"/>
              </a:rPr>
              <a:t>需要经常更新数据的表应该避免建立过多的索引，并且索引中的字段要尽可能少，这样系统消耗在索引维护上的代价才小。</a:t>
            </a:r>
          </a:p>
        </p:txBody>
      </p:sp>
    </p:spTree>
    <p:extLst>
      <p:ext uri="{BB962C8B-B14F-4D97-AF65-F5344CB8AC3E}">
        <p14:creationId xmlns:p14="http://schemas.microsoft.com/office/powerpoint/2010/main" val="3582311076"/>
      </p:ext>
    </p:extLst>
  </p:cSld>
  <p:clrMapOvr>
    <a:masterClrMapping/>
  </p:clrMapOvr>
  <p:transition spd="slow">
    <p:wipe dir="r"/>
    <p:sndAc>
      <p:stSnd>
        <p:snd r:embed="rId2" name="arrow.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body" idx="4294967295"/>
          </p:nvPr>
        </p:nvSpPr>
        <p:spPr>
          <a:xfrm>
            <a:off x="695400" y="332656"/>
            <a:ext cx="10369152" cy="5760640"/>
          </a:xfrm>
        </p:spPr>
        <p:txBody>
          <a:bodyPr>
            <a:normAutofit lnSpcReduction="10000"/>
          </a:bodyPr>
          <a:lstStyle/>
          <a:p>
            <a:pPr>
              <a:lnSpc>
                <a:spcPct val="150000"/>
              </a:lnSpc>
              <a:buFontTx/>
              <a:buNone/>
            </a:pPr>
            <a:r>
              <a:rPr lang="zh-CN" altLang="en-US" sz="2400">
                <a:latin typeface="微软雅黑" panose="020B0503020204020204" pitchFamily="34" charset="-122"/>
              </a:rPr>
              <a:t>（</a:t>
            </a:r>
            <a:r>
              <a:rPr lang="en-US" altLang="zh-CN" sz="2400">
                <a:latin typeface="微软雅黑" panose="020B0503020204020204" pitchFamily="34" charset="-122"/>
              </a:rPr>
              <a:t>3</a:t>
            </a:r>
            <a:r>
              <a:rPr lang="zh-CN" altLang="en-US" sz="2400">
                <a:latin typeface="微软雅黑" panose="020B0503020204020204" pitchFamily="34" charset="-122"/>
              </a:rPr>
              <a:t>）</a:t>
            </a:r>
            <a:r>
              <a:rPr lang="zh-CN" altLang="en-US" sz="2400">
                <a:solidFill>
                  <a:srgbClr val="C00000"/>
                </a:solidFill>
                <a:latin typeface="微软雅黑" panose="020B0503020204020204" pitchFamily="34" charset="-122"/>
              </a:rPr>
              <a:t>数据量小</a:t>
            </a:r>
            <a:r>
              <a:rPr lang="zh-CN" altLang="en-US" sz="2400">
                <a:latin typeface="微软雅黑" panose="020B0503020204020204" pitchFamily="34" charset="-122"/>
              </a:rPr>
              <a:t>的表不建议使用索引</a:t>
            </a:r>
          </a:p>
          <a:p>
            <a:pPr>
              <a:lnSpc>
                <a:spcPct val="150000"/>
              </a:lnSpc>
            </a:pPr>
            <a:r>
              <a:rPr lang="zh-CN" altLang="en-US" sz="2400">
                <a:latin typeface="微软雅黑" panose="020B0503020204020204" pitchFamily="34" charset="-122"/>
              </a:rPr>
              <a:t>当数据量较少时，花费在查询上的时间可能比遍历索引的时间还要短，索引可能不会产生优化的效果。</a:t>
            </a:r>
          </a:p>
          <a:p>
            <a:pPr>
              <a:lnSpc>
                <a:spcPct val="150000"/>
              </a:lnSpc>
              <a:buFontTx/>
              <a:buNone/>
            </a:pPr>
            <a:r>
              <a:rPr lang="zh-CN" altLang="en-US" sz="2400">
                <a:latin typeface="微软雅黑" panose="020B0503020204020204" pitchFamily="34" charset="-122"/>
              </a:rPr>
              <a:t>（</a:t>
            </a:r>
            <a:r>
              <a:rPr lang="en-US" altLang="zh-CN" sz="2400">
                <a:latin typeface="微软雅黑" panose="020B0503020204020204" pitchFamily="34" charset="-122"/>
              </a:rPr>
              <a:t>4</a:t>
            </a:r>
            <a:r>
              <a:rPr lang="zh-CN" altLang="en-US" sz="2400">
                <a:latin typeface="微软雅黑" panose="020B0503020204020204" pitchFamily="34" charset="-122"/>
              </a:rPr>
              <a:t>）在</a:t>
            </a:r>
            <a:r>
              <a:rPr lang="zh-CN" altLang="en-US" sz="2400">
                <a:solidFill>
                  <a:srgbClr val="C00000"/>
                </a:solidFill>
                <a:latin typeface="微软雅黑" panose="020B0503020204020204" pitchFamily="34" charset="-122"/>
              </a:rPr>
              <a:t>取值重复率较大</a:t>
            </a:r>
            <a:r>
              <a:rPr lang="zh-CN" altLang="en-US" sz="2400">
                <a:latin typeface="微软雅黑" panose="020B0503020204020204" pitchFamily="34" charset="-122"/>
              </a:rPr>
              <a:t>的字段上不要建立索引</a:t>
            </a:r>
          </a:p>
          <a:p>
            <a:pPr>
              <a:lnSpc>
                <a:spcPct val="150000"/>
              </a:lnSpc>
            </a:pPr>
            <a:r>
              <a:rPr lang="zh-CN" altLang="en-US" sz="2400">
                <a:latin typeface="微软雅黑" panose="020B0503020204020204" pitchFamily="34" charset="-122"/>
              </a:rPr>
              <a:t>例如“教师表”中的“性别”字段，其取值基本只有“男”和“女”两个值，这样的字段就无须建立索引。</a:t>
            </a:r>
          </a:p>
          <a:p>
            <a:pPr>
              <a:lnSpc>
                <a:spcPct val="150000"/>
              </a:lnSpc>
              <a:buFontTx/>
              <a:buNone/>
            </a:pPr>
            <a:r>
              <a:rPr lang="zh-CN" altLang="en-US" sz="2400">
                <a:latin typeface="微软雅黑" panose="020B0503020204020204" pitchFamily="34" charset="-122"/>
              </a:rPr>
              <a:t>（</a:t>
            </a:r>
            <a:r>
              <a:rPr lang="en-US" altLang="zh-CN" sz="2400">
                <a:latin typeface="微软雅黑" panose="020B0503020204020204" pitchFamily="34" charset="-122"/>
              </a:rPr>
              <a:t>5</a:t>
            </a:r>
            <a:r>
              <a:rPr lang="zh-CN" altLang="en-US" sz="2400">
                <a:latin typeface="微软雅黑" panose="020B0503020204020204" pitchFamily="34" charset="-122"/>
              </a:rPr>
              <a:t>）为经常需要进行</a:t>
            </a:r>
            <a:r>
              <a:rPr lang="zh-CN" altLang="en-US" sz="2400">
                <a:solidFill>
                  <a:srgbClr val="C00000"/>
                </a:solidFill>
                <a:latin typeface="微软雅黑" panose="020B0503020204020204" pitchFamily="34" charset="-122"/>
              </a:rPr>
              <a:t>排序、分组和连接查询</a:t>
            </a:r>
            <a:r>
              <a:rPr lang="zh-CN" altLang="en-US" sz="2400">
                <a:latin typeface="微软雅黑" panose="020B0503020204020204" pitchFamily="34" charset="-122"/>
              </a:rPr>
              <a:t>的字段建立索引</a:t>
            </a:r>
          </a:p>
          <a:p>
            <a:pPr>
              <a:lnSpc>
                <a:spcPct val="150000"/>
              </a:lnSpc>
            </a:pPr>
            <a:r>
              <a:rPr lang="zh-CN" altLang="en-US" sz="2400">
                <a:latin typeface="微软雅黑" panose="020B0503020204020204" pitchFamily="34" charset="-122"/>
              </a:rPr>
              <a:t>在关系数据中进行排序、分组和连接查询时，需要进行大量的查找比较运算，所以应该为频繁进行排序或分组的字段和经常进行连接查询的字段创建索引。</a:t>
            </a:r>
          </a:p>
        </p:txBody>
      </p:sp>
    </p:spTree>
    <p:extLst>
      <p:ext uri="{BB962C8B-B14F-4D97-AF65-F5344CB8AC3E}">
        <p14:creationId xmlns:p14="http://schemas.microsoft.com/office/powerpoint/2010/main" val="227303982"/>
      </p:ext>
    </p:extLst>
  </p:cSld>
  <p:clrMapOvr>
    <a:masterClrMapping/>
  </p:clrMapOvr>
  <p:transition spd="slow">
    <p:wipe dir="r"/>
    <p:sndAc>
      <p:stSnd>
        <p:snd r:embed="rId2" name="arrow.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271464" y="188640"/>
            <a:ext cx="3397084" cy="707886"/>
          </a:xfrm>
        </p:spPr>
        <p:txBody>
          <a:bodyPr/>
          <a:lstStyle/>
          <a:p>
            <a:r>
              <a:rPr lang="en-US" altLang="zh-CN" smtClean="0">
                <a:latin typeface="Times New Roman" panose="02020603050405020304" pitchFamily="18" charset="0"/>
                <a:ea typeface="宋体" panose="02010600030101010101" pitchFamily="2" charset="-122"/>
              </a:rPr>
              <a:t>5.1.4 </a:t>
            </a:r>
            <a:r>
              <a:rPr lang="zh-CN" altLang="en-US" smtClean="0">
                <a:latin typeface="Times New Roman" panose="02020603050405020304" pitchFamily="18" charset="0"/>
                <a:ea typeface="宋体" panose="02010600030101010101" pitchFamily="2" charset="-122"/>
              </a:rPr>
              <a:t>创建索引</a:t>
            </a:r>
          </a:p>
        </p:txBody>
      </p:sp>
      <p:sp>
        <p:nvSpPr>
          <p:cNvPr id="24579" name="Rectangle 3"/>
          <p:cNvSpPr>
            <a:spLocks noGrp="1" noChangeArrowheads="1"/>
          </p:cNvSpPr>
          <p:nvPr>
            <p:ph type="body" idx="4294967295"/>
          </p:nvPr>
        </p:nvSpPr>
        <p:spPr>
          <a:xfrm>
            <a:off x="983432" y="1052736"/>
            <a:ext cx="10729192" cy="5040560"/>
          </a:xfrm>
        </p:spPr>
        <p:txBody>
          <a:bodyPr>
            <a:normAutofit/>
          </a:bodyPr>
          <a:lstStyle/>
          <a:p>
            <a:pPr>
              <a:lnSpc>
                <a:spcPct val="80000"/>
              </a:lnSpc>
            </a:pPr>
            <a:r>
              <a:rPr lang="zh-CN" altLang="en-US" sz="2400">
                <a:latin typeface="微软雅黑" panose="020B0503020204020204" pitchFamily="34" charset="-122"/>
              </a:rPr>
              <a:t>在</a:t>
            </a:r>
            <a:r>
              <a:rPr lang="en-US" altLang="zh-CN" sz="2400">
                <a:latin typeface="微软雅黑" panose="020B0503020204020204" pitchFamily="34" charset="-122"/>
              </a:rPr>
              <a:t>MySQL</a:t>
            </a:r>
            <a:r>
              <a:rPr lang="zh-CN" altLang="en-US" sz="2400">
                <a:latin typeface="微软雅黑" panose="020B0503020204020204" pitchFamily="34" charset="-122"/>
              </a:rPr>
              <a:t>中创建索引有</a:t>
            </a:r>
            <a:r>
              <a:rPr lang="zh-CN" altLang="en-US" sz="2400">
                <a:solidFill>
                  <a:srgbClr val="C00000"/>
                </a:solidFill>
                <a:latin typeface="微软雅黑" panose="020B0503020204020204" pitchFamily="34" charset="-122"/>
              </a:rPr>
              <a:t>三种</a:t>
            </a:r>
            <a:r>
              <a:rPr lang="zh-CN" altLang="en-US" sz="2400">
                <a:latin typeface="微软雅黑" panose="020B0503020204020204" pitchFamily="34" charset="-122"/>
              </a:rPr>
              <a:t>方式</a:t>
            </a:r>
            <a:r>
              <a:rPr lang="zh-CN" altLang="en-US" sz="2400" smtClean="0">
                <a:latin typeface="微软雅黑" panose="020B0503020204020204" pitchFamily="34" charset="-122"/>
              </a:rPr>
              <a:t>。</a:t>
            </a:r>
            <a:endParaRPr lang="en-US" altLang="zh-CN" sz="2400" smtClean="0">
              <a:latin typeface="微软雅黑" panose="020B0503020204020204" pitchFamily="34" charset="-122"/>
            </a:endParaRPr>
          </a:p>
          <a:p>
            <a:pPr>
              <a:lnSpc>
                <a:spcPct val="80000"/>
              </a:lnSpc>
            </a:pPr>
            <a:endParaRPr lang="zh-CN" altLang="en-US" sz="2400">
              <a:latin typeface="微软雅黑" panose="020B0503020204020204" pitchFamily="34" charset="-122"/>
            </a:endParaRPr>
          </a:p>
          <a:p>
            <a:pPr>
              <a:lnSpc>
                <a:spcPct val="80000"/>
              </a:lnSpc>
              <a:buFontTx/>
              <a:buNone/>
            </a:pPr>
            <a:r>
              <a:rPr lang="en-US" altLang="zh-CN" sz="2400">
                <a:latin typeface="微软雅黑" panose="020B0503020204020204" pitchFamily="34" charset="-122"/>
              </a:rPr>
              <a:t>1.</a:t>
            </a:r>
            <a:r>
              <a:rPr lang="zh-CN" altLang="en-US" sz="2400">
                <a:latin typeface="微软雅黑" panose="020B0503020204020204" pitchFamily="34" charset="-122"/>
              </a:rPr>
              <a:t>在使用</a:t>
            </a:r>
            <a:r>
              <a:rPr lang="en-US" altLang="zh-CN" sz="2400">
                <a:latin typeface="微软雅黑" panose="020B0503020204020204" pitchFamily="34" charset="-122"/>
              </a:rPr>
              <a:t>CREATE TABLE</a:t>
            </a:r>
            <a:r>
              <a:rPr lang="zh-CN" altLang="en-US" sz="2400">
                <a:latin typeface="微软雅黑" panose="020B0503020204020204" pitchFamily="34" charset="-122"/>
              </a:rPr>
              <a:t>语句创建表时创建索引</a:t>
            </a:r>
          </a:p>
          <a:p>
            <a:pPr>
              <a:lnSpc>
                <a:spcPct val="80000"/>
              </a:lnSpc>
            </a:pPr>
            <a:r>
              <a:rPr lang="zh-CN" altLang="en-US" sz="2400">
                <a:latin typeface="微软雅黑" panose="020B0503020204020204" pitchFamily="34" charset="-122"/>
              </a:rPr>
              <a:t>基本语法格式为：</a:t>
            </a:r>
          </a:p>
          <a:p>
            <a:pPr>
              <a:lnSpc>
                <a:spcPct val="80000"/>
              </a:lnSpc>
              <a:buFontTx/>
              <a:buNone/>
            </a:pPr>
            <a:r>
              <a:rPr lang="en-US" altLang="zh-CN" sz="2400">
                <a:latin typeface="微软雅黑" panose="020B0503020204020204" pitchFamily="34" charset="-122"/>
              </a:rPr>
              <a:t>CREATE TABLE </a:t>
            </a:r>
            <a:r>
              <a:rPr lang="zh-CN" altLang="en-US" sz="2400">
                <a:latin typeface="微软雅黑" panose="020B0503020204020204" pitchFamily="34" charset="-122"/>
              </a:rPr>
              <a:t>表名 </a:t>
            </a:r>
          </a:p>
          <a:p>
            <a:pPr>
              <a:lnSpc>
                <a:spcPct val="80000"/>
              </a:lnSpc>
              <a:buFontTx/>
              <a:buNone/>
            </a:pPr>
            <a:r>
              <a:rPr lang="zh-CN" altLang="en-US" sz="2400">
                <a:latin typeface="微软雅黑" panose="020B0503020204020204" pitchFamily="34" charset="-122"/>
              </a:rPr>
              <a:t>（字段名 数据类型 </a:t>
            </a:r>
            <a:r>
              <a:rPr lang="en-US" altLang="zh-CN" sz="2400">
                <a:latin typeface="微软雅黑" panose="020B0503020204020204" pitchFamily="34" charset="-122"/>
              </a:rPr>
              <a:t>[</a:t>
            </a:r>
            <a:r>
              <a:rPr lang="zh-CN" altLang="en-US" sz="2400">
                <a:latin typeface="微软雅黑" panose="020B0503020204020204" pitchFamily="34" charset="-122"/>
              </a:rPr>
              <a:t>完整性约束条件</a:t>
            </a:r>
            <a:r>
              <a:rPr lang="en-US" altLang="zh-CN" sz="2400">
                <a:latin typeface="微软雅黑" panose="020B0503020204020204" pitchFamily="34" charset="-122"/>
              </a:rPr>
              <a:t>], </a:t>
            </a:r>
          </a:p>
          <a:p>
            <a:pPr>
              <a:lnSpc>
                <a:spcPct val="80000"/>
              </a:lnSpc>
              <a:buFontTx/>
              <a:buNone/>
            </a:pPr>
            <a:r>
              <a:rPr lang="en-US" altLang="zh-CN" sz="2400">
                <a:latin typeface="微软雅黑" panose="020B0503020204020204" pitchFamily="34" charset="-122"/>
              </a:rPr>
              <a:t>  </a:t>
            </a:r>
            <a:r>
              <a:rPr lang="zh-CN" altLang="en-US" sz="2400">
                <a:latin typeface="微软雅黑" panose="020B0503020204020204" pitchFamily="34" charset="-122"/>
              </a:rPr>
              <a:t>字段名 数据类型 </a:t>
            </a:r>
            <a:r>
              <a:rPr lang="en-US" altLang="zh-CN" sz="2400">
                <a:latin typeface="微软雅黑" panose="020B0503020204020204" pitchFamily="34" charset="-122"/>
              </a:rPr>
              <a:t>[</a:t>
            </a:r>
            <a:r>
              <a:rPr lang="zh-CN" altLang="en-US" sz="2400">
                <a:latin typeface="微软雅黑" panose="020B0503020204020204" pitchFamily="34" charset="-122"/>
              </a:rPr>
              <a:t>完整性约束条件</a:t>
            </a:r>
            <a:r>
              <a:rPr lang="en-US" altLang="zh-CN" sz="2400">
                <a:latin typeface="微软雅黑" panose="020B0503020204020204" pitchFamily="34" charset="-122"/>
              </a:rPr>
              <a:t>],</a:t>
            </a:r>
          </a:p>
          <a:p>
            <a:pPr>
              <a:lnSpc>
                <a:spcPct val="80000"/>
              </a:lnSpc>
              <a:buFontTx/>
              <a:buNone/>
            </a:pPr>
            <a:r>
              <a:rPr lang="en-US" altLang="zh-CN" sz="2400">
                <a:latin typeface="微软雅黑" panose="020B0503020204020204" pitchFamily="34" charset="-122"/>
              </a:rPr>
              <a:t>		……</a:t>
            </a:r>
          </a:p>
          <a:p>
            <a:pPr>
              <a:lnSpc>
                <a:spcPct val="80000"/>
              </a:lnSpc>
              <a:buFontTx/>
              <a:buNone/>
            </a:pPr>
            <a:r>
              <a:rPr lang="zh-CN" altLang="en-US" sz="2400">
                <a:latin typeface="微软雅黑" panose="020B0503020204020204" pitchFamily="34" charset="-122"/>
              </a:rPr>
              <a:t>字段名 数据类型</a:t>
            </a:r>
          </a:p>
          <a:p>
            <a:pPr>
              <a:lnSpc>
                <a:spcPct val="80000"/>
              </a:lnSpc>
              <a:buFontTx/>
              <a:buNone/>
            </a:pPr>
            <a:r>
              <a:rPr lang="en-US" altLang="zh-CN" sz="2400">
                <a:latin typeface="微软雅黑" panose="020B0503020204020204" pitchFamily="34" charset="-122"/>
              </a:rPr>
              <a:t>[UNIQUE | FULLTEXT | SPATIAL] </a:t>
            </a:r>
          </a:p>
          <a:p>
            <a:pPr>
              <a:lnSpc>
                <a:spcPct val="80000"/>
              </a:lnSpc>
              <a:buFontTx/>
              <a:buNone/>
            </a:pPr>
            <a:r>
              <a:rPr lang="en-US" altLang="zh-CN" sz="2400">
                <a:latin typeface="微软雅黑" panose="020B0503020204020204" pitchFamily="34" charset="-122"/>
              </a:rPr>
              <a:t>INDEX|KEY [</a:t>
            </a:r>
            <a:r>
              <a:rPr lang="zh-CN" altLang="en-US" sz="2400">
                <a:latin typeface="微软雅黑" panose="020B0503020204020204" pitchFamily="34" charset="-122"/>
              </a:rPr>
              <a:t>别名</a:t>
            </a:r>
            <a:r>
              <a:rPr lang="en-US" altLang="zh-CN" sz="2400">
                <a:latin typeface="微软雅黑" panose="020B0503020204020204" pitchFamily="34" charset="-122"/>
              </a:rPr>
              <a:t>](</a:t>
            </a:r>
            <a:r>
              <a:rPr lang="zh-CN" altLang="en-US" sz="2400">
                <a:latin typeface="微软雅黑" panose="020B0503020204020204" pitchFamily="34" charset="-122"/>
              </a:rPr>
              <a:t>字段名</a:t>
            </a:r>
            <a:r>
              <a:rPr lang="en-US" altLang="zh-CN" sz="2400">
                <a:latin typeface="微软雅黑" panose="020B0503020204020204" pitchFamily="34" charset="-122"/>
              </a:rPr>
              <a:t>[(</a:t>
            </a:r>
            <a:r>
              <a:rPr lang="zh-CN" altLang="en-US" sz="2400">
                <a:latin typeface="微软雅黑" panose="020B0503020204020204" pitchFamily="34" charset="-122"/>
              </a:rPr>
              <a:t>长度</a:t>
            </a:r>
            <a:r>
              <a:rPr lang="en-US" altLang="zh-CN" sz="2400">
                <a:latin typeface="微软雅黑" panose="020B0503020204020204" pitchFamily="34" charset="-122"/>
              </a:rPr>
              <a:t>)]) [ASC|DESC]</a:t>
            </a:r>
          </a:p>
          <a:p>
            <a:pPr>
              <a:lnSpc>
                <a:spcPct val="80000"/>
              </a:lnSpc>
              <a:buFontTx/>
              <a:buNone/>
            </a:pPr>
            <a:r>
              <a:rPr lang="en-US" altLang="zh-CN" sz="2400">
                <a:latin typeface="微软雅黑" panose="020B0503020204020204" pitchFamily="34" charset="-122"/>
              </a:rPr>
              <a:t>);</a:t>
            </a:r>
            <a:endParaRPr lang="zh-CN" altLang="en-US" sz="2400">
              <a:latin typeface="微软雅黑" panose="020B0503020204020204" pitchFamily="34" charset="-122"/>
            </a:endParaRPr>
          </a:p>
        </p:txBody>
      </p:sp>
    </p:spTree>
    <p:extLst>
      <p:ext uri="{BB962C8B-B14F-4D97-AF65-F5344CB8AC3E}">
        <p14:creationId xmlns:p14="http://schemas.microsoft.com/office/powerpoint/2010/main" val="4073951061"/>
      </p:ext>
    </p:extLst>
  </p:cSld>
  <p:clrMapOvr>
    <a:masterClrMapping/>
  </p:clrMapOvr>
  <p:transition spd="slow">
    <p:wipe dir="r"/>
    <p:sndAc>
      <p:stSnd>
        <p:snd r:embed="rId2" name="arrow.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4294967295"/>
          </p:nvPr>
        </p:nvSpPr>
        <p:spPr>
          <a:xfrm>
            <a:off x="479376" y="908720"/>
            <a:ext cx="10972800" cy="4525963"/>
          </a:xfrm>
        </p:spPr>
        <p:txBody>
          <a:bodyPr>
            <a:noAutofit/>
          </a:bodyPr>
          <a:lstStyle/>
          <a:p>
            <a:pPr>
              <a:lnSpc>
                <a:spcPct val="150000"/>
              </a:lnSpc>
            </a:pPr>
            <a:r>
              <a:rPr lang="zh-CN" altLang="en-US" sz="1800">
                <a:latin typeface="微软雅黑" panose="020B0503020204020204" pitchFamily="34" charset="-122"/>
              </a:rPr>
              <a:t>其中：</a:t>
            </a:r>
          </a:p>
          <a:p>
            <a:pPr lvl="1">
              <a:lnSpc>
                <a:spcPct val="150000"/>
              </a:lnSpc>
            </a:pPr>
            <a:r>
              <a:rPr lang="zh-CN" altLang="en-US" sz="1800">
                <a:latin typeface="微软雅黑" panose="020B0503020204020204" pitchFamily="34" charset="-122"/>
              </a:rPr>
              <a:t></a:t>
            </a:r>
            <a:r>
              <a:rPr lang="en-US" altLang="zh-CN" sz="1800">
                <a:latin typeface="微软雅黑" panose="020B0503020204020204" pitchFamily="34" charset="-122"/>
              </a:rPr>
              <a:t>UNIQUE</a:t>
            </a:r>
            <a:r>
              <a:rPr lang="zh-CN" altLang="en-US" sz="1800">
                <a:latin typeface="微软雅黑" panose="020B0503020204020204" pitchFamily="34" charset="-122"/>
              </a:rPr>
              <a:t>：可选参数，表示创建唯一索引。</a:t>
            </a:r>
          </a:p>
          <a:p>
            <a:pPr lvl="1">
              <a:lnSpc>
                <a:spcPct val="150000"/>
              </a:lnSpc>
            </a:pPr>
            <a:r>
              <a:rPr lang="zh-CN" altLang="en-US" sz="1800">
                <a:latin typeface="微软雅黑" panose="020B0503020204020204" pitchFamily="34" charset="-122"/>
              </a:rPr>
              <a:t></a:t>
            </a:r>
            <a:r>
              <a:rPr lang="en-US" altLang="zh-CN" sz="1800">
                <a:latin typeface="微软雅黑" panose="020B0503020204020204" pitchFamily="34" charset="-122"/>
              </a:rPr>
              <a:t>FULLTEXT</a:t>
            </a:r>
            <a:r>
              <a:rPr lang="zh-CN" altLang="en-US" sz="1800">
                <a:latin typeface="微软雅黑" panose="020B0503020204020204" pitchFamily="34" charset="-122"/>
              </a:rPr>
              <a:t>：可选参数，表示创建全文索引。</a:t>
            </a:r>
          </a:p>
          <a:p>
            <a:pPr lvl="1">
              <a:lnSpc>
                <a:spcPct val="150000"/>
              </a:lnSpc>
            </a:pPr>
            <a:r>
              <a:rPr lang="zh-CN" altLang="en-US" sz="1800">
                <a:latin typeface="微软雅黑" panose="020B0503020204020204" pitchFamily="34" charset="-122"/>
              </a:rPr>
              <a:t></a:t>
            </a:r>
            <a:r>
              <a:rPr lang="en-US" altLang="zh-CN" sz="1800">
                <a:latin typeface="微软雅黑" panose="020B0503020204020204" pitchFamily="34" charset="-122"/>
              </a:rPr>
              <a:t>SPATIAL</a:t>
            </a:r>
            <a:r>
              <a:rPr lang="zh-CN" altLang="en-US" sz="1800">
                <a:latin typeface="微软雅黑" panose="020B0503020204020204" pitchFamily="34" charset="-122"/>
              </a:rPr>
              <a:t>：可选参数，表示创建空间索引</a:t>
            </a:r>
          </a:p>
          <a:p>
            <a:pPr lvl="1">
              <a:lnSpc>
                <a:spcPct val="150000"/>
              </a:lnSpc>
            </a:pPr>
            <a:r>
              <a:rPr lang="zh-CN" altLang="en-US" sz="1800">
                <a:latin typeface="微软雅黑" panose="020B0503020204020204" pitchFamily="34" charset="-122"/>
              </a:rPr>
              <a:t></a:t>
            </a:r>
            <a:r>
              <a:rPr lang="en-US" altLang="zh-CN" sz="1800">
                <a:solidFill>
                  <a:srgbClr val="C00000"/>
                </a:solidFill>
                <a:latin typeface="微软雅黑" panose="020B0503020204020204" pitchFamily="34" charset="-122"/>
              </a:rPr>
              <a:t>INDEX</a:t>
            </a:r>
            <a:r>
              <a:rPr lang="zh-CN" altLang="en-US" sz="1800">
                <a:solidFill>
                  <a:srgbClr val="C00000"/>
                </a:solidFill>
                <a:latin typeface="微软雅黑" panose="020B0503020204020204" pitchFamily="34" charset="-122"/>
              </a:rPr>
              <a:t>和</a:t>
            </a:r>
            <a:r>
              <a:rPr lang="en-US" altLang="zh-CN" sz="1800">
                <a:solidFill>
                  <a:srgbClr val="C00000"/>
                </a:solidFill>
                <a:latin typeface="微软雅黑" panose="020B0503020204020204" pitchFamily="34" charset="-122"/>
              </a:rPr>
              <a:t>KEY</a:t>
            </a:r>
            <a:r>
              <a:rPr lang="zh-CN" altLang="en-US" sz="1800">
                <a:latin typeface="微软雅黑" panose="020B0503020204020204" pitchFamily="34" charset="-122"/>
              </a:rPr>
              <a:t>：创建的索引的关键词，二者任选其一使用即可。</a:t>
            </a:r>
          </a:p>
          <a:p>
            <a:pPr lvl="1">
              <a:lnSpc>
                <a:spcPct val="150000"/>
              </a:lnSpc>
            </a:pPr>
            <a:r>
              <a:rPr lang="zh-CN" altLang="en-US" sz="1800">
                <a:latin typeface="微软雅黑" panose="020B0503020204020204" pitchFamily="34" charset="-122"/>
              </a:rPr>
              <a:t>别名：可选参数，用于给索引另取一个名称。如果不用别名，则使用索引字段的名称作为索引名。</a:t>
            </a:r>
          </a:p>
          <a:p>
            <a:pPr lvl="1">
              <a:lnSpc>
                <a:spcPct val="150000"/>
              </a:lnSpc>
            </a:pPr>
            <a:r>
              <a:rPr lang="zh-CN" altLang="en-US" sz="1800">
                <a:latin typeface="微软雅黑" panose="020B0503020204020204" pitchFamily="34" charset="-122"/>
              </a:rPr>
              <a:t>字段名：指定索引对应字段的名称。</a:t>
            </a:r>
          </a:p>
          <a:p>
            <a:pPr lvl="1">
              <a:lnSpc>
                <a:spcPct val="150000"/>
              </a:lnSpc>
            </a:pPr>
            <a:r>
              <a:rPr lang="zh-CN" altLang="en-US" sz="1800">
                <a:latin typeface="微软雅黑" panose="020B0503020204020204" pitchFamily="34" charset="-122"/>
              </a:rPr>
              <a:t>长度：可选参数，用于指定字段中用于创建索引的长度，默认为整个字段值。</a:t>
            </a:r>
          </a:p>
          <a:p>
            <a:pPr lvl="1">
              <a:lnSpc>
                <a:spcPct val="150000"/>
              </a:lnSpc>
            </a:pPr>
            <a:r>
              <a:rPr lang="zh-CN" altLang="en-US" sz="1800">
                <a:latin typeface="微软雅黑" panose="020B0503020204020204" pitchFamily="34" charset="-122"/>
              </a:rPr>
              <a:t></a:t>
            </a:r>
            <a:r>
              <a:rPr lang="en-US" altLang="zh-CN" sz="1800">
                <a:latin typeface="微软雅黑" panose="020B0503020204020204" pitchFamily="34" charset="-122"/>
              </a:rPr>
              <a:t>ASC</a:t>
            </a:r>
            <a:r>
              <a:rPr lang="zh-CN" altLang="en-US" sz="1800">
                <a:latin typeface="微软雅黑" panose="020B0503020204020204" pitchFamily="34" charset="-122"/>
              </a:rPr>
              <a:t>和</a:t>
            </a:r>
            <a:r>
              <a:rPr lang="en-US" altLang="zh-CN" sz="1800">
                <a:latin typeface="微软雅黑" panose="020B0503020204020204" pitchFamily="34" charset="-122"/>
              </a:rPr>
              <a:t>DESC</a:t>
            </a:r>
            <a:r>
              <a:rPr lang="zh-CN" altLang="en-US" sz="1800">
                <a:latin typeface="微软雅黑" panose="020B0503020204020204" pitchFamily="34" charset="-122"/>
              </a:rPr>
              <a:t>：可选参数，指定索引字段的排序方式。其中</a:t>
            </a:r>
            <a:r>
              <a:rPr lang="en-US" altLang="zh-CN" sz="1800">
                <a:latin typeface="微软雅黑" panose="020B0503020204020204" pitchFamily="34" charset="-122"/>
              </a:rPr>
              <a:t>ASC</a:t>
            </a:r>
            <a:r>
              <a:rPr lang="zh-CN" altLang="en-US" sz="1800">
                <a:latin typeface="微软雅黑" panose="020B0503020204020204" pitchFamily="34" charset="-122"/>
              </a:rPr>
              <a:t>表升序，</a:t>
            </a:r>
            <a:r>
              <a:rPr lang="en-US" altLang="zh-CN" sz="1800">
                <a:latin typeface="微软雅黑" panose="020B0503020204020204" pitchFamily="34" charset="-122"/>
              </a:rPr>
              <a:t>DESC</a:t>
            </a:r>
            <a:r>
              <a:rPr lang="zh-CN" altLang="en-US" sz="1800">
                <a:latin typeface="微软雅黑" panose="020B0503020204020204" pitchFamily="34" charset="-122"/>
              </a:rPr>
              <a:t>表示降序排列。默认为升序排列。</a:t>
            </a:r>
          </a:p>
        </p:txBody>
      </p:sp>
    </p:spTree>
    <p:extLst>
      <p:ext uri="{BB962C8B-B14F-4D97-AF65-F5344CB8AC3E}">
        <p14:creationId xmlns:p14="http://schemas.microsoft.com/office/powerpoint/2010/main" val="2716428470"/>
      </p:ext>
    </p:extLst>
  </p:cSld>
  <p:clrMapOvr>
    <a:masterClrMapping/>
  </p:clrMapOvr>
  <p:transition spd="slow">
    <p:wipe dir="r"/>
    <p:sndAc>
      <p:stSnd>
        <p:snd r:embed="rId2" name="arrow.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4294967295"/>
          </p:nvPr>
        </p:nvSpPr>
        <p:spPr>
          <a:xfrm>
            <a:off x="623392" y="548680"/>
            <a:ext cx="10972800" cy="4525963"/>
          </a:xfrm>
        </p:spPr>
        <p:txBody>
          <a:bodyPr>
            <a:normAutofit fontScale="85000" lnSpcReduction="10000"/>
          </a:bodyPr>
          <a:lstStyle/>
          <a:p>
            <a:pPr>
              <a:lnSpc>
                <a:spcPct val="150000"/>
              </a:lnSpc>
            </a:pP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例</a:t>
            </a:r>
            <a:r>
              <a:rPr lang="en-US" altLang="zh-CN" sz="2400" dirty="0">
                <a:latin typeface="Tahoma" panose="020B0604030504040204" pitchFamily="34" charset="0"/>
                <a:ea typeface="宋体" panose="02010600030101010101" pitchFamily="2" charset="-122"/>
              </a:rPr>
              <a:t>5-1】</a:t>
            </a:r>
            <a:r>
              <a:rPr lang="zh-CN" altLang="en-US" sz="2400" dirty="0">
                <a:latin typeface="Tahoma" panose="020B0604030504040204" pitchFamily="34" charset="0"/>
                <a:ea typeface="宋体" panose="02010600030101010101" pitchFamily="2" charset="-122"/>
              </a:rPr>
              <a:t>创建</a:t>
            </a:r>
            <a:r>
              <a:rPr lang="en-US" altLang="zh-CN" sz="2400" dirty="0">
                <a:latin typeface="Tahoma" panose="020B0604030504040204" pitchFamily="34" charset="0"/>
                <a:ea typeface="宋体" panose="02010600030101010101" pitchFamily="2" charset="-122"/>
              </a:rPr>
              <a:t>S</a:t>
            </a:r>
            <a:r>
              <a:rPr lang="zh-CN" altLang="en-US" sz="2400" dirty="0">
                <a:latin typeface="Tahoma" panose="020B0604030504040204" pitchFamily="34" charset="0"/>
                <a:ea typeface="宋体" panose="02010600030101010101" pitchFamily="2" charset="-122"/>
              </a:rPr>
              <a:t>表，并以</a:t>
            </a:r>
            <a:r>
              <a:rPr lang="en-US" altLang="zh-CN" sz="2400" dirty="0" err="1">
                <a:latin typeface="Tahoma" panose="020B0604030504040204" pitchFamily="34" charset="0"/>
                <a:ea typeface="宋体" panose="02010600030101010101" pitchFamily="2" charset="-122"/>
              </a:rPr>
              <a:t>sname</a:t>
            </a:r>
            <a:r>
              <a:rPr lang="zh-CN" altLang="en-US" sz="2400" dirty="0">
                <a:latin typeface="Tahoma" panose="020B0604030504040204" pitchFamily="34" charset="0"/>
                <a:ea typeface="宋体" panose="02010600030101010101" pitchFamily="2" charset="-122"/>
              </a:rPr>
              <a:t>字段建立普通索引。</a:t>
            </a:r>
          </a:p>
          <a:p>
            <a:pPr>
              <a:lnSpc>
                <a:spcPct val="150000"/>
              </a:lnSpc>
              <a:buFontTx/>
              <a:buNone/>
            </a:pPr>
            <a:r>
              <a:rPr lang="en-US" altLang="zh-CN" sz="2400" dirty="0">
                <a:latin typeface="Tahoma" panose="020B0604030504040204" pitchFamily="34" charset="0"/>
                <a:ea typeface="宋体" panose="02010600030101010101" pitchFamily="2" charset="-122"/>
              </a:rPr>
              <a:t>CREATE TABLE S</a:t>
            </a:r>
          </a:p>
          <a:p>
            <a:pPr>
              <a:lnSpc>
                <a:spcPct val="150000"/>
              </a:lnSpc>
              <a:buFontTx/>
              <a:buNone/>
            </a:pPr>
            <a:r>
              <a:rPr lang="en-US" altLang="zh-CN" sz="2400" dirty="0">
                <a:latin typeface="Tahoma" panose="020B0604030504040204" pitchFamily="34" charset="0"/>
                <a:ea typeface="宋体" panose="02010600030101010101" pitchFamily="2" charset="-122"/>
              </a:rPr>
              <a:t>(	</a:t>
            </a:r>
            <a:r>
              <a:rPr lang="en-US" altLang="zh-CN" sz="2400" dirty="0" err="1">
                <a:latin typeface="Tahoma" panose="020B0604030504040204" pitchFamily="34" charset="0"/>
                <a:ea typeface="宋体" panose="02010600030101010101" pitchFamily="2" charset="-122"/>
              </a:rPr>
              <a:t>sno</a:t>
            </a:r>
            <a:r>
              <a:rPr lang="en-US" altLang="zh-CN" sz="2400" dirty="0">
                <a:latin typeface="Tahoma" panose="020B0604030504040204" pitchFamily="34" charset="0"/>
                <a:ea typeface="宋体" panose="02010600030101010101" pitchFamily="2" charset="-122"/>
              </a:rPr>
              <a:t>   CHAR(10) ,</a:t>
            </a:r>
          </a:p>
          <a:p>
            <a:pPr>
              <a:lnSpc>
                <a:spcPct val="150000"/>
              </a:lnSpc>
              <a:buFontTx/>
              <a:buNone/>
            </a:pPr>
            <a:r>
              <a:rPr lang="en-US" altLang="zh-CN" sz="2400" dirty="0" err="1">
                <a:latin typeface="Tahoma" panose="020B0604030504040204" pitchFamily="34" charset="0"/>
                <a:ea typeface="宋体" panose="02010600030101010101" pitchFamily="2" charset="-122"/>
              </a:rPr>
              <a:t>sname</a:t>
            </a:r>
            <a:r>
              <a:rPr lang="en-US" altLang="zh-CN" sz="2400" dirty="0">
                <a:latin typeface="Tahoma" panose="020B0604030504040204" pitchFamily="34" charset="0"/>
                <a:ea typeface="宋体" panose="02010600030101010101" pitchFamily="2" charset="-122"/>
              </a:rPr>
              <a:t>   VARCHAR(20),</a:t>
            </a:r>
          </a:p>
          <a:p>
            <a:pPr>
              <a:lnSpc>
                <a:spcPct val="150000"/>
              </a:lnSpc>
              <a:buFontTx/>
              <a:buNone/>
            </a:pPr>
            <a:r>
              <a:rPr lang="en-US" altLang="zh-CN" sz="2400" dirty="0">
                <a:latin typeface="Tahoma" panose="020B0604030504040204" pitchFamily="34" charset="0"/>
                <a:ea typeface="宋体" panose="02010600030101010101" pitchFamily="2" charset="-122"/>
              </a:rPr>
              <a:t>  	age   INT,</a:t>
            </a:r>
          </a:p>
          <a:p>
            <a:pPr>
              <a:lnSpc>
                <a:spcPct val="150000"/>
              </a:lnSpc>
              <a:buFontTx/>
              <a:buNone/>
            </a:pPr>
            <a:r>
              <a:rPr lang="en-US" altLang="zh-CN" sz="2400" dirty="0">
                <a:latin typeface="Tahoma" panose="020B0604030504040204" pitchFamily="34" charset="0"/>
                <a:ea typeface="宋体" panose="02010600030101010101" pitchFamily="2" charset="-122"/>
              </a:rPr>
              <a:t>  	sex  CHAR(2),</a:t>
            </a:r>
          </a:p>
          <a:p>
            <a:pPr>
              <a:lnSpc>
                <a:spcPct val="150000"/>
              </a:lnSpc>
              <a:buFontTx/>
              <a:buNone/>
            </a:pPr>
            <a:r>
              <a:rPr lang="en-US" altLang="zh-CN" sz="2400" dirty="0">
                <a:latin typeface="Tahoma" panose="020B0604030504040204" pitchFamily="34" charset="0"/>
                <a:ea typeface="宋体" panose="02010600030101010101" pitchFamily="2" charset="-122"/>
              </a:rPr>
              <a:t>  	</a:t>
            </a:r>
            <a:r>
              <a:rPr lang="en-US" altLang="zh-CN" sz="2400" dirty="0" err="1">
                <a:latin typeface="Tahoma" panose="020B0604030504040204" pitchFamily="34" charset="0"/>
                <a:ea typeface="宋体" panose="02010600030101010101" pitchFamily="2" charset="-122"/>
              </a:rPr>
              <a:t>dept</a:t>
            </a:r>
            <a:r>
              <a:rPr lang="en-US" altLang="zh-CN" sz="2400" dirty="0">
                <a:latin typeface="Tahoma" panose="020B0604030504040204" pitchFamily="34" charset="0"/>
                <a:ea typeface="宋体" panose="02010600030101010101" pitchFamily="2" charset="-122"/>
              </a:rPr>
              <a:t>  VARCHAR(20),</a:t>
            </a:r>
          </a:p>
          <a:p>
            <a:pPr>
              <a:lnSpc>
                <a:spcPct val="150000"/>
              </a:lnSpc>
              <a:buFontTx/>
              <a:buNone/>
            </a:pPr>
            <a:r>
              <a:rPr lang="en-US" altLang="zh-CN" sz="2400" dirty="0">
                <a:latin typeface="Tahoma" panose="020B0604030504040204" pitchFamily="34" charset="0"/>
                <a:ea typeface="宋体" panose="02010600030101010101" pitchFamily="2" charset="-122"/>
              </a:rPr>
              <a:t>	INDEX (</a:t>
            </a:r>
            <a:r>
              <a:rPr lang="en-US" altLang="zh-CN" sz="2400" dirty="0" err="1">
                <a:latin typeface="Tahoma" panose="020B0604030504040204" pitchFamily="34" charset="0"/>
                <a:ea typeface="宋体" panose="02010600030101010101" pitchFamily="2" charset="-122"/>
              </a:rPr>
              <a:t>sname</a:t>
            </a:r>
            <a:r>
              <a:rPr lang="en-US" altLang="zh-CN" sz="2400" dirty="0">
                <a:latin typeface="Tahoma" panose="020B0604030504040204" pitchFamily="34" charset="0"/>
                <a:ea typeface="宋体" panose="02010600030101010101" pitchFamily="2" charset="-122"/>
              </a:rPr>
              <a:t>)</a:t>
            </a:r>
          </a:p>
          <a:p>
            <a:pPr>
              <a:lnSpc>
                <a:spcPct val="150000"/>
              </a:lnSpc>
              <a:buFontTx/>
              <a:buNone/>
            </a:pPr>
            <a:r>
              <a:rPr lang="en-US" altLang="zh-CN" sz="2400" dirty="0">
                <a:latin typeface="Tahoma" panose="020B0604030504040204" pitchFamily="34" charset="0"/>
                <a:ea typeface="宋体" panose="02010600030101010101" pitchFamily="2" charset="-122"/>
              </a:rPr>
              <a:t>);</a:t>
            </a:r>
          </a:p>
        </p:txBody>
      </p:sp>
    </p:spTree>
    <p:extLst>
      <p:ext uri="{BB962C8B-B14F-4D97-AF65-F5344CB8AC3E}">
        <p14:creationId xmlns:p14="http://schemas.microsoft.com/office/powerpoint/2010/main" val="1302038589"/>
      </p:ext>
    </p:extLst>
  </p:cSld>
  <p:clrMapOvr>
    <a:masterClrMapping/>
  </p:clrMapOvr>
  <p:transition spd="slow">
    <p:wipe dir="r"/>
    <p:sndAc>
      <p:stSnd>
        <p:snd r:embed="rId2" name="arrow.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4294967295"/>
          </p:nvPr>
        </p:nvSpPr>
        <p:spPr/>
        <p:txBody>
          <a:bodyPr/>
          <a:lstStyle/>
          <a:p>
            <a:pPr>
              <a:lnSpc>
                <a:spcPct val="90000"/>
              </a:lnSpc>
            </a:pPr>
            <a:r>
              <a:rPr lang="en-US" altLang="zh-CN" sz="2800">
                <a:latin typeface="Tahoma" panose="020B0604030504040204" pitchFamily="34" charset="0"/>
                <a:ea typeface="宋体" panose="02010600030101010101" pitchFamily="2" charset="-122"/>
              </a:rPr>
              <a:t>【</a:t>
            </a:r>
            <a:r>
              <a:rPr lang="zh-CN" altLang="en-US" sz="2800">
                <a:latin typeface="Tahoma" panose="020B0604030504040204" pitchFamily="34" charset="0"/>
                <a:ea typeface="宋体" panose="02010600030101010101" pitchFamily="2" charset="-122"/>
              </a:rPr>
              <a:t>例</a:t>
            </a:r>
            <a:r>
              <a:rPr lang="en-US" altLang="zh-CN" sz="2800">
                <a:latin typeface="Tahoma" panose="020B0604030504040204" pitchFamily="34" charset="0"/>
                <a:ea typeface="宋体" panose="02010600030101010101" pitchFamily="2" charset="-122"/>
              </a:rPr>
              <a:t>5-2】</a:t>
            </a:r>
            <a:r>
              <a:rPr lang="zh-CN" altLang="en-US" sz="2800">
                <a:latin typeface="Tahoma" panose="020B0604030504040204" pitchFamily="34" charset="0"/>
                <a:ea typeface="宋体" panose="02010600030101010101" pitchFamily="2" charset="-122"/>
              </a:rPr>
              <a:t>创建</a:t>
            </a:r>
            <a:r>
              <a:rPr lang="en-US" altLang="zh-CN" sz="2800">
                <a:latin typeface="Tahoma" panose="020B0604030504040204" pitchFamily="34" charset="0"/>
                <a:ea typeface="宋体" panose="02010600030101010101" pitchFamily="2" charset="-122"/>
              </a:rPr>
              <a:t>SC</a:t>
            </a:r>
            <a:r>
              <a:rPr lang="zh-CN" altLang="en-US" sz="2800">
                <a:latin typeface="Tahoma" panose="020B0604030504040204" pitchFamily="34" charset="0"/>
                <a:ea typeface="宋体" panose="02010600030101010101" pitchFamily="2" charset="-122"/>
              </a:rPr>
              <a:t>表，并以</a:t>
            </a:r>
            <a:r>
              <a:rPr lang="en-US" altLang="zh-CN" sz="2800">
                <a:latin typeface="Tahoma" panose="020B0604030504040204" pitchFamily="34" charset="0"/>
                <a:ea typeface="宋体" panose="02010600030101010101" pitchFamily="2" charset="-122"/>
              </a:rPr>
              <a:t>sno</a:t>
            </a:r>
            <a:r>
              <a:rPr lang="zh-CN" altLang="en-US" sz="2800">
                <a:latin typeface="Tahoma" panose="020B0604030504040204" pitchFamily="34" charset="0"/>
                <a:ea typeface="宋体" panose="02010600030101010101" pitchFamily="2" charset="-122"/>
              </a:rPr>
              <a:t>和</a:t>
            </a:r>
            <a:r>
              <a:rPr lang="en-US" altLang="zh-CN" sz="2800">
                <a:latin typeface="Tahoma" panose="020B0604030504040204" pitchFamily="34" charset="0"/>
                <a:ea typeface="宋体" panose="02010600030101010101" pitchFamily="2" charset="-122"/>
              </a:rPr>
              <a:t>cno</a:t>
            </a:r>
            <a:r>
              <a:rPr lang="zh-CN" altLang="en-US" sz="2800">
                <a:latin typeface="Tahoma" panose="020B0604030504040204" pitchFamily="34" charset="0"/>
                <a:ea typeface="宋体" panose="02010600030101010101" pitchFamily="2" charset="-122"/>
              </a:rPr>
              <a:t>两个字段组合建立名为</a:t>
            </a:r>
            <a:r>
              <a:rPr lang="en-US" altLang="zh-CN" sz="2800">
                <a:latin typeface="Tahoma" panose="020B0604030504040204" pitchFamily="34" charset="0"/>
                <a:ea typeface="宋体" panose="02010600030101010101" pitchFamily="2" charset="-122"/>
              </a:rPr>
              <a:t>uk_sno_cno</a:t>
            </a:r>
            <a:r>
              <a:rPr lang="zh-CN" altLang="en-US" sz="2800">
                <a:latin typeface="Tahoma" panose="020B0604030504040204" pitchFamily="34" charset="0"/>
                <a:ea typeface="宋体" panose="02010600030101010101" pitchFamily="2" charset="-122"/>
              </a:rPr>
              <a:t>多列唯一索引。</a:t>
            </a:r>
          </a:p>
          <a:p>
            <a:pPr>
              <a:lnSpc>
                <a:spcPct val="90000"/>
              </a:lnSpc>
              <a:buFontTx/>
              <a:buNone/>
            </a:pPr>
            <a:r>
              <a:rPr lang="en-US" altLang="zh-CN" sz="2800">
                <a:latin typeface="Tahoma" panose="020B0604030504040204" pitchFamily="34" charset="0"/>
                <a:ea typeface="宋体" panose="02010600030101010101" pitchFamily="2" charset="-122"/>
              </a:rPr>
              <a:t>CREATE TABLE SC</a:t>
            </a:r>
          </a:p>
          <a:p>
            <a:pPr>
              <a:lnSpc>
                <a:spcPct val="90000"/>
              </a:lnSpc>
              <a:buFontTx/>
              <a:buNone/>
            </a:pPr>
            <a:r>
              <a:rPr lang="en-US" altLang="zh-CN" sz="2800">
                <a:latin typeface="Tahoma" panose="020B0604030504040204" pitchFamily="34" charset="0"/>
                <a:ea typeface="宋体" panose="02010600030101010101" pitchFamily="2" charset="-122"/>
              </a:rPr>
              <a:t>(	sno   CHAR(10) ,</a:t>
            </a:r>
          </a:p>
          <a:p>
            <a:pPr>
              <a:lnSpc>
                <a:spcPct val="90000"/>
              </a:lnSpc>
              <a:buFontTx/>
              <a:buNone/>
            </a:pPr>
            <a:r>
              <a:rPr lang="en-US" altLang="zh-CN" sz="2800">
                <a:latin typeface="Tahoma" panose="020B0604030504040204" pitchFamily="34" charset="0"/>
                <a:ea typeface="宋体" panose="02010600030101010101" pitchFamily="2" charset="-122"/>
              </a:rPr>
              <a:t>cno   CHAR(15),</a:t>
            </a:r>
          </a:p>
          <a:p>
            <a:pPr>
              <a:lnSpc>
                <a:spcPct val="90000"/>
              </a:lnSpc>
              <a:buFontTx/>
              <a:buNone/>
            </a:pPr>
            <a:r>
              <a:rPr lang="en-US" altLang="zh-CN" sz="2800">
                <a:latin typeface="Tahoma" panose="020B0604030504040204" pitchFamily="34" charset="0"/>
                <a:ea typeface="宋体" panose="02010600030101010101" pitchFamily="2" charset="-122"/>
              </a:rPr>
              <a:t>  	score  decimal(4,1),</a:t>
            </a:r>
          </a:p>
          <a:p>
            <a:pPr>
              <a:lnSpc>
                <a:spcPct val="90000"/>
              </a:lnSpc>
              <a:buFontTx/>
              <a:buNone/>
            </a:pPr>
            <a:r>
              <a:rPr lang="en-US" altLang="zh-CN" sz="2800">
                <a:latin typeface="Tahoma" panose="020B0604030504040204" pitchFamily="34" charset="0"/>
                <a:ea typeface="宋体" panose="02010600030101010101" pitchFamily="2" charset="-122"/>
              </a:rPr>
              <a:t>	UNIQUE INDEX uk_sno_cno(sno,cno)</a:t>
            </a:r>
          </a:p>
          <a:p>
            <a:pPr>
              <a:lnSpc>
                <a:spcPct val="90000"/>
              </a:lnSpc>
              <a:buFontTx/>
              <a:buNone/>
            </a:pPr>
            <a:r>
              <a:rPr lang="en-US" altLang="zh-CN" sz="2800">
                <a:latin typeface="Tahoma" panose="020B0604030504040204" pitchFamily="34" charset="0"/>
                <a:ea typeface="宋体" panose="02010600030101010101" pitchFamily="2" charset="-122"/>
              </a:rPr>
              <a:t>);</a:t>
            </a:r>
            <a:endParaRPr lang="zh-CN" altLang="en-US" sz="280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07547073"/>
      </p:ext>
    </p:extLst>
  </p:cSld>
  <p:clrMapOvr>
    <a:masterClrMapping/>
  </p:clrMapOvr>
  <p:transition spd="slow">
    <p:wipe dir="r"/>
    <p:sndAc>
      <p:stSnd>
        <p:snd r:embed="rId2" name="arrow.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4294967295"/>
          </p:nvPr>
        </p:nvSpPr>
        <p:spPr>
          <a:xfrm>
            <a:off x="1055440" y="404664"/>
            <a:ext cx="10009112" cy="5904656"/>
          </a:xfrm>
        </p:spPr>
        <p:txBody>
          <a:bodyPr>
            <a:normAutofit lnSpcReduction="10000"/>
          </a:bodyPr>
          <a:lstStyle/>
          <a:p>
            <a:pPr>
              <a:lnSpc>
                <a:spcPct val="150000"/>
              </a:lnSpc>
            </a:pPr>
            <a:r>
              <a:rPr lang="en-US" altLang="zh-CN" sz="2400" dirty="0">
                <a:latin typeface="Tahoma" panose="020B0604030504040204" pitchFamily="34" charset="0"/>
                <a:ea typeface="宋体" panose="02010600030101010101" pitchFamily="2" charset="-122"/>
              </a:rPr>
              <a:t>2.</a:t>
            </a:r>
            <a:r>
              <a:rPr lang="zh-CN" altLang="en-US" sz="2400" dirty="0">
                <a:latin typeface="Tahoma" panose="020B0604030504040204" pitchFamily="34" charset="0"/>
                <a:ea typeface="宋体" panose="02010600030101010101" pitchFamily="2" charset="-122"/>
              </a:rPr>
              <a:t>使用</a:t>
            </a:r>
            <a:r>
              <a:rPr lang="en-US" altLang="zh-CN" sz="2400" dirty="0">
                <a:solidFill>
                  <a:srgbClr val="FF0000"/>
                </a:solidFill>
                <a:latin typeface="Tahoma" panose="020B0604030504040204" pitchFamily="34" charset="0"/>
                <a:ea typeface="宋体" panose="02010600030101010101" pitchFamily="2" charset="-122"/>
              </a:rPr>
              <a:t>CREATE INDEX</a:t>
            </a:r>
            <a:r>
              <a:rPr lang="zh-CN" altLang="en-US" sz="2400" dirty="0">
                <a:latin typeface="Tahoma" panose="020B0604030504040204" pitchFamily="34" charset="0"/>
                <a:ea typeface="宋体" panose="02010600030101010101" pitchFamily="2" charset="-122"/>
              </a:rPr>
              <a:t>语句在已经存在的表上创建索引</a:t>
            </a:r>
          </a:p>
          <a:p>
            <a:pPr>
              <a:lnSpc>
                <a:spcPct val="150000"/>
              </a:lnSpc>
            </a:pPr>
            <a:r>
              <a:rPr lang="zh-CN" altLang="en-US" sz="2400" dirty="0">
                <a:latin typeface="Tahoma" panose="020B0604030504040204" pitchFamily="34" charset="0"/>
                <a:ea typeface="宋体" panose="02010600030101010101" pitchFamily="2" charset="-122"/>
              </a:rPr>
              <a:t>基本语法格式为：</a:t>
            </a:r>
          </a:p>
          <a:p>
            <a:pPr>
              <a:lnSpc>
                <a:spcPct val="150000"/>
              </a:lnSpc>
              <a:buFontTx/>
              <a:buNone/>
            </a:pPr>
            <a:r>
              <a:rPr lang="en-US" altLang="zh-CN" sz="2400" dirty="0">
                <a:latin typeface="Tahoma" panose="020B0604030504040204" pitchFamily="34" charset="0"/>
                <a:ea typeface="宋体" panose="02010600030101010101" pitchFamily="2" charset="-122"/>
              </a:rPr>
              <a:t>CREATE [UNIQUE | FULLTEXT | SPATIAL] INDEX </a:t>
            </a:r>
            <a:r>
              <a:rPr lang="zh-CN" altLang="en-US" sz="2400" dirty="0">
                <a:latin typeface="Tahoma" panose="020B0604030504040204" pitchFamily="34" charset="0"/>
                <a:ea typeface="宋体" panose="02010600030101010101" pitchFamily="2" charset="-122"/>
              </a:rPr>
              <a:t>索引名 </a:t>
            </a:r>
          </a:p>
          <a:p>
            <a:pPr>
              <a:lnSpc>
                <a:spcPct val="150000"/>
              </a:lnSpc>
              <a:buFontTx/>
              <a:buNone/>
            </a:pPr>
            <a:r>
              <a:rPr lang="en-US" altLang="zh-CN" sz="2400" dirty="0">
                <a:latin typeface="Tahoma" panose="020B0604030504040204" pitchFamily="34" charset="0"/>
                <a:ea typeface="宋体" panose="02010600030101010101" pitchFamily="2" charset="-122"/>
              </a:rPr>
              <a:t>ON </a:t>
            </a:r>
            <a:r>
              <a:rPr lang="zh-CN" altLang="en-US" sz="2400" dirty="0">
                <a:latin typeface="Tahoma" panose="020B0604030504040204" pitchFamily="34" charset="0"/>
                <a:ea typeface="宋体" panose="02010600030101010101" pitchFamily="2" charset="-122"/>
              </a:rPr>
              <a:t>表名</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字段名</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长度</a:t>
            </a:r>
            <a:r>
              <a:rPr lang="en-US" altLang="zh-CN" sz="2400" dirty="0">
                <a:latin typeface="Tahoma" panose="020B0604030504040204" pitchFamily="34" charset="0"/>
                <a:ea typeface="宋体" panose="02010600030101010101" pitchFamily="2" charset="-122"/>
              </a:rPr>
              <a:t>)]) [ASC|DESC] [,…]);</a:t>
            </a:r>
          </a:p>
          <a:p>
            <a:pPr>
              <a:lnSpc>
                <a:spcPct val="150000"/>
              </a:lnSpc>
              <a:buFontTx/>
              <a:buNone/>
            </a:pPr>
            <a:endParaRPr lang="en-US" altLang="zh-CN" sz="2400" dirty="0">
              <a:latin typeface="Tahoma" panose="020B0604030504040204" pitchFamily="34" charset="0"/>
              <a:ea typeface="宋体" panose="02010600030101010101" pitchFamily="2" charset="-122"/>
            </a:endParaRPr>
          </a:p>
          <a:p>
            <a:pPr>
              <a:lnSpc>
                <a:spcPct val="150000"/>
              </a:lnSpc>
            </a:pP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例</a:t>
            </a:r>
            <a:r>
              <a:rPr lang="en-US" altLang="zh-CN" sz="2400" dirty="0">
                <a:latin typeface="Tahoma" panose="020B0604030504040204" pitchFamily="34" charset="0"/>
                <a:ea typeface="宋体" panose="02010600030101010101" pitchFamily="2" charset="-122"/>
              </a:rPr>
              <a:t>5-3】</a:t>
            </a:r>
            <a:r>
              <a:rPr lang="zh-CN" altLang="en-US" sz="2400" dirty="0">
                <a:latin typeface="Tahoma" panose="020B0604030504040204" pitchFamily="34" charset="0"/>
                <a:ea typeface="宋体" panose="02010600030101010101" pitchFamily="2" charset="-122"/>
              </a:rPr>
              <a:t>为</a:t>
            </a:r>
            <a:r>
              <a:rPr lang="en-US" altLang="zh-CN" sz="2400" dirty="0">
                <a:latin typeface="Tahoma" panose="020B0604030504040204" pitchFamily="34" charset="0"/>
                <a:ea typeface="宋体" panose="02010600030101010101" pitchFamily="2" charset="-122"/>
              </a:rPr>
              <a:t>SC</a:t>
            </a:r>
            <a:r>
              <a:rPr lang="zh-CN" altLang="en-US" sz="2400" dirty="0">
                <a:latin typeface="Tahoma" panose="020B0604030504040204" pitchFamily="34" charset="0"/>
                <a:ea typeface="宋体" panose="02010600030101010101" pitchFamily="2" charset="-122"/>
              </a:rPr>
              <a:t>表建立名为</a:t>
            </a:r>
            <a:r>
              <a:rPr lang="en-US" altLang="zh-CN" sz="2400" dirty="0" err="1">
                <a:latin typeface="Tahoma" panose="020B0604030504040204" pitchFamily="34" charset="0"/>
                <a:ea typeface="宋体" panose="02010600030101010101" pitchFamily="2" charset="-122"/>
              </a:rPr>
              <a:t>idx_sno</a:t>
            </a:r>
            <a:r>
              <a:rPr lang="zh-CN" altLang="en-US" sz="2400" dirty="0">
                <a:latin typeface="Tahoma" panose="020B0604030504040204" pitchFamily="34" charset="0"/>
                <a:ea typeface="宋体" panose="02010600030101010101" pitchFamily="2" charset="-122"/>
              </a:rPr>
              <a:t>的按</a:t>
            </a:r>
            <a:r>
              <a:rPr lang="en-US" altLang="zh-CN" sz="2400" dirty="0" err="1">
                <a:latin typeface="Tahoma" panose="020B0604030504040204" pitchFamily="34" charset="0"/>
                <a:ea typeface="宋体" panose="02010600030101010101" pitchFamily="2" charset="-122"/>
              </a:rPr>
              <a:t>sno</a:t>
            </a:r>
            <a:r>
              <a:rPr lang="zh-CN" altLang="en-US" sz="2400" dirty="0">
                <a:latin typeface="Tahoma" panose="020B0604030504040204" pitchFamily="34" charset="0"/>
                <a:ea typeface="宋体" panose="02010600030101010101" pitchFamily="2" charset="-122"/>
              </a:rPr>
              <a:t>字段降序排列的普通索引。</a:t>
            </a:r>
          </a:p>
          <a:p>
            <a:pPr>
              <a:lnSpc>
                <a:spcPct val="150000"/>
              </a:lnSpc>
              <a:buFontTx/>
              <a:buNone/>
            </a:pPr>
            <a:r>
              <a:rPr lang="en-US" altLang="zh-CN" sz="2400" dirty="0">
                <a:solidFill>
                  <a:srgbClr val="FF0000"/>
                </a:solidFill>
                <a:latin typeface="Tahoma" panose="020B0604030504040204" pitchFamily="34" charset="0"/>
                <a:ea typeface="宋体" panose="02010600030101010101" pitchFamily="2" charset="-122"/>
              </a:rPr>
              <a:t>CREATE INDEX </a:t>
            </a:r>
            <a:r>
              <a:rPr lang="en-US" altLang="zh-CN" sz="2400" dirty="0" err="1">
                <a:solidFill>
                  <a:srgbClr val="FF0000"/>
                </a:solidFill>
                <a:latin typeface="Tahoma" panose="020B0604030504040204" pitchFamily="34" charset="0"/>
                <a:ea typeface="宋体" panose="02010600030101010101" pitchFamily="2" charset="-122"/>
              </a:rPr>
              <a:t>idx_sno</a:t>
            </a:r>
            <a:r>
              <a:rPr lang="en-US" altLang="zh-CN" sz="2400" dirty="0">
                <a:solidFill>
                  <a:srgbClr val="FF0000"/>
                </a:solidFill>
                <a:latin typeface="Tahoma" panose="020B0604030504040204" pitchFamily="34" charset="0"/>
                <a:ea typeface="宋体" panose="02010600030101010101" pitchFamily="2" charset="-122"/>
              </a:rPr>
              <a:t> ON SC(</a:t>
            </a:r>
            <a:r>
              <a:rPr lang="en-US" altLang="zh-CN" sz="2400" dirty="0" err="1">
                <a:solidFill>
                  <a:srgbClr val="FF0000"/>
                </a:solidFill>
                <a:latin typeface="Tahoma" panose="020B0604030504040204" pitchFamily="34" charset="0"/>
                <a:ea typeface="宋体" panose="02010600030101010101" pitchFamily="2" charset="-122"/>
              </a:rPr>
              <a:t>sno</a:t>
            </a:r>
            <a:r>
              <a:rPr lang="en-US" altLang="zh-CN" sz="2400" dirty="0">
                <a:solidFill>
                  <a:srgbClr val="FF0000"/>
                </a:solidFill>
                <a:latin typeface="Tahoma" panose="020B0604030504040204" pitchFamily="34" charset="0"/>
                <a:ea typeface="宋体" panose="02010600030101010101" pitchFamily="2" charset="-122"/>
              </a:rPr>
              <a:t> DESC);</a:t>
            </a:r>
          </a:p>
          <a:p>
            <a:pPr>
              <a:lnSpc>
                <a:spcPct val="150000"/>
              </a:lnSpc>
              <a:buFontTx/>
              <a:buNone/>
            </a:pPr>
            <a:endParaRPr lang="en-US" altLang="zh-CN" sz="2400" dirty="0">
              <a:latin typeface="Tahoma" panose="020B0604030504040204" pitchFamily="34" charset="0"/>
              <a:ea typeface="宋体" panose="02010600030101010101" pitchFamily="2" charset="-122"/>
            </a:endParaRPr>
          </a:p>
          <a:p>
            <a:pPr>
              <a:lnSpc>
                <a:spcPct val="150000"/>
              </a:lnSpc>
            </a:pP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例</a:t>
            </a:r>
            <a:r>
              <a:rPr lang="en-US" altLang="zh-CN" sz="2400" dirty="0">
                <a:latin typeface="Tahoma" panose="020B0604030504040204" pitchFamily="34" charset="0"/>
                <a:ea typeface="宋体" panose="02010600030101010101" pitchFamily="2" charset="-122"/>
              </a:rPr>
              <a:t>5-4】</a:t>
            </a:r>
            <a:r>
              <a:rPr lang="zh-CN" altLang="en-US" sz="2400" dirty="0">
                <a:latin typeface="Tahoma" panose="020B0604030504040204" pitchFamily="34" charset="0"/>
                <a:ea typeface="宋体" panose="02010600030101010101" pitchFamily="2" charset="-122"/>
              </a:rPr>
              <a:t>以</a:t>
            </a:r>
            <a:r>
              <a:rPr lang="en-US" altLang="zh-CN" sz="2400" dirty="0" err="1">
                <a:latin typeface="Tahoma" panose="020B0604030504040204" pitchFamily="34" charset="0"/>
                <a:ea typeface="宋体" panose="02010600030101010101" pitchFamily="2" charset="-122"/>
              </a:rPr>
              <a:t>sno</a:t>
            </a:r>
            <a:r>
              <a:rPr lang="zh-CN" altLang="en-US" sz="2400" dirty="0">
                <a:latin typeface="Tahoma" panose="020B0604030504040204" pitchFamily="34" charset="0"/>
                <a:ea typeface="宋体" panose="02010600030101010101" pitchFamily="2" charset="-122"/>
              </a:rPr>
              <a:t>字段为</a:t>
            </a:r>
            <a:r>
              <a:rPr lang="en-US" altLang="zh-CN" sz="2400" dirty="0">
                <a:latin typeface="Tahoma" panose="020B0604030504040204" pitchFamily="34" charset="0"/>
                <a:ea typeface="宋体" panose="02010600030101010101" pitchFamily="2" charset="-122"/>
              </a:rPr>
              <a:t>S</a:t>
            </a:r>
            <a:r>
              <a:rPr lang="zh-CN" altLang="en-US" sz="2400" dirty="0">
                <a:latin typeface="Tahoma" panose="020B0604030504040204" pitchFamily="34" charset="0"/>
                <a:ea typeface="宋体" panose="02010600030101010101" pitchFamily="2" charset="-122"/>
              </a:rPr>
              <a:t>表建立名为</a:t>
            </a:r>
            <a:r>
              <a:rPr lang="en-US" altLang="zh-CN" sz="2400" dirty="0" err="1">
                <a:latin typeface="Tahoma" panose="020B0604030504040204" pitchFamily="34" charset="0"/>
                <a:ea typeface="宋体" panose="02010600030101010101" pitchFamily="2" charset="-122"/>
              </a:rPr>
              <a:t>uk_sno</a:t>
            </a:r>
            <a:r>
              <a:rPr lang="zh-CN" altLang="en-US" sz="2400" dirty="0">
                <a:latin typeface="Tahoma" panose="020B0604030504040204" pitchFamily="34" charset="0"/>
                <a:ea typeface="宋体" panose="02010600030101010101" pitchFamily="2" charset="-122"/>
              </a:rPr>
              <a:t>的唯一索引。</a:t>
            </a:r>
          </a:p>
          <a:p>
            <a:pPr>
              <a:lnSpc>
                <a:spcPct val="150000"/>
              </a:lnSpc>
              <a:buFontTx/>
              <a:buNone/>
            </a:pPr>
            <a:r>
              <a:rPr lang="en-US" altLang="zh-CN" sz="2400" dirty="0">
                <a:solidFill>
                  <a:srgbClr val="FF0000"/>
                </a:solidFill>
                <a:latin typeface="Tahoma" panose="020B0604030504040204" pitchFamily="34" charset="0"/>
                <a:ea typeface="宋体" panose="02010600030101010101" pitchFamily="2" charset="-122"/>
              </a:rPr>
              <a:t>CREATE UNIQUE INDEX </a:t>
            </a:r>
            <a:r>
              <a:rPr lang="en-US" altLang="zh-CN" sz="2400" dirty="0" err="1">
                <a:solidFill>
                  <a:srgbClr val="FF0000"/>
                </a:solidFill>
                <a:latin typeface="Tahoma" panose="020B0604030504040204" pitchFamily="34" charset="0"/>
                <a:ea typeface="宋体" panose="02010600030101010101" pitchFamily="2" charset="-122"/>
              </a:rPr>
              <a:t>uk_sno</a:t>
            </a:r>
            <a:r>
              <a:rPr lang="en-US" altLang="zh-CN" sz="2400" dirty="0">
                <a:solidFill>
                  <a:srgbClr val="FF0000"/>
                </a:solidFill>
                <a:latin typeface="Tahoma" panose="020B0604030504040204" pitchFamily="34" charset="0"/>
                <a:ea typeface="宋体" panose="02010600030101010101" pitchFamily="2" charset="-122"/>
              </a:rPr>
              <a:t> ON S(</a:t>
            </a:r>
            <a:r>
              <a:rPr lang="en-US" altLang="zh-CN" sz="2400" dirty="0" err="1">
                <a:solidFill>
                  <a:srgbClr val="FF0000"/>
                </a:solidFill>
                <a:latin typeface="Tahoma" panose="020B0604030504040204" pitchFamily="34" charset="0"/>
                <a:ea typeface="宋体" panose="02010600030101010101" pitchFamily="2" charset="-122"/>
              </a:rPr>
              <a:t>sno</a:t>
            </a:r>
            <a:r>
              <a:rPr lang="en-US" altLang="zh-CN" sz="2400" dirty="0">
                <a:solidFill>
                  <a:srgbClr val="FF0000"/>
                </a:solidFill>
                <a:latin typeface="Tahoma" panose="020B0604030504040204" pitchFamily="34" charset="0"/>
                <a:ea typeface="宋体" panose="02010600030101010101" pitchFamily="2" charset="-122"/>
              </a:rPr>
              <a:t>);</a:t>
            </a:r>
            <a:endParaRPr lang="zh-CN" altLang="en-US" sz="2400" dirty="0">
              <a:solidFill>
                <a:srgbClr val="FF0000"/>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51772629"/>
      </p:ext>
    </p:extLst>
  </p:cSld>
  <p:clrMapOvr>
    <a:masterClrMapping/>
  </p:clrMapOvr>
  <p:transition spd="slow">
    <p:wipe dir="r"/>
    <p:sndAc>
      <p:stSnd>
        <p:snd r:embed="rId2" name="arrow.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建立索引</a:t>
            </a:r>
            <a:endParaRPr lang="zh-CN" altLang="en-US" sz="4000" b="1" dirty="0">
              <a:solidFill>
                <a:srgbClr val="FFFFCC"/>
              </a:solidFill>
              <a:effectLst>
                <a:outerShdw blurRad="38100" dist="38100" dir="2700000" algn="tl">
                  <a:srgbClr val="000000"/>
                </a:outerShdw>
              </a:effectLst>
              <a:cs typeface="+mn-cs"/>
            </a:endParaRPr>
          </a:p>
        </p:txBody>
      </p:sp>
      <p:sp>
        <p:nvSpPr>
          <p:cNvPr id="5" name="Rectangle 3">
            <a:extLst>
              <a:ext uri="{FF2B5EF4-FFF2-40B4-BE49-F238E27FC236}">
                <a16:creationId xmlns:a16="http://schemas.microsoft.com/office/drawing/2014/main" id="{D9F6A76C-484C-4A3F-ACC1-5CC12EDD3D17}"/>
              </a:ext>
            </a:extLst>
          </p:cNvPr>
          <p:cNvSpPr txBox="1">
            <a:spLocks noChangeArrowheads="1"/>
          </p:cNvSpPr>
          <p:nvPr/>
        </p:nvSpPr>
        <p:spPr bwMode="auto">
          <a:xfrm>
            <a:off x="817779" y="-171400"/>
            <a:ext cx="9781653" cy="4549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lvl="0" eaLnBrk="1" hangingPunct="1">
              <a:lnSpc>
                <a:spcPct val="120000"/>
              </a:lnSpc>
              <a:spcAft>
                <a:spcPct val="0"/>
              </a:spcAft>
              <a:buNone/>
              <a:defRPr/>
            </a:pPr>
            <a:endParaRPr kumimoji="0" lang="en-US" altLang="en-US" sz="3600" dirty="0">
              <a:latin typeface="Arial" charset="0"/>
            </a:endParaRPr>
          </a:p>
        </p:txBody>
      </p:sp>
      <p:sp>
        <p:nvSpPr>
          <p:cNvPr id="6" name="Rectangle 4">
            <a:extLst>
              <a:ext uri="{FF2B5EF4-FFF2-40B4-BE49-F238E27FC236}">
                <a16:creationId xmlns:a16="http://schemas.microsoft.com/office/drawing/2014/main" id="{D8EBCD18-87F7-4EB2-9EE7-492BB8BF5E18}"/>
              </a:ext>
            </a:extLst>
          </p:cNvPr>
          <p:cNvSpPr>
            <a:spLocks noChangeArrowheads="1"/>
          </p:cNvSpPr>
          <p:nvPr/>
        </p:nvSpPr>
        <p:spPr bwMode="auto">
          <a:xfrm>
            <a:off x="849684" y="1556792"/>
            <a:ext cx="10549114" cy="487362"/>
          </a:xfrm>
          <a:prstGeom prst="rect">
            <a:avLst/>
          </a:prstGeom>
          <a:noFill/>
          <a:ln w="12700" cap="sq">
            <a:noFill/>
            <a:miter lim="800000"/>
            <a:headEnd/>
            <a:tailEnd/>
          </a:ln>
          <a:effectLst/>
        </p:spPr>
        <p:txBody>
          <a:bodyPr lIns="0" tIns="0" rIns="0" bIns="0"/>
          <a:lstStyle/>
          <a:p>
            <a:pPr marL="185738" indent="-185738" fontAlgn="auto">
              <a:spcBef>
                <a:spcPts val="0"/>
              </a:spcBef>
              <a:spcAft>
                <a:spcPts val="1200"/>
              </a:spcAft>
              <a:buClr>
                <a:srgbClr val="FFFFFF"/>
              </a:buClr>
              <a:buSzTx/>
              <a:buFontTx/>
              <a:buChar char="•"/>
              <a:defRPr/>
            </a:pPr>
            <a:r>
              <a:rPr kumimoji="0" lang="en-US" altLang="zh-CN" sz="3200" kern="0" dirty="0">
                <a:solidFill>
                  <a:srgbClr val="99FF66"/>
                </a:solidFill>
                <a:effectLst>
                  <a:outerShdw blurRad="38100" dist="38100" dir="2700000" algn="tl">
                    <a:srgbClr val="000000"/>
                  </a:outerShdw>
                </a:effectLst>
                <a:latin typeface="Franklin Gothic Book"/>
                <a:ea typeface="黑体" panose="02010609060101010101" pitchFamily="49" charset="-122"/>
              </a:rPr>
              <a:t>UNIQUE</a:t>
            </a: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表明建立</a:t>
            </a:r>
            <a:r>
              <a:rPr kumimoji="0" lang="zh-CN" altLang="en-US" sz="3200" kern="0" dirty="0">
                <a:solidFill>
                  <a:srgbClr val="99FF66"/>
                </a:solidFill>
                <a:effectLst>
                  <a:outerShdw blurRad="38100" dist="38100" dir="2700000" algn="tl">
                    <a:srgbClr val="000000"/>
                  </a:outerShdw>
                </a:effectLst>
                <a:latin typeface="Franklin Gothic Book"/>
                <a:ea typeface="黑体" panose="02010609060101010101" pitchFamily="49" charset="-122"/>
              </a:rPr>
              <a:t>唯一索引</a:t>
            </a: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，即每一个索引值只对应唯一的数据记录。</a:t>
            </a:r>
            <a:endParaRPr kumimoji="0" lang="en-US" altLang="zh-CN" sz="3200" kern="0" dirty="0">
              <a:solidFill>
                <a:prstClr val="white"/>
              </a:solidFill>
              <a:effectLst>
                <a:outerShdw blurRad="38100" dist="38100" dir="2700000" algn="tl">
                  <a:srgbClr val="000000"/>
                </a:outerShdw>
              </a:effectLst>
              <a:latin typeface="Franklin Gothic Book"/>
              <a:ea typeface="黑体" panose="02010609060101010101" pitchFamily="49" charset="-122"/>
            </a:endParaRPr>
          </a:p>
          <a:p>
            <a:pPr marL="185738" indent="-185738" fontAlgn="auto">
              <a:spcBef>
                <a:spcPts val="0"/>
              </a:spcBef>
              <a:spcAft>
                <a:spcPts val="1200"/>
              </a:spcAft>
              <a:buClr>
                <a:srgbClr val="FFFFFF"/>
              </a:buClr>
              <a:buSzTx/>
              <a:buFontTx/>
              <a:buChar char="•"/>
              <a:defRPr/>
            </a:pPr>
            <a:r>
              <a:rPr kumimoji="0" lang="en-US" altLang="zh-CN" sz="3200" kern="0" dirty="0">
                <a:solidFill>
                  <a:srgbClr val="99FF66"/>
                </a:solidFill>
                <a:effectLst>
                  <a:outerShdw blurRad="38100" dist="38100" dir="2700000" algn="tl">
                    <a:srgbClr val="000000"/>
                  </a:outerShdw>
                </a:effectLst>
                <a:latin typeface="Franklin Gothic Book"/>
                <a:ea typeface="黑体" panose="02010609060101010101" pitchFamily="49" charset="-122"/>
              </a:rPr>
              <a:t>FULLTEXT</a:t>
            </a: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表示建立</a:t>
            </a:r>
            <a:r>
              <a:rPr kumimoji="0" lang="zh-CN" altLang="en-US" sz="3200" kern="0" dirty="0">
                <a:solidFill>
                  <a:srgbClr val="99FF66"/>
                </a:solidFill>
                <a:effectLst>
                  <a:outerShdw blurRad="38100" dist="38100" dir="2700000" algn="tl">
                    <a:srgbClr val="000000"/>
                  </a:outerShdw>
                </a:effectLst>
                <a:latin typeface="Franklin Gothic Book"/>
                <a:ea typeface="黑体" panose="02010609060101010101" pitchFamily="49" charset="-122"/>
              </a:rPr>
              <a:t>全文索引</a:t>
            </a: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a:t>
            </a:r>
            <a:endParaRPr kumimoji="0" lang="en-US" altLang="zh-CN" sz="3200" kern="0" dirty="0">
              <a:solidFill>
                <a:prstClr val="white"/>
              </a:solidFill>
              <a:effectLst>
                <a:outerShdw blurRad="38100" dist="38100" dir="2700000" algn="tl">
                  <a:srgbClr val="000000"/>
                </a:outerShdw>
              </a:effectLst>
              <a:latin typeface="Franklin Gothic Book"/>
              <a:ea typeface="黑体" panose="02010609060101010101" pitchFamily="49" charset="-122"/>
            </a:endParaRPr>
          </a:p>
          <a:p>
            <a:pPr marL="185738" indent="-185738" fontAlgn="auto">
              <a:spcBef>
                <a:spcPts val="0"/>
              </a:spcBef>
              <a:spcAft>
                <a:spcPts val="1200"/>
              </a:spcAft>
              <a:buClr>
                <a:srgbClr val="FFFFFF"/>
              </a:buClr>
              <a:buSzTx/>
              <a:buFontTx/>
              <a:buChar char="•"/>
              <a:defRPr/>
            </a:pPr>
            <a:r>
              <a:rPr kumimoji="0" lang="en-US" altLang="zh-CN" sz="3200" kern="0" dirty="0">
                <a:solidFill>
                  <a:srgbClr val="99FF66"/>
                </a:solidFill>
                <a:effectLst>
                  <a:outerShdw blurRad="38100" dist="38100" dir="2700000" algn="tl">
                    <a:srgbClr val="000000"/>
                  </a:outerShdw>
                </a:effectLst>
                <a:latin typeface="Franklin Gothic Book"/>
                <a:ea typeface="黑体" panose="02010609060101010101" pitchFamily="49" charset="-122"/>
              </a:rPr>
              <a:t>SPATIAL</a:t>
            </a: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表示建立</a:t>
            </a:r>
            <a:r>
              <a:rPr kumimoji="0" lang="zh-CN" altLang="en-US" sz="3200" kern="0" dirty="0">
                <a:solidFill>
                  <a:srgbClr val="99FF66"/>
                </a:solidFill>
                <a:effectLst>
                  <a:outerShdw blurRad="38100" dist="38100" dir="2700000" algn="tl">
                    <a:srgbClr val="000000"/>
                  </a:outerShdw>
                </a:effectLst>
                <a:latin typeface="Franklin Gothic Book"/>
                <a:ea typeface="黑体" panose="02010609060101010101" pitchFamily="49" charset="-122"/>
              </a:rPr>
              <a:t>空间索引</a:t>
            </a: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a:t>
            </a:r>
            <a:endParaRPr kumimoji="0" lang="en-US" altLang="zh-CN" sz="3200" kern="0" dirty="0">
              <a:solidFill>
                <a:prstClr val="white"/>
              </a:solidFill>
              <a:effectLst>
                <a:outerShdw blurRad="38100" dist="38100" dir="2700000" algn="tl">
                  <a:srgbClr val="000000"/>
                </a:outerShdw>
              </a:effectLst>
              <a:latin typeface="Franklin Gothic Book"/>
              <a:ea typeface="黑体" panose="02010609060101010101" pitchFamily="49" charset="-122"/>
            </a:endParaRPr>
          </a:p>
          <a:p>
            <a:pPr marL="185738" indent="-185738" fontAlgn="auto">
              <a:spcBef>
                <a:spcPts val="0"/>
              </a:spcBef>
              <a:spcAft>
                <a:spcPts val="1200"/>
              </a:spcAft>
              <a:buClr>
                <a:srgbClr val="FFFFFF"/>
              </a:buClr>
              <a:buSzTx/>
              <a:buFontTx/>
              <a:buChar char="•"/>
              <a:defRPr/>
            </a:pP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长度默认为整个字段值</a:t>
            </a:r>
            <a:endParaRPr kumimoji="0" lang="en-US" altLang="zh-CN" sz="3200" kern="0" dirty="0">
              <a:solidFill>
                <a:prstClr val="white"/>
              </a:solidFill>
              <a:effectLst>
                <a:outerShdw blurRad="38100" dist="38100" dir="2700000" algn="tl">
                  <a:srgbClr val="000000"/>
                </a:outerShdw>
              </a:effectLst>
              <a:latin typeface="Franklin Gothic Book"/>
              <a:ea typeface="黑体" panose="02010609060101010101" pitchFamily="49" charset="-122"/>
            </a:endParaRPr>
          </a:p>
          <a:p>
            <a:pPr marL="185738" indent="-185738" fontAlgn="auto">
              <a:spcBef>
                <a:spcPts val="0"/>
              </a:spcBef>
              <a:spcAft>
                <a:spcPts val="1200"/>
              </a:spcAft>
              <a:buClr>
                <a:srgbClr val="FFFFFF"/>
              </a:buClr>
              <a:buSzTx/>
              <a:buFontTx/>
              <a:buChar char="•"/>
              <a:defRPr/>
            </a:pP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次序可取</a:t>
            </a:r>
            <a:r>
              <a:rPr kumimoji="0" lang="en-US" altLang="zh-CN" sz="3200" kern="0" dirty="0">
                <a:solidFill>
                  <a:srgbClr val="99FF66"/>
                </a:solidFill>
                <a:effectLst>
                  <a:outerShdw blurRad="38100" dist="38100" dir="2700000" algn="tl">
                    <a:srgbClr val="000000"/>
                  </a:outerShdw>
                </a:effectLst>
                <a:latin typeface="Franklin Gothic Book"/>
                <a:ea typeface="黑体" panose="02010609060101010101" pitchFamily="49" charset="-122"/>
              </a:rPr>
              <a:t>ASC</a:t>
            </a:r>
            <a:r>
              <a:rPr kumimoji="0" lang="en-US" altLang="zh-CN" sz="3200" kern="0" dirty="0">
                <a:solidFill>
                  <a:prstClr val="white"/>
                </a:solidFill>
                <a:effectLst>
                  <a:outerShdw blurRad="38100" dist="38100" dir="2700000" algn="tl">
                    <a:srgbClr val="000000"/>
                  </a:outerShdw>
                </a:effectLst>
                <a:latin typeface="Franklin Gothic Book"/>
                <a:ea typeface="黑体" panose="02010609060101010101" pitchFamily="49" charset="-122"/>
              </a:rPr>
              <a:t>(</a:t>
            </a: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升序)或</a:t>
            </a:r>
            <a:r>
              <a:rPr kumimoji="0" lang="en-US" altLang="zh-CN" sz="3200" kern="0" dirty="0">
                <a:solidFill>
                  <a:srgbClr val="99FF66"/>
                </a:solidFill>
                <a:effectLst>
                  <a:outerShdw blurRad="38100" dist="38100" dir="2700000" algn="tl">
                    <a:srgbClr val="000000"/>
                  </a:outerShdw>
                </a:effectLst>
                <a:latin typeface="Franklin Gothic Book"/>
                <a:ea typeface="黑体" panose="02010609060101010101" pitchFamily="49" charset="-122"/>
              </a:rPr>
              <a:t>DESC</a:t>
            </a:r>
            <a:r>
              <a:rPr kumimoji="0" lang="en-US" altLang="zh-CN" sz="3200" kern="0" dirty="0">
                <a:solidFill>
                  <a:prstClr val="white"/>
                </a:solidFill>
                <a:effectLst>
                  <a:outerShdw blurRad="38100" dist="38100" dir="2700000" algn="tl">
                    <a:srgbClr val="000000"/>
                  </a:outerShdw>
                </a:effectLst>
                <a:latin typeface="Franklin Gothic Book"/>
                <a:ea typeface="黑体" panose="02010609060101010101" pitchFamily="49" charset="-122"/>
              </a:rPr>
              <a:t>(</a:t>
            </a:r>
            <a:r>
              <a:rPr kumimoji="0" lang="zh-CN" altLang="en-US" sz="3200" kern="0" dirty="0">
                <a:solidFill>
                  <a:prstClr val="white"/>
                </a:solidFill>
                <a:effectLst>
                  <a:outerShdw blurRad="38100" dist="38100" dir="2700000" algn="tl">
                    <a:srgbClr val="000000"/>
                  </a:outerShdw>
                </a:effectLst>
                <a:latin typeface="Franklin Gothic Book"/>
                <a:ea typeface="黑体" panose="02010609060101010101" pitchFamily="49" charset="-122"/>
              </a:rPr>
              <a:t>降序)，缺省为</a:t>
            </a:r>
            <a:r>
              <a:rPr kumimoji="0" lang="en-US" altLang="zh-CN" sz="3200" kern="0" dirty="0">
                <a:solidFill>
                  <a:prstClr val="white"/>
                </a:solidFill>
                <a:effectLst>
                  <a:outerShdw blurRad="38100" dist="38100" dir="2700000" algn="tl">
                    <a:srgbClr val="000000"/>
                  </a:outerShdw>
                </a:effectLst>
                <a:latin typeface="Franklin Gothic Book"/>
                <a:ea typeface="黑体" panose="02010609060101010101" pitchFamily="49" charset="-122"/>
              </a:rPr>
              <a:t>ASC。</a:t>
            </a:r>
          </a:p>
        </p:txBody>
      </p:sp>
    </p:spTree>
    <p:extLst>
      <p:ext uri="{BB962C8B-B14F-4D97-AF65-F5344CB8AC3E}">
        <p14:creationId xmlns:p14="http://schemas.microsoft.com/office/powerpoint/2010/main" val="1539405670"/>
      </p:ext>
    </p:extLst>
  </p:cSld>
  <p:clrMapOvr>
    <a:masterClrMapping/>
  </p:clrMapOvr>
  <mc:AlternateContent xmlns:mc="http://schemas.openxmlformats.org/markup-compatibility/2006">
    <mc:Choice xmlns="" xmlns:p159="http://schemas.microsoft.com/office/powerpoint/2015/09/main" Requires="p159">
      <p:transition spd="slow">
        <p159:morph option="byObject"/>
        <p:sndAc>
          <p:stSnd>
            <p:snd r:embed="rId4" name="arrow.wav"/>
          </p:stSnd>
        </p:sndAc>
      </p:transition>
    </mc:Choice>
    <mc:Fallback>
      <p:transition spd="slow">
        <p:fade/>
        <p:sndAc>
          <p:stSnd>
            <p:snd r:embed="rId2" name="arrow.wav"/>
          </p:stSnd>
        </p:sndAc>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建立索引</a:t>
            </a:r>
            <a:endParaRPr lang="zh-CN" altLang="en-US" sz="4000" b="1" dirty="0">
              <a:solidFill>
                <a:srgbClr val="FFFFCC"/>
              </a:solidFill>
              <a:effectLst>
                <a:outerShdw blurRad="38100" dist="38100" dir="2700000" algn="tl">
                  <a:srgbClr val="000000"/>
                </a:outerShdw>
              </a:effectLst>
              <a:cs typeface="+mn-cs"/>
            </a:endParaRPr>
          </a:p>
        </p:txBody>
      </p:sp>
      <p:sp>
        <p:nvSpPr>
          <p:cNvPr id="8" name="Rectangle 3">
            <a:extLst>
              <a:ext uri="{FF2B5EF4-FFF2-40B4-BE49-F238E27FC236}">
                <a16:creationId xmlns:a16="http://schemas.microsoft.com/office/drawing/2014/main" id="{4CD242CE-09C6-4C04-804D-F45D1B3BC4EE}"/>
              </a:ext>
            </a:extLst>
          </p:cNvPr>
          <p:cNvSpPr txBox="1">
            <a:spLocks noChangeArrowheads="1"/>
          </p:cNvSpPr>
          <p:nvPr/>
        </p:nvSpPr>
        <p:spPr bwMode="auto">
          <a:xfrm>
            <a:off x="835905" y="1052736"/>
            <a:ext cx="9928147" cy="5197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15000"/>
              </a:spcAft>
              <a:buNone/>
              <a:defRPr/>
            </a:pPr>
            <a:r>
              <a:rPr kumimoji="0" lang="zh-CN" altLang="en-US" kern="0" dirty="0">
                <a:solidFill>
                  <a:srgbClr val="66FF66"/>
                </a:solidFill>
                <a:latin typeface="+mj-ea"/>
                <a:ea typeface="+mj-ea"/>
              </a:rPr>
              <a:t>为</a:t>
            </a:r>
            <a:r>
              <a:rPr kumimoji="0" lang="en-US" altLang="zh-CN" kern="0" dirty="0">
                <a:solidFill>
                  <a:srgbClr val="66FF66"/>
                </a:solidFill>
                <a:latin typeface="+mj-ea"/>
                <a:ea typeface="+mj-ea"/>
              </a:rPr>
              <a:t>T</a:t>
            </a:r>
            <a:r>
              <a:rPr kumimoji="0" lang="en-US" altLang="zh-CN" kern="0" dirty="0" err="1">
                <a:solidFill>
                  <a:srgbClr val="66FF66"/>
                </a:solidFill>
                <a:latin typeface="+mj-ea"/>
                <a:ea typeface="+mj-ea"/>
              </a:rPr>
              <a:t>eacher</a:t>
            </a:r>
            <a:r>
              <a:rPr kumimoji="0" lang="zh-CN" altLang="en-US" kern="0" dirty="0">
                <a:solidFill>
                  <a:srgbClr val="66FF66"/>
                </a:solidFill>
                <a:latin typeface="+mj-ea"/>
                <a:ea typeface="+mj-ea"/>
              </a:rPr>
              <a:t>表建立按工号升序排列的单列唯一索引</a:t>
            </a:r>
            <a:r>
              <a:rPr kumimoji="0" lang="en-US" altLang="zh-CN" kern="0" dirty="0" err="1">
                <a:solidFill>
                  <a:srgbClr val="66FF66"/>
                </a:solidFill>
                <a:latin typeface="+mj-ea"/>
                <a:ea typeface="+mj-ea"/>
              </a:rPr>
              <a:t>idxGH</a:t>
            </a:r>
            <a:r>
              <a:rPr kumimoji="0" lang="zh-CN" altLang="en-US" kern="0" dirty="0">
                <a:solidFill>
                  <a:srgbClr val="66FF66"/>
                </a:solidFill>
                <a:latin typeface="+mj-ea"/>
                <a:ea typeface="+mj-ea"/>
              </a:rPr>
              <a:t>：</a:t>
            </a:r>
          </a:p>
          <a:p>
            <a:pPr lvl="0" eaLnBrk="1" hangingPunct="1">
              <a:spcAft>
                <a:spcPct val="15000"/>
              </a:spcAft>
              <a:buNone/>
              <a:defRPr/>
            </a:pPr>
            <a:r>
              <a:rPr lang="en-US" altLang="zh-CN" sz="3200" b="1" kern="0" dirty="0">
                <a:solidFill>
                  <a:srgbClr val="FFCC00"/>
                </a:solidFill>
                <a:latin typeface="+mj-ea"/>
                <a:ea typeface="+mj-ea"/>
              </a:rPr>
              <a:t>CREATE</a:t>
            </a:r>
            <a:r>
              <a:rPr lang="en-US" altLang="zh-CN" sz="3200" kern="0" dirty="0">
                <a:solidFill>
                  <a:srgbClr val="FFFFCC"/>
                </a:solidFill>
                <a:latin typeface="+mj-ea"/>
                <a:ea typeface="+mj-ea"/>
              </a:rPr>
              <a:t> UNIQUE </a:t>
            </a:r>
            <a:r>
              <a:rPr lang="en-US" altLang="zh-CN" sz="3200" b="1" kern="0" dirty="0">
                <a:solidFill>
                  <a:srgbClr val="FFCC00"/>
                </a:solidFill>
                <a:latin typeface="+mj-ea"/>
                <a:ea typeface="+mj-ea"/>
              </a:rPr>
              <a:t>INDEX</a:t>
            </a:r>
            <a:r>
              <a:rPr lang="en-US" altLang="zh-CN" sz="3200" kern="0" dirty="0">
                <a:solidFill>
                  <a:srgbClr val="FFFFCC"/>
                </a:solidFill>
                <a:latin typeface="+mj-ea"/>
                <a:ea typeface="+mj-ea"/>
              </a:rPr>
              <a:t> </a:t>
            </a:r>
            <a:r>
              <a:rPr lang="en-US" altLang="zh-CN" sz="3200" kern="0" dirty="0" err="1">
                <a:solidFill>
                  <a:srgbClr val="FFFFCC"/>
                </a:solidFill>
                <a:latin typeface="+mj-ea"/>
                <a:ea typeface="+mj-ea"/>
              </a:rPr>
              <a:t>idxGH</a:t>
            </a:r>
            <a:r>
              <a:rPr lang="en-US" altLang="zh-CN" sz="3200" kern="0" dirty="0">
                <a:solidFill>
                  <a:srgbClr val="FFFFCC"/>
                </a:solidFill>
                <a:latin typeface="+mj-ea"/>
                <a:ea typeface="+mj-ea"/>
              </a:rPr>
              <a:t>  </a:t>
            </a:r>
          </a:p>
          <a:p>
            <a:pPr lvl="0" eaLnBrk="1" hangingPunct="1">
              <a:spcAft>
                <a:spcPct val="15000"/>
              </a:spcAft>
              <a:buNone/>
              <a:defRPr/>
            </a:pPr>
            <a:r>
              <a:rPr lang="en-US" altLang="zh-CN" sz="3200" kern="0" dirty="0">
                <a:solidFill>
                  <a:srgbClr val="FFFFCC"/>
                </a:solidFill>
                <a:latin typeface="+mj-ea"/>
                <a:ea typeface="+mj-ea"/>
              </a:rPr>
              <a:t>    </a:t>
            </a:r>
            <a:r>
              <a:rPr lang="en-US" altLang="zh-CN" sz="3200" b="1" kern="0" dirty="0">
                <a:solidFill>
                  <a:srgbClr val="FFCC00"/>
                </a:solidFill>
                <a:latin typeface="+mj-ea"/>
                <a:ea typeface="+mj-ea"/>
              </a:rPr>
              <a:t>ON</a:t>
            </a:r>
            <a:r>
              <a:rPr lang="en-US" altLang="zh-CN" sz="3200" kern="0" dirty="0">
                <a:solidFill>
                  <a:srgbClr val="FFFFCC"/>
                </a:solidFill>
                <a:latin typeface="+mj-ea"/>
                <a:ea typeface="+mj-ea"/>
              </a:rPr>
              <a:t> Teacher(</a:t>
            </a:r>
            <a:r>
              <a:rPr lang="zh-CN" altLang="en-US" sz="3200" kern="0" dirty="0">
                <a:solidFill>
                  <a:srgbClr val="FFFFCC"/>
                </a:solidFill>
                <a:latin typeface="+mj-ea"/>
                <a:ea typeface="+mj-ea"/>
              </a:rPr>
              <a:t>工号)；</a:t>
            </a:r>
            <a:endParaRPr kumimoji="0" lang="en-US" altLang="zh-CN" sz="3200" kern="0" dirty="0">
              <a:solidFill>
                <a:srgbClr val="FFFFCC"/>
              </a:solidFill>
              <a:latin typeface="+mj-ea"/>
              <a:ea typeface="+mj-ea"/>
            </a:endParaRPr>
          </a:p>
          <a:p>
            <a:pPr eaLnBrk="1" hangingPunct="1">
              <a:spcBef>
                <a:spcPts val="2400"/>
              </a:spcBef>
              <a:spcAft>
                <a:spcPct val="15000"/>
              </a:spcAft>
              <a:buNone/>
              <a:defRPr/>
            </a:pPr>
            <a:r>
              <a:rPr kumimoji="0" lang="zh-CN" altLang="en-US" kern="0" dirty="0">
                <a:solidFill>
                  <a:srgbClr val="66FF66"/>
                </a:solidFill>
                <a:latin typeface="+mj-ea"/>
                <a:ea typeface="+mj-ea"/>
              </a:rPr>
              <a:t>为</a:t>
            </a:r>
            <a:r>
              <a:rPr kumimoji="0" lang="en-US" altLang="zh-CN" kern="0" dirty="0">
                <a:solidFill>
                  <a:srgbClr val="66FF66"/>
                </a:solidFill>
                <a:latin typeface="+mj-ea"/>
                <a:ea typeface="+mj-ea"/>
              </a:rPr>
              <a:t>Teacher</a:t>
            </a:r>
            <a:r>
              <a:rPr kumimoji="0" lang="zh-CN" altLang="en-US" kern="0" dirty="0">
                <a:solidFill>
                  <a:srgbClr val="66FF66"/>
                </a:solidFill>
                <a:latin typeface="+mj-ea"/>
                <a:ea typeface="+mj-ea"/>
              </a:rPr>
              <a:t>表建立按姓名降序排列的普通单列索引</a:t>
            </a:r>
            <a:r>
              <a:rPr kumimoji="0" lang="en-US" altLang="zh-CN" kern="0" dirty="0" err="1">
                <a:solidFill>
                  <a:srgbClr val="66FF66"/>
                </a:solidFill>
                <a:latin typeface="+mj-ea"/>
                <a:ea typeface="+mj-ea"/>
              </a:rPr>
              <a:t>idxXM</a:t>
            </a:r>
            <a:r>
              <a:rPr kumimoji="0" lang="zh-CN" altLang="en-US" kern="0" dirty="0">
                <a:solidFill>
                  <a:srgbClr val="66FF66"/>
                </a:solidFill>
                <a:latin typeface="+mj-ea"/>
                <a:ea typeface="+mj-ea"/>
              </a:rPr>
              <a:t>：</a:t>
            </a:r>
          </a:p>
          <a:p>
            <a:pPr eaLnBrk="1" hangingPunct="1">
              <a:spcAft>
                <a:spcPct val="15000"/>
              </a:spcAft>
              <a:buNone/>
              <a:defRPr/>
            </a:pPr>
            <a:r>
              <a:rPr lang="en-US" altLang="zh-CN" sz="3200" b="1" kern="0" dirty="0">
                <a:solidFill>
                  <a:srgbClr val="FFCC00"/>
                </a:solidFill>
                <a:latin typeface="+mj-ea"/>
                <a:ea typeface="+mj-ea"/>
              </a:rPr>
              <a:t>CREATE</a:t>
            </a:r>
            <a:r>
              <a:rPr lang="en-US" altLang="zh-CN" sz="3200" kern="0" dirty="0">
                <a:solidFill>
                  <a:srgbClr val="FFFFCC"/>
                </a:solidFill>
                <a:latin typeface="+mj-ea"/>
                <a:ea typeface="+mj-ea"/>
              </a:rPr>
              <a:t> </a:t>
            </a:r>
            <a:r>
              <a:rPr lang="en-US" altLang="zh-CN" sz="3200" b="1" kern="0" dirty="0">
                <a:solidFill>
                  <a:srgbClr val="FFCC00"/>
                </a:solidFill>
                <a:latin typeface="+mj-ea"/>
                <a:ea typeface="+mj-ea"/>
              </a:rPr>
              <a:t>INDEX</a:t>
            </a:r>
            <a:r>
              <a:rPr lang="en-US" altLang="zh-CN" sz="3200" kern="0" dirty="0">
                <a:solidFill>
                  <a:srgbClr val="FFFFCC"/>
                </a:solidFill>
                <a:latin typeface="+mj-ea"/>
                <a:ea typeface="+mj-ea"/>
              </a:rPr>
              <a:t> </a:t>
            </a:r>
            <a:r>
              <a:rPr lang="en-US" altLang="zh-CN" sz="3200" kern="0" dirty="0" err="1">
                <a:solidFill>
                  <a:srgbClr val="FFFFCC"/>
                </a:solidFill>
                <a:latin typeface="+mj-ea"/>
                <a:ea typeface="+mj-ea"/>
              </a:rPr>
              <a:t>idxXM</a:t>
            </a:r>
            <a:r>
              <a:rPr lang="en-US" altLang="zh-CN" sz="3200" kern="0" dirty="0">
                <a:solidFill>
                  <a:srgbClr val="FFFFCC"/>
                </a:solidFill>
                <a:latin typeface="+mj-ea"/>
                <a:ea typeface="+mj-ea"/>
              </a:rPr>
              <a:t>  </a:t>
            </a:r>
          </a:p>
          <a:p>
            <a:pPr eaLnBrk="1" hangingPunct="1">
              <a:spcAft>
                <a:spcPct val="15000"/>
              </a:spcAft>
              <a:buNone/>
              <a:defRPr/>
            </a:pPr>
            <a:r>
              <a:rPr lang="en-US" altLang="zh-CN" sz="3200" kern="0" dirty="0">
                <a:solidFill>
                  <a:srgbClr val="FFFFCC"/>
                </a:solidFill>
                <a:latin typeface="+mj-ea"/>
                <a:ea typeface="+mj-ea"/>
              </a:rPr>
              <a:t>    </a:t>
            </a:r>
            <a:r>
              <a:rPr lang="en-US" altLang="zh-CN" sz="3200" b="1" kern="0" dirty="0">
                <a:solidFill>
                  <a:srgbClr val="FFCC00"/>
                </a:solidFill>
                <a:latin typeface="+mj-ea"/>
                <a:ea typeface="+mj-ea"/>
              </a:rPr>
              <a:t>ON</a:t>
            </a:r>
            <a:r>
              <a:rPr lang="en-US" altLang="zh-CN" sz="3200" kern="0" dirty="0">
                <a:solidFill>
                  <a:srgbClr val="FFFFCC"/>
                </a:solidFill>
                <a:latin typeface="+mj-ea"/>
                <a:ea typeface="+mj-ea"/>
              </a:rPr>
              <a:t> Teacher(</a:t>
            </a:r>
            <a:r>
              <a:rPr lang="zh-CN" altLang="en-US" sz="3200" kern="0" dirty="0">
                <a:solidFill>
                  <a:srgbClr val="FFFFCC"/>
                </a:solidFill>
                <a:latin typeface="+mj-ea"/>
                <a:ea typeface="+mj-ea"/>
              </a:rPr>
              <a:t>姓名 </a:t>
            </a:r>
            <a:r>
              <a:rPr lang="en-US" altLang="zh-CN" sz="3200" kern="0" dirty="0">
                <a:solidFill>
                  <a:srgbClr val="FFFFCC"/>
                </a:solidFill>
                <a:latin typeface="+mj-ea"/>
                <a:ea typeface="+mj-ea"/>
              </a:rPr>
              <a:t>DESC)</a:t>
            </a:r>
            <a:r>
              <a:rPr lang="zh-CN" altLang="en-US" sz="3200" kern="0" dirty="0">
                <a:solidFill>
                  <a:srgbClr val="FFFFCC"/>
                </a:solidFill>
                <a:latin typeface="+mj-ea"/>
                <a:ea typeface="+mj-ea"/>
              </a:rPr>
              <a:t>；</a:t>
            </a:r>
            <a:endParaRPr kumimoji="0" lang="en-US" altLang="zh-CN" sz="3200" kern="0" dirty="0">
              <a:solidFill>
                <a:srgbClr val="FFFFCC"/>
              </a:solidFill>
              <a:latin typeface="+mj-ea"/>
              <a:ea typeface="+mj-ea"/>
            </a:endParaRPr>
          </a:p>
          <a:p>
            <a:pPr eaLnBrk="1" hangingPunct="1">
              <a:spcBef>
                <a:spcPts val="2400"/>
              </a:spcBef>
              <a:spcAft>
                <a:spcPct val="15000"/>
              </a:spcAft>
              <a:buNone/>
              <a:defRPr/>
            </a:pPr>
            <a:r>
              <a:rPr kumimoji="0" lang="zh-CN" altLang="en-US" kern="0" dirty="0">
                <a:solidFill>
                  <a:srgbClr val="66FF66"/>
                </a:solidFill>
                <a:latin typeface="+mj-ea"/>
                <a:ea typeface="+mj-ea"/>
              </a:rPr>
              <a:t>建立按工号升序，姓名降序排列的普通多列索引：</a:t>
            </a:r>
          </a:p>
          <a:p>
            <a:pPr eaLnBrk="1" hangingPunct="1">
              <a:spcAft>
                <a:spcPct val="15000"/>
              </a:spcAft>
              <a:buNone/>
              <a:defRPr/>
            </a:pPr>
            <a:r>
              <a:rPr lang="en-US" altLang="zh-CN" sz="3200" b="1" kern="0" dirty="0">
                <a:solidFill>
                  <a:srgbClr val="FFCC00"/>
                </a:solidFill>
                <a:latin typeface="+mj-ea"/>
                <a:ea typeface="+mj-ea"/>
              </a:rPr>
              <a:t>CREATE INDEX</a:t>
            </a:r>
            <a:r>
              <a:rPr lang="en-US" altLang="zh-CN" sz="3200" kern="0" dirty="0">
                <a:solidFill>
                  <a:srgbClr val="FFFFCC"/>
                </a:solidFill>
                <a:latin typeface="+mj-ea"/>
                <a:ea typeface="+mj-ea"/>
              </a:rPr>
              <a:t> </a:t>
            </a:r>
            <a:r>
              <a:rPr lang="en-US" altLang="zh-CN" sz="3200" kern="0" dirty="0" err="1">
                <a:solidFill>
                  <a:srgbClr val="FFFFCC"/>
                </a:solidFill>
                <a:latin typeface="+mj-ea"/>
                <a:ea typeface="+mj-ea"/>
              </a:rPr>
              <a:t>idx_GH_XM</a:t>
            </a:r>
            <a:r>
              <a:rPr lang="en-US" altLang="zh-CN" sz="3200" kern="0" dirty="0">
                <a:solidFill>
                  <a:srgbClr val="FFFFCC"/>
                </a:solidFill>
                <a:latin typeface="+mj-ea"/>
                <a:ea typeface="+mj-ea"/>
              </a:rPr>
              <a:t> </a:t>
            </a:r>
          </a:p>
          <a:p>
            <a:pPr eaLnBrk="1" hangingPunct="1">
              <a:spcAft>
                <a:spcPct val="15000"/>
              </a:spcAft>
              <a:buNone/>
              <a:defRPr/>
            </a:pPr>
            <a:r>
              <a:rPr lang="en-US" altLang="zh-CN" sz="3200" kern="0" dirty="0">
                <a:solidFill>
                  <a:srgbClr val="FFFFCC"/>
                </a:solidFill>
                <a:latin typeface="+mj-ea"/>
                <a:ea typeface="+mj-ea"/>
              </a:rPr>
              <a:t>    </a:t>
            </a:r>
            <a:r>
              <a:rPr lang="en-US" altLang="zh-CN" sz="3200" b="1" kern="0" dirty="0">
                <a:solidFill>
                  <a:srgbClr val="FFCC00"/>
                </a:solidFill>
                <a:latin typeface="+mj-ea"/>
                <a:ea typeface="+mj-ea"/>
              </a:rPr>
              <a:t>ON </a:t>
            </a:r>
            <a:r>
              <a:rPr lang="en-US" altLang="zh-CN" sz="3200" kern="0" dirty="0">
                <a:solidFill>
                  <a:srgbClr val="FFFFCC"/>
                </a:solidFill>
                <a:latin typeface="+mj-ea"/>
                <a:ea typeface="+mj-ea"/>
              </a:rPr>
              <a:t>Teacher (</a:t>
            </a:r>
            <a:r>
              <a:rPr lang="zh-CN" altLang="en-US" sz="3200" kern="0" dirty="0">
                <a:solidFill>
                  <a:srgbClr val="FFFFCC"/>
                </a:solidFill>
                <a:latin typeface="+mj-ea"/>
                <a:ea typeface="+mj-ea"/>
              </a:rPr>
              <a:t>工号 </a:t>
            </a:r>
            <a:r>
              <a:rPr lang="en-US" altLang="zh-CN" sz="3200" kern="0" dirty="0">
                <a:solidFill>
                  <a:srgbClr val="FFFFCC"/>
                </a:solidFill>
                <a:latin typeface="+mj-ea"/>
                <a:ea typeface="+mj-ea"/>
              </a:rPr>
              <a:t>ASC，</a:t>
            </a:r>
            <a:r>
              <a:rPr lang="zh-CN" altLang="en-US" sz="3200" kern="0" dirty="0">
                <a:solidFill>
                  <a:srgbClr val="FFFFCC"/>
                </a:solidFill>
                <a:latin typeface="+mj-ea"/>
                <a:ea typeface="+mj-ea"/>
              </a:rPr>
              <a:t>姓名 </a:t>
            </a:r>
            <a:r>
              <a:rPr lang="en-US" altLang="zh-CN" sz="3200" kern="0" dirty="0">
                <a:solidFill>
                  <a:srgbClr val="FFFFCC"/>
                </a:solidFill>
                <a:latin typeface="+mj-ea"/>
                <a:ea typeface="+mj-ea"/>
              </a:rPr>
              <a:t>DESC)</a:t>
            </a:r>
            <a:r>
              <a:rPr lang="zh-CN" altLang="en-US" sz="3200" kern="0" dirty="0">
                <a:solidFill>
                  <a:srgbClr val="FFFFCC"/>
                </a:solidFill>
                <a:latin typeface="+mj-ea"/>
                <a:ea typeface="+mj-ea"/>
              </a:rPr>
              <a:t>；</a:t>
            </a:r>
            <a:endParaRPr lang="en-US" altLang="zh-CN" sz="3200" kern="0" dirty="0">
              <a:solidFill>
                <a:srgbClr val="FFFFCC"/>
              </a:solidFill>
              <a:latin typeface="+mj-ea"/>
              <a:ea typeface="+mj-ea"/>
            </a:endParaRPr>
          </a:p>
        </p:txBody>
      </p:sp>
    </p:spTree>
    <p:extLst>
      <p:ext uri="{BB962C8B-B14F-4D97-AF65-F5344CB8AC3E}">
        <p14:creationId xmlns:p14="http://schemas.microsoft.com/office/powerpoint/2010/main" val="4138498883"/>
      </p:ext>
    </p:extLst>
  </p:cSld>
  <p:clrMapOvr>
    <a:masterClrMapping/>
  </p:clrMapOvr>
  <mc:AlternateContent xmlns:mc="http://schemas.openxmlformats.org/markup-compatibility/2006">
    <mc:Choice xmlns="" xmlns:p159="http://schemas.microsoft.com/office/powerpoint/2015/09/main" Requires="p159">
      <p:transition spd="slow">
        <p159:morph option="byObject"/>
        <p:sndAc>
          <p:stSnd>
            <p:snd r:embed="rId4" name="arrow.wav"/>
          </p:stSnd>
        </p:sndAc>
      </p:transition>
    </mc:Choice>
    <mc:Fallback>
      <p:transition spd="slow">
        <p:fade/>
        <p:sndAc>
          <p:stSnd>
            <p:snd r:embed="rId2" name="arrow.wav"/>
          </p:stSnd>
        </p:sndAc>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4294967295"/>
          </p:nvPr>
        </p:nvSpPr>
        <p:spPr>
          <a:xfrm>
            <a:off x="1415480" y="620688"/>
            <a:ext cx="9361040" cy="5832648"/>
          </a:xfrm>
        </p:spPr>
        <p:txBody>
          <a:bodyPr>
            <a:normAutofit fontScale="92500" lnSpcReduction="10000"/>
          </a:bodyPr>
          <a:lstStyle/>
          <a:p>
            <a:pPr>
              <a:lnSpc>
                <a:spcPct val="150000"/>
              </a:lnSpc>
              <a:buFontTx/>
              <a:buNone/>
            </a:pPr>
            <a:r>
              <a:rPr lang="en-US" altLang="zh-CN" sz="2400">
                <a:latin typeface="Tahoma" panose="020B0604030504040204" pitchFamily="34" charset="0"/>
                <a:ea typeface="宋体" panose="02010600030101010101" pitchFamily="2" charset="-122"/>
              </a:rPr>
              <a:t>3.</a:t>
            </a:r>
            <a:r>
              <a:rPr lang="zh-CN" altLang="en-US" sz="2400">
                <a:latin typeface="Tahoma" panose="020B0604030504040204" pitchFamily="34" charset="0"/>
                <a:ea typeface="宋体" panose="02010600030101010101" pitchFamily="2" charset="-122"/>
              </a:rPr>
              <a:t>使用</a:t>
            </a:r>
            <a:r>
              <a:rPr lang="en-US" altLang="zh-CN" sz="2400">
                <a:solidFill>
                  <a:srgbClr val="FF0000"/>
                </a:solidFill>
                <a:latin typeface="Tahoma" panose="020B0604030504040204" pitchFamily="34" charset="0"/>
                <a:ea typeface="宋体" panose="02010600030101010101" pitchFamily="2" charset="-122"/>
              </a:rPr>
              <a:t>ALTER TABLE</a:t>
            </a:r>
            <a:r>
              <a:rPr lang="zh-CN" altLang="en-US" sz="2400">
                <a:latin typeface="Tahoma" panose="020B0604030504040204" pitchFamily="34" charset="0"/>
                <a:ea typeface="宋体" panose="02010600030101010101" pitchFamily="2" charset="-122"/>
              </a:rPr>
              <a:t>语句在已经存在的表上创建索引</a:t>
            </a:r>
          </a:p>
          <a:p>
            <a:pPr>
              <a:lnSpc>
                <a:spcPct val="150000"/>
              </a:lnSpc>
            </a:pPr>
            <a:r>
              <a:rPr lang="zh-CN" altLang="en-US" sz="2400">
                <a:latin typeface="Tahoma" panose="020B0604030504040204" pitchFamily="34" charset="0"/>
                <a:ea typeface="宋体" panose="02010600030101010101" pitchFamily="2" charset="-122"/>
              </a:rPr>
              <a:t>基本语法格式为：</a:t>
            </a:r>
          </a:p>
          <a:p>
            <a:pPr>
              <a:lnSpc>
                <a:spcPct val="150000"/>
              </a:lnSpc>
              <a:buFontTx/>
              <a:buNone/>
            </a:pPr>
            <a:r>
              <a:rPr lang="en-US" altLang="zh-CN" sz="2400">
                <a:latin typeface="Tahoma" panose="020B0604030504040204" pitchFamily="34" charset="0"/>
                <a:ea typeface="宋体" panose="02010600030101010101" pitchFamily="2" charset="-122"/>
              </a:rPr>
              <a:t>ALTER TABLE </a:t>
            </a:r>
            <a:r>
              <a:rPr lang="zh-CN" altLang="en-US" sz="2400">
                <a:latin typeface="Tahoma" panose="020B0604030504040204" pitchFamily="34" charset="0"/>
                <a:ea typeface="宋体" panose="02010600030101010101" pitchFamily="2" charset="-122"/>
              </a:rPr>
              <a:t>表名 </a:t>
            </a:r>
            <a:r>
              <a:rPr lang="en-US" altLang="zh-CN" sz="2400">
                <a:latin typeface="Tahoma" panose="020B0604030504040204" pitchFamily="34" charset="0"/>
                <a:ea typeface="宋体" panose="02010600030101010101" pitchFamily="2" charset="-122"/>
              </a:rPr>
              <a:t>ADD [UNIQUE|FULLTEXT|SPATIAL] INDEX   </a:t>
            </a:r>
            <a:r>
              <a:rPr lang="zh-CN" altLang="en-US" sz="2400">
                <a:latin typeface="Tahoma" panose="020B0604030504040204" pitchFamily="34" charset="0"/>
                <a:ea typeface="宋体" panose="02010600030101010101" pitchFamily="2" charset="-122"/>
              </a:rPr>
              <a:t>索引名 </a:t>
            </a:r>
            <a:r>
              <a:rPr lang="en-US" altLang="zh-CN" sz="2400">
                <a:latin typeface="Tahoma" panose="020B0604030504040204" pitchFamily="34" charset="0"/>
                <a:ea typeface="宋体" panose="02010600030101010101" pitchFamily="2" charset="-122"/>
              </a:rPr>
              <a:t>(</a:t>
            </a:r>
            <a:r>
              <a:rPr lang="zh-CN" altLang="en-US" sz="2400">
                <a:latin typeface="Tahoma" panose="020B0604030504040204" pitchFamily="34" charset="0"/>
                <a:ea typeface="宋体" panose="02010600030101010101" pitchFamily="2" charset="-122"/>
              </a:rPr>
              <a:t>字段名</a:t>
            </a:r>
            <a:r>
              <a:rPr lang="en-US" altLang="zh-CN" sz="2400">
                <a:latin typeface="Tahoma" panose="020B0604030504040204" pitchFamily="34" charset="0"/>
                <a:ea typeface="宋体" panose="02010600030101010101" pitchFamily="2" charset="-122"/>
              </a:rPr>
              <a:t>[(</a:t>
            </a:r>
            <a:r>
              <a:rPr lang="zh-CN" altLang="en-US" sz="2400">
                <a:latin typeface="Tahoma" panose="020B0604030504040204" pitchFamily="34" charset="0"/>
                <a:ea typeface="宋体" panose="02010600030101010101" pitchFamily="2" charset="-122"/>
              </a:rPr>
              <a:t>长度</a:t>
            </a:r>
            <a:r>
              <a:rPr lang="en-US" altLang="zh-CN" sz="2400">
                <a:latin typeface="Tahoma" panose="020B0604030504040204" pitchFamily="34" charset="0"/>
                <a:ea typeface="宋体" panose="02010600030101010101" pitchFamily="2" charset="-122"/>
              </a:rPr>
              <a:t>)] [ASC|DESC]);</a:t>
            </a:r>
          </a:p>
          <a:p>
            <a:pPr lvl="1">
              <a:lnSpc>
                <a:spcPct val="150000"/>
              </a:lnSpc>
            </a:pPr>
            <a:r>
              <a:rPr lang="zh-CN" altLang="en-US" sz="2000">
                <a:solidFill>
                  <a:srgbClr val="FF0000"/>
                </a:solidFill>
                <a:latin typeface="Tahoma" panose="020B0604030504040204" pitchFamily="34" charset="0"/>
                <a:ea typeface="宋体" panose="02010600030101010101" pitchFamily="2" charset="-122"/>
              </a:rPr>
              <a:t>这种方式创建索引与使用</a:t>
            </a:r>
            <a:r>
              <a:rPr lang="en-US" altLang="zh-CN" sz="2000">
                <a:solidFill>
                  <a:srgbClr val="FF0000"/>
                </a:solidFill>
                <a:latin typeface="Tahoma" panose="020B0604030504040204" pitchFamily="34" charset="0"/>
                <a:ea typeface="宋体" panose="02010600030101010101" pitchFamily="2" charset="-122"/>
              </a:rPr>
              <a:t>CREATE INDEX</a:t>
            </a:r>
            <a:r>
              <a:rPr lang="zh-CN" altLang="en-US" sz="2000">
                <a:solidFill>
                  <a:srgbClr val="FF0000"/>
                </a:solidFill>
                <a:latin typeface="Tahoma" panose="020B0604030504040204" pitchFamily="34" charset="0"/>
                <a:ea typeface="宋体" panose="02010600030101010101" pitchFamily="2" charset="-122"/>
              </a:rPr>
              <a:t>语句的作用完全一样。</a:t>
            </a:r>
            <a:endParaRPr lang="en-US" altLang="zh-CN" sz="2000">
              <a:solidFill>
                <a:srgbClr val="FF0000"/>
              </a:solidFill>
              <a:latin typeface="Tahoma" panose="020B0604030504040204" pitchFamily="34" charset="0"/>
              <a:ea typeface="宋体" panose="02010600030101010101" pitchFamily="2" charset="-122"/>
            </a:endParaRPr>
          </a:p>
          <a:p>
            <a:pPr lvl="1">
              <a:lnSpc>
                <a:spcPct val="150000"/>
              </a:lnSpc>
            </a:pPr>
            <a:endParaRPr lang="zh-CN" altLang="en-US" sz="2000">
              <a:latin typeface="Tahoma" panose="020B0604030504040204" pitchFamily="34" charset="0"/>
              <a:ea typeface="宋体" panose="02010600030101010101" pitchFamily="2" charset="-122"/>
            </a:endParaRPr>
          </a:p>
          <a:p>
            <a:pPr>
              <a:lnSpc>
                <a:spcPct val="150000"/>
              </a:lnSpc>
            </a:pPr>
            <a:r>
              <a:rPr lang="en-US" altLang="zh-CN" sz="2400">
                <a:latin typeface="Tahoma" panose="020B0604030504040204" pitchFamily="34" charset="0"/>
                <a:ea typeface="宋体" panose="02010600030101010101" pitchFamily="2" charset="-122"/>
              </a:rPr>
              <a:t>【</a:t>
            </a:r>
            <a:r>
              <a:rPr lang="zh-CN" altLang="en-US" sz="2400">
                <a:latin typeface="Tahoma" panose="020B0604030504040204" pitchFamily="34" charset="0"/>
                <a:ea typeface="宋体" panose="02010600030101010101" pitchFamily="2" charset="-122"/>
              </a:rPr>
              <a:t>例</a:t>
            </a:r>
            <a:r>
              <a:rPr lang="en-US" altLang="zh-CN" sz="2400">
                <a:latin typeface="Tahoma" panose="020B0604030504040204" pitchFamily="34" charset="0"/>
                <a:ea typeface="宋体" panose="02010600030101010101" pitchFamily="2" charset="-122"/>
              </a:rPr>
              <a:t>5-5】</a:t>
            </a:r>
            <a:r>
              <a:rPr lang="zh-CN" altLang="en-US" sz="2400">
                <a:latin typeface="Tahoma" panose="020B0604030504040204" pitchFamily="34" charset="0"/>
                <a:ea typeface="宋体" panose="02010600030101010101" pitchFamily="2" charset="-122"/>
              </a:rPr>
              <a:t>与例</a:t>
            </a:r>
            <a:r>
              <a:rPr lang="en-US" altLang="zh-CN" sz="2400">
                <a:latin typeface="Tahoma" panose="020B0604030504040204" pitchFamily="34" charset="0"/>
                <a:ea typeface="宋体" panose="02010600030101010101" pitchFamily="2" charset="-122"/>
              </a:rPr>
              <a:t>5-3</a:t>
            </a:r>
            <a:r>
              <a:rPr lang="zh-CN" altLang="en-US" sz="2400">
                <a:latin typeface="Tahoma" panose="020B0604030504040204" pitchFamily="34" charset="0"/>
                <a:ea typeface="宋体" panose="02010600030101010101" pitchFamily="2" charset="-122"/>
              </a:rPr>
              <a:t>同等效果的</a:t>
            </a:r>
            <a:r>
              <a:rPr lang="en-US" altLang="zh-CN" sz="2400">
                <a:latin typeface="Tahoma" panose="020B0604030504040204" pitchFamily="34" charset="0"/>
                <a:ea typeface="宋体" panose="02010600030101010101" pitchFamily="2" charset="-122"/>
              </a:rPr>
              <a:t>ALTER TABLE</a:t>
            </a:r>
            <a:r>
              <a:rPr lang="zh-CN" altLang="en-US" sz="2400">
                <a:latin typeface="Tahoma" panose="020B0604030504040204" pitchFamily="34" charset="0"/>
                <a:ea typeface="宋体" panose="02010600030101010101" pitchFamily="2" charset="-122"/>
              </a:rPr>
              <a:t>语句如下：</a:t>
            </a:r>
          </a:p>
          <a:p>
            <a:pPr>
              <a:lnSpc>
                <a:spcPct val="150000"/>
              </a:lnSpc>
              <a:buFontTx/>
              <a:buNone/>
            </a:pPr>
            <a:r>
              <a:rPr lang="en-US" altLang="zh-CN" sz="2400">
                <a:solidFill>
                  <a:srgbClr val="FF0000"/>
                </a:solidFill>
                <a:latin typeface="Tahoma" panose="020B0604030504040204" pitchFamily="34" charset="0"/>
                <a:ea typeface="宋体" panose="02010600030101010101" pitchFamily="2" charset="-122"/>
              </a:rPr>
              <a:t>ALTER TABLE SC ADD INDEX idx_sno (sno DESC);</a:t>
            </a:r>
          </a:p>
          <a:p>
            <a:pPr>
              <a:lnSpc>
                <a:spcPct val="150000"/>
              </a:lnSpc>
              <a:buFontTx/>
              <a:buNone/>
            </a:pPr>
            <a:endParaRPr lang="en-US" altLang="zh-CN" sz="2400">
              <a:latin typeface="Tahoma" panose="020B0604030504040204" pitchFamily="34" charset="0"/>
              <a:ea typeface="宋体" panose="02010600030101010101" pitchFamily="2" charset="-122"/>
            </a:endParaRPr>
          </a:p>
          <a:p>
            <a:pPr>
              <a:lnSpc>
                <a:spcPct val="150000"/>
              </a:lnSpc>
            </a:pPr>
            <a:r>
              <a:rPr lang="en-US" altLang="zh-CN" sz="2400">
                <a:latin typeface="Tahoma" panose="020B0604030504040204" pitchFamily="34" charset="0"/>
                <a:ea typeface="宋体" panose="02010600030101010101" pitchFamily="2" charset="-122"/>
              </a:rPr>
              <a:t>【</a:t>
            </a:r>
            <a:r>
              <a:rPr lang="zh-CN" altLang="en-US" sz="2400">
                <a:latin typeface="Tahoma" panose="020B0604030504040204" pitchFamily="34" charset="0"/>
                <a:ea typeface="宋体" panose="02010600030101010101" pitchFamily="2" charset="-122"/>
              </a:rPr>
              <a:t>例</a:t>
            </a:r>
            <a:r>
              <a:rPr lang="en-US" altLang="zh-CN" sz="2400">
                <a:latin typeface="Tahoma" panose="020B0604030504040204" pitchFamily="34" charset="0"/>
                <a:ea typeface="宋体" panose="02010600030101010101" pitchFamily="2" charset="-122"/>
              </a:rPr>
              <a:t>5-6】</a:t>
            </a:r>
            <a:r>
              <a:rPr lang="zh-CN" altLang="en-US" sz="2400">
                <a:latin typeface="Tahoma" panose="020B0604030504040204" pitchFamily="34" charset="0"/>
                <a:ea typeface="宋体" panose="02010600030101010101" pitchFamily="2" charset="-122"/>
              </a:rPr>
              <a:t>与例</a:t>
            </a:r>
            <a:r>
              <a:rPr lang="en-US" altLang="zh-CN" sz="2400">
                <a:latin typeface="Tahoma" panose="020B0604030504040204" pitchFamily="34" charset="0"/>
                <a:ea typeface="宋体" panose="02010600030101010101" pitchFamily="2" charset="-122"/>
              </a:rPr>
              <a:t>5-4</a:t>
            </a:r>
            <a:r>
              <a:rPr lang="zh-CN" altLang="en-US" sz="2400">
                <a:latin typeface="Tahoma" panose="020B0604030504040204" pitchFamily="34" charset="0"/>
                <a:ea typeface="宋体" panose="02010600030101010101" pitchFamily="2" charset="-122"/>
              </a:rPr>
              <a:t>同等效果的</a:t>
            </a:r>
            <a:r>
              <a:rPr lang="en-US" altLang="zh-CN" sz="2400">
                <a:latin typeface="Tahoma" panose="020B0604030504040204" pitchFamily="34" charset="0"/>
                <a:ea typeface="宋体" panose="02010600030101010101" pitchFamily="2" charset="-122"/>
              </a:rPr>
              <a:t>ALTER TABLE</a:t>
            </a:r>
            <a:r>
              <a:rPr lang="zh-CN" altLang="en-US" sz="2400">
                <a:latin typeface="Tahoma" panose="020B0604030504040204" pitchFamily="34" charset="0"/>
                <a:ea typeface="宋体" panose="02010600030101010101" pitchFamily="2" charset="-122"/>
              </a:rPr>
              <a:t>语句如下：</a:t>
            </a:r>
          </a:p>
          <a:p>
            <a:pPr>
              <a:lnSpc>
                <a:spcPct val="150000"/>
              </a:lnSpc>
              <a:buFontTx/>
              <a:buNone/>
            </a:pPr>
            <a:r>
              <a:rPr lang="en-US" altLang="zh-CN" sz="2400">
                <a:solidFill>
                  <a:srgbClr val="FF0000"/>
                </a:solidFill>
                <a:latin typeface="Tahoma" panose="020B0604030504040204" pitchFamily="34" charset="0"/>
                <a:ea typeface="宋体" panose="02010600030101010101" pitchFamily="2" charset="-122"/>
              </a:rPr>
              <a:t>ALTER TABLE S ADD UNIQUE INDEX uk_sno (sno);</a:t>
            </a:r>
            <a:endParaRPr lang="zh-CN" altLang="en-US" sz="2400">
              <a:solidFill>
                <a:srgbClr val="FF0000"/>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09785276"/>
      </p:ext>
    </p:extLst>
  </p:cSld>
  <p:clrMapOvr>
    <a:masterClrMapping/>
  </p:clrMapOvr>
  <p:transition spd="slow">
    <p:wipe dir="r"/>
    <p:sndAc>
      <p:stSnd>
        <p:snd r:embed="rId2" name="arrow.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查看索引</a:t>
            </a:r>
            <a:endParaRPr lang="zh-CN" altLang="en-US" sz="4000" b="1" dirty="0">
              <a:solidFill>
                <a:srgbClr val="FFFFCC"/>
              </a:solidFill>
              <a:effectLst>
                <a:outerShdw blurRad="38100" dist="38100" dir="2700000" algn="tl">
                  <a:srgbClr val="000000"/>
                </a:outerShdw>
              </a:effectLst>
              <a:cs typeface="+mn-cs"/>
            </a:endParaRPr>
          </a:p>
        </p:txBody>
      </p:sp>
      <p:sp>
        <p:nvSpPr>
          <p:cNvPr id="4" name="Rectangle 3">
            <a:extLst>
              <a:ext uri="{FF2B5EF4-FFF2-40B4-BE49-F238E27FC236}">
                <a16:creationId xmlns:a16="http://schemas.microsoft.com/office/drawing/2014/main" id="{F89FD69C-8E70-4CA0-BF17-B771802B9347}"/>
              </a:ext>
            </a:extLst>
          </p:cNvPr>
          <p:cNvSpPr txBox="1">
            <a:spLocks noChangeArrowheads="1"/>
          </p:cNvSpPr>
          <p:nvPr/>
        </p:nvSpPr>
        <p:spPr bwMode="auto">
          <a:xfrm>
            <a:off x="695400" y="908720"/>
            <a:ext cx="10225136" cy="936104"/>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en-US" altLang="zh-CN" b="1" dirty="0">
                <a:solidFill>
                  <a:srgbClr val="FFCC00"/>
                </a:solidFill>
                <a:latin typeface="+mj-ea"/>
                <a:ea typeface="+mj-ea"/>
              </a:rPr>
              <a:t>SHOW  CREATE  TABLE </a:t>
            </a:r>
            <a:r>
              <a:rPr lang="zh-CN" altLang="en-US" dirty="0">
                <a:solidFill>
                  <a:srgbClr val="CCFFCC"/>
                </a:solidFill>
                <a:latin typeface="Arial" pitchFamily="34" charset="0"/>
                <a:ea typeface="微软雅黑" pitchFamily="34" charset="-122"/>
              </a:rPr>
              <a:t>语句可以查看表的结构，同时也能查看表中存在哪些索引</a:t>
            </a:r>
            <a:r>
              <a:rPr lang="zh-CN" altLang="en-US" dirty="0">
                <a:latin typeface="+mj-ea"/>
                <a:ea typeface="+mj-ea"/>
              </a:rPr>
              <a:t>。</a:t>
            </a:r>
            <a:endParaRPr lang="en-US" altLang="zh-CN" dirty="0">
              <a:latin typeface="+mj-ea"/>
              <a:ea typeface="+mj-ea"/>
            </a:endParaRPr>
          </a:p>
        </p:txBody>
      </p:sp>
      <p:sp>
        <p:nvSpPr>
          <p:cNvPr id="5" name="Rectangle 4">
            <a:extLst>
              <a:ext uri="{FF2B5EF4-FFF2-40B4-BE49-F238E27FC236}">
                <a16:creationId xmlns:a16="http://schemas.microsoft.com/office/drawing/2014/main" id="{05FC8703-A01F-4D38-9FD2-D0679FDBD41E}"/>
              </a:ext>
            </a:extLst>
          </p:cNvPr>
          <p:cNvSpPr>
            <a:spLocks noChangeArrowheads="1"/>
          </p:cNvSpPr>
          <p:nvPr/>
        </p:nvSpPr>
        <p:spPr bwMode="auto">
          <a:xfrm>
            <a:off x="839331" y="1844824"/>
            <a:ext cx="8207375" cy="550748"/>
          </a:xfrm>
          <a:prstGeom prst="rect">
            <a:avLst/>
          </a:prstGeom>
          <a:noFill/>
          <a:ln w="9525">
            <a:noFill/>
            <a:miter lim="800000"/>
            <a:headEnd/>
            <a:tailEnd/>
          </a:ln>
          <a:effectLst/>
        </p:spPr>
        <p:txBody>
          <a:bodyPr/>
          <a:lstStyle/>
          <a:p>
            <a:pPr fontAlgn="auto">
              <a:spcBef>
                <a:spcPts val="0"/>
              </a:spcBef>
              <a:spcAft>
                <a:spcPct val="15000"/>
              </a:spcAft>
              <a:buClr>
                <a:srgbClr val="66FF33"/>
              </a:buClr>
              <a:buSzPct val="85000"/>
              <a:defRPr/>
            </a:pPr>
            <a:r>
              <a:rPr kumimoji="0" lang="zh-CN" altLang="en-US" sz="2800" kern="0" dirty="0">
                <a:solidFill>
                  <a:srgbClr val="66FF66"/>
                </a:solidFill>
                <a:effectLst>
                  <a:outerShdw blurRad="38100" dist="38100" dir="2700000" algn="tl">
                    <a:srgbClr val="000000"/>
                  </a:outerShdw>
                </a:effectLst>
                <a:latin typeface="Franklin Gothic Book"/>
                <a:ea typeface="黑体" panose="02010609060101010101" pitchFamily="49" charset="-122"/>
              </a:rPr>
              <a:t>例如查看</a:t>
            </a:r>
            <a:r>
              <a:rPr kumimoji="0" lang="en-US" altLang="zh-CN" sz="2800" kern="0" dirty="0">
                <a:solidFill>
                  <a:srgbClr val="66FF66"/>
                </a:solidFill>
                <a:effectLst>
                  <a:outerShdw blurRad="38100" dist="38100" dir="2700000" algn="tl">
                    <a:srgbClr val="000000"/>
                  </a:outerShdw>
                </a:effectLst>
                <a:latin typeface="Franklin Gothic Book"/>
                <a:ea typeface="黑体" panose="02010609060101010101" pitchFamily="49" charset="-122"/>
              </a:rPr>
              <a:t>Teacher</a:t>
            </a:r>
            <a:r>
              <a:rPr kumimoji="0" lang="zh-CN" altLang="en-US" sz="2800" kern="0" dirty="0">
                <a:solidFill>
                  <a:srgbClr val="66FF66"/>
                </a:solidFill>
                <a:effectLst>
                  <a:outerShdw blurRad="38100" dist="38100" dir="2700000" algn="tl">
                    <a:srgbClr val="000000"/>
                  </a:outerShdw>
                </a:effectLst>
                <a:latin typeface="Franklin Gothic Book"/>
                <a:ea typeface="黑体" panose="02010609060101010101" pitchFamily="49" charset="-122"/>
              </a:rPr>
              <a:t>表的定义和索引：</a:t>
            </a:r>
            <a:endParaRPr lang="en-US" altLang="zh-CN" sz="2800" dirty="0">
              <a:latin typeface="+mj-ea"/>
            </a:endParaRPr>
          </a:p>
          <a:p>
            <a:r>
              <a:rPr lang="en-US" altLang="zh-CN" sz="3600" dirty="0">
                <a:solidFill>
                  <a:srgbClr val="FFFFCC"/>
                </a:solidFill>
                <a:latin typeface="+mj-ea"/>
              </a:rPr>
              <a:t>show create table  teacher;</a:t>
            </a:r>
          </a:p>
          <a:p>
            <a:pPr fontAlgn="auto">
              <a:spcBef>
                <a:spcPts val="0"/>
              </a:spcBef>
              <a:spcAft>
                <a:spcPct val="15000"/>
              </a:spcAft>
              <a:buClr>
                <a:srgbClr val="66FF33"/>
              </a:buClr>
              <a:buSzPct val="85000"/>
              <a:defRPr/>
            </a:pPr>
            <a:endParaRPr kumimoji="0" lang="zh-CN" altLang="en-US" sz="2800" kern="0" dirty="0">
              <a:solidFill>
                <a:srgbClr val="66FF66"/>
              </a:solidFill>
              <a:effectLst>
                <a:outerShdw blurRad="38100" dist="38100" dir="2700000" algn="tl">
                  <a:srgbClr val="000000"/>
                </a:outerShdw>
              </a:effectLst>
              <a:latin typeface="Franklin Gothic Book"/>
              <a:ea typeface="黑体" panose="02010609060101010101" pitchFamily="49" charset="-122"/>
            </a:endParaRPr>
          </a:p>
        </p:txBody>
      </p:sp>
      <p:sp>
        <p:nvSpPr>
          <p:cNvPr id="6" name="Rectangle 3">
            <a:extLst>
              <a:ext uri="{FF2B5EF4-FFF2-40B4-BE49-F238E27FC236}">
                <a16:creationId xmlns:a16="http://schemas.microsoft.com/office/drawing/2014/main" id="{5ABB7038-E716-493D-A3D9-B7F82838E37F}"/>
              </a:ext>
            </a:extLst>
          </p:cNvPr>
          <p:cNvSpPr txBox="1">
            <a:spLocks noChangeArrowheads="1"/>
          </p:cNvSpPr>
          <p:nvPr/>
        </p:nvSpPr>
        <p:spPr bwMode="auto">
          <a:xfrm>
            <a:off x="680028" y="4570779"/>
            <a:ext cx="10384524" cy="1008112"/>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zh-CN" altLang="en-US" dirty="0">
                <a:solidFill>
                  <a:srgbClr val="CCFFCC"/>
                </a:solidFill>
                <a:latin typeface="Arial" pitchFamily="34" charset="0"/>
                <a:ea typeface="微软雅黑" pitchFamily="34" charset="-122"/>
              </a:rPr>
              <a:t>使用</a:t>
            </a:r>
            <a:r>
              <a:rPr lang="en-US" altLang="zh-CN" b="1" dirty="0">
                <a:solidFill>
                  <a:srgbClr val="FFCC00"/>
                </a:solidFill>
                <a:latin typeface="+mj-ea"/>
                <a:ea typeface="+mj-ea"/>
              </a:rPr>
              <a:t>EXPLAIN</a:t>
            </a:r>
            <a:r>
              <a:rPr lang="zh-CN" altLang="en-US" dirty="0">
                <a:solidFill>
                  <a:srgbClr val="CCFFCC"/>
                </a:solidFill>
                <a:latin typeface="Arial" pitchFamily="34" charset="0"/>
                <a:ea typeface="微软雅黑" pitchFamily="34" charset="-122"/>
              </a:rPr>
              <a:t>语句可以查看在执行</a:t>
            </a:r>
            <a:r>
              <a:rPr lang="en-US" altLang="zh-CN" dirty="0">
                <a:solidFill>
                  <a:srgbClr val="CCFFCC"/>
                </a:solidFill>
                <a:latin typeface="Arial" pitchFamily="34" charset="0"/>
                <a:ea typeface="微软雅黑" pitchFamily="34" charset="-122"/>
              </a:rPr>
              <a:t>SQL</a:t>
            </a:r>
            <a:r>
              <a:rPr lang="zh-CN" altLang="en-US" dirty="0">
                <a:solidFill>
                  <a:srgbClr val="CCFFCC"/>
                </a:solidFill>
                <a:latin typeface="Arial" pitchFamily="34" charset="0"/>
                <a:ea typeface="微软雅黑" pitchFamily="34" charset="-122"/>
              </a:rPr>
              <a:t>查询时索引的使用情况。</a:t>
            </a:r>
            <a:endParaRPr lang="en-US" altLang="en-US" dirty="0">
              <a:solidFill>
                <a:srgbClr val="CCFFCC"/>
              </a:solidFill>
              <a:latin typeface="Arial" pitchFamily="34" charset="0"/>
              <a:ea typeface="微软雅黑" pitchFamily="34" charset="-122"/>
            </a:endParaRPr>
          </a:p>
        </p:txBody>
      </p:sp>
      <p:sp>
        <p:nvSpPr>
          <p:cNvPr id="9" name="Rectangle 4">
            <a:extLst>
              <a:ext uri="{FF2B5EF4-FFF2-40B4-BE49-F238E27FC236}">
                <a16:creationId xmlns:a16="http://schemas.microsoft.com/office/drawing/2014/main" id="{F17FEAB8-37F5-4FBE-A5B8-2D7A3671CE6E}"/>
              </a:ext>
            </a:extLst>
          </p:cNvPr>
          <p:cNvSpPr>
            <a:spLocks noChangeArrowheads="1"/>
          </p:cNvSpPr>
          <p:nvPr/>
        </p:nvSpPr>
        <p:spPr bwMode="auto">
          <a:xfrm>
            <a:off x="768424" y="5145454"/>
            <a:ext cx="10512152" cy="550748"/>
          </a:xfrm>
          <a:prstGeom prst="rect">
            <a:avLst/>
          </a:prstGeom>
          <a:noFill/>
          <a:ln w="9525">
            <a:noFill/>
            <a:miter lim="800000"/>
            <a:headEnd/>
            <a:tailEnd/>
          </a:ln>
          <a:effectLst/>
        </p:spPr>
        <p:txBody>
          <a:bodyPr/>
          <a:lstStyle/>
          <a:p>
            <a:pPr fontAlgn="auto">
              <a:spcBef>
                <a:spcPts val="0"/>
              </a:spcBef>
              <a:spcAft>
                <a:spcPct val="15000"/>
              </a:spcAft>
              <a:buClr>
                <a:srgbClr val="66FF33"/>
              </a:buClr>
              <a:buSzPct val="85000"/>
              <a:defRPr/>
            </a:pPr>
            <a:r>
              <a:rPr kumimoji="0" lang="zh-CN" altLang="en-US" sz="2800" kern="0" dirty="0">
                <a:solidFill>
                  <a:srgbClr val="66FF66"/>
                </a:solidFill>
                <a:effectLst>
                  <a:outerShdw blurRad="38100" dist="38100" dir="2700000" algn="tl">
                    <a:srgbClr val="000000"/>
                  </a:outerShdw>
                </a:effectLst>
                <a:latin typeface="Franklin Gothic Book"/>
                <a:ea typeface="黑体" panose="02010609060101010101" pitchFamily="49" charset="-122"/>
              </a:rPr>
              <a:t>例如查看按姓名查询某</a:t>
            </a:r>
            <a:r>
              <a:rPr kumimoji="0" lang="en-US" altLang="zh-CN" sz="2800" kern="0" dirty="0">
                <a:solidFill>
                  <a:srgbClr val="66FF66"/>
                </a:solidFill>
                <a:effectLst>
                  <a:outerShdw blurRad="38100" dist="38100" dir="2700000" algn="tl">
                    <a:srgbClr val="000000"/>
                  </a:outerShdw>
                </a:effectLst>
                <a:latin typeface="Franklin Gothic Book"/>
                <a:ea typeface="黑体" panose="02010609060101010101" pitchFamily="49" charset="-122"/>
              </a:rPr>
              <a:t>t</a:t>
            </a:r>
            <a:r>
              <a:rPr kumimoji="0" lang="en-US" altLang="zh-CN" sz="2800" kern="0" dirty="0" err="1">
                <a:solidFill>
                  <a:srgbClr val="66FF66"/>
                </a:solidFill>
                <a:effectLst>
                  <a:outerShdw blurRad="38100" dist="38100" dir="2700000" algn="tl">
                    <a:srgbClr val="000000"/>
                  </a:outerShdw>
                </a:effectLst>
                <a:latin typeface="Franklin Gothic Book"/>
                <a:ea typeface="黑体" panose="02010609060101010101" pitchFamily="49" charset="-122"/>
              </a:rPr>
              <a:t>eacher</a:t>
            </a:r>
            <a:r>
              <a:rPr kumimoji="0" lang="zh-CN" altLang="en-US" sz="2800" kern="0" dirty="0">
                <a:solidFill>
                  <a:srgbClr val="66FF66"/>
                </a:solidFill>
                <a:effectLst>
                  <a:outerShdw blurRad="38100" dist="38100" dir="2700000" algn="tl">
                    <a:srgbClr val="000000"/>
                  </a:outerShdw>
                </a:effectLst>
                <a:latin typeface="Franklin Gothic Book"/>
                <a:ea typeface="黑体" panose="02010609060101010101" pitchFamily="49" charset="-122"/>
              </a:rPr>
              <a:t>的时是否使用索引：</a:t>
            </a:r>
            <a:endParaRPr lang="en-US" altLang="zh-CN" sz="2800" dirty="0">
              <a:latin typeface="+mj-ea"/>
            </a:endParaRPr>
          </a:p>
          <a:p>
            <a:r>
              <a:rPr lang="en-US" altLang="zh-CN" sz="3600" dirty="0">
                <a:solidFill>
                  <a:srgbClr val="FFFFCC"/>
                </a:solidFill>
                <a:latin typeface="+mj-ea"/>
              </a:rPr>
              <a:t>Explain </a:t>
            </a:r>
          </a:p>
          <a:p>
            <a:r>
              <a:rPr lang="en-US" altLang="zh-CN" sz="3600" dirty="0">
                <a:solidFill>
                  <a:srgbClr val="FFFFCC"/>
                </a:solidFill>
                <a:latin typeface="+mj-ea"/>
              </a:rPr>
              <a:t>select * from teacher    where </a:t>
            </a:r>
            <a:r>
              <a:rPr lang="zh-CN" altLang="en-US" sz="3600" dirty="0">
                <a:solidFill>
                  <a:srgbClr val="FFFFCC"/>
                </a:solidFill>
                <a:latin typeface="+mj-ea"/>
              </a:rPr>
              <a:t>姓名</a:t>
            </a:r>
            <a:r>
              <a:rPr lang="en-US" altLang="zh-CN" sz="3600" dirty="0">
                <a:solidFill>
                  <a:srgbClr val="FFFFCC"/>
                </a:solidFill>
                <a:latin typeface="+mj-ea"/>
              </a:rPr>
              <a:t>=</a:t>
            </a:r>
            <a:r>
              <a:rPr lang="en-US" altLang="zh-CN" sz="3600" dirty="0">
                <a:solidFill>
                  <a:srgbClr val="FFFFCC"/>
                </a:solidFill>
                <a:latin typeface="Times New Roman" panose="02020603050405020304" pitchFamily="18" charset="0"/>
                <a:cs typeface="Times New Roman" panose="02020603050405020304" pitchFamily="18" charset="0"/>
              </a:rPr>
              <a:t>‘</a:t>
            </a:r>
            <a:r>
              <a:rPr lang="zh-CN" altLang="en-US" sz="3600" dirty="0">
                <a:solidFill>
                  <a:srgbClr val="FFFFCC"/>
                </a:solidFill>
                <a:latin typeface="Times New Roman" panose="02020603050405020304" pitchFamily="18" charset="0"/>
                <a:cs typeface="Times New Roman" panose="02020603050405020304" pitchFamily="18" charset="0"/>
              </a:rPr>
              <a:t>刘军</a:t>
            </a:r>
            <a:r>
              <a:rPr lang="en-US" altLang="zh-CN" sz="3600" dirty="0">
                <a:solidFill>
                  <a:srgbClr val="FFFFCC"/>
                </a:solidFill>
                <a:latin typeface="Times New Roman" panose="02020603050405020304" pitchFamily="18" charset="0"/>
                <a:cs typeface="Times New Roman" panose="02020603050405020304" pitchFamily="18" charset="0"/>
              </a:rPr>
              <a:t>’</a:t>
            </a:r>
            <a:r>
              <a:rPr lang="en-US" altLang="zh-CN" sz="3600" dirty="0">
                <a:solidFill>
                  <a:srgbClr val="FFFFCC"/>
                </a:solidFill>
                <a:latin typeface="+mj-ea"/>
              </a:rPr>
              <a:t>;</a:t>
            </a:r>
          </a:p>
          <a:p>
            <a:pPr fontAlgn="auto">
              <a:spcBef>
                <a:spcPts val="0"/>
              </a:spcBef>
              <a:spcAft>
                <a:spcPct val="15000"/>
              </a:spcAft>
              <a:buClr>
                <a:srgbClr val="66FF33"/>
              </a:buClr>
              <a:buSzPct val="85000"/>
              <a:defRPr/>
            </a:pPr>
            <a:endParaRPr kumimoji="0" lang="zh-CN" altLang="en-US" sz="2800" kern="0" dirty="0">
              <a:solidFill>
                <a:srgbClr val="66FF66"/>
              </a:solidFill>
              <a:effectLst>
                <a:outerShdw blurRad="38100" dist="38100" dir="2700000" algn="tl">
                  <a:srgbClr val="000000"/>
                </a:outerShdw>
              </a:effectLst>
              <a:latin typeface="Franklin Gothic Book"/>
              <a:ea typeface="黑体" panose="02010609060101010101" pitchFamily="49" charset="-122"/>
            </a:endParaRPr>
          </a:p>
        </p:txBody>
      </p:sp>
      <p:sp>
        <p:nvSpPr>
          <p:cNvPr id="10" name="Rectangle 3">
            <a:extLst>
              <a:ext uri="{FF2B5EF4-FFF2-40B4-BE49-F238E27FC236}">
                <a16:creationId xmlns:a16="http://schemas.microsoft.com/office/drawing/2014/main" id="{4F730BD2-5763-4F73-90AE-B6DE17E48F06}"/>
              </a:ext>
            </a:extLst>
          </p:cNvPr>
          <p:cNvSpPr txBox="1">
            <a:spLocks noChangeArrowheads="1"/>
          </p:cNvSpPr>
          <p:nvPr/>
        </p:nvSpPr>
        <p:spPr bwMode="auto">
          <a:xfrm>
            <a:off x="695400" y="3238293"/>
            <a:ext cx="8353425" cy="936104"/>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en-US" altLang="zh-CN" b="1" dirty="0">
                <a:solidFill>
                  <a:srgbClr val="FFCC00"/>
                </a:solidFill>
                <a:latin typeface="+mj-ea"/>
                <a:ea typeface="+mj-ea"/>
              </a:rPr>
              <a:t>SHOW  INDEX/KEYS  </a:t>
            </a:r>
            <a:r>
              <a:rPr lang="zh-CN" altLang="en-US" dirty="0">
                <a:solidFill>
                  <a:srgbClr val="CCFFCC"/>
                </a:solidFill>
                <a:latin typeface="Arial" pitchFamily="34" charset="0"/>
                <a:ea typeface="微软雅黑" pitchFamily="34" charset="-122"/>
              </a:rPr>
              <a:t>语句可以查看表的索引</a:t>
            </a:r>
            <a:r>
              <a:rPr lang="zh-CN" altLang="en-US" dirty="0">
                <a:latin typeface="+mj-ea"/>
                <a:ea typeface="+mj-ea"/>
              </a:rPr>
              <a:t>。</a:t>
            </a:r>
            <a:endParaRPr lang="en-US" altLang="zh-CN" dirty="0">
              <a:latin typeface="+mj-ea"/>
              <a:ea typeface="+mj-ea"/>
            </a:endParaRPr>
          </a:p>
        </p:txBody>
      </p:sp>
      <p:sp>
        <p:nvSpPr>
          <p:cNvPr id="11" name="Rectangle 4">
            <a:extLst>
              <a:ext uri="{FF2B5EF4-FFF2-40B4-BE49-F238E27FC236}">
                <a16:creationId xmlns:a16="http://schemas.microsoft.com/office/drawing/2014/main" id="{C8DAB352-CCE8-4267-8C53-A7C63320FEE7}"/>
              </a:ext>
            </a:extLst>
          </p:cNvPr>
          <p:cNvSpPr>
            <a:spLocks noChangeArrowheads="1"/>
          </p:cNvSpPr>
          <p:nvPr/>
        </p:nvSpPr>
        <p:spPr bwMode="auto">
          <a:xfrm>
            <a:off x="814714" y="3626896"/>
            <a:ext cx="8207375" cy="550748"/>
          </a:xfrm>
          <a:prstGeom prst="rect">
            <a:avLst/>
          </a:prstGeom>
          <a:noFill/>
          <a:ln w="9525">
            <a:noFill/>
            <a:miter lim="800000"/>
            <a:headEnd/>
            <a:tailEnd/>
          </a:ln>
          <a:effectLst/>
        </p:spPr>
        <p:txBody>
          <a:bodyPr/>
          <a:lstStyle/>
          <a:p>
            <a:r>
              <a:rPr lang="en-US" altLang="zh-CN" sz="3600" dirty="0">
                <a:solidFill>
                  <a:srgbClr val="FFFFCC"/>
                </a:solidFill>
                <a:latin typeface="+mj-ea"/>
              </a:rPr>
              <a:t>show index from  teacher;</a:t>
            </a:r>
          </a:p>
          <a:p>
            <a:pPr fontAlgn="auto">
              <a:spcBef>
                <a:spcPts val="0"/>
              </a:spcBef>
              <a:spcAft>
                <a:spcPct val="15000"/>
              </a:spcAft>
              <a:buClr>
                <a:srgbClr val="66FF33"/>
              </a:buClr>
              <a:buSzPct val="85000"/>
              <a:defRPr/>
            </a:pPr>
            <a:endParaRPr kumimoji="0" lang="zh-CN" altLang="en-US" sz="3600" kern="0" dirty="0">
              <a:solidFill>
                <a:srgbClr val="66FF66"/>
              </a:solidFill>
              <a:effectLst>
                <a:outerShdw blurRad="38100" dist="38100" dir="2700000" algn="tl">
                  <a:srgbClr val="000000"/>
                </a:outerShdw>
              </a:effectLst>
              <a:latin typeface="Franklin Gothic Book"/>
              <a:ea typeface="黑体" panose="02010609060101010101" pitchFamily="49" charset="-122"/>
            </a:endParaRPr>
          </a:p>
        </p:txBody>
      </p:sp>
    </p:spTree>
    <p:extLst>
      <p:ext uri="{BB962C8B-B14F-4D97-AF65-F5344CB8AC3E}">
        <p14:creationId xmlns:p14="http://schemas.microsoft.com/office/powerpoint/2010/main" val="568232401"/>
      </p:ext>
    </p:extLst>
  </p:cSld>
  <p:clrMapOvr>
    <a:masterClrMapping/>
  </p:clrMapOvr>
  <p:transition spd="slow">
    <p:push dir="u"/>
    <p:sndAc>
      <p:stSnd>
        <p:snd r:embed="rId2" name="arrow.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2" y="1484784"/>
            <a:ext cx="10675973" cy="410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99109822"/>
      </p:ext>
    </p:extLst>
  </p:cSld>
  <p:clrMapOvr>
    <a:masterClrMapping/>
  </p:clrMapOvr>
  <p:transition spd="slow">
    <p:wipe dir="r"/>
    <p:sndAc>
      <p:stSnd>
        <p:snd r:embed="rId2" name="arrow.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body" idx="4294967295"/>
          </p:nvPr>
        </p:nvSpPr>
        <p:spPr>
          <a:xfrm>
            <a:off x="839416" y="260648"/>
            <a:ext cx="11064552" cy="6192688"/>
          </a:xfrm>
        </p:spPr>
        <p:txBody>
          <a:bodyPr>
            <a:noAutofit/>
          </a:bodyPr>
          <a:lstStyle/>
          <a:p>
            <a:pPr>
              <a:lnSpc>
                <a:spcPct val="150000"/>
              </a:lnSpc>
            </a:pPr>
            <a:r>
              <a:rPr lang="zh-CN" altLang="en-US" sz="2400">
                <a:latin typeface="微软雅黑" panose="020B0503020204020204" pitchFamily="34" charset="-122"/>
              </a:rPr>
              <a:t>由于索引会占用一定的系统资源，因此，为了避免影响数据库性能，应该及时删除不再使用的索引。</a:t>
            </a:r>
            <a:r>
              <a:rPr lang="en-US" altLang="zh-CN" sz="2400">
                <a:latin typeface="微软雅黑" panose="020B0503020204020204" pitchFamily="34" charset="-122"/>
              </a:rPr>
              <a:t>MySQL</a:t>
            </a:r>
            <a:r>
              <a:rPr lang="zh-CN" altLang="en-US" sz="2400">
                <a:latin typeface="微软雅黑" panose="020B0503020204020204" pitchFamily="34" charset="-122"/>
              </a:rPr>
              <a:t>中有两种方法删除索引。</a:t>
            </a:r>
          </a:p>
          <a:p>
            <a:pPr>
              <a:lnSpc>
                <a:spcPct val="150000"/>
              </a:lnSpc>
              <a:buFontTx/>
              <a:buNone/>
            </a:pPr>
            <a:r>
              <a:rPr lang="en-US" altLang="zh-CN" sz="2400">
                <a:latin typeface="微软雅黑" panose="020B0503020204020204" pitchFamily="34" charset="-122"/>
              </a:rPr>
              <a:t>1.</a:t>
            </a:r>
            <a:r>
              <a:rPr lang="zh-CN" altLang="en-US" sz="2400">
                <a:latin typeface="微软雅黑" panose="020B0503020204020204" pitchFamily="34" charset="-122"/>
              </a:rPr>
              <a:t>使用</a:t>
            </a:r>
            <a:r>
              <a:rPr lang="en-US" altLang="zh-CN" sz="2400">
                <a:solidFill>
                  <a:srgbClr val="C00000"/>
                </a:solidFill>
                <a:latin typeface="微软雅黑" panose="020B0503020204020204" pitchFamily="34" charset="-122"/>
              </a:rPr>
              <a:t>DROP IN</a:t>
            </a:r>
            <a:r>
              <a:rPr lang="en-US" altLang="zh-CN" sz="2400">
                <a:latin typeface="微软雅黑" panose="020B0503020204020204" pitchFamily="34" charset="-122"/>
              </a:rPr>
              <a:t>DEX</a:t>
            </a:r>
            <a:r>
              <a:rPr lang="zh-CN" altLang="en-US" sz="2400">
                <a:latin typeface="微软雅黑" panose="020B0503020204020204" pitchFamily="34" charset="-122"/>
              </a:rPr>
              <a:t>删除索引，基本语法格式如下：</a:t>
            </a:r>
          </a:p>
          <a:p>
            <a:pPr>
              <a:lnSpc>
                <a:spcPct val="150000"/>
              </a:lnSpc>
              <a:buFontTx/>
              <a:buNone/>
            </a:pPr>
            <a:r>
              <a:rPr lang="en-US" altLang="zh-CN" sz="2400">
                <a:latin typeface="微软雅黑" panose="020B0503020204020204" pitchFamily="34" charset="-122"/>
              </a:rPr>
              <a:t>DROP INDEX </a:t>
            </a:r>
            <a:r>
              <a:rPr lang="zh-CN" altLang="en-US" sz="2400">
                <a:latin typeface="微软雅黑" panose="020B0503020204020204" pitchFamily="34" charset="-122"/>
              </a:rPr>
              <a:t>索引名 </a:t>
            </a:r>
            <a:r>
              <a:rPr lang="en-US" altLang="zh-CN" sz="2400">
                <a:latin typeface="微软雅黑" panose="020B0503020204020204" pitchFamily="34" charset="-122"/>
              </a:rPr>
              <a:t>ON </a:t>
            </a:r>
            <a:r>
              <a:rPr lang="zh-CN" altLang="en-US" sz="2400">
                <a:latin typeface="微软雅黑" panose="020B0503020204020204" pitchFamily="34" charset="-122"/>
              </a:rPr>
              <a:t>表名</a:t>
            </a:r>
            <a:r>
              <a:rPr lang="en-US" altLang="zh-CN" sz="2400">
                <a:latin typeface="微软雅黑" panose="020B0503020204020204" pitchFamily="34" charset="-122"/>
              </a:rPr>
              <a:t>;</a:t>
            </a:r>
          </a:p>
          <a:p>
            <a:pPr>
              <a:lnSpc>
                <a:spcPct val="150000"/>
              </a:lnSpc>
              <a:buFontTx/>
              <a:buNone/>
            </a:pPr>
            <a:endParaRPr lang="en-US" altLang="zh-CN" sz="2400">
              <a:latin typeface="微软雅黑" panose="020B0503020204020204" pitchFamily="34" charset="-122"/>
            </a:endParaRPr>
          </a:p>
          <a:p>
            <a:pPr>
              <a:lnSpc>
                <a:spcPct val="150000"/>
              </a:lnSpc>
            </a:pPr>
            <a:r>
              <a:rPr lang="en-US" altLang="zh-CN" sz="2400">
                <a:latin typeface="微软雅黑" panose="020B0503020204020204" pitchFamily="34" charset="-122"/>
              </a:rPr>
              <a:t>【</a:t>
            </a:r>
            <a:r>
              <a:rPr lang="zh-CN" altLang="en-US" sz="2400">
                <a:latin typeface="微软雅黑" panose="020B0503020204020204" pitchFamily="34" charset="-122"/>
              </a:rPr>
              <a:t>例</a:t>
            </a:r>
            <a:r>
              <a:rPr lang="en-US" altLang="zh-CN" sz="2400">
                <a:latin typeface="微软雅黑" panose="020B0503020204020204" pitchFamily="34" charset="-122"/>
              </a:rPr>
              <a:t>5-7】</a:t>
            </a:r>
            <a:r>
              <a:rPr lang="zh-CN" altLang="en-US" sz="2400">
                <a:latin typeface="微软雅黑" panose="020B0503020204020204" pitchFamily="34" charset="-122"/>
              </a:rPr>
              <a:t>删除表</a:t>
            </a:r>
            <a:r>
              <a:rPr lang="en-US" altLang="zh-CN" sz="2400">
                <a:latin typeface="微软雅黑" panose="020B0503020204020204" pitchFamily="34" charset="-122"/>
              </a:rPr>
              <a:t>SC</a:t>
            </a:r>
            <a:r>
              <a:rPr lang="zh-CN" altLang="en-US" sz="2400">
                <a:latin typeface="微软雅黑" panose="020B0503020204020204" pitchFamily="34" charset="-122"/>
              </a:rPr>
              <a:t>中名称为</a:t>
            </a:r>
            <a:r>
              <a:rPr lang="en-US" altLang="zh-CN" sz="2400">
                <a:latin typeface="微软雅黑" panose="020B0503020204020204" pitchFamily="34" charset="-122"/>
              </a:rPr>
              <a:t>idx_sname</a:t>
            </a:r>
            <a:r>
              <a:rPr lang="zh-CN" altLang="en-US" sz="2400">
                <a:latin typeface="微软雅黑" panose="020B0503020204020204" pitchFamily="34" charset="-122"/>
              </a:rPr>
              <a:t>的索引。</a:t>
            </a:r>
          </a:p>
          <a:p>
            <a:pPr>
              <a:lnSpc>
                <a:spcPct val="150000"/>
              </a:lnSpc>
            </a:pPr>
            <a:r>
              <a:rPr lang="en-US" altLang="zh-CN" sz="2400">
                <a:latin typeface="微软雅黑" panose="020B0503020204020204" pitchFamily="34" charset="-122"/>
              </a:rPr>
              <a:t>DROP INDEX idx_sname ON SC;</a:t>
            </a:r>
          </a:p>
          <a:p>
            <a:pPr>
              <a:lnSpc>
                <a:spcPct val="150000"/>
              </a:lnSpc>
            </a:pPr>
            <a:endParaRPr lang="en-US" altLang="zh-CN" sz="2400">
              <a:latin typeface="微软雅黑" panose="020B0503020204020204" pitchFamily="34" charset="-122"/>
            </a:endParaRPr>
          </a:p>
          <a:p>
            <a:pPr>
              <a:lnSpc>
                <a:spcPct val="150000"/>
              </a:lnSpc>
              <a:buFontTx/>
              <a:buNone/>
            </a:pPr>
            <a:r>
              <a:rPr lang="en-US" altLang="zh-CN" sz="2400">
                <a:latin typeface="微软雅黑" panose="020B0503020204020204" pitchFamily="34" charset="-122"/>
              </a:rPr>
              <a:t>2.</a:t>
            </a:r>
            <a:r>
              <a:rPr lang="zh-CN" altLang="en-US" sz="2400">
                <a:latin typeface="微软雅黑" panose="020B0503020204020204" pitchFamily="34" charset="-122"/>
              </a:rPr>
              <a:t>使用</a:t>
            </a:r>
            <a:r>
              <a:rPr lang="en-US" altLang="zh-CN" sz="2400">
                <a:solidFill>
                  <a:srgbClr val="C00000"/>
                </a:solidFill>
                <a:latin typeface="微软雅黑" panose="020B0503020204020204" pitchFamily="34" charset="-122"/>
              </a:rPr>
              <a:t>ALTER TABLE</a:t>
            </a:r>
            <a:r>
              <a:rPr lang="zh-CN" altLang="en-US" sz="2400">
                <a:solidFill>
                  <a:srgbClr val="C00000"/>
                </a:solidFill>
                <a:latin typeface="微软雅黑" panose="020B0503020204020204" pitchFamily="34" charset="-122"/>
              </a:rPr>
              <a:t>语句</a:t>
            </a:r>
            <a:r>
              <a:rPr lang="zh-CN" altLang="en-US" sz="2400">
                <a:latin typeface="微软雅黑" panose="020B0503020204020204" pitchFamily="34" charset="-122"/>
              </a:rPr>
              <a:t>删除索引，基本语法格式如下：</a:t>
            </a:r>
          </a:p>
          <a:p>
            <a:pPr>
              <a:lnSpc>
                <a:spcPct val="150000"/>
              </a:lnSpc>
              <a:buFontTx/>
              <a:buNone/>
            </a:pPr>
            <a:r>
              <a:rPr lang="en-US" altLang="zh-CN" sz="2400">
                <a:latin typeface="微软雅黑" panose="020B0503020204020204" pitchFamily="34" charset="-122"/>
              </a:rPr>
              <a:t>ALTER TABLE </a:t>
            </a:r>
            <a:r>
              <a:rPr lang="zh-CN" altLang="en-US" sz="2400">
                <a:latin typeface="微软雅黑" panose="020B0503020204020204" pitchFamily="34" charset="-122"/>
              </a:rPr>
              <a:t>表名 </a:t>
            </a:r>
            <a:r>
              <a:rPr lang="en-US" altLang="zh-CN" sz="2400">
                <a:latin typeface="微软雅黑" panose="020B0503020204020204" pitchFamily="34" charset="-122"/>
              </a:rPr>
              <a:t>DROP INDEX </a:t>
            </a:r>
            <a:r>
              <a:rPr lang="zh-CN" altLang="en-US" sz="2400">
                <a:latin typeface="微软雅黑" panose="020B0503020204020204" pitchFamily="34" charset="-122"/>
              </a:rPr>
              <a:t>索引名</a:t>
            </a:r>
            <a:r>
              <a:rPr lang="en-US" altLang="zh-CN" sz="2400">
                <a:latin typeface="微软雅黑" panose="020B0503020204020204" pitchFamily="34" charset="-122"/>
              </a:rPr>
              <a:t>;</a:t>
            </a:r>
          </a:p>
          <a:p>
            <a:pPr>
              <a:lnSpc>
                <a:spcPct val="150000"/>
              </a:lnSpc>
              <a:buFontTx/>
              <a:buNone/>
            </a:pPr>
            <a:endParaRPr lang="en-US" altLang="zh-CN" sz="2400">
              <a:latin typeface="微软雅黑" panose="020B0503020204020204" pitchFamily="34" charset="-122"/>
            </a:endParaRPr>
          </a:p>
          <a:p>
            <a:pPr>
              <a:lnSpc>
                <a:spcPct val="150000"/>
              </a:lnSpc>
            </a:pPr>
            <a:r>
              <a:rPr lang="en-US" altLang="zh-CN" sz="2400">
                <a:latin typeface="微软雅黑" panose="020B0503020204020204" pitchFamily="34" charset="-122"/>
              </a:rPr>
              <a:t>【</a:t>
            </a:r>
            <a:r>
              <a:rPr lang="zh-CN" altLang="en-US" sz="2400">
                <a:latin typeface="微软雅黑" panose="020B0503020204020204" pitchFamily="34" charset="-122"/>
              </a:rPr>
              <a:t>例</a:t>
            </a:r>
            <a:r>
              <a:rPr lang="en-US" altLang="zh-CN" sz="2400">
                <a:latin typeface="微软雅黑" panose="020B0503020204020204" pitchFamily="34" charset="-122"/>
              </a:rPr>
              <a:t>5-8】</a:t>
            </a:r>
            <a:r>
              <a:rPr lang="zh-CN" altLang="en-US" sz="2400">
                <a:latin typeface="微软雅黑" panose="020B0503020204020204" pitchFamily="34" charset="-122"/>
              </a:rPr>
              <a:t>删除表</a:t>
            </a:r>
            <a:r>
              <a:rPr lang="en-US" altLang="zh-CN" sz="2400">
                <a:latin typeface="微软雅黑" panose="020B0503020204020204" pitchFamily="34" charset="-122"/>
              </a:rPr>
              <a:t>SC</a:t>
            </a:r>
            <a:r>
              <a:rPr lang="zh-CN" altLang="en-US" sz="2400">
                <a:latin typeface="微软雅黑" panose="020B0503020204020204" pitchFamily="34" charset="-122"/>
              </a:rPr>
              <a:t>中名称为</a:t>
            </a:r>
            <a:r>
              <a:rPr lang="en-US" altLang="zh-CN" sz="2400">
                <a:latin typeface="微软雅黑" panose="020B0503020204020204" pitchFamily="34" charset="-122"/>
              </a:rPr>
              <a:t>uk_sno_cno</a:t>
            </a:r>
            <a:r>
              <a:rPr lang="zh-CN" altLang="en-US" sz="2400">
                <a:latin typeface="微软雅黑" panose="020B0503020204020204" pitchFamily="34" charset="-122"/>
              </a:rPr>
              <a:t>的索引。</a:t>
            </a:r>
          </a:p>
          <a:p>
            <a:pPr>
              <a:lnSpc>
                <a:spcPct val="150000"/>
              </a:lnSpc>
              <a:buFontTx/>
              <a:buNone/>
            </a:pPr>
            <a:r>
              <a:rPr lang="en-US" altLang="zh-CN" sz="2400">
                <a:latin typeface="微软雅黑" panose="020B0503020204020204" pitchFamily="34" charset="-122"/>
              </a:rPr>
              <a:t>ALTER TABLE SC DROP INDEX uk_sno_cno;</a:t>
            </a:r>
            <a:endParaRPr lang="zh-CN" altLang="en-US" sz="2400">
              <a:latin typeface="微软雅黑" panose="020B0503020204020204" pitchFamily="34" charset="-122"/>
            </a:endParaRPr>
          </a:p>
        </p:txBody>
      </p:sp>
    </p:spTree>
    <p:extLst>
      <p:ext uri="{BB962C8B-B14F-4D97-AF65-F5344CB8AC3E}">
        <p14:creationId xmlns:p14="http://schemas.microsoft.com/office/powerpoint/2010/main" val="3773347650"/>
      </p:ext>
    </p:extLst>
  </p:cSld>
  <p:clrMapOvr>
    <a:masterClrMapping/>
  </p:clrMapOvr>
  <p:transition spd="slow">
    <p:wipe dir="r"/>
    <p:sndAc>
      <p:stSnd>
        <p:snd r:embed="rId2" name="arrow.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4294967295"/>
          </p:nvPr>
        </p:nvSpPr>
        <p:spPr>
          <a:xfrm>
            <a:off x="1199456" y="476672"/>
            <a:ext cx="10513168" cy="5904656"/>
          </a:xfrm>
        </p:spPr>
        <p:txBody>
          <a:bodyPr>
            <a:noAutofit/>
          </a:bodyPr>
          <a:lstStyle/>
          <a:p>
            <a:pPr>
              <a:lnSpc>
                <a:spcPct val="150000"/>
              </a:lnSpc>
            </a:pPr>
            <a:r>
              <a:rPr lang="en-US" altLang="zh-CN" sz="2800">
                <a:latin typeface="微软雅黑" panose="020B0503020204020204" pitchFamily="34" charset="-122"/>
              </a:rPr>
              <a:t>SOL</a:t>
            </a:r>
            <a:r>
              <a:rPr lang="zh-CN" altLang="en-US" sz="2800">
                <a:latin typeface="微软雅黑" panose="020B0503020204020204" pitchFamily="34" charset="-122"/>
              </a:rPr>
              <a:t>语句支持用户根据应用环境的需要在基本表上建立</a:t>
            </a:r>
            <a:r>
              <a:rPr lang="zh-CN" altLang="en-US" sz="2800">
                <a:solidFill>
                  <a:srgbClr val="C00000"/>
                </a:solidFill>
                <a:latin typeface="微软雅黑" panose="020B0503020204020204" pitchFamily="34" charset="-122"/>
              </a:rPr>
              <a:t>一个或多个索引</a:t>
            </a:r>
            <a:r>
              <a:rPr lang="zh-CN" altLang="en-US" sz="2800">
                <a:latin typeface="微软雅黑" panose="020B0503020204020204" pitchFamily="34" charset="-122"/>
              </a:rPr>
              <a:t>，以提供多种存取路径。一般说来，建立与删除索引由</a:t>
            </a:r>
            <a:r>
              <a:rPr lang="zh-CN" altLang="en-US" sz="2800">
                <a:solidFill>
                  <a:srgbClr val="C00000"/>
                </a:solidFill>
                <a:latin typeface="微软雅黑" panose="020B0503020204020204" pitchFamily="34" charset="-122"/>
              </a:rPr>
              <a:t>数据库管理员或表的属主</a:t>
            </a:r>
            <a:r>
              <a:rPr lang="zh-CN" altLang="en-US" sz="2800">
                <a:latin typeface="微软雅黑" panose="020B0503020204020204" pitchFamily="34" charset="-122"/>
              </a:rPr>
              <a:t>负责完成。</a:t>
            </a:r>
            <a:r>
              <a:rPr lang="en-US" altLang="zh-CN" sz="2800">
                <a:solidFill>
                  <a:srgbClr val="C00000"/>
                </a:solidFill>
                <a:latin typeface="微软雅黑" panose="020B0503020204020204" pitchFamily="34" charset="-122"/>
              </a:rPr>
              <a:t>DBMS</a:t>
            </a:r>
            <a:r>
              <a:rPr lang="zh-CN" altLang="en-US" sz="2800">
                <a:latin typeface="微软雅黑" panose="020B0503020204020204" pitchFamily="34" charset="-122"/>
              </a:rPr>
              <a:t>在存取数据时会自动选择合适的索引作为</a:t>
            </a:r>
            <a:r>
              <a:rPr lang="zh-CN" altLang="en-US" sz="2800">
                <a:solidFill>
                  <a:srgbClr val="C00000"/>
                </a:solidFill>
                <a:latin typeface="微软雅黑" panose="020B0503020204020204" pitchFamily="34" charset="-122"/>
              </a:rPr>
              <a:t>存取路径</a:t>
            </a:r>
            <a:r>
              <a:rPr lang="zh-CN" altLang="en-US" sz="2800">
                <a:latin typeface="微软雅黑" panose="020B0503020204020204" pitchFamily="34" charset="-122"/>
              </a:rPr>
              <a:t>，用户不必也不能人为选择索引。</a:t>
            </a:r>
          </a:p>
          <a:p>
            <a:pPr>
              <a:lnSpc>
                <a:spcPct val="150000"/>
              </a:lnSpc>
            </a:pPr>
            <a:r>
              <a:rPr lang="zh-CN" altLang="en-US" sz="2800">
                <a:latin typeface="微软雅黑" panose="020B0503020204020204" pitchFamily="34" charset="-122"/>
              </a:rPr>
              <a:t>虽然索引可以提高数据的查询效率，但它会占用一定的</a:t>
            </a:r>
            <a:r>
              <a:rPr lang="zh-CN" altLang="en-US" sz="2800">
                <a:solidFill>
                  <a:srgbClr val="C00000"/>
                </a:solidFill>
                <a:latin typeface="微软雅黑" panose="020B0503020204020204" pitchFamily="34" charset="-122"/>
              </a:rPr>
              <a:t>存储空间</a:t>
            </a:r>
            <a:r>
              <a:rPr lang="zh-CN" altLang="en-US" sz="2800">
                <a:latin typeface="微软雅黑" panose="020B0503020204020204" pitchFamily="34" charset="-122"/>
              </a:rPr>
              <a:t>，并且为了维护索引的有效性，在向表中插入、删除或者更新数据时，数据库还要自动执行额外的操作来维护索引。</a:t>
            </a:r>
          </a:p>
        </p:txBody>
      </p:sp>
    </p:spTree>
    <p:extLst>
      <p:ext uri="{BB962C8B-B14F-4D97-AF65-F5344CB8AC3E}">
        <p14:creationId xmlns:p14="http://schemas.microsoft.com/office/powerpoint/2010/main" val="1357420661"/>
      </p:ext>
    </p:extLst>
  </p:cSld>
  <p:clrMapOvr>
    <a:masterClrMapping/>
  </p:clrMapOvr>
  <p:transition spd="slow">
    <p:wipe dir="r"/>
    <p:sndAc>
      <p:stSnd>
        <p:snd r:embed="rId2" name="arrow.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3736133"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索引的几点说明</a:t>
            </a:r>
            <a:endParaRPr lang="zh-CN" altLang="en-US" sz="4000" b="1" dirty="0">
              <a:solidFill>
                <a:srgbClr val="FFFFCC"/>
              </a:solidFill>
              <a:effectLst>
                <a:outerShdw blurRad="38100" dist="38100" dir="2700000" algn="tl">
                  <a:srgbClr val="000000"/>
                </a:outerShdw>
              </a:effectLst>
              <a:cs typeface="+mn-cs"/>
            </a:endParaRPr>
          </a:p>
        </p:txBody>
      </p:sp>
      <p:sp>
        <p:nvSpPr>
          <p:cNvPr id="11" name="文本框 10">
            <a:extLst>
              <a:ext uri="{FF2B5EF4-FFF2-40B4-BE49-F238E27FC236}">
                <a16:creationId xmlns:a16="http://schemas.microsoft.com/office/drawing/2014/main" id="{DE13E26B-C604-4BA1-8866-07C09E1C02C5}"/>
              </a:ext>
            </a:extLst>
          </p:cNvPr>
          <p:cNvSpPr txBox="1"/>
          <p:nvPr/>
        </p:nvSpPr>
        <p:spPr>
          <a:xfrm>
            <a:off x="515380" y="1556792"/>
            <a:ext cx="11161240" cy="4481227"/>
          </a:xfrm>
          <a:prstGeom prst="rect">
            <a:avLst/>
          </a:prstGeom>
          <a:noFill/>
        </p:spPr>
        <p:txBody>
          <a:bodyPr wrap="square" rtlCol="0">
            <a:spAutoFit/>
          </a:bodyPr>
          <a:lstStyle/>
          <a:p>
            <a:pPr marL="342900" indent="-342900">
              <a:lnSpc>
                <a:spcPct val="120000"/>
              </a:lnSpc>
              <a:spcBef>
                <a:spcPts val="0"/>
              </a:spcBef>
              <a:spcAft>
                <a:spcPts val="1200"/>
              </a:spcAft>
              <a:buFont typeface="Arial" panose="020B0604020202020204" pitchFamily="34" charset="0"/>
              <a:buChar char="•"/>
            </a:pPr>
            <a:r>
              <a:rPr lang="zh-CN" altLang="en-US" sz="2800" dirty="0">
                <a:solidFill>
                  <a:schemeClr val="bg1"/>
                </a:solidFill>
                <a:latin typeface="Times New Roman" panose="02020603050405020304" charset="0"/>
              </a:rPr>
              <a:t>应该对查询频率高的列建索引，以提高查询效率；</a:t>
            </a:r>
          </a:p>
          <a:p>
            <a:pPr marL="342900" indent="-342900">
              <a:lnSpc>
                <a:spcPct val="120000"/>
              </a:lnSpc>
              <a:spcBef>
                <a:spcPts val="0"/>
              </a:spcBef>
              <a:spcAft>
                <a:spcPts val="1200"/>
              </a:spcAft>
              <a:buFont typeface="Arial" panose="020B0604020202020204" pitchFamily="34" charset="0"/>
              <a:buChar char="•"/>
            </a:pPr>
            <a:r>
              <a:rPr lang="zh-CN" altLang="en-US" sz="2800" dirty="0">
                <a:solidFill>
                  <a:schemeClr val="bg1"/>
                </a:solidFill>
                <a:latin typeface="Times New Roman" panose="02020603050405020304" charset="0"/>
              </a:rPr>
              <a:t>索引可以随时建立和删除；</a:t>
            </a:r>
          </a:p>
          <a:p>
            <a:pPr marL="342900" indent="-342900">
              <a:lnSpc>
                <a:spcPct val="120000"/>
              </a:lnSpc>
              <a:spcBef>
                <a:spcPts val="0"/>
              </a:spcBef>
              <a:spcAft>
                <a:spcPts val="1200"/>
              </a:spcAft>
              <a:buFont typeface="Arial" panose="020B0604020202020204" pitchFamily="34" charset="0"/>
              <a:buChar char="•"/>
            </a:pPr>
            <a:r>
              <a:rPr lang="zh-CN" altLang="en-US" sz="2800" dirty="0">
                <a:solidFill>
                  <a:schemeClr val="bg1"/>
                </a:solidFill>
                <a:latin typeface="Times New Roman" panose="02020603050405020304" charset="0"/>
              </a:rPr>
              <a:t>索引的使用和维护一般是完全由</a:t>
            </a:r>
            <a:r>
              <a:rPr lang="en-US" altLang="zh-CN" sz="2800" dirty="0">
                <a:solidFill>
                  <a:srgbClr val="C00000"/>
                </a:solidFill>
                <a:latin typeface="Times New Roman" panose="02020603050405020304" charset="0"/>
              </a:rPr>
              <a:t>DBMS</a:t>
            </a:r>
            <a:r>
              <a:rPr lang="zh-CN" altLang="en-US" sz="2800" dirty="0">
                <a:solidFill>
                  <a:schemeClr val="bg1"/>
                </a:solidFill>
                <a:latin typeface="Times New Roman" panose="02020603050405020304" charset="0"/>
              </a:rPr>
              <a:t>决定，当然也可以人为干预；</a:t>
            </a:r>
          </a:p>
          <a:p>
            <a:pPr marL="342900" indent="-342900">
              <a:lnSpc>
                <a:spcPct val="120000"/>
              </a:lnSpc>
              <a:spcBef>
                <a:spcPts val="0"/>
              </a:spcBef>
              <a:spcAft>
                <a:spcPts val="1200"/>
              </a:spcAft>
              <a:buFont typeface="Arial" panose="020B0604020202020204" pitchFamily="34" charset="0"/>
              <a:buChar char="•"/>
            </a:pPr>
            <a:r>
              <a:rPr lang="zh-CN" altLang="en-US" sz="2800" dirty="0">
                <a:solidFill>
                  <a:schemeClr val="bg1"/>
                </a:solidFill>
                <a:latin typeface="Times New Roman" panose="02020603050405020304" charset="0"/>
              </a:rPr>
              <a:t>一张表上可以建多个索引，</a:t>
            </a:r>
            <a:r>
              <a:rPr lang="zh-CN" altLang="zh-CN" sz="2800" dirty="0">
                <a:solidFill>
                  <a:schemeClr val="bg1"/>
                </a:solidFill>
              </a:rPr>
              <a:t>以便在不同的检索条件下都能高效查询</a:t>
            </a:r>
            <a:r>
              <a:rPr lang="zh-CN" altLang="en-US" sz="2800" dirty="0">
                <a:solidFill>
                  <a:schemeClr val="bg1"/>
                </a:solidFill>
              </a:rPr>
              <a:t>；</a:t>
            </a:r>
            <a:endParaRPr lang="en-US" altLang="zh-CN" sz="2800" dirty="0">
              <a:solidFill>
                <a:schemeClr val="bg1"/>
              </a:solidFill>
              <a:latin typeface="Times New Roman" panose="02020603050405020304" charset="0"/>
            </a:endParaRPr>
          </a:p>
          <a:p>
            <a:pPr marL="342900" indent="-342900">
              <a:lnSpc>
                <a:spcPct val="120000"/>
              </a:lnSpc>
              <a:spcBef>
                <a:spcPts val="0"/>
              </a:spcBef>
              <a:spcAft>
                <a:spcPts val="1200"/>
              </a:spcAft>
              <a:buFont typeface="Arial" panose="020B0604020202020204" pitchFamily="34" charset="0"/>
              <a:buChar char="•"/>
            </a:pPr>
            <a:r>
              <a:rPr lang="zh-CN" altLang="en-US" sz="2800" dirty="0">
                <a:solidFill>
                  <a:schemeClr val="bg1"/>
                </a:solidFill>
                <a:latin typeface="Times New Roman" panose="02020603050405020304" charset="0"/>
              </a:rPr>
              <a:t>索引过多会耗费更多的系统资源，且会降低插入、删除、更新数据的效率。</a:t>
            </a:r>
            <a:endParaRPr lang="en-US" altLang="zh-CN" sz="2800" dirty="0">
              <a:solidFill>
                <a:schemeClr val="bg1"/>
              </a:solidFill>
              <a:latin typeface="Times New Roman" panose="02020603050405020304" charset="0"/>
            </a:endParaRPr>
          </a:p>
          <a:p>
            <a:pPr marL="342900" indent="-342900">
              <a:lnSpc>
                <a:spcPct val="120000"/>
              </a:lnSpc>
              <a:spcBef>
                <a:spcPts val="0"/>
              </a:spcBef>
              <a:spcAft>
                <a:spcPts val="1200"/>
              </a:spcAft>
              <a:buFont typeface="Arial" panose="020B0604020202020204" pitchFamily="34" charset="0"/>
              <a:buChar char="•"/>
            </a:pPr>
            <a:r>
              <a:rPr lang="zh-CN" altLang="zh-CN" sz="2800" dirty="0">
                <a:solidFill>
                  <a:schemeClr val="bg1"/>
                </a:solidFill>
              </a:rPr>
              <a:t>取值离散的列才能建索引</a:t>
            </a:r>
            <a:r>
              <a:rPr lang="zh-CN" altLang="en-US" sz="2800" dirty="0">
                <a:solidFill>
                  <a:schemeClr val="bg1"/>
                </a:solidFill>
              </a:rPr>
              <a:t>，</a:t>
            </a:r>
            <a:r>
              <a:rPr lang="zh-CN" altLang="zh-CN" sz="2800" dirty="0">
                <a:solidFill>
                  <a:schemeClr val="bg1"/>
                </a:solidFill>
              </a:rPr>
              <a:t>反之就别浪费资源了</a:t>
            </a:r>
            <a:endParaRPr lang="en-US" altLang="zh-CN" sz="2800" dirty="0">
              <a:solidFill>
                <a:schemeClr val="bg1"/>
              </a:solidFill>
              <a:latin typeface="Times New Roman" panose="02020603050405020304" charset="0"/>
            </a:endParaRPr>
          </a:p>
        </p:txBody>
      </p:sp>
    </p:spTree>
    <p:extLst>
      <p:ext uri="{BB962C8B-B14F-4D97-AF65-F5344CB8AC3E}">
        <p14:creationId xmlns:p14="http://schemas.microsoft.com/office/powerpoint/2010/main" val="765311611"/>
      </p:ext>
    </p:extLst>
  </p:cSld>
  <p:clrMapOvr>
    <a:masterClrMapping/>
  </p:clrMapOvr>
  <p:transition spd="med">
    <p:pull/>
    <p:sndAc>
      <p:stSnd>
        <p:snd r:embed="rId2" name="arrow.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E76535D-1204-408C-A944-91A900F33F4C}"/>
              </a:ext>
            </a:extLst>
          </p:cNvPr>
          <p:cNvSpPr>
            <a:spLocks noGrp="1"/>
          </p:cNvSpPr>
          <p:nvPr>
            <p:ph type="title"/>
          </p:nvPr>
        </p:nvSpPr>
        <p:spPr>
          <a:xfrm>
            <a:off x="3287688" y="3529830"/>
            <a:ext cx="5224835" cy="1256758"/>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eaLnBrk="0" fontAlgn="base" hangingPunct="0">
              <a:spcAft>
                <a:spcPct val="0"/>
              </a:spcAft>
            </a:pPr>
            <a:r>
              <a:rPr lang="zh-CN" altLang="en-US" sz="6000" kern="1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视 图</a:t>
            </a:r>
          </a:p>
        </p:txBody>
      </p:sp>
      <p:sp>
        <p:nvSpPr>
          <p:cNvPr id="49" name="标题 1">
            <a:extLst>
              <a:ext uri="{FF2B5EF4-FFF2-40B4-BE49-F238E27FC236}">
                <a16:creationId xmlns:a16="http://schemas.microsoft.com/office/drawing/2014/main" id="{F20317A5-217E-4B1F-AC7B-1AA7AAA89A22}"/>
              </a:ext>
            </a:extLst>
          </p:cNvPr>
          <p:cNvSpPr txBox="1">
            <a:spLocks/>
          </p:cNvSpPr>
          <p:nvPr/>
        </p:nvSpPr>
        <p:spPr bwMode="auto">
          <a:xfrm>
            <a:off x="4727848" y="1844824"/>
            <a:ext cx="2458530"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zh-CN" altLang="en-US" sz="6000" b="1" i="0" u="none" strike="noStrike" kern="10" cap="none" spc="0" normalizeH="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二</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节</a:t>
            </a:r>
          </a:p>
        </p:txBody>
      </p:sp>
    </p:spTree>
    <p:extLst>
      <p:ext uri="{BB962C8B-B14F-4D97-AF65-F5344CB8AC3E}">
        <p14:creationId xmlns:p14="http://schemas.microsoft.com/office/powerpoint/2010/main" val="2050349625"/>
      </p:ext>
    </p:extLst>
  </p:cSld>
  <p:clrMapOvr>
    <a:masterClrMapping/>
  </p:clrMapOvr>
  <mc:AlternateContent xmlns:mc="http://schemas.openxmlformats.org/markup-compatibility/2006" xmlns:p14="http://schemas.microsoft.com/office/powerpoint/2010/main">
    <mc:Choice Requires="p14">
      <p:transition spd="slow" p14:dur="1400">
        <p14:doors dir="vert"/>
        <p:sndAc>
          <p:stSnd>
            <p:snd r:embed="rId2" name="arrow.wav"/>
          </p:stSnd>
        </p:sndAc>
      </p:transition>
    </mc:Choice>
    <mc:Fallback xmlns="">
      <p:transition spd="slow">
        <p:fade/>
        <p:sndAc>
          <p:stSnd>
            <p:snd r:embed="rId3" name="arrow.wav"/>
          </p:stSnd>
        </p:sndAc>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视图的概念</a:t>
            </a:r>
            <a:endParaRPr lang="zh-CN" altLang="en-US" sz="4000" b="1" dirty="0">
              <a:solidFill>
                <a:srgbClr val="FFFFCC"/>
              </a:solidFill>
              <a:effectLst>
                <a:outerShdw blurRad="38100" dist="38100" dir="2700000" algn="tl">
                  <a:srgbClr val="000000"/>
                </a:outerShdw>
              </a:effectLst>
              <a:cs typeface="+mn-cs"/>
            </a:endParaRPr>
          </a:p>
        </p:txBody>
      </p:sp>
      <p:sp>
        <p:nvSpPr>
          <p:cNvPr id="8" name="Rectangle 4">
            <a:extLst>
              <a:ext uri="{FF2B5EF4-FFF2-40B4-BE49-F238E27FC236}">
                <a16:creationId xmlns:a16="http://schemas.microsoft.com/office/drawing/2014/main" id="{50505F36-F466-4356-AFE1-F987A41782C9}"/>
              </a:ext>
            </a:extLst>
          </p:cNvPr>
          <p:cNvSpPr txBox="1">
            <a:spLocks noChangeArrowheads="1"/>
          </p:cNvSpPr>
          <p:nvPr/>
        </p:nvSpPr>
        <p:spPr bwMode="auto">
          <a:xfrm>
            <a:off x="479376" y="846778"/>
            <a:ext cx="11017224" cy="6604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50000"/>
              </a:lnSpc>
              <a:spcAft>
                <a:spcPct val="50000"/>
              </a:spcAft>
              <a:defRPr/>
            </a:pPr>
            <a:r>
              <a:rPr lang="zh-CN" altLang="en-US" sz="3600" kern="0" dirty="0">
                <a:latin typeface="Arial" charset="0"/>
              </a:rPr>
              <a:t>视图是由对基本表或其它视图的查询而导出的</a:t>
            </a:r>
            <a:r>
              <a:rPr lang="zh-CN" altLang="en-US" sz="3600" b="1" kern="0" dirty="0">
                <a:solidFill>
                  <a:srgbClr val="66FFFF"/>
                </a:solidFill>
                <a:latin typeface="Arial" charset="0"/>
              </a:rPr>
              <a:t>虚表</a:t>
            </a:r>
            <a:r>
              <a:rPr lang="zh-CN" altLang="en-US" sz="3600" kern="0" dirty="0">
                <a:latin typeface="Arial" charset="0"/>
              </a:rPr>
              <a:t>，</a:t>
            </a:r>
            <a:r>
              <a:rPr lang="zh-CN" altLang="en-US" sz="3600" dirty="0">
                <a:latin typeface="Times New Roman" panose="02020603050405020304" charset="0"/>
              </a:rPr>
              <a:t>它可以实现“部分”或“变相”使用或操作基本表。</a:t>
            </a:r>
            <a:endParaRPr lang="zh-CN" altLang="en-US" sz="3600" kern="0" dirty="0">
              <a:latin typeface="Arial" charset="0"/>
            </a:endParaRPr>
          </a:p>
        </p:txBody>
      </p:sp>
      <p:grpSp>
        <p:nvGrpSpPr>
          <p:cNvPr id="4" name="组合 3">
            <a:extLst>
              <a:ext uri="{FF2B5EF4-FFF2-40B4-BE49-F238E27FC236}">
                <a16:creationId xmlns:a16="http://schemas.microsoft.com/office/drawing/2014/main" id="{AF5F784D-594D-4F45-B827-A946532B1DD2}"/>
              </a:ext>
            </a:extLst>
          </p:cNvPr>
          <p:cNvGrpSpPr/>
          <p:nvPr/>
        </p:nvGrpSpPr>
        <p:grpSpPr>
          <a:xfrm>
            <a:off x="191344" y="2780928"/>
            <a:ext cx="11480318" cy="3562544"/>
            <a:chOff x="191344" y="2823074"/>
            <a:chExt cx="11480318" cy="3562544"/>
          </a:xfrm>
        </p:grpSpPr>
        <p:grpSp>
          <p:nvGrpSpPr>
            <p:cNvPr id="2" name="组合 1">
              <a:extLst>
                <a:ext uri="{FF2B5EF4-FFF2-40B4-BE49-F238E27FC236}">
                  <a16:creationId xmlns:a16="http://schemas.microsoft.com/office/drawing/2014/main" id="{8CACBE71-406F-47AA-8BD0-C34F8F7E2220}"/>
                </a:ext>
              </a:extLst>
            </p:cNvPr>
            <p:cNvGrpSpPr/>
            <p:nvPr/>
          </p:nvGrpSpPr>
          <p:grpSpPr>
            <a:xfrm>
              <a:off x="1955006" y="3717032"/>
              <a:ext cx="8281987" cy="2668586"/>
              <a:chOff x="2062957" y="3856287"/>
              <a:chExt cx="8281987" cy="2668586"/>
            </a:xfrm>
          </p:grpSpPr>
          <p:pic>
            <p:nvPicPr>
              <p:cNvPr id="9" name="Picture 26">
                <a:extLst>
                  <a:ext uri="{FF2B5EF4-FFF2-40B4-BE49-F238E27FC236}">
                    <a16:creationId xmlns:a16="http://schemas.microsoft.com/office/drawing/2014/main" id="{CDB56180-C98D-4B04-A4FF-6C0314EF32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1744" y="3861048"/>
                <a:ext cx="4943475" cy="1981200"/>
              </a:xfrm>
              <a:prstGeom prst="rect">
                <a:avLst/>
              </a:prstGeom>
              <a:noFill/>
              <a:ln w="38100" cap="sq"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27">
                <a:extLst>
                  <a:ext uri="{FF2B5EF4-FFF2-40B4-BE49-F238E27FC236}">
                    <a16:creationId xmlns:a16="http://schemas.microsoft.com/office/drawing/2014/main" id="{C59EC69D-A88C-43C5-8522-E2737AE0FE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2957" y="4797674"/>
                <a:ext cx="2428875" cy="1685925"/>
              </a:xfrm>
              <a:prstGeom prst="rect">
                <a:avLst/>
              </a:prstGeom>
              <a:noFill/>
              <a:ln w="28575"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11" name="Picture 28">
                <a:extLst>
                  <a:ext uri="{FF2B5EF4-FFF2-40B4-BE49-F238E27FC236}">
                    <a16:creationId xmlns:a16="http://schemas.microsoft.com/office/drawing/2014/main" id="{ED3BB1D7-F0E1-4B3B-8E6D-9D0E080646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9669" y="4797674"/>
                <a:ext cx="4105275" cy="1685925"/>
              </a:xfrm>
              <a:prstGeom prst="rect">
                <a:avLst/>
              </a:prstGeom>
              <a:noFill/>
              <a:ln w="28575" cap="sq" algn="ctr">
                <a:solidFill>
                  <a:srgbClr val="009900"/>
                </a:solidFill>
                <a:miter lim="800000"/>
                <a:headEnd/>
                <a:tailEnd/>
              </a:ln>
              <a:extLst>
                <a:ext uri="{909E8E84-426E-40DD-AFC4-6F175D3DCCD1}">
                  <a14:hiddenFill xmlns:a14="http://schemas.microsoft.com/office/drawing/2010/main">
                    <a:solidFill>
                      <a:srgbClr val="FFFFFF"/>
                    </a:solidFill>
                  </a14:hiddenFill>
                </a:ext>
              </a:extLst>
            </p:spPr>
          </p:pic>
          <p:sp>
            <p:nvSpPr>
              <p:cNvPr id="16" name="Line 29">
                <a:extLst>
                  <a:ext uri="{FF2B5EF4-FFF2-40B4-BE49-F238E27FC236}">
                    <a16:creationId xmlns:a16="http://schemas.microsoft.com/office/drawing/2014/main" id="{F549B9BD-FA3A-4E70-A798-0FB3E8CAC32E}"/>
                  </a:ext>
                </a:extLst>
              </p:cNvPr>
              <p:cNvSpPr>
                <a:spLocks noChangeShapeType="1"/>
              </p:cNvSpPr>
              <p:nvPr/>
            </p:nvSpPr>
            <p:spPr bwMode="auto">
              <a:xfrm flipV="1">
                <a:off x="4439444" y="3861049"/>
                <a:ext cx="4321175" cy="936625"/>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2000" kern="0">
                  <a:solidFill>
                    <a:sysClr val="windowText" lastClr="000000"/>
                  </a:solidFill>
                  <a:effectLst/>
                  <a:latin typeface="Franklin Gothic Book"/>
                  <a:ea typeface="黑体" panose="02010609060101010101" pitchFamily="49" charset="-122"/>
                </a:endParaRPr>
              </a:p>
            </p:txBody>
          </p:sp>
          <p:sp>
            <p:nvSpPr>
              <p:cNvPr id="17" name="Line 30">
                <a:extLst>
                  <a:ext uri="{FF2B5EF4-FFF2-40B4-BE49-F238E27FC236}">
                    <a16:creationId xmlns:a16="http://schemas.microsoft.com/office/drawing/2014/main" id="{BA806487-84A4-4EA6-8ECA-17E1DE75F87F}"/>
                  </a:ext>
                </a:extLst>
              </p:cNvPr>
              <p:cNvSpPr>
                <a:spLocks noChangeShapeType="1"/>
              </p:cNvSpPr>
              <p:nvPr/>
            </p:nvSpPr>
            <p:spPr bwMode="auto">
              <a:xfrm flipV="1">
                <a:off x="2062957" y="3861049"/>
                <a:ext cx="1728787" cy="936625"/>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2000" kern="0">
                  <a:solidFill>
                    <a:sysClr val="windowText" lastClr="000000"/>
                  </a:solidFill>
                  <a:effectLst/>
                  <a:latin typeface="Franklin Gothic Book"/>
                  <a:ea typeface="黑体" panose="02010609060101010101" pitchFamily="49" charset="-122"/>
                </a:endParaRPr>
              </a:p>
            </p:txBody>
          </p:sp>
          <p:sp>
            <p:nvSpPr>
              <p:cNvPr id="18" name="Line 33">
                <a:extLst>
                  <a:ext uri="{FF2B5EF4-FFF2-40B4-BE49-F238E27FC236}">
                    <a16:creationId xmlns:a16="http://schemas.microsoft.com/office/drawing/2014/main" id="{621B4EEC-B4EA-4CB2-85E6-15D9A32B08C2}"/>
                  </a:ext>
                </a:extLst>
              </p:cNvPr>
              <p:cNvSpPr>
                <a:spLocks noChangeShapeType="1"/>
              </p:cNvSpPr>
              <p:nvPr/>
            </p:nvSpPr>
            <p:spPr bwMode="auto">
              <a:xfrm flipV="1">
                <a:off x="4515644" y="6166099"/>
                <a:ext cx="1724025" cy="309563"/>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2000" kern="0">
                  <a:solidFill>
                    <a:sysClr val="windowText" lastClr="000000"/>
                  </a:solidFill>
                  <a:effectLst/>
                  <a:latin typeface="Franklin Gothic Book"/>
                  <a:ea typeface="黑体" panose="02010609060101010101" pitchFamily="49" charset="-122"/>
                </a:endParaRPr>
              </a:p>
            </p:txBody>
          </p:sp>
          <p:sp>
            <p:nvSpPr>
              <p:cNvPr id="19" name="Line 34">
                <a:extLst>
                  <a:ext uri="{FF2B5EF4-FFF2-40B4-BE49-F238E27FC236}">
                    <a16:creationId xmlns:a16="http://schemas.microsoft.com/office/drawing/2014/main" id="{77DB3F3C-6594-4E88-AD5E-4B48B9CD4D83}"/>
                  </a:ext>
                </a:extLst>
              </p:cNvPr>
              <p:cNvSpPr>
                <a:spLocks noChangeShapeType="1"/>
              </p:cNvSpPr>
              <p:nvPr/>
            </p:nvSpPr>
            <p:spPr bwMode="auto">
              <a:xfrm>
                <a:off x="3774282" y="3856287"/>
                <a:ext cx="2465387" cy="941387"/>
              </a:xfrm>
              <a:prstGeom prst="line">
                <a:avLst/>
              </a:prstGeom>
              <a:noFill/>
              <a:ln w="28575">
                <a:solidFill>
                  <a:srgbClr val="009900"/>
                </a:solidFill>
                <a:prstDash val="sysDot"/>
                <a:round/>
                <a:headEnd/>
                <a:tailEnd/>
              </a:ln>
              <a:effectLst/>
            </p:spPr>
            <p:txBody>
              <a:bodyPr/>
              <a:lstStyle/>
              <a:p>
                <a:pPr fontAlgn="auto">
                  <a:spcBef>
                    <a:spcPts val="0"/>
                  </a:spcBef>
                  <a:spcAft>
                    <a:spcPts val="0"/>
                  </a:spcAft>
                  <a:buSzTx/>
                  <a:defRPr/>
                </a:pPr>
                <a:endParaRPr kumimoji="0" lang="zh-CN" altLang="en-US" sz="2000" kern="0">
                  <a:solidFill>
                    <a:sysClr val="windowText" lastClr="000000"/>
                  </a:solidFill>
                  <a:effectLst/>
                  <a:latin typeface="Franklin Gothic Book"/>
                  <a:ea typeface="黑体" panose="02010609060101010101" pitchFamily="49" charset="-122"/>
                </a:endParaRPr>
              </a:p>
            </p:txBody>
          </p:sp>
          <p:sp>
            <p:nvSpPr>
              <p:cNvPr id="20" name="Line 35">
                <a:extLst>
                  <a:ext uri="{FF2B5EF4-FFF2-40B4-BE49-F238E27FC236}">
                    <a16:creationId xmlns:a16="http://schemas.microsoft.com/office/drawing/2014/main" id="{01F82C8A-9CE6-4335-BF94-B665EBC9A6CA}"/>
                  </a:ext>
                </a:extLst>
              </p:cNvPr>
              <p:cNvSpPr>
                <a:spLocks noChangeShapeType="1"/>
              </p:cNvSpPr>
              <p:nvPr/>
            </p:nvSpPr>
            <p:spPr bwMode="auto">
              <a:xfrm>
                <a:off x="8760619" y="3861049"/>
                <a:ext cx="1584325" cy="936625"/>
              </a:xfrm>
              <a:prstGeom prst="line">
                <a:avLst/>
              </a:prstGeom>
              <a:noFill/>
              <a:ln w="28575">
                <a:solidFill>
                  <a:srgbClr val="009900"/>
                </a:solidFill>
                <a:prstDash val="sysDot"/>
                <a:round/>
                <a:headEnd/>
                <a:tailEnd/>
              </a:ln>
              <a:effectLst/>
            </p:spPr>
            <p:txBody>
              <a:bodyPr/>
              <a:lstStyle/>
              <a:p>
                <a:pPr fontAlgn="auto">
                  <a:spcBef>
                    <a:spcPts val="0"/>
                  </a:spcBef>
                  <a:spcAft>
                    <a:spcPts val="0"/>
                  </a:spcAft>
                  <a:buSzTx/>
                  <a:defRPr/>
                </a:pPr>
                <a:endParaRPr kumimoji="0" lang="zh-CN" altLang="en-US" sz="2000" kern="0">
                  <a:solidFill>
                    <a:sysClr val="windowText" lastClr="000000"/>
                  </a:solidFill>
                  <a:effectLst/>
                  <a:latin typeface="Franklin Gothic Book"/>
                  <a:ea typeface="黑体" panose="02010609060101010101" pitchFamily="49" charset="-122"/>
                </a:endParaRPr>
              </a:p>
            </p:txBody>
          </p:sp>
          <p:sp>
            <p:nvSpPr>
              <p:cNvPr id="21" name="Line 36">
                <a:extLst>
                  <a:ext uri="{FF2B5EF4-FFF2-40B4-BE49-F238E27FC236}">
                    <a16:creationId xmlns:a16="http://schemas.microsoft.com/office/drawing/2014/main" id="{46BC3D5F-5E24-4287-A6C2-A9B78BD956D6}"/>
                  </a:ext>
                </a:extLst>
              </p:cNvPr>
              <p:cNvSpPr>
                <a:spLocks noChangeShapeType="1"/>
              </p:cNvSpPr>
              <p:nvPr/>
            </p:nvSpPr>
            <p:spPr bwMode="auto">
              <a:xfrm>
                <a:off x="4510882" y="6093073"/>
                <a:ext cx="1728787" cy="431800"/>
              </a:xfrm>
              <a:prstGeom prst="line">
                <a:avLst/>
              </a:prstGeom>
              <a:noFill/>
              <a:ln w="28575">
                <a:solidFill>
                  <a:srgbClr val="009900"/>
                </a:solidFill>
                <a:prstDash val="sysDot"/>
                <a:round/>
                <a:headEnd/>
                <a:tailEnd/>
              </a:ln>
              <a:effectLst/>
            </p:spPr>
            <p:txBody>
              <a:bodyPr/>
              <a:lstStyle/>
              <a:p>
                <a:pPr fontAlgn="auto">
                  <a:spcBef>
                    <a:spcPts val="0"/>
                  </a:spcBef>
                  <a:spcAft>
                    <a:spcPts val="0"/>
                  </a:spcAft>
                  <a:buSzTx/>
                  <a:defRPr/>
                </a:pPr>
                <a:endParaRPr kumimoji="0" lang="zh-CN" altLang="en-US" sz="2000" kern="0">
                  <a:solidFill>
                    <a:sysClr val="windowText" lastClr="000000"/>
                  </a:solidFill>
                  <a:effectLst/>
                  <a:latin typeface="Franklin Gothic Book"/>
                  <a:ea typeface="黑体" panose="02010609060101010101" pitchFamily="49" charset="-122"/>
                </a:endParaRPr>
              </a:p>
            </p:txBody>
          </p:sp>
        </p:grpSp>
        <p:sp>
          <p:nvSpPr>
            <p:cNvPr id="3" name="标注: 弯曲线形 2">
              <a:extLst>
                <a:ext uri="{FF2B5EF4-FFF2-40B4-BE49-F238E27FC236}">
                  <a16:creationId xmlns:a16="http://schemas.microsoft.com/office/drawing/2014/main" id="{A0CCFFF5-8B4F-417A-BA04-BD81C715E9D3}"/>
                </a:ext>
              </a:extLst>
            </p:cNvPr>
            <p:cNvSpPr/>
            <p:nvPr/>
          </p:nvSpPr>
          <p:spPr>
            <a:xfrm>
              <a:off x="191344" y="3934376"/>
              <a:ext cx="1552893" cy="506697"/>
            </a:xfrm>
            <a:prstGeom prst="borderCallout2">
              <a:avLst>
                <a:gd name="adj1" fmla="val 108538"/>
                <a:gd name="adj2" fmla="val 46350"/>
                <a:gd name="adj3" fmla="val 211153"/>
                <a:gd name="adj4" fmla="val 46117"/>
                <a:gd name="adj5" fmla="val 281814"/>
                <a:gd name="adj6" fmla="val 111981"/>
              </a:avLst>
            </a:prstGeom>
            <a:noFill/>
            <a:ln w="28575"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讲师视图</a:t>
              </a:r>
            </a:p>
          </p:txBody>
        </p:sp>
        <p:sp>
          <p:nvSpPr>
            <p:cNvPr id="22" name="标注: 弯曲线形 21">
              <a:extLst>
                <a:ext uri="{FF2B5EF4-FFF2-40B4-BE49-F238E27FC236}">
                  <a16:creationId xmlns:a16="http://schemas.microsoft.com/office/drawing/2014/main" id="{667AC3B2-1D5D-4C6F-91F8-050417A5732D}"/>
                </a:ext>
              </a:extLst>
            </p:cNvPr>
            <p:cNvSpPr/>
            <p:nvPr/>
          </p:nvSpPr>
          <p:spPr>
            <a:xfrm>
              <a:off x="11136560" y="3500456"/>
              <a:ext cx="535102" cy="2808312"/>
            </a:xfrm>
            <a:prstGeom prst="borderCallout2">
              <a:avLst>
                <a:gd name="adj1" fmla="val 44400"/>
                <a:gd name="adj2" fmla="val 1472"/>
                <a:gd name="adj3" fmla="val 65670"/>
                <a:gd name="adj4" fmla="val -41914"/>
                <a:gd name="adj5" fmla="val 65765"/>
                <a:gd name="adj6" fmla="val -165937"/>
              </a:avLst>
            </a:prstGeom>
            <a:noFill/>
            <a:ln w="28575" cap="sq" algn="ctr">
              <a:solidFill>
                <a:srgbClr val="009900"/>
              </a:solidFill>
              <a:miter lim="800000"/>
              <a:headEnd/>
              <a:tailEnd/>
            </a:ln>
            <a:extLst>
              <a:ext uri="{909E8E84-426E-40DD-AFC4-6F175D3DCCD1}">
                <a14:hiddenFill xmlns:a14="http://schemas.microsoft.com/office/drawing/2010/main">
                  <a:solidFill>
                    <a:srgbClr val="FF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已婚男老师 视图</a:t>
              </a:r>
            </a:p>
          </p:txBody>
        </p:sp>
        <p:sp>
          <p:nvSpPr>
            <p:cNvPr id="23" name="标注: 弯曲线形 22">
              <a:extLst>
                <a:ext uri="{FF2B5EF4-FFF2-40B4-BE49-F238E27FC236}">
                  <a16:creationId xmlns:a16="http://schemas.microsoft.com/office/drawing/2014/main" id="{8FBC3BE0-4BC1-4B17-9384-2FB66996E010}"/>
                </a:ext>
              </a:extLst>
            </p:cNvPr>
            <p:cNvSpPr/>
            <p:nvPr/>
          </p:nvSpPr>
          <p:spPr>
            <a:xfrm>
              <a:off x="8760296" y="2823074"/>
              <a:ext cx="1728787" cy="660400"/>
            </a:xfrm>
            <a:prstGeom prst="borderCallout2">
              <a:avLst>
                <a:gd name="adj1" fmla="val 48596"/>
                <a:gd name="adj2" fmla="val -665"/>
                <a:gd name="adj3" fmla="val 51684"/>
                <a:gd name="adj4" fmla="val -31229"/>
                <a:gd name="adj5" fmla="val 125905"/>
                <a:gd name="adj6" fmla="val -46796"/>
              </a:avLst>
            </a:prstGeom>
            <a:noFill/>
            <a:ln w="38100" cap="sq" algn="ctr">
              <a:solidFill>
                <a:schemeClr val="bg1"/>
              </a:solidFill>
              <a:miter lim="800000"/>
              <a:headEnd/>
              <a:tailEnd/>
            </a:ln>
            <a:extLst>
              <a:ext uri="{909E8E84-426E-40DD-AFC4-6F175D3DCCD1}">
                <a14:hiddenFill xmlns:a14="http://schemas.microsoft.com/office/drawing/2010/main">
                  <a:solidFill>
                    <a:srgbClr val="FF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教师基本表</a:t>
              </a:r>
            </a:p>
          </p:txBody>
        </p:sp>
      </p:grpSp>
    </p:spTree>
    <p:extLst>
      <p:ext uri="{BB962C8B-B14F-4D97-AF65-F5344CB8AC3E}">
        <p14:creationId xmlns:p14="http://schemas.microsoft.com/office/powerpoint/2010/main" val="3772630809"/>
      </p:ext>
    </p:extLst>
  </p:cSld>
  <p:clrMapOvr>
    <a:masterClrMapping/>
  </p:clrMapOvr>
  <p:transition spd="slow">
    <p:wipe dir="r"/>
    <p:sndAc>
      <p:stSnd>
        <p:snd r:embed="rId2" name="arrow.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视图的概念</a:t>
            </a:r>
            <a:endParaRPr lang="zh-CN" altLang="en-US" b="1" dirty="0">
              <a:solidFill>
                <a:srgbClr val="FFFFCC"/>
              </a:solidFill>
              <a:effectLst>
                <a:outerShdw blurRad="38100" dist="38100" dir="2700000" algn="tl">
                  <a:srgbClr val="000000"/>
                </a:outerShdw>
              </a:effectLst>
              <a:cs typeface="+mn-cs"/>
            </a:endParaRPr>
          </a:p>
        </p:txBody>
      </p:sp>
      <p:sp>
        <p:nvSpPr>
          <p:cNvPr id="8" name="Rectangle 4">
            <a:extLst>
              <a:ext uri="{FF2B5EF4-FFF2-40B4-BE49-F238E27FC236}">
                <a16:creationId xmlns:a16="http://schemas.microsoft.com/office/drawing/2014/main" id="{50505F36-F466-4356-AFE1-F987A41782C9}"/>
              </a:ext>
            </a:extLst>
          </p:cNvPr>
          <p:cNvSpPr txBox="1">
            <a:spLocks noChangeArrowheads="1"/>
          </p:cNvSpPr>
          <p:nvPr/>
        </p:nvSpPr>
        <p:spPr bwMode="auto">
          <a:xfrm>
            <a:off x="479376" y="846778"/>
            <a:ext cx="11017224" cy="6604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nSpc>
                <a:spcPct val="120000"/>
              </a:lnSpc>
              <a:spcBef>
                <a:spcPts val="0"/>
              </a:spcBef>
              <a:spcAft>
                <a:spcPts val="1200"/>
              </a:spcAft>
              <a:buFont typeface="Arial" panose="020B0604020202020204" pitchFamily="34" charset="0"/>
              <a:buChar char="•"/>
            </a:pPr>
            <a:r>
              <a:rPr lang="zh-CN" altLang="en-US" sz="3200" dirty="0">
                <a:latin typeface="Times New Roman" panose="02020603050405020304" charset="0"/>
              </a:rPr>
              <a:t>视图只是保存在数据库中的一条有名称的 </a:t>
            </a:r>
            <a:r>
              <a:rPr lang="en-US" altLang="zh-CN" sz="3200" dirty="0">
                <a:latin typeface="Times New Roman" panose="02020603050405020304" charset="0"/>
              </a:rPr>
              <a:t>SELECT </a:t>
            </a:r>
            <a:r>
              <a:rPr lang="zh-CN" altLang="en-US" sz="3200" dirty="0">
                <a:latin typeface="Times New Roman" panose="02020603050405020304" charset="0"/>
              </a:rPr>
              <a:t>查询命令，即视图仅是</a:t>
            </a:r>
            <a:r>
              <a:rPr lang="zh-CN" altLang="en-US" sz="3200" dirty="0">
                <a:solidFill>
                  <a:srgbClr val="FFC000"/>
                </a:solidFill>
                <a:latin typeface="Times New Roman" panose="02020603050405020304" charset="0"/>
              </a:rPr>
              <a:t>查询数据的定义</a:t>
            </a:r>
            <a:r>
              <a:rPr lang="zh-CN" altLang="en-US" sz="3200" dirty="0">
                <a:latin typeface="Times New Roman" panose="02020603050405020304" charset="0"/>
              </a:rPr>
              <a:t>，而没有实质的数据，对视图的操作实质都是在操作基本表。</a:t>
            </a:r>
          </a:p>
          <a:p>
            <a:pPr eaLnBrk="1" hangingPunct="1">
              <a:spcAft>
                <a:spcPct val="50000"/>
              </a:spcAft>
              <a:defRPr/>
            </a:pPr>
            <a:endParaRPr lang="zh-CN" altLang="en-US" sz="3200" kern="0" dirty="0">
              <a:latin typeface="Arial" charset="0"/>
            </a:endParaRPr>
          </a:p>
        </p:txBody>
      </p:sp>
      <p:grpSp>
        <p:nvGrpSpPr>
          <p:cNvPr id="6" name="组合 5">
            <a:extLst>
              <a:ext uri="{FF2B5EF4-FFF2-40B4-BE49-F238E27FC236}">
                <a16:creationId xmlns:a16="http://schemas.microsoft.com/office/drawing/2014/main" id="{876625E5-A57B-48B2-B297-E6075DE0C923}"/>
              </a:ext>
            </a:extLst>
          </p:cNvPr>
          <p:cNvGrpSpPr/>
          <p:nvPr/>
        </p:nvGrpSpPr>
        <p:grpSpPr>
          <a:xfrm>
            <a:off x="1703512" y="4653136"/>
            <a:ext cx="8088651" cy="2012183"/>
            <a:chOff x="2135560" y="4482568"/>
            <a:chExt cx="7327004" cy="1822711"/>
          </a:xfrm>
        </p:grpSpPr>
        <p:pic>
          <p:nvPicPr>
            <p:cNvPr id="42" name="Picture 26">
              <a:extLst>
                <a:ext uri="{FF2B5EF4-FFF2-40B4-BE49-F238E27FC236}">
                  <a16:creationId xmlns:a16="http://schemas.microsoft.com/office/drawing/2014/main" id="{27A919D9-40DB-47E8-B399-6D97DA42B1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560" y="4509120"/>
              <a:ext cx="3379758" cy="1395038"/>
            </a:xfrm>
            <a:prstGeom prst="rect">
              <a:avLst/>
            </a:prstGeom>
            <a:noFill/>
            <a:ln w="38100" cap="sq" algn="ctr">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43" name="Line 29">
              <a:extLst>
                <a:ext uri="{FF2B5EF4-FFF2-40B4-BE49-F238E27FC236}">
                  <a16:creationId xmlns:a16="http://schemas.microsoft.com/office/drawing/2014/main" id="{81C09D84-E518-4D61-9101-E67226DCC2EE}"/>
                </a:ext>
              </a:extLst>
            </p:cNvPr>
            <p:cNvSpPr>
              <a:spLocks noChangeShapeType="1"/>
            </p:cNvSpPr>
            <p:nvPr/>
          </p:nvSpPr>
          <p:spPr bwMode="auto">
            <a:xfrm>
              <a:off x="5515318" y="4482568"/>
              <a:ext cx="2226329" cy="133694"/>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kern="0">
                <a:solidFill>
                  <a:schemeClr val="bg1"/>
                </a:solidFill>
                <a:effectLst/>
                <a:latin typeface="Franklin Gothic Book"/>
                <a:ea typeface="黑体" panose="02010609060101010101" pitchFamily="49" charset="-122"/>
              </a:endParaRPr>
            </a:p>
          </p:txBody>
        </p:sp>
        <p:sp>
          <p:nvSpPr>
            <p:cNvPr id="44" name="Line 33">
              <a:extLst>
                <a:ext uri="{FF2B5EF4-FFF2-40B4-BE49-F238E27FC236}">
                  <a16:creationId xmlns:a16="http://schemas.microsoft.com/office/drawing/2014/main" id="{ABAF0313-2882-4379-BFCC-980FF16ECA45}"/>
                </a:ext>
              </a:extLst>
            </p:cNvPr>
            <p:cNvSpPr>
              <a:spLocks noChangeShapeType="1"/>
            </p:cNvSpPr>
            <p:nvPr/>
          </p:nvSpPr>
          <p:spPr bwMode="auto">
            <a:xfrm flipV="1">
              <a:off x="5539626" y="5739587"/>
              <a:ext cx="2202021" cy="190105"/>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kern="0">
                <a:solidFill>
                  <a:schemeClr val="bg1"/>
                </a:solidFill>
                <a:effectLst/>
                <a:latin typeface="Franklin Gothic Book"/>
                <a:ea typeface="黑体" panose="02010609060101010101" pitchFamily="49" charset="-122"/>
              </a:endParaRPr>
            </a:p>
          </p:txBody>
        </p:sp>
        <p:pic>
          <p:nvPicPr>
            <p:cNvPr id="45" name="Picture 27">
              <a:extLst>
                <a:ext uri="{FF2B5EF4-FFF2-40B4-BE49-F238E27FC236}">
                  <a16:creationId xmlns:a16="http://schemas.microsoft.com/office/drawing/2014/main" id="{BEAC349C-9CFA-4450-A242-58B1E7F4FDC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1648" y="4616262"/>
              <a:ext cx="1660575" cy="1123325"/>
            </a:xfrm>
            <a:prstGeom prst="rect">
              <a:avLst/>
            </a:prstGeom>
            <a:noFill/>
            <a:ln w="28575" cap="sq"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46" name="矩形 45">
              <a:extLst>
                <a:ext uri="{FF2B5EF4-FFF2-40B4-BE49-F238E27FC236}">
                  <a16:creationId xmlns:a16="http://schemas.microsoft.com/office/drawing/2014/main" id="{D04D723A-5A87-4941-B96E-55E095E50213}"/>
                </a:ext>
              </a:extLst>
            </p:cNvPr>
            <p:cNvSpPr/>
            <p:nvPr/>
          </p:nvSpPr>
          <p:spPr>
            <a:xfrm>
              <a:off x="3109599" y="5905169"/>
              <a:ext cx="1248803" cy="400110"/>
            </a:xfrm>
            <a:prstGeom prst="rect">
              <a:avLst/>
            </a:prstGeom>
          </p:spPr>
          <p:txBody>
            <a:bodyPr wrap="none">
              <a:spAutoFit/>
            </a:bodyPr>
            <a:lstStyle/>
            <a:p>
              <a:r>
                <a:rPr lang="en-US" altLang="zh-CN" sz="2000" dirty="0">
                  <a:solidFill>
                    <a:schemeClr val="bg1"/>
                  </a:solidFill>
                  <a:latin typeface="Times New Roman" panose="02020603050405020304" charset="0"/>
                </a:rPr>
                <a:t>Teacher</a:t>
              </a:r>
              <a:r>
                <a:rPr lang="zh-CN" altLang="en-US" sz="2000" dirty="0">
                  <a:solidFill>
                    <a:schemeClr val="bg1"/>
                  </a:solidFill>
                  <a:latin typeface="Times New Roman" panose="02020603050405020304" charset="0"/>
                </a:rPr>
                <a:t>表</a:t>
              </a:r>
              <a:endParaRPr lang="zh-CN" altLang="en-US" sz="2000" dirty="0">
                <a:solidFill>
                  <a:schemeClr val="bg1"/>
                </a:solidFill>
              </a:endParaRPr>
            </a:p>
          </p:txBody>
        </p:sp>
        <p:sp>
          <p:nvSpPr>
            <p:cNvPr id="47" name="矩形 46">
              <a:extLst>
                <a:ext uri="{FF2B5EF4-FFF2-40B4-BE49-F238E27FC236}">
                  <a16:creationId xmlns:a16="http://schemas.microsoft.com/office/drawing/2014/main" id="{3B178AFF-2EE1-458F-8519-A0FB7BA4B7E3}"/>
                </a:ext>
              </a:extLst>
            </p:cNvPr>
            <p:cNvSpPr/>
            <p:nvPr/>
          </p:nvSpPr>
          <p:spPr>
            <a:xfrm>
              <a:off x="7928170" y="5905169"/>
              <a:ext cx="1534394" cy="400110"/>
            </a:xfrm>
            <a:prstGeom prst="rect">
              <a:avLst/>
            </a:prstGeom>
          </p:spPr>
          <p:txBody>
            <a:bodyPr wrap="none">
              <a:spAutoFit/>
            </a:bodyPr>
            <a:lstStyle/>
            <a:p>
              <a:pPr>
                <a:spcAft>
                  <a:spcPct val="50000"/>
                </a:spcAft>
              </a:pPr>
              <a:r>
                <a:rPr lang="en-US" altLang="zh-CN" sz="2000" dirty="0">
                  <a:solidFill>
                    <a:schemeClr val="bg1"/>
                  </a:solidFill>
                </a:rPr>
                <a:t>jiangshi</a:t>
              </a:r>
              <a:r>
                <a:rPr lang="zh-CN" altLang="en-US" sz="2000" dirty="0">
                  <a:solidFill>
                    <a:schemeClr val="bg1"/>
                  </a:solidFill>
                </a:rPr>
                <a:t>视图</a:t>
              </a:r>
            </a:p>
          </p:txBody>
        </p:sp>
      </p:grpSp>
      <p:sp>
        <p:nvSpPr>
          <p:cNvPr id="48" name="Rectangle 4">
            <a:extLst>
              <a:ext uri="{FF2B5EF4-FFF2-40B4-BE49-F238E27FC236}">
                <a16:creationId xmlns:a16="http://schemas.microsoft.com/office/drawing/2014/main" id="{3FC713C2-5CEB-4CFF-871A-D28D2B82613F}"/>
              </a:ext>
            </a:extLst>
          </p:cNvPr>
          <p:cNvSpPr>
            <a:spLocks noChangeArrowheads="1"/>
          </p:cNvSpPr>
          <p:nvPr/>
        </p:nvSpPr>
        <p:spPr bwMode="auto">
          <a:xfrm>
            <a:off x="914679" y="2904769"/>
            <a:ext cx="10509913" cy="1169551"/>
          </a:xfrm>
          <a:prstGeom prst="rect">
            <a:avLst/>
          </a:prstGeom>
          <a:noFill/>
        </p:spPr>
        <p:txBody>
          <a:bodyPr wrap="square" rtlCol="0">
            <a:spAutoFit/>
          </a:bodyPr>
          <a:lstStyle/>
          <a:p>
            <a:pPr>
              <a:spcAft>
                <a:spcPct val="50000"/>
              </a:spcAft>
            </a:pPr>
            <a:r>
              <a:rPr lang="en-US" altLang="zh-CN" sz="2800" dirty="0">
                <a:solidFill>
                  <a:schemeClr val="bg1"/>
                </a:solidFill>
                <a:latin typeface="Times New Roman" panose="02020603050405020304" pitchFamily="18" charset="0"/>
                <a:cs typeface="Times New Roman" pitchFamily="18" charset="0"/>
              </a:rPr>
              <a:t>CREATE View jiangshi  AS</a:t>
            </a:r>
          </a:p>
          <a:p>
            <a:pPr>
              <a:spcAft>
                <a:spcPct val="50000"/>
              </a:spcAft>
            </a:pPr>
            <a:r>
              <a:rPr lang="en-US" altLang="zh-CN" sz="2800" dirty="0">
                <a:solidFill>
                  <a:schemeClr val="bg1"/>
                </a:solidFill>
                <a:latin typeface="Times New Roman" panose="02020603050405020304" pitchFamily="18" charset="0"/>
                <a:cs typeface="Times New Roman" pitchFamily="18" charset="0"/>
              </a:rPr>
              <a:t>Select </a:t>
            </a:r>
            <a:r>
              <a:rPr lang="zh-CN" altLang="en-US" sz="2800" dirty="0">
                <a:solidFill>
                  <a:schemeClr val="bg1"/>
                </a:solidFill>
                <a:latin typeface="Times New Roman" panose="02020603050405020304" pitchFamily="18" charset="0"/>
                <a:cs typeface="Times New Roman" pitchFamily="18" charset="0"/>
              </a:rPr>
              <a:t>工号</a:t>
            </a:r>
            <a:r>
              <a:rPr lang="en-US" altLang="zh-CN" sz="2800" dirty="0">
                <a:solidFill>
                  <a:schemeClr val="bg1"/>
                </a:solidFill>
                <a:latin typeface="Times New Roman" panose="02020603050405020304" pitchFamily="18" charset="0"/>
                <a:cs typeface="Times New Roman" pitchFamily="18" charset="0"/>
              </a:rPr>
              <a:t>,</a:t>
            </a:r>
            <a:r>
              <a:rPr lang="zh-CN" altLang="en-US" sz="2800" dirty="0">
                <a:solidFill>
                  <a:schemeClr val="bg1"/>
                </a:solidFill>
                <a:latin typeface="Times New Roman" panose="02020603050405020304" pitchFamily="18" charset="0"/>
                <a:cs typeface="Times New Roman" pitchFamily="18" charset="0"/>
              </a:rPr>
              <a:t>姓名</a:t>
            </a:r>
            <a:r>
              <a:rPr lang="en-US" altLang="zh-CN" sz="2800" dirty="0">
                <a:solidFill>
                  <a:schemeClr val="bg1"/>
                </a:solidFill>
                <a:latin typeface="Times New Roman" panose="02020603050405020304" pitchFamily="18" charset="0"/>
                <a:cs typeface="Times New Roman" pitchFamily="18" charset="0"/>
              </a:rPr>
              <a:t>,</a:t>
            </a:r>
            <a:r>
              <a:rPr lang="zh-CN" altLang="en-US" sz="2800" dirty="0">
                <a:solidFill>
                  <a:schemeClr val="bg1"/>
                </a:solidFill>
                <a:latin typeface="Times New Roman" panose="02020603050405020304" pitchFamily="18" charset="0"/>
                <a:cs typeface="Times New Roman" pitchFamily="18" charset="0"/>
              </a:rPr>
              <a:t>性别</a:t>
            </a:r>
            <a:r>
              <a:rPr lang="en-US" altLang="zh-CN" sz="2800" dirty="0">
                <a:solidFill>
                  <a:schemeClr val="bg1"/>
                </a:solidFill>
                <a:latin typeface="Times New Roman" panose="02020603050405020304" pitchFamily="18" charset="0"/>
                <a:cs typeface="Times New Roman" pitchFamily="18" charset="0"/>
              </a:rPr>
              <a:t>,</a:t>
            </a:r>
            <a:r>
              <a:rPr lang="zh-CN" altLang="en-US" sz="2800" dirty="0">
                <a:solidFill>
                  <a:schemeClr val="bg1"/>
                </a:solidFill>
                <a:latin typeface="Times New Roman" panose="02020603050405020304" pitchFamily="18" charset="0"/>
                <a:cs typeface="Times New Roman" pitchFamily="18" charset="0"/>
              </a:rPr>
              <a:t>职称 </a:t>
            </a:r>
            <a:r>
              <a:rPr lang="en-US" altLang="zh-CN" sz="2800" dirty="0">
                <a:solidFill>
                  <a:schemeClr val="bg1"/>
                </a:solidFill>
                <a:latin typeface="Times New Roman" panose="02020603050405020304" pitchFamily="18" charset="0"/>
                <a:cs typeface="Times New Roman" pitchFamily="18" charset="0"/>
              </a:rPr>
              <a:t>From Teacher Where </a:t>
            </a:r>
            <a:r>
              <a:rPr lang="zh-CN" altLang="en-US" sz="2800" dirty="0">
                <a:solidFill>
                  <a:schemeClr val="bg1"/>
                </a:solidFill>
                <a:latin typeface="Times New Roman" panose="02020603050405020304" pitchFamily="18" charset="0"/>
                <a:cs typeface="Times New Roman" pitchFamily="18" charset="0"/>
              </a:rPr>
              <a:t>职称 </a:t>
            </a:r>
            <a:r>
              <a:rPr lang="en-US" altLang="zh-CN" sz="2800" dirty="0">
                <a:solidFill>
                  <a:schemeClr val="bg1"/>
                </a:solidFill>
                <a:latin typeface="Times New Roman" panose="02020603050405020304" pitchFamily="18" charset="0"/>
                <a:cs typeface="Times New Roman" pitchFamily="18" charset="0"/>
              </a:rPr>
              <a:t>=‘</a:t>
            </a:r>
            <a:r>
              <a:rPr lang="zh-CN" altLang="en-US" sz="2800" dirty="0">
                <a:solidFill>
                  <a:schemeClr val="bg1"/>
                </a:solidFill>
                <a:latin typeface="Times New Roman" panose="02020603050405020304" pitchFamily="18" charset="0"/>
                <a:cs typeface="Times New Roman" pitchFamily="18" charset="0"/>
              </a:rPr>
              <a:t>讲师</a:t>
            </a:r>
            <a:r>
              <a:rPr lang="en-US" altLang="zh-CN" sz="2800" dirty="0">
                <a:solidFill>
                  <a:schemeClr val="bg1"/>
                </a:solidFill>
                <a:latin typeface="Times New Roman" panose="02020603050405020304" pitchFamily="18" charset="0"/>
                <a:cs typeface="Times New Roman" pitchFamily="18" charset="0"/>
              </a:rPr>
              <a:t>’; </a:t>
            </a:r>
          </a:p>
        </p:txBody>
      </p:sp>
    </p:spTree>
    <p:extLst>
      <p:ext uri="{BB962C8B-B14F-4D97-AF65-F5344CB8AC3E}">
        <p14:creationId xmlns:p14="http://schemas.microsoft.com/office/powerpoint/2010/main" val="3059584038"/>
      </p:ext>
    </p:extLst>
  </p:cSld>
  <p:clrMapOvr>
    <a:masterClrMapping/>
  </p:clrMapOvr>
  <p:transition spd="slow">
    <p:wipe dir="r"/>
    <p:sndAc>
      <p:stSnd>
        <p:snd r:embed="rId2" name="arrow.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idx="4294967295"/>
          </p:nvPr>
        </p:nvSpPr>
        <p:spPr>
          <a:xfrm>
            <a:off x="911424" y="620688"/>
            <a:ext cx="10945216" cy="5400600"/>
          </a:xfrm>
        </p:spPr>
        <p:txBody>
          <a:bodyPr>
            <a:noAutofit/>
          </a:bodyPr>
          <a:lstStyle/>
          <a:p>
            <a:pPr>
              <a:lnSpc>
                <a:spcPct val="150000"/>
              </a:lnSpc>
            </a:pPr>
            <a:r>
              <a:rPr lang="zh-CN" altLang="en-US" sz="2800">
                <a:latin typeface="Times New Roman" panose="02020603050405020304" charset="0"/>
                <a:ea typeface="+mn-ea"/>
              </a:rPr>
              <a:t>视图是从一个或几个基表（或视图）中导出的表，是一种</a:t>
            </a:r>
            <a:r>
              <a:rPr lang="zh-CN" altLang="en-US" sz="2800">
                <a:solidFill>
                  <a:srgbClr val="C00000"/>
                </a:solidFill>
                <a:latin typeface="Times New Roman" panose="02020603050405020304" charset="0"/>
                <a:ea typeface="+mn-ea"/>
              </a:rPr>
              <a:t>虚表</a:t>
            </a:r>
            <a:r>
              <a:rPr lang="zh-CN" altLang="en-US" sz="2800">
                <a:latin typeface="Times New Roman" panose="02020603050405020304" charset="0"/>
                <a:ea typeface="+mn-ea"/>
              </a:rPr>
              <a:t>。用于产生视图的表叫做该视图的基表。</a:t>
            </a:r>
          </a:p>
          <a:p>
            <a:pPr>
              <a:lnSpc>
                <a:spcPct val="150000"/>
              </a:lnSpc>
            </a:pPr>
            <a:r>
              <a:rPr lang="zh-CN" altLang="en-US" sz="2800">
                <a:latin typeface="Times New Roman" panose="02020603050405020304" charset="0"/>
                <a:ea typeface="+mn-ea"/>
              </a:rPr>
              <a:t>数据库中仅存放了</a:t>
            </a:r>
            <a:r>
              <a:rPr lang="zh-CN" altLang="en-US" sz="2800">
                <a:solidFill>
                  <a:srgbClr val="C00000"/>
                </a:solidFill>
                <a:latin typeface="Times New Roman" panose="02020603050405020304" charset="0"/>
                <a:ea typeface="+mn-ea"/>
              </a:rPr>
              <a:t>视图的定义</a:t>
            </a:r>
            <a:r>
              <a:rPr lang="zh-CN" altLang="en-US" sz="2800">
                <a:latin typeface="Times New Roman" panose="02020603050405020304" charset="0"/>
                <a:ea typeface="+mn-ea"/>
              </a:rPr>
              <a:t>，不存放视图对应的数据。通过视图看到的数据实际只是执行视图中定义的</a:t>
            </a:r>
            <a:r>
              <a:rPr lang="zh-CN" altLang="en-US" sz="2800">
                <a:solidFill>
                  <a:srgbClr val="C00000"/>
                </a:solidFill>
                <a:latin typeface="Times New Roman" panose="02020603050405020304" charset="0"/>
                <a:ea typeface="+mn-ea"/>
              </a:rPr>
              <a:t>数据查询命令</a:t>
            </a:r>
            <a:r>
              <a:rPr lang="zh-CN" altLang="en-US" sz="2800">
                <a:latin typeface="Times New Roman" panose="02020603050405020304" charset="0"/>
                <a:ea typeface="+mn-ea"/>
              </a:rPr>
              <a:t>而查询出的存放在基表中的数据。当基表中的数据发生变化，视图中的数据也就会随之改变。这使得视图就像一个窗体，透过它能够看到数据库中感兴趣的那部分数据及其变化。</a:t>
            </a:r>
          </a:p>
        </p:txBody>
      </p:sp>
    </p:spTree>
    <p:extLst>
      <p:ext uri="{BB962C8B-B14F-4D97-AF65-F5344CB8AC3E}">
        <p14:creationId xmlns:p14="http://schemas.microsoft.com/office/powerpoint/2010/main" val="1074214890"/>
      </p:ext>
    </p:extLst>
  </p:cSld>
  <p:clrMapOvr>
    <a:masterClrMapping/>
  </p:clrMapOvr>
  <p:transition spd="slow">
    <p:wipe dir="r"/>
    <p:sndAc>
      <p:stSnd>
        <p:snd r:embed="rId2" name="arrow.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4294967295"/>
          </p:nvPr>
        </p:nvSpPr>
        <p:spPr>
          <a:xfrm>
            <a:off x="983432" y="620688"/>
            <a:ext cx="10369152" cy="5400600"/>
          </a:xfrm>
        </p:spPr>
        <p:txBody>
          <a:bodyPr>
            <a:normAutofit/>
          </a:bodyPr>
          <a:lstStyle/>
          <a:p>
            <a:pPr>
              <a:lnSpc>
                <a:spcPct val="150000"/>
              </a:lnSpc>
            </a:pPr>
            <a:r>
              <a:rPr lang="zh-CN" altLang="en-US" sz="2800">
                <a:latin typeface="Times New Roman" panose="02020603050405020304" charset="0"/>
                <a:ea typeface="+mn-ea"/>
              </a:rPr>
              <a:t>可以像数据库中的任何其它的数据表一样查询和更新视图。当通过视图更新数据（</a:t>
            </a:r>
            <a:r>
              <a:rPr lang="en-US" altLang="zh-CN" sz="2800">
                <a:solidFill>
                  <a:srgbClr val="C00000"/>
                </a:solidFill>
                <a:latin typeface="Times New Roman" panose="02020603050405020304" charset="0"/>
                <a:ea typeface="+mn-ea"/>
              </a:rPr>
              <a:t>INSERT</a:t>
            </a:r>
            <a:r>
              <a:rPr lang="zh-CN" altLang="en-US" sz="2800">
                <a:solidFill>
                  <a:srgbClr val="C00000"/>
                </a:solidFill>
                <a:latin typeface="Times New Roman" panose="02020603050405020304" charset="0"/>
                <a:ea typeface="+mn-ea"/>
              </a:rPr>
              <a:t>、</a:t>
            </a:r>
            <a:r>
              <a:rPr lang="en-US" altLang="zh-CN" sz="2800">
                <a:solidFill>
                  <a:srgbClr val="C00000"/>
                </a:solidFill>
                <a:latin typeface="Times New Roman" panose="02020603050405020304" charset="0"/>
                <a:ea typeface="+mn-ea"/>
              </a:rPr>
              <a:t>DELETE</a:t>
            </a:r>
            <a:r>
              <a:rPr lang="zh-CN" altLang="en-US" sz="2800">
                <a:solidFill>
                  <a:srgbClr val="C00000"/>
                </a:solidFill>
                <a:latin typeface="Times New Roman" panose="02020603050405020304" charset="0"/>
                <a:ea typeface="+mn-ea"/>
              </a:rPr>
              <a:t>、</a:t>
            </a:r>
            <a:r>
              <a:rPr lang="en-US" altLang="zh-CN" sz="2800">
                <a:solidFill>
                  <a:srgbClr val="C00000"/>
                </a:solidFill>
                <a:latin typeface="Times New Roman" panose="02020603050405020304" charset="0"/>
                <a:ea typeface="+mn-ea"/>
              </a:rPr>
              <a:t>UP</a:t>
            </a:r>
            <a:r>
              <a:rPr lang="en-US" altLang="zh-CN" sz="2800">
                <a:latin typeface="Times New Roman" panose="02020603050405020304" charset="0"/>
                <a:ea typeface="+mn-ea"/>
              </a:rPr>
              <a:t>DATE</a:t>
            </a:r>
            <a:r>
              <a:rPr lang="zh-CN" altLang="en-US" sz="2800">
                <a:latin typeface="Times New Roman" panose="02020603050405020304" charset="0"/>
                <a:ea typeface="+mn-ea"/>
              </a:rPr>
              <a:t>）时，实际上是在改变其基表中的数据；</a:t>
            </a:r>
          </a:p>
          <a:p>
            <a:pPr>
              <a:lnSpc>
                <a:spcPct val="150000"/>
              </a:lnSpc>
            </a:pPr>
            <a:r>
              <a:rPr lang="zh-CN" altLang="en-US" sz="2800">
                <a:latin typeface="Times New Roman" panose="02020603050405020304" charset="0"/>
                <a:ea typeface="+mn-ea"/>
              </a:rPr>
              <a:t>相反地，基表数据的改变也会自动反映在由基表产生的视图中。不过要注意的是因为</a:t>
            </a:r>
            <a:r>
              <a:rPr lang="zh-CN" altLang="en-US" sz="2800">
                <a:solidFill>
                  <a:srgbClr val="C00000"/>
                </a:solidFill>
                <a:latin typeface="Times New Roman" panose="02020603050405020304" charset="0"/>
                <a:ea typeface="+mn-ea"/>
              </a:rPr>
              <a:t>并非所有的视图更新都能转换成可行的基表更新</a:t>
            </a:r>
            <a:r>
              <a:rPr lang="zh-CN" altLang="en-US" sz="2800">
                <a:latin typeface="Times New Roman" panose="02020603050405020304" charset="0"/>
                <a:ea typeface="+mn-ea"/>
              </a:rPr>
              <a:t>，所以数据库管理系统对视图的更新操作往往存在一定的限制。</a:t>
            </a:r>
          </a:p>
        </p:txBody>
      </p:sp>
    </p:spTree>
    <p:extLst>
      <p:ext uri="{BB962C8B-B14F-4D97-AF65-F5344CB8AC3E}">
        <p14:creationId xmlns:p14="http://schemas.microsoft.com/office/powerpoint/2010/main" val="1273242845"/>
      </p:ext>
    </p:extLst>
  </p:cSld>
  <p:clrMapOvr>
    <a:masterClrMapping/>
  </p:clrMapOvr>
  <p:transition spd="slow">
    <p:wipe dir="r"/>
    <p:sndAc>
      <p:stSnd>
        <p:snd r:embed="rId2" name="arrow.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55440" y="260648"/>
            <a:ext cx="3268844" cy="707886"/>
          </a:xfrm>
        </p:spPr>
        <p:txBody>
          <a:bodyPr/>
          <a:lstStyle/>
          <a:p>
            <a:r>
              <a:rPr lang="en-US" altLang="zh-CN" smtClean="0">
                <a:latin typeface="Times New Roman" panose="02020603050405020304" pitchFamily="18" charset="0"/>
                <a:ea typeface="宋体" panose="02010600030101010101" pitchFamily="2" charset="-122"/>
              </a:rPr>
              <a:t>5.2.2</a:t>
            </a:r>
            <a:r>
              <a:rPr lang="zh-CN" altLang="en-US" smtClean="0">
                <a:latin typeface="Times New Roman" panose="02020603050405020304" pitchFamily="18" charset="0"/>
                <a:ea typeface="宋体" panose="02010600030101010101" pitchFamily="2" charset="-122"/>
              </a:rPr>
              <a:t>定义视图</a:t>
            </a:r>
          </a:p>
        </p:txBody>
      </p:sp>
      <p:sp>
        <p:nvSpPr>
          <p:cNvPr id="41987" name="Rectangle 3"/>
          <p:cNvSpPr>
            <a:spLocks noGrp="1" noChangeArrowheads="1"/>
          </p:cNvSpPr>
          <p:nvPr>
            <p:ph type="body" idx="4294967295"/>
          </p:nvPr>
        </p:nvSpPr>
        <p:spPr>
          <a:xfrm>
            <a:off x="2208213" y="1989138"/>
            <a:ext cx="7772400" cy="4114800"/>
          </a:xfrm>
        </p:spPr>
        <p:txBody>
          <a:bodyPr/>
          <a:lstStyle/>
          <a:p>
            <a:pPr>
              <a:lnSpc>
                <a:spcPct val="90000"/>
              </a:lnSpc>
            </a:pPr>
            <a:r>
              <a:rPr lang="zh-CN" altLang="en-US" smtClean="0">
                <a:latin typeface="Tahoma" panose="020B0604030504040204" pitchFamily="34" charset="0"/>
                <a:ea typeface="宋体" panose="02010600030101010101" pitchFamily="2" charset="-122"/>
              </a:rPr>
              <a:t>在</a:t>
            </a:r>
            <a:r>
              <a:rPr lang="en-US" altLang="zh-CN" smtClean="0">
                <a:latin typeface="Tahoma" panose="020B0604030504040204" pitchFamily="34" charset="0"/>
                <a:ea typeface="宋体" panose="02010600030101010101" pitchFamily="2" charset="-122"/>
              </a:rPr>
              <a:t>MSQL</a:t>
            </a:r>
            <a:r>
              <a:rPr lang="zh-CN" altLang="en-US" smtClean="0">
                <a:latin typeface="Tahoma" panose="020B0604030504040204" pitchFamily="34" charset="0"/>
                <a:ea typeface="宋体" panose="02010600030101010101" pitchFamily="2" charset="-122"/>
              </a:rPr>
              <a:t>中，创建视图的命令的基本语法格式为：</a:t>
            </a:r>
          </a:p>
          <a:p>
            <a:pPr>
              <a:lnSpc>
                <a:spcPct val="90000"/>
              </a:lnSpc>
              <a:buFontTx/>
              <a:buNone/>
            </a:pPr>
            <a:r>
              <a:rPr lang="en-US" altLang="zh-CN" smtClean="0">
                <a:latin typeface="Tahoma" panose="020B0604030504040204" pitchFamily="34" charset="0"/>
                <a:ea typeface="宋体" panose="02010600030101010101" pitchFamily="2" charset="-122"/>
              </a:rPr>
              <a:t>CREATE  [ OR REPLACE]  </a:t>
            </a:r>
            <a:r>
              <a:rPr lang="en-US" altLang="zh-CN" smtClean="0">
                <a:solidFill>
                  <a:srgbClr val="FF0000"/>
                </a:solidFill>
                <a:latin typeface="Tahoma" panose="020B0604030504040204" pitchFamily="34" charset="0"/>
                <a:ea typeface="宋体" panose="02010600030101010101" pitchFamily="2" charset="-122"/>
              </a:rPr>
              <a:t>VIEW</a:t>
            </a:r>
            <a:r>
              <a:rPr lang="zh-CN" altLang="en-US" smtClean="0">
                <a:latin typeface="Tahoma" panose="020B0604030504040204" pitchFamily="34" charset="0"/>
                <a:ea typeface="宋体" panose="02010600030101010101" pitchFamily="2" charset="-122"/>
              </a:rPr>
              <a:t>视图名</a:t>
            </a:r>
            <a:r>
              <a:rPr lang="en-US" altLang="zh-CN" smtClean="0">
                <a:latin typeface="Tahoma" panose="020B0604030504040204" pitchFamily="34" charset="0"/>
                <a:ea typeface="宋体" panose="02010600030101010101" pitchFamily="2" charset="-122"/>
              </a:rPr>
              <a:t>[(</a:t>
            </a:r>
            <a:r>
              <a:rPr lang="zh-CN" altLang="en-US" smtClean="0">
                <a:latin typeface="Tahoma" panose="020B0604030504040204" pitchFamily="34" charset="0"/>
                <a:ea typeface="宋体" panose="02010600030101010101" pitchFamily="2" charset="-122"/>
              </a:rPr>
              <a:t>字段名列表</a:t>
            </a:r>
            <a:r>
              <a:rPr lang="en-US" altLang="zh-CN" smtClean="0">
                <a:latin typeface="Tahoma" panose="020B0604030504040204" pitchFamily="34" charset="0"/>
                <a:ea typeface="宋体" panose="02010600030101010101" pitchFamily="2" charset="-122"/>
              </a:rPr>
              <a:t>)] </a:t>
            </a:r>
          </a:p>
          <a:p>
            <a:pPr>
              <a:lnSpc>
                <a:spcPct val="90000"/>
              </a:lnSpc>
              <a:buFontTx/>
              <a:buNone/>
            </a:pPr>
            <a:r>
              <a:rPr lang="en-US" altLang="zh-CN" smtClean="0">
                <a:solidFill>
                  <a:srgbClr val="FF0000"/>
                </a:solidFill>
                <a:latin typeface="Tahoma" panose="020B0604030504040204" pitchFamily="34" charset="0"/>
                <a:ea typeface="宋体" panose="02010600030101010101" pitchFamily="2" charset="-122"/>
              </a:rPr>
              <a:t>AS</a:t>
            </a:r>
          </a:p>
          <a:p>
            <a:pPr>
              <a:lnSpc>
                <a:spcPct val="90000"/>
              </a:lnSpc>
              <a:buFontTx/>
              <a:buNone/>
            </a:pPr>
            <a:r>
              <a:rPr lang="en-US" altLang="zh-CN" smtClean="0">
                <a:latin typeface="Tahoma" panose="020B0604030504040204" pitchFamily="34" charset="0"/>
                <a:ea typeface="宋体" panose="02010600030101010101" pitchFamily="2" charset="-122"/>
              </a:rPr>
              <a:t>SELECT</a:t>
            </a:r>
            <a:r>
              <a:rPr lang="zh-CN" altLang="en-US" smtClean="0">
                <a:latin typeface="Tahoma" panose="020B0604030504040204" pitchFamily="34" charset="0"/>
                <a:ea typeface="宋体" panose="02010600030101010101" pitchFamily="2" charset="-122"/>
              </a:rPr>
              <a:t>语句</a:t>
            </a:r>
          </a:p>
          <a:p>
            <a:pPr>
              <a:lnSpc>
                <a:spcPct val="90000"/>
              </a:lnSpc>
              <a:buFontTx/>
              <a:buNone/>
            </a:pPr>
            <a:r>
              <a:rPr lang="en-US" altLang="zh-CN" smtClean="0">
                <a:latin typeface="Tahoma" panose="020B0604030504040204" pitchFamily="34" charset="0"/>
                <a:ea typeface="宋体" panose="02010600030101010101" pitchFamily="2" charset="-122"/>
              </a:rPr>
              <a:t>[ WITH  CHECK OPTION ]</a:t>
            </a:r>
            <a:endParaRPr lang="zh-CN" altLang="en-US" smtClean="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52019275"/>
      </p:ext>
    </p:extLst>
  </p:cSld>
  <p:clrMapOvr>
    <a:masterClrMapping/>
  </p:clrMapOvr>
  <p:transition spd="slow">
    <p:wipe dir="r"/>
    <p:sndAc>
      <p:stSnd>
        <p:snd r:embed="rId3" name="arrow.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4294967295"/>
          </p:nvPr>
        </p:nvSpPr>
        <p:spPr>
          <a:xfrm>
            <a:off x="1055440" y="620688"/>
            <a:ext cx="10657184" cy="5544616"/>
          </a:xfrm>
        </p:spPr>
        <p:txBody>
          <a:bodyPr>
            <a:normAutofit fontScale="92500"/>
          </a:bodyPr>
          <a:lstStyle/>
          <a:p>
            <a:pPr>
              <a:lnSpc>
                <a:spcPct val="150000"/>
              </a:lnSpc>
            </a:pPr>
            <a:r>
              <a:rPr lang="zh-CN" altLang="en-US" sz="2800">
                <a:latin typeface="Times New Roman" panose="02020603050405020304" charset="0"/>
                <a:ea typeface="+mn-ea"/>
              </a:rPr>
              <a:t>其中：</a:t>
            </a:r>
          </a:p>
          <a:p>
            <a:pPr>
              <a:lnSpc>
                <a:spcPct val="150000"/>
              </a:lnSpc>
            </a:pPr>
            <a:r>
              <a:rPr lang="zh-CN" altLang="en-US" sz="2800">
                <a:latin typeface="Times New Roman" panose="02020603050405020304" charset="0"/>
                <a:ea typeface="+mn-ea"/>
              </a:rPr>
              <a:t>（</a:t>
            </a:r>
            <a:r>
              <a:rPr lang="en-US" altLang="zh-CN" sz="2800">
                <a:latin typeface="Times New Roman" panose="02020603050405020304" charset="0"/>
                <a:ea typeface="+mn-ea"/>
              </a:rPr>
              <a:t>1</a:t>
            </a:r>
            <a:r>
              <a:rPr lang="zh-CN" altLang="en-US" sz="2800">
                <a:latin typeface="Times New Roman" panose="02020603050405020304" charset="0"/>
                <a:ea typeface="+mn-ea"/>
              </a:rPr>
              <a:t>）</a:t>
            </a:r>
            <a:r>
              <a:rPr lang="en-US" altLang="zh-CN" sz="2800">
                <a:solidFill>
                  <a:srgbClr val="C00000"/>
                </a:solidFill>
                <a:latin typeface="Times New Roman" panose="02020603050405020304" charset="0"/>
                <a:ea typeface="+mn-ea"/>
              </a:rPr>
              <a:t>OR REPLACE</a:t>
            </a:r>
            <a:r>
              <a:rPr lang="zh-CN" altLang="en-US" sz="2800">
                <a:latin typeface="Times New Roman" panose="02020603050405020304" charset="0"/>
                <a:ea typeface="+mn-ea"/>
              </a:rPr>
              <a:t>：若存在同名的视图时，原视图将被新创建的视图覆盖。该子句使得新建视图命令同时也具备了修改视图的功能。</a:t>
            </a:r>
          </a:p>
          <a:p>
            <a:pPr>
              <a:lnSpc>
                <a:spcPct val="150000"/>
              </a:lnSpc>
            </a:pPr>
            <a:r>
              <a:rPr lang="zh-CN" altLang="en-US" sz="2800">
                <a:latin typeface="Times New Roman" panose="02020603050405020304" charset="0"/>
                <a:ea typeface="+mn-ea"/>
              </a:rPr>
              <a:t>（</a:t>
            </a:r>
            <a:r>
              <a:rPr lang="en-US" altLang="zh-CN" sz="2800">
                <a:latin typeface="Times New Roman" panose="02020603050405020304" charset="0"/>
                <a:ea typeface="+mn-ea"/>
              </a:rPr>
              <a:t>2</a:t>
            </a:r>
            <a:r>
              <a:rPr lang="zh-CN" altLang="en-US" sz="2800">
                <a:latin typeface="Times New Roman" panose="02020603050405020304" charset="0"/>
                <a:ea typeface="+mn-ea"/>
              </a:rPr>
              <a:t>）字段名列表：指定视图查询结果的字段名，如果没有此选项，视图查询结果的字段名和</a:t>
            </a:r>
            <a:r>
              <a:rPr lang="en-US" altLang="zh-CN" sz="2800">
                <a:latin typeface="Times New Roman" panose="02020603050405020304" charset="0"/>
                <a:ea typeface="+mn-ea"/>
              </a:rPr>
              <a:t>SELECT</a:t>
            </a:r>
            <a:r>
              <a:rPr lang="zh-CN" altLang="en-US" sz="2800">
                <a:latin typeface="Times New Roman" panose="02020603050405020304" charset="0"/>
                <a:ea typeface="+mn-ea"/>
              </a:rPr>
              <a:t>子句中的字段名一致。</a:t>
            </a:r>
          </a:p>
          <a:p>
            <a:pPr>
              <a:lnSpc>
                <a:spcPct val="150000"/>
              </a:lnSpc>
            </a:pPr>
            <a:r>
              <a:rPr lang="zh-CN" altLang="en-US" sz="2800">
                <a:latin typeface="Times New Roman" panose="02020603050405020304" charset="0"/>
                <a:ea typeface="+mn-ea"/>
              </a:rPr>
              <a:t>（</a:t>
            </a:r>
            <a:r>
              <a:rPr lang="en-US" altLang="zh-CN" sz="2800">
                <a:latin typeface="Times New Roman" panose="02020603050405020304" charset="0"/>
                <a:ea typeface="+mn-ea"/>
              </a:rPr>
              <a:t>3</a:t>
            </a:r>
            <a:r>
              <a:rPr lang="zh-CN" altLang="en-US" sz="2800">
                <a:latin typeface="Times New Roman" panose="02020603050405020304" charset="0"/>
                <a:ea typeface="+mn-ea"/>
              </a:rPr>
              <a:t>） </a:t>
            </a:r>
            <a:r>
              <a:rPr lang="en-US" altLang="zh-CN" sz="2800">
                <a:solidFill>
                  <a:srgbClr val="C00000"/>
                </a:solidFill>
                <a:latin typeface="Times New Roman" panose="02020603050405020304" charset="0"/>
                <a:ea typeface="+mn-ea"/>
              </a:rPr>
              <a:t>WITH CHECK OPTION</a:t>
            </a:r>
            <a:r>
              <a:rPr lang="zh-CN" altLang="en-US" sz="2800">
                <a:latin typeface="Times New Roman" panose="02020603050405020304" charset="0"/>
                <a:ea typeface="+mn-ea"/>
              </a:rPr>
              <a:t>：使用该子句后，在更新视图时对新插入或修改的数据进行检查，确保视图数据的更新要使得视图定义里的查询语句中的 </a:t>
            </a:r>
            <a:r>
              <a:rPr lang="en-US" altLang="zh-CN" sz="2800">
                <a:latin typeface="Times New Roman" panose="02020603050405020304" charset="0"/>
                <a:ea typeface="+mn-ea"/>
              </a:rPr>
              <a:t>WHERE</a:t>
            </a:r>
            <a:r>
              <a:rPr lang="zh-CN" altLang="en-US" sz="2800">
                <a:latin typeface="Times New Roman" panose="02020603050405020304" charset="0"/>
                <a:ea typeface="+mn-ea"/>
              </a:rPr>
              <a:t>子句的结果为</a:t>
            </a:r>
            <a:r>
              <a:rPr lang="zh-CN" altLang="en-US" sz="2800">
                <a:solidFill>
                  <a:srgbClr val="C00000"/>
                </a:solidFill>
                <a:latin typeface="Times New Roman" panose="02020603050405020304" charset="0"/>
                <a:ea typeface="+mn-ea"/>
              </a:rPr>
              <a:t>“真”</a:t>
            </a:r>
            <a:r>
              <a:rPr lang="zh-CN" altLang="en-US" sz="2800">
                <a:latin typeface="Times New Roman" panose="02020603050405020304" charset="0"/>
                <a:ea typeface="+mn-ea"/>
              </a:rPr>
              <a:t>。</a:t>
            </a:r>
          </a:p>
        </p:txBody>
      </p:sp>
    </p:spTree>
    <p:extLst>
      <p:ext uri="{BB962C8B-B14F-4D97-AF65-F5344CB8AC3E}">
        <p14:creationId xmlns:p14="http://schemas.microsoft.com/office/powerpoint/2010/main" val="1022983056"/>
      </p:ext>
    </p:extLst>
  </p:cSld>
  <p:clrMapOvr>
    <a:masterClrMapping/>
  </p:clrMapOvr>
  <p:transition spd="slow">
    <p:wipe dir="r"/>
    <p:sndAc>
      <p:stSnd>
        <p:snd r:embed="rId2" name="arrow.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定义视图</a:t>
            </a:r>
            <a:endParaRPr lang="zh-CN" altLang="en-US" sz="4000" b="1" dirty="0">
              <a:solidFill>
                <a:srgbClr val="FFFFCC"/>
              </a:solidFill>
              <a:effectLst>
                <a:outerShdw blurRad="38100" dist="38100" dir="2700000" algn="tl">
                  <a:srgbClr val="000000"/>
                </a:outerShdw>
              </a:effectLst>
              <a:cs typeface="+mn-cs"/>
            </a:endParaRPr>
          </a:p>
        </p:txBody>
      </p:sp>
      <p:sp>
        <p:nvSpPr>
          <p:cNvPr id="24" name="Rectangle 4">
            <a:extLst>
              <a:ext uri="{FF2B5EF4-FFF2-40B4-BE49-F238E27FC236}">
                <a16:creationId xmlns:a16="http://schemas.microsoft.com/office/drawing/2014/main" id="{67175738-7DD8-437C-BF88-4D5F5F2CA23B}"/>
              </a:ext>
            </a:extLst>
          </p:cNvPr>
          <p:cNvSpPr txBox="1">
            <a:spLocks noChangeArrowheads="1"/>
          </p:cNvSpPr>
          <p:nvPr/>
        </p:nvSpPr>
        <p:spPr bwMode="auto">
          <a:xfrm>
            <a:off x="259111" y="980513"/>
            <a:ext cx="8353425" cy="248266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0"/>
              </a:spcAft>
              <a:buNone/>
              <a:defRPr/>
            </a:pPr>
            <a:r>
              <a:rPr kumimoji="0" lang="en-US" altLang="en-US" sz="3600" b="1" dirty="0">
                <a:solidFill>
                  <a:srgbClr val="FFFF00"/>
                </a:solidFill>
                <a:latin typeface="Arial" charset="0"/>
              </a:rPr>
              <a:t>CREATE</a:t>
            </a:r>
          </a:p>
          <a:p>
            <a:pPr eaLnBrk="1" hangingPunct="1">
              <a:lnSpc>
                <a:spcPct val="110000"/>
              </a:lnSpc>
              <a:spcAft>
                <a:spcPct val="0"/>
              </a:spcAft>
              <a:buNone/>
              <a:defRPr/>
            </a:pPr>
            <a:r>
              <a:rPr kumimoji="0" lang="en-US" altLang="en-US" sz="3600" b="1" dirty="0">
                <a:solidFill>
                  <a:srgbClr val="FFFF00"/>
                </a:solidFill>
                <a:latin typeface="Arial" charset="0"/>
              </a:rPr>
              <a:t>VIEW</a:t>
            </a:r>
            <a:r>
              <a:rPr kumimoji="0" lang="en-US" altLang="en-US" sz="3600" b="1" dirty="0">
                <a:solidFill>
                  <a:srgbClr val="FFFF66"/>
                </a:solidFill>
                <a:latin typeface="Arial" charset="0"/>
              </a:rPr>
              <a:t> </a:t>
            </a:r>
            <a:r>
              <a:rPr kumimoji="0" lang="en-US" altLang="en-US" sz="3600" dirty="0">
                <a:latin typeface="Arial" charset="0"/>
              </a:rPr>
              <a:t>&lt;</a:t>
            </a:r>
            <a:r>
              <a:rPr kumimoji="0" lang="en-US" altLang="en-US" sz="3600" i="1" dirty="0" err="1">
                <a:latin typeface="Arial" charset="0"/>
              </a:rPr>
              <a:t>视图名</a:t>
            </a:r>
            <a:r>
              <a:rPr kumimoji="0" lang="en-US" altLang="en-US" sz="3600" dirty="0">
                <a:latin typeface="Arial" charset="0"/>
              </a:rPr>
              <a:t>&gt;</a:t>
            </a:r>
            <a:r>
              <a:rPr kumimoji="0" lang="en-US" altLang="en-US" sz="3200" dirty="0">
                <a:latin typeface="Arial" charset="0"/>
              </a:rPr>
              <a:t> [(&lt;</a:t>
            </a:r>
            <a:r>
              <a:rPr kumimoji="0" lang="en-US" altLang="en-US" sz="3200" i="1" dirty="0">
                <a:latin typeface="Arial" charset="0"/>
              </a:rPr>
              <a:t>列名1</a:t>
            </a:r>
            <a:r>
              <a:rPr kumimoji="0" lang="en-US" altLang="en-US" sz="3200" dirty="0">
                <a:latin typeface="Arial" charset="0"/>
              </a:rPr>
              <a:t>&gt;[,&lt;</a:t>
            </a:r>
            <a:r>
              <a:rPr kumimoji="0" lang="en-US" altLang="en-US" sz="3200" i="1" dirty="0">
                <a:latin typeface="Arial" charset="0"/>
              </a:rPr>
              <a:t>列名2</a:t>
            </a:r>
            <a:r>
              <a:rPr kumimoji="0" lang="en-US" altLang="en-US" sz="3200" dirty="0">
                <a:latin typeface="Arial" charset="0"/>
              </a:rPr>
              <a:t>&gt;]...)]</a:t>
            </a:r>
            <a:endParaRPr kumimoji="0" lang="en-US" altLang="en-US" sz="3600" dirty="0">
              <a:latin typeface="Arial" charset="0"/>
            </a:endParaRPr>
          </a:p>
          <a:p>
            <a:pPr eaLnBrk="1" hangingPunct="1">
              <a:lnSpc>
                <a:spcPct val="110000"/>
              </a:lnSpc>
              <a:spcAft>
                <a:spcPct val="0"/>
              </a:spcAft>
              <a:buNone/>
              <a:defRPr/>
            </a:pPr>
            <a:r>
              <a:rPr kumimoji="0" lang="en-US" altLang="en-US" sz="3600" b="1" dirty="0">
                <a:solidFill>
                  <a:srgbClr val="FFFF00"/>
                </a:solidFill>
                <a:latin typeface="Arial" charset="0"/>
              </a:rPr>
              <a:t>AS</a:t>
            </a:r>
            <a:r>
              <a:rPr kumimoji="0" lang="en-US" altLang="en-US" sz="3600" b="1" dirty="0">
                <a:solidFill>
                  <a:srgbClr val="FFFF66"/>
                </a:solidFill>
                <a:latin typeface="Arial" charset="0"/>
              </a:rPr>
              <a:t> </a:t>
            </a:r>
            <a:r>
              <a:rPr kumimoji="0" lang="en-US" altLang="zh-CN" sz="3600" b="1" dirty="0">
                <a:solidFill>
                  <a:srgbClr val="FFFF66"/>
                </a:solidFill>
                <a:latin typeface="Arial" charset="0"/>
              </a:rPr>
              <a:t> </a:t>
            </a:r>
            <a:r>
              <a:rPr kumimoji="0" lang="en-US" altLang="en-US" sz="3600" i="1" dirty="0" err="1">
                <a:latin typeface="Arial" charset="0"/>
              </a:rPr>
              <a:t>SELECT语句</a:t>
            </a:r>
            <a:endParaRPr kumimoji="0" lang="en-US" altLang="en-US" sz="3600" i="1" dirty="0">
              <a:latin typeface="Arial" charset="0"/>
            </a:endParaRPr>
          </a:p>
          <a:p>
            <a:pPr eaLnBrk="1" hangingPunct="1">
              <a:lnSpc>
                <a:spcPct val="110000"/>
              </a:lnSpc>
              <a:spcAft>
                <a:spcPct val="0"/>
              </a:spcAft>
              <a:buNone/>
              <a:defRPr/>
            </a:pPr>
            <a:r>
              <a:rPr kumimoji="0" lang="en-US" altLang="en-US" sz="3600" i="1" dirty="0">
                <a:latin typeface="Arial" charset="0"/>
              </a:rPr>
              <a:t>[WITH CHECK OPTION]</a:t>
            </a:r>
          </a:p>
        </p:txBody>
      </p:sp>
      <p:sp>
        <p:nvSpPr>
          <p:cNvPr id="25" name="Rectangle 6">
            <a:extLst>
              <a:ext uri="{FF2B5EF4-FFF2-40B4-BE49-F238E27FC236}">
                <a16:creationId xmlns:a16="http://schemas.microsoft.com/office/drawing/2014/main" id="{7013315C-9061-4B92-888E-856912F2A03B}"/>
              </a:ext>
            </a:extLst>
          </p:cNvPr>
          <p:cNvSpPr>
            <a:spLocks noChangeArrowheads="1"/>
          </p:cNvSpPr>
          <p:nvPr/>
        </p:nvSpPr>
        <p:spPr bwMode="auto">
          <a:xfrm>
            <a:off x="8650635" y="658472"/>
            <a:ext cx="330219" cy="338554"/>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20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sp>
        <p:nvSpPr>
          <p:cNvPr id="26" name="Rectangle 7">
            <a:extLst>
              <a:ext uri="{FF2B5EF4-FFF2-40B4-BE49-F238E27FC236}">
                <a16:creationId xmlns:a16="http://schemas.microsoft.com/office/drawing/2014/main" id="{CC43A1C8-D26A-4275-8DCA-1744B1BB0C22}"/>
              </a:ext>
            </a:extLst>
          </p:cNvPr>
          <p:cNvSpPr>
            <a:spLocks noChangeArrowheads="1"/>
          </p:cNvSpPr>
          <p:nvPr/>
        </p:nvSpPr>
        <p:spPr bwMode="auto">
          <a:xfrm>
            <a:off x="193960" y="3935820"/>
            <a:ext cx="4855083" cy="1676400"/>
          </a:xfrm>
          <a:prstGeom prst="rect">
            <a:avLst/>
          </a:prstGeom>
          <a:noFill/>
          <a:ln w="9525">
            <a:noFill/>
            <a:miter lim="800000"/>
            <a:headEnd/>
            <a:tailEnd/>
          </a:ln>
          <a:effectLst/>
        </p:spPr>
        <p:txBody>
          <a:bodyPr/>
          <a:lstStyle/>
          <a:p>
            <a:pPr algn="just" fontAlgn="auto">
              <a:spcBef>
                <a:spcPts val="0"/>
              </a:spcBef>
              <a:spcAft>
                <a:spcPct val="15000"/>
              </a:spcAft>
              <a:buClr>
                <a:srgbClr val="FFFFFF"/>
              </a:buClr>
              <a:buSzPct val="85000"/>
              <a:defRPr/>
            </a:pPr>
            <a:r>
              <a:rPr kumimoji="0" lang="zh-CN" altLang="en-US" sz="3200" kern="0" dirty="0">
                <a:solidFill>
                  <a:srgbClr val="66FF66"/>
                </a:solidFill>
                <a:effectLst>
                  <a:outerShdw blurRad="38100" dist="38100" dir="2700000" algn="tl">
                    <a:srgbClr val="000000"/>
                  </a:outerShdw>
                </a:effectLst>
                <a:latin typeface="楷体" panose="02010609060101010101" pitchFamily="49" charset="-122"/>
                <a:ea typeface="楷体" panose="02010609060101010101" pitchFamily="49" charset="-122"/>
              </a:rPr>
              <a:t>建立男学生的视图</a:t>
            </a:r>
            <a:r>
              <a:rPr kumimoji="0" lang="en-US" altLang="zh-CN" sz="3200" kern="0" dirty="0">
                <a:solidFill>
                  <a:srgbClr val="66FF66"/>
                </a:solidFill>
                <a:effectLst>
                  <a:outerShdw blurRad="38100" dist="38100" dir="2700000" algn="tl">
                    <a:srgbClr val="000000"/>
                  </a:outerShdw>
                </a:effectLst>
                <a:latin typeface="楷体" panose="02010609060101010101" pitchFamily="49" charset="-122"/>
                <a:ea typeface="楷体" panose="02010609060101010101" pitchFamily="49" charset="-122"/>
              </a:rPr>
              <a:t>ST_M</a:t>
            </a:r>
          </a:p>
        </p:txBody>
      </p:sp>
      <p:sp>
        <p:nvSpPr>
          <p:cNvPr id="27" name="Rectangle 8">
            <a:extLst>
              <a:ext uri="{FF2B5EF4-FFF2-40B4-BE49-F238E27FC236}">
                <a16:creationId xmlns:a16="http://schemas.microsoft.com/office/drawing/2014/main" id="{17004AE4-8F43-427A-B1C5-C5517D9C2144}"/>
              </a:ext>
            </a:extLst>
          </p:cNvPr>
          <p:cNvSpPr>
            <a:spLocks noChangeArrowheads="1"/>
          </p:cNvSpPr>
          <p:nvPr/>
        </p:nvSpPr>
        <p:spPr bwMode="auto">
          <a:xfrm>
            <a:off x="211494" y="4581128"/>
            <a:ext cx="5629115" cy="1676400"/>
          </a:xfrm>
          <a:prstGeom prst="rect">
            <a:avLst/>
          </a:prstGeom>
          <a:noFill/>
          <a:ln w="9525">
            <a:noFill/>
            <a:miter lim="800000"/>
            <a:headEnd/>
            <a:tailEnd/>
          </a:ln>
          <a:effectLst/>
        </p:spPr>
        <p:txBody>
          <a:bodyPr/>
          <a:lstStyle/>
          <a:p>
            <a:pPr algn="just" fontAlgn="auto">
              <a:spcBef>
                <a:spcPts val="0"/>
              </a:spcBef>
              <a:spcAft>
                <a:spcPct val="10000"/>
              </a:spcAft>
              <a:buClr>
                <a:srgbClr val="FFFFFF"/>
              </a:buClr>
              <a:buSzPct val="85000"/>
              <a:defRPr/>
            </a:pPr>
            <a:r>
              <a:rPr kumimoji="0" lang="en-US" altLang="zh-CN" sz="4000" kern="0" dirty="0">
                <a:solidFill>
                  <a:srgbClr val="FFFF00"/>
                </a:solidFill>
                <a:effectLst>
                  <a:outerShdw blurRad="38100" dist="38100" dir="2700000" algn="tl">
                    <a:srgbClr val="000000"/>
                  </a:outerShdw>
                </a:effectLst>
                <a:latin typeface="Franklin Gothic Book"/>
                <a:ea typeface="黑体" panose="02010609060101010101" pitchFamily="49" charset="-122"/>
              </a:rPr>
              <a:t>CREATE VIEW ST_M AS</a:t>
            </a:r>
          </a:p>
          <a:p>
            <a:pPr algn="just" fontAlgn="auto">
              <a:spcBef>
                <a:spcPts val="0"/>
              </a:spcBef>
              <a:spcAft>
                <a:spcPct val="10000"/>
              </a:spcAft>
              <a:buClr>
                <a:srgbClr val="FFFFFF"/>
              </a:buClr>
              <a:buSzPct val="85000"/>
              <a:defRPr/>
            </a:pPr>
            <a:r>
              <a:rPr kumimoji="0" lang="en-US" altLang="zh-CN" sz="4000" kern="0" dirty="0">
                <a:solidFill>
                  <a:srgbClr val="CCFFCC"/>
                </a:solidFill>
                <a:effectLst>
                  <a:outerShdw blurRad="38100" dist="38100" dir="2700000" algn="tl">
                    <a:srgbClr val="000000"/>
                  </a:outerShdw>
                </a:effectLst>
                <a:latin typeface="Franklin Gothic Book"/>
                <a:ea typeface="黑体" panose="02010609060101010101" pitchFamily="49" charset="-122"/>
              </a:rPr>
              <a:t>SELECT * FROM ST</a:t>
            </a:r>
          </a:p>
          <a:p>
            <a:pPr algn="just" fontAlgn="auto">
              <a:spcBef>
                <a:spcPts val="0"/>
              </a:spcBef>
              <a:spcAft>
                <a:spcPct val="10000"/>
              </a:spcAft>
              <a:buClr>
                <a:srgbClr val="FFFFFF"/>
              </a:buClr>
              <a:buSzPct val="85000"/>
              <a:defRPr/>
            </a:pPr>
            <a:r>
              <a:rPr kumimoji="0" lang="en-US" altLang="zh-CN" sz="4000" kern="0" dirty="0">
                <a:solidFill>
                  <a:srgbClr val="CCFFCC"/>
                </a:solidFill>
                <a:effectLst>
                  <a:outerShdw blurRad="38100" dist="38100" dir="2700000" algn="tl">
                    <a:srgbClr val="000000"/>
                  </a:outerShdw>
                </a:effectLst>
                <a:latin typeface="Franklin Gothic Book"/>
                <a:ea typeface="黑体" panose="02010609060101010101" pitchFamily="49" charset="-122"/>
              </a:rPr>
              <a:t> WHERE </a:t>
            </a:r>
            <a:r>
              <a:rPr kumimoji="0" lang="zh-CN" altLang="en-US" sz="4000" kern="0" dirty="0">
                <a:solidFill>
                  <a:srgbClr val="CCFFCC"/>
                </a:solidFill>
                <a:effectLst>
                  <a:outerShdw blurRad="38100" dist="38100" dir="2700000" algn="tl">
                    <a:srgbClr val="000000"/>
                  </a:outerShdw>
                </a:effectLst>
                <a:latin typeface="Franklin Gothic Book"/>
                <a:ea typeface="黑体" panose="02010609060101010101" pitchFamily="49" charset="-122"/>
              </a:rPr>
              <a:t>性别</a:t>
            </a:r>
            <a:r>
              <a:rPr kumimoji="0" lang="en-US" altLang="zh-CN" sz="4000" kern="0" dirty="0">
                <a:solidFill>
                  <a:srgbClr val="CCFFCC"/>
                </a:solidFill>
                <a:effectLst>
                  <a:outerShdw blurRad="38100" dist="38100" dir="2700000" algn="tl">
                    <a:srgbClr val="000000"/>
                  </a:outerShdw>
                </a:effectLst>
                <a:latin typeface="Franklin Gothic Book"/>
                <a:ea typeface="黑体" panose="02010609060101010101" pitchFamily="49" charset="-122"/>
              </a:rPr>
              <a:t>='</a:t>
            </a:r>
            <a:r>
              <a:rPr kumimoji="0" lang="zh-CN" altLang="en-US" sz="4000" kern="0" dirty="0">
                <a:solidFill>
                  <a:srgbClr val="CCFFCC"/>
                </a:solidFill>
                <a:effectLst>
                  <a:outerShdw blurRad="38100" dist="38100" dir="2700000" algn="tl">
                    <a:srgbClr val="000000"/>
                  </a:outerShdw>
                </a:effectLst>
                <a:latin typeface="Franklin Gothic Book"/>
                <a:ea typeface="黑体" panose="02010609060101010101" pitchFamily="49" charset="-122"/>
              </a:rPr>
              <a:t>男</a:t>
            </a:r>
            <a:r>
              <a:rPr kumimoji="0" lang="en-US" altLang="zh-CN" sz="4000" kern="0" dirty="0">
                <a:solidFill>
                  <a:srgbClr val="CCFFCC"/>
                </a:solidFill>
                <a:effectLst>
                  <a:outerShdw blurRad="38100" dist="38100" dir="2700000" algn="tl">
                    <a:srgbClr val="000000"/>
                  </a:outerShdw>
                </a:effectLst>
                <a:latin typeface="Franklin Gothic Book"/>
                <a:ea typeface="黑体" panose="02010609060101010101" pitchFamily="49" charset="-122"/>
              </a:rPr>
              <a:t>’;</a:t>
            </a:r>
            <a:endParaRPr kumimoji="0" lang="zh-CN" altLang="en-US" sz="4000" kern="0" dirty="0">
              <a:solidFill>
                <a:srgbClr val="CCFFCC"/>
              </a:solidFill>
              <a:effectLst>
                <a:outerShdw blurRad="38100" dist="38100" dir="2700000" algn="tl">
                  <a:srgbClr val="000000"/>
                </a:outerShdw>
              </a:effectLst>
              <a:latin typeface="Times New Roman" pitchFamily="18" charset="0"/>
              <a:ea typeface="黑体" panose="02010609060101010101" pitchFamily="49" charset="-122"/>
            </a:endParaRPr>
          </a:p>
        </p:txBody>
      </p:sp>
      <p:graphicFrame>
        <p:nvGraphicFramePr>
          <p:cNvPr id="28" name="Group 9">
            <a:extLst>
              <a:ext uri="{FF2B5EF4-FFF2-40B4-BE49-F238E27FC236}">
                <a16:creationId xmlns:a16="http://schemas.microsoft.com/office/drawing/2014/main" id="{04B15672-A876-439B-A1F0-F1A23417C135}"/>
              </a:ext>
            </a:extLst>
          </p:cNvPr>
          <p:cNvGraphicFramePr>
            <a:graphicFrameLocks noGrp="1"/>
          </p:cNvGraphicFramePr>
          <p:nvPr>
            <p:extLst>
              <p:ext uri="{D42A27DB-BD31-4B8C-83A1-F6EECF244321}">
                <p14:modId xmlns:p14="http://schemas.microsoft.com/office/powerpoint/2010/main" val="1105188734"/>
              </p:ext>
            </p:extLst>
          </p:nvPr>
        </p:nvGraphicFramePr>
        <p:xfrm>
          <a:off x="8400256" y="1068156"/>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9" name="Rectangle 79">
            <a:extLst>
              <a:ext uri="{FF2B5EF4-FFF2-40B4-BE49-F238E27FC236}">
                <a16:creationId xmlns:a16="http://schemas.microsoft.com/office/drawing/2014/main" id="{58B4537A-E67C-44D5-9698-48550F68AACA}"/>
              </a:ext>
            </a:extLst>
          </p:cNvPr>
          <p:cNvSpPr>
            <a:spLocks noChangeArrowheads="1"/>
          </p:cNvSpPr>
          <p:nvPr/>
        </p:nvSpPr>
        <p:spPr bwMode="auto">
          <a:xfrm>
            <a:off x="6456536" y="5138744"/>
            <a:ext cx="721351" cy="338554"/>
          </a:xfrm>
          <a:prstGeom prst="rect">
            <a:avLst/>
          </a:prstGeom>
          <a:noFill/>
          <a:ln w="12700" cap="sq">
            <a:noFill/>
            <a:miter lim="800000"/>
            <a:headEnd/>
            <a:tailEnd/>
          </a:ln>
          <a:effectLst/>
        </p:spPr>
        <p:txBody>
          <a:bodyPr wrap="square" lIns="0" tIns="0" rIns="0" bIns="0">
            <a:spAutoFit/>
          </a:bodyPr>
          <a:lstStyle/>
          <a:p>
            <a:pPr fontAlgn="auto">
              <a:spcBef>
                <a:spcPts val="0"/>
              </a:spcBef>
              <a:spcAft>
                <a:spcPct val="0"/>
              </a:spcAft>
              <a:buSzTx/>
              <a:defRPr/>
            </a:pPr>
            <a:r>
              <a:rPr kumimoji="0" lang="en-US" altLang="zh-CN" sz="220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ST_M</a:t>
            </a:r>
          </a:p>
        </p:txBody>
      </p:sp>
      <p:graphicFrame>
        <p:nvGraphicFramePr>
          <p:cNvPr id="30" name="Group 156">
            <a:extLst>
              <a:ext uri="{FF2B5EF4-FFF2-40B4-BE49-F238E27FC236}">
                <a16:creationId xmlns:a16="http://schemas.microsoft.com/office/drawing/2014/main" id="{1161C8C3-66B8-4354-87BF-01E67C0393E4}"/>
              </a:ext>
            </a:extLst>
          </p:cNvPr>
          <p:cNvGraphicFramePr>
            <a:graphicFrameLocks noGrp="1"/>
          </p:cNvGraphicFramePr>
          <p:nvPr>
            <p:extLst>
              <p:ext uri="{D42A27DB-BD31-4B8C-83A1-F6EECF244321}">
                <p14:modId xmlns:p14="http://schemas.microsoft.com/office/powerpoint/2010/main" val="4166547967"/>
              </p:ext>
            </p:extLst>
          </p:nvPr>
        </p:nvGraphicFramePr>
        <p:xfrm>
          <a:off x="7320136" y="5138744"/>
          <a:ext cx="3351213" cy="1219200"/>
        </p:xfrm>
        <a:graphic>
          <a:graphicData uri="http://schemas.openxmlformats.org/drawingml/2006/table">
            <a:tbl>
              <a:tblPr/>
              <a:tblGrid>
                <a:gridCol w="820738">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2">
                  <a:extLst>
                    <a:ext uri="{9D8B030D-6E8A-4147-A177-3AD203B41FA5}">
                      <a16:colId xmlns:a16="http://schemas.microsoft.com/office/drawing/2014/main" val="20002"/>
                    </a:ext>
                  </a:extLst>
                </a:gridCol>
                <a:gridCol w="569913">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1" name="Line 157">
            <a:extLst>
              <a:ext uri="{FF2B5EF4-FFF2-40B4-BE49-F238E27FC236}">
                <a16:creationId xmlns:a16="http://schemas.microsoft.com/office/drawing/2014/main" id="{3BFC5602-18C6-4436-A0BB-1063243DCC03}"/>
              </a:ext>
            </a:extLst>
          </p:cNvPr>
          <p:cNvSpPr>
            <a:spLocks noChangeShapeType="1"/>
          </p:cNvSpPr>
          <p:nvPr/>
        </p:nvSpPr>
        <p:spPr bwMode="auto">
          <a:xfrm flipV="1">
            <a:off x="7320136" y="1068154"/>
            <a:ext cx="1080120" cy="4070589"/>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32" name="Line 158">
            <a:extLst>
              <a:ext uri="{FF2B5EF4-FFF2-40B4-BE49-F238E27FC236}">
                <a16:creationId xmlns:a16="http://schemas.microsoft.com/office/drawing/2014/main" id="{3574F8B2-37F7-42BA-824B-8B1E26B95014}"/>
              </a:ext>
            </a:extLst>
          </p:cNvPr>
          <p:cNvSpPr>
            <a:spLocks noChangeShapeType="1"/>
          </p:cNvSpPr>
          <p:nvPr/>
        </p:nvSpPr>
        <p:spPr bwMode="auto">
          <a:xfrm flipV="1">
            <a:off x="10671349" y="1068153"/>
            <a:ext cx="1042020" cy="4047207"/>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33" name="Line 159">
            <a:extLst>
              <a:ext uri="{FF2B5EF4-FFF2-40B4-BE49-F238E27FC236}">
                <a16:creationId xmlns:a16="http://schemas.microsoft.com/office/drawing/2014/main" id="{AEAA334B-ADAA-485A-9C32-B236C8D8131D}"/>
              </a:ext>
            </a:extLst>
          </p:cNvPr>
          <p:cNvSpPr>
            <a:spLocks noChangeShapeType="1"/>
          </p:cNvSpPr>
          <p:nvPr/>
        </p:nvSpPr>
        <p:spPr bwMode="auto">
          <a:xfrm flipV="1">
            <a:off x="7320136" y="3516080"/>
            <a:ext cx="1080120" cy="2865247"/>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34" name="Line 160">
            <a:extLst>
              <a:ext uri="{FF2B5EF4-FFF2-40B4-BE49-F238E27FC236}">
                <a16:creationId xmlns:a16="http://schemas.microsoft.com/office/drawing/2014/main" id="{6DE15F09-13A3-4648-B823-C79B98E832A8}"/>
              </a:ext>
            </a:extLst>
          </p:cNvPr>
          <p:cNvSpPr>
            <a:spLocks noChangeShapeType="1"/>
          </p:cNvSpPr>
          <p:nvPr/>
        </p:nvSpPr>
        <p:spPr bwMode="auto">
          <a:xfrm flipV="1">
            <a:off x="10631661" y="3516080"/>
            <a:ext cx="1080120" cy="2841863"/>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5" name="箭头: 左 4">
            <a:extLst>
              <a:ext uri="{FF2B5EF4-FFF2-40B4-BE49-F238E27FC236}">
                <a16:creationId xmlns:a16="http://schemas.microsoft.com/office/drawing/2014/main" id="{4D9E1CB1-47E3-4B2F-9E3E-B62EF0EB17C1}"/>
              </a:ext>
            </a:extLst>
          </p:cNvPr>
          <p:cNvSpPr/>
          <p:nvPr/>
        </p:nvSpPr>
        <p:spPr>
          <a:xfrm rot="17432521">
            <a:off x="9122270" y="4147791"/>
            <a:ext cx="757733" cy="440007"/>
          </a:xfrm>
          <a:prstGeom prst="leftArrow">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p14="http://schemas.microsoft.com/office/powerpoint/2010/main" val="3996424788"/>
      </p:ext>
    </p:extLst>
  </p:cSld>
  <p:clrMapOvr>
    <a:masterClrMapping/>
  </p:clrMapOvr>
  <p:transition spd="med">
    <p:pull dir="r"/>
    <p:sndAc>
      <p:stSnd>
        <p:snd r:embed="rId2" name="arrow.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4294967295"/>
          </p:nvPr>
        </p:nvSpPr>
        <p:spPr>
          <a:xfrm>
            <a:off x="1055440" y="620688"/>
            <a:ext cx="10873208" cy="5544616"/>
          </a:xfrm>
        </p:spPr>
        <p:txBody>
          <a:bodyPr/>
          <a:lstStyle/>
          <a:p>
            <a:pPr>
              <a:lnSpc>
                <a:spcPct val="150000"/>
              </a:lnSpc>
            </a:pPr>
            <a:r>
              <a:rPr lang="en-US" altLang="zh-CN" dirty="0">
                <a:latin typeface="Tahoma" panose="020B0604030504040204" pitchFamily="34" charset="0"/>
                <a:ea typeface="宋体" panose="02010600030101010101" pitchFamily="2" charset="-122"/>
              </a:rPr>
              <a:t>【</a:t>
            </a:r>
            <a:r>
              <a:rPr lang="zh-CN" altLang="en-US" dirty="0">
                <a:latin typeface="Tahoma" panose="020B0604030504040204" pitchFamily="34" charset="0"/>
                <a:ea typeface="宋体" panose="02010600030101010101" pitchFamily="2" charset="-122"/>
              </a:rPr>
              <a:t>例</a:t>
            </a:r>
            <a:r>
              <a:rPr lang="en-US" altLang="zh-CN" dirty="0">
                <a:latin typeface="Tahoma" panose="020B0604030504040204" pitchFamily="34" charset="0"/>
                <a:ea typeface="宋体" panose="02010600030101010101" pitchFamily="2" charset="-122"/>
              </a:rPr>
              <a:t>5-9】</a:t>
            </a:r>
            <a:r>
              <a:rPr lang="zh-CN" altLang="en-US" dirty="0">
                <a:latin typeface="Tahoma" panose="020B0604030504040204" pitchFamily="34" charset="0"/>
                <a:ea typeface="宋体" panose="02010600030101010101" pitchFamily="2" charset="-122"/>
              </a:rPr>
              <a:t>在</a:t>
            </a:r>
            <a:r>
              <a:rPr lang="en-US" altLang="zh-CN" dirty="0">
                <a:latin typeface="Tahoma" panose="020B0604030504040204" pitchFamily="34" charset="0"/>
                <a:ea typeface="宋体" panose="02010600030101010101" pitchFamily="2" charset="-122"/>
              </a:rPr>
              <a:t>college</a:t>
            </a:r>
            <a:r>
              <a:rPr lang="zh-CN" altLang="en-US" dirty="0">
                <a:latin typeface="Tahoma" panose="020B0604030504040204" pitchFamily="34" charset="0"/>
                <a:ea typeface="宋体" panose="02010600030101010101" pitchFamily="2" charset="-122"/>
              </a:rPr>
              <a:t>数据库中创建一个基于 </a:t>
            </a:r>
            <a:r>
              <a:rPr lang="en-US" altLang="zh-CN" dirty="0">
                <a:latin typeface="Tahoma" panose="020B0604030504040204" pitchFamily="34" charset="0"/>
                <a:ea typeface="宋体" panose="02010600030101010101" pitchFamily="2" charset="-122"/>
              </a:rPr>
              <a:t>teacher</a:t>
            </a:r>
            <a:r>
              <a:rPr lang="zh-CN" altLang="en-US" dirty="0">
                <a:latin typeface="Tahoma" panose="020B0604030504040204" pitchFamily="34" charset="0"/>
                <a:ea typeface="宋体" panose="02010600030101010101" pitchFamily="2" charset="-122"/>
              </a:rPr>
              <a:t>表的信息管理系教师信息的视图，视图名为</a:t>
            </a:r>
            <a:r>
              <a:rPr lang="en-US" altLang="zh-CN" dirty="0" err="1">
                <a:latin typeface="Tahoma" panose="020B0604030504040204" pitchFamily="34" charset="0"/>
                <a:ea typeface="宋体" panose="02010600030101010101" pitchFamily="2" charset="-122"/>
              </a:rPr>
              <a:t>t_inf_view</a:t>
            </a:r>
            <a:r>
              <a:rPr lang="zh-CN" altLang="en-US" dirty="0">
                <a:latin typeface="Tahoma" panose="020B0604030504040204" pitchFamily="34" charset="0"/>
                <a:ea typeface="宋体" panose="02010600030101010101" pitchFamily="2" charset="-122"/>
              </a:rPr>
              <a:t>。</a:t>
            </a:r>
          </a:p>
          <a:p>
            <a:pPr>
              <a:lnSpc>
                <a:spcPct val="150000"/>
              </a:lnSpc>
              <a:buFontTx/>
              <a:buNone/>
            </a:pPr>
            <a:r>
              <a:rPr lang="en-US" altLang="zh-CN" dirty="0">
                <a:latin typeface="Tahoma" panose="020B0604030504040204" pitchFamily="34" charset="0"/>
                <a:ea typeface="宋体" panose="02010600030101010101" pitchFamily="2" charset="-122"/>
              </a:rPr>
              <a:t>USE college;</a:t>
            </a:r>
          </a:p>
          <a:p>
            <a:pPr>
              <a:lnSpc>
                <a:spcPct val="150000"/>
              </a:lnSpc>
              <a:buFontTx/>
              <a:buNone/>
            </a:pPr>
            <a:r>
              <a:rPr lang="en-US" altLang="zh-CN" dirty="0">
                <a:latin typeface="Tahoma" panose="020B0604030504040204" pitchFamily="34" charset="0"/>
                <a:ea typeface="宋体" panose="02010600030101010101" pitchFamily="2" charset="-122"/>
              </a:rPr>
              <a:t>CREATE VIEW </a:t>
            </a:r>
            <a:r>
              <a:rPr lang="en-US" altLang="zh-CN" dirty="0" err="1">
                <a:latin typeface="Tahoma" panose="020B0604030504040204" pitchFamily="34" charset="0"/>
                <a:ea typeface="宋体" panose="02010600030101010101" pitchFamily="2" charset="-122"/>
              </a:rPr>
              <a:t>t_inf_view</a:t>
            </a:r>
            <a:endParaRPr lang="en-US" altLang="zh-CN" dirty="0">
              <a:latin typeface="Tahoma" panose="020B0604030504040204" pitchFamily="34" charset="0"/>
              <a:ea typeface="宋体" panose="02010600030101010101" pitchFamily="2" charset="-122"/>
            </a:endParaRPr>
          </a:p>
          <a:p>
            <a:pPr>
              <a:lnSpc>
                <a:spcPct val="150000"/>
              </a:lnSpc>
              <a:buFontTx/>
              <a:buNone/>
            </a:pPr>
            <a:r>
              <a:rPr lang="en-US" altLang="zh-CN" dirty="0">
                <a:latin typeface="Tahoma" panose="020B0604030504040204" pitchFamily="34" charset="0"/>
                <a:ea typeface="宋体" panose="02010600030101010101" pitchFamily="2" charset="-122"/>
              </a:rPr>
              <a:t>AS</a:t>
            </a:r>
          </a:p>
          <a:p>
            <a:pPr>
              <a:lnSpc>
                <a:spcPct val="150000"/>
              </a:lnSpc>
              <a:buFontTx/>
              <a:buNone/>
            </a:pPr>
            <a:r>
              <a:rPr lang="en-US" altLang="zh-CN" dirty="0">
                <a:latin typeface="Tahoma" panose="020B0604030504040204" pitchFamily="34" charset="0"/>
                <a:ea typeface="宋体" panose="02010600030101010101" pitchFamily="2" charset="-122"/>
              </a:rPr>
              <a:t>SELECT * FROM teacher WHERE Dep='</a:t>
            </a:r>
            <a:r>
              <a:rPr lang="zh-CN" altLang="en-US" dirty="0">
                <a:latin typeface="Tahoma" panose="020B0604030504040204" pitchFamily="34" charset="0"/>
                <a:ea typeface="宋体" panose="02010600030101010101" pitchFamily="2" charset="-122"/>
              </a:rPr>
              <a:t>信息管理</a:t>
            </a:r>
            <a:r>
              <a:rPr lang="en-US" altLang="zh-CN" dirty="0">
                <a:latin typeface="Tahoma" panose="020B0604030504040204" pitchFamily="34" charset="0"/>
                <a:ea typeface="宋体" panose="02010600030101010101" pitchFamily="2" charset="-122"/>
              </a:rPr>
              <a:t>';</a:t>
            </a:r>
            <a:endParaRPr lang="zh-CN" altLang="en-US"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04362163"/>
      </p:ext>
    </p:extLst>
  </p:cSld>
  <p:clrMapOvr>
    <a:masterClrMapping/>
  </p:clrMapOvr>
  <p:transition spd="slow">
    <p:wipe dir="r"/>
    <p:sndAc>
      <p:stSnd>
        <p:snd r:embed="rId2" name="arrow.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5497222" y="838270"/>
            <a:ext cx="184731" cy="707886"/>
          </a:xfrm>
        </p:spPr>
        <p:txBody>
          <a:bodyPr/>
          <a:lstStyle/>
          <a:p>
            <a:endParaRPr lang="zh-CN" altLang="en-US" smtClean="0">
              <a:latin typeface="Times New Roman" panose="02020603050405020304" pitchFamily="18" charset="0"/>
              <a:ea typeface="宋体" panose="02010600030101010101" pitchFamily="2" charset="-122"/>
            </a:endParaRPr>
          </a:p>
        </p:txBody>
      </p:sp>
      <p:sp>
        <p:nvSpPr>
          <p:cNvPr id="46083" name="Rectangle 3"/>
          <p:cNvSpPr>
            <a:spLocks noGrp="1" noChangeArrowheads="1"/>
          </p:cNvSpPr>
          <p:nvPr>
            <p:ph type="body" idx="4294967295"/>
          </p:nvPr>
        </p:nvSpPr>
        <p:spPr/>
        <p:txBody>
          <a:bodyPr/>
          <a:lstStyle/>
          <a:p>
            <a:endParaRPr lang="zh-CN" altLang="en-US" smtClean="0">
              <a:latin typeface="Tahoma" panose="020B0604030504040204" pitchFamily="34" charset="0"/>
              <a:ea typeface="宋体" panose="02010600030101010101" pitchFamily="2" charset="-122"/>
            </a:endParaRPr>
          </a:p>
        </p:txBody>
      </p:sp>
      <p:pic>
        <p:nvPicPr>
          <p:cNvPr id="460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6" y="765175"/>
            <a:ext cx="8424863" cy="451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26240410"/>
      </p:ext>
    </p:extLst>
  </p:cSld>
  <p:clrMapOvr>
    <a:masterClrMapping/>
  </p:clrMapOvr>
  <p:transition spd="slow">
    <p:wipe dir="r"/>
    <p:sndAc>
      <p:stSnd>
        <p:snd r:embed="rId2" name="arrow.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5497222" y="838270"/>
            <a:ext cx="184731" cy="707886"/>
          </a:xfrm>
        </p:spPr>
        <p:txBody>
          <a:bodyPr/>
          <a:lstStyle/>
          <a:p>
            <a:endParaRPr lang="zh-CN" altLang="en-US" smtClean="0">
              <a:latin typeface="Times New Roman" panose="02020603050405020304" pitchFamily="18" charset="0"/>
              <a:ea typeface="宋体" panose="02010600030101010101" pitchFamily="2" charset="-122"/>
            </a:endParaRPr>
          </a:p>
        </p:txBody>
      </p:sp>
      <p:sp>
        <p:nvSpPr>
          <p:cNvPr id="48131" name="Rectangle 3"/>
          <p:cNvSpPr>
            <a:spLocks noGrp="1" noChangeArrowheads="1"/>
          </p:cNvSpPr>
          <p:nvPr>
            <p:ph type="body" idx="4294967295"/>
          </p:nvPr>
        </p:nvSpPr>
        <p:spPr>
          <a:xfrm>
            <a:off x="1524000" y="0"/>
            <a:ext cx="9144000" cy="6858000"/>
          </a:xfrm>
          <a:solidFill>
            <a:schemeClr val="bg1"/>
          </a:solidFill>
        </p:spPr>
        <p:txBody>
          <a:bodyPr/>
          <a:lstStyle/>
          <a:p>
            <a:pPr>
              <a:lnSpc>
                <a:spcPct val="80000"/>
              </a:lnSpc>
            </a:pPr>
            <a:r>
              <a:rPr lang="en-US" altLang="zh-CN" sz="2800">
                <a:solidFill>
                  <a:schemeClr val="tx1"/>
                </a:solidFill>
                <a:latin typeface="Tahoma" panose="020B0604030504040204" pitchFamily="34" charset="0"/>
                <a:ea typeface="宋体" panose="02010600030101010101" pitchFamily="2" charset="-122"/>
              </a:rPr>
              <a:t>【</a:t>
            </a:r>
            <a:r>
              <a:rPr lang="zh-CN" altLang="en-US" sz="2800">
                <a:solidFill>
                  <a:schemeClr val="tx1"/>
                </a:solidFill>
                <a:latin typeface="Tahoma" panose="020B0604030504040204" pitchFamily="34" charset="0"/>
                <a:ea typeface="宋体" panose="02010600030101010101" pitchFamily="2" charset="-122"/>
              </a:rPr>
              <a:t>例</a:t>
            </a:r>
            <a:r>
              <a:rPr lang="en-US" altLang="zh-CN" sz="2800">
                <a:solidFill>
                  <a:schemeClr val="tx1"/>
                </a:solidFill>
                <a:latin typeface="Tahoma" panose="020B0604030504040204" pitchFamily="34" charset="0"/>
                <a:ea typeface="宋体" panose="02010600030101010101" pitchFamily="2" charset="-122"/>
              </a:rPr>
              <a:t>5-10】</a:t>
            </a:r>
            <a:r>
              <a:rPr lang="zh-CN" altLang="en-US" sz="2800">
                <a:solidFill>
                  <a:schemeClr val="tx1"/>
                </a:solidFill>
                <a:latin typeface="Tahoma" panose="020B0604030504040204" pitchFamily="34" charset="0"/>
                <a:ea typeface="宋体" panose="02010600030101010101" pitchFamily="2" charset="-122"/>
              </a:rPr>
              <a:t>在</a:t>
            </a:r>
            <a:r>
              <a:rPr lang="en-US" altLang="zh-CN" sz="2800">
                <a:solidFill>
                  <a:schemeClr val="tx1"/>
                </a:solidFill>
                <a:latin typeface="Tahoma" panose="020B0604030504040204" pitchFamily="34" charset="0"/>
                <a:ea typeface="宋体" panose="02010600030101010101" pitchFamily="2" charset="-122"/>
              </a:rPr>
              <a:t>college</a:t>
            </a:r>
            <a:r>
              <a:rPr lang="zh-CN" altLang="en-US" sz="2800">
                <a:solidFill>
                  <a:schemeClr val="tx1"/>
                </a:solidFill>
                <a:latin typeface="Tahoma" panose="020B0604030504040204" pitchFamily="34" charset="0"/>
                <a:ea typeface="宋体" panose="02010600030101010101" pitchFamily="2" charset="-122"/>
              </a:rPr>
              <a:t>数据库中创建一个基于 </a:t>
            </a:r>
            <a:r>
              <a:rPr lang="en-US" altLang="zh-CN" sz="2800">
                <a:solidFill>
                  <a:schemeClr val="tx1"/>
                </a:solidFill>
                <a:latin typeface="Tahoma" panose="020B0604030504040204" pitchFamily="34" charset="0"/>
                <a:ea typeface="宋体" panose="02010600030101010101" pitchFamily="2" charset="-122"/>
              </a:rPr>
              <a:t>teacher</a:t>
            </a:r>
            <a:r>
              <a:rPr lang="zh-CN" altLang="en-US" sz="2800">
                <a:solidFill>
                  <a:schemeClr val="tx1"/>
                </a:solidFill>
                <a:latin typeface="Tahoma" panose="020B0604030504040204" pitchFamily="34" charset="0"/>
                <a:ea typeface="宋体" panose="02010600030101010101" pitchFamily="2" charset="-122"/>
              </a:rPr>
              <a:t>表的视图</a:t>
            </a:r>
            <a:r>
              <a:rPr lang="en-US" altLang="zh-CN" sz="2800">
                <a:solidFill>
                  <a:schemeClr val="tx1"/>
                </a:solidFill>
                <a:latin typeface="Tahoma" panose="020B0604030504040204" pitchFamily="34" charset="0"/>
                <a:ea typeface="宋体" panose="02010600030101010101" pitchFamily="2" charset="-122"/>
              </a:rPr>
              <a:t>t_view</a:t>
            </a:r>
            <a:r>
              <a:rPr lang="zh-CN" altLang="en-US" sz="2800">
                <a:solidFill>
                  <a:schemeClr val="tx1"/>
                </a:solidFill>
                <a:latin typeface="Tahoma" panose="020B0604030504040204" pitchFamily="34" charset="0"/>
                <a:ea typeface="宋体" panose="02010600030101010101" pitchFamily="2" charset="-122"/>
              </a:rPr>
              <a:t>，要求视图中只有教师的姓名（</a:t>
            </a:r>
            <a:r>
              <a:rPr lang="en-US" altLang="zh-CN" sz="2800">
                <a:solidFill>
                  <a:schemeClr val="tx1"/>
                </a:solidFill>
                <a:latin typeface="Tahoma" panose="020B0604030504040204" pitchFamily="34" charset="0"/>
                <a:ea typeface="宋体" panose="02010600030101010101" pitchFamily="2" charset="-122"/>
              </a:rPr>
              <a:t>tn</a:t>
            </a:r>
            <a:r>
              <a:rPr lang="zh-CN" altLang="en-US" sz="2800">
                <a:solidFill>
                  <a:schemeClr val="tx1"/>
                </a:solidFill>
                <a:latin typeface="Tahoma" panose="020B0604030504040204" pitchFamily="34" charset="0"/>
                <a:ea typeface="宋体" panose="02010600030101010101" pitchFamily="2" charset="-122"/>
              </a:rPr>
              <a:t>）、性别（</a:t>
            </a:r>
            <a:r>
              <a:rPr lang="en-US" altLang="zh-CN" sz="2800">
                <a:solidFill>
                  <a:schemeClr val="tx1"/>
                </a:solidFill>
                <a:latin typeface="Tahoma" panose="020B0604030504040204" pitchFamily="34" charset="0"/>
                <a:ea typeface="宋体" panose="02010600030101010101" pitchFamily="2" charset="-122"/>
              </a:rPr>
              <a:t>sex</a:t>
            </a:r>
            <a:r>
              <a:rPr lang="zh-CN" altLang="en-US" sz="2800">
                <a:solidFill>
                  <a:schemeClr val="tx1"/>
                </a:solidFill>
                <a:latin typeface="Tahoma" panose="020B0604030504040204" pitchFamily="34" charset="0"/>
                <a:ea typeface="宋体" panose="02010600030101010101" pitchFamily="2" charset="-122"/>
              </a:rPr>
              <a:t>）、职称（</a:t>
            </a:r>
            <a:r>
              <a:rPr lang="en-US" altLang="zh-CN" sz="2800">
                <a:solidFill>
                  <a:schemeClr val="tx1"/>
                </a:solidFill>
                <a:latin typeface="Tahoma" panose="020B0604030504040204" pitchFamily="34" charset="0"/>
                <a:ea typeface="宋体" panose="02010600030101010101" pitchFamily="2" charset="-122"/>
              </a:rPr>
              <a:t>prof</a:t>
            </a:r>
            <a:r>
              <a:rPr lang="zh-CN" altLang="en-US" sz="2800">
                <a:solidFill>
                  <a:schemeClr val="tx1"/>
                </a:solidFill>
                <a:latin typeface="Tahoma" panose="020B0604030504040204" pitchFamily="34" charset="0"/>
                <a:ea typeface="宋体" panose="02010600030101010101" pitchFamily="2" charset="-122"/>
              </a:rPr>
              <a:t>）和系别（</a:t>
            </a:r>
            <a:r>
              <a:rPr lang="en-US" altLang="zh-CN" sz="2800">
                <a:solidFill>
                  <a:schemeClr val="tx1"/>
                </a:solidFill>
                <a:latin typeface="Tahoma" panose="020B0604030504040204" pitchFamily="34" charset="0"/>
                <a:ea typeface="宋体" panose="02010600030101010101" pitchFamily="2" charset="-122"/>
              </a:rPr>
              <a:t>Dep</a:t>
            </a:r>
            <a:r>
              <a:rPr lang="zh-CN" altLang="en-US" sz="2800">
                <a:solidFill>
                  <a:schemeClr val="tx1"/>
                </a:solidFill>
                <a:latin typeface="Tahoma" panose="020B0604030504040204" pitchFamily="34" charset="0"/>
                <a:ea typeface="宋体" panose="02010600030101010101" pitchFamily="2" charset="-122"/>
              </a:rPr>
              <a:t>），且字段名为中文名称。</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USE college;</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CREATE VIEW t_view(</a:t>
            </a:r>
            <a:r>
              <a:rPr lang="zh-CN" altLang="en-US" sz="2800">
                <a:solidFill>
                  <a:schemeClr val="tx1"/>
                </a:solidFill>
                <a:latin typeface="Tahoma" panose="020B0604030504040204" pitchFamily="34" charset="0"/>
                <a:ea typeface="宋体" panose="02010600030101010101" pitchFamily="2" charset="-122"/>
              </a:rPr>
              <a:t>姓名</a:t>
            </a:r>
            <a:r>
              <a:rPr lang="en-US" altLang="zh-CN" sz="2800">
                <a:solidFill>
                  <a:schemeClr val="tx1"/>
                </a:solidFill>
                <a:latin typeface="Tahoma" panose="020B0604030504040204" pitchFamily="34" charset="0"/>
                <a:ea typeface="宋体" panose="02010600030101010101" pitchFamily="2" charset="-122"/>
              </a:rPr>
              <a:t>,</a:t>
            </a:r>
            <a:r>
              <a:rPr lang="zh-CN" altLang="en-US" sz="2800">
                <a:solidFill>
                  <a:schemeClr val="tx1"/>
                </a:solidFill>
                <a:latin typeface="Tahoma" panose="020B0604030504040204" pitchFamily="34" charset="0"/>
                <a:ea typeface="宋体" panose="02010600030101010101" pitchFamily="2" charset="-122"/>
              </a:rPr>
              <a:t>性别</a:t>
            </a:r>
            <a:r>
              <a:rPr lang="en-US" altLang="zh-CN" sz="2800">
                <a:solidFill>
                  <a:schemeClr val="tx1"/>
                </a:solidFill>
                <a:latin typeface="Tahoma" panose="020B0604030504040204" pitchFamily="34" charset="0"/>
                <a:ea typeface="宋体" panose="02010600030101010101" pitchFamily="2" charset="-122"/>
              </a:rPr>
              <a:t>,</a:t>
            </a:r>
            <a:r>
              <a:rPr lang="zh-CN" altLang="en-US" sz="2800">
                <a:solidFill>
                  <a:schemeClr val="tx1"/>
                </a:solidFill>
                <a:latin typeface="Tahoma" panose="020B0604030504040204" pitchFamily="34" charset="0"/>
                <a:ea typeface="宋体" panose="02010600030101010101" pitchFamily="2" charset="-122"/>
              </a:rPr>
              <a:t>职称</a:t>
            </a:r>
            <a:r>
              <a:rPr lang="en-US" altLang="zh-CN" sz="2800">
                <a:solidFill>
                  <a:schemeClr val="tx1"/>
                </a:solidFill>
                <a:latin typeface="Tahoma" panose="020B0604030504040204" pitchFamily="34" charset="0"/>
                <a:ea typeface="宋体" panose="02010600030101010101" pitchFamily="2" charset="-122"/>
              </a:rPr>
              <a:t>,</a:t>
            </a:r>
            <a:r>
              <a:rPr lang="zh-CN" altLang="en-US" sz="2800">
                <a:solidFill>
                  <a:schemeClr val="tx1"/>
                </a:solidFill>
                <a:latin typeface="Tahoma" panose="020B0604030504040204" pitchFamily="34" charset="0"/>
                <a:ea typeface="宋体" panose="02010600030101010101" pitchFamily="2" charset="-122"/>
              </a:rPr>
              <a:t>系别</a:t>
            </a:r>
            <a:r>
              <a:rPr lang="en-US" altLang="zh-CN" sz="2800">
                <a:solidFill>
                  <a:schemeClr val="tx1"/>
                </a:solidFill>
                <a:latin typeface="Tahoma" panose="020B0604030504040204" pitchFamily="34" charset="0"/>
                <a:ea typeface="宋体" panose="02010600030101010101" pitchFamily="2" charset="-122"/>
              </a:rPr>
              <a:t>)</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AS</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SELECT tn, sex, prof,Dep </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FROM teacher;</a:t>
            </a:r>
          </a:p>
          <a:p>
            <a:pPr>
              <a:lnSpc>
                <a:spcPct val="80000"/>
              </a:lnSpc>
            </a:pPr>
            <a:r>
              <a:rPr lang="zh-CN" altLang="en-US" sz="2800">
                <a:solidFill>
                  <a:schemeClr val="tx1"/>
                </a:solidFill>
                <a:latin typeface="Tahoma" panose="020B0604030504040204" pitchFamily="34" charset="0"/>
                <a:ea typeface="宋体" panose="02010600030101010101" pitchFamily="2" charset="-122"/>
              </a:rPr>
              <a:t>由于</a:t>
            </a:r>
            <a:r>
              <a:rPr lang="en-US" altLang="zh-CN" sz="2800">
                <a:solidFill>
                  <a:schemeClr val="tx1"/>
                </a:solidFill>
                <a:latin typeface="Tahoma" panose="020B0604030504040204" pitchFamily="34" charset="0"/>
                <a:ea typeface="宋体" panose="02010600030101010101" pitchFamily="2" charset="-122"/>
              </a:rPr>
              <a:t>SELECT</a:t>
            </a:r>
            <a:r>
              <a:rPr lang="zh-CN" altLang="en-US" sz="2800">
                <a:solidFill>
                  <a:schemeClr val="tx1"/>
                </a:solidFill>
                <a:latin typeface="Tahoma" panose="020B0604030504040204" pitchFamily="34" charset="0"/>
                <a:ea typeface="宋体" panose="02010600030101010101" pitchFamily="2" charset="-122"/>
              </a:rPr>
              <a:t>命令可以给查询结果的字段换名，所以也可以用以下的命令实现：</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USE college;</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CREATE VIEW t_view</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AS</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SELECT tn as </a:t>
            </a:r>
            <a:r>
              <a:rPr lang="zh-CN" altLang="en-US" sz="2800">
                <a:solidFill>
                  <a:schemeClr val="tx1"/>
                </a:solidFill>
                <a:latin typeface="Tahoma" panose="020B0604030504040204" pitchFamily="34" charset="0"/>
                <a:ea typeface="宋体" panose="02010600030101010101" pitchFamily="2" charset="-122"/>
              </a:rPr>
              <a:t>姓名</a:t>
            </a:r>
            <a:r>
              <a:rPr lang="en-US" altLang="zh-CN" sz="2800">
                <a:solidFill>
                  <a:schemeClr val="tx1"/>
                </a:solidFill>
                <a:latin typeface="Tahoma" panose="020B0604030504040204" pitchFamily="34" charset="0"/>
                <a:ea typeface="宋体" panose="02010600030101010101" pitchFamily="2" charset="-122"/>
              </a:rPr>
              <a:t>, sex as </a:t>
            </a:r>
            <a:r>
              <a:rPr lang="zh-CN" altLang="en-US" sz="2800">
                <a:solidFill>
                  <a:schemeClr val="tx1"/>
                </a:solidFill>
                <a:latin typeface="Tahoma" panose="020B0604030504040204" pitchFamily="34" charset="0"/>
                <a:ea typeface="宋体" panose="02010600030101010101" pitchFamily="2" charset="-122"/>
              </a:rPr>
              <a:t>性别</a:t>
            </a:r>
            <a:r>
              <a:rPr lang="en-US" altLang="zh-CN" sz="2800">
                <a:solidFill>
                  <a:schemeClr val="tx1"/>
                </a:solidFill>
                <a:latin typeface="Tahoma" panose="020B0604030504040204" pitchFamily="34" charset="0"/>
                <a:ea typeface="宋体" panose="02010600030101010101" pitchFamily="2" charset="-122"/>
              </a:rPr>
              <a:t>, prof as </a:t>
            </a:r>
            <a:r>
              <a:rPr lang="zh-CN" altLang="en-US" sz="2800">
                <a:solidFill>
                  <a:schemeClr val="tx1"/>
                </a:solidFill>
                <a:latin typeface="Tahoma" panose="020B0604030504040204" pitchFamily="34" charset="0"/>
                <a:ea typeface="宋体" panose="02010600030101010101" pitchFamily="2" charset="-122"/>
              </a:rPr>
              <a:t>职称</a:t>
            </a:r>
            <a:r>
              <a:rPr lang="en-US" altLang="zh-CN" sz="2800">
                <a:solidFill>
                  <a:schemeClr val="tx1"/>
                </a:solidFill>
                <a:latin typeface="Tahoma" panose="020B0604030504040204" pitchFamily="34" charset="0"/>
                <a:ea typeface="宋体" panose="02010600030101010101" pitchFamily="2" charset="-122"/>
              </a:rPr>
              <a:t>,Dep as </a:t>
            </a:r>
            <a:r>
              <a:rPr lang="zh-CN" altLang="en-US" sz="2800">
                <a:solidFill>
                  <a:schemeClr val="tx1"/>
                </a:solidFill>
                <a:latin typeface="Tahoma" panose="020B0604030504040204" pitchFamily="34" charset="0"/>
                <a:ea typeface="宋体" panose="02010600030101010101" pitchFamily="2" charset="-122"/>
              </a:rPr>
              <a:t>系别</a:t>
            </a:r>
          </a:p>
          <a:p>
            <a:pPr>
              <a:lnSpc>
                <a:spcPct val="80000"/>
              </a:lnSpc>
              <a:buFontTx/>
              <a:buNone/>
            </a:pPr>
            <a:r>
              <a:rPr lang="en-US" altLang="zh-CN" sz="2800">
                <a:solidFill>
                  <a:schemeClr val="tx1"/>
                </a:solidFill>
                <a:latin typeface="Tahoma" panose="020B0604030504040204" pitchFamily="34" charset="0"/>
                <a:ea typeface="宋体" panose="02010600030101010101" pitchFamily="2" charset="-122"/>
              </a:rPr>
              <a:t>FROM teacher;</a:t>
            </a:r>
            <a:endParaRPr lang="zh-CN" altLang="en-US" sz="280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82785067"/>
      </p:ext>
    </p:extLst>
  </p:cSld>
  <p:clrMapOvr>
    <a:masterClrMapping/>
  </p:clrMapOvr>
  <p:transition spd="slow">
    <p:wipe dir="r"/>
    <p:sndAc>
      <p:stSnd>
        <p:snd r:embed="rId2" name="arrow.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查看视图</a:t>
            </a:r>
            <a:endParaRPr lang="zh-CN" altLang="en-US" sz="4000" b="1" dirty="0">
              <a:solidFill>
                <a:srgbClr val="FFFFCC"/>
              </a:solidFill>
              <a:effectLst>
                <a:outerShdw blurRad="38100" dist="38100" dir="2700000" algn="tl">
                  <a:srgbClr val="000000"/>
                </a:outerShdw>
              </a:effectLst>
              <a:cs typeface="+mn-cs"/>
            </a:endParaRPr>
          </a:p>
        </p:txBody>
      </p:sp>
      <p:sp>
        <p:nvSpPr>
          <p:cNvPr id="15" name="Rectangle 3">
            <a:extLst>
              <a:ext uri="{FF2B5EF4-FFF2-40B4-BE49-F238E27FC236}">
                <a16:creationId xmlns:a16="http://schemas.microsoft.com/office/drawing/2014/main" id="{8967DC2F-C711-4973-895E-AADD158AFEE7}"/>
              </a:ext>
            </a:extLst>
          </p:cNvPr>
          <p:cNvSpPr txBox="1">
            <a:spLocks noChangeArrowheads="1"/>
          </p:cNvSpPr>
          <p:nvPr/>
        </p:nvSpPr>
        <p:spPr bwMode="auto">
          <a:xfrm>
            <a:off x="551384" y="1099269"/>
            <a:ext cx="11089232" cy="936104"/>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en-US" altLang="zh-CN" sz="3600" b="1" dirty="0">
                <a:solidFill>
                  <a:srgbClr val="FFCC00"/>
                </a:solidFill>
                <a:latin typeface="+mj-ea"/>
                <a:ea typeface="+mj-ea"/>
              </a:rPr>
              <a:t>SHOW  CREATE  VIEW </a:t>
            </a:r>
            <a:r>
              <a:rPr lang="zh-CN" altLang="en-US" sz="3600" dirty="0">
                <a:solidFill>
                  <a:srgbClr val="CCFFCC"/>
                </a:solidFill>
                <a:latin typeface="Arial" pitchFamily="34" charset="0"/>
                <a:ea typeface="微软雅黑" pitchFamily="34" charset="-122"/>
              </a:rPr>
              <a:t>语句可以查看视图的定义</a:t>
            </a:r>
            <a:endParaRPr lang="en-US" altLang="zh-CN" sz="3600" dirty="0">
              <a:latin typeface="+mj-ea"/>
              <a:ea typeface="+mj-ea"/>
            </a:endParaRPr>
          </a:p>
        </p:txBody>
      </p:sp>
      <p:sp>
        <p:nvSpPr>
          <p:cNvPr id="16" name="Rectangle 4">
            <a:extLst>
              <a:ext uri="{FF2B5EF4-FFF2-40B4-BE49-F238E27FC236}">
                <a16:creationId xmlns:a16="http://schemas.microsoft.com/office/drawing/2014/main" id="{56C3D228-7FA7-4DB5-8074-C64DAC79B96F}"/>
              </a:ext>
            </a:extLst>
          </p:cNvPr>
          <p:cNvSpPr>
            <a:spLocks noChangeArrowheads="1"/>
          </p:cNvSpPr>
          <p:nvPr/>
        </p:nvSpPr>
        <p:spPr bwMode="auto">
          <a:xfrm>
            <a:off x="601279" y="1697742"/>
            <a:ext cx="8207375" cy="550748"/>
          </a:xfrm>
          <a:prstGeom prst="rect">
            <a:avLst/>
          </a:prstGeom>
          <a:noFill/>
          <a:ln w="9525">
            <a:noFill/>
            <a:miter lim="800000"/>
            <a:headEnd/>
            <a:tailEnd/>
          </a:ln>
          <a:effectLst/>
        </p:spPr>
        <p:txBody>
          <a:bodyPr/>
          <a:lstStyle/>
          <a:p>
            <a:pPr fontAlgn="auto">
              <a:spcBef>
                <a:spcPts val="0"/>
              </a:spcBef>
              <a:spcAft>
                <a:spcPct val="15000"/>
              </a:spcAft>
              <a:buClr>
                <a:srgbClr val="66FF33"/>
              </a:buClr>
              <a:buSzPct val="85000"/>
              <a:defRPr/>
            </a:pPr>
            <a:r>
              <a:rPr kumimoji="0" lang="zh-CN" altLang="en-US" sz="3600" kern="0" dirty="0">
                <a:solidFill>
                  <a:srgbClr val="66FF66"/>
                </a:solidFill>
                <a:effectLst>
                  <a:outerShdw blurRad="38100" dist="38100" dir="2700000" algn="tl">
                    <a:srgbClr val="000000"/>
                  </a:outerShdw>
                </a:effectLst>
                <a:latin typeface="Franklin Gothic Book"/>
                <a:ea typeface="黑体" panose="02010609060101010101" pitchFamily="49" charset="-122"/>
              </a:rPr>
              <a:t>例如查看视图</a:t>
            </a:r>
            <a:r>
              <a:rPr kumimoji="0" lang="en-US" altLang="zh-CN" sz="3600" kern="0" dirty="0" err="1">
                <a:solidFill>
                  <a:srgbClr val="66FF66"/>
                </a:solidFill>
                <a:effectLst>
                  <a:outerShdw blurRad="38100" dist="38100" dir="2700000" algn="tl">
                    <a:srgbClr val="000000"/>
                  </a:outerShdw>
                </a:effectLst>
                <a:latin typeface="Franklin Gothic Book"/>
                <a:ea typeface="黑体" panose="02010609060101010101" pitchFamily="49" charset="-122"/>
              </a:rPr>
              <a:t>view_t</a:t>
            </a:r>
            <a:r>
              <a:rPr kumimoji="0" lang="zh-CN" altLang="en-US" sz="3600" kern="0" dirty="0">
                <a:solidFill>
                  <a:srgbClr val="66FF66"/>
                </a:solidFill>
                <a:effectLst>
                  <a:outerShdw blurRad="38100" dist="38100" dir="2700000" algn="tl">
                    <a:srgbClr val="000000"/>
                  </a:outerShdw>
                </a:effectLst>
                <a:latin typeface="Franklin Gothic Book"/>
                <a:ea typeface="黑体" panose="02010609060101010101" pitchFamily="49" charset="-122"/>
              </a:rPr>
              <a:t>的定义：</a:t>
            </a:r>
            <a:endParaRPr lang="en-US" altLang="zh-CN" sz="3600" dirty="0">
              <a:latin typeface="+mj-ea"/>
            </a:endParaRPr>
          </a:p>
          <a:p>
            <a:r>
              <a:rPr lang="en-US" altLang="zh-CN" sz="4000" b="1" dirty="0">
                <a:solidFill>
                  <a:srgbClr val="FFCC00"/>
                </a:solidFill>
                <a:latin typeface="+mj-ea"/>
              </a:rPr>
              <a:t>Show Create View  </a:t>
            </a:r>
            <a:r>
              <a:rPr lang="en-US" altLang="zh-CN" sz="4000" dirty="0" err="1">
                <a:solidFill>
                  <a:srgbClr val="FFFFCC"/>
                </a:solidFill>
                <a:latin typeface="+mj-ea"/>
              </a:rPr>
              <a:t>view_t</a:t>
            </a:r>
            <a:r>
              <a:rPr lang="en-US" altLang="zh-CN" sz="4000" dirty="0">
                <a:solidFill>
                  <a:srgbClr val="FFFFCC"/>
                </a:solidFill>
                <a:latin typeface="+mj-ea"/>
              </a:rPr>
              <a:t>;</a:t>
            </a:r>
          </a:p>
          <a:p>
            <a:pPr fontAlgn="auto">
              <a:spcBef>
                <a:spcPts val="0"/>
              </a:spcBef>
              <a:spcAft>
                <a:spcPct val="15000"/>
              </a:spcAft>
              <a:buClr>
                <a:srgbClr val="66FF33"/>
              </a:buClr>
              <a:buSzPct val="85000"/>
              <a:defRPr/>
            </a:pPr>
            <a:endParaRPr kumimoji="0" lang="zh-CN" altLang="en-US" sz="3600" kern="0" dirty="0">
              <a:solidFill>
                <a:srgbClr val="66FF66"/>
              </a:solidFill>
              <a:effectLst>
                <a:outerShdw blurRad="38100" dist="38100" dir="2700000" algn="tl">
                  <a:srgbClr val="000000"/>
                </a:outerShdw>
              </a:effectLst>
              <a:latin typeface="Franklin Gothic Book"/>
              <a:ea typeface="黑体" panose="02010609060101010101" pitchFamily="49" charset="-122"/>
            </a:endParaRPr>
          </a:p>
        </p:txBody>
      </p:sp>
      <p:sp>
        <p:nvSpPr>
          <p:cNvPr id="17" name="Rectangle 3">
            <a:extLst>
              <a:ext uri="{FF2B5EF4-FFF2-40B4-BE49-F238E27FC236}">
                <a16:creationId xmlns:a16="http://schemas.microsoft.com/office/drawing/2014/main" id="{25AF8567-256B-4315-A36B-5B27D65BF6AD}"/>
              </a:ext>
            </a:extLst>
          </p:cNvPr>
          <p:cNvSpPr txBox="1">
            <a:spLocks noChangeArrowheads="1"/>
          </p:cNvSpPr>
          <p:nvPr/>
        </p:nvSpPr>
        <p:spPr bwMode="auto">
          <a:xfrm>
            <a:off x="551384" y="3778253"/>
            <a:ext cx="11233248" cy="936104"/>
          </a:xfrm>
          <a:prstGeom prst="rect">
            <a:avLst/>
          </a:prstGeom>
          <a:noFill/>
          <a:ln w="12700" cap="sq">
            <a:noFill/>
            <a:miter lim="800000"/>
            <a:headEnd/>
            <a:tailEnd/>
          </a:ln>
          <a:effectLst/>
        </p:spPr>
        <p:txBody>
          <a:bodyPr lIns="0" tIns="0" rIns="0" bIns="0"/>
          <a:lstStyle>
            <a:defPPr>
              <a:defRPr lang="en-US"/>
            </a:defPPr>
            <a:lvl1pPr marL="185738" marR="0" lvl="0" indent="-185738" defTabSz="914400" eaLnBrk="1" fontAlgn="auto" latinLnBrk="0" hangingPunct="1">
              <a:lnSpc>
                <a:spcPct val="100000"/>
              </a:lnSpc>
              <a:spcBef>
                <a:spcPts val="0"/>
              </a:spcBef>
              <a:spcAft>
                <a:spcPct val="50000"/>
              </a:spcAft>
              <a:buClr>
                <a:srgbClr val="FFFFFF"/>
              </a:buClr>
              <a:buSzTx/>
              <a:buFontTx/>
              <a:buChar char="•"/>
              <a:tabLst/>
              <a:defRPr kumimoji="0" sz="2800" b="0" i="0" u="none" strike="noStrike" kern="0" cap="none" spc="0" normalizeH="0" baseline="0">
                <a:ln>
                  <a:noFill/>
                </a:ln>
                <a:solidFill>
                  <a:srgbClr val="99FF66"/>
                </a:solidFill>
                <a:effectLst>
                  <a:outerShdw blurRad="38100" dist="38100" dir="2700000" algn="tl">
                    <a:srgbClr val="000000"/>
                  </a:outerShdw>
                </a:effectLst>
                <a:uLnTx/>
                <a:uFillTx/>
                <a:latin typeface="Franklin Gothic Book"/>
                <a:ea typeface="黑体" panose="02010609060101010101" pitchFamily="49" charset="-122"/>
              </a:defRPr>
            </a:lvl1pPr>
          </a:lstStyle>
          <a:p>
            <a:r>
              <a:rPr lang="zh-CN" altLang="zh-CN" sz="3600" dirty="0">
                <a:solidFill>
                  <a:srgbClr val="CCFFCC"/>
                </a:solidFill>
                <a:latin typeface="Arial" pitchFamily="34" charset="0"/>
                <a:ea typeface="微软雅黑" pitchFamily="34" charset="-122"/>
              </a:rPr>
              <a:t>大多数跟表的有关的语句也能作用于视图。例如</a:t>
            </a:r>
            <a:r>
              <a:rPr lang="en-US" altLang="zh-CN" sz="3600" dirty="0">
                <a:solidFill>
                  <a:srgbClr val="CCFFCC"/>
                </a:solidFill>
                <a:latin typeface="Arial" pitchFamily="34" charset="0"/>
                <a:ea typeface="微软雅黑" pitchFamily="34" charset="-122"/>
              </a:rPr>
              <a:t>SHOW TABLES</a:t>
            </a:r>
            <a:r>
              <a:rPr lang="zh-CN" altLang="en-US" sz="3600" dirty="0">
                <a:solidFill>
                  <a:srgbClr val="CCFFCC"/>
                </a:solidFill>
                <a:latin typeface="Arial" pitchFamily="34" charset="0"/>
                <a:ea typeface="微软雅黑" pitchFamily="34" charset="-122"/>
              </a:rPr>
              <a:t>、</a:t>
            </a:r>
            <a:r>
              <a:rPr lang="en-US" altLang="zh-CN" sz="3600" dirty="0">
                <a:solidFill>
                  <a:srgbClr val="CCFFCC"/>
                </a:solidFill>
                <a:latin typeface="Arial" pitchFamily="34" charset="0"/>
                <a:ea typeface="微软雅黑" pitchFamily="34" charset="-122"/>
              </a:rPr>
              <a:t>DESCRIBE</a:t>
            </a:r>
            <a:r>
              <a:rPr lang="zh-CN" altLang="zh-CN" sz="3600" dirty="0">
                <a:solidFill>
                  <a:srgbClr val="CCFFCC"/>
                </a:solidFill>
                <a:latin typeface="Arial" pitchFamily="34" charset="0"/>
                <a:ea typeface="微软雅黑" pitchFamily="34" charset="-122"/>
              </a:rPr>
              <a:t>、</a:t>
            </a:r>
            <a:r>
              <a:rPr lang="en-US" altLang="zh-CN" sz="3600" dirty="0">
                <a:solidFill>
                  <a:srgbClr val="CCFFCC"/>
                </a:solidFill>
                <a:latin typeface="Arial" pitchFamily="34" charset="0"/>
                <a:ea typeface="微软雅黑" pitchFamily="34" charset="-122"/>
              </a:rPr>
              <a:t>SHOW TABLE STATUS </a:t>
            </a:r>
            <a:r>
              <a:rPr lang="zh-CN" altLang="zh-CN" sz="3600" dirty="0">
                <a:solidFill>
                  <a:srgbClr val="CCFFCC"/>
                </a:solidFill>
                <a:latin typeface="Arial" pitchFamily="34" charset="0"/>
                <a:ea typeface="微软雅黑" pitchFamily="34" charset="-122"/>
              </a:rPr>
              <a:t>等</a:t>
            </a:r>
            <a:endParaRPr lang="en-US" altLang="zh-CN" sz="3600" dirty="0">
              <a:solidFill>
                <a:srgbClr val="CCFFCC"/>
              </a:solidFill>
              <a:latin typeface="Arial" pitchFamily="34" charset="0"/>
              <a:ea typeface="微软雅黑" pitchFamily="34" charset="-122"/>
            </a:endParaRPr>
          </a:p>
        </p:txBody>
      </p:sp>
      <p:sp>
        <p:nvSpPr>
          <p:cNvPr id="18" name="Rectangle 4">
            <a:extLst>
              <a:ext uri="{FF2B5EF4-FFF2-40B4-BE49-F238E27FC236}">
                <a16:creationId xmlns:a16="http://schemas.microsoft.com/office/drawing/2014/main" id="{C5A128D6-ABA8-4F13-B791-201D7F3C2D37}"/>
              </a:ext>
            </a:extLst>
          </p:cNvPr>
          <p:cNvSpPr>
            <a:spLocks noChangeArrowheads="1"/>
          </p:cNvSpPr>
          <p:nvPr/>
        </p:nvSpPr>
        <p:spPr bwMode="auto">
          <a:xfrm>
            <a:off x="624408" y="4941168"/>
            <a:ext cx="8207375" cy="550748"/>
          </a:xfrm>
          <a:prstGeom prst="rect">
            <a:avLst/>
          </a:prstGeom>
          <a:noFill/>
          <a:ln w="9525">
            <a:noFill/>
            <a:miter lim="800000"/>
            <a:headEnd/>
            <a:tailEnd/>
          </a:ln>
          <a:effectLst/>
        </p:spPr>
        <p:txBody>
          <a:bodyPr/>
          <a:lstStyle/>
          <a:p>
            <a:pPr fontAlgn="auto">
              <a:spcBef>
                <a:spcPts val="0"/>
              </a:spcBef>
              <a:spcAft>
                <a:spcPct val="15000"/>
              </a:spcAft>
              <a:buClr>
                <a:srgbClr val="66FF33"/>
              </a:buClr>
              <a:buSzPct val="85000"/>
              <a:defRPr/>
            </a:pPr>
            <a:r>
              <a:rPr kumimoji="0" lang="zh-CN" altLang="en-US" sz="3200" kern="0" dirty="0">
                <a:solidFill>
                  <a:srgbClr val="66FF66"/>
                </a:solidFill>
                <a:effectLst>
                  <a:outerShdw blurRad="38100" dist="38100" dir="2700000" algn="tl">
                    <a:srgbClr val="000000"/>
                  </a:outerShdw>
                </a:effectLst>
                <a:latin typeface="Franklin Gothic Book"/>
                <a:ea typeface="黑体" panose="02010609060101010101" pitchFamily="49" charset="-122"/>
              </a:rPr>
              <a:t>例如查看视图</a:t>
            </a:r>
            <a:r>
              <a:rPr kumimoji="0" lang="en-US" altLang="zh-CN" sz="3200" kern="0" dirty="0" err="1">
                <a:solidFill>
                  <a:srgbClr val="66FF66"/>
                </a:solidFill>
                <a:effectLst>
                  <a:outerShdw blurRad="38100" dist="38100" dir="2700000" algn="tl">
                    <a:srgbClr val="000000"/>
                  </a:outerShdw>
                </a:effectLst>
                <a:latin typeface="Franklin Gothic Book"/>
                <a:ea typeface="黑体" panose="02010609060101010101" pitchFamily="49" charset="-122"/>
              </a:rPr>
              <a:t>view_t</a:t>
            </a:r>
            <a:r>
              <a:rPr kumimoji="0" lang="zh-CN" altLang="en-US" sz="3200" kern="0" dirty="0">
                <a:solidFill>
                  <a:srgbClr val="66FF66"/>
                </a:solidFill>
                <a:effectLst>
                  <a:outerShdw blurRad="38100" dist="38100" dir="2700000" algn="tl">
                    <a:srgbClr val="000000"/>
                  </a:outerShdw>
                </a:effectLst>
                <a:latin typeface="Franklin Gothic Book"/>
                <a:ea typeface="黑体" panose="02010609060101010101" pitchFamily="49" charset="-122"/>
              </a:rPr>
              <a:t>的结构：</a:t>
            </a:r>
            <a:endParaRPr lang="en-US" altLang="zh-CN" sz="3200" dirty="0">
              <a:latin typeface="+mj-ea"/>
            </a:endParaRPr>
          </a:p>
          <a:p>
            <a:pPr>
              <a:lnSpc>
                <a:spcPct val="150000"/>
              </a:lnSpc>
            </a:pPr>
            <a:r>
              <a:rPr lang="en-US" altLang="zh-CN" sz="4000" b="1" dirty="0">
                <a:solidFill>
                  <a:srgbClr val="FFCC00"/>
                </a:solidFill>
                <a:latin typeface="+mj-ea"/>
              </a:rPr>
              <a:t>Describe  </a:t>
            </a:r>
            <a:r>
              <a:rPr lang="en-US" altLang="zh-CN" sz="4000" dirty="0" err="1">
                <a:solidFill>
                  <a:srgbClr val="FFFFCC"/>
                </a:solidFill>
                <a:latin typeface="+mj-ea"/>
              </a:rPr>
              <a:t>view_t</a:t>
            </a:r>
            <a:r>
              <a:rPr lang="en-US" altLang="zh-CN" sz="4000" dirty="0">
                <a:solidFill>
                  <a:srgbClr val="FFFFCC"/>
                </a:solidFill>
                <a:latin typeface="+mj-ea"/>
              </a:rPr>
              <a:t>;</a:t>
            </a:r>
          </a:p>
          <a:p>
            <a:pPr fontAlgn="auto">
              <a:lnSpc>
                <a:spcPct val="150000"/>
              </a:lnSpc>
              <a:spcBef>
                <a:spcPts val="0"/>
              </a:spcBef>
              <a:spcAft>
                <a:spcPct val="15000"/>
              </a:spcAft>
              <a:buClr>
                <a:srgbClr val="66FF33"/>
              </a:buClr>
              <a:buSzPct val="85000"/>
              <a:defRPr/>
            </a:pPr>
            <a:endParaRPr kumimoji="0" lang="zh-CN" altLang="en-US" sz="3200" kern="0" dirty="0">
              <a:solidFill>
                <a:srgbClr val="66FF66"/>
              </a:solidFill>
              <a:effectLst>
                <a:outerShdw blurRad="38100" dist="38100" dir="2700000" algn="tl">
                  <a:srgbClr val="000000"/>
                </a:outerShdw>
              </a:effectLst>
              <a:latin typeface="Franklin Gothic Book"/>
              <a:ea typeface="黑体" panose="02010609060101010101" pitchFamily="49" charset="-122"/>
            </a:endParaRPr>
          </a:p>
        </p:txBody>
      </p:sp>
    </p:spTree>
    <p:extLst>
      <p:ext uri="{BB962C8B-B14F-4D97-AF65-F5344CB8AC3E}">
        <p14:creationId xmlns:p14="http://schemas.microsoft.com/office/powerpoint/2010/main" val="275722750"/>
      </p:ext>
    </p:extLst>
  </p:cSld>
  <p:clrMapOvr>
    <a:masterClrMapping/>
  </p:clrMapOvr>
  <p:transition spd="slow">
    <p:push dir="u"/>
    <p:sndAc>
      <p:stSnd>
        <p:snd r:embed="rId2" name="arrow.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删除视图</a:t>
            </a:r>
            <a:endParaRPr lang="zh-CN" altLang="en-US" sz="4000" b="1" dirty="0">
              <a:solidFill>
                <a:srgbClr val="FFFFCC"/>
              </a:solidFill>
              <a:effectLst>
                <a:outerShdw blurRad="38100" dist="38100" dir="2700000" algn="tl">
                  <a:srgbClr val="000000"/>
                </a:outerShdw>
              </a:effectLst>
              <a:cs typeface="+mn-cs"/>
            </a:endParaRPr>
          </a:p>
        </p:txBody>
      </p:sp>
      <p:sp>
        <p:nvSpPr>
          <p:cNvPr id="8" name="Rectangle 4">
            <a:extLst>
              <a:ext uri="{FF2B5EF4-FFF2-40B4-BE49-F238E27FC236}">
                <a16:creationId xmlns:a16="http://schemas.microsoft.com/office/drawing/2014/main" id="{D4B0F08E-E3BA-485F-97A5-150C67A1625B}"/>
              </a:ext>
            </a:extLst>
          </p:cNvPr>
          <p:cNvSpPr txBox="1">
            <a:spLocks noChangeArrowheads="1"/>
          </p:cNvSpPr>
          <p:nvPr/>
        </p:nvSpPr>
        <p:spPr bwMode="auto">
          <a:xfrm>
            <a:off x="767408" y="980728"/>
            <a:ext cx="9505056" cy="72122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lvl="0" eaLnBrk="1" hangingPunct="1">
              <a:lnSpc>
                <a:spcPct val="110000"/>
              </a:lnSpc>
              <a:spcAft>
                <a:spcPct val="0"/>
              </a:spcAft>
              <a:buNone/>
              <a:defRPr/>
            </a:pPr>
            <a:r>
              <a:rPr kumimoji="0" lang="en-US" altLang="zh-CN" sz="4000" b="1" dirty="0">
                <a:solidFill>
                  <a:srgbClr val="FFFF00"/>
                </a:solidFill>
                <a:latin typeface="Arial" charset="0"/>
              </a:rPr>
              <a:t>DROP </a:t>
            </a:r>
            <a:r>
              <a:rPr kumimoji="0" lang="en-US" altLang="en-US" sz="4000" b="1" dirty="0">
                <a:solidFill>
                  <a:srgbClr val="FFFF00"/>
                </a:solidFill>
                <a:latin typeface="Arial" charset="0"/>
              </a:rPr>
              <a:t> VIEW</a:t>
            </a:r>
            <a:r>
              <a:rPr kumimoji="0" lang="en-US" altLang="en-US" sz="4000" b="1" dirty="0">
                <a:solidFill>
                  <a:srgbClr val="FFFF66"/>
                </a:solidFill>
                <a:latin typeface="Arial" charset="0"/>
              </a:rPr>
              <a:t>  </a:t>
            </a:r>
            <a:r>
              <a:rPr kumimoji="0" lang="en-US" altLang="en-US" sz="4000" dirty="0">
                <a:latin typeface="Arial" charset="0"/>
              </a:rPr>
              <a:t>&lt;</a:t>
            </a:r>
            <a:r>
              <a:rPr kumimoji="0" lang="en-US" altLang="en-US" sz="4000" i="1" dirty="0" err="1">
                <a:latin typeface="Arial" charset="0"/>
              </a:rPr>
              <a:t>视图名</a:t>
            </a:r>
            <a:r>
              <a:rPr kumimoji="0" lang="en-US" altLang="en-US" sz="4000" dirty="0">
                <a:latin typeface="Arial" charset="0"/>
              </a:rPr>
              <a:t>&gt;</a:t>
            </a:r>
            <a:r>
              <a:rPr kumimoji="0" lang="en-US" altLang="zh-CN" sz="4000" dirty="0">
                <a:latin typeface="Arial" charset="0"/>
              </a:rPr>
              <a:t> </a:t>
            </a:r>
            <a:endParaRPr kumimoji="0" lang="en-US" altLang="en-US" sz="4000" dirty="0">
              <a:latin typeface="Arial" charset="0"/>
            </a:endParaRPr>
          </a:p>
        </p:txBody>
      </p:sp>
      <p:sp>
        <p:nvSpPr>
          <p:cNvPr id="9" name="Rectangle 5">
            <a:extLst>
              <a:ext uri="{FF2B5EF4-FFF2-40B4-BE49-F238E27FC236}">
                <a16:creationId xmlns:a16="http://schemas.microsoft.com/office/drawing/2014/main" id="{B2561BC3-4E3E-4045-835A-B604904A4D55}"/>
              </a:ext>
            </a:extLst>
          </p:cNvPr>
          <p:cNvSpPr>
            <a:spLocks noChangeArrowheads="1"/>
          </p:cNvSpPr>
          <p:nvPr/>
        </p:nvSpPr>
        <p:spPr bwMode="auto">
          <a:xfrm>
            <a:off x="597228" y="2223580"/>
            <a:ext cx="10971379"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marL="216000" indent="-288000" fontAlgn="auto">
              <a:spcBef>
                <a:spcPct val="50000"/>
              </a:spcBef>
              <a:spcAft>
                <a:spcPct val="0"/>
              </a:spcAft>
              <a:buClr>
                <a:srgbClr val="FFFFFF"/>
              </a:buClr>
              <a:buSzTx/>
              <a:buFont typeface="Wingdings" pitchFamily="2" charset="2"/>
              <a:buChar char="§"/>
              <a:defRPr/>
            </a:pPr>
            <a:r>
              <a:rPr kumimoji="0" lang="zh-CN" altLang="en-US" sz="3200" kern="0" dirty="0">
                <a:solidFill>
                  <a:prstClr val="white"/>
                </a:solidFill>
                <a:effectLst/>
                <a:latin typeface="Franklin Gothic Book"/>
                <a:ea typeface="黑体" panose="02010609060101010101" pitchFamily="49" charset="-122"/>
              </a:rPr>
              <a:t>仅删除数据字典</a:t>
            </a:r>
            <a:r>
              <a:rPr kumimoji="0" lang="en-US" altLang="zh-CN" sz="3200" kern="0" dirty="0">
                <a:solidFill>
                  <a:prstClr val="white"/>
                </a:solidFill>
                <a:effectLst/>
                <a:latin typeface="Franklin Gothic Book"/>
                <a:ea typeface="黑体" panose="02010609060101010101" pitchFamily="49" charset="-122"/>
              </a:rPr>
              <a:t>DD</a:t>
            </a:r>
            <a:r>
              <a:rPr kumimoji="0" lang="zh-CN" altLang="en-US" sz="3200" kern="0" dirty="0">
                <a:solidFill>
                  <a:prstClr val="white"/>
                </a:solidFill>
                <a:effectLst/>
                <a:latin typeface="Franklin Gothic Book"/>
                <a:ea typeface="黑体" panose="02010609060101010101" pitchFamily="49" charset="-122"/>
              </a:rPr>
              <a:t>中有关该视图的定义。</a:t>
            </a:r>
          </a:p>
          <a:p>
            <a:pPr marL="288000" indent="-288000" fontAlgn="auto">
              <a:spcBef>
                <a:spcPct val="50000"/>
              </a:spcBef>
              <a:spcAft>
                <a:spcPct val="0"/>
              </a:spcAft>
              <a:buClr>
                <a:srgbClr val="FFFFFF"/>
              </a:buClr>
              <a:buSzTx/>
              <a:buFont typeface="Wingdings" pitchFamily="2" charset="2"/>
              <a:buChar char="§"/>
              <a:defRPr/>
            </a:pPr>
            <a:r>
              <a:rPr kumimoji="0" lang="zh-CN" altLang="en-US" sz="3200" kern="0" dirty="0">
                <a:solidFill>
                  <a:prstClr val="white"/>
                </a:solidFill>
                <a:effectLst/>
                <a:latin typeface="Franklin Gothic Book"/>
                <a:ea typeface="黑体" panose="02010609060101010101" pitchFamily="49" charset="-122"/>
              </a:rPr>
              <a:t>由于视图仅是查询数据的定义，而没有真正的数据，所以删除视图不会删除任何数据。</a:t>
            </a:r>
          </a:p>
        </p:txBody>
      </p:sp>
      <p:sp>
        <p:nvSpPr>
          <p:cNvPr id="10" name="Rectangle 6">
            <a:extLst>
              <a:ext uri="{FF2B5EF4-FFF2-40B4-BE49-F238E27FC236}">
                <a16:creationId xmlns:a16="http://schemas.microsoft.com/office/drawing/2014/main" id="{1637A206-6CA3-4A39-BD9A-3DFD3CD38D71}"/>
              </a:ext>
            </a:extLst>
          </p:cNvPr>
          <p:cNvSpPr>
            <a:spLocks noChangeArrowheads="1"/>
          </p:cNvSpPr>
          <p:nvPr/>
        </p:nvSpPr>
        <p:spPr bwMode="auto">
          <a:xfrm>
            <a:off x="767408" y="5301208"/>
            <a:ext cx="7731125" cy="1198563"/>
          </a:xfrm>
          <a:prstGeom prst="rect">
            <a:avLst/>
          </a:prstGeom>
          <a:noFill/>
          <a:ln w="9525">
            <a:noFill/>
            <a:miter lim="800000"/>
            <a:headEnd/>
            <a:tailEnd/>
          </a:ln>
          <a:effectLst/>
        </p:spPr>
        <p:txBody>
          <a:bodyPr/>
          <a:lstStyle/>
          <a:p>
            <a:pPr algn="just" fontAlgn="auto">
              <a:spcBef>
                <a:spcPts val="0"/>
              </a:spcBef>
              <a:spcAft>
                <a:spcPct val="15000"/>
              </a:spcAft>
              <a:buClr>
                <a:srgbClr val="FFFFFF"/>
              </a:buClr>
              <a:buSzPct val="85000"/>
              <a:defRPr/>
            </a:pPr>
            <a:r>
              <a:rPr kumimoji="0" lang="zh-CN" altLang="en-US" sz="3200" kern="0" dirty="0">
                <a:solidFill>
                  <a:srgbClr val="FFFFCC"/>
                </a:solidFill>
                <a:effectLst>
                  <a:outerShdw blurRad="38100" dist="38100" dir="2700000" algn="tl">
                    <a:srgbClr val="000000"/>
                  </a:outerShdw>
                </a:effectLst>
                <a:latin typeface="Franklin Gothic Book"/>
                <a:ea typeface="黑体" panose="02010609060101010101" pitchFamily="49" charset="-122"/>
              </a:rPr>
              <a:t>删除名称为</a:t>
            </a:r>
            <a:r>
              <a:rPr kumimoji="0" lang="zh-CN" altLang="en-US" sz="3200" kern="0" dirty="0">
                <a:solidFill>
                  <a:srgbClr val="FFFFCC"/>
                </a:solidFill>
                <a:effectLst>
                  <a:outerShdw blurRad="38100" dist="38100" dir="2700000" algn="tl">
                    <a:srgbClr val="000000"/>
                  </a:outerShdw>
                </a:effectLst>
                <a:latin typeface="Arial"/>
                <a:ea typeface="黑体" panose="02010609060101010101" pitchFamily="49" charset="-122"/>
              </a:rPr>
              <a:t>“</a:t>
            </a:r>
            <a:r>
              <a:rPr kumimoji="0" lang="en-US" altLang="zh-CN" sz="3200" kern="0" dirty="0">
                <a:solidFill>
                  <a:srgbClr val="FFFFCC"/>
                </a:solidFill>
                <a:effectLst>
                  <a:outerShdw blurRad="38100" dist="38100" dir="2700000" algn="tl">
                    <a:srgbClr val="000000"/>
                  </a:outerShdw>
                </a:effectLst>
                <a:latin typeface="Franklin Gothic Book"/>
                <a:ea typeface="黑体" panose="02010609060101010101" pitchFamily="49" charset="-122"/>
              </a:rPr>
              <a:t>ST_M</a:t>
            </a:r>
            <a:r>
              <a:rPr kumimoji="0" lang="en-US" altLang="zh-CN" sz="3200" kern="0" dirty="0">
                <a:solidFill>
                  <a:srgbClr val="FFFFCC"/>
                </a:solidFill>
                <a:effectLst>
                  <a:outerShdw blurRad="38100" dist="38100" dir="2700000" algn="tl">
                    <a:srgbClr val="000000"/>
                  </a:outerShdw>
                </a:effectLst>
                <a:latin typeface="Arial"/>
                <a:ea typeface="黑体" panose="02010609060101010101" pitchFamily="49" charset="-122"/>
              </a:rPr>
              <a:t>”</a:t>
            </a:r>
            <a:r>
              <a:rPr kumimoji="0" lang="zh-CN" altLang="en-US" sz="3200" kern="0" dirty="0">
                <a:solidFill>
                  <a:srgbClr val="FFFFCC"/>
                </a:solidFill>
                <a:effectLst>
                  <a:outerShdw blurRad="38100" dist="38100" dir="2700000" algn="tl">
                    <a:srgbClr val="000000"/>
                  </a:outerShdw>
                </a:effectLst>
                <a:latin typeface="Franklin Gothic Book"/>
                <a:ea typeface="黑体" panose="02010609060101010101" pitchFamily="49" charset="-122"/>
              </a:rPr>
              <a:t>的视图</a:t>
            </a:r>
          </a:p>
        </p:txBody>
      </p:sp>
      <p:sp>
        <p:nvSpPr>
          <p:cNvPr id="11" name="Rectangle 7">
            <a:extLst>
              <a:ext uri="{FF2B5EF4-FFF2-40B4-BE49-F238E27FC236}">
                <a16:creationId xmlns:a16="http://schemas.microsoft.com/office/drawing/2014/main" id="{6867D0CC-153E-4A8A-93B6-3298345EA75F}"/>
              </a:ext>
            </a:extLst>
          </p:cNvPr>
          <p:cNvSpPr>
            <a:spLocks noChangeArrowheads="1"/>
          </p:cNvSpPr>
          <p:nvPr/>
        </p:nvSpPr>
        <p:spPr bwMode="auto">
          <a:xfrm>
            <a:off x="767407" y="5814764"/>
            <a:ext cx="7416800" cy="647700"/>
          </a:xfrm>
          <a:prstGeom prst="rect">
            <a:avLst/>
          </a:prstGeom>
          <a:noFill/>
          <a:ln w="9525">
            <a:noFill/>
            <a:miter lim="800000"/>
            <a:headEnd/>
            <a:tailEnd/>
          </a:ln>
          <a:effectLst/>
        </p:spPr>
        <p:txBody>
          <a:bodyPr/>
          <a:lstStyle/>
          <a:p>
            <a:pPr algn="just" fontAlgn="auto">
              <a:spcBef>
                <a:spcPts val="0"/>
              </a:spcBef>
              <a:spcAft>
                <a:spcPct val="0"/>
              </a:spcAft>
              <a:buClr>
                <a:srgbClr val="FFFFFF"/>
              </a:buClr>
              <a:buSzPct val="85000"/>
              <a:defRPr/>
            </a:pPr>
            <a:r>
              <a:rPr kumimoji="0" lang="en-US" altLang="zh-CN" sz="4000" kern="0" dirty="0">
                <a:solidFill>
                  <a:srgbClr val="99FF33"/>
                </a:solidFill>
                <a:effectLst>
                  <a:outerShdw blurRad="38100" dist="38100" dir="2700000" algn="tl">
                    <a:srgbClr val="000000"/>
                  </a:outerShdw>
                </a:effectLst>
                <a:latin typeface="Franklin Gothic Book"/>
                <a:ea typeface="黑体" panose="02010609060101010101" pitchFamily="49" charset="-122"/>
              </a:rPr>
              <a:t>DROP VIEW  ST_M</a:t>
            </a:r>
            <a:r>
              <a:rPr lang="en-US" altLang="zh-CN" sz="4000" kern="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kumimoji="0" lang="en-US" altLang="zh-CN" sz="4000" kern="0" dirty="0">
                <a:solidFill>
                  <a:srgbClr val="99FF33"/>
                </a:solidFill>
                <a:effectLst>
                  <a:outerShdw blurRad="38100" dist="38100" dir="2700000" algn="tl">
                    <a:srgbClr val="000000"/>
                  </a:outerShdw>
                </a:effectLst>
                <a:latin typeface="Franklin Gothic Book"/>
                <a:ea typeface="黑体" panose="02010609060101010101" pitchFamily="49" charset="-122"/>
              </a:rPr>
              <a:t> </a:t>
            </a:r>
            <a:endParaRPr kumimoji="0" lang="zh-CN" altLang="en-US" sz="4000" kern="0" dirty="0">
              <a:solidFill>
                <a:srgbClr val="CCFFCC"/>
              </a:solidFill>
              <a:effectLst>
                <a:outerShdw blurRad="38100" dist="38100" dir="2700000" algn="tl">
                  <a:srgbClr val="000000"/>
                </a:outerShdw>
              </a:effectLst>
              <a:latin typeface="Times New Roman" pitchFamily="18" charset="0"/>
              <a:ea typeface="黑体" panose="02010609060101010101" pitchFamily="49" charset="-122"/>
            </a:endParaRPr>
          </a:p>
        </p:txBody>
      </p:sp>
    </p:spTree>
    <p:extLst>
      <p:ext uri="{BB962C8B-B14F-4D97-AF65-F5344CB8AC3E}">
        <p14:creationId xmlns:p14="http://schemas.microsoft.com/office/powerpoint/2010/main" val="2464049279"/>
      </p:ext>
    </p:extLst>
  </p:cSld>
  <p:clrMapOvr>
    <a:masterClrMapping/>
  </p:clrMapOvr>
  <p:transition spd="med">
    <p:pull/>
    <p:sndAc>
      <p:stSnd>
        <p:snd r:embed="rId2" name="arrow.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修改视图</a:t>
            </a:r>
            <a:endParaRPr lang="zh-CN" altLang="en-US" sz="4000" b="1" dirty="0">
              <a:solidFill>
                <a:srgbClr val="FFFFCC"/>
              </a:solidFill>
              <a:effectLst>
                <a:outerShdw blurRad="38100" dist="38100" dir="2700000" algn="tl">
                  <a:srgbClr val="000000"/>
                </a:outerShdw>
              </a:effectLst>
              <a:cs typeface="+mn-cs"/>
            </a:endParaRPr>
          </a:p>
        </p:txBody>
      </p:sp>
      <p:sp>
        <p:nvSpPr>
          <p:cNvPr id="12" name="Rectangle 4">
            <a:extLst>
              <a:ext uri="{FF2B5EF4-FFF2-40B4-BE49-F238E27FC236}">
                <a16:creationId xmlns:a16="http://schemas.microsoft.com/office/drawing/2014/main" id="{67C9F1FB-AE03-414A-9995-D6C3DB7728A9}"/>
              </a:ext>
            </a:extLst>
          </p:cNvPr>
          <p:cNvSpPr txBox="1">
            <a:spLocks noChangeArrowheads="1"/>
          </p:cNvSpPr>
          <p:nvPr/>
        </p:nvSpPr>
        <p:spPr bwMode="auto">
          <a:xfrm>
            <a:off x="839416" y="1124744"/>
            <a:ext cx="10945216" cy="207114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0"/>
              </a:spcAft>
              <a:buNone/>
              <a:defRPr/>
            </a:pPr>
            <a:r>
              <a:rPr kumimoji="0" lang="en-US" altLang="en-US" sz="4000" b="1" dirty="0">
                <a:solidFill>
                  <a:srgbClr val="FFFF00"/>
                </a:solidFill>
                <a:latin typeface="Arial" charset="0"/>
              </a:rPr>
              <a:t>ALTER VIEW</a:t>
            </a:r>
            <a:r>
              <a:rPr kumimoji="0" lang="en-US" altLang="en-US" sz="4000" b="1" dirty="0">
                <a:solidFill>
                  <a:srgbClr val="FFFF66"/>
                </a:solidFill>
                <a:latin typeface="Arial" charset="0"/>
              </a:rPr>
              <a:t> </a:t>
            </a:r>
            <a:r>
              <a:rPr kumimoji="0" lang="en-US" altLang="en-US" sz="4000" dirty="0">
                <a:latin typeface="Arial" charset="0"/>
              </a:rPr>
              <a:t>&lt;</a:t>
            </a:r>
            <a:r>
              <a:rPr kumimoji="0" lang="en-US" altLang="en-US" sz="4000" i="1" dirty="0" err="1">
                <a:latin typeface="Arial" charset="0"/>
              </a:rPr>
              <a:t>视图名</a:t>
            </a:r>
            <a:r>
              <a:rPr kumimoji="0" lang="en-US" altLang="en-US" sz="4000" dirty="0">
                <a:latin typeface="Arial" charset="0"/>
              </a:rPr>
              <a:t>&gt; [(&lt;</a:t>
            </a:r>
            <a:r>
              <a:rPr kumimoji="0" lang="en-US" altLang="en-US" sz="4000" i="1" dirty="0">
                <a:latin typeface="Arial" charset="0"/>
              </a:rPr>
              <a:t>列名1</a:t>
            </a:r>
            <a:r>
              <a:rPr kumimoji="0" lang="en-US" altLang="en-US" sz="4000" dirty="0">
                <a:latin typeface="Arial" charset="0"/>
              </a:rPr>
              <a:t>&gt;[,&lt;</a:t>
            </a:r>
            <a:r>
              <a:rPr kumimoji="0" lang="en-US" altLang="en-US" sz="4000" i="1" dirty="0">
                <a:latin typeface="Arial" charset="0"/>
              </a:rPr>
              <a:t>列名2</a:t>
            </a:r>
            <a:r>
              <a:rPr kumimoji="0" lang="en-US" altLang="en-US" sz="4000" dirty="0">
                <a:latin typeface="Arial" charset="0"/>
              </a:rPr>
              <a:t>&gt;]...)]</a:t>
            </a:r>
          </a:p>
          <a:p>
            <a:pPr eaLnBrk="1" hangingPunct="1">
              <a:lnSpc>
                <a:spcPct val="110000"/>
              </a:lnSpc>
              <a:spcAft>
                <a:spcPct val="0"/>
              </a:spcAft>
              <a:buNone/>
              <a:defRPr/>
            </a:pPr>
            <a:r>
              <a:rPr kumimoji="0" lang="en-US" altLang="en-US" sz="4000" b="1" dirty="0">
                <a:solidFill>
                  <a:srgbClr val="FFFF00"/>
                </a:solidFill>
                <a:latin typeface="Arial" charset="0"/>
              </a:rPr>
              <a:t>AS</a:t>
            </a:r>
            <a:r>
              <a:rPr kumimoji="0" lang="en-US" altLang="en-US" sz="4000" b="1" dirty="0">
                <a:solidFill>
                  <a:srgbClr val="FFFF66"/>
                </a:solidFill>
                <a:latin typeface="Arial" charset="0"/>
              </a:rPr>
              <a:t> </a:t>
            </a:r>
            <a:r>
              <a:rPr kumimoji="0" lang="en-US" altLang="zh-CN" sz="4000" b="1" dirty="0">
                <a:solidFill>
                  <a:srgbClr val="FFFF66"/>
                </a:solidFill>
                <a:latin typeface="Arial" charset="0"/>
              </a:rPr>
              <a:t> </a:t>
            </a:r>
            <a:r>
              <a:rPr kumimoji="0" lang="en-US" altLang="en-US" sz="4000" i="1" dirty="0" err="1">
                <a:latin typeface="Arial" charset="0"/>
              </a:rPr>
              <a:t>SELECT语句</a:t>
            </a:r>
            <a:endParaRPr kumimoji="0" lang="en-US" altLang="en-US" sz="4000" i="1" dirty="0">
              <a:latin typeface="Arial" charset="0"/>
            </a:endParaRPr>
          </a:p>
          <a:p>
            <a:pPr eaLnBrk="1" hangingPunct="1">
              <a:lnSpc>
                <a:spcPct val="110000"/>
              </a:lnSpc>
              <a:spcAft>
                <a:spcPct val="0"/>
              </a:spcAft>
              <a:buNone/>
              <a:defRPr/>
            </a:pPr>
            <a:r>
              <a:rPr kumimoji="0" lang="en-US" altLang="en-US" sz="4000" i="1" dirty="0">
                <a:latin typeface="Arial" charset="0"/>
              </a:rPr>
              <a:t>[WITH CHECK OPTION]</a:t>
            </a:r>
          </a:p>
        </p:txBody>
      </p:sp>
      <p:sp>
        <p:nvSpPr>
          <p:cNvPr id="13" name="Rectangle 4">
            <a:extLst>
              <a:ext uri="{FF2B5EF4-FFF2-40B4-BE49-F238E27FC236}">
                <a16:creationId xmlns:a16="http://schemas.microsoft.com/office/drawing/2014/main" id="{2F48891A-1499-42A1-A1DD-592FED4781C3}"/>
              </a:ext>
            </a:extLst>
          </p:cNvPr>
          <p:cNvSpPr txBox="1">
            <a:spLocks noChangeArrowheads="1"/>
          </p:cNvSpPr>
          <p:nvPr/>
        </p:nvSpPr>
        <p:spPr bwMode="auto">
          <a:xfrm>
            <a:off x="444376" y="3861048"/>
            <a:ext cx="1119624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50000"/>
              </a:spcAft>
              <a:defRPr/>
            </a:pPr>
            <a:r>
              <a:rPr lang="zh-CN" altLang="en-US" sz="3600" kern="0" dirty="0">
                <a:solidFill>
                  <a:schemeClr val="accent5">
                    <a:lumMod val="20000"/>
                    <a:lumOff val="80000"/>
                  </a:schemeClr>
                </a:solidFill>
                <a:latin typeface="Arial" charset="0"/>
              </a:rPr>
              <a:t>除了命令的关键字是</a:t>
            </a:r>
            <a:r>
              <a:rPr lang="en-US" altLang="zh-CN" sz="3600" kern="0" dirty="0">
                <a:solidFill>
                  <a:schemeClr val="accent5">
                    <a:lumMod val="20000"/>
                    <a:lumOff val="80000"/>
                  </a:schemeClr>
                </a:solidFill>
                <a:latin typeface="Arial" charset="0"/>
              </a:rPr>
              <a:t>ALTER VIEW</a:t>
            </a:r>
            <a:r>
              <a:rPr lang="zh-CN" altLang="en-US" sz="3600" kern="0" dirty="0">
                <a:solidFill>
                  <a:schemeClr val="accent5">
                    <a:lumMod val="20000"/>
                    <a:lumOff val="80000"/>
                  </a:schemeClr>
                </a:solidFill>
                <a:latin typeface="Arial" charset="0"/>
              </a:rPr>
              <a:t>外，其它完全同</a:t>
            </a:r>
            <a:r>
              <a:rPr lang="en-US" altLang="zh-CN" sz="3600" kern="0" dirty="0">
                <a:solidFill>
                  <a:schemeClr val="accent5">
                    <a:lumMod val="20000"/>
                    <a:lumOff val="80000"/>
                  </a:schemeClr>
                </a:solidFill>
                <a:latin typeface="Arial" charset="0"/>
              </a:rPr>
              <a:t>CREATE VIEW</a:t>
            </a:r>
            <a:r>
              <a:rPr lang="zh-CN" altLang="en-US" sz="3600" kern="0" dirty="0">
                <a:solidFill>
                  <a:schemeClr val="accent5">
                    <a:lumMod val="20000"/>
                    <a:lumOff val="80000"/>
                  </a:schemeClr>
                </a:solidFill>
                <a:latin typeface="Arial" charset="0"/>
              </a:rPr>
              <a:t>命令</a:t>
            </a:r>
            <a:endParaRPr lang="en-US" altLang="zh-CN" sz="3600" kern="0" dirty="0">
              <a:solidFill>
                <a:schemeClr val="accent5">
                  <a:lumMod val="20000"/>
                  <a:lumOff val="80000"/>
                </a:schemeClr>
              </a:solidFill>
              <a:latin typeface="Arial" charset="0"/>
            </a:endParaRPr>
          </a:p>
          <a:p>
            <a:pPr eaLnBrk="1" hangingPunct="1">
              <a:spcAft>
                <a:spcPct val="50000"/>
              </a:spcAft>
              <a:defRPr/>
            </a:pPr>
            <a:r>
              <a:rPr lang="zh-CN" altLang="en-US" sz="3600" kern="0" dirty="0">
                <a:solidFill>
                  <a:schemeClr val="accent5">
                    <a:lumMod val="20000"/>
                    <a:lumOff val="80000"/>
                  </a:schemeClr>
                </a:solidFill>
                <a:latin typeface="Arial" charset="0"/>
              </a:rPr>
              <a:t>其实</a:t>
            </a:r>
            <a:r>
              <a:rPr lang="en-US" altLang="zh-CN" sz="3600" kern="0" dirty="0">
                <a:solidFill>
                  <a:schemeClr val="accent5">
                    <a:lumMod val="20000"/>
                    <a:lumOff val="80000"/>
                  </a:schemeClr>
                </a:solidFill>
                <a:latin typeface="Arial" charset="0"/>
              </a:rPr>
              <a:t>ALTER VIEW</a:t>
            </a:r>
            <a:r>
              <a:rPr lang="zh-CN" altLang="en-US" sz="3600" kern="0" dirty="0">
                <a:solidFill>
                  <a:schemeClr val="accent5">
                    <a:lumMod val="20000"/>
                    <a:lumOff val="80000"/>
                  </a:schemeClr>
                </a:solidFill>
                <a:latin typeface="Arial" charset="0"/>
              </a:rPr>
              <a:t>就是先</a:t>
            </a:r>
            <a:r>
              <a:rPr lang="en-US" altLang="zh-CN" sz="3600" kern="0" dirty="0">
                <a:solidFill>
                  <a:schemeClr val="accent5">
                    <a:lumMod val="20000"/>
                    <a:lumOff val="80000"/>
                  </a:schemeClr>
                </a:solidFill>
                <a:latin typeface="Arial" charset="0"/>
              </a:rPr>
              <a:t>DROP VIEW</a:t>
            </a:r>
            <a:r>
              <a:rPr lang="zh-CN" altLang="en-US" sz="3600" kern="0" dirty="0">
                <a:solidFill>
                  <a:schemeClr val="accent5">
                    <a:lumMod val="20000"/>
                    <a:lumOff val="80000"/>
                  </a:schemeClr>
                </a:solidFill>
                <a:latin typeface="Arial" charset="0"/>
              </a:rPr>
              <a:t>，再重新</a:t>
            </a:r>
            <a:r>
              <a:rPr lang="en-US" altLang="zh-CN" sz="3600" kern="0" dirty="0">
                <a:solidFill>
                  <a:schemeClr val="accent5">
                    <a:lumMod val="20000"/>
                    <a:lumOff val="80000"/>
                  </a:schemeClr>
                </a:solidFill>
                <a:latin typeface="Arial" charset="0"/>
              </a:rPr>
              <a:t>CREATE VIEW</a:t>
            </a:r>
          </a:p>
        </p:txBody>
      </p:sp>
    </p:spTree>
    <p:extLst>
      <p:ext uri="{BB962C8B-B14F-4D97-AF65-F5344CB8AC3E}">
        <p14:creationId xmlns:p14="http://schemas.microsoft.com/office/powerpoint/2010/main" val="1574762559"/>
      </p:ext>
    </p:extLst>
  </p:cSld>
  <p:clrMapOvr>
    <a:masterClrMapping/>
  </p:clrMapOvr>
  <p:transition spd="slow">
    <p:wipe dir="r"/>
    <p:sndAc>
      <p:stSnd>
        <p:snd r:embed="rId2" name="arrow.wav"/>
      </p:stSnd>
    </p:sndAc>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查询视图</a:t>
            </a:r>
            <a:endParaRPr lang="zh-CN" altLang="en-US" sz="4000" b="1" dirty="0">
              <a:solidFill>
                <a:srgbClr val="FFFFCC"/>
              </a:solidFill>
              <a:effectLst>
                <a:outerShdw blurRad="38100" dist="38100" dir="2700000" algn="tl">
                  <a:srgbClr val="000000"/>
                </a:outerShdw>
              </a:effectLst>
              <a:cs typeface="+mn-cs"/>
            </a:endParaRPr>
          </a:p>
        </p:txBody>
      </p:sp>
      <p:sp>
        <p:nvSpPr>
          <p:cNvPr id="5" name="Rectangle 4">
            <a:extLst>
              <a:ext uri="{FF2B5EF4-FFF2-40B4-BE49-F238E27FC236}">
                <a16:creationId xmlns:a16="http://schemas.microsoft.com/office/drawing/2014/main" id="{6BBF21FF-E02D-48BA-A464-482F4A6F49C8}"/>
              </a:ext>
            </a:extLst>
          </p:cNvPr>
          <p:cNvSpPr>
            <a:spLocks noChangeArrowheads="1"/>
          </p:cNvSpPr>
          <p:nvPr/>
        </p:nvSpPr>
        <p:spPr bwMode="auto">
          <a:xfrm>
            <a:off x="7734837" y="788669"/>
            <a:ext cx="385763" cy="396875"/>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60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sp>
        <p:nvSpPr>
          <p:cNvPr id="6" name="Rectangle 5">
            <a:extLst>
              <a:ext uri="{FF2B5EF4-FFF2-40B4-BE49-F238E27FC236}">
                <a16:creationId xmlns:a16="http://schemas.microsoft.com/office/drawing/2014/main" id="{5B700FD6-B7CE-4C03-9070-1F48455D8FCE}"/>
              </a:ext>
            </a:extLst>
          </p:cNvPr>
          <p:cNvSpPr>
            <a:spLocks noChangeArrowheads="1"/>
          </p:cNvSpPr>
          <p:nvPr/>
        </p:nvSpPr>
        <p:spPr bwMode="auto">
          <a:xfrm>
            <a:off x="893712" y="4383434"/>
            <a:ext cx="5490319" cy="492443"/>
          </a:xfrm>
          <a:prstGeom prst="rect">
            <a:avLst/>
          </a:prstGeom>
          <a:noFill/>
          <a:ln w="12700" cap="sq">
            <a:noFill/>
            <a:miter lim="800000"/>
            <a:headEnd/>
            <a:tailEnd/>
          </a:ln>
          <a:effectLst/>
        </p:spPr>
        <p:txBody>
          <a:bodyPr wrap="square" lIns="0" tIns="0" rIns="0" bIns="0">
            <a:spAutoFit/>
          </a:bodyPr>
          <a:lstStyle/>
          <a:p>
            <a:pPr fontAlgn="auto">
              <a:spcBef>
                <a:spcPct val="70000"/>
              </a:spcBef>
              <a:spcAft>
                <a:spcPct val="0"/>
              </a:spcAft>
              <a:buClr>
                <a:srgbClr val="FFFFCC"/>
              </a:buClr>
              <a:buSzPct val="60000"/>
              <a:defRPr/>
            </a:pPr>
            <a:r>
              <a:rPr kumimoji="0" lang="en-US" altLang="zh-CN" sz="3200" kern="0" dirty="0">
                <a:solidFill>
                  <a:srgbClr val="99FF33"/>
                </a:solidFill>
                <a:effectLst>
                  <a:outerShdw blurRad="38100" dist="38100" dir="2700000" algn="tl">
                    <a:srgbClr val="000000"/>
                  </a:outerShdw>
                </a:effectLst>
                <a:latin typeface="Arial Narrow" pitchFamily="34" charset="0"/>
                <a:ea typeface="黑体" panose="02010609060101010101" pitchFamily="49" charset="-122"/>
              </a:rPr>
              <a:t>SELECT </a:t>
            </a:r>
            <a:r>
              <a:rPr kumimoji="0" lang="en-US" altLang="zh-CN" sz="3200" kern="0" dirty="0">
                <a:solidFill>
                  <a:srgbClr val="99FF33"/>
                </a:solidFill>
                <a:effectLst>
                  <a:outerShdw blurRad="38100" dist="38100" dir="2700000" algn="tl">
                    <a:srgbClr val="000000"/>
                  </a:outerShdw>
                </a:effectLst>
                <a:latin typeface="Franklin Gothic Book"/>
                <a:ea typeface="黑体" panose="02010609060101010101" pitchFamily="49" charset="-122"/>
              </a:rPr>
              <a:t>*</a:t>
            </a:r>
            <a:r>
              <a:rPr kumimoji="0" lang="en-US" altLang="zh-CN" sz="3200" kern="0" dirty="0">
                <a:solidFill>
                  <a:srgbClr val="99FF33"/>
                </a:solidFill>
                <a:effectLst>
                  <a:outerShdw blurRad="38100" dist="38100" dir="2700000" algn="tl">
                    <a:srgbClr val="000000"/>
                  </a:outerShdw>
                </a:effectLst>
                <a:latin typeface="Arial Narrow" pitchFamily="34" charset="0"/>
                <a:ea typeface="黑体" panose="02010609060101010101" pitchFamily="49" charset="-122"/>
              </a:rPr>
              <a:t> FROM  ST_NA</a:t>
            </a:r>
            <a:endParaRPr kumimoji="0" lang="zh-CN" altLang="en-US" sz="3200" kern="0" dirty="0">
              <a:solidFill>
                <a:srgbClr val="CCFFCC"/>
              </a:solidFill>
              <a:effectLst>
                <a:outerShdw blurRad="38100" dist="38100" dir="2700000" algn="tl">
                  <a:srgbClr val="000000"/>
                </a:outerShdw>
              </a:effectLst>
              <a:latin typeface="Franklin Gothic Book"/>
              <a:ea typeface="黑体" panose="02010609060101010101" pitchFamily="49" charset="-122"/>
            </a:endParaRPr>
          </a:p>
        </p:txBody>
      </p:sp>
      <p:sp>
        <p:nvSpPr>
          <p:cNvPr id="8" name="AutoShape 6">
            <a:extLst>
              <a:ext uri="{FF2B5EF4-FFF2-40B4-BE49-F238E27FC236}">
                <a16:creationId xmlns:a16="http://schemas.microsoft.com/office/drawing/2014/main" id="{B381FF3C-EB3C-4767-B8C5-6B5D2A6C72D8}"/>
              </a:ext>
            </a:extLst>
          </p:cNvPr>
          <p:cNvSpPr>
            <a:spLocks noChangeArrowheads="1"/>
          </p:cNvSpPr>
          <p:nvPr/>
        </p:nvSpPr>
        <p:spPr bwMode="auto">
          <a:xfrm>
            <a:off x="2117676" y="5086361"/>
            <a:ext cx="381000" cy="430871"/>
          </a:xfrm>
          <a:prstGeom prst="downArrow">
            <a:avLst>
              <a:gd name="adj1" fmla="val 52500"/>
              <a:gd name="adj2" fmla="val 41694"/>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rgbClr val="000514">
                <a:alpha val="50000"/>
              </a:srgbClr>
            </a:outerShdw>
          </a:effectLst>
        </p:spPr>
        <p:txBody>
          <a:bodyPr lIns="36000" tIns="36000" rIns="36000" bIns="36000">
            <a:spAutoFit/>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9" name="Rectangle 8">
            <a:extLst>
              <a:ext uri="{FF2B5EF4-FFF2-40B4-BE49-F238E27FC236}">
                <a16:creationId xmlns:a16="http://schemas.microsoft.com/office/drawing/2014/main" id="{85676C10-FF2F-42D2-B727-11426F7C532C}"/>
              </a:ext>
            </a:extLst>
          </p:cNvPr>
          <p:cNvSpPr>
            <a:spLocks noChangeArrowheads="1"/>
          </p:cNvSpPr>
          <p:nvPr/>
        </p:nvSpPr>
        <p:spPr bwMode="auto">
          <a:xfrm>
            <a:off x="918856" y="1592486"/>
            <a:ext cx="5688185" cy="1969770"/>
          </a:xfrm>
          <a:prstGeom prst="rect">
            <a:avLst/>
          </a:prstGeom>
          <a:noFill/>
          <a:ln w="12700" cap="sq">
            <a:noFill/>
            <a:miter lim="800000"/>
            <a:headEnd/>
            <a:tailEnd/>
          </a:ln>
          <a:effectLst/>
        </p:spPr>
        <p:txBody>
          <a:bodyPr wrap="square" lIns="0" tIns="0" rIns="0" bIns="0">
            <a:spAutoFit/>
          </a:bodyPr>
          <a:lstStyle/>
          <a:p>
            <a:pPr fontAlgn="auto">
              <a:spcBef>
                <a:spcPts val="0"/>
              </a:spcBef>
              <a:spcAft>
                <a:spcPct val="0"/>
              </a:spcAft>
              <a:buClr>
                <a:srgbClr val="FFFFCC"/>
              </a:buClr>
              <a:buSzPct val="60000"/>
              <a:defRPr/>
            </a:pP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CREATE VIEW ST_NA(</a:t>
            </a:r>
            <a:r>
              <a:rPr kumimoji="0" lang="en-US" altLang="zh-CN" sz="3200" kern="0" dirty="0" err="1">
                <a:solidFill>
                  <a:srgbClr val="CCFFCC"/>
                </a:solidFill>
                <a:effectLst>
                  <a:outerShdw blurRad="38100" dist="38100" dir="2700000" algn="tl">
                    <a:srgbClr val="000000"/>
                  </a:outerShdw>
                </a:effectLst>
                <a:latin typeface="Arial Narrow" pitchFamily="34" charset="0"/>
                <a:ea typeface="黑体" panose="02010609060101010101" pitchFamily="49" charset="-122"/>
              </a:rPr>
              <a:t>name,age</a:t>
            </a: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a:t>
            </a:r>
          </a:p>
          <a:p>
            <a:pPr fontAlgn="auto">
              <a:spcBef>
                <a:spcPts val="0"/>
              </a:spcBef>
              <a:spcAft>
                <a:spcPct val="0"/>
              </a:spcAft>
              <a:buClr>
                <a:srgbClr val="FFFFCC"/>
              </a:buClr>
              <a:buSzPct val="60000"/>
              <a:defRPr/>
            </a:pP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AS</a:t>
            </a:r>
            <a:endParaRPr kumimoji="0" lang="en-US" altLang="zh-CN" sz="3200" i="1"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endParaRPr>
          </a:p>
          <a:p>
            <a:pPr fontAlgn="auto">
              <a:spcBef>
                <a:spcPts val="0"/>
              </a:spcBef>
              <a:spcAft>
                <a:spcPct val="0"/>
              </a:spcAft>
              <a:buClr>
                <a:srgbClr val="FFFFCC"/>
              </a:buClr>
              <a:buSzPct val="60000"/>
              <a:defRPr/>
            </a:pP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SELECT </a:t>
            </a:r>
            <a:r>
              <a:rPr kumimoji="0" lang="zh-CN" altLang="en-US"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姓名</a:t>
            </a: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a:t>
            </a:r>
            <a:r>
              <a:rPr kumimoji="0" lang="zh-CN" altLang="en-US"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年龄</a:t>
            </a:r>
          </a:p>
          <a:p>
            <a:pPr fontAlgn="auto">
              <a:spcBef>
                <a:spcPts val="0"/>
              </a:spcBef>
              <a:spcAft>
                <a:spcPct val="0"/>
              </a:spcAft>
              <a:buClr>
                <a:srgbClr val="FFFFCC"/>
              </a:buClr>
              <a:buSzPct val="60000"/>
              <a:defRPr/>
            </a:pP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   FROM ST</a:t>
            </a:r>
            <a:endParaRPr kumimoji="0" lang="en-US" altLang="zh-CN" sz="3200" kern="0" dirty="0">
              <a:solidFill>
                <a:srgbClr val="CCFFCC"/>
              </a:solidFill>
              <a:effectLst>
                <a:outerShdw blurRad="38100" dist="38100" dir="2700000" algn="tl">
                  <a:srgbClr val="000000"/>
                </a:outerShdw>
              </a:effectLst>
              <a:latin typeface="Franklin Gothic Book"/>
              <a:ea typeface="黑体" panose="02010609060101010101" pitchFamily="49" charset="-122"/>
            </a:endParaRPr>
          </a:p>
        </p:txBody>
      </p:sp>
      <p:sp>
        <p:nvSpPr>
          <p:cNvPr id="10" name="Rectangle 9">
            <a:extLst>
              <a:ext uri="{FF2B5EF4-FFF2-40B4-BE49-F238E27FC236}">
                <a16:creationId xmlns:a16="http://schemas.microsoft.com/office/drawing/2014/main" id="{7576E8B5-EBBC-4C4E-85B9-EB5B32A492A2}"/>
              </a:ext>
            </a:extLst>
          </p:cNvPr>
          <p:cNvSpPr>
            <a:spLocks noChangeArrowheads="1"/>
          </p:cNvSpPr>
          <p:nvPr/>
        </p:nvSpPr>
        <p:spPr bwMode="auto">
          <a:xfrm>
            <a:off x="839416" y="5694452"/>
            <a:ext cx="6336952" cy="982559"/>
          </a:xfrm>
          <a:prstGeom prst="rect">
            <a:avLst/>
          </a:prstGeom>
          <a:noFill/>
          <a:ln w="12700" cap="sq" algn="ctr">
            <a:noFill/>
            <a:miter lim="800000"/>
            <a:headEnd/>
            <a:tailEnd/>
          </a:ln>
          <a:effectLst/>
        </p:spPr>
        <p:txBody>
          <a:bodyPr wrap="square" lIns="72000" tIns="72000" rIns="72000" bIns="72000">
            <a:spAutoFit/>
          </a:bodyPr>
          <a:lstStyle/>
          <a:p>
            <a:pPr fontAlgn="auto">
              <a:lnSpc>
                <a:spcPct val="85000"/>
              </a:lnSpc>
              <a:spcBef>
                <a:spcPts val="0"/>
              </a:spcBef>
              <a:spcAft>
                <a:spcPct val="0"/>
              </a:spcAft>
              <a:buClr>
                <a:srgbClr val="FFFFCC"/>
              </a:buClr>
              <a:buSzPct val="60000"/>
              <a:defRPr/>
            </a:pPr>
            <a:r>
              <a:rPr kumimoji="0" lang="en-US" altLang="zh-CN" sz="3200" kern="0" dirty="0">
                <a:solidFill>
                  <a:srgbClr val="99FF33"/>
                </a:solidFill>
                <a:effectLst>
                  <a:outerShdw blurRad="38100" dist="38100" dir="2700000" algn="tl">
                    <a:srgbClr val="000000"/>
                  </a:outerShdw>
                </a:effectLst>
                <a:latin typeface="Arial Narrow" pitchFamily="34" charset="0"/>
                <a:ea typeface="黑体" panose="02010609060101010101" pitchFamily="49" charset="-122"/>
              </a:rPr>
              <a:t>SELECT </a:t>
            </a:r>
            <a:r>
              <a:rPr kumimoji="0" lang="zh-CN" altLang="en-US" sz="3200" kern="0" dirty="0">
                <a:solidFill>
                  <a:srgbClr val="99FF33"/>
                </a:solidFill>
                <a:effectLst>
                  <a:outerShdw blurRad="38100" dist="38100" dir="2700000" algn="tl">
                    <a:srgbClr val="000000"/>
                  </a:outerShdw>
                </a:effectLst>
                <a:latin typeface="Arial Narrow" pitchFamily="34" charset="0"/>
                <a:ea typeface="黑体" panose="02010609060101010101" pitchFamily="49" charset="-122"/>
              </a:rPr>
              <a:t>姓名 </a:t>
            </a:r>
            <a:r>
              <a:rPr kumimoji="0" lang="en-US" altLang="zh-CN" sz="3200" kern="0" dirty="0">
                <a:solidFill>
                  <a:srgbClr val="99FF33"/>
                </a:solidFill>
                <a:effectLst>
                  <a:outerShdw blurRad="38100" dist="38100" dir="2700000" algn="tl">
                    <a:srgbClr val="000000"/>
                  </a:outerShdw>
                </a:effectLst>
                <a:latin typeface="Arial Narrow" pitchFamily="34" charset="0"/>
                <a:ea typeface="黑体" panose="02010609060101010101" pitchFamily="49" charset="-122"/>
              </a:rPr>
              <a:t>As name,</a:t>
            </a:r>
            <a:r>
              <a:rPr kumimoji="0" lang="zh-CN" altLang="en-US" sz="3200" kern="0" dirty="0">
                <a:solidFill>
                  <a:srgbClr val="99FF33"/>
                </a:solidFill>
                <a:effectLst>
                  <a:outerShdw blurRad="38100" dist="38100" dir="2700000" algn="tl">
                    <a:srgbClr val="000000"/>
                  </a:outerShdw>
                </a:effectLst>
                <a:latin typeface="Arial Narrow" pitchFamily="34" charset="0"/>
                <a:ea typeface="黑体" panose="02010609060101010101" pitchFamily="49" charset="-122"/>
              </a:rPr>
              <a:t> 年龄 </a:t>
            </a:r>
            <a:r>
              <a:rPr kumimoji="0" lang="en-US" altLang="zh-CN" sz="3200" kern="0" dirty="0">
                <a:solidFill>
                  <a:srgbClr val="99FF33"/>
                </a:solidFill>
                <a:effectLst>
                  <a:outerShdw blurRad="38100" dist="38100" dir="2700000" algn="tl">
                    <a:srgbClr val="000000"/>
                  </a:outerShdw>
                </a:effectLst>
                <a:latin typeface="Arial Narrow" pitchFamily="34" charset="0"/>
                <a:ea typeface="黑体" panose="02010609060101010101" pitchFamily="49" charset="-122"/>
              </a:rPr>
              <a:t>As age</a:t>
            </a:r>
          </a:p>
          <a:p>
            <a:pPr fontAlgn="auto">
              <a:lnSpc>
                <a:spcPct val="85000"/>
              </a:lnSpc>
              <a:spcBef>
                <a:spcPts val="0"/>
              </a:spcBef>
              <a:spcAft>
                <a:spcPct val="0"/>
              </a:spcAft>
              <a:buClr>
                <a:srgbClr val="FFFFCC"/>
              </a:buClr>
              <a:buSzPct val="60000"/>
              <a:defRPr/>
            </a:pPr>
            <a:r>
              <a:rPr kumimoji="0" lang="en-US" altLang="zh-CN" sz="3200" kern="0" dirty="0">
                <a:solidFill>
                  <a:srgbClr val="99FF33"/>
                </a:solidFill>
                <a:effectLst>
                  <a:outerShdw blurRad="38100" dist="38100" dir="2700000" algn="tl">
                    <a:srgbClr val="000000"/>
                  </a:outerShdw>
                </a:effectLst>
                <a:latin typeface="Arial Narrow" pitchFamily="34" charset="0"/>
                <a:ea typeface="黑体" panose="02010609060101010101" pitchFamily="49" charset="-122"/>
              </a:rPr>
              <a:t>   FROM ST</a:t>
            </a:r>
            <a:endParaRPr kumimoji="0" lang="zh-CN" altLang="en-US" sz="3200" kern="0" dirty="0">
              <a:solidFill>
                <a:srgbClr val="CCFFCC"/>
              </a:solidFill>
              <a:effectLst>
                <a:outerShdw blurRad="38100" dist="38100" dir="2700000" algn="tl">
                  <a:srgbClr val="000000"/>
                </a:outerShdw>
              </a:effectLst>
              <a:latin typeface="Franklin Gothic Book"/>
              <a:ea typeface="黑体" panose="02010609060101010101" pitchFamily="49" charset="-122"/>
            </a:endParaRPr>
          </a:p>
        </p:txBody>
      </p:sp>
      <p:sp>
        <p:nvSpPr>
          <p:cNvPr id="11" name="Rectangle 10">
            <a:extLst>
              <a:ext uri="{FF2B5EF4-FFF2-40B4-BE49-F238E27FC236}">
                <a16:creationId xmlns:a16="http://schemas.microsoft.com/office/drawing/2014/main" id="{745181AD-BCB6-4346-A6EC-CD65D2011DE9}"/>
              </a:ext>
            </a:extLst>
          </p:cNvPr>
          <p:cNvSpPr>
            <a:spLocks noChangeArrowheads="1"/>
          </p:cNvSpPr>
          <p:nvPr/>
        </p:nvSpPr>
        <p:spPr bwMode="auto">
          <a:xfrm>
            <a:off x="839416" y="1004445"/>
            <a:ext cx="3775393" cy="525721"/>
          </a:xfrm>
          <a:prstGeom prst="rect">
            <a:avLst/>
          </a:prstGeom>
          <a:noFill/>
          <a:ln w="9525" algn="ctr">
            <a:noFill/>
            <a:miter lim="800000"/>
            <a:headEnd/>
            <a:tailEnd/>
          </a:ln>
          <a:effectLst/>
        </p:spPr>
        <p:txBody>
          <a:bodyPr wrap="none">
            <a:spAutoFit/>
          </a:bodyPr>
          <a:lstStyle/>
          <a:p>
            <a:pPr fontAlgn="auto">
              <a:lnSpc>
                <a:spcPct val="110000"/>
              </a:lnSpc>
              <a:spcBef>
                <a:spcPts val="0"/>
              </a:spcBef>
              <a:spcAft>
                <a:spcPct val="0"/>
              </a:spcAft>
              <a:buClr>
                <a:srgbClr val="66FF33"/>
              </a:buClr>
              <a:buSzPct val="85000"/>
              <a:defRPr/>
            </a:pPr>
            <a:r>
              <a:rPr kumimoji="0" lang="zh-CN" altLang="en-US" sz="2800" dirty="0">
                <a:solidFill>
                  <a:prstClr val="white"/>
                </a:solidFill>
                <a:effectLst>
                  <a:outerShdw blurRad="38100" dist="38100" dir="2700000" algn="tl">
                    <a:srgbClr val="000000"/>
                  </a:outerShdw>
                </a:effectLst>
                <a:latin typeface="Arial" charset="0"/>
                <a:ea typeface="黑体" panose="02010609060101010101" pitchFamily="49" charset="-122"/>
              </a:rPr>
              <a:t>学生的姓名和年龄视图</a:t>
            </a:r>
            <a:endParaRPr kumimoji="0" lang="en-US" altLang="en-US" sz="2800" dirty="0">
              <a:solidFill>
                <a:prstClr val="white"/>
              </a:solidFill>
              <a:effectLst>
                <a:outerShdw blurRad="38100" dist="38100" dir="2700000" algn="tl">
                  <a:srgbClr val="000000"/>
                </a:outerShdw>
              </a:effectLst>
              <a:latin typeface="Arial" charset="0"/>
              <a:ea typeface="+mn-ea"/>
            </a:endParaRPr>
          </a:p>
        </p:txBody>
      </p:sp>
      <p:sp>
        <p:nvSpPr>
          <p:cNvPr id="14" name="Rectangle 11">
            <a:extLst>
              <a:ext uri="{FF2B5EF4-FFF2-40B4-BE49-F238E27FC236}">
                <a16:creationId xmlns:a16="http://schemas.microsoft.com/office/drawing/2014/main" id="{68448D80-59E0-4AAA-9D00-3F3A4A3EE46F}"/>
              </a:ext>
            </a:extLst>
          </p:cNvPr>
          <p:cNvSpPr>
            <a:spLocks noChangeArrowheads="1"/>
          </p:cNvSpPr>
          <p:nvPr/>
        </p:nvSpPr>
        <p:spPr bwMode="auto">
          <a:xfrm>
            <a:off x="766713" y="3735734"/>
            <a:ext cx="4681538" cy="574675"/>
          </a:xfrm>
          <a:prstGeom prst="rect">
            <a:avLst/>
          </a:prstGeom>
          <a:noFill/>
          <a:ln w="9525">
            <a:noFill/>
            <a:miter lim="800000"/>
            <a:headEnd/>
            <a:tailEnd/>
          </a:ln>
          <a:effectLst/>
        </p:spPr>
        <p:txBody>
          <a:bodyPr/>
          <a:lstStyle/>
          <a:p>
            <a:pPr fontAlgn="auto">
              <a:lnSpc>
                <a:spcPct val="110000"/>
              </a:lnSpc>
              <a:spcBef>
                <a:spcPts val="0"/>
              </a:spcBef>
              <a:spcAft>
                <a:spcPct val="0"/>
              </a:spcAft>
              <a:buClr>
                <a:srgbClr val="66FF33"/>
              </a:buClr>
              <a:buSzPct val="85000"/>
              <a:defRPr/>
            </a:pPr>
            <a:r>
              <a:rPr kumimoji="0" lang="zh-CN" altLang="en-US" sz="2800" dirty="0">
                <a:solidFill>
                  <a:prstClr val="white"/>
                </a:solidFill>
                <a:effectLst>
                  <a:outerShdw blurRad="38100" dist="38100" dir="2700000" algn="tl">
                    <a:srgbClr val="000000"/>
                  </a:outerShdw>
                </a:effectLst>
                <a:latin typeface="Arial" charset="0"/>
                <a:ea typeface="黑体" panose="02010609060101010101" pitchFamily="49" charset="-122"/>
              </a:rPr>
              <a:t>查询所有学生的姓名和年龄</a:t>
            </a:r>
            <a:endParaRPr kumimoji="0" lang="en-US" altLang="en-US" sz="2800" dirty="0">
              <a:solidFill>
                <a:prstClr val="white"/>
              </a:solidFill>
              <a:effectLst>
                <a:outerShdw blurRad="38100" dist="38100" dir="2700000" algn="tl">
                  <a:srgbClr val="000000"/>
                </a:outerShdw>
              </a:effectLst>
              <a:latin typeface="Arial" charset="0"/>
              <a:ea typeface="+mn-ea"/>
            </a:endParaRPr>
          </a:p>
        </p:txBody>
      </p:sp>
      <p:graphicFrame>
        <p:nvGraphicFramePr>
          <p:cNvPr id="15" name="Group 12">
            <a:extLst>
              <a:ext uri="{FF2B5EF4-FFF2-40B4-BE49-F238E27FC236}">
                <a16:creationId xmlns:a16="http://schemas.microsoft.com/office/drawing/2014/main" id="{647DDB40-4E6F-47EE-913E-E1F8EB9C32A0}"/>
              </a:ext>
            </a:extLst>
          </p:cNvPr>
          <p:cNvGraphicFramePr>
            <a:graphicFrameLocks noGrp="1"/>
          </p:cNvGraphicFramePr>
          <p:nvPr>
            <p:extLst>
              <p:ext uri="{D42A27DB-BD31-4B8C-83A1-F6EECF244321}">
                <p14:modId xmlns:p14="http://schemas.microsoft.com/office/powerpoint/2010/main" val="2289046281"/>
              </p:ext>
            </p:extLst>
          </p:nvPr>
        </p:nvGraphicFramePr>
        <p:xfrm>
          <a:off x="8238074" y="788668"/>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6" name="Rectangle 82">
            <a:extLst>
              <a:ext uri="{FF2B5EF4-FFF2-40B4-BE49-F238E27FC236}">
                <a16:creationId xmlns:a16="http://schemas.microsoft.com/office/drawing/2014/main" id="{C7757277-D416-4C53-B43A-D2AD180FC14B}"/>
              </a:ext>
            </a:extLst>
          </p:cNvPr>
          <p:cNvSpPr>
            <a:spLocks noChangeArrowheads="1"/>
          </p:cNvSpPr>
          <p:nvPr/>
        </p:nvSpPr>
        <p:spPr bwMode="auto">
          <a:xfrm>
            <a:off x="8382537" y="3947794"/>
            <a:ext cx="1027113" cy="396875"/>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60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ST_NA</a:t>
            </a:r>
          </a:p>
        </p:txBody>
      </p:sp>
      <p:graphicFrame>
        <p:nvGraphicFramePr>
          <p:cNvPr id="17" name="Group 155">
            <a:extLst>
              <a:ext uri="{FF2B5EF4-FFF2-40B4-BE49-F238E27FC236}">
                <a16:creationId xmlns:a16="http://schemas.microsoft.com/office/drawing/2014/main" id="{3058B7A1-DB48-4631-A05E-D5DE29FCAB52}"/>
              </a:ext>
            </a:extLst>
          </p:cNvPr>
          <p:cNvGraphicFramePr>
            <a:graphicFrameLocks noGrp="1"/>
          </p:cNvGraphicFramePr>
          <p:nvPr>
            <p:extLst>
              <p:ext uri="{D42A27DB-BD31-4B8C-83A1-F6EECF244321}">
                <p14:modId xmlns:p14="http://schemas.microsoft.com/office/powerpoint/2010/main" val="2760733481"/>
              </p:ext>
            </p:extLst>
          </p:nvPr>
        </p:nvGraphicFramePr>
        <p:xfrm>
          <a:off x="9535061" y="3947793"/>
          <a:ext cx="1728788" cy="2438400"/>
        </p:xfrm>
        <a:graphic>
          <a:graphicData uri="http://schemas.openxmlformats.org/drawingml/2006/table">
            <a:tbl>
              <a:tblPr/>
              <a:tblGrid>
                <a:gridCol w="987425">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name</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age</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8" name="Rectangle 156">
            <a:extLst>
              <a:ext uri="{FF2B5EF4-FFF2-40B4-BE49-F238E27FC236}">
                <a16:creationId xmlns:a16="http://schemas.microsoft.com/office/drawing/2014/main" id="{EBE8F0E7-F243-47A4-8813-B5995163C8AA}"/>
              </a:ext>
            </a:extLst>
          </p:cNvPr>
          <p:cNvSpPr>
            <a:spLocks noChangeArrowheads="1"/>
          </p:cNvSpPr>
          <p:nvPr/>
        </p:nvSpPr>
        <p:spPr bwMode="auto">
          <a:xfrm>
            <a:off x="3015167" y="5131432"/>
            <a:ext cx="2353208" cy="369332"/>
          </a:xfrm>
          <a:prstGeom prst="rect">
            <a:avLst/>
          </a:prstGeom>
          <a:noFill/>
          <a:ln w="12700" cap="sq">
            <a:noFill/>
            <a:miter lim="800000"/>
            <a:headEnd/>
            <a:tailEnd/>
          </a:ln>
          <a:effectLst/>
        </p:spPr>
        <p:txBody>
          <a:bodyPr wrap="none" lIns="0" tIns="0" rIns="0" bIns="0">
            <a:spAutoFit/>
          </a:bodyPr>
          <a:lstStyle/>
          <a:p>
            <a:pPr algn="ctr" fontAlgn="auto">
              <a:spcBef>
                <a:spcPts val="0"/>
              </a:spcBef>
              <a:spcAft>
                <a:spcPct val="0"/>
              </a:spcAft>
              <a:buSzTx/>
              <a:defRPr/>
            </a:pPr>
            <a:r>
              <a:rPr kumimoji="0" lang="en-US" altLang="zh-CN" sz="2400" kern="0" dirty="0">
                <a:solidFill>
                  <a:srgbClr val="FFCC00"/>
                </a:solidFill>
                <a:effectLst>
                  <a:outerShdw blurRad="38100" dist="38100" dir="2700000" algn="tl">
                    <a:srgbClr val="000000"/>
                  </a:outerShdw>
                </a:effectLst>
                <a:latin typeface="Arial Narrow" pitchFamily="34" charset="0"/>
                <a:ea typeface="黑体" panose="02010609060101010101" pitchFamily="49" charset="-122"/>
              </a:rPr>
              <a:t>SQL</a:t>
            </a:r>
            <a:r>
              <a:rPr kumimoji="0" lang="zh-CN" altLang="en-US" sz="2400" kern="0" dirty="0">
                <a:solidFill>
                  <a:srgbClr val="FFCC00"/>
                </a:solidFill>
                <a:effectLst>
                  <a:outerShdw blurRad="38100" dist="38100" dir="2700000" algn="tl">
                    <a:srgbClr val="000000"/>
                  </a:outerShdw>
                </a:effectLst>
                <a:latin typeface="Arial Narrow" pitchFamily="34" charset="0"/>
                <a:ea typeface="黑体" panose="02010609060101010101" pitchFamily="49" charset="-122"/>
              </a:rPr>
              <a:t>实际做的查询</a:t>
            </a:r>
            <a:endParaRPr kumimoji="0" lang="en-US" altLang="zh-CN" sz="2400" kern="0" dirty="0">
              <a:solidFill>
                <a:srgbClr val="FFCC00"/>
              </a:solidFill>
              <a:effectLst>
                <a:outerShdw blurRad="38100" dist="38100" dir="2700000" algn="tl">
                  <a:srgbClr val="000000"/>
                </a:outerShdw>
              </a:effectLst>
              <a:latin typeface="Arial Narrow" pitchFamily="34" charset="0"/>
              <a:ea typeface="黑体" panose="02010609060101010101" pitchFamily="49" charset="-122"/>
            </a:endParaRPr>
          </a:p>
        </p:txBody>
      </p:sp>
      <p:sp>
        <p:nvSpPr>
          <p:cNvPr id="19" name="Line 157">
            <a:extLst>
              <a:ext uri="{FF2B5EF4-FFF2-40B4-BE49-F238E27FC236}">
                <a16:creationId xmlns:a16="http://schemas.microsoft.com/office/drawing/2014/main" id="{1819F4BE-8B09-4133-BF63-1578B809503F}"/>
              </a:ext>
            </a:extLst>
          </p:cNvPr>
          <p:cNvSpPr>
            <a:spLocks noChangeShapeType="1"/>
          </p:cNvSpPr>
          <p:nvPr/>
        </p:nvSpPr>
        <p:spPr bwMode="auto">
          <a:xfrm flipH="1" flipV="1">
            <a:off x="8238075" y="779143"/>
            <a:ext cx="1296987" cy="3168650"/>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20" name="Line 158">
            <a:extLst>
              <a:ext uri="{FF2B5EF4-FFF2-40B4-BE49-F238E27FC236}">
                <a16:creationId xmlns:a16="http://schemas.microsoft.com/office/drawing/2014/main" id="{D48DD16C-7F4C-4F53-9D01-03933D4BFF63}"/>
              </a:ext>
            </a:extLst>
          </p:cNvPr>
          <p:cNvSpPr>
            <a:spLocks noChangeShapeType="1"/>
          </p:cNvSpPr>
          <p:nvPr/>
        </p:nvSpPr>
        <p:spPr bwMode="auto">
          <a:xfrm flipV="1">
            <a:off x="11262262" y="779143"/>
            <a:ext cx="288925" cy="3168650"/>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21" name="Line 159">
            <a:extLst>
              <a:ext uri="{FF2B5EF4-FFF2-40B4-BE49-F238E27FC236}">
                <a16:creationId xmlns:a16="http://schemas.microsoft.com/office/drawing/2014/main" id="{7B21A9B8-270E-43E2-8A63-D685983C344E}"/>
              </a:ext>
            </a:extLst>
          </p:cNvPr>
          <p:cNvSpPr>
            <a:spLocks noChangeShapeType="1"/>
          </p:cNvSpPr>
          <p:nvPr/>
        </p:nvSpPr>
        <p:spPr bwMode="auto">
          <a:xfrm flipH="1" flipV="1">
            <a:off x="8238075" y="3227068"/>
            <a:ext cx="1296987" cy="3168650"/>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22" name="Line 160">
            <a:extLst>
              <a:ext uri="{FF2B5EF4-FFF2-40B4-BE49-F238E27FC236}">
                <a16:creationId xmlns:a16="http://schemas.microsoft.com/office/drawing/2014/main" id="{CC0ACC5D-E79F-4EDA-B6E3-343D8214F2FC}"/>
              </a:ext>
            </a:extLst>
          </p:cNvPr>
          <p:cNvSpPr>
            <a:spLocks noChangeShapeType="1"/>
          </p:cNvSpPr>
          <p:nvPr/>
        </p:nvSpPr>
        <p:spPr bwMode="auto">
          <a:xfrm flipV="1">
            <a:off x="11280824" y="3236593"/>
            <a:ext cx="288925" cy="3168650"/>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23" name="箭头: 左 22">
            <a:extLst>
              <a:ext uri="{FF2B5EF4-FFF2-40B4-BE49-F238E27FC236}">
                <a16:creationId xmlns:a16="http://schemas.microsoft.com/office/drawing/2014/main" id="{F3FDE21F-3C91-4B90-8152-5F02E77E6740}"/>
              </a:ext>
            </a:extLst>
          </p:cNvPr>
          <p:cNvSpPr/>
          <p:nvPr/>
        </p:nvSpPr>
        <p:spPr>
          <a:xfrm rot="16048297">
            <a:off x="9979511" y="3367427"/>
            <a:ext cx="398293" cy="440007"/>
          </a:xfrm>
          <a:prstGeom prst="leftArrow">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p14="http://schemas.microsoft.com/office/powerpoint/2010/main" val="3409127700"/>
      </p:ext>
    </p:extLst>
  </p:cSld>
  <p:clrMapOvr>
    <a:masterClrMapping/>
  </p:clrMapOvr>
  <p:transition spd="med">
    <p:pull dir="r"/>
    <p:sndAc>
      <p:stSnd>
        <p:snd r:embed="rId2" name="arrow.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955166" y="838270"/>
            <a:ext cx="3268844" cy="707886"/>
          </a:xfrm>
        </p:spPr>
        <p:txBody>
          <a:bodyPr/>
          <a:lstStyle/>
          <a:p>
            <a:r>
              <a:rPr lang="en-US" altLang="zh-CN" smtClean="0">
                <a:latin typeface="Times New Roman" panose="02020603050405020304" pitchFamily="18" charset="0"/>
                <a:ea typeface="宋体" panose="02010600030101010101" pitchFamily="2" charset="-122"/>
              </a:rPr>
              <a:t>5.2.6</a:t>
            </a:r>
            <a:r>
              <a:rPr lang="zh-CN" altLang="en-US" smtClean="0">
                <a:latin typeface="Times New Roman" panose="02020603050405020304" pitchFamily="18" charset="0"/>
                <a:ea typeface="宋体" panose="02010600030101010101" pitchFamily="2" charset="-122"/>
              </a:rPr>
              <a:t>更新视图</a:t>
            </a:r>
          </a:p>
        </p:txBody>
      </p:sp>
      <p:sp>
        <p:nvSpPr>
          <p:cNvPr id="56323" name="Rectangle 3"/>
          <p:cNvSpPr>
            <a:spLocks noGrp="1" noChangeArrowheads="1"/>
          </p:cNvSpPr>
          <p:nvPr>
            <p:ph type="body" idx="4294967295"/>
          </p:nvPr>
        </p:nvSpPr>
        <p:spPr>
          <a:xfrm>
            <a:off x="623392" y="1562287"/>
            <a:ext cx="10972800" cy="4525963"/>
          </a:xfrm>
        </p:spPr>
        <p:txBody>
          <a:bodyPr>
            <a:normAutofit/>
          </a:bodyPr>
          <a:lstStyle/>
          <a:p>
            <a:pPr>
              <a:lnSpc>
                <a:spcPct val="150000"/>
              </a:lnSpc>
            </a:pPr>
            <a:r>
              <a:rPr lang="zh-CN" altLang="en-US" sz="2800" dirty="0">
                <a:latin typeface="Times New Roman" panose="02020603050405020304" charset="0"/>
                <a:ea typeface="+mn-ea"/>
              </a:rPr>
              <a:t>更新视图是指通过视图来插入（</a:t>
            </a:r>
            <a:r>
              <a:rPr lang="en-US" altLang="zh-CN" sz="2800" dirty="0">
                <a:latin typeface="Times New Roman" panose="02020603050405020304" charset="0"/>
                <a:ea typeface="+mn-ea"/>
              </a:rPr>
              <a:t>INSERT</a:t>
            </a:r>
            <a:r>
              <a:rPr lang="zh-CN" altLang="en-US" sz="2800" dirty="0">
                <a:latin typeface="Times New Roman" panose="02020603050405020304" charset="0"/>
                <a:ea typeface="+mn-ea"/>
              </a:rPr>
              <a:t>）、删除（</a:t>
            </a:r>
            <a:r>
              <a:rPr lang="en-US" altLang="zh-CN" sz="2800" dirty="0">
                <a:latin typeface="Times New Roman" panose="02020603050405020304" charset="0"/>
                <a:ea typeface="+mn-ea"/>
              </a:rPr>
              <a:t>DELETE</a:t>
            </a:r>
            <a:r>
              <a:rPr lang="zh-CN" altLang="en-US" sz="2800" dirty="0">
                <a:latin typeface="Times New Roman" panose="02020603050405020304" charset="0"/>
                <a:ea typeface="+mn-ea"/>
              </a:rPr>
              <a:t>）和更新（</a:t>
            </a:r>
            <a:r>
              <a:rPr lang="en-US" altLang="zh-CN" sz="2800" dirty="0">
                <a:latin typeface="Times New Roman" panose="02020603050405020304" charset="0"/>
                <a:ea typeface="+mn-ea"/>
              </a:rPr>
              <a:t>UPDATE</a:t>
            </a:r>
            <a:r>
              <a:rPr lang="zh-CN" altLang="en-US" sz="2800" dirty="0">
                <a:latin typeface="Times New Roman" panose="02020603050405020304" charset="0"/>
                <a:ea typeface="+mn-ea"/>
              </a:rPr>
              <a:t>）数据。</a:t>
            </a:r>
          </a:p>
          <a:p>
            <a:pPr>
              <a:lnSpc>
                <a:spcPct val="150000"/>
              </a:lnSpc>
            </a:pPr>
            <a:r>
              <a:rPr lang="zh-CN" altLang="en-US" sz="2800" dirty="0">
                <a:latin typeface="Times New Roman" panose="02020603050405020304" charset="0"/>
                <a:ea typeface="+mn-ea"/>
              </a:rPr>
              <a:t>由于视图是一张虚表，其中并没有数据，所以对视图的更新最终会转换成对</a:t>
            </a:r>
            <a:r>
              <a:rPr lang="zh-CN" altLang="en-US" sz="2800" dirty="0">
                <a:solidFill>
                  <a:srgbClr val="C00000"/>
                </a:solidFill>
                <a:latin typeface="Times New Roman" panose="02020603050405020304" charset="0"/>
                <a:ea typeface="+mn-ea"/>
              </a:rPr>
              <a:t>基表数据的更新</a:t>
            </a:r>
            <a:r>
              <a:rPr lang="zh-CN" altLang="en-US" sz="2800" dirty="0">
                <a:latin typeface="Times New Roman" panose="02020603050405020304" charset="0"/>
                <a:ea typeface="+mn-ea"/>
              </a:rPr>
              <a:t>。</a:t>
            </a:r>
          </a:p>
        </p:txBody>
      </p:sp>
    </p:spTree>
    <p:extLst>
      <p:ext uri="{BB962C8B-B14F-4D97-AF65-F5344CB8AC3E}">
        <p14:creationId xmlns:p14="http://schemas.microsoft.com/office/powerpoint/2010/main" val="1844802683"/>
      </p:ext>
    </p:extLst>
  </p:cSld>
  <p:clrMapOvr>
    <a:masterClrMapping/>
  </p:clrMapOvr>
  <p:transition spd="slow">
    <p:wipe dir="r"/>
    <p:sndAc>
      <p:stSnd>
        <p:snd r:embed="rId2" name="arrow.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更新视图</a:t>
            </a:r>
            <a:endParaRPr lang="zh-CN" altLang="en-US" sz="4000" b="1" dirty="0">
              <a:solidFill>
                <a:srgbClr val="FFFFCC"/>
              </a:solidFill>
              <a:effectLst>
                <a:outerShdw blurRad="38100" dist="38100" dir="2700000" algn="tl">
                  <a:srgbClr val="000000"/>
                </a:outerShdw>
              </a:effectLst>
              <a:cs typeface="+mn-cs"/>
            </a:endParaRPr>
          </a:p>
        </p:txBody>
      </p:sp>
      <p:sp>
        <p:nvSpPr>
          <p:cNvPr id="5" name="Rectangle 4">
            <a:extLst>
              <a:ext uri="{FF2B5EF4-FFF2-40B4-BE49-F238E27FC236}">
                <a16:creationId xmlns:a16="http://schemas.microsoft.com/office/drawing/2014/main" id="{6BBF21FF-E02D-48BA-A464-482F4A6F49C8}"/>
              </a:ext>
            </a:extLst>
          </p:cNvPr>
          <p:cNvSpPr>
            <a:spLocks noChangeArrowheads="1"/>
          </p:cNvSpPr>
          <p:nvPr/>
        </p:nvSpPr>
        <p:spPr bwMode="auto">
          <a:xfrm>
            <a:off x="7734837" y="788669"/>
            <a:ext cx="385763" cy="396875"/>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60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sp>
        <p:nvSpPr>
          <p:cNvPr id="9" name="Rectangle 8">
            <a:extLst>
              <a:ext uri="{FF2B5EF4-FFF2-40B4-BE49-F238E27FC236}">
                <a16:creationId xmlns:a16="http://schemas.microsoft.com/office/drawing/2014/main" id="{85676C10-FF2F-42D2-B727-11426F7C532C}"/>
              </a:ext>
            </a:extLst>
          </p:cNvPr>
          <p:cNvSpPr>
            <a:spLocks noChangeArrowheads="1"/>
          </p:cNvSpPr>
          <p:nvPr/>
        </p:nvSpPr>
        <p:spPr bwMode="auto">
          <a:xfrm>
            <a:off x="918856" y="1592486"/>
            <a:ext cx="5688185" cy="1969770"/>
          </a:xfrm>
          <a:prstGeom prst="rect">
            <a:avLst/>
          </a:prstGeom>
          <a:noFill/>
          <a:ln w="12700" cap="sq">
            <a:noFill/>
            <a:miter lim="800000"/>
            <a:headEnd/>
            <a:tailEnd/>
          </a:ln>
          <a:effectLst/>
        </p:spPr>
        <p:txBody>
          <a:bodyPr wrap="square" lIns="0" tIns="0" rIns="0" bIns="0">
            <a:spAutoFit/>
          </a:bodyPr>
          <a:lstStyle/>
          <a:p>
            <a:pPr fontAlgn="auto">
              <a:spcBef>
                <a:spcPts val="0"/>
              </a:spcBef>
              <a:spcAft>
                <a:spcPct val="0"/>
              </a:spcAft>
              <a:buClr>
                <a:srgbClr val="FFFFCC"/>
              </a:buClr>
              <a:buSzPct val="60000"/>
              <a:defRPr/>
            </a:pP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CREATE VIEW ST_NA(</a:t>
            </a:r>
            <a:r>
              <a:rPr kumimoji="0" lang="en-US" altLang="zh-CN" sz="3200" kern="0" dirty="0" err="1">
                <a:solidFill>
                  <a:srgbClr val="CCFFCC"/>
                </a:solidFill>
                <a:effectLst>
                  <a:outerShdw blurRad="38100" dist="38100" dir="2700000" algn="tl">
                    <a:srgbClr val="000000"/>
                  </a:outerShdw>
                </a:effectLst>
                <a:latin typeface="Arial Narrow" pitchFamily="34" charset="0"/>
                <a:ea typeface="黑体" panose="02010609060101010101" pitchFamily="49" charset="-122"/>
              </a:rPr>
              <a:t>name,age</a:t>
            </a: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a:t>
            </a:r>
          </a:p>
          <a:p>
            <a:pPr fontAlgn="auto">
              <a:spcBef>
                <a:spcPts val="0"/>
              </a:spcBef>
              <a:spcAft>
                <a:spcPct val="0"/>
              </a:spcAft>
              <a:buClr>
                <a:srgbClr val="FFFFCC"/>
              </a:buClr>
              <a:buSzPct val="60000"/>
              <a:defRPr/>
            </a:pP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AS</a:t>
            </a:r>
            <a:endParaRPr kumimoji="0" lang="en-US" altLang="zh-CN" sz="3200" i="1"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endParaRPr>
          </a:p>
          <a:p>
            <a:pPr fontAlgn="auto">
              <a:spcBef>
                <a:spcPts val="0"/>
              </a:spcBef>
              <a:spcAft>
                <a:spcPct val="0"/>
              </a:spcAft>
              <a:buClr>
                <a:srgbClr val="FFFFCC"/>
              </a:buClr>
              <a:buSzPct val="60000"/>
              <a:defRPr/>
            </a:pP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SELECT </a:t>
            </a:r>
            <a:r>
              <a:rPr kumimoji="0" lang="zh-CN" altLang="en-US"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姓名</a:t>
            </a: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a:t>
            </a:r>
            <a:r>
              <a:rPr kumimoji="0" lang="zh-CN" altLang="en-US"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年龄</a:t>
            </a:r>
          </a:p>
          <a:p>
            <a:pPr fontAlgn="auto">
              <a:spcBef>
                <a:spcPts val="0"/>
              </a:spcBef>
              <a:spcAft>
                <a:spcPct val="0"/>
              </a:spcAft>
              <a:buClr>
                <a:srgbClr val="FFFFCC"/>
              </a:buClr>
              <a:buSzPct val="60000"/>
              <a:defRPr/>
            </a:pPr>
            <a:r>
              <a:rPr kumimoji="0" lang="en-US" altLang="zh-CN" sz="3200" kern="0" dirty="0">
                <a:solidFill>
                  <a:srgbClr val="CCFFCC"/>
                </a:solidFill>
                <a:effectLst>
                  <a:outerShdw blurRad="38100" dist="38100" dir="2700000" algn="tl">
                    <a:srgbClr val="000000"/>
                  </a:outerShdw>
                </a:effectLst>
                <a:latin typeface="Arial Narrow" pitchFamily="34" charset="0"/>
                <a:ea typeface="黑体" panose="02010609060101010101" pitchFamily="49" charset="-122"/>
              </a:rPr>
              <a:t>   FROM ST</a:t>
            </a:r>
            <a:endParaRPr kumimoji="0" lang="en-US" altLang="zh-CN" sz="3200" kern="0" dirty="0">
              <a:solidFill>
                <a:srgbClr val="CCFFCC"/>
              </a:solidFill>
              <a:effectLst>
                <a:outerShdw blurRad="38100" dist="38100" dir="2700000" algn="tl">
                  <a:srgbClr val="000000"/>
                </a:outerShdw>
              </a:effectLst>
              <a:latin typeface="Franklin Gothic Book"/>
              <a:ea typeface="黑体" panose="02010609060101010101" pitchFamily="49" charset="-122"/>
            </a:endParaRPr>
          </a:p>
        </p:txBody>
      </p:sp>
      <p:sp>
        <p:nvSpPr>
          <p:cNvPr id="11" name="Rectangle 10">
            <a:extLst>
              <a:ext uri="{FF2B5EF4-FFF2-40B4-BE49-F238E27FC236}">
                <a16:creationId xmlns:a16="http://schemas.microsoft.com/office/drawing/2014/main" id="{745181AD-BCB6-4346-A6EC-CD65D2011DE9}"/>
              </a:ext>
            </a:extLst>
          </p:cNvPr>
          <p:cNvSpPr>
            <a:spLocks noChangeArrowheads="1"/>
          </p:cNvSpPr>
          <p:nvPr/>
        </p:nvSpPr>
        <p:spPr bwMode="auto">
          <a:xfrm>
            <a:off x="839416" y="1004445"/>
            <a:ext cx="3775393" cy="525721"/>
          </a:xfrm>
          <a:prstGeom prst="rect">
            <a:avLst/>
          </a:prstGeom>
          <a:noFill/>
          <a:ln w="9525" algn="ctr">
            <a:noFill/>
            <a:miter lim="800000"/>
            <a:headEnd/>
            <a:tailEnd/>
          </a:ln>
          <a:effectLst/>
        </p:spPr>
        <p:txBody>
          <a:bodyPr wrap="none">
            <a:spAutoFit/>
          </a:bodyPr>
          <a:lstStyle/>
          <a:p>
            <a:pPr fontAlgn="auto">
              <a:lnSpc>
                <a:spcPct val="110000"/>
              </a:lnSpc>
              <a:spcBef>
                <a:spcPts val="0"/>
              </a:spcBef>
              <a:spcAft>
                <a:spcPct val="0"/>
              </a:spcAft>
              <a:buClr>
                <a:srgbClr val="66FF33"/>
              </a:buClr>
              <a:buSzPct val="85000"/>
              <a:defRPr/>
            </a:pPr>
            <a:r>
              <a:rPr kumimoji="0" lang="zh-CN" altLang="en-US" sz="2800" dirty="0">
                <a:solidFill>
                  <a:prstClr val="white"/>
                </a:solidFill>
                <a:effectLst>
                  <a:outerShdw blurRad="38100" dist="38100" dir="2700000" algn="tl">
                    <a:srgbClr val="000000"/>
                  </a:outerShdw>
                </a:effectLst>
                <a:latin typeface="Arial" charset="0"/>
                <a:ea typeface="黑体" panose="02010609060101010101" pitchFamily="49" charset="-122"/>
              </a:rPr>
              <a:t>学生的姓名和年龄视图</a:t>
            </a:r>
            <a:endParaRPr kumimoji="0" lang="en-US" altLang="en-US" sz="2800" dirty="0">
              <a:solidFill>
                <a:prstClr val="white"/>
              </a:solidFill>
              <a:effectLst>
                <a:outerShdw blurRad="38100" dist="38100" dir="2700000" algn="tl">
                  <a:srgbClr val="000000"/>
                </a:outerShdw>
              </a:effectLst>
              <a:latin typeface="Arial" charset="0"/>
              <a:ea typeface="+mn-ea"/>
            </a:endParaRPr>
          </a:p>
        </p:txBody>
      </p:sp>
      <p:graphicFrame>
        <p:nvGraphicFramePr>
          <p:cNvPr id="15" name="Group 12">
            <a:extLst>
              <a:ext uri="{FF2B5EF4-FFF2-40B4-BE49-F238E27FC236}">
                <a16:creationId xmlns:a16="http://schemas.microsoft.com/office/drawing/2014/main" id="{647DDB40-4E6F-47EE-913E-E1F8EB9C32A0}"/>
              </a:ext>
            </a:extLst>
          </p:cNvPr>
          <p:cNvGraphicFramePr>
            <a:graphicFrameLocks noGrp="1"/>
          </p:cNvGraphicFramePr>
          <p:nvPr/>
        </p:nvGraphicFramePr>
        <p:xfrm>
          <a:off x="8238074" y="788668"/>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6" name="Rectangle 82">
            <a:extLst>
              <a:ext uri="{FF2B5EF4-FFF2-40B4-BE49-F238E27FC236}">
                <a16:creationId xmlns:a16="http://schemas.microsoft.com/office/drawing/2014/main" id="{C7757277-D416-4C53-B43A-D2AD180FC14B}"/>
              </a:ext>
            </a:extLst>
          </p:cNvPr>
          <p:cNvSpPr>
            <a:spLocks noChangeArrowheads="1"/>
          </p:cNvSpPr>
          <p:nvPr/>
        </p:nvSpPr>
        <p:spPr bwMode="auto">
          <a:xfrm>
            <a:off x="8382537" y="3947794"/>
            <a:ext cx="1027113" cy="396875"/>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60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ST_NA</a:t>
            </a:r>
          </a:p>
        </p:txBody>
      </p:sp>
      <p:graphicFrame>
        <p:nvGraphicFramePr>
          <p:cNvPr id="17" name="Group 155">
            <a:extLst>
              <a:ext uri="{FF2B5EF4-FFF2-40B4-BE49-F238E27FC236}">
                <a16:creationId xmlns:a16="http://schemas.microsoft.com/office/drawing/2014/main" id="{3058B7A1-DB48-4631-A05E-D5DE29FCAB52}"/>
              </a:ext>
            </a:extLst>
          </p:cNvPr>
          <p:cNvGraphicFramePr>
            <a:graphicFrameLocks noGrp="1"/>
          </p:cNvGraphicFramePr>
          <p:nvPr/>
        </p:nvGraphicFramePr>
        <p:xfrm>
          <a:off x="9535061" y="3947793"/>
          <a:ext cx="1728788" cy="2438400"/>
        </p:xfrm>
        <a:graphic>
          <a:graphicData uri="http://schemas.openxmlformats.org/drawingml/2006/table">
            <a:tbl>
              <a:tblPr/>
              <a:tblGrid>
                <a:gridCol w="987425">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name</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age</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9" name="Line 157">
            <a:extLst>
              <a:ext uri="{FF2B5EF4-FFF2-40B4-BE49-F238E27FC236}">
                <a16:creationId xmlns:a16="http://schemas.microsoft.com/office/drawing/2014/main" id="{1819F4BE-8B09-4133-BF63-1578B809503F}"/>
              </a:ext>
            </a:extLst>
          </p:cNvPr>
          <p:cNvSpPr>
            <a:spLocks noChangeShapeType="1"/>
          </p:cNvSpPr>
          <p:nvPr/>
        </p:nvSpPr>
        <p:spPr bwMode="auto">
          <a:xfrm flipH="1" flipV="1">
            <a:off x="8238075" y="779143"/>
            <a:ext cx="1296987" cy="3168650"/>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20" name="Line 158">
            <a:extLst>
              <a:ext uri="{FF2B5EF4-FFF2-40B4-BE49-F238E27FC236}">
                <a16:creationId xmlns:a16="http://schemas.microsoft.com/office/drawing/2014/main" id="{D48DD16C-7F4C-4F53-9D01-03933D4BFF63}"/>
              </a:ext>
            </a:extLst>
          </p:cNvPr>
          <p:cNvSpPr>
            <a:spLocks noChangeShapeType="1"/>
          </p:cNvSpPr>
          <p:nvPr/>
        </p:nvSpPr>
        <p:spPr bwMode="auto">
          <a:xfrm flipV="1">
            <a:off x="11262262" y="779143"/>
            <a:ext cx="288925" cy="3168650"/>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21" name="Line 159">
            <a:extLst>
              <a:ext uri="{FF2B5EF4-FFF2-40B4-BE49-F238E27FC236}">
                <a16:creationId xmlns:a16="http://schemas.microsoft.com/office/drawing/2014/main" id="{7B21A9B8-270E-43E2-8A63-D685983C344E}"/>
              </a:ext>
            </a:extLst>
          </p:cNvPr>
          <p:cNvSpPr>
            <a:spLocks noChangeShapeType="1"/>
          </p:cNvSpPr>
          <p:nvPr/>
        </p:nvSpPr>
        <p:spPr bwMode="auto">
          <a:xfrm flipH="1" flipV="1">
            <a:off x="8238075" y="3227068"/>
            <a:ext cx="1296987" cy="3168650"/>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22" name="Line 160">
            <a:extLst>
              <a:ext uri="{FF2B5EF4-FFF2-40B4-BE49-F238E27FC236}">
                <a16:creationId xmlns:a16="http://schemas.microsoft.com/office/drawing/2014/main" id="{CC0ACC5D-E79F-4EDA-B6E3-343D8214F2FC}"/>
              </a:ext>
            </a:extLst>
          </p:cNvPr>
          <p:cNvSpPr>
            <a:spLocks noChangeShapeType="1"/>
          </p:cNvSpPr>
          <p:nvPr/>
        </p:nvSpPr>
        <p:spPr bwMode="auto">
          <a:xfrm flipV="1">
            <a:off x="11280824" y="3236593"/>
            <a:ext cx="288925" cy="3168650"/>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23" name="箭头: 左 22">
            <a:extLst>
              <a:ext uri="{FF2B5EF4-FFF2-40B4-BE49-F238E27FC236}">
                <a16:creationId xmlns:a16="http://schemas.microsoft.com/office/drawing/2014/main" id="{F3FDE21F-3C91-4B90-8152-5F02E77E6740}"/>
              </a:ext>
            </a:extLst>
          </p:cNvPr>
          <p:cNvSpPr/>
          <p:nvPr/>
        </p:nvSpPr>
        <p:spPr>
          <a:xfrm rot="16048297">
            <a:off x="9979511" y="3367427"/>
            <a:ext cx="398293" cy="440007"/>
          </a:xfrm>
          <a:prstGeom prst="leftArrow">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4" name="Rectangle 6">
            <a:extLst>
              <a:ext uri="{FF2B5EF4-FFF2-40B4-BE49-F238E27FC236}">
                <a16:creationId xmlns:a16="http://schemas.microsoft.com/office/drawing/2014/main" id="{260FDD04-6709-438F-B533-BCA0ACB61253}"/>
              </a:ext>
            </a:extLst>
          </p:cNvPr>
          <p:cNvSpPr>
            <a:spLocks noChangeArrowheads="1"/>
          </p:cNvSpPr>
          <p:nvPr/>
        </p:nvSpPr>
        <p:spPr bwMode="auto">
          <a:xfrm>
            <a:off x="838834" y="4236717"/>
            <a:ext cx="6697325" cy="637849"/>
          </a:xfrm>
          <a:prstGeom prst="rect">
            <a:avLst/>
          </a:prstGeom>
          <a:noFill/>
          <a:ln w="12700" cap="sq" algn="ctr">
            <a:noFill/>
            <a:miter lim="800000"/>
            <a:headEnd/>
            <a:tailEnd/>
          </a:ln>
          <a:effectLst/>
        </p:spPr>
        <p:txBody>
          <a:bodyPr wrap="square" lIns="72000" tIns="72000" rIns="72000" bIns="72000">
            <a:spAutoFit/>
          </a:bodyPr>
          <a:lstStyle/>
          <a:p>
            <a:pPr fontAlgn="auto">
              <a:spcBef>
                <a:spcPts val="0"/>
              </a:spcBef>
              <a:spcAft>
                <a:spcPct val="0"/>
              </a:spcAft>
              <a:buClr>
                <a:srgbClr val="FFFFCC"/>
              </a:buClr>
              <a:buSzPct val="60000"/>
              <a:defRPr/>
            </a:pPr>
            <a:r>
              <a:rPr kumimoji="0" lang="en-US" altLang="zh-CN" sz="3200" kern="0" dirty="0">
                <a:solidFill>
                  <a:srgbClr val="99FF33"/>
                </a:solidFill>
                <a:effectLst>
                  <a:outerShdw blurRad="38100" dist="38100" dir="2700000" algn="tl">
                    <a:srgbClr val="000000"/>
                  </a:outerShdw>
                </a:effectLst>
                <a:latin typeface="Franklin Gothic Book"/>
                <a:ea typeface="黑体" panose="02010609060101010101" pitchFamily="49" charset="-122"/>
              </a:rPr>
              <a:t>UPDATE ST_NA  SET age=0</a:t>
            </a:r>
            <a:endParaRPr kumimoji="0" lang="zh-CN" altLang="en-US" sz="3200" kern="0" dirty="0">
              <a:solidFill>
                <a:srgbClr val="CCFFCC"/>
              </a:solidFill>
              <a:effectLst>
                <a:outerShdw blurRad="38100" dist="38100" dir="2700000" algn="tl">
                  <a:srgbClr val="000000"/>
                </a:outerShdw>
              </a:effectLst>
              <a:latin typeface="Franklin Gothic Book"/>
              <a:ea typeface="黑体" panose="02010609060101010101" pitchFamily="49" charset="-122"/>
            </a:endParaRPr>
          </a:p>
        </p:txBody>
      </p:sp>
      <p:sp>
        <p:nvSpPr>
          <p:cNvPr id="25" name="Rectangle 7">
            <a:extLst>
              <a:ext uri="{FF2B5EF4-FFF2-40B4-BE49-F238E27FC236}">
                <a16:creationId xmlns:a16="http://schemas.microsoft.com/office/drawing/2014/main" id="{85ECC281-E71C-4E42-A739-AFD2CF30BDE4}"/>
              </a:ext>
            </a:extLst>
          </p:cNvPr>
          <p:cNvSpPr>
            <a:spLocks noChangeArrowheads="1"/>
          </p:cNvSpPr>
          <p:nvPr/>
        </p:nvSpPr>
        <p:spPr bwMode="auto">
          <a:xfrm>
            <a:off x="811415" y="5608502"/>
            <a:ext cx="5906669" cy="1130291"/>
          </a:xfrm>
          <a:prstGeom prst="rect">
            <a:avLst/>
          </a:prstGeom>
          <a:noFill/>
          <a:ln w="12700" cap="sq" algn="ctr">
            <a:noFill/>
            <a:miter lim="800000"/>
            <a:headEnd/>
            <a:tailEnd/>
          </a:ln>
          <a:effectLst/>
        </p:spPr>
        <p:txBody>
          <a:bodyPr wrap="square" lIns="72000" tIns="72000" rIns="72000" bIns="72000">
            <a:spAutoFit/>
          </a:bodyPr>
          <a:lstStyle/>
          <a:p>
            <a:pPr fontAlgn="auto">
              <a:spcBef>
                <a:spcPts val="0"/>
              </a:spcBef>
              <a:spcAft>
                <a:spcPct val="0"/>
              </a:spcAft>
              <a:buClr>
                <a:srgbClr val="FFFFCC"/>
              </a:buClr>
              <a:buSzPct val="60000"/>
              <a:defRPr/>
            </a:pPr>
            <a:r>
              <a:rPr kumimoji="0" lang="en-US" altLang="zh-CN" sz="3200" kern="0" dirty="0">
                <a:solidFill>
                  <a:srgbClr val="99FF33"/>
                </a:solidFill>
                <a:effectLst>
                  <a:outerShdw blurRad="38100" dist="38100" dir="2700000" algn="tl">
                    <a:srgbClr val="000000"/>
                  </a:outerShdw>
                </a:effectLst>
                <a:latin typeface="Franklin Gothic Book"/>
                <a:ea typeface="黑体" panose="02010609060101010101" pitchFamily="49" charset="-122"/>
              </a:rPr>
              <a:t>UPDATE ST SET </a:t>
            </a:r>
            <a:r>
              <a:rPr kumimoji="0" lang="zh-CN" altLang="en-US" sz="3200" kern="0" dirty="0">
                <a:solidFill>
                  <a:srgbClr val="99FF33"/>
                </a:solidFill>
                <a:effectLst>
                  <a:outerShdw blurRad="38100" dist="38100" dir="2700000" algn="tl">
                    <a:srgbClr val="000000"/>
                  </a:outerShdw>
                </a:effectLst>
                <a:latin typeface="Franklin Gothic Book"/>
                <a:ea typeface="黑体" panose="02010609060101010101" pitchFamily="49" charset="-122"/>
              </a:rPr>
              <a:t>年龄</a:t>
            </a:r>
            <a:r>
              <a:rPr kumimoji="0" lang="en-US" altLang="zh-CN" sz="3200" kern="0" dirty="0">
                <a:solidFill>
                  <a:srgbClr val="99FF33"/>
                </a:solidFill>
                <a:effectLst>
                  <a:outerShdw blurRad="38100" dist="38100" dir="2700000" algn="tl">
                    <a:srgbClr val="000000"/>
                  </a:outerShdw>
                </a:effectLst>
                <a:latin typeface="Franklin Gothic Book"/>
                <a:ea typeface="黑体" panose="02010609060101010101" pitchFamily="49" charset="-122"/>
              </a:rPr>
              <a:t>=0</a:t>
            </a:r>
          </a:p>
          <a:p>
            <a:pPr fontAlgn="auto">
              <a:spcBef>
                <a:spcPts val="0"/>
              </a:spcBef>
              <a:spcAft>
                <a:spcPct val="0"/>
              </a:spcAft>
              <a:buClr>
                <a:srgbClr val="FFFFCC"/>
              </a:buClr>
              <a:buSzPct val="60000"/>
              <a:defRPr/>
            </a:pPr>
            <a:r>
              <a:rPr kumimoji="0" lang="en-US" altLang="zh-CN" sz="3200" kern="0" dirty="0">
                <a:solidFill>
                  <a:srgbClr val="99FF33"/>
                </a:solidFill>
                <a:effectLst>
                  <a:outerShdw blurRad="38100" dist="38100" dir="2700000" algn="tl">
                    <a:srgbClr val="000000"/>
                  </a:outerShdw>
                </a:effectLst>
                <a:latin typeface="Franklin Gothic Book"/>
                <a:ea typeface="黑体" panose="02010609060101010101" pitchFamily="49" charset="-122"/>
              </a:rPr>
              <a:t>WHERE </a:t>
            </a:r>
            <a:r>
              <a:rPr kumimoji="0" lang="zh-CN" altLang="en-US" sz="3200" kern="0" dirty="0">
                <a:solidFill>
                  <a:srgbClr val="99FF33"/>
                </a:solidFill>
                <a:effectLst>
                  <a:outerShdw blurRad="38100" dist="38100" dir="2700000" algn="tl">
                    <a:srgbClr val="000000"/>
                  </a:outerShdw>
                </a:effectLst>
                <a:latin typeface="Franklin Gothic Book"/>
                <a:ea typeface="黑体" panose="02010609060101010101" pitchFamily="49" charset="-122"/>
              </a:rPr>
              <a:t>系</a:t>
            </a:r>
            <a:r>
              <a:rPr kumimoji="0" lang="en-US" altLang="zh-CN" sz="3200" kern="0" dirty="0">
                <a:solidFill>
                  <a:srgbClr val="99FF33"/>
                </a:solidFill>
                <a:effectLst>
                  <a:outerShdw blurRad="38100" dist="38100" dir="2700000" algn="tl">
                    <a:srgbClr val="000000"/>
                  </a:outerShdw>
                </a:effectLst>
                <a:latin typeface="Franklin Gothic Book"/>
                <a:ea typeface="黑体" panose="02010609060101010101" pitchFamily="49" charset="-122"/>
              </a:rPr>
              <a:t>='IS'</a:t>
            </a:r>
            <a:endParaRPr kumimoji="0" lang="en-US" altLang="zh-CN" sz="3200" kern="0" dirty="0">
              <a:solidFill>
                <a:srgbClr val="CCFFCC"/>
              </a:solidFill>
              <a:effectLst>
                <a:outerShdw blurRad="38100" dist="38100" dir="2700000" algn="tl">
                  <a:srgbClr val="000000"/>
                </a:outerShdw>
              </a:effectLst>
              <a:latin typeface="Franklin Gothic Book"/>
              <a:ea typeface="黑体" panose="02010609060101010101" pitchFamily="49" charset="-122"/>
            </a:endParaRPr>
          </a:p>
        </p:txBody>
      </p:sp>
      <p:sp>
        <p:nvSpPr>
          <p:cNvPr id="26" name="Rectangle 8">
            <a:extLst>
              <a:ext uri="{FF2B5EF4-FFF2-40B4-BE49-F238E27FC236}">
                <a16:creationId xmlns:a16="http://schemas.microsoft.com/office/drawing/2014/main" id="{DDE10D52-A5D7-40D1-A02A-AB083125E9A3}"/>
              </a:ext>
            </a:extLst>
          </p:cNvPr>
          <p:cNvSpPr>
            <a:spLocks noChangeArrowheads="1"/>
          </p:cNvSpPr>
          <p:nvPr/>
        </p:nvSpPr>
        <p:spPr bwMode="auto">
          <a:xfrm>
            <a:off x="783272" y="3660455"/>
            <a:ext cx="4681538" cy="574675"/>
          </a:xfrm>
          <a:prstGeom prst="rect">
            <a:avLst/>
          </a:prstGeom>
          <a:noFill/>
          <a:ln w="9525">
            <a:noFill/>
            <a:miter lim="800000"/>
            <a:headEnd/>
            <a:tailEnd/>
          </a:ln>
          <a:effectLst/>
        </p:spPr>
        <p:txBody>
          <a:bodyPr/>
          <a:lstStyle/>
          <a:p>
            <a:pPr fontAlgn="auto">
              <a:lnSpc>
                <a:spcPct val="110000"/>
              </a:lnSpc>
              <a:spcBef>
                <a:spcPts val="0"/>
              </a:spcBef>
              <a:spcAft>
                <a:spcPct val="0"/>
              </a:spcAft>
              <a:buClr>
                <a:srgbClr val="66FF33"/>
              </a:buClr>
              <a:buSzPct val="85000"/>
              <a:defRPr/>
            </a:pPr>
            <a:r>
              <a:rPr kumimoji="0" lang="zh-CN" altLang="en-US" sz="2600">
                <a:solidFill>
                  <a:prstClr val="white"/>
                </a:solidFill>
                <a:effectLst>
                  <a:outerShdw blurRad="38100" dist="38100" dir="2700000" algn="tl">
                    <a:srgbClr val="000000"/>
                  </a:outerShdw>
                </a:effectLst>
                <a:latin typeface="Arial" charset="0"/>
                <a:ea typeface="黑体" panose="02010609060101010101" pitchFamily="49" charset="-122"/>
              </a:rPr>
              <a:t>将</a:t>
            </a:r>
            <a:r>
              <a:rPr kumimoji="0" lang="en-US" altLang="zh-CN" sz="2600">
                <a:solidFill>
                  <a:prstClr val="white"/>
                </a:solidFill>
                <a:effectLst>
                  <a:outerShdw blurRad="38100" dist="38100" dir="2700000" algn="tl">
                    <a:srgbClr val="000000"/>
                  </a:outerShdw>
                </a:effectLst>
                <a:latin typeface="Arial" charset="0"/>
                <a:ea typeface="黑体" panose="02010609060101010101" pitchFamily="49" charset="-122"/>
              </a:rPr>
              <a:t>IS</a:t>
            </a:r>
            <a:r>
              <a:rPr kumimoji="0" lang="zh-CN" altLang="en-US" sz="2600">
                <a:solidFill>
                  <a:prstClr val="white"/>
                </a:solidFill>
                <a:effectLst>
                  <a:outerShdw blurRad="38100" dist="38100" dir="2700000" algn="tl">
                    <a:srgbClr val="000000"/>
                  </a:outerShdw>
                </a:effectLst>
                <a:latin typeface="Arial" charset="0"/>
                <a:ea typeface="黑体" panose="02010609060101010101" pitchFamily="49" charset="-122"/>
              </a:rPr>
              <a:t>系学生年龄改为</a:t>
            </a:r>
            <a:r>
              <a:rPr kumimoji="0" lang="en-US" altLang="zh-CN" sz="2600">
                <a:solidFill>
                  <a:prstClr val="white"/>
                </a:solidFill>
                <a:effectLst>
                  <a:outerShdw blurRad="38100" dist="38100" dir="2700000" algn="tl">
                    <a:srgbClr val="000000"/>
                  </a:outerShdw>
                </a:effectLst>
                <a:latin typeface="Arial" charset="0"/>
                <a:ea typeface="黑体" panose="02010609060101010101" pitchFamily="49" charset="-122"/>
              </a:rPr>
              <a:t>0</a:t>
            </a:r>
            <a:endParaRPr kumimoji="0" lang="en-US" altLang="en-US" sz="2600">
              <a:solidFill>
                <a:prstClr val="white"/>
              </a:solidFill>
              <a:effectLst>
                <a:outerShdw blurRad="38100" dist="38100" dir="2700000" algn="tl">
                  <a:srgbClr val="000000"/>
                </a:outerShdw>
              </a:effectLst>
              <a:latin typeface="Arial" charset="0"/>
              <a:ea typeface="+mn-ea"/>
            </a:endParaRPr>
          </a:p>
        </p:txBody>
      </p:sp>
      <p:sp>
        <p:nvSpPr>
          <p:cNvPr id="27" name="AutoShape 9">
            <a:extLst>
              <a:ext uri="{FF2B5EF4-FFF2-40B4-BE49-F238E27FC236}">
                <a16:creationId xmlns:a16="http://schemas.microsoft.com/office/drawing/2014/main" id="{5151A8BB-5386-4179-AAC9-3E197E8B8715}"/>
              </a:ext>
            </a:extLst>
          </p:cNvPr>
          <p:cNvSpPr>
            <a:spLocks noChangeArrowheads="1"/>
          </p:cNvSpPr>
          <p:nvPr/>
        </p:nvSpPr>
        <p:spPr bwMode="auto">
          <a:xfrm>
            <a:off x="1775461" y="5084613"/>
            <a:ext cx="274637" cy="393668"/>
          </a:xfrm>
          <a:prstGeom prst="downArrow">
            <a:avLst>
              <a:gd name="adj1" fmla="val 51454"/>
              <a:gd name="adj2" fmla="val 32297"/>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rgbClr val="000514">
                <a:alpha val="50000"/>
              </a:srgbClr>
            </a:outerShdw>
          </a:effectLst>
        </p:spPr>
        <p:txBody>
          <a:bodyPr lIns="36000" tIns="36000" rIns="36000" bIns="36000">
            <a:spAutoFit/>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28" name="Rectangle 10">
            <a:extLst>
              <a:ext uri="{FF2B5EF4-FFF2-40B4-BE49-F238E27FC236}">
                <a16:creationId xmlns:a16="http://schemas.microsoft.com/office/drawing/2014/main" id="{B819BE35-3E2A-4D8F-B449-8EA57ECF04E9}"/>
              </a:ext>
            </a:extLst>
          </p:cNvPr>
          <p:cNvSpPr>
            <a:spLocks noChangeArrowheads="1"/>
          </p:cNvSpPr>
          <p:nvPr/>
        </p:nvSpPr>
        <p:spPr bwMode="auto">
          <a:xfrm>
            <a:off x="2483218" y="5013176"/>
            <a:ext cx="2353208" cy="369332"/>
          </a:xfrm>
          <a:prstGeom prst="rect">
            <a:avLst/>
          </a:prstGeom>
          <a:noFill/>
          <a:ln w="12700" cap="sq">
            <a:noFill/>
            <a:miter lim="800000"/>
            <a:headEnd/>
            <a:tailEnd/>
          </a:ln>
          <a:effectLst/>
        </p:spPr>
        <p:txBody>
          <a:bodyPr wrap="none" lIns="0" tIns="0" rIns="0" bIns="0">
            <a:spAutoFit/>
          </a:bodyPr>
          <a:lstStyle/>
          <a:p>
            <a:pPr algn="ctr" fontAlgn="auto">
              <a:spcBef>
                <a:spcPts val="0"/>
              </a:spcBef>
              <a:spcAft>
                <a:spcPct val="0"/>
              </a:spcAft>
              <a:buSzTx/>
              <a:defRPr/>
            </a:pPr>
            <a:r>
              <a:rPr kumimoji="0" lang="en-US" altLang="zh-CN" sz="2400" kern="0">
                <a:solidFill>
                  <a:srgbClr val="FFCC00"/>
                </a:solidFill>
                <a:effectLst>
                  <a:outerShdw blurRad="38100" dist="38100" dir="2700000" algn="tl">
                    <a:srgbClr val="000000"/>
                  </a:outerShdw>
                </a:effectLst>
                <a:latin typeface="Arial Narrow" pitchFamily="34" charset="0"/>
                <a:ea typeface="黑体" panose="02010609060101010101" pitchFamily="49" charset="-122"/>
              </a:rPr>
              <a:t>SQL</a:t>
            </a:r>
            <a:r>
              <a:rPr kumimoji="0" lang="zh-CN" altLang="en-US" sz="2400" kern="0">
                <a:solidFill>
                  <a:srgbClr val="FFCC00"/>
                </a:solidFill>
                <a:effectLst>
                  <a:outerShdw blurRad="38100" dist="38100" dir="2700000" algn="tl">
                    <a:srgbClr val="000000"/>
                  </a:outerShdw>
                </a:effectLst>
                <a:latin typeface="Arial Narrow" pitchFamily="34" charset="0"/>
                <a:ea typeface="黑体" panose="02010609060101010101" pitchFamily="49" charset="-122"/>
              </a:rPr>
              <a:t>实际做的更新</a:t>
            </a:r>
          </a:p>
        </p:txBody>
      </p:sp>
    </p:spTree>
    <p:extLst>
      <p:ext uri="{BB962C8B-B14F-4D97-AF65-F5344CB8AC3E}">
        <p14:creationId xmlns:p14="http://schemas.microsoft.com/office/powerpoint/2010/main" val="878857335"/>
      </p:ext>
    </p:extLst>
  </p:cSld>
  <p:clrMapOvr>
    <a:masterClrMapping/>
  </p:clrMapOvr>
  <p:transition spd="slow">
    <p:push dir="d"/>
    <p:sndAc>
      <p:stSnd>
        <p:snd r:embed="rId2" name="arrow.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更新视图</a:t>
            </a:r>
            <a:endParaRPr lang="zh-CN" altLang="en-US" sz="4000" b="1" dirty="0">
              <a:solidFill>
                <a:srgbClr val="FFFFCC"/>
              </a:solidFill>
              <a:effectLst>
                <a:outerShdw blurRad="38100" dist="38100" dir="2700000" algn="tl">
                  <a:srgbClr val="000000"/>
                </a:outerShdw>
              </a:effectLst>
              <a:cs typeface="+mn-cs"/>
            </a:endParaRPr>
          </a:p>
        </p:txBody>
      </p:sp>
      <p:sp>
        <p:nvSpPr>
          <p:cNvPr id="30" name="Rectangle 8">
            <a:extLst>
              <a:ext uri="{FF2B5EF4-FFF2-40B4-BE49-F238E27FC236}">
                <a16:creationId xmlns:a16="http://schemas.microsoft.com/office/drawing/2014/main" id="{D197F895-6DF2-4B95-9339-5602E4A5A100}"/>
              </a:ext>
            </a:extLst>
          </p:cNvPr>
          <p:cNvSpPr>
            <a:spLocks noChangeArrowheads="1"/>
          </p:cNvSpPr>
          <p:nvPr/>
        </p:nvSpPr>
        <p:spPr bwMode="auto">
          <a:xfrm>
            <a:off x="819738" y="893090"/>
            <a:ext cx="6428390" cy="574675"/>
          </a:xfrm>
          <a:prstGeom prst="rect">
            <a:avLst/>
          </a:prstGeom>
          <a:noFill/>
          <a:ln w="9525">
            <a:noFill/>
            <a:miter lim="800000"/>
            <a:headEnd/>
            <a:tailEnd/>
          </a:ln>
          <a:effectLst/>
        </p:spPr>
        <p:txBody>
          <a:bodyPr/>
          <a:lstStyle/>
          <a:p>
            <a:pPr fontAlgn="auto">
              <a:lnSpc>
                <a:spcPct val="110000"/>
              </a:lnSpc>
              <a:spcBef>
                <a:spcPts val="0"/>
              </a:spcBef>
              <a:spcAft>
                <a:spcPct val="0"/>
              </a:spcAft>
              <a:buClr>
                <a:srgbClr val="66FF33"/>
              </a:buClr>
              <a:buSzPct val="85000"/>
              <a:defRPr/>
            </a:pPr>
            <a:r>
              <a:rPr kumimoji="0" lang="en-US" altLang="zh-CN" sz="2800" dirty="0">
                <a:solidFill>
                  <a:prstClr val="white"/>
                </a:solidFill>
                <a:effectLst>
                  <a:outerShdw blurRad="38100" dist="38100" dir="2700000" algn="tl">
                    <a:srgbClr val="000000"/>
                  </a:outerShdw>
                </a:effectLst>
                <a:latin typeface="Arial" charset="0"/>
                <a:ea typeface="黑体" panose="02010609060101010101" pitchFamily="49" charset="-122"/>
              </a:rPr>
              <a:t>IS</a:t>
            </a:r>
            <a:r>
              <a:rPr kumimoji="0" lang="zh-CN" altLang="en-US" sz="2800" dirty="0">
                <a:solidFill>
                  <a:prstClr val="white"/>
                </a:solidFill>
                <a:effectLst>
                  <a:outerShdw blurRad="38100" dist="38100" dir="2700000" algn="tl">
                    <a:srgbClr val="000000"/>
                  </a:outerShdw>
                </a:effectLst>
                <a:latin typeface="Arial" charset="0"/>
                <a:ea typeface="黑体" panose="02010609060101010101" pitchFamily="49" charset="-122"/>
              </a:rPr>
              <a:t>系学生的学号、姓名和性别视图</a:t>
            </a:r>
            <a:endParaRPr kumimoji="0" lang="en-US" altLang="en-US" sz="2800" dirty="0">
              <a:solidFill>
                <a:prstClr val="white"/>
              </a:solidFill>
              <a:effectLst>
                <a:outerShdw blurRad="38100" dist="38100" dir="2700000" algn="tl">
                  <a:srgbClr val="000000"/>
                </a:outerShdw>
              </a:effectLst>
              <a:latin typeface="Arial" charset="0"/>
              <a:ea typeface="+mn-ea"/>
            </a:endParaRPr>
          </a:p>
        </p:txBody>
      </p:sp>
      <p:sp>
        <p:nvSpPr>
          <p:cNvPr id="33" name="Rectangle 5">
            <a:extLst>
              <a:ext uri="{FF2B5EF4-FFF2-40B4-BE49-F238E27FC236}">
                <a16:creationId xmlns:a16="http://schemas.microsoft.com/office/drawing/2014/main" id="{7B9F7C24-8EE8-4757-8ED7-AA877D6A9E3F}"/>
              </a:ext>
            </a:extLst>
          </p:cNvPr>
          <p:cNvSpPr>
            <a:spLocks noChangeArrowheads="1"/>
          </p:cNvSpPr>
          <p:nvPr/>
        </p:nvSpPr>
        <p:spPr bwMode="auto">
          <a:xfrm>
            <a:off x="892762" y="1409151"/>
            <a:ext cx="6024562" cy="1969770"/>
          </a:xfrm>
          <a:prstGeom prst="rect">
            <a:avLst/>
          </a:prstGeom>
          <a:noFill/>
          <a:ln w="12700" cap="sq">
            <a:noFill/>
            <a:miter lim="800000"/>
            <a:headEnd/>
            <a:tailEnd/>
          </a:ln>
          <a:effectLst/>
        </p:spPr>
        <p:txBody>
          <a:bodyPr lIns="0" tIns="0" rIns="0" bIns="0">
            <a:spAutoFit/>
          </a:bodyPr>
          <a:lstStyle/>
          <a:p>
            <a:pPr fontAlgn="auto">
              <a:spcBef>
                <a:spcPct val="20000"/>
              </a:spcBef>
              <a:spcAft>
                <a:spcPct val="0"/>
              </a:spcAft>
              <a:buClr>
                <a:srgbClr val="800080"/>
              </a:buClr>
              <a:buSzPct val="60000"/>
              <a:defRPr/>
            </a:pPr>
            <a:r>
              <a:rPr kumimoji="0" lang="en-US" altLang="zh-CN" sz="3200" dirty="0">
                <a:solidFill>
                  <a:srgbClr val="CCFFCC"/>
                </a:solidFill>
                <a:effectLst>
                  <a:outerShdw blurRad="38100" dist="38100" dir="2700000" algn="tl">
                    <a:srgbClr val="000000"/>
                  </a:outerShdw>
                </a:effectLst>
                <a:latin typeface="Franklin Gothic Book"/>
                <a:ea typeface="黑体" panose="02010609060101010101" pitchFamily="49" charset="-122"/>
              </a:rPr>
              <a:t>CREATE VIEW ST_IS AS</a:t>
            </a:r>
            <a:endParaRPr kumimoji="0" lang="en-US" altLang="zh-CN" sz="3200" i="1" dirty="0">
              <a:solidFill>
                <a:srgbClr val="CCFFCC"/>
              </a:solidFill>
              <a:effectLst>
                <a:outerShdw blurRad="38100" dist="38100" dir="2700000" algn="tl">
                  <a:srgbClr val="000000"/>
                </a:outerShdw>
              </a:effectLst>
              <a:latin typeface="Franklin Gothic Book"/>
              <a:ea typeface="黑体" panose="02010609060101010101" pitchFamily="49" charset="-122"/>
            </a:endParaRPr>
          </a:p>
          <a:p>
            <a:pPr fontAlgn="auto">
              <a:spcBef>
                <a:spcPts val="0"/>
              </a:spcBef>
              <a:spcAft>
                <a:spcPct val="0"/>
              </a:spcAft>
              <a:buClr>
                <a:srgbClr val="800080"/>
              </a:buClr>
              <a:buSzPct val="60000"/>
              <a:defRPr/>
            </a:pPr>
            <a:r>
              <a:rPr kumimoji="0" lang="en-US" altLang="zh-CN" sz="3200" dirty="0">
                <a:solidFill>
                  <a:srgbClr val="CCFFCC"/>
                </a:solidFill>
                <a:effectLst>
                  <a:outerShdw blurRad="38100" dist="38100" dir="2700000" algn="tl">
                    <a:srgbClr val="000000"/>
                  </a:outerShdw>
                </a:effectLst>
                <a:latin typeface="Franklin Gothic Book"/>
                <a:ea typeface="黑体" panose="02010609060101010101" pitchFamily="49" charset="-122"/>
              </a:rPr>
              <a:t>SELECT </a:t>
            </a:r>
            <a:r>
              <a:rPr kumimoji="0" lang="zh-CN" altLang="en-US" sz="3200" dirty="0">
                <a:solidFill>
                  <a:srgbClr val="CCFFCC"/>
                </a:solidFill>
                <a:effectLst>
                  <a:outerShdw blurRad="38100" dist="38100" dir="2700000" algn="tl">
                    <a:srgbClr val="000000"/>
                  </a:outerShdw>
                </a:effectLst>
                <a:latin typeface="Franklin Gothic Book"/>
                <a:ea typeface="黑体" panose="02010609060101010101" pitchFamily="49" charset="-122"/>
              </a:rPr>
              <a:t>学号</a:t>
            </a:r>
            <a:r>
              <a:rPr kumimoji="0" lang="en-US" altLang="zh-CN" sz="3200" dirty="0">
                <a:solidFill>
                  <a:srgbClr val="CCFFCC"/>
                </a:solidFill>
                <a:effectLst>
                  <a:outerShdw blurRad="38100" dist="38100" dir="2700000" algn="tl">
                    <a:srgbClr val="000000"/>
                  </a:outerShdw>
                </a:effectLst>
                <a:latin typeface="Franklin Gothic Book"/>
                <a:ea typeface="黑体" panose="02010609060101010101" pitchFamily="49" charset="-122"/>
              </a:rPr>
              <a:t>,</a:t>
            </a:r>
            <a:r>
              <a:rPr kumimoji="0" lang="zh-CN" altLang="en-US" sz="3200" dirty="0">
                <a:solidFill>
                  <a:srgbClr val="CCFFCC"/>
                </a:solidFill>
                <a:effectLst>
                  <a:outerShdw blurRad="38100" dist="38100" dir="2700000" algn="tl">
                    <a:srgbClr val="000000"/>
                  </a:outerShdw>
                </a:effectLst>
                <a:latin typeface="Franklin Gothic Book"/>
                <a:ea typeface="黑体" panose="02010609060101010101" pitchFamily="49" charset="-122"/>
              </a:rPr>
              <a:t>姓名</a:t>
            </a:r>
            <a:r>
              <a:rPr kumimoji="0" lang="en-US" altLang="zh-CN" sz="3200" dirty="0">
                <a:solidFill>
                  <a:srgbClr val="CCFFCC"/>
                </a:solidFill>
                <a:effectLst>
                  <a:outerShdw blurRad="38100" dist="38100" dir="2700000" algn="tl">
                    <a:srgbClr val="000000"/>
                  </a:outerShdw>
                </a:effectLst>
                <a:latin typeface="Franklin Gothic Book"/>
                <a:ea typeface="黑体" panose="02010609060101010101" pitchFamily="49" charset="-122"/>
              </a:rPr>
              <a:t>,</a:t>
            </a:r>
            <a:r>
              <a:rPr kumimoji="0" lang="zh-CN" altLang="en-US" sz="3200" dirty="0">
                <a:solidFill>
                  <a:srgbClr val="CCFFCC"/>
                </a:solidFill>
                <a:effectLst>
                  <a:outerShdw blurRad="38100" dist="38100" dir="2700000" algn="tl">
                    <a:srgbClr val="000000"/>
                  </a:outerShdw>
                </a:effectLst>
                <a:latin typeface="Franklin Gothic Book"/>
                <a:ea typeface="黑体" panose="02010609060101010101" pitchFamily="49" charset="-122"/>
              </a:rPr>
              <a:t>性别</a:t>
            </a:r>
          </a:p>
          <a:p>
            <a:pPr fontAlgn="auto">
              <a:spcBef>
                <a:spcPts val="0"/>
              </a:spcBef>
              <a:spcAft>
                <a:spcPct val="0"/>
              </a:spcAft>
              <a:buClr>
                <a:srgbClr val="800080"/>
              </a:buClr>
              <a:buSzPct val="60000"/>
              <a:defRPr/>
            </a:pPr>
            <a:r>
              <a:rPr kumimoji="0" lang="en-US" altLang="zh-CN" sz="3200" dirty="0">
                <a:solidFill>
                  <a:srgbClr val="CCFFCC"/>
                </a:solidFill>
                <a:effectLst>
                  <a:outerShdw blurRad="38100" dist="38100" dir="2700000" algn="tl">
                    <a:srgbClr val="000000"/>
                  </a:outerShdw>
                </a:effectLst>
                <a:latin typeface="Franklin Gothic Book"/>
                <a:ea typeface="黑体" panose="02010609060101010101" pitchFamily="49" charset="-122"/>
              </a:rPr>
              <a:t>FROM ST</a:t>
            </a:r>
          </a:p>
          <a:p>
            <a:pPr fontAlgn="auto">
              <a:spcBef>
                <a:spcPts val="0"/>
              </a:spcBef>
              <a:spcAft>
                <a:spcPct val="0"/>
              </a:spcAft>
              <a:buClr>
                <a:srgbClr val="800080"/>
              </a:buClr>
              <a:buSzPct val="60000"/>
              <a:defRPr/>
            </a:pPr>
            <a:r>
              <a:rPr kumimoji="0" lang="en-US" altLang="zh-CN" sz="3200" dirty="0">
                <a:solidFill>
                  <a:srgbClr val="CCFFCC"/>
                </a:solidFill>
                <a:effectLst>
                  <a:outerShdw blurRad="38100" dist="38100" dir="2700000" algn="tl">
                    <a:srgbClr val="000000"/>
                  </a:outerShdw>
                </a:effectLst>
                <a:latin typeface="Franklin Gothic Book"/>
                <a:ea typeface="黑体" panose="02010609060101010101" pitchFamily="49" charset="-122"/>
              </a:rPr>
              <a:t>WHERE </a:t>
            </a:r>
            <a:r>
              <a:rPr kumimoji="0" lang="zh-CN" altLang="en-US" sz="3200" dirty="0">
                <a:solidFill>
                  <a:srgbClr val="CCFFCC"/>
                </a:solidFill>
                <a:effectLst>
                  <a:outerShdw blurRad="38100" dist="38100" dir="2700000" algn="tl">
                    <a:srgbClr val="000000"/>
                  </a:outerShdw>
                </a:effectLst>
                <a:latin typeface="Franklin Gothic Book"/>
                <a:ea typeface="黑体" panose="02010609060101010101" pitchFamily="49" charset="-122"/>
              </a:rPr>
              <a:t>系</a:t>
            </a:r>
            <a:r>
              <a:rPr kumimoji="0" lang="en-US" altLang="zh-CN" sz="3200" dirty="0">
                <a:solidFill>
                  <a:srgbClr val="CCFFCC"/>
                </a:solidFill>
                <a:effectLst>
                  <a:outerShdw blurRad="38100" dist="38100" dir="2700000" algn="tl">
                    <a:srgbClr val="000000"/>
                  </a:outerShdw>
                </a:effectLst>
                <a:latin typeface="Franklin Gothic Book"/>
                <a:ea typeface="黑体" panose="02010609060101010101" pitchFamily="49" charset="-122"/>
              </a:rPr>
              <a:t>='IS'</a:t>
            </a:r>
          </a:p>
        </p:txBody>
      </p:sp>
      <p:sp>
        <p:nvSpPr>
          <p:cNvPr id="35" name="Rectangle 4">
            <a:extLst>
              <a:ext uri="{FF2B5EF4-FFF2-40B4-BE49-F238E27FC236}">
                <a16:creationId xmlns:a16="http://schemas.microsoft.com/office/drawing/2014/main" id="{9B68DAB0-AD3F-4E0B-BCF0-BF6412B14452}"/>
              </a:ext>
            </a:extLst>
          </p:cNvPr>
          <p:cNvSpPr>
            <a:spLocks noChangeArrowheads="1"/>
          </p:cNvSpPr>
          <p:nvPr/>
        </p:nvSpPr>
        <p:spPr bwMode="auto">
          <a:xfrm>
            <a:off x="9894149" y="1011151"/>
            <a:ext cx="330219" cy="338554"/>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20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graphicFrame>
        <p:nvGraphicFramePr>
          <p:cNvPr id="36" name="Group 11">
            <a:extLst>
              <a:ext uri="{FF2B5EF4-FFF2-40B4-BE49-F238E27FC236}">
                <a16:creationId xmlns:a16="http://schemas.microsoft.com/office/drawing/2014/main" id="{FE11356F-E9C0-489D-A03A-16E6D70B1B9F}"/>
              </a:ext>
            </a:extLst>
          </p:cNvPr>
          <p:cNvGraphicFramePr>
            <a:graphicFrameLocks noGrp="1"/>
          </p:cNvGraphicFramePr>
          <p:nvPr>
            <p:extLst>
              <p:ext uri="{D42A27DB-BD31-4B8C-83A1-F6EECF244321}">
                <p14:modId xmlns:p14="http://schemas.microsoft.com/office/powerpoint/2010/main" val="1603117116"/>
              </p:ext>
            </p:extLst>
          </p:nvPr>
        </p:nvGraphicFramePr>
        <p:xfrm>
          <a:off x="8309923" y="1494168"/>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7" name="Rectangle 81">
            <a:extLst>
              <a:ext uri="{FF2B5EF4-FFF2-40B4-BE49-F238E27FC236}">
                <a16:creationId xmlns:a16="http://schemas.microsoft.com/office/drawing/2014/main" id="{509BE538-D865-4B98-9C35-138AD211A196}"/>
              </a:ext>
            </a:extLst>
          </p:cNvPr>
          <p:cNvSpPr>
            <a:spLocks noChangeArrowheads="1"/>
          </p:cNvSpPr>
          <p:nvPr/>
        </p:nvSpPr>
        <p:spPr bwMode="auto">
          <a:xfrm>
            <a:off x="9580788" y="4754476"/>
            <a:ext cx="722955" cy="338554"/>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20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ST_IS</a:t>
            </a:r>
          </a:p>
        </p:txBody>
      </p:sp>
      <p:graphicFrame>
        <p:nvGraphicFramePr>
          <p:cNvPr id="38" name="Group 163">
            <a:extLst>
              <a:ext uri="{FF2B5EF4-FFF2-40B4-BE49-F238E27FC236}">
                <a16:creationId xmlns:a16="http://schemas.microsoft.com/office/drawing/2014/main" id="{EA0D0C25-23E5-4697-B1BE-CA6BF861D3D7}"/>
              </a:ext>
            </a:extLst>
          </p:cNvPr>
          <p:cNvGraphicFramePr>
            <a:graphicFrameLocks noGrp="1"/>
          </p:cNvGraphicFramePr>
          <p:nvPr>
            <p:extLst>
              <p:ext uri="{D42A27DB-BD31-4B8C-83A1-F6EECF244321}">
                <p14:modId xmlns:p14="http://schemas.microsoft.com/office/powerpoint/2010/main" val="66568208"/>
              </p:ext>
            </p:extLst>
          </p:nvPr>
        </p:nvGraphicFramePr>
        <p:xfrm>
          <a:off x="8957623" y="5166055"/>
          <a:ext cx="2049462" cy="914400"/>
        </p:xfrm>
        <a:graphic>
          <a:graphicData uri="http://schemas.openxmlformats.org/drawingml/2006/table">
            <a:tbl>
              <a:tblPr/>
              <a:tblGrid>
                <a:gridCol w="782637">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9" name="Line 153">
            <a:extLst>
              <a:ext uri="{FF2B5EF4-FFF2-40B4-BE49-F238E27FC236}">
                <a16:creationId xmlns:a16="http://schemas.microsoft.com/office/drawing/2014/main" id="{4F7134F4-4B62-4309-A321-9AC0CF4884EC}"/>
              </a:ext>
            </a:extLst>
          </p:cNvPr>
          <p:cNvSpPr>
            <a:spLocks noChangeShapeType="1"/>
          </p:cNvSpPr>
          <p:nvPr/>
        </p:nvSpPr>
        <p:spPr bwMode="auto">
          <a:xfrm flipH="1" flipV="1">
            <a:off x="8309923" y="1494168"/>
            <a:ext cx="647700" cy="3600450"/>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40" name="Line 154">
            <a:extLst>
              <a:ext uri="{FF2B5EF4-FFF2-40B4-BE49-F238E27FC236}">
                <a16:creationId xmlns:a16="http://schemas.microsoft.com/office/drawing/2014/main" id="{D2047515-2A63-46BE-BCB9-BD8408F7B791}"/>
              </a:ext>
            </a:extLst>
          </p:cNvPr>
          <p:cNvSpPr>
            <a:spLocks noChangeShapeType="1"/>
          </p:cNvSpPr>
          <p:nvPr/>
        </p:nvSpPr>
        <p:spPr bwMode="auto">
          <a:xfrm flipH="1" flipV="1">
            <a:off x="8309923" y="3870656"/>
            <a:ext cx="647700" cy="2232025"/>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41" name="Line 155">
            <a:extLst>
              <a:ext uri="{FF2B5EF4-FFF2-40B4-BE49-F238E27FC236}">
                <a16:creationId xmlns:a16="http://schemas.microsoft.com/office/drawing/2014/main" id="{34DBCF86-BD15-4236-B231-838F2A3BC4B1}"/>
              </a:ext>
            </a:extLst>
          </p:cNvPr>
          <p:cNvSpPr>
            <a:spLocks noChangeShapeType="1"/>
          </p:cNvSpPr>
          <p:nvPr/>
        </p:nvSpPr>
        <p:spPr bwMode="auto">
          <a:xfrm flipV="1">
            <a:off x="10973749" y="1494169"/>
            <a:ext cx="720725" cy="3671887"/>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42" name="Line 156">
            <a:extLst>
              <a:ext uri="{FF2B5EF4-FFF2-40B4-BE49-F238E27FC236}">
                <a16:creationId xmlns:a16="http://schemas.microsoft.com/office/drawing/2014/main" id="{F59F1B50-43E5-4402-914F-4661CA7CD31E}"/>
              </a:ext>
            </a:extLst>
          </p:cNvPr>
          <p:cNvSpPr>
            <a:spLocks noChangeShapeType="1"/>
          </p:cNvSpPr>
          <p:nvPr/>
        </p:nvSpPr>
        <p:spPr bwMode="auto">
          <a:xfrm flipV="1">
            <a:off x="10973749" y="3870656"/>
            <a:ext cx="720725" cy="2232025"/>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43" name="箭头: 左 42">
            <a:extLst>
              <a:ext uri="{FF2B5EF4-FFF2-40B4-BE49-F238E27FC236}">
                <a16:creationId xmlns:a16="http://schemas.microsoft.com/office/drawing/2014/main" id="{2BC7568D-FF77-470D-A7BD-85689631DBC4}"/>
              </a:ext>
            </a:extLst>
          </p:cNvPr>
          <p:cNvSpPr/>
          <p:nvPr/>
        </p:nvSpPr>
        <p:spPr>
          <a:xfrm rot="16048297">
            <a:off x="9714420" y="4131182"/>
            <a:ext cx="398293" cy="440007"/>
          </a:xfrm>
          <a:prstGeom prst="leftArrow">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4" name="Rectangle 6">
            <a:extLst>
              <a:ext uri="{FF2B5EF4-FFF2-40B4-BE49-F238E27FC236}">
                <a16:creationId xmlns:a16="http://schemas.microsoft.com/office/drawing/2014/main" id="{42B85BDB-709E-4372-9AB3-88C5BD20A4AA}"/>
              </a:ext>
            </a:extLst>
          </p:cNvPr>
          <p:cNvSpPr>
            <a:spLocks noChangeArrowheads="1"/>
          </p:cNvSpPr>
          <p:nvPr/>
        </p:nvSpPr>
        <p:spPr bwMode="auto">
          <a:xfrm>
            <a:off x="909714" y="4220038"/>
            <a:ext cx="6986486" cy="492443"/>
          </a:xfrm>
          <a:prstGeom prst="rect">
            <a:avLst/>
          </a:prstGeom>
          <a:noFill/>
          <a:ln w="12700" cap="sq">
            <a:noFill/>
            <a:miter lim="800000"/>
            <a:headEnd/>
            <a:tailEnd/>
          </a:ln>
          <a:effectLst/>
        </p:spPr>
        <p:txBody>
          <a:bodyPr wrap="square" lIns="0" tIns="0" rIns="0" bIns="0">
            <a:spAutoFit/>
          </a:bodyPr>
          <a:lstStyle/>
          <a:p>
            <a:pPr fontAlgn="auto">
              <a:spcBef>
                <a:spcPts val="0"/>
              </a:spcBef>
              <a:spcAft>
                <a:spcPct val="0"/>
              </a:spcAft>
              <a:buClr>
                <a:srgbClr val="FFFFCC"/>
              </a:buClr>
              <a:buSzPct val="60000"/>
              <a:defRPr/>
            </a:pP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DELETE FROM ST_IS  WHERE </a:t>
            </a:r>
            <a:r>
              <a:rPr kumimoji="0" lang="zh-CN" altLang="en-US"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性别</a:t>
            </a: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a:t>
            </a:r>
            <a:r>
              <a:rPr kumimoji="0" lang="zh-CN" altLang="en-US"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男'</a:t>
            </a:r>
            <a:endPar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endParaRPr>
          </a:p>
        </p:txBody>
      </p:sp>
      <p:sp>
        <p:nvSpPr>
          <p:cNvPr id="45" name="Rectangle 7">
            <a:extLst>
              <a:ext uri="{FF2B5EF4-FFF2-40B4-BE49-F238E27FC236}">
                <a16:creationId xmlns:a16="http://schemas.microsoft.com/office/drawing/2014/main" id="{81F236F2-3E8A-40C8-985B-CCFAD283CACF}"/>
              </a:ext>
            </a:extLst>
          </p:cNvPr>
          <p:cNvSpPr>
            <a:spLocks noChangeArrowheads="1"/>
          </p:cNvSpPr>
          <p:nvPr/>
        </p:nvSpPr>
        <p:spPr bwMode="auto">
          <a:xfrm>
            <a:off x="909713" y="5553598"/>
            <a:ext cx="6126299" cy="984885"/>
          </a:xfrm>
          <a:prstGeom prst="rect">
            <a:avLst/>
          </a:prstGeom>
          <a:noFill/>
          <a:ln w="12700" cap="sq">
            <a:noFill/>
            <a:miter lim="800000"/>
            <a:headEnd/>
            <a:tailEnd/>
          </a:ln>
          <a:effectLst/>
        </p:spPr>
        <p:txBody>
          <a:bodyPr wrap="square" lIns="0" tIns="0" rIns="0" bIns="0">
            <a:spAutoFit/>
          </a:bodyPr>
          <a:lstStyle/>
          <a:p>
            <a:pPr fontAlgn="auto">
              <a:spcBef>
                <a:spcPts val="0"/>
              </a:spcBef>
              <a:spcAft>
                <a:spcPct val="0"/>
              </a:spcAft>
              <a:buClr>
                <a:srgbClr val="FFFFCC"/>
              </a:buClr>
              <a:buSzPct val="60000"/>
              <a:defRPr/>
            </a:pP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DELETE FROM ST</a:t>
            </a:r>
          </a:p>
          <a:p>
            <a:pPr fontAlgn="auto">
              <a:spcBef>
                <a:spcPts val="0"/>
              </a:spcBef>
              <a:spcAft>
                <a:spcPct val="0"/>
              </a:spcAft>
              <a:buClr>
                <a:srgbClr val="FFFFCC"/>
              </a:buClr>
              <a:buSzPct val="60000"/>
              <a:defRPr/>
            </a:pP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WHERE </a:t>
            </a:r>
            <a:r>
              <a:rPr kumimoji="0" lang="zh-CN" altLang="en-US"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系</a:t>
            </a: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='IS'  AND </a:t>
            </a:r>
            <a:r>
              <a:rPr kumimoji="0" lang="zh-CN" altLang="en-US"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性别</a:t>
            </a: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a:t>
            </a:r>
            <a:r>
              <a:rPr kumimoji="0" lang="zh-CN" altLang="en-US"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男'</a:t>
            </a:r>
            <a:endPar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endParaRPr>
          </a:p>
        </p:txBody>
      </p:sp>
      <p:sp>
        <p:nvSpPr>
          <p:cNvPr id="46" name="AutoShape 8">
            <a:extLst>
              <a:ext uri="{FF2B5EF4-FFF2-40B4-BE49-F238E27FC236}">
                <a16:creationId xmlns:a16="http://schemas.microsoft.com/office/drawing/2014/main" id="{155AA65C-D436-4356-9564-10538D7F4CE4}"/>
              </a:ext>
            </a:extLst>
          </p:cNvPr>
          <p:cNvSpPr>
            <a:spLocks noChangeArrowheads="1"/>
          </p:cNvSpPr>
          <p:nvPr/>
        </p:nvSpPr>
        <p:spPr bwMode="auto">
          <a:xfrm>
            <a:off x="1773341" y="4964736"/>
            <a:ext cx="307759" cy="345764"/>
          </a:xfrm>
          <a:prstGeom prst="downArrow">
            <a:avLst>
              <a:gd name="adj1" fmla="val 59537"/>
              <a:gd name="adj2" fmla="val 59080"/>
            </a:avLst>
          </a:prstGeom>
          <a:gradFill rotWithShape="1">
            <a:gsLst>
              <a:gs pos="0">
                <a:srgbClr val="B0A0F2"/>
              </a:gs>
              <a:gs pos="50000">
                <a:srgbClr val="B0A0F2">
                  <a:gamma/>
                  <a:tint val="24314"/>
                  <a:invGamma/>
                </a:srgbClr>
              </a:gs>
              <a:gs pos="100000">
                <a:srgbClr val="B0A0F2"/>
              </a:gs>
            </a:gsLst>
            <a:lin ang="18900000" scaled="1"/>
          </a:gradFill>
          <a:ln w="28575" cap="sq" algn="ctr">
            <a:solidFill>
              <a:srgbClr val="FF0000"/>
            </a:solidFill>
            <a:miter lim="800000"/>
            <a:headEnd/>
            <a:tailEnd/>
          </a:ln>
          <a:effectLst>
            <a:outerShdw dist="53882" dir="2700000" algn="ctr" rotWithShape="0">
              <a:srgbClr val="000514">
                <a:alpha val="50000"/>
              </a:srgbClr>
            </a:outerShdw>
          </a:effectLst>
        </p:spPr>
        <p:txBody>
          <a:bodyPr wrap="square" lIns="36000" tIns="36000" rIns="36000" bIns="36000">
            <a:spAutoFit/>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47" name="Rectangle 10">
            <a:extLst>
              <a:ext uri="{FF2B5EF4-FFF2-40B4-BE49-F238E27FC236}">
                <a16:creationId xmlns:a16="http://schemas.microsoft.com/office/drawing/2014/main" id="{AEA1E85E-51B1-4A57-A900-79C8653FAB1D}"/>
              </a:ext>
            </a:extLst>
          </p:cNvPr>
          <p:cNvSpPr>
            <a:spLocks noChangeArrowheads="1"/>
          </p:cNvSpPr>
          <p:nvPr/>
        </p:nvSpPr>
        <p:spPr bwMode="auto">
          <a:xfrm>
            <a:off x="819738" y="3721997"/>
            <a:ext cx="5400675" cy="574675"/>
          </a:xfrm>
          <a:prstGeom prst="rect">
            <a:avLst/>
          </a:prstGeom>
          <a:noFill/>
          <a:ln w="9525">
            <a:noFill/>
            <a:miter lim="800000"/>
            <a:headEnd/>
            <a:tailEnd/>
          </a:ln>
          <a:effectLst/>
        </p:spPr>
        <p:txBody>
          <a:bodyPr/>
          <a:lstStyle/>
          <a:p>
            <a:pPr fontAlgn="auto">
              <a:lnSpc>
                <a:spcPct val="110000"/>
              </a:lnSpc>
              <a:spcBef>
                <a:spcPts val="0"/>
              </a:spcBef>
              <a:spcAft>
                <a:spcPct val="0"/>
              </a:spcAft>
              <a:buClr>
                <a:srgbClr val="66FF33"/>
              </a:buClr>
              <a:buSzPct val="85000"/>
              <a:defRPr/>
            </a:pPr>
            <a:r>
              <a:rPr kumimoji="0" lang="zh-CN" altLang="en-US" sz="2800" dirty="0">
                <a:solidFill>
                  <a:prstClr val="white"/>
                </a:solidFill>
                <a:effectLst>
                  <a:outerShdw blurRad="38100" dist="38100" dir="2700000" algn="tl">
                    <a:srgbClr val="000000"/>
                  </a:outerShdw>
                </a:effectLst>
                <a:latin typeface="Arial" charset="0"/>
                <a:ea typeface="黑体" panose="02010609060101010101" pitchFamily="49" charset="-122"/>
              </a:rPr>
              <a:t>删除</a:t>
            </a:r>
            <a:r>
              <a:rPr kumimoji="0" lang="en-US" altLang="zh-CN" sz="2800" dirty="0">
                <a:solidFill>
                  <a:prstClr val="white"/>
                </a:solidFill>
                <a:effectLst>
                  <a:outerShdw blurRad="38100" dist="38100" dir="2700000" algn="tl">
                    <a:srgbClr val="000000"/>
                  </a:outerShdw>
                </a:effectLst>
                <a:latin typeface="Arial" charset="0"/>
                <a:ea typeface="黑体" panose="02010609060101010101" pitchFamily="49" charset="-122"/>
              </a:rPr>
              <a:t>IS</a:t>
            </a:r>
            <a:r>
              <a:rPr kumimoji="0" lang="zh-CN" altLang="en-US" sz="2800" dirty="0">
                <a:solidFill>
                  <a:prstClr val="white"/>
                </a:solidFill>
                <a:effectLst>
                  <a:outerShdw blurRad="38100" dist="38100" dir="2700000" algn="tl">
                    <a:srgbClr val="000000"/>
                  </a:outerShdw>
                </a:effectLst>
                <a:latin typeface="Arial" charset="0"/>
                <a:ea typeface="黑体" panose="02010609060101010101" pitchFamily="49" charset="-122"/>
              </a:rPr>
              <a:t>系男学生</a:t>
            </a:r>
            <a:endParaRPr kumimoji="0" lang="en-US" altLang="en-US" sz="2800" dirty="0">
              <a:solidFill>
                <a:prstClr val="white"/>
              </a:solidFill>
              <a:effectLst>
                <a:outerShdw blurRad="38100" dist="38100" dir="2700000" algn="tl">
                  <a:srgbClr val="000000"/>
                </a:outerShdw>
              </a:effectLst>
              <a:latin typeface="Arial" charset="0"/>
              <a:ea typeface="+mn-ea"/>
            </a:endParaRPr>
          </a:p>
        </p:txBody>
      </p:sp>
      <p:sp>
        <p:nvSpPr>
          <p:cNvPr id="48" name="Rectangle 11">
            <a:extLst>
              <a:ext uri="{FF2B5EF4-FFF2-40B4-BE49-F238E27FC236}">
                <a16:creationId xmlns:a16="http://schemas.microsoft.com/office/drawing/2014/main" id="{57420D1F-3AB4-4009-A704-30C95554B4F5}"/>
              </a:ext>
            </a:extLst>
          </p:cNvPr>
          <p:cNvSpPr>
            <a:spLocks noChangeArrowheads="1"/>
          </p:cNvSpPr>
          <p:nvPr/>
        </p:nvSpPr>
        <p:spPr bwMode="auto">
          <a:xfrm>
            <a:off x="2297095" y="4941168"/>
            <a:ext cx="2353208" cy="369332"/>
          </a:xfrm>
          <a:prstGeom prst="rect">
            <a:avLst/>
          </a:prstGeom>
          <a:noFill/>
          <a:ln w="12700" cap="sq">
            <a:noFill/>
            <a:miter lim="800000"/>
            <a:headEnd/>
            <a:tailEnd/>
          </a:ln>
          <a:effectLst/>
        </p:spPr>
        <p:txBody>
          <a:bodyPr wrap="none" lIns="0" tIns="0" rIns="0" bIns="0">
            <a:spAutoFit/>
          </a:bodyPr>
          <a:lstStyle/>
          <a:p>
            <a:pPr algn="ctr" fontAlgn="auto">
              <a:spcBef>
                <a:spcPts val="0"/>
              </a:spcBef>
              <a:spcAft>
                <a:spcPct val="0"/>
              </a:spcAft>
              <a:buSzTx/>
              <a:defRPr/>
            </a:pPr>
            <a:r>
              <a:rPr kumimoji="0" lang="en-US" altLang="zh-CN" sz="2400" kern="0" dirty="0">
                <a:solidFill>
                  <a:srgbClr val="FFCC00"/>
                </a:solidFill>
                <a:effectLst>
                  <a:outerShdw blurRad="38100" dist="38100" dir="2700000" algn="tl">
                    <a:srgbClr val="000000"/>
                  </a:outerShdw>
                </a:effectLst>
                <a:latin typeface="Arial Narrow" pitchFamily="34" charset="0"/>
                <a:ea typeface="黑体" panose="02010609060101010101" pitchFamily="49" charset="-122"/>
              </a:rPr>
              <a:t>SQL</a:t>
            </a:r>
            <a:r>
              <a:rPr kumimoji="0" lang="zh-CN" altLang="en-US" sz="2400" kern="0" dirty="0">
                <a:solidFill>
                  <a:srgbClr val="FFCC00"/>
                </a:solidFill>
                <a:effectLst>
                  <a:outerShdw blurRad="38100" dist="38100" dir="2700000" algn="tl">
                    <a:srgbClr val="000000"/>
                  </a:outerShdw>
                </a:effectLst>
                <a:latin typeface="Arial Narrow" pitchFamily="34" charset="0"/>
                <a:ea typeface="黑体" panose="02010609060101010101" pitchFamily="49" charset="-122"/>
              </a:rPr>
              <a:t>实际做的删除</a:t>
            </a:r>
          </a:p>
        </p:txBody>
      </p:sp>
    </p:spTree>
    <p:extLst>
      <p:ext uri="{BB962C8B-B14F-4D97-AF65-F5344CB8AC3E}">
        <p14:creationId xmlns:p14="http://schemas.microsoft.com/office/powerpoint/2010/main" val="2283154344"/>
      </p:ext>
    </p:extLst>
  </p:cSld>
  <p:clrMapOvr>
    <a:masterClrMapping/>
  </p:clrMapOvr>
  <p:transition spd="slow">
    <p:push/>
    <p:sndAc>
      <p:stSnd>
        <p:snd r:embed="rId2" name="arrow.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更新视图</a:t>
            </a:r>
            <a:endParaRPr lang="zh-CN" altLang="en-US" sz="4000" b="1" dirty="0">
              <a:solidFill>
                <a:srgbClr val="FFFFCC"/>
              </a:solidFill>
              <a:effectLst>
                <a:outerShdw blurRad="38100" dist="38100" dir="2700000" algn="tl">
                  <a:srgbClr val="000000"/>
                </a:outerShdw>
              </a:effectLst>
              <a:cs typeface="+mn-cs"/>
            </a:endParaRPr>
          </a:p>
        </p:txBody>
      </p:sp>
      <p:sp>
        <p:nvSpPr>
          <p:cNvPr id="19" name="Rectangle 4">
            <a:extLst>
              <a:ext uri="{FF2B5EF4-FFF2-40B4-BE49-F238E27FC236}">
                <a16:creationId xmlns:a16="http://schemas.microsoft.com/office/drawing/2014/main" id="{A92D266A-A949-42E8-8FCD-698FE6F9F178}"/>
              </a:ext>
            </a:extLst>
          </p:cNvPr>
          <p:cNvSpPr>
            <a:spLocks noChangeArrowheads="1"/>
          </p:cNvSpPr>
          <p:nvPr/>
        </p:nvSpPr>
        <p:spPr bwMode="auto">
          <a:xfrm>
            <a:off x="8039076" y="355281"/>
            <a:ext cx="330219" cy="338554"/>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20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sp>
        <p:nvSpPr>
          <p:cNvPr id="20" name="Text Box 5">
            <a:extLst>
              <a:ext uri="{FF2B5EF4-FFF2-40B4-BE49-F238E27FC236}">
                <a16:creationId xmlns:a16="http://schemas.microsoft.com/office/drawing/2014/main" id="{70878DDC-1591-4B11-8780-362FC1F554ED}"/>
              </a:ext>
            </a:extLst>
          </p:cNvPr>
          <p:cNvSpPr txBox="1">
            <a:spLocks noChangeArrowheads="1"/>
          </p:cNvSpPr>
          <p:nvPr/>
        </p:nvSpPr>
        <p:spPr bwMode="auto">
          <a:xfrm>
            <a:off x="839416" y="4088058"/>
            <a:ext cx="5760640" cy="685800"/>
          </a:xfrm>
          <a:prstGeom prst="rect">
            <a:avLst/>
          </a:prstGeom>
          <a:noFill/>
          <a:ln w="12700" cap="sq">
            <a:noFill/>
            <a:miter lim="800000"/>
            <a:headEnd type="none" w="sm" len="sm"/>
            <a:tailEnd type="none" w="sm" len="sm"/>
          </a:ln>
          <a:effectLst/>
        </p:spPr>
        <p:txBody>
          <a:bodyPr/>
          <a:lstStyle/>
          <a:p>
            <a:pPr marL="358775" indent="-358775" fontAlgn="auto">
              <a:spcBef>
                <a:spcPts val="0"/>
              </a:spcBef>
              <a:spcAft>
                <a:spcPct val="0"/>
              </a:spcAft>
              <a:buClr>
                <a:srgbClr val="FFFFCC"/>
              </a:buClr>
              <a:buSzPct val="60000"/>
              <a:tabLst>
                <a:tab pos="381000" algn="l"/>
              </a:tabLst>
              <a:defRPr/>
            </a:pP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CREATE VIEW</a:t>
            </a:r>
          </a:p>
          <a:p>
            <a:pPr marL="358775" indent="-358775" fontAlgn="auto">
              <a:spcBef>
                <a:spcPts val="0"/>
              </a:spcBef>
              <a:spcAft>
                <a:spcPct val="0"/>
              </a:spcAft>
              <a:buClr>
                <a:srgbClr val="FFFFCC"/>
              </a:buClr>
              <a:buSzPct val="60000"/>
              <a:tabLst>
                <a:tab pos="381000" algn="l"/>
              </a:tabLst>
              <a:defRPr/>
            </a:pP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   ST_DA(</a:t>
            </a:r>
            <a:r>
              <a:rPr kumimoji="0" lang="zh-CN" altLang="en-US"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系别</a:t>
            </a: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a:t>
            </a:r>
            <a:r>
              <a:rPr kumimoji="0" lang="zh-CN" altLang="en-US"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平均年龄</a:t>
            </a: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a:t>
            </a:r>
            <a:endParaRPr kumimoji="0" lang="en-US" altLang="zh-CN" sz="3200" i="1" kern="0" dirty="0">
              <a:solidFill>
                <a:srgbClr val="66FF33"/>
              </a:solidFill>
              <a:effectLst>
                <a:outerShdw blurRad="38100" dist="38100" dir="2700000" algn="tl">
                  <a:srgbClr val="000000"/>
                </a:outerShdw>
              </a:effectLst>
              <a:latin typeface="Franklin Gothic Book"/>
              <a:ea typeface="黑体" panose="02010609060101010101" pitchFamily="49" charset="-122"/>
            </a:endParaRPr>
          </a:p>
          <a:p>
            <a:pPr marL="358775" indent="-358775" fontAlgn="auto">
              <a:spcBef>
                <a:spcPts val="0"/>
              </a:spcBef>
              <a:spcAft>
                <a:spcPct val="0"/>
              </a:spcAft>
              <a:buClr>
                <a:srgbClr val="FFFFCC"/>
              </a:buClr>
              <a:buSzPct val="60000"/>
              <a:tabLst>
                <a:tab pos="381000" algn="l"/>
              </a:tabLst>
              <a:defRPr/>
            </a:pP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AS SELECT </a:t>
            </a:r>
            <a:r>
              <a:rPr kumimoji="0" lang="zh-CN" altLang="en-US"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系</a:t>
            </a: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a:t>
            </a:r>
            <a:r>
              <a:rPr kumimoji="0" lang="en-US" altLang="zh-CN" sz="3200" kern="0" dirty="0">
                <a:solidFill>
                  <a:srgbClr val="00FFFF"/>
                </a:solidFill>
                <a:effectLst>
                  <a:outerShdw blurRad="38100" dist="38100" dir="2700000" algn="tl">
                    <a:srgbClr val="000000"/>
                  </a:outerShdw>
                </a:effectLst>
                <a:latin typeface="Franklin Gothic Book"/>
                <a:ea typeface="黑体" panose="02010609060101010101" pitchFamily="49" charset="-122"/>
              </a:rPr>
              <a:t>AVG(</a:t>
            </a:r>
            <a:r>
              <a:rPr kumimoji="0" lang="zh-CN" altLang="en-US" sz="3200" kern="0" dirty="0">
                <a:solidFill>
                  <a:srgbClr val="00FFFF"/>
                </a:solidFill>
                <a:effectLst>
                  <a:outerShdw blurRad="38100" dist="38100" dir="2700000" algn="tl">
                    <a:srgbClr val="000000"/>
                  </a:outerShdw>
                </a:effectLst>
                <a:latin typeface="Franklin Gothic Book"/>
                <a:ea typeface="黑体" panose="02010609060101010101" pitchFamily="49" charset="-122"/>
              </a:rPr>
              <a:t>年龄</a:t>
            </a:r>
            <a:r>
              <a:rPr kumimoji="0" lang="en-US" altLang="zh-CN" sz="3200" kern="0" dirty="0">
                <a:solidFill>
                  <a:srgbClr val="00FFFF"/>
                </a:solidFill>
                <a:effectLst>
                  <a:outerShdw blurRad="38100" dist="38100" dir="2700000" algn="tl">
                    <a:srgbClr val="000000"/>
                  </a:outerShdw>
                </a:effectLst>
                <a:latin typeface="Franklin Gothic Book"/>
                <a:ea typeface="黑体" panose="02010609060101010101" pitchFamily="49" charset="-122"/>
              </a:rPr>
              <a:t>)</a:t>
            </a:r>
          </a:p>
          <a:p>
            <a:pPr marL="358775" indent="-358775" fontAlgn="auto">
              <a:spcBef>
                <a:spcPts val="0"/>
              </a:spcBef>
              <a:spcAft>
                <a:spcPct val="0"/>
              </a:spcAft>
              <a:buClr>
                <a:srgbClr val="FFFFCC"/>
              </a:buClr>
              <a:buSzPct val="60000"/>
              <a:tabLst>
                <a:tab pos="381000" algn="l"/>
              </a:tabLst>
              <a:defRPr/>
            </a:pP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     FROM ST</a:t>
            </a:r>
          </a:p>
          <a:p>
            <a:pPr marL="358775" indent="-358775" fontAlgn="auto">
              <a:spcBef>
                <a:spcPts val="0"/>
              </a:spcBef>
              <a:spcAft>
                <a:spcPct val="0"/>
              </a:spcAft>
              <a:buClr>
                <a:srgbClr val="FFFFCC"/>
              </a:buClr>
              <a:buSzPct val="60000"/>
              <a:tabLst>
                <a:tab pos="381000" algn="l"/>
              </a:tabLst>
              <a:defRPr/>
            </a:pPr>
            <a:r>
              <a:rPr kumimoji="0" lang="en-US" altLang="zh-CN" sz="3200" kern="0" dirty="0">
                <a:solidFill>
                  <a:srgbClr val="00FFFF"/>
                </a:solidFill>
                <a:effectLst>
                  <a:outerShdw blurRad="38100" dist="38100" dir="2700000" algn="tl">
                    <a:srgbClr val="000000"/>
                  </a:outerShdw>
                </a:effectLst>
                <a:latin typeface="Franklin Gothic Book"/>
                <a:ea typeface="黑体" panose="02010609060101010101" pitchFamily="49" charset="-122"/>
              </a:rPr>
              <a:t>    GROUP BY </a:t>
            </a:r>
            <a:r>
              <a:rPr kumimoji="0" lang="zh-CN" altLang="en-US" sz="3200" kern="0" dirty="0">
                <a:solidFill>
                  <a:srgbClr val="00FFFF"/>
                </a:solidFill>
                <a:effectLst>
                  <a:outerShdw blurRad="38100" dist="38100" dir="2700000" algn="tl">
                    <a:srgbClr val="000000"/>
                  </a:outerShdw>
                </a:effectLst>
                <a:latin typeface="Franklin Gothic Book"/>
                <a:ea typeface="黑体" panose="02010609060101010101" pitchFamily="49" charset="-122"/>
              </a:rPr>
              <a:t>系</a:t>
            </a:r>
            <a:r>
              <a:rPr kumimoji="0" lang="en-US" altLang="zh-CN" sz="3200" kern="0" dirty="0">
                <a:solidFill>
                  <a:srgbClr val="66FF33"/>
                </a:solidFill>
                <a:effectLst>
                  <a:outerShdw blurRad="38100" dist="38100" dir="2700000" algn="tl">
                    <a:srgbClr val="000000"/>
                  </a:outerShdw>
                </a:effectLst>
                <a:latin typeface="Franklin Gothic Book"/>
                <a:ea typeface="黑体" panose="02010609060101010101" pitchFamily="49" charset="-122"/>
              </a:rPr>
              <a:t> </a:t>
            </a:r>
          </a:p>
        </p:txBody>
      </p:sp>
      <p:sp>
        <p:nvSpPr>
          <p:cNvPr id="21" name="Rectangle 6">
            <a:extLst>
              <a:ext uri="{FF2B5EF4-FFF2-40B4-BE49-F238E27FC236}">
                <a16:creationId xmlns:a16="http://schemas.microsoft.com/office/drawing/2014/main" id="{04BA8CC7-CA0F-4F33-9C36-B30388D5F2E2}"/>
              </a:ext>
            </a:extLst>
          </p:cNvPr>
          <p:cNvSpPr txBox="1">
            <a:spLocks noChangeArrowheads="1"/>
          </p:cNvSpPr>
          <p:nvPr/>
        </p:nvSpPr>
        <p:spPr bwMode="auto">
          <a:xfrm>
            <a:off x="839416" y="980827"/>
            <a:ext cx="6048672" cy="24481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lnSpc>
                <a:spcPct val="110000"/>
              </a:lnSpc>
              <a:spcAft>
                <a:spcPct val="0"/>
              </a:spcAft>
              <a:buNone/>
              <a:defRPr/>
            </a:pPr>
            <a:r>
              <a:rPr kumimoji="0" lang="zh-CN" altLang="en-US" sz="3200" dirty="0">
                <a:solidFill>
                  <a:srgbClr val="FFFF00"/>
                </a:solidFill>
                <a:latin typeface="Arial" charset="0"/>
              </a:rPr>
              <a:t>注意并不是所有视图都可以任意进行更新的！</a:t>
            </a:r>
            <a:endParaRPr kumimoji="0" lang="en-US" altLang="en-US" sz="3200" dirty="0">
              <a:solidFill>
                <a:srgbClr val="FFFF00"/>
              </a:solidFill>
              <a:latin typeface="Arial" charset="0"/>
            </a:endParaRPr>
          </a:p>
        </p:txBody>
      </p:sp>
      <p:sp>
        <p:nvSpPr>
          <p:cNvPr id="22" name="Rectangle 7">
            <a:extLst>
              <a:ext uri="{FF2B5EF4-FFF2-40B4-BE49-F238E27FC236}">
                <a16:creationId xmlns:a16="http://schemas.microsoft.com/office/drawing/2014/main" id="{BEA619F2-FDA0-4352-AED7-BAEA4F937265}"/>
              </a:ext>
            </a:extLst>
          </p:cNvPr>
          <p:cNvSpPr>
            <a:spLocks noChangeArrowheads="1"/>
          </p:cNvSpPr>
          <p:nvPr/>
        </p:nvSpPr>
        <p:spPr bwMode="auto">
          <a:xfrm>
            <a:off x="825946" y="2334268"/>
            <a:ext cx="6278166" cy="1079500"/>
          </a:xfrm>
          <a:prstGeom prst="rect">
            <a:avLst/>
          </a:prstGeom>
          <a:noFill/>
          <a:ln w="9525">
            <a:noFill/>
            <a:miter lim="800000"/>
            <a:headEnd/>
            <a:tailEnd/>
          </a:ln>
          <a:effectLst/>
        </p:spPr>
        <p:txBody>
          <a:bodyPr/>
          <a:lstStyle/>
          <a:p>
            <a:pPr fontAlgn="auto">
              <a:lnSpc>
                <a:spcPct val="110000"/>
              </a:lnSpc>
              <a:spcBef>
                <a:spcPts val="0"/>
              </a:spcBef>
              <a:spcAft>
                <a:spcPct val="0"/>
              </a:spcAft>
              <a:buClr>
                <a:srgbClr val="66FF33"/>
              </a:buClr>
              <a:buSzPct val="85000"/>
              <a:defRPr/>
            </a:pPr>
            <a:r>
              <a:rPr kumimoji="0" lang="zh-CN" altLang="en-US" sz="3200" dirty="0">
                <a:solidFill>
                  <a:srgbClr val="CCFFCC"/>
                </a:solidFill>
                <a:effectLst>
                  <a:outerShdw blurRad="38100" dist="38100" dir="2700000" algn="tl">
                    <a:srgbClr val="000000"/>
                  </a:outerShdw>
                </a:effectLst>
                <a:latin typeface="楷体" panose="02010609060101010101" pitchFamily="49" charset="-122"/>
                <a:ea typeface="楷体" panose="02010609060101010101" pitchFamily="49" charset="-122"/>
              </a:rPr>
              <a:t>例如以下视图的定义中出现了聚合函数，是一种统计视图，因此不能也没有必要更新！</a:t>
            </a:r>
            <a:endParaRPr kumimoji="0" lang="en-US" altLang="en-US" sz="3200" dirty="0">
              <a:solidFill>
                <a:srgbClr val="CCFFCC"/>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graphicFrame>
        <p:nvGraphicFramePr>
          <p:cNvPr id="23" name="Group 8">
            <a:extLst>
              <a:ext uri="{FF2B5EF4-FFF2-40B4-BE49-F238E27FC236}">
                <a16:creationId xmlns:a16="http://schemas.microsoft.com/office/drawing/2014/main" id="{ECA6C128-A2C0-4555-B9D4-58A0D26839E1}"/>
              </a:ext>
            </a:extLst>
          </p:cNvPr>
          <p:cNvGraphicFramePr>
            <a:graphicFrameLocks noGrp="1"/>
          </p:cNvGraphicFramePr>
          <p:nvPr>
            <p:extLst>
              <p:ext uri="{D42A27DB-BD31-4B8C-83A1-F6EECF244321}">
                <p14:modId xmlns:p14="http://schemas.microsoft.com/office/powerpoint/2010/main" val="1667513809"/>
              </p:ext>
            </p:extLst>
          </p:nvPr>
        </p:nvGraphicFramePr>
        <p:xfrm>
          <a:off x="7896200" y="788668"/>
          <a:ext cx="3124200" cy="3048000"/>
        </p:xfrm>
        <a:graphic>
          <a:graphicData uri="http://schemas.openxmlformats.org/drawingml/2006/table">
            <a:tbl>
              <a:tblPr/>
              <a:tblGrid>
                <a:gridCol w="6683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99002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李度</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99003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王成</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99004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4" name="Rectangle 81">
            <a:extLst>
              <a:ext uri="{FF2B5EF4-FFF2-40B4-BE49-F238E27FC236}">
                <a16:creationId xmlns:a16="http://schemas.microsoft.com/office/drawing/2014/main" id="{987897B9-5382-4FBC-958D-EDC43AC02F7D}"/>
              </a:ext>
            </a:extLst>
          </p:cNvPr>
          <p:cNvSpPr>
            <a:spLocks noChangeArrowheads="1"/>
          </p:cNvSpPr>
          <p:nvPr/>
        </p:nvSpPr>
        <p:spPr bwMode="auto">
          <a:xfrm>
            <a:off x="9192344" y="4678996"/>
            <a:ext cx="878446" cy="338554"/>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20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ST_DA</a:t>
            </a:r>
          </a:p>
        </p:txBody>
      </p:sp>
      <p:graphicFrame>
        <p:nvGraphicFramePr>
          <p:cNvPr id="25" name="Group 163">
            <a:extLst>
              <a:ext uri="{FF2B5EF4-FFF2-40B4-BE49-F238E27FC236}">
                <a16:creationId xmlns:a16="http://schemas.microsoft.com/office/drawing/2014/main" id="{E3A0F1FA-582B-4EB9-9637-E83CC47BD3A1}"/>
              </a:ext>
            </a:extLst>
          </p:cNvPr>
          <p:cNvGraphicFramePr>
            <a:graphicFrameLocks noGrp="1"/>
          </p:cNvGraphicFramePr>
          <p:nvPr>
            <p:extLst>
              <p:ext uri="{D42A27DB-BD31-4B8C-83A1-F6EECF244321}">
                <p14:modId xmlns:p14="http://schemas.microsoft.com/office/powerpoint/2010/main" val="62228708"/>
              </p:ext>
            </p:extLst>
          </p:nvPr>
        </p:nvGraphicFramePr>
        <p:xfrm>
          <a:off x="8569179" y="5090575"/>
          <a:ext cx="2088231" cy="1219200"/>
        </p:xfrm>
        <a:graphic>
          <a:graphicData uri="http://schemas.openxmlformats.org/drawingml/2006/table">
            <a:tbl>
              <a:tblPr/>
              <a:tblGrid>
                <a:gridCol w="864096">
                  <a:extLst>
                    <a:ext uri="{9D8B030D-6E8A-4147-A177-3AD203B41FA5}">
                      <a16:colId xmlns:a16="http://schemas.microsoft.com/office/drawing/2014/main" val="20001"/>
                    </a:ext>
                  </a:extLst>
                </a:gridCol>
                <a:gridCol w="1224135">
                  <a:extLst>
                    <a:ext uri="{9D8B030D-6E8A-4147-A177-3AD203B41FA5}">
                      <a16:colId xmlns:a16="http://schemas.microsoft.com/office/drawing/2014/main" val="20002"/>
                    </a:ext>
                  </a:extLst>
                </a:gridCol>
              </a:tblGrid>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系别</a:t>
                      </a:r>
                    </a:p>
                  </a:txBody>
                  <a:tcPr marL="0" marR="0" marT="0" marB="0" horzOverflow="overflow">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18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平均年龄</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endParaRPr kumimoji="0" lang="zh-CN" altLang="en-US"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25</a:t>
                      </a:r>
                      <a:endParaRPr kumimoji="0" lang="zh-CN" altLang="en-US"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endParaRPr kumimoji="0" lang="zh-CN" altLang="en-US"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endParaRPr kumimoji="0" lang="zh-CN" altLang="en-US"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endParaRPr kumimoji="0" lang="zh-CN" altLang="en-US"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endParaRPr kumimoji="0" lang="zh-CN" altLang="en-US" sz="18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00265701"/>
                  </a:ext>
                </a:extLst>
              </a:tr>
            </a:tbl>
          </a:graphicData>
        </a:graphic>
      </p:graphicFrame>
      <p:sp>
        <p:nvSpPr>
          <p:cNvPr id="26" name="Line 154">
            <a:extLst>
              <a:ext uri="{FF2B5EF4-FFF2-40B4-BE49-F238E27FC236}">
                <a16:creationId xmlns:a16="http://schemas.microsoft.com/office/drawing/2014/main" id="{21D45015-7EDD-412F-B745-2D962BBF9C9B}"/>
              </a:ext>
            </a:extLst>
          </p:cNvPr>
          <p:cNvSpPr>
            <a:spLocks noChangeShapeType="1"/>
          </p:cNvSpPr>
          <p:nvPr/>
        </p:nvSpPr>
        <p:spPr bwMode="auto">
          <a:xfrm flipH="1" flipV="1">
            <a:off x="7896199" y="3836667"/>
            <a:ext cx="672979" cy="2546132"/>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27" name="Line 154">
            <a:extLst>
              <a:ext uri="{FF2B5EF4-FFF2-40B4-BE49-F238E27FC236}">
                <a16:creationId xmlns:a16="http://schemas.microsoft.com/office/drawing/2014/main" id="{DECC52FD-A5E0-4B1F-818C-B514CD3A82F5}"/>
              </a:ext>
            </a:extLst>
          </p:cNvPr>
          <p:cNvSpPr>
            <a:spLocks noChangeShapeType="1"/>
          </p:cNvSpPr>
          <p:nvPr/>
        </p:nvSpPr>
        <p:spPr bwMode="auto">
          <a:xfrm flipH="1" flipV="1">
            <a:off x="7896199" y="795916"/>
            <a:ext cx="672978" cy="4294658"/>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28" name="Line 154">
            <a:extLst>
              <a:ext uri="{FF2B5EF4-FFF2-40B4-BE49-F238E27FC236}">
                <a16:creationId xmlns:a16="http://schemas.microsoft.com/office/drawing/2014/main" id="{41EFF0DA-AFE7-4D6B-9689-916165E0BFDD}"/>
              </a:ext>
            </a:extLst>
          </p:cNvPr>
          <p:cNvSpPr>
            <a:spLocks noChangeShapeType="1"/>
          </p:cNvSpPr>
          <p:nvPr/>
        </p:nvSpPr>
        <p:spPr bwMode="auto">
          <a:xfrm flipV="1">
            <a:off x="10657410" y="788668"/>
            <a:ext cx="358685" cy="4228882"/>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29" name="Line 154">
            <a:extLst>
              <a:ext uri="{FF2B5EF4-FFF2-40B4-BE49-F238E27FC236}">
                <a16:creationId xmlns:a16="http://schemas.microsoft.com/office/drawing/2014/main" id="{4C23F2A4-5367-4009-8E10-5E37C43D49D4}"/>
              </a:ext>
            </a:extLst>
          </p:cNvPr>
          <p:cNvSpPr>
            <a:spLocks noChangeShapeType="1"/>
          </p:cNvSpPr>
          <p:nvPr/>
        </p:nvSpPr>
        <p:spPr bwMode="auto">
          <a:xfrm flipV="1">
            <a:off x="10651793" y="3836667"/>
            <a:ext cx="364302" cy="2473108"/>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prstClr val="white"/>
              </a:solidFill>
              <a:effectLst/>
              <a:latin typeface="Franklin Gothic Book"/>
              <a:ea typeface="黑体" panose="02010609060101010101" pitchFamily="49" charset="-122"/>
            </a:endParaRPr>
          </a:p>
        </p:txBody>
      </p:sp>
      <p:sp>
        <p:nvSpPr>
          <p:cNvPr id="31" name="箭头: 左 30">
            <a:extLst>
              <a:ext uri="{FF2B5EF4-FFF2-40B4-BE49-F238E27FC236}">
                <a16:creationId xmlns:a16="http://schemas.microsoft.com/office/drawing/2014/main" id="{825CEBFC-D441-4A0B-BE60-3263C157F616}"/>
              </a:ext>
            </a:extLst>
          </p:cNvPr>
          <p:cNvSpPr/>
          <p:nvPr/>
        </p:nvSpPr>
        <p:spPr>
          <a:xfrm rot="16048297">
            <a:off x="9408530" y="4076713"/>
            <a:ext cx="398293" cy="440007"/>
          </a:xfrm>
          <a:prstGeom prst="leftArrow">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p14="http://schemas.microsoft.com/office/powerpoint/2010/main" val="1639330847"/>
      </p:ext>
    </p:extLst>
  </p:cSld>
  <p:clrMapOvr>
    <a:masterClrMapping/>
  </p:clrMapOvr>
  <p:transition spd="med">
    <p:pull/>
    <p:sndAc>
      <p:stSnd>
        <p:snd r:embed="rId2" name="arrow.wav"/>
      </p:stSnd>
    </p:sndAc>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更新视图</a:t>
            </a:r>
            <a:endParaRPr lang="zh-CN" altLang="en-US" sz="4000" b="1" dirty="0">
              <a:solidFill>
                <a:srgbClr val="FFFFCC"/>
              </a:solidFill>
              <a:effectLst>
                <a:outerShdw blurRad="38100" dist="38100" dir="2700000" algn="tl">
                  <a:srgbClr val="000000"/>
                </a:outerShdw>
              </a:effectLst>
              <a:cs typeface="+mn-cs"/>
            </a:endParaRPr>
          </a:p>
        </p:txBody>
      </p:sp>
      <p:sp>
        <p:nvSpPr>
          <p:cNvPr id="21" name="Rectangle 6">
            <a:extLst>
              <a:ext uri="{FF2B5EF4-FFF2-40B4-BE49-F238E27FC236}">
                <a16:creationId xmlns:a16="http://schemas.microsoft.com/office/drawing/2014/main" id="{04BA8CC7-CA0F-4F33-9C36-B30388D5F2E2}"/>
              </a:ext>
            </a:extLst>
          </p:cNvPr>
          <p:cNvSpPr txBox="1">
            <a:spLocks noChangeArrowheads="1"/>
          </p:cNvSpPr>
          <p:nvPr/>
        </p:nvSpPr>
        <p:spPr bwMode="auto">
          <a:xfrm>
            <a:off x="870282" y="980827"/>
            <a:ext cx="6048672" cy="24481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0" indent="0" eaLnBrk="1" hangingPunct="1">
              <a:lnSpc>
                <a:spcPct val="110000"/>
              </a:lnSpc>
              <a:spcAft>
                <a:spcPct val="0"/>
              </a:spcAft>
              <a:buNone/>
              <a:defRPr/>
            </a:pPr>
            <a:r>
              <a:rPr kumimoji="0" lang="zh-CN" altLang="en-US" sz="3200" dirty="0">
                <a:solidFill>
                  <a:srgbClr val="FFFF00"/>
                </a:solidFill>
                <a:latin typeface="Arial" charset="0"/>
              </a:rPr>
              <a:t>注意并不是所有视图都可以任意进行更新的！</a:t>
            </a:r>
            <a:endParaRPr kumimoji="0" lang="en-US" altLang="en-US" sz="3200" dirty="0">
              <a:solidFill>
                <a:srgbClr val="FFFF00"/>
              </a:solidFill>
              <a:latin typeface="Arial" charset="0"/>
            </a:endParaRPr>
          </a:p>
        </p:txBody>
      </p:sp>
      <p:sp>
        <p:nvSpPr>
          <p:cNvPr id="15" name="Rectangle 124">
            <a:extLst>
              <a:ext uri="{FF2B5EF4-FFF2-40B4-BE49-F238E27FC236}">
                <a16:creationId xmlns:a16="http://schemas.microsoft.com/office/drawing/2014/main" id="{11B17921-67B6-4A09-AFC4-A1FDBCF1E51B}"/>
              </a:ext>
            </a:extLst>
          </p:cNvPr>
          <p:cNvSpPr>
            <a:spLocks noChangeArrowheads="1"/>
          </p:cNvSpPr>
          <p:nvPr/>
        </p:nvSpPr>
        <p:spPr bwMode="auto">
          <a:xfrm>
            <a:off x="857580" y="2541659"/>
            <a:ext cx="6390548"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10000"/>
              </a:lnSpc>
              <a:buClr>
                <a:srgbClr val="66FF33"/>
              </a:buClr>
              <a:buSzPct val="85000"/>
              <a:buFont typeface="Wingdings" pitchFamily="2" charset="2"/>
              <a:buNone/>
            </a:pPr>
            <a:r>
              <a:rPr lang="zh-CN" altLang="en-US" sz="3000" dirty="0">
                <a:solidFill>
                  <a:srgbClr val="CCFFCC"/>
                </a:solidFill>
                <a:effectLst>
                  <a:outerShdw blurRad="38100" dist="38100" dir="2700000" algn="tl">
                    <a:srgbClr val="000000"/>
                  </a:outerShdw>
                </a:effectLst>
                <a:latin typeface="楷体" panose="02010609060101010101" pitchFamily="49" charset="-122"/>
                <a:ea typeface="楷体" panose="02010609060101010101" pitchFamily="49" charset="-122"/>
              </a:rPr>
              <a:t>再如以下视图的定义有更新检查要求，即更新时必须满足查询子句中设定的条件</a:t>
            </a:r>
            <a:r>
              <a:rPr lang="en-US" altLang="zh-CN" sz="3000" dirty="0">
                <a:solidFill>
                  <a:srgbClr val="CCFFCC"/>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en-US" sz="3000" dirty="0">
                <a:solidFill>
                  <a:srgbClr val="CCFFCC"/>
                </a:solidFill>
                <a:effectLst>
                  <a:outerShdw blurRad="38100" dist="38100" dir="2700000" algn="tl">
                    <a:srgbClr val="000000"/>
                  </a:outerShdw>
                </a:effectLst>
                <a:latin typeface="楷体" panose="02010609060101010101" pitchFamily="49" charset="-122"/>
                <a:ea typeface="楷体" panose="02010609060101010101" pitchFamily="49" charset="-122"/>
              </a:rPr>
              <a:t>此处的条件为性别</a:t>
            </a:r>
            <a:r>
              <a:rPr lang="en-US" altLang="zh-CN" sz="3000" dirty="0">
                <a:solidFill>
                  <a:srgbClr val="CCFFCC"/>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en-US" sz="3000" dirty="0">
                <a:solidFill>
                  <a:srgbClr val="CCFFCC"/>
                </a:solidFill>
                <a:effectLst>
                  <a:outerShdw blurRad="38100" dist="38100" dir="2700000" algn="tl">
                    <a:srgbClr val="000000"/>
                  </a:outerShdw>
                </a:effectLst>
                <a:latin typeface="楷体" panose="02010609060101010101" pitchFamily="49" charset="-122"/>
                <a:ea typeface="楷体" panose="02010609060101010101" pitchFamily="49" charset="-122"/>
              </a:rPr>
              <a:t>男</a:t>
            </a:r>
            <a:r>
              <a:rPr lang="en-US" altLang="zh-CN" sz="3000" dirty="0">
                <a:solidFill>
                  <a:srgbClr val="CCFFCC"/>
                </a:solidFill>
                <a:effectLst>
                  <a:outerShdw blurRad="38100" dist="38100" dir="2700000" algn="tl">
                    <a:srgbClr val="000000"/>
                  </a:outerShdw>
                </a:effectLst>
                <a:latin typeface="楷体" panose="02010609060101010101" pitchFamily="49" charset="-122"/>
                <a:ea typeface="楷体" panose="02010609060101010101" pitchFamily="49" charset="-122"/>
              </a:rPr>
              <a:t>')!</a:t>
            </a:r>
            <a:endParaRPr lang="en-US" altLang="en-US" sz="3000" dirty="0">
              <a:solidFill>
                <a:srgbClr val="CCFFCC"/>
              </a:solidFill>
              <a:effectLst>
                <a:outerShdw blurRad="38100" dist="38100" dir="2700000" algn="tl">
                  <a:srgbClr val="000000"/>
                </a:outerShdw>
              </a:effectLst>
              <a:latin typeface="楷体" panose="02010609060101010101" pitchFamily="49" charset="-122"/>
              <a:ea typeface="楷体" panose="02010609060101010101" pitchFamily="49" charset="-122"/>
            </a:endParaRPr>
          </a:p>
        </p:txBody>
      </p:sp>
      <p:sp>
        <p:nvSpPr>
          <p:cNvPr id="16" name="Text Box 125">
            <a:extLst>
              <a:ext uri="{FF2B5EF4-FFF2-40B4-BE49-F238E27FC236}">
                <a16:creationId xmlns:a16="http://schemas.microsoft.com/office/drawing/2014/main" id="{04D85F40-8790-4803-996A-CE4338DE2ACA}"/>
              </a:ext>
            </a:extLst>
          </p:cNvPr>
          <p:cNvSpPr txBox="1">
            <a:spLocks noChangeArrowheads="1"/>
          </p:cNvSpPr>
          <p:nvPr/>
        </p:nvSpPr>
        <p:spPr bwMode="auto">
          <a:xfrm>
            <a:off x="881672" y="4210156"/>
            <a:ext cx="49688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58775" indent="-358775">
              <a:tabLst>
                <a:tab pos="381000" algn="l"/>
              </a:tabLst>
              <a:defRPr kumimoji="1" sz="2400">
                <a:solidFill>
                  <a:schemeClr val="tx1"/>
                </a:solidFill>
                <a:latin typeface="Times New Roman" pitchFamily="18" charset="0"/>
                <a:ea typeface="宋体" pitchFamily="2" charset="-122"/>
              </a:defRPr>
            </a:lvl1pPr>
            <a:lvl2pPr marL="468313">
              <a:tabLst>
                <a:tab pos="381000" algn="l"/>
              </a:tabLst>
              <a:defRPr kumimoji="1" sz="2400">
                <a:solidFill>
                  <a:schemeClr val="tx1"/>
                </a:solidFill>
                <a:latin typeface="Times New Roman" pitchFamily="18" charset="0"/>
                <a:ea typeface="宋体" pitchFamily="2" charset="-122"/>
              </a:defRPr>
            </a:lvl2pPr>
            <a:lvl3pPr>
              <a:tabLst>
                <a:tab pos="381000" algn="l"/>
              </a:tabLst>
              <a:defRPr kumimoji="1" sz="2400">
                <a:solidFill>
                  <a:schemeClr val="tx1"/>
                </a:solidFill>
                <a:latin typeface="Times New Roman" pitchFamily="18" charset="0"/>
                <a:ea typeface="宋体" pitchFamily="2" charset="-122"/>
              </a:defRPr>
            </a:lvl3pPr>
            <a:lvl4pPr>
              <a:tabLst>
                <a:tab pos="381000" algn="l"/>
              </a:tabLst>
              <a:defRPr kumimoji="1" sz="2400">
                <a:solidFill>
                  <a:schemeClr val="tx1"/>
                </a:solidFill>
                <a:latin typeface="Times New Roman" pitchFamily="18" charset="0"/>
                <a:ea typeface="宋体" pitchFamily="2" charset="-122"/>
              </a:defRPr>
            </a:lvl4pPr>
            <a:lvl5pPr>
              <a:tabLst>
                <a:tab pos="381000" algn="l"/>
              </a:tabLst>
              <a:defRPr kumimoji="1" sz="2400">
                <a:solidFill>
                  <a:schemeClr val="tx1"/>
                </a:solidFill>
                <a:latin typeface="Times New Roman" pitchFamily="18" charset="0"/>
                <a:ea typeface="宋体" pitchFamily="2" charset="-122"/>
              </a:defRPr>
            </a:lvl5pPr>
            <a:lvl6pPr fontAlgn="base">
              <a:spcBef>
                <a:spcPct val="0"/>
              </a:spcBef>
              <a:spcAft>
                <a:spcPct val="0"/>
              </a:spcAft>
              <a:tabLst>
                <a:tab pos="381000" algn="l"/>
              </a:tabLst>
              <a:defRPr kumimoji="1" sz="2400">
                <a:solidFill>
                  <a:schemeClr val="tx1"/>
                </a:solidFill>
                <a:latin typeface="Times New Roman" pitchFamily="18" charset="0"/>
                <a:ea typeface="宋体" pitchFamily="2" charset="-122"/>
              </a:defRPr>
            </a:lvl6pPr>
            <a:lvl7pPr fontAlgn="base">
              <a:spcBef>
                <a:spcPct val="0"/>
              </a:spcBef>
              <a:spcAft>
                <a:spcPct val="0"/>
              </a:spcAft>
              <a:tabLst>
                <a:tab pos="381000" algn="l"/>
              </a:tabLst>
              <a:defRPr kumimoji="1" sz="2400">
                <a:solidFill>
                  <a:schemeClr val="tx1"/>
                </a:solidFill>
                <a:latin typeface="Times New Roman" pitchFamily="18" charset="0"/>
                <a:ea typeface="宋体" pitchFamily="2" charset="-122"/>
              </a:defRPr>
            </a:lvl7pPr>
            <a:lvl8pPr fontAlgn="base">
              <a:spcBef>
                <a:spcPct val="0"/>
              </a:spcBef>
              <a:spcAft>
                <a:spcPct val="0"/>
              </a:spcAft>
              <a:tabLst>
                <a:tab pos="381000" algn="l"/>
              </a:tabLst>
              <a:defRPr kumimoji="1" sz="2400">
                <a:solidFill>
                  <a:schemeClr val="tx1"/>
                </a:solidFill>
                <a:latin typeface="Times New Roman" pitchFamily="18" charset="0"/>
                <a:ea typeface="宋体" pitchFamily="2" charset="-122"/>
              </a:defRPr>
            </a:lvl8pPr>
            <a:lvl9pPr fontAlgn="base">
              <a:spcBef>
                <a:spcPct val="0"/>
              </a:spcBef>
              <a:spcAft>
                <a:spcPct val="0"/>
              </a:spcAft>
              <a:tabLst>
                <a:tab pos="381000" algn="l"/>
              </a:tabLst>
              <a:defRPr kumimoji="1" sz="2400">
                <a:solidFill>
                  <a:schemeClr val="tx1"/>
                </a:solidFill>
                <a:latin typeface="Times New Roman" pitchFamily="18" charset="0"/>
                <a:ea typeface="宋体" pitchFamily="2" charset="-122"/>
              </a:defRPr>
            </a:lvl9pPr>
          </a:lstStyle>
          <a:p>
            <a:pPr>
              <a:buClr>
                <a:schemeClr val="folHlink"/>
              </a:buClr>
              <a:buSzPct val="60000"/>
              <a:buFont typeface="Wingdings" pitchFamily="2" charset="2"/>
              <a:buNone/>
            </a:pPr>
            <a:r>
              <a:rPr lang="en-US" altLang="zh-CN" sz="2800" dirty="0">
                <a:solidFill>
                  <a:srgbClr val="66FF33"/>
                </a:solidFill>
                <a:effectLst>
                  <a:outerShdw blurRad="38100" dist="38100" dir="2700000" algn="tl">
                    <a:srgbClr val="000000"/>
                  </a:outerShdw>
                </a:effectLst>
                <a:latin typeface="楷体_GB2312" pitchFamily="49" charset="-122"/>
                <a:ea typeface="楷体_GB2312" pitchFamily="49" charset="-122"/>
              </a:rPr>
              <a:t>CREATE VIEW ST_M AS</a:t>
            </a:r>
          </a:p>
          <a:p>
            <a:pPr>
              <a:buClr>
                <a:schemeClr val="folHlink"/>
              </a:buClr>
              <a:buSzPct val="60000"/>
              <a:buFont typeface="Wingdings" pitchFamily="2" charset="2"/>
              <a:buNone/>
            </a:pPr>
            <a:r>
              <a:rPr lang="en-US" altLang="zh-CN" sz="2800" dirty="0">
                <a:solidFill>
                  <a:srgbClr val="66FF33"/>
                </a:solidFill>
                <a:effectLst>
                  <a:outerShdw blurRad="38100" dist="38100" dir="2700000" algn="tl">
                    <a:srgbClr val="000000"/>
                  </a:outerShdw>
                </a:effectLst>
                <a:latin typeface="楷体_GB2312" pitchFamily="49" charset="-122"/>
                <a:ea typeface="楷体_GB2312" pitchFamily="49" charset="-122"/>
              </a:rPr>
              <a:t>SELECT </a:t>
            </a:r>
            <a:r>
              <a:rPr lang="zh-CN" altLang="en-US" sz="2800" dirty="0">
                <a:solidFill>
                  <a:srgbClr val="66FF33"/>
                </a:solidFill>
                <a:effectLst>
                  <a:outerShdw blurRad="38100" dist="38100" dir="2700000" algn="tl">
                    <a:srgbClr val="000000"/>
                  </a:outerShdw>
                </a:effectLst>
                <a:latin typeface="楷体_GB2312" pitchFamily="49" charset="-122"/>
                <a:ea typeface="楷体_GB2312" pitchFamily="49" charset="-122"/>
              </a:rPr>
              <a:t>姓名</a:t>
            </a:r>
            <a:r>
              <a:rPr lang="en-US" altLang="zh-CN" sz="2800" dirty="0">
                <a:solidFill>
                  <a:srgbClr val="66FF33"/>
                </a:solidFill>
                <a:effectLst>
                  <a:outerShdw blurRad="38100" dist="38100" dir="2700000" algn="tl">
                    <a:srgbClr val="000000"/>
                  </a:outerShdw>
                </a:effectLst>
                <a:latin typeface="楷体_GB2312" pitchFamily="49" charset="-122"/>
                <a:ea typeface="楷体_GB2312" pitchFamily="49" charset="-122"/>
              </a:rPr>
              <a:t>,</a:t>
            </a:r>
            <a:r>
              <a:rPr lang="zh-CN" altLang="en-US" sz="2800" dirty="0">
                <a:solidFill>
                  <a:srgbClr val="66FF33"/>
                </a:solidFill>
                <a:effectLst>
                  <a:outerShdw blurRad="38100" dist="38100" dir="2700000" algn="tl">
                    <a:srgbClr val="000000"/>
                  </a:outerShdw>
                </a:effectLst>
                <a:latin typeface="楷体_GB2312" pitchFamily="49" charset="-122"/>
                <a:ea typeface="楷体_GB2312" pitchFamily="49" charset="-122"/>
              </a:rPr>
              <a:t>性别</a:t>
            </a:r>
          </a:p>
          <a:p>
            <a:pPr>
              <a:buClr>
                <a:schemeClr val="folHlink"/>
              </a:buClr>
              <a:buSzPct val="60000"/>
              <a:buFont typeface="Wingdings" pitchFamily="2" charset="2"/>
              <a:buNone/>
            </a:pPr>
            <a:r>
              <a:rPr lang="en-US" altLang="zh-CN" sz="2800" dirty="0">
                <a:solidFill>
                  <a:srgbClr val="66FF33"/>
                </a:solidFill>
                <a:effectLst>
                  <a:outerShdw blurRad="38100" dist="38100" dir="2700000" algn="tl">
                    <a:srgbClr val="000000"/>
                  </a:outerShdw>
                </a:effectLst>
                <a:latin typeface="楷体_GB2312" pitchFamily="49" charset="-122"/>
                <a:ea typeface="楷体_GB2312" pitchFamily="49" charset="-122"/>
              </a:rPr>
              <a:t>  FROM ST</a:t>
            </a:r>
          </a:p>
          <a:p>
            <a:pPr>
              <a:buClr>
                <a:schemeClr val="folHlink"/>
              </a:buClr>
              <a:buSzPct val="60000"/>
              <a:buFont typeface="Wingdings" pitchFamily="2" charset="2"/>
              <a:buNone/>
            </a:pPr>
            <a:r>
              <a:rPr lang="en-US" altLang="zh-CN" sz="2800" dirty="0">
                <a:solidFill>
                  <a:srgbClr val="66FF33"/>
                </a:solidFill>
                <a:effectLst>
                  <a:outerShdw blurRad="38100" dist="38100" dir="2700000" algn="tl">
                    <a:srgbClr val="000000"/>
                  </a:outerShdw>
                </a:effectLst>
                <a:latin typeface="楷体_GB2312" pitchFamily="49" charset="-122"/>
                <a:ea typeface="楷体_GB2312" pitchFamily="49" charset="-122"/>
              </a:rPr>
              <a:t> WHERE </a:t>
            </a:r>
            <a:r>
              <a:rPr lang="zh-CN" altLang="en-US" sz="2800" dirty="0">
                <a:solidFill>
                  <a:srgbClr val="66FF33"/>
                </a:solidFill>
                <a:effectLst>
                  <a:outerShdw blurRad="38100" dist="38100" dir="2700000" algn="tl">
                    <a:srgbClr val="000000"/>
                  </a:outerShdw>
                </a:effectLst>
                <a:latin typeface="楷体_GB2312" pitchFamily="49" charset="-122"/>
                <a:ea typeface="楷体_GB2312" pitchFamily="49" charset="-122"/>
              </a:rPr>
              <a:t>性别</a:t>
            </a:r>
            <a:r>
              <a:rPr lang="en-US" altLang="zh-CN" sz="2800" dirty="0">
                <a:solidFill>
                  <a:srgbClr val="66FF33"/>
                </a:solidFill>
                <a:effectLst>
                  <a:outerShdw blurRad="38100" dist="38100" dir="2700000" algn="tl">
                    <a:srgbClr val="000000"/>
                  </a:outerShdw>
                </a:effectLst>
                <a:latin typeface="楷体_GB2312" pitchFamily="49" charset="-122"/>
                <a:ea typeface="楷体_GB2312" pitchFamily="49" charset="-122"/>
              </a:rPr>
              <a:t>='</a:t>
            </a:r>
            <a:r>
              <a:rPr lang="zh-CN" altLang="en-US" sz="2800" dirty="0">
                <a:solidFill>
                  <a:srgbClr val="66FF33"/>
                </a:solidFill>
                <a:effectLst>
                  <a:outerShdw blurRad="38100" dist="38100" dir="2700000" algn="tl">
                    <a:srgbClr val="000000"/>
                  </a:outerShdw>
                </a:effectLst>
                <a:latin typeface="楷体_GB2312" pitchFamily="49" charset="-122"/>
                <a:ea typeface="楷体_GB2312" pitchFamily="49" charset="-122"/>
              </a:rPr>
              <a:t>男</a:t>
            </a:r>
            <a:r>
              <a:rPr lang="en-US" altLang="zh-CN" sz="2800" dirty="0">
                <a:solidFill>
                  <a:srgbClr val="66FF33"/>
                </a:solidFill>
                <a:effectLst>
                  <a:outerShdw blurRad="38100" dist="38100" dir="2700000" algn="tl">
                    <a:srgbClr val="000000"/>
                  </a:outerShdw>
                </a:effectLst>
                <a:latin typeface="楷体_GB2312" pitchFamily="49" charset="-122"/>
                <a:ea typeface="楷体_GB2312" pitchFamily="49" charset="-122"/>
              </a:rPr>
              <a:t>'</a:t>
            </a:r>
          </a:p>
          <a:p>
            <a:pPr>
              <a:buClr>
                <a:schemeClr val="folHlink"/>
              </a:buClr>
              <a:buSzPct val="60000"/>
              <a:buFont typeface="Wingdings" pitchFamily="2" charset="2"/>
              <a:buNone/>
            </a:pPr>
            <a:r>
              <a:rPr lang="en-US" altLang="zh-CN" sz="2800" dirty="0">
                <a:solidFill>
                  <a:srgbClr val="00FFFF"/>
                </a:solidFill>
                <a:effectLst>
                  <a:outerShdw blurRad="38100" dist="38100" dir="2700000" algn="tl">
                    <a:srgbClr val="000000"/>
                  </a:outerShdw>
                </a:effectLst>
                <a:latin typeface="楷体_GB2312" pitchFamily="49" charset="-122"/>
                <a:ea typeface="楷体_GB2312" pitchFamily="49" charset="-122"/>
              </a:rPr>
              <a:t>WITH CHECK OPTION</a:t>
            </a:r>
            <a:endParaRPr lang="en-US" altLang="zh-CN" sz="2800" dirty="0">
              <a:solidFill>
                <a:srgbClr val="66FF33"/>
              </a:solidFill>
              <a:effectLst>
                <a:outerShdw blurRad="38100" dist="38100" dir="2700000" algn="tl">
                  <a:srgbClr val="000000"/>
                </a:outerShdw>
              </a:effectLst>
              <a:latin typeface="楷体_GB2312" pitchFamily="49" charset="-122"/>
              <a:ea typeface="楷体_GB2312" pitchFamily="49" charset="-122"/>
            </a:endParaRPr>
          </a:p>
        </p:txBody>
      </p:sp>
      <p:sp>
        <p:nvSpPr>
          <p:cNvPr id="17" name="Rectangle 4">
            <a:extLst>
              <a:ext uri="{FF2B5EF4-FFF2-40B4-BE49-F238E27FC236}">
                <a16:creationId xmlns:a16="http://schemas.microsoft.com/office/drawing/2014/main" id="{4C859917-740F-479E-8417-E9A444BACF2F}"/>
              </a:ext>
            </a:extLst>
          </p:cNvPr>
          <p:cNvSpPr>
            <a:spLocks noChangeArrowheads="1"/>
          </p:cNvSpPr>
          <p:nvPr/>
        </p:nvSpPr>
        <p:spPr bwMode="auto">
          <a:xfrm>
            <a:off x="8380719" y="882157"/>
            <a:ext cx="385763" cy="396875"/>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60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a:t>
            </a:r>
          </a:p>
        </p:txBody>
      </p:sp>
      <p:graphicFrame>
        <p:nvGraphicFramePr>
          <p:cNvPr id="18" name="Group 12">
            <a:extLst>
              <a:ext uri="{FF2B5EF4-FFF2-40B4-BE49-F238E27FC236}">
                <a16:creationId xmlns:a16="http://schemas.microsoft.com/office/drawing/2014/main" id="{7B93C878-9E14-4B67-AB9E-09F85661C6BB}"/>
              </a:ext>
            </a:extLst>
          </p:cNvPr>
          <p:cNvGraphicFramePr>
            <a:graphicFrameLocks noGrp="1"/>
          </p:cNvGraphicFramePr>
          <p:nvPr>
            <p:extLst>
              <p:ext uri="{D42A27DB-BD31-4B8C-83A1-F6EECF244321}">
                <p14:modId xmlns:p14="http://schemas.microsoft.com/office/powerpoint/2010/main" val="3791009917"/>
              </p:ext>
            </p:extLst>
          </p:nvPr>
        </p:nvGraphicFramePr>
        <p:xfrm>
          <a:off x="8218537" y="1334039"/>
          <a:ext cx="3351212" cy="2438400"/>
        </p:xfrm>
        <a:graphic>
          <a:graphicData uri="http://schemas.openxmlformats.org/drawingml/2006/table">
            <a:tbl>
              <a:tblPr/>
              <a:tblGrid>
                <a:gridCol w="8207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631825">
                  <a:extLst>
                    <a:ext uri="{9D8B030D-6E8A-4147-A177-3AD203B41FA5}">
                      <a16:colId xmlns:a16="http://schemas.microsoft.com/office/drawing/2014/main" val="20004"/>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学号</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年龄</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系</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98007</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19</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0" name="Rectangle 82">
            <a:extLst>
              <a:ext uri="{FF2B5EF4-FFF2-40B4-BE49-F238E27FC236}">
                <a16:creationId xmlns:a16="http://schemas.microsoft.com/office/drawing/2014/main" id="{3DC793A1-9070-4D34-A99B-C83EAB92774F}"/>
              </a:ext>
            </a:extLst>
          </p:cNvPr>
          <p:cNvSpPr>
            <a:spLocks noChangeArrowheads="1"/>
          </p:cNvSpPr>
          <p:nvPr/>
        </p:nvSpPr>
        <p:spPr bwMode="auto">
          <a:xfrm>
            <a:off x="9803349" y="4697518"/>
            <a:ext cx="852798" cy="400110"/>
          </a:xfrm>
          <a:prstGeom prst="rect">
            <a:avLst/>
          </a:prstGeom>
          <a:noFill/>
          <a:ln w="12700" cap="sq">
            <a:noFill/>
            <a:miter lim="800000"/>
            <a:headEnd/>
            <a:tailEnd/>
          </a:ln>
          <a:effectLst/>
        </p:spPr>
        <p:txBody>
          <a:bodyPr wrap="none" lIns="0" tIns="0" rIns="0" bIns="0">
            <a:spAutoFit/>
          </a:bodyPr>
          <a:lstStyle/>
          <a:p>
            <a:pPr fontAlgn="auto">
              <a:spcBef>
                <a:spcPts val="0"/>
              </a:spcBef>
              <a:spcAft>
                <a:spcPct val="0"/>
              </a:spcAft>
              <a:buSzTx/>
              <a:defRPr/>
            </a:pPr>
            <a:r>
              <a:rPr kumimoji="0" lang="en-US" altLang="zh-CN" sz="2600" dirty="0">
                <a:solidFill>
                  <a:prstClr val="white"/>
                </a:solidFill>
                <a:effectLst>
                  <a:outerShdw blurRad="38100" dist="38100" dir="2700000" algn="tl">
                    <a:srgbClr val="000000"/>
                  </a:outerShdw>
                </a:effectLst>
                <a:latin typeface="Times New Roman" pitchFamily="18" charset="0"/>
                <a:ea typeface="黑体" panose="02010609060101010101" pitchFamily="49" charset="-122"/>
              </a:rPr>
              <a:t>ST_M</a:t>
            </a:r>
          </a:p>
        </p:txBody>
      </p:sp>
      <p:graphicFrame>
        <p:nvGraphicFramePr>
          <p:cNvPr id="32" name="Group 155">
            <a:extLst>
              <a:ext uri="{FF2B5EF4-FFF2-40B4-BE49-F238E27FC236}">
                <a16:creationId xmlns:a16="http://schemas.microsoft.com/office/drawing/2014/main" id="{FF6964CC-E6F9-4948-B972-DC337390DE7C}"/>
              </a:ext>
            </a:extLst>
          </p:cNvPr>
          <p:cNvGraphicFramePr>
            <a:graphicFrameLocks noGrp="1"/>
          </p:cNvGraphicFramePr>
          <p:nvPr>
            <p:extLst>
              <p:ext uri="{D42A27DB-BD31-4B8C-83A1-F6EECF244321}">
                <p14:modId xmlns:p14="http://schemas.microsoft.com/office/powerpoint/2010/main" val="1072659286"/>
              </p:ext>
            </p:extLst>
          </p:nvPr>
        </p:nvGraphicFramePr>
        <p:xfrm>
          <a:off x="9543549" y="5176518"/>
          <a:ext cx="1728788" cy="1219200"/>
        </p:xfrm>
        <a:graphic>
          <a:graphicData uri="http://schemas.openxmlformats.org/drawingml/2006/table">
            <a:tbl>
              <a:tblPr/>
              <a:tblGrid>
                <a:gridCol w="987425">
                  <a:extLst>
                    <a:ext uri="{9D8B030D-6E8A-4147-A177-3AD203B41FA5}">
                      <a16:colId xmlns:a16="http://schemas.microsoft.com/office/drawing/2014/main" val="20000"/>
                    </a:ext>
                  </a:extLst>
                </a:gridCol>
                <a:gridCol w="741363">
                  <a:extLst>
                    <a:ext uri="{9D8B030D-6E8A-4147-A177-3AD203B41FA5}">
                      <a16:colId xmlns:a16="http://schemas.microsoft.com/office/drawing/2014/main" val="20001"/>
                    </a:ext>
                  </a:extLst>
                </a:gridCol>
              </a:tblGrid>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姓名</a:t>
                      </a:r>
                      <a:endParaRPr kumimoji="0" lang="en-US" altLang="zh-CN"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性别</a:t>
                      </a:r>
                      <a:endParaRPr kumimoji="0" lang="en-US" altLang="zh-CN" sz="2000" b="1"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99"/>
                          </a:solidFill>
                          <a:effectLst>
                            <a:outerShdw blurRad="38100" dist="38100" dir="2700000" algn="tl">
                              <a:srgbClr val="000000"/>
                            </a:outerShdw>
                          </a:effectLst>
                          <a:latin typeface="Times New Roman" pitchFamily="18" charset="0"/>
                          <a:ea typeface="楷体_GB2312" pitchFamily="49" charset="-122"/>
                        </a:rPr>
                        <a:t>钟伟</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楷体_GB2312"/>
                        </a:defRPr>
                      </a:lvl1pPr>
                      <a:lvl2pPr marL="457200" algn="l" defTabSz="914400" rtl="0" eaLnBrk="1" latinLnBrk="0" hangingPunct="1">
                        <a:defRPr sz="1800" kern="1200">
                          <a:solidFill>
                            <a:schemeClr val="tx1"/>
                          </a:solidFill>
                          <a:latin typeface="Times New Roman"/>
                          <a:ea typeface="楷体_GB2312"/>
                        </a:defRPr>
                      </a:lvl2pPr>
                      <a:lvl3pPr marL="914400" algn="l" defTabSz="914400" rtl="0" eaLnBrk="1" latinLnBrk="0" hangingPunct="1">
                        <a:defRPr sz="1800" kern="1200">
                          <a:solidFill>
                            <a:schemeClr val="tx1"/>
                          </a:solidFill>
                          <a:latin typeface="Times New Roman"/>
                          <a:ea typeface="楷体_GB2312"/>
                        </a:defRPr>
                      </a:lvl3pPr>
                      <a:lvl4pPr marL="1371600" algn="l" defTabSz="914400" rtl="0" eaLnBrk="1" latinLnBrk="0" hangingPunct="1">
                        <a:defRPr sz="1800" kern="1200">
                          <a:solidFill>
                            <a:schemeClr val="tx1"/>
                          </a:solidFill>
                          <a:latin typeface="Times New Roman"/>
                          <a:ea typeface="楷体_GB2312"/>
                        </a:defRPr>
                      </a:lvl4pPr>
                      <a:lvl5pPr marL="1828800" algn="l" defTabSz="914400" rtl="0" eaLnBrk="1" latinLnBrk="0" hangingPunct="1">
                        <a:defRPr sz="1800" kern="1200">
                          <a:solidFill>
                            <a:schemeClr val="tx1"/>
                          </a:solidFill>
                          <a:latin typeface="Times New Roman"/>
                          <a:ea typeface="楷体_GB2312"/>
                        </a:defRPr>
                      </a:lvl5pPr>
                      <a:lvl6pPr marL="2286000" algn="l" defTabSz="914400" rtl="0" eaLnBrk="1" latinLnBrk="0" hangingPunct="1">
                        <a:defRPr sz="1800" kern="1200">
                          <a:solidFill>
                            <a:schemeClr val="tx1"/>
                          </a:solidFill>
                          <a:latin typeface="Times New Roman"/>
                          <a:ea typeface="楷体_GB2312"/>
                        </a:defRPr>
                      </a:lvl6pPr>
                      <a:lvl7pPr marL="2743200" algn="l" defTabSz="914400" rtl="0" eaLnBrk="1" latinLnBrk="0" hangingPunct="1">
                        <a:defRPr sz="1800" kern="1200">
                          <a:solidFill>
                            <a:schemeClr val="tx1"/>
                          </a:solidFill>
                          <a:latin typeface="Times New Roman"/>
                          <a:ea typeface="楷体_GB2312"/>
                        </a:defRPr>
                      </a:lvl7pPr>
                      <a:lvl8pPr marL="3200400" algn="l" defTabSz="914400" rtl="0" eaLnBrk="1" latinLnBrk="0" hangingPunct="1">
                        <a:defRPr sz="1800" kern="1200">
                          <a:solidFill>
                            <a:schemeClr val="tx1"/>
                          </a:solidFill>
                          <a:latin typeface="Times New Roman"/>
                          <a:ea typeface="楷体_GB2312"/>
                        </a:defRPr>
                      </a:lvl8pPr>
                      <a:lvl9pPr marL="3657600" algn="l" defTabSz="914400" rtl="0" eaLnBrk="1" latinLnBrk="0" hangingPunct="1">
                        <a:defRPr sz="1800" kern="1200">
                          <a:solidFill>
                            <a:schemeClr val="tx1"/>
                          </a:solidFill>
                          <a:latin typeface="Times New Roman"/>
                          <a:ea typeface="楷体_GB231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99"/>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3" name="Line 157">
            <a:extLst>
              <a:ext uri="{FF2B5EF4-FFF2-40B4-BE49-F238E27FC236}">
                <a16:creationId xmlns:a16="http://schemas.microsoft.com/office/drawing/2014/main" id="{3079DC08-B08D-47A0-B59F-3AF0EDA0A8B3}"/>
              </a:ext>
            </a:extLst>
          </p:cNvPr>
          <p:cNvSpPr>
            <a:spLocks noChangeShapeType="1"/>
          </p:cNvSpPr>
          <p:nvPr/>
        </p:nvSpPr>
        <p:spPr bwMode="auto">
          <a:xfrm flipH="1" flipV="1">
            <a:off x="8256632" y="1334037"/>
            <a:ext cx="1296990" cy="3842479"/>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34" name="Line 158">
            <a:extLst>
              <a:ext uri="{FF2B5EF4-FFF2-40B4-BE49-F238E27FC236}">
                <a16:creationId xmlns:a16="http://schemas.microsoft.com/office/drawing/2014/main" id="{E3D26673-4745-4D86-805A-589628F062ED}"/>
              </a:ext>
            </a:extLst>
          </p:cNvPr>
          <p:cNvSpPr>
            <a:spLocks noChangeShapeType="1"/>
          </p:cNvSpPr>
          <p:nvPr/>
        </p:nvSpPr>
        <p:spPr bwMode="auto">
          <a:xfrm flipV="1">
            <a:off x="11262262" y="1334039"/>
            <a:ext cx="307487" cy="3842478"/>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35" name="Line 159">
            <a:extLst>
              <a:ext uri="{FF2B5EF4-FFF2-40B4-BE49-F238E27FC236}">
                <a16:creationId xmlns:a16="http://schemas.microsoft.com/office/drawing/2014/main" id="{10E4781E-55A8-46C7-9775-F9307FFD53B6}"/>
              </a:ext>
            </a:extLst>
          </p:cNvPr>
          <p:cNvSpPr>
            <a:spLocks noChangeShapeType="1"/>
          </p:cNvSpPr>
          <p:nvPr/>
        </p:nvSpPr>
        <p:spPr bwMode="auto">
          <a:xfrm flipH="1" flipV="1">
            <a:off x="8238074" y="3772438"/>
            <a:ext cx="1296988" cy="2623279"/>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36" name="Line 160">
            <a:extLst>
              <a:ext uri="{FF2B5EF4-FFF2-40B4-BE49-F238E27FC236}">
                <a16:creationId xmlns:a16="http://schemas.microsoft.com/office/drawing/2014/main" id="{3ED88BE4-BCF3-43DC-85FC-5D7DDACD047D}"/>
              </a:ext>
            </a:extLst>
          </p:cNvPr>
          <p:cNvSpPr>
            <a:spLocks noChangeShapeType="1"/>
          </p:cNvSpPr>
          <p:nvPr/>
        </p:nvSpPr>
        <p:spPr bwMode="auto">
          <a:xfrm flipV="1">
            <a:off x="11280825" y="3772437"/>
            <a:ext cx="266420" cy="2632805"/>
          </a:xfrm>
          <a:prstGeom prst="line">
            <a:avLst/>
          </a:prstGeom>
          <a:noFill/>
          <a:ln w="12700">
            <a:solidFill>
              <a:srgbClr val="FF0000"/>
            </a:solidFill>
            <a:prstDash val="dash"/>
            <a:round/>
            <a:headEnd/>
            <a:tailEnd/>
          </a:ln>
          <a:effectLst/>
        </p:spPr>
        <p:txBody>
          <a:bodyPr/>
          <a:lstStyle/>
          <a:p>
            <a:pPr fontAlgn="auto">
              <a:spcBef>
                <a:spcPts val="0"/>
              </a:spcBef>
              <a:spcAft>
                <a:spcPts val="0"/>
              </a:spcAft>
              <a:buSzTx/>
              <a:defRPr/>
            </a:pPr>
            <a:endParaRPr kumimoji="0" lang="zh-CN" altLang="en-US" sz="1800" kern="0">
              <a:solidFill>
                <a:sysClr val="windowText" lastClr="000000"/>
              </a:solidFill>
              <a:effectLst/>
              <a:latin typeface="Franklin Gothic Book"/>
              <a:ea typeface="黑体" panose="02010609060101010101" pitchFamily="49" charset="-122"/>
            </a:endParaRPr>
          </a:p>
        </p:txBody>
      </p:sp>
      <p:sp>
        <p:nvSpPr>
          <p:cNvPr id="37" name="箭头: 左 36">
            <a:extLst>
              <a:ext uri="{FF2B5EF4-FFF2-40B4-BE49-F238E27FC236}">
                <a16:creationId xmlns:a16="http://schemas.microsoft.com/office/drawing/2014/main" id="{E86B03DC-6810-48DE-8AAD-38938E65C2D1}"/>
              </a:ext>
            </a:extLst>
          </p:cNvPr>
          <p:cNvSpPr/>
          <p:nvPr/>
        </p:nvSpPr>
        <p:spPr>
          <a:xfrm rot="16048297">
            <a:off x="10046922" y="4060198"/>
            <a:ext cx="398293" cy="440007"/>
          </a:xfrm>
          <a:prstGeom prst="leftArrow">
            <a:avLst/>
          </a:prstGeom>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Tree>
    <p:extLst>
      <p:ext uri="{BB962C8B-B14F-4D97-AF65-F5344CB8AC3E}">
        <p14:creationId xmlns:p14="http://schemas.microsoft.com/office/powerpoint/2010/main" val="971095777"/>
      </p:ext>
    </p:extLst>
  </p:cSld>
  <p:clrMapOvr>
    <a:masterClrMapping/>
  </p:clrMapOvr>
  <p:transition spd="med">
    <p:pull/>
    <p:sndAc>
      <p:stSnd>
        <p:snd r:embed="rId2" name="arrow.wav"/>
      </p:stSnd>
    </p:sndAc>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4294967295"/>
          </p:nvPr>
        </p:nvSpPr>
        <p:spPr>
          <a:xfrm>
            <a:off x="1055440" y="404664"/>
            <a:ext cx="10153128" cy="6120680"/>
          </a:xfrm>
        </p:spPr>
        <p:txBody>
          <a:bodyPr>
            <a:normAutofit/>
          </a:bodyPr>
          <a:lstStyle/>
          <a:p>
            <a:pPr>
              <a:lnSpc>
                <a:spcPct val="150000"/>
              </a:lnSpc>
            </a:pP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例</a:t>
            </a:r>
            <a:r>
              <a:rPr lang="en-US" altLang="zh-CN" sz="2400" dirty="0">
                <a:latin typeface="Tahoma" panose="020B0604030504040204" pitchFamily="34" charset="0"/>
                <a:ea typeface="宋体" panose="02010600030101010101" pitchFamily="2" charset="-122"/>
              </a:rPr>
              <a:t>5-19】</a:t>
            </a:r>
            <a:r>
              <a:rPr lang="zh-CN" altLang="en-US" sz="2400" dirty="0">
                <a:latin typeface="Tahoma" panose="020B0604030504040204" pitchFamily="34" charset="0"/>
                <a:ea typeface="宋体" panose="02010600030101010101" pitchFamily="2" charset="-122"/>
              </a:rPr>
              <a:t>在</a:t>
            </a:r>
            <a:r>
              <a:rPr lang="en-US" altLang="zh-CN" sz="2400" dirty="0">
                <a:latin typeface="Tahoma" panose="020B0604030504040204" pitchFamily="34" charset="0"/>
                <a:ea typeface="宋体" panose="02010600030101010101" pitchFamily="2" charset="-122"/>
              </a:rPr>
              <a:t>college</a:t>
            </a:r>
            <a:r>
              <a:rPr lang="zh-CN" altLang="en-US" sz="2400" dirty="0">
                <a:latin typeface="Tahoma" panose="020B0604030504040204" pitchFamily="34" charset="0"/>
                <a:ea typeface="宋体" panose="02010600030101010101" pitchFamily="2" charset="-122"/>
              </a:rPr>
              <a:t>数据库中利用</a:t>
            </a:r>
            <a:r>
              <a:rPr lang="en-US" altLang="zh-CN" sz="2400" dirty="0">
                <a:latin typeface="Tahoma" panose="020B0604030504040204" pitchFamily="34" charset="0"/>
                <a:ea typeface="宋体" panose="02010600030101010101" pitchFamily="2" charset="-122"/>
              </a:rPr>
              <a:t>teacher</a:t>
            </a:r>
            <a:r>
              <a:rPr lang="zh-CN" altLang="en-US" sz="2400" dirty="0">
                <a:latin typeface="Tahoma" panose="020B0604030504040204" pitchFamily="34" charset="0"/>
                <a:ea typeface="宋体" panose="02010600030101010101" pitchFamily="2" charset="-122"/>
              </a:rPr>
              <a:t>表创建一个名为</a:t>
            </a:r>
            <a:r>
              <a:rPr lang="en-US" altLang="zh-CN" sz="2400" dirty="0" err="1">
                <a:latin typeface="Tahoma" panose="020B0604030504040204" pitchFamily="34" charset="0"/>
                <a:ea typeface="宋体" panose="02010600030101010101" pitchFamily="2" charset="-122"/>
              </a:rPr>
              <a:t>t_profcnt_view</a:t>
            </a:r>
            <a:r>
              <a:rPr lang="zh-CN" altLang="en-US" sz="2400" dirty="0">
                <a:latin typeface="Tahoma" panose="020B0604030504040204" pitchFamily="34" charset="0"/>
                <a:ea typeface="宋体" panose="02010600030101010101" pitchFamily="2" charset="-122"/>
              </a:rPr>
              <a:t>的视图，视图的数据为分组统计出的不同职称的人数。</a:t>
            </a:r>
          </a:p>
          <a:p>
            <a:pPr>
              <a:lnSpc>
                <a:spcPct val="150000"/>
              </a:lnSpc>
              <a:buFontTx/>
              <a:buNone/>
            </a:pPr>
            <a:r>
              <a:rPr lang="en-US" altLang="zh-CN" sz="2400" dirty="0">
                <a:latin typeface="Tahoma" panose="020B0604030504040204" pitchFamily="34" charset="0"/>
                <a:ea typeface="宋体" panose="02010600030101010101" pitchFamily="2" charset="-122"/>
              </a:rPr>
              <a:t>CREATE VIEW </a:t>
            </a:r>
            <a:r>
              <a:rPr lang="en-US" altLang="zh-CN" sz="2400" dirty="0" err="1">
                <a:latin typeface="Tahoma" panose="020B0604030504040204" pitchFamily="34" charset="0"/>
                <a:ea typeface="宋体" panose="02010600030101010101" pitchFamily="2" charset="-122"/>
              </a:rPr>
              <a:t>t_profcnt_view</a:t>
            </a:r>
            <a:endParaRPr lang="en-US" altLang="zh-CN" sz="2400" dirty="0">
              <a:latin typeface="Tahoma" panose="020B0604030504040204" pitchFamily="34" charset="0"/>
              <a:ea typeface="宋体" panose="02010600030101010101" pitchFamily="2" charset="-122"/>
            </a:endParaRPr>
          </a:p>
          <a:p>
            <a:pPr>
              <a:lnSpc>
                <a:spcPct val="150000"/>
              </a:lnSpc>
              <a:buFontTx/>
              <a:buNone/>
            </a:pPr>
            <a:r>
              <a:rPr lang="en-US" altLang="zh-CN" sz="2400" dirty="0">
                <a:latin typeface="Tahoma" panose="020B0604030504040204" pitchFamily="34" charset="0"/>
                <a:ea typeface="宋体" panose="02010600030101010101" pitchFamily="2" charset="-122"/>
              </a:rPr>
              <a:t>AS</a:t>
            </a:r>
          </a:p>
          <a:p>
            <a:pPr>
              <a:lnSpc>
                <a:spcPct val="150000"/>
              </a:lnSpc>
              <a:buFontTx/>
              <a:buNone/>
            </a:pPr>
            <a:r>
              <a:rPr lang="en-US" altLang="zh-CN" sz="2400" dirty="0">
                <a:latin typeface="Tahoma" panose="020B0604030504040204" pitchFamily="34" charset="0"/>
                <a:ea typeface="宋体" panose="02010600030101010101" pitchFamily="2" charset="-122"/>
              </a:rPr>
              <a:t>SELECT prof , count(prof) as amount</a:t>
            </a:r>
          </a:p>
          <a:p>
            <a:pPr>
              <a:lnSpc>
                <a:spcPct val="150000"/>
              </a:lnSpc>
              <a:buFontTx/>
              <a:buNone/>
            </a:pPr>
            <a:r>
              <a:rPr lang="en-US" altLang="zh-CN" sz="2400" dirty="0">
                <a:latin typeface="Tahoma" panose="020B0604030504040204" pitchFamily="34" charset="0"/>
                <a:ea typeface="宋体" panose="02010600030101010101" pitchFamily="2" charset="-122"/>
              </a:rPr>
              <a:t>FROM teacher</a:t>
            </a:r>
          </a:p>
          <a:p>
            <a:pPr>
              <a:lnSpc>
                <a:spcPct val="150000"/>
              </a:lnSpc>
              <a:buFontTx/>
              <a:buNone/>
            </a:pPr>
            <a:r>
              <a:rPr lang="en-US" altLang="zh-CN" sz="2400" dirty="0">
                <a:latin typeface="Tahoma" panose="020B0604030504040204" pitchFamily="34" charset="0"/>
                <a:ea typeface="宋体" panose="02010600030101010101" pitchFamily="2" charset="-122"/>
              </a:rPr>
              <a:t>GROUP BY prof;</a:t>
            </a:r>
          </a:p>
          <a:p>
            <a:pPr lvl="1">
              <a:lnSpc>
                <a:spcPct val="150000"/>
              </a:lnSpc>
            </a:pPr>
            <a:r>
              <a:rPr lang="zh-CN" altLang="en-US" sz="2000" dirty="0">
                <a:latin typeface="Tahoma" panose="020B0604030504040204" pitchFamily="34" charset="0"/>
                <a:ea typeface="宋体" panose="02010600030101010101" pitchFamily="2" charset="-122"/>
              </a:rPr>
              <a:t>命令执行成功后，通过</a:t>
            </a:r>
            <a:r>
              <a:rPr lang="en-US" altLang="zh-CN" sz="2000" dirty="0">
                <a:latin typeface="Tahoma" panose="020B0604030504040204" pitchFamily="34" charset="0"/>
                <a:ea typeface="宋体" panose="02010600030101010101" pitchFamily="2" charset="-122"/>
              </a:rPr>
              <a:t>SELECT</a:t>
            </a:r>
            <a:r>
              <a:rPr lang="zh-CN" altLang="en-US" sz="2000" dirty="0">
                <a:latin typeface="Tahoma" panose="020B0604030504040204" pitchFamily="34" charset="0"/>
                <a:ea typeface="宋体" panose="02010600030101010101" pitchFamily="2" charset="-122"/>
              </a:rPr>
              <a:t>命令查询</a:t>
            </a:r>
            <a:r>
              <a:rPr lang="en-US" altLang="zh-CN" sz="2000" dirty="0" err="1">
                <a:latin typeface="Tahoma" panose="020B0604030504040204" pitchFamily="34" charset="0"/>
                <a:ea typeface="宋体" panose="02010600030101010101" pitchFamily="2" charset="-122"/>
              </a:rPr>
              <a:t>t_profcnt_view</a:t>
            </a:r>
            <a:r>
              <a:rPr lang="zh-CN" altLang="en-US" sz="2000" dirty="0">
                <a:latin typeface="Tahoma" panose="020B0604030504040204" pitchFamily="34" charset="0"/>
                <a:ea typeface="宋体" panose="02010600030101010101" pitchFamily="2" charset="-122"/>
              </a:rPr>
              <a:t>视图可以看到视图中的统计数据。此时如果</a:t>
            </a:r>
            <a:r>
              <a:rPr lang="zh-CN" altLang="en-US" sz="2000" dirty="0">
                <a:solidFill>
                  <a:srgbClr val="FF0000"/>
                </a:solidFill>
                <a:latin typeface="Tahoma" panose="020B0604030504040204" pitchFamily="34" charset="0"/>
                <a:ea typeface="宋体" panose="02010600030101010101" pitchFamily="2" charset="-122"/>
              </a:rPr>
              <a:t>想对该视图进行更新是不允许的，因为相应的更新命令无法被准确无误地变换成对基表数据的更新。</a:t>
            </a:r>
          </a:p>
        </p:txBody>
      </p:sp>
    </p:spTree>
    <p:extLst>
      <p:ext uri="{BB962C8B-B14F-4D97-AF65-F5344CB8AC3E}">
        <p14:creationId xmlns:p14="http://schemas.microsoft.com/office/powerpoint/2010/main" val="1420967587"/>
      </p:ext>
    </p:extLst>
  </p:cSld>
  <p:clrMapOvr>
    <a:masterClrMapping/>
  </p:clrMapOvr>
  <p:transition spd="slow">
    <p:wipe dir="r"/>
    <p:sndAc>
      <p:stSnd>
        <p:snd r:embed="rId2" name="arrow.wav"/>
      </p:stSnd>
    </p:sndAc>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5497222" y="838270"/>
            <a:ext cx="184731" cy="707886"/>
          </a:xfrm>
        </p:spPr>
        <p:txBody>
          <a:bodyPr/>
          <a:lstStyle/>
          <a:p>
            <a:endParaRPr lang="zh-CN" altLang="en-US" smtClean="0">
              <a:latin typeface="Times New Roman" panose="02020603050405020304" pitchFamily="18" charset="0"/>
              <a:ea typeface="宋体" panose="02010600030101010101" pitchFamily="2" charset="-122"/>
            </a:endParaRPr>
          </a:p>
        </p:txBody>
      </p:sp>
      <p:sp>
        <p:nvSpPr>
          <p:cNvPr id="60419" name="Rectangle 3"/>
          <p:cNvSpPr>
            <a:spLocks noGrp="1" noChangeArrowheads="1"/>
          </p:cNvSpPr>
          <p:nvPr>
            <p:ph type="body" idx="4294967295"/>
          </p:nvPr>
        </p:nvSpPr>
        <p:spPr/>
        <p:txBody>
          <a:bodyPr/>
          <a:lstStyle/>
          <a:p>
            <a:endParaRPr lang="zh-CN" altLang="en-US" smtClean="0">
              <a:latin typeface="Tahoma" panose="020B0604030504040204" pitchFamily="34" charset="0"/>
              <a:ea typeface="宋体" panose="02010600030101010101" pitchFamily="2" charset="-122"/>
            </a:endParaRPr>
          </a:p>
        </p:txBody>
      </p:sp>
      <p:pic>
        <p:nvPicPr>
          <p:cNvPr id="604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376" y="859052"/>
            <a:ext cx="10969755" cy="4464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6362128"/>
      </p:ext>
    </p:extLst>
  </p:cSld>
  <p:clrMapOvr>
    <a:masterClrMapping/>
  </p:clrMapOvr>
  <p:transition spd="slow">
    <p:wipe dir="r"/>
    <p:sndAc>
      <p:stSnd>
        <p:snd r:embed="rId2" name="arrow.wav"/>
      </p:st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body" idx="4294967295"/>
          </p:nvPr>
        </p:nvSpPr>
        <p:spPr>
          <a:xfrm>
            <a:off x="1055440" y="476672"/>
            <a:ext cx="9793088" cy="6264696"/>
          </a:xfrm>
        </p:spPr>
        <p:txBody>
          <a:bodyPr>
            <a:normAutofit lnSpcReduction="10000"/>
          </a:bodyPr>
          <a:lstStyle/>
          <a:p>
            <a:pPr>
              <a:lnSpc>
                <a:spcPct val="150000"/>
              </a:lnSpc>
            </a:pPr>
            <a:r>
              <a:rPr lang="en-US" altLang="zh-CN" sz="2800" dirty="0">
                <a:latin typeface="Tahoma" panose="020B0604030504040204" pitchFamily="34" charset="0"/>
                <a:ea typeface="宋体" panose="02010600030101010101" pitchFamily="2" charset="-122"/>
              </a:rPr>
              <a:t>【</a:t>
            </a:r>
            <a:r>
              <a:rPr lang="zh-CN" altLang="en-US" sz="2800" dirty="0">
                <a:latin typeface="Tahoma" panose="020B0604030504040204" pitchFamily="34" charset="0"/>
                <a:ea typeface="宋体" panose="02010600030101010101" pitchFamily="2" charset="-122"/>
              </a:rPr>
              <a:t>例</a:t>
            </a:r>
            <a:r>
              <a:rPr lang="en-US" altLang="zh-CN" sz="2800" dirty="0">
                <a:latin typeface="Tahoma" panose="020B0604030504040204" pitchFamily="34" charset="0"/>
                <a:ea typeface="宋体" panose="02010600030101010101" pitchFamily="2" charset="-122"/>
              </a:rPr>
              <a:t>5-20】</a:t>
            </a:r>
            <a:r>
              <a:rPr lang="zh-CN" altLang="en-US" sz="2800" dirty="0">
                <a:latin typeface="Tahoma" panose="020B0604030504040204" pitchFamily="34" charset="0"/>
                <a:ea typeface="宋体" panose="02010600030101010101" pitchFamily="2" charset="-122"/>
              </a:rPr>
              <a:t>根据例</a:t>
            </a:r>
            <a:r>
              <a:rPr lang="en-US" altLang="zh-CN" sz="2800" dirty="0">
                <a:latin typeface="Tahoma" panose="020B0604030504040204" pitchFamily="34" charset="0"/>
                <a:ea typeface="宋体" panose="02010600030101010101" pitchFamily="2" charset="-122"/>
              </a:rPr>
              <a:t>5-9</a:t>
            </a:r>
            <a:r>
              <a:rPr lang="zh-CN" altLang="en-US" sz="2800" dirty="0">
                <a:latin typeface="Tahoma" panose="020B0604030504040204" pitchFamily="34" charset="0"/>
                <a:ea typeface="宋体" panose="02010600030101010101" pitchFamily="2" charset="-122"/>
              </a:rPr>
              <a:t>创建的信息管理系老师的视图</a:t>
            </a:r>
            <a:r>
              <a:rPr lang="en-US" altLang="zh-CN" sz="2800" dirty="0" err="1">
                <a:latin typeface="Tahoma" panose="020B0604030504040204" pitchFamily="34" charset="0"/>
                <a:ea typeface="宋体" panose="02010600030101010101" pitchFamily="2" charset="-122"/>
              </a:rPr>
              <a:t>t_inf_view</a:t>
            </a:r>
            <a:r>
              <a:rPr lang="zh-CN" altLang="en-US" sz="2800" dirty="0">
                <a:latin typeface="Tahoma" panose="020B0604030504040204" pitchFamily="34" charset="0"/>
                <a:ea typeface="宋体" panose="02010600030101010101" pitchFamily="2" charset="-122"/>
              </a:rPr>
              <a:t>，新增一位计算机系的名叫“王铭”的男老师，工号为</a:t>
            </a:r>
            <a:r>
              <a:rPr lang="en-US" altLang="zh-CN" sz="2800" dirty="0">
                <a:latin typeface="Tahoma" panose="020B0604030504040204" pitchFamily="34" charset="0"/>
                <a:ea typeface="宋体" panose="02010600030101010101" pitchFamily="2" charset="-122"/>
              </a:rPr>
              <a:t>T22</a:t>
            </a:r>
            <a:r>
              <a:rPr lang="zh-CN" altLang="en-US" sz="2800" dirty="0">
                <a:latin typeface="Tahoma" panose="020B0604030504040204" pitchFamily="34" charset="0"/>
                <a:ea typeface="宋体" panose="02010600030101010101" pitchFamily="2" charset="-122"/>
              </a:rPr>
              <a:t>，职称为“助教”，工资</a:t>
            </a:r>
            <a:r>
              <a:rPr lang="en-US" altLang="zh-CN" sz="2800" dirty="0">
                <a:latin typeface="Tahoma" panose="020B0604030504040204" pitchFamily="34" charset="0"/>
                <a:ea typeface="宋体" panose="02010600030101010101" pitchFamily="2" charset="-122"/>
              </a:rPr>
              <a:t>3500</a:t>
            </a:r>
            <a:r>
              <a:rPr lang="zh-CN" altLang="en-US" sz="2800" dirty="0">
                <a:latin typeface="Tahoma" panose="020B0604030504040204" pitchFamily="34" charset="0"/>
                <a:ea typeface="宋体" panose="02010600030101010101" pitchFamily="2" charset="-122"/>
              </a:rPr>
              <a:t>，补助</a:t>
            </a:r>
            <a:r>
              <a:rPr lang="en-US" altLang="zh-CN" sz="2800" dirty="0">
                <a:latin typeface="Tahoma" panose="020B0604030504040204" pitchFamily="34" charset="0"/>
                <a:ea typeface="宋体" panose="02010600030101010101" pitchFamily="2" charset="-122"/>
              </a:rPr>
              <a:t>450</a:t>
            </a:r>
            <a:r>
              <a:rPr lang="zh-CN" altLang="en-US" sz="2800" dirty="0">
                <a:latin typeface="Tahoma" panose="020B0604030504040204" pitchFamily="34" charset="0"/>
                <a:ea typeface="宋体" panose="02010600030101010101" pitchFamily="2" charset="-122"/>
              </a:rPr>
              <a:t>。</a:t>
            </a:r>
          </a:p>
          <a:p>
            <a:pPr>
              <a:lnSpc>
                <a:spcPct val="150000"/>
              </a:lnSpc>
              <a:buFontTx/>
              <a:buNone/>
            </a:pPr>
            <a:r>
              <a:rPr lang="en-US" altLang="zh-CN" sz="2800" dirty="0">
                <a:latin typeface="Tahoma" panose="020B0604030504040204" pitchFamily="34" charset="0"/>
                <a:ea typeface="宋体" panose="02010600030101010101" pitchFamily="2" charset="-122"/>
              </a:rPr>
              <a:t>INSERT INTO </a:t>
            </a:r>
            <a:r>
              <a:rPr lang="en-US" altLang="zh-CN" sz="2800" dirty="0" err="1">
                <a:latin typeface="Tahoma" panose="020B0604030504040204" pitchFamily="34" charset="0"/>
                <a:ea typeface="宋体" panose="02010600030101010101" pitchFamily="2" charset="-122"/>
              </a:rPr>
              <a:t>t_inf_view</a:t>
            </a:r>
            <a:endParaRPr lang="en-US" altLang="zh-CN" sz="2800" dirty="0">
              <a:latin typeface="Tahoma" panose="020B0604030504040204" pitchFamily="34" charset="0"/>
              <a:ea typeface="宋体" panose="02010600030101010101" pitchFamily="2" charset="-122"/>
            </a:endParaRPr>
          </a:p>
          <a:p>
            <a:pPr>
              <a:lnSpc>
                <a:spcPct val="150000"/>
              </a:lnSpc>
              <a:buFontTx/>
              <a:buNone/>
            </a:pPr>
            <a:r>
              <a:rPr lang="en-US" altLang="zh-CN" sz="2800" dirty="0">
                <a:latin typeface="Tahoma" panose="020B0604030504040204" pitchFamily="34" charset="0"/>
                <a:ea typeface="宋体" panose="02010600030101010101" pitchFamily="2" charset="-122"/>
              </a:rPr>
              <a:t>VALUES('T22','</a:t>
            </a:r>
            <a:r>
              <a:rPr lang="zh-CN" altLang="en-US" sz="2800" dirty="0">
                <a:latin typeface="Tahoma" panose="020B0604030504040204" pitchFamily="34" charset="0"/>
                <a:ea typeface="宋体" panose="02010600030101010101" pitchFamily="2" charset="-122"/>
              </a:rPr>
              <a:t>王铭</a:t>
            </a:r>
            <a:r>
              <a:rPr lang="en-US" altLang="zh-CN" sz="2800" dirty="0">
                <a:latin typeface="Tahoma" panose="020B0604030504040204" pitchFamily="34" charset="0"/>
                <a:ea typeface="宋体" panose="02010600030101010101" pitchFamily="2" charset="-122"/>
              </a:rPr>
              <a:t>','</a:t>
            </a:r>
            <a:r>
              <a:rPr lang="zh-CN" altLang="en-US" sz="2800" dirty="0">
                <a:latin typeface="Tahoma" panose="020B0604030504040204" pitchFamily="34" charset="0"/>
                <a:ea typeface="宋体" panose="02010600030101010101" pitchFamily="2" charset="-122"/>
              </a:rPr>
              <a:t>男</a:t>
            </a:r>
            <a:r>
              <a:rPr lang="en-US" altLang="zh-CN" sz="2800" dirty="0">
                <a:latin typeface="Tahoma" panose="020B0604030504040204" pitchFamily="34" charset="0"/>
                <a:ea typeface="宋体" panose="02010600030101010101" pitchFamily="2" charset="-122"/>
              </a:rPr>
              <a:t>','</a:t>
            </a:r>
            <a:r>
              <a:rPr lang="zh-CN" altLang="en-US" sz="2800" dirty="0">
                <a:latin typeface="Tahoma" panose="020B0604030504040204" pitchFamily="34" charset="0"/>
                <a:ea typeface="宋体" panose="02010600030101010101" pitchFamily="2" charset="-122"/>
              </a:rPr>
              <a:t>助教</a:t>
            </a:r>
            <a:r>
              <a:rPr lang="en-US" altLang="zh-CN" sz="2800" dirty="0">
                <a:latin typeface="Tahoma" panose="020B0604030504040204" pitchFamily="34" charset="0"/>
                <a:ea typeface="宋体" panose="02010600030101010101" pitchFamily="2" charset="-122"/>
              </a:rPr>
              <a:t>',3500,450,'</a:t>
            </a:r>
            <a:r>
              <a:rPr lang="zh-CN" altLang="en-US" sz="2800" dirty="0">
                <a:latin typeface="Tahoma" panose="020B0604030504040204" pitchFamily="34" charset="0"/>
                <a:ea typeface="宋体" panose="02010600030101010101" pitchFamily="2" charset="-122"/>
              </a:rPr>
              <a:t>计算机</a:t>
            </a:r>
            <a:r>
              <a:rPr lang="en-US" altLang="zh-CN" sz="2800" dirty="0">
                <a:latin typeface="Tahoma" panose="020B0604030504040204" pitchFamily="34" charset="0"/>
                <a:ea typeface="宋体" panose="02010600030101010101" pitchFamily="2" charset="-122"/>
              </a:rPr>
              <a:t>');</a:t>
            </a:r>
          </a:p>
          <a:p>
            <a:pPr lvl="1">
              <a:lnSpc>
                <a:spcPct val="150000"/>
              </a:lnSpc>
            </a:pPr>
            <a:r>
              <a:rPr lang="zh-CN" altLang="en-US" sz="2400" dirty="0">
                <a:latin typeface="Tahoma" panose="020B0604030504040204" pitchFamily="34" charset="0"/>
                <a:ea typeface="宋体" panose="02010600030101010101" pitchFamily="2" charset="-122"/>
              </a:rPr>
              <a:t>该命令会被成功地执行，并且通过</a:t>
            </a:r>
            <a:r>
              <a:rPr lang="en-US" altLang="zh-CN" sz="2400" dirty="0">
                <a:latin typeface="Tahoma" panose="020B0604030504040204" pitchFamily="34" charset="0"/>
                <a:ea typeface="宋体" panose="02010600030101010101" pitchFamily="2" charset="-122"/>
              </a:rPr>
              <a:t>SELECT</a:t>
            </a:r>
            <a:r>
              <a:rPr lang="zh-CN" altLang="en-US" sz="2400" dirty="0">
                <a:latin typeface="Tahoma" panose="020B0604030504040204" pitchFamily="34" charset="0"/>
                <a:ea typeface="宋体" panose="02010600030101010101" pitchFamily="2" charset="-122"/>
              </a:rPr>
              <a:t>命令查询</a:t>
            </a:r>
            <a:r>
              <a:rPr lang="en-US" altLang="zh-CN" sz="2400" dirty="0">
                <a:latin typeface="Tahoma" panose="020B0604030504040204" pitchFamily="34" charset="0"/>
                <a:ea typeface="宋体" panose="02010600030101010101" pitchFamily="2" charset="-122"/>
              </a:rPr>
              <a:t>teacher</a:t>
            </a:r>
            <a:r>
              <a:rPr lang="zh-CN" altLang="en-US" sz="2400" dirty="0">
                <a:latin typeface="Tahoma" panose="020B0604030504040204" pitchFamily="34" charset="0"/>
                <a:ea typeface="宋体" panose="02010600030101010101" pitchFamily="2" charset="-122"/>
              </a:rPr>
              <a:t>表发现增加了王铭老师的数据。但这样的“成功”操作却产生了一个莫名其妙的逻辑：计算机系的老师可以通过信息管理系老师的视图进行更新！</a:t>
            </a:r>
            <a:r>
              <a:rPr lang="zh-CN" altLang="en-US" sz="2400" dirty="0">
                <a:solidFill>
                  <a:srgbClr val="FF0000"/>
                </a:solidFill>
                <a:latin typeface="Tahoma" panose="020B0604030504040204" pitchFamily="34" charset="0"/>
                <a:ea typeface="宋体" panose="02010600030101010101" pitchFamily="2" charset="-122"/>
              </a:rPr>
              <a:t>而产生这种结果的原因就是</a:t>
            </a:r>
            <a:r>
              <a:rPr lang="en-US" altLang="zh-CN" sz="2400" dirty="0" err="1">
                <a:solidFill>
                  <a:srgbClr val="FF0000"/>
                </a:solidFill>
                <a:latin typeface="Tahoma" panose="020B0604030504040204" pitchFamily="34" charset="0"/>
                <a:ea typeface="宋体" panose="02010600030101010101" pitchFamily="2" charset="-122"/>
              </a:rPr>
              <a:t>t_inf_view</a:t>
            </a:r>
            <a:r>
              <a:rPr lang="zh-CN" altLang="en-US" sz="2400" dirty="0">
                <a:solidFill>
                  <a:srgbClr val="FF0000"/>
                </a:solidFill>
                <a:latin typeface="Tahoma" panose="020B0604030504040204" pitchFamily="34" charset="0"/>
                <a:ea typeface="宋体" panose="02010600030101010101" pitchFamily="2" charset="-122"/>
              </a:rPr>
              <a:t>视图的定义中并没有要求对数据更新进行</a:t>
            </a:r>
            <a:r>
              <a:rPr lang="en-US" altLang="zh-CN" sz="2400" dirty="0">
                <a:solidFill>
                  <a:srgbClr val="FF0000"/>
                </a:solidFill>
                <a:latin typeface="Tahoma" panose="020B0604030504040204" pitchFamily="34" charset="0"/>
                <a:ea typeface="宋体" panose="02010600030101010101" pitchFamily="2" charset="-122"/>
              </a:rPr>
              <a:t>WHERE</a:t>
            </a:r>
            <a:r>
              <a:rPr lang="zh-CN" altLang="en-US" sz="2400" dirty="0">
                <a:solidFill>
                  <a:srgbClr val="FF0000"/>
                </a:solidFill>
                <a:latin typeface="Tahoma" panose="020B0604030504040204" pitchFamily="34" charset="0"/>
                <a:ea typeface="宋体" panose="02010600030101010101" pitchFamily="2" charset="-122"/>
              </a:rPr>
              <a:t>条件的检查。</a:t>
            </a:r>
          </a:p>
        </p:txBody>
      </p:sp>
    </p:spTree>
    <p:extLst>
      <p:ext uri="{BB962C8B-B14F-4D97-AF65-F5344CB8AC3E}">
        <p14:creationId xmlns:p14="http://schemas.microsoft.com/office/powerpoint/2010/main" val="3064712621"/>
      </p:ext>
    </p:extLst>
  </p:cSld>
  <p:clrMapOvr>
    <a:masterClrMapping/>
  </p:clrMapOvr>
  <p:transition spd="slow">
    <p:wipe dir="r"/>
    <p:sndAc>
      <p:stSnd>
        <p:snd r:embed="rId2" name="arrow.wav"/>
      </p:stSnd>
    </p:sndAc>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body" idx="4294967295"/>
          </p:nvPr>
        </p:nvSpPr>
        <p:spPr>
          <a:xfrm>
            <a:off x="911424" y="548680"/>
            <a:ext cx="10297144" cy="5976664"/>
          </a:xfrm>
        </p:spPr>
        <p:txBody>
          <a:bodyPr>
            <a:normAutofit/>
          </a:bodyPr>
          <a:lstStyle/>
          <a:p>
            <a:pPr>
              <a:lnSpc>
                <a:spcPct val="150000"/>
              </a:lnSpc>
            </a:pPr>
            <a:r>
              <a:rPr lang="zh-CN" altLang="en-US" sz="2800">
                <a:latin typeface="Tahoma" panose="020B0604030504040204" pitchFamily="34" charset="0"/>
                <a:ea typeface="宋体" panose="02010600030101010101" pitchFamily="2" charset="-122"/>
              </a:rPr>
              <a:t>通过带</a:t>
            </a:r>
            <a:r>
              <a:rPr lang="en-US" altLang="zh-CN" sz="2800">
                <a:solidFill>
                  <a:srgbClr val="FF0000"/>
                </a:solidFill>
                <a:latin typeface="Tahoma" panose="020B0604030504040204" pitchFamily="34" charset="0"/>
                <a:ea typeface="宋体" panose="02010600030101010101" pitchFamily="2" charset="-122"/>
              </a:rPr>
              <a:t>WITH CHECK OPTION</a:t>
            </a:r>
            <a:r>
              <a:rPr lang="zh-CN" altLang="en-US" sz="2800">
                <a:latin typeface="Tahoma" panose="020B0604030504040204" pitchFamily="34" charset="0"/>
                <a:ea typeface="宋体" panose="02010600030101010101" pitchFamily="2" charset="-122"/>
              </a:rPr>
              <a:t>短语的</a:t>
            </a:r>
            <a:r>
              <a:rPr lang="en-US" altLang="zh-CN" sz="2800">
                <a:latin typeface="Tahoma" panose="020B0604030504040204" pitchFamily="34" charset="0"/>
                <a:ea typeface="宋体" panose="02010600030101010101" pitchFamily="2" charset="-122"/>
              </a:rPr>
              <a:t>ALTER VIEW</a:t>
            </a:r>
            <a:r>
              <a:rPr lang="zh-CN" altLang="en-US" sz="2800">
                <a:latin typeface="Tahoma" panose="020B0604030504040204" pitchFamily="34" charset="0"/>
                <a:ea typeface="宋体" panose="02010600030101010101" pitchFamily="2" charset="-122"/>
              </a:rPr>
              <a:t>命令修改</a:t>
            </a:r>
            <a:r>
              <a:rPr lang="en-US" altLang="zh-CN" sz="2800">
                <a:latin typeface="Tahoma" panose="020B0604030504040204" pitchFamily="34" charset="0"/>
                <a:ea typeface="宋体" panose="02010600030101010101" pitchFamily="2" charset="-122"/>
              </a:rPr>
              <a:t>t_inf_view</a:t>
            </a:r>
            <a:r>
              <a:rPr lang="zh-CN" altLang="en-US" sz="2800">
                <a:latin typeface="Tahoma" panose="020B0604030504040204" pitchFamily="34" charset="0"/>
                <a:ea typeface="宋体" panose="02010600030101010101" pitchFamily="2" charset="-122"/>
              </a:rPr>
              <a:t>视图的定义，使其在更新时必须检查数据是否满足视图中的</a:t>
            </a:r>
            <a:r>
              <a:rPr lang="en-US" altLang="zh-CN" sz="2800">
                <a:latin typeface="Tahoma" panose="020B0604030504040204" pitchFamily="34" charset="0"/>
                <a:ea typeface="宋体" panose="02010600030101010101" pitchFamily="2" charset="-122"/>
              </a:rPr>
              <a:t>SELECT</a:t>
            </a:r>
            <a:r>
              <a:rPr lang="zh-CN" altLang="en-US" sz="2800">
                <a:latin typeface="Tahoma" panose="020B0604030504040204" pitchFamily="34" charset="0"/>
                <a:ea typeface="宋体" panose="02010600030101010101" pitchFamily="2" charset="-122"/>
              </a:rPr>
              <a:t>语句的</a:t>
            </a:r>
            <a:r>
              <a:rPr lang="en-US" altLang="zh-CN" sz="2800">
                <a:latin typeface="Tahoma" panose="020B0604030504040204" pitchFamily="34" charset="0"/>
                <a:ea typeface="宋体" panose="02010600030101010101" pitchFamily="2" charset="-122"/>
              </a:rPr>
              <a:t>WHERE</a:t>
            </a:r>
            <a:r>
              <a:rPr lang="zh-CN" altLang="en-US" sz="2800">
                <a:latin typeface="Tahoma" panose="020B0604030504040204" pitchFamily="34" charset="0"/>
                <a:ea typeface="宋体" panose="02010600030101010101" pitchFamily="2" charset="-122"/>
              </a:rPr>
              <a:t>条件：</a:t>
            </a:r>
          </a:p>
          <a:p>
            <a:pPr>
              <a:lnSpc>
                <a:spcPct val="150000"/>
              </a:lnSpc>
              <a:buFontTx/>
              <a:buNone/>
            </a:pPr>
            <a:r>
              <a:rPr lang="en-US" altLang="zh-CN" sz="2800">
                <a:latin typeface="Tahoma" panose="020B0604030504040204" pitchFamily="34" charset="0"/>
                <a:ea typeface="宋体" panose="02010600030101010101" pitchFamily="2" charset="-122"/>
              </a:rPr>
              <a:t>ALTER VIEW t_inf_view</a:t>
            </a:r>
          </a:p>
          <a:p>
            <a:pPr>
              <a:lnSpc>
                <a:spcPct val="150000"/>
              </a:lnSpc>
              <a:buFontTx/>
              <a:buNone/>
            </a:pPr>
            <a:r>
              <a:rPr lang="en-US" altLang="zh-CN" sz="2800">
                <a:latin typeface="Tahoma" panose="020B0604030504040204" pitchFamily="34" charset="0"/>
                <a:ea typeface="宋体" panose="02010600030101010101" pitchFamily="2" charset="-122"/>
              </a:rPr>
              <a:t>AS</a:t>
            </a:r>
          </a:p>
          <a:p>
            <a:pPr>
              <a:lnSpc>
                <a:spcPct val="150000"/>
              </a:lnSpc>
              <a:buFontTx/>
              <a:buNone/>
            </a:pPr>
            <a:r>
              <a:rPr lang="en-US" altLang="zh-CN" sz="2800">
                <a:latin typeface="Tahoma" panose="020B0604030504040204" pitchFamily="34" charset="0"/>
                <a:ea typeface="宋体" panose="02010600030101010101" pitchFamily="2" charset="-122"/>
              </a:rPr>
              <a:t>SELECT * FROM teacher WHERE Dep='</a:t>
            </a:r>
            <a:r>
              <a:rPr lang="zh-CN" altLang="en-US" sz="2800">
                <a:latin typeface="Tahoma" panose="020B0604030504040204" pitchFamily="34" charset="0"/>
                <a:ea typeface="宋体" panose="02010600030101010101" pitchFamily="2" charset="-122"/>
              </a:rPr>
              <a:t>信息管理</a:t>
            </a:r>
            <a:r>
              <a:rPr lang="en-US" altLang="zh-CN" sz="2800">
                <a:latin typeface="Tahoma" panose="020B0604030504040204" pitchFamily="34" charset="0"/>
                <a:ea typeface="宋体" panose="02010600030101010101" pitchFamily="2" charset="-122"/>
              </a:rPr>
              <a:t>'</a:t>
            </a:r>
          </a:p>
          <a:p>
            <a:pPr>
              <a:lnSpc>
                <a:spcPct val="150000"/>
              </a:lnSpc>
              <a:buFontTx/>
              <a:buNone/>
            </a:pPr>
            <a:r>
              <a:rPr lang="en-US" altLang="zh-CN" sz="2800">
                <a:solidFill>
                  <a:srgbClr val="FF0000"/>
                </a:solidFill>
                <a:latin typeface="Tahoma" panose="020B0604030504040204" pitchFamily="34" charset="0"/>
                <a:ea typeface="宋体" panose="02010600030101010101" pitchFamily="2" charset="-122"/>
              </a:rPr>
              <a:t>WITH CHECK OPTION</a:t>
            </a:r>
            <a:r>
              <a:rPr lang="en-US" altLang="zh-CN" sz="2800">
                <a:latin typeface="Tahoma" panose="020B0604030504040204" pitchFamily="34" charset="0"/>
                <a:ea typeface="宋体" panose="02010600030101010101" pitchFamily="2" charset="-122"/>
              </a:rPr>
              <a:t>;</a:t>
            </a:r>
            <a:endParaRPr lang="zh-CN" altLang="en-US" sz="280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50878721"/>
      </p:ext>
    </p:extLst>
  </p:cSld>
  <p:clrMapOvr>
    <a:masterClrMapping/>
  </p:clrMapOvr>
  <p:transition spd="slow">
    <p:wipe dir="r"/>
    <p:sndAc>
      <p:stSnd>
        <p:snd r:embed="rId2" name="arrow.wav"/>
      </p:stSnd>
    </p:sndAc>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视图的作用</a:t>
            </a:r>
            <a:endParaRPr lang="zh-CN" altLang="en-US" sz="4000" b="1" dirty="0">
              <a:solidFill>
                <a:srgbClr val="FFFFCC"/>
              </a:solidFill>
              <a:effectLst>
                <a:outerShdw blurRad="38100" dist="38100" dir="2700000" algn="tl">
                  <a:srgbClr val="000000"/>
                </a:outerShdw>
              </a:effectLst>
              <a:cs typeface="+mn-cs"/>
            </a:endParaRPr>
          </a:p>
        </p:txBody>
      </p:sp>
      <p:sp>
        <p:nvSpPr>
          <p:cNvPr id="19" name="Rectangle 4">
            <a:extLst>
              <a:ext uri="{FF2B5EF4-FFF2-40B4-BE49-F238E27FC236}">
                <a16:creationId xmlns:a16="http://schemas.microsoft.com/office/drawing/2014/main" id="{3FC47D19-0921-4D36-AC30-B1F81FB674DF}"/>
              </a:ext>
            </a:extLst>
          </p:cNvPr>
          <p:cNvSpPr txBox="1">
            <a:spLocks noChangeArrowheads="1"/>
          </p:cNvSpPr>
          <p:nvPr/>
        </p:nvSpPr>
        <p:spPr>
          <a:xfrm>
            <a:off x="479376" y="980728"/>
            <a:ext cx="11377264" cy="5400600"/>
          </a:xfrm>
          <a:prstGeom prst="rect">
            <a:avLst/>
          </a:prstGeom>
          <a:no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baseline="0">
                <a:solidFill>
                  <a:schemeClr val="bg1"/>
                </a:solidFill>
                <a:latin typeface="Arial" pitchFamily="34" charset="0"/>
                <a:ea typeface="微软雅黑" pitchFamily="34" charset="-122"/>
                <a:cs typeface="+mn-cs"/>
              </a:defRPr>
            </a:lvl1pPr>
            <a:lvl2pPr marL="742950" indent="-285750" algn="l" defTabSz="914400" rtl="0" eaLnBrk="1" latinLnBrk="0" hangingPunct="1">
              <a:spcBef>
                <a:spcPct val="20000"/>
              </a:spcBef>
              <a:buFont typeface="Arial" pitchFamily="34" charset="0"/>
              <a:buChar char="–"/>
              <a:defRPr sz="2800" kern="1200" baseline="0">
                <a:solidFill>
                  <a:schemeClr val="bg1"/>
                </a:solidFill>
                <a:latin typeface="Arial" pitchFamily="34" charset="0"/>
                <a:ea typeface="微软雅黑" pitchFamily="34" charset="-122"/>
                <a:cs typeface="+mn-cs"/>
              </a:defRPr>
            </a:lvl2pPr>
            <a:lvl3pPr marL="1143000" indent="-228600" algn="l" defTabSz="914400" rtl="0" eaLnBrk="1" latinLnBrk="0" hangingPunct="1">
              <a:spcBef>
                <a:spcPct val="20000"/>
              </a:spcBef>
              <a:buFont typeface="Arial" pitchFamily="34" charset="0"/>
              <a:buChar char="•"/>
              <a:defRPr sz="2400" kern="1200" baseline="0">
                <a:solidFill>
                  <a:schemeClr val="bg1"/>
                </a:solidFill>
                <a:latin typeface="Arial" pitchFamily="34" charset="0"/>
                <a:ea typeface="微软雅黑" pitchFamily="34" charset="-122"/>
                <a:cs typeface="+mn-cs"/>
              </a:defRPr>
            </a:lvl3pPr>
            <a:lvl4pPr marL="16002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4pPr>
            <a:lvl5pPr marL="2057400" indent="-228600" algn="l" defTabSz="914400" rtl="0" eaLnBrk="1" latinLnBrk="0" hangingPunct="1">
              <a:spcBef>
                <a:spcPct val="20000"/>
              </a:spcBef>
              <a:buFont typeface="Arial" pitchFamily="34" charset="0"/>
              <a:buChar char="»"/>
              <a:defRPr sz="2000" kern="1200" baseline="0">
                <a:solidFill>
                  <a:schemeClr val="bg1"/>
                </a:solidFill>
                <a:latin typeface="Arial" pitchFamily="34" charset="0"/>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ct val="110000"/>
              </a:lnSpc>
              <a:spcBef>
                <a:spcPts val="3000"/>
              </a:spcBef>
              <a:spcAft>
                <a:spcPts val="0"/>
              </a:spcAft>
              <a:buSzTx/>
            </a:pPr>
            <a:r>
              <a:rPr kumimoji="0" lang="zh-CN" altLang="en-US" dirty="0">
                <a:effectLst/>
                <a:latin typeface="宋体" pitchFamily="2" charset="-122"/>
              </a:rPr>
              <a:t>视图可以屏蔽数据查询的</a:t>
            </a:r>
            <a:r>
              <a:rPr kumimoji="0" lang="zh-CN" altLang="en-US" dirty="0">
                <a:solidFill>
                  <a:srgbClr val="C00000"/>
                </a:solidFill>
                <a:effectLst/>
                <a:latin typeface="宋体" pitchFamily="2" charset="-122"/>
              </a:rPr>
              <a:t>复杂性</a:t>
            </a:r>
            <a:r>
              <a:rPr kumimoji="0" lang="zh-CN" altLang="en-US" dirty="0">
                <a:effectLst/>
                <a:latin typeface="宋体" pitchFamily="2" charset="-122"/>
              </a:rPr>
              <a:t>，</a:t>
            </a:r>
            <a:r>
              <a:rPr lang="zh-CN" altLang="en-US" dirty="0">
                <a:effectLst/>
              </a:rPr>
              <a:t>一次建立便可长期使用，可以大大简化用户对数据库的操作</a:t>
            </a:r>
            <a:r>
              <a:rPr lang="en-US" altLang="zh-CN" dirty="0">
                <a:effectLst/>
                <a:latin typeface="楷体_GB2312" pitchFamily="49" charset="-122"/>
              </a:rPr>
              <a:t>;</a:t>
            </a:r>
          </a:p>
          <a:p>
            <a:pPr fontAlgn="auto">
              <a:lnSpc>
                <a:spcPct val="110000"/>
              </a:lnSpc>
              <a:spcBef>
                <a:spcPts val="3000"/>
              </a:spcBef>
              <a:spcAft>
                <a:spcPts val="0"/>
              </a:spcAft>
              <a:buSzTx/>
            </a:pPr>
            <a:r>
              <a:rPr lang="zh-CN" altLang="en-US" dirty="0">
                <a:effectLst/>
              </a:rPr>
              <a:t>对不同的用户可以为其建立对数据库中同一数据对象的不同视图，即让用户可以从</a:t>
            </a:r>
            <a:r>
              <a:rPr lang="zh-CN" altLang="en-US" dirty="0">
                <a:solidFill>
                  <a:srgbClr val="C00000"/>
                </a:solidFill>
                <a:effectLst/>
              </a:rPr>
              <a:t>多种角度观察和使用数据库中的数据</a:t>
            </a:r>
            <a:r>
              <a:rPr lang="zh-CN" altLang="en-US" dirty="0">
                <a:effectLst/>
              </a:rPr>
              <a:t>；</a:t>
            </a:r>
            <a:endParaRPr lang="en-US" altLang="zh-CN" dirty="0">
              <a:effectLst/>
            </a:endParaRPr>
          </a:p>
          <a:p>
            <a:pPr fontAlgn="auto">
              <a:lnSpc>
                <a:spcPct val="110000"/>
              </a:lnSpc>
              <a:spcBef>
                <a:spcPts val="3000"/>
              </a:spcBef>
              <a:spcAft>
                <a:spcPts val="0"/>
              </a:spcAft>
              <a:buSzTx/>
            </a:pPr>
            <a:r>
              <a:rPr lang="zh-CN" altLang="en-US" dirty="0">
                <a:effectLst/>
              </a:rPr>
              <a:t>可以通过授权机制实施视图的</a:t>
            </a:r>
            <a:r>
              <a:rPr lang="zh-CN" altLang="en-US" dirty="0">
                <a:solidFill>
                  <a:srgbClr val="C00000"/>
                </a:solidFill>
                <a:effectLst/>
              </a:rPr>
              <a:t>权限分配</a:t>
            </a:r>
            <a:r>
              <a:rPr lang="zh-CN" altLang="en-US" dirty="0">
                <a:effectLst/>
              </a:rPr>
              <a:t>，从而使视图可以定制不同用户对数据的</a:t>
            </a:r>
            <a:r>
              <a:rPr lang="zh-CN" altLang="en-US" dirty="0">
                <a:solidFill>
                  <a:srgbClr val="C00000"/>
                </a:solidFill>
                <a:effectLst/>
              </a:rPr>
              <a:t>访问权限</a:t>
            </a:r>
            <a:r>
              <a:rPr lang="zh-CN" altLang="en-US" dirty="0">
                <a:effectLst/>
              </a:rPr>
              <a:t>；</a:t>
            </a:r>
          </a:p>
          <a:p>
            <a:pPr fontAlgn="auto">
              <a:lnSpc>
                <a:spcPct val="110000"/>
              </a:lnSpc>
              <a:spcBef>
                <a:spcPts val="3000"/>
              </a:spcBef>
              <a:spcAft>
                <a:spcPts val="0"/>
              </a:spcAft>
              <a:buSzTx/>
            </a:pPr>
            <a:r>
              <a:rPr lang="zh-CN" altLang="en-US" dirty="0">
                <a:effectLst/>
              </a:rPr>
              <a:t>视图易于实现数据的重组，从而提高数据的逻辑独立性，即让应用程序感觉不到数据结构的改变。</a:t>
            </a:r>
          </a:p>
        </p:txBody>
      </p:sp>
    </p:spTree>
    <p:extLst>
      <p:ext uri="{BB962C8B-B14F-4D97-AF65-F5344CB8AC3E}">
        <p14:creationId xmlns:p14="http://schemas.microsoft.com/office/powerpoint/2010/main" val="83640778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sndAc>
          <p:stSnd>
            <p:snd r:embed="rId3" name="arrow.wav"/>
          </p:stSnd>
        </p:sndAc>
      </p:transition>
    </mc:Choice>
    <mc:Fallback>
      <p:transition spd="slow">
        <p:fade/>
        <p:sndAc>
          <p:stSnd>
            <p:snd r:embed="rId2" name="arrow.wav"/>
          </p:stSnd>
        </p:sndAc>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E76535D-1204-408C-A944-91A900F33F4C}"/>
              </a:ext>
            </a:extLst>
          </p:cNvPr>
          <p:cNvSpPr>
            <a:spLocks noGrp="1"/>
          </p:cNvSpPr>
          <p:nvPr>
            <p:ph type="title"/>
          </p:nvPr>
        </p:nvSpPr>
        <p:spPr>
          <a:xfrm>
            <a:off x="1625014" y="3429000"/>
            <a:ext cx="8664198" cy="1709934"/>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eaLnBrk="0" fontAlgn="base" hangingPunct="0">
              <a:spcAft>
                <a:spcPct val="0"/>
              </a:spcAft>
            </a:pPr>
            <a:r>
              <a:rPr lang="zh-CN" altLang="en-US" sz="6000"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存储过程</a:t>
            </a:r>
          </a:p>
        </p:txBody>
      </p:sp>
      <p:sp>
        <p:nvSpPr>
          <p:cNvPr id="49" name="标题 1">
            <a:extLst>
              <a:ext uri="{FF2B5EF4-FFF2-40B4-BE49-F238E27FC236}">
                <a16:creationId xmlns:a16="http://schemas.microsoft.com/office/drawing/2014/main" id="{F20317A5-217E-4B1F-AC7B-1AA7AAA89A22}"/>
              </a:ext>
            </a:extLst>
          </p:cNvPr>
          <p:cNvSpPr txBox="1">
            <a:spLocks/>
          </p:cNvSpPr>
          <p:nvPr/>
        </p:nvSpPr>
        <p:spPr bwMode="auto">
          <a:xfrm>
            <a:off x="4727848" y="1844824"/>
            <a:ext cx="2458530"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zh-CN" altLang="en-US" sz="6000" b="1" i="0" u="none" strike="noStrike" kern="10" cap="none" spc="0" normalizeH="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三</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节</a:t>
            </a:r>
          </a:p>
        </p:txBody>
      </p:sp>
    </p:spTree>
    <p:extLst>
      <p:ext uri="{BB962C8B-B14F-4D97-AF65-F5344CB8AC3E}">
        <p14:creationId xmlns:p14="http://schemas.microsoft.com/office/powerpoint/2010/main" val="2550472052"/>
      </p:ext>
    </p:extLst>
  </p:cSld>
  <p:clrMapOvr>
    <a:masterClrMapping/>
  </p:clrMapOvr>
  <mc:AlternateContent xmlns:mc="http://schemas.openxmlformats.org/markup-compatibility/2006" xmlns:p14="http://schemas.microsoft.com/office/powerpoint/2010/main">
    <mc:Choice Requires="p14">
      <p:transition spd="slow" p14:dur="1400">
        <p14:doors dir="vert"/>
        <p:sndAc>
          <p:stSnd>
            <p:snd r:embed="rId2" name="arrow.wav"/>
          </p:stSnd>
        </p:sndAc>
      </p:transition>
    </mc:Choice>
    <mc:Fallback xmlns="">
      <p:transition spd="slow">
        <p:fade/>
        <p:sndAc>
          <p:stSnd>
            <p:snd r:embed="rId3" name="arrow.wav"/>
          </p:stSnd>
        </p:sndAc>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359696" y="260648"/>
            <a:ext cx="4297971" cy="707886"/>
          </a:xfrm>
        </p:spPr>
        <p:txBody>
          <a:bodyPr/>
          <a:lstStyle/>
          <a:p>
            <a:r>
              <a:rPr lang="en-US" altLang="zh-CN" smtClean="0">
                <a:latin typeface="Times New Roman" panose="02020603050405020304" pitchFamily="18" charset="0"/>
                <a:ea typeface="宋体" panose="02010600030101010101" pitchFamily="2" charset="-122"/>
              </a:rPr>
              <a:t>5.3.1</a:t>
            </a:r>
            <a:r>
              <a:rPr lang="zh-CN" altLang="en-US" smtClean="0">
                <a:latin typeface="Times New Roman" panose="02020603050405020304" pitchFamily="18" charset="0"/>
                <a:ea typeface="宋体" panose="02010600030101010101" pitchFamily="2" charset="-122"/>
              </a:rPr>
              <a:t>存储过程概述</a:t>
            </a:r>
          </a:p>
        </p:txBody>
      </p:sp>
      <p:sp>
        <p:nvSpPr>
          <p:cNvPr id="66563" name="Rectangle 3"/>
          <p:cNvSpPr>
            <a:spLocks noGrp="1" noChangeArrowheads="1"/>
          </p:cNvSpPr>
          <p:nvPr>
            <p:ph type="body" idx="4294967295"/>
          </p:nvPr>
        </p:nvSpPr>
        <p:spPr>
          <a:xfrm>
            <a:off x="767408" y="1124744"/>
            <a:ext cx="10873208" cy="4968552"/>
          </a:xfrm>
        </p:spPr>
        <p:txBody>
          <a:bodyPr>
            <a:normAutofit lnSpcReduction="10000"/>
          </a:bodyPr>
          <a:lstStyle/>
          <a:p>
            <a:pPr>
              <a:lnSpc>
                <a:spcPct val="150000"/>
              </a:lnSpc>
            </a:pPr>
            <a:r>
              <a:rPr lang="zh-CN" altLang="en-US">
                <a:latin typeface="宋体" pitchFamily="2" charset="-122"/>
              </a:rPr>
              <a:t>存储过程</a:t>
            </a:r>
            <a:r>
              <a:rPr lang="en-US" altLang="zh-CN">
                <a:latin typeface="宋体" pitchFamily="2" charset="-122"/>
              </a:rPr>
              <a:t>( Stored Procedure)</a:t>
            </a:r>
            <a:r>
              <a:rPr lang="zh-CN" altLang="en-US">
                <a:latin typeface="宋体" pitchFamily="2" charset="-122"/>
              </a:rPr>
              <a:t> 是数据库服务器上一组预先编译好的</a:t>
            </a:r>
            <a:r>
              <a:rPr lang="en-US" altLang="zh-CN">
                <a:solidFill>
                  <a:srgbClr val="C00000"/>
                </a:solidFill>
                <a:latin typeface="宋体" pitchFamily="2" charset="-122"/>
              </a:rPr>
              <a:t>SQL</a:t>
            </a:r>
            <a:r>
              <a:rPr lang="zh-CN" altLang="en-US">
                <a:solidFill>
                  <a:srgbClr val="C00000"/>
                </a:solidFill>
                <a:latin typeface="宋体" pitchFamily="2" charset="-122"/>
              </a:rPr>
              <a:t>语句的集合</a:t>
            </a:r>
            <a:r>
              <a:rPr lang="zh-CN" altLang="en-US">
                <a:latin typeface="宋体" pitchFamily="2" charset="-122"/>
              </a:rPr>
              <a:t>，作为一个对象存储在数据库中，可以被客户端管理工具、应用程序和其他存储过程作为一个整体来调用。</a:t>
            </a:r>
          </a:p>
          <a:p>
            <a:pPr>
              <a:lnSpc>
                <a:spcPct val="150000"/>
              </a:lnSpc>
            </a:pPr>
            <a:r>
              <a:rPr lang="zh-CN" altLang="en-US">
                <a:latin typeface="宋体" pitchFamily="2" charset="-122"/>
              </a:rPr>
              <a:t>在调用过程中，存储过程可以从调用者那里接收必要的</a:t>
            </a:r>
            <a:r>
              <a:rPr lang="zh-CN" altLang="en-US">
                <a:solidFill>
                  <a:srgbClr val="C00000"/>
                </a:solidFill>
                <a:latin typeface="宋体" pitchFamily="2" charset="-122"/>
              </a:rPr>
              <a:t>输入参数</a:t>
            </a:r>
            <a:r>
              <a:rPr lang="zh-CN" altLang="en-US">
                <a:latin typeface="宋体" pitchFamily="2" charset="-122"/>
              </a:rPr>
              <a:t>，按照事先编制的程序逻辑执行存储过程中的语句序列后，向调用者</a:t>
            </a:r>
            <a:r>
              <a:rPr lang="zh-CN" altLang="en-US">
                <a:solidFill>
                  <a:srgbClr val="C00000"/>
                </a:solidFill>
                <a:latin typeface="宋体" pitchFamily="2" charset="-122"/>
              </a:rPr>
              <a:t>返回处理结果</a:t>
            </a:r>
            <a:r>
              <a:rPr lang="zh-CN" altLang="en-US">
                <a:latin typeface="宋体" pitchFamily="2" charset="-122"/>
              </a:rPr>
              <a:t>。</a:t>
            </a:r>
          </a:p>
        </p:txBody>
      </p:sp>
    </p:spTree>
    <p:extLst>
      <p:ext uri="{BB962C8B-B14F-4D97-AF65-F5344CB8AC3E}">
        <p14:creationId xmlns:p14="http://schemas.microsoft.com/office/powerpoint/2010/main" val="4269208710"/>
      </p:ext>
    </p:extLst>
  </p:cSld>
  <p:clrMapOvr>
    <a:masterClrMapping/>
  </p:clrMapOvr>
  <p:transition spd="slow">
    <p:wipe dir="r"/>
    <p:sndAc>
      <p:stSnd>
        <p:snd r:embed="rId2" name="arrow.wav"/>
      </p:stSnd>
    </p:sndAc>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2197250"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存储过程</a:t>
            </a:r>
            <a:endParaRPr lang="zh-CN" altLang="en-US" sz="4000" b="1" dirty="0">
              <a:solidFill>
                <a:srgbClr val="FFFFCC"/>
              </a:solidFill>
              <a:effectLst>
                <a:outerShdw blurRad="38100" dist="38100" dir="2700000" algn="tl">
                  <a:srgbClr val="000000"/>
                </a:outerShdw>
              </a:effectLst>
              <a:cs typeface="+mn-cs"/>
            </a:endParaRPr>
          </a:p>
        </p:txBody>
      </p:sp>
      <p:sp>
        <p:nvSpPr>
          <p:cNvPr id="4" name="Rectangle 4">
            <a:extLst>
              <a:ext uri="{FF2B5EF4-FFF2-40B4-BE49-F238E27FC236}">
                <a16:creationId xmlns:a16="http://schemas.microsoft.com/office/drawing/2014/main" id="{4EADBB4A-0BA6-402D-9FA8-EF8A29D7EFDD}"/>
              </a:ext>
            </a:extLst>
          </p:cNvPr>
          <p:cNvSpPr txBox="1">
            <a:spLocks noChangeArrowheads="1"/>
          </p:cNvSpPr>
          <p:nvPr/>
        </p:nvSpPr>
        <p:spPr bwMode="auto">
          <a:xfrm>
            <a:off x="479376" y="980728"/>
            <a:ext cx="10873208" cy="290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l"/>
              <a:defRPr sz="24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00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9pPr>
          </a:lstStyle>
          <a:p>
            <a:pPr eaLnBrk="1" hangingPunct="1">
              <a:defRPr/>
            </a:pPr>
            <a:r>
              <a:rPr kumimoji="0" lang="zh-CN" altLang="en-US" sz="3200" kern="0" dirty="0"/>
              <a:t>存储过程类似于</a:t>
            </a:r>
            <a:r>
              <a:rPr kumimoji="0" lang="en-US" altLang="zh-CN" sz="3200" kern="0" dirty="0"/>
              <a:t>C</a:t>
            </a:r>
            <a:r>
              <a:rPr kumimoji="0" lang="zh-CN" altLang="en-US" sz="3200" kern="0" dirty="0"/>
              <a:t>语言中的</a:t>
            </a:r>
            <a:r>
              <a:rPr kumimoji="0" lang="zh-CN" altLang="en-US" sz="3200" kern="0" dirty="0">
                <a:solidFill>
                  <a:srgbClr val="C00000"/>
                </a:solidFill>
              </a:rPr>
              <a:t>函数</a:t>
            </a:r>
            <a:r>
              <a:rPr kumimoji="0" lang="zh-CN" altLang="en-US" sz="3200" kern="0" dirty="0"/>
              <a:t>，是为实现某种功能的若干</a:t>
            </a:r>
            <a:r>
              <a:rPr kumimoji="0" lang="en-US" altLang="zh-CN" sz="3200" kern="0" dirty="0"/>
              <a:t>SQL </a:t>
            </a:r>
            <a:r>
              <a:rPr kumimoji="0" lang="zh-CN" altLang="en-US" sz="3200" kern="0" dirty="0"/>
              <a:t>语句的预编译的命名集合，由服务器进行存储和优化。用户可通过存储名称及必要的参数来调用相应的存储过程。并将执行的结果返回给用户。</a:t>
            </a:r>
          </a:p>
        </p:txBody>
      </p:sp>
      <p:grpSp>
        <p:nvGrpSpPr>
          <p:cNvPr id="2" name="组合 1">
            <a:extLst>
              <a:ext uri="{FF2B5EF4-FFF2-40B4-BE49-F238E27FC236}">
                <a16:creationId xmlns:a16="http://schemas.microsoft.com/office/drawing/2014/main" id="{26ABBDE0-B493-4143-8E29-236DE7E8BEFB}"/>
              </a:ext>
            </a:extLst>
          </p:cNvPr>
          <p:cNvGrpSpPr/>
          <p:nvPr/>
        </p:nvGrpSpPr>
        <p:grpSpPr>
          <a:xfrm>
            <a:off x="983432" y="3501008"/>
            <a:ext cx="10153128" cy="2659756"/>
            <a:chOff x="1004269" y="3537050"/>
            <a:chExt cx="7828409" cy="2371724"/>
          </a:xfrm>
        </p:grpSpPr>
        <p:sp>
          <p:nvSpPr>
            <p:cNvPr id="5" name="Rectangle 5">
              <a:extLst>
                <a:ext uri="{FF2B5EF4-FFF2-40B4-BE49-F238E27FC236}">
                  <a16:creationId xmlns:a16="http://schemas.microsoft.com/office/drawing/2014/main" id="{7FED42BE-BBB8-4950-9953-06AD6D356E11}"/>
                </a:ext>
              </a:extLst>
            </p:cNvPr>
            <p:cNvSpPr>
              <a:spLocks noChangeArrowheads="1"/>
            </p:cNvSpPr>
            <p:nvPr/>
          </p:nvSpPr>
          <p:spPr bwMode="auto">
            <a:xfrm>
              <a:off x="1004269" y="4257774"/>
              <a:ext cx="1077219"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zh-CN" altLang="en-US" sz="2800" dirty="0">
                  <a:solidFill>
                    <a:srgbClr val="FFFFFF"/>
                  </a:solidFill>
                  <a:effectLst>
                    <a:outerShdw blurRad="38100" dist="38100" dir="2700000" algn="tl">
                      <a:srgbClr val="000000"/>
                    </a:outerShdw>
                  </a:effectLst>
                  <a:latin typeface="Times New Roman" pitchFamily="18" charset="0"/>
                </a:rPr>
                <a:t>客户端</a:t>
              </a:r>
            </a:p>
          </p:txBody>
        </p:sp>
        <p:sp>
          <p:nvSpPr>
            <p:cNvPr id="6" name="computr3">
              <a:extLst>
                <a:ext uri="{FF2B5EF4-FFF2-40B4-BE49-F238E27FC236}">
                  <a16:creationId xmlns:a16="http://schemas.microsoft.com/office/drawing/2014/main" id="{458D8744-7A5B-49B1-832D-1467473D7037}"/>
                </a:ext>
              </a:extLst>
            </p:cNvPr>
            <p:cNvSpPr>
              <a:spLocks noEditPoints="1" noChangeArrowheads="1"/>
            </p:cNvSpPr>
            <p:nvPr/>
          </p:nvSpPr>
          <p:spPr bwMode="auto">
            <a:xfrm>
              <a:off x="1126952" y="4834037"/>
              <a:ext cx="1219200" cy="936625"/>
            </a:xfrm>
            <a:custGeom>
              <a:avLst/>
              <a:gdLst>
                <a:gd name="T0" fmla="*/ 0 w 21600"/>
                <a:gd name="T1" fmla="*/ 468313 h 21600"/>
                <a:gd name="T2" fmla="*/ 609600 w 21600"/>
                <a:gd name="T3" fmla="*/ 0 h 21600"/>
                <a:gd name="T4" fmla="*/ 609600 w 21600"/>
                <a:gd name="T5" fmla="*/ 936625 h 21600"/>
                <a:gd name="T6" fmla="*/ 1023620 w 21600"/>
                <a:gd name="T7" fmla="*/ 468313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lnTo>
                    <a:pt x="16402" y="2314"/>
                  </a:lnTo>
                  <a:close/>
                </a:path>
                <a:path w="21600" h="21600" extrusionOk="0">
                  <a:moveTo>
                    <a:pt x="578" y="4011"/>
                  </a:moveTo>
                  <a:moveTo>
                    <a:pt x="4043" y="4011"/>
                  </a:moveTo>
                  <a:lnTo>
                    <a:pt x="4043" y="4320"/>
                  </a:lnTo>
                  <a:lnTo>
                    <a:pt x="578" y="4320"/>
                  </a:lnTo>
                  <a:lnTo>
                    <a:pt x="578" y="4011"/>
                  </a:lnTo>
                  <a:lnTo>
                    <a:pt x="4043" y="4011"/>
                  </a:lnTo>
                  <a:close/>
                  <a:moveTo>
                    <a:pt x="7624" y="14194"/>
                  </a:moveTo>
                  <a:lnTo>
                    <a:pt x="16402" y="14194"/>
                  </a:lnTo>
                  <a:lnTo>
                    <a:pt x="16402" y="16200"/>
                  </a:lnTo>
                  <a:lnTo>
                    <a:pt x="7624" y="16200"/>
                  </a:lnTo>
                </a:path>
              </a:pathLst>
            </a:custGeom>
            <a:solidFill>
              <a:srgbClr val="CCFFCC"/>
            </a:solidFill>
            <a:ln w="9525">
              <a:solidFill>
                <a:srgbClr val="000000"/>
              </a:solidFill>
              <a:miter lim="800000"/>
              <a:headEnd/>
              <a:tailEnd/>
            </a:ln>
            <a:effectLst>
              <a:outerShdw dist="35921" dir="2700000" algn="ctr" rotWithShape="0">
                <a:srgbClr val="808080"/>
              </a:outerShdw>
            </a:effectLst>
          </p:spPr>
          <p:txBody>
            <a:bodyPr/>
            <a:lstStyle/>
            <a:p>
              <a:pPr algn="ctr">
                <a:spcAft>
                  <a:spcPct val="0"/>
                </a:spcAft>
                <a:buSzTx/>
                <a:buFontTx/>
                <a:buNone/>
              </a:pPr>
              <a:endParaRPr kumimoji="0" lang="zh-CN" altLang="en-US" sz="2800">
                <a:solidFill>
                  <a:srgbClr val="FFFFFF"/>
                </a:solidFill>
                <a:effectLst/>
                <a:latin typeface="Arial" charset="0"/>
              </a:endParaRPr>
            </a:p>
          </p:txBody>
        </p:sp>
        <p:sp>
          <p:nvSpPr>
            <p:cNvPr id="8" name="mainfrm">
              <a:extLst>
                <a:ext uri="{FF2B5EF4-FFF2-40B4-BE49-F238E27FC236}">
                  <a16:creationId xmlns:a16="http://schemas.microsoft.com/office/drawing/2014/main" id="{B0D7F62F-4946-4BD1-9A4C-2DADE41CF1B3}"/>
                </a:ext>
              </a:extLst>
            </p:cNvPr>
            <p:cNvSpPr>
              <a:spLocks noEditPoints="1" noChangeArrowheads="1"/>
            </p:cNvSpPr>
            <p:nvPr/>
          </p:nvSpPr>
          <p:spPr bwMode="auto">
            <a:xfrm>
              <a:off x="5016327" y="4184749"/>
              <a:ext cx="1727200" cy="1655762"/>
            </a:xfrm>
            <a:custGeom>
              <a:avLst/>
              <a:gdLst>
                <a:gd name="T0" fmla="*/ 0 w 21600"/>
                <a:gd name="T1" fmla="*/ 0 h 21600"/>
                <a:gd name="T2" fmla="*/ 863600 w 21600"/>
                <a:gd name="T3" fmla="*/ 0 h 21600"/>
                <a:gd name="T4" fmla="*/ 1727200 w 21600"/>
                <a:gd name="T5" fmla="*/ 0 h 21600"/>
                <a:gd name="T6" fmla="*/ 1727200 w 21600"/>
                <a:gd name="T7" fmla="*/ 827881 h 21600"/>
                <a:gd name="T8" fmla="*/ 1647477 w 21600"/>
                <a:gd name="T9" fmla="*/ 1655762 h 21600"/>
                <a:gd name="T10" fmla="*/ 863600 w 21600"/>
                <a:gd name="T11" fmla="*/ 1655762 h 21600"/>
                <a:gd name="T12" fmla="*/ 92997 w 21600"/>
                <a:gd name="T13" fmla="*/ 1655762 h 21600"/>
                <a:gd name="T14" fmla="*/ 0 w 21600"/>
                <a:gd name="T15" fmla="*/ 827881 h 21600"/>
                <a:gd name="T16" fmla="*/ 0 60000 65536"/>
                <a:gd name="T17" fmla="*/ 0 60000 65536"/>
                <a:gd name="T18" fmla="*/ 0 60000 65536"/>
                <a:gd name="T19" fmla="*/ 0 60000 65536"/>
                <a:gd name="T20" fmla="*/ 0 60000 65536"/>
                <a:gd name="T21" fmla="*/ 0 60000 65536"/>
                <a:gd name="T22" fmla="*/ 0 60000 65536"/>
                <a:gd name="T23" fmla="*/ 0 60000 65536"/>
                <a:gd name="T24" fmla="*/ 332 w 21600"/>
                <a:gd name="T25" fmla="*/ 22174 h 21600"/>
                <a:gd name="T26" fmla="*/ 21579 w 21600"/>
                <a:gd name="T27" fmla="*/ 2791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CCFFFF"/>
            </a:solidFill>
            <a:ln w="9525">
              <a:solidFill>
                <a:srgbClr val="000000"/>
              </a:solidFill>
              <a:miter lim="800000"/>
              <a:headEnd/>
              <a:tailEnd/>
            </a:ln>
          </p:spPr>
          <p:txBody>
            <a:bodyPr/>
            <a:lstStyle/>
            <a:p>
              <a:pPr algn="ctr">
                <a:spcAft>
                  <a:spcPct val="0"/>
                </a:spcAft>
                <a:buSzTx/>
                <a:buFontTx/>
                <a:buNone/>
              </a:pPr>
              <a:endParaRPr kumimoji="0" lang="zh-CN" altLang="en-US" sz="2800">
                <a:solidFill>
                  <a:srgbClr val="FFFFFF"/>
                </a:solidFill>
                <a:effectLst/>
                <a:latin typeface="Arial" charset="0"/>
              </a:endParaRPr>
            </a:p>
          </p:txBody>
        </p:sp>
        <p:sp>
          <p:nvSpPr>
            <p:cNvPr id="9" name="Rectangle 8">
              <a:extLst>
                <a:ext uri="{FF2B5EF4-FFF2-40B4-BE49-F238E27FC236}">
                  <a16:creationId xmlns:a16="http://schemas.microsoft.com/office/drawing/2014/main" id="{F0EAF845-12AA-4481-8E5C-D7B5D1CD3F57}"/>
                </a:ext>
              </a:extLst>
            </p:cNvPr>
            <p:cNvSpPr>
              <a:spLocks noChangeArrowheads="1"/>
            </p:cNvSpPr>
            <p:nvPr/>
          </p:nvSpPr>
          <p:spPr bwMode="auto">
            <a:xfrm>
              <a:off x="5329364" y="3825975"/>
              <a:ext cx="9233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zh-CN" altLang="en-US" sz="2400">
                  <a:solidFill>
                    <a:srgbClr val="FFFFFF"/>
                  </a:solidFill>
                  <a:effectLst>
                    <a:outerShdw blurRad="38100" dist="38100" dir="2700000" algn="tl">
                      <a:srgbClr val="000000"/>
                    </a:outerShdw>
                  </a:effectLst>
                  <a:latin typeface="Times New Roman" pitchFamily="18" charset="0"/>
                </a:rPr>
                <a:t>服务器</a:t>
              </a:r>
            </a:p>
          </p:txBody>
        </p:sp>
        <p:sp>
          <p:nvSpPr>
            <p:cNvPr id="10" name="Line 9">
              <a:extLst>
                <a:ext uri="{FF2B5EF4-FFF2-40B4-BE49-F238E27FC236}">
                  <a16:creationId xmlns:a16="http://schemas.microsoft.com/office/drawing/2014/main" id="{BFB1D918-4094-4D3A-BCB8-90108897DA8F}"/>
                </a:ext>
              </a:extLst>
            </p:cNvPr>
            <p:cNvSpPr>
              <a:spLocks noChangeShapeType="1"/>
            </p:cNvSpPr>
            <p:nvPr/>
          </p:nvSpPr>
          <p:spPr bwMode="auto">
            <a:xfrm>
              <a:off x="2712864" y="4245203"/>
              <a:ext cx="1943100" cy="0"/>
            </a:xfrm>
            <a:prstGeom prst="line">
              <a:avLst/>
            </a:prstGeom>
            <a:noFill/>
            <a:ln w="76200" cap="sq">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pPr algn="ctr" fontAlgn="auto">
                <a:spcBef>
                  <a:spcPts val="0"/>
                </a:spcBef>
                <a:spcAft>
                  <a:spcPct val="0"/>
                </a:spcAft>
                <a:buSzTx/>
                <a:defRPr/>
              </a:pPr>
              <a:endParaRPr kumimoji="0" lang="zh-CN" altLang="en-US" sz="2800" kern="0">
                <a:solidFill>
                  <a:srgbClr val="FFFFFF"/>
                </a:solidFill>
                <a:effectLst/>
                <a:latin typeface="Arial" charset="0"/>
              </a:endParaRPr>
            </a:p>
          </p:txBody>
        </p:sp>
        <p:sp>
          <p:nvSpPr>
            <p:cNvPr id="11" name="Rectangle 10">
              <a:extLst>
                <a:ext uri="{FF2B5EF4-FFF2-40B4-BE49-F238E27FC236}">
                  <a16:creationId xmlns:a16="http://schemas.microsoft.com/office/drawing/2014/main" id="{8F4973D7-577C-4AA0-B7C7-D904E9E0BCE5}"/>
                </a:ext>
              </a:extLst>
            </p:cNvPr>
            <p:cNvSpPr>
              <a:spLocks noChangeArrowheads="1"/>
            </p:cNvSpPr>
            <p:nvPr/>
          </p:nvSpPr>
          <p:spPr bwMode="auto">
            <a:xfrm>
              <a:off x="2704851" y="3733105"/>
              <a:ext cx="139782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en-US" altLang="zh-CN" sz="2800" dirty="0">
                  <a:solidFill>
                    <a:srgbClr val="FFFFFF"/>
                  </a:solidFill>
                  <a:effectLst>
                    <a:outerShdw blurRad="38100" dist="38100" dir="2700000" algn="tl">
                      <a:srgbClr val="000000"/>
                    </a:outerShdw>
                  </a:effectLst>
                  <a:latin typeface="Times New Roman" pitchFamily="18" charset="0"/>
                </a:rPr>
                <a:t>SQL</a:t>
              </a:r>
              <a:r>
                <a:rPr lang="zh-CN" altLang="en-US" sz="2800" dirty="0">
                  <a:solidFill>
                    <a:srgbClr val="FFFFFF"/>
                  </a:solidFill>
                  <a:effectLst>
                    <a:outerShdw blurRad="38100" dist="38100" dir="2700000" algn="tl">
                      <a:srgbClr val="000000"/>
                    </a:outerShdw>
                  </a:effectLst>
                  <a:latin typeface="Times New Roman" pitchFamily="18" charset="0"/>
                </a:rPr>
                <a:t>命令</a:t>
              </a:r>
            </a:p>
          </p:txBody>
        </p:sp>
        <p:sp>
          <p:nvSpPr>
            <p:cNvPr id="12" name="Line 11">
              <a:extLst>
                <a:ext uri="{FF2B5EF4-FFF2-40B4-BE49-F238E27FC236}">
                  <a16:creationId xmlns:a16="http://schemas.microsoft.com/office/drawing/2014/main" id="{EA9F43A3-4C9B-4014-9C28-D848C0DB950E}"/>
                </a:ext>
              </a:extLst>
            </p:cNvPr>
            <p:cNvSpPr>
              <a:spLocks noChangeShapeType="1"/>
            </p:cNvSpPr>
            <p:nvPr/>
          </p:nvSpPr>
          <p:spPr bwMode="auto">
            <a:xfrm>
              <a:off x="2712864" y="5101257"/>
              <a:ext cx="1943100" cy="0"/>
            </a:xfrm>
            <a:prstGeom prst="line">
              <a:avLst/>
            </a:prstGeom>
            <a:noFill/>
            <a:ln w="76200" cap="sq">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pPr algn="ctr" fontAlgn="auto">
                <a:spcBef>
                  <a:spcPts val="0"/>
                </a:spcBef>
                <a:spcAft>
                  <a:spcPct val="0"/>
                </a:spcAft>
                <a:buSzTx/>
                <a:defRPr/>
              </a:pPr>
              <a:endParaRPr kumimoji="0" lang="zh-CN" altLang="en-US" sz="2800" kern="0">
                <a:solidFill>
                  <a:srgbClr val="FFFFFF"/>
                </a:solidFill>
                <a:effectLst/>
                <a:latin typeface="Arial" charset="0"/>
              </a:endParaRPr>
            </a:p>
          </p:txBody>
        </p:sp>
        <p:sp>
          <p:nvSpPr>
            <p:cNvPr id="13" name="Rectangle 12">
              <a:extLst>
                <a:ext uri="{FF2B5EF4-FFF2-40B4-BE49-F238E27FC236}">
                  <a16:creationId xmlns:a16="http://schemas.microsoft.com/office/drawing/2014/main" id="{F4EBF542-6B40-4EB2-80F8-959FD4E3DA75}"/>
                </a:ext>
              </a:extLst>
            </p:cNvPr>
            <p:cNvSpPr>
              <a:spLocks noChangeArrowheads="1"/>
            </p:cNvSpPr>
            <p:nvPr/>
          </p:nvSpPr>
          <p:spPr bwMode="auto">
            <a:xfrm>
              <a:off x="2132460" y="4595133"/>
              <a:ext cx="28725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zh-CN" altLang="en-US" sz="2800">
                  <a:solidFill>
                    <a:srgbClr val="FFFFFF"/>
                  </a:solidFill>
                  <a:effectLst>
                    <a:outerShdw blurRad="38100" dist="38100" dir="2700000" algn="tl">
                      <a:srgbClr val="000000"/>
                    </a:outerShdw>
                  </a:effectLst>
                  <a:latin typeface="Times New Roman" pitchFamily="18" charset="0"/>
                </a:rPr>
                <a:t>存储过程名</a:t>
              </a:r>
              <a:r>
                <a:rPr lang="zh-CN" altLang="en-US" sz="2800" dirty="0">
                  <a:solidFill>
                    <a:srgbClr val="FFFFFF"/>
                  </a:solidFill>
                  <a:effectLst>
                    <a:outerShdw blurRad="38100" dist="38100" dir="2700000" algn="tl">
                      <a:srgbClr val="000000"/>
                    </a:outerShdw>
                  </a:effectLst>
                  <a:latin typeface="Times New Roman" pitchFamily="18" charset="0"/>
                </a:rPr>
                <a:t>及参数</a:t>
              </a:r>
            </a:p>
          </p:txBody>
        </p:sp>
        <p:sp>
          <p:nvSpPr>
            <p:cNvPr id="14" name="Line 13">
              <a:extLst>
                <a:ext uri="{FF2B5EF4-FFF2-40B4-BE49-F238E27FC236}">
                  <a16:creationId xmlns:a16="http://schemas.microsoft.com/office/drawing/2014/main" id="{3F63BCB9-C596-40D9-80EC-EAB48896E098}"/>
                </a:ext>
              </a:extLst>
            </p:cNvPr>
            <p:cNvSpPr>
              <a:spLocks noChangeShapeType="1"/>
            </p:cNvSpPr>
            <p:nvPr/>
          </p:nvSpPr>
          <p:spPr bwMode="auto">
            <a:xfrm>
              <a:off x="2712864" y="5769074"/>
              <a:ext cx="1943100" cy="0"/>
            </a:xfrm>
            <a:prstGeom prst="line">
              <a:avLst/>
            </a:prstGeom>
            <a:noFill/>
            <a:ln w="76200" cap="sq">
              <a:solidFill>
                <a:srgbClr val="FFFF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pPr algn="ctr" fontAlgn="auto">
                <a:spcBef>
                  <a:spcPts val="0"/>
                </a:spcBef>
                <a:spcAft>
                  <a:spcPct val="0"/>
                </a:spcAft>
                <a:buSzTx/>
                <a:defRPr/>
              </a:pPr>
              <a:endParaRPr kumimoji="0" lang="zh-CN" altLang="en-US" sz="2800" kern="0">
                <a:solidFill>
                  <a:srgbClr val="FFFFFF"/>
                </a:solidFill>
                <a:effectLst/>
                <a:latin typeface="Arial" charset="0"/>
              </a:endParaRPr>
            </a:p>
          </p:txBody>
        </p:sp>
        <p:sp>
          <p:nvSpPr>
            <p:cNvPr id="15" name="Rectangle 14">
              <a:extLst>
                <a:ext uri="{FF2B5EF4-FFF2-40B4-BE49-F238E27FC236}">
                  <a16:creationId xmlns:a16="http://schemas.microsoft.com/office/drawing/2014/main" id="{5FFEAD10-CDC8-4792-8E04-233F36C375B9}"/>
                </a:ext>
              </a:extLst>
            </p:cNvPr>
            <p:cNvSpPr>
              <a:spLocks noChangeArrowheads="1"/>
            </p:cNvSpPr>
            <p:nvPr/>
          </p:nvSpPr>
          <p:spPr bwMode="auto">
            <a:xfrm>
              <a:off x="2886894" y="5353704"/>
              <a:ext cx="143629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ctr">
                <a:spcAft>
                  <a:spcPct val="0"/>
                </a:spcAft>
                <a:buSzTx/>
                <a:buFontTx/>
                <a:buNone/>
                <a:defRPr/>
              </a:pPr>
              <a:r>
                <a:rPr lang="zh-CN" altLang="en-US" sz="2800" dirty="0">
                  <a:solidFill>
                    <a:srgbClr val="FFFFFF"/>
                  </a:solidFill>
                  <a:effectLst>
                    <a:outerShdw blurRad="38100" dist="38100" dir="2700000" algn="tl">
                      <a:srgbClr val="000000"/>
                    </a:outerShdw>
                  </a:effectLst>
                  <a:latin typeface="Times New Roman" pitchFamily="18" charset="0"/>
                </a:rPr>
                <a:t>执行结果</a:t>
              </a:r>
            </a:p>
          </p:txBody>
        </p:sp>
        <p:sp>
          <p:nvSpPr>
            <p:cNvPr id="16" name="AutoShape 15">
              <a:extLst>
                <a:ext uri="{FF2B5EF4-FFF2-40B4-BE49-F238E27FC236}">
                  <a16:creationId xmlns:a16="http://schemas.microsoft.com/office/drawing/2014/main" id="{C85165A9-A688-4B99-A144-E13C5A00A162}"/>
                </a:ext>
              </a:extLst>
            </p:cNvPr>
            <p:cNvSpPr>
              <a:spLocks noChangeArrowheads="1"/>
            </p:cNvSpPr>
            <p:nvPr/>
          </p:nvSpPr>
          <p:spPr bwMode="auto">
            <a:xfrm>
              <a:off x="7248353" y="3537050"/>
              <a:ext cx="1584325" cy="858837"/>
            </a:xfrm>
            <a:prstGeom prst="wedgeRoundRectCallout">
              <a:avLst>
                <a:gd name="adj1" fmla="val -90681"/>
                <a:gd name="adj2" fmla="val 44824"/>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ctr" fontAlgn="auto">
                <a:spcBef>
                  <a:spcPts val="0"/>
                </a:spcBef>
                <a:spcAft>
                  <a:spcPct val="40000"/>
                </a:spcAft>
                <a:buClr>
                  <a:srgbClr val="66FF33"/>
                </a:buClr>
                <a:buSzPct val="85000"/>
                <a:defRPr/>
              </a:pPr>
              <a:r>
                <a:rPr kumimoji="0" lang="zh-CN" altLang="en-US" sz="2800" kern="0" dirty="0">
                  <a:solidFill>
                    <a:srgbClr val="FFFFCC"/>
                  </a:solidFill>
                  <a:effectLst>
                    <a:outerShdw blurRad="38100" dist="38100" dir="2700000" algn="tl">
                      <a:srgbClr val="000000"/>
                    </a:outerShdw>
                  </a:effectLst>
                  <a:latin typeface="Times New Roman" pitchFamily="18" charset="0"/>
                </a:rPr>
                <a:t>预编</a:t>
              </a:r>
              <a:r>
                <a:rPr kumimoji="0" lang="zh-CN" altLang="en-US" sz="2800" kern="0">
                  <a:solidFill>
                    <a:srgbClr val="FFFFCC"/>
                  </a:solidFill>
                  <a:effectLst>
                    <a:outerShdw blurRad="38100" dist="38100" dir="2700000" algn="tl">
                      <a:srgbClr val="000000"/>
                    </a:outerShdw>
                  </a:effectLst>
                  <a:latin typeface="Times New Roman" pitchFamily="18" charset="0"/>
                </a:rPr>
                <a:t>译的存储过程</a:t>
              </a:r>
              <a:endParaRPr kumimoji="0" lang="zh-CN" altLang="en-US" sz="2800" kern="0" dirty="0">
                <a:solidFill>
                  <a:srgbClr val="FFFFCC"/>
                </a:solidFill>
                <a:effectLst>
                  <a:outerShdw blurRad="38100" dist="38100" dir="2700000" algn="tl">
                    <a:srgbClr val="000000"/>
                  </a:outerShdw>
                </a:effectLst>
                <a:latin typeface="Times New Roman" pitchFamily="18" charset="0"/>
              </a:endParaRPr>
            </a:p>
          </p:txBody>
        </p:sp>
        <p:sp>
          <p:nvSpPr>
            <p:cNvPr id="17" name="AutoShape 16">
              <a:extLst>
                <a:ext uri="{FF2B5EF4-FFF2-40B4-BE49-F238E27FC236}">
                  <a16:creationId xmlns:a16="http://schemas.microsoft.com/office/drawing/2014/main" id="{1470C70A-18D2-48F1-9CE9-97BAF8D571E0}"/>
                </a:ext>
              </a:extLst>
            </p:cNvPr>
            <p:cNvSpPr>
              <a:spLocks noChangeArrowheads="1"/>
            </p:cNvSpPr>
            <p:nvPr/>
          </p:nvSpPr>
          <p:spPr bwMode="auto">
            <a:xfrm>
              <a:off x="7464252" y="5049936"/>
              <a:ext cx="1295400" cy="858838"/>
            </a:xfrm>
            <a:prstGeom prst="wedgeRoundRectCallout">
              <a:avLst>
                <a:gd name="adj1" fmla="val -171324"/>
                <a:gd name="adj2" fmla="val -107486"/>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ctr" fontAlgn="auto">
                <a:spcBef>
                  <a:spcPts val="0"/>
                </a:spcBef>
                <a:spcAft>
                  <a:spcPct val="40000"/>
                </a:spcAft>
                <a:buClr>
                  <a:srgbClr val="66FF33"/>
                </a:buClr>
                <a:buSzPct val="85000"/>
                <a:defRPr/>
              </a:pPr>
              <a:r>
                <a:rPr kumimoji="0" lang="zh-CN" altLang="en-US" sz="2800" kern="0">
                  <a:solidFill>
                    <a:srgbClr val="FFFFCC"/>
                  </a:solidFill>
                  <a:effectLst>
                    <a:outerShdw blurRad="38100" dist="38100" dir="2700000" algn="tl">
                      <a:srgbClr val="000000"/>
                    </a:outerShdw>
                  </a:effectLst>
                  <a:latin typeface="Times New Roman" pitchFamily="18" charset="0"/>
                </a:rPr>
                <a:t>命令解释器</a:t>
              </a:r>
            </a:p>
          </p:txBody>
        </p:sp>
      </p:grpSp>
    </p:spTree>
    <p:extLst>
      <p:ext uri="{BB962C8B-B14F-4D97-AF65-F5344CB8AC3E}">
        <p14:creationId xmlns:p14="http://schemas.microsoft.com/office/powerpoint/2010/main" val="3888345410"/>
      </p:ext>
    </p:extLst>
  </p:cSld>
  <p:clrMapOvr>
    <a:masterClrMapping/>
  </p:clrMapOvr>
  <mc:AlternateContent xmlns:mc="http://schemas.openxmlformats.org/markup-compatibility/2006">
    <mc:Choice xmlns="" xmlns:p159="http://schemas.microsoft.com/office/powerpoint/2015/09/main" Requires="p159">
      <p:transition spd="slow">
        <p159:morph option="byObject"/>
        <p:sndAc>
          <p:stSnd>
            <p:snd r:embed="rId4" name="arrow.wav"/>
          </p:stSnd>
        </p:sndAc>
      </p:transition>
    </mc:Choice>
    <mc:Fallback>
      <p:transition spd="slow">
        <p:fade/>
        <p:sndAc>
          <p:stSnd>
            <p:snd r:embed="rId2" name="arrow.wav"/>
          </p:stSnd>
        </p:sndAc>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body" idx="4294967295"/>
          </p:nvPr>
        </p:nvSpPr>
        <p:spPr>
          <a:xfrm>
            <a:off x="911424" y="188640"/>
            <a:ext cx="10585176" cy="4464496"/>
          </a:xfrm>
        </p:spPr>
        <p:txBody>
          <a:bodyPr>
            <a:noAutofit/>
          </a:bodyPr>
          <a:lstStyle/>
          <a:p>
            <a:pPr>
              <a:lnSpc>
                <a:spcPct val="150000"/>
              </a:lnSpc>
              <a:buFontTx/>
              <a:buNone/>
            </a:pPr>
            <a:r>
              <a:rPr lang="zh-CN" altLang="en-US">
                <a:latin typeface="宋体" pitchFamily="2" charset="-122"/>
              </a:rPr>
              <a:t>存储过程的作用主要有：</a:t>
            </a:r>
          </a:p>
          <a:p>
            <a:pPr>
              <a:lnSpc>
                <a:spcPct val="150000"/>
              </a:lnSpc>
            </a:pPr>
            <a:r>
              <a:rPr lang="en-US" altLang="zh-CN">
                <a:latin typeface="宋体" pitchFamily="2" charset="-122"/>
              </a:rPr>
              <a:t>(1) </a:t>
            </a:r>
            <a:r>
              <a:rPr lang="zh-CN" altLang="en-US">
                <a:latin typeface="宋体" pitchFamily="2" charset="-122"/>
              </a:rPr>
              <a:t>存储过程提高了程序设计的</a:t>
            </a:r>
            <a:r>
              <a:rPr lang="zh-CN" altLang="en-US">
                <a:solidFill>
                  <a:srgbClr val="C00000"/>
                </a:solidFill>
                <a:latin typeface="宋体" pitchFamily="2" charset="-122"/>
              </a:rPr>
              <a:t>灵活</a:t>
            </a:r>
            <a:r>
              <a:rPr lang="zh-CN" altLang="en-US">
                <a:latin typeface="宋体" pitchFamily="2" charset="-122"/>
              </a:rPr>
              <a:t>性。存储过程可以使用流程控制语句组织</a:t>
            </a:r>
            <a:r>
              <a:rPr lang="zh-CN" altLang="en-US">
                <a:solidFill>
                  <a:srgbClr val="C00000"/>
                </a:solidFill>
                <a:latin typeface="宋体" pitchFamily="2" charset="-122"/>
              </a:rPr>
              <a:t>程序结构</a:t>
            </a:r>
            <a:r>
              <a:rPr lang="zh-CN" altLang="en-US">
                <a:latin typeface="宋体" pitchFamily="2" charset="-122"/>
              </a:rPr>
              <a:t>，方便实现结构较复杂的程序的编写，使设计过程具有很强的灵活性。</a:t>
            </a:r>
          </a:p>
          <a:p>
            <a:pPr>
              <a:lnSpc>
                <a:spcPct val="150000"/>
              </a:lnSpc>
            </a:pPr>
            <a:r>
              <a:rPr lang="en-US" altLang="zh-CN">
                <a:latin typeface="宋体" pitchFamily="2" charset="-122"/>
              </a:rPr>
              <a:t>(2) </a:t>
            </a:r>
            <a:r>
              <a:rPr lang="zh-CN" altLang="en-US">
                <a:latin typeface="宋体" pitchFamily="2" charset="-122"/>
              </a:rPr>
              <a:t>存储过程实现了程序的</a:t>
            </a:r>
            <a:r>
              <a:rPr lang="zh-CN" altLang="en-US">
                <a:solidFill>
                  <a:srgbClr val="C00000"/>
                </a:solidFill>
                <a:latin typeface="宋体" pitchFamily="2" charset="-122"/>
              </a:rPr>
              <a:t>模块化</a:t>
            </a:r>
            <a:r>
              <a:rPr lang="zh-CN" altLang="en-US">
                <a:latin typeface="宋体" pitchFamily="2" charset="-122"/>
              </a:rPr>
              <a:t>。存储过程作为一个整体被创建后，可以被其他程序多次反复调用。对于数据库设计人员，可以根据实际情况，对存储过程进行维护，不会对调用程序产生不必要的影响。</a:t>
            </a:r>
          </a:p>
        </p:txBody>
      </p:sp>
    </p:spTree>
    <p:extLst>
      <p:ext uri="{BB962C8B-B14F-4D97-AF65-F5344CB8AC3E}">
        <p14:creationId xmlns:p14="http://schemas.microsoft.com/office/powerpoint/2010/main" val="2343376003"/>
      </p:ext>
    </p:extLst>
  </p:cSld>
  <p:clrMapOvr>
    <a:masterClrMapping/>
  </p:clrMapOvr>
  <p:transition spd="slow">
    <p:wipe dir="r"/>
    <p:sndAc>
      <p:stSnd>
        <p:snd r:embed="rId2" name="arrow.wav"/>
      </p:stSnd>
    </p:sndAc>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4294967295"/>
          </p:nvPr>
        </p:nvSpPr>
        <p:spPr>
          <a:xfrm>
            <a:off x="1055440" y="332656"/>
            <a:ext cx="10657184" cy="5544616"/>
          </a:xfrm>
        </p:spPr>
        <p:txBody>
          <a:bodyPr>
            <a:noAutofit/>
          </a:bodyPr>
          <a:lstStyle/>
          <a:p>
            <a:pPr>
              <a:lnSpc>
                <a:spcPct val="150000"/>
              </a:lnSpc>
            </a:pPr>
            <a:r>
              <a:rPr lang="en-US" altLang="zh-CN" sz="2400">
                <a:latin typeface="宋体" pitchFamily="2" charset="-122"/>
              </a:rPr>
              <a:t>(3) </a:t>
            </a:r>
            <a:r>
              <a:rPr lang="zh-CN" altLang="en-US" sz="2400">
                <a:latin typeface="宋体" pitchFamily="2" charset="-122"/>
              </a:rPr>
              <a:t>存储过程有利于提高程序的执行速度。存储过程中包含的大量</a:t>
            </a:r>
            <a:r>
              <a:rPr lang="en-US" altLang="zh-CN" sz="2400">
                <a:latin typeface="宋体" pitchFamily="2" charset="-122"/>
              </a:rPr>
              <a:t>SQL</a:t>
            </a:r>
            <a:r>
              <a:rPr lang="zh-CN" altLang="en-US" sz="2400">
                <a:latin typeface="宋体" pitchFamily="2" charset="-122"/>
              </a:rPr>
              <a:t>代码或者要被反复执行的代码段在执行之前已经被</a:t>
            </a:r>
            <a:r>
              <a:rPr lang="zh-CN" altLang="en-US" sz="2400">
                <a:solidFill>
                  <a:srgbClr val="C00000"/>
                </a:solidFill>
                <a:latin typeface="宋体" pitchFamily="2" charset="-122"/>
              </a:rPr>
              <a:t>预编译</a:t>
            </a:r>
            <a:r>
              <a:rPr lang="zh-CN" altLang="en-US" sz="2400">
                <a:latin typeface="宋体" pitchFamily="2" charset="-122"/>
              </a:rPr>
              <a:t>，所以不会象批处理那样在每次运行之前都要进行编译，从而提高了这些代码段的执行速度。</a:t>
            </a:r>
          </a:p>
          <a:p>
            <a:pPr>
              <a:lnSpc>
                <a:spcPct val="150000"/>
              </a:lnSpc>
            </a:pPr>
            <a:r>
              <a:rPr lang="en-US" altLang="zh-CN" sz="2400">
                <a:latin typeface="宋体" pitchFamily="2" charset="-122"/>
              </a:rPr>
              <a:t>(4) </a:t>
            </a:r>
            <a:r>
              <a:rPr lang="zh-CN" altLang="en-US" sz="2400">
                <a:latin typeface="宋体" pitchFamily="2" charset="-122"/>
              </a:rPr>
              <a:t>使用存储过程能减少</a:t>
            </a:r>
            <a:r>
              <a:rPr lang="zh-CN" altLang="en-US" sz="2400">
                <a:solidFill>
                  <a:srgbClr val="C00000"/>
                </a:solidFill>
                <a:latin typeface="宋体" pitchFamily="2" charset="-122"/>
              </a:rPr>
              <a:t>网络访问的负荷</a:t>
            </a:r>
            <a:r>
              <a:rPr lang="zh-CN" altLang="en-US" sz="2400">
                <a:latin typeface="宋体" pitchFamily="2" charset="-122"/>
              </a:rPr>
              <a:t>。在访问网络数据库的过程中，当调用存储过程时，仅需在网络中传输调用语句及其必要的参数即可，而不需要传输大量的语句，从而大大减少了网络的流量和负载。</a:t>
            </a:r>
          </a:p>
          <a:p>
            <a:pPr>
              <a:lnSpc>
                <a:spcPct val="150000"/>
              </a:lnSpc>
            </a:pPr>
            <a:r>
              <a:rPr lang="en-US" altLang="zh-CN" sz="2400">
                <a:latin typeface="宋体" pitchFamily="2" charset="-122"/>
              </a:rPr>
              <a:t>(5) </a:t>
            </a:r>
            <a:r>
              <a:rPr lang="zh-CN" altLang="en-US" sz="2400">
                <a:latin typeface="宋体" pitchFamily="2" charset="-122"/>
              </a:rPr>
              <a:t>存储过程可被作为一种</a:t>
            </a:r>
            <a:r>
              <a:rPr lang="zh-CN" altLang="en-US" sz="2400">
                <a:solidFill>
                  <a:srgbClr val="C00000"/>
                </a:solidFill>
                <a:latin typeface="宋体" pitchFamily="2" charset="-122"/>
              </a:rPr>
              <a:t>安全机制</a:t>
            </a:r>
            <a:r>
              <a:rPr lang="zh-CN" altLang="en-US" sz="2400">
                <a:latin typeface="宋体" pitchFamily="2" charset="-122"/>
              </a:rPr>
              <a:t>来充分利用。系统管理员可以充分利用存储过程对相应数据的访问权限进行限制，从而避免非授权用户的非法访问，进一步保证数据访问的安全性。</a:t>
            </a:r>
          </a:p>
        </p:txBody>
      </p:sp>
    </p:spTree>
    <p:extLst>
      <p:ext uri="{BB962C8B-B14F-4D97-AF65-F5344CB8AC3E}">
        <p14:creationId xmlns:p14="http://schemas.microsoft.com/office/powerpoint/2010/main" val="570023766"/>
      </p:ext>
    </p:extLst>
  </p:cSld>
  <p:clrMapOvr>
    <a:masterClrMapping/>
  </p:clrMapOvr>
  <p:transition spd="slow">
    <p:wipe dir="r"/>
    <p:sndAc>
      <p:stSnd>
        <p:snd r:embed="rId2" name="arrow.wav"/>
      </p:stSnd>
    </p:sndAc>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27709"/>
            <a:ext cx="5275016"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存储过程和创建与执行</a:t>
            </a:r>
            <a:endParaRPr lang="zh-CN" altLang="en-US" sz="4000" b="1" dirty="0">
              <a:solidFill>
                <a:srgbClr val="FFFFCC"/>
              </a:solidFill>
              <a:effectLst>
                <a:outerShdw blurRad="38100" dist="38100" dir="2700000" algn="tl">
                  <a:srgbClr val="000000"/>
                </a:outerShdw>
              </a:effectLst>
              <a:cs typeface="+mn-cs"/>
            </a:endParaRPr>
          </a:p>
        </p:txBody>
      </p:sp>
      <p:sp>
        <p:nvSpPr>
          <p:cNvPr id="18" name="Rectangle 3">
            <a:extLst>
              <a:ext uri="{FF2B5EF4-FFF2-40B4-BE49-F238E27FC236}">
                <a16:creationId xmlns:a16="http://schemas.microsoft.com/office/drawing/2014/main" id="{586C1AF3-D8FB-4422-BFD4-6E790CE95356}"/>
              </a:ext>
            </a:extLst>
          </p:cNvPr>
          <p:cNvSpPr txBox="1">
            <a:spLocks noChangeArrowheads="1"/>
          </p:cNvSpPr>
          <p:nvPr/>
        </p:nvSpPr>
        <p:spPr bwMode="auto">
          <a:xfrm>
            <a:off x="839416" y="1668148"/>
            <a:ext cx="10225136" cy="273630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spcAft>
                <a:spcPts val="1200"/>
              </a:spcAft>
              <a:buFontTx/>
              <a:buNone/>
            </a:pPr>
            <a:r>
              <a:rPr kumimoji="0" lang="en-US" altLang="zh-CN" sz="3200" b="1" dirty="0">
                <a:solidFill>
                  <a:srgbClr val="FFFF00"/>
                </a:solidFill>
                <a:latin typeface="Arial" charset="0"/>
              </a:rPr>
              <a:t>CREATE PROCEDURE </a:t>
            </a:r>
            <a:r>
              <a:rPr lang="zh-CN" altLang="en-US" sz="3200" dirty="0"/>
              <a:t>存储过程名</a:t>
            </a:r>
            <a:r>
              <a:rPr lang="en-US" altLang="zh-CN" sz="3200" dirty="0"/>
              <a:t>([</a:t>
            </a:r>
            <a:r>
              <a:rPr lang="zh-CN" altLang="en-US" sz="3200" dirty="0"/>
              <a:t>参数定义</a:t>
            </a:r>
            <a:r>
              <a:rPr lang="en-US" altLang="zh-CN" sz="3200" dirty="0"/>
              <a:t>[,…]])</a:t>
            </a:r>
          </a:p>
          <a:p>
            <a:pPr>
              <a:spcAft>
                <a:spcPts val="1200"/>
              </a:spcAft>
              <a:buFontTx/>
              <a:buNone/>
            </a:pPr>
            <a:r>
              <a:rPr lang="en-US" altLang="zh-CN" sz="3200" dirty="0"/>
              <a:t>	[</a:t>
            </a:r>
            <a:r>
              <a:rPr lang="zh-CN" altLang="en-US" sz="3200" dirty="0"/>
              <a:t>存储过程选项</a:t>
            </a:r>
            <a:r>
              <a:rPr lang="en-US" altLang="zh-CN" sz="3200" dirty="0"/>
              <a:t>]</a:t>
            </a:r>
          </a:p>
          <a:p>
            <a:pPr>
              <a:spcAft>
                <a:spcPts val="1200"/>
              </a:spcAft>
              <a:buFontTx/>
              <a:buNone/>
            </a:pPr>
            <a:r>
              <a:rPr lang="en-US" altLang="zh-CN" sz="3200" dirty="0"/>
              <a:t>BEGIN</a:t>
            </a:r>
          </a:p>
          <a:p>
            <a:pPr>
              <a:spcAft>
                <a:spcPts val="1200"/>
              </a:spcAft>
              <a:buFontTx/>
              <a:buNone/>
            </a:pPr>
            <a:r>
              <a:rPr lang="en-US" altLang="zh-CN" sz="3200" dirty="0"/>
              <a:t>	</a:t>
            </a:r>
            <a:r>
              <a:rPr lang="zh-CN" altLang="en-US" sz="3200" dirty="0"/>
              <a:t>语句序列</a:t>
            </a:r>
            <a:r>
              <a:rPr lang="en-US" altLang="zh-CN" sz="3200" dirty="0"/>
              <a:t>;</a:t>
            </a:r>
          </a:p>
          <a:p>
            <a:pPr>
              <a:spcAft>
                <a:spcPts val="1200"/>
              </a:spcAft>
              <a:buFontTx/>
              <a:buNone/>
            </a:pPr>
            <a:r>
              <a:rPr lang="en-US" altLang="zh-CN" sz="3200" dirty="0"/>
              <a:t>END;</a:t>
            </a:r>
            <a:endParaRPr lang="zh-CN" altLang="en-US" sz="3200" dirty="0"/>
          </a:p>
          <a:p>
            <a:pPr lvl="0" eaLnBrk="1" hangingPunct="1">
              <a:spcAft>
                <a:spcPts val="1200"/>
              </a:spcAft>
              <a:buNone/>
              <a:defRPr/>
            </a:pPr>
            <a:endParaRPr kumimoji="0" lang="en-US" altLang="en-US" sz="3200" dirty="0">
              <a:latin typeface="Arial" charset="0"/>
            </a:endParaRPr>
          </a:p>
        </p:txBody>
      </p:sp>
      <p:sp>
        <p:nvSpPr>
          <p:cNvPr id="19" name="Rectangle 3">
            <a:extLst>
              <a:ext uri="{FF2B5EF4-FFF2-40B4-BE49-F238E27FC236}">
                <a16:creationId xmlns:a16="http://schemas.microsoft.com/office/drawing/2014/main" id="{C18703A3-4EDB-45DB-A131-73CFF0736BA8}"/>
              </a:ext>
            </a:extLst>
          </p:cNvPr>
          <p:cNvSpPr txBox="1">
            <a:spLocks noChangeArrowheads="1"/>
          </p:cNvSpPr>
          <p:nvPr/>
        </p:nvSpPr>
        <p:spPr bwMode="auto">
          <a:xfrm>
            <a:off x="847025" y="5999033"/>
            <a:ext cx="8640960" cy="53144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lnSpc>
                <a:spcPct val="90000"/>
              </a:lnSpc>
              <a:buFontTx/>
              <a:buNone/>
            </a:pPr>
            <a:r>
              <a:rPr kumimoji="0" lang="en-US" altLang="zh-CN" sz="3200" b="1" dirty="0">
                <a:solidFill>
                  <a:srgbClr val="FFFF00"/>
                </a:solidFill>
                <a:latin typeface="Arial" charset="0"/>
              </a:rPr>
              <a:t>CALL </a:t>
            </a:r>
            <a:r>
              <a:rPr lang="zh-CN" altLang="en-US" sz="3200" dirty="0"/>
              <a:t>存储过程名</a:t>
            </a:r>
            <a:r>
              <a:rPr lang="en-US" altLang="zh-CN" sz="3200" dirty="0"/>
              <a:t>([</a:t>
            </a:r>
            <a:r>
              <a:rPr lang="zh-CN" altLang="en-US" sz="3200" dirty="0"/>
              <a:t>参数</a:t>
            </a:r>
            <a:r>
              <a:rPr lang="en-US" altLang="zh-CN" sz="3200" dirty="0"/>
              <a:t>[,…]])</a:t>
            </a:r>
          </a:p>
          <a:p>
            <a:pPr lvl="0" eaLnBrk="1" hangingPunct="1">
              <a:lnSpc>
                <a:spcPct val="120000"/>
              </a:lnSpc>
              <a:spcAft>
                <a:spcPct val="0"/>
              </a:spcAft>
              <a:buNone/>
              <a:defRPr/>
            </a:pPr>
            <a:endParaRPr kumimoji="0" lang="en-US" altLang="en-US" sz="3200" dirty="0">
              <a:latin typeface="Arial" charset="0"/>
            </a:endParaRPr>
          </a:p>
        </p:txBody>
      </p:sp>
      <p:sp>
        <p:nvSpPr>
          <p:cNvPr id="20" name="矩形 19">
            <a:extLst>
              <a:ext uri="{FF2B5EF4-FFF2-40B4-BE49-F238E27FC236}">
                <a16:creationId xmlns:a16="http://schemas.microsoft.com/office/drawing/2014/main" id="{7EEDBA0A-6BEA-462C-BB39-6C325A675E74}"/>
              </a:ext>
            </a:extLst>
          </p:cNvPr>
          <p:cNvSpPr/>
          <p:nvPr/>
        </p:nvSpPr>
        <p:spPr>
          <a:xfrm>
            <a:off x="479376" y="970833"/>
            <a:ext cx="72336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indent="-342900" fontAlgn="base">
              <a:spcBef>
                <a:spcPct val="0"/>
              </a:spcBef>
              <a:spcAft>
                <a:spcPct val="40000"/>
              </a:spcAft>
              <a:buClr>
                <a:srgbClr val="66FF33"/>
              </a:buClr>
              <a:buSzPct val="85000"/>
              <a:buBlip>
                <a:blip r:embed="rId3"/>
              </a:buBlip>
            </a:pPr>
            <a:r>
              <a:rPr lang="zh-CN" altLang="en-US" sz="3200" kern="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创建存储过程的一般语法格式为：</a:t>
            </a:r>
          </a:p>
        </p:txBody>
      </p:sp>
      <p:sp>
        <p:nvSpPr>
          <p:cNvPr id="21" name="矩形 20">
            <a:extLst>
              <a:ext uri="{FF2B5EF4-FFF2-40B4-BE49-F238E27FC236}">
                <a16:creationId xmlns:a16="http://schemas.microsoft.com/office/drawing/2014/main" id="{77769A79-B807-4EEE-BD62-7930B231A543}"/>
              </a:ext>
            </a:extLst>
          </p:cNvPr>
          <p:cNvSpPr/>
          <p:nvPr/>
        </p:nvSpPr>
        <p:spPr>
          <a:xfrm>
            <a:off x="503753" y="5302392"/>
            <a:ext cx="72336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indent="-342900" fontAlgn="base">
              <a:spcBef>
                <a:spcPct val="0"/>
              </a:spcBef>
              <a:spcAft>
                <a:spcPct val="40000"/>
              </a:spcAft>
              <a:buClr>
                <a:srgbClr val="66FF33"/>
              </a:buClr>
              <a:buSzPct val="85000"/>
              <a:buBlip>
                <a:blip r:embed="rId3"/>
              </a:buBlip>
            </a:pPr>
            <a:r>
              <a:rPr lang="zh-CN" altLang="en-US" sz="3200" kern="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执行存储过程的一般语法格式为：</a:t>
            </a:r>
          </a:p>
        </p:txBody>
      </p:sp>
      <p:sp>
        <p:nvSpPr>
          <p:cNvPr id="22" name="Rectangle 26">
            <a:extLst>
              <a:ext uri="{FF2B5EF4-FFF2-40B4-BE49-F238E27FC236}">
                <a16:creationId xmlns:a16="http://schemas.microsoft.com/office/drawing/2014/main" id="{4D261AF7-EEF5-4A7C-B812-1D775BC59291}"/>
              </a:ext>
            </a:extLst>
          </p:cNvPr>
          <p:cNvSpPr>
            <a:spLocks noChangeArrowheads="1"/>
          </p:cNvSpPr>
          <p:nvPr/>
        </p:nvSpPr>
        <p:spPr bwMode="auto">
          <a:xfrm>
            <a:off x="5375920" y="2528081"/>
            <a:ext cx="4824536" cy="1988237"/>
          </a:xfrm>
          <a:prstGeom prst="rect">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wrap="square" anchor="ctr">
            <a:spAutoFit/>
          </a:bodyPr>
          <a:lstStyle/>
          <a:p>
            <a:pPr marL="360363" indent="-360363" fontAlgn="auto">
              <a:spcBef>
                <a:spcPts val="0"/>
              </a:spcBef>
              <a:spcAft>
                <a:spcPct val="40000"/>
              </a:spcAft>
              <a:buClr>
                <a:srgbClr val="66FF33"/>
              </a:buClr>
              <a:buSzPct val="85000"/>
              <a:buBlip>
                <a:blip r:embed="rId3"/>
              </a:buBlip>
              <a:defRPr/>
            </a:pPr>
            <a:r>
              <a:rPr kumimoji="0" lang="zh-CN" altLang="en-US" sz="2800" kern="0" dirty="0">
                <a:solidFill>
                  <a:srgbClr val="FFFFCC"/>
                </a:solidFill>
                <a:effectLst>
                  <a:outerShdw blurRad="38100" dist="38100" dir="2700000" algn="tl">
                    <a:srgbClr val="000000"/>
                  </a:outerShdw>
                </a:effectLst>
                <a:latin typeface="Times New Roman" pitchFamily="18" charset="0"/>
              </a:rPr>
              <a:t>参数可用</a:t>
            </a:r>
            <a:r>
              <a:rPr kumimoji="0" lang="en-US" altLang="zh-CN" sz="2800" kern="0" dirty="0">
                <a:solidFill>
                  <a:srgbClr val="FFFFCC"/>
                </a:solidFill>
                <a:effectLst>
                  <a:outerShdw blurRad="38100" dist="38100" dir="2700000" algn="tl">
                    <a:srgbClr val="000000"/>
                  </a:outerShdw>
                </a:effectLst>
                <a:latin typeface="Times New Roman" pitchFamily="18" charset="0"/>
              </a:rPr>
              <a:t>IN/OUT/INOUT</a:t>
            </a:r>
            <a:r>
              <a:rPr kumimoji="0" lang="zh-CN" altLang="en-US" sz="2800" kern="0" dirty="0">
                <a:solidFill>
                  <a:srgbClr val="FFFFCC"/>
                </a:solidFill>
                <a:effectLst>
                  <a:outerShdw blurRad="38100" dist="38100" dir="2700000" algn="tl">
                    <a:srgbClr val="000000"/>
                  </a:outerShdw>
                </a:effectLst>
                <a:latin typeface="Times New Roman" pitchFamily="18" charset="0"/>
              </a:rPr>
              <a:t>表示输入输出类型</a:t>
            </a:r>
            <a:endParaRPr kumimoji="0" lang="en-US" altLang="zh-CN" sz="2800" kern="0" dirty="0">
              <a:solidFill>
                <a:srgbClr val="FFFFCC"/>
              </a:solidFill>
              <a:effectLst>
                <a:outerShdw blurRad="38100" dist="38100" dir="2700000" algn="tl">
                  <a:srgbClr val="000000"/>
                </a:outerShdw>
              </a:effectLst>
              <a:latin typeface="Times New Roman" pitchFamily="18" charset="0"/>
            </a:endParaRPr>
          </a:p>
          <a:p>
            <a:pPr marL="360363" indent="-360363" fontAlgn="auto">
              <a:spcBef>
                <a:spcPts val="0"/>
              </a:spcBef>
              <a:spcAft>
                <a:spcPct val="40000"/>
              </a:spcAft>
              <a:buClr>
                <a:srgbClr val="66FF33"/>
              </a:buClr>
              <a:buSzPct val="85000"/>
              <a:buBlip>
                <a:blip r:embed="rId3"/>
              </a:buBlip>
              <a:defRPr/>
            </a:pPr>
            <a:r>
              <a:rPr kumimoji="0" lang="zh-CN" altLang="en-US" sz="2800" kern="0">
                <a:solidFill>
                  <a:srgbClr val="FFFFCC"/>
                </a:solidFill>
                <a:effectLst>
                  <a:outerShdw blurRad="38100" dist="38100" dir="2700000" algn="tl">
                    <a:srgbClr val="000000"/>
                  </a:outerShdw>
                </a:effectLst>
                <a:latin typeface="Times New Roman" pitchFamily="18" charset="0"/>
              </a:rPr>
              <a:t>存储过程选项</a:t>
            </a:r>
            <a:r>
              <a:rPr kumimoji="0" lang="zh-CN" altLang="en-US" sz="2800" kern="0" dirty="0">
                <a:solidFill>
                  <a:srgbClr val="FFFFCC"/>
                </a:solidFill>
                <a:effectLst>
                  <a:outerShdw blurRad="38100" dist="38100" dir="2700000" algn="tl">
                    <a:srgbClr val="000000"/>
                  </a:outerShdw>
                </a:effectLst>
                <a:latin typeface="Times New Roman" pitchFamily="18" charset="0"/>
              </a:rPr>
              <a:t>可指定</a:t>
            </a:r>
            <a:r>
              <a:rPr kumimoji="0" lang="en-US" altLang="zh-CN" sz="2800" kern="0" dirty="0">
                <a:solidFill>
                  <a:srgbClr val="FFFFCC"/>
                </a:solidFill>
                <a:effectLst>
                  <a:outerShdw blurRad="38100" dist="38100" dir="2700000" algn="tl">
                    <a:srgbClr val="000000"/>
                  </a:outerShdw>
                </a:effectLst>
                <a:latin typeface="Times New Roman" pitchFamily="18" charset="0"/>
              </a:rPr>
              <a:t>SQL</a:t>
            </a:r>
            <a:r>
              <a:rPr kumimoji="0" lang="zh-CN" altLang="en-US" sz="2800" kern="0" dirty="0">
                <a:solidFill>
                  <a:srgbClr val="FFFFCC"/>
                </a:solidFill>
                <a:effectLst>
                  <a:outerShdw blurRad="38100" dist="38100" dir="2700000" algn="tl">
                    <a:srgbClr val="000000"/>
                  </a:outerShdw>
                </a:effectLst>
                <a:latin typeface="Times New Roman" pitchFamily="18" charset="0"/>
              </a:rPr>
              <a:t>语句的类型</a:t>
            </a:r>
          </a:p>
        </p:txBody>
      </p:sp>
    </p:spTree>
    <p:extLst>
      <p:ext uri="{BB962C8B-B14F-4D97-AF65-F5344CB8AC3E}">
        <p14:creationId xmlns:p14="http://schemas.microsoft.com/office/powerpoint/2010/main" val="1801296866"/>
      </p:ext>
    </p:extLst>
  </p:cSld>
  <p:clrMapOvr>
    <a:masterClrMapping/>
  </p:clrMapOvr>
  <p:transition spd="slow">
    <p:push dir="u"/>
    <p:sndAc>
      <p:stSnd>
        <p:snd r:embed="rId2" name="arrow.wav"/>
      </p:stSnd>
    </p:sndAc>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type="body" idx="4294967295"/>
          </p:nvPr>
        </p:nvSpPr>
        <p:spPr>
          <a:xfrm>
            <a:off x="695400" y="404664"/>
            <a:ext cx="10945216" cy="6264696"/>
          </a:xfrm>
        </p:spPr>
        <p:txBody>
          <a:bodyPr>
            <a:normAutofit/>
          </a:bodyPr>
          <a:lstStyle/>
          <a:p>
            <a:pPr>
              <a:lnSpc>
                <a:spcPct val="150000"/>
              </a:lnSpc>
              <a:buFontTx/>
              <a:buNone/>
            </a:pPr>
            <a:r>
              <a:rPr lang="zh-CN" altLang="en-US" sz="2400" dirty="0">
                <a:latin typeface="宋体" pitchFamily="2" charset="-122"/>
              </a:rPr>
              <a:t>说明：</a:t>
            </a:r>
          </a:p>
          <a:p>
            <a:pPr>
              <a:lnSpc>
                <a:spcPct val="150000"/>
              </a:lnSpc>
            </a:pPr>
            <a:r>
              <a:rPr lang="en-US" altLang="zh-CN" sz="2400" dirty="0">
                <a:latin typeface="宋体" pitchFamily="2" charset="-122"/>
              </a:rPr>
              <a:t>(1)</a:t>
            </a:r>
            <a:r>
              <a:rPr lang="zh-CN" altLang="en-US" sz="2400" dirty="0">
                <a:solidFill>
                  <a:srgbClr val="C00000"/>
                </a:solidFill>
                <a:latin typeface="宋体" pitchFamily="2" charset="-122"/>
              </a:rPr>
              <a:t>参数</a:t>
            </a:r>
            <a:r>
              <a:rPr lang="zh-CN" altLang="en-US" sz="2400" dirty="0">
                <a:latin typeface="宋体" pitchFamily="2" charset="-122"/>
              </a:rPr>
              <a:t>用于在存储过程和它的调用者之间建立起一个信息传递的桥梁，使得存储过程可以从外界接收消息或者将</a:t>
            </a:r>
            <a:r>
              <a:rPr lang="zh-CN" altLang="en-US" sz="2400" dirty="0">
                <a:solidFill>
                  <a:srgbClr val="C00000"/>
                </a:solidFill>
                <a:latin typeface="宋体" pitchFamily="2" charset="-122"/>
              </a:rPr>
              <a:t>处理的结果、状态</a:t>
            </a:r>
            <a:r>
              <a:rPr lang="zh-CN" altLang="en-US" sz="2400" dirty="0">
                <a:latin typeface="宋体" pitchFamily="2" charset="-122"/>
              </a:rPr>
              <a:t>传递出来。如果存储过程需要参数，则每一个参数都需要定义输入输出类型、名称和数据类型，格式为：</a:t>
            </a:r>
          </a:p>
          <a:p>
            <a:pPr>
              <a:lnSpc>
                <a:spcPct val="150000"/>
              </a:lnSpc>
              <a:buFontTx/>
              <a:buNone/>
            </a:pPr>
            <a:r>
              <a:rPr lang="en-US" altLang="zh-CN" sz="2400" dirty="0">
                <a:latin typeface="宋体" pitchFamily="2" charset="-122"/>
              </a:rPr>
              <a:t>[ IN | OUT | INOUT ] </a:t>
            </a:r>
            <a:r>
              <a:rPr lang="zh-CN" altLang="en-US" sz="2400" dirty="0">
                <a:latin typeface="宋体" pitchFamily="2" charset="-122"/>
              </a:rPr>
              <a:t>参数名 数据类型</a:t>
            </a:r>
          </a:p>
          <a:p>
            <a:pPr lvl="1">
              <a:lnSpc>
                <a:spcPct val="150000"/>
              </a:lnSpc>
            </a:pPr>
            <a:r>
              <a:rPr lang="zh-CN" altLang="en-US" sz="2400" dirty="0">
                <a:latin typeface="宋体" pitchFamily="2" charset="-122"/>
              </a:rPr>
              <a:t>其中</a:t>
            </a:r>
            <a:r>
              <a:rPr lang="en-US" altLang="zh-CN" sz="2400" dirty="0">
                <a:solidFill>
                  <a:srgbClr val="C00000"/>
                </a:solidFill>
                <a:latin typeface="宋体" pitchFamily="2" charset="-122"/>
              </a:rPr>
              <a:t>IN</a:t>
            </a:r>
            <a:r>
              <a:rPr lang="zh-CN" altLang="en-US" sz="2400" dirty="0">
                <a:latin typeface="宋体" pitchFamily="2" charset="-122"/>
              </a:rPr>
              <a:t>表示在调用时需要向存储过程内传入数据的参数；</a:t>
            </a:r>
            <a:r>
              <a:rPr lang="en-US" altLang="zh-CN" sz="2400" dirty="0">
                <a:solidFill>
                  <a:srgbClr val="C00000"/>
                </a:solidFill>
                <a:latin typeface="宋体" pitchFamily="2" charset="-122"/>
              </a:rPr>
              <a:t>OU</a:t>
            </a:r>
            <a:r>
              <a:rPr lang="en-US" altLang="zh-CN" sz="2400" dirty="0">
                <a:latin typeface="宋体" pitchFamily="2" charset="-122"/>
              </a:rPr>
              <a:t>T</a:t>
            </a:r>
            <a:r>
              <a:rPr lang="zh-CN" altLang="en-US" sz="2400" dirty="0">
                <a:latin typeface="宋体" pitchFamily="2" charset="-122"/>
              </a:rPr>
              <a:t>表示存储过程执行完成后需要带出数据的参数；如果需要用一个参数在调用时传入数据而在执行完成后还是用它带出数据，则为</a:t>
            </a:r>
            <a:r>
              <a:rPr lang="en-US" altLang="zh-CN" sz="2400" dirty="0">
                <a:solidFill>
                  <a:srgbClr val="C00000"/>
                </a:solidFill>
                <a:latin typeface="宋体" pitchFamily="2" charset="-122"/>
              </a:rPr>
              <a:t>INOUT</a:t>
            </a:r>
            <a:r>
              <a:rPr lang="zh-CN" altLang="en-US" sz="2400" dirty="0">
                <a:latin typeface="宋体" pitchFamily="2" charset="-122"/>
              </a:rPr>
              <a:t>参数。</a:t>
            </a:r>
          </a:p>
        </p:txBody>
      </p:sp>
    </p:spTree>
    <p:extLst>
      <p:ext uri="{BB962C8B-B14F-4D97-AF65-F5344CB8AC3E}">
        <p14:creationId xmlns:p14="http://schemas.microsoft.com/office/powerpoint/2010/main" val="2629981419"/>
      </p:ext>
    </p:extLst>
  </p:cSld>
  <p:clrMapOvr>
    <a:masterClrMapping/>
  </p:clrMapOvr>
  <p:transition spd="slow">
    <p:wipe dir="r"/>
    <p:sndAc>
      <p:stSnd>
        <p:snd r:embed="rId2" name="arrow.wav"/>
      </p:stSnd>
    </p:sndAc>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3"/>
          <p:cNvSpPr>
            <a:spLocks noGrp="1" noChangeArrowheads="1"/>
          </p:cNvSpPr>
          <p:nvPr>
            <p:ph type="body" idx="4294967295"/>
          </p:nvPr>
        </p:nvSpPr>
        <p:spPr>
          <a:xfrm>
            <a:off x="983432" y="548680"/>
            <a:ext cx="10369152" cy="5976664"/>
          </a:xfrm>
        </p:spPr>
        <p:txBody>
          <a:bodyPr>
            <a:normAutofit fontScale="85000" lnSpcReduction="10000"/>
          </a:bodyPr>
          <a:lstStyle/>
          <a:p>
            <a:pPr>
              <a:lnSpc>
                <a:spcPct val="150000"/>
              </a:lnSpc>
              <a:buFontTx/>
              <a:buNone/>
            </a:pPr>
            <a:r>
              <a:rPr lang="en-US" altLang="zh-CN" sz="2400">
                <a:latin typeface="Tahoma" panose="020B0604030504040204" pitchFamily="34" charset="0"/>
                <a:ea typeface="宋体" panose="02010600030101010101" pitchFamily="2" charset="-122"/>
              </a:rPr>
              <a:t>1.</a:t>
            </a:r>
            <a:r>
              <a:rPr lang="zh-CN" altLang="en-US" sz="2400">
                <a:latin typeface="Tahoma" panose="020B0604030504040204" pitchFamily="34" charset="0"/>
                <a:ea typeface="宋体" panose="02010600030101010101" pitchFamily="2" charset="-122"/>
              </a:rPr>
              <a:t>创建和调用</a:t>
            </a:r>
            <a:r>
              <a:rPr lang="zh-CN" altLang="en-US" sz="2400">
                <a:solidFill>
                  <a:srgbClr val="C00000"/>
                </a:solidFill>
                <a:latin typeface="Tahoma" panose="020B0604030504040204" pitchFamily="34" charset="0"/>
                <a:ea typeface="宋体" panose="02010600030101010101" pitchFamily="2" charset="-122"/>
              </a:rPr>
              <a:t>不带参数</a:t>
            </a:r>
            <a:r>
              <a:rPr lang="zh-CN" altLang="en-US" sz="2400">
                <a:latin typeface="Tahoma" panose="020B0604030504040204" pitchFamily="34" charset="0"/>
                <a:ea typeface="宋体" panose="02010600030101010101" pitchFamily="2" charset="-122"/>
              </a:rPr>
              <a:t>的存储过程</a:t>
            </a:r>
          </a:p>
          <a:p>
            <a:pPr>
              <a:lnSpc>
                <a:spcPct val="150000"/>
              </a:lnSpc>
            </a:pPr>
            <a:r>
              <a:rPr lang="en-US" altLang="zh-CN" sz="2400">
                <a:latin typeface="Tahoma" panose="020B0604030504040204" pitchFamily="34" charset="0"/>
                <a:ea typeface="宋体" panose="02010600030101010101" pitchFamily="2" charset="-122"/>
              </a:rPr>
              <a:t>【</a:t>
            </a:r>
            <a:r>
              <a:rPr lang="zh-CN" altLang="en-US" sz="2400">
                <a:latin typeface="Tahoma" panose="020B0604030504040204" pitchFamily="34" charset="0"/>
                <a:ea typeface="宋体" panose="02010600030101010101" pitchFamily="2" charset="-122"/>
              </a:rPr>
              <a:t>例</a:t>
            </a:r>
            <a:r>
              <a:rPr lang="en-US" altLang="zh-CN" sz="2400">
                <a:latin typeface="Tahoma" panose="020B0604030504040204" pitchFamily="34" charset="0"/>
                <a:ea typeface="宋体" panose="02010600030101010101" pitchFamily="2" charset="-122"/>
              </a:rPr>
              <a:t>5-21】</a:t>
            </a:r>
            <a:r>
              <a:rPr lang="zh-CN" altLang="en-US" sz="2400">
                <a:latin typeface="Tahoma" panose="020B0604030504040204" pitchFamily="34" charset="0"/>
                <a:ea typeface="宋体" panose="02010600030101010101" pitchFamily="2" charset="-122"/>
              </a:rPr>
              <a:t>在</a:t>
            </a:r>
            <a:r>
              <a:rPr lang="en-US" altLang="zh-CN" sz="2400">
                <a:latin typeface="Tahoma" panose="020B0604030504040204" pitchFamily="34" charset="0"/>
                <a:ea typeface="宋体" panose="02010600030101010101" pitchFamily="2" charset="-122"/>
              </a:rPr>
              <a:t>college</a:t>
            </a:r>
            <a:r>
              <a:rPr lang="zh-CN" altLang="en-US" sz="2400">
                <a:latin typeface="Tahoma" panose="020B0604030504040204" pitchFamily="34" charset="0"/>
                <a:ea typeface="宋体" panose="02010600030101010101" pitchFamily="2" charset="-122"/>
              </a:rPr>
              <a:t>数据库中新建一个名为 </a:t>
            </a:r>
            <a:r>
              <a:rPr lang="en-US" altLang="zh-CN" sz="2400">
                <a:latin typeface="Tahoma" panose="020B0604030504040204" pitchFamily="34" charset="0"/>
                <a:ea typeface="宋体" panose="02010600030101010101" pitchFamily="2" charset="-122"/>
              </a:rPr>
              <a:t>p_em</a:t>
            </a:r>
            <a:r>
              <a:rPr lang="zh-CN" altLang="en-US" sz="2400">
                <a:latin typeface="Tahoma" panose="020B0604030504040204" pitchFamily="34" charset="0"/>
                <a:ea typeface="宋体" panose="02010600030101010101" pitchFamily="2" charset="-122"/>
              </a:rPr>
              <a:t>的存储过程。该存储过程输出</a:t>
            </a:r>
            <a:r>
              <a:rPr lang="en-US" altLang="zh-CN" sz="2400">
                <a:latin typeface="Tahoma" panose="020B0604030504040204" pitchFamily="34" charset="0"/>
                <a:ea typeface="宋体" panose="02010600030101010101" pitchFamily="2" charset="-122"/>
              </a:rPr>
              <a:t>teacher</a:t>
            </a:r>
            <a:r>
              <a:rPr lang="zh-CN" altLang="en-US" sz="2400">
                <a:latin typeface="Tahoma" panose="020B0604030504040204" pitchFamily="34" charset="0"/>
                <a:ea typeface="宋体" panose="02010600030101010101" pitchFamily="2" charset="-122"/>
              </a:rPr>
              <a:t>表中所有电子系男老师的记录。</a:t>
            </a:r>
          </a:p>
          <a:p>
            <a:pPr>
              <a:lnSpc>
                <a:spcPct val="150000"/>
              </a:lnSpc>
              <a:buFontTx/>
              <a:buNone/>
            </a:pPr>
            <a:r>
              <a:rPr lang="en-US" altLang="zh-CN" sz="2400">
                <a:latin typeface="Tahoma" panose="020B0604030504040204" pitchFamily="34" charset="0"/>
                <a:ea typeface="宋体" panose="02010600030101010101" pitchFamily="2" charset="-122"/>
              </a:rPr>
              <a:t>USE college;</a:t>
            </a:r>
          </a:p>
          <a:p>
            <a:pPr>
              <a:lnSpc>
                <a:spcPct val="150000"/>
              </a:lnSpc>
              <a:buFontTx/>
              <a:buNone/>
            </a:pPr>
            <a:r>
              <a:rPr lang="en-US" altLang="zh-CN" sz="2400">
                <a:latin typeface="Tahoma" panose="020B0604030504040204" pitchFamily="34" charset="0"/>
                <a:ea typeface="宋体" panose="02010600030101010101" pitchFamily="2" charset="-122"/>
              </a:rPr>
              <a:t>DELIMITER //</a:t>
            </a:r>
          </a:p>
          <a:p>
            <a:pPr>
              <a:lnSpc>
                <a:spcPct val="150000"/>
              </a:lnSpc>
              <a:buFontTx/>
              <a:buNone/>
            </a:pPr>
            <a:r>
              <a:rPr lang="en-US" altLang="zh-CN" sz="2400">
                <a:latin typeface="Tahoma" panose="020B0604030504040204" pitchFamily="34" charset="0"/>
                <a:ea typeface="宋体" panose="02010600030101010101" pitchFamily="2" charset="-122"/>
              </a:rPr>
              <a:t>CREATE PROCEDURE p_em ( )</a:t>
            </a:r>
          </a:p>
          <a:p>
            <a:pPr>
              <a:lnSpc>
                <a:spcPct val="150000"/>
              </a:lnSpc>
              <a:buFontTx/>
              <a:buNone/>
            </a:pPr>
            <a:r>
              <a:rPr lang="en-US" altLang="zh-CN" sz="2400">
                <a:latin typeface="Tahoma" panose="020B0604030504040204" pitchFamily="34" charset="0"/>
                <a:ea typeface="宋体" panose="02010600030101010101" pitchFamily="2" charset="-122"/>
              </a:rPr>
              <a:t>BEGIN</a:t>
            </a:r>
          </a:p>
          <a:p>
            <a:pPr>
              <a:lnSpc>
                <a:spcPct val="150000"/>
              </a:lnSpc>
              <a:buFontTx/>
              <a:buNone/>
            </a:pPr>
            <a:r>
              <a:rPr lang="en-US" altLang="zh-CN" sz="2400">
                <a:latin typeface="Tahoma" panose="020B0604030504040204" pitchFamily="34" charset="0"/>
                <a:ea typeface="宋体" panose="02010600030101010101" pitchFamily="2" charset="-122"/>
              </a:rPr>
              <a:t>	SELECT  * </a:t>
            </a:r>
          </a:p>
          <a:p>
            <a:pPr>
              <a:lnSpc>
                <a:spcPct val="150000"/>
              </a:lnSpc>
              <a:buFontTx/>
              <a:buNone/>
            </a:pPr>
            <a:r>
              <a:rPr lang="en-US" altLang="zh-CN" sz="2400">
                <a:latin typeface="Tahoma" panose="020B0604030504040204" pitchFamily="34" charset="0"/>
                <a:ea typeface="宋体" panose="02010600030101010101" pitchFamily="2" charset="-122"/>
              </a:rPr>
              <a:t>	FROM teacher </a:t>
            </a:r>
          </a:p>
          <a:p>
            <a:pPr>
              <a:lnSpc>
                <a:spcPct val="150000"/>
              </a:lnSpc>
              <a:buFontTx/>
              <a:buNone/>
            </a:pPr>
            <a:r>
              <a:rPr lang="en-US" altLang="zh-CN" sz="2400">
                <a:latin typeface="Tahoma" panose="020B0604030504040204" pitchFamily="34" charset="0"/>
                <a:ea typeface="宋体" panose="02010600030101010101" pitchFamily="2" charset="-122"/>
              </a:rPr>
              <a:t>	WHERE	sex = '</a:t>
            </a:r>
            <a:r>
              <a:rPr lang="zh-CN" altLang="en-US" sz="2400">
                <a:latin typeface="Tahoma" panose="020B0604030504040204" pitchFamily="34" charset="0"/>
                <a:ea typeface="宋体" panose="02010600030101010101" pitchFamily="2" charset="-122"/>
              </a:rPr>
              <a:t>男</a:t>
            </a:r>
            <a:r>
              <a:rPr lang="en-US" altLang="zh-CN" sz="2400">
                <a:latin typeface="Tahoma" panose="020B0604030504040204" pitchFamily="34" charset="0"/>
                <a:ea typeface="宋体" panose="02010600030101010101" pitchFamily="2" charset="-122"/>
              </a:rPr>
              <a:t>' and Dep='</a:t>
            </a:r>
            <a:r>
              <a:rPr lang="zh-CN" altLang="en-US" sz="2400">
                <a:latin typeface="Tahoma" panose="020B0604030504040204" pitchFamily="34" charset="0"/>
                <a:ea typeface="宋体" panose="02010600030101010101" pitchFamily="2" charset="-122"/>
              </a:rPr>
              <a:t>电子</a:t>
            </a:r>
            <a:r>
              <a:rPr lang="en-US" altLang="zh-CN" sz="2400">
                <a:latin typeface="Tahoma" panose="020B0604030504040204" pitchFamily="34" charset="0"/>
                <a:ea typeface="宋体" panose="02010600030101010101" pitchFamily="2" charset="-122"/>
              </a:rPr>
              <a:t>';</a:t>
            </a:r>
          </a:p>
          <a:p>
            <a:pPr>
              <a:lnSpc>
                <a:spcPct val="150000"/>
              </a:lnSpc>
              <a:buFontTx/>
              <a:buNone/>
            </a:pPr>
            <a:r>
              <a:rPr lang="en-US" altLang="zh-CN" sz="2400">
                <a:latin typeface="Tahoma" panose="020B0604030504040204" pitchFamily="34" charset="0"/>
                <a:ea typeface="宋体" panose="02010600030101010101" pitchFamily="2" charset="-122"/>
              </a:rPr>
              <a:t>END; //</a:t>
            </a:r>
          </a:p>
          <a:p>
            <a:pPr>
              <a:lnSpc>
                <a:spcPct val="150000"/>
              </a:lnSpc>
              <a:buFontTx/>
              <a:buNone/>
            </a:pPr>
            <a:r>
              <a:rPr lang="en-US" altLang="zh-CN" sz="2400">
                <a:latin typeface="Tahoma" panose="020B0604030504040204" pitchFamily="34" charset="0"/>
                <a:ea typeface="宋体" panose="02010600030101010101" pitchFamily="2" charset="-122"/>
              </a:rPr>
              <a:t>DELIMITER;</a:t>
            </a:r>
            <a:endParaRPr lang="zh-CN" altLang="en-US" sz="240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49048917"/>
      </p:ext>
    </p:extLst>
  </p:cSld>
  <p:clrMapOvr>
    <a:masterClrMapping/>
  </p:clrMapOvr>
  <p:transition spd="slow">
    <p:wipe dir="r"/>
    <p:sndAc>
      <p:stSnd>
        <p:snd r:embed="rId2" name="arrow.wav"/>
      </p:stSnd>
    </p:sndAc>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type="body" idx="4294967295"/>
          </p:nvPr>
        </p:nvSpPr>
        <p:spPr>
          <a:xfrm>
            <a:off x="479376" y="764704"/>
            <a:ext cx="10972800" cy="4525963"/>
          </a:xfrm>
        </p:spPr>
        <p:txBody>
          <a:bodyPr/>
          <a:lstStyle/>
          <a:p>
            <a:pPr>
              <a:lnSpc>
                <a:spcPct val="150000"/>
              </a:lnSpc>
            </a:pPr>
            <a:r>
              <a:rPr lang="zh-CN" altLang="en-US" dirty="0" smtClean="0">
                <a:latin typeface="Tahoma" panose="020B0604030504040204" pitchFamily="34" charset="0"/>
                <a:ea typeface="宋体" panose="02010600030101010101" pitchFamily="2" charset="-122"/>
              </a:rPr>
              <a:t>如果存储过程的程序体中包含以“；”结束的语句，那么就必须要使用</a:t>
            </a:r>
            <a:r>
              <a:rPr lang="en-US" altLang="zh-CN" dirty="0" smtClean="0">
                <a:solidFill>
                  <a:srgbClr val="FF0000"/>
                </a:solidFill>
                <a:latin typeface="Tahoma" panose="020B0604030504040204" pitchFamily="34" charset="0"/>
                <a:ea typeface="宋体" panose="02010600030101010101" pitchFamily="2" charset="-122"/>
              </a:rPr>
              <a:t>DELIMITER</a:t>
            </a:r>
            <a:r>
              <a:rPr lang="zh-CN" altLang="en-US" dirty="0" smtClean="0">
                <a:latin typeface="Tahoma" panose="020B0604030504040204" pitchFamily="34" charset="0"/>
                <a:ea typeface="宋体" panose="02010600030101010101" pitchFamily="2" charset="-122"/>
              </a:rPr>
              <a:t>语句来改变语句结束符。本例开头的“</a:t>
            </a:r>
            <a:r>
              <a:rPr lang="en-US" altLang="zh-CN" dirty="0" smtClean="0">
                <a:latin typeface="Tahoma" panose="020B0604030504040204" pitchFamily="34" charset="0"/>
                <a:ea typeface="宋体" panose="02010600030101010101" pitchFamily="2" charset="-122"/>
              </a:rPr>
              <a:t>DELIMITER //”</a:t>
            </a:r>
            <a:r>
              <a:rPr lang="zh-CN" altLang="en-US" dirty="0" smtClean="0">
                <a:latin typeface="Tahoma" panose="020B0604030504040204" pitchFamily="34" charset="0"/>
                <a:ea typeface="宋体" panose="02010600030101010101" pitchFamily="2" charset="-122"/>
              </a:rPr>
              <a:t>语句的作用就是把语句结束符改为“</a:t>
            </a:r>
            <a:r>
              <a:rPr lang="en-US" altLang="zh-CN" dirty="0" smtClean="0">
                <a:latin typeface="Tahoma" panose="020B0604030504040204" pitchFamily="34" charset="0"/>
                <a:ea typeface="宋体" panose="02010600030101010101" pitchFamily="2" charset="-122"/>
              </a:rPr>
              <a:t>//”</a:t>
            </a:r>
            <a:r>
              <a:rPr lang="zh-CN" altLang="en-US" dirty="0" smtClean="0">
                <a:latin typeface="Tahoma" panose="020B0604030504040204" pitchFamily="34" charset="0"/>
                <a:ea typeface="宋体" panose="02010600030101010101" pitchFamily="2" charset="-122"/>
              </a:rPr>
              <a:t>，当存储过程语句编辑执行完成后，再用“</a:t>
            </a:r>
            <a:r>
              <a:rPr lang="en-US" altLang="zh-CN" dirty="0" smtClean="0">
                <a:latin typeface="Tahoma" panose="020B0604030504040204" pitchFamily="34" charset="0"/>
                <a:ea typeface="宋体" panose="02010600030101010101" pitchFamily="2" charset="-122"/>
              </a:rPr>
              <a:t>DELIMITER</a:t>
            </a:r>
            <a:r>
              <a:rPr lang="zh-CN" altLang="en-US" dirty="0" smtClean="0">
                <a:latin typeface="Tahoma" panose="020B0604030504040204" pitchFamily="34" charset="0"/>
                <a:ea typeface="宋体" panose="02010600030101010101" pitchFamily="2" charset="-122"/>
              </a:rPr>
              <a:t>；”语句把结束符改回“；”。</a:t>
            </a:r>
          </a:p>
        </p:txBody>
      </p:sp>
    </p:spTree>
    <p:extLst>
      <p:ext uri="{BB962C8B-B14F-4D97-AF65-F5344CB8AC3E}">
        <p14:creationId xmlns:p14="http://schemas.microsoft.com/office/powerpoint/2010/main" val="2850775197"/>
      </p:ext>
    </p:extLst>
  </p:cSld>
  <p:clrMapOvr>
    <a:masterClrMapping/>
  </p:clrMapOvr>
  <p:transition spd="slow">
    <p:wipe dir="r"/>
    <p:sndAc>
      <p:stSnd>
        <p:snd r:embed="rId2" name="arrow.wav"/>
      </p:stSnd>
    </p:sndAc>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body" idx="4294967295"/>
          </p:nvPr>
        </p:nvSpPr>
        <p:spPr>
          <a:xfrm>
            <a:off x="551384" y="692696"/>
            <a:ext cx="10972800" cy="4525963"/>
          </a:xfrm>
        </p:spPr>
        <p:txBody>
          <a:bodyPr>
            <a:noAutofit/>
          </a:bodyPr>
          <a:lstStyle/>
          <a:p>
            <a:pPr>
              <a:lnSpc>
                <a:spcPct val="150000"/>
              </a:lnSpc>
              <a:buFontTx/>
              <a:buNone/>
            </a:pPr>
            <a:r>
              <a:rPr lang="en-US" altLang="zh-CN" sz="2800" dirty="0">
                <a:latin typeface="宋体" pitchFamily="2" charset="-122"/>
              </a:rPr>
              <a:t>2.</a:t>
            </a:r>
            <a:r>
              <a:rPr lang="zh-CN" altLang="en-US" sz="2800" dirty="0">
                <a:latin typeface="宋体" pitchFamily="2" charset="-122"/>
              </a:rPr>
              <a:t>创建和调用带有参数的存储过程</a:t>
            </a:r>
          </a:p>
          <a:p>
            <a:pPr>
              <a:lnSpc>
                <a:spcPct val="150000"/>
              </a:lnSpc>
            </a:pPr>
            <a:r>
              <a:rPr lang="zh-CN" altLang="en-US" sz="2800" dirty="0">
                <a:latin typeface="宋体" pitchFamily="2" charset="-122"/>
              </a:rPr>
              <a:t>例</a:t>
            </a:r>
            <a:r>
              <a:rPr lang="en-US" altLang="zh-CN" sz="2800" dirty="0">
                <a:latin typeface="宋体" pitchFamily="2" charset="-122"/>
              </a:rPr>
              <a:t>5-21</a:t>
            </a:r>
            <a:r>
              <a:rPr lang="zh-CN" altLang="en-US" sz="2800" dirty="0">
                <a:latin typeface="宋体" pitchFamily="2" charset="-122"/>
              </a:rPr>
              <a:t>中创建的存储过程</a:t>
            </a:r>
            <a:r>
              <a:rPr lang="en-US" altLang="zh-CN" sz="2800" dirty="0" err="1">
                <a:latin typeface="宋体" pitchFamily="2" charset="-122"/>
              </a:rPr>
              <a:t>p_em</a:t>
            </a:r>
            <a:r>
              <a:rPr lang="zh-CN" altLang="en-US" sz="2800" dirty="0">
                <a:latin typeface="宋体" pitchFamily="2" charset="-122"/>
              </a:rPr>
              <a:t>只能输出电子系的男老师。如果要让用户能够按照一个任意给定的系别进行查询，这时就要用到</a:t>
            </a:r>
            <a:r>
              <a:rPr lang="zh-CN" altLang="en-US" sz="2800" dirty="0">
                <a:solidFill>
                  <a:srgbClr val="C00000"/>
                </a:solidFill>
                <a:latin typeface="宋体" pitchFamily="2" charset="-122"/>
              </a:rPr>
              <a:t>输入参数</a:t>
            </a:r>
            <a:r>
              <a:rPr lang="zh-CN" altLang="en-US" sz="2800" dirty="0">
                <a:latin typeface="宋体" pitchFamily="2" charset="-122"/>
              </a:rPr>
              <a:t>了。</a:t>
            </a:r>
          </a:p>
          <a:p>
            <a:pPr>
              <a:lnSpc>
                <a:spcPct val="150000"/>
              </a:lnSpc>
            </a:pPr>
            <a:r>
              <a:rPr lang="zh-CN" altLang="en-US" sz="2800" dirty="0">
                <a:latin typeface="宋体" pitchFamily="2" charset="-122"/>
              </a:rPr>
              <a:t>输入参数是指由调用程序向存储过程传递的参数，在创建存储过程时定义输入参数，在调用存储过程时提供相应的参数值。定义时输入参数前面加</a:t>
            </a:r>
            <a:r>
              <a:rPr lang="en-US" altLang="zh-CN" sz="2800" dirty="0">
                <a:solidFill>
                  <a:srgbClr val="C00000"/>
                </a:solidFill>
                <a:latin typeface="宋体" pitchFamily="2" charset="-122"/>
              </a:rPr>
              <a:t>IN</a:t>
            </a:r>
            <a:r>
              <a:rPr lang="zh-CN" altLang="en-US" sz="2800" dirty="0">
                <a:latin typeface="宋体" pitchFamily="2" charset="-122"/>
              </a:rPr>
              <a:t>关键字</a:t>
            </a:r>
          </a:p>
        </p:txBody>
      </p:sp>
    </p:spTree>
    <p:extLst>
      <p:ext uri="{BB962C8B-B14F-4D97-AF65-F5344CB8AC3E}">
        <p14:creationId xmlns:p14="http://schemas.microsoft.com/office/powerpoint/2010/main" val="1782243543"/>
      </p:ext>
    </p:extLst>
  </p:cSld>
  <p:clrMapOvr>
    <a:masterClrMapping/>
  </p:clrMapOvr>
  <p:transition spd="slow">
    <p:wipe dir="r"/>
    <p:sndAc>
      <p:stSnd>
        <p:snd r:embed="rId2" name="arrow.wav"/>
      </p:stSnd>
    </p:sndAc>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5497222" y="838270"/>
            <a:ext cx="184731" cy="707886"/>
          </a:xfrm>
        </p:spPr>
        <p:txBody>
          <a:bodyPr/>
          <a:lstStyle/>
          <a:p>
            <a:endParaRPr lang="zh-CN" altLang="en-US" smtClean="0">
              <a:latin typeface="Times New Roman" panose="02020603050405020304" pitchFamily="18" charset="0"/>
              <a:ea typeface="宋体" panose="02010600030101010101" pitchFamily="2" charset="-122"/>
            </a:endParaRPr>
          </a:p>
        </p:txBody>
      </p:sp>
      <p:sp>
        <p:nvSpPr>
          <p:cNvPr id="79875" name="Rectangle 3"/>
          <p:cNvSpPr>
            <a:spLocks noGrp="1" noChangeArrowheads="1"/>
          </p:cNvSpPr>
          <p:nvPr>
            <p:ph type="body" idx="4294967295"/>
          </p:nvPr>
        </p:nvSpPr>
        <p:spPr>
          <a:xfrm>
            <a:off x="1524000" y="0"/>
            <a:ext cx="9144000" cy="6858000"/>
          </a:xfrm>
          <a:solidFill>
            <a:schemeClr val="bg1"/>
          </a:solidFill>
        </p:spPr>
        <p:txBody>
          <a:bodyPr/>
          <a:lstStyle/>
          <a:p>
            <a:pPr>
              <a:lnSpc>
                <a:spcPct val="80000"/>
              </a:lnSpc>
            </a:pPr>
            <a:r>
              <a:rPr lang="en-US" altLang="zh-CN" dirty="0">
                <a:solidFill>
                  <a:schemeClr val="tx1"/>
                </a:solidFill>
                <a:latin typeface="Tahoma" panose="020B0604030504040204" pitchFamily="34" charset="0"/>
                <a:ea typeface="宋体" panose="02010600030101010101" pitchFamily="2" charset="-122"/>
              </a:rPr>
              <a:t>【</a:t>
            </a:r>
            <a:r>
              <a:rPr lang="zh-CN" altLang="en-US" dirty="0">
                <a:solidFill>
                  <a:schemeClr val="tx1"/>
                </a:solidFill>
                <a:latin typeface="Tahoma" panose="020B0604030504040204" pitchFamily="34" charset="0"/>
                <a:ea typeface="宋体" panose="02010600030101010101" pitchFamily="2" charset="-122"/>
              </a:rPr>
              <a:t>例</a:t>
            </a:r>
            <a:r>
              <a:rPr lang="en-US" altLang="zh-CN" dirty="0">
                <a:solidFill>
                  <a:schemeClr val="tx1"/>
                </a:solidFill>
                <a:latin typeface="Tahoma" panose="020B0604030504040204" pitchFamily="34" charset="0"/>
                <a:ea typeface="宋体" panose="02010600030101010101" pitchFamily="2" charset="-122"/>
              </a:rPr>
              <a:t>5-23】</a:t>
            </a:r>
            <a:r>
              <a:rPr lang="zh-CN" altLang="en-US" dirty="0">
                <a:solidFill>
                  <a:schemeClr val="tx1"/>
                </a:solidFill>
                <a:latin typeface="Tahoma" panose="020B0604030504040204" pitchFamily="34" charset="0"/>
                <a:ea typeface="宋体" panose="02010600030101010101" pitchFamily="2" charset="-122"/>
              </a:rPr>
              <a:t>在</a:t>
            </a:r>
            <a:r>
              <a:rPr lang="en-US" altLang="zh-CN" dirty="0">
                <a:solidFill>
                  <a:schemeClr val="tx1"/>
                </a:solidFill>
                <a:latin typeface="Tahoma" panose="020B0604030504040204" pitchFamily="34" charset="0"/>
                <a:ea typeface="宋体" panose="02010600030101010101" pitchFamily="2" charset="-122"/>
              </a:rPr>
              <a:t>college</a:t>
            </a:r>
            <a:r>
              <a:rPr lang="zh-CN" altLang="en-US" dirty="0">
                <a:solidFill>
                  <a:schemeClr val="tx1"/>
                </a:solidFill>
                <a:latin typeface="Tahoma" panose="020B0604030504040204" pitchFamily="34" charset="0"/>
                <a:ea typeface="宋体" panose="02010600030101010101" pitchFamily="2" charset="-122"/>
              </a:rPr>
              <a:t>数据库中创建一个名为</a:t>
            </a:r>
            <a:r>
              <a:rPr lang="en-US" altLang="zh-CN" dirty="0" err="1">
                <a:solidFill>
                  <a:schemeClr val="tx1"/>
                </a:solidFill>
                <a:latin typeface="Tahoma" panose="020B0604030504040204" pitchFamily="34" charset="0"/>
                <a:ea typeface="宋体" panose="02010600030101010101" pitchFamily="2" charset="-122"/>
              </a:rPr>
              <a:t>p_vardep</a:t>
            </a:r>
            <a:r>
              <a:rPr lang="zh-CN" altLang="en-US" dirty="0">
                <a:solidFill>
                  <a:schemeClr val="tx1"/>
                </a:solidFill>
                <a:latin typeface="Tahoma" panose="020B0604030504040204" pitchFamily="34" charset="0"/>
                <a:ea typeface="宋体" panose="02010600030101010101" pitchFamily="2" charset="-122"/>
              </a:rPr>
              <a:t>的存储过程，它能根据给定的系名查询并返回 </a:t>
            </a:r>
            <a:r>
              <a:rPr lang="en-US" altLang="zh-CN" dirty="0">
                <a:solidFill>
                  <a:schemeClr val="tx1"/>
                </a:solidFill>
                <a:latin typeface="Tahoma" panose="020B0604030504040204" pitchFamily="34" charset="0"/>
                <a:ea typeface="宋体" panose="02010600030101010101" pitchFamily="2" charset="-122"/>
              </a:rPr>
              <a:t>teacher</a:t>
            </a:r>
            <a:r>
              <a:rPr lang="zh-CN" altLang="en-US" dirty="0">
                <a:solidFill>
                  <a:schemeClr val="tx1"/>
                </a:solidFill>
                <a:latin typeface="Tahoma" panose="020B0604030504040204" pitchFamily="34" charset="0"/>
                <a:ea typeface="宋体" panose="02010600030101010101" pitchFamily="2" charset="-122"/>
              </a:rPr>
              <a:t>表中相应系老师的记录。</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USE college;</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DELIMITER //</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CREATE PROCEDURE </a:t>
            </a:r>
            <a:r>
              <a:rPr lang="en-US" altLang="zh-CN" dirty="0" err="1">
                <a:solidFill>
                  <a:schemeClr val="tx1"/>
                </a:solidFill>
                <a:latin typeface="Tahoma" panose="020B0604030504040204" pitchFamily="34" charset="0"/>
                <a:ea typeface="宋体" panose="02010600030101010101" pitchFamily="2" charset="-122"/>
              </a:rPr>
              <a:t>p_vardep</a:t>
            </a:r>
            <a:r>
              <a:rPr lang="en-US" altLang="zh-CN" dirty="0">
                <a:solidFill>
                  <a:schemeClr val="tx1"/>
                </a:solidFill>
                <a:latin typeface="Tahoma" panose="020B0604030504040204" pitchFamily="34" charset="0"/>
                <a:ea typeface="宋体" panose="02010600030101010101" pitchFamily="2" charset="-122"/>
              </a:rPr>
              <a:t> (IN </a:t>
            </a:r>
            <a:r>
              <a:rPr lang="en-US" altLang="zh-CN" dirty="0" err="1">
                <a:solidFill>
                  <a:schemeClr val="tx1"/>
                </a:solidFill>
                <a:latin typeface="Tahoma" panose="020B0604030504040204" pitchFamily="34" charset="0"/>
                <a:ea typeface="宋体" panose="02010600030101010101" pitchFamily="2" charset="-122"/>
              </a:rPr>
              <a:t>depname</a:t>
            </a:r>
            <a:r>
              <a:rPr lang="en-US" altLang="zh-CN" dirty="0">
                <a:solidFill>
                  <a:schemeClr val="tx1"/>
                </a:solidFill>
                <a:latin typeface="Tahoma" panose="020B0604030504040204" pitchFamily="34" charset="0"/>
                <a:ea typeface="宋体" panose="02010600030101010101" pitchFamily="2" charset="-122"/>
              </a:rPr>
              <a:t> varchar(30) )</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BEGIN</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	SELECT  * </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	FROM teacher </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	WHERE Dep=</a:t>
            </a:r>
            <a:r>
              <a:rPr lang="en-US" altLang="zh-CN" dirty="0" err="1">
                <a:solidFill>
                  <a:schemeClr val="tx1"/>
                </a:solidFill>
                <a:latin typeface="Tahoma" panose="020B0604030504040204" pitchFamily="34" charset="0"/>
                <a:ea typeface="宋体" panose="02010600030101010101" pitchFamily="2" charset="-122"/>
              </a:rPr>
              <a:t>depname</a:t>
            </a:r>
            <a:r>
              <a:rPr lang="en-US" altLang="zh-CN" dirty="0">
                <a:solidFill>
                  <a:schemeClr val="tx1"/>
                </a:solidFill>
                <a:latin typeface="Tahoma" panose="020B0604030504040204" pitchFamily="34" charset="0"/>
                <a:ea typeface="宋体" panose="02010600030101010101" pitchFamily="2" charset="-122"/>
              </a:rPr>
              <a:t>;</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END; </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DELIMITER;</a:t>
            </a:r>
            <a:endParaRPr lang="zh-CN" altLang="en-US" dirty="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06686009"/>
      </p:ext>
    </p:extLst>
  </p:cSld>
  <p:clrMapOvr>
    <a:masterClrMapping/>
  </p:clrMapOvr>
  <p:transition spd="slow">
    <p:wipe dir="r"/>
    <p:sndAc>
      <p:stSnd>
        <p:snd r:embed="rId2" name="arrow.wav"/>
      </p:stSnd>
    </p:sndAc>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3"/>
          <p:cNvSpPr>
            <a:spLocks noGrp="1" noChangeArrowheads="1"/>
          </p:cNvSpPr>
          <p:nvPr>
            <p:ph type="body" idx="4294967295"/>
          </p:nvPr>
        </p:nvSpPr>
        <p:spPr>
          <a:xfrm>
            <a:off x="1487488" y="332656"/>
            <a:ext cx="7847012" cy="4562475"/>
          </a:xfrm>
        </p:spPr>
        <p:txBody>
          <a:bodyPr/>
          <a:lstStyle/>
          <a:p>
            <a:r>
              <a:rPr lang="en-US" altLang="zh-CN" dirty="0" smtClean="0">
                <a:latin typeface="Tahoma" panose="020B0604030504040204" pitchFamily="34" charset="0"/>
                <a:ea typeface="宋体" panose="02010600030101010101" pitchFamily="2" charset="-122"/>
              </a:rPr>
              <a:t>【</a:t>
            </a:r>
            <a:r>
              <a:rPr lang="zh-CN" altLang="en-US" dirty="0" smtClean="0">
                <a:latin typeface="Tahoma" panose="020B0604030504040204" pitchFamily="34" charset="0"/>
                <a:ea typeface="宋体" panose="02010600030101010101" pitchFamily="2" charset="-122"/>
              </a:rPr>
              <a:t>例</a:t>
            </a:r>
            <a:r>
              <a:rPr lang="en-US" altLang="zh-CN" dirty="0" smtClean="0">
                <a:latin typeface="Tahoma" panose="020B0604030504040204" pitchFamily="34" charset="0"/>
                <a:ea typeface="宋体" panose="02010600030101010101" pitchFamily="2" charset="-122"/>
              </a:rPr>
              <a:t>5-24】</a:t>
            </a:r>
            <a:r>
              <a:rPr lang="zh-CN" altLang="en-US" dirty="0" smtClean="0">
                <a:latin typeface="Tahoma" panose="020B0604030504040204" pitchFamily="34" charset="0"/>
                <a:ea typeface="宋体" panose="02010600030101010101" pitchFamily="2" charset="-122"/>
              </a:rPr>
              <a:t>用传值的方式执行存储过程</a:t>
            </a:r>
            <a:r>
              <a:rPr lang="en-US" altLang="zh-CN" dirty="0" err="1" smtClean="0">
                <a:latin typeface="Tahoma" panose="020B0604030504040204" pitchFamily="34" charset="0"/>
                <a:ea typeface="宋体" panose="02010600030101010101" pitchFamily="2" charset="-122"/>
              </a:rPr>
              <a:t>p_vardep</a:t>
            </a:r>
            <a:r>
              <a:rPr lang="zh-CN" altLang="en-US" dirty="0" smtClean="0">
                <a:latin typeface="Tahoma" panose="020B0604030504040204" pitchFamily="34" charset="0"/>
                <a:ea typeface="宋体" panose="02010600030101010101" pitchFamily="2" charset="-122"/>
              </a:rPr>
              <a:t>，查找物联网系的老师。</a:t>
            </a:r>
          </a:p>
          <a:p>
            <a:pPr>
              <a:buFontTx/>
              <a:buNone/>
            </a:pPr>
            <a:r>
              <a:rPr lang="en-US" altLang="zh-CN" dirty="0" smtClean="0">
                <a:latin typeface="Tahoma" panose="020B0604030504040204" pitchFamily="34" charset="0"/>
                <a:ea typeface="宋体" panose="02010600030101010101" pitchFamily="2" charset="-122"/>
              </a:rPr>
              <a:t>call </a:t>
            </a:r>
            <a:r>
              <a:rPr lang="en-US" altLang="zh-CN" dirty="0" err="1" smtClean="0">
                <a:latin typeface="Tahoma" panose="020B0604030504040204" pitchFamily="34" charset="0"/>
                <a:ea typeface="宋体" panose="02010600030101010101" pitchFamily="2" charset="-122"/>
              </a:rPr>
              <a:t>p_vardep</a:t>
            </a:r>
            <a:r>
              <a:rPr lang="en-US" altLang="zh-CN" dirty="0" smtClean="0">
                <a:latin typeface="Tahoma" panose="020B0604030504040204" pitchFamily="34" charset="0"/>
                <a:ea typeface="宋体" panose="02010600030101010101" pitchFamily="2" charset="-122"/>
              </a:rPr>
              <a:t>('</a:t>
            </a:r>
            <a:r>
              <a:rPr lang="zh-CN" altLang="en-US" dirty="0" smtClean="0">
                <a:latin typeface="Tahoma" panose="020B0604030504040204" pitchFamily="34" charset="0"/>
                <a:ea typeface="宋体" panose="02010600030101010101" pitchFamily="2" charset="-122"/>
              </a:rPr>
              <a:t>物联网</a:t>
            </a:r>
            <a:r>
              <a:rPr lang="en-US" altLang="zh-CN" dirty="0" smtClean="0">
                <a:latin typeface="Tahoma" panose="020B0604030504040204" pitchFamily="34" charset="0"/>
                <a:ea typeface="宋体" panose="02010600030101010101" pitchFamily="2" charset="-122"/>
              </a:rPr>
              <a:t>');</a:t>
            </a:r>
          </a:p>
          <a:p>
            <a:r>
              <a:rPr lang="zh-CN" altLang="en-US" dirty="0" smtClean="0">
                <a:latin typeface="Tahoma" panose="020B0604030504040204" pitchFamily="34" charset="0"/>
                <a:ea typeface="宋体" panose="02010600030101010101" pitchFamily="2" charset="-122"/>
              </a:rPr>
              <a:t>运行结果如图</a:t>
            </a:r>
            <a:r>
              <a:rPr lang="en-US" altLang="zh-CN" dirty="0" smtClean="0">
                <a:latin typeface="Tahoma" panose="020B0604030504040204" pitchFamily="34" charset="0"/>
                <a:ea typeface="宋体" panose="02010600030101010101" pitchFamily="2" charset="-122"/>
              </a:rPr>
              <a:t>5-11</a:t>
            </a:r>
            <a:r>
              <a:rPr lang="zh-CN" altLang="en-US" dirty="0" smtClean="0">
                <a:latin typeface="Tahoma" panose="020B0604030504040204" pitchFamily="34" charset="0"/>
                <a:ea typeface="宋体" panose="02010600030101010101" pitchFamily="2" charset="-122"/>
              </a:rPr>
              <a:t>所示。</a:t>
            </a:r>
          </a:p>
        </p:txBody>
      </p:sp>
      <p:pic>
        <p:nvPicPr>
          <p:cNvPr id="809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656" y="3212976"/>
            <a:ext cx="5832475"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338415"/>
      </p:ext>
    </p:extLst>
  </p:cSld>
  <p:clrMapOvr>
    <a:masterClrMapping/>
  </p:clrMapOvr>
  <p:transition spd="slow">
    <p:wipe dir="r"/>
    <p:sndAc>
      <p:stSnd>
        <p:snd r:embed="rId2" name="arrow.wav"/>
      </p:stSnd>
    </p:sndAc>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type="body" idx="4294967295"/>
          </p:nvPr>
        </p:nvSpPr>
        <p:spPr>
          <a:xfrm>
            <a:off x="1775520" y="332656"/>
            <a:ext cx="8568952" cy="6336704"/>
          </a:xfrm>
        </p:spPr>
        <p:txBody>
          <a:bodyPr>
            <a:normAutofit fontScale="92500" lnSpcReduction="20000"/>
          </a:bodyPr>
          <a:lstStyle/>
          <a:p>
            <a:r>
              <a:rPr lang="en-US" altLang="zh-CN" dirty="0" smtClean="0">
                <a:latin typeface="Tahoma" panose="020B0604030504040204" pitchFamily="34" charset="0"/>
                <a:ea typeface="宋体" panose="02010600030101010101" pitchFamily="2" charset="-122"/>
              </a:rPr>
              <a:t>【</a:t>
            </a:r>
            <a:r>
              <a:rPr lang="zh-CN" altLang="en-US" dirty="0" smtClean="0">
                <a:latin typeface="Tahoma" panose="020B0604030504040204" pitchFamily="34" charset="0"/>
                <a:ea typeface="宋体" panose="02010600030101010101" pitchFamily="2" charset="-122"/>
              </a:rPr>
              <a:t>例</a:t>
            </a:r>
            <a:r>
              <a:rPr lang="en-US" altLang="zh-CN" dirty="0" smtClean="0">
                <a:latin typeface="Tahoma" panose="020B0604030504040204" pitchFamily="34" charset="0"/>
                <a:ea typeface="宋体" panose="02010600030101010101" pitchFamily="2" charset="-122"/>
              </a:rPr>
              <a:t>5-25】</a:t>
            </a:r>
            <a:r>
              <a:rPr lang="zh-CN" altLang="en-US" dirty="0" smtClean="0">
                <a:latin typeface="Tahoma" panose="020B0604030504040204" pitchFamily="34" charset="0"/>
                <a:ea typeface="宋体" panose="02010600030101010101" pitchFamily="2" charset="-122"/>
              </a:rPr>
              <a:t>用传变量的方式执行存储过程</a:t>
            </a:r>
            <a:r>
              <a:rPr lang="en-US" altLang="zh-CN" dirty="0" err="1" smtClean="0">
                <a:latin typeface="Tahoma" panose="020B0604030504040204" pitchFamily="34" charset="0"/>
                <a:ea typeface="宋体" panose="02010600030101010101" pitchFamily="2" charset="-122"/>
              </a:rPr>
              <a:t>p_vardep</a:t>
            </a:r>
            <a:r>
              <a:rPr lang="zh-CN" altLang="en-US" dirty="0" smtClean="0">
                <a:latin typeface="Tahoma" panose="020B0604030504040204" pitchFamily="34" charset="0"/>
                <a:ea typeface="宋体" panose="02010600030101010101" pitchFamily="2" charset="-122"/>
              </a:rPr>
              <a:t>，查询信息管理系的老师。</a:t>
            </a:r>
          </a:p>
          <a:p>
            <a:pPr>
              <a:buFontTx/>
              <a:buNone/>
            </a:pPr>
            <a:r>
              <a:rPr lang="en-US" altLang="zh-CN" dirty="0" smtClean="0">
                <a:latin typeface="Tahoma" panose="020B0604030504040204" pitchFamily="34" charset="0"/>
                <a:ea typeface="宋体" panose="02010600030101010101" pitchFamily="2" charset="-122"/>
              </a:rPr>
              <a:t>SET @</a:t>
            </a:r>
            <a:r>
              <a:rPr lang="en-US" altLang="zh-CN" dirty="0" err="1" smtClean="0">
                <a:latin typeface="Tahoma" panose="020B0604030504040204" pitchFamily="34" charset="0"/>
                <a:ea typeface="宋体" panose="02010600030101010101" pitchFamily="2" charset="-122"/>
              </a:rPr>
              <a:t>seekdep</a:t>
            </a:r>
            <a:r>
              <a:rPr lang="en-US" altLang="zh-CN" dirty="0" smtClean="0">
                <a:latin typeface="Tahoma" panose="020B0604030504040204" pitchFamily="34" charset="0"/>
                <a:ea typeface="宋体" panose="02010600030101010101" pitchFamily="2" charset="-122"/>
              </a:rPr>
              <a:t>='</a:t>
            </a:r>
            <a:r>
              <a:rPr lang="zh-CN" altLang="en-US" dirty="0" smtClean="0">
                <a:latin typeface="Tahoma" panose="020B0604030504040204" pitchFamily="34" charset="0"/>
                <a:ea typeface="宋体" panose="02010600030101010101" pitchFamily="2" charset="-122"/>
              </a:rPr>
              <a:t>电子</a:t>
            </a:r>
            <a:r>
              <a:rPr lang="en-US" altLang="zh-CN" dirty="0" smtClean="0">
                <a:latin typeface="Tahoma" panose="020B0604030504040204" pitchFamily="34" charset="0"/>
                <a:ea typeface="宋体" panose="02010600030101010101" pitchFamily="2" charset="-122"/>
              </a:rPr>
              <a:t>';</a:t>
            </a:r>
          </a:p>
          <a:p>
            <a:pPr>
              <a:buFontTx/>
              <a:buNone/>
            </a:pPr>
            <a:r>
              <a:rPr lang="en-US" altLang="zh-CN" dirty="0" smtClean="0">
                <a:latin typeface="Tahoma" panose="020B0604030504040204" pitchFamily="34" charset="0"/>
                <a:ea typeface="宋体" panose="02010600030101010101" pitchFamily="2" charset="-122"/>
              </a:rPr>
              <a:t>CALL </a:t>
            </a:r>
            <a:r>
              <a:rPr lang="en-US" altLang="zh-CN" dirty="0" err="1" smtClean="0">
                <a:latin typeface="Tahoma" panose="020B0604030504040204" pitchFamily="34" charset="0"/>
                <a:ea typeface="宋体" panose="02010600030101010101" pitchFamily="2" charset="-122"/>
              </a:rPr>
              <a:t>p_vardep</a:t>
            </a:r>
            <a:r>
              <a:rPr lang="en-US" altLang="zh-CN" dirty="0" smtClean="0">
                <a:latin typeface="Tahoma" panose="020B0604030504040204" pitchFamily="34" charset="0"/>
                <a:ea typeface="宋体" panose="02010600030101010101" pitchFamily="2" charset="-122"/>
              </a:rPr>
              <a:t>(@</a:t>
            </a:r>
            <a:r>
              <a:rPr lang="en-US" altLang="zh-CN" dirty="0" err="1" smtClean="0">
                <a:latin typeface="Tahoma" panose="020B0604030504040204" pitchFamily="34" charset="0"/>
                <a:ea typeface="宋体" panose="02010600030101010101" pitchFamily="2" charset="-122"/>
              </a:rPr>
              <a:t>seekdep</a:t>
            </a:r>
            <a:r>
              <a:rPr lang="en-US" altLang="zh-CN" dirty="0" smtClean="0">
                <a:latin typeface="Tahoma" panose="020B0604030504040204" pitchFamily="34" charset="0"/>
                <a:ea typeface="宋体" panose="02010600030101010101" pitchFamily="2" charset="-122"/>
              </a:rPr>
              <a:t>);</a:t>
            </a:r>
          </a:p>
          <a:p>
            <a:pPr>
              <a:buFontTx/>
              <a:buNone/>
            </a:pPr>
            <a:endParaRPr lang="en-US" altLang="zh-CN" dirty="0">
              <a:latin typeface="Tahoma" panose="020B0604030504040204" pitchFamily="34" charset="0"/>
              <a:ea typeface="宋体" panose="02010600030101010101" pitchFamily="2" charset="-122"/>
            </a:endParaRPr>
          </a:p>
          <a:p>
            <a:pPr>
              <a:buFontTx/>
              <a:buNone/>
            </a:pPr>
            <a:endParaRPr lang="en-US" altLang="zh-CN" dirty="0" smtClean="0">
              <a:latin typeface="Tahoma" panose="020B0604030504040204" pitchFamily="34" charset="0"/>
              <a:ea typeface="宋体" panose="02010600030101010101" pitchFamily="2" charset="-122"/>
            </a:endParaRPr>
          </a:p>
          <a:p>
            <a:pPr>
              <a:buFontTx/>
              <a:buNone/>
            </a:pPr>
            <a:endParaRPr lang="en-US" altLang="zh-CN" dirty="0">
              <a:latin typeface="Tahoma" panose="020B0604030504040204" pitchFamily="34" charset="0"/>
              <a:ea typeface="宋体" panose="02010600030101010101" pitchFamily="2" charset="-122"/>
            </a:endParaRPr>
          </a:p>
          <a:p>
            <a:pPr>
              <a:buFontTx/>
              <a:buNone/>
            </a:pPr>
            <a:endParaRPr lang="en-US" altLang="zh-CN" dirty="0" smtClean="0">
              <a:latin typeface="Tahoma" panose="020B0604030504040204" pitchFamily="34" charset="0"/>
              <a:ea typeface="宋体" panose="02010600030101010101" pitchFamily="2" charset="-122"/>
            </a:endParaRPr>
          </a:p>
          <a:p>
            <a:pPr>
              <a:buFontTx/>
              <a:buNone/>
            </a:pPr>
            <a:endParaRPr lang="en-US" altLang="zh-CN" dirty="0">
              <a:latin typeface="Tahoma" panose="020B0604030504040204" pitchFamily="34" charset="0"/>
              <a:ea typeface="宋体" panose="02010600030101010101" pitchFamily="2" charset="-122"/>
            </a:endParaRPr>
          </a:p>
          <a:p>
            <a:pPr>
              <a:buFontTx/>
              <a:buNone/>
            </a:pPr>
            <a:endParaRPr lang="en-US" altLang="zh-CN" dirty="0" smtClean="0">
              <a:latin typeface="Tahoma" panose="020B0604030504040204" pitchFamily="34" charset="0"/>
              <a:ea typeface="宋体" panose="02010600030101010101" pitchFamily="2" charset="-122"/>
            </a:endParaRPr>
          </a:p>
          <a:p>
            <a:pPr>
              <a:buFontTx/>
              <a:buNone/>
            </a:pPr>
            <a:endParaRPr lang="en-US" altLang="zh-CN" dirty="0" smtClean="0">
              <a:latin typeface="Tahoma" panose="020B0604030504040204" pitchFamily="34" charset="0"/>
              <a:ea typeface="宋体" panose="02010600030101010101" pitchFamily="2" charset="-122"/>
            </a:endParaRPr>
          </a:p>
          <a:p>
            <a:pPr>
              <a:buFontTx/>
              <a:buNone/>
            </a:pPr>
            <a:endParaRPr lang="en-US" altLang="zh-CN" dirty="0">
              <a:latin typeface="Tahoma" panose="020B0604030504040204" pitchFamily="34" charset="0"/>
              <a:ea typeface="宋体" panose="02010600030101010101" pitchFamily="2" charset="-122"/>
            </a:endParaRPr>
          </a:p>
          <a:p>
            <a:pPr>
              <a:buFontTx/>
              <a:buNone/>
            </a:pPr>
            <a:endParaRPr lang="en-US" altLang="zh-CN" dirty="0" smtClean="0">
              <a:latin typeface="Tahoma" panose="020B0604030504040204" pitchFamily="34" charset="0"/>
              <a:ea typeface="宋体" panose="02010600030101010101" pitchFamily="2" charset="-122"/>
            </a:endParaRPr>
          </a:p>
          <a:p>
            <a:pPr>
              <a:buFontTx/>
              <a:buNone/>
            </a:pPr>
            <a:r>
              <a:rPr lang="zh-CN" altLang="en-US" dirty="0" smtClean="0">
                <a:solidFill>
                  <a:srgbClr val="FF0000"/>
                </a:solidFill>
                <a:latin typeface="Tahoma" panose="020B0604030504040204" pitchFamily="34" charset="0"/>
                <a:ea typeface="宋体" panose="02010600030101010101" pitchFamily="2" charset="-122"/>
              </a:rPr>
              <a:t>拓展：会话变量还有哪些作用？</a:t>
            </a:r>
            <a:endParaRPr lang="zh-CN" altLang="en-US" dirty="0" smtClean="0">
              <a:solidFill>
                <a:srgbClr val="FF0000"/>
              </a:solidFill>
              <a:latin typeface="Tahoma" panose="020B0604030504040204" pitchFamily="34" charset="0"/>
              <a:ea typeface="宋体" panose="02010600030101010101" pitchFamily="2" charset="-122"/>
            </a:endParaRPr>
          </a:p>
        </p:txBody>
      </p:sp>
      <p:pic>
        <p:nvPicPr>
          <p:cNvPr id="819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2357" y="3356992"/>
            <a:ext cx="5184775" cy="223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3976482"/>
      </p:ext>
    </p:extLst>
  </p:cSld>
  <p:clrMapOvr>
    <a:masterClrMapping/>
  </p:clrMapOvr>
  <p:transition spd="slow">
    <p:wipe dir="r"/>
    <p:sndAc>
      <p:stSnd>
        <p:snd r:embed="rId2" name="arrow.wav"/>
      </p:stSnd>
    </p:sndAc>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p:cNvSpPr>
            <a:spLocks noGrp="1" noChangeArrowheads="1"/>
          </p:cNvSpPr>
          <p:nvPr>
            <p:ph type="body" idx="4294967295"/>
          </p:nvPr>
        </p:nvSpPr>
        <p:spPr/>
        <p:txBody>
          <a:bodyPr>
            <a:normAutofit/>
          </a:bodyPr>
          <a:lstStyle/>
          <a:p>
            <a:pPr>
              <a:lnSpc>
                <a:spcPct val="150000"/>
              </a:lnSpc>
            </a:pPr>
            <a:r>
              <a:rPr lang="zh-CN" altLang="en-US" sz="4000" dirty="0">
                <a:latin typeface="宋体" pitchFamily="2" charset="-122"/>
              </a:rPr>
              <a:t>与输入参数相反，如果需要从存储过程中返回数据给调用者，则可以使用输出参数。输出参数在定义时前面用</a:t>
            </a:r>
            <a:r>
              <a:rPr lang="en-US" altLang="zh-CN" sz="4000" dirty="0">
                <a:solidFill>
                  <a:srgbClr val="C00000"/>
                </a:solidFill>
                <a:latin typeface="宋体" pitchFamily="2" charset="-122"/>
              </a:rPr>
              <a:t>OUT</a:t>
            </a:r>
            <a:r>
              <a:rPr lang="zh-CN" altLang="en-US" sz="4000" dirty="0">
                <a:solidFill>
                  <a:srgbClr val="C00000"/>
                </a:solidFill>
                <a:latin typeface="宋体" pitchFamily="2" charset="-122"/>
              </a:rPr>
              <a:t>关键字</a:t>
            </a:r>
            <a:r>
              <a:rPr lang="zh-CN" altLang="en-US" sz="4000" dirty="0">
                <a:latin typeface="宋体" pitchFamily="2" charset="-122"/>
              </a:rPr>
              <a:t>表示。</a:t>
            </a:r>
          </a:p>
        </p:txBody>
      </p:sp>
    </p:spTree>
    <p:extLst>
      <p:ext uri="{BB962C8B-B14F-4D97-AF65-F5344CB8AC3E}">
        <p14:creationId xmlns:p14="http://schemas.microsoft.com/office/powerpoint/2010/main" val="951504599"/>
      </p:ext>
    </p:extLst>
  </p:cSld>
  <p:clrMapOvr>
    <a:masterClrMapping/>
  </p:clrMapOvr>
  <p:transition spd="slow">
    <p:wipe dir="r"/>
    <p:sndAc>
      <p:stSnd>
        <p:snd r:embed="rId2" name="arrow.wav"/>
      </p:stSnd>
    </p:sndAc>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5497222" y="838270"/>
            <a:ext cx="184731" cy="707886"/>
          </a:xfrm>
        </p:spPr>
        <p:txBody>
          <a:bodyPr/>
          <a:lstStyle/>
          <a:p>
            <a:endParaRPr lang="zh-CN" altLang="en-US" smtClean="0">
              <a:latin typeface="Times New Roman" panose="02020603050405020304" pitchFamily="18" charset="0"/>
              <a:ea typeface="宋体" panose="02010600030101010101" pitchFamily="2" charset="-122"/>
            </a:endParaRPr>
          </a:p>
        </p:txBody>
      </p:sp>
      <p:sp>
        <p:nvSpPr>
          <p:cNvPr id="83971" name="Rectangle 3"/>
          <p:cNvSpPr>
            <a:spLocks noGrp="1" noChangeArrowheads="1"/>
          </p:cNvSpPr>
          <p:nvPr>
            <p:ph type="body" idx="4294967295"/>
          </p:nvPr>
        </p:nvSpPr>
        <p:spPr>
          <a:xfrm>
            <a:off x="1524000" y="0"/>
            <a:ext cx="9144000" cy="6858000"/>
          </a:xfrm>
          <a:solidFill>
            <a:schemeClr val="bg1"/>
          </a:solidFill>
        </p:spPr>
        <p:txBody>
          <a:bodyPr/>
          <a:lstStyle/>
          <a:p>
            <a:pPr>
              <a:lnSpc>
                <a:spcPct val="80000"/>
              </a:lnSpc>
            </a:pPr>
            <a:r>
              <a:rPr lang="en-US" altLang="zh-CN" sz="2400">
                <a:solidFill>
                  <a:schemeClr val="tx1"/>
                </a:solidFill>
                <a:latin typeface="Tahoma" panose="020B0604030504040204" pitchFamily="34" charset="0"/>
                <a:ea typeface="宋体" panose="02010600030101010101" pitchFamily="2" charset="-122"/>
              </a:rPr>
              <a:t>【</a:t>
            </a:r>
            <a:r>
              <a:rPr lang="zh-CN" altLang="en-US" sz="2400">
                <a:solidFill>
                  <a:schemeClr val="tx1"/>
                </a:solidFill>
                <a:latin typeface="Tahoma" panose="020B0604030504040204" pitchFamily="34" charset="0"/>
                <a:ea typeface="宋体" panose="02010600030101010101" pitchFamily="2" charset="-122"/>
              </a:rPr>
              <a:t>例</a:t>
            </a:r>
            <a:r>
              <a:rPr lang="en-US" altLang="zh-CN" sz="2400">
                <a:solidFill>
                  <a:schemeClr val="tx1"/>
                </a:solidFill>
                <a:latin typeface="Tahoma" panose="020B0604030504040204" pitchFamily="34" charset="0"/>
                <a:ea typeface="宋体" panose="02010600030101010101" pitchFamily="2" charset="-122"/>
              </a:rPr>
              <a:t>5-26】</a:t>
            </a:r>
            <a:r>
              <a:rPr lang="zh-CN" altLang="en-US" sz="2400">
                <a:solidFill>
                  <a:schemeClr val="tx1"/>
                </a:solidFill>
                <a:latin typeface="Tahoma" panose="020B0604030504040204" pitchFamily="34" charset="0"/>
                <a:ea typeface="宋体" panose="02010600030101010101" pitchFamily="2" charset="-122"/>
              </a:rPr>
              <a:t>在</a:t>
            </a:r>
            <a:r>
              <a:rPr lang="en-US" altLang="zh-CN" sz="2400">
                <a:solidFill>
                  <a:schemeClr val="tx1"/>
                </a:solidFill>
                <a:latin typeface="Tahoma" panose="020B0604030504040204" pitchFamily="34" charset="0"/>
                <a:ea typeface="宋体" panose="02010600030101010101" pitchFamily="2" charset="-122"/>
              </a:rPr>
              <a:t>college</a:t>
            </a:r>
            <a:r>
              <a:rPr lang="zh-CN" altLang="en-US" sz="2400">
                <a:solidFill>
                  <a:schemeClr val="tx1"/>
                </a:solidFill>
                <a:latin typeface="Tahoma" panose="020B0604030504040204" pitchFamily="34" charset="0"/>
                <a:ea typeface="宋体" panose="02010600030101010101" pitchFamily="2" charset="-122"/>
              </a:rPr>
              <a:t>数据库中创建存储过程</a:t>
            </a:r>
            <a:r>
              <a:rPr lang="en-US" altLang="zh-CN" sz="2400">
                <a:solidFill>
                  <a:schemeClr val="tx1"/>
                </a:solidFill>
                <a:latin typeface="Tahoma" panose="020B0604030504040204" pitchFamily="34" charset="0"/>
                <a:ea typeface="宋体" panose="02010600030101010101" pitchFamily="2" charset="-122"/>
              </a:rPr>
              <a:t>p_exist</a:t>
            </a:r>
            <a:r>
              <a:rPr lang="zh-CN" altLang="en-US" sz="2400">
                <a:solidFill>
                  <a:schemeClr val="tx1"/>
                </a:solidFill>
                <a:latin typeface="Tahoma" panose="020B0604030504040204" pitchFamily="34" charset="0"/>
                <a:ea typeface="宋体" panose="02010600030101010101" pitchFamily="2" charset="-122"/>
              </a:rPr>
              <a:t>，其功能是判断指定姓名的老师是否存在。如果存在则返回“</a:t>
            </a:r>
            <a:r>
              <a:rPr lang="en-US" altLang="zh-CN" sz="2400">
                <a:solidFill>
                  <a:schemeClr val="tx1"/>
                </a:solidFill>
                <a:latin typeface="Tahoma" panose="020B0604030504040204" pitchFamily="34" charset="0"/>
                <a:ea typeface="宋体" panose="02010600030101010101" pitchFamily="2" charset="-122"/>
              </a:rPr>
              <a:t>Yes”</a:t>
            </a:r>
            <a:r>
              <a:rPr lang="zh-CN" altLang="en-US" sz="2400">
                <a:solidFill>
                  <a:schemeClr val="tx1"/>
                </a:solidFill>
                <a:latin typeface="Tahoma" panose="020B0604030504040204" pitchFamily="34" charset="0"/>
                <a:ea typeface="宋体" panose="02010600030101010101" pitchFamily="2" charset="-122"/>
              </a:rPr>
              <a:t>，否则返回“</a:t>
            </a:r>
            <a:r>
              <a:rPr lang="en-US" altLang="zh-CN" sz="2400">
                <a:solidFill>
                  <a:schemeClr val="tx1"/>
                </a:solidFill>
                <a:latin typeface="Tahoma" panose="020B0604030504040204" pitchFamily="34" charset="0"/>
                <a:ea typeface="宋体" panose="02010600030101010101" pitchFamily="2" charset="-122"/>
              </a:rPr>
              <a:t>No”</a:t>
            </a:r>
            <a:r>
              <a:rPr lang="zh-CN" altLang="en-US" sz="2400">
                <a:solidFill>
                  <a:schemeClr val="tx1"/>
                </a:solidFill>
                <a:latin typeface="Tahoma" panose="020B0604030504040204" pitchFamily="34" charset="0"/>
                <a:ea typeface="宋体" panose="02010600030101010101" pitchFamily="2" charset="-122"/>
              </a:rPr>
              <a:t>。</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USE college;</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DELIMITER //</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CREATE PROCEDURE p_exist ( IN tname VARCHAR ( 20 ), OUT rt VARCHAR ( 3 ) ) </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BEGIN</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DECLARE cnt INT;</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SELECT count( * ) INTO cnt FROM teacher WHERE tn = tname;</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IF cnt&gt;0 THEN</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	set rt='Yes';</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ELSE</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	set rt='No';</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END IF;</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END</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a:t>
            </a:r>
          </a:p>
          <a:p>
            <a:pPr>
              <a:lnSpc>
                <a:spcPct val="80000"/>
              </a:lnSpc>
              <a:buFontTx/>
              <a:buNone/>
            </a:pPr>
            <a:r>
              <a:rPr lang="en-US" altLang="zh-CN" sz="2400">
                <a:solidFill>
                  <a:schemeClr val="tx1"/>
                </a:solidFill>
                <a:latin typeface="Tahoma" panose="020B0604030504040204" pitchFamily="34" charset="0"/>
                <a:ea typeface="宋体" panose="02010600030101010101" pitchFamily="2" charset="-122"/>
              </a:rPr>
              <a:t>DELIMITER ;</a:t>
            </a:r>
            <a:endParaRPr lang="zh-CN" altLang="en-US" sz="240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12583615"/>
      </p:ext>
    </p:extLst>
  </p:cSld>
  <p:clrMapOvr>
    <a:masterClrMapping/>
  </p:clrMapOvr>
  <p:transition spd="slow">
    <p:wipe dir="r"/>
    <p:sndAc>
      <p:stSnd>
        <p:snd r:embed="rId2" name="arrow.wav"/>
      </p:stSnd>
    </p:sndAc>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5497222" y="838270"/>
            <a:ext cx="184731" cy="707886"/>
          </a:xfrm>
        </p:spPr>
        <p:txBody>
          <a:bodyPr/>
          <a:lstStyle/>
          <a:p>
            <a:endParaRPr lang="zh-CN" altLang="en-US" smtClean="0">
              <a:latin typeface="Times New Roman" panose="02020603050405020304" pitchFamily="18" charset="0"/>
              <a:ea typeface="宋体" panose="02010600030101010101" pitchFamily="2" charset="-122"/>
            </a:endParaRPr>
          </a:p>
        </p:txBody>
      </p:sp>
      <p:sp>
        <p:nvSpPr>
          <p:cNvPr id="84995" name="Rectangle 3"/>
          <p:cNvSpPr>
            <a:spLocks noGrp="1" noChangeArrowheads="1"/>
          </p:cNvSpPr>
          <p:nvPr>
            <p:ph type="body" idx="4294967295"/>
          </p:nvPr>
        </p:nvSpPr>
        <p:spPr>
          <a:xfrm>
            <a:off x="1524000" y="0"/>
            <a:ext cx="9144000" cy="6858000"/>
          </a:xfrm>
          <a:solidFill>
            <a:schemeClr val="bg1"/>
          </a:solidFill>
        </p:spPr>
        <p:txBody>
          <a:bodyPr/>
          <a:lstStyle/>
          <a:p>
            <a:pPr>
              <a:lnSpc>
                <a:spcPct val="80000"/>
              </a:lnSpc>
            </a:pPr>
            <a:r>
              <a:rPr lang="en-US" altLang="zh-CN" dirty="0">
                <a:solidFill>
                  <a:schemeClr val="tx1"/>
                </a:solidFill>
                <a:latin typeface="Tahoma" panose="020B0604030504040204" pitchFamily="34" charset="0"/>
                <a:ea typeface="宋体" panose="02010600030101010101" pitchFamily="2" charset="-122"/>
              </a:rPr>
              <a:t>【</a:t>
            </a:r>
            <a:r>
              <a:rPr lang="zh-CN" altLang="en-US" dirty="0">
                <a:solidFill>
                  <a:schemeClr val="tx1"/>
                </a:solidFill>
                <a:latin typeface="Tahoma" panose="020B0604030504040204" pitchFamily="34" charset="0"/>
                <a:ea typeface="宋体" panose="02010600030101010101" pitchFamily="2" charset="-122"/>
              </a:rPr>
              <a:t>例</a:t>
            </a:r>
            <a:r>
              <a:rPr lang="en-US" altLang="zh-CN" dirty="0">
                <a:solidFill>
                  <a:schemeClr val="tx1"/>
                </a:solidFill>
                <a:latin typeface="Tahoma" panose="020B0604030504040204" pitchFamily="34" charset="0"/>
                <a:ea typeface="宋体" panose="02010600030101010101" pitchFamily="2" charset="-122"/>
              </a:rPr>
              <a:t>5-27】</a:t>
            </a:r>
            <a:r>
              <a:rPr lang="zh-CN" altLang="en-US" dirty="0">
                <a:solidFill>
                  <a:schemeClr val="tx1"/>
                </a:solidFill>
                <a:latin typeface="Tahoma" panose="020B0604030504040204" pitchFamily="34" charset="0"/>
                <a:ea typeface="宋体" panose="02010600030101010101" pitchFamily="2" charset="-122"/>
              </a:rPr>
              <a:t>执行存储过程</a:t>
            </a:r>
            <a:r>
              <a:rPr lang="en-US" altLang="zh-CN" dirty="0" err="1">
                <a:solidFill>
                  <a:schemeClr val="tx1"/>
                </a:solidFill>
                <a:latin typeface="Tahoma" panose="020B0604030504040204" pitchFamily="34" charset="0"/>
                <a:ea typeface="宋体" panose="02010600030101010101" pitchFamily="2" charset="-122"/>
              </a:rPr>
              <a:t>p_exist</a:t>
            </a:r>
            <a:r>
              <a:rPr lang="zh-CN" altLang="en-US" dirty="0">
                <a:solidFill>
                  <a:schemeClr val="tx1"/>
                </a:solidFill>
                <a:latin typeface="Tahoma" panose="020B0604030504040204" pitchFamily="34" charset="0"/>
                <a:ea typeface="宋体" panose="02010600030101010101" pitchFamily="2" charset="-122"/>
              </a:rPr>
              <a:t>，根据传出参数查询是否存在姓名为“</a:t>
            </a:r>
            <a:r>
              <a:rPr lang="en-US" altLang="zh-CN" dirty="0">
                <a:solidFill>
                  <a:schemeClr val="tx1"/>
                </a:solidFill>
                <a:latin typeface="Tahoma" panose="020B0604030504040204" pitchFamily="34" charset="0"/>
                <a:ea typeface="宋体" panose="02010600030101010101" pitchFamily="2" charset="-122"/>
              </a:rPr>
              <a:t>TOM”</a:t>
            </a:r>
            <a:r>
              <a:rPr lang="zh-CN" altLang="en-US" dirty="0">
                <a:solidFill>
                  <a:schemeClr val="tx1"/>
                </a:solidFill>
                <a:latin typeface="Tahoma" panose="020B0604030504040204" pitchFamily="34" charset="0"/>
                <a:ea typeface="宋体" panose="02010600030101010101" pitchFamily="2" charset="-122"/>
              </a:rPr>
              <a:t>的老师和姓名为“李民”的老师。</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set @r = NULL;</a:t>
            </a:r>
          </a:p>
          <a:p>
            <a:pPr>
              <a:lnSpc>
                <a:spcPct val="80000"/>
              </a:lnSpc>
              <a:buFontTx/>
              <a:buNone/>
            </a:pPr>
            <a:r>
              <a:rPr lang="en-US" altLang="zh-CN" dirty="0">
                <a:solidFill>
                  <a:schemeClr val="tx1"/>
                </a:solidFill>
                <a:latin typeface="Tahoma" panose="020B0604030504040204" pitchFamily="34" charset="0"/>
                <a:ea typeface="宋体" panose="02010600030101010101" pitchFamily="2" charset="-122"/>
              </a:rPr>
              <a:t>call </a:t>
            </a:r>
            <a:r>
              <a:rPr lang="en-US" altLang="zh-CN" dirty="0" err="1">
                <a:solidFill>
                  <a:schemeClr val="tx1"/>
                </a:solidFill>
                <a:latin typeface="Tahoma" panose="020B0604030504040204" pitchFamily="34" charset="0"/>
                <a:ea typeface="宋体" panose="02010600030101010101" pitchFamily="2" charset="-122"/>
              </a:rPr>
              <a:t>p_exist</a:t>
            </a:r>
            <a:r>
              <a:rPr lang="en-US" altLang="zh-CN" dirty="0">
                <a:solidFill>
                  <a:schemeClr val="tx1"/>
                </a:solidFill>
                <a:latin typeface="Tahoma" panose="020B0604030504040204" pitchFamily="34" charset="0"/>
                <a:ea typeface="宋体" panose="02010600030101010101" pitchFamily="2" charset="-122"/>
              </a:rPr>
              <a:t>('</a:t>
            </a:r>
            <a:r>
              <a:rPr lang="en-US" altLang="zh-CN" dirty="0" err="1">
                <a:solidFill>
                  <a:schemeClr val="tx1"/>
                </a:solidFill>
                <a:latin typeface="Tahoma" panose="020B0604030504040204" pitchFamily="34" charset="0"/>
                <a:ea typeface="宋体" panose="02010600030101010101" pitchFamily="2" charset="-122"/>
              </a:rPr>
              <a:t>TOM',@r</a:t>
            </a:r>
            <a:r>
              <a:rPr lang="en-US" altLang="zh-CN" dirty="0">
                <a:solidFill>
                  <a:schemeClr val="tx1"/>
                </a:solidFill>
                <a:latin typeface="Tahoma" panose="020B0604030504040204" pitchFamily="34" charset="0"/>
                <a:ea typeface="宋体" panose="02010600030101010101" pitchFamily="2" charset="-122"/>
              </a:rPr>
              <a:t>);</a:t>
            </a:r>
          </a:p>
          <a:p>
            <a:pPr>
              <a:lnSpc>
                <a:spcPct val="80000"/>
              </a:lnSpc>
              <a:buFontTx/>
              <a:buNone/>
            </a:pPr>
            <a:r>
              <a:rPr lang="en-US" altLang="zh-CN" dirty="0" err="1">
                <a:solidFill>
                  <a:schemeClr val="tx1"/>
                </a:solidFill>
                <a:latin typeface="Tahoma" panose="020B0604030504040204" pitchFamily="34" charset="0"/>
                <a:ea typeface="宋体" panose="02010600030101010101" pitchFamily="2" charset="-122"/>
              </a:rPr>
              <a:t>mysql</a:t>
            </a:r>
            <a:r>
              <a:rPr lang="en-US" altLang="zh-CN" dirty="0">
                <a:solidFill>
                  <a:schemeClr val="tx1"/>
                </a:solidFill>
                <a:latin typeface="Tahoma" panose="020B0604030504040204" pitchFamily="34" charset="0"/>
                <a:ea typeface="宋体" panose="02010600030101010101" pitchFamily="2" charset="-122"/>
              </a:rPr>
              <a:t>&gt; select @r;</a:t>
            </a:r>
          </a:p>
          <a:p>
            <a:pPr>
              <a:lnSpc>
                <a:spcPct val="80000"/>
              </a:lnSpc>
              <a:buFontTx/>
              <a:buNone/>
            </a:pPr>
            <a:r>
              <a:rPr lang="en-US" altLang="zh-CN" dirty="0" err="1">
                <a:solidFill>
                  <a:schemeClr val="tx1"/>
                </a:solidFill>
                <a:latin typeface="Tahoma" panose="020B0604030504040204" pitchFamily="34" charset="0"/>
                <a:ea typeface="宋体" panose="02010600030101010101" pitchFamily="2" charset="-122"/>
              </a:rPr>
              <a:t>mysql</a:t>
            </a:r>
            <a:r>
              <a:rPr lang="en-US" altLang="zh-CN" dirty="0">
                <a:solidFill>
                  <a:schemeClr val="tx1"/>
                </a:solidFill>
                <a:latin typeface="Tahoma" panose="020B0604030504040204" pitchFamily="34" charset="0"/>
                <a:ea typeface="宋体" panose="02010600030101010101" pitchFamily="2" charset="-122"/>
              </a:rPr>
              <a:t>&gt; call </a:t>
            </a:r>
            <a:r>
              <a:rPr lang="en-US" altLang="zh-CN" dirty="0" err="1">
                <a:solidFill>
                  <a:schemeClr val="tx1"/>
                </a:solidFill>
                <a:latin typeface="Tahoma" panose="020B0604030504040204" pitchFamily="34" charset="0"/>
                <a:ea typeface="宋体" panose="02010600030101010101" pitchFamily="2" charset="-122"/>
              </a:rPr>
              <a:t>p_exist</a:t>
            </a:r>
            <a:r>
              <a:rPr lang="en-US" altLang="zh-CN" dirty="0">
                <a:solidFill>
                  <a:schemeClr val="tx1"/>
                </a:solidFill>
                <a:latin typeface="Tahoma" panose="020B0604030504040204" pitchFamily="34" charset="0"/>
                <a:ea typeface="宋体" panose="02010600030101010101" pitchFamily="2" charset="-122"/>
              </a:rPr>
              <a:t>('</a:t>
            </a:r>
            <a:r>
              <a:rPr lang="zh-CN" altLang="en-US" dirty="0">
                <a:solidFill>
                  <a:schemeClr val="tx1"/>
                </a:solidFill>
                <a:latin typeface="Tahoma" panose="020B0604030504040204" pitchFamily="34" charset="0"/>
                <a:ea typeface="宋体" panose="02010600030101010101" pitchFamily="2" charset="-122"/>
              </a:rPr>
              <a:t>李民</a:t>
            </a:r>
            <a:r>
              <a:rPr lang="en-US" altLang="zh-CN" dirty="0">
                <a:solidFill>
                  <a:schemeClr val="tx1"/>
                </a:solidFill>
                <a:latin typeface="Tahoma" panose="020B0604030504040204" pitchFamily="34" charset="0"/>
                <a:ea typeface="宋体" panose="02010600030101010101" pitchFamily="2" charset="-122"/>
              </a:rPr>
              <a:t>',@r);</a:t>
            </a:r>
          </a:p>
          <a:p>
            <a:pPr>
              <a:lnSpc>
                <a:spcPct val="80000"/>
              </a:lnSpc>
              <a:buFontTx/>
              <a:buNone/>
            </a:pPr>
            <a:r>
              <a:rPr lang="en-US" altLang="zh-CN" dirty="0" err="1">
                <a:solidFill>
                  <a:schemeClr val="tx1"/>
                </a:solidFill>
                <a:latin typeface="Tahoma" panose="020B0604030504040204" pitchFamily="34" charset="0"/>
                <a:ea typeface="宋体" panose="02010600030101010101" pitchFamily="2" charset="-122"/>
              </a:rPr>
              <a:t>mysql</a:t>
            </a:r>
            <a:r>
              <a:rPr lang="en-US" altLang="zh-CN" dirty="0">
                <a:solidFill>
                  <a:schemeClr val="tx1"/>
                </a:solidFill>
                <a:latin typeface="Tahoma" panose="020B0604030504040204" pitchFamily="34" charset="0"/>
                <a:ea typeface="宋体" panose="02010600030101010101" pitchFamily="2" charset="-122"/>
              </a:rPr>
              <a:t>&gt; select @r;</a:t>
            </a:r>
          </a:p>
          <a:p>
            <a:pPr>
              <a:lnSpc>
                <a:spcPct val="80000"/>
              </a:lnSpc>
            </a:pPr>
            <a:r>
              <a:rPr lang="zh-CN" altLang="en-US" dirty="0">
                <a:solidFill>
                  <a:schemeClr val="tx1"/>
                </a:solidFill>
                <a:latin typeface="Tahoma" panose="020B0604030504040204" pitchFamily="34" charset="0"/>
                <a:ea typeface="宋体" panose="02010600030101010101" pitchFamily="2" charset="-122"/>
              </a:rPr>
              <a:t>在调用存储过程之前，需要设置一个变量用于接收存储过程的输出参数。调用存储过程完成后，再使用该变量显示返回的结果。</a:t>
            </a:r>
          </a:p>
          <a:p>
            <a:pPr lvl="1">
              <a:lnSpc>
                <a:spcPct val="80000"/>
              </a:lnSpc>
            </a:pPr>
            <a:r>
              <a:rPr lang="zh-CN" altLang="en-US" dirty="0">
                <a:solidFill>
                  <a:schemeClr val="tx1"/>
                </a:solidFill>
                <a:latin typeface="Tahoma" panose="020B0604030504040204" pitchFamily="34" charset="0"/>
                <a:ea typeface="宋体" panose="02010600030101010101" pitchFamily="2" charset="-122"/>
              </a:rPr>
              <a:t>运行结果如图</a:t>
            </a:r>
            <a:r>
              <a:rPr lang="en-US" altLang="zh-CN" dirty="0">
                <a:solidFill>
                  <a:schemeClr val="tx1"/>
                </a:solidFill>
                <a:latin typeface="Tahoma" panose="020B0604030504040204" pitchFamily="34" charset="0"/>
                <a:ea typeface="宋体" panose="02010600030101010101" pitchFamily="2" charset="-122"/>
              </a:rPr>
              <a:t>5-13</a:t>
            </a:r>
            <a:r>
              <a:rPr lang="zh-CN" altLang="en-US" dirty="0">
                <a:solidFill>
                  <a:schemeClr val="tx1"/>
                </a:solidFill>
                <a:latin typeface="Tahoma" panose="020B0604030504040204" pitchFamily="34" charset="0"/>
                <a:ea typeface="宋体" panose="02010600030101010101" pitchFamily="2" charset="-122"/>
              </a:rPr>
              <a:t>所示。通过会话变量</a:t>
            </a:r>
            <a:r>
              <a:rPr lang="en-US" altLang="zh-CN" dirty="0">
                <a:solidFill>
                  <a:schemeClr val="tx1"/>
                </a:solidFill>
                <a:latin typeface="Tahoma" panose="020B0604030504040204" pitchFamily="34" charset="0"/>
                <a:ea typeface="宋体" panose="02010600030101010101" pitchFamily="2" charset="-122"/>
              </a:rPr>
              <a:t>@r</a:t>
            </a:r>
            <a:r>
              <a:rPr lang="zh-CN" altLang="en-US" dirty="0">
                <a:solidFill>
                  <a:schemeClr val="tx1"/>
                </a:solidFill>
                <a:latin typeface="Tahoma" panose="020B0604030504040204" pitchFamily="34" charset="0"/>
                <a:ea typeface="宋体" panose="02010600030101010101" pitchFamily="2" charset="-122"/>
              </a:rPr>
              <a:t>接收</a:t>
            </a:r>
            <a:r>
              <a:rPr lang="en-US" altLang="zh-CN" dirty="0" err="1">
                <a:solidFill>
                  <a:schemeClr val="tx1"/>
                </a:solidFill>
                <a:latin typeface="Tahoma" panose="020B0604030504040204" pitchFamily="34" charset="0"/>
                <a:ea typeface="宋体" panose="02010600030101010101" pitchFamily="2" charset="-122"/>
              </a:rPr>
              <a:t>p_exist</a:t>
            </a:r>
            <a:r>
              <a:rPr lang="zh-CN" altLang="en-US" dirty="0">
                <a:solidFill>
                  <a:schemeClr val="tx1"/>
                </a:solidFill>
                <a:latin typeface="Tahoma" panose="020B0604030504040204" pitchFamily="34" charset="0"/>
                <a:ea typeface="宋体" panose="02010600030101010101" pitchFamily="2" charset="-122"/>
              </a:rPr>
              <a:t>执行后传出的参数，从而可知传入“</a:t>
            </a:r>
            <a:r>
              <a:rPr lang="en-US" altLang="zh-CN" dirty="0">
                <a:solidFill>
                  <a:schemeClr val="tx1"/>
                </a:solidFill>
                <a:latin typeface="Tahoma" panose="020B0604030504040204" pitchFamily="34" charset="0"/>
                <a:ea typeface="宋体" panose="02010600030101010101" pitchFamily="2" charset="-122"/>
              </a:rPr>
              <a:t>TOM”</a:t>
            </a:r>
            <a:r>
              <a:rPr lang="zh-CN" altLang="en-US" dirty="0">
                <a:solidFill>
                  <a:schemeClr val="tx1"/>
                </a:solidFill>
                <a:latin typeface="Tahoma" panose="020B0604030504040204" pitchFamily="34" charset="0"/>
                <a:ea typeface="宋体" panose="02010600030101010101" pitchFamily="2" charset="-122"/>
              </a:rPr>
              <a:t>后传出的结果为“</a:t>
            </a:r>
            <a:r>
              <a:rPr lang="en-US" altLang="zh-CN" dirty="0">
                <a:solidFill>
                  <a:schemeClr val="tx1"/>
                </a:solidFill>
                <a:latin typeface="Tahoma" panose="020B0604030504040204" pitchFamily="34" charset="0"/>
                <a:ea typeface="宋体" panose="02010600030101010101" pitchFamily="2" charset="-122"/>
              </a:rPr>
              <a:t>No”</a:t>
            </a:r>
            <a:r>
              <a:rPr lang="zh-CN" altLang="en-US" dirty="0">
                <a:solidFill>
                  <a:schemeClr val="tx1"/>
                </a:solidFill>
                <a:latin typeface="Tahoma" panose="020B0604030504040204" pitchFamily="34" charset="0"/>
                <a:ea typeface="宋体" panose="02010600030101010101" pitchFamily="2" charset="-122"/>
              </a:rPr>
              <a:t>，说明没有姓名为“</a:t>
            </a:r>
            <a:r>
              <a:rPr lang="en-US" altLang="zh-CN" dirty="0">
                <a:solidFill>
                  <a:schemeClr val="tx1"/>
                </a:solidFill>
                <a:latin typeface="Tahoma" panose="020B0604030504040204" pitchFamily="34" charset="0"/>
                <a:ea typeface="宋体" panose="02010600030101010101" pitchFamily="2" charset="-122"/>
              </a:rPr>
              <a:t>TOM”</a:t>
            </a:r>
            <a:r>
              <a:rPr lang="zh-CN" altLang="en-US" dirty="0">
                <a:solidFill>
                  <a:schemeClr val="tx1"/>
                </a:solidFill>
                <a:latin typeface="Tahoma" panose="020B0604030504040204" pitchFamily="34" charset="0"/>
                <a:ea typeface="宋体" panose="02010600030101010101" pitchFamily="2" charset="-122"/>
              </a:rPr>
              <a:t>的老师；而传入“李民”后传出的结果为“</a:t>
            </a:r>
            <a:r>
              <a:rPr lang="en-US" altLang="zh-CN" dirty="0">
                <a:solidFill>
                  <a:schemeClr val="tx1"/>
                </a:solidFill>
                <a:latin typeface="Tahoma" panose="020B0604030504040204" pitchFamily="34" charset="0"/>
                <a:ea typeface="宋体" panose="02010600030101010101" pitchFamily="2" charset="-122"/>
              </a:rPr>
              <a:t>Yes”</a:t>
            </a:r>
            <a:r>
              <a:rPr lang="zh-CN" altLang="en-US" dirty="0">
                <a:solidFill>
                  <a:schemeClr val="tx1"/>
                </a:solidFill>
                <a:latin typeface="Tahoma" panose="020B0604030504040204" pitchFamily="34" charset="0"/>
                <a:ea typeface="宋体" panose="02010600030101010101" pitchFamily="2" charset="-122"/>
              </a:rPr>
              <a:t>，说明存在名为“李民”的老师。</a:t>
            </a:r>
          </a:p>
        </p:txBody>
      </p:sp>
    </p:spTree>
    <p:extLst>
      <p:ext uri="{BB962C8B-B14F-4D97-AF65-F5344CB8AC3E}">
        <p14:creationId xmlns:p14="http://schemas.microsoft.com/office/powerpoint/2010/main" val="3543950598"/>
      </p:ext>
    </p:extLst>
  </p:cSld>
  <p:clrMapOvr>
    <a:masterClrMapping/>
  </p:clrMapOvr>
  <p:transition spd="slow">
    <p:wipe dir="r"/>
    <p:sndAc>
      <p:stSnd>
        <p:snd r:embed="rId2" name="arrow.wav"/>
      </p:stSnd>
    </p:sndAc>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0"/>
            <a:ext cx="322317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查看存储过程</a:t>
            </a:r>
            <a:endParaRPr lang="zh-CN" altLang="en-US" sz="4000" b="1" dirty="0">
              <a:solidFill>
                <a:srgbClr val="FFFFCC"/>
              </a:solidFill>
              <a:effectLst>
                <a:outerShdw blurRad="38100" dist="38100" dir="2700000" algn="tl">
                  <a:srgbClr val="000000"/>
                </a:outerShdw>
              </a:effectLst>
              <a:cs typeface="+mn-cs"/>
            </a:endParaRPr>
          </a:p>
        </p:txBody>
      </p:sp>
      <p:sp>
        <p:nvSpPr>
          <p:cNvPr id="14" name="Rectangle 46">
            <a:extLst>
              <a:ext uri="{FF2B5EF4-FFF2-40B4-BE49-F238E27FC236}">
                <a16:creationId xmlns:a16="http://schemas.microsoft.com/office/drawing/2014/main" id="{0946A525-CFB5-49E1-9F44-6DD59B0C3156}"/>
              </a:ext>
            </a:extLst>
          </p:cNvPr>
          <p:cNvSpPr txBox="1">
            <a:spLocks noChangeArrowheads="1"/>
          </p:cNvSpPr>
          <p:nvPr/>
        </p:nvSpPr>
        <p:spPr bwMode="auto">
          <a:xfrm>
            <a:off x="479376" y="1030952"/>
            <a:ext cx="11089232" cy="527836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marL="355600" indent="-355600" eaLnBrk="1" hangingPunct="1">
              <a:spcAft>
                <a:spcPts val="600"/>
              </a:spcAft>
              <a:defRPr/>
            </a:pPr>
            <a:r>
              <a:rPr kumimoji="0" lang="zh-CN" altLang="en-US" kern="0" dirty="0"/>
              <a:t>查看系统内的所有或者部分满足条件的存储过程的名称、所在数据库、创建时间、作者等信息。</a:t>
            </a:r>
            <a:endParaRPr kumimoji="0" lang="en-US" altLang="zh-CN" kern="0" dirty="0"/>
          </a:p>
          <a:p>
            <a:pPr marL="0" indent="0" eaLnBrk="1" hangingPunct="1">
              <a:spcAft>
                <a:spcPts val="600"/>
              </a:spcAft>
              <a:buNone/>
              <a:defRPr/>
            </a:pPr>
            <a:r>
              <a:rPr kumimoji="0" lang="en-US" altLang="zh-CN" kern="0" dirty="0"/>
              <a:t>    </a:t>
            </a:r>
            <a:r>
              <a:rPr kumimoji="0" lang="en-US" altLang="zh-CN" b="1" dirty="0">
                <a:solidFill>
                  <a:srgbClr val="FFFF00"/>
                </a:solidFill>
                <a:latin typeface="Arial" charset="0"/>
              </a:rPr>
              <a:t>SHOW PROCEDURE STATUS  </a:t>
            </a:r>
            <a:r>
              <a:rPr lang="en-US" altLang="zh-CN" dirty="0"/>
              <a:t>[WHERE </a:t>
            </a:r>
            <a:r>
              <a:rPr lang="zh-CN" altLang="en-US" dirty="0"/>
              <a:t>条件</a:t>
            </a:r>
            <a:r>
              <a:rPr lang="en-US" altLang="zh-CN" dirty="0"/>
              <a:t>]</a:t>
            </a:r>
            <a:r>
              <a:rPr lang="zh-CN" altLang="en-US" dirty="0"/>
              <a:t>；</a:t>
            </a:r>
            <a:endParaRPr lang="en-US" altLang="zh-CN" dirty="0"/>
          </a:p>
          <a:p>
            <a:pPr marL="355600" indent="-355600" eaLnBrk="1" hangingPunct="1">
              <a:spcBef>
                <a:spcPts val="2400"/>
              </a:spcBef>
              <a:spcAft>
                <a:spcPts val="600"/>
              </a:spcAft>
              <a:defRPr/>
            </a:pPr>
            <a:r>
              <a:rPr kumimoji="0" lang="zh-CN" altLang="en-US" kern="0" dirty="0"/>
              <a:t>查看指定存储过程的定义语句等信息。</a:t>
            </a:r>
            <a:endParaRPr kumimoji="0" lang="en-US" altLang="zh-CN" kern="0" dirty="0"/>
          </a:p>
          <a:p>
            <a:pPr marL="0" indent="0" eaLnBrk="1" hangingPunct="1">
              <a:spcAft>
                <a:spcPts val="600"/>
              </a:spcAft>
              <a:buNone/>
              <a:defRPr/>
            </a:pPr>
            <a:r>
              <a:rPr kumimoji="0" lang="en-US" altLang="zh-CN" kern="0" dirty="0"/>
              <a:t>    </a:t>
            </a:r>
            <a:r>
              <a:rPr kumimoji="0" lang="en-US" altLang="zh-CN" b="1" dirty="0">
                <a:solidFill>
                  <a:srgbClr val="FFFF00"/>
                </a:solidFill>
                <a:latin typeface="Arial" charset="0"/>
              </a:rPr>
              <a:t>SHOW CREATE PROCEDURE  </a:t>
            </a:r>
            <a:r>
              <a:rPr lang="zh-CN" altLang="en-US" dirty="0"/>
              <a:t>数据库</a:t>
            </a:r>
            <a:r>
              <a:rPr lang="en-US" altLang="zh-CN" dirty="0"/>
              <a:t>.</a:t>
            </a:r>
            <a:r>
              <a:rPr lang="zh-CN" altLang="en-US" dirty="0"/>
              <a:t>存储过程名；</a:t>
            </a:r>
            <a:endParaRPr lang="en-US" altLang="zh-CN" dirty="0"/>
          </a:p>
          <a:p>
            <a:pPr marL="355600" indent="-355600" eaLnBrk="1" hangingPunct="1">
              <a:spcBef>
                <a:spcPts val="2400"/>
              </a:spcBef>
              <a:spcAft>
                <a:spcPts val="600"/>
              </a:spcAft>
              <a:defRPr/>
            </a:pPr>
            <a:r>
              <a:rPr kumimoji="0" lang="zh-CN" altLang="en-US" kern="0" dirty="0"/>
              <a:t>存储过程创建后被存储在</a:t>
            </a:r>
            <a:r>
              <a:rPr kumimoji="0" lang="en-US" altLang="zh-CN" kern="0" dirty="0" err="1"/>
              <a:t>information_schema</a:t>
            </a:r>
            <a:r>
              <a:rPr kumimoji="0" lang="zh-CN" altLang="en-US" kern="0" dirty="0"/>
              <a:t>数据库的</a:t>
            </a:r>
            <a:r>
              <a:rPr kumimoji="0" lang="en-US" altLang="zh-CN" kern="0" dirty="0"/>
              <a:t>ROUTINES</a:t>
            </a:r>
            <a:r>
              <a:rPr kumimoji="0" lang="zh-CN" altLang="en-US" kern="0" dirty="0"/>
              <a:t>表中，所以可以使用</a:t>
            </a:r>
            <a:r>
              <a:rPr kumimoji="0" lang="en-US" altLang="zh-CN" kern="0" dirty="0"/>
              <a:t>SELECT</a:t>
            </a:r>
            <a:r>
              <a:rPr kumimoji="0" lang="zh-CN" altLang="en-US" kern="0" dirty="0"/>
              <a:t>命令查询该表来查看存储过程信息。</a:t>
            </a:r>
            <a:endParaRPr kumimoji="0" lang="en-US" altLang="zh-CN" kern="0" dirty="0"/>
          </a:p>
          <a:p>
            <a:pPr marL="355600" indent="-355600" eaLnBrk="1" hangingPunct="1">
              <a:spcBef>
                <a:spcPts val="2400"/>
              </a:spcBef>
              <a:spcAft>
                <a:spcPts val="600"/>
              </a:spcAft>
              <a:defRPr/>
            </a:pPr>
            <a:r>
              <a:rPr kumimoji="0" lang="zh-CN" altLang="en-US" kern="0" dirty="0"/>
              <a:t>创建好的存储过程的源代码被存放在系统数据库</a:t>
            </a:r>
            <a:r>
              <a:rPr kumimoji="0" lang="en-US" altLang="zh-CN" kern="0" dirty="0" err="1"/>
              <a:t>mysql</a:t>
            </a:r>
            <a:r>
              <a:rPr kumimoji="0" lang="zh-CN" altLang="en-US" kern="0" dirty="0"/>
              <a:t>的</a:t>
            </a:r>
            <a:r>
              <a:rPr kumimoji="0" lang="en-US" altLang="zh-CN" kern="0" dirty="0" err="1"/>
              <a:t>proc</a:t>
            </a:r>
            <a:r>
              <a:rPr kumimoji="0" lang="zh-CN" altLang="en-US" kern="0" dirty="0"/>
              <a:t>表中，所以可以使用</a:t>
            </a:r>
            <a:r>
              <a:rPr kumimoji="0" lang="en-US" altLang="zh-CN" kern="0" dirty="0"/>
              <a:t>SELECT</a:t>
            </a:r>
            <a:r>
              <a:rPr kumimoji="0" lang="zh-CN" altLang="en-US" kern="0" dirty="0"/>
              <a:t>命令来查询该表获得存储过程的信息。</a:t>
            </a:r>
          </a:p>
        </p:txBody>
      </p:sp>
    </p:spTree>
    <p:extLst>
      <p:ext uri="{BB962C8B-B14F-4D97-AF65-F5344CB8AC3E}">
        <p14:creationId xmlns:p14="http://schemas.microsoft.com/office/powerpoint/2010/main" val="1113575670"/>
      </p:ext>
    </p:extLst>
  </p:cSld>
  <p:clrMapOvr>
    <a:masterClrMapping/>
  </p:clrMapOvr>
  <p:transition spd="slow">
    <p:push dir="u"/>
    <p:sndAc>
      <p:stSnd>
        <p:snd r:embed="rId2" name="arrow.wav"/>
      </p:stSnd>
    </p:sndAc>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0"/>
            <a:ext cx="322317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删除存储过程</a:t>
            </a:r>
            <a:endParaRPr lang="zh-CN" altLang="en-US" sz="4000" b="1" dirty="0">
              <a:solidFill>
                <a:srgbClr val="FFFFCC"/>
              </a:solidFill>
              <a:effectLst>
                <a:outerShdw blurRad="38100" dist="38100" dir="2700000" algn="tl">
                  <a:srgbClr val="000000"/>
                </a:outerShdw>
              </a:effectLst>
              <a:cs typeface="+mn-cs"/>
            </a:endParaRPr>
          </a:p>
        </p:txBody>
      </p:sp>
      <p:sp>
        <p:nvSpPr>
          <p:cNvPr id="5" name="Rectangle 6">
            <a:extLst>
              <a:ext uri="{FF2B5EF4-FFF2-40B4-BE49-F238E27FC236}">
                <a16:creationId xmlns:a16="http://schemas.microsoft.com/office/drawing/2014/main" id="{DA7C6B26-5266-4D1F-8357-5760B129268E}"/>
              </a:ext>
            </a:extLst>
          </p:cNvPr>
          <p:cNvSpPr>
            <a:spLocks noChangeArrowheads="1"/>
          </p:cNvSpPr>
          <p:nvPr/>
        </p:nvSpPr>
        <p:spPr bwMode="auto">
          <a:xfrm>
            <a:off x="892951" y="3659684"/>
            <a:ext cx="7731125" cy="1198563"/>
          </a:xfrm>
          <a:prstGeom prst="rect">
            <a:avLst/>
          </a:prstGeom>
          <a:noFill/>
          <a:ln w="9525">
            <a:noFill/>
            <a:miter lim="800000"/>
            <a:headEnd/>
            <a:tailEnd/>
          </a:ln>
          <a:effectLst/>
        </p:spPr>
        <p:txBody>
          <a:bodyPr/>
          <a:lstStyle/>
          <a:p>
            <a:pPr algn="just" fontAlgn="auto">
              <a:spcBef>
                <a:spcPts val="0"/>
              </a:spcBef>
              <a:spcAft>
                <a:spcPct val="15000"/>
              </a:spcAft>
              <a:buClr>
                <a:srgbClr val="FFFFFF"/>
              </a:buClr>
              <a:buSzPct val="85000"/>
              <a:defRPr/>
            </a:pPr>
            <a:r>
              <a:rPr kumimoji="0" lang="zh-CN" altLang="en-US" sz="3200" kern="0" dirty="0">
                <a:solidFill>
                  <a:srgbClr val="FFFFCC"/>
                </a:solidFill>
                <a:effectLst>
                  <a:outerShdw blurRad="38100" dist="38100" dir="2700000" algn="tl">
                    <a:srgbClr val="000000"/>
                  </a:outerShdw>
                </a:effectLst>
                <a:latin typeface="楷体" panose="02010609060101010101" pitchFamily="49" charset="-122"/>
                <a:ea typeface="楷体" panose="02010609060101010101" pitchFamily="49" charset="-122"/>
              </a:rPr>
              <a:t>删除名称为“</a:t>
            </a:r>
            <a:r>
              <a:rPr kumimoji="0" lang="en-US" altLang="zh-CN" sz="3200" kern="0" dirty="0" err="1">
                <a:solidFill>
                  <a:srgbClr val="FFFFCC"/>
                </a:solidFill>
                <a:effectLst>
                  <a:outerShdw blurRad="38100" dist="38100" dir="2700000" algn="tl">
                    <a:srgbClr val="000000"/>
                  </a:outerShdw>
                </a:effectLst>
                <a:latin typeface="楷体" panose="02010609060101010101" pitchFamily="49" charset="-122"/>
                <a:ea typeface="楷体" panose="02010609060101010101" pitchFamily="49" charset="-122"/>
              </a:rPr>
              <a:t>p_varjob</a:t>
            </a:r>
            <a:r>
              <a:rPr kumimoji="0" lang="en-US" altLang="zh-CN" sz="3200" kern="0" dirty="0">
                <a:solidFill>
                  <a:srgbClr val="FFFFCC"/>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kumimoji="0" lang="zh-CN" altLang="en-US" sz="3200" kern="0" dirty="0">
                <a:solidFill>
                  <a:srgbClr val="FFFFCC"/>
                </a:solidFill>
                <a:effectLst>
                  <a:outerShdw blurRad="38100" dist="38100" dir="2700000" algn="tl">
                    <a:srgbClr val="000000"/>
                  </a:outerShdw>
                </a:effectLst>
                <a:latin typeface="楷体" panose="02010609060101010101" pitchFamily="49" charset="-122"/>
                <a:ea typeface="楷体" panose="02010609060101010101" pitchFamily="49" charset="-122"/>
              </a:rPr>
              <a:t>的存储过程</a:t>
            </a:r>
          </a:p>
        </p:txBody>
      </p:sp>
      <p:sp>
        <p:nvSpPr>
          <p:cNvPr id="6" name="Rectangle 7">
            <a:extLst>
              <a:ext uri="{FF2B5EF4-FFF2-40B4-BE49-F238E27FC236}">
                <a16:creationId xmlns:a16="http://schemas.microsoft.com/office/drawing/2014/main" id="{74F3783E-357B-43CF-87E8-2FC18EAA5836}"/>
              </a:ext>
            </a:extLst>
          </p:cNvPr>
          <p:cNvSpPr>
            <a:spLocks noChangeArrowheads="1"/>
          </p:cNvSpPr>
          <p:nvPr/>
        </p:nvSpPr>
        <p:spPr bwMode="auto">
          <a:xfrm>
            <a:off x="1050113" y="4858247"/>
            <a:ext cx="7416800" cy="707290"/>
          </a:xfrm>
          <a:prstGeom prst="rect">
            <a:avLst/>
          </a:prstGeom>
          <a:solidFill>
            <a:schemeClr val="tx1"/>
          </a:solidFill>
          <a:ln w="19050">
            <a:solidFill>
              <a:schemeClr val="accent3">
                <a:lumMod val="60000"/>
                <a:lumOff val="40000"/>
              </a:schemeClr>
            </a:solidFill>
          </a:ln>
        </p:spPr>
        <p:txBody>
          <a:bodyPr wrap="square">
            <a:noAutofit/>
          </a:bodyPr>
          <a:lstStyle/>
          <a:p>
            <a:r>
              <a:rPr lang="en-US" altLang="zh-CN" sz="3200" dirty="0">
                <a:solidFill>
                  <a:schemeClr val="bg1"/>
                </a:solidFill>
                <a:latin typeface="宋体" panose="02010600030101010101" pitchFamily="2" charset="-122"/>
                <a:ea typeface="宋体" panose="02010600030101010101" pitchFamily="2" charset="-122"/>
              </a:rPr>
              <a:t>DROP PROCEDURE  </a:t>
            </a:r>
            <a:r>
              <a:rPr lang="en-US" altLang="zh-CN" sz="3200" dirty="0" err="1">
                <a:solidFill>
                  <a:schemeClr val="bg1"/>
                </a:solidFill>
                <a:latin typeface="宋体" panose="02010600030101010101" pitchFamily="2" charset="-122"/>
                <a:ea typeface="宋体" panose="02010600030101010101" pitchFamily="2" charset="-122"/>
              </a:rPr>
              <a:t>p_varjob</a:t>
            </a:r>
            <a:r>
              <a:rPr lang="en-US" altLang="zh-CN" sz="3200" dirty="0">
                <a:solidFill>
                  <a:schemeClr val="bg1"/>
                </a:solidFill>
                <a:latin typeface="宋体" panose="02010600030101010101" pitchFamily="2" charset="-122"/>
                <a:ea typeface="宋体" panose="02010600030101010101" pitchFamily="2" charset="-122"/>
              </a:rPr>
              <a:t>; </a:t>
            </a:r>
            <a:endParaRPr lang="zh-CN" altLang="en-US" sz="3200" dirty="0">
              <a:solidFill>
                <a:schemeClr val="bg1"/>
              </a:solidFill>
              <a:latin typeface="宋体" panose="02010600030101010101" pitchFamily="2" charset="-122"/>
              <a:ea typeface="宋体" panose="02010600030101010101" pitchFamily="2" charset="-122"/>
            </a:endParaRPr>
          </a:p>
        </p:txBody>
      </p:sp>
      <p:sp>
        <p:nvSpPr>
          <p:cNvPr id="8" name="Rectangle 4">
            <a:extLst>
              <a:ext uri="{FF2B5EF4-FFF2-40B4-BE49-F238E27FC236}">
                <a16:creationId xmlns:a16="http://schemas.microsoft.com/office/drawing/2014/main" id="{9975F36A-DC88-4339-B2FA-2334A4DE54A8}"/>
              </a:ext>
            </a:extLst>
          </p:cNvPr>
          <p:cNvSpPr txBox="1">
            <a:spLocks noChangeArrowheads="1"/>
          </p:cNvSpPr>
          <p:nvPr/>
        </p:nvSpPr>
        <p:spPr bwMode="auto">
          <a:xfrm>
            <a:off x="864284" y="1940778"/>
            <a:ext cx="10056252" cy="65825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0"/>
              </a:spcAft>
              <a:buNone/>
              <a:defRPr/>
            </a:pPr>
            <a:r>
              <a:rPr kumimoji="0" lang="en-US" altLang="zh-CN" sz="3600" b="1" dirty="0">
                <a:solidFill>
                  <a:srgbClr val="FFFF00"/>
                </a:solidFill>
                <a:latin typeface="Arial" charset="0"/>
              </a:rPr>
              <a:t>DROP PROCEDURE</a:t>
            </a:r>
            <a:r>
              <a:rPr lang="en-US" altLang="zh-CN" sz="3600" dirty="0"/>
              <a:t>  </a:t>
            </a:r>
            <a:r>
              <a:rPr lang="zh-CN" altLang="en-US" sz="3600" dirty="0"/>
              <a:t>存储过程名</a:t>
            </a:r>
            <a:r>
              <a:rPr lang="en-US" altLang="zh-CN" sz="3600" dirty="0"/>
              <a:t>;</a:t>
            </a:r>
          </a:p>
        </p:txBody>
      </p:sp>
    </p:spTree>
    <p:extLst>
      <p:ext uri="{BB962C8B-B14F-4D97-AF65-F5344CB8AC3E}">
        <p14:creationId xmlns:p14="http://schemas.microsoft.com/office/powerpoint/2010/main" val="2235373418"/>
      </p:ext>
    </p:extLst>
  </p:cSld>
  <p:clrMapOvr>
    <a:masterClrMapping/>
  </p:clrMapOvr>
  <p:transition spd="slow">
    <p:push dir="u"/>
    <p:sndAc>
      <p:stSnd>
        <p:snd r:embed="rId2" name="arrow.wav"/>
      </p:stSnd>
    </p:sndAc>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E76535D-1204-408C-A944-91A900F33F4C}"/>
              </a:ext>
            </a:extLst>
          </p:cNvPr>
          <p:cNvSpPr>
            <a:spLocks noGrp="1"/>
          </p:cNvSpPr>
          <p:nvPr>
            <p:ph type="title"/>
          </p:nvPr>
        </p:nvSpPr>
        <p:spPr>
          <a:xfrm>
            <a:off x="2751884" y="3429000"/>
            <a:ext cx="6296444" cy="1458418"/>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eaLnBrk="0" fontAlgn="base" hangingPunct="0">
              <a:spcAft>
                <a:spcPct val="0"/>
              </a:spcAft>
            </a:pPr>
            <a:r>
              <a:rPr lang="zh-CN" altLang="en-US" sz="6000"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触发器</a:t>
            </a:r>
          </a:p>
        </p:txBody>
      </p:sp>
      <p:sp>
        <p:nvSpPr>
          <p:cNvPr id="49" name="标题 1">
            <a:extLst>
              <a:ext uri="{FF2B5EF4-FFF2-40B4-BE49-F238E27FC236}">
                <a16:creationId xmlns:a16="http://schemas.microsoft.com/office/drawing/2014/main" id="{F20317A5-217E-4B1F-AC7B-1AA7AAA89A22}"/>
              </a:ext>
            </a:extLst>
          </p:cNvPr>
          <p:cNvSpPr txBox="1">
            <a:spLocks/>
          </p:cNvSpPr>
          <p:nvPr/>
        </p:nvSpPr>
        <p:spPr bwMode="auto">
          <a:xfrm>
            <a:off x="4727848" y="1844824"/>
            <a:ext cx="2458530"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lang="zh-CN" altLang="en-US" sz="6000" b="1" kern="1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rPr>
              <a:t>四</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节</a:t>
            </a:r>
          </a:p>
        </p:txBody>
      </p:sp>
    </p:spTree>
    <p:extLst>
      <p:ext uri="{BB962C8B-B14F-4D97-AF65-F5344CB8AC3E}">
        <p14:creationId xmlns:p14="http://schemas.microsoft.com/office/powerpoint/2010/main" val="2591673191"/>
      </p:ext>
    </p:extLst>
  </p:cSld>
  <p:clrMapOvr>
    <a:masterClrMapping/>
  </p:clrMapOvr>
  <mc:AlternateContent xmlns:mc="http://schemas.openxmlformats.org/markup-compatibility/2006" xmlns:p14="http://schemas.microsoft.com/office/powerpoint/2010/main">
    <mc:Choice Requires="p14">
      <p:transition spd="slow" p14:dur="1400">
        <p14:doors dir="vert"/>
        <p:sndAc>
          <p:stSnd>
            <p:snd r:embed="rId2" name="arrow.wav"/>
          </p:stSnd>
        </p:sndAc>
      </p:transition>
    </mc:Choice>
    <mc:Fallback xmlns="">
      <p:transition spd="slow">
        <p:fade/>
        <p:sndAc>
          <p:stSnd>
            <p:snd r:embed="rId3" name="arrow.wav"/>
          </p:stSnd>
        </p:sndAc>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0"/>
            <a:ext cx="1684289"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触发器</a:t>
            </a:r>
            <a:endParaRPr lang="zh-CN" altLang="en-US" sz="4000" b="1" dirty="0">
              <a:solidFill>
                <a:srgbClr val="FFFFCC"/>
              </a:solidFill>
              <a:effectLst>
                <a:outerShdw blurRad="38100" dist="38100" dir="2700000" algn="tl">
                  <a:srgbClr val="000000"/>
                </a:outerShdw>
              </a:effectLst>
              <a:cs typeface="+mn-cs"/>
            </a:endParaRPr>
          </a:p>
        </p:txBody>
      </p:sp>
      <p:sp>
        <p:nvSpPr>
          <p:cNvPr id="9" name="Rectangle 4">
            <a:extLst>
              <a:ext uri="{FF2B5EF4-FFF2-40B4-BE49-F238E27FC236}">
                <a16:creationId xmlns:a16="http://schemas.microsoft.com/office/drawing/2014/main" id="{C278A601-488A-4583-81D7-F6F05F4A1F48}"/>
              </a:ext>
            </a:extLst>
          </p:cNvPr>
          <p:cNvSpPr txBox="1">
            <a:spLocks noChangeArrowheads="1"/>
          </p:cNvSpPr>
          <p:nvPr/>
        </p:nvSpPr>
        <p:spPr bwMode="auto">
          <a:xfrm>
            <a:off x="479376" y="980728"/>
            <a:ext cx="11233248"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l"/>
              <a:defRPr sz="2400">
                <a:solidFill>
                  <a:srgbClr val="CCFFCC"/>
                </a:solidFill>
                <a:effectLst>
                  <a:outerShdw blurRad="38100" dist="38100" dir="2700000" algn="tl">
                    <a:srgbClr val="000000"/>
                  </a:outerShdw>
                </a:effectLst>
                <a:latin typeface="+mn-lt"/>
                <a:ea typeface="+mn-ea"/>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000">
                <a:solidFill>
                  <a:srgbClr val="CCFFCC"/>
                </a:solidFill>
                <a:effectLst>
                  <a:outerShdw blurRad="38100" dist="38100" dir="2700000" algn="tl">
                    <a:srgbClr val="000000"/>
                  </a:outerShdw>
                </a:effectLst>
                <a:latin typeface="+mn-lt"/>
                <a:ea typeface="+mn-ea"/>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5pPr>
            <a:lvl6pPr marL="25146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a:solidFill>
                  <a:srgbClr val="CCFFCC"/>
                </a:solidFill>
                <a:effectLst>
                  <a:outerShdw blurRad="38100" dist="38100" dir="2700000" algn="tl">
                    <a:srgbClr val="000000"/>
                  </a:outerShdw>
                </a:effectLst>
                <a:latin typeface="+mn-lt"/>
                <a:ea typeface="+mn-ea"/>
              </a:defRPr>
            </a:lvl9pPr>
          </a:lstStyle>
          <a:p>
            <a:pPr eaLnBrk="1" hangingPunct="1">
              <a:spcAft>
                <a:spcPct val="35000"/>
              </a:spcAft>
              <a:defRPr/>
            </a:pPr>
            <a:r>
              <a:rPr kumimoji="0" lang="zh-CN" altLang="en-US" sz="3200" kern="0" dirty="0">
                <a:latin typeface="+mj-ea"/>
                <a:ea typeface="+mj-ea"/>
              </a:rPr>
              <a:t>触发器是一种随既定条件发生而自动执行的特殊类型的</a:t>
            </a:r>
            <a:r>
              <a:rPr kumimoji="0" lang="zh-CN" altLang="en-US" sz="3200" kern="0" dirty="0">
                <a:solidFill>
                  <a:srgbClr val="C00000"/>
                </a:solidFill>
                <a:latin typeface="+mj-ea"/>
                <a:ea typeface="+mj-ea"/>
              </a:rPr>
              <a:t>无参数的存储过程</a:t>
            </a:r>
            <a:r>
              <a:rPr kumimoji="0" lang="zh-CN" altLang="en-US" sz="3200" kern="0" dirty="0">
                <a:latin typeface="+mj-ea"/>
                <a:ea typeface="+mj-ea"/>
              </a:rPr>
              <a:t>。</a:t>
            </a:r>
          </a:p>
          <a:p>
            <a:pPr eaLnBrk="1" hangingPunct="1">
              <a:spcAft>
                <a:spcPct val="35000"/>
              </a:spcAft>
              <a:defRPr/>
            </a:pPr>
            <a:r>
              <a:rPr lang="zh-CN" altLang="en-US" sz="3200" kern="0" dirty="0">
                <a:latin typeface="+mj-ea"/>
                <a:ea typeface="+mj-ea"/>
              </a:rPr>
              <a:t>最常见的是</a:t>
            </a:r>
            <a:r>
              <a:rPr kumimoji="0" lang="en-US" altLang="zh-CN" sz="3200" kern="0" dirty="0">
                <a:latin typeface="+mj-ea"/>
                <a:ea typeface="+mj-ea"/>
              </a:rPr>
              <a:t>DML</a:t>
            </a:r>
            <a:r>
              <a:rPr kumimoji="0" lang="zh-CN" altLang="en-US" sz="3200" kern="0" dirty="0">
                <a:latin typeface="+mj-ea"/>
                <a:ea typeface="+mj-ea"/>
              </a:rPr>
              <a:t>触发器，其</a:t>
            </a:r>
            <a:r>
              <a:rPr lang="zh-CN" altLang="en-US" sz="3200" kern="0" dirty="0">
                <a:solidFill>
                  <a:srgbClr val="CCFFFF"/>
                </a:solidFill>
                <a:latin typeface="+mj-ea"/>
                <a:ea typeface="+mj-ea"/>
              </a:rPr>
              <a:t>触发条件</a:t>
            </a:r>
            <a:r>
              <a:rPr kumimoji="0" lang="zh-CN" altLang="en-US" sz="3200" kern="0" dirty="0">
                <a:latin typeface="+mj-ea"/>
                <a:ea typeface="+mj-ea"/>
              </a:rPr>
              <a:t>可以为</a:t>
            </a:r>
            <a:r>
              <a:rPr kumimoji="0" lang="en-US" altLang="zh-CN" sz="3200" kern="0" dirty="0">
                <a:solidFill>
                  <a:srgbClr val="CCFFFF"/>
                </a:solidFill>
                <a:latin typeface="+mj-ea"/>
                <a:ea typeface="+mj-ea"/>
              </a:rPr>
              <a:t>INSERT</a:t>
            </a:r>
            <a:r>
              <a:rPr kumimoji="0" lang="zh-CN" altLang="en-US" sz="3200" kern="0" dirty="0">
                <a:latin typeface="+mj-ea"/>
                <a:ea typeface="+mj-ea"/>
              </a:rPr>
              <a:t>、</a:t>
            </a:r>
            <a:r>
              <a:rPr kumimoji="0" lang="en-US" altLang="zh-CN" sz="3200" kern="0" dirty="0">
                <a:solidFill>
                  <a:srgbClr val="CCFFFF"/>
                </a:solidFill>
                <a:latin typeface="+mj-ea"/>
                <a:ea typeface="+mj-ea"/>
              </a:rPr>
              <a:t>UPDATE</a:t>
            </a:r>
            <a:r>
              <a:rPr kumimoji="0" lang="zh-CN" altLang="en-US" sz="3200" kern="0" dirty="0">
                <a:latin typeface="+mj-ea"/>
                <a:ea typeface="+mj-ea"/>
              </a:rPr>
              <a:t>、</a:t>
            </a:r>
            <a:r>
              <a:rPr kumimoji="0" lang="en-US" altLang="zh-CN" sz="3200" kern="0" dirty="0">
                <a:solidFill>
                  <a:srgbClr val="CCFFFF"/>
                </a:solidFill>
                <a:latin typeface="+mj-ea"/>
                <a:ea typeface="+mj-ea"/>
              </a:rPr>
              <a:t>DELETE</a:t>
            </a:r>
            <a:r>
              <a:rPr kumimoji="0" lang="zh-CN" altLang="en-US" sz="3200" kern="0" dirty="0">
                <a:latin typeface="+mj-ea"/>
                <a:ea typeface="+mj-ea"/>
              </a:rPr>
              <a:t>之一，表示在对表中数据进行插入、修改、删除时自动触发。另外也有</a:t>
            </a:r>
            <a:r>
              <a:rPr kumimoji="0" lang="en-US" altLang="zh-CN" sz="3200" kern="0" dirty="0">
                <a:latin typeface="+mj-ea"/>
                <a:ea typeface="+mj-ea"/>
              </a:rPr>
              <a:t>DDL</a:t>
            </a:r>
            <a:r>
              <a:rPr kumimoji="0" lang="zh-CN" altLang="en-US" sz="3200" kern="0" dirty="0">
                <a:latin typeface="+mj-ea"/>
                <a:ea typeface="+mj-ea"/>
              </a:rPr>
              <a:t>触发器。</a:t>
            </a:r>
            <a:endParaRPr kumimoji="0" lang="en-US" altLang="zh-CN" sz="3200" kern="0" dirty="0">
              <a:latin typeface="+mj-ea"/>
              <a:ea typeface="+mj-ea"/>
            </a:endParaRPr>
          </a:p>
          <a:p>
            <a:pPr eaLnBrk="1" hangingPunct="1">
              <a:spcAft>
                <a:spcPct val="35000"/>
              </a:spcAft>
              <a:defRPr/>
            </a:pPr>
            <a:r>
              <a:rPr kumimoji="0" lang="zh-CN" altLang="en-US" sz="3200" kern="0" dirty="0">
                <a:latin typeface="+mj-ea"/>
                <a:ea typeface="+mj-ea"/>
              </a:rPr>
              <a:t>触发器的执行单元可以在更新后自动触发（</a:t>
            </a:r>
            <a:r>
              <a:rPr kumimoji="0" lang="en-US" altLang="zh-CN" sz="3200" kern="0" dirty="0">
                <a:solidFill>
                  <a:srgbClr val="99FF33"/>
                </a:solidFill>
                <a:latin typeface="+mj-ea"/>
                <a:ea typeface="+mj-ea"/>
              </a:rPr>
              <a:t>AFTER</a:t>
            </a:r>
            <a:r>
              <a:rPr kumimoji="0" lang="zh-CN" altLang="en-US" sz="3200" kern="0" dirty="0">
                <a:latin typeface="+mj-ea"/>
                <a:ea typeface="+mj-ea"/>
              </a:rPr>
              <a:t>型，适用于更新后再执行其它的语句操作其它数据），或者更新前自动触发</a:t>
            </a:r>
            <a:r>
              <a:rPr kumimoji="0" lang="en-US" altLang="zh-CN" sz="3200" kern="0" dirty="0">
                <a:latin typeface="+mj-ea"/>
                <a:ea typeface="+mj-ea"/>
              </a:rPr>
              <a:t>(</a:t>
            </a:r>
            <a:r>
              <a:rPr kumimoji="0" lang="en-US" altLang="zh-CN" sz="3200" kern="0" dirty="0">
                <a:solidFill>
                  <a:srgbClr val="99FF33"/>
                </a:solidFill>
                <a:latin typeface="+mj-ea"/>
                <a:ea typeface="+mj-ea"/>
              </a:rPr>
              <a:t>BEFORE</a:t>
            </a:r>
            <a:r>
              <a:rPr kumimoji="0" lang="zh-CN" altLang="en-US" sz="3200" kern="0" dirty="0">
                <a:latin typeface="+mj-ea"/>
                <a:ea typeface="+mj-ea"/>
              </a:rPr>
              <a:t>型，适用于更新前检查或设置好数据再让系统完成更新</a:t>
            </a:r>
            <a:r>
              <a:rPr kumimoji="0" lang="en-US" altLang="zh-CN" sz="3200" kern="0" dirty="0">
                <a:latin typeface="+mj-ea"/>
                <a:ea typeface="+mj-ea"/>
              </a:rPr>
              <a:t>)</a:t>
            </a:r>
            <a:r>
              <a:rPr kumimoji="0" lang="zh-CN" altLang="en-US" sz="3200" kern="0" dirty="0">
                <a:latin typeface="+mj-ea"/>
                <a:ea typeface="+mj-ea"/>
              </a:rPr>
              <a:t> 。 </a:t>
            </a:r>
          </a:p>
          <a:p>
            <a:pPr eaLnBrk="1" hangingPunct="1">
              <a:spcAft>
                <a:spcPct val="35000"/>
              </a:spcAft>
              <a:defRPr/>
            </a:pPr>
            <a:r>
              <a:rPr kumimoji="0" lang="zh-CN" altLang="en-US" sz="3200" kern="0" dirty="0">
                <a:latin typeface="+mj-ea"/>
                <a:ea typeface="+mj-ea"/>
              </a:rPr>
              <a:t>每一张表都可以设置多个</a:t>
            </a:r>
            <a:r>
              <a:rPr kumimoji="0" lang="en-US" altLang="zh-CN" sz="3200" kern="0" dirty="0">
                <a:latin typeface="+mj-ea"/>
                <a:ea typeface="+mj-ea"/>
              </a:rPr>
              <a:t>DML</a:t>
            </a:r>
            <a:r>
              <a:rPr kumimoji="0" lang="zh-CN" altLang="en-US" sz="3200" kern="0" dirty="0">
                <a:latin typeface="+mj-ea"/>
                <a:ea typeface="+mj-ea"/>
              </a:rPr>
              <a:t>触发器。</a:t>
            </a:r>
          </a:p>
        </p:txBody>
      </p:sp>
    </p:spTree>
    <p:extLst>
      <p:ext uri="{BB962C8B-B14F-4D97-AF65-F5344CB8AC3E}">
        <p14:creationId xmlns:p14="http://schemas.microsoft.com/office/powerpoint/2010/main" val="198250277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sndAc>
          <p:stSnd>
            <p:snd r:embed="rId4" name="arrow.wav"/>
          </p:stSnd>
        </p:sndAc>
      </p:transition>
    </mc:Choice>
    <mc:Fallback>
      <p:transition spd="slow">
        <p:fade/>
        <p:sndAc>
          <p:stSnd>
            <p:snd r:embed="rId2" name="arrow.wav"/>
          </p:stSnd>
        </p:sndAc>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p:cNvSpPr>
            <a:spLocks noGrp="1" noChangeArrowheads="1"/>
          </p:cNvSpPr>
          <p:nvPr>
            <p:ph type="body" idx="4294967295"/>
          </p:nvPr>
        </p:nvSpPr>
        <p:spPr>
          <a:xfrm>
            <a:off x="911424" y="476672"/>
            <a:ext cx="11161240" cy="4114800"/>
          </a:xfrm>
        </p:spPr>
        <p:txBody>
          <a:bodyPr>
            <a:noAutofit/>
          </a:bodyPr>
          <a:lstStyle/>
          <a:p>
            <a:pPr>
              <a:lnSpc>
                <a:spcPct val="150000"/>
              </a:lnSpc>
            </a:pPr>
            <a:r>
              <a:rPr lang="zh-CN" altLang="en-US" sz="2400" dirty="0">
                <a:latin typeface="宋体" pitchFamily="2" charset="-122"/>
              </a:rPr>
              <a:t>触发器的优点主要表现在：</a:t>
            </a:r>
          </a:p>
          <a:p>
            <a:pPr>
              <a:lnSpc>
                <a:spcPct val="150000"/>
              </a:lnSpc>
            </a:pPr>
            <a:r>
              <a:rPr lang="en-US" altLang="zh-CN" sz="2400" dirty="0">
                <a:latin typeface="宋体" pitchFamily="2" charset="-122"/>
              </a:rPr>
              <a:t>(1) </a:t>
            </a:r>
            <a:r>
              <a:rPr lang="zh-CN" altLang="en-US" sz="2400" dirty="0">
                <a:latin typeface="宋体" pitchFamily="2" charset="-122"/>
              </a:rPr>
              <a:t>只要触发事件发生，相应操作的触发器就会立即自动执行，从而不会出现当事件发生后该做的操作被忘记或忽略的情况，提高了</a:t>
            </a:r>
            <a:r>
              <a:rPr lang="zh-CN" altLang="en-US" sz="2400" dirty="0">
                <a:solidFill>
                  <a:srgbClr val="C00000"/>
                </a:solidFill>
                <a:latin typeface="宋体" pitchFamily="2" charset="-122"/>
              </a:rPr>
              <a:t>数据管理的效率和完整性</a:t>
            </a:r>
            <a:r>
              <a:rPr lang="zh-CN" altLang="en-US" sz="2400" dirty="0">
                <a:latin typeface="宋体" pitchFamily="2" charset="-122"/>
              </a:rPr>
              <a:t>。</a:t>
            </a:r>
          </a:p>
          <a:p>
            <a:pPr>
              <a:lnSpc>
                <a:spcPct val="150000"/>
              </a:lnSpc>
            </a:pPr>
            <a:r>
              <a:rPr lang="en-US" altLang="zh-CN" sz="2400" dirty="0">
                <a:latin typeface="宋体" pitchFamily="2" charset="-122"/>
              </a:rPr>
              <a:t>(2) </a:t>
            </a:r>
            <a:r>
              <a:rPr lang="zh-CN" altLang="en-US" sz="2400" dirty="0">
                <a:latin typeface="宋体" pitchFamily="2" charset="-122"/>
              </a:rPr>
              <a:t>触发器的执行单元可以实现任意的数据操作，可以引用其它表中的字段，这些能力使得触发器可以实现更为复杂的</a:t>
            </a:r>
            <a:r>
              <a:rPr lang="zh-CN" altLang="en-US" sz="2400" dirty="0">
                <a:solidFill>
                  <a:srgbClr val="C00000"/>
                </a:solidFill>
                <a:latin typeface="宋体" pitchFamily="2" charset="-122"/>
              </a:rPr>
              <a:t>数据完整性要求</a:t>
            </a:r>
            <a:r>
              <a:rPr lang="zh-CN" altLang="en-US" sz="2400" dirty="0">
                <a:latin typeface="宋体" pitchFamily="2" charset="-122"/>
              </a:rPr>
              <a:t>。</a:t>
            </a:r>
          </a:p>
          <a:p>
            <a:pPr>
              <a:lnSpc>
                <a:spcPct val="150000"/>
              </a:lnSpc>
            </a:pPr>
            <a:r>
              <a:rPr lang="en-US" altLang="zh-CN" sz="2400" dirty="0">
                <a:latin typeface="宋体" pitchFamily="2" charset="-122"/>
              </a:rPr>
              <a:t>(3) </a:t>
            </a:r>
            <a:r>
              <a:rPr lang="zh-CN" altLang="en-US" sz="2400" dirty="0">
                <a:latin typeface="宋体" pitchFamily="2" charset="-122"/>
              </a:rPr>
              <a:t>触发器激活后可以获取到</a:t>
            </a:r>
            <a:r>
              <a:rPr lang="zh-CN" altLang="en-US" sz="2400" dirty="0">
                <a:solidFill>
                  <a:srgbClr val="C00000"/>
                </a:solidFill>
                <a:latin typeface="宋体" pitchFamily="2" charset="-122"/>
              </a:rPr>
              <a:t>表数据修改前后的状态</a:t>
            </a:r>
            <a:r>
              <a:rPr lang="zh-CN" altLang="en-US" sz="2400" dirty="0">
                <a:latin typeface="宋体" pitchFamily="2" charset="-122"/>
              </a:rPr>
              <a:t>，因而可以根据其差异采取相应的措施。</a:t>
            </a:r>
          </a:p>
          <a:p>
            <a:pPr>
              <a:lnSpc>
                <a:spcPct val="150000"/>
              </a:lnSpc>
            </a:pPr>
            <a:r>
              <a:rPr lang="en-US" altLang="zh-CN" sz="2400" dirty="0">
                <a:latin typeface="宋体" pitchFamily="2" charset="-122"/>
              </a:rPr>
              <a:t>(4) </a:t>
            </a:r>
            <a:r>
              <a:rPr lang="zh-CN" altLang="en-US" sz="2400" dirty="0">
                <a:latin typeface="宋体" pitchFamily="2" charset="-122"/>
              </a:rPr>
              <a:t>触发器可以用程序方式检验和判断数据操作的结果，从而可以</a:t>
            </a:r>
            <a:r>
              <a:rPr lang="zh-CN" altLang="en-US" sz="2400" dirty="0">
                <a:solidFill>
                  <a:srgbClr val="C00000"/>
                </a:solidFill>
                <a:latin typeface="宋体" pitchFamily="2" charset="-122"/>
              </a:rPr>
              <a:t>防止恶意的或错误的 </a:t>
            </a:r>
            <a:r>
              <a:rPr lang="en-US" altLang="zh-CN" sz="2400" dirty="0">
                <a:solidFill>
                  <a:srgbClr val="C00000"/>
                </a:solidFill>
                <a:latin typeface="宋体" pitchFamily="2" charset="-122"/>
              </a:rPr>
              <a:t>INSERT</a:t>
            </a:r>
            <a:r>
              <a:rPr lang="zh-CN" altLang="en-US" sz="2400" dirty="0">
                <a:solidFill>
                  <a:srgbClr val="C00000"/>
                </a:solidFill>
                <a:latin typeface="宋体" pitchFamily="2" charset="-122"/>
              </a:rPr>
              <a:t>、</a:t>
            </a:r>
            <a:r>
              <a:rPr lang="en-US" altLang="zh-CN" sz="2400" dirty="0">
                <a:solidFill>
                  <a:srgbClr val="C00000"/>
                </a:solidFill>
                <a:latin typeface="宋体" pitchFamily="2" charset="-122"/>
              </a:rPr>
              <a:t>UPDATE</a:t>
            </a:r>
            <a:r>
              <a:rPr lang="zh-CN" altLang="en-US" sz="2400" dirty="0">
                <a:solidFill>
                  <a:srgbClr val="C00000"/>
                </a:solidFill>
                <a:latin typeface="宋体" pitchFamily="2" charset="-122"/>
              </a:rPr>
              <a:t>和 </a:t>
            </a:r>
            <a:r>
              <a:rPr lang="en-US" altLang="zh-CN" sz="2400" dirty="0">
                <a:solidFill>
                  <a:srgbClr val="C00000"/>
                </a:solidFill>
                <a:latin typeface="宋体" pitchFamily="2" charset="-122"/>
              </a:rPr>
              <a:t>DELETE</a:t>
            </a:r>
            <a:r>
              <a:rPr lang="zh-CN" altLang="en-US" sz="2400" dirty="0">
                <a:solidFill>
                  <a:srgbClr val="C00000"/>
                </a:solidFill>
                <a:latin typeface="宋体" pitchFamily="2" charset="-122"/>
              </a:rPr>
              <a:t>操作</a:t>
            </a:r>
            <a:r>
              <a:rPr lang="zh-CN" altLang="en-US" sz="2400" dirty="0">
                <a:latin typeface="宋体" pitchFamily="2" charset="-122"/>
              </a:rPr>
              <a:t>。</a:t>
            </a:r>
          </a:p>
        </p:txBody>
      </p:sp>
    </p:spTree>
    <p:extLst>
      <p:ext uri="{BB962C8B-B14F-4D97-AF65-F5344CB8AC3E}">
        <p14:creationId xmlns:p14="http://schemas.microsoft.com/office/powerpoint/2010/main" val="258749122"/>
      </p:ext>
    </p:extLst>
  </p:cSld>
  <p:clrMapOvr>
    <a:masterClrMapping/>
  </p:clrMapOvr>
  <p:transition spd="slow">
    <p:wipe dir="r"/>
    <p:sndAc>
      <p:stSnd>
        <p:snd r:embed="rId2" name="arrow.wav"/>
      </p:stSnd>
    </p:sndAc>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0"/>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创建触发器</a:t>
            </a:r>
            <a:endParaRPr lang="zh-CN" altLang="en-US" sz="4000" b="1" dirty="0">
              <a:solidFill>
                <a:srgbClr val="FFFFCC"/>
              </a:solidFill>
              <a:effectLst>
                <a:outerShdw blurRad="38100" dist="38100" dir="2700000" algn="tl">
                  <a:srgbClr val="000000"/>
                </a:outerShdw>
              </a:effectLst>
              <a:cs typeface="+mn-cs"/>
            </a:endParaRPr>
          </a:p>
        </p:txBody>
      </p:sp>
      <p:sp>
        <p:nvSpPr>
          <p:cNvPr id="4" name="Rectangle 3">
            <a:extLst>
              <a:ext uri="{FF2B5EF4-FFF2-40B4-BE49-F238E27FC236}">
                <a16:creationId xmlns:a16="http://schemas.microsoft.com/office/drawing/2014/main" id="{85D79BBE-0CC7-4DFB-AE9C-E1272AB4B49A}"/>
              </a:ext>
            </a:extLst>
          </p:cNvPr>
          <p:cNvSpPr txBox="1">
            <a:spLocks noChangeArrowheads="1"/>
          </p:cNvSpPr>
          <p:nvPr/>
        </p:nvSpPr>
        <p:spPr bwMode="auto">
          <a:xfrm>
            <a:off x="839416" y="1052736"/>
            <a:ext cx="8640960" cy="273630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a:buFontTx/>
              <a:buNone/>
            </a:pPr>
            <a:r>
              <a:rPr kumimoji="0" lang="en-US" altLang="zh-CN" sz="3200" b="1" dirty="0">
                <a:solidFill>
                  <a:srgbClr val="FFFF00"/>
                </a:solidFill>
                <a:latin typeface="Arial" charset="0"/>
              </a:rPr>
              <a:t>CREATE TRIGGER  </a:t>
            </a:r>
            <a:r>
              <a:rPr lang="zh-CN" altLang="en-US" sz="3200" dirty="0"/>
              <a:t>触发器</a:t>
            </a:r>
            <a:endParaRPr lang="en-US" altLang="zh-CN" sz="3200" dirty="0"/>
          </a:p>
          <a:p>
            <a:pPr>
              <a:buFontTx/>
              <a:buNone/>
            </a:pPr>
            <a:r>
              <a:rPr lang="en-US" altLang="zh-CN" sz="3200" dirty="0"/>
              <a:t>AFTER/BEFORE  INSERT/UPDATE/DELETE </a:t>
            </a:r>
          </a:p>
          <a:p>
            <a:pPr>
              <a:buFontTx/>
              <a:buNone/>
            </a:pPr>
            <a:r>
              <a:rPr kumimoji="0" lang="en-US" altLang="zh-CN" sz="3200" b="1" dirty="0">
                <a:solidFill>
                  <a:srgbClr val="FFFF00"/>
                </a:solidFill>
                <a:latin typeface="Arial" charset="0"/>
              </a:rPr>
              <a:t>ON</a:t>
            </a:r>
            <a:r>
              <a:rPr lang="en-US" altLang="zh-CN" sz="3200" dirty="0"/>
              <a:t> </a:t>
            </a:r>
            <a:r>
              <a:rPr lang="zh-CN" altLang="en-US" sz="3200" dirty="0"/>
              <a:t>表名</a:t>
            </a:r>
          </a:p>
          <a:p>
            <a:pPr>
              <a:buFontTx/>
              <a:buNone/>
            </a:pPr>
            <a:r>
              <a:rPr lang="en-US" altLang="zh-CN" sz="3200" dirty="0"/>
              <a:t>FOR EACH ROW</a:t>
            </a:r>
          </a:p>
          <a:p>
            <a:pPr>
              <a:buFontTx/>
              <a:buNone/>
            </a:pPr>
            <a:r>
              <a:rPr lang="en-US" altLang="zh-CN" sz="3200" dirty="0"/>
              <a:t>BEGIN </a:t>
            </a:r>
          </a:p>
          <a:p>
            <a:pPr>
              <a:buFontTx/>
              <a:buNone/>
            </a:pPr>
            <a:r>
              <a:rPr lang="en-US" altLang="zh-CN" sz="3200" dirty="0"/>
              <a:t>  </a:t>
            </a:r>
            <a:r>
              <a:rPr lang="zh-CN" altLang="en-US" sz="3200" dirty="0"/>
              <a:t>语句序列</a:t>
            </a:r>
            <a:r>
              <a:rPr lang="en-US" altLang="zh-CN" sz="3200" dirty="0"/>
              <a:t>;</a:t>
            </a:r>
          </a:p>
          <a:p>
            <a:pPr>
              <a:buFontTx/>
              <a:buNone/>
            </a:pPr>
            <a:r>
              <a:rPr lang="en-US" altLang="zh-CN" sz="3200" dirty="0"/>
              <a:t>END;</a:t>
            </a:r>
          </a:p>
          <a:p>
            <a:pPr lvl="0" eaLnBrk="1" hangingPunct="1">
              <a:spcAft>
                <a:spcPct val="0"/>
              </a:spcAft>
              <a:buNone/>
              <a:defRPr/>
            </a:pPr>
            <a:endParaRPr kumimoji="0" lang="en-US" altLang="en-US" sz="3200" dirty="0">
              <a:latin typeface="Arial" charset="0"/>
            </a:endParaRPr>
          </a:p>
        </p:txBody>
      </p:sp>
      <p:sp>
        <p:nvSpPr>
          <p:cNvPr id="5" name="Rectangle 26">
            <a:extLst>
              <a:ext uri="{FF2B5EF4-FFF2-40B4-BE49-F238E27FC236}">
                <a16:creationId xmlns:a16="http://schemas.microsoft.com/office/drawing/2014/main" id="{4EA58DBC-A5A3-4B96-B9E3-6E2A0F389D63}"/>
              </a:ext>
            </a:extLst>
          </p:cNvPr>
          <p:cNvSpPr>
            <a:spLocks noChangeArrowheads="1"/>
          </p:cNvSpPr>
          <p:nvPr/>
        </p:nvSpPr>
        <p:spPr bwMode="auto">
          <a:xfrm>
            <a:off x="6023992" y="3140968"/>
            <a:ext cx="4968552" cy="3022366"/>
          </a:xfrm>
          <a:prstGeom prst="rect">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wrap="square" anchor="ctr">
            <a:spAutoFit/>
          </a:bodyPr>
          <a:lstStyle/>
          <a:p>
            <a:pPr marL="360363" indent="-360363" fontAlgn="auto">
              <a:spcBef>
                <a:spcPts val="0"/>
              </a:spcBef>
              <a:spcAft>
                <a:spcPct val="40000"/>
              </a:spcAft>
              <a:buClr>
                <a:srgbClr val="66FF33"/>
              </a:buClr>
              <a:buSzPct val="85000"/>
              <a:buBlip>
                <a:blip r:embed="rId3"/>
              </a:buBlip>
              <a:defRPr/>
            </a:pPr>
            <a:r>
              <a:rPr kumimoji="0" lang="en-US" altLang="zh-CN" sz="2800" kern="0" dirty="0">
                <a:solidFill>
                  <a:srgbClr val="FFFFCC"/>
                </a:solidFill>
                <a:effectLst>
                  <a:outerShdw blurRad="38100" dist="38100" dir="2700000" algn="tl">
                    <a:srgbClr val="000000"/>
                  </a:outerShdw>
                </a:effectLst>
                <a:latin typeface="Times New Roman" pitchFamily="18" charset="0"/>
              </a:rPr>
              <a:t>INSERT/UPDATE/DELETE</a:t>
            </a:r>
            <a:r>
              <a:rPr kumimoji="0" lang="zh-CN" altLang="en-US" sz="2800" kern="0" dirty="0">
                <a:solidFill>
                  <a:srgbClr val="FFFFCC"/>
                </a:solidFill>
                <a:effectLst>
                  <a:outerShdw blurRad="38100" dist="38100" dir="2700000" algn="tl">
                    <a:srgbClr val="000000"/>
                  </a:outerShdw>
                </a:effectLst>
                <a:latin typeface="Times New Roman" pitchFamily="18" charset="0"/>
              </a:rPr>
              <a:t>为触发条件</a:t>
            </a:r>
            <a:endParaRPr kumimoji="0" lang="en-US" altLang="zh-CN" sz="2800" kern="0" dirty="0">
              <a:solidFill>
                <a:srgbClr val="FFFFCC"/>
              </a:solidFill>
              <a:effectLst>
                <a:outerShdw blurRad="38100" dist="38100" dir="2700000" algn="tl">
                  <a:srgbClr val="000000"/>
                </a:outerShdw>
              </a:effectLst>
              <a:latin typeface="Times New Roman" pitchFamily="18" charset="0"/>
            </a:endParaRPr>
          </a:p>
          <a:p>
            <a:pPr marL="360363" indent="-360363" fontAlgn="auto">
              <a:spcBef>
                <a:spcPts val="0"/>
              </a:spcBef>
              <a:spcAft>
                <a:spcPct val="40000"/>
              </a:spcAft>
              <a:buClr>
                <a:srgbClr val="66FF33"/>
              </a:buClr>
              <a:buSzPct val="85000"/>
              <a:buBlip>
                <a:blip r:embed="rId3"/>
              </a:buBlip>
              <a:defRPr/>
            </a:pPr>
            <a:r>
              <a:rPr kumimoji="0" lang="en-US" altLang="zh-CN" sz="2800" kern="0" dirty="0">
                <a:solidFill>
                  <a:srgbClr val="FFFFCC"/>
                </a:solidFill>
                <a:effectLst>
                  <a:outerShdw blurRad="38100" dist="38100" dir="2700000" algn="tl">
                    <a:srgbClr val="000000"/>
                  </a:outerShdw>
                </a:effectLst>
                <a:latin typeface="Times New Roman" pitchFamily="18" charset="0"/>
              </a:rPr>
              <a:t>AFTER/BEFORE</a:t>
            </a:r>
            <a:r>
              <a:rPr kumimoji="0" lang="zh-CN" altLang="en-US" sz="2800" kern="0" dirty="0">
                <a:solidFill>
                  <a:srgbClr val="FFFFCC"/>
                </a:solidFill>
                <a:effectLst>
                  <a:outerShdw blurRad="38100" dist="38100" dir="2700000" algn="tl">
                    <a:srgbClr val="000000"/>
                  </a:outerShdw>
                </a:effectLst>
                <a:latin typeface="Times New Roman" pitchFamily="18" charset="0"/>
              </a:rPr>
              <a:t>定义触发器的执行单元是更新后</a:t>
            </a:r>
            <a:r>
              <a:rPr kumimoji="0" lang="en-US" altLang="zh-CN" sz="2800" kern="0" dirty="0">
                <a:solidFill>
                  <a:srgbClr val="FFFFCC"/>
                </a:solidFill>
                <a:effectLst>
                  <a:outerShdw blurRad="38100" dist="38100" dir="2700000" algn="tl">
                    <a:srgbClr val="000000"/>
                  </a:outerShdw>
                </a:effectLst>
                <a:latin typeface="Times New Roman" pitchFamily="18" charset="0"/>
              </a:rPr>
              <a:t>/</a:t>
            </a:r>
            <a:r>
              <a:rPr kumimoji="0" lang="zh-CN" altLang="en-US" sz="2800" kern="0" dirty="0">
                <a:solidFill>
                  <a:srgbClr val="FFFFCC"/>
                </a:solidFill>
                <a:effectLst>
                  <a:outerShdw blurRad="38100" dist="38100" dir="2700000" algn="tl">
                    <a:srgbClr val="000000"/>
                  </a:outerShdw>
                </a:effectLst>
                <a:latin typeface="Times New Roman" pitchFamily="18" charset="0"/>
              </a:rPr>
              <a:t>前执行</a:t>
            </a:r>
            <a:endParaRPr kumimoji="0" lang="en-US" altLang="zh-CN" sz="2800" kern="0" dirty="0">
              <a:solidFill>
                <a:srgbClr val="FFFFCC"/>
              </a:solidFill>
              <a:effectLst>
                <a:outerShdw blurRad="38100" dist="38100" dir="2700000" algn="tl">
                  <a:srgbClr val="000000"/>
                </a:outerShdw>
              </a:effectLst>
              <a:latin typeface="Times New Roman" pitchFamily="18" charset="0"/>
            </a:endParaRPr>
          </a:p>
          <a:p>
            <a:pPr marL="360363" indent="-360363" fontAlgn="auto">
              <a:spcBef>
                <a:spcPts val="0"/>
              </a:spcBef>
              <a:spcAft>
                <a:spcPct val="40000"/>
              </a:spcAft>
              <a:buClr>
                <a:srgbClr val="66FF33"/>
              </a:buClr>
              <a:buSzPct val="85000"/>
              <a:buBlip>
                <a:blip r:embed="rId3"/>
              </a:buBlip>
              <a:defRPr/>
            </a:pPr>
            <a:r>
              <a:rPr kumimoji="0" lang="en-US" altLang="zh-CN" sz="2800" kern="0" dirty="0">
                <a:solidFill>
                  <a:srgbClr val="FFFFCC"/>
                </a:solidFill>
                <a:effectLst>
                  <a:outerShdw blurRad="38100" dist="38100" dir="2700000" algn="tl">
                    <a:srgbClr val="000000"/>
                  </a:outerShdw>
                </a:effectLst>
                <a:latin typeface="Times New Roman" pitchFamily="18" charset="0"/>
              </a:rPr>
              <a:t>FOR EACH ROW</a:t>
            </a:r>
            <a:r>
              <a:rPr kumimoji="0" lang="zh-CN" altLang="en-US" sz="2800" kern="0" dirty="0">
                <a:solidFill>
                  <a:srgbClr val="FFFFCC"/>
                </a:solidFill>
                <a:effectLst>
                  <a:outerShdw blurRad="38100" dist="38100" dir="2700000" algn="tl">
                    <a:srgbClr val="000000"/>
                  </a:outerShdw>
                </a:effectLst>
                <a:latin typeface="Times New Roman" pitchFamily="18" charset="0"/>
              </a:rPr>
              <a:t>表示为行级触发</a:t>
            </a:r>
          </a:p>
        </p:txBody>
      </p:sp>
    </p:spTree>
    <p:extLst>
      <p:ext uri="{BB962C8B-B14F-4D97-AF65-F5344CB8AC3E}">
        <p14:creationId xmlns:p14="http://schemas.microsoft.com/office/powerpoint/2010/main" val="2943252521"/>
      </p:ext>
    </p:extLst>
  </p:cSld>
  <p:clrMapOvr>
    <a:masterClrMapping/>
  </p:clrMapOvr>
  <p:transition spd="slow">
    <p:wipe dir="r"/>
    <p:sndAc>
      <p:stSnd>
        <p:snd r:embed="rId2" name="arrow.wav"/>
      </p:stSnd>
    </p:sndAc>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body" idx="4294967295"/>
          </p:nvPr>
        </p:nvSpPr>
        <p:spPr/>
        <p:txBody>
          <a:bodyPr/>
          <a:lstStyle/>
          <a:p>
            <a:pPr>
              <a:buFontTx/>
              <a:buNone/>
            </a:pPr>
            <a:r>
              <a:rPr lang="zh-CN" altLang="en-US" dirty="0" smtClean="0">
                <a:latin typeface="Tahoma" panose="020B0604030504040204" pitchFamily="34" charset="0"/>
                <a:ea typeface="宋体" panose="02010600030101010101" pitchFamily="2" charset="-122"/>
              </a:rPr>
              <a:t>说明：</a:t>
            </a:r>
          </a:p>
          <a:p>
            <a:r>
              <a:rPr lang="en-US" altLang="zh-CN" dirty="0" smtClean="0">
                <a:latin typeface="Tahoma" panose="020B0604030504040204" pitchFamily="34" charset="0"/>
                <a:ea typeface="宋体" panose="02010600030101010101" pitchFamily="2" charset="-122"/>
              </a:rPr>
              <a:t>(1) INSERT/UPDATE/DELETE</a:t>
            </a:r>
            <a:r>
              <a:rPr lang="zh-CN" altLang="en-US" dirty="0" smtClean="0">
                <a:latin typeface="Tahoma" panose="020B0604030504040204" pitchFamily="34" charset="0"/>
                <a:ea typeface="宋体" panose="02010600030101010101" pitchFamily="2" charset="-122"/>
              </a:rPr>
              <a:t>为三种触发事件：</a:t>
            </a:r>
          </a:p>
          <a:p>
            <a:pPr lvl="1"/>
            <a:r>
              <a:rPr lang="zh-CN" altLang="en-US" dirty="0" smtClean="0">
                <a:latin typeface="Tahoma" panose="020B0604030504040204" pitchFamily="34" charset="0"/>
                <a:ea typeface="宋体" panose="02010600030101010101" pitchFamily="2" charset="-122"/>
              </a:rPr>
              <a:t></a:t>
            </a:r>
            <a:r>
              <a:rPr lang="en-US" altLang="zh-CN" dirty="0" smtClean="0">
                <a:latin typeface="Tahoma" panose="020B0604030504040204" pitchFamily="34" charset="0"/>
                <a:ea typeface="宋体" panose="02010600030101010101" pitchFamily="2" charset="-122"/>
              </a:rPr>
              <a:t>INSERT</a:t>
            </a:r>
            <a:r>
              <a:rPr lang="zh-CN" altLang="en-US" dirty="0" smtClean="0">
                <a:latin typeface="Tahoma" panose="020B0604030504040204" pitchFamily="34" charset="0"/>
                <a:ea typeface="宋体" panose="02010600030101010101" pitchFamily="2" charset="-122"/>
              </a:rPr>
              <a:t>：在表中插入新记录时。</a:t>
            </a:r>
          </a:p>
          <a:p>
            <a:pPr lvl="1"/>
            <a:r>
              <a:rPr lang="zh-CN" altLang="en-US" dirty="0" smtClean="0">
                <a:latin typeface="Tahoma" panose="020B0604030504040204" pitchFamily="34" charset="0"/>
                <a:ea typeface="宋体" panose="02010600030101010101" pitchFamily="2" charset="-122"/>
              </a:rPr>
              <a:t></a:t>
            </a:r>
            <a:r>
              <a:rPr lang="en-US" altLang="zh-CN" dirty="0" smtClean="0">
                <a:latin typeface="Tahoma" panose="020B0604030504040204" pitchFamily="34" charset="0"/>
                <a:ea typeface="宋体" panose="02010600030101010101" pitchFamily="2" charset="-122"/>
              </a:rPr>
              <a:t>UPDATE</a:t>
            </a:r>
            <a:r>
              <a:rPr lang="zh-CN" altLang="en-US" dirty="0" smtClean="0">
                <a:latin typeface="Tahoma" panose="020B0604030504040204" pitchFamily="34" charset="0"/>
                <a:ea typeface="宋体" panose="02010600030101010101" pitchFamily="2" charset="-122"/>
              </a:rPr>
              <a:t>：更改表中的记录时。</a:t>
            </a:r>
          </a:p>
          <a:p>
            <a:pPr lvl="1"/>
            <a:r>
              <a:rPr lang="zh-CN" altLang="en-US" dirty="0" smtClean="0">
                <a:latin typeface="Tahoma" panose="020B0604030504040204" pitchFamily="34" charset="0"/>
                <a:ea typeface="宋体" panose="02010600030101010101" pitchFamily="2" charset="-122"/>
              </a:rPr>
              <a:t></a:t>
            </a:r>
            <a:r>
              <a:rPr lang="en-US" altLang="zh-CN" dirty="0" smtClean="0">
                <a:latin typeface="Tahoma" panose="020B0604030504040204" pitchFamily="34" charset="0"/>
                <a:ea typeface="宋体" panose="02010600030101010101" pitchFamily="2" charset="-122"/>
              </a:rPr>
              <a:t>DELETE</a:t>
            </a:r>
            <a:r>
              <a:rPr lang="zh-CN" altLang="en-US" dirty="0" smtClean="0">
                <a:latin typeface="Tahoma" panose="020B0604030504040204" pitchFamily="34" charset="0"/>
                <a:ea typeface="宋体" panose="02010600030101010101" pitchFamily="2" charset="-122"/>
              </a:rPr>
              <a:t>：从表中删除记录时。</a:t>
            </a:r>
          </a:p>
        </p:txBody>
      </p:sp>
    </p:spTree>
    <p:extLst>
      <p:ext uri="{BB962C8B-B14F-4D97-AF65-F5344CB8AC3E}">
        <p14:creationId xmlns:p14="http://schemas.microsoft.com/office/powerpoint/2010/main" val="1736653283"/>
      </p:ext>
    </p:extLst>
  </p:cSld>
  <p:clrMapOvr>
    <a:masterClrMapping/>
  </p:clrMapOvr>
  <p:transition spd="slow">
    <p:wipe dir="r"/>
    <p:sndAc>
      <p:stSnd>
        <p:snd r:embed="rId2" name="arrow.wav"/>
      </p:stSnd>
    </p:sndAc>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type="body" idx="4294967295"/>
          </p:nvPr>
        </p:nvSpPr>
        <p:spPr>
          <a:xfrm>
            <a:off x="623392" y="548680"/>
            <a:ext cx="10972800" cy="4525963"/>
          </a:xfrm>
        </p:spPr>
        <p:txBody>
          <a:bodyPr>
            <a:normAutofit/>
          </a:bodyPr>
          <a:lstStyle/>
          <a:p>
            <a:pPr>
              <a:lnSpc>
                <a:spcPct val="150000"/>
              </a:lnSpc>
            </a:pPr>
            <a:r>
              <a:rPr lang="en-US" altLang="zh-CN" sz="2400" dirty="0">
                <a:latin typeface="宋体" pitchFamily="2" charset="-122"/>
              </a:rPr>
              <a:t>(2) BEFORE/AFTER</a:t>
            </a:r>
            <a:r>
              <a:rPr lang="zh-CN" altLang="en-US" sz="2400" dirty="0">
                <a:latin typeface="宋体" pitchFamily="2" charset="-122"/>
              </a:rPr>
              <a:t>为触发时间。</a:t>
            </a:r>
            <a:r>
              <a:rPr lang="en-US" altLang="zh-CN" sz="2400" dirty="0">
                <a:solidFill>
                  <a:srgbClr val="C00000"/>
                </a:solidFill>
                <a:latin typeface="宋体" pitchFamily="2" charset="-122"/>
              </a:rPr>
              <a:t>BEFORE</a:t>
            </a:r>
            <a:r>
              <a:rPr lang="zh-CN" altLang="en-US" sz="2400" dirty="0">
                <a:latin typeface="宋体" pitchFamily="2" charset="-122"/>
              </a:rPr>
              <a:t>表示在触发事件发生后</a:t>
            </a:r>
            <a:r>
              <a:rPr lang="zh-CN" altLang="en-US" sz="2400" dirty="0">
                <a:solidFill>
                  <a:srgbClr val="C00000"/>
                </a:solidFill>
                <a:latin typeface="宋体" pitchFamily="2" charset="-122"/>
              </a:rPr>
              <a:t>先去执行触发程序</a:t>
            </a:r>
            <a:r>
              <a:rPr lang="zh-CN" altLang="en-US" sz="2400" dirty="0">
                <a:latin typeface="宋体" pitchFamily="2" charset="-122"/>
              </a:rPr>
              <a:t>，然后再去执行</a:t>
            </a:r>
            <a:r>
              <a:rPr lang="zh-CN" altLang="en-US" sz="2400" dirty="0">
                <a:solidFill>
                  <a:srgbClr val="C00000"/>
                </a:solidFill>
                <a:latin typeface="宋体" pitchFamily="2" charset="-122"/>
              </a:rPr>
              <a:t>数据更新操作</a:t>
            </a:r>
            <a:r>
              <a:rPr lang="zh-CN" altLang="en-US" sz="2400" dirty="0">
                <a:latin typeface="宋体" pitchFamily="2" charset="-122"/>
              </a:rPr>
              <a:t>，适用于在实际的数据更新之前事先做一些</a:t>
            </a:r>
            <a:r>
              <a:rPr lang="zh-CN" altLang="en-US" sz="2400" dirty="0">
                <a:solidFill>
                  <a:srgbClr val="C00000"/>
                </a:solidFill>
                <a:latin typeface="宋体" pitchFamily="2" charset="-122"/>
              </a:rPr>
              <a:t>检查和处理的情况</a:t>
            </a:r>
            <a:r>
              <a:rPr lang="zh-CN" altLang="en-US" sz="2400" dirty="0">
                <a:latin typeface="宋体" pitchFamily="2" charset="-122"/>
              </a:rPr>
              <a:t>；</a:t>
            </a:r>
            <a:r>
              <a:rPr lang="en-US" altLang="zh-CN" sz="2400" dirty="0">
                <a:latin typeface="宋体" pitchFamily="2" charset="-122"/>
              </a:rPr>
              <a:t>AFTER</a:t>
            </a:r>
            <a:r>
              <a:rPr lang="zh-CN" altLang="en-US" sz="2400" dirty="0">
                <a:latin typeface="宋体" pitchFamily="2" charset="-122"/>
              </a:rPr>
              <a:t>表示在引起触发事件的操作成功执行后才去执行触发程序，适用于更新完成后自动再完成其它一些操作的情况。</a:t>
            </a:r>
          </a:p>
          <a:p>
            <a:pPr>
              <a:lnSpc>
                <a:spcPct val="150000"/>
              </a:lnSpc>
            </a:pPr>
            <a:r>
              <a:rPr lang="en-US" altLang="zh-CN" sz="2400" dirty="0">
                <a:latin typeface="宋体" pitchFamily="2" charset="-122"/>
              </a:rPr>
              <a:t>(3) FOR EACH ROW</a:t>
            </a:r>
            <a:r>
              <a:rPr lang="zh-CN" altLang="en-US" sz="2400" dirty="0">
                <a:latin typeface="宋体" pitchFamily="2" charset="-122"/>
              </a:rPr>
              <a:t>表示行级触发器，即数据更新操作影响的每一条记录都会执行一次触发程序。</a:t>
            </a:r>
          </a:p>
        </p:txBody>
      </p:sp>
    </p:spTree>
    <p:extLst>
      <p:ext uri="{BB962C8B-B14F-4D97-AF65-F5344CB8AC3E}">
        <p14:creationId xmlns:p14="http://schemas.microsoft.com/office/powerpoint/2010/main" val="1306005443"/>
      </p:ext>
    </p:extLst>
  </p:cSld>
  <p:clrMapOvr>
    <a:masterClrMapping/>
  </p:clrMapOvr>
  <p:transition spd="slow">
    <p:wipe dir="r"/>
    <p:sndAc>
      <p:stSnd>
        <p:snd r:embed="rId2" name="arrow.wav"/>
      </p:stSnd>
    </p:sndAc>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0"/>
            <a:ext cx="5850622"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en-US" altLang="zh-CN" dirty="0">
                <a:solidFill>
                  <a:srgbClr val="FFFFCC"/>
                </a:solidFill>
                <a:effectLst>
                  <a:outerShdw blurRad="38100" dist="38100" dir="2700000" algn="tl">
                    <a:srgbClr val="000000"/>
                  </a:outerShdw>
                </a:effectLst>
              </a:rPr>
              <a:t>AFTER</a:t>
            </a:r>
            <a:r>
              <a:rPr lang="zh-CN" altLang="en-US" dirty="0">
                <a:solidFill>
                  <a:srgbClr val="FFFFCC"/>
                </a:solidFill>
                <a:effectLst>
                  <a:outerShdw blurRad="38100" dist="38100" dir="2700000" algn="tl">
                    <a:srgbClr val="000000"/>
                  </a:outerShdw>
                </a:effectLst>
              </a:rPr>
              <a:t>和</a:t>
            </a:r>
            <a:r>
              <a:rPr lang="en-US" altLang="zh-CN" dirty="0">
                <a:solidFill>
                  <a:srgbClr val="FFFFCC"/>
                </a:solidFill>
                <a:effectLst>
                  <a:outerShdw blurRad="38100" dist="38100" dir="2700000" algn="tl">
                    <a:srgbClr val="000000"/>
                  </a:outerShdw>
                </a:effectLst>
              </a:rPr>
              <a:t>BEFORE</a:t>
            </a:r>
            <a:r>
              <a:rPr lang="zh-CN" altLang="en-US" dirty="0">
                <a:solidFill>
                  <a:srgbClr val="FFFFCC"/>
                </a:solidFill>
                <a:effectLst>
                  <a:outerShdw blurRad="38100" dist="38100" dir="2700000" algn="tl">
                    <a:srgbClr val="000000"/>
                  </a:outerShdw>
                </a:effectLst>
              </a:rPr>
              <a:t>的示意</a:t>
            </a:r>
            <a:endParaRPr lang="zh-CN" altLang="en-US" sz="4000" b="1" dirty="0">
              <a:solidFill>
                <a:srgbClr val="FFFFCC"/>
              </a:solidFill>
              <a:effectLst>
                <a:outerShdw blurRad="38100" dist="38100" dir="2700000" algn="tl">
                  <a:srgbClr val="000000"/>
                </a:outerShdw>
              </a:effectLst>
              <a:cs typeface="+mn-cs"/>
            </a:endParaRPr>
          </a:p>
        </p:txBody>
      </p:sp>
      <p:grpSp>
        <p:nvGrpSpPr>
          <p:cNvPr id="30" name="组合 29">
            <a:extLst>
              <a:ext uri="{FF2B5EF4-FFF2-40B4-BE49-F238E27FC236}">
                <a16:creationId xmlns:a16="http://schemas.microsoft.com/office/drawing/2014/main" id="{936433C9-F3F4-4A67-B93A-A320C77EE3F8}"/>
              </a:ext>
            </a:extLst>
          </p:cNvPr>
          <p:cNvGrpSpPr/>
          <p:nvPr/>
        </p:nvGrpSpPr>
        <p:grpSpPr>
          <a:xfrm>
            <a:off x="1565809" y="1119322"/>
            <a:ext cx="2976053" cy="4685942"/>
            <a:chOff x="2104144" y="1376000"/>
            <a:chExt cx="2367088" cy="4554831"/>
          </a:xfrm>
        </p:grpSpPr>
        <p:sp>
          <p:nvSpPr>
            <p:cNvPr id="4" name="矩形 3">
              <a:extLst>
                <a:ext uri="{FF2B5EF4-FFF2-40B4-BE49-F238E27FC236}">
                  <a16:creationId xmlns:a16="http://schemas.microsoft.com/office/drawing/2014/main" id="{F98C4BB1-68ED-4B73-94FF-F8E7110A2AA7}"/>
                </a:ext>
              </a:extLst>
            </p:cNvPr>
            <p:cNvSpPr/>
            <p:nvPr/>
          </p:nvSpPr>
          <p:spPr>
            <a:xfrm>
              <a:off x="2695684" y="2201329"/>
              <a:ext cx="1184008" cy="457200"/>
            </a:xfrm>
            <a:prstGeom prst="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2400" dirty="0"/>
                <a:t>更新数据</a:t>
              </a:r>
            </a:p>
          </p:txBody>
        </p:sp>
        <p:sp>
          <p:nvSpPr>
            <p:cNvPr id="8" name="矩形 7">
              <a:extLst>
                <a:ext uri="{FF2B5EF4-FFF2-40B4-BE49-F238E27FC236}">
                  <a16:creationId xmlns:a16="http://schemas.microsoft.com/office/drawing/2014/main" id="{88036317-1E7B-43AF-9F95-93DC1D5095F5}"/>
                </a:ext>
              </a:extLst>
            </p:cNvPr>
            <p:cNvSpPr/>
            <p:nvPr/>
          </p:nvSpPr>
          <p:spPr>
            <a:xfrm>
              <a:off x="2634750" y="4314280"/>
              <a:ext cx="1305878" cy="566653"/>
            </a:xfrm>
            <a:prstGeom prst="rect">
              <a:avLst/>
            </a:prstGeom>
            <a:solidFill>
              <a:srgbClr val="C00000"/>
            </a:solidFill>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2400" dirty="0"/>
                <a:t>执行单元</a:t>
              </a:r>
            </a:p>
          </p:txBody>
        </p:sp>
        <p:sp>
          <p:nvSpPr>
            <p:cNvPr id="11" name="矩形: 圆角 10">
              <a:extLst>
                <a:ext uri="{FF2B5EF4-FFF2-40B4-BE49-F238E27FC236}">
                  <a16:creationId xmlns:a16="http://schemas.microsoft.com/office/drawing/2014/main" id="{3D3E646D-8FA8-4A34-B6E0-873BE585D67B}"/>
                </a:ext>
              </a:extLst>
            </p:cNvPr>
            <p:cNvSpPr/>
            <p:nvPr/>
          </p:nvSpPr>
          <p:spPr>
            <a:xfrm>
              <a:off x="2170305" y="1376000"/>
              <a:ext cx="2234766" cy="410344"/>
            </a:xfrm>
            <a:prstGeom prst="roundRect">
              <a:avLst>
                <a:gd name="adj" fmla="val 50000"/>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2400" dirty="0"/>
                <a:t>启动</a:t>
              </a:r>
              <a:r>
                <a:rPr lang="en-US" altLang="zh-CN" sz="2400" dirty="0"/>
                <a:t>DML</a:t>
              </a:r>
              <a:r>
                <a:rPr lang="zh-CN" altLang="en-US" sz="2400" dirty="0"/>
                <a:t>命令</a:t>
              </a:r>
            </a:p>
          </p:txBody>
        </p:sp>
        <p:sp>
          <p:nvSpPr>
            <p:cNvPr id="5" name="菱形 4">
              <a:extLst>
                <a:ext uri="{FF2B5EF4-FFF2-40B4-BE49-F238E27FC236}">
                  <a16:creationId xmlns:a16="http://schemas.microsoft.com/office/drawing/2014/main" id="{0B7EE1C0-1FB9-479B-A656-0C00F7DC03D0}"/>
                </a:ext>
              </a:extLst>
            </p:cNvPr>
            <p:cNvSpPr/>
            <p:nvPr/>
          </p:nvSpPr>
          <p:spPr>
            <a:xfrm>
              <a:off x="2104145" y="2993910"/>
              <a:ext cx="2367087" cy="882632"/>
            </a:xfrm>
            <a:prstGeom prst="diamond">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2400" dirty="0"/>
                <a:t>触发条件？</a:t>
              </a:r>
            </a:p>
          </p:txBody>
        </p:sp>
        <p:sp>
          <p:nvSpPr>
            <p:cNvPr id="13" name="矩形: 圆角 12">
              <a:extLst>
                <a:ext uri="{FF2B5EF4-FFF2-40B4-BE49-F238E27FC236}">
                  <a16:creationId xmlns:a16="http://schemas.microsoft.com/office/drawing/2014/main" id="{AE909723-5EF3-493E-B937-828BEF8DC39D}"/>
                </a:ext>
              </a:extLst>
            </p:cNvPr>
            <p:cNvSpPr/>
            <p:nvPr/>
          </p:nvSpPr>
          <p:spPr>
            <a:xfrm>
              <a:off x="2401642" y="5520487"/>
              <a:ext cx="1772094" cy="410344"/>
            </a:xfrm>
            <a:prstGeom prst="roundRect">
              <a:avLst>
                <a:gd name="adj" fmla="val 50000"/>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2400" dirty="0"/>
                <a:t>DML</a:t>
              </a:r>
              <a:r>
                <a:rPr lang="zh-CN" altLang="en-US" sz="2400" dirty="0"/>
                <a:t>命令完成</a:t>
              </a:r>
            </a:p>
          </p:txBody>
        </p:sp>
        <p:cxnSp>
          <p:nvCxnSpPr>
            <p:cNvPr id="14" name="直接连接符 13">
              <a:extLst>
                <a:ext uri="{FF2B5EF4-FFF2-40B4-BE49-F238E27FC236}">
                  <a16:creationId xmlns:a16="http://schemas.microsoft.com/office/drawing/2014/main" id="{C38C515E-407A-4741-AB9F-34DCE102526B}"/>
                </a:ext>
              </a:extLst>
            </p:cNvPr>
            <p:cNvCxnSpPr>
              <a:cxnSpLocks/>
              <a:stCxn id="11" idx="2"/>
              <a:endCxn id="4" idx="0"/>
            </p:cNvCxnSpPr>
            <p:nvPr/>
          </p:nvCxnSpPr>
          <p:spPr>
            <a:xfrm>
              <a:off x="3287688" y="1786344"/>
              <a:ext cx="0" cy="414985"/>
            </a:xfrm>
            <a:prstGeom prst="line">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19" name="连接符: 肘形 18">
              <a:extLst>
                <a:ext uri="{FF2B5EF4-FFF2-40B4-BE49-F238E27FC236}">
                  <a16:creationId xmlns:a16="http://schemas.microsoft.com/office/drawing/2014/main" id="{4F91A386-F536-4CB1-90F8-2935EF7415A8}"/>
                </a:ext>
              </a:extLst>
            </p:cNvPr>
            <p:cNvCxnSpPr>
              <a:cxnSpLocks/>
              <a:stCxn id="5" idx="1"/>
              <a:endCxn id="13" idx="0"/>
            </p:cNvCxnSpPr>
            <p:nvPr/>
          </p:nvCxnSpPr>
          <p:spPr>
            <a:xfrm rot="10800000" flipH="1" flipV="1">
              <a:off x="2104144" y="3435227"/>
              <a:ext cx="1183544" cy="2085260"/>
            </a:xfrm>
            <a:prstGeom prst="bentConnector4">
              <a:avLst>
                <a:gd name="adj1" fmla="val -50390"/>
                <a:gd name="adj2" fmla="val 81041"/>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21" name="连接符: 肘形 20">
              <a:extLst>
                <a:ext uri="{FF2B5EF4-FFF2-40B4-BE49-F238E27FC236}">
                  <a16:creationId xmlns:a16="http://schemas.microsoft.com/office/drawing/2014/main" id="{FD379C67-2163-47E1-A0F5-694D72D4A952}"/>
                </a:ext>
              </a:extLst>
            </p:cNvPr>
            <p:cNvCxnSpPr>
              <a:cxnSpLocks/>
              <a:stCxn id="5" idx="2"/>
              <a:endCxn id="8" idx="0"/>
            </p:cNvCxnSpPr>
            <p:nvPr/>
          </p:nvCxnSpPr>
          <p:spPr>
            <a:xfrm rot="16200000" flipH="1">
              <a:off x="3068820" y="4095411"/>
              <a:ext cx="437738" cy="1"/>
            </a:xfrm>
            <a:prstGeom prst="bentConnector3">
              <a:avLst>
                <a:gd name="adj1" fmla="val 50000"/>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29" name="连接符: 肘形 28">
              <a:extLst>
                <a:ext uri="{FF2B5EF4-FFF2-40B4-BE49-F238E27FC236}">
                  <a16:creationId xmlns:a16="http://schemas.microsoft.com/office/drawing/2014/main" id="{887470A9-19F0-4263-9733-B82469F52C6D}"/>
                </a:ext>
              </a:extLst>
            </p:cNvPr>
            <p:cNvCxnSpPr>
              <a:cxnSpLocks/>
              <a:stCxn id="8" idx="2"/>
              <a:endCxn id="13" idx="0"/>
            </p:cNvCxnSpPr>
            <p:nvPr/>
          </p:nvCxnSpPr>
          <p:spPr>
            <a:xfrm rot="5400000">
              <a:off x="2967913" y="5201831"/>
              <a:ext cx="639553" cy="10101"/>
            </a:xfrm>
            <a:prstGeom prst="bentConnector3">
              <a:avLst>
                <a:gd name="adj1" fmla="val 50000"/>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48" name="直接连接符 47">
              <a:extLst>
                <a:ext uri="{FF2B5EF4-FFF2-40B4-BE49-F238E27FC236}">
                  <a16:creationId xmlns:a16="http://schemas.microsoft.com/office/drawing/2014/main" id="{D720FBD5-5EA1-43E7-93C0-592E31B9BE24}"/>
                </a:ext>
              </a:extLst>
            </p:cNvPr>
            <p:cNvCxnSpPr>
              <a:cxnSpLocks/>
              <a:stCxn id="4" idx="2"/>
              <a:endCxn id="5" idx="0"/>
            </p:cNvCxnSpPr>
            <p:nvPr/>
          </p:nvCxnSpPr>
          <p:spPr>
            <a:xfrm>
              <a:off x="3287688" y="2658529"/>
              <a:ext cx="0" cy="335381"/>
            </a:xfrm>
            <a:prstGeom prst="line">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53" name="直接连接符 52">
              <a:extLst>
                <a:ext uri="{FF2B5EF4-FFF2-40B4-BE49-F238E27FC236}">
                  <a16:creationId xmlns:a16="http://schemas.microsoft.com/office/drawing/2014/main" id="{3C1F0936-857F-47C8-AA0D-FFEFB99EF488}"/>
                </a:ext>
              </a:extLst>
            </p:cNvPr>
            <p:cNvCxnSpPr>
              <a:cxnSpLocks/>
              <a:stCxn id="8" idx="2"/>
              <a:endCxn id="13" idx="0"/>
            </p:cNvCxnSpPr>
            <p:nvPr/>
          </p:nvCxnSpPr>
          <p:spPr>
            <a:xfrm>
              <a:off x="3287689" y="4880933"/>
              <a:ext cx="0" cy="639553"/>
            </a:xfrm>
            <a:prstGeom prst="line">
              <a:avLst/>
            </a:prstGeom>
            <a:ln>
              <a:tailEnd type="triangle" w="med" len="lg"/>
            </a:ln>
          </p:spPr>
          <p:style>
            <a:lnRef idx="3">
              <a:schemeClr val="lt1"/>
            </a:lnRef>
            <a:fillRef idx="1">
              <a:schemeClr val="dk1"/>
            </a:fillRef>
            <a:effectRef idx="1">
              <a:schemeClr val="dk1"/>
            </a:effectRef>
            <a:fontRef idx="minor">
              <a:schemeClr val="lt1"/>
            </a:fontRef>
          </p:style>
        </p:cxnSp>
      </p:grpSp>
      <p:sp>
        <p:nvSpPr>
          <p:cNvPr id="61" name="矩形 60">
            <a:extLst>
              <a:ext uri="{FF2B5EF4-FFF2-40B4-BE49-F238E27FC236}">
                <a16:creationId xmlns:a16="http://schemas.microsoft.com/office/drawing/2014/main" id="{B3C6AD96-D874-4BE4-B4C9-FA31265399F5}"/>
              </a:ext>
            </a:extLst>
          </p:cNvPr>
          <p:cNvSpPr/>
          <p:nvPr/>
        </p:nvSpPr>
        <p:spPr>
          <a:xfrm>
            <a:off x="2117880" y="6103791"/>
            <a:ext cx="2032929" cy="584775"/>
          </a:xfrm>
          <a:prstGeom prst="rect">
            <a:avLst/>
          </a:prstGeom>
        </p:spPr>
        <p:txBody>
          <a:bodyPr wrap="none">
            <a:spAutoFit/>
          </a:bodyPr>
          <a:lstStyle/>
          <a:p>
            <a:r>
              <a:rPr lang="en-US" altLang="zh-CN" sz="3200" b="1" kern="0" dirty="0">
                <a:solidFill>
                  <a:srgbClr val="FFFF00"/>
                </a:solidFill>
                <a:latin typeface="+mj-ea"/>
                <a:ea typeface="+mj-ea"/>
              </a:rPr>
              <a:t>AFTER </a:t>
            </a:r>
            <a:r>
              <a:rPr lang="zh-CN" altLang="en-US" sz="3200" b="1" kern="0" dirty="0">
                <a:solidFill>
                  <a:srgbClr val="FFFF00"/>
                </a:solidFill>
                <a:latin typeface="+mj-ea"/>
                <a:ea typeface="+mj-ea"/>
              </a:rPr>
              <a:t>型</a:t>
            </a:r>
            <a:endParaRPr lang="zh-CN" altLang="en-US" sz="3200" b="1" dirty="0">
              <a:solidFill>
                <a:srgbClr val="FFFF00"/>
              </a:solidFill>
              <a:latin typeface="+mj-ea"/>
              <a:ea typeface="+mj-ea"/>
            </a:endParaRPr>
          </a:p>
        </p:txBody>
      </p:sp>
      <p:grpSp>
        <p:nvGrpSpPr>
          <p:cNvPr id="62" name="组合 61">
            <a:extLst>
              <a:ext uri="{FF2B5EF4-FFF2-40B4-BE49-F238E27FC236}">
                <a16:creationId xmlns:a16="http://schemas.microsoft.com/office/drawing/2014/main" id="{4C09EB7B-884A-4C70-9EA6-6EED0A78405B}"/>
              </a:ext>
            </a:extLst>
          </p:cNvPr>
          <p:cNvGrpSpPr/>
          <p:nvPr/>
        </p:nvGrpSpPr>
        <p:grpSpPr>
          <a:xfrm>
            <a:off x="7474957" y="1006446"/>
            <a:ext cx="3024383" cy="4798818"/>
            <a:chOff x="1974431" y="1263124"/>
            <a:chExt cx="2626514" cy="4798818"/>
          </a:xfrm>
        </p:grpSpPr>
        <p:sp>
          <p:nvSpPr>
            <p:cNvPr id="63" name="矩形 62">
              <a:extLst>
                <a:ext uri="{FF2B5EF4-FFF2-40B4-BE49-F238E27FC236}">
                  <a16:creationId xmlns:a16="http://schemas.microsoft.com/office/drawing/2014/main" id="{AD4E6702-77F9-43CF-B922-F2AF7E2DB1E1}"/>
                </a:ext>
              </a:extLst>
            </p:cNvPr>
            <p:cNvSpPr/>
            <p:nvPr/>
          </p:nvSpPr>
          <p:spPr>
            <a:xfrm>
              <a:off x="2612890" y="4477766"/>
              <a:ext cx="1349597" cy="582965"/>
            </a:xfrm>
            <a:prstGeom prst="rect">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2400" dirty="0"/>
                <a:t>更新数据</a:t>
              </a:r>
            </a:p>
          </p:txBody>
        </p:sp>
        <p:sp>
          <p:nvSpPr>
            <p:cNvPr id="65" name="矩形: 圆角 64">
              <a:extLst>
                <a:ext uri="{FF2B5EF4-FFF2-40B4-BE49-F238E27FC236}">
                  <a16:creationId xmlns:a16="http://schemas.microsoft.com/office/drawing/2014/main" id="{FB54C604-D9E6-421E-971C-7E66B3E0EC16}"/>
                </a:ext>
              </a:extLst>
            </p:cNvPr>
            <p:cNvSpPr/>
            <p:nvPr/>
          </p:nvSpPr>
          <p:spPr>
            <a:xfrm>
              <a:off x="2277725" y="1263124"/>
              <a:ext cx="2019927" cy="523220"/>
            </a:xfrm>
            <a:prstGeom prst="roundRect">
              <a:avLst>
                <a:gd name="adj" fmla="val 50000"/>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2400" dirty="0"/>
                <a:t>启动</a:t>
              </a:r>
              <a:r>
                <a:rPr lang="en-US" altLang="zh-CN" sz="2400" dirty="0"/>
                <a:t>DML</a:t>
              </a:r>
              <a:r>
                <a:rPr lang="zh-CN" altLang="en-US" sz="2400" dirty="0"/>
                <a:t>命令</a:t>
              </a:r>
            </a:p>
          </p:txBody>
        </p:sp>
        <p:sp>
          <p:nvSpPr>
            <p:cNvPr id="66" name="菱形 65">
              <a:extLst>
                <a:ext uri="{FF2B5EF4-FFF2-40B4-BE49-F238E27FC236}">
                  <a16:creationId xmlns:a16="http://schemas.microsoft.com/office/drawing/2014/main" id="{F803B307-0735-43E1-AF83-835762E284F9}"/>
                </a:ext>
              </a:extLst>
            </p:cNvPr>
            <p:cNvSpPr/>
            <p:nvPr/>
          </p:nvSpPr>
          <p:spPr>
            <a:xfrm>
              <a:off x="1974432" y="2139332"/>
              <a:ext cx="2626513" cy="970282"/>
            </a:xfrm>
            <a:prstGeom prst="diamond">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2400" dirty="0"/>
                <a:t>触发条件？</a:t>
              </a:r>
            </a:p>
          </p:txBody>
        </p:sp>
        <p:sp>
          <p:nvSpPr>
            <p:cNvPr id="67" name="矩形 66">
              <a:extLst>
                <a:ext uri="{FF2B5EF4-FFF2-40B4-BE49-F238E27FC236}">
                  <a16:creationId xmlns:a16="http://schemas.microsoft.com/office/drawing/2014/main" id="{49FB8FD9-2D68-4367-8BF6-51B4FA5FA6F2}"/>
                </a:ext>
              </a:extLst>
            </p:cNvPr>
            <p:cNvSpPr/>
            <p:nvPr/>
          </p:nvSpPr>
          <p:spPr>
            <a:xfrm>
              <a:off x="2543433" y="3462753"/>
              <a:ext cx="1488510" cy="582965"/>
            </a:xfrm>
            <a:prstGeom prst="rect">
              <a:avLst/>
            </a:prstGeom>
            <a:solidFill>
              <a:srgbClr val="C00000"/>
            </a:solidFill>
            <a:ln/>
          </p:spPr>
          <p:style>
            <a:lnRef idx="3">
              <a:schemeClr val="lt1"/>
            </a:lnRef>
            <a:fillRef idx="1">
              <a:schemeClr val="dk1"/>
            </a:fillRef>
            <a:effectRef idx="1">
              <a:schemeClr val="dk1"/>
            </a:effectRef>
            <a:fontRef idx="minor">
              <a:schemeClr val="lt1"/>
            </a:fontRef>
          </p:style>
          <p:txBody>
            <a:bodyPr rtlCol="0" anchor="ctr"/>
            <a:lstStyle/>
            <a:p>
              <a:pPr algn="ctr"/>
              <a:r>
                <a:rPr lang="zh-CN" altLang="en-US" sz="2400" dirty="0"/>
                <a:t>执行单元</a:t>
              </a:r>
            </a:p>
          </p:txBody>
        </p:sp>
        <p:sp>
          <p:nvSpPr>
            <p:cNvPr id="68" name="矩形: 圆角 67">
              <a:extLst>
                <a:ext uri="{FF2B5EF4-FFF2-40B4-BE49-F238E27FC236}">
                  <a16:creationId xmlns:a16="http://schemas.microsoft.com/office/drawing/2014/main" id="{3074C1F6-C6B7-4CBC-A98A-DA71AF5AE9FF}"/>
                </a:ext>
              </a:extLst>
            </p:cNvPr>
            <p:cNvSpPr/>
            <p:nvPr/>
          </p:nvSpPr>
          <p:spPr>
            <a:xfrm>
              <a:off x="2277725" y="5538722"/>
              <a:ext cx="2019927" cy="523220"/>
            </a:xfrm>
            <a:prstGeom prst="roundRect">
              <a:avLst>
                <a:gd name="adj" fmla="val 50000"/>
              </a:avLst>
            </a:prstGeom>
            <a:ln/>
          </p:spPr>
          <p:style>
            <a:lnRef idx="3">
              <a:schemeClr val="lt1"/>
            </a:lnRef>
            <a:fillRef idx="1">
              <a:schemeClr val="dk1"/>
            </a:fillRef>
            <a:effectRef idx="1">
              <a:schemeClr val="dk1"/>
            </a:effectRef>
            <a:fontRef idx="minor">
              <a:schemeClr val="lt1"/>
            </a:fontRef>
          </p:style>
          <p:txBody>
            <a:bodyPr rtlCol="0" anchor="ctr"/>
            <a:lstStyle/>
            <a:p>
              <a:pPr algn="ctr"/>
              <a:r>
                <a:rPr lang="en-US" altLang="zh-CN" sz="2400" dirty="0"/>
                <a:t>DML</a:t>
              </a:r>
              <a:r>
                <a:rPr lang="zh-CN" altLang="en-US" sz="2400" dirty="0"/>
                <a:t>命令完成</a:t>
              </a:r>
            </a:p>
          </p:txBody>
        </p:sp>
        <p:cxnSp>
          <p:nvCxnSpPr>
            <p:cNvPr id="69" name="直接连接符 68">
              <a:extLst>
                <a:ext uri="{FF2B5EF4-FFF2-40B4-BE49-F238E27FC236}">
                  <a16:creationId xmlns:a16="http://schemas.microsoft.com/office/drawing/2014/main" id="{2E65F109-C308-49F3-BFCE-FFEA0DC7D12B}"/>
                </a:ext>
              </a:extLst>
            </p:cNvPr>
            <p:cNvCxnSpPr>
              <a:cxnSpLocks/>
              <a:stCxn id="65" idx="2"/>
              <a:endCxn id="66" idx="0"/>
            </p:cNvCxnSpPr>
            <p:nvPr/>
          </p:nvCxnSpPr>
          <p:spPr>
            <a:xfrm flipH="1">
              <a:off x="3287688" y="1786344"/>
              <a:ext cx="1" cy="352988"/>
            </a:xfrm>
            <a:prstGeom prst="line">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71" name="连接符: 肘形 70">
              <a:extLst>
                <a:ext uri="{FF2B5EF4-FFF2-40B4-BE49-F238E27FC236}">
                  <a16:creationId xmlns:a16="http://schemas.microsoft.com/office/drawing/2014/main" id="{D7071C89-1247-41A2-9520-D092A039ECD9}"/>
                </a:ext>
              </a:extLst>
            </p:cNvPr>
            <p:cNvCxnSpPr>
              <a:cxnSpLocks/>
              <a:stCxn id="66" idx="1"/>
              <a:endCxn id="63" idx="1"/>
            </p:cNvCxnSpPr>
            <p:nvPr/>
          </p:nvCxnSpPr>
          <p:spPr>
            <a:xfrm rot="10800000" flipH="1" flipV="1">
              <a:off x="1974431" y="2624473"/>
              <a:ext cx="638458" cy="2144776"/>
            </a:xfrm>
            <a:prstGeom prst="bentConnector3">
              <a:avLst>
                <a:gd name="adj1" fmla="val -106966"/>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72" name="连接符: 肘形 71">
              <a:extLst>
                <a:ext uri="{FF2B5EF4-FFF2-40B4-BE49-F238E27FC236}">
                  <a16:creationId xmlns:a16="http://schemas.microsoft.com/office/drawing/2014/main" id="{802473B0-ECFE-4233-A453-7DE25AC2D0B4}"/>
                </a:ext>
              </a:extLst>
            </p:cNvPr>
            <p:cNvCxnSpPr>
              <a:cxnSpLocks/>
              <a:stCxn id="66" idx="2"/>
              <a:endCxn id="67" idx="0"/>
            </p:cNvCxnSpPr>
            <p:nvPr/>
          </p:nvCxnSpPr>
          <p:spPr>
            <a:xfrm rot="5400000">
              <a:off x="3111119" y="3286183"/>
              <a:ext cx="353139" cy="1"/>
            </a:xfrm>
            <a:prstGeom prst="bentConnector3">
              <a:avLst>
                <a:gd name="adj1" fmla="val 50000"/>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73" name="连接符: 肘形 72">
              <a:extLst>
                <a:ext uri="{FF2B5EF4-FFF2-40B4-BE49-F238E27FC236}">
                  <a16:creationId xmlns:a16="http://schemas.microsoft.com/office/drawing/2014/main" id="{3C5A5F6F-9810-4418-8054-99D3628D3662}"/>
                </a:ext>
              </a:extLst>
            </p:cNvPr>
            <p:cNvCxnSpPr>
              <a:cxnSpLocks/>
              <a:stCxn id="63" idx="2"/>
              <a:endCxn id="68" idx="0"/>
            </p:cNvCxnSpPr>
            <p:nvPr/>
          </p:nvCxnSpPr>
          <p:spPr>
            <a:xfrm rot="16200000" flipH="1">
              <a:off x="3048693" y="5299725"/>
              <a:ext cx="477991" cy="1"/>
            </a:xfrm>
            <a:prstGeom prst="bentConnector3">
              <a:avLst>
                <a:gd name="adj1" fmla="val 50000"/>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74" name="连接符: 肘形 73">
              <a:extLst>
                <a:ext uri="{FF2B5EF4-FFF2-40B4-BE49-F238E27FC236}">
                  <a16:creationId xmlns:a16="http://schemas.microsoft.com/office/drawing/2014/main" id="{B11CC40B-CC32-4E0E-BD3E-6FFE485B1548}"/>
                </a:ext>
              </a:extLst>
            </p:cNvPr>
            <p:cNvCxnSpPr>
              <a:cxnSpLocks/>
              <a:stCxn id="63" idx="2"/>
              <a:endCxn id="68" idx="0"/>
            </p:cNvCxnSpPr>
            <p:nvPr/>
          </p:nvCxnSpPr>
          <p:spPr>
            <a:xfrm rot="16200000" flipH="1">
              <a:off x="3048693" y="5299725"/>
              <a:ext cx="477991" cy="1"/>
            </a:xfrm>
            <a:prstGeom prst="bentConnector3">
              <a:avLst>
                <a:gd name="adj1" fmla="val 50000"/>
              </a:avLst>
            </a:prstGeom>
            <a:ln>
              <a:tailEnd type="triangle" w="med" len="lg"/>
            </a:ln>
          </p:spPr>
          <p:style>
            <a:lnRef idx="3">
              <a:schemeClr val="lt1"/>
            </a:lnRef>
            <a:fillRef idx="1">
              <a:schemeClr val="dk1"/>
            </a:fillRef>
            <a:effectRef idx="1">
              <a:schemeClr val="dk1"/>
            </a:effectRef>
            <a:fontRef idx="minor">
              <a:schemeClr val="lt1"/>
            </a:fontRef>
          </p:style>
        </p:cxnSp>
        <p:cxnSp>
          <p:nvCxnSpPr>
            <p:cNvPr id="80" name="连接符: 肘形 79">
              <a:extLst>
                <a:ext uri="{FF2B5EF4-FFF2-40B4-BE49-F238E27FC236}">
                  <a16:creationId xmlns:a16="http://schemas.microsoft.com/office/drawing/2014/main" id="{69CE96AE-AED5-4AE0-9F37-CB18F7433E1B}"/>
                </a:ext>
              </a:extLst>
            </p:cNvPr>
            <p:cNvCxnSpPr>
              <a:cxnSpLocks/>
              <a:stCxn id="67" idx="2"/>
              <a:endCxn id="63" idx="0"/>
            </p:cNvCxnSpPr>
            <p:nvPr/>
          </p:nvCxnSpPr>
          <p:spPr>
            <a:xfrm rot="16200000" flipH="1">
              <a:off x="3071664" y="4261741"/>
              <a:ext cx="432048" cy="1"/>
            </a:xfrm>
            <a:prstGeom prst="bentConnector3">
              <a:avLst>
                <a:gd name="adj1" fmla="val 50000"/>
              </a:avLst>
            </a:prstGeom>
            <a:ln>
              <a:tailEnd type="triangle" w="med" len="lg"/>
            </a:ln>
          </p:spPr>
          <p:style>
            <a:lnRef idx="3">
              <a:schemeClr val="lt1"/>
            </a:lnRef>
            <a:fillRef idx="1">
              <a:schemeClr val="dk1"/>
            </a:fillRef>
            <a:effectRef idx="1">
              <a:schemeClr val="dk1"/>
            </a:effectRef>
            <a:fontRef idx="minor">
              <a:schemeClr val="lt1"/>
            </a:fontRef>
          </p:style>
        </p:cxnSp>
      </p:grpSp>
      <p:sp>
        <p:nvSpPr>
          <p:cNvPr id="75" name="矩形 74">
            <a:extLst>
              <a:ext uri="{FF2B5EF4-FFF2-40B4-BE49-F238E27FC236}">
                <a16:creationId xmlns:a16="http://schemas.microsoft.com/office/drawing/2014/main" id="{EF9F19D7-6946-4C4E-B626-997F58AF0BD8}"/>
              </a:ext>
            </a:extLst>
          </p:cNvPr>
          <p:cNvSpPr/>
          <p:nvPr/>
        </p:nvSpPr>
        <p:spPr>
          <a:xfrm>
            <a:off x="7945903" y="6086960"/>
            <a:ext cx="2318263" cy="584775"/>
          </a:xfrm>
          <a:prstGeom prst="rect">
            <a:avLst/>
          </a:prstGeom>
        </p:spPr>
        <p:txBody>
          <a:bodyPr wrap="none">
            <a:spAutoFit/>
          </a:bodyPr>
          <a:lstStyle/>
          <a:p>
            <a:r>
              <a:rPr lang="en-US" altLang="zh-CN" sz="3200" b="1" kern="0" dirty="0">
                <a:solidFill>
                  <a:srgbClr val="FFFF00"/>
                </a:solidFill>
                <a:latin typeface="+mj-ea"/>
                <a:ea typeface="+mj-ea"/>
              </a:rPr>
              <a:t>BEFORE </a:t>
            </a:r>
            <a:r>
              <a:rPr lang="zh-CN" altLang="en-US" sz="3200" b="1" kern="0" dirty="0">
                <a:solidFill>
                  <a:srgbClr val="FFFF00"/>
                </a:solidFill>
                <a:latin typeface="+mj-ea"/>
                <a:ea typeface="+mj-ea"/>
              </a:rPr>
              <a:t>型</a:t>
            </a:r>
            <a:endParaRPr lang="zh-CN" altLang="en-US" sz="3200" b="1" dirty="0">
              <a:solidFill>
                <a:srgbClr val="FFFF00"/>
              </a:solidFill>
              <a:latin typeface="+mj-ea"/>
              <a:ea typeface="+mj-ea"/>
            </a:endParaRPr>
          </a:p>
        </p:txBody>
      </p:sp>
      <p:sp>
        <p:nvSpPr>
          <p:cNvPr id="76" name="矩形 75">
            <a:extLst>
              <a:ext uri="{FF2B5EF4-FFF2-40B4-BE49-F238E27FC236}">
                <a16:creationId xmlns:a16="http://schemas.microsoft.com/office/drawing/2014/main" id="{0E988D3C-028B-4E4D-AFB3-3ACB58187C01}"/>
              </a:ext>
            </a:extLst>
          </p:cNvPr>
          <p:cNvSpPr/>
          <p:nvPr/>
        </p:nvSpPr>
        <p:spPr>
          <a:xfrm>
            <a:off x="913393" y="3507174"/>
            <a:ext cx="415498" cy="369332"/>
          </a:xfrm>
          <a:prstGeom prst="rect">
            <a:avLst/>
          </a:prstGeom>
        </p:spPr>
        <p:txBody>
          <a:bodyPr wrap="none">
            <a:spAutoFit/>
          </a:bodyPr>
          <a:lstStyle/>
          <a:p>
            <a:r>
              <a:rPr lang="zh-CN" altLang="en-US" dirty="0">
                <a:solidFill>
                  <a:schemeClr val="bg1"/>
                </a:solidFill>
              </a:rPr>
              <a:t>否</a:t>
            </a:r>
          </a:p>
        </p:txBody>
      </p:sp>
      <p:sp>
        <p:nvSpPr>
          <p:cNvPr id="77" name="矩形 76">
            <a:extLst>
              <a:ext uri="{FF2B5EF4-FFF2-40B4-BE49-F238E27FC236}">
                <a16:creationId xmlns:a16="http://schemas.microsoft.com/office/drawing/2014/main" id="{BE421462-045E-4BD7-8DD5-2054BE2FA454}"/>
              </a:ext>
            </a:extLst>
          </p:cNvPr>
          <p:cNvSpPr/>
          <p:nvPr/>
        </p:nvSpPr>
        <p:spPr>
          <a:xfrm>
            <a:off x="3225118" y="3667544"/>
            <a:ext cx="415498" cy="369332"/>
          </a:xfrm>
          <a:prstGeom prst="rect">
            <a:avLst/>
          </a:prstGeom>
        </p:spPr>
        <p:txBody>
          <a:bodyPr wrap="none">
            <a:spAutoFit/>
          </a:bodyPr>
          <a:lstStyle/>
          <a:p>
            <a:r>
              <a:rPr lang="zh-CN" altLang="en-US" dirty="0">
                <a:solidFill>
                  <a:schemeClr val="bg1"/>
                </a:solidFill>
              </a:rPr>
              <a:t>是</a:t>
            </a:r>
          </a:p>
        </p:txBody>
      </p:sp>
      <p:sp>
        <p:nvSpPr>
          <p:cNvPr id="78" name="矩形 77">
            <a:extLst>
              <a:ext uri="{FF2B5EF4-FFF2-40B4-BE49-F238E27FC236}">
                <a16:creationId xmlns:a16="http://schemas.microsoft.com/office/drawing/2014/main" id="{310FB542-8F67-4627-9EA9-5F550E12EE4D}"/>
              </a:ext>
            </a:extLst>
          </p:cNvPr>
          <p:cNvSpPr/>
          <p:nvPr/>
        </p:nvSpPr>
        <p:spPr>
          <a:xfrm>
            <a:off x="6749307" y="2394726"/>
            <a:ext cx="415498" cy="369332"/>
          </a:xfrm>
          <a:prstGeom prst="rect">
            <a:avLst/>
          </a:prstGeom>
        </p:spPr>
        <p:txBody>
          <a:bodyPr wrap="none">
            <a:spAutoFit/>
          </a:bodyPr>
          <a:lstStyle/>
          <a:p>
            <a:r>
              <a:rPr lang="zh-CN" altLang="en-US" dirty="0">
                <a:solidFill>
                  <a:schemeClr val="bg1"/>
                </a:solidFill>
              </a:rPr>
              <a:t>否</a:t>
            </a:r>
          </a:p>
        </p:txBody>
      </p:sp>
      <p:sp>
        <p:nvSpPr>
          <p:cNvPr id="79" name="矩形 78">
            <a:extLst>
              <a:ext uri="{FF2B5EF4-FFF2-40B4-BE49-F238E27FC236}">
                <a16:creationId xmlns:a16="http://schemas.microsoft.com/office/drawing/2014/main" id="{908277DC-C743-4565-9032-D863CEE158DE}"/>
              </a:ext>
            </a:extLst>
          </p:cNvPr>
          <p:cNvSpPr/>
          <p:nvPr/>
        </p:nvSpPr>
        <p:spPr>
          <a:xfrm>
            <a:off x="9105035" y="2776873"/>
            <a:ext cx="415498" cy="369332"/>
          </a:xfrm>
          <a:prstGeom prst="rect">
            <a:avLst/>
          </a:prstGeom>
        </p:spPr>
        <p:txBody>
          <a:bodyPr wrap="none">
            <a:spAutoFit/>
          </a:bodyPr>
          <a:lstStyle/>
          <a:p>
            <a:r>
              <a:rPr lang="zh-CN" altLang="en-US" dirty="0">
                <a:solidFill>
                  <a:schemeClr val="bg1"/>
                </a:solidFill>
              </a:rPr>
              <a:t>是</a:t>
            </a:r>
          </a:p>
        </p:txBody>
      </p:sp>
    </p:spTree>
    <p:extLst>
      <p:ext uri="{BB962C8B-B14F-4D97-AF65-F5344CB8AC3E}">
        <p14:creationId xmlns:p14="http://schemas.microsoft.com/office/powerpoint/2010/main" val="478315203"/>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sndAc>
          <p:stSnd>
            <p:snd r:embed="rId3" name="arrow.wav"/>
          </p:stSnd>
        </p:sndAc>
      </p:transition>
    </mc:Choice>
    <mc:Fallback>
      <p:transition spd="slow">
        <p:fade/>
        <p:sndAc>
          <p:stSnd>
            <p:snd r:embed="rId2" name="arrow.wav"/>
          </p:stSnd>
        </p:sndAc>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type="body" idx="4294967295"/>
          </p:nvPr>
        </p:nvSpPr>
        <p:spPr>
          <a:xfrm>
            <a:off x="479376" y="404813"/>
            <a:ext cx="11305256" cy="4114800"/>
          </a:xfrm>
        </p:spPr>
        <p:txBody>
          <a:bodyPr>
            <a:noAutofit/>
          </a:bodyPr>
          <a:lstStyle/>
          <a:p>
            <a:pPr>
              <a:lnSpc>
                <a:spcPct val="150000"/>
              </a:lnSpc>
            </a:pPr>
            <a:r>
              <a:rPr lang="en-US" altLang="zh-CN" sz="2000" dirty="0">
                <a:latin typeface="宋体" pitchFamily="2" charset="-122"/>
              </a:rPr>
              <a:t>(4) </a:t>
            </a:r>
            <a:r>
              <a:rPr lang="zh-CN" altLang="en-US" sz="2000" dirty="0">
                <a:latin typeface="宋体" pitchFamily="2" charset="-122"/>
              </a:rPr>
              <a:t>在触发程序中有两个特殊的系统对象</a:t>
            </a:r>
            <a:r>
              <a:rPr lang="en-US" altLang="zh-CN" sz="2000" dirty="0">
                <a:solidFill>
                  <a:srgbClr val="C00000"/>
                </a:solidFill>
                <a:latin typeface="宋体" pitchFamily="2" charset="-122"/>
              </a:rPr>
              <a:t>OLD</a:t>
            </a:r>
            <a:r>
              <a:rPr lang="zh-CN" altLang="en-US" sz="2000" dirty="0">
                <a:solidFill>
                  <a:srgbClr val="C00000"/>
                </a:solidFill>
                <a:latin typeface="宋体" pitchFamily="2" charset="-122"/>
              </a:rPr>
              <a:t>和</a:t>
            </a:r>
            <a:r>
              <a:rPr lang="en-US" altLang="zh-CN" sz="2000" dirty="0">
                <a:solidFill>
                  <a:srgbClr val="C00000"/>
                </a:solidFill>
                <a:latin typeface="宋体" pitchFamily="2" charset="-122"/>
              </a:rPr>
              <a:t>NE</a:t>
            </a:r>
            <a:r>
              <a:rPr lang="en-US" altLang="zh-CN" sz="2000" dirty="0">
                <a:latin typeface="宋体" pitchFamily="2" charset="-122"/>
              </a:rPr>
              <a:t>W</a:t>
            </a:r>
            <a:r>
              <a:rPr lang="zh-CN" altLang="en-US" sz="2000" dirty="0">
                <a:latin typeface="宋体" pitchFamily="2" charset="-122"/>
              </a:rPr>
              <a:t>，用于存放被更新的记录，供触发程序的语句引用。</a:t>
            </a:r>
          </a:p>
          <a:p>
            <a:pPr lvl="1">
              <a:lnSpc>
                <a:spcPct val="150000"/>
              </a:lnSpc>
            </a:pPr>
            <a:r>
              <a:rPr lang="en-US" altLang="zh-CN" sz="2000" dirty="0">
                <a:latin typeface="宋体" pitchFamily="2" charset="-122"/>
              </a:rPr>
              <a:t>OLD</a:t>
            </a:r>
            <a:r>
              <a:rPr lang="zh-CN" altLang="en-US" sz="2000" dirty="0">
                <a:latin typeface="宋体" pitchFamily="2" charset="-122"/>
              </a:rPr>
              <a:t>和和</a:t>
            </a:r>
            <a:r>
              <a:rPr lang="en-US" altLang="zh-CN" sz="2000" dirty="0">
                <a:latin typeface="宋体" pitchFamily="2" charset="-122"/>
              </a:rPr>
              <a:t>NEW</a:t>
            </a:r>
            <a:r>
              <a:rPr lang="zh-CN" altLang="en-US" sz="2000" dirty="0">
                <a:latin typeface="宋体" pitchFamily="2" charset="-122"/>
              </a:rPr>
              <a:t>仅能在触发程序中使用，其它地方使用无效。</a:t>
            </a:r>
          </a:p>
          <a:p>
            <a:pPr lvl="1">
              <a:lnSpc>
                <a:spcPct val="150000"/>
              </a:lnSpc>
            </a:pPr>
            <a:r>
              <a:rPr lang="en-US" altLang="zh-CN" sz="2000" dirty="0">
                <a:latin typeface="宋体" pitchFamily="2" charset="-122"/>
              </a:rPr>
              <a:t>OLD</a:t>
            </a:r>
            <a:r>
              <a:rPr lang="zh-CN" altLang="en-US" sz="2000" dirty="0">
                <a:solidFill>
                  <a:srgbClr val="C00000"/>
                </a:solidFill>
                <a:latin typeface="宋体" pitchFamily="2" charset="-122"/>
              </a:rPr>
              <a:t>表示被删除的记录</a:t>
            </a:r>
            <a:r>
              <a:rPr lang="zh-CN" altLang="en-US" sz="2000" dirty="0">
                <a:latin typeface="宋体" pitchFamily="2" charset="-122"/>
              </a:rPr>
              <a:t>。可以使用“</a:t>
            </a:r>
            <a:r>
              <a:rPr lang="en-US" altLang="zh-CN" sz="2000" dirty="0">
                <a:latin typeface="宋体" pitchFamily="2" charset="-122"/>
              </a:rPr>
              <a:t>OLD.</a:t>
            </a:r>
            <a:r>
              <a:rPr lang="zh-CN" altLang="en-US" sz="2000" dirty="0">
                <a:latin typeface="宋体" pitchFamily="2" charset="-122"/>
              </a:rPr>
              <a:t>字段名”访问被删除记录中的某个字段。</a:t>
            </a:r>
            <a:r>
              <a:rPr lang="en-US" altLang="zh-CN" sz="2000" dirty="0">
                <a:latin typeface="宋体" pitchFamily="2" charset="-122"/>
              </a:rPr>
              <a:t>OLD</a:t>
            </a:r>
            <a:r>
              <a:rPr lang="zh-CN" altLang="en-US" sz="2000" dirty="0">
                <a:latin typeface="宋体" pitchFamily="2" charset="-122"/>
              </a:rPr>
              <a:t>是只读的，只能</a:t>
            </a:r>
            <a:r>
              <a:rPr lang="zh-CN" altLang="en-US" sz="2000" dirty="0">
                <a:solidFill>
                  <a:srgbClr val="C00000"/>
                </a:solidFill>
                <a:latin typeface="宋体" pitchFamily="2" charset="-122"/>
              </a:rPr>
              <a:t>引用它，不能更改它</a:t>
            </a:r>
            <a:r>
              <a:rPr lang="zh-CN" altLang="en-US" sz="2000" dirty="0">
                <a:latin typeface="宋体" pitchFamily="2" charset="-122"/>
              </a:rPr>
              <a:t>。</a:t>
            </a:r>
          </a:p>
          <a:p>
            <a:pPr lvl="1">
              <a:lnSpc>
                <a:spcPct val="150000"/>
              </a:lnSpc>
            </a:pPr>
            <a:r>
              <a:rPr lang="en-US" altLang="zh-CN" sz="2000" dirty="0">
                <a:latin typeface="宋体" pitchFamily="2" charset="-122"/>
              </a:rPr>
              <a:t>NEW</a:t>
            </a:r>
            <a:r>
              <a:rPr lang="zh-CN" altLang="en-US" sz="2000" dirty="0">
                <a:latin typeface="宋体" pitchFamily="2" charset="-122"/>
              </a:rPr>
              <a:t>表示新插入的记录。可以使用“</a:t>
            </a:r>
            <a:r>
              <a:rPr lang="en-US" altLang="zh-CN" sz="2000" dirty="0">
                <a:latin typeface="宋体" pitchFamily="2" charset="-122"/>
              </a:rPr>
              <a:t>NEW.</a:t>
            </a:r>
            <a:r>
              <a:rPr lang="zh-CN" altLang="en-US" sz="2000" dirty="0">
                <a:latin typeface="宋体" pitchFamily="2" charset="-122"/>
              </a:rPr>
              <a:t>字段名”访问新记录中的某个字段。在</a:t>
            </a:r>
            <a:r>
              <a:rPr lang="en-US" altLang="zh-CN" sz="2000" dirty="0">
                <a:latin typeface="宋体" pitchFamily="2" charset="-122"/>
              </a:rPr>
              <a:t>BEFORE</a:t>
            </a:r>
            <a:r>
              <a:rPr lang="zh-CN" altLang="en-US" sz="2000" dirty="0">
                <a:latin typeface="宋体" pitchFamily="2" charset="-122"/>
              </a:rPr>
              <a:t>触发程序中，由于是在实际的插入操作之前，所以可使用</a:t>
            </a:r>
            <a:r>
              <a:rPr lang="en-US" altLang="zh-CN" sz="2000" dirty="0">
                <a:latin typeface="宋体" pitchFamily="2" charset="-122"/>
              </a:rPr>
              <a:t>SET</a:t>
            </a:r>
            <a:r>
              <a:rPr lang="zh-CN" altLang="en-US" sz="2000" dirty="0">
                <a:latin typeface="宋体" pitchFamily="2" charset="-122"/>
              </a:rPr>
              <a:t>命令更改</a:t>
            </a:r>
            <a:r>
              <a:rPr lang="en-US" altLang="zh-CN" sz="2000" dirty="0">
                <a:latin typeface="宋体" pitchFamily="2" charset="-122"/>
              </a:rPr>
              <a:t>NEW</a:t>
            </a:r>
            <a:r>
              <a:rPr lang="zh-CN" altLang="en-US" sz="2000" dirty="0">
                <a:latin typeface="宋体" pitchFamily="2" charset="-122"/>
              </a:rPr>
              <a:t>记录的值。但在</a:t>
            </a:r>
            <a:r>
              <a:rPr lang="en-US" altLang="zh-CN" sz="2000" dirty="0">
                <a:latin typeface="宋体" pitchFamily="2" charset="-122"/>
              </a:rPr>
              <a:t>AFTER</a:t>
            </a:r>
            <a:r>
              <a:rPr lang="zh-CN" altLang="en-US" sz="2000" dirty="0">
                <a:latin typeface="宋体" pitchFamily="2" charset="-122"/>
              </a:rPr>
              <a:t>触发程序中，因为已经处于实际的插入操作之后，因此不能使用再修改</a:t>
            </a:r>
            <a:r>
              <a:rPr lang="en-US" altLang="zh-CN" sz="2000" dirty="0">
                <a:latin typeface="宋体" pitchFamily="2" charset="-122"/>
              </a:rPr>
              <a:t>NEW</a:t>
            </a:r>
            <a:r>
              <a:rPr lang="zh-CN" altLang="en-US" sz="2000" dirty="0">
                <a:latin typeface="宋体" pitchFamily="2" charset="-122"/>
              </a:rPr>
              <a:t>记录的值。</a:t>
            </a:r>
          </a:p>
          <a:p>
            <a:pPr lvl="1">
              <a:lnSpc>
                <a:spcPct val="150000"/>
              </a:lnSpc>
            </a:pPr>
            <a:r>
              <a:rPr lang="zh-CN" altLang="en-US" sz="2000" dirty="0">
                <a:latin typeface="宋体" pitchFamily="2" charset="-122"/>
              </a:rPr>
              <a:t>对于 </a:t>
            </a:r>
            <a:r>
              <a:rPr lang="en-US" altLang="zh-CN" sz="2000" dirty="0">
                <a:solidFill>
                  <a:srgbClr val="C00000"/>
                </a:solidFill>
                <a:latin typeface="宋体" pitchFamily="2" charset="-122"/>
              </a:rPr>
              <a:t>INSERT</a:t>
            </a:r>
            <a:r>
              <a:rPr lang="zh-CN" altLang="en-US" sz="2000" dirty="0">
                <a:solidFill>
                  <a:srgbClr val="C00000"/>
                </a:solidFill>
                <a:latin typeface="宋体" pitchFamily="2" charset="-122"/>
              </a:rPr>
              <a:t>操作，只有</a:t>
            </a:r>
            <a:r>
              <a:rPr lang="en-US" altLang="zh-CN" sz="2000" dirty="0">
                <a:solidFill>
                  <a:srgbClr val="C00000"/>
                </a:solidFill>
                <a:latin typeface="宋体" pitchFamily="2" charset="-122"/>
              </a:rPr>
              <a:t>NEW</a:t>
            </a:r>
            <a:r>
              <a:rPr lang="zh-CN" altLang="en-US" sz="2000" dirty="0">
                <a:solidFill>
                  <a:srgbClr val="C00000"/>
                </a:solidFill>
                <a:latin typeface="宋体" pitchFamily="2" charset="-122"/>
              </a:rPr>
              <a:t>关键字是合法的</a:t>
            </a:r>
            <a:r>
              <a:rPr lang="zh-CN" altLang="en-US" sz="2000" dirty="0">
                <a:latin typeface="宋体" pitchFamily="2" charset="-122"/>
              </a:rPr>
              <a:t>。对于 </a:t>
            </a:r>
            <a:r>
              <a:rPr lang="en-US" altLang="zh-CN" sz="2000" dirty="0">
                <a:solidFill>
                  <a:srgbClr val="C00000"/>
                </a:solidFill>
                <a:latin typeface="宋体" pitchFamily="2" charset="-122"/>
              </a:rPr>
              <a:t>DELETE</a:t>
            </a:r>
            <a:r>
              <a:rPr lang="zh-CN" altLang="en-US" sz="2000" dirty="0">
                <a:solidFill>
                  <a:srgbClr val="C00000"/>
                </a:solidFill>
                <a:latin typeface="宋体" pitchFamily="2" charset="-122"/>
              </a:rPr>
              <a:t>操作，只有</a:t>
            </a:r>
            <a:r>
              <a:rPr lang="en-US" altLang="zh-CN" sz="2000" dirty="0">
                <a:solidFill>
                  <a:srgbClr val="C00000"/>
                </a:solidFill>
                <a:latin typeface="宋体" pitchFamily="2" charset="-122"/>
              </a:rPr>
              <a:t>OLD</a:t>
            </a:r>
            <a:r>
              <a:rPr lang="zh-CN" altLang="en-US" sz="2000" dirty="0">
                <a:solidFill>
                  <a:srgbClr val="C00000"/>
                </a:solidFill>
                <a:latin typeface="宋体" pitchFamily="2" charset="-122"/>
              </a:rPr>
              <a:t>关键字是合法</a:t>
            </a:r>
            <a:r>
              <a:rPr lang="zh-CN" altLang="en-US" sz="2000" dirty="0">
                <a:latin typeface="宋体" pitchFamily="2" charset="-122"/>
              </a:rPr>
              <a:t>的。对于 </a:t>
            </a:r>
            <a:r>
              <a:rPr lang="en-US" altLang="zh-CN" sz="2000" dirty="0">
                <a:latin typeface="宋体" pitchFamily="2" charset="-122"/>
              </a:rPr>
              <a:t>UPDATE</a:t>
            </a:r>
            <a:r>
              <a:rPr lang="zh-CN" altLang="en-US" sz="2000" dirty="0">
                <a:latin typeface="宋体" pitchFamily="2" charset="-122"/>
              </a:rPr>
              <a:t>操作，实际上删除旧记录而增加修改后的新记录，所以</a:t>
            </a:r>
            <a:r>
              <a:rPr lang="en-US" altLang="zh-CN" sz="2000" dirty="0">
                <a:latin typeface="宋体" pitchFamily="2" charset="-122"/>
              </a:rPr>
              <a:t>NEW</a:t>
            </a:r>
            <a:r>
              <a:rPr lang="zh-CN" altLang="en-US" sz="2000" dirty="0">
                <a:latin typeface="宋体" pitchFamily="2" charset="-122"/>
              </a:rPr>
              <a:t>关键字和</a:t>
            </a:r>
            <a:r>
              <a:rPr lang="en-US" altLang="zh-CN" sz="2000" dirty="0">
                <a:latin typeface="宋体" pitchFamily="2" charset="-122"/>
              </a:rPr>
              <a:t>OLD</a:t>
            </a:r>
            <a:r>
              <a:rPr lang="zh-CN" altLang="en-US" sz="2000" dirty="0">
                <a:latin typeface="宋体" pitchFamily="2" charset="-122"/>
              </a:rPr>
              <a:t>关键字都可用。</a:t>
            </a:r>
          </a:p>
        </p:txBody>
      </p:sp>
    </p:spTree>
    <p:extLst>
      <p:ext uri="{BB962C8B-B14F-4D97-AF65-F5344CB8AC3E}">
        <p14:creationId xmlns:p14="http://schemas.microsoft.com/office/powerpoint/2010/main" val="1051101921"/>
      </p:ext>
    </p:extLst>
  </p:cSld>
  <p:clrMapOvr>
    <a:masterClrMapping/>
  </p:clrMapOvr>
  <p:transition spd="slow">
    <p:wipe dir="r"/>
    <p:sndAc>
      <p:stSnd>
        <p:snd r:embed="rId2" name="arrow.wav"/>
      </p:stSnd>
    </p:sndAc>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5497222" y="838270"/>
            <a:ext cx="184731" cy="707886"/>
          </a:xfrm>
        </p:spPr>
        <p:txBody>
          <a:bodyPr/>
          <a:lstStyle/>
          <a:p>
            <a:endParaRPr lang="zh-CN" altLang="en-US" smtClean="0">
              <a:latin typeface="Times New Roman" panose="02020603050405020304" pitchFamily="18" charset="0"/>
              <a:ea typeface="宋体" panose="02010600030101010101" pitchFamily="2" charset="-122"/>
            </a:endParaRPr>
          </a:p>
        </p:txBody>
      </p:sp>
      <p:sp>
        <p:nvSpPr>
          <p:cNvPr id="99331" name="Rectangle 3"/>
          <p:cNvSpPr>
            <a:spLocks noGrp="1" noChangeArrowheads="1"/>
          </p:cNvSpPr>
          <p:nvPr>
            <p:ph type="body" idx="4294967295"/>
          </p:nvPr>
        </p:nvSpPr>
        <p:spPr>
          <a:xfrm>
            <a:off x="1524000" y="0"/>
            <a:ext cx="9144000" cy="6858000"/>
          </a:xfrm>
          <a:solidFill>
            <a:schemeClr val="bg1"/>
          </a:solidFill>
        </p:spPr>
        <p:txBody>
          <a:bodyPr/>
          <a:lstStyle/>
          <a:p>
            <a:pPr>
              <a:lnSpc>
                <a:spcPct val="80000"/>
              </a:lnSpc>
            </a:pPr>
            <a:r>
              <a:rPr lang="en-US" altLang="zh-CN" sz="2400" dirty="0">
                <a:solidFill>
                  <a:schemeClr val="tx1"/>
                </a:solidFill>
                <a:latin typeface="Tahoma" panose="020B0604030504040204" pitchFamily="34" charset="0"/>
                <a:ea typeface="宋体" panose="02010600030101010101" pitchFamily="2" charset="-122"/>
              </a:rPr>
              <a:t>【</a:t>
            </a:r>
            <a:r>
              <a:rPr lang="zh-CN" altLang="en-US" sz="2400" dirty="0">
                <a:solidFill>
                  <a:schemeClr val="tx1"/>
                </a:solidFill>
                <a:latin typeface="Tahoma" panose="020B0604030504040204" pitchFamily="34" charset="0"/>
                <a:ea typeface="宋体" panose="02010600030101010101" pitchFamily="2" charset="-122"/>
              </a:rPr>
              <a:t>例</a:t>
            </a:r>
            <a:r>
              <a:rPr lang="en-US" altLang="zh-CN" sz="2400" dirty="0">
                <a:solidFill>
                  <a:schemeClr val="tx1"/>
                </a:solidFill>
                <a:latin typeface="Tahoma" panose="020B0604030504040204" pitchFamily="34" charset="0"/>
                <a:ea typeface="宋体" panose="02010600030101010101" pitchFamily="2" charset="-122"/>
              </a:rPr>
              <a:t>5-33】</a:t>
            </a:r>
            <a:r>
              <a:rPr lang="zh-CN" altLang="en-US" sz="2400" dirty="0">
                <a:solidFill>
                  <a:schemeClr val="tx1"/>
                </a:solidFill>
                <a:latin typeface="Tahoma" panose="020B0604030504040204" pitchFamily="34" charset="0"/>
                <a:ea typeface="宋体" panose="02010600030101010101" pitchFamily="2" charset="-122"/>
              </a:rPr>
              <a:t>为</a:t>
            </a:r>
            <a:r>
              <a:rPr lang="en-US" altLang="zh-CN" sz="2400" dirty="0">
                <a:solidFill>
                  <a:schemeClr val="tx1"/>
                </a:solidFill>
                <a:latin typeface="Tahoma" panose="020B0604030504040204" pitchFamily="34" charset="0"/>
                <a:ea typeface="宋体" panose="02010600030101010101" pitchFamily="2" charset="-122"/>
              </a:rPr>
              <a:t>college</a:t>
            </a:r>
            <a:r>
              <a:rPr lang="zh-CN" altLang="en-US" sz="2400" dirty="0">
                <a:solidFill>
                  <a:schemeClr val="tx1"/>
                </a:solidFill>
                <a:latin typeface="Tahoma" panose="020B0604030504040204" pitchFamily="34" charset="0"/>
                <a:ea typeface="宋体" panose="02010600030101010101" pitchFamily="2" charset="-122"/>
              </a:rPr>
              <a:t>数据库中的</a:t>
            </a:r>
            <a:r>
              <a:rPr lang="en-US" altLang="zh-CN" sz="2400" dirty="0">
                <a:solidFill>
                  <a:schemeClr val="tx1"/>
                </a:solidFill>
                <a:latin typeface="Tahoma" panose="020B0604030504040204" pitchFamily="34" charset="0"/>
                <a:ea typeface="宋体" panose="02010600030101010101" pitchFamily="2" charset="-122"/>
              </a:rPr>
              <a:t>teacher</a:t>
            </a:r>
            <a:r>
              <a:rPr lang="zh-CN" altLang="en-US" sz="2400" dirty="0">
                <a:solidFill>
                  <a:schemeClr val="tx1"/>
                </a:solidFill>
                <a:latin typeface="Tahoma" panose="020B0604030504040204" pitchFamily="34" charset="0"/>
                <a:ea typeface="宋体" panose="02010600030101010101" pitchFamily="2" charset="-122"/>
              </a:rPr>
              <a:t>表创建一个名为</a:t>
            </a:r>
            <a:r>
              <a:rPr lang="en-US" altLang="zh-CN" sz="2400" dirty="0" err="1">
                <a:solidFill>
                  <a:schemeClr val="tx1"/>
                </a:solidFill>
                <a:latin typeface="Tahoma" panose="020B0604030504040204" pitchFamily="34" charset="0"/>
                <a:ea typeface="宋体" panose="02010600030101010101" pitchFamily="2" charset="-122"/>
              </a:rPr>
              <a:t>tr_teacher_insert</a:t>
            </a:r>
            <a:r>
              <a:rPr lang="zh-CN" altLang="en-US" sz="2400" dirty="0">
                <a:solidFill>
                  <a:schemeClr val="tx1"/>
                </a:solidFill>
                <a:latin typeface="Tahoma" panose="020B0604030504040204" pitchFamily="34" charset="0"/>
                <a:ea typeface="宋体" panose="02010600030101010101" pitchFamily="2" charset="-122"/>
              </a:rPr>
              <a:t>的触发器，实现不允许给</a:t>
            </a:r>
            <a:r>
              <a:rPr lang="en-US" altLang="zh-CN" sz="2400" dirty="0">
                <a:solidFill>
                  <a:schemeClr val="tx1"/>
                </a:solidFill>
                <a:latin typeface="Tahoma" panose="020B0604030504040204" pitchFamily="34" charset="0"/>
                <a:ea typeface="宋体" panose="02010600030101010101" pitchFamily="2" charset="-122"/>
              </a:rPr>
              <a:t>teacher</a:t>
            </a:r>
            <a:r>
              <a:rPr lang="zh-CN" altLang="en-US" sz="2400" dirty="0">
                <a:solidFill>
                  <a:schemeClr val="tx1"/>
                </a:solidFill>
                <a:latin typeface="Tahoma" panose="020B0604030504040204" pitchFamily="34" charset="0"/>
                <a:ea typeface="宋体" panose="02010600030101010101" pitchFamily="2" charset="-122"/>
              </a:rPr>
              <a:t>表新插入工资为负值的记录。</a:t>
            </a:r>
          </a:p>
          <a:p>
            <a:pPr>
              <a:lnSpc>
                <a:spcPct val="80000"/>
              </a:lnSpc>
            </a:pPr>
            <a:r>
              <a:rPr lang="zh-CN" altLang="en-US" sz="2400" dirty="0">
                <a:solidFill>
                  <a:schemeClr val="tx1"/>
                </a:solidFill>
                <a:latin typeface="Tahoma" panose="020B0604030504040204" pitchFamily="34" charset="0"/>
                <a:ea typeface="宋体" panose="02010600030101010101" pitchFamily="2" charset="-122"/>
              </a:rPr>
              <a:t>参考的触发器设计如下：</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USE college;</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DELIMITER //</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CREATE TRIGGER </a:t>
            </a:r>
            <a:r>
              <a:rPr lang="en-US" altLang="zh-CN" sz="2400" dirty="0" err="1">
                <a:solidFill>
                  <a:schemeClr val="tx1"/>
                </a:solidFill>
                <a:latin typeface="Tahoma" panose="020B0604030504040204" pitchFamily="34" charset="0"/>
                <a:ea typeface="宋体" panose="02010600030101010101" pitchFamily="2" charset="-122"/>
              </a:rPr>
              <a:t>tr_teacher_insert</a:t>
            </a:r>
            <a:r>
              <a:rPr lang="en-US" altLang="zh-CN" sz="2400" dirty="0">
                <a:solidFill>
                  <a:schemeClr val="tx1"/>
                </a:solidFill>
                <a:latin typeface="Tahoma" panose="020B0604030504040204" pitchFamily="34" charset="0"/>
                <a:ea typeface="宋体" panose="02010600030101010101" pitchFamily="2" charset="-122"/>
              </a:rPr>
              <a:t> BEFORE INSERT ON teacher</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FOR EACH ROW</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BEGIN</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	IF </a:t>
            </a:r>
            <a:r>
              <a:rPr lang="en-US" altLang="zh-CN" sz="2400" dirty="0" err="1">
                <a:solidFill>
                  <a:schemeClr val="tx1"/>
                </a:solidFill>
                <a:latin typeface="Tahoma" panose="020B0604030504040204" pitchFamily="34" charset="0"/>
                <a:ea typeface="宋体" panose="02010600030101010101" pitchFamily="2" charset="-122"/>
              </a:rPr>
              <a:t>NEW.sal</a:t>
            </a:r>
            <a:r>
              <a:rPr lang="en-US" altLang="zh-CN" sz="2400" dirty="0">
                <a:solidFill>
                  <a:schemeClr val="tx1"/>
                </a:solidFill>
                <a:latin typeface="Tahoma" panose="020B0604030504040204" pitchFamily="34" charset="0"/>
                <a:ea typeface="宋体" panose="02010600030101010101" pitchFamily="2" charset="-122"/>
              </a:rPr>
              <a:t> is NOT NULL &amp;&amp; </a:t>
            </a:r>
            <a:r>
              <a:rPr lang="en-US" altLang="zh-CN" sz="2400" dirty="0" err="1">
                <a:solidFill>
                  <a:schemeClr val="tx1"/>
                </a:solidFill>
                <a:latin typeface="Tahoma" panose="020B0604030504040204" pitchFamily="34" charset="0"/>
                <a:ea typeface="宋体" panose="02010600030101010101" pitchFamily="2" charset="-122"/>
              </a:rPr>
              <a:t>NEW.sal</a:t>
            </a:r>
            <a:r>
              <a:rPr lang="en-US" altLang="zh-CN" sz="2400" dirty="0">
                <a:solidFill>
                  <a:schemeClr val="tx1"/>
                </a:solidFill>
                <a:latin typeface="Tahoma" panose="020B0604030504040204" pitchFamily="34" charset="0"/>
                <a:ea typeface="宋体" panose="02010600030101010101" pitchFamily="2" charset="-122"/>
              </a:rPr>
              <a:t>&lt;0 THEN</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		 SIGNAL SQLSTATE 'HY000' </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         SET MESSAGE_TEXT = '</a:t>
            </a:r>
            <a:r>
              <a:rPr lang="zh-CN" altLang="en-US" sz="2400" dirty="0">
                <a:solidFill>
                  <a:schemeClr val="tx1"/>
                </a:solidFill>
                <a:latin typeface="Tahoma" panose="020B0604030504040204" pitchFamily="34" charset="0"/>
                <a:ea typeface="宋体" panose="02010600030101010101" pitchFamily="2" charset="-122"/>
              </a:rPr>
              <a:t>工资不能小于</a:t>
            </a:r>
            <a:r>
              <a:rPr lang="en-US" altLang="zh-CN" sz="2400" dirty="0">
                <a:solidFill>
                  <a:schemeClr val="tx1"/>
                </a:solidFill>
                <a:latin typeface="Tahoma" panose="020B0604030504040204" pitchFamily="34" charset="0"/>
                <a:ea typeface="宋体" panose="02010600030101010101" pitchFamily="2" charset="-122"/>
              </a:rPr>
              <a:t>0</a:t>
            </a:r>
            <a:r>
              <a:rPr lang="zh-CN" altLang="en-US" sz="2400" dirty="0">
                <a:solidFill>
                  <a:schemeClr val="tx1"/>
                </a:solidFill>
                <a:latin typeface="Tahoma" panose="020B0604030504040204" pitchFamily="34" charset="0"/>
                <a:ea typeface="宋体" panose="02010600030101010101" pitchFamily="2" charset="-122"/>
              </a:rPr>
              <a:t>，插入失败！</a:t>
            </a:r>
            <a:r>
              <a:rPr lang="en-US" altLang="zh-CN" sz="2400" dirty="0">
                <a:solidFill>
                  <a:schemeClr val="tx1"/>
                </a:solidFill>
                <a:latin typeface="Tahoma" panose="020B0604030504040204" pitchFamily="34" charset="0"/>
                <a:ea typeface="宋体" panose="02010600030101010101" pitchFamily="2" charset="-122"/>
              </a:rPr>
              <a:t>';</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	END IF;</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END;</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a:t>
            </a:r>
          </a:p>
          <a:p>
            <a:pPr>
              <a:lnSpc>
                <a:spcPct val="80000"/>
              </a:lnSpc>
              <a:buFontTx/>
              <a:buNone/>
            </a:pPr>
            <a:r>
              <a:rPr lang="en-US" altLang="zh-CN" sz="2400" dirty="0">
                <a:solidFill>
                  <a:schemeClr val="tx1"/>
                </a:solidFill>
                <a:latin typeface="Tahoma" panose="020B0604030504040204" pitchFamily="34" charset="0"/>
                <a:ea typeface="宋体" panose="02010600030101010101" pitchFamily="2" charset="-122"/>
              </a:rPr>
              <a:t>DELIMITER;</a:t>
            </a:r>
            <a:endParaRPr lang="zh-CN" altLang="en-US" sz="2400" dirty="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37574848"/>
      </p:ext>
    </p:extLst>
  </p:cSld>
  <p:clrMapOvr>
    <a:masterClrMapping/>
  </p:clrMapOvr>
  <p:transition spd="slow">
    <p:wipe dir="r"/>
    <p:sndAc>
      <p:stSnd>
        <p:snd r:embed="rId2" name="arrow.wav"/>
      </p:stSnd>
    </p:sndAc>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3"/>
          <p:cNvSpPr>
            <a:spLocks noGrp="1" noChangeArrowheads="1"/>
          </p:cNvSpPr>
          <p:nvPr>
            <p:ph type="body" idx="4294967295"/>
          </p:nvPr>
        </p:nvSpPr>
        <p:spPr/>
        <p:txBody>
          <a:bodyPr>
            <a:normAutofit/>
          </a:bodyPr>
          <a:lstStyle/>
          <a:p>
            <a:pPr>
              <a:lnSpc>
                <a:spcPct val="150000"/>
              </a:lnSpc>
            </a:pPr>
            <a:r>
              <a:rPr lang="zh-CN" altLang="en-US" dirty="0">
                <a:latin typeface="宋体" pitchFamily="2" charset="-122"/>
              </a:rPr>
              <a:t>在</a:t>
            </a:r>
            <a:r>
              <a:rPr lang="en-US" altLang="zh-CN" dirty="0" err="1">
                <a:latin typeface="宋体" pitchFamily="2" charset="-122"/>
              </a:rPr>
              <a:t>tr_teacher_insert</a:t>
            </a:r>
            <a:r>
              <a:rPr lang="zh-CN" altLang="en-US" dirty="0">
                <a:latin typeface="宋体" pitchFamily="2" charset="-122"/>
              </a:rPr>
              <a:t>触发器创建好以后，使用两组</a:t>
            </a:r>
            <a:r>
              <a:rPr lang="en-US" altLang="zh-CN" dirty="0">
                <a:latin typeface="宋体" pitchFamily="2" charset="-122"/>
              </a:rPr>
              <a:t>INSERT</a:t>
            </a:r>
            <a:r>
              <a:rPr lang="zh-CN" altLang="en-US" dirty="0">
                <a:latin typeface="宋体" pitchFamily="2" charset="-122"/>
              </a:rPr>
              <a:t>语句插入新记录并使用</a:t>
            </a:r>
            <a:r>
              <a:rPr lang="en-US" altLang="zh-CN" dirty="0">
                <a:latin typeface="宋体" pitchFamily="2" charset="-122"/>
              </a:rPr>
              <a:t>SELECT</a:t>
            </a:r>
            <a:r>
              <a:rPr lang="zh-CN" altLang="en-US" dirty="0">
                <a:latin typeface="宋体" pitchFamily="2" charset="-122"/>
              </a:rPr>
              <a:t>语句对插入情况进行检查</a:t>
            </a:r>
            <a:r>
              <a:rPr lang="en-US" altLang="zh-CN" dirty="0">
                <a:latin typeface="宋体" pitchFamily="2" charset="-122"/>
              </a:rPr>
              <a:t>, </a:t>
            </a:r>
            <a:r>
              <a:rPr lang="zh-CN" altLang="en-US" dirty="0">
                <a:latin typeface="宋体" pitchFamily="2" charset="-122"/>
              </a:rPr>
              <a:t>如图</a:t>
            </a:r>
            <a:r>
              <a:rPr lang="en-US" altLang="zh-CN" dirty="0">
                <a:latin typeface="宋体" pitchFamily="2" charset="-122"/>
              </a:rPr>
              <a:t>5-18</a:t>
            </a:r>
            <a:r>
              <a:rPr lang="zh-CN" altLang="en-US" dirty="0">
                <a:latin typeface="宋体" pitchFamily="2" charset="-122"/>
              </a:rPr>
              <a:t>所示。从结果可见工资为负的记录插入失败，而非负工资的记录被正常插入。</a:t>
            </a:r>
          </a:p>
        </p:txBody>
      </p:sp>
    </p:spTree>
    <p:extLst>
      <p:ext uri="{BB962C8B-B14F-4D97-AF65-F5344CB8AC3E}">
        <p14:creationId xmlns:p14="http://schemas.microsoft.com/office/powerpoint/2010/main" val="3420607341"/>
      </p:ext>
    </p:extLst>
  </p:cSld>
  <p:clrMapOvr>
    <a:masterClrMapping/>
  </p:clrMapOvr>
  <p:transition spd="slow">
    <p:wipe dir="r"/>
    <p:sndAc>
      <p:stSnd>
        <p:snd r:embed="rId2" name="arrow.wav"/>
      </p:stSnd>
    </p:sndAc>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5497222" y="838270"/>
            <a:ext cx="184731" cy="707886"/>
          </a:xfrm>
        </p:spPr>
        <p:txBody>
          <a:bodyPr/>
          <a:lstStyle/>
          <a:p>
            <a:endParaRPr lang="zh-CN" altLang="en-US" smtClean="0">
              <a:latin typeface="Times New Roman" panose="02020603050405020304" pitchFamily="18" charset="0"/>
              <a:ea typeface="宋体" panose="02010600030101010101" pitchFamily="2" charset="-122"/>
            </a:endParaRPr>
          </a:p>
        </p:txBody>
      </p:sp>
      <p:sp>
        <p:nvSpPr>
          <p:cNvPr id="101379" name="Rectangle 3"/>
          <p:cNvSpPr>
            <a:spLocks noGrp="1" noChangeArrowheads="1"/>
          </p:cNvSpPr>
          <p:nvPr>
            <p:ph type="body" idx="4294967295"/>
          </p:nvPr>
        </p:nvSpPr>
        <p:spPr/>
        <p:txBody>
          <a:bodyPr/>
          <a:lstStyle/>
          <a:p>
            <a:endParaRPr lang="zh-CN" altLang="en-US" smtClean="0">
              <a:latin typeface="Tahoma" panose="020B0604030504040204" pitchFamily="34" charset="0"/>
              <a:ea typeface="宋体" panose="02010600030101010101" pitchFamily="2" charset="-122"/>
            </a:endParaRPr>
          </a:p>
        </p:txBody>
      </p:sp>
      <p:pic>
        <p:nvPicPr>
          <p:cNvPr id="1013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76250"/>
            <a:ext cx="9144000" cy="424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8699114"/>
      </p:ext>
    </p:extLst>
  </p:cSld>
  <p:clrMapOvr>
    <a:masterClrMapping/>
  </p:clrMapOvr>
  <p:transition spd="slow">
    <p:wipe dir="r"/>
    <p:sndAc>
      <p:stSnd>
        <p:snd r:embed="rId2" name="arrow.wav"/>
      </p:stSnd>
    </p:sndAc>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5497222" y="838270"/>
            <a:ext cx="184731" cy="707886"/>
          </a:xfrm>
        </p:spPr>
        <p:txBody>
          <a:bodyPr/>
          <a:lstStyle/>
          <a:p>
            <a:endParaRPr lang="zh-CN" altLang="en-US" smtClean="0">
              <a:latin typeface="Times New Roman" panose="02020603050405020304" pitchFamily="18" charset="0"/>
              <a:ea typeface="宋体" panose="02010600030101010101" pitchFamily="2" charset="-122"/>
            </a:endParaRPr>
          </a:p>
        </p:txBody>
      </p:sp>
      <p:sp>
        <p:nvSpPr>
          <p:cNvPr id="102403" name="Rectangle 3"/>
          <p:cNvSpPr>
            <a:spLocks noGrp="1" noChangeArrowheads="1"/>
          </p:cNvSpPr>
          <p:nvPr>
            <p:ph type="body" idx="4294967295"/>
          </p:nvPr>
        </p:nvSpPr>
        <p:spPr>
          <a:xfrm>
            <a:off x="1524000" y="0"/>
            <a:ext cx="9144000" cy="6858000"/>
          </a:xfrm>
          <a:solidFill>
            <a:schemeClr val="bg1"/>
          </a:solidFill>
        </p:spPr>
        <p:txBody>
          <a:bodyPr/>
          <a:lstStyle/>
          <a:p>
            <a:pPr>
              <a:lnSpc>
                <a:spcPct val="90000"/>
              </a:lnSpc>
            </a:pPr>
            <a:r>
              <a:rPr lang="en-US" altLang="zh-CN" sz="2800">
                <a:solidFill>
                  <a:schemeClr val="tx1"/>
                </a:solidFill>
                <a:latin typeface="Tahoma" panose="020B0604030504040204" pitchFamily="34" charset="0"/>
                <a:ea typeface="宋体" panose="02010600030101010101" pitchFamily="2" charset="-122"/>
              </a:rPr>
              <a:t>【</a:t>
            </a:r>
            <a:r>
              <a:rPr lang="zh-CN" altLang="en-US" sz="2800">
                <a:solidFill>
                  <a:schemeClr val="tx1"/>
                </a:solidFill>
                <a:latin typeface="Tahoma" panose="020B0604030504040204" pitchFamily="34" charset="0"/>
                <a:ea typeface="宋体" panose="02010600030101010101" pitchFamily="2" charset="-122"/>
              </a:rPr>
              <a:t>例</a:t>
            </a:r>
            <a:r>
              <a:rPr lang="en-US" altLang="zh-CN" sz="2800">
                <a:solidFill>
                  <a:schemeClr val="tx1"/>
                </a:solidFill>
                <a:latin typeface="Tahoma" panose="020B0604030504040204" pitchFamily="34" charset="0"/>
                <a:ea typeface="宋体" panose="02010600030101010101" pitchFamily="2" charset="-122"/>
              </a:rPr>
              <a:t>5-34】</a:t>
            </a:r>
            <a:r>
              <a:rPr lang="zh-CN" altLang="en-US" sz="2800">
                <a:solidFill>
                  <a:schemeClr val="tx1"/>
                </a:solidFill>
                <a:latin typeface="Tahoma" panose="020B0604030504040204" pitchFamily="34" charset="0"/>
                <a:ea typeface="宋体" panose="02010600030101010101" pitchFamily="2" charset="-122"/>
              </a:rPr>
              <a:t>为</a:t>
            </a:r>
            <a:r>
              <a:rPr lang="en-US" altLang="zh-CN" sz="2800">
                <a:solidFill>
                  <a:schemeClr val="tx1"/>
                </a:solidFill>
                <a:latin typeface="Tahoma" panose="020B0604030504040204" pitchFamily="34" charset="0"/>
                <a:ea typeface="宋体" panose="02010600030101010101" pitchFamily="2" charset="-122"/>
              </a:rPr>
              <a:t>college</a:t>
            </a:r>
            <a:r>
              <a:rPr lang="zh-CN" altLang="en-US" sz="2800">
                <a:solidFill>
                  <a:schemeClr val="tx1"/>
                </a:solidFill>
                <a:latin typeface="Tahoma" panose="020B0604030504040204" pitchFamily="34" charset="0"/>
                <a:ea typeface="宋体" panose="02010600030101010101" pitchFamily="2" charset="-122"/>
              </a:rPr>
              <a:t>数据库中的</a:t>
            </a:r>
            <a:r>
              <a:rPr lang="en-US" altLang="zh-CN" sz="2800">
                <a:solidFill>
                  <a:schemeClr val="tx1"/>
                </a:solidFill>
                <a:latin typeface="Tahoma" panose="020B0604030504040204" pitchFamily="34" charset="0"/>
                <a:ea typeface="宋体" panose="02010600030101010101" pitchFamily="2" charset="-122"/>
              </a:rPr>
              <a:t>teacher</a:t>
            </a:r>
            <a:r>
              <a:rPr lang="zh-CN" altLang="en-US" sz="2800">
                <a:solidFill>
                  <a:schemeClr val="tx1"/>
                </a:solidFill>
                <a:latin typeface="Tahoma" panose="020B0604030504040204" pitchFamily="34" charset="0"/>
                <a:ea typeface="宋体" panose="02010600030101010101" pitchFamily="2" charset="-122"/>
              </a:rPr>
              <a:t>表创建一个名为</a:t>
            </a:r>
            <a:r>
              <a:rPr lang="en-US" altLang="zh-CN" sz="2800">
                <a:solidFill>
                  <a:schemeClr val="tx1"/>
                </a:solidFill>
                <a:latin typeface="Tahoma" panose="020B0604030504040204" pitchFamily="34" charset="0"/>
                <a:ea typeface="宋体" panose="02010600030101010101" pitchFamily="2" charset="-122"/>
              </a:rPr>
              <a:t>tr_teacher_delete</a:t>
            </a:r>
            <a:r>
              <a:rPr lang="zh-CN" altLang="en-US" sz="2800">
                <a:solidFill>
                  <a:schemeClr val="tx1"/>
                </a:solidFill>
                <a:latin typeface="Tahoma" panose="020B0604030504040204" pitchFamily="34" charset="0"/>
                <a:ea typeface="宋体" panose="02010600030101010101" pitchFamily="2" charset="-122"/>
              </a:rPr>
              <a:t>的触发器，实现删除</a:t>
            </a:r>
            <a:r>
              <a:rPr lang="en-US" altLang="zh-CN" sz="2800">
                <a:solidFill>
                  <a:schemeClr val="tx1"/>
                </a:solidFill>
                <a:latin typeface="Tahoma" panose="020B0604030504040204" pitchFamily="34" charset="0"/>
                <a:ea typeface="宋体" panose="02010600030101010101" pitchFamily="2" charset="-122"/>
              </a:rPr>
              <a:t>teacher</a:t>
            </a:r>
            <a:r>
              <a:rPr lang="zh-CN" altLang="en-US" sz="2800">
                <a:solidFill>
                  <a:schemeClr val="tx1"/>
                </a:solidFill>
                <a:latin typeface="Tahoma" panose="020B0604030504040204" pitchFamily="34" charset="0"/>
                <a:ea typeface="宋体" panose="02010600030101010101" pitchFamily="2" charset="-122"/>
              </a:rPr>
              <a:t>表的记录后，自动将这些老师在</a:t>
            </a:r>
            <a:r>
              <a:rPr lang="en-US" altLang="zh-CN" sz="2800">
                <a:solidFill>
                  <a:schemeClr val="tx1"/>
                </a:solidFill>
                <a:latin typeface="Tahoma" panose="020B0604030504040204" pitchFamily="34" charset="0"/>
                <a:ea typeface="宋体" panose="02010600030101010101" pitchFamily="2" charset="-122"/>
              </a:rPr>
              <a:t>tc</a:t>
            </a:r>
            <a:r>
              <a:rPr lang="zh-CN" altLang="en-US" sz="2800">
                <a:solidFill>
                  <a:schemeClr val="tx1"/>
                </a:solidFill>
                <a:latin typeface="Tahoma" panose="020B0604030504040204" pitchFamily="34" charset="0"/>
                <a:ea typeface="宋体" panose="02010600030101010101" pitchFamily="2" charset="-122"/>
              </a:rPr>
              <a:t>表的授课记录一并删除。</a:t>
            </a:r>
          </a:p>
          <a:p>
            <a:pPr>
              <a:lnSpc>
                <a:spcPct val="90000"/>
              </a:lnSpc>
            </a:pPr>
            <a:r>
              <a:rPr lang="zh-CN" altLang="en-US" sz="2800">
                <a:solidFill>
                  <a:schemeClr val="tx1"/>
                </a:solidFill>
                <a:latin typeface="Tahoma" panose="020B0604030504040204" pitchFamily="34" charset="0"/>
                <a:ea typeface="宋体" panose="02010600030101010101" pitchFamily="2" charset="-122"/>
              </a:rPr>
              <a:t>参考的触发器设计如下：</a:t>
            </a:r>
          </a:p>
          <a:p>
            <a:pPr>
              <a:lnSpc>
                <a:spcPct val="90000"/>
              </a:lnSpc>
              <a:buFontTx/>
              <a:buNone/>
            </a:pPr>
            <a:r>
              <a:rPr lang="en-US" altLang="zh-CN" sz="2800">
                <a:solidFill>
                  <a:schemeClr val="tx1"/>
                </a:solidFill>
                <a:latin typeface="Tahoma" panose="020B0604030504040204" pitchFamily="34" charset="0"/>
                <a:ea typeface="宋体" panose="02010600030101010101" pitchFamily="2" charset="-122"/>
              </a:rPr>
              <a:t>USE college;</a:t>
            </a:r>
          </a:p>
          <a:p>
            <a:pPr>
              <a:lnSpc>
                <a:spcPct val="90000"/>
              </a:lnSpc>
              <a:buFontTx/>
              <a:buNone/>
            </a:pPr>
            <a:r>
              <a:rPr lang="en-US" altLang="zh-CN" sz="2800">
                <a:solidFill>
                  <a:schemeClr val="tx1"/>
                </a:solidFill>
                <a:latin typeface="Tahoma" panose="020B0604030504040204" pitchFamily="34" charset="0"/>
                <a:ea typeface="宋体" panose="02010600030101010101" pitchFamily="2" charset="-122"/>
              </a:rPr>
              <a:t>DELIMITER //</a:t>
            </a:r>
          </a:p>
          <a:p>
            <a:pPr>
              <a:lnSpc>
                <a:spcPct val="90000"/>
              </a:lnSpc>
              <a:buFontTx/>
              <a:buNone/>
            </a:pPr>
            <a:r>
              <a:rPr lang="en-US" altLang="zh-CN" sz="2800">
                <a:solidFill>
                  <a:schemeClr val="tx1"/>
                </a:solidFill>
                <a:latin typeface="Tahoma" panose="020B0604030504040204" pitchFamily="34" charset="0"/>
                <a:ea typeface="宋体" panose="02010600030101010101" pitchFamily="2" charset="-122"/>
              </a:rPr>
              <a:t>CREATE TRIGGER tr_teacher_delete AFTER DELETE ON teacher</a:t>
            </a:r>
          </a:p>
          <a:p>
            <a:pPr>
              <a:lnSpc>
                <a:spcPct val="90000"/>
              </a:lnSpc>
              <a:buFontTx/>
              <a:buNone/>
            </a:pPr>
            <a:r>
              <a:rPr lang="en-US" altLang="zh-CN" sz="2800">
                <a:solidFill>
                  <a:schemeClr val="tx1"/>
                </a:solidFill>
                <a:latin typeface="Tahoma" panose="020B0604030504040204" pitchFamily="34" charset="0"/>
                <a:ea typeface="宋体" panose="02010600030101010101" pitchFamily="2" charset="-122"/>
              </a:rPr>
              <a:t>FOR EACH ROW</a:t>
            </a:r>
          </a:p>
          <a:p>
            <a:pPr>
              <a:lnSpc>
                <a:spcPct val="90000"/>
              </a:lnSpc>
              <a:buFontTx/>
              <a:buNone/>
            </a:pPr>
            <a:r>
              <a:rPr lang="en-US" altLang="zh-CN" sz="2800">
                <a:solidFill>
                  <a:schemeClr val="tx1"/>
                </a:solidFill>
                <a:latin typeface="Tahoma" panose="020B0604030504040204" pitchFamily="34" charset="0"/>
                <a:ea typeface="宋体" panose="02010600030101010101" pitchFamily="2" charset="-122"/>
              </a:rPr>
              <a:t>BEGIN</a:t>
            </a:r>
          </a:p>
          <a:p>
            <a:pPr>
              <a:lnSpc>
                <a:spcPct val="90000"/>
              </a:lnSpc>
              <a:buFontTx/>
              <a:buNone/>
            </a:pPr>
            <a:r>
              <a:rPr lang="en-US" altLang="zh-CN" sz="2800">
                <a:solidFill>
                  <a:schemeClr val="tx1"/>
                </a:solidFill>
                <a:latin typeface="Tahoma" panose="020B0604030504040204" pitchFamily="34" charset="0"/>
                <a:ea typeface="宋体" panose="02010600030101010101" pitchFamily="2" charset="-122"/>
              </a:rPr>
              <a:t>	DELETE FROM tc WHERE tc.tno=OLD.tno;</a:t>
            </a:r>
          </a:p>
          <a:p>
            <a:pPr>
              <a:lnSpc>
                <a:spcPct val="90000"/>
              </a:lnSpc>
              <a:buFontTx/>
              <a:buNone/>
            </a:pPr>
            <a:r>
              <a:rPr lang="en-US" altLang="zh-CN" sz="2800">
                <a:solidFill>
                  <a:schemeClr val="tx1"/>
                </a:solidFill>
                <a:latin typeface="Tahoma" panose="020B0604030504040204" pitchFamily="34" charset="0"/>
                <a:ea typeface="宋体" panose="02010600030101010101" pitchFamily="2" charset="-122"/>
              </a:rPr>
              <a:t>END;</a:t>
            </a:r>
          </a:p>
          <a:p>
            <a:pPr>
              <a:lnSpc>
                <a:spcPct val="90000"/>
              </a:lnSpc>
              <a:buFontTx/>
              <a:buNone/>
            </a:pPr>
            <a:r>
              <a:rPr lang="en-US" altLang="zh-CN" sz="2800">
                <a:solidFill>
                  <a:schemeClr val="tx1"/>
                </a:solidFill>
                <a:latin typeface="Tahoma" panose="020B0604030504040204" pitchFamily="34" charset="0"/>
                <a:ea typeface="宋体" panose="02010600030101010101" pitchFamily="2" charset="-122"/>
              </a:rPr>
              <a:t>//</a:t>
            </a:r>
          </a:p>
          <a:p>
            <a:pPr>
              <a:lnSpc>
                <a:spcPct val="90000"/>
              </a:lnSpc>
              <a:buFontTx/>
              <a:buNone/>
            </a:pPr>
            <a:r>
              <a:rPr lang="en-US" altLang="zh-CN" sz="2800">
                <a:solidFill>
                  <a:schemeClr val="tx1"/>
                </a:solidFill>
                <a:latin typeface="Tahoma" panose="020B0604030504040204" pitchFamily="34" charset="0"/>
                <a:ea typeface="宋体" panose="02010600030101010101" pitchFamily="2" charset="-122"/>
              </a:rPr>
              <a:t>DELIMITER;</a:t>
            </a:r>
            <a:endParaRPr lang="zh-CN" altLang="en-US" sz="280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71853234"/>
      </p:ext>
    </p:extLst>
  </p:cSld>
  <p:clrMapOvr>
    <a:masterClrMapping/>
  </p:clrMapOvr>
  <p:transition spd="slow">
    <p:wipe dir="r"/>
    <p:sndAc>
      <p:stSnd>
        <p:snd r:embed="rId2" name="arrow.wav"/>
      </p:stSnd>
    </p:sndAc>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3697884" y="838270"/>
            <a:ext cx="3783407" cy="707886"/>
          </a:xfrm>
        </p:spPr>
        <p:txBody>
          <a:bodyPr/>
          <a:lstStyle/>
          <a:p>
            <a:r>
              <a:rPr lang="en-US" altLang="zh-CN" smtClean="0">
                <a:latin typeface="Times New Roman" panose="02020603050405020304" pitchFamily="18" charset="0"/>
                <a:ea typeface="宋体" panose="02010600030101010101" pitchFamily="2" charset="-122"/>
              </a:rPr>
              <a:t>5.4.4</a:t>
            </a:r>
            <a:r>
              <a:rPr lang="zh-CN" altLang="en-US" smtClean="0">
                <a:latin typeface="Times New Roman" panose="02020603050405020304" pitchFamily="18" charset="0"/>
                <a:ea typeface="宋体" panose="02010600030101010101" pitchFamily="2" charset="-122"/>
              </a:rPr>
              <a:t>查看触发器</a:t>
            </a:r>
          </a:p>
        </p:txBody>
      </p:sp>
      <p:sp>
        <p:nvSpPr>
          <p:cNvPr id="103427" name="Rectangle 3"/>
          <p:cNvSpPr>
            <a:spLocks noGrp="1" noChangeArrowheads="1"/>
          </p:cNvSpPr>
          <p:nvPr>
            <p:ph type="body" idx="4294967295"/>
          </p:nvPr>
        </p:nvSpPr>
        <p:spPr>
          <a:xfrm>
            <a:off x="263352" y="1844675"/>
            <a:ext cx="10657184" cy="4114800"/>
          </a:xfrm>
        </p:spPr>
        <p:txBody>
          <a:bodyPr>
            <a:noAutofit/>
          </a:bodyPr>
          <a:lstStyle/>
          <a:p>
            <a:pPr>
              <a:lnSpc>
                <a:spcPct val="150000"/>
              </a:lnSpc>
            </a:pPr>
            <a:r>
              <a:rPr lang="zh-CN" altLang="en-US" dirty="0">
                <a:latin typeface="宋体" pitchFamily="2" charset="-122"/>
              </a:rPr>
              <a:t>在</a:t>
            </a:r>
            <a:r>
              <a:rPr lang="en-US" altLang="zh-CN" dirty="0">
                <a:latin typeface="宋体" pitchFamily="2" charset="-122"/>
              </a:rPr>
              <a:t>MySQL</a:t>
            </a:r>
            <a:r>
              <a:rPr lang="zh-CN" altLang="en-US" dirty="0">
                <a:latin typeface="宋体" pitchFamily="2" charset="-122"/>
              </a:rPr>
              <a:t>中一般使用三种方式查看触发器的定义。</a:t>
            </a:r>
          </a:p>
          <a:p>
            <a:pPr>
              <a:lnSpc>
                <a:spcPct val="150000"/>
              </a:lnSpc>
            </a:pPr>
            <a:r>
              <a:rPr lang="en-US" altLang="zh-CN" dirty="0">
                <a:latin typeface="宋体" pitchFamily="2" charset="-122"/>
              </a:rPr>
              <a:t>(1) </a:t>
            </a:r>
            <a:r>
              <a:rPr lang="zh-CN" altLang="en-US" dirty="0">
                <a:latin typeface="宋体" pitchFamily="2" charset="-122"/>
              </a:rPr>
              <a:t>使用</a:t>
            </a:r>
            <a:r>
              <a:rPr lang="en-US" altLang="zh-CN" dirty="0">
                <a:latin typeface="宋体" pitchFamily="2" charset="-122"/>
              </a:rPr>
              <a:t>SHOW TRIGGERS</a:t>
            </a:r>
            <a:r>
              <a:rPr lang="zh-CN" altLang="en-US" dirty="0">
                <a:latin typeface="宋体" pitchFamily="2" charset="-122"/>
              </a:rPr>
              <a:t>命令查看某些触发器的详细信息。</a:t>
            </a:r>
          </a:p>
          <a:p>
            <a:pPr>
              <a:lnSpc>
                <a:spcPct val="150000"/>
              </a:lnSpc>
            </a:pPr>
            <a:r>
              <a:rPr lang="zh-CN" altLang="en-US" dirty="0">
                <a:latin typeface="宋体" pitchFamily="2" charset="-122"/>
              </a:rPr>
              <a:t>语法格式为：</a:t>
            </a:r>
          </a:p>
          <a:p>
            <a:pPr>
              <a:lnSpc>
                <a:spcPct val="150000"/>
              </a:lnSpc>
              <a:buFontTx/>
              <a:buNone/>
            </a:pPr>
            <a:r>
              <a:rPr lang="en-US" altLang="zh-CN" dirty="0">
                <a:latin typeface="宋体" pitchFamily="2" charset="-122"/>
              </a:rPr>
              <a:t>SHOW TRIGGERS </a:t>
            </a:r>
          </a:p>
          <a:p>
            <a:pPr>
              <a:lnSpc>
                <a:spcPct val="150000"/>
              </a:lnSpc>
              <a:buFontTx/>
              <a:buNone/>
            </a:pPr>
            <a:r>
              <a:rPr lang="en-US" altLang="zh-CN" dirty="0">
                <a:latin typeface="宋体" pitchFamily="2" charset="-122"/>
              </a:rPr>
              <a:t>[FROM </a:t>
            </a:r>
            <a:r>
              <a:rPr lang="zh-CN" altLang="en-US" dirty="0">
                <a:latin typeface="宋体" pitchFamily="2" charset="-122"/>
              </a:rPr>
              <a:t>数据库名｜</a:t>
            </a:r>
            <a:r>
              <a:rPr lang="en-US" altLang="zh-CN" dirty="0">
                <a:latin typeface="宋体" pitchFamily="2" charset="-122"/>
              </a:rPr>
              <a:t>IN</a:t>
            </a:r>
            <a:r>
              <a:rPr lang="zh-CN" altLang="en-US" dirty="0">
                <a:latin typeface="宋体" pitchFamily="2" charset="-122"/>
              </a:rPr>
              <a:t>数据库名</a:t>
            </a:r>
            <a:r>
              <a:rPr lang="en-US" altLang="zh-CN" dirty="0">
                <a:latin typeface="宋体" pitchFamily="2" charset="-122"/>
              </a:rPr>
              <a:t>] [LIKE </a:t>
            </a:r>
            <a:r>
              <a:rPr lang="zh-CN" altLang="en-US" dirty="0">
                <a:latin typeface="宋体" pitchFamily="2" charset="-122"/>
              </a:rPr>
              <a:t>表名模式｜</a:t>
            </a:r>
            <a:r>
              <a:rPr lang="en-US" altLang="zh-CN" dirty="0">
                <a:latin typeface="宋体" pitchFamily="2" charset="-122"/>
              </a:rPr>
              <a:t>WHERE </a:t>
            </a:r>
            <a:r>
              <a:rPr lang="zh-CN" altLang="en-US" dirty="0">
                <a:latin typeface="宋体" pitchFamily="2" charset="-122"/>
              </a:rPr>
              <a:t>条件</a:t>
            </a:r>
            <a:r>
              <a:rPr lang="en-US" altLang="zh-CN" dirty="0">
                <a:latin typeface="宋体" pitchFamily="2" charset="-122"/>
              </a:rPr>
              <a:t>];</a:t>
            </a:r>
            <a:endParaRPr lang="zh-CN" altLang="en-US" dirty="0">
              <a:latin typeface="宋体" pitchFamily="2" charset="-122"/>
            </a:endParaRPr>
          </a:p>
        </p:txBody>
      </p:sp>
    </p:spTree>
    <p:extLst>
      <p:ext uri="{BB962C8B-B14F-4D97-AF65-F5344CB8AC3E}">
        <p14:creationId xmlns:p14="http://schemas.microsoft.com/office/powerpoint/2010/main" val="3277941520"/>
      </p:ext>
    </p:extLst>
  </p:cSld>
  <p:clrMapOvr>
    <a:masterClrMapping/>
  </p:clrMapOvr>
  <p:transition spd="slow">
    <p:wipe dir="r"/>
    <p:sndAc>
      <p:stSnd>
        <p:snd r:embed="rId2" name="arrow.wav"/>
      </p:stSnd>
    </p:sndAc>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p:cNvSpPr>
            <a:spLocks noGrp="1" noChangeArrowheads="1"/>
          </p:cNvSpPr>
          <p:nvPr>
            <p:ph type="body" idx="4294967295"/>
          </p:nvPr>
        </p:nvSpPr>
        <p:spPr>
          <a:xfrm>
            <a:off x="1127448" y="476672"/>
            <a:ext cx="10585176" cy="5472608"/>
          </a:xfrm>
        </p:spPr>
        <p:txBody>
          <a:bodyPr>
            <a:noAutofit/>
          </a:bodyPr>
          <a:lstStyle/>
          <a:p>
            <a:pPr>
              <a:lnSpc>
                <a:spcPct val="150000"/>
              </a:lnSpc>
            </a:pPr>
            <a:r>
              <a:rPr lang="zh-CN" altLang="en-US" sz="2800" dirty="0">
                <a:latin typeface="宋体" pitchFamily="2" charset="-122"/>
              </a:rPr>
              <a:t>说明：</a:t>
            </a:r>
          </a:p>
          <a:p>
            <a:pPr>
              <a:lnSpc>
                <a:spcPct val="150000"/>
              </a:lnSpc>
            </a:pPr>
            <a:r>
              <a:rPr lang="zh-CN" altLang="en-US" sz="2800" dirty="0">
                <a:latin typeface="宋体" pitchFamily="2" charset="-122"/>
              </a:rPr>
              <a:t>可以使用</a:t>
            </a:r>
            <a:r>
              <a:rPr lang="en-US" altLang="zh-CN" sz="2800" dirty="0">
                <a:solidFill>
                  <a:srgbClr val="C00000"/>
                </a:solidFill>
                <a:latin typeface="宋体" pitchFamily="2" charset="-122"/>
              </a:rPr>
              <a:t>FROM/IN</a:t>
            </a:r>
            <a:r>
              <a:rPr lang="zh-CN" altLang="en-US" sz="2800" dirty="0">
                <a:latin typeface="宋体" pitchFamily="2" charset="-122"/>
              </a:rPr>
              <a:t>短语指定查询某个数据库中的触发器。缺省为当前数据库。</a:t>
            </a:r>
          </a:p>
          <a:p>
            <a:pPr>
              <a:lnSpc>
                <a:spcPct val="150000"/>
              </a:lnSpc>
            </a:pPr>
            <a:r>
              <a:rPr lang="zh-CN" altLang="en-US" sz="2800" dirty="0">
                <a:latin typeface="宋体" pitchFamily="2" charset="-122"/>
              </a:rPr>
              <a:t>默认查询数据库中的全部触发器。</a:t>
            </a:r>
          </a:p>
          <a:p>
            <a:pPr>
              <a:lnSpc>
                <a:spcPct val="150000"/>
              </a:lnSpc>
            </a:pPr>
            <a:r>
              <a:rPr lang="zh-CN" altLang="en-US" sz="2800" dirty="0">
                <a:latin typeface="宋体" pitchFamily="2" charset="-122"/>
              </a:rPr>
              <a:t>如果只想查看定义在某些表上的触发器，可以使用</a:t>
            </a:r>
            <a:r>
              <a:rPr lang="en-US" altLang="zh-CN" sz="2800" dirty="0">
                <a:solidFill>
                  <a:srgbClr val="C00000"/>
                </a:solidFill>
                <a:latin typeface="宋体" pitchFamily="2" charset="-122"/>
              </a:rPr>
              <a:t>LIKE</a:t>
            </a:r>
            <a:r>
              <a:rPr lang="zh-CN" altLang="en-US" sz="2800" dirty="0">
                <a:solidFill>
                  <a:srgbClr val="C00000"/>
                </a:solidFill>
                <a:latin typeface="宋体" pitchFamily="2" charset="-122"/>
              </a:rPr>
              <a:t>短语</a:t>
            </a:r>
            <a:r>
              <a:rPr lang="zh-CN" altLang="en-US" sz="2800" dirty="0">
                <a:latin typeface="宋体" pitchFamily="2" charset="-122"/>
              </a:rPr>
              <a:t>。但要注意这里的模式只与表名匹配而不是与触发器的名字匹配。</a:t>
            </a:r>
          </a:p>
          <a:p>
            <a:pPr>
              <a:lnSpc>
                <a:spcPct val="150000"/>
              </a:lnSpc>
            </a:pPr>
            <a:r>
              <a:rPr lang="zh-CN" altLang="en-US" sz="2800" dirty="0">
                <a:latin typeface="宋体" pitchFamily="2" charset="-122"/>
              </a:rPr>
              <a:t>如果只想查询满足条件的一部分触发器，可以使用</a:t>
            </a:r>
            <a:r>
              <a:rPr lang="en-US" altLang="zh-CN" sz="2800" dirty="0">
                <a:solidFill>
                  <a:srgbClr val="C00000"/>
                </a:solidFill>
                <a:latin typeface="宋体" pitchFamily="2" charset="-122"/>
              </a:rPr>
              <a:t>WHERE</a:t>
            </a:r>
            <a:r>
              <a:rPr lang="zh-CN" altLang="en-US" sz="2800" dirty="0">
                <a:solidFill>
                  <a:srgbClr val="C00000"/>
                </a:solidFill>
                <a:latin typeface="宋体" pitchFamily="2" charset="-122"/>
              </a:rPr>
              <a:t>短语</a:t>
            </a:r>
            <a:r>
              <a:rPr lang="zh-CN" altLang="en-US" sz="2800" dirty="0">
                <a:latin typeface="宋体" pitchFamily="2" charset="-122"/>
              </a:rPr>
              <a:t>。</a:t>
            </a:r>
          </a:p>
        </p:txBody>
      </p:sp>
    </p:spTree>
    <p:extLst>
      <p:ext uri="{BB962C8B-B14F-4D97-AF65-F5344CB8AC3E}">
        <p14:creationId xmlns:p14="http://schemas.microsoft.com/office/powerpoint/2010/main" val="1120179212"/>
      </p:ext>
    </p:extLst>
  </p:cSld>
  <p:clrMapOvr>
    <a:masterClrMapping/>
  </p:clrMapOvr>
  <p:transition spd="slow">
    <p:wipe dir="r"/>
    <p:sndAc>
      <p:stSnd>
        <p:snd r:embed="rId2" name="arrow.wav"/>
      </p:stSnd>
    </p:sndAc>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p:cNvSpPr>
            <a:spLocks noGrp="1" noChangeArrowheads="1"/>
          </p:cNvSpPr>
          <p:nvPr>
            <p:ph type="body" idx="4294967295"/>
          </p:nvPr>
        </p:nvSpPr>
        <p:spPr>
          <a:xfrm>
            <a:off x="839416" y="333375"/>
            <a:ext cx="10729191" cy="4114800"/>
          </a:xfrm>
        </p:spPr>
        <p:txBody>
          <a:bodyPr>
            <a:noAutofit/>
          </a:bodyPr>
          <a:lstStyle/>
          <a:p>
            <a:pPr>
              <a:lnSpc>
                <a:spcPct val="150000"/>
              </a:lnSpc>
            </a:pPr>
            <a:r>
              <a:rPr lang="en-US" altLang="zh-CN" sz="2800" dirty="0">
                <a:latin typeface="宋体" pitchFamily="2" charset="-122"/>
              </a:rPr>
              <a:t>【</a:t>
            </a:r>
            <a:r>
              <a:rPr lang="zh-CN" altLang="en-US" sz="2800" dirty="0">
                <a:latin typeface="宋体" pitchFamily="2" charset="-122"/>
              </a:rPr>
              <a:t>例</a:t>
            </a:r>
            <a:r>
              <a:rPr lang="en-US" altLang="zh-CN" sz="2800" dirty="0">
                <a:latin typeface="宋体" pitchFamily="2" charset="-122"/>
              </a:rPr>
              <a:t>5-36】</a:t>
            </a:r>
            <a:r>
              <a:rPr lang="zh-CN" altLang="en-US" sz="2800" dirty="0">
                <a:latin typeface="宋体" pitchFamily="2" charset="-122"/>
              </a:rPr>
              <a:t>查看</a:t>
            </a:r>
            <a:r>
              <a:rPr lang="en-US" altLang="zh-CN" sz="2800" dirty="0">
                <a:latin typeface="宋体" pitchFamily="2" charset="-122"/>
              </a:rPr>
              <a:t>college</a:t>
            </a:r>
            <a:r>
              <a:rPr lang="zh-CN" altLang="en-US" sz="2800" dirty="0">
                <a:latin typeface="宋体" pitchFamily="2" charset="-122"/>
              </a:rPr>
              <a:t>数据库中的所有触发器定义。</a:t>
            </a:r>
          </a:p>
          <a:p>
            <a:pPr>
              <a:lnSpc>
                <a:spcPct val="150000"/>
              </a:lnSpc>
              <a:buFontTx/>
              <a:buNone/>
            </a:pPr>
            <a:r>
              <a:rPr lang="en-US" altLang="zh-CN" sz="2800" dirty="0">
                <a:latin typeface="宋体" pitchFamily="2" charset="-122"/>
              </a:rPr>
              <a:t>SHOW TRIGGERS FROM college;</a:t>
            </a:r>
          </a:p>
          <a:p>
            <a:pPr>
              <a:lnSpc>
                <a:spcPct val="150000"/>
              </a:lnSpc>
              <a:buFontTx/>
              <a:buNone/>
            </a:pPr>
            <a:endParaRPr lang="en-US" altLang="zh-CN" sz="2800" dirty="0">
              <a:latin typeface="宋体" pitchFamily="2" charset="-122"/>
            </a:endParaRPr>
          </a:p>
          <a:p>
            <a:pPr>
              <a:lnSpc>
                <a:spcPct val="150000"/>
              </a:lnSpc>
            </a:pPr>
            <a:r>
              <a:rPr lang="en-US" altLang="zh-CN" sz="2800" dirty="0">
                <a:latin typeface="宋体" pitchFamily="2" charset="-122"/>
              </a:rPr>
              <a:t>【</a:t>
            </a:r>
            <a:r>
              <a:rPr lang="zh-CN" altLang="en-US" sz="2800" dirty="0">
                <a:latin typeface="宋体" pitchFamily="2" charset="-122"/>
              </a:rPr>
              <a:t>例</a:t>
            </a:r>
            <a:r>
              <a:rPr lang="en-US" altLang="zh-CN" sz="2800" dirty="0">
                <a:latin typeface="宋体" pitchFamily="2" charset="-122"/>
              </a:rPr>
              <a:t>5-37】</a:t>
            </a:r>
            <a:r>
              <a:rPr lang="zh-CN" altLang="en-US" sz="2800" dirty="0">
                <a:latin typeface="宋体" pitchFamily="2" charset="-122"/>
              </a:rPr>
              <a:t>查看当前数据库中所有触发事件为</a:t>
            </a:r>
            <a:r>
              <a:rPr lang="en-US" altLang="zh-CN" sz="2800" dirty="0">
                <a:latin typeface="宋体" pitchFamily="2" charset="-122"/>
              </a:rPr>
              <a:t>UPDATE</a:t>
            </a:r>
            <a:r>
              <a:rPr lang="zh-CN" altLang="en-US" sz="2800" dirty="0">
                <a:latin typeface="宋体" pitchFamily="2" charset="-122"/>
              </a:rPr>
              <a:t>的触发器。</a:t>
            </a:r>
          </a:p>
          <a:p>
            <a:pPr>
              <a:lnSpc>
                <a:spcPct val="150000"/>
              </a:lnSpc>
              <a:buFontTx/>
              <a:buNone/>
            </a:pPr>
            <a:r>
              <a:rPr lang="en-US" altLang="zh-CN" sz="2800" dirty="0">
                <a:latin typeface="宋体" pitchFamily="2" charset="-122"/>
              </a:rPr>
              <a:t>SHOW TRIGGERS WHERE Event=’UPDATE’;</a:t>
            </a:r>
          </a:p>
          <a:p>
            <a:pPr>
              <a:lnSpc>
                <a:spcPct val="150000"/>
              </a:lnSpc>
              <a:buFontTx/>
              <a:buNone/>
            </a:pPr>
            <a:endParaRPr lang="en-US" altLang="zh-CN" sz="2800" dirty="0">
              <a:latin typeface="宋体" pitchFamily="2" charset="-122"/>
            </a:endParaRPr>
          </a:p>
          <a:p>
            <a:pPr>
              <a:lnSpc>
                <a:spcPct val="150000"/>
              </a:lnSpc>
            </a:pPr>
            <a:r>
              <a:rPr lang="en-US" altLang="zh-CN" sz="2800" dirty="0">
                <a:latin typeface="宋体" pitchFamily="2" charset="-122"/>
              </a:rPr>
              <a:t>【</a:t>
            </a:r>
            <a:r>
              <a:rPr lang="zh-CN" altLang="en-US" sz="2800" dirty="0">
                <a:latin typeface="宋体" pitchFamily="2" charset="-122"/>
              </a:rPr>
              <a:t>例</a:t>
            </a:r>
            <a:r>
              <a:rPr lang="en-US" altLang="zh-CN" sz="2800" dirty="0">
                <a:latin typeface="宋体" pitchFamily="2" charset="-122"/>
              </a:rPr>
              <a:t>5-38】</a:t>
            </a:r>
            <a:r>
              <a:rPr lang="zh-CN" altLang="en-US" sz="2800" dirty="0">
                <a:latin typeface="宋体" pitchFamily="2" charset="-122"/>
              </a:rPr>
              <a:t>查看</a:t>
            </a:r>
            <a:r>
              <a:rPr lang="en-US" altLang="zh-CN" sz="2800" dirty="0">
                <a:latin typeface="宋体" pitchFamily="2" charset="-122"/>
              </a:rPr>
              <a:t>college</a:t>
            </a:r>
            <a:r>
              <a:rPr lang="zh-CN" altLang="en-US" sz="2800" dirty="0">
                <a:latin typeface="宋体" pitchFamily="2" charset="-122"/>
              </a:rPr>
              <a:t>数据库中</a:t>
            </a:r>
            <a:r>
              <a:rPr lang="en-US" altLang="zh-CN" sz="2800" dirty="0">
                <a:latin typeface="宋体" pitchFamily="2" charset="-122"/>
              </a:rPr>
              <a:t>teacher</a:t>
            </a:r>
            <a:r>
              <a:rPr lang="zh-CN" altLang="en-US" sz="2800" dirty="0">
                <a:latin typeface="宋体" pitchFamily="2" charset="-122"/>
              </a:rPr>
              <a:t>表上定义的所有触发器。</a:t>
            </a:r>
          </a:p>
          <a:p>
            <a:pPr>
              <a:lnSpc>
                <a:spcPct val="150000"/>
              </a:lnSpc>
              <a:buFontTx/>
              <a:buNone/>
            </a:pPr>
            <a:r>
              <a:rPr lang="en-US" altLang="zh-CN" sz="2800" dirty="0">
                <a:latin typeface="宋体" pitchFamily="2" charset="-122"/>
              </a:rPr>
              <a:t>SHOW TRIGGERS IN college LIKE ’%teacher%’;</a:t>
            </a:r>
            <a:endParaRPr lang="zh-CN" altLang="en-US" sz="2800" dirty="0">
              <a:latin typeface="宋体" pitchFamily="2" charset="-122"/>
            </a:endParaRPr>
          </a:p>
        </p:txBody>
      </p:sp>
    </p:spTree>
    <p:extLst>
      <p:ext uri="{BB962C8B-B14F-4D97-AF65-F5344CB8AC3E}">
        <p14:creationId xmlns:p14="http://schemas.microsoft.com/office/powerpoint/2010/main" val="2438857459"/>
      </p:ext>
    </p:extLst>
  </p:cSld>
  <p:clrMapOvr>
    <a:masterClrMapping/>
  </p:clrMapOvr>
  <p:transition spd="slow">
    <p:wipe dir="r"/>
    <p:sndAc>
      <p:stSnd>
        <p:snd r:embed="rId2" name="arrow.wav"/>
      </p:stSnd>
    </p:sndAc>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Grp="1" noChangeArrowheads="1"/>
          </p:cNvSpPr>
          <p:nvPr>
            <p:ph type="body" idx="4294967295"/>
          </p:nvPr>
        </p:nvSpPr>
        <p:spPr>
          <a:xfrm>
            <a:off x="1631950" y="549274"/>
            <a:ext cx="9072562" cy="5688037"/>
          </a:xfrm>
        </p:spPr>
        <p:txBody>
          <a:bodyPr>
            <a:normAutofit/>
          </a:bodyPr>
          <a:lstStyle/>
          <a:p>
            <a:pPr>
              <a:lnSpc>
                <a:spcPct val="90000"/>
              </a:lnSpc>
            </a:pPr>
            <a:r>
              <a:rPr lang="en-US" altLang="zh-CN" sz="2800" dirty="0">
                <a:latin typeface="宋体" pitchFamily="2" charset="-122"/>
              </a:rPr>
              <a:t>(2) </a:t>
            </a:r>
            <a:r>
              <a:rPr lang="zh-CN" altLang="en-US" sz="2800" dirty="0">
                <a:latin typeface="宋体" pitchFamily="2" charset="-122"/>
              </a:rPr>
              <a:t>使用 </a:t>
            </a:r>
            <a:r>
              <a:rPr lang="en-US" altLang="zh-CN" sz="2800" dirty="0">
                <a:latin typeface="宋体" pitchFamily="2" charset="-122"/>
              </a:rPr>
              <a:t>SHOW CREATE TRIGGER</a:t>
            </a:r>
            <a:r>
              <a:rPr lang="zh-CN" altLang="en-US" sz="2800" dirty="0">
                <a:latin typeface="宋体" pitchFamily="2" charset="-122"/>
              </a:rPr>
              <a:t>命令查看某个触发器的定义。</a:t>
            </a:r>
          </a:p>
          <a:p>
            <a:pPr>
              <a:lnSpc>
                <a:spcPct val="90000"/>
              </a:lnSpc>
            </a:pPr>
            <a:r>
              <a:rPr lang="zh-CN" altLang="en-US" sz="2800" dirty="0">
                <a:latin typeface="宋体" pitchFamily="2" charset="-122"/>
              </a:rPr>
              <a:t>语法格式：</a:t>
            </a:r>
          </a:p>
          <a:p>
            <a:pPr>
              <a:lnSpc>
                <a:spcPct val="90000"/>
              </a:lnSpc>
              <a:buFontTx/>
              <a:buNone/>
            </a:pPr>
            <a:r>
              <a:rPr lang="en-US" altLang="zh-CN" sz="2800" dirty="0">
                <a:latin typeface="宋体" pitchFamily="2" charset="-122"/>
              </a:rPr>
              <a:t>SHOW CREATE TRIGGER</a:t>
            </a:r>
            <a:r>
              <a:rPr lang="zh-CN" altLang="en-US" sz="2800" dirty="0">
                <a:latin typeface="宋体" pitchFamily="2" charset="-122"/>
              </a:rPr>
              <a:t>触发器名</a:t>
            </a:r>
            <a:r>
              <a:rPr lang="en-US" altLang="zh-CN" sz="2800" dirty="0">
                <a:latin typeface="宋体" pitchFamily="2" charset="-122"/>
              </a:rPr>
              <a:t>;</a:t>
            </a:r>
          </a:p>
          <a:p>
            <a:pPr>
              <a:lnSpc>
                <a:spcPct val="90000"/>
              </a:lnSpc>
              <a:buFontTx/>
              <a:buNone/>
            </a:pPr>
            <a:endParaRPr lang="en-US" altLang="zh-CN" sz="2800" dirty="0">
              <a:latin typeface="宋体" pitchFamily="2" charset="-122"/>
            </a:endParaRPr>
          </a:p>
          <a:p>
            <a:pPr>
              <a:lnSpc>
                <a:spcPct val="90000"/>
              </a:lnSpc>
            </a:pPr>
            <a:r>
              <a:rPr lang="en-US" altLang="zh-CN" sz="2800" dirty="0">
                <a:latin typeface="宋体" pitchFamily="2" charset="-122"/>
              </a:rPr>
              <a:t>【</a:t>
            </a:r>
            <a:r>
              <a:rPr lang="zh-CN" altLang="en-US" sz="2800" dirty="0">
                <a:latin typeface="宋体" pitchFamily="2" charset="-122"/>
              </a:rPr>
              <a:t>例</a:t>
            </a:r>
            <a:r>
              <a:rPr lang="en-US" altLang="zh-CN" sz="2800" dirty="0">
                <a:latin typeface="宋体" pitchFamily="2" charset="-122"/>
              </a:rPr>
              <a:t>5-39】</a:t>
            </a:r>
            <a:r>
              <a:rPr lang="zh-CN" altLang="en-US" sz="2800" dirty="0">
                <a:latin typeface="宋体" pitchFamily="2" charset="-122"/>
              </a:rPr>
              <a:t>查看</a:t>
            </a:r>
            <a:r>
              <a:rPr lang="en-US" altLang="zh-CN" sz="2800" dirty="0">
                <a:latin typeface="宋体" pitchFamily="2" charset="-122"/>
              </a:rPr>
              <a:t>college</a:t>
            </a:r>
            <a:r>
              <a:rPr lang="zh-CN" altLang="en-US" sz="2800" dirty="0">
                <a:latin typeface="宋体" pitchFamily="2" charset="-122"/>
              </a:rPr>
              <a:t>数据库中名为</a:t>
            </a:r>
            <a:r>
              <a:rPr lang="en-US" altLang="zh-CN" sz="2800" dirty="0" err="1">
                <a:latin typeface="宋体" pitchFamily="2" charset="-122"/>
              </a:rPr>
              <a:t>tr_teacher_insert</a:t>
            </a:r>
            <a:r>
              <a:rPr lang="zh-CN" altLang="en-US" sz="2800" dirty="0">
                <a:latin typeface="宋体" pitchFamily="2" charset="-122"/>
              </a:rPr>
              <a:t>触发器的定义。</a:t>
            </a:r>
            <a:endParaRPr lang="en-US" altLang="zh-CN" sz="2800" dirty="0">
              <a:latin typeface="宋体" pitchFamily="2" charset="-122"/>
            </a:endParaRPr>
          </a:p>
          <a:p>
            <a:pPr>
              <a:lnSpc>
                <a:spcPct val="90000"/>
              </a:lnSpc>
            </a:pPr>
            <a:endParaRPr lang="zh-CN" altLang="en-US" sz="2800" dirty="0">
              <a:latin typeface="宋体" pitchFamily="2" charset="-122"/>
            </a:endParaRPr>
          </a:p>
          <a:p>
            <a:pPr>
              <a:lnSpc>
                <a:spcPct val="90000"/>
              </a:lnSpc>
              <a:buFontTx/>
              <a:buNone/>
            </a:pPr>
            <a:r>
              <a:rPr lang="en-US" altLang="zh-CN" sz="2800" dirty="0">
                <a:latin typeface="宋体" pitchFamily="2" charset="-122"/>
              </a:rPr>
              <a:t>SHOW CREATE TRIGGERS </a:t>
            </a:r>
            <a:r>
              <a:rPr lang="en-US" altLang="zh-CN" sz="2800" dirty="0" err="1">
                <a:latin typeface="宋体" pitchFamily="2" charset="-122"/>
              </a:rPr>
              <a:t>tr_teacher_insert</a:t>
            </a:r>
            <a:r>
              <a:rPr lang="en-US" altLang="zh-CN" sz="2800" dirty="0">
                <a:latin typeface="宋体" pitchFamily="2" charset="-122"/>
              </a:rPr>
              <a:t>;</a:t>
            </a:r>
            <a:endParaRPr lang="zh-CN" altLang="en-US" sz="2800" dirty="0">
              <a:latin typeface="宋体" pitchFamily="2" charset="-122"/>
            </a:endParaRPr>
          </a:p>
        </p:txBody>
      </p:sp>
    </p:spTree>
    <p:extLst>
      <p:ext uri="{BB962C8B-B14F-4D97-AF65-F5344CB8AC3E}">
        <p14:creationId xmlns:p14="http://schemas.microsoft.com/office/powerpoint/2010/main" val="2576406609"/>
      </p:ext>
    </p:extLst>
  </p:cSld>
  <p:clrMapOvr>
    <a:masterClrMapping/>
  </p:clrMapOvr>
  <p:transition spd="slow">
    <p:wipe dir="r"/>
    <p:sndAc>
      <p:stSnd>
        <p:snd r:embed="rId2" name="arrow.wav"/>
      </p:stSnd>
    </p:sndAc>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839416" y="0"/>
            <a:ext cx="2710211"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删除触发器</a:t>
            </a:r>
            <a:endParaRPr lang="zh-CN" altLang="en-US" sz="4000" b="1" dirty="0">
              <a:solidFill>
                <a:srgbClr val="FFFFCC"/>
              </a:solidFill>
              <a:effectLst>
                <a:outerShdw blurRad="38100" dist="38100" dir="2700000" algn="tl">
                  <a:srgbClr val="000000"/>
                </a:outerShdw>
              </a:effectLst>
              <a:cs typeface="+mn-cs"/>
            </a:endParaRPr>
          </a:p>
        </p:txBody>
      </p:sp>
      <p:sp>
        <p:nvSpPr>
          <p:cNvPr id="6" name="Rectangle 6">
            <a:extLst>
              <a:ext uri="{FF2B5EF4-FFF2-40B4-BE49-F238E27FC236}">
                <a16:creationId xmlns:a16="http://schemas.microsoft.com/office/drawing/2014/main" id="{7CCF5430-0F4B-40ED-A6E4-13E4A8D58352}"/>
              </a:ext>
            </a:extLst>
          </p:cNvPr>
          <p:cNvSpPr>
            <a:spLocks noChangeArrowheads="1"/>
          </p:cNvSpPr>
          <p:nvPr/>
        </p:nvSpPr>
        <p:spPr bwMode="auto">
          <a:xfrm>
            <a:off x="822647" y="2708920"/>
            <a:ext cx="9449817" cy="658257"/>
          </a:xfrm>
          <a:prstGeom prst="rect">
            <a:avLst/>
          </a:prstGeom>
          <a:noFill/>
          <a:ln w="9525">
            <a:noFill/>
            <a:miter lim="800000"/>
            <a:headEnd/>
            <a:tailEnd/>
          </a:ln>
          <a:effectLst/>
        </p:spPr>
        <p:txBody>
          <a:bodyPr/>
          <a:lstStyle/>
          <a:p>
            <a:pPr algn="just">
              <a:spcAft>
                <a:spcPct val="15000"/>
              </a:spcAft>
              <a:buClr>
                <a:srgbClr val="FFFFFF"/>
              </a:buClr>
              <a:buSzPct val="85000"/>
            </a:pPr>
            <a:r>
              <a:rPr lang="zh-CN" altLang="en-US" sz="3200" kern="0" dirty="0">
                <a:solidFill>
                  <a:srgbClr val="FFFFCC"/>
                </a:solidFill>
                <a:effectLst>
                  <a:outerShdw blurRad="38100" dist="38100" dir="2700000" algn="tl">
                    <a:srgbClr val="000000"/>
                  </a:outerShdw>
                </a:effectLst>
                <a:latin typeface="楷体" panose="02010609060101010101" pitchFamily="49" charset="-122"/>
                <a:ea typeface="楷体" panose="02010609060101010101" pitchFamily="49" charset="-122"/>
              </a:rPr>
              <a:t>删除名称为“</a:t>
            </a:r>
            <a:r>
              <a:rPr lang="en-US" altLang="zh-CN" sz="3200" kern="0" dirty="0" err="1">
                <a:solidFill>
                  <a:srgbClr val="FFFFCC"/>
                </a:solidFill>
                <a:effectLst>
                  <a:outerShdw blurRad="38100" dist="38100" dir="2700000" algn="tl">
                    <a:srgbClr val="000000"/>
                  </a:outerShdw>
                </a:effectLst>
                <a:latin typeface="楷体" panose="02010609060101010101" pitchFamily="49" charset="-122"/>
                <a:ea typeface="楷体" panose="02010609060101010101" pitchFamily="49" charset="-122"/>
              </a:rPr>
              <a:t>tr_teacher_insert</a:t>
            </a:r>
            <a:r>
              <a:rPr lang="en-US" altLang="zh-CN" sz="3200" kern="0" dirty="0">
                <a:solidFill>
                  <a:srgbClr val="FFFFCC"/>
                </a:solidFill>
                <a:effectLst>
                  <a:outerShdw blurRad="38100" dist="38100" dir="2700000" algn="tl">
                    <a:srgbClr val="000000"/>
                  </a:outerShdw>
                </a:effectLst>
                <a:latin typeface="楷体" panose="02010609060101010101" pitchFamily="49" charset="-122"/>
                <a:ea typeface="楷体" panose="02010609060101010101" pitchFamily="49" charset="-122"/>
              </a:rPr>
              <a:t>”</a:t>
            </a:r>
            <a:r>
              <a:rPr lang="zh-CN" altLang="en-US" sz="3200" kern="0" dirty="0">
                <a:solidFill>
                  <a:srgbClr val="FFFFCC"/>
                </a:solidFill>
                <a:effectLst>
                  <a:outerShdw blurRad="38100" dist="38100" dir="2700000" algn="tl">
                    <a:srgbClr val="000000"/>
                  </a:outerShdw>
                </a:effectLst>
                <a:latin typeface="楷体" panose="02010609060101010101" pitchFamily="49" charset="-122"/>
                <a:ea typeface="楷体" panose="02010609060101010101" pitchFamily="49" charset="-122"/>
              </a:rPr>
              <a:t>的触发器</a:t>
            </a:r>
          </a:p>
        </p:txBody>
      </p:sp>
      <p:sp>
        <p:nvSpPr>
          <p:cNvPr id="8" name="Rectangle 4">
            <a:extLst>
              <a:ext uri="{FF2B5EF4-FFF2-40B4-BE49-F238E27FC236}">
                <a16:creationId xmlns:a16="http://schemas.microsoft.com/office/drawing/2014/main" id="{45CC1E2C-44F0-4AE4-A393-42405D2BFAB1}"/>
              </a:ext>
            </a:extLst>
          </p:cNvPr>
          <p:cNvSpPr txBox="1">
            <a:spLocks noChangeArrowheads="1"/>
          </p:cNvSpPr>
          <p:nvPr/>
        </p:nvSpPr>
        <p:spPr bwMode="auto">
          <a:xfrm>
            <a:off x="834885" y="1229666"/>
            <a:ext cx="8715990" cy="65825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2800">
                <a:solidFill>
                  <a:srgbClr val="CCFFCC"/>
                </a:solidFill>
                <a:effectLst>
                  <a:outerShdw blurRad="38100" dist="38100" dir="2700000" algn="tl">
                    <a:srgbClr val="000000"/>
                  </a:outerShdw>
                </a:effectLst>
                <a:latin typeface="Arial" pitchFamily="34" charset="0"/>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Arial" pitchFamily="34" charset="0"/>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Arial" pitchFamily="34" charset="0"/>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lnSpc>
                <a:spcPct val="110000"/>
              </a:lnSpc>
              <a:spcAft>
                <a:spcPct val="0"/>
              </a:spcAft>
              <a:buNone/>
              <a:defRPr/>
            </a:pPr>
            <a:r>
              <a:rPr kumimoji="0" lang="en-US" altLang="zh-CN" sz="3600" b="1" dirty="0">
                <a:solidFill>
                  <a:srgbClr val="FFFF00"/>
                </a:solidFill>
                <a:latin typeface="Arial" charset="0"/>
              </a:rPr>
              <a:t>DROP TRIGGER </a:t>
            </a:r>
            <a:r>
              <a:rPr lang="zh-CN" altLang="en-US" sz="3600" dirty="0"/>
              <a:t>触发器名</a:t>
            </a:r>
            <a:r>
              <a:rPr lang="en-US" altLang="zh-CN" sz="3600" dirty="0"/>
              <a:t>;</a:t>
            </a:r>
          </a:p>
        </p:txBody>
      </p:sp>
      <p:sp>
        <p:nvSpPr>
          <p:cNvPr id="9" name="Rectangle 7">
            <a:extLst>
              <a:ext uri="{FF2B5EF4-FFF2-40B4-BE49-F238E27FC236}">
                <a16:creationId xmlns:a16="http://schemas.microsoft.com/office/drawing/2014/main" id="{54AC99C1-4C01-4900-A292-845403DBEE0F}"/>
              </a:ext>
            </a:extLst>
          </p:cNvPr>
          <p:cNvSpPr>
            <a:spLocks noChangeArrowheads="1"/>
          </p:cNvSpPr>
          <p:nvPr/>
        </p:nvSpPr>
        <p:spPr bwMode="auto">
          <a:xfrm>
            <a:off x="983432" y="3933056"/>
            <a:ext cx="7416800" cy="647700"/>
          </a:xfrm>
          <a:prstGeom prst="rect">
            <a:avLst/>
          </a:prstGeom>
          <a:solidFill>
            <a:schemeClr val="tx1"/>
          </a:solidFill>
          <a:ln w="19050">
            <a:solidFill>
              <a:schemeClr val="accent3">
                <a:lumMod val="60000"/>
                <a:lumOff val="40000"/>
              </a:schemeClr>
            </a:solidFill>
          </a:ln>
        </p:spPr>
        <p:txBody>
          <a:bodyPr wrap="square">
            <a:noAutofit/>
          </a:bodyPr>
          <a:lstStyle/>
          <a:p>
            <a:r>
              <a:rPr lang="en-US" altLang="zh-CN" sz="3200" dirty="0">
                <a:solidFill>
                  <a:schemeClr val="bg1"/>
                </a:solidFill>
                <a:latin typeface="宋体" panose="02010600030101010101" pitchFamily="2" charset="-122"/>
                <a:ea typeface="宋体" panose="02010600030101010101" pitchFamily="2" charset="-122"/>
              </a:rPr>
              <a:t>DROP TRIGGER  </a:t>
            </a:r>
            <a:r>
              <a:rPr lang="en-US" altLang="zh-CN" sz="3200" dirty="0" err="1">
                <a:solidFill>
                  <a:schemeClr val="bg1"/>
                </a:solidFill>
                <a:latin typeface="宋体" panose="02010600030101010101" pitchFamily="2" charset="-122"/>
                <a:ea typeface="宋体" panose="02010600030101010101" pitchFamily="2" charset="-122"/>
              </a:rPr>
              <a:t>tr_teacher_insert</a:t>
            </a:r>
            <a:r>
              <a:rPr lang="en-US" altLang="zh-CN" sz="3200" dirty="0">
                <a:solidFill>
                  <a:schemeClr val="bg1"/>
                </a:solidFill>
                <a:latin typeface="宋体" panose="02010600030101010101" pitchFamily="2" charset="-122"/>
                <a:ea typeface="宋体" panose="02010600030101010101" pitchFamily="2" charset="-122"/>
              </a:rPr>
              <a:t>;</a:t>
            </a:r>
            <a:endParaRPr lang="zh-CN" altLang="en-US" sz="3200" dirty="0">
              <a:solidFill>
                <a:schemeClr val="bg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136952796"/>
      </p:ext>
    </p:extLst>
  </p:cSld>
  <p:clrMapOvr>
    <a:masterClrMapping/>
  </p:clrMapOvr>
  <p:transition spd="slow">
    <p:wipe dir="r"/>
    <p:sndAc>
      <p:stSnd>
        <p:snd r:embed="rId2" name="arrow.wav"/>
      </p:stSnd>
    </p:sndAc>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E76535D-1204-408C-A944-91A900F33F4C}"/>
              </a:ext>
            </a:extLst>
          </p:cNvPr>
          <p:cNvSpPr>
            <a:spLocks noGrp="1"/>
          </p:cNvSpPr>
          <p:nvPr>
            <p:ph type="title"/>
          </p:nvPr>
        </p:nvSpPr>
        <p:spPr>
          <a:xfrm>
            <a:off x="3282559" y="3645024"/>
            <a:ext cx="5224836" cy="1458418"/>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eaLnBrk="0" fontAlgn="base" hangingPunct="0">
              <a:spcAft>
                <a:spcPct val="0"/>
              </a:spcAft>
            </a:pPr>
            <a:r>
              <a:rPr lang="zh-CN" altLang="en-US" sz="6000"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游标</a:t>
            </a:r>
          </a:p>
        </p:txBody>
      </p:sp>
      <p:sp>
        <p:nvSpPr>
          <p:cNvPr id="49" name="标题 1">
            <a:extLst>
              <a:ext uri="{FF2B5EF4-FFF2-40B4-BE49-F238E27FC236}">
                <a16:creationId xmlns:a16="http://schemas.microsoft.com/office/drawing/2014/main" id="{F20317A5-217E-4B1F-AC7B-1AA7AAA89A22}"/>
              </a:ext>
            </a:extLst>
          </p:cNvPr>
          <p:cNvSpPr txBox="1">
            <a:spLocks/>
          </p:cNvSpPr>
          <p:nvPr/>
        </p:nvSpPr>
        <p:spPr bwMode="auto">
          <a:xfrm>
            <a:off x="4722719" y="2060848"/>
            <a:ext cx="2458530"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a:t>
            </a:r>
            <a:r>
              <a:rPr kumimoji="0" lang="zh-CN" altLang="en-US" sz="6000" b="1" i="0" u="none" strike="noStrike" kern="10" cap="none" spc="0" normalizeH="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五</a:t>
            </a: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节</a:t>
            </a:r>
          </a:p>
        </p:txBody>
      </p:sp>
      <p:sp>
        <p:nvSpPr>
          <p:cNvPr id="4" name="标题 1">
            <a:extLst>
              <a:ext uri="{FF2B5EF4-FFF2-40B4-BE49-F238E27FC236}">
                <a16:creationId xmlns:a16="http://schemas.microsoft.com/office/drawing/2014/main" id="{F38502DE-1F7D-4D79-953B-2AD8507E9F89}"/>
              </a:ext>
            </a:extLst>
          </p:cNvPr>
          <p:cNvSpPr txBox="1">
            <a:spLocks/>
          </p:cNvSpPr>
          <p:nvPr/>
        </p:nvSpPr>
        <p:spPr bwMode="auto">
          <a:xfrm>
            <a:off x="767408" y="260648"/>
            <a:ext cx="4752529" cy="367122"/>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第五章  数据库中的对象</a:t>
            </a:r>
          </a:p>
        </p:txBody>
      </p:sp>
    </p:spTree>
    <p:extLst>
      <p:ext uri="{BB962C8B-B14F-4D97-AF65-F5344CB8AC3E}">
        <p14:creationId xmlns:p14="http://schemas.microsoft.com/office/powerpoint/2010/main" val="2159093356"/>
      </p:ext>
    </p:extLst>
  </p:cSld>
  <p:clrMapOvr>
    <a:masterClrMapping/>
  </p:clrMapOvr>
  <mc:AlternateContent xmlns:mc="http://schemas.openxmlformats.org/markup-compatibility/2006" xmlns:p14="http://schemas.microsoft.com/office/powerpoint/2010/main">
    <mc:Choice Requires="p14">
      <p:transition spd="slow" p14:dur="1400">
        <p14:doors dir="vert"/>
        <p:sndAc>
          <p:stSnd>
            <p:snd r:embed="rId2" name="arrow.wav"/>
          </p:stSnd>
        </p:sndAc>
      </p:transition>
    </mc:Choice>
    <mc:Fallback xmlns="">
      <p:transition spd="slow">
        <p:fade/>
        <p:sndAc>
          <p:stSnd>
            <p:snd r:embed="rId3" name="arrow.wav"/>
          </p:stSnd>
        </p:sndAc>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127448" y="39757"/>
            <a:ext cx="2269386"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游标概述</a:t>
            </a:r>
            <a:endParaRPr lang="zh-CN" altLang="en-US" sz="4000" b="1" dirty="0">
              <a:solidFill>
                <a:srgbClr val="FFFFCC"/>
              </a:solidFill>
              <a:effectLst>
                <a:outerShdw blurRad="38100" dist="38100" dir="2700000" algn="tl">
                  <a:srgbClr val="000000"/>
                </a:outerShdw>
              </a:effectLst>
              <a:cs typeface="+mn-cs"/>
            </a:endParaRPr>
          </a:p>
        </p:txBody>
      </p:sp>
      <p:sp>
        <p:nvSpPr>
          <p:cNvPr id="5" name="Rectangle 46">
            <a:extLst>
              <a:ext uri="{FF2B5EF4-FFF2-40B4-BE49-F238E27FC236}">
                <a16:creationId xmlns:a16="http://schemas.microsoft.com/office/drawing/2014/main" id="{08E47865-C750-4D7D-A7D0-B0237786E7ED}"/>
              </a:ext>
            </a:extLst>
          </p:cNvPr>
          <p:cNvSpPr txBox="1">
            <a:spLocks noChangeArrowheads="1"/>
          </p:cNvSpPr>
          <p:nvPr/>
        </p:nvSpPr>
        <p:spPr bwMode="auto">
          <a:xfrm>
            <a:off x="695401" y="1052736"/>
            <a:ext cx="10657184" cy="299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0"/>
              </a:spcBef>
              <a:spcAft>
                <a:spcPct val="40000"/>
              </a:spcAft>
              <a:buClr>
                <a:srgbClr val="66FF33"/>
              </a:buClr>
              <a:buSzPct val="85000"/>
              <a:buFont typeface="Wingdings" panose="05000000000000000000" pitchFamily="2" charset="2"/>
              <a:buBlip>
                <a:blip r:embed="rId3"/>
              </a:buBlip>
              <a:defRPr sz="2800" kern="1200">
                <a:solidFill>
                  <a:srgbClr val="CCFFCC"/>
                </a:solidFill>
                <a:effectLst>
                  <a:outerShdw blurRad="38100" dist="38100" dir="2700000" algn="tl">
                    <a:srgbClr val="000000"/>
                  </a:outerShdw>
                </a:effectLst>
                <a:latin typeface="+mn-lt"/>
                <a:ea typeface="+mn-ea"/>
                <a:cs typeface="+mn-cs"/>
              </a:defRPr>
            </a:lvl1pPr>
            <a:lvl2pPr marL="742950" indent="-285750" algn="l" rtl="0" fontAlgn="base">
              <a:spcBef>
                <a:spcPct val="0"/>
              </a:spcBef>
              <a:spcAft>
                <a:spcPct val="50000"/>
              </a:spcAft>
              <a:buClr>
                <a:schemeClr val="accent2"/>
              </a:buClr>
              <a:buSzPct val="50000"/>
              <a:buFont typeface="Wingdings" panose="05000000000000000000" pitchFamily="2" charset="2"/>
              <a:buChar char="l"/>
              <a:defRPr sz="2400" kern="1200">
                <a:solidFill>
                  <a:srgbClr val="CCFFCC"/>
                </a:solidFill>
                <a:effectLst>
                  <a:outerShdw blurRad="38100" dist="38100" dir="2700000" algn="tl">
                    <a:srgbClr val="000000"/>
                  </a:outerShdw>
                </a:effectLst>
                <a:latin typeface="+mn-lt"/>
                <a:ea typeface="+mn-ea"/>
                <a:cs typeface="+mn-cs"/>
              </a:defRPr>
            </a:lvl2pPr>
            <a:lvl3pPr marL="1143000" indent="-228600" algn="l" rtl="0" fontAlgn="base">
              <a:spcBef>
                <a:spcPct val="0"/>
              </a:spcBef>
              <a:spcAft>
                <a:spcPct val="15000"/>
              </a:spcAft>
              <a:buClr>
                <a:schemeClr val="tx2"/>
              </a:buClr>
              <a:buSzPct val="45000"/>
              <a:buFont typeface="Wingdings" panose="05000000000000000000" pitchFamily="2" charset="2"/>
              <a:buChar char="n"/>
              <a:defRPr sz="2000" kern="1200">
                <a:solidFill>
                  <a:srgbClr val="CCFFCC"/>
                </a:solidFill>
                <a:effectLst>
                  <a:outerShdw blurRad="38100" dist="38100" dir="2700000" algn="tl">
                    <a:srgbClr val="000000"/>
                  </a:outerShdw>
                </a:effectLst>
                <a:latin typeface="+mn-lt"/>
                <a:ea typeface="+mn-ea"/>
                <a:cs typeface="+mn-cs"/>
              </a:defRPr>
            </a:lvl3pPr>
            <a:lvl4pPr marL="1600200" indent="-228600" algn="l" rtl="0" fontAlgn="base">
              <a:spcBef>
                <a:spcPct val="0"/>
              </a:spcBef>
              <a:spcAft>
                <a:spcPct val="15000"/>
              </a:spcAft>
              <a:buClr>
                <a:schemeClr val="accent2"/>
              </a:buClr>
              <a:buSzPct val="70000"/>
              <a:buFont typeface="Wingdings" panose="05000000000000000000" pitchFamily="2" charset="2"/>
              <a:buChar char="n"/>
              <a:defRPr kern="1200">
                <a:solidFill>
                  <a:srgbClr val="CCFFCC"/>
                </a:solidFill>
                <a:effectLst>
                  <a:outerShdw blurRad="38100" dist="38100" dir="2700000" algn="tl">
                    <a:srgbClr val="000000"/>
                  </a:outerShdw>
                </a:effectLst>
                <a:latin typeface="+mn-lt"/>
                <a:ea typeface="+mn-ea"/>
                <a:cs typeface="+mn-cs"/>
              </a:defRPr>
            </a:lvl4pPr>
            <a:lvl5pPr marL="2057400" indent="-228600" algn="l" rtl="0" fontAlgn="base">
              <a:spcBef>
                <a:spcPct val="0"/>
              </a:spcBef>
              <a:spcAft>
                <a:spcPct val="15000"/>
              </a:spcAft>
              <a:buClr>
                <a:schemeClr val="hlink"/>
              </a:buClr>
              <a:buSzPct val="70000"/>
              <a:buFont typeface="Wingdings" panose="05000000000000000000" pitchFamily="2" charset="2"/>
              <a:buChar char="n"/>
              <a:defRPr kern="1200">
                <a:solidFill>
                  <a:srgbClr val="CCFFCC"/>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Blip>
                <a:blip r:embed="rId3"/>
              </a:buBlip>
              <a:tabLst/>
              <a:defRPr/>
            </a:pPr>
            <a:r>
              <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关系数据库默认使用</a:t>
            </a:r>
            <a:r>
              <a:rPr kumimoji="0" lang="zh-CN" altLang="en-US"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Arial Narrow" panose="020B0606020202030204" pitchFamily="34" charset="0"/>
                <a:ea typeface="楷体_GB2312"/>
              </a:rPr>
              <a:t>一次一集合</a:t>
            </a:r>
            <a:r>
              <a:rPr kumimoji="0" lang="en-US" altLang="zh-CN"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Arial Narrow" panose="020B0606020202030204" pitchFamily="34" charset="0"/>
                <a:ea typeface="楷体_GB2312"/>
              </a:rPr>
              <a:t>(</a:t>
            </a:r>
            <a:r>
              <a:rPr kumimoji="0" lang="zh-CN" altLang="en-US"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Arial Narrow" panose="020B0606020202030204" pitchFamily="34" charset="0"/>
                <a:ea typeface="楷体_GB2312"/>
              </a:rPr>
              <a:t>表</a:t>
            </a:r>
            <a:r>
              <a:rPr kumimoji="0" lang="en-US" altLang="zh-CN" b="0" i="0" u="none" strike="noStrike" kern="1200" cap="none" spc="0" normalizeH="0" baseline="0" noProof="0" dirty="0">
                <a:ln>
                  <a:noFill/>
                </a:ln>
                <a:solidFill>
                  <a:srgbClr val="66FFFF"/>
                </a:solidFill>
                <a:effectLst>
                  <a:outerShdw blurRad="38100" dist="38100" dir="2700000" algn="tl">
                    <a:srgbClr val="000000"/>
                  </a:outerShdw>
                </a:effectLst>
                <a:uLnTx/>
                <a:uFillTx/>
                <a:latin typeface="Arial Narrow" panose="020B0606020202030204" pitchFamily="34" charset="0"/>
                <a:ea typeface="楷体_GB2312"/>
              </a:rPr>
              <a:t>)</a:t>
            </a:r>
            <a:r>
              <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的操作方式。</a:t>
            </a:r>
          </a:p>
          <a:p>
            <a:pPr marL="342900" marR="0" lvl="0" indent="-342900" algn="l"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Blip>
                <a:blip r:embed="rId3"/>
              </a:buBlip>
              <a:tabLst/>
              <a:defRPr/>
            </a:pPr>
            <a:r>
              <a:rPr kumimoji="0" lang="zh-CN" altLang="en-US" b="0" i="0" u="none" strike="noStrike" kern="1200" cap="none" spc="0" normalizeH="0" baseline="0" noProof="0" dirty="0">
                <a:ln>
                  <a:noFill/>
                </a:ln>
                <a:solidFill>
                  <a:srgbClr val="FFCC00"/>
                </a:solidFill>
                <a:effectLst>
                  <a:outerShdw blurRad="38100" dist="38100" dir="2700000" algn="tl">
                    <a:srgbClr val="000000"/>
                  </a:outerShdw>
                </a:effectLst>
                <a:uLnTx/>
                <a:uFillTx/>
                <a:latin typeface="Arial Narrow" panose="020B0606020202030204" pitchFamily="34" charset="0"/>
                <a:ea typeface="楷体_GB2312"/>
              </a:rPr>
              <a:t>游标机制</a:t>
            </a:r>
            <a:r>
              <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用于以</a:t>
            </a:r>
            <a:r>
              <a:rPr kumimoji="0" lang="zh-CN" altLang="en-US"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Narrow" panose="020B0606020202030204" pitchFamily="34" charset="0"/>
                <a:ea typeface="楷体_GB2312"/>
              </a:rPr>
              <a:t>一次一记录</a:t>
            </a:r>
            <a:r>
              <a:rPr kumimoji="0" lang="en-US" altLang="zh-CN"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Narrow" panose="020B0606020202030204" pitchFamily="34" charset="0"/>
                <a:ea typeface="楷体_GB2312"/>
              </a:rPr>
              <a:t>(</a:t>
            </a:r>
            <a:r>
              <a:rPr kumimoji="0" lang="zh-CN" altLang="en-US"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Narrow" panose="020B0606020202030204" pitchFamily="34" charset="0"/>
                <a:ea typeface="楷体_GB2312"/>
              </a:rPr>
              <a:t>行</a:t>
            </a:r>
            <a:r>
              <a:rPr kumimoji="0" lang="en-US" altLang="zh-CN" b="0" i="0" u="none" strike="noStrike" kern="1200" cap="none" spc="0" normalizeH="0" baseline="0" noProof="0" dirty="0">
                <a:ln>
                  <a:noFill/>
                </a:ln>
                <a:solidFill>
                  <a:srgbClr val="FFFF00"/>
                </a:solidFill>
                <a:effectLst>
                  <a:outerShdw blurRad="38100" dist="38100" dir="2700000" algn="tl">
                    <a:srgbClr val="000000"/>
                  </a:outerShdw>
                </a:effectLst>
                <a:uLnTx/>
                <a:uFillTx/>
                <a:latin typeface="Arial Narrow" panose="020B0606020202030204" pitchFamily="34" charset="0"/>
                <a:ea typeface="楷体_GB2312"/>
              </a:rPr>
              <a:t>)</a:t>
            </a:r>
            <a:r>
              <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的方式操作数据库。</a:t>
            </a:r>
          </a:p>
          <a:p>
            <a:pPr lvl="0">
              <a:defRPr/>
            </a:pPr>
            <a:r>
              <a:rPr kumimoji="0" lang="zh-CN" altLang="en-US" b="0" i="0" u="none" strike="noStrike" kern="1200" cap="none" spc="0" normalizeH="0" baseline="0" noProof="0" dirty="0">
                <a:ln>
                  <a:noFill/>
                </a:ln>
                <a:solidFill>
                  <a:srgbClr val="FF9900"/>
                </a:solidFill>
                <a:effectLst>
                  <a:outerShdw blurRad="38100" dist="38100" dir="2700000" algn="tl">
                    <a:srgbClr val="000000"/>
                  </a:outerShdw>
                </a:effectLst>
                <a:uLnTx/>
                <a:uFillTx/>
                <a:latin typeface="Arial Narrow" panose="020B0606020202030204" pitchFamily="34" charset="0"/>
                <a:ea typeface="楷体_GB2312"/>
              </a:rPr>
              <a:t>游标</a:t>
            </a:r>
            <a:r>
              <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由一条</a:t>
            </a:r>
            <a:r>
              <a:rPr kumimoji="0" lang="en-US" altLang="zh-CN"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SELECT</a:t>
            </a:r>
            <a:r>
              <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语句的结果集和指向结果集中特定记录的游标位置</a:t>
            </a:r>
            <a:r>
              <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Times New Roman"/>
                <a:ea typeface="楷体_GB2312"/>
              </a:rPr>
              <a:t>（</a:t>
            </a:r>
            <a:r>
              <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记录指针）</a:t>
            </a:r>
            <a:r>
              <a:rPr kumimoji="0" lang="zh-CN" altLang="en-US" b="0" i="0" u="none" strike="noStrike" kern="1200" cap="none" spc="0" normalizeH="0" baseline="0" noProof="0" dirty="0" smtClean="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组成</a:t>
            </a:r>
            <a:r>
              <a:rPr lang="en-US" altLang="zh-CN" dirty="0" smtClean="0">
                <a:latin typeface="Arial Narrow" panose="020B0606020202030204" pitchFamily="34" charset="0"/>
                <a:ea typeface="楷体_GB2312"/>
              </a:rPr>
              <a:t>,</a:t>
            </a:r>
            <a:r>
              <a:rPr lang="zh-CN" altLang="en-US" dirty="0" smtClean="0">
                <a:latin typeface="Arial Narrow" panose="020B0606020202030204" pitchFamily="34" charset="0"/>
                <a:ea typeface="楷体_GB2312"/>
              </a:rPr>
              <a:t>并</a:t>
            </a:r>
            <a:r>
              <a:rPr lang="zh-CN" altLang="en-US" dirty="0">
                <a:latin typeface="Arial Narrow" panose="020B0606020202030204" pitchFamily="34" charset="0"/>
                <a:ea typeface="楷体_GB2312"/>
              </a:rPr>
              <a:t>定义了一个指向一条记录的指针来指示游标中的当前记录位置。这样</a:t>
            </a:r>
            <a:r>
              <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rPr>
              <a:t>应用程序就可以逐记录地对游标进行相同或不同的操作而不是一次对整个游标进行同一种操作</a:t>
            </a:r>
            <a:r>
              <a:rPr lang="zh-CN" altLang="en-US" dirty="0">
                <a:latin typeface="Arial Narrow" panose="020B0606020202030204" pitchFamily="34" charset="0"/>
                <a:ea typeface="楷体_GB2312"/>
              </a:rPr>
              <a:t>。通过移动指针就可以变换当前要处理的记录。</a:t>
            </a:r>
            <a:endParaRPr kumimoji="0" lang="zh-CN" altLang="en-US" b="0" i="0" u="none" strike="noStrike" kern="1200" cap="none" spc="0" normalizeH="0" baseline="0" noProof="0" dirty="0">
              <a:ln>
                <a:noFill/>
              </a:ln>
              <a:solidFill>
                <a:srgbClr val="CCFFCC"/>
              </a:solidFill>
              <a:effectLst>
                <a:outerShdw blurRad="38100" dist="38100" dir="2700000" algn="tl">
                  <a:srgbClr val="000000"/>
                </a:outerShdw>
              </a:effectLst>
              <a:uLnTx/>
              <a:uFillTx/>
              <a:latin typeface="Arial Narrow" panose="020B0606020202030204" pitchFamily="34" charset="0"/>
              <a:ea typeface="楷体_GB2312"/>
            </a:endParaRPr>
          </a:p>
        </p:txBody>
      </p:sp>
      <p:sp>
        <p:nvSpPr>
          <p:cNvPr id="14" name="Rectangle 45">
            <a:extLst>
              <a:ext uri="{FF2B5EF4-FFF2-40B4-BE49-F238E27FC236}">
                <a16:creationId xmlns:a16="http://schemas.microsoft.com/office/drawing/2014/main" id="{F5E06A1B-F46D-4931-880B-F9ACC92E4567}"/>
              </a:ext>
            </a:extLst>
          </p:cNvPr>
          <p:cNvSpPr>
            <a:spLocks noChangeArrowheads="1"/>
          </p:cNvSpPr>
          <p:nvPr/>
        </p:nvSpPr>
        <p:spPr bwMode="auto">
          <a:xfrm>
            <a:off x="3503712" y="4725144"/>
            <a:ext cx="3671888" cy="1871662"/>
          </a:xfrm>
          <a:prstGeom prst="rect">
            <a:avLst/>
          </a:prstGeom>
          <a:solidFill>
            <a:srgbClr val="003399"/>
          </a:solidFill>
          <a:ln w="28575" cap="sq" algn="ctr">
            <a:solidFill>
              <a:srgbClr val="99FF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FFFFFF"/>
              </a:solidFill>
              <a:effectLst/>
              <a:uLnTx/>
              <a:uFillTx/>
              <a:latin typeface="Arial" panose="020B0604020202020204" pitchFamily="34" charset="0"/>
              <a:ea typeface="楷体_GB2312" pitchFamily="49" charset="-122"/>
            </a:endParaRPr>
          </a:p>
        </p:txBody>
      </p:sp>
      <p:graphicFrame>
        <p:nvGraphicFramePr>
          <p:cNvPr id="15" name="Group 47">
            <a:extLst>
              <a:ext uri="{FF2B5EF4-FFF2-40B4-BE49-F238E27FC236}">
                <a16:creationId xmlns:a16="http://schemas.microsoft.com/office/drawing/2014/main" id="{2A0554FB-283A-4B32-BBFA-479CB4FB411C}"/>
              </a:ext>
            </a:extLst>
          </p:cNvPr>
          <p:cNvGraphicFramePr>
            <a:graphicFrameLocks noGrp="1"/>
          </p:cNvGraphicFramePr>
          <p:nvPr/>
        </p:nvGraphicFramePr>
        <p:xfrm>
          <a:off x="4799112" y="4898181"/>
          <a:ext cx="1943100" cy="1371600"/>
        </p:xfrm>
        <a:graphic>
          <a:graphicData uri="http://schemas.openxmlformats.org/drawingml/2006/table">
            <a:tbl>
              <a:tblPr/>
              <a:tblGrid>
                <a:gridCol w="800100">
                  <a:extLst>
                    <a:ext uri="{9D8B030D-6E8A-4147-A177-3AD203B41FA5}">
                      <a16:colId xmlns:a16="http://schemas.microsoft.com/office/drawing/2014/main" val="423442253"/>
                    </a:ext>
                  </a:extLst>
                </a:gridCol>
                <a:gridCol w="600075">
                  <a:extLst>
                    <a:ext uri="{9D8B030D-6E8A-4147-A177-3AD203B41FA5}">
                      <a16:colId xmlns:a16="http://schemas.microsoft.com/office/drawing/2014/main" val="3650418037"/>
                    </a:ext>
                  </a:extLst>
                </a:gridCol>
                <a:gridCol w="542925">
                  <a:extLst>
                    <a:ext uri="{9D8B030D-6E8A-4147-A177-3AD203B41FA5}">
                      <a16:colId xmlns:a16="http://schemas.microsoft.com/office/drawing/2014/main" val="519090760"/>
                    </a:ext>
                  </a:extLst>
                </a:gridCol>
              </a:tblGrid>
              <a:tr h="109538">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en-US" altLang="zh-CN" sz="1800" b="1"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Sname</a:t>
                      </a:r>
                    </a:p>
                  </a:txBody>
                  <a:tcPr marL="0" marR="0" marT="0" marB="0" horzOverflow="overflow">
                    <a:lnL cap="flat">
                      <a:noFill/>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en-US" altLang="zh-CN" sz="1800" b="1"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Ssex</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en-US" altLang="zh-CN" sz="1800" b="1"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Sage</a:t>
                      </a:r>
                    </a:p>
                  </a:txBody>
                  <a:tcPr marL="0" marR="0" marT="0" marB="0" horzOverflow="overflow">
                    <a:lnL w="12700" cap="flat" cmpd="sng" algn="ctr">
                      <a:solidFill>
                        <a:srgbClr val="FFFFFF"/>
                      </a:solidFill>
                      <a:prstDash val="solid"/>
                      <a:round/>
                      <a:headEnd type="none" w="med" len="med"/>
                      <a:tailEnd type="none" w="med" len="med"/>
                    </a:lnL>
                    <a:lnR cap="flat">
                      <a:noFill/>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0734343"/>
                  </a:ext>
                </a:extLst>
              </a:tr>
              <a:tr h="198438">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张三</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男</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20</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31249878"/>
                  </a:ext>
                </a:extLst>
              </a:tr>
              <a:tr h="109538">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李四</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18</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96518469"/>
                  </a:ext>
                </a:extLst>
              </a:tr>
              <a:tr h="107950">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王五</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女</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17</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1550046"/>
                  </a:ext>
                </a:extLst>
              </a:tr>
              <a:tr h="109538">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a:t>
                      </a:r>
                    </a:p>
                  </a:txBody>
                  <a:tcPr marL="0" marR="0" marT="0" marB="0" horzOverflow="overflow">
                    <a:lnL cap="flat">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zh-CN" altLang="en-US"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a:t>
                      </a:r>
                    </a:p>
                  </a:txBody>
                  <a:tcPr marL="0" marR="0" marT="0" marB="0"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Aft>
                          <a:spcPct val="40000"/>
                        </a:spcAft>
                        <a:buClr>
                          <a:srgbClr val="66FF33"/>
                        </a:buClr>
                        <a:buSzPct val="85000"/>
                        <a:buFont typeface="Wingdings" panose="05000000000000000000" pitchFamily="2" charset="2"/>
                        <a:defRPr sz="24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1pPr>
                      <a:lvl2pPr marL="457200" algn="l" defTabSz="914400" rtl="0" eaLnBrk="1" latinLnBrk="0" hangingPunct="1">
                        <a:spcAft>
                          <a:spcPct val="50000"/>
                        </a:spcAft>
                        <a:buClr>
                          <a:schemeClr val="accent2"/>
                        </a:buClr>
                        <a:buSzPct val="50000"/>
                        <a:buFont typeface="Wingdings" panose="05000000000000000000" pitchFamily="2" charset="2"/>
                        <a:defRPr sz="20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2pPr>
                      <a:lvl3pPr marL="914400" algn="l" defTabSz="914400" rtl="0" eaLnBrk="1" latinLnBrk="0" hangingPunct="1">
                        <a:spcAft>
                          <a:spcPct val="15000"/>
                        </a:spcAft>
                        <a:buClr>
                          <a:schemeClr val="tx2"/>
                        </a:buClr>
                        <a:buSzPct val="45000"/>
                        <a:buFont typeface="Wingdings" panose="05000000000000000000" pitchFamily="2" charset="2"/>
                        <a:defRPr sz="18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3pPr>
                      <a:lvl4pPr marL="1371600" algn="l" defTabSz="914400" rtl="0" eaLnBrk="1" latinLnBrk="0" hangingPunct="1">
                        <a:spcAft>
                          <a:spcPct val="15000"/>
                        </a:spcAft>
                        <a:buClr>
                          <a:schemeClr val="accent2"/>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4pPr>
                      <a:lvl5pPr marL="1828800" algn="l" defTabSz="914400" rtl="0" eaLnBrk="1" latinLnBrk="0" hangingPunct="1">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5pPr>
                      <a:lvl6pPr marL="22860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6pPr>
                      <a:lvl7pPr marL="27432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7pPr>
                      <a:lvl8pPr marL="32004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8pPr>
                      <a:lvl9pPr marL="3657600" algn="l" defTabSz="914400" rtl="0" eaLnBrk="1" fontAlgn="base" latinLnBrk="0" hangingPunct="1">
                        <a:spcBef>
                          <a:spcPct val="0"/>
                        </a:spcBef>
                        <a:spcAft>
                          <a:spcPct val="15000"/>
                        </a:spcAft>
                        <a:buClr>
                          <a:schemeClr val="hlink"/>
                        </a:buClr>
                        <a:buSzPct val="70000"/>
                        <a:buFont typeface="Wingdings" panose="05000000000000000000" pitchFamily="2" charset="2"/>
                        <a:defRPr sz="1600" kern="1200">
                          <a:solidFill>
                            <a:srgbClr val="CCFFCC"/>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anose="05000000000000000000" pitchFamily="2" charset="2"/>
                        <a:buNone/>
                        <a:tabLst/>
                      </a:pPr>
                      <a:r>
                        <a:rPr kumimoji="0" lang="en-US" altLang="zh-CN" sz="1800" b="0" i="0" u="none" strike="noStrike" cap="none" normalizeH="0" baseline="0">
                          <a:ln>
                            <a:noFill/>
                          </a:ln>
                          <a:solidFill>
                            <a:srgbClr val="CCFFCC"/>
                          </a:solidFill>
                          <a:effectLst>
                            <a:outerShdw blurRad="38100" dist="38100" dir="2700000" algn="tl">
                              <a:srgbClr val="000000"/>
                            </a:outerShdw>
                          </a:effectLst>
                          <a:latin typeface="Times New Roman" panose="02020603050405020304" pitchFamily="18" charset="0"/>
                          <a:ea typeface="楷体_GB2312" pitchFamily="49" charset="-122"/>
                        </a:rPr>
                        <a:t>┆</a:t>
                      </a:r>
                    </a:p>
                  </a:txBody>
                  <a:tcPr marL="0" marR="0" marT="0" marB="0" horzOverflow="overflow">
                    <a:lnL w="12700" cap="flat" cmpd="sng" algn="ctr">
                      <a:solidFill>
                        <a:srgbClr val="FFFFFF"/>
                      </a:solidFill>
                      <a:prstDash val="solid"/>
                      <a:round/>
                      <a:headEnd type="none" w="med" len="med"/>
                      <a:tailEnd type="none" w="med" len="med"/>
                    </a:lnL>
                    <a:lnR cap="flat">
                      <a:noFill/>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46507091"/>
                  </a:ext>
                </a:extLst>
              </a:tr>
            </a:tbl>
          </a:graphicData>
        </a:graphic>
      </p:graphicFrame>
      <p:sp>
        <p:nvSpPr>
          <p:cNvPr id="16" name="Line 79">
            <a:extLst>
              <a:ext uri="{FF2B5EF4-FFF2-40B4-BE49-F238E27FC236}">
                <a16:creationId xmlns:a16="http://schemas.microsoft.com/office/drawing/2014/main" id="{B0E2221D-9E4B-4F93-ACDE-3872725062C4}"/>
              </a:ext>
            </a:extLst>
          </p:cNvPr>
          <p:cNvSpPr>
            <a:spLocks noChangeShapeType="1"/>
          </p:cNvSpPr>
          <p:nvPr/>
        </p:nvSpPr>
        <p:spPr bwMode="auto">
          <a:xfrm>
            <a:off x="4295875" y="5372844"/>
            <a:ext cx="360362" cy="0"/>
          </a:xfrm>
          <a:prstGeom prst="line">
            <a:avLst/>
          </a:prstGeom>
          <a:noFill/>
          <a:ln w="38100" cap="sq">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72000" rIns="72000" bIns="72000" anchor="ctr"/>
          <a:lstStyle/>
          <a:p>
            <a:pPr algn="ctr" fontAlgn="base">
              <a:spcBef>
                <a:spcPct val="0"/>
              </a:spcBef>
              <a:spcAft>
                <a:spcPct val="0"/>
              </a:spcAft>
            </a:pPr>
            <a:endParaRPr lang="zh-CN" altLang="en-US" sz="2400">
              <a:solidFill>
                <a:srgbClr val="FFFFFF"/>
              </a:solidFill>
              <a:latin typeface="Arial" panose="020B0604020202020204" pitchFamily="34" charset="0"/>
              <a:ea typeface="楷体_GB2312" pitchFamily="49" charset="-122"/>
            </a:endParaRPr>
          </a:p>
        </p:txBody>
      </p:sp>
      <p:sp>
        <p:nvSpPr>
          <p:cNvPr id="17" name="AutoShape 80">
            <a:extLst>
              <a:ext uri="{FF2B5EF4-FFF2-40B4-BE49-F238E27FC236}">
                <a16:creationId xmlns:a16="http://schemas.microsoft.com/office/drawing/2014/main" id="{AA6C1736-AFD4-4218-88B4-01C3673D96A7}"/>
              </a:ext>
            </a:extLst>
          </p:cNvPr>
          <p:cNvSpPr>
            <a:spLocks noChangeArrowheads="1"/>
          </p:cNvSpPr>
          <p:nvPr/>
        </p:nvSpPr>
        <p:spPr bwMode="auto">
          <a:xfrm>
            <a:off x="8039200" y="5014069"/>
            <a:ext cx="1873250" cy="1295400"/>
          </a:xfrm>
          <a:prstGeom prst="wedgeRoundRectCallout">
            <a:avLst>
              <a:gd name="adj1" fmla="val -113222"/>
              <a:gd name="adj2" fmla="val -41912"/>
              <a:gd name="adj3" fmla="val 16667"/>
            </a:avLst>
          </a:prstGeom>
          <a:solidFill>
            <a:srgbClr val="3333FF"/>
          </a:solidFill>
          <a:ln w="28575" cap="sq" algn="ctr">
            <a:solidFill>
              <a:srgbClr val="FFCC00"/>
            </a:solidFill>
            <a:miter lim="800000"/>
            <a:headEnd/>
            <a:tailEnd/>
          </a:ln>
          <a:effectLst>
            <a:outerShdw dist="53882" dir="2700000" algn="ctr" rotWithShape="0">
              <a:srgbClr val="000514">
                <a:alpha val="50000"/>
              </a:srgbClr>
            </a:outerShdw>
          </a:effectLst>
        </p:spPr>
        <p:txBody>
          <a:bodyPr lIns="0" tIns="0" rIns="0" bIns="0"/>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a:ln>
                  <a:noFill/>
                </a:ln>
                <a:solidFill>
                  <a:srgbClr val="FFFF00"/>
                </a:solidFill>
                <a:effectLst>
                  <a:outerShdw blurRad="38100" dist="38100" dir="2700000" algn="tl">
                    <a:srgbClr val="000000"/>
                  </a:outerShdw>
                </a:effectLst>
                <a:uLnTx/>
                <a:uFillTx/>
                <a:latin typeface="Arial Narrow" panose="020B0606020202030204" pitchFamily="34" charset="0"/>
                <a:ea typeface="楷体_GB2312" pitchFamily="49" charset="-122"/>
              </a:rPr>
              <a:t>游标关联的</a:t>
            </a:r>
            <a:r>
              <a:rPr kumimoji="1" lang="en-US" altLang="zh-CN" sz="2400" b="0" i="0" u="none" strike="noStrike" kern="0" cap="none" spc="0" normalizeH="0" baseline="0" noProof="0">
                <a:ln>
                  <a:noFill/>
                </a:ln>
                <a:solidFill>
                  <a:srgbClr val="FFFF00"/>
                </a:solidFill>
                <a:effectLst>
                  <a:outerShdw blurRad="38100" dist="38100" dir="2700000" algn="tl">
                    <a:srgbClr val="000000"/>
                  </a:outerShdw>
                </a:effectLst>
                <a:uLnTx/>
                <a:uFillTx/>
                <a:latin typeface="Arial Narrow" panose="020B0606020202030204" pitchFamily="34" charset="0"/>
                <a:ea typeface="楷体_GB2312" pitchFamily="49" charset="-122"/>
              </a:rPr>
              <a:t>SELECT</a:t>
            </a:r>
            <a:r>
              <a:rPr kumimoji="1" lang="zh-CN" altLang="en-US" sz="2400" b="0" i="0" u="none" strike="noStrike" kern="0" cap="none" spc="0" normalizeH="0" baseline="0" noProof="0">
                <a:ln>
                  <a:noFill/>
                </a:ln>
                <a:solidFill>
                  <a:srgbClr val="FFFF00"/>
                </a:solidFill>
                <a:effectLst>
                  <a:outerShdw blurRad="38100" dist="38100" dir="2700000" algn="tl">
                    <a:srgbClr val="000000"/>
                  </a:outerShdw>
                </a:effectLst>
                <a:uLnTx/>
                <a:uFillTx/>
                <a:latin typeface="Arial Narrow" panose="020B0606020202030204" pitchFamily="34" charset="0"/>
                <a:ea typeface="楷体_GB2312" pitchFamily="49" charset="-122"/>
              </a:rPr>
              <a:t>语句的结果集</a:t>
            </a:r>
          </a:p>
        </p:txBody>
      </p:sp>
      <p:sp>
        <p:nvSpPr>
          <p:cNvPr id="18" name="AutoShape 81">
            <a:extLst>
              <a:ext uri="{FF2B5EF4-FFF2-40B4-BE49-F238E27FC236}">
                <a16:creationId xmlns:a16="http://schemas.microsoft.com/office/drawing/2014/main" id="{24FB2800-BF36-43C6-B09C-64A19765A788}"/>
              </a:ext>
            </a:extLst>
          </p:cNvPr>
          <p:cNvSpPr>
            <a:spLocks noChangeArrowheads="1"/>
          </p:cNvSpPr>
          <p:nvPr/>
        </p:nvSpPr>
        <p:spPr bwMode="auto">
          <a:xfrm>
            <a:off x="1847528" y="5575130"/>
            <a:ext cx="918644" cy="863600"/>
          </a:xfrm>
          <a:prstGeom prst="wedgeRoundRectCallout">
            <a:avLst>
              <a:gd name="adj1" fmla="val 171971"/>
              <a:gd name="adj2" fmla="val -61726"/>
              <a:gd name="adj3" fmla="val 16667"/>
            </a:avLst>
          </a:prstGeom>
          <a:solidFill>
            <a:srgbClr val="3333FF"/>
          </a:solidFill>
          <a:ln w="28575" cap="sq" algn="ctr">
            <a:solidFill>
              <a:srgbClr val="FFCC00"/>
            </a:solidFill>
            <a:miter lim="800000"/>
            <a:headEnd/>
            <a:tailEnd/>
          </a:ln>
          <a:effectLst>
            <a:outerShdw dist="53882" dir="2700000" algn="ctr" rotWithShape="0">
              <a:srgbClr val="000514">
                <a:alpha val="50000"/>
              </a:srgbClr>
            </a:outerShdw>
          </a:effectLst>
        </p:spPr>
        <p:txBody>
          <a:bodyPr lIns="0" tIns="0" rIns="0" bIns="0"/>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0" i="0" u="none" strike="noStrike" kern="0" cap="none" spc="0" normalizeH="0" baseline="0" noProof="0">
                <a:ln>
                  <a:noFill/>
                </a:ln>
                <a:solidFill>
                  <a:srgbClr val="FFFF00"/>
                </a:solidFill>
                <a:effectLst>
                  <a:outerShdw blurRad="38100" dist="38100" dir="2700000" algn="tl">
                    <a:srgbClr val="000000"/>
                  </a:outerShdw>
                </a:effectLst>
                <a:uLnTx/>
                <a:uFillTx/>
                <a:latin typeface="Arial Narrow" panose="020B0606020202030204" pitchFamily="34" charset="0"/>
                <a:ea typeface="楷体_GB2312" pitchFamily="49" charset="-122"/>
              </a:rPr>
              <a:t>记录指针</a:t>
            </a:r>
          </a:p>
        </p:txBody>
      </p:sp>
      <p:sp>
        <p:nvSpPr>
          <p:cNvPr id="19" name="Rectangle 82">
            <a:extLst>
              <a:ext uri="{FF2B5EF4-FFF2-40B4-BE49-F238E27FC236}">
                <a16:creationId xmlns:a16="http://schemas.microsoft.com/office/drawing/2014/main" id="{2BE17D91-0343-4865-8B5E-A15DC3070F25}"/>
              </a:ext>
            </a:extLst>
          </p:cNvPr>
          <p:cNvSpPr>
            <a:spLocks noChangeArrowheads="1"/>
          </p:cNvSpPr>
          <p:nvPr/>
        </p:nvSpPr>
        <p:spPr bwMode="auto">
          <a:xfrm>
            <a:off x="3503712" y="4707681"/>
            <a:ext cx="1117600" cy="3349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kumimoji="1" lang="zh-CN" altLang="en-US" sz="2200">
                <a:solidFill>
                  <a:srgbClr val="FFCC00"/>
                </a:solidFill>
                <a:effectLst>
                  <a:outerShdw blurRad="38100" dist="38100" dir="2700000" algn="tl">
                    <a:srgbClr val="000000"/>
                  </a:outerShdw>
                </a:effectLst>
                <a:latin typeface="Times New Roman" panose="02020603050405020304" pitchFamily="18" charset="0"/>
                <a:ea typeface="楷体_GB2312" pitchFamily="49" charset="-122"/>
              </a:rPr>
              <a:t>一个游标</a:t>
            </a:r>
          </a:p>
        </p:txBody>
      </p:sp>
    </p:spTree>
    <p:extLst>
      <p:ext uri="{BB962C8B-B14F-4D97-AF65-F5344CB8AC3E}">
        <p14:creationId xmlns:p14="http://schemas.microsoft.com/office/powerpoint/2010/main" val="1658159585"/>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sndAc>
          <p:stSnd>
            <p:snd r:embed="rId4" name="arrow.wav"/>
          </p:stSnd>
        </p:sndAc>
      </p:transition>
    </mc:Choice>
    <mc:Fallback>
      <p:transition spd="slow">
        <p:fade/>
        <p:sndAc>
          <p:stSnd>
            <p:snd r:embed="rId2" name="arrow.wav"/>
          </p:stSnd>
        </p:sndAc>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1127448" y="39757"/>
            <a:ext cx="4762055" cy="760959"/>
          </a:xfrm>
          <a:prstGeom prst="rect">
            <a:avLst/>
          </a:prstGeo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algn="l">
              <a:spcBef>
                <a:spcPts val="0"/>
              </a:spcBef>
              <a:defRPr/>
            </a:pPr>
            <a:r>
              <a:rPr lang="zh-CN" altLang="en-US" dirty="0">
                <a:solidFill>
                  <a:srgbClr val="FFFFCC"/>
                </a:solidFill>
                <a:effectLst>
                  <a:outerShdw blurRad="38100" dist="38100" dir="2700000" algn="tl">
                    <a:srgbClr val="000000"/>
                  </a:outerShdw>
                </a:effectLst>
              </a:rPr>
              <a:t>使用游标的一般流程</a:t>
            </a:r>
            <a:endParaRPr lang="zh-CN" altLang="en-US" sz="4000" b="1" dirty="0">
              <a:solidFill>
                <a:srgbClr val="FFFFCC"/>
              </a:solidFill>
              <a:effectLst>
                <a:outerShdw blurRad="38100" dist="38100" dir="2700000" algn="tl">
                  <a:srgbClr val="000000"/>
                </a:outerShdw>
              </a:effectLst>
              <a:cs typeface="+mn-cs"/>
            </a:endParaRPr>
          </a:p>
        </p:txBody>
      </p:sp>
      <p:grpSp>
        <p:nvGrpSpPr>
          <p:cNvPr id="2" name="组合 1">
            <a:extLst>
              <a:ext uri="{FF2B5EF4-FFF2-40B4-BE49-F238E27FC236}">
                <a16:creationId xmlns:a16="http://schemas.microsoft.com/office/drawing/2014/main" id="{AA3A0FF1-E917-4BC1-ACA1-AF1A0D60E07D}"/>
              </a:ext>
            </a:extLst>
          </p:cNvPr>
          <p:cNvGrpSpPr/>
          <p:nvPr/>
        </p:nvGrpSpPr>
        <p:grpSpPr>
          <a:xfrm>
            <a:off x="1699928" y="1325378"/>
            <a:ext cx="8792144" cy="4798489"/>
            <a:chOff x="2326925" y="1477351"/>
            <a:chExt cx="3637664" cy="4798489"/>
          </a:xfrm>
        </p:grpSpPr>
        <p:sp>
          <p:nvSpPr>
            <p:cNvPr id="25" name="Text Box 46">
              <a:extLst>
                <a:ext uri="{FF2B5EF4-FFF2-40B4-BE49-F238E27FC236}">
                  <a16:creationId xmlns:a16="http://schemas.microsoft.com/office/drawing/2014/main" id="{7B6DD6AA-926A-4188-BE89-7C6D85F49BE5}"/>
                </a:ext>
              </a:extLst>
            </p:cNvPr>
            <p:cNvSpPr txBox="1">
              <a:spLocks noChangeArrowheads="1"/>
            </p:cNvSpPr>
            <p:nvPr/>
          </p:nvSpPr>
          <p:spPr bwMode="auto">
            <a:xfrm>
              <a:off x="2326925" y="1477351"/>
              <a:ext cx="3637664" cy="626701"/>
            </a:xfrm>
            <a:prstGeom prst="rect">
              <a:avLst/>
            </a:prstGeom>
            <a:solidFill>
              <a:schemeClr val="accent5">
                <a:lumMod val="50000"/>
              </a:schemeClr>
            </a:solidFill>
            <a:ln w="28575" cap="sq" algn="ctr">
              <a:solidFill>
                <a:srgbClr val="FFFFFF"/>
              </a:solidFill>
              <a:miter lim="800000"/>
              <a:headEnd/>
              <a:tailEnd/>
            </a:ln>
            <a:effectLst>
              <a:outerShdw dist="35921" dir="2700000" algn="ctr" rotWithShape="0">
                <a:srgbClr val="000514"/>
              </a:outerShdw>
            </a:effectLst>
          </p:spPr>
          <p:txBody>
            <a:bodyPr wrap="none" lIns="72000" tIns="36000" rIns="72000" bIns="36000" anchor="ctr" anchorCtr="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使用</a:t>
              </a:r>
              <a:r>
                <a:rPr kumimoji="1" lang="en-US" altLang="zh-CN"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DECLARE CURSOR</a:t>
              </a: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声明</a:t>
              </a:r>
              <a:r>
                <a:rPr kumimoji="1" lang="zh-CN" altLang="en-US" sz="3600" b="0" i="0" u="none" strike="noStrike" kern="0" cap="none" spc="0" normalizeH="0" baseline="0" noProof="0" dirty="0">
                  <a:ln>
                    <a:noFill/>
                  </a:ln>
                  <a:solidFill>
                    <a:srgbClr val="FFFFFF"/>
                  </a:solidFill>
                  <a:effectLst/>
                  <a:uLnTx/>
                  <a:uFillTx/>
                  <a:latin typeface="Arial" panose="020B0604020202020204" pitchFamily="34" charset="0"/>
                  <a:ea typeface="楷体_GB2312" pitchFamily="49" charset="-122"/>
                </a:rPr>
                <a:t> </a:t>
              </a:r>
            </a:p>
          </p:txBody>
        </p:sp>
        <p:sp>
          <p:nvSpPr>
            <p:cNvPr id="26" name="Text Box 47">
              <a:extLst>
                <a:ext uri="{FF2B5EF4-FFF2-40B4-BE49-F238E27FC236}">
                  <a16:creationId xmlns:a16="http://schemas.microsoft.com/office/drawing/2014/main" id="{DDCC7BB1-DE7A-4580-A176-86FB181C92AF}"/>
                </a:ext>
              </a:extLst>
            </p:cNvPr>
            <p:cNvSpPr txBox="1">
              <a:spLocks noChangeArrowheads="1"/>
            </p:cNvSpPr>
            <p:nvPr/>
          </p:nvSpPr>
          <p:spPr bwMode="auto">
            <a:xfrm>
              <a:off x="2950139" y="2627819"/>
              <a:ext cx="2389649" cy="626701"/>
            </a:xfrm>
            <a:prstGeom prst="rect">
              <a:avLst/>
            </a:prstGeom>
            <a:solidFill>
              <a:schemeClr val="accent5">
                <a:lumMod val="50000"/>
              </a:schemeClr>
            </a:solidFill>
            <a:ln w="28575" cap="sq" algn="ctr">
              <a:solidFill>
                <a:srgbClr val="FFFFFF"/>
              </a:solidFill>
              <a:miter lim="800000"/>
              <a:headEnd/>
              <a:tailEnd/>
            </a:ln>
            <a:effectLst>
              <a:outerShdw dist="35921" dir="2700000" algn="ctr" rotWithShape="0">
                <a:srgbClr val="000514"/>
              </a:outerShdw>
            </a:effectLst>
          </p:spPr>
          <p:txBody>
            <a:bodyPr wrap="none" lIns="72000" tIns="36000" rIns="72000" bIns="36000" anchor="ctr" anchorCtr="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使用</a:t>
              </a:r>
              <a:r>
                <a:rPr kumimoji="1" lang="en-US" altLang="zh-CN"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OPEN</a:t>
              </a: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打开游标</a:t>
              </a:r>
            </a:p>
          </p:txBody>
        </p:sp>
        <p:cxnSp>
          <p:nvCxnSpPr>
            <p:cNvPr id="27" name="AutoShape 48">
              <a:extLst>
                <a:ext uri="{FF2B5EF4-FFF2-40B4-BE49-F238E27FC236}">
                  <a16:creationId xmlns:a16="http://schemas.microsoft.com/office/drawing/2014/main" id="{5A291CBE-6277-4D51-BF41-26946A0C7B4C}"/>
                </a:ext>
              </a:extLst>
            </p:cNvPr>
            <p:cNvCxnSpPr>
              <a:cxnSpLocks noChangeShapeType="1"/>
              <a:stCxn id="25" idx="2"/>
              <a:endCxn id="26" idx="0"/>
            </p:cNvCxnSpPr>
            <p:nvPr/>
          </p:nvCxnSpPr>
          <p:spPr bwMode="auto">
            <a:xfrm flipH="1">
              <a:off x="4144964" y="2104052"/>
              <a:ext cx="793" cy="523767"/>
            </a:xfrm>
            <a:prstGeom prst="straightConnector1">
              <a:avLst/>
            </a:prstGeom>
            <a:noFill/>
            <a:ln w="57150" cap="sq">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 Box 49">
              <a:extLst>
                <a:ext uri="{FF2B5EF4-FFF2-40B4-BE49-F238E27FC236}">
                  <a16:creationId xmlns:a16="http://schemas.microsoft.com/office/drawing/2014/main" id="{C4B4C5FB-2AA8-4BA4-AFCB-4AE8F4E863B2}"/>
                </a:ext>
              </a:extLst>
            </p:cNvPr>
            <p:cNvSpPr txBox="1">
              <a:spLocks noChangeArrowheads="1"/>
            </p:cNvSpPr>
            <p:nvPr/>
          </p:nvSpPr>
          <p:spPr bwMode="auto">
            <a:xfrm>
              <a:off x="2447579" y="3907426"/>
              <a:ext cx="3394769" cy="1180699"/>
            </a:xfrm>
            <a:prstGeom prst="rect">
              <a:avLst/>
            </a:prstGeom>
            <a:solidFill>
              <a:schemeClr val="accent5">
                <a:lumMod val="50000"/>
              </a:schemeClr>
            </a:solidFill>
            <a:ln w="28575" cap="sq" algn="ctr">
              <a:solidFill>
                <a:srgbClr val="FFFFFF"/>
              </a:solidFill>
              <a:miter lim="800000"/>
              <a:headEnd/>
              <a:tailEnd/>
            </a:ln>
            <a:effectLst>
              <a:outerShdw dist="35921" dir="2700000" algn="ctr" rotWithShape="0">
                <a:srgbClr val="000514"/>
              </a:outerShdw>
            </a:effectLst>
          </p:spPr>
          <p:txBody>
            <a:bodyPr wrap="square" lIns="72000" tIns="36000" rIns="72000" bIns="36000" anchor="ctr" anchorCtr="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使用</a:t>
              </a:r>
              <a:r>
                <a:rPr kumimoji="1" lang="en-US" altLang="zh-CN"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FETCH INTO</a:t>
              </a: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提取数据</a:t>
              </a:r>
              <a:endParaRPr kumimoji="1" lang="en-US" altLang="zh-CN"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一般会用到循环 </a:t>
              </a:r>
            </a:p>
          </p:txBody>
        </p:sp>
        <p:sp>
          <p:nvSpPr>
            <p:cNvPr id="29" name="Text Box 50">
              <a:extLst>
                <a:ext uri="{FF2B5EF4-FFF2-40B4-BE49-F238E27FC236}">
                  <a16:creationId xmlns:a16="http://schemas.microsoft.com/office/drawing/2014/main" id="{101D36E8-109A-441F-A569-21414C0CD91E}"/>
                </a:ext>
              </a:extLst>
            </p:cNvPr>
            <p:cNvSpPr txBox="1">
              <a:spLocks noChangeArrowheads="1"/>
            </p:cNvSpPr>
            <p:nvPr/>
          </p:nvSpPr>
          <p:spPr bwMode="auto">
            <a:xfrm>
              <a:off x="2841301" y="5649139"/>
              <a:ext cx="2607325" cy="626701"/>
            </a:xfrm>
            <a:prstGeom prst="rect">
              <a:avLst/>
            </a:prstGeom>
            <a:solidFill>
              <a:schemeClr val="accent5">
                <a:lumMod val="50000"/>
              </a:schemeClr>
            </a:solidFill>
            <a:ln w="28575" cap="sq" algn="ctr">
              <a:solidFill>
                <a:srgbClr val="FFFFFF"/>
              </a:solidFill>
              <a:miter lim="800000"/>
              <a:headEnd/>
              <a:tailEnd/>
            </a:ln>
            <a:effectLst>
              <a:outerShdw dist="35921" dir="2700000" algn="ctr" rotWithShape="0">
                <a:srgbClr val="000514"/>
              </a:outerShdw>
            </a:effectLst>
          </p:spPr>
          <p:txBody>
            <a:bodyPr wrap="none" lIns="72000" tIns="36000" rIns="72000" bIns="36000" anchor="ctr" anchorCtr="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使用</a:t>
              </a:r>
              <a:r>
                <a:rPr kumimoji="1" lang="en-US" altLang="zh-CN"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CLOSE</a:t>
              </a:r>
              <a:r>
                <a:rPr kumimoji="1" lang="zh-CN" altLang="en-US" sz="3600" b="0" i="0" u="none" strike="noStrike" kern="0" cap="none" spc="0" normalizeH="0" baseline="0" noProof="0" dirty="0">
                  <a:ln>
                    <a:noFill/>
                  </a:ln>
                  <a:solidFill>
                    <a:srgbClr val="FFFFFF"/>
                  </a:solidFill>
                  <a:effectLst>
                    <a:outerShdw blurRad="38100" dist="38100" dir="2700000" algn="tl">
                      <a:srgbClr val="000000"/>
                    </a:outerShdw>
                  </a:effectLst>
                  <a:uLnTx/>
                  <a:uFillTx/>
                  <a:latin typeface="Arial" panose="020B0604020202020204" pitchFamily="34" charset="0"/>
                  <a:ea typeface="楷体_GB2312" pitchFamily="49" charset="-122"/>
                </a:rPr>
                <a:t>关闭游标 </a:t>
              </a:r>
            </a:p>
          </p:txBody>
        </p:sp>
        <p:cxnSp>
          <p:nvCxnSpPr>
            <p:cNvPr id="31" name="AutoShape 52">
              <a:extLst>
                <a:ext uri="{FF2B5EF4-FFF2-40B4-BE49-F238E27FC236}">
                  <a16:creationId xmlns:a16="http://schemas.microsoft.com/office/drawing/2014/main" id="{2684EFF6-DBE5-4219-AD04-770870F343DA}"/>
                </a:ext>
              </a:extLst>
            </p:cNvPr>
            <p:cNvCxnSpPr>
              <a:cxnSpLocks noChangeShapeType="1"/>
              <a:stCxn id="26" idx="2"/>
              <a:endCxn id="28" idx="0"/>
            </p:cNvCxnSpPr>
            <p:nvPr/>
          </p:nvCxnSpPr>
          <p:spPr bwMode="auto">
            <a:xfrm>
              <a:off x="4144964" y="3254520"/>
              <a:ext cx="0" cy="652906"/>
            </a:xfrm>
            <a:prstGeom prst="straightConnector1">
              <a:avLst/>
            </a:prstGeom>
            <a:noFill/>
            <a:ln w="57150" cap="sq">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AutoShape 53">
              <a:extLst>
                <a:ext uri="{FF2B5EF4-FFF2-40B4-BE49-F238E27FC236}">
                  <a16:creationId xmlns:a16="http://schemas.microsoft.com/office/drawing/2014/main" id="{8874818F-6254-40DC-BF6A-10731E0BBB39}"/>
                </a:ext>
              </a:extLst>
            </p:cNvPr>
            <p:cNvCxnSpPr>
              <a:cxnSpLocks noChangeShapeType="1"/>
              <a:stCxn id="28" idx="2"/>
              <a:endCxn id="29" idx="0"/>
            </p:cNvCxnSpPr>
            <p:nvPr/>
          </p:nvCxnSpPr>
          <p:spPr bwMode="auto">
            <a:xfrm flipH="1">
              <a:off x="4144963" y="5088125"/>
              <a:ext cx="0" cy="561014"/>
            </a:xfrm>
            <a:prstGeom prst="straightConnector1">
              <a:avLst/>
            </a:prstGeom>
            <a:noFill/>
            <a:ln w="57150" cap="sq">
              <a:solidFill>
                <a:srgbClr val="FFFF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857769580"/>
      </p:ext>
    </p:extLst>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sndAc>
          <p:stSnd>
            <p:snd r:embed="rId3" name="arrow.wav"/>
          </p:stSnd>
        </p:sndAc>
      </p:transition>
    </mc:Choice>
    <mc:Fallback>
      <p:transition spd="slow">
        <p:fade/>
        <p:sndAc>
          <p:stSnd>
            <p:snd r:embed="rId2" name="arrow.wav"/>
          </p:stSnd>
        </p:sndAc>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3719736" y="116632"/>
            <a:ext cx="3783407" cy="707886"/>
          </a:xfrm>
        </p:spPr>
        <p:txBody>
          <a:bodyPr/>
          <a:lstStyle/>
          <a:p>
            <a:r>
              <a:rPr lang="en-US" altLang="zh-CN" dirty="0" smtClean="0">
                <a:latin typeface="Times New Roman" panose="02020603050405020304" pitchFamily="18" charset="0"/>
                <a:ea typeface="宋体" panose="02010600030101010101" pitchFamily="2" charset="-122"/>
              </a:rPr>
              <a:t>5.5.1</a:t>
            </a:r>
            <a:r>
              <a:rPr lang="zh-CN" altLang="en-US" dirty="0" smtClean="0">
                <a:latin typeface="Times New Roman" panose="02020603050405020304" pitchFamily="18" charset="0"/>
                <a:ea typeface="宋体" panose="02010600030101010101" pitchFamily="2" charset="-122"/>
              </a:rPr>
              <a:t>游标的使用</a:t>
            </a:r>
          </a:p>
        </p:txBody>
      </p:sp>
      <p:sp>
        <p:nvSpPr>
          <p:cNvPr id="109571" name="Rectangle 3"/>
          <p:cNvSpPr>
            <a:spLocks noGrp="1" noChangeArrowheads="1"/>
          </p:cNvSpPr>
          <p:nvPr>
            <p:ph type="body" idx="4294967295"/>
          </p:nvPr>
        </p:nvSpPr>
        <p:spPr>
          <a:xfrm>
            <a:off x="1199456" y="908720"/>
            <a:ext cx="9721080" cy="5256584"/>
          </a:xfrm>
        </p:spPr>
        <p:txBody>
          <a:bodyPr>
            <a:normAutofit fontScale="77500" lnSpcReduction="20000"/>
          </a:bodyPr>
          <a:lstStyle/>
          <a:p>
            <a:pPr>
              <a:lnSpc>
                <a:spcPct val="160000"/>
              </a:lnSpc>
              <a:buFontTx/>
              <a:buNone/>
            </a:pPr>
            <a:r>
              <a:rPr lang="en-US" altLang="zh-CN" sz="2400" dirty="0">
                <a:latin typeface="Tahoma" panose="020B0604030504040204" pitchFamily="34" charset="0"/>
                <a:ea typeface="宋体" panose="02010600030101010101" pitchFamily="2" charset="-122"/>
              </a:rPr>
              <a:t>1.</a:t>
            </a:r>
            <a:r>
              <a:rPr lang="zh-CN" altLang="en-US" sz="2400" dirty="0">
                <a:latin typeface="Tahoma" panose="020B0604030504040204" pitchFamily="34" charset="0"/>
                <a:ea typeface="宋体" panose="02010600030101010101" pitchFamily="2" charset="-122"/>
              </a:rPr>
              <a:t>声明游标</a:t>
            </a:r>
          </a:p>
          <a:p>
            <a:pPr>
              <a:lnSpc>
                <a:spcPct val="160000"/>
              </a:lnSpc>
            </a:pPr>
            <a:r>
              <a:rPr lang="zh-CN" altLang="en-US" sz="2400" dirty="0">
                <a:latin typeface="Tahoma" panose="020B0604030504040204" pitchFamily="34" charset="0"/>
                <a:ea typeface="宋体" panose="02010600030101010101" pitchFamily="2" charset="-122"/>
              </a:rPr>
              <a:t>要使用游标对查询结果集中的数据进行处理，首先需要声明游标。</a:t>
            </a:r>
            <a:r>
              <a:rPr lang="en-US" altLang="zh-CN" sz="2400" dirty="0">
                <a:latin typeface="Tahoma" panose="020B0604030504040204" pitchFamily="34" charset="0"/>
                <a:ea typeface="宋体" panose="02010600030101010101" pitchFamily="2" charset="-122"/>
              </a:rPr>
              <a:t>MySQL</a:t>
            </a:r>
            <a:r>
              <a:rPr lang="zh-CN" altLang="en-US" sz="2400" dirty="0">
                <a:latin typeface="Tahoma" panose="020B0604030504040204" pitchFamily="34" charset="0"/>
                <a:ea typeface="宋体" panose="02010600030101010101" pitchFamily="2" charset="-122"/>
              </a:rPr>
              <a:t>声明游标的语法格式为：</a:t>
            </a:r>
            <a:endParaRPr lang="en-US" altLang="zh-CN" sz="2400" dirty="0">
              <a:latin typeface="Tahoma" panose="020B0604030504040204" pitchFamily="34" charset="0"/>
              <a:ea typeface="宋体" panose="02010600030101010101" pitchFamily="2" charset="-122"/>
            </a:endParaRPr>
          </a:p>
          <a:p>
            <a:pPr>
              <a:lnSpc>
                <a:spcPct val="160000"/>
              </a:lnSpc>
            </a:pPr>
            <a:endParaRPr lang="zh-CN" altLang="en-US" sz="2400" dirty="0">
              <a:latin typeface="Tahoma" panose="020B0604030504040204" pitchFamily="34" charset="0"/>
              <a:ea typeface="宋体" panose="02010600030101010101" pitchFamily="2" charset="-122"/>
            </a:endParaRPr>
          </a:p>
          <a:p>
            <a:pPr>
              <a:lnSpc>
                <a:spcPct val="160000"/>
              </a:lnSpc>
              <a:buFontTx/>
              <a:buNone/>
            </a:pPr>
            <a:r>
              <a:rPr lang="en-US" altLang="zh-CN" sz="2400" dirty="0">
                <a:latin typeface="Tahoma" panose="020B0604030504040204" pitchFamily="34" charset="0"/>
                <a:ea typeface="宋体" panose="02010600030101010101" pitchFamily="2" charset="-122"/>
              </a:rPr>
              <a:t>DECLARE </a:t>
            </a:r>
            <a:r>
              <a:rPr lang="zh-CN" altLang="en-US" sz="2400" dirty="0">
                <a:latin typeface="Tahoma" panose="020B0604030504040204" pitchFamily="34" charset="0"/>
                <a:ea typeface="宋体" panose="02010600030101010101" pitchFamily="2" charset="-122"/>
              </a:rPr>
              <a:t>游标名 </a:t>
            </a:r>
            <a:r>
              <a:rPr lang="en-US" altLang="zh-CN" sz="2400" dirty="0">
                <a:latin typeface="Tahoma" panose="020B0604030504040204" pitchFamily="34" charset="0"/>
                <a:ea typeface="宋体" panose="02010600030101010101" pitchFamily="2" charset="-122"/>
              </a:rPr>
              <a:t>CURSOR FOR SELECT</a:t>
            </a:r>
            <a:r>
              <a:rPr lang="zh-CN" altLang="en-US" sz="2400" dirty="0">
                <a:latin typeface="Tahoma" panose="020B0604030504040204" pitchFamily="34" charset="0"/>
                <a:ea typeface="宋体" panose="02010600030101010101" pitchFamily="2" charset="-122"/>
              </a:rPr>
              <a:t>语句</a:t>
            </a:r>
            <a:r>
              <a:rPr lang="en-US" altLang="zh-CN" sz="2400" dirty="0">
                <a:latin typeface="Tahoma" panose="020B0604030504040204" pitchFamily="34" charset="0"/>
                <a:ea typeface="宋体" panose="02010600030101010101" pitchFamily="2" charset="-122"/>
              </a:rPr>
              <a:t>;</a:t>
            </a:r>
          </a:p>
          <a:p>
            <a:pPr>
              <a:lnSpc>
                <a:spcPct val="160000"/>
              </a:lnSpc>
              <a:buFontTx/>
              <a:buNone/>
            </a:pPr>
            <a:endParaRPr lang="en-US" altLang="zh-CN" sz="2400" dirty="0">
              <a:latin typeface="Tahoma" panose="020B0604030504040204" pitchFamily="34" charset="0"/>
              <a:ea typeface="宋体" panose="02010600030101010101" pitchFamily="2" charset="-122"/>
            </a:endParaRPr>
          </a:p>
          <a:p>
            <a:pPr>
              <a:lnSpc>
                <a:spcPct val="160000"/>
              </a:lnSpc>
            </a:pPr>
            <a:r>
              <a:rPr lang="zh-CN" altLang="en-US" sz="2400" dirty="0">
                <a:latin typeface="Tahoma" panose="020B0604030504040204" pitchFamily="34" charset="0"/>
                <a:ea typeface="宋体" panose="02010600030101010101" pitchFamily="2" charset="-122"/>
              </a:rPr>
              <a:t>例如要声明一个名为</a:t>
            </a:r>
            <a:r>
              <a:rPr lang="en-US" altLang="zh-CN" sz="2400" dirty="0" err="1">
                <a:latin typeface="Tahoma" panose="020B0604030504040204" pitchFamily="34" charset="0"/>
                <a:ea typeface="宋体" panose="02010600030101010101" pitchFamily="2" charset="-122"/>
              </a:rPr>
              <a:t>cur_teacher</a:t>
            </a:r>
            <a:r>
              <a:rPr lang="zh-CN" altLang="en-US" sz="2400" dirty="0">
                <a:latin typeface="Tahoma" panose="020B0604030504040204" pitchFamily="34" charset="0"/>
                <a:ea typeface="宋体" panose="02010600030101010101" pitchFamily="2" charset="-122"/>
              </a:rPr>
              <a:t>的游标，其中包含电子系教师的工号</a:t>
            </a:r>
            <a:r>
              <a:rPr lang="en-US" altLang="zh-CN" sz="2400" dirty="0">
                <a:latin typeface="Tahoma" panose="020B0604030504040204" pitchFamily="34" charset="0"/>
                <a:ea typeface="宋体" panose="02010600030101010101" pitchFamily="2" charset="-122"/>
              </a:rPr>
              <a:t>(</a:t>
            </a:r>
            <a:r>
              <a:rPr lang="en-US" altLang="zh-CN" sz="2400" dirty="0" err="1">
                <a:latin typeface="Tahoma" panose="020B0604030504040204" pitchFamily="34" charset="0"/>
                <a:ea typeface="宋体" panose="02010600030101010101" pitchFamily="2" charset="-122"/>
              </a:rPr>
              <a:t>tno</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、姓名</a:t>
            </a:r>
            <a:r>
              <a:rPr lang="en-US" altLang="zh-CN" sz="2400" dirty="0">
                <a:latin typeface="Tahoma" panose="020B0604030504040204" pitchFamily="34" charset="0"/>
                <a:ea typeface="宋体" panose="02010600030101010101" pitchFamily="2" charset="-122"/>
              </a:rPr>
              <a:t>(</a:t>
            </a:r>
            <a:r>
              <a:rPr lang="en-US" altLang="zh-CN" sz="2400" dirty="0" err="1">
                <a:latin typeface="Tahoma" panose="020B0604030504040204" pitchFamily="34" charset="0"/>
                <a:ea typeface="宋体" panose="02010600030101010101" pitchFamily="2" charset="-122"/>
              </a:rPr>
              <a:t>tn</a:t>
            </a:r>
            <a:r>
              <a:rPr lang="en-US" altLang="zh-CN" sz="2400" dirty="0">
                <a:latin typeface="Tahoma" panose="020B0604030504040204" pitchFamily="34" charset="0"/>
                <a:ea typeface="宋体" panose="02010600030101010101" pitchFamily="2" charset="-122"/>
              </a:rPr>
              <a:t>)</a:t>
            </a:r>
            <a:r>
              <a:rPr lang="zh-CN" altLang="en-US" sz="2400" dirty="0">
                <a:latin typeface="Tahoma" panose="020B0604030504040204" pitchFamily="34" charset="0"/>
                <a:ea typeface="宋体" panose="02010600030101010101" pitchFamily="2" charset="-122"/>
              </a:rPr>
              <a:t>和性别</a:t>
            </a:r>
            <a:r>
              <a:rPr lang="en-US" altLang="zh-CN" sz="2400" dirty="0">
                <a:latin typeface="Tahoma" panose="020B0604030504040204" pitchFamily="34" charset="0"/>
                <a:ea typeface="宋体" panose="02010600030101010101" pitchFamily="2" charset="-122"/>
              </a:rPr>
              <a:t>(sex)</a:t>
            </a:r>
            <a:r>
              <a:rPr lang="zh-CN" altLang="en-US" sz="2400" dirty="0">
                <a:latin typeface="Tahoma" panose="020B0604030504040204" pitchFamily="34" charset="0"/>
                <a:ea typeface="宋体" panose="02010600030101010101" pitchFamily="2" charset="-122"/>
              </a:rPr>
              <a:t>记录，相应的语句如下：</a:t>
            </a:r>
            <a:endParaRPr lang="en-US" altLang="zh-CN" sz="2400" dirty="0">
              <a:latin typeface="Tahoma" panose="020B0604030504040204" pitchFamily="34" charset="0"/>
              <a:ea typeface="宋体" panose="02010600030101010101" pitchFamily="2" charset="-122"/>
            </a:endParaRPr>
          </a:p>
          <a:p>
            <a:pPr>
              <a:lnSpc>
                <a:spcPct val="160000"/>
              </a:lnSpc>
            </a:pPr>
            <a:endParaRPr lang="zh-CN" altLang="en-US" sz="2400" dirty="0">
              <a:latin typeface="Tahoma" panose="020B0604030504040204" pitchFamily="34" charset="0"/>
              <a:ea typeface="宋体" panose="02010600030101010101" pitchFamily="2" charset="-122"/>
            </a:endParaRPr>
          </a:p>
          <a:p>
            <a:pPr>
              <a:lnSpc>
                <a:spcPct val="160000"/>
              </a:lnSpc>
              <a:buFontTx/>
              <a:buNone/>
            </a:pPr>
            <a:r>
              <a:rPr lang="en-US" altLang="zh-CN" sz="2400" dirty="0">
                <a:latin typeface="Tahoma" panose="020B0604030504040204" pitchFamily="34" charset="0"/>
                <a:ea typeface="宋体" panose="02010600030101010101" pitchFamily="2" charset="-122"/>
              </a:rPr>
              <a:t>DECLARE </a:t>
            </a:r>
            <a:r>
              <a:rPr lang="en-US" altLang="zh-CN" sz="2400" dirty="0" err="1">
                <a:latin typeface="Tahoma" panose="020B0604030504040204" pitchFamily="34" charset="0"/>
                <a:ea typeface="宋体" panose="02010600030101010101" pitchFamily="2" charset="-122"/>
              </a:rPr>
              <a:t>cur_teacher</a:t>
            </a:r>
            <a:r>
              <a:rPr lang="en-US" altLang="zh-CN" sz="2400" dirty="0">
                <a:latin typeface="Tahoma" panose="020B0604030504040204" pitchFamily="34" charset="0"/>
                <a:ea typeface="宋体" panose="02010600030101010101" pitchFamily="2" charset="-122"/>
              </a:rPr>
              <a:t> CURSOR </a:t>
            </a:r>
          </a:p>
          <a:p>
            <a:pPr>
              <a:lnSpc>
                <a:spcPct val="160000"/>
              </a:lnSpc>
              <a:buFontTx/>
              <a:buNone/>
            </a:pPr>
            <a:r>
              <a:rPr lang="en-US" altLang="zh-CN" sz="2400" dirty="0">
                <a:latin typeface="Tahoma" panose="020B0604030504040204" pitchFamily="34" charset="0"/>
                <a:ea typeface="宋体" panose="02010600030101010101" pitchFamily="2" charset="-122"/>
              </a:rPr>
              <a:t>FOR SELECT </a:t>
            </a:r>
            <a:r>
              <a:rPr lang="en-US" altLang="zh-CN" sz="2400" dirty="0" err="1">
                <a:latin typeface="Tahoma" panose="020B0604030504040204" pitchFamily="34" charset="0"/>
                <a:ea typeface="宋体" panose="02010600030101010101" pitchFamily="2" charset="-122"/>
              </a:rPr>
              <a:t>tno,tn,sex</a:t>
            </a:r>
            <a:r>
              <a:rPr lang="en-US" altLang="zh-CN" sz="2400" dirty="0">
                <a:latin typeface="Tahoma" panose="020B0604030504040204" pitchFamily="34" charset="0"/>
                <a:ea typeface="宋体" panose="02010600030101010101" pitchFamily="2" charset="-122"/>
              </a:rPr>
              <a:t> FROM teacher  WHERE  Dep='</a:t>
            </a:r>
            <a:r>
              <a:rPr lang="zh-CN" altLang="en-US" sz="2400" dirty="0">
                <a:latin typeface="Tahoma" panose="020B0604030504040204" pitchFamily="34" charset="0"/>
                <a:ea typeface="宋体" panose="02010600030101010101" pitchFamily="2" charset="-122"/>
              </a:rPr>
              <a:t>电子</a:t>
            </a:r>
            <a:r>
              <a:rPr lang="en-US" altLang="zh-CN" sz="2400" dirty="0">
                <a:latin typeface="Tahoma" panose="020B0604030504040204" pitchFamily="34" charset="0"/>
                <a:ea typeface="宋体" panose="02010600030101010101" pitchFamily="2" charset="-122"/>
              </a:rPr>
              <a:t>';</a:t>
            </a:r>
            <a:endParaRPr lang="zh-CN" altLang="en-US" sz="24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362555608"/>
      </p:ext>
    </p:extLst>
  </p:cSld>
  <p:clrMapOvr>
    <a:masterClrMapping/>
  </p:clrMapOvr>
  <p:transition spd="slow">
    <p:wipe dir="r"/>
    <p:sndAc>
      <p:stSnd>
        <p:snd r:embed="rId2" name="arrow.wav"/>
      </p:stSnd>
    </p:sndAc>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3"/>
          <p:cNvSpPr>
            <a:spLocks noGrp="1" noChangeArrowheads="1"/>
          </p:cNvSpPr>
          <p:nvPr>
            <p:ph type="body" idx="4294967295"/>
          </p:nvPr>
        </p:nvSpPr>
        <p:spPr>
          <a:xfrm>
            <a:off x="1127448" y="620688"/>
            <a:ext cx="9793088" cy="5760640"/>
          </a:xfrm>
        </p:spPr>
        <p:txBody>
          <a:bodyPr/>
          <a:lstStyle/>
          <a:p>
            <a:pPr>
              <a:lnSpc>
                <a:spcPct val="150000"/>
              </a:lnSpc>
              <a:buFontTx/>
              <a:buNone/>
            </a:pPr>
            <a:r>
              <a:rPr lang="en-US" altLang="zh-CN" sz="2800" dirty="0">
                <a:latin typeface="Tahoma" panose="020B0604030504040204" pitchFamily="34" charset="0"/>
                <a:ea typeface="宋体" panose="02010600030101010101" pitchFamily="2" charset="-122"/>
              </a:rPr>
              <a:t>2.</a:t>
            </a:r>
            <a:r>
              <a:rPr lang="zh-CN" altLang="en-US" sz="2800" dirty="0">
                <a:latin typeface="Tahoma" panose="020B0604030504040204" pitchFamily="34" charset="0"/>
                <a:ea typeface="宋体" panose="02010600030101010101" pitchFamily="2" charset="-122"/>
              </a:rPr>
              <a:t>打开游标</a:t>
            </a:r>
          </a:p>
          <a:p>
            <a:pPr>
              <a:lnSpc>
                <a:spcPct val="150000"/>
              </a:lnSpc>
            </a:pPr>
            <a:r>
              <a:rPr lang="zh-CN" altLang="en-US" sz="2800" dirty="0">
                <a:latin typeface="Tahoma" panose="020B0604030504040204" pitchFamily="34" charset="0"/>
                <a:ea typeface="宋体" panose="02010600030101010101" pitchFamily="2" charset="-122"/>
              </a:rPr>
              <a:t>游标必须要先打开再使用。所谓打开游标，就是按游标声明中的</a:t>
            </a:r>
            <a:r>
              <a:rPr lang="en-US" altLang="zh-CN" sz="2800" dirty="0">
                <a:latin typeface="Tahoma" panose="020B0604030504040204" pitchFamily="34" charset="0"/>
                <a:ea typeface="宋体" panose="02010600030101010101" pitchFamily="2" charset="-122"/>
              </a:rPr>
              <a:t>SELECT</a:t>
            </a:r>
            <a:r>
              <a:rPr lang="zh-CN" altLang="en-US" sz="2800" dirty="0">
                <a:latin typeface="Tahoma" panose="020B0604030504040204" pitchFamily="34" charset="0"/>
                <a:ea typeface="宋体" panose="02010600030101010101" pitchFamily="2" charset="-122"/>
              </a:rPr>
              <a:t>语句准备数据，</a:t>
            </a:r>
            <a:r>
              <a:rPr lang="zh-CN" altLang="en-US" sz="2800" dirty="0">
                <a:solidFill>
                  <a:srgbClr val="FF0000"/>
                </a:solidFill>
                <a:latin typeface="Tahoma" panose="020B0604030504040204" pitchFamily="34" charset="0"/>
                <a:ea typeface="宋体" panose="02010600030101010101" pitchFamily="2" charset="-122"/>
              </a:rPr>
              <a:t>初始化记录指针</a:t>
            </a:r>
            <a:r>
              <a:rPr lang="zh-CN" altLang="en-US" sz="2800" dirty="0">
                <a:latin typeface="Tahoma" panose="020B0604030504040204" pitchFamily="34" charset="0"/>
                <a:ea typeface="宋体" panose="02010600030101010101" pitchFamily="2" charset="-122"/>
              </a:rPr>
              <a:t>。</a:t>
            </a:r>
          </a:p>
          <a:p>
            <a:pPr>
              <a:lnSpc>
                <a:spcPct val="150000"/>
              </a:lnSpc>
            </a:pPr>
            <a:r>
              <a:rPr lang="zh-CN" altLang="en-US" sz="2800" dirty="0">
                <a:latin typeface="Tahoma" panose="020B0604030504040204" pitchFamily="34" charset="0"/>
                <a:ea typeface="宋体" panose="02010600030101010101" pitchFamily="2" charset="-122"/>
              </a:rPr>
              <a:t>在</a:t>
            </a:r>
            <a:r>
              <a:rPr lang="en-US" altLang="zh-CN" sz="2800" dirty="0">
                <a:latin typeface="Tahoma" panose="020B0604030504040204" pitchFamily="34" charset="0"/>
                <a:ea typeface="宋体" panose="02010600030101010101" pitchFamily="2" charset="-122"/>
              </a:rPr>
              <a:t>MySQL</a:t>
            </a:r>
            <a:r>
              <a:rPr lang="zh-CN" altLang="en-US" sz="2800" dirty="0">
                <a:latin typeface="Tahoma" panose="020B0604030504040204" pitchFamily="34" charset="0"/>
                <a:ea typeface="宋体" panose="02010600030101010101" pitchFamily="2" charset="-122"/>
              </a:rPr>
              <a:t>中使用</a:t>
            </a:r>
            <a:r>
              <a:rPr lang="en-US" altLang="zh-CN" sz="2800" dirty="0">
                <a:latin typeface="Tahoma" panose="020B0604030504040204" pitchFamily="34" charset="0"/>
                <a:ea typeface="宋体" panose="02010600030101010101" pitchFamily="2" charset="-122"/>
              </a:rPr>
              <a:t>OPEN</a:t>
            </a:r>
            <a:r>
              <a:rPr lang="zh-CN" altLang="en-US" sz="2800" dirty="0">
                <a:latin typeface="Tahoma" panose="020B0604030504040204" pitchFamily="34" charset="0"/>
                <a:ea typeface="宋体" panose="02010600030101010101" pitchFamily="2" charset="-122"/>
              </a:rPr>
              <a:t>命令打开游标，其语法格式为：</a:t>
            </a:r>
          </a:p>
          <a:p>
            <a:pPr>
              <a:lnSpc>
                <a:spcPct val="150000"/>
              </a:lnSpc>
              <a:buFontTx/>
              <a:buNone/>
            </a:pPr>
            <a:r>
              <a:rPr lang="en-US" altLang="zh-CN" sz="2800" dirty="0">
                <a:latin typeface="Tahoma" panose="020B0604030504040204" pitchFamily="34" charset="0"/>
                <a:ea typeface="宋体" panose="02010600030101010101" pitchFamily="2" charset="-122"/>
              </a:rPr>
              <a:t>OPEN </a:t>
            </a:r>
            <a:r>
              <a:rPr lang="zh-CN" altLang="en-US" sz="2800" dirty="0">
                <a:latin typeface="Tahoma" panose="020B0604030504040204" pitchFamily="34" charset="0"/>
                <a:ea typeface="宋体" panose="02010600030101010101" pitchFamily="2" charset="-122"/>
              </a:rPr>
              <a:t>游标名 </a:t>
            </a:r>
            <a:r>
              <a:rPr lang="en-US" altLang="zh-CN" sz="2800" dirty="0">
                <a:latin typeface="Tahoma" panose="020B0604030504040204" pitchFamily="34" charset="0"/>
                <a:ea typeface="宋体" panose="02010600030101010101" pitchFamily="2" charset="-122"/>
              </a:rPr>
              <a:t>;</a:t>
            </a:r>
          </a:p>
          <a:p>
            <a:pPr>
              <a:lnSpc>
                <a:spcPct val="150000"/>
              </a:lnSpc>
            </a:pPr>
            <a:r>
              <a:rPr lang="zh-CN" altLang="en-US" sz="2800" dirty="0">
                <a:latin typeface="Tahoma" panose="020B0604030504040204" pitchFamily="34" charset="0"/>
                <a:ea typeface="宋体" panose="02010600030101010101" pitchFamily="2" charset="-122"/>
              </a:rPr>
              <a:t>例如打开名为</a:t>
            </a:r>
            <a:r>
              <a:rPr lang="en-US" altLang="zh-CN" sz="2800" dirty="0" err="1">
                <a:latin typeface="Tahoma" panose="020B0604030504040204" pitchFamily="34" charset="0"/>
                <a:ea typeface="宋体" panose="02010600030101010101" pitchFamily="2" charset="-122"/>
              </a:rPr>
              <a:t>cur_teacher</a:t>
            </a:r>
            <a:r>
              <a:rPr lang="zh-CN" altLang="en-US" sz="2800" dirty="0">
                <a:latin typeface="Tahoma" panose="020B0604030504040204" pitchFamily="34" charset="0"/>
                <a:ea typeface="宋体" panose="02010600030101010101" pitchFamily="2" charset="-122"/>
              </a:rPr>
              <a:t>的游标的命令如下：</a:t>
            </a:r>
          </a:p>
          <a:p>
            <a:pPr>
              <a:lnSpc>
                <a:spcPct val="150000"/>
              </a:lnSpc>
              <a:buFontTx/>
              <a:buNone/>
            </a:pPr>
            <a:r>
              <a:rPr lang="en-US" altLang="zh-CN" sz="2800" dirty="0">
                <a:latin typeface="Tahoma" panose="020B0604030504040204" pitchFamily="34" charset="0"/>
                <a:ea typeface="宋体" panose="02010600030101010101" pitchFamily="2" charset="-122"/>
              </a:rPr>
              <a:t>OPEN </a:t>
            </a:r>
            <a:r>
              <a:rPr lang="en-US" altLang="zh-CN" sz="2800" dirty="0" err="1">
                <a:latin typeface="Tahoma" panose="020B0604030504040204" pitchFamily="34" charset="0"/>
                <a:ea typeface="宋体" panose="02010600030101010101" pitchFamily="2" charset="-122"/>
              </a:rPr>
              <a:t>cur_teacher</a:t>
            </a:r>
            <a:r>
              <a:rPr lang="en-US" altLang="zh-CN" sz="2800" dirty="0">
                <a:latin typeface="Tahoma" panose="020B0604030504040204" pitchFamily="34" charset="0"/>
                <a:ea typeface="宋体" panose="02010600030101010101" pitchFamily="2" charset="-122"/>
              </a:rPr>
              <a:t>;</a:t>
            </a:r>
            <a:endParaRPr lang="zh-CN" altLang="en-US" sz="2800" dirty="0">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5834101"/>
      </p:ext>
    </p:extLst>
  </p:cSld>
  <p:clrMapOvr>
    <a:masterClrMapping/>
  </p:clrMapOvr>
  <p:transition spd="slow">
    <p:wipe dir="r"/>
    <p:sndAc>
      <p:stSnd>
        <p:snd r:embed="rId2" name="arrow.wav"/>
      </p:stSnd>
    </p:sndAc>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p:cNvSpPr>
            <a:spLocks noGrp="1" noChangeArrowheads="1"/>
          </p:cNvSpPr>
          <p:nvPr>
            <p:ph type="body" idx="4294967295"/>
          </p:nvPr>
        </p:nvSpPr>
        <p:spPr>
          <a:xfrm>
            <a:off x="911424" y="404664"/>
            <a:ext cx="10657184" cy="5832648"/>
          </a:xfrm>
        </p:spPr>
        <p:txBody>
          <a:bodyPr>
            <a:normAutofit/>
          </a:bodyPr>
          <a:lstStyle/>
          <a:p>
            <a:pPr>
              <a:lnSpc>
                <a:spcPct val="150000"/>
              </a:lnSpc>
              <a:buFontTx/>
              <a:buNone/>
            </a:pPr>
            <a:r>
              <a:rPr lang="en-US" altLang="zh-CN" dirty="0">
                <a:latin typeface="Tahoma" panose="020B0604030504040204" pitchFamily="34" charset="0"/>
                <a:ea typeface="宋体" panose="02010600030101010101" pitchFamily="2" charset="-122"/>
              </a:rPr>
              <a:t>3.</a:t>
            </a:r>
            <a:r>
              <a:rPr lang="zh-CN" altLang="en-US" dirty="0">
                <a:latin typeface="Tahoma" panose="020B0604030504040204" pitchFamily="34" charset="0"/>
                <a:ea typeface="宋体" panose="02010600030101010101" pitchFamily="2" charset="-122"/>
              </a:rPr>
              <a:t>提取游标数据</a:t>
            </a:r>
          </a:p>
          <a:p>
            <a:pPr>
              <a:lnSpc>
                <a:spcPct val="150000"/>
              </a:lnSpc>
            </a:pPr>
            <a:r>
              <a:rPr lang="zh-CN" altLang="en-US" dirty="0">
                <a:latin typeface="Tahoma" panose="020B0604030504040204" pitchFamily="34" charset="0"/>
                <a:ea typeface="宋体" panose="02010600030101010101" pitchFamily="2" charset="-122"/>
              </a:rPr>
              <a:t>提取游标数据是指从游标中</a:t>
            </a:r>
            <a:r>
              <a:rPr lang="zh-CN" altLang="en-US" dirty="0">
                <a:solidFill>
                  <a:srgbClr val="FF0000"/>
                </a:solidFill>
                <a:latin typeface="Tahoma" panose="020B0604030504040204" pitchFamily="34" charset="0"/>
                <a:ea typeface="宋体" panose="02010600030101010101" pitchFamily="2" charset="-122"/>
              </a:rPr>
              <a:t>取出当前记录</a:t>
            </a:r>
            <a:r>
              <a:rPr lang="zh-CN" altLang="en-US" dirty="0">
                <a:latin typeface="Tahoma" panose="020B0604030504040204" pitchFamily="34" charset="0"/>
                <a:ea typeface="宋体" panose="02010600030101010101" pitchFamily="2" charset="-122"/>
              </a:rPr>
              <a:t>。</a:t>
            </a:r>
            <a:r>
              <a:rPr lang="en-US" altLang="zh-CN" dirty="0">
                <a:latin typeface="Tahoma" panose="020B0604030504040204" pitchFamily="34" charset="0"/>
                <a:ea typeface="宋体" panose="02010600030101010101" pitchFamily="2" charset="-122"/>
              </a:rPr>
              <a:t>MySQL</a:t>
            </a:r>
            <a:r>
              <a:rPr lang="zh-CN" altLang="en-US" dirty="0">
                <a:latin typeface="Tahoma" panose="020B0604030504040204" pitchFamily="34" charset="0"/>
                <a:ea typeface="宋体" panose="02010600030101010101" pitchFamily="2" charset="-122"/>
              </a:rPr>
              <a:t>提取游标数据使用</a:t>
            </a:r>
            <a:r>
              <a:rPr lang="en-US" altLang="zh-CN" dirty="0">
                <a:solidFill>
                  <a:srgbClr val="FF0000"/>
                </a:solidFill>
                <a:latin typeface="Tahoma" panose="020B0604030504040204" pitchFamily="34" charset="0"/>
                <a:ea typeface="宋体" panose="02010600030101010101" pitchFamily="2" charset="-122"/>
              </a:rPr>
              <a:t>FETCH</a:t>
            </a:r>
            <a:r>
              <a:rPr lang="zh-CN" altLang="en-US" dirty="0">
                <a:latin typeface="Tahoma" panose="020B0604030504040204" pitchFamily="34" charset="0"/>
                <a:ea typeface="宋体" panose="02010600030101010101" pitchFamily="2" charset="-122"/>
              </a:rPr>
              <a:t>命令，其语法格式为：</a:t>
            </a:r>
          </a:p>
          <a:p>
            <a:pPr>
              <a:lnSpc>
                <a:spcPct val="150000"/>
              </a:lnSpc>
              <a:buFontTx/>
              <a:buNone/>
            </a:pPr>
            <a:r>
              <a:rPr lang="en-US" altLang="zh-CN" dirty="0">
                <a:latin typeface="Tahoma" panose="020B0604030504040204" pitchFamily="34" charset="0"/>
                <a:ea typeface="宋体" panose="02010600030101010101" pitchFamily="2" charset="-122"/>
              </a:rPr>
              <a:t>FETCH </a:t>
            </a:r>
            <a:r>
              <a:rPr lang="zh-CN" altLang="en-US" dirty="0">
                <a:latin typeface="Tahoma" panose="020B0604030504040204" pitchFamily="34" charset="0"/>
                <a:ea typeface="宋体" panose="02010600030101010101" pitchFamily="2" charset="-122"/>
              </a:rPr>
              <a:t>游标名 </a:t>
            </a:r>
            <a:r>
              <a:rPr lang="en-US" altLang="zh-CN" dirty="0">
                <a:latin typeface="Tahoma" panose="020B0604030504040204" pitchFamily="34" charset="0"/>
                <a:ea typeface="宋体" panose="02010600030101010101" pitchFamily="2" charset="-122"/>
              </a:rPr>
              <a:t>INTO </a:t>
            </a:r>
            <a:r>
              <a:rPr lang="zh-CN" altLang="en-US" dirty="0">
                <a:latin typeface="Tahoma" panose="020B0604030504040204" pitchFamily="34" charset="0"/>
                <a:ea typeface="宋体" panose="02010600030101010101" pitchFamily="2" charset="-122"/>
              </a:rPr>
              <a:t>变量</a:t>
            </a:r>
            <a:r>
              <a:rPr lang="en-US" altLang="zh-CN" dirty="0">
                <a:latin typeface="Tahoma" panose="020B0604030504040204" pitchFamily="34" charset="0"/>
                <a:ea typeface="宋体" panose="02010600030101010101" pitchFamily="2" charset="-122"/>
              </a:rPr>
              <a:t>1{,</a:t>
            </a:r>
            <a:r>
              <a:rPr lang="zh-CN" altLang="en-US" dirty="0">
                <a:latin typeface="Tahoma" panose="020B0604030504040204" pitchFamily="34" charset="0"/>
                <a:ea typeface="宋体" panose="02010600030101010101" pitchFamily="2" charset="-122"/>
              </a:rPr>
              <a:t>变量</a:t>
            </a:r>
            <a:r>
              <a:rPr lang="en-US" altLang="zh-CN" dirty="0">
                <a:latin typeface="Tahoma" panose="020B0604030504040204" pitchFamily="34" charset="0"/>
                <a:ea typeface="宋体" panose="02010600030101010101" pitchFamily="2" charset="-122"/>
              </a:rPr>
              <a:t>2…}</a:t>
            </a:r>
          </a:p>
          <a:p>
            <a:pPr>
              <a:lnSpc>
                <a:spcPct val="150000"/>
              </a:lnSpc>
            </a:pPr>
            <a:r>
              <a:rPr lang="zh-CN" altLang="en-US" dirty="0">
                <a:latin typeface="Tahoma" panose="020B0604030504040204" pitchFamily="34" charset="0"/>
                <a:ea typeface="宋体" panose="02010600030101010101" pitchFamily="2" charset="-122"/>
              </a:rPr>
              <a:t>其中，变量的个数必须与游标声明中</a:t>
            </a:r>
            <a:r>
              <a:rPr lang="en-US" altLang="zh-CN" dirty="0">
                <a:latin typeface="Tahoma" panose="020B0604030504040204" pitchFamily="34" charset="0"/>
                <a:ea typeface="宋体" panose="02010600030101010101" pitchFamily="2" charset="-122"/>
              </a:rPr>
              <a:t>SELECT</a:t>
            </a:r>
            <a:r>
              <a:rPr lang="zh-CN" altLang="en-US" dirty="0">
                <a:latin typeface="Tahoma" panose="020B0604030504040204" pitchFamily="34" charset="0"/>
                <a:ea typeface="宋体" panose="02010600030101010101" pitchFamily="2" charset="-122"/>
              </a:rPr>
              <a:t>语句查询结果的</a:t>
            </a:r>
            <a:r>
              <a:rPr lang="zh-CN" altLang="en-US" dirty="0">
                <a:solidFill>
                  <a:srgbClr val="FF0000"/>
                </a:solidFill>
                <a:latin typeface="Tahoma" panose="020B0604030504040204" pitchFamily="34" charset="0"/>
                <a:ea typeface="宋体" panose="02010600030101010101" pitchFamily="2" charset="-122"/>
              </a:rPr>
              <a:t>字段数</a:t>
            </a:r>
            <a:r>
              <a:rPr lang="zh-CN" altLang="en-US" dirty="0">
                <a:latin typeface="Tahoma" panose="020B0604030504040204" pitchFamily="34" charset="0"/>
                <a:ea typeface="宋体" panose="02010600030101010101" pitchFamily="2" charset="-122"/>
              </a:rPr>
              <a:t>一致，一一对应地存储从游标当前记录中提取出的字段值。</a:t>
            </a:r>
          </a:p>
        </p:txBody>
      </p:sp>
    </p:spTree>
    <p:extLst>
      <p:ext uri="{BB962C8B-B14F-4D97-AF65-F5344CB8AC3E}">
        <p14:creationId xmlns:p14="http://schemas.microsoft.com/office/powerpoint/2010/main" val="2342538435"/>
      </p:ext>
    </p:extLst>
  </p:cSld>
  <p:clrMapOvr>
    <a:masterClrMapping/>
  </p:clrMapOvr>
  <p:transition spd="slow">
    <p:wipe dir="r"/>
    <p:sndAc>
      <p:stSnd>
        <p:snd r:embed="rId2" name="arrow.wav"/>
      </p:stSnd>
    </p:sndAc>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Grp="1" noChangeArrowheads="1"/>
          </p:cNvSpPr>
          <p:nvPr>
            <p:ph type="body" idx="4294967295"/>
          </p:nvPr>
        </p:nvSpPr>
        <p:spPr>
          <a:xfrm>
            <a:off x="911424" y="548680"/>
            <a:ext cx="11017224" cy="5904656"/>
          </a:xfrm>
        </p:spPr>
        <p:txBody>
          <a:bodyPr>
            <a:normAutofit fontScale="92500" lnSpcReduction="10000"/>
          </a:bodyPr>
          <a:lstStyle/>
          <a:p>
            <a:pPr>
              <a:lnSpc>
                <a:spcPct val="150000"/>
              </a:lnSpc>
              <a:buFontTx/>
              <a:buNone/>
            </a:pPr>
            <a:r>
              <a:rPr lang="en-US" altLang="zh-CN" dirty="0">
                <a:latin typeface="Tahoma" panose="020B0604030504040204" pitchFamily="34" charset="0"/>
                <a:ea typeface="宋体" panose="02010600030101010101" pitchFamily="2" charset="-122"/>
              </a:rPr>
              <a:t>4.</a:t>
            </a:r>
            <a:r>
              <a:rPr lang="zh-CN" altLang="en-US" dirty="0">
                <a:latin typeface="Tahoma" panose="020B0604030504040204" pitchFamily="34" charset="0"/>
                <a:ea typeface="宋体" panose="02010600030101010101" pitchFamily="2" charset="-122"/>
              </a:rPr>
              <a:t>游标的关闭</a:t>
            </a:r>
          </a:p>
          <a:p>
            <a:pPr>
              <a:lnSpc>
                <a:spcPct val="150000"/>
              </a:lnSpc>
            </a:pPr>
            <a:r>
              <a:rPr lang="zh-CN" altLang="en-US" dirty="0">
                <a:latin typeface="Tahoma" panose="020B0604030504040204" pitchFamily="34" charset="0"/>
                <a:ea typeface="宋体" panose="02010600030101010101" pitchFamily="2" charset="-122"/>
              </a:rPr>
              <a:t>游标使用完毕后必须关闭它。</a:t>
            </a:r>
            <a:r>
              <a:rPr lang="en-US" altLang="zh-CN" dirty="0">
                <a:latin typeface="Tahoma" panose="020B0604030504040204" pitchFamily="34" charset="0"/>
                <a:ea typeface="宋体" panose="02010600030101010101" pitchFamily="2" charset="-122"/>
              </a:rPr>
              <a:t>MySQL</a:t>
            </a:r>
            <a:r>
              <a:rPr lang="zh-CN" altLang="en-US" dirty="0">
                <a:latin typeface="Tahoma" panose="020B0604030504040204" pitchFamily="34" charset="0"/>
                <a:ea typeface="宋体" panose="02010600030101010101" pitchFamily="2" charset="-122"/>
              </a:rPr>
              <a:t>中关闭游标的语句的语法格式为</a:t>
            </a:r>
            <a:r>
              <a:rPr lang="en-US" altLang="zh-CN" dirty="0">
                <a:latin typeface="Tahoma" panose="020B0604030504040204" pitchFamily="34" charset="0"/>
                <a:ea typeface="宋体" panose="02010600030101010101" pitchFamily="2" charset="-122"/>
              </a:rPr>
              <a:t>:</a:t>
            </a:r>
          </a:p>
          <a:p>
            <a:pPr>
              <a:lnSpc>
                <a:spcPct val="150000"/>
              </a:lnSpc>
              <a:buFontTx/>
              <a:buNone/>
            </a:pPr>
            <a:r>
              <a:rPr lang="en-US" altLang="zh-CN" dirty="0">
                <a:latin typeface="Tahoma" panose="020B0604030504040204" pitchFamily="34" charset="0"/>
                <a:ea typeface="宋体" panose="02010600030101010101" pitchFamily="2" charset="-122"/>
              </a:rPr>
              <a:t>CLOSE </a:t>
            </a:r>
            <a:r>
              <a:rPr lang="zh-CN" altLang="en-US" dirty="0">
                <a:latin typeface="Tahoma" panose="020B0604030504040204" pitchFamily="34" charset="0"/>
                <a:ea typeface="宋体" panose="02010600030101010101" pitchFamily="2" charset="-122"/>
              </a:rPr>
              <a:t>游标名</a:t>
            </a:r>
            <a:r>
              <a:rPr lang="en-US" altLang="zh-CN" dirty="0">
                <a:latin typeface="Tahoma" panose="020B0604030504040204" pitchFamily="34" charset="0"/>
                <a:ea typeface="宋体" panose="02010600030101010101" pitchFamily="2" charset="-122"/>
              </a:rPr>
              <a:t>;</a:t>
            </a:r>
          </a:p>
          <a:p>
            <a:pPr>
              <a:lnSpc>
                <a:spcPct val="150000"/>
              </a:lnSpc>
            </a:pPr>
            <a:r>
              <a:rPr lang="zh-CN" altLang="en-US" dirty="0">
                <a:latin typeface="Tahoma" panose="020B0604030504040204" pitchFamily="34" charset="0"/>
                <a:ea typeface="宋体" panose="02010600030101010101" pitchFamily="2" charset="-122"/>
              </a:rPr>
              <a:t>例如，关闭</a:t>
            </a:r>
            <a:r>
              <a:rPr lang="en-US" altLang="zh-CN" dirty="0" err="1">
                <a:latin typeface="Tahoma" panose="020B0604030504040204" pitchFamily="34" charset="0"/>
                <a:ea typeface="宋体" panose="02010600030101010101" pitchFamily="2" charset="-122"/>
              </a:rPr>
              <a:t>cur_teacher</a:t>
            </a:r>
            <a:r>
              <a:rPr lang="zh-CN" altLang="en-US" dirty="0">
                <a:latin typeface="Tahoma" panose="020B0604030504040204" pitchFamily="34" charset="0"/>
                <a:ea typeface="宋体" panose="02010600030101010101" pitchFamily="2" charset="-122"/>
              </a:rPr>
              <a:t>游标的命令为：</a:t>
            </a:r>
          </a:p>
          <a:p>
            <a:pPr>
              <a:lnSpc>
                <a:spcPct val="150000"/>
              </a:lnSpc>
              <a:buFontTx/>
              <a:buNone/>
            </a:pPr>
            <a:r>
              <a:rPr lang="en-US" altLang="zh-CN" dirty="0">
                <a:latin typeface="Tahoma" panose="020B0604030504040204" pitchFamily="34" charset="0"/>
                <a:ea typeface="宋体" panose="02010600030101010101" pitchFamily="2" charset="-122"/>
              </a:rPr>
              <a:t>CLOSE </a:t>
            </a:r>
            <a:r>
              <a:rPr lang="en-US" altLang="zh-CN" dirty="0" err="1">
                <a:latin typeface="Tahoma" panose="020B0604030504040204" pitchFamily="34" charset="0"/>
                <a:ea typeface="宋体" panose="02010600030101010101" pitchFamily="2" charset="-122"/>
              </a:rPr>
              <a:t>cur_teacher</a:t>
            </a:r>
            <a:r>
              <a:rPr lang="en-US" altLang="zh-CN" dirty="0">
                <a:latin typeface="Tahoma" panose="020B0604030504040204" pitchFamily="34" charset="0"/>
                <a:ea typeface="宋体" panose="02010600030101010101" pitchFamily="2" charset="-122"/>
              </a:rPr>
              <a:t> ;</a:t>
            </a:r>
          </a:p>
          <a:p>
            <a:pPr>
              <a:lnSpc>
                <a:spcPct val="150000"/>
              </a:lnSpc>
            </a:pPr>
            <a:r>
              <a:rPr lang="zh-CN" altLang="en-US" dirty="0">
                <a:latin typeface="Tahoma" panose="020B0604030504040204" pitchFamily="34" charset="0"/>
                <a:ea typeface="宋体" panose="02010600030101010101" pitchFamily="2" charset="-122"/>
              </a:rPr>
              <a:t>游标关闭之后就不能再使用</a:t>
            </a:r>
            <a:r>
              <a:rPr lang="en-US" altLang="zh-CN" dirty="0">
                <a:latin typeface="Tahoma" panose="020B0604030504040204" pitchFamily="34" charset="0"/>
                <a:ea typeface="宋体" panose="02010600030101010101" pitchFamily="2" charset="-122"/>
              </a:rPr>
              <a:t>FETCH</a:t>
            </a:r>
            <a:r>
              <a:rPr lang="zh-CN" altLang="en-US" dirty="0">
                <a:latin typeface="Tahoma" panose="020B0604030504040204" pitchFamily="34" charset="0"/>
                <a:ea typeface="宋体" panose="02010600030101010101" pitchFamily="2" charset="-122"/>
              </a:rPr>
              <a:t>语句从游标查询结果集中取出数据了。</a:t>
            </a:r>
          </a:p>
        </p:txBody>
      </p:sp>
    </p:spTree>
    <p:extLst>
      <p:ext uri="{BB962C8B-B14F-4D97-AF65-F5344CB8AC3E}">
        <p14:creationId xmlns:p14="http://schemas.microsoft.com/office/powerpoint/2010/main" val="84608161"/>
      </p:ext>
    </p:extLst>
  </p:cSld>
  <p:clrMapOvr>
    <a:masterClrMapping/>
  </p:clrMapOvr>
  <p:transition spd="slow">
    <p:wipe dir="r"/>
    <p:sndAc>
      <p:stSnd>
        <p:snd r:embed="rId2" name="arrow.wav"/>
      </p:stSnd>
    </p:sndAc>
  </p:transition>
</p:sld>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3109</TotalTime>
  <Words>6673</Words>
  <Application>Microsoft Office PowerPoint</Application>
  <PresentationFormat>宽屏</PresentationFormat>
  <Paragraphs>948</Paragraphs>
  <Slides>97</Slides>
  <Notes>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97</vt:i4>
      </vt:variant>
    </vt:vector>
  </HeadingPairs>
  <TitlesOfParts>
    <vt:vector size="112" baseType="lpstr">
      <vt:lpstr>Franklin Gothic Book</vt:lpstr>
      <vt:lpstr>黑体</vt:lpstr>
      <vt:lpstr>楷体</vt:lpstr>
      <vt:lpstr>楷体_GB2312</vt:lpstr>
      <vt:lpstr>隶书</vt:lpstr>
      <vt:lpstr>宋体</vt:lpstr>
      <vt:lpstr>微软雅黑</vt:lpstr>
      <vt:lpstr>Arial</vt:lpstr>
      <vt:lpstr>Arial Narrow</vt:lpstr>
      <vt:lpstr>Calibri</vt:lpstr>
      <vt:lpstr>Garamond</vt:lpstr>
      <vt:lpstr>Tahoma</vt:lpstr>
      <vt:lpstr>Times New Roman</vt:lpstr>
      <vt:lpstr>Wingdings</vt:lpstr>
      <vt:lpstr>Office 主题​​</vt:lpstr>
      <vt:lpstr>PowerPoint 演示文稿</vt:lpstr>
      <vt:lpstr>第5章 数据库中的对象</vt:lpstr>
      <vt:lpstr>索 引</vt:lpstr>
      <vt:lpstr>PowerPoint 演示文稿</vt:lpstr>
      <vt:lpstr>PowerPoint 演示文稿</vt:lpstr>
      <vt:lpstr>PowerPoint 演示文稿</vt:lpstr>
      <vt:lpstr>索引的概念</vt:lpstr>
      <vt:lpstr>索引原理的示意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5.1.3 索引的设计原则</vt:lpstr>
      <vt:lpstr>PowerPoint 演示文稿</vt:lpstr>
      <vt:lpstr>5.1.4 创建索引</vt:lpstr>
      <vt:lpstr>PowerPoint 演示文稿</vt:lpstr>
      <vt:lpstr>PowerPoint 演示文稿</vt:lpstr>
      <vt:lpstr>PowerPoint 演示文稿</vt:lpstr>
      <vt:lpstr>PowerPoint 演示文稿</vt:lpstr>
      <vt:lpstr>建立索引</vt:lpstr>
      <vt:lpstr>建立索引</vt:lpstr>
      <vt:lpstr>PowerPoint 演示文稿</vt:lpstr>
      <vt:lpstr>查看索引</vt:lpstr>
      <vt:lpstr>PowerPoint 演示文稿</vt:lpstr>
      <vt:lpstr>PowerPoint 演示文稿</vt:lpstr>
      <vt:lpstr>PowerPoint 演示文稿</vt:lpstr>
      <vt:lpstr>索引的几点说明</vt:lpstr>
      <vt:lpstr>视 图</vt:lpstr>
      <vt:lpstr>视图的概念</vt:lpstr>
      <vt:lpstr>视图的概念</vt:lpstr>
      <vt:lpstr>PowerPoint 演示文稿</vt:lpstr>
      <vt:lpstr>PowerPoint 演示文稿</vt:lpstr>
      <vt:lpstr>5.2.2定义视图</vt:lpstr>
      <vt:lpstr>PowerPoint 演示文稿</vt:lpstr>
      <vt:lpstr>定义视图</vt:lpstr>
      <vt:lpstr>PowerPoint 演示文稿</vt:lpstr>
      <vt:lpstr>PowerPoint 演示文稿</vt:lpstr>
      <vt:lpstr>PowerPoint 演示文稿</vt:lpstr>
      <vt:lpstr>查看视图</vt:lpstr>
      <vt:lpstr>删除视图</vt:lpstr>
      <vt:lpstr>修改视图</vt:lpstr>
      <vt:lpstr>查询视图</vt:lpstr>
      <vt:lpstr>5.2.6更新视图</vt:lpstr>
      <vt:lpstr>更新视图</vt:lpstr>
      <vt:lpstr>更新视图</vt:lpstr>
      <vt:lpstr>更新视图</vt:lpstr>
      <vt:lpstr>更新视图</vt:lpstr>
      <vt:lpstr>PowerPoint 演示文稿</vt:lpstr>
      <vt:lpstr>PowerPoint 演示文稿</vt:lpstr>
      <vt:lpstr>PowerPoint 演示文稿</vt:lpstr>
      <vt:lpstr>PowerPoint 演示文稿</vt:lpstr>
      <vt:lpstr>视图的作用</vt:lpstr>
      <vt:lpstr>存储过程</vt:lpstr>
      <vt:lpstr>5.3.1存储过程概述</vt:lpstr>
      <vt:lpstr>存储过程</vt:lpstr>
      <vt:lpstr>PowerPoint 演示文稿</vt:lpstr>
      <vt:lpstr>PowerPoint 演示文稿</vt:lpstr>
      <vt:lpstr>存储过程和创建与执行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查看存储过程</vt:lpstr>
      <vt:lpstr>删除存储过程</vt:lpstr>
      <vt:lpstr>触发器</vt:lpstr>
      <vt:lpstr>触发器</vt:lpstr>
      <vt:lpstr>PowerPoint 演示文稿</vt:lpstr>
      <vt:lpstr>创建触发器</vt:lpstr>
      <vt:lpstr>PowerPoint 演示文稿</vt:lpstr>
      <vt:lpstr>PowerPoint 演示文稿</vt:lpstr>
      <vt:lpstr>AFTER和BEFORE的示意</vt:lpstr>
      <vt:lpstr>PowerPoint 演示文稿</vt:lpstr>
      <vt:lpstr>PowerPoint 演示文稿</vt:lpstr>
      <vt:lpstr>PowerPoint 演示文稿</vt:lpstr>
      <vt:lpstr>PowerPoint 演示文稿</vt:lpstr>
      <vt:lpstr>PowerPoint 演示文稿</vt:lpstr>
      <vt:lpstr>5.4.4查看触发器</vt:lpstr>
      <vt:lpstr>PowerPoint 演示文稿</vt:lpstr>
      <vt:lpstr>PowerPoint 演示文稿</vt:lpstr>
      <vt:lpstr>PowerPoint 演示文稿</vt:lpstr>
      <vt:lpstr>删除触发器</vt:lpstr>
      <vt:lpstr>游标</vt:lpstr>
      <vt:lpstr>游标概述</vt:lpstr>
      <vt:lpstr>使用游标的一般流程</vt:lpstr>
      <vt:lpstr>5.5.1游标的使用</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pansir</dc:creator>
  <cp:lastModifiedBy>Windows 用户</cp:lastModifiedBy>
  <cp:revision>440</cp:revision>
  <dcterms:created xsi:type="dcterms:W3CDTF">2016-09-04T04:12:03Z</dcterms:created>
  <dcterms:modified xsi:type="dcterms:W3CDTF">2025-11-13T02:43:43Z</dcterms:modified>
</cp:coreProperties>
</file>