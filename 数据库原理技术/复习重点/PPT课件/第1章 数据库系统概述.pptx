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heme/themeOverride1.xml" ContentType="application/vnd.openxmlformats-officedocument.themeOverr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 id="2147483688" r:id="rId2"/>
  </p:sldMasterIdLst>
  <p:notesMasterIdLst>
    <p:notesMasterId r:id="rId108"/>
  </p:notesMasterIdLst>
  <p:handoutMasterIdLst>
    <p:handoutMasterId r:id="rId109"/>
  </p:handoutMasterIdLst>
  <p:sldIdLst>
    <p:sldId id="656" r:id="rId3"/>
    <p:sldId id="691" r:id="rId4"/>
    <p:sldId id="690" r:id="rId5"/>
    <p:sldId id="692" r:id="rId6"/>
    <p:sldId id="534" r:id="rId7"/>
    <p:sldId id="533" r:id="rId8"/>
    <p:sldId id="694" r:id="rId9"/>
    <p:sldId id="260" r:id="rId10"/>
    <p:sldId id="325" r:id="rId11"/>
    <p:sldId id="326" r:id="rId12"/>
    <p:sldId id="315" r:id="rId13"/>
    <p:sldId id="330" r:id="rId14"/>
    <p:sldId id="546" r:id="rId15"/>
    <p:sldId id="547" r:id="rId16"/>
    <p:sldId id="548" r:id="rId17"/>
    <p:sldId id="549" r:id="rId18"/>
    <p:sldId id="550" r:id="rId19"/>
    <p:sldId id="327" r:id="rId20"/>
    <p:sldId id="623" r:id="rId21"/>
    <p:sldId id="624" r:id="rId22"/>
    <p:sldId id="629" r:id="rId23"/>
    <p:sldId id="631" r:id="rId24"/>
    <p:sldId id="552" r:id="rId25"/>
    <p:sldId id="680" r:id="rId26"/>
    <p:sldId id="259" r:id="rId27"/>
    <p:sldId id="566" r:id="rId28"/>
    <p:sldId id="554" r:id="rId29"/>
    <p:sldId id="633" r:id="rId30"/>
    <p:sldId id="635" r:id="rId31"/>
    <p:sldId id="636" r:id="rId32"/>
    <p:sldId id="268" r:id="rId33"/>
    <p:sldId id="270" r:id="rId34"/>
    <p:sldId id="271" r:id="rId35"/>
    <p:sldId id="272" r:id="rId36"/>
    <p:sldId id="304" r:id="rId37"/>
    <p:sldId id="273" r:id="rId38"/>
    <p:sldId id="305" r:id="rId39"/>
    <p:sldId id="683" r:id="rId40"/>
    <p:sldId id="343" r:id="rId41"/>
    <p:sldId id="556" r:id="rId42"/>
    <p:sldId id="665" r:id="rId43"/>
    <p:sldId id="557" r:id="rId44"/>
    <p:sldId id="559" r:id="rId45"/>
    <p:sldId id="639" r:id="rId46"/>
    <p:sldId id="560" r:id="rId47"/>
    <p:sldId id="640" r:id="rId48"/>
    <p:sldId id="561" r:id="rId49"/>
    <p:sldId id="562" r:id="rId50"/>
    <p:sldId id="641" r:id="rId51"/>
    <p:sldId id="685" r:id="rId52"/>
    <p:sldId id="563" r:id="rId53"/>
    <p:sldId id="564" r:id="rId54"/>
    <p:sldId id="642" r:id="rId55"/>
    <p:sldId id="570" r:id="rId56"/>
    <p:sldId id="571" r:id="rId57"/>
    <p:sldId id="572" r:id="rId58"/>
    <p:sldId id="573" r:id="rId59"/>
    <p:sldId id="684" r:id="rId60"/>
    <p:sldId id="643" r:id="rId61"/>
    <p:sldId id="565" r:id="rId62"/>
    <p:sldId id="644" r:id="rId63"/>
    <p:sldId id="677" r:id="rId64"/>
    <p:sldId id="567" r:id="rId65"/>
    <p:sldId id="645" r:id="rId66"/>
    <p:sldId id="646" r:id="rId67"/>
    <p:sldId id="647" r:id="rId68"/>
    <p:sldId id="648" r:id="rId69"/>
    <p:sldId id="568" r:id="rId70"/>
    <p:sldId id="574" r:id="rId71"/>
    <p:sldId id="575" r:id="rId72"/>
    <p:sldId id="576" r:id="rId73"/>
    <p:sldId id="577" r:id="rId74"/>
    <p:sldId id="578" r:id="rId75"/>
    <p:sldId id="650" r:id="rId76"/>
    <p:sldId id="579" r:id="rId77"/>
    <p:sldId id="651" r:id="rId78"/>
    <p:sldId id="580" r:id="rId79"/>
    <p:sldId id="652" r:id="rId80"/>
    <p:sldId id="581" r:id="rId81"/>
    <p:sldId id="687" r:id="rId82"/>
    <p:sldId id="582" r:id="rId83"/>
    <p:sldId id="583" r:id="rId84"/>
    <p:sldId id="654" r:id="rId85"/>
    <p:sldId id="584" r:id="rId86"/>
    <p:sldId id="653" r:id="rId87"/>
    <p:sldId id="688" r:id="rId88"/>
    <p:sldId id="655" r:id="rId89"/>
    <p:sldId id="689" r:id="rId90"/>
    <p:sldId id="667" r:id="rId91"/>
    <p:sldId id="675" r:id="rId92"/>
    <p:sldId id="686" r:id="rId93"/>
    <p:sldId id="585" r:id="rId94"/>
    <p:sldId id="586" r:id="rId95"/>
    <p:sldId id="659" r:id="rId96"/>
    <p:sldId id="590" r:id="rId97"/>
    <p:sldId id="591" r:id="rId98"/>
    <p:sldId id="592" r:id="rId99"/>
    <p:sldId id="593" r:id="rId100"/>
    <p:sldId id="594" r:id="rId101"/>
    <p:sldId id="595" r:id="rId102"/>
    <p:sldId id="596" r:id="rId103"/>
    <p:sldId id="597" r:id="rId104"/>
    <p:sldId id="598" r:id="rId105"/>
    <p:sldId id="599" r:id="rId106"/>
    <p:sldId id="600" r:id="rId107"/>
  </p:sldIdLst>
  <p:sldSz cx="12192000" cy="6858000"/>
  <p:notesSz cx="6858000" cy="9144000"/>
  <p:defaultTextStyle>
    <a:defPPr>
      <a:defRPr lang="en-US"/>
    </a:defPPr>
    <a:lvl1pPr algn="l" rtl="0" fontAlgn="base">
      <a:spcBef>
        <a:spcPct val="0"/>
      </a:spcBef>
      <a:spcAft>
        <a:spcPct val="0"/>
      </a:spcAft>
      <a:defRPr sz="1200" kern="1200" baseline="-25000">
        <a:solidFill>
          <a:schemeClr val="tx1"/>
        </a:solidFill>
        <a:latin typeface="Garamond" pitchFamily="18" charset="0"/>
        <a:ea typeface="宋体" pitchFamily="2" charset="-122"/>
        <a:cs typeface="+mn-cs"/>
      </a:defRPr>
    </a:lvl1pPr>
    <a:lvl2pPr marL="457200" algn="l" rtl="0" fontAlgn="base">
      <a:spcBef>
        <a:spcPct val="0"/>
      </a:spcBef>
      <a:spcAft>
        <a:spcPct val="0"/>
      </a:spcAft>
      <a:defRPr sz="1200" kern="1200" baseline="-25000">
        <a:solidFill>
          <a:schemeClr val="tx1"/>
        </a:solidFill>
        <a:latin typeface="Garamond" pitchFamily="18" charset="0"/>
        <a:ea typeface="宋体" pitchFamily="2" charset="-122"/>
        <a:cs typeface="+mn-cs"/>
      </a:defRPr>
    </a:lvl2pPr>
    <a:lvl3pPr marL="914400" algn="l" rtl="0" fontAlgn="base">
      <a:spcBef>
        <a:spcPct val="0"/>
      </a:spcBef>
      <a:spcAft>
        <a:spcPct val="0"/>
      </a:spcAft>
      <a:defRPr sz="1200" kern="1200" baseline="-25000">
        <a:solidFill>
          <a:schemeClr val="tx1"/>
        </a:solidFill>
        <a:latin typeface="Garamond" pitchFamily="18" charset="0"/>
        <a:ea typeface="宋体" pitchFamily="2" charset="-122"/>
        <a:cs typeface="+mn-cs"/>
      </a:defRPr>
    </a:lvl3pPr>
    <a:lvl4pPr marL="1371600" algn="l" rtl="0" fontAlgn="base">
      <a:spcBef>
        <a:spcPct val="0"/>
      </a:spcBef>
      <a:spcAft>
        <a:spcPct val="0"/>
      </a:spcAft>
      <a:defRPr sz="1200" kern="1200" baseline="-25000">
        <a:solidFill>
          <a:schemeClr val="tx1"/>
        </a:solidFill>
        <a:latin typeface="Garamond" pitchFamily="18" charset="0"/>
        <a:ea typeface="宋体" pitchFamily="2" charset="-122"/>
        <a:cs typeface="+mn-cs"/>
      </a:defRPr>
    </a:lvl4pPr>
    <a:lvl5pPr marL="1828800" algn="l" rtl="0" fontAlgn="base">
      <a:spcBef>
        <a:spcPct val="0"/>
      </a:spcBef>
      <a:spcAft>
        <a:spcPct val="0"/>
      </a:spcAft>
      <a:defRPr sz="1200" kern="1200" baseline="-25000">
        <a:solidFill>
          <a:schemeClr val="tx1"/>
        </a:solidFill>
        <a:latin typeface="Garamond" pitchFamily="18" charset="0"/>
        <a:ea typeface="宋体" pitchFamily="2" charset="-122"/>
        <a:cs typeface="+mn-cs"/>
      </a:defRPr>
    </a:lvl5pPr>
    <a:lvl6pPr marL="2286000" algn="l" defTabSz="914400" rtl="0" eaLnBrk="1" latinLnBrk="0" hangingPunct="1">
      <a:defRPr sz="1200" kern="1200" baseline="-25000">
        <a:solidFill>
          <a:schemeClr val="tx1"/>
        </a:solidFill>
        <a:latin typeface="Garamond" pitchFamily="18" charset="0"/>
        <a:ea typeface="宋体" pitchFamily="2" charset="-122"/>
        <a:cs typeface="+mn-cs"/>
      </a:defRPr>
    </a:lvl6pPr>
    <a:lvl7pPr marL="2743200" algn="l" defTabSz="914400" rtl="0" eaLnBrk="1" latinLnBrk="0" hangingPunct="1">
      <a:defRPr sz="1200" kern="1200" baseline="-25000">
        <a:solidFill>
          <a:schemeClr val="tx1"/>
        </a:solidFill>
        <a:latin typeface="Garamond" pitchFamily="18" charset="0"/>
        <a:ea typeface="宋体" pitchFamily="2" charset="-122"/>
        <a:cs typeface="+mn-cs"/>
      </a:defRPr>
    </a:lvl7pPr>
    <a:lvl8pPr marL="3200400" algn="l" defTabSz="914400" rtl="0" eaLnBrk="1" latinLnBrk="0" hangingPunct="1">
      <a:defRPr sz="1200" kern="1200" baseline="-25000">
        <a:solidFill>
          <a:schemeClr val="tx1"/>
        </a:solidFill>
        <a:latin typeface="Garamond" pitchFamily="18" charset="0"/>
        <a:ea typeface="宋体" pitchFamily="2" charset="-122"/>
        <a:cs typeface="+mn-cs"/>
      </a:defRPr>
    </a:lvl8pPr>
    <a:lvl9pPr marL="3657600" algn="l" defTabSz="914400" rtl="0" eaLnBrk="1" latinLnBrk="0" hangingPunct="1">
      <a:defRPr sz="1200" kern="1200" baseline="-25000">
        <a:solidFill>
          <a:schemeClr val="tx1"/>
        </a:solidFill>
        <a:latin typeface="Garamond"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FFFF"/>
    <a:srgbClr val="00194D"/>
    <a:srgbClr val="C4D7F4"/>
    <a:srgbClr val="FF6600"/>
    <a:srgbClr val="0099CC"/>
    <a:srgbClr val="00FF00"/>
    <a:srgbClr val="CCFF99"/>
    <a:srgbClr val="0000CC"/>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758" autoAdjust="0"/>
    <p:restoredTop sz="95244" autoAdjust="0"/>
  </p:normalViewPr>
  <p:slideViewPr>
    <p:cSldViewPr>
      <p:cViewPr varScale="1">
        <p:scale>
          <a:sx n="107" d="100"/>
          <a:sy n="107" d="100"/>
        </p:scale>
        <p:origin x="186" y="228"/>
      </p:cViewPr>
      <p:guideLst>
        <p:guide orient="horz" pos="2160"/>
        <p:guide pos="3840"/>
      </p:guideLst>
    </p:cSldViewPr>
  </p:slideViewPr>
  <p:outlineViewPr>
    <p:cViewPr>
      <p:scale>
        <a:sx n="33" d="100"/>
        <a:sy n="33" d="100"/>
      </p:scale>
      <p:origin x="0" y="2196"/>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Lst>
  </p:outlineViewPr>
  <p:notesTextViewPr>
    <p:cViewPr>
      <p:scale>
        <a:sx n="100" d="100"/>
        <a:sy n="100" d="100"/>
      </p:scale>
      <p:origin x="0" y="0"/>
    </p:cViewPr>
  </p:notesTextViewPr>
  <p:sorterViewPr>
    <p:cViewPr>
      <p:scale>
        <a:sx n="100" d="100"/>
        <a:sy n="100" d="100"/>
      </p:scale>
      <p:origin x="0" y="6018"/>
    </p:cViewPr>
  </p:sorterViewPr>
  <p:notesViewPr>
    <p:cSldViewPr>
      <p:cViewPr>
        <p:scale>
          <a:sx n="66" d="100"/>
          <a:sy n="66" d="100"/>
        </p:scale>
        <p:origin x="-2550" y="7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theme" Target="theme/theme1.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notesMaster" Target="notesMasters/notesMaster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handoutMaster" Target="handoutMasters/handoutMaster1.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viewProps" Target="viewProps.xml"/></Relationships>
</file>

<file path=ppt/_rels/viewProps.xml.rels><?xml version="1.0" encoding="UTF-8" standalone="yes"?>
<Relationships xmlns="http://schemas.openxmlformats.org/package/2006/relationships"><Relationship Id="rId8" Type="http://schemas.openxmlformats.org/officeDocument/2006/relationships/slide" Target="slides/slide30.xml"/><Relationship Id="rId13" Type="http://schemas.openxmlformats.org/officeDocument/2006/relationships/slide" Target="slides/slide53.xml"/><Relationship Id="rId18" Type="http://schemas.openxmlformats.org/officeDocument/2006/relationships/slide" Target="slides/slide66.xml"/><Relationship Id="rId26" Type="http://schemas.openxmlformats.org/officeDocument/2006/relationships/slide" Target="slides/slide89.xml"/><Relationship Id="rId3" Type="http://schemas.openxmlformats.org/officeDocument/2006/relationships/slide" Target="slides/slide21.xml"/><Relationship Id="rId21" Type="http://schemas.openxmlformats.org/officeDocument/2006/relationships/slide" Target="slides/slide76.xml"/><Relationship Id="rId7" Type="http://schemas.openxmlformats.org/officeDocument/2006/relationships/slide" Target="slides/slide29.xml"/><Relationship Id="rId12" Type="http://schemas.openxmlformats.org/officeDocument/2006/relationships/slide" Target="slides/slide49.xml"/><Relationship Id="rId17" Type="http://schemas.openxmlformats.org/officeDocument/2006/relationships/slide" Target="slides/slide65.xml"/><Relationship Id="rId25" Type="http://schemas.openxmlformats.org/officeDocument/2006/relationships/slide" Target="slides/slide87.xml"/><Relationship Id="rId2" Type="http://schemas.openxmlformats.org/officeDocument/2006/relationships/slide" Target="slides/slide20.xml"/><Relationship Id="rId16" Type="http://schemas.openxmlformats.org/officeDocument/2006/relationships/slide" Target="slides/slide64.xml"/><Relationship Id="rId20" Type="http://schemas.openxmlformats.org/officeDocument/2006/relationships/slide" Target="slides/slide74.xml"/><Relationship Id="rId1" Type="http://schemas.openxmlformats.org/officeDocument/2006/relationships/slide" Target="slides/slide19.xml"/><Relationship Id="rId6" Type="http://schemas.openxmlformats.org/officeDocument/2006/relationships/slide" Target="slides/slide28.xml"/><Relationship Id="rId11" Type="http://schemas.openxmlformats.org/officeDocument/2006/relationships/slide" Target="slides/slide46.xml"/><Relationship Id="rId24" Type="http://schemas.openxmlformats.org/officeDocument/2006/relationships/slide" Target="slides/slide85.xml"/><Relationship Id="rId5" Type="http://schemas.openxmlformats.org/officeDocument/2006/relationships/slide" Target="slides/slide26.xml"/><Relationship Id="rId15" Type="http://schemas.openxmlformats.org/officeDocument/2006/relationships/slide" Target="slides/slide61.xml"/><Relationship Id="rId23" Type="http://schemas.openxmlformats.org/officeDocument/2006/relationships/slide" Target="slides/slide83.xml"/><Relationship Id="rId28" Type="http://schemas.openxmlformats.org/officeDocument/2006/relationships/slide" Target="slides/slide94.xml"/><Relationship Id="rId10" Type="http://schemas.openxmlformats.org/officeDocument/2006/relationships/slide" Target="slides/slide44.xml"/><Relationship Id="rId19" Type="http://schemas.openxmlformats.org/officeDocument/2006/relationships/slide" Target="slides/slide67.xml"/><Relationship Id="rId4" Type="http://schemas.openxmlformats.org/officeDocument/2006/relationships/slide" Target="slides/slide22.xml"/><Relationship Id="rId9" Type="http://schemas.openxmlformats.org/officeDocument/2006/relationships/slide" Target="slides/slide41.xml"/><Relationship Id="rId14" Type="http://schemas.openxmlformats.org/officeDocument/2006/relationships/slide" Target="slides/slide59.xml"/><Relationship Id="rId22" Type="http://schemas.openxmlformats.org/officeDocument/2006/relationships/slide" Target="slides/slide78.xml"/><Relationship Id="rId27" Type="http://schemas.openxmlformats.org/officeDocument/2006/relationships/slide" Target="slides/slide90.xml"/></Relationships>
</file>

<file path=ppt/diagrams/_rels/data1.xml.rels><?xml version="1.0" encoding="UTF-8" standalone="yes"?>
<Relationships xmlns="http://schemas.openxmlformats.org/package/2006/relationships"><Relationship Id="rId1" Type="http://schemas.openxmlformats.org/officeDocument/2006/relationships/image" Target="../media/image6.jpg"/></Relationships>
</file>

<file path=ppt/diagrams/_rels/drawing1.xml.rels><?xml version="1.0" encoding="UTF-8" standalone="yes"?>
<Relationships xmlns="http://schemas.openxmlformats.org/package/2006/relationships"><Relationship Id="rId1" Type="http://schemas.openxmlformats.org/officeDocument/2006/relationships/image" Target="../media/image6.jpg"/></Relationships>
</file>

<file path=ppt/diagrams/colors1.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42660D-0302-455E-A1B3-0A8974C08600}" type="doc">
      <dgm:prSet loTypeId="urn:microsoft.com/office/officeart/2005/8/layout/radial2" loCatId="relationship" qsTypeId="urn:microsoft.com/office/officeart/2005/8/quickstyle/simple2" qsCatId="simple" csTypeId="urn:microsoft.com/office/officeart/2005/8/colors/accent5_1" csCatId="accent5" phldr="1"/>
      <dgm:spPr/>
      <dgm:t>
        <a:bodyPr/>
        <a:lstStyle/>
        <a:p>
          <a:endParaRPr lang="zh-CN" altLang="en-US"/>
        </a:p>
      </dgm:t>
    </dgm:pt>
    <dgm:pt modelId="{7C14DF74-CD20-4386-85E8-8CAA1B574801}">
      <dgm:prSet custT="1">
        <dgm:style>
          <a:lnRef idx="3">
            <a:schemeClr val="lt1"/>
          </a:lnRef>
          <a:fillRef idx="1">
            <a:schemeClr val="accent1"/>
          </a:fillRef>
          <a:effectRef idx="1">
            <a:schemeClr val="accent1"/>
          </a:effectRef>
          <a:fontRef idx="minor">
            <a:schemeClr val="lt1"/>
          </a:fontRef>
        </dgm:style>
      </dgm:prSet>
      <dgm:spPr>
        <a:gradFill flip="none" rotWithShape="0">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effectLst>
          <a:outerShdw blurRad="50800" dist="38100" dir="2700000" algn="tl" rotWithShape="0">
            <a:prstClr val="black">
              <a:alpha val="40000"/>
            </a:prstClr>
          </a:outerShdw>
        </a:effectLst>
      </dgm:spPr>
      <dgm:t>
        <a:bodyPr/>
        <a:lstStyle/>
        <a:p>
          <a:pPr rtl="0"/>
          <a:r>
            <a:rPr lang="zh-CN" altLang="en-US" sz="3200" baseline="0" dirty="0">
              <a:solidFill>
                <a:schemeClr val="tx1"/>
              </a:solidFill>
              <a:latin typeface="微软雅黑" panose="020B0503020204020204" pitchFamily="34" charset="-122"/>
              <a:ea typeface="微软雅黑" panose="020B0503020204020204" pitchFamily="34" charset="-122"/>
            </a:rPr>
            <a:t>抽象</a:t>
          </a:r>
          <a:endParaRPr lang="zh-CN" altLang="en-US" sz="3200" dirty="0">
            <a:solidFill>
              <a:schemeClr val="tx1"/>
            </a:solidFill>
            <a:latin typeface="微软雅黑" panose="020B0503020204020204" pitchFamily="34" charset="-122"/>
            <a:ea typeface="微软雅黑" panose="020B0503020204020204" pitchFamily="34" charset="-122"/>
          </a:endParaRPr>
        </a:p>
      </dgm:t>
    </dgm:pt>
    <dgm:pt modelId="{26E485FC-E406-4701-B737-9F361D94EFC3}" type="parTrans" cxnId="{4DDE3840-B856-49AA-AD2E-4B0E32BD44B3}">
      <dgm:prSet/>
      <dgm:spPr/>
      <dgm:t>
        <a:bodyPr/>
        <a:lstStyle/>
        <a:p>
          <a:endParaRPr lang="zh-CN" altLang="en-US" sz="3200">
            <a:latin typeface="微软雅黑" panose="020B0503020204020204" pitchFamily="34" charset="-122"/>
            <a:ea typeface="微软雅黑" panose="020B0503020204020204" pitchFamily="34" charset="-122"/>
          </a:endParaRPr>
        </a:p>
      </dgm:t>
    </dgm:pt>
    <dgm:pt modelId="{49B6801E-B93C-41BA-A535-CDBAA5F48CAC}" type="sibTrans" cxnId="{4DDE3840-B856-49AA-AD2E-4B0E32BD44B3}">
      <dgm:prSet/>
      <dgm:spPr/>
      <dgm:t>
        <a:bodyPr/>
        <a:lstStyle/>
        <a:p>
          <a:endParaRPr lang="zh-CN" altLang="en-US" sz="3200">
            <a:latin typeface="微软雅黑" panose="020B0503020204020204" pitchFamily="34" charset="-122"/>
            <a:ea typeface="微软雅黑" panose="020B0503020204020204" pitchFamily="34" charset="-122"/>
          </a:endParaRPr>
        </a:p>
      </dgm:t>
    </dgm:pt>
    <dgm:pt modelId="{F03BCBDB-F9CB-40E9-A4F0-DCDF24182164}">
      <dgm:prSet custT="1">
        <dgm:style>
          <a:lnRef idx="3">
            <a:schemeClr val="lt1"/>
          </a:lnRef>
          <a:fillRef idx="1">
            <a:schemeClr val="accent1"/>
          </a:fillRef>
          <a:effectRef idx="1">
            <a:schemeClr val="accent1"/>
          </a:effectRef>
          <a:fontRef idx="minor">
            <a:schemeClr val="lt1"/>
          </a:fontRef>
        </dgm:style>
      </dgm:prSet>
      <dgm:spPr>
        <a:gradFill flip="none" rotWithShape="0">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effectLst>
          <a:outerShdw blurRad="50800" dist="38100" dir="2700000" algn="tl" rotWithShape="0">
            <a:prstClr val="black">
              <a:alpha val="40000"/>
            </a:prstClr>
          </a:outerShdw>
        </a:effectLst>
      </dgm:spPr>
      <dgm:t>
        <a:bodyPr/>
        <a:lstStyle/>
        <a:p>
          <a:pPr rtl="0"/>
          <a:r>
            <a:rPr lang="zh-CN" altLang="en-US" sz="3200" baseline="0">
              <a:solidFill>
                <a:schemeClr val="tx1"/>
              </a:solidFill>
              <a:latin typeface="微软雅黑" panose="020B0503020204020204" pitchFamily="34" charset="-122"/>
              <a:ea typeface="微软雅黑" panose="020B0503020204020204" pitchFamily="34" charset="-122"/>
            </a:rPr>
            <a:t>信息爆炸</a:t>
          </a:r>
          <a:endParaRPr lang="zh-CN" altLang="en-US" sz="3200">
            <a:solidFill>
              <a:schemeClr val="tx1"/>
            </a:solidFill>
            <a:latin typeface="微软雅黑" panose="020B0503020204020204" pitchFamily="34" charset="-122"/>
            <a:ea typeface="微软雅黑" panose="020B0503020204020204" pitchFamily="34" charset="-122"/>
          </a:endParaRPr>
        </a:p>
      </dgm:t>
    </dgm:pt>
    <dgm:pt modelId="{501612E8-1EAA-4C3B-A2A9-F2BCD14686BC}" type="parTrans" cxnId="{10933A89-7D88-41EF-8F8A-8525BEDBBAD9}">
      <dgm:prSet/>
      <dgm:spPr/>
      <dgm:t>
        <a:bodyPr/>
        <a:lstStyle/>
        <a:p>
          <a:endParaRPr lang="zh-CN" altLang="en-US" sz="3200">
            <a:latin typeface="微软雅黑" panose="020B0503020204020204" pitchFamily="34" charset="-122"/>
            <a:ea typeface="微软雅黑" panose="020B0503020204020204" pitchFamily="34" charset="-122"/>
          </a:endParaRPr>
        </a:p>
      </dgm:t>
    </dgm:pt>
    <dgm:pt modelId="{184B0D38-7BD2-4004-9B19-E0470F7EF196}" type="sibTrans" cxnId="{10933A89-7D88-41EF-8F8A-8525BEDBBAD9}">
      <dgm:prSet/>
      <dgm:spPr/>
      <dgm:t>
        <a:bodyPr/>
        <a:lstStyle/>
        <a:p>
          <a:endParaRPr lang="zh-CN" altLang="en-US" sz="3200">
            <a:latin typeface="微软雅黑" panose="020B0503020204020204" pitchFamily="34" charset="-122"/>
            <a:ea typeface="微软雅黑" panose="020B0503020204020204" pitchFamily="34" charset="-122"/>
          </a:endParaRPr>
        </a:p>
      </dgm:t>
    </dgm:pt>
    <dgm:pt modelId="{C270DEDA-12BE-469C-92FB-8CA6EC06CAAB}">
      <dgm:prSet custT="1">
        <dgm:style>
          <a:lnRef idx="3">
            <a:schemeClr val="lt1"/>
          </a:lnRef>
          <a:fillRef idx="1">
            <a:schemeClr val="accent1"/>
          </a:fillRef>
          <a:effectRef idx="1">
            <a:schemeClr val="accent1"/>
          </a:effectRef>
          <a:fontRef idx="minor">
            <a:schemeClr val="lt1"/>
          </a:fontRef>
        </dgm:style>
      </dgm:prSet>
      <dgm:spPr>
        <a:gradFill flip="none" rotWithShape="0">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effectLst>
          <a:outerShdw blurRad="50800" dist="38100" dir="2700000" algn="tl" rotWithShape="0">
            <a:prstClr val="black">
              <a:alpha val="40000"/>
            </a:prstClr>
          </a:outerShdw>
        </a:effectLst>
      </dgm:spPr>
      <dgm:t>
        <a:bodyPr/>
        <a:lstStyle/>
        <a:p>
          <a:pPr rtl="0"/>
          <a:r>
            <a:rPr lang="zh-CN" altLang="en-US" sz="3200" baseline="0">
              <a:solidFill>
                <a:schemeClr val="tx1"/>
              </a:solidFill>
              <a:latin typeface="微软雅黑" panose="020B0503020204020204" pitchFamily="34" charset="-122"/>
              <a:ea typeface="微软雅黑" panose="020B0503020204020204" pitchFamily="34" charset="-122"/>
            </a:rPr>
            <a:t>记不住啊</a:t>
          </a:r>
          <a:endParaRPr lang="zh-CN" altLang="en-US" sz="3200">
            <a:solidFill>
              <a:schemeClr val="tx1"/>
            </a:solidFill>
            <a:latin typeface="微软雅黑" panose="020B0503020204020204" pitchFamily="34" charset="-122"/>
            <a:ea typeface="微软雅黑" panose="020B0503020204020204" pitchFamily="34" charset="-122"/>
          </a:endParaRPr>
        </a:p>
      </dgm:t>
    </dgm:pt>
    <dgm:pt modelId="{4C2E8E30-7C8E-4840-8BA3-F10899869C96}" type="parTrans" cxnId="{C2F3D6CF-38F7-418B-A4F5-402416562989}">
      <dgm:prSet/>
      <dgm:spPr/>
      <dgm:t>
        <a:bodyPr/>
        <a:lstStyle/>
        <a:p>
          <a:endParaRPr lang="zh-CN" altLang="en-US" sz="3200">
            <a:latin typeface="微软雅黑" panose="020B0503020204020204" pitchFamily="34" charset="-122"/>
            <a:ea typeface="微软雅黑" panose="020B0503020204020204" pitchFamily="34" charset="-122"/>
          </a:endParaRPr>
        </a:p>
      </dgm:t>
    </dgm:pt>
    <dgm:pt modelId="{7DC9CAAB-2477-44B0-A042-65DE3CD47A68}" type="sibTrans" cxnId="{C2F3D6CF-38F7-418B-A4F5-402416562989}">
      <dgm:prSet/>
      <dgm:spPr/>
      <dgm:t>
        <a:bodyPr/>
        <a:lstStyle/>
        <a:p>
          <a:endParaRPr lang="zh-CN" altLang="en-US" sz="3200">
            <a:latin typeface="微软雅黑" panose="020B0503020204020204" pitchFamily="34" charset="-122"/>
            <a:ea typeface="微软雅黑" panose="020B0503020204020204" pitchFamily="34" charset="-122"/>
          </a:endParaRPr>
        </a:p>
      </dgm:t>
    </dgm:pt>
    <dgm:pt modelId="{0B05DB8E-F47E-4882-98DF-C0C06032286B}" type="pres">
      <dgm:prSet presAssocID="{4042660D-0302-455E-A1B3-0A8974C08600}" presName="composite" presStyleCnt="0">
        <dgm:presLayoutVars>
          <dgm:chMax val="5"/>
          <dgm:dir/>
          <dgm:animLvl val="ctr"/>
          <dgm:resizeHandles val="exact"/>
        </dgm:presLayoutVars>
      </dgm:prSet>
      <dgm:spPr/>
      <dgm:t>
        <a:bodyPr/>
        <a:lstStyle/>
        <a:p>
          <a:endParaRPr lang="zh-CN" altLang="en-US"/>
        </a:p>
      </dgm:t>
    </dgm:pt>
    <dgm:pt modelId="{54DA6962-D79A-4F77-B9F9-A1C6F442819B}" type="pres">
      <dgm:prSet presAssocID="{4042660D-0302-455E-A1B3-0A8974C08600}" presName="cycle" presStyleCnt="0"/>
      <dgm:spPr/>
    </dgm:pt>
    <dgm:pt modelId="{FEBA2C5D-35FF-4CE9-B45D-B0729AF0CA70}" type="pres">
      <dgm:prSet presAssocID="{4042660D-0302-455E-A1B3-0A8974C08600}" presName="centerShape" presStyleCnt="0"/>
      <dgm:spPr/>
    </dgm:pt>
    <dgm:pt modelId="{939C0CEF-2EE9-4184-8BD3-9A156CAF1E79}" type="pres">
      <dgm:prSet presAssocID="{4042660D-0302-455E-A1B3-0A8974C08600}" presName="connSite" presStyleLbl="node1" presStyleIdx="0" presStyleCnt="4"/>
      <dgm:spPr/>
    </dgm:pt>
    <dgm:pt modelId="{70E02C0A-C386-4306-AF38-DA93B101B26A}" type="pres">
      <dgm:prSet presAssocID="{4042660D-0302-455E-A1B3-0A8974C08600}" presName="visible" presStyleLbl="node1" presStyleIdx="0" presStyleCnt="4" custScaleX="177714" custScaleY="177714" custLinFactNeighborX="-37772" custLinFactNeighborY="9872"/>
      <dgm:spPr>
        <a:blipFill>
          <a:blip xmlns:r="http://schemas.openxmlformats.org/officeDocument/2006/relationships" r:embed="rId1">
            <a:extLst>
              <a:ext uri="{28A0092B-C50C-407E-A947-70E740481C1C}">
                <a14:useLocalDpi xmlns:a14="http://schemas.microsoft.com/office/drawing/2010/main" val="0"/>
              </a:ext>
            </a:extLst>
          </a:blip>
          <a:srcRect/>
          <a:stretch>
            <a:fillRect l="-7000" r="-7000"/>
          </a:stretch>
        </a:blipFill>
      </dgm:spPr>
    </dgm:pt>
    <dgm:pt modelId="{9C322CB2-2549-4BA8-AAA6-73D1D65E99EF}" type="pres">
      <dgm:prSet presAssocID="{26E485FC-E406-4701-B737-9F361D94EFC3}" presName="Name25" presStyleLbl="parChTrans1D1" presStyleIdx="0" presStyleCnt="3"/>
      <dgm:spPr/>
      <dgm:t>
        <a:bodyPr/>
        <a:lstStyle/>
        <a:p>
          <a:endParaRPr lang="zh-CN" altLang="en-US"/>
        </a:p>
      </dgm:t>
    </dgm:pt>
    <dgm:pt modelId="{310CC098-96BF-40A1-9914-3C1D9D2BC148}" type="pres">
      <dgm:prSet presAssocID="{7C14DF74-CD20-4386-85E8-8CAA1B574801}" presName="node" presStyleCnt="0"/>
      <dgm:spPr/>
    </dgm:pt>
    <dgm:pt modelId="{9D4F75A1-3BF7-4830-88DB-B0EE5C1BA6F0}" type="pres">
      <dgm:prSet presAssocID="{7C14DF74-CD20-4386-85E8-8CAA1B574801}" presName="parentNode" presStyleLbl="node1" presStyleIdx="1" presStyleCnt="4" custLinFactX="6867" custLinFactNeighborX="100000" custLinFactNeighborY="14034">
        <dgm:presLayoutVars>
          <dgm:chMax val="1"/>
          <dgm:bulletEnabled val="1"/>
        </dgm:presLayoutVars>
      </dgm:prSet>
      <dgm:spPr/>
      <dgm:t>
        <a:bodyPr/>
        <a:lstStyle/>
        <a:p>
          <a:endParaRPr lang="zh-CN" altLang="en-US"/>
        </a:p>
      </dgm:t>
    </dgm:pt>
    <dgm:pt modelId="{9EC9FA14-402A-4107-BD06-FFB7501EE582}" type="pres">
      <dgm:prSet presAssocID="{7C14DF74-CD20-4386-85E8-8CAA1B574801}" presName="childNode" presStyleLbl="revTx" presStyleIdx="0" presStyleCnt="0">
        <dgm:presLayoutVars>
          <dgm:bulletEnabled val="1"/>
        </dgm:presLayoutVars>
      </dgm:prSet>
      <dgm:spPr/>
    </dgm:pt>
    <dgm:pt modelId="{9073DDA5-C341-4864-927B-E1FBC24B3D56}" type="pres">
      <dgm:prSet presAssocID="{501612E8-1EAA-4C3B-A2A9-F2BCD14686BC}" presName="Name25" presStyleLbl="parChTrans1D1" presStyleIdx="1" presStyleCnt="3"/>
      <dgm:spPr/>
      <dgm:t>
        <a:bodyPr/>
        <a:lstStyle/>
        <a:p>
          <a:endParaRPr lang="zh-CN" altLang="en-US"/>
        </a:p>
      </dgm:t>
    </dgm:pt>
    <dgm:pt modelId="{90B46943-F44C-4D0E-9D85-29FCEFB21103}" type="pres">
      <dgm:prSet presAssocID="{F03BCBDB-F9CB-40E9-A4F0-DCDF24182164}" presName="node" presStyleCnt="0"/>
      <dgm:spPr/>
    </dgm:pt>
    <dgm:pt modelId="{E4032F0A-EBAF-4A6C-8B44-891D59305EF2}" type="pres">
      <dgm:prSet presAssocID="{F03BCBDB-F9CB-40E9-A4F0-DCDF24182164}" presName="parentNode" presStyleLbl="node1" presStyleIdx="2" presStyleCnt="4" custLinFactX="57039" custLinFactNeighborX="100000" custLinFactNeighborY="20052">
        <dgm:presLayoutVars>
          <dgm:chMax val="1"/>
          <dgm:bulletEnabled val="1"/>
        </dgm:presLayoutVars>
      </dgm:prSet>
      <dgm:spPr/>
      <dgm:t>
        <a:bodyPr/>
        <a:lstStyle/>
        <a:p>
          <a:endParaRPr lang="zh-CN" altLang="en-US"/>
        </a:p>
      </dgm:t>
    </dgm:pt>
    <dgm:pt modelId="{7C143765-E5F7-4923-A48E-06FAE578E5DA}" type="pres">
      <dgm:prSet presAssocID="{F03BCBDB-F9CB-40E9-A4F0-DCDF24182164}" presName="childNode" presStyleLbl="revTx" presStyleIdx="0" presStyleCnt="0">
        <dgm:presLayoutVars>
          <dgm:bulletEnabled val="1"/>
        </dgm:presLayoutVars>
      </dgm:prSet>
      <dgm:spPr/>
    </dgm:pt>
    <dgm:pt modelId="{C275A5FC-D808-4A88-8AC7-BDBF9D28B896}" type="pres">
      <dgm:prSet presAssocID="{4C2E8E30-7C8E-4840-8BA3-F10899869C96}" presName="Name25" presStyleLbl="parChTrans1D1" presStyleIdx="2" presStyleCnt="3"/>
      <dgm:spPr/>
      <dgm:t>
        <a:bodyPr/>
        <a:lstStyle/>
        <a:p>
          <a:endParaRPr lang="zh-CN" altLang="en-US"/>
        </a:p>
      </dgm:t>
    </dgm:pt>
    <dgm:pt modelId="{DC93EEF3-DAD7-4267-875F-34058984CCD0}" type="pres">
      <dgm:prSet presAssocID="{C270DEDA-12BE-469C-92FB-8CA6EC06CAAB}" presName="node" presStyleCnt="0"/>
      <dgm:spPr/>
    </dgm:pt>
    <dgm:pt modelId="{858EC677-72EC-4B5E-BA4D-E2024AF6A77A}" type="pres">
      <dgm:prSet presAssocID="{C270DEDA-12BE-469C-92FB-8CA6EC06CAAB}" presName="parentNode" presStyleLbl="node1" presStyleIdx="3" presStyleCnt="4" custLinFactNeighborX="69860" custLinFactNeighborY="7567">
        <dgm:presLayoutVars>
          <dgm:chMax val="1"/>
          <dgm:bulletEnabled val="1"/>
        </dgm:presLayoutVars>
      </dgm:prSet>
      <dgm:spPr/>
      <dgm:t>
        <a:bodyPr/>
        <a:lstStyle/>
        <a:p>
          <a:endParaRPr lang="zh-CN" altLang="en-US"/>
        </a:p>
      </dgm:t>
    </dgm:pt>
    <dgm:pt modelId="{D9260869-B8FD-4778-8800-3BAC639DB2E9}" type="pres">
      <dgm:prSet presAssocID="{C270DEDA-12BE-469C-92FB-8CA6EC06CAAB}" presName="childNode" presStyleLbl="revTx" presStyleIdx="0" presStyleCnt="0">
        <dgm:presLayoutVars>
          <dgm:bulletEnabled val="1"/>
        </dgm:presLayoutVars>
      </dgm:prSet>
      <dgm:spPr/>
    </dgm:pt>
  </dgm:ptLst>
  <dgm:cxnLst>
    <dgm:cxn modelId="{205F4235-6F7A-41D2-967F-A4542F3E865A}" type="presOf" srcId="{4042660D-0302-455E-A1B3-0A8974C08600}" destId="{0B05DB8E-F47E-4882-98DF-C0C06032286B}" srcOrd="0" destOrd="0" presId="urn:microsoft.com/office/officeart/2005/8/layout/radial2"/>
    <dgm:cxn modelId="{10933A89-7D88-41EF-8F8A-8525BEDBBAD9}" srcId="{4042660D-0302-455E-A1B3-0A8974C08600}" destId="{F03BCBDB-F9CB-40E9-A4F0-DCDF24182164}" srcOrd="1" destOrd="0" parTransId="{501612E8-1EAA-4C3B-A2A9-F2BCD14686BC}" sibTransId="{184B0D38-7BD2-4004-9B19-E0470F7EF196}"/>
    <dgm:cxn modelId="{4DDE3840-B856-49AA-AD2E-4B0E32BD44B3}" srcId="{4042660D-0302-455E-A1B3-0A8974C08600}" destId="{7C14DF74-CD20-4386-85E8-8CAA1B574801}" srcOrd="0" destOrd="0" parTransId="{26E485FC-E406-4701-B737-9F361D94EFC3}" sibTransId="{49B6801E-B93C-41BA-A535-CDBAA5F48CAC}"/>
    <dgm:cxn modelId="{C2F3D6CF-38F7-418B-A4F5-402416562989}" srcId="{4042660D-0302-455E-A1B3-0A8974C08600}" destId="{C270DEDA-12BE-469C-92FB-8CA6EC06CAAB}" srcOrd="2" destOrd="0" parTransId="{4C2E8E30-7C8E-4840-8BA3-F10899869C96}" sibTransId="{7DC9CAAB-2477-44B0-A042-65DE3CD47A68}"/>
    <dgm:cxn modelId="{3F5BFE41-7730-4C72-9CB7-F3DF4C112896}" type="presOf" srcId="{4C2E8E30-7C8E-4840-8BA3-F10899869C96}" destId="{C275A5FC-D808-4A88-8AC7-BDBF9D28B896}" srcOrd="0" destOrd="0" presId="urn:microsoft.com/office/officeart/2005/8/layout/radial2"/>
    <dgm:cxn modelId="{ACEC6130-A2B1-4CCE-AB19-F4A9A51B27F9}" type="presOf" srcId="{501612E8-1EAA-4C3B-A2A9-F2BCD14686BC}" destId="{9073DDA5-C341-4864-927B-E1FBC24B3D56}" srcOrd="0" destOrd="0" presId="urn:microsoft.com/office/officeart/2005/8/layout/radial2"/>
    <dgm:cxn modelId="{BE7FFF55-34AD-47D2-BF4A-181273C623B9}" type="presOf" srcId="{26E485FC-E406-4701-B737-9F361D94EFC3}" destId="{9C322CB2-2549-4BA8-AAA6-73D1D65E99EF}" srcOrd="0" destOrd="0" presId="urn:microsoft.com/office/officeart/2005/8/layout/radial2"/>
    <dgm:cxn modelId="{2A1F795F-C515-4C64-9469-EEBB5B84CBA3}" type="presOf" srcId="{C270DEDA-12BE-469C-92FB-8CA6EC06CAAB}" destId="{858EC677-72EC-4B5E-BA4D-E2024AF6A77A}" srcOrd="0" destOrd="0" presId="urn:microsoft.com/office/officeart/2005/8/layout/radial2"/>
    <dgm:cxn modelId="{6D05C321-1FFF-475C-A4F6-3EA62CF4E817}" type="presOf" srcId="{F03BCBDB-F9CB-40E9-A4F0-DCDF24182164}" destId="{E4032F0A-EBAF-4A6C-8B44-891D59305EF2}" srcOrd="0" destOrd="0" presId="urn:microsoft.com/office/officeart/2005/8/layout/radial2"/>
    <dgm:cxn modelId="{75E59360-7AA1-4A40-B989-2ED7099D01E2}" type="presOf" srcId="{7C14DF74-CD20-4386-85E8-8CAA1B574801}" destId="{9D4F75A1-3BF7-4830-88DB-B0EE5C1BA6F0}" srcOrd="0" destOrd="0" presId="urn:microsoft.com/office/officeart/2005/8/layout/radial2"/>
    <dgm:cxn modelId="{10E06696-7B8D-4E73-B9A9-A2D60BF0D68C}" type="presParOf" srcId="{0B05DB8E-F47E-4882-98DF-C0C06032286B}" destId="{54DA6962-D79A-4F77-B9F9-A1C6F442819B}" srcOrd="0" destOrd="0" presId="urn:microsoft.com/office/officeart/2005/8/layout/radial2"/>
    <dgm:cxn modelId="{80C1986C-D0C5-427E-B5C5-7C8DEDC6819F}" type="presParOf" srcId="{54DA6962-D79A-4F77-B9F9-A1C6F442819B}" destId="{FEBA2C5D-35FF-4CE9-B45D-B0729AF0CA70}" srcOrd="0" destOrd="0" presId="urn:microsoft.com/office/officeart/2005/8/layout/radial2"/>
    <dgm:cxn modelId="{8B3CFC6F-DFE0-4E98-926C-7DAA108C043D}" type="presParOf" srcId="{FEBA2C5D-35FF-4CE9-B45D-B0729AF0CA70}" destId="{939C0CEF-2EE9-4184-8BD3-9A156CAF1E79}" srcOrd="0" destOrd="0" presId="urn:microsoft.com/office/officeart/2005/8/layout/radial2"/>
    <dgm:cxn modelId="{27D33926-B6FC-4225-9E24-2A3EA784045D}" type="presParOf" srcId="{FEBA2C5D-35FF-4CE9-B45D-B0729AF0CA70}" destId="{70E02C0A-C386-4306-AF38-DA93B101B26A}" srcOrd="1" destOrd="0" presId="urn:microsoft.com/office/officeart/2005/8/layout/radial2"/>
    <dgm:cxn modelId="{4B749BA9-54EF-4256-B415-60B9A9365E87}" type="presParOf" srcId="{54DA6962-D79A-4F77-B9F9-A1C6F442819B}" destId="{9C322CB2-2549-4BA8-AAA6-73D1D65E99EF}" srcOrd="1" destOrd="0" presId="urn:microsoft.com/office/officeart/2005/8/layout/radial2"/>
    <dgm:cxn modelId="{944B0CC8-5D2A-413A-8A56-BB75BFF9B803}" type="presParOf" srcId="{54DA6962-D79A-4F77-B9F9-A1C6F442819B}" destId="{310CC098-96BF-40A1-9914-3C1D9D2BC148}" srcOrd="2" destOrd="0" presId="urn:microsoft.com/office/officeart/2005/8/layout/radial2"/>
    <dgm:cxn modelId="{D69C2092-8022-4C19-BC9D-FAA356217EDD}" type="presParOf" srcId="{310CC098-96BF-40A1-9914-3C1D9D2BC148}" destId="{9D4F75A1-3BF7-4830-88DB-B0EE5C1BA6F0}" srcOrd="0" destOrd="0" presId="urn:microsoft.com/office/officeart/2005/8/layout/radial2"/>
    <dgm:cxn modelId="{14E22606-711D-4DDE-AD39-729FCA0DE070}" type="presParOf" srcId="{310CC098-96BF-40A1-9914-3C1D9D2BC148}" destId="{9EC9FA14-402A-4107-BD06-FFB7501EE582}" srcOrd="1" destOrd="0" presId="urn:microsoft.com/office/officeart/2005/8/layout/radial2"/>
    <dgm:cxn modelId="{95659144-A55B-4E74-A28C-633842544927}" type="presParOf" srcId="{54DA6962-D79A-4F77-B9F9-A1C6F442819B}" destId="{9073DDA5-C341-4864-927B-E1FBC24B3D56}" srcOrd="3" destOrd="0" presId="urn:microsoft.com/office/officeart/2005/8/layout/radial2"/>
    <dgm:cxn modelId="{AB4C5131-F49D-442C-A215-6EF5F721893D}" type="presParOf" srcId="{54DA6962-D79A-4F77-B9F9-A1C6F442819B}" destId="{90B46943-F44C-4D0E-9D85-29FCEFB21103}" srcOrd="4" destOrd="0" presId="urn:microsoft.com/office/officeart/2005/8/layout/radial2"/>
    <dgm:cxn modelId="{CD931602-E635-405D-9DDE-A68286F2886A}" type="presParOf" srcId="{90B46943-F44C-4D0E-9D85-29FCEFB21103}" destId="{E4032F0A-EBAF-4A6C-8B44-891D59305EF2}" srcOrd="0" destOrd="0" presId="urn:microsoft.com/office/officeart/2005/8/layout/radial2"/>
    <dgm:cxn modelId="{2A660F77-E352-46FC-BEEB-EBDA1BD6267D}" type="presParOf" srcId="{90B46943-F44C-4D0E-9D85-29FCEFB21103}" destId="{7C143765-E5F7-4923-A48E-06FAE578E5DA}" srcOrd="1" destOrd="0" presId="urn:microsoft.com/office/officeart/2005/8/layout/radial2"/>
    <dgm:cxn modelId="{08B1B655-08F2-476A-9796-66A67766BC12}" type="presParOf" srcId="{54DA6962-D79A-4F77-B9F9-A1C6F442819B}" destId="{C275A5FC-D808-4A88-8AC7-BDBF9D28B896}" srcOrd="5" destOrd="0" presId="urn:microsoft.com/office/officeart/2005/8/layout/radial2"/>
    <dgm:cxn modelId="{107D8332-F6FA-4E14-BA89-D0BA1F5295BA}" type="presParOf" srcId="{54DA6962-D79A-4F77-B9F9-A1C6F442819B}" destId="{DC93EEF3-DAD7-4267-875F-34058984CCD0}" srcOrd="6" destOrd="0" presId="urn:microsoft.com/office/officeart/2005/8/layout/radial2"/>
    <dgm:cxn modelId="{9D5E309F-07C6-4C26-877F-D11FC864F10F}" type="presParOf" srcId="{DC93EEF3-DAD7-4267-875F-34058984CCD0}" destId="{858EC677-72EC-4B5E-BA4D-E2024AF6A77A}" srcOrd="0" destOrd="0" presId="urn:microsoft.com/office/officeart/2005/8/layout/radial2"/>
    <dgm:cxn modelId="{8FAC0EA1-E8CB-43CC-BBDE-7FE562CBBD53}" type="presParOf" srcId="{DC93EEF3-DAD7-4267-875F-34058984CCD0}" destId="{D9260869-B8FD-4778-8800-3BAC639DB2E9}" srcOrd="1" destOrd="0" presId="urn:microsoft.com/office/officeart/2005/8/layout/radial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CA2ECC1-587E-4447-9DEB-DF7B542B0F8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917E113D-9214-40FC-AF25-B301EFB42413}">
      <dgm:prSet custT="1"/>
      <dgm:spPr/>
      <dgm:t>
        <a:bodyPr/>
        <a:lstStyle/>
        <a:p>
          <a:pPr rtl="0"/>
          <a:r>
            <a:rPr kumimoji="1" lang="zh-CN" altLang="en-US" sz="2800" b="0" i="0" baseline="0" dirty="0">
              <a:latin typeface="微软雅黑" panose="020B0503020204020204" pitchFamily="34" charset="-122"/>
              <a:ea typeface="微软雅黑" panose="020B0503020204020204" pitchFamily="34" charset="-122"/>
            </a:rPr>
            <a:t>数据定义</a:t>
          </a:r>
          <a:endParaRPr lang="zh-CN" altLang="en-US" sz="2800" dirty="0">
            <a:latin typeface="微软雅黑" panose="020B0503020204020204" pitchFamily="34" charset="-122"/>
            <a:ea typeface="微软雅黑" panose="020B0503020204020204" pitchFamily="34" charset="-122"/>
          </a:endParaRPr>
        </a:p>
      </dgm:t>
    </dgm:pt>
    <dgm:pt modelId="{F3B03BF3-E3E8-43FC-AC3F-FB8081BE4E6C}" type="parTrans" cxnId="{92A3D7EE-FB31-4608-B669-CACD97A46243}">
      <dgm:prSet/>
      <dgm:spPr/>
      <dgm:t>
        <a:bodyPr/>
        <a:lstStyle/>
        <a:p>
          <a:endParaRPr lang="zh-CN" altLang="en-US"/>
        </a:p>
      </dgm:t>
    </dgm:pt>
    <dgm:pt modelId="{C2659462-8336-49E5-99C3-6E0664176592}" type="sibTrans" cxnId="{92A3D7EE-FB31-4608-B669-CACD97A46243}">
      <dgm:prSet/>
      <dgm:spPr/>
      <dgm:t>
        <a:bodyPr/>
        <a:lstStyle/>
        <a:p>
          <a:endParaRPr lang="zh-CN" altLang="en-US"/>
        </a:p>
      </dgm:t>
    </dgm:pt>
    <dgm:pt modelId="{B1F2BB72-5DAD-4883-A36B-9C4AB0E39F12}">
      <dgm:prSet custT="1"/>
      <dgm:spPr/>
      <dgm:t>
        <a:bodyPr/>
        <a:lstStyle/>
        <a:p>
          <a:pPr rtl="0"/>
          <a:r>
            <a:rPr kumimoji="1" lang="zh-CN" altLang="en-US" sz="2800" b="0" i="0" baseline="0" dirty="0">
              <a:latin typeface="微软雅黑" panose="020B0503020204020204" pitchFamily="34" charset="-122"/>
              <a:ea typeface="微软雅黑" panose="020B0503020204020204" pitchFamily="34" charset="-122"/>
            </a:rPr>
            <a:t>数据操作</a:t>
          </a:r>
          <a:endParaRPr lang="zh-CN" altLang="en-US" sz="2800" dirty="0">
            <a:latin typeface="微软雅黑" panose="020B0503020204020204" pitchFamily="34" charset="-122"/>
            <a:ea typeface="微软雅黑" panose="020B0503020204020204" pitchFamily="34" charset="-122"/>
          </a:endParaRPr>
        </a:p>
      </dgm:t>
    </dgm:pt>
    <dgm:pt modelId="{DF632440-025F-4E62-BC78-B1B33DBA959D}" type="parTrans" cxnId="{F1283B16-63E8-41C8-9369-0CC24B5047DE}">
      <dgm:prSet/>
      <dgm:spPr/>
      <dgm:t>
        <a:bodyPr/>
        <a:lstStyle/>
        <a:p>
          <a:endParaRPr lang="zh-CN" altLang="en-US"/>
        </a:p>
      </dgm:t>
    </dgm:pt>
    <dgm:pt modelId="{303701D0-75DE-4C0C-B267-901A56F48CE8}" type="sibTrans" cxnId="{F1283B16-63E8-41C8-9369-0CC24B5047DE}">
      <dgm:prSet/>
      <dgm:spPr/>
      <dgm:t>
        <a:bodyPr/>
        <a:lstStyle/>
        <a:p>
          <a:endParaRPr lang="zh-CN" altLang="en-US"/>
        </a:p>
      </dgm:t>
    </dgm:pt>
    <dgm:pt modelId="{62E7A436-0514-402C-A74A-E554AD3EC6FA}">
      <dgm:prSet custT="1"/>
      <dgm:spPr/>
      <dgm:t>
        <a:bodyPr/>
        <a:lstStyle/>
        <a:p>
          <a:pPr rtl="0"/>
          <a:r>
            <a:rPr kumimoji="1" lang="zh-CN" altLang="en-US" sz="2800" b="0" i="0" baseline="0" dirty="0">
              <a:latin typeface="微软雅黑" panose="020B0503020204020204" pitchFamily="34" charset="-122"/>
              <a:ea typeface="微软雅黑" panose="020B0503020204020204" pitchFamily="34" charset="-122"/>
            </a:rPr>
            <a:t>运行管理</a:t>
          </a:r>
          <a:endParaRPr lang="zh-CN" altLang="en-US" sz="2800" dirty="0">
            <a:latin typeface="微软雅黑" panose="020B0503020204020204" pitchFamily="34" charset="-122"/>
            <a:ea typeface="微软雅黑" panose="020B0503020204020204" pitchFamily="34" charset="-122"/>
          </a:endParaRPr>
        </a:p>
      </dgm:t>
    </dgm:pt>
    <dgm:pt modelId="{AE584E7D-DB42-4D94-85A0-6EC732110B7C}" type="parTrans" cxnId="{F6296A73-06E5-4226-B765-2092D6DE5188}">
      <dgm:prSet/>
      <dgm:spPr/>
      <dgm:t>
        <a:bodyPr/>
        <a:lstStyle/>
        <a:p>
          <a:endParaRPr lang="zh-CN" altLang="en-US"/>
        </a:p>
      </dgm:t>
    </dgm:pt>
    <dgm:pt modelId="{70211040-1BA1-429A-B218-DDAF943C728C}" type="sibTrans" cxnId="{F6296A73-06E5-4226-B765-2092D6DE5188}">
      <dgm:prSet/>
      <dgm:spPr/>
      <dgm:t>
        <a:bodyPr/>
        <a:lstStyle/>
        <a:p>
          <a:endParaRPr lang="zh-CN" altLang="en-US"/>
        </a:p>
      </dgm:t>
    </dgm:pt>
    <dgm:pt modelId="{3409ECF5-5664-45A8-A22A-6441A55F94BC}">
      <dgm:prSet custT="1"/>
      <dgm:spPr/>
      <dgm:t>
        <a:bodyPr/>
        <a:lstStyle/>
        <a:p>
          <a:pPr rtl="0"/>
          <a:r>
            <a:rPr kumimoji="1" lang="zh-CN" altLang="en-US" sz="2800" b="0" i="0" baseline="0" dirty="0">
              <a:latin typeface="微软雅黑" panose="020B0503020204020204" pitchFamily="34" charset="-122"/>
              <a:ea typeface="微软雅黑" panose="020B0503020204020204" pitchFamily="34" charset="-122"/>
            </a:rPr>
            <a:t>组织维护</a:t>
          </a:r>
          <a:endParaRPr lang="zh-CN" altLang="en-US" sz="2800" dirty="0">
            <a:latin typeface="微软雅黑" panose="020B0503020204020204" pitchFamily="34" charset="-122"/>
            <a:ea typeface="微软雅黑" panose="020B0503020204020204" pitchFamily="34" charset="-122"/>
          </a:endParaRPr>
        </a:p>
      </dgm:t>
    </dgm:pt>
    <dgm:pt modelId="{A8BEEAC9-B501-4B4D-B103-70BA4002D128}" type="parTrans" cxnId="{959D4DA5-F55B-41D7-9133-5642ECDC7F0C}">
      <dgm:prSet/>
      <dgm:spPr/>
      <dgm:t>
        <a:bodyPr/>
        <a:lstStyle/>
        <a:p>
          <a:endParaRPr lang="zh-CN" altLang="en-US"/>
        </a:p>
      </dgm:t>
    </dgm:pt>
    <dgm:pt modelId="{D75CA19B-FF38-46F2-9FF2-98A06B68BF94}" type="sibTrans" cxnId="{959D4DA5-F55B-41D7-9133-5642ECDC7F0C}">
      <dgm:prSet/>
      <dgm:spPr/>
      <dgm:t>
        <a:bodyPr/>
        <a:lstStyle/>
        <a:p>
          <a:endParaRPr lang="zh-CN" altLang="en-US"/>
        </a:p>
      </dgm:t>
    </dgm:pt>
    <dgm:pt modelId="{D2113D22-6415-4374-B968-360648B630E6}">
      <dgm:prSet/>
      <dgm:spPr/>
      <dgm:t>
        <a:bodyPr/>
        <a:lstStyle/>
        <a:p>
          <a:r>
            <a:rPr lang="en-US" altLang="zh-CN" dirty="0">
              <a:latin typeface="宋体" panose="02010600030101010101" pitchFamily="2" charset="-122"/>
              <a:ea typeface="宋体" panose="02010600030101010101" pitchFamily="2" charset="-122"/>
            </a:rPr>
            <a:t>DDL</a:t>
          </a:r>
          <a:endParaRPr lang="zh-CN" altLang="en-US" dirty="0">
            <a:latin typeface="宋体" panose="02010600030101010101" pitchFamily="2" charset="-122"/>
            <a:ea typeface="宋体" panose="02010600030101010101" pitchFamily="2" charset="-122"/>
          </a:endParaRPr>
        </a:p>
      </dgm:t>
    </dgm:pt>
    <dgm:pt modelId="{DE51321B-3926-44DC-85FD-43C86C4E10AA}" type="parTrans" cxnId="{479E680C-AA0F-4558-9C1F-8BA29F4C26D3}">
      <dgm:prSet/>
      <dgm:spPr/>
      <dgm:t>
        <a:bodyPr/>
        <a:lstStyle/>
        <a:p>
          <a:endParaRPr lang="zh-CN" altLang="en-US"/>
        </a:p>
      </dgm:t>
    </dgm:pt>
    <dgm:pt modelId="{645259F7-EAE1-4C12-8170-2728E931C928}" type="sibTrans" cxnId="{479E680C-AA0F-4558-9C1F-8BA29F4C26D3}">
      <dgm:prSet/>
      <dgm:spPr/>
      <dgm:t>
        <a:bodyPr/>
        <a:lstStyle/>
        <a:p>
          <a:endParaRPr lang="zh-CN" altLang="en-US"/>
        </a:p>
      </dgm:t>
    </dgm:pt>
    <dgm:pt modelId="{114A13B5-B1BB-452C-9A86-E4D45DFD45F0}">
      <dgm:prSet/>
      <dgm:spPr/>
      <dgm:t>
        <a:bodyPr/>
        <a:lstStyle/>
        <a:p>
          <a:pPr rtl="0"/>
          <a:r>
            <a:rPr kumimoji="1" lang="en-US" b="0" i="0" baseline="0" dirty="0">
              <a:latin typeface="宋体" panose="02010600030101010101" pitchFamily="2" charset="-122"/>
              <a:ea typeface="宋体" panose="02010600030101010101" pitchFamily="2" charset="-122"/>
            </a:rPr>
            <a:t>DML</a:t>
          </a:r>
          <a:endParaRPr lang="zh-CN" altLang="en-US" dirty="0">
            <a:latin typeface="宋体" panose="02010600030101010101" pitchFamily="2" charset="-122"/>
            <a:ea typeface="宋体" panose="02010600030101010101" pitchFamily="2" charset="-122"/>
          </a:endParaRPr>
        </a:p>
      </dgm:t>
    </dgm:pt>
    <dgm:pt modelId="{40278A06-F693-4939-9CD7-737032AF2EC2}" type="parTrans" cxnId="{BF315622-2EA6-4516-88F5-9FA29A80BF22}">
      <dgm:prSet/>
      <dgm:spPr/>
      <dgm:t>
        <a:bodyPr/>
        <a:lstStyle/>
        <a:p>
          <a:endParaRPr lang="zh-CN" altLang="en-US"/>
        </a:p>
      </dgm:t>
    </dgm:pt>
    <dgm:pt modelId="{DDA2929A-BA06-4001-BB6A-CEA40B7C4656}" type="sibTrans" cxnId="{BF315622-2EA6-4516-88F5-9FA29A80BF22}">
      <dgm:prSet/>
      <dgm:spPr/>
      <dgm:t>
        <a:bodyPr/>
        <a:lstStyle/>
        <a:p>
          <a:endParaRPr lang="zh-CN" altLang="en-US"/>
        </a:p>
      </dgm:t>
    </dgm:pt>
    <dgm:pt modelId="{34D09D14-DF0C-4913-BC05-04DD41142B16}">
      <dgm:prSet/>
      <dgm:spPr/>
      <dgm:t>
        <a:bodyPr/>
        <a:lstStyle/>
        <a:p>
          <a:pPr rtl="0"/>
          <a:r>
            <a:rPr lang="zh-CN" altLang="en-US" dirty="0">
              <a:latin typeface="宋体" panose="02010600030101010101" pitchFamily="2" charset="-122"/>
              <a:ea typeface="宋体" panose="02010600030101010101" pitchFamily="2" charset="-122"/>
            </a:rPr>
            <a:t>增</a:t>
          </a:r>
        </a:p>
      </dgm:t>
    </dgm:pt>
    <dgm:pt modelId="{636BF019-7C31-4CDD-A8C1-8296B96ED6A6}" type="parTrans" cxnId="{73EF8AB4-BB1D-4B92-9014-B1BFED1121B8}">
      <dgm:prSet/>
      <dgm:spPr/>
      <dgm:t>
        <a:bodyPr/>
        <a:lstStyle/>
        <a:p>
          <a:endParaRPr lang="zh-CN" altLang="en-US"/>
        </a:p>
      </dgm:t>
    </dgm:pt>
    <dgm:pt modelId="{CFECB24A-5DA2-4AE3-B6D7-30C8F9E1D282}" type="sibTrans" cxnId="{73EF8AB4-BB1D-4B92-9014-B1BFED1121B8}">
      <dgm:prSet/>
      <dgm:spPr/>
      <dgm:t>
        <a:bodyPr/>
        <a:lstStyle/>
        <a:p>
          <a:endParaRPr lang="zh-CN" altLang="en-US"/>
        </a:p>
      </dgm:t>
    </dgm:pt>
    <dgm:pt modelId="{2524D34C-3BEF-48A3-8A73-8234CB912786}">
      <dgm:prSet/>
      <dgm:spPr/>
      <dgm:t>
        <a:bodyPr/>
        <a:lstStyle/>
        <a:p>
          <a:r>
            <a:rPr lang="zh-CN" altLang="en-US" dirty="0">
              <a:latin typeface="宋体" panose="02010600030101010101" pitchFamily="2" charset="-122"/>
              <a:ea typeface="宋体" panose="02010600030101010101" pitchFamily="2" charset="-122"/>
            </a:rPr>
            <a:t>安全</a:t>
          </a:r>
        </a:p>
      </dgm:t>
    </dgm:pt>
    <dgm:pt modelId="{BBE15068-4D9B-4D42-9F34-CC3D8DD7F349}" type="parTrans" cxnId="{55EF85C8-6170-4C82-8754-8D818E948A34}">
      <dgm:prSet/>
      <dgm:spPr/>
      <dgm:t>
        <a:bodyPr/>
        <a:lstStyle/>
        <a:p>
          <a:endParaRPr lang="zh-CN" altLang="en-US"/>
        </a:p>
      </dgm:t>
    </dgm:pt>
    <dgm:pt modelId="{3E2804CD-883C-4951-8898-0F4BA4E96421}" type="sibTrans" cxnId="{55EF85C8-6170-4C82-8754-8D818E948A34}">
      <dgm:prSet/>
      <dgm:spPr/>
      <dgm:t>
        <a:bodyPr/>
        <a:lstStyle/>
        <a:p>
          <a:endParaRPr lang="zh-CN" altLang="en-US"/>
        </a:p>
      </dgm:t>
    </dgm:pt>
    <dgm:pt modelId="{0B5CB38B-5C84-4901-B261-E689AAB212BB}">
      <dgm:prSet/>
      <dgm:spPr/>
      <dgm:t>
        <a:bodyPr/>
        <a:lstStyle/>
        <a:p>
          <a:endParaRPr lang="zh-CN" altLang="en-US" dirty="0">
            <a:latin typeface="宋体" panose="02010600030101010101" pitchFamily="2" charset="-122"/>
            <a:ea typeface="宋体" panose="02010600030101010101" pitchFamily="2" charset="-122"/>
          </a:endParaRPr>
        </a:p>
      </dgm:t>
    </dgm:pt>
    <dgm:pt modelId="{365450CC-3497-41E0-B693-5AF95F9688EE}" type="parTrans" cxnId="{3A5102C9-4281-4F69-9CA6-FBCCB9F51BFD}">
      <dgm:prSet/>
      <dgm:spPr/>
      <dgm:t>
        <a:bodyPr/>
        <a:lstStyle/>
        <a:p>
          <a:endParaRPr lang="zh-CN" altLang="en-US"/>
        </a:p>
      </dgm:t>
    </dgm:pt>
    <dgm:pt modelId="{9C463905-6D7D-41EC-A2AF-631C2AEC44CB}" type="sibTrans" cxnId="{3A5102C9-4281-4F69-9CA6-FBCCB9F51BFD}">
      <dgm:prSet/>
      <dgm:spPr/>
      <dgm:t>
        <a:bodyPr/>
        <a:lstStyle/>
        <a:p>
          <a:endParaRPr lang="zh-CN" altLang="en-US"/>
        </a:p>
      </dgm:t>
    </dgm:pt>
    <dgm:pt modelId="{27550690-F685-49BE-ABD8-A77D32F9104E}">
      <dgm:prSet/>
      <dgm:spPr/>
      <dgm:t>
        <a:bodyPr/>
        <a:lstStyle/>
        <a:p>
          <a:r>
            <a:rPr lang="zh-CN" altLang="en-US" dirty="0">
              <a:latin typeface="宋体" panose="02010600030101010101" pitchFamily="2" charset="-122"/>
              <a:ea typeface="宋体" panose="02010600030101010101" pitchFamily="2" charset="-122"/>
            </a:rPr>
            <a:t>完整</a:t>
          </a:r>
        </a:p>
      </dgm:t>
    </dgm:pt>
    <dgm:pt modelId="{F8A6C89B-1FBF-4C10-BD87-69D060A0AF36}" type="parTrans" cxnId="{6F361329-EDAF-473F-BAF7-A8D17354EC9C}">
      <dgm:prSet/>
      <dgm:spPr/>
      <dgm:t>
        <a:bodyPr/>
        <a:lstStyle/>
        <a:p>
          <a:endParaRPr lang="zh-CN" altLang="en-US"/>
        </a:p>
      </dgm:t>
    </dgm:pt>
    <dgm:pt modelId="{A94B9E47-7B15-410C-BE33-38A87C016969}" type="sibTrans" cxnId="{6F361329-EDAF-473F-BAF7-A8D17354EC9C}">
      <dgm:prSet/>
      <dgm:spPr/>
      <dgm:t>
        <a:bodyPr/>
        <a:lstStyle/>
        <a:p>
          <a:endParaRPr lang="zh-CN" altLang="en-US"/>
        </a:p>
      </dgm:t>
    </dgm:pt>
    <dgm:pt modelId="{C85A4F89-FD0F-4BF5-840C-332C4A89BA53}">
      <dgm:prSet/>
      <dgm:spPr/>
      <dgm:t>
        <a:bodyPr/>
        <a:lstStyle/>
        <a:p>
          <a:r>
            <a:rPr lang="zh-CN" altLang="en-US" dirty="0">
              <a:latin typeface="宋体" panose="02010600030101010101" pitchFamily="2" charset="-122"/>
              <a:ea typeface="宋体" panose="02010600030101010101" pitchFamily="2" charset="-122"/>
            </a:rPr>
            <a:t>并发</a:t>
          </a:r>
        </a:p>
      </dgm:t>
    </dgm:pt>
    <dgm:pt modelId="{9C786735-C1EC-4421-BD9A-143DE8A80C27}" type="parTrans" cxnId="{14C1474D-EF5B-4C41-ABA8-D151AE129A85}">
      <dgm:prSet/>
      <dgm:spPr/>
      <dgm:t>
        <a:bodyPr/>
        <a:lstStyle/>
        <a:p>
          <a:endParaRPr lang="zh-CN" altLang="en-US"/>
        </a:p>
      </dgm:t>
    </dgm:pt>
    <dgm:pt modelId="{5BA29E9A-C8F6-45B3-8974-49B05E6C2252}" type="sibTrans" cxnId="{14C1474D-EF5B-4C41-ABA8-D151AE129A85}">
      <dgm:prSet/>
      <dgm:spPr/>
      <dgm:t>
        <a:bodyPr/>
        <a:lstStyle/>
        <a:p>
          <a:endParaRPr lang="zh-CN" altLang="en-US"/>
        </a:p>
      </dgm:t>
    </dgm:pt>
    <dgm:pt modelId="{15B7A17D-4320-492F-A816-28AAF5D0F76B}">
      <dgm:prSet/>
      <dgm:spPr/>
      <dgm:t>
        <a:bodyPr/>
        <a:lstStyle/>
        <a:p>
          <a:r>
            <a:rPr lang="zh-CN" altLang="en-US" dirty="0">
              <a:latin typeface="宋体" panose="02010600030101010101" pitchFamily="2" charset="-122"/>
              <a:ea typeface="宋体" panose="02010600030101010101" pitchFamily="2" charset="-122"/>
            </a:rPr>
            <a:t>恢复</a:t>
          </a:r>
        </a:p>
      </dgm:t>
    </dgm:pt>
    <dgm:pt modelId="{9A6D3F92-29D4-4CC9-8560-329846E53B48}" type="parTrans" cxnId="{E226153C-D3A9-4F45-963C-82D6C9E38385}">
      <dgm:prSet/>
      <dgm:spPr/>
      <dgm:t>
        <a:bodyPr/>
        <a:lstStyle/>
        <a:p>
          <a:endParaRPr lang="zh-CN" altLang="en-US"/>
        </a:p>
      </dgm:t>
    </dgm:pt>
    <dgm:pt modelId="{4AC8DF79-4C40-407E-9197-75EAFF3C26BF}" type="sibTrans" cxnId="{E226153C-D3A9-4F45-963C-82D6C9E38385}">
      <dgm:prSet/>
      <dgm:spPr/>
      <dgm:t>
        <a:bodyPr/>
        <a:lstStyle/>
        <a:p>
          <a:endParaRPr lang="zh-CN" altLang="en-US"/>
        </a:p>
      </dgm:t>
    </dgm:pt>
    <dgm:pt modelId="{AFAE6FB0-6280-45A7-8569-6B88908F2E7E}">
      <dgm:prSet/>
      <dgm:spPr/>
      <dgm:t>
        <a:bodyPr/>
        <a:lstStyle/>
        <a:p>
          <a:r>
            <a:rPr lang="zh-CN" altLang="en-US" dirty="0">
              <a:latin typeface="宋体" panose="02010600030101010101" pitchFamily="2" charset="-122"/>
              <a:ea typeface="宋体" panose="02010600030101010101" pitchFamily="2" charset="-122"/>
            </a:rPr>
            <a:t>通信</a:t>
          </a:r>
        </a:p>
      </dgm:t>
    </dgm:pt>
    <dgm:pt modelId="{6486B9AA-FA76-4179-9EF4-F5965E9B4C28}" type="parTrans" cxnId="{D80FB5BD-37B7-4930-9DE1-82C5FF5A00DD}">
      <dgm:prSet/>
      <dgm:spPr/>
      <dgm:t>
        <a:bodyPr/>
        <a:lstStyle/>
        <a:p>
          <a:endParaRPr lang="zh-CN" altLang="en-US"/>
        </a:p>
      </dgm:t>
    </dgm:pt>
    <dgm:pt modelId="{08B161BA-CA1F-4A3E-88B4-7E229D59921D}" type="sibTrans" cxnId="{D80FB5BD-37B7-4930-9DE1-82C5FF5A00DD}">
      <dgm:prSet/>
      <dgm:spPr/>
      <dgm:t>
        <a:bodyPr/>
        <a:lstStyle/>
        <a:p>
          <a:endParaRPr lang="zh-CN" altLang="en-US"/>
        </a:p>
      </dgm:t>
    </dgm:pt>
    <dgm:pt modelId="{5C601C41-6ADD-48EC-A92A-36C7F095E78F}">
      <dgm:prSet/>
      <dgm:spPr/>
      <dgm:t>
        <a:bodyPr/>
        <a:lstStyle/>
        <a:p>
          <a:r>
            <a:rPr lang="zh-CN" altLang="en-US" dirty="0">
              <a:latin typeface="宋体" panose="02010600030101010101" pitchFamily="2" charset="-122"/>
              <a:ea typeface="宋体" panose="02010600030101010101" pitchFamily="2" charset="-122"/>
            </a:rPr>
            <a:t>数据转换</a:t>
          </a:r>
        </a:p>
      </dgm:t>
    </dgm:pt>
    <dgm:pt modelId="{8E7FB91E-BE76-46B8-91C6-1EB5C641F784}" type="parTrans" cxnId="{2385B893-882F-4CB9-953C-49443D5FC6D8}">
      <dgm:prSet/>
      <dgm:spPr/>
      <dgm:t>
        <a:bodyPr/>
        <a:lstStyle/>
        <a:p>
          <a:endParaRPr lang="zh-CN" altLang="en-US"/>
        </a:p>
      </dgm:t>
    </dgm:pt>
    <dgm:pt modelId="{0E6FB30D-2042-4AEA-A783-D4FCAD1229BF}" type="sibTrans" cxnId="{2385B893-882F-4CB9-953C-49443D5FC6D8}">
      <dgm:prSet/>
      <dgm:spPr/>
      <dgm:t>
        <a:bodyPr/>
        <a:lstStyle/>
        <a:p>
          <a:endParaRPr lang="zh-CN" altLang="en-US"/>
        </a:p>
      </dgm:t>
    </dgm:pt>
    <dgm:pt modelId="{6EEE7FB6-0FBF-4DEE-9CB9-D75AA9D37A0E}">
      <dgm:prSet custT="1"/>
      <dgm:spPr/>
      <dgm:t>
        <a:bodyPr/>
        <a:lstStyle/>
        <a:p>
          <a:pPr rtl="0"/>
          <a:r>
            <a:rPr lang="zh-CN" altLang="en-US" sz="2800" dirty="0">
              <a:latin typeface="微软雅黑" panose="020B0503020204020204" pitchFamily="34" charset="-122"/>
              <a:ea typeface="微软雅黑" panose="020B0503020204020204" pitchFamily="34" charset="-122"/>
            </a:rPr>
            <a:t>其它</a:t>
          </a:r>
        </a:p>
      </dgm:t>
    </dgm:pt>
    <dgm:pt modelId="{4A29BA62-BA72-4E37-B9C7-0AC56B397816}" type="parTrans" cxnId="{6502FB90-EC71-43BD-B9FC-9E5535EB105C}">
      <dgm:prSet/>
      <dgm:spPr/>
      <dgm:t>
        <a:bodyPr/>
        <a:lstStyle/>
        <a:p>
          <a:endParaRPr lang="zh-CN" altLang="en-US"/>
        </a:p>
      </dgm:t>
    </dgm:pt>
    <dgm:pt modelId="{BCEEF46A-6C4C-4EA8-A4B5-29DFD692AA6E}" type="sibTrans" cxnId="{6502FB90-EC71-43BD-B9FC-9E5535EB105C}">
      <dgm:prSet/>
      <dgm:spPr/>
      <dgm:t>
        <a:bodyPr/>
        <a:lstStyle/>
        <a:p>
          <a:endParaRPr lang="zh-CN" altLang="en-US"/>
        </a:p>
      </dgm:t>
    </dgm:pt>
    <dgm:pt modelId="{34341641-7A2A-4447-BC84-32F6F0019EBE}">
      <dgm:prSet/>
      <dgm:spPr/>
      <dgm:t>
        <a:bodyPr/>
        <a:lstStyle/>
        <a:p>
          <a:r>
            <a:rPr lang="zh-CN" altLang="en-US" dirty="0">
              <a:latin typeface="宋体" panose="02010600030101010101" pitchFamily="2" charset="-122"/>
              <a:ea typeface="宋体" panose="02010600030101010101" pitchFamily="2" charset="-122"/>
            </a:rPr>
            <a:t>存储管理</a:t>
          </a:r>
        </a:p>
      </dgm:t>
    </dgm:pt>
    <dgm:pt modelId="{E19745E7-8B32-4427-9ECF-BB86CAD0F0D9}" type="parTrans" cxnId="{44174B5C-8BCD-4E00-B576-E37E29D61798}">
      <dgm:prSet/>
      <dgm:spPr/>
      <dgm:t>
        <a:bodyPr/>
        <a:lstStyle/>
        <a:p>
          <a:endParaRPr lang="zh-CN" altLang="en-US"/>
        </a:p>
      </dgm:t>
    </dgm:pt>
    <dgm:pt modelId="{3E30EFA8-E922-4149-A6F3-1CBB9E26C1A8}" type="sibTrans" cxnId="{44174B5C-8BCD-4E00-B576-E37E29D61798}">
      <dgm:prSet/>
      <dgm:spPr/>
      <dgm:t>
        <a:bodyPr/>
        <a:lstStyle/>
        <a:p>
          <a:endParaRPr lang="zh-CN" altLang="en-US"/>
        </a:p>
      </dgm:t>
    </dgm:pt>
    <dgm:pt modelId="{4ED0431E-7AA7-4FA5-B9BF-FC6E1008852B}">
      <dgm:prSet/>
      <dgm:spPr/>
      <dgm:t>
        <a:bodyPr/>
        <a:lstStyle/>
        <a:p>
          <a:r>
            <a:rPr lang="zh-CN" altLang="en-US">
              <a:latin typeface="宋体" panose="02010600030101010101" pitchFamily="2" charset="-122"/>
              <a:ea typeface="宋体" panose="02010600030101010101" pitchFamily="2" charset="-122"/>
            </a:rPr>
            <a:t>重组重构</a:t>
          </a:r>
        </a:p>
      </dgm:t>
    </dgm:pt>
    <dgm:pt modelId="{6F5466E4-4543-4624-B0F5-56BF79454F04}" type="parTrans" cxnId="{73C3D0E8-88D6-4B86-8A11-642F7A7DFD9B}">
      <dgm:prSet/>
      <dgm:spPr/>
      <dgm:t>
        <a:bodyPr/>
        <a:lstStyle/>
        <a:p>
          <a:endParaRPr lang="zh-CN" altLang="en-US"/>
        </a:p>
      </dgm:t>
    </dgm:pt>
    <dgm:pt modelId="{2CE88CEA-A1BD-45D1-BF5D-38902B91A1DF}" type="sibTrans" cxnId="{73C3D0E8-88D6-4B86-8A11-642F7A7DFD9B}">
      <dgm:prSet/>
      <dgm:spPr/>
      <dgm:t>
        <a:bodyPr/>
        <a:lstStyle/>
        <a:p>
          <a:endParaRPr lang="zh-CN" altLang="en-US"/>
        </a:p>
      </dgm:t>
    </dgm:pt>
    <dgm:pt modelId="{85B53AF6-B088-47DD-8D2E-EBF63D35A674}">
      <dgm:prSet/>
      <dgm:spPr/>
      <dgm:t>
        <a:bodyPr/>
        <a:lstStyle/>
        <a:p>
          <a:r>
            <a:rPr lang="zh-CN" altLang="en-US">
              <a:latin typeface="宋体" panose="02010600030101010101" pitchFamily="2" charset="-122"/>
              <a:ea typeface="宋体" panose="02010600030101010101" pitchFamily="2" charset="-122"/>
            </a:rPr>
            <a:t>监视</a:t>
          </a:r>
        </a:p>
      </dgm:t>
    </dgm:pt>
    <dgm:pt modelId="{950CDDE0-73DD-4E6D-81BC-3614F219B9C8}" type="parTrans" cxnId="{B6208496-C933-4D10-9273-C433CD81A2BC}">
      <dgm:prSet/>
      <dgm:spPr/>
      <dgm:t>
        <a:bodyPr/>
        <a:lstStyle/>
        <a:p>
          <a:endParaRPr lang="zh-CN" altLang="en-US"/>
        </a:p>
      </dgm:t>
    </dgm:pt>
    <dgm:pt modelId="{DB256D25-D2F8-4142-856D-053E02ADBD62}" type="sibTrans" cxnId="{B6208496-C933-4D10-9273-C433CD81A2BC}">
      <dgm:prSet/>
      <dgm:spPr/>
      <dgm:t>
        <a:bodyPr/>
        <a:lstStyle/>
        <a:p>
          <a:endParaRPr lang="zh-CN" altLang="en-US"/>
        </a:p>
      </dgm:t>
    </dgm:pt>
    <dgm:pt modelId="{7A49B14A-2406-449D-8EBD-B79F2B36A4B0}">
      <dgm:prSet/>
      <dgm:spPr/>
      <dgm:t>
        <a:bodyPr/>
        <a:lstStyle/>
        <a:p>
          <a:r>
            <a:rPr lang="zh-CN" altLang="en-US">
              <a:latin typeface="宋体" panose="02010600030101010101" pitchFamily="2" charset="-122"/>
              <a:ea typeface="宋体" panose="02010600030101010101" pitchFamily="2" charset="-122"/>
            </a:rPr>
            <a:t>分析</a:t>
          </a:r>
        </a:p>
      </dgm:t>
    </dgm:pt>
    <dgm:pt modelId="{A7AF6ACE-D86B-4B72-A164-D3EA2CD90910}" type="parTrans" cxnId="{48553E53-95B8-4532-9389-CF4354B492EB}">
      <dgm:prSet/>
      <dgm:spPr/>
      <dgm:t>
        <a:bodyPr/>
        <a:lstStyle/>
        <a:p>
          <a:endParaRPr lang="zh-CN" altLang="en-US"/>
        </a:p>
      </dgm:t>
    </dgm:pt>
    <dgm:pt modelId="{AF05500B-E721-4859-A2C5-F633B6E546EE}" type="sibTrans" cxnId="{48553E53-95B8-4532-9389-CF4354B492EB}">
      <dgm:prSet/>
      <dgm:spPr/>
      <dgm:t>
        <a:bodyPr/>
        <a:lstStyle/>
        <a:p>
          <a:endParaRPr lang="zh-CN" altLang="en-US"/>
        </a:p>
      </dgm:t>
    </dgm:pt>
    <dgm:pt modelId="{287D085A-8746-4E0C-ABFF-032CFEF46CD4}">
      <dgm:prSet/>
      <dgm:spPr/>
      <dgm:t>
        <a:bodyPr/>
        <a:lstStyle/>
        <a:p>
          <a:endParaRPr lang="zh-CN" altLang="en-US">
            <a:latin typeface="宋体" panose="02010600030101010101" pitchFamily="2" charset="-122"/>
            <a:ea typeface="宋体" panose="02010600030101010101" pitchFamily="2" charset="-122"/>
          </a:endParaRPr>
        </a:p>
      </dgm:t>
    </dgm:pt>
    <dgm:pt modelId="{8377B0AC-BC7F-47CB-B28F-6121AEA8EF29}" type="parTrans" cxnId="{3FB7C08D-05B3-439E-8D40-44A0F6E5938E}">
      <dgm:prSet/>
      <dgm:spPr/>
      <dgm:t>
        <a:bodyPr/>
        <a:lstStyle/>
        <a:p>
          <a:endParaRPr lang="zh-CN" altLang="en-US"/>
        </a:p>
      </dgm:t>
    </dgm:pt>
    <dgm:pt modelId="{4995A47A-0086-4F81-8500-13BEEB3E9B0E}" type="sibTrans" cxnId="{3FB7C08D-05B3-439E-8D40-44A0F6E5938E}">
      <dgm:prSet/>
      <dgm:spPr/>
      <dgm:t>
        <a:bodyPr/>
        <a:lstStyle/>
        <a:p>
          <a:endParaRPr lang="zh-CN" altLang="en-US"/>
        </a:p>
      </dgm:t>
    </dgm:pt>
    <dgm:pt modelId="{D779DCB3-63D9-49FE-9DE2-2AA687415AFC}">
      <dgm:prSet/>
      <dgm:spPr/>
      <dgm:t>
        <a:bodyPr/>
        <a:lstStyle/>
        <a:p>
          <a:r>
            <a:rPr lang="zh-CN" altLang="en-US" dirty="0">
              <a:latin typeface="宋体" panose="02010600030101010101" pitchFamily="2" charset="-122"/>
              <a:ea typeface="宋体" panose="02010600030101010101" pitchFamily="2" charset="-122"/>
            </a:rPr>
            <a:t>模式定义</a:t>
          </a:r>
        </a:p>
      </dgm:t>
    </dgm:pt>
    <dgm:pt modelId="{98D78C01-92A9-403D-8AFA-814456C7562F}" type="parTrans" cxnId="{F3632781-3842-4E4A-8AFD-6CCF6AC84C05}">
      <dgm:prSet/>
      <dgm:spPr/>
      <dgm:t>
        <a:bodyPr/>
        <a:lstStyle/>
        <a:p>
          <a:endParaRPr lang="zh-CN" altLang="en-US"/>
        </a:p>
      </dgm:t>
    </dgm:pt>
    <dgm:pt modelId="{1C1627D9-3EE2-4E23-A7F8-DE6AC463DCF5}" type="sibTrans" cxnId="{F3632781-3842-4E4A-8AFD-6CCF6AC84C05}">
      <dgm:prSet/>
      <dgm:spPr/>
      <dgm:t>
        <a:bodyPr/>
        <a:lstStyle/>
        <a:p>
          <a:endParaRPr lang="zh-CN" altLang="en-US"/>
        </a:p>
      </dgm:t>
    </dgm:pt>
    <dgm:pt modelId="{AAE408FA-623E-440A-B86E-D5ABB4C73A70}">
      <dgm:prSet/>
      <dgm:spPr/>
      <dgm:t>
        <a:bodyPr/>
        <a:lstStyle/>
        <a:p>
          <a:r>
            <a:rPr lang="zh-CN" altLang="en-US" dirty="0">
              <a:latin typeface="宋体" panose="02010600030101010101" pitchFamily="2" charset="-122"/>
              <a:ea typeface="宋体" panose="02010600030101010101" pitchFamily="2" charset="-122"/>
            </a:rPr>
            <a:t>安全定义</a:t>
          </a:r>
        </a:p>
      </dgm:t>
    </dgm:pt>
    <dgm:pt modelId="{B92518E1-02D2-40FF-BF8C-151D27B8EB8C}" type="parTrans" cxnId="{E52418F5-1123-4582-8B51-C8AEF2A8A1BB}">
      <dgm:prSet/>
      <dgm:spPr/>
      <dgm:t>
        <a:bodyPr/>
        <a:lstStyle/>
        <a:p>
          <a:endParaRPr lang="zh-CN" altLang="en-US"/>
        </a:p>
      </dgm:t>
    </dgm:pt>
    <dgm:pt modelId="{C7B83F65-7C9D-4144-ABA2-18F6D4B17FEC}" type="sibTrans" cxnId="{E52418F5-1123-4582-8B51-C8AEF2A8A1BB}">
      <dgm:prSet/>
      <dgm:spPr/>
      <dgm:t>
        <a:bodyPr/>
        <a:lstStyle/>
        <a:p>
          <a:endParaRPr lang="zh-CN" altLang="en-US"/>
        </a:p>
      </dgm:t>
    </dgm:pt>
    <dgm:pt modelId="{99C7FDD5-F107-4DD5-AE30-09B9B6485ACD}">
      <dgm:prSet/>
      <dgm:spPr/>
      <dgm:t>
        <a:bodyPr/>
        <a:lstStyle/>
        <a:p>
          <a:r>
            <a:rPr lang="zh-CN" altLang="en-US" dirty="0">
              <a:latin typeface="宋体" panose="02010600030101010101" pitchFamily="2" charset="-122"/>
              <a:ea typeface="宋体" panose="02010600030101010101" pitchFamily="2" charset="-122"/>
            </a:rPr>
            <a:t>完整定义</a:t>
          </a:r>
        </a:p>
      </dgm:t>
    </dgm:pt>
    <dgm:pt modelId="{AC387A25-0F93-41B0-9664-D72411E153BA}" type="parTrans" cxnId="{F1001C80-6A47-46EC-87BC-851278C789FE}">
      <dgm:prSet/>
      <dgm:spPr/>
      <dgm:t>
        <a:bodyPr/>
        <a:lstStyle/>
        <a:p>
          <a:endParaRPr lang="zh-CN" altLang="en-US"/>
        </a:p>
      </dgm:t>
    </dgm:pt>
    <dgm:pt modelId="{9F6D83BA-6108-4879-BAE9-DBB510DD7509}" type="sibTrans" cxnId="{F1001C80-6A47-46EC-87BC-851278C789FE}">
      <dgm:prSet/>
      <dgm:spPr/>
      <dgm:t>
        <a:bodyPr/>
        <a:lstStyle/>
        <a:p>
          <a:endParaRPr lang="zh-CN" altLang="en-US"/>
        </a:p>
      </dgm:t>
    </dgm:pt>
    <dgm:pt modelId="{FE720752-8756-4AEF-B882-AE1721996057}">
      <dgm:prSet/>
      <dgm:spPr/>
      <dgm:t>
        <a:bodyPr/>
        <a:lstStyle/>
        <a:p>
          <a:r>
            <a:rPr lang="en-US" altLang="zh-CN" dirty="0">
              <a:latin typeface="宋体" panose="02010600030101010101" pitchFamily="2" charset="-122"/>
              <a:ea typeface="宋体" panose="02010600030101010101" pitchFamily="2" charset="-122"/>
            </a:rPr>
            <a:t>DD</a:t>
          </a:r>
          <a:endParaRPr lang="zh-CN" altLang="en-US" dirty="0">
            <a:latin typeface="宋体" panose="02010600030101010101" pitchFamily="2" charset="-122"/>
            <a:ea typeface="宋体" panose="02010600030101010101" pitchFamily="2" charset="-122"/>
          </a:endParaRPr>
        </a:p>
      </dgm:t>
    </dgm:pt>
    <dgm:pt modelId="{A09A8E34-7761-4B37-83EC-6FB043B9BDF9}" type="parTrans" cxnId="{126F4FA1-6F94-4A4D-929F-3BFC6F4DEC1B}">
      <dgm:prSet/>
      <dgm:spPr/>
      <dgm:t>
        <a:bodyPr/>
        <a:lstStyle/>
        <a:p>
          <a:endParaRPr lang="zh-CN" altLang="en-US"/>
        </a:p>
      </dgm:t>
    </dgm:pt>
    <dgm:pt modelId="{FA0DFB90-AC1D-4672-811B-33256BEB76E1}" type="sibTrans" cxnId="{126F4FA1-6F94-4A4D-929F-3BFC6F4DEC1B}">
      <dgm:prSet/>
      <dgm:spPr/>
      <dgm:t>
        <a:bodyPr/>
        <a:lstStyle/>
        <a:p>
          <a:endParaRPr lang="zh-CN" altLang="en-US"/>
        </a:p>
      </dgm:t>
    </dgm:pt>
    <dgm:pt modelId="{B9EBA419-D247-4448-B7B8-BAC404107F83}">
      <dgm:prSet/>
      <dgm:spPr/>
      <dgm:t>
        <a:bodyPr/>
        <a:lstStyle/>
        <a:p>
          <a:pPr rtl="0"/>
          <a:r>
            <a:rPr lang="zh-CN" altLang="en-US" dirty="0">
              <a:latin typeface="宋体" panose="02010600030101010101" pitchFamily="2" charset="-122"/>
              <a:ea typeface="宋体" panose="02010600030101010101" pitchFamily="2" charset="-122"/>
            </a:rPr>
            <a:t>删</a:t>
          </a:r>
        </a:p>
      </dgm:t>
    </dgm:pt>
    <dgm:pt modelId="{793E1EA1-9615-4DC4-8122-BF4FC48728AF}" type="parTrans" cxnId="{BFAA9767-91F9-45D9-8E1C-0E6013538A57}">
      <dgm:prSet/>
      <dgm:spPr/>
      <dgm:t>
        <a:bodyPr/>
        <a:lstStyle/>
        <a:p>
          <a:endParaRPr lang="zh-CN" altLang="en-US"/>
        </a:p>
      </dgm:t>
    </dgm:pt>
    <dgm:pt modelId="{E306756D-98B2-4583-AF9A-897F22FD70A1}" type="sibTrans" cxnId="{BFAA9767-91F9-45D9-8E1C-0E6013538A57}">
      <dgm:prSet/>
      <dgm:spPr/>
      <dgm:t>
        <a:bodyPr/>
        <a:lstStyle/>
        <a:p>
          <a:endParaRPr lang="zh-CN" altLang="en-US"/>
        </a:p>
      </dgm:t>
    </dgm:pt>
    <dgm:pt modelId="{D03075D0-9821-4FAD-A0DE-1928B39E06E6}">
      <dgm:prSet/>
      <dgm:spPr/>
      <dgm:t>
        <a:bodyPr/>
        <a:lstStyle/>
        <a:p>
          <a:pPr rtl="0"/>
          <a:r>
            <a:rPr lang="zh-CN" altLang="en-US" dirty="0">
              <a:latin typeface="宋体" panose="02010600030101010101" pitchFamily="2" charset="-122"/>
              <a:ea typeface="宋体" panose="02010600030101010101" pitchFamily="2" charset="-122"/>
            </a:rPr>
            <a:t>改</a:t>
          </a:r>
        </a:p>
      </dgm:t>
    </dgm:pt>
    <dgm:pt modelId="{4CD78010-2DA6-431C-9054-827304E4B113}" type="parTrans" cxnId="{ACD55D93-EF5D-4853-A0B4-D5B1BEC6E6AB}">
      <dgm:prSet/>
      <dgm:spPr/>
      <dgm:t>
        <a:bodyPr/>
        <a:lstStyle/>
        <a:p>
          <a:endParaRPr lang="zh-CN" altLang="en-US"/>
        </a:p>
      </dgm:t>
    </dgm:pt>
    <dgm:pt modelId="{2DD60D31-3895-4709-90DB-61030C586946}" type="sibTrans" cxnId="{ACD55D93-EF5D-4853-A0B4-D5B1BEC6E6AB}">
      <dgm:prSet/>
      <dgm:spPr/>
      <dgm:t>
        <a:bodyPr/>
        <a:lstStyle/>
        <a:p>
          <a:endParaRPr lang="zh-CN" altLang="en-US"/>
        </a:p>
      </dgm:t>
    </dgm:pt>
    <dgm:pt modelId="{27BCAE58-FF2B-431C-83EF-554C4443D16C}">
      <dgm:prSet/>
      <dgm:spPr/>
      <dgm:t>
        <a:bodyPr/>
        <a:lstStyle/>
        <a:p>
          <a:pPr rtl="0"/>
          <a:r>
            <a:rPr lang="zh-CN" altLang="en-US" dirty="0">
              <a:latin typeface="宋体" panose="02010600030101010101" pitchFamily="2" charset="-122"/>
              <a:ea typeface="宋体" panose="02010600030101010101" pitchFamily="2" charset="-122"/>
            </a:rPr>
            <a:t>查</a:t>
          </a:r>
        </a:p>
      </dgm:t>
    </dgm:pt>
    <dgm:pt modelId="{EA775F43-B5C7-466A-A6AF-8659072FA8B2}" type="parTrans" cxnId="{E3E9B4BD-34AB-44BC-A692-E0237940156D}">
      <dgm:prSet/>
      <dgm:spPr/>
      <dgm:t>
        <a:bodyPr/>
        <a:lstStyle/>
        <a:p>
          <a:endParaRPr lang="zh-CN" altLang="en-US"/>
        </a:p>
      </dgm:t>
    </dgm:pt>
    <dgm:pt modelId="{EC00FC7C-BEB3-4CED-B84E-79F0116B4C07}" type="sibTrans" cxnId="{E3E9B4BD-34AB-44BC-A692-E0237940156D}">
      <dgm:prSet/>
      <dgm:spPr/>
      <dgm:t>
        <a:bodyPr/>
        <a:lstStyle/>
        <a:p>
          <a:endParaRPr lang="zh-CN" altLang="en-US"/>
        </a:p>
      </dgm:t>
    </dgm:pt>
    <dgm:pt modelId="{C8C5D79D-2B90-4E6D-BB70-04E99DC33181}" type="pres">
      <dgm:prSet presAssocID="{FCA2ECC1-587E-4447-9DEB-DF7B542B0F85}" presName="Name0" presStyleCnt="0">
        <dgm:presLayoutVars>
          <dgm:dir/>
          <dgm:animLvl val="lvl"/>
          <dgm:resizeHandles val="exact"/>
        </dgm:presLayoutVars>
      </dgm:prSet>
      <dgm:spPr/>
      <dgm:t>
        <a:bodyPr/>
        <a:lstStyle/>
        <a:p>
          <a:endParaRPr lang="zh-CN" altLang="en-US"/>
        </a:p>
      </dgm:t>
    </dgm:pt>
    <dgm:pt modelId="{DD105B16-ADA8-49EF-B007-5AFDA60ADFC0}" type="pres">
      <dgm:prSet presAssocID="{917E113D-9214-40FC-AF25-B301EFB42413}" presName="composite" presStyleCnt="0"/>
      <dgm:spPr/>
    </dgm:pt>
    <dgm:pt modelId="{2FD62834-2670-4757-8EC6-A598AF76C9BF}" type="pres">
      <dgm:prSet presAssocID="{917E113D-9214-40FC-AF25-B301EFB42413}" presName="parTx" presStyleLbl="alignNode1" presStyleIdx="0" presStyleCnt="5">
        <dgm:presLayoutVars>
          <dgm:chMax val="0"/>
          <dgm:chPref val="0"/>
          <dgm:bulletEnabled val="1"/>
        </dgm:presLayoutVars>
      </dgm:prSet>
      <dgm:spPr/>
      <dgm:t>
        <a:bodyPr/>
        <a:lstStyle/>
        <a:p>
          <a:endParaRPr lang="zh-CN" altLang="en-US"/>
        </a:p>
      </dgm:t>
    </dgm:pt>
    <dgm:pt modelId="{C3F04107-C796-497A-943A-6EC5D3970550}" type="pres">
      <dgm:prSet presAssocID="{917E113D-9214-40FC-AF25-B301EFB42413}" presName="desTx" presStyleLbl="alignAccFollowNode1" presStyleIdx="0" presStyleCnt="5">
        <dgm:presLayoutVars>
          <dgm:bulletEnabled val="1"/>
        </dgm:presLayoutVars>
      </dgm:prSet>
      <dgm:spPr/>
      <dgm:t>
        <a:bodyPr/>
        <a:lstStyle/>
        <a:p>
          <a:endParaRPr lang="zh-CN" altLang="en-US"/>
        </a:p>
      </dgm:t>
    </dgm:pt>
    <dgm:pt modelId="{69FE93B6-7401-4861-A990-965C7967C7CF}" type="pres">
      <dgm:prSet presAssocID="{C2659462-8336-49E5-99C3-6E0664176592}" presName="space" presStyleCnt="0"/>
      <dgm:spPr/>
    </dgm:pt>
    <dgm:pt modelId="{504A14F0-EE17-43A9-AE0F-1C961A902BB4}" type="pres">
      <dgm:prSet presAssocID="{B1F2BB72-5DAD-4883-A36B-9C4AB0E39F12}" presName="composite" presStyleCnt="0"/>
      <dgm:spPr/>
    </dgm:pt>
    <dgm:pt modelId="{A396F6AB-B4F0-4D5E-9576-E5BF4549DE3C}" type="pres">
      <dgm:prSet presAssocID="{B1F2BB72-5DAD-4883-A36B-9C4AB0E39F12}" presName="parTx" presStyleLbl="alignNode1" presStyleIdx="1" presStyleCnt="5">
        <dgm:presLayoutVars>
          <dgm:chMax val="0"/>
          <dgm:chPref val="0"/>
          <dgm:bulletEnabled val="1"/>
        </dgm:presLayoutVars>
      </dgm:prSet>
      <dgm:spPr/>
      <dgm:t>
        <a:bodyPr/>
        <a:lstStyle/>
        <a:p>
          <a:endParaRPr lang="zh-CN" altLang="en-US"/>
        </a:p>
      </dgm:t>
    </dgm:pt>
    <dgm:pt modelId="{9C200073-3B43-4D26-BFAC-E085E48992F3}" type="pres">
      <dgm:prSet presAssocID="{B1F2BB72-5DAD-4883-A36B-9C4AB0E39F12}" presName="desTx" presStyleLbl="alignAccFollowNode1" presStyleIdx="1" presStyleCnt="5">
        <dgm:presLayoutVars>
          <dgm:bulletEnabled val="1"/>
        </dgm:presLayoutVars>
      </dgm:prSet>
      <dgm:spPr/>
      <dgm:t>
        <a:bodyPr/>
        <a:lstStyle/>
        <a:p>
          <a:endParaRPr lang="zh-CN" altLang="en-US"/>
        </a:p>
      </dgm:t>
    </dgm:pt>
    <dgm:pt modelId="{E1101D75-FCC8-49F6-A09C-1D466A98C2C6}" type="pres">
      <dgm:prSet presAssocID="{303701D0-75DE-4C0C-B267-901A56F48CE8}" presName="space" presStyleCnt="0"/>
      <dgm:spPr/>
    </dgm:pt>
    <dgm:pt modelId="{CA3D69AD-EDE0-4D7F-8B33-7E8D1FA65A0E}" type="pres">
      <dgm:prSet presAssocID="{62E7A436-0514-402C-A74A-E554AD3EC6FA}" presName="composite" presStyleCnt="0"/>
      <dgm:spPr/>
    </dgm:pt>
    <dgm:pt modelId="{ECB11109-4403-4DB0-83DD-BECA9C834B44}" type="pres">
      <dgm:prSet presAssocID="{62E7A436-0514-402C-A74A-E554AD3EC6FA}" presName="parTx" presStyleLbl="alignNode1" presStyleIdx="2" presStyleCnt="5">
        <dgm:presLayoutVars>
          <dgm:chMax val="0"/>
          <dgm:chPref val="0"/>
          <dgm:bulletEnabled val="1"/>
        </dgm:presLayoutVars>
      </dgm:prSet>
      <dgm:spPr/>
      <dgm:t>
        <a:bodyPr/>
        <a:lstStyle/>
        <a:p>
          <a:endParaRPr lang="zh-CN" altLang="en-US"/>
        </a:p>
      </dgm:t>
    </dgm:pt>
    <dgm:pt modelId="{9B85D2CE-6FCA-465A-857D-90E4471AC39A}" type="pres">
      <dgm:prSet presAssocID="{62E7A436-0514-402C-A74A-E554AD3EC6FA}" presName="desTx" presStyleLbl="alignAccFollowNode1" presStyleIdx="2" presStyleCnt="5">
        <dgm:presLayoutVars>
          <dgm:bulletEnabled val="1"/>
        </dgm:presLayoutVars>
      </dgm:prSet>
      <dgm:spPr/>
      <dgm:t>
        <a:bodyPr/>
        <a:lstStyle/>
        <a:p>
          <a:endParaRPr lang="zh-CN" altLang="en-US"/>
        </a:p>
      </dgm:t>
    </dgm:pt>
    <dgm:pt modelId="{637E75E1-46CB-4108-8D2F-AD44045FFC23}" type="pres">
      <dgm:prSet presAssocID="{70211040-1BA1-429A-B218-DDAF943C728C}" presName="space" presStyleCnt="0"/>
      <dgm:spPr/>
    </dgm:pt>
    <dgm:pt modelId="{4C7E8EAC-9983-4E24-A8CD-0CE361E54416}" type="pres">
      <dgm:prSet presAssocID="{3409ECF5-5664-45A8-A22A-6441A55F94BC}" presName="composite" presStyleCnt="0"/>
      <dgm:spPr/>
    </dgm:pt>
    <dgm:pt modelId="{FE6EF234-3843-4A98-9D48-9973BDCBEEFB}" type="pres">
      <dgm:prSet presAssocID="{3409ECF5-5664-45A8-A22A-6441A55F94BC}" presName="parTx" presStyleLbl="alignNode1" presStyleIdx="3" presStyleCnt="5">
        <dgm:presLayoutVars>
          <dgm:chMax val="0"/>
          <dgm:chPref val="0"/>
          <dgm:bulletEnabled val="1"/>
        </dgm:presLayoutVars>
      </dgm:prSet>
      <dgm:spPr/>
      <dgm:t>
        <a:bodyPr/>
        <a:lstStyle/>
        <a:p>
          <a:endParaRPr lang="zh-CN" altLang="en-US"/>
        </a:p>
      </dgm:t>
    </dgm:pt>
    <dgm:pt modelId="{30C5D476-81F2-4B05-8B7E-D7C9736A5C1C}" type="pres">
      <dgm:prSet presAssocID="{3409ECF5-5664-45A8-A22A-6441A55F94BC}" presName="desTx" presStyleLbl="alignAccFollowNode1" presStyleIdx="3" presStyleCnt="5">
        <dgm:presLayoutVars>
          <dgm:bulletEnabled val="1"/>
        </dgm:presLayoutVars>
      </dgm:prSet>
      <dgm:spPr/>
      <dgm:t>
        <a:bodyPr/>
        <a:lstStyle/>
        <a:p>
          <a:endParaRPr lang="zh-CN" altLang="en-US"/>
        </a:p>
      </dgm:t>
    </dgm:pt>
    <dgm:pt modelId="{19940E93-09E7-4FB4-8426-8D6A97601183}" type="pres">
      <dgm:prSet presAssocID="{D75CA19B-FF38-46F2-9FF2-98A06B68BF94}" presName="space" presStyleCnt="0"/>
      <dgm:spPr/>
    </dgm:pt>
    <dgm:pt modelId="{31BBE0BB-0955-4617-9B4E-AD26F76C1FE1}" type="pres">
      <dgm:prSet presAssocID="{6EEE7FB6-0FBF-4DEE-9CB9-D75AA9D37A0E}" presName="composite" presStyleCnt="0"/>
      <dgm:spPr/>
    </dgm:pt>
    <dgm:pt modelId="{E898B277-E3BA-4B61-8C0D-896A37719ABE}" type="pres">
      <dgm:prSet presAssocID="{6EEE7FB6-0FBF-4DEE-9CB9-D75AA9D37A0E}" presName="parTx" presStyleLbl="alignNode1" presStyleIdx="4" presStyleCnt="5">
        <dgm:presLayoutVars>
          <dgm:chMax val="0"/>
          <dgm:chPref val="0"/>
          <dgm:bulletEnabled val="1"/>
        </dgm:presLayoutVars>
      </dgm:prSet>
      <dgm:spPr/>
      <dgm:t>
        <a:bodyPr/>
        <a:lstStyle/>
        <a:p>
          <a:endParaRPr lang="zh-CN" altLang="en-US"/>
        </a:p>
      </dgm:t>
    </dgm:pt>
    <dgm:pt modelId="{19FE9814-7A56-4885-8EFB-85CF17E15779}" type="pres">
      <dgm:prSet presAssocID="{6EEE7FB6-0FBF-4DEE-9CB9-D75AA9D37A0E}" presName="desTx" presStyleLbl="alignAccFollowNode1" presStyleIdx="4" presStyleCnt="5">
        <dgm:presLayoutVars>
          <dgm:bulletEnabled val="1"/>
        </dgm:presLayoutVars>
      </dgm:prSet>
      <dgm:spPr/>
      <dgm:t>
        <a:bodyPr/>
        <a:lstStyle/>
        <a:p>
          <a:endParaRPr lang="zh-CN" altLang="en-US"/>
        </a:p>
      </dgm:t>
    </dgm:pt>
  </dgm:ptLst>
  <dgm:cxnLst>
    <dgm:cxn modelId="{E3E9B4BD-34AB-44BC-A692-E0237940156D}" srcId="{B1F2BB72-5DAD-4883-A36B-9C4AB0E39F12}" destId="{27BCAE58-FF2B-431C-83EF-554C4443D16C}" srcOrd="4" destOrd="0" parTransId="{EA775F43-B5C7-466A-A6AF-8659072FA8B2}" sibTransId="{EC00FC7C-BEB3-4CED-B84E-79F0116B4C07}"/>
    <dgm:cxn modelId="{48553E53-95B8-4532-9389-CF4354B492EB}" srcId="{3409ECF5-5664-45A8-A22A-6441A55F94BC}" destId="{7A49B14A-2406-449D-8EBD-B79F2B36A4B0}" srcOrd="3" destOrd="0" parTransId="{A7AF6ACE-D86B-4B72-A164-D3EA2CD90910}" sibTransId="{AF05500B-E721-4859-A2C5-F633B6E546EE}"/>
    <dgm:cxn modelId="{194E7275-9282-4C2C-97CB-02D3D6F6B229}" type="presOf" srcId="{34D09D14-DF0C-4913-BC05-04DD41142B16}" destId="{9C200073-3B43-4D26-BFAC-E085E48992F3}" srcOrd="0" destOrd="1" presId="urn:microsoft.com/office/officeart/2005/8/layout/hList1"/>
    <dgm:cxn modelId="{167EC246-8D68-43E4-A9B7-729AD3BC754C}" type="presOf" srcId="{B1F2BB72-5DAD-4883-A36B-9C4AB0E39F12}" destId="{A396F6AB-B4F0-4D5E-9576-E5BF4549DE3C}" srcOrd="0" destOrd="0" presId="urn:microsoft.com/office/officeart/2005/8/layout/hList1"/>
    <dgm:cxn modelId="{ACD55D93-EF5D-4853-A0B4-D5B1BEC6E6AB}" srcId="{B1F2BB72-5DAD-4883-A36B-9C4AB0E39F12}" destId="{D03075D0-9821-4FAD-A0DE-1928B39E06E6}" srcOrd="3" destOrd="0" parTransId="{4CD78010-2DA6-431C-9054-827304E4B113}" sibTransId="{2DD60D31-3895-4709-90DB-61030C586946}"/>
    <dgm:cxn modelId="{55EF85C8-6170-4C82-8754-8D818E948A34}" srcId="{62E7A436-0514-402C-A74A-E554AD3EC6FA}" destId="{2524D34C-3BEF-48A3-8A73-8234CB912786}" srcOrd="0" destOrd="0" parTransId="{BBE15068-4D9B-4D42-9F34-CC3D8DD7F349}" sibTransId="{3E2804CD-883C-4951-8898-0F4BA4E96421}"/>
    <dgm:cxn modelId="{E226153C-D3A9-4F45-963C-82D6C9E38385}" srcId="{62E7A436-0514-402C-A74A-E554AD3EC6FA}" destId="{15B7A17D-4320-492F-A816-28AAF5D0F76B}" srcOrd="3" destOrd="0" parTransId="{9A6D3F92-29D4-4CC9-8560-329846E53B48}" sibTransId="{4AC8DF79-4C40-407E-9197-75EAFF3C26BF}"/>
    <dgm:cxn modelId="{73EF8AB4-BB1D-4B92-9014-B1BFED1121B8}" srcId="{B1F2BB72-5DAD-4883-A36B-9C4AB0E39F12}" destId="{34D09D14-DF0C-4913-BC05-04DD41142B16}" srcOrd="1" destOrd="0" parTransId="{636BF019-7C31-4CDD-A8C1-8296B96ED6A6}" sibTransId="{CFECB24A-5DA2-4AE3-B6D7-30C8F9E1D282}"/>
    <dgm:cxn modelId="{F1001C80-6A47-46EC-87BC-851278C789FE}" srcId="{917E113D-9214-40FC-AF25-B301EFB42413}" destId="{99C7FDD5-F107-4DD5-AE30-09B9B6485ACD}" srcOrd="3" destOrd="0" parTransId="{AC387A25-0F93-41B0-9664-D72411E153BA}" sibTransId="{9F6D83BA-6108-4879-BAE9-DBB510DD7509}"/>
    <dgm:cxn modelId="{C3655406-16BF-4006-B096-0D40038B1F1C}" type="presOf" srcId="{AFAE6FB0-6280-45A7-8569-6B88908F2E7E}" destId="{19FE9814-7A56-4885-8EFB-85CF17E15779}" srcOrd="0" destOrd="0" presId="urn:microsoft.com/office/officeart/2005/8/layout/hList1"/>
    <dgm:cxn modelId="{EE678AEC-0485-468C-95F7-2DB7649E25E3}" type="presOf" srcId="{4ED0431E-7AA7-4FA5-B9BF-FC6E1008852B}" destId="{30C5D476-81F2-4B05-8B7E-D7C9736A5C1C}" srcOrd="0" destOrd="1" presId="urn:microsoft.com/office/officeart/2005/8/layout/hList1"/>
    <dgm:cxn modelId="{959D4DA5-F55B-41D7-9133-5642ECDC7F0C}" srcId="{FCA2ECC1-587E-4447-9DEB-DF7B542B0F85}" destId="{3409ECF5-5664-45A8-A22A-6441A55F94BC}" srcOrd="3" destOrd="0" parTransId="{A8BEEAC9-B501-4B4D-B103-70BA4002D128}" sibTransId="{D75CA19B-FF38-46F2-9FF2-98A06B68BF94}"/>
    <dgm:cxn modelId="{A5F5D200-9E7A-4FFF-97B7-6833D66C5E3C}" type="presOf" srcId="{C85A4F89-FD0F-4BF5-840C-332C4A89BA53}" destId="{9B85D2CE-6FCA-465A-857D-90E4471AC39A}" srcOrd="0" destOrd="2" presId="urn:microsoft.com/office/officeart/2005/8/layout/hList1"/>
    <dgm:cxn modelId="{6502FB90-EC71-43BD-B9FC-9E5535EB105C}" srcId="{FCA2ECC1-587E-4447-9DEB-DF7B542B0F85}" destId="{6EEE7FB6-0FBF-4DEE-9CB9-D75AA9D37A0E}" srcOrd="4" destOrd="0" parTransId="{4A29BA62-BA72-4E37-B9C7-0AC56B397816}" sibTransId="{BCEEF46A-6C4C-4EA8-A4B5-29DFD692AA6E}"/>
    <dgm:cxn modelId="{E52418F5-1123-4582-8B51-C8AEF2A8A1BB}" srcId="{917E113D-9214-40FC-AF25-B301EFB42413}" destId="{AAE408FA-623E-440A-B86E-D5ABB4C73A70}" srcOrd="2" destOrd="0" parTransId="{B92518E1-02D2-40FF-BF8C-151D27B8EB8C}" sibTransId="{C7B83F65-7C9D-4144-ABA2-18F6D4B17FEC}"/>
    <dgm:cxn modelId="{02EE9743-790B-48E8-B31E-757ADA5CDE01}" type="presOf" srcId="{FCA2ECC1-587E-4447-9DEB-DF7B542B0F85}" destId="{C8C5D79D-2B90-4E6D-BB70-04E99DC33181}" srcOrd="0" destOrd="0" presId="urn:microsoft.com/office/officeart/2005/8/layout/hList1"/>
    <dgm:cxn modelId="{7CEA0D3D-69BA-4853-87C9-F6C65CCFAF76}" type="presOf" srcId="{6EEE7FB6-0FBF-4DEE-9CB9-D75AA9D37A0E}" destId="{E898B277-E3BA-4B61-8C0D-896A37719ABE}" srcOrd="0" destOrd="0" presId="urn:microsoft.com/office/officeart/2005/8/layout/hList1"/>
    <dgm:cxn modelId="{BFAA9767-91F9-45D9-8E1C-0E6013538A57}" srcId="{B1F2BB72-5DAD-4883-A36B-9C4AB0E39F12}" destId="{B9EBA419-D247-4448-B7B8-BAC404107F83}" srcOrd="2" destOrd="0" parTransId="{793E1EA1-9615-4DC4-8122-BF4FC48728AF}" sibTransId="{E306756D-98B2-4583-AF9A-897F22FD70A1}"/>
    <dgm:cxn modelId="{BF315622-2EA6-4516-88F5-9FA29A80BF22}" srcId="{B1F2BB72-5DAD-4883-A36B-9C4AB0E39F12}" destId="{114A13B5-B1BB-452C-9A86-E4D45DFD45F0}" srcOrd="0" destOrd="0" parTransId="{40278A06-F693-4939-9CD7-737032AF2EC2}" sibTransId="{DDA2929A-BA06-4001-BB6A-CEA40B7C4656}"/>
    <dgm:cxn modelId="{44174B5C-8BCD-4E00-B576-E37E29D61798}" srcId="{3409ECF5-5664-45A8-A22A-6441A55F94BC}" destId="{34341641-7A2A-4447-BC84-32F6F0019EBE}" srcOrd="0" destOrd="0" parTransId="{E19745E7-8B32-4427-9ECF-BB86CAD0F0D9}" sibTransId="{3E30EFA8-E922-4149-A6F3-1CBB9E26C1A8}"/>
    <dgm:cxn modelId="{0C616C6E-8ADB-4EF5-AD20-E38599AA4F8F}" type="presOf" srcId="{15B7A17D-4320-492F-A816-28AAF5D0F76B}" destId="{9B85D2CE-6FCA-465A-857D-90E4471AC39A}" srcOrd="0" destOrd="3" presId="urn:microsoft.com/office/officeart/2005/8/layout/hList1"/>
    <dgm:cxn modelId="{BF127449-5A78-4FE6-8613-01A53470B7EB}" type="presOf" srcId="{B9EBA419-D247-4448-B7B8-BAC404107F83}" destId="{9C200073-3B43-4D26-BFAC-E085E48992F3}" srcOrd="0" destOrd="2" presId="urn:microsoft.com/office/officeart/2005/8/layout/hList1"/>
    <dgm:cxn modelId="{752E29D1-A21D-4689-B8AC-B4C70DDD2EBF}" type="presOf" srcId="{D2113D22-6415-4374-B968-360648B630E6}" destId="{C3F04107-C796-497A-943A-6EC5D3970550}" srcOrd="0" destOrd="0" presId="urn:microsoft.com/office/officeart/2005/8/layout/hList1"/>
    <dgm:cxn modelId="{3FB7C08D-05B3-439E-8D40-44A0F6E5938E}" srcId="{3409ECF5-5664-45A8-A22A-6441A55F94BC}" destId="{287D085A-8746-4E0C-ABFF-032CFEF46CD4}" srcOrd="4" destOrd="0" parTransId="{8377B0AC-BC7F-47CB-B28F-6121AEA8EF29}" sibTransId="{4995A47A-0086-4F81-8500-13BEEB3E9B0E}"/>
    <dgm:cxn modelId="{9389655C-D346-42C3-B460-0AD4D32DA266}" type="presOf" srcId="{27550690-F685-49BE-ABD8-A77D32F9104E}" destId="{9B85D2CE-6FCA-465A-857D-90E4471AC39A}" srcOrd="0" destOrd="1" presId="urn:microsoft.com/office/officeart/2005/8/layout/hList1"/>
    <dgm:cxn modelId="{F3632781-3842-4E4A-8AFD-6CCF6AC84C05}" srcId="{917E113D-9214-40FC-AF25-B301EFB42413}" destId="{D779DCB3-63D9-49FE-9DE2-2AA687415AFC}" srcOrd="1" destOrd="0" parTransId="{98D78C01-92A9-403D-8AFA-814456C7562F}" sibTransId="{1C1627D9-3EE2-4E23-A7F8-DE6AC463DCF5}"/>
    <dgm:cxn modelId="{C3FEE06F-5308-4290-9E60-AEDCF9ACDF2B}" type="presOf" srcId="{D779DCB3-63D9-49FE-9DE2-2AA687415AFC}" destId="{C3F04107-C796-497A-943A-6EC5D3970550}" srcOrd="0" destOrd="1" presId="urn:microsoft.com/office/officeart/2005/8/layout/hList1"/>
    <dgm:cxn modelId="{B6208496-C933-4D10-9273-C433CD81A2BC}" srcId="{3409ECF5-5664-45A8-A22A-6441A55F94BC}" destId="{85B53AF6-B088-47DD-8D2E-EBF63D35A674}" srcOrd="2" destOrd="0" parTransId="{950CDDE0-73DD-4E6D-81BC-3614F219B9C8}" sibTransId="{DB256D25-D2F8-4142-856D-053E02ADBD62}"/>
    <dgm:cxn modelId="{14C1474D-EF5B-4C41-ABA8-D151AE129A85}" srcId="{62E7A436-0514-402C-A74A-E554AD3EC6FA}" destId="{C85A4F89-FD0F-4BF5-840C-332C4A89BA53}" srcOrd="2" destOrd="0" parTransId="{9C786735-C1EC-4421-BD9A-143DE8A80C27}" sibTransId="{5BA29E9A-C8F6-45B3-8974-49B05E6C2252}"/>
    <dgm:cxn modelId="{2385B893-882F-4CB9-953C-49443D5FC6D8}" srcId="{6EEE7FB6-0FBF-4DEE-9CB9-D75AA9D37A0E}" destId="{5C601C41-6ADD-48EC-A92A-36C7F095E78F}" srcOrd="1" destOrd="0" parTransId="{8E7FB91E-BE76-46B8-91C6-1EB5C641F784}" sibTransId="{0E6FB30D-2042-4AEA-A783-D4FCAD1229BF}"/>
    <dgm:cxn modelId="{BEDEA848-5AD1-4062-AB08-C49AB6D34AA0}" type="presOf" srcId="{2524D34C-3BEF-48A3-8A73-8234CB912786}" destId="{9B85D2CE-6FCA-465A-857D-90E4471AC39A}" srcOrd="0" destOrd="0" presId="urn:microsoft.com/office/officeart/2005/8/layout/hList1"/>
    <dgm:cxn modelId="{1B3BBEF5-4841-4BBE-A039-CEEF86225B36}" type="presOf" srcId="{287D085A-8746-4E0C-ABFF-032CFEF46CD4}" destId="{30C5D476-81F2-4B05-8B7E-D7C9736A5C1C}" srcOrd="0" destOrd="4" presId="urn:microsoft.com/office/officeart/2005/8/layout/hList1"/>
    <dgm:cxn modelId="{D18A0B8D-EA37-4B76-9FAB-03B38A2B4473}" type="presOf" srcId="{0B5CB38B-5C84-4901-B261-E689AAB212BB}" destId="{9B85D2CE-6FCA-465A-857D-90E4471AC39A}" srcOrd="0" destOrd="4" presId="urn:microsoft.com/office/officeart/2005/8/layout/hList1"/>
    <dgm:cxn modelId="{17A5E28E-2490-4FF1-8234-EF3CC442CCF9}" type="presOf" srcId="{99C7FDD5-F107-4DD5-AE30-09B9B6485ACD}" destId="{C3F04107-C796-497A-943A-6EC5D3970550}" srcOrd="0" destOrd="3" presId="urn:microsoft.com/office/officeart/2005/8/layout/hList1"/>
    <dgm:cxn modelId="{C1B53BEC-0618-4ACA-B16F-0718902755B4}" type="presOf" srcId="{62E7A436-0514-402C-A74A-E554AD3EC6FA}" destId="{ECB11109-4403-4DB0-83DD-BECA9C834B44}" srcOrd="0" destOrd="0" presId="urn:microsoft.com/office/officeart/2005/8/layout/hList1"/>
    <dgm:cxn modelId="{6F361329-EDAF-473F-BAF7-A8D17354EC9C}" srcId="{62E7A436-0514-402C-A74A-E554AD3EC6FA}" destId="{27550690-F685-49BE-ABD8-A77D32F9104E}" srcOrd="1" destOrd="0" parTransId="{F8A6C89B-1FBF-4C10-BD87-69D060A0AF36}" sibTransId="{A94B9E47-7B15-410C-BE33-38A87C016969}"/>
    <dgm:cxn modelId="{56D67D8C-3DD7-462E-B918-5389699A05F8}" type="presOf" srcId="{7A49B14A-2406-449D-8EBD-B79F2B36A4B0}" destId="{30C5D476-81F2-4B05-8B7E-D7C9736A5C1C}" srcOrd="0" destOrd="3" presId="urn:microsoft.com/office/officeart/2005/8/layout/hList1"/>
    <dgm:cxn modelId="{F6296A73-06E5-4226-B765-2092D6DE5188}" srcId="{FCA2ECC1-587E-4447-9DEB-DF7B542B0F85}" destId="{62E7A436-0514-402C-A74A-E554AD3EC6FA}" srcOrd="2" destOrd="0" parTransId="{AE584E7D-DB42-4D94-85A0-6EC732110B7C}" sibTransId="{70211040-1BA1-429A-B218-DDAF943C728C}"/>
    <dgm:cxn modelId="{62442C13-AC99-422A-894C-E0BAC926AF9B}" type="presOf" srcId="{917E113D-9214-40FC-AF25-B301EFB42413}" destId="{2FD62834-2670-4757-8EC6-A598AF76C9BF}" srcOrd="0" destOrd="0" presId="urn:microsoft.com/office/officeart/2005/8/layout/hList1"/>
    <dgm:cxn modelId="{0107C89F-AB1C-4A61-BBC3-F25C1A2262AA}" type="presOf" srcId="{85B53AF6-B088-47DD-8D2E-EBF63D35A674}" destId="{30C5D476-81F2-4B05-8B7E-D7C9736A5C1C}" srcOrd="0" destOrd="2" presId="urn:microsoft.com/office/officeart/2005/8/layout/hList1"/>
    <dgm:cxn modelId="{126F4FA1-6F94-4A4D-929F-3BFC6F4DEC1B}" srcId="{917E113D-9214-40FC-AF25-B301EFB42413}" destId="{FE720752-8756-4AEF-B882-AE1721996057}" srcOrd="4" destOrd="0" parTransId="{A09A8E34-7761-4B37-83EC-6FB043B9BDF9}" sibTransId="{FA0DFB90-AC1D-4672-811B-33256BEB76E1}"/>
    <dgm:cxn modelId="{73C3D0E8-88D6-4B86-8A11-642F7A7DFD9B}" srcId="{3409ECF5-5664-45A8-A22A-6441A55F94BC}" destId="{4ED0431E-7AA7-4FA5-B9BF-FC6E1008852B}" srcOrd="1" destOrd="0" parTransId="{6F5466E4-4543-4624-B0F5-56BF79454F04}" sibTransId="{2CE88CEA-A1BD-45D1-BF5D-38902B91A1DF}"/>
    <dgm:cxn modelId="{92A3D7EE-FB31-4608-B669-CACD97A46243}" srcId="{FCA2ECC1-587E-4447-9DEB-DF7B542B0F85}" destId="{917E113D-9214-40FC-AF25-B301EFB42413}" srcOrd="0" destOrd="0" parTransId="{F3B03BF3-E3E8-43FC-AC3F-FB8081BE4E6C}" sibTransId="{C2659462-8336-49E5-99C3-6E0664176592}"/>
    <dgm:cxn modelId="{75BF3B54-2A3C-45F6-B908-9A58AF463361}" type="presOf" srcId="{27BCAE58-FF2B-431C-83EF-554C4443D16C}" destId="{9C200073-3B43-4D26-BFAC-E085E48992F3}" srcOrd="0" destOrd="4" presId="urn:microsoft.com/office/officeart/2005/8/layout/hList1"/>
    <dgm:cxn modelId="{3A5102C9-4281-4F69-9CA6-FBCCB9F51BFD}" srcId="{62E7A436-0514-402C-A74A-E554AD3EC6FA}" destId="{0B5CB38B-5C84-4901-B261-E689AAB212BB}" srcOrd="4" destOrd="0" parTransId="{365450CC-3497-41E0-B693-5AF95F9688EE}" sibTransId="{9C463905-6D7D-41EC-A2AF-631C2AEC44CB}"/>
    <dgm:cxn modelId="{CC31ED7D-739B-433C-9B4C-577F07FD74AE}" type="presOf" srcId="{AAE408FA-623E-440A-B86E-D5ABB4C73A70}" destId="{C3F04107-C796-497A-943A-6EC5D3970550}" srcOrd="0" destOrd="2" presId="urn:microsoft.com/office/officeart/2005/8/layout/hList1"/>
    <dgm:cxn modelId="{F1283B16-63E8-41C8-9369-0CC24B5047DE}" srcId="{FCA2ECC1-587E-4447-9DEB-DF7B542B0F85}" destId="{B1F2BB72-5DAD-4883-A36B-9C4AB0E39F12}" srcOrd="1" destOrd="0" parTransId="{DF632440-025F-4E62-BC78-B1B33DBA959D}" sibTransId="{303701D0-75DE-4C0C-B267-901A56F48CE8}"/>
    <dgm:cxn modelId="{C2E19375-68DE-4DFD-BD65-FE64EEBA7975}" type="presOf" srcId="{34341641-7A2A-4447-BC84-32F6F0019EBE}" destId="{30C5D476-81F2-4B05-8B7E-D7C9736A5C1C}" srcOrd="0" destOrd="0" presId="urn:microsoft.com/office/officeart/2005/8/layout/hList1"/>
    <dgm:cxn modelId="{479E680C-AA0F-4558-9C1F-8BA29F4C26D3}" srcId="{917E113D-9214-40FC-AF25-B301EFB42413}" destId="{D2113D22-6415-4374-B968-360648B630E6}" srcOrd="0" destOrd="0" parTransId="{DE51321B-3926-44DC-85FD-43C86C4E10AA}" sibTransId="{645259F7-EAE1-4C12-8170-2728E931C928}"/>
    <dgm:cxn modelId="{A152208C-DE6C-4B9B-9729-C73DE352B6F5}" type="presOf" srcId="{FE720752-8756-4AEF-B882-AE1721996057}" destId="{C3F04107-C796-497A-943A-6EC5D3970550}" srcOrd="0" destOrd="4" presId="urn:microsoft.com/office/officeart/2005/8/layout/hList1"/>
    <dgm:cxn modelId="{D80FB5BD-37B7-4930-9DE1-82C5FF5A00DD}" srcId="{6EEE7FB6-0FBF-4DEE-9CB9-D75AA9D37A0E}" destId="{AFAE6FB0-6280-45A7-8569-6B88908F2E7E}" srcOrd="0" destOrd="0" parTransId="{6486B9AA-FA76-4179-9EF4-F5965E9B4C28}" sibTransId="{08B161BA-CA1F-4A3E-88B4-7E229D59921D}"/>
    <dgm:cxn modelId="{B610E45A-2A46-48AF-970F-B5E342BFBA40}" type="presOf" srcId="{5C601C41-6ADD-48EC-A92A-36C7F095E78F}" destId="{19FE9814-7A56-4885-8EFB-85CF17E15779}" srcOrd="0" destOrd="1" presId="urn:microsoft.com/office/officeart/2005/8/layout/hList1"/>
    <dgm:cxn modelId="{9F982580-9DB4-4C54-A871-F0AA32B7ED48}" type="presOf" srcId="{D03075D0-9821-4FAD-A0DE-1928B39E06E6}" destId="{9C200073-3B43-4D26-BFAC-E085E48992F3}" srcOrd="0" destOrd="3" presId="urn:microsoft.com/office/officeart/2005/8/layout/hList1"/>
    <dgm:cxn modelId="{290014F3-5AD1-4889-9603-CC962A511FF6}" type="presOf" srcId="{114A13B5-B1BB-452C-9A86-E4D45DFD45F0}" destId="{9C200073-3B43-4D26-BFAC-E085E48992F3}" srcOrd="0" destOrd="0" presId="urn:microsoft.com/office/officeart/2005/8/layout/hList1"/>
    <dgm:cxn modelId="{E73E763A-C98D-41AD-93B4-6C514755CA20}" type="presOf" srcId="{3409ECF5-5664-45A8-A22A-6441A55F94BC}" destId="{FE6EF234-3843-4A98-9D48-9973BDCBEEFB}" srcOrd="0" destOrd="0" presId="urn:microsoft.com/office/officeart/2005/8/layout/hList1"/>
    <dgm:cxn modelId="{F8D56756-1319-4F6D-BEE8-5D5823032F1C}" type="presParOf" srcId="{C8C5D79D-2B90-4E6D-BB70-04E99DC33181}" destId="{DD105B16-ADA8-49EF-B007-5AFDA60ADFC0}" srcOrd="0" destOrd="0" presId="urn:microsoft.com/office/officeart/2005/8/layout/hList1"/>
    <dgm:cxn modelId="{AC9BBC71-2B86-4A0C-8DBD-825214ADAF83}" type="presParOf" srcId="{DD105B16-ADA8-49EF-B007-5AFDA60ADFC0}" destId="{2FD62834-2670-4757-8EC6-A598AF76C9BF}" srcOrd="0" destOrd="0" presId="urn:microsoft.com/office/officeart/2005/8/layout/hList1"/>
    <dgm:cxn modelId="{A685C38C-2205-4743-A10F-3ADA9B4D3A01}" type="presParOf" srcId="{DD105B16-ADA8-49EF-B007-5AFDA60ADFC0}" destId="{C3F04107-C796-497A-943A-6EC5D3970550}" srcOrd="1" destOrd="0" presId="urn:microsoft.com/office/officeart/2005/8/layout/hList1"/>
    <dgm:cxn modelId="{C08B009E-49EA-4DA8-AA2C-2270FF812197}" type="presParOf" srcId="{C8C5D79D-2B90-4E6D-BB70-04E99DC33181}" destId="{69FE93B6-7401-4861-A990-965C7967C7CF}" srcOrd="1" destOrd="0" presId="urn:microsoft.com/office/officeart/2005/8/layout/hList1"/>
    <dgm:cxn modelId="{32365E4F-F14D-4F91-98A5-150BB45F95FF}" type="presParOf" srcId="{C8C5D79D-2B90-4E6D-BB70-04E99DC33181}" destId="{504A14F0-EE17-43A9-AE0F-1C961A902BB4}" srcOrd="2" destOrd="0" presId="urn:microsoft.com/office/officeart/2005/8/layout/hList1"/>
    <dgm:cxn modelId="{0DF8DB7E-4873-4B97-A122-B4FB6CF1FFA9}" type="presParOf" srcId="{504A14F0-EE17-43A9-AE0F-1C961A902BB4}" destId="{A396F6AB-B4F0-4D5E-9576-E5BF4549DE3C}" srcOrd="0" destOrd="0" presId="urn:microsoft.com/office/officeart/2005/8/layout/hList1"/>
    <dgm:cxn modelId="{751327E2-E586-4F46-B193-5685CA9517D2}" type="presParOf" srcId="{504A14F0-EE17-43A9-AE0F-1C961A902BB4}" destId="{9C200073-3B43-4D26-BFAC-E085E48992F3}" srcOrd="1" destOrd="0" presId="urn:microsoft.com/office/officeart/2005/8/layout/hList1"/>
    <dgm:cxn modelId="{0C2D3B75-FB04-43D7-BC19-B1364CBE6F99}" type="presParOf" srcId="{C8C5D79D-2B90-4E6D-BB70-04E99DC33181}" destId="{E1101D75-FCC8-49F6-A09C-1D466A98C2C6}" srcOrd="3" destOrd="0" presId="urn:microsoft.com/office/officeart/2005/8/layout/hList1"/>
    <dgm:cxn modelId="{8AB5A9E6-C99F-49F9-B9F7-583E2C135783}" type="presParOf" srcId="{C8C5D79D-2B90-4E6D-BB70-04E99DC33181}" destId="{CA3D69AD-EDE0-4D7F-8B33-7E8D1FA65A0E}" srcOrd="4" destOrd="0" presId="urn:microsoft.com/office/officeart/2005/8/layout/hList1"/>
    <dgm:cxn modelId="{2F7EAF78-440B-4A6B-B526-0C52BEA3F0ED}" type="presParOf" srcId="{CA3D69AD-EDE0-4D7F-8B33-7E8D1FA65A0E}" destId="{ECB11109-4403-4DB0-83DD-BECA9C834B44}" srcOrd="0" destOrd="0" presId="urn:microsoft.com/office/officeart/2005/8/layout/hList1"/>
    <dgm:cxn modelId="{AEACABB8-ECE6-4348-917F-A7EDD4CBDA6A}" type="presParOf" srcId="{CA3D69AD-EDE0-4D7F-8B33-7E8D1FA65A0E}" destId="{9B85D2CE-6FCA-465A-857D-90E4471AC39A}" srcOrd="1" destOrd="0" presId="urn:microsoft.com/office/officeart/2005/8/layout/hList1"/>
    <dgm:cxn modelId="{7FFE7749-009E-4959-A503-77DF51387784}" type="presParOf" srcId="{C8C5D79D-2B90-4E6D-BB70-04E99DC33181}" destId="{637E75E1-46CB-4108-8D2F-AD44045FFC23}" srcOrd="5" destOrd="0" presId="urn:microsoft.com/office/officeart/2005/8/layout/hList1"/>
    <dgm:cxn modelId="{72584295-C854-4693-A5AF-AD78E620EECF}" type="presParOf" srcId="{C8C5D79D-2B90-4E6D-BB70-04E99DC33181}" destId="{4C7E8EAC-9983-4E24-A8CD-0CE361E54416}" srcOrd="6" destOrd="0" presId="urn:microsoft.com/office/officeart/2005/8/layout/hList1"/>
    <dgm:cxn modelId="{A12B4D6D-FB73-425E-9BC8-83ECB88249F2}" type="presParOf" srcId="{4C7E8EAC-9983-4E24-A8CD-0CE361E54416}" destId="{FE6EF234-3843-4A98-9D48-9973BDCBEEFB}" srcOrd="0" destOrd="0" presId="urn:microsoft.com/office/officeart/2005/8/layout/hList1"/>
    <dgm:cxn modelId="{A526A016-C13D-4F0D-9EB1-B4032801CA6F}" type="presParOf" srcId="{4C7E8EAC-9983-4E24-A8CD-0CE361E54416}" destId="{30C5D476-81F2-4B05-8B7E-D7C9736A5C1C}" srcOrd="1" destOrd="0" presId="urn:microsoft.com/office/officeart/2005/8/layout/hList1"/>
    <dgm:cxn modelId="{CF5BA134-2C31-40B8-852A-7A82C8B9ED6C}" type="presParOf" srcId="{C8C5D79D-2B90-4E6D-BB70-04E99DC33181}" destId="{19940E93-09E7-4FB4-8426-8D6A97601183}" srcOrd="7" destOrd="0" presId="urn:microsoft.com/office/officeart/2005/8/layout/hList1"/>
    <dgm:cxn modelId="{3AC3E2EC-4853-4797-BFEB-B434105FB491}" type="presParOf" srcId="{C8C5D79D-2B90-4E6D-BB70-04E99DC33181}" destId="{31BBE0BB-0955-4617-9B4E-AD26F76C1FE1}" srcOrd="8" destOrd="0" presId="urn:microsoft.com/office/officeart/2005/8/layout/hList1"/>
    <dgm:cxn modelId="{965BC05E-B852-4C35-98CA-C9E8D5383F94}" type="presParOf" srcId="{31BBE0BB-0955-4617-9B4E-AD26F76C1FE1}" destId="{E898B277-E3BA-4B61-8C0D-896A37719ABE}" srcOrd="0" destOrd="0" presId="urn:microsoft.com/office/officeart/2005/8/layout/hList1"/>
    <dgm:cxn modelId="{D98ED23E-23C7-45F4-B569-F90B5FBA1318}" type="presParOf" srcId="{31BBE0BB-0955-4617-9B4E-AD26F76C1FE1}" destId="{19FE9814-7A56-4885-8EFB-85CF17E1577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735DC1-509A-47AA-A1FF-53C133EBCC3F}" type="doc">
      <dgm:prSet loTypeId="urn:microsoft.com/office/officeart/2005/8/layout/hList1" loCatId="list" qsTypeId="urn:microsoft.com/office/officeart/2005/8/quickstyle/3d1" qsCatId="3D" csTypeId="urn:microsoft.com/office/officeart/2005/8/colors/accent0_3" csCatId="mainScheme" phldr="1"/>
      <dgm:spPr/>
      <dgm:t>
        <a:bodyPr/>
        <a:lstStyle/>
        <a:p>
          <a:endParaRPr lang="zh-CN" altLang="en-US"/>
        </a:p>
      </dgm:t>
    </dgm:pt>
    <dgm:pt modelId="{B07A420B-88DB-44B3-8637-2F3E1BC0513C}">
      <dgm:prSet/>
      <dgm:spPr/>
      <dgm:t>
        <a:bodyPr/>
        <a:lstStyle/>
        <a:p>
          <a:pPr rtl="0"/>
          <a:r>
            <a:rPr lang="en-US" baseline="0" dirty="0" err="1">
              <a:latin typeface="微软雅黑" panose="020B0503020204020204" pitchFamily="34" charset="-122"/>
              <a:ea typeface="微软雅黑" panose="020B0503020204020204" pitchFamily="34" charset="-122"/>
            </a:rPr>
            <a:t>数据结构</a:t>
          </a:r>
          <a:endParaRPr lang="zh-CN" dirty="0">
            <a:latin typeface="微软雅黑" panose="020B0503020204020204" pitchFamily="34" charset="-122"/>
            <a:ea typeface="微软雅黑" panose="020B0503020204020204" pitchFamily="34" charset="-122"/>
          </a:endParaRPr>
        </a:p>
      </dgm:t>
    </dgm:pt>
    <dgm:pt modelId="{951E2CE4-690B-4BEB-9C05-B66AEA83CC5C}" type="parTrans" cxnId="{15A2FCC1-C17E-44D1-A77C-31D85A554FD1}">
      <dgm:prSet/>
      <dgm:spPr/>
      <dgm:t>
        <a:bodyPr/>
        <a:lstStyle/>
        <a:p>
          <a:endParaRPr lang="zh-CN" altLang="en-US">
            <a:latin typeface="微软雅黑" panose="020B0503020204020204" pitchFamily="34" charset="-122"/>
            <a:ea typeface="微软雅黑" panose="020B0503020204020204" pitchFamily="34" charset="-122"/>
          </a:endParaRPr>
        </a:p>
      </dgm:t>
    </dgm:pt>
    <dgm:pt modelId="{7F657BC6-1145-483A-BE90-28D1A399C84B}" type="sibTrans" cxnId="{15A2FCC1-C17E-44D1-A77C-31D85A554FD1}">
      <dgm:prSet/>
      <dgm:spPr/>
      <dgm:t>
        <a:bodyPr/>
        <a:lstStyle/>
        <a:p>
          <a:endParaRPr lang="zh-CN" altLang="en-US">
            <a:latin typeface="微软雅黑" panose="020B0503020204020204" pitchFamily="34" charset="-122"/>
            <a:ea typeface="微软雅黑" panose="020B0503020204020204" pitchFamily="34" charset="-122"/>
          </a:endParaRPr>
        </a:p>
      </dgm:t>
    </dgm:pt>
    <dgm:pt modelId="{79C86E0B-D79E-47BF-93EA-65F8EBFDEAC3}">
      <dgm:prSet custT="1"/>
      <dgm:spPr/>
      <dgm:t>
        <a:bodyPr/>
        <a:lstStyle/>
        <a:p>
          <a:pPr rtl="0"/>
          <a:r>
            <a:rPr lang="zh-CN" altLang="en-US" sz="3200" baseline="0" dirty="0">
              <a:latin typeface="宋体" panose="02010600030101010101" pitchFamily="2" charset="-122"/>
              <a:ea typeface="宋体" panose="02010600030101010101" pitchFamily="2" charset="-122"/>
            </a:rPr>
            <a:t>定义数据如何组织存储，是数据库的静态特性，是最重要的要素</a:t>
          </a:r>
          <a:endParaRPr lang="zh-CN" altLang="en-US" sz="3200" dirty="0">
            <a:latin typeface="宋体" panose="02010600030101010101" pitchFamily="2" charset="-122"/>
            <a:ea typeface="宋体" panose="02010600030101010101" pitchFamily="2" charset="-122"/>
          </a:endParaRPr>
        </a:p>
      </dgm:t>
    </dgm:pt>
    <dgm:pt modelId="{E0D92CCD-E9D0-4876-8C6F-9310DBA78C75}" type="parTrans" cxnId="{A003AD41-0915-4305-B15C-8E09B0F5B73C}">
      <dgm:prSet/>
      <dgm:spPr/>
      <dgm:t>
        <a:bodyPr/>
        <a:lstStyle/>
        <a:p>
          <a:endParaRPr lang="zh-CN" altLang="en-US">
            <a:latin typeface="微软雅黑" panose="020B0503020204020204" pitchFamily="34" charset="-122"/>
            <a:ea typeface="微软雅黑" panose="020B0503020204020204" pitchFamily="34" charset="-122"/>
          </a:endParaRPr>
        </a:p>
      </dgm:t>
    </dgm:pt>
    <dgm:pt modelId="{D880EB8E-D8D4-4DAB-83D3-2C01019EBF5F}" type="sibTrans" cxnId="{A003AD41-0915-4305-B15C-8E09B0F5B73C}">
      <dgm:prSet/>
      <dgm:spPr/>
      <dgm:t>
        <a:bodyPr/>
        <a:lstStyle/>
        <a:p>
          <a:endParaRPr lang="zh-CN" altLang="en-US">
            <a:latin typeface="微软雅黑" panose="020B0503020204020204" pitchFamily="34" charset="-122"/>
            <a:ea typeface="微软雅黑" panose="020B0503020204020204" pitchFamily="34" charset="-122"/>
          </a:endParaRPr>
        </a:p>
      </dgm:t>
    </dgm:pt>
    <dgm:pt modelId="{7BA9A929-D25E-4837-B435-391CE67D31F8}">
      <dgm:prSet/>
      <dgm:spPr/>
      <dgm:t>
        <a:bodyPr/>
        <a:lstStyle/>
        <a:p>
          <a:pPr rtl="0"/>
          <a:r>
            <a:rPr lang="en-US" baseline="0">
              <a:latin typeface="微软雅黑" panose="020B0503020204020204" pitchFamily="34" charset="-122"/>
              <a:ea typeface="微软雅黑" panose="020B0503020204020204" pitchFamily="34" charset="-122"/>
            </a:rPr>
            <a:t>数据操作</a:t>
          </a:r>
          <a:endParaRPr lang="zh-CN">
            <a:latin typeface="微软雅黑" panose="020B0503020204020204" pitchFamily="34" charset="-122"/>
            <a:ea typeface="微软雅黑" panose="020B0503020204020204" pitchFamily="34" charset="-122"/>
          </a:endParaRPr>
        </a:p>
      </dgm:t>
    </dgm:pt>
    <dgm:pt modelId="{E25C8C12-2EE8-49E1-938A-451FC53DE1C5}" type="parTrans" cxnId="{1E0B036F-B4A4-42CD-B4CF-8B357043B80E}">
      <dgm:prSet/>
      <dgm:spPr/>
      <dgm:t>
        <a:bodyPr/>
        <a:lstStyle/>
        <a:p>
          <a:endParaRPr lang="zh-CN" altLang="en-US">
            <a:latin typeface="微软雅黑" panose="020B0503020204020204" pitchFamily="34" charset="-122"/>
            <a:ea typeface="微软雅黑" panose="020B0503020204020204" pitchFamily="34" charset="-122"/>
          </a:endParaRPr>
        </a:p>
      </dgm:t>
    </dgm:pt>
    <dgm:pt modelId="{4BBB07B6-22CF-4237-A5E7-3DB1271F7DB7}" type="sibTrans" cxnId="{1E0B036F-B4A4-42CD-B4CF-8B357043B80E}">
      <dgm:prSet/>
      <dgm:spPr/>
      <dgm:t>
        <a:bodyPr/>
        <a:lstStyle/>
        <a:p>
          <a:endParaRPr lang="zh-CN" altLang="en-US">
            <a:latin typeface="微软雅黑" panose="020B0503020204020204" pitchFamily="34" charset="-122"/>
            <a:ea typeface="微软雅黑" panose="020B0503020204020204" pitchFamily="34" charset="-122"/>
          </a:endParaRPr>
        </a:p>
      </dgm:t>
    </dgm:pt>
    <dgm:pt modelId="{A1FC70C4-C075-49F4-807C-1DC81313CE70}">
      <dgm:prSet custT="1"/>
      <dgm:spPr/>
      <dgm:t>
        <a:bodyPr/>
        <a:lstStyle/>
        <a:p>
          <a:pPr rtl="0"/>
          <a:r>
            <a:rPr lang="zh-CN" altLang="en-US" sz="3200" baseline="0" dirty="0">
              <a:latin typeface="宋体" panose="02010600030101010101" pitchFamily="2" charset="-122"/>
              <a:ea typeface="宋体" panose="02010600030101010101" pitchFamily="2" charset="-122"/>
            </a:rPr>
            <a:t>定义数据的增删改和检索等操作，是数据库的动态特性</a:t>
          </a:r>
          <a:endParaRPr lang="zh-CN" altLang="en-US" sz="3200" dirty="0">
            <a:latin typeface="宋体" panose="02010600030101010101" pitchFamily="2" charset="-122"/>
            <a:ea typeface="宋体" panose="02010600030101010101" pitchFamily="2" charset="-122"/>
          </a:endParaRPr>
        </a:p>
      </dgm:t>
    </dgm:pt>
    <dgm:pt modelId="{9895C39E-A07C-4938-AABB-A07B852CFA90}" type="parTrans" cxnId="{7F1C4388-2D12-4D1C-82F1-9A4BD7BD3CBF}">
      <dgm:prSet/>
      <dgm:spPr/>
      <dgm:t>
        <a:bodyPr/>
        <a:lstStyle/>
        <a:p>
          <a:endParaRPr lang="zh-CN" altLang="en-US">
            <a:latin typeface="微软雅黑" panose="020B0503020204020204" pitchFamily="34" charset="-122"/>
            <a:ea typeface="微软雅黑" panose="020B0503020204020204" pitchFamily="34" charset="-122"/>
          </a:endParaRPr>
        </a:p>
      </dgm:t>
    </dgm:pt>
    <dgm:pt modelId="{F7ACEFC9-B708-42B7-859A-09A955386715}" type="sibTrans" cxnId="{7F1C4388-2D12-4D1C-82F1-9A4BD7BD3CBF}">
      <dgm:prSet/>
      <dgm:spPr/>
      <dgm:t>
        <a:bodyPr/>
        <a:lstStyle/>
        <a:p>
          <a:endParaRPr lang="zh-CN" altLang="en-US">
            <a:latin typeface="微软雅黑" panose="020B0503020204020204" pitchFamily="34" charset="-122"/>
            <a:ea typeface="微软雅黑" panose="020B0503020204020204" pitchFamily="34" charset="-122"/>
          </a:endParaRPr>
        </a:p>
      </dgm:t>
    </dgm:pt>
    <dgm:pt modelId="{3AC436EF-BD16-45C0-8F40-B3D8A75E3A20}">
      <dgm:prSet/>
      <dgm:spPr/>
      <dgm:t>
        <a:bodyPr/>
        <a:lstStyle/>
        <a:p>
          <a:pPr rtl="0"/>
          <a:r>
            <a:rPr lang="zh-CN" baseline="0">
              <a:latin typeface="微软雅黑" panose="020B0503020204020204" pitchFamily="34" charset="-122"/>
              <a:ea typeface="微软雅黑" panose="020B0503020204020204" pitchFamily="34" charset="-122"/>
            </a:rPr>
            <a:t>完整性约束</a:t>
          </a:r>
          <a:endParaRPr lang="zh-CN">
            <a:latin typeface="微软雅黑" panose="020B0503020204020204" pitchFamily="34" charset="-122"/>
            <a:ea typeface="微软雅黑" panose="020B0503020204020204" pitchFamily="34" charset="-122"/>
          </a:endParaRPr>
        </a:p>
      </dgm:t>
    </dgm:pt>
    <dgm:pt modelId="{211F8127-1053-489E-8AF1-DE169752DE9F}" type="parTrans" cxnId="{569F32A6-3D7E-4928-B7F9-579B96830C04}">
      <dgm:prSet/>
      <dgm:spPr/>
      <dgm:t>
        <a:bodyPr/>
        <a:lstStyle/>
        <a:p>
          <a:endParaRPr lang="zh-CN" altLang="en-US">
            <a:latin typeface="微软雅黑" panose="020B0503020204020204" pitchFamily="34" charset="-122"/>
            <a:ea typeface="微软雅黑" panose="020B0503020204020204" pitchFamily="34" charset="-122"/>
          </a:endParaRPr>
        </a:p>
      </dgm:t>
    </dgm:pt>
    <dgm:pt modelId="{5C5A2A90-9D5C-4679-84AA-62D1890060CD}" type="sibTrans" cxnId="{569F32A6-3D7E-4928-B7F9-579B96830C04}">
      <dgm:prSet/>
      <dgm:spPr/>
      <dgm:t>
        <a:bodyPr/>
        <a:lstStyle/>
        <a:p>
          <a:endParaRPr lang="zh-CN" altLang="en-US">
            <a:latin typeface="微软雅黑" panose="020B0503020204020204" pitchFamily="34" charset="-122"/>
            <a:ea typeface="微软雅黑" panose="020B0503020204020204" pitchFamily="34" charset="-122"/>
          </a:endParaRPr>
        </a:p>
      </dgm:t>
    </dgm:pt>
    <dgm:pt modelId="{4A0A193F-455B-4BBD-9235-BF0E00CA0A8E}">
      <dgm:prSet custT="1"/>
      <dgm:spPr/>
      <dgm:t>
        <a:bodyPr/>
        <a:lstStyle/>
        <a:p>
          <a:pPr rtl="0"/>
          <a:r>
            <a:rPr lang="zh-CN" altLang="en-US" sz="3200" baseline="0" dirty="0">
              <a:latin typeface="宋体" panose="02010600030101010101" pitchFamily="2" charset="-122"/>
              <a:ea typeface="宋体" panose="02010600030101010101" pitchFamily="2" charset="-122"/>
            </a:rPr>
            <a:t>通过定义各种完整性规则，以保证数据的正确、一致和相容</a:t>
          </a:r>
          <a:endParaRPr lang="zh-CN" altLang="en-US" sz="3200" dirty="0">
            <a:latin typeface="宋体" panose="02010600030101010101" pitchFamily="2" charset="-122"/>
            <a:ea typeface="宋体" panose="02010600030101010101" pitchFamily="2" charset="-122"/>
          </a:endParaRPr>
        </a:p>
      </dgm:t>
    </dgm:pt>
    <dgm:pt modelId="{78CB5032-0E9E-4129-97A8-30F1A4951BF7}" type="parTrans" cxnId="{F4E24265-D14A-41AE-A0C7-E1D514E4233A}">
      <dgm:prSet/>
      <dgm:spPr/>
      <dgm:t>
        <a:bodyPr/>
        <a:lstStyle/>
        <a:p>
          <a:endParaRPr lang="zh-CN" altLang="en-US">
            <a:latin typeface="微软雅黑" panose="020B0503020204020204" pitchFamily="34" charset="-122"/>
            <a:ea typeface="微软雅黑" panose="020B0503020204020204" pitchFamily="34" charset="-122"/>
          </a:endParaRPr>
        </a:p>
      </dgm:t>
    </dgm:pt>
    <dgm:pt modelId="{0745223C-86C9-4F0E-875C-A781BFB2212D}" type="sibTrans" cxnId="{F4E24265-D14A-41AE-A0C7-E1D514E4233A}">
      <dgm:prSet/>
      <dgm:spPr/>
      <dgm:t>
        <a:bodyPr/>
        <a:lstStyle/>
        <a:p>
          <a:endParaRPr lang="zh-CN" altLang="en-US">
            <a:latin typeface="微软雅黑" panose="020B0503020204020204" pitchFamily="34" charset="-122"/>
            <a:ea typeface="微软雅黑" panose="020B0503020204020204" pitchFamily="34" charset="-122"/>
          </a:endParaRPr>
        </a:p>
      </dgm:t>
    </dgm:pt>
    <dgm:pt modelId="{9BA30F66-CD2E-4D77-A0BE-E88E3BDADD37}" type="pres">
      <dgm:prSet presAssocID="{A2735DC1-509A-47AA-A1FF-53C133EBCC3F}" presName="Name0" presStyleCnt="0">
        <dgm:presLayoutVars>
          <dgm:dir/>
          <dgm:animLvl val="lvl"/>
          <dgm:resizeHandles val="exact"/>
        </dgm:presLayoutVars>
      </dgm:prSet>
      <dgm:spPr/>
      <dgm:t>
        <a:bodyPr/>
        <a:lstStyle/>
        <a:p>
          <a:endParaRPr lang="zh-CN" altLang="en-US"/>
        </a:p>
      </dgm:t>
    </dgm:pt>
    <dgm:pt modelId="{851C1B11-6D16-4844-8F4E-CE8625E93027}" type="pres">
      <dgm:prSet presAssocID="{B07A420B-88DB-44B3-8637-2F3E1BC0513C}" presName="composite" presStyleCnt="0"/>
      <dgm:spPr/>
    </dgm:pt>
    <dgm:pt modelId="{0283E385-6770-4276-A01C-BEC413D3F688}" type="pres">
      <dgm:prSet presAssocID="{B07A420B-88DB-44B3-8637-2F3E1BC0513C}" presName="parTx" presStyleLbl="alignNode1" presStyleIdx="0" presStyleCnt="3">
        <dgm:presLayoutVars>
          <dgm:chMax val="0"/>
          <dgm:chPref val="0"/>
          <dgm:bulletEnabled val="1"/>
        </dgm:presLayoutVars>
      </dgm:prSet>
      <dgm:spPr/>
      <dgm:t>
        <a:bodyPr/>
        <a:lstStyle/>
        <a:p>
          <a:endParaRPr lang="zh-CN" altLang="en-US"/>
        </a:p>
      </dgm:t>
    </dgm:pt>
    <dgm:pt modelId="{CC122E09-4D16-4C19-BCE3-F7EDB675CD5C}" type="pres">
      <dgm:prSet presAssocID="{B07A420B-88DB-44B3-8637-2F3E1BC0513C}" presName="desTx" presStyleLbl="alignAccFollowNode1" presStyleIdx="0" presStyleCnt="3">
        <dgm:presLayoutVars>
          <dgm:bulletEnabled val="1"/>
        </dgm:presLayoutVars>
      </dgm:prSet>
      <dgm:spPr/>
      <dgm:t>
        <a:bodyPr/>
        <a:lstStyle/>
        <a:p>
          <a:endParaRPr lang="zh-CN" altLang="en-US"/>
        </a:p>
      </dgm:t>
    </dgm:pt>
    <dgm:pt modelId="{D593FF44-3C04-47ED-8CDB-FBACEE544407}" type="pres">
      <dgm:prSet presAssocID="{7F657BC6-1145-483A-BE90-28D1A399C84B}" presName="space" presStyleCnt="0"/>
      <dgm:spPr/>
    </dgm:pt>
    <dgm:pt modelId="{6B8053FE-143D-4DDF-AC1E-C9DBE2BA5D03}" type="pres">
      <dgm:prSet presAssocID="{7BA9A929-D25E-4837-B435-391CE67D31F8}" presName="composite" presStyleCnt="0"/>
      <dgm:spPr/>
    </dgm:pt>
    <dgm:pt modelId="{93C46FB1-3F4F-45AB-A80A-FB85A19DF66F}" type="pres">
      <dgm:prSet presAssocID="{7BA9A929-D25E-4837-B435-391CE67D31F8}" presName="parTx" presStyleLbl="alignNode1" presStyleIdx="1" presStyleCnt="3">
        <dgm:presLayoutVars>
          <dgm:chMax val="0"/>
          <dgm:chPref val="0"/>
          <dgm:bulletEnabled val="1"/>
        </dgm:presLayoutVars>
      </dgm:prSet>
      <dgm:spPr/>
      <dgm:t>
        <a:bodyPr/>
        <a:lstStyle/>
        <a:p>
          <a:endParaRPr lang="zh-CN" altLang="en-US"/>
        </a:p>
      </dgm:t>
    </dgm:pt>
    <dgm:pt modelId="{FA17A017-4F26-421F-8695-4FB2C8B976BB}" type="pres">
      <dgm:prSet presAssocID="{7BA9A929-D25E-4837-B435-391CE67D31F8}" presName="desTx" presStyleLbl="alignAccFollowNode1" presStyleIdx="1" presStyleCnt="3">
        <dgm:presLayoutVars>
          <dgm:bulletEnabled val="1"/>
        </dgm:presLayoutVars>
      </dgm:prSet>
      <dgm:spPr/>
      <dgm:t>
        <a:bodyPr/>
        <a:lstStyle/>
        <a:p>
          <a:endParaRPr lang="zh-CN" altLang="en-US"/>
        </a:p>
      </dgm:t>
    </dgm:pt>
    <dgm:pt modelId="{49B33EE9-AE88-4F5A-A768-1A8ED96E3B75}" type="pres">
      <dgm:prSet presAssocID="{4BBB07B6-22CF-4237-A5E7-3DB1271F7DB7}" presName="space" presStyleCnt="0"/>
      <dgm:spPr/>
    </dgm:pt>
    <dgm:pt modelId="{6DEA6147-2C89-4EB6-A48A-7A171FD75BD4}" type="pres">
      <dgm:prSet presAssocID="{3AC436EF-BD16-45C0-8F40-B3D8A75E3A20}" presName="composite" presStyleCnt="0"/>
      <dgm:spPr/>
    </dgm:pt>
    <dgm:pt modelId="{B8A968F1-2DF3-409D-BCFC-5CC74AA2D029}" type="pres">
      <dgm:prSet presAssocID="{3AC436EF-BD16-45C0-8F40-B3D8A75E3A20}" presName="parTx" presStyleLbl="alignNode1" presStyleIdx="2" presStyleCnt="3">
        <dgm:presLayoutVars>
          <dgm:chMax val="0"/>
          <dgm:chPref val="0"/>
          <dgm:bulletEnabled val="1"/>
        </dgm:presLayoutVars>
      </dgm:prSet>
      <dgm:spPr/>
      <dgm:t>
        <a:bodyPr/>
        <a:lstStyle/>
        <a:p>
          <a:endParaRPr lang="zh-CN" altLang="en-US"/>
        </a:p>
      </dgm:t>
    </dgm:pt>
    <dgm:pt modelId="{2649DD15-A3E6-4B48-8EB1-95F1D1114BF8}" type="pres">
      <dgm:prSet presAssocID="{3AC436EF-BD16-45C0-8F40-B3D8A75E3A20}" presName="desTx" presStyleLbl="alignAccFollowNode1" presStyleIdx="2" presStyleCnt="3">
        <dgm:presLayoutVars>
          <dgm:bulletEnabled val="1"/>
        </dgm:presLayoutVars>
      </dgm:prSet>
      <dgm:spPr/>
      <dgm:t>
        <a:bodyPr/>
        <a:lstStyle/>
        <a:p>
          <a:endParaRPr lang="zh-CN" altLang="en-US"/>
        </a:p>
      </dgm:t>
    </dgm:pt>
  </dgm:ptLst>
  <dgm:cxnLst>
    <dgm:cxn modelId="{7F1C4388-2D12-4D1C-82F1-9A4BD7BD3CBF}" srcId="{7BA9A929-D25E-4837-B435-391CE67D31F8}" destId="{A1FC70C4-C075-49F4-807C-1DC81313CE70}" srcOrd="0" destOrd="0" parTransId="{9895C39E-A07C-4938-AABB-A07B852CFA90}" sibTransId="{F7ACEFC9-B708-42B7-859A-09A955386715}"/>
    <dgm:cxn modelId="{B02046B3-C606-4A23-945D-175526E8174A}" type="presOf" srcId="{79C86E0B-D79E-47BF-93EA-65F8EBFDEAC3}" destId="{CC122E09-4D16-4C19-BCE3-F7EDB675CD5C}" srcOrd="0" destOrd="0" presId="urn:microsoft.com/office/officeart/2005/8/layout/hList1"/>
    <dgm:cxn modelId="{87BAF0B1-8E91-4014-BEA3-5C55B0E0E632}" type="presOf" srcId="{A2735DC1-509A-47AA-A1FF-53C133EBCC3F}" destId="{9BA30F66-CD2E-4D77-A0BE-E88E3BDADD37}" srcOrd="0" destOrd="0" presId="urn:microsoft.com/office/officeart/2005/8/layout/hList1"/>
    <dgm:cxn modelId="{569F32A6-3D7E-4928-B7F9-579B96830C04}" srcId="{A2735DC1-509A-47AA-A1FF-53C133EBCC3F}" destId="{3AC436EF-BD16-45C0-8F40-B3D8A75E3A20}" srcOrd="2" destOrd="0" parTransId="{211F8127-1053-489E-8AF1-DE169752DE9F}" sibTransId="{5C5A2A90-9D5C-4679-84AA-62D1890060CD}"/>
    <dgm:cxn modelId="{52076700-5855-460C-98CB-979B77C2F823}" type="presOf" srcId="{A1FC70C4-C075-49F4-807C-1DC81313CE70}" destId="{FA17A017-4F26-421F-8695-4FB2C8B976BB}" srcOrd="0" destOrd="0" presId="urn:microsoft.com/office/officeart/2005/8/layout/hList1"/>
    <dgm:cxn modelId="{4DB30920-4C66-48FB-A6F5-28682C98E8E3}" type="presOf" srcId="{7BA9A929-D25E-4837-B435-391CE67D31F8}" destId="{93C46FB1-3F4F-45AB-A80A-FB85A19DF66F}" srcOrd="0" destOrd="0" presId="urn:microsoft.com/office/officeart/2005/8/layout/hList1"/>
    <dgm:cxn modelId="{DEFB6EF7-9F0E-4059-9951-4BE38868E2B8}" type="presOf" srcId="{B07A420B-88DB-44B3-8637-2F3E1BC0513C}" destId="{0283E385-6770-4276-A01C-BEC413D3F688}" srcOrd="0" destOrd="0" presId="urn:microsoft.com/office/officeart/2005/8/layout/hList1"/>
    <dgm:cxn modelId="{302BEAC1-91CB-44C8-8111-A4077E179A8E}" type="presOf" srcId="{3AC436EF-BD16-45C0-8F40-B3D8A75E3A20}" destId="{B8A968F1-2DF3-409D-BCFC-5CC74AA2D029}" srcOrd="0" destOrd="0" presId="urn:microsoft.com/office/officeart/2005/8/layout/hList1"/>
    <dgm:cxn modelId="{BB777F93-B827-46F2-B719-0E68178C37DE}" type="presOf" srcId="{4A0A193F-455B-4BBD-9235-BF0E00CA0A8E}" destId="{2649DD15-A3E6-4B48-8EB1-95F1D1114BF8}" srcOrd="0" destOrd="0" presId="urn:microsoft.com/office/officeart/2005/8/layout/hList1"/>
    <dgm:cxn modelId="{1E0B036F-B4A4-42CD-B4CF-8B357043B80E}" srcId="{A2735DC1-509A-47AA-A1FF-53C133EBCC3F}" destId="{7BA9A929-D25E-4837-B435-391CE67D31F8}" srcOrd="1" destOrd="0" parTransId="{E25C8C12-2EE8-49E1-938A-451FC53DE1C5}" sibTransId="{4BBB07B6-22CF-4237-A5E7-3DB1271F7DB7}"/>
    <dgm:cxn modelId="{F4E24265-D14A-41AE-A0C7-E1D514E4233A}" srcId="{3AC436EF-BD16-45C0-8F40-B3D8A75E3A20}" destId="{4A0A193F-455B-4BBD-9235-BF0E00CA0A8E}" srcOrd="0" destOrd="0" parTransId="{78CB5032-0E9E-4129-97A8-30F1A4951BF7}" sibTransId="{0745223C-86C9-4F0E-875C-A781BFB2212D}"/>
    <dgm:cxn modelId="{15A2FCC1-C17E-44D1-A77C-31D85A554FD1}" srcId="{A2735DC1-509A-47AA-A1FF-53C133EBCC3F}" destId="{B07A420B-88DB-44B3-8637-2F3E1BC0513C}" srcOrd="0" destOrd="0" parTransId="{951E2CE4-690B-4BEB-9C05-B66AEA83CC5C}" sibTransId="{7F657BC6-1145-483A-BE90-28D1A399C84B}"/>
    <dgm:cxn modelId="{A003AD41-0915-4305-B15C-8E09B0F5B73C}" srcId="{B07A420B-88DB-44B3-8637-2F3E1BC0513C}" destId="{79C86E0B-D79E-47BF-93EA-65F8EBFDEAC3}" srcOrd="0" destOrd="0" parTransId="{E0D92CCD-E9D0-4876-8C6F-9310DBA78C75}" sibTransId="{D880EB8E-D8D4-4DAB-83D3-2C01019EBF5F}"/>
    <dgm:cxn modelId="{B6FA254B-4D5C-4B97-9B26-852C5DC75B0E}" type="presParOf" srcId="{9BA30F66-CD2E-4D77-A0BE-E88E3BDADD37}" destId="{851C1B11-6D16-4844-8F4E-CE8625E93027}" srcOrd="0" destOrd="0" presId="urn:microsoft.com/office/officeart/2005/8/layout/hList1"/>
    <dgm:cxn modelId="{2A4674D5-FA55-41B0-9BF4-8BD8573C50DF}" type="presParOf" srcId="{851C1B11-6D16-4844-8F4E-CE8625E93027}" destId="{0283E385-6770-4276-A01C-BEC413D3F688}" srcOrd="0" destOrd="0" presId="urn:microsoft.com/office/officeart/2005/8/layout/hList1"/>
    <dgm:cxn modelId="{60FA48EA-E4BC-4A96-9B26-96C985DB6D0F}" type="presParOf" srcId="{851C1B11-6D16-4844-8F4E-CE8625E93027}" destId="{CC122E09-4D16-4C19-BCE3-F7EDB675CD5C}" srcOrd="1" destOrd="0" presId="urn:microsoft.com/office/officeart/2005/8/layout/hList1"/>
    <dgm:cxn modelId="{790289E4-9941-4C14-9138-2BB0EDFC8D51}" type="presParOf" srcId="{9BA30F66-CD2E-4D77-A0BE-E88E3BDADD37}" destId="{D593FF44-3C04-47ED-8CDB-FBACEE544407}" srcOrd="1" destOrd="0" presId="urn:microsoft.com/office/officeart/2005/8/layout/hList1"/>
    <dgm:cxn modelId="{01E761CB-78CF-413E-82AB-DE2D0B75F40B}" type="presParOf" srcId="{9BA30F66-CD2E-4D77-A0BE-E88E3BDADD37}" destId="{6B8053FE-143D-4DDF-AC1E-C9DBE2BA5D03}" srcOrd="2" destOrd="0" presId="urn:microsoft.com/office/officeart/2005/8/layout/hList1"/>
    <dgm:cxn modelId="{CB5FA4D6-7202-4422-B705-034486255A2E}" type="presParOf" srcId="{6B8053FE-143D-4DDF-AC1E-C9DBE2BA5D03}" destId="{93C46FB1-3F4F-45AB-A80A-FB85A19DF66F}" srcOrd="0" destOrd="0" presId="urn:microsoft.com/office/officeart/2005/8/layout/hList1"/>
    <dgm:cxn modelId="{515D49A1-6564-4BD3-A427-EE267C67C462}" type="presParOf" srcId="{6B8053FE-143D-4DDF-AC1E-C9DBE2BA5D03}" destId="{FA17A017-4F26-421F-8695-4FB2C8B976BB}" srcOrd="1" destOrd="0" presId="urn:microsoft.com/office/officeart/2005/8/layout/hList1"/>
    <dgm:cxn modelId="{7983DA62-21D9-42E7-8DC3-583AACA8E0D4}" type="presParOf" srcId="{9BA30F66-CD2E-4D77-A0BE-E88E3BDADD37}" destId="{49B33EE9-AE88-4F5A-A768-1A8ED96E3B75}" srcOrd="3" destOrd="0" presId="urn:microsoft.com/office/officeart/2005/8/layout/hList1"/>
    <dgm:cxn modelId="{AD80C10B-3F37-4091-B2E8-020110055FB7}" type="presParOf" srcId="{9BA30F66-CD2E-4D77-A0BE-E88E3BDADD37}" destId="{6DEA6147-2C89-4EB6-A48A-7A171FD75BD4}" srcOrd="4" destOrd="0" presId="urn:microsoft.com/office/officeart/2005/8/layout/hList1"/>
    <dgm:cxn modelId="{99C02AB0-8776-48DB-8D7D-5768BD790883}" type="presParOf" srcId="{6DEA6147-2C89-4EB6-A48A-7A171FD75BD4}" destId="{B8A968F1-2DF3-409D-BCFC-5CC74AA2D029}" srcOrd="0" destOrd="0" presId="urn:microsoft.com/office/officeart/2005/8/layout/hList1"/>
    <dgm:cxn modelId="{C810656A-DDEE-4C25-BB58-4839EC0B6594}" type="presParOf" srcId="{6DEA6147-2C89-4EB6-A48A-7A171FD75BD4}" destId="{2649DD15-A3E6-4B48-8EB1-95F1D1114BF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75A5FC-D808-4A88-8AC7-BDBF9D28B896}">
      <dsp:nvSpPr>
        <dsp:cNvPr id="0" name=""/>
        <dsp:cNvSpPr/>
      </dsp:nvSpPr>
      <dsp:spPr>
        <a:xfrm rot="1873665">
          <a:off x="3959845" y="3713916"/>
          <a:ext cx="1868726" cy="47021"/>
        </a:xfrm>
        <a:custGeom>
          <a:avLst/>
          <a:gdLst/>
          <a:ahLst/>
          <a:cxnLst/>
          <a:rect l="0" t="0" r="0" b="0"/>
          <a:pathLst>
            <a:path>
              <a:moveTo>
                <a:pt x="0" y="23510"/>
              </a:moveTo>
              <a:lnTo>
                <a:pt x="1868726" y="23510"/>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73DDA5-C341-4864-927B-E1FBC24B3D56}">
      <dsp:nvSpPr>
        <dsp:cNvPr id="0" name=""/>
        <dsp:cNvSpPr/>
      </dsp:nvSpPr>
      <dsp:spPr>
        <a:xfrm rot="212524">
          <a:off x="4092007" y="2838882"/>
          <a:ext cx="3366105" cy="47021"/>
        </a:xfrm>
        <a:custGeom>
          <a:avLst/>
          <a:gdLst/>
          <a:ahLst/>
          <a:cxnLst/>
          <a:rect l="0" t="0" r="0" b="0"/>
          <a:pathLst>
            <a:path>
              <a:moveTo>
                <a:pt x="0" y="23510"/>
              </a:moveTo>
              <a:lnTo>
                <a:pt x="3366105" y="23510"/>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322CB2-2549-4BA8-AAA6-73D1D65E99EF}">
      <dsp:nvSpPr>
        <dsp:cNvPr id="0" name=""/>
        <dsp:cNvSpPr/>
      </dsp:nvSpPr>
      <dsp:spPr>
        <a:xfrm rot="20133214">
          <a:off x="3990274" y="1781180"/>
          <a:ext cx="2341246" cy="47021"/>
        </a:xfrm>
        <a:custGeom>
          <a:avLst/>
          <a:gdLst/>
          <a:ahLst/>
          <a:cxnLst/>
          <a:rect l="0" t="0" r="0" b="0"/>
          <a:pathLst>
            <a:path>
              <a:moveTo>
                <a:pt x="0" y="23510"/>
              </a:moveTo>
              <a:lnTo>
                <a:pt x="2341246" y="23510"/>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0E02C0A-C386-4306-AF38-DA93B101B26A}">
      <dsp:nvSpPr>
        <dsp:cNvPr id="0" name=""/>
        <dsp:cNvSpPr/>
      </dsp:nvSpPr>
      <dsp:spPr>
        <a:xfrm>
          <a:off x="0" y="651821"/>
          <a:ext cx="4613232" cy="4613232"/>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7000" r="-7000"/>
          </a:stretch>
        </a:blip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9D4F75A1-3BF7-4830-88DB-B0EE5C1BA6F0}">
      <dsp:nvSpPr>
        <dsp:cNvPr id="0" name=""/>
        <dsp:cNvSpPr/>
      </dsp:nvSpPr>
      <dsp:spPr>
        <a:xfrm>
          <a:off x="6156755" y="219190"/>
          <a:ext cx="1557524" cy="1557524"/>
        </a:xfrm>
        <a:prstGeom prst="ellipse">
          <a:avLst/>
        </a:prstGeom>
        <a:gradFill flip="none" rotWithShape="0">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38100" cap="flat" cmpd="sng" algn="ctr">
          <a:solidFill>
            <a:schemeClr val="lt1"/>
          </a:solidFill>
          <a:prstDash val="solid"/>
        </a:ln>
        <a:effectLst>
          <a:outerShdw blurRad="50800" dist="38100" dir="2700000" algn="tl" rotWithShape="0">
            <a:prstClr val="black">
              <a:alpha val="40000"/>
            </a:prst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20320" tIns="20320" rIns="20320" bIns="20320" numCol="1" spcCol="1270" anchor="ctr" anchorCtr="0">
          <a:noAutofit/>
        </a:bodyPr>
        <a:lstStyle/>
        <a:p>
          <a:pPr lvl="0" algn="ctr" defTabSz="1422400" rtl="0">
            <a:lnSpc>
              <a:spcPct val="90000"/>
            </a:lnSpc>
            <a:spcBef>
              <a:spcPct val="0"/>
            </a:spcBef>
            <a:spcAft>
              <a:spcPct val="35000"/>
            </a:spcAft>
          </a:pPr>
          <a:r>
            <a:rPr lang="zh-CN" altLang="en-US" sz="3200" kern="1200" baseline="0" dirty="0">
              <a:solidFill>
                <a:schemeClr val="tx1"/>
              </a:solidFill>
              <a:latin typeface="微软雅黑" panose="020B0503020204020204" pitchFamily="34" charset="-122"/>
              <a:ea typeface="微软雅黑" panose="020B0503020204020204" pitchFamily="34" charset="-122"/>
            </a:rPr>
            <a:t>抽象</a:t>
          </a:r>
          <a:endParaRPr lang="zh-CN" altLang="en-US" sz="3200" kern="1200" dirty="0">
            <a:solidFill>
              <a:schemeClr val="tx1"/>
            </a:solidFill>
            <a:latin typeface="微软雅黑" panose="020B0503020204020204" pitchFamily="34" charset="-122"/>
            <a:ea typeface="微软雅黑" panose="020B0503020204020204" pitchFamily="34" charset="-122"/>
          </a:endParaRPr>
        </a:p>
      </dsp:txBody>
      <dsp:txXfrm>
        <a:off x="6384849" y="447284"/>
        <a:ext cx="1101336" cy="1101336"/>
      </dsp:txXfrm>
    </dsp:sp>
    <dsp:sp modelId="{E4032F0A-EBAF-4A6C-8B44-891D59305EF2}">
      <dsp:nvSpPr>
        <dsp:cNvPr id="0" name=""/>
        <dsp:cNvSpPr/>
      </dsp:nvSpPr>
      <dsp:spPr>
        <a:xfrm>
          <a:off x="7453410" y="2235725"/>
          <a:ext cx="1557524" cy="1557524"/>
        </a:xfrm>
        <a:prstGeom prst="ellipse">
          <a:avLst/>
        </a:prstGeom>
        <a:gradFill flip="none" rotWithShape="0">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38100" cap="flat" cmpd="sng" algn="ctr">
          <a:solidFill>
            <a:schemeClr val="lt1"/>
          </a:solidFill>
          <a:prstDash val="solid"/>
        </a:ln>
        <a:effectLst>
          <a:outerShdw blurRad="50800" dist="38100" dir="2700000" algn="tl" rotWithShape="0">
            <a:prstClr val="black">
              <a:alpha val="40000"/>
            </a:prst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20320" tIns="20320" rIns="20320" bIns="20320" numCol="1" spcCol="1270" anchor="ctr" anchorCtr="0">
          <a:noAutofit/>
        </a:bodyPr>
        <a:lstStyle/>
        <a:p>
          <a:pPr lvl="0" algn="ctr" defTabSz="1422400" rtl="0">
            <a:lnSpc>
              <a:spcPct val="90000"/>
            </a:lnSpc>
            <a:spcBef>
              <a:spcPct val="0"/>
            </a:spcBef>
            <a:spcAft>
              <a:spcPct val="35000"/>
            </a:spcAft>
          </a:pPr>
          <a:r>
            <a:rPr lang="zh-CN" altLang="en-US" sz="3200" kern="1200" baseline="0">
              <a:solidFill>
                <a:schemeClr val="tx1"/>
              </a:solidFill>
              <a:latin typeface="微软雅黑" panose="020B0503020204020204" pitchFamily="34" charset="-122"/>
              <a:ea typeface="微软雅黑" panose="020B0503020204020204" pitchFamily="34" charset="-122"/>
            </a:rPr>
            <a:t>信息爆炸</a:t>
          </a:r>
          <a:endParaRPr lang="zh-CN" altLang="en-US" sz="3200" kern="1200">
            <a:solidFill>
              <a:schemeClr val="tx1"/>
            </a:solidFill>
            <a:latin typeface="微软雅黑" panose="020B0503020204020204" pitchFamily="34" charset="-122"/>
            <a:ea typeface="微软雅黑" panose="020B0503020204020204" pitchFamily="34" charset="-122"/>
          </a:endParaRPr>
        </a:p>
      </dsp:txBody>
      <dsp:txXfrm>
        <a:off x="7681504" y="2463819"/>
        <a:ext cx="1101336" cy="1101336"/>
      </dsp:txXfrm>
    </dsp:sp>
    <dsp:sp modelId="{858EC677-72EC-4B5E-BA4D-E2024AF6A77A}">
      <dsp:nvSpPr>
        <dsp:cNvPr id="0" name=""/>
        <dsp:cNvSpPr/>
      </dsp:nvSpPr>
      <dsp:spPr>
        <a:xfrm>
          <a:off x="5580362" y="3846820"/>
          <a:ext cx="1557524" cy="1557524"/>
        </a:xfrm>
        <a:prstGeom prst="ellipse">
          <a:avLst/>
        </a:prstGeom>
        <a:gradFill flip="none" rotWithShape="0">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w="38100" cap="flat" cmpd="sng" algn="ctr">
          <a:solidFill>
            <a:schemeClr val="lt1"/>
          </a:solidFill>
          <a:prstDash val="solid"/>
        </a:ln>
        <a:effectLst>
          <a:outerShdw blurRad="50800" dist="38100" dir="2700000" algn="tl" rotWithShape="0">
            <a:prstClr val="black">
              <a:alpha val="40000"/>
            </a:prst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20320" tIns="20320" rIns="20320" bIns="20320" numCol="1" spcCol="1270" anchor="ctr" anchorCtr="0">
          <a:noAutofit/>
        </a:bodyPr>
        <a:lstStyle/>
        <a:p>
          <a:pPr lvl="0" algn="ctr" defTabSz="1422400" rtl="0">
            <a:lnSpc>
              <a:spcPct val="90000"/>
            </a:lnSpc>
            <a:spcBef>
              <a:spcPct val="0"/>
            </a:spcBef>
            <a:spcAft>
              <a:spcPct val="35000"/>
            </a:spcAft>
          </a:pPr>
          <a:r>
            <a:rPr lang="zh-CN" altLang="en-US" sz="3200" kern="1200" baseline="0">
              <a:solidFill>
                <a:schemeClr val="tx1"/>
              </a:solidFill>
              <a:latin typeface="微软雅黑" panose="020B0503020204020204" pitchFamily="34" charset="-122"/>
              <a:ea typeface="微软雅黑" panose="020B0503020204020204" pitchFamily="34" charset="-122"/>
            </a:rPr>
            <a:t>记不住啊</a:t>
          </a:r>
          <a:endParaRPr lang="zh-CN" altLang="en-US" sz="3200" kern="1200">
            <a:solidFill>
              <a:schemeClr val="tx1"/>
            </a:solidFill>
            <a:latin typeface="微软雅黑" panose="020B0503020204020204" pitchFamily="34" charset="-122"/>
            <a:ea typeface="微软雅黑" panose="020B0503020204020204" pitchFamily="34" charset="-122"/>
          </a:endParaRPr>
        </a:p>
      </dsp:txBody>
      <dsp:txXfrm>
        <a:off x="5808456" y="4074914"/>
        <a:ext cx="1101336" cy="11013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D62834-2670-4757-8EC6-A598AF76C9BF}">
      <dsp:nvSpPr>
        <dsp:cNvPr id="0" name=""/>
        <dsp:cNvSpPr/>
      </dsp:nvSpPr>
      <dsp:spPr>
        <a:xfrm>
          <a:off x="5192" y="10951"/>
          <a:ext cx="1990273" cy="79315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kumimoji="1" lang="zh-CN" altLang="en-US" sz="2800" b="0" i="0" kern="1200" baseline="0" dirty="0">
              <a:latin typeface="微软雅黑" panose="020B0503020204020204" pitchFamily="34" charset="-122"/>
              <a:ea typeface="微软雅黑" panose="020B0503020204020204" pitchFamily="34" charset="-122"/>
            </a:rPr>
            <a:t>数据定义</a:t>
          </a:r>
          <a:endParaRPr lang="zh-CN" altLang="en-US" sz="2800" kern="1200" dirty="0">
            <a:latin typeface="微软雅黑" panose="020B0503020204020204" pitchFamily="34" charset="-122"/>
            <a:ea typeface="微软雅黑" panose="020B0503020204020204" pitchFamily="34" charset="-122"/>
          </a:endParaRPr>
        </a:p>
      </dsp:txBody>
      <dsp:txXfrm>
        <a:off x="5192" y="10951"/>
        <a:ext cx="1990273" cy="793152"/>
      </dsp:txXfrm>
    </dsp:sp>
    <dsp:sp modelId="{C3F04107-C796-497A-943A-6EC5D3970550}">
      <dsp:nvSpPr>
        <dsp:cNvPr id="0" name=""/>
        <dsp:cNvSpPr/>
      </dsp:nvSpPr>
      <dsp:spPr>
        <a:xfrm>
          <a:off x="5192" y="804104"/>
          <a:ext cx="1990273" cy="25693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altLang="zh-CN" sz="2600" kern="1200" dirty="0">
              <a:latin typeface="宋体" panose="02010600030101010101" pitchFamily="2" charset="-122"/>
              <a:ea typeface="宋体" panose="02010600030101010101" pitchFamily="2" charset="-122"/>
            </a:rPr>
            <a:t>DDL</a:t>
          </a:r>
          <a:endParaRPr lang="zh-CN" altLang="en-US" sz="2600" kern="1200" dirty="0">
            <a:latin typeface="宋体" panose="02010600030101010101" pitchFamily="2" charset="-122"/>
            <a:ea typeface="宋体" panose="02010600030101010101" pitchFamily="2" charset="-122"/>
          </a:endParaRPr>
        </a:p>
        <a:p>
          <a:pPr marL="228600" lvl="1" indent="-228600" algn="l" defTabSz="1155700">
            <a:lnSpc>
              <a:spcPct val="90000"/>
            </a:lnSpc>
            <a:spcBef>
              <a:spcPct val="0"/>
            </a:spcBef>
            <a:spcAft>
              <a:spcPct val="15000"/>
            </a:spcAft>
            <a:buChar char="••"/>
          </a:pPr>
          <a:r>
            <a:rPr lang="zh-CN" altLang="en-US" sz="2600" kern="1200" dirty="0">
              <a:latin typeface="宋体" panose="02010600030101010101" pitchFamily="2" charset="-122"/>
              <a:ea typeface="宋体" panose="02010600030101010101" pitchFamily="2" charset="-122"/>
            </a:rPr>
            <a:t>模式定义</a:t>
          </a:r>
        </a:p>
        <a:p>
          <a:pPr marL="228600" lvl="1" indent="-228600" algn="l" defTabSz="1155700">
            <a:lnSpc>
              <a:spcPct val="90000"/>
            </a:lnSpc>
            <a:spcBef>
              <a:spcPct val="0"/>
            </a:spcBef>
            <a:spcAft>
              <a:spcPct val="15000"/>
            </a:spcAft>
            <a:buChar char="••"/>
          </a:pPr>
          <a:r>
            <a:rPr lang="zh-CN" altLang="en-US" sz="2600" kern="1200" dirty="0">
              <a:latin typeface="宋体" panose="02010600030101010101" pitchFamily="2" charset="-122"/>
              <a:ea typeface="宋体" panose="02010600030101010101" pitchFamily="2" charset="-122"/>
            </a:rPr>
            <a:t>安全定义</a:t>
          </a:r>
        </a:p>
        <a:p>
          <a:pPr marL="228600" lvl="1" indent="-228600" algn="l" defTabSz="1155700">
            <a:lnSpc>
              <a:spcPct val="90000"/>
            </a:lnSpc>
            <a:spcBef>
              <a:spcPct val="0"/>
            </a:spcBef>
            <a:spcAft>
              <a:spcPct val="15000"/>
            </a:spcAft>
            <a:buChar char="••"/>
          </a:pPr>
          <a:r>
            <a:rPr lang="zh-CN" altLang="en-US" sz="2600" kern="1200" dirty="0">
              <a:latin typeface="宋体" panose="02010600030101010101" pitchFamily="2" charset="-122"/>
              <a:ea typeface="宋体" panose="02010600030101010101" pitchFamily="2" charset="-122"/>
            </a:rPr>
            <a:t>完整定义</a:t>
          </a:r>
        </a:p>
        <a:p>
          <a:pPr marL="228600" lvl="1" indent="-228600" algn="l" defTabSz="1155700">
            <a:lnSpc>
              <a:spcPct val="90000"/>
            </a:lnSpc>
            <a:spcBef>
              <a:spcPct val="0"/>
            </a:spcBef>
            <a:spcAft>
              <a:spcPct val="15000"/>
            </a:spcAft>
            <a:buChar char="••"/>
          </a:pPr>
          <a:r>
            <a:rPr lang="en-US" altLang="zh-CN" sz="2600" kern="1200" dirty="0">
              <a:latin typeface="宋体" panose="02010600030101010101" pitchFamily="2" charset="-122"/>
              <a:ea typeface="宋体" panose="02010600030101010101" pitchFamily="2" charset="-122"/>
            </a:rPr>
            <a:t>DD</a:t>
          </a:r>
          <a:endParaRPr lang="zh-CN" altLang="en-US" sz="2600" kern="1200" dirty="0">
            <a:latin typeface="宋体" panose="02010600030101010101" pitchFamily="2" charset="-122"/>
            <a:ea typeface="宋体" panose="02010600030101010101" pitchFamily="2" charset="-122"/>
          </a:endParaRPr>
        </a:p>
      </dsp:txBody>
      <dsp:txXfrm>
        <a:off x="5192" y="804104"/>
        <a:ext cx="1990273" cy="2569320"/>
      </dsp:txXfrm>
    </dsp:sp>
    <dsp:sp modelId="{A396F6AB-B4F0-4D5E-9576-E5BF4549DE3C}">
      <dsp:nvSpPr>
        <dsp:cNvPr id="0" name=""/>
        <dsp:cNvSpPr/>
      </dsp:nvSpPr>
      <dsp:spPr>
        <a:xfrm>
          <a:off x="2274103" y="10951"/>
          <a:ext cx="1990273" cy="79315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kumimoji="1" lang="zh-CN" altLang="en-US" sz="2800" b="0" i="0" kern="1200" baseline="0" dirty="0">
              <a:latin typeface="微软雅黑" panose="020B0503020204020204" pitchFamily="34" charset="-122"/>
              <a:ea typeface="微软雅黑" panose="020B0503020204020204" pitchFamily="34" charset="-122"/>
            </a:rPr>
            <a:t>数据操作</a:t>
          </a:r>
          <a:endParaRPr lang="zh-CN" altLang="en-US" sz="2800" kern="1200" dirty="0">
            <a:latin typeface="微软雅黑" panose="020B0503020204020204" pitchFamily="34" charset="-122"/>
            <a:ea typeface="微软雅黑" panose="020B0503020204020204" pitchFamily="34" charset="-122"/>
          </a:endParaRPr>
        </a:p>
      </dsp:txBody>
      <dsp:txXfrm>
        <a:off x="2274103" y="10951"/>
        <a:ext cx="1990273" cy="793152"/>
      </dsp:txXfrm>
    </dsp:sp>
    <dsp:sp modelId="{9C200073-3B43-4D26-BFAC-E085E48992F3}">
      <dsp:nvSpPr>
        <dsp:cNvPr id="0" name=""/>
        <dsp:cNvSpPr/>
      </dsp:nvSpPr>
      <dsp:spPr>
        <a:xfrm>
          <a:off x="2274103" y="804104"/>
          <a:ext cx="1990273" cy="25693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rtl="0">
            <a:lnSpc>
              <a:spcPct val="90000"/>
            </a:lnSpc>
            <a:spcBef>
              <a:spcPct val="0"/>
            </a:spcBef>
            <a:spcAft>
              <a:spcPct val="15000"/>
            </a:spcAft>
            <a:buChar char="••"/>
          </a:pPr>
          <a:r>
            <a:rPr kumimoji="1" lang="en-US" sz="2600" b="0" i="0" kern="1200" baseline="0" dirty="0">
              <a:latin typeface="宋体" panose="02010600030101010101" pitchFamily="2" charset="-122"/>
              <a:ea typeface="宋体" panose="02010600030101010101" pitchFamily="2" charset="-122"/>
            </a:rPr>
            <a:t>DML</a:t>
          </a:r>
          <a:endParaRPr lang="zh-CN" altLang="en-US" sz="2600" kern="1200" dirty="0">
            <a:latin typeface="宋体" panose="02010600030101010101" pitchFamily="2" charset="-122"/>
            <a:ea typeface="宋体" panose="02010600030101010101" pitchFamily="2" charset="-122"/>
          </a:endParaRPr>
        </a:p>
        <a:p>
          <a:pPr marL="228600" lvl="1" indent="-228600" algn="l" defTabSz="1155700" rtl="0">
            <a:lnSpc>
              <a:spcPct val="90000"/>
            </a:lnSpc>
            <a:spcBef>
              <a:spcPct val="0"/>
            </a:spcBef>
            <a:spcAft>
              <a:spcPct val="15000"/>
            </a:spcAft>
            <a:buChar char="••"/>
          </a:pPr>
          <a:r>
            <a:rPr lang="zh-CN" altLang="en-US" sz="2600" kern="1200" dirty="0">
              <a:latin typeface="宋体" panose="02010600030101010101" pitchFamily="2" charset="-122"/>
              <a:ea typeface="宋体" panose="02010600030101010101" pitchFamily="2" charset="-122"/>
            </a:rPr>
            <a:t>增</a:t>
          </a:r>
        </a:p>
        <a:p>
          <a:pPr marL="228600" lvl="1" indent="-228600" algn="l" defTabSz="1155700" rtl="0">
            <a:lnSpc>
              <a:spcPct val="90000"/>
            </a:lnSpc>
            <a:spcBef>
              <a:spcPct val="0"/>
            </a:spcBef>
            <a:spcAft>
              <a:spcPct val="15000"/>
            </a:spcAft>
            <a:buChar char="••"/>
          </a:pPr>
          <a:r>
            <a:rPr lang="zh-CN" altLang="en-US" sz="2600" kern="1200" dirty="0">
              <a:latin typeface="宋体" panose="02010600030101010101" pitchFamily="2" charset="-122"/>
              <a:ea typeface="宋体" panose="02010600030101010101" pitchFamily="2" charset="-122"/>
            </a:rPr>
            <a:t>删</a:t>
          </a:r>
        </a:p>
        <a:p>
          <a:pPr marL="228600" lvl="1" indent="-228600" algn="l" defTabSz="1155700" rtl="0">
            <a:lnSpc>
              <a:spcPct val="90000"/>
            </a:lnSpc>
            <a:spcBef>
              <a:spcPct val="0"/>
            </a:spcBef>
            <a:spcAft>
              <a:spcPct val="15000"/>
            </a:spcAft>
            <a:buChar char="••"/>
          </a:pPr>
          <a:r>
            <a:rPr lang="zh-CN" altLang="en-US" sz="2600" kern="1200" dirty="0">
              <a:latin typeface="宋体" panose="02010600030101010101" pitchFamily="2" charset="-122"/>
              <a:ea typeface="宋体" panose="02010600030101010101" pitchFamily="2" charset="-122"/>
            </a:rPr>
            <a:t>改</a:t>
          </a:r>
        </a:p>
        <a:p>
          <a:pPr marL="228600" lvl="1" indent="-228600" algn="l" defTabSz="1155700" rtl="0">
            <a:lnSpc>
              <a:spcPct val="90000"/>
            </a:lnSpc>
            <a:spcBef>
              <a:spcPct val="0"/>
            </a:spcBef>
            <a:spcAft>
              <a:spcPct val="15000"/>
            </a:spcAft>
            <a:buChar char="••"/>
          </a:pPr>
          <a:r>
            <a:rPr lang="zh-CN" altLang="en-US" sz="2600" kern="1200" dirty="0">
              <a:latin typeface="宋体" panose="02010600030101010101" pitchFamily="2" charset="-122"/>
              <a:ea typeface="宋体" panose="02010600030101010101" pitchFamily="2" charset="-122"/>
            </a:rPr>
            <a:t>查</a:t>
          </a:r>
        </a:p>
      </dsp:txBody>
      <dsp:txXfrm>
        <a:off x="2274103" y="804104"/>
        <a:ext cx="1990273" cy="2569320"/>
      </dsp:txXfrm>
    </dsp:sp>
    <dsp:sp modelId="{ECB11109-4403-4DB0-83DD-BECA9C834B44}">
      <dsp:nvSpPr>
        <dsp:cNvPr id="0" name=""/>
        <dsp:cNvSpPr/>
      </dsp:nvSpPr>
      <dsp:spPr>
        <a:xfrm>
          <a:off x="4543015" y="10951"/>
          <a:ext cx="1990273" cy="79315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kumimoji="1" lang="zh-CN" altLang="en-US" sz="2800" b="0" i="0" kern="1200" baseline="0" dirty="0">
              <a:latin typeface="微软雅黑" panose="020B0503020204020204" pitchFamily="34" charset="-122"/>
              <a:ea typeface="微软雅黑" panose="020B0503020204020204" pitchFamily="34" charset="-122"/>
            </a:rPr>
            <a:t>运行管理</a:t>
          </a:r>
          <a:endParaRPr lang="zh-CN" altLang="en-US" sz="2800" kern="1200" dirty="0">
            <a:latin typeface="微软雅黑" panose="020B0503020204020204" pitchFamily="34" charset="-122"/>
            <a:ea typeface="微软雅黑" panose="020B0503020204020204" pitchFamily="34" charset="-122"/>
          </a:endParaRPr>
        </a:p>
      </dsp:txBody>
      <dsp:txXfrm>
        <a:off x="4543015" y="10951"/>
        <a:ext cx="1990273" cy="793152"/>
      </dsp:txXfrm>
    </dsp:sp>
    <dsp:sp modelId="{9B85D2CE-6FCA-465A-857D-90E4471AC39A}">
      <dsp:nvSpPr>
        <dsp:cNvPr id="0" name=""/>
        <dsp:cNvSpPr/>
      </dsp:nvSpPr>
      <dsp:spPr>
        <a:xfrm>
          <a:off x="4543015" y="804104"/>
          <a:ext cx="1990273" cy="25693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zh-CN" altLang="en-US" sz="2600" kern="1200" dirty="0">
              <a:latin typeface="宋体" panose="02010600030101010101" pitchFamily="2" charset="-122"/>
              <a:ea typeface="宋体" panose="02010600030101010101" pitchFamily="2" charset="-122"/>
            </a:rPr>
            <a:t>安全</a:t>
          </a:r>
        </a:p>
        <a:p>
          <a:pPr marL="228600" lvl="1" indent="-228600" algn="l" defTabSz="1155700">
            <a:lnSpc>
              <a:spcPct val="90000"/>
            </a:lnSpc>
            <a:spcBef>
              <a:spcPct val="0"/>
            </a:spcBef>
            <a:spcAft>
              <a:spcPct val="15000"/>
            </a:spcAft>
            <a:buChar char="••"/>
          </a:pPr>
          <a:r>
            <a:rPr lang="zh-CN" altLang="en-US" sz="2600" kern="1200" dirty="0">
              <a:latin typeface="宋体" panose="02010600030101010101" pitchFamily="2" charset="-122"/>
              <a:ea typeface="宋体" panose="02010600030101010101" pitchFamily="2" charset="-122"/>
            </a:rPr>
            <a:t>完整</a:t>
          </a:r>
        </a:p>
        <a:p>
          <a:pPr marL="228600" lvl="1" indent="-228600" algn="l" defTabSz="1155700">
            <a:lnSpc>
              <a:spcPct val="90000"/>
            </a:lnSpc>
            <a:spcBef>
              <a:spcPct val="0"/>
            </a:spcBef>
            <a:spcAft>
              <a:spcPct val="15000"/>
            </a:spcAft>
            <a:buChar char="••"/>
          </a:pPr>
          <a:r>
            <a:rPr lang="zh-CN" altLang="en-US" sz="2600" kern="1200" dirty="0">
              <a:latin typeface="宋体" panose="02010600030101010101" pitchFamily="2" charset="-122"/>
              <a:ea typeface="宋体" panose="02010600030101010101" pitchFamily="2" charset="-122"/>
            </a:rPr>
            <a:t>并发</a:t>
          </a:r>
        </a:p>
        <a:p>
          <a:pPr marL="228600" lvl="1" indent="-228600" algn="l" defTabSz="1155700">
            <a:lnSpc>
              <a:spcPct val="90000"/>
            </a:lnSpc>
            <a:spcBef>
              <a:spcPct val="0"/>
            </a:spcBef>
            <a:spcAft>
              <a:spcPct val="15000"/>
            </a:spcAft>
            <a:buChar char="••"/>
          </a:pPr>
          <a:r>
            <a:rPr lang="zh-CN" altLang="en-US" sz="2600" kern="1200" dirty="0">
              <a:latin typeface="宋体" panose="02010600030101010101" pitchFamily="2" charset="-122"/>
              <a:ea typeface="宋体" panose="02010600030101010101" pitchFamily="2" charset="-122"/>
            </a:rPr>
            <a:t>恢复</a:t>
          </a:r>
        </a:p>
        <a:p>
          <a:pPr marL="228600" lvl="1" indent="-228600" algn="l" defTabSz="1155700">
            <a:lnSpc>
              <a:spcPct val="90000"/>
            </a:lnSpc>
            <a:spcBef>
              <a:spcPct val="0"/>
            </a:spcBef>
            <a:spcAft>
              <a:spcPct val="15000"/>
            </a:spcAft>
            <a:buChar char="••"/>
          </a:pPr>
          <a:endParaRPr lang="zh-CN" altLang="en-US" sz="2600" kern="1200" dirty="0">
            <a:latin typeface="宋体" panose="02010600030101010101" pitchFamily="2" charset="-122"/>
            <a:ea typeface="宋体" panose="02010600030101010101" pitchFamily="2" charset="-122"/>
          </a:endParaRPr>
        </a:p>
      </dsp:txBody>
      <dsp:txXfrm>
        <a:off x="4543015" y="804104"/>
        <a:ext cx="1990273" cy="2569320"/>
      </dsp:txXfrm>
    </dsp:sp>
    <dsp:sp modelId="{FE6EF234-3843-4A98-9D48-9973BDCBEEFB}">
      <dsp:nvSpPr>
        <dsp:cNvPr id="0" name=""/>
        <dsp:cNvSpPr/>
      </dsp:nvSpPr>
      <dsp:spPr>
        <a:xfrm>
          <a:off x="6811926" y="10951"/>
          <a:ext cx="1990273" cy="79315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kumimoji="1" lang="zh-CN" altLang="en-US" sz="2800" b="0" i="0" kern="1200" baseline="0" dirty="0">
              <a:latin typeface="微软雅黑" panose="020B0503020204020204" pitchFamily="34" charset="-122"/>
              <a:ea typeface="微软雅黑" panose="020B0503020204020204" pitchFamily="34" charset="-122"/>
            </a:rPr>
            <a:t>组织维护</a:t>
          </a:r>
          <a:endParaRPr lang="zh-CN" altLang="en-US" sz="2800" kern="1200" dirty="0">
            <a:latin typeface="微软雅黑" panose="020B0503020204020204" pitchFamily="34" charset="-122"/>
            <a:ea typeface="微软雅黑" panose="020B0503020204020204" pitchFamily="34" charset="-122"/>
          </a:endParaRPr>
        </a:p>
      </dsp:txBody>
      <dsp:txXfrm>
        <a:off x="6811926" y="10951"/>
        <a:ext cx="1990273" cy="793152"/>
      </dsp:txXfrm>
    </dsp:sp>
    <dsp:sp modelId="{30C5D476-81F2-4B05-8B7E-D7C9736A5C1C}">
      <dsp:nvSpPr>
        <dsp:cNvPr id="0" name=""/>
        <dsp:cNvSpPr/>
      </dsp:nvSpPr>
      <dsp:spPr>
        <a:xfrm>
          <a:off x="6811926" y="804104"/>
          <a:ext cx="1990273" cy="25693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zh-CN" altLang="en-US" sz="2600" kern="1200" dirty="0">
              <a:latin typeface="宋体" panose="02010600030101010101" pitchFamily="2" charset="-122"/>
              <a:ea typeface="宋体" panose="02010600030101010101" pitchFamily="2" charset="-122"/>
            </a:rPr>
            <a:t>存储管理</a:t>
          </a:r>
        </a:p>
        <a:p>
          <a:pPr marL="228600" lvl="1" indent="-228600" algn="l" defTabSz="1155700">
            <a:lnSpc>
              <a:spcPct val="90000"/>
            </a:lnSpc>
            <a:spcBef>
              <a:spcPct val="0"/>
            </a:spcBef>
            <a:spcAft>
              <a:spcPct val="15000"/>
            </a:spcAft>
            <a:buChar char="••"/>
          </a:pPr>
          <a:r>
            <a:rPr lang="zh-CN" altLang="en-US" sz="2600" kern="1200">
              <a:latin typeface="宋体" panose="02010600030101010101" pitchFamily="2" charset="-122"/>
              <a:ea typeface="宋体" panose="02010600030101010101" pitchFamily="2" charset="-122"/>
            </a:rPr>
            <a:t>重组重构</a:t>
          </a:r>
        </a:p>
        <a:p>
          <a:pPr marL="228600" lvl="1" indent="-228600" algn="l" defTabSz="1155700">
            <a:lnSpc>
              <a:spcPct val="90000"/>
            </a:lnSpc>
            <a:spcBef>
              <a:spcPct val="0"/>
            </a:spcBef>
            <a:spcAft>
              <a:spcPct val="15000"/>
            </a:spcAft>
            <a:buChar char="••"/>
          </a:pPr>
          <a:r>
            <a:rPr lang="zh-CN" altLang="en-US" sz="2600" kern="1200">
              <a:latin typeface="宋体" panose="02010600030101010101" pitchFamily="2" charset="-122"/>
              <a:ea typeface="宋体" panose="02010600030101010101" pitchFamily="2" charset="-122"/>
            </a:rPr>
            <a:t>监视</a:t>
          </a:r>
        </a:p>
        <a:p>
          <a:pPr marL="228600" lvl="1" indent="-228600" algn="l" defTabSz="1155700">
            <a:lnSpc>
              <a:spcPct val="90000"/>
            </a:lnSpc>
            <a:spcBef>
              <a:spcPct val="0"/>
            </a:spcBef>
            <a:spcAft>
              <a:spcPct val="15000"/>
            </a:spcAft>
            <a:buChar char="••"/>
          </a:pPr>
          <a:r>
            <a:rPr lang="zh-CN" altLang="en-US" sz="2600" kern="1200">
              <a:latin typeface="宋体" panose="02010600030101010101" pitchFamily="2" charset="-122"/>
              <a:ea typeface="宋体" panose="02010600030101010101" pitchFamily="2" charset="-122"/>
            </a:rPr>
            <a:t>分析</a:t>
          </a:r>
        </a:p>
        <a:p>
          <a:pPr marL="228600" lvl="1" indent="-228600" algn="l" defTabSz="1155700">
            <a:lnSpc>
              <a:spcPct val="90000"/>
            </a:lnSpc>
            <a:spcBef>
              <a:spcPct val="0"/>
            </a:spcBef>
            <a:spcAft>
              <a:spcPct val="15000"/>
            </a:spcAft>
            <a:buChar char="••"/>
          </a:pPr>
          <a:endParaRPr lang="zh-CN" altLang="en-US" sz="2600" kern="1200">
            <a:latin typeface="宋体" panose="02010600030101010101" pitchFamily="2" charset="-122"/>
            <a:ea typeface="宋体" panose="02010600030101010101" pitchFamily="2" charset="-122"/>
          </a:endParaRPr>
        </a:p>
      </dsp:txBody>
      <dsp:txXfrm>
        <a:off x="6811926" y="804104"/>
        <a:ext cx="1990273" cy="2569320"/>
      </dsp:txXfrm>
    </dsp:sp>
    <dsp:sp modelId="{E898B277-E3BA-4B61-8C0D-896A37719ABE}">
      <dsp:nvSpPr>
        <dsp:cNvPr id="0" name=""/>
        <dsp:cNvSpPr/>
      </dsp:nvSpPr>
      <dsp:spPr>
        <a:xfrm>
          <a:off x="9080838" y="10951"/>
          <a:ext cx="1990273" cy="79315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lang="zh-CN" altLang="en-US" sz="2800" kern="1200" dirty="0">
              <a:latin typeface="微软雅黑" panose="020B0503020204020204" pitchFamily="34" charset="-122"/>
              <a:ea typeface="微软雅黑" panose="020B0503020204020204" pitchFamily="34" charset="-122"/>
            </a:rPr>
            <a:t>其它</a:t>
          </a:r>
        </a:p>
      </dsp:txBody>
      <dsp:txXfrm>
        <a:off x="9080838" y="10951"/>
        <a:ext cx="1990273" cy="793152"/>
      </dsp:txXfrm>
    </dsp:sp>
    <dsp:sp modelId="{19FE9814-7A56-4885-8EFB-85CF17E15779}">
      <dsp:nvSpPr>
        <dsp:cNvPr id="0" name=""/>
        <dsp:cNvSpPr/>
      </dsp:nvSpPr>
      <dsp:spPr>
        <a:xfrm>
          <a:off x="9080838" y="804104"/>
          <a:ext cx="1990273" cy="25693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zh-CN" altLang="en-US" sz="2600" kern="1200" dirty="0">
              <a:latin typeface="宋体" panose="02010600030101010101" pitchFamily="2" charset="-122"/>
              <a:ea typeface="宋体" panose="02010600030101010101" pitchFamily="2" charset="-122"/>
            </a:rPr>
            <a:t>通信</a:t>
          </a:r>
        </a:p>
        <a:p>
          <a:pPr marL="228600" lvl="1" indent="-228600" algn="l" defTabSz="1155700">
            <a:lnSpc>
              <a:spcPct val="90000"/>
            </a:lnSpc>
            <a:spcBef>
              <a:spcPct val="0"/>
            </a:spcBef>
            <a:spcAft>
              <a:spcPct val="15000"/>
            </a:spcAft>
            <a:buChar char="••"/>
          </a:pPr>
          <a:r>
            <a:rPr lang="zh-CN" altLang="en-US" sz="2600" kern="1200" dirty="0">
              <a:latin typeface="宋体" panose="02010600030101010101" pitchFamily="2" charset="-122"/>
              <a:ea typeface="宋体" panose="02010600030101010101" pitchFamily="2" charset="-122"/>
            </a:rPr>
            <a:t>数据转换</a:t>
          </a:r>
        </a:p>
      </dsp:txBody>
      <dsp:txXfrm>
        <a:off x="9080838" y="804104"/>
        <a:ext cx="1990273" cy="25693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83E385-6770-4276-A01C-BEC413D3F688}">
      <dsp:nvSpPr>
        <dsp:cNvPr id="0" name=""/>
        <dsp:cNvSpPr/>
      </dsp:nvSpPr>
      <dsp:spPr>
        <a:xfrm>
          <a:off x="3555" y="10134"/>
          <a:ext cx="3466510" cy="1209600"/>
        </a:xfrm>
        <a:prstGeom prst="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298704" tIns="170688" rIns="298704" bIns="170688" numCol="1" spcCol="1270" anchor="ctr" anchorCtr="0">
          <a:noAutofit/>
        </a:bodyPr>
        <a:lstStyle/>
        <a:p>
          <a:pPr lvl="0" algn="ctr" defTabSz="1866900" rtl="0">
            <a:lnSpc>
              <a:spcPct val="90000"/>
            </a:lnSpc>
            <a:spcBef>
              <a:spcPct val="0"/>
            </a:spcBef>
            <a:spcAft>
              <a:spcPct val="35000"/>
            </a:spcAft>
          </a:pPr>
          <a:r>
            <a:rPr lang="en-US" sz="4200" kern="1200" baseline="0" dirty="0" err="1">
              <a:latin typeface="微软雅黑" panose="020B0503020204020204" pitchFamily="34" charset="-122"/>
              <a:ea typeface="微软雅黑" panose="020B0503020204020204" pitchFamily="34" charset="-122"/>
            </a:rPr>
            <a:t>数据结构</a:t>
          </a:r>
          <a:endParaRPr lang="zh-CN" sz="4200" kern="1200" dirty="0">
            <a:latin typeface="微软雅黑" panose="020B0503020204020204" pitchFamily="34" charset="-122"/>
            <a:ea typeface="微软雅黑" panose="020B0503020204020204" pitchFamily="34" charset="-122"/>
          </a:endParaRPr>
        </a:p>
      </dsp:txBody>
      <dsp:txXfrm>
        <a:off x="3555" y="10134"/>
        <a:ext cx="3466510" cy="1209600"/>
      </dsp:txXfrm>
    </dsp:sp>
    <dsp:sp modelId="{CC122E09-4D16-4C19-BCE3-F7EDB675CD5C}">
      <dsp:nvSpPr>
        <dsp:cNvPr id="0" name=""/>
        <dsp:cNvSpPr/>
      </dsp:nvSpPr>
      <dsp:spPr>
        <a:xfrm>
          <a:off x="3555" y="1219735"/>
          <a:ext cx="3466510" cy="2824605"/>
        </a:xfrm>
        <a:prstGeom prst="rect">
          <a:avLst/>
        </a:prstGeom>
        <a:solidFill>
          <a:schemeClr val="dk2">
            <a:alpha val="90000"/>
            <a:tint val="40000"/>
            <a:hueOff val="0"/>
            <a:satOff val="0"/>
            <a:lumOff val="0"/>
            <a:alphaOff val="0"/>
          </a:schemeClr>
        </a:solidFill>
        <a:ln w="9525" cap="flat" cmpd="sng" algn="ctr">
          <a:solidFill>
            <a:schemeClr val="dk2">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70688" tIns="170688" rIns="227584" bIns="256032" numCol="1" spcCol="1270" anchor="t" anchorCtr="0">
          <a:noAutofit/>
        </a:bodyPr>
        <a:lstStyle/>
        <a:p>
          <a:pPr marL="285750" lvl="1" indent="-285750" algn="l" defTabSz="1422400" rtl="0">
            <a:lnSpc>
              <a:spcPct val="90000"/>
            </a:lnSpc>
            <a:spcBef>
              <a:spcPct val="0"/>
            </a:spcBef>
            <a:spcAft>
              <a:spcPct val="15000"/>
            </a:spcAft>
            <a:buChar char="••"/>
          </a:pPr>
          <a:r>
            <a:rPr lang="zh-CN" altLang="en-US" sz="3200" kern="1200" baseline="0" dirty="0">
              <a:latin typeface="宋体" panose="02010600030101010101" pitchFamily="2" charset="-122"/>
              <a:ea typeface="宋体" panose="02010600030101010101" pitchFamily="2" charset="-122"/>
            </a:rPr>
            <a:t>定义数据如何组织存储，是数据库的静态特性，是最重要的要素</a:t>
          </a:r>
          <a:endParaRPr lang="zh-CN" altLang="en-US" sz="3200" kern="1200" dirty="0">
            <a:latin typeface="宋体" panose="02010600030101010101" pitchFamily="2" charset="-122"/>
            <a:ea typeface="宋体" panose="02010600030101010101" pitchFamily="2" charset="-122"/>
          </a:endParaRPr>
        </a:p>
      </dsp:txBody>
      <dsp:txXfrm>
        <a:off x="3555" y="1219735"/>
        <a:ext cx="3466510" cy="2824605"/>
      </dsp:txXfrm>
    </dsp:sp>
    <dsp:sp modelId="{93C46FB1-3F4F-45AB-A80A-FB85A19DF66F}">
      <dsp:nvSpPr>
        <dsp:cNvPr id="0" name=""/>
        <dsp:cNvSpPr/>
      </dsp:nvSpPr>
      <dsp:spPr>
        <a:xfrm>
          <a:off x="3955376" y="10134"/>
          <a:ext cx="3466510" cy="1209600"/>
        </a:xfrm>
        <a:prstGeom prst="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298704" tIns="170688" rIns="298704" bIns="170688" numCol="1" spcCol="1270" anchor="ctr" anchorCtr="0">
          <a:noAutofit/>
        </a:bodyPr>
        <a:lstStyle/>
        <a:p>
          <a:pPr lvl="0" algn="ctr" defTabSz="1866900" rtl="0">
            <a:lnSpc>
              <a:spcPct val="90000"/>
            </a:lnSpc>
            <a:spcBef>
              <a:spcPct val="0"/>
            </a:spcBef>
            <a:spcAft>
              <a:spcPct val="35000"/>
            </a:spcAft>
          </a:pPr>
          <a:r>
            <a:rPr lang="en-US" sz="4200" kern="1200" baseline="0">
              <a:latin typeface="微软雅黑" panose="020B0503020204020204" pitchFamily="34" charset="-122"/>
              <a:ea typeface="微软雅黑" panose="020B0503020204020204" pitchFamily="34" charset="-122"/>
            </a:rPr>
            <a:t>数据操作</a:t>
          </a:r>
          <a:endParaRPr lang="zh-CN" sz="4200" kern="1200">
            <a:latin typeface="微软雅黑" panose="020B0503020204020204" pitchFamily="34" charset="-122"/>
            <a:ea typeface="微软雅黑" panose="020B0503020204020204" pitchFamily="34" charset="-122"/>
          </a:endParaRPr>
        </a:p>
      </dsp:txBody>
      <dsp:txXfrm>
        <a:off x="3955376" y="10134"/>
        <a:ext cx="3466510" cy="1209600"/>
      </dsp:txXfrm>
    </dsp:sp>
    <dsp:sp modelId="{FA17A017-4F26-421F-8695-4FB2C8B976BB}">
      <dsp:nvSpPr>
        <dsp:cNvPr id="0" name=""/>
        <dsp:cNvSpPr/>
      </dsp:nvSpPr>
      <dsp:spPr>
        <a:xfrm>
          <a:off x="3955376" y="1219735"/>
          <a:ext cx="3466510" cy="2824605"/>
        </a:xfrm>
        <a:prstGeom prst="rect">
          <a:avLst/>
        </a:prstGeom>
        <a:solidFill>
          <a:schemeClr val="dk2">
            <a:alpha val="90000"/>
            <a:tint val="40000"/>
            <a:hueOff val="0"/>
            <a:satOff val="0"/>
            <a:lumOff val="0"/>
            <a:alphaOff val="0"/>
          </a:schemeClr>
        </a:solidFill>
        <a:ln w="9525" cap="flat" cmpd="sng" algn="ctr">
          <a:solidFill>
            <a:schemeClr val="dk2">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70688" tIns="170688" rIns="227584" bIns="256032" numCol="1" spcCol="1270" anchor="t" anchorCtr="0">
          <a:noAutofit/>
        </a:bodyPr>
        <a:lstStyle/>
        <a:p>
          <a:pPr marL="285750" lvl="1" indent="-285750" algn="l" defTabSz="1422400" rtl="0">
            <a:lnSpc>
              <a:spcPct val="90000"/>
            </a:lnSpc>
            <a:spcBef>
              <a:spcPct val="0"/>
            </a:spcBef>
            <a:spcAft>
              <a:spcPct val="15000"/>
            </a:spcAft>
            <a:buChar char="••"/>
          </a:pPr>
          <a:r>
            <a:rPr lang="zh-CN" altLang="en-US" sz="3200" kern="1200" baseline="0" dirty="0">
              <a:latin typeface="宋体" panose="02010600030101010101" pitchFamily="2" charset="-122"/>
              <a:ea typeface="宋体" panose="02010600030101010101" pitchFamily="2" charset="-122"/>
            </a:rPr>
            <a:t>定义数据的增删改和检索等操作，是数据库的动态特性</a:t>
          </a:r>
          <a:endParaRPr lang="zh-CN" altLang="en-US" sz="3200" kern="1200" dirty="0">
            <a:latin typeface="宋体" panose="02010600030101010101" pitchFamily="2" charset="-122"/>
            <a:ea typeface="宋体" panose="02010600030101010101" pitchFamily="2" charset="-122"/>
          </a:endParaRPr>
        </a:p>
      </dsp:txBody>
      <dsp:txXfrm>
        <a:off x="3955376" y="1219735"/>
        <a:ext cx="3466510" cy="2824605"/>
      </dsp:txXfrm>
    </dsp:sp>
    <dsp:sp modelId="{B8A968F1-2DF3-409D-BCFC-5CC74AA2D029}">
      <dsp:nvSpPr>
        <dsp:cNvPr id="0" name=""/>
        <dsp:cNvSpPr/>
      </dsp:nvSpPr>
      <dsp:spPr>
        <a:xfrm>
          <a:off x="7907198" y="10134"/>
          <a:ext cx="3466510" cy="1209600"/>
        </a:xfrm>
        <a:prstGeom prst="rect">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298704" tIns="170688" rIns="298704" bIns="170688" numCol="1" spcCol="1270" anchor="ctr" anchorCtr="0">
          <a:noAutofit/>
        </a:bodyPr>
        <a:lstStyle/>
        <a:p>
          <a:pPr lvl="0" algn="ctr" defTabSz="1866900" rtl="0">
            <a:lnSpc>
              <a:spcPct val="90000"/>
            </a:lnSpc>
            <a:spcBef>
              <a:spcPct val="0"/>
            </a:spcBef>
            <a:spcAft>
              <a:spcPct val="35000"/>
            </a:spcAft>
          </a:pPr>
          <a:r>
            <a:rPr lang="zh-CN" altLang="en-US" sz="4200" kern="1200" baseline="0">
              <a:latin typeface="微软雅黑" panose="020B0503020204020204" pitchFamily="34" charset="-122"/>
              <a:ea typeface="微软雅黑" panose="020B0503020204020204" pitchFamily="34" charset="-122"/>
            </a:rPr>
            <a:t>完整性约束</a:t>
          </a:r>
          <a:endParaRPr lang="zh-CN" altLang="en-US" sz="4200" kern="1200">
            <a:latin typeface="微软雅黑" panose="020B0503020204020204" pitchFamily="34" charset="-122"/>
            <a:ea typeface="微软雅黑" panose="020B0503020204020204" pitchFamily="34" charset="-122"/>
          </a:endParaRPr>
        </a:p>
      </dsp:txBody>
      <dsp:txXfrm>
        <a:off x="7907198" y="10134"/>
        <a:ext cx="3466510" cy="1209600"/>
      </dsp:txXfrm>
    </dsp:sp>
    <dsp:sp modelId="{2649DD15-A3E6-4B48-8EB1-95F1D1114BF8}">
      <dsp:nvSpPr>
        <dsp:cNvPr id="0" name=""/>
        <dsp:cNvSpPr/>
      </dsp:nvSpPr>
      <dsp:spPr>
        <a:xfrm>
          <a:off x="7907198" y="1219735"/>
          <a:ext cx="3466510" cy="2824605"/>
        </a:xfrm>
        <a:prstGeom prst="rect">
          <a:avLst/>
        </a:prstGeom>
        <a:solidFill>
          <a:schemeClr val="dk2">
            <a:alpha val="90000"/>
            <a:tint val="40000"/>
            <a:hueOff val="0"/>
            <a:satOff val="0"/>
            <a:lumOff val="0"/>
            <a:alphaOff val="0"/>
          </a:schemeClr>
        </a:solidFill>
        <a:ln w="9525" cap="flat" cmpd="sng" algn="ctr">
          <a:solidFill>
            <a:schemeClr val="dk2">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70688" tIns="170688" rIns="227584" bIns="256032" numCol="1" spcCol="1270" anchor="t" anchorCtr="0">
          <a:noAutofit/>
        </a:bodyPr>
        <a:lstStyle/>
        <a:p>
          <a:pPr marL="285750" lvl="1" indent="-285750" algn="l" defTabSz="1422400" rtl="0">
            <a:lnSpc>
              <a:spcPct val="90000"/>
            </a:lnSpc>
            <a:spcBef>
              <a:spcPct val="0"/>
            </a:spcBef>
            <a:spcAft>
              <a:spcPct val="15000"/>
            </a:spcAft>
            <a:buChar char="••"/>
          </a:pPr>
          <a:r>
            <a:rPr lang="zh-CN" altLang="en-US" sz="3200" kern="1200" baseline="0" dirty="0">
              <a:latin typeface="宋体" panose="02010600030101010101" pitchFamily="2" charset="-122"/>
              <a:ea typeface="宋体" panose="02010600030101010101" pitchFamily="2" charset="-122"/>
            </a:rPr>
            <a:t>通过定义各种完整性规则，以保证数据的正确、一致和相容</a:t>
          </a:r>
          <a:endParaRPr lang="zh-CN" altLang="en-US" sz="3200" kern="1200" dirty="0">
            <a:latin typeface="宋体" panose="02010600030101010101" pitchFamily="2" charset="-122"/>
            <a:ea typeface="宋体" panose="02010600030101010101" pitchFamily="2" charset="-122"/>
          </a:endParaRPr>
        </a:p>
      </dsp:txBody>
      <dsp:txXfrm>
        <a:off x="7907198" y="1219735"/>
        <a:ext cx="3466510" cy="2824605"/>
      </dsp:txXfrm>
    </dsp:sp>
  </dsp:spTree>
</dsp:drawing>
</file>

<file path=ppt/diagrams/layout1.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baseline="0">
                <a:latin typeface="Times New Roman" pitchFamily="18" charset="0"/>
              </a:defRPr>
            </a:lvl1pPr>
          </a:lstStyle>
          <a:p>
            <a:pPr>
              <a:defRPr/>
            </a:pPr>
            <a:endParaRPr lang="zh-CN" altLang="en-US"/>
          </a:p>
        </p:txBody>
      </p:sp>
      <p:sp>
        <p:nvSpPr>
          <p:cNvPr id="921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baseline="0">
                <a:latin typeface="Times New Roman" pitchFamily="18" charset="0"/>
              </a:defRPr>
            </a:lvl1pPr>
          </a:lstStyle>
          <a:p>
            <a:pPr>
              <a:defRPr/>
            </a:pPr>
            <a:endParaRPr lang="en-US" altLang="zh-CN"/>
          </a:p>
        </p:txBody>
      </p:sp>
      <p:sp>
        <p:nvSpPr>
          <p:cNvPr id="922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baseline="0">
                <a:latin typeface="Times New Roman" pitchFamily="18" charset="0"/>
              </a:defRPr>
            </a:lvl1pPr>
          </a:lstStyle>
          <a:p>
            <a:pPr>
              <a:defRPr/>
            </a:pPr>
            <a:endParaRPr lang="en-US" altLang="zh-CN"/>
          </a:p>
        </p:txBody>
      </p:sp>
      <p:sp>
        <p:nvSpPr>
          <p:cNvPr id="922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baseline="0">
                <a:latin typeface="Times New Roman" pitchFamily="18" charset="0"/>
              </a:defRPr>
            </a:lvl1pPr>
          </a:lstStyle>
          <a:p>
            <a:pPr>
              <a:defRPr/>
            </a:pPr>
            <a:fld id="{151A9782-2FC3-43BA-9A36-0BE2A123DEBD}" type="slidenum">
              <a:rPr lang="zh-CN" altLang="en-US"/>
              <a:pPr>
                <a:defRPr/>
              </a:pPr>
              <a:t>‹#›</a:t>
            </a:fld>
            <a:endParaRPr lang="en-US" altLang="zh-CN"/>
          </a:p>
        </p:txBody>
      </p:sp>
    </p:spTree>
    <p:extLst>
      <p:ext uri="{BB962C8B-B14F-4D97-AF65-F5344CB8AC3E}">
        <p14:creationId xmlns:p14="http://schemas.microsoft.com/office/powerpoint/2010/main" val="215515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baseline="0">
                <a:latin typeface="Times New Roman" pitchFamily="18" charset="0"/>
              </a:defRPr>
            </a:lvl1pPr>
          </a:lstStyle>
          <a:p>
            <a:pPr>
              <a:defRPr/>
            </a:pPr>
            <a:endParaRPr lang="zh-CN" altLang="en-US"/>
          </a:p>
        </p:txBody>
      </p:sp>
      <p:sp>
        <p:nvSpPr>
          <p:cNvPr id="1741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baseline="0">
                <a:latin typeface="Times New Roman" pitchFamily="18" charset="0"/>
              </a:defRPr>
            </a:lvl1pPr>
          </a:lstStyle>
          <a:p>
            <a:pPr>
              <a:defRPr/>
            </a:pPr>
            <a:endParaRPr lang="en-US" altLang="zh-CN"/>
          </a:p>
        </p:txBody>
      </p:sp>
      <p:sp>
        <p:nvSpPr>
          <p:cNvPr id="3686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41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baseline="0">
                <a:latin typeface="Times New Roman" pitchFamily="18" charset="0"/>
              </a:defRPr>
            </a:lvl1pPr>
          </a:lstStyle>
          <a:p>
            <a:pPr>
              <a:defRPr/>
            </a:pPr>
            <a:endParaRPr lang="en-US" altLang="zh-CN"/>
          </a:p>
        </p:txBody>
      </p:sp>
      <p:sp>
        <p:nvSpPr>
          <p:cNvPr id="1741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baseline="0">
                <a:latin typeface="Times New Roman" pitchFamily="18" charset="0"/>
              </a:defRPr>
            </a:lvl1pPr>
          </a:lstStyle>
          <a:p>
            <a:pPr>
              <a:defRPr/>
            </a:pPr>
            <a:fld id="{03FF0817-35DE-4620-8116-CD53722ECFBA}" type="slidenum">
              <a:rPr lang="zh-CN" altLang="en-US"/>
              <a:pPr>
                <a:defRPr/>
              </a:pPr>
              <a:t>‹#›</a:t>
            </a:fld>
            <a:endParaRPr lang="en-US" altLang="zh-CN"/>
          </a:p>
        </p:txBody>
      </p:sp>
    </p:spTree>
    <p:extLst>
      <p:ext uri="{BB962C8B-B14F-4D97-AF65-F5344CB8AC3E}">
        <p14:creationId xmlns:p14="http://schemas.microsoft.com/office/powerpoint/2010/main" val="8365752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A6804AD-D199-4375-9A57-40BA369C6FFD}"/>
              </a:ext>
            </a:extLst>
          </p:cNvPr>
          <p:cNvSpPr>
            <a:spLocks noGrp="1" noRot="1" noChangeAspect="1" noChangeArrowheads="1" noTextEdit="1"/>
          </p:cNvSpPr>
          <p:nvPr>
            <p:ph type="sldImg"/>
          </p:nvPr>
        </p:nvSpPr>
        <p:spPr>
          <a:ln/>
        </p:spPr>
      </p:sp>
      <p:sp>
        <p:nvSpPr>
          <p:cNvPr id="5123" name="Rectangle 3">
            <a:extLst>
              <a:ext uri="{FF2B5EF4-FFF2-40B4-BE49-F238E27FC236}">
                <a16:creationId xmlns:a16="http://schemas.microsoft.com/office/drawing/2014/main" id="{446A7FE3-FA54-4CCA-8A59-69677C27590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E8E1C08-1B19-4F11-8A50-525C72F44345}"/>
              </a:ext>
            </a:extLst>
          </p:cNvPr>
          <p:cNvSpPr>
            <a:spLocks noGrp="1" noRot="1" noChangeAspect="1" noChangeArrowheads="1" noTextEdit="1"/>
          </p:cNvSpPr>
          <p:nvPr>
            <p:ph type="sldImg"/>
          </p:nvPr>
        </p:nvSpPr>
        <p:spPr>
          <a:ln/>
        </p:spPr>
      </p:sp>
      <p:sp>
        <p:nvSpPr>
          <p:cNvPr id="9219" name="Rectangle 3">
            <a:extLst>
              <a:ext uri="{FF2B5EF4-FFF2-40B4-BE49-F238E27FC236}">
                <a16:creationId xmlns:a16="http://schemas.microsoft.com/office/drawing/2014/main" id="{150424F8-B774-4D2F-9CA8-507CAE256C4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4E62DC0-CA4A-4D91-80DC-B08EFAF67748}"/>
              </a:ext>
            </a:extLst>
          </p:cNvPr>
          <p:cNvSpPr>
            <a:spLocks noGrp="1" noRot="1" noChangeAspect="1" noChangeArrowheads="1" noTextEdit="1"/>
          </p:cNvSpPr>
          <p:nvPr>
            <p:ph type="sldImg"/>
          </p:nvPr>
        </p:nvSpPr>
        <p:spPr>
          <a:ln/>
        </p:spPr>
      </p:sp>
      <p:sp>
        <p:nvSpPr>
          <p:cNvPr id="11267" name="Rectangle 3">
            <a:extLst>
              <a:ext uri="{FF2B5EF4-FFF2-40B4-BE49-F238E27FC236}">
                <a16:creationId xmlns:a16="http://schemas.microsoft.com/office/drawing/2014/main" id="{B8DC2D5F-660B-4EF8-B3B3-1A790131069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93837E1F-C09F-4F11-B815-F135B5F9C84D}"/>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3F6D75D8-5103-4C15-B3CE-CD98C5CD52C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1FECAF2C-2AEC-4140-8916-C8F911E3B3BA}"/>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0EAB283C-1F59-4C87-BE9F-D4F19C373DF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BEE071B-58F2-4181-B1F8-D804A9EFB00A}"/>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9CE0DAAA-1716-462D-BFD8-294B499C80F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46263E2-DEE1-4901-90E3-9CFE7FE1637B}"/>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C6E27C7F-3C12-4353-A013-90244369220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540135B9-58A1-443A-8EF3-46D9524BAD62}"/>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0DEFFD3C-6644-4103-836C-43018B074A3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3A8D629E-1135-4F24-BCF3-AB0C6BAF05C9}"/>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99CF20E3-7E2A-4E8B-BDD0-021B5F8348F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5E7F3743-2F49-43E4-AC6B-48D4F31AE434}"/>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FD58A2EF-FB67-41DC-897E-921D25A0D69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D073FC78-46D4-41E1-AC8C-06B873360E4E}"/>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C7202DBD-EF7A-4C82-B1A2-2228A4ACB49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0678ACEE-B6EA-400B-97D3-C6602DB37004}"/>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7197AA83-BCD9-4C8E-9822-BC012DFDF21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542273"/>
            <a:ext cx="5724644" cy="646331"/>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2592998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10"/>
          </p:nvPr>
        </p:nvSpPr>
        <p:spPr>
          <a:xfrm>
            <a:off x="335360" y="0"/>
            <a:ext cx="6912768" cy="692696"/>
          </a:xfrm>
        </p:spPr>
        <p:txBody>
          <a:bodyPr/>
          <a:lstStyle>
            <a:lvl1pPr marL="0" indent="0">
              <a:buFont typeface="Arial" pitchFamily="34" charset="0"/>
              <a:buNone/>
              <a:defRPr/>
            </a:lvl1pPr>
          </a:lstStyle>
          <a:p>
            <a:pPr lvl="0"/>
            <a:r>
              <a:rPr lang="zh-CN" altLang="en-US" dirty="0"/>
              <a:t>单击此处编辑母版文本样式</a:t>
            </a:r>
          </a:p>
        </p:txBody>
      </p:sp>
    </p:spTree>
    <p:extLst>
      <p:ext uri="{BB962C8B-B14F-4D97-AF65-F5344CB8AC3E}">
        <p14:creationId xmlns:p14="http://schemas.microsoft.com/office/powerpoint/2010/main" val="327282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6340197" cy="70788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273699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4417" y="2276476"/>
            <a:ext cx="53848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2417" y="2276476"/>
            <a:ext cx="53848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84710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522972"/>
            <a:ext cx="5724644" cy="646331"/>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050307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9003192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77081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034990"/>
            <a:ext cx="3262432" cy="40011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973091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967228"/>
            <a:ext cx="3262432" cy="400110"/>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5910870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319032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56285" y="989014"/>
            <a:ext cx="738664" cy="5632311"/>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4417" y="989014"/>
            <a:ext cx="8026400" cy="53419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723374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750854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588439"/>
            <a:ext cx="4801314" cy="553998"/>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4287031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899291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6359433" cy="70788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3009573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4417" y="2276476"/>
            <a:ext cx="53848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2417" y="2276476"/>
            <a:ext cx="53848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756055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569139"/>
            <a:ext cx="4801314" cy="553998"/>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74208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8411157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485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034990"/>
            <a:ext cx="3281668" cy="40011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3838183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967228"/>
            <a:ext cx="3281668" cy="400110"/>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3620872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066077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902451" y="989014"/>
            <a:ext cx="646331" cy="4708981"/>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4417" y="989014"/>
            <a:ext cx="8026400" cy="53419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85880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2.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50000"/>
          </a:schemeClr>
        </a:solidFill>
        <a:effectLst/>
      </p:bgPr>
    </p:bg>
    <p:spTree>
      <p:nvGrpSpPr>
        <p:cNvPr id="1" name=""/>
        <p:cNvGrpSpPr/>
        <p:nvPr/>
      </p:nvGrpSpPr>
      <p:grpSpPr>
        <a:xfrm>
          <a:off x="0" y="0"/>
          <a:ext cx="0" cy="0"/>
          <a:chOff x="0" y="0"/>
          <a:chExt cx="0" cy="0"/>
        </a:xfrm>
      </p:grpSpPr>
      <p:sp>
        <p:nvSpPr>
          <p:cNvPr id="541702" name="Rectangle 6"/>
          <p:cNvSpPr>
            <a:spLocks noGrp="1" noChangeArrowheads="1"/>
          </p:cNvSpPr>
          <p:nvPr>
            <p:ph type="body" idx="1"/>
          </p:nvPr>
        </p:nvSpPr>
        <p:spPr bwMode="auto">
          <a:xfrm>
            <a:off x="624417" y="2276476"/>
            <a:ext cx="10972800" cy="405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41704" name="Rectangle 8"/>
          <p:cNvSpPr>
            <a:spLocks noGrp="1" noChangeArrowheads="1"/>
          </p:cNvSpPr>
          <p:nvPr>
            <p:ph type="title"/>
          </p:nvPr>
        </p:nvSpPr>
        <p:spPr bwMode="auto">
          <a:xfrm>
            <a:off x="668104" y="71920"/>
            <a:ext cx="6340197" cy="707886"/>
          </a:xfrm>
          <a:prstGeom prst="rect">
            <a:avLst/>
          </a:prstGeom>
          <a:noFill/>
          <a:ln w="9525">
            <a:noFill/>
            <a:miter lim="800000"/>
            <a:headEnd/>
            <a:tailEnd/>
          </a:ln>
          <a:effectLst>
            <a:outerShdw dist="17961" dir="2700000" algn="ctr" rotWithShape="0">
              <a:schemeClr val="bg2"/>
            </a:outerShdw>
          </a:effectLst>
        </p:spPr>
        <p:txBody>
          <a:bodyPr vert="horz" wrap="none" lIns="91440" tIns="45720" rIns="91440" bIns="45720" numCol="1" anchor="ctr" anchorCtr="0" compatLnSpc="1">
            <a:prstTxWarp prst="textNoShape">
              <a:avLst/>
            </a:prstTxWarp>
            <a:spAutoFit/>
          </a:bodyPr>
          <a:lstStyle/>
          <a:p>
            <a:pPr lvl="0"/>
            <a:r>
              <a:rPr lang="zh-CN" altLang="en-US"/>
              <a:t>单击此处编辑母版标题样式</a:t>
            </a:r>
          </a:p>
        </p:txBody>
      </p:sp>
      <p:sp>
        <p:nvSpPr>
          <p:cNvPr id="6" name="椭圆 5"/>
          <p:cNvSpPr/>
          <p:nvPr userDrawn="1"/>
        </p:nvSpPr>
        <p:spPr>
          <a:xfrm rot="16200000">
            <a:off x="222576" y="244210"/>
            <a:ext cx="398347" cy="398346"/>
          </a:xfrm>
          <a:prstGeom prst="ellipse">
            <a:avLst/>
          </a:prstGeom>
          <a:noFill/>
          <a:ln>
            <a:solidFill>
              <a:srgbClr val="FCF873">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1DF97"/>
              </a:solidFill>
            </a:endParaRPr>
          </a:p>
        </p:txBody>
      </p:sp>
      <p:cxnSp>
        <p:nvCxnSpPr>
          <p:cNvPr id="7" name="直接连接符 6"/>
          <p:cNvCxnSpPr/>
          <p:nvPr userDrawn="1"/>
        </p:nvCxnSpPr>
        <p:spPr>
          <a:xfrm>
            <a:off x="-183148" y="445961"/>
            <a:ext cx="495705" cy="0"/>
          </a:xfrm>
          <a:prstGeom prst="line">
            <a:avLst/>
          </a:prstGeom>
          <a:ln>
            <a:solidFill>
              <a:srgbClr val="FCF873">
                <a:alpha val="70000"/>
              </a:srgbClr>
            </a:solidFill>
          </a:ln>
        </p:spPr>
        <p:style>
          <a:lnRef idx="1">
            <a:schemeClr val="accent1"/>
          </a:lnRef>
          <a:fillRef idx="0">
            <a:schemeClr val="accent1"/>
          </a:fillRef>
          <a:effectRef idx="0">
            <a:schemeClr val="accent1"/>
          </a:effectRef>
          <a:fontRef idx="minor">
            <a:schemeClr val="tx1"/>
          </a:fontRef>
        </p:style>
      </p:cxnSp>
      <p:sp>
        <p:nvSpPr>
          <p:cNvPr id="8" name="椭圆 7"/>
          <p:cNvSpPr>
            <a:spLocks noChangeAspect="1"/>
          </p:cNvSpPr>
          <p:nvPr userDrawn="1"/>
        </p:nvSpPr>
        <p:spPr>
          <a:xfrm rot="16200000">
            <a:off x="312557" y="334925"/>
            <a:ext cx="221871" cy="221871"/>
          </a:xfrm>
          <a:prstGeom prst="ellipse">
            <a:avLst/>
          </a:prstGeom>
          <a:gradFill>
            <a:gsLst>
              <a:gs pos="68000">
                <a:srgbClr val="C69135"/>
              </a:gs>
              <a:gs pos="31000">
                <a:srgbClr val="E6D38F"/>
              </a:gs>
              <a:gs pos="0">
                <a:srgbClr val="FCD860"/>
              </a:gs>
              <a:gs pos="100000">
                <a:srgbClr val="F1DF97"/>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1DF97"/>
              </a:solidFill>
            </a:endParaRPr>
          </a:p>
        </p:txBody>
      </p:sp>
    </p:spTree>
  </p:cSld>
  <p:clrMap bg1="dk2" tx1="lt1" bg2="dk1"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11" r:id="rId12"/>
  </p:sldLayoutIdLst>
  <mc:AlternateContent xmlns:mc="http://schemas.openxmlformats.org/markup-compatibility/2006" xmlns:p14="http://schemas.microsoft.com/office/powerpoint/2010/main">
    <mc:Choice Requires="p14">
      <p:transition p14:dur="0"/>
    </mc:Choice>
    <mc:Fallback xmlns="">
      <p:transition/>
    </mc:Fallback>
  </mc:AlternateContent>
  <p:hf sldNum="0" hdr="0" ftr="0" dt="0"/>
  <p:txStyles>
    <p:title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p:titleStyle>
    <p:bodyStyle>
      <a:lvl1pPr marL="342900" indent="-342900" algn="l" rtl="0" eaLnBrk="0" fontAlgn="base" hangingPunct="0">
        <a:spcBef>
          <a:spcPct val="0"/>
        </a:spcBef>
        <a:spcAft>
          <a:spcPct val="40000"/>
        </a:spcAft>
        <a:buClr>
          <a:srgbClr val="66FF33"/>
        </a:buClr>
        <a:buSzPct val="85000"/>
        <a:buFont typeface="Wingdings" pitchFamily="2" charset="2"/>
        <a:buBlip>
          <a:blip r:embed="rId14"/>
        </a:buBlip>
        <a:defRPr sz="3200">
          <a:solidFill>
            <a:schemeClr val="tx1"/>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chemeClr val="tx1"/>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chemeClr val="tx1"/>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541702" name="Rectangle 6"/>
          <p:cNvSpPr>
            <a:spLocks noGrp="1" noChangeArrowheads="1"/>
          </p:cNvSpPr>
          <p:nvPr>
            <p:ph type="body" idx="1"/>
          </p:nvPr>
        </p:nvSpPr>
        <p:spPr bwMode="auto">
          <a:xfrm>
            <a:off x="624417" y="2276476"/>
            <a:ext cx="10972800" cy="405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41704" name="Rectangle 8"/>
          <p:cNvSpPr>
            <a:spLocks noGrp="1" noChangeArrowheads="1"/>
          </p:cNvSpPr>
          <p:nvPr>
            <p:ph type="title"/>
          </p:nvPr>
        </p:nvSpPr>
        <p:spPr bwMode="auto">
          <a:xfrm>
            <a:off x="624418" y="986653"/>
            <a:ext cx="4801314" cy="553998"/>
          </a:xfrm>
          <a:prstGeom prst="rect">
            <a:avLst/>
          </a:prstGeom>
          <a:noFill/>
          <a:ln w="9525">
            <a:noFill/>
            <a:miter lim="800000"/>
            <a:headEnd/>
            <a:tailEnd/>
          </a:ln>
          <a:effectLst>
            <a:outerShdw dist="17961" dir="2700000" algn="ctr" rotWithShape="0">
              <a:schemeClr val="bg2"/>
            </a:outerShdw>
          </a:effectLst>
        </p:spPr>
        <p:txBody>
          <a:bodyPr vert="horz" wrap="none" lIns="91440" tIns="45720" rIns="91440" bIns="45720" numCol="1" anchor="ctr" anchorCtr="0" compatLnSpc="1">
            <a:prstTxWarp prst="textNoShape">
              <a:avLst/>
            </a:prstTxWarp>
            <a:spAutoFit/>
          </a:bodyPr>
          <a:lstStyle/>
          <a:p>
            <a:pPr lvl="0"/>
            <a:r>
              <a:rPr lang="zh-CN" altLang="en-US"/>
              <a:t>单击此处编辑母版标题样式</a:t>
            </a:r>
          </a:p>
        </p:txBody>
      </p:sp>
      <p:sp>
        <p:nvSpPr>
          <p:cNvPr id="541705" name="Text Box 9"/>
          <p:cNvSpPr txBox="1">
            <a:spLocks noChangeArrowheads="1"/>
          </p:cNvSpPr>
          <p:nvPr userDrawn="1"/>
        </p:nvSpPr>
        <p:spPr bwMode="auto">
          <a:xfrm>
            <a:off x="11550770" y="6535739"/>
            <a:ext cx="461197" cy="268517"/>
          </a:xfrm>
          <a:prstGeom prst="rect">
            <a:avLst/>
          </a:prstGeom>
          <a:noFill/>
          <a:ln w="12700" cap="sq" algn="ctr">
            <a:noFill/>
            <a:miter lim="800000"/>
            <a:headEnd/>
            <a:tailEnd/>
          </a:ln>
          <a:effectLst/>
        </p:spPr>
        <p:txBody>
          <a:bodyPr wrap="none" lIns="72000" tIns="72000" rIns="72000" bIns="72000">
            <a:spAutoFit/>
          </a:bodyPr>
          <a:lstStyle/>
          <a:p>
            <a:pPr algn="ctr">
              <a:defRPr/>
            </a:pPr>
            <a:r>
              <a:rPr lang="zh-CN" altLang="en-US" sz="1200">
                <a:solidFill>
                  <a:srgbClr val="FFFFFF"/>
                </a:solidFill>
                <a:ea typeface="楷体_GB2312" pitchFamily="49" charset="-122"/>
              </a:rPr>
              <a:t>第</a:t>
            </a:r>
            <a:fld id="{78266903-B61B-4C5B-94FC-7A9B41F88A36}" type="slidenum">
              <a:rPr lang="zh-CN" altLang="en-US" sz="1200">
                <a:solidFill>
                  <a:srgbClr val="FFFFFF"/>
                </a:solidFill>
                <a:ea typeface="楷体_GB2312" pitchFamily="49" charset="-122"/>
              </a:rPr>
              <a:pPr algn="ctr">
                <a:defRPr/>
              </a:pPr>
              <a:t>‹#›</a:t>
            </a:fld>
            <a:r>
              <a:rPr lang="zh-CN" altLang="en-US" sz="1200">
                <a:solidFill>
                  <a:srgbClr val="FFFFFF"/>
                </a:solidFill>
                <a:ea typeface="楷体_GB2312" pitchFamily="49" charset="-122"/>
              </a:rPr>
              <a:t>页</a:t>
            </a:r>
            <a:endParaRPr lang="en-US" altLang="zh-CN" sz="1200">
              <a:solidFill>
                <a:srgbClr val="FFFFFF"/>
              </a:solidFill>
              <a:ea typeface="楷体_GB2312" pitchFamily="49" charset="-122"/>
            </a:endParaRPr>
          </a:p>
        </p:txBody>
      </p:sp>
      <p:sp>
        <p:nvSpPr>
          <p:cNvPr id="541706" name="Text Box 10"/>
          <p:cNvSpPr txBox="1">
            <a:spLocks noChangeArrowheads="1"/>
          </p:cNvSpPr>
          <p:nvPr userDrawn="1"/>
        </p:nvSpPr>
        <p:spPr bwMode="auto">
          <a:xfrm>
            <a:off x="9514823" y="131763"/>
            <a:ext cx="1667123" cy="164148"/>
          </a:xfrm>
          <a:prstGeom prst="rect">
            <a:avLst/>
          </a:prstGeom>
          <a:noFill/>
          <a:ln w="12700" cap="sq">
            <a:noFill/>
            <a:miter lim="800000"/>
            <a:headEnd/>
            <a:tailEnd/>
          </a:ln>
          <a:effectLst/>
        </p:spPr>
        <p:txBody>
          <a:bodyPr wrap="none" lIns="0" tIns="0" rIns="0" bIns="0">
            <a:spAutoFit/>
          </a:bodyPr>
          <a:lstStyle/>
          <a:p>
            <a:pPr algn="ctr">
              <a:defRPr/>
            </a:pPr>
            <a:r>
              <a:rPr kumimoji="1" lang="zh-CN" altLang="en-US" sz="1600">
                <a:solidFill>
                  <a:srgbClr val="8BB1E9"/>
                </a:solidFill>
                <a:effectLst>
                  <a:outerShdw blurRad="38100" dist="38100" dir="2700000" algn="tl">
                    <a:srgbClr val="000000"/>
                  </a:outerShdw>
                </a:effectLst>
                <a:latin typeface="Times New Roman" pitchFamily="18" charset="0"/>
                <a:ea typeface="楷体_GB2312" pitchFamily="49" charset="-122"/>
              </a:rPr>
              <a:t>四川农业大学    潘勇浩 制作</a:t>
            </a:r>
          </a:p>
        </p:txBody>
      </p:sp>
    </p:spTree>
  </p:cSld>
  <p:clrMap bg1="dk2" tx1="lt1" bg2="dk1"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mc:AlternateContent xmlns:mc="http://schemas.openxmlformats.org/markup-compatibility/2006" xmlns:p14="http://schemas.microsoft.com/office/powerpoint/2010/main">
    <mc:Choice Requires="p14">
      <p:transition p14:dur="0"/>
    </mc:Choice>
    <mc:Fallback xmlns="">
      <p:transition/>
    </mc:Fallback>
  </mc:AlternateContent>
  <p:hf sldNum="0" hdr="0" ftr="0" dt="0"/>
  <p:txStyles>
    <p:titleStyle>
      <a:lvl1pPr algn="l" rtl="0" eaLnBrk="0" fontAlgn="base" hangingPunct="0">
        <a:spcBef>
          <a:spcPct val="0"/>
        </a:spcBef>
        <a:spcAft>
          <a:spcPct val="0"/>
        </a:spcAft>
        <a:defRPr sz="3000">
          <a:solidFill>
            <a:srgbClr val="FF9900"/>
          </a:solidFill>
          <a:latin typeface="+mj-lt"/>
          <a:ea typeface="+mj-ea"/>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p:titleStyle>
    <p:bodyStyle>
      <a:lvl1pPr marL="342900" indent="-342900" algn="l" rtl="0" eaLnBrk="0" fontAlgn="base" hangingPunct="0">
        <a:spcBef>
          <a:spcPct val="0"/>
        </a:spcBef>
        <a:spcAft>
          <a:spcPct val="40000"/>
        </a:spcAft>
        <a:buClr>
          <a:srgbClr val="66FF33"/>
        </a:buClr>
        <a:buSzPct val="85000"/>
        <a:buFont typeface="Wingdings" pitchFamily="2" charset="2"/>
        <a:buBlip>
          <a:blip r:embed="rId14"/>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7.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8" Type="http://schemas.openxmlformats.org/officeDocument/2006/relationships/tags" Target="../tags/tag11.xml"/><Relationship Id="rId3" Type="http://schemas.openxmlformats.org/officeDocument/2006/relationships/tags" Target="../tags/tag6.xml"/><Relationship Id="rId7" Type="http://schemas.openxmlformats.org/officeDocument/2006/relationships/tags" Target="../tags/tag10.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image" Target="../media/image8.tmp"/><Relationship Id="rId5" Type="http://schemas.openxmlformats.org/officeDocument/2006/relationships/tags" Target="../tags/tag8.xml"/><Relationship Id="rId10" Type="http://schemas.openxmlformats.org/officeDocument/2006/relationships/slideLayout" Target="../slideLayouts/slideLayout7.xml"/><Relationship Id="rId4" Type="http://schemas.openxmlformats.org/officeDocument/2006/relationships/tags" Target="../tags/tag7.xml"/><Relationship Id="rId9" Type="http://schemas.openxmlformats.org/officeDocument/2006/relationships/tags" Target="../tags/tag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tags" Target="../tags/tag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8" Type="http://schemas.openxmlformats.org/officeDocument/2006/relationships/tags" Target="../tags/tag21.xml"/><Relationship Id="rId3" Type="http://schemas.openxmlformats.org/officeDocument/2006/relationships/tags" Target="../tags/tag16.xml"/><Relationship Id="rId7" Type="http://schemas.openxmlformats.org/officeDocument/2006/relationships/tags" Target="../tags/tag20.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image" Target="../media/image8.tmp"/><Relationship Id="rId5" Type="http://schemas.openxmlformats.org/officeDocument/2006/relationships/tags" Target="../tags/tag18.xml"/><Relationship Id="rId10" Type="http://schemas.openxmlformats.org/officeDocument/2006/relationships/slideLayout" Target="../slideLayouts/slideLayout7.xml"/><Relationship Id="rId4" Type="http://schemas.openxmlformats.org/officeDocument/2006/relationships/tags" Target="../tags/tag17.xml"/><Relationship Id="rId9" Type="http://schemas.openxmlformats.org/officeDocument/2006/relationships/tags" Target="../tags/tag2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microsoft.com/office/2007/relationships/hdphoto" Target="../media/hdphoto1.wdp"/></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image" Target="../media/image13.png"/></Relationships>
</file>

<file path=ppt/slides/_rels/slide50.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8.tmp"/><Relationship Id="rId5" Type="http://schemas.openxmlformats.org/officeDocument/2006/relationships/tags" Target="../tags/tag27.xml"/><Relationship Id="rId10" Type="http://schemas.openxmlformats.org/officeDocument/2006/relationships/slideLayout" Target="../slideLayouts/slideLayout7.xml"/><Relationship Id="rId4" Type="http://schemas.openxmlformats.org/officeDocument/2006/relationships/tags" Target="../tags/tag26.xml"/><Relationship Id="rId9" Type="http://schemas.openxmlformats.org/officeDocument/2006/relationships/tags" Target="../tags/tag31.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8" Type="http://schemas.openxmlformats.org/officeDocument/2006/relationships/tags" Target="../tags/tag39.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8.tmp"/><Relationship Id="rId5" Type="http://schemas.openxmlformats.org/officeDocument/2006/relationships/tags" Target="../tags/tag36.xml"/><Relationship Id="rId10" Type="http://schemas.openxmlformats.org/officeDocument/2006/relationships/slideLayout" Target="../slideLayouts/slideLayout7.xml"/><Relationship Id="rId4" Type="http://schemas.openxmlformats.org/officeDocument/2006/relationships/tags" Target="../tags/tag35.xml"/><Relationship Id="rId9" Type="http://schemas.openxmlformats.org/officeDocument/2006/relationships/tags" Target="../tags/tag40.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8" Type="http://schemas.openxmlformats.org/officeDocument/2006/relationships/tags" Target="../tags/tag48.xml"/><Relationship Id="rId3" Type="http://schemas.openxmlformats.org/officeDocument/2006/relationships/tags" Target="../tags/tag43.xml"/><Relationship Id="rId7" Type="http://schemas.openxmlformats.org/officeDocument/2006/relationships/tags" Target="../tags/tag47.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image" Target="../media/image8.tmp"/><Relationship Id="rId5" Type="http://schemas.openxmlformats.org/officeDocument/2006/relationships/tags" Target="../tags/tag45.xml"/><Relationship Id="rId10" Type="http://schemas.openxmlformats.org/officeDocument/2006/relationships/slideLayout" Target="../slideLayouts/slideLayout7.xml"/><Relationship Id="rId4" Type="http://schemas.openxmlformats.org/officeDocument/2006/relationships/tags" Target="../tags/tag44.xml"/><Relationship Id="rId9" Type="http://schemas.openxmlformats.org/officeDocument/2006/relationships/tags" Target="../tags/tag4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tags" Target="../tags/tag57.xml"/><Relationship Id="rId3" Type="http://schemas.openxmlformats.org/officeDocument/2006/relationships/tags" Target="../tags/tag52.xml"/><Relationship Id="rId7" Type="http://schemas.openxmlformats.org/officeDocument/2006/relationships/tags" Target="../tags/tag56.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11" Type="http://schemas.openxmlformats.org/officeDocument/2006/relationships/image" Target="../media/image8.tmp"/><Relationship Id="rId5" Type="http://schemas.openxmlformats.org/officeDocument/2006/relationships/tags" Target="../tags/tag54.xml"/><Relationship Id="rId10" Type="http://schemas.openxmlformats.org/officeDocument/2006/relationships/slideLayout" Target="../slideLayouts/slideLayout7.xml"/><Relationship Id="rId4" Type="http://schemas.openxmlformats.org/officeDocument/2006/relationships/tags" Target="../tags/tag53.xml"/><Relationship Id="rId9" Type="http://schemas.openxmlformats.org/officeDocument/2006/relationships/tags" Target="../tags/tag5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8" Type="http://schemas.openxmlformats.org/officeDocument/2006/relationships/tags" Target="../tags/tag66.xml"/><Relationship Id="rId3" Type="http://schemas.openxmlformats.org/officeDocument/2006/relationships/tags" Target="../tags/tag61.xml"/><Relationship Id="rId7" Type="http://schemas.openxmlformats.org/officeDocument/2006/relationships/tags" Target="../tags/tag65.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image" Target="../media/image8.tmp"/><Relationship Id="rId5" Type="http://schemas.openxmlformats.org/officeDocument/2006/relationships/tags" Target="../tags/tag63.xml"/><Relationship Id="rId10" Type="http://schemas.openxmlformats.org/officeDocument/2006/relationships/slideLayout" Target="../slideLayouts/slideLayout7.xml"/><Relationship Id="rId4" Type="http://schemas.openxmlformats.org/officeDocument/2006/relationships/tags" Target="../tags/tag62.xml"/><Relationship Id="rId9" Type="http://schemas.openxmlformats.org/officeDocument/2006/relationships/tags" Target="../tags/tag67.xml"/></Relationships>
</file>

<file path=ppt/slides/_rels/slide89.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hyperlink" Target="https://db-engines.com/en/ranking" TargetMode="External"/><Relationship Id="rId7" Type="http://schemas.openxmlformats.org/officeDocument/2006/relationships/image" Target="../media/image22.jpeg"/><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png"/><Relationship Id="rId9" Type="http://schemas.openxmlformats.org/officeDocument/2006/relationships/image" Target="../media/image24.png"/></Relationships>
</file>

<file path=ppt/slides/_rels/slide9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jpeg"/><Relationship Id="rId7" Type="http://schemas.openxmlformats.org/officeDocument/2006/relationships/image" Target="../media/image30.png"/><Relationship Id="rId12" Type="http://schemas.openxmlformats.org/officeDocument/2006/relationships/image" Target="../media/image34.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hyperlink" Target="https://www.modb.pro/dbRank" TargetMode="External"/><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91.xml.rels><?xml version="1.0" encoding="UTF-8" standalone="yes"?>
<Relationships xmlns="http://schemas.openxmlformats.org/package/2006/relationships"><Relationship Id="rId8" Type="http://schemas.openxmlformats.org/officeDocument/2006/relationships/tags" Target="../tags/tag75.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image" Target="../media/image8.tmp"/><Relationship Id="rId5" Type="http://schemas.openxmlformats.org/officeDocument/2006/relationships/tags" Target="../tags/tag72.xml"/><Relationship Id="rId10" Type="http://schemas.openxmlformats.org/officeDocument/2006/relationships/slideLayout" Target="../slideLayouts/slideLayout7.xml"/><Relationship Id="rId4" Type="http://schemas.openxmlformats.org/officeDocument/2006/relationships/tags" Target="../tags/tag71.xml"/><Relationship Id="rId9" Type="http://schemas.openxmlformats.org/officeDocument/2006/relationships/tags" Target="../tags/tag7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WordArt 21">
            <a:extLst>
              <a:ext uri="{FF2B5EF4-FFF2-40B4-BE49-F238E27FC236}">
                <a16:creationId xmlns:a16="http://schemas.microsoft.com/office/drawing/2014/main" id="{25F6B57A-E30E-4B9F-B0F8-92EB860DBA8A}"/>
              </a:ext>
            </a:extLst>
          </p:cNvPr>
          <p:cNvSpPr>
            <a:spLocks noChangeArrowheads="1" noChangeShapeType="1" noTextEdit="1"/>
          </p:cNvSpPr>
          <p:nvPr/>
        </p:nvSpPr>
        <p:spPr bwMode="auto">
          <a:xfrm>
            <a:off x="4001780" y="1628800"/>
            <a:ext cx="3966428" cy="731122"/>
          </a:xfrm>
          <a:prstGeom prst="rect">
            <a:avLst/>
          </a:prstGeom>
        </p:spPr>
        <p:txBody>
          <a:bodyPr wrap="none" fromWordArt="1">
            <a:prstTxWarp prst="textPlain">
              <a:avLst>
                <a:gd name="adj" fmla="val 50000"/>
              </a:avLst>
            </a:prstTxWarp>
          </a:bodyPr>
          <a:lstStyle/>
          <a:p>
            <a:pPr algn="dist">
              <a:defRPr/>
            </a:pPr>
            <a:r>
              <a:rPr lang="zh-CN" altLang="en-US" sz="2800" kern="10" dirty="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第 </a:t>
            </a:r>
            <a:r>
              <a:rPr lang="en-US" altLang="zh-CN" sz="2800" kern="10" dirty="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1 </a:t>
            </a:r>
            <a:r>
              <a:rPr lang="zh-CN" altLang="en-US" sz="2800" kern="10" dirty="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章</a:t>
            </a:r>
          </a:p>
        </p:txBody>
      </p:sp>
      <p:sp>
        <p:nvSpPr>
          <p:cNvPr id="11" name="标题 1">
            <a:extLst>
              <a:ext uri="{FF2B5EF4-FFF2-40B4-BE49-F238E27FC236}">
                <a16:creationId xmlns:a16="http://schemas.microsoft.com/office/drawing/2014/main" id="{8206223A-B9EA-4F16-9E59-346519381C8D}"/>
              </a:ext>
            </a:extLst>
          </p:cNvPr>
          <p:cNvSpPr>
            <a:spLocks noGrp="1"/>
          </p:cNvSpPr>
          <p:nvPr>
            <p:ph type="title"/>
          </p:nvPr>
        </p:nvSpPr>
        <p:spPr>
          <a:xfrm>
            <a:off x="1055440" y="3429000"/>
            <a:ext cx="10153128" cy="1475884"/>
          </a:xfrm>
        </p:spPr>
        <p:txBody>
          <a:bodyPr wrap="none" numCol="1" fromWordArt="1">
            <a:prstTxWarp prst="textPlain">
              <a:avLst>
                <a:gd name="adj" fmla="val 50000"/>
              </a:avLst>
            </a:prstTxWarp>
          </a:bodyPr>
          <a:lstStyle/>
          <a:p>
            <a:pPr algn="dist"/>
            <a:r>
              <a:rPr lang="zh-CN" altLang="en-US" sz="2800" kern="10" baseline="-25000" dirty="0">
                <a:ln w="19050" cap="sq">
                  <a:solidFill>
                    <a:schemeClr val="hlink"/>
                  </a:solidFill>
                  <a:round/>
                  <a:headEnd/>
                  <a:tailEnd/>
                </a:ln>
                <a:gradFill rotWithShape="1">
                  <a:gsLst>
                    <a:gs pos="0">
                      <a:srgbClr val="50080D"/>
                    </a:gs>
                    <a:gs pos="100000">
                      <a:srgbClr val="FF0000"/>
                    </a:gs>
                  </a:gsLst>
                  <a:lin ang="2700000" scaled="1"/>
                </a:gradFill>
                <a:effectLst>
                  <a:outerShdw dist="35921" dir="2700000" algn="ctr" rotWithShape="0">
                    <a:schemeClr val="bg2">
                      <a:alpha val="79999"/>
                    </a:schemeClr>
                  </a:outerShdw>
                </a:effectLst>
                <a:latin typeface="隶书"/>
                <a:ea typeface="隶书"/>
                <a:cs typeface="+mn-cs"/>
              </a:rPr>
              <a:t>数据库系统概述</a:t>
            </a:r>
          </a:p>
        </p:txBody>
      </p:sp>
    </p:spTree>
    <p:custDataLst>
      <p:tags r:id="rId1"/>
    </p:custDataLst>
    <p:extLst>
      <p:ext uri="{BB962C8B-B14F-4D97-AF65-F5344CB8AC3E}">
        <p14:creationId xmlns:p14="http://schemas.microsoft.com/office/powerpoint/2010/main" val="87987283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9785654-59B3-44F7-A66B-7E820D595562}"/>
              </a:ext>
            </a:extLst>
          </p:cNvPr>
          <p:cNvSpPr>
            <a:spLocks noGrp="1"/>
          </p:cNvSpPr>
          <p:nvPr>
            <p:ph idx="1"/>
          </p:nvPr>
        </p:nvSpPr>
        <p:spPr>
          <a:xfrm>
            <a:off x="2063552" y="2420888"/>
            <a:ext cx="10972800" cy="4054475"/>
          </a:xfrm>
        </p:spPr>
        <p:txBody>
          <a:bodyPr/>
          <a:lstStyle/>
          <a:p>
            <a:r>
              <a:rPr lang="zh-CN" altLang="en-US" sz="4400" b="1" dirty="0"/>
              <a:t>为什么学习数据库原理及应用？</a:t>
            </a:r>
          </a:p>
        </p:txBody>
      </p:sp>
    </p:spTree>
    <p:custDataLst>
      <p:tags r:id="rId1"/>
    </p:custDataLst>
    <p:extLst>
      <p:ext uri="{BB962C8B-B14F-4D97-AF65-F5344CB8AC3E}">
        <p14:creationId xmlns:p14="http://schemas.microsoft.com/office/powerpoint/2010/main" val="40942411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9785654-59B3-44F7-A66B-7E820D595562}"/>
              </a:ext>
            </a:extLst>
          </p:cNvPr>
          <p:cNvSpPr>
            <a:spLocks noGrp="1"/>
          </p:cNvSpPr>
          <p:nvPr>
            <p:ph idx="1"/>
          </p:nvPr>
        </p:nvSpPr>
        <p:spPr>
          <a:xfrm>
            <a:off x="551384" y="548680"/>
            <a:ext cx="10972800" cy="4054475"/>
          </a:xfrm>
        </p:spPr>
        <p:txBody>
          <a:bodyPr/>
          <a:lstStyle/>
          <a:p>
            <a:r>
              <a:rPr lang="zh-CN" altLang="en-US" dirty="0"/>
              <a:t>你每天会刷多少次朋友圈或短视频？每一次的点赞、评论、停留时长，去了哪里？</a:t>
            </a:r>
          </a:p>
          <a:p>
            <a:endParaRPr lang="zh-CN" altLang="en-US" dirty="0"/>
          </a:p>
          <a:p>
            <a:r>
              <a:rPr lang="zh-CN" altLang="en-US" dirty="0"/>
              <a:t>你最喜欢的电商平台，为什么总能“猜你喜欢”，精准地推荐你刚想买的东西？</a:t>
            </a:r>
          </a:p>
          <a:p>
            <a:endParaRPr lang="zh-CN" altLang="en-US" dirty="0"/>
          </a:p>
          <a:p>
            <a:r>
              <a:rPr lang="zh-CN" altLang="en-US" dirty="0"/>
              <a:t>我们专业最常挂在嘴边的“大数据”，它的“大”，不仅仅是体积大，那它究竟以何种形态存在，才能被计算、被分析、被价值化？</a:t>
            </a:r>
          </a:p>
        </p:txBody>
      </p:sp>
    </p:spTree>
    <p:extLst>
      <p:ext uri="{BB962C8B-B14F-4D97-AF65-F5344CB8AC3E}">
        <p14:creationId xmlns:p14="http://schemas.microsoft.com/office/powerpoint/2010/main" val="15688181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387D692-45AB-4F10-9F3A-A2E40A3341FF}"/>
              </a:ext>
            </a:extLst>
          </p:cNvPr>
          <p:cNvSpPr>
            <a:spLocks noGrp="1"/>
          </p:cNvSpPr>
          <p:nvPr>
            <p:ph idx="1"/>
          </p:nvPr>
        </p:nvSpPr>
        <p:spPr>
          <a:xfrm>
            <a:off x="609600" y="980728"/>
            <a:ext cx="10972800" cy="4054475"/>
          </a:xfrm>
        </p:spPr>
        <p:txBody>
          <a:bodyPr/>
          <a:lstStyle/>
          <a:p>
            <a:r>
              <a:rPr lang="zh-CN" altLang="en-US" sz="2800" dirty="0"/>
              <a:t>这些问题的答案，都指向我们今天这门课的</a:t>
            </a:r>
            <a:r>
              <a:rPr lang="zh-CN" altLang="en-US" sz="2800" dirty="0">
                <a:solidFill>
                  <a:srgbClr val="FF0000"/>
                </a:solidFill>
              </a:rPr>
              <a:t>基石</a:t>
            </a:r>
            <a:r>
              <a:rPr lang="en-US" altLang="zh-CN" sz="2800" dirty="0"/>
              <a:t>——</a:t>
            </a:r>
            <a:r>
              <a:rPr lang="zh-CN" altLang="en-US" sz="2800" dirty="0"/>
              <a:t>数据库</a:t>
            </a:r>
            <a:endParaRPr lang="en-US" altLang="zh-CN" sz="2800" dirty="0"/>
          </a:p>
          <a:p>
            <a:endParaRPr lang="en-US" altLang="zh-CN" sz="2800" dirty="0"/>
          </a:p>
          <a:p>
            <a:r>
              <a:rPr lang="zh-CN" altLang="en-US" sz="3600" b="1" dirty="0"/>
              <a:t>“数据科学”约等于强大的</a:t>
            </a:r>
            <a:r>
              <a:rPr lang="en-US" altLang="zh-CN" sz="3600" b="1" dirty="0"/>
              <a:t>AI</a:t>
            </a:r>
            <a:r>
              <a:rPr lang="zh-CN" altLang="en-US" sz="3600" b="1" dirty="0"/>
              <a:t>模型和震撼的可视化大屏酷炫的算法？</a:t>
            </a:r>
            <a:endParaRPr lang="en-US" altLang="zh-CN" sz="3600" b="1" dirty="0"/>
          </a:p>
          <a:p>
            <a:endParaRPr lang="en-US" altLang="zh-CN" sz="3600" b="1" dirty="0"/>
          </a:p>
          <a:p>
            <a:r>
              <a:rPr lang="zh-CN" altLang="en-US" dirty="0"/>
              <a:t>算法再精巧，也无法从一堆乱麻中找出规律；</a:t>
            </a:r>
            <a:endParaRPr lang="en-US" altLang="zh-CN" dirty="0"/>
          </a:p>
          <a:p>
            <a:r>
              <a:rPr lang="en-US" altLang="zh-CN" dirty="0"/>
              <a:t>AI</a:t>
            </a:r>
            <a:r>
              <a:rPr lang="zh-CN" altLang="en-US" dirty="0"/>
              <a:t>模型再强大，没有高质量、有组织的数据“喂养”，也只会是一个昂贵的“人工智障”。</a:t>
            </a:r>
          </a:p>
        </p:txBody>
      </p:sp>
    </p:spTree>
    <p:extLst>
      <p:ext uri="{BB962C8B-B14F-4D97-AF65-F5344CB8AC3E}">
        <p14:creationId xmlns:p14="http://schemas.microsoft.com/office/powerpoint/2010/main" val="34067230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983432" y="1052736"/>
            <a:ext cx="10513168"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tx2"/>
              </a:buClr>
              <a:buSzPct val="90000"/>
              <a:buFont typeface="Symbol" pitchFamily="18"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eaLnBrk="1" hangingPunct="1">
              <a:lnSpc>
                <a:spcPct val="150000"/>
              </a:lnSpc>
              <a:spcBef>
                <a:spcPct val="0"/>
              </a:spcBef>
              <a:buClrTx/>
              <a:buSzTx/>
              <a:buNone/>
              <a:defRPr/>
            </a:pPr>
            <a:r>
              <a:rPr lang="zh-CN" altLang="en-US" sz="2400" b="1" baseline="0" dirty="0">
                <a:latin typeface="微软雅黑" pitchFamily="34" charset="-122"/>
                <a:ea typeface="微软雅黑" pitchFamily="34" charset="-122"/>
              </a:rPr>
              <a:t>数据科学与大数据技术专业要求学生具有扎实的数理和计算机基础，系统掌握大数据科学</a:t>
            </a:r>
            <a:r>
              <a:rPr lang="zh-CN" altLang="en-US" sz="2400" b="1" baseline="0" dirty="0">
                <a:solidFill>
                  <a:srgbClr val="FF0000"/>
                </a:solidFill>
                <a:latin typeface="微软雅黑" pitchFamily="34" charset="-122"/>
                <a:ea typeface="微软雅黑" pitchFamily="34" charset="-122"/>
              </a:rPr>
              <a:t>基本理论、方法和技术，</a:t>
            </a:r>
            <a:r>
              <a:rPr lang="zh-CN" altLang="en-US" sz="2400" b="1" baseline="0" dirty="0">
                <a:latin typeface="微软雅黑" pitchFamily="34" charset="-122"/>
                <a:ea typeface="微软雅黑" pitchFamily="34" charset="-122"/>
              </a:rPr>
              <a:t>成为具有较强的工程实践能力和创新意识，具备较强的大数据探索性分析与设计开发能力，能够运用专</a:t>
            </a:r>
          </a:p>
          <a:p>
            <a:pPr marL="0" indent="0" eaLnBrk="1" hangingPunct="1">
              <a:lnSpc>
                <a:spcPct val="150000"/>
              </a:lnSpc>
              <a:spcBef>
                <a:spcPct val="0"/>
              </a:spcBef>
              <a:buClrTx/>
              <a:buSzTx/>
              <a:buNone/>
              <a:defRPr/>
            </a:pPr>
            <a:r>
              <a:rPr lang="zh-CN" altLang="en-US" sz="2400" b="1" baseline="0" dirty="0">
                <a:latin typeface="微软雅黑" pitchFamily="34" charset="-122"/>
                <a:ea typeface="微软雅黑" pitchFamily="34" charset="-122"/>
              </a:rPr>
              <a:t>业知识分析和解决大数据领域复杂工程问题的复合型人才。</a:t>
            </a:r>
            <a:endParaRPr lang="en-US" altLang="zh-CN" sz="2400" b="1" baseline="0" dirty="0">
              <a:latin typeface="微软雅黑" pitchFamily="34" charset="-122"/>
              <a:ea typeface="微软雅黑" pitchFamily="34" charset="-122"/>
            </a:endParaRPr>
          </a:p>
          <a:p>
            <a:pPr marL="0" indent="0" eaLnBrk="1" hangingPunct="1">
              <a:lnSpc>
                <a:spcPct val="150000"/>
              </a:lnSpc>
              <a:spcBef>
                <a:spcPct val="0"/>
              </a:spcBef>
              <a:buClrTx/>
              <a:buSzTx/>
              <a:buNone/>
              <a:defRPr/>
            </a:pPr>
            <a:r>
              <a:rPr lang="zh-CN" altLang="en-US" sz="2400" b="1" baseline="0" dirty="0">
                <a:latin typeface="微软雅黑" pitchFamily="34" charset="-122"/>
                <a:ea typeface="微软雅黑" pitchFamily="34" charset="-122"/>
              </a:rPr>
              <a:t>“数据库原理与应用”是高等院校计算机及其相关专业的一门重要的主干课程，是计算机相关专业的学生必须掌握的</a:t>
            </a:r>
            <a:r>
              <a:rPr lang="zh-CN" altLang="en-US" sz="2400" b="1" baseline="0" dirty="0">
                <a:solidFill>
                  <a:srgbClr val="FF0000"/>
                </a:solidFill>
                <a:latin typeface="微软雅黑" pitchFamily="34" charset="-122"/>
                <a:ea typeface="微软雅黑" pitchFamily="34" charset="-122"/>
              </a:rPr>
              <a:t>专业必修课程</a:t>
            </a:r>
            <a:r>
              <a:rPr lang="zh-CN" altLang="en-US" sz="2400" b="1" baseline="0" dirty="0">
                <a:latin typeface="微软雅黑" pitchFamily="34" charset="-122"/>
                <a:ea typeface="微软雅黑" pitchFamily="34" charset="-122"/>
              </a:rPr>
              <a:t>。</a:t>
            </a:r>
          </a:p>
        </p:txBody>
      </p:sp>
    </p:spTree>
    <p:extLst>
      <p:ext uri="{BB962C8B-B14F-4D97-AF65-F5344CB8AC3E}">
        <p14:creationId xmlns:p14="http://schemas.microsoft.com/office/powerpoint/2010/main" val="38038684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1343472" y="476672"/>
            <a:ext cx="9433048"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tx2"/>
              </a:buClr>
              <a:buSzPct val="90000"/>
              <a:buFont typeface="Symbol" pitchFamily="18"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lnSpc>
                <a:spcPct val="150000"/>
              </a:lnSpc>
              <a:buClr>
                <a:srgbClr val="333399"/>
              </a:buClr>
              <a:defRPr/>
            </a:pPr>
            <a:r>
              <a:rPr lang="zh-CN" altLang="en-US" sz="2400" b="1" baseline="0" dirty="0">
                <a:latin typeface="微软雅黑" pitchFamily="34" charset="-122"/>
                <a:ea typeface="微软雅黑" pitchFamily="34" charset="-122"/>
              </a:rPr>
              <a:t>对于我们数据科学与大数据技术专业的学生来说，学习数据库，是你必须掌握的“生存技能”：</a:t>
            </a:r>
            <a:endParaRPr lang="en-US" altLang="zh-CN" sz="2400" b="1" baseline="0" dirty="0">
              <a:solidFill>
                <a:srgbClr val="FF0000"/>
              </a:solidFill>
              <a:latin typeface="微软雅黑" pitchFamily="34" charset="-122"/>
              <a:ea typeface="微软雅黑" pitchFamily="34" charset="-122"/>
            </a:endParaRPr>
          </a:p>
          <a:p>
            <a:pPr eaLnBrk="1" hangingPunct="1">
              <a:lnSpc>
                <a:spcPct val="150000"/>
              </a:lnSpc>
              <a:buClr>
                <a:srgbClr val="333399"/>
              </a:buClr>
              <a:defRPr/>
            </a:pPr>
            <a:endParaRPr lang="en-US" altLang="zh-CN" sz="2400" b="1" baseline="0" dirty="0">
              <a:solidFill>
                <a:srgbClr val="FF0000"/>
              </a:solidFill>
              <a:latin typeface="微软雅黑" pitchFamily="34" charset="-122"/>
              <a:ea typeface="微软雅黑" pitchFamily="34" charset="-122"/>
            </a:endParaRPr>
          </a:p>
          <a:p>
            <a:pPr eaLnBrk="1" hangingPunct="1">
              <a:lnSpc>
                <a:spcPct val="150000"/>
              </a:lnSpc>
              <a:buClr>
                <a:srgbClr val="333399"/>
              </a:buClr>
              <a:buFont typeface="Wingdings" panose="05000000000000000000" pitchFamily="2" charset="2"/>
              <a:buChar char="Ø"/>
              <a:defRPr/>
            </a:pPr>
            <a:r>
              <a:rPr lang="zh-CN" altLang="en-US" sz="1800" baseline="0" dirty="0">
                <a:solidFill>
                  <a:srgbClr val="FFFF00"/>
                </a:solidFill>
                <a:latin typeface="微软雅黑" pitchFamily="34" charset="-122"/>
                <a:ea typeface="微软雅黑" pitchFamily="34" charset="-122"/>
              </a:rPr>
              <a:t>它是我们的“地基”：不理解数据如何被高效、可靠、安全地存储和管理，你未来构建的所有数据分析和机器学习模型都将是空中楼阁。</a:t>
            </a:r>
          </a:p>
          <a:p>
            <a:pPr eaLnBrk="1" hangingPunct="1">
              <a:lnSpc>
                <a:spcPct val="150000"/>
              </a:lnSpc>
              <a:buClr>
                <a:srgbClr val="333399"/>
              </a:buClr>
              <a:buFont typeface="Wingdings" panose="05000000000000000000" pitchFamily="2" charset="2"/>
              <a:buChar char="Ø"/>
              <a:defRPr/>
            </a:pPr>
            <a:endParaRPr lang="zh-CN" altLang="en-US" sz="1800" baseline="0" dirty="0">
              <a:solidFill>
                <a:srgbClr val="FFFF00"/>
              </a:solidFill>
              <a:latin typeface="微软雅黑" pitchFamily="34" charset="-122"/>
              <a:ea typeface="微软雅黑" pitchFamily="34" charset="-122"/>
            </a:endParaRPr>
          </a:p>
          <a:p>
            <a:pPr eaLnBrk="1" hangingPunct="1">
              <a:lnSpc>
                <a:spcPct val="150000"/>
              </a:lnSpc>
              <a:buClr>
                <a:srgbClr val="333399"/>
              </a:buClr>
              <a:buFont typeface="Wingdings" panose="05000000000000000000" pitchFamily="2" charset="2"/>
              <a:buChar char="Ø"/>
              <a:defRPr/>
            </a:pPr>
            <a:r>
              <a:rPr lang="zh-CN" altLang="en-US" sz="1800" baseline="0" dirty="0">
                <a:solidFill>
                  <a:srgbClr val="FFFF00"/>
                </a:solidFill>
                <a:latin typeface="微软雅黑" pitchFamily="34" charset="-122"/>
                <a:ea typeface="微软雅黑" pitchFamily="34" charset="-122"/>
              </a:rPr>
              <a:t>它是我们的“语言”：</a:t>
            </a:r>
            <a:r>
              <a:rPr lang="en-US" altLang="zh-CN" sz="1800" baseline="0" dirty="0">
                <a:solidFill>
                  <a:srgbClr val="FFFF00"/>
                </a:solidFill>
                <a:latin typeface="微软雅黑" pitchFamily="34" charset="-122"/>
                <a:ea typeface="微软雅黑" pitchFamily="34" charset="-122"/>
              </a:rPr>
              <a:t>SQL</a:t>
            </a:r>
            <a:r>
              <a:rPr lang="zh-CN" altLang="en-US" sz="1800" baseline="0" dirty="0">
                <a:solidFill>
                  <a:srgbClr val="FFFF00"/>
                </a:solidFill>
                <a:latin typeface="微软雅黑" pitchFamily="34" charset="-122"/>
                <a:ea typeface="微软雅黑" pitchFamily="34" charset="-122"/>
              </a:rPr>
              <a:t>是与数据对话的全球通用语言。无法流畅地使用</a:t>
            </a:r>
            <a:r>
              <a:rPr lang="en-US" altLang="zh-CN" sz="1800" baseline="0" dirty="0">
                <a:solidFill>
                  <a:srgbClr val="FFFF00"/>
                </a:solidFill>
                <a:latin typeface="微软雅黑" pitchFamily="34" charset="-122"/>
                <a:ea typeface="微软雅黑" pitchFamily="34" charset="-122"/>
              </a:rPr>
              <a:t>SQL</a:t>
            </a:r>
            <a:r>
              <a:rPr lang="zh-CN" altLang="en-US" sz="1800" baseline="0" dirty="0">
                <a:solidFill>
                  <a:srgbClr val="FFFF00"/>
                </a:solidFill>
                <a:latin typeface="微软雅黑" pitchFamily="34" charset="-122"/>
                <a:ea typeface="微软雅黑" pitchFamily="34" charset="-122"/>
              </a:rPr>
              <a:t>从数据库中“要”数据，就像厨师没有食材，巧妇难为无米之炊。</a:t>
            </a:r>
          </a:p>
          <a:p>
            <a:pPr eaLnBrk="1" hangingPunct="1">
              <a:lnSpc>
                <a:spcPct val="150000"/>
              </a:lnSpc>
              <a:buClr>
                <a:srgbClr val="333399"/>
              </a:buClr>
              <a:buFont typeface="Wingdings" panose="05000000000000000000" pitchFamily="2" charset="2"/>
              <a:buChar char="Ø"/>
              <a:defRPr/>
            </a:pPr>
            <a:endParaRPr lang="zh-CN" altLang="en-US" sz="1800" baseline="0" dirty="0">
              <a:solidFill>
                <a:srgbClr val="FFFF00"/>
              </a:solidFill>
              <a:latin typeface="微软雅黑" pitchFamily="34" charset="-122"/>
              <a:ea typeface="微软雅黑" pitchFamily="34" charset="-122"/>
            </a:endParaRPr>
          </a:p>
          <a:p>
            <a:pPr eaLnBrk="1" hangingPunct="1">
              <a:lnSpc>
                <a:spcPct val="150000"/>
              </a:lnSpc>
              <a:buClr>
                <a:srgbClr val="333399"/>
              </a:buClr>
              <a:buFont typeface="Wingdings" panose="05000000000000000000" pitchFamily="2" charset="2"/>
              <a:buChar char="Ø"/>
              <a:defRPr/>
            </a:pPr>
            <a:r>
              <a:rPr lang="zh-CN" altLang="en-US" sz="1800" baseline="0" dirty="0">
                <a:solidFill>
                  <a:srgbClr val="FFFF00"/>
                </a:solidFill>
                <a:latin typeface="微软雅黑" pitchFamily="34" charset="-122"/>
                <a:ea typeface="微软雅黑" pitchFamily="34" charset="-122"/>
              </a:rPr>
              <a:t>它是我们的“效率引擎”：面对亿级别的数据，如何实现毫秒级的查询？如何设计表结构？如何优化查询效率？这些都将直接决定你未来工作的产出速度和专业水平。    </a:t>
            </a:r>
          </a:p>
          <a:p>
            <a:pPr eaLnBrk="1" hangingPunct="1">
              <a:lnSpc>
                <a:spcPct val="150000"/>
              </a:lnSpc>
              <a:buClr>
                <a:srgbClr val="333399"/>
              </a:buClr>
              <a:defRPr/>
            </a:pPr>
            <a:endParaRPr lang="zh-CN" altLang="en-US" sz="2400" b="1" baseline="0" dirty="0">
              <a:solidFill>
                <a:srgbClr val="000000"/>
              </a:solidFill>
              <a:latin typeface="微软雅黑" pitchFamily="34" charset="-122"/>
              <a:ea typeface="微软雅黑" pitchFamily="34"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1199456" y="332656"/>
            <a:ext cx="10513168"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tx2"/>
              </a:buClr>
              <a:buSzPct val="90000"/>
              <a:buFont typeface="Symbol" pitchFamily="18"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342900" marR="0" lvl="0" indent="-342900" algn="l" defTabSz="914400" rtl="0" eaLnBrk="1" fontAlgn="base" latinLnBrk="0" hangingPunct="1">
              <a:lnSpc>
                <a:spcPct val="150000"/>
              </a:lnSpc>
              <a:spcBef>
                <a:spcPct val="20000"/>
              </a:spcBef>
              <a:spcAft>
                <a:spcPct val="0"/>
              </a:spcAft>
              <a:buClr>
                <a:srgbClr val="333399"/>
              </a:buClr>
              <a:buSzPct val="90000"/>
              <a:buFont typeface="Symbol" pitchFamily="18" charset="2"/>
              <a:buChar char="¨"/>
              <a:tabLst/>
              <a:defRPr/>
            </a:pPr>
            <a:r>
              <a:rPr kumimoji="1" lang="zh-CN" altLang="en-US" sz="2400" b="1"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n-cs"/>
              </a:rPr>
              <a:t>在我们接下来的课程中，我们将一起：</a:t>
            </a:r>
            <a:endParaRPr kumimoji="1" lang="en-US" altLang="zh-CN" sz="2400" b="1"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endParaRPr>
          </a:p>
          <a:p>
            <a:pPr marL="342900" marR="0" lvl="0" indent="-342900" algn="l" defTabSz="914400" rtl="0" eaLnBrk="1" fontAlgn="base" latinLnBrk="0" hangingPunct="1">
              <a:lnSpc>
                <a:spcPct val="150000"/>
              </a:lnSpc>
              <a:spcBef>
                <a:spcPct val="20000"/>
              </a:spcBef>
              <a:spcAft>
                <a:spcPct val="0"/>
              </a:spcAft>
              <a:buClr>
                <a:srgbClr val="333399"/>
              </a:buClr>
              <a:buSzPct val="90000"/>
              <a:buFont typeface="Symbol" pitchFamily="18" charset="2"/>
              <a:buChar char="¨"/>
              <a:tabLst/>
              <a:defRPr/>
            </a:pPr>
            <a:endParaRPr kumimoji="1" lang="en-US" altLang="zh-CN" sz="2400" b="1" i="0" u="none" strike="noStrike" kern="1200" cap="none" spc="0" normalizeH="0" baseline="0" noProof="0" dirty="0">
              <a:ln>
                <a:noFill/>
              </a:ln>
              <a:solidFill>
                <a:srgbClr val="FF0000"/>
              </a:solidFill>
              <a:effectLst/>
              <a:uLnTx/>
              <a:uFillTx/>
              <a:latin typeface="微软雅黑" pitchFamily="34" charset="-122"/>
              <a:ea typeface="微软雅黑" pitchFamily="34" charset="-122"/>
              <a:cs typeface="+mn-cs"/>
            </a:endParaRPr>
          </a:p>
          <a:p>
            <a:pPr marL="342900" marR="0" lvl="0" indent="-342900" algn="l" defTabSz="914400" rtl="0" eaLnBrk="1" fontAlgn="base" latinLnBrk="0" hangingPunct="1">
              <a:lnSpc>
                <a:spcPct val="150000"/>
              </a:lnSpc>
              <a:spcBef>
                <a:spcPct val="20000"/>
              </a:spcBef>
              <a:spcAft>
                <a:spcPct val="0"/>
              </a:spcAft>
              <a:buClr>
                <a:srgbClr val="333399"/>
              </a:buClr>
              <a:buSzPct val="90000"/>
              <a:buFont typeface="Wingdings" panose="05000000000000000000" pitchFamily="2" charset="2"/>
              <a:buChar char="Ø"/>
              <a:tabLst/>
              <a:defRPr/>
            </a:pPr>
            <a:r>
              <a:rPr kumimoji="1" lang="zh-CN" altLang="en-US"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探秘原理：从关系型数据库的经典理论（</a:t>
            </a:r>
            <a:r>
              <a:rPr kumimoji="1" lang="en-US" altLang="zh-CN"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ACID</a:t>
            </a:r>
            <a:r>
              <a:rPr kumimoji="1" lang="zh-CN" altLang="en-US"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、范式、</a:t>
            </a:r>
            <a:r>
              <a:rPr kumimoji="1" lang="en-US" altLang="zh-CN"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ER</a:t>
            </a:r>
            <a:r>
              <a:rPr kumimoji="1" lang="zh-CN" altLang="en-US"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模型）到现代</a:t>
            </a:r>
            <a:r>
              <a:rPr kumimoji="1" lang="en-US" altLang="zh-CN"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NoSQL</a:t>
            </a:r>
            <a:r>
              <a:rPr kumimoji="1" lang="zh-CN" altLang="en-US"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a:t>
            </a:r>
            <a:r>
              <a:rPr kumimoji="1" lang="en-US" altLang="zh-CN"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NewSQL</a:t>
            </a:r>
            <a:r>
              <a:rPr kumimoji="1" lang="zh-CN" altLang="en-US"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的分布式架构，理解数据管理的核心思想。</a:t>
            </a:r>
          </a:p>
          <a:p>
            <a:pPr marL="342900" marR="0" lvl="0" indent="-342900" algn="l" defTabSz="914400" rtl="0" eaLnBrk="1" fontAlgn="base" latinLnBrk="0" hangingPunct="1">
              <a:lnSpc>
                <a:spcPct val="150000"/>
              </a:lnSpc>
              <a:spcBef>
                <a:spcPct val="20000"/>
              </a:spcBef>
              <a:spcAft>
                <a:spcPct val="0"/>
              </a:spcAft>
              <a:buClr>
                <a:srgbClr val="333399"/>
              </a:buClr>
              <a:buSzPct val="90000"/>
              <a:buFont typeface="Wingdings" panose="05000000000000000000" pitchFamily="2" charset="2"/>
              <a:buChar char="Ø"/>
              <a:tabLst/>
              <a:defRPr/>
            </a:pPr>
            <a:endParaRPr kumimoji="1" lang="zh-CN" altLang="en-US"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endParaRPr>
          </a:p>
          <a:p>
            <a:pPr marL="342900" marR="0" lvl="0" indent="-342900" algn="l" defTabSz="914400" rtl="0" eaLnBrk="1" fontAlgn="base" latinLnBrk="0" hangingPunct="1">
              <a:lnSpc>
                <a:spcPct val="150000"/>
              </a:lnSpc>
              <a:spcBef>
                <a:spcPct val="20000"/>
              </a:spcBef>
              <a:spcAft>
                <a:spcPct val="0"/>
              </a:spcAft>
              <a:buClr>
                <a:srgbClr val="333399"/>
              </a:buClr>
              <a:buSzPct val="90000"/>
              <a:buFont typeface="Wingdings" panose="05000000000000000000" pitchFamily="2" charset="2"/>
              <a:buChar char="Ø"/>
              <a:tabLst/>
              <a:defRPr/>
            </a:pPr>
            <a:r>
              <a:rPr kumimoji="1" lang="zh-CN" altLang="en-US"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掌握利器：亲手安装、配置、操作主流数据库（如</a:t>
            </a:r>
            <a:r>
              <a:rPr kumimoji="1" lang="en-US" altLang="zh-CN"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MySQL, PostgreSQL</a:t>
            </a:r>
            <a:r>
              <a:rPr kumimoji="1" lang="zh-CN" altLang="en-US"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等），将理论付诸实践。</a:t>
            </a:r>
          </a:p>
          <a:p>
            <a:pPr marL="342900" marR="0" lvl="0" indent="-342900" algn="l" defTabSz="914400" rtl="0" eaLnBrk="1" fontAlgn="base" latinLnBrk="0" hangingPunct="1">
              <a:lnSpc>
                <a:spcPct val="150000"/>
              </a:lnSpc>
              <a:spcBef>
                <a:spcPct val="20000"/>
              </a:spcBef>
              <a:spcAft>
                <a:spcPct val="0"/>
              </a:spcAft>
              <a:buClr>
                <a:srgbClr val="333399"/>
              </a:buClr>
              <a:buSzPct val="90000"/>
              <a:buFont typeface="Wingdings" panose="05000000000000000000" pitchFamily="2" charset="2"/>
              <a:buChar char="Ø"/>
              <a:tabLst/>
              <a:defRPr/>
            </a:pPr>
            <a:endParaRPr kumimoji="1" lang="zh-CN" altLang="en-US"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endParaRPr>
          </a:p>
          <a:p>
            <a:pPr marL="342900" marR="0" lvl="0" indent="-342900" algn="l" defTabSz="914400" rtl="0" eaLnBrk="1" fontAlgn="base" latinLnBrk="0" hangingPunct="1">
              <a:lnSpc>
                <a:spcPct val="150000"/>
              </a:lnSpc>
              <a:spcBef>
                <a:spcPct val="20000"/>
              </a:spcBef>
              <a:spcAft>
                <a:spcPct val="0"/>
              </a:spcAft>
              <a:buClr>
                <a:srgbClr val="333399"/>
              </a:buClr>
              <a:buSzPct val="90000"/>
              <a:buFont typeface="Wingdings" panose="05000000000000000000" pitchFamily="2" charset="2"/>
              <a:buChar char="Ø"/>
              <a:tabLst/>
              <a:defRPr/>
            </a:pPr>
            <a:r>
              <a:rPr kumimoji="1" lang="zh-CN" altLang="en-US"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锤炼思维：学习如何像一位“数据架构师”一样思考，为不同的业务场景设计最合适、最高效的数据存储方案。    </a:t>
            </a:r>
            <a:endParaRPr kumimoji="1" lang="en-US" altLang="zh-CN"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endParaRPr>
          </a:p>
          <a:p>
            <a:pPr marL="342900" marR="0" lvl="0" indent="-342900" algn="l" defTabSz="914400" rtl="0" eaLnBrk="1" fontAlgn="base" latinLnBrk="0" hangingPunct="1">
              <a:lnSpc>
                <a:spcPct val="150000"/>
              </a:lnSpc>
              <a:spcBef>
                <a:spcPct val="20000"/>
              </a:spcBef>
              <a:spcAft>
                <a:spcPct val="0"/>
              </a:spcAft>
              <a:buClr>
                <a:srgbClr val="333399"/>
              </a:buClr>
              <a:buSzPct val="90000"/>
              <a:buFont typeface="Wingdings" panose="05000000000000000000" pitchFamily="2" charset="2"/>
              <a:buChar char="Ø"/>
              <a:tabLst/>
              <a:defRPr/>
            </a:pPr>
            <a:endParaRPr kumimoji="1" lang="en-US" altLang="zh-CN"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endParaRPr>
          </a:p>
          <a:p>
            <a:pPr marL="342900" marR="0" lvl="0" indent="-342900" algn="l" defTabSz="914400" rtl="0" eaLnBrk="1" fontAlgn="base" latinLnBrk="0" hangingPunct="1">
              <a:lnSpc>
                <a:spcPct val="150000"/>
              </a:lnSpc>
              <a:spcBef>
                <a:spcPct val="20000"/>
              </a:spcBef>
              <a:spcAft>
                <a:spcPct val="0"/>
              </a:spcAft>
              <a:buClr>
                <a:srgbClr val="333399"/>
              </a:buClr>
              <a:buSzPct val="90000"/>
              <a:buFont typeface="Wingdings" panose="05000000000000000000" pitchFamily="2" charset="2"/>
              <a:buChar char="Ø"/>
              <a:tabLst/>
              <a:defRPr/>
            </a:pPr>
            <a:r>
              <a:rPr kumimoji="1" lang="zh-CN" altLang="en-US"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对接前沿：探讨数据库技术如何支撑起大数据生态（</a:t>
            </a:r>
            <a:r>
              <a:rPr kumimoji="1" lang="en-US" altLang="zh-CN"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Hadoop, Spark</a:t>
            </a:r>
            <a:r>
              <a:rPr kumimoji="1" lang="zh-CN" altLang="en-US" sz="1800" b="0" i="0" u="none" strike="noStrike" kern="1200" cap="none" spc="0" normalizeH="0" baseline="0" noProof="0" dirty="0">
                <a:ln>
                  <a:noFill/>
                </a:ln>
                <a:solidFill>
                  <a:srgbClr val="FFFF00"/>
                </a:solidFill>
                <a:effectLst/>
                <a:uLnTx/>
                <a:uFillTx/>
                <a:latin typeface="微软雅黑" pitchFamily="34" charset="-122"/>
                <a:ea typeface="微软雅黑" pitchFamily="34" charset="-122"/>
                <a:cs typeface="+mn-cs"/>
              </a:rPr>
              <a:t>）、数据仓库、数据湖等你们未来会频繁接触的概念</a:t>
            </a:r>
          </a:p>
          <a:p>
            <a:pPr marL="342900" marR="0" lvl="0" indent="-342900" algn="l" defTabSz="914400" rtl="0" eaLnBrk="1" fontAlgn="base" latinLnBrk="0" hangingPunct="1">
              <a:lnSpc>
                <a:spcPct val="150000"/>
              </a:lnSpc>
              <a:spcBef>
                <a:spcPct val="20000"/>
              </a:spcBef>
              <a:spcAft>
                <a:spcPct val="0"/>
              </a:spcAft>
              <a:buClr>
                <a:srgbClr val="333399"/>
              </a:buClr>
              <a:buSzPct val="90000"/>
              <a:buFont typeface="Symbol" pitchFamily="18" charset="2"/>
              <a:buChar char="¨"/>
              <a:tabLst/>
              <a:defRPr/>
            </a:pPr>
            <a:endParaRPr kumimoji="1" lang="zh-CN" altLang="en-US" sz="2400" b="1"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mn-cs"/>
            </a:endParaRPr>
          </a:p>
        </p:txBody>
      </p:sp>
    </p:spTree>
    <p:extLst>
      <p:ext uri="{BB962C8B-B14F-4D97-AF65-F5344CB8AC3E}">
        <p14:creationId xmlns:p14="http://schemas.microsoft.com/office/powerpoint/2010/main" val="39803976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64AB6EC-3F82-47DC-9D79-62B07632B6E5}"/>
              </a:ext>
            </a:extLst>
          </p:cNvPr>
          <p:cNvSpPr>
            <a:spLocks noGrp="1" noChangeArrowheads="1"/>
          </p:cNvSpPr>
          <p:nvPr>
            <p:ph type="ctrTitle"/>
          </p:nvPr>
        </p:nvSpPr>
        <p:spPr>
          <a:xfrm>
            <a:off x="3124200" y="908720"/>
            <a:ext cx="5827236" cy="707886"/>
          </a:xfrm>
        </p:spPr>
        <p:txBody>
          <a:bodyPr/>
          <a:lstStyle/>
          <a:p>
            <a:pPr eaLnBrk="1" hangingPunct="1"/>
            <a:r>
              <a:rPr lang="zh-CN" altLang="en-US" dirty="0"/>
              <a:t>第一章：数据库系统概述</a:t>
            </a:r>
          </a:p>
        </p:txBody>
      </p:sp>
      <p:sp>
        <p:nvSpPr>
          <p:cNvPr id="4099" name="Rectangle 3">
            <a:extLst>
              <a:ext uri="{FF2B5EF4-FFF2-40B4-BE49-F238E27FC236}">
                <a16:creationId xmlns:a16="http://schemas.microsoft.com/office/drawing/2014/main" id="{A2820678-BC02-49AA-9DDE-4DA156B7ECFD}"/>
              </a:ext>
            </a:extLst>
          </p:cNvPr>
          <p:cNvSpPr>
            <a:spLocks noGrp="1" noChangeArrowheads="1"/>
          </p:cNvSpPr>
          <p:nvPr>
            <p:ph type="subTitle" idx="1"/>
          </p:nvPr>
        </p:nvSpPr>
        <p:spPr>
          <a:xfrm>
            <a:off x="3276600" y="1737325"/>
            <a:ext cx="7010400" cy="3733800"/>
          </a:xfrm>
        </p:spPr>
        <p:txBody>
          <a:bodyPr/>
          <a:lstStyle/>
          <a:p>
            <a:pPr algn="l" eaLnBrk="1" hangingPunct="1">
              <a:lnSpc>
                <a:spcPct val="90000"/>
              </a:lnSpc>
            </a:pPr>
            <a:r>
              <a:rPr lang="en-US" altLang="zh-CN" dirty="0"/>
              <a:t>1.1</a:t>
            </a:r>
            <a:r>
              <a:rPr lang="zh-CN" altLang="en-US" dirty="0"/>
              <a:t>、引言</a:t>
            </a:r>
          </a:p>
          <a:p>
            <a:pPr algn="l" eaLnBrk="1" hangingPunct="1">
              <a:lnSpc>
                <a:spcPct val="90000"/>
              </a:lnSpc>
            </a:pPr>
            <a:r>
              <a:rPr lang="en-US" altLang="zh-CN" dirty="0"/>
              <a:t>1.2</a:t>
            </a:r>
            <a:r>
              <a:rPr lang="zh-CN" altLang="en-US" dirty="0"/>
              <a:t>、数据库技术的产生和发展</a:t>
            </a:r>
          </a:p>
          <a:p>
            <a:pPr algn="l" eaLnBrk="1" hangingPunct="1">
              <a:lnSpc>
                <a:spcPct val="90000"/>
              </a:lnSpc>
            </a:pPr>
            <a:r>
              <a:rPr lang="en-US" altLang="zh-CN" dirty="0"/>
              <a:t>1.3</a:t>
            </a:r>
            <a:r>
              <a:rPr lang="zh-CN" altLang="en-US" dirty="0"/>
              <a:t>、数据库系统体系结构</a:t>
            </a:r>
          </a:p>
          <a:p>
            <a:pPr algn="l" eaLnBrk="1" hangingPunct="1">
              <a:lnSpc>
                <a:spcPct val="90000"/>
              </a:lnSpc>
            </a:pPr>
            <a:r>
              <a:rPr lang="en-US" altLang="zh-CN" dirty="0"/>
              <a:t>1.4</a:t>
            </a:r>
            <a:r>
              <a:rPr lang="zh-CN" altLang="en-US" dirty="0"/>
              <a:t>、数据模型</a:t>
            </a:r>
          </a:p>
          <a:p>
            <a:pPr algn="l" eaLnBrk="1" hangingPunct="1">
              <a:lnSpc>
                <a:spcPct val="90000"/>
              </a:lnSpc>
            </a:pPr>
            <a:r>
              <a:rPr lang="en-US" altLang="zh-CN" dirty="0"/>
              <a:t>1.5</a:t>
            </a:r>
            <a:r>
              <a:rPr lang="zh-CN" altLang="en-US" dirty="0"/>
              <a:t>、数据模式</a:t>
            </a:r>
          </a:p>
          <a:p>
            <a:pPr algn="l" eaLnBrk="1" hangingPunct="1">
              <a:lnSpc>
                <a:spcPct val="90000"/>
              </a:lnSpc>
            </a:pPr>
            <a:r>
              <a:rPr lang="en-US" altLang="zh-CN" dirty="0"/>
              <a:t>1.6</a:t>
            </a:r>
            <a:r>
              <a:rPr lang="zh-CN" altLang="en-US" dirty="0"/>
              <a:t>、</a:t>
            </a:r>
            <a:r>
              <a:rPr lang="en-US" altLang="zh-CN" dirty="0"/>
              <a:t>My SQL5.5</a:t>
            </a:r>
            <a:r>
              <a:rPr lang="zh-CN" altLang="en-US" dirty="0"/>
              <a:t>数据库</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1742CAF-3082-4F2C-9BD9-E2B53BF86E66}"/>
              </a:ext>
            </a:extLst>
          </p:cNvPr>
          <p:cNvSpPr>
            <a:spLocks noGrp="1" noChangeArrowheads="1"/>
          </p:cNvSpPr>
          <p:nvPr>
            <p:ph type="title" idx="4294967295"/>
          </p:nvPr>
        </p:nvSpPr>
        <p:spPr>
          <a:xfrm>
            <a:off x="1847850" y="838270"/>
            <a:ext cx="3262432" cy="707886"/>
          </a:xfrm>
        </p:spPr>
        <p:txBody>
          <a:bodyPr/>
          <a:lstStyle/>
          <a:p>
            <a:r>
              <a:rPr lang="zh-CN" altLang="en-US" dirty="0"/>
              <a:t>本章学习目标</a:t>
            </a:r>
          </a:p>
        </p:txBody>
      </p:sp>
      <p:sp>
        <p:nvSpPr>
          <p:cNvPr id="6147" name="Rectangle 3">
            <a:extLst>
              <a:ext uri="{FF2B5EF4-FFF2-40B4-BE49-F238E27FC236}">
                <a16:creationId xmlns:a16="http://schemas.microsoft.com/office/drawing/2014/main" id="{95C75986-80D5-44A8-BD8F-B79CD7BD7F8E}"/>
              </a:ext>
            </a:extLst>
          </p:cNvPr>
          <p:cNvSpPr>
            <a:spLocks noGrp="1" noChangeArrowheads="1"/>
          </p:cNvSpPr>
          <p:nvPr>
            <p:ph type="body" idx="4294967295"/>
          </p:nvPr>
        </p:nvSpPr>
        <p:spPr>
          <a:xfrm>
            <a:off x="2927351" y="1773238"/>
            <a:ext cx="7489825" cy="4489450"/>
          </a:xfrm>
        </p:spPr>
        <p:txBody>
          <a:bodyPr/>
          <a:lstStyle/>
          <a:p>
            <a:pPr>
              <a:lnSpc>
                <a:spcPct val="90000"/>
              </a:lnSpc>
            </a:pPr>
            <a:r>
              <a:rPr lang="zh-CN" altLang="en-US" dirty="0"/>
              <a:t>理解与数据库技术相关的基本概念；</a:t>
            </a:r>
          </a:p>
          <a:p>
            <a:pPr>
              <a:lnSpc>
                <a:spcPct val="90000"/>
              </a:lnSpc>
            </a:pPr>
            <a:r>
              <a:rPr lang="zh-CN" altLang="en-US" dirty="0"/>
              <a:t>了解数据管理技术的发展过程；</a:t>
            </a:r>
          </a:p>
          <a:p>
            <a:pPr>
              <a:lnSpc>
                <a:spcPct val="90000"/>
              </a:lnSpc>
            </a:pPr>
            <a:r>
              <a:rPr lang="zh-CN" altLang="en-US" dirty="0"/>
              <a:t>了解数据库系统的不同体系结构。</a:t>
            </a:r>
          </a:p>
          <a:p>
            <a:pPr>
              <a:lnSpc>
                <a:spcPct val="90000"/>
              </a:lnSpc>
            </a:pPr>
            <a:r>
              <a:rPr lang="zh-CN" altLang="en-US" dirty="0"/>
              <a:t>掌握概念模型及常用数据模型的内涵；</a:t>
            </a:r>
          </a:p>
          <a:p>
            <a:pPr>
              <a:lnSpc>
                <a:spcPct val="90000"/>
              </a:lnSpc>
            </a:pPr>
            <a:r>
              <a:rPr lang="zh-CN" altLang="en-US" dirty="0"/>
              <a:t>掌握数据库三级体系结构及两级映像的基本概念；</a:t>
            </a:r>
          </a:p>
          <a:p>
            <a:pPr>
              <a:lnSpc>
                <a:spcPct val="90000"/>
              </a:lnSpc>
            </a:pPr>
            <a:r>
              <a:rPr lang="zh-CN" altLang="en-US" dirty="0"/>
              <a:t>掌握数据库系统的组成及其特点。</a:t>
            </a:r>
          </a:p>
          <a:p>
            <a:pPr>
              <a:lnSpc>
                <a:spcPct val="90000"/>
              </a:lnSpc>
            </a:pPr>
            <a:r>
              <a:rPr lang="zh-CN" altLang="en-US" dirty="0"/>
              <a:t>了解</a:t>
            </a:r>
            <a:r>
              <a:rPr lang="en-US" altLang="zh-CN" dirty="0"/>
              <a:t>My SQL5.5</a:t>
            </a:r>
            <a:r>
              <a:rPr lang="zh-CN" altLang="en-US" dirty="0"/>
              <a:t>数据库的安装和使用</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FFC54E3-345D-4378-A650-FB4C1EC72C62}"/>
              </a:ext>
            </a:extLst>
          </p:cNvPr>
          <p:cNvSpPr>
            <a:spLocks noGrp="1" noChangeArrowheads="1"/>
          </p:cNvSpPr>
          <p:nvPr>
            <p:ph type="title" idx="4294967295"/>
          </p:nvPr>
        </p:nvSpPr>
        <p:spPr>
          <a:xfrm>
            <a:off x="1992313" y="766832"/>
            <a:ext cx="2749471" cy="707886"/>
          </a:xfrm>
        </p:spPr>
        <p:txBody>
          <a:bodyPr/>
          <a:lstStyle/>
          <a:p>
            <a:r>
              <a:rPr lang="zh-CN" altLang="en-US"/>
              <a:t>教学重难点</a:t>
            </a:r>
          </a:p>
        </p:txBody>
      </p:sp>
      <p:sp>
        <p:nvSpPr>
          <p:cNvPr id="7171" name="Rectangle 3">
            <a:extLst>
              <a:ext uri="{FF2B5EF4-FFF2-40B4-BE49-F238E27FC236}">
                <a16:creationId xmlns:a16="http://schemas.microsoft.com/office/drawing/2014/main" id="{1A64E435-A04E-4774-A517-EC9C7CDC7677}"/>
              </a:ext>
            </a:extLst>
          </p:cNvPr>
          <p:cNvSpPr>
            <a:spLocks noGrp="1" noChangeArrowheads="1"/>
          </p:cNvSpPr>
          <p:nvPr>
            <p:ph type="body" idx="4294967295"/>
          </p:nvPr>
        </p:nvSpPr>
        <p:spPr>
          <a:xfrm>
            <a:off x="3071814" y="2147888"/>
            <a:ext cx="6910387" cy="4114800"/>
          </a:xfrm>
        </p:spPr>
        <p:txBody>
          <a:bodyPr/>
          <a:lstStyle/>
          <a:p>
            <a:r>
              <a:rPr lang="en-US" altLang="zh-CN"/>
              <a:t>1. </a:t>
            </a:r>
            <a:r>
              <a:rPr lang="zh-CN" altLang="en-US"/>
              <a:t>概念模型</a:t>
            </a:r>
          </a:p>
          <a:p>
            <a:r>
              <a:rPr lang="en-US" altLang="zh-CN"/>
              <a:t>2. </a:t>
            </a:r>
            <a:r>
              <a:rPr lang="zh-CN" altLang="en-US"/>
              <a:t>数据模型</a:t>
            </a:r>
          </a:p>
          <a:p>
            <a:r>
              <a:rPr lang="en-US" altLang="zh-CN"/>
              <a:t>3. </a:t>
            </a:r>
            <a:r>
              <a:rPr lang="zh-CN" altLang="en-US"/>
              <a:t>三级模式、两级映像</a:t>
            </a:r>
          </a:p>
          <a:p>
            <a:r>
              <a:rPr lang="en-US" altLang="zh-CN"/>
              <a:t>4. </a:t>
            </a:r>
            <a:r>
              <a:rPr lang="zh-CN" altLang="en-US"/>
              <a:t>数据库系统结构</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AB096FF0-3074-4DCA-A2DC-8D3830D51807}"/>
              </a:ext>
            </a:extLst>
          </p:cNvPr>
          <p:cNvSpPr>
            <a:spLocks noGrp="1" noChangeArrowheads="1"/>
          </p:cNvSpPr>
          <p:nvPr>
            <p:ph type="title"/>
          </p:nvPr>
        </p:nvSpPr>
        <p:spPr>
          <a:xfrm>
            <a:off x="1524000" y="982732"/>
            <a:ext cx="1936749" cy="707886"/>
          </a:xfrm>
        </p:spPr>
        <p:txBody>
          <a:bodyPr/>
          <a:lstStyle/>
          <a:p>
            <a:r>
              <a:rPr lang="en-US" altLang="en-US"/>
              <a:t>1.1引言</a:t>
            </a:r>
            <a:endParaRPr lang="zh-CN" altLang="en-US"/>
          </a:p>
        </p:txBody>
      </p:sp>
      <p:sp>
        <p:nvSpPr>
          <p:cNvPr id="8195" name="Rectangle 3">
            <a:extLst>
              <a:ext uri="{FF2B5EF4-FFF2-40B4-BE49-F238E27FC236}">
                <a16:creationId xmlns:a16="http://schemas.microsoft.com/office/drawing/2014/main" id="{F3D9ADEB-C9E8-4A7F-8919-75D555A89E89}"/>
              </a:ext>
            </a:extLst>
          </p:cNvPr>
          <p:cNvSpPr>
            <a:spLocks noGrp="1" noChangeArrowheads="1"/>
          </p:cNvSpPr>
          <p:nvPr>
            <p:ph type="body" idx="1"/>
          </p:nvPr>
        </p:nvSpPr>
        <p:spPr>
          <a:xfrm>
            <a:off x="2209800" y="1844676"/>
            <a:ext cx="7772400" cy="4418013"/>
          </a:xfrm>
        </p:spPr>
        <p:txBody>
          <a:bodyPr/>
          <a:lstStyle/>
          <a:p>
            <a:pPr>
              <a:lnSpc>
                <a:spcPct val="150000"/>
              </a:lnSpc>
            </a:pPr>
            <a:r>
              <a:rPr lang="zh-CN" altLang="en-US" dirty="0"/>
              <a:t>数据库（</a:t>
            </a:r>
            <a:r>
              <a:rPr lang="en-US" altLang="zh-CN" dirty="0" err="1"/>
              <a:t>DataBase</a:t>
            </a:r>
            <a:r>
              <a:rPr lang="zh-CN" altLang="en-US" dirty="0"/>
              <a:t>）这个名词起源于</a:t>
            </a:r>
            <a:r>
              <a:rPr lang="en-US" altLang="zh-CN" dirty="0"/>
              <a:t>20</a:t>
            </a:r>
            <a:r>
              <a:rPr lang="zh-CN" altLang="en-US" dirty="0"/>
              <a:t>世纪</a:t>
            </a:r>
            <a:r>
              <a:rPr lang="en-US" altLang="zh-CN" dirty="0"/>
              <a:t>50</a:t>
            </a:r>
            <a:r>
              <a:rPr lang="zh-CN" altLang="en-US" dirty="0"/>
              <a:t>年代初。</a:t>
            </a:r>
          </a:p>
          <a:p>
            <a:pPr>
              <a:lnSpc>
                <a:spcPct val="150000"/>
              </a:lnSpc>
            </a:pPr>
            <a:r>
              <a:rPr lang="zh-CN" altLang="en-US" dirty="0"/>
              <a:t>当时美国为了战争的需要，把各种情报集中在一起，存储在计算机里，称为 </a:t>
            </a:r>
            <a:r>
              <a:rPr lang="en-US" altLang="zh-CN" dirty="0"/>
              <a:t>Information Base</a:t>
            </a:r>
            <a:r>
              <a:rPr lang="zh-CN" altLang="en-US" dirty="0"/>
              <a:t>或</a:t>
            </a:r>
            <a:r>
              <a:rPr lang="en-US" altLang="zh-CN" dirty="0" err="1"/>
              <a:t>DataBase</a:t>
            </a:r>
            <a:r>
              <a:rPr lang="zh-CN" altLang="en-US" dirty="0"/>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C0FFEF2-D006-4073-A917-773B0678B27D}"/>
              </a:ext>
            </a:extLst>
          </p:cNvPr>
          <p:cNvSpPr>
            <a:spLocks noGrp="1" noChangeArrowheads="1"/>
          </p:cNvSpPr>
          <p:nvPr>
            <p:ph type="title"/>
          </p:nvPr>
        </p:nvSpPr>
        <p:spPr>
          <a:xfrm>
            <a:off x="668104" y="71920"/>
            <a:ext cx="4414991" cy="707886"/>
          </a:xfrm>
        </p:spPr>
        <p:txBody>
          <a:bodyPr/>
          <a:lstStyle/>
          <a:p>
            <a:r>
              <a:rPr lang="en-US" altLang="en-US">
                <a:latin typeface="Tahoma" panose="020B0604030504040204" pitchFamily="34" charset="0"/>
              </a:rPr>
              <a:t>1.1.1数据库的形成</a:t>
            </a:r>
            <a:endParaRPr lang="zh-CN" altLang="en-US">
              <a:latin typeface="Tahoma" panose="020B0604030504040204" pitchFamily="34" charset="0"/>
            </a:endParaRPr>
          </a:p>
        </p:txBody>
      </p:sp>
      <p:sp>
        <p:nvSpPr>
          <p:cNvPr id="10243" name="Rectangle 3">
            <a:extLst>
              <a:ext uri="{FF2B5EF4-FFF2-40B4-BE49-F238E27FC236}">
                <a16:creationId xmlns:a16="http://schemas.microsoft.com/office/drawing/2014/main" id="{2068F100-7039-470D-B1C2-B41A09C97CED}"/>
              </a:ext>
            </a:extLst>
          </p:cNvPr>
          <p:cNvSpPr>
            <a:spLocks noGrp="1" noChangeArrowheads="1"/>
          </p:cNvSpPr>
          <p:nvPr>
            <p:ph type="body" idx="1"/>
          </p:nvPr>
        </p:nvSpPr>
        <p:spPr>
          <a:xfrm>
            <a:off x="479376" y="1124744"/>
            <a:ext cx="10972800" cy="4054475"/>
          </a:xfrm>
        </p:spPr>
        <p:txBody>
          <a:bodyPr/>
          <a:lstStyle/>
          <a:p>
            <a:pPr>
              <a:lnSpc>
                <a:spcPct val="150000"/>
              </a:lnSpc>
            </a:pPr>
            <a:r>
              <a:rPr lang="en-US" altLang="zh-CN" dirty="0"/>
              <a:t>1963</a:t>
            </a:r>
            <a:r>
              <a:rPr lang="zh-CN" altLang="en-US" dirty="0"/>
              <a:t>年，美国</a:t>
            </a:r>
            <a:r>
              <a:rPr lang="en-US" altLang="zh-CN" dirty="0"/>
              <a:t>Honeywell</a:t>
            </a:r>
            <a:r>
              <a:rPr lang="zh-CN" altLang="en-US" dirty="0"/>
              <a:t>公司的</a:t>
            </a:r>
            <a:r>
              <a:rPr lang="en-US" altLang="zh-CN" dirty="0"/>
              <a:t>IDS</a:t>
            </a:r>
            <a:r>
              <a:rPr lang="zh-CN" altLang="en-US" dirty="0"/>
              <a:t>（</a:t>
            </a:r>
            <a:r>
              <a:rPr lang="en-US" altLang="zh-CN" dirty="0"/>
              <a:t>Integrated Data Store</a:t>
            </a:r>
            <a:r>
              <a:rPr lang="zh-CN" altLang="en-US" dirty="0"/>
              <a:t>）系统投入运行，揭开了数据库技术的序幕。</a:t>
            </a:r>
            <a:r>
              <a:rPr lang="en-US" altLang="zh-CN" dirty="0"/>
              <a:t>1965</a:t>
            </a:r>
            <a:r>
              <a:rPr lang="zh-CN" altLang="en-US" dirty="0"/>
              <a:t>年，美国一家火箭公司利用该系统帮助设计了阿波罗登月火箭， 推动了数据库技术的产生。</a:t>
            </a:r>
          </a:p>
          <a:p>
            <a:pPr>
              <a:lnSpc>
                <a:spcPct val="150000"/>
              </a:lnSpc>
            </a:pPr>
            <a:r>
              <a:rPr lang="zh-CN" altLang="en-US" dirty="0"/>
              <a:t>当时美国社会上产生了许多形形色色的</a:t>
            </a:r>
            <a:r>
              <a:rPr lang="en-US" altLang="zh-CN" dirty="0" err="1"/>
              <a:t>DataBase</a:t>
            </a:r>
            <a:r>
              <a:rPr lang="zh-CN" altLang="en-US" dirty="0"/>
              <a:t>或</a:t>
            </a:r>
            <a:r>
              <a:rPr lang="en-US" altLang="zh-CN" dirty="0" err="1"/>
              <a:t>DataBank</a:t>
            </a:r>
            <a:r>
              <a:rPr lang="zh-CN" altLang="en-US" dirty="0"/>
              <a:t>， 但是，它们基本上都是文件系统的扩充或是倒排文件系统。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a:extLst>
              <a:ext uri="{FF2B5EF4-FFF2-40B4-BE49-F238E27FC236}">
                <a16:creationId xmlns:a16="http://schemas.microsoft.com/office/drawing/2014/main" id="{90F0136C-7FC1-4952-937C-799A4CAF168C}"/>
              </a:ext>
            </a:extLst>
          </p:cNvPr>
          <p:cNvSpPr>
            <a:spLocks noGrp="1" noChangeArrowheads="1"/>
          </p:cNvSpPr>
          <p:nvPr>
            <p:ph type="body" idx="1"/>
          </p:nvPr>
        </p:nvSpPr>
        <p:spPr>
          <a:xfrm>
            <a:off x="642045" y="1401762"/>
            <a:ext cx="10972800" cy="4054475"/>
          </a:xfrm>
        </p:spPr>
        <p:txBody>
          <a:bodyPr/>
          <a:lstStyle/>
          <a:p>
            <a:pPr>
              <a:lnSpc>
                <a:spcPct val="150000"/>
              </a:lnSpc>
            </a:pPr>
            <a:r>
              <a:rPr lang="en-US" altLang="zh-CN" sz="2800" dirty="0"/>
              <a:t>1968</a:t>
            </a:r>
            <a:r>
              <a:rPr lang="zh-CN" altLang="en-US" sz="2800" dirty="0"/>
              <a:t>年，美国</a:t>
            </a:r>
            <a:r>
              <a:rPr lang="en-US" altLang="zh-CN" sz="2800" dirty="0"/>
              <a:t>IBM</a:t>
            </a:r>
            <a:r>
              <a:rPr lang="zh-CN" altLang="en-US" sz="2800" dirty="0"/>
              <a:t>公司推出层次模型的</a:t>
            </a:r>
            <a:r>
              <a:rPr lang="en-US" altLang="zh-CN" sz="2800" dirty="0"/>
              <a:t>IMS</a:t>
            </a:r>
            <a:r>
              <a:rPr lang="zh-CN" altLang="en-US" sz="2800" dirty="0"/>
              <a:t>数据库系统。</a:t>
            </a:r>
          </a:p>
          <a:p>
            <a:pPr>
              <a:lnSpc>
                <a:spcPct val="150000"/>
              </a:lnSpc>
            </a:pPr>
            <a:r>
              <a:rPr lang="en-US" altLang="zh-CN" sz="2800" dirty="0"/>
              <a:t>1969</a:t>
            </a:r>
            <a:r>
              <a:rPr lang="zh-CN" altLang="en-US" sz="2800" dirty="0"/>
              <a:t>年，美国</a:t>
            </a:r>
            <a:r>
              <a:rPr lang="en-US" altLang="zh-CN" sz="2800" dirty="0"/>
              <a:t>CODAYSYL(Conference on Data  System Language</a:t>
            </a:r>
            <a:r>
              <a:rPr lang="zh-CN" altLang="en-US" sz="2800" dirty="0"/>
              <a:t>，数据库系统语言协会）组织的数据库任务组（</a:t>
            </a:r>
            <a:r>
              <a:rPr lang="en-US" altLang="zh-CN" sz="2800" dirty="0"/>
              <a:t>DBTG</a:t>
            </a:r>
            <a:r>
              <a:rPr lang="zh-CN" altLang="en-US" sz="2800" dirty="0"/>
              <a:t>）发表关于网状模型的 </a:t>
            </a:r>
            <a:r>
              <a:rPr lang="en-US" altLang="zh-CN" sz="2800" dirty="0"/>
              <a:t>DBTG</a:t>
            </a:r>
            <a:r>
              <a:rPr lang="zh-CN" altLang="en-US" sz="2800" dirty="0"/>
              <a:t>报告。</a:t>
            </a:r>
          </a:p>
          <a:p>
            <a:pPr>
              <a:lnSpc>
                <a:spcPct val="150000"/>
              </a:lnSpc>
            </a:pPr>
            <a:r>
              <a:rPr lang="en-US" altLang="zh-CN" sz="2800" dirty="0"/>
              <a:t>1970</a:t>
            </a:r>
            <a:r>
              <a:rPr lang="zh-CN" altLang="en-US" sz="2800" dirty="0"/>
              <a:t>年，</a:t>
            </a:r>
            <a:r>
              <a:rPr lang="en-US" altLang="zh-CN" sz="2800" dirty="0"/>
              <a:t>IBM</a:t>
            </a:r>
            <a:r>
              <a:rPr lang="zh-CN" altLang="en-US" sz="2800" dirty="0"/>
              <a:t>公司的</a:t>
            </a:r>
            <a:r>
              <a:rPr lang="en-US" altLang="zh-CN" sz="2800" dirty="0" err="1"/>
              <a:t>E.F.Codd</a:t>
            </a:r>
            <a:r>
              <a:rPr lang="zh-CN" altLang="en-US" sz="2800" dirty="0"/>
              <a:t>发表论文提出关系模型。这三件事奠定了现代数据库技术的基础。</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a:extLst>
              <a:ext uri="{FF2B5EF4-FFF2-40B4-BE49-F238E27FC236}">
                <a16:creationId xmlns:a16="http://schemas.microsoft.com/office/drawing/2014/main" id="{F0CFA290-4C8A-412A-8842-5FBEF611BAA5}"/>
              </a:ext>
            </a:extLst>
          </p:cNvPr>
          <p:cNvSpPr>
            <a:spLocks noGrp="1" noChangeArrowheads="1"/>
          </p:cNvSpPr>
          <p:nvPr>
            <p:ph type="body" idx="1"/>
          </p:nvPr>
        </p:nvSpPr>
        <p:spPr>
          <a:xfrm>
            <a:off x="695400" y="1052736"/>
            <a:ext cx="10972800" cy="4054475"/>
          </a:xfrm>
        </p:spPr>
        <p:txBody>
          <a:bodyPr/>
          <a:lstStyle/>
          <a:p>
            <a:pPr>
              <a:lnSpc>
                <a:spcPct val="150000"/>
              </a:lnSpc>
            </a:pPr>
            <a:r>
              <a:rPr lang="en-US" altLang="zh-CN" dirty="0"/>
              <a:t>20</a:t>
            </a:r>
            <a:r>
              <a:rPr lang="zh-CN" altLang="en-US" dirty="0"/>
              <a:t>世纪</a:t>
            </a:r>
            <a:r>
              <a:rPr lang="en-US" altLang="zh-CN" dirty="0"/>
              <a:t>70</a:t>
            </a:r>
            <a:r>
              <a:rPr lang="zh-CN" altLang="en-US" dirty="0"/>
              <a:t>年代是数据库蓬勃发展的年代，网状系统和层次系统占据了整个数据库商用市场，而关系系统仅处于实验阶段。</a:t>
            </a:r>
          </a:p>
          <a:p>
            <a:pPr>
              <a:lnSpc>
                <a:spcPct val="150000"/>
              </a:lnSpc>
            </a:pPr>
            <a:r>
              <a:rPr lang="zh-CN" altLang="en-US" dirty="0"/>
              <a:t>许多计算机厂商研制了各种数据库管理系统，许多学者发表了大量研究性论文，使数据库技术在实践中和理论上得到飞速发展。数据库技术也日趋成熟。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a:extLst>
              <a:ext uri="{FF2B5EF4-FFF2-40B4-BE49-F238E27FC236}">
                <a16:creationId xmlns:a16="http://schemas.microsoft.com/office/drawing/2014/main" id="{9C3A6F33-14AF-4982-ABFD-4982DB270D7C}"/>
              </a:ext>
            </a:extLst>
          </p:cNvPr>
          <p:cNvSpPr>
            <a:spLocks noGrp="1" noChangeArrowheads="1"/>
          </p:cNvSpPr>
          <p:nvPr>
            <p:ph type="body" idx="1"/>
          </p:nvPr>
        </p:nvSpPr>
        <p:spPr>
          <a:xfrm>
            <a:off x="609600" y="1401762"/>
            <a:ext cx="10972800" cy="4054475"/>
          </a:xfrm>
        </p:spPr>
        <p:txBody>
          <a:bodyPr/>
          <a:lstStyle/>
          <a:p>
            <a:pPr>
              <a:lnSpc>
                <a:spcPct val="150000"/>
              </a:lnSpc>
            </a:pPr>
            <a:r>
              <a:rPr lang="en-US" altLang="zh-CN" dirty="0"/>
              <a:t>20</a:t>
            </a:r>
            <a:r>
              <a:rPr lang="zh-CN" altLang="en-US" dirty="0"/>
              <a:t>世纪</a:t>
            </a:r>
            <a:r>
              <a:rPr lang="en-US" altLang="zh-CN" dirty="0"/>
              <a:t>80</a:t>
            </a:r>
            <a:r>
              <a:rPr lang="zh-CN" altLang="en-US" dirty="0"/>
              <a:t>年代，随着计算机硬件性能的改善，关系系统由于使用简便，逐步代替网状系统和层次系统占领了市场。同时关系数据库的理论日趋完善，走向更高级的阶段。</a:t>
            </a:r>
          </a:p>
          <a:p>
            <a:pPr>
              <a:lnSpc>
                <a:spcPct val="150000"/>
              </a:lnSpc>
            </a:pPr>
            <a:r>
              <a:rPr lang="zh-CN" altLang="en-US" dirty="0"/>
              <a:t>数据库的理论以及新系统的研究继续进行，不断深化。此时关系数据库语言</a:t>
            </a:r>
            <a:r>
              <a:rPr lang="en-US" altLang="zh-CN" dirty="0"/>
              <a:t>SQL</a:t>
            </a:r>
            <a:r>
              <a:rPr lang="zh-CN" altLang="en-US" dirty="0"/>
              <a:t>成了国际标准语言。</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a:extLst>
              <a:ext uri="{FF2B5EF4-FFF2-40B4-BE49-F238E27FC236}">
                <a16:creationId xmlns:a16="http://schemas.microsoft.com/office/drawing/2014/main" id="{629BC59A-733B-4DA1-9335-D97731F489C8}"/>
              </a:ext>
            </a:extLst>
          </p:cNvPr>
          <p:cNvSpPr>
            <a:spLocks noGrp="1" noChangeArrowheads="1"/>
          </p:cNvSpPr>
          <p:nvPr>
            <p:ph type="body" idx="1"/>
          </p:nvPr>
        </p:nvSpPr>
        <p:spPr>
          <a:xfrm>
            <a:off x="609600" y="1484784"/>
            <a:ext cx="10972800" cy="4054475"/>
          </a:xfrm>
        </p:spPr>
        <p:txBody>
          <a:bodyPr/>
          <a:lstStyle/>
          <a:p>
            <a:pPr>
              <a:lnSpc>
                <a:spcPct val="150000"/>
              </a:lnSpc>
            </a:pPr>
            <a:r>
              <a:rPr lang="en-US" altLang="zh-CN" dirty="0"/>
              <a:t>20</a:t>
            </a:r>
            <a:r>
              <a:rPr lang="zh-CN" altLang="en-US" dirty="0"/>
              <a:t>世纪</a:t>
            </a:r>
            <a:r>
              <a:rPr lang="en-US" altLang="zh-CN" dirty="0"/>
              <a:t>90</a:t>
            </a:r>
            <a:r>
              <a:rPr lang="zh-CN" altLang="en-US" dirty="0"/>
              <a:t>年代，关系数据库已成为数据库技术的主流。由于受到计算机应用领域以及其他分支学科的影响，数据库技术与面向对象技术、网络技术相互渗透，人们在对象数据库技术和网络数据库技术方面进行了深入的研究。</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a:extLst>
              <a:ext uri="{FF2B5EF4-FFF2-40B4-BE49-F238E27FC236}">
                <a16:creationId xmlns:a16="http://schemas.microsoft.com/office/drawing/2014/main" id="{BD311E85-FA34-41B5-A14D-1556BE3CC134}"/>
              </a:ext>
            </a:extLst>
          </p:cNvPr>
          <p:cNvSpPr>
            <a:spLocks noGrp="1" noChangeArrowheads="1"/>
          </p:cNvSpPr>
          <p:nvPr>
            <p:ph type="body" idx="1"/>
          </p:nvPr>
        </p:nvSpPr>
        <p:spPr>
          <a:xfrm>
            <a:off x="551384" y="1052736"/>
            <a:ext cx="10972800" cy="4054475"/>
          </a:xfrm>
        </p:spPr>
        <p:txBody>
          <a:bodyPr/>
          <a:lstStyle/>
          <a:p>
            <a:pPr>
              <a:lnSpc>
                <a:spcPct val="150000"/>
              </a:lnSpc>
            </a:pPr>
            <a:r>
              <a:rPr lang="zh-CN" altLang="en-US" sz="2800" dirty="0"/>
              <a:t>进入</a:t>
            </a:r>
            <a:r>
              <a:rPr lang="en-US" altLang="zh-CN" sz="2800" dirty="0"/>
              <a:t>21</a:t>
            </a:r>
            <a:r>
              <a:rPr lang="zh-CN" altLang="en-US" sz="2800" dirty="0"/>
              <a:t>世纪以后，无论是市场的需求还是技术条件的成熟，对象数据库技术、网络数据库技术的推广和普及已成定局。数据库技术使得计算机应用迅速渗透到工农业生产、商业、行政、科学研究、工程技术和国防军事各个部门，渗透到社会的每一角落，并改变着人们的工作方式和生活方式。</a:t>
            </a:r>
          </a:p>
          <a:p>
            <a:pPr>
              <a:lnSpc>
                <a:spcPct val="150000"/>
              </a:lnSpc>
            </a:pPr>
            <a:r>
              <a:rPr lang="zh-CN" altLang="en-US" sz="2800" dirty="0"/>
              <a:t>管理信息系统（</a:t>
            </a:r>
            <a:r>
              <a:rPr lang="en-US" altLang="zh-CN" sz="2800" dirty="0"/>
              <a:t>MIS</a:t>
            </a:r>
            <a:r>
              <a:rPr lang="zh-CN" altLang="en-US" sz="2800" dirty="0"/>
              <a:t>）、办公信息系统（</a:t>
            </a:r>
            <a:r>
              <a:rPr lang="en-US" altLang="zh-CN" sz="2800" dirty="0"/>
              <a:t>OIS</a:t>
            </a:r>
            <a:r>
              <a:rPr lang="zh-CN" altLang="en-US" sz="2800" dirty="0"/>
              <a:t>）、地理信息系统（</a:t>
            </a:r>
            <a:r>
              <a:rPr lang="en-US" altLang="zh-CN" sz="2800" dirty="0"/>
              <a:t>GIS</a:t>
            </a:r>
            <a:r>
              <a:rPr lang="zh-CN" altLang="en-US" sz="2800" dirty="0"/>
              <a:t>）等都是使用了数据库技术的计算机应用系统。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FBCBD62-BC72-49BB-8FBA-9375E3E0F960}"/>
              </a:ext>
            </a:extLst>
          </p:cNvPr>
          <p:cNvSpPr>
            <a:spLocks noGrp="1" noChangeArrowheads="1"/>
          </p:cNvSpPr>
          <p:nvPr>
            <p:ph type="title"/>
          </p:nvPr>
        </p:nvSpPr>
        <p:spPr>
          <a:xfrm>
            <a:off x="668104" y="71920"/>
            <a:ext cx="5439310" cy="707886"/>
          </a:xfrm>
        </p:spPr>
        <p:txBody>
          <a:bodyPr/>
          <a:lstStyle/>
          <a:p>
            <a:r>
              <a:rPr lang="en-US" altLang="zh-CN"/>
              <a:t>1.1.2</a:t>
            </a:r>
            <a:r>
              <a:rPr lang="zh-CN" altLang="en-US"/>
              <a:t>数据库的基本概念</a:t>
            </a:r>
          </a:p>
        </p:txBody>
      </p:sp>
      <p:sp>
        <p:nvSpPr>
          <p:cNvPr id="17411" name="Rectangle 3">
            <a:extLst>
              <a:ext uri="{FF2B5EF4-FFF2-40B4-BE49-F238E27FC236}">
                <a16:creationId xmlns:a16="http://schemas.microsoft.com/office/drawing/2014/main" id="{AE291E2A-348D-4526-A2A7-8981D245DCAC}"/>
              </a:ext>
            </a:extLst>
          </p:cNvPr>
          <p:cNvSpPr>
            <a:spLocks noGrp="1" noChangeArrowheads="1"/>
          </p:cNvSpPr>
          <p:nvPr>
            <p:ph type="body" idx="1"/>
          </p:nvPr>
        </p:nvSpPr>
        <p:spPr>
          <a:xfrm>
            <a:off x="551384" y="1268760"/>
            <a:ext cx="10972800" cy="4054475"/>
          </a:xfrm>
        </p:spPr>
        <p:txBody>
          <a:bodyPr/>
          <a:lstStyle/>
          <a:p>
            <a:pPr>
              <a:lnSpc>
                <a:spcPct val="150000"/>
              </a:lnSpc>
            </a:pPr>
            <a:r>
              <a:rPr lang="en-US" altLang="zh-CN" sz="2800" dirty="0"/>
              <a:t>1.</a:t>
            </a:r>
            <a:r>
              <a:rPr lang="zh-CN" altLang="en-US" sz="2800" dirty="0"/>
              <a:t>信息</a:t>
            </a:r>
            <a:r>
              <a:rPr lang="en-US" altLang="zh-CN" sz="2800" dirty="0"/>
              <a:t>(information)</a:t>
            </a:r>
          </a:p>
          <a:p>
            <a:pPr>
              <a:lnSpc>
                <a:spcPct val="150000"/>
              </a:lnSpc>
            </a:pPr>
            <a:r>
              <a:rPr lang="en-US" altLang="zh-CN" sz="2800" dirty="0"/>
              <a:t>2.</a:t>
            </a:r>
            <a:r>
              <a:rPr lang="zh-CN" altLang="en-US" sz="2800" dirty="0"/>
              <a:t>数据（</a:t>
            </a:r>
            <a:r>
              <a:rPr lang="en-US" altLang="zh-CN" sz="2800" dirty="0"/>
              <a:t>data</a:t>
            </a:r>
            <a:r>
              <a:rPr lang="zh-CN" altLang="en-US" sz="2800" dirty="0"/>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2710211"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sz="4000" b="1" u="sng" kern="1200" dirty="0">
                <a:solidFill>
                  <a:schemeClr val="folHlink"/>
                </a:solidFill>
                <a:effectLst>
                  <a:outerShdw blurRad="38100" dist="38100" dir="2700000" algn="tl">
                    <a:srgbClr val="000000"/>
                  </a:outerShdw>
                </a:effectLst>
                <a:cs typeface="+mn-cs"/>
              </a:rPr>
              <a:t>信息</a:t>
            </a:r>
            <a:r>
              <a:rPr lang="zh-CN" altLang="en-US" b="1" u="sng" kern="1200" dirty="0">
                <a:solidFill>
                  <a:schemeClr val="folHlink"/>
                </a:solidFill>
                <a:effectLst>
                  <a:outerShdw blurRad="38100" dist="38100" dir="2700000" algn="tl">
                    <a:srgbClr val="000000"/>
                  </a:outerShdw>
                </a:effectLst>
              </a:rPr>
              <a:t>的概念</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7" name="Rectangle 217"/>
          <p:cNvSpPr>
            <a:spLocks noGrp="1" noChangeArrowheads="1"/>
          </p:cNvSpPr>
          <p:nvPr>
            <p:ph idx="1"/>
          </p:nvPr>
        </p:nvSpPr>
        <p:spPr>
          <a:xfrm>
            <a:off x="623392" y="1196752"/>
            <a:ext cx="11161240" cy="1579920"/>
          </a:xfrm>
        </p:spPr>
        <p:txBody>
          <a:bodyPr/>
          <a:lstStyle/>
          <a:p>
            <a:pPr marL="0" indent="0" eaLnBrk="1" hangingPunct="1">
              <a:spcAft>
                <a:spcPct val="50000"/>
              </a:spcAft>
              <a:buNone/>
              <a:defRPr/>
            </a:pPr>
            <a:r>
              <a:rPr lang="zh-CN" altLang="en-US" sz="3600" b="1" dirty="0">
                <a:solidFill>
                  <a:srgbClr val="FFC000"/>
                </a:solidFill>
              </a:rPr>
              <a:t>信息</a:t>
            </a:r>
            <a:r>
              <a:rPr lang="zh-CN" altLang="en-US" sz="3600" dirty="0">
                <a:solidFill>
                  <a:schemeClr val="tx1"/>
                </a:solidFill>
              </a:rPr>
              <a:t>（</a:t>
            </a:r>
            <a:r>
              <a:rPr lang="en-US" altLang="zh-CN" sz="3600" i="1" dirty="0">
                <a:solidFill>
                  <a:schemeClr val="tx1"/>
                </a:solidFill>
              </a:rPr>
              <a:t>Information</a:t>
            </a:r>
            <a:r>
              <a:rPr lang="zh-CN" altLang="en-US" sz="3600" dirty="0">
                <a:solidFill>
                  <a:schemeClr val="tx1"/>
                </a:solidFill>
              </a:rPr>
              <a:t>）是现实世界客观事物在人脑中的抽象反映，是通过人的感官感知并经过人脑的加工而形成的反映客观事物的概念。</a:t>
            </a: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9737" y="3759073"/>
            <a:ext cx="1800225" cy="18002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424" y="3770125"/>
            <a:ext cx="1872208" cy="185140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1" name="图片 10"/>
          <p:cNvPicPr>
            <a:picLocks noChangeAspect="1"/>
          </p:cNvPicPr>
          <p:nvPr/>
        </p:nvPicPr>
        <p:blipFill>
          <a:blip r:embed="rId4"/>
          <a:stretch>
            <a:fillRect/>
          </a:stretch>
        </p:blipFill>
        <p:spPr>
          <a:xfrm>
            <a:off x="8832304" y="3781176"/>
            <a:ext cx="1901704" cy="177812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7156039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3000" fill="hold" nodeType="afterEffect">
                                  <p:stCondLst>
                                    <p:cond delay="0"/>
                                  </p:stCondLst>
                                  <p:childTnLst>
                                    <p:animEffect transition="out" filter="fade">
                                      <p:cBhvr>
                                        <p:cTn id="6" dur="1000" tmFilter="0, 0; .2, .5; .8, .5; 1, 0"/>
                                        <p:tgtEl>
                                          <p:spTgt spid="9"/>
                                        </p:tgtEl>
                                      </p:cBhvr>
                                    </p:animEffect>
                                    <p:animScale>
                                      <p:cBhvr>
                                        <p:cTn id="7" dur="500" autoRev="1" fill="hold"/>
                                        <p:tgtEl>
                                          <p:spTgt spid="9"/>
                                        </p:tgtEl>
                                      </p:cBhvr>
                                      <p:by x="105000" y="105000"/>
                                    </p:animScale>
                                  </p:childTnLst>
                                </p:cTn>
                              </p:par>
                            </p:childTnLst>
                          </p:cTn>
                        </p:par>
                        <p:par>
                          <p:cTn id="8" fill="hold">
                            <p:stCondLst>
                              <p:cond delay="3000"/>
                            </p:stCondLst>
                            <p:childTnLst>
                              <p:par>
                                <p:cTn id="9" presetID="26" presetClass="emph" presetSubtype="0" repeatCount="3000" fill="hold" nodeType="afterEffect">
                                  <p:stCondLst>
                                    <p:cond delay="0"/>
                                  </p:stCondLst>
                                  <p:childTnLst>
                                    <p:animEffect transition="out" filter="fade">
                                      <p:cBhvr>
                                        <p:cTn id="10" dur="1000" tmFilter="0, 0; .2, .5; .8, .5; 1, 0"/>
                                        <p:tgtEl>
                                          <p:spTgt spid="8"/>
                                        </p:tgtEl>
                                      </p:cBhvr>
                                    </p:animEffect>
                                    <p:animScale>
                                      <p:cBhvr>
                                        <p:cTn id="11" dur="500" autoRev="1" fill="hold"/>
                                        <p:tgtEl>
                                          <p:spTgt spid="8"/>
                                        </p:tgtEl>
                                      </p:cBhvr>
                                      <p:by x="105000" y="105000"/>
                                    </p:animScale>
                                  </p:childTnLst>
                                </p:cTn>
                              </p:par>
                            </p:childTnLst>
                          </p:cTn>
                        </p:par>
                        <p:par>
                          <p:cTn id="12" fill="hold">
                            <p:stCondLst>
                              <p:cond delay="6000"/>
                            </p:stCondLst>
                            <p:childTnLst>
                              <p:par>
                                <p:cTn id="13" presetID="26" presetClass="emph" presetSubtype="0" repeatCount="3000" fill="hold" nodeType="afterEffect">
                                  <p:stCondLst>
                                    <p:cond delay="0"/>
                                  </p:stCondLst>
                                  <p:childTnLst>
                                    <p:animEffect transition="out" filter="fade">
                                      <p:cBhvr>
                                        <p:cTn id="14" dur="1000" tmFilter="0, 0; .2, .5; .8, .5; 1, 0"/>
                                        <p:tgtEl>
                                          <p:spTgt spid="11"/>
                                        </p:tgtEl>
                                      </p:cBhvr>
                                    </p:animEffect>
                                    <p:animScale>
                                      <p:cBhvr>
                                        <p:cTn id="15" dur="500" autoRev="1" fill="hold"/>
                                        <p:tgtEl>
                                          <p:spTgt spid="1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2710211"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sz="4000" b="1" u="sng" kern="1200" dirty="0">
                <a:solidFill>
                  <a:schemeClr val="folHlink"/>
                </a:solidFill>
                <a:effectLst>
                  <a:outerShdw blurRad="38100" dist="38100" dir="2700000" algn="tl">
                    <a:srgbClr val="000000"/>
                  </a:outerShdw>
                </a:effectLst>
                <a:cs typeface="+mn-cs"/>
              </a:rPr>
              <a:t>信息</a:t>
            </a:r>
            <a:r>
              <a:rPr lang="zh-CN" altLang="en-US" b="1" u="sng" kern="1200" dirty="0">
                <a:solidFill>
                  <a:schemeClr val="folHlink"/>
                </a:solidFill>
                <a:effectLst>
                  <a:outerShdw blurRad="38100" dist="38100" dir="2700000" algn="tl">
                    <a:srgbClr val="000000"/>
                  </a:outerShdw>
                </a:effectLst>
              </a:rPr>
              <a:t>的特点</a:t>
            </a:r>
            <a:endParaRPr lang="zh-CN" altLang="en-US" sz="4000" b="1" u="sng" kern="1200" dirty="0">
              <a:solidFill>
                <a:schemeClr val="folHlink"/>
              </a:solidFill>
              <a:effectLst>
                <a:outerShdw blurRad="38100" dist="38100" dir="2700000" algn="tl">
                  <a:srgbClr val="000000"/>
                </a:outerShdw>
              </a:effectLst>
              <a:cs typeface="+mn-cs"/>
            </a:endParaRPr>
          </a:p>
        </p:txBody>
      </p:sp>
      <p:graphicFrame>
        <p:nvGraphicFramePr>
          <p:cNvPr id="11" name="图示 10"/>
          <p:cNvGraphicFramePr/>
          <p:nvPr>
            <p:extLst>
              <p:ext uri="{D42A27DB-BD31-4B8C-83A1-F6EECF244321}">
                <p14:modId xmlns:p14="http://schemas.microsoft.com/office/powerpoint/2010/main" val="17823312"/>
              </p:ext>
            </p:extLst>
          </p:nvPr>
        </p:nvGraphicFramePr>
        <p:xfrm>
          <a:off x="2092492" y="781689"/>
          <a:ext cx="9937104" cy="54043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9" name="图片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3392" y="4042276"/>
            <a:ext cx="2438400" cy="2438400"/>
          </a:xfrm>
          <a:prstGeom prst="rect">
            <a:avLst/>
          </a:prstGeom>
        </p:spPr>
      </p:pic>
    </p:spTree>
    <p:extLst>
      <p:ext uri="{BB962C8B-B14F-4D97-AF65-F5344CB8AC3E}">
        <p14:creationId xmlns:p14="http://schemas.microsoft.com/office/powerpoint/2010/main" val="3959575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2710211"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sz="4000" b="1" u="sng" kern="1200" dirty="0">
                <a:solidFill>
                  <a:schemeClr val="folHlink"/>
                </a:solidFill>
                <a:effectLst>
                  <a:outerShdw blurRad="38100" dist="38100" dir="2700000" algn="tl">
                    <a:srgbClr val="000000"/>
                  </a:outerShdw>
                </a:effectLst>
                <a:cs typeface="+mn-cs"/>
              </a:rPr>
              <a:t>信息</a:t>
            </a:r>
            <a:r>
              <a:rPr lang="zh-CN" altLang="en-US" b="1" u="sng" kern="1200" dirty="0">
                <a:solidFill>
                  <a:schemeClr val="folHlink"/>
                </a:solidFill>
                <a:effectLst>
                  <a:outerShdw blurRad="38100" dist="38100" dir="2700000" algn="tl">
                    <a:srgbClr val="000000"/>
                  </a:outerShdw>
                </a:effectLst>
              </a:rPr>
              <a:t>与数据</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7" name="Rectangle 217"/>
          <p:cNvSpPr>
            <a:spLocks noGrp="1" noChangeArrowheads="1"/>
          </p:cNvSpPr>
          <p:nvPr>
            <p:ph idx="1"/>
          </p:nvPr>
        </p:nvSpPr>
        <p:spPr>
          <a:xfrm>
            <a:off x="767408" y="1064470"/>
            <a:ext cx="10729192" cy="1368152"/>
          </a:xfrm>
        </p:spPr>
        <p:txBody>
          <a:bodyPr/>
          <a:lstStyle/>
          <a:p>
            <a:pPr marL="0" indent="0" eaLnBrk="1" hangingPunct="1">
              <a:spcAft>
                <a:spcPct val="50000"/>
              </a:spcAft>
              <a:buNone/>
              <a:defRPr/>
            </a:pPr>
            <a:r>
              <a:rPr lang="zh-CN" altLang="en-US" sz="3600" b="1" dirty="0">
                <a:solidFill>
                  <a:srgbClr val="FFC000"/>
                </a:solidFill>
              </a:rPr>
              <a:t>数据</a:t>
            </a:r>
            <a:r>
              <a:rPr lang="zh-CN" altLang="en-US" sz="3600" dirty="0"/>
              <a:t>（</a:t>
            </a:r>
            <a:r>
              <a:rPr lang="en-US" altLang="zh-CN" sz="3600" i="1" dirty="0"/>
              <a:t>Data</a:t>
            </a:r>
            <a:r>
              <a:rPr lang="zh-CN" altLang="en-US" sz="3600" dirty="0"/>
              <a:t>）是描述客观事物的可存储并具有明确意义的符号序列。</a:t>
            </a:r>
          </a:p>
        </p:txBody>
      </p:sp>
      <p:sp>
        <p:nvSpPr>
          <p:cNvPr id="34" name="Rectangle 232"/>
          <p:cNvSpPr>
            <a:spLocks noChangeArrowheads="1"/>
          </p:cNvSpPr>
          <p:nvPr/>
        </p:nvSpPr>
        <p:spPr bwMode="auto">
          <a:xfrm>
            <a:off x="2208213" y="3131005"/>
            <a:ext cx="7848227" cy="1378201"/>
          </a:xfrm>
          <a:prstGeom prst="rect">
            <a:avLst/>
          </a:prstGeom>
          <a:solidFill>
            <a:schemeClr val="accent4">
              <a:lumMod val="10000"/>
            </a:schemeClr>
          </a:solidFill>
          <a:ln>
            <a:headEnd/>
            <a:tailEnd/>
          </a:ln>
        </p:spPr>
        <p:style>
          <a:lnRef idx="3">
            <a:schemeClr val="lt1"/>
          </a:lnRef>
          <a:fillRef idx="1">
            <a:schemeClr val="accent1"/>
          </a:fillRef>
          <a:effectRef idx="1">
            <a:schemeClr val="accent1"/>
          </a:effectRef>
          <a:fontRef idx="minor">
            <a:schemeClr val="lt1"/>
          </a:fontRef>
        </p:style>
        <p:txBody>
          <a:bodyPr lIns="0" tIns="0" rIns="0" bIns="0"/>
          <a:lstStyle/>
          <a:p>
            <a:pPr algn="ctr">
              <a:defRPr/>
            </a:pP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420100</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，陈旭良，</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19</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54</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1.78</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a:t>
            </a:r>
          </a:p>
          <a:p>
            <a:pPr algn="ctr">
              <a:defRPr/>
            </a:pP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420432</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，段海波，</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20</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68</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1.64</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a:t>
            </a:r>
          </a:p>
          <a:p>
            <a:pPr algn="ctr">
              <a:defRPr/>
            </a:pP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421391</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，蒲小燕，</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19</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52</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1.58</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0</a:t>
            </a:r>
          </a:p>
        </p:txBody>
      </p:sp>
      <p:sp>
        <p:nvSpPr>
          <p:cNvPr id="35" name="矩形 34"/>
          <p:cNvSpPr/>
          <p:nvPr/>
        </p:nvSpPr>
        <p:spPr>
          <a:xfrm>
            <a:off x="3430516" y="2348881"/>
            <a:ext cx="851515" cy="492443"/>
          </a:xfrm>
          <a:prstGeom prst="rect">
            <a:avLst/>
          </a:prstGeom>
        </p:spPr>
        <p:txBody>
          <a:bodyPr wrap="none">
            <a:spAutoFit/>
          </a:bodyPr>
          <a:lstStyle/>
          <a:p>
            <a:r>
              <a:rPr kumimoji="1" lang="zh-CN" altLang="en-US" sz="2600" baseline="0" dirty="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学号</a:t>
            </a:r>
            <a:endParaRPr lang="zh-CN" altLang="en-US" sz="2600" dirty="0">
              <a:solidFill>
                <a:schemeClr val="accent1">
                  <a:lumMod val="60000"/>
                  <a:lumOff val="40000"/>
                </a:schemeClr>
              </a:solidFill>
            </a:endParaRPr>
          </a:p>
        </p:txBody>
      </p:sp>
      <p:sp>
        <p:nvSpPr>
          <p:cNvPr id="36" name="矩形 35"/>
          <p:cNvSpPr/>
          <p:nvPr/>
        </p:nvSpPr>
        <p:spPr>
          <a:xfrm>
            <a:off x="4943873" y="2348881"/>
            <a:ext cx="851515" cy="492443"/>
          </a:xfrm>
          <a:prstGeom prst="rect">
            <a:avLst/>
          </a:prstGeom>
        </p:spPr>
        <p:txBody>
          <a:bodyPr wrap="none">
            <a:spAutoFit/>
          </a:bodyPr>
          <a:lstStyle/>
          <a:p>
            <a:r>
              <a:rPr kumimoji="1" lang="zh-CN" altLang="en-US" sz="2600" baseline="0" dirty="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姓名</a:t>
            </a:r>
            <a:endParaRPr lang="zh-CN" altLang="en-US" sz="2600" dirty="0">
              <a:solidFill>
                <a:schemeClr val="accent1">
                  <a:lumMod val="60000"/>
                  <a:lumOff val="40000"/>
                </a:schemeClr>
              </a:solidFill>
            </a:endParaRPr>
          </a:p>
        </p:txBody>
      </p:sp>
      <p:sp>
        <p:nvSpPr>
          <p:cNvPr id="37" name="矩形 36"/>
          <p:cNvSpPr/>
          <p:nvPr/>
        </p:nvSpPr>
        <p:spPr>
          <a:xfrm>
            <a:off x="5985278" y="2348881"/>
            <a:ext cx="851515" cy="492443"/>
          </a:xfrm>
          <a:prstGeom prst="rect">
            <a:avLst/>
          </a:prstGeom>
        </p:spPr>
        <p:txBody>
          <a:bodyPr wrap="none">
            <a:spAutoFit/>
          </a:bodyPr>
          <a:lstStyle/>
          <a:p>
            <a:r>
              <a:rPr kumimoji="1" lang="zh-CN" altLang="en-US" sz="2600" baseline="0" dirty="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年龄</a:t>
            </a:r>
            <a:endParaRPr lang="zh-CN" altLang="en-US" sz="2600" dirty="0">
              <a:solidFill>
                <a:schemeClr val="accent1">
                  <a:lumMod val="60000"/>
                  <a:lumOff val="40000"/>
                </a:schemeClr>
              </a:solidFill>
            </a:endParaRPr>
          </a:p>
        </p:txBody>
      </p:sp>
      <p:sp>
        <p:nvSpPr>
          <p:cNvPr id="38" name="矩形 37"/>
          <p:cNvSpPr/>
          <p:nvPr/>
        </p:nvSpPr>
        <p:spPr>
          <a:xfrm>
            <a:off x="6795297" y="2348881"/>
            <a:ext cx="851515" cy="492443"/>
          </a:xfrm>
          <a:prstGeom prst="rect">
            <a:avLst/>
          </a:prstGeom>
        </p:spPr>
        <p:txBody>
          <a:bodyPr wrap="none">
            <a:spAutoFit/>
          </a:bodyPr>
          <a:lstStyle/>
          <a:p>
            <a:r>
              <a:rPr kumimoji="1" lang="zh-CN" altLang="en-US" sz="2600" baseline="0" dirty="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体重</a:t>
            </a:r>
            <a:endParaRPr lang="zh-CN" altLang="en-US" sz="2600" dirty="0">
              <a:solidFill>
                <a:schemeClr val="accent1">
                  <a:lumMod val="60000"/>
                  <a:lumOff val="40000"/>
                </a:schemeClr>
              </a:solidFill>
            </a:endParaRPr>
          </a:p>
        </p:txBody>
      </p:sp>
      <p:sp>
        <p:nvSpPr>
          <p:cNvPr id="39" name="矩形 38"/>
          <p:cNvSpPr/>
          <p:nvPr/>
        </p:nvSpPr>
        <p:spPr>
          <a:xfrm>
            <a:off x="7680177" y="2348881"/>
            <a:ext cx="851515" cy="492443"/>
          </a:xfrm>
          <a:prstGeom prst="rect">
            <a:avLst/>
          </a:prstGeom>
        </p:spPr>
        <p:txBody>
          <a:bodyPr wrap="none">
            <a:spAutoFit/>
          </a:bodyPr>
          <a:lstStyle/>
          <a:p>
            <a:r>
              <a:rPr kumimoji="1" lang="zh-CN" altLang="en-US" sz="2600" baseline="0" dirty="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身高</a:t>
            </a:r>
            <a:endParaRPr lang="zh-CN" altLang="en-US" sz="2600" dirty="0">
              <a:solidFill>
                <a:schemeClr val="accent1">
                  <a:lumMod val="60000"/>
                  <a:lumOff val="40000"/>
                </a:schemeClr>
              </a:solidFill>
            </a:endParaRPr>
          </a:p>
        </p:txBody>
      </p:sp>
      <p:sp>
        <p:nvSpPr>
          <p:cNvPr id="40" name="矩形 39"/>
          <p:cNvSpPr/>
          <p:nvPr/>
        </p:nvSpPr>
        <p:spPr>
          <a:xfrm>
            <a:off x="8544273" y="2348881"/>
            <a:ext cx="851515" cy="492443"/>
          </a:xfrm>
          <a:prstGeom prst="rect">
            <a:avLst/>
          </a:prstGeom>
        </p:spPr>
        <p:txBody>
          <a:bodyPr wrap="none">
            <a:spAutoFit/>
          </a:bodyPr>
          <a:lstStyle/>
          <a:p>
            <a:r>
              <a:rPr kumimoji="1" lang="zh-CN" altLang="en-US" sz="2600" baseline="0" dirty="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性别</a:t>
            </a:r>
            <a:endParaRPr lang="zh-CN" altLang="en-US" sz="2600" dirty="0">
              <a:solidFill>
                <a:schemeClr val="accent1">
                  <a:lumMod val="60000"/>
                  <a:lumOff val="40000"/>
                </a:schemeClr>
              </a:solidFill>
            </a:endParaRPr>
          </a:p>
        </p:txBody>
      </p:sp>
      <p:cxnSp>
        <p:nvCxnSpPr>
          <p:cNvPr id="41" name="直接箭头连接符 40"/>
          <p:cNvCxnSpPr/>
          <p:nvPr/>
        </p:nvCxnSpPr>
        <p:spPr bwMode="auto">
          <a:xfrm flipH="1">
            <a:off x="3856272" y="2770965"/>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bwMode="auto">
          <a:xfrm flipH="1">
            <a:off x="5369630" y="2770965"/>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bwMode="auto">
          <a:xfrm flipH="1">
            <a:off x="6411035" y="2770965"/>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bwMode="auto">
          <a:xfrm flipH="1">
            <a:off x="7246703" y="2770965"/>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bwMode="auto">
          <a:xfrm flipH="1">
            <a:off x="8105934" y="2770965"/>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bwMode="auto">
          <a:xfrm flipH="1">
            <a:off x="8970029" y="2770965"/>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3430516" y="4772315"/>
            <a:ext cx="851515" cy="492443"/>
          </a:xfrm>
          <a:prstGeom prst="rect">
            <a:avLst/>
          </a:prstGeom>
        </p:spPr>
        <p:txBody>
          <a:bodyPr wrap="none">
            <a:spAutoFit/>
          </a:bodyPr>
          <a:lstStyle/>
          <a:p>
            <a:r>
              <a:rPr kumimoji="1" lang="zh-CN" altLang="en-US" sz="2600" baseline="0" dirty="0">
                <a:solidFill>
                  <a:srgbClr val="CCFF99"/>
                </a:solidFill>
                <a:effectLst>
                  <a:outerShdw blurRad="38100" dist="38100" dir="2700000" algn="tl">
                    <a:srgbClr val="000000"/>
                  </a:outerShdw>
                </a:effectLst>
                <a:latin typeface="微软雅黑" pitchFamily="34" charset="-122"/>
                <a:ea typeface="微软雅黑" pitchFamily="34" charset="-122"/>
              </a:rPr>
              <a:t>编号</a:t>
            </a:r>
            <a:endParaRPr lang="zh-CN" altLang="en-US" sz="2600" dirty="0">
              <a:solidFill>
                <a:srgbClr val="CCFF99"/>
              </a:solidFill>
            </a:endParaRPr>
          </a:p>
        </p:txBody>
      </p:sp>
      <p:sp>
        <p:nvSpPr>
          <p:cNvPr id="48" name="矩形 47"/>
          <p:cNvSpPr/>
          <p:nvPr/>
        </p:nvSpPr>
        <p:spPr>
          <a:xfrm>
            <a:off x="4943873" y="4772315"/>
            <a:ext cx="851515" cy="492443"/>
          </a:xfrm>
          <a:prstGeom prst="rect">
            <a:avLst/>
          </a:prstGeom>
        </p:spPr>
        <p:txBody>
          <a:bodyPr wrap="none">
            <a:spAutoFit/>
          </a:bodyPr>
          <a:lstStyle/>
          <a:p>
            <a:r>
              <a:rPr kumimoji="1" lang="zh-CN" altLang="en-US" sz="2600" baseline="0" dirty="0">
                <a:solidFill>
                  <a:srgbClr val="CCFF99"/>
                </a:solidFill>
                <a:effectLst>
                  <a:outerShdw blurRad="38100" dist="38100" dir="2700000" algn="tl">
                    <a:srgbClr val="000000"/>
                  </a:outerShdw>
                </a:effectLst>
                <a:latin typeface="微软雅黑" pitchFamily="34" charset="-122"/>
                <a:ea typeface="微软雅黑" pitchFamily="34" charset="-122"/>
              </a:rPr>
              <a:t>姓名</a:t>
            </a:r>
            <a:endParaRPr lang="zh-CN" altLang="en-US" sz="2600" dirty="0">
              <a:solidFill>
                <a:srgbClr val="CCFF99"/>
              </a:solidFill>
            </a:endParaRPr>
          </a:p>
        </p:txBody>
      </p:sp>
      <p:sp>
        <p:nvSpPr>
          <p:cNvPr id="49" name="矩形 48"/>
          <p:cNvSpPr/>
          <p:nvPr/>
        </p:nvSpPr>
        <p:spPr>
          <a:xfrm>
            <a:off x="5807968" y="4798802"/>
            <a:ext cx="1104790" cy="492443"/>
          </a:xfrm>
          <a:prstGeom prst="rect">
            <a:avLst/>
          </a:prstGeom>
        </p:spPr>
        <p:txBody>
          <a:bodyPr wrap="none">
            <a:spAutoFit/>
          </a:bodyPr>
          <a:lstStyle/>
          <a:p>
            <a:r>
              <a:rPr kumimoji="1" lang="en-US" altLang="zh-CN" sz="2600" baseline="0" dirty="0">
                <a:solidFill>
                  <a:srgbClr val="CCFF99"/>
                </a:solidFill>
                <a:effectLst>
                  <a:outerShdw blurRad="38100" dist="38100" dir="2700000" algn="tl">
                    <a:srgbClr val="000000"/>
                  </a:outerShdw>
                </a:effectLst>
                <a:latin typeface="微软雅黑" pitchFamily="34" charset="-122"/>
                <a:ea typeface="微软雅黑" pitchFamily="34" charset="-122"/>
              </a:rPr>
              <a:t>100</a:t>
            </a:r>
            <a:r>
              <a:rPr kumimoji="1" lang="zh-CN" altLang="en-US" sz="2600" baseline="0" dirty="0">
                <a:solidFill>
                  <a:srgbClr val="CCFF99"/>
                </a:solidFill>
                <a:effectLst>
                  <a:outerShdw blurRad="38100" dist="38100" dir="2700000" algn="tl">
                    <a:srgbClr val="000000"/>
                  </a:outerShdw>
                </a:effectLst>
                <a:latin typeface="微软雅黑" pitchFamily="34" charset="-122"/>
                <a:ea typeface="微软雅黑" pitchFamily="34" charset="-122"/>
              </a:rPr>
              <a:t>米</a:t>
            </a:r>
            <a:endParaRPr lang="zh-CN" altLang="en-US" sz="2600" dirty="0">
              <a:solidFill>
                <a:srgbClr val="CCFF99"/>
              </a:solidFill>
            </a:endParaRPr>
          </a:p>
        </p:txBody>
      </p:sp>
      <p:sp>
        <p:nvSpPr>
          <p:cNvPr id="50" name="矩形 49"/>
          <p:cNvSpPr/>
          <p:nvPr/>
        </p:nvSpPr>
        <p:spPr>
          <a:xfrm>
            <a:off x="6795297" y="4772315"/>
            <a:ext cx="870751" cy="492443"/>
          </a:xfrm>
          <a:prstGeom prst="rect">
            <a:avLst/>
          </a:prstGeom>
        </p:spPr>
        <p:txBody>
          <a:bodyPr wrap="none">
            <a:spAutoFit/>
          </a:bodyPr>
          <a:lstStyle/>
          <a:p>
            <a:r>
              <a:rPr kumimoji="1" lang="zh-CN" altLang="en-US" sz="2600" baseline="0" dirty="0">
                <a:solidFill>
                  <a:srgbClr val="CCFF99"/>
                </a:solidFill>
                <a:effectLst>
                  <a:outerShdw blurRad="38100" dist="38100" dir="2700000" algn="tl">
                    <a:srgbClr val="000000"/>
                  </a:outerShdw>
                </a:effectLst>
                <a:latin typeface="微软雅黑" pitchFamily="34" charset="-122"/>
                <a:ea typeface="微软雅黑" pitchFamily="34" charset="-122"/>
              </a:rPr>
              <a:t>标枪</a:t>
            </a:r>
          </a:p>
        </p:txBody>
      </p:sp>
      <p:sp>
        <p:nvSpPr>
          <p:cNvPr id="51" name="矩形 50"/>
          <p:cNvSpPr/>
          <p:nvPr/>
        </p:nvSpPr>
        <p:spPr>
          <a:xfrm>
            <a:off x="7680177" y="4772315"/>
            <a:ext cx="851515" cy="492443"/>
          </a:xfrm>
          <a:prstGeom prst="rect">
            <a:avLst/>
          </a:prstGeom>
        </p:spPr>
        <p:txBody>
          <a:bodyPr wrap="none">
            <a:spAutoFit/>
          </a:bodyPr>
          <a:lstStyle/>
          <a:p>
            <a:r>
              <a:rPr kumimoji="1" lang="zh-CN" altLang="en-US" sz="2600" baseline="0" dirty="0">
                <a:solidFill>
                  <a:srgbClr val="CCFF99"/>
                </a:solidFill>
                <a:effectLst>
                  <a:outerShdw blurRad="38100" dist="38100" dir="2700000" algn="tl">
                    <a:srgbClr val="000000"/>
                  </a:outerShdw>
                </a:effectLst>
                <a:latin typeface="微软雅黑" pitchFamily="34" charset="-122"/>
                <a:ea typeface="微软雅黑" pitchFamily="34" charset="-122"/>
              </a:rPr>
              <a:t>跳高</a:t>
            </a:r>
            <a:endParaRPr lang="zh-CN" altLang="en-US" sz="2600" dirty="0">
              <a:solidFill>
                <a:srgbClr val="CCFF99"/>
              </a:solidFill>
            </a:endParaRPr>
          </a:p>
        </p:txBody>
      </p:sp>
      <p:sp>
        <p:nvSpPr>
          <p:cNvPr id="52" name="矩形 51"/>
          <p:cNvSpPr/>
          <p:nvPr/>
        </p:nvSpPr>
        <p:spPr>
          <a:xfrm>
            <a:off x="8544273" y="4772315"/>
            <a:ext cx="851515" cy="492443"/>
          </a:xfrm>
          <a:prstGeom prst="rect">
            <a:avLst/>
          </a:prstGeom>
        </p:spPr>
        <p:txBody>
          <a:bodyPr wrap="none">
            <a:spAutoFit/>
          </a:bodyPr>
          <a:lstStyle/>
          <a:p>
            <a:r>
              <a:rPr kumimoji="1" lang="zh-CN" altLang="en-US" sz="2600" baseline="0" dirty="0">
                <a:solidFill>
                  <a:srgbClr val="CCFF99"/>
                </a:solidFill>
                <a:effectLst>
                  <a:outerShdw blurRad="38100" dist="38100" dir="2700000" algn="tl">
                    <a:srgbClr val="000000"/>
                  </a:outerShdw>
                </a:effectLst>
                <a:latin typeface="微软雅黑" pitchFamily="34" charset="-122"/>
                <a:ea typeface="微软雅黑" pitchFamily="34" charset="-122"/>
              </a:rPr>
              <a:t>完赛</a:t>
            </a:r>
            <a:endParaRPr lang="zh-CN" altLang="en-US" sz="2600" dirty="0">
              <a:solidFill>
                <a:srgbClr val="CCFF99"/>
              </a:solidFill>
            </a:endParaRPr>
          </a:p>
        </p:txBody>
      </p:sp>
      <p:cxnSp>
        <p:nvCxnSpPr>
          <p:cNvPr id="53" name="直接箭头连接符 52"/>
          <p:cNvCxnSpPr/>
          <p:nvPr/>
        </p:nvCxnSpPr>
        <p:spPr bwMode="auto">
          <a:xfrm flipH="1" flipV="1">
            <a:off x="3856272" y="4509206"/>
            <a:ext cx="1" cy="289681"/>
          </a:xfrm>
          <a:prstGeom prst="straightConnector1">
            <a:avLst/>
          </a:prstGeom>
          <a:ln w="38100">
            <a:solidFill>
              <a:srgbClr val="CCFF99"/>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bwMode="auto">
          <a:xfrm flipH="1" flipV="1">
            <a:off x="5369630" y="4509206"/>
            <a:ext cx="1" cy="289681"/>
          </a:xfrm>
          <a:prstGeom prst="straightConnector1">
            <a:avLst/>
          </a:prstGeom>
          <a:ln w="38100">
            <a:solidFill>
              <a:srgbClr val="CCFF99"/>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bwMode="auto">
          <a:xfrm flipH="1" flipV="1">
            <a:off x="6411035" y="4509206"/>
            <a:ext cx="1" cy="289681"/>
          </a:xfrm>
          <a:prstGeom prst="straightConnector1">
            <a:avLst/>
          </a:prstGeom>
          <a:ln w="38100">
            <a:solidFill>
              <a:srgbClr val="CCFF99"/>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bwMode="auto">
          <a:xfrm flipH="1" flipV="1">
            <a:off x="7246703" y="4509206"/>
            <a:ext cx="1" cy="289681"/>
          </a:xfrm>
          <a:prstGeom prst="straightConnector1">
            <a:avLst/>
          </a:prstGeom>
          <a:ln w="38100">
            <a:solidFill>
              <a:srgbClr val="CCFF99"/>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bwMode="auto">
          <a:xfrm flipH="1" flipV="1">
            <a:off x="8105934" y="4509206"/>
            <a:ext cx="1" cy="289681"/>
          </a:xfrm>
          <a:prstGeom prst="straightConnector1">
            <a:avLst/>
          </a:prstGeom>
          <a:ln w="38100">
            <a:solidFill>
              <a:srgbClr val="CCFF99"/>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bwMode="auto">
          <a:xfrm flipH="1" flipV="1">
            <a:off x="8970029" y="4509206"/>
            <a:ext cx="1" cy="289681"/>
          </a:xfrm>
          <a:prstGeom prst="straightConnector1">
            <a:avLst/>
          </a:prstGeom>
          <a:ln w="38100">
            <a:solidFill>
              <a:srgbClr val="CCFF99"/>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845352" y="5527867"/>
            <a:ext cx="10501295" cy="1200329"/>
          </a:xfrm>
          <a:prstGeom prst="rect">
            <a:avLst/>
          </a:prstGeom>
        </p:spPr>
        <p:txBody>
          <a:bodyPr wrap="square">
            <a:spAutoFit/>
          </a:bodyPr>
          <a:lstStyle/>
          <a:p>
            <a:r>
              <a:rPr lang="zh-CN" altLang="en-US" sz="3600" baseline="0" dirty="0">
                <a:latin typeface="微软雅黑" pitchFamily="34" charset="-122"/>
                <a:ea typeface="微软雅黑" pitchFamily="34" charset="-122"/>
              </a:rPr>
              <a:t>语义不同，数据反映的现实也不同。可见，数据与其</a:t>
            </a:r>
            <a:r>
              <a:rPr lang="zh-CN" altLang="en-US" sz="3600" b="1" baseline="0" dirty="0">
                <a:solidFill>
                  <a:srgbClr val="FFFF00"/>
                </a:solidFill>
                <a:latin typeface="微软雅黑" pitchFamily="34" charset="-122"/>
                <a:ea typeface="微软雅黑" pitchFamily="34" charset="-122"/>
              </a:rPr>
              <a:t>语义</a:t>
            </a:r>
            <a:r>
              <a:rPr lang="zh-CN" altLang="en-US" sz="3600" baseline="0" dirty="0">
                <a:latin typeface="微软雅黑" pitchFamily="34" charset="-122"/>
                <a:ea typeface="微软雅黑" pitchFamily="34" charset="-122"/>
              </a:rPr>
              <a:t>密不可分。</a:t>
            </a:r>
          </a:p>
        </p:txBody>
      </p:sp>
    </p:spTree>
    <p:extLst>
      <p:ext uri="{BB962C8B-B14F-4D97-AF65-F5344CB8AC3E}">
        <p14:creationId xmlns:p14="http://schemas.microsoft.com/office/powerpoint/2010/main" val="29401839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2710211"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sz="4000" b="1" u="sng" kern="1200" dirty="0">
                <a:solidFill>
                  <a:schemeClr val="folHlink"/>
                </a:solidFill>
                <a:effectLst>
                  <a:outerShdw blurRad="38100" dist="38100" dir="2700000" algn="tl">
                    <a:srgbClr val="000000"/>
                  </a:outerShdw>
                </a:effectLst>
                <a:cs typeface="+mn-cs"/>
              </a:rPr>
              <a:t>信息</a:t>
            </a:r>
            <a:r>
              <a:rPr lang="zh-CN" altLang="en-US" b="1" u="sng" kern="1200" dirty="0">
                <a:solidFill>
                  <a:schemeClr val="folHlink"/>
                </a:solidFill>
                <a:effectLst>
                  <a:outerShdw blurRad="38100" dist="38100" dir="2700000" algn="tl">
                    <a:srgbClr val="000000"/>
                  </a:outerShdw>
                </a:effectLst>
              </a:rPr>
              <a:t>与数据</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31" name="Rectangle 226"/>
          <p:cNvSpPr>
            <a:spLocks noChangeArrowheads="1"/>
          </p:cNvSpPr>
          <p:nvPr/>
        </p:nvSpPr>
        <p:spPr bwMode="auto">
          <a:xfrm>
            <a:off x="1919536" y="1478637"/>
            <a:ext cx="1914783" cy="1354358"/>
          </a:xfrm>
          <a:prstGeom prst="rect">
            <a:avLst/>
          </a:prstGeom>
          <a:gradFill rotWithShape="1">
            <a:gsLst>
              <a:gs pos="0">
                <a:schemeClr val="bg1">
                  <a:gamma/>
                  <a:shade val="72549"/>
                  <a:invGamma/>
                  <a:alpha val="67999"/>
                </a:schemeClr>
              </a:gs>
              <a:gs pos="50000">
                <a:schemeClr val="bg1"/>
              </a:gs>
              <a:gs pos="100000">
                <a:schemeClr val="bg1">
                  <a:gamma/>
                  <a:shade val="72549"/>
                  <a:invGamma/>
                  <a:alpha val="67999"/>
                </a:schemeClr>
              </a:gs>
            </a:gsLst>
            <a:lin ang="18900000" scaled="1"/>
          </a:gradFill>
          <a:ln w="38100" cap="sq">
            <a:solidFill>
              <a:schemeClr val="hlink"/>
            </a:solidFill>
            <a:miter lim="800000"/>
            <a:headEnd type="none" w="sm" len="sm"/>
            <a:tailEnd type="none" w="sm" len="sm"/>
          </a:ln>
          <a:effectLst>
            <a:outerShdw dist="35921" dir="2700000" algn="ctr" rotWithShape="0">
              <a:schemeClr val="bg2"/>
            </a:outerShdw>
          </a:effectLst>
        </p:spPr>
        <p:txBody>
          <a:bodyPr wrap="square" anchor="ctr" anchorCtr="0">
            <a:noAutofit/>
          </a:bodyPr>
          <a:lstStyle/>
          <a:p>
            <a:pPr algn="ctr">
              <a:defRPr/>
            </a:pPr>
            <a:r>
              <a:rPr kumimoji="1" lang="zh-CN" altLang="en-US" sz="5400" b="1" baseline="0" dirty="0">
                <a:solidFill>
                  <a:schemeClr val="folHlink"/>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数据</a:t>
            </a:r>
          </a:p>
        </p:txBody>
      </p:sp>
      <p:sp>
        <p:nvSpPr>
          <p:cNvPr id="32" name="Rectangle 227"/>
          <p:cNvSpPr>
            <a:spLocks noChangeArrowheads="1"/>
          </p:cNvSpPr>
          <p:nvPr/>
        </p:nvSpPr>
        <p:spPr bwMode="auto">
          <a:xfrm>
            <a:off x="7803212" y="1444927"/>
            <a:ext cx="1914783" cy="1354358"/>
          </a:xfrm>
          <a:prstGeom prst="rect">
            <a:avLst/>
          </a:prstGeom>
          <a:gradFill rotWithShape="1">
            <a:gsLst>
              <a:gs pos="0">
                <a:schemeClr val="bg1">
                  <a:gamma/>
                  <a:shade val="72549"/>
                  <a:invGamma/>
                  <a:alpha val="67999"/>
                </a:schemeClr>
              </a:gs>
              <a:gs pos="50000">
                <a:schemeClr val="bg1"/>
              </a:gs>
              <a:gs pos="100000">
                <a:schemeClr val="bg1">
                  <a:gamma/>
                  <a:shade val="72549"/>
                  <a:invGamma/>
                  <a:alpha val="67999"/>
                </a:schemeClr>
              </a:gs>
            </a:gsLst>
            <a:lin ang="18900000" scaled="1"/>
          </a:gradFill>
          <a:ln w="38100" cap="sq">
            <a:solidFill>
              <a:schemeClr val="hlink"/>
            </a:solidFill>
            <a:miter lim="800000"/>
            <a:headEnd type="none" w="sm" len="sm"/>
            <a:tailEnd type="none" w="sm" len="sm"/>
          </a:ln>
          <a:effectLst>
            <a:outerShdw dist="35921" dir="2700000" algn="ctr" rotWithShape="0">
              <a:schemeClr val="bg2"/>
            </a:outerShdw>
          </a:effectLst>
        </p:spPr>
        <p:txBody>
          <a:bodyPr wrap="square" anchor="ctr" anchorCtr="0">
            <a:noAutofit/>
          </a:bodyPr>
          <a:lstStyle/>
          <a:p>
            <a:pPr algn="ctr"/>
            <a:r>
              <a:rPr kumimoji="1" lang="zh-CN" altLang="en-US" sz="5400" b="1" baseline="0">
                <a:solidFill>
                  <a:schemeClr val="folHlink"/>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信息</a:t>
            </a:r>
          </a:p>
        </p:txBody>
      </p:sp>
      <p:sp>
        <p:nvSpPr>
          <p:cNvPr id="33" name="Line 228"/>
          <p:cNvSpPr>
            <a:spLocks noChangeShapeType="1"/>
          </p:cNvSpPr>
          <p:nvPr/>
        </p:nvSpPr>
        <p:spPr bwMode="auto">
          <a:xfrm flipV="1">
            <a:off x="4053243" y="2399271"/>
            <a:ext cx="3531665" cy="0"/>
          </a:xfrm>
          <a:prstGeom prst="line">
            <a:avLst/>
          </a:prstGeom>
          <a:noFill/>
          <a:ln w="57150" cap="sq">
            <a:solidFill>
              <a:srgbClr val="FFC000"/>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9" name="Line 229"/>
          <p:cNvSpPr>
            <a:spLocks noChangeShapeType="1"/>
          </p:cNvSpPr>
          <p:nvPr/>
        </p:nvSpPr>
        <p:spPr bwMode="auto">
          <a:xfrm>
            <a:off x="4053243" y="2030634"/>
            <a:ext cx="3531667" cy="0"/>
          </a:xfrm>
          <a:prstGeom prst="line">
            <a:avLst/>
          </a:prstGeom>
          <a:noFill/>
          <a:ln w="57150" cap="sq">
            <a:solidFill>
              <a:srgbClr val="FFC000"/>
            </a:solidFill>
            <a:round/>
            <a:headEnd type="triangle"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0" name="Rectangle 230"/>
          <p:cNvSpPr>
            <a:spLocks noChangeArrowheads="1"/>
          </p:cNvSpPr>
          <p:nvPr/>
        </p:nvSpPr>
        <p:spPr bwMode="auto">
          <a:xfrm>
            <a:off x="5298747" y="1224983"/>
            <a:ext cx="1107996" cy="646331"/>
          </a:xfrm>
          <a:prstGeom prst="rect">
            <a:avLst/>
          </a:prstGeom>
          <a:noFill/>
          <a:ln w="12700" cap="sq">
            <a:noFill/>
            <a:miter lim="800000"/>
            <a:headEnd type="none" w="sm" len="sm"/>
            <a:tailEnd type="none" w="sm" len="sm"/>
          </a:ln>
          <a:effectLst/>
        </p:spPr>
        <p:txBody>
          <a:bodyPr wrap="none">
            <a:spAutoFit/>
          </a:bodyPr>
          <a:lstStyle/>
          <a:p>
            <a:pPr>
              <a:defRPr/>
            </a:pPr>
            <a:r>
              <a:rPr kumimoji="1" lang="zh-CN" altLang="en-US" sz="3600" b="1" baseline="0" dirty="0">
                <a:solidFill>
                  <a:srgbClr val="CCFF99"/>
                </a:solidFill>
                <a:effectLst>
                  <a:outerShdw blurRad="38100" dist="38100" dir="2700000" algn="tl">
                    <a:srgbClr val="000000"/>
                  </a:outerShdw>
                </a:effectLst>
                <a:latin typeface="微软雅黑" pitchFamily="34" charset="-122"/>
                <a:ea typeface="微软雅黑" pitchFamily="34" charset="-122"/>
              </a:rPr>
              <a:t>内涵</a:t>
            </a:r>
          </a:p>
        </p:txBody>
      </p:sp>
      <p:sp>
        <p:nvSpPr>
          <p:cNvPr id="61" name="Rectangle 231"/>
          <p:cNvSpPr>
            <a:spLocks noChangeArrowheads="1"/>
          </p:cNvSpPr>
          <p:nvPr/>
        </p:nvSpPr>
        <p:spPr bwMode="auto">
          <a:xfrm>
            <a:off x="5361886" y="2560757"/>
            <a:ext cx="1107996" cy="646331"/>
          </a:xfrm>
          <a:prstGeom prst="rect">
            <a:avLst/>
          </a:prstGeom>
          <a:noFill/>
          <a:ln w="12700" cap="sq">
            <a:noFill/>
            <a:miter lim="800000"/>
            <a:headEnd type="none" w="sm" len="sm"/>
            <a:tailEnd type="none" w="sm" len="sm"/>
          </a:ln>
          <a:effectLst/>
        </p:spPr>
        <p:txBody>
          <a:bodyPr wrap="none">
            <a:spAutoFit/>
          </a:bodyPr>
          <a:lstStyle/>
          <a:p>
            <a:pPr>
              <a:defRPr/>
            </a:pPr>
            <a:r>
              <a:rPr kumimoji="1" lang="zh-CN" altLang="en-US" sz="3600" b="1" baseline="0" dirty="0">
                <a:solidFill>
                  <a:srgbClr val="CCFF99"/>
                </a:solidFill>
                <a:effectLst>
                  <a:outerShdw blurRad="38100" dist="38100" dir="2700000" algn="tl">
                    <a:srgbClr val="000000"/>
                  </a:outerShdw>
                </a:effectLst>
                <a:latin typeface="微软雅黑" pitchFamily="34" charset="-122"/>
                <a:ea typeface="微软雅黑" pitchFamily="34" charset="-122"/>
              </a:rPr>
              <a:t>载体</a:t>
            </a:r>
          </a:p>
        </p:txBody>
      </p:sp>
      <p:sp>
        <p:nvSpPr>
          <p:cNvPr id="62" name="Rectangle 217"/>
          <p:cNvSpPr>
            <a:spLocks noGrp="1" noChangeArrowheads="1"/>
          </p:cNvSpPr>
          <p:nvPr>
            <p:ph idx="1"/>
          </p:nvPr>
        </p:nvSpPr>
        <p:spPr>
          <a:xfrm>
            <a:off x="1775034" y="5733256"/>
            <a:ext cx="8496300" cy="720080"/>
          </a:xfrm>
        </p:spPr>
        <p:txBody>
          <a:bodyPr/>
          <a:lstStyle/>
          <a:p>
            <a:pPr eaLnBrk="1" hangingPunct="1">
              <a:spcAft>
                <a:spcPct val="50000"/>
              </a:spcAft>
              <a:defRPr/>
            </a:pPr>
            <a:r>
              <a:rPr lang="zh-CN" altLang="en-US" sz="3600" dirty="0"/>
              <a:t> 本课程并不严格区别数据与信息的差别</a:t>
            </a:r>
          </a:p>
        </p:txBody>
      </p:sp>
      <p:sp>
        <p:nvSpPr>
          <p:cNvPr id="63" name="Rectangle 232"/>
          <p:cNvSpPr>
            <a:spLocks noChangeArrowheads="1"/>
          </p:cNvSpPr>
          <p:nvPr/>
        </p:nvSpPr>
        <p:spPr bwMode="auto">
          <a:xfrm>
            <a:off x="2135563" y="4702184"/>
            <a:ext cx="7987326" cy="487363"/>
          </a:xfrm>
          <a:prstGeom prst="rect">
            <a:avLst/>
          </a:prstGeom>
          <a:solidFill>
            <a:schemeClr val="accent4">
              <a:lumMod val="10000"/>
            </a:schemeClr>
          </a:solidFill>
          <a:ln>
            <a:headEnd/>
            <a:tailEnd/>
          </a:ln>
        </p:spPr>
        <p:style>
          <a:lnRef idx="3">
            <a:schemeClr val="lt1"/>
          </a:lnRef>
          <a:fillRef idx="1">
            <a:schemeClr val="accent1"/>
          </a:fillRef>
          <a:effectRef idx="1">
            <a:schemeClr val="accent1"/>
          </a:effectRef>
          <a:fontRef idx="minor">
            <a:schemeClr val="lt1"/>
          </a:fontRef>
        </p:style>
        <p:txBody>
          <a:bodyPr lIns="0" tIns="0" rIns="0" bIns="0"/>
          <a:lstStyle/>
          <a:p>
            <a:pPr>
              <a:defRPr/>
            </a:pP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  李帅，男</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  </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.87</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50</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a:t>
            </a:r>
            <a:r>
              <a:rPr kumimoji="1" lang="en-US" altLang="zh-CN"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1986/5/12</a:t>
            </a:r>
            <a:r>
              <a:rPr kumimoji="1" lang="zh-CN" altLang="en-US" sz="2800" baseline="0" dirty="0">
                <a:solidFill>
                  <a:srgbClr val="92D050"/>
                </a:solidFill>
                <a:effectLst>
                  <a:outerShdw blurRad="38100" dist="38100" dir="2700000" algn="tl">
                    <a:srgbClr val="000000"/>
                  </a:outerShdw>
                </a:effectLst>
                <a:latin typeface="微软雅黑" pitchFamily="34" charset="-122"/>
                <a:ea typeface="微软雅黑" pitchFamily="34" charset="-122"/>
              </a:rPr>
              <a:t>，橄榄球员</a:t>
            </a:r>
          </a:p>
        </p:txBody>
      </p:sp>
      <p:sp>
        <p:nvSpPr>
          <p:cNvPr id="64" name="矩形 63"/>
          <p:cNvSpPr/>
          <p:nvPr/>
        </p:nvSpPr>
        <p:spPr>
          <a:xfrm>
            <a:off x="2276476" y="3915959"/>
            <a:ext cx="874407" cy="492443"/>
          </a:xfrm>
          <a:prstGeom prst="rect">
            <a:avLst/>
          </a:prstGeom>
        </p:spPr>
        <p:txBody>
          <a:bodyPr wrap="none">
            <a:spAutoFit/>
          </a:bodyPr>
          <a:lstStyle/>
          <a:p>
            <a:r>
              <a:rPr kumimoji="1" lang="zh-CN" altLang="en-US" sz="2600" baseline="0" dirty="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姓名</a:t>
            </a:r>
            <a:endParaRPr lang="zh-CN" altLang="en-US" sz="2600" dirty="0">
              <a:solidFill>
                <a:schemeClr val="accent1">
                  <a:lumMod val="60000"/>
                  <a:lumOff val="40000"/>
                </a:schemeClr>
              </a:solidFill>
            </a:endParaRPr>
          </a:p>
        </p:txBody>
      </p:sp>
      <p:sp>
        <p:nvSpPr>
          <p:cNvPr id="65" name="矩形 64"/>
          <p:cNvSpPr/>
          <p:nvPr/>
        </p:nvSpPr>
        <p:spPr>
          <a:xfrm>
            <a:off x="3945241" y="3915959"/>
            <a:ext cx="851515" cy="492443"/>
          </a:xfrm>
          <a:prstGeom prst="rect">
            <a:avLst/>
          </a:prstGeom>
        </p:spPr>
        <p:txBody>
          <a:bodyPr wrap="none">
            <a:spAutoFit/>
          </a:bodyPr>
          <a:lstStyle/>
          <a:p>
            <a:r>
              <a:rPr kumimoji="1" lang="zh-CN" altLang="en-US" sz="2600" baseline="0" dirty="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身高</a:t>
            </a:r>
            <a:endParaRPr lang="zh-CN" altLang="en-US" sz="2600" dirty="0">
              <a:solidFill>
                <a:schemeClr val="accent1">
                  <a:lumMod val="60000"/>
                  <a:lumOff val="40000"/>
                </a:schemeClr>
              </a:solidFill>
            </a:endParaRPr>
          </a:p>
        </p:txBody>
      </p:sp>
      <p:sp>
        <p:nvSpPr>
          <p:cNvPr id="66" name="矩形 65"/>
          <p:cNvSpPr/>
          <p:nvPr/>
        </p:nvSpPr>
        <p:spPr>
          <a:xfrm>
            <a:off x="4953353" y="3910660"/>
            <a:ext cx="851515" cy="492443"/>
          </a:xfrm>
          <a:prstGeom prst="rect">
            <a:avLst/>
          </a:prstGeom>
        </p:spPr>
        <p:txBody>
          <a:bodyPr wrap="none">
            <a:spAutoFit/>
          </a:bodyPr>
          <a:lstStyle/>
          <a:p>
            <a:r>
              <a:rPr kumimoji="1" lang="zh-CN" altLang="en-US" sz="2600" baseline="0" dirty="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体重</a:t>
            </a:r>
            <a:endParaRPr lang="zh-CN" altLang="en-US" sz="2600" dirty="0">
              <a:solidFill>
                <a:schemeClr val="accent1">
                  <a:lumMod val="60000"/>
                  <a:lumOff val="40000"/>
                </a:schemeClr>
              </a:solidFill>
            </a:endParaRPr>
          </a:p>
        </p:txBody>
      </p:sp>
      <p:sp>
        <p:nvSpPr>
          <p:cNvPr id="67" name="矩形 66"/>
          <p:cNvSpPr/>
          <p:nvPr/>
        </p:nvSpPr>
        <p:spPr>
          <a:xfrm>
            <a:off x="6064655" y="3915959"/>
            <a:ext cx="851515" cy="492443"/>
          </a:xfrm>
          <a:prstGeom prst="rect">
            <a:avLst/>
          </a:prstGeom>
        </p:spPr>
        <p:txBody>
          <a:bodyPr wrap="none">
            <a:spAutoFit/>
          </a:bodyPr>
          <a:lstStyle/>
          <a:p>
            <a:r>
              <a:rPr kumimoji="1" lang="zh-CN" altLang="en-US" sz="2600" baseline="0" dirty="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生日</a:t>
            </a:r>
            <a:endParaRPr lang="zh-CN" altLang="en-US" sz="2600" dirty="0">
              <a:solidFill>
                <a:schemeClr val="accent1">
                  <a:lumMod val="60000"/>
                  <a:lumOff val="40000"/>
                </a:schemeClr>
              </a:solidFill>
            </a:endParaRPr>
          </a:p>
        </p:txBody>
      </p:sp>
      <p:sp>
        <p:nvSpPr>
          <p:cNvPr id="68" name="矩形 67"/>
          <p:cNvSpPr/>
          <p:nvPr/>
        </p:nvSpPr>
        <p:spPr>
          <a:xfrm>
            <a:off x="8409737" y="3915959"/>
            <a:ext cx="851515" cy="492443"/>
          </a:xfrm>
          <a:prstGeom prst="rect">
            <a:avLst/>
          </a:prstGeom>
        </p:spPr>
        <p:txBody>
          <a:bodyPr wrap="none">
            <a:spAutoFit/>
          </a:bodyPr>
          <a:lstStyle/>
          <a:p>
            <a:r>
              <a:rPr kumimoji="1" lang="zh-CN" altLang="en-US" sz="2600" baseline="0" dirty="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职业</a:t>
            </a:r>
            <a:endParaRPr lang="zh-CN" altLang="en-US" sz="2600" dirty="0">
              <a:solidFill>
                <a:schemeClr val="accent1">
                  <a:lumMod val="60000"/>
                  <a:lumOff val="40000"/>
                </a:schemeClr>
              </a:solidFill>
            </a:endParaRPr>
          </a:p>
        </p:txBody>
      </p:sp>
      <p:cxnSp>
        <p:nvCxnSpPr>
          <p:cNvPr id="69" name="直接箭头连接符 68"/>
          <p:cNvCxnSpPr/>
          <p:nvPr/>
        </p:nvCxnSpPr>
        <p:spPr bwMode="auto">
          <a:xfrm flipH="1">
            <a:off x="2702232" y="4338043"/>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nvCxnSpPr>
        <p:spPr bwMode="auto">
          <a:xfrm flipH="1">
            <a:off x="4370998" y="4338043"/>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p:nvPr/>
        </p:nvCxnSpPr>
        <p:spPr bwMode="auto">
          <a:xfrm flipH="1">
            <a:off x="5404759" y="4332744"/>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bwMode="auto">
          <a:xfrm flipH="1">
            <a:off x="6490412" y="4338043"/>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bwMode="auto">
          <a:xfrm flipH="1">
            <a:off x="8835493" y="4338043"/>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74" name="矩形 73"/>
          <p:cNvSpPr/>
          <p:nvPr/>
        </p:nvSpPr>
        <p:spPr>
          <a:xfrm>
            <a:off x="3140572" y="3893403"/>
            <a:ext cx="851515" cy="492443"/>
          </a:xfrm>
          <a:prstGeom prst="rect">
            <a:avLst/>
          </a:prstGeom>
        </p:spPr>
        <p:txBody>
          <a:bodyPr wrap="none">
            <a:spAutoFit/>
          </a:bodyPr>
          <a:lstStyle/>
          <a:p>
            <a:r>
              <a:rPr kumimoji="1" lang="zh-CN" altLang="en-US" sz="2600" baseline="0" dirty="0">
                <a:solidFill>
                  <a:schemeClr val="accent1">
                    <a:lumMod val="60000"/>
                    <a:lumOff val="40000"/>
                  </a:schemeClr>
                </a:solidFill>
                <a:effectLst>
                  <a:outerShdw blurRad="38100" dist="38100" dir="2700000" algn="tl">
                    <a:srgbClr val="000000"/>
                  </a:outerShdw>
                </a:effectLst>
                <a:latin typeface="微软雅黑" pitchFamily="34" charset="-122"/>
                <a:ea typeface="微软雅黑" pitchFamily="34" charset="-122"/>
              </a:rPr>
              <a:t>性别</a:t>
            </a:r>
            <a:endParaRPr lang="zh-CN" altLang="en-US" sz="2600" dirty="0">
              <a:solidFill>
                <a:schemeClr val="accent1">
                  <a:lumMod val="60000"/>
                  <a:lumOff val="40000"/>
                </a:schemeClr>
              </a:solidFill>
            </a:endParaRPr>
          </a:p>
        </p:txBody>
      </p:sp>
      <p:cxnSp>
        <p:nvCxnSpPr>
          <p:cNvPr id="75" name="直接箭头连接符 74"/>
          <p:cNvCxnSpPr/>
          <p:nvPr/>
        </p:nvCxnSpPr>
        <p:spPr bwMode="auto">
          <a:xfrm flipH="1">
            <a:off x="3566329" y="4315487"/>
            <a:ext cx="1" cy="289681"/>
          </a:xfrm>
          <a:prstGeom prst="straightConnector1">
            <a:avLst/>
          </a:prstGeom>
          <a:ln w="38100">
            <a:headEnd type="none" w="med" len="med"/>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67070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a:extLst>
              <a:ext uri="{FF2B5EF4-FFF2-40B4-BE49-F238E27FC236}">
                <a16:creationId xmlns:a16="http://schemas.microsoft.com/office/drawing/2014/main" id="{4BD189E8-58CB-44BF-9166-3E688D62155A}"/>
              </a:ext>
            </a:extLst>
          </p:cNvPr>
          <p:cNvSpPr>
            <a:spLocks noGrp="1" noChangeArrowheads="1"/>
          </p:cNvSpPr>
          <p:nvPr>
            <p:ph type="body" idx="1"/>
          </p:nvPr>
        </p:nvSpPr>
        <p:spPr>
          <a:xfrm>
            <a:off x="609600" y="1401762"/>
            <a:ext cx="10972800" cy="4054475"/>
          </a:xfrm>
        </p:spPr>
        <p:txBody>
          <a:bodyPr/>
          <a:lstStyle/>
          <a:p>
            <a:pPr>
              <a:lnSpc>
                <a:spcPct val="150000"/>
              </a:lnSpc>
            </a:pPr>
            <a:r>
              <a:rPr lang="zh-CN" altLang="en-US" dirty="0"/>
              <a:t>数据是承载信息的物理符号或称之为载体；</a:t>
            </a:r>
          </a:p>
          <a:p>
            <a:pPr>
              <a:lnSpc>
                <a:spcPct val="150000"/>
              </a:lnSpc>
            </a:pPr>
            <a:r>
              <a:rPr lang="zh-CN" altLang="en-US" dirty="0"/>
              <a:t>而信息是数据的内涵。</a:t>
            </a:r>
          </a:p>
          <a:p>
            <a:pPr>
              <a:lnSpc>
                <a:spcPct val="150000"/>
              </a:lnSpc>
            </a:pPr>
            <a:r>
              <a:rPr lang="zh-CN" altLang="en-US" dirty="0"/>
              <a:t>二者的区别是：数据可以表示信息，但不是任何数据都能表示信息，同一数据也可以有不同的解释。信息是抽象的，同一信息可以有不同的数据表示方式。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004DD4B6-DC6F-45A5-9C2B-D3CA82B2CD20}"/>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5400" b="1" dirty="0">
                <a:latin typeface="Microsoft Yahei" panose="020B0503020204020204" pitchFamily="34" charset="-122"/>
                <a:ea typeface="Microsoft Yahei" panose="020B0503020204020204" pitchFamily="34" charset="-122"/>
                <a:sym typeface="Microsoft Yahei" panose="020B0503020204020204" pitchFamily="34" charset="-122"/>
              </a:rPr>
              <a:t>什么是信息？ 它与数据的区别和联系？</a:t>
            </a:r>
          </a:p>
        </p:txBody>
      </p:sp>
      <p:sp>
        <p:nvSpPr>
          <p:cNvPr id="7" name="矩形: 圆角 6">
            <a:extLst>
              <a:ext uri="{FF2B5EF4-FFF2-40B4-BE49-F238E27FC236}">
                <a16:creationId xmlns:a16="http://schemas.microsoft.com/office/drawing/2014/main" id="{612A3A15-8524-4A99-92D5-A2345940CA08}"/>
              </a:ext>
            </a:extLst>
          </p:cNvPr>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6BF3E8BB-5462-412A-88A0-F76890E457C5}"/>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CE8AC833-E58C-4AE6-AECC-1F0BC867130C}"/>
                </a:ext>
              </a:extLst>
            </p:cNvPr>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9" name="ColorBlock">
              <a:extLst>
                <a:ext uri="{FF2B5EF4-FFF2-40B4-BE49-F238E27FC236}">
                  <a16:creationId xmlns:a16="http://schemas.microsoft.com/office/drawing/2014/main" id="{E2C7C74D-CDBD-4F9D-96F2-58F3346618D8}"/>
                </a:ext>
              </a:extLst>
            </p:cNvPr>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0" name="TypeText">
              <a:extLst>
                <a:ext uri="{FF2B5EF4-FFF2-40B4-BE49-F238E27FC236}">
                  <a16:creationId xmlns:a16="http://schemas.microsoft.com/office/drawing/2014/main" id="{99E8BAEE-1D77-460F-A006-F96E53872DC2}"/>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5E6CB39C-78DB-4E60-A45B-03F0DD20195D}"/>
                </a:ext>
              </a:extLst>
            </p:cNvPr>
            <p:cNvSpPr txBox="1"/>
            <p:nvPr>
              <p:custDataLst>
                <p:tags r:id="rId9"/>
              </p:custDataLst>
            </p:nvPr>
          </p:nvSpPr>
          <p:spPr>
            <a:xfrm>
              <a:off x="116395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DBAD1B58-8A86-4E18-A47D-0F9D773C8982}"/>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6463910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a:extLst>
              <a:ext uri="{FF2B5EF4-FFF2-40B4-BE49-F238E27FC236}">
                <a16:creationId xmlns:a16="http://schemas.microsoft.com/office/drawing/2014/main" id="{8BC025EE-849D-4FA2-B578-D3FE96D53482}"/>
              </a:ext>
            </a:extLst>
          </p:cNvPr>
          <p:cNvSpPr>
            <a:spLocks noGrp="1" noChangeArrowheads="1"/>
          </p:cNvSpPr>
          <p:nvPr>
            <p:ph type="title"/>
          </p:nvPr>
        </p:nvSpPr>
        <p:spPr>
          <a:xfrm>
            <a:off x="1127448" y="241369"/>
            <a:ext cx="6543779" cy="707886"/>
          </a:xfrm>
        </p:spPr>
        <p:txBody>
          <a:bodyPr/>
          <a:lstStyle/>
          <a:p>
            <a:pPr eaLnBrk="1" hangingPunct="1"/>
            <a:r>
              <a:rPr lang="en-US" altLang="en-US" dirty="0">
                <a:latin typeface="Tahoma" panose="020B0604030504040204" pitchFamily="34" charset="0"/>
              </a:rPr>
              <a:t>1.2数据库技术的产生和发展</a:t>
            </a:r>
            <a:endParaRPr lang="zh-CN" altLang="en-US" dirty="0">
              <a:latin typeface="Tahoma" panose="020B0604030504040204" pitchFamily="34" charset="0"/>
            </a:endParaRPr>
          </a:p>
        </p:txBody>
      </p:sp>
      <p:sp>
        <p:nvSpPr>
          <p:cNvPr id="21509" name="Rectangle 3">
            <a:extLst>
              <a:ext uri="{FF2B5EF4-FFF2-40B4-BE49-F238E27FC236}">
                <a16:creationId xmlns:a16="http://schemas.microsoft.com/office/drawing/2014/main" id="{4FB65B5E-91DF-453C-8A2B-F70DC0D19C58}"/>
              </a:ext>
            </a:extLst>
          </p:cNvPr>
          <p:cNvSpPr>
            <a:spLocks noGrp="1" noChangeArrowheads="1"/>
          </p:cNvSpPr>
          <p:nvPr>
            <p:ph type="body" idx="1"/>
          </p:nvPr>
        </p:nvSpPr>
        <p:spPr>
          <a:xfrm>
            <a:off x="1199456" y="1676400"/>
            <a:ext cx="9577064" cy="4586288"/>
          </a:xfrm>
        </p:spPr>
        <p:txBody>
          <a:bodyPr/>
          <a:lstStyle/>
          <a:p>
            <a:pPr eaLnBrk="1" hangingPunct="1"/>
            <a:r>
              <a:rPr lang="zh-CN" altLang="en-US" dirty="0"/>
              <a:t>数据库技术就是应对数据管理任务的需要而产生的。</a:t>
            </a:r>
          </a:p>
          <a:p>
            <a:pPr eaLnBrk="1" hangingPunct="1"/>
            <a:r>
              <a:rPr lang="zh-CN" altLang="en-US" dirty="0"/>
              <a:t>在数据库诞生之前，数据管理非常简单。通过大量的分类</a:t>
            </a:r>
            <a:r>
              <a:rPr lang="en-US" altLang="zh-CN" dirty="0"/>
              <a:t>﹑</a:t>
            </a:r>
            <a:r>
              <a:rPr lang="zh-CN" altLang="en-US" dirty="0"/>
              <a:t>比较和表格绘制的机器运行数百万穿孔卡片来进行数据的处理，其运行结果在纸上打印出来或者制成新的穿孔卡片。而此时的数据管理就是对所有这些穿孔卡片进行物理储存和处理。</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767408" y="3237799"/>
            <a:ext cx="9721080" cy="2315344"/>
          </a:xfrm>
          <a:prstGeom prst="rect">
            <a:avLst/>
          </a:prstGeom>
          <a:ln w="57150">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spcAft>
                <a:spcPct val="25000"/>
              </a:spcAft>
              <a:buSzPct val="80000"/>
              <a:tabLst>
                <a:tab pos="1071563" algn="l"/>
              </a:tabLst>
            </a:pPr>
            <a:endParaRPr kumimoji="1" lang="zh-CN" altLang="en-US" sz="3200" baseline="0">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75270" name="Text Box 166"/>
          <p:cNvSpPr txBox="1">
            <a:spLocks noChangeArrowheads="1"/>
          </p:cNvSpPr>
          <p:nvPr/>
        </p:nvSpPr>
        <p:spPr bwMode="auto">
          <a:xfrm>
            <a:off x="407368" y="0"/>
            <a:ext cx="2501821"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defPPr>
              <a:defRPr lang="en-US"/>
            </a:defPPr>
            <a:lvl1pPr>
              <a:defRPr sz="4000" b="1" baseline="0">
                <a:solidFill>
                  <a:schemeClr val="folHlink"/>
                </a:solidFill>
                <a:effectLst>
                  <a:outerShdw blurRad="38100" dist="38100" dir="2700000" algn="tl">
                    <a:srgbClr val="000000"/>
                  </a:outerShdw>
                </a:effectLst>
                <a:latin typeface="微软雅黑" pitchFamily="34" charset="-122"/>
                <a:ea typeface="微软雅黑" pitchFamily="34" charset="-122"/>
              </a:defRPr>
            </a:lvl1pPr>
          </a:lstStyle>
          <a:p>
            <a:r>
              <a:rPr lang="zh-CN" altLang="en-US" dirty="0"/>
              <a:t>  数据管理</a:t>
            </a:r>
          </a:p>
        </p:txBody>
      </p:sp>
      <p:sp>
        <p:nvSpPr>
          <p:cNvPr id="175321" name="Rectangle 217"/>
          <p:cNvSpPr>
            <a:spLocks noGrp="1" noChangeArrowheads="1"/>
          </p:cNvSpPr>
          <p:nvPr>
            <p:ph idx="1"/>
          </p:nvPr>
        </p:nvSpPr>
        <p:spPr>
          <a:xfrm>
            <a:off x="636626" y="1032182"/>
            <a:ext cx="10715957" cy="4249738"/>
          </a:xfrm>
        </p:spPr>
        <p:txBody>
          <a:bodyPr/>
          <a:lstStyle/>
          <a:p>
            <a:pPr marL="0" indent="0" eaLnBrk="1" hangingPunct="1">
              <a:spcAft>
                <a:spcPct val="50000"/>
              </a:spcAft>
              <a:buNone/>
              <a:defRPr/>
            </a:pPr>
            <a:r>
              <a:rPr lang="zh-CN" altLang="en-US" sz="3600" b="1" dirty="0">
                <a:solidFill>
                  <a:srgbClr val="FFC000"/>
                </a:solidFill>
              </a:rPr>
              <a:t>数据管理</a:t>
            </a:r>
            <a:r>
              <a:rPr lang="zh-CN" altLang="en-US" sz="3600" dirty="0"/>
              <a:t> 是对数据进行收集、分类、组织、编码、存储、加工、维护、检索和传输等操作的集合。</a:t>
            </a:r>
            <a:endParaRPr lang="en-US" altLang="zh-CN" sz="3600" dirty="0"/>
          </a:p>
        </p:txBody>
      </p:sp>
      <p:pic>
        <p:nvPicPr>
          <p:cNvPr id="12" name="图片 3" descr="www_tuweimei_comComp_23004736_pGVXJAWWbR7oGDqli5tneEWCC1AtVKaA.jpg"/>
          <p:cNvPicPr>
            <a:picLocks noGrp="1" noChangeAspect="1"/>
          </p:cNvPicPr>
          <p:nvPr isPhoto="1"/>
        </p:nvPicPr>
        <p:blipFill rotWithShape="1">
          <a:blip r:embed="rId2">
            <a:extLst>
              <a:ext uri="{28A0092B-C50C-407E-A947-70E740481C1C}">
                <a14:useLocalDpi xmlns:a14="http://schemas.microsoft.com/office/drawing/2010/main" val="0"/>
              </a:ext>
            </a:extLst>
          </a:blip>
          <a:srcRect t="13610" b="10758"/>
          <a:stretch/>
        </p:blipFill>
        <p:spPr bwMode="auto">
          <a:xfrm>
            <a:off x="2351584" y="3486719"/>
            <a:ext cx="2337420" cy="176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 descr="图片6.jpg"/>
          <p:cNvPicPr>
            <a:picLocks noGrp="1" noChangeAspect="1"/>
          </p:cNvPicPr>
          <p:nvPr isPhoto="1"/>
        </p:nvPicPr>
        <p:blipFill rotWithShape="1">
          <a:blip r:embed="rId3">
            <a:extLst>
              <a:ext uri="{28A0092B-C50C-407E-A947-70E740481C1C}">
                <a14:useLocalDpi xmlns:a14="http://schemas.microsoft.com/office/drawing/2010/main" val="0"/>
              </a:ext>
            </a:extLst>
          </a:blip>
          <a:srcRect t="4629" b="5394"/>
          <a:stretch/>
        </p:blipFill>
        <p:spPr bwMode="auto">
          <a:xfrm>
            <a:off x="6629360" y="3425243"/>
            <a:ext cx="2512632"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15013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326A5764-B435-494F-983B-A7163EF76758}"/>
              </a:ext>
            </a:extLst>
          </p:cNvPr>
          <p:cNvSpPr>
            <a:spLocks noGrp="1" noChangeArrowheads="1"/>
          </p:cNvSpPr>
          <p:nvPr>
            <p:ph type="body" idx="1"/>
          </p:nvPr>
        </p:nvSpPr>
        <p:spPr>
          <a:xfrm>
            <a:off x="767408" y="908720"/>
            <a:ext cx="10972800" cy="4054475"/>
          </a:xfrm>
        </p:spPr>
        <p:txBody>
          <a:bodyPr/>
          <a:lstStyle/>
          <a:p>
            <a:pPr>
              <a:lnSpc>
                <a:spcPct val="150000"/>
              </a:lnSpc>
            </a:pPr>
            <a:r>
              <a:rPr lang="zh-CN" altLang="en-US" dirty="0"/>
              <a:t>随着计算机技术的产生与不断发展，在应用需求的推动下，在计算机硬件、软件发展的基础上，数据管理的发展按时间可分为三个阶段：</a:t>
            </a:r>
          </a:p>
          <a:p>
            <a:pPr lvl="1">
              <a:lnSpc>
                <a:spcPct val="150000"/>
              </a:lnSpc>
            </a:pPr>
            <a:r>
              <a:rPr lang="zh-CN" altLang="en-US" dirty="0"/>
              <a:t>人工管理阶段</a:t>
            </a:r>
          </a:p>
          <a:p>
            <a:pPr lvl="1">
              <a:lnSpc>
                <a:spcPct val="150000"/>
              </a:lnSpc>
            </a:pPr>
            <a:r>
              <a:rPr lang="zh-CN" altLang="en-US" dirty="0"/>
              <a:t>文件管理阶段</a:t>
            </a:r>
          </a:p>
          <a:p>
            <a:pPr lvl="1">
              <a:lnSpc>
                <a:spcPct val="150000"/>
              </a:lnSpc>
            </a:pPr>
            <a:r>
              <a:rPr lang="zh-CN" altLang="en-US" dirty="0"/>
              <a:t>数据库管理阶段</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270" name="Text Box 166"/>
          <p:cNvSpPr txBox="1">
            <a:spLocks noChangeArrowheads="1"/>
          </p:cNvSpPr>
          <p:nvPr/>
        </p:nvSpPr>
        <p:spPr bwMode="auto">
          <a:xfrm>
            <a:off x="767408" y="17697"/>
            <a:ext cx="4762055"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defPPr>
              <a:defRPr lang="en-US"/>
            </a:defPPr>
            <a:lvl1pPr>
              <a:defRPr sz="4000" b="1" baseline="0">
                <a:solidFill>
                  <a:schemeClr val="folHlink"/>
                </a:solidFill>
                <a:effectLst>
                  <a:outerShdw blurRad="38100" dist="38100" dir="2700000" algn="tl">
                    <a:srgbClr val="000000"/>
                  </a:outerShdw>
                </a:effectLst>
                <a:latin typeface="微软雅黑" pitchFamily="34" charset="-122"/>
                <a:ea typeface="微软雅黑" pitchFamily="34" charset="-122"/>
              </a:defRPr>
            </a:lvl1pPr>
          </a:lstStyle>
          <a:p>
            <a:r>
              <a:rPr lang="zh-CN" altLang="en-US" dirty="0"/>
              <a:t>数据管理技术的发展</a:t>
            </a:r>
          </a:p>
        </p:txBody>
      </p:sp>
      <p:sp>
        <p:nvSpPr>
          <p:cNvPr id="8" name="Rectangle 2"/>
          <p:cNvSpPr>
            <a:spLocks noGrp="1" noChangeArrowheads="1"/>
          </p:cNvSpPr>
          <p:nvPr>
            <p:ph type="title"/>
          </p:nvPr>
        </p:nvSpPr>
        <p:spPr>
          <a:xfrm>
            <a:off x="767408" y="877943"/>
            <a:ext cx="4211409" cy="707886"/>
          </a:xfrm>
        </p:spPr>
        <p:txBody>
          <a:bodyPr/>
          <a:lstStyle/>
          <a:p>
            <a:pPr eaLnBrk="1" hangingPunct="1">
              <a:defRPr/>
            </a:pPr>
            <a:r>
              <a:rPr lang="en-US" altLang="zh-CN" dirty="0"/>
              <a:t>(1) </a:t>
            </a:r>
            <a:r>
              <a:rPr lang="zh-CN" altLang="en-US"/>
              <a:t>人工管理</a:t>
            </a:r>
            <a:r>
              <a:rPr lang="zh-CN" altLang="en-US" dirty="0"/>
              <a:t>阶段</a:t>
            </a:r>
            <a:endParaRPr lang="en-US" altLang="zh-CN" dirty="0"/>
          </a:p>
        </p:txBody>
      </p:sp>
      <p:sp>
        <p:nvSpPr>
          <p:cNvPr id="9" name="Rectangle 3"/>
          <p:cNvSpPr>
            <a:spLocks noGrp="1" noChangeArrowheads="1"/>
          </p:cNvSpPr>
          <p:nvPr>
            <p:ph idx="1"/>
          </p:nvPr>
        </p:nvSpPr>
        <p:spPr>
          <a:xfrm>
            <a:off x="6570685" y="727854"/>
            <a:ext cx="4249738" cy="1008063"/>
          </a:xfrm>
        </p:spPr>
        <p:txBody>
          <a:bodyPr/>
          <a:lstStyle/>
          <a:p>
            <a:pPr eaLnBrk="1" hangingPunct="1">
              <a:spcAft>
                <a:spcPct val="15000"/>
              </a:spcAft>
              <a:defRPr/>
            </a:pPr>
            <a:r>
              <a:rPr lang="zh-CN" altLang="en-US" sz="2800" dirty="0"/>
              <a:t>特点</a:t>
            </a:r>
          </a:p>
          <a:p>
            <a:pPr eaLnBrk="1" hangingPunct="1">
              <a:spcAft>
                <a:spcPct val="15000"/>
              </a:spcAft>
              <a:buFont typeface="Wingdings" pitchFamily="2" charset="2"/>
              <a:buNone/>
              <a:defRPr/>
            </a:pPr>
            <a:r>
              <a:rPr lang="zh-CN" altLang="en-US" sz="2800" dirty="0"/>
              <a:t>	</a:t>
            </a:r>
            <a:r>
              <a:rPr lang="zh-CN" altLang="en-US" sz="2400" dirty="0"/>
              <a:t>数据和程序是一个整体</a:t>
            </a:r>
          </a:p>
          <a:p>
            <a:pPr lvl="1" eaLnBrk="1" hangingPunct="1">
              <a:spcAft>
                <a:spcPct val="15000"/>
              </a:spcAft>
              <a:defRPr/>
            </a:pPr>
            <a:r>
              <a:rPr lang="zh-CN" altLang="en-US" sz="2400" dirty="0"/>
              <a:t>数据不存储</a:t>
            </a:r>
          </a:p>
          <a:p>
            <a:pPr lvl="1" eaLnBrk="1" hangingPunct="1">
              <a:spcAft>
                <a:spcPct val="15000"/>
              </a:spcAft>
              <a:defRPr/>
            </a:pPr>
            <a:r>
              <a:rPr lang="zh-CN" altLang="en-US" sz="2400" dirty="0"/>
              <a:t>程序员设计和管理数据</a:t>
            </a:r>
          </a:p>
          <a:p>
            <a:pPr lvl="1" eaLnBrk="1" hangingPunct="1">
              <a:spcAft>
                <a:spcPct val="15000"/>
              </a:spcAft>
              <a:defRPr/>
            </a:pPr>
            <a:r>
              <a:rPr lang="zh-CN" altLang="en-US" sz="2400" dirty="0"/>
              <a:t>数据不共享</a:t>
            </a:r>
          </a:p>
          <a:p>
            <a:pPr lvl="1" eaLnBrk="1" hangingPunct="1">
              <a:spcAft>
                <a:spcPct val="15000"/>
              </a:spcAft>
              <a:defRPr/>
            </a:pPr>
            <a:r>
              <a:rPr lang="zh-CN" altLang="en-US" sz="2400" dirty="0"/>
              <a:t>数据无独立性</a:t>
            </a:r>
          </a:p>
        </p:txBody>
      </p:sp>
      <p:sp>
        <p:nvSpPr>
          <p:cNvPr id="22" name="Rectangle 14"/>
          <p:cNvSpPr>
            <a:spLocks noChangeArrowheads="1"/>
          </p:cNvSpPr>
          <p:nvPr/>
        </p:nvSpPr>
        <p:spPr bwMode="auto">
          <a:xfrm>
            <a:off x="623392" y="1718084"/>
            <a:ext cx="4249738" cy="1008063"/>
          </a:xfrm>
          <a:prstGeom prst="rect">
            <a:avLst/>
          </a:prstGeom>
          <a:noFill/>
          <a:ln w="9525">
            <a:noFill/>
            <a:miter lim="800000"/>
            <a:headEnd/>
            <a:tailEnd/>
          </a:ln>
          <a:effectLst/>
        </p:spPr>
        <p:txBody>
          <a:bodyPr/>
          <a:lstStyle/>
          <a:p>
            <a:pPr marL="271463" indent="-271463">
              <a:spcAft>
                <a:spcPct val="15000"/>
              </a:spcAft>
              <a:buClr>
                <a:srgbClr val="66FF33"/>
              </a:buClr>
              <a:buSzPct val="85000"/>
              <a:buFont typeface="Wingdings" pitchFamily="2" charset="2"/>
              <a:buBlip>
                <a:blip r:embed="rId2"/>
              </a:buBlip>
              <a:defRPr/>
            </a:pPr>
            <a:r>
              <a:rPr lang="zh-CN" altLang="en-US"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背景</a:t>
            </a:r>
            <a:endPar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a:p>
            <a:pPr marL="630238" lvl="1" indent="-179388">
              <a:spcAft>
                <a:spcPct val="15000"/>
              </a:spcAft>
              <a:buClr>
                <a:schemeClr val="accent2"/>
              </a:buClr>
              <a:buSzPct val="50000"/>
              <a:buFont typeface="Wingdings" pitchFamily="2" charset="2"/>
              <a:buChar char="n"/>
              <a:defRPr/>
            </a:pPr>
            <a:r>
              <a:rPr lang="en-US" altLang="zh-CN"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20</a:t>
            </a: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世纪</a:t>
            </a:r>
            <a:r>
              <a:rPr lang="en-US" altLang="zh-CN"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50</a:t>
            </a: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年代中期以前</a:t>
            </a:r>
          </a:p>
          <a:p>
            <a:pPr marL="630238" lvl="1" indent="-179388">
              <a:spcAft>
                <a:spcPct val="15000"/>
              </a:spcAft>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计算机用于科学计算</a:t>
            </a:r>
          </a:p>
          <a:p>
            <a:pPr marL="630238" lvl="1" indent="-179388">
              <a:spcAft>
                <a:spcPct val="15000"/>
              </a:spcAft>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无磁盘等直接存取设备</a:t>
            </a:r>
          </a:p>
          <a:p>
            <a:pPr marL="630238" lvl="1" indent="-179388">
              <a:spcAft>
                <a:spcPct val="15000"/>
              </a:spcAft>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无操作系统</a:t>
            </a:r>
          </a:p>
          <a:p>
            <a:pPr marL="630238" lvl="1" indent="-179388">
              <a:spcAft>
                <a:spcPct val="15000"/>
              </a:spcAft>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编程语言一般为汇编</a:t>
            </a:r>
          </a:p>
        </p:txBody>
      </p:sp>
      <p:grpSp>
        <p:nvGrpSpPr>
          <p:cNvPr id="3" name="组合 2">
            <a:extLst>
              <a:ext uri="{FF2B5EF4-FFF2-40B4-BE49-F238E27FC236}">
                <a16:creationId xmlns:a16="http://schemas.microsoft.com/office/drawing/2014/main" id="{CD02A13C-6329-436F-90A8-3726A449A6F2}"/>
              </a:ext>
            </a:extLst>
          </p:cNvPr>
          <p:cNvGrpSpPr/>
          <p:nvPr/>
        </p:nvGrpSpPr>
        <p:grpSpPr>
          <a:xfrm>
            <a:off x="6570685" y="3776683"/>
            <a:ext cx="4941714" cy="2690801"/>
            <a:chOff x="7333952" y="4499899"/>
            <a:chExt cx="3352800" cy="1825625"/>
          </a:xfrm>
        </p:grpSpPr>
        <p:sp>
          <p:nvSpPr>
            <p:cNvPr id="10" name="Rectangle 4"/>
            <p:cNvSpPr>
              <a:spLocks noChangeArrowheads="1"/>
            </p:cNvSpPr>
            <p:nvPr/>
          </p:nvSpPr>
          <p:spPr bwMode="auto">
            <a:xfrm>
              <a:off x="7333952" y="4499899"/>
              <a:ext cx="1422400" cy="339725"/>
            </a:xfrm>
            <a:prstGeom prst="rect">
              <a:avLst/>
            </a:prstGeom>
            <a:solidFill>
              <a:srgbClr val="66FFCC"/>
            </a:solidFill>
            <a:ln w="9525">
              <a:solidFill>
                <a:schemeClr val="tx1"/>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dirty="0">
                  <a:solidFill>
                    <a:schemeClr val="bg1"/>
                  </a:solidFill>
                  <a:latin typeface="宋体" panose="02010600030101010101" pitchFamily="2" charset="-122"/>
                </a:rPr>
                <a:t>应用程序1</a:t>
              </a:r>
            </a:p>
          </p:txBody>
        </p:sp>
        <p:sp>
          <p:nvSpPr>
            <p:cNvPr id="11" name="Rectangle 5"/>
            <p:cNvSpPr>
              <a:spLocks noChangeArrowheads="1"/>
            </p:cNvSpPr>
            <p:nvPr/>
          </p:nvSpPr>
          <p:spPr bwMode="auto">
            <a:xfrm>
              <a:off x="7333952" y="5066637"/>
              <a:ext cx="1422400" cy="338137"/>
            </a:xfrm>
            <a:prstGeom prst="rect">
              <a:avLst/>
            </a:prstGeom>
            <a:solidFill>
              <a:srgbClr val="66FFCC"/>
            </a:solidFill>
            <a:ln w="9525">
              <a:solidFill>
                <a:schemeClr val="tx1"/>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a:solidFill>
                    <a:schemeClr val="bg1"/>
                  </a:solidFill>
                  <a:latin typeface="宋体" panose="02010600030101010101" pitchFamily="2" charset="-122"/>
                </a:rPr>
                <a:t>应用程序2</a:t>
              </a:r>
            </a:p>
          </p:txBody>
        </p:sp>
        <p:sp>
          <p:nvSpPr>
            <p:cNvPr id="14" name="Rectangle 6"/>
            <p:cNvSpPr>
              <a:spLocks noChangeArrowheads="1"/>
            </p:cNvSpPr>
            <p:nvPr/>
          </p:nvSpPr>
          <p:spPr bwMode="auto">
            <a:xfrm>
              <a:off x="7333952" y="5985799"/>
              <a:ext cx="1422400" cy="339725"/>
            </a:xfrm>
            <a:prstGeom prst="rect">
              <a:avLst/>
            </a:prstGeom>
            <a:solidFill>
              <a:srgbClr val="66FFCC"/>
            </a:solidFill>
            <a:ln w="9525">
              <a:solidFill>
                <a:schemeClr val="tx1"/>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a:solidFill>
                    <a:schemeClr val="bg1"/>
                  </a:solidFill>
                  <a:latin typeface="宋体" panose="02010600030101010101" pitchFamily="2" charset="-122"/>
                </a:rPr>
                <a:t>应用程序</a:t>
              </a:r>
              <a:r>
                <a:rPr lang="en-US" altLang="zh-CN" sz="2400" b="1" baseline="0">
                  <a:solidFill>
                    <a:schemeClr val="bg1"/>
                  </a:solidFill>
                  <a:latin typeface="宋体" panose="02010600030101010101" pitchFamily="2" charset="-122"/>
                </a:rPr>
                <a:t>n</a:t>
              </a:r>
            </a:p>
          </p:txBody>
        </p:sp>
        <p:cxnSp>
          <p:nvCxnSpPr>
            <p:cNvPr id="15" name="AutoShape 7"/>
            <p:cNvCxnSpPr>
              <a:cxnSpLocks noChangeShapeType="1"/>
              <a:stCxn id="10" idx="3"/>
              <a:endCxn id="23" idx="1"/>
            </p:cNvCxnSpPr>
            <p:nvPr/>
          </p:nvCxnSpPr>
          <p:spPr bwMode="auto">
            <a:xfrm>
              <a:off x="8756352" y="4669762"/>
              <a:ext cx="508000" cy="0"/>
            </a:xfrm>
            <a:prstGeom prst="straightConnector1">
              <a:avLst/>
            </a:prstGeom>
            <a:noFill/>
            <a:ln w="28575" cap="sq">
              <a:solidFill>
                <a:schemeClr val="tx1"/>
              </a:solidFill>
              <a:round/>
              <a:headEnd type="none" w="sm" len="sm"/>
              <a:tailEnd type="none" w="sm" len="sm"/>
            </a:ln>
            <a:effectLst>
              <a:outerShdw dist="35921" dir="2700000" algn="ctr" rotWithShape="0">
                <a:schemeClr val="bg2"/>
              </a:outerShdw>
            </a:effectLst>
          </p:spPr>
        </p:cxnSp>
        <p:cxnSp>
          <p:nvCxnSpPr>
            <p:cNvPr id="16" name="AutoShape 8"/>
            <p:cNvCxnSpPr>
              <a:cxnSpLocks noChangeShapeType="1"/>
              <a:stCxn id="11" idx="3"/>
              <a:endCxn id="24" idx="1"/>
            </p:cNvCxnSpPr>
            <p:nvPr/>
          </p:nvCxnSpPr>
          <p:spPr bwMode="auto">
            <a:xfrm>
              <a:off x="8756352" y="5236499"/>
              <a:ext cx="508000" cy="0"/>
            </a:xfrm>
            <a:prstGeom prst="straightConnector1">
              <a:avLst/>
            </a:prstGeom>
            <a:noFill/>
            <a:ln w="28575" cap="sq">
              <a:solidFill>
                <a:schemeClr val="tx1"/>
              </a:solidFill>
              <a:round/>
              <a:headEnd type="none" w="sm" len="sm"/>
              <a:tailEnd type="none" w="sm" len="sm"/>
            </a:ln>
            <a:effectLst>
              <a:outerShdw dist="35921" dir="2700000" algn="ctr" rotWithShape="0">
                <a:schemeClr val="bg2"/>
              </a:outerShdw>
            </a:effectLst>
          </p:spPr>
        </p:cxnSp>
        <p:cxnSp>
          <p:nvCxnSpPr>
            <p:cNvPr id="17" name="AutoShape 9"/>
            <p:cNvCxnSpPr>
              <a:cxnSpLocks noChangeShapeType="1"/>
              <a:stCxn id="14" idx="3"/>
              <a:endCxn id="25" idx="1"/>
            </p:cNvCxnSpPr>
            <p:nvPr/>
          </p:nvCxnSpPr>
          <p:spPr bwMode="auto">
            <a:xfrm>
              <a:off x="8756352" y="6155662"/>
              <a:ext cx="508000" cy="0"/>
            </a:xfrm>
            <a:prstGeom prst="straightConnector1">
              <a:avLst/>
            </a:prstGeom>
            <a:noFill/>
            <a:ln w="28575" cap="sq">
              <a:solidFill>
                <a:schemeClr val="tx1"/>
              </a:solidFill>
              <a:round/>
              <a:headEnd type="none" w="sm" len="sm"/>
              <a:tailEnd type="none" w="sm" len="sm"/>
            </a:ln>
            <a:effectLst>
              <a:outerShdw dist="35921" dir="2700000" algn="ctr" rotWithShape="0">
                <a:schemeClr val="bg2"/>
              </a:outerShdw>
            </a:effectLst>
          </p:spPr>
        </p:cxnSp>
        <p:sp>
          <p:nvSpPr>
            <p:cNvPr id="18" name="Text Box 10"/>
            <p:cNvSpPr txBox="1">
              <a:spLocks noChangeArrowheads="1"/>
            </p:cNvSpPr>
            <p:nvPr/>
          </p:nvSpPr>
          <p:spPr bwMode="auto">
            <a:xfrm>
              <a:off x="7816552" y="5541604"/>
              <a:ext cx="609600" cy="354989"/>
            </a:xfrm>
            <a:prstGeom prst="rect">
              <a:avLst/>
            </a:prstGeom>
            <a:noFill/>
            <a:ln w="12700" cap="sq">
              <a:noFill/>
              <a:miter lim="800000"/>
              <a:headEnd type="none" w="sm" len="sm"/>
              <a:tailEnd type="none" w="sm" len="sm"/>
            </a:ln>
            <a:effectLst>
              <a:outerShdw dist="35921" dir="2700000" algn="ctr" rotWithShape="0">
                <a:schemeClr val="bg2"/>
              </a:outerShdw>
            </a:effectLst>
          </p:spPr>
          <p:txBody>
            <a:bodyPr anchor="ctr" anchorCtr="0">
              <a:spAutoFit/>
            </a:bodyPr>
            <a:lstStyle/>
            <a:p>
              <a:pPr>
                <a:spcBef>
                  <a:spcPct val="50000"/>
                </a:spcBef>
                <a:defRPr/>
              </a:pPr>
              <a:r>
                <a:rPr kumimoji="1" lang="zh-CN" altLang="en-US" sz="2800" b="1" baseline="0">
                  <a:solidFill>
                    <a:srgbClr val="CCFF99"/>
                  </a:solidFill>
                  <a:latin typeface="宋体" panose="02010600030101010101" pitchFamily="2" charset="-122"/>
                </a:rPr>
                <a:t>┊</a:t>
              </a:r>
            </a:p>
          </p:txBody>
        </p:sp>
        <p:sp>
          <p:nvSpPr>
            <p:cNvPr id="19" name="Text Box 11"/>
            <p:cNvSpPr txBox="1">
              <a:spLocks noChangeArrowheads="1"/>
            </p:cNvSpPr>
            <p:nvPr/>
          </p:nvSpPr>
          <p:spPr bwMode="auto">
            <a:xfrm>
              <a:off x="9721552" y="5541604"/>
              <a:ext cx="609600" cy="354989"/>
            </a:xfrm>
            <a:prstGeom prst="rect">
              <a:avLst/>
            </a:prstGeom>
            <a:noFill/>
            <a:ln w="12700" cap="sq">
              <a:noFill/>
              <a:miter lim="800000"/>
              <a:headEnd type="none" w="sm" len="sm"/>
              <a:tailEnd type="none" w="sm" len="sm"/>
            </a:ln>
            <a:effectLst>
              <a:outerShdw dist="35921" dir="2700000" algn="ctr" rotWithShape="0">
                <a:schemeClr val="bg2"/>
              </a:outerShdw>
            </a:effectLst>
          </p:spPr>
          <p:txBody>
            <a:bodyPr anchor="ctr" anchorCtr="0">
              <a:spAutoFit/>
            </a:bodyPr>
            <a:lstStyle/>
            <a:p>
              <a:pPr>
                <a:spcBef>
                  <a:spcPct val="50000"/>
                </a:spcBef>
                <a:defRPr/>
              </a:pPr>
              <a:r>
                <a:rPr kumimoji="1" lang="zh-CN" altLang="en-US" sz="2800" b="1" baseline="0">
                  <a:solidFill>
                    <a:srgbClr val="CCFF99"/>
                  </a:solidFill>
                  <a:latin typeface="宋体" panose="02010600030101010101" pitchFamily="2" charset="-122"/>
                </a:rPr>
                <a:t>┊</a:t>
              </a:r>
            </a:p>
          </p:txBody>
        </p:sp>
        <p:sp>
          <p:nvSpPr>
            <p:cNvPr id="23" name="Rectangle 15"/>
            <p:cNvSpPr>
              <a:spLocks noChangeArrowheads="1"/>
            </p:cNvSpPr>
            <p:nvPr/>
          </p:nvSpPr>
          <p:spPr bwMode="auto">
            <a:xfrm>
              <a:off x="9264352" y="4499899"/>
              <a:ext cx="1422400" cy="339725"/>
            </a:xfrm>
            <a:prstGeom prst="rect">
              <a:avLst/>
            </a:prstGeom>
            <a:solidFill>
              <a:schemeClr val="hlink"/>
            </a:solidFill>
            <a:ln w="9525">
              <a:solidFill>
                <a:schemeClr val="tx1"/>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a:solidFill>
                    <a:schemeClr val="bg1"/>
                  </a:solidFill>
                  <a:latin typeface="宋体" panose="02010600030101010101" pitchFamily="2" charset="-122"/>
                </a:rPr>
                <a:t>数据集1</a:t>
              </a:r>
            </a:p>
          </p:txBody>
        </p:sp>
        <p:sp>
          <p:nvSpPr>
            <p:cNvPr id="24" name="Rectangle 16"/>
            <p:cNvSpPr>
              <a:spLocks noChangeArrowheads="1"/>
            </p:cNvSpPr>
            <p:nvPr/>
          </p:nvSpPr>
          <p:spPr bwMode="auto">
            <a:xfrm>
              <a:off x="9264352" y="5066637"/>
              <a:ext cx="1422400" cy="338137"/>
            </a:xfrm>
            <a:prstGeom prst="rect">
              <a:avLst/>
            </a:prstGeom>
            <a:solidFill>
              <a:schemeClr val="hlink"/>
            </a:solidFill>
            <a:ln w="9525">
              <a:solidFill>
                <a:schemeClr val="tx1"/>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a:solidFill>
                    <a:schemeClr val="bg1"/>
                  </a:solidFill>
                  <a:latin typeface="宋体" panose="02010600030101010101" pitchFamily="2" charset="-122"/>
                </a:rPr>
                <a:t>数据集2</a:t>
              </a:r>
            </a:p>
          </p:txBody>
        </p:sp>
        <p:sp>
          <p:nvSpPr>
            <p:cNvPr id="25" name="Rectangle 17"/>
            <p:cNvSpPr>
              <a:spLocks noChangeArrowheads="1"/>
            </p:cNvSpPr>
            <p:nvPr/>
          </p:nvSpPr>
          <p:spPr bwMode="auto">
            <a:xfrm>
              <a:off x="9264352" y="5985799"/>
              <a:ext cx="1422400" cy="339725"/>
            </a:xfrm>
            <a:prstGeom prst="rect">
              <a:avLst/>
            </a:prstGeom>
            <a:solidFill>
              <a:schemeClr val="hlink"/>
            </a:solidFill>
            <a:ln w="9525">
              <a:solidFill>
                <a:schemeClr val="tx1"/>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dirty="0">
                  <a:solidFill>
                    <a:schemeClr val="bg1"/>
                  </a:solidFill>
                  <a:latin typeface="宋体" panose="02010600030101010101" pitchFamily="2" charset="-122"/>
                </a:rPr>
                <a:t>数据集</a:t>
              </a:r>
              <a:r>
                <a:rPr lang="en-US" altLang="zh-CN" sz="2400" b="1" baseline="0" dirty="0">
                  <a:solidFill>
                    <a:schemeClr val="bg1"/>
                  </a:solidFill>
                  <a:latin typeface="宋体" panose="02010600030101010101" pitchFamily="2" charset="-122"/>
                </a:rPr>
                <a:t>n</a:t>
              </a:r>
            </a:p>
          </p:txBody>
        </p:sp>
      </p:grpSp>
      <p:grpSp>
        <p:nvGrpSpPr>
          <p:cNvPr id="2" name="组合 1">
            <a:extLst>
              <a:ext uri="{FF2B5EF4-FFF2-40B4-BE49-F238E27FC236}">
                <a16:creationId xmlns:a16="http://schemas.microsoft.com/office/drawing/2014/main" id="{48AE3E24-7004-47E4-9CE3-1ACFB7EB7A1F}"/>
              </a:ext>
            </a:extLst>
          </p:cNvPr>
          <p:cNvGrpSpPr/>
          <p:nvPr/>
        </p:nvGrpSpPr>
        <p:grpSpPr>
          <a:xfrm>
            <a:off x="1505248" y="4669762"/>
            <a:ext cx="2355056" cy="1954096"/>
            <a:chOff x="1796728" y="4554118"/>
            <a:chExt cx="1422400" cy="1800225"/>
          </a:xfrm>
        </p:grpSpPr>
        <p:cxnSp>
          <p:nvCxnSpPr>
            <p:cNvPr id="20" name="AutoShape 12"/>
            <p:cNvCxnSpPr>
              <a:cxnSpLocks noChangeShapeType="1"/>
              <a:stCxn id="27" idx="2"/>
              <a:endCxn id="26" idx="0"/>
            </p:cNvCxnSpPr>
            <p:nvPr/>
          </p:nvCxnSpPr>
          <p:spPr bwMode="auto">
            <a:xfrm>
              <a:off x="2507928" y="4935118"/>
              <a:ext cx="0" cy="292100"/>
            </a:xfrm>
            <a:prstGeom prst="straightConnector1">
              <a:avLst/>
            </a:prstGeom>
            <a:noFill/>
            <a:ln w="28575" cap="sq">
              <a:solidFill>
                <a:schemeClr val="tx1"/>
              </a:solidFill>
              <a:round/>
              <a:headEnd type="none" w="sm" len="sm"/>
              <a:tailEnd type="triangle" w="sm" len="sm"/>
            </a:ln>
            <a:effectLst>
              <a:outerShdw dist="17961" dir="2700000" algn="ctr" rotWithShape="0">
                <a:schemeClr val="bg2"/>
              </a:outerShdw>
            </a:effectLst>
          </p:spPr>
        </p:cxnSp>
        <p:cxnSp>
          <p:nvCxnSpPr>
            <p:cNvPr id="21" name="AutoShape 13"/>
            <p:cNvCxnSpPr>
              <a:cxnSpLocks noChangeShapeType="1"/>
              <a:stCxn id="26" idx="2"/>
              <a:endCxn id="28" idx="0"/>
            </p:cNvCxnSpPr>
            <p:nvPr/>
          </p:nvCxnSpPr>
          <p:spPr bwMode="auto">
            <a:xfrm>
              <a:off x="2507928" y="5706643"/>
              <a:ext cx="0" cy="279400"/>
            </a:xfrm>
            <a:prstGeom prst="straightConnector1">
              <a:avLst/>
            </a:prstGeom>
            <a:noFill/>
            <a:ln w="28575" cap="sq">
              <a:solidFill>
                <a:schemeClr val="tx1"/>
              </a:solidFill>
              <a:round/>
              <a:headEnd type="none" w="sm" len="sm"/>
              <a:tailEnd type="triangle" w="sm" len="sm"/>
            </a:ln>
            <a:effectLst>
              <a:outerShdw dist="17961" dir="2700000" algn="ctr" rotWithShape="0">
                <a:schemeClr val="bg2"/>
              </a:outerShdw>
            </a:effectLst>
          </p:spPr>
        </p:cxnSp>
        <p:sp>
          <p:nvSpPr>
            <p:cNvPr id="26" name="Rectangle 18"/>
            <p:cNvSpPr>
              <a:spLocks noChangeArrowheads="1"/>
            </p:cNvSpPr>
            <p:nvPr/>
          </p:nvSpPr>
          <p:spPr bwMode="auto">
            <a:xfrm>
              <a:off x="1796728" y="5227218"/>
              <a:ext cx="1422400" cy="479425"/>
            </a:xfrm>
            <a:prstGeom prst="rect">
              <a:avLst/>
            </a:prstGeom>
            <a:solidFill>
              <a:srgbClr val="66FFCC"/>
            </a:solidFill>
            <a:ln w="12700">
              <a:solidFill>
                <a:schemeClr val="tx1"/>
              </a:solidFill>
              <a:miter lim="800000"/>
              <a:headEnd/>
              <a:tailEnd/>
            </a:ln>
            <a:effectLst>
              <a:outerShdw dist="35921" dir="2700000" algn="ctr" rotWithShape="0">
                <a:schemeClr val="bg2"/>
              </a:outerShdw>
            </a:effectLst>
          </p:spPr>
          <p:txBody>
            <a:bodyPr lIns="0" tIns="0" rIns="0" bIns="0" anchor="ctr" anchorCtr="1"/>
            <a:lstStyle/>
            <a:p>
              <a:pPr algn="ctr" eaLnBrk="0" hangingPunct="0">
                <a:defRPr/>
              </a:pPr>
              <a:r>
                <a:rPr lang="zh-CN" altLang="en-US" sz="2400" b="1" baseline="0">
                  <a:solidFill>
                    <a:schemeClr val="bg1"/>
                  </a:solidFill>
                  <a:latin typeface="宋体" panose="02010600030101010101" pitchFamily="2" charset="-122"/>
                </a:rPr>
                <a:t>程序</a:t>
              </a:r>
            </a:p>
          </p:txBody>
        </p:sp>
        <p:sp>
          <p:nvSpPr>
            <p:cNvPr id="27" name="AutoShape 19"/>
            <p:cNvSpPr>
              <a:spLocks noChangeArrowheads="1"/>
            </p:cNvSpPr>
            <p:nvPr/>
          </p:nvSpPr>
          <p:spPr bwMode="auto">
            <a:xfrm>
              <a:off x="1847528" y="4554118"/>
              <a:ext cx="1320800" cy="381000"/>
            </a:xfrm>
            <a:prstGeom prst="foldedCorner">
              <a:avLst>
                <a:gd name="adj" fmla="val 12500"/>
              </a:avLst>
            </a:prstGeom>
            <a:solidFill>
              <a:schemeClr val="hlink"/>
            </a:solidFill>
            <a:ln w="12700" cap="sq">
              <a:solidFill>
                <a:schemeClr val="tx1"/>
              </a:solidFill>
              <a:round/>
              <a:headEnd type="none" w="sm" len="sm"/>
              <a:tailEnd type="none" w="sm" len="sm"/>
            </a:ln>
            <a:effectLst>
              <a:outerShdw dist="35921" dir="2700000" algn="ctr" rotWithShape="0">
                <a:schemeClr val="bg2"/>
              </a:outerShdw>
            </a:effectLst>
          </p:spPr>
          <p:txBody>
            <a:bodyPr wrap="none" anchor="ctr"/>
            <a:lstStyle/>
            <a:p>
              <a:pPr algn="ctr">
                <a:defRPr/>
              </a:pPr>
              <a:r>
                <a:rPr kumimoji="1" lang="zh-CN" altLang="en-US" sz="2400" b="1" baseline="0" dirty="0">
                  <a:solidFill>
                    <a:schemeClr val="bg1"/>
                  </a:solidFill>
                  <a:latin typeface="宋体" panose="02010600030101010101" pitchFamily="2" charset="-122"/>
                </a:rPr>
                <a:t>输入数据</a:t>
              </a:r>
            </a:p>
          </p:txBody>
        </p:sp>
        <p:sp>
          <p:nvSpPr>
            <p:cNvPr id="28" name="AutoShape 20"/>
            <p:cNvSpPr>
              <a:spLocks noChangeArrowheads="1"/>
            </p:cNvSpPr>
            <p:nvPr/>
          </p:nvSpPr>
          <p:spPr bwMode="auto">
            <a:xfrm>
              <a:off x="1847528" y="5986043"/>
              <a:ext cx="1320800" cy="368300"/>
            </a:xfrm>
            <a:prstGeom prst="foldedCorner">
              <a:avLst>
                <a:gd name="adj" fmla="val 10699"/>
              </a:avLst>
            </a:prstGeom>
            <a:solidFill>
              <a:schemeClr val="hlink"/>
            </a:solidFill>
            <a:ln w="12700" cap="sq">
              <a:solidFill>
                <a:schemeClr val="tx1"/>
              </a:solidFill>
              <a:round/>
              <a:headEnd type="none" w="sm" len="sm"/>
              <a:tailEnd type="none" w="sm" len="sm"/>
            </a:ln>
            <a:effectLst>
              <a:outerShdw dist="35921" dir="2700000" algn="ctr" rotWithShape="0">
                <a:schemeClr val="bg2"/>
              </a:outerShdw>
            </a:effectLst>
          </p:spPr>
          <p:txBody>
            <a:bodyPr wrap="none" anchor="ctr"/>
            <a:lstStyle/>
            <a:p>
              <a:pPr algn="ctr">
                <a:defRPr/>
              </a:pPr>
              <a:r>
                <a:rPr kumimoji="1" lang="zh-CN" altLang="en-US" sz="2400" b="1" baseline="0">
                  <a:solidFill>
                    <a:schemeClr val="bg1"/>
                  </a:solidFill>
                  <a:latin typeface="宋体" panose="02010600030101010101" pitchFamily="2" charset="-122"/>
                </a:rPr>
                <a:t>输出数据</a:t>
              </a:r>
            </a:p>
          </p:txBody>
        </p:sp>
      </p:grpSp>
    </p:spTree>
    <p:extLst>
      <p:ext uri="{BB962C8B-B14F-4D97-AF65-F5344CB8AC3E}">
        <p14:creationId xmlns:p14="http://schemas.microsoft.com/office/powerpoint/2010/main" val="29313045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270" name="Text Box 166"/>
          <p:cNvSpPr txBox="1">
            <a:spLocks noChangeArrowheads="1"/>
          </p:cNvSpPr>
          <p:nvPr/>
        </p:nvSpPr>
        <p:spPr bwMode="auto">
          <a:xfrm>
            <a:off x="767408" y="17697"/>
            <a:ext cx="4762055"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defPPr>
              <a:defRPr lang="en-US"/>
            </a:defPPr>
            <a:lvl1pPr>
              <a:defRPr sz="4000" b="1" baseline="0">
                <a:solidFill>
                  <a:schemeClr val="folHlink"/>
                </a:solidFill>
                <a:effectLst>
                  <a:outerShdw blurRad="38100" dist="38100" dir="2700000" algn="tl">
                    <a:srgbClr val="000000"/>
                  </a:outerShdw>
                </a:effectLst>
                <a:latin typeface="微软雅黑" pitchFamily="34" charset="-122"/>
                <a:ea typeface="微软雅黑" pitchFamily="34" charset="-122"/>
              </a:defRPr>
            </a:lvl1pPr>
          </a:lstStyle>
          <a:p>
            <a:r>
              <a:rPr lang="zh-CN" altLang="en-US" dirty="0"/>
              <a:t>数据管理技术的发展</a:t>
            </a:r>
          </a:p>
        </p:txBody>
      </p:sp>
      <p:sp>
        <p:nvSpPr>
          <p:cNvPr id="8" name="Rectangle 2"/>
          <p:cNvSpPr>
            <a:spLocks noGrp="1" noChangeArrowheads="1"/>
          </p:cNvSpPr>
          <p:nvPr>
            <p:ph type="title"/>
          </p:nvPr>
        </p:nvSpPr>
        <p:spPr>
          <a:xfrm>
            <a:off x="767408" y="877943"/>
            <a:ext cx="4059125" cy="707886"/>
          </a:xfrm>
        </p:spPr>
        <p:txBody>
          <a:bodyPr/>
          <a:lstStyle/>
          <a:p>
            <a:pPr eaLnBrk="1" hangingPunct="1">
              <a:defRPr/>
            </a:pPr>
            <a:r>
              <a:rPr lang="en-US" altLang="zh-CN" dirty="0"/>
              <a:t>(2) </a:t>
            </a:r>
            <a:r>
              <a:rPr lang="zh-CN" altLang="en-US" dirty="0"/>
              <a:t>文件管理阶段</a:t>
            </a:r>
            <a:endParaRPr lang="en-US" altLang="zh-CN" dirty="0"/>
          </a:p>
        </p:txBody>
      </p:sp>
      <p:sp>
        <p:nvSpPr>
          <p:cNvPr id="29" name="Rectangle 3"/>
          <p:cNvSpPr>
            <a:spLocks noChangeArrowheads="1"/>
          </p:cNvSpPr>
          <p:nvPr/>
        </p:nvSpPr>
        <p:spPr bwMode="auto">
          <a:xfrm>
            <a:off x="767408" y="1772816"/>
            <a:ext cx="4453508" cy="1008062"/>
          </a:xfrm>
          <a:prstGeom prst="rect">
            <a:avLst/>
          </a:prstGeom>
          <a:noFill/>
          <a:ln w="9525">
            <a:noFill/>
            <a:miter lim="800000"/>
            <a:headEnd/>
            <a:tailEnd/>
          </a:ln>
          <a:effectLst/>
        </p:spPr>
        <p:txBody>
          <a:bodyPr/>
          <a:lstStyle/>
          <a:p>
            <a:pPr marL="271463" indent="-271463">
              <a:spcAft>
                <a:spcPct val="15000"/>
              </a:spcAft>
              <a:buClr>
                <a:srgbClr val="66FF33"/>
              </a:buClr>
              <a:buSzPct val="85000"/>
              <a:buFont typeface="Wingdings" pitchFamily="2" charset="2"/>
              <a:buBlip>
                <a:blip r:embed="rId2"/>
              </a:buBlip>
              <a:defRPr/>
            </a:pPr>
            <a:r>
              <a:rPr lang="zh-CN" altLang="en-US"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背景</a:t>
            </a:r>
            <a:endPar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a:p>
            <a:pPr marL="630238" lvl="1" indent="-179388">
              <a:spcAft>
                <a:spcPct val="15000"/>
              </a:spcAft>
              <a:buClr>
                <a:schemeClr val="accent2"/>
              </a:buClr>
              <a:buSzPct val="50000"/>
              <a:buFont typeface="Wingdings" pitchFamily="2" charset="2"/>
              <a:buChar char="n"/>
              <a:defRPr/>
            </a:pPr>
            <a:r>
              <a:rPr lang="en-US" altLang="zh-CN"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50年代后期～60年代</a:t>
            </a: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中期</a:t>
            </a:r>
          </a:p>
          <a:p>
            <a:pPr marL="630238" lvl="1" indent="-179388">
              <a:spcAft>
                <a:spcPct val="15000"/>
              </a:spcAft>
              <a:buClr>
                <a:schemeClr val="accent2"/>
              </a:buClr>
              <a:buSzPct val="50000"/>
              <a:buFont typeface="Wingdings" pitchFamily="2" charset="2"/>
              <a:buChar char="n"/>
              <a:defRPr/>
            </a:pPr>
            <a:r>
              <a:rPr lang="en-US" altLang="zh-CN" sz="2400" baseline="0" dirty="0" err="1">
                <a:solidFill>
                  <a:srgbClr val="CCFFCC"/>
                </a:solidFill>
                <a:effectLst>
                  <a:outerShdw blurRad="38100" dist="38100" dir="2700000" algn="tl">
                    <a:srgbClr val="000000"/>
                  </a:outerShdw>
                </a:effectLst>
                <a:latin typeface="微软雅黑" pitchFamily="34" charset="-122"/>
                <a:ea typeface="微软雅黑" pitchFamily="34" charset="-122"/>
              </a:rPr>
              <a:t>计算机用于计算和管理</a:t>
            </a:r>
            <a:endParaRPr lang="en-US" altLang="zh-CN" sz="24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a:p>
            <a:pPr marL="630238" lvl="1" indent="-179388">
              <a:spcAft>
                <a:spcPct val="15000"/>
              </a:spcAft>
              <a:buClr>
                <a:schemeClr val="accent2"/>
              </a:buClr>
              <a:buSzPct val="50000"/>
              <a:buFont typeface="Wingdings" pitchFamily="2" charset="2"/>
              <a:buChar char="n"/>
              <a:defRPr/>
            </a:pPr>
            <a:r>
              <a:rPr lang="en-US" altLang="zh-CN" sz="2400" baseline="0" dirty="0" err="1">
                <a:solidFill>
                  <a:srgbClr val="CCFFCC"/>
                </a:solidFill>
                <a:effectLst>
                  <a:outerShdw blurRad="38100" dist="38100" dir="2700000" algn="tl">
                    <a:srgbClr val="000000"/>
                  </a:outerShdw>
                </a:effectLst>
                <a:latin typeface="微软雅黑" pitchFamily="34" charset="-122"/>
                <a:ea typeface="微软雅黑" pitchFamily="34" charset="-122"/>
              </a:rPr>
              <a:t>有直接存取设备</a:t>
            </a:r>
            <a:endParaRPr lang="en-US" altLang="zh-CN" sz="24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a:p>
            <a:pPr marL="630238" lvl="1" indent="-179388">
              <a:spcAft>
                <a:spcPct val="15000"/>
              </a:spcAft>
              <a:buClr>
                <a:schemeClr val="accent2"/>
              </a:buClr>
              <a:buSzPct val="50000"/>
              <a:buFont typeface="Wingdings" pitchFamily="2" charset="2"/>
              <a:buChar char="n"/>
              <a:defRPr/>
            </a:pPr>
            <a:r>
              <a:rPr lang="en-US" altLang="zh-CN" sz="2400" baseline="0" dirty="0" err="1">
                <a:solidFill>
                  <a:srgbClr val="CCFFCC"/>
                </a:solidFill>
                <a:effectLst>
                  <a:outerShdw blurRad="38100" dist="38100" dir="2700000" algn="tl">
                    <a:srgbClr val="000000"/>
                  </a:outerShdw>
                </a:effectLst>
                <a:latin typeface="微软雅黑" pitchFamily="34" charset="-122"/>
                <a:ea typeface="微软雅黑" pitchFamily="34" charset="-122"/>
              </a:rPr>
              <a:t>有操作系统</a:t>
            </a:r>
            <a:endParaRPr lang="en-US" altLang="zh-CN" sz="24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a:p>
            <a:pPr marL="630238" lvl="1" indent="-179388">
              <a:spcAft>
                <a:spcPct val="15000"/>
              </a:spcAft>
              <a:buClr>
                <a:schemeClr val="accent2"/>
              </a:buClr>
              <a:buSzPct val="50000"/>
              <a:buFont typeface="Wingdings" pitchFamily="2" charset="2"/>
              <a:buChar char="n"/>
              <a:defRPr/>
            </a:pPr>
            <a:r>
              <a:rPr lang="en-US" altLang="zh-CN" sz="2400" baseline="0" dirty="0" err="1">
                <a:solidFill>
                  <a:srgbClr val="CCFFCC"/>
                </a:solidFill>
                <a:effectLst>
                  <a:outerShdw blurRad="38100" dist="38100" dir="2700000" algn="tl">
                    <a:srgbClr val="000000"/>
                  </a:outerShdw>
                </a:effectLst>
                <a:latin typeface="微软雅黑" pitchFamily="34" charset="-122"/>
                <a:ea typeface="微软雅黑" pitchFamily="34" charset="-122"/>
              </a:rPr>
              <a:t>使用Basic等高级语言</a:t>
            </a:r>
            <a:endPar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p:txBody>
      </p:sp>
      <p:grpSp>
        <p:nvGrpSpPr>
          <p:cNvPr id="3" name="组合 2">
            <a:extLst>
              <a:ext uri="{FF2B5EF4-FFF2-40B4-BE49-F238E27FC236}">
                <a16:creationId xmlns:a16="http://schemas.microsoft.com/office/drawing/2014/main" id="{8F9A3A7D-25C9-4010-9C49-7838489AF0D0}"/>
              </a:ext>
            </a:extLst>
          </p:cNvPr>
          <p:cNvGrpSpPr/>
          <p:nvPr/>
        </p:nvGrpSpPr>
        <p:grpSpPr>
          <a:xfrm>
            <a:off x="6555664" y="3992977"/>
            <a:ext cx="4821361" cy="2592287"/>
            <a:chOff x="7107287" y="4605330"/>
            <a:chExt cx="4137025" cy="1863725"/>
          </a:xfrm>
        </p:grpSpPr>
        <p:cxnSp>
          <p:nvCxnSpPr>
            <p:cNvPr id="30" name="AutoShape 4"/>
            <p:cNvCxnSpPr>
              <a:cxnSpLocks noChangeShapeType="1"/>
              <a:stCxn id="45" idx="3"/>
              <a:endCxn id="46" idx="1"/>
            </p:cNvCxnSpPr>
            <p:nvPr/>
          </p:nvCxnSpPr>
          <p:spPr bwMode="auto">
            <a:xfrm>
              <a:off x="8529687" y="4813293"/>
              <a:ext cx="1922462" cy="0"/>
            </a:xfrm>
            <a:prstGeom prst="straightConnector1">
              <a:avLst/>
            </a:prstGeom>
            <a:noFill/>
            <a:ln w="12700">
              <a:solidFill>
                <a:srgbClr val="FFFF00"/>
              </a:solidFill>
              <a:prstDash val="dash"/>
              <a:round/>
              <a:headEnd type="none" w="sm" len="sm"/>
              <a:tailEnd type="none" w="sm" len="sm"/>
            </a:ln>
            <a:effectLst>
              <a:outerShdw dist="35921" dir="2700000" algn="ctr" rotWithShape="0">
                <a:schemeClr val="bg2"/>
              </a:outerShdw>
            </a:effectLst>
          </p:spPr>
        </p:cxnSp>
        <p:cxnSp>
          <p:nvCxnSpPr>
            <p:cNvPr id="31" name="AutoShape 5"/>
            <p:cNvCxnSpPr>
              <a:cxnSpLocks noChangeShapeType="1"/>
              <a:stCxn id="47" idx="3"/>
              <a:endCxn id="48" idx="1"/>
            </p:cNvCxnSpPr>
            <p:nvPr/>
          </p:nvCxnSpPr>
          <p:spPr bwMode="auto">
            <a:xfrm>
              <a:off x="8529687" y="5380030"/>
              <a:ext cx="1922462" cy="0"/>
            </a:xfrm>
            <a:prstGeom prst="straightConnector1">
              <a:avLst/>
            </a:prstGeom>
            <a:noFill/>
            <a:ln w="12700">
              <a:solidFill>
                <a:srgbClr val="FFFF00"/>
              </a:solidFill>
              <a:prstDash val="dash"/>
              <a:round/>
              <a:headEnd type="none" w="sm" len="sm"/>
              <a:tailEnd type="none" w="sm" len="sm"/>
            </a:ln>
            <a:effectLst>
              <a:outerShdw dist="35921" dir="2700000" algn="ctr" rotWithShape="0">
                <a:schemeClr val="bg2"/>
              </a:outerShdw>
            </a:effectLst>
          </p:spPr>
        </p:cxnSp>
        <p:cxnSp>
          <p:nvCxnSpPr>
            <p:cNvPr id="32" name="AutoShape 6"/>
            <p:cNvCxnSpPr>
              <a:cxnSpLocks noChangeShapeType="1"/>
              <a:stCxn id="50" idx="3"/>
              <a:endCxn id="49" idx="1"/>
            </p:cNvCxnSpPr>
            <p:nvPr/>
          </p:nvCxnSpPr>
          <p:spPr bwMode="auto">
            <a:xfrm>
              <a:off x="8529687" y="6299193"/>
              <a:ext cx="1922462" cy="0"/>
            </a:xfrm>
            <a:prstGeom prst="straightConnector1">
              <a:avLst/>
            </a:prstGeom>
            <a:noFill/>
            <a:ln w="12700">
              <a:solidFill>
                <a:srgbClr val="FFFF00"/>
              </a:solidFill>
              <a:prstDash val="dash"/>
              <a:round/>
              <a:headEnd type="none" w="sm" len="sm"/>
              <a:tailEnd type="none" w="sm" len="sm"/>
            </a:ln>
            <a:effectLst>
              <a:outerShdw dist="35921" dir="2700000" algn="ctr" rotWithShape="0">
                <a:schemeClr val="bg2"/>
              </a:outerShdw>
            </a:effectLst>
          </p:spPr>
        </p:cxnSp>
        <p:sp>
          <p:nvSpPr>
            <p:cNvPr id="33" name="Text Box 7"/>
            <p:cNvSpPr txBox="1">
              <a:spLocks noChangeArrowheads="1"/>
            </p:cNvSpPr>
            <p:nvPr/>
          </p:nvSpPr>
          <p:spPr bwMode="auto">
            <a:xfrm>
              <a:off x="7589887" y="5674546"/>
              <a:ext cx="609600" cy="376169"/>
            </a:xfrm>
            <a:prstGeom prst="rect">
              <a:avLst/>
            </a:prstGeom>
            <a:noFill/>
            <a:ln w="12700" cap="sq">
              <a:noFill/>
              <a:miter lim="800000"/>
              <a:headEnd type="none" w="sm" len="sm"/>
              <a:tailEnd type="none" w="sm" len="sm"/>
            </a:ln>
            <a:effectLst>
              <a:outerShdw dist="35921" dir="2700000" algn="ctr" rotWithShape="0">
                <a:schemeClr val="bg2"/>
              </a:outerShdw>
            </a:effectLst>
          </p:spPr>
          <p:txBody>
            <a:bodyPr anchor="ctr" anchorCtr="0">
              <a:spAutoFit/>
            </a:bodyPr>
            <a:lstStyle/>
            <a:p>
              <a:pPr>
                <a:spcBef>
                  <a:spcPct val="50000"/>
                </a:spcBef>
                <a:defRPr/>
              </a:pPr>
              <a:r>
                <a:rPr kumimoji="1" lang="zh-CN" altLang="en-US" sz="2800" b="1" baseline="0">
                  <a:solidFill>
                    <a:srgbClr val="CCFFCC"/>
                  </a:solidFill>
                  <a:latin typeface="宋体" panose="02010600030101010101" pitchFamily="2" charset="-122"/>
                </a:rPr>
                <a:t>┊</a:t>
              </a:r>
            </a:p>
          </p:txBody>
        </p:sp>
        <p:sp>
          <p:nvSpPr>
            <p:cNvPr id="34" name="Text Box 8"/>
            <p:cNvSpPr txBox="1">
              <a:spLocks noChangeArrowheads="1"/>
            </p:cNvSpPr>
            <p:nvPr/>
          </p:nvSpPr>
          <p:spPr bwMode="auto">
            <a:xfrm>
              <a:off x="10647412" y="5634030"/>
              <a:ext cx="387350" cy="457200"/>
            </a:xfrm>
            <a:prstGeom prst="rect">
              <a:avLst/>
            </a:prstGeom>
            <a:noFill/>
            <a:ln w="12700" cap="sq">
              <a:noFill/>
              <a:miter lim="800000"/>
              <a:headEnd type="none" w="sm" len="sm"/>
              <a:tailEnd type="none" w="sm" len="sm"/>
            </a:ln>
            <a:effectLst>
              <a:outerShdw dist="35921" dir="2700000" algn="ctr" rotWithShape="0">
                <a:schemeClr val="bg2"/>
              </a:outerShdw>
            </a:effectLst>
          </p:spPr>
          <p:txBody>
            <a:bodyPr anchor="ctr" anchorCtr="0"/>
            <a:lstStyle/>
            <a:p>
              <a:pPr>
                <a:spcBef>
                  <a:spcPct val="50000"/>
                </a:spcBef>
                <a:defRPr/>
              </a:pPr>
              <a:r>
                <a:rPr kumimoji="1" lang="zh-CN" altLang="en-US" sz="2800" b="1" baseline="0">
                  <a:solidFill>
                    <a:srgbClr val="CCFFCC"/>
                  </a:solidFill>
                  <a:latin typeface="宋体" panose="02010600030101010101" pitchFamily="2" charset="-122"/>
                </a:rPr>
                <a:t>┊</a:t>
              </a:r>
            </a:p>
          </p:txBody>
        </p:sp>
        <p:cxnSp>
          <p:nvCxnSpPr>
            <p:cNvPr id="37" name="AutoShape 11"/>
            <p:cNvCxnSpPr>
              <a:cxnSpLocks noChangeShapeType="1"/>
              <a:stCxn id="45" idx="3"/>
              <a:endCxn id="44" idx="2"/>
            </p:cNvCxnSpPr>
            <p:nvPr/>
          </p:nvCxnSpPr>
          <p:spPr bwMode="auto">
            <a:xfrm>
              <a:off x="8529687" y="4813293"/>
              <a:ext cx="722312" cy="706437"/>
            </a:xfrm>
            <a:prstGeom prst="straightConnector1">
              <a:avLst/>
            </a:prstGeom>
            <a:noFill/>
            <a:ln w="19050" cap="sq">
              <a:solidFill>
                <a:srgbClr val="CCFFCC"/>
              </a:solidFill>
              <a:round/>
              <a:headEnd type="none" w="sm" len="sm"/>
              <a:tailEnd type="none" w="sm" len="sm"/>
            </a:ln>
            <a:effectLst>
              <a:outerShdw dist="17961" dir="2700000" algn="ctr" rotWithShape="0">
                <a:schemeClr val="bg2"/>
              </a:outerShdw>
            </a:effectLst>
          </p:spPr>
        </p:cxnSp>
        <p:cxnSp>
          <p:nvCxnSpPr>
            <p:cNvPr id="38" name="AutoShape 12"/>
            <p:cNvCxnSpPr>
              <a:cxnSpLocks noChangeShapeType="1"/>
              <a:stCxn id="47" idx="3"/>
              <a:endCxn id="44" idx="2"/>
            </p:cNvCxnSpPr>
            <p:nvPr/>
          </p:nvCxnSpPr>
          <p:spPr bwMode="auto">
            <a:xfrm>
              <a:off x="8529687" y="5380030"/>
              <a:ext cx="722312" cy="139700"/>
            </a:xfrm>
            <a:prstGeom prst="straightConnector1">
              <a:avLst/>
            </a:prstGeom>
            <a:noFill/>
            <a:ln w="19050" cap="sq">
              <a:solidFill>
                <a:srgbClr val="CCFFCC"/>
              </a:solidFill>
              <a:round/>
              <a:headEnd type="none" w="sm" len="sm"/>
              <a:tailEnd type="none" w="sm" len="sm"/>
            </a:ln>
            <a:effectLst>
              <a:outerShdw dist="17961" dir="2700000" algn="ctr" rotWithShape="0">
                <a:schemeClr val="bg2"/>
              </a:outerShdw>
            </a:effectLst>
          </p:spPr>
        </p:cxnSp>
        <p:cxnSp>
          <p:nvCxnSpPr>
            <p:cNvPr id="39" name="AutoShape 13"/>
            <p:cNvCxnSpPr>
              <a:cxnSpLocks noChangeShapeType="1"/>
              <a:stCxn id="50" idx="3"/>
              <a:endCxn id="44" idx="2"/>
            </p:cNvCxnSpPr>
            <p:nvPr/>
          </p:nvCxnSpPr>
          <p:spPr bwMode="auto">
            <a:xfrm flipV="1">
              <a:off x="8529687" y="5519730"/>
              <a:ext cx="722312" cy="779463"/>
            </a:xfrm>
            <a:prstGeom prst="straightConnector1">
              <a:avLst/>
            </a:prstGeom>
            <a:noFill/>
            <a:ln w="19050" cap="sq">
              <a:solidFill>
                <a:srgbClr val="CCFFCC"/>
              </a:solidFill>
              <a:round/>
              <a:headEnd type="none" w="sm" len="sm"/>
              <a:tailEnd type="none" w="sm" len="sm"/>
            </a:ln>
            <a:effectLst>
              <a:outerShdw dist="17961" dir="2700000" algn="ctr" rotWithShape="0">
                <a:schemeClr val="bg2"/>
              </a:outerShdw>
            </a:effectLst>
          </p:spPr>
        </p:cxnSp>
        <p:cxnSp>
          <p:nvCxnSpPr>
            <p:cNvPr id="40" name="AutoShape 14"/>
            <p:cNvCxnSpPr>
              <a:cxnSpLocks noChangeShapeType="1"/>
              <a:stCxn id="44" idx="6"/>
              <a:endCxn id="46" idx="1"/>
            </p:cNvCxnSpPr>
            <p:nvPr/>
          </p:nvCxnSpPr>
          <p:spPr bwMode="auto">
            <a:xfrm flipV="1">
              <a:off x="9966374" y="4813293"/>
              <a:ext cx="485775" cy="706437"/>
            </a:xfrm>
            <a:prstGeom prst="straightConnector1">
              <a:avLst/>
            </a:prstGeom>
            <a:noFill/>
            <a:ln w="19050" cap="sq">
              <a:solidFill>
                <a:srgbClr val="CCFFCC"/>
              </a:solidFill>
              <a:round/>
              <a:headEnd type="none" w="sm" len="sm"/>
              <a:tailEnd type="none" w="sm" len="sm"/>
            </a:ln>
            <a:effectLst>
              <a:outerShdw dist="17961" dir="2700000" algn="ctr" rotWithShape="0">
                <a:schemeClr val="bg2"/>
              </a:outerShdw>
            </a:effectLst>
          </p:spPr>
        </p:cxnSp>
        <p:cxnSp>
          <p:nvCxnSpPr>
            <p:cNvPr id="41" name="AutoShape 15"/>
            <p:cNvCxnSpPr>
              <a:cxnSpLocks noChangeShapeType="1"/>
              <a:stCxn id="44" idx="6"/>
              <a:endCxn id="48" idx="1"/>
            </p:cNvCxnSpPr>
            <p:nvPr/>
          </p:nvCxnSpPr>
          <p:spPr bwMode="auto">
            <a:xfrm flipV="1">
              <a:off x="9966374" y="5380030"/>
              <a:ext cx="485775" cy="139700"/>
            </a:xfrm>
            <a:prstGeom prst="straightConnector1">
              <a:avLst/>
            </a:prstGeom>
            <a:noFill/>
            <a:ln w="19050" cap="sq">
              <a:solidFill>
                <a:srgbClr val="CCFFCC"/>
              </a:solidFill>
              <a:round/>
              <a:headEnd type="none" w="sm" len="sm"/>
              <a:tailEnd type="none" w="sm" len="sm"/>
            </a:ln>
            <a:effectLst>
              <a:outerShdw dist="17961" dir="2700000" algn="ctr" rotWithShape="0">
                <a:schemeClr val="bg2"/>
              </a:outerShdw>
            </a:effectLst>
          </p:spPr>
        </p:cxnSp>
        <p:cxnSp>
          <p:nvCxnSpPr>
            <p:cNvPr id="42" name="AutoShape 16"/>
            <p:cNvCxnSpPr>
              <a:cxnSpLocks noChangeShapeType="1"/>
              <a:stCxn id="44" idx="6"/>
              <a:endCxn id="49" idx="1"/>
            </p:cNvCxnSpPr>
            <p:nvPr/>
          </p:nvCxnSpPr>
          <p:spPr bwMode="auto">
            <a:xfrm>
              <a:off x="9966374" y="5519730"/>
              <a:ext cx="485775" cy="779463"/>
            </a:xfrm>
            <a:prstGeom prst="straightConnector1">
              <a:avLst/>
            </a:prstGeom>
            <a:noFill/>
            <a:ln w="19050" cap="sq">
              <a:solidFill>
                <a:srgbClr val="CCFFCC"/>
              </a:solidFill>
              <a:round/>
              <a:headEnd type="none" w="sm" len="sm"/>
              <a:tailEnd type="none" w="sm" len="sm"/>
            </a:ln>
            <a:effectLst>
              <a:outerShdw dist="17961" dir="2700000" algn="ctr" rotWithShape="0">
                <a:schemeClr val="bg2"/>
              </a:outerShdw>
            </a:effectLst>
          </p:spPr>
        </p:cxnSp>
        <p:sp>
          <p:nvSpPr>
            <p:cNvPr id="44" name="Oval 18"/>
            <p:cNvSpPr>
              <a:spLocks noChangeArrowheads="1"/>
            </p:cNvSpPr>
            <p:nvPr/>
          </p:nvSpPr>
          <p:spPr bwMode="auto">
            <a:xfrm>
              <a:off x="9266287" y="4605330"/>
              <a:ext cx="685800" cy="1828800"/>
            </a:xfrm>
            <a:prstGeom prst="ellipse">
              <a:avLst/>
            </a:prstGeom>
            <a:solidFill>
              <a:schemeClr val="accent2"/>
            </a:solidFill>
            <a:ln w="28575" cap="sq">
              <a:solidFill>
                <a:srgbClr val="CCFFCC"/>
              </a:solidFill>
              <a:round/>
              <a:headEnd type="none" w="sm" len="sm"/>
              <a:tailEnd type="none" w="sm" len="sm"/>
            </a:ln>
            <a:effectLst>
              <a:outerShdw dist="35921" dir="2700000" algn="ctr" rotWithShape="0">
                <a:schemeClr val="bg2"/>
              </a:outerShdw>
            </a:effectLst>
          </p:spPr>
          <p:txBody>
            <a:bodyPr anchor="ctr" anchorCtr="0"/>
            <a:lstStyle/>
            <a:p>
              <a:pPr algn="ctr">
                <a:defRPr/>
              </a:pPr>
              <a:r>
                <a:rPr kumimoji="1" lang="zh-CN" altLang="en-US" sz="2800" b="1" baseline="0">
                  <a:solidFill>
                    <a:schemeClr val="bg1"/>
                  </a:solidFill>
                  <a:latin typeface="宋体" panose="02010600030101010101" pitchFamily="2" charset="-122"/>
                </a:rPr>
                <a:t>文件系统</a:t>
              </a:r>
            </a:p>
          </p:txBody>
        </p:sp>
        <p:sp>
          <p:nvSpPr>
            <p:cNvPr id="45" name="Rectangle 19"/>
            <p:cNvSpPr>
              <a:spLocks noChangeArrowheads="1"/>
            </p:cNvSpPr>
            <p:nvPr/>
          </p:nvSpPr>
          <p:spPr bwMode="auto">
            <a:xfrm>
              <a:off x="7107287" y="4643430"/>
              <a:ext cx="1422400" cy="339725"/>
            </a:xfrm>
            <a:prstGeom prst="rect">
              <a:avLst/>
            </a:prstGeom>
            <a:solidFill>
              <a:srgbClr val="66FFCC"/>
            </a:solidFill>
            <a:ln w="9525">
              <a:solidFill>
                <a:srgbClr val="000000"/>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a:solidFill>
                    <a:schemeClr val="bg1"/>
                  </a:solidFill>
                  <a:latin typeface="宋体" panose="02010600030101010101" pitchFamily="2" charset="-122"/>
                </a:rPr>
                <a:t>应用程序1</a:t>
              </a:r>
            </a:p>
          </p:txBody>
        </p:sp>
        <p:sp>
          <p:nvSpPr>
            <p:cNvPr id="46" name="Rectangle 20"/>
            <p:cNvSpPr>
              <a:spLocks noChangeArrowheads="1"/>
            </p:cNvSpPr>
            <p:nvPr/>
          </p:nvSpPr>
          <p:spPr bwMode="auto">
            <a:xfrm>
              <a:off x="10452149" y="4643430"/>
              <a:ext cx="792163" cy="339725"/>
            </a:xfrm>
            <a:prstGeom prst="rect">
              <a:avLst/>
            </a:prstGeom>
            <a:solidFill>
              <a:schemeClr val="hlink"/>
            </a:solidFill>
            <a:ln w="9525">
              <a:solidFill>
                <a:srgbClr val="000000"/>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dirty="0">
                  <a:solidFill>
                    <a:schemeClr val="bg1"/>
                  </a:solidFill>
                  <a:latin typeface="宋体" panose="02010600030101010101" pitchFamily="2" charset="-122"/>
                </a:rPr>
                <a:t>文件1</a:t>
              </a:r>
            </a:p>
          </p:txBody>
        </p:sp>
        <p:sp>
          <p:nvSpPr>
            <p:cNvPr id="47" name="Rectangle 21"/>
            <p:cNvSpPr>
              <a:spLocks noChangeArrowheads="1"/>
            </p:cNvSpPr>
            <p:nvPr/>
          </p:nvSpPr>
          <p:spPr bwMode="auto">
            <a:xfrm>
              <a:off x="7107287" y="5210168"/>
              <a:ext cx="1422400" cy="338137"/>
            </a:xfrm>
            <a:prstGeom prst="rect">
              <a:avLst/>
            </a:prstGeom>
            <a:solidFill>
              <a:srgbClr val="66FFCC"/>
            </a:solidFill>
            <a:ln w="9525">
              <a:solidFill>
                <a:srgbClr val="000000"/>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a:solidFill>
                    <a:schemeClr val="bg1"/>
                  </a:solidFill>
                  <a:latin typeface="宋体" panose="02010600030101010101" pitchFamily="2" charset="-122"/>
                </a:rPr>
                <a:t>应用程序2</a:t>
              </a:r>
            </a:p>
          </p:txBody>
        </p:sp>
        <p:sp>
          <p:nvSpPr>
            <p:cNvPr id="48" name="Rectangle 22"/>
            <p:cNvSpPr>
              <a:spLocks noChangeArrowheads="1"/>
            </p:cNvSpPr>
            <p:nvPr/>
          </p:nvSpPr>
          <p:spPr bwMode="auto">
            <a:xfrm>
              <a:off x="10452149" y="5210168"/>
              <a:ext cx="792163" cy="338137"/>
            </a:xfrm>
            <a:prstGeom prst="rect">
              <a:avLst/>
            </a:prstGeom>
            <a:solidFill>
              <a:schemeClr val="hlink"/>
            </a:solidFill>
            <a:ln w="9525">
              <a:solidFill>
                <a:srgbClr val="000000"/>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a:solidFill>
                    <a:schemeClr val="bg1"/>
                  </a:solidFill>
                  <a:latin typeface="宋体" panose="02010600030101010101" pitchFamily="2" charset="-122"/>
                </a:rPr>
                <a:t>文件2</a:t>
              </a:r>
            </a:p>
          </p:txBody>
        </p:sp>
        <p:sp>
          <p:nvSpPr>
            <p:cNvPr id="49" name="Rectangle 23"/>
            <p:cNvSpPr>
              <a:spLocks noChangeArrowheads="1"/>
            </p:cNvSpPr>
            <p:nvPr/>
          </p:nvSpPr>
          <p:spPr bwMode="auto">
            <a:xfrm>
              <a:off x="10452149" y="6129330"/>
              <a:ext cx="792163" cy="339725"/>
            </a:xfrm>
            <a:prstGeom prst="rect">
              <a:avLst/>
            </a:prstGeom>
            <a:solidFill>
              <a:schemeClr val="hlink"/>
            </a:solidFill>
            <a:ln w="9525">
              <a:solidFill>
                <a:srgbClr val="000000"/>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dirty="0">
                  <a:solidFill>
                    <a:schemeClr val="bg1"/>
                  </a:solidFill>
                  <a:latin typeface="宋体" panose="02010600030101010101" pitchFamily="2" charset="-122"/>
                </a:rPr>
                <a:t>文件</a:t>
              </a:r>
              <a:r>
                <a:rPr lang="en-US" altLang="zh-CN" sz="2400" b="1" baseline="0" dirty="0">
                  <a:solidFill>
                    <a:schemeClr val="bg1"/>
                  </a:solidFill>
                  <a:latin typeface="宋体" panose="02010600030101010101" pitchFamily="2" charset="-122"/>
                </a:rPr>
                <a:t>m</a:t>
              </a:r>
            </a:p>
          </p:txBody>
        </p:sp>
        <p:sp>
          <p:nvSpPr>
            <p:cNvPr id="50" name="Rectangle 24"/>
            <p:cNvSpPr>
              <a:spLocks noChangeArrowheads="1"/>
            </p:cNvSpPr>
            <p:nvPr/>
          </p:nvSpPr>
          <p:spPr bwMode="auto">
            <a:xfrm>
              <a:off x="7107287" y="6129330"/>
              <a:ext cx="1422400" cy="339725"/>
            </a:xfrm>
            <a:prstGeom prst="rect">
              <a:avLst/>
            </a:prstGeom>
            <a:solidFill>
              <a:srgbClr val="66FFCC"/>
            </a:solidFill>
            <a:ln w="9525">
              <a:solidFill>
                <a:srgbClr val="000000"/>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a:solidFill>
                    <a:schemeClr val="bg1"/>
                  </a:solidFill>
                  <a:latin typeface="宋体" panose="02010600030101010101" pitchFamily="2" charset="-122"/>
                </a:rPr>
                <a:t>应用程序</a:t>
              </a:r>
              <a:r>
                <a:rPr lang="en-US" altLang="zh-CN" sz="2400" b="1" baseline="0">
                  <a:solidFill>
                    <a:schemeClr val="bg1"/>
                  </a:solidFill>
                  <a:latin typeface="宋体" panose="02010600030101010101" pitchFamily="2" charset="-122"/>
                </a:rPr>
                <a:t>n</a:t>
              </a:r>
            </a:p>
          </p:txBody>
        </p:sp>
      </p:grpSp>
      <p:grpSp>
        <p:nvGrpSpPr>
          <p:cNvPr id="2" name="组合 1">
            <a:extLst>
              <a:ext uri="{FF2B5EF4-FFF2-40B4-BE49-F238E27FC236}">
                <a16:creationId xmlns:a16="http://schemas.microsoft.com/office/drawing/2014/main" id="{326087C4-844A-4C37-B68C-4F45040A1486}"/>
              </a:ext>
            </a:extLst>
          </p:cNvPr>
          <p:cNvGrpSpPr/>
          <p:nvPr/>
        </p:nvGrpSpPr>
        <p:grpSpPr>
          <a:xfrm>
            <a:off x="972196" y="4725144"/>
            <a:ext cx="3629918" cy="1944215"/>
            <a:chOff x="972196" y="4906615"/>
            <a:chExt cx="2895600" cy="1584325"/>
          </a:xfrm>
        </p:grpSpPr>
        <p:cxnSp>
          <p:nvCxnSpPr>
            <p:cNvPr id="35" name="AutoShape 9"/>
            <p:cNvCxnSpPr>
              <a:cxnSpLocks noChangeShapeType="1"/>
              <a:stCxn id="52" idx="2"/>
              <a:endCxn id="51" idx="0"/>
            </p:cNvCxnSpPr>
            <p:nvPr/>
          </p:nvCxnSpPr>
          <p:spPr bwMode="auto">
            <a:xfrm>
              <a:off x="3156596" y="5211415"/>
              <a:ext cx="0" cy="309562"/>
            </a:xfrm>
            <a:prstGeom prst="straightConnector1">
              <a:avLst/>
            </a:prstGeom>
            <a:noFill/>
            <a:ln w="28575" cap="sq">
              <a:solidFill>
                <a:schemeClr val="tx1"/>
              </a:solidFill>
              <a:round/>
              <a:headEnd type="none" w="sm" len="sm"/>
              <a:tailEnd type="triangle" w="sm" len="sm"/>
            </a:ln>
            <a:effectLst>
              <a:outerShdw dist="35921" dir="2700000" algn="ctr" rotWithShape="0">
                <a:schemeClr val="bg2"/>
              </a:outerShdw>
            </a:effectLst>
          </p:spPr>
        </p:cxnSp>
        <p:cxnSp>
          <p:nvCxnSpPr>
            <p:cNvPr id="36" name="AutoShape 10"/>
            <p:cNvCxnSpPr>
              <a:cxnSpLocks noChangeShapeType="1"/>
              <a:stCxn id="51" idx="2"/>
              <a:endCxn id="53" idx="0"/>
            </p:cNvCxnSpPr>
            <p:nvPr/>
          </p:nvCxnSpPr>
          <p:spPr bwMode="auto">
            <a:xfrm>
              <a:off x="3156596" y="5860702"/>
              <a:ext cx="0" cy="325438"/>
            </a:xfrm>
            <a:prstGeom prst="straightConnector1">
              <a:avLst/>
            </a:prstGeom>
            <a:noFill/>
            <a:ln w="28575" cap="sq">
              <a:solidFill>
                <a:schemeClr val="tx1"/>
              </a:solidFill>
              <a:round/>
              <a:headEnd type="none" w="sm" len="sm"/>
              <a:tailEnd type="triangle" w="sm" len="sm"/>
            </a:ln>
            <a:effectLst>
              <a:outerShdw dist="35921" dir="2700000" algn="ctr" rotWithShape="0">
                <a:schemeClr val="bg2"/>
              </a:outerShdw>
            </a:effectLst>
          </p:spPr>
        </p:cxnSp>
        <p:cxnSp>
          <p:nvCxnSpPr>
            <p:cNvPr id="43" name="AutoShape 17"/>
            <p:cNvCxnSpPr>
              <a:cxnSpLocks noChangeShapeType="1"/>
              <a:stCxn id="54" idx="3"/>
              <a:endCxn id="51" idx="1"/>
            </p:cNvCxnSpPr>
            <p:nvPr/>
          </p:nvCxnSpPr>
          <p:spPr bwMode="auto">
            <a:xfrm>
              <a:off x="1694508" y="5690840"/>
              <a:ext cx="750888" cy="0"/>
            </a:xfrm>
            <a:prstGeom prst="straightConnector1">
              <a:avLst/>
            </a:prstGeom>
            <a:noFill/>
            <a:ln w="28575" cap="sq">
              <a:solidFill>
                <a:schemeClr val="tx1"/>
              </a:solidFill>
              <a:round/>
              <a:headEnd type="triangle" w="sm" len="sm"/>
              <a:tailEnd type="triangle" w="sm" len="sm"/>
            </a:ln>
            <a:effectLst>
              <a:outerShdw dist="35921" dir="2700000" algn="ctr" rotWithShape="0">
                <a:schemeClr val="bg2"/>
              </a:outerShdw>
            </a:effectLst>
          </p:spPr>
        </p:cxnSp>
        <p:sp>
          <p:nvSpPr>
            <p:cNvPr id="51" name="Rectangle 25"/>
            <p:cNvSpPr>
              <a:spLocks noChangeArrowheads="1"/>
            </p:cNvSpPr>
            <p:nvPr/>
          </p:nvSpPr>
          <p:spPr bwMode="auto">
            <a:xfrm>
              <a:off x="2445396" y="5520977"/>
              <a:ext cx="1422400" cy="339725"/>
            </a:xfrm>
            <a:prstGeom prst="rect">
              <a:avLst/>
            </a:prstGeom>
            <a:solidFill>
              <a:srgbClr val="66FFCC"/>
            </a:solidFill>
            <a:ln w="9525">
              <a:solidFill>
                <a:srgbClr val="000000"/>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a:solidFill>
                    <a:schemeClr val="bg1"/>
                  </a:solidFill>
                  <a:latin typeface="宋体" panose="02010600030101010101" pitchFamily="2" charset="-122"/>
                </a:rPr>
                <a:t>程序</a:t>
              </a:r>
            </a:p>
          </p:txBody>
        </p:sp>
        <p:sp>
          <p:nvSpPr>
            <p:cNvPr id="52" name="AutoShape 26"/>
            <p:cNvSpPr>
              <a:spLocks noChangeArrowheads="1"/>
            </p:cNvSpPr>
            <p:nvPr/>
          </p:nvSpPr>
          <p:spPr bwMode="auto">
            <a:xfrm>
              <a:off x="2604146" y="4906615"/>
              <a:ext cx="1104900" cy="304800"/>
            </a:xfrm>
            <a:prstGeom prst="foldedCorner">
              <a:avLst>
                <a:gd name="adj" fmla="val 12500"/>
              </a:avLst>
            </a:prstGeom>
            <a:solidFill>
              <a:schemeClr val="hlink"/>
            </a:solidFill>
            <a:ln w="12700" cap="sq">
              <a:solidFill>
                <a:schemeClr val="tx1"/>
              </a:solidFill>
              <a:round/>
              <a:headEnd type="none" w="sm" len="sm"/>
              <a:tailEnd type="none" w="sm" len="sm"/>
            </a:ln>
            <a:effectLst>
              <a:outerShdw dist="35921" dir="2700000" algn="ctr" rotWithShape="0">
                <a:schemeClr val="bg2"/>
              </a:outerShdw>
            </a:effectLst>
          </p:spPr>
          <p:txBody>
            <a:bodyPr wrap="none" anchor="ctr" anchorCtr="0"/>
            <a:lstStyle/>
            <a:p>
              <a:pPr algn="ctr">
                <a:defRPr/>
              </a:pPr>
              <a:r>
                <a:rPr kumimoji="1" lang="zh-CN" altLang="en-US" sz="2400" b="1" baseline="0">
                  <a:solidFill>
                    <a:schemeClr val="bg1"/>
                  </a:solidFill>
                  <a:latin typeface="宋体" panose="02010600030101010101" pitchFamily="2" charset="-122"/>
                </a:rPr>
                <a:t>输入数据</a:t>
              </a:r>
            </a:p>
          </p:txBody>
        </p:sp>
        <p:sp>
          <p:nvSpPr>
            <p:cNvPr id="53" name="AutoShape 27"/>
            <p:cNvSpPr>
              <a:spLocks noChangeArrowheads="1"/>
            </p:cNvSpPr>
            <p:nvPr/>
          </p:nvSpPr>
          <p:spPr bwMode="auto">
            <a:xfrm>
              <a:off x="2604146" y="6186140"/>
              <a:ext cx="1104900" cy="304800"/>
            </a:xfrm>
            <a:prstGeom prst="foldedCorner">
              <a:avLst>
                <a:gd name="adj" fmla="val 12500"/>
              </a:avLst>
            </a:prstGeom>
            <a:solidFill>
              <a:schemeClr val="hlink"/>
            </a:solidFill>
            <a:ln w="12700" cap="sq">
              <a:solidFill>
                <a:schemeClr val="tx1"/>
              </a:solidFill>
              <a:round/>
              <a:headEnd type="none" w="sm" len="sm"/>
              <a:tailEnd type="none" w="sm" len="sm"/>
            </a:ln>
            <a:effectLst>
              <a:outerShdw dist="35921" dir="2700000" algn="ctr" rotWithShape="0">
                <a:schemeClr val="bg2"/>
              </a:outerShdw>
            </a:effectLst>
          </p:spPr>
          <p:txBody>
            <a:bodyPr wrap="none" anchor="ctr" anchorCtr="0"/>
            <a:lstStyle/>
            <a:p>
              <a:pPr algn="ctr">
                <a:defRPr/>
              </a:pPr>
              <a:r>
                <a:rPr kumimoji="1" lang="zh-CN" altLang="en-US" sz="2400" b="1" baseline="0">
                  <a:solidFill>
                    <a:schemeClr val="bg1"/>
                  </a:solidFill>
                  <a:latin typeface="宋体" panose="02010600030101010101" pitchFamily="2" charset="-122"/>
                </a:rPr>
                <a:t>输出数据</a:t>
              </a:r>
            </a:p>
          </p:txBody>
        </p:sp>
        <p:sp>
          <p:nvSpPr>
            <p:cNvPr id="54" name="AutoShape 28"/>
            <p:cNvSpPr>
              <a:spLocks noChangeArrowheads="1"/>
            </p:cNvSpPr>
            <p:nvPr/>
          </p:nvSpPr>
          <p:spPr bwMode="auto">
            <a:xfrm>
              <a:off x="972196" y="5355877"/>
              <a:ext cx="722312" cy="668338"/>
            </a:xfrm>
            <a:prstGeom prst="foldedCorner">
              <a:avLst>
                <a:gd name="adj" fmla="val 12500"/>
              </a:avLst>
            </a:prstGeom>
            <a:solidFill>
              <a:schemeClr val="accent1"/>
            </a:solidFill>
            <a:ln w="12700" cap="sq">
              <a:solidFill>
                <a:schemeClr val="tx1"/>
              </a:solidFill>
              <a:round/>
              <a:headEnd type="none" w="sm" len="sm"/>
              <a:tailEnd type="none" w="sm" len="sm"/>
            </a:ln>
            <a:effectLst>
              <a:outerShdw dist="35921" dir="2700000" algn="ctr" rotWithShape="0">
                <a:schemeClr val="bg2"/>
              </a:outerShdw>
            </a:effectLst>
          </p:spPr>
          <p:txBody>
            <a:bodyPr anchor="ctr" anchorCtr="0"/>
            <a:lstStyle/>
            <a:p>
              <a:pPr algn="ctr">
                <a:defRPr/>
              </a:pPr>
              <a:r>
                <a:rPr kumimoji="1" lang="zh-CN" altLang="en-US" sz="2400" b="1" baseline="0">
                  <a:solidFill>
                    <a:schemeClr val="bg1"/>
                  </a:solidFill>
                  <a:latin typeface="宋体" panose="02010600030101010101" pitchFamily="2" charset="-122"/>
                </a:rPr>
                <a:t>数据文件</a:t>
              </a:r>
            </a:p>
          </p:txBody>
        </p:sp>
      </p:grpSp>
      <p:sp>
        <p:nvSpPr>
          <p:cNvPr id="55" name="Rectangle 29"/>
          <p:cNvSpPr>
            <a:spLocks noChangeArrowheads="1"/>
          </p:cNvSpPr>
          <p:nvPr/>
        </p:nvSpPr>
        <p:spPr bwMode="auto">
          <a:xfrm>
            <a:off x="6548699" y="416718"/>
            <a:ext cx="4500562" cy="3256276"/>
          </a:xfrm>
          <a:prstGeom prst="rect">
            <a:avLst/>
          </a:prstGeom>
          <a:noFill/>
          <a:ln w="9525">
            <a:noFill/>
            <a:miter lim="800000"/>
            <a:headEnd/>
            <a:tailEnd/>
          </a:ln>
          <a:effectLst/>
        </p:spPr>
        <p:txBody>
          <a:bodyPr>
            <a:spAutoFit/>
          </a:bodyPr>
          <a:lstStyle/>
          <a:p>
            <a:pPr marL="342900" indent="-342900">
              <a:spcAft>
                <a:spcPct val="10000"/>
              </a:spcAft>
              <a:buClr>
                <a:srgbClr val="66FF33"/>
              </a:buClr>
              <a:buSzPct val="85000"/>
              <a:buFont typeface="Wingdings" pitchFamily="2" charset="2"/>
              <a:buBlip>
                <a:blip r:embed="rId2"/>
              </a:buBlip>
              <a:defRPr/>
            </a:pPr>
            <a:r>
              <a:rPr lang="zh-CN" altLang="en-US"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特点</a:t>
            </a:r>
          </a:p>
          <a:p>
            <a:pPr marL="342900" indent="-342900">
              <a:spcAft>
                <a:spcPct val="10000"/>
              </a:spcAft>
              <a:buClr>
                <a:srgbClr val="66FF33"/>
              </a:buClr>
              <a:buSzPct val="85000"/>
              <a:buFont typeface="Wingdings" pitchFamily="2" charset="2"/>
              <a:buNone/>
              <a:defRPr/>
            </a:pPr>
            <a:r>
              <a:rPr lang="zh-CN" altLang="en-US"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	</a:t>
            </a:r>
            <a:r>
              <a:rPr lang="zh-CN" altLang="en-US" sz="2800" baseline="0" dirty="0">
                <a:solidFill>
                  <a:srgbClr val="FFFF00"/>
                </a:solidFill>
                <a:effectLst>
                  <a:outerShdw blurRad="38100" dist="38100" dir="2700000" algn="tl">
                    <a:srgbClr val="000000"/>
                  </a:outerShdw>
                </a:effectLst>
                <a:latin typeface="微软雅黑" pitchFamily="34" charset="-122"/>
                <a:ea typeface="微软雅黑" pitchFamily="34" charset="-122"/>
              </a:rPr>
              <a:t>数据和程序物理分离</a:t>
            </a:r>
          </a:p>
          <a:p>
            <a:pPr marL="695325" lvl="1" indent="-238125">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数据可存储在数据文件中</a:t>
            </a:r>
          </a:p>
          <a:p>
            <a:pPr marL="695325" lvl="1" indent="-238125">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文件系统管理数据</a:t>
            </a:r>
          </a:p>
          <a:p>
            <a:pPr marL="695325" lvl="1" indent="-238125">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文件的多样化和结构化</a:t>
            </a:r>
          </a:p>
          <a:p>
            <a:pPr marL="695325" lvl="1" indent="-238125">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数据共享性差，冗余大</a:t>
            </a:r>
          </a:p>
          <a:p>
            <a:pPr marL="695325" lvl="1" indent="-238125">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数据有一定的独立性</a:t>
            </a:r>
          </a:p>
          <a:p>
            <a:pPr marL="695325" lvl="1" indent="-238125">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数据联系弱</a:t>
            </a:r>
          </a:p>
        </p:txBody>
      </p:sp>
    </p:spTree>
    <p:extLst>
      <p:ext uri="{BB962C8B-B14F-4D97-AF65-F5344CB8AC3E}">
        <p14:creationId xmlns:p14="http://schemas.microsoft.com/office/powerpoint/2010/main" val="42132707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270" name="Text Box 166"/>
          <p:cNvSpPr txBox="1">
            <a:spLocks noChangeArrowheads="1"/>
          </p:cNvSpPr>
          <p:nvPr/>
        </p:nvSpPr>
        <p:spPr bwMode="auto">
          <a:xfrm>
            <a:off x="767408" y="17697"/>
            <a:ext cx="4762055" cy="760959"/>
          </a:xfrm>
          <a:prstGeom prst="rect">
            <a:avLst/>
          </a:prstGeom>
          <a:noFill/>
          <a:ln w="12700" cap="sq">
            <a:noFill/>
            <a:miter lim="800000"/>
            <a:headEnd/>
            <a:tailEnd/>
          </a:ln>
          <a:effectLst>
            <a:outerShdw dist="35921" dir="2700000" algn="ctr" rotWithShape="0">
              <a:schemeClr val="bg2"/>
            </a:outerShdw>
          </a:effectLst>
        </p:spPr>
        <p:txBody>
          <a:bodyPr wrap="none" lIns="72000" tIns="72000" rIns="72000" bIns="72000">
            <a:spAutoFit/>
          </a:bodyPr>
          <a:lstStyle>
            <a:defPPr>
              <a:defRPr lang="en-US"/>
            </a:defPPr>
            <a:lvl1pPr>
              <a:defRPr sz="4000" b="1" baseline="0">
                <a:solidFill>
                  <a:schemeClr val="folHlink"/>
                </a:solidFill>
                <a:effectLst>
                  <a:outerShdw blurRad="38100" dist="38100" dir="2700000" algn="tl">
                    <a:srgbClr val="000000"/>
                  </a:outerShdw>
                </a:effectLst>
                <a:latin typeface="微软雅黑" pitchFamily="34" charset="-122"/>
                <a:ea typeface="微软雅黑" pitchFamily="34" charset="-122"/>
              </a:defRPr>
            </a:lvl1pPr>
          </a:lstStyle>
          <a:p>
            <a:r>
              <a:rPr lang="zh-CN" altLang="en-US" dirty="0"/>
              <a:t>数据管理技术的发展</a:t>
            </a:r>
          </a:p>
        </p:txBody>
      </p:sp>
      <p:sp>
        <p:nvSpPr>
          <p:cNvPr id="8" name="Rectangle 2"/>
          <p:cNvSpPr>
            <a:spLocks noGrp="1" noChangeArrowheads="1"/>
          </p:cNvSpPr>
          <p:nvPr>
            <p:ph type="title"/>
          </p:nvPr>
        </p:nvSpPr>
        <p:spPr>
          <a:xfrm>
            <a:off x="767408" y="877943"/>
            <a:ext cx="4745210" cy="707886"/>
          </a:xfrm>
        </p:spPr>
        <p:txBody>
          <a:bodyPr/>
          <a:lstStyle/>
          <a:p>
            <a:pPr eaLnBrk="1" hangingPunct="1">
              <a:defRPr/>
            </a:pPr>
            <a:r>
              <a:rPr lang="en-US" altLang="zh-CN" dirty="0"/>
              <a:t>(3) </a:t>
            </a:r>
            <a:r>
              <a:rPr lang="zh-CN" altLang="en-US" dirty="0"/>
              <a:t>数据库管理阶段</a:t>
            </a:r>
            <a:endParaRPr lang="en-US" altLang="zh-CN" dirty="0"/>
          </a:p>
        </p:txBody>
      </p:sp>
      <p:sp>
        <p:nvSpPr>
          <p:cNvPr id="56" name="Rectangle 3"/>
          <p:cNvSpPr>
            <a:spLocks noGrp="1" noChangeArrowheads="1"/>
          </p:cNvSpPr>
          <p:nvPr>
            <p:ph idx="1"/>
          </p:nvPr>
        </p:nvSpPr>
        <p:spPr>
          <a:xfrm>
            <a:off x="6818908" y="1655118"/>
            <a:ext cx="4537075" cy="693737"/>
          </a:xfrm>
        </p:spPr>
        <p:txBody>
          <a:bodyPr/>
          <a:lstStyle/>
          <a:p>
            <a:pPr eaLnBrk="1" hangingPunct="1">
              <a:spcAft>
                <a:spcPct val="15000"/>
              </a:spcAft>
              <a:defRPr/>
            </a:pPr>
            <a:r>
              <a:rPr lang="zh-CN" altLang="en-US" sz="2800" dirty="0"/>
              <a:t>特点</a:t>
            </a:r>
            <a:endParaRPr lang="zh-CN" altLang="en-US" sz="2400" dirty="0">
              <a:solidFill>
                <a:srgbClr val="FFFF00"/>
              </a:solidFill>
            </a:endParaRPr>
          </a:p>
          <a:p>
            <a:pPr marL="695325" lvl="1" indent="-238125" eaLnBrk="1" hangingPunct="1">
              <a:spcAft>
                <a:spcPct val="15000"/>
              </a:spcAft>
              <a:defRPr/>
            </a:pPr>
            <a:r>
              <a:rPr lang="zh-CN" altLang="en-US" sz="2400" dirty="0"/>
              <a:t>数据的</a:t>
            </a:r>
            <a:r>
              <a:rPr lang="zh-CN" altLang="en-US" b="1" dirty="0">
                <a:solidFill>
                  <a:srgbClr val="FFFF00"/>
                </a:solidFill>
              </a:rPr>
              <a:t>整体结构化</a:t>
            </a:r>
            <a:endParaRPr lang="zh-CN" altLang="en-US" sz="2400" b="1" dirty="0">
              <a:solidFill>
                <a:srgbClr val="FFFF00"/>
              </a:solidFill>
            </a:endParaRPr>
          </a:p>
          <a:p>
            <a:pPr marL="695325" lvl="1" indent="-238125" eaLnBrk="1" hangingPunct="1">
              <a:spcAft>
                <a:spcPct val="15000"/>
              </a:spcAft>
              <a:defRPr/>
            </a:pPr>
            <a:r>
              <a:rPr lang="zh-CN" altLang="en-US" sz="2400" dirty="0"/>
              <a:t>数据的独立性高</a:t>
            </a:r>
          </a:p>
          <a:p>
            <a:pPr marL="695325" lvl="1" indent="-238125" eaLnBrk="1" hangingPunct="1">
              <a:spcAft>
                <a:spcPct val="15000"/>
              </a:spcAft>
              <a:defRPr/>
            </a:pPr>
            <a:r>
              <a:rPr lang="zh-CN" altLang="en-US" sz="2400" dirty="0"/>
              <a:t>数据共享性高，冗余小</a:t>
            </a:r>
          </a:p>
          <a:p>
            <a:pPr marL="695325" lvl="1" indent="-238125" eaLnBrk="1" hangingPunct="1">
              <a:spcAft>
                <a:spcPct val="15000"/>
              </a:spcAft>
              <a:defRPr/>
            </a:pPr>
            <a:r>
              <a:rPr lang="zh-CN" altLang="en-US" sz="2400" dirty="0"/>
              <a:t>完整的控制能力</a:t>
            </a:r>
          </a:p>
        </p:txBody>
      </p:sp>
      <p:sp>
        <p:nvSpPr>
          <p:cNvPr id="57" name="Rectangle 4"/>
          <p:cNvSpPr>
            <a:spLocks noChangeArrowheads="1"/>
          </p:cNvSpPr>
          <p:nvPr/>
        </p:nvSpPr>
        <p:spPr bwMode="auto">
          <a:xfrm>
            <a:off x="763734" y="1797120"/>
            <a:ext cx="4249738" cy="1008062"/>
          </a:xfrm>
          <a:prstGeom prst="rect">
            <a:avLst/>
          </a:prstGeom>
          <a:noFill/>
          <a:ln w="9525">
            <a:noFill/>
            <a:miter lim="800000"/>
            <a:headEnd/>
            <a:tailEnd/>
          </a:ln>
          <a:effectLst/>
        </p:spPr>
        <p:txBody>
          <a:bodyPr/>
          <a:lstStyle/>
          <a:p>
            <a:pPr marL="271463" indent="-271463">
              <a:spcAft>
                <a:spcPct val="15000"/>
              </a:spcAft>
              <a:buClr>
                <a:srgbClr val="66FF33"/>
              </a:buClr>
              <a:buSzPct val="85000"/>
              <a:buFont typeface="Wingdings" pitchFamily="2" charset="2"/>
              <a:buBlip>
                <a:blip r:embed="rId2"/>
              </a:buBlip>
              <a:defRPr/>
            </a:pPr>
            <a:r>
              <a:rPr lang="zh-CN" altLang="en-US"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背景</a:t>
            </a:r>
            <a:endPar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a:p>
            <a:pPr marL="630238" lvl="1" indent="-179388">
              <a:spcAft>
                <a:spcPct val="15000"/>
              </a:spcAft>
              <a:buClr>
                <a:schemeClr val="accent2"/>
              </a:buClr>
              <a:buSzPct val="50000"/>
              <a:buFont typeface="Wingdings" pitchFamily="2" charset="2"/>
              <a:buChar char="n"/>
              <a:defRPr/>
            </a:pPr>
            <a:r>
              <a:rPr lang="en-US" altLang="zh-CN"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60</a:t>
            </a: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年代后期至今</a:t>
            </a:r>
          </a:p>
          <a:p>
            <a:pPr marL="630238" lvl="1" indent="-179388">
              <a:spcAft>
                <a:spcPct val="15000"/>
              </a:spcAft>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计算机用于信息处理</a:t>
            </a:r>
          </a:p>
          <a:p>
            <a:pPr marL="630238" lvl="1" indent="-179388">
              <a:spcAft>
                <a:spcPct val="15000"/>
              </a:spcAft>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大容量高速存取设备</a:t>
            </a:r>
          </a:p>
          <a:p>
            <a:pPr marL="630238" lvl="1" indent="-179388">
              <a:spcAft>
                <a:spcPct val="15000"/>
              </a:spcAft>
              <a:buClr>
                <a:schemeClr val="accent2"/>
              </a:buClr>
              <a:buSzPct val="50000"/>
              <a:buFont typeface="Wingdings" pitchFamily="2" charset="2"/>
              <a:buChar char="n"/>
              <a:defRPr/>
            </a:pPr>
            <a:r>
              <a:rPr lang="zh-CN" altLang="en-US" sz="2400" baseline="0" dirty="0">
                <a:solidFill>
                  <a:srgbClr val="CCFFCC"/>
                </a:solidFill>
                <a:effectLst>
                  <a:outerShdw blurRad="38100" dist="38100" dir="2700000" algn="tl">
                    <a:srgbClr val="000000"/>
                  </a:outerShdw>
                </a:effectLst>
                <a:latin typeface="微软雅黑" pitchFamily="34" charset="-122"/>
                <a:ea typeface="微软雅黑" pitchFamily="34" charset="-122"/>
              </a:rPr>
              <a:t>有专门的数据库管理系统</a:t>
            </a:r>
          </a:p>
        </p:txBody>
      </p:sp>
      <p:grpSp>
        <p:nvGrpSpPr>
          <p:cNvPr id="2" name="组合 1">
            <a:extLst>
              <a:ext uri="{FF2B5EF4-FFF2-40B4-BE49-F238E27FC236}">
                <a16:creationId xmlns:a16="http://schemas.microsoft.com/office/drawing/2014/main" id="{D762EC49-45A7-47F2-8F34-F8AFF082BC0E}"/>
              </a:ext>
            </a:extLst>
          </p:cNvPr>
          <p:cNvGrpSpPr/>
          <p:nvPr/>
        </p:nvGrpSpPr>
        <p:grpSpPr>
          <a:xfrm>
            <a:off x="1487488" y="4293096"/>
            <a:ext cx="9380760" cy="2304256"/>
            <a:chOff x="1827808" y="4551784"/>
            <a:chExt cx="7548563" cy="1825625"/>
          </a:xfrm>
        </p:grpSpPr>
        <p:sp>
          <p:nvSpPr>
            <p:cNvPr id="58" name="Rectangle 5"/>
            <p:cNvSpPr>
              <a:spLocks noChangeArrowheads="1"/>
            </p:cNvSpPr>
            <p:nvPr/>
          </p:nvSpPr>
          <p:spPr bwMode="auto">
            <a:xfrm>
              <a:off x="1827808" y="4551784"/>
              <a:ext cx="1422400" cy="339725"/>
            </a:xfrm>
            <a:prstGeom prst="rect">
              <a:avLst/>
            </a:prstGeom>
            <a:solidFill>
              <a:srgbClr val="66FFCC"/>
            </a:solidFill>
            <a:ln w="28575">
              <a:solidFill>
                <a:srgbClr val="0099CC"/>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dirty="0">
                  <a:solidFill>
                    <a:schemeClr val="bg1"/>
                  </a:solidFill>
                  <a:latin typeface="宋体" panose="02010600030101010101" pitchFamily="2" charset="-122"/>
                </a:rPr>
                <a:t>应用程序1</a:t>
              </a:r>
            </a:p>
          </p:txBody>
        </p:sp>
        <p:sp>
          <p:nvSpPr>
            <p:cNvPr id="59" name="Rectangle 6"/>
            <p:cNvSpPr>
              <a:spLocks noChangeArrowheads="1"/>
            </p:cNvSpPr>
            <p:nvPr/>
          </p:nvSpPr>
          <p:spPr bwMode="auto">
            <a:xfrm>
              <a:off x="1827808" y="5118521"/>
              <a:ext cx="1422400" cy="338138"/>
            </a:xfrm>
            <a:prstGeom prst="rect">
              <a:avLst/>
            </a:prstGeom>
            <a:solidFill>
              <a:srgbClr val="66FFCC"/>
            </a:solidFill>
            <a:ln w="28575">
              <a:solidFill>
                <a:srgbClr val="0099CC"/>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a:solidFill>
                    <a:schemeClr val="bg1"/>
                  </a:solidFill>
                  <a:latin typeface="宋体" panose="02010600030101010101" pitchFamily="2" charset="-122"/>
                </a:rPr>
                <a:t>应用程序2</a:t>
              </a:r>
            </a:p>
          </p:txBody>
        </p:sp>
        <p:sp>
          <p:nvSpPr>
            <p:cNvPr id="60" name="Rectangle 7"/>
            <p:cNvSpPr>
              <a:spLocks noChangeArrowheads="1"/>
            </p:cNvSpPr>
            <p:nvPr/>
          </p:nvSpPr>
          <p:spPr bwMode="auto">
            <a:xfrm>
              <a:off x="1827808" y="6037684"/>
              <a:ext cx="1422400" cy="339725"/>
            </a:xfrm>
            <a:prstGeom prst="rect">
              <a:avLst/>
            </a:prstGeom>
            <a:solidFill>
              <a:srgbClr val="66FFCC"/>
            </a:solidFill>
            <a:ln w="28575">
              <a:solidFill>
                <a:srgbClr val="0099CC"/>
              </a:solidFill>
              <a:miter lim="800000"/>
              <a:headEnd/>
              <a:tailEnd/>
            </a:ln>
            <a:effectLst>
              <a:outerShdw dist="35921" dir="2700000" algn="ctr" rotWithShape="0">
                <a:schemeClr val="bg2"/>
              </a:outerShdw>
            </a:effectLst>
          </p:spPr>
          <p:txBody>
            <a:bodyPr lIns="0" tIns="0" rIns="0" bIns="0" anchor="ctr" anchorCtr="0"/>
            <a:lstStyle/>
            <a:p>
              <a:pPr algn="ctr" eaLnBrk="0" hangingPunct="0">
                <a:defRPr/>
              </a:pPr>
              <a:r>
                <a:rPr lang="zh-CN" altLang="en-US" sz="2400" b="1" baseline="0">
                  <a:solidFill>
                    <a:schemeClr val="bg1"/>
                  </a:solidFill>
                  <a:latin typeface="宋体" panose="02010600030101010101" pitchFamily="2" charset="-122"/>
                </a:rPr>
                <a:t>应用程序</a:t>
              </a:r>
              <a:r>
                <a:rPr lang="en-US" altLang="zh-CN" sz="2400" b="1" baseline="0">
                  <a:solidFill>
                    <a:schemeClr val="bg1"/>
                  </a:solidFill>
                  <a:latin typeface="宋体" panose="02010600030101010101" pitchFamily="2" charset="-122"/>
                </a:rPr>
                <a:t>n</a:t>
              </a:r>
            </a:p>
          </p:txBody>
        </p:sp>
        <p:sp>
          <p:nvSpPr>
            <p:cNvPr id="61" name="Text Box 8"/>
            <p:cNvSpPr txBox="1">
              <a:spLocks noChangeArrowheads="1"/>
            </p:cNvSpPr>
            <p:nvPr/>
          </p:nvSpPr>
          <p:spPr bwMode="auto">
            <a:xfrm>
              <a:off x="2310408" y="5563715"/>
              <a:ext cx="609600" cy="414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nchorCtr="0">
              <a:spAutoFit/>
            </a:bodyPr>
            <a:lstStyle>
              <a:lvl1pPr eaLnBrk="0" hangingPunct="0">
                <a:defRPr sz="1200" baseline="-25000">
                  <a:solidFill>
                    <a:schemeClr val="tx1"/>
                  </a:solidFill>
                  <a:latin typeface="Garamond" pitchFamily="18" charset="0"/>
                  <a:ea typeface="宋体" pitchFamily="2" charset="-122"/>
                </a:defRPr>
              </a:lvl1pPr>
              <a:lvl2pPr marL="742950" indent="-285750" eaLnBrk="0" hangingPunct="0">
                <a:defRPr sz="1200" baseline="-25000">
                  <a:solidFill>
                    <a:schemeClr val="tx1"/>
                  </a:solidFill>
                  <a:latin typeface="Garamond" pitchFamily="18" charset="0"/>
                  <a:ea typeface="宋体" pitchFamily="2" charset="-122"/>
                </a:defRPr>
              </a:lvl2pPr>
              <a:lvl3pPr marL="1143000" indent="-228600" eaLnBrk="0" hangingPunct="0">
                <a:defRPr sz="1200" baseline="-25000">
                  <a:solidFill>
                    <a:schemeClr val="tx1"/>
                  </a:solidFill>
                  <a:latin typeface="Garamond" pitchFamily="18" charset="0"/>
                  <a:ea typeface="宋体" pitchFamily="2" charset="-122"/>
                </a:defRPr>
              </a:lvl3pPr>
              <a:lvl4pPr marL="1600200" indent="-228600" eaLnBrk="0" hangingPunct="0">
                <a:defRPr sz="1200" baseline="-25000">
                  <a:solidFill>
                    <a:schemeClr val="tx1"/>
                  </a:solidFill>
                  <a:latin typeface="Garamond" pitchFamily="18" charset="0"/>
                  <a:ea typeface="宋体" pitchFamily="2" charset="-122"/>
                </a:defRPr>
              </a:lvl4pPr>
              <a:lvl5pPr marL="2057400" indent="-228600" eaLnBrk="0" hangingPunct="0">
                <a:defRPr sz="1200" baseline="-25000">
                  <a:solidFill>
                    <a:schemeClr val="tx1"/>
                  </a:solidFill>
                  <a:latin typeface="Garamond" pitchFamily="18" charset="0"/>
                  <a:ea typeface="宋体" pitchFamily="2" charset="-122"/>
                </a:defRPr>
              </a:lvl5pPr>
              <a:lvl6pPr marL="25146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6pPr>
              <a:lvl7pPr marL="29718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7pPr>
              <a:lvl8pPr marL="34290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8pPr>
              <a:lvl9pPr marL="38862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9pPr>
            </a:lstStyle>
            <a:p>
              <a:pPr eaLnBrk="1" hangingPunct="1">
                <a:spcBef>
                  <a:spcPct val="50000"/>
                </a:spcBef>
              </a:pPr>
              <a:r>
                <a:rPr kumimoji="1" lang="zh-CN" altLang="en-US" sz="2800" b="1" baseline="0">
                  <a:solidFill>
                    <a:srgbClr val="CCFFCC"/>
                  </a:solidFill>
                  <a:latin typeface="宋体" panose="02010600030101010101" pitchFamily="2" charset="-122"/>
                </a:rPr>
                <a:t>┊</a:t>
              </a:r>
            </a:p>
          </p:txBody>
        </p:sp>
        <p:cxnSp>
          <p:nvCxnSpPr>
            <p:cNvPr id="62" name="AutoShape 9"/>
            <p:cNvCxnSpPr>
              <a:cxnSpLocks noChangeShapeType="1"/>
              <a:stCxn id="58" idx="3"/>
            </p:cNvCxnSpPr>
            <p:nvPr/>
          </p:nvCxnSpPr>
          <p:spPr bwMode="auto">
            <a:xfrm>
              <a:off x="3250208" y="4721646"/>
              <a:ext cx="1103313" cy="782638"/>
            </a:xfrm>
            <a:prstGeom prst="straightConnector1">
              <a:avLst/>
            </a:prstGeom>
            <a:noFill/>
            <a:ln w="28575" cap="sq">
              <a:solidFill>
                <a:schemeClr val="accent2"/>
              </a:solidFill>
              <a:round/>
              <a:headEnd type="none" w="sm" len="sm"/>
              <a:tailEnd type="none" w="sm" len="sm"/>
            </a:ln>
            <a:extLst>
              <a:ext uri="{909E8E84-426E-40DD-AFC4-6F175D3DCCD1}">
                <a14:hiddenFill xmlns:a14="http://schemas.microsoft.com/office/drawing/2010/main">
                  <a:noFill/>
                </a14:hiddenFill>
              </a:ext>
            </a:extLst>
          </p:spPr>
        </p:cxnSp>
        <p:cxnSp>
          <p:nvCxnSpPr>
            <p:cNvPr id="63" name="AutoShape 10"/>
            <p:cNvCxnSpPr>
              <a:cxnSpLocks noChangeShapeType="1"/>
              <a:stCxn id="59" idx="3"/>
            </p:cNvCxnSpPr>
            <p:nvPr/>
          </p:nvCxnSpPr>
          <p:spPr bwMode="auto">
            <a:xfrm>
              <a:off x="3250208" y="5288384"/>
              <a:ext cx="1103313" cy="215900"/>
            </a:xfrm>
            <a:prstGeom prst="straightConnector1">
              <a:avLst/>
            </a:prstGeom>
            <a:noFill/>
            <a:ln w="28575" cap="sq">
              <a:solidFill>
                <a:schemeClr val="accent2"/>
              </a:solidFill>
              <a:round/>
              <a:headEnd type="none" w="sm" len="sm"/>
              <a:tailEnd type="none" w="sm" len="sm"/>
            </a:ln>
            <a:extLst>
              <a:ext uri="{909E8E84-426E-40DD-AFC4-6F175D3DCCD1}">
                <a14:hiddenFill xmlns:a14="http://schemas.microsoft.com/office/drawing/2010/main">
                  <a:noFill/>
                </a14:hiddenFill>
              </a:ext>
            </a:extLst>
          </p:spPr>
        </p:cxnSp>
        <p:cxnSp>
          <p:nvCxnSpPr>
            <p:cNvPr id="64" name="AutoShape 11"/>
            <p:cNvCxnSpPr>
              <a:cxnSpLocks noChangeShapeType="1"/>
              <a:stCxn id="60" idx="3"/>
            </p:cNvCxnSpPr>
            <p:nvPr/>
          </p:nvCxnSpPr>
          <p:spPr bwMode="auto">
            <a:xfrm flipV="1">
              <a:off x="3250208" y="5504284"/>
              <a:ext cx="1103313" cy="703262"/>
            </a:xfrm>
            <a:prstGeom prst="straightConnector1">
              <a:avLst/>
            </a:prstGeom>
            <a:noFill/>
            <a:ln w="28575" cap="sq">
              <a:solidFill>
                <a:schemeClr val="accent2"/>
              </a:solidFill>
              <a:round/>
              <a:headEnd type="none" w="sm" len="sm"/>
              <a:tailEnd type="none" w="sm" len="sm"/>
            </a:ln>
            <a:extLst>
              <a:ext uri="{909E8E84-426E-40DD-AFC4-6F175D3DCCD1}">
                <a14:hiddenFill xmlns:a14="http://schemas.microsoft.com/office/drawing/2010/main">
                  <a:noFill/>
                </a14:hiddenFill>
              </a:ext>
            </a:extLst>
          </p:spPr>
        </p:cxnSp>
        <p:sp>
          <p:nvSpPr>
            <p:cNvPr id="65" name="AutoShape 12"/>
            <p:cNvSpPr>
              <a:spLocks noChangeArrowheads="1"/>
            </p:cNvSpPr>
            <p:nvPr/>
          </p:nvSpPr>
          <p:spPr bwMode="auto">
            <a:xfrm>
              <a:off x="7528521" y="4620046"/>
              <a:ext cx="1847850" cy="1550988"/>
            </a:xfrm>
            <a:prstGeom prst="can">
              <a:avLst>
                <a:gd name="adj" fmla="val 25000"/>
              </a:avLst>
            </a:prstGeom>
            <a:solidFill>
              <a:schemeClr val="accent1"/>
            </a:solidFill>
            <a:ln w="28575" cap="sq">
              <a:solidFill>
                <a:srgbClr val="CCFFCC"/>
              </a:solidFill>
              <a:round/>
              <a:headEnd type="none" w="sm" len="sm"/>
              <a:tailEnd type="none" w="sm" len="sm"/>
            </a:ln>
            <a:effectLst>
              <a:outerShdw dist="35921" dir="2700000" algn="ctr" rotWithShape="0">
                <a:schemeClr val="bg2"/>
              </a:outerShdw>
            </a:effectLst>
          </p:spPr>
          <p:txBody>
            <a:bodyPr wrap="none" anchor="ctr" anchorCtr="0"/>
            <a:lstStyle/>
            <a:p>
              <a:pPr>
                <a:defRPr/>
              </a:pPr>
              <a:endParaRPr lang="zh-CN" altLang="en-US" sz="1400">
                <a:latin typeface="宋体" panose="02010600030101010101" pitchFamily="2" charset="-122"/>
              </a:endParaRPr>
            </a:p>
          </p:txBody>
        </p:sp>
        <p:sp>
          <p:nvSpPr>
            <p:cNvPr id="66" name="Text Box 13"/>
            <p:cNvSpPr txBox="1">
              <a:spLocks noChangeArrowheads="1"/>
            </p:cNvSpPr>
            <p:nvPr/>
          </p:nvSpPr>
          <p:spPr bwMode="auto">
            <a:xfrm>
              <a:off x="7868246" y="5284315"/>
              <a:ext cx="1219200" cy="414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nchorCtr="0">
              <a:spAutoFit/>
            </a:bodyPr>
            <a:lstStyle>
              <a:lvl1pPr eaLnBrk="0" hangingPunct="0">
                <a:defRPr sz="1200" baseline="-25000">
                  <a:solidFill>
                    <a:schemeClr val="tx1"/>
                  </a:solidFill>
                  <a:latin typeface="Garamond" pitchFamily="18" charset="0"/>
                  <a:ea typeface="宋体" pitchFamily="2" charset="-122"/>
                </a:defRPr>
              </a:lvl1pPr>
              <a:lvl2pPr marL="742950" indent="-285750" eaLnBrk="0" hangingPunct="0">
                <a:defRPr sz="1200" baseline="-25000">
                  <a:solidFill>
                    <a:schemeClr val="tx1"/>
                  </a:solidFill>
                  <a:latin typeface="Garamond" pitchFamily="18" charset="0"/>
                  <a:ea typeface="宋体" pitchFamily="2" charset="-122"/>
                </a:defRPr>
              </a:lvl2pPr>
              <a:lvl3pPr marL="1143000" indent="-228600" eaLnBrk="0" hangingPunct="0">
                <a:defRPr sz="1200" baseline="-25000">
                  <a:solidFill>
                    <a:schemeClr val="tx1"/>
                  </a:solidFill>
                  <a:latin typeface="Garamond" pitchFamily="18" charset="0"/>
                  <a:ea typeface="宋体" pitchFamily="2" charset="-122"/>
                </a:defRPr>
              </a:lvl3pPr>
              <a:lvl4pPr marL="1600200" indent="-228600" eaLnBrk="0" hangingPunct="0">
                <a:defRPr sz="1200" baseline="-25000">
                  <a:solidFill>
                    <a:schemeClr val="tx1"/>
                  </a:solidFill>
                  <a:latin typeface="Garamond" pitchFamily="18" charset="0"/>
                  <a:ea typeface="宋体" pitchFamily="2" charset="-122"/>
                </a:defRPr>
              </a:lvl4pPr>
              <a:lvl5pPr marL="2057400" indent="-228600" eaLnBrk="0" hangingPunct="0">
                <a:defRPr sz="1200" baseline="-25000">
                  <a:solidFill>
                    <a:schemeClr val="tx1"/>
                  </a:solidFill>
                  <a:latin typeface="Garamond" pitchFamily="18" charset="0"/>
                  <a:ea typeface="宋体" pitchFamily="2" charset="-122"/>
                </a:defRPr>
              </a:lvl5pPr>
              <a:lvl6pPr marL="25146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6pPr>
              <a:lvl7pPr marL="29718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7pPr>
              <a:lvl8pPr marL="34290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8pPr>
              <a:lvl9pPr marL="38862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9pPr>
            </a:lstStyle>
            <a:p>
              <a:pPr eaLnBrk="1" hangingPunct="1">
                <a:spcBef>
                  <a:spcPct val="50000"/>
                </a:spcBef>
              </a:pPr>
              <a:r>
                <a:rPr kumimoji="1" lang="zh-CN" altLang="en-US" sz="2800" b="1" i="1" baseline="0">
                  <a:solidFill>
                    <a:schemeClr val="bg1"/>
                  </a:solidFill>
                  <a:latin typeface="宋体" panose="02010600030101010101" pitchFamily="2" charset="-122"/>
                </a:rPr>
                <a:t>数据库</a:t>
              </a:r>
            </a:p>
          </p:txBody>
        </p:sp>
        <p:sp>
          <p:nvSpPr>
            <p:cNvPr id="67" name="AutoShape 14"/>
            <p:cNvSpPr>
              <a:spLocks noChangeArrowheads="1"/>
            </p:cNvSpPr>
            <p:nvPr/>
          </p:nvSpPr>
          <p:spPr bwMode="auto">
            <a:xfrm>
              <a:off x="6520458" y="5339184"/>
              <a:ext cx="838200" cy="333375"/>
            </a:xfrm>
            <a:prstGeom prst="leftRightArrow">
              <a:avLst>
                <a:gd name="adj1" fmla="val 77083"/>
                <a:gd name="adj2" fmla="val 46666"/>
              </a:avLst>
            </a:prstGeom>
            <a:solidFill>
              <a:schemeClr val="accent1"/>
            </a:solidFill>
            <a:ln w="28575" cap="sq">
              <a:solidFill>
                <a:schemeClr val="tx1"/>
              </a:solidFill>
              <a:miter lim="800000"/>
              <a:headEnd type="none" w="sm" len="sm"/>
              <a:tailEnd type="none" w="sm" len="sm"/>
            </a:ln>
            <a:effectLst>
              <a:outerShdw dist="35921" dir="2700000" algn="ctr" rotWithShape="0">
                <a:schemeClr val="bg2"/>
              </a:outerShdw>
            </a:effectLst>
          </p:spPr>
          <p:txBody>
            <a:bodyPr wrap="none" anchor="ctr" anchorCtr="0"/>
            <a:lstStyle/>
            <a:p>
              <a:pPr>
                <a:defRPr/>
              </a:pPr>
              <a:endParaRPr lang="zh-CN" altLang="en-US" sz="1400">
                <a:latin typeface="宋体" panose="02010600030101010101" pitchFamily="2" charset="-122"/>
              </a:endParaRPr>
            </a:p>
          </p:txBody>
        </p:sp>
        <p:sp>
          <p:nvSpPr>
            <p:cNvPr id="68" name="Oval 15"/>
            <p:cNvSpPr>
              <a:spLocks noChangeArrowheads="1"/>
            </p:cNvSpPr>
            <p:nvPr/>
          </p:nvSpPr>
          <p:spPr bwMode="auto">
            <a:xfrm>
              <a:off x="4367808" y="5085184"/>
              <a:ext cx="1981200" cy="838200"/>
            </a:xfrm>
            <a:prstGeom prst="frame">
              <a:avLst/>
            </a:prstGeom>
            <a:solidFill>
              <a:schemeClr val="accent2"/>
            </a:solidFill>
            <a:ln w="28575" cap="sq">
              <a:solidFill>
                <a:srgbClr val="CCFFCC"/>
              </a:solidFill>
              <a:round/>
              <a:headEnd type="none" w="sm" len="sm"/>
              <a:tailEnd type="none" w="sm" len="sm"/>
            </a:ln>
            <a:effectLst>
              <a:outerShdw dist="35921" dir="2700000" algn="ctr" rotWithShape="0">
                <a:schemeClr val="bg2"/>
              </a:outerShdw>
            </a:effectLst>
          </p:spPr>
          <p:txBody>
            <a:bodyPr wrap="none" anchor="ctr" anchorCtr="0"/>
            <a:lstStyle/>
            <a:p>
              <a:pPr algn="ctr">
                <a:defRPr/>
              </a:pPr>
              <a:r>
                <a:rPr kumimoji="1" lang="en-US" altLang="zh-CN" sz="4000" baseline="0" dirty="0">
                  <a:ln w="0"/>
                  <a:effectLst>
                    <a:outerShdw blurRad="38100" dist="19050" dir="2700000" algn="tl" rotWithShape="0">
                      <a:schemeClr val="dk1">
                        <a:alpha val="40000"/>
                      </a:schemeClr>
                    </a:outerShdw>
                  </a:effectLst>
                  <a:latin typeface="宋体" panose="02010600030101010101" pitchFamily="2" charset="-122"/>
                </a:rPr>
                <a:t>DBMS</a:t>
              </a:r>
            </a:p>
          </p:txBody>
        </p:sp>
      </p:grpSp>
      <p:sp>
        <p:nvSpPr>
          <p:cNvPr id="69" name="AutoShape 16"/>
          <p:cNvSpPr>
            <a:spLocks noChangeArrowheads="1"/>
          </p:cNvSpPr>
          <p:nvPr/>
        </p:nvSpPr>
        <p:spPr bwMode="auto">
          <a:xfrm>
            <a:off x="9192344" y="651351"/>
            <a:ext cx="2403703" cy="934478"/>
          </a:xfrm>
          <a:prstGeom prst="wedgeRectCallout">
            <a:avLst>
              <a:gd name="adj1" fmla="val -43185"/>
              <a:gd name="adj2" fmla="val 107966"/>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a:tailEnd/>
          </a:ln>
          <a:effectLst>
            <a:outerShdw dist="53882" dir="2700000" algn="ctr" rotWithShape="0">
              <a:schemeClr val="bg2">
                <a:alpha val="50000"/>
              </a:schemeClr>
            </a:outerShdw>
          </a:effectLst>
        </p:spPr>
        <p:txBody>
          <a:bodyPr wrap="square" lIns="36000" tIns="36000" rIns="36000" bIns="36000">
            <a:spAutoFit/>
          </a:bodyPr>
          <a:lstStyle/>
          <a:p>
            <a:pPr algn="dist">
              <a:defRPr/>
            </a:pPr>
            <a:r>
              <a:rPr lang="zh-CN" altLang="en-US" sz="2800" b="1" baseline="0" dirty="0">
                <a:solidFill>
                  <a:srgbClr val="3333CC"/>
                </a:solidFill>
                <a:latin typeface="微软雅黑" pitchFamily="34" charset="-122"/>
                <a:ea typeface="微软雅黑" pitchFamily="34" charset="-122"/>
              </a:rPr>
              <a:t>与文件系统最本质的区别</a:t>
            </a:r>
          </a:p>
        </p:txBody>
      </p:sp>
    </p:spTree>
    <p:extLst>
      <p:ext uri="{BB962C8B-B14F-4D97-AF65-F5344CB8AC3E}">
        <p14:creationId xmlns:p14="http://schemas.microsoft.com/office/powerpoint/2010/main" val="16434061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a:extLst>
              <a:ext uri="{FF2B5EF4-FFF2-40B4-BE49-F238E27FC236}">
                <a16:creationId xmlns:a16="http://schemas.microsoft.com/office/drawing/2014/main" id="{733EC4E0-1BFD-4B72-B112-2060E7BF36B7}"/>
              </a:ext>
            </a:extLst>
          </p:cNvPr>
          <p:cNvSpPr>
            <a:spLocks noGrp="1" noChangeArrowheads="1"/>
          </p:cNvSpPr>
          <p:nvPr>
            <p:ph type="title"/>
          </p:nvPr>
        </p:nvSpPr>
        <p:spPr>
          <a:xfrm>
            <a:off x="839416" y="188640"/>
            <a:ext cx="8084264" cy="769441"/>
          </a:xfrm>
        </p:spPr>
        <p:txBody>
          <a:bodyPr/>
          <a:lstStyle/>
          <a:p>
            <a:pPr eaLnBrk="1" hangingPunct="1"/>
            <a:r>
              <a:rPr lang="zh-CN" altLang="en-US" sz="4400" dirty="0">
                <a:solidFill>
                  <a:schemeClr val="tx1"/>
                </a:solidFill>
              </a:rPr>
              <a:t>一、数据库系统管理数据的特点</a:t>
            </a:r>
          </a:p>
        </p:txBody>
      </p:sp>
      <p:sp>
        <p:nvSpPr>
          <p:cNvPr id="14341" name="Rectangle 3">
            <a:extLst>
              <a:ext uri="{FF2B5EF4-FFF2-40B4-BE49-F238E27FC236}">
                <a16:creationId xmlns:a16="http://schemas.microsoft.com/office/drawing/2014/main" id="{A34A0AE9-47BA-442A-83E9-425391794A14}"/>
              </a:ext>
            </a:extLst>
          </p:cNvPr>
          <p:cNvSpPr>
            <a:spLocks noGrp="1" noChangeArrowheads="1"/>
          </p:cNvSpPr>
          <p:nvPr>
            <p:ph type="body" idx="1"/>
          </p:nvPr>
        </p:nvSpPr>
        <p:spPr>
          <a:xfrm>
            <a:off x="839416" y="1124744"/>
            <a:ext cx="10440906" cy="4953000"/>
          </a:xfrm>
        </p:spPr>
        <p:txBody>
          <a:bodyPr/>
          <a:lstStyle/>
          <a:p>
            <a:pPr eaLnBrk="1" hangingPunct="1">
              <a:lnSpc>
                <a:spcPct val="150000"/>
              </a:lnSpc>
              <a:defRPr/>
            </a:pPr>
            <a:r>
              <a:rPr lang="zh-CN" altLang="en-US" u="sng" dirty="0">
                <a:solidFill>
                  <a:srgbClr val="FF0000"/>
                </a:solidFill>
                <a:effectLst>
                  <a:outerShdw blurRad="38100" dist="38100" dir="2700000" algn="tl">
                    <a:srgbClr val="C0C0C0"/>
                  </a:outerShdw>
                </a:effectLst>
              </a:rPr>
              <a:t>数据结构化</a:t>
            </a:r>
            <a:r>
              <a:rPr lang="zh-CN" altLang="en-US" dirty="0"/>
              <a:t>。</a:t>
            </a:r>
          </a:p>
          <a:p>
            <a:pPr lvl="1" eaLnBrk="1" hangingPunct="1">
              <a:lnSpc>
                <a:spcPct val="150000"/>
              </a:lnSpc>
              <a:defRPr/>
            </a:pPr>
            <a:r>
              <a:rPr lang="zh-CN" altLang="en-US" dirty="0"/>
              <a:t>按照某种数据模型，将全组织的各种数据组织到一个统一结构化的数据库中，整个组织的数据不是一盘散沙，可表示出数据之间的有机关联。</a:t>
            </a:r>
          </a:p>
          <a:p>
            <a:pPr lvl="1" eaLnBrk="1" hangingPunct="1">
              <a:lnSpc>
                <a:spcPct val="150000"/>
              </a:lnSpc>
              <a:defRPr/>
            </a:pPr>
            <a:r>
              <a:rPr lang="zh-CN" altLang="en-US" dirty="0">
                <a:solidFill>
                  <a:srgbClr val="FF0000"/>
                </a:solidFill>
              </a:rPr>
              <a:t>这是数据库系统与文件系统的根本区别</a:t>
            </a:r>
            <a:r>
              <a:rPr lang="zh-CN" altLang="en-US" dirty="0"/>
              <a:t>。在文件系统中，每种类型的数据文件都有自己的存储结构；而在数据库管理系统中，实现的是整体数据结构化，即数据不在是只针对某一应用程序，而是面向整个组织。</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3">
            <a:extLst>
              <a:ext uri="{FF2B5EF4-FFF2-40B4-BE49-F238E27FC236}">
                <a16:creationId xmlns:a16="http://schemas.microsoft.com/office/drawing/2014/main" id="{C6E6034E-A910-4F6E-A09A-2141A910B955}"/>
              </a:ext>
            </a:extLst>
          </p:cNvPr>
          <p:cNvSpPr>
            <a:spLocks noGrp="1" noChangeArrowheads="1"/>
          </p:cNvSpPr>
          <p:nvPr>
            <p:ph type="body" idx="1"/>
          </p:nvPr>
        </p:nvSpPr>
        <p:spPr>
          <a:xfrm>
            <a:off x="1487488" y="620688"/>
            <a:ext cx="9649072" cy="5043488"/>
          </a:xfrm>
        </p:spPr>
        <p:txBody>
          <a:bodyPr/>
          <a:lstStyle/>
          <a:p>
            <a:pPr eaLnBrk="1" hangingPunct="1">
              <a:lnSpc>
                <a:spcPct val="150000"/>
              </a:lnSpc>
              <a:defRPr/>
            </a:pPr>
            <a:r>
              <a:rPr lang="zh-CN" altLang="en-US" u="sng" dirty="0">
                <a:solidFill>
                  <a:srgbClr val="FF0000"/>
                </a:solidFill>
                <a:effectLst>
                  <a:outerShdw blurRad="38100" dist="38100" dir="2700000" algn="tl">
                    <a:srgbClr val="C0C0C0"/>
                  </a:outerShdw>
                </a:effectLst>
              </a:rPr>
              <a:t>数据的共享性好，冗余度低</a:t>
            </a:r>
            <a:r>
              <a:rPr lang="zh-CN" altLang="en-US" dirty="0"/>
              <a:t>。</a:t>
            </a:r>
          </a:p>
          <a:p>
            <a:pPr lvl="1" algn="just" eaLnBrk="1" hangingPunct="1">
              <a:lnSpc>
                <a:spcPct val="150000"/>
              </a:lnSpc>
              <a:defRPr/>
            </a:pPr>
            <a:r>
              <a:rPr lang="zh-CN" altLang="en-US" dirty="0"/>
              <a:t>这是数据库系统阶段的最大改进，数据不再面向某个应用程序而是面向整个系统，当前所有用户可同时存取库中的数据。</a:t>
            </a:r>
          </a:p>
          <a:p>
            <a:pPr lvl="1" algn="just" eaLnBrk="1" hangingPunct="1">
              <a:lnSpc>
                <a:spcPct val="150000"/>
              </a:lnSpc>
              <a:defRPr/>
            </a:pPr>
            <a:r>
              <a:rPr lang="zh-CN" altLang="en-US" dirty="0"/>
              <a:t>这样便减少了不必要的数据冗余，节约存储空间，同时也避免了数据之间的不相容性与不一致性。</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3">
            <a:extLst>
              <a:ext uri="{FF2B5EF4-FFF2-40B4-BE49-F238E27FC236}">
                <a16:creationId xmlns:a16="http://schemas.microsoft.com/office/drawing/2014/main" id="{B0068887-6AF2-48B0-B343-014C200A2E88}"/>
              </a:ext>
            </a:extLst>
          </p:cNvPr>
          <p:cNvSpPr>
            <a:spLocks noGrp="1" noChangeArrowheads="1"/>
          </p:cNvSpPr>
          <p:nvPr>
            <p:ph type="body" idx="1"/>
          </p:nvPr>
        </p:nvSpPr>
        <p:spPr>
          <a:xfrm>
            <a:off x="1271464" y="548680"/>
            <a:ext cx="10009112" cy="5424488"/>
          </a:xfrm>
        </p:spPr>
        <p:txBody>
          <a:bodyPr/>
          <a:lstStyle/>
          <a:p>
            <a:pPr eaLnBrk="1" hangingPunct="1">
              <a:lnSpc>
                <a:spcPct val="150000"/>
              </a:lnSpc>
              <a:defRPr/>
            </a:pPr>
            <a:r>
              <a:rPr lang="zh-CN" altLang="en-US" u="sng" dirty="0">
                <a:solidFill>
                  <a:srgbClr val="FF0000"/>
                </a:solidFill>
                <a:effectLst>
                  <a:outerShdw blurRad="38100" dist="38100" dir="2700000" algn="tl">
                    <a:srgbClr val="C0C0C0"/>
                  </a:outerShdw>
                </a:effectLst>
              </a:rPr>
              <a:t>数据独立性高</a:t>
            </a:r>
            <a:r>
              <a:rPr lang="zh-CN" altLang="en-US" dirty="0"/>
              <a:t>。</a:t>
            </a:r>
          </a:p>
          <a:p>
            <a:pPr lvl="1" algn="just" eaLnBrk="1" hangingPunct="1">
              <a:lnSpc>
                <a:spcPct val="150000"/>
              </a:lnSpc>
              <a:defRPr/>
            </a:pPr>
            <a:r>
              <a:rPr lang="zh-CN" altLang="en-US" dirty="0"/>
              <a:t>数据的独立性是指逻辑独立性和物理独立性。</a:t>
            </a:r>
          </a:p>
          <a:p>
            <a:pPr lvl="1" algn="just" eaLnBrk="1" hangingPunct="1">
              <a:lnSpc>
                <a:spcPct val="150000"/>
              </a:lnSpc>
              <a:defRPr/>
            </a:pPr>
            <a:r>
              <a:rPr lang="zh-CN" altLang="en-US" dirty="0"/>
              <a:t>数据的</a:t>
            </a:r>
            <a:r>
              <a:rPr lang="zh-CN" altLang="en-US" dirty="0">
                <a:solidFill>
                  <a:srgbClr val="FF0066"/>
                </a:solidFill>
              </a:rPr>
              <a:t>逻辑独立性</a:t>
            </a:r>
            <a:r>
              <a:rPr lang="zh-CN" altLang="en-US" dirty="0"/>
              <a:t>是指当数据的总体逻辑结构改变时，数据的局部逻辑结构不变；由于应用程序是依据数据的局部逻辑结构编写的，所以应用程序不必须修改，从而保证了数据与程序间的逻辑独立性。</a:t>
            </a:r>
          </a:p>
          <a:p>
            <a:pPr lvl="1" algn="just" eaLnBrk="1" hangingPunct="1">
              <a:lnSpc>
                <a:spcPct val="150000"/>
              </a:lnSpc>
              <a:defRPr/>
            </a:pPr>
            <a:r>
              <a:rPr lang="zh-CN" altLang="en-US" dirty="0"/>
              <a:t>数据的</a:t>
            </a:r>
            <a:r>
              <a:rPr lang="zh-CN" altLang="en-US" dirty="0">
                <a:solidFill>
                  <a:srgbClr val="FF0066"/>
                </a:solidFill>
              </a:rPr>
              <a:t>物理独立性</a:t>
            </a:r>
            <a:r>
              <a:rPr lang="zh-CN" altLang="en-US" dirty="0"/>
              <a:t>是指当数据的存储结构改变时，数据的逻辑结构不变，从而应用程序也不必改变。</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a:extLst>
              <a:ext uri="{FF2B5EF4-FFF2-40B4-BE49-F238E27FC236}">
                <a16:creationId xmlns:a16="http://schemas.microsoft.com/office/drawing/2014/main" id="{5A03F395-905D-411E-8AD7-7BCDED2AA1BA}"/>
              </a:ext>
            </a:extLst>
          </p:cNvPr>
          <p:cNvSpPr>
            <a:spLocks noGrp="1" noChangeArrowheads="1"/>
          </p:cNvSpPr>
          <p:nvPr>
            <p:ph type="body" idx="1"/>
          </p:nvPr>
        </p:nvSpPr>
        <p:spPr>
          <a:xfrm>
            <a:off x="1055440" y="116632"/>
            <a:ext cx="10441160" cy="5348288"/>
          </a:xfrm>
        </p:spPr>
        <p:txBody>
          <a:bodyPr/>
          <a:lstStyle/>
          <a:p>
            <a:pPr algn="just" eaLnBrk="1" hangingPunct="1">
              <a:lnSpc>
                <a:spcPct val="150000"/>
              </a:lnSpc>
              <a:defRPr/>
            </a:pPr>
            <a:r>
              <a:rPr lang="zh-CN" altLang="en-US" u="sng" dirty="0">
                <a:solidFill>
                  <a:srgbClr val="FF0000"/>
                </a:solidFill>
                <a:effectLst>
                  <a:outerShdw blurRad="38100" dist="38100" dir="2700000" algn="tl">
                    <a:srgbClr val="C0C0C0"/>
                  </a:outerShdw>
                </a:effectLst>
              </a:rPr>
              <a:t>有统一的数据控制功能</a:t>
            </a:r>
          </a:p>
          <a:p>
            <a:pPr lvl="1" algn="just" eaLnBrk="1" hangingPunct="1">
              <a:lnSpc>
                <a:spcPct val="150000"/>
              </a:lnSpc>
              <a:defRPr/>
            </a:pPr>
            <a:r>
              <a:rPr lang="zh-CN" altLang="en-US" dirty="0"/>
              <a:t>数据库为多个用户和应用程序所共享，对数据的存取往往是</a:t>
            </a:r>
            <a:r>
              <a:rPr lang="zh-CN" altLang="en-US" dirty="0">
                <a:solidFill>
                  <a:srgbClr val="FF0000"/>
                </a:solidFill>
              </a:rPr>
              <a:t>并发</a:t>
            </a:r>
            <a:r>
              <a:rPr lang="zh-CN" altLang="en-US" dirty="0"/>
              <a:t>的，即多个用户可以同时存取数据库中的数据，甚至可以同时存取数据库中的同一个数据，为确保数据库数据的正确有效和数据库系统的有效运行，数据库管理系统提供下述四方面的</a:t>
            </a:r>
            <a:r>
              <a:rPr lang="zh-CN" altLang="en-US" dirty="0">
                <a:solidFill>
                  <a:srgbClr val="FF00FF"/>
                </a:solidFill>
              </a:rPr>
              <a:t>数据控制功能</a:t>
            </a:r>
            <a:r>
              <a:rPr lang="zh-CN" altLang="en-US" dirty="0"/>
              <a:t>。</a:t>
            </a:r>
          </a:p>
          <a:p>
            <a:pPr lvl="2" algn="just" eaLnBrk="1" hangingPunct="1">
              <a:lnSpc>
                <a:spcPct val="150000"/>
              </a:lnSpc>
              <a:defRPr/>
            </a:pPr>
            <a:r>
              <a:rPr lang="zh-CN" altLang="en-US" dirty="0"/>
              <a:t>安全性控制</a:t>
            </a:r>
          </a:p>
          <a:p>
            <a:pPr lvl="2" algn="just" eaLnBrk="1" hangingPunct="1">
              <a:lnSpc>
                <a:spcPct val="150000"/>
              </a:lnSpc>
              <a:defRPr/>
            </a:pPr>
            <a:r>
              <a:rPr lang="zh-CN" altLang="en-US" dirty="0"/>
              <a:t>完整性控制</a:t>
            </a:r>
          </a:p>
          <a:p>
            <a:pPr lvl="2" algn="just" eaLnBrk="1" hangingPunct="1">
              <a:lnSpc>
                <a:spcPct val="150000"/>
              </a:lnSpc>
              <a:defRPr/>
            </a:pPr>
            <a:r>
              <a:rPr lang="zh-CN" altLang="en-US" dirty="0"/>
              <a:t>并发控制</a:t>
            </a:r>
          </a:p>
          <a:p>
            <a:pPr lvl="2" algn="just" eaLnBrk="1" hangingPunct="1">
              <a:lnSpc>
                <a:spcPct val="150000"/>
              </a:lnSpc>
              <a:defRPr/>
            </a:pPr>
            <a:r>
              <a:rPr lang="zh-CN" altLang="en-US" dirty="0"/>
              <a:t>恢复</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3">
            <a:extLst>
              <a:ext uri="{FF2B5EF4-FFF2-40B4-BE49-F238E27FC236}">
                <a16:creationId xmlns:a16="http://schemas.microsoft.com/office/drawing/2014/main" id="{F3256CD4-2C47-4E62-86B9-E6B30A7B7A43}"/>
              </a:ext>
            </a:extLst>
          </p:cNvPr>
          <p:cNvSpPr>
            <a:spLocks noGrp="1" noChangeArrowheads="1"/>
          </p:cNvSpPr>
          <p:nvPr>
            <p:ph type="body" idx="1"/>
          </p:nvPr>
        </p:nvSpPr>
        <p:spPr>
          <a:xfrm>
            <a:off x="1127448" y="548680"/>
            <a:ext cx="10009112" cy="5544616"/>
          </a:xfrm>
        </p:spPr>
        <p:txBody>
          <a:bodyPr/>
          <a:lstStyle/>
          <a:p>
            <a:pPr algn="just" eaLnBrk="1" hangingPunct="1">
              <a:lnSpc>
                <a:spcPct val="150000"/>
              </a:lnSpc>
              <a:buFontTx/>
              <a:buNone/>
            </a:pPr>
            <a:r>
              <a:rPr lang="zh-CN" altLang="en-US" dirty="0">
                <a:solidFill>
                  <a:srgbClr val="FF0066"/>
                </a:solidFill>
              </a:rPr>
              <a:t>（</a:t>
            </a:r>
            <a:r>
              <a:rPr lang="en-US" altLang="zh-CN" dirty="0">
                <a:solidFill>
                  <a:srgbClr val="FF0066"/>
                </a:solidFill>
              </a:rPr>
              <a:t>1</a:t>
            </a:r>
            <a:r>
              <a:rPr lang="zh-CN" altLang="en-US" dirty="0">
                <a:solidFill>
                  <a:srgbClr val="FF0066"/>
                </a:solidFill>
              </a:rPr>
              <a:t>）数据的安全性（</a:t>
            </a:r>
            <a:r>
              <a:rPr lang="en-US" altLang="zh-CN" dirty="0">
                <a:solidFill>
                  <a:srgbClr val="FF0066"/>
                </a:solidFill>
              </a:rPr>
              <a:t>security</a:t>
            </a:r>
            <a:r>
              <a:rPr lang="zh-CN" altLang="en-US" dirty="0">
                <a:solidFill>
                  <a:srgbClr val="FF0066"/>
                </a:solidFill>
              </a:rPr>
              <a:t>）控制</a:t>
            </a:r>
            <a:r>
              <a:rPr lang="zh-CN" altLang="en-US" dirty="0"/>
              <a:t>：防止不合法使用数据造成数据的泄露和破坏，保证数据的安全和机密；</a:t>
            </a:r>
          </a:p>
          <a:p>
            <a:pPr lvl="1" algn="just" eaLnBrk="1" hangingPunct="1">
              <a:lnSpc>
                <a:spcPct val="150000"/>
              </a:lnSpc>
            </a:pPr>
            <a:r>
              <a:rPr lang="zh-CN" altLang="en-US" dirty="0">
                <a:solidFill>
                  <a:srgbClr val="0000FF"/>
                </a:solidFill>
                <a:highlight>
                  <a:srgbClr val="FFFF00"/>
                </a:highlight>
              </a:rPr>
              <a:t>例如，系统提供口令检查或其他手段来验证用户身份，防止非法用户使用系统；</a:t>
            </a:r>
          </a:p>
          <a:p>
            <a:pPr lvl="1" algn="just" eaLnBrk="1" hangingPunct="1">
              <a:lnSpc>
                <a:spcPct val="150000"/>
              </a:lnSpc>
            </a:pPr>
            <a:r>
              <a:rPr lang="zh-CN" altLang="en-US" dirty="0">
                <a:solidFill>
                  <a:srgbClr val="0000FF"/>
                </a:solidFill>
                <a:highlight>
                  <a:srgbClr val="FFFF00"/>
                </a:highlight>
              </a:rPr>
              <a:t>也可以对数据的存取权限进行限制，只有通过检查后才能执行相应的操作。</a:t>
            </a:r>
            <a:endParaRPr lang="zh-CN" altLang="en-US" dirty="0">
              <a:highlight>
                <a:srgbClr val="FFFF00"/>
              </a:highligh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3">
            <a:extLst>
              <a:ext uri="{FF2B5EF4-FFF2-40B4-BE49-F238E27FC236}">
                <a16:creationId xmlns:a16="http://schemas.microsoft.com/office/drawing/2014/main" id="{7DF2831C-3DBE-4098-AD3A-1DCC69FF3CB2}"/>
              </a:ext>
            </a:extLst>
          </p:cNvPr>
          <p:cNvSpPr>
            <a:spLocks noGrp="1" noChangeArrowheads="1"/>
          </p:cNvSpPr>
          <p:nvPr>
            <p:ph type="body" idx="1"/>
          </p:nvPr>
        </p:nvSpPr>
        <p:spPr>
          <a:xfrm>
            <a:off x="1343472" y="332656"/>
            <a:ext cx="9937104" cy="5960194"/>
          </a:xfrm>
        </p:spPr>
        <p:txBody>
          <a:bodyPr/>
          <a:lstStyle/>
          <a:p>
            <a:pPr eaLnBrk="1" hangingPunct="1">
              <a:lnSpc>
                <a:spcPct val="150000"/>
              </a:lnSpc>
              <a:buFontTx/>
              <a:buNone/>
            </a:pPr>
            <a:r>
              <a:rPr lang="zh-CN" altLang="en-US" dirty="0">
                <a:solidFill>
                  <a:srgbClr val="FF0066"/>
                </a:solidFill>
              </a:rPr>
              <a:t>（</a:t>
            </a:r>
            <a:r>
              <a:rPr lang="en-US" altLang="zh-CN" dirty="0">
                <a:solidFill>
                  <a:srgbClr val="FF0066"/>
                </a:solidFill>
              </a:rPr>
              <a:t>2</a:t>
            </a:r>
            <a:r>
              <a:rPr lang="zh-CN" altLang="en-US" dirty="0">
                <a:solidFill>
                  <a:srgbClr val="FF0066"/>
                </a:solidFill>
              </a:rPr>
              <a:t>）数据的完整性</a:t>
            </a:r>
            <a:r>
              <a:rPr lang="en-US" altLang="zh-CN" dirty="0">
                <a:solidFill>
                  <a:srgbClr val="FF0066"/>
                </a:solidFill>
              </a:rPr>
              <a:t>(integrity)</a:t>
            </a:r>
            <a:r>
              <a:rPr lang="zh-CN" altLang="en-US" dirty="0">
                <a:solidFill>
                  <a:srgbClr val="FF0066"/>
                </a:solidFill>
              </a:rPr>
              <a:t>控制</a:t>
            </a:r>
            <a:r>
              <a:rPr lang="zh-CN" altLang="en-US" dirty="0"/>
              <a:t>：系统通过设置一些完整性规则以确保数据的正确性、有效性和相容性。</a:t>
            </a:r>
          </a:p>
          <a:p>
            <a:pPr lvl="1" algn="just" eaLnBrk="1" hangingPunct="1">
              <a:lnSpc>
                <a:spcPct val="150000"/>
              </a:lnSpc>
            </a:pPr>
            <a:r>
              <a:rPr lang="zh-CN" altLang="en-US" dirty="0">
                <a:solidFill>
                  <a:srgbClr val="FF0066"/>
                </a:solidFill>
              </a:rPr>
              <a:t>正确性</a:t>
            </a:r>
            <a:r>
              <a:rPr lang="zh-CN" altLang="en-US" dirty="0"/>
              <a:t>是指数据的合法性，</a:t>
            </a:r>
            <a:r>
              <a:rPr lang="zh-CN" altLang="en-US" dirty="0">
                <a:solidFill>
                  <a:srgbClr val="0000FF"/>
                </a:solidFill>
                <a:highlight>
                  <a:srgbClr val="FFFF00"/>
                </a:highlight>
              </a:rPr>
              <a:t>如年龄属于数值型数据，只能含</a:t>
            </a:r>
            <a:r>
              <a:rPr lang="en-US" altLang="zh-CN" dirty="0">
                <a:solidFill>
                  <a:srgbClr val="0000FF"/>
                </a:solidFill>
                <a:highlight>
                  <a:srgbClr val="FFFF00"/>
                </a:highlight>
              </a:rPr>
              <a:t>0,1,…9</a:t>
            </a:r>
            <a:r>
              <a:rPr lang="zh-CN" altLang="en-US" dirty="0">
                <a:solidFill>
                  <a:srgbClr val="0000FF"/>
                </a:solidFill>
                <a:highlight>
                  <a:srgbClr val="FFFF00"/>
                </a:highlight>
              </a:rPr>
              <a:t>，不能含字母或特殊符号；</a:t>
            </a:r>
          </a:p>
          <a:p>
            <a:pPr lvl="1" algn="just" eaLnBrk="1" hangingPunct="1">
              <a:lnSpc>
                <a:spcPct val="150000"/>
              </a:lnSpc>
            </a:pPr>
            <a:r>
              <a:rPr lang="zh-CN" altLang="en-US" dirty="0">
                <a:solidFill>
                  <a:srgbClr val="FF0066"/>
                </a:solidFill>
              </a:rPr>
              <a:t>有效性</a:t>
            </a:r>
            <a:r>
              <a:rPr lang="zh-CN" altLang="en-US" dirty="0"/>
              <a:t>是指数据是否在其定义的有效范围，</a:t>
            </a:r>
            <a:r>
              <a:rPr lang="zh-CN" altLang="en-US" dirty="0">
                <a:solidFill>
                  <a:srgbClr val="0000FF"/>
                </a:solidFill>
                <a:highlight>
                  <a:srgbClr val="FFFF00"/>
                </a:highlight>
              </a:rPr>
              <a:t>如月份只能用</a:t>
            </a:r>
            <a:r>
              <a:rPr lang="en-US" altLang="zh-CN" dirty="0">
                <a:solidFill>
                  <a:srgbClr val="0000FF"/>
                </a:solidFill>
                <a:highlight>
                  <a:srgbClr val="FFFF00"/>
                </a:highlight>
              </a:rPr>
              <a:t>1~12</a:t>
            </a:r>
            <a:r>
              <a:rPr lang="zh-CN" altLang="en-US" dirty="0">
                <a:solidFill>
                  <a:srgbClr val="0000FF"/>
                </a:solidFill>
                <a:highlight>
                  <a:srgbClr val="FFFF00"/>
                </a:highlight>
              </a:rPr>
              <a:t>之间的正整数表示；</a:t>
            </a:r>
          </a:p>
          <a:p>
            <a:pPr lvl="1" algn="just" eaLnBrk="1" hangingPunct="1">
              <a:lnSpc>
                <a:spcPct val="150000"/>
              </a:lnSpc>
            </a:pPr>
            <a:r>
              <a:rPr lang="zh-CN" altLang="en-US" dirty="0">
                <a:solidFill>
                  <a:srgbClr val="FF0066"/>
                </a:solidFill>
              </a:rPr>
              <a:t>相容性</a:t>
            </a:r>
            <a:r>
              <a:rPr lang="zh-CN" altLang="en-US" dirty="0"/>
              <a:t>是指表示同一事实的两个数据应相同，否则就不相容，</a:t>
            </a:r>
            <a:r>
              <a:rPr lang="zh-CN" altLang="en-US" dirty="0">
                <a:solidFill>
                  <a:srgbClr val="0000FF"/>
                </a:solidFill>
                <a:highlight>
                  <a:srgbClr val="FFFF00"/>
                </a:highlight>
              </a:rPr>
              <a:t>如一个人不能有两个性别。</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Rectangle 3">
            <a:extLst>
              <a:ext uri="{FF2B5EF4-FFF2-40B4-BE49-F238E27FC236}">
                <a16:creationId xmlns:a16="http://schemas.microsoft.com/office/drawing/2014/main" id="{BC753118-0210-4EFA-978C-4AF59CBFEDA7}"/>
              </a:ext>
            </a:extLst>
          </p:cNvPr>
          <p:cNvSpPr>
            <a:spLocks noGrp="1" noChangeArrowheads="1"/>
          </p:cNvSpPr>
          <p:nvPr>
            <p:ph type="body" idx="1"/>
          </p:nvPr>
        </p:nvSpPr>
        <p:spPr>
          <a:xfrm>
            <a:off x="1327150" y="332656"/>
            <a:ext cx="10169450" cy="5137150"/>
          </a:xfrm>
        </p:spPr>
        <p:txBody>
          <a:bodyPr/>
          <a:lstStyle/>
          <a:p>
            <a:pPr algn="just" eaLnBrk="1" hangingPunct="1">
              <a:lnSpc>
                <a:spcPct val="150000"/>
              </a:lnSpc>
              <a:buFontTx/>
              <a:buNone/>
            </a:pPr>
            <a:r>
              <a:rPr lang="zh-CN" altLang="en-US" dirty="0">
                <a:solidFill>
                  <a:srgbClr val="FF0066"/>
                </a:solidFill>
              </a:rPr>
              <a:t>（</a:t>
            </a:r>
            <a:r>
              <a:rPr lang="en-US" altLang="zh-CN" dirty="0">
                <a:solidFill>
                  <a:srgbClr val="FF0066"/>
                </a:solidFill>
              </a:rPr>
              <a:t>3</a:t>
            </a:r>
            <a:r>
              <a:rPr lang="zh-CN" altLang="en-US" dirty="0">
                <a:solidFill>
                  <a:srgbClr val="FF0066"/>
                </a:solidFill>
              </a:rPr>
              <a:t>）并发（</a:t>
            </a:r>
            <a:r>
              <a:rPr lang="en-US" altLang="zh-CN" dirty="0">
                <a:solidFill>
                  <a:srgbClr val="FF0066"/>
                </a:solidFill>
              </a:rPr>
              <a:t>concurrency</a:t>
            </a:r>
            <a:r>
              <a:rPr lang="zh-CN" altLang="en-US" dirty="0">
                <a:solidFill>
                  <a:srgbClr val="FF0066"/>
                </a:solidFill>
              </a:rPr>
              <a:t>）控制</a:t>
            </a:r>
            <a:r>
              <a:rPr lang="zh-CN" altLang="en-US" dirty="0"/>
              <a:t>：多用户同时存取或修改数据库时，防止相互干扰而提供给用户不正确的数据，并使数据库受到破坏。</a:t>
            </a:r>
          </a:p>
          <a:p>
            <a:pPr eaLnBrk="1" hangingPunct="1">
              <a:lnSpc>
                <a:spcPct val="150000"/>
              </a:lnSpc>
              <a:buFontTx/>
              <a:buNone/>
            </a:pPr>
            <a:r>
              <a:rPr lang="zh-CN" altLang="en-US" dirty="0">
                <a:solidFill>
                  <a:srgbClr val="FF0066"/>
                </a:solidFill>
              </a:rPr>
              <a:t>（</a:t>
            </a:r>
            <a:r>
              <a:rPr lang="en-US" altLang="zh-CN" dirty="0">
                <a:solidFill>
                  <a:srgbClr val="FF0066"/>
                </a:solidFill>
              </a:rPr>
              <a:t>4</a:t>
            </a:r>
            <a:r>
              <a:rPr lang="zh-CN" altLang="en-US" dirty="0">
                <a:solidFill>
                  <a:srgbClr val="FF0066"/>
                </a:solidFill>
              </a:rPr>
              <a:t>）数据恢复（</a:t>
            </a:r>
            <a:r>
              <a:rPr lang="en-US" altLang="zh-CN" dirty="0">
                <a:solidFill>
                  <a:srgbClr val="FF0066"/>
                </a:solidFill>
              </a:rPr>
              <a:t>recovery</a:t>
            </a:r>
            <a:r>
              <a:rPr lang="zh-CN" altLang="en-US" dirty="0">
                <a:solidFill>
                  <a:srgbClr val="FF0066"/>
                </a:solidFill>
              </a:rPr>
              <a:t>）</a:t>
            </a:r>
            <a:r>
              <a:rPr lang="zh-CN" altLang="en-US" dirty="0"/>
              <a:t>：当数据库被破坏或数据不可靠时，系统有能力将数据库从错误状态恢复到最近某一时刻的正确状态。</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38F7C8E3-0986-4F39-9EA0-CCD3D1ABF897}"/>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4000" b="1" dirty="0">
                <a:latin typeface="Microsoft Yahei" panose="020B0503020204020204" pitchFamily="34" charset="-122"/>
                <a:ea typeface="Microsoft Yahei" panose="020B0503020204020204" pitchFamily="34" charset="-122"/>
                <a:sym typeface="Microsoft Yahei" panose="020B0503020204020204" pitchFamily="34" charset="-122"/>
              </a:rPr>
              <a:t>请回答数据管理技术的发展按时间顺序经历了哪几个阶段？</a:t>
            </a:r>
          </a:p>
          <a:p>
            <a:r>
              <a:rPr lang="zh-CN" altLang="en-US" sz="4000" b="1" dirty="0">
                <a:latin typeface="Microsoft Yahei" panose="020B0503020204020204" pitchFamily="34" charset="-122"/>
                <a:ea typeface="Microsoft Yahei" panose="020B0503020204020204" pitchFamily="34" charset="-122"/>
                <a:sym typeface="Microsoft Yahei" panose="020B0503020204020204" pitchFamily="34" charset="-122"/>
              </a:rPr>
              <a:t>这几个阶段它们最基本的区别是什么（这个答案应该就几个字）</a:t>
            </a:r>
          </a:p>
        </p:txBody>
      </p:sp>
      <p:sp>
        <p:nvSpPr>
          <p:cNvPr id="7" name="矩形: 圆角 6">
            <a:extLst>
              <a:ext uri="{FF2B5EF4-FFF2-40B4-BE49-F238E27FC236}">
                <a16:creationId xmlns:a16="http://schemas.microsoft.com/office/drawing/2014/main" id="{CCB5DF54-D4C0-460D-8B8E-44E24AEBEE61}"/>
              </a:ext>
            </a:extLst>
          </p:cNvPr>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90F74CDF-785D-4861-BF69-ACC3CF5CC954}"/>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4AA9B3FB-947E-456A-A448-6023CD1A4056}"/>
                </a:ext>
              </a:extLst>
            </p:cNvPr>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9" name="ColorBlock">
              <a:extLst>
                <a:ext uri="{FF2B5EF4-FFF2-40B4-BE49-F238E27FC236}">
                  <a16:creationId xmlns:a16="http://schemas.microsoft.com/office/drawing/2014/main" id="{BF113608-7B0B-436C-9856-55675536FF51}"/>
                </a:ext>
              </a:extLst>
            </p:cNvPr>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0" name="TypeText">
              <a:extLst>
                <a:ext uri="{FF2B5EF4-FFF2-40B4-BE49-F238E27FC236}">
                  <a16:creationId xmlns:a16="http://schemas.microsoft.com/office/drawing/2014/main" id="{3F1F69D9-3AEF-41D5-957F-561C5197D1BC}"/>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29E39DBF-03AC-4100-B52C-E5D2AC3EB959}"/>
                </a:ext>
              </a:extLst>
            </p:cNvPr>
            <p:cNvSpPr txBox="1"/>
            <p:nvPr>
              <p:custDataLst>
                <p:tags r:id="rId9"/>
              </p:custDataLst>
            </p:nvPr>
          </p:nvSpPr>
          <p:spPr>
            <a:xfrm>
              <a:off x="116395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C566CAD5-491B-423A-B323-3902C3FD95EA}"/>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5412547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F938537F-1DAF-498E-98F6-D240DFE135CE}"/>
              </a:ext>
            </a:extLst>
          </p:cNvPr>
          <p:cNvSpPr>
            <a:spLocks noGrp="1" noChangeArrowheads="1"/>
          </p:cNvSpPr>
          <p:nvPr>
            <p:ph type="title"/>
          </p:nvPr>
        </p:nvSpPr>
        <p:spPr>
          <a:xfrm>
            <a:off x="1079274" y="71920"/>
            <a:ext cx="5517856" cy="707886"/>
          </a:xfrm>
        </p:spPr>
        <p:txBody>
          <a:bodyPr/>
          <a:lstStyle/>
          <a:p>
            <a:pPr algn="ctr"/>
            <a:r>
              <a:rPr lang="en-US" altLang="en-US">
                <a:latin typeface="Tahoma" panose="020B0604030504040204" pitchFamily="34" charset="0"/>
              </a:rPr>
              <a:t>1.3数据库系统体系结构</a:t>
            </a:r>
            <a:endParaRPr lang="zh-CN" altLang="en-US">
              <a:latin typeface="Tahoma" panose="020B0604030504040204" pitchFamily="34" charset="0"/>
            </a:endParaRPr>
          </a:p>
        </p:txBody>
      </p:sp>
      <p:sp>
        <p:nvSpPr>
          <p:cNvPr id="55299" name="Rectangle 3">
            <a:extLst>
              <a:ext uri="{FF2B5EF4-FFF2-40B4-BE49-F238E27FC236}">
                <a16:creationId xmlns:a16="http://schemas.microsoft.com/office/drawing/2014/main" id="{B178D37D-E3D9-435F-BE9E-AE500F341FE0}"/>
              </a:ext>
            </a:extLst>
          </p:cNvPr>
          <p:cNvSpPr>
            <a:spLocks noGrp="1" noChangeArrowheads="1"/>
          </p:cNvSpPr>
          <p:nvPr>
            <p:ph type="body" idx="1"/>
          </p:nvPr>
        </p:nvSpPr>
        <p:spPr>
          <a:xfrm>
            <a:off x="1271464" y="908720"/>
            <a:ext cx="10369152" cy="4465637"/>
          </a:xfrm>
        </p:spPr>
        <p:txBody>
          <a:bodyPr/>
          <a:lstStyle/>
          <a:p>
            <a:pPr>
              <a:lnSpc>
                <a:spcPct val="150000"/>
              </a:lnSpc>
            </a:pPr>
            <a:r>
              <a:rPr lang="en-US" altLang="zh-CN" dirty="0">
                <a:solidFill>
                  <a:srgbClr val="FF0066"/>
                </a:solidFill>
              </a:rPr>
              <a:t>DB</a:t>
            </a:r>
            <a:r>
              <a:rPr lang="zh-CN" altLang="en-US" dirty="0">
                <a:solidFill>
                  <a:srgbClr val="FF0066"/>
                </a:solidFill>
              </a:rPr>
              <a:t>数据库</a:t>
            </a:r>
            <a:r>
              <a:rPr lang="zh-CN" altLang="en-US" dirty="0"/>
              <a:t>，数据的汇集。数据以一定组织形式存于存储介质（磁盘）上。</a:t>
            </a:r>
          </a:p>
          <a:p>
            <a:pPr>
              <a:lnSpc>
                <a:spcPct val="150000"/>
              </a:lnSpc>
            </a:pPr>
            <a:r>
              <a:rPr lang="en-US" altLang="zh-CN" dirty="0">
                <a:solidFill>
                  <a:srgbClr val="FF0066"/>
                </a:solidFill>
              </a:rPr>
              <a:t>DBMS</a:t>
            </a:r>
            <a:r>
              <a:rPr lang="zh-CN" altLang="en-US" dirty="0">
                <a:solidFill>
                  <a:srgbClr val="FF0066"/>
                </a:solidFill>
              </a:rPr>
              <a:t>数据库管理系统</a:t>
            </a:r>
            <a:r>
              <a:rPr lang="zh-CN" altLang="en-US" dirty="0"/>
              <a:t>，负责管理数据库的专用软件。</a:t>
            </a:r>
          </a:p>
          <a:p>
            <a:pPr>
              <a:lnSpc>
                <a:spcPct val="150000"/>
              </a:lnSpc>
            </a:pPr>
            <a:r>
              <a:rPr lang="en-US" altLang="zh-CN" dirty="0">
                <a:solidFill>
                  <a:srgbClr val="FF0066"/>
                </a:solidFill>
              </a:rPr>
              <a:t>DBA</a:t>
            </a:r>
            <a:r>
              <a:rPr lang="zh-CN" altLang="en-US" dirty="0">
                <a:solidFill>
                  <a:srgbClr val="FF0066"/>
                </a:solidFill>
              </a:rPr>
              <a:t>数据库管理员</a:t>
            </a:r>
            <a:r>
              <a:rPr lang="zh-CN" altLang="en-US" dirty="0"/>
              <a:t>，主要负责数据库的规划、建立、维护等工作。</a:t>
            </a:r>
          </a:p>
          <a:p>
            <a:pPr>
              <a:lnSpc>
                <a:spcPct val="150000"/>
              </a:lnSpc>
            </a:pPr>
            <a:r>
              <a:rPr lang="zh-CN" altLang="en-US" dirty="0">
                <a:solidFill>
                  <a:srgbClr val="FF0066"/>
                </a:solidFill>
              </a:rPr>
              <a:t>应用系统</a:t>
            </a:r>
            <a:r>
              <a:rPr lang="zh-CN" altLang="en-US" dirty="0"/>
              <a:t>，以数据库为基础的各种应用程序。</a:t>
            </a:r>
          </a:p>
          <a:p>
            <a:pPr>
              <a:lnSpc>
                <a:spcPct val="150000"/>
              </a:lnSpc>
            </a:pPr>
            <a:r>
              <a:rPr lang="zh-CN" altLang="en-US" dirty="0">
                <a:solidFill>
                  <a:srgbClr val="FF0066"/>
                </a:solidFill>
              </a:rPr>
              <a:t>用户</a:t>
            </a:r>
            <a:r>
              <a:rPr lang="zh-CN" altLang="en-US" dirty="0"/>
              <a:t>，通过系统的用户接口使用数据库。</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4">
            <a:extLst>
              <a:ext uri="{FF2B5EF4-FFF2-40B4-BE49-F238E27FC236}">
                <a16:creationId xmlns:a16="http://schemas.microsoft.com/office/drawing/2014/main" id="{00C21704-02AC-40B8-B8C9-5D80497EBB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384228"/>
            <a:ext cx="5440363" cy="554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347" name="Rectangle 5">
            <a:extLst>
              <a:ext uri="{FF2B5EF4-FFF2-40B4-BE49-F238E27FC236}">
                <a16:creationId xmlns:a16="http://schemas.microsoft.com/office/drawing/2014/main" id="{D1ECB7C2-23BD-4AEE-BEFD-836659FC0D23}"/>
              </a:ext>
            </a:extLst>
          </p:cNvPr>
          <p:cNvSpPr>
            <a:spLocks noChangeArrowheads="1"/>
          </p:cNvSpPr>
          <p:nvPr/>
        </p:nvSpPr>
        <p:spPr bwMode="auto">
          <a:xfrm>
            <a:off x="4223792" y="6068369"/>
            <a:ext cx="3086102" cy="420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a:solidFill>
                  <a:schemeClr val="tx1"/>
                </a:solidFill>
                <a:latin typeface="Tahoma" panose="020B0604030504040204" pitchFamily="34" charset="0"/>
                <a:ea typeface="宋体" panose="02010600030101010101" pitchFamily="2" charset="-122"/>
              </a:defRPr>
            </a:lvl1pPr>
            <a:lvl2pPr marL="742950" indent="-285750">
              <a:defRPr kumimoji="1">
                <a:solidFill>
                  <a:schemeClr val="tx1"/>
                </a:solidFill>
                <a:latin typeface="Tahoma" panose="020B0604030504040204" pitchFamily="34" charset="0"/>
                <a:ea typeface="宋体" panose="02010600030101010101" pitchFamily="2" charset="-122"/>
              </a:defRPr>
            </a:lvl2pPr>
            <a:lvl3pPr marL="1143000" indent="-228600">
              <a:defRPr kumimoji="1">
                <a:solidFill>
                  <a:schemeClr val="tx1"/>
                </a:solidFill>
                <a:latin typeface="Tahoma" panose="020B0604030504040204" pitchFamily="34" charset="0"/>
                <a:ea typeface="宋体" panose="02010600030101010101" pitchFamily="2" charset="-122"/>
              </a:defRPr>
            </a:lvl3pPr>
            <a:lvl4pPr marL="1600200" indent="-228600">
              <a:defRPr kumimoji="1">
                <a:solidFill>
                  <a:schemeClr val="tx1"/>
                </a:solidFill>
                <a:latin typeface="Tahoma" panose="020B0604030504040204" pitchFamily="34" charset="0"/>
                <a:ea typeface="宋体" panose="02010600030101010101" pitchFamily="2" charset="-122"/>
              </a:defRPr>
            </a:lvl4pPr>
            <a:lvl5pPr marL="2057400" indent="-228600">
              <a:defRPr kumimoj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9pPr>
          </a:lstStyle>
          <a:p>
            <a:pPr algn="ctr"/>
            <a:r>
              <a:rPr lang="zh-CN" altLang="en-US" sz="3200" b="1" dirty="0"/>
              <a:t>图</a:t>
            </a:r>
            <a:r>
              <a:rPr lang="en-US" altLang="zh-CN" sz="3200" b="1" dirty="0"/>
              <a:t>1.4</a:t>
            </a:r>
            <a:r>
              <a:rPr lang="zh-CN" altLang="en-US" sz="3200" b="1" dirty="0"/>
              <a:t>数据库系统的组成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1684289"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sz="4000" b="1" u="sng" kern="1200" dirty="0">
                <a:solidFill>
                  <a:schemeClr val="folHlink"/>
                </a:solidFill>
                <a:effectLst>
                  <a:outerShdw blurRad="38100" dist="38100" dir="2700000" algn="tl">
                    <a:srgbClr val="000000"/>
                  </a:outerShdw>
                </a:effectLst>
                <a:cs typeface="+mn-cs"/>
              </a:rPr>
              <a:t>数据库</a:t>
            </a: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05005" y="2968834"/>
            <a:ext cx="4674687" cy="310399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 name="Rectangle 2"/>
          <p:cNvSpPr txBox="1">
            <a:spLocks noChangeArrowheads="1"/>
          </p:cNvSpPr>
          <p:nvPr/>
        </p:nvSpPr>
        <p:spPr bwMode="auto">
          <a:xfrm>
            <a:off x="1566266" y="3526777"/>
            <a:ext cx="2304256" cy="1988106"/>
          </a:xfrm>
          <a:prstGeom prst="irregularSeal1">
            <a:avLst/>
          </a:prstGeom>
          <a:ln>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algn="ctr" eaLnBrk="1" hangingPunct="1">
              <a:defRPr/>
            </a:pPr>
            <a:r>
              <a:rPr lang="zh-CN" altLang="en-US" b="1" kern="0" baseline="0" dirty="0">
                <a:ln w="12700">
                  <a:solidFill>
                    <a:schemeClr val="accent2"/>
                  </a:solidFill>
                  <a:prstDash val="solid"/>
                </a:ln>
                <a:solidFill>
                  <a:schemeClr val="bg1"/>
                </a:solidFill>
                <a:effectLst/>
              </a:rPr>
              <a:t>数据</a:t>
            </a:r>
            <a:endParaRPr lang="en-US" altLang="zh-CN" b="1" kern="0" baseline="0" dirty="0">
              <a:ln w="12700">
                <a:solidFill>
                  <a:schemeClr val="accent2"/>
                </a:solidFill>
                <a:prstDash val="solid"/>
              </a:ln>
              <a:solidFill>
                <a:schemeClr val="bg1"/>
              </a:solidFill>
              <a:effectLst/>
            </a:endParaRPr>
          </a:p>
        </p:txBody>
      </p:sp>
      <p:sp>
        <p:nvSpPr>
          <p:cNvPr id="11" name="Rectangle 2"/>
          <p:cNvSpPr txBox="1">
            <a:spLocks noChangeArrowheads="1"/>
          </p:cNvSpPr>
          <p:nvPr/>
        </p:nvSpPr>
        <p:spPr bwMode="auto">
          <a:xfrm>
            <a:off x="519912" y="4386820"/>
            <a:ext cx="2304256" cy="1988106"/>
          </a:xfrm>
          <a:prstGeom prst="irregularSeal1">
            <a:avLst/>
          </a:prstGeom>
          <a:ln>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algn="ctr" eaLnBrk="1" hangingPunct="1">
              <a:defRPr/>
            </a:pPr>
            <a:r>
              <a:rPr lang="zh-CN" altLang="en-US" b="1" kern="0" baseline="0" dirty="0">
                <a:ln w="12700">
                  <a:solidFill>
                    <a:schemeClr val="accent2"/>
                  </a:solidFill>
                  <a:prstDash val="solid"/>
                </a:ln>
                <a:solidFill>
                  <a:schemeClr val="bg1"/>
                </a:solidFill>
                <a:effectLst/>
              </a:rPr>
              <a:t>量大</a:t>
            </a:r>
            <a:endParaRPr lang="en-US" altLang="zh-CN" b="1" kern="0" baseline="0" dirty="0">
              <a:ln w="12700">
                <a:solidFill>
                  <a:schemeClr val="accent2"/>
                </a:solidFill>
                <a:prstDash val="solid"/>
              </a:ln>
              <a:solidFill>
                <a:schemeClr val="bg1"/>
              </a:solidFill>
              <a:effectLst/>
            </a:endParaRPr>
          </a:p>
        </p:txBody>
      </p:sp>
      <p:sp>
        <p:nvSpPr>
          <p:cNvPr id="12" name="Rectangle 2"/>
          <p:cNvSpPr txBox="1">
            <a:spLocks noChangeArrowheads="1"/>
          </p:cNvSpPr>
          <p:nvPr/>
        </p:nvSpPr>
        <p:spPr bwMode="auto">
          <a:xfrm>
            <a:off x="236331" y="2578849"/>
            <a:ext cx="2386881" cy="1988106"/>
          </a:xfrm>
          <a:prstGeom prst="irregularSeal1">
            <a:avLst/>
          </a:prstGeom>
          <a:ln>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algn="ctr" eaLnBrk="1" hangingPunct="1">
              <a:defRPr/>
            </a:pPr>
            <a:r>
              <a:rPr lang="zh-CN" altLang="en-US" b="1" kern="0" baseline="0" dirty="0">
                <a:ln w="12700">
                  <a:solidFill>
                    <a:schemeClr val="accent2"/>
                  </a:solidFill>
                  <a:prstDash val="solid"/>
                </a:ln>
                <a:solidFill>
                  <a:schemeClr val="bg1"/>
                </a:solidFill>
                <a:effectLst/>
              </a:rPr>
              <a:t>共享</a:t>
            </a:r>
            <a:endParaRPr lang="en-US" altLang="zh-CN" b="1" kern="0" baseline="0" dirty="0">
              <a:ln w="12700">
                <a:solidFill>
                  <a:schemeClr val="accent2"/>
                </a:solidFill>
                <a:prstDash val="solid"/>
              </a:ln>
              <a:solidFill>
                <a:schemeClr val="bg1"/>
              </a:solidFill>
              <a:effectLst/>
            </a:endParaRPr>
          </a:p>
        </p:txBody>
      </p:sp>
      <p:sp>
        <p:nvSpPr>
          <p:cNvPr id="14" name="Rectangle 2"/>
          <p:cNvSpPr txBox="1">
            <a:spLocks noChangeArrowheads="1"/>
          </p:cNvSpPr>
          <p:nvPr/>
        </p:nvSpPr>
        <p:spPr bwMode="auto">
          <a:xfrm>
            <a:off x="8473570" y="3143279"/>
            <a:ext cx="2437766" cy="1988106"/>
          </a:xfrm>
          <a:prstGeom prst="irregularSeal1">
            <a:avLst/>
          </a:prstGeom>
          <a:ln>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algn="ctr" eaLnBrk="1" hangingPunct="1">
              <a:defRPr/>
            </a:pPr>
            <a:r>
              <a:rPr lang="zh-CN" altLang="en-US" b="1" kern="0" baseline="0" dirty="0">
                <a:ln w="12700">
                  <a:solidFill>
                    <a:schemeClr val="accent2"/>
                  </a:solidFill>
                  <a:prstDash val="solid"/>
                </a:ln>
                <a:solidFill>
                  <a:schemeClr val="bg1"/>
                </a:solidFill>
                <a:effectLst/>
              </a:rPr>
              <a:t>组织</a:t>
            </a:r>
            <a:endParaRPr lang="en-US" altLang="zh-CN" b="1" kern="0" baseline="0" dirty="0">
              <a:ln w="12700">
                <a:solidFill>
                  <a:schemeClr val="accent2"/>
                </a:solidFill>
                <a:prstDash val="solid"/>
              </a:ln>
              <a:solidFill>
                <a:schemeClr val="bg1"/>
              </a:solidFill>
              <a:effectLst/>
            </a:endParaRPr>
          </a:p>
        </p:txBody>
      </p:sp>
      <p:sp>
        <p:nvSpPr>
          <p:cNvPr id="15" name="Rectangle 2"/>
          <p:cNvSpPr txBox="1">
            <a:spLocks noChangeArrowheads="1"/>
          </p:cNvSpPr>
          <p:nvPr/>
        </p:nvSpPr>
        <p:spPr bwMode="auto">
          <a:xfrm>
            <a:off x="9260529" y="4427675"/>
            <a:ext cx="2573266" cy="1988106"/>
          </a:xfrm>
          <a:prstGeom prst="irregularSeal1">
            <a:avLst/>
          </a:prstGeom>
          <a:ln>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algn="ctr" eaLnBrk="1" hangingPunct="1">
              <a:defRPr/>
            </a:pPr>
            <a:r>
              <a:rPr lang="zh-CN" altLang="en-US" b="1" kern="0" baseline="0" dirty="0">
                <a:ln w="12700">
                  <a:solidFill>
                    <a:schemeClr val="accent2"/>
                  </a:solidFill>
                  <a:prstDash val="solid"/>
                </a:ln>
                <a:solidFill>
                  <a:schemeClr val="bg1"/>
                </a:solidFill>
                <a:effectLst/>
              </a:rPr>
              <a:t>管理</a:t>
            </a:r>
            <a:endParaRPr lang="en-US" altLang="zh-CN" b="1" kern="0" baseline="0" dirty="0">
              <a:ln w="12700">
                <a:solidFill>
                  <a:schemeClr val="accent2"/>
                </a:solidFill>
                <a:prstDash val="solid"/>
              </a:ln>
              <a:solidFill>
                <a:schemeClr val="bg1"/>
              </a:solidFill>
              <a:effectLst/>
            </a:endParaRPr>
          </a:p>
        </p:txBody>
      </p:sp>
      <p:sp>
        <p:nvSpPr>
          <p:cNvPr id="16" name="矩形 15"/>
          <p:cNvSpPr/>
          <p:nvPr/>
        </p:nvSpPr>
        <p:spPr bwMode="auto">
          <a:xfrm>
            <a:off x="552126" y="1187482"/>
            <a:ext cx="11145983" cy="1342802"/>
          </a:xfrm>
          <a:prstGeom prst="rect">
            <a:avLst/>
          </a:prstGeom>
          <a:solidFill>
            <a:schemeClr val="accent5">
              <a:lumMod val="20000"/>
              <a:lumOff val="80000"/>
            </a:schemeClr>
          </a:solidFill>
          <a:ln>
            <a:solidFill>
              <a:srgbClr val="FF6600"/>
            </a:solid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spcAft>
                <a:spcPct val="25000"/>
              </a:spcAft>
              <a:buSzPct val="80000"/>
              <a:tabLst>
                <a:tab pos="1071563" algn="l"/>
              </a:tabLst>
            </a:pPr>
            <a:r>
              <a:rPr lang="en-US" altLang="zh-CN" sz="3600" i="1" baseline="0" dirty="0">
                <a:solidFill>
                  <a:srgbClr val="00B050"/>
                </a:solidFill>
                <a:latin typeface="微软雅黑" panose="020B0503020204020204" pitchFamily="34" charset="-122"/>
                <a:ea typeface="微软雅黑" panose="020B0503020204020204" pitchFamily="34" charset="-122"/>
              </a:rPr>
              <a:t>DB</a:t>
            </a:r>
            <a:r>
              <a:rPr lang="zh-CN" altLang="en-US" sz="3600" i="1" baseline="0" dirty="0">
                <a:solidFill>
                  <a:srgbClr val="00B050"/>
                </a:solidFill>
                <a:latin typeface="微软雅黑" panose="020B0503020204020204" pitchFamily="34" charset="-122"/>
                <a:ea typeface="微软雅黑" panose="020B0503020204020204" pitchFamily="34" charset="-122"/>
              </a:rPr>
              <a:t>，</a:t>
            </a:r>
            <a:r>
              <a:rPr lang="en-US" altLang="zh-CN" sz="3600" i="1" baseline="0" dirty="0" err="1">
                <a:solidFill>
                  <a:srgbClr val="00B050"/>
                </a:solidFill>
                <a:latin typeface="微软雅黑" panose="020B0503020204020204" pitchFamily="34" charset="-122"/>
                <a:ea typeface="微软雅黑" panose="020B0503020204020204" pitchFamily="34" charset="-122"/>
              </a:rPr>
              <a:t>DataBase</a:t>
            </a:r>
            <a:r>
              <a:rPr lang="zh-CN" altLang="en-US" sz="3600" i="1" baseline="0" dirty="0">
                <a:latin typeface="微软雅黑" panose="020B0503020204020204" pitchFamily="34" charset="-122"/>
                <a:ea typeface="微软雅黑" panose="020B0503020204020204" pitchFamily="34" charset="-122"/>
              </a:rPr>
              <a:t>，</a:t>
            </a:r>
            <a:r>
              <a:rPr lang="zh-CN" altLang="en-US" sz="3600" baseline="0" dirty="0">
                <a:latin typeface="微软雅黑" panose="020B0503020204020204" pitchFamily="34" charset="-122"/>
                <a:ea typeface="微软雅黑" panose="020B0503020204020204" pitchFamily="34" charset="-122"/>
              </a:rPr>
              <a:t>是长期存储在计算机内的、有组织的、可共享的、统一管理的大量数据的集合。</a:t>
            </a:r>
            <a:endParaRPr lang="en-US" altLang="zh-CN" sz="3600" baseline="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831252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60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par>
                                <p:cTn id="32" presetID="9" presetClass="emph" presetSubtype="0" nodeType="withEffect">
                                  <p:stCondLst>
                                    <p:cond delay="0"/>
                                  </p:stCondLst>
                                  <p:childTnLst>
                                    <p:set>
                                      <p:cBhvr rctx="PPT">
                                        <p:cTn id="33" dur="indefinite"/>
                                        <p:tgtEl>
                                          <p:spTgt spid="2"/>
                                        </p:tgtEl>
                                        <p:attrNameLst>
                                          <p:attrName>style.opacity</p:attrName>
                                        </p:attrNameLst>
                                      </p:cBhvr>
                                      <p:to>
                                        <p:strVal val="0.5"/>
                                      </p:to>
                                    </p:set>
                                    <p:animEffect filter="image" prLst="opacity: 0.5">
                                      <p:cBhvr rctx="IE">
                                        <p:cTn id="34" dur="indefinite"/>
                                        <p:tgtEl>
                                          <p:spTgt spid="2"/>
                                        </p:tgtEl>
                                      </p:cBhvr>
                                    </p:animEffect>
                                  </p:childTnLst>
                                </p:cTn>
                              </p:par>
                              <p:par>
                                <p:cTn id="35" presetID="9" presetClass="emph" presetSubtype="0" grpId="1" nodeType="withEffect">
                                  <p:stCondLst>
                                    <p:cond delay="0"/>
                                  </p:stCondLst>
                                  <p:childTnLst>
                                    <p:set>
                                      <p:cBhvr rctx="PPT">
                                        <p:cTn id="36" dur="indefinite"/>
                                        <p:tgtEl>
                                          <p:spTgt spid="10"/>
                                        </p:tgtEl>
                                        <p:attrNameLst>
                                          <p:attrName>style.opacity</p:attrName>
                                        </p:attrNameLst>
                                      </p:cBhvr>
                                      <p:to>
                                        <p:strVal val="0.5"/>
                                      </p:to>
                                    </p:set>
                                    <p:animEffect filter="image" prLst="opacity: 0.5">
                                      <p:cBhvr rctx="IE">
                                        <p:cTn id="37" dur="indefinite"/>
                                        <p:tgtEl>
                                          <p:spTgt spid="10"/>
                                        </p:tgtEl>
                                      </p:cBhvr>
                                    </p:animEffect>
                                  </p:childTnLst>
                                </p:cTn>
                              </p:par>
                              <p:par>
                                <p:cTn id="38" presetID="9" presetClass="emph" presetSubtype="0" grpId="1" nodeType="withEffect">
                                  <p:stCondLst>
                                    <p:cond delay="0"/>
                                  </p:stCondLst>
                                  <p:childTnLst>
                                    <p:set>
                                      <p:cBhvr rctx="PPT">
                                        <p:cTn id="39" dur="indefinite"/>
                                        <p:tgtEl>
                                          <p:spTgt spid="11"/>
                                        </p:tgtEl>
                                        <p:attrNameLst>
                                          <p:attrName>style.opacity</p:attrName>
                                        </p:attrNameLst>
                                      </p:cBhvr>
                                      <p:to>
                                        <p:strVal val="0.5"/>
                                      </p:to>
                                    </p:set>
                                    <p:animEffect filter="image" prLst="opacity: 0.5">
                                      <p:cBhvr rctx="IE">
                                        <p:cTn id="40" dur="indefinite"/>
                                        <p:tgtEl>
                                          <p:spTgt spid="11"/>
                                        </p:tgtEl>
                                      </p:cBhvr>
                                    </p:animEffect>
                                  </p:childTnLst>
                                </p:cTn>
                              </p:par>
                              <p:par>
                                <p:cTn id="41" presetID="9" presetClass="emph" presetSubtype="0" grpId="1" nodeType="withEffect">
                                  <p:stCondLst>
                                    <p:cond delay="0"/>
                                  </p:stCondLst>
                                  <p:childTnLst>
                                    <p:set>
                                      <p:cBhvr rctx="PPT">
                                        <p:cTn id="42" dur="indefinite"/>
                                        <p:tgtEl>
                                          <p:spTgt spid="12"/>
                                        </p:tgtEl>
                                        <p:attrNameLst>
                                          <p:attrName>style.opacity</p:attrName>
                                        </p:attrNameLst>
                                      </p:cBhvr>
                                      <p:to>
                                        <p:strVal val="0.5"/>
                                      </p:to>
                                    </p:set>
                                    <p:animEffect filter="image" prLst="opacity: 0.5">
                                      <p:cBhvr rctx="IE">
                                        <p:cTn id="43" dur="indefinite"/>
                                        <p:tgtEl>
                                          <p:spTgt spid="12"/>
                                        </p:tgtEl>
                                      </p:cBhvr>
                                    </p:animEffect>
                                  </p:childTnLst>
                                </p:cTn>
                              </p:par>
                              <p:par>
                                <p:cTn id="44" presetID="9" presetClass="emph" presetSubtype="0" grpId="1" nodeType="withEffect">
                                  <p:stCondLst>
                                    <p:cond delay="0"/>
                                  </p:stCondLst>
                                  <p:childTnLst>
                                    <p:set>
                                      <p:cBhvr rctx="PPT">
                                        <p:cTn id="45" dur="indefinite"/>
                                        <p:tgtEl>
                                          <p:spTgt spid="14"/>
                                        </p:tgtEl>
                                        <p:attrNameLst>
                                          <p:attrName>style.opacity</p:attrName>
                                        </p:attrNameLst>
                                      </p:cBhvr>
                                      <p:to>
                                        <p:strVal val="0.5"/>
                                      </p:to>
                                    </p:set>
                                    <p:animEffect filter="image" prLst="opacity: 0.5">
                                      <p:cBhvr rctx="IE">
                                        <p:cTn id="46" dur="indefinite"/>
                                        <p:tgtEl>
                                          <p:spTgt spid="14"/>
                                        </p:tgtEl>
                                      </p:cBhvr>
                                    </p:animEffect>
                                  </p:childTnLst>
                                </p:cTn>
                              </p:par>
                              <p:par>
                                <p:cTn id="47" presetID="9" presetClass="emph" presetSubtype="0" grpId="1" nodeType="withEffect">
                                  <p:stCondLst>
                                    <p:cond delay="0"/>
                                  </p:stCondLst>
                                  <p:childTnLst>
                                    <p:set>
                                      <p:cBhvr rctx="PPT">
                                        <p:cTn id="48" dur="indefinite"/>
                                        <p:tgtEl>
                                          <p:spTgt spid="15"/>
                                        </p:tgtEl>
                                        <p:attrNameLst>
                                          <p:attrName>style.opacity</p:attrName>
                                        </p:attrNameLst>
                                      </p:cBhvr>
                                      <p:to>
                                        <p:strVal val="0.5"/>
                                      </p:to>
                                    </p:set>
                                    <p:animEffect filter="image" prLst="opacity: 0.5">
                                      <p:cBhvr rctx="IE">
                                        <p:cTn id="49" dur="indefinite"/>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14" grpId="0" animBg="1"/>
      <p:bldP spid="14" grpId="1" animBg="1"/>
      <p:bldP spid="15" grpId="0" animBg="1"/>
      <p:bldP spid="15" grpId="1" animBg="1"/>
      <p:bldP spid="1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4D275DE0-A31F-4083-A520-B4470DBE5EA7}"/>
              </a:ext>
            </a:extLst>
          </p:cNvPr>
          <p:cNvSpPr>
            <a:spLocks noGrp="1" noChangeArrowheads="1"/>
          </p:cNvSpPr>
          <p:nvPr>
            <p:ph type="title"/>
          </p:nvPr>
        </p:nvSpPr>
        <p:spPr>
          <a:xfrm>
            <a:off x="668104" y="71920"/>
            <a:ext cx="2589170" cy="707886"/>
          </a:xfrm>
        </p:spPr>
        <p:txBody>
          <a:bodyPr/>
          <a:lstStyle/>
          <a:p>
            <a:r>
              <a:rPr lang="zh-CN" altLang="en-US" dirty="0"/>
              <a:t>数据库 </a:t>
            </a:r>
            <a:r>
              <a:rPr lang="en-US" altLang="zh-CN" dirty="0"/>
              <a:t>DB</a:t>
            </a:r>
            <a:endParaRPr lang="zh-CN" altLang="en-US" dirty="0"/>
          </a:p>
        </p:txBody>
      </p:sp>
      <p:sp>
        <p:nvSpPr>
          <p:cNvPr id="58371" name="Rectangle 3">
            <a:extLst>
              <a:ext uri="{FF2B5EF4-FFF2-40B4-BE49-F238E27FC236}">
                <a16:creationId xmlns:a16="http://schemas.microsoft.com/office/drawing/2014/main" id="{C58ECDDD-27E4-4BF8-8368-94CB82B1B6B7}"/>
              </a:ext>
            </a:extLst>
          </p:cNvPr>
          <p:cNvSpPr>
            <a:spLocks noGrp="1" noChangeArrowheads="1"/>
          </p:cNvSpPr>
          <p:nvPr>
            <p:ph type="body" idx="1"/>
          </p:nvPr>
        </p:nvSpPr>
        <p:spPr>
          <a:xfrm>
            <a:off x="479376" y="980728"/>
            <a:ext cx="11712624" cy="4054475"/>
          </a:xfrm>
        </p:spPr>
        <p:txBody>
          <a:bodyPr/>
          <a:lstStyle/>
          <a:p>
            <a:pPr>
              <a:lnSpc>
                <a:spcPct val="150000"/>
              </a:lnSpc>
            </a:pPr>
            <a:r>
              <a:rPr lang="zh-CN" altLang="en-US" sz="2800" dirty="0"/>
              <a:t>数据库是依照特定</a:t>
            </a:r>
            <a:r>
              <a:rPr lang="zh-CN" altLang="en-US" sz="2800" dirty="0">
                <a:solidFill>
                  <a:srgbClr val="FF0066"/>
                </a:solidFill>
              </a:rPr>
              <a:t>数据模型</a:t>
            </a:r>
            <a:r>
              <a:rPr lang="zh-CN" altLang="en-US" sz="2800" dirty="0"/>
              <a:t>组织起来并存放在存储介质中的数据集合。</a:t>
            </a:r>
          </a:p>
          <a:p>
            <a:pPr>
              <a:lnSpc>
                <a:spcPct val="150000"/>
              </a:lnSpc>
            </a:pPr>
            <a:r>
              <a:rPr lang="zh-CN" altLang="en-US" sz="2800" dirty="0"/>
              <a:t>在数据库中的数据集合具有如下特点。</a:t>
            </a:r>
          </a:p>
          <a:p>
            <a:pPr lvl="1">
              <a:lnSpc>
                <a:spcPct val="150000"/>
              </a:lnSpc>
            </a:pPr>
            <a:r>
              <a:rPr lang="zh-CN" altLang="en-US" sz="2400" dirty="0"/>
              <a:t>以特定机构所关心的数据模型（规则）来组织数据；</a:t>
            </a:r>
          </a:p>
          <a:p>
            <a:pPr lvl="1">
              <a:lnSpc>
                <a:spcPct val="150000"/>
              </a:lnSpc>
            </a:pPr>
            <a:r>
              <a:rPr lang="zh-CN" altLang="en-US" sz="2400" dirty="0"/>
              <a:t>不重复，无序；</a:t>
            </a:r>
          </a:p>
          <a:p>
            <a:pPr lvl="1">
              <a:lnSpc>
                <a:spcPct val="150000"/>
              </a:lnSpc>
            </a:pPr>
            <a:r>
              <a:rPr lang="zh-CN" altLang="en-US" sz="2400" dirty="0"/>
              <a:t>为某个特定机构的多种应用服务；</a:t>
            </a:r>
          </a:p>
          <a:p>
            <a:pPr lvl="1">
              <a:lnSpc>
                <a:spcPct val="150000"/>
              </a:lnSpc>
            </a:pPr>
            <a:r>
              <a:rPr lang="zh-CN" altLang="en-US" sz="2400" dirty="0"/>
              <a:t>其数据结构立于使用它的应用程序；</a:t>
            </a:r>
          </a:p>
          <a:p>
            <a:pPr lvl="1">
              <a:lnSpc>
                <a:spcPct val="150000"/>
              </a:lnSpc>
            </a:pPr>
            <a:r>
              <a:rPr lang="zh-CN" altLang="en-US" sz="2400" dirty="0"/>
              <a:t>对数据的增、删、改和检索由统一软件进行管理和控制。</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DAC75453-76B6-4CF5-BB5D-CBF64791F30B}"/>
              </a:ext>
            </a:extLst>
          </p:cNvPr>
          <p:cNvSpPr>
            <a:spLocks noGrp="1" noChangeArrowheads="1"/>
          </p:cNvSpPr>
          <p:nvPr>
            <p:ph type="title"/>
          </p:nvPr>
        </p:nvSpPr>
        <p:spPr>
          <a:xfrm>
            <a:off x="668104" y="71920"/>
            <a:ext cx="5439310" cy="707886"/>
          </a:xfrm>
        </p:spPr>
        <p:txBody>
          <a:bodyPr/>
          <a:lstStyle/>
          <a:p>
            <a:r>
              <a:rPr lang="zh-CN" altLang="en-US" dirty="0"/>
              <a:t>数据库管理系统 </a:t>
            </a:r>
            <a:r>
              <a:rPr lang="en-US" altLang="zh-CN" dirty="0"/>
              <a:t>DBMS</a:t>
            </a:r>
            <a:endParaRPr lang="zh-CN" altLang="en-US" dirty="0"/>
          </a:p>
        </p:txBody>
      </p:sp>
      <p:sp>
        <p:nvSpPr>
          <p:cNvPr id="59395" name="Rectangle 3">
            <a:extLst>
              <a:ext uri="{FF2B5EF4-FFF2-40B4-BE49-F238E27FC236}">
                <a16:creationId xmlns:a16="http://schemas.microsoft.com/office/drawing/2014/main" id="{E45D788F-DE40-4DB2-A8C9-EE25B36C3E24}"/>
              </a:ext>
            </a:extLst>
          </p:cNvPr>
          <p:cNvSpPr>
            <a:spLocks noGrp="1" noChangeArrowheads="1"/>
          </p:cNvSpPr>
          <p:nvPr>
            <p:ph type="body" idx="1"/>
          </p:nvPr>
        </p:nvSpPr>
        <p:spPr>
          <a:xfrm>
            <a:off x="668104" y="908720"/>
            <a:ext cx="10972800" cy="4054475"/>
          </a:xfrm>
        </p:spPr>
        <p:txBody>
          <a:bodyPr/>
          <a:lstStyle/>
          <a:p>
            <a:pPr>
              <a:lnSpc>
                <a:spcPct val="150000"/>
              </a:lnSpc>
            </a:pPr>
            <a:r>
              <a:rPr lang="en-US" altLang="zh-CN" sz="2400" dirty="0"/>
              <a:t>DBMS</a:t>
            </a:r>
            <a:r>
              <a:rPr lang="zh-CN" altLang="en-US" sz="2400" dirty="0"/>
              <a:t>是一个通用的平台软件，位于</a:t>
            </a:r>
            <a:r>
              <a:rPr lang="zh-CN" altLang="en-US" sz="2400" dirty="0">
                <a:solidFill>
                  <a:srgbClr val="FF0066"/>
                </a:solidFill>
              </a:rPr>
              <a:t>数据库和用户</a:t>
            </a:r>
            <a:r>
              <a:rPr lang="zh-CN" altLang="en-US" sz="2400" dirty="0"/>
              <a:t>之间，对数据库进行管理的软件，也称为</a:t>
            </a:r>
            <a:r>
              <a:rPr lang="zh-CN" altLang="en-US" sz="2400" dirty="0">
                <a:solidFill>
                  <a:srgbClr val="FF0066"/>
                </a:solidFill>
              </a:rPr>
              <a:t>系统软件</a:t>
            </a:r>
            <a:r>
              <a:rPr lang="zh-CN" altLang="en-US" sz="2400" dirty="0"/>
              <a:t>。由于</a:t>
            </a:r>
            <a:r>
              <a:rPr lang="en-US" altLang="zh-CN" sz="2400" dirty="0"/>
              <a:t>DBMS</a:t>
            </a:r>
            <a:r>
              <a:rPr lang="zh-CN" altLang="en-US" sz="2400" dirty="0"/>
              <a:t>实现的软硬件环境不同，功能也有差异。通常有以下功能。</a:t>
            </a:r>
          </a:p>
          <a:p>
            <a:pPr lvl="1">
              <a:lnSpc>
                <a:spcPct val="150000"/>
              </a:lnSpc>
            </a:pPr>
            <a:r>
              <a:rPr lang="en-US" altLang="zh-CN" sz="2000" dirty="0"/>
              <a:t>1</a:t>
            </a:r>
            <a:r>
              <a:rPr lang="zh-CN" altLang="en-US" sz="2000" dirty="0"/>
              <a:t>、数据库定义。</a:t>
            </a:r>
          </a:p>
          <a:p>
            <a:pPr lvl="1">
              <a:lnSpc>
                <a:spcPct val="150000"/>
              </a:lnSpc>
            </a:pPr>
            <a:r>
              <a:rPr lang="en-US" altLang="zh-CN" sz="2000" dirty="0"/>
              <a:t>2</a:t>
            </a:r>
            <a:r>
              <a:rPr lang="zh-CN" altLang="en-US" sz="2000" dirty="0"/>
              <a:t>、数据存取。</a:t>
            </a:r>
          </a:p>
          <a:p>
            <a:pPr lvl="1">
              <a:lnSpc>
                <a:spcPct val="150000"/>
              </a:lnSpc>
            </a:pPr>
            <a:r>
              <a:rPr lang="en-US" altLang="zh-CN" sz="2000" dirty="0"/>
              <a:t>3</a:t>
            </a:r>
            <a:r>
              <a:rPr lang="zh-CN" altLang="en-US" sz="2000" dirty="0"/>
              <a:t>、数据库运行管理。</a:t>
            </a:r>
          </a:p>
          <a:p>
            <a:pPr lvl="1">
              <a:lnSpc>
                <a:spcPct val="150000"/>
              </a:lnSpc>
            </a:pPr>
            <a:r>
              <a:rPr lang="en-US" altLang="zh-CN" sz="2000" dirty="0"/>
              <a:t>4</a:t>
            </a:r>
            <a:r>
              <a:rPr lang="zh-CN" altLang="en-US" sz="2000" dirty="0"/>
              <a:t>、数据的组织、存储和管理。</a:t>
            </a:r>
          </a:p>
          <a:p>
            <a:pPr lvl="1">
              <a:lnSpc>
                <a:spcPct val="150000"/>
              </a:lnSpc>
            </a:pPr>
            <a:r>
              <a:rPr lang="en-US" altLang="zh-CN" sz="2000" dirty="0"/>
              <a:t>5</a:t>
            </a:r>
            <a:r>
              <a:rPr lang="zh-CN" altLang="en-US" sz="2000" dirty="0"/>
              <a:t>、数据库建立与维护。</a:t>
            </a:r>
          </a:p>
          <a:p>
            <a:pPr lvl="1">
              <a:lnSpc>
                <a:spcPct val="150000"/>
              </a:lnSpc>
            </a:pPr>
            <a:r>
              <a:rPr lang="en-US" altLang="zh-CN" sz="2000" dirty="0"/>
              <a:t>6</a:t>
            </a:r>
            <a:r>
              <a:rPr lang="zh-CN" altLang="en-US" sz="2000" dirty="0"/>
              <a:t>、通信与其它功能。</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3736133"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数据库管理系统</a:t>
            </a:r>
            <a:endParaRPr lang="en-US" altLang="zh-CN" b="1" u="sng" kern="1200" dirty="0">
              <a:solidFill>
                <a:schemeClr val="folHlink"/>
              </a:solidFill>
              <a:effectLst>
                <a:outerShdw blurRad="38100" dist="38100" dir="2700000" algn="tl">
                  <a:srgbClr val="000000"/>
                </a:outerShdw>
              </a:effectLst>
              <a:cs typeface="+mn-cs"/>
            </a:endParaRPr>
          </a:p>
        </p:txBody>
      </p:sp>
      <p:sp>
        <p:nvSpPr>
          <p:cNvPr id="21" name="矩形 20"/>
          <p:cNvSpPr/>
          <p:nvPr/>
        </p:nvSpPr>
        <p:spPr bwMode="auto">
          <a:xfrm>
            <a:off x="644170" y="908720"/>
            <a:ext cx="11076304" cy="1872208"/>
          </a:xfrm>
          <a:prstGeom prst="rect">
            <a:avLst/>
          </a:prstGeom>
          <a:noFill/>
          <a:ln>
            <a:no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spcAft>
                <a:spcPct val="50000"/>
              </a:spcAft>
              <a:defRPr/>
            </a:pPr>
            <a:r>
              <a:rPr lang="en-US" altLang="zh-CN" sz="3600" b="1" i="1" baseline="0" dirty="0">
                <a:solidFill>
                  <a:srgbClr val="FFFF00"/>
                </a:solidFill>
                <a:latin typeface="微软雅黑" panose="020B0503020204020204" pitchFamily="34" charset="-122"/>
                <a:ea typeface="微软雅黑" panose="020B0503020204020204" pitchFamily="34" charset="-122"/>
              </a:rPr>
              <a:t>DBMS</a:t>
            </a:r>
            <a:r>
              <a:rPr lang="zh-CN" altLang="en-US" sz="3600" b="1" i="1" baseline="0" dirty="0">
                <a:solidFill>
                  <a:srgbClr val="FFFF00"/>
                </a:solidFill>
                <a:latin typeface="微软雅黑" panose="020B0503020204020204" pitchFamily="34" charset="-122"/>
                <a:ea typeface="微软雅黑" panose="020B0503020204020204" pitchFamily="34" charset="-122"/>
              </a:rPr>
              <a:t>，</a:t>
            </a:r>
            <a:r>
              <a:rPr lang="en-US" altLang="zh-CN" sz="3600" b="1" i="1" baseline="0" dirty="0" err="1">
                <a:solidFill>
                  <a:srgbClr val="FFFF00"/>
                </a:solidFill>
                <a:latin typeface="微软雅黑" panose="020B0503020204020204" pitchFamily="34" charset="-122"/>
                <a:ea typeface="微软雅黑" panose="020B0503020204020204" pitchFamily="34" charset="-122"/>
              </a:rPr>
              <a:t>DataBase</a:t>
            </a:r>
            <a:r>
              <a:rPr lang="en-US" altLang="zh-CN" sz="3600" b="1" i="1" baseline="0" dirty="0">
                <a:solidFill>
                  <a:srgbClr val="FFFF00"/>
                </a:solidFill>
                <a:latin typeface="微软雅黑" panose="020B0503020204020204" pitchFamily="34" charset="-122"/>
                <a:ea typeface="微软雅黑" panose="020B0503020204020204" pitchFamily="34" charset="-122"/>
              </a:rPr>
              <a:t> Management System</a:t>
            </a:r>
            <a:r>
              <a:rPr lang="zh-CN" altLang="en-US" sz="3600" baseline="0" dirty="0">
                <a:solidFill>
                  <a:schemeClr val="tx1"/>
                </a:solidFill>
                <a:latin typeface="微软雅黑" panose="020B0503020204020204" pitchFamily="34" charset="-122"/>
                <a:ea typeface="微软雅黑" panose="020B0503020204020204" pitchFamily="34" charset="-122"/>
              </a:rPr>
              <a:t>，是位于用户与操作系统之间的一层数据管理软件，是数据库系统的核心。</a:t>
            </a:r>
            <a:endParaRPr kumimoji="1" lang="en-US" altLang="zh-CN" sz="3600" b="0" i="0" u="none" strike="noStrike" cap="none" normalizeH="0" baseline="0" dirty="0">
              <a:ln>
                <a:noFill/>
              </a:ln>
              <a:solidFill>
                <a:schemeClr val="tx1"/>
              </a:solidFill>
              <a:latin typeface="微软雅黑" panose="020B0503020204020204" pitchFamily="34" charset="-122"/>
              <a:ea typeface="微软雅黑" panose="020B0503020204020204" pitchFamily="34" charset="-122"/>
            </a:endParaRPr>
          </a:p>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600" b="0" i="0" u="none" strike="noStrike" cap="none" normalizeH="0" baseline="0" dirty="0">
              <a:ln>
                <a:noFill/>
              </a:ln>
              <a:solidFill>
                <a:schemeClr val="tx1"/>
              </a:solidFill>
              <a:latin typeface="微软雅黑" panose="020B0503020204020204" pitchFamily="34" charset="-122"/>
              <a:ea typeface="微软雅黑" panose="020B0503020204020204" pitchFamily="34" charset="-122"/>
            </a:endParaRPr>
          </a:p>
        </p:txBody>
      </p:sp>
      <p:graphicFrame>
        <p:nvGraphicFramePr>
          <p:cNvPr id="5" name="图示 4"/>
          <p:cNvGraphicFramePr/>
          <p:nvPr>
            <p:extLst>
              <p:ext uri="{D42A27DB-BD31-4B8C-83A1-F6EECF244321}">
                <p14:modId xmlns:p14="http://schemas.microsoft.com/office/powerpoint/2010/main" val="63854799"/>
              </p:ext>
            </p:extLst>
          </p:nvPr>
        </p:nvGraphicFramePr>
        <p:xfrm>
          <a:off x="623392" y="3212976"/>
          <a:ext cx="11076304" cy="33843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230"/>
          <p:cNvSpPr>
            <a:spLocks noChangeArrowheads="1"/>
          </p:cNvSpPr>
          <p:nvPr/>
        </p:nvSpPr>
        <p:spPr bwMode="auto">
          <a:xfrm>
            <a:off x="604684" y="2757799"/>
            <a:ext cx="11120284" cy="469925"/>
          </a:xfrm>
          <a:prstGeom prst="snipRoundRect">
            <a:avLst/>
          </a:prstGeom>
          <a:solidFill>
            <a:srgbClr val="F7F7F7"/>
          </a:solidFill>
          <a:ln w="38100" cap="flat" cmpd="sng" algn="ctr">
            <a:solidFill>
              <a:srgbClr val="00B050"/>
            </a:solidFill>
            <a:prstDash val="solid"/>
            <a:miter lim="800000"/>
          </a:ln>
          <a:effectLst>
            <a:glow rad="63500">
              <a:schemeClr val="accent3">
                <a:satMod val="175000"/>
                <a:alpha val="40000"/>
              </a:schemeClr>
            </a:glow>
          </a:effectLst>
        </p:spPr>
        <p:txBody>
          <a:bodyPr rtlCol="0" anchor="ctr"/>
          <a:lstStyle/>
          <a:p>
            <a:pPr algn="ctr" fontAlgn="auto">
              <a:spcBef>
                <a:spcPts val="0"/>
              </a:spcBef>
              <a:spcAft>
                <a:spcPts val="0"/>
              </a:spcAft>
            </a:pPr>
            <a:r>
              <a:rPr lang="zh-CN" altLang="en-US" sz="2800" kern="0" baseline="0" dirty="0">
                <a:solidFill>
                  <a:schemeClr val="bg1"/>
                </a:solidFill>
                <a:latin typeface="微软雅黑" panose="020B0503020204020204" pitchFamily="34" charset="-122"/>
                <a:ea typeface="微软雅黑" panose="020B0503020204020204" pitchFamily="34" charset="-122"/>
              </a:rPr>
              <a:t>主要功能</a:t>
            </a:r>
            <a:endParaRPr lang="en-US" altLang="zh-CN" sz="2800" kern="0" baseline="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948952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a:extLst>
              <a:ext uri="{FF2B5EF4-FFF2-40B4-BE49-F238E27FC236}">
                <a16:creationId xmlns:a16="http://schemas.microsoft.com/office/drawing/2014/main" id="{EBB0CBDE-393A-4799-9A78-B6B0AE959345}"/>
              </a:ext>
            </a:extLst>
          </p:cNvPr>
          <p:cNvSpPr>
            <a:spLocks noGrp="1" noChangeArrowheads="1"/>
          </p:cNvSpPr>
          <p:nvPr>
            <p:ph type="body" idx="1"/>
          </p:nvPr>
        </p:nvSpPr>
        <p:spPr>
          <a:xfrm>
            <a:off x="2209800" y="1268414"/>
            <a:ext cx="8566720" cy="4994275"/>
          </a:xfrm>
        </p:spPr>
        <p:txBody>
          <a:bodyPr/>
          <a:lstStyle/>
          <a:p>
            <a:r>
              <a:rPr lang="zh-CN" altLang="en-US" dirty="0"/>
              <a:t>一个合格的</a:t>
            </a:r>
            <a:r>
              <a:rPr lang="en-US" altLang="zh-CN" dirty="0"/>
              <a:t>DBMS</a:t>
            </a:r>
            <a:r>
              <a:rPr lang="zh-CN" altLang="en-US" dirty="0"/>
              <a:t>，通常具有如下特点。</a:t>
            </a:r>
          </a:p>
          <a:p>
            <a:pPr lvl="1"/>
            <a:r>
              <a:rPr lang="en-US" altLang="zh-CN" dirty="0"/>
              <a:t>1</a:t>
            </a:r>
            <a:r>
              <a:rPr lang="zh-CN" altLang="en-US" dirty="0"/>
              <a:t>、友好的用户界面。</a:t>
            </a:r>
          </a:p>
          <a:p>
            <a:pPr lvl="1"/>
            <a:r>
              <a:rPr lang="en-US" altLang="zh-CN" dirty="0"/>
              <a:t>2</a:t>
            </a:r>
            <a:r>
              <a:rPr lang="zh-CN" altLang="en-US" dirty="0"/>
              <a:t>、功能完备。</a:t>
            </a:r>
          </a:p>
          <a:p>
            <a:pPr lvl="1"/>
            <a:r>
              <a:rPr lang="en-US" altLang="zh-CN" dirty="0"/>
              <a:t>3</a:t>
            </a:r>
            <a:r>
              <a:rPr lang="zh-CN" altLang="en-US" dirty="0"/>
              <a:t>、高效率。</a:t>
            </a:r>
          </a:p>
          <a:p>
            <a:pPr lvl="1"/>
            <a:r>
              <a:rPr lang="en-US" altLang="zh-CN" dirty="0"/>
              <a:t>4</a:t>
            </a:r>
            <a:r>
              <a:rPr lang="zh-CN" altLang="en-US" dirty="0"/>
              <a:t>、结构清晰。</a:t>
            </a:r>
          </a:p>
          <a:p>
            <a:pPr lvl="1"/>
            <a:r>
              <a:rPr lang="en-US" altLang="zh-CN" dirty="0"/>
              <a:t>5</a:t>
            </a:r>
            <a:r>
              <a:rPr lang="zh-CN" altLang="en-US" dirty="0"/>
              <a:t>、良好的开放性。</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2710211"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数据库用户</a:t>
            </a:r>
            <a:endParaRPr lang="en-US" altLang="zh-CN" b="1" u="sng" kern="1200" dirty="0">
              <a:solidFill>
                <a:schemeClr val="folHlink"/>
              </a:solidFill>
              <a:effectLst>
                <a:outerShdw blurRad="38100" dist="38100" dir="2700000" algn="tl">
                  <a:srgbClr val="000000"/>
                </a:outerShdw>
              </a:effectLst>
              <a:cs typeface="+mn-cs"/>
            </a:endParaRPr>
          </a:p>
        </p:txBody>
      </p:sp>
      <p:sp>
        <p:nvSpPr>
          <p:cNvPr id="21" name="矩形 20"/>
          <p:cNvSpPr/>
          <p:nvPr/>
        </p:nvSpPr>
        <p:spPr bwMode="auto">
          <a:xfrm>
            <a:off x="3196422" y="1258290"/>
            <a:ext cx="8504794" cy="1872208"/>
          </a:xfrm>
          <a:prstGeom prst="rect">
            <a:avLst/>
          </a:prstGeom>
          <a:noFill/>
          <a:ln>
            <a:no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spcAft>
                <a:spcPct val="50000"/>
              </a:spcAft>
              <a:defRPr/>
            </a:pPr>
            <a:r>
              <a:rPr lang="en-US" altLang="zh-CN" sz="3600" b="1" i="1" baseline="0" dirty="0">
                <a:solidFill>
                  <a:srgbClr val="FFFF00"/>
                </a:solidFill>
                <a:latin typeface="微软雅黑" panose="020B0503020204020204" pitchFamily="34" charset="-122"/>
                <a:ea typeface="微软雅黑" panose="020B0503020204020204" pitchFamily="34" charset="-122"/>
              </a:rPr>
              <a:t>DBA</a:t>
            </a:r>
            <a:r>
              <a:rPr lang="zh-CN" altLang="en-US" sz="3600" b="1" i="1" baseline="0" dirty="0">
                <a:solidFill>
                  <a:srgbClr val="FFFF00"/>
                </a:solidFill>
                <a:latin typeface="微软雅黑" panose="020B0503020204020204" pitchFamily="34" charset="-122"/>
                <a:ea typeface="微软雅黑" panose="020B0503020204020204" pitchFamily="34" charset="-122"/>
              </a:rPr>
              <a:t>，</a:t>
            </a:r>
            <a:r>
              <a:rPr lang="en-US" altLang="zh-CN" sz="3600" b="1" i="1" baseline="0" dirty="0" err="1">
                <a:solidFill>
                  <a:srgbClr val="FFFF00"/>
                </a:solidFill>
                <a:latin typeface="微软雅黑" panose="020B0503020204020204" pitchFamily="34" charset="-122"/>
                <a:ea typeface="微软雅黑" panose="020B0503020204020204" pitchFamily="34" charset="-122"/>
              </a:rPr>
              <a:t>DataBase</a:t>
            </a:r>
            <a:r>
              <a:rPr lang="en-US" altLang="zh-CN" sz="3600" b="1" i="1" baseline="0" dirty="0">
                <a:solidFill>
                  <a:srgbClr val="FFFF00"/>
                </a:solidFill>
                <a:latin typeface="微软雅黑" panose="020B0503020204020204" pitchFamily="34" charset="-122"/>
                <a:ea typeface="微软雅黑" panose="020B0503020204020204" pitchFamily="34" charset="-122"/>
              </a:rPr>
              <a:t> Administrator</a:t>
            </a:r>
            <a:r>
              <a:rPr lang="zh-CN" altLang="en-US" sz="3600" b="1" i="1" baseline="0" dirty="0">
                <a:solidFill>
                  <a:srgbClr val="FFFF00"/>
                </a:solidFill>
                <a:latin typeface="微软雅黑" panose="020B0503020204020204" pitchFamily="34" charset="-122"/>
                <a:ea typeface="微软雅黑" panose="020B0503020204020204" pitchFamily="34" charset="-122"/>
              </a:rPr>
              <a:t>，</a:t>
            </a:r>
            <a:r>
              <a:rPr lang="zh-CN" altLang="en-US" sz="3600" baseline="0" dirty="0">
                <a:solidFill>
                  <a:schemeClr val="tx1"/>
                </a:solidFill>
                <a:latin typeface="微软雅黑" panose="020B0503020204020204" pitchFamily="34" charset="-122"/>
                <a:ea typeface="微软雅黑" panose="020B0503020204020204" pitchFamily="34" charset="-122"/>
              </a:rPr>
              <a:t>是从事管理和维护数据库管理系统的相关工作人员。</a:t>
            </a:r>
            <a:endParaRPr kumimoji="1" lang="zh-CN" altLang="en-US" sz="3600" b="0" i="0" u="none" strike="noStrike" cap="none" normalizeH="0" baseline="0" dirty="0">
              <a:ln>
                <a:noFill/>
              </a:ln>
              <a:solidFill>
                <a:schemeClr val="tx1"/>
              </a:solidFill>
              <a:latin typeface="微软雅黑" panose="020B0503020204020204" pitchFamily="34" charset="-122"/>
              <a:ea typeface="微软雅黑" panose="020B0503020204020204" pitchFamily="34" charset="-122"/>
            </a:endParaRPr>
          </a:p>
        </p:txBody>
      </p:sp>
      <p:sp>
        <p:nvSpPr>
          <p:cNvPr id="2" name="矩形 1"/>
          <p:cNvSpPr/>
          <p:nvPr/>
        </p:nvSpPr>
        <p:spPr>
          <a:xfrm>
            <a:off x="3217639" y="4771365"/>
            <a:ext cx="7560840" cy="864096"/>
          </a:xfrm>
          <a:prstGeom prst="rect">
            <a:avLst/>
          </a:prstGeom>
          <a:noFill/>
          <a:ln>
            <a:no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spcAft>
                <a:spcPct val="50000"/>
              </a:spcAft>
            </a:pPr>
            <a:r>
              <a:rPr kumimoji="1" lang="zh-CN" altLang="en-US" sz="3600" baseline="0" dirty="0">
                <a:solidFill>
                  <a:schemeClr val="tx1"/>
                </a:solidFill>
                <a:latin typeface="微软雅黑" panose="020B0503020204020204" pitchFamily="34" charset="-122"/>
                <a:ea typeface="微软雅黑" panose="020B0503020204020204" pitchFamily="34" charset="-122"/>
              </a:rPr>
              <a:t>应用数据库系统的用户</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6074" y="4437112"/>
            <a:ext cx="1532603" cy="1532603"/>
          </a:xfrm>
          <a:prstGeom prst="rect">
            <a:avLst/>
          </a:prstGeom>
        </p:spPr>
      </p:pic>
      <p:pic>
        <p:nvPicPr>
          <p:cNvPr id="10" name="图片 9"/>
          <p:cNvPicPr>
            <a:picLocks noChangeAspect="1"/>
          </p:cNvPicPr>
          <p:nvPr/>
        </p:nvPicPr>
        <p:blipFill>
          <a:blip r:embed="rId3">
            <a:extLst>
              <a:ext uri="{BEBA8EAE-BF5A-486C-A8C5-ECC9F3942E4B}">
                <a14:imgProps xmlns:a14="http://schemas.microsoft.com/office/drawing/2010/main">
                  <a14:imgLayer r:embed="rId4">
                    <a14:imgEffect>
                      <a14:backgroundRemoval t="0" b="100000" l="0" r="96875"/>
                    </a14:imgEffect>
                  </a14:imgLayer>
                </a14:imgProps>
              </a:ext>
              <a:ext uri="{28A0092B-C50C-407E-A947-70E740481C1C}">
                <a14:useLocalDpi xmlns:a14="http://schemas.microsoft.com/office/drawing/2010/main" val="0"/>
              </a:ext>
            </a:extLst>
          </a:blip>
          <a:stretch>
            <a:fillRect/>
          </a:stretch>
        </p:blipFill>
        <p:spPr>
          <a:xfrm>
            <a:off x="1019519" y="1484784"/>
            <a:ext cx="1645714" cy="1645714"/>
          </a:xfrm>
          <a:prstGeom prst="rect">
            <a:avLst/>
          </a:prstGeom>
        </p:spPr>
      </p:pic>
    </p:spTree>
    <p:extLst>
      <p:ext uri="{BB962C8B-B14F-4D97-AF65-F5344CB8AC3E}">
        <p14:creationId xmlns:p14="http://schemas.microsoft.com/office/powerpoint/2010/main" val="21291023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95E60DFE-6FCA-407D-8341-EAF00A802843}"/>
              </a:ext>
            </a:extLst>
          </p:cNvPr>
          <p:cNvSpPr>
            <a:spLocks noGrp="1" noChangeArrowheads="1"/>
          </p:cNvSpPr>
          <p:nvPr>
            <p:ph type="title"/>
          </p:nvPr>
        </p:nvSpPr>
        <p:spPr>
          <a:xfrm>
            <a:off x="668104" y="71920"/>
            <a:ext cx="4488729" cy="707886"/>
          </a:xfrm>
        </p:spPr>
        <p:txBody>
          <a:bodyPr/>
          <a:lstStyle/>
          <a:p>
            <a:r>
              <a:rPr lang="zh-CN" altLang="en-US" dirty="0"/>
              <a:t>数据库管理员 </a:t>
            </a:r>
            <a:r>
              <a:rPr lang="en-US" altLang="zh-CN" dirty="0"/>
              <a:t>DBA</a:t>
            </a:r>
            <a:endParaRPr lang="zh-CN" altLang="en-US" dirty="0"/>
          </a:p>
        </p:txBody>
      </p:sp>
      <p:sp>
        <p:nvSpPr>
          <p:cNvPr id="61443" name="Rectangle 3">
            <a:extLst>
              <a:ext uri="{FF2B5EF4-FFF2-40B4-BE49-F238E27FC236}">
                <a16:creationId xmlns:a16="http://schemas.microsoft.com/office/drawing/2014/main" id="{68269534-7FB0-4941-9F59-268EC913E0E4}"/>
              </a:ext>
            </a:extLst>
          </p:cNvPr>
          <p:cNvSpPr>
            <a:spLocks noGrp="1" noChangeArrowheads="1"/>
          </p:cNvSpPr>
          <p:nvPr>
            <p:ph type="body" idx="1"/>
          </p:nvPr>
        </p:nvSpPr>
        <p:spPr>
          <a:xfrm>
            <a:off x="1415480" y="1052736"/>
            <a:ext cx="9649072" cy="4346575"/>
          </a:xfrm>
        </p:spPr>
        <p:txBody>
          <a:bodyPr/>
          <a:lstStyle/>
          <a:p>
            <a:pPr>
              <a:lnSpc>
                <a:spcPct val="90000"/>
              </a:lnSpc>
            </a:pPr>
            <a:r>
              <a:rPr lang="en-US" altLang="zh-CN" sz="2800" dirty="0"/>
              <a:t>DBA</a:t>
            </a:r>
            <a:r>
              <a:rPr lang="zh-CN" altLang="en-US" sz="2800" dirty="0"/>
              <a:t>是负责全面管理和控制数据库系统的人员。</a:t>
            </a:r>
            <a:r>
              <a:rPr lang="en-US" altLang="zh-CN" sz="2800" dirty="0"/>
              <a:t>DBA</a:t>
            </a:r>
            <a:r>
              <a:rPr lang="zh-CN" altLang="en-US" sz="2800" dirty="0"/>
              <a:t>的主要职责有以下六点。</a:t>
            </a:r>
          </a:p>
          <a:p>
            <a:pPr lvl="1">
              <a:lnSpc>
                <a:spcPct val="90000"/>
              </a:lnSpc>
            </a:pPr>
            <a:r>
              <a:rPr lang="zh-CN" altLang="en-US" sz="2400" dirty="0"/>
              <a:t>定义模式；</a:t>
            </a:r>
          </a:p>
          <a:p>
            <a:pPr lvl="1">
              <a:lnSpc>
                <a:spcPct val="90000"/>
              </a:lnSpc>
            </a:pPr>
            <a:r>
              <a:rPr lang="zh-CN" altLang="en-US" sz="2400" dirty="0"/>
              <a:t>定义内模式；</a:t>
            </a:r>
          </a:p>
          <a:p>
            <a:pPr lvl="1">
              <a:lnSpc>
                <a:spcPct val="90000"/>
              </a:lnSpc>
            </a:pPr>
            <a:r>
              <a:rPr lang="zh-CN" altLang="en-US" sz="2400" dirty="0"/>
              <a:t>与用户的联络；</a:t>
            </a:r>
          </a:p>
          <a:p>
            <a:pPr lvl="1">
              <a:lnSpc>
                <a:spcPct val="90000"/>
              </a:lnSpc>
            </a:pPr>
            <a:r>
              <a:rPr lang="zh-CN" altLang="en-US" sz="2400" dirty="0"/>
              <a:t>定义安全性规则；</a:t>
            </a:r>
          </a:p>
          <a:p>
            <a:pPr lvl="1">
              <a:lnSpc>
                <a:spcPct val="90000"/>
              </a:lnSpc>
            </a:pPr>
            <a:r>
              <a:rPr lang="zh-CN" altLang="en-US" sz="2400" dirty="0"/>
              <a:t>定义完整性规则；</a:t>
            </a:r>
          </a:p>
          <a:p>
            <a:pPr lvl="1">
              <a:lnSpc>
                <a:spcPct val="90000"/>
              </a:lnSpc>
            </a:pPr>
            <a:r>
              <a:rPr lang="zh-CN" altLang="en-US" sz="2400" dirty="0"/>
              <a:t>数据库的转储与恢复工作。</a:t>
            </a:r>
          </a:p>
          <a:p>
            <a:pPr>
              <a:lnSpc>
                <a:spcPct val="90000"/>
              </a:lnSpc>
            </a:pPr>
            <a:r>
              <a:rPr lang="zh-CN" altLang="en-US" sz="2800" dirty="0"/>
              <a:t>由于职责重要和任务复杂，</a:t>
            </a:r>
            <a:r>
              <a:rPr lang="en-US" altLang="zh-CN" sz="2800" dirty="0"/>
              <a:t>DBA</a:t>
            </a:r>
            <a:r>
              <a:rPr lang="zh-CN" altLang="en-US" sz="2800" dirty="0"/>
              <a:t>一般是由业务水平较高、资历较深的人员担任。</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572FE6F6-82FF-49C2-890F-0C797189B3D4}"/>
              </a:ext>
            </a:extLst>
          </p:cNvPr>
          <p:cNvSpPr>
            <a:spLocks noGrp="1" noChangeArrowheads="1"/>
          </p:cNvSpPr>
          <p:nvPr>
            <p:ph type="title"/>
          </p:nvPr>
        </p:nvSpPr>
        <p:spPr>
          <a:xfrm>
            <a:off x="668104" y="71920"/>
            <a:ext cx="4302781" cy="707886"/>
          </a:xfrm>
        </p:spPr>
        <p:txBody>
          <a:bodyPr/>
          <a:lstStyle/>
          <a:p>
            <a:r>
              <a:rPr lang="zh-CN" altLang="en-US" dirty="0"/>
              <a:t>数据库使用者</a:t>
            </a:r>
            <a:r>
              <a:rPr lang="en-US" altLang="zh-CN" dirty="0"/>
              <a:t>user</a:t>
            </a:r>
            <a:endParaRPr lang="zh-CN" altLang="en-US" dirty="0"/>
          </a:p>
        </p:txBody>
      </p:sp>
      <p:sp>
        <p:nvSpPr>
          <p:cNvPr id="62467" name="Rectangle 3">
            <a:extLst>
              <a:ext uri="{FF2B5EF4-FFF2-40B4-BE49-F238E27FC236}">
                <a16:creationId xmlns:a16="http://schemas.microsoft.com/office/drawing/2014/main" id="{B1314BEB-6991-49D0-9947-BD37D22E88F9}"/>
              </a:ext>
            </a:extLst>
          </p:cNvPr>
          <p:cNvSpPr>
            <a:spLocks noGrp="1" noChangeArrowheads="1"/>
          </p:cNvSpPr>
          <p:nvPr>
            <p:ph type="body" idx="1"/>
          </p:nvPr>
        </p:nvSpPr>
        <p:spPr>
          <a:xfrm>
            <a:off x="609600" y="1556792"/>
            <a:ext cx="10972800" cy="4054475"/>
          </a:xfrm>
        </p:spPr>
        <p:txBody>
          <a:bodyPr/>
          <a:lstStyle/>
          <a:p>
            <a:r>
              <a:rPr lang="zh-CN" altLang="en-US" dirty="0"/>
              <a:t>数据库使用者除</a:t>
            </a:r>
            <a:r>
              <a:rPr lang="en-US" altLang="zh-CN" dirty="0"/>
              <a:t>DBA</a:t>
            </a:r>
            <a:r>
              <a:rPr lang="zh-CN" altLang="en-US" dirty="0"/>
              <a:t>以外，还包括以下使用者。</a:t>
            </a:r>
          </a:p>
          <a:p>
            <a:pPr lvl="1"/>
            <a:r>
              <a:rPr lang="zh-CN" altLang="en-US" dirty="0"/>
              <a:t>系统分析员。</a:t>
            </a:r>
          </a:p>
          <a:p>
            <a:pPr lvl="1"/>
            <a:r>
              <a:rPr lang="zh-CN" altLang="en-US" dirty="0"/>
              <a:t>数据库设计员。</a:t>
            </a:r>
          </a:p>
          <a:p>
            <a:pPr lvl="1"/>
            <a:r>
              <a:rPr lang="zh-CN" altLang="en-US" dirty="0"/>
              <a:t>应用程序员。</a:t>
            </a:r>
          </a:p>
          <a:p>
            <a:pPr lvl="1"/>
            <a:r>
              <a:rPr lang="zh-CN" altLang="en-US" dirty="0"/>
              <a:t>用户。</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Line 58"/>
          <p:cNvSpPr>
            <a:spLocks noChangeShapeType="1"/>
          </p:cNvSpPr>
          <p:nvPr/>
        </p:nvSpPr>
        <p:spPr bwMode="auto">
          <a:xfrm flipH="1">
            <a:off x="4317016" y="1791892"/>
            <a:ext cx="6797" cy="550166"/>
          </a:xfrm>
          <a:prstGeom prst="line">
            <a:avLst/>
          </a:prstGeom>
          <a:noFill/>
          <a:ln w="57150" cap="sq">
            <a:solidFill>
              <a:srgbClr val="92D050"/>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sz="2400">
              <a:latin typeface="微软雅黑" panose="020B0503020204020204" pitchFamily="34" charset="-122"/>
              <a:ea typeface="微软雅黑" panose="020B0503020204020204" pitchFamily="34" charset="-122"/>
            </a:endParaRPr>
          </a:p>
        </p:txBody>
      </p:sp>
      <p:sp>
        <p:nvSpPr>
          <p:cNvPr id="8" name="Rectangle 2"/>
          <p:cNvSpPr>
            <a:spLocks noGrp="1" noChangeArrowheads="1"/>
          </p:cNvSpPr>
          <p:nvPr>
            <p:ph type="title"/>
          </p:nvPr>
        </p:nvSpPr>
        <p:spPr>
          <a:xfrm>
            <a:off x="780336" y="0"/>
            <a:ext cx="2710211"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数据库系统</a:t>
            </a:r>
            <a:endParaRPr lang="en-US" altLang="zh-CN" b="1" u="sng" kern="1200" dirty="0">
              <a:solidFill>
                <a:schemeClr val="folHlink"/>
              </a:solidFill>
              <a:effectLst>
                <a:outerShdw blurRad="38100" dist="38100" dir="2700000" algn="tl">
                  <a:srgbClr val="000000"/>
                </a:outerShdw>
              </a:effectLst>
              <a:cs typeface="+mn-cs"/>
            </a:endParaRPr>
          </a:p>
        </p:txBody>
      </p:sp>
      <p:sp>
        <p:nvSpPr>
          <p:cNvPr id="14" name="Rectangle 53">
            <a:hlinkClick r:id="" action="ppaction://noaction"/>
          </p:cNvPr>
          <p:cNvSpPr>
            <a:spLocks noChangeArrowheads="1"/>
          </p:cNvSpPr>
          <p:nvPr/>
        </p:nvSpPr>
        <p:spPr bwMode="auto">
          <a:xfrm>
            <a:off x="4799784" y="4853294"/>
            <a:ext cx="2417227" cy="738664"/>
          </a:xfrm>
          <a:prstGeom prst="rect">
            <a:avLst/>
          </a:prstGeom>
          <a:noFill/>
          <a:ln w="12700" cap="sq">
            <a:noFill/>
            <a:miter lim="800000"/>
            <a:headEnd/>
            <a:tailEnd/>
          </a:ln>
          <a:effectLst/>
        </p:spPr>
        <p:txBody>
          <a:bodyPr wrap="square" lIns="0" tIns="0" rIns="0" bIns="0">
            <a:spAutoFit/>
          </a:bodyPr>
          <a:lstStyle/>
          <a:p>
            <a:pPr algn="ctr">
              <a:defRPr/>
            </a:pPr>
            <a:r>
              <a:rPr kumimoji="1" lang="zh-CN" altLang="en-US" sz="24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数据库管理员</a:t>
            </a:r>
          </a:p>
          <a:p>
            <a:pPr algn="ctr">
              <a:defRPr/>
            </a:pPr>
            <a:r>
              <a:rPr kumimoji="1" lang="en-US" altLang="zh-CN" sz="24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DBA</a:t>
            </a:r>
          </a:p>
        </p:txBody>
      </p:sp>
      <p:sp>
        <p:nvSpPr>
          <p:cNvPr id="7" name="Text Box 41"/>
          <p:cNvSpPr txBox="1">
            <a:spLocks noChangeArrowheads="1"/>
          </p:cNvSpPr>
          <p:nvPr/>
        </p:nvSpPr>
        <p:spPr bwMode="auto">
          <a:xfrm>
            <a:off x="2968988" y="1196753"/>
            <a:ext cx="1033111" cy="486678"/>
          </a:xfrm>
          <a:prstGeom prst="rect">
            <a:avLst/>
          </a:prstGeom>
          <a:noFill/>
          <a:ln w="12700" cap="sq">
            <a:no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1200" baseline="-25000">
                <a:solidFill>
                  <a:schemeClr val="tx1"/>
                </a:solidFill>
                <a:latin typeface="Garamond" pitchFamily="18" charset="0"/>
                <a:ea typeface="宋体" pitchFamily="2" charset="-122"/>
              </a:defRPr>
            </a:lvl1pPr>
            <a:lvl2pPr marL="742950" indent="-285750" eaLnBrk="0" hangingPunct="0">
              <a:defRPr sz="1200" baseline="-25000">
                <a:solidFill>
                  <a:schemeClr val="tx1"/>
                </a:solidFill>
                <a:latin typeface="Garamond" pitchFamily="18" charset="0"/>
                <a:ea typeface="宋体" pitchFamily="2" charset="-122"/>
              </a:defRPr>
            </a:lvl2pPr>
            <a:lvl3pPr marL="1143000" indent="-228600" eaLnBrk="0" hangingPunct="0">
              <a:defRPr sz="1200" baseline="-25000">
                <a:solidFill>
                  <a:schemeClr val="tx1"/>
                </a:solidFill>
                <a:latin typeface="Garamond" pitchFamily="18" charset="0"/>
                <a:ea typeface="宋体" pitchFamily="2" charset="-122"/>
              </a:defRPr>
            </a:lvl3pPr>
            <a:lvl4pPr marL="1600200" indent="-228600" eaLnBrk="0" hangingPunct="0">
              <a:defRPr sz="1200" baseline="-25000">
                <a:solidFill>
                  <a:schemeClr val="tx1"/>
                </a:solidFill>
                <a:latin typeface="Garamond" pitchFamily="18" charset="0"/>
                <a:ea typeface="宋体" pitchFamily="2" charset="-122"/>
              </a:defRPr>
            </a:lvl4pPr>
            <a:lvl5pPr marL="2057400" indent="-228600" eaLnBrk="0" hangingPunct="0">
              <a:defRPr sz="1200" baseline="-25000">
                <a:solidFill>
                  <a:schemeClr val="tx1"/>
                </a:solidFill>
                <a:latin typeface="Garamond" pitchFamily="18" charset="0"/>
                <a:ea typeface="宋体" pitchFamily="2" charset="-122"/>
              </a:defRPr>
            </a:lvl5pPr>
            <a:lvl6pPr marL="25146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6pPr>
            <a:lvl7pPr marL="29718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7pPr>
            <a:lvl8pPr marL="34290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8pPr>
            <a:lvl9pPr marL="3886200" indent="-228600" eaLnBrk="0" fontAlgn="base" hangingPunct="0">
              <a:spcBef>
                <a:spcPct val="0"/>
              </a:spcBef>
              <a:spcAft>
                <a:spcPct val="0"/>
              </a:spcAft>
              <a:defRPr sz="1200" baseline="-25000">
                <a:solidFill>
                  <a:schemeClr val="tx1"/>
                </a:solidFill>
                <a:latin typeface="Garamond" pitchFamily="18" charset="0"/>
                <a:ea typeface="宋体" pitchFamily="2" charset="-122"/>
              </a:defRPr>
            </a:lvl9pPr>
          </a:lstStyle>
          <a:p>
            <a:pPr algn="ctr" eaLnBrk="1" hangingPunct="1">
              <a:spcBef>
                <a:spcPct val="50000"/>
              </a:spcBef>
            </a:pPr>
            <a:r>
              <a:rPr kumimoji="1" lang="zh-CN" altLang="en-US" sz="2400" baseline="0">
                <a:solidFill>
                  <a:srgbClr val="CCFFCC"/>
                </a:solidFill>
                <a:latin typeface="微软雅黑" panose="020B0503020204020204" pitchFamily="34" charset="-122"/>
                <a:ea typeface="微软雅黑" panose="020B0503020204020204" pitchFamily="34" charset="-122"/>
              </a:rPr>
              <a:t>… …</a:t>
            </a:r>
          </a:p>
        </p:txBody>
      </p:sp>
      <p:cxnSp>
        <p:nvCxnSpPr>
          <p:cNvPr id="9" name="AutoShape 48"/>
          <p:cNvCxnSpPr>
            <a:cxnSpLocks noChangeShapeType="1"/>
            <a:stCxn id="26" idx="2"/>
            <a:endCxn id="25" idx="2"/>
          </p:cNvCxnSpPr>
          <p:nvPr/>
        </p:nvCxnSpPr>
        <p:spPr bwMode="auto">
          <a:xfrm flipH="1">
            <a:off x="2891957" y="2556480"/>
            <a:ext cx="398745" cy="0"/>
          </a:xfrm>
          <a:prstGeom prst="straightConnector1">
            <a:avLst/>
          </a:prstGeom>
          <a:noFill/>
          <a:ln w="57150" cap="sq">
            <a:solidFill>
              <a:srgbClr val="92D050"/>
            </a:solidFill>
            <a:round/>
            <a:headEnd/>
            <a:tailEnd type="triangle" w="med" len="med"/>
          </a:ln>
          <a:extLst>
            <a:ext uri="{909E8E84-426E-40DD-AFC4-6F175D3DCCD1}">
              <a14:hiddenFill xmlns:a14="http://schemas.microsoft.com/office/drawing/2010/main">
                <a:noFill/>
              </a14:hiddenFill>
            </a:ext>
          </a:extLst>
        </p:spPr>
      </p:cxnSp>
      <p:cxnSp>
        <p:nvCxnSpPr>
          <p:cNvPr id="11" name="AutoShape 49"/>
          <p:cNvCxnSpPr>
            <a:cxnSpLocks noChangeShapeType="1"/>
            <a:stCxn id="26" idx="2"/>
            <a:endCxn id="27" idx="2"/>
          </p:cNvCxnSpPr>
          <p:nvPr/>
        </p:nvCxnSpPr>
        <p:spPr bwMode="auto">
          <a:xfrm flipH="1">
            <a:off x="2746959" y="2776127"/>
            <a:ext cx="1982394" cy="1064771"/>
          </a:xfrm>
          <a:prstGeom prst="straightConnector1">
            <a:avLst/>
          </a:prstGeom>
          <a:noFill/>
          <a:ln w="57150" cap="sq">
            <a:solidFill>
              <a:srgbClr val="92D050"/>
            </a:solidFill>
            <a:round/>
            <a:headEnd/>
            <a:tailEnd type="triangle" w="med" len="med"/>
          </a:ln>
          <a:extLst>
            <a:ext uri="{909E8E84-426E-40DD-AFC4-6F175D3DCCD1}">
              <a14:hiddenFill xmlns:a14="http://schemas.microsoft.com/office/drawing/2010/main">
                <a:noFill/>
              </a14:hiddenFill>
            </a:ext>
          </a:extLst>
        </p:spPr>
      </p:cxnSp>
      <p:cxnSp>
        <p:nvCxnSpPr>
          <p:cNvPr id="12" name="AutoShape 50"/>
          <p:cNvCxnSpPr>
            <a:cxnSpLocks noChangeShapeType="1"/>
            <a:stCxn id="27" idx="2"/>
            <a:endCxn id="28" idx="2"/>
          </p:cNvCxnSpPr>
          <p:nvPr/>
        </p:nvCxnSpPr>
        <p:spPr bwMode="auto">
          <a:xfrm>
            <a:off x="2744693" y="4280195"/>
            <a:ext cx="0" cy="336793"/>
          </a:xfrm>
          <a:prstGeom prst="straightConnector1">
            <a:avLst/>
          </a:prstGeom>
          <a:noFill/>
          <a:ln w="57150" cap="sq">
            <a:solidFill>
              <a:srgbClr val="92D050"/>
            </a:solidFill>
            <a:round/>
            <a:headEnd/>
            <a:tailEnd type="triangle" w="med" len="med"/>
          </a:ln>
          <a:extLst>
            <a:ext uri="{909E8E84-426E-40DD-AFC4-6F175D3DCCD1}">
              <a14:hiddenFill xmlns:a14="http://schemas.microsoft.com/office/drawing/2010/main">
                <a:noFill/>
              </a14:hiddenFill>
            </a:ext>
          </a:extLst>
        </p:spPr>
      </p:cxnSp>
      <p:cxnSp>
        <p:nvCxnSpPr>
          <p:cNvPr id="13" name="AutoShape 51"/>
          <p:cNvCxnSpPr>
            <a:cxnSpLocks noChangeShapeType="1"/>
            <a:stCxn id="28" idx="2"/>
            <a:endCxn id="29" idx="1"/>
          </p:cNvCxnSpPr>
          <p:nvPr/>
        </p:nvCxnSpPr>
        <p:spPr bwMode="auto">
          <a:xfrm>
            <a:off x="2744693" y="5056285"/>
            <a:ext cx="0" cy="443480"/>
          </a:xfrm>
          <a:prstGeom prst="straightConnector1">
            <a:avLst/>
          </a:prstGeom>
          <a:noFill/>
          <a:ln w="57150" cap="sq">
            <a:solidFill>
              <a:srgbClr val="92D050"/>
            </a:solidFill>
            <a:round/>
            <a:headEnd/>
            <a:tailEnd type="triangle" w="med" len="med"/>
          </a:ln>
          <a:extLst>
            <a:ext uri="{909E8E84-426E-40DD-AFC4-6F175D3DCCD1}">
              <a14:hiddenFill xmlns:a14="http://schemas.microsoft.com/office/drawing/2010/main">
                <a:noFill/>
              </a14:hiddenFill>
            </a:ext>
          </a:extLst>
        </p:spPr>
      </p:cxnSp>
      <p:sp>
        <p:nvSpPr>
          <p:cNvPr id="17" name="Line 56"/>
          <p:cNvSpPr>
            <a:spLocks noChangeShapeType="1"/>
          </p:cNvSpPr>
          <p:nvPr/>
        </p:nvSpPr>
        <p:spPr bwMode="auto">
          <a:xfrm>
            <a:off x="1342291" y="1690438"/>
            <a:ext cx="199372" cy="646393"/>
          </a:xfrm>
          <a:prstGeom prst="line">
            <a:avLst/>
          </a:prstGeom>
          <a:noFill/>
          <a:ln w="57150" cap="sq">
            <a:solidFill>
              <a:srgbClr val="92D050"/>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sz="2400">
              <a:latin typeface="微软雅黑" panose="020B0503020204020204" pitchFamily="34" charset="-122"/>
              <a:ea typeface="微软雅黑" panose="020B0503020204020204" pitchFamily="34" charset="-122"/>
            </a:endParaRPr>
          </a:p>
        </p:txBody>
      </p:sp>
      <p:sp>
        <p:nvSpPr>
          <p:cNvPr id="18" name="Line 57"/>
          <p:cNvSpPr>
            <a:spLocks noChangeShapeType="1"/>
          </p:cNvSpPr>
          <p:nvPr/>
        </p:nvSpPr>
        <p:spPr bwMode="auto">
          <a:xfrm flipH="1">
            <a:off x="2160170" y="1788757"/>
            <a:ext cx="414604" cy="548075"/>
          </a:xfrm>
          <a:prstGeom prst="line">
            <a:avLst/>
          </a:prstGeom>
          <a:noFill/>
          <a:ln w="57150" cap="sq">
            <a:solidFill>
              <a:srgbClr val="92D050"/>
            </a:solidFill>
            <a:round/>
            <a:headE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sz="2400">
              <a:latin typeface="微软雅黑" panose="020B0503020204020204" pitchFamily="34" charset="-122"/>
              <a:ea typeface="微软雅黑" panose="020B0503020204020204" pitchFamily="34" charset="-122"/>
            </a:endParaRPr>
          </a:p>
        </p:txBody>
      </p:sp>
      <p:sp>
        <p:nvSpPr>
          <p:cNvPr id="22" name="Rectangle 38"/>
          <p:cNvSpPr>
            <a:spLocks noChangeArrowheads="1"/>
          </p:cNvSpPr>
          <p:nvPr/>
        </p:nvSpPr>
        <p:spPr bwMode="auto">
          <a:xfrm>
            <a:off x="830266" y="897613"/>
            <a:ext cx="931159" cy="439296"/>
          </a:xfrm>
          <a:prstGeom prst="rect">
            <a:avLst/>
          </a:prstGeom>
          <a:noFill/>
          <a:ln w="38100" cap="sq">
            <a:noFill/>
            <a:miter lim="800000"/>
            <a:headEnd type="none" w="sm" len="sm"/>
            <a:tailEnd type="none" w="sm" len="sm"/>
          </a:ln>
          <a:effectLst>
            <a:outerShdw dist="35921" dir="2700000" algn="ctr" rotWithShape="0">
              <a:schemeClr val="bg2"/>
            </a:outerShdw>
          </a:effectLst>
        </p:spPr>
        <p:txBody>
          <a:bodyPr lIns="0" tIns="0" rIns="0" bIns="0" anchor="ctr"/>
          <a:lstStyle/>
          <a:p>
            <a:pPr algn="ctr">
              <a:defRPr/>
            </a:pPr>
            <a:r>
              <a:rPr kumimoji="1" lang="zh-CN" altLang="en-US" sz="2400" baseline="0" dirty="0">
                <a:solidFill>
                  <a:srgbClr val="92D050"/>
                </a:solidFill>
                <a:latin typeface="微软雅黑" panose="020B0503020204020204" pitchFamily="34" charset="-122"/>
                <a:ea typeface="微软雅黑" panose="020B0503020204020204" pitchFamily="34" charset="-122"/>
              </a:rPr>
              <a:t>用户</a:t>
            </a:r>
          </a:p>
        </p:txBody>
      </p:sp>
      <p:sp>
        <p:nvSpPr>
          <p:cNvPr id="25" name="AutoShape 42"/>
          <p:cNvSpPr>
            <a:spLocks noChangeArrowheads="1"/>
          </p:cNvSpPr>
          <p:nvPr/>
        </p:nvSpPr>
        <p:spPr bwMode="auto">
          <a:xfrm>
            <a:off x="721518" y="2336831"/>
            <a:ext cx="2170439" cy="439296"/>
          </a:xfrm>
          <a:prstGeom prst="hexagon">
            <a:avLst>
              <a:gd name="adj" fmla="val 49505"/>
              <a:gd name="vf" fmla="val 115470"/>
            </a:avLst>
          </a:prstGeom>
          <a:solidFill>
            <a:srgbClr val="CCCCFF"/>
          </a:solidFill>
          <a:ln w="38100" cap="sq">
            <a:solidFill>
              <a:srgbClr val="92D05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400" baseline="0">
                <a:solidFill>
                  <a:srgbClr val="000000"/>
                </a:solidFill>
                <a:latin typeface="微软雅黑" panose="020B0503020204020204" pitchFamily="34" charset="-122"/>
                <a:ea typeface="微软雅黑" panose="020B0503020204020204" pitchFamily="34" charset="-122"/>
              </a:rPr>
              <a:t>应用系统</a:t>
            </a:r>
          </a:p>
        </p:txBody>
      </p:sp>
      <p:sp>
        <p:nvSpPr>
          <p:cNvPr id="26" name="AutoShape 43"/>
          <p:cNvSpPr>
            <a:spLocks noChangeArrowheads="1"/>
          </p:cNvSpPr>
          <p:nvPr/>
        </p:nvSpPr>
        <p:spPr bwMode="auto">
          <a:xfrm>
            <a:off x="3290702" y="2336831"/>
            <a:ext cx="2877305" cy="439296"/>
          </a:xfrm>
          <a:prstGeom prst="hexagon">
            <a:avLst>
              <a:gd name="adj" fmla="val 65628"/>
              <a:gd name="vf" fmla="val 115470"/>
            </a:avLst>
          </a:prstGeom>
          <a:solidFill>
            <a:srgbClr val="CCCCFF"/>
          </a:solidFill>
          <a:ln w="38100" cap="sq">
            <a:solidFill>
              <a:srgbClr val="92D05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400" baseline="0">
                <a:solidFill>
                  <a:srgbClr val="000000"/>
                </a:solidFill>
                <a:latin typeface="微软雅黑" panose="020B0503020204020204" pitchFamily="34" charset="-122"/>
                <a:ea typeface="微软雅黑" panose="020B0503020204020204" pitchFamily="34" charset="-122"/>
              </a:rPr>
              <a:t>应用开发工具</a:t>
            </a:r>
          </a:p>
        </p:txBody>
      </p:sp>
      <p:sp>
        <p:nvSpPr>
          <p:cNvPr id="27" name="AutoShape 44"/>
          <p:cNvSpPr>
            <a:spLocks noChangeArrowheads="1"/>
          </p:cNvSpPr>
          <p:nvPr/>
        </p:nvSpPr>
        <p:spPr bwMode="auto">
          <a:xfrm>
            <a:off x="1142919" y="3840899"/>
            <a:ext cx="3205815" cy="439296"/>
          </a:xfrm>
          <a:prstGeom prst="hexagon">
            <a:avLst>
              <a:gd name="adj" fmla="val 73121"/>
              <a:gd name="vf" fmla="val 115470"/>
            </a:avLst>
          </a:prstGeom>
          <a:solidFill>
            <a:srgbClr val="FF6600"/>
          </a:solidFill>
          <a:ln w="38100" cap="sq">
            <a:solidFill>
              <a:srgbClr val="92D05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400" baseline="0" dirty="0">
                <a:solidFill>
                  <a:srgbClr val="000000"/>
                </a:solidFill>
                <a:latin typeface="微软雅黑" panose="020B0503020204020204" pitchFamily="34" charset="-122"/>
                <a:ea typeface="微软雅黑" panose="020B0503020204020204" pitchFamily="34" charset="-122"/>
              </a:rPr>
              <a:t>数据库管理系统</a:t>
            </a:r>
          </a:p>
        </p:txBody>
      </p:sp>
      <p:sp>
        <p:nvSpPr>
          <p:cNvPr id="28" name="AutoShape 45"/>
          <p:cNvSpPr>
            <a:spLocks noChangeArrowheads="1"/>
          </p:cNvSpPr>
          <p:nvPr/>
        </p:nvSpPr>
        <p:spPr bwMode="auto">
          <a:xfrm>
            <a:off x="1761425" y="4616988"/>
            <a:ext cx="1966536" cy="439296"/>
          </a:xfrm>
          <a:prstGeom prst="hexagon">
            <a:avLst>
              <a:gd name="adj" fmla="val 44854"/>
              <a:gd name="vf" fmla="val 115470"/>
            </a:avLst>
          </a:prstGeom>
          <a:solidFill>
            <a:srgbClr val="CCCCFF"/>
          </a:solidFill>
          <a:ln w="38100" cap="sq">
            <a:solidFill>
              <a:srgbClr val="92D050"/>
            </a:solidFill>
            <a:miter lim="800000"/>
            <a:headEnd/>
            <a:tailEnd/>
          </a:ln>
          <a:effectLst>
            <a:outerShdw dist="35921" dir="2700000" algn="ctr" rotWithShape="0">
              <a:schemeClr val="bg2"/>
            </a:outerShdw>
          </a:effectLst>
        </p:spPr>
        <p:txBody>
          <a:bodyPr wrap="none" lIns="0" tIns="0" rIns="0" bIns="0" anchor="ctr"/>
          <a:lstStyle/>
          <a:p>
            <a:pPr algn="ctr">
              <a:defRPr/>
            </a:pPr>
            <a:r>
              <a:rPr kumimoji="1" lang="zh-CN" altLang="en-US" sz="2400" baseline="0">
                <a:solidFill>
                  <a:srgbClr val="000000"/>
                </a:solidFill>
                <a:latin typeface="微软雅黑" panose="020B0503020204020204" pitchFamily="34" charset="-122"/>
                <a:ea typeface="微软雅黑" panose="020B0503020204020204" pitchFamily="34" charset="-122"/>
              </a:rPr>
              <a:t>操作系统</a:t>
            </a:r>
          </a:p>
        </p:txBody>
      </p:sp>
      <p:sp>
        <p:nvSpPr>
          <p:cNvPr id="29" name="AutoShape 46"/>
          <p:cNvSpPr>
            <a:spLocks noChangeArrowheads="1"/>
          </p:cNvSpPr>
          <p:nvPr/>
        </p:nvSpPr>
        <p:spPr bwMode="auto">
          <a:xfrm>
            <a:off x="1451039" y="5499765"/>
            <a:ext cx="2587309" cy="788642"/>
          </a:xfrm>
          <a:prstGeom prst="can">
            <a:avLst>
              <a:gd name="adj" fmla="val 25000"/>
            </a:avLst>
          </a:prstGeom>
          <a:solidFill>
            <a:srgbClr val="FF6600"/>
          </a:solidFill>
          <a:ln w="38100" cap="sq">
            <a:solidFill>
              <a:srgbClr val="92D050"/>
            </a:solidFill>
            <a:round/>
            <a:headEnd/>
            <a:tailEnd/>
          </a:ln>
          <a:effectLst>
            <a:outerShdw dist="35921" dir="2700000" algn="ctr" rotWithShape="0">
              <a:schemeClr val="bg2"/>
            </a:outerShdw>
          </a:effectLst>
        </p:spPr>
        <p:txBody>
          <a:bodyPr wrap="none" lIns="0" tIns="0" rIns="0" bIns="0" anchor="ctr"/>
          <a:lstStyle/>
          <a:p>
            <a:pPr algn="ctr">
              <a:defRPr/>
            </a:pPr>
            <a:endParaRPr kumimoji="1" lang="zh-CN" altLang="en-US" sz="2400" baseline="0">
              <a:latin typeface="微软雅黑" panose="020B0503020204020204" pitchFamily="34" charset="-122"/>
              <a:ea typeface="微软雅黑" panose="020B0503020204020204" pitchFamily="34" charset="-122"/>
            </a:endParaRPr>
          </a:p>
        </p:txBody>
      </p:sp>
      <p:sp>
        <p:nvSpPr>
          <p:cNvPr id="30" name="Rectangle 47"/>
          <p:cNvSpPr>
            <a:spLocks noChangeArrowheads="1"/>
          </p:cNvSpPr>
          <p:nvPr/>
        </p:nvSpPr>
        <p:spPr bwMode="auto">
          <a:xfrm>
            <a:off x="2134542" y="5775894"/>
            <a:ext cx="1317727" cy="486678"/>
          </a:xfrm>
          <a:prstGeom prst="rect">
            <a:avLst/>
          </a:prstGeom>
          <a:noFill/>
          <a:ln w="12700" cap="sq">
            <a:noFill/>
            <a:miter lim="800000"/>
            <a:headEnd/>
            <a:tailEnd/>
          </a:ln>
        </p:spPr>
        <p:txBody>
          <a:bodyPr wrap="none" lIns="0" tIns="0" rIns="0" bIns="0">
            <a:spAutoFit/>
          </a:bodyPr>
          <a:lstStyle/>
          <a:p>
            <a:pPr algn="ctr"/>
            <a:r>
              <a:rPr kumimoji="1" lang="zh-CN" altLang="en-US" sz="2400" baseline="0" dirty="0">
                <a:solidFill>
                  <a:srgbClr val="000000"/>
                </a:solidFill>
                <a:latin typeface="微软雅黑" panose="020B0503020204020204" pitchFamily="34" charset="-122"/>
                <a:ea typeface="微软雅黑" panose="020B0503020204020204" pitchFamily="34" charset="-122"/>
              </a:rPr>
              <a:t>数据库</a:t>
            </a:r>
          </a:p>
        </p:txBody>
      </p:sp>
      <p:cxnSp>
        <p:nvCxnSpPr>
          <p:cNvPr id="31" name="AutoShape 77"/>
          <p:cNvCxnSpPr>
            <a:cxnSpLocks noChangeShapeType="1"/>
            <a:stCxn id="25" idx="2"/>
          </p:cNvCxnSpPr>
          <p:nvPr/>
        </p:nvCxnSpPr>
        <p:spPr bwMode="auto">
          <a:xfrm>
            <a:off x="1806737" y="2776127"/>
            <a:ext cx="831474" cy="1064771"/>
          </a:xfrm>
          <a:prstGeom prst="straightConnector1">
            <a:avLst/>
          </a:prstGeom>
          <a:noFill/>
          <a:ln w="57150" cap="sq">
            <a:solidFill>
              <a:srgbClr val="92D050"/>
            </a:solidFill>
            <a:round/>
            <a:headEnd/>
            <a:tailEnd type="triangle" w="med" len="med"/>
          </a:ln>
          <a:extLst>
            <a:ext uri="{909E8E84-426E-40DD-AFC4-6F175D3DCCD1}">
              <a14:hiddenFill xmlns:a14="http://schemas.microsoft.com/office/drawing/2010/main">
                <a:noFill/>
              </a14:hiddenFill>
            </a:ext>
          </a:extLst>
        </p:spPr>
      </p:cxnSp>
      <p:pic>
        <p:nvPicPr>
          <p:cNvPr id="32" name="图片 31"/>
          <p:cNvPicPr>
            <a:picLocks noChangeAspect="1"/>
          </p:cNvPicPr>
          <p:nvPr/>
        </p:nvPicPr>
        <p:blipFill>
          <a:blip r:embed="rId2">
            <a:extLst>
              <a:ext uri="{BEBA8EAE-BF5A-486C-A8C5-ECC9F3942E4B}">
                <a14:imgProps xmlns:a14="http://schemas.microsoft.com/office/drawing/2010/main">
                  <a14:imgLayer r:embed="rId3">
                    <a14:imgEffect>
                      <a14:backgroundRemoval t="0" b="100000" l="0" r="96875"/>
                    </a14:imgEffect>
                  </a14:imgLayer>
                </a14:imgProps>
              </a:ext>
              <a:ext uri="{28A0092B-C50C-407E-A947-70E740481C1C}">
                <a14:useLocalDpi xmlns:a14="http://schemas.microsoft.com/office/drawing/2010/main" val="0"/>
              </a:ext>
            </a:extLst>
          </a:blip>
          <a:stretch>
            <a:fillRect/>
          </a:stretch>
        </p:blipFill>
        <p:spPr>
          <a:xfrm>
            <a:off x="5536848" y="3797982"/>
            <a:ext cx="943101" cy="943101"/>
          </a:xfrm>
          <a:prstGeom prst="rect">
            <a:avLst/>
          </a:prstGeom>
        </p:spPr>
      </p:pic>
      <p:pic>
        <p:nvPicPr>
          <p:cNvPr id="33" name="图片 3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5046" y="1392677"/>
            <a:ext cx="562508" cy="562508"/>
          </a:xfrm>
          <a:prstGeom prst="rect">
            <a:avLst/>
          </a:prstGeom>
        </p:spPr>
      </p:pic>
      <p:sp>
        <p:nvSpPr>
          <p:cNvPr id="34" name="Rectangle 38"/>
          <p:cNvSpPr>
            <a:spLocks noChangeArrowheads="1"/>
          </p:cNvSpPr>
          <p:nvPr/>
        </p:nvSpPr>
        <p:spPr bwMode="auto">
          <a:xfrm>
            <a:off x="2218292" y="897613"/>
            <a:ext cx="931159" cy="439296"/>
          </a:xfrm>
          <a:prstGeom prst="rect">
            <a:avLst/>
          </a:prstGeom>
          <a:noFill/>
          <a:ln w="38100" cap="sq">
            <a:noFill/>
            <a:miter lim="800000"/>
            <a:headEnd type="none" w="sm" len="sm"/>
            <a:tailEnd type="none" w="sm" len="sm"/>
          </a:ln>
          <a:effectLst>
            <a:outerShdw dist="35921" dir="2700000" algn="ctr" rotWithShape="0">
              <a:schemeClr val="bg2"/>
            </a:outerShdw>
          </a:effectLst>
        </p:spPr>
        <p:txBody>
          <a:bodyPr lIns="0" tIns="0" rIns="0" bIns="0" anchor="ctr"/>
          <a:lstStyle/>
          <a:p>
            <a:pPr algn="ctr">
              <a:defRPr/>
            </a:pPr>
            <a:r>
              <a:rPr kumimoji="1" lang="zh-CN" altLang="en-US" sz="2400" baseline="0" dirty="0">
                <a:solidFill>
                  <a:srgbClr val="92D050"/>
                </a:solidFill>
                <a:latin typeface="微软雅黑" panose="020B0503020204020204" pitchFamily="34" charset="-122"/>
                <a:ea typeface="微软雅黑" panose="020B0503020204020204" pitchFamily="34" charset="-122"/>
              </a:rPr>
              <a:t>用户</a:t>
            </a:r>
          </a:p>
        </p:txBody>
      </p:sp>
      <p:pic>
        <p:nvPicPr>
          <p:cNvPr id="35" name="图片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3072" y="1392677"/>
            <a:ext cx="562508" cy="562508"/>
          </a:xfrm>
          <a:prstGeom prst="rect">
            <a:avLst/>
          </a:prstGeom>
        </p:spPr>
      </p:pic>
      <p:sp>
        <p:nvSpPr>
          <p:cNvPr id="36" name="Rectangle 38"/>
          <p:cNvSpPr>
            <a:spLocks noChangeArrowheads="1"/>
          </p:cNvSpPr>
          <p:nvPr/>
        </p:nvSpPr>
        <p:spPr bwMode="auto">
          <a:xfrm>
            <a:off x="3923651" y="897613"/>
            <a:ext cx="931159" cy="439296"/>
          </a:xfrm>
          <a:prstGeom prst="rect">
            <a:avLst/>
          </a:prstGeom>
          <a:noFill/>
          <a:ln w="38100" cap="sq">
            <a:noFill/>
            <a:miter lim="800000"/>
            <a:headEnd type="none" w="sm" len="sm"/>
            <a:tailEnd type="none" w="sm" len="sm"/>
          </a:ln>
          <a:effectLst>
            <a:outerShdw dist="35921" dir="2700000" algn="ctr" rotWithShape="0">
              <a:schemeClr val="bg2"/>
            </a:outerShdw>
          </a:effectLst>
        </p:spPr>
        <p:txBody>
          <a:bodyPr lIns="0" tIns="0" rIns="0" bIns="0" anchor="ctr"/>
          <a:lstStyle/>
          <a:p>
            <a:pPr algn="ctr">
              <a:defRPr/>
            </a:pPr>
            <a:r>
              <a:rPr kumimoji="1" lang="zh-CN" altLang="en-US" sz="2400" baseline="0" dirty="0">
                <a:solidFill>
                  <a:srgbClr val="92D050"/>
                </a:solidFill>
                <a:latin typeface="微软雅黑" panose="020B0503020204020204" pitchFamily="34" charset="-122"/>
                <a:ea typeface="微软雅黑" panose="020B0503020204020204" pitchFamily="34" charset="-122"/>
              </a:rPr>
              <a:t>用户</a:t>
            </a:r>
          </a:p>
        </p:txBody>
      </p:sp>
      <p:pic>
        <p:nvPicPr>
          <p:cNvPr id="37" name="图片 3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48431" y="1392677"/>
            <a:ext cx="562508" cy="562508"/>
          </a:xfrm>
          <a:prstGeom prst="rect">
            <a:avLst/>
          </a:prstGeom>
        </p:spPr>
      </p:pic>
      <p:sp>
        <p:nvSpPr>
          <p:cNvPr id="38" name="Rectangle 4"/>
          <p:cNvSpPr>
            <a:spLocks noGrp="1" noChangeArrowheads="1"/>
          </p:cNvSpPr>
          <p:nvPr>
            <p:ph idx="1"/>
          </p:nvPr>
        </p:nvSpPr>
        <p:spPr>
          <a:xfrm>
            <a:off x="6008397" y="733403"/>
            <a:ext cx="6219387" cy="1008063"/>
          </a:xfrm>
          <a:noFill/>
          <a:ln>
            <a:no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indent="0" eaLnBrk="1" hangingPunct="1">
              <a:spcAft>
                <a:spcPct val="50000"/>
              </a:spcAft>
              <a:buNone/>
            </a:pPr>
            <a:r>
              <a:rPr lang="en-US" altLang="zh-CN" sz="3600" b="1" i="1" kern="1200" dirty="0">
                <a:solidFill>
                  <a:srgbClr val="FFFF00"/>
                </a:solidFill>
                <a:latin typeface="微软雅黑" panose="020B0503020204020204" pitchFamily="34" charset="-122"/>
                <a:ea typeface="微软雅黑" panose="020B0503020204020204" pitchFamily="34" charset="-122"/>
              </a:rPr>
              <a:t>DBS </a:t>
            </a:r>
            <a:r>
              <a:rPr lang="zh-CN" altLang="en-US" sz="3600" b="1" i="1" kern="1200" dirty="0">
                <a:solidFill>
                  <a:srgbClr val="FFFF00"/>
                </a:solidFill>
                <a:latin typeface="微软雅黑" panose="020B0503020204020204" pitchFamily="34" charset="-122"/>
                <a:ea typeface="微软雅黑" panose="020B0503020204020204" pitchFamily="34" charset="-122"/>
              </a:rPr>
              <a:t>，</a:t>
            </a:r>
            <a:r>
              <a:rPr lang="en-US" altLang="zh-CN" sz="3600" b="1" i="1" kern="1200" dirty="0" err="1">
                <a:solidFill>
                  <a:srgbClr val="FFFF00"/>
                </a:solidFill>
                <a:latin typeface="微软雅黑" panose="020B0503020204020204" pitchFamily="34" charset="-122"/>
                <a:ea typeface="微软雅黑" panose="020B0503020204020204" pitchFamily="34" charset="-122"/>
              </a:rPr>
              <a:t>DataBase</a:t>
            </a:r>
            <a:r>
              <a:rPr lang="en-US" altLang="zh-CN" sz="3600" b="1" i="1" kern="1200" dirty="0">
                <a:solidFill>
                  <a:srgbClr val="FFFF00"/>
                </a:solidFill>
                <a:latin typeface="微软雅黑" panose="020B0503020204020204" pitchFamily="34" charset="-122"/>
                <a:ea typeface="微软雅黑" panose="020B0503020204020204" pitchFamily="34" charset="-122"/>
              </a:rPr>
              <a:t> System</a:t>
            </a:r>
          </a:p>
        </p:txBody>
      </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61433" y="3551161"/>
            <a:ext cx="2708430" cy="2708430"/>
          </a:xfrm>
          <a:prstGeom prst="rect">
            <a:avLst/>
          </a:prstGeom>
          <a:ln>
            <a:noFill/>
          </a:ln>
          <a:effectLst>
            <a:softEdge rad="112500"/>
          </a:effectLst>
        </p:spPr>
      </p:pic>
      <p:sp>
        <p:nvSpPr>
          <p:cNvPr id="39" name="Rectangle 4"/>
          <p:cNvSpPr>
            <a:spLocks noGrp="1" noChangeArrowheads="1"/>
          </p:cNvSpPr>
          <p:nvPr>
            <p:ph idx="1"/>
          </p:nvPr>
        </p:nvSpPr>
        <p:spPr>
          <a:xfrm>
            <a:off x="6946708" y="1558762"/>
            <a:ext cx="4706670" cy="1008063"/>
          </a:xfrm>
          <a:noFill/>
          <a:ln>
            <a:noFill/>
            <a:headEnd type="none" w="med" len="med"/>
            <a:tailEnd type="none" w="med" len="med"/>
          </a:ln>
          <a:effectLst>
            <a:glow rad="101600">
              <a:srgbClr val="FFC000">
                <a:alpha val="60000"/>
              </a:srgbClr>
            </a:glow>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indent="0" eaLnBrk="1" hangingPunct="1">
              <a:spcAft>
                <a:spcPct val="50000"/>
              </a:spcAft>
              <a:buNone/>
            </a:pPr>
            <a:r>
              <a:rPr lang="zh-CN" altLang="en-US" sz="4000" kern="1200" dirty="0">
                <a:solidFill>
                  <a:schemeClr val="tx1"/>
                </a:solidFill>
                <a:latin typeface="微软雅黑" panose="020B0503020204020204" pitchFamily="34" charset="-122"/>
                <a:ea typeface="微软雅黑" panose="020B0503020204020204" pitchFamily="34" charset="-122"/>
              </a:rPr>
              <a:t>采用了数据库技术的计算机系统。</a:t>
            </a:r>
          </a:p>
        </p:txBody>
      </p:sp>
    </p:spTree>
    <p:extLst>
      <p:ext uri="{BB962C8B-B14F-4D97-AF65-F5344CB8AC3E}">
        <p14:creationId xmlns:p14="http://schemas.microsoft.com/office/powerpoint/2010/main" val="8689357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0471C346-1797-4CC3-8FF3-D72998F18A66}"/>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4000" b="1" dirty="0">
                <a:latin typeface="Microsoft Yahei" panose="020B0503020204020204" pitchFamily="34" charset="-122"/>
                <a:ea typeface="Microsoft Yahei" panose="020B0503020204020204" pitchFamily="34" charset="-122"/>
                <a:sym typeface="Microsoft Yahei" panose="020B0503020204020204" pitchFamily="34" charset="-122"/>
              </a:rPr>
              <a:t>数据库系统有哪些基本组成？</a:t>
            </a:r>
          </a:p>
          <a:p>
            <a:r>
              <a:rPr lang="zh-CN" altLang="en-US" sz="4000" b="1" dirty="0">
                <a:latin typeface="Microsoft Yahei" panose="020B0503020204020204" pitchFamily="34" charset="-122"/>
                <a:ea typeface="Microsoft Yahei" panose="020B0503020204020204" pitchFamily="34" charset="-122"/>
                <a:sym typeface="Microsoft Yahei" panose="020B0503020204020204" pitchFamily="34" charset="-122"/>
              </a:rPr>
              <a:t>其中最核心的组成是什么？</a:t>
            </a:r>
          </a:p>
        </p:txBody>
      </p:sp>
      <p:sp>
        <p:nvSpPr>
          <p:cNvPr id="8" name="矩形: 圆角 7">
            <a:extLst>
              <a:ext uri="{FF2B5EF4-FFF2-40B4-BE49-F238E27FC236}">
                <a16:creationId xmlns:a16="http://schemas.microsoft.com/office/drawing/2014/main" id="{1F51EA91-E6C3-4C2C-B487-8A101C363784}"/>
              </a:ext>
            </a:extLst>
          </p:cNvPr>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3" name="组合 12">
            <a:extLst>
              <a:ext uri="{FF2B5EF4-FFF2-40B4-BE49-F238E27FC236}">
                <a16:creationId xmlns:a16="http://schemas.microsoft.com/office/drawing/2014/main" id="{DFC0D780-B649-4AD4-9C5F-9ACB330CC8AC}"/>
              </a:ext>
            </a:extLst>
          </p:cNvPr>
          <p:cNvGrpSpPr/>
          <p:nvPr>
            <p:custDataLst>
              <p:tags r:id="rId4"/>
            </p:custDataLst>
          </p:nvPr>
        </p:nvGrpSpPr>
        <p:grpSpPr>
          <a:xfrm>
            <a:off x="0" y="0"/>
            <a:ext cx="12192000" cy="635000"/>
            <a:chOff x="0" y="0"/>
            <a:chExt cx="12192000" cy="635000"/>
          </a:xfrm>
        </p:grpSpPr>
        <p:sp>
          <p:nvSpPr>
            <p:cNvPr id="9" name="TitleBackground">
              <a:extLst>
                <a:ext uri="{FF2B5EF4-FFF2-40B4-BE49-F238E27FC236}">
                  <a16:creationId xmlns:a16="http://schemas.microsoft.com/office/drawing/2014/main" id="{80A80B3E-D032-4B86-A218-647D1B05BB27}"/>
                </a:ext>
              </a:extLst>
            </p:cNvPr>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0" name="ColorBlock">
              <a:extLst>
                <a:ext uri="{FF2B5EF4-FFF2-40B4-BE49-F238E27FC236}">
                  <a16:creationId xmlns:a16="http://schemas.microsoft.com/office/drawing/2014/main" id="{9113E65F-19E9-4B21-BEF9-1A9C0A943B63}"/>
                </a:ext>
              </a:extLst>
            </p:cNvPr>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1" name="TypeText">
              <a:extLst>
                <a:ext uri="{FF2B5EF4-FFF2-40B4-BE49-F238E27FC236}">
                  <a16:creationId xmlns:a16="http://schemas.microsoft.com/office/drawing/2014/main" id="{ADA26801-0242-459A-A742-44E90A9097CC}"/>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2" name="TipText">
              <a:extLst>
                <a:ext uri="{FF2B5EF4-FFF2-40B4-BE49-F238E27FC236}">
                  <a16:creationId xmlns:a16="http://schemas.microsoft.com/office/drawing/2014/main" id="{84D47F1A-D5BA-4578-A332-F3D3BAC50882}"/>
                </a:ext>
              </a:extLst>
            </p:cNvPr>
            <p:cNvSpPr txBox="1"/>
            <p:nvPr>
              <p:custDataLst>
                <p:tags r:id="rId9"/>
              </p:custDataLst>
            </p:nvPr>
          </p:nvSpPr>
          <p:spPr>
            <a:xfrm>
              <a:off x="116395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6" name="图片 5">
            <a:extLst>
              <a:ext uri="{FF2B5EF4-FFF2-40B4-BE49-F238E27FC236}">
                <a16:creationId xmlns:a16="http://schemas.microsoft.com/office/drawing/2014/main" id="{C8795260-60E2-4940-A4E5-C9FDCC349C72}"/>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6037372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C555975F-5CBB-479F-9CCB-38C4536B9B9E}"/>
              </a:ext>
            </a:extLst>
          </p:cNvPr>
          <p:cNvSpPr>
            <a:spLocks noGrp="1" noChangeArrowheads="1"/>
          </p:cNvSpPr>
          <p:nvPr>
            <p:ph type="title"/>
          </p:nvPr>
        </p:nvSpPr>
        <p:spPr>
          <a:xfrm>
            <a:off x="668104" y="71920"/>
            <a:ext cx="2962671" cy="707886"/>
          </a:xfrm>
        </p:spPr>
        <p:txBody>
          <a:bodyPr/>
          <a:lstStyle/>
          <a:p>
            <a:r>
              <a:rPr lang="en-US" altLang="zh-CN"/>
              <a:t>1.4</a:t>
            </a:r>
            <a:r>
              <a:rPr lang="zh-CN" altLang="en-US"/>
              <a:t>数据模型</a:t>
            </a:r>
          </a:p>
        </p:txBody>
      </p:sp>
      <p:sp>
        <p:nvSpPr>
          <p:cNvPr id="63491" name="Rectangle 3">
            <a:extLst>
              <a:ext uri="{FF2B5EF4-FFF2-40B4-BE49-F238E27FC236}">
                <a16:creationId xmlns:a16="http://schemas.microsoft.com/office/drawing/2014/main" id="{7B4C55E9-ECAB-4636-A56E-5AC483A96E9B}"/>
              </a:ext>
            </a:extLst>
          </p:cNvPr>
          <p:cNvSpPr>
            <a:spLocks noGrp="1" noChangeArrowheads="1"/>
          </p:cNvSpPr>
          <p:nvPr>
            <p:ph type="body" idx="1"/>
          </p:nvPr>
        </p:nvSpPr>
        <p:spPr>
          <a:xfrm>
            <a:off x="911424" y="1371600"/>
            <a:ext cx="4896544" cy="4114800"/>
          </a:xfrm>
        </p:spPr>
        <p:txBody>
          <a:bodyPr/>
          <a:lstStyle/>
          <a:p>
            <a:pPr>
              <a:lnSpc>
                <a:spcPct val="150000"/>
              </a:lnSpc>
            </a:pPr>
            <a:r>
              <a:rPr lang="zh-CN" altLang="en-US" dirty="0"/>
              <a:t>在数据库中用数据模型这个工具来抽象、表示和处理现实世界中的所关心的数据和信息。通俗地讲数据模型就是现实世界的模拟。</a:t>
            </a:r>
          </a:p>
        </p:txBody>
      </p:sp>
      <p:pic>
        <p:nvPicPr>
          <p:cNvPr id="63492" name="Picture 4">
            <a:extLst>
              <a:ext uri="{FF2B5EF4-FFF2-40B4-BE49-F238E27FC236}">
                <a16:creationId xmlns:a16="http://schemas.microsoft.com/office/drawing/2014/main" id="{05DBD85E-CB7F-49BA-8387-13DC440D95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0096" y="548680"/>
            <a:ext cx="3446462"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493" name="Rectangle 5">
            <a:extLst>
              <a:ext uri="{FF2B5EF4-FFF2-40B4-BE49-F238E27FC236}">
                <a16:creationId xmlns:a16="http://schemas.microsoft.com/office/drawing/2014/main" id="{BCA9C8C6-CFD7-4846-8568-3E818FCA2D44}"/>
              </a:ext>
            </a:extLst>
          </p:cNvPr>
          <p:cNvSpPr>
            <a:spLocks noChangeArrowheads="1"/>
          </p:cNvSpPr>
          <p:nvPr/>
        </p:nvSpPr>
        <p:spPr bwMode="auto">
          <a:xfrm>
            <a:off x="8211883" y="6012560"/>
            <a:ext cx="175240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a:solidFill>
                  <a:schemeClr val="tx1"/>
                </a:solidFill>
                <a:latin typeface="Tahoma" panose="020B0604030504040204" pitchFamily="34" charset="0"/>
                <a:ea typeface="宋体" panose="02010600030101010101" pitchFamily="2" charset="-122"/>
              </a:defRPr>
            </a:lvl1pPr>
            <a:lvl2pPr marL="742950" indent="-285750">
              <a:defRPr kumimoji="1">
                <a:solidFill>
                  <a:schemeClr val="tx1"/>
                </a:solidFill>
                <a:latin typeface="Tahoma" panose="020B0604030504040204" pitchFamily="34" charset="0"/>
                <a:ea typeface="宋体" panose="02010600030101010101" pitchFamily="2" charset="-122"/>
              </a:defRPr>
            </a:lvl2pPr>
            <a:lvl3pPr marL="1143000" indent="-228600">
              <a:defRPr kumimoji="1">
                <a:solidFill>
                  <a:schemeClr val="tx1"/>
                </a:solidFill>
                <a:latin typeface="Tahoma" panose="020B0604030504040204" pitchFamily="34" charset="0"/>
                <a:ea typeface="宋体" panose="02010600030101010101" pitchFamily="2" charset="-122"/>
              </a:defRPr>
            </a:lvl3pPr>
            <a:lvl4pPr marL="1600200" indent="-228600">
              <a:defRPr kumimoji="1">
                <a:solidFill>
                  <a:schemeClr val="tx1"/>
                </a:solidFill>
                <a:latin typeface="Tahoma" panose="020B0604030504040204" pitchFamily="34" charset="0"/>
                <a:ea typeface="宋体" panose="02010600030101010101" pitchFamily="2" charset="-122"/>
              </a:defRPr>
            </a:lvl4pPr>
            <a:lvl5pPr marL="2057400" indent="-228600">
              <a:defRPr kumimoj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9pPr>
          </a:lstStyle>
          <a:p>
            <a:r>
              <a:rPr lang="zh-CN" altLang="en-US" sz="2400" b="1" dirty="0"/>
              <a:t>图</a:t>
            </a:r>
            <a:r>
              <a:rPr lang="en-US" altLang="zh-CN" sz="2400" b="1" dirty="0"/>
              <a:t>1.5</a:t>
            </a:r>
            <a:r>
              <a:rPr lang="zh-CN" altLang="en-US" sz="2400" b="1" dirty="0"/>
              <a:t>信息的转化</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a:extLst>
              <a:ext uri="{FF2B5EF4-FFF2-40B4-BE49-F238E27FC236}">
                <a16:creationId xmlns:a16="http://schemas.microsoft.com/office/drawing/2014/main" id="{3C95B7CA-E8B7-4CB5-B507-4CAB8DDBE682}"/>
              </a:ext>
            </a:extLst>
          </p:cNvPr>
          <p:cNvSpPr>
            <a:spLocks noGrp="1" noChangeArrowheads="1"/>
          </p:cNvSpPr>
          <p:nvPr>
            <p:ph type="body" idx="1"/>
          </p:nvPr>
        </p:nvSpPr>
        <p:spPr>
          <a:xfrm>
            <a:off x="767408" y="836712"/>
            <a:ext cx="10972800" cy="4054475"/>
          </a:xfrm>
        </p:spPr>
        <p:txBody>
          <a:bodyPr/>
          <a:lstStyle/>
          <a:p>
            <a:r>
              <a:rPr lang="zh-CN" altLang="en-US" dirty="0"/>
              <a:t>数据模型应满足三方面要求。</a:t>
            </a:r>
          </a:p>
          <a:p>
            <a:pPr lvl="1"/>
            <a:r>
              <a:rPr lang="zh-CN" altLang="en-US" dirty="0"/>
              <a:t>能比较真实地模拟现实世界；</a:t>
            </a:r>
          </a:p>
          <a:p>
            <a:pPr lvl="1"/>
            <a:r>
              <a:rPr lang="zh-CN" altLang="en-US" dirty="0"/>
              <a:t>容易为人所理解；</a:t>
            </a:r>
          </a:p>
          <a:p>
            <a:pPr lvl="1"/>
            <a:r>
              <a:rPr lang="zh-CN" altLang="en-US" dirty="0"/>
              <a:t>便于在计算机上实现。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2197250"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数据模型</a:t>
            </a:r>
          </a:p>
        </p:txBody>
      </p:sp>
      <p:sp>
        <p:nvSpPr>
          <p:cNvPr id="40" name="Rectangle 4"/>
          <p:cNvSpPr txBox="1">
            <a:spLocks noChangeArrowheads="1"/>
          </p:cNvSpPr>
          <p:nvPr/>
        </p:nvSpPr>
        <p:spPr bwMode="auto">
          <a:xfrm>
            <a:off x="263352" y="908721"/>
            <a:ext cx="11665296" cy="122413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a:spcAft>
                <a:spcPct val="65000"/>
              </a:spcAft>
              <a:buNone/>
              <a:tabLst>
                <a:tab pos="2536825" algn="l"/>
                <a:tab pos="2871788" algn="l"/>
              </a:tabLst>
            </a:pPr>
            <a:r>
              <a:rPr lang="zh-CN" altLang="en-US" sz="3600" baseline="0" dirty="0">
                <a:solidFill>
                  <a:schemeClr val="tx1"/>
                </a:solidFill>
                <a:latin typeface="微软雅黑" pitchFamily="34" charset="-122"/>
                <a:ea typeface="微软雅黑" pitchFamily="34" charset="-122"/>
              </a:rPr>
              <a:t>是一种抽象表示和模拟客观事物的数据特征的形式化工具，是严格定义的一组概念的集合，是</a:t>
            </a:r>
            <a:r>
              <a:rPr lang="en-US" altLang="zh-CN" sz="3600" baseline="0" dirty="0">
                <a:solidFill>
                  <a:schemeClr val="tx1"/>
                </a:solidFill>
                <a:latin typeface="微软雅黑" pitchFamily="34" charset="-122"/>
                <a:ea typeface="微软雅黑" pitchFamily="34" charset="-122"/>
              </a:rPr>
              <a:t>DBMS</a:t>
            </a:r>
            <a:r>
              <a:rPr lang="zh-CN" altLang="en-US" sz="3600" baseline="0" dirty="0">
                <a:solidFill>
                  <a:schemeClr val="tx1"/>
                </a:solidFill>
                <a:latin typeface="微软雅黑" pitchFamily="34" charset="-122"/>
                <a:ea typeface="微软雅黑" pitchFamily="34" charset="-122"/>
              </a:rPr>
              <a:t>的核心。</a:t>
            </a:r>
            <a:endParaRPr lang="zh-CN" altLang="en-US" sz="3200" baseline="0" dirty="0">
              <a:solidFill>
                <a:schemeClr val="tx1"/>
              </a:solidFill>
              <a:latin typeface="微软雅黑" pitchFamily="34" charset="-122"/>
              <a:ea typeface="微软雅黑" pitchFamily="34" charset="-122"/>
            </a:endParaRPr>
          </a:p>
        </p:txBody>
      </p:sp>
      <p:graphicFrame>
        <p:nvGraphicFramePr>
          <p:cNvPr id="41" name="图示 40"/>
          <p:cNvGraphicFramePr/>
          <p:nvPr>
            <p:extLst>
              <p:ext uri="{D42A27DB-BD31-4B8C-83A1-F6EECF244321}">
                <p14:modId xmlns:p14="http://schemas.microsoft.com/office/powerpoint/2010/main" val="1938823106"/>
              </p:ext>
            </p:extLst>
          </p:nvPr>
        </p:nvGraphicFramePr>
        <p:xfrm>
          <a:off x="335360" y="2348880"/>
          <a:ext cx="11377264" cy="4054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2" name="Rectangle 230"/>
          <p:cNvSpPr>
            <a:spLocks noChangeArrowheads="1"/>
          </p:cNvSpPr>
          <p:nvPr/>
        </p:nvSpPr>
        <p:spPr bwMode="auto">
          <a:xfrm>
            <a:off x="750593" y="6115174"/>
            <a:ext cx="10529983" cy="469925"/>
          </a:xfrm>
          <a:prstGeom prst="trapezoid">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auto">
              <a:spcBef>
                <a:spcPts val="0"/>
              </a:spcBef>
              <a:spcAft>
                <a:spcPts val="0"/>
              </a:spcAft>
            </a:pPr>
            <a:r>
              <a:rPr lang="zh-CN" altLang="en-US" sz="2800" b="1" kern="0" baseline="0" dirty="0">
                <a:solidFill>
                  <a:srgbClr val="FFFF00"/>
                </a:solidFill>
                <a:latin typeface="微软雅黑" panose="020B0503020204020204" pitchFamily="34" charset="-122"/>
                <a:ea typeface="微软雅黑" panose="020B0503020204020204" pitchFamily="34" charset="-122"/>
              </a:rPr>
              <a:t>三 要 素</a:t>
            </a:r>
            <a:endParaRPr lang="en-US" altLang="zh-CN" sz="2800" b="1" kern="0" baseline="0"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624839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3">
            <a:extLst>
              <a:ext uri="{FF2B5EF4-FFF2-40B4-BE49-F238E27FC236}">
                <a16:creationId xmlns:a16="http://schemas.microsoft.com/office/drawing/2014/main" id="{5B91A8B3-188B-4F5A-A65F-C61D19494CC7}"/>
              </a:ext>
            </a:extLst>
          </p:cNvPr>
          <p:cNvSpPr>
            <a:spLocks noGrp="1" noChangeArrowheads="1"/>
          </p:cNvSpPr>
          <p:nvPr>
            <p:ph type="body" idx="1"/>
          </p:nvPr>
        </p:nvSpPr>
        <p:spPr>
          <a:xfrm>
            <a:off x="609600" y="1052736"/>
            <a:ext cx="10972800" cy="4054475"/>
          </a:xfrm>
        </p:spPr>
        <p:txBody>
          <a:bodyPr/>
          <a:lstStyle/>
          <a:p>
            <a:pPr>
              <a:lnSpc>
                <a:spcPct val="150000"/>
              </a:lnSpc>
              <a:buFontTx/>
              <a:buNone/>
            </a:pPr>
            <a:r>
              <a:rPr lang="en-US" altLang="zh-CN" dirty="0"/>
              <a:t>1</a:t>
            </a:r>
            <a:r>
              <a:rPr lang="zh-CN" altLang="en-US" dirty="0"/>
              <a:t>．数据结构</a:t>
            </a:r>
          </a:p>
          <a:p>
            <a:pPr>
              <a:lnSpc>
                <a:spcPct val="150000"/>
              </a:lnSpc>
            </a:pPr>
            <a:r>
              <a:rPr lang="zh-CN" altLang="en-US" dirty="0"/>
              <a:t>是所研究的对象类型的集合。这些对象包括：与数据类型、内容、性质相关的对象，与数据之间联系相关的对象。</a:t>
            </a:r>
          </a:p>
          <a:p>
            <a:pPr>
              <a:lnSpc>
                <a:spcPct val="150000"/>
              </a:lnSpc>
            </a:pPr>
            <a:r>
              <a:rPr lang="zh-CN" altLang="en-US" dirty="0"/>
              <a:t>数据结构是数据模型的基础，数据操作和约束都基本建立在数据结构上。不同的数据结构具有不同的操作和约束。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a:extLst>
              <a:ext uri="{FF2B5EF4-FFF2-40B4-BE49-F238E27FC236}">
                <a16:creationId xmlns:a16="http://schemas.microsoft.com/office/drawing/2014/main" id="{2DCD2A95-26F9-4D87-A0D7-304C35FC759D}"/>
              </a:ext>
            </a:extLst>
          </p:cNvPr>
          <p:cNvSpPr>
            <a:spLocks noGrp="1" noChangeArrowheads="1"/>
          </p:cNvSpPr>
          <p:nvPr>
            <p:ph type="body" idx="1"/>
          </p:nvPr>
        </p:nvSpPr>
        <p:spPr>
          <a:xfrm>
            <a:off x="609600" y="836712"/>
            <a:ext cx="10972800" cy="4054475"/>
          </a:xfrm>
        </p:spPr>
        <p:txBody>
          <a:bodyPr/>
          <a:lstStyle/>
          <a:p>
            <a:pPr>
              <a:lnSpc>
                <a:spcPct val="150000"/>
              </a:lnSpc>
            </a:pPr>
            <a:r>
              <a:rPr lang="zh-CN" altLang="en-US" sz="2800" dirty="0"/>
              <a:t>数据结构用于描述系统的静态特性，数据模型按其数据结构主要分为以下三种</a:t>
            </a:r>
          </a:p>
          <a:p>
            <a:pPr lvl="1">
              <a:lnSpc>
                <a:spcPct val="150000"/>
              </a:lnSpc>
            </a:pPr>
            <a:r>
              <a:rPr lang="zh-CN" altLang="en-US" sz="2400" dirty="0"/>
              <a:t>层次模型（</a:t>
            </a:r>
            <a:r>
              <a:rPr lang="en-US" altLang="zh-CN" sz="2400" dirty="0"/>
              <a:t>Hierarchical Model</a:t>
            </a:r>
            <a:r>
              <a:rPr lang="zh-CN" altLang="en-US" sz="2400" dirty="0"/>
              <a:t>）。用“树结构”来表示数据间的联系。</a:t>
            </a:r>
          </a:p>
          <a:p>
            <a:pPr lvl="1">
              <a:lnSpc>
                <a:spcPct val="150000"/>
              </a:lnSpc>
            </a:pPr>
            <a:r>
              <a:rPr lang="zh-CN" altLang="en-US" sz="2400" dirty="0"/>
              <a:t>网状模型（</a:t>
            </a:r>
            <a:r>
              <a:rPr lang="en-US" altLang="zh-CN" sz="2400" dirty="0"/>
              <a:t>Network Model</a:t>
            </a:r>
            <a:r>
              <a:rPr lang="zh-CN" altLang="en-US" sz="2400" dirty="0"/>
              <a:t>）。用“图结构”来表示数据间的联系。</a:t>
            </a:r>
          </a:p>
          <a:p>
            <a:pPr lvl="1">
              <a:lnSpc>
                <a:spcPct val="150000"/>
              </a:lnSpc>
            </a:pPr>
            <a:r>
              <a:rPr lang="zh-CN" altLang="en-US" sz="2400" dirty="0"/>
              <a:t>关系模型（</a:t>
            </a:r>
            <a:r>
              <a:rPr lang="en-US" altLang="zh-CN" sz="2400" dirty="0"/>
              <a:t>Relational Model</a:t>
            </a:r>
            <a:r>
              <a:rPr lang="zh-CN" altLang="en-US" sz="2400" dirty="0"/>
              <a:t>）。用“二维表”来表示数据间的联系。</a:t>
            </a:r>
          </a:p>
          <a:p>
            <a:pPr>
              <a:lnSpc>
                <a:spcPct val="150000"/>
              </a:lnSpc>
            </a:pPr>
            <a:r>
              <a:rPr lang="zh-CN" altLang="en-US" sz="2800" dirty="0"/>
              <a:t>其中层次模型和网状模型在数据结构上都是基于“指针链”的，是早期的数据模型，统称为非关系模型。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a:extLst>
              <a:ext uri="{FF2B5EF4-FFF2-40B4-BE49-F238E27FC236}">
                <a16:creationId xmlns:a16="http://schemas.microsoft.com/office/drawing/2014/main" id="{1655E437-8CF0-476C-8539-E5190ADC8BC1}"/>
              </a:ext>
            </a:extLst>
          </p:cNvPr>
          <p:cNvSpPr>
            <a:spLocks noGrp="1" noChangeArrowheads="1"/>
          </p:cNvSpPr>
          <p:nvPr>
            <p:ph type="body" idx="1"/>
          </p:nvPr>
        </p:nvSpPr>
        <p:spPr>
          <a:xfrm>
            <a:off x="609600" y="1196752"/>
            <a:ext cx="11175032" cy="4054475"/>
          </a:xfrm>
        </p:spPr>
        <p:txBody>
          <a:bodyPr/>
          <a:lstStyle/>
          <a:p>
            <a:pPr>
              <a:lnSpc>
                <a:spcPct val="150000"/>
              </a:lnSpc>
              <a:buFontTx/>
              <a:buNone/>
            </a:pPr>
            <a:r>
              <a:rPr lang="en-US" altLang="zh-CN" dirty="0"/>
              <a:t>2</a:t>
            </a:r>
            <a:r>
              <a:rPr lang="zh-CN" altLang="en-US" dirty="0"/>
              <a:t>、数据操作</a:t>
            </a:r>
          </a:p>
          <a:p>
            <a:pPr>
              <a:lnSpc>
                <a:spcPct val="150000"/>
              </a:lnSpc>
            </a:pPr>
            <a:r>
              <a:rPr lang="zh-CN" altLang="en-US" dirty="0"/>
              <a:t>对数据库中各种对象（即数据的型）的实例（即数据的值）允许执行的操作集合，包括操作及有关的操作规则集合。</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3">
            <a:extLst>
              <a:ext uri="{FF2B5EF4-FFF2-40B4-BE49-F238E27FC236}">
                <a16:creationId xmlns:a16="http://schemas.microsoft.com/office/drawing/2014/main" id="{31AC7FA0-08AB-446F-86DE-3506099EAA58}"/>
              </a:ext>
            </a:extLst>
          </p:cNvPr>
          <p:cNvSpPr>
            <a:spLocks noGrp="1" noChangeArrowheads="1"/>
          </p:cNvSpPr>
          <p:nvPr>
            <p:ph type="body" idx="1"/>
          </p:nvPr>
        </p:nvSpPr>
        <p:spPr>
          <a:xfrm>
            <a:off x="551384" y="1196752"/>
            <a:ext cx="10972800" cy="4054475"/>
          </a:xfrm>
        </p:spPr>
        <p:txBody>
          <a:bodyPr/>
          <a:lstStyle/>
          <a:p>
            <a:pPr>
              <a:lnSpc>
                <a:spcPct val="150000"/>
              </a:lnSpc>
              <a:buFontTx/>
              <a:buNone/>
            </a:pPr>
            <a:r>
              <a:rPr lang="en-US" altLang="zh-CN" dirty="0"/>
              <a:t>3</a:t>
            </a:r>
            <a:r>
              <a:rPr lang="zh-CN" altLang="en-US" dirty="0"/>
              <a:t>、数据的约束条件</a:t>
            </a:r>
          </a:p>
          <a:p>
            <a:pPr>
              <a:lnSpc>
                <a:spcPct val="150000"/>
              </a:lnSpc>
            </a:pPr>
            <a:r>
              <a:rPr lang="zh-CN" altLang="en-US" dirty="0"/>
              <a:t>是一组完整性规则的集合。完整性规则是主要描述数据结构内数据间的语法、词义联系、他们之间的制约和依存关系和存储规则，用以限定符合数据库状态以及状态的变化，以保证数据的正确、有效和相容。</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98C0810-08E3-4087-9EF5-BC500B0C8802}"/>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4400" b="1" dirty="0">
                <a:latin typeface="Microsoft Yahei" panose="020B0503020204020204" pitchFamily="34" charset="-122"/>
                <a:ea typeface="Microsoft Yahei" panose="020B0503020204020204" pitchFamily="34" charset="-122"/>
                <a:sym typeface="Microsoft Yahei" panose="020B0503020204020204" pitchFamily="34" charset="-122"/>
              </a:rPr>
              <a:t>数据模型的三要素是什么？</a:t>
            </a:r>
          </a:p>
        </p:txBody>
      </p:sp>
      <p:sp>
        <p:nvSpPr>
          <p:cNvPr id="7" name="矩形: 圆角 6">
            <a:extLst>
              <a:ext uri="{FF2B5EF4-FFF2-40B4-BE49-F238E27FC236}">
                <a16:creationId xmlns:a16="http://schemas.microsoft.com/office/drawing/2014/main" id="{646327DC-B7EA-45FD-9961-2E7A31BE0717}"/>
              </a:ext>
            </a:extLst>
          </p:cNvPr>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9403A322-E619-4BED-A5A1-E52CB7B60AF1}"/>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D68A157F-F720-4231-B954-6DF1C8C76755}"/>
                </a:ext>
              </a:extLst>
            </p:cNvPr>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9" name="ColorBlock">
              <a:extLst>
                <a:ext uri="{FF2B5EF4-FFF2-40B4-BE49-F238E27FC236}">
                  <a16:creationId xmlns:a16="http://schemas.microsoft.com/office/drawing/2014/main" id="{E5E7EC1F-5997-4EC0-96E4-394F64E03626}"/>
                </a:ext>
              </a:extLst>
            </p:cNvPr>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0" name="TypeText">
              <a:extLst>
                <a:ext uri="{FF2B5EF4-FFF2-40B4-BE49-F238E27FC236}">
                  <a16:creationId xmlns:a16="http://schemas.microsoft.com/office/drawing/2014/main" id="{A68DFBFF-0F6B-417C-904C-B9F46CC64C89}"/>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156EE930-25D6-4628-AA34-F28B0978F742}"/>
                </a:ext>
              </a:extLst>
            </p:cNvPr>
            <p:cNvSpPr txBox="1"/>
            <p:nvPr>
              <p:custDataLst>
                <p:tags r:id="rId9"/>
              </p:custDataLst>
            </p:nvPr>
          </p:nvSpPr>
          <p:spPr>
            <a:xfrm>
              <a:off x="116395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21F858BD-0797-497E-AE65-889C7F235AF4}"/>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9114972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3736133"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数据模型的分类</a:t>
            </a:r>
          </a:p>
        </p:txBody>
      </p:sp>
      <p:sp>
        <p:nvSpPr>
          <p:cNvPr id="6" name="Rectangle 3"/>
          <p:cNvSpPr txBox="1">
            <a:spLocks noChangeArrowheads="1"/>
          </p:cNvSpPr>
          <p:nvPr/>
        </p:nvSpPr>
        <p:spPr bwMode="auto">
          <a:xfrm>
            <a:off x="407368" y="908720"/>
            <a:ext cx="11449272" cy="3057525"/>
          </a:xfrm>
          <a:prstGeom prst="rect">
            <a:avLst/>
          </a:prstGeom>
          <a:noFill/>
          <a:ln w="9525">
            <a:noFill/>
            <a:miter lim="800000"/>
            <a:headEnd/>
            <a:tailEnd/>
          </a:ln>
          <a:effectLst/>
        </p:spPr>
        <p:txBody>
          <a:bodyPr/>
          <a:lstStyle/>
          <a:p>
            <a:pPr marL="342900" indent="-342900" eaLnBrk="0" hangingPunct="0">
              <a:spcAft>
                <a:spcPct val="50000"/>
              </a:spcAft>
              <a:buClr>
                <a:srgbClr val="66FF33"/>
              </a:buClr>
              <a:buSzPct val="85000"/>
              <a:buFont typeface="Wingdings" pitchFamily="2" charset="2"/>
              <a:buBlip>
                <a:blip r:embed="rId2"/>
              </a:buBlip>
              <a:defRPr/>
            </a:pPr>
            <a:r>
              <a:rPr lang="zh-CN" altLang="en-US" sz="3000" kern="0" baseline="0" dirty="0">
                <a:solidFill>
                  <a:srgbClr val="66FFFF"/>
                </a:solidFill>
                <a:effectLst>
                  <a:outerShdw blurRad="38100" dist="38100" dir="2700000" algn="tl">
                    <a:srgbClr val="000000"/>
                  </a:outerShdw>
                </a:effectLst>
                <a:latin typeface="微软雅黑" pitchFamily="34" charset="-122"/>
                <a:ea typeface="微软雅黑" pitchFamily="34" charset="-122"/>
              </a:rPr>
              <a:t>概念数据模型（</a:t>
            </a:r>
            <a:r>
              <a:rPr lang="en-US" altLang="zh-CN" sz="3000" kern="0" baseline="0" dirty="0">
                <a:solidFill>
                  <a:srgbClr val="66FFFF"/>
                </a:solidFill>
                <a:effectLst>
                  <a:outerShdw blurRad="38100" dist="38100" dir="2700000" algn="tl">
                    <a:srgbClr val="000000"/>
                  </a:outerShdw>
                </a:effectLst>
                <a:latin typeface="微软雅黑" pitchFamily="34" charset="-122"/>
                <a:ea typeface="微软雅黑" pitchFamily="34" charset="-122"/>
              </a:rPr>
              <a:t>CDM</a:t>
            </a:r>
            <a:r>
              <a:rPr lang="zh-CN" altLang="en-US" sz="3000" kern="0" baseline="0" dirty="0">
                <a:solidFill>
                  <a:srgbClr val="66FFFF"/>
                </a:solidFill>
                <a:effectLst>
                  <a:outerShdw blurRad="38100" dist="38100" dir="2700000" algn="tl">
                    <a:srgbClr val="000000"/>
                  </a:outerShdw>
                </a:effectLst>
                <a:latin typeface="微软雅黑" pitchFamily="34" charset="-122"/>
                <a:ea typeface="微软雅黑" pitchFamily="34" charset="-122"/>
              </a:rPr>
              <a:t>）</a:t>
            </a:r>
            <a:r>
              <a:rPr lang="zh-CN" altLang="en-US" sz="30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，简称概念模型，是对现实世界的数据抽象，与具体的</a:t>
            </a:r>
            <a:r>
              <a:rPr lang="en-US" altLang="zh-CN" sz="30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DBMS</a:t>
            </a:r>
            <a:r>
              <a:rPr lang="zh-CN" altLang="en-US" sz="30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无关，是数据库设计人员和数据库用户之间进行交流的工具。</a:t>
            </a:r>
          </a:p>
          <a:p>
            <a:pPr marL="342900" indent="-342900" eaLnBrk="0" hangingPunct="0">
              <a:spcAft>
                <a:spcPct val="50000"/>
              </a:spcAft>
              <a:buClr>
                <a:srgbClr val="66FF33"/>
              </a:buClr>
              <a:buSzPct val="85000"/>
              <a:buFont typeface="Wingdings" pitchFamily="2" charset="2"/>
              <a:buBlip>
                <a:blip r:embed="rId2"/>
              </a:buBlip>
              <a:defRPr/>
            </a:pPr>
            <a:r>
              <a:rPr lang="zh-CN" altLang="en-US" sz="3000" kern="0" baseline="0" dirty="0">
                <a:solidFill>
                  <a:srgbClr val="66FFFF"/>
                </a:solidFill>
                <a:effectLst>
                  <a:outerShdw blurRad="38100" dist="38100" dir="2700000" algn="tl">
                    <a:srgbClr val="000000"/>
                  </a:outerShdw>
                </a:effectLst>
                <a:latin typeface="微软雅黑" pitchFamily="34" charset="-122"/>
                <a:ea typeface="微软雅黑" pitchFamily="34" charset="-122"/>
              </a:rPr>
              <a:t>结构数据模型（</a:t>
            </a:r>
            <a:r>
              <a:rPr lang="en-US" altLang="zh-CN" sz="3000" kern="0" baseline="0" dirty="0">
                <a:solidFill>
                  <a:srgbClr val="66FFFF"/>
                </a:solidFill>
                <a:effectLst>
                  <a:outerShdw blurRad="38100" dist="38100" dir="2700000" algn="tl">
                    <a:srgbClr val="000000"/>
                  </a:outerShdw>
                </a:effectLst>
                <a:latin typeface="微软雅黑" pitchFamily="34" charset="-122"/>
                <a:ea typeface="微软雅黑" pitchFamily="34" charset="-122"/>
              </a:rPr>
              <a:t>LDM</a:t>
            </a:r>
            <a:r>
              <a:rPr lang="zh-CN" altLang="en-US" sz="3000" kern="0" baseline="0" dirty="0">
                <a:solidFill>
                  <a:srgbClr val="66FFFF"/>
                </a:solidFill>
                <a:effectLst>
                  <a:outerShdw blurRad="38100" dist="38100" dir="2700000" algn="tl">
                    <a:srgbClr val="000000"/>
                  </a:outerShdw>
                </a:effectLst>
                <a:latin typeface="微软雅黑" pitchFamily="34" charset="-122"/>
                <a:ea typeface="微软雅黑" pitchFamily="34" charset="-122"/>
              </a:rPr>
              <a:t>）</a:t>
            </a:r>
            <a:r>
              <a:rPr lang="zh-CN" altLang="en-US" sz="30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，又称逻辑数据模型，是由具体的</a:t>
            </a:r>
            <a:r>
              <a:rPr lang="en-US" altLang="zh-CN" sz="30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DBMS</a:t>
            </a:r>
            <a:r>
              <a:rPr lang="zh-CN" altLang="en-US" sz="30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支持的面向用户使用的数据模型。</a:t>
            </a:r>
          </a:p>
          <a:p>
            <a:pPr marL="342900" indent="-342900" eaLnBrk="0" hangingPunct="0">
              <a:spcAft>
                <a:spcPct val="50000"/>
              </a:spcAft>
              <a:buClr>
                <a:srgbClr val="66FF33"/>
              </a:buClr>
              <a:buSzPct val="85000"/>
              <a:buFont typeface="Wingdings" pitchFamily="2" charset="2"/>
              <a:buBlip>
                <a:blip r:embed="rId2"/>
              </a:buBlip>
              <a:defRPr/>
            </a:pPr>
            <a:r>
              <a:rPr lang="zh-CN" altLang="en-US" sz="3000" kern="0" baseline="0" dirty="0">
                <a:solidFill>
                  <a:srgbClr val="66FFFF"/>
                </a:solidFill>
                <a:effectLst>
                  <a:outerShdw blurRad="38100" dist="38100" dir="2700000" algn="tl">
                    <a:srgbClr val="000000"/>
                  </a:outerShdw>
                </a:effectLst>
                <a:latin typeface="微软雅黑" pitchFamily="34" charset="-122"/>
                <a:ea typeface="微软雅黑" pitchFamily="34" charset="-122"/>
              </a:rPr>
              <a:t>物理数据模型（</a:t>
            </a:r>
            <a:r>
              <a:rPr lang="en-US" altLang="zh-CN" sz="3000" kern="0" baseline="0" dirty="0">
                <a:solidFill>
                  <a:srgbClr val="66FFFF"/>
                </a:solidFill>
                <a:effectLst>
                  <a:outerShdw blurRad="38100" dist="38100" dir="2700000" algn="tl">
                    <a:srgbClr val="000000"/>
                  </a:outerShdw>
                </a:effectLst>
                <a:latin typeface="微软雅黑" pitchFamily="34" charset="-122"/>
                <a:ea typeface="微软雅黑" pitchFamily="34" charset="-122"/>
              </a:rPr>
              <a:t>PDM</a:t>
            </a:r>
            <a:r>
              <a:rPr lang="zh-CN" altLang="en-US" sz="3000" kern="0" baseline="0" dirty="0">
                <a:solidFill>
                  <a:srgbClr val="66FFFF"/>
                </a:solidFill>
                <a:effectLst>
                  <a:outerShdw blurRad="38100" dist="38100" dir="2700000" algn="tl">
                    <a:srgbClr val="000000"/>
                  </a:outerShdw>
                </a:effectLst>
                <a:latin typeface="微软雅黑" pitchFamily="34" charset="-122"/>
                <a:ea typeface="微软雅黑" pitchFamily="34" charset="-122"/>
              </a:rPr>
              <a:t>）</a:t>
            </a:r>
            <a:r>
              <a:rPr lang="zh-CN" altLang="en-US" sz="30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，描述数据在存储介质上的组织结构。它不但与具体的</a:t>
            </a:r>
            <a:r>
              <a:rPr lang="en-US" altLang="zh-CN" sz="30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DBMS</a:t>
            </a:r>
            <a:r>
              <a:rPr lang="zh-CN" altLang="en-US" sz="30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有关，而且还与</a:t>
            </a:r>
            <a:r>
              <a:rPr lang="en-US" altLang="zh-CN" sz="30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OS</a:t>
            </a:r>
            <a:r>
              <a:rPr lang="zh-CN" altLang="en-US" sz="30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和硬件有关。</a:t>
            </a:r>
          </a:p>
        </p:txBody>
      </p:sp>
      <p:grpSp>
        <p:nvGrpSpPr>
          <p:cNvPr id="2" name="组合 1"/>
          <p:cNvGrpSpPr/>
          <p:nvPr/>
        </p:nvGrpSpPr>
        <p:grpSpPr>
          <a:xfrm>
            <a:off x="917576" y="4811666"/>
            <a:ext cx="10363000" cy="1728790"/>
            <a:chOff x="917576" y="5012458"/>
            <a:chExt cx="7404100" cy="1728790"/>
          </a:xfrm>
        </p:grpSpPr>
        <p:sp>
          <p:nvSpPr>
            <p:cNvPr id="7" name="Line 131"/>
            <p:cNvSpPr>
              <a:spLocks noChangeShapeType="1"/>
            </p:cNvSpPr>
            <p:nvPr/>
          </p:nvSpPr>
          <p:spPr bwMode="auto">
            <a:xfrm>
              <a:off x="3438526" y="5695082"/>
              <a:ext cx="596900" cy="0"/>
            </a:xfrm>
            <a:prstGeom prst="line">
              <a:avLst/>
            </a:prstGeom>
            <a:noFill/>
            <a:ln w="38100">
              <a:solidFill>
                <a:srgbClr val="CCFFCC"/>
              </a:solidFill>
              <a:round/>
              <a:headEnd type="none" w="sm" len="sm"/>
              <a:tailEnd type="stealth" w="med" len="med"/>
            </a:ln>
            <a:extLst>
              <a:ext uri="{909E8E84-426E-40DD-AFC4-6F175D3DCCD1}">
                <a14:hiddenFill xmlns:a14="http://schemas.microsoft.com/office/drawing/2010/main">
                  <a:noFill/>
                </a14:hiddenFill>
              </a:ext>
            </a:extLst>
          </p:spPr>
          <p:txBody>
            <a:bodyPr anchor="ctr" anchorCtr="0"/>
            <a:lstStyle/>
            <a:p>
              <a:endParaRPr lang="zh-CN" altLang="en-US" sz="1400">
                <a:latin typeface="微软雅黑" pitchFamily="34" charset="-122"/>
                <a:ea typeface="微软雅黑" pitchFamily="34" charset="-122"/>
              </a:endParaRPr>
            </a:p>
          </p:txBody>
        </p:sp>
        <p:sp>
          <p:nvSpPr>
            <p:cNvPr id="9" name="Line 132"/>
            <p:cNvSpPr>
              <a:spLocks noChangeShapeType="1"/>
            </p:cNvSpPr>
            <p:nvPr/>
          </p:nvSpPr>
          <p:spPr bwMode="auto">
            <a:xfrm>
              <a:off x="5048251" y="5695082"/>
              <a:ext cx="596900" cy="0"/>
            </a:xfrm>
            <a:prstGeom prst="line">
              <a:avLst/>
            </a:prstGeom>
            <a:noFill/>
            <a:ln w="38100">
              <a:solidFill>
                <a:srgbClr val="CCFFCC"/>
              </a:solidFill>
              <a:round/>
              <a:headEnd type="none" w="sm" len="sm"/>
              <a:tailEnd type="stealth" w="med" len="med"/>
            </a:ln>
            <a:extLst>
              <a:ext uri="{909E8E84-426E-40DD-AFC4-6F175D3DCCD1}">
                <a14:hiddenFill xmlns:a14="http://schemas.microsoft.com/office/drawing/2010/main">
                  <a:noFill/>
                </a14:hiddenFill>
              </a:ext>
            </a:extLst>
          </p:spPr>
          <p:txBody>
            <a:bodyPr anchor="ctr" anchorCtr="0"/>
            <a:lstStyle/>
            <a:p>
              <a:endParaRPr lang="zh-CN" altLang="en-US" sz="1400">
                <a:latin typeface="微软雅黑" pitchFamily="34" charset="-122"/>
                <a:ea typeface="微软雅黑" pitchFamily="34" charset="-122"/>
              </a:endParaRPr>
            </a:p>
          </p:txBody>
        </p:sp>
        <p:sp>
          <p:nvSpPr>
            <p:cNvPr id="10" name="Line 133"/>
            <p:cNvSpPr>
              <a:spLocks noChangeShapeType="1"/>
            </p:cNvSpPr>
            <p:nvPr/>
          </p:nvSpPr>
          <p:spPr bwMode="auto">
            <a:xfrm>
              <a:off x="6653213" y="5695082"/>
              <a:ext cx="595313" cy="0"/>
            </a:xfrm>
            <a:prstGeom prst="line">
              <a:avLst/>
            </a:prstGeom>
            <a:noFill/>
            <a:ln w="38100">
              <a:solidFill>
                <a:srgbClr val="CCFFCC"/>
              </a:solidFill>
              <a:round/>
              <a:headEnd type="none" w="sm" len="sm"/>
              <a:tailEnd type="stealth" w="med" len="med"/>
            </a:ln>
            <a:extLst>
              <a:ext uri="{909E8E84-426E-40DD-AFC4-6F175D3DCCD1}">
                <a14:hiddenFill xmlns:a14="http://schemas.microsoft.com/office/drawing/2010/main">
                  <a:noFill/>
                </a14:hiddenFill>
              </a:ext>
            </a:extLst>
          </p:spPr>
          <p:txBody>
            <a:bodyPr anchor="ctr" anchorCtr="0"/>
            <a:lstStyle/>
            <a:p>
              <a:endParaRPr lang="zh-CN" altLang="en-US" sz="1400">
                <a:latin typeface="微软雅黑" pitchFamily="34" charset="-122"/>
                <a:ea typeface="微软雅黑" pitchFamily="34" charset="-122"/>
              </a:endParaRPr>
            </a:p>
          </p:txBody>
        </p:sp>
        <p:grpSp>
          <p:nvGrpSpPr>
            <p:cNvPr id="11" name="Group 146"/>
            <p:cNvGrpSpPr>
              <a:grpSpLocks/>
            </p:cNvGrpSpPr>
            <p:nvPr/>
          </p:nvGrpSpPr>
          <p:grpSpPr bwMode="auto">
            <a:xfrm>
              <a:off x="917576" y="5156922"/>
              <a:ext cx="765175" cy="1584326"/>
              <a:chOff x="529" y="2886"/>
              <a:chExt cx="482" cy="998"/>
            </a:xfrm>
          </p:grpSpPr>
          <p:sp>
            <p:nvSpPr>
              <p:cNvPr id="12" name="Freeform 122"/>
              <p:cNvSpPr>
                <a:spLocks/>
              </p:cNvSpPr>
              <p:nvPr/>
            </p:nvSpPr>
            <p:spPr bwMode="auto">
              <a:xfrm>
                <a:off x="529" y="2886"/>
                <a:ext cx="482" cy="998"/>
              </a:xfrm>
              <a:custGeom>
                <a:avLst/>
                <a:gdLst/>
                <a:ahLst/>
                <a:cxnLst>
                  <a:cxn ang="0">
                    <a:pos x="171" y="0"/>
                  </a:cxn>
                  <a:cxn ang="0">
                    <a:pos x="170" y="19"/>
                  </a:cxn>
                  <a:cxn ang="0">
                    <a:pos x="168" y="35"/>
                  </a:cxn>
                  <a:cxn ang="0">
                    <a:pos x="164" y="51"/>
                  </a:cxn>
                  <a:cxn ang="0">
                    <a:pos x="158" y="67"/>
                  </a:cxn>
                  <a:cxn ang="0">
                    <a:pos x="150" y="83"/>
                  </a:cxn>
                  <a:cxn ang="0">
                    <a:pos x="142" y="96"/>
                  </a:cxn>
                  <a:cxn ang="0">
                    <a:pos x="132" y="109"/>
                  </a:cxn>
                  <a:cxn ang="0">
                    <a:pos x="121" y="121"/>
                  </a:cxn>
                  <a:cxn ang="0">
                    <a:pos x="109" y="134"/>
                  </a:cxn>
                  <a:cxn ang="0">
                    <a:pos x="96" y="144"/>
                  </a:cxn>
                  <a:cxn ang="0">
                    <a:pos x="82" y="153"/>
                  </a:cxn>
                  <a:cxn ang="0">
                    <a:pos x="67" y="160"/>
                  </a:cxn>
                  <a:cxn ang="0">
                    <a:pos x="35" y="169"/>
                  </a:cxn>
                  <a:cxn ang="0">
                    <a:pos x="0" y="173"/>
                  </a:cxn>
                  <a:cxn ang="0">
                    <a:pos x="0" y="1824"/>
                  </a:cxn>
                  <a:cxn ang="0">
                    <a:pos x="35" y="1828"/>
                  </a:cxn>
                  <a:cxn ang="0">
                    <a:pos x="67" y="1837"/>
                  </a:cxn>
                  <a:cxn ang="0">
                    <a:pos x="82" y="1847"/>
                  </a:cxn>
                  <a:cxn ang="0">
                    <a:pos x="96" y="1853"/>
                  </a:cxn>
                  <a:cxn ang="0">
                    <a:pos x="109" y="1863"/>
                  </a:cxn>
                  <a:cxn ang="0">
                    <a:pos x="121" y="1876"/>
                  </a:cxn>
                  <a:cxn ang="0">
                    <a:pos x="132" y="1888"/>
                  </a:cxn>
                  <a:cxn ang="0">
                    <a:pos x="142" y="1901"/>
                  </a:cxn>
                  <a:cxn ang="0">
                    <a:pos x="150" y="1914"/>
                  </a:cxn>
                  <a:cxn ang="0">
                    <a:pos x="158" y="1930"/>
                  </a:cxn>
                  <a:cxn ang="0">
                    <a:pos x="164" y="1946"/>
                  </a:cxn>
                  <a:cxn ang="0">
                    <a:pos x="168" y="1962"/>
                  </a:cxn>
                  <a:cxn ang="0">
                    <a:pos x="170" y="1978"/>
                  </a:cxn>
                  <a:cxn ang="0">
                    <a:pos x="171" y="1997"/>
                  </a:cxn>
                  <a:cxn ang="0">
                    <a:pos x="350" y="1997"/>
                  </a:cxn>
                  <a:cxn ang="0">
                    <a:pos x="351" y="1978"/>
                  </a:cxn>
                  <a:cxn ang="0">
                    <a:pos x="353" y="1962"/>
                  </a:cxn>
                  <a:cxn ang="0">
                    <a:pos x="357" y="1946"/>
                  </a:cxn>
                  <a:cxn ang="0">
                    <a:pos x="363" y="1930"/>
                  </a:cxn>
                  <a:cxn ang="0">
                    <a:pos x="371" y="1914"/>
                  </a:cxn>
                  <a:cxn ang="0">
                    <a:pos x="379" y="1901"/>
                  </a:cxn>
                  <a:cxn ang="0">
                    <a:pos x="389" y="1888"/>
                  </a:cxn>
                  <a:cxn ang="0">
                    <a:pos x="400" y="1876"/>
                  </a:cxn>
                  <a:cxn ang="0">
                    <a:pos x="412" y="1863"/>
                  </a:cxn>
                  <a:cxn ang="0">
                    <a:pos x="425" y="1853"/>
                  </a:cxn>
                  <a:cxn ang="0">
                    <a:pos x="439" y="1847"/>
                  </a:cxn>
                  <a:cxn ang="0">
                    <a:pos x="454" y="1837"/>
                  </a:cxn>
                  <a:cxn ang="0">
                    <a:pos x="486" y="1828"/>
                  </a:cxn>
                  <a:cxn ang="0">
                    <a:pos x="521" y="1824"/>
                  </a:cxn>
                  <a:cxn ang="0">
                    <a:pos x="521" y="173"/>
                  </a:cxn>
                  <a:cxn ang="0">
                    <a:pos x="486" y="169"/>
                  </a:cxn>
                  <a:cxn ang="0">
                    <a:pos x="454" y="160"/>
                  </a:cxn>
                  <a:cxn ang="0">
                    <a:pos x="439" y="153"/>
                  </a:cxn>
                  <a:cxn ang="0">
                    <a:pos x="425" y="144"/>
                  </a:cxn>
                  <a:cxn ang="0">
                    <a:pos x="412" y="134"/>
                  </a:cxn>
                  <a:cxn ang="0">
                    <a:pos x="400" y="121"/>
                  </a:cxn>
                  <a:cxn ang="0">
                    <a:pos x="389" y="109"/>
                  </a:cxn>
                  <a:cxn ang="0">
                    <a:pos x="379" y="96"/>
                  </a:cxn>
                  <a:cxn ang="0">
                    <a:pos x="371" y="83"/>
                  </a:cxn>
                  <a:cxn ang="0">
                    <a:pos x="363" y="67"/>
                  </a:cxn>
                  <a:cxn ang="0">
                    <a:pos x="357" y="51"/>
                  </a:cxn>
                  <a:cxn ang="0">
                    <a:pos x="353" y="35"/>
                  </a:cxn>
                  <a:cxn ang="0">
                    <a:pos x="351" y="19"/>
                  </a:cxn>
                  <a:cxn ang="0">
                    <a:pos x="350" y="0"/>
                  </a:cxn>
                  <a:cxn ang="0">
                    <a:pos x="171" y="0"/>
                  </a:cxn>
                </a:cxnLst>
                <a:rect l="0" t="0" r="r" b="b"/>
                <a:pathLst>
                  <a:path w="522" h="1998">
                    <a:moveTo>
                      <a:pt x="171" y="0"/>
                    </a:moveTo>
                    <a:lnTo>
                      <a:pt x="170" y="19"/>
                    </a:lnTo>
                    <a:lnTo>
                      <a:pt x="168" y="35"/>
                    </a:lnTo>
                    <a:lnTo>
                      <a:pt x="164" y="51"/>
                    </a:lnTo>
                    <a:lnTo>
                      <a:pt x="158" y="67"/>
                    </a:lnTo>
                    <a:lnTo>
                      <a:pt x="150" y="83"/>
                    </a:lnTo>
                    <a:lnTo>
                      <a:pt x="142" y="96"/>
                    </a:lnTo>
                    <a:lnTo>
                      <a:pt x="132" y="109"/>
                    </a:lnTo>
                    <a:lnTo>
                      <a:pt x="121" y="121"/>
                    </a:lnTo>
                    <a:lnTo>
                      <a:pt x="109" y="134"/>
                    </a:lnTo>
                    <a:lnTo>
                      <a:pt x="96" y="144"/>
                    </a:lnTo>
                    <a:lnTo>
                      <a:pt x="82" y="153"/>
                    </a:lnTo>
                    <a:lnTo>
                      <a:pt x="67" y="160"/>
                    </a:lnTo>
                    <a:lnTo>
                      <a:pt x="35" y="169"/>
                    </a:lnTo>
                    <a:lnTo>
                      <a:pt x="0" y="173"/>
                    </a:lnTo>
                    <a:lnTo>
                      <a:pt x="0" y="1824"/>
                    </a:lnTo>
                    <a:lnTo>
                      <a:pt x="35" y="1828"/>
                    </a:lnTo>
                    <a:lnTo>
                      <a:pt x="67" y="1837"/>
                    </a:lnTo>
                    <a:lnTo>
                      <a:pt x="82" y="1847"/>
                    </a:lnTo>
                    <a:lnTo>
                      <a:pt x="96" y="1853"/>
                    </a:lnTo>
                    <a:lnTo>
                      <a:pt x="109" y="1863"/>
                    </a:lnTo>
                    <a:lnTo>
                      <a:pt x="121" y="1876"/>
                    </a:lnTo>
                    <a:lnTo>
                      <a:pt x="132" y="1888"/>
                    </a:lnTo>
                    <a:lnTo>
                      <a:pt x="142" y="1901"/>
                    </a:lnTo>
                    <a:lnTo>
                      <a:pt x="150" y="1914"/>
                    </a:lnTo>
                    <a:lnTo>
                      <a:pt x="158" y="1930"/>
                    </a:lnTo>
                    <a:lnTo>
                      <a:pt x="164" y="1946"/>
                    </a:lnTo>
                    <a:lnTo>
                      <a:pt x="168" y="1962"/>
                    </a:lnTo>
                    <a:lnTo>
                      <a:pt x="170" y="1978"/>
                    </a:lnTo>
                    <a:lnTo>
                      <a:pt x="171" y="1997"/>
                    </a:lnTo>
                    <a:lnTo>
                      <a:pt x="350" y="1997"/>
                    </a:lnTo>
                    <a:lnTo>
                      <a:pt x="351" y="1978"/>
                    </a:lnTo>
                    <a:lnTo>
                      <a:pt x="353" y="1962"/>
                    </a:lnTo>
                    <a:lnTo>
                      <a:pt x="357" y="1946"/>
                    </a:lnTo>
                    <a:lnTo>
                      <a:pt x="363" y="1930"/>
                    </a:lnTo>
                    <a:lnTo>
                      <a:pt x="371" y="1914"/>
                    </a:lnTo>
                    <a:lnTo>
                      <a:pt x="379" y="1901"/>
                    </a:lnTo>
                    <a:lnTo>
                      <a:pt x="389" y="1888"/>
                    </a:lnTo>
                    <a:lnTo>
                      <a:pt x="400" y="1876"/>
                    </a:lnTo>
                    <a:lnTo>
                      <a:pt x="412" y="1863"/>
                    </a:lnTo>
                    <a:lnTo>
                      <a:pt x="425" y="1853"/>
                    </a:lnTo>
                    <a:lnTo>
                      <a:pt x="439" y="1847"/>
                    </a:lnTo>
                    <a:lnTo>
                      <a:pt x="454" y="1837"/>
                    </a:lnTo>
                    <a:lnTo>
                      <a:pt x="486" y="1828"/>
                    </a:lnTo>
                    <a:lnTo>
                      <a:pt x="521" y="1824"/>
                    </a:lnTo>
                    <a:lnTo>
                      <a:pt x="521" y="173"/>
                    </a:lnTo>
                    <a:lnTo>
                      <a:pt x="486" y="169"/>
                    </a:lnTo>
                    <a:lnTo>
                      <a:pt x="454" y="160"/>
                    </a:lnTo>
                    <a:lnTo>
                      <a:pt x="439" y="153"/>
                    </a:lnTo>
                    <a:lnTo>
                      <a:pt x="425" y="144"/>
                    </a:lnTo>
                    <a:lnTo>
                      <a:pt x="412" y="134"/>
                    </a:lnTo>
                    <a:lnTo>
                      <a:pt x="400" y="121"/>
                    </a:lnTo>
                    <a:lnTo>
                      <a:pt x="389" y="109"/>
                    </a:lnTo>
                    <a:lnTo>
                      <a:pt x="379" y="96"/>
                    </a:lnTo>
                    <a:lnTo>
                      <a:pt x="371" y="83"/>
                    </a:lnTo>
                    <a:lnTo>
                      <a:pt x="363" y="67"/>
                    </a:lnTo>
                    <a:lnTo>
                      <a:pt x="357" y="51"/>
                    </a:lnTo>
                    <a:lnTo>
                      <a:pt x="353" y="35"/>
                    </a:lnTo>
                    <a:lnTo>
                      <a:pt x="351" y="19"/>
                    </a:lnTo>
                    <a:lnTo>
                      <a:pt x="350" y="0"/>
                    </a:lnTo>
                    <a:lnTo>
                      <a:pt x="171" y="0"/>
                    </a:lnTo>
                  </a:path>
                </a:pathLst>
              </a:custGeom>
              <a:gradFill rotWithShape="1">
                <a:gsLst>
                  <a:gs pos="0">
                    <a:schemeClr val="bg1">
                      <a:gamma/>
                      <a:shade val="46275"/>
                      <a:invGamma/>
                    </a:schemeClr>
                  </a:gs>
                  <a:gs pos="50000">
                    <a:schemeClr val="bg1"/>
                  </a:gs>
                  <a:gs pos="100000">
                    <a:schemeClr val="bg1">
                      <a:gamma/>
                      <a:shade val="46275"/>
                      <a:invGamma/>
                    </a:schemeClr>
                  </a:gs>
                </a:gsLst>
                <a:lin ang="18900000" scaled="1"/>
              </a:gradFill>
              <a:ln w="28575" cap="rnd" cmpd="sng">
                <a:solidFill>
                  <a:srgbClr val="CCFFCC"/>
                </a:solidFill>
                <a:prstDash val="solid"/>
                <a:round/>
                <a:headEnd/>
                <a:tailEnd/>
              </a:ln>
              <a:effectLst>
                <a:outerShdw dist="35921" dir="2700000" algn="ctr" rotWithShape="0">
                  <a:schemeClr val="bg2"/>
                </a:outerShdw>
              </a:effectLst>
            </p:spPr>
            <p:txBody>
              <a:bodyPr anchor="ctr" anchorCtr="0"/>
              <a:lstStyle/>
              <a:p>
                <a:pPr>
                  <a:defRPr/>
                </a:pPr>
                <a:endParaRPr lang="zh-CN" altLang="en-US" sz="1400">
                  <a:latin typeface="微软雅黑" pitchFamily="34" charset="-122"/>
                  <a:ea typeface="微软雅黑" pitchFamily="34" charset="-122"/>
                </a:endParaRPr>
              </a:p>
            </p:txBody>
          </p:sp>
          <p:sp>
            <p:nvSpPr>
              <p:cNvPr id="13" name="Rectangle 123"/>
              <p:cNvSpPr>
                <a:spLocks noChangeArrowheads="1"/>
              </p:cNvSpPr>
              <p:nvPr/>
            </p:nvSpPr>
            <p:spPr bwMode="auto">
              <a:xfrm>
                <a:off x="664" y="2899"/>
                <a:ext cx="229" cy="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0">
                <a:spAutoFit/>
              </a:bodyPr>
              <a:lstStyle/>
              <a:p>
                <a:pPr algn="ctr"/>
                <a:r>
                  <a:rPr lang="zh-CN" altLang="en-US" sz="2400" baseline="0" dirty="0">
                    <a:latin typeface="微软雅黑" pitchFamily="34" charset="-122"/>
                    <a:ea typeface="微软雅黑" pitchFamily="34" charset="-122"/>
                  </a:rPr>
                  <a:t>现实世界</a:t>
                </a:r>
              </a:p>
            </p:txBody>
          </p:sp>
        </p:grpSp>
        <p:sp>
          <p:nvSpPr>
            <p:cNvPr id="14" name="AutoShape 124"/>
            <p:cNvSpPr>
              <a:spLocks noChangeArrowheads="1"/>
            </p:cNvSpPr>
            <p:nvPr/>
          </p:nvSpPr>
          <p:spPr bwMode="auto">
            <a:xfrm>
              <a:off x="2541588" y="5210894"/>
              <a:ext cx="755650" cy="1209675"/>
            </a:xfrm>
            <a:prstGeom prst="roundRect">
              <a:avLst>
                <a:gd name="adj" fmla="val 18903"/>
              </a:avLst>
            </a:prstGeom>
            <a:gradFill rotWithShape="1">
              <a:gsLst>
                <a:gs pos="0">
                  <a:schemeClr val="bg1">
                    <a:gamma/>
                    <a:shade val="46275"/>
                    <a:invGamma/>
                  </a:schemeClr>
                </a:gs>
                <a:gs pos="50000">
                  <a:schemeClr val="bg1"/>
                </a:gs>
                <a:gs pos="100000">
                  <a:schemeClr val="bg1">
                    <a:gamma/>
                    <a:shade val="46275"/>
                    <a:invGamma/>
                  </a:schemeClr>
                </a:gs>
              </a:gsLst>
              <a:lin ang="18900000" scaled="1"/>
            </a:gradFill>
            <a:ln w="28575">
              <a:solidFill>
                <a:srgbClr val="CCFFCC"/>
              </a:solidFill>
              <a:round/>
              <a:headEnd/>
              <a:tailEnd/>
            </a:ln>
            <a:effectLst>
              <a:outerShdw dist="35921" dir="2700000" algn="ctr" rotWithShape="0">
                <a:schemeClr val="bg2"/>
              </a:outerShdw>
            </a:effectLst>
          </p:spPr>
          <p:txBody>
            <a:bodyPr lIns="19050" tIns="0" rIns="19050" bIns="0" anchor="ctr" anchorCtr="0"/>
            <a:lstStyle/>
            <a:p>
              <a:pPr algn="ctr">
                <a:spcBef>
                  <a:spcPts val="100"/>
                </a:spcBef>
                <a:defRPr/>
              </a:pPr>
              <a:r>
                <a:rPr lang="zh-CN" altLang="en-US" sz="2400" baseline="0">
                  <a:latin typeface="微软雅黑" pitchFamily="34" charset="-122"/>
                  <a:ea typeface="微软雅黑" pitchFamily="34" charset="-122"/>
                </a:rPr>
                <a:t>概念数据模型</a:t>
              </a:r>
            </a:p>
          </p:txBody>
        </p:sp>
        <p:sp>
          <p:nvSpPr>
            <p:cNvPr id="15" name="AutoShape 125"/>
            <p:cNvSpPr>
              <a:spLocks noChangeArrowheads="1"/>
            </p:cNvSpPr>
            <p:nvPr/>
          </p:nvSpPr>
          <p:spPr bwMode="auto">
            <a:xfrm>
              <a:off x="4156076" y="5225182"/>
              <a:ext cx="755650" cy="1209675"/>
            </a:xfrm>
            <a:prstGeom prst="roundRect">
              <a:avLst>
                <a:gd name="adj" fmla="val 14560"/>
              </a:avLst>
            </a:prstGeom>
            <a:gradFill rotWithShape="1">
              <a:gsLst>
                <a:gs pos="0">
                  <a:schemeClr val="bg1">
                    <a:gamma/>
                    <a:shade val="46275"/>
                    <a:invGamma/>
                  </a:schemeClr>
                </a:gs>
                <a:gs pos="50000">
                  <a:schemeClr val="bg1"/>
                </a:gs>
                <a:gs pos="100000">
                  <a:schemeClr val="bg1">
                    <a:gamma/>
                    <a:shade val="46275"/>
                    <a:invGamma/>
                  </a:schemeClr>
                </a:gs>
              </a:gsLst>
              <a:lin ang="18900000" scaled="1"/>
            </a:gradFill>
            <a:ln w="28575" algn="ctr">
              <a:solidFill>
                <a:srgbClr val="CCFFCC"/>
              </a:solidFill>
              <a:round/>
              <a:headEnd/>
              <a:tailEnd/>
            </a:ln>
            <a:effectLst>
              <a:outerShdw dist="35921" dir="2700000" algn="ctr" rotWithShape="0">
                <a:schemeClr val="bg2"/>
              </a:outerShdw>
            </a:effectLst>
          </p:spPr>
          <p:txBody>
            <a:bodyPr lIns="19050" tIns="0" rIns="19050" bIns="0" anchor="ctr" anchorCtr="0"/>
            <a:lstStyle/>
            <a:p>
              <a:pPr algn="ctr">
                <a:spcBef>
                  <a:spcPts val="100"/>
                </a:spcBef>
                <a:defRPr/>
              </a:pPr>
              <a:r>
                <a:rPr lang="zh-CN" altLang="en-US" sz="2400" baseline="0">
                  <a:latin typeface="微软雅黑" pitchFamily="34" charset="-122"/>
                  <a:ea typeface="微软雅黑" pitchFamily="34" charset="-122"/>
                </a:rPr>
                <a:t>逻辑数据模型 </a:t>
              </a:r>
            </a:p>
          </p:txBody>
        </p:sp>
        <p:sp>
          <p:nvSpPr>
            <p:cNvPr id="16" name="AutoShape 126"/>
            <p:cNvSpPr>
              <a:spLocks noChangeArrowheads="1"/>
            </p:cNvSpPr>
            <p:nvPr/>
          </p:nvSpPr>
          <p:spPr bwMode="auto">
            <a:xfrm>
              <a:off x="5770563" y="5228357"/>
              <a:ext cx="755650" cy="1209675"/>
            </a:xfrm>
            <a:prstGeom prst="roundRect">
              <a:avLst>
                <a:gd name="adj" fmla="val 16028"/>
              </a:avLst>
            </a:prstGeom>
            <a:gradFill rotWithShape="1">
              <a:gsLst>
                <a:gs pos="0">
                  <a:schemeClr val="bg1">
                    <a:gamma/>
                    <a:shade val="46275"/>
                    <a:invGamma/>
                  </a:schemeClr>
                </a:gs>
                <a:gs pos="50000">
                  <a:schemeClr val="bg1"/>
                </a:gs>
                <a:gs pos="100000">
                  <a:schemeClr val="bg1">
                    <a:gamma/>
                    <a:shade val="46275"/>
                    <a:invGamma/>
                  </a:schemeClr>
                </a:gs>
              </a:gsLst>
              <a:lin ang="18900000" scaled="1"/>
            </a:gradFill>
            <a:ln w="28575" algn="ctr">
              <a:solidFill>
                <a:srgbClr val="CCFFCC"/>
              </a:solidFill>
              <a:round/>
              <a:headEnd/>
              <a:tailEnd/>
            </a:ln>
            <a:effectLst>
              <a:outerShdw dist="35921" dir="2700000" algn="ctr" rotWithShape="0">
                <a:schemeClr val="bg2"/>
              </a:outerShdw>
            </a:effectLst>
          </p:spPr>
          <p:txBody>
            <a:bodyPr lIns="19050" tIns="0" rIns="19050" bIns="0" anchor="ctr" anchorCtr="0"/>
            <a:lstStyle/>
            <a:p>
              <a:pPr algn="ctr">
                <a:spcBef>
                  <a:spcPts val="100"/>
                </a:spcBef>
                <a:defRPr/>
              </a:pPr>
              <a:r>
                <a:rPr lang="zh-CN" altLang="en-US" sz="2400" baseline="0">
                  <a:latin typeface="微软雅黑" pitchFamily="34" charset="-122"/>
                  <a:ea typeface="微软雅黑" pitchFamily="34" charset="-122"/>
                </a:rPr>
                <a:t>物理数据模型</a:t>
              </a:r>
            </a:p>
          </p:txBody>
        </p:sp>
        <p:grpSp>
          <p:nvGrpSpPr>
            <p:cNvPr id="17" name="Group 142"/>
            <p:cNvGrpSpPr>
              <a:grpSpLocks/>
            </p:cNvGrpSpPr>
            <p:nvPr/>
          </p:nvGrpSpPr>
          <p:grpSpPr bwMode="auto">
            <a:xfrm>
              <a:off x="7386638" y="5012458"/>
              <a:ext cx="935038" cy="1643063"/>
              <a:chOff x="4089" y="2795"/>
              <a:chExt cx="589" cy="1035"/>
            </a:xfrm>
          </p:grpSpPr>
          <p:sp>
            <p:nvSpPr>
              <p:cNvPr id="18" name="AutoShape 139"/>
              <p:cNvSpPr>
                <a:spLocks noChangeArrowheads="1"/>
              </p:cNvSpPr>
              <p:nvPr/>
            </p:nvSpPr>
            <p:spPr bwMode="auto">
              <a:xfrm>
                <a:off x="4089" y="2795"/>
                <a:ext cx="589" cy="1035"/>
              </a:xfrm>
              <a:prstGeom prst="can">
                <a:avLst>
                  <a:gd name="adj" fmla="val 25979"/>
                </a:avLst>
              </a:prstGeom>
              <a:gradFill rotWithShape="1">
                <a:gsLst>
                  <a:gs pos="0">
                    <a:schemeClr val="bg1">
                      <a:gamma/>
                      <a:shade val="46275"/>
                      <a:invGamma/>
                    </a:schemeClr>
                  </a:gs>
                  <a:gs pos="50000">
                    <a:schemeClr val="bg1"/>
                  </a:gs>
                  <a:gs pos="100000">
                    <a:schemeClr val="bg1">
                      <a:gamma/>
                      <a:shade val="46275"/>
                      <a:invGamma/>
                    </a:schemeClr>
                  </a:gs>
                </a:gsLst>
                <a:lin ang="18900000" scaled="1"/>
              </a:gradFill>
              <a:ln w="28575">
                <a:solidFill>
                  <a:srgbClr val="CCFFCC"/>
                </a:solidFill>
                <a:round/>
                <a:headEnd/>
                <a:tailEnd/>
              </a:ln>
              <a:effectLst>
                <a:outerShdw dist="35921" dir="2700000" algn="ctr" rotWithShape="0">
                  <a:schemeClr val="bg2"/>
                </a:outerShdw>
              </a:effectLst>
            </p:spPr>
            <p:txBody>
              <a:bodyPr lIns="19050" tIns="0" rIns="19050" bIns="0" anchor="ctr" anchorCtr="0"/>
              <a:lstStyle/>
              <a:p>
                <a:pPr>
                  <a:defRPr/>
                </a:pPr>
                <a:endParaRPr lang="zh-CN" altLang="en-US" sz="1400">
                  <a:latin typeface="微软雅黑" pitchFamily="34" charset="-122"/>
                  <a:ea typeface="微软雅黑" pitchFamily="34" charset="-122"/>
                </a:endParaRPr>
              </a:p>
            </p:txBody>
          </p:sp>
          <p:sp>
            <p:nvSpPr>
              <p:cNvPr id="19" name="Rectangle 129"/>
              <p:cNvSpPr>
                <a:spLocks noChangeArrowheads="1"/>
              </p:cNvSpPr>
              <p:nvPr/>
            </p:nvSpPr>
            <p:spPr bwMode="auto">
              <a:xfrm>
                <a:off x="4287" y="3237"/>
                <a:ext cx="207"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0"/>
              <a:lstStyle/>
              <a:p>
                <a:pPr algn="ctr">
                  <a:spcBef>
                    <a:spcPts val="400"/>
                  </a:spcBef>
                </a:pPr>
                <a:r>
                  <a:rPr lang="zh-CN" altLang="en-US" sz="2400" baseline="0" dirty="0">
                    <a:latin typeface="微软雅黑" pitchFamily="34" charset="-122"/>
                    <a:ea typeface="微软雅黑" pitchFamily="34" charset="-122"/>
                  </a:rPr>
                  <a:t>数据库</a:t>
                </a:r>
              </a:p>
            </p:txBody>
          </p:sp>
        </p:grpSp>
        <p:sp>
          <p:nvSpPr>
            <p:cNvPr id="20" name="Line 130"/>
            <p:cNvSpPr>
              <a:spLocks noChangeShapeType="1"/>
            </p:cNvSpPr>
            <p:nvPr/>
          </p:nvSpPr>
          <p:spPr bwMode="auto">
            <a:xfrm>
              <a:off x="1785938" y="5695082"/>
              <a:ext cx="596900" cy="0"/>
            </a:xfrm>
            <a:prstGeom prst="line">
              <a:avLst/>
            </a:prstGeom>
            <a:noFill/>
            <a:ln w="38100">
              <a:solidFill>
                <a:srgbClr val="CCFFCC"/>
              </a:solidFill>
              <a:round/>
              <a:headEnd type="none" w="sm" len="sm"/>
              <a:tailEnd type="stealth" w="med" len="med"/>
            </a:ln>
            <a:extLst>
              <a:ext uri="{909E8E84-426E-40DD-AFC4-6F175D3DCCD1}">
                <a14:hiddenFill xmlns:a14="http://schemas.microsoft.com/office/drawing/2010/main">
                  <a:noFill/>
                </a14:hiddenFill>
              </a:ext>
            </a:extLst>
          </p:spPr>
          <p:txBody>
            <a:bodyPr anchor="ctr" anchorCtr="0"/>
            <a:lstStyle/>
            <a:p>
              <a:endParaRPr lang="zh-CN" altLang="en-US" sz="1400">
                <a:latin typeface="微软雅黑" pitchFamily="34" charset="-122"/>
                <a:ea typeface="微软雅黑" pitchFamily="34" charset="-122"/>
              </a:endParaRPr>
            </a:p>
          </p:txBody>
        </p:sp>
        <p:sp>
          <p:nvSpPr>
            <p:cNvPr id="21" name="Rectangle 141"/>
            <p:cNvSpPr>
              <a:spLocks noChangeArrowheads="1"/>
            </p:cNvSpPr>
            <p:nvPr/>
          </p:nvSpPr>
          <p:spPr bwMode="auto">
            <a:xfrm>
              <a:off x="1839242" y="5826230"/>
              <a:ext cx="543686"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nchor="ctr" anchorCtr="0">
              <a:spAutoFit/>
            </a:bodyPr>
            <a:lstStyle/>
            <a:p>
              <a:r>
                <a:rPr lang="zh-CN" altLang="en-US" sz="2400" baseline="0" dirty="0">
                  <a:solidFill>
                    <a:srgbClr val="FFFF00"/>
                  </a:solidFill>
                  <a:latin typeface="微软雅黑" pitchFamily="34" charset="-122"/>
                  <a:ea typeface="微软雅黑" pitchFamily="34" charset="-122"/>
                </a:rPr>
                <a:t>抽象</a:t>
              </a:r>
            </a:p>
          </p:txBody>
        </p:sp>
        <p:sp>
          <p:nvSpPr>
            <p:cNvPr id="22" name="Rectangle 143"/>
            <p:cNvSpPr>
              <a:spLocks noChangeArrowheads="1"/>
            </p:cNvSpPr>
            <p:nvPr/>
          </p:nvSpPr>
          <p:spPr bwMode="auto">
            <a:xfrm>
              <a:off x="3485575" y="5826230"/>
              <a:ext cx="543686"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nchor="ctr" anchorCtr="0">
              <a:spAutoFit/>
            </a:bodyPr>
            <a:lstStyle/>
            <a:p>
              <a:r>
                <a:rPr lang="zh-CN" altLang="en-US" sz="2400" baseline="0" dirty="0">
                  <a:solidFill>
                    <a:srgbClr val="FFFF00"/>
                  </a:solidFill>
                  <a:latin typeface="微软雅黑" pitchFamily="34" charset="-122"/>
                  <a:ea typeface="微软雅黑" pitchFamily="34" charset="-122"/>
                </a:rPr>
                <a:t>转换</a:t>
              </a:r>
            </a:p>
          </p:txBody>
        </p:sp>
        <p:sp>
          <p:nvSpPr>
            <p:cNvPr id="23" name="Rectangle 144"/>
            <p:cNvSpPr>
              <a:spLocks noChangeArrowheads="1"/>
            </p:cNvSpPr>
            <p:nvPr/>
          </p:nvSpPr>
          <p:spPr bwMode="auto">
            <a:xfrm>
              <a:off x="5080459" y="5826230"/>
              <a:ext cx="543686"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nchor="ctr" anchorCtr="0">
              <a:spAutoFit/>
            </a:bodyPr>
            <a:lstStyle/>
            <a:p>
              <a:r>
                <a:rPr lang="zh-CN" altLang="en-US" sz="2400" baseline="0" dirty="0">
                  <a:solidFill>
                    <a:srgbClr val="FFFF00"/>
                  </a:solidFill>
                  <a:latin typeface="微软雅黑" pitchFamily="34" charset="-122"/>
                  <a:ea typeface="微软雅黑" pitchFamily="34" charset="-122"/>
                </a:rPr>
                <a:t>映象</a:t>
              </a:r>
            </a:p>
          </p:txBody>
        </p:sp>
        <p:sp>
          <p:nvSpPr>
            <p:cNvPr id="24" name="Rectangle 145"/>
            <p:cNvSpPr>
              <a:spLocks noChangeArrowheads="1"/>
            </p:cNvSpPr>
            <p:nvPr/>
          </p:nvSpPr>
          <p:spPr bwMode="auto">
            <a:xfrm>
              <a:off x="6697585" y="5826230"/>
              <a:ext cx="543686"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nchor="ctr" anchorCtr="0">
              <a:spAutoFit/>
            </a:bodyPr>
            <a:lstStyle/>
            <a:p>
              <a:r>
                <a:rPr lang="zh-CN" altLang="en-US" sz="2400" baseline="0" dirty="0">
                  <a:solidFill>
                    <a:srgbClr val="FFFF00"/>
                  </a:solidFill>
                  <a:latin typeface="微软雅黑" pitchFamily="34" charset="-122"/>
                  <a:ea typeface="微软雅黑" pitchFamily="34" charset="-122"/>
                </a:rPr>
                <a:t>实现</a:t>
              </a:r>
            </a:p>
          </p:txBody>
        </p:sp>
      </p:grpSp>
    </p:spTree>
    <p:extLst>
      <p:ext uri="{BB962C8B-B14F-4D97-AF65-F5344CB8AC3E}">
        <p14:creationId xmlns:p14="http://schemas.microsoft.com/office/powerpoint/2010/main" val="38463626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5C02615E-1C22-4149-84B5-0E1CF4D45C3C}"/>
              </a:ext>
            </a:extLst>
          </p:cNvPr>
          <p:cNvSpPr>
            <a:spLocks noGrp="1" noChangeArrowheads="1"/>
          </p:cNvSpPr>
          <p:nvPr>
            <p:ph type="title"/>
          </p:nvPr>
        </p:nvSpPr>
        <p:spPr>
          <a:xfrm>
            <a:off x="668104" y="71920"/>
            <a:ext cx="3775393" cy="707886"/>
          </a:xfrm>
        </p:spPr>
        <p:txBody>
          <a:bodyPr/>
          <a:lstStyle/>
          <a:p>
            <a:r>
              <a:rPr lang="zh-CN" altLang="en-US" dirty="0"/>
              <a:t>数据模型的分层</a:t>
            </a:r>
          </a:p>
        </p:txBody>
      </p:sp>
      <p:sp>
        <p:nvSpPr>
          <p:cNvPr id="65539" name="Rectangle 3">
            <a:extLst>
              <a:ext uri="{FF2B5EF4-FFF2-40B4-BE49-F238E27FC236}">
                <a16:creationId xmlns:a16="http://schemas.microsoft.com/office/drawing/2014/main" id="{9ED2A3C8-0D02-4FB7-A2E2-208A964109A1}"/>
              </a:ext>
            </a:extLst>
          </p:cNvPr>
          <p:cNvSpPr>
            <a:spLocks noGrp="1" noChangeArrowheads="1"/>
          </p:cNvSpPr>
          <p:nvPr>
            <p:ph type="body" idx="1"/>
          </p:nvPr>
        </p:nvSpPr>
        <p:spPr>
          <a:xfrm>
            <a:off x="609600" y="1124744"/>
            <a:ext cx="10972800" cy="4054475"/>
          </a:xfrm>
        </p:spPr>
        <p:txBody>
          <a:bodyPr/>
          <a:lstStyle/>
          <a:p>
            <a:pPr>
              <a:lnSpc>
                <a:spcPct val="150000"/>
              </a:lnSpc>
              <a:buFontTx/>
              <a:buNone/>
            </a:pPr>
            <a:r>
              <a:rPr lang="zh-CN" altLang="en-US" sz="2400" dirty="0"/>
              <a:t>一、概念数据模型（</a:t>
            </a:r>
            <a:r>
              <a:rPr lang="en-US" altLang="zh-CN" sz="2400" dirty="0"/>
              <a:t>Conceptual Data Model</a:t>
            </a:r>
            <a:r>
              <a:rPr lang="zh-CN" altLang="en-US" sz="2400" dirty="0"/>
              <a:t>）。</a:t>
            </a:r>
          </a:p>
          <a:p>
            <a:pPr>
              <a:lnSpc>
                <a:spcPct val="150000"/>
              </a:lnSpc>
            </a:pPr>
            <a:r>
              <a:rPr lang="zh-CN" altLang="en-US" sz="2400" dirty="0"/>
              <a:t>它是独门于计算机系统的模型，只是用来描述某个特定组织所关心的信息结构，按用户的观点对数据和信息建模，是对数据对象的基本表达和概括性描述。</a:t>
            </a:r>
          </a:p>
          <a:p>
            <a:pPr>
              <a:lnSpc>
                <a:spcPct val="150000"/>
              </a:lnSpc>
            </a:pPr>
            <a:r>
              <a:rPr lang="zh-CN" altLang="en-US" sz="2400" dirty="0"/>
              <a:t>是面向数据库用户的实现世界的模型，主要用来描述世界的概念化结构。</a:t>
            </a:r>
          </a:p>
          <a:p>
            <a:pPr>
              <a:lnSpc>
                <a:spcPct val="150000"/>
              </a:lnSpc>
            </a:pPr>
            <a:r>
              <a:rPr lang="zh-CN" altLang="en-US" sz="2400" dirty="0"/>
              <a:t>概念模型与具体的数据库管理系统（</a:t>
            </a:r>
            <a:r>
              <a:rPr lang="en-US" altLang="zh-CN" sz="2400" dirty="0"/>
              <a:t>Database Management System</a:t>
            </a:r>
            <a:r>
              <a:rPr lang="zh-CN" altLang="en-US" sz="2400" dirty="0"/>
              <a:t>，简称</a:t>
            </a:r>
            <a:r>
              <a:rPr lang="en-US" altLang="zh-CN" sz="2400" dirty="0"/>
              <a:t>DBMS</a:t>
            </a:r>
            <a:r>
              <a:rPr lang="zh-CN" altLang="en-US" sz="2400" dirty="0"/>
              <a:t>）无关。</a:t>
            </a:r>
          </a:p>
          <a:p>
            <a:pPr>
              <a:lnSpc>
                <a:spcPct val="150000"/>
              </a:lnSpc>
            </a:pPr>
            <a:r>
              <a:rPr lang="zh-CN" altLang="en-US" sz="2400" dirty="0"/>
              <a:t>在概念数据模型中最常用的是</a:t>
            </a:r>
            <a:r>
              <a:rPr lang="en-US" altLang="zh-CN" sz="2400" dirty="0"/>
              <a:t>E-R</a:t>
            </a:r>
            <a:r>
              <a:rPr lang="zh-CN" altLang="en-US" sz="2400" dirty="0"/>
              <a:t>模型、扩充的</a:t>
            </a:r>
            <a:r>
              <a:rPr lang="en-US" altLang="zh-CN" sz="2400" dirty="0"/>
              <a:t>E-R</a:t>
            </a:r>
            <a:r>
              <a:rPr lang="zh-CN" altLang="en-US" sz="2400" dirty="0"/>
              <a:t>模型、面向对象模型及谓词模型。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3223172"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概念模型示例</a:t>
            </a:r>
          </a:p>
        </p:txBody>
      </p:sp>
      <p:sp>
        <p:nvSpPr>
          <p:cNvPr id="5" name="Rectangle 2"/>
          <p:cNvSpPr txBox="1">
            <a:spLocks noChangeArrowheads="1"/>
          </p:cNvSpPr>
          <p:nvPr/>
        </p:nvSpPr>
        <p:spPr bwMode="auto">
          <a:xfrm>
            <a:off x="773969" y="1002705"/>
            <a:ext cx="10164638" cy="730770"/>
          </a:xfrm>
          <a:prstGeom prst="rect">
            <a:avLst/>
          </a:prstGeom>
          <a:noFill/>
          <a:ln w="9525">
            <a:noFill/>
            <a:miter lim="800000"/>
            <a:headEnd/>
            <a:tailEnd/>
          </a:ln>
          <a:effectLst/>
        </p:spPr>
        <p:txBody>
          <a:bodyPr/>
          <a:lstStyle/>
          <a:p>
            <a:pPr>
              <a:spcAft>
                <a:spcPct val="30000"/>
              </a:spcAft>
              <a:buClr>
                <a:srgbClr val="66FF33"/>
              </a:buClr>
              <a:buSzPct val="85000"/>
              <a:defRPr/>
            </a:pPr>
            <a:r>
              <a:rPr lang="zh-CN" altLang="en-US" sz="3200" kern="0" baseline="0" dirty="0">
                <a:effectLst>
                  <a:outerShdw blurRad="38100" dist="38100" dir="2700000" algn="tl">
                    <a:srgbClr val="000000"/>
                  </a:outerShdw>
                </a:effectLst>
                <a:latin typeface="微软雅黑" pitchFamily="34" charset="-122"/>
                <a:ea typeface="微软雅黑" pitchFamily="34" charset="-122"/>
              </a:rPr>
              <a:t>最常用的是 </a:t>
            </a:r>
            <a:r>
              <a:rPr lang="en-US" altLang="zh-CN" sz="3200" kern="0" baseline="0" dirty="0">
                <a:effectLst>
                  <a:outerShdw blurRad="38100" dist="38100" dir="2700000" algn="tl">
                    <a:srgbClr val="000000"/>
                  </a:outerShdw>
                </a:effectLst>
                <a:latin typeface="微软雅黑" pitchFamily="34" charset="-122"/>
                <a:ea typeface="微软雅黑" pitchFamily="34" charset="-122"/>
              </a:rPr>
              <a:t>E</a:t>
            </a:r>
            <a:r>
              <a:rPr lang="zh-CN" altLang="en-US" sz="3200" kern="0" baseline="0" dirty="0">
                <a:effectLst>
                  <a:outerShdw blurRad="38100" dist="38100" dir="2700000" algn="tl">
                    <a:srgbClr val="000000"/>
                  </a:outerShdw>
                </a:effectLst>
                <a:latin typeface="微软雅黑" pitchFamily="34" charset="-122"/>
                <a:ea typeface="微软雅黑" pitchFamily="34" charset="-122"/>
              </a:rPr>
              <a:t>－</a:t>
            </a:r>
            <a:r>
              <a:rPr lang="en-US" altLang="zh-CN" sz="3200" kern="0" baseline="0" dirty="0">
                <a:effectLst>
                  <a:outerShdw blurRad="38100" dist="38100" dir="2700000" algn="tl">
                    <a:srgbClr val="000000"/>
                  </a:outerShdw>
                </a:effectLst>
                <a:latin typeface="微软雅黑" pitchFamily="34" charset="-122"/>
                <a:ea typeface="微软雅黑" pitchFamily="34" charset="-122"/>
              </a:rPr>
              <a:t>R</a:t>
            </a:r>
            <a:r>
              <a:rPr lang="zh-CN" altLang="en-US" sz="3200" kern="0" baseline="0" dirty="0">
                <a:effectLst>
                  <a:outerShdw blurRad="38100" dist="38100" dir="2700000" algn="tl">
                    <a:srgbClr val="000000"/>
                  </a:outerShdw>
                </a:effectLst>
                <a:latin typeface="微软雅黑" pitchFamily="34" charset="-122"/>
                <a:ea typeface="微软雅黑" pitchFamily="34" charset="-122"/>
              </a:rPr>
              <a:t>模型 </a:t>
            </a:r>
            <a:r>
              <a:rPr lang="en-US" altLang="zh-CN" sz="3200" kern="0" baseline="0" dirty="0">
                <a:effectLst>
                  <a:outerShdw blurRad="38100" dist="38100" dir="2700000" algn="tl">
                    <a:srgbClr val="000000"/>
                  </a:outerShdw>
                </a:effectLst>
                <a:latin typeface="微软雅黑" pitchFamily="34" charset="-122"/>
                <a:ea typeface="微软雅黑" pitchFamily="34" charset="-122"/>
              </a:rPr>
              <a:t>( </a:t>
            </a:r>
            <a:r>
              <a:rPr lang="en-US" altLang="zh-CN" sz="3200" i="1" kern="0" baseline="0" dirty="0">
                <a:effectLst>
                  <a:outerShdw blurRad="38100" dist="38100" dir="2700000" algn="tl">
                    <a:srgbClr val="000000"/>
                  </a:outerShdw>
                </a:effectLst>
                <a:latin typeface="微软雅黑" pitchFamily="34" charset="-122"/>
                <a:ea typeface="微软雅黑" pitchFamily="34" charset="-122"/>
              </a:rPr>
              <a:t>Entity Relationship Model </a:t>
            </a:r>
            <a:r>
              <a:rPr lang="en-US" altLang="zh-CN" sz="3200" kern="0" baseline="0" dirty="0">
                <a:effectLst>
                  <a:outerShdw blurRad="38100" dist="38100" dir="2700000" algn="tl">
                    <a:srgbClr val="000000"/>
                  </a:outerShdw>
                </a:effectLst>
                <a:latin typeface="微软雅黑" pitchFamily="34" charset="-122"/>
                <a:ea typeface="微软雅黑" pitchFamily="34" charset="-122"/>
              </a:rPr>
              <a:t>)</a:t>
            </a:r>
            <a:endParaRPr lang="zh-CN" altLang="en-US" sz="3200" kern="0" baseline="0" dirty="0">
              <a:effectLst>
                <a:outerShdw blurRad="38100" dist="38100" dir="2700000" algn="tl">
                  <a:srgbClr val="000000"/>
                </a:outerShdw>
              </a:effectLst>
              <a:latin typeface="微软雅黑" pitchFamily="34" charset="-122"/>
              <a:ea typeface="微软雅黑" pitchFamily="34" charset="-122"/>
            </a:endParaRPr>
          </a:p>
        </p:txBody>
      </p:sp>
      <p:sp>
        <p:nvSpPr>
          <p:cNvPr id="14" name="AutoShape 135"/>
          <p:cNvSpPr>
            <a:spLocks noChangeArrowheads="1"/>
          </p:cNvSpPr>
          <p:nvPr/>
        </p:nvSpPr>
        <p:spPr bwMode="auto">
          <a:xfrm>
            <a:off x="298163" y="5786433"/>
            <a:ext cx="1001425" cy="394045"/>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dirty="0">
                <a:latin typeface="宋体" panose="02010600030101010101" pitchFamily="2" charset="-122"/>
              </a:rPr>
              <a:t>教工号</a:t>
            </a:r>
          </a:p>
        </p:txBody>
      </p:sp>
      <p:grpSp>
        <p:nvGrpSpPr>
          <p:cNvPr id="4" name="组合 3"/>
          <p:cNvGrpSpPr/>
          <p:nvPr/>
        </p:nvGrpSpPr>
        <p:grpSpPr>
          <a:xfrm>
            <a:off x="798876" y="1733475"/>
            <a:ext cx="10497642" cy="4935885"/>
            <a:chOff x="744126" y="2197819"/>
            <a:chExt cx="7979187" cy="4327525"/>
          </a:xfrm>
        </p:grpSpPr>
        <p:sp>
          <p:nvSpPr>
            <p:cNvPr id="6" name="Line 128"/>
            <p:cNvSpPr>
              <a:spLocks noChangeShapeType="1"/>
            </p:cNvSpPr>
            <p:nvPr/>
          </p:nvSpPr>
          <p:spPr bwMode="auto">
            <a:xfrm>
              <a:off x="7075488" y="4683844"/>
              <a:ext cx="0" cy="60960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sz="2000">
                <a:latin typeface="宋体" panose="02010600030101010101" pitchFamily="2" charset="-122"/>
              </a:endParaRPr>
            </a:p>
          </p:txBody>
        </p:sp>
        <p:sp>
          <p:nvSpPr>
            <p:cNvPr id="7" name="Line 129"/>
            <p:cNvSpPr>
              <a:spLocks noChangeShapeType="1"/>
            </p:cNvSpPr>
            <p:nvPr/>
          </p:nvSpPr>
          <p:spPr bwMode="auto">
            <a:xfrm>
              <a:off x="6770688" y="4683844"/>
              <a:ext cx="0" cy="60960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sz="2000">
                <a:latin typeface="宋体" panose="02010600030101010101" pitchFamily="2" charset="-122"/>
              </a:endParaRPr>
            </a:p>
          </p:txBody>
        </p:sp>
        <p:sp>
          <p:nvSpPr>
            <p:cNvPr id="9" name="Rectangle 130"/>
            <p:cNvSpPr>
              <a:spLocks noChangeArrowheads="1"/>
            </p:cNvSpPr>
            <p:nvPr/>
          </p:nvSpPr>
          <p:spPr bwMode="auto">
            <a:xfrm>
              <a:off x="2451100" y="4404444"/>
              <a:ext cx="685800" cy="320675"/>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000" baseline="0">
                  <a:latin typeface="宋体" panose="02010600030101010101" pitchFamily="2" charset="-122"/>
                </a:rPr>
                <a:t>课程</a:t>
              </a:r>
            </a:p>
          </p:txBody>
        </p:sp>
        <p:sp>
          <p:nvSpPr>
            <p:cNvPr id="10" name="AutoShape 131"/>
            <p:cNvSpPr>
              <a:spLocks noChangeArrowheads="1"/>
            </p:cNvSpPr>
            <p:nvPr/>
          </p:nvSpPr>
          <p:spPr bwMode="auto">
            <a:xfrm>
              <a:off x="1493838" y="3769444"/>
              <a:ext cx="762000" cy="287338"/>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dirty="0">
                  <a:latin typeface="宋体" panose="02010600030101010101" pitchFamily="2" charset="-122"/>
                </a:rPr>
                <a:t>课程号</a:t>
              </a:r>
            </a:p>
          </p:txBody>
        </p:sp>
        <p:sp>
          <p:nvSpPr>
            <p:cNvPr id="11" name="AutoShape 132"/>
            <p:cNvSpPr>
              <a:spLocks noChangeArrowheads="1"/>
            </p:cNvSpPr>
            <p:nvPr/>
          </p:nvSpPr>
          <p:spPr bwMode="auto">
            <a:xfrm>
              <a:off x="2408238" y="3769444"/>
              <a:ext cx="762000" cy="287338"/>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课程名</a:t>
              </a:r>
            </a:p>
          </p:txBody>
        </p:sp>
        <p:sp>
          <p:nvSpPr>
            <p:cNvPr id="12" name="AutoShape 133"/>
            <p:cNvSpPr>
              <a:spLocks noChangeArrowheads="1"/>
            </p:cNvSpPr>
            <p:nvPr/>
          </p:nvSpPr>
          <p:spPr bwMode="auto">
            <a:xfrm>
              <a:off x="3322638" y="3769444"/>
              <a:ext cx="685800" cy="287338"/>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学分</a:t>
              </a:r>
            </a:p>
          </p:txBody>
        </p:sp>
        <p:sp>
          <p:nvSpPr>
            <p:cNvPr id="13" name="Rectangle 134"/>
            <p:cNvSpPr>
              <a:spLocks noChangeArrowheads="1"/>
            </p:cNvSpPr>
            <p:nvPr/>
          </p:nvSpPr>
          <p:spPr bwMode="auto">
            <a:xfrm>
              <a:off x="901700" y="5231532"/>
              <a:ext cx="685800" cy="298450"/>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000" baseline="0">
                  <a:latin typeface="宋体" panose="02010600030101010101" pitchFamily="2" charset="-122"/>
                </a:rPr>
                <a:t>教师</a:t>
              </a:r>
            </a:p>
          </p:txBody>
        </p:sp>
        <p:sp>
          <p:nvSpPr>
            <p:cNvPr id="15" name="AutoShape 136"/>
            <p:cNvSpPr>
              <a:spLocks noChangeArrowheads="1"/>
            </p:cNvSpPr>
            <p:nvPr/>
          </p:nvSpPr>
          <p:spPr bwMode="auto">
            <a:xfrm>
              <a:off x="1044575" y="6245944"/>
              <a:ext cx="6858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姓名</a:t>
              </a:r>
            </a:p>
          </p:txBody>
        </p:sp>
        <p:sp>
          <p:nvSpPr>
            <p:cNvPr id="16" name="AutoShape 137"/>
            <p:cNvSpPr>
              <a:spLocks noChangeArrowheads="1"/>
            </p:cNvSpPr>
            <p:nvPr/>
          </p:nvSpPr>
          <p:spPr bwMode="auto">
            <a:xfrm>
              <a:off x="1476375" y="5885582"/>
              <a:ext cx="6858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性别</a:t>
              </a:r>
            </a:p>
          </p:txBody>
        </p:sp>
        <p:sp>
          <p:nvSpPr>
            <p:cNvPr id="17" name="AutoShape 138"/>
            <p:cNvSpPr>
              <a:spLocks noChangeArrowheads="1"/>
            </p:cNvSpPr>
            <p:nvPr/>
          </p:nvSpPr>
          <p:spPr bwMode="auto">
            <a:xfrm>
              <a:off x="2268538" y="5885582"/>
              <a:ext cx="6858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职称</a:t>
              </a:r>
            </a:p>
          </p:txBody>
        </p:sp>
        <p:sp>
          <p:nvSpPr>
            <p:cNvPr id="18" name="Rectangle 139"/>
            <p:cNvSpPr>
              <a:spLocks noChangeArrowheads="1"/>
            </p:cNvSpPr>
            <p:nvPr/>
          </p:nvSpPr>
          <p:spPr bwMode="auto">
            <a:xfrm>
              <a:off x="4284663" y="5195019"/>
              <a:ext cx="1066800" cy="371475"/>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000" baseline="0">
                  <a:latin typeface="宋体" panose="02010600030101010101" pitchFamily="2" charset="-122"/>
                </a:rPr>
                <a:t>参考书</a:t>
              </a:r>
            </a:p>
          </p:txBody>
        </p:sp>
        <p:sp>
          <p:nvSpPr>
            <p:cNvPr id="19" name="AutoShape 140"/>
            <p:cNvSpPr>
              <a:spLocks noChangeArrowheads="1"/>
            </p:cNvSpPr>
            <p:nvPr/>
          </p:nvSpPr>
          <p:spPr bwMode="auto">
            <a:xfrm>
              <a:off x="3636963" y="6117357"/>
              <a:ext cx="609600" cy="27305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书号</a:t>
              </a:r>
            </a:p>
          </p:txBody>
        </p:sp>
        <p:sp>
          <p:nvSpPr>
            <p:cNvPr id="20" name="AutoShape 141"/>
            <p:cNvSpPr>
              <a:spLocks noChangeArrowheads="1"/>
            </p:cNvSpPr>
            <p:nvPr/>
          </p:nvSpPr>
          <p:spPr bwMode="auto">
            <a:xfrm>
              <a:off x="4322763" y="6096719"/>
              <a:ext cx="6858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书名</a:t>
              </a:r>
            </a:p>
          </p:txBody>
        </p:sp>
        <p:sp>
          <p:nvSpPr>
            <p:cNvPr id="21" name="AutoShape 142"/>
            <p:cNvSpPr>
              <a:spLocks noChangeArrowheads="1"/>
            </p:cNvSpPr>
            <p:nvPr/>
          </p:nvSpPr>
          <p:spPr bwMode="auto">
            <a:xfrm>
              <a:off x="5086350" y="6096719"/>
              <a:ext cx="86995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出版社</a:t>
              </a:r>
            </a:p>
          </p:txBody>
        </p:sp>
        <p:sp>
          <p:nvSpPr>
            <p:cNvPr id="22" name="AutoShape 143"/>
            <p:cNvSpPr>
              <a:spLocks noChangeArrowheads="1"/>
            </p:cNvSpPr>
            <p:nvPr/>
          </p:nvSpPr>
          <p:spPr bwMode="auto">
            <a:xfrm>
              <a:off x="6037263" y="6096719"/>
              <a:ext cx="6858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主编</a:t>
              </a:r>
            </a:p>
          </p:txBody>
        </p:sp>
        <p:sp>
          <p:nvSpPr>
            <p:cNvPr id="23" name="Rectangle 144"/>
            <p:cNvSpPr>
              <a:spLocks noChangeArrowheads="1"/>
            </p:cNvSpPr>
            <p:nvPr/>
          </p:nvSpPr>
          <p:spPr bwMode="auto">
            <a:xfrm>
              <a:off x="6481763" y="4404444"/>
              <a:ext cx="762000" cy="320675"/>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000" baseline="0">
                  <a:latin typeface="宋体" panose="02010600030101010101" pitchFamily="2" charset="-122"/>
                </a:rPr>
                <a:t>学生</a:t>
              </a:r>
            </a:p>
          </p:txBody>
        </p:sp>
        <p:sp>
          <p:nvSpPr>
            <p:cNvPr id="24" name="AutoShape 145"/>
            <p:cNvSpPr>
              <a:spLocks noChangeArrowheads="1"/>
            </p:cNvSpPr>
            <p:nvPr/>
          </p:nvSpPr>
          <p:spPr bwMode="auto">
            <a:xfrm>
              <a:off x="7967663" y="3920257"/>
              <a:ext cx="755650" cy="246062"/>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学号</a:t>
              </a:r>
            </a:p>
          </p:txBody>
        </p:sp>
        <p:sp>
          <p:nvSpPr>
            <p:cNvPr id="25" name="AutoShape 146"/>
            <p:cNvSpPr>
              <a:spLocks noChangeArrowheads="1"/>
            </p:cNvSpPr>
            <p:nvPr/>
          </p:nvSpPr>
          <p:spPr bwMode="auto">
            <a:xfrm>
              <a:off x="7967663" y="4239344"/>
              <a:ext cx="755650" cy="25241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姓名</a:t>
              </a:r>
            </a:p>
          </p:txBody>
        </p:sp>
        <p:sp>
          <p:nvSpPr>
            <p:cNvPr id="26" name="AutoShape 147"/>
            <p:cNvSpPr>
              <a:spLocks noChangeArrowheads="1"/>
            </p:cNvSpPr>
            <p:nvPr/>
          </p:nvSpPr>
          <p:spPr bwMode="auto">
            <a:xfrm>
              <a:off x="7967663" y="4987057"/>
              <a:ext cx="755650" cy="252412"/>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性别</a:t>
              </a:r>
            </a:p>
          </p:txBody>
        </p:sp>
        <p:sp>
          <p:nvSpPr>
            <p:cNvPr id="27" name="AutoShape 148"/>
            <p:cNvSpPr>
              <a:spLocks noChangeArrowheads="1"/>
            </p:cNvSpPr>
            <p:nvPr/>
          </p:nvSpPr>
          <p:spPr bwMode="auto">
            <a:xfrm>
              <a:off x="7967663" y="4585419"/>
              <a:ext cx="755650" cy="25241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年龄</a:t>
              </a:r>
            </a:p>
          </p:txBody>
        </p:sp>
        <p:sp>
          <p:nvSpPr>
            <p:cNvPr id="28" name="Rectangle 149"/>
            <p:cNvSpPr>
              <a:spLocks noChangeArrowheads="1"/>
            </p:cNvSpPr>
            <p:nvPr/>
          </p:nvSpPr>
          <p:spPr bwMode="auto">
            <a:xfrm>
              <a:off x="6481763" y="2755032"/>
              <a:ext cx="762000" cy="344487"/>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000" baseline="0">
                  <a:latin typeface="宋体" panose="02010600030101010101" pitchFamily="2" charset="-122"/>
                </a:rPr>
                <a:t>班级</a:t>
              </a:r>
            </a:p>
          </p:txBody>
        </p:sp>
        <p:sp>
          <p:nvSpPr>
            <p:cNvPr id="29" name="AutoShape 150"/>
            <p:cNvSpPr>
              <a:spLocks noChangeArrowheads="1"/>
            </p:cNvSpPr>
            <p:nvPr/>
          </p:nvSpPr>
          <p:spPr bwMode="auto">
            <a:xfrm>
              <a:off x="6005513" y="2197819"/>
              <a:ext cx="755650" cy="33496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dirty="0">
                  <a:latin typeface="宋体" panose="02010600030101010101" pitchFamily="2" charset="-122"/>
                </a:rPr>
                <a:t>班号</a:t>
              </a:r>
            </a:p>
          </p:txBody>
        </p:sp>
        <p:sp>
          <p:nvSpPr>
            <p:cNvPr id="30" name="AutoShape 151"/>
            <p:cNvSpPr>
              <a:spLocks noChangeArrowheads="1"/>
            </p:cNvSpPr>
            <p:nvPr/>
          </p:nvSpPr>
          <p:spPr bwMode="auto">
            <a:xfrm>
              <a:off x="6919913" y="2197819"/>
              <a:ext cx="755650" cy="33496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班名</a:t>
              </a:r>
            </a:p>
          </p:txBody>
        </p:sp>
        <p:cxnSp>
          <p:nvCxnSpPr>
            <p:cNvPr id="31" name="AutoShape 152"/>
            <p:cNvCxnSpPr>
              <a:cxnSpLocks noChangeShapeType="1"/>
              <a:stCxn id="10" idx="2"/>
              <a:endCxn id="9" idx="0"/>
            </p:cNvCxnSpPr>
            <p:nvPr/>
          </p:nvCxnSpPr>
          <p:spPr bwMode="auto">
            <a:xfrm>
              <a:off x="1874838" y="4056782"/>
              <a:ext cx="919162" cy="3476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2" name="AutoShape 153"/>
            <p:cNvCxnSpPr>
              <a:cxnSpLocks noChangeShapeType="1"/>
              <a:stCxn id="11" idx="2"/>
              <a:endCxn id="9" idx="0"/>
            </p:cNvCxnSpPr>
            <p:nvPr/>
          </p:nvCxnSpPr>
          <p:spPr bwMode="auto">
            <a:xfrm>
              <a:off x="2789238" y="4056782"/>
              <a:ext cx="4762" cy="3476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3" name="AutoShape 154"/>
            <p:cNvCxnSpPr>
              <a:cxnSpLocks noChangeShapeType="1"/>
              <a:stCxn id="12" idx="2"/>
              <a:endCxn id="9" idx="0"/>
            </p:cNvCxnSpPr>
            <p:nvPr/>
          </p:nvCxnSpPr>
          <p:spPr bwMode="auto">
            <a:xfrm flipH="1">
              <a:off x="2794000" y="4056782"/>
              <a:ext cx="871538" cy="3476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4" name="AutoShape 155"/>
            <p:cNvCxnSpPr>
              <a:cxnSpLocks noChangeShapeType="1"/>
              <a:stCxn id="13" idx="2"/>
              <a:endCxn id="14" idx="0"/>
            </p:cNvCxnSpPr>
            <p:nvPr/>
          </p:nvCxnSpPr>
          <p:spPr bwMode="auto">
            <a:xfrm flipH="1">
              <a:off x="744126" y="5529982"/>
              <a:ext cx="500474" cy="22125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5" name="AutoShape 156"/>
            <p:cNvCxnSpPr>
              <a:cxnSpLocks noChangeShapeType="1"/>
              <a:stCxn id="13" idx="2"/>
              <a:endCxn id="15" idx="0"/>
            </p:cNvCxnSpPr>
            <p:nvPr/>
          </p:nvCxnSpPr>
          <p:spPr bwMode="auto">
            <a:xfrm>
              <a:off x="1244600" y="5529982"/>
              <a:ext cx="142875" cy="7159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6" name="AutoShape 157"/>
            <p:cNvCxnSpPr>
              <a:cxnSpLocks noChangeShapeType="1"/>
              <a:stCxn id="13" idx="2"/>
              <a:endCxn id="16" idx="0"/>
            </p:cNvCxnSpPr>
            <p:nvPr/>
          </p:nvCxnSpPr>
          <p:spPr bwMode="auto">
            <a:xfrm>
              <a:off x="1244600" y="5529982"/>
              <a:ext cx="574675" cy="3556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7" name="AutoShape 158"/>
            <p:cNvCxnSpPr>
              <a:cxnSpLocks noChangeShapeType="1"/>
              <a:stCxn id="13" idx="2"/>
              <a:endCxn id="17" idx="0"/>
            </p:cNvCxnSpPr>
            <p:nvPr/>
          </p:nvCxnSpPr>
          <p:spPr bwMode="auto">
            <a:xfrm>
              <a:off x="1244600" y="5529982"/>
              <a:ext cx="1366838" cy="3556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8" name="AutoShape 159"/>
            <p:cNvCxnSpPr>
              <a:cxnSpLocks noChangeShapeType="1"/>
              <a:stCxn id="18" idx="2"/>
              <a:endCxn id="19" idx="0"/>
            </p:cNvCxnSpPr>
            <p:nvPr/>
          </p:nvCxnSpPr>
          <p:spPr bwMode="auto">
            <a:xfrm flipH="1">
              <a:off x="3941763" y="5566494"/>
              <a:ext cx="876300" cy="55086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9" name="AutoShape 160"/>
            <p:cNvCxnSpPr>
              <a:cxnSpLocks noChangeShapeType="1"/>
              <a:stCxn id="18" idx="2"/>
              <a:endCxn id="20" idx="0"/>
            </p:cNvCxnSpPr>
            <p:nvPr/>
          </p:nvCxnSpPr>
          <p:spPr bwMode="auto">
            <a:xfrm flipH="1">
              <a:off x="4665663" y="5566494"/>
              <a:ext cx="152400" cy="5302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0" name="AutoShape 161"/>
            <p:cNvCxnSpPr>
              <a:cxnSpLocks noChangeShapeType="1"/>
              <a:stCxn id="18" idx="2"/>
              <a:endCxn id="21" idx="0"/>
            </p:cNvCxnSpPr>
            <p:nvPr/>
          </p:nvCxnSpPr>
          <p:spPr bwMode="auto">
            <a:xfrm>
              <a:off x="4818063" y="5566494"/>
              <a:ext cx="703262" cy="5302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1" name="AutoShape 162"/>
            <p:cNvCxnSpPr>
              <a:cxnSpLocks noChangeShapeType="1"/>
              <a:stCxn id="18" idx="2"/>
              <a:endCxn id="22" idx="0"/>
            </p:cNvCxnSpPr>
            <p:nvPr/>
          </p:nvCxnSpPr>
          <p:spPr bwMode="auto">
            <a:xfrm>
              <a:off x="4818063" y="5566494"/>
              <a:ext cx="1562100" cy="5302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2" name="AutoShape 163"/>
            <p:cNvCxnSpPr>
              <a:cxnSpLocks noChangeShapeType="1"/>
              <a:stCxn id="23" idx="3"/>
              <a:endCxn id="24" idx="1"/>
            </p:cNvCxnSpPr>
            <p:nvPr/>
          </p:nvCxnSpPr>
          <p:spPr bwMode="auto">
            <a:xfrm flipV="1">
              <a:off x="7243763" y="4044082"/>
              <a:ext cx="723900" cy="5207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3" name="AutoShape 164"/>
            <p:cNvCxnSpPr>
              <a:cxnSpLocks noChangeShapeType="1"/>
              <a:stCxn id="23" idx="3"/>
              <a:endCxn id="25" idx="1"/>
            </p:cNvCxnSpPr>
            <p:nvPr/>
          </p:nvCxnSpPr>
          <p:spPr bwMode="auto">
            <a:xfrm flipV="1">
              <a:off x="7243763" y="4366344"/>
              <a:ext cx="723900" cy="1984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4" name="AutoShape 165"/>
            <p:cNvCxnSpPr>
              <a:cxnSpLocks noChangeShapeType="1"/>
              <a:stCxn id="23" idx="3"/>
              <a:endCxn id="27" idx="1"/>
            </p:cNvCxnSpPr>
            <p:nvPr/>
          </p:nvCxnSpPr>
          <p:spPr bwMode="auto">
            <a:xfrm>
              <a:off x="7243763" y="4564782"/>
              <a:ext cx="723900" cy="14763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5" name="AutoShape 166"/>
            <p:cNvCxnSpPr>
              <a:cxnSpLocks noChangeShapeType="1"/>
              <a:stCxn id="23" idx="3"/>
              <a:endCxn id="26" idx="1"/>
            </p:cNvCxnSpPr>
            <p:nvPr/>
          </p:nvCxnSpPr>
          <p:spPr bwMode="auto">
            <a:xfrm>
              <a:off x="7243763" y="4564782"/>
              <a:ext cx="723900" cy="54927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6" name="AutoShape 167"/>
            <p:cNvCxnSpPr>
              <a:cxnSpLocks noChangeShapeType="1"/>
              <a:stCxn id="28" idx="0"/>
              <a:endCxn id="29" idx="2"/>
            </p:cNvCxnSpPr>
            <p:nvPr/>
          </p:nvCxnSpPr>
          <p:spPr bwMode="auto">
            <a:xfrm flipH="1" flipV="1">
              <a:off x="6383338" y="2532782"/>
              <a:ext cx="479425" cy="22225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7" name="AutoShape 168"/>
            <p:cNvCxnSpPr>
              <a:cxnSpLocks noChangeShapeType="1"/>
              <a:stCxn id="28" idx="0"/>
              <a:endCxn id="30" idx="2"/>
            </p:cNvCxnSpPr>
            <p:nvPr/>
          </p:nvCxnSpPr>
          <p:spPr bwMode="auto">
            <a:xfrm flipV="1">
              <a:off x="6862763" y="2532782"/>
              <a:ext cx="434975" cy="22225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48" name="AutoShape 169"/>
            <p:cNvSpPr>
              <a:spLocks noChangeArrowheads="1"/>
            </p:cNvSpPr>
            <p:nvPr/>
          </p:nvSpPr>
          <p:spPr bwMode="auto">
            <a:xfrm>
              <a:off x="4460875" y="4336182"/>
              <a:ext cx="1219200" cy="457200"/>
            </a:xfrm>
            <a:prstGeom prst="diamond">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000" baseline="0">
                  <a:latin typeface="宋体" panose="02010600030101010101" pitchFamily="2" charset="-122"/>
                </a:rPr>
                <a:t>选修</a:t>
              </a:r>
            </a:p>
          </p:txBody>
        </p:sp>
        <p:sp>
          <p:nvSpPr>
            <p:cNvPr id="49" name="AutoShape 170"/>
            <p:cNvSpPr>
              <a:spLocks noChangeArrowheads="1"/>
            </p:cNvSpPr>
            <p:nvPr/>
          </p:nvSpPr>
          <p:spPr bwMode="auto">
            <a:xfrm>
              <a:off x="4692650" y="3542432"/>
              <a:ext cx="75565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成绩</a:t>
              </a:r>
            </a:p>
          </p:txBody>
        </p:sp>
        <p:cxnSp>
          <p:nvCxnSpPr>
            <p:cNvPr id="50" name="AutoShape 171"/>
            <p:cNvCxnSpPr>
              <a:cxnSpLocks noChangeShapeType="1"/>
              <a:stCxn id="49" idx="2"/>
              <a:endCxn id="48" idx="0"/>
            </p:cNvCxnSpPr>
            <p:nvPr/>
          </p:nvCxnSpPr>
          <p:spPr bwMode="auto">
            <a:xfrm>
              <a:off x="5070475" y="3821832"/>
              <a:ext cx="0" cy="51435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51" name="AutoShape 172"/>
            <p:cNvCxnSpPr>
              <a:cxnSpLocks noChangeShapeType="1"/>
              <a:stCxn id="9" idx="3"/>
              <a:endCxn id="48" idx="1"/>
            </p:cNvCxnSpPr>
            <p:nvPr/>
          </p:nvCxnSpPr>
          <p:spPr bwMode="auto">
            <a:xfrm>
              <a:off x="3136900" y="4564782"/>
              <a:ext cx="1323975"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52" name="AutoShape 173"/>
            <p:cNvCxnSpPr>
              <a:cxnSpLocks noChangeShapeType="1"/>
              <a:stCxn id="48" idx="3"/>
              <a:endCxn id="23" idx="1"/>
            </p:cNvCxnSpPr>
            <p:nvPr/>
          </p:nvCxnSpPr>
          <p:spPr bwMode="auto">
            <a:xfrm>
              <a:off x="5680075" y="4564782"/>
              <a:ext cx="801688"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53" name="AutoShape 174"/>
            <p:cNvSpPr>
              <a:spLocks noChangeArrowheads="1"/>
            </p:cNvSpPr>
            <p:nvPr/>
          </p:nvSpPr>
          <p:spPr bwMode="auto">
            <a:xfrm>
              <a:off x="6253163" y="3577357"/>
              <a:ext cx="1219200" cy="457200"/>
            </a:xfrm>
            <a:prstGeom prst="diamond">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000" baseline="0">
                  <a:latin typeface="宋体" panose="02010600030101010101" pitchFamily="2" charset="-122"/>
                </a:rPr>
                <a:t>组成</a:t>
              </a:r>
            </a:p>
          </p:txBody>
        </p:sp>
        <p:cxnSp>
          <p:nvCxnSpPr>
            <p:cNvPr id="54" name="AutoShape 175"/>
            <p:cNvCxnSpPr>
              <a:cxnSpLocks noChangeShapeType="1"/>
              <a:stCxn id="28" idx="2"/>
              <a:endCxn id="53" idx="0"/>
            </p:cNvCxnSpPr>
            <p:nvPr/>
          </p:nvCxnSpPr>
          <p:spPr bwMode="auto">
            <a:xfrm>
              <a:off x="6862763" y="3099519"/>
              <a:ext cx="0" cy="4778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55" name="AutoShape 176"/>
            <p:cNvCxnSpPr>
              <a:cxnSpLocks noChangeShapeType="1"/>
              <a:stCxn id="53" idx="2"/>
              <a:endCxn id="23" idx="0"/>
            </p:cNvCxnSpPr>
            <p:nvPr/>
          </p:nvCxnSpPr>
          <p:spPr bwMode="auto">
            <a:xfrm>
              <a:off x="6862763" y="4034557"/>
              <a:ext cx="0" cy="36988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56" name="AutoShape 177"/>
            <p:cNvSpPr>
              <a:spLocks noChangeArrowheads="1"/>
            </p:cNvSpPr>
            <p:nvPr/>
          </p:nvSpPr>
          <p:spPr bwMode="auto">
            <a:xfrm>
              <a:off x="7788275" y="3275732"/>
              <a:ext cx="755650" cy="334962"/>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rPr>
                <a:t>人数</a:t>
              </a:r>
            </a:p>
          </p:txBody>
        </p:sp>
        <p:cxnSp>
          <p:nvCxnSpPr>
            <p:cNvPr id="57" name="AutoShape 178"/>
            <p:cNvCxnSpPr>
              <a:cxnSpLocks noChangeShapeType="1"/>
              <a:stCxn id="53" idx="3"/>
              <a:endCxn id="56" idx="1"/>
            </p:cNvCxnSpPr>
            <p:nvPr/>
          </p:nvCxnSpPr>
          <p:spPr bwMode="auto">
            <a:xfrm flipV="1">
              <a:off x="7472363" y="3444007"/>
              <a:ext cx="315912" cy="36195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58" name="AutoShape 179"/>
            <p:cNvSpPr>
              <a:spLocks noChangeArrowheads="1"/>
            </p:cNvSpPr>
            <p:nvPr/>
          </p:nvSpPr>
          <p:spPr bwMode="auto">
            <a:xfrm>
              <a:off x="2184400" y="5152157"/>
              <a:ext cx="1219200" cy="457200"/>
            </a:xfrm>
            <a:prstGeom prst="diamond">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000" baseline="0">
                  <a:latin typeface="宋体" panose="02010600030101010101" pitchFamily="2" charset="-122"/>
                </a:rPr>
                <a:t>讲授</a:t>
              </a:r>
            </a:p>
          </p:txBody>
        </p:sp>
        <p:cxnSp>
          <p:nvCxnSpPr>
            <p:cNvPr id="59" name="AutoShape 180"/>
            <p:cNvCxnSpPr>
              <a:cxnSpLocks noChangeShapeType="1"/>
              <a:stCxn id="9" idx="2"/>
              <a:endCxn id="58" idx="0"/>
            </p:cNvCxnSpPr>
            <p:nvPr/>
          </p:nvCxnSpPr>
          <p:spPr bwMode="auto">
            <a:xfrm rot="5400000">
              <a:off x="2580481" y="4938638"/>
              <a:ext cx="427038"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60" name="AutoShape 181"/>
            <p:cNvCxnSpPr>
              <a:cxnSpLocks noChangeShapeType="1"/>
              <a:stCxn id="58" idx="1"/>
              <a:endCxn id="13" idx="3"/>
            </p:cNvCxnSpPr>
            <p:nvPr/>
          </p:nvCxnSpPr>
          <p:spPr bwMode="auto">
            <a:xfrm rot="10800000">
              <a:off x="1587500" y="5380757"/>
              <a:ext cx="596900"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61" name="AutoShape 182"/>
            <p:cNvCxnSpPr>
              <a:cxnSpLocks noChangeShapeType="1"/>
              <a:stCxn id="58" idx="3"/>
              <a:endCxn id="18" idx="1"/>
            </p:cNvCxnSpPr>
            <p:nvPr/>
          </p:nvCxnSpPr>
          <p:spPr bwMode="auto">
            <a:xfrm>
              <a:off x="3403600" y="5380757"/>
              <a:ext cx="881063"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62" name="Rectangle 183"/>
            <p:cNvSpPr>
              <a:spLocks noChangeArrowheads="1"/>
            </p:cNvSpPr>
            <p:nvPr/>
          </p:nvSpPr>
          <p:spPr bwMode="auto">
            <a:xfrm>
              <a:off x="3702050" y="4282207"/>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000" baseline="0">
                  <a:latin typeface="宋体" panose="02010600030101010101" pitchFamily="2" charset="-122"/>
                </a:rPr>
                <a:t>m</a:t>
              </a:r>
            </a:p>
          </p:txBody>
        </p:sp>
        <p:sp>
          <p:nvSpPr>
            <p:cNvPr id="63" name="Rectangle 184"/>
            <p:cNvSpPr>
              <a:spLocks noChangeArrowheads="1"/>
            </p:cNvSpPr>
            <p:nvPr/>
          </p:nvSpPr>
          <p:spPr bwMode="auto">
            <a:xfrm>
              <a:off x="5856288" y="4302844"/>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000" baseline="0">
                  <a:latin typeface="宋体" panose="02010600030101010101" pitchFamily="2" charset="-122"/>
                </a:rPr>
                <a:t>n</a:t>
              </a:r>
            </a:p>
          </p:txBody>
        </p:sp>
        <p:sp>
          <p:nvSpPr>
            <p:cNvPr id="64" name="AutoShape 185"/>
            <p:cNvSpPr>
              <a:spLocks noChangeArrowheads="1"/>
            </p:cNvSpPr>
            <p:nvPr/>
          </p:nvSpPr>
          <p:spPr bwMode="auto">
            <a:xfrm>
              <a:off x="6313488" y="5141044"/>
              <a:ext cx="1219200" cy="457200"/>
            </a:xfrm>
            <a:prstGeom prst="diamond">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000" baseline="0">
                  <a:latin typeface="宋体" panose="02010600030101010101" pitchFamily="2" charset="-122"/>
                </a:rPr>
                <a:t>领导</a:t>
              </a:r>
            </a:p>
          </p:txBody>
        </p:sp>
        <p:sp>
          <p:nvSpPr>
            <p:cNvPr id="65" name="Rectangle 186"/>
            <p:cNvSpPr>
              <a:spLocks noChangeArrowheads="1"/>
            </p:cNvSpPr>
            <p:nvPr/>
          </p:nvSpPr>
          <p:spPr bwMode="auto">
            <a:xfrm>
              <a:off x="6635750" y="4077419"/>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000" baseline="0">
                  <a:latin typeface="宋体" panose="02010600030101010101" pitchFamily="2" charset="-122"/>
                </a:rPr>
                <a:t>n</a:t>
              </a:r>
            </a:p>
          </p:txBody>
        </p:sp>
        <p:sp>
          <p:nvSpPr>
            <p:cNvPr id="66" name="Rectangle 187"/>
            <p:cNvSpPr>
              <a:spLocks noChangeArrowheads="1"/>
            </p:cNvSpPr>
            <p:nvPr/>
          </p:nvSpPr>
          <p:spPr bwMode="auto">
            <a:xfrm>
              <a:off x="6769100" y="3267794"/>
              <a:ext cx="457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000" baseline="0">
                  <a:latin typeface="宋体" panose="02010600030101010101" pitchFamily="2" charset="-122"/>
                </a:rPr>
                <a:t>1</a:t>
              </a:r>
            </a:p>
          </p:txBody>
        </p:sp>
        <p:sp>
          <p:nvSpPr>
            <p:cNvPr id="67" name="Rectangle 188"/>
            <p:cNvSpPr>
              <a:spLocks noChangeArrowheads="1"/>
            </p:cNvSpPr>
            <p:nvPr/>
          </p:nvSpPr>
          <p:spPr bwMode="auto">
            <a:xfrm>
              <a:off x="6389688" y="4836244"/>
              <a:ext cx="457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000" baseline="0">
                  <a:latin typeface="宋体" panose="02010600030101010101" pitchFamily="2" charset="-122"/>
                </a:rPr>
                <a:t>1</a:t>
              </a:r>
            </a:p>
          </p:txBody>
        </p:sp>
        <p:sp>
          <p:nvSpPr>
            <p:cNvPr id="68" name="Rectangle 189"/>
            <p:cNvSpPr>
              <a:spLocks noChangeArrowheads="1"/>
            </p:cNvSpPr>
            <p:nvPr/>
          </p:nvSpPr>
          <p:spPr bwMode="auto">
            <a:xfrm>
              <a:off x="6846888" y="4836244"/>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000" baseline="0">
                  <a:latin typeface="宋体" panose="02010600030101010101" pitchFamily="2" charset="-122"/>
                </a:rPr>
                <a:t>n</a:t>
              </a:r>
            </a:p>
          </p:txBody>
        </p:sp>
        <p:sp>
          <p:nvSpPr>
            <p:cNvPr id="69" name="Rectangle 190"/>
            <p:cNvSpPr>
              <a:spLocks noChangeArrowheads="1"/>
            </p:cNvSpPr>
            <p:nvPr/>
          </p:nvSpPr>
          <p:spPr bwMode="auto">
            <a:xfrm>
              <a:off x="2379663" y="4798144"/>
              <a:ext cx="457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000" baseline="0">
                  <a:latin typeface="宋体" panose="02010600030101010101" pitchFamily="2" charset="-122"/>
                </a:rPr>
                <a:t>m</a:t>
              </a:r>
            </a:p>
          </p:txBody>
        </p:sp>
        <p:sp>
          <p:nvSpPr>
            <p:cNvPr id="70" name="Rectangle 191"/>
            <p:cNvSpPr>
              <a:spLocks noChangeArrowheads="1"/>
            </p:cNvSpPr>
            <p:nvPr/>
          </p:nvSpPr>
          <p:spPr bwMode="auto">
            <a:xfrm>
              <a:off x="1455738" y="5101357"/>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000" baseline="0">
                  <a:latin typeface="宋体" panose="02010600030101010101" pitchFamily="2" charset="-122"/>
                </a:rPr>
                <a:t>n</a:t>
              </a:r>
            </a:p>
          </p:txBody>
        </p:sp>
        <p:sp>
          <p:nvSpPr>
            <p:cNvPr id="71" name="Rectangle 192"/>
            <p:cNvSpPr>
              <a:spLocks noChangeArrowheads="1"/>
            </p:cNvSpPr>
            <p:nvPr/>
          </p:nvSpPr>
          <p:spPr bwMode="auto">
            <a:xfrm>
              <a:off x="3421063" y="5093419"/>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000" baseline="0">
                  <a:latin typeface="宋体" panose="02010600030101010101" pitchFamily="2" charset="-122"/>
                </a:rPr>
                <a:t>p</a:t>
              </a:r>
            </a:p>
          </p:txBody>
        </p:sp>
      </p:grpSp>
      <p:grpSp>
        <p:nvGrpSpPr>
          <p:cNvPr id="72" name="Group 193"/>
          <p:cNvGrpSpPr>
            <a:grpSpLocks/>
          </p:cNvGrpSpPr>
          <p:nvPr/>
        </p:nvGrpSpPr>
        <p:grpSpPr bwMode="auto">
          <a:xfrm>
            <a:off x="893516" y="1877618"/>
            <a:ext cx="1800225" cy="936625"/>
            <a:chOff x="2154" y="1389"/>
            <a:chExt cx="1134" cy="590"/>
          </a:xfrm>
        </p:grpSpPr>
        <p:sp>
          <p:nvSpPr>
            <p:cNvPr id="73" name="Rectangle 194"/>
            <p:cNvSpPr>
              <a:spLocks noChangeArrowheads="1"/>
            </p:cNvSpPr>
            <p:nvPr/>
          </p:nvSpPr>
          <p:spPr bwMode="auto">
            <a:xfrm>
              <a:off x="2154" y="1389"/>
              <a:ext cx="1134" cy="590"/>
            </a:xfrm>
            <a:prstGeom prst="rect">
              <a:avLst/>
            </a:prstGeom>
            <a:solidFill>
              <a:schemeClr val="hlink"/>
            </a:solidFill>
            <a:ln w="12700" cap="sq">
              <a:solidFill>
                <a:schemeClr val="tx1"/>
              </a:solidFill>
              <a:miter lim="800000"/>
              <a:headEnd/>
              <a:tailEnd/>
            </a:ln>
            <a:effectLst>
              <a:outerShdw dist="107763" dir="2700000" algn="ctr" rotWithShape="0">
                <a:schemeClr val="bg2">
                  <a:alpha val="50000"/>
                </a:schemeClr>
              </a:outerShdw>
            </a:effectLst>
          </p:spPr>
          <p:txBody>
            <a:bodyPr wrap="none" lIns="0" tIns="0" rIns="0" bIns="0" anchor="ctr"/>
            <a:lstStyle/>
            <a:p>
              <a:pPr>
                <a:defRPr/>
              </a:pPr>
              <a:endParaRPr lang="zh-CN" altLang="en-US">
                <a:ea typeface="宋体" pitchFamily="2" charset="-122"/>
              </a:endParaRPr>
            </a:p>
          </p:txBody>
        </p:sp>
        <p:sp>
          <p:nvSpPr>
            <p:cNvPr id="74" name="Rectangle 195"/>
            <p:cNvSpPr>
              <a:spLocks noChangeArrowheads="1"/>
            </p:cNvSpPr>
            <p:nvPr/>
          </p:nvSpPr>
          <p:spPr bwMode="auto">
            <a:xfrm>
              <a:off x="2226" y="1433"/>
              <a:ext cx="453" cy="152"/>
            </a:xfrm>
            <a:prstGeom prst="rect">
              <a:avLst/>
            </a:prstGeom>
            <a:solidFill>
              <a:schemeClr val="bg1"/>
            </a:solidFill>
            <a:ln w="12700" cap="sq">
              <a:solidFill>
                <a:schemeClr val="tx1"/>
              </a:solidFill>
              <a:miter lim="800000"/>
              <a:headEnd/>
              <a:tailEnd/>
            </a:ln>
          </p:spPr>
          <p:txBody>
            <a:bodyPr wrap="none" lIns="0" tIns="0" rIns="0" bIns="0" anchor="ctr"/>
            <a:lstStyle/>
            <a:p>
              <a:endParaRPr lang="zh-CN" altLang="en-US"/>
            </a:p>
          </p:txBody>
        </p:sp>
        <p:sp>
          <p:nvSpPr>
            <p:cNvPr id="75" name="Rectangle 196"/>
            <p:cNvSpPr>
              <a:spLocks noChangeArrowheads="1"/>
            </p:cNvSpPr>
            <p:nvPr/>
          </p:nvSpPr>
          <p:spPr bwMode="auto">
            <a:xfrm>
              <a:off x="2847" y="1394"/>
              <a:ext cx="325" cy="194"/>
            </a:xfrm>
            <a:prstGeom prst="rect">
              <a:avLst/>
            </a:prstGeom>
            <a:solidFill>
              <a:schemeClr val="hlink"/>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dirty="0">
                  <a:solidFill>
                    <a:schemeClr val="bg1"/>
                  </a:solidFill>
                  <a:latin typeface="宋体" panose="02010600030101010101" pitchFamily="2" charset="-122"/>
                </a:rPr>
                <a:t>实体</a:t>
              </a:r>
            </a:p>
          </p:txBody>
        </p:sp>
        <p:sp>
          <p:nvSpPr>
            <p:cNvPr id="76" name="AutoShape 197"/>
            <p:cNvSpPr>
              <a:spLocks noChangeArrowheads="1"/>
            </p:cNvSpPr>
            <p:nvPr/>
          </p:nvSpPr>
          <p:spPr bwMode="auto">
            <a:xfrm>
              <a:off x="2245" y="1797"/>
              <a:ext cx="453" cy="151"/>
            </a:xfrm>
            <a:prstGeom prst="diamond">
              <a:avLst/>
            </a:prstGeom>
            <a:solidFill>
              <a:schemeClr val="bg1"/>
            </a:solidFill>
            <a:ln w="12700" cap="sq">
              <a:solidFill>
                <a:schemeClr val="tx1"/>
              </a:solidFill>
              <a:miter lim="800000"/>
              <a:headEnd/>
              <a:tailEnd/>
            </a:ln>
          </p:spPr>
          <p:txBody>
            <a:bodyPr wrap="none" lIns="0" tIns="0" rIns="0" bIns="0" anchor="ctr"/>
            <a:lstStyle/>
            <a:p>
              <a:endParaRPr lang="zh-CN" altLang="en-US"/>
            </a:p>
          </p:txBody>
        </p:sp>
        <p:sp>
          <p:nvSpPr>
            <p:cNvPr id="77" name="Rectangle 198"/>
            <p:cNvSpPr>
              <a:spLocks noChangeArrowheads="1"/>
            </p:cNvSpPr>
            <p:nvPr/>
          </p:nvSpPr>
          <p:spPr bwMode="auto">
            <a:xfrm>
              <a:off x="2859" y="1768"/>
              <a:ext cx="325" cy="194"/>
            </a:xfrm>
            <a:prstGeom prst="rect">
              <a:avLst/>
            </a:prstGeom>
            <a:solidFill>
              <a:schemeClr val="hlink"/>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a:solidFill>
                    <a:schemeClr val="bg1"/>
                  </a:solidFill>
                  <a:latin typeface="宋体" panose="02010600030101010101" pitchFamily="2" charset="-122"/>
                </a:rPr>
                <a:t>联系</a:t>
              </a:r>
            </a:p>
          </p:txBody>
        </p:sp>
        <p:sp>
          <p:nvSpPr>
            <p:cNvPr id="78" name="AutoShape 199"/>
            <p:cNvSpPr>
              <a:spLocks noChangeArrowheads="1"/>
            </p:cNvSpPr>
            <p:nvPr/>
          </p:nvSpPr>
          <p:spPr bwMode="auto">
            <a:xfrm>
              <a:off x="2226" y="1621"/>
              <a:ext cx="453" cy="152"/>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endParaRPr lang="zh-CN" altLang="en-US"/>
            </a:p>
          </p:txBody>
        </p:sp>
        <p:sp>
          <p:nvSpPr>
            <p:cNvPr id="79" name="Rectangle 200"/>
            <p:cNvSpPr>
              <a:spLocks noChangeArrowheads="1"/>
            </p:cNvSpPr>
            <p:nvPr/>
          </p:nvSpPr>
          <p:spPr bwMode="auto">
            <a:xfrm>
              <a:off x="2847" y="1581"/>
              <a:ext cx="325" cy="194"/>
            </a:xfrm>
            <a:prstGeom prst="rect">
              <a:avLst/>
            </a:prstGeom>
            <a:solidFill>
              <a:schemeClr val="hlink"/>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dirty="0">
                  <a:solidFill>
                    <a:schemeClr val="bg1"/>
                  </a:solidFill>
                  <a:latin typeface="宋体" panose="02010600030101010101" pitchFamily="2" charset="-122"/>
                </a:rPr>
                <a:t>属性</a:t>
              </a:r>
            </a:p>
          </p:txBody>
        </p:sp>
      </p:grpSp>
    </p:spTree>
    <p:extLst>
      <p:ext uri="{BB962C8B-B14F-4D97-AF65-F5344CB8AC3E}">
        <p14:creationId xmlns:p14="http://schemas.microsoft.com/office/powerpoint/2010/main" val="8016832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a:extLst>
              <a:ext uri="{FF2B5EF4-FFF2-40B4-BE49-F238E27FC236}">
                <a16:creationId xmlns:a16="http://schemas.microsoft.com/office/drawing/2014/main" id="{3251444A-F954-4957-8823-D42029AB1274}"/>
              </a:ext>
            </a:extLst>
          </p:cNvPr>
          <p:cNvSpPr>
            <a:spLocks noGrp="1" noChangeArrowheads="1"/>
          </p:cNvSpPr>
          <p:nvPr>
            <p:ph type="body" idx="1"/>
          </p:nvPr>
        </p:nvSpPr>
        <p:spPr>
          <a:xfrm>
            <a:off x="609600" y="764704"/>
            <a:ext cx="10972800" cy="4054475"/>
          </a:xfrm>
        </p:spPr>
        <p:txBody>
          <a:bodyPr/>
          <a:lstStyle/>
          <a:p>
            <a:pPr>
              <a:lnSpc>
                <a:spcPct val="150000"/>
              </a:lnSpc>
              <a:buFontTx/>
              <a:buNone/>
            </a:pPr>
            <a:r>
              <a:rPr lang="zh-CN" altLang="en-US" dirty="0"/>
              <a:t>二、逻辑数据模型（</a:t>
            </a:r>
            <a:r>
              <a:rPr lang="en-US" altLang="zh-CN" dirty="0"/>
              <a:t>Logical Data Model</a:t>
            </a:r>
            <a:r>
              <a:rPr lang="zh-CN" altLang="en-US" dirty="0"/>
              <a:t>）。</a:t>
            </a:r>
          </a:p>
          <a:p>
            <a:pPr>
              <a:lnSpc>
                <a:spcPct val="150000"/>
              </a:lnSpc>
            </a:pPr>
            <a:r>
              <a:rPr lang="zh-CN" altLang="en-US" dirty="0"/>
              <a:t>是用户从数据库所看到的数据模型，是具体的</a:t>
            </a:r>
            <a:r>
              <a:rPr lang="en-US" altLang="zh-CN" dirty="0"/>
              <a:t>DBMS</a:t>
            </a:r>
            <a:r>
              <a:rPr lang="zh-CN" altLang="en-US" dirty="0"/>
              <a:t>所支持的数据模型；</a:t>
            </a:r>
          </a:p>
          <a:p>
            <a:pPr>
              <a:lnSpc>
                <a:spcPct val="150000"/>
              </a:lnSpc>
            </a:pPr>
            <a:r>
              <a:rPr lang="zh-CN" altLang="en-US" dirty="0"/>
              <a:t>直接面向数据库的逻辑结构的，通常有一组严格定义的，无二义性的语法和语义的数据库语言，人们可以用这种语言来定义、操纵数据库中的数据。</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a:extLst>
              <a:ext uri="{FF2B5EF4-FFF2-40B4-BE49-F238E27FC236}">
                <a16:creationId xmlns:a16="http://schemas.microsoft.com/office/drawing/2014/main" id="{36929DDA-CA2A-449D-88CB-2B57A79A9CD3}"/>
              </a:ext>
            </a:extLst>
          </p:cNvPr>
          <p:cNvSpPr>
            <a:spLocks noGrp="1" noChangeArrowheads="1"/>
          </p:cNvSpPr>
          <p:nvPr>
            <p:ph type="body" idx="1"/>
          </p:nvPr>
        </p:nvSpPr>
        <p:spPr>
          <a:xfrm>
            <a:off x="479376" y="836712"/>
            <a:ext cx="10972800" cy="4054475"/>
          </a:xfrm>
        </p:spPr>
        <p:txBody>
          <a:bodyPr/>
          <a:lstStyle/>
          <a:p>
            <a:pPr>
              <a:lnSpc>
                <a:spcPct val="150000"/>
              </a:lnSpc>
            </a:pPr>
            <a:r>
              <a:rPr lang="zh-CN" altLang="en-US" dirty="0"/>
              <a:t>此模型既要面向用户，又要面向系统，主要用于数据库管理系统（</a:t>
            </a:r>
            <a:r>
              <a:rPr lang="en-US" altLang="zh-CN" dirty="0"/>
              <a:t>DBMS</a:t>
            </a:r>
            <a:r>
              <a:rPr lang="zh-CN" altLang="en-US" dirty="0"/>
              <a:t>）的实现。与具体的</a:t>
            </a:r>
            <a:r>
              <a:rPr lang="en-US" altLang="zh-CN" dirty="0"/>
              <a:t>DBMS</a:t>
            </a:r>
            <a:r>
              <a:rPr lang="zh-CN" altLang="en-US" dirty="0"/>
              <a:t>有关（</a:t>
            </a:r>
            <a:r>
              <a:rPr lang="en-US" altLang="zh-CN" dirty="0"/>
              <a:t>DBMS</a:t>
            </a:r>
            <a:r>
              <a:rPr lang="zh-CN" altLang="en-US" dirty="0"/>
              <a:t>按所支持的逻辑数据模型分类，如：层次模型、网状模型和关系模型）。</a:t>
            </a:r>
          </a:p>
          <a:p>
            <a:pPr>
              <a:lnSpc>
                <a:spcPct val="150000"/>
              </a:lnSpc>
            </a:pPr>
            <a:r>
              <a:rPr lang="zh-CN" altLang="en-US" dirty="0"/>
              <a:t>概念模型表示的数据必须转化为逻辑模型表示的数据，才能在</a:t>
            </a:r>
            <a:r>
              <a:rPr lang="en-US" altLang="zh-CN" dirty="0"/>
              <a:t>DBMS</a:t>
            </a:r>
            <a:r>
              <a:rPr lang="zh-CN" altLang="en-US" dirty="0"/>
              <a:t>中实现。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3223172"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逻辑模型示例</a:t>
            </a:r>
          </a:p>
        </p:txBody>
      </p:sp>
      <p:sp>
        <p:nvSpPr>
          <p:cNvPr id="81" name="Rectangle 2"/>
          <p:cNvSpPr txBox="1">
            <a:spLocks noChangeArrowheads="1"/>
          </p:cNvSpPr>
          <p:nvPr/>
        </p:nvSpPr>
        <p:spPr bwMode="auto">
          <a:xfrm>
            <a:off x="299443" y="938113"/>
            <a:ext cx="2916237" cy="474663"/>
          </a:xfrm>
          <a:prstGeom prst="rect">
            <a:avLst/>
          </a:prstGeom>
          <a:noFill/>
          <a:ln w="9525">
            <a:noFill/>
            <a:miter lim="800000"/>
            <a:headEnd/>
            <a:tailEnd/>
          </a:ln>
          <a:effectLst>
            <a:outerShdw dist="17961" dir="2700000" algn="ctr" rotWithShape="0">
              <a:schemeClr val="bg2"/>
            </a:outerShdw>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eaLnBrk="1" hangingPunct="1">
              <a:buFont typeface="Wingdings" pitchFamily="2" charset="2"/>
              <a:buChar char="¯"/>
              <a:defRPr/>
            </a:pPr>
            <a:r>
              <a:rPr lang="en-US" altLang="zh-CN" sz="3200" kern="0" baseline="0" dirty="0"/>
              <a:t> </a:t>
            </a:r>
            <a:r>
              <a:rPr lang="zh-CN" altLang="en-US" sz="3200" kern="0" baseline="0" dirty="0"/>
              <a:t>层次模型</a:t>
            </a:r>
          </a:p>
        </p:txBody>
      </p:sp>
      <p:sp>
        <p:nvSpPr>
          <p:cNvPr id="82" name="Rectangle 3"/>
          <p:cNvSpPr txBox="1">
            <a:spLocks noChangeArrowheads="1"/>
          </p:cNvSpPr>
          <p:nvPr/>
        </p:nvSpPr>
        <p:spPr bwMode="auto">
          <a:xfrm>
            <a:off x="531317" y="3596382"/>
            <a:ext cx="8280400" cy="280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chemeClr val="tx1"/>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chemeClr val="tx1"/>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chemeClr val="tx1"/>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90000"/>
              </a:lnSpc>
              <a:defRPr/>
            </a:pPr>
            <a:r>
              <a:rPr lang="zh-CN" altLang="en-US" sz="2600" kern="0" baseline="0">
                <a:effectLst/>
              </a:rPr>
              <a:t>树型结构，每一结点为一实体集，父子结点间是</a:t>
            </a:r>
            <a:r>
              <a:rPr lang="en-US" altLang="zh-CN" sz="2600" kern="0" baseline="0" dirty="0">
                <a:effectLst/>
              </a:rPr>
              <a:t>1:n</a:t>
            </a:r>
            <a:r>
              <a:rPr lang="zh-CN" altLang="en-US" sz="2600" kern="0" baseline="0" dirty="0">
                <a:effectLst/>
              </a:rPr>
              <a:t>的联系，结构简单稳定，易操作。</a:t>
            </a:r>
          </a:p>
          <a:p>
            <a:pPr eaLnBrk="1" hangingPunct="1">
              <a:lnSpc>
                <a:spcPct val="90000"/>
              </a:lnSpc>
              <a:defRPr/>
            </a:pPr>
            <a:r>
              <a:rPr lang="zh-CN" altLang="en-US" sz="2600" kern="0" baseline="0" dirty="0">
                <a:effectLst/>
              </a:rPr>
              <a:t>只能按树的层次进行查询。</a:t>
            </a:r>
          </a:p>
          <a:p>
            <a:pPr eaLnBrk="1" hangingPunct="1">
              <a:lnSpc>
                <a:spcPct val="90000"/>
              </a:lnSpc>
              <a:defRPr/>
            </a:pPr>
            <a:r>
              <a:rPr lang="zh-CN" altLang="en-US" sz="2600" kern="0" baseline="0" dirty="0">
                <a:effectLst/>
              </a:rPr>
              <a:t>有良好的完整性支持。</a:t>
            </a:r>
          </a:p>
          <a:p>
            <a:pPr eaLnBrk="1" hangingPunct="1">
              <a:lnSpc>
                <a:spcPct val="90000"/>
              </a:lnSpc>
              <a:defRPr/>
            </a:pPr>
            <a:r>
              <a:rPr lang="zh-CN" altLang="en-US" sz="2600" kern="0" baseline="0" dirty="0">
                <a:effectLst/>
              </a:rPr>
              <a:t>表示</a:t>
            </a:r>
            <a:r>
              <a:rPr lang="en-US" altLang="zh-CN" sz="2600" kern="0" baseline="0" dirty="0">
                <a:effectLst/>
              </a:rPr>
              <a:t>m:n</a:t>
            </a:r>
            <a:r>
              <a:rPr lang="zh-CN" altLang="en-US" sz="2600" kern="0" baseline="0" dirty="0">
                <a:effectLst/>
              </a:rPr>
              <a:t>联系比较麻烦。</a:t>
            </a:r>
          </a:p>
          <a:p>
            <a:pPr eaLnBrk="1" hangingPunct="1">
              <a:lnSpc>
                <a:spcPct val="90000"/>
              </a:lnSpc>
              <a:defRPr/>
            </a:pPr>
            <a:r>
              <a:rPr lang="zh-CN" altLang="en-US" sz="2600" kern="0" baseline="0" dirty="0">
                <a:effectLst/>
              </a:rPr>
              <a:t>对插入和删除的限制比较多。</a:t>
            </a:r>
          </a:p>
        </p:txBody>
      </p:sp>
      <p:sp>
        <p:nvSpPr>
          <p:cNvPr id="83" name="Rectangle 18"/>
          <p:cNvSpPr>
            <a:spLocks noChangeArrowheads="1"/>
          </p:cNvSpPr>
          <p:nvPr/>
        </p:nvSpPr>
        <p:spPr bwMode="auto">
          <a:xfrm>
            <a:off x="5231904" y="968276"/>
            <a:ext cx="3221038" cy="4445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zh-CN" altLang="en-US" sz="2400" baseline="0">
                <a:effectLst>
                  <a:outerShdw blurRad="38100" dist="38100" dir="2700000" algn="tl">
                    <a:srgbClr val="000000"/>
                  </a:outerShdw>
                </a:effectLst>
                <a:latin typeface="宋体" panose="02010600030101010101" pitchFamily="2" charset="-122"/>
              </a:rPr>
              <a:t>系编号，系名，系主任</a:t>
            </a:r>
          </a:p>
        </p:txBody>
      </p:sp>
      <p:sp>
        <p:nvSpPr>
          <p:cNvPr id="84" name="Rectangle 19"/>
          <p:cNvSpPr>
            <a:spLocks noChangeArrowheads="1"/>
          </p:cNvSpPr>
          <p:nvPr/>
        </p:nvSpPr>
        <p:spPr bwMode="auto">
          <a:xfrm>
            <a:off x="3182442" y="1831876"/>
            <a:ext cx="2954337" cy="47625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zh-CN" altLang="en-US" sz="2400" baseline="0">
                <a:effectLst>
                  <a:outerShdw blurRad="38100" dist="38100" dir="2700000" algn="tl">
                    <a:srgbClr val="000000"/>
                  </a:outerShdw>
                </a:effectLst>
                <a:latin typeface="宋体" panose="02010600030101010101" pitchFamily="2" charset="-122"/>
              </a:rPr>
              <a:t>教研室号，教研室名</a:t>
            </a:r>
          </a:p>
        </p:txBody>
      </p:sp>
      <p:sp>
        <p:nvSpPr>
          <p:cNvPr id="85" name="Rectangle 20"/>
          <p:cNvSpPr>
            <a:spLocks noChangeArrowheads="1"/>
          </p:cNvSpPr>
          <p:nvPr/>
        </p:nvSpPr>
        <p:spPr bwMode="auto">
          <a:xfrm>
            <a:off x="3182442" y="2578001"/>
            <a:ext cx="3290887" cy="47942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zh-CN" altLang="en-US" sz="2400" baseline="0">
                <a:effectLst>
                  <a:outerShdw blurRad="38100" dist="38100" dir="2700000" algn="tl">
                    <a:srgbClr val="000000"/>
                  </a:outerShdw>
                </a:effectLst>
                <a:latin typeface="宋体" panose="02010600030101010101" pitchFamily="2" charset="-122"/>
              </a:rPr>
              <a:t>教师编号，姓名，专业</a:t>
            </a:r>
          </a:p>
        </p:txBody>
      </p:sp>
      <p:sp>
        <p:nvSpPr>
          <p:cNvPr id="86" name="Rectangle 21"/>
          <p:cNvSpPr>
            <a:spLocks noChangeArrowheads="1"/>
          </p:cNvSpPr>
          <p:nvPr/>
        </p:nvSpPr>
        <p:spPr bwMode="auto">
          <a:xfrm>
            <a:off x="7367092" y="1831876"/>
            <a:ext cx="2593975" cy="47625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zh-CN" altLang="en-US" sz="2400" baseline="0">
                <a:effectLst>
                  <a:outerShdw blurRad="38100" dist="38100" dir="2700000" algn="tl">
                    <a:srgbClr val="000000"/>
                  </a:outerShdw>
                </a:effectLst>
                <a:latin typeface="宋体" panose="02010600030101010101" pitchFamily="2" charset="-122"/>
              </a:rPr>
              <a:t>学号，姓名，成绩</a:t>
            </a:r>
          </a:p>
        </p:txBody>
      </p:sp>
      <p:cxnSp>
        <p:nvCxnSpPr>
          <p:cNvPr id="87" name="AutoShape 22"/>
          <p:cNvCxnSpPr>
            <a:cxnSpLocks noChangeShapeType="1"/>
            <a:stCxn id="83" idx="2"/>
            <a:endCxn id="84" idx="0"/>
          </p:cNvCxnSpPr>
          <p:nvPr/>
        </p:nvCxnSpPr>
        <p:spPr bwMode="auto">
          <a:xfrm rot="5400000">
            <a:off x="5542261" y="530919"/>
            <a:ext cx="419100" cy="2182813"/>
          </a:xfrm>
          <a:prstGeom prst="bentConnector3">
            <a:avLst>
              <a:gd name="adj1" fmla="val 50000"/>
            </a:avLst>
          </a:prstGeom>
          <a:noFill/>
          <a:ln w="12700" cap="sq">
            <a:solidFill>
              <a:schemeClr val="tx1"/>
            </a:solidFill>
            <a:miter lim="800000"/>
            <a:headEnd/>
            <a:tailEnd type="triangle" w="med" len="med"/>
          </a:ln>
          <a:effectLst>
            <a:outerShdw dist="17961" dir="2700000" algn="ctr" rotWithShape="0">
              <a:schemeClr val="bg2"/>
            </a:outerShdw>
          </a:effectLst>
        </p:spPr>
      </p:cxnSp>
      <p:cxnSp>
        <p:nvCxnSpPr>
          <p:cNvPr id="88" name="AutoShape 23"/>
          <p:cNvCxnSpPr>
            <a:cxnSpLocks noChangeShapeType="1"/>
            <a:stCxn id="83" idx="2"/>
            <a:endCxn id="86" idx="0"/>
          </p:cNvCxnSpPr>
          <p:nvPr/>
        </p:nvCxnSpPr>
        <p:spPr bwMode="auto">
          <a:xfrm rot="16200000" flipH="1">
            <a:off x="7544098" y="711895"/>
            <a:ext cx="419100" cy="1820862"/>
          </a:xfrm>
          <a:prstGeom prst="bentConnector3">
            <a:avLst>
              <a:gd name="adj1" fmla="val 50000"/>
            </a:avLst>
          </a:prstGeom>
          <a:noFill/>
          <a:ln w="12700" cap="sq">
            <a:solidFill>
              <a:schemeClr val="tx1"/>
            </a:solidFill>
            <a:miter lim="800000"/>
            <a:headEnd/>
            <a:tailEnd type="triangle" w="med" len="med"/>
          </a:ln>
          <a:effectLst>
            <a:outerShdw dist="17961" dir="2700000" algn="ctr" rotWithShape="0">
              <a:schemeClr val="bg2"/>
            </a:outerShdw>
          </a:effectLst>
        </p:spPr>
      </p:cxnSp>
      <p:sp>
        <p:nvSpPr>
          <p:cNvPr id="89" name="Text Box 25"/>
          <p:cNvSpPr txBox="1">
            <a:spLocks noChangeArrowheads="1"/>
          </p:cNvSpPr>
          <p:nvPr/>
        </p:nvSpPr>
        <p:spPr bwMode="auto">
          <a:xfrm>
            <a:off x="4823917" y="974626"/>
            <a:ext cx="488950" cy="457200"/>
          </a:xfrm>
          <a:prstGeom prst="rect">
            <a:avLst/>
          </a:prstGeom>
          <a:noFill/>
          <a:ln w="9525">
            <a:noFill/>
            <a:miter lim="800000"/>
            <a:headEnd/>
            <a:tailEnd/>
          </a:ln>
          <a:effectLst/>
        </p:spPr>
        <p:txBody>
          <a:bodyPr wrap="none">
            <a:spAutoFit/>
          </a:bodyPr>
          <a:lstStyle/>
          <a:p>
            <a:pPr>
              <a:defRPr/>
            </a:pPr>
            <a:r>
              <a:rPr kumimoji="1" lang="zh-CN" altLang="en-US" sz="2400" baseline="0">
                <a:solidFill>
                  <a:srgbClr val="FFFF00"/>
                </a:solidFill>
                <a:effectLst>
                  <a:outerShdw blurRad="38100" dist="38100" dir="2700000" algn="tl">
                    <a:srgbClr val="000000"/>
                  </a:outerShdw>
                </a:effectLst>
                <a:latin typeface="宋体" panose="02010600030101010101" pitchFamily="2" charset="-122"/>
              </a:rPr>
              <a:t>系</a:t>
            </a:r>
          </a:p>
        </p:txBody>
      </p:sp>
      <p:sp>
        <p:nvSpPr>
          <p:cNvPr id="90" name="Text Box 26"/>
          <p:cNvSpPr txBox="1">
            <a:spLocks noChangeArrowheads="1"/>
          </p:cNvSpPr>
          <p:nvPr/>
        </p:nvSpPr>
        <p:spPr bwMode="auto">
          <a:xfrm>
            <a:off x="6559054" y="1857276"/>
            <a:ext cx="793750" cy="457200"/>
          </a:xfrm>
          <a:prstGeom prst="rect">
            <a:avLst/>
          </a:prstGeom>
          <a:noFill/>
          <a:ln w="9525">
            <a:noFill/>
            <a:miter lim="800000"/>
            <a:headEnd/>
            <a:tailEnd/>
          </a:ln>
          <a:effectLst/>
        </p:spPr>
        <p:txBody>
          <a:bodyPr wrap="none">
            <a:spAutoFit/>
          </a:bodyPr>
          <a:lstStyle/>
          <a:p>
            <a:pPr>
              <a:defRPr/>
            </a:pPr>
            <a:r>
              <a:rPr kumimoji="1" lang="zh-CN" altLang="en-US" sz="2400" baseline="0">
                <a:solidFill>
                  <a:srgbClr val="FFFF00"/>
                </a:solidFill>
                <a:effectLst>
                  <a:outerShdw blurRad="38100" dist="38100" dir="2700000" algn="tl">
                    <a:srgbClr val="000000"/>
                  </a:outerShdw>
                </a:effectLst>
                <a:latin typeface="宋体" panose="02010600030101010101" pitchFamily="2" charset="-122"/>
              </a:rPr>
              <a:t>学生</a:t>
            </a:r>
          </a:p>
        </p:txBody>
      </p:sp>
      <p:sp>
        <p:nvSpPr>
          <p:cNvPr id="91" name="Text Box 27"/>
          <p:cNvSpPr txBox="1">
            <a:spLocks noChangeArrowheads="1"/>
          </p:cNvSpPr>
          <p:nvPr/>
        </p:nvSpPr>
        <p:spPr bwMode="auto">
          <a:xfrm>
            <a:off x="2104529" y="1876326"/>
            <a:ext cx="1098550" cy="457200"/>
          </a:xfrm>
          <a:prstGeom prst="rect">
            <a:avLst/>
          </a:prstGeom>
          <a:noFill/>
          <a:ln w="9525">
            <a:noFill/>
            <a:miter lim="800000"/>
            <a:headEnd/>
            <a:tailEnd/>
          </a:ln>
          <a:effectLst/>
        </p:spPr>
        <p:txBody>
          <a:bodyPr wrap="none">
            <a:spAutoFit/>
          </a:bodyPr>
          <a:lstStyle/>
          <a:p>
            <a:pPr>
              <a:defRPr/>
            </a:pPr>
            <a:r>
              <a:rPr kumimoji="1" lang="zh-CN" altLang="en-US" sz="2400" baseline="0">
                <a:solidFill>
                  <a:srgbClr val="FFFF00"/>
                </a:solidFill>
                <a:effectLst>
                  <a:outerShdw blurRad="38100" dist="38100" dir="2700000" algn="tl">
                    <a:srgbClr val="000000"/>
                  </a:outerShdw>
                </a:effectLst>
                <a:latin typeface="宋体" panose="02010600030101010101" pitchFamily="2" charset="-122"/>
              </a:rPr>
              <a:t>教研室</a:t>
            </a:r>
          </a:p>
        </p:txBody>
      </p:sp>
      <p:sp>
        <p:nvSpPr>
          <p:cNvPr id="92" name="Text Box 28"/>
          <p:cNvSpPr txBox="1">
            <a:spLocks noChangeArrowheads="1"/>
          </p:cNvSpPr>
          <p:nvPr/>
        </p:nvSpPr>
        <p:spPr bwMode="auto">
          <a:xfrm>
            <a:off x="2226767" y="2527201"/>
            <a:ext cx="793750" cy="457200"/>
          </a:xfrm>
          <a:prstGeom prst="rect">
            <a:avLst/>
          </a:prstGeom>
          <a:noFill/>
          <a:ln w="9525">
            <a:noFill/>
            <a:miter lim="800000"/>
            <a:headEnd/>
            <a:tailEnd/>
          </a:ln>
          <a:effectLst/>
        </p:spPr>
        <p:txBody>
          <a:bodyPr wrap="none">
            <a:spAutoFit/>
          </a:bodyPr>
          <a:lstStyle/>
          <a:p>
            <a:pPr>
              <a:defRPr/>
            </a:pPr>
            <a:r>
              <a:rPr kumimoji="1" lang="zh-CN" altLang="en-US" sz="2400" baseline="0">
                <a:solidFill>
                  <a:srgbClr val="FFFF00"/>
                </a:solidFill>
                <a:effectLst>
                  <a:outerShdw blurRad="38100" dist="38100" dir="2700000" algn="tl">
                    <a:srgbClr val="000000"/>
                  </a:outerShdw>
                </a:effectLst>
                <a:latin typeface="宋体" panose="02010600030101010101" pitchFamily="2" charset="-122"/>
              </a:rPr>
              <a:t>教师</a:t>
            </a:r>
          </a:p>
        </p:txBody>
      </p:sp>
      <p:sp>
        <p:nvSpPr>
          <p:cNvPr id="93" name="Line 29"/>
          <p:cNvSpPr>
            <a:spLocks noChangeShapeType="1"/>
          </p:cNvSpPr>
          <p:nvPr/>
        </p:nvSpPr>
        <p:spPr bwMode="auto">
          <a:xfrm>
            <a:off x="4671517" y="2336701"/>
            <a:ext cx="0" cy="215900"/>
          </a:xfrm>
          <a:prstGeom prst="line">
            <a:avLst/>
          </a:prstGeom>
          <a:noFill/>
          <a:ln w="12700" cap="sq">
            <a:solidFill>
              <a:schemeClr val="tx1"/>
            </a:solidFill>
            <a:round/>
            <a:headEnd/>
            <a:tailEnd type="triangle" w="med" len="med"/>
          </a:ln>
          <a:effectLst>
            <a:outerShdw dist="17961" dir="2700000" algn="ctr" rotWithShape="0">
              <a:schemeClr val="bg2"/>
            </a:outerShdw>
          </a:effectLst>
        </p:spPr>
        <p:txBody>
          <a:bodyPr lIns="0" tIns="0" rIns="0" bIns="0" anchor="ctr"/>
          <a:lstStyle/>
          <a:p>
            <a:pPr>
              <a:defRPr/>
            </a:pPr>
            <a:endParaRPr lang="zh-CN" altLang="en-US">
              <a:latin typeface="宋体" panose="02010600030101010101" pitchFamily="2" charset="-122"/>
            </a:endParaRPr>
          </a:p>
        </p:txBody>
      </p:sp>
      <p:sp>
        <p:nvSpPr>
          <p:cNvPr id="94" name="Text Box 30"/>
          <p:cNvSpPr txBox="1">
            <a:spLocks noChangeArrowheads="1"/>
          </p:cNvSpPr>
          <p:nvPr/>
        </p:nvSpPr>
        <p:spPr bwMode="auto">
          <a:xfrm>
            <a:off x="7367092" y="5229200"/>
            <a:ext cx="3553866" cy="503590"/>
          </a:xfrm>
          <a:prstGeom prst="rect">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chemeClr val="bg2">
                <a:alpha val="50000"/>
              </a:schemeClr>
            </a:outerShdw>
          </a:effectLst>
        </p:spPr>
        <p:txBody>
          <a:bodyPr wrap="square" lIns="36000" tIns="36000" rIns="36000" bIns="36000">
            <a:spAutoFit/>
          </a:bodyPr>
          <a:lstStyle>
            <a:defPPr>
              <a:defRPr lang="en-US"/>
            </a:defPPr>
            <a:lvl1pPr algn="ctr">
              <a:defRPr sz="2800" b="1" baseline="0">
                <a:solidFill>
                  <a:srgbClr val="3333CC"/>
                </a:solidFill>
                <a:latin typeface="微软雅黑" panose="020B0503020204020204" pitchFamily="34" charset="-122"/>
                <a:ea typeface="微软雅黑" panose="020B0503020204020204" pitchFamily="34" charset="-122"/>
              </a:defRPr>
            </a:lvl1pPr>
          </a:lstStyle>
          <a:p>
            <a:r>
              <a:rPr lang="zh-CN" altLang="en-US" dirty="0"/>
              <a:t>典型代表是</a:t>
            </a:r>
            <a:r>
              <a:rPr lang="en-US" altLang="zh-CN" dirty="0"/>
              <a:t>IMS</a:t>
            </a:r>
          </a:p>
        </p:txBody>
      </p:sp>
    </p:spTree>
    <p:extLst>
      <p:ext uri="{BB962C8B-B14F-4D97-AF65-F5344CB8AC3E}">
        <p14:creationId xmlns:p14="http://schemas.microsoft.com/office/powerpoint/2010/main" val="3520040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3223172"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逻辑模型示例</a:t>
            </a:r>
          </a:p>
        </p:txBody>
      </p:sp>
      <p:sp>
        <p:nvSpPr>
          <p:cNvPr id="17" name="Rectangle 2"/>
          <p:cNvSpPr txBox="1">
            <a:spLocks noChangeArrowheads="1"/>
          </p:cNvSpPr>
          <p:nvPr/>
        </p:nvSpPr>
        <p:spPr bwMode="auto">
          <a:xfrm>
            <a:off x="262806" y="837084"/>
            <a:ext cx="2736850" cy="647700"/>
          </a:xfrm>
          <a:prstGeom prst="rect">
            <a:avLst/>
          </a:prstGeom>
          <a:noFill/>
          <a:ln w="9525">
            <a:noFill/>
            <a:miter lim="800000"/>
            <a:headEnd/>
            <a:tailEnd/>
          </a:ln>
          <a:effectLst>
            <a:outerShdw dist="17961" dir="2700000" algn="ctr" rotWithShape="0">
              <a:schemeClr val="bg2"/>
            </a:outerShdw>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eaLnBrk="1" hangingPunct="1">
              <a:buFont typeface="Wingdings" pitchFamily="2" charset="2"/>
              <a:buChar char="¯"/>
              <a:defRPr/>
            </a:pPr>
            <a:r>
              <a:rPr lang="en-US" altLang="zh-CN" sz="3200" kern="0" baseline="0" dirty="0"/>
              <a:t> </a:t>
            </a:r>
            <a:r>
              <a:rPr lang="zh-CN" altLang="en-US" sz="3200" kern="0" baseline="0" dirty="0"/>
              <a:t>网状模型</a:t>
            </a:r>
          </a:p>
        </p:txBody>
      </p:sp>
      <p:sp>
        <p:nvSpPr>
          <p:cNvPr id="18" name="Rectangle 3"/>
          <p:cNvSpPr txBox="1">
            <a:spLocks noChangeArrowheads="1"/>
          </p:cNvSpPr>
          <p:nvPr/>
        </p:nvSpPr>
        <p:spPr bwMode="auto">
          <a:xfrm>
            <a:off x="395288" y="3357563"/>
            <a:ext cx="8280400" cy="280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chemeClr val="tx1"/>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chemeClr val="tx1"/>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chemeClr val="tx1"/>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90000"/>
              </a:lnSpc>
              <a:defRPr/>
            </a:pPr>
            <a:r>
              <a:rPr lang="zh-CN" altLang="en-US" sz="2600" kern="0" baseline="0">
                <a:effectLst/>
              </a:rPr>
              <a:t>有向图结构，每一结点为一实体集，结点间可以是</a:t>
            </a:r>
            <a:r>
              <a:rPr lang="en-US" altLang="zh-CN" sz="2600" kern="0" baseline="0">
                <a:effectLst/>
              </a:rPr>
              <a:t>m:n</a:t>
            </a:r>
            <a:r>
              <a:rPr lang="zh-CN" altLang="en-US" sz="2600" kern="0" baseline="0">
                <a:effectLst/>
              </a:rPr>
              <a:t>的联系，能表示实体间的多种复杂联系。</a:t>
            </a:r>
          </a:p>
          <a:p>
            <a:pPr eaLnBrk="1" hangingPunct="1">
              <a:lnSpc>
                <a:spcPct val="90000"/>
              </a:lnSpc>
              <a:defRPr/>
            </a:pPr>
            <a:r>
              <a:rPr lang="zh-CN" altLang="en-US" sz="2600" kern="0" baseline="0">
                <a:effectLst/>
              </a:rPr>
              <a:t>有一定的完整性支持。</a:t>
            </a:r>
          </a:p>
          <a:p>
            <a:pPr eaLnBrk="1" hangingPunct="1">
              <a:lnSpc>
                <a:spcPct val="90000"/>
              </a:lnSpc>
              <a:defRPr/>
            </a:pPr>
            <a:r>
              <a:rPr lang="zh-CN" altLang="en-US" sz="2600" kern="0" baseline="0">
                <a:effectLst/>
              </a:rPr>
              <a:t>性能良好，存储效率高。</a:t>
            </a:r>
          </a:p>
          <a:p>
            <a:pPr eaLnBrk="1" hangingPunct="1">
              <a:lnSpc>
                <a:spcPct val="90000"/>
              </a:lnSpc>
              <a:defRPr/>
            </a:pPr>
            <a:r>
              <a:rPr lang="zh-CN" altLang="en-US" sz="2600" kern="0" baseline="0">
                <a:effectLst/>
              </a:rPr>
              <a:t>结构复杂。</a:t>
            </a:r>
          </a:p>
          <a:p>
            <a:pPr eaLnBrk="1" hangingPunct="1">
              <a:lnSpc>
                <a:spcPct val="90000"/>
              </a:lnSpc>
              <a:defRPr/>
            </a:pPr>
            <a:r>
              <a:rPr lang="zh-CN" altLang="en-US" sz="2600" kern="0" baseline="0">
                <a:effectLst/>
              </a:rPr>
              <a:t>数据独立性较差。</a:t>
            </a:r>
            <a:endParaRPr lang="zh-CN" altLang="en-US" sz="2600" kern="0" baseline="0" dirty="0">
              <a:effectLst/>
            </a:endParaRPr>
          </a:p>
        </p:txBody>
      </p:sp>
      <p:sp>
        <p:nvSpPr>
          <p:cNvPr id="19" name="Rectangle 17"/>
          <p:cNvSpPr>
            <a:spLocks noChangeArrowheads="1"/>
          </p:cNvSpPr>
          <p:nvPr/>
        </p:nvSpPr>
        <p:spPr bwMode="auto">
          <a:xfrm>
            <a:off x="4943872" y="1269442"/>
            <a:ext cx="2927350" cy="3810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zh-CN" altLang="en-US" sz="2400" baseline="0">
                <a:effectLst>
                  <a:outerShdw blurRad="38100" dist="38100" dir="2700000" algn="tl">
                    <a:srgbClr val="000000"/>
                  </a:outerShdw>
                </a:effectLst>
                <a:latin typeface="宋体" panose="02010600030101010101" pitchFamily="2" charset="-122"/>
              </a:rPr>
              <a:t>课程号，课名，学分</a:t>
            </a:r>
          </a:p>
        </p:txBody>
      </p:sp>
      <p:sp>
        <p:nvSpPr>
          <p:cNvPr id="20" name="Rectangle 18"/>
          <p:cNvSpPr>
            <a:spLocks noChangeArrowheads="1"/>
          </p:cNvSpPr>
          <p:nvPr/>
        </p:nvSpPr>
        <p:spPr bwMode="auto">
          <a:xfrm>
            <a:off x="2832497" y="2334654"/>
            <a:ext cx="3200400" cy="3810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zh-CN" altLang="en-US" sz="2400" baseline="0">
                <a:effectLst>
                  <a:outerShdw blurRad="38100" dist="38100" dir="2700000" algn="tl">
                    <a:srgbClr val="000000"/>
                  </a:outerShdw>
                </a:effectLst>
                <a:latin typeface="宋体" panose="02010600030101010101" pitchFamily="2" charset="-122"/>
              </a:rPr>
              <a:t>教师编号，姓名，专业</a:t>
            </a:r>
          </a:p>
        </p:txBody>
      </p:sp>
      <p:sp>
        <p:nvSpPr>
          <p:cNvPr id="21" name="Text Box 19"/>
          <p:cNvSpPr txBox="1">
            <a:spLocks noChangeArrowheads="1"/>
          </p:cNvSpPr>
          <p:nvPr/>
        </p:nvSpPr>
        <p:spPr bwMode="auto">
          <a:xfrm>
            <a:off x="4165997" y="1212292"/>
            <a:ext cx="793750" cy="457200"/>
          </a:xfrm>
          <a:prstGeom prst="rect">
            <a:avLst/>
          </a:prstGeom>
          <a:noFill/>
          <a:ln w="9525">
            <a:noFill/>
            <a:miter lim="800000"/>
            <a:headEnd/>
            <a:tailEnd/>
          </a:ln>
          <a:effectLst/>
        </p:spPr>
        <p:txBody>
          <a:bodyPr wrap="none">
            <a:spAutoFit/>
          </a:bodyPr>
          <a:lstStyle/>
          <a:p>
            <a:pPr>
              <a:defRPr/>
            </a:pPr>
            <a:r>
              <a:rPr kumimoji="1" lang="zh-CN" altLang="en-US" sz="2400" baseline="0">
                <a:solidFill>
                  <a:srgbClr val="FFFF00"/>
                </a:solidFill>
                <a:effectLst>
                  <a:outerShdw blurRad="38100" dist="38100" dir="2700000" algn="tl">
                    <a:srgbClr val="000000"/>
                  </a:outerShdw>
                </a:effectLst>
                <a:latin typeface="宋体" panose="02010600030101010101" pitchFamily="2" charset="-122"/>
              </a:rPr>
              <a:t>课程</a:t>
            </a:r>
          </a:p>
        </p:txBody>
      </p:sp>
      <p:sp>
        <p:nvSpPr>
          <p:cNvPr id="22" name="Rectangle 21"/>
          <p:cNvSpPr>
            <a:spLocks noChangeArrowheads="1"/>
          </p:cNvSpPr>
          <p:nvPr/>
        </p:nvSpPr>
        <p:spPr bwMode="auto">
          <a:xfrm>
            <a:off x="7155259" y="2334654"/>
            <a:ext cx="2581275" cy="36195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zh-CN" altLang="en-US" sz="2400" baseline="0">
                <a:effectLst>
                  <a:outerShdw blurRad="38100" dist="38100" dir="2700000" algn="tl">
                    <a:srgbClr val="000000"/>
                  </a:outerShdw>
                </a:effectLst>
                <a:latin typeface="宋体" panose="02010600030101010101" pitchFamily="2" charset="-122"/>
              </a:rPr>
              <a:t>学号，姓名，成绩</a:t>
            </a:r>
          </a:p>
        </p:txBody>
      </p:sp>
      <p:sp>
        <p:nvSpPr>
          <p:cNvPr id="23" name="Text Box 22"/>
          <p:cNvSpPr txBox="1">
            <a:spLocks noChangeArrowheads="1"/>
          </p:cNvSpPr>
          <p:nvPr/>
        </p:nvSpPr>
        <p:spPr bwMode="auto">
          <a:xfrm>
            <a:off x="6383734" y="2296554"/>
            <a:ext cx="793750" cy="457200"/>
          </a:xfrm>
          <a:prstGeom prst="rect">
            <a:avLst/>
          </a:prstGeom>
          <a:noFill/>
          <a:ln w="9525">
            <a:noFill/>
            <a:miter lim="800000"/>
            <a:headEnd/>
            <a:tailEnd/>
          </a:ln>
          <a:effectLst/>
        </p:spPr>
        <p:txBody>
          <a:bodyPr wrap="none">
            <a:spAutoFit/>
          </a:bodyPr>
          <a:lstStyle/>
          <a:p>
            <a:pPr>
              <a:defRPr/>
            </a:pPr>
            <a:r>
              <a:rPr kumimoji="1" lang="zh-CN" altLang="en-US" sz="2400" baseline="0">
                <a:solidFill>
                  <a:srgbClr val="FFFF00"/>
                </a:solidFill>
                <a:effectLst>
                  <a:outerShdw blurRad="38100" dist="38100" dir="2700000" algn="tl">
                    <a:srgbClr val="000000"/>
                  </a:outerShdw>
                </a:effectLst>
                <a:latin typeface="宋体" panose="02010600030101010101" pitchFamily="2" charset="-122"/>
              </a:rPr>
              <a:t>学生</a:t>
            </a:r>
          </a:p>
        </p:txBody>
      </p:sp>
      <p:sp>
        <p:nvSpPr>
          <p:cNvPr id="24" name="Text Box 23"/>
          <p:cNvSpPr txBox="1">
            <a:spLocks noChangeArrowheads="1"/>
          </p:cNvSpPr>
          <p:nvPr/>
        </p:nvSpPr>
        <p:spPr bwMode="auto">
          <a:xfrm>
            <a:off x="2064147" y="2283854"/>
            <a:ext cx="793750" cy="457200"/>
          </a:xfrm>
          <a:prstGeom prst="rect">
            <a:avLst/>
          </a:prstGeom>
          <a:noFill/>
          <a:ln w="9525">
            <a:noFill/>
            <a:miter lim="800000"/>
            <a:headEnd/>
            <a:tailEnd/>
          </a:ln>
          <a:effectLst/>
        </p:spPr>
        <p:txBody>
          <a:bodyPr wrap="none">
            <a:spAutoFit/>
          </a:bodyPr>
          <a:lstStyle/>
          <a:p>
            <a:pPr>
              <a:defRPr/>
            </a:pPr>
            <a:r>
              <a:rPr kumimoji="1" lang="zh-CN" altLang="en-US" sz="2400" baseline="0">
                <a:solidFill>
                  <a:srgbClr val="FFFF00"/>
                </a:solidFill>
                <a:effectLst>
                  <a:outerShdw blurRad="38100" dist="38100" dir="2700000" algn="tl">
                    <a:srgbClr val="000000"/>
                  </a:outerShdw>
                </a:effectLst>
                <a:latin typeface="宋体" panose="02010600030101010101" pitchFamily="2" charset="-122"/>
              </a:rPr>
              <a:t>教师</a:t>
            </a:r>
          </a:p>
        </p:txBody>
      </p:sp>
      <p:grpSp>
        <p:nvGrpSpPr>
          <p:cNvPr id="25" name="Group 29"/>
          <p:cNvGrpSpPr>
            <a:grpSpLocks/>
          </p:cNvGrpSpPr>
          <p:nvPr/>
        </p:nvGrpSpPr>
        <p:grpSpPr bwMode="auto">
          <a:xfrm>
            <a:off x="4656534" y="1669492"/>
            <a:ext cx="1008063" cy="614362"/>
            <a:chOff x="1739" y="1002"/>
            <a:chExt cx="960" cy="576"/>
          </a:xfrm>
        </p:grpSpPr>
        <p:sp>
          <p:nvSpPr>
            <p:cNvPr id="26" name="Line 24"/>
            <p:cNvSpPr>
              <a:spLocks noChangeShapeType="1"/>
            </p:cNvSpPr>
            <p:nvPr/>
          </p:nvSpPr>
          <p:spPr bwMode="auto">
            <a:xfrm flipH="1">
              <a:off x="1739" y="1002"/>
              <a:ext cx="720" cy="576"/>
            </a:xfrm>
            <a:prstGeom prst="line">
              <a:avLst/>
            </a:prstGeom>
            <a:noFill/>
            <a:ln w="12700" cap="sq">
              <a:solidFill>
                <a:schemeClr val="tx1"/>
              </a:solidFill>
              <a:round/>
              <a:headEnd/>
              <a:tailEnd type="triangle" w="med" len="med"/>
            </a:ln>
            <a:effectLst>
              <a:outerShdw dist="12700" dir="5400000" algn="ctr" rotWithShape="0">
                <a:schemeClr val="bg2"/>
              </a:outerShdw>
            </a:effectLst>
          </p:spPr>
          <p:txBody>
            <a:bodyPr lIns="0" tIns="0" rIns="0" bIns="0" anchor="ctr"/>
            <a:lstStyle/>
            <a:p>
              <a:pPr>
                <a:defRPr/>
              </a:pPr>
              <a:endParaRPr lang="zh-CN" altLang="en-US">
                <a:latin typeface="宋体" panose="02010600030101010101" pitchFamily="2" charset="-122"/>
              </a:endParaRPr>
            </a:p>
          </p:txBody>
        </p:sp>
        <p:sp>
          <p:nvSpPr>
            <p:cNvPr id="27" name="Line 25"/>
            <p:cNvSpPr>
              <a:spLocks noChangeShapeType="1"/>
            </p:cNvSpPr>
            <p:nvPr/>
          </p:nvSpPr>
          <p:spPr bwMode="auto">
            <a:xfrm flipV="1">
              <a:off x="1979" y="1002"/>
              <a:ext cx="720" cy="576"/>
            </a:xfrm>
            <a:prstGeom prst="line">
              <a:avLst/>
            </a:prstGeom>
            <a:noFill/>
            <a:ln w="12700" cap="sq">
              <a:solidFill>
                <a:schemeClr val="tx1"/>
              </a:solidFill>
              <a:round/>
              <a:headEnd/>
              <a:tailEnd type="triangle" w="med" len="med"/>
            </a:ln>
            <a:effectLst>
              <a:outerShdw dist="12700" dir="5400000" algn="ctr" rotWithShape="0">
                <a:schemeClr val="bg2"/>
              </a:outerShdw>
            </a:effectLst>
          </p:spPr>
          <p:txBody>
            <a:bodyPr lIns="0" tIns="0" rIns="0" bIns="0" anchor="ctr"/>
            <a:lstStyle/>
            <a:p>
              <a:pPr>
                <a:defRPr/>
              </a:pPr>
              <a:endParaRPr lang="zh-CN" altLang="en-US">
                <a:latin typeface="宋体" panose="02010600030101010101" pitchFamily="2" charset="-122"/>
              </a:endParaRPr>
            </a:p>
          </p:txBody>
        </p:sp>
      </p:grpSp>
      <p:grpSp>
        <p:nvGrpSpPr>
          <p:cNvPr id="28" name="Group 28"/>
          <p:cNvGrpSpPr>
            <a:grpSpLocks/>
          </p:cNvGrpSpPr>
          <p:nvPr/>
        </p:nvGrpSpPr>
        <p:grpSpPr bwMode="auto">
          <a:xfrm>
            <a:off x="6845697" y="1669492"/>
            <a:ext cx="1122362" cy="614362"/>
            <a:chOff x="3443" y="1002"/>
            <a:chExt cx="1056" cy="576"/>
          </a:xfrm>
        </p:grpSpPr>
        <p:sp>
          <p:nvSpPr>
            <p:cNvPr id="29" name="Line 26"/>
            <p:cNvSpPr>
              <a:spLocks noChangeShapeType="1"/>
            </p:cNvSpPr>
            <p:nvPr/>
          </p:nvSpPr>
          <p:spPr bwMode="auto">
            <a:xfrm>
              <a:off x="3443" y="1002"/>
              <a:ext cx="816" cy="576"/>
            </a:xfrm>
            <a:prstGeom prst="line">
              <a:avLst/>
            </a:prstGeom>
            <a:noFill/>
            <a:ln w="12700" cap="sq">
              <a:solidFill>
                <a:schemeClr val="tx1"/>
              </a:solidFill>
              <a:round/>
              <a:headEnd/>
              <a:tailEnd type="triangle" w="med" len="med"/>
            </a:ln>
            <a:effectLst>
              <a:outerShdw dist="12700" dir="5400000" algn="ctr" rotWithShape="0">
                <a:schemeClr val="bg2"/>
              </a:outerShdw>
            </a:effectLst>
          </p:spPr>
          <p:txBody>
            <a:bodyPr lIns="0" tIns="0" rIns="0" bIns="0" anchor="ctr"/>
            <a:lstStyle/>
            <a:p>
              <a:pPr>
                <a:defRPr/>
              </a:pPr>
              <a:endParaRPr lang="zh-CN" altLang="en-US">
                <a:latin typeface="宋体" panose="02010600030101010101" pitchFamily="2" charset="-122"/>
              </a:endParaRPr>
            </a:p>
          </p:txBody>
        </p:sp>
        <p:sp>
          <p:nvSpPr>
            <p:cNvPr id="30" name="Line 27"/>
            <p:cNvSpPr>
              <a:spLocks noChangeShapeType="1"/>
            </p:cNvSpPr>
            <p:nvPr/>
          </p:nvSpPr>
          <p:spPr bwMode="auto">
            <a:xfrm flipH="1" flipV="1">
              <a:off x="3731" y="1002"/>
              <a:ext cx="768" cy="576"/>
            </a:xfrm>
            <a:prstGeom prst="line">
              <a:avLst/>
            </a:prstGeom>
            <a:noFill/>
            <a:ln w="12700" cap="sq">
              <a:solidFill>
                <a:schemeClr val="tx1"/>
              </a:solidFill>
              <a:round/>
              <a:headEnd/>
              <a:tailEnd type="triangle" w="med" len="med"/>
            </a:ln>
            <a:effectLst>
              <a:outerShdw dist="12700" dir="5400000" algn="ctr" rotWithShape="0">
                <a:schemeClr val="bg2"/>
              </a:outerShdw>
            </a:effectLst>
          </p:spPr>
          <p:txBody>
            <a:bodyPr lIns="0" tIns="0" rIns="0" bIns="0" anchor="ctr"/>
            <a:lstStyle/>
            <a:p>
              <a:pPr>
                <a:defRPr/>
              </a:pPr>
              <a:endParaRPr lang="zh-CN" altLang="en-US">
                <a:latin typeface="宋体" panose="02010600030101010101" pitchFamily="2" charset="-122"/>
              </a:endParaRPr>
            </a:p>
          </p:txBody>
        </p:sp>
      </p:grpSp>
      <p:sp>
        <p:nvSpPr>
          <p:cNvPr id="31" name="Text Box 16"/>
          <p:cNvSpPr txBox="1">
            <a:spLocks noChangeArrowheads="1"/>
          </p:cNvSpPr>
          <p:nvPr/>
        </p:nvSpPr>
        <p:spPr bwMode="auto">
          <a:xfrm>
            <a:off x="7392144" y="5085184"/>
            <a:ext cx="3729100" cy="503590"/>
          </a:xfrm>
          <a:prstGeom prst="rect">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chemeClr val="bg2">
                <a:alpha val="50000"/>
              </a:schemeClr>
            </a:outerShdw>
          </a:effectLst>
        </p:spPr>
        <p:txBody>
          <a:bodyPr wrap="square" lIns="36000" tIns="36000" rIns="36000" bIns="36000">
            <a:spAutoFit/>
          </a:bodyPr>
          <a:lstStyle>
            <a:defPPr>
              <a:defRPr lang="en-US"/>
            </a:defPPr>
            <a:lvl1pPr algn="ctr">
              <a:defRPr sz="2800" b="1" baseline="0">
                <a:solidFill>
                  <a:srgbClr val="3333CC"/>
                </a:solidFill>
                <a:latin typeface="微软雅黑" panose="020B0503020204020204" pitchFamily="34" charset="-122"/>
                <a:ea typeface="微软雅黑" panose="020B0503020204020204" pitchFamily="34" charset="-122"/>
              </a:defRPr>
            </a:lvl1pPr>
          </a:lstStyle>
          <a:p>
            <a:r>
              <a:rPr lang="zh-CN" altLang="en-US"/>
              <a:t>典型代表是</a:t>
            </a:r>
            <a:r>
              <a:rPr lang="en-US" altLang="zh-CN"/>
              <a:t>DBTG</a:t>
            </a:r>
          </a:p>
        </p:txBody>
      </p:sp>
    </p:spTree>
    <p:extLst>
      <p:ext uri="{BB962C8B-B14F-4D97-AF65-F5344CB8AC3E}">
        <p14:creationId xmlns:p14="http://schemas.microsoft.com/office/powerpoint/2010/main" val="16363744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3223172"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逻辑模型示例</a:t>
            </a:r>
          </a:p>
        </p:txBody>
      </p:sp>
      <p:sp>
        <p:nvSpPr>
          <p:cNvPr id="32" name="Rectangle 43"/>
          <p:cNvSpPr txBox="1">
            <a:spLocks noChangeArrowheads="1"/>
          </p:cNvSpPr>
          <p:nvPr/>
        </p:nvSpPr>
        <p:spPr bwMode="auto">
          <a:xfrm>
            <a:off x="263352" y="908720"/>
            <a:ext cx="5688012" cy="566738"/>
          </a:xfrm>
          <a:prstGeom prst="rect">
            <a:avLst/>
          </a:prstGeom>
          <a:noFill/>
          <a:ln w="9525">
            <a:noFill/>
            <a:miter lim="800000"/>
            <a:headEnd/>
            <a:tailEnd/>
          </a:ln>
          <a:effectLst>
            <a:outerShdw dist="17961" dir="2700000" algn="ctr" rotWithShape="0">
              <a:schemeClr val="bg2"/>
            </a:outerShdw>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eaLnBrk="1" hangingPunct="1">
              <a:buFont typeface="Wingdings" pitchFamily="2" charset="2"/>
              <a:buChar char="¯"/>
              <a:defRPr/>
            </a:pPr>
            <a:r>
              <a:rPr lang="en-US" altLang="zh-CN" sz="3200" kern="0" baseline="0" dirty="0"/>
              <a:t> </a:t>
            </a:r>
            <a:r>
              <a:rPr lang="zh-CN" altLang="en-US" sz="3200" kern="0" baseline="0" dirty="0"/>
              <a:t>关系模型</a:t>
            </a:r>
          </a:p>
        </p:txBody>
      </p:sp>
      <p:sp>
        <p:nvSpPr>
          <p:cNvPr id="33" name="Rectangle 297"/>
          <p:cNvSpPr txBox="1">
            <a:spLocks noChangeArrowheads="1"/>
          </p:cNvSpPr>
          <p:nvPr/>
        </p:nvSpPr>
        <p:spPr bwMode="auto">
          <a:xfrm>
            <a:off x="288180" y="1675185"/>
            <a:ext cx="11424444" cy="2401887"/>
          </a:xfrm>
          <a:prstGeom prst="rect">
            <a:avLst/>
          </a:prstGeom>
          <a:noFill/>
          <a:ln w="9525">
            <a:noFill/>
            <a:miter lim="800000"/>
            <a:headEnd/>
            <a:tailEnd/>
          </a:ln>
          <a:effectLst/>
        </p:spPr>
        <p:txBody>
          <a:bodyPr/>
          <a:lstStyle/>
          <a:p>
            <a:pPr marL="342900" indent="-342900">
              <a:spcBef>
                <a:spcPts val="600"/>
              </a:spcBef>
              <a:spcAft>
                <a:spcPts val="600"/>
              </a:spcAft>
              <a:buClr>
                <a:srgbClr val="66FF33"/>
              </a:buClr>
              <a:buSzPct val="85000"/>
              <a:buFont typeface="Wingdings" pitchFamily="2" charset="2"/>
              <a:buBlip>
                <a:blip r:embed="rId2"/>
              </a:buBlip>
              <a:tabLst>
                <a:tab pos="1260475" algn="l"/>
              </a:tabLst>
              <a:defRPr/>
            </a:pPr>
            <a:r>
              <a:rPr lang="zh-CN" altLang="en-US" sz="32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一个</a:t>
            </a:r>
            <a:r>
              <a:rPr lang="zh-CN" altLang="en-US" sz="3200" kern="0" baseline="0" dirty="0">
                <a:solidFill>
                  <a:srgbClr val="FFFF00"/>
                </a:solidFill>
                <a:effectLst>
                  <a:outerShdw blurRad="38100" dist="38100" dir="2700000" algn="tl">
                    <a:srgbClr val="000000"/>
                  </a:outerShdw>
                </a:effectLst>
                <a:latin typeface="微软雅黑" pitchFamily="34" charset="-122"/>
                <a:ea typeface="微软雅黑" pitchFamily="34" charset="-122"/>
              </a:rPr>
              <a:t>关系</a:t>
            </a:r>
            <a:r>
              <a:rPr lang="zh-CN" altLang="en-US" sz="32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的逻辑结构就是一张规则二维表</a:t>
            </a:r>
          </a:p>
          <a:p>
            <a:pPr marL="342900" indent="-342900">
              <a:spcBef>
                <a:spcPts val="600"/>
              </a:spcBef>
              <a:spcAft>
                <a:spcPts val="600"/>
              </a:spcAft>
              <a:buClr>
                <a:srgbClr val="66FF33"/>
              </a:buClr>
              <a:buSzPct val="85000"/>
              <a:buFont typeface="Wingdings" pitchFamily="2" charset="2"/>
              <a:buBlip>
                <a:blip r:embed="rId2"/>
              </a:buBlip>
              <a:tabLst>
                <a:tab pos="1260475" algn="l"/>
              </a:tabLst>
              <a:defRPr/>
            </a:pPr>
            <a:r>
              <a:rPr lang="zh-CN" altLang="en-US" sz="32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表中的列称为</a:t>
            </a:r>
            <a:r>
              <a:rPr lang="zh-CN" altLang="en-US" sz="3200" kern="0" baseline="0" dirty="0">
                <a:solidFill>
                  <a:srgbClr val="FFFF00"/>
                </a:solidFill>
                <a:effectLst>
                  <a:outerShdw blurRad="38100" dist="38100" dir="2700000" algn="tl">
                    <a:srgbClr val="000000"/>
                  </a:outerShdw>
                </a:effectLst>
                <a:latin typeface="微软雅黑" pitchFamily="34" charset="-122"/>
                <a:ea typeface="微软雅黑" pitchFamily="34" charset="-122"/>
              </a:rPr>
              <a:t>字段</a:t>
            </a:r>
            <a:r>
              <a:rPr lang="zh-CN" altLang="en-US" sz="32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（属性）；表中的行称为</a:t>
            </a:r>
            <a:r>
              <a:rPr lang="zh-CN" altLang="en-US" sz="3200" kern="0" baseline="0" dirty="0">
                <a:solidFill>
                  <a:srgbClr val="FFFF00"/>
                </a:solidFill>
                <a:effectLst>
                  <a:outerShdw blurRad="38100" dist="38100" dir="2700000" algn="tl">
                    <a:srgbClr val="000000"/>
                  </a:outerShdw>
                </a:effectLst>
                <a:latin typeface="微软雅黑" pitchFamily="34" charset="-122"/>
                <a:ea typeface="微软雅黑" pitchFamily="34" charset="-122"/>
              </a:rPr>
              <a:t>记录</a:t>
            </a:r>
            <a:r>
              <a:rPr lang="zh-CN" altLang="en-US" sz="32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（元组）</a:t>
            </a:r>
          </a:p>
          <a:p>
            <a:pPr marL="342900" indent="-342900">
              <a:spcBef>
                <a:spcPts val="600"/>
              </a:spcBef>
              <a:spcAft>
                <a:spcPts val="600"/>
              </a:spcAft>
              <a:buClr>
                <a:srgbClr val="66FF33"/>
              </a:buClr>
              <a:buSzPct val="85000"/>
              <a:buFont typeface="Wingdings" pitchFamily="2" charset="2"/>
              <a:buBlip>
                <a:blip r:embed="rId2"/>
              </a:buBlip>
              <a:tabLst>
                <a:tab pos="1260475" algn="l"/>
              </a:tabLst>
              <a:defRPr/>
            </a:pPr>
            <a:r>
              <a:rPr lang="zh-CN" altLang="en-US" sz="32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基于关系模型的数据库就是关系数据库。</a:t>
            </a:r>
          </a:p>
        </p:txBody>
      </p:sp>
      <p:sp>
        <p:nvSpPr>
          <p:cNvPr id="34" name="Rectangle 298"/>
          <p:cNvSpPr txBox="1">
            <a:spLocks noChangeArrowheads="1"/>
          </p:cNvSpPr>
          <p:nvPr/>
        </p:nvSpPr>
        <p:spPr bwMode="auto">
          <a:xfrm>
            <a:off x="562990" y="3881472"/>
            <a:ext cx="7561262" cy="1873250"/>
          </a:xfrm>
          <a:prstGeom prst="rect">
            <a:avLst/>
          </a:prstGeom>
          <a:noFill/>
          <a:ln w="9525">
            <a:noFill/>
            <a:miter lim="800000"/>
            <a:headEnd/>
            <a:tailEnd/>
          </a:ln>
          <a:effectLst/>
        </p:spPr>
        <p:txBody>
          <a:bodyPr/>
          <a:lstStyle/>
          <a:p>
            <a:pPr marL="180975" indent="-180975">
              <a:spcAft>
                <a:spcPct val="25000"/>
              </a:spcAft>
              <a:buClr>
                <a:srgbClr val="66FF33"/>
              </a:buClr>
              <a:buSzPct val="85000"/>
              <a:buFontTx/>
              <a:buChar char="•"/>
              <a:defRPr/>
            </a:pPr>
            <a:r>
              <a:rPr lang="zh-CN" altLang="en-US" sz="24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有严格的关系数学理论基础。</a:t>
            </a:r>
          </a:p>
          <a:p>
            <a:pPr marL="180975" indent="-180975">
              <a:spcAft>
                <a:spcPct val="25000"/>
              </a:spcAft>
              <a:buClr>
                <a:srgbClr val="66FF33"/>
              </a:buClr>
              <a:buSzPct val="85000"/>
              <a:buFontTx/>
              <a:buChar char="•"/>
              <a:defRPr/>
            </a:pPr>
            <a:r>
              <a:rPr lang="zh-CN" altLang="en-US" sz="24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实体或联系，乃至操作结果都是关系。</a:t>
            </a:r>
          </a:p>
          <a:p>
            <a:pPr marL="180975" indent="-180975">
              <a:spcAft>
                <a:spcPct val="25000"/>
              </a:spcAft>
              <a:buClr>
                <a:srgbClr val="66FF33"/>
              </a:buClr>
              <a:buSzPct val="85000"/>
              <a:buFontTx/>
              <a:buChar char="•"/>
              <a:defRPr/>
            </a:pPr>
            <a:r>
              <a:rPr lang="zh-CN" altLang="en-US" sz="24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结构简单自然，易懂易用。</a:t>
            </a:r>
          </a:p>
          <a:p>
            <a:pPr marL="180975" indent="-180975">
              <a:spcAft>
                <a:spcPct val="25000"/>
              </a:spcAft>
              <a:buClr>
                <a:srgbClr val="66FF33"/>
              </a:buClr>
              <a:buSzPct val="85000"/>
              <a:buFontTx/>
              <a:buChar char="•"/>
              <a:defRPr/>
            </a:pPr>
            <a:r>
              <a:rPr lang="zh-CN" altLang="en-US" sz="24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数据存取路径对用户透明，数据独立性较强。</a:t>
            </a:r>
          </a:p>
          <a:p>
            <a:pPr marL="180975" indent="-180975">
              <a:spcAft>
                <a:spcPct val="25000"/>
              </a:spcAft>
              <a:buClr>
                <a:srgbClr val="66FF33"/>
              </a:buClr>
              <a:buSzPct val="85000"/>
              <a:buFontTx/>
              <a:buChar char="•"/>
              <a:defRPr/>
            </a:pPr>
            <a:r>
              <a:rPr lang="zh-CN" altLang="en-US" sz="2400" kern="0" baseline="0" dirty="0">
                <a:solidFill>
                  <a:srgbClr val="CCFFCC"/>
                </a:solidFill>
                <a:effectLst>
                  <a:outerShdw blurRad="38100" dist="38100" dir="2700000" algn="tl">
                    <a:srgbClr val="000000"/>
                  </a:outerShdw>
                </a:effectLst>
                <a:latin typeface="微软雅黑" pitchFamily="34" charset="-122"/>
                <a:ea typeface="微软雅黑" pitchFamily="34" charset="-122"/>
              </a:rPr>
              <a:t>查询效率较非关系模型差。</a:t>
            </a:r>
          </a:p>
        </p:txBody>
      </p:sp>
      <p:sp>
        <p:nvSpPr>
          <p:cNvPr id="35" name="Rectangle 299"/>
          <p:cNvSpPr>
            <a:spLocks noChangeArrowheads="1"/>
          </p:cNvSpPr>
          <p:nvPr/>
        </p:nvSpPr>
        <p:spPr bwMode="auto">
          <a:xfrm>
            <a:off x="8400256" y="3774628"/>
            <a:ext cx="2093913" cy="369332"/>
          </a:xfrm>
          <a:prstGeom prst="rect">
            <a:avLst/>
          </a:prstGeom>
          <a:noFill/>
          <a:ln w="12700" cap="sq">
            <a:noFill/>
            <a:miter lim="800000"/>
            <a:headEnd/>
            <a:tailEnd/>
          </a:ln>
          <a:effectLst/>
        </p:spPr>
        <p:txBody>
          <a:bodyPr lIns="0" tIns="0" rIns="0" bIns="0">
            <a:spAutoFit/>
          </a:bodyPr>
          <a:lstStyle/>
          <a:p>
            <a:pPr algn="ctr">
              <a:defRPr/>
            </a:pPr>
            <a:r>
              <a:rPr kumimoji="1" lang="zh-CN" altLang="en-US" sz="2400" baseline="0" dirty="0">
                <a:effectLst>
                  <a:outerShdw blurRad="38100" dist="38100" dir="2700000" algn="tl">
                    <a:srgbClr val="000000"/>
                  </a:outerShdw>
                </a:effectLst>
                <a:latin typeface="宋体" panose="02010600030101010101" pitchFamily="2" charset="-122"/>
              </a:rPr>
              <a:t>教师记录</a:t>
            </a:r>
          </a:p>
        </p:txBody>
      </p:sp>
      <p:graphicFrame>
        <p:nvGraphicFramePr>
          <p:cNvPr id="36" name="Group 300"/>
          <p:cNvGraphicFramePr>
            <a:graphicFrameLocks noGrp="1"/>
          </p:cNvGraphicFramePr>
          <p:nvPr>
            <p:extLst>
              <p:ext uri="{D42A27DB-BD31-4B8C-83A1-F6EECF244321}">
                <p14:modId xmlns:p14="http://schemas.microsoft.com/office/powerpoint/2010/main" val="2659914017"/>
              </p:ext>
            </p:extLst>
          </p:nvPr>
        </p:nvGraphicFramePr>
        <p:xfrm>
          <a:off x="7392194" y="4227064"/>
          <a:ext cx="4176712" cy="1873250"/>
        </p:xfrm>
        <a:graphic>
          <a:graphicData uri="http://schemas.openxmlformats.org/drawingml/2006/table">
            <a:tbl>
              <a:tblPr/>
              <a:tblGrid>
                <a:gridCol w="928687">
                  <a:extLst>
                    <a:ext uri="{9D8B030D-6E8A-4147-A177-3AD203B41FA5}">
                      <a16:colId xmlns:a16="http://schemas.microsoft.com/office/drawing/2014/main" val="20000"/>
                    </a:ext>
                  </a:extLst>
                </a:gridCol>
                <a:gridCol w="720725">
                  <a:extLst>
                    <a:ext uri="{9D8B030D-6E8A-4147-A177-3AD203B41FA5}">
                      <a16:colId xmlns:a16="http://schemas.microsoft.com/office/drawing/2014/main" val="20001"/>
                    </a:ext>
                  </a:extLst>
                </a:gridCol>
                <a:gridCol w="881063">
                  <a:extLst>
                    <a:ext uri="{9D8B030D-6E8A-4147-A177-3AD203B41FA5}">
                      <a16:colId xmlns:a16="http://schemas.microsoft.com/office/drawing/2014/main" val="20002"/>
                    </a:ext>
                  </a:extLst>
                </a:gridCol>
                <a:gridCol w="796925">
                  <a:extLst>
                    <a:ext uri="{9D8B030D-6E8A-4147-A177-3AD203B41FA5}">
                      <a16:colId xmlns:a16="http://schemas.microsoft.com/office/drawing/2014/main" val="20003"/>
                    </a:ext>
                  </a:extLst>
                </a:gridCol>
                <a:gridCol w="849312">
                  <a:extLst>
                    <a:ext uri="{9D8B030D-6E8A-4147-A177-3AD203B41FA5}">
                      <a16:colId xmlns:a16="http://schemas.microsoft.com/office/drawing/2014/main" val="20004"/>
                    </a:ext>
                  </a:extLst>
                </a:gridCol>
              </a:tblGrid>
              <a:tr h="3746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工资</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职称</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46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李青</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35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500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助教</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46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王华</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50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940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讲师</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46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a:t>
                      </a:r>
                      <a:endParaRPr kumimoji="0" lang="zh-CN" altLang="en-US"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46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张家明</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36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500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00FFCC"/>
                          </a:solidFill>
                          <a:effectLst>
                            <a:outerShdw blurRad="38100" dist="38100" dir="2700000" algn="tl">
                              <a:srgbClr val="000000"/>
                            </a:outerShdw>
                          </a:effectLst>
                          <a:latin typeface="宋体" panose="02010600030101010101" pitchFamily="2" charset="-122"/>
                          <a:ea typeface="宋体" panose="02010600030101010101" pitchFamily="2" charset="-122"/>
                        </a:rPr>
                        <a:t>助教</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8" name="Text Box 30"/>
          <p:cNvSpPr txBox="1">
            <a:spLocks noChangeArrowheads="1"/>
          </p:cNvSpPr>
          <p:nvPr/>
        </p:nvSpPr>
        <p:spPr bwMode="auto">
          <a:xfrm>
            <a:off x="5447928" y="557062"/>
            <a:ext cx="3553866" cy="503590"/>
          </a:xfrm>
          <a:prstGeom prst="rect">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chemeClr val="bg2">
                <a:alpha val="50000"/>
              </a:schemeClr>
            </a:outerShdw>
          </a:effectLst>
        </p:spPr>
        <p:txBody>
          <a:bodyPr wrap="square" lIns="36000" tIns="36000" rIns="36000" bIns="36000">
            <a:spAutoFit/>
          </a:bodyPr>
          <a:lstStyle>
            <a:defPPr>
              <a:defRPr lang="en-US"/>
            </a:defPPr>
            <a:lvl1pPr algn="ctr">
              <a:defRPr sz="2800" b="1" baseline="0">
                <a:solidFill>
                  <a:srgbClr val="3333CC"/>
                </a:solidFill>
                <a:latin typeface="微软雅黑" panose="020B0503020204020204" pitchFamily="34" charset="-122"/>
                <a:ea typeface="微软雅黑" panose="020B0503020204020204" pitchFamily="34" charset="-122"/>
              </a:defRPr>
            </a:lvl1pPr>
          </a:lstStyle>
          <a:p>
            <a:r>
              <a:rPr lang="zh-CN" altLang="en-US" dirty="0"/>
              <a:t>我们就要学习它</a:t>
            </a:r>
            <a:endParaRPr lang="en-US" altLang="zh-CN" dirty="0"/>
          </a:p>
        </p:txBody>
      </p:sp>
    </p:spTree>
    <p:extLst>
      <p:ext uri="{BB962C8B-B14F-4D97-AF65-F5344CB8AC3E}">
        <p14:creationId xmlns:p14="http://schemas.microsoft.com/office/powerpoint/2010/main" val="29467617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3223172"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逻辑模型示例</a:t>
            </a:r>
          </a:p>
        </p:txBody>
      </p:sp>
      <p:sp>
        <p:nvSpPr>
          <p:cNvPr id="9" name="Rectangle 4"/>
          <p:cNvSpPr txBox="1">
            <a:spLocks noChangeArrowheads="1"/>
          </p:cNvSpPr>
          <p:nvPr/>
        </p:nvSpPr>
        <p:spPr bwMode="auto">
          <a:xfrm>
            <a:off x="479376" y="980728"/>
            <a:ext cx="8569325" cy="45704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0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18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18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18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18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18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1800">
                <a:solidFill>
                  <a:srgbClr val="CCFFCC"/>
                </a:solidFill>
                <a:effectLst>
                  <a:outerShdw blurRad="38100" dist="38100" dir="2700000" algn="tl">
                    <a:srgbClr val="000000"/>
                  </a:outerShdw>
                </a:effectLst>
                <a:latin typeface="+mn-lt"/>
                <a:ea typeface="+mn-ea"/>
              </a:defRPr>
            </a:lvl9pPr>
          </a:lstStyle>
          <a:p>
            <a:pPr>
              <a:spcAft>
                <a:spcPct val="25000"/>
              </a:spcAft>
            </a:pPr>
            <a:r>
              <a:rPr lang="zh-CN" altLang="en-US" baseline="0" dirty="0">
                <a:latin typeface="微软雅黑" pitchFamily="34" charset="-122"/>
                <a:ea typeface="微软雅黑" pitchFamily="34" charset="-122"/>
              </a:rPr>
              <a:t>面向对象模型（</a:t>
            </a:r>
            <a:r>
              <a:rPr lang="en-US" altLang="zh-CN" baseline="0" dirty="0">
                <a:latin typeface="微软雅黑" pitchFamily="34" charset="-122"/>
                <a:ea typeface="微软雅黑" pitchFamily="34" charset="-122"/>
              </a:rPr>
              <a:t>Object Oriented,</a:t>
            </a:r>
            <a:r>
              <a:rPr lang="zh-CN" altLang="en-US" baseline="0" dirty="0">
                <a:latin typeface="微软雅黑" pitchFamily="34" charset="-122"/>
                <a:ea typeface="微软雅黑" pitchFamily="34" charset="-122"/>
              </a:rPr>
              <a:t>　</a:t>
            </a:r>
            <a:r>
              <a:rPr lang="en-US" altLang="zh-CN" baseline="0" dirty="0">
                <a:latin typeface="微软雅黑" pitchFamily="34" charset="-122"/>
                <a:ea typeface="微软雅黑" pitchFamily="34" charset="-122"/>
              </a:rPr>
              <a:t>OO</a:t>
            </a:r>
            <a:r>
              <a:rPr lang="zh-CN" altLang="en-US" baseline="0" dirty="0">
                <a:latin typeface="微软雅黑" pitchFamily="34" charset="-122"/>
                <a:ea typeface="微软雅黑" pitchFamily="34" charset="-122"/>
              </a:rPr>
              <a:t>）</a:t>
            </a:r>
            <a:endParaRPr lang="en-US" altLang="zh-CN" baseline="0" dirty="0">
              <a:latin typeface="微软雅黑" pitchFamily="34" charset="-122"/>
              <a:ea typeface="微软雅黑" pitchFamily="34" charset="-122"/>
            </a:endParaRPr>
          </a:p>
          <a:p>
            <a:pPr marL="365125" lvl="1" indent="0">
              <a:spcAft>
                <a:spcPct val="25000"/>
              </a:spcAft>
              <a:buNone/>
            </a:pPr>
            <a:r>
              <a:rPr lang="zh-CN" altLang="en-US" baseline="0" dirty="0">
                <a:solidFill>
                  <a:srgbClr val="92D050"/>
                </a:solidFill>
                <a:latin typeface="微软雅黑" pitchFamily="34" charset="-122"/>
                <a:ea typeface="微软雅黑" pitchFamily="34" charset="-122"/>
              </a:rPr>
              <a:t>数据库 </a:t>
            </a:r>
            <a:r>
              <a:rPr lang="en-US" altLang="zh-CN" baseline="0" dirty="0">
                <a:solidFill>
                  <a:srgbClr val="92D050"/>
                </a:solidFill>
                <a:latin typeface="微软雅黑" pitchFamily="34" charset="-122"/>
                <a:ea typeface="微软雅黑" pitchFamily="34" charset="-122"/>
              </a:rPr>
              <a:t>+ OOP</a:t>
            </a:r>
            <a:endParaRPr lang="zh-CN" altLang="en-US" baseline="0" dirty="0">
              <a:solidFill>
                <a:srgbClr val="92D050"/>
              </a:solidFill>
              <a:latin typeface="微软雅黑" pitchFamily="34" charset="-122"/>
              <a:ea typeface="微软雅黑" pitchFamily="34" charset="-122"/>
            </a:endParaRPr>
          </a:p>
          <a:p>
            <a:pPr>
              <a:spcBef>
                <a:spcPts val="1200"/>
              </a:spcBef>
              <a:spcAft>
                <a:spcPct val="25000"/>
              </a:spcAft>
            </a:pPr>
            <a:r>
              <a:rPr lang="zh-CN" altLang="en-US" baseline="0" dirty="0">
                <a:latin typeface="微软雅黑" pitchFamily="34" charset="-122"/>
                <a:ea typeface="微软雅黑" pitchFamily="34" charset="-122"/>
              </a:rPr>
              <a:t>键</a:t>
            </a:r>
            <a:r>
              <a:rPr lang="en-US" altLang="zh-CN" baseline="0" dirty="0">
                <a:latin typeface="微软雅黑" pitchFamily="34" charset="-122"/>
                <a:ea typeface="微软雅黑" pitchFamily="34" charset="-122"/>
              </a:rPr>
              <a:t>-</a:t>
            </a:r>
            <a:r>
              <a:rPr lang="zh-CN" altLang="en-US" baseline="0" dirty="0">
                <a:latin typeface="微软雅黑" pitchFamily="34" charset="-122"/>
                <a:ea typeface="微软雅黑" pitchFamily="34" charset="-122"/>
              </a:rPr>
              <a:t>值对模型（</a:t>
            </a:r>
            <a:r>
              <a:rPr lang="en-US" altLang="zh-CN" baseline="0" dirty="0">
                <a:latin typeface="微软雅黑" pitchFamily="34" charset="-122"/>
                <a:ea typeface="微软雅黑" pitchFamily="34" charset="-122"/>
              </a:rPr>
              <a:t>Key-Value</a:t>
            </a:r>
            <a:r>
              <a:rPr lang="zh-CN" altLang="en-US" baseline="0" dirty="0">
                <a:latin typeface="微软雅黑" pitchFamily="34" charset="-122"/>
                <a:ea typeface="微软雅黑" pitchFamily="34" charset="-122"/>
              </a:rPr>
              <a:t>）</a:t>
            </a:r>
            <a:endParaRPr lang="en-US" altLang="zh-CN" baseline="0" dirty="0">
              <a:latin typeface="微软雅黑" pitchFamily="34" charset="-122"/>
              <a:ea typeface="微软雅黑" pitchFamily="34" charset="-122"/>
            </a:endParaRPr>
          </a:p>
          <a:p>
            <a:pPr marL="365125" lvl="1" indent="0">
              <a:spcAft>
                <a:spcPct val="25000"/>
              </a:spcAft>
              <a:buNone/>
            </a:pPr>
            <a:r>
              <a:rPr lang="zh-CN" altLang="en-US" baseline="0" dirty="0">
                <a:solidFill>
                  <a:srgbClr val="92D050"/>
                </a:solidFill>
                <a:latin typeface="微软雅黑" pitchFamily="34" charset="-122"/>
                <a:ea typeface="微软雅黑" pitchFamily="34" charset="-122"/>
              </a:rPr>
              <a:t>哈希表</a:t>
            </a:r>
            <a:endParaRPr lang="en-US" altLang="zh-CN" sz="2800" baseline="0" dirty="0">
              <a:solidFill>
                <a:srgbClr val="92D050"/>
              </a:solidFill>
              <a:latin typeface="微软雅黑" pitchFamily="34" charset="-122"/>
              <a:ea typeface="微软雅黑" pitchFamily="34" charset="-122"/>
            </a:endParaRPr>
          </a:p>
          <a:p>
            <a:pPr>
              <a:spcBef>
                <a:spcPts val="1200"/>
              </a:spcBef>
              <a:spcAft>
                <a:spcPct val="25000"/>
              </a:spcAft>
            </a:pPr>
            <a:r>
              <a:rPr lang="zh-CN" altLang="en-US" baseline="0" dirty="0">
                <a:latin typeface="微软雅黑" pitchFamily="34" charset="-122"/>
                <a:ea typeface="微软雅黑" pitchFamily="34" charset="-122"/>
              </a:rPr>
              <a:t>文档模型（</a:t>
            </a:r>
            <a:r>
              <a:rPr lang="en-US" altLang="zh-CN" baseline="0" dirty="0">
                <a:latin typeface="微软雅黑" pitchFamily="34" charset="-122"/>
                <a:ea typeface="微软雅黑" pitchFamily="34" charset="-122"/>
              </a:rPr>
              <a:t>Document</a:t>
            </a:r>
            <a:r>
              <a:rPr lang="zh-CN" altLang="en-US" baseline="0" dirty="0">
                <a:latin typeface="微软雅黑" pitchFamily="34" charset="-122"/>
                <a:ea typeface="微软雅黑" pitchFamily="34" charset="-122"/>
              </a:rPr>
              <a:t>）</a:t>
            </a:r>
            <a:endParaRPr lang="en-US" altLang="zh-CN" baseline="0" dirty="0">
              <a:latin typeface="微软雅黑" pitchFamily="34" charset="-122"/>
              <a:ea typeface="微软雅黑" pitchFamily="34" charset="-122"/>
            </a:endParaRPr>
          </a:p>
          <a:p>
            <a:pPr marL="365125" lvl="1" indent="0">
              <a:spcAft>
                <a:spcPct val="25000"/>
              </a:spcAft>
              <a:buNone/>
            </a:pPr>
            <a:r>
              <a:rPr lang="zh-CN" altLang="en-US" baseline="0" dirty="0">
                <a:solidFill>
                  <a:srgbClr val="92D050"/>
                </a:solidFill>
                <a:latin typeface="微软雅黑" pitchFamily="34" charset="-122"/>
                <a:ea typeface="微软雅黑" pitchFamily="34" charset="-122"/>
              </a:rPr>
              <a:t>对数据结构要求不严格</a:t>
            </a:r>
            <a:endParaRPr lang="en-US" altLang="zh-CN" sz="2800" baseline="0" dirty="0">
              <a:solidFill>
                <a:srgbClr val="92D050"/>
              </a:solidFill>
              <a:latin typeface="微软雅黑" pitchFamily="34" charset="-122"/>
              <a:ea typeface="微软雅黑" pitchFamily="34" charset="-122"/>
            </a:endParaRPr>
          </a:p>
          <a:p>
            <a:pPr>
              <a:spcBef>
                <a:spcPts val="1200"/>
              </a:spcBef>
              <a:spcAft>
                <a:spcPct val="25000"/>
              </a:spcAft>
            </a:pPr>
            <a:r>
              <a:rPr lang="zh-CN" altLang="en-US" baseline="0" dirty="0">
                <a:latin typeface="微软雅黑" pitchFamily="34" charset="-122"/>
                <a:ea typeface="微软雅黑" pitchFamily="34" charset="-122"/>
              </a:rPr>
              <a:t>列式存储模型（</a:t>
            </a:r>
            <a:r>
              <a:rPr lang="en-US" altLang="zh-CN" baseline="0" dirty="0">
                <a:latin typeface="微软雅黑" pitchFamily="34" charset="-122"/>
                <a:ea typeface="微软雅黑" pitchFamily="34" charset="-122"/>
              </a:rPr>
              <a:t>Wide column</a:t>
            </a:r>
            <a:r>
              <a:rPr lang="zh-CN" altLang="en-US" baseline="0" dirty="0">
                <a:latin typeface="微软雅黑" pitchFamily="34" charset="-122"/>
                <a:ea typeface="微软雅黑" pitchFamily="34" charset="-122"/>
              </a:rPr>
              <a:t>）</a:t>
            </a:r>
            <a:endParaRPr lang="en-US" altLang="zh-CN" baseline="0" dirty="0">
              <a:latin typeface="微软雅黑" pitchFamily="34" charset="-122"/>
              <a:ea typeface="微软雅黑" pitchFamily="34" charset="-122"/>
            </a:endParaRPr>
          </a:p>
          <a:p>
            <a:pPr marL="365125" lvl="1" indent="0">
              <a:spcAft>
                <a:spcPct val="25000"/>
              </a:spcAft>
              <a:buNone/>
            </a:pPr>
            <a:r>
              <a:rPr lang="zh-CN" altLang="en-US" baseline="0" dirty="0">
                <a:solidFill>
                  <a:srgbClr val="92D050"/>
                </a:solidFill>
                <a:latin typeface="微软雅黑" pitchFamily="34" charset="-122"/>
                <a:ea typeface="微软雅黑" pitchFamily="34" charset="-122"/>
              </a:rPr>
              <a:t>按列存储数据</a:t>
            </a:r>
            <a:endParaRPr lang="en-US" altLang="zh-CN" sz="2800" baseline="0" dirty="0">
              <a:solidFill>
                <a:srgbClr val="92D050"/>
              </a:solidFill>
              <a:latin typeface="微软雅黑" pitchFamily="34" charset="-122"/>
              <a:ea typeface="微软雅黑" pitchFamily="34" charset="-122"/>
            </a:endParaRPr>
          </a:p>
          <a:p>
            <a:pPr>
              <a:spcBef>
                <a:spcPts val="1200"/>
              </a:spcBef>
              <a:spcAft>
                <a:spcPct val="25000"/>
              </a:spcAft>
            </a:pPr>
            <a:r>
              <a:rPr lang="zh-CN" altLang="en-US" baseline="0" dirty="0">
                <a:latin typeface="微软雅黑" pitchFamily="34" charset="-122"/>
                <a:ea typeface="微软雅黑" pitchFamily="34" charset="-122"/>
              </a:rPr>
              <a:t>倒排索引模型（</a:t>
            </a:r>
            <a:r>
              <a:rPr lang="en-US" altLang="zh-CN" baseline="0" dirty="0">
                <a:latin typeface="微软雅黑" pitchFamily="34" charset="-122"/>
                <a:ea typeface="微软雅黑" pitchFamily="34" charset="-122"/>
              </a:rPr>
              <a:t>Inverted Index</a:t>
            </a:r>
            <a:r>
              <a:rPr lang="zh-CN" altLang="en-US" baseline="0" dirty="0">
                <a:latin typeface="微软雅黑" pitchFamily="34" charset="-122"/>
                <a:ea typeface="微软雅黑" pitchFamily="34" charset="-122"/>
              </a:rPr>
              <a:t>）</a:t>
            </a:r>
            <a:endParaRPr lang="en-US" altLang="zh-CN" baseline="0" dirty="0">
              <a:latin typeface="微软雅黑" pitchFamily="34" charset="-122"/>
              <a:ea typeface="微软雅黑" pitchFamily="34" charset="-122"/>
            </a:endParaRPr>
          </a:p>
          <a:p>
            <a:pPr marL="365125" lvl="1" indent="0">
              <a:spcAft>
                <a:spcPct val="25000"/>
              </a:spcAft>
              <a:buNone/>
            </a:pPr>
            <a:r>
              <a:rPr lang="zh-CN" altLang="en-US" baseline="0" dirty="0">
                <a:solidFill>
                  <a:srgbClr val="92D050"/>
                </a:solidFill>
                <a:latin typeface="微软雅黑" pitchFamily="34" charset="-122"/>
                <a:ea typeface="微软雅黑" pitchFamily="34" charset="-122"/>
              </a:rPr>
              <a:t>用文档的关键词作为索引，文档作为索引目标</a:t>
            </a:r>
            <a:endParaRPr lang="en-US" altLang="zh-CN" sz="2800" baseline="0" dirty="0">
              <a:solidFill>
                <a:srgbClr val="92D050"/>
              </a:solidFill>
              <a:latin typeface="微软雅黑" pitchFamily="34" charset="-122"/>
              <a:ea typeface="微软雅黑" pitchFamily="34" charset="-122"/>
            </a:endParaRP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8701" y="2276872"/>
            <a:ext cx="1948872" cy="4089980"/>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
        <p:nvSpPr>
          <p:cNvPr id="11" name="Text Box 16"/>
          <p:cNvSpPr txBox="1">
            <a:spLocks noChangeArrowheads="1"/>
          </p:cNvSpPr>
          <p:nvPr/>
        </p:nvSpPr>
        <p:spPr bwMode="auto">
          <a:xfrm>
            <a:off x="8522385" y="980728"/>
            <a:ext cx="2952750" cy="503590"/>
          </a:xfrm>
          <a:prstGeom prst="rect">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chemeClr val="bg2">
                <a:alpha val="50000"/>
              </a:schemeClr>
            </a:outerShdw>
          </a:effectLst>
        </p:spPr>
        <p:txBody>
          <a:bodyPr lIns="36000" tIns="36000" rIns="36000" bIns="36000">
            <a:spAutoFit/>
          </a:bodyPr>
          <a:lstStyle/>
          <a:p>
            <a:pPr algn="ctr">
              <a:defRPr/>
            </a:pPr>
            <a:r>
              <a:rPr lang="zh-CN" altLang="en-US" sz="2800" b="1" baseline="0" dirty="0">
                <a:solidFill>
                  <a:srgbClr val="3333CC"/>
                </a:solidFill>
                <a:latin typeface="微软雅黑" panose="020B0503020204020204" pitchFamily="34" charset="-122"/>
                <a:ea typeface="微软雅黑" panose="020B0503020204020204" pitchFamily="34" charset="-122"/>
              </a:rPr>
              <a:t>其它现代模型</a:t>
            </a:r>
            <a:endParaRPr lang="en-US" altLang="zh-CN" sz="2800" b="1" baseline="0" dirty="0">
              <a:solidFill>
                <a:srgbClr val="3333CC"/>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318412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a:extLst>
              <a:ext uri="{FF2B5EF4-FFF2-40B4-BE49-F238E27FC236}">
                <a16:creationId xmlns:a16="http://schemas.microsoft.com/office/drawing/2014/main" id="{CBC9680B-CC7E-4710-90A6-D87EF213C5F3}"/>
              </a:ext>
            </a:extLst>
          </p:cNvPr>
          <p:cNvSpPr>
            <a:spLocks noGrp="1" noChangeArrowheads="1"/>
          </p:cNvSpPr>
          <p:nvPr>
            <p:ph type="body" idx="1"/>
          </p:nvPr>
        </p:nvSpPr>
        <p:spPr>
          <a:xfrm>
            <a:off x="609600" y="836712"/>
            <a:ext cx="11175032" cy="4054475"/>
          </a:xfrm>
        </p:spPr>
        <p:txBody>
          <a:bodyPr/>
          <a:lstStyle/>
          <a:p>
            <a:pPr>
              <a:lnSpc>
                <a:spcPct val="150000"/>
              </a:lnSpc>
              <a:buFontTx/>
              <a:buNone/>
            </a:pPr>
            <a:r>
              <a:rPr lang="zh-CN" altLang="en-US" sz="2400" dirty="0"/>
              <a:t>三、物理数据模型（</a:t>
            </a:r>
            <a:r>
              <a:rPr lang="en-US" altLang="zh-CN" sz="2400" dirty="0"/>
              <a:t>Physical Data Model</a:t>
            </a:r>
            <a:r>
              <a:rPr lang="zh-CN" altLang="en-US" sz="2400" dirty="0"/>
              <a:t>）。</a:t>
            </a:r>
          </a:p>
          <a:p>
            <a:pPr>
              <a:lnSpc>
                <a:spcPct val="150000"/>
              </a:lnSpc>
            </a:pPr>
            <a:r>
              <a:rPr lang="zh-CN" altLang="en-US" sz="2400" dirty="0"/>
              <a:t>对数据最低层的抽象，它描述数据在储存介质上的组织结构、存储方式和存取方法。</a:t>
            </a:r>
          </a:p>
          <a:p>
            <a:pPr>
              <a:lnSpc>
                <a:spcPct val="150000"/>
              </a:lnSpc>
            </a:pPr>
            <a:r>
              <a:rPr lang="zh-CN" altLang="en-US" sz="2400" dirty="0"/>
              <a:t>是面向计算机物理表示的模型，不但与具体的</a:t>
            </a:r>
            <a:r>
              <a:rPr lang="en-US" altLang="zh-CN" sz="2400" dirty="0"/>
              <a:t>DBMS</a:t>
            </a:r>
            <a:r>
              <a:rPr lang="zh-CN" altLang="en-US" sz="2400" dirty="0"/>
              <a:t>有关，而且还与操作系统和硬件有关。</a:t>
            </a:r>
          </a:p>
          <a:p>
            <a:pPr>
              <a:lnSpc>
                <a:spcPct val="150000"/>
              </a:lnSpc>
            </a:pPr>
            <a:r>
              <a:rPr lang="zh-CN" altLang="en-US" sz="2400" dirty="0"/>
              <a:t>每一种逻辑数据模型在实现时都有与其对应的物理数据模型。</a:t>
            </a:r>
          </a:p>
          <a:p>
            <a:pPr>
              <a:lnSpc>
                <a:spcPct val="150000"/>
              </a:lnSpc>
            </a:pPr>
            <a:r>
              <a:rPr lang="en-US" altLang="zh-CN" sz="2400" dirty="0"/>
              <a:t>DBMS</a:t>
            </a:r>
            <a:r>
              <a:rPr lang="zh-CN" altLang="en-US" sz="2400" dirty="0"/>
              <a:t>为了保证其独立性与可移植性，大部分物理数据模型的实现工作由</a:t>
            </a:r>
            <a:r>
              <a:rPr lang="en-US" altLang="zh-CN" sz="2400" dirty="0"/>
              <a:t>DBMS</a:t>
            </a:r>
            <a:r>
              <a:rPr lang="zh-CN" altLang="en-US" sz="2400" dirty="0"/>
              <a:t>系统自动完成，设计者只设计索引、聚集等特殊结构。</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2443AE5D-AD54-4960-9FBD-7F76ACF6E209}"/>
              </a:ext>
            </a:extLst>
          </p:cNvPr>
          <p:cNvSpPr>
            <a:spLocks noGrp="1" noChangeArrowheads="1"/>
          </p:cNvSpPr>
          <p:nvPr>
            <p:ph type="title"/>
          </p:nvPr>
        </p:nvSpPr>
        <p:spPr>
          <a:xfrm>
            <a:off x="668104" y="71920"/>
            <a:ext cx="2962671" cy="707886"/>
          </a:xfrm>
        </p:spPr>
        <p:txBody>
          <a:bodyPr/>
          <a:lstStyle/>
          <a:p>
            <a:r>
              <a:rPr lang="en-US" altLang="zh-CN" dirty="0"/>
              <a:t>1.5</a:t>
            </a:r>
            <a:r>
              <a:rPr lang="zh-CN" altLang="en-US" dirty="0"/>
              <a:t>数据模式</a:t>
            </a:r>
          </a:p>
        </p:txBody>
      </p:sp>
      <p:sp>
        <p:nvSpPr>
          <p:cNvPr id="74755" name="Rectangle 3">
            <a:extLst>
              <a:ext uri="{FF2B5EF4-FFF2-40B4-BE49-F238E27FC236}">
                <a16:creationId xmlns:a16="http://schemas.microsoft.com/office/drawing/2014/main" id="{74A299DD-2611-4DD1-BC08-636082DF4423}"/>
              </a:ext>
            </a:extLst>
          </p:cNvPr>
          <p:cNvSpPr>
            <a:spLocks noGrp="1" noChangeArrowheads="1"/>
          </p:cNvSpPr>
          <p:nvPr>
            <p:ph type="body" idx="1"/>
          </p:nvPr>
        </p:nvSpPr>
        <p:spPr>
          <a:xfrm>
            <a:off x="479376" y="1268760"/>
            <a:ext cx="10972800" cy="4054475"/>
          </a:xfrm>
        </p:spPr>
        <p:txBody>
          <a:bodyPr/>
          <a:lstStyle/>
          <a:p>
            <a:pPr>
              <a:lnSpc>
                <a:spcPct val="150000"/>
              </a:lnSpc>
            </a:pPr>
            <a:r>
              <a:rPr lang="zh-CN" altLang="en-US" dirty="0"/>
              <a:t>任何对数据的描述都有型与值之分：</a:t>
            </a:r>
          </a:p>
          <a:p>
            <a:pPr lvl="1">
              <a:lnSpc>
                <a:spcPct val="150000"/>
              </a:lnSpc>
            </a:pPr>
            <a:r>
              <a:rPr lang="zh-CN" altLang="en-US" dirty="0"/>
              <a:t>型（</a:t>
            </a:r>
            <a:r>
              <a:rPr lang="en-US" altLang="zh-CN" dirty="0"/>
              <a:t>Type</a:t>
            </a:r>
            <a:r>
              <a:rPr lang="zh-CN" altLang="en-US" dirty="0"/>
              <a:t>）。即该数据所属数据类型的说明，是对某一数据的结构、联系、约束的描述。</a:t>
            </a:r>
          </a:p>
          <a:p>
            <a:pPr lvl="1">
              <a:lnSpc>
                <a:spcPct val="150000"/>
              </a:lnSpc>
            </a:pPr>
            <a:r>
              <a:rPr lang="zh-CN" altLang="en-US" dirty="0"/>
              <a:t>值（</a:t>
            </a:r>
            <a:r>
              <a:rPr lang="en-US" altLang="zh-CN" dirty="0"/>
              <a:t>Value</a:t>
            </a:r>
            <a:r>
              <a:rPr lang="zh-CN" altLang="en-US" dirty="0"/>
              <a:t>）。数据型的实例（</a:t>
            </a:r>
            <a:r>
              <a:rPr lang="en-US" altLang="zh-CN" dirty="0"/>
              <a:t>Instance</a:t>
            </a:r>
            <a:r>
              <a:rPr lang="zh-CN" altLang="en-US" dirty="0"/>
              <a:t>），即型的一个具体赋值。</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a:extLst>
              <a:ext uri="{FF2B5EF4-FFF2-40B4-BE49-F238E27FC236}">
                <a16:creationId xmlns:a16="http://schemas.microsoft.com/office/drawing/2014/main" id="{A5C7AC3E-28AE-4027-97F2-BC3E7FC2B947}"/>
              </a:ext>
            </a:extLst>
          </p:cNvPr>
          <p:cNvSpPr>
            <a:spLocks noGrp="1" noChangeArrowheads="1"/>
          </p:cNvSpPr>
          <p:nvPr>
            <p:ph type="body" idx="1"/>
          </p:nvPr>
        </p:nvSpPr>
        <p:spPr>
          <a:xfrm>
            <a:off x="695400" y="1196752"/>
            <a:ext cx="10972800" cy="4054475"/>
          </a:xfrm>
        </p:spPr>
        <p:txBody>
          <a:bodyPr/>
          <a:lstStyle/>
          <a:p>
            <a:pPr>
              <a:lnSpc>
                <a:spcPct val="150000"/>
              </a:lnSpc>
            </a:pPr>
            <a:r>
              <a:rPr lang="zh-CN" altLang="en-US" dirty="0"/>
              <a:t>对数据型的描述就称为</a:t>
            </a:r>
            <a:r>
              <a:rPr lang="zh-CN" altLang="en-US" dirty="0">
                <a:solidFill>
                  <a:srgbClr val="FF0066"/>
                </a:solidFill>
              </a:rPr>
              <a:t>数据模式</a:t>
            </a:r>
            <a:r>
              <a:rPr lang="zh-CN" altLang="en-US" dirty="0"/>
              <a:t>（</a:t>
            </a:r>
            <a:r>
              <a:rPr lang="en-US" altLang="zh-CN" dirty="0"/>
              <a:t>data  schema</a:t>
            </a:r>
            <a:r>
              <a:rPr lang="zh-CN" altLang="en-US" dirty="0"/>
              <a:t>），数据模式反映的是数据的结构及联系，是相对稳定的；</a:t>
            </a:r>
          </a:p>
          <a:p>
            <a:pPr>
              <a:lnSpc>
                <a:spcPct val="150000"/>
              </a:lnSpc>
            </a:pPr>
            <a:r>
              <a:rPr lang="zh-CN" altLang="en-US" dirty="0"/>
              <a:t>数据实例则反映数据库某一时刻的状态，是相对变化的。</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a:extLst>
              <a:ext uri="{FF2B5EF4-FFF2-40B4-BE49-F238E27FC236}">
                <a16:creationId xmlns:a16="http://schemas.microsoft.com/office/drawing/2014/main" id="{D12021E6-A3D4-4377-B448-74A5CDC3130D}"/>
              </a:ext>
            </a:extLst>
          </p:cNvPr>
          <p:cNvSpPr>
            <a:spLocks noGrp="1" noChangeArrowheads="1"/>
          </p:cNvSpPr>
          <p:nvPr>
            <p:ph type="body" idx="1"/>
          </p:nvPr>
        </p:nvSpPr>
        <p:spPr>
          <a:xfrm>
            <a:off x="551384" y="548680"/>
            <a:ext cx="10972800" cy="4054475"/>
          </a:xfrm>
        </p:spPr>
        <p:txBody>
          <a:bodyPr/>
          <a:lstStyle/>
          <a:p>
            <a:r>
              <a:rPr lang="zh-CN" altLang="en-US" dirty="0"/>
              <a:t>大多数数据库系统在总的体系结构上都具有三级结构的特征。</a:t>
            </a:r>
          </a:p>
        </p:txBody>
      </p:sp>
      <p:pic>
        <p:nvPicPr>
          <p:cNvPr id="76804" name="Picture 4">
            <a:extLst>
              <a:ext uri="{FF2B5EF4-FFF2-40B4-BE49-F238E27FC236}">
                <a16:creationId xmlns:a16="http://schemas.microsoft.com/office/drawing/2014/main" id="{70FD6C83-266A-4998-93A1-63A909B3C6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3472" y="2060848"/>
            <a:ext cx="9144000" cy="301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6805" name="Rectangle 5">
            <a:extLst>
              <a:ext uri="{FF2B5EF4-FFF2-40B4-BE49-F238E27FC236}">
                <a16:creationId xmlns:a16="http://schemas.microsoft.com/office/drawing/2014/main" id="{456DCBFC-D6CC-4AC4-95DD-4AA54D56E788}"/>
              </a:ext>
            </a:extLst>
          </p:cNvPr>
          <p:cNvSpPr>
            <a:spLocks noChangeArrowheads="1"/>
          </p:cNvSpPr>
          <p:nvPr/>
        </p:nvSpPr>
        <p:spPr bwMode="auto">
          <a:xfrm>
            <a:off x="4492921" y="5363152"/>
            <a:ext cx="2728632" cy="379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a:solidFill>
                  <a:schemeClr val="tx1"/>
                </a:solidFill>
                <a:latin typeface="Tahoma" panose="020B0604030504040204" pitchFamily="34" charset="0"/>
                <a:ea typeface="宋体" panose="02010600030101010101" pitchFamily="2" charset="-122"/>
              </a:defRPr>
            </a:lvl1pPr>
            <a:lvl2pPr marL="742950" indent="-285750">
              <a:defRPr kumimoji="1">
                <a:solidFill>
                  <a:schemeClr val="tx1"/>
                </a:solidFill>
                <a:latin typeface="Tahoma" panose="020B0604030504040204" pitchFamily="34" charset="0"/>
                <a:ea typeface="宋体" panose="02010600030101010101" pitchFamily="2" charset="-122"/>
              </a:defRPr>
            </a:lvl2pPr>
            <a:lvl3pPr marL="1143000" indent="-228600">
              <a:defRPr kumimoji="1">
                <a:solidFill>
                  <a:schemeClr val="tx1"/>
                </a:solidFill>
                <a:latin typeface="Tahoma" panose="020B0604030504040204" pitchFamily="34" charset="0"/>
                <a:ea typeface="宋体" panose="02010600030101010101" pitchFamily="2" charset="-122"/>
              </a:defRPr>
            </a:lvl3pPr>
            <a:lvl4pPr marL="1600200" indent="-228600">
              <a:defRPr kumimoji="1">
                <a:solidFill>
                  <a:schemeClr val="tx1"/>
                </a:solidFill>
                <a:latin typeface="Tahoma" panose="020B0604030504040204" pitchFamily="34" charset="0"/>
                <a:ea typeface="宋体" panose="02010600030101010101" pitchFamily="2" charset="-122"/>
              </a:defRPr>
            </a:lvl4pPr>
            <a:lvl5pPr marL="2057400" indent="-228600">
              <a:defRPr kumimoji="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Tahoma" panose="020B0604030504040204" pitchFamily="34" charset="0"/>
                <a:ea typeface="宋体" panose="02010600030101010101" pitchFamily="2" charset="-122"/>
              </a:defRPr>
            </a:lvl9pPr>
          </a:lstStyle>
          <a:p>
            <a:pPr algn="ctr"/>
            <a:r>
              <a:rPr lang="zh-CN" altLang="en-US" sz="2800" b="1"/>
              <a:t>图</a:t>
            </a:r>
            <a:r>
              <a:rPr lang="en-US" altLang="zh-CN" sz="2800" b="1"/>
              <a:t>1.6</a:t>
            </a:r>
            <a:r>
              <a:rPr lang="zh-CN" altLang="en-US" sz="2800" b="1"/>
              <a:t>数据库的三层结构</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EAB2DAC2-C633-4999-86E5-4ADA679A5CA2}"/>
              </a:ext>
            </a:extLst>
          </p:cNvPr>
          <p:cNvSpPr>
            <a:spLocks noGrp="1" noChangeArrowheads="1"/>
          </p:cNvSpPr>
          <p:nvPr>
            <p:ph type="title"/>
          </p:nvPr>
        </p:nvSpPr>
        <p:spPr>
          <a:xfrm>
            <a:off x="668104" y="71920"/>
            <a:ext cx="2236510" cy="707886"/>
          </a:xfrm>
        </p:spPr>
        <p:txBody>
          <a:bodyPr/>
          <a:lstStyle/>
          <a:p>
            <a:r>
              <a:rPr lang="zh-CN" altLang="en-US" dirty="0"/>
              <a:t>三级模式</a:t>
            </a:r>
          </a:p>
        </p:txBody>
      </p:sp>
      <p:sp>
        <p:nvSpPr>
          <p:cNvPr id="77827" name="Rectangle 3">
            <a:extLst>
              <a:ext uri="{FF2B5EF4-FFF2-40B4-BE49-F238E27FC236}">
                <a16:creationId xmlns:a16="http://schemas.microsoft.com/office/drawing/2014/main" id="{3BB8BB8B-8424-40BC-8904-383D172E45FC}"/>
              </a:ext>
            </a:extLst>
          </p:cNvPr>
          <p:cNvSpPr>
            <a:spLocks noGrp="1" noChangeArrowheads="1"/>
          </p:cNvSpPr>
          <p:nvPr>
            <p:ph type="body" idx="1"/>
          </p:nvPr>
        </p:nvSpPr>
        <p:spPr>
          <a:xfrm>
            <a:off x="479376" y="1124744"/>
            <a:ext cx="10972800" cy="4054475"/>
          </a:xfrm>
        </p:spPr>
        <p:txBody>
          <a:bodyPr/>
          <a:lstStyle/>
          <a:p>
            <a:pPr>
              <a:lnSpc>
                <a:spcPct val="150000"/>
              </a:lnSpc>
            </a:pPr>
            <a:r>
              <a:rPr lang="zh-CN" altLang="en-US" dirty="0"/>
              <a:t>通常</a:t>
            </a:r>
            <a:r>
              <a:rPr lang="en-US" altLang="zh-CN" dirty="0"/>
              <a:t>DBMS</a:t>
            </a:r>
            <a:r>
              <a:rPr lang="zh-CN" altLang="en-US" dirty="0"/>
              <a:t>把数据库从逻辑上分为三级，即</a:t>
            </a:r>
            <a:r>
              <a:rPr lang="zh-CN" altLang="en-US" dirty="0">
                <a:solidFill>
                  <a:srgbClr val="FF0066"/>
                </a:solidFill>
              </a:rPr>
              <a:t>外模式、模式和内模式</a:t>
            </a:r>
            <a:r>
              <a:rPr lang="zh-CN" altLang="en-US" dirty="0"/>
              <a:t>，它们分别反映了看待数据库的三个角度。</a:t>
            </a:r>
          </a:p>
          <a:p>
            <a:pPr>
              <a:lnSpc>
                <a:spcPct val="150000"/>
              </a:lnSpc>
            </a:pPr>
            <a:r>
              <a:rPr lang="zh-CN" altLang="en-US" dirty="0"/>
              <a:t>数据按外模式的描述提供给用户，按内模式的描述存储在磁盘中，而概念模式提供了连接这两级的相对稳定的中间观点，并使得两级中任何一级的改变都不受另一级的牵制。</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a:extLst>
              <a:ext uri="{FF2B5EF4-FFF2-40B4-BE49-F238E27FC236}">
                <a16:creationId xmlns:a16="http://schemas.microsoft.com/office/drawing/2014/main" id="{188C5545-2104-412B-98F0-28940FA542DE}"/>
              </a:ext>
            </a:extLst>
          </p:cNvPr>
          <p:cNvSpPr>
            <a:spLocks noGrp="1" noChangeArrowheads="1"/>
          </p:cNvSpPr>
          <p:nvPr>
            <p:ph type="body" idx="1"/>
          </p:nvPr>
        </p:nvSpPr>
        <p:spPr>
          <a:xfrm>
            <a:off x="695400" y="980728"/>
            <a:ext cx="10972800" cy="4054475"/>
          </a:xfrm>
        </p:spPr>
        <p:txBody>
          <a:bodyPr/>
          <a:lstStyle/>
          <a:p>
            <a:pPr>
              <a:lnSpc>
                <a:spcPct val="150000"/>
              </a:lnSpc>
              <a:buFontTx/>
              <a:buNone/>
            </a:pPr>
            <a:r>
              <a:rPr lang="zh-CN" altLang="en-US" dirty="0"/>
              <a:t>一、模式</a:t>
            </a:r>
          </a:p>
          <a:p>
            <a:pPr>
              <a:lnSpc>
                <a:spcPct val="150000"/>
              </a:lnSpc>
            </a:pPr>
            <a:r>
              <a:rPr lang="zh-CN" altLang="en-US" dirty="0"/>
              <a:t>模式（</a:t>
            </a:r>
            <a:r>
              <a:rPr lang="en-US" altLang="zh-CN" dirty="0"/>
              <a:t>Schema</a:t>
            </a:r>
            <a:r>
              <a:rPr lang="zh-CN" altLang="en-US" dirty="0"/>
              <a:t>）是数据库中全体数据的</a:t>
            </a:r>
            <a:r>
              <a:rPr lang="zh-CN" altLang="en-US" dirty="0">
                <a:solidFill>
                  <a:srgbClr val="FF0066"/>
                </a:solidFill>
              </a:rPr>
              <a:t>逻辑结构和特征</a:t>
            </a:r>
            <a:r>
              <a:rPr lang="zh-CN" altLang="en-US" dirty="0"/>
              <a:t>的描述，又称概念级模式或概念视图。</a:t>
            </a:r>
          </a:p>
          <a:p>
            <a:pPr>
              <a:lnSpc>
                <a:spcPct val="150000"/>
              </a:lnSpc>
            </a:pPr>
            <a:r>
              <a:rPr lang="zh-CN" altLang="en-US" dirty="0"/>
              <a:t>模式处于三级结构的</a:t>
            </a:r>
            <a:r>
              <a:rPr lang="zh-CN" altLang="en-US" dirty="0">
                <a:solidFill>
                  <a:srgbClr val="FF0066"/>
                </a:solidFill>
              </a:rPr>
              <a:t>中间层</a:t>
            </a:r>
            <a:r>
              <a:rPr lang="zh-CN" altLang="en-US" dirty="0"/>
              <a:t>，它是整个数据库实际存储的抽象表示，也是对现实世界的一个抽象。</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539203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数据库系统的模式结构</a:t>
            </a:r>
          </a:p>
        </p:txBody>
      </p:sp>
      <p:sp>
        <p:nvSpPr>
          <p:cNvPr id="35" name="矩形 34"/>
          <p:cNvSpPr/>
          <p:nvPr/>
        </p:nvSpPr>
        <p:spPr>
          <a:xfrm>
            <a:off x="7120063" y="1138212"/>
            <a:ext cx="4640866" cy="777600"/>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33" name="矩形 32"/>
          <p:cNvSpPr/>
          <p:nvPr/>
        </p:nvSpPr>
        <p:spPr>
          <a:xfrm>
            <a:off x="7120063" y="1915811"/>
            <a:ext cx="4640866" cy="4212324"/>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zh-CN" altLang="en-US"/>
          </a:p>
        </p:txBody>
      </p:sp>
      <p:sp>
        <p:nvSpPr>
          <p:cNvPr id="34" name="文本框 33"/>
          <p:cNvSpPr txBox="1"/>
          <p:nvPr/>
        </p:nvSpPr>
        <p:spPr>
          <a:xfrm>
            <a:off x="7120063" y="1966624"/>
            <a:ext cx="4640866" cy="4123133"/>
          </a:xfrm>
          <a:prstGeom prst="rect">
            <a:avLst/>
          </a:prstGeom>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457200" indent="-457200">
              <a:spcAft>
                <a:spcPct val="50000"/>
              </a:spcAft>
              <a:buFont typeface="Arial" panose="020B0604020202020204" pitchFamily="34" charset="0"/>
              <a:buChar char="•"/>
            </a:pPr>
            <a:r>
              <a:rPr lang="zh-CN" altLang="zh-CN" sz="3000" baseline="0" dirty="0">
                <a:latin typeface="宋体" panose="02010600030101010101" pitchFamily="2" charset="-122"/>
                <a:ea typeface="宋体" panose="02010600030101010101" pitchFamily="2" charset="-122"/>
              </a:rPr>
              <a:t>又称逻辑模式或结构模式，是所有用户的公共逻辑数据视图</a:t>
            </a:r>
            <a:r>
              <a:rPr lang="zh-CN" altLang="en-US" sz="3000" baseline="0" dirty="0">
                <a:latin typeface="宋体" panose="02010600030101010101" pitchFamily="2" charset="-122"/>
                <a:ea typeface="宋体" panose="02010600030101010101" pitchFamily="2" charset="-122"/>
              </a:rPr>
              <a:t>，</a:t>
            </a:r>
            <a:r>
              <a:rPr lang="zh-CN" altLang="zh-CN" sz="3000" baseline="0" dirty="0">
                <a:latin typeface="宋体" panose="02010600030101010101" pitchFamily="2" charset="-122"/>
                <a:ea typeface="宋体" panose="02010600030101010101" pitchFamily="2" charset="-122"/>
              </a:rPr>
              <a:t>是</a:t>
            </a:r>
            <a:r>
              <a:rPr lang="zh-CN" altLang="en-US" sz="3000" baseline="0" dirty="0">
                <a:latin typeface="宋体" panose="02010600030101010101" pitchFamily="2" charset="-122"/>
                <a:ea typeface="宋体" panose="02010600030101010101" pitchFamily="2" charset="-122"/>
              </a:rPr>
              <a:t>对</a:t>
            </a:r>
            <a:r>
              <a:rPr lang="zh-CN" altLang="zh-CN" sz="3000" baseline="0" dirty="0">
                <a:latin typeface="宋体" panose="02010600030101010101" pitchFamily="2" charset="-122"/>
                <a:ea typeface="宋体" panose="02010600030101010101" pitchFamily="2" charset="-122"/>
              </a:rPr>
              <a:t>数据库中全体数据的逻辑结构以及完整性、安全性的描述</a:t>
            </a:r>
            <a:r>
              <a:rPr lang="zh-CN" altLang="en-US" sz="3000" baseline="0" dirty="0">
                <a:latin typeface="宋体" panose="02010600030101010101" pitchFamily="2" charset="-122"/>
                <a:ea typeface="宋体" panose="02010600030101010101" pitchFamily="2" charset="-122"/>
              </a:rPr>
              <a:t>。</a:t>
            </a:r>
            <a:endParaRPr lang="en-US" altLang="zh-CN" sz="3000" baseline="0" dirty="0">
              <a:latin typeface="宋体" panose="02010600030101010101" pitchFamily="2" charset="-122"/>
              <a:ea typeface="宋体" panose="02010600030101010101" pitchFamily="2" charset="-122"/>
            </a:endParaRPr>
          </a:p>
          <a:p>
            <a:pPr marL="457200" indent="-457200">
              <a:spcAft>
                <a:spcPct val="50000"/>
              </a:spcAft>
              <a:buFont typeface="Arial" panose="020B0604020202020204" pitchFamily="34" charset="0"/>
              <a:buChar char="•"/>
            </a:pPr>
            <a:r>
              <a:rPr lang="zh-CN" altLang="en-US" sz="3000" baseline="0" dirty="0">
                <a:latin typeface="宋体" panose="02010600030101010101" pitchFamily="2" charset="-122"/>
                <a:ea typeface="宋体" panose="02010600030101010101" pitchFamily="2" charset="-122"/>
              </a:rPr>
              <a:t>一个数据库</a:t>
            </a:r>
            <a:r>
              <a:rPr lang="zh-CN" altLang="en-US" sz="3000" baseline="0" dirty="0">
                <a:solidFill>
                  <a:srgbClr val="FF0000"/>
                </a:solidFill>
                <a:latin typeface="宋体" panose="02010600030101010101" pitchFamily="2" charset="-122"/>
                <a:ea typeface="宋体" panose="02010600030101010101" pitchFamily="2" charset="-122"/>
              </a:rPr>
              <a:t>有且只有一个模式</a:t>
            </a:r>
            <a:r>
              <a:rPr lang="zh-CN" altLang="en-US" sz="3000" baseline="0" dirty="0">
                <a:latin typeface="宋体" panose="02010600030101010101" pitchFamily="2" charset="-122"/>
                <a:ea typeface="宋体" panose="02010600030101010101" pitchFamily="2" charset="-122"/>
              </a:rPr>
              <a:t>。</a:t>
            </a:r>
            <a:endParaRPr lang="en-US" altLang="zh-CN" sz="3000" baseline="0" dirty="0">
              <a:latin typeface="宋体" panose="02010600030101010101" pitchFamily="2" charset="-122"/>
              <a:ea typeface="宋体" panose="02010600030101010101" pitchFamily="2" charset="-122"/>
            </a:endParaRPr>
          </a:p>
        </p:txBody>
      </p:sp>
      <p:sp>
        <p:nvSpPr>
          <p:cNvPr id="36" name="文本框 35"/>
          <p:cNvSpPr txBox="1"/>
          <p:nvPr/>
        </p:nvSpPr>
        <p:spPr>
          <a:xfrm>
            <a:off x="7120063" y="1138212"/>
            <a:ext cx="4640866" cy="777600"/>
          </a:xfrm>
          <a:prstGeom prst="rect">
            <a:avLst/>
          </a:prstGeom>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kumimoji="1" lang="zh-CN" altLang="en-US" sz="2800" b="0" i="0" kern="1200" baseline="0" dirty="0">
                <a:latin typeface="微软雅黑" panose="020B0503020204020204" pitchFamily="34" charset="-122"/>
                <a:ea typeface="微软雅黑" panose="020B0503020204020204" pitchFamily="34" charset="-122"/>
              </a:rPr>
              <a:t>模式</a:t>
            </a:r>
            <a:endParaRPr lang="zh-CN" altLang="en-US" sz="2800" kern="1200" dirty="0">
              <a:latin typeface="微软雅黑" panose="020B0503020204020204" pitchFamily="34" charset="-122"/>
              <a:ea typeface="微软雅黑" panose="020B0503020204020204" pitchFamily="34" charset="-122"/>
            </a:endParaRPr>
          </a:p>
        </p:txBody>
      </p:sp>
      <p:grpSp>
        <p:nvGrpSpPr>
          <p:cNvPr id="91" name="组合 90">
            <a:extLst>
              <a:ext uri="{FF2B5EF4-FFF2-40B4-BE49-F238E27FC236}">
                <a16:creationId xmlns:a16="http://schemas.microsoft.com/office/drawing/2014/main" id="{2A095E5C-C25B-4612-9A65-F20474122521}"/>
              </a:ext>
            </a:extLst>
          </p:cNvPr>
          <p:cNvGrpSpPr/>
          <p:nvPr/>
        </p:nvGrpSpPr>
        <p:grpSpPr>
          <a:xfrm>
            <a:off x="551384" y="1052737"/>
            <a:ext cx="6121752" cy="5400603"/>
            <a:chOff x="551384" y="1052737"/>
            <a:chExt cx="6121752" cy="5400603"/>
          </a:xfrm>
        </p:grpSpPr>
        <p:sp>
          <p:nvSpPr>
            <p:cNvPr id="92" name="Rectangle 5">
              <a:extLst>
                <a:ext uri="{FF2B5EF4-FFF2-40B4-BE49-F238E27FC236}">
                  <a16:creationId xmlns:a16="http://schemas.microsoft.com/office/drawing/2014/main" id="{0638B1C4-C768-44AC-B036-4C3BAD4EF866}"/>
                </a:ext>
              </a:extLst>
            </p:cNvPr>
            <p:cNvSpPr>
              <a:spLocks noChangeArrowheads="1"/>
            </p:cNvSpPr>
            <p:nvPr/>
          </p:nvSpPr>
          <p:spPr bwMode="auto">
            <a:xfrm>
              <a:off x="551384" y="1852219"/>
              <a:ext cx="6121752" cy="3763468"/>
            </a:xfrm>
            <a:prstGeom prst="rect">
              <a:avLst/>
            </a:prstGeom>
            <a:noFill/>
            <a:ln w="12700">
              <a:solidFill>
                <a:schemeClr val="hlink"/>
              </a:solidFill>
              <a:prstDash val="dashDot"/>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p>
              <a:r>
                <a:rPr lang="zh-CN" altLang="en-US" sz="2400" baseline="0">
                  <a:latin typeface="宋体" panose="02010600030101010101" pitchFamily="2" charset="-122"/>
                </a:rPr>
                <a:t> </a:t>
              </a:r>
            </a:p>
          </p:txBody>
        </p:sp>
        <p:sp>
          <p:nvSpPr>
            <p:cNvPr id="93" name="Rectangle 6">
              <a:extLst>
                <a:ext uri="{FF2B5EF4-FFF2-40B4-BE49-F238E27FC236}">
                  <a16:creationId xmlns:a16="http://schemas.microsoft.com/office/drawing/2014/main" id="{2B6F9418-9556-450B-A213-A726C5EB359A}"/>
                </a:ext>
              </a:extLst>
            </p:cNvPr>
            <p:cNvSpPr>
              <a:spLocks noChangeArrowheads="1"/>
            </p:cNvSpPr>
            <p:nvPr/>
          </p:nvSpPr>
          <p:spPr bwMode="auto">
            <a:xfrm>
              <a:off x="553574" y="1052737"/>
              <a:ext cx="1085444"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应用</a:t>
              </a:r>
              <a:r>
                <a:rPr lang="en-US" altLang="zh-CN" sz="2400" b="1" baseline="0" dirty="0">
                  <a:latin typeface="宋体" panose="02010600030101010101" pitchFamily="2" charset="-122"/>
                </a:rPr>
                <a:t>A</a:t>
              </a:r>
            </a:p>
          </p:txBody>
        </p:sp>
        <p:sp>
          <p:nvSpPr>
            <p:cNvPr id="94" name="Rectangle 7">
              <a:extLst>
                <a:ext uri="{FF2B5EF4-FFF2-40B4-BE49-F238E27FC236}">
                  <a16:creationId xmlns:a16="http://schemas.microsoft.com/office/drawing/2014/main" id="{96076525-D8B2-4611-A275-713B70E5C249}"/>
                </a:ext>
              </a:extLst>
            </p:cNvPr>
            <p:cNvSpPr>
              <a:spLocks noChangeArrowheads="1"/>
            </p:cNvSpPr>
            <p:nvPr/>
          </p:nvSpPr>
          <p:spPr bwMode="auto">
            <a:xfrm>
              <a:off x="1958134" y="1057858"/>
              <a:ext cx="1062071"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应用</a:t>
              </a:r>
              <a:r>
                <a:rPr lang="en-US" altLang="zh-CN" sz="2400" b="1" baseline="0" dirty="0">
                  <a:latin typeface="宋体" panose="02010600030101010101" pitchFamily="2" charset="-122"/>
                </a:rPr>
                <a:t>B</a:t>
              </a:r>
            </a:p>
          </p:txBody>
        </p:sp>
        <p:sp>
          <p:nvSpPr>
            <p:cNvPr id="95" name="Rectangle 8">
              <a:extLst>
                <a:ext uri="{FF2B5EF4-FFF2-40B4-BE49-F238E27FC236}">
                  <a16:creationId xmlns:a16="http://schemas.microsoft.com/office/drawing/2014/main" id="{C9C8C954-3F01-4D3D-BA64-A2ABE42F2DEE}"/>
                </a:ext>
              </a:extLst>
            </p:cNvPr>
            <p:cNvSpPr>
              <a:spLocks noChangeArrowheads="1"/>
            </p:cNvSpPr>
            <p:nvPr/>
          </p:nvSpPr>
          <p:spPr bwMode="auto">
            <a:xfrm>
              <a:off x="4809564" y="1052737"/>
              <a:ext cx="1340783"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a:latin typeface="宋体" panose="02010600030101010101" pitchFamily="2" charset="-122"/>
                </a:rPr>
                <a:t>应用</a:t>
              </a:r>
              <a:r>
                <a:rPr lang="en-US" altLang="zh-CN" sz="2400" b="1" baseline="0">
                  <a:latin typeface="宋体" panose="02010600030101010101" pitchFamily="2" charset="-122"/>
                </a:rPr>
                <a:t>n</a:t>
              </a:r>
            </a:p>
          </p:txBody>
        </p:sp>
        <p:sp>
          <p:nvSpPr>
            <p:cNvPr id="96" name="Rectangle 9">
              <a:extLst>
                <a:ext uri="{FF2B5EF4-FFF2-40B4-BE49-F238E27FC236}">
                  <a16:creationId xmlns:a16="http://schemas.microsoft.com/office/drawing/2014/main" id="{3FAEB00A-8782-4D47-93A5-025B21883B5A}"/>
                </a:ext>
              </a:extLst>
            </p:cNvPr>
            <p:cNvSpPr>
              <a:spLocks noChangeArrowheads="1"/>
            </p:cNvSpPr>
            <p:nvPr/>
          </p:nvSpPr>
          <p:spPr bwMode="auto">
            <a:xfrm>
              <a:off x="3330251" y="1057858"/>
              <a:ext cx="1062071"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a:t>
              </a:r>
            </a:p>
          </p:txBody>
        </p:sp>
        <p:sp>
          <p:nvSpPr>
            <p:cNvPr id="97" name="Rectangle 10">
              <a:extLst>
                <a:ext uri="{FF2B5EF4-FFF2-40B4-BE49-F238E27FC236}">
                  <a16:creationId xmlns:a16="http://schemas.microsoft.com/office/drawing/2014/main" id="{4A614F68-6E23-4B17-B42B-7DCDD3DE0FCF}"/>
                </a:ext>
              </a:extLst>
            </p:cNvPr>
            <p:cNvSpPr>
              <a:spLocks noChangeArrowheads="1"/>
            </p:cNvSpPr>
            <p:nvPr/>
          </p:nvSpPr>
          <p:spPr bwMode="auto">
            <a:xfrm>
              <a:off x="912555" y="1959697"/>
              <a:ext cx="1436435" cy="443564"/>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dirty="0">
                  <a:solidFill>
                    <a:schemeClr val="bg1"/>
                  </a:solidFill>
                  <a:latin typeface="宋体" panose="02010600030101010101" pitchFamily="2" charset="-122"/>
                </a:rPr>
                <a:t>外模式1</a:t>
              </a:r>
            </a:p>
          </p:txBody>
        </p:sp>
        <p:sp>
          <p:nvSpPr>
            <p:cNvPr id="98" name="Rectangle 11">
              <a:extLst>
                <a:ext uri="{FF2B5EF4-FFF2-40B4-BE49-F238E27FC236}">
                  <a16:creationId xmlns:a16="http://schemas.microsoft.com/office/drawing/2014/main" id="{3666BD9C-B667-4449-A6D2-B613B2CE0D89}"/>
                </a:ext>
              </a:extLst>
            </p:cNvPr>
            <p:cNvSpPr>
              <a:spLocks noChangeArrowheads="1"/>
            </p:cNvSpPr>
            <p:nvPr/>
          </p:nvSpPr>
          <p:spPr bwMode="auto">
            <a:xfrm>
              <a:off x="2800864" y="1959697"/>
              <a:ext cx="1489209" cy="431621"/>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a:solidFill>
                    <a:schemeClr val="bg1"/>
                  </a:solidFill>
                  <a:latin typeface="宋体" panose="02010600030101010101" pitchFamily="2" charset="-122"/>
                </a:rPr>
                <a:t>……</a:t>
              </a:r>
            </a:p>
          </p:txBody>
        </p:sp>
        <p:sp>
          <p:nvSpPr>
            <p:cNvPr id="99" name="Rectangle 12">
              <a:extLst>
                <a:ext uri="{FF2B5EF4-FFF2-40B4-BE49-F238E27FC236}">
                  <a16:creationId xmlns:a16="http://schemas.microsoft.com/office/drawing/2014/main" id="{944B6711-9191-4A71-94C8-6B2BCADD5FEC}"/>
                </a:ext>
              </a:extLst>
            </p:cNvPr>
            <p:cNvSpPr>
              <a:spLocks noChangeArrowheads="1"/>
            </p:cNvSpPr>
            <p:nvPr/>
          </p:nvSpPr>
          <p:spPr bwMode="auto">
            <a:xfrm>
              <a:off x="4512712" y="1959697"/>
              <a:ext cx="1786061" cy="431621"/>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a:solidFill>
                    <a:schemeClr val="bg1"/>
                  </a:solidFill>
                  <a:latin typeface="宋体" panose="02010600030101010101" pitchFamily="2" charset="-122"/>
                </a:rPr>
                <a:t>外模式</a:t>
              </a:r>
              <a:r>
                <a:rPr lang="en-US" altLang="zh-CN" sz="2400" b="1" baseline="0">
                  <a:solidFill>
                    <a:schemeClr val="bg1"/>
                  </a:solidFill>
                  <a:latin typeface="宋体" panose="02010600030101010101" pitchFamily="2" charset="-122"/>
                </a:rPr>
                <a:t>m</a:t>
              </a:r>
            </a:p>
          </p:txBody>
        </p:sp>
        <p:sp>
          <p:nvSpPr>
            <p:cNvPr id="100" name="AutoShape 13">
              <a:extLst>
                <a:ext uri="{FF2B5EF4-FFF2-40B4-BE49-F238E27FC236}">
                  <a16:creationId xmlns:a16="http://schemas.microsoft.com/office/drawing/2014/main" id="{1E8E23B4-CB50-425A-AD2D-03A931BEF796}"/>
                </a:ext>
              </a:extLst>
            </p:cNvPr>
            <p:cNvSpPr>
              <a:spLocks noChangeArrowheads="1"/>
            </p:cNvSpPr>
            <p:nvPr/>
          </p:nvSpPr>
          <p:spPr bwMode="auto">
            <a:xfrm>
              <a:off x="1611807" y="2674518"/>
              <a:ext cx="3718899" cy="475978"/>
            </a:xfrm>
            <a:prstGeom prst="roundRect">
              <a:avLst>
                <a:gd name="adj" fmla="val 16667"/>
              </a:avLst>
            </a:prstGeom>
            <a:solidFill>
              <a:schemeClr val="accent1"/>
            </a:solidFill>
            <a:ln w="28575">
              <a:solidFill>
                <a:srgbClr val="FFFFFF"/>
              </a:solidFill>
              <a:round/>
              <a:headEnd/>
              <a:tailEnd/>
            </a:ln>
          </p:spPr>
          <p:txBody>
            <a:bodyPr/>
            <a:lstStyle/>
            <a:p>
              <a:pPr algn="ctr" eaLnBrk="0" hangingPunct="0"/>
              <a:r>
                <a:rPr lang="zh-CN" altLang="en-US" sz="2400" b="1" baseline="0">
                  <a:solidFill>
                    <a:schemeClr val="bg1"/>
                  </a:solidFill>
                  <a:latin typeface="宋体" panose="02010600030101010101" pitchFamily="2" charset="-122"/>
                </a:rPr>
                <a:t>子模式/模式映象</a:t>
              </a:r>
            </a:p>
          </p:txBody>
        </p:sp>
        <p:sp>
          <p:nvSpPr>
            <p:cNvPr id="101" name="AutoShape 14">
              <a:extLst>
                <a:ext uri="{FF2B5EF4-FFF2-40B4-BE49-F238E27FC236}">
                  <a16:creationId xmlns:a16="http://schemas.microsoft.com/office/drawing/2014/main" id="{2A5028E8-14D7-4539-92EB-850904AEA8D3}"/>
                </a:ext>
              </a:extLst>
            </p:cNvPr>
            <p:cNvSpPr>
              <a:spLocks noChangeArrowheads="1"/>
            </p:cNvSpPr>
            <p:nvPr/>
          </p:nvSpPr>
          <p:spPr bwMode="auto">
            <a:xfrm>
              <a:off x="2512258" y="3513877"/>
              <a:ext cx="2216496" cy="435033"/>
            </a:xfrm>
            <a:prstGeom prst="flowChartProcess">
              <a:avLst/>
            </a:prstGeom>
            <a:solidFill>
              <a:schemeClr val="hlink"/>
            </a:solidFill>
            <a:ln w="28575">
              <a:solidFill>
                <a:srgbClr val="FFFFFF"/>
              </a:solidFill>
              <a:miter lim="800000"/>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模　式</a:t>
              </a:r>
            </a:p>
          </p:txBody>
        </p:sp>
        <p:sp>
          <p:nvSpPr>
            <p:cNvPr id="102" name="AutoShape 15">
              <a:extLst>
                <a:ext uri="{FF2B5EF4-FFF2-40B4-BE49-F238E27FC236}">
                  <a16:creationId xmlns:a16="http://schemas.microsoft.com/office/drawing/2014/main" id="{6E2D64BB-9253-46A7-8A4D-003368F56052}"/>
                </a:ext>
              </a:extLst>
            </p:cNvPr>
            <p:cNvSpPr>
              <a:spLocks noChangeArrowheads="1"/>
            </p:cNvSpPr>
            <p:nvPr/>
          </p:nvSpPr>
          <p:spPr bwMode="auto">
            <a:xfrm>
              <a:off x="1773426" y="4228697"/>
              <a:ext cx="3689214" cy="479390"/>
            </a:xfrm>
            <a:prstGeom prst="roundRect">
              <a:avLst>
                <a:gd name="adj" fmla="val 16667"/>
              </a:avLst>
            </a:prstGeom>
            <a:solidFill>
              <a:schemeClr val="accent1"/>
            </a:solidFill>
            <a:ln w="28575">
              <a:solidFill>
                <a:srgbClr val="FFFFFF"/>
              </a:solidFill>
              <a:round/>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模式/内模式映象</a:t>
              </a:r>
            </a:p>
          </p:txBody>
        </p:sp>
        <p:sp>
          <p:nvSpPr>
            <p:cNvPr id="103" name="AutoShape 16">
              <a:extLst>
                <a:ext uri="{FF2B5EF4-FFF2-40B4-BE49-F238E27FC236}">
                  <a16:creationId xmlns:a16="http://schemas.microsoft.com/office/drawing/2014/main" id="{392A3AAF-54BB-40C9-BD9B-E1980FBC3A11}"/>
                </a:ext>
              </a:extLst>
            </p:cNvPr>
            <p:cNvSpPr>
              <a:spLocks noChangeArrowheads="1"/>
            </p:cNvSpPr>
            <p:nvPr/>
          </p:nvSpPr>
          <p:spPr bwMode="auto">
            <a:xfrm>
              <a:off x="2512258" y="5061232"/>
              <a:ext cx="2216496" cy="433328"/>
            </a:xfrm>
            <a:prstGeom prst="flowChartProcess">
              <a:avLst/>
            </a:prstGeom>
            <a:solidFill>
              <a:schemeClr val="hlink"/>
            </a:solidFill>
            <a:ln w="28575">
              <a:solidFill>
                <a:srgbClr val="FFFFFF"/>
              </a:solidFill>
              <a:miter lim="800000"/>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内　模　式</a:t>
              </a:r>
            </a:p>
          </p:txBody>
        </p:sp>
        <p:sp>
          <p:nvSpPr>
            <p:cNvPr id="104" name="AutoShape 17">
              <a:extLst>
                <a:ext uri="{FF2B5EF4-FFF2-40B4-BE49-F238E27FC236}">
                  <a16:creationId xmlns:a16="http://schemas.microsoft.com/office/drawing/2014/main" id="{2B3324F5-7890-41C4-9FAA-5DC5FA101EAB}"/>
                </a:ext>
              </a:extLst>
            </p:cNvPr>
            <p:cNvSpPr>
              <a:spLocks noChangeArrowheads="1"/>
            </p:cNvSpPr>
            <p:nvPr/>
          </p:nvSpPr>
          <p:spPr bwMode="auto">
            <a:xfrm>
              <a:off x="2357235" y="5769229"/>
              <a:ext cx="2379766" cy="684111"/>
            </a:xfrm>
            <a:prstGeom prst="can">
              <a:avLst>
                <a:gd name="adj" fmla="val 50000"/>
              </a:avLst>
            </a:prstGeom>
            <a:solidFill>
              <a:srgbClr val="66FFCC"/>
            </a:solidFill>
            <a:ln w="28575">
              <a:solidFill>
                <a:srgbClr val="FFFFFF"/>
              </a:solidFill>
              <a:round/>
              <a:headEnd/>
              <a:tailEnd/>
            </a:ln>
          </p:spPr>
          <p:txBody>
            <a:bodyPr tIns="190800"/>
            <a:lstStyle/>
            <a:p>
              <a:pPr algn="ctr" eaLnBrk="0" hangingPunct="0"/>
              <a:endParaRPr lang="zh-CN" altLang="en-US" sz="2400" b="1" baseline="0">
                <a:latin typeface="宋体" panose="02010600030101010101" pitchFamily="2" charset="-122"/>
              </a:endParaRPr>
            </a:p>
          </p:txBody>
        </p:sp>
        <p:sp>
          <p:nvSpPr>
            <p:cNvPr id="105" name="Line 18">
              <a:extLst>
                <a:ext uri="{FF2B5EF4-FFF2-40B4-BE49-F238E27FC236}">
                  <a16:creationId xmlns:a16="http://schemas.microsoft.com/office/drawing/2014/main" id="{4876FCBA-CA71-4DE8-8DBF-EBAADDBE54B3}"/>
                </a:ext>
              </a:extLst>
            </p:cNvPr>
            <p:cNvSpPr>
              <a:spLocks noChangeShapeType="1"/>
            </p:cNvSpPr>
            <p:nvPr/>
          </p:nvSpPr>
          <p:spPr bwMode="auto">
            <a:xfrm>
              <a:off x="1199456" y="1520185"/>
              <a:ext cx="357928"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106" name="Line 19">
              <a:extLst>
                <a:ext uri="{FF2B5EF4-FFF2-40B4-BE49-F238E27FC236}">
                  <a16:creationId xmlns:a16="http://schemas.microsoft.com/office/drawing/2014/main" id="{165304E5-0714-49BA-A702-09A4FC945315}"/>
                </a:ext>
              </a:extLst>
            </p:cNvPr>
            <p:cNvSpPr>
              <a:spLocks noChangeShapeType="1"/>
            </p:cNvSpPr>
            <p:nvPr/>
          </p:nvSpPr>
          <p:spPr bwMode="auto">
            <a:xfrm flipH="1">
              <a:off x="2004311" y="1527012"/>
              <a:ext cx="422190" cy="432685"/>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107" name="Line 20">
              <a:extLst>
                <a:ext uri="{FF2B5EF4-FFF2-40B4-BE49-F238E27FC236}">
                  <a16:creationId xmlns:a16="http://schemas.microsoft.com/office/drawing/2014/main" id="{0ED0FB34-684B-4D3C-8742-9CFFA8CEF559}"/>
                </a:ext>
              </a:extLst>
            </p:cNvPr>
            <p:cNvSpPr>
              <a:spLocks noChangeShapeType="1"/>
            </p:cNvSpPr>
            <p:nvPr/>
          </p:nvSpPr>
          <p:spPr bwMode="auto">
            <a:xfrm flipH="1">
              <a:off x="3547943" y="1520185"/>
              <a:ext cx="217690"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108" name="Line 21">
              <a:extLst>
                <a:ext uri="{FF2B5EF4-FFF2-40B4-BE49-F238E27FC236}">
                  <a16:creationId xmlns:a16="http://schemas.microsoft.com/office/drawing/2014/main" id="{79447C5E-320D-46AD-97B2-3AA3D8DA4441}"/>
                </a:ext>
              </a:extLst>
            </p:cNvPr>
            <p:cNvSpPr>
              <a:spLocks noChangeShapeType="1"/>
            </p:cNvSpPr>
            <p:nvPr/>
          </p:nvSpPr>
          <p:spPr bwMode="auto">
            <a:xfrm flipH="1">
              <a:off x="5406567" y="1520185"/>
              <a:ext cx="52773"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109" name="Line 22">
              <a:extLst>
                <a:ext uri="{FF2B5EF4-FFF2-40B4-BE49-F238E27FC236}">
                  <a16:creationId xmlns:a16="http://schemas.microsoft.com/office/drawing/2014/main" id="{5B3BE13B-35BC-4D11-9009-710991C4747E}"/>
                </a:ext>
              </a:extLst>
            </p:cNvPr>
            <p:cNvSpPr>
              <a:spLocks noChangeShapeType="1"/>
            </p:cNvSpPr>
            <p:nvPr/>
          </p:nvSpPr>
          <p:spPr bwMode="auto">
            <a:xfrm>
              <a:off x="3547943" y="4697851"/>
              <a:ext cx="0" cy="356557"/>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110" name="Line 23">
              <a:extLst>
                <a:ext uri="{FF2B5EF4-FFF2-40B4-BE49-F238E27FC236}">
                  <a16:creationId xmlns:a16="http://schemas.microsoft.com/office/drawing/2014/main" id="{FCECD5E8-C0D0-465E-82B3-F69699906C5E}"/>
                </a:ext>
              </a:extLst>
            </p:cNvPr>
            <p:cNvSpPr>
              <a:spLocks noChangeShapeType="1"/>
            </p:cNvSpPr>
            <p:nvPr/>
          </p:nvSpPr>
          <p:spPr bwMode="auto">
            <a:xfrm>
              <a:off x="3547943" y="5525268"/>
              <a:ext cx="0" cy="243960"/>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111" name="Line 24">
              <a:extLst>
                <a:ext uri="{FF2B5EF4-FFF2-40B4-BE49-F238E27FC236}">
                  <a16:creationId xmlns:a16="http://schemas.microsoft.com/office/drawing/2014/main" id="{7953BA56-0899-47A8-AD3E-A4986A9751A4}"/>
                </a:ext>
              </a:extLst>
            </p:cNvPr>
            <p:cNvSpPr>
              <a:spLocks noChangeShapeType="1"/>
            </p:cNvSpPr>
            <p:nvPr/>
          </p:nvSpPr>
          <p:spPr bwMode="auto">
            <a:xfrm>
              <a:off x="3547943" y="3940381"/>
              <a:ext cx="0" cy="28149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112" name="Line 25">
              <a:extLst>
                <a:ext uri="{FF2B5EF4-FFF2-40B4-BE49-F238E27FC236}">
                  <a16:creationId xmlns:a16="http://schemas.microsoft.com/office/drawing/2014/main" id="{0E8718E3-2F4B-4944-94FA-847F5F25CFD8}"/>
                </a:ext>
              </a:extLst>
            </p:cNvPr>
            <p:cNvSpPr>
              <a:spLocks noChangeShapeType="1"/>
            </p:cNvSpPr>
            <p:nvPr/>
          </p:nvSpPr>
          <p:spPr bwMode="auto">
            <a:xfrm>
              <a:off x="3547943" y="3150496"/>
              <a:ext cx="0" cy="358263"/>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113" name="Line 26">
              <a:extLst>
                <a:ext uri="{FF2B5EF4-FFF2-40B4-BE49-F238E27FC236}">
                  <a16:creationId xmlns:a16="http://schemas.microsoft.com/office/drawing/2014/main" id="{660190A7-90BB-43F9-A6B4-C1CC75B950D3}"/>
                </a:ext>
              </a:extLst>
            </p:cNvPr>
            <p:cNvSpPr>
              <a:spLocks noChangeShapeType="1"/>
            </p:cNvSpPr>
            <p:nvPr/>
          </p:nvSpPr>
          <p:spPr bwMode="auto">
            <a:xfrm>
              <a:off x="2027400" y="2398144"/>
              <a:ext cx="207797" cy="300259"/>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114" name="Line 27">
              <a:extLst>
                <a:ext uri="{FF2B5EF4-FFF2-40B4-BE49-F238E27FC236}">
                  <a16:creationId xmlns:a16="http://schemas.microsoft.com/office/drawing/2014/main" id="{76835829-BB7F-446D-A337-BEAC29A13AD7}"/>
                </a:ext>
              </a:extLst>
            </p:cNvPr>
            <p:cNvSpPr>
              <a:spLocks noChangeShapeType="1"/>
            </p:cNvSpPr>
            <p:nvPr/>
          </p:nvSpPr>
          <p:spPr bwMode="auto">
            <a:xfrm>
              <a:off x="3547943" y="2391320"/>
              <a:ext cx="0" cy="283198"/>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115" name="Line 28">
              <a:extLst>
                <a:ext uri="{FF2B5EF4-FFF2-40B4-BE49-F238E27FC236}">
                  <a16:creationId xmlns:a16="http://schemas.microsoft.com/office/drawing/2014/main" id="{8E1EA9AB-5419-4902-8A29-7BB2E03F032B}"/>
                </a:ext>
              </a:extLst>
            </p:cNvPr>
            <p:cNvSpPr>
              <a:spLocks noChangeShapeType="1"/>
            </p:cNvSpPr>
            <p:nvPr/>
          </p:nvSpPr>
          <p:spPr bwMode="auto">
            <a:xfrm flipV="1">
              <a:off x="4741948" y="2375965"/>
              <a:ext cx="166568" cy="296847"/>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116" name="Rectangle 29">
              <a:extLst>
                <a:ext uri="{FF2B5EF4-FFF2-40B4-BE49-F238E27FC236}">
                  <a16:creationId xmlns:a16="http://schemas.microsoft.com/office/drawing/2014/main" id="{8DD264F3-B067-40F9-98C7-99F90F1EB9BD}"/>
                </a:ext>
              </a:extLst>
            </p:cNvPr>
            <p:cNvSpPr>
              <a:spLocks noChangeArrowheads="1"/>
            </p:cNvSpPr>
            <p:nvPr/>
          </p:nvSpPr>
          <p:spPr bwMode="auto">
            <a:xfrm>
              <a:off x="3007012" y="5849411"/>
              <a:ext cx="1073545" cy="514738"/>
            </a:xfrm>
            <a:prstGeom prst="rect">
              <a:avLst/>
            </a:prstGeom>
            <a:no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400" b="1" baseline="0" dirty="0">
                  <a:solidFill>
                    <a:schemeClr val="bg1"/>
                  </a:solidFill>
                  <a:latin typeface="宋体" panose="02010600030101010101" pitchFamily="2" charset="-122"/>
                </a:rPr>
                <a:t>数据库</a:t>
              </a:r>
            </a:p>
          </p:txBody>
        </p:sp>
        <p:sp>
          <p:nvSpPr>
            <p:cNvPr id="117" name="Rectangle 30">
              <a:extLst>
                <a:ext uri="{FF2B5EF4-FFF2-40B4-BE49-F238E27FC236}">
                  <a16:creationId xmlns:a16="http://schemas.microsoft.com/office/drawing/2014/main" id="{BD3C2FF7-33FF-492E-9B48-AC650E3E644A}"/>
                </a:ext>
              </a:extLst>
            </p:cNvPr>
            <p:cNvSpPr>
              <a:spLocks noChangeArrowheads="1"/>
            </p:cNvSpPr>
            <p:nvPr/>
          </p:nvSpPr>
          <p:spPr bwMode="auto">
            <a:xfrm>
              <a:off x="614053" y="4919633"/>
              <a:ext cx="1301172" cy="57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en-US" altLang="zh-CN" sz="2800" b="1" baseline="0" dirty="0">
                  <a:solidFill>
                    <a:srgbClr val="FFFF00"/>
                  </a:solidFill>
                  <a:latin typeface="Arial Black" panose="020B0A04020102020204" pitchFamily="34" charset="0"/>
                </a:rPr>
                <a:t>DBMS</a:t>
              </a:r>
            </a:p>
          </p:txBody>
        </p:sp>
      </p:grpSp>
    </p:spTree>
    <p:extLst>
      <p:ext uri="{BB962C8B-B14F-4D97-AF65-F5344CB8AC3E}">
        <p14:creationId xmlns:p14="http://schemas.microsoft.com/office/powerpoint/2010/main" val="10927824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3">
            <a:extLst>
              <a:ext uri="{FF2B5EF4-FFF2-40B4-BE49-F238E27FC236}">
                <a16:creationId xmlns:a16="http://schemas.microsoft.com/office/drawing/2014/main" id="{4FBBC1B5-D1BB-490A-8CA2-5B2FC89A5BBA}"/>
              </a:ext>
            </a:extLst>
          </p:cNvPr>
          <p:cNvSpPr>
            <a:spLocks noGrp="1" noChangeArrowheads="1"/>
          </p:cNvSpPr>
          <p:nvPr>
            <p:ph type="body" idx="1"/>
          </p:nvPr>
        </p:nvSpPr>
        <p:spPr>
          <a:xfrm>
            <a:off x="609600" y="764704"/>
            <a:ext cx="11247040" cy="4054475"/>
          </a:xfrm>
        </p:spPr>
        <p:txBody>
          <a:bodyPr/>
          <a:lstStyle/>
          <a:p>
            <a:pPr>
              <a:lnSpc>
                <a:spcPct val="150000"/>
              </a:lnSpc>
              <a:buFontTx/>
              <a:buNone/>
            </a:pPr>
            <a:r>
              <a:rPr lang="zh-CN" altLang="en-US" sz="2800" dirty="0"/>
              <a:t>二、外模式</a:t>
            </a:r>
          </a:p>
          <a:p>
            <a:pPr>
              <a:lnSpc>
                <a:spcPct val="150000"/>
              </a:lnSpc>
            </a:pPr>
            <a:r>
              <a:rPr lang="zh-CN" altLang="en-US" sz="2800" dirty="0"/>
              <a:t>又称子模式或用户模式或外视图，是用户用到的那部分数据的描述。</a:t>
            </a:r>
          </a:p>
          <a:p>
            <a:pPr>
              <a:lnSpc>
                <a:spcPct val="150000"/>
              </a:lnSpc>
            </a:pPr>
            <a:r>
              <a:rPr lang="zh-CN" altLang="en-US" sz="2800" dirty="0"/>
              <a:t>外模式是三级结构的</a:t>
            </a:r>
            <a:r>
              <a:rPr lang="zh-CN" altLang="en-US" sz="2800" dirty="0">
                <a:solidFill>
                  <a:srgbClr val="FF0066"/>
                </a:solidFill>
              </a:rPr>
              <a:t>最外层</a:t>
            </a:r>
            <a:r>
              <a:rPr lang="zh-CN" altLang="en-US" sz="2800" dirty="0"/>
              <a:t>。</a:t>
            </a:r>
          </a:p>
          <a:p>
            <a:pPr>
              <a:lnSpc>
                <a:spcPct val="150000"/>
              </a:lnSpc>
            </a:pPr>
            <a:r>
              <a:rPr lang="zh-CN" altLang="en-US" sz="2800" dirty="0"/>
              <a:t>从逻辑关系上看，外模式包含于模式，通常是</a:t>
            </a:r>
            <a:r>
              <a:rPr lang="zh-CN" altLang="en-US" sz="2800" dirty="0">
                <a:solidFill>
                  <a:srgbClr val="FF0066"/>
                </a:solidFill>
              </a:rPr>
              <a:t>模式的子集</a:t>
            </a:r>
            <a:r>
              <a:rPr lang="zh-CN" altLang="en-US" sz="2800" dirty="0"/>
              <a:t>。用户使用数据操纵语言（</a:t>
            </a:r>
            <a:r>
              <a:rPr lang="en-US" altLang="zh-CN" sz="2800" dirty="0"/>
              <a:t>DML</a:t>
            </a:r>
            <a:r>
              <a:rPr lang="zh-CN" altLang="en-US" sz="2800" dirty="0"/>
              <a:t>）语句对数据库进行操作，实际上是对外模式的外部记录进行操作。</a:t>
            </a:r>
          </a:p>
          <a:p>
            <a:pPr>
              <a:lnSpc>
                <a:spcPct val="150000"/>
              </a:lnSpc>
            </a:pPr>
            <a:r>
              <a:rPr lang="en-US" altLang="zh-CN" sz="2800" dirty="0"/>
              <a:t>DBMS </a:t>
            </a:r>
            <a:r>
              <a:rPr lang="zh-CN" altLang="en-US" sz="2800" dirty="0"/>
              <a:t>提供外模式描述语言（外模式 </a:t>
            </a:r>
            <a:r>
              <a:rPr lang="en-US" altLang="zh-CN" sz="2800" dirty="0"/>
              <a:t>DDL</a:t>
            </a:r>
            <a:r>
              <a:rPr lang="zh-CN" altLang="en-US" sz="2800" dirty="0"/>
              <a:t>）来定义外模式。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539203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数据库系统的模式结构</a:t>
            </a:r>
          </a:p>
        </p:txBody>
      </p:sp>
      <p:sp>
        <p:nvSpPr>
          <p:cNvPr id="35" name="矩形 34"/>
          <p:cNvSpPr/>
          <p:nvPr/>
        </p:nvSpPr>
        <p:spPr>
          <a:xfrm>
            <a:off x="7146162" y="926248"/>
            <a:ext cx="4640866" cy="777600"/>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33" name="矩形 32"/>
          <p:cNvSpPr/>
          <p:nvPr/>
        </p:nvSpPr>
        <p:spPr>
          <a:xfrm>
            <a:off x="7146162" y="1703847"/>
            <a:ext cx="4640866" cy="4565858"/>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zh-CN" altLang="en-US"/>
          </a:p>
        </p:txBody>
      </p:sp>
      <p:sp>
        <p:nvSpPr>
          <p:cNvPr id="34" name="文本框 33"/>
          <p:cNvSpPr txBox="1"/>
          <p:nvPr/>
        </p:nvSpPr>
        <p:spPr>
          <a:xfrm>
            <a:off x="7146162" y="1631660"/>
            <a:ext cx="4640866" cy="2748597"/>
          </a:xfrm>
          <a:prstGeom prst="rect">
            <a:avLst/>
          </a:prstGeom>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457200" indent="-457200">
              <a:spcAft>
                <a:spcPct val="50000"/>
              </a:spcAft>
              <a:buFont typeface="Arial" panose="020B0604020202020204" pitchFamily="34" charset="0"/>
              <a:buChar char="•"/>
            </a:pPr>
            <a:r>
              <a:rPr lang="zh-CN" altLang="en-US" sz="3000" baseline="0" dirty="0">
                <a:latin typeface="宋体" panose="02010600030101010101" pitchFamily="2" charset="-122"/>
                <a:ea typeface="宋体" panose="02010600030101010101" pitchFamily="2" charset="-122"/>
              </a:rPr>
              <a:t>又称子模式或用户模式，是数据库用户看得见和使用的部分数据，或者说是与某一具体应用有关的数据的逻辑结构和特征的描述，通常是模式的子集。</a:t>
            </a:r>
          </a:p>
          <a:p>
            <a:pPr marL="457200" indent="-457200">
              <a:spcAft>
                <a:spcPct val="50000"/>
              </a:spcAft>
              <a:buFont typeface="Arial" panose="020B0604020202020204" pitchFamily="34" charset="0"/>
              <a:buChar char="•"/>
            </a:pPr>
            <a:r>
              <a:rPr lang="zh-CN" altLang="en-US" sz="3000" baseline="0" dirty="0">
                <a:solidFill>
                  <a:srgbClr val="FF0000"/>
                </a:solidFill>
                <a:latin typeface="宋体" panose="02010600030101010101" pitchFamily="2" charset="-122"/>
                <a:ea typeface="宋体" panose="02010600030101010101" pitchFamily="2" charset="-122"/>
              </a:rPr>
              <a:t>一个数据库可以有多个外模式</a:t>
            </a:r>
            <a:r>
              <a:rPr lang="zh-CN" altLang="en-US" sz="3000" baseline="0" dirty="0">
                <a:latin typeface="宋体" panose="02010600030101010101" pitchFamily="2" charset="-122"/>
                <a:ea typeface="宋体" panose="02010600030101010101" pitchFamily="2" charset="-122"/>
              </a:rPr>
              <a:t>。</a:t>
            </a:r>
          </a:p>
        </p:txBody>
      </p:sp>
      <p:sp>
        <p:nvSpPr>
          <p:cNvPr id="36" name="文本框 35"/>
          <p:cNvSpPr txBox="1"/>
          <p:nvPr/>
        </p:nvSpPr>
        <p:spPr>
          <a:xfrm>
            <a:off x="7146162" y="962341"/>
            <a:ext cx="4640866" cy="777600"/>
          </a:xfrm>
          <a:prstGeom prst="rect">
            <a:avLst/>
          </a:prstGeom>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kumimoji="1" lang="zh-CN" altLang="en-US" sz="2800" b="0" i="0" kern="1200" baseline="0" dirty="0">
                <a:latin typeface="微软雅黑" panose="020B0503020204020204" pitchFamily="34" charset="-122"/>
                <a:ea typeface="微软雅黑" panose="020B0503020204020204" pitchFamily="34" charset="-122"/>
              </a:rPr>
              <a:t>外模式</a:t>
            </a:r>
            <a:endParaRPr lang="zh-CN" altLang="en-US" sz="2800" kern="1200" dirty="0">
              <a:latin typeface="微软雅黑" panose="020B0503020204020204" pitchFamily="34" charset="-122"/>
              <a:ea typeface="微软雅黑" panose="020B0503020204020204" pitchFamily="34" charset="-122"/>
            </a:endParaRPr>
          </a:p>
        </p:txBody>
      </p:sp>
      <p:grpSp>
        <p:nvGrpSpPr>
          <p:cNvPr id="37" name="组合 36">
            <a:extLst>
              <a:ext uri="{FF2B5EF4-FFF2-40B4-BE49-F238E27FC236}">
                <a16:creationId xmlns:a16="http://schemas.microsoft.com/office/drawing/2014/main" id="{A8BDB466-2C73-4D95-B66B-95D823A24EA8}"/>
              </a:ext>
            </a:extLst>
          </p:cNvPr>
          <p:cNvGrpSpPr/>
          <p:nvPr/>
        </p:nvGrpSpPr>
        <p:grpSpPr>
          <a:xfrm>
            <a:off x="551384" y="1052737"/>
            <a:ext cx="6121752" cy="5400603"/>
            <a:chOff x="551384" y="1052737"/>
            <a:chExt cx="6121752" cy="5400603"/>
          </a:xfrm>
        </p:grpSpPr>
        <p:sp>
          <p:nvSpPr>
            <p:cNvPr id="38" name="Rectangle 5">
              <a:extLst>
                <a:ext uri="{FF2B5EF4-FFF2-40B4-BE49-F238E27FC236}">
                  <a16:creationId xmlns:a16="http://schemas.microsoft.com/office/drawing/2014/main" id="{F68B0FC9-36A7-4598-AC05-9F21B71823BF}"/>
                </a:ext>
              </a:extLst>
            </p:cNvPr>
            <p:cNvSpPr>
              <a:spLocks noChangeArrowheads="1"/>
            </p:cNvSpPr>
            <p:nvPr/>
          </p:nvSpPr>
          <p:spPr bwMode="auto">
            <a:xfrm>
              <a:off x="551384" y="1852219"/>
              <a:ext cx="6121752" cy="3763468"/>
            </a:xfrm>
            <a:prstGeom prst="rect">
              <a:avLst/>
            </a:prstGeom>
            <a:noFill/>
            <a:ln w="12700">
              <a:solidFill>
                <a:schemeClr val="hlink"/>
              </a:solidFill>
              <a:prstDash val="dashDot"/>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p>
              <a:r>
                <a:rPr lang="zh-CN" altLang="en-US" sz="2400" baseline="0">
                  <a:latin typeface="宋体" panose="02010600030101010101" pitchFamily="2" charset="-122"/>
                </a:rPr>
                <a:t> </a:t>
              </a:r>
            </a:p>
          </p:txBody>
        </p:sp>
        <p:sp>
          <p:nvSpPr>
            <p:cNvPr id="39" name="Rectangle 6">
              <a:extLst>
                <a:ext uri="{FF2B5EF4-FFF2-40B4-BE49-F238E27FC236}">
                  <a16:creationId xmlns:a16="http://schemas.microsoft.com/office/drawing/2014/main" id="{82E2B84C-8972-46CB-A4B9-2D03B1835B1C}"/>
                </a:ext>
              </a:extLst>
            </p:cNvPr>
            <p:cNvSpPr>
              <a:spLocks noChangeArrowheads="1"/>
            </p:cNvSpPr>
            <p:nvPr/>
          </p:nvSpPr>
          <p:spPr bwMode="auto">
            <a:xfrm>
              <a:off x="553574" y="1052737"/>
              <a:ext cx="1085444"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应用</a:t>
              </a:r>
              <a:r>
                <a:rPr lang="en-US" altLang="zh-CN" sz="2400" b="1" baseline="0" dirty="0">
                  <a:latin typeface="宋体" panose="02010600030101010101" pitchFamily="2" charset="-122"/>
                </a:rPr>
                <a:t>A</a:t>
              </a:r>
            </a:p>
          </p:txBody>
        </p:sp>
        <p:sp>
          <p:nvSpPr>
            <p:cNvPr id="40" name="Rectangle 7">
              <a:extLst>
                <a:ext uri="{FF2B5EF4-FFF2-40B4-BE49-F238E27FC236}">
                  <a16:creationId xmlns:a16="http://schemas.microsoft.com/office/drawing/2014/main" id="{1328FB4B-F604-40D3-8ACB-2151A2EC5D6D}"/>
                </a:ext>
              </a:extLst>
            </p:cNvPr>
            <p:cNvSpPr>
              <a:spLocks noChangeArrowheads="1"/>
            </p:cNvSpPr>
            <p:nvPr/>
          </p:nvSpPr>
          <p:spPr bwMode="auto">
            <a:xfrm>
              <a:off x="1958134" y="1057858"/>
              <a:ext cx="1062071"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应用</a:t>
              </a:r>
              <a:r>
                <a:rPr lang="en-US" altLang="zh-CN" sz="2400" b="1" baseline="0" dirty="0">
                  <a:latin typeface="宋体" panose="02010600030101010101" pitchFamily="2" charset="-122"/>
                </a:rPr>
                <a:t>B</a:t>
              </a:r>
            </a:p>
          </p:txBody>
        </p:sp>
        <p:sp>
          <p:nvSpPr>
            <p:cNvPr id="41" name="Rectangle 8">
              <a:extLst>
                <a:ext uri="{FF2B5EF4-FFF2-40B4-BE49-F238E27FC236}">
                  <a16:creationId xmlns:a16="http://schemas.microsoft.com/office/drawing/2014/main" id="{635ABA9A-677E-46CB-B736-B05275424C52}"/>
                </a:ext>
              </a:extLst>
            </p:cNvPr>
            <p:cNvSpPr>
              <a:spLocks noChangeArrowheads="1"/>
            </p:cNvSpPr>
            <p:nvPr/>
          </p:nvSpPr>
          <p:spPr bwMode="auto">
            <a:xfrm>
              <a:off x="4809564" y="1052737"/>
              <a:ext cx="1340783"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a:latin typeface="宋体" panose="02010600030101010101" pitchFamily="2" charset="-122"/>
                </a:rPr>
                <a:t>应用</a:t>
              </a:r>
              <a:r>
                <a:rPr lang="en-US" altLang="zh-CN" sz="2400" b="1" baseline="0">
                  <a:latin typeface="宋体" panose="02010600030101010101" pitchFamily="2" charset="-122"/>
                </a:rPr>
                <a:t>n</a:t>
              </a:r>
            </a:p>
          </p:txBody>
        </p:sp>
        <p:sp>
          <p:nvSpPr>
            <p:cNvPr id="42" name="Rectangle 9">
              <a:extLst>
                <a:ext uri="{FF2B5EF4-FFF2-40B4-BE49-F238E27FC236}">
                  <a16:creationId xmlns:a16="http://schemas.microsoft.com/office/drawing/2014/main" id="{D05CEC9D-96F7-4BCB-BB19-E7206B3389C0}"/>
                </a:ext>
              </a:extLst>
            </p:cNvPr>
            <p:cNvSpPr>
              <a:spLocks noChangeArrowheads="1"/>
            </p:cNvSpPr>
            <p:nvPr/>
          </p:nvSpPr>
          <p:spPr bwMode="auto">
            <a:xfrm>
              <a:off x="3330251" y="1057858"/>
              <a:ext cx="1062071"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a:t>
              </a:r>
            </a:p>
          </p:txBody>
        </p:sp>
        <p:sp>
          <p:nvSpPr>
            <p:cNvPr id="43" name="Rectangle 10">
              <a:extLst>
                <a:ext uri="{FF2B5EF4-FFF2-40B4-BE49-F238E27FC236}">
                  <a16:creationId xmlns:a16="http://schemas.microsoft.com/office/drawing/2014/main" id="{9C8368E2-E2C7-4572-83E7-39DC86A2C844}"/>
                </a:ext>
              </a:extLst>
            </p:cNvPr>
            <p:cNvSpPr>
              <a:spLocks noChangeArrowheads="1"/>
            </p:cNvSpPr>
            <p:nvPr/>
          </p:nvSpPr>
          <p:spPr bwMode="auto">
            <a:xfrm>
              <a:off x="912555" y="1959697"/>
              <a:ext cx="1436435" cy="443564"/>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dirty="0">
                  <a:solidFill>
                    <a:schemeClr val="bg1"/>
                  </a:solidFill>
                  <a:latin typeface="宋体" panose="02010600030101010101" pitchFamily="2" charset="-122"/>
                </a:rPr>
                <a:t>外模式1</a:t>
              </a:r>
            </a:p>
          </p:txBody>
        </p:sp>
        <p:sp>
          <p:nvSpPr>
            <p:cNvPr id="44" name="Rectangle 11">
              <a:extLst>
                <a:ext uri="{FF2B5EF4-FFF2-40B4-BE49-F238E27FC236}">
                  <a16:creationId xmlns:a16="http://schemas.microsoft.com/office/drawing/2014/main" id="{CB0C19E4-7C25-4D89-8177-77D1B05FF4EE}"/>
                </a:ext>
              </a:extLst>
            </p:cNvPr>
            <p:cNvSpPr>
              <a:spLocks noChangeArrowheads="1"/>
            </p:cNvSpPr>
            <p:nvPr/>
          </p:nvSpPr>
          <p:spPr bwMode="auto">
            <a:xfrm>
              <a:off x="2800864" y="1959697"/>
              <a:ext cx="1489209" cy="431621"/>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a:solidFill>
                    <a:schemeClr val="bg1"/>
                  </a:solidFill>
                  <a:latin typeface="宋体" panose="02010600030101010101" pitchFamily="2" charset="-122"/>
                </a:rPr>
                <a:t>……</a:t>
              </a:r>
            </a:p>
          </p:txBody>
        </p:sp>
        <p:sp>
          <p:nvSpPr>
            <p:cNvPr id="45" name="Rectangle 12">
              <a:extLst>
                <a:ext uri="{FF2B5EF4-FFF2-40B4-BE49-F238E27FC236}">
                  <a16:creationId xmlns:a16="http://schemas.microsoft.com/office/drawing/2014/main" id="{FCD176BC-0EBD-4B88-A3C5-B9D2CB57AE98}"/>
                </a:ext>
              </a:extLst>
            </p:cNvPr>
            <p:cNvSpPr>
              <a:spLocks noChangeArrowheads="1"/>
            </p:cNvSpPr>
            <p:nvPr/>
          </p:nvSpPr>
          <p:spPr bwMode="auto">
            <a:xfrm>
              <a:off x="4512712" y="1959697"/>
              <a:ext cx="1786061" cy="431621"/>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a:solidFill>
                    <a:schemeClr val="bg1"/>
                  </a:solidFill>
                  <a:latin typeface="宋体" panose="02010600030101010101" pitchFamily="2" charset="-122"/>
                </a:rPr>
                <a:t>外模式</a:t>
              </a:r>
              <a:r>
                <a:rPr lang="en-US" altLang="zh-CN" sz="2400" b="1" baseline="0">
                  <a:solidFill>
                    <a:schemeClr val="bg1"/>
                  </a:solidFill>
                  <a:latin typeface="宋体" panose="02010600030101010101" pitchFamily="2" charset="-122"/>
                </a:rPr>
                <a:t>m</a:t>
              </a:r>
            </a:p>
          </p:txBody>
        </p:sp>
        <p:sp>
          <p:nvSpPr>
            <p:cNvPr id="46" name="AutoShape 13">
              <a:extLst>
                <a:ext uri="{FF2B5EF4-FFF2-40B4-BE49-F238E27FC236}">
                  <a16:creationId xmlns:a16="http://schemas.microsoft.com/office/drawing/2014/main" id="{4B9A0853-74FE-45FF-92D9-8E081CAE974E}"/>
                </a:ext>
              </a:extLst>
            </p:cNvPr>
            <p:cNvSpPr>
              <a:spLocks noChangeArrowheads="1"/>
            </p:cNvSpPr>
            <p:nvPr/>
          </p:nvSpPr>
          <p:spPr bwMode="auto">
            <a:xfrm>
              <a:off x="1611807" y="2674518"/>
              <a:ext cx="3718899" cy="475978"/>
            </a:xfrm>
            <a:prstGeom prst="roundRect">
              <a:avLst>
                <a:gd name="adj" fmla="val 16667"/>
              </a:avLst>
            </a:prstGeom>
            <a:solidFill>
              <a:schemeClr val="accent1"/>
            </a:solidFill>
            <a:ln w="28575">
              <a:solidFill>
                <a:srgbClr val="FFFFFF"/>
              </a:solidFill>
              <a:round/>
              <a:headEnd/>
              <a:tailEnd/>
            </a:ln>
          </p:spPr>
          <p:txBody>
            <a:bodyPr/>
            <a:lstStyle/>
            <a:p>
              <a:pPr algn="ctr" eaLnBrk="0" hangingPunct="0"/>
              <a:r>
                <a:rPr lang="zh-CN" altLang="en-US" sz="2400" b="1" baseline="0">
                  <a:solidFill>
                    <a:schemeClr val="bg1"/>
                  </a:solidFill>
                  <a:latin typeface="宋体" panose="02010600030101010101" pitchFamily="2" charset="-122"/>
                </a:rPr>
                <a:t>子模式/模式映象</a:t>
              </a:r>
            </a:p>
          </p:txBody>
        </p:sp>
        <p:sp>
          <p:nvSpPr>
            <p:cNvPr id="47" name="AutoShape 14">
              <a:extLst>
                <a:ext uri="{FF2B5EF4-FFF2-40B4-BE49-F238E27FC236}">
                  <a16:creationId xmlns:a16="http://schemas.microsoft.com/office/drawing/2014/main" id="{29C8412F-21B8-4DF8-8939-13C1A9BB0C5F}"/>
                </a:ext>
              </a:extLst>
            </p:cNvPr>
            <p:cNvSpPr>
              <a:spLocks noChangeArrowheads="1"/>
            </p:cNvSpPr>
            <p:nvPr/>
          </p:nvSpPr>
          <p:spPr bwMode="auto">
            <a:xfrm>
              <a:off x="2512258" y="3513877"/>
              <a:ext cx="2216496" cy="435033"/>
            </a:xfrm>
            <a:prstGeom prst="flowChartProcess">
              <a:avLst/>
            </a:prstGeom>
            <a:solidFill>
              <a:schemeClr val="hlink"/>
            </a:solidFill>
            <a:ln w="28575">
              <a:solidFill>
                <a:srgbClr val="FFFFFF"/>
              </a:solidFill>
              <a:miter lim="800000"/>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模　式</a:t>
              </a:r>
            </a:p>
          </p:txBody>
        </p:sp>
        <p:sp>
          <p:nvSpPr>
            <p:cNvPr id="48" name="AutoShape 15">
              <a:extLst>
                <a:ext uri="{FF2B5EF4-FFF2-40B4-BE49-F238E27FC236}">
                  <a16:creationId xmlns:a16="http://schemas.microsoft.com/office/drawing/2014/main" id="{7E448FD4-4723-4DF8-BFE6-85BE82D119BD}"/>
                </a:ext>
              </a:extLst>
            </p:cNvPr>
            <p:cNvSpPr>
              <a:spLocks noChangeArrowheads="1"/>
            </p:cNvSpPr>
            <p:nvPr/>
          </p:nvSpPr>
          <p:spPr bwMode="auto">
            <a:xfrm>
              <a:off x="1773426" y="4228697"/>
              <a:ext cx="3689214" cy="479390"/>
            </a:xfrm>
            <a:prstGeom prst="roundRect">
              <a:avLst>
                <a:gd name="adj" fmla="val 16667"/>
              </a:avLst>
            </a:prstGeom>
            <a:solidFill>
              <a:schemeClr val="accent1"/>
            </a:solidFill>
            <a:ln w="28575">
              <a:solidFill>
                <a:srgbClr val="FFFFFF"/>
              </a:solidFill>
              <a:round/>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模式/内模式映象</a:t>
              </a:r>
            </a:p>
          </p:txBody>
        </p:sp>
        <p:sp>
          <p:nvSpPr>
            <p:cNvPr id="49" name="AutoShape 16">
              <a:extLst>
                <a:ext uri="{FF2B5EF4-FFF2-40B4-BE49-F238E27FC236}">
                  <a16:creationId xmlns:a16="http://schemas.microsoft.com/office/drawing/2014/main" id="{F880D94A-10B8-4FEC-8126-948898C9A82A}"/>
                </a:ext>
              </a:extLst>
            </p:cNvPr>
            <p:cNvSpPr>
              <a:spLocks noChangeArrowheads="1"/>
            </p:cNvSpPr>
            <p:nvPr/>
          </p:nvSpPr>
          <p:spPr bwMode="auto">
            <a:xfrm>
              <a:off x="2512258" y="5061232"/>
              <a:ext cx="2216496" cy="433328"/>
            </a:xfrm>
            <a:prstGeom prst="flowChartProcess">
              <a:avLst/>
            </a:prstGeom>
            <a:solidFill>
              <a:schemeClr val="hlink"/>
            </a:solidFill>
            <a:ln w="28575">
              <a:solidFill>
                <a:srgbClr val="FFFFFF"/>
              </a:solidFill>
              <a:miter lim="800000"/>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内　模　式</a:t>
              </a:r>
            </a:p>
          </p:txBody>
        </p:sp>
        <p:sp>
          <p:nvSpPr>
            <p:cNvPr id="50" name="AutoShape 17">
              <a:extLst>
                <a:ext uri="{FF2B5EF4-FFF2-40B4-BE49-F238E27FC236}">
                  <a16:creationId xmlns:a16="http://schemas.microsoft.com/office/drawing/2014/main" id="{9B9EE5BD-436D-47DF-B8EE-7EF1979CCF64}"/>
                </a:ext>
              </a:extLst>
            </p:cNvPr>
            <p:cNvSpPr>
              <a:spLocks noChangeArrowheads="1"/>
            </p:cNvSpPr>
            <p:nvPr/>
          </p:nvSpPr>
          <p:spPr bwMode="auto">
            <a:xfrm>
              <a:off x="2357235" y="5769229"/>
              <a:ext cx="2379766" cy="684111"/>
            </a:xfrm>
            <a:prstGeom prst="can">
              <a:avLst>
                <a:gd name="adj" fmla="val 50000"/>
              </a:avLst>
            </a:prstGeom>
            <a:solidFill>
              <a:srgbClr val="66FFCC"/>
            </a:solidFill>
            <a:ln w="28575">
              <a:solidFill>
                <a:srgbClr val="FFFFFF"/>
              </a:solidFill>
              <a:round/>
              <a:headEnd/>
              <a:tailEnd/>
            </a:ln>
          </p:spPr>
          <p:txBody>
            <a:bodyPr tIns="190800"/>
            <a:lstStyle/>
            <a:p>
              <a:pPr algn="ctr" eaLnBrk="0" hangingPunct="0"/>
              <a:endParaRPr lang="zh-CN" altLang="en-US" sz="2400" b="1" baseline="0">
                <a:latin typeface="宋体" panose="02010600030101010101" pitchFamily="2" charset="-122"/>
              </a:endParaRPr>
            </a:p>
          </p:txBody>
        </p:sp>
        <p:sp>
          <p:nvSpPr>
            <p:cNvPr id="51" name="Line 18">
              <a:extLst>
                <a:ext uri="{FF2B5EF4-FFF2-40B4-BE49-F238E27FC236}">
                  <a16:creationId xmlns:a16="http://schemas.microsoft.com/office/drawing/2014/main" id="{D4DBB79B-C3EF-458E-A11A-64DC1342DA5E}"/>
                </a:ext>
              </a:extLst>
            </p:cNvPr>
            <p:cNvSpPr>
              <a:spLocks noChangeShapeType="1"/>
            </p:cNvSpPr>
            <p:nvPr/>
          </p:nvSpPr>
          <p:spPr bwMode="auto">
            <a:xfrm>
              <a:off x="1199456" y="1520185"/>
              <a:ext cx="357928"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2" name="Line 19">
              <a:extLst>
                <a:ext uri="{FF2B5EF4-FFF2-40B4-BE49-F238E27FC236}">
                  <a16:creationId xmlns:a16="http://schemas.microsoft.com/office/drawing/2014/main" id="{6E579EE4-A8CF-4FB7-A4E5-C7A4AEC9282C}"/>
                </a:ext>
              </a:extLst>
            </p:cNvPr>
            <p:cNvSpPr>
              <a:spLocks noChangeShapeType="1"/>
            </p:cNvSpPr>
            <p:nvPr/>
          </p:nvSpPr>
          <p:spPr bwMode="auto">
            <a:xfrm flipH="1">
              <a:off x="2004311" y="1527012"/>
              <a:ext cx="422190" cy="432685"/>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3" name="Line 20">
              <a:extLst>
                <a:ext uri="{FF2B5EF4-FFF2-40B4-BE49-F238E27FC236}">
                  <a16:creationId xmlns:a16="http://schemas.microsoft.com/office/drawing/2014/main" id="{C087A98A-A304-4662-BCB8-8A7F9949AA10}"/>
                </a:ext>
              </a:extLst>
            </p:cNvPr>
            <p:cNvSpPr>
              <a:spLocks noChangeShapeType="1"/>
            </p:cNvSpPr>
            <p:nvPr/>
          </p:nvSpPr>
          <p:spPr bwMode="auto">
            <a:xfrm flipH="1">
              <a:off x="3547943" y="1520185"/>
              <a:ext cx="217690"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4" name="Line 21">
              <a:extLst>
                <a:ext uri="{FF2B5EF4-FFF2-40B4-BE49-F238E27FC236}">
                  <a16:creationId xmlns:a16="http://schemas.microsoft.com/office/drawing/2014/main" id="{C5D5D7AE-5171-4F64-9612-C0A037C29796}"/>
                </a:ext>
              </a:extLst>
            </p:cNvPr>
            <p:cNvSpPr>
              <a:spLocks noChangeShapeType="1"/>
            </p:cNvSpPr>
            <p:nvPr/>
          </p:nvSpPr>
          <p:spPr bwMode="auto">
            <a:xfrm flipH="1">
              <a:off x="5406567" y="1520185"/>
              <a:ext cx="52773"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5" name="Line 22">
              <a:extLst>
                <a:ext uri="{FF2B5EF4-FFF2-40B4-BE49-F238E27FC236}">
                  <a16:creationId xmlns:a16="http://schemas.microsoft.com/office/drawing/2014/main" id="{D16221C7-913D-4553-9A94-6E9CE1499DB2}"/>
                </a:ext>
              </a:extLst>
            </p:cNvPr>
            <p:cNvSpPr>
              <a:spLocks noChangeShapeType="1"/>
            </p:cNvSpPr>
            <p:nvPr/>
          </p:nvSpPr>
          <p:spPr bwMode="auto">
            <a:xfrm>
              <a:off x="3547943" y="4697851"/>
              <a:ext cx="0" cy="356557"/>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6" name="Line 23">
              <a:extLst>
                <a:ext uri="{FF2B5EF4-FFF2-40B4-BE49-F238E27FC236}">
                  <a16:creationId xmlns:a16="http://schemas.microsoft.com/office/drawing/2014/main" id="{8A0A5E74-F941-4A2E-8D03-8454FB15F3E1}"/>
                </a:ext>
              </a:extLst>
            </p:cNvPr>
            <p:cNvSpPr>
              <a:spLocks noChangeShapeType="1"/>
            </p:cNvSpPr>
            <p:nvPr/>
          </p:nvSpPr>
          <p:spPr bwMode="auto">
            <a:xfrm>
              <a:off x="3547943" y="5525268"/>
              <a:ext cx="0" cy="243960"/>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7" name="Line 24">
              <a:extLst>
                <a:ext uri="{FF2B5EF4-FFF2-40B4-BE49-F238E27FC236}">
                  <a16:creationId xmlns:a16="http://schemas.microsoft.com/office/drawing/2014/main" id="{901DC20A-516B-4E9E-9F5A-D4F5F1E4BA8F}"/>
                </a:ext>
              </a:extLst>
            </p:cNvPr>
            <p:cNvSpPr>
              <a:spLocks noChangeShapeType="1"/>
            </p:cNvSpPr>
            <p:nvPr/>
          </p:nvSpPr>
          <p:spPr bwMode="auto">
            <a:xfrm>
              <a:off x="3547943" y="3940381"/>
              <a:ext cx="0" cy="28149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8" name="Line 25">
              <a:extLst>
                <a:ext uri="{FF2B5EF4-FFF2-40B4-BE49-F238E27FC236}">
                  <a16:creationId xmlns:a16="http://schemas.microsoft.com/office/drawing/2014/main" id="{1E9070B8-27FE-40AB-8DE0-8FABC2E795C8}"/>
                </a:ext>
              </a:extLst>
            </p:cNvPr>
            <p:cNvSpPr>
              <a:spLocks noChangeShapeType="1"/>
            </p:cNvSpPr>
            <p:nvPr/>
          </p:nvSpPr>
          <p:spPr bwMode="auto">
            <a:xfrm>
              <a:off x="3547943" y="3150496"/>
              <a:ext cx="0" cy="358263"/>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9" name="Line 26">
              <a:extLst>
                <a:ext uri="{FF2B5EF4-FFF2-40B4-BE49-F238E27FC236}">
                  <a16:creationId xmlns:a16="http://schemas.microsoft.com/office/drawing/2014/main" id="{D69C5CBC-4316-46E3-A4C1-63AE3C58B515}"/>
                </a:ext>
              </a:extLst>
            </p:cNvPr>
            <p:cNvSpPr>
              <a:spLocks noChangeShapeType="1"/>
            </p:cNvSpPr>
            <p:nvPr/>
          </p:nvSpPr>
          <p:spPr bwMode="auto">
            <a:xfrm>
              <a:off x="2027400" y="2398144"/>
              <a:ext cx="207797" cy="300259"/>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60" name="Line 27">
              <a:extLst>
                <a:ext uri="{FF2B5EF4-FFF2-40B4-BE49-F238E27FC236}">
                  <a16:creationId xmlns:a16="http://schemas.microsoft.com/office/drawing/2014/main" id="{FD013849-64AF-46DC-A6A6-E68B8A49FE0C}"/>
                </a:ext>
              </a:extLst>
            </p:cNvPr>
            <p:cNvSpPr>
              <a:spLocks noChangeShapeType="1"/>
            </p:cNvSpPr>
            <p:nvPr/>
          </p:nvSpPr>
          <p:spPr bwMode="auto">
            <a:xfrm>
              <a:off x="3547943" y="2391320"/>
              <a:ext cx="0" cy="283198"/>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61" name="Line 28">
              <a:extLst>
                <a:ext uri="{FF2B5EF4-FFF2-40B4-BE49-F238E27FC236}">
                  <a16:creationId xmlns:a16="http://schemas.microsoft.com/office/drawing/2014/main" id="{46DCE103-F02B-4941-A74B-C38B95AFAFA8}"/>
                </a:ext>
              </a:extLst>
            </p:cNvPr>
            <p:cNvSpPr>
              <a:spLocks noChangeShapeType="1"/>
            </p:cNvSpPr>
            <p:nvPr/>
          </p:nvSpPr>
          <p:spPr bwMode="auto">
            <a:xfrm flipV="1">
              <a:off x="4741948" y="2375965"/>
              <a:ext cx="166568" cy="296847"/>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62" name="Rectangle 29">
              <a:extLst>
                <a:ext uri="{FF2B5EF4-FFF2-40B4-BE49-F238E27FC236}">
                  <a16:creationId xmlns:a16="http://schemas.microsoft.com/office/drawing/2014/main" id="{E15C0E94-21F2-4E97-952B-C793748BFE7D}"/>
                </a:ext>
              </a:extLst>
            </p:cNvPr>
            <p:cNvSpPr>
              <a:spLocks noChangeArrowheads="1"/>
            </p:cNvSpPr>
            <p:nvPr/>
          </p:nvSpPr>
          <p:spPr bwMode="auto">
            <a:xfrm>
              <a:off x="3007012" y="5849411"/>
              <a:ext cx="1073545" cy="514738"/>
            </a:xfrm>
            <a:prstGeom prst="rect">
              <a:avLst/>
            </a:prstGeom>
            <a:no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400" b="1" baseline="0" dirty="0">
                  <a:solidFill>
                    <a:schemeClr val="bg1"/>
                  </a:solidFill>
                  <a:latin typeface="宋体" panose="02010600030101010101" pitchFamily="2" charset="-122"/>
                </a:rPr>
                <a:t>数据库</a:t>
              </a:r>
            </a:p>
          </p:txBody>
        </p:sp>
        <p:sp>
          <p:nvSpPr>
            <p:cNvPr id="63" name="Rectangle 30">
              <a:extLst>
                <a:ext uri="{FF2B5EF4-FFF2-40B4-BE49-F238E27FC236}">
                  <a16:creationId xmlns:a16="http://schemas.microsoft.com/office/drawing/2014/main" id="{ED572808-7EAD-40E1-A773-66C287B6A9C5}"/>
                </a:ext>
              </a:extLst>
            </p:cNvPr>
            <p:cNvSpPr>
              <a:spLocks noChangeArrowheads="1"/>
            </p:cNvSpPr>
            <p:nvPr/>
          </p:nvSpPr>
          <p:spPr bwMode="auto">
            <a:xfrm>
              <a:off x="614053" y="4919633"/>
              <a:ext cx="1301172" cy="57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en-US" altLang="zh-CN" sz="2800" b="1" baseline="0" dirty="0">
                  <a:solidFill>
                    <a:srgbClr val="FFFF00"/>
                  </a:solidFill>
                  <a:latin typeface="Arial Black" panose="020B0A04020102020204" pitchFamily="34" charset="0"/>
                </a:rPr>
                <a:t>DBMS</a:t>
              </a:r>
            </a:p>
          </p:txBody>
        </p:sp>
      </p:grpSp>
    </p:spTree>
    <p:extLst>
      <p:ext uri="{BB962C8B-B14F-4D97-AF65-F5344CB8AC3E}">
        <p14:creationId xmlns:p14="http://schemas.microsoft.com/office/powerpoint/2010/main" val="314296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3">
            <a:extLst>
              <a:ext uri="{FF2B5EF4-FFF2-40B4-BE49-F238E27FC236}">
                <a16:creationId xmlns:a16="http://schemas.microsoft.com/office/drawing/2014/main" id="{749E7C8A-9F78-4F3D-A3E5-82FC959BC177}"/>
              </a:ext>
            </a:extLst>
          </p:cNvPr>
          <p:cNvSpPr>
            <a:spLocks noGrp="1" noChangeArrowheads="1"/>
          </p:cNvSpPr>
          <p:nvPr>
            <p:ph type="body" idx="1"/>
          </p:nvPr>
        </p:nvSpPr>
        <p:spPr>
          <a:xfrm>
            <a:off x="609600" y="836712"/>
            <a:ext cx="11175032" cy="4054475"/>
          </a:xfrm>
        </p:spPr>
        <p:txBody>
          <a:bodyPr/>
          <a:lstStyle/>
          <a:p>
            <a:pPr>
              <a:lnSpc>
                <a:spcPct val="150000"/>
              </a:lnSpc>
              <a:buFontTx/>
              <a:buNone/>
            </a:pPr>
            <a:r>
              <a:rPr lang="zh-CN" altLang="en-US" dirty="0"/>
              <a:t>三、内模式</a:t>
            </a:r>
          </a:p>
          <a:p>
            <a:pPr>
              <a:lnSpc>
                <a:spcPct val="150000"/>
              </a:lnSpc>
            </a:pPr>
            <a:r>
              <a:rPr lang="zh-CN" altLang="en-US" dirty="0"/>
              <a:t>又称存储模式或内视图，是数据库在物理存储方面的描述。</a:t>
            </a:r>
          </a:p>
          <a:p>
            <a:pPr>
              <a:lnSpc>
                <a:spcPct val="150000"/>
              </a:lnSpc>
            </a:pPr>
            <a:r>
              <a:rPr lang="en-US" altLang="zh-CN" dirty="0"/>
              <a:t>DBMS </a:t>
            </a:r>
            <a:r>
              <a:rPr lang="zh-CN" altLang="en-US" dirty="0"/>
              <a:t>提供内模式描述语言（内模式 </a:t>
            </a:r>
            <a:r>
              <a:rPr lang="en-US" altLang="zh-CN" dirty="0"/>
              <a:t>DDL</a:t>
            </a:r>
            <a:r>
              <a:rPr lang="zh-CN" altLang="en-US" dirty="0"/>
              <a:t>）来定义内模式。内模式是三级结构中的最内层，也是靠近物理存储的一层，即与实际存储数据方式有关的一层。</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539203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数据库系统的模式结构</a:t>
            </a:r>
          </a:p>
        </p:txBody>
      </p:sp>
      <p:sp>
        <p:nvSpPr>
          <p:cNvPr id="35" name="矩形 34"/>
          <p:cNvSpPr/>
          <p:nvPr/>
        </p:nvSpPr>
        <p:spPr>
          <a:xfrm>
            <a:off x="7125011" y="1959697"/>
            <a:ext cx="4640866" cy="777600"/>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33" name="矩形 32"/>
          <p:cNvSpPr/>
          <p:nvPr/>
        </p:nvSpPr>
        <p:spPr>
          <a:xfrm>
            <a:off x="7125011" y="2737296"/>
            <a:ext cx="4640866" cy="2613072"/>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zh-CN" altLang="en-US"/>
          </a:p>
        </p:txBody>
      </p:sp>
      <p:sp>
        <p:nvSpPr>
          <p:cNvPr id="34" name="文本框 33"/>
          <p:cNvSpPr txBox="1"/>
          <p:nvPr/>
        </p:nvSpPr>
        <p:spPr>
          <a:xfrm>
            <a:off x="7125011" y="2851497"/>
            <a:ext cx="4640866" cy="1610824"/>
          </a:xfrm>
          <a:prstGeom prst="rect">
            <a:avLst/>
          </a:prstGeom>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457200" indent="-457200">
              <a:spcAft>
                <a:spcPct val="50000"/>
              </a:spcAft>
              <a:buFont typeface="Arial" panose="020B0604020202020204" pitchFamily="34" charset="0"/>
              <a:buChar char="•"/>
            </a:pPr>
            <a:r>
              <a:rPr lang="zh-CN" altLang="en-US" sz="3000" baseline="0" dirty="0">
                <a:latin typeface="宋体" panose="02010600030101010101" pitchFamily="2" charset="-122"/>
                <a:ea typeface="宋体" panose="02010600030101010101" pitchFamily="2" charset="-122"/>
              </a:rPr>
              <a:t>又称存储模式，是数据物理存储结构的描述。</a:t>
            </a:r>
          </a:p>
          <a:p>
            <a:pPr marL="457200" indent="-457200">
              <a:spcAft>
                <a:spcPct val="50000"/>
              </a:spcAft>
              <a:buFont typeface="Arial" panose="020B0604020202020204" pitchFamily="34" charset="0"/>
              <a:buChar char="•"/>
            </a:pPr>
            <a:r>
              <a:rPr lang="zh-CN" altLang="en-US" sz="3000" baseline="0" dirty="0">
                <a:solidFill>
                  <a:srgbClr val="FF0000"/>
                </a:solidFill>
                <a:latin typeface="宋体" panose="02010600030101010101" pitchFamily="2" charset="-122"/>
                <a:ea typeface="宋体" panose="02010600030101010101" pitchFamily="2" charset="-122"/>
              </a:rPr>
              <a:t>一个数据库只有一个内模式</a:t>
            </a:r>
          </a:p>
        </p:txBody>
      </p:sp>
      <p:sp>
        <p:nvSpPr>
          <p:cNvPr id="36" name="文本框 35"/>
          <p:cNvSpPr txBox="1"/>
          <p:nvPr/>
        </p:nvSpPr>
        <p:spPr>
          <a:xfrm>
            <a:off x="7125011" y="1959697"/>
            <a:ext cx="4640866" cy="777600"/>
          </a:xfrm>
          <a:prstGeom prst="rect">
            <a:avLst/>
          </a:prstGeom>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kumimoji="1" lang="zh-CN" altLang="en-US" sz="2800" b="0" i="0" kern="1200" baseline="0" dirty="0">
                <a:latin typeface="微软雅黑" panose="020B0503020204020204" pitchFamily="34" charset="-122"/>
                <a:ea typeface="微软雅黑" panose="020B0503020204020204" pitchFamily="34" charset="-122"/>
              </a:rPr>
              <a:t>内模式</a:t>
            </a:r>
            <a:endParaRPr lang="zh-CN" altLang="en-US" sz="2800" kern="1200" dirty="0">
              <a:latin typeface="微软雅黑" panose="020B0503020204020204" pitchFamily="34" charset="-122"/>
              <a:ea typeface="微软雅黑" panose="020B0503020204020204" pitchFamily="34" charset="-122"/>
            </a:endParaRPr>
          </a:p>
        </p:txBody>
      </p:sp>
      <p:grpSp>
        <p:nvGrpSpPr>
          <p:cNvPr id="37" name="组合 36">
            <a:extLst>
              <a:ext uri="{FF2B5EF4-FFF2-40B4-BE49-F238E27FC236}">
                <a16:creationId xmlns:a16="http://schemas.microsoft.com/office/drawing/2014/main" id="{550E4A92-6BD8-4D56-BEEF-908C8A94A3F1}"/>
              </a:ext>
            </a:extLst>
          </p:cNvPr>
          <p:cNvGrpSpPr/>
          <p:nvPr/>
        </p:nvGrpSpPr>
        <p:grpSpPr>
          <a:xfrm>
            <a:off x="551384" y="1052737"/>
            <a:ext cx="6121752" cy="5400603"/>
            <a:chOff x="551384" y="1052737"/>
            <a:chExt cx="6121752" cy="5400603"/>
          </a:xfrm>
        </p:grpSpPr>
        <p:sp>
          <p:nvSpPr>
            <p:cNvPr id="38" name="Rectangle 5">
              <a:extLst>
                <a:ext uri="{FF2B5EF4-FFF2-40B4-BE49-F238E27FC236}">
                  <a16:creationId xmlns:a16="http://schemas.microsoft.com/office/drawing/2014/main" id="{F6B6329B-C156-4DB2-A44C-CAA26E4DF715}"/>
                </a:ext>
              </a:extLst>
            </p:cNvPr>
            <p:cNvSpPr>
              <a:spLocks noChangeArrowheads="1"/>
            </p:cNvSpPr>
            <p:nvPr/>
          </p:nvSpPr>
          <p:spPr bwMode="auto">
            <a:xfrm>
              <a:off x="551384" y="1852219"/>
              <a:ext cx="6121752" cy="3763468"/>
            </a:xfrm>
            <a:prstGeom prst="rect">
              <a:avLst/>
            </a:prstGeom>
            <a:noFill/>
            <a:ln w="12700">
              <a:solidFill>
                <a:schemeClr val="hlink"/>
              </a:solidFill>
              <a:prstDash val="dashDot"/>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p>
              <a:r>
                <a:rPr lang="zh-CN" altLang="en-US" sz="2400" baseline="0">
                  <a:latin typeface="宋体" panose="02010600030101010101" pitchFamily="2" charset="-122"/>
                </a:rPr>
                <a:t> </a:t>
              </a:r>
            </a:p>
          </p:txBody>
        </p:sp>
        <p:sp>
          <p:nvSpPr>
            <p:cNvPr id="39" name="Rectangle 6">
              <a:extLst>
                <a:ext uri="{FF2B5EF4-FFF2-40B4-BE49-F238E27FC236}">
                  <a16:creationId xmlns:a16="http://schemas.microsoft.com/office/drawing/2014/main" id="{DAD7BBE5-8724-4C59-A8A4-746738336F6B}"/>
                </a:ext>
              </a:extLst>
            </p:cNvPr>
            <p:cNvSpPr>
              <a:spLocks noChangeArrowheads="1"/>
            </p:cNvSpPr>
            <p:nvPr/>
          </p:nvSpPr>
          <p:spPr bwMode="auto">
            <a:xfrm>
              <a:off x="553574" y="1052737"/>
              <a:ext cx="1085444"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应用</a:t>
              </a:r>
              <a:r>
                <a:rPr lang="en-US" altLang="zh-CN" sz="2400" b="1" baseline="0" dirty="0">
                  <a:latin typeface="宋体" panose="02010600030101010101" pitchFamily="2" charset="-122"/>
                </a:rPr>
                <a:t>A</a:t>
              </a:r>
            </a:p>
          </p:txBody>
        </p:sp>
        <p:sp>
          <p:nvSpPr>
            <p:cNvPr id="40" name="Rectangle 7">
              <a:extLst>
                <a:ext uri="{FF2B5EF4-FFF2-40B4-BE49-F238E27FC236}">
                  <a16:creationId xmlns:a16="http://schemas.microsoft.com/office/drawing/2014/main" id="{18B36249-6BCE-4A9C-A185-00743F3B85DA}"/>
                </a:ext>
              </a:extLst>
            </p:cNvPr>
            <p:cNvSpPr>
              <a:spLocks noChangeArrowheads="1"/>
            </p:cNvSpPr>
            <p:nvPr/>
          </p:nvSpPr>
          <p:spPr bwMode="auto">
            <a:xfrm>
              <a:off x="1958134" y="1057858"/>
              <a:ext cx="1062071"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应用</a:t>
              </a:r>
              <a:r>
                <a:rPr lang="en-US" altLang="zh-CN" sz="2400" b="1" baseline="0" dirty="0">
                  <a:latin typeface="宋体" panose="02010600030101010101" pitchFamily="2" charset="-122"/>
                </a:rPr>
                <a:t>B</a:t>
              </a:r>
            </a:p>
          </p:txBody>
        </p:sp>
        <p:sp>
          <p:nvSpPr>
            <p:cNvPr id="41" name="Rectangle 8">
              <a:extLst>
                <a:ext uri="{FF2B5EF4-FFF2-40B4-BE49-F238E27FC236}">
                  <a16:creationId xmlns:a16="http://schemas.microsoft.com/office/drawing/2014/main" id="{4DD277D1-197D-4285-8EA5-CDFBFAAB3D04}"/>
                </a:ext>
              </a:extLst>
            </p:cNvPr>
            <p:cNvSpPr>
              <a:spLocks noChangeArrowheads="1"/>
            </p:cNvSpPr>
            <p:nvPr/>
          </p:nvSpPr>
          <p:spPr bwMode="auto">
            <a:xfrm>
              <a:off x="4809564" y="1052737"/>
              <a:ext cx="1340783"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a:latin typeface="宋体" panose="02010600030101010101" pitchFamily="2" charset="-122"/>
                </a:rPr>
                <a:t>应用</a:t>
              </a:r>
              <a:r>
                <a:rPr lang="en-US" altLang="zh-CN" sz="2400" b="1" baseline="0">
                  <a:latin typeface="宋体" panose="02010600030101010101" pitchFamily="2" charset="-122"/>
                </a:rPr>
                <a:t>n</a:t>
              </a:r>
            </a:p>
          </p:txBody>
        </p:sp>
        <p:sp>
          <p:nvSpPr>
            <p:cNvPr id="42" name="Rectangle 9">
              <a:extLst>
                <a:ext uri="{FF2B5EF4-FFF2-40B4-BE49-F238E27FC236}">
                  <a16:creationId xmlns:a16="http://schemas.microsoft.com/office/drawing/2014/main" id="{A2ED97AD-EF72-4440-94DE-CC1F125D2E5A}"/>
                </a:ext>
              </a:extLst>
            </p:cNvPr>
            <p:cNvSpPr>
              <a:spLocks noChangeArrowheads="1"/>
            </p:cNvSpPr>
            <p:nvPr/>
          </p:nvSpPr>
          <p:spPr bwMode="auto">
            <a:xfrm>
              <a:off x="3330251" y="1057858"/>
              <a:ext cx="1062071"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a:t>
              </a:r>
            </a:p>
          </p:txBody>
        </p:sp>
        <p:sp>
          <p:nvSpPr>
            <p:cNvPr id="43" name="Rectangle 10">
              <a:extLst>
                <a:ext uri="{FF2B5EF4-FFF2-40B4-BE49-F238E27FC236}">
                  <a16:creationId xmlns:a16="http://schemas.microsoft.com/office/drawing/2014/main" id="{5CCAB1A7-64D8-461C-921D-E10842A97445}"/>
                </a:ext>
              </a:extLst>
            </p:cNvPr>
            <p:cNvSpPr>
              <a:spLocks noChangeArrowheads="1"/>
            </p:cNvSpPr>
            <p:nvPr/>
          </p:nvSpPr>
          <p:spPr bwMode="auto">
            <a:xfrm>
              <a:off x="912555" y="1959697"/>
              <a:ext cx="1436435" cy="443564"/>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dirty="0">
                  <a:solidFill>
                    <a:schemeClr val="bg1"/>
                  </a:solidFill>
                  <a:latin typeface="宋体" panose="02010600030101010101" pitchFamily="2" charset="-122"/>
                </a:rPr>
                <a:t>外模式1</a:t>
              </a:r>
            </a:p>
          </p:txBody>
        </p:sp>
        <p:sp>
          <p:nvSpPr>
            <p:cNvPr id="44" name="Rectangle 11">
              <a:extLst>
                <a:ext uri="{FF2B5EF4-FFF2-40B4-BE49-F238E27FC236}">
                  <a16:creationId xmlns:a16="http://schemas.microsoft.com/office/drawing/2014/main" id="{D5112944-E990-4069-B162-0424E7D4F758}"/>
                </a:ext>
              </a:extLst>
            </p:cNvPr>
            <p:cNvSpPr>
              <a:spLocks noChangeArrowheads="1"/>
            </p:cNvSpPr>
            <p:nvPr/>
          </p:nvSpPr>
          <p:spPr bwMode="auto">
            <a:xfrm>
              <a:off x="2800864" y="1959697"/>
              <a:ext cx="1489209" cy="431621"/>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a:solidFill>
                    <a:schemeClr val="bg1"/>
                  </a:solidFill>
                  <a:latin typeface="宋体" panose="02010600030101010101" pitchFamily="2" charset="-122"/>
                </a:rPr>
                <a:t>……</a:t>
              </a:r>
            </a:p>
          </p:txBody>
        </p:sp>
        <p:sp>
          <p:nvSpPr>
            <p:cNvPr id="45" name="Rectangle 12">
              <a:extLst>
                <a:ext uri="{FF2B5EF4-FFF2-40B4-BE49-F238E27FC236}">
                  <a16:creationId xmlns:a16="http://schemas.microsoft.com/office/drawing/2014/main" id="{62E4DC95-6F90-4D94-BF23-B738506EB6B5}"/>
                </a:ext>
              </a:extLst>
            </p:cNvPr>
            <p:cNvSpPr>
              <a:spLocks noChangeArrowheads="1"/>
            </p:cNvSpPr>
            <p:nvPr/>
          </p:nvSpPr>
          <p:spPr bwMode="auto">
            <a:xfrm>
              <a:off x="4512712" y="1959697"/>
              <a:ext cx="1786061" cy="431621"/>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a:solidFill>
                    <a:schemeClr val="bg1"/>
                  </a:solidFill>
                  <a:latin typeface="宋体" panose="02010600030101010101" pitchFamily="2" charset="-122"/>
                </a:rPr>
                <a:t>外模式</a:t>
              </a:r>
              <a:r>
                <a:rPr lang="en-US" altLang="zh-CN" sz="2400" b="1" baseline="0">
                  <a:solidFill>
                    <a:schemeClr val="bg1"/>
                  </a:solidFill>
                  <a:latin typeface="宋体" panose="02010600030101010101" pitchFamily="2" charset="-122"/>
                </a:rPr>
                <a:t>m</a:t>
              </a:r>
            </a:p>
          </p:txBody>
        </p:sp>
        <p:sp>
          <p:nvSpPr>
            <p:cNvPr id="46" name="AutoShape 13">
              <a:extLst>
                <a:ext uri="{FF2B5EF4-FFF2-40B4-BE49-F238E27FC236}">
                  <a16:creationId xmlns:a16="http://schemas.microsoft.com/office/drawing/2014/main" id="{E70CA191-B79E-44C1-9B04-F6B9A36D9D47}"/>
                </a:ext>
              </a:extLst>
            </p:cNvPr>
            <p:cNvSpPr>
              <a:spLocks noChangeArrowheads="1"/>
            </p:cNvSpPr>
            <p:nvPr/>
          </p:nvSpPr>
          <p:spPr bwMode="auto">
            <a:xfrm>
              <a:off x="1611807" y="2674518"/>
              <a:ext cx="3718899" cy="475978"/>
            </a:xfrm>
            <a:prstGeom prst="roundRect">
              <a:avLst>
                <a:gd name="adj" fmla="val 16667"/>
              </a:avLst>
            </a:prstGeom>
            <a:solidFill>
              <a:schemeClr val="accent1"/>
            </a:solidFill>
            <a:ln w="28575">
              <a:solidFill>
                <a:srgbClr val="FFFFFF"/>
              </a:solidFill>
              <a:round/>
              <a:headEnd/>
              <a:tailEnd/>
            </a:ln>
          </p:spPr>
          <p:txBody>
            <a:bodyPr/>
            <a:lstStyle/>
            <a:p>
              <a:pPr algn="ctr" eaLnBrk="0" hangingPunct="0"/>
              <a:r>
                <a:rPr lang="zh-CN" altLang="en-US" sz="2400" b="1" baseline="0">
                  <a:solidFill>
                    <a:schemeClr val="bg1"/>
                  </a:solidFill>
                  <a:latin typeface="宋体" panose="02010600030101010101" pitchFamily="2" charset="-122"/>
                </a:rPr>
                <a:t>子模式/模式映象</a:t>
              </a:r>
            </a:p>
          </p:txBody>
        </p:sp>
        <p:sp>
          <p:nvSpPr>
            <p:cNvPr id="47" name="AutoShape 14">
              <a:extLst>
                <a:ext uri="{FF2B5EF4-FFF2-40B4-BE49-F238E27FC236}">
                  <a16:creationId xmlns:a16="http://schemas.microsoft.com/office/drawing/2014/main" id="{F6213C2D-BB7E-485E-906A-D8C8811AEED3}"/>
                </a:ext>
              </a:extLst>
            </p:cNvPr>
            <p:cNvSpPr>
              <a:spLocks noChangeArrowheads="1"/>
            </p:cNvSpPr>
            <p:nvPr/>
          </p:nvSpPr>
          <p:spPr bwMode="auto">
            <a:xfrm>
              <a:off x="2512258" y="3513877"/>
              <a:ext cx="2216496" cy="435033"/>
            </a:xfrm>
            <a:prstGeom prst="flowChartProcess">
              <a:avLst/>
            </a:prstGeom>
            <a:solidFill>
              <a:schemeClr val="hlink"/>
            </a:solidFill>
            <a:ln w="28575">
              <a:solidFill>
                <a:srgbClr val="FFFFFF"/>
              </a:solidFill>
              <a:miter lim="800000"/>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模　式</a:t>
              </a:r>
            </a:p>
          </p:txBody>
        </p:sp>
        <p:sp>
          <p:nvSpPr>
            <p:cNvPr id="48" name="AutoShape 15">
              <a:extLst>
                <a:ext uri="{FF2B5EF4-FFF2-40B4-BE49-F238E27FC236}">
                  <a16:creationId xmlns:a16="http://schemas.microsoft.com/office/drawing/2014/main" id="{04D109CF-568D-49AD-9FFC-AEF20F675BB3}"/>
                </a:ext>
              </a:extLst>
            </p:cNvPr>
            <p:cNvSpPr>
              <a:spLocks noChangeArrowheads="1"/>
            </p:cNvSpPr>
            <p:nvPr/>
          </p:nvSpPr>
          <p:spPr bwMode="auto">
            <a:xfrm>
              <a:off x="1773426" y="4228697"/>
              <a:ext cx="3689214" cy="479390"/>
            </a:xfrm>
            <a:prstGeom prst="roundRect">
              <a:avLst>
                <a:gd name="adj" fmla="val 16667"/>
              </a:avLst>
            </a:prstGeom>
            <a:solidFill>
              <a:schemeClr val="accent1"/>
            </a:solidFill>
            <a:ln w="28575">
              <a:solidFill>
                <a:srgbClr val="FFFFFF"/>
              </a:solidFill>
              <a:round/>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模式/内模式映象</a:t>
              </a:r>
            </a:p>
          </p:txBody>
        </p:sp>
        <p:sp>
          <p:nvSpPr>
            <p:cNvPr id="49" name="AutoShape 16">
              <a:extLst>
                <a:ext uri="{FF2B5EF4-FFF2-40B4-BE49-F238E27FC236}">
                  <a16:creationId xmlns:a16="http://schemas.microsoft.com/office/drawing/2014/main" id="{A83AB712-3BD1-40AA-BDF2-29DE6866CDC1}"/>
                </a:ext>
              </a:extLst>
            </p:cNvPr>
            <p:cNvSpPr>
              <a:spLocks noChangeArrowheads="1"/>
            </p:cNvSpPr>
            <p:nvPr/>
          </p:nvSpPr>
          <p:spPr bwMode="auto">
            <a:xfrm>
              <a:off x="2512258" y="5061232"/>
              <a:ext cx="2216496" cy="433328"/>
            </a:xfrm>
            <a:prstGeom prst="flowChartProcess">
              <a:avLst/>
            </a:prstGeom>
            <a:solidFill>
              <a:schemeClr val="hlink"/>
            </a:solidFill>
            <a:ln w="28575">
              <a:solidFill>
                <a:srgbClr val="FFFFFF"/>
              </a:solidFill>
              <a:miter lim="800000"/>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内　模　式</a:t>
              </a:r>
            </a:p>
          </p:txBody>
        </p:sp>
        <p:sp>
          <p:nvSpPr>
            <p:cNvPr id="50" name="AutoShape 17">
              <a:extLst>
                <a:ext uri="{FF2B5EF4-FFF2-40B4-BE49-F238E27FC236}">
                  <a16:creationId xmlns:a16="http://schemas.microsoft.com/office/drawing/2014/main" id="{4725B479-6D37-4228-A8AE-419246E5FEBE}"/>
                </a:ext>
              </a:extLst>
            </p:cNvPr>
            <p:cNvSpPr>
              <a:spLocks noChangeArrowheads="1"/>
            </p:cNvSpPr>
            <p:nvPr/>
          </p:nvSpPr>
          <p:spPr bwMode="auto">
            <a:xfrm>
              <a:off x="2357235" y="5769229"/>
              <a:ext cx="2379766" cy="684111"/>
            </a:xfrm>
            <a:prstGeom prst="can">
              <a:avLst>
                <a:gd name="adj" fmla="val 50000"/>
              </a:avLst>
            </a:prstGeom>
            <a:solidFill>
              <a:srgbClr val="66FFCC"/>
            </a:solidFill>
            <a:ln w="28575">
              <a:solidFill>
                <a:srgbClr val="FFFFFF"/>
              </a:solidFill>
              <a:round/>
              <a:headEnd/>
              <a:tailEnd/>
            </a:ln>
          </p:spPr>
          <p:txBody>
            <a:bodyPr tIns="190800"/>
            <a:lstStyle/>
            <a:p>
              <a:pPr algn="ctr" eaLnBrk="0" hangingPunct="0"/>
              <a:endParaRPr lang="zh-CN" altLang="en-US" sz="2400" b="1" baseline="0">
                <a:latin typeface="宋体" panose="02010600030101010101" pitchFamily="2" charset="-122"/>
              </a:endParaRPr>
            </a:p>
          </p:txBody>
        </p:sp>
        <p:sp>
          <p:nvSpPr>
            <p:cNvPr id="51" name="Line 18">
              <a:extLst>
                <a:ext uri="{FF2B5EF4-FFF2-40B4-BE49-F238E27FC236}">
                  <a16:creationId xmlns:a16="http://schemas.microsoft.com/office/drawing/2014/main" id="{EEA19438-6A85-4F17-9668-E573BB3A4ACD}"/>
                </a:ext>
              </a:extLst>
            </p:cNvPr>
            <p:cNvSpPr>
              <a:spLocks noChangeShapeType="1"/>
            </p:cNvSpPr>
            <p:nvPr/>
          </p:nvSpPr>
          <p:spPr bwMode="auto">
            <a:xfrm>
              <a:off x="1199456" y="1520185"/>
              <a:ext cx="357928"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2" name="Line 19">
              <a:extLst>
                <a:ext uri="{FF2B5EF4-FFF2-40B4-BE49-F238E27FC236}">
                  <a16:creationId xmlns:a16="http://schemas.microsoft.com/office/drawing/2014/main" id="{926D95D2-8F51-44A7-8547-490B1474FA37}"/>
                </a:ext>
              </a:extLst>
            </p:cNvPr>
            <p:cNvSpPr>
              <a:spLocks noChangeShapeType="1"/>
            </p:cNvSpPr>
            <p:nvPr/>
          </p:nvSpPr>
          <p:spPr bwMode="auto">
            <a:xfrm flipH="1">
              <a:off x="2004311" y="1527012"/>
              <a:ext cx="422190" cy="432685"/>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3" name="Line 20">
              <a:extLst>
                <a:ext uri="{FF2B5EF4-FFF2-40B4-BE49-F238E27FC236}">
                  <a16:creationId xmlns:a16="http://schemas.microsoft.com/office/drawing/2014/main" id="{8F4FED1A-15D8-4E3E-B0CA-D7D7978D8895}"/>
                </a:ext>
              </a:extLst>
            </p:cNvPr>
            <p:cNvSpPr>
              <a:spLocks noChangeShapeType="1"/>
            </p:cNvSpPr>
            <p:nvPr/>
          </p:nvSpPr>
          <p:spPr bwMode="auto">
            <a:xfrm flipH="1">
              <a:off x="3547943" y="1520185"/>
              <a:ext cx="217690"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4" name="Line 21">
              <a:extLst>
                <a:ext uri="{FF2B5EF4-FFF2-40B4-BE49-F238E27FC236}">
                  <a16:creationId xmlns:a16="http://schemas.microsoft.com/office/drawing/2014/main" id="{3F1B8EAD-36A1-4F0C-9269-DEB6E4AE0F96}"/>
                </a:ext>
              </a:extLst>
            </p:cNvPr>
            <p:cNvSpPr>
              <a:spLocks noChangeShapeType="1"/>
            </p:cNvSpPr>
            <p:nvPr/>
          </p:nvSpPr>
          <p:spPr bwMode="auto">
            <a:xfrm flipH="1">
              <a:off x="5406567" y="1520185"/>
              <a:ext cx="52773"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5" name="Line 22">
              <a:extLst>
                <a:ext uri="{FF2B5EF4-FFF2-40B4-BE49-F238E27FC236}">
                  <a16:creationId xmlns:a16="http://schemas.microsoft.com/office/drawing/2014/main" id="{03F40B6C-3956-43A4-B525-44F5CB924C54}"/>
                </a:ext>
              </a:extLst>
            </p:cNvPr>
            <p:cNvSpPr>
              <a:spLocks noChangeShapeType="1"/>
            </p:cNvSpPr>
            <p:nvPr/>
          </p:nvSpPr>
          <p:spPr bwMode="auto">
            <a:xfrm>
              <a:off x="3547943" y="4697851"/>
              <a:ext cx="0" cy="356557"/>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6" name="Line 23">
              <a:extLst>
                <a:ext uri="{FF2B5EF4-FFF2-40B4-BE49-F238E27FC236}">
                  <a16:creationId xmlns:a16="http://schemas.microsoft.com/office/drawing/2014/main" id="{1086A0E2-38A5-4A00-92E0-C66782275BA8}"/>
                </a:ext>
              </a:extLst>
            </p:cNvPr>
            <p:cNvSpPr>
              <a:spLocks noChangeShapeType="1"/>
            </p:cNvSpPr>
            <p:nvPr/>
          </p:nvSpPr>
          <p:spPr bwMode="auto">
            <a:xfrm>
              <a:off x="3547943" y="5525268"/>
              <a:ext cx="0" cy="243960"/>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7" name="Line 24">
              <a:extLst>
                <a:ext uri="{FF2B5EF4-FFF2-40B4-BE49-F238E27FC236}">
                  <a16:creationId xmlns:a16="http://schemas.microsoft.com/office/drawing/2014/main" id="{D0FFB26A-E222-48A9-84DA-AC7A5CD2FC13}"/>
                </a:ext>
              </a:extLst>
            </p:cNvPr>
            <p:cNvSpPr>
              <a:spLocks noChangeShapeType="1"/>
            </p:cNvSpPr>
            <p:nvPr/>
          </p:nvSpPr>
          <p:spPr bwMode="auto">
            <a:xfrm>
              <a:off x="3547943" y="3940381"/>
              <a:ext cx="0" cy="28149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8" name="Line 25">
              <a:extLst>
                <a:ext uri="{FF2B5EF4-FFF2-40B4-BE49-F238E27FC236}">
                  <a16:creationId xmlns:a16="http://schemas.microsoft.com/office/drawing/2014/main" id="{942602C5-EB36-44F9-B4AB-B98CFA527316}"/>
                </a:ext>
              </a:extLst>
            </p:cNvPr>
            <p:cNvSpPr>
              <a:spLocks noChangeShapeType="1"/>
            </p:cNvSpPr>
            <p:nvPr/>
          </p:nvSpPr>
          <p:spPr bwMode="auto">
            <a:xfrm>
              <a:off x="3547943" y="3150496"/>
              <a:ext cx="0" cy="358263"/>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9" name="Line 26">
              <a:extLst>
                <a:ext uri="{FF2B5EF4-FFF2-40B4-BE49-F238E27FC236}">
                  <a16:creationId xmlns:a16="http://schemas.microsoft.com/office/drawing/2014/main" id="{6D59F7E2-8E76-4FEC-87D9-9CD965CF5997}"/>
                </a:ext>
              </a:extLst>
            </p:cNvPr>
            <p:cNvSpPr>
              <a:spLocks noChangeShapeType="1"/>
            </p:cNvSpPr>
            <p:nvPr/>
          </p:nvSpPr>
          <p:spPr bwMode="auto">
            <a:xfrm>
              <a:off x="2027400" y="2398144"/>
              <a:ext cx="207797" cy="300259"/>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60" name="Line 27">
              <a:extLst>
                <a:ext uri="{FF2B5EF4-FFF2-40B4-BE49-F238E27FC236}">
                  <a16:creationId xmlns:a16="http://schemas.microsoft.com/office/drawing/2014/main" id="{E8FA4FB2-EA2A-4668-8BDC-032981E5A794}"/>
                </a:ext>
              </a:extLst>
            </p:cNvPr>
            <p:cNvSpPr>
              <a:spLocks noChangeShapeType="1"/>
            </p:cNvSpPr>
            <p:nvPr/>
          </p:nvSpPr>
          <p:spPr bwMode="auto">
            <a:xfrm>
              <a:off x="3547943" y="2391320"/>
              <a:ext cx="0" cy="283198"/>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61" name="Line 28">
              <a:extLst>
                <a:ext uri="{FF2B5EF4-FFF2-40B4-BE49-F238E27FC236}">
                  <a16:creationId xmlns:a16="http://schemas.microsoft.com/office/drawing/2014/main" id="{999E1BD8-2940-4400-86C6-B58949FF4A6C}"/>
                </a:ext>
              </a:extLst>
            </p:cNvPr>
            <p:cNvSpPr>
              <a:spLocks noChangeShapeType="1"/>
            </p:cNvSpPr>
            <p:nvPr/>
          </p:nvSpPr>
          <p:spPr bwMode="auto">
            <a:xfrm flipV="1">
              <a:off x="4741948" y="2375965"/>
              <a:ext cx="166568" cy="296847"/>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62" name="Rectangle 29">
              <a:extLst>
                <a:ext uri="{FF2B5EF4-FFF2-40B4-BE49-F238E27FC236}">
                  <a16:creationId xmlns:a16="http://schemas.microsoft.com/office/drawing/2014/main" id="{6A0611FC-8CFE-47F4-9FBA-3C9C7EF7ED87}"/>
                </a:ext>
              </a:extLst>
            </p:cNvPr>
            <p:cNvSpPr>
              <a:spLocks noChangeArrowheads="1"/>
            </p:cNvSpPr>
            <p:nvPr/>
          </p:nvSpPr>
          <p:spPr bwMode="auto">
            <a:xfrm>
              <a:off x="3007012" y="5849411"/>
              <a:ext cx="1073545" cy="514738"/>
            </a:xfrm>
            <a:prstGeom prst="rect">
              <a:avLst/>
            </a:prstGeom>
            <a:no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400" b="1" baseline="0" dirty="0">
                  <a:solidFill>
                    <a:schemeClr val="bg1"/>
                  </a:solidFill>
                  <a:latin typeface="宋体" panose="02010600030101010101" pitchFamily="2" charset="-122"/>
                </a:rPr>
                <a:t>数据库</a:t>
              </a:r>
            </a:p>
          </p:txBody>
        </p:sp>
        <p:sp>
          <p:nvSpPr>
            <p:cNvPr id="63" name="Rectangle 30">
              <a:extLst>
                <a:ext uri="{FF2B5EF4-FFF2-40B4-BE49-F238E27FC236}">
                  <a16:creationId xmlns:a16="http://schemas.microsoft.com/office/drawing/2014/main" id="{0BC922E3-C2EC-455A-994E-A4AD660EEB55}"/>
                </a:ext>
              </a:extLst>
            </p:cNvPr>
            <p:cNvSpPr>
              <a:spLocks noChangeArrowheads="1"/>
            </p:cNvSpPr>
            <p:nvPr/>
          </p:nvSpPr>
          <p:spPr bwMode="auto">
            <a:xfrm>
              <a:off x="614053" y="4919633"/>
              <a:ext cx="1301172" cy="57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en-US" altLang="zh-CN" sz="2800" b="1" baseline="0" dirty="0">
                  <a:solidFill>
                    <a:srgbClr val="FFFF00"/>
                  </a:solidFill>
                  <a:latin typeface="Arial Black" panose="020B0A04020102020204" pitchFamily="34" charset="0"/>
                </a:rPr>
                <a:t>DBMS</a:t>
              </a:r>
            </a:p>
          </p:txBody>
        </p:sp>
      </p:grpSp>
    </p:spTree>
    <p:extLst>
      <p:ext uri="{BB962C8B-B14F-4D97-AF65-F5344CB8AC3E}">
        <p14:creationId xmlns:p14="http://schemas.microsoft.com/office/powerpoint/2010/main" val="428589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a:extLst>
              <a:ext uri="{FF2B5EF4-FFF2-40B4-BE49-F238E27FC236}">
                <a16:creationId xmlns:a16="http://schemas.microsoft.com/office/drawing/2014/main" id="{0E24A762-3C8B-4D09-BFF3-670CC0235F38}"/>
              </a:ext>
            </a:extLst>
          </p:cNvPr>
          <p:cNvSpPr>
            <a:spLocks noGrp="1" noChangeArrowheads="1"/>
          </p:cNvSpPr>
          <p:nvPr>
            <p:ph type="body" idx="1"/>
          </p:nvPr>
        </p:nvSpPr>
        <p:spPr>
          <a:xfrm>
            <a:off x="695400" y="1052736"/>
            <a:ext cx="10972800" cy="4054475"/>
          </a:xfrm>
        </p:spPr>
        <p:txBody>
          <a:bodyPr/>
          <a:lstStyle/>
          <a:p>
            <a:pPr>
              <a:lnSpc>
                <a:spcPct val="90000"/>
              </a:lnSpc>
            </a:pPr>
            <a:r>
              <a:rPr lang="zh-CN" altLang="en-US" dirty="0"/>
              <a:t>在数据库系统中，外模式可有多个，而模式、内模式只能各有一个。</a:t>
            </a:r>
          </a:p>
          <a:p>
            <a:pPr>
              <a:lnSpc>
                <a:spcPct val="90000"/>
              </a:lnSpc>
            </a:pPr>
            <a:r>
              <a:rPr lang="zh-CN" altLang="en-US" dirty="0"/>
              <a:t>三级结构的优点</a:t>
            </a:r>
          </a:p>
          <a:p>
            <a:pPr lvl="1">
              <a:lnSpc>
                <a:spcPct val="90000"/>
              </a:lnSpc>
            </a:pPr>
            <a:r>
              <a:rPr lang="zh-CN" altLang="en-US" dirty="0"/>
              <a:t>（</a:t>
            </a:r>
            <a:r>
              <a:rPr lang="en-US" altLang="zh-CN" dirty="0"/>
              <a:t>1</a:t>
            </a:r>
            <a:r>
              <a:rPr lang="zh-CN" altLang="en-US" dirty="0"/>
              <a:t>）保证数据的独立性。</a:t>
            </a:r>
          </a:p>
          <a:p>
            <a:pPr lvl="1">
              <a:lnSpc>
                <a:spcPct val="90000"/>
              </a:lnSpc>
            </a:pPr>
            <a:r>
              <a:rPr lang="zh-CN" altLang="en-US" dirty="0"/>
              <a:t>（</a:t>
            </a:r>
            <a:r>
              <a:rPr lang="en-US" altLang="zh-CN" dirty="0"/>
              <a:t>2</a:t>
            </a:r>
            <a:r>
              <a:rPr lang="zh-CN" altLang="en-US" dirty="0"/>
              <a:t>）简化了用户接口。</a:t>
            </a:r>
          </a:p>
          <a:p>
            <a:pPr lvl="1">
              <a:lnSpc>
                <a:spcPct val="90000"/>
              </a:lnSpc>
            </a:pPr>
            <a:r>
              <a:rPr lang="zh-CN" altLang="en-US" dirty="0"/>
              <a:t>（</a:t>
            </a:r>
            <a:r>
              <a:rPr lang="en-US" altLang="zh-CN" dirty="0"/>
              <a:t>3</a:t>
            </a:r>
            <a:r>
              <a:rPr lang="zh-CN" altLang="en-US" dirty="0"/>
              <a:t>）有利于数据共享。</a:t>
            </a:r>
          </a:p>
          <a:p>
            <a:pPr lvl="1">
              <a:lnSpc>
                <a:spcPct val="90000"/>
              </a:lnSpc>
            </a:pPr>
            <a:r>
              <a:rPr lang="zh-CN" altLang="en-US" dirty="0"/>
              <a:t>（</a:t>
            </a:r>
            <a:r>
              <a:rPr lang="en-US" altLang="zh-CN" dirty="0"/>
              <a:t>4</a:t>
            </a:r>
            <a:r>
              <a:rPr lang="zh-CN" altLang="en-US" dirty="0"/>
              <a:t>）利于数据的安全保密。</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0289734-2805-4128-8F52-EF76BABB2E8C}"/>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4800" b="1" dirty="0">
                <a:latin typeface="Microsoft Yahei" panose="020B0503020204020204" pitchFamily="34" charset="-122"/>
                <a:ea typeface="Microsoft Yahei" panose="020B0503020204020204" pitchFamily="34" charset="-122"/>
                <a:sym typeface="Microsoft Yahei" panose="020B0503020204020204" pitchFamily="34" charset="-122"/>
              </a:rPr>
              <a:t>三级模式是哪三种模式？</a:t>
            </a:r>
          </a:p>
        </p:txBody>
      </p:sp>
      <p:sp>
        <p:nvSpPr>
          <p:cNvPr id="7" name="矩形: 圆角 6">
            <a:extLst>
              <a:ext uri="{FF2B5EF4-FFF2-40B4-BE49-F238E27FC236}">
                <a16:creationId xmlns:a16="http://schemas.microsoft.com/office/drawing/2014/main" id="{CCC80E65-9222-47DD-94EB-DDB5CA333BBA}"/>
              </a:ext>
            </a:extLst>
          </p:cNvPr>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a:extLst>
              <a:ext uri="{FF2B5EF4-FFF2-40B4-BE49-F238E27FC236}">
                <a16:creationId xmlns:a16="http://schemas.microsoft.com/office/drawing/2014/main" id="{9A141B08-80F3-4001-85DA-13D63E49A00D}"/>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A0343E47-53DF-4374-8860-BB28B21E7B18}"/>
                </a:ext>
              </a:extLst>
            </p:cNvPr>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9" name="ColorBlock">
              <a:extLst>
                <a:ext uri="{FF2B5EF4-FFF2-40B4-BE49-F238E27FC236}">
                  <a16:creationId xmlns:a16="http://schemas.microsoft.com/office/drawing/2014/main" id="{70CDDFCF-411C-45FC-AA12-AA9D5DB2DBF0}"/>
                </a:ext>
              </a:extLst>
            </p:cNvPr>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0" name="TypeText">
              <a:extLst>
                <a:ext uri="{FF2B5EF4-FFF2-40B4-BE49-F238E27FC236}">
                  <a16:creationId xmlns:a16="http://schemas.microsoft.com/office/drawing/2014/main" id="{C32F1F55-CE7A-4460-BA1A-8D0F8189F12C}"/>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DDD85064-9910-4D86-B894-48CE28B97D0C}"/>
                </a:ext>
              </a:extLst>
            </p:cNvPr>
            <p:cNvSpPr txBox="1"/>
            <p:nvPr>
              <p:custDataLst>
                <p:tags r:id="rId9"/>
              </p:custDataLst>
            </p:nvPr>
          </p:nvSpPr>
          <p:spPr>
            <a:xfrm>
              <a:off x="116395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5C28EA67-F6CF-4BEF-BCDF-93BF8C452627}"/>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9988260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7466EF3E-9934-44EF-982A-65614D60F4EE}"/>
              </a:ext>
            </a:extLst>
          </p:cNvPr>
          <p:cNvSpPr>
            <a:spLocks noGrp="1" noChangeArrowheads="1"/>
          </p:cNvSpPr>
          <p:nvPr>
            <p:ph type="title"/>
          </p:nvPr>
        </p:nvSpPr>
        <p:spPr>
          <a:xfrm>
            <a:off x="668104" y="71920"/>
            <a:ext cx="3387466" cy="707886"/>
          </a:xfrm>
        </p:spPr>
        <p:txBody>
          <a:bodyPr/>
          <a:lstStyle/>
          <a:p>
            <a:r>
              <a:rPr lang="en-US" altLang="zh-CN"/>
              <a:t>1.5.2</a:t>
            </a:r>
            <a:r>
              <a:rPr lang="zh-CN" altLang="en-US"/>
              <a:t>二级映象</a:t>
            </a:r>
          </a:p>
        </p:txBody>
      </p:sp>
      <p:sp>
        <p:nvSpPr>
          <p:cNvPr id="82947" name="Rectangle 3">
            <a:extLst>
              <a:ext uri="{FF2B5EF4-FFF2-40B4-BE49-F238E27FC236}">
                <a16:creationId xmlns:a16="http://schemas.microsoft.com/office/drawing/2014/main" id="{5CA21681-1AB6-4E7E-B41E-3D3946EE4324}"/>
              </a:ext>
            </a:extLst>
          </p:cNvPr>
          <p:cNvSpPr>
            <a:spLocks noGrp="1" noChangeArrowheads="1"/>
          </p:cNvSpPr>
          <p:nvPr>
            <p:ph type="body" idx="1"/>
          </p:nvPr>
        </p:nvSpPr>
        <p:spPr>
          <a:xfrm>
            <a:off x="609600" y="1484784"/>
            <a:ext cx="10972800" cy="4054475"/>
          </a:xfrm>
        </p:spPr>
        <p:txBody>
          <a:bodyPr/>
          <a:lstStyle/>
          <a:p>
            <a:pPr>
              <a:lnSpc>
                <a:spcPct val="150000"/>
              </a:lnSpc>
            </a:pPr>
            <a:r>
              <a:rPr lang="zh-CN" altLang="en-US" dirty="0"/>
              <a:t>数据库系统的三级模式是对数据的三个抽象级别，它使用户能逻辑地抽象地处理数据。</a:t>
            </a:r>
          </a:p>
          <a:p>
            <a:pPr>
              <a:lnSpc>
                <a:spcPct val="150000"/>
              </a:lnSpc>
            </a:pPr>
            <a:r>
              <a:rPr lang="zh-CN" altLang="en-US" dirty="0"/>
              <a:t>为了使数据模型能够在内部实现这三个抽象层次的联系和转换，</a:t>
            </a:r>
            <a:r>
              <a:rPr lang="en-US" altLang="zh-CN" dirty="0"/>
              <a:t>DBMS </a:t>
            </a:r>
            <a:r>
              <a:rPr lang="zh-CN" altLang="en-US" dirty="0"/>
              <a:t>在三级模式之间提供了二级映象功能。</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a:extLst>
              <a:ext uri="{FF2B5EF4-FFF2-40B4-BE49-F238E27FC236}">
                <a16:creationId xmlns:a16="http://schemas.microsoft.com/office/drawing/2014/main" id="{36853F4A-AE34-486F-89E0-AE9B552F8BE5}"/>
              </a:ext>
            </a:extLst>
          </p:cNvPr>
          <p:cNvSpPr>
            <a:spLocks noGrp="1" noChangeArrowheads="1"/>
          </p:cNvSpPr>
          <p:nvPr>
            <p:ph type="body" idx="1"/>
          </p:nvPr>
        </p:nvSpPr>
        <p:spPr>
          <a:xfrm>
            <a:off x="609600" y="980728"/>
            <a:ext cx="10972800" cy="4054475"/>
          </a:xfrm>
        </p:spPr>
        <p:txBody>
          <a:bodyPr/>
          <a:lstStyle/>
          <a:p>
            <a:pPr>
              <a:lnSpc>
                <a:spcPct val="150000"/>
              </a:lnSpc>
              <a:buFontTx/>
              <a:buNone/>
            </a:pPr>
            <a:r>
              <a:rPr lang="zh-CN" altLang="en-US" dirty="0"/>
              <a:t>一、模式</a:t>
            </a:r>
            <a:r>
              <a:rPr lang="en-US" altLang="zh-CN" dirty="0"/>
              <a:t>/</a:t>
            </a:r>
            <a:r>
              <a:rPr lang="zh-CN" altLang="en-US" dirty="0"/>
              <a:t>内模式映象</a:t>
            </a:r>
          </a:p>
          <a:p>
            <a:pPr>
              <a:lnSpc>
                <a:spcPct val="150000"/>
              </a:lnSpc>
            </a:pPr>
            <a:r>
              <a:rPr lang="zh-CN" altLang="en-US" dirty="0"/>
              <a:t>数据库中的模式和内模式都只有一个，所以模式</a:t>
            </a:r>
            <a:r>
              <a:rPr lang="en-US" altLang="zh-CN" dirty="0"/>
              <a:t>/</a:t>
            </a:r>
            <a:r>
              <a:rPr lang="zh-CN" altLang="en-US" dirty="0"/>
              <a:t>内模式映象是唯一的。它确定了数据的全局逻辑结构与存储结构之间的对应关系。</a:t>
            </a:r>
          </a:p>
          <a:p>
            <a:pPr>
              <a:lnSpc>
                <a:spcPct val="150000"/>
              </a:lnSpc>
            </a:pPr>
            <a:r>
              <a:rPr lang="zh-CN" altLang="en-US" dirty="0"/>
              <a:t>通过映象功能保证</a:t>
            </a:r>
            <a:r>
              <a:rPr lang="zh-CN" altLang="en-US" dirty="0">
                <a:solidFill>
                  <a:srgbClr val="FF0000"/>
                </a:solidFill>
              </a:rPr>
              <a:t>数据存储结构</a:t>
            </a:r>
            <a:r>
              <a:rPr lang="zh-CN" altLang="en-US" dirty="0"/>
              <a:t>的变化不影响数据的</a:t>
            </a:r>
            <a:r>
              <a:rPr lang="zh-CN" altLang="en-US" dirty="0">
                <a:solidFill>
                  <a:srgbClr val="FF0000"/>
                </a:solidFill>
              </a:rPr>
              <a:t>全局逻辑结构</a:t>
            </a:r>
            <a:r>
              <a:rPr lang="zh-CN" altLang="en-US" dirty="0"/>
              <a:t>的改变，从而</a:t>
            </a:r>
            <a:r>
              <a:rPr lang="zh-CN" altLang="en-US" dirty="0">
                <a:solidFill>
                  <a:srgbClr val="FF0000"/>
                </a:solidFill>
              </a:rPr>
              <a:t>不必修改应用程序</a:t>
            </a:r>
            <a:r>
              <a:rPr lang="zh-CN" altLang="en-US" dirty="0"/>
              <a:t>，即确保了数据的</a:t>
            </a:r>
            <a:r>
              <a:rPr lang="zh-CN" altLang="en-US" dirty="0">
                <a:solidFill>
                  <a:srgbClr val="FF0000"/>
                </a:solidFill>
              </a:rPr>
              <a:t>物理独立性</a:t>
            </a:r>
            <a:r>
              <a:rPr lang="zh-CN" altLang="en-US" dirty="0"/>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539203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数据库系统的模式结构</a:t>
            </a:r>
          </a:p>
        </p:txBody>
      </p:sp>
      <p:sp>
        <p:nvSpPr>
          <p:cNvPr id="35" name="矩形 34"/>
          <p:cNvSpPr/>
          <p:nvPr/>
        </p:nvSpPr>
        <p:spPr>
          <a:xfrm>
            <a:off x="7088729" y="1074617"/>
            <a:ext cx="4640866" cy="777600"/>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33" name="矩形 32"/>
          <p:cNvSpPr/>
          <p:nvPr/>
        </p:nvSpPr>
        <p:spPr>
          <a:xfrm>
            <a:off x="7088729" y="1852215"/>
            <a:ext cx="4640866" cy="4457105"/>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zh-CN" altLang="en-US"/>
          </a:p>
        </p:txBody>
      </p:sp>
      <p:sp>
        <p:nvSpPr>
          <p:cNvPr id="34" name="文本框 33"/>
          <p:cNvSpPr txBox="1"/>
          <p:nvPr/>
        </p:nvSpPr>
        <p:spPr>
          <a:xfrm>
            <a:off x="7088729" y="1966416"/>
            <a:ext cx="4640866" cy="1750297"/>
          </a:xfrm>
          <a:prstGeom prst="rect">
            <a:avLst/>
          </a:prstGeom>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457200" indent="-457200">
              <a:spcAft>
                <a:spcPct val="50000"/>
              </a:spcAft>
              <a:buFont typeface="Arial" panose="020B0604020202020204" pitchFamily="34" charset="0"/>
              <a:buChar char="•"/>
            </a:pPr>
            <a:r>
              <a:rPr lang="zh-CN" altLang="en-US" sz="3000" baseline="0" dirty="0">
                <a:latin typeface="宋体" panose="02010600030101010101" pitchFamily="2" charset="-122"/>
                <a:ea typeface="宋体" panose="02010600030101010101" pitchFamily="2" charset="-122"/>
              </a:rPr>
              <a:t>在模式中定义的数据的全局逻辑结构与其存储结构之间的对应关系。</a:t>
            </a:r>
            <a:endParaRPr lang="en-US" altLang="zh-CN" sz="3000" baseline="0" dirty="0">
              <a:latin typeface="宋体" panose="02010600030101010101" pitchFamily="2" charset="-122"/>
              <a:ea typeface="宋体" panose="02010600030101010101" pitchFamily="2" charset="-122"/>
            </a:endParaRPr>
          </a:p>
          <a:p>
            <a:pPr marL="457200" indent="-457200">
              <a:spcAft>
                <a:spcPct val="50000"/>
              </a:spcAft>
              <a:buFont typeface="Arial" panose="020B0604020202020204" pitchFamily="34" charset="0"/>
              <a:buChar char="•"/>
            </a:pPr>
            <a:r>
              <a:rPr lang="zh-CN" altLang="en-US" sz="3000" baseline="0" dirty="0">
                <a:latin typeface="宋体" panose="02010600030101010101" pitchFamily="2" charset="-122"/>
                <a:ea typeface="宋体" panose="02010600030101010101" pitchFamily="2" charset="-122"/>
              </a:rPr>
              <a:t>当存储结构改变时，</a:t>
            </a:r>
            <a:r>
              <a:rPr lang="en-US" altLang="zh-CN" sz="3000" baseline="0" dirty="0">
                <a:latin typeface="宋体" panose="02010600030101010101" pitchFamily="2" charset="-122"/>
                <a:ea typeface="宋体" panose="02010600030101010101" pitchFamily="2" charset="-122"/>
              </a:rPr>
              <a:t>DBA</a:t>
            </a:r>
            <a:r>
              <a:rPr lang="zh-CN" altLang="en-US" sz="3000" baseline="0" dirty="0">
                <a:latin typeface="宋体" panose="02010600030101010101" pitchFamily="2" charset="-122"/>
                <a:ea typeface="宋体" panose="02010600030101010101" pitchFamily="2" charset="-122"/>
              </a:rPr>
              <a:t>只需对该映象作出相应的调整，从而可以使模式保持不变，这就是数据的</a:t>
            </a:r>
            <a:r>
              <a:rPr lang="zh-CN" altLang="en-US" sz="3000" b="1" baseline="0" dirty="0">
                <a:solidFill>
                  <a:srgbClr val="FF0000"/>
                </a:solidFill>
                <a:latin typeface="宋体" panose="02010600030101010101" pitchFamily="2" charset="-122"/>
                <a:ea typeface="宋体" panose="02010600030101010101" pitchFamily="2" charset="-122"/>
              </a:rPr>
              <a:t>物理独立性</a:t>
            </a:r>
            <a:r>
              <a:rPr lang="zh-CN" altLang="en-US" sz="3000" baseline="0" dirty="0">
                <a:latin typeface="宋体" panose="02010600030101010101" pitchFamily="2" charset="-122"/>
                <a:ea typeface="宋体" panose="02010600030101010101" pitchFamily="2" charset="-122"/>
              </a:rPr>
              <a:t>。</a:t>
            </a:r>
          </a:p>
        </p:txBody>
      </p:sp>
      <p:sp>
        <p:nvSpPr>
          <p:cNvPr id="36" name="文本框 35"/>
          <p:cNvSpPr txBox="1"/>
          <p:nvPr/>
        </p:nvSpPr>
        <p:spPr>
          <a:xfrm>
            <a:off x="7088729" y="1074617"/>
            <a:ext cx="4640866" cy="777600"/>
          </a:xfrm>
          <a:prstGeom prst="rect">
            <a:avLst/>
          </a:prstGeom>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spcFirstLastPara="0" vert="horz" wrap="square" lIns="199136" tIns="113792" rIns="199136" bIns="113792" numCol="1" spcCol="1270" anchor="ctr" anchorCtr="0">
            <a:noAutofit/>
          </a:bodyPr>
          <a:lstStyle/>
          <a:p>
            <a:pPr lvl="0" algn="ctr" defTabSz="1244600">
              <a:lnSpc>
                <a:spcPct val="90000"/>
              </a:lnSpc>
              <a:spcAft>
                <a:spcPct val="35000"/>
              </a:spcAft>
            </a:pPr>
            <a:r>
              <a:rPr kumimoji="1" lang="zh-CN" altLang="en-US" sz="2800" baseline="0" dirty="0">
                <a:latin typeface="微软雅黑" panose="020B0503020204020204" pitchFamily="34" charset="-122"/>
                <a:ea typeface="微软雅黑" panose="020B0503020204020204" pitchFamily="34" charset="-122"/>
              </a:rPr>
              <a:t>模式</a:t>
            </a:r>
            <a:r>
              <a:rPr kumimoji="1" lang="en-US" altLang="zh-CN" sz="2800" baseline="0" dirty="0">
                <a:latin typeface="微软雅黑" panose="020B0503020204020204" pitchFamily="34" charset="-122"/>
                <a:ea typeface="微软雅黑" panose="020B0503020204020204" pitchFamily="34" charset="-122"/>
              </a:rPr>
              <a:t>/</a:t>
            </a:r>
            <a:r>
              <a:rPr kumimoji="1" lang="zh-CN" altLang="en-US" sz="2800" baseline="0" dirty="0">
                <a:latin typeface="微软雅黑" panose="020B0503020204020204" pitchFamily="34" charset="-122"/>
                <a:ea typeface="微软雅黑" panose="020B0503020204020204" pitchFamily="34" charset="-122"/>
              </a:rPr>
              <a:t>内模式映象</a:t>
            </a:r>
          </a:p>
        </p:txBody>
      </p:sp>
      <p:grpSp>
        <p:nvGrpSpPr>
          <p:cNvPr id="37" name="组合 36">
            <a:extLst>
              <a:ext uri="{FF2B5EF4-FFF2-40B4-BE49-F238E27FC236}">
                <a16:creationId xmlns:a16="http://schemas.microsoft.com/office/drawing/2014/main" id="{F1142B7D-6CC8-4EF5-BC7F-0F8DDC97E25F}"/>
              </a:ext>
            </a:extLst>
          </p:cNvPr>
          <p:cNvGrpSpPr/>
          <p:nvPr/>
        </p:nvGrpSpPr>
        <p:grpSpPr>
          <a:xfrm>
            <a:off x="551384" y="1052737"/>
            <a:ext cx="6121752" cy="5400603"/>
            <a:chOff x="551384" y="1052737"/>
            <a:chExt cx="6121752" cy="5400603"/>
          </a:xfrm>
        </p:grpSpPr>
        <p:sp>
          <p:nvSpPr>
            <p:cNvPr id="38" name="Rectangle 5">
              <a:extLst>
                <a:ext uri="{FF2B5EF4-FFF2-40B4-BE49-F238E27FC236}">
                  <a16:creationId xmlns:a16="http://schemas.microsoft.com/office/drawing/2014/main" id="{E4EC69D4-6818-460E-A1F6-363F28B83BF4}"/>
                </a:ext>
              </a:extLst>
            </p:cNvPr>
            <p:cNvSpPr>
              <a:spLocks noChangeArrowheads="1"/>
            </p:cNvSpPr>
            <p:nvPr/>
          </p:nvSpPr>
          <p:spPr bwMode="auto">
            <a:xfrm>
              <a:off x="551384" y="1852219"/>
              <a:ext cx="6121752" cy="3763468"/>
            </a:xfrm>
            <a:prstGeom prst="rect">
              <a:avLst/>
            </a:prstGeom>
            <a:noFill/>
            <a:ln w="12700">
              <a:solidFill>
                <a:schemeClr val="hlink"/>
              </a:solidFill>
              <a:prstDash val="dashDot"/>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p>
              <a:r>
                <a:rPr lang="zh-CN" altLang="en-US" sz="2400" baseline="0">
                  <a:latin typeface="宋体" panose="02010600030101010101" pitchFamily="2" charset="-122"/>
                </a:rPr>
                <a:t> </a:t>
              </a:r>
            </a:p>
          </p:txBody>
        </p:sp>
        <p:sp>
          <p:nvSpPr>
            <p:cNvPr id="39" name="Rectangle 6">
              <a:extLst>
                <a:ext uri="{FF2B5EF4-FFF2-40B4-BE49-F238E27FC236}">
                  <a16:creationId xmlns:a16="http://schemas.microsoft.com/office/drawing/2014/main" id="{7B6CAB8D-41A1-4661-BD35-01FE9CEC13A8}"/>
                </a:ext>
              </a:extLst>
            </p:cNvPr>
            <p:cNvSpPr>
              <a:spLocks noChangeArrowheads="1"/>
            </p:cNvSpPr>
            <p:nvPr/>
          </p:nvSpPr>
          <p:spPr bwMode="auto">
            <a:xfrm>
              <a:off x="553574" y="1052737"/>
              <a:ext cx="1085444"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应用</a:t>
              </a:r>
              <a:r>
                <a:rPr lang="en-US" altLang="zh-CN" sz="2400" b="1" baseline="0" dirty="0">
                  <a:latin typeface="宋体" panose="02010600030101010101" pitchFamily="2" charset="-122"/>
                </a:rPr>
                <a:t>A</a:t>
              </a:r>
            </a:p>
          </p:txBody>
        </p:sp>
        <p:sp>
          <p:nvSpPr>
            <p:cNvPr id="40" name="Rectangle 7">
              <a:extLst>
                <a:ext uri="{FF2B5EF4-FFF2-40B4-BE49-F238E27FC236}">
                  <a16:creationId xmlns:a16="http://schemas.microsoft.com/office/drawing/2014/main" id="{19ED7A04-995A-4ECB-A807-AE08E116F04C}"/>
                </a:ext>
              </a:extLst>
            </p:cNvPr>
            <p:cNvSpPr>
              <a:spLocks noChangeArrowheads="1"/>
            </p:cNvSpPr>
            <p:nvPr/>
          </p:nvSpPr>
          <p:spPr bwMode="auto">
            <a:xfrm>
              <a:off x="1958134" y="1057858"/>
              <a:ext cx="1062071"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应用</a:t>
              </a:r>
              <a:r>
                <a:rPr lang="en-US" altLang="zh-CN" sz="2400" b="1" baseline="0" dirty="0">
                  <a:latin typeface="宋体" panose="02010600030101010101" pitchFamily="2" charset="-122"/>
                </a:rPr>
                <a:t>B</a:t>
              </a:r>
            </a:p>
          </p:txBody>
        </p:sp>
        <p:sp>
          <p:nvSpPr>
            <p:cNvPr id="41" name="Rectangle 8">
              <a:extLst>
                <a:ext uri="{FF2B5EF4-FFF2-40B4-BE49-F238E27FC236}">
                  <a16:creationId xmlns:a16="http://schemas.microsoft.com/office/drawing/2014/main" id="{3717ED54-5C7B-4557-BE2B-2CCD88D509B7}"/>
                </a:ext>
              </a:extLst>
            </p:cNvPr>
            <p:cNvSpPr>
              <a:spLocks noChangeArrowheads="1"/>
            </p:cNvSpPr>
            <p:nvPr/>
          </p:nvSpPr>
          <p:spPr bwMode="auto">
            <a:xfrm>
              <a:off x="4809564" y="1052737"/>
              <a:ext cx="1340783"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a:latin typeface="宋体" panose="02010600030101010101" pitchFamily="2" charset="-122"/>
                </a:rPr>
                <a:t>应用</a:t>
              </a:r>
              <a:r>
                <a:rPr lang="en-US" altLang="zh-CN" sz="2400" b="1" baseline="0">
                  <a:latin typeface="宋体" panose="02010600030101010101" pitchFamily="2" charset="-122"/>
                </a:rPr>
                <a:t>n</a:t>
              </a:r>
            </a:p>
          </p:txBody>
        </p:sp>
        <p:sp>
          <p:nvSpPr>
            <p:cNvPr id="42" name="Rectangle 9">
              <a:extLst>
                <a:ext uri="{FF2B5EF4-FFF2-40B4-BE49-F238E27FC236}">
                  <a16:creationId xmlns:a16="http://schemas.microsoft.com/office/drawing/2014/main" id="{315C7341-D770-4A37-A3E0-37853E146170}"/>
                </a:ext>
              </a:extLst>
            </p:cNvPr>
            <p:cNvSpPr>
              <a:spLocks noChangeArrowheads="1"/>
            </p:cNvSpPr>
            <p:nvPr/>
          </p:nvSpPr>
          <p:spPr bwMode="auto">
            <a:xfrm>
              <a:off x="3330251" y="1057858"/>
              <a:ext cx="1062071"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a:t>
              </a:r>
            </a:p>
          </p:txBody>
        </p:sp>
        <p:sp>
          <p:nvSpPr>
            <p:cNvPr id="43" name="Rectangle 10">
              <a:extLst>
                <a:ext uri="{FF2B5EF4-FFF2-40B4-BE49-F238E27FC236}">
                  <a16:creationId xmlns:a16="http://schemas.microsoft.com/office/drawing/2014/main" id="{5749B557-6A55-45C4-AD43-7E735C614213}"/>
                </a:ext>
              </a:extLst>
            </p:cNvPr>
            <p:cNvSpPr>
              <a:spLocks noChangeArrowheads="1"/>
            </p:cNvSpPr>
            <p:nvPr/>
          </p:nvSpPr>
          <p:spPr bwMode="auto">
            <a:xfrm>
              <a:off x="912555" y="1959697"/>
              <a:ext cx="1436435" cy="443564"/>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dirty="0">
                  <a:solidFill>
                    <a:schemeClr val="bg1"/>
                  </a:solidFill>
                  <a:latin typeface="宋体" panose="02010600030101010101" pitchFamily="2" charset="-122"/>
                </a:rPr>
                <a:t>外模式1</a:t>
              </a:r>
            </a:p>
          </p:txBody>
        </p:sp>
        <p:sp>
          <p:nvSpPr>
            <p:cNvPr id="44" name="Rectangle 11">
              <a:extLst>
                <a:ext uri="{FF2B5EF4-FFF2-40B4-BE49-F238E27FC236}">
                  <a16:creationId xmlns:a16="http://schemas.microsoft.com/office/drawing/2014/main" id="{3E9C3A7E-E9A1-433F-8591-B2A1D1A05B9F}"/>
                </a:ext>
              </a:extLst>
            </p:cNvPr>
            <p:cNvSpPr>
              <a:spLocks noChangeArrowheads="1"/>
            </p:cNvSpPr>
            <p:nvPr/>
          </p:nvSpPr>
          <p:spPr bwMode="auto">
            <a:xfrm>
              <a:off x="2800864" y="1959697"/>
              <a:ext cx="1489209" cy="431621"/>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a:solidFill>
                    <a:schemeClr val="bg1"/>
                  </a:solidFill>
                  <a:latin typeface="宋体" panose="02010600030101010101" pitchFamily="2" charset="-122"/>
                </a:rPr>
                <a:t>……</a:t>
              </a:r>
            </a:p>
          </p:txBody>
        </p:sp>
        <p:sp>
          <p:nvSpPr>
            <p:cNvPr id="45" name="Rectangle 12">
              <a:extLst>
                <a:ext uri="{FF2B5EF4-FFF2-40B4-BE49-F238E27FC236}">
                  <a16:creationId xmlns:a16="http://schemas.microsoft.com/office/drawing/2014/main" id="{807AE015-94F6-4A01-AB4E-8F4F1C582F20}"/>
                </a:ext>
              </a:extLst>
            </p:cNvPr>
            <p:cNvSpPr>
              <a:spLocks noChangeArrowheads="1"/>
            </p:cNvSpPr>
            <p:nvPr/>
          </p:nvSpPr>
          <p:spPr bwMode="auto">
            <a:xfrm>
              <a:off x="4512712" y="1959697"/>
              <a:ext cx="1786061" cy="431621"/>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a:solidFill>
                    <a:schemeClr val="bg1"/>
                  </a:solidFill>
                  <a:latin typeface="宋体" panose="02010600030101010101" pitchFamily="2" charset="-122"/>
                </a:rPr>
                <a:t>外模式</a:t>
              </a:r>
              <a:r>
                <a:rPr lang="en-US" altLang="zh-CN" sz="2400" b="1" baseline="0">
                  <a:solidFill>
                    <a:schemeClr val="bg1"/>
                  </a:solidFill>
                  <a:latin typeface="宋体" panose="02010600030101010101" pitchFamily="2" charset="-122"/>
                </a:rPr>
                <a:t>m</a:t>
              </a:r>
            </a:p>
          </p:txBody>
        </p:sp>
        <p:sp>
          <p:nvSpPr>
            <p:cNvPr id="46" name="AutoShape 13">
              <a:extLst>
                <a:ext uri="{FF2B5EF4-FFF2-40B4-BE49-F238E27FC236}">
                  <a16:creationId xmlns:a16="http://schemas.microsoft.com/office/drawing/2014/main" id="{3D19E206-3E99-4D99-A0FF-51A0FE23D119}"/>
                </a:ext>
              </a:extLst>
            </p:cNvPr>
            <p:cNvSpPr>
              <a:spLocks noChangeArrowheads="1"/>
            </p:cNvSpPr>
            <p:nvPr/>
          </p:nvSpPr>
          <p:spPr bwMode="auto">
            <a:xfrm>
              <a:off x="1611807" y="2674518"/>
              <a:ext cx="3718899" cy="475978"/>
            </a:xfrm>
            <a:prstGeom prst="roundRect">
              <a:avLst>
                <a:gd name="adj" fmla="val 16667"/>
              </a:avLst>
            </a:prstGeom>
            <a:solidFill>
              <a:schemeClr val="accent1"/>
            </a:solidFill>
            <a:ln w="28575">
              <a:solidFill>
                <a:srgbClr val="FFFFFF"/>
              </a:solidFill>
              <a:round/>
              <a:headEnd/>
              <a:tailEnd/>
            </a:ln>
          </p:spPr>
          <p:txBody>
            <a:bodyPr/>
            <a:lstStyle/>
            <a:p>
              <a:pPr algn="ctr" eaLnBrk="0" hangingPunct="0"/>
              <a:r>
                <a:rPr lang="zh-CN" altLang="en-US" sz="2400" b="1" baseline="0">
                  <a:solidFill>
                    <a:schemeClr val="bg1"/>
                  </a:solidFill>
                  <a:latin typeface="宋体" panose="02010600030101010101" pitchFamily="2" charset="-122"/>
                </a:rPr>
                <a:t>子模式/模式映象</a:t>
              </a:r>
            </a:p>
          </p:txBody>
        </p:sp>
        <p:sp>
          <p:nvSpPr>
            <p:cNvPr id="47" name="AutoShape 14">
              <a:extLst>
                <a:ext uri="{FF2B5EF4-FFF2-40B4-BE49-F238E27FC236}">
                  <a16:creationId xmlns:a16="http://schemas.microsoft.com/office/drawing/2014/main" id="{9AC70EEA-FE9A-47A7-AE4D-34BA2D4734F0}"/>
                </a:ext>
              </a:extLst>
            </p:cNvPr>
            <p:cNvSpPr>
              <a:spLocks noChangeArrowheads="1"/>
            </p:cNvSpPr>
            <p:nvPr/>
          </p:nvSpPr>
          <p:spPr bwMode="auto">
            <a:xfrm>
              <a:off x="2512258" y="3513877"/>
              <a:ext cx="2216496" cy="435033"/>
            </a:xfrm>
            <a:prstGeom prst="flowChartProcess">
              <a:avLst/>
            </a:prstGeom>
            <a:solidFill>
              <a:schemeClr val="hlink"/>
            </a:solidFill>
            <a:ln w="28575">
              <a:solidFill>
                <a:srgbClr val="FFFFFF"/>
              </a:solidFill>
              <a:miter lim="800000"/>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模　式</a:t>
              </a:r>
            </a:p>
          </p:txBody>
        </p:sp>
        <p:sp>
          <p:nvSpPr>
            <p:cNvPr id="48" name="AutoShape 15">
              <a:extLst>
                <a:ext uri="{FF2B5EF4-FFF2-40B4-BE49-F238E27FC236}">
                  <a16:creationId xmlns:a16="http://schemas.microsoft.com/office/drawing/2014/main" id="{98A6FF68-BBEF-499E-850A-5B4923752AC7}"/>
                </a:ext>
              </a:extLst>
            </p:cNvPr>
            <p:cNvSpPr>
              <a:spLocks noChangeArrowheads="1"/>
            </p:cNvSpPr>
            <p:nvPr/>
          </p:nvSpPr>
          <p:spPr bwMode="auto">
            <a:xfrm>
              <a:off x="1773426" y="4228697"/>
              <a:ext cx="3689214" cy="479390"/>
            </a:xfrm>
            <a:prstGeom prst="roundRect">
              <a:avLst>
                <a:gd name="adj" fmla="val 16667"/>
              </a:avLst>
            </a:prstGeom>
            <a:solidFill>
              <a:schemeClr val="accent1"/>
            </a:solidFill>
            <a:ln w="28575">
              <a:solidFill>
                <a:srgbClr val="FFFFFF"/>
              </a:solidFill>
              <a:round/>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模式/内模式映象</a:t>
              </a:r>
            </a:p>
          </p:txBody>
        </p:sp>
        <p:sp>
          <p:nvSpPr>
            <p:cNvPr id="49" name="AutoShape 16">
              <a:extLst>
                <a:ext uri="{FF2B5EF4-FFF2-40B4-BE49-F238E27FC236}">
                  <a16:creationId xmlns:a16="http://schemas.microsoft.com/office/drawing/2014/main" id="{E5EE2871-11D0-4D9A-8C7E-7C503BE168ED}"/>
                </a:ext>
              </a:extLst>
            </p:cNvPr>
            <p:cNvSpPr>
              <a:spLocks noChangeArrowheads="1"/>
            </p:cNvSpPr>
            <p:nvPr/>
          </p:nvSpPr>
          <p:spPr bwMode="auto">
            <a:xfrm>
              <a:off x="2512258" y="5061232"/>
              <a:ext cx="2216496" cy="433328"/>
            </a:xfrm>
            <a:prstGeom prst="flowChartProcess">
              <a:avLst/>
            </a:prstGeom>
            <a:solidFill>
              <a:schemeClr val="hlink"/>
            </a:solidFill>
            <a:ln w="28575">
              <a:solidFill>
                <a:srgbClr val="FFFFFF"/>
              </a:solidFill>
              <a:miter lim="800000"/>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内　模　式</a:t>
              </a:r>
            </a:p>
          </p:txBody>
        </p:sp>
        <p:sp>
          <p:nvSpPr>
            <p:cNvPr id="50" name="AutoShape 17">
              <a:extLst>
                <a:ext uri="{FF2B5EF4-FFF2-40B4-BE49-F238E27FC236}">
                  <a16:creationId xmlns:a16="http://schemas.microsoft.com/office/drawing/2014/main" id="{482A325B-CD9C-4609-852E-1CD6B84582BE}"/>
                </a:ext>
              </a:extLst>
            </p:cNvPr>
            <p:cNvSpPr>
              <a:spLocks noChangeArrowheads="1"/>
            </p:cNvSpPr>
            <p:nvPr/>
          </p:nvSpPr>
          <p:spPr bwMode="auto">
            <a:xfrm>
              <a:off x="2357235" y="5769229"/>
              <a:ext cx="2379766" cy="684111"/>
            </a:xfrm>
            <a:prstGeom prst="can">
              <a:avLst>
                <a:gd name="adj" fmla="val 50000"/>
              </a:avLst>
            </a:prstGeom>
            <a:solidFill>
              <a:srgbClr val="66FFCC"/>
            </a:solidFill>
            <a:ln w="28575">
              <a:solidFill>
                <a:srgbClr val="FFFFFF"/>
              </a:solidFill>
              <a:round/>
              <a:headEnd/>
              <a:tailEnd/>
            </a:ln>
          </p:spPr>
          <p:txBody>
            <a:bodyPr tIns="190800"/>
            <a:lstStyle/>
            <a:p>
              <a:pPr algn="ctr" eaLnBrk="0" hangingPunct="0"/>
              <a:endParaRPr lang="zh-CN" altLang="en-US" sz="2400" b="1" baseline="0">
                <a:latin typeface="宋体" panose="02010600030101010101" pitchFamily="2" charset="-122"/>
              </a:endParaRPr>
            </a:p>
          </p:txBody>
        </p:sp>
        <p:sp>
          <p:nvSpPr>
            <p:cNvPr id="51" name="Line 18">
              <a:extLst>
                <a:ext uri="{FF2B5EF4-FFF2-40B4-BE49-F238E27FC236}">
                  <a16:creationId xmlns:a16="http://schemas.microsoft.com/office/drawing/2014/main" id="{6141F8A8-75C2-4E4E-ABE6-6D820F8F9FA5}"/>
                </a:ext>
              </a:extLst>
            </p:cNvPr>
            <p:cNvSpPr>
              <a:spLocks noChangeShapeType="1"/>
            </p:cNvSpPr>
            <p:nvPr/>
          </p:nvSpPr>
          <p:spPr bwMode="auto">
            <a:xfrm>
              <a:off x="1199456" y="1520185"/>
              <a:ext cx="357928"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2" name="Line 19">
              <a:extLst>
                <a:ext uri="{FF2B5EF4-FFF2-40B4-BE49-F238E27FC236}">
                  <a16:creationId xmlns:a16="http://schemas.microsoft.com/office/drawing/2014/main" id="{8B283168-A933-4815-A568-D4C279F0F446}"/>
                </a:ext>
              </a:extLst>
            </p:cNvPr>
            <p:cNvSpPr>
              <a:spLocks noChangeShapeType="1"/>
            </p:cNvSpPr>
            <p:nvPr/>
          </p:nvSpPr>
          <p:spPr bwMode="auto">
            <a:xfrm flipH="1">
              <a:off x="2004311" y="1527012"/>
              <a:ext cx="422190" cy="432685"/>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3" name="Line 20">
              <a:extLst>
                <a:ext uri="{FF2B5EF4-FFF2-40B4-BE49-F238E27FC236}">
                  <a16:creationId xmlns:a16="http://schemas.microsoft.com/office/drawing/2014/main" id="{4B915204-69B8-4125-B04B-B03D5D5FF1B8}"/>
                </a:ext>
              </a:extLst>
            </p:cNvPr>
            <p:cNvSpPr>
              <a:spLocks noChangeShapeType="1"/>
            </p:cNvSpPr>
            <p:nvPr/>
          </p:nvSpPr>
          <p:spPr bwMode="auto">
            <a:xfrm flipH="1">
              <a:off x="3547943" y="1520185"/>
              <a:ext cx="217690"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4" name="Line 21">
              <a:extLst>
                <a:ext uri="{FF2B5EF4-FFF2-40B4-BE49-F238E27FC236}">
                  <a16:creationId xmlns:a16="http://schemas.microsoft.com/office/drawing/2014/main" id="{3178D08D-0A3D-4E2A-8826-615B5EF440BC}"/>
                </a:ext>
              </a:extLst>
            </p:cNvPr>
            <p:cNvSpPr>
              <a:spLocks noChangeShapeType="1"/>
            </p:cNvSpPr>
            <p:nvPr/>
          </p:nvSpPr>
          <p:spPr bwMode="auto">
            <a:xfrm flipH="1">
              <a:off x="5406567" y="1520185"/>
              <a:ext cx="52773"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5" name="Line 22">
              <a:extLst>
                <a:ext uri="{FF2B5EF4-FFF2-40B4-BE49-F238E27FC236}">
                  <a16:creationId xmlns:a16="http://schemas.microsoft.com/office/drawing/2014/main" id="{B54FDD5D-CCB0-4D48-BD5D-7087284D1CD4}"/>
                </a:ext>
              </a:extLst>
            </p:cNvPr>
            <p:cNvSpPr>
              <a:spLocks noChangeShapeType="1"/>
            </p:cNvSpPr>
            <p:nvPr/>
          </p:nvSpPr>
          <p:spPr bwMode="auto">
            <a:xfrm>
              <a:off x="3547943" y="4697851"/>
              <a:ext cx="0" cy="356557"/>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6" name="Line 23">
              <a:extLst>
                <a:ext uri="{FF2B5EF4-FFF2-40B4-BE49-F238E27FC236}">
                  <a16:creationId xmlns:a16="http://schemas.microsoft.com/office/drawing/2014/main" id="{3B4C73E6-5B39-468D-8F52-137BA6B15632}"/>
                </a:ext>
              </a:extLst>
            </p:cNvPr>
            <p:cNvSpPr>
              <a:spLocks noChangeShapeType="1"/>
            </p:cNvSpPr>
            <p:nvPr/>
          </p:nvSpPr>
          <p:spPr bwMode="auto">
            <a:xfrm>
              <a:off x="3547943" y="5525268"/>
              <a:ext cx="0" cy="243960"/>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7" name="Line 24">
              <a:extLst>
                <a:ext uri="{FF2B5EF4-FFF2-40B4-BE49-F238E27FC236}">
                  <a16:creationId xmlns:a16="http://schemas.microsoft.com/office/drawing/2014/main" id="{2B464979-AB45-447E-83C6-CB5BAA3F8042}"/>
                </a:ext>
              </a:extLst>
            </p:cNvPr>
            <p:cNvSpPr>
              <a:spLocks noChangeShapeType="1"/>
            </p:cNvSpPr>
            <p:nvPr/>
          </p:nvSpPr>
          <p:spPr bwMode="auto">
            <a:xfrm>
              <a:off x="3547943" y="3940381"/>
              <a:ext cx="0" cy="28149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8" name="Line 25">
              <a:extLst>
                <a:ext uri="{FF2B5EF4-FFF2-40B4-BE49-F238E27FC236}">
                  <a16:creationId xmlns:a16="http://schemas.microsoft.com/office/drawing/2014/main" id="{3E29B227-F3E8-4DCE-8767-23C84AEE356E}"/>
                </a:ext>
              </a:extLst>
            </p:cNvPr>
            <p:cNvSpPr>
              <a:spLocks noChangeShapeType="1"/>
            </p:cNvSpPr>
            <p:nvPr/>
          </p:nvSpPr>
          <p:spPr bwMode="auto">
            <a:xfrm>
              <a:off x="3547943" y="3150496"/>
              <a:ext cx="0" cy="358263"/>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9" name="Line 26">
              <a:extLst>
                <a:ext uri="{FF2B5EF4-FFF2-40B4-BE49-F238E27FC236}">
                  <a16:creationId xmlns:a16="http://schemas.microsoft.com/office/drawing/2014/main" id="{16345003-027E-4182-8CE2-159A3C3EB20B}"/>
                </a:ext>
              </a:extLst>
            </p:cNvPr>
            <p:cNvSpPr>
              <a:spLocks noChangeShapeType="1"/>
            </p:cNvSpPr>
            <p:nvPr/>
          </p:nvSpPr>
          <p:spPr bwMode="auto">
            <a:xfrm>
              <a:off x="2027400" y="2398144"/>
              <a:ext cx="207797" cy="300259"/>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60" name="Line 27">
              <a:extLst>
                <a:ext uri="{FF2B5EF4-FFF2-40B4-BE49-F238E27FC236}">
                  <a16:creationId xmlns:a16="http://schemas.microsoft.com/office/drawing/2014/main" id="{28B66C73-49D8-48F6-9BCC-0C070D9BDCC7}"/>
                </a:ext>
              </a:extLst>
            </p:cNvPr>
            <p:cNvSpPr>
              <a:spLocks noChangeShapeType="1"/>
            </p:cNvSpPr>
            <p:nvPr/>
          </p:nvSpPr>
          <p:spPr bwMode="auto">
            <a:xfrm>
              <a:off x="3547943" y="2391320"/>
              <a:ext cx="0" cy="283198"/>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61" name="Line 28">
              <a:extLst>
                <a:ext uri="{FF2B5EF4-FFF2-40B4-BE49-F238E27FC236}">
                  <a16:creationId xmlns:a16="http://schemas.microsoft.com/office/drawing/2014/main" id="{BFE83F21-B82C-455D-B0FD-A8A15FB7B078}"/>
                </a:ext>
              </a:extLst>
            </p:cNvPr>
            <p:cNvSpPr>
              <a:spLocks noChangeShapeType="1"/>
            </p:cNvSpPr>
            <p:nvPr/>
          </p:nvSpPr>
          <p:spPr bwMode="auto">
            <a:xfrm flipV="1">
              <a:off x="4741948" y="2375965"/>
              <a:ext cx="166568" cy="296847"/>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62" name="Rectangle 29">
              <a:extLst>
                <a:ext uri="{FF2B5EF4-FFF2-40B4-BE49-F238E27FC236}">
                  <a16:creationId xmlns:a16="http://schemas.microsoft.com/office/drawing/2014/main" id="{26AA8AAB-5326-4057-83C6-FADB4C6CD63A}"/>
                </a:ext>
              </a:extLst>
            </p:cNvPr>
            <p:cNvSpPr>
              <a:spLocks noChangeArrowheads="1"/>
            </p:cNvSpPr>
            <p:nvPr/>
          </p:nvSpPr>
          <p:spPr bwMode="auto">
            <a:xfrm>
              <a:off x="3007012" y="5849411"/>
              <a:ext cx="1073545" cy="514738"/>
            </a:xfrm>
            <a:prstGeom prst="rect">
              <a:avLst/>
            </a:prstGeom>
            <a:no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400" b="1" baseline="0" dirty="0">
                  <a:solidFill>
                    <a:schemeClr val="bg1"/>
                  </a:solidFill>
                  <a:latin typeface="宋体" panose="02010600030101010101" pitchFamily="2" charset="-122"/>
                </a:rPr>
                <a:t>数据库</a:t>
              </a:r>
            </a:p>
          </p:txBody>
        </p:sp>
        <p:sp>
          <p:nvSpPr>
            <p:cNvPr id="63" name="Rectangle 30">
              <a:extLst>
                <a:ext uri="{FF2B5EF4-FFF2-40B4-BE49-F238E27FC236}">
                  <a16:creationId xmlns:a16="http://schemas.microsoft.com/office/drawing/2014/main" id="{FD75AD90-E3BB-4A01-B804-9750F661C041}"/>
                </a:ext>
              </a:extLst>
            </p:cNvPr>
            <p:cNvSpPr>
              <a:spLocks noChangeArrowheads="1"/>
            </p:cNvSpPr>
            <p:nvPr/>
          </p:nvSpPr>
          <p:spPr bwMode="auto">
            <a:xfrm>
              <a:off x="614053" y="4919633"/>
              <a:ext cx="1301172" cy="57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en-US" altLang="zh-CN" sz="2800" b="1" baseline="0" dirty="0">
                  <a:solidFill>
                    <a:srgbClr val="FFFF00"/>
                  </a:solidFill>
                  <a:latin typeface="Arial Black" panose="020B0A04020102020204" pitchFamily="34" charset="0"/>
                </a:rPr>
                <a:t>DBMS</a:t>
              </a:r>
            </a:p>
          </p:txBody>
        </p:sp>
      </p:grpSp>
    </p:spTree>
    <p:extLst>
      <p:ext uri="{BB962C8B-B14F-4D97-AF65-F5344CB8AC3E}">
        <p14:creationId xmlns:p14="http://schemas.microsoft.com/office/powerpoint/2010/main" val="34040682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a:extLst>
              <a:ext uri="{FF2B5EF4-FFF2-40B4-BE49-F238E27FC236}">
                <a16:creationId xmlns:a16="http://schemas.microsoft.com/office/drawing/2014/main" id="{90EC0258-B85D-4B2D-92FF-3246C1F6E410}"/>
              </a:ext>
            </a:extLst>
          </p:cNvPr>
          <p:cNvSpPr>
            <a:spLocks noGrp="1" noChangeArrowheads="1"/>
          </p:cNvSpPr>
          <p:nvPr>
            <p:ph type="body" idx="1"/>
          </p:nvPr>
        </p:nvSpPr>
        <p:spPr>
          <a:xfrm>
            <a:off x="609600" y="980728"/>
            <a:ext cx="10972800" cy="4054475"/>
          </a:xfrm>
        </p:spPr>
        <p:txBody>
          <a:bodyPr/>
          <a:lstStyle/>
          <a:p>
            <a:pPr>
              <a:lnSpc>
                <a:spcPct val="150000"/>
              </a:lnSpc>
              <a:buFontTx/>
              <a:buNone/>
            </a:pPr>
            <a:r>
              <a:rPr lang="zh-CN" altLang="en-US" sz="2800" dirty="0"/>
              <a:t>二、外模式</a:t>
            </a:r>
            <a:r>
              <a:rPr lang="en-US" altLang="zh-CN" sz="2800" dirty="0"/>
              <a:t>/</a:t>
            </a:r>
            <a:r>
              <a:rPr lang="zh-CN" altLang="en-US" sz="2800" dirty="0"/>
              <a:t>模式映象</a:t>
            </a:r>
          </a:p>
          <a:p>
            <a:pPr>
              <a:lnSpc>
                <a:spcPct val="150000"/>
              </a:lnSpc>
            </a:pPr>
            <a:r>
              <a:rPr lang="zh-CN" altLang="en-US" sz="2800" dirty="0"/>
              <a:t>数据库中的同一模式可以有任意多个外模式，对于每一个外模式，都存在一个外模式</a:t>
            </a:r>
            <a:r>
              <a:rPr lang="en-US" altLang="zh-CN" sz="2800" dirty="0"/>
              <a:t>/</a:t>
            </a:r>
            <a:r>
              <a:rPr lang="zh-CN" altLang="en-US" sz="2800" dirty="0"/>
              <a:t>模式映象。它确定了数据的局部逻辑结构（面向用户或应用程序）与全局逻辑结构（面向全局机构）之间的对应关系。</a:t>
            </a:r>
          </a:p>
          <a:p>
            <a:pPr>
              <a:lnSpc>
                <a:spcPct val="150000"/>
              </a:lnSpc>
            </a:pPr>
            <a:r>
              <a:rPr lang="zh-CN" altLang="en-US" sz="2800" dirty="0"/>
              <a:t>这一映象功能保证了数据的</a:t>
            </a:r>
            <a:r>
              <a:rPr lang="zh-CN" altLang="en-US" sz="2800" dirty="0">
                <a:solidFill>
                  <a:srgbClr val="FF0000"/>
                </a:solidFill>
              </a:rPr>
              <a:t>局部逻辑结构不变</a:t>
            </a:r>
            <a:r>
              <a:rPr lang="zh-CN" altLang="en-US" sz="2800" dirty="0"/>
              <a:t>，由于应用程序是依据数据的局部逻辑结构编写的，所以</a:t>
            </a:r>
            <a:r>
              <a:rPr lang="zh-CN" altLang="en-US" sz="2800" dirty="0">
                <a:solidFill>
                  <a:srgbClr val="FF0000"/>
                </a:solidFill>
              </a:rPr>
              <a:t>应用程序不必须修改</a:t>
            </a:r>
            <a:r>
              <a:rPr lang="zh-CN" altLang="en-US" sz="2800" dirty="0"/>
              <a:t>，从而保证了数据与程序间的</a:t>
            </a:r>
            <a:r>
              <a:rPr lang="zh-CN" altLang="en-US" sz="2800" dirty="0">
                <a:solidFill>
                  <a:srgbClr val="FF0000"/>
                </a:solidFill>
              </a:rPr>
              <a:t>逻辑独立性</a:t>
            </a:r>
            <a:r>
              <a:rPr lang="zh-CN" altLang="en-US" sz="2800" dirty="0"/>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539203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数据库系统的模式结构</a:t>
            </a:r>
          </a:p>
        </p:txBody>
      </p:sp>
      <p:sp>
        <p:nvSpPr>
          <p:cNvPr id="35" name="矩形 34"/>
          <p:cNvSpPr/>
          <p:nvPr/>
        </p:nvSpPr>
        <p:spPr>
          <a:xfrm>
            <a:off x="6960037" y="1052737"/>
            <a:ext cx="4807298" cy="777600"/>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33" name="矩形 32"/>
          <p:cNvSpPr/>
          <p:nvPr/>
        </p:nvSpPr>
        <p:spPr>
          <a:xfrm>
            <a:off x="6960037" y="1857225"/>
            <a:ext cx="4807298" cy="4485042"/>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zh-CN" altLang="en-US"/>
          </a:p>
        </p:txBody>
      </p:sp>
      <p:sp>
        <p:nvSpPr>
          <p:cNvPr id="34" name="文本框 33"/>
          <p:cNvSpPr txBox="1"/>
          <p:nvPr/>
        </p:nvSpPr>
        <p:spPr>
          <a:xfrm>
            <a:off x="6960037" y="1944536"/>
            <a:ext cx="4640538" cy="1750297"/>
          </a:xfrm>
          <a:prstGeom prst="rect">
            <a:avLst/>
          </a:prstGeom>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018" tIns="144018" rIns="192024" bIns="216027" numCol="1" spcCol="1270" anchor="t" anchorCtr="0">
            <a:noAutofit/>
          </a:bodyPr>
          <a:lstStyle/>
          <a:p>
            <a:pPr marL="457200" indent="-457200">
              <a:spcAft>
                <a:spcPct val="50000"/>
              </a:spcAft>
              <a:buFont typeface="Arial" panose="020B0604020202020204" pitchFamily="34" charset="0"/>
              <a:buChar char="•"/>
            </a:pPr>
            <a:r>
              <a:rPr lang="zh-CN" altLang="en-US" sz="3000" baseline="0" dirty="0">
                <a:latin typeface="宋体" panose="02010600030101010101" pitchFamily="2" charset="-122"/>
                <a:ea typeface="宋体" panose="02010600030101010101" pitchFamily="2" charset="-122"/>
              </a:rPr>
              <a:t>在外模式中定义的某一个外模式和模式之间的对应关系。</a:t>
            </a:r>
            <a:endParaRPr lang="en-US" altLang="zh-CN" sz="3000" baseline="0" dirty="0">
              <a:latin typeface="宋体" panose="02010600030101010101" pitchFamily="2" charset="-122"/>
              <a:ea typeface="宋体" panose="02010600030101010101" pitchFamily="2" charset="-122"/>
            </a:endParaRPr>
          </a:p>
          <a:p>
            <a:pPr marL="457200" indent="-457200">
              <a:spcAft>
                <a:spcPct val="50000"/>
              </a:spcAft>
              <a:buFont typeface="Arial" panose="020B0604020202020204" pitchFamily="34" charset="0"/>
              <a:buChar char="•"/>
            </a:pPr>
            <a:r>
              <a:rPr lang="zh-CN" altLang="en-US" sz="3000" baseline="0" dirty="0">
                <a:latin typeface="宋体" panose="02010600030101010101" pitchFamily="2" charset="-122"/>
                <a:ea typeface="宋体" panose="02010600030101010101" pitchFamily="2" charset="-122"/>
              </a:rPr>
              <a:t>当模式发生改变时，</a:t>
            </a:r>
            <a:r>
              <a:rPr lang="en-US" altLang="zh-CN" sz="3000" baseline="0" dirty="0">
                <a:latin typeface="宋体" panose="02010600030101010101" pitchFamily="2" charset="-122"/>
                <a:ea typeface="宋体" panose="02010600030101010101" pitchFamily="2" charset="-122"/>
              </a:rPr>
              <a:t>DBA</a:t>
            </a:r>
            <a:r>
              <a:rPr lang="zh-CN" altLang="en-US" sz="3000" baseline="0" dirty="0">
                <a:latin typeface="宋体" panose="02010600030101010101" pitchFamily="2" charset="-122"/>
                <a:ea typeface="宋体" panose="02010600030101010101" pitchFamily="2" charset="-122"/>
              </a:rPr>
              <a:t>可以对此映象作出相应的改变，从而可以使外模式保持不变，这就是数据的</a:t>
            </a:r>
            <a:r>
              <a:rPr lang="zh-CN" altLang="en-US" sz="3000" b="1" baseline="0" dirty="0">
                <a:solidFill>
                  <a:srgbClr val="FF0000"/>
                </a:solidFill>
                <a:latin typeface="宋体" panose="02010600030101010101" pitchFamily="2" charset="-122"/>
                <a:ea typeface="宋体" panose="02010600030101010101" pitchFamily="2" charset="-122"/>
              </a:rPr>
              <a:t>逻辑独立性</a:t>
            </a:r>
            <a:endParaRPr lang="zh-CN" altLang="en-US" sz="3000" baseline="0" dirty="0">
              <a:latin typeface="宋体" panose="02010600030101010101" pitchFamily="2" charset="-122"/>
              <a:ea typeface="宋体" panose="02010600030101010101" pitchFamily="2" charset="-122"/>
            </a:endParaRPr>
          </a:p>
        </p:txBody>
      </p:sp>
      <p:sp>
        <p:nvSpPr>
          <p:cNvPr id="36" name="文本框 35"/>
          <p:cNvSpPr txBox="1"/>
          <p:nvPr/>
        </p:nvSpPr>
        <p:spPr>
          <a:xfrm>
            <a:off x="6960037" y="1052737"/>
            <a:ext cx="4807298" cy="777600"/>
          </a:xfrm>
          <a:prstGeom prst="rect">
            <a:avLst/>
          </a:prstGeom>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spcFirstLastPara="0" vert="horz" wrap="square" lIns="199136" tIns="113792" rIns="199136" bIns="113792" numCol="1" spcCol="1270" anchor="ctr" anchorCtr="0">
            <a:noAutofit/>
          </a:bodyPr>
          <a:lstStyle/>
          <a:p>
            <a:pPr lvl="0" algn="ctr" defTabSz="1244600">
              <a:lnSpc>
                <a:spcPct val="90000"/>
              </a:lnSpc>
              <a:spcAft>
                <a:spcPct val="35000"/>
              </a:spcAft>
            </a:pPr>
            <a:r>
              <a:rPr kumimoji="1" lang="zh-CN" altLang="en-US" sz="2800" baseline="0" dirty="0">
                <a:latin typeface="微软雅黑" panose="020B0503020204020204" pitchFamily="34" charset="-122"/>
                <a:ea typeface="微软雅黑" panose="020B0503020204020204" pitchFamily="34" charset="-122"/>
              </a:rPr>
              <a:t>子模式</a:t>
            </a:r>
            <a:r>
              <a:rPr kumimoji="1" lang="en-US" altLang="zh-CN" sz="2800" baseline="0" dirty="0">
                <a:latin typeface="微软雅黑" panose="020B0503020204020204" pitchFamily="34" charset="-122"/>
                <a:ea typeface="微软雅黑" panose="020B0503020204020204" pitchFamily="34" charset="-122"/>
              </a:rPr>
              <a:t>/</a:t>
            </a:r>
            <a:r>
              <a:rPr kumimoji="1" lang="zh-CN" altLang="en-US" sz="2800" baseline="0" dirty="0">
                <a:latin typeface="微软雅黑" panose="020B0503020204020204" pitchFamily="34" charset="-122"/>
                <a:ea typeface="微软雅黑" panose="020B0503020204020204" pitchFamily="34" charset="-122"/>
              </a:rPr>
              <a:t>模式映象</a:t>
            </a:r>
          </a:p>
        </p:txBody>
      </p:sp>
      <p:grpSp>
        <p:nvGrpSpPr>
          <p:cNvPr id="37" name="组合 36">
            <a:extLst>
              <a:ext uri="{FF2B5EF4-FFF2-40B4-BE49-F238E27FC236}">
                <a16:creationId xmlns:a16="http://schemas.microsoft.com/office/drawing/2014/main" id="{31709039-2C47-41EF-91E1-A9C5AB21949F}"/>
              </a:ext>
            </a:extLst>
          </p:cNvPr>
          <p:cNvGrpSpPr/>
          <p:nvPr/>
        </p:nvGrpSpPr>
        <p:grpSpPr>
          <a:xfrm>
            <a:off x="551384" y="1052737"/>
            <a:ext cx="6121752" cy="5400603"/>
            <a:chOff x="551384" y="1052737"/>
            <a:chExt cx="6121752" cy="5400603"/>
          </a:xfrm>
        </p:grpSpPr>
        <p:sp>
          <p:nvSpPr>
            <p:cNvPr id="38" name="Rectangle 5">
              <a:extLst>
                <a:ext uri="{FF2B5EF4-FFF2-40B4-BE49-F238E27FC236}">
                  <a16:creationId xmlns:a16="http://schemas.microsoft.com/office/drawing/2014/main" id="{7296A106-FBF0-4D81-A05D-B79F94E22BE7}"/>
                </a:ext>
              </a:extLst>
            </p:cNvPr>
            <p:cNvSpPr>
              <a:spLocks noChangeArrowheads="1"/>
            </p:cNvSpPr>
            <p:nvPr/>
          </p:nvSpPr>
          <p:spPr bwMode="auto">
            <a:xfrm>
              <a:off x="551384" y="1852219"/>
              <a:ext cx="6121752" cy="3763468"/>
            </a:xfrm>
            <a:prstGeom prst="rect">
              <a:avLst/>
            </a:prstGeom>
            <a:noFill/>
            <a:ln w="12700">
              <a:solidFill>
                <a:schemeClr val="hlink"/>
              </a:solidFill>
              <a:prstDash val="dashDot"/>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p>
              <a:r>
                <a:rPr lang="zh-CN" altLang="en-US" sz="2400" baseline="0">
                  <a:latin typeface="宋体" panose="02010600030101010101" pitchFamily="2" charset="-122"/>
                </a:rPr>
                <a:t> </a:t>
              </a:r>
            </a:p>
          </p:txBody>
        </p:sp>
        <p:sp>
          <p:nvSpPr>
            <p:cNvPr id="39" name="Rectangle 6">
              <a:extLst>
                <a:ext uri="{FF2B5EF4-FFF2-40B4-BE49-F238E27FC236}">
                  <a16:creationId xmlns:a16="http://schemas.microsoft.com/office/drawing/2014/main" id="{916DAB8D-A573-42A6-AB8D-81A4AA645B84}"/>
                </a:ext>
              </a:extLst>
            </p:cNvPr>
            <p:cNvSpPr>
              <a:spLocks noChangeArrowheads="1"/>
            </p:cNvSpPr>
            <p:nvPr/>
          </p:nvSpPr>
          <p:spPr bwMode="auto">
            <a:xfrm>
              <a:off x="553574" y="1052737"/>
              <a:ext cx="1085444"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应用</a:t>
              </a:r>
              <a:r>
                <a:rPr lang="en-US" altLang="zh-CN" sz="2400" b="1" baseline="0" dirty="0">
                  <a:latin typeface="宋体" panose="02010600030101010101" pitchFamily="2" charset="-122"/>
                </a:rPr>
                <a:t>A</a:t>
              </a:r>
            </a:p>
          </p:txBody>
        </p:sp>
        <p:sp>
          <p:nvSpPr>
            <p:cNvPr id="40" name="Rectangle 7">
              <a:extLst>
                <a:ext uri="{FF2B5EF4-FFF2-40B4-BE49-F238E27FC236}">
                  <a16:creationId xmlns:a16="http://schemas.microsoft.com/office/drawing/2014/main" id="{B6F543FD-5902-4643-8F3C-2E5369205A18}"/>
                </a:ext>
              </a:extLst>
            </p:cNvPr>
            <p:cNvSpPr>
              <a:spLocks noChangeArrowheads="1"/>
            </p:cNvSpPr>
            <p:nvPr/>
          </p:nvSpPr>
          <p:spPr bwMode="auto">
            <a:xfrm>
              <a:off x="1958134" y="1057858"/>
              <a:ext cx="1062071"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应用</a:t>
              </a:r>
              <a:r>
                <a:rPr lang="en-US" altLang="zh-CN" sz="2400" b="1" baseline="0" dirty="0">
                  <a:latin typeface="宋体" panose="02010600030101010101" pitchFamily="2" charset="-122"/>
                </a:rPr>
                <a:t>B</a:t>
              </a:r>
            </a:p>
          </p:txBody>
        </p:sp>
        <p:sp>
          <p:nvSpPr>
            <p:cNvPr id="41" name="Rectangle 8">
              <a:extLst>
                <a:ext uri="{FF2B5EF4-FFF2-40B4-BE49-F238E27FC236}">
                  <a16:creationId xmlns:a16="http://schemas.microsoft.com/office/drawing/2014/main" id="{DAB5E98D-9828-4DCE-828E-0E9197F10A31}"/>
                </a:ext>
              </a:extLst>
            </p:cNvPr>
            <p:cNvSpPr>
              <a:spLocks noChangeArrowheads="1"/>
            </p:cNvSpPr>
            <p:nvPr/>
          </p:nvSpPr>
          <p:spPr bwMode="auto">
            <a:xfrm>
              <a:off x="4809564" y="1052737"/>
              <a:ext cx="1340783"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a:latin typeface="宋体" panose="02010600030101010101" pitchFamily="2" charset="-122"/>
                </a:rPr>
                <a:t>应用</a:t>
              </a:r>
              <a:r>
                <a:rPr lang="en-US" altLang="zh-CN" sz="2400" b="1" baseline="0">
                  <a:latin typeface="宋体" panose="02010600030101010101" pitchFamily="2" charset="-122"/>
                </a:rPr>
                <a:t>n</a:t>
              </a:r>
            </a:p>
          </p:txBody>
        </p:sp>
        <p:sp>
          <p:nvSpPr>
            <p:cNvPr id="42" name="Rectangle 9">
              <a:extLst>
                <a:ext uri="{FF2B5EF4-FFF2-40B4-BE49-F238E27FC236}">
                  <a16:creationId xmlns:a16="http://schemas.microsoft.com/office/drawing/2014/main" id="{3F370473-2E33-4785-8C43-6A656032368D}"/>
                </a:ext>
              </a:extLst>
            </p:cNvPr>
            <p:cNvSpPr>
              <a:spLocks noChangeArrowheads="1"/>
            </p:cNvSpPr>
            <p:nvPr/>
          </p:nvSpPr>
          <p:spPr bwMode="auto">
            <a:xfrm>
              <a:off x="3330251" y="1057858"/>
              <a:ext cx="1062071"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a:t>
              </a:r>
            </a:p>
          </p:txBody>
        </p:sp>
        <p:sp>
          <p:nvSpPr>
            <p:cNvPr id="43" name="Rectangle 10">
              <a:extLst>
                <a:ext uri="{FF2B5EF4-FFF2-40B4-BE49-F238E27FC236}">
                  <a16:creationId xmlns:a16="http://schemas.microsoft.com/office/drawing/2014/main" id="{156732A3-A8BB-4D6D-ADA3-B94A7944213A}"/>
                </a:ext>
              </a:extLst>
            </p:cNvPr>
            <p:cNvSpPr>
              <a:spLocks noChangeArrowheads="1"/>
            </p:cNvSpPr>
            <p:nvPr/>
          </p:nvSpPr>
          <p:spPr bwMode="auto">
            <a:xfrm>
              <a:off x="912555" y="1959697"/>
              <a:ext cx="1436435" cy="443564"/>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dirty="0">
                  <a:solidFill>
                    <a:schemeClr val="bg1"/>
                  </a:solidFill>
                  <a:latin typeface="宋体" panose="02010600030101010101" pitchFamily="2" charset="-122"/>
                </a:rPr>
                <a:t>外模式1</a:t>
              </a:r>
            </a:p>
          </p:txBody>
        </p:sp>
        <p:sp>
          <p:nvSpPr>
            <p:cNvPr id="44" name="Rectangle 11">
              <a:extLst>
                <a:ext uri="{FF2B5EF4-FFF2-40B4-BE49-F238E27FC236}">
                  <a16:creationId xmlns:a16="http://schemas.microsoft.com/office/drawing/2014/main" id="{20F48ECE-D09F-4E45-A636-1F2E052705FC}"/>
                </a:ext>
              </a:extLst>
            </p:cNvPr>
            <p:cNvSpPr>
              <a:spLocks noChangeArrowheads="1"/>
            </p:cNvSpPr>
            <p:nvPr/>
          </p:nvSpPr>
          <p:spPr bwMode="auto">
            <a:xfrm>
              <a:off x="2800864" y="1959697"/>
              <a:ext cx="1489209" cy="431621"/>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a:solidFill>
                    <a:schemeClr val="bg1"/>
                  </a:solidFill>
                  <a:latin typeface="宋体" panose="02010600030101010101" pitchFamily="2" charset="-122"/>
                </a:rPr>
                <a:t>……</a:t>
              </a:r>
            </a:p>
          </p:txBody>
        </p:sp>
        <p:sp>
          <p:nvSpPr>
            <p:cNvPr id="45" name="Rectangle 12">
              <a:extLst>
                <a:ext uri="{FF2B5EF4-FFF2-40B4-BE49-F238E27FC236}">
                  <a16:creationId xmlns:a16="http://schemas.microsoft.com/office/drawing/2014/main" id="{1D3FEBD8-C426-42E2-B580-EFF6F7FE1AFB}"/>
                </a:ext>
              </a:extLst>
            </p:cNvPr>
            <p:cNvSpPr>
              <a:spLocks noChangeArrowheads="1"/>
            </p:cNvSpPr>
            <p:nvPr/>
          </p:nvSpPr>
          <p:spPr bwMode="auto">
            <a:xfrm>
              <a:off x="4512712" y="1959697"/>
              <a:ext cx="1786061" cy="431621"/>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a:solidFill>
                    <a:schemeClr val="bg1"/>
                  </a:solidFill>
                  <a:latin typeface="宋体" panose="02010600030101010101" pitchFamily="2" charset="-122"/>
                </a:rPr>
                <a:t>外模式</a:t>
              </a:r>
              <a:r>
                <a:rPr lang="en-US" altLang="zh-CN" sz="2400" b="1" baseline="0">
                  <a:solidFill>
                    <a:schemeClr val="bg1"/>
                  </a:solidFill>
                  <a:latin typeface="宋体" panose="02010600030101010101" pitchFamily="2" charset="-122"/>
                </a:rPr>
                <a:t>m</a:t>
              </a:r>
            </a:p>
          </p:txBody>
        </p:sp>
        <p:sp>
          <p:nvSpPr>
            <p:cNvPr id="46" name="AutoShape 13">
              <a:extLst>
                <a:ext uri="{FF2B5EF4-FFF2-40B4-BE49-F238E27FC236}">
                  <a16:creationId xmlns:a16="http://schemas.microsoft.com/office/drawing/2014/main" id="{9CD012BE-16B9-4B85-A6D1-49FED1F8D369}"/>
                </a:ext>
              </a:extLst>
            </p:cNvPr>
            <p:cNvSpPr>
              <a:spLocks noChangeArrowheads="1"/>
            </p:cNvSpPr>
            <p:nvPr/>
          </p:nvSpPr>
          <p:spPr bwMode="auto">
            <a:xfrm>
              <a:off x="1611807" y="2674518"/>
              <a:ext cx="3718899" cy="475978"/>
            </a:xfrm>
            <a:prstGeom prst="roundRect">
              <a:avLst>
                <a:gd name="adj" fmla="val 16667"/>
              </a:avLst>
            </a:prstGeom>
            <a:solidFill>
              <a:schemeClr val="accent1"/>
            </a:solidFill>
            <a:ln w="28575">
              <a:solidFill>
                <a:srgbClr val="FFFFFF"/>
              </a:solidFill>
              <a:round/>
              <a:headEnd/>
              <a:tailEnd/>
            </a:ln>
          </p:spPr>
          <p:txBody>
            <a:bodyPr/>
            <a:lstStyle/>
            <a:p>
              <a:pPr algn="ctr" eaLnBrk="0" hangingPunct="0"/>
              <a:r>
                <a:rPr lang="zh-CN" altLang="en-US" sz="2400" b="1" baseline="0">
                  <a:solidFill>
                    <a:schemeClr val="bg1"/>
                  </a:solidFill>
                  <a:latin typeface="宋体" panose="02010600030101010101" pitchFamily="2" charset="-122"/>
                </a:rPr>
                <a:t>子模式/模式映象</a:t>
              </a:r>
            </a:p>
          </p:txBody>
        </p:sp>
        <p:sp>
          <p:nvSpPr>
            <p:cNvPr id="47" name="AutoShape 14">
              <a:extLst>
                <a:ext uri="{FF2B5EF4-FFF2-40B4-BE49-F238E27FC236}">
                  <a16:creationId xmlns:a16="http://schemas.microsoft.com/office/drawing/2014/main" id="{EE608092-7682-44F7-BC08-9DC6D8453944}"/>
                </a:ext>
              </a:extLst>
            </p:cNvPr>
            <p:cNvSpPr>
              <a:spLocks noChangeArrowheads="1"/>
            </p:cNvSpPr>
            <p:nvPr/>
          </p:nvSpPr>
          <p:spPr bwMode="auto">
            <a:xfrm>
              <a:off x="2512258" y="3513877"/>
              <a:ext cx="2216496" cy="435033"/>
            </a:xfrm>
            <a:prstGeom prst="flowChartProcess">
              <a:avLst/>
            </a:prstGeom>
            <a:solidFill>
              <a:schemeClr val="hlink"/>
            </a:solidFill>
            <a:ln w="28575">
              <a:solidFill>
                <a:srgbClr val="FFFFFF"/>
              </a:solidFill>
              <a:miter lim="800000"/>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模　式</a:t>
              </a:r>
            </a:p>
          </p:txBody>
        </p:sp>
        <p:sp>
          <p:nvSpPr>
            <p:cNvPr id="48" name="AutoShape 15">
              <a:extLst>
                <a:ext uri="{FF2B5EF4-FFF2-40B4-BE49-F238E27FC236}">
                  <a16:creationId xmlns:a16="http://schemas.microsoft.com/office/drawing/2014/main" id="{9B28E1F9-FD08-4C88-9274-564DAE92EFD5}"/>
                </a:ext>
              </a:extLst>
            </p:cNvPr>
            <p:cNvSpPr>
              <a:spLocks noChangeArrowheads="1"/>
            </p:cNvSpPr>
            <p:nvPr/>
          </p:nvSpPr>
          <p:spPr bwMode="auto">
            <a:xfrm>
              <a:off x="1773426" y="4228697"/>
              <a:ext cx="3689214" cy="479390"/>
            </a:xfrm>
            <a:prstGeom prst="roundRect">
              <a:avLst>
                <a:gd name="adj" fmla="val 16667"/>
              </a:avLst>
            </a:prstGeom>
            <a:solidFill>
              <a:schemeClr val="accent1"/>
            </a:solidFill>
            <a:ln w="28575">
              <a:solidFill>
                <a:srgbClr val="FFFFFF"/>
              </a:solidFill>
              <a:round/>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模式/内模式映象</a:t>
              </a:r>
            </a:p>
          </p:txBody>
        </p:sp>
        <p:sp>
          <p:nvSpPr>
            <p:cNvPr id="49" name="AutoShape 16">
              <a:extLst>
                <a:ext uri="{FF2B5EF4-FFF2-40B4-BE49-F238E27FC236}">
                  <a16:creationId xmlns:a16="http://schemas.microsoft.com/office/drawing/2014/main" id="{6ADE9003-1731-42B3-8855-00D399E9EF7C}"/>
                </a:ext>
              </a:extLst>
            </p:cNvPr>
            <p:cNvSpPr>
              <a:spLocks noChangeArrowheads="1"/>
            </p:cNvSpPr>
            <p:nvPr/>
          </p:nvSpPr>
          <p:spPr bwMode="auto">
            <a:xfrm>
              <a:off x="2512258" y="5061232"/>
              <a:ext cx="2216496" cy="433328"/>
            </a:xfrm>
            <a:prstGeom prst="flowChartProcess">
              <a:avLst/>
            </a:prstGeom>
            <a:solidFill>
              <a:schemeClr val="hlink"/>
            </a:solidFill>
            <a:ln w="28575">
              <a:solidFill>
                <a:srgbClr val="FFFFFF"/>
              </a:solidFill>
              <a:miter lim="800000"/>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内　模　式</a:t>
              </a:r>
            </a:p>
          </p:txBody>
        </p:sp>
        <p:sp>
          <p:nvSpPr>
            <p:cNvPr id="50" name="AutoShape 17">
              <a:extLst>
                <a:ext uri="{FF2B5EF4-FFF2-40B4-BE49-F238E27FC236}">
                  <a16:creationId xmlns:a16="http://schemas.microsoft.com/office/drawing/2014/main" id="{B11EDA76-DAC9-4604-8C3F-B271334B4979}"/>
                </a:ext>
              </a:extLst>
            </p:cNvPr>
            <p:cNvSpPr>
              <a:spLocks noChangeArrowheads="1"/>
            </p:cNvSpPr>
            <p:nvPr/>
          </p:nvSpPr>
          <p:spPr bwMode="auto">
            <a:xfrm>
              <a:off x="2357235" y="5769229"/>
              <a:ext cx="2379766" cy="684111"/>
            </a:xfrm>
            <a:prstGeom prst="can">
              <a:avLst>
                <a:gd name="adj" fmla="val 50000"/>
              </a:avLst>
            </a:prstGeom>
            <a:solidFill>
              <a:srgbClr val="66FFCC"/>
            </a:solidFill>
            <a:ln w="28575">
              <a:solidFill>
                <a:srgbClr val="FFFFFF"/>
              </a:solidFill>
              <a:round/>
              <a:headEnd/>
              <a:tailEnd/>
            </a:ln>
          </p:spPr>
          <p:txBody>
            <a:bodyPr tIns="190800"/>
            <a:lstStyle/>
            <a:p>
              <a:pPr algn="ctr" eaLnBrk="0" hangingPunct="0"/>
              <a:endParaRPr lang="zh-CN" altLang="en-US" sz="2400" b="1" baseline="0">
                <a:latin typeface="宋体" panose="02010600030101010101" pitchFamily="2" charset="-122"/>
              </a:endParaRPr>
            </a:p>
          </p:txBody>
        </p:sp>
        <p:sp>
          <p:nvSpPr>
            <p:cNvPr id="51" name="Line 18">
              <a:extLst>
                <a:ext uri="{FF2B5EF4-FFF2-40B4-BE49-F238E27FC236}">
                  <a16:creationId xmlns:a16="http://schemas.microsoft.com/office/drawing/2014/main" id="{95913810-6F48-417D-BAAE-AE3271041A0C}"/>
                </a:ext>
              </a:extLst>
            </p:cNvPr>
            <p:cNvSpPr>
              <a:spLocks noChangeShapeType="1"/>
            </p:cNvSpPr>
            <p:nvPr/>
          </p:nvSpPr>
          <p:spPr bwMode="auto">
            <a:xfrm>
              <a:off x="1199456" y="1520185"/>
              <a:ext cx="357928"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2" name="Line 19">
              <a:extLst>
                <a:ext uri="{FF2B5EF4-FFF2-40B4-BE49-F238E27FC236}">
                  <a16:creationId xmlns:a16="http://schemas.microsoft.com/office/drawing/2014/main" id="{77F3C019-C60F-4BCE-A874-99360D2E4BC0}"/>
                </a:ext>
              </a:extLst>
            </p:cNvPr>
            <p:cNvSpPr>
              <a:spLocks noChangeShapeType="1"/>
            </p:cNvSpPr>
            <p:nvPr/>
          </p:nvSpPr>
          <p:spPr bwMode="auto">
            <a:xfrm flipH="1">
              <a:off x="2004311" y="1527012"/>
              <a:ext cx="422190" cy="432685"/>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3" name="Line 20">
              <a:extLst>
                <a:ext uri="{FF2B5EF4-FFF2-40B4-BE49-F238E27FC236}">
                  <a16:creationId xmlns:a16="http://schemas.microsoft.com/office/drawing/2014/main" id="{D706221C-1B0A-4022-8F67-2008C38518BB}"/>
                </a:ext>
              </a:extLst>
            </p:cNvPr>
            <p:cNvSpPr>
              <a:spLocks noChangeShapeType="1"/>
            </p:cNvSpPr>
            <p:nvPr/>
          </p:nvSpPr>
          <p:spPr bwMode="auto">
            <a:xfrm flipH="1">
              <a:off x="3547943" y="1520185"/>
              <a:ext cx="217690"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4" name="Line 21">
              <a:extLst>
                <a:ext uri="{FF2B5EF4-FFF2-40B4-BE49-F238E27FC236}">
                  <a16:creationId xmlns:a16="http://schemas.microsoft.com/office/drawing/2014/main" id="{6B01E089-0936-4E4F-BC84-907441C8B5AB}"/>
                </a:ext>
              </a:extLst>
            </p:cNvPr>
            <p:cNvSpPr>
              <a:spLocks noChangeShapeType="1"/>
            </p:cNvSpPr>
            <p:nvPr/>
          </p:nvSpPr>
          <p:spPr bwMode="auto">
            <a:xfrm flipH="1">
              <a:off x="5406567" y="1520185"/>
              <a:ext cx="52773"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5" name="Line 22">
              <a:extLst>
                <a:ext uri="{FF2B5EF4-FFF2-40B4-BE49-F238E27FC236}">
                  <a16:creationId xmlns:a16="http://schemas.microsoft.com/office/drawing/2014/main" id="{67C4DAF4-E381-4971-B65E-EFEC1775D001}"/>
                </a:ext>
              </a:extLst>
            </p:cNvPr>
            <p:cNvSpPr>
              <a:spLocks noChangeShapeType="1"/>
            </p:cNvSpPr>
            <p:nvPr/>
          </p:nvSpPr>
          <p:spPr bwMode="auto">
            <a:xfrm>
              <a:off x="3547943" y="4697851"/>
              <a:ext cx="0" cy="356557"/>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6" name="Line 23">
              <a:extLst>
                <a:ext uri="{FF2B5EF4-FFF2-40B4-BE49-F238E27FC236}">
                  <a16:creationId xmlns:a16="http://schemas.microsoft.com/office/drawing/2014/main" id="{498F91D2-D61D-4750-A773-254ED5CDEC48}"/>
                </a:ext>
              </a:extLst>
            </p:cNvPr>
            <p:cNvSpPr>
              <a:spLocks noChangeShapeType="1"/>
            </p:cNvSpPr>
            <p:nvPr/>
          </p:nvSpPr>
          <p:spPr bwMode="auto">
            <a:xfrm>
              <a:off x="3547943" y="5525268"/>
              <a:ext cx="0" cy="243960"/>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7" name="Line 24">
              <a:extLst>
                <a:ext uri="{FF2B5EF4-FFF2-40B4-BE49-F238E27FC236}">
                  <a16:creationId xmlns:a16="http://schemas.microsoft.com/office/drawing/2014/main" id="{0CDC854D-A217-424C-8957-FCCBC010FB34}"/>
                </a:ext>
              </a:extLst>
            </p:cNvPr>
            <p:cNvSpPr>
              <a:spLocks noChangeShapeType="1"/>
            </p:cNvSpPr>
            <p:nvPr/>
          </p:nvSpPr>
          <p:spPr bwMode="auto">
            <a:xfrm>
              <a:off x="3547943" y="3940381"/>
              <a:ext cx="0" cy="28149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8" name="Line 25">
              <a:extLst>
                <a:ext uri="{FF2B5EF4-FFF2-40B4-BE49-F238E27FC236}">
                  <a16:creationId xmlns:a16="http://schemas.microsoft.com/office/drawing/2014/main" id="{CE54ABE7-7F1F-4161-8DA2-44588704524B}"/>
                </a:ext>
              </a:extLst>
            </p:cNvPr>
            <p:cNvSpPr>
              <a:spLocks noChangeShapeType="1"/>
            </p:cNvSpPr>
            <p:nvPr/>
          </p:nvSpPr>
          <p:spPr bwMode="auto">
            <a:xfrm>
              <a:off x="3547943" y="3150496"/>
              <a:ext cx="0" cy="358263"/>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59" name="Line 26">
              <a:extLst>
                <a:ext uri="{FF2B5EF4-FFF2-40B4-BE49-F238E27FC236}">
                  <a16:creationId xmlns:a16="http://schemas.microsoft.com/office/drawing/2014/main" id="{90831B8E-A5E8-417C-A137-FAD6919E83F5}"/>
                </a:ext>
              </a:extLst>
            </p:cNvPr>
            <p:cNvSpPr>
              <a:spLocks noChangeShapeType="1"/>
            </p:cNvSpPr>
            <p:nvPr/>
          </p:nvSpPr>
          <p:spPr bwMode="auto">
            <a:xfrm>
              <a:off x="2027400" y="2398144"/>
              <a:ext cx="207797" cy="300259"/>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60" name="Line 27">
              <a:extLst>
                <a:ext uri="{FF2B5EF4-FFF2-40B4-BE49-F238E27FC236}">
                  <a16:creationId xmlns:a16="http://schemas.microsoft.com/office/drawing/2014/main" id="{B3D867CB-3004-41D0-A12E-D9EBA6420121}"/>
                </a:ext>
              </a:extLst>
            </p:cNvPr>
            <p:cNvSpPr>
              <a:spLocks noChangeShapeType="1"/>
            </p:cNvSpPr>
            <p:nvPr/>
          </p:nvSpPr>
          <p:spPr bwMode="auto">
            <a:xfrm>
              <a:off x="3547943" y="2391320"/>
              <a:ext cx="0" cy="283198"/>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61" name="Line 28">
              <a:extLst>
                <a:ext uri="{FF2B5EF4-FFF2-40B4-BE49-F238E27FC236}">
                  <a16:creationId xmlns:a16="http://schemas.microsoft.com/office/drawing/2014/main" id="{D0952610-A66D-4893-BAD8-F3C2B0DBC7FB}"/>
                </a:ext>
              </a:extLst>
            </p:cNvPr>
            <p:cNvSpPr>
              <a:spLocks noChangeShapeType="1"/>
            </p:cNvSpPr>
            <p:nvPr/>
          </p:nvSpPr>
          <p:spPr bwMode="auto">
            <a:xfrm flipV="1">
              <a:off x="4741948" y="2375965"/>
              <a:ext cx="166568" cy="296847"/>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62" name="Rectangle 29">
              <a:extLst>
                <a:ext uri="{FF2B5EF4-FFF2-40B4-BE49-F238E27FC236}">
                  <a16:creationId xmlns:a16="http://schemas.microsoft.com/office/drawing/2014/main" id="{21AFB312-7251-49B3-BD29-617C214F69F7}"/>
                </a:ext>
              </a:extLst>
            </p:cNvPr>
            <p:cNvSpPr>
              <a:spLocks noChangeArrowheads="1"/>
            </p:cNvSpPr>
            <p:nvPr/>
          </p:nvSpPr>
          <p:spPr bwMode="auto">
            <a:xfrm>
              <a:off x="3007012" y="5849411"/>
              <a:ext cx="1073545" cy="514738"/>
            </a:xfrm>
            <a:prstGeom prst="rect">
              <a:avLst/>
            </a:prstGeom>
            <a:no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400" b="1" baseline="0" dirty="0">
                  <a:solidFill>
                    <a:schemeClr val="bg1"/>
                  </a:solidFill>
                  <a:latin typeface="宋体" panose="02010600030101010101" pitchFamily="2" charset="-122"/>
                </a:rPr>
                <a:t>数据库</a:t>
              </a:r>
            </a:p>
          </p:txBody>
        </p:sp>
        <p:sp>
          <p:nvSpPr>
            <p:cNvPr id="63" name="Rectangle 30">
              <a:extLst>
                <a:ext uri="{FF2B5EF4-FFF2-40B4-BE49-F238E27FC236}">
                  <a16:creationId xmlns:a16="http://schemas.microsoft.com/office/drawing/2014/main" id="{B67A919F-BDE9-4292-92CA-A06B9FE6A57A}"/>
                </a:ext>
              </a:extLst>
            </p:cNvPr>
            <p:cNvSpPr>
              <a:spLocks noChangeArrowheads="1"/>
            </p:cNvSpPr>
            <p:nvPr/>
          </p:nvSpPr>
          <p:spPr bwMode="auto">
            <a:xfrm>
              <a:off x="614053" y="4919633"/>
              <a:ext cx="1301172" cy="57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en-US" altLang="zh-CN" sz="2800" b="1" baseline="0" dirty="0">
                  <a:solidFill>
                    <a:srgbClr val="FFFF00"/>
                  </a:solidFill>
                  <a:latin typeface="Arial Black" panose="020B0A04020102020204" pitchFamily="34" charset="0"/>
                </a:rPr>
                <a:t>DBMS</a:t>
              </a:r>
            </a:p>
          </p:txBody>
        </p:sp>
      </p:grpSp>
    </p:spTree>
    <p:extLst>
      <p:ext uri="{BB962C8B-B14F-4D97-AF65-F5344CB8AC3E}">
        <p14:creationId xmlns:p14="http://schemas.microsoft.com/office/powerpoint/2010/main" val="29896964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50606B5F-8E17-401E-934A-C54810A1D09E}"/>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5400" b="1" dirty="0">
                <a:latin typeface="Microsoft Yahei" panose="020B0503020204020204" pitchFamily="34" charset="-122"/>
                <a:ea typeface="Microsoft Yahei" panose="020B0503020204020204" pitchFamily="34" charset="-122"/>
                <a:sym typeface="Microsoft Yahei" panose="020B0503020204020204" pitchFamily="34" charset="-122"/>
              </a:rPr>
              <a:t>两级映像是哪两级映像？</a:t>
            </a:r>
          </a:p>
        </p:txBody>
      </p:sp>
      <p:sp>
        <p:nvSpPr>
          <p:cNvPr id="8" name="矩形: 圆角 7">
            <a:extLst>
              <a:ext uri="{FF2B5EF4-FFF2-40B4-BE49-F238E27FC236}">
                <a16:creationId xmlns:a16="http://schemas.microsoft.com/office/drawing/2014/main" id="{4075BD08-21EE-4946-83CD-E6F5E54649FD}"/>
              </a:ext>
            </a:extLst>
          </p:cNvPr>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3" name="组合 12">
            <a:extLst>
              <a:ext uri="{FF2B5EF4-FFF2-40B4-BE49-F238E27FC236}">
                <a16:creationId xmlns:a16="http://schemas.microsoft.com/office/drawing/2014/main" id="{4A3CE3FE-7BB9-47F6-BB68-5B8A216406E7}"/>
              </a:ext>
            </a:extLst>
          </p:cNvPr>
          <p:cNvGrpSpPr/>
          <p:nvPr>
            <p:custDataLst>
              <p:tags r:id="rId4"/>
            </p:custDataLst>
          </p:nvPr>
        </p:nvGrpSpPr>
        <p:grpSpPr>
          <a:xfrm>
            <a:off x="0" y="0"/>
            <a:ext cx="12192000" cy="635000"/>
            <a:chOff x="0" y="0"/>
            <a:chExt cx="12192000" cy="635000"/>
          </a:xfrm>
        </p:grpSpPr>
        <p:sp>
          <p:nvSpPr>
            <p:cNvPr id="9" name="TitleBackground">
              <a:extLst>
                <a:ext uri="{FF2B5EF4-FFF2-40B4-BE49-F238E27FC236}">
                  <a16:creationId xmlns:a16="http://schemas.microsoft.com/office/drawing/2014/main" id="{9C936D4C-5A07-40AD-AA8A-6ED93FED3168}"/>
                </a:ext>
              </a:extLst>
            </p:cNvPr>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0" name="ColorBlock">
              <a:extLst>
                <a:ext uri="{FF2B5EF4-FFF2-40B4-BE49-F238E27FC236}">
                  <a16:creationId xmlns:a16="http://schemas.microsoft.com/office/drawing/2014/main" id="{4C18DA41-8512-4757-B6CD-816A2B904FAD}"/>
                </a:ext>
              </a:extLst>
            </p:cNvPr>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1" name="TypeText">
              <a:extLst>
                <a:ext uri="{FF2B5EF4-FFF2-40B4-BE49-F238E27FC236}">
                  <a16:creationId xmlns:a16="http://schemas.microsoft.com/office/drawing/2014/main" id="{EA6DC7B4-4A26-44F6-A297-9785AD363612}"/>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2" name="TipText">
              <a:extLst>
                <a:ext uri="{FF2B5EF4-FFF2-40B4-BE49-F238E27FC236}">
                  <a16:creationId xmlns:a16="http://schemas.microsoft.com/office/drawing/2014/main" id="{6D5013ED-A4EE-4148-80B2-BABCCCF91D1E}"/>
                </a:ext>
              </a:extLst>
            </p:cNvPr>
            <p:cNvSpPr txBox="1"/>
            <p:nvPr>
              <p:custDataLst>
                <p:tags r:id="rId9"/>
              </p:custDataLst>
            </p:nvPr>
          </p:nvSpPr>
          <p:spPr>
            <a:xfrm>
              <a:off x="116395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6" name="图片 5">
            <a:extLst>
              <a:ext uri="{FF2B5EF4-FFF2-40B4-BE49-F238E27FC236}">
                <a16:creationId xmlns:a16="http://schemas.microsoft.com/office/drawing/2014/main" id="{ADC91D59-7998-45DD-B651-BA1813623638}"/>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5257980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539203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数据库系统的模式结构</a:t>
            </a:r>
          </a:p>
        </p:txBody>
      </p:sp>
      <p:sp>
        <p:nvSpPr>
          <p:cNvPr id="31" name="WordArt 8"/>
          <p:cNvSpPr>
            <a:spLocks noChangeArrowheads="1" noChangeShapeType="1" noTextEdit="1"/>
          </p:cNvSpPr>
          <p:nvPr/>
        </p:nvSpPr>
        <p:spPr bwMode="auto">
          <a:xfrm>
            <a:off x="7985882" y="1299642"/>
            <a:ext cx="3183360" cy="680699"/>
          </a:xfrm>
          <a:prstGeom prst="rect">
            <a:avLst/>
          </a:prstGeom>
        </p:spPr>
        <p:txBody>
          <a:bodyPr wrap="none" fromWordArt="1">
            <a:prstTxWarp prst="textPlain">
              <a:avLst>
                <a:gd name="adj" fmla="val 50000"/>
              </a:avLst>
            </a:prstTxWarp>
          </a:bodyPr>
          <a:lstStyle/>
          <a:p>
            <a:pPr algn="ctr">
              <a:defRPr/>
            </a:pPr>
            <a:r>
              <a:rPr lang="zh-CN" altLang="en-US" sz="6000" b="1" kern="10" dirty="0">
                <a:ln w="9525">
                  <a:solidFill>
                    <a:schemeClr val="bg1"/>
                  </a:solidFill>
                  <a:prstDash val="solid"/>
                </a:ln>
                <a:effectLst>
                  <a:outerShdw blurRad="12700" dist="38100" dir="2700000" algn="tl" rotWithShape="0">
                    <a:schemeClr val="bg1">
                      <a:lumMod val="50000"/>
                    </a:schemeClr>
                  </a:outerShdw>
                </a:effectLst>
                <a:latin typeface="微软雅黑" panose="020B0503020204020204" pitchFamily="34" charset="-122"/>
                <a:ea typeface="微软雅黑" panose="020B0503020204020204" pitchFamily="34" charset="-122"/>
              </a:rPr>
              <a:t>三级模式</a:t>
            </a:r>
          </a:p>
        </p:txBody>
      </p:sp>
      <p:sp>
        <p:nvSpPr>
          <p:cNvPr id="32" name="WordArt 8"/>
          <p:cNvSpPr>
            <a:spLocks noChangeArrowheads="1" noChangeShapeType="1" noTextEdit="1"/>
          </p:cNvSpPr>
          <p:nvPr/>
        </p:nvSpPr>
        <p:spPr bwMode="auto">
          <a:xfrm>
            <a:off x="7985882" y="2348667"/>
            <a:ext cx="3183360" cy="680699"/>
          </a:xfrm>
          <a:prstGeom prst="rect">
            <a:avLst/>
          </a:prstGeom>
        </p:spPr>
        <p:txBody>
          <a:bodyPr wrap="none" fromWordArt="1">
            <a:prstTxWarp prst="textPlain">
              <a:avLst>
                <a:gd name="adj" fmla="val 50000"/>
              </a:avLst>
            </a:prstTxWarp>
          </a:bodyPr>
          <a:lstStyle/>
          <a:p>
            <a:pPr algn="ctr">
              <a:defRPr/>
            </a:pPr>
            <a:r>
              <a:rPr lang="zh-CN" altLang="en-US" sz="6000" b="1" kern="10" dirty="0">
                <a:ln w="9525">
                  <a:solidFill>
                    <a:schemeClr val="bg1"/>
                  </a:solidFill>
                  <a:prstDash val="solid"/>
                </a:ln>
                <a:effectLst>
                  <a:outerShdw blurRad="12700" dist="38100" dir="2700000" algn="tl" rotWithShape="0">
                    <a:schemeClr val="bg1">
                      <a:lumMod val="50000"/>
                    </a:schemeClr>
                  </a:outerShdw>
                </a:effectLst>
                <a:latin typeface="微软雅黑" panose="020B0503020204020204" pitchFamily="34" charset="-122"/>
                <a:ea typeface="微软雅黑" panose="020B0503020204020204" pitchFamily="34" charset="-122"/>
              </a:rPr>
              <a:t>两级映象</a:t>
            </a:r>
          </a:p>
        </p:txBody>
      </p:sp>
      <p:sp>
        <p:nvSpPr>
          <p:cNvPr id="34" name="WordArt 8"/>
          <p:cNvSpPr>
            <a:spLocks noChangeArrowheads="1" noChangeShapeType="1" noTextEdit="1"/>
          </p:cNvSpPr>
          <p:nvPr/>
        </p:nvSpPr>
        <p:spPr bwMode="auto">
          <a:xfrm>
            <a:off x="7484472" y="4811735"/>
            <a:ext cx="4370446" cy="792088"/>
          </a:xfrm>
          <a:prstGeom prst="rect">
            <a:avLst/>
          </a:prstGeom>
        </p:spPr>
        <p:txBody>
          <a:bodyPr wrap="none" fromWordArt="1">
            <a:prstTxWarp prst="textPlain">
              <a:avLst>
                <a:gd name="adj" fmla="val 50000"/>
              </a:avLst>
            </a:prstTxWarp>
          </a:bodyPr>
          <a:lstStyle/>
          <a:p>
            <a:pPr algn="ctr">
              <a:defRPr/>
            </a:pPr>
            <a:r>
              <a:rPr lang="zh-CN" altLang="en-US" sz="6000" b="1" kern="10" dirty="0">
                <a:ln w="28575">
                  <a:solidFill>
                    <a:schemeClr val="tx1"/>
                  </a:solidFill>
                  <a:prstDash val="solid"/>
                </a:ln>
                <a:solidFill>
                  <a:srgbClr val="FF6600"/>
                </a:solidFill>
                <a:effectLst>
                  <a:outerShdw blurRad="12700" dist="38100" dir="2700000" algn="tl" rotWithShape="0">
                    <a:schemeClr val="bg1">
                      <a:lumMod val="50000"/>
                    </a:schemeClr>
                  </a:outerShdw>
                </a:effectLst>
                <a:latin typeface="微软雅黑" panose="020B0503020204020204" pitchFamily="34" charset="-122"/>
                <a:ea typeface="微软雅黑" panose="020B0503020204020204" pitchFamily="34" charset="-122"/>
              </a:rPr>
              <a:t>数据独立性</a:t>
            </a:r>
          </a:p>
        </p:txBody>
      </p:sp>
      <p:sp>
        <p:nvSpPr>
          <p:cNvPr id="2" name="下箭头 1"/>
          <p:cNvSpPr/>
          <p:nvPr/>
        </p:nvSpPr>
        <p:spPr bwMode="auto">
          <a:xfrm>
            <a:off x="9264352" y="3508759"/>
            <a:ext cx="648072" cy="959633"/>
          </a:xfrm>
          <a:prstGeom prst="downArrow">
            <a:avLst/>
          </a:prstGeom>
          <a:ln>
            <a:headEnd type="none" w="med" len="med"/>
            <a:tailEnd type="none" w="med" len="med"/>
          </a:ln>
          <a:effectLst>
            <a:outerShdw blurRad="63500" sx="102000" sy="102000" algn="ct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grpSp>
        <p:nvGrpSpPr>
          <p:cNvPr id="62" name="组合 61">
            <a:extLst>
              <a:ext uri="{FF2B5EF4-FFF2-40B4-BE49-F238E27FC236}">
                <a16:creationId xmlns:a16="http://schemas.microsoft.com/office/drawing/2014/main" id="{33A39460-2363-4BB6-8FE0-C7EC8128474F}"/>
              </a:ext>
            </a:extLst>
          </p:cNvPr>
          <p:cNvGrpSpPr/>
          <p:nvPr/>
        </p:nvGrpSpPr>
        <p:grpSpPr>
          <a:xfrm>
            <a:off x="551384" y="1052737"/>
            <a:ext cx="6121752" cy="5400603"/>
            <a:chOff x="551384" y="1052737"/>
            <a:chExt cx="6121752" cy="5400603"/>
          </a:xfrm>
        </p:grpSpPr>
        <p:sp>
          <p:nvSpPr>
            <p:cNvPr id="63" name="Rectangle 5">
              <a:extLst>
                <a:ext uri="{FF2B5EF4-FFF2-40B4-BE49-F238E27FC236}">
                  <a16:creationId xmlns:a16="http://schemas.microsoft.com/office/drawing/2014/main" id="{E3A80138-8044-42A3-BD95-EEC69DF750A8}"/>
                </a:ext>
              </a:extLst>
            </p:cNvPr>
            <p:cNvSpPr>
              <a:spLocks noChangeArrowheads="1"/>
            </p:cNvSpPr>
            <p:nvPr/>
          </p:nvSpPr>
          <p:spPr bwMode="auto">
            <a:xfrm>
              <a:off x="551384" y="1852219"/>
              <a:ext cx="6121752" cy="3763468"/>
            </a:xfrm>
            <a:prstGeom prst="rect">
              <a:avLst/>
            </a:prstGeom>
            <a:noFill/>
            <a:ln w="12700">
              <a:solidFill>
                <a:schemeClr val="hlink"/>
              </a:solidFill>
              <a:prstDash val="dashDot"/>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p>
              <a:r>
                <a:rPr lang="zh-CN" altLang="en-US" sz="2400" baseline="0">
                  <a:latin typeface="宋体" panose="02010600030101010101" pitchFamily="2" charset="-122"/>
                </a:rPr>
                <a:t> </a:t>
              </a:r>
            </a:p>
          </p:txBody>
        </p:sp>
        <p:sp>
          <p:nvSpPr>
            <p:cNvPr id="64" name="Rectangle 6">
              <a:extLst>
                <a:ext uri="{FF2B5EF4-FFF2-40B4-BE49-F238E27FC236}">
                  <a16:creationId xmlns:a16="http://schemas.microsoft.com/office/drawing/2014/main" id="{ECCC6F49-1C50-4603-AC3F-3990622A07F6}"/>
                </a:ext>
              </a:extLst>
            </p:cNvPr>
            <p:cNvSpPr>
              <a:spLocks noChangeArrowheads="1"/>
            </p:cNvSpPr>
            <p:nvPr/>
          </p:nvSpPr>
          <p:spPr bwMode="auto">
            <a:xfrm>
              <a:off x="553574" y="1052737"/>
              <a:ext cx="1085444"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应用</a:t>
              </a:r>
              <a:r>
                <a:rPr lang="en-US" altLang="zh-CN" sz="2400" b="1" baseline="0" dirty="0">
                  <a:latin typeface="宋体" panose="02010600030101010101" pitchFamily="2" charset="-122"/>
                </a:rPr>
                <a:t>A</a:t>
              </a:r>
            </a:p>
          </p:txBody>
        </p:sp>
        <p:sp>
          <p:nvSpPr>
            <p:cNvPr id="65" name="Rectangle 7">
              <a:extLst>
                <a:ext uri="{FF2B5EF4-FFF2-40B4-BE49-F238E27FC236}">
                  <a16:creationId xmlns:a16="http://schemas.microsoft.com/office/drawing/2014/main" id="{65D29DE2-B2B2-4A01-88AA-08AA110A20A1}"/>
                </a:ext>
              </a:extLst>
            </p:cNvPr>
            <p:cNvSpPr>
              <a:spLocks noChangeArrowheads="1"/>
            </p:cNvSpPr>
            <p:nvPr/>
          </p:nvSpPr>
          <p:spPr bwMode="auto">
            <a:xfrm>
              <a:off x="1958134" y="1057858"/>
              <a:ext cx="1062071"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应用</a:t>
              </a:r>
              <a:r>
                <a:rPr lang="en-US" altLang="zh-CN" sz="2400" b="1" baseline="0" dirty="0">
                  <a:latin typeface="宋体" panose="02010600030101010101" pitchFamily="2" charset="-122"/>
                </a:rPr>
                <a:t>B</a:t>
              </a:r>
            </a:p>
          </p:txBody>
        </p:sp>
        <p:sp>
          <p:nvSpPr>
            <p:cNvPr id="66" name="Rectangle 8">
              <a:extLst>
                <a:ext uri="{FF2B5EF4-FFF2-40B4-BE49-F238E27FC236}">
                  <a16:creationId xmlns:a16="http://schemas.microsoft.com/office/drawing/2014/main" id="{B9FD0FA0-5FB6-48DC-9519-F75FB6DE96F1}"/>
                </a:ext>
              </a:extLst>
            </p:cNvPr>
            <p:cNvSpPr>
              <a:spLocks noChangeArrowheads="1"/>
            </p:cNvSpPr>
            <p:nvPr/>
          </p:nvSpPr>
          <p:spPr bwMode="auto">
            <a:xfrm>
              <a:off x="4809564" y="1052737"/>
              <a:ext cx="1340783"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a:latin typeface="宋体" panose="02010600030101010101" pitchFamily="2" charset="-122"/>
                </a:rPr>
                <a:t>应用</a:t>
              </a:r>
              <a:r>
                <a:rPr lang="en-US" altLang="zh-CN" sz="2400" b="1" baseline="0">
                  <a:latin typeface="宋体" panose="02010600030101010101" pitchFamily="2" charset="-122"/>
                </a:rPr>
                <a:t>n</a:t>
              </a:r>
            </a:p>
          </p:txBody>
        </p:sp>
        <p:sp>
          <p:nvSpPr>
            <p:cNvPr id="67" name="Rectangle 9">
              <a:extLst>
                <a:ext uri="{FF2B5EF4-FFF2-40B4-BE49-F238E27FC236}">
                  <a16:creationId xmlns:a16="http://schemas.microsoft.com/office/drawing/2014/main" id="{FFA433C4-1A31-438E-B033-91E891D7DDF7}"/>
                </a:ext>
              </a:extLst>
            </p:cNvPr>
            <p:cNvSpPr>
              <a:spLocks noChangeArrowheads="1"/>
            </p:cNvSpPr>
            <p:nvPr/>
          </p:nvSpPr>
          <p:spPr bwMode="auto">
            <a:xfrm>
              <a:off x="3330251" y="1057858"/>
              <a:ext cx="1062071" cy="467448"/>
            </a:xfrm>
            <a:prstGeom prst="rect">
              <a:avLst/>
            </a:prstGeom>
            <a:solidFill>
              <a:schemeClr val="bg1"/>
            </a:solidFill>
            <a:ln w="28575">
              <a:solidFill>
                <a:schemeClr val="accent3">
                  <a:lumMod val="20000"/>
                  <a:lumOff val="80000"/>
                </a:schemeClr>
              </a:solidFill>
              <a:miter lim="800000"/>
              <a:headEnd/>
              <a:tailEnd/>
            </a:ln>
          </p:spPr>
          <p:txBody>
            <a:bodyPr/>
            <a:lstStyle/>
            <a:p>
              <a:pPr algn="ctr" eaLnBrk="0" hangingPunct="0"/>
              <a:r>
                <a:rPr lang="zh-CN" altLang="en-US" sz="2400" b="1" baseline="0" dirty="0">
                  <a:latin typeface="宋体" panose="02010600030101010101" pitchFamily="2" charset="-122"/>
                </a:rPr>
                <a:t>……</a:t>
              </a:r>
            </a:p>
          </p:txBody>
        </p:sp>
        <p:sp>
          <p:nvSpPr>
            <p:cNvPr id="68" name="Rectangle 10">
              <a:extLst>
                <a:ext uri="{FF2B5EF4-FFF2-40B4-BE49-F238E27FC236}">
                  <a16:creationId xmlns:a16="http://schemas.microsoft.com/office/drawing/2014/main" id="{720E5DB0-9219-424F-9053-1B90B0496DD4}"/>
                </a:ext>
              </a:extLst>
            </p:cNvPr>
            <p:cNvSpPr>
              <a:spLocks noChangeArrowheads="1"/>
            </p:cNvSpPr>
            <p:nvPr/>
          </p:nvSpPr>
          <p:spPr bwMode="auto">
            <a:xfrm>
              <a:off x="912555" y="1959697"/>
              <a:ext cx="1436435" cy="443564"/>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dirty="0">
                  <a:solidFill>
                    <a:schemeClr val="bg1"/>
                  </a:solidFill>
                  <a:latin typeface="宋体" panose="02010600030101010101" pitchFamily="2" charset="-122"/>
                </a:rPr>
                <a:t>外模式1</a:t>
              </a:r>
            </a:p>
          </p:txBody>
        </p:sp>
        <p:sp>
          <p:nvSpPr>
            <p:cNvPr id="69" name="Rectangle 11">
              <a:extLst>
                <a:ext uri="{FF2B5EF4-FFF2-40B4-BE49-F238E27FC236}">
                  <a16:creationId xmlns:a16="http://schemas.microsoft.com/office/drawing/2014/main" id="{D2069B46-2C8F-406C-801C-9DD14B3A985D}"/>
                </a:ext>
              </a:extLst>
            </p:cNvPr>
            <p:cNvSpPr>
              <a:spLocks noChangeArrowheads="1"/>
            </p:cNvSpPr>
            <p:nvPr/>
          </p:nvSpPr>
          <p:spPr bwMode="auto">
            <a:xfrm>
              <a:off x="2800864" y="1959697"/>
              <a:ext cx="1489209" cy="431621"/>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a:solidFill>
                    <a:schemeClr val="bg1"/>
                  </a:solidFill>
                  <a:latin typeface="宋体" panose="02010600030101010101" pitchFamily="2" charset="-122"/>
                </a:rPr>
                <a:t>……</a:t>
              </a:r>
            </a:p>
          </p:txBody>
        </p:sp>
        <p:sp>
          <p:nvSpPr>
            <p:cNvPr id="70" name="Rectangle 12">
              <a:extLst>
                <a:ext uri="{FF2B5EF4-FFF2-40B4-BE49-F238E27FC236}">
                  <a16:creationId xmlns:a16="http://schemas.microsoft.com/office/drawing/2014/main" id="{778548CE-3B58-43CE-A716-7D8CB06454F5}"/>
                </a:ext>
              </a:extLst>
            </p:cNvPr>
            <p:cNvSpPr>
              <a:spLocks noChangeArrowheads="1"/>
            </p:cNvSpPr>
            <p:nvPr/>
          </p:nvSpPr>
          <p:spPr bwMode="auto">
            <a:xfrm>
              <a:off x="4512712" y="1959697"/>
              <a:ext cx="1786061" cy="431621"/>
            </a:xfrm>
            <a:prstGeom prst="rect">
              <a:avLst/>
            </a:prstGeom>
            <a:solidFill>
              <a:schemeClr val="hlink"/>
            </a:solidFill>
            <a:ln w="28575">
              <a:solidFill>
                <a:srgbClr val="FFFFFF"/>
              </a:solidFill>
              <a:miter lim="800000"/>
              <a:headEnd/>
              <a:tailEnd/>
            </a:ln>
          </p:spPr>
          <p:txBody>
            <a:bodyPr/>
            <a:lstStyle/>
            <a:p>
              <a:pPr algn="ctr" eaLnBrk="0" hangingPunct="0"/>
              <a:r>
                <a:rPr lang="zh-CN" altLang="en-US" sz="2400" b="1" baseline="0">
                  <a:solidFill>
                    <a:schemeClr val="bg1"/>
                  </a:solidFill>
                  <a:latin typeface="宋体" panose="02010600030101010101" pitchFamily="2" charset="-122"/>
                </a:rPr>
                <a:t>外模式</a:t>
              </a:r>
              <a:r>
                <a:rPr lang="en-US" altLang="zh-CN" sz="2400" b="1" baseline="0">
                  <a:solidFill>
                    <a:schemeClr val="bg1"/>
                  </a:solidFill>
                  <a:latin typeface="宋体" panose="02010600030101010101" pitchFamily="2" charset="-122"/>
                </a:rPr>
                <a:t>m</a:t>
              </a:r>
            </a:p>
          </p:txBody>
        </p:sp>
        <p:sp>
          <p:nvSpPr>
            <p:cNvPr id="71" name="AutoShape 13">
              <a:extLst>
                <a:ext uri="{FF2B5EF4-FFF2-40B4-BE49-F238E27FC236}">
                  <a16:creationId xmlns:a16="http://schemas.microsoft.com/office/drawing/2014/main" id="{C36E0986-49BE-478B-AF39-4A5CB518866B}"/>
                </a:ext>
              </a:extLst>
            </p:cNvPr>
            <p:cNvSpPr>
              <a:spLocks noChangeArrowheads="1"/>
            </p:cNvSpPr>
            <p:nvPr/>
          </p:nvSpPr>
          <p:spPr bwMode="auto">
            <a:xfrm>
              <a:off x="1611807" y="2674518"/>
              <a:ext cx="3718899" cy="475978"/>
            </a:xfrm>
            <a:prstGeom prst="roundRect">
              <a:avLst>
                <a:gd name="adj" fmla="val 16667"/>
              </a:avLst>
            </a:prstGeom>
            <a:solidFill>
              <a:schemeClr val="accent1"/>
            </a:solidFill>
            <a:ln w="28575">
              <a:solidFill>
                <a:srgbClr val="FFFFFF"/>
              </a:solidFill>
              <a:round/>
              <a:headEnd/>
              <a:tailEnd/>
            </a:ln>
          </p:spPr>
          <p:txBody>
            <a:bodyPr/>
            <a:lstStyle/>
            <a:p>
              <a:pPr algn="ctr" eaLnBrk="0" hangingPunct="0"/>
              <a:r>
                <a:rPr lang="zh-CN" altLang="en-US" sz="2400" b="1" baseline="0">
                  <a:solidFill>
                    <a:schemeClr val="bg1"/>
                  </a:solidFill>
                  <a:latin typeface="宋体" panose="02010600030101010101" pitchFamily="2" charset="-122"/>
                </a:rPr>
                <a:t>子模式/模式映象</a:t>
              </a:r>
            </a:p>
          </p:txBody>
        </p:sp>
        <p:sp>
          <p:nvSpPr>
            <p:cNvPr id="72" name="AutoShape 14">
              <a:extLst>
                <a:ext uri="{FF2B5EF4-FFF2-40B4-BE49-F238E27FC236}">
                  <a16:creationId xmlns:a16="http://schemas.microsoft.com/office/drawing/2014/main" id="{26F795A7-F945-4C2C-A83C-B9C5F1612F0F}"/>
                </a:ext>
              </a:extLst>
            </p:cNvPr>
            <p:cNvSpPr>
              <a:spLocks noChangeArrowheads="1"/>
            </p:cNvSpPr>
            <p:nvPr/>
          </p:nvSpPr>
          <p:spPr bwMode="auto">
            <a:xfrm>
              <a:off x="2512258" y="3513877"/>
              <a:ext cx="2216496" cy="435033"/>
            </a:xfrm>
            <a:prstGeom prst="flowChartProcess">
              <a:avLst/>
            </a:prstGeom>
            <a:solidFill>
              <a:schemeClr val="hlink"/>
            </a:solidFill>
            <a:ln w="28575">
              <a:solidFill>
                <a:srgbClr val="FFFFFF"/>
              </a:solidFill>
              <a:miter lim="800000"/>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模　式</a:t>
              </a:r>
            </a:p>
          </p:txBody>
        </p:sp>
        <p:sp>
          <p:nvSpPr>
            <p:cNvPr id="73" name="AutoShape 15">
              <a:extLst>
                <a:ext uri="{FF2B5EF4-FFF2-40B4-BE49-F238E27FC236}">
                  <a16:creationId xmlns:a16="http://schemas.microsoft.com/office/drawing/2014/main" id="{D862ECC1-ADCE-4AFC-9913-9A16449C1D45}"/>
                </a:ext>
              </a:extLst>
            </p:cNvPr>
            <p:cNvSpPr>
              <a:spLocks noChangeArrowheads="1"/>
            </p:cNvSpPr>
            <p:nvPr/>
          </p:nvSpPr>
          <p:spPr bwMode="auto">
            <a:xfrm>
              <a:off x="1773426" y="4228697"/>
              <a:ext cx="3689214" cy="479390"/>
            </a:xfrm>
            <a:prstGeom prst="roundRect">
              <a:avLst>
                <a:gd name="adj" fmla="val 16667"/>
              </a:avLst>
            </a:prstGeom>
            <a:solidFill>
              <a:schemeClr val="accent1"/>
            </a:solidFill>
            <a:ln w="28575">
              <a:solidFill>
                <a:srgbClr val="FFFFFF"/>
              </a:solidFill>
              <a:round/>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模式/内模式映象</a:t>
              </a:r>
            </a:p>
          </p:txBody>
        </p:sp>
        <p:sp>
          <p:nvSpPr>
            <p:cNvPr id="74" name="AutoShape 16">
              <a:extLst>
                <a:ext uri="{FF2B5EF4-FFF2-40B4-BE49-F238E27FC236}">
                  <a16:creationId xmlns:a16="http://schemas.microsoft.com/office/drawing/2014/main" id="{883C1898-1BD4-4946-AFDF-FF0C93EEA371}"/>
                </a:ext>
              </a:extLst>
            </p:cNvPr>
            <p:cNvSpPr>
              <a:spLocks noChangeArrowheads="1"/>
            </p:cNvSpPr>
            <p:nvPr/>
          </p:nvSpPr>
          <p:spPr bwMode="auto">
            <a:xfrm>
              <a:off x="2512258" y="5061232"/>
              <a:ext cx="2216496" cy="433328"/>
            </a:xfrm>
            <a:prstGeom prst="flowChartProcess">
              <a:avLst/>
            </a:prstGeom>
            <a:solidFill>
              <a:schemeClr val="hlink"/>
            </a:solidFill>
            <a:ln w="28575">
              <a:solidFill>
                <a:srgbClr val="FFFFFF"/>
              </a:solidFill>
              <a:miter lim="800000"/>
              <a:headEnd/>
              <a:tailEnd/>
            </a:ln>
          </p:spPr>
          <p:txBody>
            <a:bodyPr tIns="0" bIns="0" anchor="ctr" anchorCtr="1"/>
            <a:lstStyle/>
            <a:p>
              <a:pPr algn="ctr" eaLnBrk="0" hangingPunct="0"/>
              <a:r>
                <a:rPr lang="zh-CN" altLang="en-US" sz="2400" b="1" baseline="0">
                  <a:solidFill>
                    <a:schemeClr val="bg1"/>
                  </a:solidFill>
                  <a:latin typeface="宋体" panose="02010600030101010101" pitchFamily="2" charset="-122"/>
                </a:rPr>
                <a:t>内　模　式</a:t>
              </a:r>
            </a:p>
          </p:txBody>
        </p:sp>
        <p:sp>
          <p:nvSpPr>
            <p:cNvPr id="75" name="AutoShape 17">
              <a:extLst>
                <a:ext uri="{FF2B5EF4-FFF2-40B4-BE49-F238E27FC236}">
                  <a16:creationId xmlns:a16="http://schemas.microsoft.com/office/drawing/2014/main" id="{074B0F27-1E19-4D35-B432-D9E9538209AD}"/>
                </a:ext>
              </a:extLst>
            </p:cNvPr>
            <p:cNvSpPr>
              <a:spLocks noChangeArrowheads="1"/>
            </p:cNvSpPr>
            <p:nvPr/>
          </p:nvSpPr>
          <p:spPr bwMode="auto">
            <a:xfrm>
              <a:off x="2357235" y="5769229"/>
              <a:ext cx="2379766" cy="684111"/>
            </a:xfrm>
            <a:prstGeom prst="can">
              <a:avLst>
                <a:gd name="adj" fmla="val 50000"/>
              </a:avLst>
            </a:prstGeom>
            <a:solidFill>
              <a:srgbClr val="66FFCC"/>
            </a:solidFill>
            <a:ln w="28575">
              <a:solidFill>
                <a:srgbClr val="FFFFFF"/>
              </a:solidFill>
              <a:round/>
              <a:headEnd/>
              <a:tailEnd/>
            </a:ln>
          </p:spPr>
          <p:txBody>
            <a:bodyPr tIns="190800"/>
            <a:lstStyle/>
            <a:p>
              <a:pPr algn="ctr" eaLnBrk="0" hangingPunct="0"/>
              <a:endParaRPr lang="zh-CN" altLang="en-US" sz="2400" b="1" baseline="0">
                <a:latin typeface="宋体" panose="02010600030101010101" pitchFamily="2" charset="-122"/>
              </a:endParaRPr>
            </a:p>
          </p:txBody>
        </p:sp>
        <p:sp>
          <p:nvSpPr>
            <p:cNvPr id="76" name="Line 18">
              <a:extLst>
                <a:ext uri="{FF2B5EF4-FFF2-40B4-BE49-F238E27FC236}">
                  <a16:creationId xmlns:a16="http://schemas.microsoft.com/office/drawing/2014/main" id="{2F98CF4C-C1EC-4EA0-9EE7-FAD348F853D7}"/>
                </a:ext>
              </a:extLst>
            </p:cNvPr>
            <p:cNvSpPr>
              <a:spLocks noChangeShapeType="1"/>
            </p:cNvSpPr>
            <p:nvPr/>
          </p:nvSpPr>
          <p:spPr bwMode="auto">
            <a:xfrm>
              <a:off x="1199456" y="1520185"/>
              <a:ext cx="357928"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77" name="Line 19">
              <a:extLst>
                <a:ext uri="{FF2B5EF4-FFF2-40B4-BE49-F238E27FC236}">
                  <a16:creationId xmlns:a16="http://schemas.microsoft.com/office/drawing/2014/main" id="{F0857F79-6257-4983-8DF0-EC07087E2CF3}"/>
                </a:ext>
              </a:extLst>
            </p:cNvPr>
            <p:cNvSpPr>
              <a:spLocks noChangeShapeType="1"/>
            </p:cNvSpPr>
            <p:nvPr/>
          </p:nvSpPr>
          <p:spPr bwMode="auto">
            <a:xfrm flipH="1">
              <a:off x="2004311" y="1527012"/>
              <a:ext cx="422190" cy="432685"/>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78" name="Line 20">
              <a:extLst>
                <a:ext uri="{FF2B5EF4-FFF2-40B4-BE49-F238E27FC236}">
                  <a16:creationId xmlns:a16="http://schemas.microsoft.com/office/drawing/2014/main" id="{432109CF-F826-4D76-829D-C0B2DD411308}"/>
                </a:ext>
              </a:extLst>
            </p:cNvPr>
            <p:cNvSpPr>
              <a:spLocks noChangeShapeType="1"/>
            </p:cNvSpPr>
            <p:nvPr/>
          </p:nvSpPr>
          <p:spPr bwMode="auto">
            <a:xfrm flipH="1">
              <a:off x="3547943" y="1520185"/>
              <a:ext cx="217690"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79" name="Line 21">
              <a:extLst>
                <a:ext uri="{FF2B5EF4-FFF2-40B4-BE49-F238E27FC236}">
                  <a16:creationId xmlns:a16="http://schemas.microsoft.com/office/drawing/2014/main" id="{F3E80D41-1E1B-40FB-ABAA-7AD1F771FEEC}"/>
                </a:ext>
              </a:extLst>
            </p:cNvPr>
            <p:cNvSpPr>
              <a:spLocks noChangeShapeType="1"/>
            </p:cNvSpPr>
            <p:nvPr/>
          </p:nvSpPr>
          <p:spPr bwMode="auto">
            <a:xfrm flipH="1">
              <a:off x="5406567" y="1520185"/>
              <a:ext cx="52773" cy="43951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80" name="Line 22">
              <a:extLst>
                <a:ext uri="{FF2B5EF4-FFF2-40B4-BE49-F238E27FC236}">
                  <a16:creationId xmlns:a16="http://schemas.microsoft.com/office/drawing/2014/main" id="{CA58D20D-6188-4ECC-B100-D61A4DBF354B}"/>
                </a:ext>
              </a:extLst>
            </p:cNvPr>
            <p:cNvSpPr>
              <a:spLocks noChangeShapeType="1"/>
            </p:cNvSpPr>
            <p:nvPr/>
          </p:nvSpPr>
          <p:spPr bwMode="auto">
            <a:xfrm>
              <a:off x="3547943" y="4697851"/>
              <a:ext cx="0" cy="356557"/>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81" name="Line 23">
              <a:extLst>
                <a:ext uri="{FF2B5EF4-FFF2-40B4-BE49-F238E27FC236}">
                  <a16:creationId xmlns:a16="http://schemas.microsoft.com/office/drawing/2014/main" id="{3F7D41A3-D8AE-48CA-AEDE-46CBFD7F6679}"/>
                </a:ext>
              </a:extLst>
            </p:cNvPr>
            <p:cNvSpPr>
              <a:spLocks noChangeShapeType="1"/>
            </p:cNvSpPr>
            <p:nvPr/>
          </p:nvSpPr>
          <p:spPr bwMode="auto">
            <a:xfrm>
              <a:off x="3547943" y="5525268"/>
              <a:ext cx="0" cy="243960"/>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82" name="Line 24">
              <a:extLst>
                <a:ext uri="{FF2B5EF4-FFF2-40B4-BE49-F238E27FC236}">
                  <a16:creationId xmlns:a16="http://schemas.microsoft.com/office/drawing/2014/main" id="{F9F58ED8-DC5A-43DD-BEDA-4BF23C5822F9}"/>
                </a:ext>
              </a:extLst>
            </p:cNvPr>
            <p:cNvSpPr>
              <a:spLocks noChangeShapeType="1"/>
            </p:cNvSpPr>
            <p:nvPr/>
          </p:nvSpPr>
          <p:spPr bwMode="auto">
            <a:xfrm>
              <a:off x="3547943" y="3940381"/>
              <a:ext cx="0" cy="281492"/>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83" name="Line 25">
              <a:extLst>
                <a:ext uri="{FF2B5EF4-FFF2-40B4-BE49-F238E27FC236}">
                  <a16:creationId xmlns:a16="http://schemas.microsoft.com/office/drawing/2014/main" id="{A07BBC63-B598-45EA-8171-A9C8377F3BBC}"/>
                </a:ext>
              </a:extLst>
            </p:cNvPr>
            <p:cNvSpPr>
              <a:spLocks noChangeShapeType="1"/>
            </p:cNvSpPr>
            <p:nvPr/>
          </p:nvSpPr>
          <p:spPr bwMode="auto">
            <a:xfrm>
              <a:off x="3547943" y="3150496"/>
              <a:ext cx="0" cy="358263"/>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84" name="Line 26">
              <a:extLst>
                <a:ext uri="{FF2B5EF4-FFF2-40B4-BE49-F238E27FC236}">
                  <a16:creationId xmlns:a16="http://schemas.microsoft.com/office/drawing/2014/main" id="{01EA20EB-D477-48F3-8D6C-6CAA8B260878}"/>
                </a:ext>
              </a:extLst>
            </p:cNvPr>
            <p:cNvSpPr>
              <a:spLocks noChangeShapeType="1"/>
            </p:cNvSpPr>
            <p:nvPr/>
          </p:nvSpPr>
          <p:spPr bwMode="auto">
            <a:xfrm>
              <a:off x="2027400" y="2398144"/>
              <a:ext cx="207797" cy="300259"/>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85" name="Line 27">
              <a:extLst>
                <a:ext uri="{FF2B5EF4-FFF2-40B4-BE49-F238E27FC236}">
                  <a16:creationId xmlns:a16="http://schemas.microsoft.com/office/drawing/2014/main" id="{C91D09BB-916E-47F7-AA5B-8D20A9DDB9C7}"/>
                </a:ext>
              </a:extLst>
            </p:cNvPr>
            <p:cNvSpPr>
              <a:spLocks noChangeShapeType="1"/>
            </p:cNvSpPr>
            <p:nvPr/>
          </p:nvSpPr>
          <p:spPr bwMode="auto">
            <a:xfrm>
              <a:off x="3547943" y="2391320"/>
              <a:ext cx="0" cy="283198"/>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86" name="Line 28">
              <a:extLst>
                <a:ext uri="{FF2B5EF4-FFF2-40B4-BE49-F238E27FC236}">
                  <a16:creationId xmlns:a16="http://schemas.microsoft.com/office/drawing/2014/main" id="{41619D53-8352-4F5D-81C1-F74500B2BF08}"/>
                </a:ext>
              </a:extLst>
            </p:cNvPr>
            <p:cNvSpPr>
              <a:spLocks noChangeShapeType="1"/>
            </p:cNvSpPr>
            <p:nvPr/>
          </p:nvSpPr>
          <p:spPr bwMode="auto">
            <a:xfrm flipV="1">
              <a:off x="4741948" y="2375965"/>
              <a:ext cx="166568" cy="296847"/>
            </a:xfrm>
            <a:prstGeom prst="line">
              <a:avLst/>
            </a:prstGeom>
            <a:noFill/>
            <a:ln w="28575">
              <a:solidFill>
                <a:srgbClr val="CCFFCC"/>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sz="2400">
                <a:latin typeface="宋体" panose="02010600030101010101" pitchFamily="2" charset="-122"/>
              </a:endParaRPr>
            </a:p>
          </p:txBody>
        </p:sp>
        <p:sp>
          <p:nvSpPr>
            <p:cNvPr id="87" name="Rectangle 29">
              <a:extLst>
                <a:ext uri="{FF2B5EF4-FFF2-40B4-BE49-F238E27FC236}">
                  <a16:creationId xmlns:a16="http://schemas.microsoft.com/office/drawing/2014/main" id="{CBF3C82D-CD13-4A2F-B467-A2FCA8380085}"/>
                </a:ext>
              </a:extLst>
            </p:cNvPr>
            <p:cNvSpPr>
              <a:spLocks noChangeArrowheads="1"/>
            </p:cNvSpPr>
            <p:nvPr/>
          </p:nvSpPr>
          <p:spPr bwMode="auto">
            <a:xfrm>
              <a:off x="3007012" y="5849411"/>
              <a:ext cx="1073545" cy="514738"/>
            </a:xfrm>
            <a:prstGeom prst="rect">
              <a:avLst/>
            </a:prstGeom>
            <a:no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zh-CN" altLang="en-US" sz="2400" b="1" baseline="0" dirty="0">
                  <a:solidFill>
                    <a:schemeClr val="bg1"/>
                  </a:solidFill>
                  <a:latin typeface="宋体" panose="02010600030101010101" pitchFamily="2" charset="-122"/>
                </a:rPr>
                <a:t>数据库</a:t>
              </a:r>
            </a:p>
          </p:txBody>
        </p:sp>
        <p:sp>
          <p:nvSpPr>
            <p:cNvPr id="88" name="Rectangle 30">
              <a:extLst>
                <a:ext uri="{FF2B5EF4-FFF2-40B4-BE49-F238E27FC236}">
                  <a16:creationId xmlns:a16="http://schemas.microsoft.com/office/drawing/2014/main" id="{E618EDFA-15E9-4597-B532-0BB3A96668D4}"/>
                </a:ext>
              </a:extLst>
            </p:cNvPr>
            <p:cNvSpPr>
              <a:spLocks noChangeArrowheads="1"/>
            </p:cNvSpPr>
            <p:nvPr/>
          </p:nvSpPr>
          <p:spPr bwMode="auto">
            <a:xfrm>
              <a:off x="614053" y="4919633"/>
              <a:ext cx="1301172" cy="57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72000" tIns="72000" rIns="72000" bIns="72000">
              <a:spAutoFit/>
            </a:bodyPr>
            <a:lstStyle/>
            <a:p>
              <a:r>
                <a:rPr lang="en-US" altLang="zh-CN" sz="2800" b="1" baseline="0" dirty="0">
                  <a:solidFill>
                    <a:srgbClr val="FFFF00"/>
                  </a:solidFill>
                  <a:latin typeface="Arial Black" panose="020B0A04020102020204" pitchFamily="34" charset="0"/>
                </a:rPr>
                <a:t>DBMS</a:t>
              </a:r>
            </a:p>
          </p:txBody>
        </p:sp>
      </p:grpSp>
    </p:spTree>
    <p:extLst>
      <p:ext uri="{BB962C8B-B14F-4D97-AF65-F5344CB8AC3E}">
        <p14:creationId xmlns:p14="http://schemas.microsoft.com/office/powerpoint/2010/main" val="38831494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148E2F3E-C6CD-43C5-B8D4-5949F2269FBB}"/>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3600" b="1" dirty="0">
                <a:latin typeface="Microsoft Yahei" panose="020B0503020204020204" pitchFamily="34" charset="-122"/>
                <a:ea typeface="Microsoft Yahei" panose="020B0503020204020204" pitchFamily="34" charset="-122"/>
                <a:sym typeface="Microsoft Yahei" panose="020B0503020204020204" pitchFamily="34" charset="-122"/>
              </a:rPr>
              <a:t>为什么数据库系统要采用三级模式</a:t>
            </a:r>
            <a:r>
              <a:rPr lang="en-US" altLang="zh-CN" sz="3600" b="1" dirty="0">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3600" b="1" dirty="0">
                <a:latin typeface="Microsoft Yahei" panose="020B0503020204020204" pitchFamily="34" charset="-122"/>
                <a:ea typeface="Microsoft Yahei" panose="020B0503020204020204" pitchFamily="34" charset="-122"/>
                <a:sym typeface="Microsoft Yahei" panose="020B0503020204020204" pitchFamily="34" charset="-122"/>
              </a:rPr>
              <a:t>两级映像的体系结构？或者说这种结构解决的是什么问题？</a:t>
            </a:r>
          </a:p>
        </p:txBody>
      </p:sp>
      <p:sp>
        <p:nvSpPr>
          <p:cNvPr id="8" name="矩形: 圆角 7">
            <a:extLst>
              <a:ext uri="{FF2B5EF4-FFF2-40B4-BE49-F238E27FC236}">
                <a16:creationId xmlns:a16="http://schemas.microsoft.com/office/drawing/2014/main" id="{AA83D32A-8C84-4BA1-881B-81A8F52BE1EE}"/>
              </a:ext>
            </a:extLst>
          </p:cNvPr>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3" name="组合 12">
            <a:extLst>
              <a:ext uri="{FF2B5EF4-FFF2-40B4-BE49-F238E27FC236}">
                <a16:creationId xmlns:a16="http://schemas.microsoft.com/office/drawing/2014/main" id="{9660E16C-B0D7-40AA-9127-FEC2216EDA52}"/>
              </a:ext>
            </a:extLst>
          </p:cNvPr>
          <p:cNvGrpSpPr/>
          <p:nvPr>
            <p:custDataLst>
              <p:tags r:id="rId4"/>
            </p:custDataLst>
          </p:nvPr>
        </p:nvGrpSpPr>
        <p:grpSpPr>
          <a:xfrm>
            <a:off x="0" y="0"/>
            <a:ext cx="12192000" cy="635000"/>
            <a:chOff x="0" y="0"/>
            <a:chExt cx="12192000" cy="635000"/>
          </a:xfrm>
        </p:grpSpPr>
        <p:sp>
          <p:nvSpPr>
            <p:cNvPr id="9" name="TitleBackground">
              <a:extLst>
                <a:ext uri="{FF2B5EF4-FFF2-40B4-BE49-F238E27FC236}">
                  <a16:creationId xmlns:a16="http://schemas.microsoft.com/office/drawing/2014/main" id="{F421F9A2-411A-4C24-BA27-0BF094E430F2}"/>
                </a:ext>
              </a:extLst>
            </p:cNvPr>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0" name="ColorBlock">
              <a:extLst>
                <a:ext uri="{FF2B5EF4-FFF2-40B4-BE49-F238E27FC236}">
                  <a16:creationId xmlns:a16="http://schemas.microsoft.com/office/drawing/2014/main" id="{AED0AEAB-C49F-4B18-8AB9-04D7F925B675}"/>
                </a:ext>
              </a:extLst>
            </p:cNvPr>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1" name="TypeText">
              <a:extLst>
                <a:ext uri="{FF2B5EF4-FFF2-40B4-BE49-F238E27FC236}">
                  <a16:creationId xmlns:a16="http://schemas.microsoft.com/office/drawing/2014/main" id="{141D54DE-A44D-44B2-81EB-66118CB71D88}"/>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2" name="TipText">
              <a:extLst>
                <a:ext uri="{FF2B5EF4-FFF2-40B4-BE49-F238E27FC236}">
                  <a16:creationId xmlns:a16="http://schemas.microsoft.com/office/drawing/2014/main" id="{01EB3610-9CFF-459A-B847-6184AA30ECD8}"/>
                </a:ext>
              </a:extLst>
            </p:cNvPr>
            <p:cNvSpPr txBox="1"/>
            <p:nvPr>
              <p:custDataLst>
                <p:tags r:id="rId9"/>
              </p:custDataLst>
            </p:nvPr>
          </p:nvSpPr>
          <p:spPr>
            <a:xfrm>
              <a:off x="116395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6" name="图片 5">
            <a:extLst>
              <a:ext uri="{FF2B5EF4-FFF2-40B4-BE49-F238E27FC236}">
                <a16:creationId xmlns:a16="http://schemas.microsoft.com/office/drawing/2014/main" id="{5F75FCF6-1D6E-49F4-8A5E-DEDDEC85FD5A}"/>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4569798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p:cNvGrpSpPr/>
        <p:nvPr/>
      </p:nvGrpSpPr>
      <p:grpSpPr>
        <a:xfrm>
          <a:off x="0" y="0"/>
          <a:ext cx="0" cy="0"/>
          <a:chOff x="0" y="0"/>
          <a:chExt cx="0" cy="0"/>
        </a:xfrm>
      </p:grpSpPr>
      <p:pic>
        <p:nvPicPr>
          <p:cNvPr id="9" name="图片 8">
            <a:hlinkClick r:id="rId3"/>
            <a:extLst>
              <a:ext uri="{FF2B5EF4-FFF2-40B4-BE49-F238E27FC236}">
                <a16:creationId xmlns:a16="http://schemas.microsoft.com/office/drawing/2014/main" id="{AF6F6B2C-9203-42C0-90CA-5D75965F0C4A}"/>
              </a:ext>
            </a:extLst>
          </p:cNvPr>
          <p:cNvPicPr>
            <a:picLocks noChangeAspect="1"/>
          </p:cNvPicPr>
          <p:nvPr/>
        </p:nvPicPr>
        <p:blipFill>
          <a:blip r:embed="rId4"/>
          <a:stretch>
            <a:fillRect/>
          </a:stretch>
        </p:blipFill>
        <p:spPr>
          <a:xfrm>
            <a:off x="371912" y="1232108"/>
            <a:ext cx="11437215" cy="1913534"/>
          </a:xfrm>
          <a:prstGeom prst="rect">
            <a:avLst/>
          </a:prstGeom>
          <a:ln w="88900" cap="sq" cmpd="thickThin">
            <a:solidFill>
              <a:srgbClr val="000000"/>
            </a:solidFill>
            <a:prstDash val="solid"/>
            <a:miter lim="800000"/>
          </a:ln>
          <a:effectLst>
            <a:innerShdw blurRad="76200">
              <a:srgbClr val="000000"/>
            </a:innerShdw>
          </a:effectLst>
        </p:spPr>
      </p:pic>
      <p:sp>
        <p:nvSpPr>
          <p:cNvPr id="8" name="Rectangle 2"/>
          <p:cNvSpPr>
            <a:spLocks noGrp="1" noChangeArrowheads="1"/>
          </p:cNvSpPr>
          <p:nvPr>
            <p:ph type="title"/>
          </p:nvPr>
        </p:nvSpPr>
        <p:spPr>
          <a:xfrm>
            <a:off x="780336" y="0"/>
            <a:ext cx="2710211"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baseline="0" dirty="0">
                <a:solidFill>
                  <a:schemeClr val="folHlink"/>
                </a:solidFill>
                <a:effectLst>
                  <a:outerShdw blurRad="38100" dist="38100" dir="2700000" algn="tl">
                    <a:srgbClr val="000000"/>
                  </a:outerShdw>
                </a:effectLst>
                <a:cs typeface="+mn-cs"/>
              </a:rPr>
              <a:t>数据库</a:t>
            </a:r>
            <a:r>
              <a:rPr lang="zh-CN" altLang="en-US" b="1" u="sng" kern="1200" dirty="0">
                <a:solidFill>
                  <a:schemeClr val="folHlink"/>
                </a:solidFill>
                <a:effectLst>
                  <a:outerShdw blurRad="38100" dist="38100" dir="2700000" algn="tl">
                    <a:srgbClr val="000000"/>
                  </a:outerShdw>
                </a:effectLst>
                <a:cs typeface="+mn-cs"/>
              </a:rPr>
              <a:t>产品</a:t>
            </a:r>
            <a:endParaRPr lang="zh-CN" altLang="en-US" b="1" u="sng" kern="1200" baseline="0" dirty="0">
              <a:solidFill>
                <a:schemeClr val="folHlink"/>
              </a:solidFill>
              <a:effectLst>
                <a:outerShdw blurRad="38100" dist="38100" dir="2700000" algn="tl">
                  <a:srgbClr val="000000"/>
                </a:outerShdw>
              </a:effectLst>
              <a:cs typeface="+mn-cs"/>
            </a:endParaRPr>
          </a:p>
        </p:txBody>
      </p:sp>
      <p:pic>
        <p:nvPicPr>
          <p:cNvPr id="1028" name="Picture 4">
            <a:extLst>
              <a:ext uri="{FF2B5EF4-FFF2-40B4-BE49-F238E27FC236}">
                <a16:creationId xmlns:a16="http://schemas.microsoft.com/office/drawing/2014/main" id="{4884DABA-9E37-4835-89D5-F62B29BE0EB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3317" b="22809"/>
          <a:stretch/>
        </p:blipFill>
        <p:spPr bwMode="auto">
          <a:xfrm>
            <a:off x="4727848" y="781097"/>
            <a:ext cx="1512168" cy="85759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030" name="Picture 6">
            <a:extLst>
              <a:ext uri="{FF2B5EF4-FFF2-40B4-BE49-F238E27FC236}">
                <a16:creationId xmlns:a16="http://schemas.microsoft.com/office/drawing/2014/main" id="{7D688888-D868-4B58-AA09-ADF93C616A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32902" y="781097"/>
            <a:ext cx="1512168" cy="85759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032" name="Picture 8">
            <a:extLst>
              <a:ext uri="{FF2B5EF4-FFF2-40B4-BE49-F238E27FC236}">
                <a16:creationId xmlns:a16="http://schemas.microsoft.com/office/drawing/2014/main" id="{4F9C4193-28FE-4CC3-BFE1-91BC36B5064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45846" y="781097"/>
            <a:ext cx="1238250" cy="85759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034" name="Picture 10">
            <a:extLst>
              <a:ext uri="{FF2B5EF4-FFF2-40B4-BE49-F238E27FC236}">
                <a16:creationId xmlns:a16="http://schemas.microsoft.com/office/drawing/2014/main" id="{CB0E1658-594C-48FA-9668-D344078BE0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84872" y="781097"/>
            <a:ext cx="1355224" cy="85759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2" name="图片 1">
            <a:extLst>
              <a:ext uri="{FF2B5EF4-FFF2-40B4-BE49-F238E27FC236}">
                <a16:creationId xmlns:a16="http://schemas.microsoft.com/office/drawing/2014/main" id="{BAC041A2-1F4F-44EC-9639-D18D4BD9456D}"/>
              </a:ext>
            </a:extLst>
          </p:cNvPr>
          <p:cNvPicPr>
            <a:picLocks noChangeAspect="1"/>
          </p:cNvPicPr>
          <p:nvPr/>
        </p:nvPicPr>
        <p:blipFill rotWithShape="1">
          <a:blip r:embed="rId9"/>
          <a:srcRect b="7200"/>
          <a:stretch/>
        </p:blipFill>
        <p:spPr>
          <a:xfrm>
            <a:off x="382873" y="1884759"/>
            <a:ext cx="11426254" cy="464058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248906599"/>
      </p:ext>
    </p:extLst>
  </p:cSld>
  <p:clrMapOvr>
    <a:overrideClrMapping bg1="dk2" tx1="lt1" bg2="dk1"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645EFA1-028F-4057-BEBA-CC8788B95925}"/>
              </a:ext>
            </a:extLst>
          </p:cNvPr>
          <p:cNvPicPr>
            <a:picLocks noChangeAspect="1"/>
          </p:cNvPicPr>
          <p:nvPr/>
        </p:nvPicPr>
        <p:blipFill>
          <a:blip r:embed="rId2"/>
          <a:stretch>
            <a:fillRect/>
          </a:stretch>
        </p:blipFill>
        <p:spPr>
          <a:xfrm>
            <a:off x="329757" y="999670"/>
            <a:ext cx="11388645" cy="5597682"/>
          </a:xfrm>
          <a:prstGeom prst="rect">
            <a:avLst/>
          </a:prstGeom>
        </p:spPr>
      </p:pic>
      <p:sp>
        <p:nvSpPr>
          <p:cNvPr id="8" name="Rectangle 2"/>
          <p:cNvSpPr>
            <a:spLocks noGrp="1" noChangeArrowheads="1"/>
          </p:cNvSpPr>
          <p:nvPr>
            <p:ph type="title"/>
          </p:nvPr>
        </p:nvSpPr>
        <p:spPr>
          <a:xfrm>
            <a:off x="780336" y="0"/>
            <a:ext cx="2710211"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baseline="0" dirty="0">
                <a:solidFill>
                  <a:schemeClr val="folHlink"/>
                </a:solidFill>
                <a:effectLst>
                  <a:outerShdw blurRad="38100" dist="38100" dir="2700000" algn="tl">
                    <a:srgbClr val="000000"/>
                  </a:outerShdw>
                </a:effectLst>
                <a:cs typeface="+mn-cs"/>
              </a:rPr>
              <a:t>数据库</a:t>
            </a:r>
            <a:r>
              <a:rPr lang="zh-CN" altLang="en-US" b="1" u="sng" kern="1200" dirty="0">
                <a:solidFill>
                  <a:schemeClr val="folHlink"/>
                </a:solidFill>
                <a:effectLst>
                  <a:outerShdw blurRad="38100" dist="38100" dir="2700000" algn="tl">
                    <a:srgbClr val="000000"/>
                  </a:outerShdw>
                </a:effectLst>
                <a:cs typeface="+mn-cs"/>
              </a:rPr>
              <a:t>产品</a:t>
            </a:r>
            <a:endParaRPr lang="zh-CN" altLang="en-US" b="1" u="sng" kern="1200" baseline="0" dirty="0">
              <a:solidFill>
                <a:schemeClr val="folHlink"/>
              </a:solidFill>
              <a:effectLst>
                <a:outerShdw blurRad="38100" dist="38100" dir="2700000" algn="tl">
                  <a:srgbClr val="000000"/>
                </a:outerShdw>
              </a:effectLst>
              <a:cs typeface="+mn-cs"/>
            </a:endParaRPr>
          </a:p>
        </p:txBody>
      </p:sp>
      <p:pic>
        <p:nvPicPr>
          <p:cNvPr id="1026" name="Picture 2" descr="查看源图像">
            <a:extLst>
              <a:ext uri="{FF2B5EF4-FFF2-40B4-BE49-F238E27FC236}">
                <a16:creationId xmlns:a16="http://schemas.microsoft.com/office/drawing/2014/main" id="{70A3511A-CEFA-41F0-BD37-E8242D41041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97353" y="1947635"/>
            <a:ext cx="2807264" cy="668554"/>
          </a:xfrm>
          <a:prstGeom prst="snip2DiagRect">
            <a:avLst>
              <a:gd name="adj1" fmla="val 1802"/>
              <a:gd name="adj2" fmla="val 16667"/>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028" name="Picture 4" descr="查看源图像">
            <a:extLst>
              <a:ext uri="{FF2B5EF4-FFF2-40B4-BE49-F238E27FC236}">
                <a16:creationId xmlns:a16="http://schemas.microsoft.com/office/drawing/2014/main" id="{B133EB3B-2B3A-44AF-ADA7-FF846F72D4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9474" y="4096938"/>
            <a:ext cx="1802264" cy="901020"/>
          </a:xfrm>
          <a:prstGeom prst="snip2DiagRect">
            <a:avLst>
              <a:gd name="adj1" fmla="val 1802"/>
              <a:gd name="adj2" fmla="val 16667"/>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3" name="图片 2">
            <a:extLst>
              <a:ext uri="{FF2B5EF4-FFF2-40B4-BE49-F238E27FC236}">
                <a16:creationId xmlns:a16="http://schemas.microsoft.com/office/drawing/2014/main" id="{1E04263C-C31E-4797-AD6A-360EF3060552}"/>
              </a:ext>
            </a:extLst>
          </p:cNvPr>
          <p:cNvPicPr>
            <a:picLocks noChangeAspect="1"/>
          </p:cNvPicPr>
          <p:nvPr/>
        </p:nvPicPr>
        <p:blipFill>
          <a:blip r:embed="rId5"/>
          <a:stretch>
            <a:fillRect/>
          </a:stretch>
        </p:blipFill>
        <p:spPr>
          <a:xfrm>
            <a:off x="8389568" y="3946291"/>
            <a:ext cx="2376264" cy="1101992"/>
          </a:xfrm>
          <a:prstGeom prst="snip2DiagRect">
            <a:avLst>
              <a:gd name="adj1" fmla="val 1802"/>
              <a:gd name="adj2" fmla="val 16667"/>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图片 5">
            <a:extLst>
              <a:ext uri="{FF2B5EF4-FFF2-40B4-BE49-F238E27FC236}">
                <a16:creationId xmlns:a16="http://schemas.microsoft.com/office/drawing/2014/main" id="{D822D24A-A4DC-48A0-92FA-86C684A99A6D}"/>
              </a:ext>
            </a:extLst>
          </p:cNvPr>
          <p:cNvPicPr>
            <a:picLocks noChangeAspect="1"/>
          </p:cNvPicPr>
          <p:nvPr/>
        </p:nvPicPr>
        <p:blipFill>
          <a:blip r:embed="rId6"/>
          <a:stretch>
            <a:fillRect/>
          </a:stretch>
        </p:blipFill>
        <p:spPr>
          <a:xfrm>
            <a:off x="5044665" y="3085254"/>
            <a:ext cx="2261571" cy="560299"/>
          </a:xfrm>
          <a:prstGeom prst="snip2DiagRect">
            <a:avLst>
              <a:gd name="adj1" fmla="val 1802"/>
              <a:gd name="adj2" fmla="val 16667"/>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030" name="Picture 6" descr="查看源图像">
            <a:extLst>
              <a:ext uri="{FF2B5EF4-FFF2-40B4-BE49-F238E27FC236}">
                <a16:creationId xmlns:a16="http://schemas.microsoft.com/office/drawing/2014/main" id="{BAB081B3-17B7-47C4-8E40-96E159231C1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01639" y="3030820"/>
            <a:ext cx="1725496" cy="669168"/>
          </a:xfrm>
          <a:prstGeom prst="snip2DiagRect">
            <a:avLst>
              <a:gd name="adj1" fmla="val 1802"/>
              <a:gd name="adj2" fmla="val 16667"/>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图片 8">
            <a:extLst>
              <a:ext uri="{FF2B5EF4-FFF2-40B4-BE49-F238E27FC236}">
                <a16:creationId xmlns:a16="http://schemas.microsoft.com/office/drawing/2014/main" id="{B074B95F-7DD6-4075-83EF-2D61124C466C}"/>
              </a:ext>
            </a:extLst>
          </p:cNvPr>
          <p:cNvPicPr>
            <a:picLocks noChangeAspect="1"/>
          </p:cNvPicPr>
          <p:nvPr/>
        </p:nvPicPr>
        <p:blipFill>
          <a:blip r:embed="rId8"/>
          <a:stretch>
            <a:fillRect/>
          </a:stretch>
        </p:blipFill>
        <p:spPr>
          <a:xfrm>
            <a:off x="7574639" y="2993124"/>
            <a:ext cx="1558597" cy="698215"/>
          </a:xfrm>
          <a:prstGeom prst="snip2DiagRect">
            <a:avLst>
              <a:gd name="adj1" fmla="val 1802"/>
              <a:gd name="adj2" fmla="val 16667"/>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5" name="图片 4">
            <a:extLst>
              <a:ext uri="{FF2B5EF4-FFF2-40B4-BE49-F238E27FC236}">
                <a16:creationId xmlns:a16="http://schemas.microsoft.com/office/drawing/2014/main" id="{15B53FAC-757E-46F7-926C-23B0DD98DD71}"/>
              </a:ext>
            </a:extLst>
          </p:cNvPr>
          <p:cNvPicPr>
            <a:picLocks noChangeAspect="1"/>
          </p:cNvPicPr>
          <p:nvPr/>
        </p:nvPicPr>
        <p:blipFill>
          <a:blip r:embed="rId9"/>
          <a:stretch>
            <a:fillRect/>
          </a:stretch>
        </p:blipFill>
        <p:spPr>
          <a:xfrm>
            <a:off x="9100985" y="5397802"/>
            <a:ext cx="2232248" cy="715737"/>
          </a:xfrm>
          <a:prstGeom prst="snip2DiagRect">
            <a:avLst>
              <a:gd name="adj1" fmla="val 1802"/>
              <a:gd name="adj2" fmla="val 16667"/>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2" name="图片 11">
            <a:extLst>
              <a:ext uri="{FF2B5EF4-FFF2-40B4-BE49-F238E27FC236}">
                <a16:creationId xmlns:a16="http://schemas.microsoft.com/office/drawing/2014/main" id="{6677FABF-6F6D-41B2-94DD-5EB1AC843AC3}"/>
              </a:ext>
            </a:extLst>
          </p:cNvPr>
          <p:cNvPicPr>
            <a:picLocks noChangeAspect="1"/>
          </p:cNvPicPr>
          <p:nvPr/>
        </p:nvPicPr>
        <p:blipFill>
          <a:blip r:embed="rId10"/>
          <a:stretch>
            <a:fillRect/>
          </a:stretch>
        </p:blipFill>
        <p:spPr>
          <a:xfrm>
            <a:off x="6487920" y="5504459"/>
            <a:ext cx="2104486" cy="689791"/>
          </a:xfrm>
          <a:prstGeom prst="snip2DiagRect">
            <a:avLst>
              <a:gd name="adj1" fmla="val 1802"/>
              <a:gd name="adj2" fmla="val 16667"/>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7" name="Picture 2" descr="https://js-cdn.modb.cc/image/indexlogo.png">
            <a:hlinkClick r:id="rId11"/>
            <a:extLst>
              <a:ext uri="{FF2B5EF4-FFF2-40B4-BE49-F238E27FC236}">
                <a16:creationId xmlns:a16="http://schemas.microsoft.com/office/drawing/2014/main" id="{6B782345-B087-4209-947F-6B096422D8A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21041" y="410359"/>
            <a:ext cx="1800200" cy="521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62039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50EF4DBA-4C62-4B36-B0F7-B4398E50843C}"/>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4800" b="1" dirty="0">
                <a:latin typeface="Microsoft Yahei" panose="020B0503020204020204" pitchFamily="34" charset="-122"/>
                <a:ea typeface="Microsoft Yahei" panose="020B0503020204020204" pitchFamily="34" charset="-122"/>
                <a:sym typeface="Microsoft Yahei" panose="020B0503020204020204" pitchFamily="34" charset="-122"/>
              </a:rPr>
              <a:t>你知道常用的数据库产品有哪些吗？特别是国产的数据库产品你知道有哪些？</a:t>
            </a:r>
          </a:p>
        </p:txBody>
      </p:sp>
      <p:sp>
        <p:nvSpPr>
          <p:cNvPr id="8" name="矩形: 圆角 7">
            <a:extLst>
              <a:ext uri="{FF2B5EF4-FFF2-40B4-BE49-F238E27FC236}">
                <a16:creationId xmlns:a16="http://schemas.microsoft.com/office/drawing/2014/main" id="{D3E6C603-0F40-4869-8BFA-2B884C904844}"/>
              </a:ext>
            </a:extLst>
          </p:cNvPr>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3" name="组合 12">
            <a:extLst>
              <a:ext uri="{FF2B5EF4-FFF2-40B4-BE49-F238E27FC236}">
                <a16:creationId xmlns:a16="http://schemas.microsoft.com/office/drawing/2014/main" id="{99083E51-7253-4938-87EF-F99B10F3C24F}"/>
              </a:ext>
            </a:extLst>
          </p:cNvPr>
          <p:cNvGrpSpPr/>
          <p:nvPr>
            <p:custDataLst>
              <p:tags r:id="rId4"/>
            </p:custDataLst>
          </p:nvPr>
        </p:nvGrpSpPr>
        <p:grpSpPr>
          <a:xfrm>
            <a:off x="0" y="0"/>
            <a:ext cx="12192000" cy="635000"/>
            <a:chOff x="0" y="0"/>
            <a:chExt cx="12192000" cy="635000"/>
          </a:xfrm>
        </p:grpSpPr>
        <p:sp>
          <p:nvSpPr>
            <p:cNvPr id="9" name="TitleBackground">
              <a:extLst>
                <a:ext uri="{FF2B5EF4-FFF2-40B4-BE49-F238E27FC236}">
                  <a16:creationId xmlns:a16="http://schemas.microsoft.com/office/drawing/2014/main" id="{29B7D4B4-CE39-4CC3-B6D0-2C0E6F11F80E}"/>
                </a:ext>
              </a:extLst>
            </p:cNvPr>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0" name="ColorBlock">
              <a:extLst>
                <a:ext uri="{FF2B5EF4-FFF2-40B4-BE49-F238E27FC236}">
                  <a16:creationId xmlns:a16="http://schemas.microsoft.com/office/drawing/2014/main" id="{E40D77B4-F345-4482-972E-40837DB8233F}"/>
                </a:ext>
              </a:extLst>
            </p:cNvPr>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1" name="TypeText">
              <a:extLst>
                <a:ext uri="{FF2B5EF4-FFF2-40B4-BE49-F238E27FC236}">
                  <a16:creationId xmlns:a16="http://schemas.microsoft.com/office/drawing/2014/main" id="{AED9EA11-1610-44F7-B349-1D7DB491B75E}"/>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2" name="TipText">
              <a:extLst>
                <a:ext uri="{FF2B5EF4-FFF2-40B4-BE49-F238E27FC236}">
                  <a16:creationId xmlns:a16="http://schemas.microsoft.com/office/drawing/2014/main" id="{47040F47-27D1-42EE-8B67-A79F73B3A191}"/>
                </a:ext>
              </a:extLst>
            </p:cNvPr>
            <p:cNvSpPr txBox="1"/>
            <p:nvPr>
              <p:custDataLst>
                <p:tags r:id="rId9"/>
              </p:custDataLst>
            </p:nvPr>
          </p:nvSpPr>
          <p:spPr>
            <a:xfrm>
              <a:off x="116395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6" name="图片 5">
            <a:extLst>
              <a:ext uri="{FF2B5EF4-FFF2-40B4-BE49-F238E27FC236}">
                <a16:creationId xmlns:a16="http://schemas.microsoft.com/office/drawing/2014/main" id="{E7B7FD09-860E-443D-A2D6-DB0D0424048E}"/>
              </a:ext>
            </a:extLst>
          </p:cNvPr>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702364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B077D9A8-D715-4923-9F8C-A07055E04CE4}"/>
              </a:ext>
            </a:extLst>
          </p:cNvPr>
          <p:cNvSpPr>
            <a:spLocks noGrp="1" noChangeArrowheads="1"/>
          </p:cNvSpPr>
          <p:nvPr>
            <p:ph type="title"/>
          </p:nvPr>
        </p:nvSpPr>
        <p:spPr>
          <a:xfrm>
            <a:off x="668104" y="71920"/>
            <a:ext cx="5230919" cy="707886"/>
          </a:xfrm>
        </p:spPr>
        <p:txBody>
          <a:bodyPr/>
          <a:lstStyle/>
          <a:p>
            <a:r>
              <a:rPr lang="en-US" altLang="zh-CN" dirty="0"/>
              <a:t>1.6 My SQL5.5</a:t>
            </a:r>
            <a:r>
              <a:rPr lang="zh-CN" altLang="en-US" dirty="0"/>
              <a:t>数据库</a:t>
            </a:r>
          </a:p>
        </p:txBody>
      </p:sp>
      <p:sp>
        <p:nvSpPr>
          <p:cNvPr id="86019" name="Rectangle 3">
            <a:extLst>
              <a:ext uri="{FF2B5EF4-FFF2-40B4-BE49-F238E27FC236}">
                <a16:creationId xmlns:a16="http://schemas.microsoft.com/office/drawing/2014/main" id="{A6B674A2-36D7-4242-80D3-98AD94F71ADA}"/>
              </a:ext>
            </a:extLst>
          </p:cNvPr>
          <p:cNvSpPr>
            <a:spLocks noGrp="1" noChangeArrowheads="1"/>
          </p:cNvSpPr>
          <p:nvPr>
            <p:ph type="body" idx="1"/>
          </p:nvPr>
        </p:nvSpPr>
        <p:spPr>
          <a:xfrm>
            <a:off x="609600" y="1268760"/>
            <a:ext cx="10972800" cy="4054475"/>
          </a:xfrm>
        </p:spPr>
        <p:txBody>
          <a:bodyPr/>
          <a:lstStyle/>
          <a:p>
            <a:pPr>
              <a:lnSpc>
                <a:spcPct val="150000"/>
              </a:lnSpc>
            </a:pPr>
            <a:r>
              <a:rPr lang="en-US" altLang="zh-CN" dirty="0"/>
              <a:t>MySQL</a:t>
            </a:r>
            <a:r>
              <a:rPr lang="zh-CN" altLang="en-US" dirty="0"/>
              <a:t>是一个</a:t>
            </a:r>
            <a:r>
              <a:rPr lang="zh-CN" altLang="en-US" dirty="0">
                <a:solidFill>
                  <a:srgbClr val="FF0000"/>
                </a:solidFill>
              </a:rPr>
              <a:t>关系型数据库管理系统</a:t>
            </a:r>
            <a:r>
              <a:rPr lang="zh-CN" altLang="en-US" dirty="0"/>
              <a:t>，由瑞典</a:t>
            </a:r>
            <a:r>
              <a:rPr lang="en-US" altLang="zh-CN" dirty="0"/>
              <a:t>MySQL AB</a:t>
            </a:r>
            <a:r>
              <a:rPr lang="zh-CN" altLang="en-US" dirty="0"/>
              <a:t>公司开发，目前属于</a:t>
            </a:r>
            <a:r>
              <a:rPr lang="en-US" altLang="zh-CN" dirty="0"/>
              <a:t>Oracle</a:t>
            </a:r>
            <a:r>
              <a:rPr lang="zh-CN" altLang="en-US" dirty="0"/>
              <a:t>公司。</a:t>
            </a:r>
            <a:r>
              <a:rPr lang="en-US" altLang="zh-CN" dirty="0"/>
              <a:t>MySQL</a:t>
            </a:r>
            <a:r>
              <a:rPr lang="zh-CN" altLang="en-US" dirty="0"/>
              <a:t>的</a:t>
            </a:r>
            <a:r>
              <a:rPr lang="en-US" altLang="zh-CN" dirty="0"/>
              <a:t>SQL</a:t>
            </a:r>
            <a:r>
              <a:rPr lang="zh-CN" altLang="en-US" dirty="0"/>
              <a:t>语言是用于访问数据库的最常用标准化语言。</a:t>
            </a:r>
          </a:p>
          <a:p>
            <a:pPr>
              <a:lnSpc>
                <a:spcPct val="150000"/>
              </a:lnSpc>
            </a:pPr>
            <a:r>
              <a:rPr lang="zh-CN" altLang="en-US" dirty="0"/>
              <a:t>由于其社区版的性能卓越，搭配</a:t>
            </a:r>
            <a:r>
              <a:rPr lang="en-US" altLang="zh-CN" dirty="0"/>
              <a:t>PHP</a:t>
            </a:r>
            <a:r>
              <a:rPr lang="zh-CN" altLang="en-US" dirty="0"/>
              <a:t>和</a:t>
            </a:r>
            <a:r>
              <a:rPr lang="en-US" altLang="zh-CN" dirty="0"/>
              <a:t>Apache</a:t>
            </a:r>
            <a:r>
              <a:rPr lang="zh-CN" altLang="en-US" dirty="0"/>
              <a:t>可组成良好的开发环境。</a:t>
            </a:r>
            <a:r>
              <a:rPr lang="en-US" altLang="zh-CN" dirty="0"/>
              <a:t>MYSQL</a:t>
            </a:r>
            <a:r>
              <a:rPr lang="zh-CN" altLang="en-US" dirty="0"/>
              <a:t>的最新版本可以从其官网</a:t>
            </a:r>
            <a:r>
              <a:rPr lang="en-US" altLang="zh-CN" dirty="0"/>
              <a:t>https://www.mysql.com</a:t>
            </a:r>
            <a:r>
              <a:rPr lang="zh-CN" altLang="en-US" dirty="0"/>
              <a:t>下获得。</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6C77FFA6-48F3-4EA5-BA32-66B304225B60}"/>
              </a:ext>
            </a:extLst>
          </p:cNvPr>
          <p:cNvSpPr>
            <a:spLocks noGrp="1" noChangeArrowheads="1"/>
          </p:cNvSpPr>
          <p:nvPr>
            <p:ph type="title"/>
          </p:nvPr>
        </p:nvSpPr>
        <p:spPr>
          <a:xfrm>
            <a:off x="668104" y="71920"/>
            <a:ext cx="4112023" cy="707886"/>
          </a:xfrm>
        </p:spPr>
        <p:txBody>
          <a:bodyPr/>
          <a:lstStyle/>
          <a:p>
            <a:r>
              <a:rPr lang="en-US" altLang="zh-CN"/>
              <a:t>1.6.1MySQL</a:t>
            </a:r>
            <a:r>
              <a:rPr lang="zh-CN" altLang="en-US"/>
              <a:t>概述</a:t>
            </a:r>
          </a:p>
        </p:txBody>
      </p:sp>
      <p:sp>
        <p:nvSpPr>
          <p:cNvPr id="87043" name="Rectangle 3">
            <a:extLst>
              <a:ext uri="{FF2B5EF4-FFF2-40B4-BE49-F238E27FC236}">
                <a16:creationId xmlns:a16="http://schemas.microsoft.com/office/drawing/2014/main" id="{1DE15910-369D-4A27-AEC2-CF5E58238F3F}"/>
              </a:ext>
            </a:extLst>
          </p:cNvPr>
          <p:cNvSpPr>
            <a:spLocks noGrp="1" noChangeArrowheads="1"/>
          </p:cNvSpPr>
          <p:nvPr>
            <p:ph type="body" idx="1"/>
          </p:nvPr>
        </p:nvSpPr>
        <p:spPr>
          <a:xfrm>
            <a:off x="551384" y="1401762"/>
            <a:ext cx="10972800" cy="4054475"/>
          </a:xfrm>
        </p:spPr>
        <p:txBody>
          <a:bodyPr/>
          <a:lstStyle/>
          <a:p>
            <a:pPr>
              <a:lnSpc>
                <a:spcPct val="90000"/>
              </a:lnSpc>
            </a:pPr>
            <a:r>
              <a:rPr lang="en-US" altLang="zh-CN"/>
              <a:t>1</a:t>
            </a:r>
            <a:r>
              <a:rPr lang="zh-CN" altLang="en-US"/>
              <a:t>、</a:t>
            </a:r>
            <a:r>
              <a:rPr lang="en-US" altLang="zh-CN"/>
              <a:t>MySQL</a:t>
            </a:r>
            <a:r>
              <a:rPr lang="zh-CN" altLang="en-US"/>
              <a:t>是一种数据库管理系统。</a:t>
            </a:r>
          </a:p>
          <a:p>
            <a:pPr>
              <a:lnSpc>
                <a:spcPct val="90000"/>
              </a:lnSpc>
            </a:pPr>
            <a:r>
              <a:rPr lang="en-US" altLang="zh-CN"/>
              <a:t>2</a:t>
            </a:r>
            <a:r>
              <a:rPr lang="zh-CN" altLang="en-US"/>
              <a:t>、</a:t>
            </a:r>
            <a:r>
              <a:rPr lang="en-US" altLang="zh-CN"/>
              <a:t>MySQL</a:t>
            </a:r>
            <a:r>
              <a:rPr lang="zh-CN" altLang="en-US"/>
              <a:t>是一种关系数据库管理系统。</a:t>
            </a:r>
          </a:p>
          <a:p>
            <a:pPr>
              <a:lnSpc>
                <a:spcPct val="90000"/>
              </a:lnSpc>
            </a:pPr>
            <a:r>
              <a:rPr lang="en-US" altLang="zh-CN"/>
              <a:t>3</a:t>
            </a:r>
            <a:r>
              <a:rPr lang="zh-CN" altLang="en-US"/>
              <a:t>、</a:t>
            </a:r>
            <a:r>
              <a:rPr lang="en-US" altLang="zh-CN"/>
              <a:t>MySQL</a:t>
            </a:r>
            <a:r>
              <a:rPr lang="zh-CN" altLang="en-US"/>
              <a:t>软件是一种开放源码软件。</a:t>
            </a:r>
          </a:p>
          <a:p>
            <a:pPr>
              <a:lnSpc>
                <a:spcPct val="90000"/>
              </a:lnSpc>
            </a:pPr>
            <a:r>
              <a:rPr lang="en-US" altLang="zh-CN"/>
              <a:t>4</a:t>
            </a:r>
            <a:r>
              <a:rPr lang="zh-CN" altLang="en-US"/>
              <a:t>、</a:t>
            </a:r>
            <a:r>
              <a:rPr lang="en-US" altLang="zh-CN"/>
              <a:t>MySQL</a:t>
            </a:r>
            <a:r>
              <a:rPr lang="zh-CN" altLang="en-US"/>
              <a:t>数据库服务器具有快速、可靠和易于使用的特点。</a:t>
            </a:r>
          </a:p>
          <a:p>
            <a:pPr>
              <a:lnSpc>
                <a:spcPct val="90000"/>
              </a:lnSpc>
            </a:pPr>
            <a:r>
              <a:rPr lang="en-US" altLang="zh-CN"/>
              <a:t>5</a:t>
            </a:r>
            <a:r>
              <a:rPr lang="zh-CN" altLang="en-US"/>
              <a:t>、</a:t>
            </a:r>
            <a:r>
              <a:rPr lang="en-US" altLang="zh-CN"/>
              <a:t>MySQL</a:t>
            </a:r>
            <a:r>
              <a:rPr lang="zh-CN" altLang="en-US"/>
              <a:t>服务器工作在客户端</a:t>
            </a:r>
            <a:r>
              <a:rPr lang="en-US" altLang="zh-CN"/>
              <a:t>/</a:t>
            </a:r>
            <a:r>
              <a:rPr lang="zh-CN" altLang="en-US"/>
              <a:t>服务器模式下，或嵌入式系统中。</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80336" y="0"/>
            <a:ext cx="476205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baseline="0" dirty="0">
                <a:solidFill>
                  <a:schemeClr val="folHlink"/>
                </a:solidFill>
                <a:effectLst>
                  <a:outerShdw blurRad="38100" dist="38100" dir="2700000" algn="tl">
                    <a:srgbClr val="000000"/>
                  </a:outerShdw>
                </a:effectLst>
                <a:cs typeface="+mn-cs"/>
              </a:rPr>
              <a:t>数据库管理系统应用</a:t>
            </a:r>
          </a:p>
        </p:txBody>
      </p:sp>
      <p:pic>
        <p:nvPicPr>
          <p:cNvPr id="3" name="图片 2" descr="IMG_256">
            <a:extLst>
              <a:ext uri="{FF2B5EF4-FFF2-40B4-BE49-F238E27FC236}">
                <a16:creationId xmlns:a16="http://schemas.microsoft.com/office/drawing/2014/main" id="{A4B4B710-8D9A-42CD-BB8D-D4254B4DDB62}"/>
              </a:ext>
            </a:extLst>
          </p:cNvPr>
          <p:cNvPicPr/>
          <p:nvPr/>
        </p:nvPicPr>
        <p:blipFill>
          <a:blip r:embed="rId2">
            <a:extLst>
              <a:ext uri="{28A0092B-C50C-407E-A947-70E740481C1C}">
                <a14:useLocalDpi xmlns:a14="http://schemas.microsoft.com/office/drawing/2010/main" val="0"/>
              </a:ext>
            </a:extLst>
          </a:blip>
          <a:srcRect/>
          <a:stretch>
            <a:fillRect/>
          </a:stretch>
        </p:blipFill>
        <p:spPr>
          <a:xfrm>
            <a:off x="767408" y="2420888"/>
            <a:ext cx="4864020" cy="3780000"/>
          </a:xfrm>
          <a:prstGeom prst="rect">
            <a:avLst/>
          </a:prstGeom>
          <a:ln w="38100" cap="sq">
            <a:solidFill>
              <a:srgbClr val="92D050"/>
            </a:solidFill>
            <a:prstDash val="solid"/>
            <a:miter lim="800000"/>
          </a:ln>
          <a:effectLst>
            <a:outerShdw blurRad="50800" dist="38100" dir="2700000" algn="tl" rotWithShape="0">
              <a:srgbClr val="000000">
                <a:alpha val="43000"/>
              </a:srgbClr>
            </a:outerShdw>
          </a:effectLst>
        </p:spPr>
      </p:pic>
      <p:pic>
        <p:nvPicPr>
          <p:cNvPr id="37" name="图片 36">
            <a:extLst>
              <a:ext uri="{FF2B5EF4-FFF2-40B4-BE49-F238E27FC236}">
                <a16:creationId xmlns:a16="http://schemas.microsoft.com/office/drawing/2014/main" id="{E4558CFA-98DD-4F5F-BE26-918754C0F1EF}"/>
              </a:ext>
            </a:extLst>
          </p:cNvPr>
          <p:cNvPicPr>
            <a:picLocks noChangeAspect="1"/>
          </p:cNvPicPr>
          <p:nvPr/>
        </p:nvPicPr>
        <p:blipFill>
          <a:blip r:embed="rId3"/>
          <a:stretch>
            <a:fillRect/>
          </a:stretch>
        </p:blipFill>
        <p:spPr>
          <a:xfrm>
            <a:off x="6004963" y="2420888"/>
            <a:ext cx="5484155" cy="3780000"/>
          </a:xfrm>
          <a:prstGeom prst="rect">
            <a:avLst/>
          </a:prstGeom>
          <a:ln w="38100" cap="sq">
            <a:solidFill>
              <a:srgbClr val="92D050"/>
            </a:solidFill>
            <a:prstDash val="solid"/>
            <a:miter lim="800000"/>
          </a:ln>
          <a:effectLst>
            <a:outerShdw blurRad="50800" dist="38100" dir="2700000" algn="tl" rotWithShape="0">
              <a:srgbClr val="000000">
                <a:alpha val="43000"/>
              </a:srgbClr>
            </a:outerShdw>
          </a:effectLst>
        </p:spPr>
      </p:pic>
      <p:sp>
        <p:nvSpPr>
          <p:cNvPr id="39" name="Rectangle 43">
            <a:extLst>
              <a:ext uri="{FF2B5EF4-FFF2-40B4-BE49-F238E27FC236}">
                <a16:creationId xmlns:a16="http://schemas.microsoft.com/office/drawing/2014/main" id="{D726931A-D31D-4954-B3AF-0450672E203A}"/>
              </a:ext>
            </a:extLst>
          </p:cNvPr>
          <p:cNvSpPr txBox="1">
            <a:spLocks noChangeArrowheads="1"/>
          </p:cNvSpPr>
          <p:nvPr/>
        </p:nvSpPr>
        <p:spPr bwMode="auto">
          <a:xfrm>
            <a:off x="2351584" y="1292179"/>
            <a:ext cx="8568952" cy="646331"/>
          </a:xfrm>
          <a:prstGeom prst="rect">
            <a:avLst/>
          </a:prstGeom>
          <a:noFill/>
          <a:ln w="9525">
            <a:noFill/>
            <a:miter lim="800000"/>
            <a:headEnd/>
            <a:tailEnd/>
          </a:ln>
          <a:effectLst>
            <a:outerShdw dist="17961" dir="2700000" algn="ctr" rotWithShape="0">
              <a:schemeClr val="bg2"/>
            </a:outerShdw>
          </a:effec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eaLnBrk="1" hangingPunct="1">
              <a:defRPr/>
            </a:pPr>
            <a:r>
              <a:rPr lang="en-US" altLang="zh-CN" sz="3600" kern="0" baseline="0" dirty="0"/>
              <a:t>MySQL</a:t>
            </a:r>
            <a:r>
              <a:rPr lang="zh-CN" altLang="en-US" sz="3600" kern="0" baseline="0" dirty="0"/>
              <a:t>数据库管理系统的安装与使用</a:t>
            </a:r>
          </a:p>
        </p:txBody>
      </p:sp>
    </p:spTree>
    <p:extLst>
      <p:ext uri="{BB962C8B-B14F-4D97-AF65-F5344CB8AC3E}">
        <p14:creationId xmlns:p14="http://schemas.microsoft.com/office/powerpoint/2010/main" val="28725353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a:extLst>
              <a:ext uri="{FF2B5EF4-FFF2-40B4-BE49-F238E27FC236}">
                <a16:creationId xmlns:a16="http://schemas.microsoft.com/office/drawing/2014/main" id="{D81B082A-2D01-4557-942F-86C636EFC815}"/>
              </a:ext>
            </a:extLst>
          </p:cNvPr>
          <p:cNvSpPr>
            <a:spLocks noGrp="1" noChangeArrowheads="1"/>
          </p:cNvSpPr>
          <p:nvPr>
            <p:ph type="body" idx="1"/>
          </p:nvPr>
        </p:nvSpPr>
        <p:spPr>
          <a:xfrm>
            <a:off x="767408" y="692696"/>
            <a:ext cx="10972800" cy="4054475"/>
          </a:xfrm>
        </p:spPr>
        <p:txBody>
          <a:bodyPr/>
          <a:lstStyle/>
          <a:p>
            <a:pPr>
              <a:lnSpc>
                <a:spcPct val="150000"/>
              </a:lnSpc>
              <a:buFontTx/>
              <a:buNone/>
            </a:pPr>
            <a:r>
              <a:rPr lang="en-US" altLang="zh-CN" sz="2800"/>
              <a:t>2</a:t>
            </a:r>
            <a:r>
              <a:rPr lang="zh-CN" altLang="en-US" sz="2800"/>
              <a:t>、</a:t>
            </a:r>
            <a:r>
              <a:rPr lang="en-US" altLang="zh-CN" sz="2800"/>
              <a:t>mysql</a:t>
            </a:r>
            <a:r>
              <a:rPr lang="zh-CN" altLang="en-US" sz="2800"/>
              <a:t>的启动</a:t>
            </a:r>
          </a:p>
          <a:p>
            <a:pPr>
              <a:lnSpc>
                <a:spcPct val="150000"/>
              </a:lnSpc>
            </a:pPr>
            <a:r>
              <a:rPr lang="zh-CN" altLang="en-US" sz="2800"/>
              <a:t>（</a:t>
            </a:r>
            <a:r>
              <a:rPr lang="en-US" altLang="zh-CN" sz="2800"/>
              <a:t>1</a:t>
            </a:r>
            <a:r>
              <a:rPr lang="zh-CN" altLang="en-US" sz="2800"/>
              <a:t>） 连接与断开服务器</a:t>
            </a:r>
          </a:p>
          <a:p>
            <a:pPr>
              <a:lnSpc>
                <a:spcPct val="150000"/>
              </a:lnSpc>
            </a:pPr>
            <a:r>
              <a:rPr lang="zh-CN" altLang="en-US" sz="2800"/>
              <a:t>为了连接服务器，当调用</a:t>
            </a:r>
            <a:r>
              <a:rPr lang="en-US" altLang="zh-CN" sz="2800"/>
              <a:t>mysql</a:t>
            </a:r>
            <a:r>
              <a:rPr lang="zh-CN" altLang="en-US" sz="2800"/>
              <a:t>时，可以按照以下方式进行连接：</a:t>
            </a:r>
          </a:p>
          <a:p>
            <a:pPr lvl="1">
              <a:lnSpc>
                <a:spcPct val="150000"/>
              </a:lnSpc>
              <a:buFontTx/>
              <a:buNone/>
            </a:pPr>
            <a:r>
              <a:rPr lang="en-US" altLang="zh-CN" sz="2400"/>
              <a:t>shell&gt; mysql -h host -u user -p</a:t>
            </a:r>
          </a:p>
          <a:p>
            <a:pPr lvl="1">
              <a:lnSpc>
                <a:spcPct val="150000"/>
              </a:lnSpc>
              <a:buFontTx/>
              <a:buNone/>
            </a:pPr>
            <a:r>
              <a:rPr lang="en-US" altLang="zh-CN" sz="2400"/>
              <a:t>Enter password: ********</a:t>
            </a:r>
          </a:p>
          <a:p>
            <a:pPr>
              <a:lnSpc>
                <a:spcPct val="150000"/>
              </a:lnSpc>
            </a:pPr>
            <a:r>
              <a:rPr lang="en-US" altLang="zh-CN" sz="2800"/>
              <a:t>Shell</a:t>
            </a:r>
            <a:r>
              <a:rPr lang="zh-CN" altLang="en-US" sz="2800"/>
              <a:t>表示当期系统命令提示符。</a:t>
            </a:r>
            <a:r>
              <a:rPr lang="en-US" altLang="zh-CN" sz="2800"/>
              <a:t>host</a:t>
            </a:r>
            <a:r>
              <a:rPr lang="zh-CN" altLang="en-US" sz="2800"/>
              <a:t>和</a:t>
            </a:r>
            <a:r>
              <a:rPr lang="en-US" altLang="zh-CN" sz="2800"/>
              <a:t>user</a:t>
            </a:r>
            <a:r>
              <a:rPr lang="zh-CN" altLang="en-US" sz="2800"/>
              <a:t>分别代表</a:t>
            </a:r>
            <a:r>
              <a:rPr lang="en-US" altLang="zh-CN" sz="2800"/>
              <a:t>MySQL</a:t>
            </a:r>
            <a:r>
              <a:rPr lang="zh-CN" altLang="en-US" sz="2800"/>
              <a:t>服务器运行的主机名和</a:t>
            </a:r>
            <a:r>
              <a:rPr lang="en-US" altLang="zh-CN" sz="2800"/>
              <a:t>MySQL</a:t>
            </a:r>
            <a:r>
              <a:rPr lang="zh-CN" altLang="en-US" sz="2800"/>
              <a:t>账户用户名。设置时替换为正确的值。******** 代表用户的密码。</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a:extLst>
              <a:ext uri="{FF2B5EF4-FFF2-40B4-BE49-F238E27FC236}">
                <a16:creationId xmlns:a16="http://schemas.microsoft.com/office/drawing/2014/main" id="{4174C9CD-F0CE-4B2B-A233-932659BB886E}"/>
              </a:ext>
            </a:extLst>
          </p:cNvPr>
          <p:cNvSpPr>
            <a:spLocks noGrp="1" noChangeArrowheads="1"/>
          </p:cNvSpPr>
          <p:nvPr>
            <p:ph type="body" idx="1"/>
          </p:nvPr>
        </p:nvSpPr>
        <p:spPr>
          <a:xfrm>
            <a:off x="767408" y="1124744"/>
            <a:ext cx="10972800" cy="4054475"/>
          </a:xfrm>
        </p:spPr>
        <p:txBody>
          <a:bodyPr/>
          <a:lstStyle/>
          <a:p>
            <a:r>
              <a:rPr lang="zh-CN" altLang="en-US" dirty="0"/>
              <a:t>成功地连接后，可以在</a:t>
            </a:r>
            <a:r>
              <a:rPr lang="en-US" altLang="zh-CN" dirty="0" err="1"/>
              <a:t>mysql</a:t>
            </a:r>
            <a:r>
              <a:rPr lang="en-US" altLang="zh-CN" dirty="0"/>
              <a:t>&gt;</a:t>
            </a:r>
            <a:r>
              <a:rPr lang="zh-CN" altLang="en-US" dirty="0"/>
              <a:t>提示下输入</a:t>
            </a:r>
            <a:r>
              <a:rPr lang="en-US" altLang="zh-CN" dirty="0"/>
              <a:t>QUIT (</a:t>
            </a:r>
            <a:r>
              <a:rPr lang="zh-CN" altLang="en-US" dirty="0"/>
              <a:t>或</a:t>
            </a:r>
            <a:r>
              <a:rPr lang="en-US" altLang="zh-CN" dirty="0"/>
              <a:t>\q)</a:t>
            </a:r>
            <a:r>
              <a:rPr lang="zh-CN" altLang="en-US" dirty="0"/>
              <a:t>随时退出：</a:t>
            </a:r>
          </a:p>
          <a:p>
            <a:pPr lvl="1">
              <a:buFontTx/>
              <a:buNone/>
            </a:pPr>
            <a:r>
              <a:rPr lang="en-US" altLang="zh-CN" dirty="0" err="1"/>
              <a:t>mysql</a:t>
            </a:r>
            <a:r>
              <a:rPr lang="en-US" altLang="zh-CN" dirty="0"/>
              <a:t>&gt; QUIT</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3">
            <a:extLst>
              <a:ext uri="{FF2B5EF4-FFF2-40B4-BE49-F238E27FC236}">
                <a16:creationId xmlns:a16="http://schemas.microsoft.com/office/drawing/2014/main" id="{C4E54DA8-F29A-495E-8B7C-FA6A0C50911B}"/>
              </a:ext>
            </a:extLst>
          </p:cNvPr>
          <p:cNvSpPr>
            <a:spLocks noGrp="1" noChangeArrowheads="1"/>
          </p:cNvSpPr>
          <p:nvPr>
            <p:ph type="body" idx="1"/>
          </p:nvPr>
        </p:nvSpPr>
        <p:spPr>
          <a:xfrm>
            <a:off x="695400" y="404664"/>
            <a:ext cx="10972800" cy="4054475"/>
          </a:xfrm>
        </p:spPr>
        <p:txBody>
          <a:bodyPr/>
          <a:lstStyle/>
          <a:p>
            <a:r>
              <a:rPr lang="zh-CN" altLang="en-US" dirty="0"/>
              <a:t>（</a:t>
            </a:r>
            <a:r>
              <a:rPr lang="en-US" altLang="zh-CN" dirty="0"/>
              <a:t>2</a:t>
            </a:r>
            <a:r>
              <a:rPr lang="zh-CN" altLang="en-US" dirty="0"/>
              <a:t>）输入命令</a:t>
            </a:r>
          </a:p>
          <a:p>
            <a:r>
              <a:rPr lang="zh-CN" altLang="en-US" dirty="0"/>
              <a:t>查看当前服务器中的数据库可以使用</a:t>
            </a:r>
            <a:r>
              <a:rPr lang="en-US" altLang="zh-CN" dirty="0"/>
              <a:t>show databases</a:t>
            </a:r>
            <a:r>
              <a:rPr lang="zh-CN" altLang="en-US" dirty="0"/>
              <a:t>命令：</a:t>
            </a:r>
          </a:p>
          <a:p>
            <a:r>
              <a:rPr lang="en-US" altLang="zh-CN" dirty="0" err="1"/>
              <a:t>mysql</a:t>
            </a:r>
            <a:r>
              <a:rPr lang="en-US" altLang="zh-CN" dirty="0"/>
              <a:t>&gt; show databases;</a:t>
            </a:r>
            <a:endParaRPr lang="zh-CN" altLang="en-US" dirty="0"/>
          </a:p>
        </p:txBody>
      </p:sp>
      <p:pic>
        <p:nvPicPr>
          <p:cNvPr id="93188" name="Picture 4">
            <a:extLst>
              <a:ext uri="{FF2B5EF4-FFF2-40B4-BE49-F238E27FC236}">
                <a16:creationId xmlns:a16="http://schemas.microsoft.com/office/drawing/2014/main" id="{F515A5AA-F1BC-4AF5-BDBB-4469F73613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5840" y="3501008"/>
            <a:ext cx="2376487" cy="220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3">
            <a:extLst>
              <a:ext uri="{FF2B5EF4-FFF2-40B4-BE49-F238E27FC236}">
                <a16:creationId xmlns:a16="http://schemas.microsoft.com/office/drawing/2014/main" id="{005552F8-AE0A-49A4-A905-FF9DCCAEB411}"/>
              </a:ext>
            </a:extLst>
          </p:cNvPr>
          <p:cNvSpPr>
            <a:spLocks noGrp="1" noChangeArrowheads="1"/>
          </p:cNvSpPr>
          <p:nvPr>
            <p:ph type="body" idx="1"/>
          </p:nvPr>
        </p:nvSpPr>
        <p:spPr>
          <a:xfrm>
            <a:off x="767408" y="1268760"/>
            <a:ext cx="10972800" cy="4054475"/>
          </a:xfrm>
        </p:spPr>
        <p:txBody>
          <a:bodyPr/>
          <a:lstStyle/>
          <a:p>
            <a:r>
              <a:rPr lang="zh-CN" altLang="en-US" dirty="0"/>
              <a:t>切换当前使用的数据库，用</a:t>
            </a:r>
            <a:r>
              <a:rPr lang="en-US" altLang="zh-CN" dirty="0"/>
              <a:t>use </a:t>
            </a:r>
            <a:r>
              <a:rPr lang="zh-CN" altLang="en-US" dirty="0"/>
              <a:t>命令：</a:t>
            </a:r>
          </a:p>
          <a:p>
            <a:pPr lvl="1">
              <a:buFontTx/>
              <a:buNone/>
            </a:pPr>
            <a:r>
              <a:rPr lang="en-US" altLang="zh-CN" dirty="0" err="1"/>
              <a:t>mysql</a:t>
            </a:r>
            <a:r>
              <a:rPr lang="en-US" altLang="zh-CN" dirty="0"/>
              <a:t>&gt; use college;</a:t>
            </a:r>
          </a:p>
          <a:p>
            <a:pPr lvl="1">
              <a:buFontTx/>
              <a:buNone/>
            </a:pPr>
            <a:r>
              <a:rPr lang="en-US" altLang="zh-CN" dirty="0"/>
              <a:t>Database changed</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a:extLst>
              <a:ext uri="{FF2B5EF4-FFF2-40B4-BE49-F238E27FC236}">
                <a16:creationId xmlns:a16="http://schemas.microsoft.com/office/drawing/2014/main" id="{955C75B2-304C-46A7-99F1-006D1F896BD1}"/>
              </a:ext>
            </a:extLst>
          </p:cNvPr>
          <p:cNvSpPr>
            <a:spLocks noGrp="1" noChangeArrowheads="1"/>
          </p:cNvSpPr>
          <p:nvPr>
            <p:ph type="body" idx="1"/>
          </p:nvPr>
        </p:nvSpPr>
        <p:spPr>
          <a:xfrm>
            <a:off x="609600" y="825498"/>
            <a:ext cx="10972800" cy="4054475"/>
          </a:xfrm>
        </p:spPr>
        <p:txBody>
          <a:bodyPr/>
          <a:lstStyle/>
          <a:p>
            <a:r>
              <a:rPr lang="zh-CN" altLang="en-US" dirty="0"/>
              <a:t>查看当前数据库的表，可以用</a:t>
            </a:r>
            <a:r>
              <a:rPr lang="en-US" altLang="zh-CN" dirty="0"/>
              <a:t>show tables</a:t>
            </a:r>
            <a:r>
              <a:rPr lang="zh-CN" altLang="en-US" dirty="0"/>
              <a:t>命令：</a:t>
            </a:r>
          </a:p>
          <a:p>
            <a:pPr lvl="1">
              <a:buFontTx/>
              <a:buNone/>
            </a:pPr>
            <a:r>
              <a:rPr lang="en-US" altLang="zh-CN" dirty="0" err="1"/>
              <a:t>mysql</a:t>
            </a:r>
            <a:r>
              <a:rPr lang="en-US" altLang="zh-CN" dirty="0"/>
              <a:t>&gt; show tables;</a:t>
            </a:r>
          </a:p>
        </p:txBody>
      </p:sp>
      <p:pic>
        <p:nvPicPr>
          <p:cNvPr id="95236" name="Picture 4">
            <a:extLst>
              <a:ext uri="{FF2B5EF4-FFF2-40B4-BE49-F238E27FC236}">
                <a16:creationId xmlns:a16="http://schemas.microsoft.com/office/drawing/2014/main" id="{76ADE6D7-A0F5-4107-8360-E3E4105299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9736" y="2564904"/>
            <a:ext cx="3095625" cy="281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a:extLst>
              <a:ext uri="{FF2B5EF4-FFF2-40B4-BE49-F238E27FC236}">
                <a16:creationId xmlns:a16="http://schemas.microsoft.com/office/drawing/2014/main" id="{7ED71152-173A-4390-B6A6-31D2852D2F25}"/>
              </a:ext>
            </a:extLst>
          </p:cNvPr>
          <p:cNvSpPr>
            <a:spLocks noGrp="1" noChangeArrowheads="1"/>
          </p:cNvSpPr>
          <p:nvPr>
            <p:ph type="body" idx="1"/>
          </p:nvPr>
        </p:nvSpPr>
        <p:spPr>
          <a:xfrm>
            <a:off x="767408" y="980728"/>
            <a:ext cx="10972800" cy="4054475"/>
          </a:xfrm>
        </p:spPr>
        <p:txBody>
          <a:bodyPr/>
          <a:lstStyle/>
          <a:p>
            <a:pPr>
              <a:lnSpc>
                <a:spcPct val="150000"/>
              </a:lnSpc>
            </a:pPr>
            <a:r>
              <a:rPr lang="zh-CN" altLang="en-US" sz="2000" dirty="0"/>
              <a:t>注意：</a:t>
            </a:r>
          </a:p>
          <a:p>
            <a:pPr>
              <a:lnSpc>
                <a:spcPct val="150000"/>
              </a:lnSpc>
            </a:pPr>
            <a:r>
              <a:rPr lang="zh-CN" altLang="en-US" sz="2000" dirty="0"/>
              <a:t>一个命令通常由</a:t>
            </a:r>
            <a:r>
              <a:rPr lang="en-US" altLang="zh-CN" sz="2000" dirty="0"/>
              <a:t>SQL</a:t>
            </a:r>
            <a:r>
              <a:rPr lang="zh-CN" altLang="en-US" sz="2000" dirty="0"/>
              <a:t>语句组成，随后跟着一个分号</a:t>
            </a:r>
            <a:r>
              <a:rPr lang="en-US" altLang="zh-CN" sz="2000" dirty="0" err="1"/>
              <a:t>mysql</a:t>
            </a:r>
            <a:r>
              <a:rPr lang="zh-CN" altLang="en-US" sz="2000" dirty="0"/>
              <a:t>用表格</a:t>
            </a:r>
            <a:r>
              <a:rPr lang="en-US" altLang="zh-CN" sz="2000" dirty="0"/>
              <a:t>(</a:t>
            </a:r>
            <a:r>
              <a:rPr lang="zh-CN" altLang="en-US" sz="2000" dirty="0"/>
              <a:t>行和列</a:t>
            </a:r>
            <a:r>
              <a:rPr lang="en-US" altLang="zh-CN" sz="2000" dirty="0"/>
              <a:t>)</a:t>
            </a:r>
            <a:r>
              <a:rPr lang="zh-CN" altLang="en-US" sz="2000" dirty="0"/>
              <a:t>方式显示查询输出。第一行包含列的标签，随后的行是查询结果。</a:t>
            </a:r>
          </a:p>
          <a:p>
            <a:pPr>
              <a:lnSpc>
                <a:spcPct val="150000"/>
              </a:lnSpc>
            </a:pPr>
            <a:r>
              <a:rPr lang="en-US" altLang="zh-CN" sz="2000" dirty="0" err="1"/>
              <a:t>mysql</a:t>
            </a:r>
            <a:r>
              <a:rPr lang="zh-CN" altLang="en-US" sz="2000" dirty="0"/>
              <a:t>显示返回了多少行，以及查询花了多长时间，它提供服务器性能的一个大致概念。</a:t>
            </a:r>
          </a:p>
          <a:p>
            <a:pPr>
              <a:lnSpc>
                <a:spcPct val="150000"/>
              </a:lnSpc>
            </a:pPr>
            <a:r>
              <a:rPr lang="en-US" altLang="zh-CN" sz="2000" dirty="0" err="1"/>
              <a:t>mysql</a:t>
            </a:r>
            <a:r>
              <a:rPr lang="zh-CN" altLang="en-US" sz="2000" dirty="0"/>
              <a:t>能够以大小写输入关键词。下列查询是等价的：</a:t>
            </a:r>
          </a:p>
          <a:p>
            <a:pPr lvl="1">
              <a:lnSpc>
                <a:spcPct val="150000"/>
              </a:lnSpc>
            </a:pPr>
            <a:r>
              <a:rPr lang="en-US" altLang="zh-CN" sz="1800" dirty="0" err="1"/>
              <a:t>mysql</a:t>
            </a:r>
            <a:r>
              <a:rPr lang="en-US" altLang="zh-CN" sz="1800" dirty="0"/>
              <a:t>&gt; SELECT now();</a:t>
            </a:r>
          </a:p>
          <a:p>
            <a:pPr lvl="1">
              <a:lnSpc>
                <a:spcPct val="150000"/>
              </a:lnSpc>
            </a:pPr>
            <a:r>
              <a:rPr lang="en-US" altLang="zh-CN" sz="1800" dirty="0" err="1"/>
              <a:t>mysql</a:t>
            </a:r>
            <a:r>
              <a:rPr lang="en-US" altLang="zh-CN" sz="1800" dirty="0"/>
              <a:t>&gt; select NOW();</a:t>
            </a:r>
          </a:p>
          <a:p>
            <a:pPr lvl="1">
              <a:lnSpc>
                <a:spcPct val="150000"/>
              </a:lnSpc>
            </a:pPr>
            <a:r>
              <a:rPr lang="en-US" altLang="zh-CN" sz="1800" dirty="0" err="1"/>
              <a:t>mysql</a:t>
            </a:r>
            <a:r>
              <a:rPr lang="en-US" altLang="zh-CN" sz="1800" dirty="0"/>
              <a:t>&gt;</a:t>
            </a:r>
            <a:r>
              <a:rPr lang="en-US" altLang="zh-CN" sz="1800" dirty="0" err="1"/>
              <a:t>SelecT</a:t>
            </a:r>
            <a:r>
              <a:rPr lang="en-US" altLang="zh-CN" sz="1800" dirty="0"/>
              <a:t> </a:t>
            </a:r>
            <a:r>
              <a:rPr lang="en-US" altLang="zh-CN" sz="1800" dirty="0" err="1"/>
              <a:t>NoW</a:t>
            </a:r>
            <a:r>
              <a:rPr lang="en-US" altLang="zh-CN" sz="1800" dirty="0"/>
              <a:t>();</a:t>
            </a:r>
          </a:p>
          <a:p>
            <a:pPr>
              <a:lnSpc>
                <a:spcPct val="150000"/>
              </a:lnSpc>
            </a:pPr>
            <a:r>
              <a:rPr lang="zh-CN" altLang="en-US" sz="2000" dirty="0"/>
              <a:t>可以在一行上输入多条语句，只需要以一个分号间隔开各语句：</a:t>
            </a:r>
          </a:p>
          <a:p>
            <a:pPr lvl="1">
              <a:lnSpc>
                <a:spcPct val="150000"/>
              </a:lnSpc>
            </a:pPr>
            <a:r>
              <a:rPr lang="en-US" altLang="zh-CN" sz="1800" dirty="0" err="1"/>
              <a:t>mysql</a:t>
            </a:r>
            <a:r>
              <a:rPr lang="en-US" altLang="zh-CN" sz="1800" dirty="0"/>
              <a:t>&gt; select now();select version();</a:t>
            </a:r>
            <a:endParaRPr lang="zh-CN" altLang="en-US" sz="1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3">
            <a:extLst>
              <a:ext uri="{FF2B5EF4-FFF2-40B4-BE49-F238E27FC236}">
                <a16:creationId xmlns:a16="http://schemas.microsoft.com/office/drawing/2014/main" id="{341077C8-F36D-4CB9-A245-986329F3B95D}"/>
              </a:ext>
            </a:extLst>
          </p:cNvPr>
          <p:cNvSpPr>
            <a:spLocks noGrp="1" noChangeArrowheads="1"/>
          </p:cNvSpPr>
          <p:nvPr>
            <p:ph type="body" idx="1"/>
          </p:nvPr>
        </p:nvSpPr>
        <p:spPr>
          <a:xfrm>
            <a:off x="695400" y="980728"/>
            <a:ext cx="10972800" cy="4054475"/>
          </a:xfrm>
        </p:spPr>
        <p:txBody>
          <a:bodyPr/>
          <a:lstStyle/>
          <a:p>
            <a:pPr>
              <a:lnSpc>
                <a:spcPct val="80000"/>
              </a:lnSpc>
            </a:pPr>
            <a:r>
              <a:rPr lang="zh-CN" altLang="en-US" sz="2000" dirty="0"/>
              <a:t>不必全在一个行内给出一个命令，较长命令可以输入到多个行中。</a:t>
            </a:r>
            <a:r>
              <a:rPr lang="en-US" altLang="zh-CN" sz="2000" dirty="0" err="1"/>
              <a:t>mysql</a:t>
            </a:r>
            <a:r>
              <a:rPr lang="zh-CN" altLang="en-US" sz="2000" dirty="0"/>
              <a:t>通过寻找终止分号而不是输入行的结束来决定语句在哪儿结束。</a:t>
            </a:r>
          </a:p>
          <a:p>
            <a:pPr>
              <a:lnSpc>
                <a:spcPct val="80000"/>
              </a:lnSpc>
            </a:pPr>
            <a:r>
              <a:rPr lang="zh-CN" altLang="en-US" sz="2000" dirty="0"/>
              <a:t>这里是一个简单的多行语句的例子：</a:t>
            </a:r>
          </a:p>
          <a:p>
            <a:pPr lvl="1">
              <a:lnSpc>
                <a:spcPct val="80000"/>
              </a:lnSpc>
              <a:buFontTx/>
              <a:buNone/>
            </a:pPr>
            <a:r>
              <a:rPr lang="en-US" altLang="zh-CN" sz="1800" dirty="0" err="1"/>
              <a:t>mysql</a:t>
            </a:r>
            <a:r>
              <a:rPr lang="en-US" altLang="zh-CN" sz="1800" dirty="0"/>
              <a:t>&gt; select</a:t>
            </a:r>
          </a:p>
          <a:p>
            <a:pPr lvl="1">
              <a:lnSpc>
                <a:spcPct val="80000"/>
              </a:lnSpc>
              <a:buFontTx/>
              <a:buNone/>
            </a:pPr>
            <a:r>
              <a:rPr lang="en-US" altLang="zh-CN" sz="1800" dirty="0"/>
              <a:t>    -&gt; now()</a:t>
            </a:r>
          </a:p>
          <a:p>
            <a:pPr lvl="1">
              <a:lnSpc>
                <a:spcPct val="80000"/>
              </a:lnSpc>
              <a:buFontTx/>
              <a:buNone/>
            </a:pPr>
            <a:r>
              <a:rPr lang="en-US" altLang="zh-CN" sz="1800" dirty="0"/>
              <a:t>    -&gt; ;</a:t>
            </a:r>
          </a:p>
          <a:p>
            <a:pPr>
              <a:lnSpc>
                <a:spcPct val="80000"/>
              </a:lnSpc>
            </a:pPr>
            <a:r>
              <a:rPr lang="zh-CN" altLang="en-US" sz="2000" dirty="0"/>
              <a:t>如果不想执行正在输入过程中的一个命令，输入</a:t>
            </a:r>
            <a:r>
              <a:rPr lang="en-US" altLang="zh-CN" sz="2000" dirty="0"/>
              <a:t>\c</a:t>
            </a:r>
            <a:r>
              <a:rPr lang="zh-CN" altLang="en-US" sz="2000" dirty="0"/>
              <a:t>取消它：</a:t>
            </a:r>
          </a:p>
          <a:p>
            <a:pPr lvl="1">
              <a:lnSpc>
                <a:spcPct val="80000"/>
              </a:lnSpc>
              <a:buFontTx/>
              <a:buNone/>
            </a:pPr>
            <a:r>
              <a:rPr lang="en-US" altLang="zh-CN" sz="1800" dirty="0" err="1"/>
              <a:t>mysql</a:t>
            </a:r>
            <a:r>
              <a:rPr lang="en-US" altLang="zh-CN" sz="1800" dirty="0"/>
              <a:t>&gt; SELECT</a:t>
            </a:r>
          </a:p>
          <a:p>
            <a:pPr lvl="1">
              <a:lnSpc>
                <a:spcPct val="80000"/>
              </a:lnSpc>
              <a:buFontTx/>
              <a:buNone/>
            </a:pPr>
            <a:r>
              <a:rPr lang="en-US" altLang="zh-CN" sz="1800" dirty="0"/>
              <a:t>    -&gt; USER()</a:t>
            </a:r>
          </a:p>
          <a:p>
            <a:pPr lvl="1">
              <a:lnSpc>
                <a:spcPct val="80000"/>
              </a:lnSpc>
              <a:buFontTx/>
              <a:buNone/>
            </a:pPr>
            <a:r>
              <a:rPr lang="en-US" altLang="zh-CN" sz="1800" dirty="0"/>
              <a:t>    -&gt; \c</a:t>
            </a:r>
          </a:p>
          <a:p>
            <a:pPr lvl="1">
              <a:lnSpc>
                <a:spcPct val="80000"/>
              </a:lnSpc>
              <a:buFontTx/>
              <a:buNone/>
            </a:pPr>
            <a:r>
              <a:rPr lang="en-US" altLang="zh-CN" sz="1800" dirty="0" err="1"/>
              <a:t>mysql</a:t>
            </a:r>
            <a:r>
              <a:rPr lang="en-US" altLang="zh-CN" sz="1800" dirty="0"/>
              <a:t>&gt;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088016B8-C5B8-4DD2-A47A-C7121A5B402B}"/>
              </a:ext>
            </a:extLst>
          </p:cNvPr>
          <p:cNvSpPr>
            <a:spLocks noGrp="1" noChangeArrowheads="1"/>
          </p:cNvSpPr>
          <p:nvPr>
            <p:ph type="title"/>
          </p:nvPr>
        </p:nvSpPr>
        <p:spPr>
          <a:xfrm>
            <a:off x="668104" y="71920"/>
            <a:ext cx="1936749" cy="707886"/>
          </a:xfrm>
        </p:spPr>
        <p:txBody>
          <a:bodyPr/>
          <a:lstStyle/>
          <a:p>
            <a:r>
              <a:rPr lang="en-US" altLang="zh-CN"/>
              <a:t>1.7</a:t>
            </a:r>
            <a:r>
              <a:rPr lang="zh-CN" altLang="en-US"/>
              <a:t>小结</a:t>
            </a:r>
          </a:p>
        </p:txBody>
      </p:sp>
      <p:sp>
        <p:nvSpPr>
          <p:cNvPr id="98307" name="Rectangle 3">
            <a:extLst>
              <a:ext uri="{FF2B5EF4-FFF2-40B4-BE49-F238E27FC236}">
                <a16:creationId xmlns:a16="http://schemas.microsoft.com/office/drawing/2014/main" id="{119E788C-AFEF-4E4A-8378-30CDAE8EEBED}"/>
              </a:ext>
            </a:extLst>
          </p:cNvPr>
          <p:cNvSpPr>
            <a:spLocks noGrp="1" noChangeArrowheads="1"/>
          </p:cNvSpPr>
          <p:nvPr>
            <p:ph type="body" idx="1"/>
          </p:nvPr>
        </p:nvSpPr>
        <p:spPr>
          <a:xfrm>
            <a:off x="636528" y="1916832"/>
            <a:ext cx="10972800" cy="4054475"/>
          </a:xfrm>
        </p:spPr>
        <p:txBody>
          <a:bodyPr/>
          <a:lstStyle/>
          <a:p>
            <a:pPr>
              <a:lnSpc>
                <a:spcPct val="150000"/>
              </a:lnSpc>
            </a:pPr>
            <a:r>
              <a:rPr lang="zh-CN" altLang="en-US" dirty="0"/>
              <a:t>数据管理技术经历了人工管理、文件系统、数据库和高级数据库技术等四个阶段。数据库系统是在文件系统的基础上发展而成的，同时又克服了文件系统的三个缺陷：数据的冗余、不一致性和联系弱。</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3">
            <a:extLst>
              <a:ext uri="{FF2B5EF4-FFF2-40B4-BE49-F238E27FC236}">
                <a16:creationId xmlns:a16="http://schemas.microsoft.com/office/drawing/2014/main" id="{E23F4AF9-1C54-4A8D-B7F5-4B1A4737873D}"/>
              </a:ext>
            </a:extLst>
          </p:cNvPr>
          <p:cNvSpPr>
            <a:spLocks noGrp="1" noChangeArrowheads="1"/>
          </p:cNvSpPr>
          <p:nvPr>
            <p:ph type="body" idx="1"/>
          </p:nvPr>
        </p:nvSpPr>
        <p:spPr>
          <a:xfrm>
            <a:off x="695400" y="1196752"/>
            <a:ext cx="10972800" cy="4054475"/>
          </a:xfrm>
        </p:spPr>
        <p:txBody>
          <a:bodyPr/>
          <a:lstStyle/>
          <a:p>
            <a:pPr>
              <a:lnSpc>
                <a:spcPct val="150000"/>
              </a:lnSpc>
            </a:pPr>
            <a:r>
              <a:rPr lang="zh-CN" altLang="en-US" dirty="0"/>
              <a:t>数据模型是对现实世界进行抽象的工具，用于描述现实世界的数据、数据联系、数据语义和数据约束等方面内容。数据模型分成概念模型和结构模型两大类。前者的代表是实体联系模型，后者的代表是层次、网状、关系和面向对象模型。关系模型是当今的主流模型，面向对象模型是今后发展的方向。</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3">
            <a:extLst>
              <a:ext uri="{FF2B5EF4-FFF2-40B4-BE49-F238E27FC236}">
                <a16:creationId xmlns:a16="http://schemas.microsoft.com/office/drawing/2014/main" id="{CE0C4DAB-EA38-41BE-AD9F-B338CD6BA8DC}"/>
              </a:ext>
            </a:extLst>
          </p:cNvPr>
          <p:cNvSpPr>
            <a:spLocks noGrp="1" noChangeArrowheads="1"/>
          </p:cNvSpPr>
          <p:nvPr>
            <p:ph type="body" idx="1"/>
          </p:nvPr>
        </p:nvSpPr>
        <p:spPr>
          <a:xfrm>
            <a:off x="609600" y="764704"/>
            <a:ext cx="10972800" cy="4054475"/>
          </a:xfrm>
        </p:spPr>
        <p:txBody>
          <a:bodyPr/>
          <a:lstStyle/>
          <a:p>
            <a:pPr>
              <a:lnSpc>
                <a:spcPct val="150000"/>
              </a:lnSpc>
            </a:pPr>
            <a:r>
              <a:rPr lang="zh-CN" altLang="en-US" dirty="0"/>
              <a:t>数据库是存储在一起集中管理的相关数据的集合。数据库的体系结构是对数据的三个抽象级别。它把数据的具体组织留给</a:t>
            </a:r>
            <a:r>
              <a:rPr lang="en-US" altLang="zh-CN" dirty="0"/>
              <a:t>DBMS, </a:t>
            </a:r>
            <a:r>
              <a:rPr lang="zh-CN" altLang="en-US" dirty="0"/>
              <a:t>去做，用户只需抽象地处理逻辑数据，而不必关心数据在计算机中的存储，减轻了用户使用系统的负担。由于三级结构之间往往差别很大，存在着两级映象，因此使</a:t>
            </a:r>
            <a:r>
              <a:rPr lang="en-US" altLang="zh-CN" dirty="0"/>
              <a:t>DBS</a:t>
            </a:r>
            <a:r>
              <a:rPr lang="zh-CN" altLang="en-US" dirty="0"/>
              <a:t>具有较高的数据独立性：物理数据独立性和逻辑数据独立性。</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3">
            <a:extLst>
              <a:ext uri="{FF2B5EF4-FFF2-40B4-BE49-F238E27FC236}">
                <a16:creationId xmlns:a16="http://schemas.microsoft.com/office/drawing/2014/main" id="{C97EC238-1419-48B4-89BB-DEF39EDC8293}"/>
              </a:ext>
            </a:extLst>
          </p:cNvPr>
          <p:cNvSpPr>
            <a:spLocks noGrp="1" noChangeArrowheads="1"/>
          </p:cNvSpPr>
          <p:nvPr>
            <p:ph type="body" idx="1"/>
          </p:nvPr>
        </p:nvSpPr>
        <p:spPr>
          <a:xfrm>
            <a:off x="695400" y="980728"/>
            <a:ext cx="10972800" cy="4054475"/>
          </a:xfrm>
        </p:spPr>
        <p:txBody>
          <a:bodyPr/>
          <a:lstStyle/>
          <a:p>
            <a:pPr>
              <a:lnSpc>
                <a:spcPct val="150000"/>
              </a:lnSpc>
            </a:pPr>
            <a:r>
              <a:rPr lang="zh-CN" altLang="en-US" dirty="0"/>
              <a:t>数据独立性是指在某个层次上修改模式而不影响较高一层模式的能力。</a:t>
            </a:r>
          </a:p>
          <a:p>
            <a:pPr>
              <a:lnSpc>
                <a:spcPct val="150000"/>
              </a:lnSpc>
            </a:pPr>
            <a:r>
              <a:rPr lang="en-US" altLang="zh-CN" dirty="0"/>
              <a:t>DBMS</a:t>
            </a:r>
            <a:r>
              <a:rPr lang="zh-CN" altLang="en-US" dirty="0"/>
              <a:t>是位于用户与</a:t>
            </a:r>
            <a:r>
              <a:rPr lang="en-US" altLang="zh-CN" dirty="0"/>
              <a:t>DS</a:t>
            </a:r>
            <a:r>
              <a:rPr lang="zh-CN" altLang="en-US" dirty="0"/>
              <a:t>之间的一层数据管理软件。数据库语言分成</a:t>
            </a:r>
            <a:r>
              <a:rPr lang="en-US" altLang="zh-CN" dirty="0"/>
              <a:t>DDL</a:t>
            </a:r>
            <a:r>
              <a:rPr lang="zh-CN" altLang="en-US" dirty="0"/>
              <a:t>和</a:t>
            </a:r>
            <a:r>
              <a:rPr lang="en-US" altLang="zh-CN" dirty="0"/>
              <a:t>DML</a:t>
            </a:r>
            <a:r>
              <a:rPr lang="zh-CN" altLang="en-US" dirty="0"/>
              <a:t>两类。</a:t>
            </a:r>
            <a:r>
              <a:rPr lang="en-US" altLang="zh-CN" dirty="0"/>
              <a:t>DBMS</a:t>
            </a:r>
            <a:r>
              <a:rPr lang="zh-CN" altLang="en-US" dirty="0"/>
              <a:t>主要由查询处理器和存储管理器两大部分组成。</a:t>
            </a:r>
            <a:r>
              <a:rPr lang="en-US" altLang="zh-CN" dirty="0"/>
              <a:t>DBS</a:t>
            </a:r>
            <a:r>
              <a:rPr lang="zh-CN" altLang="en-US" dirty="0"/>
              <a:t>是包含</a:t>
            </a:r>
            <a:r>
              <a:rPr lang="en-US" altLang="zh-CN" dirty="0"/>
              <a:t>DB</a:t>
            </a:r>
            <a:r>
              <a:rPr lang="zh-CN" altLang="en-US" dirty="0"/>
              <a:t>和</a:t>
            </a:r>
            <a:r>
              <a:rPr lang="en-US" altLang="zh-CN" dirty="0"/>
              <a:t>DBMS</a:t>
            </a:r>
            <a:r>
              <a:rPr lang="zh-CN" altLang="en-US" dirty="0"/>
              <a:t>的计算机系统。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SLIDETAGS" val="[]"/>
</p:tagLst>
</file>

<file path=ppt/tags/tag2.xml><?xml version="1.0" encoding="utf-8"?>
<p:tagLst xmlns:a="http://schemas.openxmlformats.org/drawingml/2006/main" xmlns:r="http://schemas.openxmlformats.org/officeDocument/2006/relationships" xmlns:p="http://schemas.openxmlformats.org/presentationml/2006/main">
  <p:tag name="SLIDETAGS" val="[]"/>
</p:tagLst>
</file>

<file path=ppt/tags/tag3.xml><?xml version="1.0" encoding="utf-8"?>
<p:tagLst xmlns:a="http://schemas.openxmlformats.org/drawingml/2006/main" xmlns:r="http://schemas.openxmlformats.org/officeDocument/2006/relationships" xmlns:p="http://schemas.openxmlformats.org/presentationml/2006/main">
  <p:tag name="SLIDETAGS" val="[]"/>
</p:tagLst>
</file>

<file path=ppt/tags/tag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SLIDETAGS" val="[]"/>
</p:tagLst>
</file>

<file path=ppt/tags/tag1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5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6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带有标题的">
  <a:themeElements>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带有标题的">
      <a:majorFont>
        <a:latin typeface="方正姚体"/>
        <a:ea typeface="方正姚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lnDef>
  </a:objectDefaults>
  <a:extraClrSchemeLst>
    <a:extraClrScheme>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带有标题的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带有标题的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带有标题的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带有标题的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带有标题的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带有标题的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带有标题的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带有标题的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带有标题的">
  <a:themeElements>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带有标题的">
      <a:majorFont>
        <a:latin typeface="方正姚体"/>
        <a:ea typeface="方正姚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lnDef>
  </a:objectDefaults>
  <a:extraClrSchemeLst>
    <a:extraClrScheme>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带有标题的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带有标题的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带有标题的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带有标题的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带有标题的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带有标题的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带有标题的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带有标题的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docProps/app.xml><?xml version="1.0" encoding="utf-8"?>
<Properties xmlns="http://schemas.openxmlformats.org/officeDocument/2006/extended-properties" xmlns:vt="http://schemas.openxmlformats.org/officeDocument/2006/docPropsVTypes">
  <Template/>
  <TotalTime>16161</TotalTime>
  <Words>5944</Words>
  <Application>Microsoft Office PowerPoint</Application>
  <PresentationFormat>宽屏</PresentationFormat>
  <Paragraphs>727</Paragraphs>
  <Slides>105</Slides>
  <Notes>12</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105</vt:i4>
      </vt:variant>
    </vt:vector>
  </HeadingPairs>
  <TitlesOfParts>
    <vt:vector size="120" baseType="lpstr">
      <vt:lpstr>Microsoft Yahei</vt:lpstr>
      <vt:lpstr>方正姚体</vt:lpstr>
      <vt:lpstr>楷体_GB2312</vt:lpstr>
      <vt:lpstr>隶书</vt:lpstr>
      <vt:lpstr>宋体</vt:lpstr>
      <vt:lpstr>微软雅黑</vt:lpstr>
      <vt:lpstr>Arial</vt:lpstr>
      <vt:lpstr>Arial Black</vt:lpstr>
      <vt:lpstr>Garamond</vt:lpstr>
      <vt:lpstr>Symbol</vt:lpstr>
      <vt:lpstr>Tahoma</vt:lpstr>
      <vt:lpstr>Times New Roman</vt:lpstr>
      <vt:lpstr>Wingdings</vt:lpstr>
      <vt:lpstr>带有标题的</vt:lpstr>
      <vt:lpstr>1_带有标题的</vt:lpstr>
      <vt:lpstr>数据库系统概述</vt:lpstr>
      <vt:lpstr>PowerPoint 演示文稿</vt:lpstr>
      <vt:lpstr>PowerPoint 演示文稿</vt:lpstr>
      <vt:lpstr>PowerPoint 演示文稿</vt:lpstr>
      <vt:lpstr>PowerPoint 演示文稿</vt:lpstr>
      <vt:lpstr>PowerPoint 演示文稿</vt:lpstr>
      <vt:lpstr>PowerPoint 演示文稿</vt:lpstr>
      <vt:lpstr>第一章：数据库系统概述</vt:lpstr>
      <vt:lpstr>本章学习目标</vt:lpstr>
      <vt:lpstr>教学重难点</vt:lpstr>
      <vt:lpstr>1.1引言</vt:lpstr>
      <vt:lpstr>1.1.1数据库的形成</vt:lpstr>
      <vt:lpstr>PowerPoint 演示文稿</vt:lpstr>
      <vt:lpstr>PowerPoint 演示文稿</vt:lpstr>
      <vt:lpstr>PowerPoint 演示文稿</vt:lpstr>
      <vt:lpstr>PowerPoint 演示文稿</vt:lpstr>
      <vt:lpstr>PowerPoint 演示文稿</vt:lpstr>
      <vt:lpstr>1.1.2数据库的基本概念</vt:lpstr>
      <vt:lpstr>信息的概念</vt:lpstr>
      <vt:lpstr>信息的特点</vt:lpstr>
      <vt:lpstr>信息与数据</vt:lpstr>
      <vt:lpstr>信息与数据</vt:lpstr>
      <vt:lpstr>PowerPoint 演示文稿</vt:lpstr>
      <vt:lpstr>PowerPoint 演示文稿</vt:lpstr>
      <vt:lpstr>1.2数据库技术的产生和发展</vt:lpstr>
      <vt:lpstr>PowerPoint 演示文稿</vt:lpstr>
      <vt:lpstr>PowerPoint 演示文稿</vt:lpstr>
      <vt:lpstr>(1) 人工管理阶段</vt:lpstr>
      <vt:lpstr>(2) 文件管理阶段</vt:lpstr>
      <vt:lpstr>(3) 数据库管理阶段</vt:lpstr>
      <vt:lpstr>一、数据库系统管理数据的特点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1.3数据库系统体系结构</vt:lpstr>
      <vt:lpstr>PowerPoint 演示文稿</vt:lpstr>
      <vt:lpstr>数据库</vt:lpstr>
      <vt:lpstr>数据库 DB</vt:lpstr>
      <vt:lpstr>数据库管理系统 DBMS</vt:lpstr>
      <vt:lpstr>数据库管理系统</vt:lpstr>
      <vt:lpstr>PowerPoint 演示文稿</vt:lpstr>
      <vt:lpstr>数据库用户</vt:lpstr>
      <vt:lpstr>数据库管理员 DBA</vt:lpstr>
      <vt:lpstr>数据库使用者user</vt:lpstr>
      <vt:lpstr>数据库系统</vt:lpstr>
      <vt:lpstr>PowerPoint 演示文稿</vt:lpstr>
      <vt:lpstr>1.4数据模型</vt:lpstr>
      <vt:lpstr>PowerPoint 演示文稿</vt:lpstr>
      <vt:lpstr>数据模型</vt:lpstr>
      <vt:lpstr>PowerPoint 演示文稿</vt:lpstr>
      <vt:lpstr>PowerPoint 演示文稿</vt:lpstr>
      <vt:lpstr>PowerPoint 演示文稿</vt:lpstr>
      <vt:lpstr>PowerPoint 演示文稿</vt:lpstr>
      <vt:lpstr>PowerPoint 演示文稿</vt:lpstr>
      <vt:lpstr>数据模型的分类</vt:lpstr>
      <vt:lpstr>数据模型的分层</vt:lpstr>
      <vt:lpstr>概念模型示例</vt:lpstr>
      <vt:lpstr>PowerPoint 演示文稿</vt:lpstr>
      <vt:lpstr>PowerPoint 演示文稿</vt:lpstr>
      <vt:lpstr>逻辑模型示例</vt:lpstr>
      <vt:lpstr>逻辑模型示例</vt:lpstr>
      <vt:lpstr>逻辑模型示例</vt:lpstr>
      <vt:lpstr>逻辑模型示例</vt:lpstr>
      <vt:lpstr>PowerPoint 演示文稿</vt:lpstr>
      <vt:lpstr>1.5数据模式</vt:lpstr>
      <vt:lpstr>PowerPoint 演示文稿</vt:lpstr>
      <vt:lpstr>PowerPoint 演示文稿</vt:lpstr>
      <vt:lpstr>三级模式</vt:lpstr>
      <vt:lpstr>PowerPoint 演示文稿</vt:lpstr>
      <vt:lpstr>数据库系统的模式结构</vt:lpstr>
      <vt:lpstr>PowerPoint 演示文稿</vt:lpstr>
      <vt:lpstr>数据库系统的模式结构</vt:lpstr>
      <vt:lpstr>PowerPoint 演示文稿</vt:lpstr>
      <vt:lpstr>数据库系统的模式结构</vt:lpstr>
      <vt:lpstr>PowerPoint 演示文稿</vt:lpstr>
      <vt:lpstr>PowerPoint 演示文稿</vt:lpstr>
      <vt:lpstr>1.5.2二级映象</vt:lpstr>
      <vt:lpstr>PowerPoint 演示文稿</vt:lpstr>
      <vt:lpstr>数据库系统的模式结构</vt:lpstr>
      <vt:lpstr>PowerPoint 演示文稿</vt:lpstr>
      <vt:lpstr>数据库系统的模式结构</vt:lpstr>
      <vt:lpstr>PowerPoint 演示文稿</vt:lpstr>
      <vt:lpstr>数据库系统的模式结构</vt:lpstr>
      <vt:lpstr>PowerPoint 演示文稿</vt:lpstr>
      <vt:lpstr>数据库产品</vt:lpstr>
      <vt:lpstr>数据库产品</vt:lpstr>
      <vt:lpstr>PowerPoint 演示文稿</vt:lpstr>
      <vt:lpstr>1.6 My SQL5.5数据库</vt:lpstr>
      <vt:lpstr>1.6.1MySQL概述</vt:lpstr>
      <vt:lpstr>数据库管理系统应用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1.7小结</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Windows 用户</cp:lastModifiedBy>
  <cp:revision>1740</cp:revision>
  <dcterms:created xsi:type="dcterms:W3CDTF">1601-01-01T00:00:00Z</dcterms:created>
  <dcterms:modified xsi:type="dcterms:W3CDTF">2025-12-09T01:17:41Z</dcterms:modified>
</cp:coreProperties>
</file>